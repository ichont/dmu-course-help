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5" r:id="rId3"/>
    <p:sldId id="261" r:id="rId4"/>
    <p:sldId id="258" r:id="rId5"/>
    <p:sldId id="265" r:id="rId6"/>
    <p:sldId id="259" r:id="rId7"/>
    <p:sldId id="260" r:id="rId8"/>
  </p:sldIdLst>
  <p:sldSz cx="9144000" cy="6858000" type="screen4x3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7" userDrawn="1">
          <p15:clr>
            <a:srgbClr val="A4A3A4"/>
          </p15:clr>
        </p15:guide>
        <p15:guide id="2" pos="28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9" d="100"/>
          <a:sy n="109" d="100"/>
        </p:scale>
        <p:origin x="1674" y="96"/>
      </p:cViewPr>
      <p:guideLst>
        <p:guide orient="horz" pos="2197"/>
        <p:guide pos="283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2024/7/1</a:t>
            </a:fld>
            <a:endParaRPr lang="zh-CN" alt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10" name="Freeform 9"/>
          <p:cNvSpPr/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/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/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2024/7/1</a:t>
            </a:fld>
            <a:endParaRPr lang="zh-CN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/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/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7015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7015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185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185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185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 panose="05020102010507070707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 panose="05020102010507070707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8800" dirty="0">
                <a:solidFill>
                  <a:srgbClr val="FF0000"/>
                </a:solidFill>
              </a:rPr>
              <a:t>算法设计实践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6512880"/>
              </p:ext>
            </p:extLst>
          </p:nvPr>
        </p:nvGraphicFramePr>
        <p:xfrm>
          <a:off x="251460" y="692785"/>
          <a:ext cx="852424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4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3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1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上课安排</a:t>
                      </a:r>
                      <a:endParaRPr lang="zh-CN" altLang="en-US" sz="1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>
                          <a:sym typeface="+mn-ea"/>
                        </a:rPr>
                        <a:t>学时（</a:t>
                      </a:r>
                      <a:r>
                        <a:rPr lang="en-US" altLang="zh-CN" sz="1800" dirty="0">
                          <a:sym typeface="+mn-ea"/>
                        </a:rPr>
                        <a:t>60</a:t>
                      </a:r>
                      <a:r>
                        <a:rPr lang="zh-CN" altLang="en-US" sz="1800" dirty="0">
                          <a:sym typeface="+mn-ea"/>
                        </a:rPr>
                        <a:t>学时）</a:t>
                      </a:r>
                      <a:endParaRPr lang="en-US" altLang="zh-CN" sz="1800" dirty="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/>
                        <a:t>地点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第</a:t>
                      </a:r>
                      <a:r>
                        <a:rPr lang="en-US" altLang="zh-CN" sz="1800" dirty="0"/>
                        <a:t>1</a:t>
                      </a:r>
                      <a:r>
                        <a:rPr lang="zh-CN" altLang="en-US" sz="1800" dirty="0"/>
                        <a:t>周</a:t>
                      </a:r>
                      <a:r>
                        <a:rPr lang="zh-CN" altLang="en-US" sz="1800" dirty="0" smtClean="0"/>
                        <a:t>周一（</a:t>
                      </a:r>
                      <a:r>
                        <a:rPr lang="en-US" altLang="zh-CN" sz="1800" dirty="0" smtClean="0"/>
                        <a:t>7</a:t>
                      </a:r>
                      <a:r>
                        <a:rPr lang="zh-CN" altLang="en-US" sz="1800" dirty="0" smtClean="0"/>
                        <a:t>月</a:t>
                      </a:r>
                      <a:r>
                        <a:rPr lang="en-US" altLang="zh-CN" sz="1800" dirty="0" smtClean="0"/>
                        <a:t>1</a:t>
                      </a:r>
                      <a:r>
                        <a:rPr lang="zh-CN" altLang="en-US" sz="1800" dirty="0" smtClean="0"/>
                        <a:t>日）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>
                          <a:sym typeface="+mn-ea"/>
                        </a:rPr>
                        <a:t>上午</a:t>
                      </a:r>
                      <a:r>
                        <a:rPr lang="en-US" altLang="zh-CN" sz="1800" dirty="0">
                          <a:sym typeface="+mn-ea"/>
                        </a:rPr>
                        <a:t>(</a:t>
                      </a:r>
                      <a:r>
                        <a:rPr lang="en-US" altLang="zh-CN" sz="1800" dirty="0" smtClean="0">
                          <a:sym typeface="+mn-ea"/>
                        </a:rPr>
                        <a:t>8:00-11:25)  </a:t>
                      </a:r>
                      <a:r>
                        <a:rPr lang="zh-CN" altLang="en-US" sz="1800" dirty="0">
                          <a:sym typeface="+mn-ea"/>
                        </a:rPr>
                        <a:t>（</a:t>
                      </a:r>
                      <a:r>
                        <a:rPr lang="en-US" altLang="zh-CN" sz="1800" dirty="0">
                          <a:sym typeface="+mn-ea"/>
                        </a:rPr>
                        <a:t>1-15</a:t>
                      </a:r>
                      <a:r>
                        <a:rPr lang="zh-CN" altLang="en-US" sz="1800" dirty="0">
                          <a:sym typeface="+mn-ea"/>
                        </a:rPr>
                        <a:t>）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4.5</a:t>
                      </a:r>
                      <a:r>
                        <a:rPr lang="zh-CN" altLang="en-US" sz="1800">
                          <a:sym typeface="+mn-ea"/>
                        </a:rPr>
                        <a:t>学时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/>
                        <a:t>扬帆楼</a:t>
                      </a:r>
                      <a:r>
                        <a:rPr lang="en-US" altLang="zh-CN" sz="1800"/>
                        <a:t>201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第</a:t>
                      </a:r>
                      <a:r>
                        <a:rPr lang="en-US" altLang="zh-CN" sz="1800" dirty="0"/>
                        <a:t>1</a:t>
                      </a:r>
                      <a:r>
                        <a:rPr lang="zh-CN" altLang="en-US" sz="1800" dirty="0"/>
                        <a:t>周</a:t>
                      </a:r>
                      <a:r>
                        <a:rPr lang="zh-CN" altLang="en-US" sz="1800" dirty="0" smtClean="0"/>
                        <a:t>周一（</a:t>
                      </a:r>
                      <a:r>
                        <a:rPr lang="en-US" altLang="zh-CN" sz="1800" dirty="0" smtClean="0"/>
                        <a:t>7</a:t>
                      </a:r>
                      <a:r>
                        <a:rPr lang="zh-CN" altLang="en-US" sz="1800" dirty="0" smtClean="0"/>
                        <a:t>月</a:t>
                      </a:r>
                      <a:r>
                        <a:rPr lang="en-US" altLang="zh-CN" sz="1800" dirty="0" smtClean="0"/>
                        <a:t>1</a:t>
                      </a:r>
                      <a:r>
                        <a:rPr lang="zh-CN" altLang="en-US" sz="1800" dirty="0" smtClean="0"/>
                        <a:t>日）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>
                          <a:sym typeface="+mn-ea"/>
                        </a:rPr>
                        <a:t>下午</a:t>
                      </a:r>
                      <a:r>
                        <a:rPr lang="en-US" altLang="zh-CN" sz="1800" dirty="0">
                          <a:sym typeface="+mn-ea"/>
                        </a:rPr>
                        <a:t>(13:30-17:00)</a:t>
                      </a:r>
                      <a:r>
                        <a:rPr lang="zh-CN" altLang="en-US" sz="1800" dirty="0">
                          <a:sym typeface="+mn-ea"/>
                        </a:rPr>
                        <a:t>（</a:t>
                      </a:r>
                      <a:r>
                        <a:rPr lang="en-US" altLang="zh-CN" sz="1800" dirty="0" smtClean="0">
                          <a:sym typeface="+mn-ea"/>
                        </a:rPr>
                        <a:t>16-30</a:t>
                      </a:r>
                      <a:r>
                        <a:rPr lang="zh-CN" altLang="en-US" sz="1800" dirty="0" smtClean="0">
                          <a:sym typeface="+mn-ea"/>
                        </a:rPr>
                        <a:t>）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4.5</a:t>
                      </a:r>
                      <a:r>
                        <a:rPr lang="zh-CN" altLang="en-US" sz="1800">
                          <a:sym typeface="+mn-ea"/>
                        </a:rPr>
                        <a:t>学时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扬帆楼</a:t>
                      </a:r>
                      <a:r>
                        <a:rPr lang="en-US" altLang="zh-CN" sz="1800">
                          <a:sym typeface="+mn-ea"/>
                        </a:rPr>
                        <a:t>201</a:t>
                      </a:r>
                      <a:endParaRPr lang="zh-CN" alt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第</a:t>
                      </a:r>
                      <a:r>
                        <a:rPr lang="en-US" altLang="zh-CN" sz="1800" dirty="0"/>
                        <a:t>1</a:t>
                      </a:r>
                      <a:r>
                        <a:rPr lang="zh-CN" altLang="en-US" sz="1800" dirty="0" smtClean="0"/>
                        <a:t>周周三（</a:t>
                      </a:r>
                      <a:r>
                        <a:rPr lang="en-US" altLang="zh-CN" sz="1800" dirty="0" smtClean="0"/>
                        <a:t>7</a:t>
                      </a:r>
                      <a:r>
                        <a:rPr lang="zh-CN" altLang="en-US" sz="1800" dirty="0" smtClean="0"/>
                        <a:t>月</a:t>
                      </a:r>
                      <a:r>
                        <a:rPr lang="en-US" altLang="zh-CN" sz="1800" dirty="0" smtClean="0"/>
                        <a:t>3</a:t>
                      </a:r>
                      <a:r>
                        <a:rPr lang="zh-CN" altLang="en-US" sz="1800" dirty="0" smtClean="0"/>
                        <a:t>日</a:t>
                      </a:r>
                      <a:r>
                        <a:rPr lang="zh-CN" altLang="en-US" sz="1800" dirty="0" smtClean="0"/>
                        <a:t>）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>
                          <a:sym typeface="+mn-ea"/>
                        </a:rPr>
                        <a:t>上午</a:t>
                      </a:r>
                      <a:r>
                        <a:rPr lang="en-US" altLang="zh-CN" sz="1800" dirty="0">
                          <a:sym typeface="+mn-ea"/>
                        </a:rPr>
                        <a:t>(</a:t>
                      </a:r>
                      <a:r>
                        <a:rPr lang="en-US" altLang="zh-CN" sz="1800" dirty="0" smtClean="0">
                          <a:sym typeface="+mn-ea"/>
                        </a:rPr>
                        <a:t>8:00-11:25)  </a:t>
                      </a:r>
                      <a:r>
                        <a:rPr lang="zh-CN" altLang="en-US" sz="1800" dirty="0">
                          <a:sym typeface="+mn-ea"/>
                        </a:rPr>
                        <a:t>（</a:t>
                      </a:r>
                      <a:r>
                        <a:rPr lang="en-US" altLang="zh-CN" sz="1800" dirty="0" smtClean="0">
                          <a:sym typeface="+mn-ea"/>
                        </a:rPr>
                        <a:t>16-30</a:t>
                      </a:r>
                      <a:r>
                        <a:rPr lang="zh-CN" altLang="en-US" sz="1800" dirty="0" smtClean="0">
                          <a:sym typeface="+mn-ea"/>
                        </a:rPr>
                        <a:t>）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4.5</a:t>
                      </a:r>
                      <a:r>
                        <a:rPr lang="zh-CN" altLang="en-US" sz="1800">
                          <a:sym typeface="+mn-ea"/>
                        </a:rPr>
                        <a:t>学时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/>
                        <a:t>扬帆楼</a:t>
                      </a:r>
                      <a:r>
                        <a:rPr lang="en-US" altLang="zh-CN" sz="1800"/>
                        <a:t>201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第</a:t>
                      </a:r>
                      <a:r>
                        <a:rPr lang="en-US" altLang="zh-CN" sz="1800" dirty="0"/>
                        <a:t>1</a:t>
                      </a:r>
                      <a:r>
                        <a:rPr lang="zh-CN" altLang="en-US" sz="1800" dirty="0"/>
                        <a:t>周</a:t>
                      </a:r>
                      <a:r>
                        <a:rPr lang="zh-CN" altLang="en-US" sz="1800" dirty="0" smtClean="0"/>
                        <a:t>周四（</a:t>
                      </a:r>
                      <a:r>
                        <a:rPr lang="en-US" altLang="zh-CN" sz="1800" dirty="0" smtClean="0"/>
                        <a:t>7</a:t>
                      </a:r>
                      <a:r>
                        <a:rPr lang="zh-CN" altLang="en-US" sz="1800" dirty="0" smtClean="0"/>
                        <a:t>月</a:t>
                      </a:r>
                      <a:r>
                        <a:rPr lang="en-US" altLang="zh-CN" sz="1800" dirty="0" smtClean="0"/>
                        <a:t>4</a:t>
                      </a:r>
                      <a:r>
                        <a:rPr lang="zh-CN" altLang="en-US" sz="1800" dirty="0" smtClean="0"/>
                        <a:t>日）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>
                          <a:sym typeface="+mn-ea"/>
                        </a:rPr>
                        <a:t>上午</a:t>
                      </a:r>
                      <a:r>
                        <a:rPr lang="en-US" altLang="zh-CN" sz="1800" dirty="0">
                          <a:sym typeface="+mn-ea"/>
                        </a:rPr>
                        <a:t>(</a:t>
                      </a:r>
                      <a:r>
                        <a:rPr lang="en-US" altLang="zh-CN" sz="1800" dirty="0" smtClean="0">
                          <a:sym typeface="+mn-ea"/>
                        </a:rPr>
                        <a:t>8:00-11:25)  </a:t>
                      </a:r>
                      <a:r>
                        <a:rPr lang="zh-CN" altLang="en-US" sz="1800" dirty="0" smtClean="0">
                          <a:sym typeface="+mn-ea"/>
                        </a:rPr>
                        <a:t>（</a:t>
                      </a:r>
                      <a:r>
                        <a:rPr lang="en-US" altLang="zh-CN" sz="1800" dirty="0" smtClean="0">
                          <a:sym typeface="+mn-ea"/>
                        </a:rPr>
                        <a:t>16-30</a:t>
                      </a:r>
                      <a:r>
                        <a:rPr lang="zh-CN" altLang="en-US" sz="1800" dirty="0" smtClean="0">
                          <a:sym typeface="+mn-ea"/>
                        </a:rPr>
                        <a:t>）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sym typeface="+mn-ea"/>
                        </a:rPr>
                        <a:t>4.5</a:t>
                      </a:r>
                      <a:r>
                        <a:rPr lang="zh-CN" altLang="en-US" sz="1800" dirty="0">
                          <a:sym typeface="+mn-ea"/>
                        </a:rPr>
                        <a:t>学时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/>
                        <a:t>扬帆楼</a:t>
                      </a:r>
                      <a:r>
                        <a:rPr lang="en-US" altLang="zh-CN" sz="1800" dirty="0"/>
                        <a:t>201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第</a:t>
                      </a:r>
                      <a:r>
                        <a:rPr lang="en-US" altLang="zh-CN" sz="1800" dirty="0"/>
                        <a:t>1</a:t>
                      </a:r>
                      <a:r>
                        <a:rPr lang="zh-CN" altLang="en-US" sz="1800" dirty="0"/>
                        <a:t>周</a:t>
                      </a:r>
                      <a:r>
                        <a:rPr lang="zh-CN" altLang="en-US" sz="1800" dirty="0" smtClean="0"/>
                        <a:t>周四（</a:t>
                      </a:r>
                      <a:r>
                        <a:rPr lang="en-US" altLang="zh-CN" sz="1800" dirty="0" smtClean="0"/>
                        <a:t>7</a:t>
                      </a:r>
                      <a:r>
                        <a:rPr lang="zh-CN" altLang="en-US" sz="1800" dirty="0" smtClean="0"/>
                        <a:t>月</a:t>
                      </a:r>
                      <a:r>
                        <a:rPr lang="en-US" altLang="zh-CN" sz="1800" dirty="0" smtClean="0"/>
                        <a:t>4</a:t>
                      </a:r>
                      <a:r>
                        <a:rPr lang="zh-CN" altLang="en-US" sz="1800" dirty="0" smtClean="0"/>
                        <a:t>日）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>
                          <a:sym typeface="+mn-ea"/>
                        </a:rPr>
                        <a:t>下午</a:t>
                      </a:r>
                      <a:r>
                        <a:rPr lang="en-US" altLang="zh-CN" sz="1800" dirty="0">
                          <a:sym typeface="+mn-ea"/>
                        </a:rPr>
                        <a:t>(13:30-17:00)</a:t>
                      </a:r>
                      <a:r>
                        <a:rPr lang="zh-CN" altLang="en-US" sz="1800" dirty="0" smtClean="0">
                          <a:sym typeface="+mn-ea"/>
                        </a:rPr>
                        <a:t>（</a:t>
                      </a:r>
                      <a:r>
                        <a:rPr lang="en-US" altLang="zh-CN" sz="1800" dirty="0" smtClean="0">
                          <a:sym typeface="+mn-ea"/>
                        </a:rPr>
                        <a:t>1-15</a:t>
                      </a:r>
                      <a:r>
                        <a:rPr lang="zh-CN" altLang="en-US" sz="1800" dirty="0" smtClean="0">
                          <a:sym typeface="+mn-ea"/>
                        </a:rPr>
                        <a:t>）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4.5</a:t>
                      </a:r>
                      <a:r>
                        <a:rPr lang="zh-CN" altLang="en-US" sz="1800">
                          <a:sym typeface="+mn-ea"/>
                        </a:rPr>
                        <a:t>学时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sym typeface="+mn-ea"/>
                        </a:rPr>
                        <a:t>扬帆楼</a:t>
                      </a:r>
                      <a:r>
                        <a:rPr lang="en-US" altLang="zh-CN" sz="1800" dirty="0">
                          <a:sym typeface="+mn-ea"/>
                        </a:rPr>
                        <a:t>201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第</a:t>
                      </a:r>
                      <a:r>
                        <a:rPr lang="en-US" altLang="zh-CN" sz="1800" dirty="0"/>
                        <a:t>1</a:t>
                      </a:r>
                      <a:r>
                        <a:rPr lang="zh-CN" altLang="en-US" sz="1800" dirty="0" smtClean="0"/>
                        <a:t>周周五（</a:t>
                      </a:r>
                      <a:r>
                        <a:rPr lang="en-US" altLang="zh-CN" sz="1800" dirty="0" smtClean="0"/>
                        <a:t>7</a:t>
                      </a:r>
                      <a:r>
                        <a:rPr lang="zh-CN" altLang="en-US" sz="1800" dirty="0" smtClean="0"/>
                        <a:t>月</a:t>
                      </a:r>
                      <a:r>
                        <a:rPr lang="en-US" altLang="zh-CN" sz="1800" dirty="0" smtClean="0"/>
                        <a:t>5</a:t>
                      </a:r>
                      <a:r>
                        <a:rPr lang="zh-CN" altLang="en-US" sz="1800" dirty="0" smtClean="0"/>
                        <a:t>日</a:t>
                      </a:r>
                      <a:r>
                        <a:rPr lang="zh-CN" altLang="en-US" sz="1800" dirty="0" smtClean="0"/>
                        <a:t>）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 smtClean="0">
                          <a:sym typeface="+mn-ea"/>
                        </a:rPr>
                        <a:t>上午</a:t>
                      </a:r>
                      <a:r>
                        <a:rPr lang="en-US" altLang="zh-CN" sz="1800" dirty="0" smtClean="0">
                          <a:sym typeface="+mn-ea"/>
                        </a:rPr>
                        <a:t>(8:00-11:25)  </a:t>
                      </a:r>
                      <a:r>
                        <a:rPr lang="zh-CN" altLang="en-US" sz="1800" dirty="0" smtClean="0">
                          <a:sym typeface="+mn-ea"/>
                        </a:rPr>
                        <a:t>（</a:t>
                      </a:r>
                      <a:r>
                        <a:rPr lang="en-US" altLang="zh-CN" sz="1800" dirty="0" smtClean="0">
                          <a:sym typeface="+mn-ea"/>
                        </a:rPr>
                        <a:t>1-15</a:t>
                      </a:r>
                      <a:r>
                        <a:rPr lang="zh-CN" altLang="en-US" sz="1800" dirty="0" smtClean="0">
                          <a:sym typeface="+mn-ea"/>
                        </a:rPr>
                        <a:t>）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4.5</a:t>
                      </a:r>
                      <a:r>
                        <a:rPr lang="zh-CN" altLang="en-US" sz="1800">
                          <a:sym typeface="+mn-ea"/>
                        </a:rPr>
                        <a:t>学时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sym typeface="+mn-ea"/>
                        </a:rPr>
                        <a:t>扬帆楼</a:t>
                      </a:r>
                      <a:r>
                        <a:rPr lang="en-US" altLang="zh-CN" sz="1800" dirty="0">
                          <a:sym typeface="+mn-ea"/>
                        </a:rPr>
                        <a:t>201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第</a:t>
                      </a:r>
                      <a:r>
                        <a:rPr lang="en-US" altLang="zh-CN" sz="1800" dirty="0"/>
                        <a:t>2</a:t>
                      </a:r>
                      <a:r>
                        <a:rPr lang="zh-CN" altLang="en-US" sz="1800" dirty="0"/>
                        <a:t>周</a:t>
                      </a:r>
                      <a:r>
                        <a:rPr lang="zh-CN" altLang="en-US" sz="1800" dirty="0" smtClean="0"/>
                        <a:t>周一（</a:t>
                      </a:r>
                      <a:r>
                        <a:rPr lang="en-US" altLang="zh-CN" sz="1800" dirty="0" smtClean="0"/>
                        <a:t>7</a:t>
                      </a:r>
                      <a:r>
                        <a:rPr lang="zh-CN" altLang="en-US" sz="1800" dirty="0" smtClean="0"/>
                        <a:t>月</a:t>
                      </a:r>
                      <a:r>
                        <a:rPr lang="en-US" altLang="zh-CN" sz="1800" dirty="0" smtClean="0"/>
                        <a:t>8</a:t>
                      </a:r>
                      <a:r>
                        <a:rPr lang="zh-CN" altLang="en-US" sz="1800" dirty="0" smtClean="0"/>
                        <a:t>日）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>
                          <a:sym typeface="+mn-ea"/>
                        </a:rPr>
                        <a:t>上午</a:t>
                      </a:r>
                      <a:r>
                        <a:rPr lang="en-US" altLang="zh-CN" sz="1800" dirty="0">
                          <a:sym typeface="+mn-ea"/>
                        </a:rPr>
                        <a:t>(</a:t>
                      </a:r>
                      <a:r>
                        <a:rPr lang="en-US" altLang="zh-CN" sz="1800" dirty="0" smtClean="0">
                          <a:sym typeface="+mn-ea"/>
                        </a:rPr>
                        <a:t>8:00-11:25)  </a:t>
                      </a:r>
                      <a:r>
                        <a:rPr lang="zh-CN" altLang="en-US" sz="1800" dirty="0">
                          <a:sym typeface="+mn-ea"/>
                        </a:rPr>
                        <a:t>（</a:t>
                      </a:r>
                      <a:r>
                        <a:rPr lang="en-US" altLang="zh-CN" sz="1800" dirty="0" smtClean="0">
                          <a:sym typeface="+mn-ea"/>
                        </a:rPr>
                        <a:t>16-30</a:t>
                      </a:r>
                      <a:r>
                        <a:rPr lang="zh-CN" altLang="en-US" sz="1800" dirty="0" smtClean="0">
                          <a:sym typeface="+mn-ea"/>
                        </a:rPr>
                        <a:t>）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4.5</a:t>
                      </a:r>
                      <a:r>
                        <a:rPr lang="zh-CN" altLang="en-US" sz="1800">
                          <a:sym typeface="+mn-ea"/>
                        </a:rPr>
                        <a:t>学时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/>
                        <a:t>扬帆楼</a:t>
                      </a:r>
                      <a:r>
                        <a:rPr lang="en-US" altLang="zh-CN" sz="1800"/>
                        <a:t>201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第</a:t>
                      </a:r>
                      <a:r>
                        <a:rPr lang="en-US" altLang="zh-CN" sz="1800" dirty="0"/>
                        <a:t>2</a:t>
                      </a:r>
                      <a:r>
                        <a:rPr lang="zh-CN" altLang="en-US" sz="1800" dirty="0"/>
                        <a:t>周</a:t>
                      </a:r>
                      <a:r>
                        <a:rPr lang="zh-CN" altLang="en-US" sz="1800" dirty="0" smtClean="0"/>
                        <a:t>周一（</a:t>
                      </a:r>
                      <a:r>
                        <a:rPr lang="en-US" altLang="zh-CN" sz="1800" dirty="0" smtClean="0"/>
                        <a:t>7</a:t>
                      </a:r>
                      <a:r>
                        <a:rPr lang="zh-CN" altLang="en-US" sz="1800" dirty="0" smtClean="0"/>
                        <a:t>月</a:t>
                      </a:r>
                      <a:r>
                        <a:rPr lang="en-US" altLang="zh-CN" sz="1800" dirty="0" smtClean="0"/>
                        <a:t>8</a:t>
                      </a:r>
                      <a:r>
                        <a:rPr lang="zh-CN" altLang="en-US" sz="1800" dirty="0" smtClean="0"/>
                        <a:t>日）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>
                          <a:sym typeface="+mn-ea"/>
                        </a:rPr>
                        <a:t>下午</a:t>
                      </a:r>
                      <a:r>
                        <a:rPr lang="en-US" altLang="zh-CN" sz="1800" dirty="0">
                          <a:sym typeface="+mn-ea"/>
                        </a:rPr>
                        <a:t>(13:30-17:00)</a:t>
                      </a:r>
                      <a:r>
                        <a:rPr lang="zh-CN" altLang="en-US" sz="1800" dirty="0">
                          <a:sym typeface="+mn-ea"/>
                        </a:rPr>
                        <a:t>（</a:t>
                      </a:r>
                      <a:r>
                        <a:rPr lang="en-US" altLang="zh-CN" sz="1800" dirty="0">
                          <a:sym typeface="+mn-ea"/>
                        </a:rPr>
                        <a:t>1-15</a:t>
                      </a:r>
                      <a:r>
                        <a:rPr lang="zh-CN" altLang="en-US" sz="1800" dirty="0">
                          <a:sym typeface="+mn-ea"/>
                        </a:rPr>
                        <a:t>）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4.5</a:t>
                      </a:r>
                      <a:r>
                        <a:rPr lang="zh-CN" altLang="en-US" sz="1800">
                          <a:sym typeface="+mn-ea"/>
                        </a:rPr>
                        <a:t>学时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扬帆楼</a:t>
                      </a:r>
                      <a:r>
                        <a:rPr lang="en-US" altLang="zh-CN" sz="1800">
                          <a:sym typeface="+mn-ea"/>
                        </a:rPr>
                        <a:t>201</a:t>
                      </a:r>
                      <a:endParaRPr lang="zh-CN" alt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第</a:t>
                      </a:r>
                      <a:r>
                        <a:rPr lang="en-US" altLang="zh-CN" sz="1800" dirty="0"/>
                        <a:t>2</a:t>
                      </a:r>
                      <a:r>
                        <a:rPr lang="zh-CN" altLang="en-US" sz="1800" dirty="0"/>
                        <a:t>周</a:t>
                      </a:r>
                      <a:r>
                        <a:rPr lang="zh-CN" altLang="en-US" sz="1800" dirty="0" smtClean="0"/>
                        <a:t>周二（</a:t>
                      </a:r>
                      <a:r>
                        <a:rPr lang="en-US" altLang="zh-CN" sz="1800" dirty="0" smtClean="0"/>
                        <a:t>7</a:t>
                      </a:r>
                      <a:r>
                        <a:rPr lang="zh-CN" altLang="en-US" sz="1800" dirty="0" smtClean="0"/>
                        <a:t>月</a:t>
                      </a:r>
                      <a:r>
                        <a:rPr lang="en-US" altLang="zh-CN" sz="1800" dirty="0" smtClean="0"/>
                        <a:t>9</a:t>
                      </a:r>
                      <a:r>
                        <a:rPr lang="zh-CN" altLang="en-US" sz="1800" dirty="0" smtClean="0"/>
                        <a:t>日）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>
                          <a:sym typeface="+mn-ea"/>
                        </a:rPr>
                        <a:t>下午</a:t>
                      </a:r>
                      <a:r>
                        <a:rPr lang="en-US" altLang="zh-CN" sz="1800" dirty="0">
                          <a:sym typeface="+mn-ea"/>
                        </a:rPr>
                        <a:t>(</a:t>
                      </a:r>
                      <a:r>
                        <a:rPr lang="en-US" altLang="zh-CN" sz="1800" dirty="0" smtClean="0">
                          <a:sym typeface="+mn-ea"/>
                        </a:rPr>
                        <a:t>13:30-17:00)  </a:t>
                      </a:r>
                      <a:r>
                        <a:rPr lang="zh-CN" altLang="en-US" sz="1800" dirty="0">
                          <a:sym typeface="+mn-ea"/>
                        </a:rPr>
                        <a:t>（</a:t>
                      </a:r>
                      <a:r>
                        <a:rPr lang="en-US" altLang="zh-CN" sz="1800" dirty="0" smtClean="0">
                          <a:sym typeface="+mn-ea"/>
                        </a:rPr>
                        <a:t>16-30</a:t>
                      </a:r>
                      <a:r>
                        <a:rPr lang="zh-CN" altLang="en-US" sz="1800" dirty="0" smtClean="0">
                          <a:sym typeface="+mn-ea"/>
                        </a:rPr>
                        <a:t>）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sym typeface="+mn-ea"/>
                        </a:rPr>
                        <a:t>4.5</a:t>
                      </a:r>
                      <a:r>
                        <a:rPr lang="zh-CN" altLang="en-US" sz="1800" dirty="0">
                          <a:sym typeface="+mn-ea"/>
                        </a:rPr>
                        <a:t>学时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/>
                        <a:t>扬帆楼</a:t>
                      </a:r>
                      <a:r>
                        <a:rPr lang="en-US" altLang="zh-CN" sz="1800"/>
                        <a:t>201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第</a:t>
                      </a:r>
                      <a:r>
                        <a:rPr lang="en-US" altLang="zh-CN" sz="1800" dirty="0"/>
                        <a:t>2</a:t>
                      </a:r>
                      <a:r>
                        <a:rPr lang="zh-CN" altLang="en-US" sz="1800" dirty="0"/>
                        <a:t>周</a:t>
                      </a:r>
                      <a:r>
                        <a:rPr lang="zh-CN" altLang="en-US" sz="1800" dirty="0" smtClean="0"/>
                        <a:t>周三（</a:t>
                      </a:r>
                      <a:r>
                        <a:rPr lang="en-US" altLang="zh-CN" sz="1800" dirty="0" smtClean="0"/>
                        <a:t>7</a:t>
                      </a:r>
                      <a:r>
                        <a:rPr lang="zh-CN" altLang="en-US" sz="1800" dirty="0" smtClean="0"/>
                        <a:t>月</a:t>
                      </a:r>
                      <a:r>
                        <a:rPr lang="en-US" altLang="zh-CN" sz="1800" dirty="0" smtClean="0"/>
                        <a:t>10</a:t>
                      </a:r>
                      <a:r>
                        <a:rPr lang="zh-CN" altLang="en-US" sz="1800" dirty="0" smtClean="0"/>
                        <a:t>日）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>
                          <a:sym typeface="+mn-ea"/>
                        </a:rPr>
                        <a:t>上午</a:t>
                      </a:r>
                      <a:r>
                        <a:rPr lang="en-US" altLang="zh-CN" sz="1800" dirty="0">
                          <a:sym typeface="+mn-ea"/>
                        </a:rPr>
                        <a:t>(</a:t>
                      </a:r>
                      <a:r>
                        <a:rPr lang="en-US" altLang="zh-CN" sz="1800" dirty="0" smtClean="0">
                          <a:sym typeface="+mn-ea"/>
                        </a:rPr>
                        <a:t>8:00-11:25</a:t>
                      </a:r>
                      <a:r>
                        <a:rPr lang="en-US" altLang="zh-CN" sz="1800" dirty="0">
                          <a:sym typeface="+mn-ea"/>
                        </a:rPr>
                        <a:t>)  </a:t>
                      </a:r>
                      <a:r>
                        <a:rPr lang="zh-CN" altLang="en-US" sz="1800" dirty="0">
                          <a:sym typeface="+mn-ea"/>
                        </a:rPr>
                        <a:t>（</a:t>
                      </a:r>
                      <a:r>
                        <a:rPr lang="en-US" altLang="zh-CN" sz="1800" dirty="0">
                          <a:sym typeface="+mn-ea"/>
                        </a:rPr>
                        <a:t>1-15</a:t>
                      </a:r>
                      <a:r>
                        <a:rPr lang="zh-CN" altLang="en-US" sz="1800" dirty="0">
                          <a:sym typeface="+mn-ea"/>
                        </a:rPr>
                        <a:t>）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4.5</a:t>
                      </a:r>
                      <a:r>
                        <a:rPr lang="zh-CN" altLang="en-US" sz="1800">
                          <a:sym typeface="+mn-ea"/>
                        </a:rPr>
                        <a:t>学时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/>
                        <a:t>扬帆楼</a:t>
                      </a:r>
                      <a:r>
                        <a:rPr lang="en-US" altLang="zh-CN" sz="1800"/>
                        <a:t>201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第</a:t>
                      </a:r>
                      <a:r>
                        <a:rPr lang="en-US" altLang="zh-CN" sz="1800" dirty="0"/>
                        <a:t>2</a:t>
                      </a:r>
                      <a:r>
                        <a:rPr lang="zh-CN" altLang="en-US" sz="1800" dirty="0"/>
                        <a:t>周</a:t>
                      </a:r>
                      <a:r>
                        <a:rPr lang="zh-CN" altLang="en-US" sz="1800" dirty="0" smtClean="0"/>
                        <a:t>周四（</a:t>
                      </a:r>
                      <a:r>
                        <a:rPr lang="en-US" altLang="zh-CN" sz="1800" dirty="0" smtClean="0"/>
                        <a:t>7</a:t>
                      </a:r>
                      <a:r>
                        <a:rPr lang="zh-CN" altLang="en-US" sz="1800" dirty="0" smtClean="0"/>
                        <a:t>月</a:t>
                      </a:r>
                      <a:r>
                        <a:rPr lang="en-US" altLang="zh-CN" sz="1800" dirty="0" smtClean="0"/>
                        <a:t>11</a:t>
                      </a:r>
                      <a:r>
                        <a:rPr lang="zh-CN" altLang="en-US" sz="1800" dirty="0" smtClean="0"/>
                        <a:t>日）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>
                          <a:sym typeface="+mn-ea"/>
                        </a:rPr>
                        <a:t>上午</a:t>
                      </a:r>
                      <a:r>
                        <a:rPr lang="en-US" altLang="zh-CN" sz="1800" dirty="0">
                          <a:sym typeface="+mn-ea"/>
                        </a:rPr>
                        <a:t>(</a:t>
                      </a:r>
                      <a:r>
                        <a:rPr lang="en-US" altLang="zh-CN" sz="1800" dirty="0" smtClean="0">
                          <a:sym typeface="+mn-ea"/>
                        </a:rPr>
                        <a:t>8:00-11:25</a:t>
                      </a:r>
                      <a:r>
                        <a:rPr lang="en-US" altLang="zh-CN" sz="1800" dirty="0">
                          <a:sym typeface="+mn-ea"/>
                        </a:rPr>
                        <a:t>)  </a:t>
                      </a:r>
                      <a:r>
                        <a:rPr lang="zh-CN" altLang="en-US" sz="1800" dirty="0">
                          <a:sym typeface="+mn-ea"/>
                        </a:rPr>
                        <a:t>（</a:t>
                      </a:r>
                      <a:r>
                        <a:rPr lang="en-US" altLang="zh-CN" sz="1800" dirty="0" smtClean="0">
                          <a:sym typeface="+mn-ea"/>
                        </a:rPr>
                        <a:t>16-30</a:t>
                      </a:r>
                      <a:r>
                        <a:rPr lang="zh-CN" altLang="en-US" sz="1800" dirty="0" smtClean="0">
                          <a:sym typeface="+mn-ea"/>
                        </a:rPr>
                        <a:t>）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4.5</a:t>
                      </a:r>
                      <a:r>
                        <a:rPr lang="zh-CN" altLang="en-US" sz="1800">
                          <a:sym typeface="+mn-ea"/>
                        </a:rPr>
                        <a:t>学时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/>
                        <a:t>扬帆楼</a:t>
                      </a:r>
                      <a:r>
                        <a:rPr lang="en-US" altLang="zh-CN" sz="1800"/>
                        <a:t>201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第</a:t>
                      </a:r>
                      <a:r>
                        <a:rPr lang="en-US" altLang="zh-CN" sz="1800" dirty="0"/>
                        <a:t>2</a:t>
                      </a:r>
                      <a:r>
                        <a:rPr lang="zh-CN" altLang="en-US" sz="1800" dirty="0"/>
                        <a:t>周</a:t>
                      </a:r>
                      <a:r>
                        <a:rPr lang="zh-CN" altLang="en-US" sz="1800" dirty="0" smtClean="0"/>
                        <a:t>周五（</a:t>
                      </a:r>
                      <a:r>
                        <a:rPr lang="en-US" altLang="zh-CN" sz="1800" dirty="0" smtClean="0"/>
                        <a:t>7</a:t>
                      </a:r>
                      <a:r>
                        <a:rPr lang="zh-CN" altLang="en-US" sz="1800" dirty="0" smtClean="0"/>
                        <a:t>月</a:t>
                      </a:r>
                      <a:r>
                        <a:rPr lang="en-US" altLang="zh-CN" sz="1800" dirty="0" smtClean="0"/>
                        <a:t>12</a:t>
                      </a:r>
                      <a:r>
                        <a:rPr lang="zh-CN" altLang="en-US" sz="1800" dirty="0" smtClean="0"/>
                        <a:t>日）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>
                          <a:sym typeface="+mn-ea"/>
                        </a:rPr>
                        <a:t>上午</a:t>
                      </a:r>
                      <a:r>
                        <a:rPr lang="en-US" altLang="zh-CN" sz="1800" dirty="0">
                          <a:sym typeface="+mn-ea"/>
                        </a:rPr>
                        <a:t>(</a:t>
                      </a:r>
                      <a:r>
                        <a:rPr lang="en-US" altLang="zh-CN" sz="1800" dirty="0" smtClean="0">
                          <a:sym typeface="+mn-ea"/>
                        </a:rPr>
                        <a:t>8:00-11:25</a:t>
                      </a:r>
                      <a:r>
                        <a:rPr lang="en-US" altLang="zh-CN" sz="1800" dirty="0">
                          <a:sym typeface="+mn-ea"/>
                        </a:rPr>
                        <a:t>)  </a:t>
                      </a:r>
                      <a:r>
                        <a:rPr lang="zh-CN" altLang="en-US" sz="1800" dirty="0">
                          <a:sym typeface="+mn-ea"/>
                        </a:rPr>
                        <a:t>（</a:t>
                      </a:r>
                      <a:r>
                        <a:rPr lang="en-US" altLang="zh-CN" sz="1800" dirty="0">
                          <a:sym typeface="+mn-ea"/>
                        </a:rPr>
                        <a:t>1-15</a:t>
                      </a:r>
                      <a:r>
                        <a:rPr lang="zh-CN" altLang="en-US" sz="1800" dirty="0">
                          <a:sym typeface="+mn-ea"/>
                        </a:rPr>
                        <a:t>）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4.5</a:t>
                      </a:r>
                      <a:r>
                        <a:rPr lang="zh-CN" altLang="en-US" sz="1800">
                          <a:sym typeface="+mn-ea"/>
                        </a:rPr>
                        <a:t>学时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/>
                        <a:t>扬帆楼</a:t>
                      </a:r>
                      <a:r>
                        <a:rPr lang="en-US" altLang="zh-CN" sz="1800"/>
                        <a:t>201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b="1" dirty="0">
                          <a:solidFill>
                            <a:srgbClr val="FF0000"/>
                          </a:solidFill>
                          <a:sym typeface="+mn-ea"/>
                        </a:rPr>
                        <a:t>第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sym typeface="+mn-ea"/>
                        </a:rPr>
                        <a:t>3</a:t>
                      </a:r>
                      <a:r>
                        <a:rPr lang="zh-CN" altLang="en-US" sz="1800" b="1" dirty="0">
                          <a:solidFill>
                            <a:srgbClr val="FF0000"/>
                          </a:solidFill>
                          <a:sym typeface="+mn-ea"/>
                        </a:rPr>
                        <a:t>周周五（</a:t>
                      </a:r>
                      <a:r>
                        <a:rPr lang="en-US" altLang="zh-CN" sz="1800" b="1" dirty="0" smtClean="0">
                          <a:solidFill>
                            <a:srgbClr val="FF0000"/>
                          </a:solidFill>
                          <a:sym typeface="+mn-ea"/>
                        </a:rPr>
                        <a:t>7</a:t>
                      </a:r>
                      <a:r>
                        <a:rPr lang="zh-CN" altLang="en-US" sz="1800" b="1" dirty="0" smtClean="0">
                          <a:solidFill>
                            <a:srgbClr val="FF0000"/>
                          </a:solidFill>
                          <a:sym typeface="+mn-ea"/>
                        </a:rPr>
                        <a:t>月</a:t>
                      </a:r>
                      <a:r>
                        <a:rPr lang="en-US" altLang="zh-CN" sz="1800" b="1" dirty="0" smtClean="0">
                          <a:solidFill>
                            <a:srgbClr val="FF0000"/>
                          </a:solidFill>
                          <a:sym typeface="+mn-ea"/>
                        </a:rPr>
                        <a:t>19</a:t>
                      </a:r>
                      <a:r>
                        <a:rPr lang="zh-CN" altLang="en-US" sz="1800" b="1" dirty="0" smtClean="0">
                          <a:solidFill>
                            <a:srgbClr val="FF0000"/>
                          </a:solidFill>
                          <a:sym typeface="+mn-ea"/>
                        </a:rPr>
                        <a:t>日</a:t>
                      </a:r>
                      <a:r>
                        <a:rPr lang="zh-CN" altLang="en-US" sz="1800" b="1" dirty="0">
                          <a:solidFill>
                            <a:srgbClr val="FF0000"/>
                          </a:solidFill>
                          <a:sym typeface="+mn-ea"/>
                        </a:rPr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b="1">
                          <a:solidFill>
                            <a:srgbClr val="FF0000"/>
                          </a:solidFill>
                          <a:sym typeface="+mn-ea"/>
                        </a:rPr>
                        <a:t>答辩</a:t>
                      </a:r>
                      <a:r>
                        <a:rPr lang="en-US" altLang="zh-CN" sz="1800" b="1">
                          <a:solidFill>
                            <a:srgbClr val="FF0000"/>
                          </a:solidFill>
                          <a:sym typeface="+mn-ea"/>
                        </a:rPr>
                        <a:t>  (8:00-11:20</a:t>
                      </a:r>
                      <a:r>
                        <a:rPr lang="zh-CN" altLang="en-US" sz="1800" b="1">
                          <a:solidFill>
                            <a:srgbClr val="FF0000"/>
                          </a:solidFill>
                          <a:sym typeface="+mn-ea"/>
                        </a:rPr>
                        <a:t>，</a:t>
                      </a:r>
                      <a:r>
                        <a:rPr lang="en-US" altLang="zh-CN" sz="1800" b="1">
                          <a:solidFill>
                            <a:srgbClr val="FF0000"/>
                          </a:solidFill>
                          <a:sym typeface="+mn-ea"/>
                        </a:rPr>
                        <a:t>13:30-17:00)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9</a:t>
                      </a:r>
                      <a:r>
                        <a:rPr lang="zh-CN" altLang="en-US" sz="1800">
                          <a:sym typeface="+mn-ea"/>
                        </a:rPr>
                        <a:t>学时</a:t>
                      </a:r>
                      <a:endParaRPr lang="en-US" altLang="zh-CN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扬帆楼</a:t>
                      </a:r>
                      <a:r>
                        <a:rPr lang="en-US" altLang="zh-CN" sz="1800">
                          <a:sym typeface="+mn-ea"/>
                        </a:rPr>
                        <a:t>201</a:t>
                      </a:r>
                      <a:endParaRPr lang="zh-CN" alt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b="1" dirty="0">
                          <a:solidFill>
                            <a:srgbClr val="FF0000"/>
                          </a:solidFill>
                          <a:sym typeface="+mn-ea"/>
                        </a:rPr>
                        <a:t>第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sym typeface="+mn-ea"/>
                        </a:rPr>
                        <a:t>4</a:t>
                      </a:r>
                      <a:r>
                        <a:rPr lang="zh-CN" altLang="en-US" sz="1800" b="1" dirty="0">
                          <a:solidFill>
                            <a:srgbClr val="FF0000"/>
                          </a:solidFill>
                          <a:sym typeface="+mn-ea"/>
                        </a:rPr>
                        <a:t>周周一（</a:t>
                      </a:r>
                      <a:r>
                        <a:rPr lang="en-US" altLang="zh-CN" sz="1800" b="1" dirty="0" smtClean="0">
                          <a:solidFill>
                            <a:srgbClr val="FF0000"/>
                          </a:solidFill>
                          <a:sym typeface="+mn-ea"/>
                        </a:rPr>
                        <a:t>7</a:t>
                      </a:r>
                      <a:r>
                        <a:rPr lang="zh-CN" altLang="en-US" sz="1800" b="1" dirty="0" smtClean="0">
                          <a:solidFill>
                            <a:srgbClr val="FF0000"/>
                          </a:solidFill>
                          <a:sym typeface="+mn-ea"/>
                        </a:rPr>
                        <a:t>月</a:t>
                      </a:r>
                      <a:r>
                        <a:rPr lang="en-US" altLang="zh-CN" sz="1800" b="1" dirty="0" smtClean="0">
                          <a:solidFill>
                            <a:srgbClr val="FF0000"/>
                          </a:solidFill>
                          <a:sym typeface="+mn-ea"/>
                        </a:rPr>
                        <a:t>22</a:t>
                      </a:r>
                      <a:r>
                        <a:rPr lang="zh-CN" altLang="en-US" sz="1800" b="1" dirty="0" smtClean="0">
                          <a:solidFill>
                            <a:srgbClr val="FF0000"/>
                          </a:solidFill>
                          <a:sym typeface="+mn-ea"/>
                        </a:rPr>
                        <a:t>日</a:t>
                      </a:r>
                      <a:r>
                        <a:rPr lang="zh-CN" altLang="en-US" sz="1800" b="1" dirty="0">
                          <a:solidFill>
                            <a:srgbClr val="FF0000"/>
                          </a:solidFill>
                          <a:sym typeface="+mn-ea"/>
                        </a:rPr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b="1">
                          <a:solidFill>
                            <a:srgbClr val="FF0000"/>
                          </a:solidFill>
                          <a:sym typeface="+mn-ea"/>
                        </a:rPr>
                        <a:t>答辩</a:t>
                      </a:r>
                      <a:r>
                        <a:rPr lang="en-US" altLang="zh-CN" sz="1800" b="1">
                          <a:solidFill>
                            <a:srgbClr val="FF0000"/>
                          </a:solidFill>
                          <a:sym typeface="+mn-ea"/>
                        </a:rPr>
                        <a:t>  (8:00-11:20</a:t>
                      </a:r>
                      <a:r>
                        <a:rPr lang="zh-CN" altLang="en-US" sz="1800" b="1">
                          <a:solidFill>
                            <a:srgbClr val="FF0000"/>
                          </a:solidFill>
                          <a:sym typeface="+mn-ea"/>
                        </a:rPr>
                        <a:t>，</a:t>
                      </a:r>
                      <a:r>
                        <a:rPr lang="en-US" altLang="zh-CN" sz="1800" b="1">
                          <a:solidFill>
                            <a:srgbClr val="FF0000"/>
                          </a:solidFill>
                          <a:sym typeface="+mn-ea"/>
                        </a:rPr>
                        <a:t>13:30-17:00)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9</a:t>
                      </a:r>
                      <a:r>
                        <a:rPr lang="zh-CN" altLang="en-US" sz="1800">
                          <a:sym typeface="+mn-ea"/>
                        </a:rPr>
                        <a:t>学时</a:t>
                      </a:r>
                      <a:endParaRPr lang="en-US" altLang="zh-CN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sym typeface="+mn-ea"/>
                        </a:rPr>
                        <a:t>扬帆楼</a:t>
                      </a:r>
                      <a:r>
                        <a:rPr lang="en-US" altLang="zh-CN" sz="1800" dirty="0">
                          <a:sym typeface="+mn-ea"/>
                        </a:rPr>
                        <a:t>304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实践内容：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7960" y="1935480"/>
            <a:ext cx="8498840" cy="4509135"/>
          </a:xfrm>
        </p:spPr>
        <p:txBody>
          <a:bodyPr>
            <a:normAutofit fontScale="90000" lnSpcReduction="20000"/>
          </a:bodyPr>
          <a:lstStyle/>
          <a:p>
            <a:r>
              <a:rPr lang="zh-CN" altLang="zh-CN" b="1" dirty="0"/>
              <a:t>题目</a:t>
            </a:r>
            <a:r>
              <a:rPr lang="en-US" altLang="zh-CN" b="1" dirty="0"/>
              <a:t>-1   </a:t>
            </a:r>
            <a:r>
              <a:rPr lang="zh-CN" altLang="zh-CN" b="1" dirty="0"/>
              <a:t> </a:t>
            </a:r>
            <a:r>
              <a:rPr altLang="zh-CN" b="1" dirty="0"/>
              <a:t>选课方案设计问题、Rectangle问题和导弹拦截问题</a:t>
            </a:r>
          </a:p>
          <a:p>
            <a:r>
              <a:rPr lang="zh-CN" altLang="zh-CN" b="1" dirty="0" smtClean="0"/>
              <a:t>题目</a:t>
            </a:r>
            <a:r>
              <a:rPr lang="en-US" altLang="zh-CN" b="1" dirty="0"/>
              <a:t>-</a:t>
            </a:r>
            <a:r>
              <a:rPr lang="en-US" altLang="zh-CN" b="1" dirty="0" smtClean="0"/>
              <a:t>2   </a:t>
            </a:r>
            <a:r>
              <a:rPr altLang="zh-CN" b="1" dirty="0"/>
              <a:t>循环赛日程表、布线问题和旅行售货员问题</a:t>
            </a:r>
          </a:p>
          <a:p>
            <a:r>
              <a:rPr lang="zh-CN" altLang="zh-CN" b="1" dirty="0" smtClean="0"/>
              <a:t>题目</a:t>
            </a:r>
            <a:r>
              <a:rPr lang="en-US" altLang="zh-CN" b="1" dirty="0"/>
              <a:t>-</a:t>
            </a:r>
            <a:r>
              <a:rPr lang="en-US" altLang="zh-CN" b="1" dirty="0" smtClean="0"/>
              <a:t>3   </a:t>
            </a:r>
            <a:r>
              <a:rPr altLang="zh-CN" b="1" dirty="0"/>
              <a:t>排课问题、Water问题和凸多边形最优三角剖分的问题</a:t>
            </a:r>
            <a:r>
              <a:rPr lang="zh-CN" altLang="zh-CN" b="1" dirty="0" smtClean="0"/>
              <a:t>题目</a:t>
            </a:r>
            <a:r>
              <a:rPr lang="en-US" altLang="zh-CN" b="1" dirty="0" smtClean="0"/>
              <a:t>-4   </a:t>
            </a:r>
            <a:r>
              <a:rPr altLang="zh-CN" b="1" dirty="0"/>
              <a:t>购物单问题、Palindrome Partitioning问题和世界名画陈列问题</a:t>
            </a:r>
          </a:p>
          <a:p>
            <a:r>
              <a:rPr lang="zh-CN" altLang="zh-CN" b="1" dirty="0"/>
              <a:t>题目</a:t>
            </a:r>
            <a:r>
              <a:rPr lang="en-US" altLang="zh-CN" b="1" dirty="0"/>
              <a:t>-</a:t>
            </a:r>
            <a:r>
              <a:rPr lang="en-US" altLang="zh-CN" b="1" dirty="0" smtClean="0"/>
              <a:t>5   </a:t>
            </a:r>
            <a:r>
              <a:rPr lang="zh-CN" altLang="zh-CN" b="1" dirty="0"/>
              <a:t> 最短路径问题、House Robber问题和活动选择问题</a:t>
            </a:r>
          </a:p>
          <a:p>
            <a:r>
              <a:rPr lang="zh-CN" altLang="zh-CN" b="1" dirty="0" smtClean="0"/>
              <a:t>题目</a:t>
            </a:r>
            <a:r>
              <a:rPr lang="en-US" altLang="zh-CN" b="1" dirty="0"/>
              <a:t>-</a:t>
            </a:r>
            <a:r>
              <a:rPr lang="en-US" altLang="zh-CN" b="1" dirty="0" smtClean="0"/>
              <a:t>6  </a:t>
            </a:r>
            <a:r>
              <a:rPr altLang="zh-CN" b="1" dirty="0"/>
              <a:t>套汇问题、最小机器重量设计问题和旅行售货员问题</a:t>
            </a:r>
          </a:p>
          <a:p>
            <a:r>
              <a:rPr lang="zh-CN" altLang="zh-CN" b="1" dirty="0"/>
              <a:t>题目</a:t>
            </a:r>
            <a:r>
              <a:rPr lang="en-US" altLang="zh-CN" b="1" dirty="0"/>
              <a:t>-</a:t>
            </a:r>
            <a:r>
              <a:rPr lang="en-US" altLang="zh-CN" b="1" dirty="0" smtClean="0"/>
              <a:t>7   </a:t>
            </a:r>
            <a:r>
              <a:rPr altLang="zh-CN" b="1" dirty="0"/>
              <a:t>买书问题、Valid Sudoku问题和汽车加油行驶问题</a:t>
            </a:r>
          </a:p>
          <a:p>
            <a:r>
              <a:rPr lang="zh-CN" altLang="zh-CN" b="1" dirty="0" smtClean="0"/>
              <a:t>题目</a:t>
            </a:r>
            <a:r>
              <a:rPr lang="en-US" altLang="zh-CN" b="1" dirty="0" smtClean="0"/>
              <a:t>-8   </a:t>
            </a:r>
            <a:r>
              <a:rPr altLang="zh-CN" b="1" dirty="0"/>
              <a:t>租用游艇问题、Sum问题和圆排列问题</a:t>
            </a:r>
          </a:p>
          <a:p>
            <a:r>
              <a:rPr lang="zh-CN" altLang="zh-CN" b="1" dirty="0" smtClean="0"/>
              <a:t>题目</a:t>
            </a:r>
            <a:r>
              <a:rPr lang="en-US" altLang="zh-CN" b="1" dirty="0" smtClean="0"/>
              <a:t>-9   </a:t>
            </a:r>
            <a:r>
              <a:rPr altLang="zh-CN" b="1" dirty="0"/>
              <a:t>独立任务最优调度问题、Next Permutation  问题和切割木材问题</a:t>
            </a:r>
          </a:p>
          <a:p>
            <a:r>
              <a:rPr lang="zh-CN" altLang="zh-CN" b="1" dirty="0" smtClean="0"/>
              <a:t>题目</a:t>
            </a:r>
            <a:r>
              <a:rPr lang="en-US" altLang="zh-CN" b="1" dirty="0" smtClean="0"/>
              <a:t>-10  </a:t>
            </a:r>
            <a:r>
              <a:rPr lang="zh-CN" altLang="zh-CN" b="1" dirty="0"/>
              <a:t>促销购物问题、Best Time to Buy and Sell Stock问题和图着色问题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9885" y="260858"/>
            <a:ext cx="8229600" cy="1143000"/>
          </a:xfrm>
        </p:spPr>
        <p:txBody>
          <a:bodyPr/>
          <a:lstStyle/>
          <a:p>
            <a:r>
              <a:rPr lang="zh-CN" altLang="en-US" dirty="0"/>
              <a:t>实践要求：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9885" y="1484784"/>
            <a:ext cx="8321040" cy="5164301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 smtClean="0"/>
              <a:t>1. </a:t>
            </a:r>
            <a:r>
              <a:rPr lang="zh-CN" altLang="zh-CN" sz="2800" dirty="0"/>
              <a:t>学生以</a:t>
            </a:r>
            <a:r>
              <a:rPr lang="en-US" altLang="zh-CN" sz="2800" dirty="0" smtClean="0"/>
              <a:t>3</a:t>
            </a:r>
            <a:r>
              <a:rPr lang="zh-CN" altLang="zh-CN" sz="2800" dirty="0" smtClean="0"/>
              <a:t>人</a:t>
            </a:r>
            <a:r>
              <a:rPr lang="zh-CN" altLang="zh-CN" sz="2800" dirty="0"/>
              <a:t>组成设计小组，分工协作</a:t>
            </a:r>
            <a:r>
              <a:rPr lang="zh-CN" altLang="zh-CN" sz="2800" dirty="0" smtClean="0"/>
              <a:t>完成实验内容</a:t>
            </a:r>
            <a:r>
              <a:rPr lang="zh-CN" altLang="en-US" sz="2800" dirty="0" smtClean="0"/>
              <a:t>，</a:t>
            </a:r>
            <a:r>
              <a:rPr lang="zh-CN" altLang="zh-CN" sz="2800" dirty="0" smtClean="0"/>
              <a:t>严禁</a:t>
            </a:r>
            <a:r>
              <a:rPr lang="zh-CN" altLang="zh-CN" sz="2800" dirty="0"/>
              <a:t>照搬他人工作以及在小组间相互拷贝、抄袭程序和文档</a:t>
            </a:r>
            <a:r>
              <a:rPr lang="zh-CN" altLang="zh-CN" sz="2800" dirty="0" smtClean="0"/>
              <a:t>资料</a:t>
            </a:r>
            <a:r>
              <a:rPr lang="zh-CN" altLang="en-US" sz="2800" dirty="0" smtClean="0"/>
              <a:t>；</a:t>
            </a:r>
            <a:endParaRPr lang="en-US" altLang="zh-CN" sz="28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2. </a:t>
            </a:r>
            <a:r>
              <a:rPr lang="zh-CN" altLang="zh-CN" sz="2800" dirty="0"/>
              <a:t>加强组织纪律性，自觉接受指导教师和实验室管理人员的领导与安排；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3. </a:t>
            </a:r>
            <a:r>
              <a:rPr lang="zh-CN" altLang="zh-CN" sz="2800" dirty="0"/>
              <a:t>保证出勤率，缺席实践课的学生成绩为</a:t>
            </a:r>
            <a:r>
              <a:rPr lang="en-US" altLang="zh-CN" sz="2800" dirty="0"/>
              <a:t>0</a:t>
            </a:r>
            <a:r>
              <a:rPr lang="zh-CN" altLang="zh-CN" sz="2800" dirty="0"/>
              <a:t>。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 smtClean="0">
                <a:sym typeface="+mn-ea"/>
              </a:rPr>
              <a:t>4. </a:t>
            </a:r>
            <a:r>
              <a:rPr lang="zh-CN" altLang="en-US" sz="2800" dirty="0" smtClean="0">
                <a:sym typeface="+mn-ea"/>
              </a:rPr>
              <a:t>每个</a:t>
            </a:r>
            <a:r>
              <a:rPr lang="zh-CN" altLang="en-US" sz="2800" smtClean="0">
                <a:sym typeface="+mn-ea"/>
              </a:rPr>
              <a:t>题目采用多个算法策略（至少两个，其中</a:t>
            </a:r>
            <a:r>
              <a:rPr lang="zh-CN" altLang="en-US" sz="2800" dirty="0" smtClean="0">
                <a:sym typeface="+mn-ea"/>
              </a:rPr>
              <a:t>一个算法策略为分治、贪婪、动态规划、回溯、分支限界），并比较不同算法策略区别。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2800" dirty="0" smtClean="0"/>
              <a:t>5. </a:t>
            </a:r>
            <a:r>
              <a:rPr lang="zh-CN" altLang="en-US" sz="2800" dirty="0" smtClean="0"/>
              <a:t>答辩时间为</a:t>
            </a:r>
            <a:r>
              <a:rPr lang="en-US" altLang="zh-CN" sz="2800" dirty="0" smtClean="0"/>
              <a:t>10</a:t>
            </a:r>
            <a:r>
              <a:rPr lang="zh-CN" altLang="en-US" sz="2800" dirty="0" smtClean="0"/>
              <a:t>分钟，包含</a:t>
            </a:r>
            <a:r>
              <a:rPr lang="en-US" altLang="zh-CN" sz="2800" dirty="0" smtClean="0"/>
              <a:t>PPT</a:t>
            </a:r>
            <a:r>
              <a:rPr lang="zh-CN" altLang="en-US" sz="2800" dirty="0" smtClean="0"/>
              <a:t>讲解和代码讲解。</a:t>
            </a:r>
            <a:r>
              <a:rPr lang="en-US" altLang="zh-CN" sz="2800" dirty="0" smtClean="0"/>
              <a:t>PPT</a:t>
            </a:r>
            <a:r>
              <a:rPr lang="zh-CN" altLang="en-US" sz="2800" dirty="0" smtClean="0"/>
              <a:t>介绍问题、算法策略、算法效率区别、小组分工等。代码介绍算法具体实现过程、运行结果。</a:t>
            </a:r>
          </a:p>
          <a:p>
            <a:pPr>
              <a:buFont typeface="Wingdings" panose="05000000000000000000" pitchFamily="2" charset="2"/>
              <a:buChar char="Ø"/>
            </a:pPr>
            <a:endParaRPr lang="zh-CN" altLang="zh-CN" sz="2800" dirty="0"/>
          </a:p>
          <a:p>
            <a:pPr>
              <a:buFont typeface="Wingdings" panose="05000000000000000000" pitchFamily="2" charset="2"/>
              <a:buChar char="Ø"/>
            </a:pPr>
            <a:endParaRPr lang="zh-CN" altLang="zh-CN" dirty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875" y="548640"/>
            <a:ext cx="9128125" cy="6187440"/>
          </a:xfrm>
        </p:spPr>
        <p:txBody>
          <a:bodyPr>
            <a:noAutofit/>
          </a:bodyPr>
          <a:lstStyle/>
          <a:p>
            <a:pPr>
              <a:buFont typeface="Wingdings" panose="05000000000000000000" charset="0"/>
              <a:buChar char="n"/>
            </a:pPr>
            <a:r>
              <a:rPr lang="zh-CN" altLang="en-US" sz="2600" dirty="0">
                <a:sym typeface="+mn-ea"/>
              </a:rPr>
              <a:t>提交文档：</a:t>
            </a:r>
          </a:p>
          <a:p>
            <a:pPr>
              <a:buFont typeface="Wingdings" panose="05000000000000000000" charset="0"/>
              <a:buChar char="n"/>
            </a:pPr>
            <a:r>
              <a:rPr lang="en-US" altLang="zh-CN" sz="2600" dirty="0">
                <a:sym typeface="+mn-ea"/>
              </a:rPr>
              <a:t>1</a:t>
            </a:r>
            <a:r>
              <a:rPr lang="zh-CN" altLang="en-US" sz="2600" dirty="0">
                <a:sym typeface="+mn-ea"/>
              </a:rPr>
              <a:t>）纸质实验报告</a:t>
            </a:r>
            <a:r>
              <a:rPr lang="zh-CN" altLang="zh-CN" sz="2600" dirty="0">
                <a:sym typeface="+mn-ea"/>
              </a:rPr>
              <a:t>（用</a:t>
            </a:r>
            <a:r>
              <a:rPr lang="en-US" altLang="zh-CN" sz="2600" dirty="0">
                <a:sym typeface="+mn-ea"/>
              </a:rPr>
              <a:t> </a:t>
            </a:r>
            <a:r>
              <a:rPr lang="en-US" altLang="zh-CN" sz="2600" dirty="0" smtClean="0">
                <a:sym typeface="+mn-ea"/>
              </a:rPr>
              <a:t>A4</a:t>
            </a:r>
            <a:r>
              <a:rPr lang="zh-CN" altLang="zh-CN" sz="2600" dirty="0" smtClean="0">
                <a:sym typeface="+mn-ea"/>
              </a:rPr>
              <a:t>纸</a:t>
            </a:r>
            <a:r>
              <a:rPr lang="zh-CN" altLang="zh-CN" sz="2600" dirty="0">
                <a:sym typeface="+mn-ea"/>
              </a:rPr>
              <a:t>打印）</a:t>
            </a:r>
            <a:r>
              <a:rPr lang="zh-CN" altLang="en-US" sz="2600" dirty="0">
                <a:sym typeface="+mn-ea"/>
              </a:rPr>
              <a:t>；</a:t>
            </a:r>
            <a:endParaRPr lang="zh-CN" altLang="en-US" sz="2600" dirty="0"/>
          </a:p>
          <a:p>
            <a:pPr>
              <a:buFont typeface="Wingdings" panose="05000000000000000000" charset="0"/>
              <a:buChar char="n"/>
            </a:pPr>
            <a:r>
              <a:rPr lang="en-US" altLang="zh-CN" sz="2600" dirty="0">
                <a:sym typeface="+mn-ea"/>
              </a:rPr>
              <a:t>2</a:t>
            </a:r>
            <a:r>
              <a:rPr lang="zh-CN" altLang="en-US" sz="2600" dirty="0">
                <a:sym typeface="+mn-ea"/>
              </a:rPr>
              <a:t>）电子版实验文件</a:t>
            </a:r>
            <a:r>
              <a:rPr lang="zh-CN" altLang="zh-CN" sz="2600" dirty="0">
                <a:solidFill>
                  <a:schemeClr val="tx1"/>
                </a:solidFill>
                <a:sym typeface="+mn-ea"/>
              </a:rPr>
              <a:t>（命名组号＋题目）</a:t>
            </a:r>
            <a:r>
              <a:rPr lang="zh-CN" altLang="zh-CN" sz="2600" dirty="0">
                <a:sym typeface="+mn-ea"/>
              </a:rPr>
              <a:t>，包括四个文件：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600" dirty="0">
                <a:sym typeface="+mn-ea"/>
              </a:rPr>
              <a:t>1</a:t>
            </a:r>
            <a:r>
              <a:rPr lang="zh-CN" altLang="en-US" sz="2600" dirty="0">
                <a:sym typeface="+mn-ea"/>
              </a:rPr>
              <a:t>）</a:t>
            </a:r>
            <a:r>
              <a:rPr lang="zh-CN" altLang="zh-CN" sz="2600" dirty="0">
                <a:sym typeface="+mn-ea"/>
              </a:rPr>
              <a:t>code1文件（第一个问题的算法代码）；</a:t>
            </a:r>
          </a:p>
          <a:p>
            <a:pPr lvl="1" algn="l">
              <a:buFont typeface="Wingdings" panose="05000000000000000000" pitchFamily="2" charset="2"/>
              <a:buChar char="Ø"/>
            </a:pPr>
            <a:r>
              <a:rPr lang="en-US" altLang="zh-CN" sz="2600" dirty="0">
                <a:sym typeface="+mn-ea"/>
              </a:rPr>
              <a:t>2）code2文件（第二个问题的算法代码）；</a:t>
            </a:r>
          </a:p>
          <a:p>
            <a:pPr lvl="1" algn="l">
              <a:buFont typeface="Wingdings" panose="05000000000000000000" pitchFamily="2" charset="2"/>
              <a:buChar char="Ø"/>
            </a:pPr>
            <a:r>
              <a:rPr lang="en-US" altLang="zh-CN" sz="2600" dirty="0">
                <a:sym typeface="+mn-ea"/>
              </a:rPr>
              <a:t>3）code3文件（第</a:t>
            </a:r>
            <a:r>
              <a:rPr lang="zh-CN" altLang="en-US" sz="2600" dirty="0">
                <a:sym typeface="+mn-ea"/>
              </a:rPr>
              <a:t>三</a:t>
            </a:r>
            <a:r>
              <a:rPr lang="en-US" altLang="zh-CN" sz="2600" dirty="0">
                <a:sym typeface="+mn-ea"/>
              </a:rPr>
              <a:t>个问题的算法代码）；</a:t>
            </a:r>
          </a:p>
          <a:p>
            <a:pPr lvl="1" algn="l">
              <a:buFont typeface="Wingdings" panose="05000000000000000000" pitchFamily="2" charset="2"/>
              <a:buChar char="Ø"/>
            </a:pPr>
            <a:r>
              <a:rPr lang="en-US" altLang="zh-CN" sz="2600" dirty="0">
                <a:sym typeface="+mn-ea"/>
              </a:rPr>
              <a:t>4）实验报告（命名为组号+题目）。</a:t>
            </a:r>
          </a:p>
          <a:p>
            <a:pPr>
              <a:buFont typeface="Wingdings" panose="05000000000000000000" charset="0"/>
              <a:buChar char="n"/>
            </a:pPr>
            <a:r>
              <a:rPr lang="zh-CN" altLang="zh-CN" sz="2600" dirty="0">
                <a:sym typeface="+mn-ea"/>
              </a:rPr>
              <a:t>code1、code2和</a:t>
            </a:r>
            <a:r>
              <a:rPr lang="en-US" altLang="zh-CN" dirty="0">
                <a:sym typeface="+mn-ea"/>
              </a:rPr>
              <a:t>code3</a:t>
            </a:r>
            <a:r>
              <a:rPr lang="zh-CN" altLang="zh-CN" sz="2600" dirty="0">
                <a:sym typeface="+mn-ea"/>
              </a:rPr>
              <a:t>文件中包含三个文件：</a:t>
            </a:r>
          </a:p>
          <a:p>
            <a:pPr marL="914400" lvl="1" indent="-457200">
              <a:buFont typeface="+mj-lt"/>
              <a:buAutoNum type="alphaLcParenR"/>
            </a:pPr>
            <a:r>
              <a:rPr lang="zh-CN" altLang="zh-CN" sz="2600" dirty="0">
                <a:sym typeface="+mn-ea"/>
              </a:rPr>
              <a:t>algorithm1文件代码（第一个算法，包括可执行文件）；</a:t>
            </a:r>
          </a:p>
          <a:p>
            <a:pPr marL="914400" lvl="1" indent="-457200">
              <a:buFont typeface="+mj-lt"/>
              <a:buAutoNum type="alphaLcParenR"/>
            </a:pPr>
            <a:r>
              <a:rPr lang="zh-CN" altLang="zh-CN" sz="2600" dirty="0">
                <a:sym typeface="+mn-ea"/>
              </a:rPr>
              <a:t>algorithm2文件代码（第二个算法，包括可执行文件）；</a:t>
            </a:r>
          </a:p>
          <a:p>
            <a:pPr marL="914400" lvl="1" indent="-457200">
              <a:buFont typeface="+mj-lt"/>
              <a:buAutoNum type="alphaLcParenR"/>
            </a:pPr>
            <a:r>
              <a:rPr lang="zh-CN" altLang="zh-CN" sz="2600" dirty="0">
                <a:sym typeface="+mn-ea"/>
              </a:rPr>
              <a:t>说明文档（说明两个算法的运行环境、参数等设置）。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b="1" dirty="0"/>
              <a:t>考核标准</a:t>
            </a:r>
            <a:r>
              <a:rPr lang="zh-CN" altLang="en-US" b="1" dirty="0" smtClean="0"/>
              <a:t>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 smtClean="0"/>
              <a:t>1</a:t>
            </a:r>
            <a:r>
              <a:rPr lang="zh-CN" altLang="en-US" b="1" dirty="0" smtClean="0"/>
              <a:t>）</a:t>
            </a:r>
            <a:r>
              <a:rPr lang="zh-CN" altLang="zh-CN" dirty="0"/>
              <a:t>指导教师根据项目小组得分，以及项目组成员分工、完成和答辩情况，给出项目组成员的评分；原则上组长分数由小组分数加上</a:t>
            </a:r>
            <a:r>
              <a:rPr lang="en-US" altLang="zh-CN" dirty="0"/>
              <a:t>5</a:t>
            </a:r>
            <a:r>
              <a:rPr lang="zh-CN" altLang="zh-CN" dirty="0"/>
              <a:t>分，小组成员的分数与小组的得分的差值在</a:t>
            </a:r>
            <a:r>
              <a:rPr lang="en-US" altLang="zh-CN" dirty="0"/>
              <a:t>5</a:t>
            </a:r>
            <a:r>
              <a:rPr lang="zh-CN" altLang="zh-CN" dirty="0"/>
              <a:t>分之内，小组内部成员分差在</a:t>
            </a:r>
            <a:r>
              <a:rPr lang="en-US" altLang="zh-CN" dirty="0"/>
              <a:t>0</a:t>
            </a:r>
            <a:r>
              <a:rPr lang="zh-CN" altLang="zh-CN" dirty="0"/>
              <a:t>到</a:t>
            </a:r>
            <a:r>
              <a:rPr lang="en-US" altLang="zh-CN" dirty="0"/>
              <a:t>10</a:t>
            </a:r>
            <a:r>
              <a:rPr lang="zh-CN" altLang="zh-CN" dirty="0"/>
              <a:t>分内向下浮动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r>
              <a:rPr lang="zh-CN" altLang="zh-CN" dirty="0" smtClean="0"/>
              <a:t>每</a:t>
            </a:r>
            <a:r>
              <a:rPr lang="zh-CN" altLang="zh-CN" dirty="0"/>
              <a:t>位项目组成员的得分</a:t>
            </a:r>
            <a:r>
              <a:rPr lang="zh-CN" altLang="zh-CN" dirty="0" smtClean="0"/>
              <a:t>是</a:t>
            </a:r>
            <a:r>
              <a:rPr lang="zh-CN" altLang="zh-CN" dirty="0"/>
              <a:t>指导教师评分的平均分；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）</a:t>
            </a:r>
            <a:r>
              <a:rPr lang="zh-CN" altLang="zh-CN" dirty="0" smtClean="0"/>
              <a:t>得分变换</a:t>
            </a:r>
            <a:r>
              <a:rPr lang="zh-CN" altLang="zh-CN" dirty="0"/>
              <a:t>成</a:t>
            </a:r>
            <a:r>
              <a:rPr lang="en-US" altLang="zh-CN" dirty="0"/>
              <a:t>5</a:t>
            </a:r>
            <a:r>
              <a:rPr lang="zh-CN" altLang="zh-CN" dirty="0"/>
              <a:t>分制，即</a:t>
            </a:r>
            <a:r>
              <a:rPr lang="en-US" altLang="zh-CN" dirty="0"/>
              <a:t>90-100</a:t>
            </a:r>
            <a:r>
              <a:rPr lang="zh-CN" altLang="zh-CN" dirty="0"/>
              <a:t>分为优秀；</a:t>
            </a:r>
            <a:r>
              <a:rPr lang="en-US" altLang="zh-CN" dirty="0"/>
              <a:t>80-90</a:t>
            </a:r>
            <a:r>
              <a:rPr lang="zh-CN" altLang="zh-CN" dirty="0"/>
              <a:t>为良好；</a:t>
            </a:r>
            <a:r>
              <a:rPr lang="en-US" altLang="zh-CN" dirty="0"/>
              <a:t>70-80</a:t>
            </a:r>
            <a:r>
              <a:rPr lang="zh-CN" altLang="zh-CN" dirty="0"/>
              <a:t>为中等；</a:t>
            </a:r>
            <a:r>
              <a:rPr lang="en-US" altLang="zh-CN" dirty="0"/>
              <a:t>60-70</a:t>
            </a:r>
            <a:r>
              <a:rPr lang="zh-CN" altLang="zh-CN" dirty="0"/>
              <a:t>为及格；</a:t>
            </a:r>
            <a:r>
              <a:rPr lang="en-US" altLang="zh-CN" dirty="0"/>
              <a:t>60</a:t>
            </a:r>
            <a:r>
              <a:rPr lang="zh-CN" altLang="zh-CN" dirty="0"/>
              <a:t>分以下为不及格。</a:t>
            </a:r>
            <a:r>
              <a:rPr lang="en-US" altLang="zh-CN" dirty="0" smtClean="0"/>
              <a:t>90-100</a:t>
            </a:r>
            <a:r>
              <a:rPr lang="zh-CN" altLang="zh-CN" dirty="0"/>
              <a:t>分为优秀；</a:t>
            </a:r>
            <a:r>
              <a:rPr lang="en-US" altLang="zh-CN" dirty="0"/>
              <a:t>80-90</a:t>
            </a:r>
            <a:r>
              <a:rPr lang="zh-CN" altLang="zh-CN" dirty="0"/>
              <a:t>为良好；</a:t>
            </a:r>
            <a:r>
              <a:rPr lang="en-US" altLang="zh-CN" dirty="0"/>
              <a:t>70-80</a:t>
            </a:r>
            <a:r>
              <a:rPr lang="zh-CN" altLang="zh-CN" dirty="0"/>
              <a:t>为中等；</a:t>
            </a:r>
            <a:r>
              <a:rPr lang="en-US" altLang="zh-CN" dirty="0"/>
              <a:t>60-70</a:t>
            </a:r>
            <a:r>
              <a:rPr lang="zh-CN" altLang="zh-CN" dirty="0"/>
              <a:t>为及格；</a:t>
            </a:r>
            <a:r>
              <a:rPr lang="en-US" altLang="zh-CN" dirty="0"/>
              <a:t>60</a:t>
            </a:r>
            <a:r>
              <a:rPr lang="zh-CN" altLang="zh-CN" dirty="0"/>
              <a:t>分以下为不及格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选题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）三人一组，自由组队，确定组长和组员；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）根据组长学号，确定小组编号；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）根据小组编号 </a:t>
            </a:r>
            <a:r>
              <a:rPr lang="en-US" altLang="zh-CN" dirty="0" smtClean="0"/>
              <a:t>Mod 10 </a:t>
            </a:r>
            <a:r>
              <a:rPr lang="zh-CN" altLang="en-US" dirty="0" smtClean="0"/>
              <a:t>的结果确定题目；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DhlNDMzOGQ1MjljNmUyMGY1NjNhOGQxNWUwZjU4MGYifQ=="/>
  <p:tag name="KSO_WPP_MARK_KEY" val="72e355c1-3c89-4fb6-81f3-5bec1c0e26e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fba56713-0027-4635-8090-138e3934f597}"/>
  <p:tag name="TABLE_ENDDRAG_ORIGIN_RECT" val="671*415"/>
  <p:tag name="TABLE_ENDDRAG_RECT" val="31*14*671*415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流畅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流畅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流畅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</TotalTime>
  <Words>864</Words>
  <Application>Microsoft Office PowerPoint</Application>
  <PresentationFormat>全屏显示(4:3)</PresentationFormat>
  <Paragraphs>97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隶书</vt:lpstr>
      <vt:lpstr>宋体</vt:lpstr>
      <vt:lpstr>Calibri</vt:lpstr>
      <vt:lpstr>Constantia</vt:lpstr>
      <vt:lpstr>Wingdings</vt:lpstr>
      <vt:lpstr>Wingdings 2</vt:lpstr>
      <vt:lpstr>流畅</vt:lpstr>
      <vt:lpstr>算法设计实践</vt:lpstr>
      <vt:lpstr>PowerPoint 演示文稿</vt:lpstr>
      <vt:lpstr>实践内容：</vt:lpstr>
      <vt:lpstr>实践要求：</vt:lpstr>
      <vt:lpstr>PowerPoint 演示文稿</vt:lpstr>
      <vt:lpstr>考核标准：</vt:lpstr>
      <vt:lpstr>选题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算法设计实践</dc:title>
  <dc:creator>zoutt</dc:creator>
  <cp:lastModifiedBy>lenovo</cp:lastModifiedBy>
  <cp:revision>54</cp:revision>
  <dcterms:created xsi:type="dcterms:W3CDTF">2019-07-05T08:10:00Z</dcterms:created>
  <dcterms:modified xsi:type="dcterms:W3CDTF">2024-06-30T23:59:24Z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C6D571A27B694195BA78C41EE77F6C16</vt:lpwstr>
  </property>
  <property fmtid="{D5CDD505-2E9C-101B-9397-08002B2CF9AE}" pid="3" name="KSOProductBuildVer">
    <vt:lpwstr>2052-12.1.0.16929</vt:lpwstr>
  </property>
</Properties>
</file>