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handoutMasterIdLst>
    <p:handoutMasterId r:id="rId101"/>
  </p:handoutMasterIdLst>
  <p:sldIdLst>
    <p:sldId id="1004" r:id="rId2"/>
    <p:sldId id="1005" r:id="rId3"/>
    <p:sldId id="1308" r:id="rId4"/>
    <p:sldId id="1244" r:id="rId5"/>
    <p:sldId id="1245" r:id="rId6"/>
    <p:sldId id="1246" r:id="rId7"/>
    <p:sldId id="1247" r:id="rId8"/>
    <p:sldId id="1248" r:id="rId9"/>
    <p:sldId id="1258" r:id="rId10"/>
    <p:sldId id="1249" r:id="rId11"/>
    <p:sldId id="1250" r:id="rId12"/>
    <p:sldId id="1251" r:id="rId13"/>
    <p:sldId id="1252" r:id="rId14"/>
    <p:sldId id="1253" r:id="rId15"/>
    <p:sldId id="1254" r:id="rId16"/>
    <p:sldId id="1256" r:id="rId17"/>
    <p:sldId id="659" r:id="rId18"/>
    <p:sldId id="655" r:id="rId19"/>
    <p:sldId id="727" r:id="rId20"/>
    <p:sldId id="707" r:id="rId21"/>
    <p:sldId id="1260" r:id="rId22"/>
    <p:sldId id="712" r:id="rId23"/>
    <p:sldId id="566" r:id="rId24"/>
    <p:sldId id="728" r:id="rId25"/>
    <p:sldId id="664" r:id="rId26"/>
    <p:sldId id="567" r:id="rId27"/>
    <p:sldId id="663" r:id="rId28"/>
    <p:sldId id="1261" r:id="rId29"/>
    <p:sldId id="668" r:id="rId30"/>
    <p:sldId id="669" r:id="rId31"/>
    <p:sldId id="670" r:id="rId32"/>
    <p:sldId id="729" r:id="rId33"/>
    <p:sldId id="700" r:id="rId34"/>
    <p:sldId id="701" r:id="rId35"/>
    <p:sldId id="702" r:id="rId36"/>
    <p:sldId id="699" r:id="rId37"/>
    <p:sldId id="1262" r:id="rId38"/>
    <p:sldId id="724" r:id="rId39"/>
    <p:sldId id="1284" r:id="rId40"/>
    <p:sldId id="674" r:id="rId41"/>
    <p:sldId id="1264" r:id="rId42"/>
    <p:sldId id="1265" r:id="rId43"/>
    <p:sldId id="574" r:id="rId44"/>
    <p:sldId id="1267" r:id="rId45"/>
    <p:sldId id="1268" r:id="rId46"/>
    <p:sldId id="1266" r:id="rId47"/>
    <p:sldId id="1195" r:id="rId48"/>
    <p:sldId id="1270" r:id="rId49"/>
    <p:sldId id="1271" r:id="rId50"/>
    <p:sldId id="1274" r:id="rId51"/>
    <p:sldId id="1287" r:id="rId52"/>
    <p:sldId id="580" r:id="rId53"/>
    <p:sldId id="676" r:id="rId54"/>
    <p:sldId id="1285" r:id="rId55"/>
    <p:sldId id="715" r:id="rId56"/>
    <p:sldId id="1314" r:id="rId57"/>
    <p:sldId id="1305" r:id="rId58"/>
    <p:sldId id="582" r:id="rId59"/>
    <p:sldId id="677" r:id="rId60"/>
    <p:sldId id="1311" r:id="rId61"/>
    <p:sldId id="721" r:id="rId62"/>
    <p:sldId id="1286" r:id="rId63"/>
    <p:sldId id="1313" r:id="rId64"/>
    <p:sldId id="583" r:id="rId65"/>
    <p:sldId id="584" r:id="rId66"/>
    <p:sldId id="1312" r:id="rId67"/>
    <p:sldId id="1315" r:id="rId68"/>
    <p:sldId id="1316" r:id="rId69"/>
    <p:sldId id="586" r:id="rId70"/>
    <p:sldId id="1283" r:id="rId71"/>
    <p:sldId id="697" r:id="rId72"/>
    <p:sldId id="716" r:id="rId73"/>
    <p:sldId id="696" r:id="rId74"/>
    <p:sldId id="703" r:id="rId75"/>
    <p:sldId id="588" r:id="rId76"/>
    <p:sldId id="725" r:id="rId77"/>
    <p:sldId id="1278" r:id="rId78"/>
    <p:sldId id="736" r:id="rId79"/>
    <p:sldId id="1277" r:id="rId80"/>
    <p:sldId id="1307" r:id="rId81"/>
    <p:sldId id="734" r:id="rId82"/>
    <p:sldId id="735" r:id="rId83"/>
    <p:sldId id="1288" r:id="rId84"/>
    <p:sldId id="1291" r:id="rId85"/>
    <p:sldId id="1295" r:id="rId86"/>
    <p:sldId id="1317" r:id="rId87"/>
    <p:sldId id="1310" r:id="rId88"/>
    <p:sldId id="1309" r:id="rId89"/>
    <p:sldId id="1293" r:id="rId90"/>
    <p:sldId id="1294" r:id="rId91"/>
    <p:sldId id="1304" r:id="rId92"/>
    <p:sldId id="1306" r:id="rId93"/>
    <p:sldId id="680" r:id="rId94"/>
    <p:sldId id="1297" r:id="rId95"/>
    <p:sldId id="1296" r:id="rId96"/>
    <p:sldId id="1298" r:id="rId97"/>
    <p:sldId id="1299" r:id="rId98"/>
    <p:sldId id="1300" r:id="rId99"/>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521415D9-36F7-43E2-AB2F-B90AF26B5E84}">
      <p14:sectionLst xmlns:p14="http://schemas.microsoft.com/office/powerpoint/2010/main">
        <p14:section name="默认节" id="{648D39FF-9B98-41A3-B208-5AF141360F82}">
          <p14:sldIdLst>
            <p14:sldId id="1004"/>
            <p14:sldId id="1005"/>
            <p14:sldId id="1308"/>
          </p14:sldIdLst>
        </p14:section>
        <p14:section name="无标题节" id="{AE64ACB7-3C47-4E33-BD1D-B26F122DF306}">
          <p14:sldIdLst>
            <p14:sldId id="1244"/>
            <p14:sldId id="1245"/>
            <p14:sldId id="1246"/>
            <p14:sldId id="1247"/>
            <p14:sldId id="1248"/>
            <p14:sldId id="1258"/>
            <p14:sldId id="1249"/>
            <p14:sldId id="1250"/>
            <p14:sldId id="1251"/>
            <p14:sldId id="1252"/>
            <p14:sldId id="1253"/>
            <p14:sldId id="1254"/>
            <p14:sldId id="1256"/>
            <p14:sldId id="659"/>
            <p14:sldId id="655"/>
            <p14:sldId id="727"/>
            <p14:sldId id="707"/>
            <p14:sldId id="1260"/>
            <p14:sldId id="712"/>
            <p14:sldId id="566"/>
            <p14:sldId id="728"/>
            <p14:sldId id="664"/>
            <p14:sldId id="567"/>
            <p14:sldId id="663"/>
            <p14:sldId id="1261"/>
            <p14:sldId id="668"/>
            <p14:sldId id="669"/>
            <p14:sldId id="670"/>
            <p14:sldId id="729"/>
            <p14:sldId id="700"/>
            <p14:sldId id="701"/>
            <p14:sldId id="702"/>
            <p14:sldId id="699"/>
            <p14:sldId id="1262"/>
            <p14:sldId id="724"/>
            <p14:sldId id="1284"/>
            <p14:sldId id="674"/>
            <p14:sldId id="1264"/>
            <p14:sldId id="1265"/>
            <p14:sldId id="574"/>
            <p14:sldId id="1267"/>
            <p14:sldId id="1268"/>
            <p14:sldId id="1266"/>
            <p14:sldId id="1195"/>
            <p14:sldId id="1270"/>
            <p14:sldId id="1271"/>
            <p14:sldId id="1274"/>
            <p14:sldId id="1287"/>
            <p14:sldId id="580"/>
            <p14:sldId id="676"/>
            <p14:sldId id="1285"/>
            <p14:sldId id="715"/>
            <p14:sldId id="1314"/>
            <p14:sldId id="1305"/>
            <p14:sldId id="582"/>
            <p14:sldId id="677"/>
            <p14:sldId id="1311"/>
            <p14:sldId id="721"/>
            <p14:sldId id="1286"/>
            <p14:sldId id="1313"/>
            <p14:sldId id="583"/>
            <p14:sldId id="584"/>
            <p14:sldId id="1312"/>
            <p14:sldId id="1315"/>
            <p14:sldId id="1316"/>
            <p14:sldId id="586"/>
            <p14:sldId id="1283"/>
            <p14:sldId id="697"/>
            <p14:sldId id="716"/>
            <p14:sldId id="696"/>
            <p14:sldId id="703"/>
            <p14:sldId id="588"/>
            <p14:sldId id="725"/>
            <p14:sldId id="1278"/>
            <p14:sldId id="736"/>
            <p14:sldId id="1277"/>
            <p14:sldId id="1307"/>
            <p14:sldId id="734"/>
            <p14:sldId id="735"/>
            <p14:sldId id="1288"/>
            <p14:sldId id="1291"/>
            <p14:sldId id="1295"/>
            <p14:sldId id="1317"/>
            <p14:sldId id="1310"/>
            <p14:sldId id="1309"/>
            <p14:sldId id="1293"/>
            <p14:sldId id="1294"/>
            <p14:sldId id="1304"/>
            <p14:sldId id="1306"/>
            <p14:sldId id="680"/>
            <p14:sldId id="1297"/>
            <p14:sldId id="1296"/>
            <p14:sldId id="1298"/>
            <p14:sldId id="1299"/>
            <p14:sldId id="130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DDDFF"/>
    <a:srgbClr val="99CCFF"/>
    <a:srgbClr val="CC3300"/>
    <a:srgbClr val="ED2E01"/>
    <a:srgbClr val="96AEF2"/>
    <a:srgbClr val="E1F4FF"/>
    <a:srgbClr val="FF00FF"/>
    <a:srgbClr val="FF33CC"/>
    <a:srgbClr val="CC3399"/>
    <a:srgbClr val="00EE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78426" autoAdjust="0"/>
  </p:normalViewPr>
  <p:slideViewPr>
    <p:cSldViewPr>
      <p:cViewPr varScale="1">
        <p:scale>
          <a:sx n="83" d="100"/>
          <a:sy n="83" d="100"/>
        </p:scale>
        <p:origin x="176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5" d="100"/>
        <a:sy n="45" d="100"/>
      </p:scale>
      <p:origin x="0" y="-2592"/>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baike.baidu.com/item/%E5%A4%84%E7%90%86%E5%99%A8/914419?fromModule=lemma_inlink" TargetMode="External"/><Relationship Id="rId2" Type="http://schemas.openxmlformats.org/officeDocument/2006/relationships/slide" Target="../slides/slide69.xml"/><Relationship Id="rId1" Type="http://schemas.openxmlformats.org/officeDocument/2006/relationships/notesMaster" Target="../notesMasters/notesMaster1.xml"/><Relationship Id="rId6" Type="http://schemas.openxmlformats.org/officeDocument/2006/relationships/hyperlink" Target="https://baike.baidu.com/item/%E6%80%BB%E7%BA%BF/108823?fromModule=lemma_inlink" TargetMode="External"/><Relationship Id="rId5" Type="http://schemas.openxmlformats.org/officeDocument/2006/relationships/hyperlink" Target="https://baike.baidu.com/item/%E7%89%A9%E7%90%86%E5%AD%98%E5%82%A8%E5%99%A8/7414328?fromModule=lemma_inlink" TargetMode="External"/><Relationship Id="rId4" Type="http://schemas.openxmlformats.org/officeDocument/2006/relationships/hyperlink" Target="https://baike.baidu.com/item/%E9%AB%98%E9%80%9F%E7%BC%93%E5%AD%98/603777?fromModule=lemma_inlink"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baike.so.com/doc/6602646-6816432.html" TargetMode="External"/><Relationship Id="rId2" Type="http://schemas.openxmlformats.org/officeDocument/2006/relationships/slide" Target="../slides/slide95.xml"/><Relationship Id="rId1" Type="http://schemas.openxmlformats.org/officeDocument/2006/relationships/notesMaster" Target="../notesMasters/notesMaster1.xml"/><Relationship Id="rId4" Type="http://schemas.openxmlformats.org/officeDocument/2006/relationships/hyperlink" Target="https://baike.so.com/doc/3953206-4148438.html" TargetMode="Externa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a:t>
            </a:fld>
            <a:endParaRPr lang="en-US" altLang="zh-CN"/>
          </a:p>
        </p:txBody>
      </p:sp>
    </p:spTree>
    <p:extLst>
      <p:ext uri="{BB962C8B-B14F-4D97-AF65-F5344CB8AC3E}">
        <p14:creationId xmlns:p14="http://schemas.microsoft.com/office/powerpoint/2010/main" val="415772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kumimoji="1" lang="zh-CN" altLang="en-US" sz="3600" kern="1200" dirty="0">
                <a:solidFill>
                  <a:schemeClr val="bg1"/>
                </a:solidFill>
                <a:latin typeface="Times New Roman" pitchFamily="18" charset="0"/>
                <a:ea typeface="楷体" panose="02010609060101010101" pitchFamily="49" charset="-122"/>
                <a:cs typeface="+mn-cs"/>
              </a:rPr>
              <a:t>处理器内置的寄存器</a:t>
            </a:r>
            <a:endParaRPr kumimoji="1" lang="en-US" altLang="en-US" sz="3600" kern="1200" dirty="0">
              <a:solidFill>
                <a:schemeClr val="bg1"/>
              </a:solidFill>
              <a:latin typeface="Times New Roman" pitchFamily="18" charset="0"/>
              <a:ea typeface="楷体" panose="02010609060101010101" pitchFamily="49" charset="-122"/>
              <a:cs typeface="+mn-cs"/>
            </a:endParaRP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a:t>
            </a:fld>
            <a:endParaRPr lang="en-US" altLang="zh-CN"/>
          </a:p>
        </p:txBody>
      </p:sp>
    </p:spTree>
    <p:extLst>
      <p:ext uri="{BB962C8B-B14F-4D97-AF65-F5344CB8AC3E}">
        <p14:creationId xmlns:p14="http://schemas.microsoft.com/office/powerpoint/2010/main" val="2828279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a:t>
            </a:fld>
            <a:endParaRPr lang="en-US" altLang="zh-CN"/>
          </a:p>
        </p:txBody>
      </p:sp>
    </p:spTree>
    <p:extLst>
      <p:ext uri="{BB962C8B-B14F-4D97-AF65-F5344CB8AC3E}">
        <p14:creationId xmlns:p14="http://schemas.microsoft.com/office/powerpoint/2010/main" val="3985327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编译时：如果在编译时就知道内存的地址，那么直接绑定绝对地址。</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2.</a:t>
            </a:r>
            <a:r>
              <a:rPr kumimoji="1" lang="zh-CN" altLang="en-US" sz="1200" b="0" i="0" kern="1200" dirty="0">
                <a:solidFill>
                  <a:schemeClr val="tx1"/>
                </a:solidFill>
                <a:effectLst/>
                <a:latin typeface="Times New Roman" pitchFamily="18" charset="0"/>
                <a:ea typeface="宋体" pitchFamily="2" charset="-122"/>
                <a:cs typeface="+mn-cs"/>
              </a:rPr>
              <a:t>加载时：在编译时生成可重定位代码，在加载时才生成绝对代码。</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3.</a:t>
            </a:r>
            <a:r>
              <a:rPr kumimoji="1" lang="zh-CN" altLang="en-US" sz="1200" b="0" i="0" kern="1200" dirty="0">
                <a:solidFill>
                  <a:schemeClr val="tx1"/>
                </a:solidFill>
                <a:effectLst/>
                <a:latin typeface="Times New Roman" pitchFamily="18" charset="0"/>
                <a:ea typeface="宋体" pitchFamily="2" charset="-122"/>
                <a:cs typeface="+mn-cs"/>
              </a:rPr>
              <a:t>执行时：如果执行时还要将进程从一个内存块移到另一个内存块，则只有执行时才绑定。</a:t>
            </a:r>
            <a:r>
              <a:rPr lang="zh-CN" altLang="en-US" dirty="0"/>
              <a:t/>
            </a:r>
            <a:br>
              <a:rPr lang="zh-CN" altLang="en-US" dirty="0"/>
            </a:br>
            <a:r>
              <a:rPr kumimoji="1" lang="en-US" altLang="zh-CN" sz="1200" b="0" i="0" kern="1200" dirty="0">
                <a:solidFill>
                  <a:schemeClr val="tx1"/>
                </a:solidFill>
                <a:effectLst/>
                <a:latin typeface="Times New Roman" pitchFamily="18" charset="0"/>
                <a:ea typeface="宋体" pitchFamily="2" charset="-122"/>
                <a:cs typeface="+mn-cs"/>
              </a:rPr>
              <a:t>CPU</a:t>
            </a:r>
            <a:r>
              <a:rPr kumimoji="1" lang="zh-CN" altLang="en-US" sz="1200" b="0" i="0" kern="1200" dirty="0">
                <a:solidFill>
                  <a:schemeClr val="tx1"/>
                </a:solidFill>
                <a:effectLst/>
                <a:latin typeface="Times New Roman" pitchFamily="18" charset="0"/>
                <a:ea typeface="宋体" pitchFamily="2" charset="-122"/>
                <a:cs typeface="+mn-cs"/>
              </a:rPr>
              <a:t>生成的逻辑地址，内存的地址是物理地址。</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动态加载：如果一个程序必须全部加载入内存，那么必须限制程序的大小，所以动态加载是将一个大程序分成多个子程序，每次将某个子程序调入内存，如果一个子程序需要调入另一个子程序，则再加载，加强内存空间的使用率。</a:t>
            </a:r>
          </a:p>
          <a:p>
            <a:r>
              <a:rPr kumimoji="1" lang="zh-CN" altLang="en-US" sz="1200" b="0" i="0" kern="1200" dirty="0">
                <a:solidFill>
                  <a:schemeClr val="tx1"/>
                </a:solidFill>
                <a:effectLst/>
                <a:latin typeface="Times New Roman" pitchFamily="18" charset="0"/>
                <a:ea typeface="宋体" pitchFamily="2" charset="-122"/>
                <a:cs typeface="+mn-cs"/>
              </a:rPr>
              <a:t>动态链接：通过在程序内部存放一个存根引用语言库，可以不必复制多个语言库副本，并且如果版本号不同，可以在内存中存放多个不同版本的库。</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a:t>
            </a:fld>
            <a:endParaRPr lang="en-US" altLang="zh-CN"/>
          </a:p>
        </p:txBody>
      </p:sp>
    </p:spTree>
    <p:extLst>
      <p:ext uri="{BB962C8B-B14F-4D97-AF65-F5344CB8AC3E}">
        <p14:creationId xmlns:p14="http://schemas.microsoft.com/office/powerpoint/2010/main" val="1446314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fontAlgn="base"/>
            <a:r>
              <a:rPr kumimoji="1" lang="zh-CN" altLang="en-US" sz="1200" b="1" i="0" kern="1200" dirty="0">
                <a:solidFill>
                  <a:schemeClr val="tx1"/>
                </a:solidFill>
                <a:effectLst/>
                <a:latin typeface="Times New Roman" pitchFamily="18" charset="0"/>
                <a:ea typeface="宋体" pitchFamily="2" charset="-122"/>
                <a:cs typeface="+mn-cs"/>
              </a:rPr>
              <a:t>动态加载（</a:t>
            </a:r>
            <a:r>
              <a:rPr kumimoji="1" lang="en-US" altLang="zh-CN" sz="1200" b="1" i="0" kern="1200" dirty="0">
                <a:solidFill>
                  <a:schemeClr val="tx1"/>
                </a:solidFill>
                <a:effectLst/>
                <a:latin typeface="Times New Roman" pitchFamily="18" charset="0"/>
                <a:ea typeface="宋体" pitchFamily="2" charset="-122"/>
                <a:cs typeface="+mn-cs"/>
              </a:rPr>
              <a:t>dynamic loading</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 ：所有子程序均以可重定位的方式保存在磁盘上，仅主程序装入内存并执行，当且仅当某个子程序被需要时才会装载进内存。此种方法设计程序主要是用户程序开发者的责任。其优势在于不被使用的子程序绝不会加载，若程序中有较多代码用于处理异常，动态加载会特别有效。</a:t>
            </a:r>
          </a:p>
          <a:p>
            <a:pPr fontAlgn="base"/>
            <a:r>
              <a:rPr kumimoji="1" lang="zh-CN" altLang="en-US" sz="1200" b="1" i="0" kern="1200" dirty="0">
                <a:solidFill>
                  <a:schemeClr val="tx1"/>
                </a:solidFill>
                <a:effectLst/>
                <a:latin typeface="Times New Roman" pitchFamily="18" charset="0"/>
                <a:ea typeface="宋体" pitchFamily="2" charset="-122"/>
                <a:cs typeface="+mn-cs"/>
              </a:rPr>
              <a:t>动态链接库（</a:t>
            </a:r>
            <a:r>
              <a:rPr kumimoji="1" lang="en-US" altLang="zh-CN" sz="1200" b="1" i="0" kern="1200" dirty="0">
                <a:solidFill>
                  <a:schemeClr val="tx1"/>
                </a:solidFill>
                <a:effectLst/>
                <a:latin typeface="Times New Roman" pitchFamily="18" charset="0"/>
                <a:ea typeface="宋体" pitchFamily="2" charset="-122"/>
                <a:cs typeface="+mn-cs"/>
              </a:rPr>
              <a:t>dynamically linked library</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 ：将系统库的加载延迟到运行时，用户程序对系统库的引用留有 </a:t>
            </a:r>
            <a:r>
              <a:rPr kumimoji="1" lang="zh-CN" altLang="en-US" sz="1200" b="1" i="0" kern="1200" dirty="0">
                <a:solidFill>
                  <a:schemeClr val="tx1"/>
                </a:solidFill>
                <a:effectLst/>
                <a:latin typeface="Times New Roman" pitchFamily="18" charset="0"/>
                <a:ea typeface="宋体" pitchFamily="2" charset="-122"/>
                <a:cs typeface="+mn-cs"/>
              </a:rPr>
              <a:t>存根（</a:t>
            </a:r>
            <a:r>
              <a:rPr kumimoji="1" lang="en-US" altLang="zh-CN" sz="1200" b="1" i="0" kern="1200" dirty="0">
                <a:solidFill>
                  <a:schemeClr val="tx1"/>
                </a:solidFill>
                <a:effectLst/>
                <a:latin typeface="Times New Roman" pitchFamily="18" charset="0"/>
                <a:ea typeface="宋体" pitchFamily="2" charset="-122"/>
                <a:cs typeface="+mn-cs"/>
              </a:rPr>
              <a:t>stub</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 ，存根指用于定位内存驻留库程序的一小段代码。当执行存根时，若所需的系统库已经驻留在内存中，则存根使用已有的系统库，否则将系统库装入内存。最终存根均会将系统库地址替换自身并执行系统库，此时所有使用某个库的进程只需要一个库代码副本。</a:t>
            </a:r>
          </a:p>
          <a:p>
            <a:r>
              <a:rPr kumimoji="1" lang="zh-CN" altLang="en-US" sz="1200" b="1" i="0" kern="1200" dirty="0">
                <a:solidFill>
                  <a:schemeClr val="tx1"/>
                </a:solidFill>
                <a:effectLst/>
                <a:latin typeface="Times New Roman" pitchFamily="18" charset="0"/>
                <a:ea typeface="宋体" pitchFamily="2" charset="-122"/>
                <a:cs typeface="+mn-cs"/>
              </a:rPr>
              <a:t>静态连接库</a:t>
            </a:r>
            <a:r>
              <a:rPr kumimoji="1" lang="zh-CN" altLang="en-US" sz="1200" b="0" i="0" kern="1200" dirty="0">
                <a:solidFill>
                  <a:schemeClr val="tx1"/>
                </a:solidFill>
                <a:effectLst/>
                <a:latin typeface="Times New Roman" pitchFamily="18" charset="0"/>
                <a:ea typeface="宋体" pitchFamily="2" charset="-122"/>
                <a:cs typeface="+mn-cs"/>
              </a:rPr>
              <a:t>就是把</a:t>
            </a:r>
            <a:r>
              <a:rPr kumimoji="1" lang="en-US" altLang="zh-CN" sz="1200" b="0" i="0" kern="1200" dirty="0">
                <a:solidFill>
                  <a:schemeClr val="tx1"/>
                </a:solidFill>
                <a:effectLst/>
                <a:latin typeface="Times New Roman" pitchFamily="18" charset="0"/>
                <a:ea typeface="宋体" pitchFamily="2" charset="-122"/>
                <a:cs typeface="+mn-cs"/>
              </a:rPr>
              <a:t>(lib)</a:t>
            </a:r>
            <a:r>
              <a:rPr kumimoji="1" lang="zh-CN" altLang="en-US" sz="1200" b="0" i="0" kern="1200" dirty="0">
                <a:solidFill>
                  <a:schemeClr val="tx1"/>
                </a:solidFill>
                <a:effectLst/>
                <a:latin typeface="Times New Roman" pitchFamily="18" charset="0"/>
                <a:ea typeface="宋体" pitchFamily="2" charset="-122"/>
                <a:cs typeface="+mn-cs"/>
              </a:rPr>
              <a:t>文件中用到的</a:t>
            </a:r>
            <a:r>
              <a:rPr kumimoji="1" lang="zh-CN" altLang="en-US" sz="1200" b="1" i="0" kern="1200" dirty="0">
                <a:solidFill>
                  <a:schemeClr val="tx1"/>
                </a:solidFill>
                <a:effectLst/>
                <a:latin typeface="Times New Roman" pitchFamily="18" charset="0"/>
                <a:ea typeface="宋体" pitchFamily="2" charset="-122"/>
                <a:cs typeface="+mn-cs"/>
              </a:rPr>
              <a:t>函数代码</a:t>
            </a:r>
            <a:r>
              <a:rPr kumimoji="1" lang="zh-CN" altLang="en-US" sz="1200" b="0" i="0" kern="1200" dirty="0">
                <a:solidFill>
                  <a:schemeClr val="tx1"/>
                </a:solidFill>
                <a:effectLst/>
                <a:latin typeface="Times New Roman" pitchFamily="18" charset="0"/>
                <a:ea typeface="宋体" pitchFamily="2" charset="-122"/>
                <a:cs typeface="+mn-cs"/>
              </a:rPr>
              <a:t>直接</a:t>
            </a:r>
            <a:r>
              <a:rPr kumimoji="1" lang="zh-CN" altLang="en-US" sz="1200" b="1" i="0" kern="1200" dirty="0">
                <a:solidFill>
                  <a:schemeClr val="tx1"/>
                </a:solidFill>
                <a:effectLst/>
                <a:latin typeface="Times New Roman" pitchFamily="18" charset="0"/>
                <a:ea typeface="宋体" pitchFamily="2" charset="-122"/>
                <a:cs typeface="+mn-cs"/>
              </a:rPr>
              <a:t>链接进目标程序</a:t>
            </a:r>
            <a:r>
              <a:rPr kumimoji="1" lang="zh-CN" altLang="en-US" sz="1200" b="0" i="0" kern="1200" dirty="0">
                <a:solidFill>
                  <a:schemeClr val="tx1"/>
                </a:solidFill>
                <a:effectLst/>
                <a:latin typeface="Times New Roman" pitchFamily="18" charset="0"/>
                <a:ea typeface="宋体" pitchFamily="2" charset="-122"/>
                <a:cs typeface="+mn-cs"/>
              </a:rPr>
              <a:t>，程序运行的时候不再需要其它的库文件。</a:t>
            </a:r>
          </a:p>
          <a:p>
            <a:r>
              <a:rPr kumimoji="1" lang="zh-CN" altLang="en-US" sz="1200" b="1" i="0" kern="1200" dirty="0">
                <a:solidFill>
                  <a:schemeClr val="tx1"/>
                </a:solidFill>
                <a:effectLst/>
                <a:latin typeface="Times New Roman" pitchFamily="18" charset="0"/>
                <a:ea typeface="宋体" pitchFamily="2" charset="-122"/>
                <a:cs typeface="+mn-cs"/>
              </a:rPr>
              <a:t>动态链接</a:t>
            </a:r>
            <a:r>
              <a:rPr kumimoji="1" lang="zh-CN" altLang="en-US" sz="1200" b="0" i="0" kern="1200" dirty="0">
                <a:solidFill>
                  <a:schemeClr val="tx1"/>
                </a:solidFill>
                <a:effectLst/>
                <a:latin typeface="Times New Roman" pitchFamily="18" charset="0"/>
                <a:ea typeface="宋体" pitchFamily="2" charset="-122"/>
                <a:cs typeface="+mn-cs"/>
              </a:rPr>
              <a:t>就是把调用的</a:t>
            </a:r>
            <a:r>
              <a:rPr kumimoji="1" lang="zh-CN" altLang="en-US" sz="1200" b="1" i="0" kern="1200" dirty="0">
                <a:solidFill>
                  <a:schemeClr val="tx1"/>
                </a:solidFill>
                <a:effectLst/>
                <a:latin typeface="Times New Roman" pitchFamily="18" charset="0"/>
                <a:ea typeface="宋体" pitchFamily="2" charset="-122"/>
                <a:cs typeface="+mn-cs"/>
              </a:rPr>
              <a:t>函数所在文件模块（</a:t>
            </a:r>
            <a:r>
              <a:rPr kumimoji="1" lang="en-US" altLang="zh-CN" sz="1200" b="1" i="0" kern="1200" dirty="0">
                <a:solidFill>
                  <a:schemeClr val="tx1"/>
                </a:solidFill>
                <a:effectLst/>
                <a:latin typeface="Times New Roman" pitchFamily="18" charset="0"/>
                <a:ea typeface="宋体" pitchFamily="2" charset="-122"/>
                <a:cs typeface="+mn-cs"/>
              </a:rPr>
              <a:t>DLL</a:t>
            </a:r>
            <a:r>
              <a:rPr kumimoji="1" lang="zh-CN" altLang="en-US" sz="1200" b="1"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和调用函数在文件中的</a:t>
            </a:r>
            <a:r>
              <a:rPr kumimoji="1" lang="zh-CN" altLang="en-US" sz="1200" b="1" i="0" kern="1200" dirty="0">
                <a:solidFill>
                  <a:schemeClr val="tx1"/>
                </a:solidFill>
                <a:effectLst/>
                <a:latin typeface="Times New Roman" pitchFamily="18" charset="0"/>
                <a:ea typeface="宋体" pitchFamily="2" charset="-122"/>
                <a:cs typeface="+mn-cs"/>
              </a:rPr>
              <a:t>位置等</a:t>
            </a:r>
            <a:r>
              <a:rPr kumimoji="1" lang="zh-CN" altLang="en-US" sz="1200" b="0" i="0" kern="1200" dirty="0">
                <a:solidFill>
                  <a:schemeClr val="tx1"/>
                </a:solidFill>
                <a:effectLst/>
                <a:latin typeface="Times New Roman" pitchFamily="18" charset="0"/>
                <a:ea typeface="宋体" pitchFamily="2" charset="-122"/>
                <a:cs typeface="+mn-cs"/>
              </a:rPr>
              <a:t>信息</a:t>
            </a:r>
            <a:r>
              <a:rPr kumimoji="1" lang="zh-CN" altLang="en-US" sz="1200" b="1" i="0" kern="1200" dirty="0">
                <a:solidFill>
                  <a:schemeClr val="tx1"/>
                </a:solidFill>
                <a:effectLst/>
                <a:latin typeface="Times New Roman" pitchFamily="18" charset="0"/>
                <a:ea typeface="宋体" pitchFamily="2" charset="-122"/>
                <a:cs typeface="+mn-cs"/>
              </a:rPr>
              <a:t>链接进目标程序</a:t>
            </a:r>
            <a:r>
              <a:rPr kumimoji="1" lang="zh-CN" altLang="en-US" sz="1200" b="0" i="0" kern="1200" dirty="0">
                <a:solidFill>
                  <a:schemeClr val="tx1"/>
                </a:solidFill>
                <a:effectLst/>
                <a:latin typeface="Times New Roman" pitchFamily="18" charset="0"/>
                <a:ea typeface="宋体" pitchFamily="2" charset="-122"/>
                <a:cs typeface="+mn-cs"/>
              </a:rPr>
              <a:t>，程序运行的时候再从</a:t>
            </a:r>
            <a:r>
              <a:rPr kumimoji="1" lang="en-US" altLang="zh-CN" sz="1200" b="0" i="0" kern="1200" dirty="0">
                <a:solidFill>
                  <a:schemeClr val="tx1"/>
                </a:solidFill>
                <a:effectLst/>
                <a:latin typeface="Times New Roman" pitchFamily="18" charset="0"/>
                <a:ea typeface="宋体" pitchFamily="2" charset="-122"/>
                <a:cs typeface="+mn-cs"/>
              </a:rPr>
              <a:t>DLL</a:t>
            </a:r>
            <a:r>
              <a:rPr kumimoji="1" lang="zh-CN" altLang="en-US" sz="1200" b="0" i="0" kern="1200" dirty="0">
                <a:solidFill>
                  <a:schemeClr val="tx1"/>
                </a:solidFill>
                <a:effectLst/>
                <a:latin typeface="Times New Roman" pitchFamily="18" charset="0"/>
                <a:ea typeface="宋体" pitchFamily="2" charset="-122"/>
                <a:cs typeface="+mn-cs"/>
              </a:rPr>
              <a:t>中寻找相应函数代码，因此需要相应</a:t>
            </a:r>
            <a:r>
              <a:rPr kumimoji="1" lang="en-US" altLang="zh-CN" sz="1200" b="0" i="0" kern="1200" dirty="0">
                <a:solidFill>
                  <a:schemeClr val="tx1"/>
                </a:solidFill>
                <a:effectLst/>
                <a:latin typeface="Times New Roman" pitchFamily="18" charset="0"/>
                <a:ea typeface="宋体" pitchFamily="2" charset="-122"/>
                <a:cs typeface="+mn-cs"/>
              </a:rPr>
              <a:t>DLL</a:t>
            </a:r>
            <a:r>
              <a:rPr kumimoji="1" lang="zh-CN" altLang="en-US" sz="1200" b="0" i="0" kern="1200" dirty="0">
                <a:solidFill>
                  <a:schemeClr val="tx1"/>
                </a:solidFill>
                <a:effectLst/>
                <a:latin typeface="Times New Roman" pitchFamily="18" charset="0"/>
                <a:ea typeface="宋体" pitchFamily="2" charset="-122"/>
                <a:cs typeface="+mn-cs"/>
              </a:rPr>
              <a:t>文件的支持。 </a:t>
            </a:r>
            <a:br>
              <a:rPr kumimoji="1" lang="zh-CN" altLang="en-US" sz="1200" b="0" i="0" kern="1200" dirty="0">
                <a:solidFill>
                  <a:schemeClr val="tx1"/>
                </a:solidFill>
                <a:effectLst/>
                <a:latin typeface="Times New Roman" pitchFamily="18" charset="0"/>
                <a:ea typeface="宋体" pitchFamily="2" charset="-122"/>
                <a:cs typeface="+mn-cs"/>
              </a:rPr>
            </a:br>
            <a:r>
              <a:rPr kumimoji="1" lang="zh-CN" altLang="en-US" sz="1200" b="0" i="0" kern="1200" dirty="0">
                <a:solidFill>
                  <a:schemeClr val="tx1"/>
                </a:solidFill>
                <a:effectLst/>
                <a:latin typeface="Times New Roman" pitchFamily="18" charset="0"/>
                <a:ea typeface="宋体" pitchFamily="2" charset="-122"/>
                <a:cs typeface="+mn-cs"/>
              </a:rPr>
              <a:t>动态链接的主要目的：把程序与他们使用的特定的函数库版本中分离开来。</a:t>
            </a:r>
          </a:p>
          <a:p>
            <a:r>
              <a:rPr kumimoji="1" lang="zh-CN" altLang="en-US" sz="1200" b="1" i="0" kern="1200" dirty="0">
                <a:solidFill>
                  <a:schemeClr val="tx1"/>
                </a:solidFill>
                <a:effectLst/>
                <a:latin typeface="Times New Roman" pitchFamily="18" charset="0"/>
                <a:ea typeface="宋体" pitchFamily="2" charset="-122"/>
                <a:cs typeface="+mn-cs"/>
              </a:rPr>
              <a:t>动态链接的优点：</a:t>
            </a:r>
            <a:r>
              <a:rPr kumimoji="1" lang="zh-CN" altLang="en-US" sz="1200" b="0" i="0" kern="1200" dirty="0">
                <a:solidFill>
                  <a:schemeClr val="tx1"/>
                </a:solidFill>
                <a:effectLst/>
                <a:latin typeface="Times New Roman" pitchFamily="18" charset="0"/>
                <a:ea typeface="宋体" pitchFamily="2" charset="-122"/>
                <a:cs typeface="+mn-cs"/>
              </a:rPr>
              <a:t> </a:t>
            </a:r>
            <a:br>
              <a:rPr kumimoji="1" lang="zh-CN" altLang="en-US" sz="1200" b="0" i="0" kern="1200" dirty="0">
                <a:solidFill>
                  <a:schemeClr val="tx1"/>
                </a:solidFill>
                <a:effectLst/>
                <a:latin typeface="Times New Roman" pitchFamily="18" charset="0"/>
                <a:ea typeface="宋体" pitchFamily="2" charset="-122"/>
                <a:cs typeface="+mn-cs"/>
              </a:rPr>
            </a:b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）可执行文件的体积可以非常小，节省磁盘空间和虚拟内存，能更加有效的利用磁盘空间。 </a:t>
            </a:r>
            <a:br>
              <a:rPr kumimoji="1" lang="zh-CN" altLang="en-US" sz="1200" b="0" i="0" kern="1200" dirty="0">
                <a:solidFill>
                  <a:schemeClr val="tx1"/>
                </a:solidFill>
                <a:effectLst/>
                <a:latin typeface="Times New Roman" pitchFamily="18" charset="0"/>
                <a:ea typeface="宋体" pitchFamily="2" charset="-122"/>
                <a:cs typeface="+mn-cs"/>
              </a:rPr>
            </a:b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2</a:t>
            </a:r>
            <a:r>
              <a:rPr kumimoji="1" lang="zh-CN" altLang="en-US" sz="1200" b="0" i="0" kern="1200" dirty="0">
                <a:solidFill>
                  <a:schemeClr val="tx1"/>
                </a:solidFill>
                <a:effectLst/>
                <a:latin typeface="Times New Roman" pitchFamily="18" charset="0"/>
                <a:ea typeface="宋体" pitchFamily="2" charset="-122"/>
                <a:cs typeface="+mn-cs"/>
              </a:rPr>
              <a:t>）链接</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编辑阶段的时间会缩短（因为链接器的有些工作被推迟到载入） </a:t>
            </a:r>
            <a:br>
              <a:rPr kumimoji="1" lang="zh-CN" altLang="en-US" sz="1200" b="0" i="0" kern="1200" dirty="0">
                <a:solidFill>
                  <a:schemeClr val="tx1"/>
                </a:solidFill>
                <a:effectLst/>
                <a:latin typeface="Times New Roman" pitchFamily="18" charset="0"/>
                <a:ea typeface="宋体" pitchFamily="2" charset="-122"/>
                <a:cs typeface="+mn-cs"/>
              </a:rPr>
            </a:b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3</a:t>
            </a:r>
            <a:r>
              <a:rPr kumimoji="1" lang="zh-CN" altLang="en-US" sz="1200" b="0" i="0" kern="1200" dirty="0">
                <a:solidFill>
                  <a:schemeClr val="tx1"/>
                </a:solidFill>
                <a:effectLst/>
                <a:latin typeface="Times New Roman" pitchFamily="18" charset="0"/>
                <a:ea typeface="宋体" pitchFamily="2" charset="-122"/>
                <a:cs typeface="+mn-cs"/>
              </a:rPr>
              <a:t>）所有动态链接到某个特定函数库的可执行文件在运行时</a:t>
            </a:r>
            <a:r>
              <a:rPr kumimoji="1" lang="zh-CN" altLang="en-US" sz="1200" b="1" i="0" kern="1200" dirty="0">
                <a:solidFill>
                  <a:schemeClr val="tx1"/>
                </a:solidFill>
                <a:effectLst/>
                <a:latin typeface="Times New Roman" pitchFamily="18" charset="0"/>
                <a:ea typeface="宋体" pitchFamily="2" charset="-122"/>
                <a:cs typeface="+mn-cs"/>
              </a:rPr>
              <a:t>共享该函数库在内存中的一个单独拷贝。</a:t>
            </a:r>
            <a:r>
              <a:rPr kumimoji="1" lang="zh-CN" altLang="en-US" sz="1200" b="0" i="0" kern="1200" dirty="0">
                <a:solidFill>
                  <a:schemeClr val="tx1"/>
                </a:solidFill>
                <a:effectLst/>
                <a:latin typeface="Times New Roman" pitchFamily="18" charset="0"/>
                <a:ea typeface="宋体" pitchFamily="2" charset="-122"/>
                <a:cs typeface="+mn-cs"/>
              </a:rPr>
              <a:t>这就提供了更好的</a:t>
            </a:r>
            <a:r>
              <a:rPr kumimoji="1" lang="en-US" altLang="zh-CN" sz="1200" b="0" i="0" kern="1200" dirty="0">
                <a:solidFill>
                  <a:schemeClr val="tx1"/>
                </a:solidFill>
                <a:effectLst/>
                <a:latin typeface="Times New Roman" pitchFamily="18" charset="0"/>
                <a:ea typeface="宋体" pitchFamily="2" charset="-122"/>
                <a:cs typeface="+mn-cs"/>
              </a:rPr>
              <a:t>I/O</a:t>
            </a:r>
            <a:r>
              <a:rPr kumimoji="1" lang="zh-CN" altLang="en-US" sz="1200" b="0" i="0" kern="1200" dirty="0">
                <a:solidFill>
                  <a:schemeClr val="tx1"/>
                </a:solidFill>
                <a:effectLst/>
                <a:latin typeface="Times New Roman" pitchFamily="18" charset="0"/>
                <a:ea typeface="宋体" pitchFamily="2" charset="-122"/>
                <a:cs typeface="+mn-cs"/>
              </a:rPr>
              <a:t>和交换空间利用率，节省了物理内存，提高了系统整体性能。</a:t>
            </a:r>
          </a:p>
          <a:p>
            <a:r>
              <a:rPr kumimoji="1" lang="zh-CN" altLang="en-US" sz="1200" b="1" i="0" kern="1200" dirty="0">
                <a:solidFill>
                  <a:schemeClr val="tx1"/>
                </a:solidFill>
                <a:effectLst/>
                <a:latin typeface="Times New Roman" pitchFamily="18" charset="0"/>
                <a:ea typeface="宋体" pitchFamily="2" charset="-122"/>
                <a:cs typeface="+mn-cs"/>
              </a:rPr>
              <a:t>动态链接的缺点：</a:t>
            </a:r>
            <a:r>
              <a:rPr kumimoji="1" lang="zh-CN" altLang="en-US" sz="1200" b="0" i="0" kern="1200" dirty="0">
                <a:solidFill>
                  <a:schemeClr val="tx1"/>
                </a:solidFill>
                <a:effectLst/>
                <a:latin typeface="Times New Roman" pitchFamily="18" charset="0"/>
                <a:ea typeface="宋体" pitchFamily="2" charset="-122"/>
                <a:cs typeface="+mn-cs"/>
              </a:rPr>
              <a:t>运行速度比静态链接慢。</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a:t>
            </a:fld>
            <a:endParaRPr lang="en-US" altLang="zh-CN"/>
          </a:p>
        </p:txBody>
      </p:sp>
    </p:spTree>
    <p:extLst>
      <p:ext uri="{BB962C8B-B14F-4D97-AF65-F5344CB8AC3E}">
        <p14:creationId xmlns:p14="http://schemas.microsoft.com/office/powerpoint/2010/main" val="3487778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2"/>
                </a:solidFill>
                <a:effectLst/>
                <a:latin typeface="+mj-lt"/>
                <a:ea typeface="楷体" panose="02010609060101010101" pitchFamily="49" charset="-122"/>
              </a:rPr>
              <a:t>根据分配给程序的内存区域对程序中指令和数据的地址进行重定位。</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11</a:t>
            </a:fld>
            <a:endParaRPr lang="en-US" altLang="zh-CN"/>
          </a:p>
        </p:txBody>
      </p:sp>
    </p:spTree>
    <p:extLst>
      <p:ext uri="{BB962C8B-B14F-4D97-AF65-F5344CB8AC3E}">
        <p14:creationId xmlns:p14="http://schemas.microsoft.com/office/powerpoint/2010/main" val="2114100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2"/>
                </a:solidFill>
                <a:effectLst/>
                <a:latin typeface="+mj-lt"/>
                <a:ea typeface="楷体" panose="02010609060101010101" pitchFamily="49" charset="-122"/>
              </a:rPr>
              <a:t>占用连续的内存空间，难以做到程序和数据的共享。</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12</a:t>
            </a:fld>
            <a:endParaRPr lang="en-US" altLang="zh-CN"/>
          </a:p>
        </p:txBody>
      </p:sp>
    </p:spTree>
    <p:extLst>
      <p:ext uri="{BB962C8B-B14F-4D97-AF65-F5344CB8AC3E}">
        <p14:creationId xmlns:p14="http://schemas.microsoft.com/office/powerpoint/2010/main" val="3404639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16</a:t>
            </a:fld>
            <a:endParaRPr lang="en-US" altLang="zh-CN"/>
          </a:p>
        </p:txBody>
      </p:sp>
    </p:spTree>
    <p:extLst>
      <p:ext uri="{BB962C8B-B14F-4D97-AF65-F5344CB8AC3E}">
        <p14:creationId xmlns:p14="http://schemas.microsoft.com/office/powerpoint/2010/main" val="201324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999ACC4-C0B4-4E53-95D4-C56854CB0D80}" type="slidenum">
              <a:rPr lang="en-US" altLang="zh-CN" sz="1300" smtClean="0">
                <a:ea typeface="隶书" panose="02010509060101010101" pitchFamily="49" charset="-122"/>
              </a:rPr>
              <a:pPr>
                <a:spcBef>
                  <a:spcPct val="0"/>
                </a:spcBef>
              </a:pPr>
              <a:t>17</a:t>
            </a:fld>
            <a:endParaRPr lang="en-US" altLang="zh-CN" sz="1300">
              <a:ea typeface="隶书" panose="02010509060101010101" pitchFamily="49" charset="-122"/>
            </a:endParaRPr>
          </a:p>
        </p:txBody>
      </p:sp>
      <p:sp>
        <p:nvSpPr>
          <p:cNvPr id="41987" name="Rectangle 2"/>
          <p:cNvSpPr>
            <a:spLocks noGrp="1" noRot="1" noChangeAspect="1" noChangeArrowheads="1" noTextEdit="1"/>
          </p:cNvSpPr>
          <p:nvPr>
            <p:ph type="sldImg"/>
          </p:nvPr>
        </p:nvSpPr>
        <p:spPr>
          <a:xfrm>
            <a:off x="1150938" y="692150"/>
            <a:ext cx="4556125" cy="3416300"/>
          </a:xfrm>
          <a:ln/>
        </p:spPr>
      </p:sp>
      <p:sp>
        <p:nvSpPr>
          <p:cNvPr id="419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b="1" dirty="0">
              <a:latin typeface="楷体_GB2312" pitchFamily="49" charset="-122"/>
              <a:ea typeface="楷体_GB2312" pitchFamily="49" charset="-122"/>
            </a:endParaRPr>
          </a:p>
        </p:txBody>
      </p:sp>
    </p:spTree>
    <p:extLst>
      <p:ext uri="{BB962C8B-B14F-4D97-AF65-F5344CB8AC3E}">
        <p14:creationId xmlns:p14="http://schemas.microsoft.com/office/powerpoint/2010/main" val="3518498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9FD25C0-243D-4936-A42C-DE8266772FED}" type="slidenum">
              <a:rPr lang="en-US" altLang="zh-CN" sz="1300" smtClean="0">
                <a:ea typeface="隶书" panose="02010509060101010101" pitchFamily="49" charset="-122"/>
              </a:rPr>
              <a:pPr>
                <a:spcBef>
                  <a:spcPct val="0"/>
                </a:spcBef>
              </a:pPr>
              <a:t>18</a:t>
            </a:fld>
            <a:endParaRPr lang="en-US" altLang="zh-CN" sz="1300">
              <a:ea typeface="隶书" panose="02010509060101010101" pitchFamily="49" charset="-122"/>
            </a:endParaRPr>
          </a:p>
        </p:txBody>
      </p:sp>
      <p:sp>
        <p:nvSpPr>
          <p:cNvPr id="49155" name="Rectangle 2"/>
          <p:cNvSpPr>
            <a:spLocks noGrp="1" noRot="1" noChangeAspect="1" noChangeArrowheads="1" noTextEdit="1"/>
          </p:cNvSpPr>
          <p:nvPr>
            <p:ph type="sldImg"/>
          </p:nvPr>
        </p:nvSpPr>
        <p:spPr>
          <a:xfrm>
            <a:off x="1150938" y="692150"/>
            <a:ext cx="4556125" cy="3416300"/>
          </a:xfrm>
          <a:ln/>
        </p:spPr>
      </p:sp>
      <p:sp>
        <p:nvSpPr>
          <p:cNvPr id="491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r>
              <a:rPr lang="en-US" altLang="zh-CN" dirty="0"/>
              <a:t>“</a:t>
            </a:r>
            <a:r>
              <a:rPr lang="zh-CN" altLang="en-US" dirty="0"/>
              <a:t>整体对换</a:t>
            </a:r>
            <a:r>
              <a:rPr lang="en-US" altLang="zh-CN" dirty="0"/>
              <a:t>”: </a:t>
            </a:r>
            <a:r>
              <a:rPr lang="zh-CN" altLang="en-US" dirty="0"/>
              <a:t>对换以整个“进程”为单位</a:t>
            </a:r>
            <a:endParaRPr lang="en-US" altLang="zh-CN" dirty="0"/>
          </a:p>
          <a:p>
            <a:r>
              <a:rPr lang="en-US" altLang="zh-CN" dirty="0"/>
              <a:t>“</a:t>
            </a:r>
            <a:r>
              <a:rPr lang="zh-CN" altLang="en-US" dirty="0"/>
              <a:t>部分对换</a:t>
            </a:r>
            <a:r>
              <a:rPr lang="en-US" altLang="zh-CN" dirty="0"/>
              <a:t>”: </a:t>
            </a:r>
            <a:r>
              <a:rPr lang="zh-CN" altLang="en-US" dirty="0"/>
              <a:t>对换以“页”</a:t>
            </a:r>
            <a:r>
              <a:rPr lang="en-US" altLang="zh-CN" dirty="0"/>
              <a:t>(</a:t>
            </a:r>
            <a:r>
              <a:rPr lang="zh-CN" altLang="en-US" dirty="0"/>
              <a:t>页面对换</a:t>
            </a:r>
            <a:r>
              <a:rPr lang="en-US" altLang="zh-CN" dirty="0"/>
              <a:t>)</a:t>
            </a:r>
            <a:r>
              <a:rPr lang="zh-CN" altLang="en-US" dirty="0"/>
              <a:t>或“段”</a:t>
            </a:r>
            <a:r>
              <a:rPr lang="en-US" altLang="zh-CN" dirty="0"/>
              <a:t>(</a:t>
            </a:r>
            <a:r>
              <a:rPr lang="zh-CN" altLang="en-US" dirty="0"/>
              <a:t>分段对换</a:t>
            </a:r>
            <a:r>
              <a:rPr lang="en-US" altLang="zh-CN" dirty="0"/>
              <a:t>)</a:t>
            </a:r>
            <a:r>
              <a:rPr lang="zh-CN" altLang="en-US" dirty="0"/>
              <a:t>为单位进行。</a:t>
            </a:r>
          </a:p>
          <a:p>
            <a:endParaRPr lang="zh-CN" altLang="en-US" dirty="0"/>
          </a:p>
          <a:p>
            <a:pPr eaLnBrk="1" hangingPunct="1"/>
            <a:endParaRPr lang="zh-CN" altLang="zh-CN" dirty="0"/>
          </a:p>
        </p:txBody>
      </p:sp>
    </p:spTree>
    <p:extLst>
      <p:ext uri="{BB962C8B-B14F-4D97-AF65-F5344CB8AC3E}">
        <p14:creationId xmlns:p14="http://schemas.microsoft.com/office/powerpoint/2010/main" val="1706452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22</a:t>
            </a:fld>
            <a:endParaRPr lang="en-US" altLang="zh-CN"/>
          </a:p>
        </p:txBody>
      </p:sp>
    </p:spTree>
    <p:extLst>
      <p:ext uri="{BB962C8B-B14F-4D97-AF65-F5344CB8AC3E}">
        <p14:creationId xmlns:p14="http://schemas.microsoft.com/office/powerpoint/2010/main" val="4257910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8821B2-4750-45C6-9CFD-F1221EC0C853}" type="slidenum">
              <a:rPr lang="en-US" altLang="zh-CN" sz="1300" smtClean="0">
                <a:ea typeface="隶书" panose="02010509060101010101" pitchFamily="49" charset="-122"/>
              </a:rPr>
              <a:pPr>
                <a:spcBef>
                  <a:spcPct val="0"/>
                </a:spcBef>
              </a:pPr>
              <a:t>23</a:t>
            </a:fld>
            <a:endParaRPr lang="en-US" altLang="zh-CN" sz="1300">
              <a:ea typeface="隶书" panose="02010509060101010101" pitchFamily="49" charset="-122"/>
            </a:endParaRPr>
          </a:p>
        </p:txBody>
      </p:sp>
      <p:sp>
        <p:nvSpPr>
          <p:cNvPr id="56323" name="Rectangle 2"/>
          <p:cNvSpPr>
            <a:spLocks noGrp="1" noRot="1" noChangeAspect="1" noChangeArrowheads="1" noTextEdit="1"/>
          </p:cNvSpPr>
          <p:nvPr>
            <p:ph type="sldImg"/>
          </p:nvPr>
        </p:nvSpPr>
        <p:spPr>
          <a:xfrm>
            <a:off x="1150938" y="692150"/>
            <a:ext cx="4556125" cy="3416300"/>
          </a:xfrm>
          <a:ln/>
        </p:spPr>
      </p:sp>
      <p:sp>
        <p:nvSpPr>
          <p:cNvPr id="563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lvl="1" eaLnBrk="1" hangingPunct="1">
              <a:lnSpc>
                <a:spcPct val="110000"/>
              </a:lnSpc>
            </a:pPr>
            <a:endParaRPr lang="zh-CN" altLang="en-US" sz="1600" dirty="0"/>
          </a:p>
        </p:txBody>
      </p:sp>
    </p:spTree>
    <p:extLst>
      <p:ext uri="{BB962C8B-B14F-4D97-AF65-F5344CB8AC3E}">
        <p14:creationId xmlns:p14="http://schemas.microsoft.com/office/powerpoint/2010/main" val="2714080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xfrm>
            <a:off x="1150938" y="692150"/>
            <a:ext cx="4556125" cy="3416300"/>
          </a:xfrm>
          <a:ln/>
        </p:spPr>
      </p:sp>
      <p:sp>
        <p:nvSpPr>
          <p:cNvPr id="6553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6554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95737292-9139-4CD5-A158-B96BA602D4BF}" type="slidenum">
              <a:rPr lang="en-US" altLang="zh-CN" sz="1300" b="0" smtClean="0">
                <a:ea typeface="隶书" panose="02010509060101010101" pitchFamily="49" charset="-122"/>
              </a:rPr>
              <a:pPr/>
              <a:t>27</a:t>
            </a:fld>
            <a:endParaRPr lang="en-US" altLang="zh-CN" sz="1300" b="0">
              <a:ea typeface="隶书" panose="02010509060101010101" pitchFamily="49" charset="-122"/>
            </a:endParaRPr>
          </a:p>
        </p:txBody>
      </p:sp>
    </p:spTree>
    <p:extLst>
      <p:ext uri="{BB962C8B-B14F-4D97-AF65-F5344CB8AC3E}">
        <p14:creationId xmlns:p14="http://schemas.microsoft.com/office/powerpoint/2010/main" val="2530736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84C698F-1076-4E32-B51B-439B0DA12354}" type="slidenum">
              <a:rPr lang="en-US" altLang="zh-CN" sz="1300" smtClean="0">
                <a:ea typeface="隶书" panose="02010509060101010101" pitchFamily="49" charset="-122"/>
              </a:rPr>
              <a:pPr>
                <a:spcBef>
                  <a:spcPct val="0"/>
                </a:spcBef>
              </a:pPr>
              <a:t>29</a:t>
            </a:fld>
            <a:endParaRPr lang="en-US" altLang="zh-CN" sz="1300">
              <a:ea typeface="隶书" panose="02010509060101010101" pitchFamily="49" charset="-122"/>
            </a:endParaRPr>
          </a:p>
        </p:txBody>
      </p:sp>
      <p:sp>
        <p:nvSpPr>
          <p:cNvPr id="72707" name="Rectangle 2"/>
          <p:cNvSpPr>
            <a:spLocks noGrp="1" noRot="1" noChangeAspect="1" noChangeArrowheads="1" noTextEdit="1"/>
          </p:cNvSpPr>
          <p:nvPr>
            <p:ph type="sldImg"/>
          </p:nvPr>
        </p:nvSpPr>
        <p:spPr>
          <a:xfrm>
            <a:off x="1150938" y="692150"/>
            <a:ext cx="4556125" cy="3416300"/>
          </a:xfrm>
          <a:ln/>
        </p:spPr>
      </p:sp>
      <p:sp>
        <p:nvSpPr>
          <p:cNvPr id="7270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en-US" altLang="zh-CN" dirty="0"/>
          </a:p>
        </p:txBody>
      </p:sp>
    </p:spTree>
    <p:extLst>
      <p:ext uri="{BB962C8B-B14F-4D97-AF65-F5344CB8AC3E}">
        <p14:creationId xmlns:p14="http://schemas.microsoft.com/office/powerpoint/2010/main" val="2974619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2317FD-9C1B-424B-B0D2-27F8CD57450D}" type="slidenum">
              <a:rPr lang="en-US" altLang="zh-CN" sz="1300" smtClean="0">
                <a:ea typeface="隶书" panose="02010509060101010101" pitchFamily="49" charset="-122"/>
              </a:rPr>
              <a:pPr>
                <a:spcBef>
                  <a:spcPct val="0"/>
                </a:spcBef>
              </a:pPr>
              <a:t>31</a:t>
            </a:fld>
            <a:endParaRPr lang="en-US" altLang="zh-CN" sz="1300">
              <a:ea typeface="隶书" panose="02010509060101010101" pitchFamily="49" charset="-122"/>
            </a:endParaRPr>
          </a:p>
        </p:txBody>
      </p:sp>
      <p:sp>
        <p:nvSpPr>
          <p:cNvPr id="75779" name="Rectangle 2"/>
          <p:cNvSpPr>
            <a:spLocks noGrp="1" noRot="1" noChangeAspect="1" noChangeArrowheads="1" noTextEdit="1"/>
          </p:cNvSpPr>
          <p:nvPr>
            <p:ph type="sldImg"/>
          </p:nvPr>
        </p:nvSpPr>
        <p:spPr>
          <a:xfrm>
            <a:off x="1150938" y="692150"/>
            <a:ext cx="4556125" cy="3416300"/>
          </a:xfrm>
          <a:ln/>
        </p:spPr>
      </p:sp>
      <p:sp>
        <p:nvSpPr>
          <p:cNvPr id="7578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b="1" dirty="0">
              <a:ea typeface="楷体_GB2312" pitchFamily="49" charset="-122"/>
            </a:endParaRPr>
          </a:p>
        </p:txBody>
      </p:sp>
    </p:spTree>
    <p:extLst>
      <p:ext uri="{BB962C8B-B14F-4D97-AF65-F5344CB8AC3E}">
        <p14:creationId xmlns:p14="http://schemas.microsoft.com/office/powerpoint/2010/main" val="221479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32</a:t>
            </a:fld>
            <a:endParaRPr lang="en-US" altLang="zh-CN"/>
          </a:p>
        </p:txBody>
      </p:sp>
    </p:spTree>
    <p:extLst>
      <p:ext uri="{BB962C8B-B14F-4D97-AF65-F5344CB8AC3E}">
        <p14:creationId xmlns:p14="http://schemas.microsoft.com/office/powerpoint/2010/main" val="3740501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58AF776-2D3A-4922-AA3C-666925E2BF43}" type="slidenum">
              <a:rPr lang="en-US" altLang="zh-CN" sz="1300" smtClean="0">
                <a:ea typeface="隶书" panose="02010509060101010101" pitchFamily="49" charset="-122"/>
              </a:rPr>
              <a:pPr>
                <a:spcBef>
                  <a:spcPct val="0"/>
                </a:spcBef>
              </a:pPr>
              <a:t>33</a:t>
            </a:fld>
            <a:endParaRPr lang="en-US" altLang="zh-CN" sz="1300">
              <a:ea typeface="隶书" panose="02010509060101010101" pitchFamily="49" charset="-122"/>
            </a:endParaRPr>
          </a:p>
        </p:txBody>
      </p:sp>
      <p:sp>
        <p:nvSpPr>
          <p:cNvPr id="81923" name="Rectangle 2"/>
          <p:cNvSpPr>
            <a:spLocks noGrp="1" noRot="1" noChangeAspect="1" noChangeArrowheads="1" noTextEdit="1"/>
          </p:cNvSpPr>
          <p:nvPr>
            <p:ph type="sldImg"/>
          </p:nvPr>
        </p:nvSpPr>
        <p:spPr>
          <a:xfrm>
            <a:off x="1150938" y="692150"/>
            <a:ext cx="4556125" cy="3416300"/>
          </a:xfrm>
          <a:ln/>
        </p:spPr>
      </p:sp>
      <p:sp>
        <p:nvSpPr>
          <p:cNvPr id="8192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54045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xfrm>
            <a:off x="1150938" y="692150"/>
            <a:ext cx="4556125" cy="3416300"/>
          </a:xfrm>
          <a:ln/>
        </p:spPr>
      </p:sp>
      <p:sp>
        <p:nvSpPr>
          <p:cNvPr id="870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70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936E1E-15F1-4A27-9A75-E184095AAC04}" type="slidenum">
              <a:rPr lang="en-US" altLang="zh-CN" sz="1300" smtClean="0">
                <a:ea typeface="隶书" panose="02010509060101010101" pitchFamily="49" charset="-122"/>
              </a:rPr>
              <a:pPr>
                <a:spcBef>
                  <a:spcPct val="0"/>
                </a:spcBef>
              </a:pPr>
              <a:t>38</a:t>
            </a:fld>
            <a:endParaRPr lang="en-US" altLang="zh-CN" sz="1300">
              <a:ea typeface="隶书" panose="02010509060101010101" pitchFamily="49" charset="-122"/>
            </a:endParaRPr>
          </a:p>
        </p:txBody>
      </p:sp>
    </p:spTree>
    <p:extLst>
      <p:ext uri="{BB962C8B-B14F-4D97-AF65-F5344CB8AC3E}">
        <p14:creationId xmlns:p14="http://schemas.microsoft.com/office/powerpoint/2010/main" val="1872887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0E2C5E2-9019-47A2-ACC8-237DDA1EF1CF}" type="slidenum">
              <a:rPr lang="en-US" altLang="zh-CN" sz="1300" smtClean="0">
                <a:ea typeface="隶书" panose="02010509060101010101" pitchFamily="49" charset="-122"/>
              </a:rPr>
              <a:pPr>
                <a:spcBef>
                  <a:spcPct val="0"/>
                </a:spcBef>
              </a:pPr>
              <a:t>40</a:t>
            </a:fld>
            <a:endParaRPr lang="en-US" altLang="zh-CN" sz="1300">
              <a:ea typeface="隶书" panose="02010509060101010101" pitchFamily="49" charset="-122"/>
            </a:endParaRPr>
          </a:p>
        </p:txBody>
      </p:sp>
      <p:sp>
        <p:nvSpPr>
          <p:cNvPr id="89091" name="Rectangle 2"/>
          <p:cNvSpPr>
            <a:spLocks noGrp="1" noRot="1" noChangeAspect="1" noChangeArrowheads="1" noTextEdit="1"/>
          </p:cNvSpPr>
          <p:nvPr>
            <p:ph type="sldImg"/>
          </p:nvPr>
        </p:nvSpPr>
        <p:spPr>
          <a:xfrm>
            <a:off x="1150938" y="692150"/>
            <a:ext cx="4556125" cy="3416300"/>
          </a:xfrm>
          <a:ln/>
        </p:spPr>
      </p:sp>
      <p:sp>
        <p:nvSpPr>
          <p:cNvPr id="890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pPr>
            <a:r>
              <a:rPr kumimoji="0" lang="zh-CN" altLang="en-US"/>
              <a:t>通过移动程序来达到分区合并的目的，势必增加系统在这方面的投入与开销。 </a:t>
            </a:r>
          </a:p>
          <a:p>
            <a:pPr eaLnBrk="1" hangingPunct="1"/>
            <a:endParaRPr lang="en-US" altLang="zh-CN"/>
          </a:p>
        </p:txBody>
      </p:sp>
    </p:spTree>
    <p:extLst>
      <p:ext uri="{BB962C8B-B14F-4D97-AF65-F5344CB8AC3E}">
        <p14:creationId xmlns:p14="http://schemas.microsoft.com/office/powerpoint/2010/main" val="1742270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41</a:t>
            </a:fld>
            <a:endParaRPr lang="en-US" altLang="zh-CN"/>
          </a:p>
        </p:txBody>
      </p:sp>
    </p:spTree>
    <p:extLst>
      <p:ext uri="{BB962C8B-B14F-4D97-AF65-F5344CB8AC3E}">
        <p14:creationId xmlns:p14="http://schemas.microsoft.com/office/powerpoint/2010/main" val="1123896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43</a:t>
            </a:fld>
            <a:endParaRPr lang="en-US" altLang="zh-CN"/>
          </a:p>
        </p:txBody>
      </p:sp>
    </p:spTree>
    <p:extLst>
      <p:ext uri="{BB962C8B-B14F-4D97-AF65-F5344CB8AC3E}">
        <p14:creationId xmlns:p14="http://schemas.microsoft.com/office/powerpoint/2010/main" val="3921077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一个进程的段号不能超过此长度，否则属于越界访问。</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45</a:t>
            </a:fld>
            <a:endParaRPr lang="en-US" altLang="zh-CN"/>
          </a:p>
        </p:txBody>
      </p:sp>
    </p:spTree>
    <p:extLst>
      <p:ext uri="{BB962C8B-B14F-4D97-AF65-F5344CB8AC3E}">
        <p14:creationId xmlns:p14="http://schemas.microsoft.com/office/powerpoint/2010/main" val="4184120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内存保护：段</a:t>
            </a:r>
            <a:r>
              <a:rPr lang="zh-CN" altLang="en-US"/>
              <a:t>号与段表限长寄存器</a:t>
            </a:r>
            <a:r>
              <a:rPr lang="zh-CN" altLang="en-US" dirty="0"/>
              <a:t>比较、段偏移与段界限比较</a:t>
            </a:r>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46</a:t>
            </a:fld>
            <a:endParaRPr lang="en-US" altLang="zh-CN"/>
          </a:p>
        </p:txBody>
      </p:sp>
    </p:spTree>
    <p:extLst>
      <p:ext uri="{BB962C8B-B14F-4D97-AF65-F5344CB8AC3E}">
        <p14:creationId xmlns:p14="http://schemas.microsoft.com/office/powerpoint/2010/main" val="3373998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52</a:t>
            </a:fld>
            <a:endParaRPr lang="en-US" altLang="zh-CN"/>
          </a:p>
        </p:txBody>
      </p:sp>
    </p:spTree>
    <p:extLst>
      <p:ext uri="{BB962C8B-B14F-4D97-AF65-F5344CB8AC3E}">
        <p14:creationId xmlns:p14="http://schemas.microsoft.com/office/powerpoint/2010/main" val="2975160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xfrm>
            <a:off x="1150938" y="692150"/>
            <a:ext cx="4556125" cy="3416300"/>
          </a:xfrm>
          <a:ln/>
        </p:spPr>
      </p:sp>
      <p:sp>
        <p:nvSpPr>
          <p:cNvPr id="102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a:p>
        </p:txBody>
      </p:sp>
      <p:sp>
        <p:nvSpPr>
          <p:cNvPr id="102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224ECEB5-D1FB-4920-A7EB-44F8FCB6CDD3}" type="slidenum">
              <a:rPr lang="en-US" altLang="zh-CN" sz="1300" b="0" smtClean="0">
                <a:ea typeface="隶书" panose="02010509060101010101" pitchFamily="49" charset="-122"/>
              </a:rPr>
              <a:pPr/>
              <a:t>53</a:t>
            </a:fld>
            <a:endParaRPr lang="en-US" altLang="zh-CN" sz="1300" b="0">
              <a:ea typeface="隶书" panose="02010509060101010101" pitchFamily="49" charset="-122"/>
            </a:endParaRPr>
          </a:p>
        </p:txBody>
      </p:sp>
    </p:spTree>
    <p:extLst>
      <p:ext uri="{BB962C8B-B14F-4D97-AF65-F5344CB8AC3E}">
        <p14:creationId xmlns:p14="http://schemas.microsoft.com/office/powerpoint/2010/main" val="2123783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sz="1200" kern="0" dirty="0">
                <a:solidFill>
                  <a:schemeClr val="bg2"/>
                </a:solidFill>
                <a:effectLst/>
              </a:rPr>
              <a:t>D</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56</a:t>
            </a:fld>
            <a:endParaRPr lang="en-US" altLang="zh-CN"/>
          </a:p>
        </p:txBody>
      </p:sp>
    </p:spTree>
    <p:extLst>
      <p:ext uri="{BB962C8B-B14F-4D97-AF65-F5344CB8AC3E}">
        <p14:creationId xmlns:p14="http://schemas.microsoft.com/office/powerpoint/2010/main" val="3656153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CED4958-17C7-455C-847D-359FB5E3CEE0}" type="slidenum">
              <a:rPr lang="en-US" altLang="zh-CN" sz="1300" smtClean="0">
                <a:ea typeface="隶书" panose="02010509060101010101" pitchFamily="49" charset="-122"/>
              </a:rPr>
              <a:pPr>
                <a:spcBef>
                  <a:spcPct val="0"/>
                </a:spcBef>
              </a:pPr>
              <a:t>59</a:t>
            </a:fld>
            <a:endParaRPr lang="en-US" altLang="zh-CN" sz="1300">
              <a:ea typeface="隶书" panose="02010509060101010101" pitchFamily="49" charset="-122"/>
            </a:endParaRPr>
          </a:p>
        </p:txBody>
      </p:sp>
      <p:sp>
        <p:nvSpPr>
          <p:cNvPr id="15363" name="Rectangle 2"/>
          <p:cNvSpPr>
            <a:spLocks noGrp="1" noRot="1" noChangeAspect="1" noChangeArrowheads="1" noTextEdit="1"/>
          </p:cNvSpPr>
          <p:nvPr>
            <p:ph type="sldImg"/>
          </p:nvPr>
        </p:nvSpPr>
        <p:spPr>
          <a:xfrm>
            <a:off x="1150938" y="692150"/>
            <a:ext cx="4556125" cy="3416300"/>
          </a:xfrm>
          <a:ln/>
        </p:spPr>
      </p:sp>
      <p:sp>
        <p:nvSpPr>
          <p:cNvPr id="153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399530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63</a:t>
            </a:fld>
            <a:endParaRPr lang="en-US" altLang="zh-CN"/>
          </a:p>
        </p:txBody>
      </p:sp>
    </p:spTree>
    <p:extLst>
      <p:ext uri="{BB962C8B-B14F-4D97-AF65-F5344CB8AC3E}">
        <p14:creationId xmlns:p14="http://schemas.microsoft.com/office/powerpoint/2010/main" val="3951846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1150938" y="692150"/>
            <a:ext cx="4556125" cy="3416300"/>
          </a:xfrm>
          <a:ln/>
        </p:spPr>
      </p:sp>
      <p:sp>
        <p:nvSpPr>
          <p:cNvPr id="194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94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8BCFB15-4136-4215-B9DE-4E79023F77FD}" type="slidenum">
              <a:rPr lang="en-US" altLang="zh-CN" sz="1300" smtClean="0">
                <a:ea typeface="隶书" panose="02010509060101010101" pitchFamily="49" charset="-122"/>
              </a:rPr>
              <a:pPr>
                <a:spcBef>
                  <a:spcPct val="0"/>
                </a:spcBef>
              </a:pPr>
              <a:t>65</a:t>
            </a:fld>
            <a:endParaRPr lang="en-US" altLang="zh-CN" sz="1300">
              <a:ea typeface="隶书" panose="02010509060101010101" pitchFamily="49" charset="-122"/>
            </a:endParaRPr>
          </a:p>
        </p:txBody>
      </p:sp>
    </p:spTree>
    <p:extLst>
      <p:ext uri="{BB962C8B-B14F-4D97-AF65-F5344CB8AC3E}">
        <p14:creationId xmlns:p14="http://schemas.microsoft.com/office/powerpoint/2010/main" val="562301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solidFill>
                  <a:schemeClr val="bg2"/>
                </a:solidFill>
              </a:rPr>
              <a:t>C</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66</a:t>
            </a:fld>
            <a:endParaRPr lang="en-US" altLang="zh-CN"/>
          </a:p>
        </p:txBody>
      </p:sp>
    </p:spTree>
    <p:extLst>
      <p:ext uri="{BB962C8B-B14F-4D97-AF65-F5344CB8AC3E}">
        <p14:creationId xmlns:p14="http://schemas.microsoft.com/office/powerpoint/2010/main" val="14642890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1A41AD5-3890-4556-B766-722714410C00}" type="slidenum">
              <a:rPr lang="en-US" altLang="zh-CN" sz="1300" smtClean="0">
                <a:ea typeface="隶书" panose="02010509060101010101" pitchFamily="49" charset="-122"/>
              </a:rPr>
              <a:pPr>
                <a:spcBef>
                  <a:spcPct val="0"/>
                </a:spcBef>
              </a:pPr>
              <a:t>69</a:t>
            </a:fld>
            <a:endParaRPr lang="en-US" altLang="zh-CN" sz="1300">
              <a:ea typeface="隶书" panose="02010509060101010101" pitchFamily="49" charset="-122"/>
            </a:endParaRPr>
          </a:p>
        </p:txBody>
      </p:sp>
      <p:sp>
        <p:nvSpPr>
          <p:cNvPr id="24579" name="Rectangle 2"/>
          <p:cNvSpPr>
            <a:spLocks noGrp="1" noRot="1" noChangeAspect="1" noChangeArrowheads="1" noTextEdit="1"/>
          </p:cNvSpPr>
          <p:nvPr>
            <p:ph type="sldImg"/>
          </p:nvPr>
        </p:nvSpPr>
        <p:spPr>
          <a:xfrm>
            <a:off x="1150938" y="692150"/>
            <a:ext cx="4556125" cy="3416300"/>
          </a:xfrm>
          <a:ln/>
        </p:spPr>
      </p:sp>
      <p:sp>
        <p:nvSpPr>
          <p:cNvPr id="2458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kumimoji="1" lang="en-US" altLang="zh-CN" sz="1200" b="0" i="0" kern="1200" dirty="0">
                <a:solidFill>
                  <a:schemeClr val="tx1"/>
                </a:solidFill>
                <a:effectLst/>
                <a:latin typeface="Times New Roman" pitchFamily="18" charset="0"/>
                <a:ea typeface="宋体" pitchFamily="2" charset="-122"/>
                <a:cs typeface="+mn-cs"/>
              </a:rPr>
              <a:t>MMU</a:t>
            </a:r>
            <a:r>
              <a:rPr kumimoji="1" lang="zh-CN" altLang="en-US" sz="1200" b="0" i="0" kern="1200" dirty="0">
                <a:solidFill>
                  <a:schemeClr val="tx1"/>
                </a:solidFill>
                <a:effectLst/>
                <a:latin typeface="Times New Roman" pitchFamily="18" charset="0"/>
                <a:ea typeface="宋体" pitchFamily="2" charset="-122"/>
                <a:cs typeface="+mn-cs"/>
              </a:rPr>
              <a:t>位于</a:t>
            </a:r>
            <a:r>
              <a:rPr kumimoji="1" lang="zh-CN" altLang="en-US" sz="1200" b="0" i="0" u="none" kern="1200" dirty="0">
                <a:solidFill>
                  <a:schemeClr val="tx1"/>
                </a:solidFill>
                <a:effectLst/>
                <a:latin typeface="Times New Roman" pitchFamily="18" charset="0"/>
                <a:ea typeface="宋体" pitchFamily="2" charset="-122"/>
                <a:cs typeface="+mn-cs"/>
                <a:hlinkClick r:id="rId3">
                  <a:extLst>
                    <a:ext uri="{A12FA001-AC4F-418D-AE19-62706E023703}">
                      <ahyp:hlinkClr xmlns:ahyp="http://schemas.microsoft.com/office/drawing/2018/hyperlinkcolor" xmlns="" val="tx"/>
                    </a:ext>
                  </a:extLst>
                </a:hlinkClick>
              </a:rPr>
              <a:t>处理器</a:t>
            </a:r>
            <a:r>
              <a:rPr kumimoji="1" lang="zh-CN" altLang="en-US" sz="1200" b="0" i="0" kern="1200" dirty="0">
                <a:solidFill>
                  <a:schemeClr val="tx1"/>
                </a:solidFill>
                <a:effectLst/>
                <a:latin typeface="Times New Roman" pitchFamily="18" charset="0"/>
                <a:ea typeface="宋体" pitchFamily="2" charset="-122"/>
                <a:cs typeface="+mn-cs"/>
              </a:rPr>
              <a:t>内核和连接</a:t>
            </a:r>
            <a:r>
              <a:rPr kumimoji="1" lang="zh-CN" altLang="en-US" sz="1200" b="0" i="0" u="sng" kern="1200" dirty="0">
                <a:solidFill>
                  <a:schemeClr val="tx1"/>
                </a:solidFill>
                <a:effectLst/>
                <a:latin typeface="Times New Roman" pitchFamily="18" charset="0"/>
                <a:ea typeface="宋体" pitchFamily="2" charset="-122"/>
                <a:cs typeface="+mn-cs"/>
                <a:hlinkClick r:id="rId4">
                  <a:extLst>
                    <a:ext uri="{A12FA001-AC4F-418D-AE19-62706E023703}">
                      <ahyp:hlinkClr xmlns:ahyp="http://schemas.microsoft.com/office/drawing/2018/hyperlinkcolor" xmlns="" val="tx"/>
                    </a:ext>
                  </a:extLst>
                </a:hlinkClick>
              </a:rPr>
              <a:t>高速缓存</a:t>
            </a:r>
            <a:r>
              <a:rPr kumimoji="1" lang="zh-CN" altLang="en-US" sz="1200" b="0" i="0" kern="1200" dirty="0">
                <a:solidFill>
                  <a:schemeClr val="tx1"/>
                </a:solidFill>
                <a:effectLst/>
                <a:latin typeface="Times New Roman" pitchFamily="18" charset="0"/>
                <a:ea typeface="宋体" pitchFamily="2" charset="-122"/>
                <a:cs typeface="+mn-cs"/>
              </a:rPr>
              <a:t>以及</a:t>
            </a:r>
            <a:r>
              <a:rPr kumimoji="1" lang="zh-CN" altLang="en-US" sz="1200" b="0" i="0" kern="1200" dirty="0">
                <a:solidFill>
                  <a:schemeClr val="tx1"/>
                </a:solidFill>
                <a:effectLst/>
                <a:latin typeface="Times New Roman" pitchFamily="18" charset="0"/>
                <a:ea typeface="宋体" pitchFamily="2" charset="-122"/>
                <a:cs typeface="+mn-cs"/>
                <a:hlinkClick r:id="rId5">
                  <a:extLst>
                    <a:ext uri="{A12FA001-AC4F-418D-AE19-62706E023703}">
                      <ahyp:hlinkClr xmlns:ahyp="http://schemas.microsoft.com/office/drawing/2018/hyperlinkcolor" xmlns="" val="tx"/>
                    </a:ext>
                  </a:extLst>
                </a:hlinkClick>
              </a:rPr>
              <a:t>物理存储器</a:t>
            </a:r>
            <a:r>
              <a:rPr kumimoji="1" lang="zh-CN" altLang="en-US" sz="1200" b="0" i="0" kern="1200" dirty="0">
                <a:solidFill>
                  <a:schemeClr val="tx1"/>
                </a:solidFill>
                <a:effectLst/>
                <a:latin typeface="Times New Roman" pitchFamily="18" charset="0"/>
                <a:ea typeface="宋体" pitchFamily="2" charset="-122"/>
                <a:cs typeface="+mn-cs"/>
              </a:rPr>
              <a:t>的</a:t>
            </a:r>
            <a:r>
              <a:rPr kumimoji="1" lang="zh-CN" altLang="en-US" sz="1200" b="0" i="0" kern="1200" dirty="0">
                <a:solidFill>
                  <a:schemeClr val="tx1"/>
                </a:solidFill>
                <a:effectLst/>
                <a:latin typeface="Times New Roman" pitchFamily="18" charset="0"/>
                <a:ea typeface="宋体" pitchFamily="2" charset="-122"/>
                <a:cs typeface="+mn-cs"/>
                <a:hlinkClick r:id="rId6">
                  <a:extLst>
                    <a:ext uri="{A12FA001-AC4F-418D-AE19-62706E023703}">
                      <ahyp:hlinkClr xmlns:ahyp="http://schemas.microsoft.com/office/drawing/2018/hyperlinkcolor" xmlns="" val="tx"/>
                    </a:ext>
                  </a:extLst>
                </a:hlinkClick>
              </a:rPr>
              <a:t>总线</a:t>
            </a:r>
            <a:r>
              <a:rPr kumimoji="1" lang="zh-CN" altLang="en-US" sz="1200" b="0" i="0" kern="1200" dirty="0">
                <a:solidFill>
                  <a:schemeClr val="tx1"/>
                </a:solidFill>
                <a:effectLst/>
                <a:latin typeface="Times New Roman" pitchFamily="18" charset="0"/>
                <a:ea typeface="宋体" pitchFamily="2" charset="-122"/>
                <a:cs typeface="+mn-cs"/>
              </a:rPr>
              <a:t>之间。</a:t>
            </a:r>
            <a:endParaRPr kumimoji="1" lang="en-US" altLang="zh-CN" sz="1200" b="0" i="0" kern="1200" dirty="0">
              <a:solidFill>
                <a:schemeClr val="tx1"/>
              </a:solidFill>
              <a:effectLst/>
              <a:latin typeface="Times New Roman" pitchFamily="18" charset="0"/>
              <a:ea typeface="宋体" pitchFamily="2" charset="-122"/>
              <a:cs typeface="+mn-cs"/>
            </a:endParaRPr>
          </a:p>
          <a:p>
            <a:pPr eaLnBrk="1" hangingPunct="1"/>
            <a:r>
              <a:rPr lang="zh-CN" altLang="en-US" b="1" dirty="0">
                <a:solidFill>
                  <a:schemeClr val="bg2"/>
                </a:solidFill>
                <a:ea typeface="楷体_GB2312" pitchFamily="49" charset="-122"/>
              </a:rPr>
              <a:t>计算机系统内部硬件机制</a:t>
            </a:r>
            <a:endParaRPr kumimoji="0" lang="zh-CN" altLang="en-US" dirty="0"/>
          </a:p>
        </p:txBody>
      </p:sp>
    </p:spTree>
    <p:extLst>
      <p:ext uri="{BB962C8B-B14F-4D97-AF65-F5344CB8AC3E}">
        <p14:creationId xmlns:p14="http://schemas.microsoft.com/office/powerpoint/2010/main" val="3104212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A9D2FAD-05B1-490A-A2B6-1C3708E742A3}" type="slidenum">
              <a:rPr lang="en-US" altLang="zh-CN" sz="1300" smtClean="0">
                <a:ea typeface="隶书" panose="02010509060101010101" pitchFamily="49" charset="-122"/>
              </a:rPr>
              <a:pPr>
                <a:spcBef>
                  <a:spcPct val="0"/>
                </a:spcBef>
              </a:pPr>
              <a:t>71</a:t>
            </a:fld>
            <a:endParaRPr lang="en-US" altLang="zh-CN" sz="1300">
              <a:ea typeface="隶书" panose="02010509060101010101" pitchFamily="49" charset="-122"/>
            </a:endParaRPr>
          </a:p>
        </p:txBody>
      </p:sp>
      <p:sp>
        <p:nvSpPr>
          <p:cNvPr id="29699" name="Rectangle 2"/>
          <p:cNvSpPr>
            <a:spLocks noGrp="1" noRot="1" noChangeAspect="1" noChangeArrowheads="1" noTextEdit="1"/>
          </p:cNvSpPr>
          <p:nvPr>
            <p:ph type="sldImg"/>
          </p:nvPr>
        </p:nvSpPr>
        <p:spPr>
          <a:xfrm>
            <a:off x="1150938" y="692150"/>
            <a:ext cx="4556125" cy="3416300"/>
          </a:xfrm>
          <a:ln/>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dirty="0"/>
              <a:t>硬件能自动分离出页号和页内地址</a:t>
            </a:r>
          </a:p>
          <a:p>
            <a:pPr eaLnBrk="1" hangingPunct="1"/>
            <a:endParaRPr kumimoji="0" lang="zh-CN" altLang="en-US" dirty="0"/>
          </a:p>
          <a:p>
            <a:pPr eaLnBrk="1" hangingPunct="1"/>
            <a:endParaRPr lang="en-US" altLang="zh-CN" dirty="0"/>
          </a:p>
        </p:txBody>
      </p:sp>
    </p:spTree>
    <p:extLst>
      <p:ext uri="{BB962C8B-B14F-4D97-AF65-F5344CB8AC3E}">
        <p14:creationId xmlns:p14="http://schemas.microsoft.com/office/powerpoint/2010/main" val="29969683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83053CE-D59B-4AB9-9C27-067D0C101B61}" type="slidenum">
              <a:rPr lang="en-US" altLang="zh-CN" sz="1300" smtClean="0">
                <a:ea typeface="隶书" panose="02010509060101010101" pitchFamily="49" charset="-122"/>
              </a:rPr>
              <a:pPr>
                <a:spcBef>
                  <a:spcPct val="0"/>
                </a:spcBef>
              </a:pPr>
              <a:t>74</a:t>
            </a:fld>
            <a:endParaRPr lang="en-US" altLang="zh-CN" sz="1300">
              <a:ea typeface="隶书" panose="02010509060101010101" pitchFamily="49" charset="-122"/>
            </a:endParaRPr>
          </a:p>
        </p:txBody>
      </p:sp>
      <p:sp>
        <p:nvSpPr>
          <p:cNvPr id="33795" name="Rectangle 2"/>
          <p:cNvSpPr>
            <a:spLocks noGrp="1" noRot="1" noChangeAspect="1" noChangeArrowheads="1" noTextEdit="1"/>
          </p:cNvSpPr>
          <p:nvPr>
            <p:ph type="sldImg"/>
          </p:nvPr>
        </p:nvSpPr>
        <p:spPr>
          <a:xfrm>
            <a:off x="1150938" y="692150"/>
            <a:ext cx="4556125" cy="3416300"/>
          </a:xfrm>
          <a:ln/>
        </p:spPr>
      </p:sp>
      <p:sp>
        <p:nvSpPr>
          <p:cNvPr id="337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dirty="0"/>
          </a:p>
        </p:txBody>
      </p:sp>
    </p:spTree>
    <p:extLst>
      <p:ext uri="{BB962C8B-B14F-4D97-AF65-F5344CB8AC3E}">
        <p14:creationId xmlns:p14="http://schemas.microsoft.com/office/powerpoint/2010/main" val="14302584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2122F44-946B-4CB8-B294-25F26C59EEB3}" type="slidenum">
              <a:rPr lang="en-US" altLang="zh-CN" sz="1300" smtClean="0">
                <a:ea typeface="隶书" panose="02010509060101010101" pitchFamily="49" charset="-122"/>
              </a:rPr>
              <a:pPr>
                <a:spcBef>
                  <a:spcPct val="0"/>
                </a:spcBef>
              </a:pPr>
              <a:t>75</a:t>
            </a:fld>
            <a:endParaRPr lang="en-US" altLang="zh-CN" sz="1300">
              <a:ea typeface="隶书" panose="02010509060101010101" pitchFamily="49" charset="-122"/>
            </a:endParaRPr>
          </a:p>
        </p:txBody>
      </p:sp>
      <p:sp>
        <p:nvSpPr>
          <p:cNvPr id="35843" name="Rectangle 2"/>
          <p:cNvSpPr>
            <a:spLocks noGrp="1" noRot="1" noChangeAspect="1" noChangeArrowheads="1" noTextEdit="1"/>
          </p:cNvSpPr>
          <p:nvPr>
            <p:ph type="sldImg"/>
          </p:nvPr>
        </p:nvSpPr>
        <p:spPr>
          <a:xfrm>
            <a:off x="1150938" y="692150"/>
            <a:ext cx="4556125" cy="3416300"/>
          </a:xfrm>
          <a:ln/>
        </p:spPr>
      </p:sp>
      <p:sp>
        <p:nvSpPr>
          <p:cNvPr id="358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kumimoji="1" lang="zh-CN" altLang="en-US" sz="1200" b="0" i="0" kern="1200" dirty="0">
                <a:solidFill>
                  <a:schemeClr val="tx1"/>
                </a:solidFill>
                <a:effectLst/>
                <a:latin typeface="Times New Roman" pitchFamily="18" charset="0"/>
                <a:ea typeface="宋体" pitchFamily="2" charset="-122"/>
                <a:cs typeface="+mn-cs"/>
              </a:rPr>
              <a:t>有很多种方法都可以实现</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a:t>
            </a:r>
            <a:r>
              <a:rPr kumimoji="1" lang="zh-CN" altLang="en-US" sz="1200" b="1" i="0" kern="1200" dirty="0">
                <a:solidFill>
                  <a:schemeClr val="tx1"/>
                </a:solidFill>
                <a:effectLst/>
                <a:latin typeface="Times New Roman" pitchFamily="18" charset="0"/>
                <a:ea typeface="宋体" pitchFamily="2" charset="-122"/>
                <a:cs typeface="+mn-cs"/>
              </a:rPr>
              <a:t>对于你们来说最重要的是知道</a:t>
            </a:r>
            <a:r>
              <a:rPr kumimoji="1" lang="en-US" altLang="zh-CN" sz="1200" b="1" i="0" kern="1200" dirty="0">
                <a:solidFill>
                  <a:schemeClr val="tx1"/>
                </a:solidFill>
                <a:effectLst/>
                <a:latin typeface="Times New Roman" pitchFamily="18" charset="0"/>
                <a:ea typeface="宋体" pitchFamily="2" charset="-122"/>
                <a:cs typeface="+mn-cs"/>
              </a:rPr>
              <a:t>TLB</a:t>
            </a:r>
            <a:r>
              <a:rPr kumimoji="1" lang="zh-CN" altLang="en-US" sz="1200" b="1" i="0" kern="1200" dirty="0">
                <a:solidFill>
                  <a:schemeClr val="tx1"/>
                </a:solidFill>
                <a:effectLst/>
                <a:latin typeface="Times New Roman" pitchFamily="18" charset="0"/>
                <a:ea typeface="宋体" pitchFamily="2" charset="-122"/>
                <a:cs typeface="+mn-cs"/>
              </a:rPr>
              <a:t>是存在的</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实现的具体细节不是我们要深入讨论的内容。这是处理器中的一些逻辑，对于操作系统来说是不可见的，操作系统也不需要知道</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是如何工作的</a:t>
            </a:r>
            <a:endParaRPr kumimoji="1" lang="en-US" altLang="zh-CN" sz="1200" b="0" i="0" kern="1200" dirty="0">
              <a:solidFill>
                <a:schemeClr val="tx1"/>
              </a:solidFill>
              <a:effectLst/>
              <a:latin typeface="Times New Roman" pitchFamily="18" charset="0"/>
              <a:ea typeface="宋体" pitchFamily="2" charset="-122"/>
              <a:cs typeface="+mn-cs"/>
            </a:endParaRPr>
          </a:p>
          <a:p>
            <a:pPr eaLnBrk="1" hangingPunct="1"/>
            <a:r>
              <a:rPr kumimoji="1" lang="zh-CN" altLang="en-US" sz="1200" b="1" i="0" kern="1200" dirty="0">
                <a:solidFill>
                  <a:schemeClr val="tx1"/>
                </a:solidFill>
                <a:effectLst/>
                <a:latin typeface="Times New Roman" pitchFamily="18" charset="0"/>
                <a:ea typeface="宋体" pitchFamily="2" charset="-122"/>
                <a:cs typeface="+mn-cs"/>
              </a:rPr>
              <a:t>你们需要知道</a:t>
            </a:r>
            <a:r>
              <a:rPr kumimoji="1" lang="en-US" altLang="zh-CN" sz="1200" b="1" i="0" kern="1200" dirty="0">
                <a:solidFill>
                  <a:schemeClr val="tx1"/>
                </a:solidFill>
                <a:effectLst/>
                <a:latin typeface="Times New Roman" pitchFamily="18" charset="0"/>
                <a:ea typeface="宋体" pitchFamily="2" charset="-122"/>
                <a:cs typeface="+mn-cs"/>
              </a:rPr>
              <a:t>TLB</a:t>
            </a:r>
            <a:r>
              <a:rPr kumimoji="1" lang="zh-CN" altLang="en-US" sz="1200" b="1" i="0" kern="1200" dirty="0">
                <a:solidFill>
                  <a:schemeClr val="tx1"/>
                </a:solidFill>
                <a:effectLst/>
                <a:latin typeface="Times New Roman" pitchFamily="18" charset="0"/>
                <a:ea typeface="宋体" pitchFamily="2" charset="-122"/>
                <a:cs typeface="+mn-cs"/>
              </a:rPr>
              <a:t>存在的唯一原因是，如果你切换了</a:t>
            </a:r>
            <a:r>
              <a:rPr kumimoji="1" lang="en-US" altLang="zh-CN" sz="1200" b="1" i="0" kern="1200" dirty="0">
                <a:solidFill>
                  <a:schemeClr val="tx1"/>
                </a:solidFill>
                <a:effectLst/>
                <a:latin typeface="Times New Roman" pitchFamily="18" charset="0"/>
                <a:ea typeface="宋体" pitchFamily="2" charset="-122"/>
                <a:cs typeface="+mn-cs"/>
              </a:rPr>
              <a:t>page table</a:t>
            </a:r>
            <a:r>
              <a:rPr kumimoji="1" lang="zh-CN" altLang="en-US" sz="1200" b="1" i="0" kern="1200" dirty="0">
                <a:solidFill>
                  <a:schemeClr val="tx1"/>
                </a:solidFill>
                <a:effectLst/>
                <a:latin typeface="Times New Roman" pitchFamily="18" charset="0"/>
                <a:ea typeface="宋体" pitchFamily="2" charset="-122"/>
                <a:cs typeface="+mn-cs"/>
              </a:rPr>
              <a:t>，操作系统需要告诉处理器当前正在切换</a:t>
            </a:r>
            <a:r>
              <a:rPr kumimoji="1" lang="en-US" altLang="zh-CN" sz="1200" b="1" i="0" kern="1200" dirty="0">
                <a:solidFill>
                  <a:schemeClr val="tx1"/>
                </a:solidFill>
                <a:effectLst/>
                <a:latin typeface="Times New Roman" pitchFamily="18" charset="0"/>
                <a:ea typeface="宋体" pitchFamily="2" charset="-122"/>
                <a:cs typeface="+mn-cs"/>
              </a:rPr>
              <a:t>page table</a:t>
            </a:r>
            <a:r>
              <a:rPr kumimoji="1" lang="zh-CN" altLang="en-US" sz="1200" b="1" i="0" kern="1200" dirty="0">
                <a:solidFill>
                  <a:schemeClr val="tx1"/>
                </a:solidFill>
                <a:effectLst/>
                <a:latin typeface="Times New Roman" pitchFamily="18" charset="0"/>
                <a:ea typeface="宋体" pitchFamily="2" charset="-122"/>
                <a:cs typeface="+mn-cs"/>
              </a:rPr>
              <a:t>，处理器会清空</a:t>
            </a:r>
            <a:r>
              <a:rPr kumimoji="1" lang="en-US" altLang="zh-CN" sz="1200" b="1" i="0" kern="1200" dirty="0">
                <a:solidFill>
                  <a:schemeClr val="tx1"/>
                </a:solidFill>
                <a:effectLst/>
                <a:latin typeface="Times New Roman" pitchFamily="18" charset="0"/>
                <a:ea typeface="宋体" pitchFamily="2" charset="-122"/>
                <a:cs typeface="+mn-cs"/>
              </a:rPr>
              <a:t>TLB</a:t>
            </a:r>
            <a:endParaRPr kumimoji="1" lang="en-US" altLang="zh-CN" sz="1200" b="0" i="0" kern="1200" dirty="0">
              <a:solidFill>
                <a:schemeClr val="tx1"/>
              </a:solidFill>
              <a:effectLst/>
              <a:latin typeface="Times New Roman" pitchFamily="18" charset="0"/>
              <a:ea typeface="宋体" pitchFamily="2" charset="-122"/>
              <a:cs typeface="+mn-cs"/>
            </a:endParaRPr>
          </a:p>
          <a:p>
            <a:pPr eaLnBrk="1" hangingPunct="1"/>
            <a:endParaRPr kumimoji="1" lang="en-US" altLang="zh-CN" sz="1200" b="0" i="0" kern="1200" dirty="0">
              <a:solidFill>
                <a:schemeClr val="tx1"/>
              </a:solidFill>
              <a:effectLst/>
              <a:latin typeface="Times New Roman" pitchFamily="18" charset="0"/>
              <a:ea typeface="宋体" pitchFamily="2" charset="-122"/>
              <a:cs typeface="+mn-cs"/>
            </a:endParaRPr>
          </a:p>
          <a:p>
            <a:pPr eaLnBrk="1" hangingPunct="1"/>
            <a:r>
              <a:rPr kumimoji="1" lang="zh-CN" altLang="en-US" sz="1200" b="0" i="0" kern="1200" dirty="0">
                <a:solidFill>
                  <a:schemeClr val="tx1"/>
                </a:solidFill>
                <a:effectLst/>
                <a:latin typeface="Times New Roman" pitchFamily="18" charset="0"/>
                <a:ea typeface="宋体" pitchFamily="2" charset="-122"/>
                <a:cs typeface="+mn-cs"/>
              </a:rPr>
              <a:t>处理器中的硬件机制允许同时查询多个</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表项：关联映射</a:t>
            </a:r>
            <a:endParaRPr kumimoji="1" lang="en-US" altLang="zh-CN" sz="1200" b="0" i="0" kern="1200" dirty="0">
              <a:solidFill>
                <a:schemeClr val="tx1"/>
              </a:solidFill>
              <a:effectLst/>
              <a:latin typeface="Times New Roman" pitchFamily="18" charset="0"/>
              <a:ea typeface="宋体" pitchFamily="2" charset="-122"/>
              <a:cs typeface="+mn-cs"/>
            </a:endParaRPr>
          </a:p>
          <a:p>
            <a:pPr eaLnBrk="1" hangingPunct="1"/>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就是页表的</a:t>
            </a:r>
            <a:r>
              <a:rPr kumimoji="1" lang="en-US" altLang="zh-CN" sz="1200" b="0" i="0" kern="1200" dirty="0">
                <a:solidFill>
                  <a:schemeClr val="tx1"/>
                </a:solidFill>
                <a:effectLst/>
                <a:latin typeface="Times New Roman" pitchFamily="18" charset="0"/>
                <a:ea typeface="宋体" pitchFamily="2" charset="-122"/>
                <a:cs typeface="+mn-cs"/>
              </a:rPr>
              <a:t>Cache</a:t>
            </a:r>
          </a:p>
          <a:p>
            <a:pPr eaLnBrk="1" hangingPunct="1"/>
            <a:r>
              <a:rPr kumimoji="1" lang="zh-CN" altLang="en-US" sz="1200" b="0" i="0" kern="1200" dirty="0">
                <a:solidFill>
                  <a:schemeClr val="tx1"/>
                </a:solidFill>
                <a:effectLst/>
                <a:latin typeface="Times New Roman" pitchFamily="18" charset="0"/>
                <a:ea typeface="宋体" pitchFamily="2" charset="-122"/>
                <a:cs typeface="+mn-cs"/>
              </a:rPr>
              <a:t>当前所有的个人桌面，笔记本和服务器处理器都使用</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来进行虚拟地址到物理地址的映射。</a:t>
            </a:r>
            <a:endParaRPr lang="en-US" altLang="zh-CN" dirty="0"/>
          </a:p>
          <a:p>
            <a:pPr eaLnBrk="1" hangingPunct="1"/>
            <a:r>
              <a:rPr lang="en-US" altLang="zh-CN" dirty="0"/>
              <a:t>TLB</a:t>
            </a:r>
            <a:r>
              <a:rPr lang="zh-CN" altLang="en-US" dirty="0"/>
              <a:t>在</a:t>
            </a:r>
            <a:r>
              <a:rPr lang="en-US" altLang="zh-CN" dirty="0"/>
              <a:t>X86</a:t>
            </a:r>
            <a:r>
              <a:rPr lang="zh-CN" altLang="en-US" dirty="0"/>
              <a:t>体系的</a:t>
            </a:r>
            <a:r>
              <a:rPr lang="en-US" altLang="zh-CN" dirty="0"/>
              <a:t>CPU</a:t>
            </a:r>
            <a:r>
              <a:rPr lang="zh-CN" altLang="en-US" dirty="0"/>
              <a:t>里的实际应用最早是从</a:t>
            </a:r>
            <a:r>
              <a:rPr lang="en-US" altLang="zh-CN" dirty="0"/>
              <a:t>Intel</a:t>
            </a:r>
            <a:r>
              <a:rPr lang="zh-CN" altLang="en-US" dirty="0"/>
              <a:t>的</a:t>
            </a:r>
            <a:r>
              <a:rPr lang="en-US" altLang="zh-CN" dirty="0"/>
              <a:t>486CPU</a:t>
            </a:r>
            <a:r>
              <a:rPr lang="zh-CN" altLang="en-US" dirty="0"/>
              <a:t>开始的，在</a:t>
            </a:r>
            <a:r>
              <a:rPr lang="en-US" altLang="zh-CN" dirty="0"/>
              <a:t>X86</a:t>
            </a:r>
            <a:r>
              <a:rPr lang="zh-CN" altLang="en-US" dirty="0"/>
              <a:t>体系的</a:t>
            </a:r>
            <a:r>
              <a:rPr lang="en-US" altLang="zh-CN" dirty="0"/>
              <a:t>CPU</a:t>
            </a:r>
            <a:r>
              <a:rPr lang="zh-CN" altLang="en-US" dirty="0"/>
              <a:t>里边，一般都设有如下</a:t>
            </a:r>
            <a:r>
              <a:rPr lang="en-US" altLang="zh-CN" dirty="0"/>
              <a:t>4</a:t>
            </a:r>
            <a:r>
              <a:rPr lang="zh-CN" altLang="en-US" dirty="0"/>
              <a:t>组</a:t>
            </a:r>
            <a:r>
              <a:rPr lang="en-US" altLang="zh-CN" dirty="0"/>
              <a:t>TLB:</a:t>
            </a:r>
            <a:br>
              <a:rPr lang="en-US" altLang="zh-CN" dirty="0"/>
            </a:br>
            <a:r>
              <a:rPr lang="zh-CN" altLang="en-US" dirty="0"/>
              <a:t>第一组：缓存一般页表（</a:t>
            </a:r>
            <a:r>
              <a:rPr lang="en-US" altLang="zh-CN" dirty="0"/>
              <a:t>4K</a:t>
            </a:r>
            <a:r>
              <a:rPr lang="zh-CN" altLang="en-US" dirty="0"/>
              <a:t>字节页面）的指令页表缓存（</a:t>
            </a:r>
            <a:r>
              <a:rPr lang="en-US" altLang="zh-CN" dirty="0"/>
              <a:t>Instruction-TLB）；</a:t>
            </a:r>
            <a:br>
              <a:rPr lang="en-US" altLang="zh-CN" dirty="0"/>
            </a:br>
            <a:r>
              <a:rPr lang="zh-CN" altLang="en-US" dirty="0"/>
              <a:t>第二组：缓存一般页表（</a:t>
            </a:r>
            <a:r>
              <a:rPr lang="en-US" altLang="zh-CN" dirty="0"/>
              <a:t>4K</a:t>
            </a:r>
            <a:r>
              <a:rPr lang="zh-CN" altLang="en-US" dirty="0"/>
              <a:t>字节页面）的数据页表缓存（</a:t>
            </a:r>
            <a:r>
              <a:rPr lang="en-US" altLang="zh-CN" dirty="0"/>
              <a:t>Data-TLB）；</a:t>
            </a:r>
            <a:br>
              <a:rPr lang="en-US" altLang="zh-CN" dirty="0"/>
            </a:br>
            <a:r>
              <a:rPr lang="zh-CN" altLang="en-US" dirty="0"/>
              <a:t>第三组：缓存大尺寸页表（</a:t>
            </a:r>
            <a:r>
              <a:rPr lang="en-US" altLang="zh-CN" dirty="0"/>
              <a:t>2M/4M</a:t>
            </a:r>
            <a:r>
              <a:rPr lang="zh-CN" altLang="en-US" dirty="0"/>
              <a:t>字节页面）的指令页表缓存（</a:t>
            </a:r>
            <a:r>
              <a:rPr lang="en-US" altLang="zh-CN" dirty="0"/>
              <a:t>Instruction-TLB）；</a:t>
            </a:r>
            <a:br>
              <a:rPr lang="en-US" altLang="zh-CN" dirty="0"/>
            </a:br>
            <a:r>
              <a:rPr lang="zh-CN" altLang="en-US" dirty="0"/>
              <a:t>第四组：缓存大尺寸页表（</a:t>
            </a:r>
            <a:r>
              <a:rPr lang="en-US" altLang="zh-CN" dirty="0"/>
              <a:t>2M/4M</a:t>
            </a:r>
            <a:r>
              <a:rPr lang="zh-CN" altLang="en-US" dirty="0"/>
              <a:t>字节页面）的数据页表缓存（</a:t>
            </a:r>
            <a:r>
              <a:rPr lang="en-US" altLang="zh-CN" dirty="0"/>
              <a:t>Data-TLB）；</a:t>
            </a:r>
          </a:p>
          <a:p>
            <a:pPr eaLnBrk="1" hangingPunct="1"/>
            <a:r>
              <a:rPr lang="en-US" altLang="zh-CN" dirty="0"/>
              <a:t>X86</a:t>
            </a:r>
            <a:r>
              <a:rPr lang="zh-CN" altLang="en-US" dirty="0"/>
              <a:t>体系的系统内存里存放了两级页表，第一级页表称为页目录，第二级称为页表。</a:t>
            </a:r>
            <a:r>
              <a:rPr lang="en-US" altLang="zh-CN" dirty="0"/>
              <a:t/>
            </a:r>
            <a:br>
              <a:rPr lang="en-US" altLang="zh-CN" dirty="0"/>
            </a:br>
            <a:r>
              <a:rPr lang="en-US" altLang="zh-CN" dirty="0"/>
              <a:t>TLB</a:t>
            </a:r>
            <a:r>
              <a:rPr lang="zh-CN" altLang="en-US" dirty="0"/>
              <a:t>和</a:t>
            </a:r>
            <a:r>
              <a:rPr lang="en-US" altLang="zh-CN" dirty="0"/>
              <a:t>CPU</a:t>
            </a:r>
            <a:r>
              <a:rPr lang="zh-CN" altLang="en-US" dirty="0"/>
              <a:t>里的一级、二缓存之间不存在本质的区别，只不过前者缓存页表数据，而后两个缓存实际数据。</a:t>
            </a:r>
          </a:p>
          <a:p>
            <a:pPr eaLnBrk="1" hangingPunct="1"/>
            <a:endParaRPr lang="zh-CN" altLang="en-US" b="1" dirty="0">
              <a:solidFill>
                <a:srgbClr val="0033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66587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xfrm>
            <a:off x="1150938" y="692150"/>
            <a:ext cx="4556125" cy="3416300"/>
          </a:xfrm>
          <a:ln/>
        </p:spPr>
      </p:sp>
      <p:sp>
        <p:nvSpPr>
          <p:cNvPr id="3993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硬件并行搜索（</a:t>
            </a:r>
            <a:r>
              <a:rPr lang="en-US" altLang="zh-CN"/>
              <a:t>Parallel Search</a:t>
            </a:r>
            <a:r>
              <a:rPr lang="zh-CN" altLang="en-US"/>
              <a:t>）</a:t>
            </a:r>
          </a:p>
        </p:txBody>
      </p:sp>
      <p:sp>
        <p:nvSpPr>
          <p:cNvPr id="3994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9F9786BB-5C60-4430-9BB4-78100E8CD06F}" type="slidenum">
              <a:rPr lang="en-US" altLang="zh-CN" sz="1300" b="0" smtClean="0">
                <a:ea typeface="隶书" panose="02010509060101010101" pitchFamily="49" charset="-122"/>
              </a:rPr>
              <a:pPr/>
              <a:t>76</a:t>
            </a:fld>
            <a:endParaRPr lang="en-US" altLang="zh-CN" sz="1300" b="0">
              <a:ea typeface="隶书" panose="02010509060101010101" pitchFamily="49" charset="-122"/>
            </a:endParaRPr>
          </a:p>
        </p:txBody>
      </p:sp>
    </p:spTree>
    <p:extLst>
      <p:ext uri="{BB962C8B-B14F-4D97-AF65-F5344CB8AC3E}">
        <p14:creationId xmlns:p14="http://schemas.microsoft.com/office/powerpoint/2010/main" val="30798576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77</a:t>
            </a:fld>
            <a:endParaRPr lang="en-US" altLang="zh-CN"/>
          </a:p>
        </p:txBody>
      </p:sp>
    </p:spTree>
    <p:extLst>
      <p:ext uri="{BB962C8B-B14F-4D97-AF65-F5344CB8AC3E}">
        <p14:creationId xmlns:p14="http://schemas.microsoft.com/office/powerpoint/2010/main" val="5408170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79</a:t>
            </a:fld>
            <a:endParaRPr lang="en-US" altLang="zh-CN"/>
          </a:p>
        </p:txBody>
      </p:sp>
    </p:spTree>
    <p:extLst>
      <p:ext uri="{BB962C8B-B14F-4D97-AF65-F5344CB8AC3E}">
        <p14:creationId xmlns:p14="http://schemas.microsoft.com/office/powerpoint/2010/main" val="18307909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80</a:t>
            </a:fld>
            <a:endParaRPr lang="en-US" altLang="zh-CN"/>
          </a:p>
        </p:txBody>
      </p:sp>
    </p:spTree>
    <p:extLst>
      <p:ext uri="{BB962C8B-B14F-4D97-AF65-F5344CB8AC3E}">
        <p14:creationId xmlns:p14="http://schemas.microsoft.com/office/powerpoint/2010/main" val="23327136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83</a:t>
            </a:fld>
            <a:endParaRPr lang="en-US" altLang="zh-CN"/>
          </a:p>
        </p:txBody>
      </p:sp>
    </p:spTree>
    <p:extLst>
      <p:ext uri="{BB962C8B-B14F-4D97-AF65-F5344CB8AC3E}">
        <p14:creationId xmlns:p14="http://schemas.microsoft.com/office/powerpoint/2010/main" val="40675262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1" i="1" u="sng" kern="1200" dirty="0">
                <a:solidFill>
                  <a:schemeClr val="tx1"/>
                </a:solidFill>
                <a:effectLst/>
                <a:latin typeface="Times New Roman" pitchFamily="18" charset="0"/>
                <a:ea typeface="宋体" pitchFamily="2" charset="-122"/>
                <a:cs typeface="+mn-cs"/>
              </a:rPr>
              <a:t>避免把全部页表一直保存在内存中是多级页表的关键所在。特别是那些不需要的页表就不应该保留</a:t>
            </a:r>
            <a:endParaRPr lang="en-US" altLang="zh-CN" dirty="0"/>
          </a:p>
          <a:p>
            <a:r>
              <a:rPr lang="zh-CN" altLang="en-US" dirty="0"/>
              <a:t>也就是说根据一级页号可以知道</a:t>
            </a:r>
            <a:r>
              <a:rPr lang="en-US" altLang="zh-CN" dirty="0"/>
              <a:t>1K</a:t>
            </a:r>
            <a:r>
              <a:rPr lang="zh-CN" altLang="en-US" dirty="0"/>
              <a:t>个连续的页面中是否已经有被加载到内存或者被置换到交换空间中的，</a:t>
            </a:r>
            <a:endParaRPr lang="en-US" altLang="zh-CN" dirty="0"/>
          </a:p>
          <a:p>
            <a:r>
              <a:rPr lang="zh-CN" altLang="en-US" dirty="0"/>
              <a:t>如果一级页表中这</a:t>
            </a:r>
            <a:r>
              <a:rPr lang="en-US" altLang="zh-CN" dirty="0"/>
              <a:t>1K</a:t>
            </a:r>
            <a:r>
              <a:rPr lang="zh-CN" altLang="en-US" dirty="0"/>
              <a:t>个页面没有任意一个页面被加载或者置换郭，那么就不需要在为这</a:t>
            </a:r>
            <a:r>
              <a:rPr lang="en-US" altLang="zh-CN" dirty="0"/>
              <a:t>1K</a:t>
            </a:r>
            <a:r>
              <a:rPr lang="zh-CN" altLang="en-US" dirty="0"/>
              <a:t>个页面维护</a:t>
            </a:r>
            <a:r>
              <a:rPr lang="en-US" altLang="zh-CN" dirty="0"/>
              <a:t>2</a:t>
            </a:r>
            <a:r>
              <a:rPr lang="zh-CN" altLang="en-US" dirty="0"/>
              <a:t>级页表了。</a:t>
            </a:r>
            <a:endParaRPr lang="en-US" altLang="zh-CN" dirty="0"/>
          </a:p>
          <a:p>
            <a:r>
              <a:rPr lang="zh-CN" altLang="en-US" dirty="0"/>
              <a:t>理论上来说，一个进程开始运行的时候只需要</a:t>
            </a:r>
            <a:r>
              <a:rPr lang="en-US" altLang="zh-CN" dirty="0"/>
              <a:t>3</a:t>
            </a:r>
            <a:r>
              <a:rPr lang="zh-CN" altLang="en-US" dirty="0"/>
              <a:t>个</a:t>
            </a:r>
            <a:r>
              <a:rPr lang="en-US" altLang="zh-CN" dirty="0"/>
              <a:t>1K</a:t>
            </a:r>
            <a:r>
              <a:rPr lang="zh-CN" altLang="en-US" dirty="0"/>
              <a:t>的页面就可以运行了，即一</a:t>
            </a:r>
            <a:r>
              <a:rPr lang="en-US" altLang="zh-CN" dirty="0"/>
              <a:t>K</a:t>
            </a:r>
            <a:r>
              <a:rPr lang="zh-CN" altLang="en-US" dirty="0"/>
              <a:t>的代码段页面，一</a:t>
            </a:r>
            <a:r>
              <a:rPr lang="en-US" altLang="zh-CN" dirty="0"/>
              <a:t>K</a:t>
            </a:r>
            <a:r>
              <a:rPr lang="zh-CN" altLang="en-US" dirty="0"/>
              <a:t>的数据段页面和一</a:t>
            </a:r>
            <a:r>
              <a:rPr lang="en-US" altLang="zh-CN" dirty="0"/>
              <a:t>K</a:t>
            </a:r>
            <a:r>
              <a:rPr lang="zh-CN" altLang="en-US" dirty="0"/>
              <a:t>的桟页面。</a:t>
            </a:r>
            <a:endParaRPr lang="en-US" altLang="zh-CN" dirty="0"/>
          </a:p>
          <a:p>
            <a:r>
              <a:rPr lang="zh-CN" altLang="en-US" dirty="0"/>
              <a:t>因此，只需要</a:t>
            </a:r>
            <a:r>
              <a:rPr lang="en-US" altLang="zh-CN" dirty="0"/>
              <a:t>1K</a:t>
            </a:r>
            <a:r>
              <a:rPr lang="zh-CN" altLang="en-US" dirty="0"/>
              <a:t>个一级页表单元一级</a:t>
            </a:r>
            <a:r>
              <a:rPr lang="en-US" altLang="zh-CN" dirty="0"/>
              <a:t>3K</a:t>
            </a:r>
            <a:r>
              <a:rPr lang="zh-CN" altLang="en-US" dirty="0"/>
              <a:t>个二级页表单元即可，远远小于连续页面类型的页表需要的</a:t>
            </a:r>
            <a:r>
              <a:rPr lang="en-US" altLang="zh-CN" dirty="0"/>
              <a:t>1M</a:t>
            </a:r>
            <a:r>
              <a:rPr lang="zh-CN" altLang="en-US" dirty="0"/>
              <a:t>的页表单元</a:t>
            </a:r>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84</a:t>
            </a:fld>
            <a:endParaRPr lang="en-US" altLang="zh-CN"/>
          </a:p>
        </p:txBody>
      </p:sp>
    </p:spTree>
    <p:extLst>
      <p:ext uri="{BB962C8B-B14F-4D97-AF65-F5344CB8AC3E}">
        <p14:creationId xmlns:p14="http://schemas.microsoft.com/office/powerpoint/2010/main" val="20681949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smtClean="0"/>
              <a:t>48H  345H   </a:t>
            </a:r>
            <a:r>
              <a:rPr lang="en-US" altLang="zh-CN" dirty="0" err="1"/>
              <a:t>678H</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86</a:t>
            </a:fld>
            <a:endParaRPr lang="en-US" altLang="zh-CN"/>
          </a:p>
        </p:txBody>
      </p:sp>
    </p:spTree>
    <p:extLst>
      <p:ext uri="{BB962C8B-B14F-4D97-AF65-F5344CB8AC3E}">
        <p14:creationId xmlns:p14="http://schemas.microsoft.com/office/powerpoint/2010/main" val="6303738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algn="l"/>
            <a:r>
              <a:rPr kumimoji="1" lang="en-US" altLang="zh-CN" sz="800" kern="1200" dirty="0" err="1">
                <a:solidFill>
                  <a:schemeClr val="bg2"/>
                </a:solidFill>
                <a:latin typeface="Times New Roman" pitchFamily="18" charset="0"/>
                <a:ea typeface="宋体" pitchFamily="2" charset="-122"/>
                <a:cs typeface="Times New Roman" panose="02020603050405020304" pitchFamily="18" charset="0"/>
              </a:rPr>
              <a:t>xv6</a:t>
            </a:r>
            <a:r>
              <a:rPr kumimoji="1" lang="en-US" altLang="zh-CN" sz="800" kern="1200" dirty="0">
                <a:solidFill>
                  <a:schemeClr val="bg2"/>
                </a:solidFill>
                <a:latin typeface="Times New Roman" pitchFamily="18" charset="0"/>
                <a:ea typeface="宋体" pitchFamily="2" charset="-122"/>
                <a:cs typeface="Times New Roman" panose="02020603050405020304" pitchFamily="18" charset="0"/>
              </a:rPr>
              <a:t> </a:t>
            </a:r>
            <a:r>
              <a:rPr kumimoji="1" lang="zh-CN" altLang="en-US" sz="800" kern="1200" dirty="0">
                <a:solidFill>
                  <a:schemeClr val="bg2"/>
                </a:solidFill>
                <a:latin typeface="Times New Roman" pitchFamily="18" charset="0"/>
                <a:ea typeface="宋体" pitchFamily="2" charset="-122"/>
                <a:cs typeface="Times New Roman" panose="02020603050405020304" pitchFamily="18" charset="0"/>
              </a:rPr>
              <a:t>运行于 </a:t>
            </a:r>
            <a:r>
              <a:rPr kumimoji="1" lang="en-US" altLang="zh-CN" sz="800" kern="1200" dirty="0" err="1">
                <a:solidFill>
                  <a:schemeClr val="bg2"/>
                </a:solidFill>
                <a:latin typeface="Times New Roman" pitchFamily="18" charset="0"/>
                <a:ea typeface="宋体" pitchFamily="2" charset="-122"/>
                <a:cs typeface="Times New Roman" panose="02020603050405020304" pitchFamily="18" charset="0"/>
              </a:rPr>
              <a:t>Sv39</a:t>
            </a:r>
            <a:r>
              <a:rPr kumimoji="1" lang="en-US" altLang="zh-CN" sz="800" kern="1200" dirty="0">
                <a:solidFill>
                  <a:schemeClr val="bg2"/>
                </a:solidFill>
                <a:latin typeface="Times New Roman" pitchFamily="18" charset="0"/>
                <a:ea typeface="宋体" pitchFamily="2" charset="-122"/>
                <a:cs typeface="Times New Roman" panose="02020603050405020304" pitchFamily="18" charset="0"/>
              </a:rPr>
              <a:t> RISC-V </a:t>
            </a:r>
            <a:r>
              <a:rPr kumimoji="1" lang="zh-CN" altLang="en-US" sz="800" kern="1200" dirty="0">
                <a:solidFill>
                  <a:schemeClr val="bg2"/>
                </a:solidFill>
                <a:latin typeface="Times New Roman" pitchFamily="18" charset="0"/>
                <a:ea typeface="宋体" pitchFamily="2" charset="-122"/>
                <a:cs typeface="Times New Roman" panose="02020603050405020304" pitchFamily="18" charset="0"/>
              </a:rPr>
              <a:t>上</a:t>
            </a:r>
            <a:r>
              <a:rPr kumimoji="1" lang="en-US" altLang="zh-CN" sz="800" kern="1200" dirty="0">
                <a:solidFill>
                  <a:schemeClr val="bg2"/>
                </a:solidFill>
                <a:latin typeface="Times New Roman" pitchFamily="18" charset="0"/>
                <a:ea typeface="宋体" pitchFamily="2" charset="-122"/>
                <a:cs typeface="Times New Roman" panose="02020603050405020304" pitchFamily="18" charset="0"/>
              </a:rPr>
              <a:t>, 64 </a:t>
            </a:r>
            <a:r>
              <a:rPr kumimoji="1" lang="zh-CN" altLang="en-US" sz="800" kern="1200" dirty="0">
                <a:solidFill>
                  <a:schemeClr val="bg2"/>
                </a:solidFill>
                <a:latin typeface="Times New Roman" pitchFamily="18" charset="0"/>
                <a:ea typeface="宋体" pitchFamily="2" charset="-122"/>
                <a:cs typeface="Times New Roman" panose="02020603050405020304" pitchFamily="18" charset="0"/>
              </a:rPr>
              <a:t>位地址中的低 </a:t>
            </a:r>
            <a:r>
              <a:rPr kumimoji="1" lang="en-US" altLang="zh-CN" sz="800" kern="1200" dirty="0">
                <a:solidFill>
                  <a:schemeClr val="bg2"/>
                </a:solidFill>
                <a:latin typeface="Times New Roman" pitchFamily="18" charset="0"/>
                <a:ea typeface="宋体" pitchFamily="2" charset="-122"/>
                <a:cs typeface="Times New Roman" panose="02020603050405020304" pitchFamily="18" charset="0"/>
              </a:rPr>
              <a:t>39 </a:t>
            </a:r>
            <a:r>
              <a:rPr kumimoji="1" lang="zh-CN" altLang="en-US" sz="800" kern="1200" dirty="0">
                <a:solidFill>
                  <a:schemeClr val="bg2"/>
                </a:solidFill>
                <a:latin typeface="Times New Roman" pitchFamily="18" charset="0"/>
                <a:ea typeface="宋体" pitchFamily="2" charset="-122"/>
                <a:cs typeface="Times New Roman" panose="02020603050405020304" pitchFamily="18" charset="0"/>
              </a:rPr>
              <a:t>位被使用</a:t>
            </a:r>
          </a:p>
          <a:p>
            <a:endParaRPr lang="en-US" altLang="zh-CN" dirty="0"/>
          </a:p>
          <a:p>
            <a:endParaRPr lang="en-US" altLang="zh-CN" dirty="0"/>
          </a:p>
          <a:p>
            <a:endParaRPr lang="en-US" altLang="zh-CN" dirty="0"/>
          </a:p>
          <a:p>
            <a:r>
              <a:rPr lang="zh-CN" altLang="en-US" dirty="0"/>
              <a:t>一个页表包含</a:t>
            </a:r>
            <a:r>
              <a:rPr lang="en-US" altLang="zh-CN" dirty="0"/>
              <a:t>512</a:t>
            </a:r>
            <a:r>
              <a:rPr lang="zh-CN" altLang="en-US" dirty="0"/>
              <a:t>个页表项，每个页表项占</a:t>
            </a:r>
            <a:r>
              <a:rPr lang="en-US" altLang="zh-CN" dirty="0"/>
              <a:t>8</a:t>
            </a:r>
            <a:r>
              <a:rPr lang="zh-CN" altLang="en-US" dirty="0"/>
              <a:t>个字节（</a:t>
            </a:r>
            <a:r>
              <a:rPr lang="fr-FR" altLang="zh-CN" dirty="0"/>
              <a:t>64-bit </a:t>
            </a:r>
            <a:r>
              <a:rPr lang="zh-CN" altLang="en-US" dirty="0"/>
              <a:t>）</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87</a:t>
            </a:fld>
            <a:endParaRPr lang="en-US" altLang="zh-CN"/>
          </a:p>
        </p:txBody>
      </p:sp>
    </p:spTree>
    <p:extLst>
      <p:ext uri="{BB962C8B-B14F-4D97-AF65-F5344CB8AC3E}">
        <p14:creationId xmlns:p14="http://schemas.microsoft.com/office/powerpoint/2010/main" val="4470075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pitchFamily="2" charset="-122"/>
                <a:cs typeface="+mn-cs"/>
              </a:rPr>
              <a:t>RSW</a:t>
            </a:r>
            <a:r>
              <a:rPr kumimoji="1" lang="zh-CN" altLang="en-US" sz="1200" b="0" i="0" kern="1200" dirty="0">
                <a:solidFill>
                  <a:schemeClr val="tx1"/>
                </a:solidFill>
                <a:effectLst/>
                <a:latin typeface="Times New Roman" pitchFamily="18" charset="0"/>
                <a:ea typeface="宋体" pitchFamily="2" charset="-122"/>
                <a:cs typeface="+mn-cs"/>
              </a:rPr>
              <a:t>：更复杂的页式管理 ，如其中一位表示是否用于</a:t>
            </a:r>
            <a:r>
              <a:rPr kumimoji="1" lang="en-US" altLang="zh-CN" sz="1200" b="0" i="0" kern="1200" dirty="0">
                <a:solidFill>
                  <a:schemeClr val="tx1"/>
                </a:solidFill>
                <a:effectLst/>
                <a:latin typeface="Times New Roman" pitchFamily="18" charset="0"/>
                <a:ea typeface="宋体" pitchFamily="2" charset="-122"/>
                <a:cs typeface="+mn-cs"/>
              </a:rPr>
              <a:t>COW</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88</a:t>
            </a:fld>
            <a:endParaRPr lang="en-US" altLang="zh-CN"/>
          </a:p>
        </p:txBody>
      </p:sp>
    </p:spTree>
    <p:extLst>
      <p:ext uri="{BB962C8B-B14F-4D97-AF65-F5344CB8AC3E}">
        <p14:creationId xmlns:p14="http://schemas.microsoft.com/office/powerpoint/2010/main" val="34567595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1"/>
                </a:solidFill>
                <a:latin typeface="+mj-lt"/>
                <a:ea typeface="楷体" panose="02010609060101010101" pitchFamily="49" charset="-122"/>
              </a:rPr>
              <a:t>如果散列表的表项与机器中的物理页面一样多，那么散列表的冲突链的平均长度将是一个表项，</a:t>
            </a:r>
            <a:endParaRPr lang="en-US" altLang="zh-CN" sz="1200" dirty="0">
              <a:solidFill>
                <a:schemeClr val="bg1"/>
              </a:solidFill>
              <a:latin typeface="+mj-lt"/>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a:solidFill>
                  <a:schemeClr val="bg1"/>
                </a:solidFill>
                <a:latin typeface="+mj-lt"/>
                <a:ea typeface="楷体" panose="02010609060101010101" pitchFamily="49" charset="-122"/>
              </a:rPr>
              <a:t>这将会大大提高映射速度。</a:t>
            </a:r>
            <a:endParaRPr lang="en-US" altLang="en-US" sz="1200" dirty="0">
              <a:solidFill>
                <a:schemeClr val="bg1"/>
              </a:solidFill>
              <a:latin typeface="+mj-lt"/>
              <a:ea typeface="楷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89</a:t>
            </a:fld>
            <a:endParaRPr lang="en-US" altLang="zh-CN"/>
          </a:p>
        </p:txBody>
      </p:sp>
    </p:spTree>
    <p:extLst>
      <p:ext uri="{BB962C8B-B14F-4D97-AF65-F5344CB8AC3E}">
        <p14:creationId xmlns:p14="http://schemas.microsoft.com/office/powerpoint/2010/main" val="30061865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为减少页表占用的内存空间而引入了反置页表</a:t>
            </a:r>
            <a:r>
              <a:rPr kumimoji="1" lang="en-US" altLang="zh-CN" sz="1200" b="0" i="0" kern="1200" dirty="0">
                <a:solidFill>
                  <a:schemeClr val="tx1"/>
                </a:solidFill>
                <a:effectLst/>
                <a:latin typeface="Times New Roman" pitchFamily="18" charset="0"/>
                <a:ea typeface="宋体" pitchFamily="2" charset="-122"/>
                <a:cs typeface="+mn-cs"/>
              </a:rPr>
              <a:t>(</a:t>
            </a:r>
            <a:endParaRPr kumimoji="1" lang="en-US" altLang="zh-CN" sz="1200" b="1" dirty="0">
              <a:solidFill>
                <a:srgbClr val="9C4E00"/>
              </a:solidFill>
              <a:latin typeface="Times New Roman" panose="02020603050405020304" pitchFamily="18" charset="0"/>
              <a:ea typeface="楷体_GB2312" pitchFamily="49" charset="-122"/>
            </a:endParaRPr>
          </a:p>
          <a:p>
            <a:r>
              <a:rPr kumimoji="1" lang="zh-CN" altLang="en-US" sz="1200" b="0" i="0" kern="1200" dirty="0">
                <a:solidFill>
                  <a:schemeClr val="tx1"/>
                </a:solidFill>
                <a:effectLst/>
                <a:latin typeface="Times New Roman" pitchFamily="18" charset="0"/>
                <a:ea typeface="宋体" pitchFamily="2" charset="-122"/>
                <a:cs typeface="+mn-cs"/>
              </a:rPr>
              <a:t>每个进程均维护一个页表时</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页表会有很多项，这些表会消耗大量的内存，</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1" kern="1200" dirty="0">
                <a:solidFill>
                  <a:schemeClr val="tx1"/>
                </a:solidFill>
                <a:effectLst/>
                <a:latin typeface="Times New Roman" pitchFamily="18" charset="0"/>
                <a:ea typeface="宋体" pitchFamily="2" charset="-122"/>
                <a:cs typeface="+mn-cs"/>
              </a:rPr>
              <a:t>使用页框号而不是虚拟页号来索引页表项</a:t>
            </a:r>
            <a:r>
              <a:rPr kumimoji="1" lang="en-US" altLang="zh-CN" sz="1200" b="0" i="1" kern="1200" dirty="0">
                <a:solidFill>
                  <a:schemeClr val="tx1"/>
                </a:solidFill>
                <a:effectLst/>
                <a:latin typeface="Times New Roman" pitchFamily="18" charset="0"/>
                <a:ea typeface="宋体" pitchFamily="2" charset="-122"/>
                <a:cs typeface="+mn-cs"/>
              </a:rPr>
              <a:t>: </a:t>
            </a:r>
            <a:r>
              <a:rPr lang="zh-CN" altLang="en-US" sz="1200" b="1" dirty="0">
                <a:solidFill>
                  <a:schemeClr val="tx1"/>
                </a:solidFill>
                <a:sym typeface="Symbol" panose="05050102010706020507" pitchFamily="18" charset="2"/>
              </a:rPr>
              <a:t>内存较小  反向页表较小；反向页表查找费时</a:t>
            </a:r>
            <a:endParaRPr lang="zh-CN" altLang="zh-CN" sz="1200" b="1" dirty="0">
              <a:sym typeface="Symbol" panose="05050102010706020507" pitchFamily="18" charset="2"/>
            </a:endParaRPr>
          </a:p>
          <a:p>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BM RT PC</a:t>
            </a:r>
            <a:r>
              <a:rPr kumimoji="1" lang="zh-CN" altLang="en-US" sz="1200" b="0" i="0" kern="1200" dirty="0">
                <a:solidFill>
                  <a:schemeClr val="tx1"/>
                </a:solidFill>
                <a:effectLst/>
                <a:latin typeface="Times New Roman" pitchFamily="18" charset="0"/>
                <a:ea typeface="宋体" pitchFamily="2" charset="-122"/>
                <a:cs typeface="+mn-cs"/>
              </a:rPr>
              <a:t>是</a:t>
            </a:r>
            <a:r>
              <a:rPr kumimoji="1" lang="en-US" altLang="zh-CN" sz="1200" b="0" i="0" kern="1200" dirty="0">
                <a:solidFill>
                  <a:schemeClr val="tx1"/>
                </a:solidFill>
                <a:effectLst/>
                <a:latin typeface="Times New Roman" pitchFamily="18" charset="0"/>
                <a:ea typeface="宋体" pitchFamily="2" charset="-122"/>
                <a:cs typeface="+mn-cs"/>
              </a:rPr>
              <a:t>IBM</a:t>
            </a:r>
            <a:r>
              <a:rPr kumimoji="1" lang="zh-CN" altLang="en-US" sz="1200" b="0" i="0" kern="1200" dirty="0">
                <a:solidFill>
                  <a:schemeClr val="tx1"/>
                </a:solidFill>
                <a:effectLst/>
                <a:latin typeface="Times New Roman" pitchFamily="18" charset="0"/>
                <a:ea typeface="宋体" pitchFamily="2" charset="-122"/>
                <a:cs typeface="+mn-cs"/>
              </a:rPr>
              <a:t>于</a:t>
            </a:r>
            <a:r>
              <a:rPr kumimoji="1" lang="en-US" altLang="zh-CN" sz="1200" b="0" i="0" kern="1200" dirty="0">
                <a:solidFill>
                  <a:schemeClr val="tx1"/>
                </a:solidFill>
                <a:effectLst/>
                <a:latin typeface="Times New Roman" pitchFamily="18" charset="0"/>
                <a:ea typeface="宋体" pitchFamily="2" charset="-122"/>
                <a:cs typeface="+mn-cs"/>
              </a:rPr>
              <a:t>1986</a:t>
            </a:r>
            <a:r>
              <a:rPr kumimoji="1" lang="zh-CN" altLang="en-US" sz="1200" b="0" i="0" kern="1200" dirty="0">
                <a:solidFill>
                  <a:schemeClr val="tx1"/>
                </a:solidFill>
                <a:effectLst/>
                <a:latin typeface="Times New Roman" pitchFamily="18" charset="0"/>
                <a:ea typeface="宋体" pitchFamily="2" charset="-122"/>
                <a:cs typeface="+mn-cs"/>
              </a:rPr>
              <a:t>年推出的一系列工作站计算机。这些是</a:t>
            </a:r>
            <a:r>
              <a:rPr kumimoji="1" lang="en-US" altLang="zh-CN" sz="1200" b="0" i="0" kern="1200" dirty="0">
                <a:solidFill>
                  <a:schemeClr val="tx1"/>
                </a:solidFill>
                <a:effectLst/>
                <a:latin typeface="Times New Roman" pitchFamily="18" charset="0"/>
                <a:ea typeface="宋体" pitchFamily="2" charset="-122"/>
                <a:cs typeface="+mn-cs"/>
              </a:rPr>
              <a:t>IBM</a:t>
            </a:r>
            <a:r>
              <a:rPr kumimoji="1" lang="zh-CN" altLang="en-US" sz="1200" b="0" i="0" kern="1200" dirty="0">
                <a:solidFill>
                  <a:schemeClr val="tx1"/>
                </a:solidFill>
                <a:effectLst/>
                <a:latin typeface="Times New Roman" pitchFamily="18" charset="0"/>
                <a:ea typeface="宋体" pitchFamily="2" charset="-122"/>
                <a:cs typeface="+mn-cs"/>
              </a:rPr>
              <a:t>首批基于精简指令集计算机体系结构的商用计算机。 </a:t>
            </a:r>
            <a:r>
              <a:rPr kumimoji="1" lang="en-US" altLang="zh-CN" sz="1200" b="0" i="0" kern="1200" dirty="0">
                <a:solidFill>
                  <a:schemeClr val="tx1"/>
                </a:solidFill>
                <a:effectLst/>
                <a:latin typeface="Times New Roman" pitchFamily="18" charset="0"/>
                <a:ea typeface="宋体" pitchFamily="2" charset="-122"/>
                <a:cs typeface="+mn-cs"/>
              </a:rPr>
              <a:t>RT PC</a:t>
            </a:r>
            <a:r>
              <a:rPr kumimoji="1" lang="zh-CN" altLang="en-US" sz="1200" b="0" i="0" kern="1200" dirty="0">
                <a:solidFill>
                  <a:schemeClr val="tx1"/>
                </a:solidFill>
                <a:effectLst/>
                <a:latin typeface="Times New Roman" pitchFamily="18" charset="0"/>
                <a:ea typeface="宋体" pitchFamily="2" charset="-122"/>
                <a:cs typeface="+mn-cs"/>
              </a:rPr>
              <a:t>使用</a:t>
            </a:r>
            <a:r>
              <a:rPr kumimoji="1" lang="en-US" altLang="zh-CN" sz="1200" b="0" i="0" kern="1200" dirty="0">
                <a:solidFill>
                  <a:schemeClr val="tx1"/>
                </a:solidFill>
                <a:effectLst/>
                <a:latin typeface="Times New Roman" pitchFamily="18" charset="0"/>
                <a:ea typeface="宋体" pitchFamily="2" charset="-122"/>
                <a:cs typeface="+mn-cs"/>
              </a:rPr>
              <a:t>IBM</a:t>
            </a:r>
            <a:r>
              <a:rPr kumimoji="1" lang="zh-CN" altLang="en-US" sz="1200" b="0" i="0" kern="1200" dirty="0">
                <a:solidFill>
                  <a:schemeClr val="tx1"/>
                </a:solidFill>
                <a:effectLst/>
                <a:latin typeface="Times New Roman" pitchFamily="18" charset="0"/>
                <a:ea typeface="宋体" pitchFamily="2" charset="-122"/>
                <a:cs typeface="+mn-cs"/>
              </a:rPr>
              <a:t>专有的</a:t>
            </a:r>
            <a:r>
              <a:rPr kumimoji="1" lang="en-US" altLang="zh-CN" sz="1200" b="0" i="0" kern="1200" dirty="0">
                <a:solidFill>
                  <a:schemeClr val="tx1"/>
                </a:solidFill>
                <a:effectLst/>
                <a:latin typeface="Times New Roman" pitchFamily="18" charset="0"/>
                <a:ea typeface="宋体" pitchFamily="2" charset="-122"/>
                <a:cs typeface="+mn-cs"/>
              </a:rPr>
              <a:t>ROMP</a:t>
            </a:r>
            <a:r>
              <a:rPr kumimoji="1" lang="zh-CN" altLang="en-US" sz="1200" b="0" i="0" kern="1200" dirty="0">
                <a:solidFill>
                  <a:schemeClr val="tx1"/>
                </a:solidFill>
                <a:effectLst/>
                <a:latin typeface="Times New Roman" pitchFamily="18" charset="0"/>
                <a:ea typeface="宋体" pitchFamily="2" charset="-122"/>
                <a:cs typeface="+mn-cs"/>
              </a:rPr>
              <a:t>微处理器，该微处理器将</a:t>
            </a:r>
            <a:r>
              <a:rPr kumimoji="1" lang="en-US" altLang="zh-CN" sz="1200" b="0" i="0" kern="1200" dirty="0">
                <a:solidFill>
                  <a:schemeClr val="tx1"/>
                </a:solidFill>
                <a:effectLst/>
                <a:latin typeface="Times New Roman" pitchFamily="18" charset="0"/>
                <a:ea typeface="宋体" pitchFamily="2" charset="-122"/>
                <a:cs typeface="+mn-cs"/>
              </a:rPr>
              <a:t>IBM Research</a:t>
            </a:r>
            <a:r>
              <a:rPr kumimoji="1" lang="zh-CN" altLang="en-US" sz="1200" b="0" i="0" kern="1200" dirty="0">
                <a:solidFill>
                  <a:schemeClr val="tx1"/>
                </a:solidFill>
                <a:effectLst/>
                <a:latin typeface="Times New Roman" pitchFamily="18" charset="0"/>
                <a:ea typeface="宋体" pitchFamily="2" charset="-122"/>
                <a:cs typeface="+mn-cs"/>
              </a:rPr>
              <a:t>的</a:t>
            </a:r>
            <a:r>
              <a:rPr kumimoji="1" lang="en-US" altLang="zh-CN" sz="1200" b="0" i="0" kern="1200" dirty="0">
                <a:solidFill>
                  <a:schemeClr val="tx1"/>
                </a:solidFill>
                <a:effectLst/>
                <a:latin typeface="Times New Roman" pitchFamily="18" charset="0"/>
                <a:ea typeface="宋体" pitchFamily="2" charset="-122"/>
                <a:cs typeface="+mn-cs"/>
              </a:rPr>
              <a:t>801</a:t>
            </a:r>
            <a:r>
              <a:rPr kumimoji="1" lang="zh-CN" altLang="en-US" sz="1200" b="0" i="0" kern="1200" dirty="0">
                <a:solidFill>
                  <a:schemeClr val="tx1"/>
                </a:solidFill>
                <a:effectLst/>
                <a:latin typeface="Times New Roman" pitchFamily="18" charset="0"/>
                <a:ea typeface="宋体" pitchFamily="2" charset="-122"/>
                <a:cs typeface="+mn-cs"/>
              </a:rPr>
              <a:t>实验小型机开创的技术商业化。 </a:t>
            </a:r>
            <a:r>
              <a:rPr kumimoji="1" lang="en-US" altLang="zh-CN" sz="1200" b="0" i="0" kern="1200" dirty="0">
                <a:solidFill>
                  <a:schemeClr val="tx1"/>
                </a:solidFill>
                <a:effectLst/>
                <a:latin typeface="Times New Roman" pitchFamily="18" charset="0"/>
                <a:ea typeface="宋体" pitchFamily="2" charset="-122"/>
                <a:cs typeface="+mn-cs"/>
              </a:rPr>
              <a:t>RT PC</a:t>
            </a:r>
            <a:r>
              <a:rPr kumimoji="1" lang="zh-CN" altLang="en-US" sz="1200" b="0" i="0" kern="1200" dirty="0">
                <a:solidFill>
                  <a:schemeClr val="tx1"/>
                </a:solidFill>
                <a:effectLst/>
                <a:latin typeface="Times New Roman" pitchFamily="18" charset="0"/>
                <a:ea typeface="宋体" pitchFamily="2" charset="-122"/>
                <a:cs typeface="+mn-cs"/>
              </a:rPr>
              <a:t>运行三个操作系统：</a:t>
            </a:r>
            <a:r>
              <a:rPr kumimoji="1" lang="en-US" altLang="zh-CN" sz="1200" b="0" i="0" kern="1200" dirty="0">
                <a:solidFill>
                  <a:schemeClr val="tx1"/>
                </a:solidFill>
                <a:effectLst/>
                <a:latin typeface="Times New Roman" pitchFamily="18" charset="0"/>
                <a:ea typeface="宋体" pitchFamily="2" charset="-122"/>
                <a:cs typeface="+mn-cs"/>
              </a:rPr>
              <a:t>AIX</a:t>
            </a:r>
            <a:r>
              <a:rPr kumimoji="1" lang="zh-CN" altLang="en-US" sz="1200" b="0" i="0" kern="1200" dirty="0">
                <a:solidFill>
                  <a:schemeClr val="tx1"/>
                </a:solidFill>
                <a:effectLst/>
                <a:latin typeface="Times New Roman" pitchFamily="18" charset="0"/>
                <a:ea typeface="宋体" pitchFamily="2" charset="-122"/>
                <a:cs typeface="+mn-cs"/>
              </a:rPr>
              <a:t>，学术操作系统或</a:t>
            </a:r>
            <a:r>
              <a:rPr kumimoji="1" lang="en-US" altLang="zh-CN" sz="1200" b="0" i="0" kern="1200" dirty="0">
                <a:solidFill>
                  <a:schemeClr val="tx1"/>
                </a:solidFill>
                <a:effectLst/>
                <a:latin typeface="Times New Roman" pitchFamily="18" charset="0"/>
                <a:ea typeface="宋体" pitchFamily="2" charset="-122"/>
                <a:cs typeface="+mn-cs"/>
              </a:rPr>
              <a:t>Pick</a:t>
            </a:r>
            <a:r>
              <a:rPr kumimoji="1" lang="zh-CN" altLang="en-US" sz="1200" b="0" i="0" kern="1200" dirty="0">
                <a:solidFill>
                  <a:schemeClr val="tx1"/>
                </a:solidFill>
                <a:effectLst/>
                <a:latin typeface="Times New Roman" pitchFamily="18" charset="0"/>
                <a:ea typeface="宋体" pitchFamily="2" charset="-122"/>
                <a:cs typeface="+mn-cs"/>
              </a:rPr>
              <a:t>。 </a:t>
            </a:r>
            <a:endParaRPr kumimoji="1" lang="en-US" altLang="zh-CN" sz="1200" b="0" i="0" kern="1200" dirty="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90</a:t>
            </a:fld>
            <a:endParaRPr lang="en-US" altLang="zh-CN"/>
          </a:p>
        </p:txBody>
      </p:sp>
    </p:spTree>
    <p:extLst>
      <p:ext uri="{BB962C8B-B14F-4D97-AF65-F5344CB8AC3E}">
        <p14:creationId xmlns:p14="http://schemas.microsoft.com/office/powerpoint/2010/main" val="41602031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每次访问哈希表也增加了一次内存访问、加入 </a:t>
            </a:r>
            <a:r>
              <a:rPr lang="en-US" altLang="zh-CN" sz="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TLB </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但是可以结合前面提到的技术</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如先</a:t>
            </a:r>
            <a:r>
              <a:rPr kumimoji="1" lang="en-US" altLang="zh-CN" sz="1200" b="0" i="0" kern="1200" dirty="0">
                <a:solidFill>
                  <a:schemeClr val="tx1"/>
                </a:solidFill>
                <a:effectLst/>
                <a:latin typeface="Times New Roman" pitchFamily="18" charset="0"/>
                <a:ea typeface="宋体" pitchFamily="2" charset="-122"/>
                <a:cs typeface="+mn-cs"/>
              </a:rPr>
              <a:t>TLB</a:t>
            </a:r>
            <a:r>
              <a:rPr kumimoji="1" lang="zh-CN" altLang="en-US" sz="1200" b="0" i="0" kern="1200" dirty="0">
                <a:solidFill>
                  <a:schemeClr val="tx1"/>
                </a:solidFill>
                <a:effectLst/>
                <a:latin typeface="Times New Roman" pitchFamily="18" charset="0"/>
                <a:ea typeface="宋体" pitchFamily="2" charset="-122"/>
                <a:cs typeface="+mn-cs"/>
              </a:rPr>
              <a:t>，再</a:t>
            </a:r>
            <a:r>
              <a:rPr kumimoji="1" lang="en-US" altLang="zh-CN" sz="1200" b="0" i="0" kern="1200" dirty="0">
                <a:solidFill>
                  <a:schemeClr val="tx1"/>
                </a:solidFill>
                <a:effectLst/>
                <a:latin typeface="Times New Roman" pitchFamily="18" charset="0"/>
                <a:ea typeface="宋体" pitchFamily="2" charset="-122"/>
                <a:cs typeface="+mn-cs"/>
              </a:rPr>
              <a:t>hash</a:t>
            </a:r>
            <a:r>
              <a:rPr kumimoji="1" lang="zh-CN" altLang="en-US" sz="1200" b="0" i="0" kern="1200" dirty="0">
                <a:solidFill>
                  <a:schemeClr val="tx1"/>
                </a:solidFill>
                <a:effectLst/>
                <a:latin typeface="Times New Roman" pitchFamily="18" charset="0"/>
                <a:ea typeface="宋体" pitchFamily="2" charset="-122"/>
                <a:cs typeface="+mn-cs"/>
              </a:rPr>
              <a:t>，再反向页表。但是反向页表不能共享内存</a:t>
            </a:r>
            <a:endParaRPr lang="en-US" altLang="zh-CN" sz="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r>
              <a:rPr kumimoji="1" lang="zh-CN" altLang="en-US" sz="1200" b="0" i="0" kern="1200" dirty="0">
                <a:solidFill>
                  <a:schemeClr val="tx1"/>
                </a:solidFill>
                <a:effectLst/>
                <a:latin typeface="Times New Roman" pitchFamily="18" charset="0"/>
                <a:ea typeface="宋体" pitchFamily="2" charset="-122"/>
                <a:cs typeface="+mn-cs"/>
              </a:rPr>
              <a:t>虽然反置页表可以有效地减少页表占用的内存，然而该表中却只包含已经调入内存的页面，并未包含那些未调入内存的各个进程的页面，因而必须为每个进程建立一个外部页表</a:t>
            </a:r>
            <a:r>
              <a:rPr kumimoji="1" lang="en-US" altLang="zh-CN" sz="1200" b="0" i="0" kern="1200" dirty="0">
                <a:solidFill>
                  <a:schemeClr val="tx1"/>
                </a:solidFill>
                <a:effectLst/>
                <a:latin typeface="Times New Roman" pitchFamily="18" charset="0"/>
                <a:ea typeface="宋体" pitchFamily="2" charset="-122"/>
                <a:cs typeface="+mn-cs"/>
              </a:rPr>
              <a:t>(External Page Table)</a:t>
            </a:r>
            <a:r>
              <a:rPr kumimoji="1" lang="zh-CN" altLang="en-US" sz="1200" b="0" i="0" kern="1200" dirty="0">
                <a:solidFill>
                  <a:schemeClr val="tx1"/>
                </a:solidFill>
                <a:effectLst/>
                <a:latin typeface="Times New Roman" pitchFamily="18" charset="0"/>
                <a:ea typeface="宋体" pitchFamily="2" charset="-122"/>
                <a:cs typeface="+mn-cs"/>
              </a:rPr>
              <a:t>，该页表与传统页表一样，当所访问的页面在内存时并不访问这些页表，只是当不在主存时才使用这些页表。该页表中包含了页面在外存的物理位置，通过该页表可将所需要的页面调入内存。</a:t>
            </a:r>
          </a:p>
          <a:p>
            <a:r>
              <a:rPr kumimoji="1" lang="zh-CN" altLang="en-US" sz="1200" b="0" i="0" kern="1200" dirty="0">
                <a:solidFill>
                  <a:schemeClr val="tx1"/>
                </a:solidFill>
                <a:effectLst/>
                <a:latin typeface="Times New Roman" pitchFamily="18" charset="0"/>
                <a:ea typeface="宋体" pitchFamily="2" charset="-122"/>
                <a:cs typeface="+mn-cs"/>
              </a:rPr>
              <a:t>由于在反置页表中是为每一个物理块设置一个页表项的，通常页表项的数目很大，从几千项到几万项，要利用进程标识符和页号去检索这样大的线性表是相当费时的。于是又利用一种</a:t>
            </a:r>
            <a:r>
              <a:rPr kumimoji="1" lang="en-US" altLang="zh-CN" sz="1200" b="0" i="0" kern="1200" dirty="0">
                <a:solidFill>
                  <a:schemeClr val="tx1"/>
                </a:solidFill>
                <a:effectLst/>
                <a:latin typeface="Times New Roman" pitchFamily="18" charset="0"/>
                <a:ea typeface="宋体" pitchFamily="2" charset="-122"/>
                <a:cs typeface="+mn-cs"/>
              </a:rPr>
              <a:t>Hash</a:t>
            </a:r>
            <a:r>
              <a:rPr kumimoji="1" lang="zh-CN" altLang="en-US" sz="1200" b="0" i="0" kern="1200" dirty="0">
                <a:solidFill>
                  <a:schemeClr val="tx1"/>
                </a:solidFill>
                <a:effectLst/>
                <a:latin typeface="Times New Roman" pitchFamily="18" charset="0"/>
                <a:ea typeface="宋体" pitchFamily="2" charset="-122"/>
                <a:cs typeface="+mn-cs"/>
              </a:rPr>
              <a:t>表来检索。</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91</a:t>
            </a:fld>
            <a:endParaRPr lang="en-US" altLang="zh-CN"/>
          </a:p>
        </p:txBody>
      </p:sp>
    </p:spTree>
    <p:extLst>
      <p:ext uri="{BB962C8B-B14F-4D97-AF65-F5344CB8AC3E}">
        <p14:creationId xmlns:p14="http://schemas.microsoft.com/office/powerpoint/2010/main" val="22657196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FBA74DA-F3C7-4B26-8AA9-445D9FE01ABB}" type="slidenum">
              <a:rPr lang="en-US" altLang="zh-CN" sz="1300" smtClean="0">
                <a:ea typeface="隶书" panose="02010509060101010101" pitchFamily="49" charset="-122"/>
              </a:rPr>
              <a:pPr>
                <a:spcBef>
                  <a:spcPct val="0"/>
                </a:spcBef>
              </a:pPr>
              <a:t>93</a:t>
            </a:fld>
            <a:endParaRPr lang="en-US" altLang="zh-CN" sz="1300">
              <a:ea typeface="隶书" panose="02010509060101010101" pitchFamily="49" charset="-122"/>
            </a:endParaRPr>
          </a:p>
        </p:txBody>
      </p:sp>
      <p:sp>
        <p:nvSpPr>
          <p:cNvPr id="45059" name="Rectangle 2"/>
          <p:cNvSpPr>
            <a:spLocks noGrp="1" noRot="1" noChangeAspect="1" noChangeArrowheads="1" noTextEdit="1"/>
          </p:cNvSpPr>
          <p:nvPr>
            <p:ph type="sldImg"/>
          </p:nvPr>
        </p:nvSpPr>
        <p:spPr>
          <a:xfrm>
            <a:off x="1150938" y="692150"/>
            <a:ext cx="4556125" cy="3416300"/>
          </a:xfrm>
          <a:ln/>
        </p:spPr>
      </p:sp>
      <p:sp>
        <p:nvSpPr>
          <p:cNvPr id="4506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en-US" altLang="zh-CN" dirty="0"/>
          </a:p>
        </p:txBody>
      </p:sp>
    </p:spTree>
    <p:extLst>
      <p:ext uri="{BB962C8B-B14F-4D97-AF65-F5344CB8AC3E}">
        <p14:creationId xmlns:p14="http://schemas.microsoft.com/office/powerpoint/2010/main" val="2057154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94</a:t>
            </a:fld>
            <a:endParaRPr lang="en-US" altLang="zh-CN"/>
          </a:p>
        </p:txBody>
      </p:sp>
    </p:spTree>
    <p:extLst>
      <p:ext uri="{BB962C8B-B14F-4D97-AF65-F5344CB8AC3E}">
        <p14:creationId xmlns:p14="http://schemas.microsoft.com/office/powerpoint/2010/main" val="2629932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一些系统配备了特殊的处理器硬件和操作系统软件来支持段页式管理</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err="1">
                <a:solidFill>
                  <a:schemeClr val="tx1"/>
                </a:solidFill>
                <a:effectLst/>
                <a:latin typeface="Times New Roman" pitchFamily="18" charset="0"/>
                <a:ea typeface="宋体" pitchFamily="2" charset="-122"/>
                <a:cs typeface="+mn-cs"/>
              </a:rPr>
              <a:t>multics</a:t>
            </a:r>
            <a:r>
              <a:rPr kumimoji="1" lang="zh-CN" altLang="en-US" sz="1200" b="0" i="0" kern="1200" dirty="0">
                <a:solidFill>
                  <a:schemeClr val="tx1"/>
                </a:solidFill>
                <a:effectLst/>
                <a:latin typeface="Times New Roman" pitchFamily="18" charset="0"/>
                <a:ea typeface="宋体" pitchFamily="2" charset="-122"/>
                <a:cs typeface="+mn-cs"/>
              </a:rPr>
              <a:t>的是一个非常有影响力的早期</a:t>
            </a:r>
            <a:r>
              <a:rPr kumimoji="1" lang="zh-CN" altLang="en-US" sz="1200" b="0" i="0" u="none" strike="noStrike" kern="1200" dirty="0">
                <a:solidFill>
                  <a:schemeClr val="tx1"/>
                </a:solidFill>
                <a:effectLst/>
                <a:latin typeface="Times New Roman" pitchFamily="18" charset="0"/>
                <a:ea typeface="宋体" pitchFamily="2" charset="-122"/>
                <a:cs typeface="+mn-cs"/>
                <a:hlinkClick r:id="rId3"/>
              </a:rPr>
              <a:t>分时操作系统</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err="1">
                <a:solidFill>
                  <a:schemeClr val="tx1"/>
                </a:solidFill>
                <a:effectLst/>
                <a:latin typeface="Times New Roman" pitchFamily="18" charset="0"/>
                <a:ea typeface="宋体" pitchFamily="2" charset="-122"/>
                <a:cs typeface="+mn-cs"/>
              </a:rPr>
              <a:t>Multics</a:t>
            </a:r>
            <a:r>
              <a:rPr kumimoji="1" lang="zh-CN" altLang="en-US" sz="1200" b="0" i="0" kern="1200" dirty="0">
                <a:solidFill>
                  <a:schemeClr val="tx1"/>
                </a:solidFill>
                <a:effectLst/>
                <a:latin typeface="Times New Roman" pitchFamily="18" charset="0"/>
                <a:ea typeface="宋体" pitchFamily="2" charset="-122"/>
                <a:cs typeface="+mn-cs"/>
              </a:rPr>
              <a:t>是</a:t>
            </a:r>
            <a:r>
              <a:rPr kumimoji="1" lang="en-US" altLang="zh-CN" sz="1200" b="0" i="0" kern="1200" dirty="0">
                <a:solidFill>
                  <a:schemeClr val="tx1"/>
                </a:solidFill>
                <a:effectLst/>
                <a:latin typeface="Times New Roman" pitchFamily="18" charset="0"/>
                <a:ea typeface="宋体" pitchFamily="2" charset="-122"/>
                <a:cs typeface="+mn-cs"/>
              </a:rPr>
              <a:t>1964</a:t>
            </a:r>
            <a:r>
              <a:rPr kumimoji="1" lang="zh-CN" altLang="en-US" sz="1200" b="0" i="0" kern="1200" dirty="0">
                <a:solidFill>
                  <a:schemeClr val="tx1"/>
                </a:solidFill>
                <a:effectLst/>
                <a:latin typeface="Times New Roman" pitchFamily="18" charset="0"/>
                <a:ea typeface="宋体" pitchFamily="2" charset="-122"/>
                <a:cs typeface="+mn-cs"/>
              </a:rPr>
              <a:t>年由</a:t>
            </a:r>
            <a:r>
              <a:rPr kumimoji="1" lang="zh-CN" altLang="en-US" sz="1200" b="0" i="0" u="sng" kern="1200" dirty="0">
                <a:solidFill>
                  <a:schemeClr val="tx1"/>
                </a:solidFill>
                <a:effectLst/>
                <a:latin typeface="Times New Roman" pitchFamily="18" charset="0"/>
                <a:ea typeface="宋体" pitchFamily="2" charset="-122"/>
                <a:cs typeface="+mn-cs"/>
                <a:hlinkClick r:id="rId4"/>
              </a:rPr>
              <a:t>贝尔实验</a:t>
            </a:r>
            <a:r>
              <a:rPr kumimoji="1" lang="zh-CN" altLang="en-US" sz="1200" b="0" i="0" kern="1200" dirty="0">
                <a:solidFill>
                  <a:schemeClr val="tx1"/>
                </a:solidFill>
                <a:effectLst/>
                <a:latin typeface="Times New Roman" pitchFamily="18" charset="0"/>
                <a:ea typeface="宋体" pitchFamily="2" charset="-122"/>
                <a:cs typeface="+mn-cs"/>
              </a:rPr>
              <a:t>、麻省理工学院及 美国通用电气公司所共同参与研发的，是一套安装在大型主机上多人多任务的操作系统。</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a:solidFill>
                  <a:schemeClr val="tx1"/>
                </a:solidFill>
                <a:effectLst/>
                <a:latin typeface="Times New Roman" pitchFamily="18" charset="0"/>
                <a:ea typeface="宋体" pitchFamily="2" charset="-122"/>
                <a:cs typeface="+mn-cs"/>
              </a:rPr>
              <a:t>1970</a:t>
            </a:r>
            <a:r>
              <a:rPr kumimoji="1" lang="zh-CN" altLang="en-US" sz="1200" b="0" i="0" kern="1200" dirty="0">
                <a:solidFill>
                  <a:schemeClr val="tx1"/>
                </a:solidFill>
                <a:effectLst/>
                <a:latin typeface="Times New Roman" pitchFamily="18" charset="0"/>
                <a:ea typeface="宋体" pitchFamily="2" charset="-122"/>
                <a:cs typeface="+mn-cs"/>
              </a:rPr>
              <a:t>年，霍尼韦尔公司作为一个商业化的产品提供了</a:t>
            </a:r>
            <a:r>
              <a:rPr kumimoji="1" lang="en-US" altLang="zh-CN" sz="1200" b="0" i="0" kern="1200" dirty="0" err="1">
                <a:solidFill>
                  <a:schemeClr val="tx1"/>
                </a:solidFill>
                <a:effectLst/>
                <a:latin typeface="Times New Roman" pitchFamily="18" charset="0"/>
                <a:ea typeface="宋体" pitchFamily="2" charset="-122"/>
                <a:cs typeface="+mn-cs"/>
              </a:rPr>
              <a:t>Multics</a:t>
            </a:r>
            <a:r>
              <a:rPr kumimoji="1" lang="zh-CN" altLang="en-US" sz="1200" b="0" i="0" kern="1200" dirty="0">
                <a:solidFill>
                  <a:schemeClr val="tx1"/>
                </a:solidFill>
                <a:effectLst/>
                <a:latin typeface="Times New Roman" pitchFamily="18" charset="0"/>
                <a:ea typeface="宋体" pitchFamily="2" charset="-122"/>
                <a:cs typeface="+mn-cs"/>
              </a:rPr>
              <a:t>系统，并远销几十个国家</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en-US" altLang="zh-CN" sz="1200" b="0" i="0" kern="1200" dirty="0" err="1">
                <a:solidFill>
                  <a:schemeClr val="tx1"/>
                </a:solidFill>
                <a:effectLst/>
                <a:latin typeface="Times New Roman" pitchFamily="18" charset="0"/>
                <a:ea typeface="宋体" pitchFamily="2" charset="-122"/>
                <a:cs typeface="+mn-cs"/>
              </a:rPr>
              <a:t>Multics</a:t>
            </a:r>
            <a:r>
              <a:rPr kumimoji="1" lang="zh-CN" altLang="en-US" sz="1200" b="0" i="0" kern="1200" dirty="0">
                <a:solidFill>
                  <a:schemeClr val="tx1"/>
                </a:solidFill>
                <a:effectLst/>
                <a:latin typeface="Times New Roman" pitchFamily="18" charset="0"/>
                <a:ea typeface="宋体" pitchFamily="2" charset="-122"/>
                <a:cs typeface="+mn-cs"/>
              </a:rPr>
              <a:t>被认为是现代操作系统的基础，</a:t>
            </a:r>
            <a:r>
              <a:rPr kumimoji="1" lang="en-US" altLang="zh-CN" sz="1200" b="0" i="0" kern="1200" dirty="0" err="1">
                <a:solidFill>
                  <a:schemeClr val="tx1"/>
                </a:solidFill>
                <a:effectLst/>
                <a:latin typeface="Times New Roman" pitchFamily="18" charset="0"/>
                <a:ea typeface="宋体" pitchFamily="2" charset="-122"/>
                <a:cs typeface="+mn-cs"/>
              </a:rPr>
              <a:t>Multics</a:t>
            </a:r>
            <a:r>
              <a:rPr kumimoji="1" lang="zh-CN" altLang="en-US" sz="1200" b="0" i="0" kern="1200" dirty="0">
                <a:solidFill>
                  <a:schemeClr val="tx1"/>
                </a:solidFill>
                <a:effectLst/>
                <a:latin typeface="Times New Roman" pitchFamily="18" charset="0"/>
                <a:ea typeface="宋体" pitchFamily="2" charset="-122"/>
                <a:cs typeface="+mn-cs"/>
              </a:rPr>
              <a:t>是加快</a:t>
            </a:r>
            <a:r>
              <a:rPr kumimoji="1" lang="en-US" altLang="zh-CN" sz="1200" b="0" i="0" kern="1200" dirty="0">
                <a:solidFill>
                  <a:schemeClr val="tx1"/>
                </a:solidFill>
                <a:effectLst/>
                <a:latin typeface="Times New Roman" pitchFamily="18" charset="0"/>
                <a:ea typeface="宋体" pitchFamily="2" charset="-122"/>
                <a:cs typeface="+mn-cs"/>
              </a:rPr>
              <a:t>Unix</a:t>
            </a:r>
            <a:r>
              <a:rPr kumimoji="1" lang="zh-CN" altLang="en-US" sz="1200" b="0" i="0" kern="1200" dirty="0">
                <a:solidFill>
                  <a:schemeClr val="tx1"/>
                </a:solidFill>
                <a:effectLst/>
                <a:latin typeface="Times New Roman" pitchFamily="18" charset="0"/>
                <a:ea typeface="宋体" pitchFamily="2" charset="-122"/>
                <a:cs typeface="+mn-cs"/>
              </a:rPr>
              <a:t>发展的催化剂，在它</a:t>
            </a:r>
            <a:r>
              <a:rPr kumimoji="1" lang="en-US" altLang="zh-CN" sz="1200" b="0" i="0" kern="1200" dirty="0">
                <a:solidFill>
                  <a:schemeClr val="tx1"/>
                </a:solidFill>
                <a:effectLst/>
                <a:latin typeface="Times New Roman" pitchFamily="18" charset="0"/>
                <a:ea typeface="宋体" pitchFamily="2" charset="-122"/>
                <a:cs typeface="+mn-cs"/>
              </a:rPr>
              <a:t>40</a:t>
            </a:r>
            <a:r>
              <a:rPr kumimoji="1" lang="zh-CN" altLang="en-US" sz="1200" b="0" i="0" kern="1200" dirty="0">
                <a:solidFill>
                  <a:schemeClr val="tx1"/>
                </a:solidFill>
                <a:effectLst/>
                <a:latin typeface="Times New Roman" pitchFamily="18" charset="0"/>
                <a:ea typeface="宋体" pitchFamily="2" charset="-122"/>
                <a:cs typeface="+mn-cs"/>
              </a:rPr>
              <a:t>年前发布后，已作为现代操作系统设计的模型。</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目前的大、中型计算机系统来说，算是最通用、最灵活的一种方案。</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95</a:t>
            </a:fld>
            <a:endParaRPr lang="en-US" altLang="zh-CN"/>
          </a:p>
        </p:txBody>
      </p:sp>
    </p:spTree>
    <p:extLst>
      <p:ext uri="{BB962C8B-B14F-4D97-AF65-F5344CB8AC3E}">
        <p14:creationId xmlns:p14="http://schemas.microsoft.com/office/powerpoint/2010/main" val="41133127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en-US" sz="1200" dirty="0" err="1">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对用户来讲，按段的逻辑关系进行划分；对系统讲，按页划分每一段</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96</a:t>
            </a:fld>
            <a:endParaRPr lang="en-US" altLang="zh-CN"/>
          </a:p>
        </p:txBody>
      </p:sp>
    </p:spTree>
    <p:extLst>
      <p:ext uri="{BB962C8B-B14F-4D97-AF65-F5344CB8AC3E}">
        <p14:creationId xmlns:p14="http://schemas.microsoft.com/office/powerpoint/2010/main" val="2056979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97</a:t>
            </a:fld>
            <a:endParaRPr lang="en-US" altLang="zh-CN"/>
          </a:p>
        </p:txBody>
      </p:sp>
    </p:spTree>
    <p:extLst>
      <p:ext uri="{BB962C8B-B14F-4D97-AF65-F5344CB8AC3E}">
        <p14:creationId xmlns:p14="http://schemas.microsoft.com/office/powerpoint/2010/main" val="28490826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98</a:t>
            </a:fld>
            <a:endParaRPr lang="en-US" altLang="zh-CN"/>
          </a:p>
        </p:txBody>
      </p:sp>
    </p:spTree>
    <p:extLst>
      <p:ext uri="{BB962C8B-B14F-4D97-AF65-F5344CB8AC3E}">
        <p14:creationId xmlns:p14="http://schemas.microsoft.com/office/powerpoint/2010/main" val="2562472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2024/11/20</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2024/11/20</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2024/11/20</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2024/11/20</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2024/11/20</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2024/11/20</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2024/11/20</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2024/11/20</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2024/11/20</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2024/11/20</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2024/11/20</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2024/11/20</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2024/11/20</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304800"/>
            <a:ext cx="7772400" cy="1206500"/>
          </a:xfrm>
        </p:spPr>
        <p:txBody>
          <a:bodyPr/>
          <a:lstStyle/>
          <a:p>
            <a:r>
              <a:rPr lang="zh-CN" altLang="en-US"/>
              <a:t>单击此处编辑母版标题样式</a:t>
            </a:r>
          </a:p>
        </p:txBody>
      </p:sp>
      <p:sp>
        <p:nvSpPr>
          <p:cNvPr id="3" name="文本占位符 2"/>
          <p:cNvSpPr>
            <a:spLocks noGrp="1"/>
          </p:cNvSpPr>
          <p:nvPr>
            <p:ph type="body" sz="half" idx="1"/>
          </p:nvPr>
        </p:nvSpPr>
        <p:spPr>
          <a:xfrm>
            <a:off x="1219200" y="1600200"/>
            <a:ext cx="38100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81600" y="1600200"/>
            <a:ext cx="38100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81600" y="3924300"/>
            <a:ext cx="38100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7DC42AE1-FC64-4EF9-A7D1-B1E1B0D9BF97}" type="slidenum">
              <a:rPr lang="en-US" altLang="zh-CN"/>
              <a:pPr>
                <a:defRPr/>
              </a:pPr>
              <a:t>‹#›</a:t>
            </a:fld>
            <a:endParaRPr lang="en-US" altLang="zh-CN"/>
          </a:p>
        </p:txBody>
      </p:sp>
    </p:spTree>
    <p:extLst>
      <p:ext uri="{BB962C8B-B14F-4D97-AF65-F5344CB8AC3E}">
        <p14:creationId xmlns:p14="http://schemas.microsoft.com/office/powerpoint/2010/main" val="27944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2024/11/20</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 id="2147484118" r:id="rId14"/>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7" Type="http://schemas.openxmlformats.org/officeDocument/2006/relationships/slide" Target="slide9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41.xml"/><Relationship Id="rId4" Type="http://schemas.openxmlformats.org/officeDocument/2006/relationships/slide" Target="slide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 Target="slide83.xml"/><Relationship Id="rId7" Type="http://schemas.openxmlformats.org/officeDocument/2006/relationships/slide" Target="slide1.xml"/><Relationship Id="rId2" Type="http://schemas.openxmlformats.org/officeDocument/2006/relationships/slide" Target="slide69.xml"/><Relationship Id="rId1" Type="http://schemas.openxmlformats.org/officeDocument/2006/relationships/slideLayout" Target="../slideLayouts/slideLayout7.xml"/><Relationship Id="rId6" Type="http://schemas.openxmlformats.org/officeDocument/2006/relationships/slide" Target="slide15.xml"/><Relationship Id="rId5" Type="http://schemas.openxmlformats.org/officeDocument/2006/relationships/slide" Target="slide92.xml"/><Relationship Id="rId4" Type="http://schemas.openxmlformats.org/officeDocument/2006/relationships/slide" Target="slide5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1.emf"/></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8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DF475825-8149-4993-8459-4FBACFB6926E}"/>
              </a:ext>
            </a:extLst>
          </p:cNvPr>
          <p:cNvSpPr>
            <a:spLocks noGrp="1"/>
          </p:cNvSpPr>
          <p:nvPr>
            <p:ph type="title"/>
          </p:nvPr>
        </p:nvSpPr>
        <p:spPr>
          <a:xfrm>
            <a:off x="554528" y="42900"/>
            <a:ext cx="8001000" cy="1027400"/>
          </a:xfrm>
        </p:spPr>
        <p:txBody>
          <a:bodyPr/>
          <a:lstStyle/>
          <a:p>
            <a:pPr algn="ctr" eaLnBrk="0" fontAlgn="base" hangingPunct="0">
              <a:spcAft>
                <a:spcPct val="0"/>
              </a:spcAft>
              <a:defRPr/>
            </a:pPr>
            <a:r>
              <a:rPr kumimoji="1" lang="zh-CN" altLang="en-US" sz="4800" b="1" dirty="0">
                <a:solidFill>
                  <a:srgbClr val="C00000"/>
                </a:solidFill>
                <a:effectLst>
                  <a:outerShdw blurRad="38100" dist="38100" dir="2700000" algn="tl">
                    <a:srgbClr val="000000"/>
                  </a:outerShdw>
                </a:effectLst>
                <a:ea typeface="楷体_GB2312" pitchFamily="49" charset="-122"/>
                <a:cs typeface="+mn-cs"/>
              </a:rPr>
              <a:t>第 </a:t>
            </a:r>
            <a:r>
              <a:rPr kumimoji="1" lang="en-US" altLang="zh-CN" sz="4800" b="1" dirty="0">
                <a:solidFill>
                  <a:srgbClr val="C00000"/>
                </a:solidFill>
                <a:effectLst>
                  <a:outerShdw blurRad="38100" dist="38100" dir="2700000" algn="tl">
                    <a:srgbClr val="000000"/>
                  </a:outerShdw>
                </a:effectLst>
                <a:ea typeface="楷体_GB2312" pitchFamily="49" charset="-122"/>
                <a:cs typeface="+mn-cs"/>
              </a:rPr>
              <a:t>7 </a:t>
            </a:r>
            <a:r>
              <a:rPr kumimoji="1" lang="zh-CN" altLang="en-US" sz="4800" b="1" dirty="0">
                <a:solidFill>
                  <a:srgbClr val="C00000"/>
                </a:solidFill>
                <a:effectLst>
                  <a:outerShdw blurRad="38100" dist="38100" dir="2700000" algn="tl">
                    <a:srgbClr val="000000"/>
                  </a:outerShdw>
                </a:effectLst>
                <a:ea typeface="楷体_GB2312" pitchFamily="49" charset="-122"/>
                <a:cs typeface="+mn-cs"/>
              </a:rPr>
              <a:t>章  内  存</a:t>
            </a:r>
          </a:p>
        </p:txBody>
      </p:sp>
      <p:sp>
        <p:nvSpPr>
          <p:cNvPr id="2" name="矩形 1">
            <a:extLst>
              <a:ext uri="{FF2B5EF4-FFF2-40B4-BE49-F238E27FC236}">
                <a16:creationId xmlns:a16="http://schemas.microsoft.com/office/drawing/2014/main" id="{006F2389-9443-49AA-9593-876FA3512032}"/>
              </a:ext>
            </a:extLst>
          </p:cNvPr>
          <p:cNvSpPr/>
          <p:nvPr/>
        </p:nvSpPr>
        <p:spPr>
          <a:xfrm>
            <a:off x="2411760" y="980808"/>
            <a:ext cx="2752677" cy="830997"/>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7.1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背   景  </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3" name="矩形 2">
            <a:hlinkClick r:id="rId3" action="ppaction://hlinksldjump"/>
            <a:extLst>
              <a:ext uri="{FF2B5EF4-FFF2-40B4-BE49-F238E27FC236}">
                <a16:creationId xmlns:a16="http://schemas.microsoft.com/office/drawing/2014/main" id="{3A1E538E-4FC1-495B-B8E8-C9E5758C6680}"/>
              </a:ext>
            </a:extLst>
          </p:cNvPr>
          <p:cNvSpPr/>
          <p:nvPr/>
        </p:nvSpPr>
        <p:spPr>
          <a:xfrm>
            <a:off x="2411760" y="1700808"/>
            <a:ext cx="6300192" cy="830997"/>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内外存数据传输</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hlinkClick r:id="rId4" action="ppaction://hlinksldjump"/>
            <a:extLst>
              <a:ext uri="{FF2B5EF4-FFF2-40B4-BE49-F238E27FC236}">
                <a16:creationId xmlns:a16="http://schemas.microsoft.com/office/drawing/2014/main" id="{3B13801B-E251-4A49-8E4D-FF454E8ED73E}"/>
              </a:ext>
            </a:extLst>
          </p:cNvPr>
          <p:cNvSpPr/>
          <p:nvPr/>
        </p:nvSpPr>
        <p:spPr>
          <a:xfrm>
            <a:off x="2411760" y="2420808"/>
            <a:ext cx="4801314"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7.3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连 续 内 存 分 配</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9" name="矩形 8">
            <a:hlinkClick r:id="rId5" action="ppaction://hlinksldjump"/>
            <a:extLst>
              <a:ext uri="{FF2B5EF4-FFF2-40B4-BE49-F238E27FC236}">
                <a16:creationId xmlns:a16="http://schemas.microsoft.com/office/drawing/2014/main" id="{CAB53D24-D1A8-4642-9C5A-5632175D6ADF}"/>
              </a:ext>
            </a:extLst>
          </p:cNvPr>
          <p:cNvSpPr/>
          <p:nvPr/>
        </p:nvSpPr>
        <p:spPr>
          <a:xfrm>
            <a:off x="2411760" y="3140808"/>
            <a:ext cx="3849937"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7.4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分 段</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矩形 9">
            <a:hlinkClick r:id="rId6" action="ppaction://hlinksldjump"/>
            <a:extLst>
              <a:ext uri="{FF2B5EF4-FFF2-40B4-BE49-F238E27FC236}">
                <a16:creationId xmlns:a16="http://schemas.microsoft.com/office/drawing/2014/main" id="{B492DFE0-8D9F-4CA3-AFFE-2F5918279158}"/>
              </a:ext>
            </a:extLst>
          </p:cNvPr>
          <p:cNvSpPr/>
          <p:nvPr/>
        </p:nvSpPr>
        <p:spPr>
          <a:xfrm>
            <a:off x="2411760" y="3860808"/>
            <a:ext cx="2236510"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7.5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分 页</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2" name="矩形 11">
            <a:hlinkClick r:id="rId7" action="ppaction://hlinksldjump"/>
            <a:extLst>
              <a:ext uri="{FF2B5EF4-FFF2-40B4-BE49-F238E27FC236}">
                <a16:creationId xmlns:a16="http://schemas.microsoft.com/office/drawing/2014/main" id="{C6B9A1E3-7AAF-497A-A13B-F27BC3BA71B8}"/>
              </a:ext>
            </a:extLst>
          </p:cNvPr>
          <p:cNvSpPr/>
          <p:nvPr/>
        </p:nvSpPr>
        <p:spPr>
          <a:xfrm>
            <a:off x="2412000" y="4580808"/>
            <a:ext cx="4608272"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7.6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段页式管理</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3"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538717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3479D63-3866-4115-B92E-A2DD667D072F}"/>
              </a:ext>
            </a:extLst>
          </p:cNvPr>
          <p:cNvSpPr/>
          <p:nvPr/>
        </p:nvSpPr>
        <p:spPr>
          <a:xfrm>
            <a:off x="3442385" y="-36807"/>
            <a:ext cx="2582758"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7.1</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 背   景</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7" name="Rectangle 1027">
            <a:extLst>
              <a:ext uri="{FF2B5EF4-FFF2-40B4-BE49-F238E27FC236}">
                <a16:creationId xmlns:a16="http://schemas.microsoft.com/office/drawing/2014/main" id="{FA6523ED-22DE-41C8-976B-2E8C9F964FC9}"/>
              </a:ext>
            </a:extLst>
          </p:cNvPr>
          <p:cNvSpPr txBox="1">
            <a:spLocks noChangeArrowheads="1"/>
          </p:cNvSpPr>
          <p:nvPr/>
        </p:nvSpPr>
        <p:spPr bwMode="auto">
          <a:xfrm>
            <a:off x="306772" y="980728"/>
            <a:ext cx="8820472" cy="5184576"/>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程序被执行：创建进程、装入内存</a:t>
            </a:r>
            <a:endParaRPr lang="en-US" altLang="zh-CN" sz="3600" dirty="0">
              <a:solidFill>
                <a:schemeClr val="bg1"/>
              </a:solidFill>
              <a:latin typeface="+mj-lt"/>
              <a:ea typeface="楷体" panose="02010609060101010101" pitchFamily="49" charset="-122"/>
            </a:endParaRPr>
          </a:p>
          <a:p>
            <a:pPr marL="355600" lvl="2" indent="-355600" defTabSz="355600">
              <a:spcBef>
                <a:spcPct val="0"/>
              </a:spcBef>
              <a:buClr>
                <a:schemeClr val="bg1">
                  <a:lumMod val="75000"/>
                </a:schemeClr>
              </a:buClr>
              <a:buSzPct val="100000"/>
              <a:buFont typeface="Wingdings" panose="05000000000000000000" pitchFamily="2" charset="2"/>
              <a:buChar char="n"/>
              <a:defRPr/>
            </a:pPr>
            <a:r>
              <a:rPr lang="en-US" altLang="en-US" sz="3600" dirty="0">
                <a:solidFill>
                  <a:schemeClr val="bg1"/>
                </a:solidFill>
                <a:latin typeface="+mj-lt"/>
                <a:ea typeface="楷体" panose="02010609060101010101" pitchFamily="49" charset="-122"/>
              </a:rPr>
              <a:t>CPU</a:t>
            </a:r>
            <a:r>
              <a:rPr lang="zh-CN" altLang="en-US" sz="3600" dirty="0">
                <a:solidFill>
                  <a:schemeClr val="bg1"/>
                </a:solidFill>
                <a:latin typeface="+mj-lt"/>
                <a:ea typeface="楷体" panose="02010609060101010101" pitchFamily="49" charset="-122"/>
              </a:rPr>
              <a:t>直接访问的存储：内存、寄存器</a:t>
            </a:r>
            <a:endParaRPr lang="en-US" altLang="en-US" sz="3600" dirty="0">
              <a:solidFill>
                <a:schemeClr val="bg1"/>
              </a:solidFill>
              <a:latin typeface="+mj-lt"/>
              <a:ea typeface="楷体" panose="02010609060101010101" pitchFamily="49" charset="-122"/>
            </a:endParaRPr>
          </a:p>
          <a:p>
            <a:pPr marL="355600" lvl="2" indent="-355600" defTabSz="355600">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寄存器访问在一个时钟周期内完成</a:t>
            </a:r>
            <a:endParaRPr lang="en-US" altLang="en-US" sz="3600" dirty="0">
              <a:solidFill>
                <a:schemeClr val="bg1"/>
              </a:solidFill>
              <a:latin typeface="+mj-lt"/>
              <a:ea typeface="楷体" panose="02010609060101010101" pitchFamily="49" charset="-122"/>
            </a:endParaRPr>
          </a:p>
          <a:p>
            <a:pPr marL="355600" lvl="2" indent="-355600" defTabSz="355600">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主存的访问需要多个时钟周期</a:t>
            </a:r>
            <a:endParaRPr lang="en-US" altLang="zh-CN" sz="3600" dirty="0">
              <a:solidFill>
                <a:schemeClr val="bg1"/>
              </a:solidFill>
              <a:latin typeface="+mj-lt"/>
              <a:ea typeface="楷体" panose="02010609060101010101" pitchFamily="49" charset="-122"/>
            </a:endParaRPr>
          </a:p>
          <a:p>
            <a:pPr marL="812800" lvl="3" indent="-355600" defTabSz="355600">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正在执行的指令没有数据，</a:t>
            </a:r>
            <a:r>
              <a:rPr lang="en-US" altLang="zh-CN" sz="3200" dirty="0">
                <a:solidFill>
                  <a:schemeClr val="bg2"/>
                </a:solidFill>
                <a:latin typeface="+mj-lt"/>
                <a:ea typeface="楷体" panose="02010609060101010101" pitchFamily="49" charset="-122"/>
              </a:rPr>
              <a:t>CPU</a:t>
            </a:r>
            <a:r>
              <a:rPr lang="zh-CN" altLang="en-US" sz="3200" dirty="0">
                <a:solidFill>
                  <a:schemeClr val="bg2"/>
                </a:solidFill>
                <a:latin typeface="+mj-lt"/>
                <a:ea typeface="楷体" panose="02010609060101010101" pitchFamily="49" charset="-122"/>
              </a:rPr>
              <a:t>暂停</a:t>
            </a:r>
            <a:endParaRPr lang="en-US" altLang="en-US" sz="3200" dirty="0">
              <a:solidFill>
                <a:schemeClr val="bg2"/>
              </a:solidFill>
              <a:latin typeface="+mj-lt"/>
              <a:ea typeface="楷体" panose="02010609060101010101" pitchFamily="49" charset="-122"/>
            </a:endParaRPr>
          </a:p>
          <a:p>
            <a:pPr marL="812800" lvl="3" indent="-355600" defTabSz="355600">
              <a:spcBef>
                <a:spcPct val="0"/>
              </a:spcBef>
              <a:buClr>
                <a:schemeClr val="bg2"/>
              </a:buClr>
              <a:buSzPct val="80000"/>
              <a:buFont typeface="Wingdings" panose="05000000000000000000" pitchFamily="2" charset="2"/>
              <a:buChar char="n"/>
              <a:defRPr/>
            </a:pPr>
            <a:r>
              <a:rPr lang="en-US" altLang="zh-CN" sz="3200" dirty="0">
                <a:solidFill>
                  <a:schemeClr val="bg2"/>
                </a:solidFill>
                <a:latin typeface="+mj-lt"/>
                <a:ea typeface="楷体" panose="02010609060101010101" pitchFamily="49" charset="-122"/>
              </a:rPr>
              <a:t>CPU</a:t>
            </a:r>
            <a:r>
              <a:rPr lang="zh-CN" altLang="en-US" sz="3200" dirty="0">
                <a:solidFill>
                  <a:schemeClr val="bg2"/>
                </a:solidFill>
                <a:latin typeface="+mj-lt"/>
                <a:ea typeface="楷体" panose="02010609060101010101" pitchFamily="49" charset="-122"/>
              </a:rPr>
              <a:t>芯片上，增加</a:t>
            </a:r>
            <a:r>
              <a:rPr lang="en-US" altLang="zh-CN" sz="3200" dirty="0">
                <a:solidFill>
                  <a:schemeClr val="bg2"/>
                </a:solidFill>
                <a:latin typeface="+mj-lt"/>
                <a:ea typeface="楷体" panose="02010609060101010101" pitchFamily="49" charset="-122"/>
              </a:rPr>
              <a:t>CPU</a:t>
            </a:r>
            <a:r>
              <a:rPr lang="zh-CN" altLang="en-US" sz="3200" dirty="0">
                <a:solidFill>
                  <a:schemeClr val="bg2"/>
                </a:solidFill>
                <a:latin typeface="+mj-lt"/>
                <a:ea typeface="楷体" panose="02010609060101010101" pitchFamily="49" charset="-122"/>
              </a:rPr>
              <a:t>和内存之间的高速缓存（</a:t>
            </a:r>
            <a:r>
              <a:rPr lang="en-US" altLang="en-US" sz="3200" dirty="0">
                <a:solidFill>
                  <a:schemeClr val="bg2"/>
                </a:solidFill>
                <a:latin typeface="+mj-lt"/>
                <a:ea typeface="楷体" panose="02010609060101010101" pitchFamily="49" charset="-122"/>
              </a:rPr>
              <a:t>Cache</a:t>
            </a:r>
            <a:r>
              <a:rPr lang="zh-CN" altLang="en-US" sz="3200" dirty="0">
                <a:solidFill>
                  <a:schemeClr val="bg2"/>
                </a:solidFill>
                <a:latin typeface="+mj-lt"/>
                <a:ea typeface="楷体" panose="02010609060101010101" pitchFamily="49" charset="-122"/>
              </a:rPr>
              <a:t>），无需</a:t>
            </a:r>
            <a:r>
              <a:rPr lang="en-US" altLang="zh-CN" sz="3200" dirty="0">
                <a:solidFill>
                  <a:schemeClr val="bg2"/>
                </a:solidFill>
                <a:latin typeface="+mj-lt"/>
                <a:ea typeface="楷体" panose="02010609060101010101" pitchFamily="49" charset="-122"/>
              </a:rPr>
              <a:t>OS</a:t>
            </a:r>
            <a:r>
              <a:rPr lang="zh-CN" altLang="en-US" sz="3200" dirty="0">
                <a:solidFill>
                  <a:schemeClr val="bg2"/>
                </a:solidFill>
                <a:latin typeface="+mj-lt"/>
                <a:ea typeface="楷体" panose="02010609060101010101" pitchFamily="49" charset="-122"/>
              </a:rPr>
              <a:t>控制</a:t>
            </a:r>
            <a:endParaRPr lang="en-US" altLang="en-US" b="1" kern="0" dirty="0"/>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4971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1000"/>
                                        <p:tgtEl>
                                          <p:spTgt spid="7">
                                            <p:txEl>
                                              <p:pRg st="4" end="4"/>
                                            </p:txEl>
                                          </p:spTgt>
                                        </p:tgtEl>
                                      </p:cBhvr>
                                    </p:animEffect>
                                    <p:anim calcmode="lin" valueType="num">
                                      <p:cBhvr>
                                        <p:cTn id="2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1000"/>
                                        <p:tgtEl>
                                          <p:spTgt spid="7">
                                            <p:txEl>
                                              <p:pRg st="5" end="5"/>
                                            </p:txEl>
                                          </p:spTgt>
                                        </p:tgtEl>
                                      </p:cBhvr>
                                    </p:animEffect>
                                    <p:anim calcmode="lin" valueType="num">
                                      <p:cBhvr>
                                        <p:cTn id="2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2" presetClass="entr" presetSubtype="6"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1+#ppt_w/2"/>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as668\Desktop\1_04.jpg">
            <a:extLst>
              <a:ext uri="{FF2B5EF4-FFF2-40B4-BE49-F238E27FC236}">
                <a16:creationId xmlns:a16="http://schemas.microsoft.com/office/drawing/2014/main" id="{91F02370-0EE3-4C18-A766-31B46F2F6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908720"/>
            <a:ext cx="5160556" cy="429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0992A92D-3FED-4562-800D-651BF39FB349}"/>
              </a:ext>
            </a:extLst>
          </p:cNvPr>
          <p:cNvSpPr txBox="1"/>
          <p:nvPr/>
        </p:nvSpPr>
        <p:spPr>
          <a:xfrm>
            <a:off x="2117181" y="5359403"/>
            <a:ext cx="4635326" cy="400110"/>
          </a:xfrm>
          <a:prstGeom prst="rect">
            <a:avLst/>
          </a:prstGeom>
          <a:noFill/>
        </p:spPr>
        <p:txBody>
          <a:bodyPr wrap="square" rtlCol="0">
            <a:spAutoFit/>
          </a:bodyPr>
          <a:lstStyle/>
          <a:p>
            <a:pPr algn="ctr"/>
            <a:r>
              <a:rPr lang="zh-CN" altLang="en-US" sz="2000" b="1" dirty="0">
                <a:solidFill>
                  <a:schemeClr val="bg2"/>
                </a:solidFill>
              </a:rPr>
              <a:t>图 </a:t>
            </a:r>
            <a:r>
              <a:rPr lang="en-US" altLang="zh-CN" sz="2000" b="1" dirty="0">
                <a:solidFill>
                  <a:schemeClr val="bg2"/>
                </a:solidFill>
              </a:rPr>
              <a:t>1-4 </a:t>
            </a:r>
            <a:r>
              <a:rPr lang="zh-CN" altLang="en-US" sz="2000" b="1" dirty="0">
                <a:solidFill>
                  <a:schemeClr val="bg2"/>
                </a:solidFill>
              </a:rPr>
              <a:t>存储设备的层次</a:t>
            </a:r>
          </a:p>
        </p:txBody>
      </p:sp>
      <p:sp>
        <p:nvSpPr>
          <p:cNvPr id="7" name="Rectangle 2">
            <a:extLst>
              <a:ext uri="{FF2B5EF4-FFF2-40B4-BE49-F238E27FC236}">
                <a16:creationId xmlns:a16="http://schemas.microsoft.com/office/drawing/2014/main" id="{8F9889A8-F2EB-4B31-B223-FD38D0633006}"/>
              </a:ext>
            </a:extLst>
          </p:cNvPr>
          <p:cNvSpPr txBox="1">
            <a:spLocks noChangeArrowheads="1"/>
          </p:cNvSpPr>
          <p:nvPr/>
        </p:nvSpPr>
        <p:spPr>
          <a:xfrm>
            <a:off x="1433414" y="136864"/>
            <a:ext cx="6251674" cy="4628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eaLnBrk="0" fontAlgn="base" hangingPunct="0">
              <a:lnSpc>
                <a:spcPct val="110000"/>
              </a:lnSpc>
              <a:spcBef>
                <a:spcPct val="20000"/>
              </a:spcBef>
              <a:spcAft>
                <a:spcPct val="0"/>
              </a:spcAft>
              <a:buClr>
                <a:schemeClr val="folHlink"/>
              </a:buClr>
              <a:buSzPct val="75000"/>
              <a:defRPr/>
            </a:pPr>
            <a:r>
              <a:rPr kumimoji="1" lang="zh-CN" altLang="en-US" sz="4000" b="1" dirty="0">
                <a:solidFill>
                  <a:srgbClr val="006699"/>
                </a:solidFill>
                <a:effectLst>
                  <a:outerShdw blurRad="38100" dist="38100" dir="2700000" algn="tl">
                    <a:srgbClr val="000000">
                      <a:alpha val="43137"/>
                    </a:srgbClr>
                  </a:outerShdw>
                </a:effectLst>
                <a:ea typeface="MS PGothic" pitchFamily="34" charset="-128"/>
              </a:rPr>
              <a:t>存储设备的层次</a:t>
            </a:r>
            <a:endParaRPr kumimoji="1" lang="en-US" altLang="zh-CN" sz="4000" b="1" dirty="0">
              <a:solidFill>
                <a:srgbClr val="006699"/>
              </a:solidFill>
              <a:effectLst>
                <a:outerShdw blurRad="38100" dist="38100" dir="2700000" algn="tl">
                  <a:srgbClr val="000000">
                    <a:alpha val="43137"/>
                  </a:srgbClr>
                </a:outerShdw>
              </a:effectLst>
              <a:ea typeface="MS PGothic" pitchFamily="34" charset="-128"/>
            </a:endParaRPr>
          </a:p>
        </p:txBody>
      </p:sp>
      <p:sp>
        <p:nvSpPr>
          <p:cNvPr id="8" name="矩形 7"/>
          <p:cNvSpPr/>
          <p:nvPr/>
        </p:nvSpPr>
        <p:spPr>
          <a:xfrm>
            <a:off x="467544" y="5881742"/>
            <a:ext cx="8523488" cy="646331"/>
          </a:xfrm>
          <a:prstGeom prst="rect">
            <a:avLst/>
          </a:prstGeom>
          <a:solidFill>
            <a:srgbClr val="FFFF00"/>
          </a:solidFill>
        </p:spPr>
        <p:txBody>
          <a:bodyPr wrap="none">
            <a:spAutoFit/>
          </a:bodyPr>
          <a:lstStyle/>
          <a:p>
            <a:pPr algn="ctr"/>
            <a:r>
              <a:rPr lang="zh-CN" altLang="en-US" sz="3600" b="1" dirty="0">
                <a:solidFill>
                  <a:schemeClr val="bg2"/>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层次结构成功的关键：低层访问频率递减</a:t>
            </a:r>
            <a:endParaRPr lang="en-US" altLang="zh-CN" sz="3600" b="1" dirty="0">
              <a:solidFill>
                <a:schemeClr val="bg2"/>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94800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8F6B8A9-42F3-4637-88F7-47868846A545}"/>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3" name="灯片编号占位符 2">
            <a:extLst>
              <a:ext uri="{FF2B5EF4-FFF2-40B4-BE49-F238E27FC236}">
                <a16:creationId xmlns:a16="http://schemas.microsoft.com/office/drawing/2014/main" id="{5D47F9C3-E580-4330-8740-C50EA981E38D}"/>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a:t>
            </a:fld>
            <a:r>
              <a:rPr lang="zh-CN" altLang="en-US"/>
              <a:t> 页</a:t>
            </a:r>
          </a:p>
        </p:txBody>
      </p:sp>
      <p:sp>
        <p:nvSpPr>
          <p:cNvPr id="5" name="Text Box 4">
            <a:extLst>
              <a:ext uri="{FF2B5EF4-FFF2-40B4-BE49-F238E27FC236}">
                <a16:creationId xmlns:a16="http://schemas.microsoft.com/office/drawing/2014/main" id="{19A6F77D-A82D-4A39-9A32-AFA66154969E}"/>
              </a:ext>
            </a:extLst>
          </p:cNvPr>
          <p:cNvSpPr txBox="1">
            <a:spLocks noChangeArrowheads="1"/>
          </p:cNvSpPr>
          <p:nvPr/>
        </p:nvSpPr>
        <p:spPr bwMode="auto">
          <a:xfrm>
            <a:off x="2051720" y="2254500"/>
            <a:ext cx="55446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indent="0" eaLnBrk="1" hangingPunct="1">
              <a:spcBef>
                <a:spcPct val="0"/>
              </a:spcBef>
              <a:buClrTx/>
              <a:buSzTx/>
              <a:buNone/>
              <a:defRPr/>
            </a:pPr>
            <a:r>
              <a:rPr lang="zh-CN" altLang="en-US" sz="4000" dirty="0">
                <a:solidFill>
                  <a:srgbClr val="B2622C"/>
                </a:solidFill>
                <a:effectLst>
                  <a:outerShdw blurRad="38100" dist="38100" dir="2700000" algn="tl">
                    <a:srgbClr val="000000"/>
                  </a:outerShdw>
                </a:effectLst>
                <a:ea typeface="楷体_GB2312" pitchFamily="49" charset="-122"/>
                <a:cs typeface="+mj-cs"/>
              </a:rPr>
              <a:t> </a:t>
            </a:r>
            <a:r>
              <a:rPr lang="en-US" altLang="zh-CN" sz="4000" dirty="0">
                <a:solidFill>
                  <a:srgbClr val="B2622C"/>
                </a:solidFill>
                <a:effectLst>
                  <a:outerShdw blurRad="38100" dist="38100" dir="2700000" algn="tl">
                    <a:srgbClr val="000000"/>
                  </a:outerShdw>
                </a:effectLst>
                <a:ea typeface="楷体_GB2312" pitchFamily="49" charset="-122"/>
              </a:rPr>
              <a:t>7.1.2 </a:t>
            </a:r>
            <a:r>
              <a:rPr lang="zh-CN" altLang="en-US" sz="4000" dirty="0">
                <a:solidFill>
                  <a:srgbClr val="B2622C"/>
                </a:solidFill>
                <a:effectLst>
                  <a:outerShdw blurRad="38100" dist="38100" dir="2700000" algn="tl">
                    <a:srgbClr val="000000"/>
                  </a:outerShdw>
                </a:effectLst>
                <a:ea typeface="楷体_GB2312" pitchFamily="49" charset="-122"/>
              </a:rPr>
              <a:t>存储器管理方式</a:t>
            </a:r>
          </a:p>
        </p:txBody>
      </p:sp>
      <p:sp>
        <p:nvSpPr>
          <p:cNvPr id="6" name="矩形 5">
            <a:extLst>
              <a:ext uri="{FF2B5EF4-FFF2-40B4-BE49-F238E27FC236}">
                <a16:creationId xmlns:a16="http://schemas.microsoft.com/office/drawing/2014/main" id="{B3983A9D-13B1-4B73-994A-B3855FF63B88}"/>
              </a:ext>
            </a:extLst>
          </p:cNvPr>
          <p:cNvSpPr/>
          <p:nvPr/>
        </p:nvSpPr>
        <p:spPr>
          <a:xfrm>
            <a:off x="2160000" y="1080000"/>
            <a:ext cx="5781156" cy="707886"/>
          </a:xfrm>
          <a:prstGeom prst="rect">
            <a:avLst/>
          </a:prstGeom>
        </p:spPr>
        <p:txBody>
          <a:bodyPr wrap="square">
            <a:spAutoFit/>
          </a:bodyPr>
          <a:lstStyle/>
          <a:p>
            <a:pPr marL="0" lvl="1" eaLnBrk="1" hangingPunct="1">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7.1.1 </a:t>
            </a:r>
            <a:r>
              <a:rPr lang="zh-CN" altLang="en-US" sz="4000" dirty="0">
                <a:solidFill>
                  <a:srgbClr val="B2622C"/>
                </a:solidFill>
                <a:effectLst>
                  <a:outerShdw blurRad="38100" dist="38100" dir="2700000" algn="tl">
                    <a:srgbClr val="000000"/>
                  </a:outerShdw>
                </a:effectLst>
                <a:ea typeface="楷体_GB2312" pitchFamily="49" charset="-122"/>
                <a:cs typeface="+mj-cs"/>
              </a:rPr>
              <a:t>存储管理功能简介</a:t>
            </a:r>
          </a:p>
        </p:txBody>
      </p:sp>
      <p:sp>
        <p:nvSpPr>
          <p:cNvPr id="8" name="矩形 7">
            <a:extLst>
              <a:ext uri="{FF2B5EF4-FFF2-40B4-BE49-F238E27FC236}">
                <a16:creationId xmlns:a16="http://schemas.microsoft.com/office/drawing/2014/main" id="{DAC97D69-13B6-478C-929E-375A1F7294D5}"/>
              </a:ext>
            </a:extLst>
          </p:cNvPr>
          <p:cNvSpPr/>
          <p:nvPr/>
        </p:nvSpPr>
        <p:spPr>
          <a:xfrm>
            <a:off x="2160000" y="3429000"/>
            <a:ext cx="3390672" cy="707886"/>
          </a:xfrm>
          <a:prstGeom prst="rect">
            <a:avLst/>
          </a:prstGeom>
        </p:spPr>
        <p:txBody>
          <a:bodyPr wrap="none">
            <a:spAutoFit/>
          </a:bodyPr>
          <a:lstStyle/>
          <a:p>
            <a:pPr marL="0" lvl="1" eaLnBrk="1" hangingPunct="1">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7.1.3 </a:t>
            </a:r>
            <a:r>
              <a:rPr lang="zh-CN" altLang="en-US" sz="4000" dirty="0">
                <a:solidFill>
                  <a:srgbClr val="B2622C"/>
                </a:solidFill>
                <a:effectLst>
                  <a:outerShdw blurRad="38100" dist="38100" dir="2700000" algn="tl">
                    <a:srgbClr val="000000"/>
                  </a:outerShdw>
                </a:effectLst>
                <a:ea typeface="楷体_GB2312" pitchFamily="49" charset="-122"/>
                <a:cs typeface="+mj-cs"/>
              </a:rPr>
              <a:t>地址绑定</a:t>
            </a:r>
          </a:p>
        </p:txBody>
      </p:sp>
    </p:spTree>
    <p:extLst>
      <p:ext uri="{BB962C8B-B14F-4D97-AF65-F5344CB8AC3E}">
        <p14:creationId xmlns:p14="http://schemas.microsoft.com/office/powerpoint/2010/main" val="33241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E2066AF-DD83-446F-AEA9-CBDECC7AD13E}"/>
              </a:ext>
            </a:extLst>
          </p:cNvPr>
          <p:cNvSpPr>
            <a:spLocks noChangeArrowheads="1"/>
          </p:cNvSpPr>
          <p:nvPr/>
        </p:nvSpPr>
        <p:spPr bwMode="auto">
          <a:xfrm>
            <a:off x="1547664" y="-171400"/>
            <a:ext cx="6267400" cy="900246"/>
          </a:xfrm>
          <a:prstGeom prst="rect">
            <a:avLst/>
          </a:prstGeom>
          <a:noFill/>
          <a:ln w="12700" cap="sq">
            <a:noFill/>
            <a:miter lim="800000"/>
            <a:headEnd type="none" w="sm" len="sm"/>
            <a:tailEnd type="none" w="sm" len="sm"/>
          </a:ln>
          <a:effectLst/>
        </p:spPr>
        <p:txBody>
          <a:bodyPr wrap="square">
            <a:spAutoFit/>
          </a:bodyPr>
          <a:lstStyle/>
          <a:p>
            <a:pPr marL="0" lvl="1" algn="ctr" eaLnBrk="1" hangingPunct="1">
              <a:lnSpc>
                <a:spcPct val="150000"/>
              </a:lnSpc>
              <a:tabLst>
                <a:tab pos="803275" algn="l"/>
              </a:tabLst>
              <a:defRPr/>
            </a:pPr>
            <a:r>
              <a:rPr lang="en-US" altLang="zh-CN" sz="4000" dirty="0">
                <a:solidFill>
                  <a:srgbClr val="B2622C"/>
                </a:solidFill>
                <a:effectLst>
                  <a:outerShdw blurRad="38100" dist="38100" dir="2700000" algn="tl">
                    <a:srgbClr val="000000"/>
                  </a:outerShdw>
                </a:effectLst>
                <a:latin typeface="+mj-lt"/>
                <a:ea typeface="楷体_GB2312" pitchFamily="49" charset="-122"/>
              </a:rPr>
              <a:t>7.1.1</a:t>
            </a:r>
            <a:r>
              <a:rPr lang="en-US" altLang="zh-CN" sz="4000" dirty="0">
                <a:solidFill>
                  <a:srgbClr val="B2622C"/>
                </a:solidFill>
                <a:effectLst>
                  <a:outerShdw blurRad="38100" dist="38100" dir="2700000" algn="tl">
                    <a:srgbClr val="000000"/>
                  </a:outerShdw>
                </a:effectLst>
                <a:ea typeface="楷体_GB2312" pitchFamily="49" charset="-122"/>
              </a:rPr>
              <a:t> </a:t>
            </a:r>
            <a:r>
              <a:rPr lang="zh-CN" altLang="en-US" sz="4000" dirty="0">
                <a:solidFill>
                  <a:srgbClr val="B2622C"/>
                </a:solidFill>
                <a:effectLst>
                  <a:outerShdw blurRad="38100" dist="38100" dir="2700000" algn="tl">
                    <a:srgbClr val="000000"/>
                  </a:outerShdw>
                </a:effectLst>
                <a:ea typeface="楷体_GB2312" pitchFamily="49" charset="-122"/>
              </a:rPr>
              <a:t>存</a:t>
            </a:r>
            <a:r>
              <a:rPr lang="zh-CN" altLang="en-US" sz="3600" dirty="0">
                <a:solidFill>
                  <a:srgbClr val="B2622C"/>
                </a:solidFill>
                <a:effectLst>
                  <a:outerShdw blurRad="38100" dist="38100" dir="2700000" algn="tl">
                    <a:srgbClr val="000000"/>
                  </a:outerShdw>
                </a:effectLst>
                <a:ea typeface="楷体_GB2312" pitchFamily="49" charset="-122"/>
              </a:rPr>
              <a:t>储</a:t>
            </a:r>
            <a:r>
              <a:rPr lang="zh-CN" altLang="en-US" sz="4000" dirty="0">
                <a:solidFill>
                  <a:srgbClr val="B2622C"/>
                </a:solidFill>
                <a:effectLst>
                  <a:outerShdw blurRad="38100" dist="38100" dir="2700000" algn="tl">
                    <a:srgbClr val="000000"/>
                  </a:outerShdw>
                </a:effectLst>
                <a:ea typeface="楷体_GB2312" pitchFamily="49" charset="-122"/>
              </a:rPr>
              <a:t>管理功能简介</a:t>
            </a:r>
            <a:endPar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j-cs"/>
            </a:endParaRPr>
          </a:p>
        </p:txBody>
      </p:sp>
      <p:sp>
        <p:nvSpPr>
          <p:cNvPr id="5" name="Rectangle 11">
            <a:extLst>
              <a:ext uri="{FF2B5EF4-FFF2-40B4-BE49-F238E27FC236}">
                <a16:creationId xmlns:a16="http://schemas.microsoft.com/office/drawing/2014/main" id="{ED96C2C8-D9BB-4D15-AC89-990E575455D9}"/>
              </a:ext>
            </a:extLst>
          </p:cNvPr>
          <p:cNvSpPr txBox="1">
            <a:spLocks noChangeArrowheads="1"/>
          </p:cNvSpPr>
          <p:nvPr/>
        </p:nvSpPr>
        <p:spPr>
          <a:xfrm>
            <a:off x="109364" y="1556792"/>
            <a:ext cx="9144000" cy="428625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内存的分配和回收</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数据结构、放置策略、调入策略、回收策略</a:t>
            </a:r>
            <a:endParaRPr lang="en-US" altLang="zh-CN" sz="3200" dirty="0">
              <a:solidFill>
                <a:schemeClr val="bg2"/>
              </a:solidFill>
              <a:latin typeface="+mj-lt"/>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地址变换</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程序：逻辑地址</a:t>
            </a:r>
            <a:r>
              <a:rPr lang="en-US" altLang="zh-CN" sz="3200" dirty="0">
                <a:solidFill>
                  <a:schemeClr val="bg2"/>
                </a:solidFill>
                <a:latin typeface="+mj-lt"/>
                <a:ea typeface="楷体" panose="02010609060101010101" pitchFamily="49" charset="-122"/>
              </a:rPr>
              <a:t>; </a:t>
            </a:r>
            <a:r>
              <a:rPr lang="zh-CN" altLang="en-US" sz="3200" dirty="0">
                <a:solidFill>
                  <a:schemeClr val="bg2"/>
                </a:solidFill>
                <a:latin typeface="+mj-lt"/>
                <a:ea typeface="楷体" panose="02010609060101010101" pitchFamily="49" charset="-122"/>
              </a:rPr>
              <a:t>处理器执行程序时：按物理地址。</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配合硬件，逻辑地址→物理地址。</a:t>
            </a:r>
            <a:endParaRPr lang="en-US" altLang="zh-CN" sz="3200" dirty="0">
              <a:solidFill>
                <a:schemeClr val="bg2"/>
              </a:solidFill>
              <a:latin typeface="+mj-lt"/>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内存空间的共享</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不同进程调用相同的程序段或数据。</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18442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blinds(horizontal)">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blinds(horizontal)">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blinds(horizontal)">
                                      <p:cBhvr>
                                        <p:cTn id="22" dur="500"/>
                                        <p:tgtEl>
                                          <p:spTgt spid="5">
                                            <p:txEl>
                                              <p:pRg st="6" end="6"/>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96BE2E0F-701F-483B-92DF-905F9BFD5FF9}"/>
              </a:ext>
            </a:extLst>
          </p:cNvPr>
          <p:cNvSpPr txBox="1">
            <a:spLocks noChangeArrowheads="1"/>
          </p:cNvSpPr>
          <p:nvPr/>
        </p:nvSpPr>
        <p:spPr>
          <a:xfrm>
            <a:off x="430213" y="1000125"/>
            <a:ext cx="8713787" cy="4878388"/>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内存保护</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保证各程序在自己的存储区内操作、不相互干扰，防止破坏系统程序。</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内存空间的扩充</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覆盖</a:t>
            </a:r>
            <a:endParaRPr lang="en-US" altLang="zh-CN" sz="3200" dirty="0">
              <a:solidFill>
                <a:schemeClr val="bg2"/>
              </a:solidFill>
              <a:latin typeface="+mj-lt"/>
              <a:ea typeface="楷体" panose="02010609060101010101" pitchFamily="49" charset="-122"/>
            </a:endParaRP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交换（交换调度）</a:t>
            </a:r>
            <a:endParaRPr lang="en-US" altLang="zh-CN" sz="3200" dirty="0">
              <a:solidFill>
                <a:schemeClr val="bg2"/>
              </a:solidFill>
              <a:latin typeface="+mj-lt"/>
              <a:ea typeface="楷体" panose="02010609060101010101" pitchFamily="49" charset="-122"/>
            </a:endParaRP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请求调入</a:t>
            </a:r>
          </a:p>
        </p:txBody>
      </p:sp>
      <p:sp>
        <p:nvSpPr>
          <p:cNvPr id="4" name="矩形 3"/>
          <p:cNvSpPr/>
          <p:nvPr/>
        </p:nvSpPr>
        <p:spPr>
          <a:xfrm>
            <a:off x="2411760" y="0"/>
            <a:ext cx="4559261" cy="707886"/>
          </a:xfrm>
          <a:prstGeom prst="rect">
            <a:avLst/>
          </a:prstGeom>
        </p:spPr>
        <p:txBody>
          <a:bodyPr wrap="none">
            <a:spAutoFit/>
          </a:bodyPr>
          <a:lstStyle/>
          <a:p>
            <a:r>
              <a:rPr lang="zh-CN" altLang="en-US" sz="4000" dirty="0">
                <a:solidFill>
                  <a:srgbClr val="B2622C"/>
                </a:solidFill>
                <a:effectLst>
                  <a:outerShdw blurRad="38100" dist="38100" dir="2700000" algn="tl">
                    <a:srgbClr val="000000"/>
                  </a:outerShdw>
                </a:effectLst>
                <a:ea typeface="楷体_GB2312" pitchFamily="49" charset="-122"/>
              </a:rPr>
              <a:t>存储管理功能（</a:t>
            </a:r>
            <a:r>
              <a:rPr lang="en-US" altLang="zh-CN" sz="4000" dirty="0">
                <a:solidFill>
                  <a:srgbClr val="B2622C"/>
                </a:solidFill>
                <a:effectLst>
                  <a:outerShdw blurRad="38100" dist="38100" dir="2700000" algn="tl">
                    <a:srgbClr val="000000"/>
                  </a:outerShdw>
                </a:effectLst>
                <a:ea typeface="楷体_GB2312" pitchFamily="49" charset="-122"/>
              </a:rPr>
              <a:t>2</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76011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edg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 presetClass="entr" presetSubtype="6"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1+#ppt_w/2"/>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FA4E3506-7A85-4A10-8EA3-37210879A941}"/>
              </a:ext>
            </a:extLst>
          </p:cNvPr>
          <p:cNvSpPr txBox="1">
            <a:spLocks noChangeArrowheads="1"/>
          </p:cNvSpPr>
          <p:nvPr/>
        </p:nvSpPr>
        <p:spPr bwMode="auto">
          <a:xfrm>
            <a:off x="1799692" y="-2627"/>
            <a:ext cx="55446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indent="0" eaLnBrk="1" hangingPunct="1">
              <a:spcBef>
                <a:spcPct val="0"/>
              </a:spcBef>
              <a:buClrTx/>
              <a:buSzTx/>
              <a:buNone/>
              <a:defRPr/>
            </a:pPr>
            <a:r>
              <a:rPr lang="zh-CN" altLang="en-US" sz="4000" dirty="0">
                <a:solidFill>
                  <a:srgbClr val="B2622C"/>
                </a:solidFill>
                <a:effectLst>
                  <a:outerShdw blurRad="38100" dist="38100" dir="2700000" algn="tl">
                    <a:srgbClr val="000000"/>
                  </a:outerShdw>
                </a:effectLst>
                <a:ea typeface="楷体_GB2312" pitchFamily="49" charset="-122"/>
                <a:cs typeface="+mj-cs"/>
              </a:rPr>
              <a:t> </a:t>
            </a:r>
            <a:r>
              <a:rPr lang="en-US" altLang="zh-CN" sz="4000" dirty="0">
                <a:solidFill>
                  <a:srgbClr val="B2622C"/>
                </a:solidFill>
                <a:effectLst>
                  <a:outerShdw blurRad="38100" dist="38100" dir="2700000" algn="tl">
                    <a:srgbClr val="000000"/>
                  </a:outerShdw>
                </a:effectLst>
                <a:ea typeface="楷体_GB2312" pitchFamily="49" charset="-122"/>
              </a:rPr>
              <a:t>7.1.2 </a:t>
            </a:r>
            <a:r>
              <a:rPr lang="zh-CN" altLang="en-US" sz="40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j-cs"/>
              </a:rPr>
              <a:t>存储器管理方式</a:t>
            </a:r>
          </a:p>
        </p:txBody>
      </p:sp>
      <p:sp>
        <p:nvSpPr>
          <p:cNvPr id="5" name="Rectangle 3">
            <a:extLst>
              <a:ext uri="{FF2B5EF4-FFF2-40B4-BE49-F238E27FC236}">
                <a16:creationId xmlns:a16="http://schemas.microsoft.com/office/drawing/2014/main" id="{74946B31-91E1-432E-8B5A-181EF05112B4}"/>
              </a:ext>
            </a:extLst>
          </p:cNvPr>
          <p:cNvSpPr txBox="1">
            <a:spLocks noChangeArrowheads="1"/>
          </p:cNvSpPr>
          <p:nvPr/>
        </p:nvSpPr>
        <p:spPr>
          <a:xfrm>
            <a:off x="179388" y="908050"/>
            <a:ext cx="8964612" cy="540067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连续分配：</a:t>
            </a:r>
            <a:r>
              <a:rPr lang="zh-CN" altLang="en-US" sz="3600" dirty="0">
                <a:solidFill>
                  <a:schemeClr val="bg2"/>
                </a:solidFill>
                <a:latin typeface="+mj-lt"/>
                <a:ea typeface="楷体" panose="02010609060101010101" pitchFamily="49" charset="-122"/>
              </a:rPr>
              <a:t>每个作业分配一个连续的空间</a:t>
            </a:r>
          </a:p>
          <a:p>
            <a:pPr marL="1270000" lvl="4" indent="-355600" defTabSz="355600">
              <a:lnSpc>
                <a:spcPct val="90000"/>
              </a:lnSpc>
              <a:spcBef>
                <a:spcPct val="0"/>
              </a:spcBef>
              <a:buClr>
                <a:srgbClr val="FF00FF"/>
              </a:buClr>
              <a:buSzPct val="80000"/>
              <a:buFont typeface="Wingdings" panose="05000000000000000000" pitchFamily="2" charset="2"/>
              <a:buChar char="n"/>
              <a:defRPr/>
            </a:pPr>
            <a:r>
              <a:rPr lang="zh-CN" altLang="en-US" sz="3200" dirty="0">
                <a:solidFill>
                  <a:srgbClr val="FF00FF"/>
                </a:solidFill>
                <a:latin typeface="+mj-lt"/>
                <a:ea typeface="楷体" panose="02010609060101010101" pitchFamily="49" charset="-122"/>
              </a:rPr>
              <a:t>单一连续区</a:t>
            </a:r>
          </a:p>
          <a:p>
            <a:pPr marL="1270000" lvl="4" indent="-355600" defTabSz="355600">
              <a:lnSpc>
                <a:spcPct val="90000"/>
              </a:lnSpc>
              <a:spcBef>
                <a:spcPct val="0"/>
              </a:spcBef>
              <a:buClr>
                <a:srgbClr val="FF00FF"/>
              </a:buClr>
              <a:buSzPct val="80000"/>
              <a:buFont typeface="Wingdings" panose="05000000000000000000" pitchFamily="2" charset="2"/>
              <a:buChar char="n"/>
              <a:defRPr/>
            </a:pPr>
            <a:r>
              <a:rPr lang="zh-CN" altLang="en-US" sz="3200">
                <a:solidFill>
                  <a:srgbClr val="FF00FF"/>
                </a:solidFill>
                <a:latin typeface="+mj-lt"/>
                <a:ea typeface="楷体" panose="02010609060101010101" pitchFamily="49" charset="-122"/>
              </a:rPr>
              <a:t>分区  </a:t>
            </a:r>
            <a:endParaRPr lang="zh-CN" altLang="en-US" sz="3200" dirty="0">
              <a:solidFill>
                <a:srgbClr val="FF00FF"/>
              </a:solidFill>
              <a:latin typeface="+mj-lt"/>
              <a:ea typeface="楷体" panose="02010609060101010101" pitchFamily="49" charset="-122"/>
            </a:endParaRPr>
          </a:p>
          <a:p>
            <a:pPr marL="1727200" lvl="5"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用于多道程序的一种较简单方式</a:t>
            </a:r>
          </a:p>
          <a:p>
            <a:pPr marL="1727200" lvl="5"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固定分区、可变分区。</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离散分配</a:t>
            </a:r>
            <a:r>
              <a:rPr lang="zh-CN" altLang="en-US" sz="3600" dirty="0">
                <a:solidFill>
                  <a:schemeClr val="bg1"/>
                </a:solidFill>
                <a:latin typeface="+mj-lt"/>
                <a:ea typeface="楷体" panose="02010609060101010101" pitchFamily="49" charset="-122"/>
              </a:rPr>
              <a:t>：</a:t>
            </a:r>
            <a:r>
              <a:rPr lang="zh-CN" altLang="en-US" sz="3600" dirty="0">
                <a:solidFill>
                  <a:schemeClr val="bg2"/>
                </a:solidFill>
                <a:latin typeface="+mj-lt"/>
                <a:ea typeface="楷体" panose="02010609060101010101" pitchFamily="49" charset="-122"/>
              </a:rPr>
              <a:t>将一个用户进程离散地分配到内存中的多个不相连接的区域中。</a:t>
            </a:r>
          </a:p>
          <a:p>
            <a:pPr marL="1270000" lvl="4" indent="-355600" defTabSz="355600">
              <a:lnSpc>
                <a:spcPct val="90000"/>
              </a:lnSpc>
              <a:spcBef>
                <a:spcPct val="0"/>
              </a:spcBef>
              <a:buClr>
                <a:srgbClr val="FF00FF"/>
              </a:buClr>
              <a:buSzPct val="80000"/>
              <a:buFont typeface="Wingdings" panose="05000000000000000000" pitchFamily="2" charset="2"/>
              <a:buChar char="n"/>
              <a:defRPr/>
            </a:pPr>
            <a:r>
              <a:rPr lang="zh-CN" altLang="en-US" sz="3200" dirty="0">
                <a:solidFill>
                  <a:srgbClr val="FF00FF"/>
                </a:solidFill>
                <a:latin typeface="+mj-lt"/>
                <a:ea typeface="楷体" panose="02010609060101010101" pitchFamily="49" charset="-122"/>
              </a:rPr>
              <a:t>分页存储、分段存储、段页式存储</a:t>
            </a:r>
          </a:p>
          <a:p>
            <a:pPr marL="1270000" lvl="4" indent="-355600" defTabSz="355600">
              <a:lnSpc>
                <a:spcPct val="90000"/>
              </a:lnSpc>
              <a:spcBef>
                <a:spcPct val="0"/>
              </a:spcBef>
              <a:buClr>
                <a:srgbClr val="FF00FF"/>
              </a:buClr>
              <a:buSzPct val="80000"/>
              <a:buFont typeface="Wingdings" panose="05000000000000000000" pitchFamily="2" charset="2"/>
              <a:buChar char="n"/>
              <a:defRPr/>
            </a:pPr>
            <a:r>
              <a:rPr lang="zh-CN" altLang="en-US" sz="3200" dirty="0">
                <a:solidFill>
                  <a:srgbClr val="FF00FF"/>
                </a:solidFill>
                <a:latin typeface="+mj-lt"/>
                <a:ea typeface="楷体" panose="02010609060101010101" pitchFamily="49" charset="-122"/>
              </a:rPr>
              <a:t>虚拟存储管理方式</a:t>
            </a:r>
          </a:p>
          <a:p>
            <a:pPr marL="1727200" lvl="5"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请求分页、请求分段、请求段页式。</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92150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checkerboard(across)">
                                      <p:cBhvr>
                                        <p:cTn id="7" dur="500"/>
                                        <p:tgtEl>
                                          <p:spTgt spid="5">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checkerboard(across)">
                                      <p:cBhvr>
                                        <p:cTn id="10" dur="500"/>
                                        <p:tgtEl>
                                          <p:spTgt spid="5">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checkerboard(across)">
                                      <p:cBhvr>
                                        <p:cTn id="13" dur="500"/>
                                        <p:tgtEl>
                                          <p:spTgt spid="5">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checkerboard(across)">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blinds(horizontal)">
                                      <p:cBhvr>
                                        <p:cTn id="21" dur="500"/>
                                        <p:tgtEl>
                                          <p:spTgt spid="5">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xEl>
                                              <p:pRg st="7" end="7"/>
                                            </p:txEl>
                                          </p:spTgt>
                                        </p:tgtEl>
                                        <p:attrNameLst>
                                          <p:attrName>style.visibility</p:attrName>
                                        </p:attrNameLst>
                                      </p:cBhvr>
                                      <p:to>
                                        <p:strVal val="visible"/>
                                      </p:to>
                                    </p:set>
                                    <p:animEffect transition="in" filter="blinds(horizontal)">
                                      <p:cBhvr>
                                        <p:cTn id="26" dur="500"/>
                                        <p:tgtEl>
                                          <p:spTgt spid="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checkerboard(across)">
                                      <p:cBhvr>
                                        <p:cTn id="31" dur="500"/>
                                        <p:tgtEl>
                                          <p:spTgt spid="5">
                                            <p:txEl>
                                              <p:pRg st="8" end="8"/>
                                            </p:txEl>
                                          </p:spTgt>
                                        </p:tgtEl>
                                      </p:cBhvr>
                                    </p:animEffect>
                                  </p:childTnLst>
                                </p:cTn>
                              </p:par>
                            </p:childTnLst>
                          </p:cTn>
                        </p:par>
                        <p:par>
                          <p:cTn id="32" fill="hold">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1+#ppt_w/2"/>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8994387-16DA-4492-8D5C-751F279E905D}"/>
              </a:ext>
            </a:extLst>
          </p:cNvPr>
          <p:cNvSpPr/>
          <p:nvPr/>
        </p:nvSpPr>
        <p:spPr>
          <a:xfrm>
            <a:off x="2876664" y="-18326"/>
            <a:ext cx="3390672" cy="707886"/>
          </a:xfrm>
          <a:prstGeom prst="rect">
            <a:avLst/>
          </a:prstGeom>
        </p:spPr>
        <p:txBody>
          <a:bodyPr wrap="none">
            <a:spAutoFit/>
          </a:bodyPr>
          <a:lstStyle/>
          <a:p>
            <a:pPr marL="0" lvl="1" eaLnBrk="1" hangingPunct="1">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7.1.3 </a:t>
            </a:r>
            <a:r>
              <a:rPr lang="zh-CN" altLang="en-US" sz="4000" dirty="0">
                <a:solidFill>
                  <a:srgbClr val="B2622C"/>
                </a:solidFill>
                <a:effectLst>
                  <a:outerShdw blurRad="38100" dist="38100" dir="2700000" algn="tl">
                    <a:srgbClr val="000000"/>
                  </a:outerShdw>
                </a:effectLst>
                <a:ea typeface="楷体_GB2312" pitchFamily="49" charset="-122"/>
                <a:cs typeface="+mj-cs"/>
              </a:rPr>
              <a:t>地址绑定</a:t>
            </a:r>
          </a:p>
        </p:txBody>
      </p:sp>
      <p:sp>
        <p:nvSpPr>
          <p:cNvPr id="5" name="Rectangle 3">
            <a:extLst>
              <a:ext uri="{FF2B5EF4-FFF2-40B4-BE49-F238E27FC236}">
                <a16:creationId xmlns:a16="http://schemas.microsoft.com/office/drawing/2014/main" id="{2015127A-3CFE-4089-9535-DFB7D15D4A65}"/>
              </a:ext>
            </a:extLst>
          </p:cNvPr>
          <p:cNvSpPr txBox="1">
            <a:spLocks noChangeArrowheads="1"/>
          </p:cNvSpPr>
          <p:nvPr/>
        </p:nvSpPr>
        <p:spPr>
          <a:xfrm>
            <a:off x="179388" y="692150"/>
            <a:ext cx="8964612" cy="2016125"/>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内存地址</a:t>
            </a:r>
            <a:r>
              <a:rPr lang="zh-CN" altLang="en-US" sz="3200" dirty="0">
                <a:solidFill>
                  <a:schemeClr val="bg1">
                    <a:lumMod val="75000"/>
                  </a:schemeClr>
                </a:solidFill>
                <a:latin typeface="+mj-lt"/>
                <a:ea typeface="楷体" panose="02010609060101010101" pitchFamily="49" charset="-122"/>
              </a:rPr>
              <a:t>（物理地址、绝对地址）</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内存的每个存储单元都有一个编号</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latin typeface="+mj-lt"/>
                <a:ea typeface="楷体" panose="02010609060101010101" pitchFamily="49" charset="-122"/>
              </a:rPr>
              <a:t>内存空间</a:t>
            </a:r>
            <a:r>
              <a:rPr lang="zh-CN" altLang="en-US" sz="3200" dirty="0">
                <a:solidFill>
                  <a:schemeClr val="bg1">
                    <a:lumMod val="75000"/>
                  </a:schemeClr>
                </a:solidFill>
                <a:latin typeface="+mj-lt"/>
                <a:ea typeface="楷体" panose="02010609060101010101" pitchFamily="49" charset="-122"/>
              </a:rPr>
              <a:t>（物理地址空间）</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内存地址的集合</a:t>
            </a:r>
          </a:p>
        </p:txBody>
      </p:sp>
      <p:sp>
        <p:nvSpPr>
          <p:cNvPr id="6" name="Text Box 5">
            <a:extLst>
              <a:ext uri="{FF2B5EF4-FFF2-40B4-BE49-F238E27FC236}">
                <a16:creationId xmlns:a16="http://schemas.microsoft.com/office/drawing/2014/main" id="{C6D30EE0-6E24-4B89-946A-ADAD2C45B6F0}"/>
              </a:ext>
            </a:extLst>
          </p:cNvPr>
          <p:cNvSpPr txBox="1">
            <a:spLocks noChangeArrowheads="1"/>
          </p:cNvSpPr>
          <p:nvPr/>
        </p:nvSpPr>
        <p:spPr bwMode="auto">
          <a:xfrm>
            <a:off x="179388" y="2708275"/>
            <a:ext cx="9144000" cy="3305520"/>
          </a:xfrm>
          <a:prstGeom prst="rect">
            <a:avLst/>
          </a:prstGeom>
          <a:noFill/>
          <a:ln w="12700" cap="sq">
            <a:noFill/>
            <a:miter lim="800000"/>
            <a:headEnd type="none" w="sm" len="sm"/>
            <a:tailEnd type="none" w="sm" len="sm"/>
          </a:ln>
          <a:effectLst/>
        </p:spPr>
        <p:txBody>
          <a:bodyPr wrap="square">
            <a:spAutoFit/>
          </a:bodyPr>
          <a:lstStyle/>
          <a:p>
            <a:pPr marL="355600" lvl="2" indent="-355600" defTabSz="355600">
              <a:lnSpc>
                <a:spcPct val="90000"/>
              </a:lnSpc>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逻辑地址</a:t>
            </a:r>
            <a:r>
              <a:rPr lang="zh-CN" altLang="en-US" dirty="0">
                <a:solidFill>
                  <a:schemeClr val="bg1">
                    <a:lumMod val="75000"/>
                  </a:schemeClr>
                </a:solidFill>
                <a:effectLst>
                  <a:outerShdw blurRad="38100" dist="38100" dir="2700000" algn="tl">
                    <a:srgbClr val="000000"/>
                  </a:outerShdw>
                </a:effectLst>
                <a:latin typeface="+mj-lt"/>
                <a:ea typeface="楷体" panose="02010609060101010101" pitchFamily="49" charset="-122"/>
              </a:rPr>
              <a:t>（程序地址、虚地址）</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用户程序中所用的地址</a:t>
            </a:r>
          </a:p>
          <a:p>
            <a:pPr marL="355600" lvl="2" indent="-355600" defTabSz="355600">
              <a:lnSpc>
                <a:spcPct val="90000"/>
              </a:lnSpc>
              <a:buClr>
                <a:schemeClr val="bg1">
                  <a:lumMod val="75000"/>
                </a:schemeClr>
              </a:buClr>
              <a:buSzPct val="100000"/>
              <a:buFont typeface="Wingdings" panose="05000000000000000000" pitchFamily="2" charset="2"/>
              <a:buChar char="n"/>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逻辑地址空间（</a:t>
            </a:r>
            <a:r>
              <a:rPr lang="zh-CN" altLang="en-US" dirty="0">
                <a:solidFill>
                  <a:schemeClr val="bg1">
                    <a:lumMod val="75000"/>
                  </a:schemeClr>
                </a:solidFill>
                <a:effectLst>
                  <a:outerShdw blurRad="38100" dist="38100" dir="2700000" algn="tl">
                    <a:srgbClr val="000000"/>
                  </a:outerShdw>
                </a:effectLst>
                <a:latin typeface="+mj-lt"/>
                <a:ea typeface="楷体" panose="02010609060101010101" pitchFamily="49" charset="-122"/>
              </a:rPr>
              <a:t>程序地址空间、虚拟空间）</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由逻辑地址组成的空间</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首地址为</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0</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，其余指令中的地址相对于首地址来编址。</a:t>
            </a:r>
          </a:p>
          <a:p>
            <a:pPr marL="812800" lvl="3" indent="-355600" defTabSz="355600">
              <a:lnSpc>
                <a:spcPct val="90000"/>
              </a:lnSpc>
              <a:buClr>
                <a:schemeClr val="bg2"/>
              </a:buClr>
              <a:buSzPct val="7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不能用逻辑地址在内存中读取信息。</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5385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blinds(horizontal)">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linds(horizontal)">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blinds(horizontal)">
                                      <p:cBhvr>
                                        <p:cTn id="27" dur="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blinds(horizontal)">
                                      <p:cBhvr>
                                        <p:cTn id="32" dur="500"/>
                                        <p:tgtEl>
                                          <p:spTgt spid="6">
                                            <p:txEl>
                                              <p:pRg st="3" end="3"/>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blinds(horizontal)">
                                      <p:cBhvr>
                                        <p:cTn id="35" dur="500"/>
                                        <p:tgtEl>
                                          <p:spTgt spid="6">
                                            <p:txEl>
                                              <p:pRg st="4" end="4"/>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blinds(horizontal)">
                                      <p:cBhvr>
                                        <p:cTn id="38" dur="500"/>
                                        <p:tgtEl>
                                          <p:spTgt spid="6">
                                            <p:txEl>
                                              <p:pRg st="5" end="5"/>
                                            </p:txEl>
                                          </p:spTgt>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500" fill="hold"/>
                                        <p:tgtEl>
                                          <p:spTgt spid="7"/>
                                        </p:tgtEl>
                                        <p:attrNameLst>
                                          <p:attrName>ppt_x</p:attrName>
                                        </p:attrNameLst>
                                      </p:cBhvr>
                                      <p:tavLst>
                                        <p:tav tm="0">
                                          <p:val>
                                            <p:strVal val="1+#ppt_w/2"/>
                                          </p:val>
                                        </p:tav>
                                        <p:tav tm="100000">
                                          <p:val>
                                            <p:strVal val="#ppt_x"/>
                                          </p:val>
                                        </p:tav>
                                      </p:tavLst>
                                    </p:anim>
                                    <p:anim calcmode="lin" valueType="num">
                                      <p:cBhvr additive="base">
                                        <p:cTn id="4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8">
            <a:extLst>
              <a:ext uri="{FF2B5EF4-FFF2-40B4-BE49-F238E27FC236}">
                <a16:creationId xmlns:a16="http://schemas.microsoft.com/office/drawing/2014/main" id="{7B76172E-9DFF-4835-9DBA-69CE737B1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707279"/>
            <a:ext cx="2808312" cy="5211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0">
            <a:extLst>
              <a:ext uri="{FF2B5EF4-FFF2-40B4-BE49-F238E27FC236}">
                <a16:creationId xmlns:a16="http://schemas.microsoft.com/office/drawing/2014/main" id="{5D173688-E610-4709-8773-6D74E09D0782}"/>
              </a:ext>
            </a:extLst>
          </p:cNvPr>
          <p:cNvSpPr>
            <a:spLocks noChangeArrowheads="1"/>
          </p:cNvSpPr>
          <p:nvPr/>
        </p:nvSpPr>
        <p:spPr bwMode="auto">
          <a:xfrm>
            <a:off x="554306" y="6057359"/>
            <a:ext cx="4176464"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7-3 </a:t>
            </a:r>
            <a:r>
              <a:rPr lang="zh-CN" altLang="en-US" sz="2000" dirty="0">
                <a:solidFill>
                  <a:schemeClr val="bg2"/>
                </a:solidFill>
                <a:latin typeface="宋体" panose="02010600030101010101" pitchFamily="2" charset="-122"/>
              </a:rPr>
              <a:t>一个用户程序的多步骤处理</a:t>
            </a:r>
          </a:p>
        </p:txBody>
      </p:sp>
      <p:sp>
        <p:nvSpPr>
          <p:cNvPr id="6" name="Text Box 56">
            <a:extLst>
              <a:ext uri="{FF2B5EF4-FFF2-40B4-BE49-F238E27FC236}">
                <a16:creationId xmlns:a16="http://schemas.microsoft.com/office/drawing/2014/main" id="{722567BD-E050-4967-B592-F6F0D061AFFD}"/>
              </a:ext>
            </a:extLst>
          </p:cNvPr>
          <p:cNvSpPr txBox="1">
            <a:spLocks noChangeArrowheads="1"/>
          </p:cNvSpPr>
          <p:nvPr/>
        </p:nvSpPr>
        <p:spPr bwMode="auto">
          <a:xfrm>
            <a:off x="539552" y="-14738"/>
            <a:ext cx="8351837" cy="707886"/>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指令和数据绑定到存储器地址</a:t>
            </a:r>
          </a:p>
        </p:txBody>
      </p:sp>
      <p:grpSp>
        <p:nvGrpSpPr>
          <p:cNvPr id="9" name="组合 8">
            <a:extLst>
              <a:ext uri="{FF2B5EF4-FFF2-40B4-BE49-F238E27FC236}">
                <a16:creationId xmlns:a16="http://schemas.microsoft.com/office/drawing/2014/main" id="{33C31D4F-895D-4773-AB07-3C432DD53A4F}"/>
              </a:ext>
            </a:extLst>
          </p:cNvPr>
          <p:cNvGrpSpPr/>
          <p:nvPr/>
        </p:nvGrpSpPr>
        <p:grpSpPr>
          <a:xfrm>
            <a:off x="3167844" y="1353723"/>
            <a:ext cx="5723545" cy="1384995"/>
            <a:chOff x="3167844" y="1547498"/>
            <a:chExt cx="5723545" cy="1384995"/>
          </a:xfrm>
        </p:grpSpPr>
        <p:sp>
          <p:nvSpPr>
            <p:cNvPr id="7" name="矩形 6">
              <a:extLst>
                <a:ext uri="{FF2B5EF4-FFF2-40B4-BE49-F238E27FC236}">
                  <a16:creationId xmlns:a16="http://schemas.microsoft.com/office/drawing/2014/main" id="{AB65346C-002F-48C7-AC86-FC8CBDCFAEE2}"/>
                </a:ext>
              </a:extLst>
            </p:cNvPr>
            <p:cNvSpPr/>
            <p:nvPr/>
          </p:nvSpPr>
          <p:spPr bwMode="auto">
            <a:xfrm>
              <a:off x="3167844" y="1732165"/>
              <a:ext cx="648072" cy="584775"/>
            </a:xfrm>
            <a:prstGeom prst="rect">
              <a:avLst/>
            </a:prstGeom>
            <a:solidFill>
              <a:srgbClr val="00FFFF">
                <a:alpha val="41961"/>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8" name="文本框 7">
              <a:extLst>
                <a:ext uri="{FF2B5EF4-FFF2-40B4-BE49-F238E27FC236}">
                  <a16:creationId xmlns:a16="http://schemas.microsoft.com/office/drawing/2014/main" id="{1C65A665-F6DA-4F32-848C-D866C6683774}"/>
                </a:ext>
              </a:extLst>
            </p:cNvPr>
            <p:cNvSpPr txBox="1"/>
            <p:nvPr/>
          </p:nvSpPr>
          <p:spPr>
            <a:xfrm>
              <a:off x="3843642" y="1547498"/>
              <a:ext cx="5047747" cy="1384995"/>
            </a:xfrm>
            <a:prstGeom prst="rect">
              <a:avLst/>
            </a:prstGeom>
            <a:solidFill>
              <a:schemeClr val="tx1">
                <a:lumMod val="85000"/>
              </a:schemeClr>
            </a:solidFill>
          </p:spPr>
          <p:txBody>
            <a:bodyPr wrap="square" rtlCol="0">
              <a:spAutoFit/>
            </a:bodyPr>
            <a:lstStyle/>
            <a:p>
              <a:r>
                <a:rPr lang="zh-CN" altLang="en-US" sz="2800" dirty="0">
                  <a:solidFill>
                    <a:srgbClr val="CC3300"/>
                  </a:solidFill>
                </a:rPr>
                <a:t>编译时绑定</a:t>
              </a:r>
              <a:endParaRPr lang="en-US" altLang="zh-CN" sz="2800" dirty="0">
                <a:solidFill>
                  <a:srgbClr val="CC3300"/>
                </a:solidFill>
              </a:endParaRPr>
            </a:p>
            <a:p>
              <a:r>
                <a:rPr lang="zh-CN" altLang="en-US" sz="2800" dirty="0">
                  <a:solidFill>
                    <a:schemeClr val="bg2"/>
                  </a:solidFill>
                </a:rPr>
                <a:t>编译时内存位置已知，生成绝对代码，</a:t>
              </a:r>
              <a:r>
                <a:rPr lang="en-US" altLang="zh-CN" sz="2800" dirty="0">
                  <a:solidFill>
                    <a:schemeClr val="bg2"/>
                  </a:solidFill>
                </a:rPr>
                <a:t>MS-DOS</a:t>
              </a:r>
              <a:r>
                <a:rPr lang="zh-CN" altLang="en-US" sz="2800" dirty="0">
                  <a:solidFill>
                    <a:schemeClr val="bg2"/>
                  </a:solidFill>
                </a:rPr>
                <a:t>的</a:t>
              </a:r>
              <a:r>
                <a:rPr lang="en-US" altLang="zh-CN" sz="2800" dirty="0">
                  <a:solidFill>
                    <a:schemeClr val="bg2"/>
                  </a:solidFill>
                </a:rPr>
                <a:t>.COM</a:t>
              </a:r>
              <a:r>
                <a:rPr lang="zh-CN" altLang="en-US" sz="2800" dirty="0">
                  <a:solidFill>
                    <a:schemeClr val="bg2"/>
                  </a:solidFill>
                </a:rPr>
                <a:t>程序</a:t>
              </a:r>
            </a:p>
          </p:txBody>
        </p:sp>
      </p:grpSp>
      <p:grpSp>
        <p:nvGrpSpPr>
          <p:cNvPr id="10" name="组合 9">
            <a:extLst>
              <a:ext uri="{FF2B5EF4-FFF2-40B4-BE49-F238E27FC236}">
                <a16:creationId xmlns:a16="http://schemas.microsoft.com/office/drawing/2014/main" id="{5FEA6F0C-FA88-4145-9C57-809CC106998E}"/>
              </a:ext>
            </a:extLst>
          </p:cNvPr>
          <p:cNvGrpSpPr/>
          <p:nvPr/>
        </p:nvGrpSpPr>
        <p:grpSpPr>
          <a:xfrm>
            <a:off x="3167844" y="5072474"/>
            <a:ext cx="5723545" cy="1384995"/>
            <a:chOff x="3167844" y="1547498"/>
            <a:chExt cx="5723545" cy="1384995"/>
          </a:xfrm>
        </p:grpSpPr>
        <p:sp>
          <p:nvSpPr>
            <p:cNvPr id="11" name="矩形 10">
              <a:extLst>
                <a:ext uri="{FF2B5EF4-FFF2-40B4-BE49-F238E27FC236}">
                  <a16:creationId xmlns:a16="http://schemas.microsoft.com/office/drawing/2014/main" id="{0F92D847-B7A6-46AE-8E61-82E69E039B29}"/>
                </a:ext>
              </a:extLst>
            </p:cNvPr>
            <p:cNvSpPr/>
            <p:nvPr/>
          </p:nvSpPr>
          <p:spPr bwMode="auto">
            <a:xfrm>
              <a:off x="3167844" y="1732165"/>
              <a:ext cx="648072" cy="584775"/>
            </a:xfrm>
            <a:prstGeom prst="rect">
              <a:avLst/>
            </a:prstGeom>
            <a:solidFill>
              <a:srgbClr val="00FFFF">
                <a:alpha val="41961"/>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2" name="文本框 11">
              <a:extLst>
                <a:ext uri="{FF2B5EF4-FFF2-40B4-BE49-F238E27FC236}">
                  <a16:creationId xmlns:a16="http://schemas.microsoft.com/office/drawing/2014/main" id="{03ABF358-5075-4F46-8009-75A8E93A29F9}"/>
                </a:ext>
              </a:extLst>
            </p:cNvPr>
            <p:cNvSpPr txBox="1"/>
            <p:nvPr/>
          </p:nvSpPr>
          <p:spPr>
            <a:xfrm>
              <a:off x="3843642" y="1547498"/>
              <a:ext cx="5047747" cy="1384995"/>
            </a:xfrm>
            <a:prstGeom prst="rect">
              <a:avLst/>
            </a:prstGeom>
            <a:solidFill>
              <a:schemeClr val="tx1">
                <a:lumMod val="85000"/>
              </a:schemeClr>
            </a:solidFill>
          </p:spPr>
          <p:txBody>
            <a:bodyPr wrap="square" rtlCol="0">
              <a:spAutoFit/>
            </a:bodyPr>
            <a:lstStyle/>
            <a:p>
              <a:r>
                <a:rPr lang="zh-CN" altLang="en-US" sz="2800" dirty="0">
                  <a:solidFill>
                    <a:srgbClr val="CC3300"/>
                  </a:solidFill>
                </a:rPr>
                <a:t>执行时绑定（动态重定位）</a:t>
              </a:r>
              <a:endParaRPr lang="en-US" altLang="zh-CN" sz="2800" dirty="0">
                <a:solidFill>
                  <a:srgbClr val="CC3300"/>
                </a:solidFill>
              </a:endParaRPr>
            </a:p>
            <a:p>
              <a:r>
                <a:rPr lang="zh-CN" altLang="en-US" sz="2800" dirty="0">
                  <a:solidFill>
                    <a:schemeClr val="bg2"/>
                  </a:solidFill>
                </a:rPr>
                <a:t>需要硬件支持</a:t>
              </a:r>
              <a:endParaRPr lang="en-US" altLang="zh-CN" sz="2800" dirty="0">
                <a:solidFill>
                  <a:schemeClr val="bg2"/>
                </a:solidFill>
              </a:endParaRPr>
            </a:p>
            <a:p>
              <a:r>
                <a:rPr lang="zh-CN" altLang="en-US" sz="2800" dirty="0">
                  <a:solidFill>
                    <a:srgbClr val="C00000"/>
                  </a:solidFill>
                </a:rPr>
                <a:t>大多数现代通用操作系统支持</a:t>
              </a:r>
            </a:p>
          </p:txBody>
        </p:sp>
      </p:grpSp>
      <p:grpSp>
        <p:nvGrpSpPr>
          <p:cNvPr id="14" name="组合 13">
            <a:extLst>
              <a:ext uri="{FF2B5EF4-FFF2-40B4-BE49-F238E27FC236}">
                <a16:creationId xmlns:a16="http://schemas.microsoft.com/office/drawing/2014/main" id="{D20D1BD8-7450-4E38-A6E2-E60B3DED2ED1}"/>
              </a:ext>
            </a:extLst>
          </p:cNvPr>
          <p:cNvGrpSpPr/>
          <p:nvPr/>
        </p:nvGrpSpPr>
        <p:grpSpPr>
          <a:xfrm>
            <a:off x="3167844" y="3660364"/>
            <a:ext cx="5723545" cy="954107"/>
            <a:chOff x="3167844" y="1547498"/>
            <a:chExt cx="5723545" cy="954107"/>
          </a:xfrm>
        </p:grpSpPr>
        <p:sp>
          <p:nvSpPr>
            <p:cNvPr id="15" name="矩形 14">
              <a:extLst>
                <a:ext uri="{FF2B5EF4-FFF2-40B4-BE49-F238E27FC236}">
                  <a16:creationId xmlns:a16="http://schemas.microsoft.com/office/drawing/2014/main" id="{EBB86BF9-ABC1-4158-85D6-8C4BE9D3C667}"/>
                </a:ext>
              </a:extLst>
            </p:cNvPr>
            <p:cNvSpPr/>
            <p:nvPr/>
          </p:nvSpPr>
          <p:spPr bwMode="auto">
            <a:xfrm>
              <a:off x="3167844" y="1732165"/>
              <a:ext cx="648072" cy="584775"/>
            </a:xfrm>
            <a:prstGeom prst="rect">
              <a:avLst/>
            </a:prstGeom>
            <a:solidFill>
              <a:srgbClr val="00FFFF">
                <a:alpha val="41961"/>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6" name="文本框 15">
              <a:extLst>
                <a:ext uri="{FF2B5EF4-FFF2-40B4-BE49-F238E27FC236}">
                  <a16:creationId xmlns:a16="http://schemas.microsoft.com/office/drawing/2014/main" id="{3502B8DE-9572-4E0B-99D9-163B637979AF}"/>
                </a:ext>
              </a:extLst>
            </p:cNvPr>
            <p:cNvSpPr txBox="1"/>
            <p:nvPr/>
          </p:nvSpPr>
          <p:spPr>
            <a:xfrm>
              <a:off x="3843642" y="1547498"/>
              <a:ext cx="5047747" cy="954107"/>
            </a:xfrm>
            <a:prstGeom prst="rect">
              <a:avLst/>
            </a:prstGeom>
            <a:solidFill>
              <a:schemeClr val="tx1">
                <a:lumMod val="85000"/>
              </a:schemeClr>
            </a:solidFill>
          </p:spPr>
          <p:txBody>
            <a:bodyPr wrap="square" rtlCol="0">
              <a:spAutoFit/>
            </a:bodyPr>
            <a:lstStyle/>
            <a:p>
              <a:r>
                <a:rPr lang="zh-CN" altLang="en-US" sz="2800" dirty="0">
                  <a:solidFill>
                    <a:srgbClr val="CC3300"/>
                  </a:solidFill>
                </a:rPr>
                <a:t>加载时绑定（静态重定位）</a:t>
              </a:r>
            </a:p>
            <a:p>
              <a:r>
                <a:rPr lang="zh-CN" altLang="en-US" sz="2800" dirty="0">
                  <a:solidFill>
                    <a:schemeClr val="bg2"/>
                  </a:solidFill>
                </a:rPr>
                <a:t>编译时生成可重定位代码</a:t>
              </a:r>
              <a:endParaRPr lang="en-US" altLang="zh-CN" sz="2800" dirty="0">
                <a:solidFill>
                  <a:schemeClr val="bg2"/>
                </a:solidFill>
              </a:endParaRPr>
            </a:p>
          </p:txBody>
        </p:sp>
      </p:grpSp>
      <p:sp>
        <p:nvSpPr>
          <p:cNvPr id="1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2714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6"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1+#ppt_w/2"/>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856760" y="1812458"/>
            <a:ext cx="2363616" cy="3128710"/>
            <a:chOff x="856760" y="1812458"/>
            <a:chExt cx="2363616" cy="3128710"/>
          </a:xfrm>
        </p:grpSpPr>
        <p:sp>
          <p:nvSpPr>
            <p:cNvPr id="6" name="Rectangle 10">
              <a:extLst>
                <a:ext uri="{FF2B5EF4-FFF2-40B4-BE49-F238E27FC236}">
                  <a16:creationId xmlns:a16="http://schemas.microsoft.com/office/drawing/2014/main" id="{4DE5E0FA-8745-4481-8D23-D8EDE63DFD7C}"/>
                </a:ext>
              </a:extLst>
            </p:cNvPr>
            <p:cNvSpPr>
              <a:spLocks noChangeArrowheads="1"/>
            </p:cNvSpPr>
            <p:nvPr/>
          </p:nvSpPr>
          <p:spPr bwMode="auto">
            <a:xfrm>
              <a:off x="1477773" y="1994546"/>
              <a:ext cx="1364171" cy="2642356"/>
            </a:xfrm>
            <a:prstGeom prst="rect">
              <a:avLst/>
            </a:prstGeom>
            <a:solidFill>
              <a:srgbClr val="99CCFF"/>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7" name="Line 11">
              <a:extLst>
                <a:ext uri="{FF2B5EF4-FFF2-40B4-BE49-F238E27FC236}">
                  <a16:creationId xmlns:a16="http://schemas.microsoft.com/office/drawing/2014/main" id="{9CE9AC13-95A3-4146-B457-D0AFA4A84E74}"/>
                </a:ext>
              </a:extLst>
            </p:cNvPr>
            <p:cNvSpPr>
              <a:spLocks noChangeShapeType="1"/>
            </p:cNvSpPr>
            <p:nvPr/>
          </p:nvSpPr>
          <p:spPr bwMode="auto">
            <a:xfrm>
              <a:off x="1500952" y="2915529"/>
              <a:ext cx="1288384" cy="0"/>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8" name="Line 12">
              <a:extLst>
                <a:ext uri="{FF2B5EF4-FFF2-40B4-BE49-F238E27FC236}">
                  <a16:creationId xmlns:a16="http://schemas.microsoft.com/office/drawing/2014/main" id="{EBDCBD16-2ADD-4F0C-9B9E-B83DE6E71438}"/>
                </a:ext>
              </a:extLst>
            </p:cNvPr>
            <p:cNvSpPr>
              <a:spLocks noChangeShapeType="1"/>
            </p:cNvSpPr>
            <p:nvPr/>
          </p:nvSpPr>
          <p:spPr bwMode="auto">
            <a:xfrm>
              <a:off x="1500952" y="3825562"/>
              <a:ext cx="1288384" cy="0"/>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9" name="Text Box 13">
              <a:extLst>
                <a:ext uri="{FF2B5EF4-FFF2-40B4-BE49-F238E27FC236}">
                  <a16:creationId xmlns:a16="http://schemas.microsoft.com/office/drawing/2014/main" id="{D89E6247-9FBD-409C-8A37-AF8F6068C41E}"/>
                </a:ext>
              </a:extLst>
            </p:cNvPr>
            <p:cNvSpPr txBox="1">
              <a:spLocks noChangeArrowheads="1"/>
            </p:cNvSpPr>
            <p:nvPr/>
          </p:nvSpPr>
          <p:spPr bwMode="auto">
            <a:xfrm>
              <a:off x="1069912" y="1812458"/>
              <a:ext cx="442882" cy="53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chemeClr val="bg2"/>
                  </a:solidFill>
                  <a:latin typeface="Arial" panose="020B0604020202020204" pitchFamily="34" charset="0"/>
                </a:rPr>
                <a:t>0</a:t>
              </a:r>
            </a:p>
          </p:txBody>
        </p:sp>
        <p:sp>
          <p:nvSpPr>
            <p:cNvPr id="10" name="Text Box 14">
              <a:extLst>
                <a:ext uri="{FF2B5EF4-FFF2-40B4-BE49-F238E27FC236}">
                  <a16:creationId xmlns:a16="http://schemas.microsoft.com/office/drawing/2014/main" id="{142D3E21-9BF1-497C-9D58-DBD240EB98B0}"/>
                </a:ext>
              </a:extLst>
            </p:cNvPr>
            <p:cNvSpPr txBox="1">
              <a:spLocks noChangeArrowheads="1"/>
            </p:cNvSpPr>
            <p:nvPr/>
          </p:nvSpPr>
          <p:spPr bwMode="auto">
            <a:xfrm>
              <a:off x="894653" y="2199477"/>
              <a:ext cx="4395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accent2">
                      <a:lumMod val="50000"/>
                    </a:schemeClr>
                  </a:solidFill>
                  <a:latin typeface="Arial" panose="020B0604020202020204" pitchFamily="34" charset="0"/>
                </a:rPr>
                <a:t>100</a:t>
              </a:r>
            </a:p>
          </p:txBody>
        </p:sp>
        <p:sp>
          <p:nvSpPr>
            <p:cNvPr id="11" name="Text Box 15">
              <a:extLst>
                <a:ext uri="{FF2B5EF4-FFF2-40B4-BE49-F238E27FC236}">
                  <a16:creationId xmlns:a16="http://schemas.microsoft.com/office/drawing/2014/main" id="{7CC41B16-7F99-43F3-85FB-345DD1E56FE6}"/>
                </a:ext>
              </a:extLst>
            </p:cNvPr>
            <p:cNvSpPr txBox="1">
              <a:spLocks noChangeArrowheads="1"/>
            </p:cNvSpPr>
            <p:nvPr/>
          </p:nvSpPr>
          <p:spPr bwMode="auto">
            <a:xfrm>
              <a:off x="856760" y="2687394"/>
              <a:ext cx="727084" cy="43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1KB</a:t>
              </a:r>
            </a:p>
          </p:txBody>
        </p:sp>
        <p:sp>
          <p:nvSpPr>
            <p:cNvPr id="12" name="Text Box 16">
              <a:extLst>
                <a:ext uri="{FF2B5EF4-FFF2-40B4-BE49-F238E27FC236}">
                  <a16:creationId xmlns:a16="http://schemas.microsoft.com/office/drawing/2014/main" id="{43C32149-E770-4E20-AB14-0BDD170CEEA9}"/>
                </a:ext>
              </a:extLst>
            </p:cNvPr>
            <p:cNvSpPr txBox="1">
              <a:spLocks noChangeArrowheads="1"/>
            </p:cNvSpPr>
            <p:nvPr/>
          </p:nvSpPr>
          <p:spPr bwMode="auto">
            <a:xfrm>
              <a:off x="856760" y="3597427"/>
              <a:ext cx="727084" cy="43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2KB</a:t>
              </a:r>
            </a:p>
          </p:txBody>
        </p:sp>
        <p:sp>
          <p:nvSpPr>
            <p:cNvPr id="13" name="Text Box 17">
              <a:extLst>
                <a:ext uri="{FF2B5EF4-FFF2-40B4-BE49-F238E27FC236}">
                  <a16:creationId xmlns:a16="http://schemas.microsoft.com/office/drawing/2014/main" id="{62A4D60B-AB3C-4E9E-8FA0-93692C626E73}"/>
                </a:ext>
              </a:extLst>
            </p:cNvPr>
            <p:cNvSpPr txBox="1">
              <a:spLocks noChangeArrowheads="1"/>
            </p:cNvSpPr>
            <p:nvPr/>
          </p:nvSpPr>
          <p:spPr bwMode="auto">
            <a:xfrm>
              <a:off x="859128" y="4153977"/>
              <a:ext cx="776820" cy="43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3000</a:t>
              </a:r>
            </a:p>
          </p:txBody>
        </p:sp>
        <p:sp>
          <p:nvSpPr>
            <p:cNvPr id="14" name="Text Box 18">
              <a:extLst>
                <a:ext uri="{FF2B5EF4-FFF2-40B4-BE49-F238E27FC236}">
                  <a16:creationId xmlns:a16="http://schemas.microsoft.com/office/drawing/2014/main" id="{739A9C65-C402-4695-8BED-568889F136D8}"/>
                </a:ext>
              </a:extLst>
            </p:cNvPr>
            <p:cNvSpPr txBox="1">
              <a:spLocks noChangeArrowheads="1"/>
            </p:cNvSpPr>
            <p:nvPr/>
          </p:nvSpPr>
          <p:spPr bwMode="auto">
            <a:xfrm>
              <a:off x="856760" y="4507461"/>
              <a:ext cx="727084" cy="43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3KB</a:t>
              </a:r>
            </a:p>
          </p:txBody>
        </p:sp>
        <p:sp>
          <p:nvSpPr>
            <p:cNvPr id="15" name="Text Box 19">
              <a:extLst>
                <a:ext uri="{FF2B5EF4-FFF2-40B4-BE49-F238E27FC236}">
                  <a16:creationId xmlns:a16="http://schemas.microsoft.com/office/drawing/2014/main" id="{8E1189C0-EDDD-4170-8C84-BB7A5B3336FF}"/>
                </a:ext>
              </a:extLst>
            </p:cNvPr>
            <p:cNvSpPr txBox="1">
              <a:spLocks noChangeArrowheads="1"/>
            </p:cNvSpPr>
            <p:nvPr/>
          </p:nvSpPr>
          <p:spPr bwMode="auto">
            <a:xfrm>
              <a:off x="1579108" y="2201040"/>
              <a:ext cx="1184176" cy="43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rgbClr val="FF00FF"/>
                  </a:solidFill>
                  <a:latin typeface="Arial" panose="020B0604020202020204" pitchFamily="34" charset="0"/>
                </a:rPr>
                <a:t>XXXXXX</a:t>
              </a:r>
            </a:p>
          </p:txBody>
        </p:sp>
        <p:sp>
          <p:nvSpPr>
            <p:cNvPr id="16" name="Text Box 20">
              <a:extLst>
                <a:ext uri="{FF2B5EF4-FFF2-40B4-BE49-F238E27FC236}">
                  <a16:creationId xmlns:a16="http://schemas.microsoft.com/office/drawing/2014/main" id="{FA7EE1CF-32E9-4992-8E41-C5990090D701}"/>
                </a:ext>
              </a:extLst>
            </p:cNvPr>
            <p:cNvSpPr txBox="1">
              <a:spLocks noChangeArrowheads="1"/>
            </p:cNvSpPr>
            <p:nvPr/>
          </p:nvSpPr>
          <p:spPr bwMode="auto">
            <a:xfrm>
              <a:off x="1590949" y="4219158"/>
              <a:ext cx="1103652" cy="43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call 100</a:t>
              </a:r>
            </a:p>
          </p:txBody>
        </p:sp>
        <p:sp>
          <p:nvSpPr>
            <p:cNvPr id="18" name="Line 22">
              <a:extLst>
                <a:ext uri="{FF2B5EF4-FFF2-40B4-BE49-F238E27FC236}">
                  <a16:creationId xmlns:a16="http://schemas.microsoft.com/office/drawing/2014/main" id="{7151A9F0-2A83-4706-90D3-0398A6A5004F}"/>
                </a:ext>
              </a:extLst>
            </p:cNvPr>
            <p:cNvSpPr>
              <a:spLocks noChangeShapeType="1"/>
            </p:cNvSpPr>
            <p:nvPr/>
          </p:nvSpPr>
          <p:spPr bwMode="auto">
            <a:xfrm flipH="1">
              <a:off x="2467240" y="2346445"/>
              <a:ext cx="753136" cy="0"/>
            </a:xfrm>
            <a:prstGeom prst="line">
              <a:avLst/>
            </a:prstGeom>
            <a:noFill/>
            <a:ln w="38100">
              <a:solidFill>
                <a:srgbClr val="FF0066"/>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19" name="Line 23">
              <a:extLst>
                <a:ext uri="{FF2B5EF4-FFF2-40B4-BE49-F238E27FC236}">
                  <a16:creationId xmlns:a16="http://schemas.microsoft.com/office/drawing/2014/main" id="{0EEBF570-A896-43E7-968C-66ACFE5C9C19}"/>
                </a:ext>
              </a:extLst>
            </p:cNvPr>
            <p:cNvSpPr>
              <a:spLocks noChangeShapeType="1"/>
            </p:cNvSpPr>
            <p:nvPr/>
          </p:nvSpPr>
          <p:spPr bwMode="auto">
            <a:xfrm>
              <a:off x="3220376" y="2346445"/>
              <a:ext cx="0" cy="2045695"/>
            </a:xfrm>
            <a:prstGeom prst="line">
              <a:avLst/>
            </a:prstGeom>
            <a:noFill/>
            <a:ln w="38100">
              <a:solidFill>
                <a:srgbClr val="FF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20" name="Line 24">
              <a:extLst>
                <a:ext uri="{FF2B5EF4-FFF2-40B4-BE49-F238E27FC236}">
                  <a16:creationId xmlns:a16="http://schemas.microsoft.com/office/drawing/2014/main" id="{A1EE249F-722B-4BB7-9BE0-8E79A99DDE48}"/>
                </a:ext>
              </a:extLst>
            </p:cNvPr>
            <p:cNvSpPr>
              <a:spLocks noChangeShapeType="1"/>
            </p:cNvSpPr>
            <p:nvPr/>
          </p:nvSpPr>
          <p:spPr bwMode="auto">
            <a:xfrm flipH="1">
              <a:off x="2360664" y="4392140"/>
              <a:ext cx="859712" cy="0"/>
            </a:xfrm>
            <a:prstGeom prst="line">
              <a:avLst/>
            </a:prstGeom>
            <a:noFill/>
            <a:ln w="38100">
              <a:solidFill>
                <a:srgbClr val="FF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grpSp>
      <p:sp>
        <p:nvSpPr>
          <p:cNvPr id="90" name="Rectangle 113">
            <a:extLst>
              <a:ext uri="{FF2B5EF4-FFF2-40B4-BE49-F238E27FC236}">
                <a16:creationId xmlns:a16="http://schemas.microsoft.com/office/drawing/2014/main" id="{43B02C22-C189-4777-AA1B-9E6596919F21}"/>
              </a:ext>
            </a:extLst>
          </p:cNvPr>
          <p:cNvSpPr>
            <a:spLocks noChangeArrowheads="1"/>
          </p:cNvSpPr>
          <p:nvPr/>
        </p:nvSpPr>
        <p:spPr bwMode="auto">
          <a:xfrm>
            <a:off x="2114825" y="-28144"/>
            <a:ext cx="4842912" cy="707886"/>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逻辑地址和内存地址</a:t>
            </a:r>
          </a:p>
        </p:txBody>
      </p:sp>
      <p:sp>
        <p:nvSpPr>
          <p:cNvPr id="9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矩形 1"/>
          <p:cNvSpPr/>
          <p:nvPr/>
        </p:nvSpPr>
        <p:spPr>
          <a:xfrm>
            <a:off x="-6861" y="5525913"/>
            <a:ext cx="3901389" cy="400110"/>
          </a:xfrm>
          <a:prstGeom prst="rect">
            <a:avLst/>
          </a:prstGeom>
        </p:spPr>
        <p:txBody>
          <a:bodyPr wrap="square">
            <a:spAutoFit/>
          </a:bodyPr>
          <a:lstStyle/>
          <a:p>
            <a:pPr algn="ctr" eaLnBrk="1" hangingPunct="1"/>
            <a:r>
              <a:rPr kumimoji="0" lang="zh-CN" altLang="en-US" sz="2000" dirty="0">
                <a:solidFill>
                  <a:schemeClr val="bg2"/>
                </a:solidFill>
                <a:latin typeface="Arial" panose="020B0604020202020204" pitchFamily="34" charset="0"/>
              </a:rPr>
              <a:t>程序</a:t>
            </a:r>
            <a:r>
              <a:rPr kumimoji="0" lang="en-US" altLang="zh-CN" sz="2000" dirty="0">
                <a:solidFill>
                  <a:schemeClr val="bg2"/>
                </a:solidFill>
                <a:latin typeface="Arial" panose="020B0604020202020204" pitchFamily="34" charset="0"/>
              </a:rPr>
              <a:t>A</a:t>
            </a:r>
            <a:r>
              <a:rPr kumimoji="0" lang="zh-CN" altLang="en-US" sz="2000" dirty="0">
                <a:solidFill>
                  <a:schemeClr val="bg2"/>
                </a:solidFill>
                <a:latin typeface="Arial" panose="020B0604020202020204" pitchFamily="34" charset="0"/>
              </a:rPr>
              <a:t>的逻辑地址空间</a:t>
            </a:r>
          </a:p>
        </p:txBody>
      </p:sp>
      <p:grpSp>
        <p:nvGrpSpPr>
          <p:cNvPr id="4" name="组合 3"/>
          <p:cNvGrpSpPr/>
          <p:nvPr/>
        </p:nvGrpSpPr>
        <p:grpSpPr>
          <a:xfrm>
            <a:off x="4740687" y="1240128"/>
            <a:ext cx="2948307" cy="4683527"/>
            <a:chOff x="5008069" y="1242496"/>
            <a:chExt cx="2948307" cy="4683527"/>
          </a:xfrm>
        </p:grpSpPr>
        <p:sp>
          <p:nvSpPr>
            <p:cNvPr id="67" name="Rectangle 68">
              <a:extLst>
                <a:ext uri="{FF2B5EF4-FFF2-40B4-BE49-F238E27FC236}">
                  <a16:creationId xmlns:a16="http://schemas.microsoft.com/office/drawing/2014/main" id="{2BC90CCE-3592-4AFA-8796-936483C9822B}"/>
                </a:ext>
              </a:extLst>
            </p:cNvPr>
            <p:cNvSpPr>
              <a:spLocks noChangeArrowheads="1"/>
            </p:cNvSpPr>
            <p:nvPr/>
          </p:nvSpPr>
          <p:spPr bwMode="auto">
            <a:xfrm>
              <a:off x="5913431" y="3038256"/>
              <a:ext cx="1558145" cy="2320726"/>
            </a:xfrm>
            <a:prstGeom prst="rect">
              <a:avLst/>
            </a:prstGeom>
            <a:solidFill>
              <a:srgbClr val="99CCFF">
                <a:alpha val="95686"/>
              </a:srgb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68" name="Line 69">
              <a:extLst>
                <a:ext uri="{FF2B5EF4-FFF2-40B4-BE49-F238E27FC236}">
                  <a16:creationId xmlns:a16="http://schemas.microsoft.com/office/drawing/2014/main" id="{06962B61-5A0A-4433-AB44-0A506FB3312E}"/>
                </a:ext>
              </a:extLst>
            </p:cNvPr>
            <p:cNvSpPr>
              <a:spLocks noChangeShapeType="1"/>
            </p:cNvSpPr>
            <p:nvPr/>
          </p:nvSpPr>
          <p:spPr bwMode="auto">
            <a:xfrm flipV="1">
              <a:off x="5916767" y="3756801"/>
              <a:ext cx="1558145" cy="2225"/>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69" name="Line 70">
              <a:extLst>
                <a:ext uri="{FF2B5EF4-FFF2-40B4-BE49-F238E27FC236}">
                  <a16:creationId xmlns:a16="http://schemas.microsoft.com/office/drawing/2014/main" id="{1F07BD66-6294-4278-A4D1-84995B0994E3}"/>
                </a:ext>
              </a:extLst>
            </p:cNvPr>
            <p:cNvSpPr>
              <a:spLocks noChangeShapeType="1"/>
            </p:cNvSpPr>
            <p:nvPr/>
          </p:nvSpPr>
          <p:spPr bwMode="auto">
            <a:xfrm flipV="1">
              <a:off x="5916767" y="4564493"/>
              <a:ext cx="1558145" cy="2225"/>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0" name="Text Box 71">
              <a:extLst>
                <a:ext uri="{FF2B5EF4-FFF2-40B4-BE49-F238E27FC236}">
                  <a16:creationId xmlns:a16="http://schemas.microsoft.com/office/drawing/2014/main" id="{E2166E13-64C5-47D9-A7E4-9BBC35F0B07B}"/>
                </a:ext>
              </a:extLst>
            </p:cNvPr>
            <p:cNvSpPr txBox="1">
              <a:spLocks noChangeArrowheads="1"/>
            </p:cNvSpPr>
            <p:nvPr/>
          </p:nvSpPr>
          <p:spPr bwMode="auto">
            <a:xfrm>
              <a:off x="6043746" y="3138237"/>
              <a:ext cx="1166625"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rgbClr val="FF00FF"/>
                  </a:solidFill>
                  <a:latin typeface="Arial" panose="020B0604020202020204" pitchFamily="34" charset="0"/>
                </a:rPr>
                <a:t>XXXXXX</a:t>
              </a:r>
            </a:p>
          </p:txBody>
        </p:sp>
        <p:sp>
          <p:nvSpPr>
            <p:cNvPr id="71" name="Text Box 72">
              <a:extLst>
                <a:ext uri="{FF2B5EF4-FFF2-40B4-BE49-F238E27FC236}">
                  <a16:creationId xmlns:a16="http://schemas.microsoft.com/office/drawing/2014/main" id="{B4752D72-719B-4EDC-AB10-9EBA35AC2E23}"/>
                </a:ext>
              </a:extLst>
            </p:cNvPr>
            <p:cNvSpPr txBox="1">
              <a:spLocks noChangeArrowheads="1"/>
            </p:cNvSpPr>
            <p:nvPr/>
          </p:nvSpPr>
          <p:spPr bwMode="auto">
            <a:xfrm>
              <a:off x="5929994" y="4900476"/>
              <a:ext cx="1087262" cy="387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call 100</a:t>
              </a:r>
            </a:p>
          </p:txBody>
        </p:sp>
        <p:sp>
          <p:nvSpPr>
            <p:cNvPr id="72" name="Rectangle 73">
              <a:extLst>
                <a:ext uri="{FF2B5EF4-FFF2-40B4-BE49-F238E27FC236}">
                  <a16:creationId xmlns:a16="http://schemas.microsoft.com/office/drawing/2014/main" id="{35FB61D4-49AC-41A9-B2CD-C6890693D3D9}"/>
                </a:ext>
              </a:extLst>
            </p:cNvPr>
            <p:cNvSpPr>
              <a:spLocks noChangeArrowheads="1"/>
            </p:cNvSpPr>
            <p:nvPr/>
          </p:nvSpPr>
          <p:spPr bwMode="auto">
            <a:xfrm>
              <a:off x="5916767" y="1941161"/>
              <a:ext cx="1558145" cy="705340"/>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73" name="Freeform 74">
              <a:extLst>
                <a:ext uri="{FF2B5EF4-FFF2-40B4-BE49-F238E27FC236}">
                  <a16:creationId xmlns:a16="http://schemas.microsoft.com/office/drawing/2014/main" id="{3A727BAB-F2F9-4FA1-82E7-6390A03BAF88}"/>
                </a:ext>
              </a:extLst>
            </p:cNvPr>
            <p:cNvSpPr>
              <a:spLocks/>
            </p:cNvSpPr>
            <p:nvPr/>
          </p:nvSpPr>
          <p:spPr bwMode="auto">
            <a:xfrm>
              <a:off x="5916767" y="5574665"/>
              <a:ext cx="1558145" cy="302607"/>
            </a:xfrm>
            <a:custGeom>
              <a:avLst/>
              <a:gdLst>
                <a:gd name="T0" fmla="*/ 0 w 409"/>
                <a:gd name="T1" fmla="*/ 0 h 91"/>
                <a:gd name="T2" fmla="*/ 10686666 w 409"/>
                <a:gd name="T3" fmla="*/ 34840366 h 91"/>
                <a:gd name="T4" fmla="*/ 26579257 w 409"/>
                <a:gd name="T5" fmla="*/ 0 h 91"/>
                <a:gd name="T6" fmla="*/ 47869385 w 409"/>
                <a:gd name="T7" fmla="*/ 34840366 h 91"/>
                <a:gd name="T8" fmla="*/ 0 60000 65536"/>
                <a:gd name="T9" fmla="*/ 0 60000 65536"/>
                <a:gd name="T10" fmla="*/ 0 60000 65536"/>
                <a:gd name="T11" fmla="*/ 0 60000 65536"/>
                <a:gd name="T12" fmla="*/ 0 w 409"/>
                <a:gd name="T13" fmla="*/ 0 h 91"/>
                <a:gd name="T14" fmla="*/ 409 w 409"/>
                <a:gd name="T15" fmla="*/ 91 h 91"/>
              </a:gdLst>
              <a:ahLst/>
              <a:cxnLst>
                <a:cxn ang="T8">
                  <a:pos x="T0" y="T1"/>
                </a:cxn>
                <a:cxn ang="T9">
                  <a:pos x="T2" y="T3"/>
                </a:cxn>
                <a:cxn ang="T10">
                  <a:pos x="T4" y="T5"/>
                </a:cxn>
                <a:cxn ang="T11">
                  <a:pos x="T6" y="T7"/>
                </a:cxn>
              </a:cxnLst>
              <a:rect l="T12" t="T13" r="T14" b="T15"/>
              <a:pathLst>
                <a:path w="409" h="91">
                  <a:moveTo>
                    <a:pt x="0" y="0"/>
                  </a:moveTo>
                  <a:cubicBezTo>
                    <a:pt x="26" y="45"/>
                    <a:pt x="53" y="91"/>
                    <a:pt x="91" y="91"/>
                  </a:cubicBezTo>
                  <a:cubicBezTo>
                    <a:pt x="129" y="91"/>
                    <a:pt x="174" y="0"/>
                    <a:pt x="227" y="0"/>
                  </a:cubicBezTo>
                  <a:cubicBezTo>
                    <a:pt x="280" y="0"/>
                    <a:pt x="379" y="76"/>
                    <a:pt x="409" y="9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2"/>
                </a:solidFill>
              </a:endParaRPr>
            </a:p>
          </p:txBody>
        </p:sp>
        <p:sp>
          <p:nvSpPr>
            <p:cNvPr id="74" name="Line 75">
              <a:extLst>
                <a:ext uri="{FF2B5EF4-FFF2-40B4-BE49-F238E27FC236}">
                  <a16:creationId xmlns:a16="http://schemas.microsoft.com/office/drawing/2014/main" id="{28455A43-3F79-4AAB-B1A5-604D0C3FFF32}"/>
                </a:ext>
              </a:extLst>
            </p:cNvPr>
            <p:cNvSpPr>
              <a:spLocks noChangeShapeType="1"/>
            </p:cNvSpPr>
            <p:nvPr/>
          </p:nvSpPr>
          <p:spPr bwMode="auto">
            <a:xfrm>
              <a:off x="5916767" y="5372186"/>
              <a:ext cx="0" cy="2024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5" name="Line 76">
              <a:extLst>
                <a:ext uri="{FF2B5EF4-FFF2-40B4-BE49-F238E27FC236}">
                  <a16:creationId xmlns:a16="http://schemas.microsoft.com/office/drawing/2014/main" id="{51FA4796-8B21-45AF-A248-BFED05B7C3C0}"/>
                </a:ext>
              </a:extLst>
            </p:cNvPr>
            <p:cNvSpPr>
              <a:spLocks noChangeShapeType="1"/>
            </p:cNvSpPr>
            <p:nvPr/>
          </p:nvSpPr>
          <p:spPr bwMode="auto">
            <a:xfrm>
              <a:off x="7474912" y="5372186"/>
              <a:ext cx="0" cy="5050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76" name="Text Box 78">
              <a:extLst>
                <a:ext uri="{FF2B5EF4-FFF2-40B4-BE49-F238E27FC236}">
                  <a16:creationId xmlns:a16="http://schemas.microsoft.com/office/drawing/2014/main" id="{61130179-A357-47E1-8073-175514D9AB86}"/>
                </a:ext>
              </a:extLst>
            </p:cNvPr>
            <p:cNvSpPr txBox="1">
              <a:spLocks noChangeArrowheads="1"/>
            </p:cNvSpPr>
            <p:nvPr/>
          </p:nvSpPr>
          <p:spPr bwMode="auto">
            <a:xfrm>
              <a:off x="5554346" y="1738682"/>
              <a:ext cx="394166"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0</a:t>
              </a:r>
            </a:p>
          </p:txBody>
        </p:sp>
        <p:sp>
          <p:nvSpPr>
            <p:cNvPr id="77" name="Text Box 79">
              <a:extLst>
                <a:ext uri="{FF2B5EF4-FFF2-40B4-BE49-F238E27FC236}">
                  <a16:creationId xmlns:a16="http://schemas.microsoft.com/office/drawing/2014/main" id="{FE212C9B-5614-40D6-AD8E-81AD469DDCA2}"/>
                </a:ext>
              </a:extLst>
            </p:cNvPr>
            <p:cNvSpPr txBox="1">
              <a:spLocks noChangeArrowheads="1"/>
            </p:cNvSpPr>
            <p:nvPr/>
          </p:nvSpPr>
          <p:spPr bwMode="auto">
            <a:xfrm>
              <a:off x="5009392" y="2904247"/>
              <a:ext cx="841240"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22KB</a:t>
              </a:r>
            </a:p>
          </p:txBody>
        </p:sp>
        <p:sp>
          <p:nvSpPr>
            <p:cNvPr id="78" name="Text Box 80">
              <a:extLst>
                <a:ext uri="{FF2B5EF4-FFF2-40B4-BE49-F238E27FC236}">
                  <a16:creationId xmlns:a16="http://schemas.microsoft.com/office/drawing/2014/main" id="{A5177BC0-8632-4FD5-8E5C-98DCC12FF8D9}"/>
                </a:ext>
              </a:extLst>
            </p:cNvPr>
            <p:cNvSpPr txBox="1">
              <a:spLocks noChangeArrowheads="1"/>
            </p:cNvSpPr>
            <p:nvPr/>
          </p:nvSpPr>
          <p:spPr bwMode="auto">
            <a:xfrm>
              <a:off x="5009392" y="3102637"/>
              <a:ext cx="9204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accent2">
                      <a:lumMod val="50000"/>
                    </a:schemeClr>
                  </a:solidFill>
                  <a:latin typeface="Arial" panose="020B0604020202020204" pitchFamily="34" charset="0"/>
                </a:rPr>
                <a:t>22KB+100</a:t>
              </a:r>
            </a:p>
          </p:txBody>
        </p:sp>
        <p:sp>
          <p:nvSpPr>
            <p:cNvPr id="79" name="Text Box 81">
              <a:extLst>
                <a:ext uri="{FF2B5EF4-FFF2-40B4-BE49-F238E27FC236}">
                  <a16:creationId xmlns:a16="http://schemas.microsoft.com/office/drawing/2014/main" id="{517E74DC-01FB-4BAD-A4AC-3C11D57CB34F}"/>
                </a:ext>
              </a:extLst>
            </p:cNvPr>
            <p:cNvSpPr txBox="1">
              <a:spLocks noChangeArrowheads="1"/>
            </p:cNvSpPr>
            <p:nvPr/>
          </p:nvSpPr>
          <p:spPr bwMode="auto">
            <a:xfrm>
              <a:off x="5009392" y="3563222"/>
              <a:ext cx="841240"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23KB</a:t>
              </a:r>
            </a:p>
          </p:txBody>
        </p:sp>
        <p:sp>
          <p:nvSpPr>
            <p:cNvPr id="80" name="Text Box 82">
              <a:extLst>
                <a:ext uri="{FF2B5EF4-FFF2-40B4-BE49-F238E27FC236}">
                  <a16:creationId xmlns:a16="http://schemas.microsoft.com/office/drawing/2014/main" id="{1C19C66D-D22D-45C3-8948-B307E86D1017}"/>
                </a:ext>
              </a:extLst>
            </p:cNvPr>
            <p:cNvSpPr txBox="1">
              <a:spLocks noChangeArrowheads="1"/>
            </p:cNvSpPr>
            <p:nvPr/>
          </p:nvSpPr>
          <p:spPr bwMode="auto">
            <a:xfrm>
              <a:off x="5035846" y="4370914"/>
              <a:ext cx="841240"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24KB</a:t>
              </a:r>
            </a:p>
          </p:txBody>
        </p:sp>
        <p:sp>
          <p:nvSpPr>
            <p:cNvPr id="81" name="Text Box 83">
              <a:extLst>
                <a:ext uri="{FF2B5EF4-FFF2-40B4-BE49-F238E27FC236}">
                  <a16:creationId xmlns:a16="http://schemas.microsoft.com/office/drawing/2014/main" id="{2EAA4C49-8924-44B7-8BDD-332397548BE2}"/>
                </a:ext>
              </a:extLst>
            </p:cNvPr>
            <p:cNvSpPr txBox="1">
              <a:spLocks noChangeArrowheads="1"/>
            </p:cNvSpPr>
            <p:nvPr/>
          </p:nvSpPr>
          <p:spPr bwMode="auto">
            <a:xfrm>
              <a:off x="5008069" y="4900476"/>
              <a:ext cx="1465556"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22KB+3000</a:t>
              </a:r>
            </a:p>
          </p:txBody>
        </p:sp>
        <p:sp>
          <p:nvSpPr>
            <p:cNvPr id="82" name="Text Box 84">
              <a:extLst>
                <a:ext uri="{FF2B5EF4-FFF2-40B4-BE49-F238E27FC236}">
                  <a16:creationId xmlns:a16="http://schemas.microsoft.com/office/drawing/2014/main" id="{076F48BF-BDAF-4B5D-A379-71872D0BA6AD}"/>
                </a:ext>
              </a:extLst>
            </p:cNvPr>
            <p:cNvSpPr txBox="1">
              <a:spLocks noChangeArrowheads="1"/>
            </p:cNvSpPr>
            <p:nvPr/>
          </p:nvSpPr>
          <p:spPr bwMode="auto">
            <a:xfrm>
              <a:off x="5009392" y="5158581"/>
              <a:ext cx="841240"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25KB</a:t>
              </a:r>
            </a:p>
          </p:txBody>
        </p:sp>
        <p:sp>
          <p:nvSpPr>
            <p:cNvPr id="83" name="Text Box 85">
              <a:extLst>
                <a:ext uri="{FF2B5EF4-FFF2-40B4-BE49-F238E27FC236}">
                  <a16:creationId xmlns:a16="http://schemas.microsoft.com/office/drawing/2014/main" id="{03FE42C6-1E07-4749-84B3-2CA1F3D3A58A}"/>
                </a:ext>
              </a:extLst>
            </p:cNvPr>
            <p:cNvSpPr txBox="1">
              <a:spLocks noChangeArrowheads="1"/>
            </p:cNvSpPr>
            <p:nvPr/>
          </p:nvSpPr>
          <p:spPr bwMode="auto">
            <a:xfrm>
              <a:off x="6035810" y="2141416"/>
              <a:ext cx="1166625"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操作系统</a:t>
              </a:r>
            </a:p>
          </p:txBody>
        </p:sp>
        <p:sp>
          <p:nvSpPr>
            <p:cNvPr id="84" name="Line 86">
              <a:extLst>
                <a:ext uri="{FF2B5EF4-FFF2-40B4-BE49-F238E27FC236}">
                  <a16:creationId xmlns:a16="http://schemas.microsoft.com/office/drawing/2014/main" id="{E45F9094-7D16-44CB-BB5B-DB8363FC02B7}"/>
                </a:ext>
              </a:extLst>
            </p:cNvPr>
            <p:cNvSpPr>
              <a:spLocks noChangeShapeType="1"/>
            </p:cNvSpPr>
            <p:nvPr/>
          </p:nvSpPr>
          <p:spPr bwMode="auto">
            <a:xfrm flipH="1">
              <a:off x="6996093" y="3251715"/>
              <a:ext cx="960283" cy="0"/>
            </a:xfrm>
            <a:prstGeom prst="line">
              <a:avLst/>
            </a:prstGeom>
            <a:noFill/>
            <a:ln w="38100">
              <a:solidFill>
                <a:srgbClr val="FF0066"/>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85" name="Line 87">
              <a:extLst>
                <a:ext uri="{FF2B5EF4-FFF2-40B4-BE49-F238E27FC236}">
                  <a16:creationId xmlns:a16="http://schemas.microsoft.com/office/drawing/2014/main" id="{BC38AA95-9E29-4AE3-84F2-88747D6CADEF}"/>
                </a:ext>
              </a:extLst>
            </p:cNvPr>
            <p:cNvSpPr>
              <a:spLocks noChangeShapeType="1"/>
            </p:cNvSpPr>
            <p:nvPr/>
          </p:nvSpPr>
          <p:spPr bwMode="auto">
            <a:xfrm>
              <a:off x="7956376" y="3251715"/>
              <a:ext cx="0" cy="1817865"/>
            </a:xfrm>
            <a:prstGeom prst="line">
              <a:avLst/>
            </a:prstGeom>
            <a:noFill/>
            <a:ln w="38100">
              <a:solidFill>
                <a:srgbClr val="FF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86" name="Line 88">
              <a:extLst>
                <a:ext uri="{FF2B5EF4-FFF2-40B4-BE49-F238E27FC236}">
                  <a16:creationId xmlns:a16="http://schemas.microsoft.com/office/drawing/2014/main" id="{764BDB2C-A12B-4875-8A1E-0786E52C0F23}"/>
                </a:ext>
              </a:extLst>
            </p:cNvPr>
            <p:cNvSpPr>
              <a:spLocks noChangeShapeType="1"/>
            </p:cNvSpPr>
            <p:nvPr/>
          </p:nvSpPr>
          <p:spPr bwMode="auto">
            <a:xfrm flipH="1">
              <a:off x="6874404" y="5069579"/>
              <a:ext cx="1081972" cy="0"/>
            </a:xfrm>
            <a:prstGeom prst="line">
              <a:avLst/>
            </a:prstGeom>
            <a:noFill/>
            <a:ln w="38100">
              <a:solidFill>
                <a:srgbClr val="FF0066"/>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87" name="Rectangle 89">
              <a:extLst>
                <a:ext uri="{FF2B5EF4-FFF2-40B4-BE49-F238E27FC236}">
                  <a16:creationId xmlns:a16="http://schemas.microsoft.com/office/drawing/2014/main" id="{0C9D9F3A-0946-4B0A-BED5-1841CD41C027}"/>
                </a:ext>
              </a:extLst>
            </p:cNvPr>
            <p:cNvSpPr>
              <a:spLocks noChangeArrowheads="1"/>
            </p:cNvSpPr>
            <p:nvPr/>
          </p:nvSpPr>
          <p:spPr bwMode="auto">
            <a:xfrm>
              <a:off x="5916767" y="2646502"/>
              <a:ext cx="1558145" cy="402734"/>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88" name="Text Box 90">
              <a:extLst>
                <a:ext uri="{FF2B5EF4-FFF2-40B4-BE49-F238E27FC236}">
                  <a16:creationId xmlns:a16="http://schemas.microsoft.com/office/drawing/2014/main" id="{CE57FB8E-3CCD-459D-BCF6-5476FBAE8D1A}"/>
                </a:ext>
              </a:extLst>
            </p:cNvPr>
            <p:cNvSpPr txBox="1">
              <a:spLocks noChangeArrowheads="1"/>
            </p:cNvSpPr>
            <p:nvPr/>
          </p:nvSpPr>
          <p:spPr bwMode="auto">
            <a:xfrm>
              <a:off x="5019974" y="2432897"/>
              <a:ext cx="952347"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20KB</a:t>
              </a:r>
            </a:p>
          </p:txBody>
        </p:sp>
        <p:sp>
          <p:nvSpPr>
            <p:cNvPr id="89" name="Rectangle 110">
              <a:extLst>
                <a:ext uri="{FF2B5EF4-FFF2-40B4-BE49-F238E27FC236}">
                  <a16:creationId xmlns:a16="http://schemas.microsoft.com/office/drawing/2014/main" id="{71B7F6BB-4484-4DC6-A384-EC70FDD54252}"/>
                </a:ext>
              </a:extLst>
            </p:cNvPr>
            <p:cNvSpPr>
              <a:spLocks noChangeArrowheads="1"/>
            </p:cNvSpPr>
            <p:nvPr/>
          </p:nvSpPr>
          <p:spPr bwMode="auto">
            <a:xfrm>
              <a:off x="5964384" y="1242496"/>
              <a:ext cx="185179" cy="40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kumimoji="0" lang="zh-CN" altLang="en-US" sz="2000" dirty="0">
                <a:solidFill>
                  <a:schemeClr val="bg2"/>
                </a:solidFill>
              </a:endParaRPr>
            </a:p>
          </p:txBody>
        </p:sp>
        <p:sp>
          <p:nvSpPr>
            <p:cNvPr id="3" name="矩形 2"/>
            <p:cNvSpPr/>
            <p:nvPr/>
          </p:nvSpPr>
          <p:spPr>
            <a:xfrm>
              <a:off x="6345349" y="5525913"/>
              <a:ext cx="700833" cy="400110"/>
            </a:xfrm>
            <a:prstGeom prst="rect">
              <a:avLst/>
            </a:prstGeom>
          </p:spPr>
          <p:txBody>
            <a:bodyPr wrap="none">
              <a:spAutoFit/>
            </a:bodyPr>
            <a:lstStyle/>
            <a:p>
              <a:pPr algn="ctr" eaLnBrk="1" hangingPunct="1"/>
              <a:r>
                <a:rPr kumimoji="0" lang="zh-CN" altLang="en-US" sz="2000" dirty="0">
                  <a:solidFill>
                    <a:schemeClr val="bg2"/>
                  </a:solidFill>
                  <a:latin typeface="Arial" panose="020B0604020202020204" pitchFamily="34" charset="0"/>
                </a:rPr>
                <a:t>内存</a:t>
              </a:r>
            </a:p>
          </p:txBody>
        </p:sp>
      </p:grpSp>
      <p:sp>
        <p:nvSpPr>
          <p:cNvPr id="47" name="Oval 54">
            <a:extLst>
              <a:ext uri="{FF2B5EF4-FFF2-40B4-BE49-F238E27FC236}">
                <a16:creationId xmlns:a16="http://schemas.microsoft.com/office/drawing/2014/main" id="{299F9660-6C4E-4820-B1B7-02AA95D3E396}"/>
              </a:ext>
            </a:extLst>
          </p:cNvPr>
          <p:cNvSpPr>
            <a:spLocks noChangeArrowheads="1"/>
          </p:cNvSpPr>
          <p:nvPr/>
        </p:nvSpPr>
        <p:spPr bwMode="auto">
          <a:xfrm>
            <a:off x="4610084" y="2868863"/>
            <a:ext cx="792162" cy="289605"/>
          </a:xfrm>
          <a:prstGeom prst="ellipse">
            <a:avLst/>
          </a:prstGeom>
          <a:noFill/>
          <a:ln w="38100" cap="sq">
            <a:solidFill>
              <a:srgbClr val="66FF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48" name="Oval 54">
            <a:extLst>
              <a:ext uri="{FF2B5EF4-FFF2-40B4-BE49-F238E27FC236}">
                <a16:creationId xmlns:a16="http://schemas.microsoft.com/office/drawing/2014/main" id="{299F9660-6C4E-4820-B1B7-02AA95D3E396}"/>
              </a:ext>
            </a:extLst>
          </p:cNvPr>
          <p:cNvSpPr>
            <a:spLocks noChangeArrowheads="1"/>
          </p:cNvSpPr>
          <p:nvPr/>
        </p:nvSpPr>
        <p:spPr bwMode="auto">
          <a:xfrm>
            <a:off x="771186" y="1845993"/>
            <a:ext cx="792162" cy="292062"/>
          </a:xfrm>
          <a:prstGeom prst="ellipse">
            <a:avLst/>
          </a:prstGeom>
          <a:noFill/>
          <a:ln w="38100" cap="sq">
            <a:solidFill>
              <a:srgbClr val="66FF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Tree>
    <p:extLst>
      <p:ext uri="{BB962C8B-B14F-4D97-AF65-F5344CB8AC3E}">
        <p14:creationId xmlns:p14="http://schemas.microsoft.com/office/powerpoint/2010/main" val="304149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2000"/>
                                        <p:tgtEl>
                                          <p:spTgt spid="47"/>
                                        </p:tgtEl>
                                      </p:cBhvr>
                                    </p:animEffect>
                                  </p:childTnLst>
                                </p:cTn>
                              </p:par>
                            </p:childTnLst>
                          </p:cTn>
                        </p:par>
                        <p:par>
                          <p:cTn id="18" fill="hold">
                            <p:stCondLst>
                              <p:cond delay="2000"/>
                            </p:stCondLst>
                            <p:childTnLst>
                              <p:par>
                                <p:cTn id="19" presetID="2" presetClass="entr" presetSubtype="6" fill="hold" grpId="0" nodeType="afterEffect">
                                  <p:stCondLst>
                                    <p:cond delay="0"/>
                                  </p:stCondLst>
                                  <p:childTnLst>
                                    <p:set>
                                      <p:cBhvr>
                                        <p:cTn id="20" dur="1" fill="hold">
                                          <p:stCondLst>
                                            <p:cond delay="0"/>
                                          </p:stCondLst>
                                        </p:cTn>
                                        <p:tgtEl>
                                          <p:spTgt spid="92"/>
                                        </p:tgtEl>
                                        <p:attrNameLst>
                                          <p:attrName>style.visibility</p:attrName>
                                        </p:attrNameLst>
                                      </p:cBhvr>
                                      <p:to>
                                        <p:strVal val="visible"/>
                                      </p:to>
                                    </p:set>
                                    <p:anim calcmode="lin" valueType="num">
                                      <p:cBhvr additive="base">
                                        <p:cTn id="21" dur="500" fill="hold"/>
                                        <p:tgtEl>
                                          <p:spTgt spid="92"/>
                                        </p:tgtEl>
                                        <p:attrNameLst>
                                          <p:attrName>ppt_x</p:attrName>
                                        </p:attrNameLst>
                                      </p:cBhvr>
                                      <p:tavLst>
                                        <p:tav tm="0">
                                          <p:val>
                                            <p:strVal val="1+#ppt_w/2"/>
                                          </p:val>
                                        </p:tav>
                                        <p:tav tm="100000">
                                          <p:val>
                                            <p:strVal val="#ppt_x"/>
                                          </p:val>
                                        </p:tav>
                                      </p:tavLst>
                                    </p:anim>
                                    <p:anim calcmode="lin" valueType="num">
                                      <p:cBhvr additive="base">
                                        <p:cTn id="22"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47" grpId="0" animBg="1"/>
      <p:bldP spid="4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C86951DD-AE93-46EB-821F-A0E6B0B54A63}"/>
              </a:ext>
            </a:extLst>
          </p:cNvPr>
          <p:cNvSpPr txBox="1">
            <a:spLocks noChangeArrowheads="1"/>
          </p:cNvSpPr>
          <p:nvPr/>
        </p:nvSpPr>
        <p:spPr>
          <a:xfrm>
            <a:off x="2484438" y="0"/>
            <a:ext cx="3784600" cy="74771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重定位</a:t>
            </a:r>
          </a:p>
        </p:txBody>
      </p:sp>
      <p:sp>
        <p:nvSpPr>
          <p:cNvPr id="6" name="Rectangle 3">
            <a:extLst>
              <a:ext uri="{FF2B5EF4-FFF2-40B4-BE49-F238E27FC236}">
                <a16:creationId xmlns:a16="http://schemas.microsoft.com/office/drawing/2014/main" id="{BC754BC9-3A4E-4649-A164-2B8102529C10}"/>
              </a:ext>
            </a:extLst>
          </p:cNvPr>
          <p:cNvSpPr txBox="1">
            <a:spLocks noChangeArrowheads="1"/>
          </p:cNvSpPr>
          <p:nvPr/>
        </p:nvSpPr>
        <p:spPr>
          <a:xfrm>
            <a:off x="1028" y="1052736"/>
            <a:ext cx="8964613" cy="158472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442913" lvl="3" indent="-442913"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程序被装入，分配从某单元开始的地址空间，起始地址不固定。</a:t>
            </a:r>
          </a:p>
          <a:p>
            <a:pPr marL="442913" lvl="3" indent="-442913"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latin typeface="+mj-lt"/>
                <a:ea typeface="楷体" panose="02010609060101010101" pitchFamily="49" charset="-122"/>
              </a:rPr>
              <a:t>逻辑地址与物理地址不一致。</a:t>
            </a:r>
          </a:p>
        </p:txBody>
      </p:sp>
      <p:sp>
        <p:nvSpPr>
          <p:cNvPr id="7" name="Text Box 5">
            <a:extLst>
              <a:ext uri="{FF2B5EF4-FFF2-40B4-BE49-F238E27FC236}">
                <a16:creationId xmlns:a16="http://schemas.microsoft.com/office/drawing/2014/main" id="{23DAFAC8-EFD4-40F9-83CD-246E227ABA06}"/>
              </a:ext>
            </a:extLst>
          </p:cNvPr>
          <p:cNvSpPr txBox="1">
            <a:spLocks noChangeArrowheads="1"/>
          </p:cNvSpPr>
          <p:nvPr/>
        </p:nvSpPr>
        <p:spPr bwMode="auto">
          <a:xfrm>
            <a:off x="684213" y="3916363"/>
            <a:ext cx="7848600" cy="1286506"/>
          </a:xfrm>
          <a:prstGeom prst="rect">
            <a:avLst/>
          </a:prstGeom>
          <a:solidFill>
            <a:srgbClr val="99FF99"/>
          </a:solidFill>
          <a:ln w="57150" cap="sq">
            <a:pattFill prst="sphere">
              <a:fgClr>
                <a:schemeClr val="hlink"/>
              </a:fgClr>
              <a:bgClr>
                <a:schemeClr val="bg1"/>
              </a:bgClr>
            </a:pattFill>
            <a:miter lim="800000"/>
            <a:headEnd type="none" w="sm" len="sm"/>
            <a:tailEnd type="none" w="sm" len="sm"/>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3600" dirty="0">
                <a:solidFill>
                  <a:schemeClr val="bg2"/>
                </a:solidFill>
                <a:ea typeface="楷体_GB2312" pitchFamily="49" charset="-122"/>
              </a:rPr>
              <a:t>地址重定位</a:t>
            </a:r>
            <a:endParaRPr lang="en-US" altLang="zh-CN" sz="3600" dirty="0">
              <a:solidFill>
                <a:schemeClr val="bg2"/>
              </a:solidFill>
              <a:ea typeface="楷体_GB2312" pitchFamily="49" charset="-122"/>
            </a:endParaRPr>
          </a:p>
          <a:p>
            <a:pPr algn="ctr" eaLnBrk="1" hangingPunct="1">
              <a:spcBef>
                <a:spcPct val="30000"/>
              </a:spcBef>
              <a:buClrTx/>
              <a:buSzTx/>
              <a:buFontTx/>
              <a:buNone/>
            </a:pPr>
            <a:r>
              <a:rPr lang="zh-CN" altLang="en-US" dirty="0">
                <a:solidFill>
                  <a:schemeClr val="bg2"/>
                </a:solidFill>
                <a:ea typeface="楷体_GB2312" pitchFamily="49" charset="-122"/>
              </a:rPr>
              <a:t>将逻辑地址转换成物理地址的工作。</a:t>
            </a: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13344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299E16A-353F-4047-97B5-D6A534391A38}"/>
              </a:ext>
            </a:extLst>
          </p:cNvPr>
          <p:cNvSpPr txBox="1">
            <a:spLocks noChangeArrowheads="1"/>
          </p:cNvSpPr>
          <p:nvPr/>
        </p:nvSpPr>
        <p:spPr>
          <a:xfrm>
            <a:off x="107505" y="1000125"/>
            <a:ext cx="9036496" cy="365301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rgbClr val="FF0000"/>
                </a:solidFill>
                <a:latin typeface="+mj-lt"/>
                <a:ea typeface="楷体" panose="02010609060101010101" pitchFamily="49" charset="-122"/>
              </a:rPr>
              <a:t>程序执行前</a:t>
            </a:r>
            <a:r>
              <a:rPr lang="zh-CN" altLang="en-US" sz="3600" dirty="0">
                <a:solidFill>
                  <a:schemeClr val="bg2"/>
                </a:solidFill>
                <a:latin typeface="+mj-lt"/>
                <a:ea typeface="楷体" panose="02010609060101010101" pitchFamily="49" charset="-122"/>
              </a:rPr>
              <a:t>由重定位装入程序</a:t>
            </a:r>
            <a:r>
              <a:rPr lang="zh-CN" altLang="en-US" sz="3600" dirty="0">
                <a:solidFill>
                  <a:schemeClr val="bg1">
                    <a:lumMod val="75000"/>
                  </a:schemeClr>
                </a:solidFill>
                <a:latin typeface="+mj-lt"/>
                <a:ea typeface="楷体" panose="02010609060101010101" pitchFamily="49" charset="-122"/>
              </a:rPr>
              <a:t>一次完成</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按起始地址调整程序指令中的地址</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优点：</a:t>
            </a:r>
            <a:r>
              <a:rPr lang="zh-CN" altLang="en-US" sz="3600" dirty="0">
                <a:solidFill>
                  <a:schemeClr val="bg2"/>
                </a:solidFill>
                <a:latin typeface="+mj-lt"/>
                <a:ea typeface="楷体" panose="02010609060101010101" pitchFamily="49" charset="-122"/>
              </a:rPr>
              <a:t>由软件实现，不需要硬件支持</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缺点：</a:t>
            </a:r>
            <a:r>
              <a:rPr lang="zh-CN" altLang="en-US" sz="3600" dirty="0">
                <a:solidFill>
                  <a:schemeClr val="bg2"/>
                </a:solidFill>
                <a:latin typeface="+mj-lt"/>
                <a:ea typeface="楷体" panose="02010609060101010101" pitchFamily="49" charset="-122"/>
              </a:rPr>
              <a:t>程序一旦装入内存，就不能再移动</a:t>
            </a:r>
          </a:p>
        </p:txBody>
      </p:sp>
      <p:sp>
        <p:nvSpPr>
          <p:cNvPr id="6" name="Rectangle 3">
            <a:extLst>
              <a:ext uri="{FF2B5EF4-FFF2-40B4-BE49-F238E27FC236}">
                <a16:creationId xmlns:a16="http://schemas.microsoft.com/office/drawing/2014/main" id="{12D8EB19-AFEB-45B6-ADF7-C148914AC46C}"/>
              </a:ext>
            </a:extLst>
          </p:cNvPr>
          <p:cNvSpPr txBox="1">
            <a:spLocks noChangeArrowheads="1"/>
          </p:cNvSpPr>
          <p:nvPr/>
        </p:nvSpPr>
        <p:spPr>
          <a:xfrm>
            <a:off x="539552" y="0"/>
            <a:ext cx="8072437" cy="74771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静态地址重定位</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44592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checkerboard(across)">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checkerboard(across)">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C35FDD8A-F746-4162-B1B2-D249B9991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494" y="980728"/>
            <a:ext cx="7542213"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a:extLst>
              <a:ext uri="{FF2B5EF4-FFF2-40B4-BE49-F238E27FC236}">
                <a16:creationId xmlns:a16="http://schemas.microsoft.com/office/drawing/2014/main" id="{769E66C3-A207-4878-B166-1758DCFD186B}"/>
              </a:ext>
            </a:extLst>
          </p:cNvPr>
          <p:cNvSpPr>
            <a:spLocks noChangeArrowheads="1"/>
          </p:cNvSpPr>
          <p:nvPr/>
        </p:nvSpPr>
        <p:spPr bwMode="auto">
          <a:xfrm>
            <a:off x="2195513" y="0"/>
            <a:ext cx="5040536" cy="707886"/>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静态地址重定位示例</a:t>
            </a:r>
          </a:p>
        </p:txBody>
      </p:sp>
      <p:sp>
        <p:nvSpPr>
          <p:cNvPr id="9" name="Oval 9">
            <a:extLst>
              <a:ext uri="{FF2B5EF4-FFF2-40B4-BE49-F238E27FC236}">
                <a16:creationId xmlns:a16="http://schemas.microsoft.com/office/drawing/2014/main" id="{E2115366-A5BC-4E81-BE95-C955730EDA48}"/>
              </a:ext>
            </a:extLst>
          </p:cNvPr>
          <p:cNvSpPr>
            <a:spLocks noChangeArrowheads="1"/>
          </p:cNvSpPr>
          <p:nvPr/>
        </p:nvSpPr>
        <p:spPr bwMode="auto">
          <a:xfrm>
            <a:off x="1763713" y="2636838"/>
            <a:ext cx="863600" cy="576262"/>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Line 10">
            <a:extLst>
              <a:ext uri="{FF2B5EF4-FFF2-40B4-BE49-F238E27FC236}">
                <a16:creationId xmlns:a16="http://schemas.microsoft.com/office/drawing/2014/main" id="{5A4C9C50-F5EB-4C95-ADED-05000BF63A50}"/>
              </a:ext>
            </a:extLst>
          </p:cNvPr>
          <p:cNvSpPr>
            <a:spLocks noChangeShapeType="1"/>
          </p:cNvSpPr>
          <p:nvPr/>
        </p:nvSpPr>
        <p:spPr bwMode="auto">
          <a:xfrm flipH="1">
            <a:off x="1187450" y="3141663"/>
            <a:ext cx="1008063" cy="792162"/>
          </a:xfrm>
          <a:prstGeom prst="line">
            <a:avLst/>
          </a:prstGeom>
          <a:noFill/>
          <a:ln w="381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Oval 11">
            <a:extLst>
              <a:ext uri="{FF2B5EF4-FFF2-40B4-BE49-F238E27FC236}">
                <a16:creationId xmlns:a16="http://schemas.microsoft.com/office/drawing/2014/main" id="{46C1A836-B18E-40B8-A22C-6F15B922698C}"/>
              </a:ext>
            </a:extLst>
          </p:cNvPr>
          <p:cNvSpPr>
            <a:spLocks noChangeArrowheads="1"/>
          </p:cNvSpPr>
          <p:nvPr/>
        </p:nvSpPr>
        <p:spPr bwMode="auto">
          <a:xfrm>
            <a:off x="7380288" y="2636838"/>
            <a:ext cx="863600" cy="576262"/>
          </a:xfrm>
          <a:prstGeom prst="ellipse">
            <a:avLst/>
          </a:prstGeom>
          <a:noFill/>
          <a:ln w="381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Line 12">
            <a:extLst>
              <a:ext uri="{FF2B5EF4-FFF2-40B4-BE49-F238E27FC236}">
                <a16:creationId xmlns:a16="http://schemas.microsoft.com/office/drawing/2014/main" id="{0FB0C5B5-2E15-4245-BBDB-0A4C1FCE5833}"/>
              </a:ext>
            </a:extLst>
          </p:cNvPr>
          <p:cNvSpPr>
            <a:spLocks noChangeShapeType="1"/>
          </p:cNvSpPr>
          <p:nvPr/>
        </p:nvSpPr>
        <p:spPr bwMode="auto">
          <a:xfrm flipH="1">
            <a:off x="6804025" y="3141663"/>
            <a:ext cx="1008063" cy="792162"/>
          </a:xfrm>
          <a:prstGeom prst="line">
            <a:avLst/>
          </a:prstGeom>
          <a:noFill/>
          <a:ln w="381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8925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0.70"/>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strVal val="#ppt_w*0.70"/>
                                          </p:val>
                                        </p:tav>
                                        <p:tav tm="100000">
                                          <p:val>
                                            <p:strVal val="#ppt_w"/>
                                          </p:val>
                                        </p:tav>
                                      </p:tavLst>
                                    </p:anim>
                                    <p:anim calcmode="lin" valueType="num">
                                      <p:cBhvr>
                                        <p:cTn id="15" dur="1000" fill="hold"/>
                                        <p:tgtEl>
                                          <p:spTgt spid="10"/>
                                        </p:tgtEl>
                                        <p:attrNameLst>
                                          <p:attrName>ppt_h</p:attrName>
                                        </p:attrNameLst>
                                      </p:cBhvr>
                                      <p:tavLst>
                                        <p:tav tm="0">
                                          <p:val>
                                            <p:strVal val="#ppt_h"/>
                                          </p:val>
                                        </p:tav>
                                        <p:tav tm="100000">
                                          <p:val>
                                            <p:strVal val="#ppt_h"/>
                                          </p:val>
                                        </p:tav>
                                      </p:tavLst>
                                    </p:anim>
                                    <p:animEffect transition="in" filter="fade">
                                      <p:cBhvr>
                                        <p:cTn id="16" dur="1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1000" fill="hold"/>
                                        <p:tgtEl>
                                          <p:spTgt spid="11"/>
                                        </p:tgtEl>
                                        <p:attrNameLst>
                                          <p:attrName>ppt_w</p:attrName>
                                        </p:attrNameLst>
                                      </p:cBhvr>
                                      <p:tavLst>
                                        <p:tav tm="0">
                                          <p:val>
                                            <p:strVal val="#ppt_w*0.70"/>
                                          </p:val>
                                        </p:tav>
                                        <p:tav tm="100000">
                                          <p:val>
                                            <p:strVal val="#ppt_w"/>
                                          </p:val>
                                        </p:tav>
                                      </p:tavLst>
                                    </p:anim>
                                    <p:anim calcmode="lin" valueType="num">
                                      <p:cBhvr>
                                        <p:cTn id="22" dur="1000" fill="hold"/>
                                        <p:tgtEl>
                                          <p:spTgt spid="11"/>
                                        </p:tgtEl>
                                        <p:attrNameLst>
                                          <p:attrName>ppt_h</p:attrName>
                                        </p:attrNameLst>
                                      </p:cBhvr>
                                      <p:tavLst>
                                        <p:tav tm="0">
                                          <p:val>
                                            <p:strVal val="#ppt_h"/>
                                          </p:val>
                                        </p:tav>
                                        <p:tav tm="100000">
                                          <p:val>
                                            <p:strVal val="#ppt_h"/>
                                          </p:val>
                                        </p:tav>
                                      </p:tavLst>
                                    </p:anim>
                                    <p:animEffect transition="in" filter="fade">
                                      <p:cBhvr>
                                        <p:cTn id="23" dur="10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1000" fill="hold"/>
                                        <p:tgtEl>
                                          <p:spTgt spid="12"/>
                                        </p:tgtEl>
                                        <p:attrNameLst>
                                          <p:attrName>ppt_w</p:attrName>
                                        </p:attrNameLst>
                                      </p:cBhvr>
                                      <p:tavLst>
                                        <p:tav tm="0">
                                          <p:val>
                                            <p:strVal val="#ppt_w*0.70"/>
                                          </p:val>
                                        </p:tav>
                                        <p:tav tm="100000">
                                          <p:val>
                                            <p:strVal val="#ppt_w"/>
                                          </p:val>
                                        </p:tav>
                                      </p:tavLst>
                                    </p:anim>
                                    <p:anim calcmode="lin" valueType="num">
                                      <p:cBhvr>
                                        <p:cTn id="29" dur="1000" fill="hold"/>
                                        <p:tgtEl>
                                          <p:spTgt spid="12"/>
                                        </p:tgtEl>
                                        <p:attrNameLst>
                                          <p:attrName>ppt_h</p:attrName>
                                        </p:attrNameLst>
                                      </p:cBhvr>
                                      <p:tavLst>
                                        <p:tav tm="0">
                                          <p:val>
                                            <p:strVal val="#ppt_h"/>
                                          </p:val>
                                        </p:tav>
                                        <p:tav tm="100000">
                                          <p:val>
                                            <p:strVal val="#ppt_h"/>
                                          </p:val>
                                        </p:tav>
                                      </p:tavLst>
                                    </p:anim>
                                    <p:animEffect transition="in" filter="fade">
                                      <p:cBhvr>
                                        <p:cTn id="30" dur="1000"/>
                                        <p:tgtEl>
                                          <p:spTgt spid="12"/>
                                        </p:tgtEl>
                                      </p:cBhvr>
                                    </p:animEffect>
                                  </p:childTnLst>
                                </p:cTn>
                              </p:par>
                            </p:childTnLst>
                          </p:cTn>
                        </p:par>
                        <p:par>
                          <p:cTn id="31" fill="hold">
                            <p:stCondLst>
                              <p:cond delay="1000"/>
                            </p:stCondLst>
                            <p:childTnLst>
                              <p:par>
                                <p:cTn id="32" presetID="2" presetClass="entr" presetSubtype="6"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1+#ppt_w/2"/>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C9022493-E321-457C-9303-89A5A6504067}"/>
              </a:ext>
            </a:extLst>
          </p:cNvPr>
          <p:cNvSpPr>
            <a:spLocks noChangeArrowheads="1"/>
          </p:cNvSpPr>
          <p:nvPr/>
        </p:nvSpPr>
        <p:spPr bwMode="auto">
          <a:xfrm>
            <a:off x="250825" y="714375"/>
            <a:ext cx="8893175" cy="372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685800" indent="-2286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rgbClr val="FF0000"/>
              </a:buClr>
              <a:buSzPct val="100000"/>
              <a:buFont typeface="Wingdings" panose="05000000000000000000" pitchFamily="2" charset="2"/>
              <a:buChar char="n"/>
              <a:defRPr/>
            </a:pPr>
            <a:r>
              <a:rPr lang="zh-CN" altLang="en-US" sz="3600" dirty="0">
                <a:solidFill>
                  <a:srgbClr val="FF0000"/>
                </a:solidFill>
                <a:effectLst>
                  <a:outerShdw blurRad="38100" dist="38100" dir="2700000" algn="tl">
                    <a:srgbClr val="000000"/>
                  </a:outerShdw>
                </a:effectLst>
                <a:latin typeface="+mj-lt"/>
                <a:ea typeface="楷体" panose="02010609060101010101" pitchFamily="49" charset="-122"/>
              </a:rPr>
              <a:t>执行指令时</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对指令本身不做任何修改</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优点</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可以进行非连续分配。</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缺点：需要硬件地址变换机构</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一个</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或多个</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基地址寄存器</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BR;</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一个</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或多个</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程序虚拟地址寄存器</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VR</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a:t>
            </a:r>
          </a:p>
        </p:txBody>
      </p:sp>
      <p:sp>
        <p:nvSpPr>
          <p:cNvPr id="6" name="Rectangle 5">
            <a:extLst>
              <a:ext uri="{FF2B5EF4-FFF2-40B4-BE49-F238E27FC236}">
                <a16:creationId xmlns:a16="http://schemas.microsoft.com/office/drawing/2014/main" id="{94AF879D-07C1-42B8-801B-9398ED105951}"/>
              </a:ext>
            </a:extLst>
          </p:cNvPr>
          <p:cNvSpPr txBox="1">
            <a:spLocks noChangeArrowheads="1"/>
          </p:cNvSpPr>
          <p:nvPr/>
        </p:nvSpPr>
        <p:spPr>
          <a:xfrm>
            <a:off x="500063" y="0"/>
            <a:ext cx="8429625" cy="57626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动态地址重定位</a:t>
            </a:r>
          </a:p>
        </p:txBody>
      </p:sp>
      <p:sp>
        <p:nvSpPr>
          <p:cNvPr id="7" name="Text Box 6">
            <a:extLst>
              <a:ext uri="{FF2B5EF4-FFF2-40B4-BE49-F238E27FC236}">
                <a16:creationId xmlns:a16="http://schemas.microsoft.com/office/drawing/2014/main" id="{F22CA849-41FA-43EA-B2E4-2BA979BCE6F3}"/>
              </a:ext>
            </a:extLst>
          </p:cNvPr>
          <p:cNvSpPr txBox="1">
            <a:spLocks noChangeArrowheads="1"/>
          </p:cNvSpPr>
          <p:nvPr/>
        </p:nvSpPr>
        <p:spPr bwMode="auto">
          <a:xfrm>
            <a:off x="188040" y="4696680"/>
            <a:ext cx="8713788" cy="584775"/>
          </a:xfrm>
          <a:prstGeom prst="rect">
            <a:avLst/>
          </a:prstGeom>
          <a:solidFill>
            <a:srgbClr val="FFFF99"/>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solidFill>
                  <a:schemeClr val="bg2"/>
                </a:solidFill>
                <a:ea typeface="楷体_GB2312" pitchFamily="49" charset="-122"/>
              </a:rPr>
              <a:t>指令或数据的内存地址   </a:t>
            </a:r>
            <a:r>
              <a:rPr lang="en-US" altLang="zh-CN" dirty="0">
                <a:solidFill>
                  <a:schemeClr val="bg2"/>
                </a:solidFill>
                <a:ea typeface="楷体_GB2312" pitchFamily="49" charset="-122"/>
              </a:rPr>
              <a:t>MA =(BR)+ (VR)</a:t>
            </a: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14780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checkerboard(across)">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checkerboard(across)">
                                      <p:cBhvr>
                                        <p:cTn id="12" dur="500"/>
                                        <p:tgtEl>
                                          <p:spTgt spid="5">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checkerboard(across)">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blinds(horizontal)">
                                      <p:cBhvr>
                                        <p:cTn id="20" dur="500"/>
                                        <p:tgtEl>
                                          <p:spTgt spid="5">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blinds(horizontal)">
                                      <p:cBhvr>
                                        <p:cTn id="23" dur="500"/>
                                        <p:tgtEl>
                                          <p:spTgt spid="5">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blinds(horizontal)">
                                      <p:cBhvr>
                                        <p:cTn id="26" dur="500"/>
                                        <p:tgtEl>
                                          <p:spTgt spid="5">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dissolve">
                                      <p:cBhvr>
                                        <p:cTn id="31" dur="500"/>
                                        <p:tgtEl>
                                          <p:spTgt spid="7"/>
                                        </p:tgtEl>
                                      </p:cBhvr>
                                    </p:animEffect>
                                  </p:childTnLst>
                                </p:cTn>
                              </p:par>
                            </p:childTnLst>
                          </p:cTn>
                        </p:par>
                        <p:par>
                          <p:cTn id="32" fill="hold">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1+#ppt_w/2"/>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a:extLst>
              <a:ext uri="{FF2B5EF4-FFF2-40B4-BE49-F238E27FC236}">
                <a16:creationId xmlns:a16="http://schemas.microsoft.com/office/drawing/2014/main" id="{A1EA644B-73A4-4134-974E-1F45EEAE6E97}"/>
              </a:ext>
            </a:extLst>
          </p:cNvPr>
          <p:cNvSpPr txBox="1">
            <a:spLocks noChangeArrowheads="1"/>
          </p:cNvSpPr>
          <p:nvPr/>
        </p:nvSpPr>
        <p:spPr bwMode="auto">
          <a:xfrm>
            <a:off x="1044575" y="5870575"/>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bg2"/>
                </a:solidFill>
              </a:rPr>
              <a:t>逻辑地址空间</a:t>
            </a:r>
          </a:p>
        </p:txBody>
      </p:sp>
      <p:sp>
        <p:nvSpPr>
          <p:cNvPr id="6" name="Rectangle 6">
            <a:extLst>
              <a:ext uri="{FF2B5EF4-FFF2-40B4-BE49-F238E27FC236}">
                <a16:creationId xmlns:a16="http://schemas.microsoft.com/office/drawing/2014/main" id="{4B9034A1-37F2-4FEC-A522-998D887C58B7}"/>
              </a:ext>
            </a:extLst>
          </p:cNvPr>
          <p:cNvSpPr>
            <a:spLocks noChangeArrowheads="1"/>
          </p:cNvSpPr>
          <p:nvPr/>
        </p:nvSpPr>
        <p:spPr bwMode="auto">
          <a:xfrm>
            <a:off x="1187450" y="2886075"/>
            <a:ext cx="1489075" cy="593725"/>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7" name="Rectangle 7">
            <a:extLst>
              <a:ext uri="{FF2B5EF4-FFF2-40B4-BE49-F238E27FC236}">
                <a16:creationId xmlns:a16="http://schemas.microsoft.com/office/drawing/2014/main" id="{15830420-7540-4297-A19D-D6AF85D12119}"/>
              </a:ext>
            </a:extLst>
          </p:cNvPr>
          <p:cNvSpPr>
            <a:spLocks noChangeArrowheads="1"/>
          </p:cNvSpPr>
          <p:nvPr/>
        </p:nvSpPr>
        <p:spPr bwMode="auto">
          <a:xfrm>
            <a:off x="1187450" y="3479800"/>
            <a:ext cx="1489075" cy="415925"/>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000" dirty="0">
                <a:solidFill>
                  <a:schemeClr val="bg2"/>
                </a:solidFill>
                <a:latin typeface="宋体" panose="02010600030101010101" pitchFamily="2" charset="-122"/>
              </a:rPr>
              <a:t>LOAD 1,1000</a:t>
            </a:r>
          </a:p>
        </p:txBody>
      </p:sp>
      <p:sp>
        <p:nvSpPr>
          <p:cNvPr id="8" name="Rectangle 8">
            <a:extLst>
              <a:ext uri="{FF2B5EF4-FFF2-40B4-BE49-F238E27FC236}">
                <a16:creationId xmlns:a16="http://schemas.microsoft.com/office/drawing/2014/main" id="{C0D34996-9679-4C1E-992C-102B04C3D48D}"/>
              </a:ext>
            </a:extLst>
          </p:cNvPr>
          <p:cNvSpPr>
            <a:spLocks noChangeArrowheads="1"/>
          </p:cNvSpPr>
          <p:nvPr/>
        </p:nvSpPr>
        <p:spPr bwMode="auto">
          <a:xfrm>
            <a:off x="1187450" y="3895725"/>
            <a:ext cx="1489075" cy="714375"/>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9" name="Rectangle 9">
            <a:extLst>
              <a:ext uri="{FF2B5EF4-FFF2-40B4-BE49-F238E27FC236}">
                <a16:creationId xmlns:a16="http://schemas.microsoft.com/office/drawing/2014/main" id="{64178D47-D650-445B-8CD6-695F0A2391D5}"/>
              </a:ext>
            </a:extLst>
          </p:cNvPr>
          <p:cNvSpPr>
            <a:spLocks noChangeArrowheads="1"/>
          </p:cNvSpPr>
          <p:nvPr/>
        </p:nvSpPr>
        <p:spPr bwMode="auto">
          <a:xfrm>
            <a:off x="1187450" y="4610100"/>
            <a:ext cx="1489075" cy="415925"/>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12345</a:t>
            </a:r>
          </a:p>
        </p:txBody>
      </p:sp>
      <p:sp>
        <p:nvSpPr>
          <p:cNvPr id="10" name="Rectangle 10">
            <a:extLst>
              <a:ext uri="{FF2B5EF4-FFF2-40B4-BE49-F238E27FC236}">
                <a16:creationId xmlns:a16="http://schemas.microsoft.com/office/drawing/2014/main" id="{9A3FE699-876E-4750-A30D-8AB18F488531}"/>
              </a:ext>
            </a:extLst>
          </p:cNvPr>
          <p:cNvSpPr>
            <a:spLocks noChangeArrowheads="1"/>
          </p:cNvSpPr>
          <p:nvPr/>
        </p:nvSpPr>
        <p:spPr bwMode="auto">
          <a:xfrm>
            <a:off x="1187450" y="5026025"/>
            <a:ext cx="1489075" cy="593725"/>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11" name="Text Box 11">
            <a:extLst>
              <a:ext uri="{FF2B5EF4-FFF2-40B4-BE49-F238E27FC236}">
                <a16:creationId xmlns:a16="http://schemas.microsoft.com/office/drawing/2014/main" id="{B374F319-8467-4BAC-B033-D110B13DE1E0}"/>
              </a:ext>
            </a:extLst>
          </p:cNvPr>
          <p:cNvSpPr txBox="1">
            <a:spLocks noChangeArrowheads="1"/>
          </p:cNvSpPr>
          <p:nvPr/>
        </p:nvSpPr>
        <p:spPr bwMode="auto">
          <a:xfrm>
            <a:off x="468313" y="2708275"/>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0000</a:t>
            </a:r>
          </a:p>
        </p:txBody>
      </p:sp>
      <p:sp>
        <p:nvSpPr>
          <p:cNvPr id="12" name="Text Box 12">
            <a:extLst>
              <a:ext uri="{FF2B5EF4-FFF2-40B4-BE49-F238E27FC236}">
                <a16:creationId xmlns:a16="http://schemas.microsoft.com/office/drawing/2014/main" id="{D916C0F0-C54F-412F-95DD-41C6E205F0AC}"/>
              </a:ext>
            </a:extLst>
          </p:cNvPr>
          <p:cNvSpPr txBox="1">
            <a:spLocks noChangeArrowheads="1"/>
          </p:cNvSpPr>
          <p:nvPr/>
        </p:nvSpPr>
        <p:spPr bwMode="auto">
          <a:xfrm>
            <a:off x="468313" y="3284538"/>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0100</a:t>
            </a:r>
          </a:p>
        </p:txBody>
      </p:sp>
      <p:sp>
        <p:nvSpPr>
          <p:cNvPr id="13" name="Text Box 13">
            <a:extLst>
              <a:ext uri="{FF2B5EF4-FFF2-40B4-BE49-F238E27FC236}">
                <a16:creationId xmlns:a16="http://schemas.microsoft.com/office/drawing/2014/main" id="{4B1C69A4-97D2-4EDB-A738-D070FC5CA527}"/>
              </a:ext>
            </a:extLst>
          </p:cNvPr>
          <p:cNvSpPr txBox="1">
            <a:spLocks noChangeArrowheads="1"/>
          </p:cNvSpPr>
          <p:nvPr/>
        </p:nvSpPr>
        <p:spPr bwMode="auto">
          <a:xfrm>
            <a:off x="468313" y="4364038"/>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1000</a:t>
            </a:r>
          </a:p>
        </p:txBody>
      </p:sp>
      <p:sp>
        <p:nvSpPr>
          <p:cNvPr id="14" name="Text Box 14">
            <a:extLst>
              <a:ext uri="{FF2B5EF4-FFF2-40B4-BE49-F238E27FC236}">
                <a16:creationId xmlns:a16="http://schemas.microsoft.com/office/drawing/2014/main" id="{EC6CBFC5-9CA0-461E-AF7F-64E84CB3660E}"/>
              </a:ext>
            </a:extLst>
          </p:cNvPr>
          <p:cNvSpPr txBox="1">
            <a:spLocks noChangeArrowheads="1"/>
          </p:cNvSpPr>
          <p:nvPr/>
        </p:nvSpPr>
        <p:spPr bwMode="auto">
          <a:xfrm>
            <a:off x="468313" y="5372100"/>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2000</a:t>
            </a:r>
          </a:p>
        </p:txBody>
      </p:sp>
      <p:sp>
        <p:nvSpPr>
          <p:cNvPr id="15" name="Text Box 15">
            <a:extLst>
              <a:ext uri="{FF2B5EF4-FFF2-40B4-BE49-F238E27FC236}">
                <a16:creationId xmlns:a16="http://schemas.microsoft.com/office/drawing/2014/main" id="{242517C8-DF34-429E-844C-5C8E8C39B6AE}"/>
              </a:ext>
            </a:extLst>
          </p:cNvPr>
          <p:cNvSpPr txBox="1">
            <a:spLocks noChangeArrowheads="1"/>
          </p:cNvSpPr>
          <p:nvPr/>
        </p:nvSpPr>
        <p:spPr bwMode="auto">
          <a:xfrm>
            <a:off x="1634808" y="2995613"/>
            <a:ext cx="492443" cy="360362"/>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sp>
        <p:nvSpPr>
          <p:cNvPr id="16" name="Text Box 16">
            <a:extLst>
              <a:ext uri="{FF2B5EF4-FFF2-40B4-BE49-F238E27FC236}">
                <a16:creationId xmlns:a16="http://schemas.microsoft.com/office/drawing/2014/main" id="{C9BC3A8B-C474-4279-9D61-00F4D78C3CAF}"/>
              </a:ext>
            </a:extLst>
          </p:cNvPr>
          <p:cNvSpPr txBox="1">
            <a:spLocks noChangeArrowheads="1"/>
          </p:cNvSpPr>
          <p:nvPr/>
        </p:nvSpPr>
        <p:spPr bwMode="auto">
          <a:xfrm>
            <a:off x="1634808" y="4076700"/>
            <a:ext cx="492443" cy="360363"/>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sp>
        <p:nvSpPr>
          <p:cNvPr id="17" name="Text Box 17">
            <a:extLst>
              <a:ext uri="{FF2B5EF4-FFF2-40B4-BE49-F238E27FC236}">
                <a16:creationId xmlns:a16="http://schemas.microsoft.com/office/drawing/2014/main" id="{0C8083A3-0EB5-495B-9CF6-32BC504A671D}"/>
              </a:ext>
            </a:extLst>
          </p:cNvPr>
          <p:cNvSpPr txBox="1">
            <a:spLocks noChangeArrowheads="1"/>
          </p:cNvSpPr>
          <p:nvPr/>
        </p:nvSpPr>
        <p:spPr bwMode="auto">
          <a:xfrm>
            <a:off x="1634808" y="5156200"/>
            <a:ext cx="492443" cy="360363"/>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grpSp>
        <p:nvGrpSpPr>
          <p:cNvPr id="18" name="Group 52">
            <a:extLst>
              <a:ext uri="{FF2B5EF4-FFF2-40B4-BE49-F238E27FC236}">
                <a16:creationId xmlns:a16="http://schemas.microsoft.com/office/drawing/2014/main" id="{A1261D75-6398-4B86-94DF-C2B5651699E7}"/>
              </a:ext>
            </a:extLst>
          </p:cNvPr>
          <p:cNvGrpSpPr>
            <a:grpSpLocks/>
          </p:cNvGrpSpPr>
          <p:nvPr/>
        </p:nvGrpSpPr>
        <p:grpSpPr bwMode="auto">
          <a:xfrm>
            <a:off x="3205163" y="2125663"/>
            <a:ext cx="935037" cy="920750"/>
            <a:chOff x="2109" y="799"/>
            <a:chExt cx="589" cy="580"/>
          </a:xfrm>
        </p:grpSpPr>
        <p:sp>
          <p:nvSpPr>
            <p:cNvPr id="19" name="Rectangle 35">
              <a:extLst>
                <a:ext uri="{FF2B5EF4-FFF2-40B4-BE49-F238E27FC236}">
                  <a16:creationId xmlns:a16="http://schemas.microsoft.com/office/drawing/2014/main" id="{FB78E272-05F8-455E-A12A-5644A27472B9}"/>
                </a:ext>
              </a:extLst>
            </p:cNvPr>
            <p:cNvSpPr>
              <a:spLocks noChangeArrowheads="1"/>
            </p:cNvSpPr>
            <p:nvPr/>
          </p:nvSpPr>
          <p:spPr bwMode="auto">
            <a:xfrm>
              <a:off x="2155" y="1117"/>
              <a:ext cx="499" cy="262"/>
            </a:xfrm>
            <a:prstGeom prst="rect">
              <a:avLst/>
            </a:prstGeom>
            <a:solidFill>
              <a:srgbClr val="CCFF99"/>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000">
                  <a:solidFill>
                    <a:schemeClr val="bg2"/>
                  </a:solidFill>
                </a:rPr>
                <a:t>1000</a:t>
              </a:r>
            </a:p>
          </p:txBody>
        </p:sp>
        <p:sp>
          <p:nvSpPr>
            <p:cNvPr id="20" name="Text Box 37">
              <a:extLst>
                <a:ext uri="{FF2B5EF4-FFF2-40B4-BE49-F238E27FC236}">
                  <a16:creationId xmlns:a16="http://schemas.microsoft.com/office/drawing/2014/main" id="{3B5A4A2C-CA76-4429-B88A-F354D605487B}"/>
                </a:ext>
              </a:extLst>
            </p:cNvPr>
            <p:cNvSpPr txBox="1">
              <a:spLocks noChangeArrowheads="1"/>
            </p:cNvSpPr>
            <p:nvPr/>
          </p:nvSpPr>
          <p:spPr bwMode="auto">
            <a:xfrm>
              <a:off x="2109" y="799"/>
              <a:ext cx="5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a:solidFill>
                    <a:schemeClr val="bg2"/>
                  </a:solidFill>
                </a:rPr>
                <a:t>VR</a:t>
              </a:r>
            </a:p>
          </p:txBody>
        </p:sp>
      </p:grpSp>
      <p:grpSp>
        <p:nvGrpSpPr>
          <p:cNvPr id="21" name="Group 50">
            <a:extLst>
              <a:ext uri="{FF2B5EF4-FFF2-40B4-BE49-F238E27FC236}">
                <a16:creationId xmlns:a16="http://schemas.microsoft.com/office/drawing/2014/main" id="{EA28D2AE-9571-472C-AFB0-6F395451E67D}"/>
              </a:ext>
            </a:extLst>
          </p:cNvPr>
          <p:cNvGrpSpPr>
            <a:grpSpLocks/>
          </p:cNvGrpSpPr>
          <p:nvPr/>
        </p:nvGrpSpPr>
        <p:grpSpPr bwMode="auto">
          <a:xfrm>
            <a:off x="4209627" y="2151857"/>
            <a:ext cx="1511300" cy="920750"/>
            <a:chOff x="2790" y="799"/>
            <a:chExt cx="952" cy="580"/>
          </a:xfrm>
        </p:grpSpPr>
        <p:sp>
          <p:nvSpPr>
            <p:cNvPr id="22" name="Rectangle 34">
              <a:extLst>
                <a:ext uri="{FF2B5EF4-FFF2-40B4-BE49-F238E27FC236}">
                  <a16:creationId xmlns:a16="http://schemas.microsoft.com/office/drawing/2014/main" id="{64456DD8-9328-4FF8-963F-8A60F236B2D6}"/>
                </a:ext>
              </a:extLst>
            </p:cNvPr>
            <p:cNvSpPr>
              <a:spLocks noChangeArrowheads="1"/>
            </p:cNvSpPr>
            <p:nvPr/>
          </p:nvSpPr>
          <p:spPr bwMode="auto">
            <a:xfrm>
              <a:off x="3016" y="1117"/>
              <a:ext cx="544" cy="262"/>
            </a:xfrm>
            <a:prstGeom prst="rect">
              <a:avLst/>
            </a:prstGeom>
            <a:solidFill>
              <a:srgbClr val="CCFF99"/>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000" dirty="0">
                  <a:solidFill>
                    <a:srgbClr val="FF00FF"/>
                  </a:solidFill>
                </a:rPr>
                <a:t>10000</a:t>
              </a:r>
            </a:p>
          </p:txBody>
        </p:sp>
        <p:sp>
          <p:nvSpPr>
            <p:cNvPr id="23" name="Text Box 38">
              <a:extLst>
                <a:ext uri="{FF2B5EF4-FFF2-40B4-BE49-F238E27FC236}">
                  <a16:creationId xmlns:a16="http://schemas.microsoft.com/office/drawing/2014/main" id="{F3DCFA4F-8928-450C-B0F8-1A205E82CABC}"/>
                </a:ext>
              </a:extLst>
            </p:cNvPr>
            <p:cNvSpPr txBox="1">
              <a:spLocks noChangeArrowheads="1"/>
            </p:cNvSpPr>
            <p:nvPr/>
          </p:nvSpPr>
          <p:spPr bwMode="auto">
            <a:xfrm>
              <a:off x="2790" y="799"/>
              <a:ext cx="9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a:solidFill>
                    <a:schemeClr val="bg2"/>
                  </a:solidFill>
                </a:rPr>
                <a:t>BR</a:t>
              </a:r>
            </a:p>
          </p:txBody>
        </p:sp>
      </p:grpSp>
      <p:grpSp>
        <p:nvGrpSpPr>
          <p:cNvPr id="24" name="Group 53">
            <a:extLst>
              <a:ext uri="{FF2B5EF4-FFF2-40B4-BE49-F238E27FC236}">
                <a16:creationId xmlns:a16="http://schemas.microsoft.com/office/drawing/2014/main" id="{5FBB309E-11D9-411B-BF9D-B046F1B1E4D7}"/>
              </a:ext>
            </a:extLst>
          </p:cNvPr>
          <p:cNvGrpSpPr>
            <a:grpSpLocks/>
          </p:cNvGrpSpPr>
          <p:nvPr/>
        </p:nvGrpSpPr>
        <p:grpSpPr bwMode="auto">
          <a:xfrm>
            <a:off x="3636963" y="3062288"/>
            <a:ext cx="1944687" cy="1655762"/>
            <a:chOff x="2381" y="1389"/>
            <a:chExt cx="1361" cy="1043"/>
          </a:xfrm>
        </p:grpSpPr>
        <p:sp>
          <p:nvSpPr>
            <p:cNvPr id="25" name="Oval 36">
              <a:extLst>
                <a:ext uri="{FF2B5EF4-FFF2-40B4-BE49-F238E27FC236}">
                  <a16:creationId xmlns:a16="http://schemas.microsoft.com/office/drawing/2014/main" id="{AF7F2B42-C829-4AC6-8547-34FBD5E42CDD}"/>
                </a:ext>
              </a:extLst>
            </p:cNvPr>
            <p:cNvSpPr>
              <a:spLocks noChangeArrowheads="1"/>
            </p:cNvSpPr>
            <p:nvPr/>
          </p:nvSpPr>
          <p:spPr bwMode="auto">
            <a:xfrm>
              <a:off x="2744" y="1661"/>
              <a:ext cx="184" cy="187"/>
            </a:xfrm>
            <a:prstGeom prst="ellipse">
              <a:avLst/>
            </a:prstGeom>
            <a:solidFill>
              <a:schemeClr val="accent1"/>
            </a:solidFill>
            <a:ln w="28575">
              <a:solidFill>
                <a:schemeClr val="bg2"/>
              </a:solidFill>
              <a:round/>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dirty="0">
                  <a:solidFill>
                    <a:schemeClr val="bg2"/>
                  </a:solidFill>
                </a:rPr>
                <a:t>＋</a:t>
              </a:r>
            </a:p>
          </p:txBody>
        </p:sp>
        <p:sp>
          <p:nvSpPr>
            <p:cNvPr id="26" name="Line 39">
              <a:extLst>
                <a:ext uri="{FF2B5EF4-FFF2-40B4-BE49-F238E27FC236}">
                  <a16:creationId xmlns:a16="http://schemas.microsoft.com/office/drawing/2014/main" id="{B7B99840-9845-4203-914B-1A9FDE293318}"/>
                </a:ext>
              </a:extLst>
            </p:cNvPr>
            <p:cNvSpPr>
              <a:spLocks noChangeShapeType="1"/>
            </p:cNvSpPr>
            <p:nvPr/>
          </p:nvSpPr>
          <p:spPr bwMode="auto">
            <a:xfrm>
              <a:off x="2381" y="1389"/>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27" name="Line 40">
              <a:extLst>
                <a:ext uri="{FF2B5EF4-FFF2-40B4-BE49-F238E27FC236}">
                  <a16:creationId xmlns:a16="http://schemas.microsoft.com/office/drawing/2014/main" id="{842401B3-4DF2-427A-A390-E729E190A0AD}"/>
                </a:ext>
              </a:extLst>
            </p:cNvPr>
            <p:cNvSpPr>
              <a:spLocks noChangeShapeType="1"/>
            </p:cNvSpPr>
            <p:nvPr/>
          </p:nvSpPr>
          <p:spPr bwMode="auto">
            <a:xfrm>
              <a:off x="2381" y="1752"/>
              <a:ext cx="363"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28" name="Line 41">
              <a:extLst>
                <a:ext uri="{FF2B5EF4-FFF2-40B4-BE49-F238E27FC236}">
                  <a16:creationId xmlns:a16="http://schemas.microsoft.com/office/drawing/2014/main" id="{EA39CDC5-0F21-4255-AD5D-674B969E07CC}"/>
                </a:ext>
              </a:extLst>
            </p:cNvPr>
            <p:cNvSpPr>
              <a:spLocks noChangeShapeType="1"/>
            </p:cNvSpPr>
            <p:nvPr/>
          </p:nvSpPr>
          <p:spPr bwMode="auto">
            <a:xfrm>
              <a:off x="3289" y="1389"/>
              <a:ext cx="0" cy="363"/>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29" name="Line 42">
              <a:extLst>
                <a:ext uri="{FF2B5EF4-FFF2-40B4-BE49-F238E27FC236}">
                  <a16:creationId xmlns:a16="http://schemas.microsoft.com/office/drawing/2014/main" id="{88D36369-7EBA-43A8-90E2-57D03A6AE7DD}"/>
                </a:ext>
              </a:extLst>
            </p:cNvPr>
            <p:cNvSpPr>
              <a:spLocks noChangeShapeType="1"/>
            </p:cNvSpPr>
            <p:nvPr/>
          </p:nvSpPr>
          <p:spPr bwMode="auto">
            <a:xfrm>
              <a:off x="2926" y="1752"/>
              <a:ext cx="363"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30" name="Line 43">
              <a:extLst>
                <a:ext uri="{FF2B5EF4-FFF2-40B4-BE49-F238E27FC236}">
                  <a16:creationId xmlns:a16="http://schemas.microsoft.com/office/drawing/2014/main" id="{37E7137E-A13E-4D87-8D2E-0A6E43752C65}"/>
                </a:ext>
              </a:extLst>
            </p:cNvPr>
            <p:cNvSpPr>
              <a:spLocks noChangeShapeType="1"/>
            </p:cNvSpPr>
            <p:nvPr/>
          </p:nvSpPr>
          <p:spPr bwMode="auto">
            <a:xfrm>
              <a:off x="2835" y="1843"/>
              <a:ext cx="0" cy="589"/>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31" name="Line 44">
              <a:extLst>
                <a:ext uri="{FF2B5EF4-FFF2-40B4-BE49-F238E27FC236}">
                  <a16:creationId xmlns:a16="http://schemas.microsoft.com/office/drawing/2014/main" id="{862133D9-E82A-4D16-AC09-51BF700E0DF6}"/>
                </a:ext>
              </a:extLst>
            </p:cNvPr>
            <p:cNvSpPr>
              <a:spLocks noChangeShapeType="1"/>
            </p:cNvSpPr>
            <p:nvPr/>
          </p:nvSpPr>
          <p:spPr bwMode="auto">
            <a:xfrm>
              <a:off x="2835" y="2432"/>
              <a:ext cx="907"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grpSp>
      <p:sp>
        <p:nvSpPr>
          <p:cNvPr id="51" name="Text Box 56">
            <a:extLst>
              <a:ext uri="{FF2B5EF4-FFF2-40B4-BE49-F238E27FC236}">
                <a16:creationId xmlns:a16="http://schemas.microsoft.com/office/drawing/2014/main" id="{B8E383C3-BC43-495A-87AB-CBC5D7A25EF5}"/>
              </a:ext>
            </a:extLst>
          </p:cNvPr>
          <p:cNvSpPr txBox="1">
            <a:spLocks noChangeArrowheads="1"/>
          </p:cNvSpPr>
          <p:nvPr/>
        </p:nvSpPr>
        <p:spPr bwMode="auto">
          <a:xfrm>
            <a:off x="357188" y="714375"/>
            <a:ext cx="8351837" cy="584775"/>
          </a:xfrm>
          <a:prstGeom prst="rect">
            <a:avLst/>
          </a:prstGeom>
          <a:noFill/>
          <a:ln w="12700" cap="sq">
            <a:noFill/>
            <a:miter lim="800000"/>
            <a:headEnd type="none" w="sm" len="sm"/>
            <a:tailEnd type="none" w="sm" len="sm"/>
          </a:ln>
          <a:effectLst/>
        </p:spPr>
        <p:txBody>
          <a:bodyPr>
            <a:spAutoFit/>
          </a:bodyPr>
          <a:lstStyle/>
          <a:p>
            <a:pPr eaLnBrk="1" hangingPunct="1">
              <a:spcBef>
                <a:spcPct val="50000"/>
              </a:spcBef>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将程序段装入内存，首地址送</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BR</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中。</a:t>
            </a:r>
          </a:p>
        </p:txBody>
      </p:sp>
      <p:sp>
        <p:nvSpPr>
          <p:cNvPr id="52" name="Text Box 57">
            <a:extLst>
              <a:ext uri="{FF2B5EF4-FFF2-40B4-BE49-F238E27FC236}">
                <a16:creationId xmlns:a16="http://schemas.microsoft.com/office/drawing/2014/main" id="{8C02CB41-CF7D-4078-8670-B2116EC4AF52}"/>
              </a:ext>
            </a:extLst>
          </p:cNvPr>
          <p:cNvSpPr txBox="1">
            <a:spLocks noChangeArrowheads="1"/>
          </p:cNvSpPr>
          <p:nvPr/>
        </p:nvSpPr>
        <p:spPr bwMode="auto">
          <a:xfrm>
            <a:off x="397164" y="1214438"/>
            <a:ext cx="8999372" cy="584775"/>
          </a:xfrm>
          <a:prstGeom prst="rect">
            <a:avLst/>
          </a:prstGeom>
          <a:noFill/>
          <a:ln w="12700" cap="sq">
            <a:noFill/>
            <a:miter lim="800000"/>
            <a:headEnd type="none" w="sm" len="sm"/>
            <a:tailEnd type="none" w="sm" len="sm"/>
          </a:ln>
          <a:effectLst/>
        </p:spPr>
        <p:txBody>
          <a:bodyPr wrap="square">
            <a:spAutoFit/>
          </a:bodyPr>
          <a:lstStyle/>
          <a:p>
            <a:pPr eaLnBrk="1" hangingPunct="1">
              <a:spcBef>
                <a:spcPct val="50000"/>
              </a:spcBef>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执行到指令时，将要访问的虚拟地址送入</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VR</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中。</a:t>
            </a:r>
          </a:p>
        </p:txBody>
      </p:sp>
      <p:sp>
        <p:nvSpPr>
          <p:cNvPr id="53" name="Text Box 58">
            <a:extLst>
              <a:ext uri="{FF2B5EF4-FFF2-40B4-BE49-F238E27FC236}">
                <a16:creationId xmlns:a16="http://schemas.microsoft.com/office/drawing/2014/main" id="{2A4FF671-6C07-4956-A7C0-CAD5FA734C5C}"/>
              </a:ext>
            </a:extLst>
          </p:cNvPr>
          <p:cNvSpPr txBox="1">
            <a:spLocks noChangeArrowheads="1"/>
          </p:cNvSpPr>
          <p:nvPr/>
        </p:nvSpPr>
        <p:spPr bwMode="auto">
          <a:xfrm>
            <a:off x="1057778" y="1743582"/>
            <a:ext cx="6769100" cy="584775"/>
          </a:xfrm>
          <a:prstGeom prst="rect">
            <a:avLst/>
          </a:prstGeom>
          <a:noFill/>
          <a:ln w="12700" cap="sq">
            <a:noFill/>
            <a:miter lim="800000"/>
            <a:headEnd type="none" w="sm" len="sm"/>
            <a:tailEnd type="none" w="sm" len="sm"/>
          </a:ln>
          <a:effectLst/>
        </p:spPr>
        <p:txBody>
          <a:bodyPr>
            <a:spAutoFit/>
          </a:bodyPr>
          <a:lstStyle/>
          <a:p>
            <a:pPr eaLnBrk="1" hangingPunct="1">
              <a:spcBef>
                <a:spcPct val="20000"/>
              </a:spcBef>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实际访问的物理地址 </a:t>
            </a:r>
            <a:r>
              <a:rPr lang="en-US" altLang="zh-CN" sz="2800" dirty="0">
                <a:solidFill>
                  <a:schemeClr val="bg2"/>
                </a:solidFill>
              </a:rPr>
              <a:t>=(BR)+ (VR)</a:t>
            </a:r>
          </a:p>
        </p:txBody>
      </p:sp>
      <p:sp>
        <p:nvSpPr>
          <p:cNvPr id="55" name="Rectangle 14">
            <a:extLst>
              <a:ext uri="{FF2B5EF4-FFF2-40B4-BE49-F238E27FC236}">
                <a16:creationId xmlns:a16="http://schemas.microsoft.com/office/drawing/2014/main" id="{FAB04FC4-F03A-49FB-8726-B43F7F50072F}"/>
              </a:ext>
            </a:extLst>
          </p:cNvPr>
          <p:cNvSpPr>
            <a:spLocks noChangeArrowheads="1"/>
          </p:cNvSpPr>
          <p:nvPr/>
        </p:nvSpPr>
        <p:spPr bwMode="auto">
          <a:xfrm>
            <a:off x="2268766" y="35065"/>
            <a:ext cx="4812536" cy="707886"/>
          </a:xfrm>
          <a:prstGeom prst="rect">
            <a:avLst/>
          </a:prstGeom>
          <a:noFill/>
          <a:ln w="12700" cap="sq">
            <a:noFill/>
            <a:miter lim="800000"/>
            <a:headEnd type="none" w="sm" len="sm"/>
            <a:tailEnd type="none" w="sm" len="sm"/>
          </a:ln>
          <a:effectLst/>
        </p:spPr>
        <p:txBody>
          <a:bodyPr wrap="none">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动态地址重定位示例</a:t>
            </a:r>
          </a:p>
        </p:txBody>
      </p:sp>
      <p:grpSp>
        <p:nvGrpSpPr>
          <p:cNvPr id="3" name="组合 2"/>
          <p:cNvGrpSpPr/>
          <p:nvPr/>
        </p:nvGrpSpPr>
        <p:grpSpPr>
          <a:xfrm>
            <a:off x="5577888" y="2568732"/>
            <a:ext cx="2850571" cy="3841751"/>
            <a:chOff x="5577888" y="2568732"/>
            <a:chExt cx="2850571" cy="3841751"/>
          </a:xfrm>
        </p:grpSpPr>
        <p:grpSp>
          <p:nvGrpSpPr>
            <p:cNvPr id="32" name="Group 49">
              <a:extLst>
                <a:ext uri="{FF2B5EF4-FFF2-40B4-BE49-F238E27FC236}">
                  <a16:creationId xmlns:a16="http://schemas.microsoft.com/office/drawing/2014/main" id="{C986336F-716D-4211-89CC-F9B46E365E99}"/>
                </a:ext>
              </a:extLst>
            </p:cNvPr>
            <p:cNvGrpSpPr>
              <a:grpSpLocks/>
            </p:cNvGrpSpPr>
            <p:nvPr/>
          </p:nvGrpSpPr>
          <p:grpSpPr bwMode="auto">
            <a:xfrm>
              <a:off x="5577888" y="2568732"/>
              <a:ext cx="2850571" cy="3841751"/>
              <a:chOff x="3606" y="1072"/>
              <a:chExt cx="1814" cy="2420"/>
            </a:xfrm>
          </p:grpSpPr>
          <p:sp>
            <p:nvSpPr>
              <p:cNvPr id="33" name="Rectangle 19">
                <a:extLst>
                  <a:ext uri="{FF2B5EF4-FFF2-40B4-BE49-F238E27FC236}">
                    <a16:creationId xmlns:a16="http://schemas.microsoft.com/office/drawing/2014/main" id="{3A6BF1A3-ADE3-4AF8-9BCD-B175E6F92ABF}"/>
                  </a:ext>
                </a:extLst>
              </p:cNvPr>
              <p:cNvSpPr>
                <a:spLocks noChangeArrowheads="1"/>
              </p:cNvSpPr>
              <p:nvPr/>
            </p:nvSpPr>
            <p:spPr bwMode="auto">
              <a:xfrm>
                <a:off x="4153" y="1170"/>
                <a:ext cx="953" cy="681"/>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34" name="Rectangle 20">
                <a:extLst>
                  <a:ext uri="{FF2B5EF4-FFF2-40B4-BE49-F238E27FC236}">
                    <a16:creationId xmlns:a16="http://schemas.microsoft.com/office/drawing/2014/main" id="{3087607F-8124-4432-ACF4-1FE20EDC3BD6}"/>
                  </a:ext>
                </a:extLst>
              </p:cNvPr>
              <p:cNvSpPr>
                <a:spLocks noChangeArrowheads="1"/>
              </p:cNvSpPr>
              <p:nvPr/>
            </p:nvSpPr>
            <p:spPr bwMode="auto">
              <a:xfrm>
                <a:off x="4155" y="1848"/>
                <a:ext cx="952" cy="273"/>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000" dirty="0">
                    <a:solidFill>
                      <a:schemeClr val="bg2"/>
                    </a:solidFill>
                    <a:latin typeface="宋体" panose="02010600030101010101" pitchFamily="2" charset="-122"/>
                  </a:rPr>
                  <a:t>LOAD 1,1000</a:t>
                </a:r>
              </a:p>
            </p:txBody>
          </p:sp>
          <p:sp>
            <p:nvSpPr>
              <p:cNvPr id="35" name="Rectangle 21">
                <a:extLst>
                  <a:ext uri="{FF2B5EF4-FFF2-40B4-BE49-F238E27FC236}">
                    <a16:creationId xmlns:a16="http://schemas.microsoft.com/office/drawing/2014/main" id="{41F7F5BF-657E-4E1D-8F26-00A082AF87BC}"/>
                  </a:ext>
                </a:extLst>
              </p:cNvPr>
              <p:cNvSpPr>
                <a:spLocks noChangeArrowheads="1"/>
              </p:cNvSpPr>
              <p:nvPr/>
            </p:nvSpPr>
            <p:spPr bwMode="auto">
              <a:xfrm>
                <a:off x="4150" y="2115"/>
                <a:ext cx="953" cy="317"/>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36" name="Rectangle 22">
                <a:extLst>
                  <a:ext uri="{FF2B5EF4-FFF2-40B4-BE49-F238E27FC236}">
                    <a16:creationId xmlns:a16="http://schemas.microsoft.com/office/drawing/2014/main" id="{004D912F-B227-4BA5-AAE0-45F54E2AA025}"/>
                  </a:ext>
                </a:extLst>
              </p:cNvPr>
              <p:cNvSpPr>
                <a:spLocks noChangeArrowheads="1"/>
              </p:cNvSpPr>
              <p:nvPr/>
            </p:nvSpPr>
            <p:spPr bwMode="auto">
              <a:xfrm>
                <a:off x="4150" y="2433"/>
                <a:ext cx="953" cy="262"/>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12345</a:t>
                </a:r>
              </a:p>
            </p:txBody>
          </p:sp>
          <p:sp>
            <p:nvSpPr>
              <p:cNvPr id="37" name="Rectangle 23">
                <a:extLst>
                  <a:ext uri="{FF2B5EF4-FFF2-40B4-BE49-F238E27FC236}">
                    <a16:creationId xmlns:a16="http://schemas.microsoft.com/office/drawing/2014/main" id="{F2832C72-C9EA-4891-9830-688DDCC1C14D}"/>
                  </a:ext>
                </a:extLst>
              </p:cNvPr>
              <p:cNvSpPr>
                <a:spLocks noChangeArrowheads="1"/>
              </p:cNvSpPr>
              <p:nvPr/>
            </p:nvSpPr>
            <p:spPr bwMode="auto">
              <a:xfrm>
                <a:off x="4150" y="2694"/>
                <a:ext cx="953" cy="374"/>
              </a:xfrm>
              <a:prstGeom prst="rect">
                <a:avLst/>
              </a:prstGeom>
              <a:solidFill>
                <a:srgbClr val="CCCCFF"/>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b="0">
                  <a:solidFill>
                    <a:schemeClr val="bg2"/>
                  </a:solidFill>
                </a:endParaRPr>
              </a:p>
            </p:txBody>
          </p:sp>
          <p:sp>
            <p:nvSpPr>
              <p:cNvPr id="38" name="Text Box 24">
                <a:extLst>
                  <a:ext uri="{FF2B5EF4-FFF2-40B4-BE49-F238E27FC236}">
                    <a16:creationId xmlns:a16="http://schemas.microsoft.com/office/drawing/2014/main" id="{437D03AD-EF41-4940-8248-F0B25DD3EF0A}"/>
                  </a:ext>
                </a:extLst>
              </p:cNvPr>
              <p:cNvSpPr txBox="1">
                <a:spLocks noChangeArrowheads="1"/>
              </p:cNvSpPr>
              <p:nvPr/>
            </p:nvSpPr>
            <p:spPr bwMode="auto">
              <a:xfrm>
                <a:off x="3651" y="1072"/>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00000</a:t>
                </a:r>
              </a:p>
            </p:txBody>
          </p:sp>
          <p:sp>
            <p:nvSpPr>
              <p:cNvPr id="39" name="Text Box 25">
                <a:extLst>
                  <a:ext uri="{FF2B5EF4-FFF2-40B4-BE49-F238E27FC236}">
                    <a16:creationId xmlns:a16="http://schemas.microsoft.com/office/drawing/2014/main" id="{2BFD1184-1426-43AD-9266-FE9CD18BA18B}"/>
                  </a:ext>
                </a:extLst>
              </p:cNvPr>
              <p:cNvSpPr txBox="1">
                <a:spLocks noChangeArrowheads="1"/>
              </p:cNvSpPr>
              <p:nvPr/>
            </p:nvSpPr>
            <p:spPr bwMode="auto">
              <a:xfrm>
                <a:off x="3606" y="1344"/>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dirty="0">
                    <a:solidFill>
                      <a:srgbClr val="FF00FF"/>
                    </a:solidFill>
                    <a:effectLst>
                      <a:outerShdw blurRad="38100" dist="38100" dir="2700000" algn="tl">
                        <a:srgbClr val="000000">
                          <a:alpha val="43137"/>
                        </a:srgbClr>
                      </a:outerShdw>
                    </a:effectLst>
                    <a:latin typeface="宋体" panose="02010600030101010101" pitchFamily="2" charset="-122"/>
                  </a:rPr>
                  <a:t>10000</a:t>
                </a:r>
              </a:p>
            </p:txBody>
          </p:sp>
          <p:sp>
            <p:nvSpPr>
              <p:cNvPr id="40" name="Text Box 26">
                <a:extLst>
                  <a:ext uri="{FF2B5EF4-FFF2-40B4-BE49-F238E27FC236}">
                    <a16:creationId xmlns:a16="http://schemas.microsoft.com/office/drawing/2014/main" id="{B58AD018-3F42-4C66-BE82-05D21CF84966}"/>
                  </a:ext>
                </a:extLst>
              </p:cNvPr>
              <p:cNvSpPr txBox="1">
                <a:spLocks noChangeArrowheads="1"/>
              </p:cNvSpPr>
              <p:nvPr/>
            </p:nvSpPr>
            <p:spPr bwMode="auto">
              <a:xfrm>
                <a:off x="3671" y="2338"/>
                <a:ext cx="434" cy="233"/>
              </a:xfrm>
              <a:prstGeom prst="rect">
                <a:avLst/>
              </a:prstGeom>
              <a:solidFill>
                <a:srgbClr val="FFFF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r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1800" dirty="0">
                    <a:solidFill>
                      <a:schemeClr val="bg2"/>
                    </a:solidFill>
                    <a:latin typeface="宋体" panose="02010600030101010101" pitchFamily="2" charset="-122"/>
                  </a:rPr>
                  <a:t>11000</a:t>
                </a:r>
              </a:p>
            </p:txBody>
          </p:sp>
          <p:sp>
            <p:nvSpPr>
              <p:cNvPr id="41" name="Text Box 27">
                <a:extLst>
                  <a:ext uri="{FF2B5EF4-FFF2-40B4-BE49-F238E27FC236}">
                    <a16:creationId xmlns:a16="http://schemas.microsoft.com/office/drawing/2014/main" id="{97344FDC-A673-46C9-913C-CCB04411A2DE}"/>
                  </a:ext>
                </a:extLst>
              </p:cNvPr>
              <p:cNvSpPr txBox="1">
                <a:spLocks noChangeArrowheads="1"/>
              </p:cNvSpPr>
              <p:nvPr/>
            </p:nvSpPr>
            <p:spPr bwMode="auto">
              <a:xfrm>
                <a:off x="3651" y="2886"/>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12000</a:t>
                </a:r>
              </a:p>
            </p:txBody>
          </p:sp>
          <p:sp>
            <p:nvSpPr>
              <p:cNvPr id="42" name="Line 28">
                <a:extLst>
                  <a:ext uri="{FF2B5EF4-FFF2-40B4-BE49-F238E27FC236}">
                    <a16:creationId xmlns:a16="http://schemas.microsoft.com/office/drawing/2014/main" id="{1F769CFC-CCC9-4B8E-9401-3DFC80D45230}"/>
                  </a:ext>
                </a:extLst>
              </p:cNvPr>
              <p:cNvSpPr>
                <a:spLocks noChangeShapeType="1"/>
              </p:cNvSpPr>
              <p:nvPr/>
            </p:nvSpPr>
            <p:spPr bwMode="auto">
              <a:xfrm>
                <a:off x="4150" y="1480"/>
                <a:ext cx="953" cy="0"/>
              </a:xfrm>
              <a:prstGeom prst="line">
                <a:avLst/>
              </a:prstGeom>
              <a:noFill/>
              <a:ln w="28575">
                <a:solidFill>
                  <a:schemeClr val="bg2"/>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solidFill>
                    <a:schemeClr val="bg2"/>
                  </a:solidFill>
                </a:endParaRPr>
              </a:p>
            </p:txBody>
          </p:sp>
          <p:sp>
            <p:nvSpPr>
              <p:cNvPr id="43" name="Text Box 29">
                <a:extLst>
                  <a:ext uri="{FF2B5EF4-FFF2-40B4-BE49-F238E27FC236}">
                    <a16:creationId xmlns:a16="http://schemas.microsoft.com/office/drawing/2014/main" id="{3C65521E-011E-4FD2-9D92-EA2BA3668F2B}"/>
                  </a:ext>
                </a:extLst>
              </p:cNvPr>
              <p:cNvSpPr txBox="1">
                <a:spLocks noChangeArrowheads="1"/>
              </p:cNvSpPr>
              <p:nvPr/>
            </p:nvSpPr>
            <p:spPr bwMode="auto">
              <a:xfrm>
                <a:off x="4466" y="1571"/>
                <a:ext cx="310" cy="227"/>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sp>
            <p:nvSpPr>
              <p:cNvPr id="44" name="Text Box 30">
                <a:extLst>
                  <a:ext uri="{FF2B5EF4-FFF2-40B4-BE49-F238E27FC236}">
                    <a16:creationId xmlns:a16="http://schemas.microsoft.com/office/drawing/2014/main" id="{6A232396-F02E-4D7A-8727-8DB2517A90E4}"/>
                  </a:ext>
                </a:extLst>
              </p:cNvPr>
              <p:cNvSpPr txBox="1">
                <a:spLocks noChangeArrowheads="1"/>
              </p:cNvSpPr>
              <p:nvPr/>
            </p:nvSpPr>
            <p:spPr bwMode="auto">
              <a:xfrm>
                <a:off x="4466" y="2160"/>
                <a:ext cx="310" cy="227"/>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sp>
            <p:nvSpPr>
              <p:cNvPr id="45" name="Text Box 31">
                <a:extLst>
                  <a:ext uri="{FF2B5EF4-FFF2-40B4-BE49-F238E27FC236}">
                    <a16:creationId xmlns:a16="http://schemas.microsoft.com/office/drawing/2014/main" id="{8C2FE483-1047-45C2-96A9-4E25E61FDC0B}"/>
                  </a:ext>
                </a:extLst>
              </p:cNvPr>
              <p:cNvSpPr txBox="1">
                <a:spLocks noChangeArrowheads="1"/>
              </p:cNvSpPr>
              <p:nvPr/>
            </p:nvSpPr>
            <p:spPr bwMode="auto">
              <a:xfrm>
                <a:off x="3651" y="1752"/>
                <a:ext cx="49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ClrTx/>
                  <a:buSzTx/>
                  <a:buFontTx/>
                  <a:buNone/>
                </a:pPr>
                <a:r>
                  <a:rPr kumimoji="0" lang="en-US" altLang="zh-CN" sz="1800">
                    <a:solidFill>
                      <a:schemeClr val="bg2"/>
                    </a:solidFill>
                    <a:latin typeface="宋体" panose="02010600030101010101" pitchFamily="2" charset="-122"/>
                  </a:rPr>
                  <a:t>10100</a:t>
                </a:r>
              </a:p>
            </p:txBody>
          </p:sp>
          <p:sp>
            <p:nvSpPr>
              <p:cNvPr id="46" name="Text Box 32">
                <a:extLst>
                  <a:ext uri="{FF2B5EF4-FFF2-40B4-BE49-F238E27FC236}">
                    <a16:creationId xmlns:a16="http://schemas.microsoft.com/office/drawing/2014/main" id="{B7994F43-1018-41DB-8195-DD9CC18792F8}"/>
                  </a:ext>
                </a:extLst>
              </p:cNvPr>
              <p:cNvSpPr txBox="1">
                <a:spLocks noChangeArrowheads="1"/>
              </p:cNvSpPr>
              <p:nvPr/>
            </p:nvSpPr>
            <p:spPr bwMode="auto">
              <a:xfrm>
                <a:off x="4466" y="2750"/>
                <a:ext cx="310" cy="227"/>
              </a:xfrm>
              <a:prstGeom prst="rect">
                <a:avLst/>
              </a:prstGeom>
              <a:solidFill>
                <a:srgbClr val="CCCCFF"/>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000">
                    <a:solidFill>
                      <a:schemeClr val="bg2"/>
                    </a:solidFill>
                    <a:latin typeface="宋体" panose="02010600030101010101" pitchFamily="2" charset="-122"/>
                  </a:rPr>
                  <a:t>…</a:t>
                </a:r>
                <a:endParaRPr kumimoji="0" lang="en-US" altLang="zh-CN" sz="2000">
                  <a:solidFill>
                    <a:schemeClr val="bg2"/>
                  </a:solidFill>
                  <a:latin typeface="Arial" panose="020B0604020202020204" pitchFamily="34" charset="0"/>
                </a:endParaRPr>
              </a:p>
            </p:txBody>
          </p:sp>
          <p:sp>
            <p:nvSpPr>
              <p:cNvPr id="47" name="Text Box 46">
                <a:extLst>
                  <a:ext uri="{FF2B5EF4-FFF2-40B4-BE49-F238E27FC236}">
                    <a16:creationId xmlns:a16="http://schemas.microsoft.com/office/drawing/2014/main" id="{5DD38320-1C31-46A4-9A2E-5CA7A9AD9418}"/>
                  </a:ext>
                </a:extLst>
              </p:cNvPr>
              <p:cNvSpPr txBox="1">
                <a:spLocks noChangeArrowheads="1"/>
              </p:cNvSpPr>
              <p:nvPr/>
            </p:nvSpPr>
            <p:spPr bwMode="auto">
              <a:xfrm>
                <a:off x="3969" y="3204"/>
                <a:ext cx="14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a:solidFill>
                      <a:schemeClr val="bg2"/>
                    </a:solidFill>
                    <a:latin typeface="宋体" panose="02010600030101010101" pitchFamily="2" charset="-122"/>
                  </a:rPr>
                  <a:t>物理地址空间</a:t>
                </a:r>
              </a:p>
            </p:txBody>
          </p:sp>
        </p:grpSp>
        <p:sp>
          <p:nvSpPr>
            <p:cNvPr id="2" name="矩形 1"/>
            <p:cNvSpPr/>
            <p:nvPr/>
          </p:nvSpPr>
          <p:spPr bwMode="auto">
            <a:xfrm>
              <a:off x="6444784" y="2694576"/>
              <a:ext cx="1483961" cy="515506"/>
            </a:xfrm>
            <a:prstGeom prst="rect">
              <a:avLst/>
            </a:prstGeom>
            <a:solidFill>
              <a:schemeClr val="tx1"/>
            </a:solidFill>
            <a:ln w="28575" cap="flat" cmpd="sng" algn="ctr">
              <a:solidFill>
                <a:schemeClr val="bg2"/>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grpSp>
      <p:sp>
        <p:nvSpPr>
          <p:cNvPr id="48" name="Line 48">
            <a:extLst>
              <a:ext uri="{FF2B5EF4-FFF2-40B4-BE49-F238E27FC236}">
                <a16:creationId xmlns:a16="http://schemas.microsoft.com/office/drawing/2014/main" id="{C57F32F5-5AA4-407F-90D7-2F70D369674A}"/>
              </a:ext>
            </a:extLst>
          </p:cNvPr>
          <p:cNvSpPr>
            <a:spLocks noChangeShapeType="1"/>
          </p:cNvSpPr>
          <p:nvPr/>
        </p:nvSpPr>
        <p:spPr bwMode="auto">
          <a:xfrm flipH="1" flipV="1">
            <a:off x="4062139" y="3000763"/>
            <a:ext cx="3597994" cy="765680"/>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49" name="Oval 51">
            <a:extLst>
              <a:ext uri="{FF2B5EF4-FFF2-40B4-BE49-F238E27FC236}">
                <a16:creationId xmlns:a16="http://schemas.microsoft.com/office/drawing/2014/main" id="{EB70E682-30BD-4185-8B73-482C14A30221}"/>
              </a:ext>
            </a:extLst>
          </p:cNvPr>
          <p:cNvSpPr>
            <a:spLocks noChangeArrowheads="1"/>
          </p:cNvSpPr>
          <p:nvPr/>
        </p:nvSpPr>
        <p:spPr bwMode="auto">
          <a:xfrm>
            <a:off x="7291095" y="3858935"/>
            <a:ext cx="653364" cy="398491"/>
          </a:xfrm>
          <a:prstGeom prst="ellipse">
            <a:avLst/>
          </a:prstGeom>
          <a:noFill/>
          <a:ln w="38100"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0" name="Oval 54">
            <a:extLst>
              <a:ext uri="{FF2B5EF4-FFF2-40B4-BE49-F238E27FC236}">
                <a16:creationId xmlns:a16="http://schemas.microsoft.com/office/drawing/2014/main" id="{299F9660-6C4E-4820-B1B7-02AA95D3E396}"/>
              </a:ext>
            </a:extLst>
          </p:cNvPr>
          <p:cNvSpPr>
            <a:spLocks noChangeArrowheads="1"/>
          </p:cNvSpPr>
          <p:nvPr/>
        </p:nvSpPr>
        <p:spPr bwMode="auto">
          <a:xfrm>
            <a:off x="5577888" y="4515007"/>
            <a:ext cx="792162" cy="459207"/>
          </a:xfrm>
          <a:prstGeom prst="ellipse">
            <a:avLst/>
          </a:prstGeom>
          <a:noFill/>
          <a:ln w="38100" cap="sq">
            <a:solidFill>
              <a:srgbClr val="66FF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57" name="AutoShape 7">
            <a:hlinkClick r:id="rId2" action="ppaction://hlinksldjump" highlightClick="1"/>
            <a:extLst>
              <a:ext uri="{FF2B5EF4-FFF2-40B4-BE49-F238E27FC236}">
                <a16:creationId xmlns:a16="http://schemas.microsoft.com/office/drawing/2014/main" id="{67DF2A42-1075-4A06-AF76-29D44E9DAF13}"/>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94324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linds(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2">
                                            <p:txEl>
                                              <p:pRg st="0" end="0"/>
                                            </p:txEl>
                                          </p:spTgt>
                                        </p:tgtEl>
                                        <p:attrNameLst>
                                          <p:attrName>style.visibility</p:attrName>
                                        </p:attrNameLst>
                                      </p:cBhvr>
                                      <p:to>
                                        <p:strVal val="visible"/>
                                      </p:to>
                                    </p:set>
                                    <p:animEffect transition="in" filter="blinds(horizontal)">
                                      <p:cBhvr>
                                        <p:cTn id="22" dur="500"/>
                                        <p:tgtEl>
                                          <p:spTgt spid="5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edge">
                                      <p:cBhvr>
                                        <p:cTn id="27" dur="20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13" presetClass="entr" presetSubtype="16"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plus(in)">
                                      <p:cBhvr>
                                        <p:cTn id="32" dur="20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3">
                                            <p:txEl>
                                              <p:pRg st="0" end="0"/>
                                            </p:txEl>
                                          </p:spTgt>
                                        </p:tgtEl>
                                        <p:attrNameLst>
                                          <p:attrName>style.visibility</p:attrName>
                                        </p:attrNameLst>
                                      </p:cBhvr>
                                      <p:to>
                                        <p:strVal val="visible"/>
                                      </p:to>
                                    </p:set>
                                    <p:animEffect transition="in" filter="blinds(horizontal)">
                                      <p:cBhvr>
                                        <p:cTn id="42" dur="500"/>
                                        <p:tgtEl>
                                          <p:spTgt spid="5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20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2000"/>
                                        <p:tgtEl>
                                          <p:spTgt spid="50"/>
                                        </p:tgtEl>
                                      </p:cBhvr>
                                    </p:animEffect>
                                  </p:childTnLst>
                                </p:cTn>
                              </p:par>
                            </p:childTnLst>
                          </p:cTn>
                        </p:par>
                        <p:par>
                          <p:cTn id="53" fill="hold">
                            <p:stCondLst>
                              <p:cond delay="2000"/>
                            </p:stCondLst>
                            <p:childTnLst>
                              <p:par>
                                <p:cTn id="54" presetID="2" presetClass="entr" presetSubtype="8" fill="hold" grpId="0" nodeType="afterEffect">
                                  <p:stCondLst>
                                    <p:cond delay="0"/>
                                  </p:stCondLst>
                                  <p:childTnLst>
                                    <p:set>
                                      <p:cBhvr>
                                        <p:cTn id="55" dur="1" fill="hold">
                                          <p:stCondLst>
                                            <p:cond delay="0"/>
                                          </p:stCondLst>
                                        </p:cTn>
                                        <p:tgtEl>
                                          <p:spTgt spid="57"/>
                                        </p:tgtEl>
                                        <p:attrNameLst>
                                          <p:attrName>style.visibility</p:attrName>
                                        </p:attrNameLst>
                                      </p:cBhvr>
                                      <p:to>
                                        <p:strVal val="visible"/>
                                      </p:to>
                                    </p:set>
                                    <p:anim calcmode="lin" valueType="num">
                                      <p:cBhvr additive="base">
                                        <p:cTn id="56" dur="500" fill="hold"/>
                                        <p:tgtEl>
                                          <p:spTgt spid="57"/>
                                        </p:tgtEl>
                                        <p:attrNameLst>
                                          <p:attrName>ppt_x</p:attrName>
                                        </p:attrNameLst>
                                      </p:cBhvr>
                                      <p:tavLst>
                                        <p:tav tm="0">
                                          <p:val>
                                            <p:strVal val="0-#ppt_w/2"/>
                                          </p:val>
                                        </p:tav>
                                        <p:tav tm="100000">
                                          <p:val>
                                            <p:strVal val="#ppt_x"/>
                                          </p:val>
                                        </p:tav>
                                      </p:tavLst>
                                    </p:anim>
                                    <p:anim calcmode="lin" valueType="num">
                                      <p:cBhvr additive="base">
                                        <p:cTn id="57"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48" grpId="0" animBg="1"/>
      <p:bldP spid="49" grpId="0" animBg="1"/>
      <p:bldP spid="50" grpId="0" animBg="1"/>
      <p:bldP spid="5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3" action="ppaction://hlinksldjump"/>
            <a:extLst>
              <a:ext uri="{FF2B5EF4-FFF2-40B4-BE49-F238E27FC236}">
                <a16:creationId xmlns:a16="http://schemas.microsoft.com/office/drawing/2014/main" id="{095645E6-3EE9-4D98-94D2-3574A66E7581}"/>
              </a:ext>
            </a:extLst>
          </p:cNvPr>
          <p:cNvSpPr/>
          <p:nvPr/>
        </p:nvSpPr>
        <p:spPr>
          <a:xfrm>
            <a:off x="1187624" y="0"/>
            <a:ext cx="6822504" cy="827150"/>
          </a:xfrm>
          <a:prstGeom prst="rect">
            <a:avLst/>
          </a:prstGeom>
        </p:spPr>
        <p:txBody>
          <a:bodyPr wrap="square">
            <a:spAutoFit/>
          </a:bodyPr>
          <a:lstStyle/>
          <a:p>
            <a:pPr marL="457200" indent="-457200" algn="ctr">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7.2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内外存数据传输</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3">
            <a:extLst>
              <a:ext uri="{FF2B5EF4-FFF2-40B4-BE49-F238E27FC236}">
                <a16:creationId xmlns:a16="http://schemas.microsoft.com/office/drawing/2014/main" id="{548957DF-2BB6-41BF-B5DD-08ACB6DCF3A9}"/>
              </a:ext>
            </a:extLst>
          </p:cNvPr>
          <p:cNvSpPr txBox="1">
            <a:spLocks noChangeArrowheads="1"/>
          </p:cNvSpPr>
          <p:nvPr/>
        </p:nvSpPr>
        <p:spPr>
          <a:xfrm>
            <a:off x="251520" y="1556792"/>
            <a:ext cx="8886437" cy="4319587"/>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用户程序自己控制</a:t>
            </a:r>
            <a:endParaRPr lang="en-US" altLang="zh-CN" sz="3600" dirty="0">
              <a:solidFill>
                <a:schemeClr val="bg1"/>
              </a:solidFill>
              <a:latin typeface="+mj-lt"/>
              <a:ea typeface="楷体" panose="02010609060101010101" pitchFamily="49" charset="-122"/>
            </a:endParaRP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覆盖</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操作系统控制</a:t>
            </a:r>
            <a:endParaRPr lang="en-US" altLang="zh-CN" sz="3600" dirty="0">
              <a:solidFill>
                <a:schemeClr val="bg1"/>
              </a:solidFill>
              <a:latin typeface="+mj-lt"/>
              <a:ea typeface="楷体" panose="02010609060101010101" pitchFamily="49" charset="-122"/>
            </a:endParaRP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交换</a:t>
            </a:r>
            <a:r>
              <a:rPr lang="en-US" altLang="zh-CN" sz="3200" dirty="0">
                <a:solidFill>
                  <a:schemeClr val="bg2"/>
                </a:solidFill>
                <a:latin typeface="+mj-lt"/>
                <a:ea typeface="楷体" panose="02010609060101010101" pitchFamily="49" charset="-122"/>
              </a:rPr>
              <a:t>(swapping)</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请求调入</a:t>
            </a:r>
            <a:r>
              <a:rPr lang="en-US" altLang="zh-CN" sz="3200" dirty="0">
                <a:solidFill>
                  <a:schemeClr val="bg2"/>
                </a:solidFill>
                <a:latin typeface="+mj-lt"/>
                <a:ea typeface="楷体" panose="02010609060101010101" pitchFamily="49" charset="-122"/>
              </a:rPr>
              <a:t>(on demand) </a:t>
            </a:r>
            <a:r>
              <a:rPr lang="zh-CN" altLang="en-US" sz="3200" dirty="0">
                <a:solidFill>
                  <a:schemeClr val="bg2"/>
                </a:solidFill>
                <a:latin typeface="+mj-lt"/>
                <a:ea typeface="楷体" panose="02010609060101010101" pitchFamily="49" charset="-122"/>
              </a:rPr>
              <a:t>和预调入</a:t>
            </a:r>
            <a:r>
              <a:rPr lang="en-US" altLang="zh-CN" sz="3200" dirty="0">
                <a:solidFill>
                  <a:schemeClr val="bg2"/>
                </a:solidFill>
                <a:latin typeface="+mj-lt"/>
                <a:ea typeface="楷体" panose="02010609060101010101" pitchFamily="49" charset="-122"/>
              </a:rPr>
              <a:t>(on </a:t>
            </a:r>
            <a:r>
              <a:rPr lang="en-US" altLang="zh-CN" sz="3200" dirty="0" err="1">
                <a:solidFill>
                  <a:schemeClr val="bg2"/>
                </a:solidFill>
                <a:latin typeface="+mj-lt"/>
                <a:ea typeface="楷体" panose="02010609060101010101" pitchFamily="49" charset="-122"/>
              </a:rPr>
              <a:t>prefetch</a:t>
            </a:r>
            <a:r>
              <a:rPr lang="en-US" altLang="zh-CN" sz="3200" dirty="0">
                <a:solidFill>
                  <a:schemeClr val="bg2"/>
                </a:solidFill>
                <a:latin typeface="+mj-lt"/>
                <a:ea typeface="楷体" panose="02010609060101010101" pitchFamily="49" charset="-122"/>
              </a:rPr>
              <a:t>)</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49159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325752" y="1412776"/>
            <a:ext cx="9578272" cy="2786062"/>
          </a:xfrm>
        </p:spPr>
        <p:txBody>
          <a:bodyPr/>
          <a:lstStyle/>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早期的</a:t>
            </a:r>
            <a:r>
              <a:rPr lang="en-US" altLang="zh-CN" sz="3200" b="1" kern="1200" dirty="0">
                <a:solidFill>
                  <a:schemeClr val="bg2"/>
                </a:solidFill>
                <a:latin typeface="+mj-lt"/>
                <a:ea typeface="楷体" panose="02010609060101010101" pitchFamily="49" charset="-122"/>
                <a:cs typeface="+mn-cs"/>
              </a:rPr>
              <a:t>OS</a:t>
            </a:r>
            <a:r>
              <a:rPr lang="zh-CN" altLang="en-US" sz="3200" b="1" kern="1200" dirty="0">
                <a:solidFill>
                  <a:schemeClr val="bg2"/>
                </a:solidFill>
                <a:latin typeface="+mj-lt"/>
                <a:ea typeface="楷体" panose="02010609060101010101" pitchFamily="49" charset="-122"/>
                <a:cs typeface="+mn-cs"/>
              </a:rPr>
              <a:t>可用的存储空间受限，大作业不能一次全部装入内存，产生</a:t>
            </a:r>
            <a:r>
              <a:rPr lang="zh-CN" altLang="en-US" sz="3200" b="1" kern="1200" dirty="0">
                <a:solidFill>
                  <a:schemeClr val="bg1">
                    <a:lumMod val="75000"/>
                  </a:schemeClr>
                </a:solidFill>
                <a:latin typeface="+mj-lt"/>
                <a:ea typeface="楷体" panose="02010609060101010101" pitchFamily="49" charset="-122"/>
                <a:cs typeface="+mn-cs"/>
              </a:rPr>
              <a:t>大作业与小内存的矛盾</a:t>
            </a:r>
            <a:r>
              <a:rPr lang="zh-CN" altLang="en-US" sz="3200" b="1" kern="1200" dirty="0">
                <a:solidFill>
                  <a:schemeClr val="bg2"/>
                </a:solidFill>
                <a:latin typeface="+mj-lt"/>
                <a:ea typeface="楷体" panose="02010609060101010101" pitchFamily="49" charset="-122"/>
                <a:cs typeface="+mn-cs"/>
              </a:rPr>
              <a:t>。</a:t>
            </a: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defRPr/>
            </a:pPr>
            <a:r>
              <a:rPr lang="zh-CN" altLang="en-US" sz="3200" b="1" kern="1200" dirty="0">
                <a:solidFill>
                  <a:schemeClr val="bg1">
                    <a:lumMod val="75000"/>
                  </a:schemeClr>
                </a:solidFill>
                <a:latin typeface="+mj-lt"/>
                <a:ea typeface="楷体" panose="02010609060101010101" pitchFamily="49" charset="-122"/>
                <a:cs typeface="+mn-cs"/>
              </a:rPr>
              <a:t>原理：</a:t>
            </a:r>
            <a:r>
              <a:rPr lang="zh-CN" altLang="en-US" sz="3200" b="1" kern="1200" dirty="0">
                <a:solidFill>
                  <a:schemeClr val="bg2"/>
                </a:solidFill>
                <a:latin typeface="+mj-lt"/>
                <a:ea typeface="楷体" panose="02010609060101010101" pitchFamily="49" charset="-122"/>
                <a:cs typeface="+mn-cs"/>
              </a:rPr>
              <a:t>不存在调用关系的模块</a:t>
            </a:r>
          </a:p>
          <a:p>
            <a:pPr marL="1270000" lvl="4"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不必同时装入到内存，共用一个分区</a:t>
            </a:r>
            <a:endParaRPr lang="en-US" altLang="zh-CN" sz="3200" b="1" kern="1200" dirty="0">
              <a:solidFill>
                <a:schemeClr val="bg2"/>
              </a:solidFill>
              <a:latin typeface="+mj-lt"/>
              <a:ea typeface="楷体" panose="02010609060101010101" pitchFamily="49" charset="-122"/>
              <a:cs typeface="+mn-cs"/>
            </a:endParaRPr>
          </a:p>
          <a:p>
            <a:pPr marL="1270000" lvl="4"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相互覆盖</a:t>
            </a:r>
            <a:r>
              <a:rPr lang="en-US" altLang="zh-CN" sz="3200" b="1" kern="1200" dirty="0">
                <a:solidFill>
                  <a:schemeClr val="bg2"/>
                </a:solidFill>
                <a:latin typeface="+mj-lt"/>
                <a:ea typeface="楷体" panose="02010609060101010101" pitchFamily="49" charset="-122"/>
                <a:cs typeface="+mn-cs"/>
              </a:rPr>
              <a:t>--</a:t>
            </a:r>
            <a:r>
              <a:rPr lang="zh-CN" altLang="en-US" sz="3200" b="1" kern="1200" dirty="0">
                <a:solidFill>
                  <a:schemeClr val="bg2"/>
                </a:solidFill>
                <a:latin typeface="+mj-lt"/>
                <a:ea typeface="楷体" panose="02010609060101010101" pitchFamily="49" charset="-122"/>
                <a:cs typeface="+mn-cs"/>
              </a:rPr>
              <a:t>同一块内存的多次使用</a:t>
            </a:r>
            <a:endParaRPr lang="en-US" altLang="zh-CN" sz="3200" b="1" kern="1200" dirty="0">
              <a:solidFill>
                <a:schemeClr val="bg2"/>
              </a:solidFill>
              <a:latin typeface="+mj-lt"/>
              <a:ea typeface="楷体" panose="02010609060101010101" pitchFamily="49" charset="-122"/>
              <a:cs typeface="+mn-cs"/>
            </a:endParaRP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defRPr/>
            </a:pPr>
            <a:r>
              <a:rPr lang="zh-CN" altLang="en-US" sz="3200" b="1" kern="1200" dirty="0">
                <a:solidFill>
                  <a:schemeClr val="bg1">
                    <a:lumMod val="75000"/>
                  </a:schemeClr>
                </a:solidFill>
                <a:latin typeface="+mj-lt"/>
                <a:ea typeface="楷体" panose="02010609060101010101" pitchFamily="49" charset="-122"/>
                <a:cs typeface="+mn-cs"/>
              </a:rPr>
              <a:t>打破了将一个作业的全部信息装入主存后才能运行的限制。</a:t>
            </a:r>
            <a:endParaRPr lang="en-US" altLang="zh-CN" sz="3200" b="1" kern="1200" dirty="0">
              <a:solidFill>
                <a:schemeClr val="bg1">
                  <a:lumMod val="75000"/>
                </a:schemeClr>
              </a:solidFill>
              <a:latin typeface="+mj-lt"/>
              <a:ea typeface="楷体" panose="02010609060101010101" pitchFamily="49" charset="-122"/>
              <a:cs typeface="+mn-cs"/>
            </a:endParaRP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defRPr/>
            </a:pPr>
            <a:r>
              <a:rPr lang="zh-CN" altLang="en-US" sz="3200" b="1" kern="1200" dirty="0">
                <a:solidFill>
                  <a:schemeClr val="bg1">
                    <a:lumMod val="75000"/>
                  </a:schemeClr>
                </a:solidFill>
                <a:latin typeface="+mj-lt"/>
                <a:ea typeface="楷体" panose="02010609060101010101" pitchFamily="49" charset="-122"/>
                <a:cs typeface="+mn-cs"/>
              </a:rPr>
              <a:t>与分区管理配合。</a:t>
            </a:r>
            <a:endParaRPr lang="en-US" altLang="zh-CN" sz="3200" b="1" kern="1200" dirty="0">
              <a:solidFill>
                <a:schemeClr val="bg1">
                  <a:lumMod val="75000"/>
                </a:schemeClr>
              </a:solidFill>
              <a:latin typeface="+mj-lt"/>
              <a:ea typeface="楷体" panose="02010609060101010101" pitchFamily="49" charset="-122"/>
              <a:cs typeface="+mn-cs"/>
            </a:endParaRPr>
          </a:p>
          <a:p>
            <a:pPr marL="812800" lvl="3" indent="-355600" defTabSz="355600">
              <a:lnSpc>
                <a:spcPts val="4500"/>
              </a:lnSpc>
              <a:spcBef>
                <a:spcPct val="0"/>
              </a:spcBef>
              <a:buClr>
                <a:schemeClr val="bg2"/>
              </a:buClr>
              <a:buSzPct val="80000"/>
              <a:buFont typeface="Wingdings" panose="05000000000000000000" pitchFamily="2" charset="2"/>
              <a:buChar char="n"/>
              <a:defRPr/>
            </a:pPr>
            <a:endParaRPr lang="en-US" altLang="zh-CN" sz="3200" b="1" kern="1200" dirty="0">
              <a:solidFill>
                <a:schemeClr val="bg1">
                  <a:lumMod val="75000"/>
                </a:schemeClr>
              </a:solidFill>
              <a:latin typeface="+mj-lt"/>
              <a:ea typeface="楷体" panose="02010609060101010101" pitchFamily="49" charset="-122"/>
              <a:cs typeface="+mn-cs"/>
            </a:endParaRPr>
          </a:p>
          <a:p>
            <a:pPr marL="1270000" lvl="4" indent="-355600" defTabSz="355600">
              <a:lnSpc>
                <a:spcPts val="4500"/>
              </a:lnSpc>
              <a:spcBef>
                <a:spcPct val="0"/>
              </a:spcBef>
              <a:buClr>
                <a:schemeClr val="bg2"/>
              </a:buClr>
              <a:buSzPct val="80000"/>
              <a:buFont typeface="Wingdings" panose="05000000000000000000" pitchFamily="2" charset="2"/>
              <a:buChar char="n"/>
              <a:defRPr/>
            </a:pPr>
            <a:endParaRPr lang="zh-CN" altLang="en-US" sz="3200" b="1" kern="1200" dirty="0">
              <a:solidFill>
                <a:schemeClr val="bg2"/>
              </a:solidFill>
              <a:latin typeface="+mj-lt"/>
              <a:ea typeface="楷体" panose="02010609060101010101" pitchFamily="49" charset="-122"/>
              <a:cs typeface="+mn-cs"/>
            </a:endParaRPr>
          </a:p>
          <a:p>
            <a:pPr marL="812800" lvl="3" indent="-355600" defTabSz="355600">
              <a:lnSpc>
                <a:spcPts val="4500"/>
              </a:lnSpc>
              <a:spcBef>
                <a:spcPct val="0"/>
              </a:spcBef>
              <a:buClr>
                <a:schemeClr val="bg2"/>
              </a:buClr>
              <a:buSzPct val="80000"/>
              <a:buFont typeface="Wingdings" panose="05000000000000000000" pitchFamily="2" charset="2"/>
              <a:buChar char="n"/>
              <a:defRPr/>
            </a:pPr>
            <a:endParaRPr lang="zh-CN" altLang="en-US" sz="3200" b="1" kern="1200" dirty="0">
              <a:solidFill>
                <a:schemeClr val="bg2"/>
              </a:solidFill>
              <a:latin typeface="+mj-lt"/>
              <a:ea typeface="楷体" panose="02010609060101010101" pitchFamily="49" charset="-122"/>
              <a:cs typeface="+mn-cs"/>
            </a:endParaRPr>
          </a:p>
        </p:txBody>
      </p:sp>
      <p:sp>
        <p:nvSpPr>
          <p:cNvPr id="606212" name="Rectangle 4"/>
          <p:cNvSpPr>
            <a:spLocks noChangeArrowheads="1"/>
          </p:cNvSpPr>
          <p:nvPr/>
        </p:nvSpPr>
        <p:spPr bwMode="auto">
          <a:xfrm>
            <a:off x="2806700" y="0"/>
            <a:ext cx="3816350" cy="765175"/>
          </a:xfrm>
          <a:prstGeom prst="rect">
            <a:avLst/>
          </a:prstGeom>
          <a:noFill/>
          <a:ln w="12700" cap="sq">
            <a:noFill/>
            <a:miter lim="800000"/>
            <a:headEnd type="none" w="sm" len="sm"/>
            <a:tailEnd type="none" w="sm" len="sm"/>
          </a:ln>
          <a:effectLst/>
        </p:spPr>
        <p:txBody>
          <a:bodyPr anchor="ctr"/>
          <a:lstStyle/>
          <a:p>
            <a:pPr marL="0" lvl="1"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覆盖技术</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0500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76C7387A-9454-4C41-9D44-FA677ACA8078}" type="slidenum">
              <a:rPr kumimoji="0" lang="en-US" altLang="zh-CN" sz="1400" smtClean="0"/>
              <a:pPr>
                <a:spcBef>
                  <a:spcPct val="0"/>
                </a:spcBef>
                <a:buClrTx/>
                <a:buSzTx/>
                <a:buFontTx/>
                <a:buNone/>
              </a:pPr>
              <a:t>18</a:t>
            </a:fld>
            <a:endParaRPr kumimoji="0" lang="en-US" altLang="zh-CN" sz="1400"/>
          </a:p>
        </p:txBody>
      </p:sp>
      <p:sp>
        <p:nvSpPr>
          <p:cNvPr id="600066" name="Rectangle 2"/>
          <p:cNvSpPr>
            <a:spLocks noGrp="1" noChangeArrowheads="1"/>
          </p:cNvSpPr>
          <p:nvPr>
            <p:ph type="title"/>
          </p:nvPr>
        </p:nvSpPr>
        <p:spPr>
          <a:xfrm>
            <a:off x="837834" y="-30419"/>
            <a:ext cx="7488237" cy="765176"/>
          </a:xfrm>
        </p:spPr>
        <p:txBody>
          <a:bodyPr/>
          <a:lstStyle/>
          <a:p>
            <a:pPr lvl="1" algn="ctr" eaLnBrk="1" hangingPunct="1">
              <a:defRPr/>
            </a:pPr>
            <a:r>
              <a:rPr lang="zh-CN" altLang="en-US" sz="4000" b="1" kern="1200" dirty="0">
                <a:solidFill>
                  <a:srgbClr val="B2622C"/>
                </a:solidFill>
                <a:effectLst>
                  <a:outerShdw blurRad="38100" dist="38100" dir="2700000" algn="tl">
                    <a:srgbClr val="000000"/>
                  </a:outerShdw>
                </a:effectLst>
                <a:ea typeface="楷体_GB2312" pitchFamily="49" charset="-122"/>
                <a:cs typeface="+mn-cs"/>
              </a:rPr>
              <a:t>交换方式（交换调度，标准交换）</a:t>
            </a:r>
          </a:p>
        </p:txBody>
      </p:sp>
      <p:sp>
        <p:nvSpPr>
          <p:cNvPr id="600067" name="Rectangle 3"/>
          <p:cNvSpPr>
            <a:spLocks noGrp="1" noChangeArrowheads="1"/>
          </p:cNvSpPr>
          <p:nvPr>
            <p:ph type="body" idx="1"/>
          </p:nvPr>
        </p:nvSpPr>
        <p:spPr>
          <a:xfrm>
            <a:off x="-16756" y="1384402"/>
            <a:ext cx="9144000" cy="3035993"/>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核心思想</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可运行的进程必须小于内存空间</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effectLst/>
                <a:latin typeface="+mj-lt"/>
                <a:ea typeface="楷体" panose="02010609060101010101" pitchFamily="49" charset="-122"/>
                <a:cs typeface="+mn-cs"/>
              </a:rPr>
              <a:t>当进程处于阻塞或就绪时交换到磁盘</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交换单位</a:t>
            </a:r>
          </a:p>
          <a:p>
            <a:pPr marL="812800" lvl="3" indent="-355600" defTabSz="355600">
              <a:lnSpc>
                <a:spcPts val="4500"/>
              </a:lnSpc>
              <a:spcBef>
                <a:spcPct val="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整个进程的地址空间</a:t>
            </a:r>
            <a:r>
              <a:rPr lang="zh-CN" altLang="en-US" sz="3200" b="1" kern="1200" dirty="0">
                <a:solidFill>
                  <a:schemeClr val="bg1"/>
                </a:solidFill>
                <a:latin typeface="+mj-lt"/>
                <a:ea typeface="楷体" panose="02010609060101010101" pitchFamily="49" charset="-122"/>
                <a:cs typeface="+mn-cs"/>
              </a:rPr>
              <a:t>（整体对换）</a:t>
            </a:r>
          </a:p>
        </p:txBody>
      </p:sp>
      <p:sp>
        <p:nvSpPr>
          <p:cNvPr id="2" name="文本框 1"/>
          <p:cNvSpPr txBox="1"/>
          <p:nvPr/>
        </p:nvSpPr>
        <p:spPr>
          <a:xfrm>
            <a:off x="837115" y="5583932"/>
            <a:ext cx="7488956" cy="1077218"/>
          </a:xfrm>
          <a:prstGeom prst="rect">
            <a:avLst/>
          </a:prstGeom>
          <a:solidFill>
            <a:srgbClr val="FFFF00"/>
          </a:solidFill>
        </p:spPr>
        <p:txBody>
          <a:bodyPr wrap="square">
            <a:spAutoFit/>
          </a:bodyPr>
          <a:lstStyle/>
          <a:p>
            <a:pPr algn="ctr">
              <a:defRPr/>
            </a:pPr>
            <a:r>
              <a:rPr lang="zh-CN" altLang="en-US" dirty="0">
                <a:solidFill>
                  <a:schemeClr val="bg2"/>
                </a:solidFill>
                <a:effectLst>
                  <a:outerShdw blurRad="38100" dist="38100" dir="2700000" algn="tl">
                    <a:srgbClr val="000000">
                      <a:alpha val="43137"/>
                    </a:srgbClr>
                  </a:outerShdw>
                </a:effectLst>
              </a:rPr>
              <a:t>早期的、内存容量不大的</a:t>
            </a:r>
            <a:endParaRPr lang="en-US" altLang="zh-CN" dirty="0">
              <a:solidFill>
                <a:schemeClr val="bg2"/>
              </a:solidFill>
              <a:effectLst>
                <a:outerShdw blurRad="38100" dist="38100" dir="2700000" algn="tl">
                  <a:srgbClr val="000000">
                    <a:alpha val="43137"/>
                  </a:srgbClr>
                </a:outerShdw>
              </a:effectLst>
            </a:endParaRPr>
          </a:p>
          <a:p>
            <a:pPr algn="ctr">
              <a:defRPr/>
            </a:pPr>
            <a:r>
              <a:rPr lang="zh-CN" altLang="en-US" dirty="0">
                <a:solidFill>
                  <a:schemeClr val="bg2"/>
                </a:solidFill>
                <a:effectLst>
                  <a:outerShdw blurRad="38100" dist="38100" dir="2700000" algn="tl">
                    <a:srgbClr val="000000">
                      <a:alpha val="43137"/>
                    </a:srgbClr>
                  </a:outerShdw>
                </a:effectLst>
              </a:rPr>
              <a:t>小型机上分时系统多数采用</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5399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0067">
                                            <p:txEl>
                                              <p:pRg st="0" end="0"/>
                                            </p:txEl>
                                          </p:spTgt>
                                        </p:tgtEl>
                                        <p:attrNameLst>
                                          <p:attrName>style.visibility</p:attrName>
                                        </p:attrNameLst>
                                      </p:cBhvr>
                                      <p:to>
                                        <p:strVal val="visible"/>
                                      </p:to>
                                    </p:set>
                                    <p:animEffect transition="in" filter="blinds(horizontal)">
                                      <p:cBhvr>
                                        <p:cTn id="7" dur="500"/>
                                        <p:tgtEl>
                                          <p:spTgt spid="6000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00067">
                                            <p:txEl>
                                              <p:pRg st="1" end="1"/>
                                            </p:txEl>
                                          </p:spTgt>
                                        </p:tgtEl>
                                        <p:attrNameLst>
                                          <p:attrName>style.visibility</p:attrName>
                                        </p:attrNameLst>
                                      </p:cBhvr>
                                      <p:to>
                                        <p:strVal val="visible"/>
                                      </p:to>
                                    </p:set>
                                    <p:animEffect transition="in" filter="blinds(horizontal)">
                                      <p:cBhvr>
                                        <p:cTn id="10" dur="500"/>
                                        <p:tgtEl>
                                          <p:spTgt spid="60006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00067">
                                            <p:txEl>
                                              <p:pRg st="2" end="2"/>
                                            </p:txEl>
                                          </p:spTgt>
                                        </p:tgtEl>
                                        <p:attrNameLst>
                                          <p:attrName>style.visibility</p:attrName>
                                        </p:attrNameLst>
                                      </p:cBhvr>
                                      <p:to>
                                        <p:strVal val="visible"/>
                                      </p:to>
                                    </p:set>
                                    <p:animEffect transition="in" filter="blinds(horizontal)">
                                      <p:cBhvr>
                                        <p:cTn id="13" dur="500"/>
                                        <p:tgtEl>
                                          <p:spTgt spid="60006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00067">
                                            <p:txEl>
                                              <p:pRg st="3" end="3"/>
                                            </p:txEl>
                                          </p:spTgt>
                                        </p:tgtEl>
                                        <p:attrNameLst>
                                          <p:attrName>style.visibility</p:attrName>
                                        </p:attrNameLst>
                                      </p:cBhvr>
                                      <p:to>
                                        <p:strVal val="visible"/>
                                      </p:to>
                                    </p:set>
                                    <p:animEffect transition="in" filter="blinds(horizontal)">
                                      <p:cBhvr>
                                        <p:cTn id="16" dur="500"/>
                                        <p:tgtEl>
                                          <p:spTgt spid="60006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00067">
                                            <p:txEl>
                                              <p:pRg st="4" end="4"/>
                                            </p:txEl>
                                          </p:spTgt>
                                        </p:tgtEl>
                                        <p:attrNameLst>
                                          <p:attrName>style.visibility</p:attrName>
                                        </p:attrNameLst>
                                      </p:cBhvr>
                                      <p:to>
                                        <p:strVal val="visible"/>
                                      </p:to>
                                    </p:set>
                                    <p:animEffect transition="in" filter="blinds(horizontal)">
                                      <p:cBhvr>
                                        <p:cTn id="19" dur="500"/>
                                        <p:tgtEl>
                                          <p:spTgt spid="600067">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2" presetClass="entr" presetSubtype="6"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1+#ppt_w/2"/>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7" grpId="0" build="p"/>
      <p:bldP spid="2"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0" name="Picture 3"/>
          <p:cNvPicPr>
            <a:picLocks noChangeAspect="1" noChangeArrowheads="1"/>
          </p:cNvPicPr>
          <p:nvPr/>
        </p:nvPicPr>
        <p:blipFill>
          <a:blip r:embed="rId2">
            <a:extLst>
              <a:ext uri="{28A0092B-C50C-407E-A947-70E740481C1C}">
                <a14:useLocalDpi xmlns:a14="http://schemas.microsoft.com/office/drawing/2010/main" val="0"/>
              </a:ext>
            </a:extLst>
          </a:blip>
          <a:srcRect l="650" t="3653" r="650" b="3856"/>
          <a:stretch>
            <a:fillRect/>
          </a:stretch>
        </p:blipFill>
        <p:spPr bwMode="auto">
          <a:xfrm>
            <a:off x="1619672" y="1124744"/>
            <a:ext cx="6250689" cy="468627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Rectangle 70">
            <a:extLst>
              <a:ext uri="{FF2B5EF4-FFF2-40B4-BE49-F238E27FC236}">
                <a16:creationId xmlns:a16="http://schemas.microsoft.com/office/drawing/2014/main" id="{F8C1C655-111E-45E8-8291-CF5040CDEDB9}"/>
              </a:ext>
            </a:extLst>
          </p:cNvPr>
          <p:cNvSpPr>
            <a:spLocks noChangeArrowheads="1"/>
          </p:cNvSpPr>
          <p:nvPr/>
        </p:nvSpPr>
        <p:spPr bwMode="auto">
          <a:xfrm>
            <a:off x="2446376" y="6118968"/>
            <a:ext cx="4178224"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7-5 </a:t>
            </a:r>
            <a:r>
              <a:rPr lang="zh-CN" altLang="en-US" sz="2000" dirty="0">
                <a:solidFill>
                  <a:schemeClr val="bg2"/>
                </a:solidFill>
                <a:latin typeface="宋体" panose="02010600030101010101" pitchFamily="2" charset="-122"/>
              </a:rPr>
              <a:t>使用磁盘的两个进程的交换</a:t>
            </a:r>
          </a:p>
        </p:txBody>
      </p:sp>
      <p:sp>
        <p:nvSpPr>
          <p:cNvPr id="5" name="Rectangle 2"/>
          <p:cNvSpPr txBox="1">
            <a:spLocks noChangeArrowheads="1"/>
          </p:cNvSpPr>
          <p:nvPr/>
        </p:nvSpPr>
        <p:spPr>
          <a:xfrm>
            <a:off x="2627313" y="0"/>
            <a:ext cx="3816350" cy="7651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交换示例</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8029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6" name="Rectangle 4"/>
          <p:cNvSpPr>
            <a:spLocks noGrp="1" noChangeArrowheads="1"/>
          </p:cNvSpPr>
          <p:nvPr>
            <p:ph type="title"/>
          </p:nvPr>
        </p:nvSpPr>
        <p:spPr>
          <a:xfrm>
            <a:off x="2268078" y="0"/>
            <a:ext cx="4680867" cy="747713"/>
          </a:xfrm>
        </p:spPr>
        <p:txBody>
          <a:bodyPr/>
          <a:lstStyle/>
          <a:p>
            <a:pPr lvl="1" algn="ctr" eaLnBrk="1" hangingPunct="1">
              <a:defRPr/>
            </a:pPr>
            <a:r>
              <a:rPr lang="zh-CN" altLang="en-US" sz="4000" b="1" kern="1200" dirty="0">
                <a:solidFill>
                  <a:srgbClr val="B2622C"/>
                </a:solidFill>
                <a:effectLst>
                  <a:outerShdw blurRad="38100" dist="38100" dir="2700000" algn="tl">
                    <a:srgbClr val="000000"/>
                  </a:outerShdw>
                </a:effectLst>
                <a:ea typeface="楷体_GB2312" pitchFamily="49" charset="-122"/>
                <a:cs typeface="+mn-cs"/>
              </a:rPr>
              <a:t>请求调入和预调入</a:t>
            </a:r>
          </a:p>
        </p:txBody>
      </p:sp>
      <p:sp>
        <p:nvSpPr>
          <p:cNvPr id="709637" name="Rectangle 5"/>
          <p:cNvSpPr>
            <a:spLocks noGrp="1" noChangeArrowheads="1"/>
          </p:cNvSpPr>
          <p:nvPr>
            <p:ph type="body" idx="1"/>
          </p:nvPr>
        </p:nvSpPr>
        <p:spPr>
          <a:xfrm>
            <a:off x="332426" y="908720"/>
            <a:ext cx="8386763" cy="3456359"/>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请求调入</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在程序执行时，</a:t>
            </a:r>
            <a:r>
              <a:rPr lang="zh-CN" altLang="en-US" sz="3200" b="1" kern="1200" dirty="0">
                <a:solidFill>
                  <a:srgbClr val="FF0000"/>
                </a:solidFill>
                <a:latin typeface="+mj-lt"/>
                <a:ea typeface="楷体" panose="02010609060101010101" pitchFamily="49" charset="-122"/>
                <a:cs typeface="+mn-cs"/>
              </a:rPr>
              <a:t>访问到的</a:t>
            </a:r>
            <a:r>
              <a:rPr lang="zh-CN" altLang="en-US" sz="3200" b="1" kern="1200" dirty="0">
                <a:solidFill>
                  <a:schemeClr val="bg2"/>
                </a:solidFill>
                <a:latin typeface="+mj-lt"/>
                <a:ea typeface="楷体" panose="02010609060101010101" pitchFamily="49" charset="-122"/>
                <a:cs typeface="+mn-cs"/>
              </a:rPr>
              <a:t>程序段或数据段不在内存，则</a:t>
            </a:r>
            <a:r>
              <a:rPr lang="en-US" altLang="zh-CN" sz="3200" b="1" kern="1200" dirty="0">
                <a:solidFill>
                  <a:schemeClr val="bg2"/>
                </a:solidFill>
                <a:latin typeface="+mj-lt"/>
                <a:ea typeface="楷体" panose="02010609060101010101" pitchFamily="49" charset="-122"/>
                <a:cs typeface="+mn-cs"/>
              </a:rPr>
              <a:t>OS</a:t>
            </a:r>
            <a:r>
              <a:rPr lang="zh-CN" altLang="en-US" sz="3200" b="1" kern="1200" dirty="0">
                <a:solidFill>
                  <a:schemeClr val="bg2"/>
                </a:solidFill>
                <a:latin typeface="+mj-lt"/>
                <a:ea typeface="楷体" panose="02010609060101010101" pitchFamily="49" charset="-122"/>
                <a:cs typeface="+mn-cs"/>
              </a:rPr>
              <a:t>自动地从外存调入</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预调入</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由</a:t>
            </a:r>
            <a:r>
              <a:rPr lang="en-US" altLang="zh-CN" sz="3200" b="1" kern="1200" dirty="0">
                <a:solidFill>
                  <a:schemeClr val="bg2"/>
                </a:solidFill>
                <a:latin typeface="+mj-lt"/>
                <a:ea typeface="楷体" panose="02010609060101010101" pitchFamily="49" charset="-122"/>
                <a:cs typeface="+mn-cs"/>
              </a:rPr>
              <a:t>OS</a:t>
            </a:r>
            <a:r>
              <a:rPr lang="zh-CN" altLang="en-US" sz="3200" b="1" kern="1200" dirty="0">
                <a:solidFill>
                  <a:schemeClr val="bg2"/>
                </a:solidFill>
                <a:latin typeface="+mj-lt"/>
                <a:ea typeface="楷体" panose="02010609060101010101" pitchFamily="49" charset="-122"/>
                <a:cs typeface="+mn-cs"/>
              </a:rPr>
              <a:t>预测在不远的将来会访问到的程序段和数据段，在</a:t>
            </a:r>
            <a:r>
              <a:rPr lang="zh-CN" altLang="en-US" sz="3200" b="1" kern="1200" dirty="0">
                <a:solidFill>
                  <a:srgbClr val="FF0000"/>
                </a:solidFill>
                <a:latin typeface="+mj-lt"/>
                <a:ea typeface="楷体" panose="02010609060101010101" pitchFamily="49" charset="-122"/>
                <a:cs typeface="+mn-cs"/>
              </a:rPr>
              <a:t>被访问之前</a:t>
            </a:r>
            <a:r>
              <a:rPr lang="zh-CN" altLang="en-US" sz="3200" b="1" kern="1200" dirty="0">
                <a:solidFill>
                  <a:schemeClr val="bg2"/>
                </a:solidFill>
                <a:latin typeface="+mj-lt"/>
                <a:ea typeface="楷体" panose="02010609060101010101" pitchFamily="49" charset="-122"/>
                <a:cs typeface="+mn-cs"/>
              </a:rPr>
              <a:t>将它们调入。</a:t>
            </a:r>
          </a:p>
        </p:txBody>
      </p:sp>
      <p:sp>
        <p:nvSpPr>
          <p:cNvPr id="709638" name="Text Box 6"/>
          <p:cNvSpPr txBox="1">
            <a:spLocks noChangeArrowheads="1"/>
          </p:cNvSpPr>
          <p:nvPr/>
        </p:nvSpPr>
        <p:spPr bwMode="auto">
          <a:xfrm>
            <a:off x="285750" y="5357813"/>
            <a:ext cx="8424863" cy="608012"/>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buClrTx/>
              <a:buSzTx/>
              <a:buFontTx/>
              <a:buNone/>
              <a:defRPr/>
            </a:pPr>
            <a:r>
              <a:rPr lang="zh-CN" altLang="en-US" dirty="0">
                <a:solidFill>
                  <a:schemeClr val="bg2"/>
                </a:solidFill>
                <a:effectLst>
                  <a:outerShdw blurRad="38100" dist="38100" dir="2700000" algn="tl">
                    <a:srgbClr val="000000">
                      <a:alpha val="43137"/>
                    </a:srgbClr>
                  </a:outerShdw>
                </a:effectLst>
                <a:ea typeface="楷体_GB2312" pitchFamily="49" charset="-122"/>
              </a:rPr>
              <a:t>实现进程大小不受内存容量限制的虚拟存储器</a:t>
            </a:r>
            <a:r>
              <a:rPr lang="zh-CN" altLang="en-US" dirty="0">
                <a:solidFill>
                  <a:schemeClr val="bg2"/>
                </a:solidFill>
                <a:ea typeface="楷体_GB2312" pitchFamily="49" charset="-122"/>
              </a:rPr>
              <a:t>。</a:t>
            </a:r>
          </a:p>
        </p:txBody>
      </p:sp>
      <p:sp>
        <p:nvSpPr>
          <p:cNvPr id="8" name="AutoShape 7">
            <a:hlinkClick r:id="rId2" action="ppaction://hlinksldjump" highlightClick="1"/>
            <a:extLst>
              <a:ext uri="{FF2B5EF4-FFF2-40B4-BE49-F238E27FC236}">
                <a16:creationId xmlns:a16="http://schemas.microsoft.com/office/drawing/2014/main" id="{1EC00F47-B9AA-4694-B8BF-B61689DA7FC8}"/>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50776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09638"/>
                                        </p:tgtEl>
                                        <p:attrNameLst>
                                          <p:attrName>style.visibility</p:attrName>
                                        </p:attrNameLst>
                                      </p:cBhvr>
                                      <p:to>
                                        <p:strVal val="visible"/>
                                      </p:to>
                                    </p:set>
                                    <p:animEffect transition="in" filter="checkerboard(across)">
                                      <p:cBhvr>
                                        <p:cTn id="7" dur="500"/>
                                        <p:tgtEl>
                                          <p:spTgt spid="70963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8"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648D5AB-1611-4809-907C-46B26B71E86C}"/>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3" name="灯片编号占位符 2">
            <a:extLst>
              <a:ext uri="{FF2B5EF4-FFF2-40B4-BE49-F238E27FC236}">
                <a16:creationId xmlns:a16="http://schemas.microsoft.com/office/drawing/2014/main" id="{0AB47583-3CF4-4435-9A3F-F7EF6B6F78C3}"/>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21</a:t>
            </a:fld>
            <a:r>
              <a:rPr lang="zh-CN" altLang="en-US"/>
              <a:t> 页</a:t>
            </a:r>
          </a:p>
        </p:txBody>
      </p:sp>
      <p:sp>
        <p:nvSpPr>
          <p:cNvPr id="4" name="矩形 3">
            <a:extLst>
              <a:ext uri="{FF2B5EF4-FFF2-40B4-BE49-F238E27FC236}">
                <a16:creationId xmlns:a16="http://schemas.microsoft.com/office/drawing/2014/main" id="{72E3E606-846B-413B-9FE7-F0DB95FB8E1C}"/>
              </a:ext>
            </a:extLst>
          </p:cNvPr>
          <p:cNvSpPr/>
          <p:nvPr/>
        </p:nvSpPr>
        <p:spPr>
          <a:xfrm>
            <a:off x="2171343" y="-21735"/>
            <a:ext cx="5262979"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7.3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连 续 内 存 分 配</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2">
            <a:extLst>
              <a:ext uri="{FF2B5EF4-FFF2-40B4-BE49-F238E27FC236}">
                <a16:creationId xmlns:a16="http://schemas.microsoft.com/office/drawing/2014/main" id="{2BE63318-E8B6-4ED9-91D6-D8656E0F91D4}"/>
              </a:ext>
            </a:extLst>
          </p:cNvPr>
          <p:cNvSpPr txBox="1">
            <a:spLocks noChangeArrowheads="1"/>
          </p:cNvSpPr>
          <p:nvPr/>
        </p:nvSpPr>
        <p:spPr>
          <a:xfrm>
            <a:off x="417895" y="1261602"/>
            <a:ext cx="8713787" cy="2304256"/>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单一连续区分配</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用于单用户、单任务系统。如</a:t>
            </a:r>
            <a:r>
              <a:rPr lang="en-US" altLang="zh-CN" sz="3200" dirty="0">
                <a:solidFill>
                  <a:schemeClr val="bg2"/>
                </a:solidFill>
                <a:latin typeface="+mj-lt"/>
                <a:ea typeface="楷体" panose="02010609060101010101" pitchFamily="49" charset="-122"/>
              </a:rPr>
              <a:t>MS-DOS</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固定分区（静态分区）</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可变分区（动态分区）</a:t>
            </a:r>
          </a:p>
        </p:txBody>
      </p:sp>
      <p:sp>
        <p:nvSpPr>
          <p:cNvPr id="6" name="文本框 1">
            <a:extLst>
              <a:ext uri="{FF2B5EF4-FFF2-40B4-BE49-F238E27FC236}">
                <a16:creationId xmlns:a16="http://schemas.microsoft.com/office/drawing/2014/main" id="{2A6FEAC3-1041-4B00-A343-B4C83E30075E}"/>
              </a:ext>
            </a:extLst>
          </p:cNvPr>
          <p:cNvSpPr txBox="1">
            <a:spLocks noChangeArrowheads="1"/>
          </p:cNvSpPr>
          <p:nvPr/>
        </p:nvSpPr>
        <p:spPr bwMode="auto">
          <a:xfrm>
            <a:off x="53180" y="4431060"/>
            <a:ext cx="8875713" cy="6302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lnSpc>
                <a:spcPts val="4200"/>
              </a:lnSpc>
              <a:spcBef>
                <a:spcPct val="0"/>
              </a:spcBef>
              <a:buClrTx/>
              <a:buSzTx/>
              <a:buFont typeface="Symbol" panose="05050102010706020507" pitchFamily="18" charset="2"/>
              <a:buNone/>
            </a:pPr>
            <a:r>
              <a:rPr lang="zh-CN" altLang="en-US" sz="3600" dirty="0">
                <a:solidFill>
                  <a:srgbClr val="000000"/>
                </a:solidFill>
                <a:effectLst>
                  <a:outerShdw blurRad="38100" dist="38100" dir="2700000" algn="tl">
                    <a:srgbClr val="000000">
                      <a:alpha val="43137"/>
                    </a:srgbClr>
                  </a:outerShdw>
                </a:effectLst>
              </a:rPr>
              <a:t>现代</a:t>
            </a:r>
            <a:r>
              <a:rPr lang="en-US" altLang="zh-CN" sz="3600" dirty="0">
                <a:solidFill>
                  <a:srgbClr val="000000"/>
                </a:solidFill>
                <a:effectLst>
                  <a:outerShdw blurRad="38100" dist="38100" dir="2700000" algn="tl">
                    <a:srgbClr val="000000">
                      <a:alpha val="43137"/>
                    </a:srgbClr>
                  </a:outerShdw>
                </a:effectLst>
              </a:rPr>
              <a:t>OS</a:t>
            </a:r>
            <a:r>
              <a:rPr lang="zh-CN" altLang="en-US" sz="3600" dirty="0">
                <a:solidFill>
                  <a:srgbClr val="000000"/>
                </a:solidFill>
                <a:effectLst>
                  <a:outerShdw blurRad="38100" dist="38100" dir="2700000" algn="tl">
                    <a:srgbClr val="000000">
                      <a:alpha val="43137"/>
                    </a:srgbClr>
                  </a:outerShdw>
                </a:effectLst>
              </a:rPr>
              <a:t>，物理空间已经没有连续分配</a:t>
            </a:r>
            <a:endParaRPr lang="zh-CN" altLang="en-US" sz="3600" dirty="0">
              <a:effectLst>
                <a:outerShdw blurRad="38100" dist="38100" dir="2700000" algn="tl">
                  <a:srgbClr val="000000">
                    <a:alpha val="43137"/>
                  </a:srgbClr>
                </a:outerShdw>
              </a:effectLst>
            </a:endParaRPr>
          </a:p>
        </p:txBody>
      </p:sp>
      <p:sp>
        <p:nvSpPr>
          <p:cNvPr id="7"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86886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309822" y="908720"/>
            <a:ext cx="4791075" cy="2695575"/>
          </a:xfrm>
          <a:prstGeom prst="rect">
            <a:avLst/>
          </a:prstGeom>
        </p:spPr>
      </p:pic>
      <p:sp>
        <p:nvSpPr>
          <p:cNvPr id="723988" name="Rectangle 20"/>
          <p:cNvSpPr>
            <a:spLocks noChangeArrowheads="1"/>
          </p:cNvSpPr>
          <p:nvPr/>
        </p:nvSpPr>
        <p:spPr bwMode="auto">
          <a:xfrm>
            <a:off x="2043102" y="0"/>
            <a:ext cx="5057795" cy="707886"/>
          </a:xfrm>
          <a:prstGeom prst="rect">
            <a:avLst/>
          </a:prstGeom>
          <a:noFill/>
          <a:ln w="12700" cap="sq">
            <a:noFill/>
            <a:miter lim="800000"/>
            <a:headEnd type="none" w="sm" len="sm"/>
            <a:tailEnd type="none" w="sm" len="sm"/>
          </a:ln>
          <a:effectLst/>
        </p:spPr>
        <p:txBody>
          <a:bodyPr wrap="none">
            <a:spAutoFit/>
          </a:bodyPr>
          <a:lstStyle/>
          <a:p>
            <a:pPr marL="0" lvl="1" algn="ctr" eaLnBrk="1" hangingPunct="1">
              <a:buClr>
                <a:srgbClr val="FFABFF"/>
              </a:buClr>
              <a:buSzPct val="90000"/>
              <a:buFont typeface="Symbol" pitchFamily="18" charset="2"/>
              <a:buNone/>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7.3.1  </a:t>
            </a: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单一连续区分配</a:t>
            </a:r>
          </a:p>
        </p:txBody>
      </p:sp>
      <p:sp>
        <p:nvSpPr>
          <p:cNvPr id="23" name="矩形 22"/>
          <p:cNvSpPr/>
          <p:nvPr/>
        </p:nvSpPr>
        <p:spPr>
          <a:xfrm>
            <a:off x="899592" y="4309380"/>
            <a:ext cx="8424936" cy="2132892"/>
          </a:xfrm>
          <a:prstGeom prst="rect">
            <a:avLst/>
          </a:prstGeom>
        </p:spPr>
        <p:txBody>
          <a:bodyPr wrap="square">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优点：易于管理（只有分配与回收）。</a:t>
            </a:r>
          </a:p>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缺点</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每次只能运行一个程序；</a:t>
            </a:r>
            <a:endParaRPr lang="en-US" altLang="zh-CN"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程序全部装入，内存浪费。</a:t>
            </a:r>
          </a:p>
        </p:txBody>
      </p:sp>
      <p:grpSp>
        <p:nvGrpSpPr>
          <p:cNvPr id="2" name="组合 16"/>
          <p:cNvGrpSpPr>
            <a:grpSpLocks/>
          </p:cNvGrpSpPr>
          <p:nvPr/>
        </p:nvGrpSpPr>
        <p:grpSpPr bwMode="auto">
          <a:xfrm>
            <a:off x="2105620" y="908249"/>
            <a:ext cx="5651102" cy="3095052"/>
            <a:chOff x="571500" y="1590114"/>
            <a:chExt cx="5651102" cy="3095052"/>
          </a:xfrm>
        </p:grpSpPr>
        <p:sp>
          <p:nvSpPr>
            <p:cNvPr id="54289" name="Text Box 17"/>
            <p:cNvSpPr txBox="1">
              <a:spLocks noChangeArrowheads="1"/>
            </p:cNvSpPr>
            <p:nvPr/>
          </p:nvSpPr>
          <p:spPr bwMode="auto">
            <a:xfrm>
              <a:off x="571500" y="4214813"/>
              <a:ext cx="191905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dirty="0">
                  <a:solidFill>
                    <a:schemeClr val="bg2"/>
                  </a:solidFill>
                  <a:latin typeface="Tahoma" panose="020B0604030504040204" pitchFamily="34" charset="0"/>
                </a:rPr>
                <a:t>早期大型机</a:t>
              </a:r>
            </a:p>
          </p:txBody>
        </p:sp>
        <p:sp>
          <p:nvSpPr>
            <p:cNvPr id="723987" name="Text Box 19"/>
            <p:cNvSpPr txBox="1">
              <a:spLocks noChangeArrowheads="1"/>
            </p:cNvSpPr>
            <p:nvPr/>
          </p:nvSpPr>
          <p:spPr bwMode="auto">
            <a:xfrm>
              <a:off x="3851920" y="4223501"/>
              <a:ext cx="2222673" cy="461665"/>
            </a:xfrm>
            <a:prstGeom prst="rect">
              <a:avLst/>
            </a:prstGeom>
            <a:noFill/>
            <a:ln w="9525">
              <a:noFill/>
              <a:miter lim="800000"/>
              <a:headEnd/>
              <a:tailEnd/>
            </a:ln>
            <a:effectLst/>
          </p:spPr>
          <p:txBody>
            <a:bodyPr wrap="square">
              <a:spAutoFit/>
            </a:bodyPr>
            <a:lstStyle/>
            <a:p>
              <a:pPr eaLnBrk="1" hangingPunct="1">
                <a:defRPr/>
              </a:pPr>
              <a:r>
                <a:rPr kumimoji="0" lang="en-US" altLang="zh-CN" sz="2400" dirty="0">
                  <a:solidFill>
                    <a:schemeClr val="bg2"/>
                  </a:solidFill>
                  <a:latin typeface="Tahoma" panose="020B0604030504040204" pitchFamily="34" charset="0"/>
                </a:rPr>
                <a:t>MS-DOS</a:t>
              </a:r>
            </a:p>
          </p:txBody>
        </p:sp>
        <p:grpSp>
          <p:nvGrpSpPr>
            <p:cNvPr id="54282" name="Group 2"/>
            <p:cNvGrpSpPr>
              <a:grpSpLocks/>
            </p:cNvGrpSpPr>
            <p:nvPr/>
          </p:nvGrpSpPr>
          <p:grpSpPr bwMode="auto">
            <a:xfrm>
              <a:off x="1385310" y="1590114"/>
              <a:ext cx="4837292" cy="3034275"/>
              <a:chOff x="897" y="493"/>
              <a:chExt cx="3222" cy="2790"/>
            </a:xfrm>
          </p:grpSpPr>
          <p:sp>
            <p:nvSpPr>
              <p:cNvPr id="54285" name="Rectangle 6"/>
              <p:cNvSpPr>
                <a:spLocks noChangeArrowheads="1"/>
              </p:cNvSpPr>
              <p:nvPr/>
            </p:nvSpPr>
            <p:spPr bwMode="auto">
              <a:xfrm>
                <a:off x="897" y="2972"/>
                <a:ext cx="12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en-US" sz="1600"/>
              </a:p>
            </p:txBody>
          </p:sp>
          <p:sp>
            <p:nvSpPr>
              <p:cNvPr id="54287" name="Text Box 5"/>
              <p:cNvSpPr txBox="1">
                <a:spLocks noChangeArrowheads="1"/>
              </p:cNvSpPr>
              <p:nvPr/>
            </p:nvSpPr>
            <p:spPr bwMode="auto">
              <a:xfrm>
                <a:off x="3584" y="493"/>
                <a:ext cx="5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600" dirty="0">
                    <a:solidFill>
                      <a:schemeClr val="bg2"/>
                    </a:solidFill>
                  </a:rPr>
                  <a:t>BIOS</a:t>
                </a:r>
              </a:p>
            </p:txBody>
          </p:sp>
        </p:grpSp>
      </p:grpSp>
      <p:sp>
        <p:nvSpPr>
          <p:cNvPr id="1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18850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1000"/>
                                        <p:tgtEl>
                                          <p:spTgt spid="23">
                                            <p:txEl>
                                              <p:pRg st="2" end="2"/>
                                            </p:txEl>
                                          </p:spTgt>
                                        </p:tgtEl>
                                      </p:cBhvr>
                                    </p:animEffect>
                                    <p:anim calcmode="lin" valueType="num">
                                      <p:cBhvr>
                                        <p:cTn id="13" dur="100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3">
                                            <p:txEl>
                                              <p:pRg st="3" end="3"/>
                                            </p:txEl>
                                          </p:spTgt>
                                        </p:tgtEl>
                                        <p:attrNameLst>
                                          <p:attrName>style.visibility</p:attrName>
                                        </p:attrNameLst>
                                      </p:cBhvr>
                                      <p:to>
                                        <p:strVal val="visible"/>
                                      </p:to>
                                    </p:set>
                                    <p:animEffect transition="in" filter="fade">
                                      <p:cBhvr>
                                        <p:cTn id="17" dur="1000"/>
                                        <p:tgtEl>
                                          <p:spTgt spid="23">
                                            <p:txEl>
                                              <p:pRg st="3" end="3"/>
                                            </p:txEl>
                                          </p:spTgt>
                                        </p:tgtEl>
                                      </p:cBhvr>
                                    </p:animEffect>
                                    <p:anim calcmode="lin" valueType="num">
                                      <p:cBhvr>
                                        <p:cTn id="18" dur="1000" fill="hold"/>
                                        <p:tgtEl>
                                          <p:spTgt spid="2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3">
                                            <p:txEl>
                                              <p:pRg st="3" end="3"/>
                                            </p:txEl>
                                          </p:spTgt>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6"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1+#ppt_w/2"/>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body" sz="half" idx="1"/>
          </p:nvPr>
        </p:nvSpPr>
        <p:spPr>
          <a:xfrm>
            <a:off x="179512" y="1124744"/>
            <a:ext cx="9144000" cy="4392613"/>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系统初启时，把内存分为若干个分区</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分区的长度和个数不变</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分区长度</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相等：适合于多个相同程序的并发执行；</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不等：多个小分区、适量的中等分区、少量的大分区。</a:t>
            </a:r>
            <a:endParaRPr lang="en-US" altLang="zh-CN" sz="3200" b="1" kern="1200" dirty="0">
              <a:solidFill>
                <a:schemeClr val="bg2"/>
              </a:solidFill>
              <a:latin typeface="+mj-lt"/>
              <a:ea typeface="楷体" panose="02010609060101010101" pitchFamily="49" charset="-122"/>
              <a:cs typeface="+mn-cs"/>
            </a:endParaRPr>
          </a:p>
        </p:txBody>
      </p:sp>
      <p:sp>
        <p:nvSpPr>
          <p:cNvPr id="487427" name="Rectangle 3"/>
          <p:cNvSpPr>
            <a:spLocks noChangeArrowheads="1"/>
          </p:cNvSpPr>
          <p:nvPr/>
        </p:nvSpPr>
        <p:spPr bwMode="auto">
          <a:xfrm>
            <a:off x="2812543" y="-52972"/>
            <a:ext cx="3518912" cy="707886"/>
          </a:xfrm>
          <a:prstGeom prst="rect">
            <a:avLst/>
          </a:prstGeom>
          <a:noFill/>
          <a:ln w="12700" cap="sq">
            <a:noFill/>
            <a:miter lim="800000"/>
            <a:headEnd type="none" w="sm" len="sm"/>
            <a:tailEnd type="none" w="sm" len="sm"/>
          </a:ln>
          <a:effectLst/>
        </p:spPr>
        <p:txBody>
          <a:bodyPr wrap="none">
            <a:spAutoFit/>
          </a:bodyPr>
          <a:lstStyle/>
          <a:p>
            <a:pPr marL="0" lvl="1" algn="ctr" eaLnBrk="1" hangingPunct="1">
              <a:buClr>
                <a:srgbClr val="FFABFF"/>
              </a:buClr>
              <a:buSzPct val="90000"/>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7.3.2  </a:t>
            </a: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固定分区</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987905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p:cNvSpPr>
          <p:nvPr/>
        </p:nvSpPr>
        <p:spPr bwMode="auto">
          <a:xfrm>
            <a:off x="0" y="1214438"/>
            <a:ext cx="9001125" cy="2790626"/>
          </a:xfrm>
          <a:prstGeom prst="rect">
            <a:avLst/>
          </a:prstGeom>
          <a:noFill/>
          <a:ln w="12700" cap="sq">
            <a:noFill/>
            <a:miter lim="800000"/>
            <a:headEnd type="none" w="sm" len="sm"/>
            <a:tailEnd type="none" w="sm" len="sm"/>
          </a:ln>
        </p:spPr>
        <p:txBody>
          <a:bodyPr/>
          <a:lstStyle/>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地址转换：静态重定位</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存储保护：上限地址≤绝对地址≤下限地址</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lvl="1">
              <a:spcBef>
                <a:spcPts val="0"/>
              </a:spcBef>
              <a:buClr>
                <a:srgbClr val="FFABFF"/>
              </a:buClr>
              <a:buSzPct val="90000"/>
              <a:defRPr/>
            </a:pPr>
            <a:r>
              <a:rPr lang="zh-CN" altLang="en-US" dirty="0">
                <a:solidFill>
                  <a:schemeClr val="bg2"/>
                </a:solidFill>
                <a:latin typeface="+mj-lt"/>
                <a:ea typeface="楷体" panose="02010609060101010101" pitchFamily="49" charset="-122"/>
              </a:rPr>
              <a:t>“上限寄存器”与“下限寄存器”</a:t>
            </a:r>
            <a:endParaRPr lang="en-US" altLang="zh-CN" dirty="0">
              <a:solidFill>
                <a:schemeClr val="bg2"/>
              </a:solidFill>
              <a:latin typeface="+mj-lt"/>
              <a:ea typeface="楷体" panose="02010609060101010101" pitchFamily="49" charset="-122"/>
            </a:endParaRPr>
          </a:p>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内存扩充：覆盖或交换技术</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lnSpc>
                <a:spcPct val="90000"/>
              </a:lnSpc>
              <a:buClr>
                <a:schemeClr val="bg1">
                  <a:lumMod val="75000"/>
                </a:schemeClr>
              </a:buClr>
              <a:buSzPct val="100000"/>
              <a:buFont typeface="Wingdings" panose="05000000000000000000" pitchFamily="2" charset="2"/>
              <a:buChar char="n"/>
              <a:defRPr/>
            </a:pPr>
            <a:endParaRPr lang="zh-CN" altLang="en-US" sz="3600" dirty="0">
              <a:solidFill>
                <a:schemeClr val="accent3">
                  <a:lumMod val="50000"/>
                </a:schemeClr>
              </a:solidFill>
              <a:effectLst>
                <a:outerShdw blurRad="38100" dist="38100" dir="2700000" algn="tl">
                  <a:srgbClr val="000000"/>
                </a:outerShdw>
              </a:effectLst>
              <a:latin typeface="+mj-lt"/>
              <a:ea typeface="楷体" panose="02010609060101010101" pitchFamily="49" charset="-122"/>
            </a:endParaRPr>
          </a:p>
        </p:txBody>
      </p:sp>
      <p:sp>
        <p:nvSpPr>
          <p:cNvPr id="4" name="矩形 3"/>
          <p:cNvSpPr/>
          <p:nvPr/>
        </p:nvSpPr>
        <p:spPr>
          <a:xfrm>
            <a:off x="1071563" y="0"/>
            <a:ext cx="6929437" cy="722249"/>
          </a:xfrm>
          <a:prstGeom prst="rect">
            <a:avLst/>
          </a:prstGeom>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地址转换 存储保护 内存扩充</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576776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a:xfrm>
            <a:off x="2051720" y="-34925"/>
            <a:ext cx="5184775" cy="765175"/>
          </a:xfrm>
        </p:spPr>
        <p:txBody>
          <a:body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固定分区的性能分析</a:t>
            </a:r>
          </a:p>
        </p:txBody>
      </p:sp>
      <p:sp>
        <p:nvSpPr>
          <p:cNvPr id="41988" name="Rectangle 3"/>
          <p:cNvSpPr>
            <a:spLocks noGrp="1" noChangeArrowheads="1"/>
          </p:cNvSpPr>
          <p:nvPr>
            <p:ph type="body" idx="1"/>
          </p:nvPr>
        </p:nvSpPr>
        <p:spPr>
          <a:xfrm>
            <a:off x="197519" y="1187081"/>
            <a:ext cx="8893175" cy="2215902"/>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优点：易于实现，开销小。</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缺点</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分区总数固定，限制了并发程序数目。</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cs"/>
              </a:rPr>
              <a:t>内碎片</a:t>
            </a:r>
            <a:r>
              <a:rPr lang="zh-CN" altLang="en-US" sz="3200" b="1" kern="1200" dirty="0">
                <a:solidFill>
                  <a:schemeClr val="bg2"/>
                </a:solidFill>
                <a:latin typeface="+mj-lt"/>
                <a:ea typeface="楷体" panose="02010609060101010101" pitchFamily="49" charset="-122"/>
                <a:cs typeface="+mn-cs"/>
              </a:rPr>
              <a:t>影响主存的利用率。</a:t>
            </a:r>
            <a:endParaRPr lang="en-US" altLang="zh-CN" sz="3200" b="1" kern="1200" dirty="0">
              <a:solidFill>
                <a:schemeClr val="bg2"/>
              </a:solidFill>
              <a:latin typeface="+mj-lt"/>
              <a:ea typeface="楷体" panose="02010609060101010101" pitchFamily="49" charset="-122"/>
              <a:cs typeface="+mn-cs"/>
            </a:endParaRPr>
          </a:p>
          <a:p>
            <a:pPr marL="355600" lvl="2" indent="-355600" defTabSz="355600">
              <a:lnSpc>
                <a:spcPct val="90000"/>
              </a:lnSpc>
              <a:spcBef>
                <a:spcPct val="0"/>
              </a:spcBef>
              <a:buClr>
                <a:schemeClr val="bg2"/>
              </a:buClr>
              <a:buSzPct val="70000"/>
              <a:buFont typeface="Wingdings" panose="05000000000000000000" pitchFamily="2" charset="2"/>
              <a:buChar char="n"/>
              <a:defRPr/>
            </a:pPr>
            <a:endParaRPr lang="en-US" altLang="zh-CN" sz="4000" b="1" kern="1200" dirty="0">
              <a:solidFill>
                <a:schemeClr val="bg2"/>
              </a:solidFill>
              <a:latin typeface="+mj-lt"/>
              <a:ea typeface="楷体" panose="02010609060101010101" pitchFamily="49" charset="-122"/>
              <a:cs typeface="+mn-cs"/>
            </a:endParaRPr>
          </a:p>
        </p:txBody>
      </p:sp>
      <p:sp>
        <p:nvSpPr>
          <p:cNvPr id="2" name="矩形 1">
            <a:extLst>
              <a:ext uri="{FF2B5EF4-FFF2-40B4-BE49-F238E27FC236}">
                <a16:creationId xmlns:a16="http://schemas.microsoft.com/office/drawing/2014/main" id="{1F6AA481-6B77-48D2-82EC-F635A7BA8D67}"/>
              </a:ext>
            </a:extLst>
          </p:cNvPr>
          <p:cNvSpPr/>
          <p:nvPr/>
        </p:nvSpPr>
        <p:spPr>
          <a:xfrm>
            <a:off x="311409" y="3859814"/>
            <a:ext cx="8413232" cy="584775"/>
          </a:xfrm>
          <a:prstGeom prst="rect">
            <a:avLst/>
          </a:prstGeom>
          <a:solidFill>
            <a:srgbClr val="C8D5F8"/>
          </a:solidFill>
        </p:spPr>
        <p:txBody>
          <a:bodyPr wrap="square">
            <a:spAutoFit/>
          </a:bodyPr>
          <a:lstStyle/>
          <a:p>
            <a:pPr marL="0" lvl="1" algn="ctr" eaLnBrk="1" hangingPunct="1">
              <a:buFontTx/>
              <a:buNone/>
              <a:defRPr/>
            </a:pPr>
            <a:r>
              <a:rPr lang="zh-CN" altLang="en-US" dirty="0">
                <a:solidFill>
                  <a:srgbClr val="FFFF66"/>
                </a:solidFill>
              </a:rPr>
              <a:t> </a:t>
            </a:r>
            <a:r>
              <a:rPr lang="zh-CN" altLang="en-US" dirty="0">
                <a:solidFill>
                  <a:srgbClr val="FF0000"/>
                </a:solidFill>
                <a:effectLst>
                  <a:outerShdw blurRad="38100" dist="38100" dir="2700000" algn="tl">
                    <a:srgbClr val="000000">
                      <a:alpha val="43137"/>
                    </a:srgbClr>
                  </a:outerShdw>
                </a:effectLst>
              </a:rPr>
              <a:t>内碎片</a:t>
            </a:r>
            <a:r>
              <a:rPr lang="zh-CN" altLang="en-US" dirty="0">
                <a:solidFill>
                  <a:schemeClr val="bg2"/>
                </a:solidFill>
                <a:effectLst>
                  <a:outerShdw blurRad="38100" dist="38100" dir="2700000" algn="tl">
                    <a:srgbClr val="000000">
                      <a:alpha val="43137"/>
                    </a:srgbClr>
                  </a:outerShdw>
                </a:effectLst>
                <a:ea typeface="黑体" pitchFamily="2" charset="-122"/>
              </a:rPr>
              <a:t>：</a:t>
            </a:r>
            <a:r>
              <a:rPr lang="zh-CN" altLang="en-US" dirty="0">
                <a:solidFill>
                  <a:schemeClr val="bg2"/>
                </a:solidFill>
                <a:effectLst>
                  <a:outerShdw blurRad="38100" dist="38100" dir="2700000" algn="tl">
                    <a:srgbClr val="000000">
                      <a:alpha val="43137"/>
                    </a:srgbClr>
                  </a:outerShdw>
                </a:effectLst>
              </a:rPr>
              <a:t>作业占用分区内的未被利用的空间。</a:t>
            </a:r>
            <a:endParaRPr lang="en-US" altLang="zh-CN" dirty="0">
              <a:solidFill>
                <a:schemeClr val="bg2"/>
              </a:solidFill>
              <a:effectLst>
                <a:outerShdw blurRad="38100" dist="38100" dir="2700000" algn="tl">
                  <a:srgbClr val="000000">
                    <a:alpha val="43137"/>
                  </a:srgbClr>
                </a:outerShdw>
              </a:effectLst>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4728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88">
                                            <p:txEl>
                                              <p:pRg st="1" end="1"/>
                                            </p:txEl>
                                          </p:spTgt>
                                        </p:tgtEl>
                                        <p:attrNameLst>
                                          <p:attrName>style.visibility</p:attrName>
                                        </p:attrNameLst>
                                      </p:cBhvr>
                                      <p:to>
                                        <p:strVal val="visible"/>
                                      </p:to>
                                    </p:set>
                                    <p:animEffect transition="in" filter="fade">
                                      <p:cBhvr>
                                        <p:cTn id="7" dur="500"/>
                                        <p:tgtEl>
                                          <p:spTgt spid="4198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1988">
                                            <p:txEl>
                                              <p:pRg st="2" end="2"/>
                                            </p:txEl>
                                          </p:spTgt>
                                        </p:tgtEl>
                                        <p:attrNameLst>
                                          <p:attrName>style.visibility</p:attrName>
                                        </p:attrNameLst>
                                      </p:cBhvr>
                                      <p:to>
                                        <p:strVal val="visible"/>
                                      </p:to>
                                    </p:set>
                                    <p:animEffect transition="in" filter="fade">
                                      <p:cBhvr>
                                        <p:cTn id="10" dur="500"/>
                                        <p:tgtEl>
                                          <p:spTgt spid="41988">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1988">
                                            <p:txEl>
                                              <p:pRg st="3" end="3"/>
                                            </p:txEl>
                                          </p:spTgt>
                                        </p:tgtEl>
                                        <p:attrNameLst>
                                          <p:attrName>style.visibility</p:attrName>
                                        </p:attrNameLst>
                                      </p:cBhvr>
                                      <p:to>
                                        <p:strVal val="visible"/>
                                      </p:to>
                                    </p:set>
                                    <p:animEffect transition="in" filter="fade">
                                      <p:cBhvr>
                                        <p:cTn id="13" dur="500"/>
                                        <p:tgtEl>
                                          <p:spTgt spid="41988">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body" sz="half" idx="1"/>
          </p:nvPr>
        </p:nvSpPr>
        <p:spPr>
          <a:xfrm>
            <a:off x="606573" y="835025"/>
            <a:ext cx="7383462" cy="107950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建立：在作业装入时</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大小：刚好与作业的大小相等</a:t>
            </a:r>
          </a:p>
        </p:txBody>
      </p:sp>
      <p:sp>
        <p:nvSpPr>
          <p:cNvPr id="489479" name="Text Box 7"/>
          <p:cNvSpPr txBox="1">
            <a:spLocks noChangeArrowheads="1"/>
          </p:cNvSpPr>
          <p:nvPr/>
        </p:nvSpPr>
        <p:spPr bwMode="auto">
          <a:xfrm>
            <a:off x="179388" y="2428875"/>
            <a:ext cx="8964612" cy="2400657"/>
          </a:xfrm>
          <a:prstGeom prst="rect">
            <a:avLst/>
          </a:prstGeom>
          <a:noFill/>
          <a:ln w="12700" cap="sq">
            <a:noFill/>
            <a:miter lim="800000"/>
            <a:headEnd type="none" w="sm" len="sm"/>
            <a:tailEnd type="none" w="sm" len="sm"/>
          </a:ln>
          <a:effectLst/>
        </p:spPr>
        <p:txBody>
          <a:bodyPr>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与固定式分区不同</a:t>
            </a:r>
          </a:p>
          <a:p>
            <a:pPr marL="812800" lvl="3" indent="-355600" defTabSz="355600">
              <a:lnSpc>
                <a:spcPts val="45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建立时刻：在作业装入时动态建立；</a:t>
            </a:r>
          </a:p>
          <a:p>
            <a:pPr marL="812800" lvl="3" indent="-355600" defTabSz="355600">
              <a:lnSpc>
                <a:spcPts val="45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大小：根据作业对内存的需求量；</a:t>
            </a:r>
          </a:p>
          <a:p>
            <a:pPr marL="812800" lvl="3" indent="-355600" defTabSz="355600">
              <a:lnSpc>
                <a:spcPts val="45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个数：变化不定。</a:t>
            </a:r>
          </a:p>
        </p:txBody>
      </p:sp>
      <p:sp>
        <p:nvSpPr>
          <p:cNvPr id="489482" name="Text Box 10"/>
          <p:cNvSpPr txBox="1">
            <a:spLocks noChangeArrowheads="1"/>
          </p:cNvSpPr>
          <p:nvPr/>
        </p:nvSpPr>
        <p:spPr bwMode="auto">
          <a:xfrm>
            <a:off x="1250721" y="5245719"/>
            <a:ext cx="6705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dirty="0">
                <a:solidFill>
                  <a:schemeClr val="bg2"/>
                </a:solidFill>
                <a:effectLst>
                  <a:outerShdw blurRad="38100" dist="38100" dir="2700000" algn="tl">
                    <a:srgbClr val="000000">
                      <a:alpha val="43137"/>
                    </a:srgbClr>
                  </a:outerShdw>
                </a:effectLst>
                <a:ea typeface="楷体_GB2312" pitchFamily="49" charset="-122"/>
              </a:rPr>
              <a:t>PDP-11</a:t>
            </a:r>
            <a:r>
              <a:rPr lang="zh-CN" altLang="en-US" dirty="0">
                <a:solidFill>
                  <a:schemeClr val="bg2"/>
                </a:solidFill>
                <a:effectLst>
                  <a:outerShdw blurRad="38100" dist="38100" dir="2700000" algn="tl">
                    <a:srgbClr val="000000">
                      <a:alpha val="43137"/>
                    </a:srgbClr>
                  </a:outerShdw>
                </a:effectLst>
                <a:ea typeface="楷体_GB2312" pitchFamily="49" charset="-122"/>
              </a:rPr>
              <a:t>的</a:t>
            </a:r>
            <a:r>
              <a:rPr lang="en-US" altLang="zh-CN" dirty="0">
                <a:solidFill>
                  <a:schemeClr val="bg2"/>
                </a:solidFill>
                <a:effectLst>
                  <a:outerShdw blurRad="38100" dist="38100" dir="2700000" algn="tl">
                    <a:srgbClr val="000000">
                      <a:alpha val="43137"/>
                    </a:srgbClr>
                  </a:outerShdw>
                </a:effectLst>
                <a:ea typeface="楷体_GB2312" pitchFamily="49" charset="-122"/>
              </a:rPr>
              <a:t>UNIX</a:t>
            </a:r>
            <a:r>
              <a:rPr lang="zh-CN" altLang="en-US" dirty="0">
                <a:solidFill>
                  <a:schemeClr val="bg2"/>
                </a:solidFill>
                <a:effectLst>
                  <a:outerShdw blurRad="38100" dist="38100" dir="2700000" algn="tl">
                    <a:srgbClr val="000000">
                      <a:alpha val="43137"/>
                    </a:srgbClr>
                  </a:outerShdw>
                </a:effectLst>
                <a:ea typeface="楷体_GB2312" pitchFamily="49" charset="-122"/>
              </a:rPr>
              <a:t>系统采用。</a:t>
            </a:r>
          </a:p>
        </p:txBody>
      </p:sp>
      <p:sp>
        <p:nvSpPr>
          <p:cNvPr id="10" name="Rectangle 3"/>
          <p:cNvSpPr>
            <a:spLocks noChangeArrowheads="1"/>
          </p:cNvSpPr>
          <p:nvPr/>
        </p:nvSpPr>
        <p:spPr bwMode="auto">
          <a:xfrm>
            <a:off x="857250" y="0"/>
            <a:ext cx="6767513" cy="707886"/>
          </a:xfrm>
          <a:prstGeom prst="rect">
            <a:avLst/>
          </a:prstGeom>
          <a:noFill/>
          <a:ln w="12700" cap="sq">
            <a:noFill/>
            <a:miter lim="800000"/>
            <a:headEnd type="none" w="sm" len="sm"/>
            <a:tailEnd type="none" w="sm" len="sm"/>
          </a:ln>
          <a:effectLst/>
        </p:spPr>
        <p:txBody>
          <a:bodyPr>
            <a:spAutoFit/>
          </a:bodyPr>
          <a:lstStyle/>
          <a:p>
            <a:pPr algn="ctr" eaLnBrk="1" hangingPunct="1">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7.3.3  </a:t>
            </a: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可变分区</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786693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89474">
                                            <p:txEl>
                                              <p:pRg st="0" end="0"/>
                                            </p:txEl>
                                          </p:spTgt>
                                        </p:tgtEl>
                                        <p:attrNameLst>
                                          <p:attrName>style.visibility</p:attrName>
                                        </p:attrNameLst>
                                      </p:cBhvr>
                                      <p:to>
                                        <p:strVal val="visible"/>
                                      </p:to>
                                    </p:set>
                                    <p:animEffect transition="in" filter="slide(fromBottom)">
                                      <p:cBhvr>
                                        <p:cTn id="7" dur="500"/>
                                        <p:tgtEl>
                                          <p:spTgt spid="489474">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489474">
                                            <p:txEl>
                                              <p:pRg st="1" end="1"/>
                                            </p:txEl>
                                          </p:spTgt>
                                        </p:tgtEl>
                                        <p:attrNameLst>
                                          <p:attrName>style.visibility</p:attrName>
                                        </p:attrNameLst>
                                      </p:cBhvr>
                                      <p:to>
                                        <p:strVal val="visible"/>
                                      </p:to>
                                    </p:set>
                                    <p:animEffect transition="in" filter="slide(fromBottom)">
                                      <p:cBhvr>
                                        <p:cTn id="10" dur="500"/>
                                        <p:tgtEl>
                                          <p:spTgt spid="489474">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89479">
                                            <p:txEl>
                                              <p:pRg st="0" end="0"/>
                                            </p:txEl>
                                          </p:spTgt>
                                        </p:tgtEl>
                                        <p:attrNameLst>
                                          <p:attrName>style.visibility</p:attrName>
                                        </p:attrNameLst>
                                      </p:cBhvr>
                                      <p:to>
                                        <p:strVal val="visible"/>
                                      </p:to>
                                    </p:set>
                                    <p:animEffect transition="in" filter="blinds(horizontal)">
                                      <p:cBhvr>
                                        <p:cTn id="15" dur="500"/>
                                        <p:tgtEl>
                                          <p:spTgt spid="489479">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89479">
                                            <p:txEl>
                                              <p:pRg st="1" end="1"/>
                                            </p:txEl>
                                          </p:spTgt>
                                        </p:tgtEl>
                                        <p:attrNameLst>
                                          <p:attrName>style.visibility</p:attrName>
                                        </p:attrNameLst>
                                      </p:cBhvr>
                                      <p:to>
                                        <p:strVal val="visible"/>
                                      </p:to>
                                    </p:set>
                                    <p:animEffect transition="in" filter="blinds(horizontal)">
                                      <p:cBhvr>
                                        <p:cTn id="18" dur="500"/>
                                        <p:tgtEl>
                                          <p:spTgt spid="489479">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89479">
                                            <p:txEl>
                                              <p:pRg st="2" end="2"/>
                                            </p:txEl>
                                          </p:spTgt>
                                        </p:tgtEl>
                                        <p:attrNameLst>
                                          <p:attrName>style.visibility</p:attrName>
                                        </p:attrNameLst>
                                      </p:cBhvr>
                                      <p:to>
                                        <p:strVal val="visible"/>
                                      </p:to>
                                    </p:set>
                                    <p:animEffect transition="in" filter="blinds(horizontal)">
                                      <p:cBhvr>
                                        <p:cTn id="21" dur="500"/>
                                        <p:tgtEl>
                                          <p:spTgt spid="489479">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89479">
                                            <p:txEl>
                                              <p:pRg st="3" end="3"/>
                                            </p:txEl>
                                          </p:spTgt>
                                        </p:tgtEl>
                                        <p:attrNameLst>
                                          <p:attrName>style.visibility</p:attrName>
                                        </p:attrNameLst>
                                      </p:cBhvr>
                                      <p:to>
                                        <p:strVal val="visible"/>
                                      </p:to>
                                    </p:set>
                                    <p:animEffect transition="in" filter="blinds(horizontal)">
                                      <p:cBhvr>
                                        <p:cTn id="24" dur="500"/>
                                        <p:tgtEl>
                                          <p:spTgt spid="489479">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89482"/>
                                        </p:tgtEl>
                                        <p:attrNameLst>
                                          <p:attrName>style.visibility</p:attrName>
                                        </p:attrNameLst>
                                      </p:cBhvr>
                                      <p:to>
                                        <p:strVal val="visible"/>
                                      </p:to>
                                    </p:set>
                                    <p:animEffect transition="in" filter="dissolve">
                                      <p:cBhvr>
                                        <p:cTn id="29" dur="500"/>
                                        <p:tgtEl>
                                          <p:spTgt spid="489482"/>
                                        </p:tgtEl>
                                      </p:cBhvr>
                                    </p:animEffect>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4" grpId="0" build="p"/>
      <p:bldP spid="489479" grpId="0" build="p" bldLvl="2"/>
      <p:bldP spid="489482"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236955" y="444918"/>
            <a:ext cx="5200650" cy="1000125"/>
          </a:xfrm>
          <a:prstGeom prst="rect">
            <a:avLst/>
          </a:prstGeom>
        </p:spPr>
      </p:pic>
      <p:pic>
        <p:nvPicPr>
          <p:cNvPr id="6154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095793"/>
            <a:ext cx="90487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8979" y="992982"/>
            <a:ext cx="1184275"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33"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5693" y="1012825"/>
            <a:ext cx="11493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1341438"/>
            <a:ext cx="1008062"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3068638"/>
            <a:ext cx="108108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1"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9958" y="1341438"/>
            <a:ext cx="8445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38"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74" y="3279229"/>
            <a:ext cx="20288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39"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4581525"/>
            <a:ext cx="13239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40"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505200"/>
            <a:ext cx="1504950"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41" name="Picture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41950" y="4581525"/>
            <a:ext cx="1362075"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42" name="Picture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8488" y="3429000"/>
            <a:ext cx="148590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8" name="Rectangle 20"/>
          <p:cNvSpPr>
            <a:spLocks noChangeArrowheads="1"/>
          </p:cNvSpPr>
          <p:nvPr/>
        </p:nvSpPr>
        <p:spPr bwMode="auto">
          <a:xfrm>
            <a:off x="2771775" y="6400800"/>
            <a:ext cx="3455988" cy="457200"/>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rgbClr val="000000"/>
                </a:solidFill>
              </a:rPr>
              <a:t>图  内存分配变化过程</a:t>
            </a:r>
          </a:p>
        </p:txBody>
      </p:sp>
      <p:grpSp>
        <p:nvGrpSpPr>
          <p:cNvPr id="2" name="Group 26"/>
          <p:cNvGrpSpPr>
            <a:grpSpLocks/>
          </p:cNvGrpSpPr>
          <p:nvPr/>
        </p:nvGrpSpPr>
        <p:grpSpPr bwMode="auto">
          <a:xfrm>
            <a:off x="6011863" y="981075"/>
            <a:ext cx="1225550" cy="574675"/>
            <a:chOff x="3787" y="618"/>
            <a:chExt cx="772" cy="362"/>
          </a:xfrm>
        </p:grpSpPr>
        <p:sp>
          <p:nvSpPr>
            <p:cNvPr id="64531" name="Rectangle 25"/>
            <p:cNvSpPr>
              <a:spLocks noChangeArrowheads="1"/>
            </p:cNvSpPr>
            <p:nvPr/>
          </p:nvSpPr>
          <p:spPr bwMode="auto">
            <a:xfrm>
              <a:off x="3787" y="799"/>
              <a:ext cx="771" cy="181"/>
            </a:xfrm>
            <a:prstGeom prst="rect">
              <a:avLst/>
            </a:prstGeom>
            <a:solidFill>
              <a:srgbClr val="FFFFFF"/>
            </a:solidFill>
            <a:ln w="12700" cap="sq">
              <a:solidFill>
                <a:schemeClr val="tx1"/>
              </a:solid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64532" name="Text Box 23"/>
            <p:cNvSpPr txBox="1">
              <a:spLocks noChangeArrowheads="1"/>
            </p:cNvSpPr>
            <p:nvPr/>
          </p:nvSpPr>
          <p:spPr bwMode="auto">
            <a:xfrm>
              <a:off x="3787" y="618"/>
              <a:ext cx="771" cy="212"/>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1600">
                  <a:solidFill>
                    <a:srgbClr val="000000"/>
                  </a:solidFill>
                </a:rPr>
                <a:t> </a:t>
              </a:r>
              <a:r>
                <a:rPr lang="zh-CN" altLang="en-US" sz="1600">
                  <a:solidFill>
                    <a:srgbClr val="000000"/>
                  </a:solidFill>
                </a:rPr>
                <a:t>进程</a:t>
              </a:r>
              <a:r>
                <a:rPr lang="en-US" altLang="zh-CN" sz="1600">
                  <a:solidFill>
                    <a:srgbClr val="000000"/>
                  </a:solidFill>
                </a:rPr>
                <a:t>C</a:t>
              </a:r>
              <a:r>
                <a:rPr lang="zh-CN" altLang="en-US" sz="1600">
                  <a:solidFill>
                    <a:srgbClr val="000000"/>
                  </a:solidFill>
                </a:rPr>
                <a:t>完成</a:t>
              </a:r>
            </a:p>
          </p:txBody>
        </p:sp>
        <p:sp>
          <p:nvSpPr>
            <p:cNvPr id="64533" name="AutoShape 24"/>
            <p:cNvSpPr>
              <a:spLocks noChangeArrowheads="1"/>
            </p:cNvSpPr>
            <p:nvPr/>
          </p:nvSpPr>
          <p:spPr bwMode="auto">
            <a:xfrm>
              <a:off x="3833" y="799"/>
              <a:ext cx="726" cy="136"/>
            </a:xfrm>
            <a:prstGeom prst="rightArrow">
              <a:avLst>
                <a:gd name="adj1" fmla="val 50000"/>
                <a:gd name="adj2" fmla="val 133456"/>
              </a:avLst>
            </a:prstGeom>
            <a:noFill/>
            <a:ln w="38100" cap="sq">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2" name="Text Box 2">
            <a:extLst>
              <a:ext uri="{FF2B5EF4-FFF2-40B4-BE49-F238E27FC236}">
                <a16:creationId xmlns:a16="http://schemas.microsoft.com/office/drawing/2014/main" id="{A90E606C-EB83-47E6-80F4-5EE688DB30CE}"/>
              </a:ext>
            </a:extLst>
          </p:cNvPr>
          <p:cNvSpPr txBox="1">
            <a:spLocks noChangeArrowheads="1"/>
          </p:cNvSpPr>
          <p:nvPr/>
        </p:nvSpPr>
        <p:spPr bwMode="auto">
          <a:xfrm>
            <a:off x="2957317" y="-136937"/>
            <a:ext cx="3270446" cy="715581"/>
          </a:xfrm>
          <a:prstGeom prst="rect">
            <a:avLst/>
          </a:prstGeom>
          <a:noFill/>
          <a:ln w="9525">
            <a:noFill/>
            <a:miter lim="800000"/>
            <a:headEnd/>
            <a:tailEnd/>
          </a:ln>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可变分区</a:t>
            </a:r>
            <a:r>
              <a:rPr lang="zh-CN" altLang="en-US" sz="4000" dirty="0">
                <a:solidFill>
                  <a:srgbClr val="006699"/>
                </a:solidFill>
                <a:effectLst>
                  <a:outerShdw blurRad="38100" dist="38100" dir="2700000" algn="tl">
                    <a:srgbClr val="000000">
                      <a:alpha val="43137"/>
                    </a:srgbClr>
                  </a:outerShdw>
                </a:effectLst>
                <a:ea typeface="MS PGothic" pitchFamily="34" charset="-128"/>
              </a:rPr>
              <a:t>示例</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2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41722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5431"/>
                                        </p:tgtEl>
                                        <p:attrNameLst>
                                          <p:attrName>style.visibility</p:attrName>
                                        </p:attrNameLst>
                                      </p:cBhvr>
                                      <p:to>
                                        <p:strVal val="visible"/>
                                      </p:to>
                                    </p:set>
                                    <p:anim calcmode="lin" valueType="num">
                                      <p:cBhvr additive="base">
                                        <p:cTn id="7" dur="1000" fill="hold"/>
                                        <p:tgtEl>
                                          <p:spTgt spid="615431"/>
                                        </p:tgtEl>
                                        <p:attrNameLst>
                                          <p:attrName>ppt_x</p:attrName>
                                        </p:attrNameLst>
                                      </p:cBhvr>
                                      <p:tavLst>
                                        <p:tav tm="0">
                                          <p:val>
                                            <p:strVal val="#ppt_x"/>
                                          </p:val>
                                        </p:tav>
                                        <p:tav tm="100000">
                                          <p:val>
                                            <p:strVal val="#ppt_x"/>
                                          </p:val>
                                        </p:tav>
                                      </p:tavLst>
                                    </p:anim>
                                    <p:anim calcmode="lin" valueType="num">
                                      <p:cBhvr additive="base">
                                        <p:cTn id="8" dur="1000" fill="hold"/>
                                        <p:tgtEl>
                                          <p:spTgt spid="61543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15432"/>
                                        </p:tgtEl>
                                        <p:attrNameLst>
                                          <p:attrName>style.visibility</p:attrName>
                                        </p:attrNameLst>
                                      </p:cBhvr>
                                      <p:to>
                                        <p:strVal val="visible"/>
                                      </p:to>
                                    </p:set>
                                    <p:anim calcmode="lin" valueType="num">
                                      <p:cBhvr additive="base">
                                        <p:cTn id="13" dur="1000" fill="hold"/>
                                        <p:tgtEl>
                                          <p:spTgt spid="615432"/>
                                        </p:tgtEl>
                                        <p:attrNameLst>
                                          <p:attrName>ppt_x</p:attrName>
                                        </p:attrNameLst>
                                      </p:cBhvr>
                                      <p:tavLst>
                                        <p:tav tm="0">
                                          <p:val>
                                            <p:strVal val="#ppt_x"/>
                                          </p:val>
                                        </p:tav>
                                        <p:tav tm="100000">
                                          <p:val>
                                            <p:strVal val="#ppt_x"/>
                                          </p:val>
                                        </p:tav>
                                      </p:tavLst>
                                    </p:anim>
                                    <p:anim calcmode="lin" valueType="num">
                                      <p:cBhvr additive="base">
                                        <p:cTn id="14" dur="1000" fill="hold"/>
                                        <p:tgtEl>
                                          <p:spTgt spid="61543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15433"/>
                                        </p:tgtEl>
                                        <p:attrNameLst>
                                          <p:attrName>style.visibility</p:attrName>
                                        </p:attrNameLst>
                                      </p:cBhvr>
                                      <p:to>
                                        <p:strVal val="visible"/>
                                      </p:to>
                                    </p:set>
                                    <p:anim calcmode="lin" valueType="num">
                                      <p:cBhvr additive="base">
                                        <p:cTn id="19" dur="1000" fill="hold"/>
                                        <p:tgtEl>
                                          <p:spTgt spid="615433"/>
                                        </p:tgtEl>
                                        <p:attrNameLst>
                                          <p:attrName>ppt_x</p:attrName>
                                        </p:attrNameLst>
                                      </p:cBhvr>
                                      <p:tavLst>
                                        <p:tav tm="0">
                                          <p:val>
                                            <p:strVal val="#ppt_x"/>
                                          </p:val>
                                        </p:tav>
                                        <p:tav tm="100000">
                                          <p:val>
                                            <p:strVal val="#ppt_x"/>
                                          </p:val>
                                        </p:tav>
                                      </p:tavLst>
                                    </p:anim>
                                    <p:anim calcmode="lin" valueType="num">
                                      <p:cBhvr additive="base">
                                        <p:cTn id="20" dur="1000" fill="hold"/>
                                        <p:tgtEl>
                                          <p:spTgt spid="61543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checkerboard(across)">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0" presetClass="entr" presetSubtype="0" fill="hold" nodeType="clickEffect">
                                  <p:stCondLst>
                                    <p:cond delay="0"/>
                                  </p:stCondLst>
                                  <p:childTnLst>
                                    <p:set>
                                      <p:cBhvr>
                                        <p:cTn id="29" dur="1" fill="hold">
                                          <p:stCondLst>
                                            <p:cond delay="0"/>
                                          </p:stCondLst>
                                        </p:cTn>
                                        <p:tgtEl>
                                          <p:spTgt spid="615438"/>
                                        </p:tgtEl>
                                        <p:attrNameLst>
                                          <p:attrName>style.visibility</p:attrName>
                                        </p:attrNameLst>
                                      </p:cBhvr>
                                      <p:to>
                                        <p:strVal val="visible"/>
                                      </p:to>
                                    </p:set>
                                    <p:animEffect transition="in" filter="wedge">
                                      <p:cBhvr>
                                        <p:cTn id="30" dur="2000"/>
                                        <p:tgtEl>
                                          <p:spTgt spid="61543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615439"/>
                                        </p:tgtEl>
                                        <p:attrNameLst>
                                          <p:attrName>style.visibility</p:attrName>
                                        </p:attrNameLst>
                                      </p:cBhvr>
                                      <p:to>
                                        <p:strVal val="visible"/>
                                      </p:to>
                                    </p:set>
                                    <p:anim calcmode="lin" valueType="num">
                                      <p:cBhvr additive="base">
                                        <p:cTn id="35" dur="1000" fill="hold"/>
                                        <p:tgtEl>
                                          <p:spTgt spid="615439"/>
                                        </p:tgtEl>
                                        <p:attrNameLst>
                                          <p:attrName>ppt_x</p:attrName>
                                        </p:attrNameLst>
                                      </p:cBhvr>
                                      <p:tavLst>
                                        <p:tav tm="0">
                                          <p:val>
                                            <p:strVal val="0-#ppt_w/2"/>
                                          </p:val>
                                        </p:tav>
                                        <p:tav tm="100000">
                                          <p:val>
                                            <p:strVal val="#ppt_x"/>
                                          </p:val>
                                        </p:tav>
                                      </p:tavLst>
                                    </p:anim>
                                    <p:anim calcmode="lin" valueType="num">
                                      <p:cBhvr additive="base">
                                        <p:cTn id="36" dur="1000" fill="hold"/>
                                        <p:tgtEl>
                                          <p:spTgt spid="615439"/>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615440"/>
                                        </p:tgtEl>
                                        <p:attrNameLst>
                                          <p:attrName>style.visibility</p:attrName>
                                        </p:attrNameLst>
                                      </p:cBhvr>
                                      <p:to>
                                        <p:strVal val="visible"/>
                                      </p:to>
                                    </p:set>
                                    <p:anim calcmode="lin" valueType="num">
                                      <p:cBhvr additive="base">
                                        <p:cTn id="41" dur="1000" fill="hold"/>
                                        <p:tgtEl>
                                          <p:spTgt spid="615440"/>
                                        </p:tgtEl>
                                        <p:attrNameLst>
                                          <p:attrName>ppt_x</p:attrName>
                                        </p:attrNameLst>
                                      </p:cBhvr>
                                      <p:tavLst>
                                        <p:tav tm="0">
                                          <p:val>
                                            <p:strVal val="0-#ppt_w/2"/>
                                          </p:val>
                                        </p:tav>
                                        <p:tav tm="100000">
                                          <p:val>
                                            <p:strVal val="#ppt_x"/>
                                          </p:val>
                                        </p:tav>
                                      </p:tavLst>
                                    </p:anim>
                                    <p:anim calcmode="lin" valueType="num">
                                      <p:cBhvr additive="base">
                                        <p:cTn id="42" dur="1000" fill="hold"/>
                                        <p:tgtEl>
                                          <p:spTgt spid="615440"/>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nodeType="clickEffect">
                                  <p:stCondLst>
                                    <p:cond delay="0"/>
                                  </p:stCondLst>
                                  <p:childTnLst>
                                    <p:set>
                                      <p:cBhvr>
                                        <p:cTn id="46" dur="1" fill="hold">
                                          <p:stCondLst>
                                            <p:cond delay="0"/>
                                          </p:stCondLst>
                                        </p:cTn>
                                        <p:tgtEl>
                                          <p:spTgt spid="615441"/>
                                        </p:tgtEl>
                                        <p:attrNameLst>
                                          <p:attrName>style.visibility</p:attrName>
                                        </p:attrNameLst>
                                      </p:cBhvr>
                                      <p:to>
                                        <p:strVal val="visible"/>
                                      </p:to>
                                    </p:set>
                                    <p:anim calcmode="lin" valueType="num">
                                      <p:cBhvr additive="base">
                                        <p:cTn id="47" dur="1000" fill="hold"/>
                                        <p:tgtEl>
                                          <p:spTgt spid="615441"/>
                                        </p:tgtEl>
                                        <p:attrNameLst>
                                          <p:attrName>ppt_x</p:attrName>
                                        </p:attrNameLst>
                                      </p:cBhvr>
                                      <p:tavLst>
                                        <p:tav tm="0">
                                          <p:val>
                                            <p:strVal val="0-#ppt_w/2"/>
                                          </p:val>
                                        </p:tav>
                                        <p:tav tm="100000">
                                          <p:val>
                                            <p:strVal val="#ppt_x"/>
                                          </p:val>
                                        </p:tav>
                                      </p:tavLst>
                                    </p:anim>
                                    <p:anim calcmode="lin" valueType="num">
                                      <p:cBhvr additive="base">
                                        <p:cTn id="48" dur="1000" fill="hold"/>
                                        <p:tgtEl>
                                          <p:spTgt spid="615441"/>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nodeType="clickEffect">
                                  <p:stCondLst>
                                    <p:cond delay="0"/>
                                  </p:stCondLst>
                                  <p:childTnLst>
                                    <p:set>
                                      <p:cBhvr>
                                        <p:cTn id="52" dur="1" fill="hold">
                                          <p:stCondLst>
                                            <p:cond delay="0"/>
                                          </p:stCondLst>
                                        </p:cTn>
                                        <p:tgtEl>
                                          <p:spTgt spid="615442"/>
                                        </p:tgtEl>
                                        <p:attrNameLst>
                                          <p:attrName>style.visibility</p:attrName>
                                        </p:attrNameLst>
                                      </p:cBhvr>
                                      <p:to>
                                        <p:strVal val="visible"/>
                                      </p:to>
                                    </p:set>
                                    <p:anim calcmode="lin" valueType="num">
                                      <p:cBhvr additive="base">
                                        <p:cTn id="53" dur="1000" fill="hold"/>
                                        <p:tgtEl>
                                          <p:spTgt spid="615442"/>
                                        </p:tgtEl>
                                        <p:attrNameLst>
                                          <p:attrName>ppt_x</p:attrName>
                                        </p:attrNameLst>
                                      </p:cBhvr>
                                      <p:tavLst>
                                        <p:tav tm="0">
                                          <p:val>
                                            <p:strVal val="0-#ppt_w/2"/>
                                          </p:val>
                                        </p:tav>
                                        <p:tav tm="100000">
                                          <p:val>
                                            <p:strVal val="#ppt_x"/>
                                          </p:val>
                                        </p:tav>
                                      </p:tavLst>
                                    </p:anim>
                                    <p:anim calcmode="lin" valueType="num">
                                      <p:cBhvr additive="base">
                                        <p:cTn id="54" dur="1000" fill="hold"/>
                                        <p:tgtEl>
                                          <p:spTgt spid="615442"/>
                                        </p:tgtEl>
                                        <p:attrNameLst>
                                          <p:attrName>ppt_y</p:attrName>
                                        </p:attrNameLst>
                                      </p:cBhvr>
                                      <p:tavLst>
                                        <p:tav tm="0">
                                          <p:val>
                                            <p:strVal val="#ppt_y"/>
                                          </p:val>
                                        </p:tav>
                                        <p:tav tm="100000">
                                          <p:val>
                                            <p:strVal val="#ppt_y"/>
                                          </p:val>
                                        </p:tav>
                                      </p:tavLst>
                                    </p:anim>
                                  </p:childTnLst>
                                </p:cTn>
                              </p:par>
                            </p:childTnLst>
                          </p:cTn>
                        </p:par>
                        <p:par>
                          <p:cTn id="55" fill="hold">
                            <p:stCondLst>
                              <p:cond delay="1000"/>
                            </p:stCondLst>
                            <p:childTnLst>
                              <p:par>
                                <p:cTn id="56" presetID="2" presetClass="entr" presetSubtype="6" fill="hold" grpId="0" nodeType="after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1+#ppt_w/2"/>
                                          </p:val>
                                        </p:tav>
                                        <p:tav tm="100000">
                                          <p:val>
                                            <p:strVal val="#ppt_x"/>
                                          </p:val>
                                        </p:tav>
                                      </p:tavLst>
                                    </p:anim>
                                    <p:anim calcmode="lin" valueType="num">
                                      <p:cBhvr additive="base">
                                        <p:cTn id="5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p:cNvSpPr>
            <a:spLocks noChangeArrowheads="1"/>
          </p:cNvSpPr>
          <p:nvPr/>
        </p:nvSpPr>
        <p:spPr bwMode="auto">
          <a:xfrm>
            <a:off x="1799431" y="-6314"/>
            <a:ext cx="5689600" cy="769441"/>
          </a:xfrm>
          <a:prstGeom prst="rect">
            <a:avLst/>
          </a:prstGeom>
          <a:noFill/>
          <a:ln w="12700" cap="sq">
            <a:noFill/>
            <a:miter lim="800000"/>
            <a:headEnd type="none" w="sm" len="sm"/>
            <a:tailEnd type="none" w="sm" len="sm"/>
          </a:ln>
          <a:effectLst/>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可变分区的分配和回收</a:t>
            </a:r>
          </a:p>
        </p:txBody>
      </p:sp>
      <p:sp>
        <p:nvSpPr>
          <p:cNvPr id="70660" name="Rectangle 5"/>
          <p:cNvSpPr>
            <a:spLocks noChangeArrowheads="1"/>
          </p:cNvSpPr>
          <p:nvPr/>
        </p:nvSpPr>
        <p:spPr bwMode="auto">
          <a:xfrm>
            <a:off x="395288" y="1557338"/>
            <a:ext cx="8497887"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Font typeface="Symbol" panose="05050102010706020507" pitchFamily="18" charset="2"/>
              <a:buNone/>
            </a:pPr>
            <a:endParaRPr lang="zh-CN" altLang="zh-CN">
              <a:latin typeface="楷体_GB2312" pitchFamily="49" charset="-122"/>
              <a:ea typeface="楷体_GB2312" pitchFamily="49" charset="-122"/>
            </a:endParaRPr>
          </a:p>
        </p:txBody>
      </p:sp>
      <p:sp>
        <p:nvSpPr>
          <p:cNvPr id="493576" name="Text Box 8"/>
          <p:cNvSpPr txBox="1">
            <a:spLocks noChangeArrowheads="1"/>
          </p:cNvSpPr>
          <p:nvPr/>
        </p:nvSpPr>
        <p:spPr bwMode="auto">
          <a:xfrm>
            <a:off x="248357" y="1340768"/>
            <a:ext cx="8497887" cy="3554819"/>
          </a:xfrm>
          <a:prstGeom prst="rect">
            <a:avLst/>
          </a:prstGeom>
          <a:noFill/>
          <a:ln w="12700" cap="sq">
            <a:noFill/>
            <a:miter lim="800000"/>
            <a:headEnd type="none" w="sm" len="sm"/>
            <a:tailEnd type="none" w="sm" len="sm"/>
          </a:ln>
          <a:effectLst/>
        </p:spPr>
        <p:txBody>
          <a:bodyPr>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分配：根据请求表中要求的内存长度，从空闲区表中寻找出合适的空闲区</a:t>
            </a:r>
          </a:p>
          <a:p>
            <a:pPr marL="1371600" lvl="2" indent="-457200" eaLnBrk="1" hangingPunct="1">
              <a:lnSpc>
                <a:spcPts val="4500"/>
              </a:lnSpc>
              <a:buSzPct val="80000"/>
              <a:buFont typeface="Wingdings" panose="05000000000000000000" pitchFamily="2" charset="2"/>
              <a:buChar char="n"/>
              <a:defRPr/>
            </a:pPr>
            <a:r>
              <a:rPr lang="zh-CN" altLang="en-US" sz="3200" dirty="0">
                <a:solidFill>
                  <a:srgbClr val="FF00FF"/>
                </a:solidFill>
                <a:effectLst>
                  <a:outerShdw blurRad="38100" dist="38100" dir="2700000" algn="tl">
                    <a:srgbClr val="000000"/>
                  </a:outerShdw>
                </a:effectLst>
                <a:latin typeface="楷体_GB2312" pitchFamily="49" charset="-122"/>
                <a:ea typeface="楷体_GB2312" pitchFamily="49" charset="-122"/>
              </a:rPr>
              <a:t>最先适应法</a:t>
            </a:r>
            <a:r>
              <a:rPr lang="en-US" altLang="zh-CN" sz="3200" dirty="0">
                <a:solidFill>
                  <a:srgbClr val="FF00FF"/>
                </a:solidFill>
                <a:latin typeface="+mn-lt"/>
                <a:ea typeface="楷体_GB2312" pitchFamily="49" charset="-122"/>
              </a:rPr>
              <a:t>(</a:t>
            </a:r>
            <a:r>
              <a:rPr lang="en-US" altLang="zh-CN" sz="2800" dirty="0">
                <a:solidFill>
                  <a:srgbClr val="FF00FF"/>
                </a:solidFill>
                <a:latin typeface="+mn-lt"/>
                <a:ea typeface="楷体_GB2312" pitchFamily="49" charset="-122"/>
              </a:rPr>
              <a:t>first fit algorithm )</a:t>
            </a:r>
          </a:p>
          <a:p>
            <a:pPr marL="1371600" lvl="2" indent="-457200" eaLnBrk="1" hangingPunct="1">
              <a:lnSpc>
                <a:spcPts val="4500"/>
              </a:lnSpc>
              <a:buSzPct val="80000"/>
              <a:buFont typeface="Wingdings" panose="05000000000000000000" pitchFamily="2" charset="2"/>
              <a:buChar char="n"/>
              <a:defRPr/>
            </a:pPr>
            <a:r>
              <a:rPr lang="zh-CN" altLang="en-US" dirty="0">
                <a:solidFill>
                  <a:srgbClr val="FF00FF"/>
                </a:solidFill>
                <a:effectLst>
                  <a:outerShdw blurRad="38100" dist="38100" dir="2700000" algn="tl">
                    <a:srgbClr val="000000"/>
                  </a:outerShdw>
                </a:effectLst>
                <a:latin typeface="楷体_GB2312" pitchFamily="49" charset="-122"/>
                <a:ea typeface="楷体_GB2312" pitchFamily="49" charset="-122"/>
              </a:rPr>
              <a:t>最佳适应法</a:t>
            </a:r>
            <a:r>
              <a:rPr lang="en-US" altLang="zh-CN" sz="2800" dirty="0">
                <a:solidFill>
                  <a:srgbClr val="FF00FF"/>
                </a:solidFill>
                <a:latin typeface="+mn-lt"/>
                <a:ea typeface="楷体_GB2312" pitchFamily="49" charset="-122"/>
              </a:rPr>
              <a:t>(best fit algorithm)</a:t>
            </a:r>
          </a:p>
          <a:p>
            <a:pPr marL="1371600" lvl="2" indent="-457200" eaLnBrk="1" hangingPunct="1">
              <a:lnSpc>
                <a:spcPts val="4500"/>
              </a:lnSpc>
              <a:buSzPct val="80000"/>
              <a:buFont typeface="Wingdings" panose="05000000000000000000" pitchFamily="2" charset="2"/>
              <a:buChar char="n"/>
              <a:defRPr/>
            </a:pPr>
            <a:r>
              <a:rPr lang="zh-CN" altLang="en-US" dirty="0">
                <a:solidFill>
                  <a:srgbClr val="FF00FF"/>
                </a:solidFill>
                <a:effectLst>
                  <a:outerShdw blurRad="38100" dist="38100" dir="2700000" algn="tl">
                    <a:srgbClr val="000000"/>
                  </a:outerShdw>
                </a:effectLst>
                <a:latin typeface="楷体_GB2312" pitchFamily="49" charset="-122"/>
                <a:ea typeface="楷体_GB2312" pitchFamily="49" charset="-122"/>
              </a:rPr>
              <a:t>最坏适应法</a:t>
            </a:r>
            <a:r>
              <a:rPr lang="en-US" altLang="zh-CN" sz="2800" dirty="0">
                <a:solidFill>
                  <a:srgbClr val="FF00FF"/>
                </a:solidFill>
                <a:latin typeface="+mn-lt"/>
                <a:ea typeface="楷体_GB2312" pitchFamily="49" charset="-122"/>
              </a:rPr>
              <a:t>(worst fit algorithm)</a:t>
            </a:r>
          </a:p>
          <a:p>
            <a:pPr marL="355600" lvl="2" indent="-355600" defTabSz="355600">
              <a:lnSpc>
                <a:spcPts val="4500"/>
              </a:lnSpc>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回收</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 </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新的空闲区或空闲区的合并</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530339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3576">
                                            <p:txEl>
                                              <p:pRg st="4" end="4"/>
                                            </p:txEl>
                                          </p:spTgt>
                                        </p:tgtEl>
                                        <p:attrNameLst>
                                          <p:attrName>style.visibility</p:attrName>
                                        </p:attrNameLst>
                                      </p:cBhvr>
                                      <p:to>
                                        <p:strVal val="visible"/>
                                      </p:to>
                                    </p:set>
                                    <p:animEffect transition="in" filter="blinds(horizontal)">
                                      <p:cBhvr>
                                        <p:cTn id="7" dur="500"/>
                                        <p:tgtEl>
                                          <p:spTgt spid="493576">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93576">
                                            <p:txEl>
                                              <p:pRg st="1" end="1"/>
                                            </p:txEl>
                                          </p:spTgt>
                                        </p:tgtEl>
                                        <p:attrNameLst>
                                          <p:attrName>style.visibility</p:attrName>
                                        </p:attrNameLst>
                                      </p:cBhvr>
                                      <p:to>
                                        <p:strVal val="visible"/>
                                      </p:to>
                                    </p:set>
                                    <p:animEffect transition="in" filter="dissolve">
                                      <p:cBhvr>
                                        <p:cTn id="12" dur="500"/>
                                        <p:tgtEl>
                                          <p:spTgt spid="493576">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493576">
                                            <p:txEl>
                                              <p:pRg st="2" end="2"/>
                                            </p:txEl>
                                          </p:spTgt>
                                        </p:tgtEl>
                                        <p:attrNameLst>
                                          <p:attrName>style.visibility</p:attrName>
                                        </p:attrNameLst>
                                      </p:cBhvr>
                                      <p:to>
                                        <p:strVal val="visible"/>
                                      </p:to>
                                    </p:set>
                                    <p:animEffect transition="in" filter="dissolve">
                                      <p:cBhvr>
                                        <p:cTn id="15" dur="500"/>
                                        <p:tgtEl>
                                          <p:spTgt spid="493576">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493576">
                                            <p:txEl>
                                              <p:pRg st="3" end="3"/>
                                            </p:txEl>
                                          </p:spTgt>
                                        </p:tgtEl>
                                        <p:attrNameLst>
                                          <p:attrName>style.visibility</p:attrName>
                                        </p:attrNameLst>
                                      </p:cBhvr>
                                      <p:to>
                                        <p:strVal val="visible"/>
                                      </p:to>
                                    </p:set>
                                    <p:animEffect transition="in" filter="dissolve">
                                      <p:cBhvr>
                                        <p:cTn id="18" dur="500"/>
                                        <p:tgtEl>
                                          <p:spTgt spid="493576">
                                            <p:txEl>
                                              <p:pRg st="3" end="3"/>
                                            </p:txEl>
                                          </p:spTgt>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3"/>
          <p:cNvSpPr>
            <a:spLocks noGrp="1" noChangeArrowheads="1"/>
          </p:cNvSpPr>
          <p:nvPr>
            <p:ph type="body" idx="1"/>
          </p:nvPr>
        </p:nvSpPr>
        <p:spPr>
          <a:xfrm>
            <a:off x="0" y="1700808"/>
            <a:ext cx="8964488" cy="2808312"/>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空闲区按起始地址递增的次序；</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找到足够大的空闲区则停止；</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尽可能利用低地址空间，保证高地址有较大的空闲区。</a:t>
            </a:r>
          </a:p>
        </p:txBody>
      </p:sp>
      <p:sp>
        <p:nvSpPr>
          <p:cNvPr id="2" name="矩形 1">
            <a:extLst>
              <a:ext uri="{FF2B5EF4-FFF2-40B4-BE49-F238E27FC236}">
                <a16:creationId xmlns:a16="http://schemas.microsoft.com/office/drawing/2014/main" id="{63F8C011-0E96-4248-9CE5-25636005C829}"/>
              </a:ext>
            </a:extLst>
          </p:cNvPr>
          <p:cNvSpPr/>
          <p:nvPr/>
        </p:nvSpPr>
        <p:spPr>
          <a:xfrm>
            <a:off x="2196244" y="116632"/>
            <a:ext cx="4572000" cy="707886"/>
          </a:xfrm>
          <a:prstGeom prst="rect">
            <a:avLst/>
          </a:prstGeom>
        </p:spPr>
        <p:txBody>
          <a:bodyPr>
            <a:spAutoFit/>
          </a:bodyPr>
          <a:lstStyle/>
          <a:p>
            <a:pPr lvl="2" eaLnBrk="1" hangingPunct="1">
              <a:defRPr/>
            </a:pPr>
            <a:r>
              <a:rPr lang="zh-CN" altLang="en-US" sz="4000" dirty="0">
                <a:solidFill>
                  <a:srgbClr val="FF00FF"/>
                </a:solidFill>
                <a:effectLst>
                  <a:outerShdw blurRad="38100" dist="38100" dir="2700000" algn="tl">
                    <a:srgbClr val="000000"/>
                  </a:outerShdw>
                </a:effectLst>
                <a:latin typeface="楷体_GB2312" pitchFamily="49" charset="-122"/>
                <a:ea typeface="楷体_GB2312" pitchFamily="49" charset="-122"/>
              </a:rPr>
              <a:t>最先适应法</a:t>
            </a:r>
            <a:endParaRPr lang="en-US" altLang="zh-CN" sz="4000" dirty="0">
              <a:solidFill>
                <a:srgbClr val="FF00FF"/>
              </a:solidFill>
              <a:ea typeface="楷体_GB2312"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99270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684">
                                            <p:txEl>
                                              <p:pRg st="1" end="1"/>
                                            </p:txEl>
                                          </p:spTgt>
                                        </p:tgtEl>
                                        <p:attrNameLst>
                                          <p:attrName>style.visibility</p:attrName>
                                        </p:attrNameLst>
                                      </p:cBhvr>
                                      <p:to>
                                        <p:strVal val="visible"/>
                                      </p:to>
                                    </p:set>
                                    <p:animEffect transition="in" filter="fade">
                                      <p:cBhvr>
                                        <p:cTn id="7" dur="1000"/>
                                        <p:tgtEl>
                                          <p:spTgt spid="71684">
                                            <p:txEl>
                                              <p:pRg st="1" end="1"/>
                                            </p:txEl>
                                          </p:spTgt>
                                        </p:tgtEl>
                                      </p:cBhvr>
                                    </p:animEffect>
                                    <p:anim calcmode="lin" valueType="num">
                                      <p:cBhvr>
                                        <p:cTn id="8" dur="1000" fill="hold"/>
                                        <p:tgtEl>
                                          <p:spTgt spid="7168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168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1684">
                                            <p:txEl>
                                              <p:pRg st="2" end="2"/>
                                            </p:txEl>
                                          </p:spTgt>
                                        </p:tgtEl>
                                        <p:attrNameLst>
                                          <p:attrName>style.visibility</p:attrName>
                                        </p:attrNameLst>
                                      </p:cBhvr>
                                      <p:to>
                                        <p:strVal val="visible"/>
                                      </p:to>
                                    </p:set>
                                    <p:animEffect transition="in" filter="fade">
                                      <p:cBhvr>
                                        <p:cTn id="14" dur="1000"/>
                                        <p:tgtEl>
                                          <p:spTgt spid="71684">
                                            <p:txEl>
                                              <p:pRg st="2" end="2"/>
                                            </p:txEl>
                                          </p:spTgt>
                                        </p:tgtEl>
                                      </p:cBhvr>
                                    </p:animEffect>
                                    <p:anim calcmode="lin" valueType="num">
                                      <p:cBhvr>
                                        <p:cTn id="15" dur="1000" fill="hold"/>
                                        <p:tgtEl>
                                          <p:spTgt spid="7168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1684">
                                            <p:txEl>
                                              <p:pRg st="2" end="2"/>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1+#ppt_w/2"/>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Grp="1" noChangeArrowheads="1"/>
          </p:cNvSpPr>
          <p:nvPr>
            <p:ph type="body" idx="1"/>
          </p:nvPr>
        </p:nvSpPr>
        <p:spPr>
          <a:xfrm>
            <a:off x="179388" y="1196752"/>
            <a:ext cx="8964612" cy="449580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空闲区大小递增；</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从表头开始，找到第一个满足要求的；</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如果该空闲区大于请求长度，则将减去请求长度后的剩余空闲区留在可用表中</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“最佳”</a:t>
            </a: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1"/>
                </a:solidFill>
                <a:latin typeface="+mj-lt"/>
                <a:ea typeface="楷体" panose="02010609060101010101" pitchFamily="49" charset="-122"/>
                <a:cs typeface="+mn-cs"/>
              </a:rPr>
              <a:t>满足要求的最小空闲区；</a:t>
            </a:r>
            <a:endParaRPr lang="en-US" altLang="zh-CN" sz="32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缺点</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lnSpc>
                <a:spcPts val="45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分配后剩余的小空闲区多。</a:t>
            </a:r>
          </a:p>
        </p:txBody>
      </p:sp>
      <p:sp>
        <p:nvSpPr>
          <p:cNvPr id="2" name="矩形 1">
            <a:extLst>
              <a:ext uri="{FF2B5EF4-FFF2-40B4-BE49-F238E27FC236}">
                <a16:creationId xmlns:a16="http://schemas.microsoft.com/office/drawing/2014/main" id="{1E433C23-63CB-40EF-B4C0-9151B31C3356}"/>
              </a:ext>
            </a:extLst>
          </p:cNvPr>
          <p:cNvSpPr/>
          <p:nvPr/>
        </p:nvSpPr>
        <p:spPr>
          <a:xfrm>
            <a:off x="2555776" y="85726"/>
            <a:ext cx="3779564" cy="707886"/>
          </a:xfrm>
          <a:prstGeom prst="rect">
            <a:avLst/>
          </a:prstGeom>
        </p:spPr>
        <p:txBody>
          <a:bodyPr wrap="square">
            <a:spAutoFit/>
          </a:bodyPr>
          <a:lstStyle/>
          <a:p>
            <a:pPr marL="628650" lvl="2" indent="-536575" algn="ctr" eaLnBrk="1" hangingPunct="1">
              <a:defRPr/>
            </a:pPr>
            <a:r>
              <a:rPr lang="zh-CN" altLang="en-US" sz="4000" dirty="0">
                <a:solidFill>
                  <a:srgbClr val="FF00FF"/>
                </a:solidFill>
                <a:effectLst>
                  <a:outerShdw blurRad="38100" dist="38100" dir="2700000" algn="tl">
                    <a:srgbClr val="000000"/>
                  </a:outerShdw>
                </a:effectLst>
                <a:latin typeface="楷体_GB2312" pitchFamily="49" charset="-122"/>
                <a:ea typeface="楷体_GB2312" pitchFamily="49" charset="-122"/>
              </a:rPr>
              <a:t>最佳适应法</a:t>
            </a:r>
            <a:endParaRPr lang="en-US" altLang="zh-CN" sz="4000" dirty="0">
              <a:solidFill>
                <a:srgbClr val="FF00FF"/>
              </a:solidFill>
              <a:ea typeface="楷体_GB2312"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2427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3619">
                                            <p:txEl>
                                              <p:pRg st="1" end="1"/>
                                            </p:txEl>
                                          </p:spTgt>
                                        </p:tgtEl>
                                        <p:attrNameLst>
                                          <p:attrName>style.visibility</p:attrName>
                                        </p:attrNameLst>
                                      </p:cBhvr>
                                      <p:to>
                                        <p:strVal val="visible"/>
                                      </p:to>
                                    </p:set>
                                    <p:animEffect transition="in" filter="fade">
                                      <p:cBhvr>
                                        <p:cTn id="7" dur="1000"/>
                                        <p:tgtEl>
                                          <p:spTgt spid="623619">
                                            <p:txEl>
                                              <p:pRg st="1" end="1"/>
                                            </p:txEl>
                                          </p:spTgt>
                                        </p:tgtEl>
                                      </p:cBhvr>
                                    </p:animEffect>
                                    <p:anim calcmode="lin" valueType="num">
                                      <p:cBhvr>
                                        <p:cTn id="8" dur="1000" fill="hold"/>
                                        <p:tgtEl>
                                          <p:spTgt spid="62361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2361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23619">
                                            <p:txEl>
                                              <p:pRg st="2" end="2"/>
                                            </p:txEl>
                                          </p:spTgt>
                                        </p:tgtEl>
                                        <p:attrNameLst>
                                          <p:attrName>style.visibility</p:attrName>
                                        </p:attrNameLst>
                                      </p:cBhvr>
                                      <p:to>
                                        <p:strVal val="visible"/>
                                      </p:to>
                                    </p:set>
                                    <p:animEffect transition="in" filter="fade">
                                      <p:cBhvr>
                                        <p:cTn id="12" dur="1000"/>
                                        <p:tgtEl>
                                          <p:spTgt spid="623619">
                                            <p:txEl>
                                              <p:pRg st="2" end="2"/>
                                            </p:txEl>
                                          </p:spTgt>
                                        </p:tgtEl>
                                      </p:cBhvr>
                                    </p:animEffect>
                                    <p:anim calcmode="lin" valueType="num">
                                      <p:cBhvr>
                                        <p:cTn id="13" dur="1000" fill="hold"/>
                                        <p:tgtEl>
                                          <p:spTgt spid="62361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236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23619">
                                            <p:txEl>
                                              <p:pRg st="3" end="3"/>
                                            </p:txEl>
                                          </p:spTgt>
                                        </p:tgtEl>
                                        <p:attrNameLst>
                                          <p:attrName>style.visibility</p:attrName>
                                        </p:attrNameLst>
                                      </p:cBhvr>
                                      <p:to>
                                        <p:strVal val="visible"/>
                                      </p:to>
                                    </p:set>
                                    <p:animEffect transition="in" filter="fade">
                                      <p:cBhvr>
                                        <p:cTn id="19" dur="1000"/>
                                        <p:tgtEl>
                                          <p:spTgt spid="623619">
                                            <p:txEl>
                                              <p:pRg st="3" end="3"/>
                                            </p:txEl>
                                          </p:spTgt>
                                        </p:tgtEl>
                                      </p:cBhvr>
                                    </p:animEffect>
                                    <p:anim calcmode="lin" valueType="num">
                                      <p:cBhvr>
                                        <p:cTn id="20" dur="1000" fill="hold"/>
                                        <p:tgtEl>
                                          <p:spTgt spid="62361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623619">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23619">
                                            <p:txEl>
                                              <p:pRg st="4" end="4"/>
                                            </p:txEl>
                                          </p:spTgt>
                                        </p:tgtEl>
                                        <p:attrNameLst>
                                          <p:attrName>style.visibility</p:attrName>
                                        </p:attrNameLst>
                                      </p:cBhvr>
                                      <p:to>
                                        <p:strVal val="visible"/>
                                      </p:to>
                                    </p:set>
                                    <p:animEffect transition="in" filter="fade">
                                      <p:cBhvr>
                                        <p:cTn id="24" dur="1000"/>
                                        <p:tgtEl>
                                          <p:spTgt spid="623619">
                                            <p:txEl>
                                              <p:pRg st="4" end="4"/>
                                            </p:txEl>
                                          </p:spTgt>
                                        </p:tgtEl>
                                      </p:cBhvr>
                                    </p:animEffect>
                                    <p:anim calcmode="lin" valueType="num">
                                      <p:cBhvr>
                                        <p:cTn id="25" dur="1000" fill="hold"/>
                                        <p:tgtEl>
                                          <p:spTgt spid="62361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62361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23619">
                                            <p:txEl>
                                              <p:pRg st="5" end="5"/>
                                            </p:txEl>
                                          </p:spTgt>
                                        </p:tgtEl>
                                        <p:attrNameLst>
                                          <p:attrName>style.visibility</p:attrName>
                                        </p:attrNameLst>
                                      </p:cBhvr>
                                      <p:to>
                                        <p:strVal val="visible"/>
                                      </p:to>
                                    </p:set>
                                    <p:animEffect transition="in" filter="fade">
                                      <p:cBhvr>
                                        <p:cTn id="29" dur="1000"/>
                                        <p:tgtEl>
                                          <p:spTgt spid="623619">
                                            <p:txEl>
                                              <p:pRg st="5" end="5"/>
                                            </p:txEl>
                                          </p:spTgt>
                                        </p:tgtEl>
                                      </p:cBhvr>
                                    </p:animEffect>
                                    <p:anim calcmode="lin" valueType="num">
                                      <p:cBhvr>
                                        <p:cTn id="30" dur="1000" fill="hold"/>
                                        <p:tgtEl>
                                          <p:spTgt spid="62361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2361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23619">
                                            <p:txEl>
                                              <p:pRg st="6" end="6"/>
                                            </p:txEl>
                                          </p:spTgt>
                                        </p:tgtEl>
                                        <p:attrNameLst>
                                          <p:attrName>style.visibility</p:attrName>
                                        </p:attrNameLst>
                                      </p:cBhvr>
                                      <p:to>
                                        <p:strVal val="visible"/>
                                      </p:to>
                                    </p:set>
                                    <p:animEffect transition="in" filter="fade">
                                      <p:cBhvr>
                                        <p:cTn id="34" dur="1000"/>
                                        <p:tgtEl>
                                          <p:spTgt spid="623619">
                                            <p:txEl>
                                              <p:pRg st="6" end="6"/>
                                            </p:txEl>
                                          </p:spTgt>
                                        </p:tgtEl>
                                      </p:cBhvr>
                                    </p:animEffect>
                                    <p:anim calcmode="lin" valueType="num">
                                      <p:cBhvr>
                                        <p:cTn id="35" dur="1000" fill="hold"/>
                                        <p:tgtEl>
                                          <p:spTgt spid="62361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623619">
                                            <p:txEl>
                                              <p:pRg st="6" end="6"/>
                                            </p:txEl>
                                          </p:spTgt>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 presetClass="entr" presetSubtype="6"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additive="base">
                                        <p:cTn id="40" dur="500" fill="hold"/>
                                        <p:tgtEl>
                                          <p:spTgt spid="5"/>
                                        </p:tgtEl>
                                        <p:attrNameLst>
                                          <p:attrName>ppt_x</p:attrName>
                                        </p:attrNameLst>
                                      </p:cBhvr>
                                      <p:tavLst>
                                        <p:tav tm="0">
                                          <p:val>
                                            <p:strVal val="1+#ppt_w/2"/>
                                          </p:val>
                                        </p:tav>
                                        <p:tav tm="100000">
                                          <p:val>
                                            <p:strVal val="#ppt_x"/>
                                          </p:val>
                                        </p:tav>
                                      </p:tavLst>
                                    </p:anim>
                                    <p:anim calcmode="lin" valueType="num">
                                      <p:cBhvr additive="base">
                                        <p:cTn id="4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3" name="Rectangle 3"/>
          <p:cNvSpPr>
            <a:spLocks noGrp="1" noChangeArrowheads="1"/>
          </p:cNvSpPr>
          <p:nvPr>
            <p:ph type="body" idx="1"/>
          </p:nvPr>
        </p:nvSpPr>
        <p:spPr>
          <a:xfrm>
            <a:off x="0" y="563311"/>
            <a:ext cx="9171401" cy="4377161"/>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空闲区按大小递减的次序</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检查第一个可用区：大于或等于所要求的内存长度？</a:t>
            </a:r>
          </a:p>
          <a:p>
            <a:pPr marL="812800" lvl="3" indent="-355600" defTabSz="355600">
              <a:lnSpc>
                <a:spcPts val="38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是：分配相应的空间，修改和调整空闲区；</a:t>
            </a:r>
          </a:p>
          <a:p>
            <a:pPr marL="812800" lvl="3" indent="-355600" defTabSz="355600">
              <a:lnSpc>
                <a:spcPts val="38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否：分配失败。</a:t>
            </a:r>
            <a:endParaRPr lang="en-US" altLang="zh-CN" sz="3200" b="1" kern="1200" dirty="0">
              <a:solidFill>
                <a:schemeClr val="bg2"/>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基于不留下碎片空闲区为出发点</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lnSpc>
                <a:spcPts val="38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选择最大的空闲区来满足用户的需求，以期分配后剩余的部分仍能再分配。</a:t>
            </a:r>
          </a:p>
          <a:p>
            <a:pPr marL="812800" lvl="3" indent="-355600" defTabSz="355600">
              <a:lnSpc>
                <a:spcPct val="90000"/>
              </a:lnSpc>
              <a:spcBef>
                <a:spcPct val="0"/>
              </a:spcBef>
              <a:buClr>
                <a:schemeClr val="bg2"/>
              </a:buClr>
              <a:buSzPct val="80000"/>
              <a:buFont typeface="Wingdings" panose="05000000000000000000" pitchFamily="2" charset="2"/>
              <a:buChar char="n"/>
              <a:defRPr/>
            </a:pPr>
            <a:endParaRPr lang="zh-CN" altLang="en-US" sz="3200" b="1" kern="1200" dirty="0">
              <a:solidFill>
                <a:schemeClr val="bg2"/>
              </a:solidFill>
              <a:latin typeface="+mj-lt"/>
              <a:ea typeface="楷体" panose="02010609060101010101" pitchFamily="49" charset="-122"/>
              <a:cs typeface="+mn-cs"/>
            </a:endParaRPr>
          </a:p>
        </p:txBody>
      </p:sp>
      <p:sp>
        <p:nvSpPr>
          <p:cNvPr id="7" name="矩形 6">
            <a:extLst>
              <a:ext uri="{FF2B5EF4-FFF2-40B4-BE49-F238E27FC236}">
                <a16:creationId xmlns:a16="http://schemas.microsoft.com/office/drawing/2014/main" id="{B979F659-FAC2-4BEC-97CC-9AA7DA252761}"/>
              </a:ext>
            </a:extLst>
          </p:cNvPr>
          <p:cNvSpPr/>
          <p:nvPr/>
        </p:nvSpPr>
        <p:spPr>
          <a:xfrm>
            <a:off x="2668516" y="0"/>
            <a:ext cx="3779564" cy="707886"/>
          </a:xfrm>
          <a:prstGeom prst="rect">
            <a:avLst/>
          </a:prstGeom>
        </p:spPr>
        <p:txBody>
          <a:bodyPr wrap="square">
            <a:spAutoFit/>
          </a:bodyPr>
          <a:lstStyle/>
          <a:p>
            <a:pPr marL="628650" lvl="2" indent="-536575" algn="ctr" eaLnBrk="1" hangingPunct="1">
              <a:defRPr/>
            </a:pPr>
            <a:r>
              <a:rPr lang="zh-CN" altLang="en-US" sz="4000" dirty="0">
                <a:solidFill>
                  <a:srgbClr val="FF00FF"/>
                </a:solidFill>
                <a:effectLst>
                  <a:outerShdw blurRad="38100" dist="38100" dir="2700000" algn="tl">
                    <a:srgbClr val="000000"/>
                  </a:outerShdw>
                </a:effectLst>
                <a:latin typeface="楷体_GB2312" pitchFamily="49" charset="-122"/>
                <a:ea typeface="楷体_GB2312" pitchFamily="49" charset="-122"/>
              </a:rPr>
              <a:t>最坏适应法</a:t>
            </a:r>
            <a:endParaRPr lang="en-US" altLang="zh-CN" sz="4000" dirty="0">
              <a:solidFill>
                <a:srgbClr val="FF00FF"/>
              </a:solidFill>
              <a:ea typeface="楷体_GB2312"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6" name="文本框 5"/>
          <p:cNvSpPr txBox="1"/>
          <p:nvPr/>
        </p:nvSpPr>
        <p:spPr>
          <a:xfrm>
            <a:off x="107504" y="4940472"/>
            <a:ext cx="8856984" cy="1569660"/>
          </a:xfrm>
          <a:prstGeom prst="rect">
            <a:avLst/>
          </a:prstGeom>
          <a:solidFill>
            <a:srgbClr val="FFFF00"/>
          </a:solidFill>
        </p:spPr>
        <p:txBody>
          <a:bodyPr wrap="square" rtlCol="0">
            <a:spAutoFit/>
          </a:bodyPr>
          <a:lstStyle/>
          <a:p>
            <a:r>
              <a:rPr lang="zh-CN" altLang="en-US" dirty="0">
                <a:solidFill>
                  <a:schemeClr val="bg2"/>
                </a:solidFill>
              </a:rPr>
              <a:t>首次适应和最优适应在执行时间和利用空间方面都好于最坏适应，前两者在利用空间方面难分仲伯，但首次适应更快。</a:t>
            </a:r>
          </a:p>
        </p:txBody>
      </p:sp>
    </p:spTree>
    <p:extLst>
      <p:ext uri="{BB962C8B-B14F-4D97-AF65-F5344CB8AC3E}">
        <p14:creationId xmlns:p14="http://schemas.microsoft.com/office/powerpoint/2010/main" val="381306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4643">
                                            <p:txEl>
                                              <p:pRg st="1" end="1"/>
                                            </p:txEl>
                                          </p:spTgt>
                                        </p:tgtEl>
                                        <p:attrNameLst>
                                          <p:attrName>style.visibility</p:attrName>
                                        </p:attrNameLst>
                                      </p:cBhvr>
                                      <p:to>
                                        <p:strVal val="visible"/>
                                      </p:to>
                                    </p:set>
                                    <p:animEffect transition="in" filter="fade">
                                      <p:cBhvr>
                                        <p:cTn id="7" dur="1000"/>
                                        <p:tgtEl>
                                          <p:spTgt spid="624643">
                                            <p:txEl>
                                              <p:pRg st="1" end="1"/>
                                            </p:txEl>
                                          </p:spTgt>
                                        </p:tgtEl>
                                      </p:cBhvr>
                                    </p:animEffect>
                                    <p:anim calcmode="lin" valueType="num">
                                      <p:cBhvr>
                                        <p:cTn id="8" dur="1000" fill="hold"/>
                                        <p:tgtEl>
                                          <p:spTgt spid="62464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246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24643">
                                            <p:txEl>
                                              <p:pRg st="2" end="2"/>
                                            </p:txEl>
                                          </p:spTgt>
                                        </p:tgtEl>
                                        <p:attrNameLst>
                                          <p:attrName>style.visibility</p:attrName>
                                        </p:attrNameLst>
                                      </p:cBhvr>
                                      <p:to>
                                        <p:strVal val="visible"/>
                                      </p:to>
                                    </p:set>
                                    <p:animEffect transition="in" filter="fade">
                                      <p:cBhvr>
                                        <p:cTn id="14" dur="1000"/>
                                        <p:tgtEl>
                                          <p:spTgt spid="624643">
                                            <p:txEl>
                                              <p:pRg st="2" end="2"/>
                                            </p:txEl>
                                          </p:spTgt>
                                        </p:tgtEl>
                                      </p:cBhvr>
                                    </p:animEffect>
                                    <p:anim calcmode="lin" valueType="num">
                                      <p:cBhvr>
                                        <p:cTn id="15" dur="1000" fill="hold"/>
                                        <p:tgtEl>
                                          <p:spTgt spid="62464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2464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24643">
                                            <p:txEl>
                                              <p:pRg st="3" end="3"/>
                                            </p:txEl>
                                          </p:spTgt>
                                        </p:tgtEl>
                                        <p:attrNameLst>
                                          <p:attrName>style.visibility</p:attrName>
                                        </p:attrNameLst>
                                      </p:cBhvr>
                                      <p:to>
                                        <p:strVal val="visible"/>
                                      </p:to>
                                    </p:set>
                                    <p:animEffect transition="in" filter="fade">
                                      <p:cBhvr>
                                        <p:cTn id="19" dur="1000"/>
                                        <p:tgtEl>
                                          <p:spTgt spid="624643">
                                            <p:txEl>
                                              <p:pRg st="3" end="3"/>
                                            </p:txEl>
                                          </p:spTgt>
                                        </p:tgtEl>
                                      </p:cBhvr>
                                    </p:animEffect>
                                    <p:anim calcmode="lin" valueType="num">
                                      <p:cBhvr>
                                        <p:cTn id="20" dur="1000" fill="hold"/>
                                        <p:tgtEl>
                                          <p:spTgt spid="62464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62464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24643">
                                            <p:txEl>
                                              <p:pRg st="4" end="4"/>
                                            </p:txEl>
                                          </p:spTgt>
                                        </p:tgtEl>
                                        <p:attrNameLst>
                                          <p:attrName>style.visibility</p:attrName>
                                        </p:attrNameLst>
                                      </p:cBhvr>
                                      <p:to>
                                        <p:strVal val="visible"/>
                                      </p:to>
                                    </p:set>
                                    <p:animEffect transition="in" filter="fade">
                                      <p:cBhvr>
                                        <p:cTn id="26" dur="1000"/>
                                        <p:tgtEl>
                                          <p:spTgt spid="624643">
                                            <p:txEl>
                                              <p:pRg st="4" end="4"/>
                                            </p:txEl>
                                          </p:spTgt>
                                        </p:tgtEl>
                                      </p:cBhvr>
                                    </p:animEffect>
                                    <p:anim calcmode="lin" valueType="num">
                                      <p:cBhvr>
                                        <p:cTn id="27" dur="1000" fill="hold"/>
                                        <p:tgtEl>
                                          <p:spTgt spid="62464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62464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24643">
                                            <p:txEl>
                                              <p:pRg st="5" end="5"/>
                                            </p:txEl>
                                          </p:spTgt>
                                        </p:tgtEl>
                                        <p:attrNameLst>
                                          <p:attrName>style.visibility</p:attrName>
                                        </p:attrNameLst>
                                      </p:cBhvr>
                                      <p:to>
                                        <p:strVal val="visible"/>
                                      </p:to>
                                    </p:set>
                                    <p:animEffect transition="in" filter="fade">
                                      <p:cBhvr>
                                        <p:cTn id="31" dur="1000"/>
                                        <p:tgtEl>
                                          <p:spTgt spid="624643">
                                            <p:txEl>
                                              <p:pRg st="5" end="5"/>
                                            </p:txEl>
                                          </p:spTgt>
                                        </p:tgtEl>
                                      </p:cBhvr>
                                    </p:animEffect>
                                    <p:anim calcmode="lin" valueType="num">
                                      <p:cBhvr>
                                        <p:cTn id="32" dur="1000" fill="hold"/>
                                        <p:tgtEl>
                                          <p:spTgt spid="62464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62464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1+#ppt_w/2"/>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5652000" y="144000"/>
            <a:ext cx="2476500" cy="6534150"/>
          </a:xfrm>
          <a:prstGeom prst="rect">
            <a:avLst/>
          </a:prstGeom>
        </p:spPr>
      </p:pic>
      <p:sp>
        <p:nvSpPr>
          <p:cNvPr id="8" name="Text Box 4"/>
          <p:cNvSpPr txBox="1">
            <a:spLocks noChangeArrowheads="1"/>
          </p:cNvSpPr>
          <p:nvPr/>
        </p:nvSpPr>
        <p:spPr bwMode="auto">
          <a:xfrm>
            <a:off x="7305403" y="1114265"/>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16K</a:t>
            </a:r>
          </a:p>
        </p:txBody>
      </p:sp>
      <p:sp>
        <p:nvSpPr>
          <p:cNvPr id="79881" name="Rectangle 5"/>
          <p:cNvSpPr>
            <a:spLocks noChangeArrowheads="1"/>
          </p:cNvSpPr>
          <p:nvPr/>
        </p:nvSpPr>
        <p:spPr bwMode="auto">
          <a:xfrm>
            <a:off x="7272000" y="2352515"/>
            <a:ext cx="720000" cy="100012"/>
          </a:xfrm>
          <a:prstGeom prst="rect">
            <a:avLst/>
          </a:prstGeom>
          <a:solidFill>
            <a:srgbClr val="FFFFFF"/>
          </a:solidFill>
          <a:ln w="9525">
            <a:solidFill>
              <a:schemeClr val="tx1"/>
            </a:solidFill>
            <a:miter lim="800000"/>
            <a:headEnd/>
            <a:tailEnd/>
          </a:ln>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Text Box 6"/>
          <p:cNvSpPr txBox="1">
            <a:spLocks noChangeArrowheads="1"/>
          </p:cNvSpPr>
          <p:nvPr/>
        </p:nvSpPr>
        <p:spPr bwMode="auto">
          <a:xfrm>
            <a:off x="7272000" y="1952465"/>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FF0000"/>
                </a:solidFill>
              </a:rPr>
              <a:t>16K</a:t>
            </a:r>
          </a:p>
        </p:txBody>
      </p:sp>
      <p:sp>
        <p:nvSpPr>
          <p:cNvPr id="11" name="Text Box 7"/>
          <p:cNvSpPr txBox="1">
            <a:spLocks noChangeArrowheads="1"/>
          </p:cNvSpPr>
          <p:nvPr/>
        </p:nvSpPr>
        <p:spPr bwMode="auto">
          <a:xfrm>
            <a:off x="7305403" y="540369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16K</a:t>
            </a:r>
          </a:p>
        </p:txBody>
      </p:sp>
      <p:sp>
        <p:nvSpPr>
          <p:cNvPr id="79888" name="Text Box 8"/>
          <p:cNvSpPr txBox="1">
            <a:spLocks noChangeArrowheads="1"/>
          </p:cNvSpPr>
          <p:nvPr/>
        </p:nvSpPr>
        <p:spPr bwMode="auto">
          <a:xfrm>
            <a:off x="5546453" y="5044915"/>
            <a:ext cx="1130300" cy="366712"/>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a:solidFill>
                  <a:schemeClr val="bg2"/>
                </a:solidFill>
              </a:rPr>
              <a:t>Worst Fit</a:t>
            </a:r>
          </a:p>
        </p:txBody>
      </p:sp>
      <p:sp>
        <p:nvSpPr>
          <p:cNvPr id="79890" name="矩形 16"/>
          <p:cNvSpPr>
            <a:spLocks noChangeArrowheads="1"/>
          </p:cNvSpPr>
          <p:nvPr/>
        </p:nvSpPr>
        <p:spPr bwMode="auto">
          <a:xfrm>
            <a:off x="285750" y="1643063"/>
            <a:ext cx="1714500" cy="1500187"/>
          </a:xfrm>
          <a:prstGeom prst="rect">
            <a:avLst/>
          </a:prstGeom>
          <a:solidFill>
            <a:srgbClr val="FFFFFF"/>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9891" name="矩形 18"/>
          <p:cNvSpPr>
            <a:spLocks noChangeArrowheads="1"/>
          </p:cNvSpPr>
          <p:nvPr/>
        </p:nvSpPr>
        <p:spPr bwMode="auto">
          <a:xfrm>
            <a:off x="2000250" y="2857500"/>
            <a:ext cx="500063" cy="285750"/>
          </a:xfrm>
          <a:prstGeom prst="rect">
            <a:avLst/>
          </a:prstGeom>
          <a:solidFill>
            <a:srgbClr val="FFFFFF"/>
          </a:solidFill>
          <a:ln>
            <a:noFill/>
          </a:ln>
          <a:extLst>
            <a:ext uri="{91240B29-F687-4F45-9708-019B960494DF}">
              <a14:hiddenLine xmlns:a14="http://schemas.microsoft.com/office/drawing/2010/main" w="12700" cap="sq" algn="ctr">
                <a:solidFill>
                  <a:srgbClr val="000000"/>
                </a:solidFill>
                <a:round/>
                <a:headEnd type="none" w="sm" len="sm"/>
                <a:tailEnd type="none" w="sm" len="sm"/>
              </a14:hiddenLine>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9892" name="Text Box 4"/>
          <p:cNvSpPr txBox="1">
            <a:spLocks noChangeArrowheads="1"/>
          </p:cNvSpPr>
          <p:nvPr/>
        </p:nvSpPr>
        <p:spPr bwMode="auto">
          <a:xfrm>
            <a:off x="1034184" y="6590298"/>
            <a:ext cx="66967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1600" dirty="0">
                <a:solidFill>
                  <a:schemeClr val="bg2"/>
                </a:solidFill>
              </a:rPr>
              <a:t>William Stallings, Operating Systems: Internals and Design Principles</a:t>
            </a:r>
            <a:endParaRPr lang="zh-CN" altLang="en-US" sz="1600" dirty="0">
              <a:solidFill>
                <a:schemeClr val="bg2"/>
              </a:solidFill>
            </a:endParaRPr>
          </a:p>
        </p:txBody>
      </p:sp>
      <p:grpSp>
        <p:nvGrpSpPr>
          <p:cNvPr id="2" name="组合 26"/>
          <p:cNvGrpSpPr/>
          <p:nvPr/>
        </p:nvGrpSpPr>
        <p:grpSpPr>
          <a:xfrm>
            <a:off x="5616203" y="1512000"/>
            <a:ext cx="1571636" cy="857256"/>
            <a:chOff x="4357686" y="642918"/>
            <a:chExt cx="1571636" cy="857256"/>
          </a:xfrm>
          <a:solidFill>
            <a:srgbClr val="FFFFFF"/>
          </a:solidFill>
        </p:grpSpPr>
        <p:sp>
          <p:nvSpPr>
            <p:cNvPr id="28" name="矩形 27"/>
            <p:cNvSpPr/>
            <p:nvPr/>
          </p:nvSpPr>
          <p:spPr bwMode="auto">
            <a:xfrm>
              <a:off x="4357686" y="642918"/>
              <a:ext cx="1143008" cy="785818"/>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sp>
          <p:nvSpPr>
            <p:cNvPr id="29" name="矩形 28"/>
            <p:cNvSpPr/>
            <p:nvPr/>
          </p:nvSpPr>
          <p:spPr bwMode="auto">
            <a:xfrm>
              <a:off x="5500694" y="1142984"/>
              <a:ext cx="428628" cy="357190"/>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grpSp>
      <p:grpSp>
        <p:nvGrpSpPr>
          <p:cNvPr id="3" name="组合 29"/>
          <p:cNvGrpSpPr/>
          <p:nvPr/>
        </p:nvGrpSpPr>
        <p:grpSpPr>
          <a:xfrm>
            <a:off x="5475013" y="4973488"/>
            <a:ext cx="1714512" cy="857256"/>
            <a:chOff x="4357686" y="642918"/>
            <a:chExt cx="1571636" cy="857256"/>
          </a:xfrm>
          <a:solidFill>
            <a:srgbClr val="FFFFFF"/>
          </a:solidFill>
        </p:grpSpPr>
        <p:sp>
          <p:nvSpPr>
            <p:cNvPr id="31" name="矩形 30"/>
            <p:cNvSpPr/>
            <p:nvPr/>
          </p:nvSpPr>
          <p:spPr bwMode="auto">
            <a:xfrm>
              <a:off x="4357686" y="642918"/>
              <a:ext cx="1143008" cy="785818"/>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sp>
          <p:nvSpPr>
            <p:cNvPr id="32" name="矩形 31"/>
            <p:cNvSpPr/>
            <p:nvPr/>
          </p:nvSpPr>
          <p:spPr bwMode="auto">
            <a:xfrm>
              <a:off x="5500694" y="1142984"/>
              <a:ext cx="428628" cy="357190"/>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grpSp>
      <p:grpSp>
        <p:nvGrpSpPr>
          <p:cNvPr id="4" name="组合 23"/>
          <p:cNvGrpSpPr/>
          <p:nvPr/>
        </p:nvGrpSpPr>
        <p:grpSpPr>
          <a:xfrm>
            <a:off x="5544000" y="615770"/>
            <a:ext cx="1571636" cy="857256"/>
            <a:chOff x="4357686" y="642918"/>
            <a:chExt cx="1571636" cy="857256"/>
          </a:xfrm>
          <a:solidFill>
            <a:srgbClr val="FFFFFF"/>
          </a:solidFill>
        </p:grpSpPr>
        <p:sp>
          <p:nvSpPr>
            <p:cNvPr id="25" name="矩形 24"/>
            <p:cNvSpPr/>
            <p:nvPr/>
          </p:nvSpPr>
          <p:spPr bwMode="auto">
            <a:xfrm>
              <a:off x="4357686" y="642918"/>
              <a:ext cx="1143008" cy="785818"/>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sp>
          <p:nvSpPr>
            <p:cNvPr id="26" name="矩形 25"/>
            <p:cNvSpPr/>
            <p:nvPr/>
          </p:nvSpPr>
          <p:spPr bwMode="auto">
            <a:xfrm>
              <a:off x="5500694" y="1142984"/>
              <a:ext cx="428628" cy="357190"/>
            </a:xfrm>
            <a:prstGeom prst="rect">
              <a:avLst/>
            </a:prstGeom>
            <a:grpFill/>
            <a:ln w="12700" cap="sq" cmpd="sng" algn="ctr">
              <a:noFill/>
              <a:prstDash val="solid"/>
              <a:round/>
              <a:headEnd type="none" w="sm" len="sm"/>
              <a:tailEnd type="none" w="sm" len="sm"/>
            </a:ln>
            <a:effectLst/>
          </p:spPr>
          <p:txBody>
            <a:bodyPr wrap="none"/>
            <a:lstStyle/>
            <a:p>
              <a:pPr eaLnBrk="1" hangingPunct="1">
                <a:defRPr/>
              </a:pPr>
              <a:endParaRPr lang="zh-CN" altLang="en-US"/>
            </a:p>
          </p:txBody>
        </p:sp>
      </p:grpSp>
      <p:sp>
        <p:nvSpPr>
          <p:cNvPr id="27" name="Rectangle 3"/>
          <p:cNvSpPr>
            <a:spLocks noChangeArrowheads="1"/>
          </p:cNvSpPr>
          <p:nvPr/>
        </p:nvSpPr>
        <p:spPr bwMode="auto">
          <a:xfrm>
            <a:off x="2505145" y="-82265"/>
            <a:ext cx="4494704" cy="769441"/>
          </a:xfrm>
          <a:prstGeom prst="rect">
            <a:avLst/>
          </a:prstGeom>
          <a:noFill/>
          <a:ln w="12700" cap="sq">
            <a:noFill/>
            <a:miter lim="800000"/>
            <a:headEnd type="none" w="sm" len="sm"/>
            <a:tailEnd type="none" w="sm" len="sm"/>
          </a:ln>
          <a:effectLst/>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可变分区分配示例</a:t>
            </a:r>
          </a:p>
        </p:txBody>
      </p:sp>
      <p:pic>
        <p:nvPicPr>
          <p:cNvPr id="5" name="图片 4"/>
          <p:cNvPicPr>
            <a:picLocks noChangeAspect="1"/>
          </p:cNvPicPr>
          <p:nvPr/>
        </p:nvPicPr>
        <p:blipFill>
          <a:blip r:embed="rId4"/>
          <a:stretch>
            <a:fillRect/>
          </a:stretch>
        </p:blipFill>
        <p:spPr>
          <a:xfrm>
            <a:off x="883185" y="31750"/>
            <a:ext cx="1504950" cy="6629400"/>
          </a:xfrm>
          <a:prstGeom prst="rect">
            <a:avLst/>
          </a:prstGeom>
        </p:spPr>
      </p:pic>
      <p:pic>
        <p:nvPicPr>
          <p:cNvPr id="7" name="图片 6"/>
          <p:cNvPicPr>
            <a:picLocks noChangeAspect="1"/>
          </p:cNvPicPr>
          <p:nvPr/>
        </p:nvPicPr>
        <p:blipFill>
          <a:blip r:embed="rId5"/>
          <a:stretch>
            <a:fillRect/>
          </a:stretch>
        </p:blipFill>
        <p:spPr>
          <a:xfrm>
            <a:off x="2553944" y="5274179"/>
            <a:ext cx="1770600" cy="1012988"/>
          </a:xfrm>
          <a:prstGeom prst="rect">
            <a:avLst/>
          </a:prstGeom>
        </p:spPr>
      </p:pic>
      <p:sp>
        <p:nvSpPr>
          <p:cNvPr id="79887" name="Text Box 12"/>
          <p:cNvSpPr txBox="1">
            <a:spLocks noChangeArrowheads="1"/>
          </p:cNvSpPr>
          <p:nvPr/>
        </p:nvSpPr>
        <p:spPr bwMode="auto">
          <a:xfrm>
            <a:off x="34226" y="3514468"/>
            <a:ext cx="1387120" cy="36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rgbClr val="FF0000"/>
                </a:solidFill>
              </a:rPr>
              <a:t>新作业</a:t>
            </a:r>
          </a:p>
        </p:txBody>
      </p:sp>
      <p:sp>
        <p:nvSpPr>
          <p:cNvPr id="79886" name="Text Box 11"/>
          <p:cNvSpPr txBox="1">
            <a:spLocks noChangeArrowheads="1"/>
          </p:cNvSpPr>
          <p:nvPr/>
        </p:nvSpPr>
        <p:spPr bwMode="auto">
          <a:xfrm>
            <a:off x="219962" y="3957380"/>
            <a:ext cx="783807"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FF0000"/>
                </a:solidFill>
              </a:rPr>
              <a:t>16K</a:t>
            </a:r>
          </a:p>
        </p:txBody>
      </p:sp>
      <p:sp>
        <p:nvSpPr>
          <p:cNvPr id="3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06987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xit" presetSubtype="0" fill="hold" nodeType="clickEffect">
                                  <p:stCondLst>
                                    <p:cond delay="0"/>
                                  </p:stCondLst>
                                  <p:childTnLst>
                                    <p:set>
                                      <p:cBhvr>
                                        <p:cTn id="15" dur="1" fill="hold">
                                          <p:stCondLst>
                                            <p:cond delay="0"/>
                                          </p:stCondLst>
                                        </p:cTn>
                                        <p:tgtEl>
                                          <p:spTgt spid="2"/>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nodeType="clickEffect">
                                  <p:stCondLst>
                                    <p:cond delay="0"/>
                                  </p:stCondLst>
                                  <p:childTnLst>
                                    <p:set>
                                      <p:cBhvr>
                                        <p:cTn id="24" dur="1" fill="hold">
                                          <p:stCondLst>
                                            <p:cond delay="0"/>
                                          </p:stCondLst>
                                        </p:cTn>
                                        <p:tgtEl>
                                          <p:spTgt spid="3"/>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1+#ppt_w/2"/>
                                          </p:val>
                                        </p:tav>
                                        <p:tav tm="100000">
                                          <p:val>
                                            <p:strVal val="#ppt_x"/>
                                          </p:val>
                                        </p:tav>
                                      </p:tavLst>
                                    </p:anim>
                                    <p:anim calcmode="lin" valueType="num">
                                      <p:cBhvr additive="base">
                                        <p:cTn id="3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2"/>
          <p:cNvSpPr txBox="1">
            <a:spLocks noChangeArrowheads="1"/>
          </p:cNvSpPr>
          <p:nvPr/>
        </p:nvSpPr>
        <p:spPr bwMode="auto">
          <a:xfrm>
            <a:off x="1692275" y="1916113"/>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zh-CN" sz="2400" b="0"/>
          </a:p>
        </p:txBody>
      </p:sp>
      <p:sp>
        <p:nvSpPr>
          <p:cNvPr id="80900" name="Rectangle 3"/>
          <p:cNvSpPr>
            <a:spLocks noChangeArrowheads="1"/>
          </p:cNvSpPr>
          <p:nvPr/>
        </p:nvSpPr>
        <p:spPr bwMode="auto">
          <a:xfrm>
            <a:off x="0" y="333375"/>
            <a:ext cx="6084888" cy="523220"/>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dirty="0">
              <a:solidFill>
                <a:schemeClr val="bg2"/>
              </a:solidFill>
            </a:endParaRPr>
          </a:p>
        </p:txBody>
      </p:sp>
      <p:sp>
        <p:nvSpPr>
          <p:cNvPr id="7" name="Rectangle 4">
            <a:extLst>
              <a:ext uri="{FF2B5EF4-FFF2-40B4-BE49-F238E27FC236}">
                <a16:creationId xmlns:a16="http://schemas.microsoft.com/office/drawing/2014/main" id="{59DE92A5-891D-4A60-9429-A02423437BC2}"/>
              </a:ext>
            </a:extLst>
          </p:cNvPr>
          <p:cNvSpPr txBox="1">
            <a:spLocks noRot="1" noChangeArrowheads="1"/>
          </p:cNvSpPr>
          <p:nvPr/>
        </p:nvSpPr>
        <p:spPr>
          <a:xfrm>
            <a:off x="0" y="0"/>
            <a:ext cx="6444208" cy="2820518"/>
          </a:xfrm>
          <a:prstGeom prst="rect">
            <a:avLst/>
          </a:prstGeom>
          <a:solidFill>
            <a:schemeClr val="bg1">
              <a:lumMod val="20000"/>
              <a:lumOff val="80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92075" indent="-92075" eaLnBrk="1" hangingPunct="1">
              <a:spcBef>
                <a:spcPct val="0"/>
              </a:spcBef>
              <a:buClrTx/>
              <a:buSzTx/>
              <a:buFontTx/>
              <a:buNone/>
            </a:pPr>
            <a:r>
              <a:rPr lang="en-US" altLang="zh-CN" sz="2800" dirty="0">
                <a:solidFill>
                  <a:schemeClr val="bg2"/>
                </a:solidFill>
                <a:effectLst/>
              </a:rPr>
              <a:t>[</a:t>
            </a:r>
            <a:r>
              <a:rPr lang="zh-CN" altLang="en-US" sz="2800" dirty="0">
                <a:solidFill>
                  <a:schemeClr val="bg2"/>
                </a:solidFill>
                <a:effectLst/>
              </a:rPr>
              <a:t>例</a:t>
            </a:r>
            <a:r>
              <a:rPr lang="en-US" altLang="zh-CN" sz="2800" dirty="0">
                <a:solidFill>
                  <a:schemeClr val="bg2"/>
                </a:solidFill>
                <a:effectLst/>
              </a:rPr>
              <a:t>1]</a:t>
            </a:r>
            <a:r>
              <a:rPr lang="zh-CN" altLang="en-US" sz="2800" dirty="0">
                <a:solidFill>
                  <a:schemeClr val="bg2"/>
                </a:solidFill>
                <a:effectLst/>
              </a:rPr>
              <a:t>如果有内存空白区</a:t>
            </a:r>
            <a:r>
              <a:rPr lang="en-US" altLang="zh-CN" sz="2800" dirty="0">
                <a:solidFill>
                  <a:schemeClr val="bg2"/>
                </a:solidFill>
                <a:effectLst/>
              </a:rPr>
              <a:t>100KB</a:t>
            </a:r>
            <a:r>
              <a:rPr lang="zh-CN" altLang="en-US" sz="2800" dirty="0">
                <a:solidFill>
                  <a:schemeClr val="bg2"/>
                </a:solidFill>
                <a:effectLst/>
              </a:rPr>
              <a:t>、</a:t>
            </a:r>
            <a:r>
              <a:rPr lang="en-US" altLang="zh-CN" sz="2800" dirty="0">
                <a:solidFill>
                  <a:schemeClr val="bg2"/>
                </a:solidFill>
                <a:effectLst/>
              </a:rPr>
              <a:t>500KB</a:t>
            </a:r>
            <a:r>
              <a:rPr lang="zh-CN" altLang="en-US" sz="2800" dirty="0">
                <a:solidFill>
                  <a:schemeClr val="bg2"/>
                </a:solidFill>
                <a:effectLst/>
              </a:rPr>
              <a:t>、</a:t>
            </a:r>
            <a:r>
              <a:rPr lang="en-US" altLang="zh-CN" sz="2800" dirty="0">
                <a:solidFill>
                  <a:schemeClr val="bg2"/>
                </a:solidFill>
                <a:effectLst/>
              </a:rPr>
              <a:t>200KB</a:t>
            </a:r>
            <a:r>
              <a:rPr lang="zh-CN" altLang="en-US" sz="2800" dirty="0">
                <a:solidFill>
                  <a:schemeClr val="bg2"/>
                </a:solidFill>
                <a:effectLst/>
              </a:rPr>
              <a:t>、</a:t>
            </a:r>
            <a:r>
              <a:rPr lang="en-US" altLang="zh-CN" sz="2800" dirty="0">
                <a:solidFill>
                  <a:schemeClr val="bg2"/>
                </a:solidFill>
                <a:effectLst/>
              </a:rPr>
              <a:t>300KB</a:t>
            </a:r>
            <a:r>
              <a:rPr lang="zh-CN" altLang="en-US" sz="2800" dirty="0">
                <a:solidFill>
                  <a:schemeClr val="bg2"/>
                </a:solidFill>
                <a:effectLst/>
              </a:rPr>
              <a:t>和</a:t>
            </a:r>
            <a:r>
              <a:rPr lang="en-US" altLang="zh-CN" sz="2800" dirty="0">
                <a:solidFill>
                  <a:schemeClr val="bg2"/>
                </a:solidFill>
                <a:effectLst/>
              </a:rPr>
              <a:t>600KB</a:t>
            </a:r>
            <a:r>
              <a:rPr lang="zh-CN" altLang="en-US" sz="2800" dirty="0">
                <a:solidFill>
                  <a:schemeClr val="bg2"/>
                </a:solidFill>
                <a:effectLst/>
              </a:rPr>
              <a:t>（按顺序），首次适应、最佳适应与最坏适应算法各自将怎样放置大小分别为</a:t>
            </a:r>
            <a:r>
              <a:rPr lang="en-US" altLang="zh-CN" sz="2800" dirty="0">
                <a:solidFill>
                  <a:schemeClr val="bg2"/>
                </a:solidFill>
                <a:effectLst/>
              </a:rPr>
              <a:t>212KB</a:t>
            </a:r>
            <a:r>
              <a:rPr lang="zh-CN" altLang="en-US" sz="2800" dirty="0">
                <a:solidFill>
                  <a:schemeClr val="bg2"/>
                </a:solidFill>
                <a:effectLst/>
              </a:rPr>
              <a:t>、</a:t>
            </a:r>
            <a:r>
              <a:rPr lang="en-US" altLang="zh-CN" sz="2800" dirty="0">
                <a:solidFill>
                  <a:schemeClr val="bg2"/>
                </a:solidFill>
                <a:effectLst/>
              </a:rPr>
              <a:t>417KB</a:t>
            </a:r>
            <a:r>
              <a:rPr lang="zh-CN" altLang="en-US" sz="2800" dirty="0">
                <a:solidFill>
                  <a:schemeClr val="bg2"/>
                </a:solidFill>
                <a:effectLst/>
              </a:rPr>
              <a:t>、</a:t>
            </a:r>
            <a:r>
              <a:rPr lang="en-US" altLang="zh-CN" sz="2800" dirty="0">
                <a:solidFill>
                  <a:schemeClr val="bg2"/>
                </a:solidFill>
                <a:effectLst/>
              </a:rPr>
              <a:t>112KB</a:t>
            </a:r>
            <a:r>
              <a:rPr lang="zh-CN" altLang="en-US" sz="2800" dirty="0">
                <a:solidFill>
                  <a:schemeClr val="bg2"/>
                </a:solidFill>
                <a:effectLst/>
              </a:rPr>
              <a:t>和</a:t>
            </a:r>
            <a:r>
              <a:rPr lang="en-US" altLang="zh-CN" sz="2800" dirty="0">
                <a:solidFill>
                  <a:schemeClr val="bg2"/>
                </a:solidFill>
                <a:effectLst/>
              </a:rPr>
              <a:t>426KB</a:t>
            </a:r>
            <a:r>
              <a:rPr lang="zh-CN" altLang="en-US" sz="2800" dirty="0">
                <a:solidFill>
                  <a:schemeClr val="bg2"/>
                </a:solidFill>
                <a:effectLst/>
              </a:rPr>
              <a:t>（按顺序）的作业？</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nvGrpSpPr>
          <p:cNvPr id="5" name="组合 4"/>
          <p:cNvGrpSpPr/>
          <p:nvPr/>
        </p:nvGrpSpPr>
        <p:grpSpPr>
          <a:xfrm>
            <a:off x="6755630" y="333375"/>
            <a:ext cx="2257425" cy="6057245"/>
            <a:chOff x="6755630" y="333375"/>
            <a:chExt cx="2257425" cy="6057245"/>
          </a:xfrm>
        </p:grpSpPr>
        <p:pic>
          <p:nvPicPr>
            <p:cNvPr id="2" name="图片 1"/>
            <p:cNvPicPr>
              <a:picLocks noChangeAspect="1"/>
            </p:cNvPicPr>
            <p:nvPr/>
          </p:nvPicPr>
          <p:blipFill>
            <a:blip r:embed="rId3"/>
            <a:stretch>
              <a:fillRect/>
            </a:stretch>
          </p:blipFill>
          <p:spPr>
            <a:xfrm>
              <a:off x="6755630" y="856595"/>
              <a:ext cx="2257425" cy="5534025"/>
            </a:xfrm>
            <a:prstGeom prst="rect">
              <a:avLst/>
            </a:prstGeom>
          </p:spPr>
        </p:pic>
        <p:sp>
          <p:nvSpPr>
            <p:cNvPr id="3" name="文本框 2"/>
            <p:cNvSpPr txBox="1"/>
            <p:nvPr/>
          </p:nvSpPr>
          <p:spPr>
            <a:xfrm>
              <a:off x="6755630" y="333375"/>
              <a:ext cx="1560786" cy="523220"/>
            </a:xfrm>
            <a:prstGeom prst="rect">
              <a:avLst/>
            </a:prstGeom>
            <a:noFill/>
          </p:spPr>
          <p:txBody>
            <a:bodyPr wrap="square" rtlCol="0">
              <a:spAutoFit/>
            </a:bodyPr>
            <a:lstStyle/>
            <a:p>
              <a:pPr algn="ctr"/>
              <a:r>
                <a:rPr lang="zh-CN" altLang="en-US" sz="2800" dirty="0">
                  <a:solidFill>
                    <a:schemeClr val="bg2"/>
                  </a:solidFill>
                </a:rPr>
                <a:t>内存</a:t>
              </a:r>
            </a:p>
          </p:txBody>
        </p:sp>
      </p:grpSp>
    </p:spTree>
    <p:extLst>
      <p:ext uri="{BB962C8B-B14F-4D97-AF65-F5344CB8AC3E}">
        <p14:creationId xmlns:p14="http://schemas.microsoft.com/office/powerpoint/2010/main" val="157039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115616" y="1132749"/>
            <a:ext cx="2257425" cy="5534025"/>
          </a:xfrm>
          <a:prstGeom prst="rect">
            <a:avLst/>
          </a:prstGeom>
        </p:spPr>
      </p:pic>
      <p:sp>
        <p:nvSpPr>
          <p:cNvPr id="82947" name="Rectangle 2"/>
          <p:cNvSpPr>
            <a:spLocks noGrp="1" noChangeArrowheads="1"/>
          </p:cNvSpPr>
          <p:nvPr>
            <p:ph type="title"/>
          </p:nvPr>
        </p:nvSpPr>
        <p:spPr>
          <a:xfrm>
            <a:off x="250825" y="0"/>
            <a:ext cx="8137525" cy="765175"/>
          </a:xfrm>
          <a:solidFill>
            <a:schemeClr val="tx1"/>
          </a:solidFill>
        </p:spPr>
        <p:txBody>
          <a:bodyPr/>
          <a:lstStyle/>
          <a:p>
            <a:pPr eaLnBrk="1" hangingPunct="1"/>
            <a:r>
              <a:rPr lang="en-US" altLang="zh-CN" sz="3200" b="1" dirty="0">
                <a:solidFill>
                  <a:schemeClr val="bg2"/>
                </a:solidFill>
              </a:rPr>
              <a:t>212KB</a:t>
            </a:r>
            <a:r>
              <a:rPr lang="zh-CN" altLang="en-US" sz="3200" b="1" dirty="0">
                <a:solidFill>
                  <a:schemeClr val="bg2"/>
                </a:solidFill>
              </a:rPr>
              <a:t>、</a:t>
            </a:r>
            <a:r>
              <a:rPr lang="en-US" altLang="zh-CN" sz="3200" b="1" dirty="0">
                <a:solidFill>
                  <a:schemeClr val="bg2"/>
                </a:solidFill>
              </a:rPr>
              <a:t>417KB</a:t>
            </a:r>
            <a:r>
              <a:rPr lang="zh-CN" altLang="en-US" sz="3200" b="1" dirty="0">
                <a:solidFill>
                  <a:schemeClr val="bg2"/>
                </a:solidFill>
              </a:rPr>
              <a:t>、</a:t>
            </a:r>
            <a:r>
              <a:rPr lang="en-US" altLang="zh-CN" sz="3200" b="1" dirty="0">
                <a:solidFill>
                  <a:schemeClr val="bg2"/>
                </a:solidFill>
              </a:rPr>
              <a:t>112KB</a:t>
            </a:r>
            <a:r>
              <a:rPr lang="zh-CN" altLang="en-US" sz="3200" b="1" dirty="0">
                <a:solidFill>
                  <a:schemeClr val="bg2"/>
                </a:solidFill>
              </a:rPr>
              <a:t>和</a:t>
            </a:r>
            <a:r>
              <a:rPr lang="en-US" altLang="zh-CN" sz="3200" b="1" dirty="0">
                <a:solidFill>
                  <a:schemeClr val="bg2"/>
                </a:solidFill>
              </a:rPr>
              <a:t>426KB</a:t>
            </a:r>
            <a:r>
              <a:rPr lang="zh-CN" altLang="en-US" sz="3200" b="1" dirty="0">
                <a:solidFill>
                  <a:schemeClr val="bg2"/>
                </a:solidFill>
              </a:rPr>
              <a:t>的作业？</a:t>
            </a:r>
          </a:p>
        </p:txBody>
      </p:sp>
      <p:sp>
        <p:nvSpPr>
          <p:cNvPr id="82949" name="Rectangle 5"/>
          <p:cNvSpPr>
            <a:spLocks noChangeArrowheads="1"/>
          </p:cNvSpPr>
          <p:nvPr/>
        </p:nvSpPr>
        <p:spPr bwMode="auto">
          <a:xfrm>
            <a:off x="5148064" y="1000125"/>
            <a:ext cx="3091061"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dirty="0">
                <a:solidFill>
                  <a:srgbClr val="FF00FF"/>
                </a:solidFill>
                <a:effectLst>
                  <a:outerShdw blurRad="38100" dist="38100" dir="2700000" algn="tl">
                    <a:srgbClr val="000000">
                      <a:alpha val="43137"/>
                    </a:srgbClr>
                  </a:outerShdw>
                </a:effectLst>
              </a:rPr>
              <a:t>首次适应算法</a:t>
            </a:r>
          </a:p>
        </p:txBody>
      </p:sp>
      <p:sp>
        <p:nvSpPr>
          <p:cNvPr id="698374" name="Text Box 6"/>
          <p:cNvSpPr txBox="1">
            <a:spLocks noChangeArrowheads="1"/>
          </p:cNvSpPr>
          <p:nvPr/>
        </p:nvSpPr>
        <p:spPr bwMode="auto">
          <a:xfrm>
            <a:off x="1187450" y="1989138"/>
            <a:ext cx="1511300" cy="493712"/>
          </a:xfrm>
          <a:prstGeom prst="rect">
            <a:avLst/>
          </a:prstGeom>
          <a:solidFill>
            <a:srgbClr val="CCEC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0"/>
              </a:spcBef>
              <a:buClrTx/>
              <a:buSzTx/>
              <a:buFontTx/>
              <a:buNone/>
            </a:pPr>
            <a:r>
              <a:rPr lang="en-US" altLang="zh-CN" sz="2400">
                <a:solidFill>
                  <a:schemeClr val="bg2"/>
                </a:solidFill>
              </a:rPr>
              <a:t>212KB</a:t>
            </a:r>
          </a:p>
        </p:txBody>
      </p:sp>
      <p:sp>
        <p:nvSpPr>
          <p:cNvPr id="698375" name="Text Box 7"/>
          <p:cNvSpPr txBox="1">
            <a:spLocks noChangeArrowheads="1"/>
          </p:cNvSpPr>
          <p:nvPr/>
        </p:nvSpPr>
        <p:spPr bwMode="auto">
          <a:xfrm>
            <a:off x="1187450" y="5445125"/>
            <a:ext cx="1511300" cy="768350"/>
          </a:xfrm>
          <a:prstGeom prst="rect">
            <a:avLst/>
          </a:prstGeom>
          <a:solidFill>
            <a:srgbClr val="FFF3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SzTx/>
              <a:buFontTx/>
              <a:buNone/>
            </a:pPr>
            <a:r>
              <a:rPr lang="en-US" altLang="zh-CN" sz="2400">
                <a:solidFill>
                  <a:schemeClr val="bg2"/>
                </a:solidFill>
              </a:rPr>
              <a:t>417 KB</a:t>
            </a:r>
          </a:p>
          <a:p>
            <a:pPr eaLnBrk="1" hangingPunct="1">
              <a:lnSpc>
                <a:spcPct val="105000"/>
              </a:lnSpc>
              <a:spcBef>
                <a:spcPct val="0"/>
              </a:spcBef>
              <a:buClrTx/>
              <a:buSzTx/>
              <a:buFontTx/>
              <a:buNone/>
            </a:pPr>
            <a:endParaRPr lang="en-US" altLang="zh-CN" sz="2400">
              <a:solidFill>
                <a:schemeClr val="bg2"/>
              </a:solidFill>
            </a:endParaRPr>
          </a:p>
        </p:txBody>
      </p:sp>
      <p:sp>
        <p:nvSpPr>
          <p:cNvPr id="698376" name="Text Box 8"/>
          <p:cNvSpPr txBox="1">
            <a:spLocks noChangeArrowheads="1"/>
          </p:cNvSpPr>
          <p:nvPr/>
        </p:nvSpPr>
        <p:spPr bwMode="auto">
          <a:xfrm>
            <a:off x="1187450" y="2492375"/>
            <a:ext cx="1511300" cy="311150"/>
          </a:xfrm>
          <a:prstGeom prst="rect">
            <a:avLst/>
          </a:prstGeom>
          <a:solidFill>
            <a:srgbClr val="FDFEE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0"/>
              </a:spcBef>
              <a:buClrTx/>
              <a:buSzTx/>
              <a:buFontTx/>
              <a:buNone/>
            </a:pPr>
            <a:r>
              <a:rPr lang="en-US" altLang="zh-CN" sz="2400">
                <a:solidFill>
                  <a:schemeClr val="bg2"/>
                </a:solidFill>
              </a:rPr>
              <a:t>112 KB</a:t>
            </a:r>
          </a:p>
        </p:txBody>
      </p:sp>
      <p:sp>
        <p:nvSpPr>
          <p:cNvPr id="698377" name="Text Box 9"/>
          <p:cNvSpPr txBox="1">
            <a:spLocks noChangeArrowheads="1"/>
          </p:cNvSpPr>
          <p:nvPr/>
        </p:nvSpPr>
        <p:spPr bwMode="auto">
          <a:xfrm>
            <a:off x="3924300" y="2997200"/>
            <a:ext cx="4932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800" dirty="0">
                <a:solidFill>
                  <a:schemeClr val="bg2"/>
                </a:solidFill>
                <a:ea typeface="楷体_GB2312" pitchFamily="49" charset="-122"/>
              </a:rPr>
              <a:t>不能为</a:t>
            </a:r>
            <a:r>
              <a:rPr lang="en-US" altLang="zh-CN" sz="2800" dirty="0">
                <a:solidFill>
                  <a:schemeClr val="bg2"/>
                </a:solidFill>
                <a:ea typeface="楷体_GB2312" pitchFamily="49" charset="-122"/>
              </a:rPr>
              <a:t>426KB</a:t>
            </a:r>
            <a:r>
              <a:rPr lang="zh-CN" altLang="en-US" sz="2800" dirty="0">
                <a:solidFill>
                  <a:schemeClr val="bg2"/>
                </a:solidFill>
                <a:ea typeface="楷体_GB2312" pitchFamily="49" charset="-122"/>
              </a:rPr>
              <a:t>的作业分配内存</a:t>
            </a: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50290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98374"/>
                                        </p:tgtEl>
                                        <p:attrNameLst>
                                          <p:attrName>style.visibility</p:attrName>
                                        </p:attrNameLst>
                                      </p:cBhvr>
                                      <p:to>
                                        <p:strVal val="visible"/>
                                      </p:to>
                                    </p:set>
                                    <p:animEffect transition="in" filter="wedge">
                                      <p:cBhvr>
                                        <p:cTn id="7" dur="2000"/>
                                        <p:tgtEl>
                                          <p:spTgt spid="6983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698375"/>
                                        </p:tgtEl>
                                        <p:attrNameLst>
                                          <p:attrName>style.visibility</p:attrName>
                                        </p:attrNameLst>
                                      </p:cBhvr>
                                      <p:to>
                                        <p:strVal val="visible"/>
                                      </p:to>
                                    </p:set>
                                    <p:animEffect transition="in" filter="wedge">
                                      <p:cBhvr>
                                        <p:cTn id="12" dur="2000"/>
                                        <p:tgtEl>
                                          <p:spTgt spid="6983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698376"/>
                                        </p:tgtEl>
                                        <p:attrNameLst>
                                          <p:attrName>style.visibility</p:attrName>
                                        </p:attrNameLst>
                                      </p:cBhvr>
                                      <p:to>
                                        <p:strVal val="visible"/>
                                      </p:to>
                                    </p:set>
                                    <p:animEffect transition="in" filter="wedge">
                                      <p:cBhvr>
                                        <p:cTn id="17" dur="2000"/>
                                        <p:tgtEl>
                                          <p:spTgt spid="6983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98377"/>
                                        </p:tgtEl>
                                        <p:attrNameLst>
                                          <p:attrName>style.visibility</p:attrName>
                                        </p:attrNameLst>
                                      </p:cBhvr>
                                      <p:to>
                                        <p:strVal val="visible"/>
                                      </p:to>
                                    </p:set>
                                    <p:animEffect transition="in" filter="dissolve">
                                      <p:cBhvr>
                                        <p:cTn id="22" dur="500"/>
                                        <p:tgtEl>
                                          <p:spTgt spid="698377"/>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4" grpId="0" animBg="1"/>
      <p:bldP spid="698375" grpId="0" animBg="1"/>
      <p:bldP spid="698376" grpId="0" animBg="1"/>
      <p:bldP spid="698377" grpId="0"/>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2124000" y="1133475"/>
            <a:ext cx="2257425" cy="5534025"/>
          </a:xfrm>
          <a:prstGeom prst="rect">
            <a:avLst/>
          </a:prstGeom>
        </p:spPr>
      </p:pic>
      <p:sp>
        <p:nvSpPr>
          <p:cNvPr id="83972" name="Rectangle 3"/>
          <p:cNvSpPr>
            <a:spLocks noChangeArrowheads="1"/>
          </p:cNvSpPr>
          <p:nvPr/>
        </p:nvSpPr>
        <p:spPr bwMode="auto">
          <a:xfrm>
            <a:off x="5643563" y="928688"/>
            <a:ext cx="30591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dirty="0">
                <a:solidFill>
                  <a:srgbClr val="FF00FF"/>
                </a:solidFill>
                <a:effectLst>
                  <a:outerShdw blurRad="38100" dist="38100" dir="2700000" algn="tl">
                    <a:srgbClr val="000000">
                      <a:alpha val="43137"/>
                    </a:srgbClr>
                  </a:outerShdw>
                </a:effectLst>
              </a:rPr>
              <a:t>最佳适应算法</a:t>
            </a:r>
          </a:p>
        </p:txBody>
      </p:sp>
      <p:sp>
        <p:nvSpPr>
          <p:cNvPr id="83973" name="Rectangle 5"/>
          <p:cNvSpPr>
            <a:spLocks noGrp="1" noChangeArrowheads="1"/>
          </p:cNvSpPr>
          <p:nvPr>
            <p:ph type="title"/>
          </p:nvPr>
        </p:nvSpPr>
        <p:spPr>
          <a:xfrm>
            <a:off x="250825" y="0"/>
            <a:ext cx="8137525" cy="765175"/>
          </a:xfrm>
          <a:solidFill>
            <a:schemeClr val="tx1"/>
          </a:solidFill>
        </p:spPr>
        <p:txBody>
          <a:bodyPr/>
          <a:lstStyle/>
          <a:p>
            <a:pPr eaLnBrk="1" hangingPunct="1"/>
            <a:r>
              <a:rPr lang="en-US" altLang="zh-CN" sz="3200" b="1" dirty="0">
                <a:solidFill>
                  <a:schemeClr val="bg2"/>
                </a:solidFill>
              </a:rPr>
              <a:t>212KB</a:t>
            </a:r>
            <a:r>
              <a:rPr lang="zh-CN" altLang="en-US" sz="3200" b="1" dirty="0">
                <a:solidFill>
                  <a:schemeClr val="bg2"/>
                </a:solidFill>
              </a:rPr>
              <a:t>、</a:t>
            </a:r>
            <a:r>
              <a:rPr lang="en-US" altLang="zh-CN" sz="3200" b="1" dirty="0">
                <a:solidFill>
                  <a:schemeClr val="bg2"/>
                </a:solidFill>
              </a:rPr>
              <a:t>417KB</a:t>
            </a:r>
            <a:r>
              <a:rPr lang="zh-CN" altLang="en-US" sz="3200" b="1" dirty="0">
                <a:solidFill>
                  <a:schemeClr val="bg2"/>
                </a:solidFill>
              </a:rPr>
              <a:t>、</a:t>
            </a:r>
            <a:r>
              <a:rPr lang="en-US" altLang="zh-CN" sz="3200" b="1" dirty="0">
                <a:solidFill>
                  <a:schemeClr val="bg2"/>
                </a:solidFill>
              </a:rPr>
              <a:t>112KB</a:t>
            </a:r>
            <a:r>
              <a:rPr lang="zh-CN" altLang="en-US" sz="3200" b="1" dirty="0">
                <a:solidFill>
                  <a:schemeClr val="bg2"/>
                </a:solidFill>
              </a:rPr>
              <a:t>和</a:t>
            </a:r>
            <a:r>
              <a:rPr lang="en-US" altLang="zh-CN" sz="3200" b="1" dirty="0">
                <a:solidFill>
                  <a:schemeClr val="bg2"/>
                </a:solidFill>
              </a:rPr>
              <a:t>426KB</a:t>
            </a:r>
            <a:r>
              <a:rPr lang="zh-CN" altLang="en-US" sz="3200" b="1" dirty="0">
                <a:solidFill>
                  <a:schemeClr val="bg2"/>
                </a:solidFill>
              </a:rPr>
              <a:t>的作业？</a:t>
            </a:r>
          </a:p>
        </p:txBody>
      </p:sp>
      <p:sp>
        <p:nvSpPr>
          <p:cNvPr id="699398" name="Text Box 6"/>
          <p:cNvSpPr txBox="1">
            <a:spLocks noChangeArrowheads="1"/>
          </p:cNvSpPr>
          <p:nvPr/>
        </p:nvSpPr>
        <p:spPr bwMode="auto">
          <a:xfrm>
            <a:off x="2195513" y="4292600"/>
            <a:ext cx="1511300" cy="493713"/>
          </a:xfrm>
          <a:prstGeom prst="rect">
            <a:avLst/>
          </a:prstGeom>
          <a:solidFill>
            <a:srgbClr val="CCEC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0"/>
              </a:spcBef>
              <a:buClrTx/>
              <a:buSzTx/>
              <a:buFontTx/>
              <a:buNone/>
            </a:pPr>
            <a:r>
              <a:rPr lang="en-US" altLang="zh-CN" sz="2400">
                <a:solidFill>
                  <a:schemeClr val="bg2"/>
                </a:solidFill>
              </a:rPr>
              <a:t>212KB</a:t>
            </a:r>
          </a:p>
        </p:txBody>
      </p:sp>
      <p:sp>
        <p:nvSpPr>
          <p:cNvPr id="699399" name="Text Box 7"/>
          <p:cNvSpPr txBox="1">
            <a:spLocks noChangeArrowheads="1"/>
          </p:cNvSpPr>
          <p:nvPr/>
        </p:nvSpPr>
        <p:spPr bwMode="auto">
          <a:xfrm>
            <a:off x="2195513" y="1989138"/>
            <a:ext cx="1511300" cy="768350"/>
          </a:xfrm>
          <a:prstGeom prst="rect">
            <a:avLst/>
          </a:prstGeom>
          <a:solidFill>
            <a:srgbClr val="FFF3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SzTx/>
              <a:buFontTx/>
              <a:buNone/>
            </a:pPr>
            <a:r>
              <a:rPr lang="en-US" altLang="zh-CN" sz="2400">
                <a:solidFill>
                  <a:schemeClr val="bg2"/>
                </a:solidFill>
              </a:rPr>
              <a:t>417 KB</a:t>
            </a:r>
          </a:p>
          <a:p>
            <a:pPr eaLnBrk="1" hangingPunct="1">
              <a:lnSpc>
                <a:spcPct val="105000"/>
              </a:lnSpc>
              <a:spcBef>
                <a:spcPct val="0"/>
              </a:spcBef>
              <a:buClrTx/>
              <a:buSzTx/>
              <a:buFontTx/>
              <a:buNone/>
            </a:pPr>
            <a:endParaRPr lang="en-US" altLang="zh-CN" sz="2400">
              <a:solidFill>
                <a:schemeClr val="bg2"/>
              </a:solidFill>
            </a:endParaRPr>
          </a:p>
        </p:txBody>
      </p:sp>
      <p:sp>
        <p:nvSpPr>
          <p:cNvPr id="699400" name="Text Box 8"/>
          <p:cNvSpPr txBox="1">
            <a:spLocks noChangeArrowheads="1"/>
          </p:cNvSpPr>
          <p:nvPr/>
        </p:nvSpPr>
        <p:spPr bwMode="auto">
          <a:xfrm>
            <a:off x="2195513" y="3284538"/>
            <a:ext cx="1511300" cy="311150"/>
          </a:xfrm>
          <a:prstGeom prst="rect">
            <a:avLst/>
          </a:prstGeom>
          <a:solidFill>
            <a:srgbClr val="FDFEE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0"/>
              </a:spcBef>
              <a:buClrTx/>
              <a:buSzTx/>
              <a:buFontTx/>
              <a:buNone/>
            </a:pPr>
            <a:r>
              <a:rPr lang="en-US" altLang="zh-CN" sz="2400">
                <a:solidFill>
                  <a:schemeClr val="bg2"/>
                </a:solidFill>
              </a:rPr>
              <a:t>112 KB</a:t>
            </a:r>
          </a:p>
        </p:txBody>
      </p:sp>
      <p:sp>
        <p:nvSpPr>
          <p:cNvPr id="699401" name="Text Box 9"/>
          <p:cNvSpPr txBox="1">
            <a:spLocks noChangeArrowheads="1"/>
          </p:cNvSpPr>
          <p:nvPr/>
        </p:nvSpPr>
        <p:spPr bwMode="auto">
          <a:xfrm>
            <a:off x="2195513" y="5445125"/>
            <a:ext cx="1511300" cy="768350"/>
          </a:xfrm>
          <a:prstGeom prst="rect">
            <a:avLst/>
          </a:prstGeom>
          <a:solidFill>
            <a:srgbClr val="D2FEEC"/>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SzTx/>
              <a:buFontTx/>
              <a:buNone/>
            </a:pPr>
            <a:r>
              <a:rPr lang="en-US" altLang="zh-CN" sz="2400">
                <a:solidFill>
                  <a:schemeClr val="bg2"/>
                </a:solidFill>
              </a:rPr>
              <a:t>426KB</a:t>
            </a:r>
          </a:p>
          <a:p>
            <a:pPr eaLnBrk="1" hangingPunct="1">
              <a:lnSpc>
                <a:spcPct val="105000"/>
              </a:lnSpc>
              <a:spcBef>
                <a:spcPct val="0"/>
              </a:spcBef>
              <a:buClrTx/>
              <a:buSzTx/>
              <a:buFontTx/>
              <a:buNone/>
            </a:pPr>
            <a:endParaRPr lang="en-US" altLang="zh-CN" sz="2400">
              <a:solidFill>
                <a:schemeClr val="bg2"/>
              </a:solidFill>
            </a:endParaRP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6851464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99398"/>
                                        </p:tgtEl>
                                        <p:attrNameLst>
                                          <p:attrName>style.visibility</p:attrName>
                                        </p:attrNameLst>
                                      </p:cBhvr>
                                      <p:to>
                                        <p:strVal val="visible"/>
                                      </p:to>
                                    </p:set>
                                    <p:animEffect transition="in" filter="wedge">
                                      <p:cBhvr>
                                        <p:cTn id="7" dur="2000"/>
                                        <p:tgtEl>
                                          <p:spTgt spid="6993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699399"/>
                                        </p:tgtEl>
                                        <p:attrNameLst>
                                          <p:attrName>style.visibility</p:attrName>
                                        </p:attrNameLst>
                                      </p:cBhvr>
                                      <p:to>
                                        <p:strVal val="visible"/>
                                      </p:to>
                                    </p:set>
                                    <p:animEffect transition="in" filter="wedge">
                                      <p:cBhvr>
                                        <p:cTn id="12" dur="2000"/>
                                        <p:tgtEl>
                                          <p:spTgt spid="6993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699400"/>
                                        </p:tgtEl>
                                        <p:attrNameLst>
                                          <p:attrName>style.visibility</p:attrName>
                                        </p:attrNameLst>
                                      </p:cBhvr>
                                      <p:to>
                                        <p:strVal val="visible"/>
                                      </p:to>
                                    </p:set>
                                    <p:animEffect transition="in" filter="wedge">
                                      <p:cBhvr>
                                        <p:cTn id="17" dur="2000"/>
                                        <p:tgtEl>
                                          <p:spTgt spid="6994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699401"/>
                                        </p:tgtEl>
                                        <p:attrNameLst>
                                          <p:attrName>style.visibility</p:attrName>
                                        </p:attrNameLst>
                                      </p:cBhvr>
                                      <p:to>
                                        <p:strVal val="visible"/>
                                      </p:to>
                                    </p:set>
                                    <p:animEffect transition="in" filter="wedge">
                                      <p:cBhvr>
                                        <p:cTn id="22" dur="2000"/>
                                        <p:tgtEl>
                                          <p:spTgt spid="699401"/>
                                        </p:tgtEl>
                                      </p:cBhvr>
                                    </p:animEffect>
                                  </p:childTnLst>
                                </p:cTn>
                              </p:par>
                            </p:childTnLst>
                          </p:cTn>
                        </p:par>
                        <p:par>
                          <p:cTn id="23" fill="hold">
                            <p:stCondLst>
                              <p:cond delay="2000"/>
                            </p:stCondLst>
                            <p:childTnLst>
                              <p:par>
                                <p:cTn id="24" presetID="2" presetClass="entr" presetSubtype="6"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8" grpId="0" animBg="1"/>
      <p:bldP spid="699399" grpId="0" animBg="1"/>
      <p:bldP spid="699400" grpId="0" animBg="1"/>
      <p:bldP spid="699401"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1260000" y="1363950"/>
            <a:ext cx="2257425" cy="5534025"/>
          </a:xfrm>
          <a:prstGeom prst="rect">
            <a:avLst/>
          </a:prstGeom>
        </p:spPr>
      </p:pic>
      <p:sp>
        <p:nvSpPr>
          <p:cNvPr id="84996" name="Rectangle 3"/>
          <p:cNvSpPr>
            <a:spLocks noChangeArrowheads="1"/>
          </p:cNvSpPr>
          <p:nvPr/>
        </p:nvSpPr>
        <p:spPr bwMode="auto">
          <a:xfrm>
            <a:off x="5572125" y="1071563"/>
            <a:ext cx="26564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dirty="0">
                <a:solidFill>
                  <a:srgbClr val="FF00FF"/>
                </a:solidFill>
                <a:effectLst>
                  <a:outerShdw blurRad="38100" dist="38100" dir="2700000" algn="tl">
                    <a:srgbClr val="000000">
                      <a:alpha val="43137"/>
                    </a:srgbClr>
                  </a:outerShdw>
                </a:effectLst>
              </a:rPr>
              <a:t>最坏适应算法</a:t>
            </a:r>
          </a:p>
        </p:txBody>
      </p:sp>
      <p:sp>
        <p:nvSpPr>
          <p:cNvPr id="84997" name="Rectangle 4"/>
          <p:cNvSpPr>
            <a:spLocks noGrp="1" noChangeArrowheads="1"/>
          </p:cNvSpPr>
          <p:nvPr>
            <p:ph type="title"/>
          </p:nvPr>
        </p:nvSpPr>
        <p:spPr>
          <a:xfrm>
            <a:off x="250825" y="0"/>
            <a:ext cx="8137525" cy="765175"/>
          </a:xfrm>
          <a:solidFill>
            <a:schemeClr val="tx1"/>
          </a:solidFill>
        </p:spPr>
        <p:txBody>
          <a:bodyPr/>
          <a:lstStyle/>
          <a:p>
            <a:pPr eaLnBrk="1" hangingPunct="1"/>
            <a:r>
              <a:rPr lang="en-US" altLang="zh-CN" sz="3200" b="1" dirty="0">
                <a:solidFill>
                  <a:schemeClr val="bg2"/>
                </a:solidFill>
              </a:rPr>
              <a:t>212KB</a:t>
            </a:r>
            <a:r>
              <a:rPr lang="zh-CN" altLang="en-US" sz="3200" b="1" dirty="0">
                <a:solidFill>
                  <a:schemeClr val="bg2"/>
                </a:solidFill>
              </a:rPr>
              <a:t>、</a:t>
            </a:r>
            <a:r>
              <a:rPr lang="en-US" altLang="zh-CN" sz="3200" b="1" dirty="0">
                <a:solidFill>
                  <a:schemeClr val="bg2"/>
                </a:solidFill>
              </a:rPr>
              <a:t>417KB</a:t>
            </a:r>
            <a:r>
              <a:rPr lang="zh-CN" altLang="en-US" sz="3200" b="1" dirty="0">
                <a:solidFill>
                  <a:schemeClr val="bg2"/>
                </a:solidFill>
              </a:rPr>
              <a:t>、</a:t>
            </a:r>
            <a:r>
              <a:rPr lang="en-US" altLang="zh-CN" sz="3200" b="1" dirty="0">
                <a:solidFill>
                  <a:schemeClr val="bg2"/>
                </a:solidFill>
              </a:rPr>
              <a:t>112KB</a:t>
            </a:r>
            <a:r>
              <a:rPr lang="zh-CN" altLang="en-US" sz="3200" b="1" dirty="0">
                <a:solidFill>
                  <a:schemeClr val="bg2"/>
                </a:solidFill>
              </a:rPr>
              <a:t>和</a:t>
            </a:r>
            <a:r>
              <a:rPr lang="en-US" altLang="zh-CN" sz="3200" b="1" dirty="0">
                <a:solidFill>
                  <a:schemeClr val="bg2"/>
                </a:solidFill>
              </a:rPr>
              <a:t>426KB</a:t>
            </a:r>
            <a:r>
              <a:rPr lang="zh-CN" altLang="en-US" sz="3200" b="1" dirty="0">
                <a:solidFill>
                  <a:schemeClr val="bg2"/>
                </a:solidFill>
              </a:rPr>
              <a:t>的作业？</a:t>
            </a:r>
          </a:p>
        </p:txBody>
      </p:sp>
      <p:sp>
        <p:nvSpPr>
          <p:cNvPr id="695302" name="Text Box 6"/>
          <p:cNvSpPr txBox="1">
            <a:spLocks noChangeArrowheads="1"/>
          </p:cNvSpPr>
          <p:nvPr/>
        </p:nvSpPr>
        <p:spPr bwMode="auto">
          <a:xfrm>
            <a:off x="1331914" y="5661025"/>
            <a:ext cx="1511300" cy="498598"/>
          </a:xfrm>
          <a:prstGeom prst="rect">
            <a:avLst/>
          </a:prstGeom>
          <a:solidFill>
            <a:srgbClr val="CCEC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0"/>
              </a:spcBef>
              <a:buClrTx/>
              <a:buSzTx/>
              <a:buFontTx/>
              <a:buNone/>
            </a:pPr>
            <a:r>
              <a:rPr lang="en-US" altLang="zh-CN" sz="2400">
                <a:solidFill>
                  <a:schemeClr val="bg2"/>
                </a:solidFill>
              </a:rPr>
              <a:t>212KB</a:t>
            </a:r>
          </a:p>
        </p:txBody>
      </p:sp>
      <p:sp>
        <p:nvSpPr>
          <p:cNvPr id="695303" name="Text Box 7"/>
          <p:cNvSpPr txBox="1">
            <a:spLocks noChangeArrowheads="1"/>
          </p:cNvSpPr>
          <p:nvPr/>
        </p:nvSpPr>
        <p:spPr bwMode="auto">
          <a:xfrm>
            <a:off x="1331913" y="2205038"/>
            <a:ext cx="1511300" cy="768350"/>
          </a:xfrm>
          <a:prstGeom prst="rect">
            <a:avLst/>
          </a:prstGeom>
          <a:solidFill>
            <a:srgbClr val="FFF3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SzTx/>
              <a:buFontTx/>
              <a:buNone/>
            </a:pPr>
            <a:r>
              <a:rPr lang="en-US" altLang="zh-CN" sz="2400">
                <a:solidFill>
                  <a:schemeClr val="bg2"/>
                </a:solidFill>
              </a:rPr>
              <a:t>417 KB</a:t>
            </a:r>
          </a:p>
          <a:p>
            <a:pPr eaLnBrk="1" hangingPunct="1">
              <a:lnSpc>
                <a:spcPct val="105000"/>
              </a:lnSpc>
              <a:spcBef>
                <a:spcPct val="0"/>
              </a:spcBef>
              <a:buClrTx/>
              <a:buSzTx/>
              <a:buFontTx/>
              <a:buNone/>
            </a:pPr>
            <a:endParaRPr lang="en-US" altLang="zh-CN" sz="2400">
              <a:solidFill>
                <a:schemeClr val="bg2"/>
              </a:solidFill>
            </a:endParaRPr>
          </a:p>
        </p:txBody>
      </p:sp>
      <p:sp>
        <p:nvSpPr>
          <p:cNvPr id="695304" name="Text Box 8"/>
          <p:cNvSpPr txBox="1">
            <a:spLocks noChangeArrowheads="1"/>
          </p:cNvSpPr>
          <p:nvPr/>
        </p:nvSpPr>
        <p:spPr bwMode="auto">
          <a:xfrm>
            <a:off x="1331913" y="6165850"/>
            <a:ext cx="1511300" cy="311150"/>
          </a:xfrm>
          <a:prstGeom prst="rect">
            <a:avLst/>
          </a:prstGeom>
          <a:solidFill>
            <a:srgbClr val="FDFEE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t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0"/>
              </a:spcBef>
              <a:buClrTx/>
              <a:buSzTx/>
              <a:buFontTx/>
              <a:buNone/>
            </a:pPr>
            <a:r>
              <a:rPr lang="en-US" altLang="zh-CN" sz="2400">
                <a:solidFill>
                  <a:schemeClr val="bg2"/>
                </a:solidFill>
              </a:rPr>
              <a:t>112 KB</a:t>
            </a:r>
          </a:p>
        </p:txBody>
      </p:sp>
      <p:sp>
        <p:nvSpPr>
          <p:cNvPr id="695305" name="Text Box 9"/>
          <p:cNvSpPr txBox="1">
            <a:spLocks noChangeArrowheads="1"/>
          </p:cNvSpPr>
          <p:nvPr/>
        </p:nvSpPr>
        <p:spPr bwMode="auto">
          <a:xfrm>
            <a:off x="3924300" y="2997200"/>
            <a:ext cx="49323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2800" dirty="0">
                <a:solidFill>
                  <a:schemeClr val="bg2"/>
                </a:solidFill>
                <a:ea typeface="楷体_GB2312" pitchFamily="49" charset="-122"/>
              </a:rPr>
              <a:t>不能为</a:t>
            </a:r>
            <a:r>
              <a:rPr lang="en-US" altLang="zh-CN" sz="2800" dirty="0">
                <a:solidFill>
                  <a:schemeClr val="bg2"/>
                </a:solidFill>
                <a:ea typeface="楷体_GB2312" pitchFamily="49" charset="-122"/>
              </a:rPr>
              <a:t>426KB</a:t>
            </a:r>
            <a:r>
              <a:rPr lang="zh-CN" altLang="en-US" sz="2800" dirty="0">
                <a:solidFill>
                  <a:schemeClr val="bg2"/>
                </a:solidFill>
                <a:ea typeface="楷体_GB2312" pitchFamily="49" charset="-122"/>
              </a:rPr>
              <a:t>的作业分配内存</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087162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95302"/>
                                        </p:tgtEl>
                                        <p:attrNameLst>
                                          <p:attrName>style.visibility</p:attrName>
                                        </p:attrNameLst>
                                      </p:cBhvr>
                                      <p:to>
                                        <p:strVal val="visible"/>
                                      </p:to>
                                    </p:set>
                                    <p:animEffect transition="in" filter="wedge">
                                      <p:cBhvr>
                                        <p:cTn id="7" dur="2000"/>
                                        <p:tgtEl>
                                          <p:spTgt spid="6953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695303"/>
                                        </p:tgtEl>
                                        <p:attrNameLst>
                                          <p:attrName>style.visibility</p:attrName>
                                        </p:attrNameLst>
                                      </p:cBhvr>
                                      <p:to>
                                        <p:strVal val="visible"/>
                                      </p:to>
                                    </p:set>
                                    <p:animEffect transition="in" filter="wedge">
                                      <p:cBhvr>
                                        <p:cTn id="12" dur="2000"/>
                                        <p:tgtEl>
                                          <p:spTgt spid="6953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695304"/>
                                        </p:tgtEl>
                                        <p:attrNameLst>
                                          <p:attrName>style.visibility</p:attrName>
                                        </p:attrNameLst>
                                      </p:cBhvr>
                                      <p:to>
                                        <p:strVal val="visible"/>
                                      </p:to>
                                    </p:set>
                                    <p:animEffect transition="in" filter="wedge">
                                      <p:cBhvr>
                                        <p:cTn id="17" dur="2000"/>
                                        <p:tgtEl>
                                          <p:spTgt spid="6953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95305"/>
                                        </p:tgtEl>
                                        <p:attrNameLst>
                                          <p:attrName>style.visibility</p:attrName>
                                        </p:attrNameLst>
                                      </p:cBhvr>
                                      <p:to>
                                        <p:strVal val="visible"/>
                                      </p:to>
                                    </p:set>
                                    <p:animEffect transition="in" filter="dissolve">
                                      <p:cBhvr>
                                        <p:cTn id="22" dur="500"/>
                                        <p:tgtEl>
                                          <p:spTgt spid="695305"/>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1+#ppt_w/2"/>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2" grpId="0" animBg="1"/>
      <p:bldP spid="695303" grpId="0" animBg="1"/>
      <p:bldP spid="695304" grpId="0" animBg="1"/>
      <p:bldP spid="695305" grpId="0"/>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28" name="Rectangle 12"/>
          <p:cNvSpPr>
            <a:spLocks noChangeArrowheads="1"/>
          </p:cNvSpPr>
          <p:nvPr/>
        </p:nvSpPr>
        <p:spPr bwMode="auto">
          <a:xfrm>
            <a:off x="80609" y="593772"/>
            <a:ext cx="9127243" cy="2090911"/>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2" indent="0" defTabSz="355600">
              <a:lnSpc>
                <a:spcPts val="4200"/>
              </a:lnSpc>
              <a:spcBef>
                <a:spcPct val="0"/>
              </a:spcBef>
              <a:buClr>
                <a:schemeClr val="bg1">
                  <a:lumMod val="75000"/>
                </a:schemeClr>
              </a:buClr>
              <a:buSzPct val="100000"/>
              <a:buNone/>
              <a:defRPr/>
            </a:pPr>
            <a:r>
              <a:rPr lang="en-US" altLang="zh-CN" sz="3200" dirty="0">
                <a:solidFill>
                  <a:schemeClr val="bg1"/>
                </a:solidFill>
                <a:effectLst>
                  <a:outerShdw blurRad="38100" dist="38100" dir="2700000" algn="tl">
                    <a:srgbClr val="000000"/>
                  </a:outerShdw>
                </a:effectLst>
                <a:latin typeface="+mj-lt"/>
                <a:ea typeface="楷体" panose="02010609060101010101" pitchFamily="49" charset="-122"/>
              </a:rPr>
              <a:t>(a)</a:t>
            </a: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上下邻空闲区：</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合并，改大小、删掉“下空闲区”</a:t>
            </a:r>
          </a:p>
          <a:p>
            <a:pPr marL="0" lvl="2" indent="0" defTabSz="355600">
              <a:lnSpc>
                <a:spcPts val="4200"/>
              </a:lnSpc>
              <a:spcBef>
                <a:spcPct val="0"/>
              </a:spcBef>
              <a:buClr>
                <a:schemeClr val="bg1">
                  <a:lumMod val="75000"/>
                </a:schemeClr>
              </a:buClr>
              <a:buSzPct val="100000"/>
              <a:buNone/>
              <a:defRPr/>
            </a:pPr>
            <a:r>
              <a:rPr lang="en-US" altLang="zh-CN" sz="3200" dirty="0">
                <a:solidFill>
                  <a:schemeClr val="bg1"/>
                </a:solidFill>
                <a:effectLst>
                  <a:outerShdw blurRad="38100" dist="38100" dir="2700000" algn="tl">
                    <a:srgbClr val="000000"/>
                  </a:outerShdw>
                </a:effectLst>
                <a:latin typeface="+mj-lt"/>
                <a:ea typeface="楷体" panose="02010609060101010101" pitchFamily="49" charset="-122"/>
              </a:rPr>
              <a:t>(b)</a:t>
            </a: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上邻空闲区：合并，改大小。</a:t>
            </a:r>
          </a:p>
          <a:p>
            <a:pPr marL="0" lvl="2" indent="0" defTabSz="355600">
              <a:lnSpc>
                <a:spcPts val="4200"/>
              </a:lnSpc>
              <a:spcBef>
                <a:spcPct val="0"/>
              </a:spcBef>
              <a:buClr>
                <a:schemeClr val="bg1">
                  <a:lumMod val="75000"/>
                </a:schemeClr>
              </a:buClr>
              <a:buSzPct val="100000"/>
              <a:buNone/>
              <a:defRPr/>
            </a:pPr>
            <a:r>
              <a:rPr lang="en-US" altLang="zh-CN" sz="3200" dirty="0">
                <a:solidFill>
                  <a:schemeClr val="bg1"/>
                </a:solidFill>
                <a:effectLst>
                  <a:outerShdw blurRad="38100" dist="38100" dir="2700000" algn="tl">
                    <a:srgbClr val="000000"/>
                  </a:outerShdw>
                </a:effectLst>
                <a:latin typeface="+mj-lt"/>
                <a:ea typeface="楷体" panose="02010609060101010101" pitchFamily="49" charset="-122"/>
              </a:rPr>
              <a:t>(c)</a:t>
            </a: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下邻空闲区：合并，改大小、首址。</a:t>
            </a:r>
          </a:p>
          <a:p>
            <a:pPr marL="0" lvl="2" indent="0" defTabSz="355600">
              <a:lnSpc>
                <a:spcPts val="4200"/>
              </a:lnSpc>
              <a:spcBef>
                <a:spcPct val="0"/>
              </a:spcBef>
              <a:buClr>
                <a:schemeClr val="bg1">
                  <a:lumMod val="75000"/>
                </a:schemeClr>
              </a:buClr>
              <a:buSzPct val="100000"/>
              <a:buNone/>
              <a:defRPr/>
            </a:pPr>
            <a:r>
              <a:rPr lang="en-US" altLang="zh-CN" sz="3200" dirty="0">
                <a:solidFill>
                  <a:schemeClr val="bg1"/>
                </a:solidFill>
                <a:effectLst>
                  <a:outerShdw blurRad="38100" dist="38100" dir="2700000" algn="tl">
                    <a:srgbClr val="000000"/>
                  </a:outerShdw>
                </a:effectLst>
                <a:latin typeface="+mj-lt"/>
                <a:ea typeface="楷体" panose="02010609060101010101" pitchFamily="49" charset="-122"/>
              </a:rPr>
              <a:t>(d)</a:t>
            </a: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不邻接，则建立一新表项。</a:t>
            </a:r>
          </a:p>
        </p:txBody>
      </p:sp>
      <p:sp>
        <p:nvSpPr>
          <p:cNvPr id="76803" name="Rectangle 5"/>
          <p:cNvSpPr>
            <a:spLocks noChangeArrowheads="1"/>
          </p:cNvSpPr>
          <p:nvPr/>
        </p:nvSpPr>
        <p:spPr bwMode="auto">
          <a:xfrm>
            <a:off x="395288" y="1557338"/>
            <a:ext cx="8497887"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Font typeface="Symbol" panose="05050102010706020507" pitchFamily="18" charset="2"/>
              <a:buNone/>
            </a:pPr>
            <a:endParaRPr lang="zh-CN" altLang="zh-CN">
              <a:latin typeface="楷体_GB2312" pitchFamily="49" charset="-122"/>
              <a:ea typeface="楷体_GB2312" pitchFamily="49" charset="-122"/>
            </a:endParaRPr>
          </a:p>
        </p:txBody>
      </p:sp>
      <p:pic>
        <p:nvPicPr>
          <p:cNvPr id="495623" name="Picture 7" descr="e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7284" y="2889305"/>
            <a:ext cx="7056437"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10"/>
          <p:cNvSpPr txBox="1">
            <a:spLocks noChangeArrowheads="1"/>
          </p:cNvSpPr>
          <p:nvPr/>
        </p:nvSpPr>
        <p:spPr bwMode="auto">
          <a:xfrm>
            <a:off x="-207255" y="839385"/>
            <a:ext cx="91439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ea typeface="楷体_GB2312" pitchFamily="49" charset="-122"/>
              </a:rPr>
              <a:t>当</a:t>
            </a:r>
            <a:r>
              <a:rPr lang="zh-CN" altLang="en-US" sz="2800" dirty="0">
                <a:solidFill>
                  <a:schemeClr val="bg2"/>
                </a:solidFill>
                <a:ea typeface="楷体_GB2312" pitchFamily="49" charset="-122"/>
              </a:rPr>
              <a:t>某个作业执结束时，检查释放区是否与其它空闲区相邻</a:t>
            </a:r>
          </a:p>
          <a:p>
            <a:pPr lvl="1" eaLnBrk="1" hangingPunct="1">
              <a:spcBef>
                <a:spcPct val="0"/>
              </a:spcBef>
              <a:buFontTx/>
              <a:buNone/>
            </a:pPr>
            <a:r>
              <a:rPr lang="zh-CN" altLang="en-US" dirty="0">
                <a:solidFill>
                  <a:schemeClr val="bg2"/>
                </a:solidFill>
                <a:ea typeface="楷体_GB2312" pitchFamily="49" charset="-122"/>
              </a:rPr>
              <a:t>否：释放区作为一个空闲区。</a:t>
            </a:r>
          </a:p>
          <a:p>
            <a:pPr lvl="1" eaLnBrk="1" hangingPunct="1">
              <a:spcBef>
                <a:spcPct val="0"/>
              </a:spcBef>
              <a:buFontTx/>
              <a:buNone/>
            </a:pPr>
            <a:r>
              <a:rPr lang="zh-CN" altLang="en-US" dirty="0">
                <a:solidFill>
                  <a:schemeClr val="bg2"/>
                </a:solidFill>
                <a:ea typeface="楷体_GB2312" pitchFamily="49" charset="-122"/>
              </a:rPr>
              <a:t>是：合并到相邻的空闲区中。</a:t>
            </a:r>
          </a:p>
        </p:txBody>
      </p:sp>
      <p:sp>
        <p:nvSpPr>
          <p:cNvPr id="495627" name="Rectangle 11"/>
          <p:cNvSpPr>
            <a:spLocks noChangeArrowheads="1"/>
          </p:cNvSpPr>
          <p:nvPr/>
        </p:nvSpPr>
        <p:spPr bwMode="auto">
          <a:xfrm>
            <a:off x="3203848" y="6279890"/>
            <a:ext cx="21836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dirty="0">
                <a:solidFill>
                  <a:schemeClr val="bg2"/>
                </a:solidFill>
              </a:rPr>
              <a:t>图  </a:t>
            </a:r>
            <a:r>
              <a:rPr lang="en-US" altLang="zh-CN" sz="2000" dirty="0">
                <a:solidFill>
                  <a:schemeClr val="bg2"/>
                </a:solidFill>
              </a:rPr>
              <a:t> </a:t>
            </a:r>
            <a:r>
              <a:rPr lang="zh-CN" altLang="en-US" sz="2000" dirty="0">
                <a:solidFill>
                  <a:schemeClr val="bg2"/>
                </a:solidFill>
              </a:rPr>
              <a:t>空闲区的合并</a:t>
            </a:r>
          </a:p>
        </p:txBody>
      </p:sp>
      <p:sp>
        <p:nvSpPr>
          <p:cNvPr id="11" name="Rectangle 3"/>
          <p:cNvSpPr>
            <a:spLocks noChangeArrowheads="1"/>
          </p:cNvSpPr>
          <p:nvPr/>
        </p:nvSpPr>
        <p:spPr bwMode="auto">
          <a:xfrm>
            <a:off x="1799431" y="-58356"/>
            <a:ext cx="5689600" cy="715581"/>
          </a:xfrm>
          <a:prstGeom prst="rect">
            <a:avLst/>
          </a:prstGeom>
          <a:noFill/>
          <a:ln w="12700" cap="sq">
            <a:noFill/>
            <a:miter lim="800000"/>
            <a:headEnd type="none" w="sm" len="sm"/>
            <a:tailEnd type="none" w="sm" len="sm"/>
          </a:ln>
          <a:effectLst/>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可变分区的回收</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矩形 1"/>
          <p:cNvSpPr/>
          <p:nvPr/>
        </p:nvSpPr>
        <p:spPr bwMode="auto">
          <a:xfrm>
            <a:off x="204787" y="568201"/>
            <a:ext cx="8818059" cy="1550764"/>
          </a:xfrm>
          <a:prstGeom prst="rect">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Tree>
    <p:extLst>
      <p:ext uri="{BB962C8B-B14F-4D97-AF65-F5344CB8AC3E}">
        <p14:creationId xmlns:p14="http://schemas.microsoft.com/office/powerpoint/2010/main" val="2208482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806"/>
                                        </p:tgtEl>
                                        <p:attrNameLst>
                                          <p:attrName>style.visibility</p:attrName>
                                        </p:attrNameLst>
                                      </p:cBhvr>
                                      <p:to>
                                        <p:strVal val="visible"/>
                                      </p:to>
                                    </p:set>
                                    <p:animEffect transition="in" filter="fade">
                                      <p:cBhvr>
                                        <p:cTn id="7" dur="500"/>
                                        <p:tgtEl>
                                          <p:spTgt spid="76806"/>
                                        </p:tgtEl>
                                      </p:cBhvr>
                                    </p:animEffect>
                                  </p:childTnLst>
                                  <p:subTnLst>
                                    <p:set>
                                      <p:cBhvr override="childStyle">
                                        <p:cTn dur="1" fill="hold" display="0" masterRel="nextClick" afterEffect="1"/>
                                        <p:tgtEl>
                                          <p:spTgt spid="7680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95623"/>
                                        </p:tgtEl>
                                        <p:attrNameLst>
                                          <p:attrName>style.visibility</p:attrName>
                                        </p:attrNameLst>
                                      </p:cBhvr>
                                      <p:to>
                                        <p:strVal val="visible"/>
                                      </p:to>
                                    </p:set>
                                    <p:animEffect transition="in" filter="diamond(in)">
                                      <p:cBhvr>
                                        <p:cTn id="12" dur="2000"/>
                                        <p:tgtEl>
                                          <p:spTgt spid="495623"/>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495627"/>
                                        </p:tgtEl>
                                        <p:attrNameLst>
                                          <p:attrName>style.visibility</p:attrName>
                                        </p:attrNameLst>
                                      </p:cBhvr>
                                      <p:to>
                                        <p:strVal val="visible"/>
                                      </p:to>
                                    </p:set>
                                    <p:animEffect transition="in" filter="diamond(in)">
                                      <p:cBhvr>
                                        <p:cTn id="15" dur="2000"/>
                                        <p:tgtEl>
                                          <p:spTgt spid="495627"/>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95628">
                                            <p:txEl>
                                              <p:pRg st="0" end="0"/>
                                            </p:txEl>
                                          </p:spTgt>
                                        </p:tgtEl>
                                        <p:attrNameLst>
                                          <p:attrName>style.visibility</p:attrName>
                                        </p:attrNameLst>
                                      </p:cBhvr>
                                      <p:to>
                                        <p:strVal val="visible"/>
                                      </p:to>
                                    </p:set>
                                    <p:animEffect transition="in" filter="fade">
                                      <p:cBhvr>
                                        <p:cTn id="20" dur="1000"/>
                                        <p:tgtEl>
                                          <p:spTgt spid="495628">
                                            <p:txEl>
                                              <p:pRg st="0" end="0"/>
                                            </p:txEl>
                                          </p:spTgt>
                                        </p:tgtEl>
                                      </p:cBhvr>
                                    </p:animEffect>
                                    <p:anim calcmode="lin" valueType="num">
                                      <p:cBhvr>
                                        <p:cTn id="21" dur="1000" fill="hold"/>
                                        <p:tgtEl>
                                          <p:spTgt spid="495628">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4956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95628">
                                            <p:txEl>
                                              <p:pRg st="1" end="1"/>
                                            </p:txEl>
                                          </p:spTgt>
                                        </p:tgtEl>
                                        <p:attrNameLst>
                                          <p:attrName>style.visibility</p:attrName>
                                        </p:attrNameLst>
                                      </p:cBhvr>
                                      <p:to>
                                        <p:strVal val="visible"/>
                                      </p:to>
                                    </p:set>
                                    <p:animEffect transition="in" filter="fade">
                                      <p:cBhvr>
                                        <p:cTn id="27" dur="1000"/>
                                        <p:tgtEl>
                                          <p:spTgt spid="495628">
                                            <p:txEl>
                                              <p:pRg st="1" end="1"/>
                                            </p:txEl>
                                          </p:spTgt>
                                        </p:tgtEl>
                                      </p:cBhvr>
                                    </p:animEffect>
                                    <p:anim calcmode="lin" valueType="num">
                                      <p:cBhvr>
                                        <p:cTn id="28" dur="1000" fill="hold"/>
                                        <p:tgtEl>
                                          <p:spTgt spid="495628">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4956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95628">
                                            <p:txEl>
                                              <p:pRg st="2" end="2"/>
                                            </p:txEl>
                                          </p:spTgt>
                                        </p:tgtEl>
                                        <p:attrNameLst>
                                          <p:attrName>style.visibility</p:attrName>
                                        </p:attrNameLst>
                                      </p:cBhvr>
                                      <p:to>
                                        <p:strVal val="visible"/>
                                      </p:to>
                                    </p:set>
                                    <p:animEffect transition="in" filter="fade">
                                      <p:cBhvr>
                                        <p:cTn id="34" dur="1000"/>
                                        <p:tgtEl>
                                          <p:spTgt spid="495628">
                                            <p:txEl>
                                              <p:pRg st="2" end="2"/>
                                            </p:txEl>
                                          </p:spTgt>
                                        </p:tgtEl>
                                      </p:cBhvr>
                                    </p:animEffect>
                                    <p:anim calcmode="lin" valueType="num">
                                      <p:cBhvr>
                                        <p:cTn id="35" dur="1000" fill="hold"/>
                                        <p:tgtEl>
                                          <p:spTgt spid="495628">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49562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95628">
                                            <p:txEl>
                                              <p:pRg st="3" end="3"/>
                                            </p:txEl>
                                          </p:spTgt>
                                        </p:tgtEl>
                                        <p:attrNameLst>
                                          <p:attrName>style.visibility</p:attrName>
                                        </p:attrNameLst>
                                      </p:cBhvr>
                                      <p:to>
                                        <p:strVal val="visible"/>
                                      </p:to>
                                    </p:set>
                                    <p:animEffect transition="in" filter="fade">
                                      <p:cBhvr>
                                        <p:cTn id="41" dur="1000"/>
                                        <p:tgtEl>
                                          <p:spTgt spid="495628">
                                            <p:txEl>
                                              <p:pRg st="3" end="3"/>
                                            </p:txEl>
                                          </p:spTgt>
                                        </p:tgtEl>
                                      </p:cBhvr>
                                    </p:animEffect>
                                    <p:anim calcmode="lin" valueType="num">
                                      <p:cBhvr>
                                        <p:cTn id="42" dur="1000" fill="hold"/>
                                        <p:tgtEl>
                                          <p:spTgt spid="495628">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495628">
                                            <p:txEl>
                                              <p:pRg st="3" end="3"/>
                                            </p:txEl>
                                          </p:spTgt>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2" presetClass="entr" presetSubtype="6"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1+#ppt_w/2"/>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p:bldP spid="495627" grpId="0"/>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1928813" y="0"/>
            <a:ext cx="5689600" cy="715581"/>
          </a:xfrm>
          <a:prstGeom prst="rect">
            <a:avLst/>
          </a:prstGeom>
          <a:noFill/>
          <a:ln w="12700" cap="sq">
            <a:noFill/>
            <a:miter lim="800000"/>
            <a:headEnd type="none" w="sm" len="sm"/>
            <a:tailEnd type="none" w="sm" len="sm"/>
          </a:ln>
          <a:effectLst/>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可变分区的碎片问题</a:t>
            </a:r>
          </a:p>
        </p:txBody>
      </p:sp>
      <p:sp>
        <p:nvSpPr>
          <p:cNvPr id="4" name="Text Box 3"/>
          <p:cNvSpPr txBox="1">
            <a:spLocks noChangeArrowheads="1"/>
          </p:cNvSpPr>
          <p:nvPr/>
        </p:nvSpPr>
        <p:spPr bwMode="auto">
          <a:xfrm>
            <a:off x="1259632" y="4509120"/>
            <a:ext cx="6886526"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1000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rPr>
              <a:t>作业的移动需要大量的</a:t>
            </a:r>
            <a:r>
              <a:rPr lang="en-US" altLang="zh-CN" dirty="0">
                <a:solidFill>
                  <a:schemeClr val="bg2"/>
                </a:solidFill>
                <a:effectLst>
                  <a:outerShdw blurRad="38100" dist="38100" dir="2700000" algn="tl">
                    <a:srgbClr val="000000">
                      <a:alpha val="43137"/>
                    </a:srgbClr>
                  </a:outerShdw>
                </a:effectLst>
              </a:rPr>
              <a:t>CPU</a:t>
            </a:r>
            <a:r>
              <a:rPr lang="zh-CN" altLang="en-US" dirty="0">
                <a:solidFill>
                  <a:schemeClr val="bg2"/>
                </a:solidFill>
                <a:effectLst>
                  <a:outerShdw blurRad="38100" dist="38100" dir="2700000" algn="tl">
                    <a:srgbClr val="000000">
                      <a:alpha val="43137"/>
                    </a:srgbClr>
                  </a:outerShdw>
                </a:effectLst>
              </a:rPr>
              <a:t>时间；</a:t>
            </a:r>
            <a:endParaRPr lang="en-US" altLang="zh-CN" dirty="0">
              <a:solidFill>
                <a:schemeClr val="bg2"/>
              </a:solidFill>
              <a:effectLst>
                <a:outerShdw blurRad="38100" dist="38100" dir="2700000" algn="tl">
                  <a:srgbClr val="000000">
                    <a:alpha val="43137"/>
                  </a:srgbClr>
                </a:outerShdw>
              </a:effectLst>
            </a:endParaRPr>
          </a:p>
          <a:p>
            <a:pPr marL="457200" indent="-457200" eaLnBrk="1" hangingPunct="1">
              <a:spcBef>
                <a:spcPct val="10000"/>
              </a:spcBef>
              <a:buClrTx/>
              <a:buSzPct val="80000"/>
              <a:buFont typeface="Wingdings" panose="05000000000000000000" pitchFamily="2" charset="2"/>
              <a:buChar char="n"/>
            </a:pPr>
            <a:r>
              <a:rPr lang="zh-CN" altLang="en-US" dirty="0">
                <a:solidFill>
                  <a:schemeClr val="accent3">
                    <a:lumMod val="50000"/>
                  </a:schemeClr>
                </a:solidFill>
                <a:effectLst>
                  <a:outerShdw blurRad="38100" dist="38100" dir="2700000" algn="tl">
                    <a:srgbClr val="000000">
                      <a:alpha val="43137"/>
                    </a:srgbClr>
                  </a:outerShdw>
                </a:effectLst>
              </a:rPr>
              <a:t>重定位方式：动态重定位</a:t>
            </a:r>
          </a:p>
        </p:txBody>
      </p:sp>
      <p:sp>
        <p:nvSpPr>
          <p:cNvPr id="9" name="TextBox 8"/>
          <p:cNvSpPr txBox="1">
            <a:spLocks noChangeArrowheads="1"/>
          </p:cNvSpPr>
          <p:nvPr/>
        </p:nvSpPr>
        <p:spPr bwMode="auto">
          <a:xfrm>
            <a:off x="0" y="2500313"/>
            <a:ext cx="8858250" cy="1531937"/>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solidFill>
                  <a:srgbClr val="FF0000"/>
                </a:solidFill>
                <a:effectLst>
                  <a:outerShdw blurRad="38100" dist="38100" dir="2700000" algn="tl">
                    <a:srgbClr val="000000">
                      <a:alpha val="43137"/>
                    </a:srgbClr>
                  </a:outerShdw>
                </a:effectLst>
              </a:rPr>
              <a:t>内存紧缩</a:t>
            </a:r>
            <a:r>
              <a:rPr lang="zh-CN" altLang="en-US" dirty="0">
                <a:solidFill>
                  <a:srgbClr val="FF0000"/>
                </a:solidFill>
              </a:rPr>
              <a:t>（</a:t>
            </a:r>
            <a:r>
              <a:rPr lang="en-US" altLang="zh-CN" dirty="0">
                <a:solidFill>
                  <a:srgbClr val="FF0000"/>
                </a:solidFill>
              </a:rPr>
              <a:t>Compaction</a:t>
            </a:r>
            <a:r>
              <a:rPr lang="zh-CN" altLang="en-US" dirty="0">
                <a:solidFill>
                  <a:srgbClr val="FF0000"/>
                </a:solidFill>
              </a:rPr>
              <a:t>）</a:t>
            </a:r>
          </a:p>
          <a:p>
            <a:pPr algn="ctr" eaLnBrk="1" hangingPunct="1">
              <a:spcBef>
                <a:spcPct val="10000"/>
              </a:spcBef>
              <a:buClrTx/>
              <a:buSzTx/>
              <a:buFontTx/>
              <a:buNone/>
            </a:pPr>
            <a:r>
              <a:rPr lang="zh-CN" altLang="en-US" sz="2800" dirty="0">
                <a:solidFill>
                  <a:schemeClr val="bg2"/>
                </a:solidFill>
                <a:effectLst>
                  <a:outerShdw blurRad="38100" dist="38100" dir="2700000" algn="tl">
                    <a:srgbClr val="000000">
                      <a:alpha val="43137"/>
                    </a:srgbClr>
                  </a:outerShdw>
                </a:effectLst>
              </a:rPr>
              <a:t>把所有的作业尽可能地往地址低端移动；</a:t>
            </a:r>
            <a:endParaRPr lang="en-US" altLang="zh-CN" sz="2800" dirty="0">
              <a:solidFill>
                <a:schemeClr val="bg2"/>
              </a:solidFill>
              <a:effectLst>
                <a:outerShdw blurRad="38100" dist="38100" dir="2700000" algn="tl">
                  <a:srgbClr val="000000">
                    <a:alpha val="43137"/>
                  </a:srgbClr>
                </a:outerShdw>
              </a:effectLst>
            </a:endParaRPr>
          </a:p>
          <a:p>
            <a:pPr eaLnBrk="1" hangingPunct="1">
              <a:spcBef>
                <a:spcPct val="10000"/>
              </a:spcBef>
              <a:buClrTx/>
              <a:buSzTx/>
              <a:buFontTx/>
              <a:buNone/>
            </a:pPr>
            <a:r>
              <a:rPr lang="zh-CN" altLang="en-US" sz="2800" dirty="0">
                <a:solidFill>
                  <a:schemeClr val="bg2"/>
                </a:solidFill>
                <a:effectLst>
                  <a:outerShdw blurRad="38100" dist="38100" dir="2700000" algn="tl">
                    <a:srgbClr val="000000">
                      <a:alpha val="43137"/>
                    </a:srgbClr>
                  </a:outerShdw>
                </a:effectLst>
              </a:rPr>
              <a:t>空闲的小分区往地址的高端移动，形成一个大的空闲区</a:t>
            </a:r>
            <a:r>
              <a:rPr lang="zh-CN" altLang="en-US" sz="2800" dirty="0">
                <a:solidFill>
                  <a:schemeClr val="bg2"/>
                </a:solidFill>
              </a:rPr>
              <a:t>。</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矩形 6">
            <a:extLst>
              <a:ext uri="{FF2B5EF4-FFF2-40B4-BE49-F238E27FC236}">
                <a16:creationId xmlns:a16="http://schemas.microsoft.com/office/drawing/2014/main" id="{1F6AA481-6B77-48D2-82EC-F635A7BA8D67}"/>
              </a:ext>
            </a:extLst>
          </p:cNvPr>
          <p:cNvSpPr/>
          <p:nvPr/>
        </p:nvSpPr>
        <p:spPr>
          <a:xfrm>
            <a:off x="333012" y="835354"/>
            <a:ext cx="8413232" cy="1569660"/>
          </a:xfrm>
          <a:prstGeom prst="rect">
            <a:avLst/>
          </a:prstGeom>
          <a:solidFill>
            <a:srgbClr val="C8D5F8"/>
          </a:solidFill>
        </p:spPr>
        <p:txBody>
          <a:bodyPr wrap="square">
            <a:spAutoFit/>
          </a:bodyPr>
          <a:lstStyle/>
          <a:p>
            <a:pPr algn="ctr" eaLnBrk="1" hangingPunct="1"/>
            <a:r>
              <a:rPr lang="zh-CN" altLang="en-US" dirty="0">
                <a:solidFill>
                  <a:srgbClr val="FF0000"/>
                </a:solidFill>
                <a:effectLst>
                  <a:outerShdw blurRad="38100" dist="38100" dir="2700000" algn="tl">
                    <a:srgbClr val="000000">
                      <a:alpha val="43137"/>
                    </a:srgbClr>
                  </a:outerShdw>
                </a:effectLst>
                <a:latin typeface="Times New Roman" panose="02020603050405020304" pitchFamily="18" charset="0"/>
              </a:rPr>
              <a:t>外碎片</a:t>
            </a:r>
          </a:p>
          <a:p>
            <a:pPr algn="ctr" eaLnBrk="1" hangingPunct="1"/>
            <a:r>
              <a:rPr lang="zh-CN" altLang="en-US" dirty="0">
                <a:solidFill>
                  <a:schemeClr val="bg2"/>
                </a:solidFill>
                <a:effectLst>
                  <a:outerShdw blurRad="38100" dist="38100" dir="2700000" algn="tl">
                    <a:srgbClr val="000000">
                      <a:alpha val="43137"/>
                    </a:srgbClr>
                  </a:outerShdw>
                </a:effectLst>
              </a:rPr>
              <a:t>经过一段时间的分配与回收后，</a:t>
            </a:r>
            <a:endParaRPr lang="en-US" altLang="zh-CN" dirty="0">
              <a:solidFill>
                <a:schemeClr val="bg2"/>
              </a:solidFill>
              <a:effectLst>
                <a:outerShdw blurRad="38100" dist="38100" dir="2700000" algn="tl">
                  <a:srgbClr val="000000">
                    <a:alpha val="43137"/>
                  </a:srgbClr>
                </a:outerShdw>
              </a:effectLst>
            </a:endParaRPr>
          </a:p>
          <a:p>
            <a:pPr algn="ctr" eaLnBrk="1" hangingPunct="1"/>
            <a:r>
              <a:rPr lang="zh-CN" altLang="en-US" dirty="0">
                <a:solidFill>
                  <a:schemeClr val="bg2"/>
                </a:solidFill>
                <a:effectLst>
                  <a:outerShdw blurRad="38100" dist="38100" dir="2700000" algn="tl">
                    <a:srgbClr val="000000">
                      <a:alpha val="43137"/>
                    </a:srgbClr>
                  </a:outerShdw>
                </a:effectLst>
              </a:rPr>
              <a:t>内存中存在着的不连续的很小的空闲分区</a:t>
            </a:r>
            <a:endParaRPr lang="en-US" altLang="zh-CN"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46692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linds(horizontal)">
                                      <p:cBhvr>
                                        <p:cTn id="17" dur="500"/>
                                        <p:tgtEl>
                                          <p:spTgt spid="4">
                                            <p:txEl>
                                              <p:pRg st="1" end="1"/>
                                            </p:txEl>
                                          </p:spTgt>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BCBE303-C8AD-44E2-A19E-256AF04F7198}"/>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5" name="矩形 4">
            <a:extLst>
              <a:ext uri="{FF2B5EF4-FFF2-40B4-BE49-F238E27FC236}">
                <a16:creationId xmlns:a16="http://schemas.microsoft.com/office/drawing/2014/main" id="{5DCD7E76-8B60-4AA4-AF09-100806340F41}"/>
              </a:ext>
            </a:extLst>
          </p:cNvPr>
          <p:cNvSpPr/>
          <p:nvPr/>
        </p:nvSpPr>
        <p:spPr>
          <a:xfrm>
            <a:off x="2937577" y="15032"/>
            <a:ext cx="3268845" cy="715581"/>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内存紧缩示例</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3" name="图片 2"/>
          <p:cNvPicPr>
            <a:picLocks noChangeAspect="1"/>
          </p:cNvPicPr>
          <p:nvPr/>
        </p:nvPicPr>
        <p:blipFill>
          <a:blip r:embed="rId2"/>
          <a:stretch>
            <a:fillRect/>
          </a:stretch>
        </p:blipFill>
        <p:spPr>
          <a:xfrm>
            <a:off x="1691680" y="1124744"/>
            <a:ext cx="2333625" cy="4762500"/>
          </a:xfrm>
          <a:prstGeom prst="rect">
            <a:avLst/>
          </a:prstGeom>
        </p:spPr>
      </p:pic>
      <p:pic>
        <p:nvPicPr>
          <p:cNvPr id="7" name="图片 6"/>
          <p:cNvPicPr>
            <a:picLocks noChangeAspect="1"/>
          </p:cNvPicPr>
          <p:nvPr/>
        </p:nvPicPr>
        <p:blipFill>
          <a:blip r:embed="rId3"/>
          <a:stretch>
            <a:fillRect/>
          </a:stretch>
        </p:blipFill>
        <p:spPr>
          <a:xfrm>
            <a:off x="4283968" y="3140968"/>
            <a:ext cx="1219200" cy="1038225"/>
          </a:xfrm>
          <a:prstGeom prst="rect">
            <a:avLst/>
          </a:prstGeom>
        </p:spPr>
      </p:pic>
      <p:pic>
        <p:nvPicPr>
          <p:cNvPr id="8" name="图片 7"/>
          <p:cNvPicPr>
            <a:picLocks noChangeAspect="1"/>
          </p:cNvPicPr>
          <p:nvPr/>
        </p:nvPicPr>
        <p:blipFill>
          <a:blip r:embed="rId4"/>
          <a:stretch>
            <a:fillRect/>
          </a:stretch>
        </p:blipFill>
        <p:spPr>
          <a:xfrm>
            <a:off x="5750246" y="1159613"/>
            <a:ext cx="2276475" cy="4848225"/>
          </a:xfrm>
          <a:prstGeom prst="rect">
            <a:avLst/>
          </a:prstGeom>
        </p:spPr>
      </p:pic>
    </p:spTree>
    <p:extLst>
      <p:ext uri="{BB962C8B-B14F-4D97-AF65-F5344CB8AC3E}">
        <p14:creationId xmlns:p14="http://schemas.microsoft.com/office/powerpoint/2010/main" val="300697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type="body" idx="1"/>
          </p:nvPr>
        </p:nvSpPr>
        <p:spPr>
          <a:xfrm>
            <a:off x="0" y="1143000"/>
            <a:ext cx="9144000" cy="4357688"/>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优点</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实现了多道程序设计。</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硬件支持少、管理算法简单、实现容易。</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缺点</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连续分配，作业的大小受分区大小控制，除非配合采用覆盖和交换技术。</a:t>
            </a:r>
            <a:endParaRPr lang="en-US" altLang="zh-CN" sz="3200" b="1" kern="1200" dirty="0">
              <a:solidFill>
                <a:schemeClr val="bg2"/>
              </a:solidFill>
              <a:latin typeface="+mj-lt"/>
              <a:ea typeface="楷体" panose="02010609060101010101" pitchFamily="49" charset="-122"/>
              <a:cs typeface="+mn-cs"/>
            </a:endParaRP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“碎片”问题。</a:t>
            </a:r>
          </a:p>
          <a:p>
            <a:pPr marL="812800" lvl="3" indent="-355600" defTabSz="355600">
              <a:lnSpc>
                <a:spcPct val="90000"/>
              </a:lnSpc>
              <a:spcBef>
                <a:spcPct val="0"/>
              </a:spcBef>
              <a:buClr>
                <a:schemeClr val="bg2"/>
              </a:buClr>
              <a:buSzPct val="80000"/>
              <a:buFont typeface="Wingdings" panose="05000000000000000000" pitchFamily="2" charset="2"/>
              <a:buChar char="n"/>
              <a:defRPr/>
            </a:pPr>
            <a:endParaRPr lang="zh-CN" altLang="en-US" sz="3200" b="1" kern="1200" dirty="0">
              <a:solidFill>
                <a:schemeClr val="bg2"/>
              </a:solidFill>
              <a:latin typeface="+mj-lt"/>
              <a:ea typeface="楷体" panose="02010609060101010101" pitchFamily="49" charset="-122"/>
              <a:cs typeface="+mn-cs"/>
            </a:endParaRPr>
          </a:p>
        </p:txBody>
      </p:sp>
      <p:sp>
        <p:nvSpPr>
          <p:cNvPr id="6" name="Rectangle 2"/>
          <p:cNvSpPr txBox="1">
            <a:spLocks noChangeArrowheads="1"/>
          </p:cNvSpPr>
          <p:nvPr/>
        </p:nvSpPr>
        <p:spPr bwMode="auto">
          <a:xfrm>
            <a:off x="785813" y="0"/>
            <a:ext cx="7958137" cy="836613"/>
          </a:xfrm>
          <a:prstGeom prst="rect">
            <a:avLst/>
          </a:prstGeom>
          <a:noFill/>
          <a:ln w="12700" cap="sq">
            <a:noFill/>
            <a:miter lim="800000"/>
            <a:headEnd type="none" w="sm" len="sm"/>
            <a:tailEnd type="none" w="sm" len="sm"/>
          </a:ln>
        </p:spPr>
        <p:txBody>
          <a:bodyPr anchor="ctr"/>
          <a:lstStyle/>
          <a:p>
            <a:pPr algn="ctr" eaLnBrk="1" hangingPunct="1">
              <a:defRPr/>
            </a:pPr>
            <a:r>
              <a:rPr lang="en-US" altLang="zh-CN"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7.3.4 </a:t>
            </a: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分区存储管理的分析</a:t>
            </a:r>
          </a:p>
        </p:txBody>
      </p:sp>
      <p:sp>
        <p:nvSpPr>
          <p:cNvPr id="7" name="AutoShape 7">
            <a:hlinkClick r:id="rId3" action="ppaction://hlinksldjump" highlightClick="1"/>
            <a:extLst>
              <a:ext uri="{FF2B5EF4-FFF2-40B4-BE49-F238E27FC236}">
                <a16:creationId xmlns:a16="http://schemas.microsoft.com/office/drawing/2014/main" id="{B3717D0E-0308-4D41-A12C-95D1B53C3658}"/>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7249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1811">
                                            <p:txEl>
                                              <p:pRg st="1" end="1"/>
                                            </p:txEl>
                                          </p:spTgt>
                                        </p:tgtEl>
                                        <p:attrNameLst>
                                          <p:attrName>style.visibility</p:attrName>
                                        </p:attrNameLst>
                                      </p:cBhvr>
                                      <p:to>
                                        <p:strVal val="visible"/>
                                      </p:to>
                                    </p:set>
                                    <p:animEffect transition="in" filter="fade">
                                      <p:cBhvr>
                                        <p:cTn id="7" dur="500"/>
                                        <p:tgtEl>
                                          <p:spTgt spid="63181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31811">
                                            <p:txEl>
                                              <p:pRg st="2" end="2"/>
                                            </p:txEl>
                                          </p:spTgt>
                                        </p:tgtEl>
                                        <p:attrNameLst>
                                          <p:attrName>style.visibility</p:attrName>
                                        </p:attrNameLst>
                                      </p:cBhvr>
                                      <p:to>
                                        <p:strVal val="visible"/>
                                      </p:to>
                                    </p:set>
                                    <p:animEffect transition="in" filter="fade">
                                      <p:cBhvr>
                                        <p:cTn id="10" dur="500"/>
                                        <p:tgtEl>
                                          <p:spTgt spid="63181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31811">
                                            <p:txEl>
                                              <p:pRg st="4" end="4"/>
                                            </p:txEl>
                                          </p:spTgt>
                                        </p:tgtEl>
                                        <p:attrNameLst>
                                          <p:attrName>style.visibility</p:attrName>
                                        </p:attrNameLst>
                                      </p:cBhvr>
                                      <p:to>
                                        <p:strVal val="visible"/>
                                      </p:to>
                                    </p:set>
                                    <p:animEffect transition="in" filter="fade">
                                      <p:cBhvr>
                                        <p:cTn id="15" dur="1000"/>
                                        <p:tgtEl>
                                          <p:spTgt spid="631811">
                                            <p:txEl>
                                              <p:pRg st="4" end="4"/>
                                            </p:txEl>
                                          </p:spTgt>
                                        </p:tgtEl>
                                      </p:cBhvr>
                                    </p:animEffect>
                                    <p:anim calcmode="lin" valueType="num">
                                      <p:cBhvr>
                                        <p:cTn id="16" dur="1000" fill="hold"/>
                                        <p:tgtEl>
                                          <p:spTgt spid="631811">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631811">
                                            <p:txEl>
                                              <p:pRg st="4" end="4"/>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631811">
                                            <p:txEl>
                                              <p:pRg st="5" end="5"/>
                                            </p:txEl>
                                          </p:spTgt>
                                        </p:tgtEl>
                                        <p:attrNameLst>
                                          <p:attrName>style.visibility</p:attrName>
                                        </p:attrNameLst>
                                      </p:cBhvr>
                                      <p:to>
                                        <p:strVal val="visible"/>
                                      </p:to>
                                    </p:set>
                                    <p:animEffect transition="in" filter="fade">
                                      <p:cBhvr>
                                        <p:cTn id="20" dur="1000"/>
                                        <p:tgtEl>
                                          <p:spTgt spid="631811">
                                            <p:txEl>
                                              <p:pRg st="5" end="5"/>
                                            </p:txEl>
                                          </p:spTgt>
                                        </p:tgtEl>
                                      </p:cBhvr>
                                    </p:animEffect>
                                    <p:anim calcmode="lin" valueType="num">
                                      <p:cBhvr>
                                        <p:cTn id="21" dur="1000" fill="hold"/>
                                        <p:tgtEl>
                                          <p:spTgt spid="631811">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631811">
                                            <p:txEl>
                                              <p:pRg st="5" end="5"/>
                                            </p:txEl>
                                          </p:spTgt>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hlinkClick r:id="rId3" action="ppaction://hlinksldjump"/>
            <a:extLst>
              <a:ext uri="{FF2B5EF4-FFF2-40B4-BE49-F238E27FC236}">
                <a16:creationId xmlns:a16="http://schemas.microsoft.com/office/drawing/2014/main" id="{35198881-A9DD-48FC-8CBA-B7D847372034}"/>
              </a:ext>
            </a:extLst>
          </p:cNvPr>
          <p:cNvSpPr/>
          <p:nvPr/>
        </p:nvSpPr>
        <p:spPr>
          <a:xfrm>
            <a:off x="3079079" y="44624"/>
            <a:ext cx="2985841" cy="835613"/>
          </a:xfrm>
          <a:prstGeom prst="rect">
            <a:avLst/>
          </a:prstGeom>
        </p:spPr>
        <p:txBody>
          <a:bodyPr wrap="square">
            <a:spAutoFit/>
          </a:bodyPr>
          <a:lstStyle/>
          <a:p>
            <a:pPr marL="457200" indent="-457200" algn="ctr">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7.4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分  段</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28" name="文本框 4">
            <a:extLst>
              <a:ext uri="{FF2B5EF4-FFF2-40B4-BE49-F238E27FC236}">
                <a16:creationId xmlns:a16="http://schemas.microsoft.com/office/drawing/2014/main" id="{15333BDC-53A4-4F91-B089-D57D772BBBE8}"/>
              </a:ext>
            </a:extLst>
          </p:cNvPr>
          <p:cNvSpPr txBox="1">
            <a:spLocks noChangeArrowheads="1"/>
          </p:cNvSpPr>
          <p:nvPr/>
        </p:nvSpPr>
        <p:spPr bwMode="auto">
          <a:xfrm>
            <a:off x="0" y="4498936"/>
            <a:ext cx="9127244" cy="1077218"/>
          </a:xfrm>
          <a:prstGeom prst="rect">
            <a:avLst/>
          </a:prstGeom>
          <a:solidFill>
            <a:srgbClr val="FFFF00"/>
          </a:solidFill>
          <a:ln>
            <a:noFill/>
          </a:ln>
          <a:extLst/>
        </p:spPr>
        <p:txBody>
          <a:bodyPr wrap="square" lIns="0" r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dirty="0">
                <a:solidFill>
                  <a:schemeClr val="bg2"/>
                </a:solidFill>
                <a:effectLst>
                  <a:outerShdw blurRad="38100" dist="38100" dir="2700000" algn="tl">
                    <a:srgbClr val="000000">
                      <a:alpha val="43137"/>
                    </a:srgbClr>
                  </a:outerShdw>
                </a:effectLst>
              </a:rPr>
              <a:t>存粹的分段系统越来越少，分段与分页结合起来，大多数存储管理问题都是关于分页方面的。</a:t>
            </a:r>
          </a:p>
        </p:txBody>
      </p:sp>
      <p:sp>
        <p:nvSpPr>
          <p:cNvPr id="7" name="Rectangle 3">
            <a:extLst>
              <a:ext uri="{FF2B5EF4-FFF2-40B4-BE49-F238E27FC236}">
                <a16:creationId xmlns:a16="http://schemas.microsoft.com/office/drawing/2014/main" id="{843ABCAA-7C38-48D3-B8E1-E0A7567D4D98}"/>
              </a:ext>
            </a:extLst>
          </p:cNvPr>
          <p:cNvSpPr txBox="1">
            <a:spLocks noChangeArrowheads="1"/>
          </p:cNvSpPr>
          <p:nvPr/>
        </p:nvSpPr>
        <p:spPr bwMode="auto">
          <a:xfrm>
            <a:off x="215105" y="1259960"/>
            <a:ext cx="8713787" cy="2462649"/>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连续分配</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作业必须存放在一段连续的内存区域</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作业的大小仍受分区大小的限制、碎片</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离散分配</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latin typeface="+mj-lt"/>
                <a:ea typeface="楷体" panose="02010609060101010101" pitchFamily="49" charset="-122"/>
              </a:rPr>
              <a:t>分段、分页、段页技术</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9"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8605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1000"/>
                                        <p:tgtEl>
                                          <p:spTgt spid="128"/>
                                        </p:tgtEl>
                                      </p:cBhvr>
                                    </p:animEffect>
                                    <p:anim calcmode="lin" valueType="num">
                                      <p:cBhvr>
                                        <p:cTn id="8" dur="1000" fill="hold"/>
                                        <p:tgtEl>
                                          <p:spTgt spid="128"/>
                                        </p:tgtEl>
                                        <p:attrNameLst>
                                          <p:attrName>ppt_x</p:attrName>
                                        </p:attrNameLst>
                                      </p:cBhvr>
                                      <p:tavLst>
                                        <p:tav tm="0">
                                          <p:val>
                                            <p:strVal val="#ppt_x"/>
                                          </p:val>
                                        </p:tav>
                                        <p:tav tm="100000">
                                          <p:val>
                                            <p:strVal val="#ppt_x"/>
                                          </p:val>
                                        </p:tav>
                                      </p:tavLst>
                                    </p:anim>
                                    <p:anim calcmode="lin" valueType="num">
                                      <p:cBhvr>
                                        <p:cTn id="9" dur="1000" fill="hold"/>
                                        <p:tgtEl>
                                          <p:spTgt spid="12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403C8791-8936-4D4D-BC44-27956EE5B181}"/>
              </a:ext>
            </a:extLst>
          </p:cNvPr>
          <p:cNvSpPr>
            <a:spLocks noChangeArrowheads="1"/>
          </p:cNvSpPr>
          <p:nvPr/>
        </p:nvSpPr>
        <p:spPr bwMode="auto">
          <a:xfrm>
            <a:off x="114298" y="977901"/>
            <a:ext cx="9029701"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0" indent="0">
              <a:spcBef>
                <a:spcPts val="600"/>
              </a:spcBef>
              <a:buNone/>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程序由若干部分</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段</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组成，每个段有各自的特点、用途</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p:txBody>
      </p:sp>
      <p:grpSp>
        <p:nvGrpSpPr>
          <p:cNvPr id="7" name="Group 53">
            <a:extLst>
              <a:ext uri="{FF2B5EF4-FFF2-40B4-BE49-F238E27FC236}">
                <a16:creationId xmlns:a16="http://schemas.microsoft.com/office/drawing/2014/main" id="{56D7E050-2264-4F9A-BB92-68E3F5C8E18D}"/>
              </a:ext>
            </a:extLst>
          </p:cNvPr>
          <p:cNvGrpSpPr>
            <a:grpSpLocks/>
          </p:cNvGrpSpPr>
          <p:nvPr/>
        </p:nvGrpSpPr>
        <p:grpSpPr bwMode="auto">
          <a:xfrm>
            <a:off x="228600" y="2133600"/>
            <a:ext cx="8839200" cy="2590800"/>
            <a:chOff x="144" y="1344"/>
            <a:chExt cx="5568" cy="1632"/>
          </a:xfrm>
        </p:grpSpPr>
        <p:grpSp>
          <p:nvGrpSpPr>
            <p:cNvPr id="8" name="Group 51">
              <a:extLst>
                <a:ext uri="{FF2B5EF4-FFF2-40B4-BE49-F238E27FC236}">
                  <a16:creationId xmlns:a16="http://schemas.microsoft.com/office/drawing/2014/main" id="{8BA73DED-ECDC-49A8-8A71-B5C67E929DBE}"/>
                </a:ext>
              </a:extLst>
            </p:cNvPr>
            <p:cNvGrpSpPr>
              <a:grpSpLocks/>
            </p:cNvGrpSpPr>
            <p:nvPr/>
          </p:nvGrpSpPr>
          <p:grpSpPr bwMode="auto">
            <a:xfrm>
              <a:off x="144" y="1344"/>
              <a:ext cx="5568" cy="1296"/>
              <a:chOff x="144" y="1344"/>
              <a:chExt cx="5568" cy="1296"/>
            </a:xfrm>
          </p:grpSpPr>
          <p:sp>
            <p:nvSpPr>
              <p:cNvPr id="10" name="Rectangle 38">
                <a:extLst>
                  <a:ext uri="{FF2B5EF4-FFF2-40B4-BE49-F238E27FC236}">
                    <a16:creationId xmlns:a16="http://schemas.microsoft.com/office/drawing/2014/main" id="{FE17C854-978A-426B-B2E7-C01CCBB5BB36}"/>
                  </a:ext>
                </a:extLst>
              </p:cNvPr>
              <p:cNvSpPr>
                <a:spLocks noChangeArrowheads="1"/>
              </p:cNvSpPr>
              <p:nvPr/>
            </p:nvSpPr>
            <p:spPr bwMode="auto">
              <a:xfrm>
                <a:off x="411" y="1488"/>
                <a:ext cx="864" cy="960"/>
              </a:xfrm>
              <a:prstGeom prst="rect">
                <a:avLst/>
              </a:prstGeom>
              <a:solidFill>
                <a:schemeClr val="tx1">
                  <a:lumMod val="85000"/>
                </a:schemeClr>
              </a:solidFill>
              <a:ln w="19050">
                <a:solidFill>
                  <a:schemeClr val="accent2">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39">
                <a:extLst>
                  <a:ext uri="{FF2B5EF4-FFF2-40B4-BE49-F238E27FC236}">
                    <a16:creationId xmlns:a16="http://schemas.microsoft.com/office/drawing/2014/main" id="{052E7B31-AD15-4367-BB7B-1723EB95A5E8}"/>
                  </a:ext>
                </a:extLst>
              </p:cNvPr>
              <p:cNvSpPr txBox="1">
                <a:spLocks noChangeArrowheads="1"/>
              </p:cNvSpPr>
              <p:nvPr/>
            </p:nvSpPr>
            <p:spPr bwMode="auto">
              <a:xfrm>
                <a:off x="480" y="1584"/>
                <a:ext cx="7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chemeClr val="bg2"/>
                    </a:solidFill>
                    <a:latin typeface="+mn-lt"/>
                  </a:rPr>
                  <a:t>主程序</a:t>
                </a:r>
              </a:p>
              <a:p>
                <a:pPr algn="ctr"/>
                <a:r>
                  <a:rPr lang="en-US" altLang="zh-CN" sz="2400" b="1" dirty="0">
                    <a:solidFill>
                      <a:schemeClr val="bg2"/>
                    </a:solidFill>
                    <a:latin typeface="+mn-lt"/>
                  </a:rPr>
                  <a:t>main</a:t>
                </a:r>
              </a:p>
            </p:txBody>
          </p:sp>
          <p:sp>
            <p:nvSpPr>
              <p:cNvPr id="12" name="Rectangle 40">
                <a:extLst>
                  <a:ext uri="{FF2B5EF4-FFF2-40B4-BE49-F238E27FC236}">
                    <a16:creationId xmlns:a16="http://schemas.microsoft.com/office/drawing/2014/main" id="{58420C62-5FFB-4CCE-9523-8F3B3E2AA425}"/>
                  </a:ext>
                </a:extLst>
              </p:cNvPr>
              <p:cNvSpPr>
                <a:spLocks noChangeArrowheads="1"/>
              </p:cNvSpPr>
              <p:nvPr/>
            </p:nvSpPr>
            <p:spPr bwMode="auto">
              <a:xfrm>
                <a:off x="2640" y="1488"/>
                <a:ext cx="768" cy="672"/>
              </a:xfrm>
              <a:prstGeom prst="rect">
                <a:avLst/>
              </a:prstGeom>
              <a:solidFill>
                <a:schemeClr val="tx1">
                  <a:lumMod val="85000"/>
                </a:schemeClr>
              </a:solidFill>
              <a:ln w="19050">
                <a:solidFill>
                  <a:schemeClr val="accent2">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41">
                <a:extLst>
                  <a:ext uri="{FF2B5EF4-FFF2-40B4-BE49-F238E27FC236}">
                    <a16:creationId xmlns:a16="http://schemas.microsoft.com/office/drawing/2014/main" id="{938FCC3A-2755-4B5A-881E-54A17E67CA07}"/>
                  </a:ext>
                </a:extLst>
              </p:cNvPr>
              <p:cNvSpPr txBox="1">
                <a:spLocks noChangeArrowheads="1"/>
              </p:cNvSpPr>
              <p:nvPr/>
            </p:nvSpPr>
            <p:spPr bwMode="auto">
              <a:xfrm>
                <a:off x="2688" y="1536"/>
                <a:ext cx="7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dirty="0">
                    <a:solidFill>
                      <a:schemeClr val="bg2"/>
                    </a:solidFill>
                    <a:latin typeface="+mn-lt"/>
                  </a:rPr>
                  <a:t>函数库</a:t>
                </a:r>
              </a:p>
              <a:p>
                <a:pPr algn="ctr"/>
                <a:r>
                  <a:rPr lang="en-US" altLang="zh-CN" sz="2400" dirty="0">
                    <a:solidFill>
                      <a:schemeClr val="bg2"/>
                    </a:solidFill>
                    <a:latin typeface="+mn-lt"/>
                  </a:rPr>
                  <a:t>sin</a:t>
                </a:r>
              </a:p>
            </p:txBody>
          </p:sp>
          <p:sp>
            <p:nvSpPr>
              <p:cNvPr id="14" name="Rectangle 42">
                <a:extLst>
                  <a:ext uri="{FF2B5EF4-FFF2-40B4-BE49-F238E27FC236}">
                    <a16:creationId xmlns:a16="http://schemas.microsoft.com/office/drawing/2014/main" id="{8615B962-854F-4EFB-86DD-42D609028C31}"/>
                  </a:ext>
                </a:extLst>
              </p:cNvPr>
              <p:cNvSpPr>
                <a:spLocks noChangeArrowheads="1"/>
              </p:cNvSpPr>
              <p:nvPr/>
            </p:nvSpPr>
            <p:spPr bwMode="auto">
              <a:xfrm>
                <a:off x="4848" y="1488"/>
                <a:ext cx="768" cy="768"/>
              </a:xfrm>
              <a:prstGeom prst="rect">
                <a:avLst/>
              </a:prstGeom>
              <a:solidFill>
                <a:schemeClr val="tx1">
                  <a:lumMod val="85000"/>
                </a:schemeClr>
              </a:solidFill>
              <a:ln w="19050">
                <a:solidFill>
                  <a:schemeClr val="accent2">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43">
                <a:extLst>
                  <a:ext uri="{FF2B5EF4-FFF2-40B4-BE49-F238E27FC236}">
                    <a16:creationId xmlns:a16="http://schemas.microsoft.com/office/drawing/2014/main" id="{A12B8A4F-8C10-407E-ACF6-6C34D4053A54}"/>
                  </a:ext>
                </a:extLst>
              </p:cNvPr>
              <p:cNvSpPr txBox="1">
                <a:spLocks noChangeArrowheads="1"/>
              </p:cNvSpPr>
              <p:nvPr/>
            </p:nvSpPr>
            <p:spPr bwMode="auto">
              <a:xfrm>
                <a:off x="4896" y="1536"/>
                <a:ext cx="7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dirty="0">
                    <a:solidFill>
                      <a:schemeClr val="bg2"/>
                    </a:solidFill>
                    <a:latin typeface="+mn-lt"/>
                  </a:rPr>
                  <a:t>栈</a:t>
                </a:r>
              </a:p>
              <a:p>
                <a:pPr algn="ctr"/>
                <a:r>
                  <a:rPr lang="en-US" altLang="zh-CN" sz="2400" dirty="0">
                    <a:solidFill>
                      <a:schemeClr val="bg2"/>
                    </a:solidFill>
                    <a:latin typeface="+mn-lt"/>
                  </a:rPr>
                  <a:t>stack</a:t>
                </a:r>
              </a:p>
            </p:txBody>
          </p:sp>
          <p:sp>
            <p:nvSpPr>
              <p:cNvPr id="16" name="Rectangle 44">
                <a:extLst>
                  <a:ext uri="{FF2B5EF4-FFF2-40B4-BE49-F238E27FC236}">
                    <a16:creationId xmlns:a16="http://schemas.microsoft.com/office/drawing/2014/main" id="{F5183A2E-2E63-490E-AE24-8CBB4FD5AF46}"/>
                  </a:ext>
                </a:extLst>
              </p:cNvPr>
              <p:cNvSpPr>
                <a:spLocks noChangeArrowheads="1"/>
              </p:cNvSpPr>
              <p:nvPr/>
            </p:nvSpPr>
            <p:spPr bwMode="auto">
              <a:xfrm>
                <a:off x="3744" y="1488"/>
                <a:ext cx="768" cy="816"/>
              </a:xfrm>
              <a:prstGeom prst="rect">
                <a:avLst/>
              </a:prstGeom>
              <a:solidFill>
                <a:schemeClr val="tx1">
                  <a:lumMod val="85000"/>
                </a:schemeClr>
              </a:solidFill>
              <a:ln w="19050">
                <a:solidFill>
                  <a:schemeClr val="accent2">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45">
                <a:extLst>
                  <a:ext uri="{FF2B5EF4-FFF2-40B4-BE49-F238E27FC236}">
                    <a16:creationId xmlns:a16="http://schemas.microsoft.com/office/drawing/2014/main" id="{B7C70C55-5B85-43D9-BA12-4ECEE84A1E21}"/>
                  </a:ext>
                </a:extLst>
              </p:cNvPr>
              <p:cNvSpPr txBox="1">
                <a:spLocks noChangeArrowheads="1"/>
              </p:cNvSpPr>
              <p:nvPr/>
            </p:nvSpPr>
            <p:spPr bwMode="auto">
              <a:xfrm>
                <a:off x="3648" y="1584"/>
                <a:ext cx="96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dirty="0">
                    <a:solidFill>
                      <a:schemeClr val="bg2"/>
                    </a:solidFill>
                    <a:latin typeface="+mn-lt"/>
                  </a:rPr>
                  <a:t>数组</a:t>
                </a:r>
              </a:p>
              <a:p>
                <a:pPr algn="ctr"/>
                <a:r>
                  <a:rPr lang="en-US" altLang="zh-CN" sz="2400" dirty="0">
                    <a:solidFill>
                      <a:schemeClr val="bg2"/>
                    </a:solidFill>
                    <a:latin typeface="+mn-lt"/>
                  </a:rPr>
                  <a:t>array</a:t>
                </a:r>
              </a:p>
            </p:txBody>
          </p:sp>
          <p:sp>
            <p:nvSpPr>
              <p:cNvPr id="18" name="Rectangle 46">
                <a:extLst>
                  <a:ext uri="{FF2B5EF4-FFF2-40B4-BE49-F238E27FC236}">
                    <a16:creationId xmlns:a16="http://schemas.microsoft.com/office/drawing/2014/main" id="{813DD68D-8767-44D5-9C06-A84924FEA8D9}"/>
                  </a:ext>
                </a:extLst>
              </p:cNvPr>
              <p:cNvSpPr>
                <a:spLocks noChangeArrowheads="1"/>
              </p:cNvSpPr>
              <p:nvPr/>
            </p:nvSpPr>
            <p:spPr bwMode="auto">
              <a:xfrm>
                <a:off x="1584" y="1488"/>
                <a:ext cx="768" cy="768"/>
              </a:xfrm>
              <a:prstGeom prst="rect">
                <a:avLst/>
              </a:prstGeom>
              <a:solidFill>
                <a:schemeClr val="tx1">
                  <a:lumMod val="85000"/>
                </a:schemeClr>
              </a:solidFill>
              <a:ln w="19050">
                <a:solidFill>
                  <a:schemeClr val="accent2">
                    <a:lumMod val="7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Text Box 47">
                <a:extLst>
                  <a:ext uri="{FF2B5EF4-FFF2-40B4-BE49-F238E27FC236}">
                    <a16:creationId xmlns:a16="http://schemas.microsoft.com/office/drawing/2014/main" id="{5E8795C5-3450-46B5-A5AE-BA8F1F5940E1}"/>
                  </a:ext>
                </a:extLst>
              </p:cNvPr>
              <p:cNvSpPr txBox="1">
                <a:spLocks noChangeArrowheads="1"/>
              </p:cNvSpPr>
              <p:nvPr/>
            </p:nvSpPr>
            <p:spPr bwMode="auto">
              <a:xfrm>
                <a:off x="1632" y="1536"/>
                <a:ext cx="72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dirty="0">
                    <a:solidFill>
                      <a:schemeClr val="bg2"/>
                    </a:solidFill>
                    <a:latin typeface="+mn-lt"/>
                  </a:rPr>
                  <a:t>变量集</a:t>
                </a:r>
              </a:p>
              <a:p>
                <a:pPr algn="ctr"/>
                <a:r>
                  <a:rPr lang="en-US" altLang="zh-CN" sz="2400" dirty="0">
                    <a:solidFill>
                      <a:schemeClr val="bg2"/>
                    </a:solidFill>
                    <a:latin typeface="+mn-lt"/>
                  </a:rPr>
                  <a:t>data</a:t>
                </a:r>
              </a:p>
            </p:txBody>
          </p:sp>
          <p:sp>
            <p:nvSpPr>
              <p:cNvPr id="20" name="AutoShape 50">
                <a:extLst>
                  <a:ext uri="{FF2B5EF4-FFF2-40B4-BE49-F238E27FC236}">
                    <a16:creationId xmlns:a16="http://schemas.microsoft.com/office/drawing/2014/main" id="{CED6A4B2-828C-4024-A26A-1919D783A1F7}"/>
                  </a:ext>
                </a:extLst>
              </p:cNvPr>
              <p:cNvSpPr>
                <a:spLocks noChangeArrowheads="1"/>
              </p:cNvSpPr>
              <p:nvPr/>
            </p:nvSpPr>
            <p:spPr bwMode="auto">
              <a:xfrm>
                <a:off x="144" y="1344"/>
                <a:ext cx="5568" cy="1296"/>
              </a:xfrm>
              <a:prstGeom prst="roundRect">
                <a:avLst>
                  <a:gd name="adj" fmla="val 16667"/>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 name="Text Box 52">
              <a:extLst>
                <a:ext uri="{FF2B5EF4-FFF2-40B4-BE49-F238E27FC236}">
                  <a16:creationId xmlns:a16="http://schemas.microsoft.com/office/drawing/2014/main" id="{CBD3F7AE-ABDA-4884-ACD1-836C81FA70D6}"/>
                </a:ext>
              </a:extLst>
            </p:cNvPr>
            <p:cNvSpPr txBox="1">
              <a:spLocks noChangeArrowheads="1"/>
            </p:cNvSpPr>
            <p:nvPr/>
          </p:nvSpPr>
          <p:spPr bwMode="auto">
            <a:xfrm>
              <a:off x="1776" y="2688"/>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chemeClr val="bg2"/>
                  </a:solidFill>
                </a:rPr>
                <a:t>程序员眼中的一个程序</a:t>
              </a:r>
            </a:p>
          </p:txBody>
        </p:sp>
      </p:grpSp>
      <p:sp>
        <p:nvSpPr>
          <p:cNvPr id="21" name="Rectangle 55">
            <a:extLst>
              <a:ext uri="{FF2B5EF4-FFF2-40B4-BE49-F238E27FC236}">
                <a16:creationId xmlns:a16="http://schemas.microsoft.com/office/drawing/2014/main" id="{1C26EF88-41C9-43DD-BAF0-B3AA6690F159}"/>
              </a:ext>
            </a:extLst>
          </p:cNvPr>
          <p:cNvSpPr>
            <a:spLocks noChangeArrowheads="1"/>
          </p:cNvSpPr>
          <p:nvPr/>
        </p:nvSpPr>
        <p:spPr bwMode="auto">
          <a:xfrm>
            <a:off x="1167245" y="4878105"/>
            <a:ext cx="7696200" cy="7005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spcBef>
                <a:spcPct val="0"/>
              </a:spcBef>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程序中逻辑地址</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 &lt;</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段号</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段内偏移</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&gt;</a:t>
            </a:r>
          </a:p>
        </p:txBody>
      </p:sp>
      <p:grpSp>
        <p:nvGrpSpPr>
          <p:cNvPr id="22" name="Group 80">
            <a:extLst>
              <a:ext uri="{FF2B5EF4-FFF2-40B4-BE49-F238E27FC236}">
                <a16:creationId xmlns:a16="http://schemas.microsoft.com/office/drawing/2014/main" id="{E529F287-702F-4237-BF07-C39DE9ED2FF8}"/>
              </a:ext>
            </a:extLst>
          </p:cNvPr>
          <p:cNvGrpSpPr>
            <a:grpSpLocks/>
          </p:cNvGrpSpPr>
          <p:nvPr/>
        </p:nvGrpSpPr>
        <p:grpSpPr bwMode="auto">
          <a:xfrm>
            <a:off x="290512" y="2286001"/>
            <a:ext cx="7481888" cy="914400"/>
            <a:chOff x="174" y="1440"/>
            <a:chExt cx="4713" cy="576"/>
          </a:xfrm>
        </p:grpSpPr>
        <p:grpSp>
          <p:nvGrpSpPr>
            <p:cNvPr id="23" name="Group 63">
              <a:extLst>
                <a:ext uri="{FF2B5EF4-FFF2-40B4-BE49-F238E27FC236}">
                  <a16:creationId xmlns:a16="http://schemas.microsoft.com/office/drawing/2014/main" id="{12CFF772-8C30-47A0-9895-5F55EEA5ED1C}"/>
                </a:ext>
              </a:extLst>
            </p:cNvPr>
            <p:cNvGrpSpPr>
              <a:grpSpLocks/>
            </p:cNvGrpSpPr>
            <p:nvPr/>
          </p:nvGrpSpPr>
          <p:grpSpPr bwMode="auto">
            <a:xfrm>
              <a:off x="174" y="1440"/>
              <a:ext cx="258" cy="576"/>
              <a:chOff x="174" y="1440"/>
              <a:chExt cx="258" cy="576"/>
            </a:xfrm>
          </p:grpSpPr>
          <p:sp>
            <p:nvSpPr>
              <p:cNvPr id="40" name="Line 60">
                <a:extLst>
                  <a:ext uri="{FF2B5EF4-FFF2-40B4-BE49-F238E27FC236}">
                    <a16:creationId xmlns:a16="http://schemas.microsoft.com/office/drawing/2014/main" id="{1BA6FA67-4A22-4CA4-BA34-77B79D3FB09C}"/>
                  </a:ext>
                </a:extLst>
              </p:cNvPr>
              <p:cNvSpPr>
                <a:spLocks noChangeShapeType="1"/>
              </p:cNvSpPr>
              <p:nvPr/>
            </p:nvSpPr>
            <p:spPr bwMode="auto">
              <a:xfrm>
                <a:off x="288" y="1488"/>
                <a:ext cx="144" cy="0"/>
              </a:xfrm>
              <a:prstGeom prst="line">
                <a:avLst/>
              </a:prstGeom>
              <a:noFill/>
              <a:ln w="28575">
                <a:solidFill>
                  <a:schemeClr val="accent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61">
                <a:extLst>
                  <a:ext uri="{FF2B5EF4-FFF2-40B4-BE49-F238E27FC236}">
                    <a16:creationId xmlns:a16="http://schemas.microsoft.com/office/drawing/2014/main" id="{D8A94027-1855-4DBA-9105-DD1922C78756}"/>
                  </a:ext>
                </a:extLst>
              </p:cNvPr>
              <p:cNvSpPr>
                <a:spLocks noChangeShapeType="1"/>
              </p:cNvSpPr>
              <p:nvPr/>
            </p:nvSpPr>
            <p:spPr bwMode="auto">
              <a:xfrm>
                <a:off x="336" y="1488"/>
                <a:ext cx="0" cy="528"/>
              </a:xfrm>
              <a:prstGeom prst="line">
                <a:avLst/>
              </a:prstGeom>
              <a:noFill/>
              <a:ln w="28575">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62">
                <a:extLst>
                  <a:ext uri="{FF2B5EF4-FFF2-40B4-BE49-F238E27FC236}">
                    <a16:creationId xmlns:a16="http://schemas.microsoft.com/office/drawing/2014/main" id="{0C658E92-31B2-4D19-A82F-72B050C3089A}"/>
                  </a:ext>
                </a:extLst>
              </p:cNvPr>
              <p:cNvSpPr txBox="1">
                <a:spLocks noChangeArrowheads="1"/>
              </p:cNvSpPr>
              <p:nvPr/>
            </p:nvSpPr>
            <p:spPr bwMode="auto">
              <a:xfrm>
                <a:off x="174" y="144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accent2">
                        <a:lumMod val="50000"/>
                      </a:schemeClr>
                    </a:solidFill>
                  </a:rPr>
                  <a:t>0</a:t>
                </a:r>
              </a:p>
            </p:txBody>
          </p:sp>
        </p:grpSp>
        <p:grpSp>
          <p:nvGrpSpPr>
            <p:cNvPr id="24" name="Group 64">
              <a:extLst>
                <a:ext uri="{FF2B5EF4-FFF2-40B4-BE49-F238E27FC236}">
                  <a16:creationId xmlns:a16="http://schemas.microsoft.com/office/drawing/2014/main" id="{0D400067-86EC-477A-A74C-D1A9E6B1EB42}"/>
                </a:ext>
              </a:extLst>
            </p:cNvPr>
            <p:cNvGrpSpPr>
              <a:grpSpLocks/>
            </p:cNvGrpSpPr>
            <p:nvPr/>
          </p:nvGrpSpPr>
          <p:grpSpPr bwMode="auto">
            <a:xfrm>
              <a:off x="1374" y="1440"/>
              <a:ext cx="258" cy="576"/>
              <a:chOff x="174" y="1440"/>
              <a:chExt cx="258" cy="576"/>
            </a:xfrm>
          </p:grpSpPr>
          <p:sp>
            <p:nvSpPr>
              <p:cNvPr id="37" name="Line 65">
                <a:extLst>
                  <a:ext uri="{FF2B5EF4-FFF2-40B4-BE49-F238E27FC236}">
                    <a16:creationId xmlns:a16="http://schemas.microsoft.com/office/drawing/2014/main" id="{D9EB986F-C81E-417A-86AA-C46E5388A139}"/>
                  </a:ext>
                </a:extLst>
              </p:cNvPr>
              <p:cNvSpPr>
                <a:spLocks noChangeShapeType="1"/>
              </p:cNvSpPr>
              <p:nvPr/>
            </p:nvSpPr>
            <p:spPr bwMode="auto">
              <a:xfrm>
                <a:off x="288" y="1488"/>
                <a:ext cx="144" cy="0"/>
              </a:xfrm>
              <a:prstGeom prst="line">
                <a:avLst/>
              </a:prstGeom>
              <a:noFill/>
              <a:ln w="28575">
                <a:solidFill>
                  <a:schemeClr val="accent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66">
                <a:extLst>
                  <a:ext uri="{FF2B5EF4-FFF2-40B4-BE49-F238E27FC236}">
                    <a16:creationId xmlns:a16="http://schemas.microsoft.com/office/drawing/2014/main" id="{7D2839F3-F820-435D-B51C-A96CE80A9D4D}"/>
                  </a:ext>
                </a:extLst>
              </p:cNvPr>
              <p:cNvSpPr>
                <a:spLocks noChangeShapeType="1"/>
              </p:cNvSpPr>
              <p:nvPr/>
            </p:nvSpPr>
            <p:spPr bwMode="auto">
              <a:xfrm>
                <a:off x="336" y="1488"/>
                <a:ext cx="0" cy="528"/>
              </a:xfrm>
              <a:prstGeom prst="line">
                <a:avLst/>
              </a:prstGeom>
              <a:noFill/>
              <a:ln w="28575">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Text Box 67">
                <a:extLst>
                  <a:ext uri="{FF2B5EF4-FFF2-40B4-BE49-F238E27FC236}">
                    <a16:creationId xmlns:a16="http://schemas.microsoft.com/office/drawing/2014/main" id="{E2A9AC3C-B338-4A8A-B8AC-B857AE2AA262}"/>
                  </a:ext>
                </a:extLst>
              </p:cNvPr>
              <p:cNvSpPr txBox="1">
                <a:spLocks noChangeArrowheads="1"/>
              </p:cNvSpPr>
              <p:nvPr/>
            </p:nvSpPr>
            <p:spPr bwMode="auto">
              <a:xfrm>
                <a:off x="174" y="144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solidFill>
                      <a:schemeClr val="accent2">
                        <a:lumMod val="50000"/>
                      </a:schemeClr>
                    </a:solidFill>
                  </a:rPr>
                  <a:t>0</a:t>
                </a:r>
              </a:p>
            </p:txBody>
          </p:sp>
        </p:grpSp>
        <p:grpSp>
          <p:nvGrpSpPr>
            <p:cNvPr id="25" name="Group 68">
              <a:extLst>
                <a:ext uri="{FF2B5EF4-FFF2-40B4-BE49-F238E27FC236}">
                  <a16:creationId xmlns:a16="http://schemas.microsoft.com/office/drawing/2014/main" id="{F21E9C74-C747-4D07-9F8C-72C9444EC626}"/>
                </a:ext>
              </a:extLst>
            </p:cNvPr>
            <p:cNvGrpSpPr>
              <a:grpSpLocks/>
            </p:cNvGrpSpPr>
            <p:nvPr/>
          </p:nvGrpSpPr>
          <p:grpSpPr bwMode="auto">
            <a:xfrm>
              <a:off x="2421" y="1440"/>
              <a:ext cx="264" cy="576"/>
              <a:chOff x="174" y="1440"/>
              <a:chExt cx="264" cy="576"/>
            </a:xfrm>
          </p:grpSpPr>
          <p:sp>
            <p:nvSpPr>
              <p:cNvPr id="34" name="Line 69">
                <a:extLst>
                  <a:ext uri="{FF2B5EF4-FFF2-40B4-BE49-F238E27FC236}">
                    <a16:creationId xmlns:a16="http://schemas.microsoft.com/office/drawing/2014/main" id="{D204E292-3A7A-4431-BAB8-A906B5911FA8}"/>
                  </a:ext>
                </a:extLst>
              </p:cNvPr>
              <p:cNvSpPr>
                <a:spLocks noChangeShapeType="1"/>
              </p:cNvSpPr>
              <p:nvPr/>
            </p:nvSpPr>
            <p:spPr bwMode="auto">
              <a:xfrm>
                <a:off x="294" y="1475"/>
                <a:ext cx="144" cy="0"/>
              </a:xfrm>
              <a:prstGeom prst="line">
                <a:avLst/>
              </a:prstGeom>
              <a:noFill/>
              <a:ln w="28575">
                <a:solidFill>
                  <a:schemeClr val="accent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70">
                <a:extLst>
                  <a:ext uri="{FF2B5EF4-FFF2-40B4-BE49-F238E27FC236}">
                    <a16:creationId xmlns:a16="http://schemas.microsoft.com/office/drawing/2014/main" id="{DA88AAA6-6A16-4310-83E0-A91A27949FE7}"/>
                  </a:ext>
                </a:extLst>
              </p:cNvPr>
              <p:cNvSpPr>
                <a:spLocks noChangeShapeType="1"/>
              </p:cNvSpPr>
              <p:nvPr/>
            </p:nvSpPr>
            <p:spPr bwMode="auto">
              <a:xfrm>
                <a:off x="336" y="1488"/>
                <a:ext cx="0" cy="528"/>
              </a:xfrm>
              <a:prstGeom prst="line">
                <a:avLst/>
              </a:prstGeom>
              <a:noFill/>
              <a:ln w="28575">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Text Box 71">
                <a:extLst>
                  <a:ext uri="{FF2B5EF4-FFF2-40B4-BE49-F238E27FC236}">
                    <a16:creationId xmlns:a16="http://schemas.microsoft.com/office/drawing/2014/main" id="{A28858E4-753D-4AD9-A2E8-7604F068F967}"/>
                  </a:ext>
                </a:extLst>
              </p:cNvPr>
              <p:cNvSpPr txBox="1">
                <a:spLocks noChangeArrowheads="1"/>
              </p:cNvSpPr>
              <p:nvPr/>
            </p:nvSpPr>
            <p:spPr bwMode="auto">
              <a:xfrm>
                <a:off x="174" y="144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solidFill>
                      <a:schemeClr val="accent2">
                        <a:lumMod val="50000"/>
                      </a:schemeClr>
                    </a:solidFill>
                  </a:rPr>
                  <a:t>0</a:t>
                </a:r>
              </a:p>
            </p:txBody>
          </p:sp>
        </p:grpSp>
        <p:grpSp>
          <p:nvGrpSpPr>
            <p:cNvPr id="26" name="Group 72">
              <a:extLst>
                <a:ext uri="{FF2B5EF4-FFF2-40B4-BE49-F238E27FC236}">
                  <a16:creationId xmlns:a16="http://schemas.microsoft.com/office/drawing/2014/main" id="{0E77E8F9-6610-4731-B025-D7E718B6FA71}"/>
                </a:ext>
              </a:extLst>
            </p:cNvPr>
            <p:cNvGrpSpPr>
              <a:grpSpLocks/>
            </p:cNvGrpSpPr>
            <p:nvPr/>
          </p:nvGrpSpPr>
          <p:grpSpPr bwMode="auto">
            <a:xfrm>
              <a:off x="3534" y="1440"/>
              <a:ext cx="258" cy="576"/>
              <a:chOff x="174" y="1440"/>
              <a:chExt cx="258" cy="576"/>
            </a:xfrm>
          </p:grpSpPr>
          <p:sp>
            <p:nvSpPr>
              <p:cNvPr id="31" name="Line 73">
                <a:extLst>
                  <a:ext uri="{FF2B5EF4-FFF2-40B4-BE49-F238E27FC236}">
                    <a16:creationId xmlns:a16="http://schemas.microsoft.com/office/drawing/2014/main" id="{715BD10A-5490-4056-B52F-17CD73498439}"/>
                  </a:ext>
                </a:extLst>
              </p:cNvPr>
              <p:cNvSpPr>
                <a:spLocks noChangeShapeType="1"/>
              </p:cNvSpPr>
              <p:nvPr/>
            </p:nvSpPr>
            <p:spPr bwMode="auto">
              <a:xfrm>
                <a:off x="288" y="1488"/>
                <a:ext cx="144" cy="0"/>
              </a:xfrm>
              <a:prstGeom prst="line">
                <a:avLst/>
              </a:prstGeom>
              <a:noFill/>
              <a:ln w="28575">
                <a:solidFill>
                  <a:schemeClr val="accent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32" name="Line 74">
                <a:extLst>
                  <a:ext uri="{FF2B5EF4-FFF2-40B4-BE49-F238E27FC236}">
                    <a16:creationId xmlns:a16="http://schemas.microsoft.com/office/drawing/2014/main" id="{95DF35A7-4563-4133-82BA-0A241FF94381}"/>
                  </a:ext>
                </a:extLst>
              </p:cNvPr>
              <p:cNvSpPr>
                <a:spLocks noChangeShapeType="1"/>
              </p:cNvSpPr>
              <p:nvPr/>
            </p:nvSpPr>
            <p:spPr bwMode="auto">
              <a:xfrm>
                <a:off x="336" y="1488"/>
                <a:ext cx="0" cy="528"/>
              </a:xfrm>
              <a:prstGeom prst="line">
                <a:avLst/>
              </a:prstGeom>
              <a:noFill/>
              <a:ln w="28575">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75">
                <a:extLst>
                  <a:ext uri="{FF2B5EF4-FFF2-40B4-BE49-F238E27FC236}">
                    <a16:creationId xmlns:a16="http://schemas.microsoft.com/office/drawing/2014/main" id="{2B4DB4C5-C215-4DE8-B20D-BEE53DBEBFDC}"/>
                  </a:ext>
                </a:extLst>
              </p:cNvPr>
              <p:cNvSpPr txBox="1">
                <a:spLocks noChangeArrowheads="1"/>
              </p:cNvSpPr>
              <p:nvPr/>
            </p:nvSpPr>
            <p:spPr bwMode="auto">
              <a:xfrm>
                <a:off x="174" y="144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accent2">
                        <a:lumMod val="50000"/>
                      </a:schemeClr>
                    </a:solidFill>
                  </a:rPr>
                  <a:t>0</a:t>
                </a:r>
              </a:p>
            </p:txBody>
          </p:sp>
        </p:grpSp>
        <p:grpSp>
          <p:nvGrpSpPr>
            <p:cNvPr id="27" name="Group 76">
              <a:extLst>
                <a:ext uri="{FF2B5EF4-FFF2-40B4-BE49-F238E27FC236}">
                  <a16:creationId xmlns:a16="http://schemas.microsoft.com/office/drawing/2014/main" id="{1F61DF4D-5353-455C-A138-A4DE18A8B95A}"/>
                </a:ext>
              </a:extLst>
            </p:cNvPr>
            <p:cNvGrpSpPr>
              <a:grpSpLocks/>
            </p:cNvGrpSpPr>
            <p:nvPr/>
          </p:nvGrpSpPr>
          <p:grpSpPr bwMode="auto">
            <a:xfrm>
              <a:off x="4629" y="1440"/>
              <a:ext cx="258" cy="576"/>
              <a:chOff x="174" y="1440"/>
              <a:chExt cx="258" cy="576"/>
            </a:xfrm>
          </p:grpSpPr>
          <p:sp>
            <p:nvSpPr>
              <p:cNvPr id="28" name="Line 77">
                <a:extLst>
                  <a:ext uri="{FF2B5EF4-FFF2-40B4-BE49-F238E27FC236}">
                    <a16:creationId xmlns:a16="http://schemas.microsoft.com/office/drawing/2014/main" id="{588D9B20-7FDC-49C2-9CDE-5E05761C08D0}"/>
                  </a:ext>
                </a:extLst>
              </p:cNvPr>
              <p:cNvSpPr>
                <a:spLocks noChangeShapeType="1"/>
              </p:cNvSpPr>
              <p:nvPr/>
            </p:nvSpPr>
            <p:spPr bwMode="auto">
              <a:xfrm>
                <a:off x="288" y="1488"/>
                <a:ext cx="144" cy="0"/>
              </a:xfrm>
              <a:prstGeom prst="line">
                <a:avLst/>
              </a:prstGeom>
              <a:noFill/>
              <a:ln w="28575">
                <a:solidFill>
                  <a:schemeClr val="accent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78">
                <a:extLst>
                  <a:ext uri="{FF2B5EF4-FFF2-40B4-BE49-F238E27FC236}">
                    <a16:creationId xmlns:a16="http://schemas.microsoft.com/office/drawing/2014/main" id="{0012327E-5E8B-49FC-B904-B87562C0914C}"/>
                  </a:ext>
                </a:extLst>
              </p:cNvPr>
              <p:cNvSpPr>
                <a:spLocks noChangeShapeType="1"/>
              </p:cNvSpPr>
              <p:nvPr/>
            </p:nvSpPr>
            <p:spPr bwMode="auto">
              <a:xfrm>
                <a:off x="336" y="1488"/>
                <a:ext cx="0" cy="528"/>
              </a:xfrm>
              <a:prstGeom prst="line">
                <a:avLst/>
              </a:prstGeom>
              <a:noFill/>
              <a:ln w="28575">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79">
                <a:extLst>
                  <a:ext uri="{FF2B5EF4-FFF2-40B4-BE49-F238E27FC236}">
                    <a16:creationId xmlns:a16="http://schemas.microsoft.com/office/drawing/2014/main" id="{BF6E2BE3-7FE7-4AE5-926A-79B97586E9A5}"/>
                  </a:ext>
                </a:extLst>
              </p:cNvPr>
              <p:cNvSpPr txBox="1">
                <a:spLocks noChangeArrowheads="1"/>
              </p:cNvSpPr>
              <p:nvPr/>
            </p:nvSpPr>
            <p:spPr bwMode="auto">
              <a:xfrm>
                <a:off x="174" y="144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accent2">
                        <a:lumMod val="50000"/>
                      </a:schemeClr>
                    </a:solidFill>
                  </a:rPr>
                  <a:t>0</a:t>
                </a:r>
              </a:p>
            </p:txBody>
          </p:sp>
        </p:grpSp>
      </p:grpSp>
      <p:sp>
        <p:nvSpPr>
          <p:cNvPr id="43" name="Rectangle 82">
            <a:extLst>
              <a:ext uri="{FF2B5EF4-FFF2-40B4-BE49-F238E27FC236}">
                <a16:creationId xmlns:a16="http://schemas.microsoft.com/office/drawing/2014/main" id="{C093D133-534B-4977-98FD-B0BEA3CAEECA}"/>
              </a:ext>
            </a:extLst>
          </p:cNvPr>
          <p:cNvSpPr>
            <a:spLocks noChangeArrowheads="1"/>
          </p:cNvSpPr>
          <p:nvPr/>
        </p:nvSpPr>
        <p:spPr bwMode="auto">
          <a:xfrm>
            <a:off x="24245" y="5542632"/>
            <a:ext cx="8839200" cy="7817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80975" lvl="1" indent="-96838" algn="ctr">
              <a:lnSpc>
                <a:spcPct val="140000"/>
              </a:lnSpc>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符合用户观点</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用户可独立考虑每个段</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分治</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a:t>
            </a:r>
          </a:p>
        </p:txBody>
      </p:sp>
      <p:sp>
        <p:nvSpPr>
          <p:cNvPr id="4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 name="矩形 3"/>
          <p:cNvSpPr/>
          <p:nvPr/>
        </p:nvSpPr>
        <p:spPr>
          <a:xfrm>
            <a:off x="2993123" y="69991"/>
            <a:ext cx="3272050" cy="707886"/>
          </a:xfrm>
          <a:prstGeom prst="rect">
            <a:avLst/>
          </a:prstGeom>
        </p:spPr>
        <p:txBody>
          <a:bodyPr wrap="none">
            <a:spAutoFit/>
          </a:bodyPr>
          <a:lstStyle/>
          <a:p>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程序分段示例</a:t>
            </a:r>
          </a:p>
        </p:txBody>
      </p:sp>
    </p:spTree>
    <p:extLst>
      <p:ext uri="{BB962C8B-B14F-4D97-AF65-F5344CB8AC3E}">
        <p14:creationId xmlns:p14="http://schemas.microsoft.com/office/powerpoint/2010/main" val="142034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ppt_x</p:attrName>
                                        </p:attrNameLst>
                                      </p:cBhvr>
                                      <p:tavLst>
                                        <p:tav tm="0">
                                          <p:val>
                                            <p:strVal val="#ppt_x"/>
                                          </p:val>
                                        </p:tav>
                                        <p:tav tm="100000">
                                          <p:val>
                                            <p:strVal val="#ppt_x"/>
                                          </p:val>
                                        </p:tav>
                                      </p:tavLst>
                                    </p:anim>
                                    <p:anim calcmode="lin" valueType="num">
                                      <p:cBhvr>
                                        <p:cTn id="18" dur="500" fill="hold"/>
                                        <p:tgtEl>
                                          <p:spTgt spid="22"/>
                                        </p:tgtEl>
                                        <p:attrNameLst>
                                          <p:attrName>ppt_y</p:attrName>
                                        </p:attrNameLst>
                                      </p:cBhvr>
                                      <p:tavLst>
                                        <p:tav tm="0">
                                          <p:val>
                                            <p:strVal val="#ppt_y-#ppt_h/2"/>
                                          </p:val>
                                        </p:tav>
                                        <p:tav tm="100000">
                                          <p:val>
                                            <p:strVal val="#ppt_y"/>
                                          </p:val>
                                        </p:tav>
                                      </p:tavLst>
                                    </p:anim>
                                    <p:anim calcmode="lin" valueType="num">
                                      <p:cBhvr>
                                        <p:cTn id="19" dur="500" fill="hold"/>
                                        <p:tgtEl>
                                          <p:spTgt spid="22"/>
                                        </p:tgtEl>
                                        <p:attrNameLst>
                                          <p:attrName>ppt_w</p:attrName>
                                        </p:attrNameLst>
                                      </p:cBhvr>
                                      <p:tavLst>
                                        <p:tav tm="0">
                                          <p:val>
                                            <p:strVal val="#ppt_w"/>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000"/>
                                        <p:tgtEl>
                                          <p:spTgt spid="21"/>
                                        </p:tgtEl>
                                      </p:cBhvr>
                                    </p:animEffect>
                                    <p:anim calcmode="lin" valueType="num">
                                      <p:cBhvr>
                                        <p:cTn id="26" dur="1000" fill="hold"/>
                                        <p:tgtEl>
                                          <p:spTgt spid="21"/>
                                        </p:tgtEl>
                                        <p:attrNameLst>
                                          <p:attrName>ppt_x</p:attrName>
                                        </p:attrNameLst>
                                      </p:cBhvr>
                                      <p:tavLst>
                                        <p:tav tm="0">
                                          <p:val>
                                            <p:strVal val="#ppt_x"/>
                                          </p:val>
                                        </p:tav>
                                        <p:tav tm="100000">
                                          <p:val>
                                            <p:strVal val="#ppt_x"/>
                                          </p:val>
                                        </p:tav>
                                      </p:tavLst>
                                    </p:anim>
                                    <p:anim calcmode="lin" valueType="num">
                                      <p:cBhvr>
                                        <p:cTn id="2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 calcmode="lin" valueType="num">
                                      <p:cBhvr additive="base">
                                        <p:cTn id="36" dur="500" fill="hold"/>
                                        <p:tgtEl>
                                          <p:spTgt spid="44"/>
                                        </p:tgtEl>
                                        <p:attrNameLst>
                                          <p:attrName>ppt_x</p:attrName>
                                        </p:attrNameLst>
                                      </p:cBhvr>
                                      <p:tavLst>
                                        <p:tav tm="0">
                                          <p:val>
                                            <p:strVal val="1+#ppt_w/2"/>
                                          </p:val>
                                        </p:tav>
                                        <p:tav tm="100000">
                                          <p:val>
                                            <p:strVal val="#ppt_x"/>
                                          </p:val>
                                        </p:tav>
                                      </p:tavLst>
                                    </p:anim>
                                    <p:anim calcmode="lin" valueType="num">
                                      <p:cBhvr additive="base">
                                        <p:cTn id="37"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1" grpId="0"/>
      <p:bldP spid="43" grpId="0"/>
      <p:bldP spid="4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CE661B7-339C-4BA8-B11F-8766000FE5A3}"/>
              </a:ext>
            </a:extLst>
          </p:cNvPr>
          <p:cNvSpPr/>
          <p:nvPr/>
        </p:nvSpPr>
        <p:spPr>
          <a:xfrm>
            <a:off x="2171343" y="0"/>
            <a:ext cx="4801314" cy="707886"/>
          </a:xfrm>
          <a:prstGeom prst="rect">
            <a:avLst/>
          </a:prstGeom>
        </p:spPr>
        <p:txBody>
          <a:bodyPr wrap="none">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段式管理的实现原理</a:t>
            </a:r>
          </a:p>
        </p:txBody>
      </p:sp>
      <p:sp>
        <p:nvSpPr>
          <p:cNvPr id="33" name="Rectangle 4">
            <a:extLst>
              <a:ext uri="{FF2B5EF4-FFF2-40B4-BE49-F238E27FC236}">
                <a16:creationId xmlns:a16="http://schemas.microsoft.com/office/drawing/2014/main" id="{4032D3AF-2731-4BD4-B14D-4F421706CD96}"/>
              </a:ext>
            </a:extLst>
          </p:cNvPr>
          <p:cNvSpPr>
            <a:spLocks noChangeArrowheads="1"/>
          </p:cNvSpPr>
          <p:nvPr/>
        </p:nvSpPr>
        <p:spPr bwMode="auto">
          <a:xfrm>
            <a:off x="107504" y="980728"/>
            <a:ext cx="8856984"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程序员将程序按含义分成若干段</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用户的逻辑地址空间是二维的</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段的逻辑地址从</a:t>
            </a:r>
            <a:r>
              <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rPr>
              <a:t>0</a:t>
            </a: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开始</a:t>
            </a:r>
            <a:endPar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以段为单位分配内存</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rgbClr val="FF0000"/>
                </a:solidFill>
                <a:effectLst>
                  <a:outerShdw blurRad="38100" dist="38100" dir="2700000" algn="tl">
                    <a:srgbClr val="000000">
                      <a:alpha val="43137"/>
                    </a:srgbClr>
                  </a:outerShdw>
                </a:effectLst>
                <a:ea typeface="楷体" panose="02010609060101010101" pitchFamily="49" charset="-122"/>
              </a:rPr>
              <a:t>内存用可变分区管理</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每段分配一个连续的内存区</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各段长度不等、不要求连续</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创建进程时，建立进程段表</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段基址：段在物理内存的起始地址</a:t>
            </a:r>
            <a:endPar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段界限：段的长度</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1946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3">
                                            <p:txEl>
                                              <p:pRg st="3" end="3"/>
                                            </p:txEl>
                                          </p:spTgt>
                                        </p:tgtEl>
                                        <p:attrNameLst>
                                          <p:attrName>style.visibility</p:attrName>
                                        </p:attrNameLst>
                                      </p:cBhvr>
                                      <p:to>
                                        <p:strVal val="visible"/>
                                      </p:to>
                                    </p:set>
                                    <p:animEffect transition="in" filter="fade">
                                      <p:cBhvr>
                                        <p:cTn id="7" dur="1000"/>
                                        <p:tgtEl>
                                          <p:spTgt spid="33">
                                            <p:txEl>
                                              <p:pRg st="3" end="3"/>
                                            </p:txEl>
                                          </p:spTgt>
                                        </p:tgtEl>
                                      </p:cBhvr>
                                    </p:animEffect>
                                    <p:anim calcmode="lin" valueType="num">
                                      <p:cBhvr>
                                        <p:cTn id="8" dur="1000" fill="hold"/>
                                        <p:tgtEl>
                                          <p:spTgt spid="3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3">
                                            <p:txEl>
                                              <p:pRg st="4" end="4"/>
                                            </p:txEl>
                                          </p:spTgt>
                                        </p:tgtEl>
                                        <p:attrNameLst>
                                          <p:attrName>style.visibility</p:attrName>
                                        </p:attrNameLst>
                                      </p:cBhvr>
                                      <p:to>
                                        <p:strVal val="visible"/>
                                      </p:to>
                                    </p:set>
                                    <p:animEffect transition="in" filter="fade">
                                      <p:cBhvr>
                                        <p:cTn id="12" dur="1000"/>
                                        <p:tgtEl>
                                          <p:spTgt spid="33">
                                            <p:txEl>
                                              <p:pRg st="4" end="4"/>
                                            </p:txEl>
                                          </p:spTgt>
                                        </p:tgtEl>
                                      </p:cBhvr>
                                    </p:animEffect>
                                    <p:anim calcmode="lin" valueType="num">
                                      <p:cBhvr>
                                        <p:cTn id="13" dur="1000" fill="hold"/>
                                        <p:tgtEl>
                                          <p:spTgt spid="3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3">
                                            <p:txEl>
                                              <p:pRg st="5" end="5"/>
                                            </p:txEl>
                                          </p:spTgt>
                                        </p:tgtEl>
                                        <p:attrNameLst>
                                          <p:attrName>style.visibility</p:attrName>
                                        </p:attrNameLst>
                                      </p:cBhvr>
                                      <p:to>
                                        <p:strVal val="visible"/>
                                      </p:to>
                                    </p:set>
                                    <p:animEffect transition="in" filter="fade">
                                      <p:cBhvr>
                                        <p:cTn id="17" dur="1000"/>
                                        <p:tgtEl>
                                          <p:spTgt spid="33">
                                            <p:txEl>
                                              <p:pRg st="5" end="5"/>
                                            </p:txEl>
                                          </p:spTgt>
                                        </p:tgtEl>
                                      </p:cBhvr>
                                    </p:animEffect>
                                    <p:anim calcmode="lin" valueType="num">
                                      <p:cBhvr>
                                        <p:cTn id="18" dur="1000" fill="hold"/>
                                        <p:tgtEl>
                                          <p:spTgt spid="3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3">
                                            <p:txEl>
                                              <p:pRg st="6" end="6"/>
                                            </p:txEl>
                                          </p:spTgt>
                                        </p:tgtEl>
                                        <p:attrNameLst>
                                          <p:attrName>style.visibility</p:attrName>
                                        </p:attrNameLst>
                                      </p:cBhvr>
                                      <p:to>
                                        <p:strVal val="visible"/>
                                      </p:to>
                                    </p:set>
                                    <p:animEffect transition="in" filter="fade">
                                      <p:cBhvr>
                                        <p:cTn id="22" dur="1000"/>
                                        <p:tgtEl>
                                          <p:spTgt spid="33">
                                            <p:txEl>
                                              <p:pRg st="6" end="6"/>
                                            </p:txEl>
                                          </p:spTgt>
                                        </p:tgtEl>
                                      </p:cBhvr>
                                    </p:animEffect>
                                    <p:anim calcmode="lin" valueType="num">
                                      <p:cBhvr>
                                        <p:cTn id="23" dur="1000" fill="hold"/>
                                        <p:tgtEl>
                                          <p:spTgt spid="3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3">
                                            <p:txEl>
                                              <p:pRg st="7" end="7"/>
                                            </p:txEl>
                                          </p:spTgt>
                                        </p:tgtEl>
                                        <p:attrNameLst>
                                          <p:attrName>style.visibility</p:attrName>
                                        </p:attrNameLst>
                                      </p:cBhvr>
                                      <p:to>
                                        <p:strVal val="visible"/>
                                      </p:to>
                                    </p:set>
                                    <p:animEffect transition="in" filter="fade">
                                      <p:cBhvr>
                                        <p:cTn id="29" dur="1000"/>
                                        <p:tgtEl>
                                          <p:spTgt spid="33">
                                            <p:txEl>
                                              <p:pRg st="7" end="7"/>
                                            </p:txEl>
                                          </p:spTgt>
                                        </p:tgtEl>
                                      </p:cBhvr>
                                    </p:animEffect>
                                    <p:anim calcmode="lin" valueType="num">
                                      <p:cBhvr>
                                        <p:cTn id="30" dur="1000" fill="hold"/>
                                        <p:tgtEl>
                                          <p:spTgt spid="3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3">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3">
                                            <p:txEl>
                                              <p:pRg st="8" end="8"/>
                                            </p:txEl>
                                          </p:spTgt>
                                        </p:tgtEl>
                                        <p:attrNameLst>
                                          <p:attrName>style.visibility</p:attrName>
                                        </p:attrNameLst>
                                      </p:cBhvr>
                                      <p:to>
                                        <p:strVal val="visible"/>
                                      </p:to>
                                    </p:set>
                                    <p:animEffect transition="in" filter="fade">
                                      <p:cBhvr>
                                        <p:cTn id="34" dur="1000"/>
                                        <p:tgtEl>
                                          <p:spTgt spid="33">
                                            <p:txEl>
                                              <p:pRg st="8" end="8"/>
                                            </p:txEl>
                                          </p:spTgt>
                                        </p:tgtEl>
                                      </p:cBhvr>
                                    </p:animEffect>
                                    <p:anim calcmode="lin" valueType="num">
                                      <p:cBhvr>
                                        <p:cTn id="35" dur="1000" fill="hold"/>
                                        <p:tgtEl>
                                          <p:spTgt spid="3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3">
                                            <p:txEl>
                                              <p:pRg st="9" end="9"/>
                                            </p:txEl>
                                          </p:spTgt>
                                        </p:tgtEl>
                                        <p:attrNameLst>
                                          <p:attrName>style.visibility</p:attrName>
                                        </p:attrNameLst>
                                      </p:cBhvr>
                                      <p:to>
                                        <p:strVal val="visible"/>
                                      </p:to>
                                    </p:set>
                                    <p:animEffect transition="in" filter="fade">
                                      <p:cBhvr>
                                        <p:cTn id="39" dur="1000"/>
                                        <p:tgtEl>
                                          <p:spTgt spid="33">
                                            <p:txEl>
                                              <p:pRg st="9" end="9"/>
                                            </p:txEl>
                                          </p:spTgt>
                                        </p:tgtEl>
                                      </p:cBhvr>
                                    </p:animEffect>
                                    <p:anim calcmode="lin" valueType="num">
                                      <p:cBhvr>
                                        <p:cTn id="40" dur="1000" fill="hold"/>
                                        <p:tgtEl>
                                          <p:spTgt spid="3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3">
                                            <p:txEl>
                                              <p:pRg st="9" end="9"/>
                                            </p:txEl>
                                          </p:spTgt>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2" presetClass="entr" presetSubtype="6" fill="hold" grpId="0" nodeType="after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1+#ppt_w/2"/>
                                          </p:val>
                                        </p:tav>
                                        <p:tav tm="100000">
                                          <p:val>
                                            <p:strVal val="#ppt_x"/>
                                          </p:val>
                                        </p:tav>
                                      </p:tavLst>
                                    </p:anim>
                                    <p:anim calcmode="lin" valueType="num">
                                      <p:cBhvr additive="base">
                                        <p:cTn id="4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F503C98-66D8-4878-AF81-B2C1BBA03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1036913"/>
            <a:ext cx="5531250" cy="4784174"/>
          </a:xfrm>
          <a:prstGeom prst="rect">
            <a:avLst/>
          </a:prstGeom>
        </p:spPr>
      </p:pic>
      <p:sp>
        <p:nvSpPr>
          <p:cNvPr id="12" name="Rectangle 70">
            <a:extLst>
              <a:ext uri="{FF2B5EF4-FFF2-40B4-BE49-F238E27FC236}">
                <a16:creationId xmlns:a16="http://schemas.microsoft.com/office/drawing/2014/main" id="{2B040C90-AEF8-46EB-828B-117C5A7BA721}"/>
              </a:ext>
            </a:extLst>
          </p:cNvPr>
          <p:cNvSpPr>
            <a:spLocks noChangeArrowheads="1"/>
          </p:cNvSpPr>
          <p:nvPr/>
        </p:nvSpPr>
        <p:spPr bwMode="auto">
          <a:xfrm>
            <a:off x="3310806" y="5836910"/>
            <a:ext cx="324246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7-9 </a:t>
            </a:r>
            <a:r>
              <a:rPr lang="zh-CN" altLang="en-US" sz="2000" dirty="0">
                <a:solidFill>
                  <a:schemeClr val="bg2"/>
                </a:solidFill>
                <a:latin typeface="宋体" panose="02010600030101010101" pitchFamily="2" charset="-122"/>
              </a:rPr>
              <a:t>分段的例子</a:t>
            </a:r>
          </a:p>
        </p:txBody>
      </p:sp>
      <p:sp>
        <p:nvSpPr>
          <p:cNvPr id="13" name="Rectangle 2">
            <a:extLst>
              <a:ext uri="{FF2B5EF4-FFF2-40B4-BE49-F238E27FC236}">
                <a16:creationId xmlns:a16="http://schemas.microsoft.com/office/drawing/2014/main" id="{080F9BF4-82F4-46AF-BCB7-FA474D9BFF75}"/>
              </a:ext>
            </a:extLst>
          </p:cNvPr>
          <p:cNvSpPr txBox="1">
            <a:spLocks noChangeArrowheads="1"/>
          </p:cNvSpPr>
          <p:nvPr/>
        </p:nvSpPr>
        <p:spPr>
          <a:xfrm>
            <a:off x="1419225" y="-59394"/>
            <a:ext cx="630555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段表示例</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7059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4">
            <a:extLst>
              <a:ext uri="{FF2B5EF4-FFF2-40B4-BE49-F238E27FC236}">
                <a16:creationId xmlns:a16="http://schemas.microsoft.com/office/drawing/2014/main" id="{AC206FC5-F796-42E7-A0BE-F2618132C640}"/>
              </a:ext>
            </a:extLst>
          </p:cNvPr>
          <p:cNvSpPr>
            <a:spLocks noChangeArrowheads="1"/>
          </p:cNvSpPr>
          <p:nvPr/>
        </p:nvSpPr>
        <p:spPr bwMode="auto">
          <a:xfrm>
            <a:off x="2497736" y="-9236"/>
            <a:ext cx="4249737" cy="707886"/>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分段的硬件支持</a:t>
            </a:r>
          </a:p>
        </p:txBody>
      </p:sp>
      <p:sp>
        <p:nvSpPr>
          <p:cNvPr id="6" name="矩形 5">
            <a:extLst>
              <a:ext uri="{FF2B5EF4-FFF2-40B4-BE49-F238E27FC236}">
                <a16:creationId xmlns:a16="http://schemas.microsoft.com/office/drawing/2014/main" id="{A523434A-FC14-4CFC-87BE-F28FD8EDFCA3}"/>
              </a:ext>
            </a:extLst>
          </p:cNvPr>
          <p:cNvSpPr/>
          <p:nvPr/>
        </p:nvSpPr>
        <p:spPr>
          <a:xfrm>
            <a:off x="107504" y="1268760"/>
            <a:ext cx="8928992" cy="4228850"/>
          </a:xfrm>
          <a:prstGeom prst="rect">
            <a:avLst/>
          </a:prstGeom>
        </p:spPr>
        <p:txBody>
          <a:bodyPr wrap="square">
            <a:spAutoFit/>
          </a:bodyPr>
          <a:lstStyle/>
          <a:p>
            <a:pPr marL="355600" lvl="2" indent="-355600" defTabSz="355600">
              <a:lnSpc>
                <a:spcPct val="12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段表基址寄存器</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(Segment-table base register</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 STBR) </a:t>
            </a:r>
          </a:p>
          <a:p>
            <a:pPr marL="812800" lvl="3" indent="-355600" defTabSz="355600">
              <a:lnSpc>
                <a:spcPct val="120000"/>
              </a:lnSpc>
              <a:buClr>
                <a:schemeClr val="bg2"/>
              </a:buClr>
              <a:buSzPct val="70000"/>
              <a:buFont typeface="Wingdings" panose="05000000000000000000" pitchFamily="2" charset="2"/>
              <a:buChar char="n"/>
              <a:tabLst>
                <a:tab pos="1830388" algn="l"/>
                <a:tab pos="2857500" algn="ctr"/>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段表在内存中的始址</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12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段表限长寄存器</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(Segment-table length register STLR) </a:t>
            </a:r>
          </a:p>
          <a:p>
            <a:pPr marL="812800" lvl="3" indent="-355600" defTabSz="355600">
              <a:lnSpc>
                <a:spcPct val="120000"/>
              </a:lnSpc>
              <a:buClr>
                <a:schemeClr val="bg2"/>
              </a:buClr>
              <a:buSzPct val="70000"/>
              <a:buFont typeface="Wingdings" panose="05000000000000000000" pitchFamily="2" charset="2"/>
              <a:buChar char="n"/>
              <a:tabLst>
                <a:tab pos="1830388" algn="l"/>
                <a:tab pos="2857500" algn="ctr"/>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段表的长度</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120000"/>
              </a:lnSpc>
              <a:buClr>
                <a:schemeClr val="bg2"/>
              </a:buClr>
              <a:buSzPct val="70000"/>
              <a:buFont typeface="Wingdings" panose="05000000000000000000" pitchFamily="2" charset="2"/>
              <a:buChar char="n"/>
              <a:tabLst>
                <a:tab pos="1830388" algn="l"/>
                <a:tab pos="2857500" algn="ctr"/>
              </a:tabLst>
              <a:defRPr/>
            </a:pP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段号</a:t>
            </a:r>
            <a:r>
              <a:rPr lang="en-US" altLang="zh-CN" dirty="0">
                <a:solidFill>
                  <a:schemeClr val="bg1"/>
                </a:solidFill>
                <a:effectLst>
                  <a:outerShdw blurRad="38100" dist="38100" dir="2700000" algn="tl">
                    <a:srgbClr val="000000"/>
                  </a:outerShdw>
                </a:effectLst>
                <a:latin typeface="+mj-lt"/>
                <a:ea typeface="楷体" panose="02010609060101010101" pitchFamily="49" charset="-122"/>
              </a:rPr>
              <a:t>s </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&lt; STLR</a:t>
            </a:r>
            <a:endParaRPr lang="zh-CN" altLang="en-US" sz="2800"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43840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4">
            <a:extLst>
              <a:ext uri="{FF2B5EF4-FFF2-40B4-BE49-F238E27FC236}">
                <a16:creationId xmlns:a16="http://schemas.microsoft.com/office/drawing/2014/main" id="{0C3792CA-0A5E-44EE-BCFA-575BCFC079F9}"/>
              </a:ext>
            </a:extLst>
          </p:cNvPr>
          <p:cNvSpPr>
            <a:spLocks noChangeArrowheads="1"/>
          </p:cNvSpPr>
          <p:nvPr/>
        </p:nvSpPr>
        <p:spPr bwMode="auto">
          <a:xfrm>
            <a:off x="2497736" y="-9236"/>
            <a:ext cx="4249737" cy="701675"/>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段地址映射</a:t>
            </a:r>
          </a:p>
        </p:txBody>
      </p:sp>
      <p:pic>
        <p:nvPicPr>
          <p:cNvPr id="8" name="Picture 4" descr="8">
            <a:extLst>
              <a:ext uri="{FF2B5EF4-FFF2-40B4-BE49-F238E27FC236}">
                <a16:creationId xmlns:a16="http://schemas.microsoft.com/office/drawing/2014/main" id="{636AC536-25EA-4742-B62A-1282EA7210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053" y="983209"/>
            <a:ext cx="6626853" cy="46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0">
            <a:extLst>
              <a:ext uri="{FF2B5EF4-FFF2-40B4-BE49-F238E27FC236}">
                <a16:creationId xmlns:a16="http://schemas.microsoft.com/office/drawing/2014/main" id="{A813B06F-17DD-4540-B88F-97285533AA34}"/>
              </a:ext>
            </a:extLst>
          </p:cNvPr>
          <p:cNvSpPr>
            <a:spLocks noChangeArrowheads="1"/>
          </p:cNvSpPr>
          <p:nvPr/>
        </p:nvSpPr>
        <p:spPr bwMode="auto">
          <a:xfrm>
            <a:off x="3094269" y="5867490"/>
            <a:ext cx="324246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7-8 </a:t>
            </a:r>
            <a:r>
              <a:rPr lang="zh-CN" altLang="en-US" sz="2000" dirty="0">
                <a:solidFill>
                  <a:schemeClr val="bg2"/>
                </a:solidFill>
                <a:latin typeface="宋体" panose="02010600030101010101" pitchFamily="2" charset="-122"/>
              </a:rPr>
              <a:t>分段硬件</a:t>
            </a:r>
          </a:p>
        </p:txBody>
      </p:sp>
      <p:sp>
        <p:nvSpPr>
          <p:cNvPr id="10" name="文本框 9">
            <a:extLst>
              <a:ext uri="{FF2B5EF4-FFF2-40B4-BE49-F238E27FC236}">
                <a16:creationId xmlns:a16="http://schemas.microsoft.com/office/drawing/2014/main" id="{D21167D9-811F-435E-B87C-55D49B476D69}"/>
              </a:ext>
            </a:extLst>
          </p:cNvPr>
          <p:cNvSpPr txBox="1"/>
          <p:nvPr/>
        </p:nvSpPr>
        <p:spPr>
          <a:xfrm>
            <a:off x="1953388" y="2368493"/>
            <a:ext cx="648072" cy="276999"/>
          </a:xfrm>
          <a:prstGeom prst="rect">
            <a:avLst/>
          </a:prstGeom>
          <a:noFill/>
        </p:spPr>
        <p:txBody>
          <a:bodyPr wrap="square" lIns="0" tIns="0" rIns="0" bIns="0" rtlCol="0">
            <a:spAutoFit/>
          </a:bodyPr>
          <a:lstStyle/>
          <a:p>
            <a:pPr algn="ctr"/>
            <a:r>
              <a:rPr lang="zh-CN" altLang="en-US" sz="1800" dirty="0">
                <a:solidFill>
                  <a:schemeClr val="bg2"/>
                </a:solidFill>
              </a:rPr>
              <a:t>段号</a:t>
            </a:r>
          </a:p>
        </p:txBody>
      </p:sp>
      <p:sp>
        <p:nvSpPr>
          <p:cNvPr id="11" name="文本框 10">
            <a:extLst>
              <a:ext uri="{FF2B5EF4-FFF2-40B4-BE49-F238E27FC236}">
                <a16:creationId xmlns:a16="http://schemas.microsoft.com/office/drawing/2014/main" id="{973C540C-1EB4-4BF5-894B-1B87905A3D5B}"/>
              </a:ext>
            </a:extLst>
          </p:cNvPr>
          <p:cNvSpPr txBox="1"/>
          <p:nvPr/>
        </p:nvSpPr>
        <p:spPr>
          <a:xfrm>
            <a:off x="2601460" y="2368493"/>
            <a:ext cx="936104" cy="276999"/>
          </a:xfrm>
          <a:prstGeom prst="rect">
            <a:avLst/>
          </a:prstGeom>
          <a:noFill/>
        </p:spPr>
        <p:txBody>
          <a:bodyPr wrap="square" lIns="0" tIns="0" rIns="0" bIns="0" rtlCol="0">
            <a:spAutoFit/>
          </a:bodyPr>
          <a:lstStyle/>
          <a:p>
            <a:pPr algn="ctr"/>
            <a:r>
              <a:rPr lang="zh-CN" altLang="en-US" sz="1800" dirty="0">
                <a:solidFill>
                  <a:schemeClr val="bg2"/>
                </a:solidFill>
              </a:rPr>
              <a:t>段偏移</a:t>
            </a:r>
          </a:p>
        </p:txBody>
      </p:sp>
      <p:sp>
        <p:nvSpPr>
          <p:cNvPr id="12" name="文本框 11">
            <a:extLst>
              <a:ext uri="{FF2B5EF4-FFF2-40B4-BE49-F238E27FC236}">
                <a16:creationId xmlns:a16="http://schemas.microsoft.com/office/drawing/2014/main" id="{02D02F3B-5900-4E8F-B390-C38CBEDDF4EE}"/>
              </a:ext>
            </a:extLst>
          </p:cNvPr>
          <p:cNvSpPr txBox="1"/>
          <p:nvPr/>
        </p:nvSpPr>
        <p:spPr>
          <a:xfrm>
            <a:off x="4663785" y="648000"/>
            <a:ext cx="936104" cy="276999"/>
          </a:xfrm>
          <a:prstGeom prst="rect">
            <a:avLst/>
          </a:prstGeom>
          <a:noFill/>
        </p:spPr>
        <p:txBody>
          <a:bodyPr wrap="square" lIns="0" tIns="0" rIns="0" bIns="0" rtlCol="0">
            <a:spAutoFit/>
          </a:bodyPr>
          <a:lstStyle/>
          <a:p>
            <a:pPr algn="ctr"/>
            <a:r>
              <a:rPr lang="zh-CN" altLang="en-US" sz="1800" dirty="0">
                <a:solidFill>
                  <a:schemeClr val="bg2"/>
                </a:solidFill>
              </a:rPr>
              <a:t>段基地址</a:t>
            </a:r>
          </a:p>
        </p:txBody>
      </p:sp>
      <p:sp>
        <p:nvSpPr>
          <p:cNvPr id="13" name="文本框 12">
            <a:extLst>
              <a:ext uri="{FF2B5EF4-FFF2-40B4-BE49-F238E27FC236}">
                <a16:creationId xmlns:a16="http://schemas.microsoft.com/office/drawing/2014/main" id="{5F11CD1D-7918-4E92-8881-48D29ADD3E2B}"/>
              </a:ext>
            </a:extLst>
          </p:cNvPr>
          <p:cNvSpPr txBox="1"/>
          <p:nvPr/>
        </p:nvSpPr>
        <p:spPr>
          <a:xfrm>
            <a:off x="3727681" y="635056"/>
            <a:ext cx="936104" cy="276999"/>
          </a:xfrm>
          <a:prstGeom prst="rect">
            <a:avLst/>
          </a:prstGeom>
          <a:noFill/>
        </p:spPr>
        <p:txBody>
          <a:bodyPr wrap="square" lIns="0" tIns="0" rIns="0" bIns="0" rtlCol="0">
            <a:spAutoFit/>
          </a:bodyPr>
          <a:lstStyle/>
          <a:p>
            <a:pPr algn="ctr"/>
            <a:r>
              <a:rPr lang="zh-CN" altLang="en-US" sz="1800" dirty="0">
                <a:solidFill>
                  <a:schemeClr val="bg2"/>
                </a:solidFill>
              </a:rPr>
              <a:t>段界限</a:t>
            </a:r>
          </a:p>
        </p:txBody>
      </p:sp>
      <p:sp>
        <p:nvSpPr>
          <p:cNvPr id="14" name="Rectangle 9">
            <a:extLst>
              <a:ext uri="{FF2B5EF4-FFF2-40B4-BE49-F238E27FC236}">
                <a16:creationId xmlns:a16="http://schemas.microsoft.com/office/drawing/2014/main" id="{E8CAF013-89A5-4CFE-BC87-ADB98144150F}"/>
              </a:ext>
            </a:extLst>
          </p:cNvPr>
          <p:cNvSpPr txBox="1">
            <a:spLocks noChangeArrowheads="1"/>
          </p:cNvSpPr>
          <p:nvPr/>
        </p:nvSpPr>
        <p:spPr>
          <a:xfrm>
            <a:off x="0" y="4988643"/>
            <a:ext cx="9144000" cy="1871009"/>
          </a:xfrm>
          <a:prstGeom prst="rect">
            <a:avLst/>
          </a:prstGeom>
          <a:solidFill>
            <a:srgbClr val="C8D5F8"/>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2"/>
              </a:buClr>
              <a:buSzPct val="70000"/>
              <a:buFont typeface="Wingdings" panose="05000000000000000000" pitchFamily="2" charset="2"/>
              <a:buChar char="n"/>
              <a:tabLst>
                <a:tab pos="1830388" algn="l"/>
                <a:tab pos="2857500" algn="ctr"/>
              </a:tabLst>
              <a:defRPr/>
            </a:pP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二次内存访问</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访问段表，计算待访问指令或数据的物理地址</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对物理地址进行存</a:t>
            </a:r>
            <a:r>
              <a:rPr lang="en-US" altLang="zh-CN" sz="28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en-US" sz="28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取数据操作。</a:t>
            </a:r>
          </a:p>
          <a:p>
            <a:pPr marL="355600" lvl="2" indent="-355600" defTabSz="355600">
              <a:lnSpc>
                <a:spcPct val="90000"/>
              </a:lnSpc>
              <a:spcBef>
                <a:spcPct val="0"/>
              </a:spcBef>
              <a:buClr>
                <a:schemeClr val="bg2"/>
              </a:buClr>
              <a:buSzPct val="70000"/>
              <a:buFont typeface="Wingdings" panose="05000000000000000000" pitchFamily="2" charset="2"/>
              <a:buChar char="n"/>
              <a:tabLst>
                <a:tab pos="1830388" algn="l"/>
                <a:tab pos="2857500" algn="ctr"/>
              </a:tabLst>
              <a:defRPr/>
            </a:pP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为了提高访问速度，使用高速联想寄存器</a:t>
            </a:r>
          </a:p>
        </p:txBody>
      </p:sp>
      <p:sp>
        <p:nvSpPr>
          <p:cNvPr id="2" name="对话气泡: 矩形 1">
            <a:extLst>
              <a:ext uri="{FF2B5EF4-FFF2-40B4-BE49-F238E27FC236}">
                <a16:creationId xmlns:a16="http://schemas.microsoft.com/office/drawing/2014/main" id="{7A9098E4-A913-4CAE-A3A4-78A15F4521FF}"/>
              </a:ext>
            </a:extLst>
          </p:cNvPr>
          <p:cNvSpPr/>
          <p:nvPr/>
        </p:nvSpPr>
        <p:spPr bwMode="auto">
          <a:xfrm>
            <a:off x="1150053" y="3933056"/>
            <a:ext cx="2197811" cy="576064"/>
          </a:xfrm>
          <a:prstGeom prst="wedgeRectCallout">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 name="对话气泡: 椭圆形 2">
            <a:extLst>
              <a:ext uri="{FF2B5EF4-FFF2-40B4-BE49-F238E27FC236}">
                <a16:creationId xmlns:a16="http://schemas.microsoft.com/office/drawing/2014/main" id="{02D9A13B-7804-4B2D-878D-7B8ED36518B9}"/>
              </a:ext>
            </a:extLst>
          </p:cNvPr>
          <p:cNvSpPr/>
          <p:nvPr/>
        </p:nvSpPr>
        <p:spPr bwMode="auto">
          <a:xfrm>
            <a:off x="976774" y="4030776"/>
            <a:ext cx="2088232" cy="683691"/>
          </a:xfrm>
          <a:prstGeom prst="wedgeEllipseCallout">
            <a:avLst>
              <a:gd name="adj1" fmla="val 77055"/>
              <a:gd name="adj2" fmla="val -78156"/>
            </a:avLst>
          </a:prstGeom>
          <a:solidFill>
            <a:schemeClr val="accent2"/>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R="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r>
              <a:rPr kumimoji="1" lang="zh-CN" altLang="en-US" sz="2800" b="1" i="0" u="none" strike="noStrike" cap="none" normalizeH="0" baseline="0" dirty="0">
                <a:ln>
                  <a:noFill/>
                </a:ln>
                <a:solidFill>
                  <a:schemeClr val="bg2"/>
                </a:solidFill>
                <a:effectLst>
                  <a:outerShdw blurRad="38100" dist="38100" dir="2700000" algn="tl">
                    <a:srgbClr val="000000">
                      <a:alpha val="43137"/>
                    </a:srgbClr>
                  </a:outerShdw>
                </a:effectLst>
                <a:latin typeface="宋体" pitchFamily="2" charset="-122"/>
                <a:ea typeface="宋体" pitchFamily="2" charset="-122"/>
              </a:rPr>
              <a:t>内存保护</a:t>
            </a:r>
          </a:p>
        </p:txBody>
      </p:sp>
    </p:spTree>
    <p:extLst>
      <p:ext uri="{BB962C8B-B14F-4D97-AF65-F5344CB8AC3E}">
        <p14:creationId xmlns:p14="http://schemas.microsoft.com/office/powerpoint/2010/main" val="3539644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4">
                                            <p:bg/>
                                          </p:spTgt>
                                        </p:tgtEl>
                                        <p:attrNameLst>
                                          <p:attrName>style.visibility</p:attrName>
                                        </p:attrNameLst>
                                      </p:cBhvr>
                                      <p:to>
                                        <p:strVal val="visible"/>
                                      </p:to>
                                    </p:set>
                                    <p:animEffect transition="in" filter="blinds(horizontal)">
                                      <p:cBhvr>
                                        <p:cTn id="14" dur="500"/>
                                        <p:tgtEl>
                                          <p:spTgt spid="14">
                                            <p:bg/>
                                          </p:spTgt>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blinds(horizontal)">
                                      <p:cBhvr>
                                        <p:cTn id="17" dur="500"/>
                                        <p:tgtEl>
                                          <p:spTgt spid="14">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4">
                                            <p:txEl>
                                              <p:pRg st="1" end="1"/>
                                            </p:txEl>
                                          </p:spTgt>
                                        </p:tgtEl>
                                        <p:attrNameLst>
                                          <p:attrName>style.visibility</p:attrName>
                                        </p:attrNameLst>
                                      </p:cBhvr>
                                      <p:to>
                                        <p:strVal val="visible"/>
                                      </p:to>
                                    </p:set>
                                    <p:animEffect transition="in" filter="blinds(horizontal)">
                                      <p:cBhvr>
                                        <p:cTn id="20" dur="500"/>
                                        <p:tgtEl>
                                          <p:spTgt spid="14">
                                            <p:txEl>
                                              <p:pRg st="1" end="1"/>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blinds(horizontal)">
                                      <p:cBhvr>
                                        <p:cTn id="23" dur="500"/>
                                        <p:tgtEl>
                                          <p:spTgt spid="14">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4">
                                            <p:txEl>
                                              <p:pRg st="3" end="3"/>
                                            </p:txEl>
                                          </p:spTgt>
                                        </p:tgtEl>
                                        <p:attrNameLst>
                                          <p:attrName>style.visibility</p:attrName>
                                        </p:attrNameLst>
                                      </p:cBhvr>
                                      <p:to>
                                        <p:strVal val="visible"/>
                                      </p:to>
                                    </p:set>
                                    <p:animEffect transition="in" filter="blinds(horizontal)">
                                      <p:cBhvr>
                                        <p:cTn id="26"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2" animBg="1"/>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2A7E0B6-0573-454F-8F59-90ED33C11BBB}"/>
              </a:ext>
            </a:extLst>
          </p:cNvPr>
          <p:cNvSpPr>
            <a:spLocks noGrp="1"/>
          </p:cNvSpPr>
          <p:nvPr>
            <p:ph type="dt" sz="half" idx="10"/>
          </p:nvPr>
        </p:nvSpPr>
        <p:spPr>
          <a:xfrm>
            <a:off x="0" y="6145279"/>
            <a:ext cx="1905000" cy="457200"/>
          </a:xfrm>
        </p:spPr>
        <p:txBody>
          <a:bodyPr/>
          <a:lstStyle/>
          <a:p>
            <a:pPr>
              <a:defRPr/>
            </a:pPr>
            <a:fld id="{0F3703A3-1889-4D5A-B002-82B1611E7DF6}" type="datetime1">
              <a:rPr lang="zh-CN" altLang="en-US" smtClean="0"/>
              <a:pPr>
                <a:defRPr/>
              </a:pPr>
              <a:t>2024/11/20</a:t>
            </a:fld>
            <a:endParaRPr lang="en-US" altLang="zh-CN"/>
          </a:p>
        </p:txBody>
      </p:sp>
      <p:sp>
        <p:nvSpPr>
          <p:cNvPr id="4" name="Rectangle 44">
            <a:extLst>
              <a:ext uri="{FF2B5EF4-FFF2-40B4-BE49-F238E27FC236}">
                <a16:creationId xmlns:a16="http://schemas.microsoft.com/office/drawing/2014/main" id="{67ADF275-12B2-46F2-B78F-49510697461D}"/>
              </a:ext>
            </a:extLst>
          </p:cNvPr>
          <p:cNvSpPr>
            <a:spLocks noChangeArrowheads="1"/>
          </p:cNvSpPr>
          <p:nvPr/>
        </p:nvSpPr>
        <p:spPr bwMode="auto">
          <a:xfrm>
            <a:off x="2497736" y="-9236"/>
            <a:ext cx="4249737" cy="707886"/>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段的共享</a:t>
            </a:r>
          </a:p>
        </p:txBody>
      </p:sp>
      <p:sp>
        <p:nvSpPr>
          <p:cNvPr id="5" name="Rectangle 3">
            <a:extLst>
              <a:ext uri="{FF2B5EF4-FFF2-40B4-BE49-F238E27FC236}">
                <a16:creationId xmlns:a16="http://schemas.microsoft.com/office/drawing/2014/main" id="{2F737C42-8771-4475-96AF-39510DF7632E}"/>
              </a:ext>
            </a:extLst>
          </p:cNvPr>
          <p:cNvSpPr txBox="1">
            <a:spLocks noChangeArrowheads="1"/>
          </p:cNvSpPr>
          <p:nvPr/>
        </p:nvSpPr>
        <p:spPr>
          <a:xfrm>
            <a:off x="819819" y="724913"/>
            <a:ext cx="8028384" cy="56066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indent="0" algn="ctr" eaLnBrk="1" hangingPunct="1">
              <a:spcBef>
                <a:spcPct val="5000"/>
              </a:spcBef>
              <a:buNone/>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段按逻辑意义划分，便于内存信息共享</a:t>
            </a:r>
          </a:p>
        </p:txBody>
      </p:sp>
      <p:grpSp>
        <p:nvGrpSpPr>
          <p:cNvPr id="15" name="组合 14">
            <a:extLst>
              <a:ext uri="{FF2B5EF4-FFF2-40B4-BE49-F238E27FC236}">
                <a16:creationId xmlns:a16="http://schemas.microsoft.com/office/drawing/2014/main" id="{564935F4-33AC-49CD-8D03-551DC2D6CD74}"/>
              </a:ext>
            </a:extLst>
          </p:cNvPr>
          <p:cNvGrpSpPr/>
          <p:nvPr/>
        </p:nvGrpSpPr>
        <p:grpSpPr>
          <a:xfrm>
            <a:off x="1778288" y="1595624"/>
            <a:ext cx="5688632" cy="5197999"/>
            <a:chOff x="1417625" y="917708"/>
            <a:chExt cx="6308749" cy="5940292"/>
          </a:xfrm>
        </p:grpSpPr>
        <p:pic>
          <p:nvPicPr>
            <p:cNvPr id="8" name="Picture 4">
              <a:extLst>
                <a:ext uri="{FF2B5EF4-FFF2-40B4-BE49-F238E27FC236}">
                  <a16:creationId xmlns:a16="http://schemas.microsoft.com/office/drawing/2014/main" id="{92377537-4C15-4E1F-9BB6-01DE01B82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220" t="877" r="12987" b="1785"/>
            <a:stretch>
              <a:fillRect/>
            </a:stretch>
          </p:blipFill>
          <p:spPr bwMode="auto">
            <a:xfrm>
              <a:off x="1417625" y="917708"/>
              <a:ext cx="6308749" cy="5940292"/>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 name="椭圆 8">
              <a:extLst>
                <a:ext uri="{FF2B5EF4-FFF2-40B4-BE49-F238E27FC236}">
                  <a16:creationId xmlns:a16="http://schemas.microsoft.com/office/drawing/2014/main" id="{6D847044-A71D-4054-A136-A3E29FFC43A4}"/>
                </a:ext>
              </a:extLst>
            </p:cNvPr>
            <p:cNvSpPr>
              <a:spLocks noChangeArrowheads="1"/>
            </p:cNvSpPr>
            <p:nvPr/>
          </p:nvSpPr>
          <p:spPr bwMode="auto">
            <a:xfrm>
              <a:off x="1506600" y="1103374"/>
              <a:ext cx="1350901" cy="1083046"/>
            </a:xfrm>
            <a:prstGeom prst="ellipse">
              <a:avLst/>
            </a:prstGeom>
            <a:noFill/>
            <a:ln w="57150" cap="sq"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椭圆 9">
              <a:extLst>
                <a:ext uri="{FF2B5EF4-FFF2-40B4-BE49-F238E27FC236}">
                  <a16:creationId xmlns:a16="http://schemas.microsoft.com/office/drawing/2014/main" id="{106E1B8F-5215-4BEE-88FB-7BDEFFE8C97C}"/>
                </a:ext>
              </a:extLst>
            </p:cNvPr>
            <p:cNvSpPr>
              <a:spLocks noChangeArrowheads="1"/>
            </p:cNvSpPr>
            <p:nvPr/>
          </p:nvSpPr>
          <p:spPr bwMode="auto">
            <a:xfrm>
              <a:off x="1551795" y="4160537"/>
              <a:ext cx="1350902" cy="1083046"/>
            </a:xfrm>
            <a:prstGeom prst="ellipse">
              <a:avLst/>
            </a:prstGeom>
            <a:noFill/>
            <a:ln w="57150" cap="sq"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1" name="椭圆 10">
              <a:extLst>
                <a:ext uri="{FF2B5EF4-FFF2-40B4-BE49-F238E27FC236}">
                  <a16:creationId xmlns:a16="http://schemas.microsoft.com/office/drawing/2014/main" id="{302E62A3-FBFA-4049-A13F-F64AF6ADB61C}"/>
                </a:ext>
              </a:extLst>
            </p:cNvPr>
            <p:cNvSpPr>
              <a:spLocks noChangeArrowheads="1"/>
            </p:cNvSpPr>
            <p:nvPr/>
          </p:nvSpPr>
          <p:spPr bwMode="auto">
            <a:xfrm>
              <a:off x="4037070" y="2640788"/>
              <a:ext cx="1538764" cy="285750"/>
            </a:xfrm>
            <a:prstGeom prst="ellipse">
              <a:avLst/>
            </a:prstGeom>
            <a:noFill/>
            <a:ln w="57150" cap="sq"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椭圆 11">
              <a:extLst>
                <a:ext uri="{FF2B5EF4-FFF2-40B4-BE49-F238E27FC236}">
                  <a16:creationId xmlns:a16="http://schemas.microsoft.com/office/drawing/2014/main" id="{282FCA2C-228B-40BA-B5E5-E9D2449B3B01}"/>
                </a:ext>
              </a:extLst>
            </p:cNvPr>
            <p:cNvSpPr>
              <a:spLocks noChangeArrowheads="1"/>
            </p:cNvSpPr>
            <p:nvPr/>
          </p:nvSpPr>
          <p:spPr bwMode="auto">
            <a:xfrm>
              <a:off x="4104799" y="5651468"/>
              <a:ext cx="1471034" cy="285750"/>
            </a:xfrm>
            <a:prstGeom prst="ellipse">
              <a:avLst/>
            </a:prstGeom>
            <a:noFill/>
            <a:ln w="57150" cap="sq"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3" name="椭圆 12">
              <a:extLst>
                <a:ext uri="{FF2B5EF4-FFF2-40B4-BE49-F238E27FC236}">
                  <a16:creationId xmlns:a16="http://schemas.microsoft.com/office/drawing/2014/main" id="{3DC3F0C2-D2A3-4757-B558-24E861AF5536}"/>
                </a:ext>
              </a:extLst>
            </p:cNvPr>
            <p:cNvSpPr>
              <a:spLocks noChangeArrowheads="1"/>
            </p:cNvSpPr>
            <p:nvPr/>
          </p:nvSpPr>
          <p:spPr bwMode="auto">
            <a:xfrm>
              <a:off x="6388944" y="2381391"/>
              <a:ext cx="1296144" cy="1005538"/>
            </a:xfrm>
            <a:prstGeom prst="ellipse">
              <a:avLst/>
            </a:prstGeom>
            <a:noFill/>
            <a:ln w="57150" cap="sq"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0110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CE294586-ADCF-4840-806A-9BA20E5D20A6}"/>
              </a:ext>
            </a:extLst>
          </p:cNvPr>
          <p:cNvGraphicFramePr>
            <a:graphicFrameLocks noGrp="1"/>
          </p:cNvGraphicFramePr>
          <p:nvPr/>
        </p:nvGraphicFramePr>
        <p:xfrm>
          <a:off x="2214563" y="2143125"/>
          <a:ext cx="3286124" cy="2438400"/>
        </p:xfrm>
        <a:graphic>
          <a:graphicData uri="http://schemas.openxmlformats.org/drawingml/2006/table">
            <a:tbl>
              <a:tblPr firstRow="1" bandRow="1">
                <a:tableStyleId>{5C22544A-7EE6-4342-B048-85BDC9FD1C3A}</a:tableStyleId>
              </a:tblPr>
              <a:tblGrid>
                <a:gridCol w="837042">
                  <a:extLst>
                    <a:ext uri="{9D8B030D-6E8A-4147-A177-3AD203B41FA5}">
                      <a16:colId xmlns:a16="http://schemas.microsoft.com/office/drawing/2014/main" val="20000"/>
                    </a:ext>
                  </a:extLst>
                </a:gridCol>
                <a:gridCol w="913164">
                  <a:extLst>
                    <a:ext uri="{9D8B030D-6E8A-4147-A177-3AD203B41FA5}">
                      <a16:colId xmlns:a16="http://schemas.microsoft.com/office/drawing/2014/main" val="20001"/>
                    </a:ext>
                  </a:extLst>
                </a:gridCol>
                <a:gridCol w="1535918">
                  <a:extLst>
                    <a:ext uri="{9D8B030D-6E8A-4147-A177-3AD203B41FA5}">
                      <a16:colId xmlns:a16="http://schemas.microsoft.com/office/drawing/2014/main" val="20002"/>
                    </a:ext>
                  </a:extLst>
                </a:gridCol>
              </a:tblGrid>
              <a:tr h="370840">
                <a:tc>
                  <a:txBody>
                    <a:bodyPr/>
                    <a:lstStyle/>
                    <a:p>
                      <a:r>
                        <a:rPr lang="zh-CN" altLang="en-US" sz="2400" dirty="0">
                          <a:solidFill>
                            <a:schemeClr val="bg2"/>
                          </a:solidFill>
                        </a:rPr>
                        <a:t>段号</a:t>
                      </a:r>
                    </a:p>
                  </a:txBody>
                  <a:tcPr>
                    <a:solidFill>
                      <a:srgbClr val="FFC000"/>
                    </a:solidFill>
                  </a:tcPr>
                </a:tc>
                <a:tc>
                  <a:txBody>
                    <a:bodyPr/>
                    <a:lstStyle/>
                    <a:p>
                      <a:r>
                        <a:rPr lang="zh-CN" altLang="en-US" sz="2400" dirty="0">
                          <a:solidFill>
                            <a:schemeClr val="bg2"/>
                          </a:solidFill>
                        </a:rPr>
                        <a:t>段长</a:t>
                      </a:r>
                    </a:p>
                  </a:txBody>
                  <a:tcPr>
                    <a:solidFill>
                      <a:srgbClr val="FFC000"/>
                    </a:solidFill>
                  </a:tcPr>
                </a:tc>
                <a:tc>
                  <a:txBody>
                    <a:bodyPr/>
                    <a:lstStyle/>
                    <a:p>
                      <a:r>
                        <a:rPr lang="zh-CN" altLang="en-US" sz="2400" dirty="0">
                          <a:solidFill>
                            <a:schemeClr val="bg2"/>
                          </a:solidFill>
                        </a:rPr>
                        <a:t>内存始址</a:t>
                      </a:r>
                    </a:p>
                  </a:txBody>
                  <a:tcPr>
                    <a:solidFill>
                      <a:srgbClr val="FFC000"/>
                    </a:solidFill>
                  </a:tcPr>
                </a:tc>
                <a:extLst>
                  <a:ext uri="{0D108BD9-81ED-4DB2-BD59-A6C34878D82A}">
                    <a16:rowId xmlns:a16="http://schemas.microsoft.com/office/drawing/2014/main" val="10000"/>
                  </a:ext>
                </a:extLst>
              </a:tr>
              <a:tr h="370840">
                <a:tc>
                  <a:txBody>
                    <a:bodyPr/>
                    <a:lstStyle/>
                    <a:p>
                      <a:r>
                        <a:rPr lang="en-US" altLang="zh-CN" sz="2000" b="1" dirty="0"/>
                        <a:t>0</a:t>
                      </a:r>
                      <a:endParaRPr lang="zh-CN" altLang="en-US" sz="2000" b="1" dirty="0"/>
                    </a:p>
                  </a:txBody>
                  <a:tcPr>
                    <a:solidFill>
                      <a:srgbClr val="F8F8F8"/>
                    </a:solidFill>
                  </a:tcPr>
                </a:tc>
                <a:tc>
                  <a:txBody>
                    <a:bodyPr/>
                    <a:lstStyle/>
                    <a:p>
                      <a:r>
                        <a:rPr lang="en-US" altLang="zh-CN" sz="2000" b="1" dirty="0"/>
                        <a:t>600</a:t>
                      </a:r>
                      <a:endParaRPr lang="zh-CN" altLang="en-US" sz="2000" b="1" dirty="0"/>
                    </a:p>
                  </a:txBody>
                  <a:tcPr>
                    <a:solidFill>
                      <a:srgbClr val="F8F8F8"/>
                    </a:solidFill>
                  </a:tcPr>
                </a:tc>
                <a:tc>
                  <a:txBody>
                    <a:bodyPr/>
                    <a:lstStyle/>
                    <a:p>
                      <a:r>
                        <a:rPr lang="en-US" altLang="zh-CN" sz="2000" b="1" dirty="0"/>
                        <a:t>219</a:t>
                      </a:r>
                      <a:endParaRPr lang="zh-CN" altLang="en-US" sz="2000" b="1" dirty="0"/>
                    </a:p>
                  </a:txBody>
                  <a:tcPr>
                    <a:solidFill>
                      <a:srgbClr val="F8F8F8"/>
                    </a:solidFill>
                  </a:tcPr>
                </a:tc>
                <a:extLst>
                  <a:ext uri="{0D108BD9-81ED-4DB2-BD59-A6C34878D82A}">
                    <a16:rowId xmlns:a16="http://schemas.microsoft.com/office/drawing/2014/main" val="10001"/>
                  </a:ext>
                </a:extLst>
              </a:tr>
              <a:tr h="370840">
                <a:tc>
                  <a:txBody>
                    <a:bodyPr/>
                    <a:lstStyle/>
                    <a:p>
                      <a:r>
                        <a:rPr lang="en-US" altLang="zh-CN" sz="2000" b="1" dirty="0"/>
                        <a:t>1</a:t>
                      </a:r>
                      <a:endParaRPr lang="zh-CN" altLang="en-US" sz="2000" b="1" dirty="0"/>
                    </a:p>
                  </a:txBody>
                  <a:tcPr>
                    <a:solidFill>
                      <a:srgbClr val="F8F8F8"/>
                    </a:solidFill>
                  </a:tcPr>
                </a:tc>
                <a:tc>
                  <a:txBody>
                    <a:bodyPr/>
                    <a:lstStyle/>
                    <a:p>
                      <a:r>
                        <a:rPr lang="en-US" altLang="zh-CN" sz="2000" b="1" dirty="0"/>
                        <a:t>1400</a:t>
                      </a:r>
                      <a:endParaRPr lang="zh-CN" altLang="en-US" sz="2000" b="1" dirty="0"/>
                    </a:p>
                  </a:txBody>
                  <a:tcPr>
                    <a:solidFill>
                      <a:srgbClr val="F8F8F8"/>
                    </a:solidFill>
                  </a:tcPr>
                </a:tc>
                <a:tc>
                  <a:txBody>
                    <a:bodyPr/>
                    <a:lstStyle/>
                    <a:p>
                      <a:r>
                        <a:rPr lang="en-US" altLang="zh-CN" sz="2000" b="1" dirty="0"/>
                        <a:t>2300</a:t>
                      </a:r>
                      <a:endParaRPr lang="zh-CN" altLang="en-US" sz="2000" b="1" dirty="0"/>
                    </a:p>
                  </a:txBody>
                  <a:tcPr>
                    <a:solidFill>
                      <a:srgbClr val="F8F8F8"/>
                    </a:solidFill>
                  </a:tcPr>
                </a:tc>
                <a:extLst>
                  <a:ext uri="{0D108BD9-81ED-4DB2-BD59-A6C34878D82A}">
                    <a16:rowId xmlns:a16="http://schemas.microsoft.com/office/drawing/2014/main" val="10002"/>
                  </a:ext>
                </a:extLst>
              </a:tr>
              <a:tr h="370840">
                <a:tc>
                  <a:txBody>
                    <a:bodyPr/>
                    <a:lstStyle/>
                    <a:p>
                      <a:r>
                        <a:rPr lang="en-US" altLang="zh-CN" sz="2000" b="1" dirty="0"/>
                        <a:t>2</a:t>
                      </a:r>
                      <a:endParaRPr lang="zh-CN" altLang="en-US" sz="2000" b="1" dirty="0"/>
                    </a:p>
                  </a:txBody>
                  <a:tcPr>
                    <a:solidFill>
                      <a:srgbClr val="F8F8F8"/>
                    </a:solidFill>
                  </a:tcPr>
                </a:tc>
                <a:tc>
                  <a:txBody>
                    <a:bodyPr/>
                    <a:lstStyle/>
                    <a:p>
                      <a:r>
                        <a:rPr lang="en-US" altLang="zh-CN" sz="2000" b="1" dirty="0"/>
                        <a:t>100</a:t>
                      </a:r>
                      <a:endParaRPr lang="zh-CN" altLang="en-US" sz="2000" b="1" dirty="0"/>
                    </a:p>
                  </a:txBody>
                  <a:tcPr>
                    <a:solidFill>
                      <a:srgbClr val="F8F8F8"/>
                    </a:solidFill>
                  </a:tcPr>
                </a:tc>
                <a:tc>
                  <a:txBody>
                    <a:bodyPr/>
                    <a:lstStyle/>
                    <a:p>
                      <a:r>
                        <a:rPr lang="en-US" altLang="zh-CN" sz="2000" b="1" dirty="0"/>
                        <a:t>90</a:t>
                      </a:r>
                      <a:endParaRPr lang="zh-CN" altLang="en-US" sz="2000" b="1" dirty="0"/>
                    </a:p>
                  </a:txBody>
                  <a:tcPr>
                    <a:solidFill>
                      <a:srgbClr val="F8F8F8"/>
                    </a:solidFill>
                  </a:tcPr>
                </a:tc>
                <a:extLst>
                  <a:ext uri="{0D108BD9-81ED-4DB2-BD59-A6C34878D82A}">
                    <a16:rowId xmlns:a16="http://schemas.microsoft.com/office/drawing/2014/main" val="10003"/>
                  </a:ext>
                </a:extLst>
              </a:tr>
              <a:tr h="370840">
                <a:tc>
                  <a:txBody>
                    <a:bodyPr/>
                    <a:lstStyle/>
                    <a:p>
                      <a:r>
                        <a:rPr lang="en-US" altLang="zh-CN" sz="2000" b="1" dirty="0"/>
                        <a:t>3</a:t>
                      </a:r>
                      <a:endParaRPr lang="zh-CN" altLang="en-US" sz="2000" b="1" dirty="0"/>
                    </a:p>
                  </a:txBody>
                  <a:tcPr>
                    <a:solidFill>
                      <a:srgbClr val="F8F8F8"/>
                    </a:solidFill>
                  </a:tcPr>
                </a:tc>
                <a:tc>
                  <a:txBody>
                    <a:bodyPr/>
                    <a:lstStyle/>
                    <a:p>
                      <a:r>
                        <a:rPr lang="en-US" altLang="zh-CN" sz="2000" b="1" dirty="0"/>
                        <a:t>580</a:t>
                      </a:r>
                      <a:endParaRPr lang="zh-CN" altLang="en-US" sz="2000" b="1" dirty="0"/>
                    </a:p>
                  </a:txBody>
                  <a:tcPr>
                    <a:solidFill>
                      <a:srgbClr val="F8F8F8"/>
                    </a:solidFill>
                  </a:tcPr>
                </a:tc>
                <a:tc>
                  <a:txBody>
                    <a:bodyPr/>
                    <a:lstStyle/>
                    <a:p>
                      <a:r>
                        <a:rPr lang="en-US" altLang="zh-CN" sz="2000" b="1" dirty="0"/>
                        <a:t>1327</a:t>
                      </a:r>
                      <a:endParaRPr lang="zh-CN" altLang="en-US" sz="2000" b="1" dirty="0"/>
                    </a:p>
                  </a:txBody>
                  <a:tcPr>
                    <a:solidFill>
                      <a:srgbClr val="F8F8F8"/>
                    </a:solidFill>
                  </a:tcPr>
                </a:tc>
                <a:extLst>
                  <a:ext uri="{0D108BD9-81ED-4DB2-BD59-A6C34878D82A}">
                    <a16:rowId xmlns:a16="http://schemas.microsoft.com/office/drawing/2014/main" val="10004"/>
                  </a:ext>
                </a:extLst>
              </a:tr>
              <a:tr h="370840">
                <a:tc>
                  <a:txBody>
                    <a:bodyPr/>
                    <a:lstStyle/>
                    <a:p>
                      <a:r>
                        <a:rPr lang="en-US" altLang="zh-CN" sz="2000" b="1" dirty="0"/>
                        <a:t>4</a:t>
                      </a:r>
                      <a:endParaRPr lang="zh-CN" altLang="en-US" sz="2000" b="1" dirty="0"/>
                    </a:p>
                  </a:txBody>
                  <a:tcPr>
                    <a:solidFill>
                      <a:srgbClr val="F8F8F8"/>
                    </a:solidFill>
                  </a:tcPr>
                </a:tc>
                <a:tc>
                  <a:txBody>
                    <a:bodyPr/>
                    <a:lstStyle/>
                    <a:p>
                      <a:r>
                        <a:rPr lang="en-US" altLang="zh-CN" sz="2000" b="1" dirty="0"/>
                        <a:t>96</a:t>
                      </a:r>
                      <a:endParaRPr lang="zh-CN" altLang="en-US" sz="2000" b="1" dirty="0"/>
                    </a:p>
                  </a:txBody>
                  <a:tcPr>
                    <a:solidFill>
                      <a:srgbClr val="F8F8F8"/>
                    </a:solidFill>
                  </a:tcPr>
                </a:tc>
                <a:tc>
                  <a:txBody>
                    <a:bodyPr/>
                    <a:lstStyle/>
                    <a:p>
                      <a:r>
                        <a:rPr lang="en-US" altLang="zh-CN" sz="2000" b="1" dirty="0"/>
                        <a:t>1954</a:t>
                      </a:r>
                      <a:endParaRPr lang="zh-CN" altLang="en-US" sz="2000" b="1" dirty="0"/>
                    </a:p>
                  </a:txBody>
                  <a:tcPr>
                    <a:solidFill>
                      <a:srgbClr val="F8F8F8"/>
                    </a:solidFill>
                  </a:tcPr>
                </a:tc>
                <a:extLst>
                  <a:ext uri="{0D108BD9-81ED-4DB2-BD59-A6C34878D82A}">
                    <a16:rowId xmlns:a16="http://schemas.microsoft.com/office/drawing/2014/main" val="10005"/>
                  </a:ext>
                </a:extLst>
              </a:tr>
            </a:tbl>
          </a:graphicData>
        </a:graphic>
      </p:graphicFrame>
      <p:sp>
        <p:nvSpPr>
          <p:cNvPr id="7" name="Rectangle 4">
            <a:extLst>
              <a:ext uri="{FF2B5EF4-FFF2-40B4-BE49-F238E27FC236}">
                <a16:creationId xmlns:a16="http://schemas.microsoft.com/office/drawing/2014/main" id="{91F9A112-B751-46B5-AE71-A72C408D6B02}"/>
              </a:ext>
            </a:extLst>
          </p:cNvPr>
          <p:cNvSpPr txBox="1">
            <a:spLocks noRot="1" noChangeArrowheads="1"/>
          </p:cNvSpPr>
          <p:nvPr/>
        </p:nvSpPr>
        <p:spPr>
          <a:xfrm>
            <a:off x="35197" y="27709"/>
            <a:ext cx="9073605" cy="1923304"/>
          </a:xfrm>
          <a:prstGeom prst="rect">
            <a:avLst/>
          </a:prstGeom>
          <a:solidFill>
            <a:schemeClr val="bg1">
              <a:lumMod val="20000"/>
              <a:lumOff val="80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spcBef>
                <a:spcPct val="0"/>
              </a:spcBef>
              <a:buClrTx/>
              <a:buSzTx/>
              <a:buFontTx/>
              <a:buNone/>
            </a:pPr>
            <a:r>
              <a:rPr lang="en-US" altLang="zh-CN" sz="2800" dirty="0">
                <a:solidFill>
                  <a:schemeClr val="bg2"/>
                </a:solidFill>
                <a:effectLst/>
              </a:rPr>
              <a:t>[</a:t>
            </a:r>
            <a:r>
              <a:rPr lang="zh-CN" altLang="en-US" sz="2800" dirty="0">
                <a:solidFill>
                  <a:schemeClr val="bg2"/>
                </a:solidFill>
                <a:effectLst/>
              </a:rPr>
              <a:t>例</a:t>
            </a:r>
            <a:r>
              <a:rPr lang="en-US" altLang="zh-CN" sz="2800" dirty="0">
                <a:solidFill>
                  <a:schemeClr val="bg2"/>
                </a:solidFill>
                <a:effectLst/>
              </a:rPr>
              <a:t>2]</a:t>
            </a:r>
            <a:r>
              <a:rPr lang="zh-CN" altLang="en-US" sz="2800" dirty="0">
                <a:solidFill>
                  <a:schemeClr val="bg2"/>
                </a:solidFill>
                <a:effectLst/>
              </a:rPr>
              <a:t>某作业的段表已知，</a:t>
            </a:r>
            <a:r>
              <a:rPr lang="en-US" altLang="zh-CN" sz="2800" dirty="0">
                <a:solidFill>
                  <a:schemeClr val="bg2"/>
                </a:solidFill>
                <a:effectLst/>
              </a:rPr>
              <a:t>6</a:t>
            </a:r>
            <a:r>
              <a:rPr lang="zh-CN" altLang="en-US" sz="2800" dirty="0">
                <a:solidFill>
                  <a:schemeClr val="bg2"/>
                </a:solidFill>
                <a:effectLst/>
              </a:rPr>
              <a:t>个逻辑地址分别为</a:t>
            </a:r>
            <a:endParaRPr lang="en-US" altLang="zh-CN" sz="2800" dirty="0">
              <a:solidFill>
                <a:schemeClr val="bg2"/>
              </a:solidFill>
              <a:effectLst/>
            </a:endParaRPr>
          </a:p>
          <a:p>
            <a:pPr eaLnBrk="1" hangingPunct="1">
              <a:spcBef>
                <a:spcPct val="0"/>
              </a:spcBef>
              <a:buClrTx/>
              <a:buSzTx/>
              <a:buFontTx/>
              <a:buNone/>
            </a:pPr>
            <a:r>
              <a:rPr lang="en-US" altLang="zh-CN" sz="2800" dirty="0">
                <a:solidFill>
                  <a:schemeClr val="bg2"/>
                </a:solidFill>
                <a:effectLst/>
              </a:rPr>
              <a:t>[ 0, 430] [ 3, 400]   [ 1, 100] [2, 2500] [4 , 42] [1,1500]</a:t>
            </a:r>
          </a:p>
          <a:p>
            <a:pPr eaLnBrk="1" hangingPunct="1">
              <a:spcBef>
                <a:spcPct val="0"/>
              </a:spcBef>
              <a:buClrTx/>
              <a:buSzTx/>
              <a:buFontTx/>
              <a:buNone/>
            </a:pPr>
            <a:r>
              <a:rPr lang="zh-CN" altLang="en-US" sz="2800" dirty="0">
                <a:solidFill>
                  <a:schemeClr val="bg2"/>
                </a:solidFill>
                <a:effectLst/>
              </a:rPr>
              <a:t>求：各数对对应的物理地址；判断其将访问的段内位移是否越界。</a:t>
            </a:r>
            <a:endParaRPr lang="zh-CN" altLang="en-US" sz="2400" dirty="0">
              <a:solidFill>
                <a:schemeClr val="bg2"/>
              </a:solidFill>
              <a:effectLst/>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96551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3429C4A-754C-45C3-B3AC-B722B780A5C6}"/>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49</a:t>
            </a:fld>
            <a:r>
              <a:rPr lang="zh-CN" altLang="en-US"/>
              <a:t> 页</a:t>
            </a:r>
          </a:p>
        </p:txBody>
      </p:sp>
      <p:sp>
        <p:nvSpPr>
          <p:cNvPr id="5" name="Rectangle 2">
            <a:extLst>
              <a:ext uri="{FF2B5EF4-FFF2-40B4-BE49-F238E27FC236}">
                <a16:creationId xmlns:a16="http://schemas.microsoft.com/office/drawing/2014/main" id="{1C1DE822-7400-40BD-B8FA-A37743D0BB0E}"/>
              </a:ext>
            </a:extLst>
          </p:cNvPr>
          <p:cNvSpPr txBox="1">
            <a:spLocks noChangeArrowheads="1"/>
          </p:cNvSpPr>
          <p:nvPr/>
        </p:nvSpPr>
        <p:spPr>
          <a:xfrm>
            <a:off x="1563687" y="0"/>
            <a:ext cx="6016625" cy="8207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段式管理的特点</a:t>
            </a:r>
          </a:p>
        </p:txBody>
      </p:sp>
      <p:sp>
        <p:nvSpPr>
          <p:cNvPr id="6" name="Rectangle 3">
            <a:extLst>
              <a:ext uri="{FF2B5EF4-FFF2-40B4-BE49-F238E27FC236}">
                <a16:creationId xmlns:a16="http://schemas.microsoft.com/office/drawing/2014/main" id="{AEFF1975-2C65-41CA-8A91-C8C9BAC79963}"/>
              </a:ext>
            </a:extLst>
          </p:cNvPr>
          <p:cNvSpPr txBox="1">
            <a:spLocks noChangeArrowheads="1"/>
          </p:cNvSpPr>
          <p:nvPr/>
        </p:nvSpPr>
        <p:spPr>
          <a:xfrm>
            <a:off x="827584" y="1580704"/>
            <a:ext cx="8136904" cy="216024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便于信息段共享。</a:t>
            </a:r>
            <a:endParaRPr lang="en-US" altLang="zh-CN" sz="3600" dirty="0">
              <a:solidFill>
                <a:schemeClr val="bg1"/>
              </a:solidFill>
              <a:latin typeface="+mj-lt"/>
              <a:ea typeface="楷体" panose="02010609060101010101" pitchFamily="49" charset="-122"/>
            </a:endParaRP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段的长度受内存可用区大小的限制。</a:t>
            </a: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defRPr/>
            </a:pPr>
            <a:r>
              <a:rPr lang="zh-CN" altLang="en-US" sz="3600" dirty="0">
                <a:solidFill>
                  <a:schemeClr val="bg1"/>
                </a:solidFill>
                <a:latin typeface="+mj-lt"/>
                <a:ea typeface="楷体" panose="02010609060101010101" pitchFamily="49" charset="-122"/>
              </a:rPr>
              <a:t>要求硬件支持。</a:t>
            </a:r>
          </a:p>
        </p:txBody>
      </p:sp>
      <p:sp>
        <p:nvSpPr>
          <p:cNvPr id="8" name="AutoShape 7">
            <a:hlinkClick r:id="rId2"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8691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40B11B9-1FC4-4D7E-92D6-C224C01FEE5B}"/>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3" name="灯片编号占位符 2">
            <a:extLst>
              <a:ext uri="{FF2B5EF4-FFF2-40B4-BE49-F238E27FC236}">
                <a16:creationId xmlns:a16="http://schemas.microsoft.com/office/drawing/2014/main" id="{E117BD14-30F4-4677-BC32-F775E23D0436}"/>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50</a:t>
            </a:fld>
            <a:r>
              <a:rPr lang="zh-CN" altLang="en-US"/>
              <a:t> 页</a:t>
            </a:r>
          </a:p>
        </p:txBody>
      </p:sp>
      <p:sp>
        <p:nvSpPr>
          <p:cNvPr id="4" name="矩形 3">
            <a:hlinkClick r:id="rId2" action="ppaction://hlinksldjump"/>
            <a:extLst>
              <a:ext uri="{FF2B5EF4-FFF2-40B4-BE49-F238E27FC236}">
                <a16:creationId xmlns:a16="http://schemas.microsoft.com/office/drawing/2014/main" id="{BC0AF2D7-ADB7-40AA-964A-EA7024218EE6}"/>
              </a:ext>
            </a:extLst>
          </p:cNvPr>
          <p:cNvSpPr/>
          <p:nvPr/>
        </p:nvSpPr>
        <p:spPr>
          <a:xfrm>
            <a:off x="3453745" y="15032"/>
            <a:ext cx="2441694"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分 页</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3">
            <a:extLst>
              <a:ext uri="{FF2B5EF4-FFF2-40B4-BE49-F238E27FC236}">
                <a16:creationId xmlns:a16="http://schemas.microsoft.com/office/drawing/2014/main" id="{6E714C91-7874-4952-A571-EE8E48847BCB}"/>
              </a:ext>
            </a:extLst>
          </p:cNvPr>
          <p:cNvSpPr txBox="1">
            <a:spLocks noChangeArrowheads="1"/>
          </p:cNvSpPr>
          <p:nvPr/>
        </p:nvSpPr>
        <p:spPr>
          <a:xfrm>
            <a:off x="323528" y="883890"/>
            <a:ext cx="8713787" cy="1728291"/>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1" indent="0" algn="ctr" eaLnBrk="1" hangingPunct="1">
              <a:lnSpc>
                <a:spcPct val="90000"/>
              </a:lnSpc>
              <a:spcBef>
                <a:spcPct val="5000"/>
              </a:spcBef>
              <a:buClr>
                <a:schemeClr val="tx2"/>
              </a:buClr>
              <a:buNone/>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由曼彻斯特大学提出，</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0" lvl="1" indent="0" algn="ctr" eaLnBrk="1" hangingPunct="1">
              <a:lnSpc>
                <a:spcPct val="90000"/>
              </a:lnSpc>
              <a:spcBef>
                <a:spcPct val="5000"/>
              </a:spcBef>
              <a:buClr>
                <a:schemeClr val="tx2"/>
              </a:buClr>
              <a:buNone/>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并于</a:t>
            </a:r>
            <a:r>
              <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1960</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年前后在</a:t>
            </a:r>
            <a:r>
              <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Atlas</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计算机上实现。</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0" lvl="1" indent="0" algn="ctr" eaLnBrk="1" hangingPunct="1">
              <a:lnSpc>
                <a:spcPct val="90000"/>
              </a:lnSpc>
              <a:spcBef>
                <a:spcPct val="5000"/>
              </a:spcBef>
              <a:buClr>
                <a:schemeClr val="tx2"/>
              </a:buClr>
              <a:buNone/>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对操作系统的发展产生了深远影响。</a:t>
            </a:r>
          </a:p>
        </p:txBody>
      </p:sp>
      <p:sp>
        <p:nvSpPr>
          <p:cNvPr id="6" name="文本框 1">
            <a:extLst>
              <a:ext uri="{FF2B5EF4-FFF2-40B4-BE49-F238E27FC236}">
                <a16:creationId xmlns:a16="http://schemas.microsoft.com/office/drawing/2014/main" id="{DF10485A-8E1E-4C65-990B-C2A96615E76C}"/>
              </a:ext>
            </a:extLst>
          </p:cNvPr>
          <p:cNvSpPr txBox="1">
            <a:spLocks noChangeArrowheads="1"/>
          </p:cNvSpPr>
          <p:nvPr/>
        </p:nvSpPr>
        <p:spPr bwMode="auto">
          <a:xfrm>
            <a:off x="179164" y="3007451"/>
            <a:ext cx="8785671" cy="1200329"/>
          </a:xfrm>
          <a:prstGeom prst="rect">
            <a:avLst/>
          </a:prstGeom>
          <a:solidFill>
            <a:srgbClr val="FFFF00"/>
          </a:solidFill>
          <a:ln>
            <a:noFill/>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36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目前我们能接触到的计算机，</a:t>
            </a:r>
            <a:endParaRPr lang="en-US" altLang="zh-CN" sz="36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ctr">
              <a:spcBef>
                <a:spcPct val="0"/>
              </a:spcBef>
              <a:buClrTx/>
              <a:buSzTx/>
              <a:buFontTx/>
              <a:buNone/>
            </a:pPr>
            <a:r>
              <a:rPr lang="zh-CN" altLang="en-US" sz="36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台式到手机</a:t>
            </a:r>
            <a:r>
              <a:rPr lang="en-US" altLang="zh-CN" sz="36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36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都采用页式</a:t>
            </a:r>
          </a:p>
        </p:txBody>
      </p:sp>
      <p:sp>
        <p:nvSpPr>
          <p:cNvPr id="7"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4369521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09A5D1-BBB7-446D-AABB-A33CD99B72BB}"/>
              </a:ext>
            </a:extLst>
          </p:cNvPr>
          <p:cNvSpPr txBox="1">
            <a:spLocks noChangeArrowheads="1"/>
          </p:cNvSpPr>
          <p:nvPr/>
        </p:nvSpPr>
        <p:spPr>
          <a:xfrm>
            <a:off x="2699792" y="1124744"/>
            <a:ext cx="7491188" cy="875757"/>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7.5.1 </a:t>
            </a: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基 本 原 理</a:t>
            </a:r>
            <a:endPar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endParaRPr>
          </a:p>
        </p:txBody>
      </p:sp>
      <p:sp>
        <p:nvSpPr>
          <p:cNvPr id="5" name="Rectangle 3">
            <a:hlinkClick r:id="rId2" action="ppaction://hlinksldjump"/>
            <a:extLst>
              <a:ext uri="{FF2B5EF4-FFF2-40B4-BE49-F238E27FC236}">
                <a16:creationId xmlns:a16="http://schemas.microsoft.com/office/drawing/2014/main" id="{961F4DFE-FAD7-42D6-998D-F45991C62530}"/>
              </a:ext>
            </a:extLst>
          </p:cNvPr>
          <p:cNvSpPr txBox="1">
            <a:spLocks noChangeArrowheads="1"/>
          </p:cNvSpPr>
          <p:nvPr/>
        </p:nvSpPr>
        <p:spPr>
          <a:xfrm>
            <a:off x="2667783" y="2968106"/>
            <a:ext cx="5224436" cy="673153"/>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7.5.3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地 址 映 射</a:t>
            </a:r>
          </a:p>
        </p:txBody>
      </p:sp>
      <p:sp>
        <p:nvSpPr>
          <p:cNvPr id="6" name="Rectangle 3">
            <a:hlinkClick r:id="rId3" action="ppaction://hlinksldjump"/>
            <a:extLst>
              <a:ext uri="{FF2B5EF4-FFF2-40B4-BE49-F238E27FC236}">
                <a16:creationId xmlns:a16="http://schemas.microsoft.com/office/drawing/2014/main" id="{70578FEE-E15C-4C15-A7B0-FA6D513AAA77}"/>
              </a:ext>
            </a:extLst>
          </p:cNvPr>
          <p:cNvSpPr txBox="1">
            <a:spLocks noChangeArrowheads="1"/>
          </p:cNvSpPr>
          <p:nvPr/>
        </p:nvSpPr>
        <p:spPr>
          <a:xfrm>
            <a:off x="2640702" y="3881667"/>
            <a:ext cx="5251517"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7.5.4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 表 的 结 构</a:t>
            </a:r>
          </a:p>
        </p:txBody>
      </p:sp>
      <p:sp>
        <p:nvSpPr>
          <p:cNvPr id="7" name="Rectangle 3">
            <a:hlinkClick r:id="rId4" action="ppaction://hlinksldjump"/>
            <a:extLst>
              <a:ext uri="{FF2B5EF4-FFF2-40B4-BE49-F238E27FC236}">
                <a16:creationId xmlns:a16="http://schemas.microsoft.com/office/drawing/2014/main" id="{DDA69BEE-C4CC-41CA-A44A-7B8F3A2957D5}"/>
              </a:ext>
            </a:extLst>
          </p:cNvPr>
          <p:cNvSpPr txBox="1">
            <a:spLocks noChangeArrowheads="1"/>
          </p:cNvSpPr>
          <p:nvPr/>
        </p:nvSpPr>
        <p:spPr>
          <a:xfrm>
            <a:off x="2667783" y="2016003"/>
            <a:ext cx="5080420"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7.5.2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数 据 结 构</a:t>
            </a:r>
          </a:p>
        </p:txBody>
      </p:sp>
      <p:sp>
        <p:nvSpPr>
          <p:cNvPr id="8" name="Rectangle 3">
            <a:hlinkClick r:id="rId5" action="ppaction://hlinksldjump"/>
            <a:extLst>
              <a:ext uri="{FF2B5EF4-FFF2-40B4-BE49-F238E27FC236}">
                <a16:creationId xmlns:a16="http://schemas.microsoft.com/office/drawing/2014/main" id="{86CA5F59-5B8C-4992-A2BE-7871F682D012}"/>
              </a:ext>
            </a:extLst>
          </p:cNvPr>
          <p:cNvSpPr txBox="1">
            <a:spLocks noChangeArrowheads="1"/>
          </p:cNvSpPr>
          <p:nvPr/>
        </p:nvSpPr>
        <p:spPr>
          <a:xfrm>
            <a:off x="2699792" y="4709674"/>
            <a:ext cx="4112307"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7.5.5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小 节</a:t>
            </a:r>
          </a:p>
        </p:txBody>
      </p:sp>
      <p:sp>
        <p:nvSpPr>
          <p:cNvPr id="9" name="矩形 8">
            <a:hlinkClick r:id="rId6" action="ppaction://hlinksldjump"/>
            <a:extLst>
              <a:ext uri="{FF2B5EF4-FFF2-40B4-BE49-F238E27FC236}">
                <a16:creationId xmlns:a16="http://schemas.microsoft.com/office/drawing/2014/main" id="{BC0AF2D7-ADB7-40AA-964A-EA7024218EE6}"/>
              </a:ext>
            </a:extLst>
          </p:cNvPr>
          <p:cNvSpPr/>
          <p:nvPr/>
        </p:nvSpPr>
        <p:spPr>
          <a:xfrm>
            <a:off x="3453745" y="15032"/>
            <a:ext cx="2441694"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分 页</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AutoShape 7">
            <a:hlinkClick r:id="rId7" action="ppaction://hlinksldjump" highlightClick="1"/>
            <a:extLst>
              <a:ext uri="{FF2B5EF4-FFF2-40B4-BE49-F238E27FC236}">
                <a16:creationId xmlns:a16="http://schemas.microsoft.com/office/drawing/2014/main" id="{BFA6B1B6-F13D-4B43-BA5A-73BC366FF995}"/>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46759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8930" name="Rectangle 2"/>
          <p:cNvSpPr>
            <a:spLocks noGrp="1" noChangeArrowheads="1"/>
          </p:cNvSpPr>
          <p:nvPr>
            <p:ph type="body" sz="half" idx="1"/>
          </p:nvPr>
        </p:nvSpPr>
        <p:spPr>
          <a:xfrm>
            <a:off x="468313" y="596285"/>
            <a:ext cx="8675687" cy="2894629"/>
          </a:xfrm>
        </p:spPr>
        <p:txBody>
          <a:bodyPr/>
          <a:lstStyle/>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进程的虚拟空间划分</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若干个长度相等的页（</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page)</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硬件自动完成</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，页的大小</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 2</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的整数次幂。</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eaLnBrk="1" hangingPunct="1">
              <a:lnSpc>
                <a:spcPct val="90000"/>
              </a:lnSpc>
            </a:pPr>
            <a:endParaRPr lang="en-US" altLang="zh-CN" b="1" dirty="0">
              <a:solidFill>
                <a:srgbClr val="FFFF00"/>
              </a:solidFill>
              <a:ea typeface="楷体_GB2312" pitchFamily="49" charset="-122"/>
            </a:endParaRP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逻辑地址：页号</a:t>
            </a:r>
            <a:r>
              <a:rPr lang="en-US" altLang="zh-CN" sz="3600" b="1" kern="1200" dirty="0">
                <a:solidFill>
                  <a:schemeClr val="bg1"/>
                </a:solidFill>
                <a:latin typeface="+mj-lt"/>
                <a:ea typeface="楷体" panose="02010609060101010101" pitchFamily="49" charset="-122"/>
                <a:cs typeface="+mn-cs"/>
              </a:rPr>
              <a:t>p</a:t>
            </a:r>
            <a:r>
              <a:rPr lang="zh-CN" altLang="en-US" sz="3600" b="1" kern="1200" dirty="0">
                <a:solidFill>
                  <a:schemeClr val="bg1"/>
                </a:solidFill>
                <a:latin typeface="+mj-lt"/>
                <a:ea typeface="楷体" panose="02010609060101010101" pitchFamily="49" charset="-122"/>
                <a:cs typeface="+mn-cs"/>
              </a:rPr>
              <a:t>、页内地址</a:t>
            </a:r>
            <a:r>
              <a:rPr lang="en-US" altLang="zh-CN" sz="3600" b="1" kern="1200" dirty="0">
                <a:solidFill>
                  <a:schemeClr val="bg1"/>
                </a:solidFill>
                <a:latin typeface="+mj-lt"/>
                <a:ea typeface="楷体" panose="02010609060101010101" pitchFamily="49" charset="-122"/>
                <a:cs typeface="+mn-cs"/>
              </a:rPr>
              <a:t>d</a:t>
            </a:r>
            <a:r>
              <a:rPr lang="zh-CN" altLang="en-US" sz="3600" b="1" kern="1200" dirty="0">
                <a:solidFill>
                  <a:schemeClr val="bg1"/>
                </a:solidFill>
                <a:latin typeface="+mj-lt"/>
                <a:ea typeface="楷体" panose="02010609060101010101" pitchFamily="49" charset="-122"/>
                <a:cs typeface="+mn-cs"/>
              </a:rPr>
              <a:t>。</a:t>
            </a:r>
          </a:p>
        </p:txBody>
      </p:sp>
      <p:sp>
        <p:nvSpPr>
          <p:cNvPr id="508931" name="Rectangle 3"/>
          <p:cNvSpPr>
            <a:spLocks noGrp="1" noChangeArrowheads="1"/>
          </p:cNvSpPr>
          <p:nvPr>
            <p:ph type="title"/>
          </p:nvPr>
        </p:nvSpPr>
        <p:spPr>
          <a:xfrm>
            <a:off x="1115331" y="-49094"/>
            <a:ext cx="6984776" cy="692150"/>
          </a:xfrm>
        </p:spPr>
        <p:txBody>
          <a:body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7.5.1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页式管理的基本原理（</a:t>
            </a: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1</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a:t>
            </a:r>
          </a:p>
        </p:txBody>
      </p:sp>
      <p:grpSp>
        <p:nvGrpSpPr>
          <p:cNvPr id="2" name="Group 37"/>
          <p:cNvGrpSpPr>
            <a:grpSpLocks/>
          </p:cNvGrpSpPr>
          <p:nvPr/>
        </p:nvGrpSpPr>
        <p:grpSpPr bwMode="auto">
          <a:xfrm>
            <a:off x="2413000" y="3560763"/>
            <a:ext cx="3887788" cy="960437"/>
            <a:chOff x="1429" y="2134"/>
            <a:chExt cx="2449" cy="605"/>
          </a:xfrm>
        </p:grpSpPr>
        <p:sp>
          <p:nvSpPr>
            <p:cNvPr id="8209" name="Text Box 22"/>
            <p:cNvSpPr txBox="1">
              <a:spLocks noChangeArrowheads="1"/>
            </p:cNvSpPr>
            <p:nvPr/>
          </p:nvSpPr>
          <p:spPr bwMode="auto">
            <a:xfrm>
              <a:off x="1429" y="2134"/>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dirty="0">
                  <a:solidFill>
                    <a:schemeClr val="bg2"/>
                  </a:solidFill>
                  <a:latin typeface="Arial" panose="020B0604020202020204" pitchFamily="34" charset="0"/>
                </a:rPr>
                <a:t>页号</a:t>
              </a:r>
            </a:p>
          </p:txBody>
        </p:sp>
        <p:sp>
          <p:nvSpPr>
            <p:cNvPr id="8210" name="Text Box 23"/>
            <p:cNvSpPr txBox="1">
              <a:spLocks noChangeArrowheads="1"/>
            </p:cNvSpPr>
            <p:nvPr/>
          </p:nvSpPr>
          <p:spPr bwMode="auto">
            <a:xfrm>
              <a:off x="2245" y="2134"/>
              <a:ext cx="1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zh-CN" altLang="en-US" sz="2400" dirty="0">
                  <a:solidFill>
                    <a:schemeClr val="bg2"/>
                  </a:solidFill>
                  <a:latin typeface="宋体" panose="02010600030101010101" pitchFamily="2" charset="-122"/>
                </a:rPr>
                <a:t>页内地址</a:t>
              </a:r>
            </a:p>
          </p:txBody>
        </p:sp>
        <p:grpSp>
          <p:nvGrpSpPr>
            <p:cNvPr id="8211" name="Group 24"/>
            <p:cNvGrpSpPr>
              <a:grpSpLocks/>
            </p:cNvGrpSpPr>
            <p:nvPr/>
          </p:nvGrpSpPr>
          <p:grpSpPr bwMode="auto">
            <a:xfrm>
              <a:off x="1429" y="2406"/>
              <a:ext cx="2449" cy="333"/>
              <a:chOff x="1429" y="1026"/>
              <a:chExt cx="2449" cy="333"/>
            </a:xfrm>
          </p:grpSpPr>
          <p:sp>
            <p:nvSpPr>
              <p:cNvPr id="8212" name="Rectangle 25"/>
              <p:cNvSpPr>
                <a:spLocks noChangeArrowheads="1"/>
              </p:cNvSpPr>
              <p:nvPr/>
            </p:nvSpPr>
            <p:spPr bwMode="auto">
              <a:xfrm>
                <a:off x="1429" y="1071"/>
                <a:ext cx="2449" cy="273"/>
              </a:xfrm>
              <a:prstGeom prst="rect">
                <a:avLst/>
              </a:prstGeom>
              <a:solidFill>
                <a:schemeClr val="accent1"/>
              </a:solidFill>
              <a:ln w="22225" algn="ctr">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8213" name="Text Box 26"/>
              <p:cNvSpPr txBox="1">
                <a:spLocks noChangeArrowheads="1"/>
              </p:cNvSpPr>
              <p:nvPr/>
            </p:nvSpPr>
            <p:spPr bwMode="auto">
              <a:xfrm>
                <a:off x="1474" y="1026"/>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400">
                    <a:solidFill>
                      <a:schemeClr val="bg2"/>
                    </a:solidFill>
                  </a:rPr>
                  <a:t>p</a:t>
                </a:r>
              </a:p>
            </p:txBody>
          </p:sp>
          <p:sp>
            <p:nvSpPr>
              <p:cNvPr id="8214" name="Text Box 27"/>
              <p:cNvSpPr txBox="1">
                <a:spLocks noChangeArrowheads="1"/>
              </p:cNvSpPr>
              <p:nvPr/>
            </p:nvSpPr>
            <p:spPr bwMode="auto">
              <a:xfrm>
                <a:off x="2653" y="1071"/>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400">
                    <a:solidFill>
                      <a:schemeClr val="bg2"/>
                    </a:solidFill>
                  </a:rPr>
                  <a:t>d</a:t>
                </a:r>
              </a:p>
            </p:txBody>
          </p:sp>
          <p:sp>
            <p:nvSpPr>
              <p:cNvPr id="8215" name="Line 28"/>
              <p:cNvSpPr>
                <a:spLocks noChangeShapeType="1"/>
              </p:cNvSpPr>
              <p:nvPr/>
            </p:nvSpPr>
            <p:spPr bwMode="auto">
              <a:xfrm>
                <a:off x="2109" y="1071"/>
                <a:ext cx="0" cy="27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4" name="Group 38"/>
          <p:cNvGrpSpPr>
            <a:grpSpLocks/>
          </p:cNvGrpSpPr>
          <p:nvPr/>
        </p:nvGrpSpPr>
        <p:grpSpPr bwMode="auto">
          <a:xfrm>
            <a:off x="468313" y="4632325"/>
            <a:ext cx="7991475" cy="1414463"/>
            <a:chOff x="295" y="2937"/>
            <a:chExt cx="5034" cy="891"/>
          </a:xfrm>
        </p:grpSpPr>
        <p:sp>
          <p:nvSpPr>
            <p:cNvPr id="8202" name="Rectangle 29"/>
            <p:cNvSpPr>
              <a:spLocks noChangeArrowheads="1"/>
            </p:cNvSpPr>
            <p:nvPr/>
          </p:nvSpPr>
          <p:spPr bwMode="auto">
            <a:xfrm>
              <a:off x="295" y="2937"/>
              <a:ext cx="50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2"/>
                  </a:solidFill>
                  <a:ea typeface="楷体_GB2312" pitchFamily="49" charset="-122"/>
                </a:rPr>
                <a:t>例：页长为</a:t>
              </a:r>
              <a:r>
                <a:rPr lang="en-US" altLang="zh-CN" sz="2800" dirty="0">
                  <a:solidFill>
                    <a:schemeClr val="bg2"/>
                  </a:solidFill>
                  <a:ea typeface="楷体_GB2312" pitchFamily="49" charset="-122"/>
                </a:rPr>
                <a:t>1 K</a:t>
              </a:r>
              <a:r>
                <a:rPr lang="zh-CN" altLang="en-US" sz="2800" dirty="0">
                  <a:solidFill>
                    <a:schemeClr val="bg2"/>
                  </a:solidFill>
                  <a:ea typeface="楷体_GB2312" pitchFamily="49" charset="-122"/>
                </a:rPr>
                <a:t>，拥有</a:t>
              </a:r>
              <a:r>
                <a:rPr lang="en-US" altLang="zh-CN" sz="2800" dirty="0">
                  <a:solidFill>
                    <a:schemeClr val="bg2"/>
                  </a:solidFill>
                  <a:ea typeface="楷体_GB2312" pitchFamily="49" charset="-122"/>
                </a:rPr>
                <a:t>64</a:t>
              </a:r>
              <a:r>
                <a:rPr lang="zh-CN" altLang="en-US" sz="2800" dirty="0">
                  <a:solidFill>
                    <a:schemeClr val="bg2"/>
                  </a:solidFill>
                  <a:ea typeface="楷体_GB2312" pitchFamily="49" charset="-122"/>
                </a:rPr>
                <a:t>页的虚拟空间地址结构</a:t>
              </a:r>
              <a:r>
                <a:rPr lang="en-US" altLang="zh-CN" sz="2800" dirty="0">
                  <a:solidFill>
                    <a:schemeClr val="bg2"/>
                  </a:solidFill>
                  <a:ea typeface="楷体_GB2312" pitchFamily="49" charset="-122"/>
                </a:rPr>
                <a:t>:</a:t>
              </a:r>
            </a:p>
          </p:txBody>
        </p:sp>
        <p:grpSp>
          <p:nvGrpSpPr>
            <p:cNvPr id="8203" name="Group 30"/>
            <p:cNvGrpSpPr>
              <a:grpSpLocks/>
            </p:cNvGrpSpPr>
            <p:nvPr/>
          </p:nvGrpSpPr>
          <p:grpSpPr bwMode="auto">
            <a:xfrm>
              <a:off x="1429" y="3346"/>
              <a:ext cx="2540" cy="467"/>
              <a:chOff x="1338" y="2646"/>
              <a:chExt cx="2540" cy="467"/>
            </a:xfrm>
          </p:grpSpPr>
          <p:sp>
            <p:nvSpPr>
              <p:cNvPr id="8207" name="Rectangle 31"/>
              <p:cNvSpPr>
                <a:spLocks noChangeArrowheads="1"/>
              </p:cNvSpPr>
              <p:nvPr/>
            </p:nvSpPr>
            <p:spPr bwMode="auto">
              <a:xfrm>
                <a:off x="1338" y="2646"/>
                <a:ext cx="25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000" dirty="0">
                    <a:solidFill>
                      <a:srgbClr val="990099"/>
                    </a:solidFill>
                  </a:rPr>
                  <a:t> 15                 10  9                            0</a:t>
                </a:r>
              </a:p>
            </p:txBody>
          </p:sp>
          <p:sp>
            <p:nvSpPr>
              <p:cNvPr id="8208" name="Rectangle 32"/>
              <p:cNvSpPr>
                <a:spLocks noChangeArrowheads="1"/>
              </p:cNvSpPr>
              <p:nvPr/>
            </p:nvSpPr>
            <p:spPr bwMode="auto">
              <a:xfrm>
                <a:off x="1383" y="2840"/>
                <a:ext cx="2449" cy="273"/>
              </a:xfrm>
              <a:prstGeom prst="rect">
                <a:avLst/>
              </a:prstGeom>
              <a:solidFill>
                <a:schemeClr val="accent1"/>
              </a:solidFill>
              <a:ln w="22225" algn="ctr">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8204" name="Text Box 33"/>
            <p:cNvSpPr txBox="1">
              <a:spLocks noChangeArrowheads="1"/>
            </p:cNvSpPr>
            <p:nvPr/>
          </p:nvSpPr>
          <p:spPr bwMode="auto">
            <a:xfrm>
              <a:off x="1610" y="3495"/>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400">
                  <a:solidFill>
                    <a:schemeClr val="bg2"/>
                  </a:solidFill>
                </a:rPr>
                <a:t>p</a:t>
              </a:r>
            </a:p>
          </p:txBody>
        </p:sp>
        <p:sp>
          <p:nvSpPr>
            <p:cNvPr id="8205" name="Text Box 34"/>
            <p:cNvSpPr txBox="1">
              <a:spLocks noChangeArrowheads="1"/>
            </p:cNvSpPr>
            <p:nvPr/>
          </p:nvSpPr>
          <p:spPr bwMode="auto">
            <a:xfrm>
              <a:off x="2789" y="3540"/>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400">
                  <a:solidFill>
                    <a:schemeClr val="bg2"/>
                  </a:solidFill>
                </a:rPr>
                <a:t>d</a:t>
              </a:r>
            </a:p>
          </p:txBody>
        </p:sp>
        <p:sp>
          <p:nvSpPr>
            <p:cNvPr id="8206" name="Line 35"/>
            <p:cNvSpPr>
              <a:spLocks noChangeShapeType="1"/>
            </p:cNvSpPr>
            <p:nvPr/>
          </p:nvSpPr>
          <p:spPr bwMode="auto">
            <a:xfrm>
              <a:off x="2517" y="3540"/>
              <a:ext cx="0" cy="27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08964" name="Text Box 36"/>
          <p:cNvSpPr txBox="1">
            <a:spLocks noChangeArrowheads="1"/>
          </p:cNvSpPr>
          <p:nvPr/>
        </p:nvSpPr>
        <p:spPr bwMode="auto">
          <a:xfrm>
            <a:off x="1187450" y="6092825"/>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0" lang="en-US" altLang="zh-CN" sz="2800" dirty="0">
                <a:solidFill>
                  <a:schemeClr val="bg2"/>
                </a:solidFill>
                <a:ea typeface="楷体_GB2312" pitchFamily="49" charset="-122"/>
              </a:rPr>
              <a:t>2</a:t>
            </a:r>
            <a:r>
              <a:rPr kumimoji="0" lang="en-US" altLang="zh-CN" sz="2800" baseline="30000" dirty="0">
                <a:solidFill>
                  <a:schemeClr val="bg2"/>
                </a:solidFill>
                <a:ea typeface="楷体_GB2312" pitchFamily="49" charset="-122"/>
              </a:rPr>
              <a:t>6</a:t>
            </a:r>
            <a:r>
              <a:rPr kumimoji="0" lang="en-US" altLang="zh-CN" sz="2800" dirty="0">
                <a:solidFill>
                  <a:schemeClr val="bg2"/>
                </a:solidFill>
                <a:ea typeface="楷体_GB2312" pitchFamily="49" charset="-122"/>
              </a:rPr>
              <a:t>=64(</a:t>
            </a:r>
            <a:r>
              <a:rPr kumimoji="0" lang="zh-CN" altLang="en-US" sz="2800" dirty="0">
                <a:solidFill>
                  <a:schemeClr val="bg2"/>
                </a:solidFill>
                <a:ea typeface="楷体_GB2312" pitchFamily="49" charset="-122"/>
              </a:rPr>
              <a:t>页</a:t>
            </a:r>
            <a:r>
              <a:rPr kumimoji="0" lang="en-US" altLang="zh-CN" sz="2800" dirty="0">
                <a:solidFill>
                  <a:schemeClr val="bg2"/>
                </a:solidFill>
                <a:ea typeface="楷体_GB2312" pitchFamily="49" charset="-122"/>
              </a:rPr>
              <a:t>)</a:t>
            </a:r>
            <a:r>
              <a:rPr kumimoji="0" lang="zh-CN" altLang="en-US" sz="2800" dirty="0">
                <a:solidFill>
                  <a:schemeClr val="bg2"/>
                </a:solidFill>
                <a:ea typeface="楷体_GB2312" pitchFamily="49" charset="-122"/>
              </a:rPr>
              <a:t>，  页的长度</a:t>
            </a:r>
            <a:r>
              <a:rPr kumimoji="0" lang="en-US" altLang="zh-CN" sz="2800" dirty="0">
                <a:solidFill>
                  <a:schemeClr val="bg2"/>
                </a:solidFill>
                <a:ea typeface="楷体_GB2312" pitchFamily="49" charset="-122"/>
              </a:rPr>
              <a:t>= 2</a:t>
            </a:r>
            <a:r>
              <a:rPr kumimoji="0" lang="en-US" altLang="zh-CN" sz="2800" baseline="30000" dirty="0">
                <a:solidFill>
                  <a:schemeClr val="bg2"/>
                </a:solidFill>
                <a:ea typeface="楷体_GB2312" pitchFamily="49" charset="-122"/>
              </a:rPr>
              <a:t>10</a:t>
            </a:r>
            <a:r>
              <a:rPr kumimoji="0" lang="en-US" altLang="zh-CN" sz="2800" dirty="0">
                <a:solidFill>
                  <a:schemeClr val="bg2"/>
                </a:solidFill>
                <a:ea typeface="楷体_GB2312" pitchFamily="49" charset="-122"/>
              </a:rPr>
              <a:t>=1024(</a:t>
            </a:r>
            <a:r>
              <a:rPr kumimoji="0" lang="zh-CN" altLang="en-US" sz="2800" dirty="0">
                <a:solidFill>
                  <a:schemeClr val="bg2"/>
                </a:solidFill>
                <a:ea typeface="楷体_GB2312" pitchFamily="49" charset="-122"/>
              </a:rPr>
              <a:t>字节</a:t>
            </a:r>
            <a:r>
              <a:rPr kumimoji="0" lang="en-US" altLang="zh-CN" sz="2800" dirty="0">
                <a:solidFill>
                  <a:schemeClr val="bg2"/>
                </a:solidFill>
                <a:ea typeface="楷体_GB2312" pitchFamily="49" charset="-122"/>
              </a:rPr>
              <a:t>)=1K</a:t>
            </a:r>
          </a:p>
        </p:txBody>
      </p:sp>
      <p:sp>
        <p:nvSpPr>
          <p:cNvPr id="508967" name="Text Box 39"/>
          <p:cNvSpPr txBox="1">
            <a:spLocks noChangeArrowheads="1"/>
          </p:cNvSpPr>
          <p:nvPr/>
        </p:nvSpPr>
        <p:spPr bwMode="auto">
          <a:xfrm>
            <a:off x="466946" y="2446987"/>
            <a:ext cx="8242052" cy="523220"/>
          </a:xfrm>
          <a:prstGeom prst="rect">
            <a:avLst/>
          </a:prstGeom>
          <a:solidFill>
            <a:schemeClr val="tx1">
              <a:lumMod val="85000"/>
            </a:schemeClr>
          </a:solidFill>
          <a:ln>
            <a:noFill/>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dirty="0">
                <a:solidFill>
                  <a:schemeClr val="bg2"/>
                </a:solidFill>
              </a:rPr>
              <a:t>2</a:t>
            </a:r>
            <a:r>
              <a:rPr lang="en-US" altLang="zh-CN" sz="2800" baseline="30000" dirty="0">
                <a:solidFill>
                  <a:schemeClr val="bg2"/>
                </a:solidFill>
              </a:rPr>
              <a:t>10</a:t>
            </a:r>
            <a:r>
              <a:rPr lang="en-US" altLang="zh-CN" sz="2800" dirty="0">
                <a:solidFill>
                  <a:schemeClr val="bg2"/>
                </a:solidFill>
              </a:rPr>
              <a:t>=1K     2</a:t>
            </a:r>
            <a:r>
              <a:rPr lang="en-US" altLang="zh-CN" sz="2800" baseline="30000" dirty="0">
                <a:solidFill>
                  <a:schemeClr val="bg2"/>
                </a:solidFill>
              </a:rPr>
              <a:t>11</a:t>
            </a:r>
            <a:r>
              <a:rPr lang="en-US" altLang="zh-CN" sz="2800" dirty="0">
                <a:solidFill>
                  <a:schemeClr val="bg2"/>
                </a:solidFill>
              </a:rPr>
              <a:t>=2K     2</a:t>
            </a:r>
            <a:r>
              <a:rPr lang="en-US" altLang="zh-CN" sz="2800" baseline="30000" dirty="0">
                <a:solidFill>
                  <a:schemeClr val="bg2"/>
                </a:solidFill>
              </a:rPr>
              <a:t>12</a:t>
            </a:r>
            <a:r>
              <a:rPr lang="en-US" altLang="zh-CN" sz="2800" dirty="0">
                <a:solidFill>
                  <a:schemeClr val="bg2"/>
                </a:solidFill>
              </a:rPr>
              <a:t>=4K ……     2</a:t>
            </a:r>
            <a:r>
              <a:rPr lang="en-US" altLang="zh-CN" sz="2800" baseline="30000" dirty="0">
                <a:solidFill>
                  <a:schemeClr val="bg2"/>
                </a:solidFill>
              </a:rPr>
              <a:t>20</a:t>
            </a:r>
            <a:r>
              <a:rPr lang="en-US" altLang="zh-CN" sz="2800" dirty="0">
                <a:solidFill>
                  <a:schemeClr val="bg2"/>
                </a:solidFill>
              </a:rPr>
              <a:t>=1024K=1M</a:t>
            </a:r>
          </a:p>
        </p:txBody>
      </p:sp>
      <p:sp>
        <p:nvSpPr>
          <p:cNvPr id="2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901057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8967"/>
                                        </p:tgtEl>
                                        <p:attrNameLst>
                                          <p:attrName>style.visibility</p:attrName>
                                        </p:attrNameLst>
                                      </p:cBhvr>
                                      <p:to>
                                        <p:strVal val="visible"/>
                                      </p:to>
                                    </p:set>
                                    <p:animEffect transition="in" filter="blinds(horizontal)">
                                      <p:cBhvr>
                                        <p:cTn id="7" dur="500"/>
                                        <p:tgtEl>
                                          <p:spTgt spid="5089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8930">
                                            <p:txEl>
                                              <p:pRg st="4" end="4"/>
                                            </p:txEl>
                                          </p:spTgt>
                                        </p:tgtEl>
                                        <p:attrNameLst>
                                          <p:attrName>style.visibility</p:attrName>
                                        </p:attrNameLst>
                                      </p:cBhvr>
                                      <p:to>
                                        <p:strVal val="visible"/>
                                      </p:to>
                                    </p:set>
                                    <p:animEffect transition="in" filter="blinds(horizontal)">
                                      <p:cBhvr>
                                        <p:cTn id="12" dur="500"/>
                                        <p:tgtEl>
                                          <p:spTgt spid="508930">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08964"/>
                                        </p:tgtEl>
                                        <p:attrNameLst>
                                          <p:attrName>style.visibility</p:attrName>
                                        </p:attrNameLst>
                                      </p:cBhvr>
                                      <p:to>
                                        <p:strVal val="visible"/>
                                      </p:to>
                                    </p:set>
                                    <p:animEffect transition="in" filter="blinds(horizontal)">
                                      <p:cBhvr>
                                        <p:cTn id="27" dur="500"/>
                                        <p:tgtEl>
                                          <p:spTgt spid="508964"/>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64" grpId="0"/>
      <p:bldP spid="508967"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0" y="620713"/>
            <a:ext cx="9127244" cy="3310959"/>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内存空间</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rgbClr val="FF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按页的大小</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划分为大小相等的区域</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r>
              <a:rPr lang="zh-CN" altLang="en-US" sz="32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块</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 </a:t>
            </a:r>
            <a:r>
              <a:rPr lang="en-US" altLang="zh-CN" sz="28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page frame</a:t>
            </a:r>
            <a:r>
              <a:rPr lang="zh-CN" altLang="en-US" sz="28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内存块、物理页面、页框、帧）。</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内存分配</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以页为单位</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、按进程的页数分配。</a:t>
            </a:r>
          </a:p>
          <a:p>
            <a:pPr marL="812800" lvl="3" indent="-355600" defTabSz="355600">
              <a:lnSpc>
                <a:spcPct val="90000"/>
              </a:lnSpc>
              <a:spcBef>
                <a:spcPct val="0"/>
              </a:spcBef>
              <a:buClr>
                <a:schemeClr val="bg2"/>
              </a:buClr>
              <a:buSzPct val="80000"/>
              <a:buFont typeface="Wingdings" panose="05000000000000000000" pitchFamily="2" charset="2"/>
              <a:buChar char="n"/>
              <a:defRPr/>
            </a:pPr>
            <a:r>
              <a:rPr lang="zh-CN" altLang="en-US" sz="32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地址变换机构</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：逻辑上连续的页映射到物理上不连续的主存块中去</a:t>
            </a:r>
          </a:p>
        </p:txBody>
      </p:sp>
      <p:grpSp>
        <p:nvGrpSpPr>
          <p:cNvPr id="10" name="组合 9"/>
          <p:cNvGrpSpPr>
            <a:grpSpLocks/>
          </p:cNvGrpSpPr>
          <p:nvPr/>
        </p:nvGrpSpPr>
        <p:grpSpPr bwMode="auto">
          <a:xfrm>
            <a:off x="1295834" y="3931672"/>
            <a:ext cx="6623769" cy="2768600"/>
            <a:chOff x="1044575" y="3708400"/>
            <a:chExt cx="6840538" cy="3169203"/>
          </a:xfrm>
        </p:grpSpPr>
        <p:pic>
          <p:nvPicPr>
            <p:cNvPr id="92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3708400"/>
              <a:ext cx="6840538"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5900849"/>
              <a:ext cx="115212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12032" y="6053249"/>
              <a:ext cx="115212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61238" y="6184895"/>
              <a:ext cx="936104" cy="39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180147" y="6560561"/>
              <a:ext cx="2704965" cy="29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文本框 4"/>
            <p:cNvSpPr txBox="1">
              <a:spLocks noChangeArrowheads="1"/>
            </p:cNvSpPr>
            <p:nvPr/>
          </p:nvSpPr>
          <p:spPr bwMode="auto">
            <a:xfrm>
              <a:off x="1127947" y="6015618"/>
              <a:ext cx="1589625" cy="387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1600" dirty="0"/>
                <a:t>逻辑地址空间</a:t>
              </a:r>
            </a:p>
          </p:txBody>
        </p:sp>
        <p:sp>
          <p:nvSpPr>
            <p:cNvPr id="9229" name="文本框 6"/>
            <p:cNvSpPr txBox="1">
              <a:spLocks noChangeArrowheads="1"/>
            </p:cNvSpPr>
            <p:nvPr/>
          </p:nvSpPr>
          <p:spPr bwMode="auto">
            <a:xfrm>
              <a:off x="3758635" y="6169506"/>
              <a:ext cx="7988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1800"/>
                <a:t>页表</a:t>
              </a:r>
            </a:p>
          </p:txBody>
        </p:sp>
        <p:sp>
          <p:nvSpPr>
            <p:cNvPr id="9230" name="文本框 8"/>
            <p:cNvSpPr txBox="1">
              <a:spLocks noChangeArrowheads="1"/>
            </p:cNvSpPr>
            <p:nvPr/>
          </p:nvSpPr>
          <p:spPr bwMode="auto">
            <a:xfrm>
              <a:off x="6153273" y="6508271"/>
              <a:ext cx="14870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1800"/>
                <a:t>内存空间</a:t>
              </a:r>
            </a:p>
          </p:txBody>
        </p:sp>
      </p:grpSp>
      <p:sp>
        <p:nvSpPr>
          <p:cNvPr id="15" name="Rectangle 3">
            <a:extLst>
              <a:ext uri="{FF2B5EF4-FFF2-40B4-BE49-F238E27FC236}">
                <a16:creationId xmlns:a16="http://schemas.microsoft.com/office/drawing/2014/main" id="{FB7F3CA7-1488-4DB4-95E7-D2C10A30839F}"/>
              </a:ext>
            </a:extLst>
          </p:cNvPr>
          <p:cNvSpPr>
            <a:spLocks noGrp="1" noChangeArrowheads="1"/>
          </p:cNvSpPr>
          <p:nvPr>
            <p:ph type="title"/>
          </p:nvPr>
        </p:nvSpPr>
        <p:spPr>
          <a:xfrm>
            <a:off x="1115331" y="-49094"/>
            <a:ext cx="6984776" cy="692150"/>
          </a:xfrm>
        </p:spPr>
        <p:txBody>
          <a:body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7.5.1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页式管理的基本原理（</a:t>
            </a: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2</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a:t>
            </a:r>
          </a:p>
        </p:txBody>
      </p:sp>
      <p:sp>
        <p:nvSpPr>
          <p:cNvPr id="1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59574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1+#ppt_w/2"/>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F5F4DFE-91CD-4EAF-881D-297CAEDADC9E}"/>
              </a:ext>
            </a:extLst>
          </p:cNvPr>
          <p:cNvSpPr txBox="1">
            <a:spLocks noChangeArrowheads="1"/>
          </p:cNvSpPr>
          <p:nvPr/>
        </p:nvSpPr>
        <p:spPr>
          <a:xfrm>
            <a:off x="1419225" y="-59394"/>
            <a:ext cx="630555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tabLst>
                <a:tab pos="2605088"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获取</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系统页的大小</a:t>
            </a:r>
            <a:endPar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5" name="Rectangle 3">
            <a:extLst>
              <a:ext uri="{FF2B5EF4-FFF2-40B4-BE49-F238E27FC236}">
                <a16:creationId xmlns:a16="http://schemas.microsoft.com/office/drawing/2014/main" id="{1F63D550-ED7F-427D-A8A4-173EBFF3E321}"/>
              </a:ext>
            </a:extLst>
          </p:cNvPr>
          <p:cNvSpPr txBox="1">
            <a:spLocks noChangeArrowheads="1"/>
          </p:cNvSpPr>
          <p:nvPr/>
        </p:nvSpPr>
        <p:spPr>
          <a:xfrm>
            <a:off x="827584" y="1580704"/>
            <a:ext cx="8136904" cy="1704280"/>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系统调用：</a:t>
            </a:r>
            <a:r>
              <a:rPr lang="en-US" altLang="zh-CN" sz="3600" dirty="0" err="1">
                <a:solidFill>
                  <a:schemeClr val="bg1"/>
                </a:solidFill>
                <a:latin typeface="+mj-lt"/>
                <a:ea typeface="楷体" panose="02010609060101010101" pitchFamily="49" charset="-122"/>
              </a:rPr>
              <a:t>getpagesize</a:t>
            </a:r>
            <a:r>
              <a:rPr lang="en-US" altLang="zh-CN" sz="3600" dirty="0">
                <a:solidFill>
                  <a:schemeClr val="bg1"/>
                </a:solidFill>
                <a:latin typeface="+mj-lt"/>
                <a:ea typeface="楷体" panose="02010609060101010101" pitchFamily="49" charset="-122"/>
              </a:rPr>
              <a:t>( )</a:t>
            </a:r>
            <a:r>
              <a:rPr lang="zh-CN" altLang="en-US" sz="3600" dirty="0">
                <a:solidFill>
                  <a:schemeClr val="bg1"/>
                </a:solidFill>
                <a:latin typeface="+mj-lt"/>
                <a:ea typeface="楷体" panose="02010609060101010101" pitchFamily="49" charset="-122"/>
              </a:rPr>
              <a:t>。</a:t>
            </a:r>
            <a:endParaRPr lang="en-US" altLang="zh-CN" sz="3600" dirty="0">
              <a:solidFill>
                <a:schemeClr val="bg1"/>
              </a:solidFill>
              <a:latin typeface="+mj-lt"/>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命令行：</a:t>
            </a:r>
            <a:r>
              <a:rPr lang="en-US" altLang="zh-CN" sz="3600" dirty="0" err="1">
                <a:solidFill>
                  <a:schemeClr val="bg1"/>
                </a:solidFill>
                <a:latin typeface="+mj-lt"/>
                <a:ea typeface="楷体" panose="02010609060101010101" pitchFamily="49" charset="-122"/>
              </a:rPr>
              <a:t>getconf</a:t>
            </a:r>
            <a:r>
              <a:rPr lang="en-US" altLang="zh-CN" sz="3600" dirty="0">
                <a:solidFill>
                  <a:schemeClr val="bg1"/>
                </a:solidFill>
                <a:latin typeface="+mj-lt"/>
                <a:ea typeface="楷体" panose="02010609060101010101" pitchFamily="49" charset="-122"/>
              </a:rPr>
              <a:t>  PAGESIZE</a:t>
            </a:r>
            <a:endParaRPr lang="zh-CN" altLang="en-US" sz="3600" dirty="0">
              <a:solidFill>
                <a:schemeClr val="bg1"/>
              </a:solidFill>
              <a:latin typeface="+mj-lt"/>
              <a:ea typeface="楷体" panose="02010609060101010101" pitchFamily="49" charset="-122"/>
            </a:endParaRPr>
          </a:p>
        </p:txBody>
      </p:sp>
      <p:sp>
        <p:nvSpPr>
          <p:cNvPr id="10" name="Rectangle 3">
            <a:extLst>
              <a:ext uri="{FF2B5EF4-FFF2-40B4-BE49-F238E27FC236}">
                <a16:creationId xmlns:a16="http://schemas.microsoft.com/office/drawing/2014/main" id="{B384847A-B9AB-49BD-B15A-D048536EFADF}"/>
              </a:ext>
            </a:extLst>
          </p:cNvPr>
          <p:cNvSpPr>
            <a:spLocks noChangeArrowheads="1"/>
          </p:cNvSpPr>
          <p:nvPr/>
        </p:nvSpPr>
        <p:spPr bwMode="auto">
          <a:xfrm>
            <a:off x="304800" y="394900"/>
            <a:ext cx="65" cy="276999"/>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文本框 10">
            <a:extLst>
              <a:ext uri="{FF2B5EF4-FFF2-40B4-BE49-F238E27FC236}">
                <a16:creationId xmlns:a16="http://schemas.microsoft.com/office/drawing/2014/main" id="{607704C5-7C33-438F-9F71-474587FB5F4B}"/>
              </a:ext>
            </a:extLst>
          </p:cNvPr>
          <p:cNvSpPr txBox="1"/>
          <p:nvPr/>
        </p:nvSpPr>
        <p:spPr>
          <a:xfrm>
            <a:off x="1377818" y="3501008"/>
            <a:ext cx="7344816" cy="2062103"/>
          </a:xfrm>
          <a:prstGeom prst="rect">
            <a:avLst/>
          </a:prstGeom>
          <a:noFill/>
        </p:spPr>
        <p:txBody>
          <a:bodyPr wrap="square" rtlCol="0">
            <a:spAutoFit/>
          </a:bodyPr>
          <a:lstStyle/>
          <a:p>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不同的CPU页面大小有所不同。</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x86和x64系统页面大小</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4KB</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IA-64系统页面大小</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8KB。 </a:t>
            </a:r>
          </a:p>
          <a:p>
            <a:endParaRPr lang="zh-CN" altLang="en-US" dirty="0"/>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53792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blinds(horizontal)">
                                      <p:cBhvr>
                                        <p:cTn id="15" dur="500"/>
                                        <p:tgtEl>
                                          <p:spTgt spid="5">
                                            <p:txEl>
                                              <p:pRg st="1" end="1"/>
                                            </p:txEl>
                                          </p:spTgt>
                                        </p:tgtEl>
                                      </p:cBhvr>
                                    </p:animEffect>
                                  </p:childTnLst>
                                </p:cTn>
                              </p:par>
                            </p:childTnLst>
                          </p:cTn>
                        </p:par>
                        <p:par>
                          <p:cTn id="16" fill="hold">
                            <p:stCondLst>
                              <p:cond delay="500"/>
                            </p:stCondLst>
                            <p:childTnLst>
                              <p:par>
                                <p:cTn id="17" presetID="2" presetClass="entr" presetSubtype="6"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bldLvl="2"/>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Rot="1" noChangeArrowheads="1"/>
          </p:cNvSpPr>
          <p:nvPr>
            <p:ph type="body" idx="1"/>
          </p:nvPr>
        </p:nvSpPr>
        <p:spPr>
          <a:xfrm>
            <a:off x="35197" y="0"/>
            <a:ext cx="9073605" cy="1628800"/>
          </a:xfrm>
          <a:solidFill>
            <a:schemeClr val="bg1">
              <a:lumMod val="20000"/>
              <a:lumOff val="80000"/>
            </a:schemeClr>
          </a:solidFill>
        </p:spPr>
        <p:txBody>
          <a:bodyPr/>
          <a:lstStyle/>
          <a:p>
            <a:pPr marL="88900" indent="-88900" eaLnBrk="1" hangingPunct="1">
              <a:lnSpc>
                <a:spcPct val="90000"/>
              </a:lnSpc>
              <a:buFont typeface="Symbol" panose="05050102010706020507" pitchFamily="18" charset="2"/>
              <a:buNone/>
            </a:pPr>
            <a:r>
              <a:rPr lang="en-US" altLang="zh-CN" sz="2800" b="1" dirty="0">
                <a:solidFill>
                  <a:schemeClr val="bg2"/>
                </a:solidFill>
                <a:effectLst/>
              </a:rPr>
              <a:t>[</a:t>
            </a:r>
            <a:r>
              <a:rPr lang="zh-CN" altLang="en-US" sz="2800" dirty="0">
                <a:solidFill>
                  <a:schemeClr val="bg2"/>
                </a:solidFill>
                <a:effectLst/>
              </a:rPr>
              <a:t>例</a:t>
            </a:r>
            <a:r>
              <a:rPr lang="en-US" altLang="zh-CN" sz="2800" b="1" dirty="0">
                <a:solidFill>
                  <a:schemeClr val="bg2"/>
                </a:solidFill>
                <a:effectLst/>
              </a:rPr>
              <a:t>3]</a:t>
            </a:r>
            <a:r>
              <a:rPr lang="zh-CN" altLang="en-US" sz="2800" b="1" dirty="0">
                <a:solidFill>
                  <a:schemeClr val="bg2"/>
                </a:solidFill>
                <a:effectLst/>
              </a:rPr>
              <a:t>逻辑地址中的页号用</a:t>
            </a:r>
            <a:r>
              <a:rPr lang="en-US" altLang="zh-CN" sz="2800" b="1" dirty="0">
                <a:solidFill>
                  <a:schemeClr val="bg2"/>
                </a:solidFill>
                <a:effectLst/>
              </a:rPr>
              <a:t>8</a:t>
            </a:r>
            <a:r>
              <a:rPr lang="zh-CN" altLang="en-US" sz="2800" b="1" dirty="0">
                <a:solidFill>
                  <a:schemeClr val="bg2"/>
                </a:solidFill>
                <a:effectLst/>
              </a:rPr>
              <a:t>位表示，页内地址用</a:t>
            </a:r>
            <a:r>
              <a:rPr lang="en-US" altLang="zh-CN" sz="2800" b="1" dirty="0">
                <a:solidFill>
                  <a:schemeClr val="bg2"/>
                </a:solidFill>
                <a:effectLst/>
              </a:rPr>
              <a:t>16</a:t>
            </a:r>
            <a:r>
              <a:rPr lang="zh-CN" altLang="en-US" sz="2800" b="1" dirty="0">
                <a:solidFill>
                  <a:schemeClr val="bg2"/>
                </a:solidFill>
                <a:effectLst/>
              </a:rPr>
              <a:t>位表示。</a:t>
            </a:r>
          </a:p>
          <a:p>
            <a:pPr marL="88900" indent="-88900" eaLnBrk="1" hangingPunct="1">
              <a:lnSpc>
                <a:spcPct val="90000"/>
              </a:lnSpc>
              <a:buFont typeface="Symbol" panose="05050102010706020507" pitchFamily="18" charset="2"/>
              <a:buNone/>
            </a:pPr>
            <a:r>
              <a:rPr lang="zh-CN" altLang="en-US" sz="2800" b="1" dirty="0">
                <a:solidFill>
                  <a:schemeClr val="bg2"/>
                </a:solidFill>
                <a:effectLst/>
              </a:rPr>
              <a:t>（</a:t>
            </a:r>
            <a:r>
              <a:rPr lang="en-US" altLang="zh-CN" sz="2800" b="1" dirty="0">
                <a:solidFill>
                  <a:schemeClr val="bg2"/>
                </a:solidFill>
                <a:effectLst/>
              </a:rPr>
              <a:t>1</a:t>
            </a:r>
            <a:r>
              <a:rPr lang="zh-CN" altLang="en-US" sz="2800" b="1" dirty="0">
                <a:solidFill>
                  <a:schemeClr val="bg2"/>
                </a:solidFill>
                <a:effectLst/>
              </a:rPr>
              <a:t>）主存分块大小为多少</a:t>
            </a:r>
            <a:r>
              <a:rPr lang="en-US" altLang="zh-CN" sz="2800" b="1" dirty="0">
                <a:solidFill>
                  <a:schemeClr val="bg2"/>
                </a:solidFill>
                <a:effectLst/>
              </a:rPr>
              <a:t>KB</a:t>
            </a:r>
            <a:r>
              <a:rPr lang="zh-CN" altLang="en-US" sz="2800" b="1" dirty="0">
                <a:solidFill>
                  <a:schemeClr val="bg2"/>
                </a:solidFill>
                <a:effectLst/>
              </a:rPr>
              <a:t>？</a:t>
            </a:r>
          </a:p>
          <a:p>
            <a:pPr marL="88900" indent="-88900" eaLnBrk="1" hangingPunct="1">
              <a:lnSpc>
                <a:spcPct val="90000"/>
              </a:lnSpc>
              <a:buFont typeface="Symbol" panose="05050102010706020507" pitchFamily="18" charset="2"/>
              <a:buNone/>
            </a:pPr>
            <a:r>
              <a:rPr lang="zh-CN" altLang="en-US" sz="2800" b="1" dirty="0">
                <a:solidFill>
                  <a:schemeClr val="bg2"/>
                </a:solidFill>
                <a:effectLst/>
              </a:rPr>
              <a:t>（</a:t>
            </a:r>
            <a:r>
              <a:rPr lang="en-US" altLang="zh-CN" sz="2800" b="1" dirty="0">
                <a:solidFill>
                  <a:schemeClr val="bg2"/>
                </a:solidFill>
                <a:effectLst/>
              </a:rPr>
              <a:t>2</a:t>
            </a:r>
            <a:r>
              <a:rPr lang="zh-CN" altLang="en-US" sz="2800" b="1" dirty="0">
                <a:solidFill>
                  <a:schemeClr val="bg2"/>
                </a:solidFill>
                <a:effectLst/>
              </a:rPr>
              <a:t>）用户程序的最大长度是多少</a:t>
            </a:r>
            <a:r>
              <a:rPr lang="en-US" altLang="zh-CN" sz="2800" b="1" dirty="0">
                <a:solidFill>
                  <a:schemeClr val="bg2"/>
                </a:solidFill>
                <a:effectLst/>
              </a:rPr>
              <a:t>MB</a:t>
            </a:r>
            <a:r>
              <a:rPr lang="zh-CN" altLang="en-US" sz="2800" b="1" dirty="0">
                <a:solidFill>
                  <a:schemeClr val="bg2"/>
                </a:solidFill>
                <a:effectLst/>
              </a:rPr>
              <a:t>？         </a:t>
            </a:r>
          </a:p>
        </p:txBody>
      </p:sp>
      <p:sp>
        <p:nvSpPr>
          <p:cNvPr id="12292" name="Text Box 5"/>
          <p:cNvSpPr txBox="1">
            <a:spLocks noChangeArrowheads="1"/>
          </p:cNvSpPr>
          <p:nvPr/>
        </p:nvSpPr>
        <p:spPr bwMode="auto">
          <a:xfrm>
            <a:off x="288380" y="2539352"/>
            <a:ext cx="6444208" cy="1184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None/>
            </a:pPr>
            <a:r>
              <a:rPr lang="zh-CN" altLang="en-US" sz="2800" dirty="0">
                <a:solidFill>
                  <a:schemeClr val="bg2"/>
                </a:solidFill>
              </a:rPr>
              <a:t>解：页号用</a:t>
            </a:r>
            <a:r>
              <a:rPr lang="en-US" altLang="zh-CN" sz="2800" dirty="0">
                <a:solidFill>
                  <a:schemeClr val="bg2"/>
                </a:solidFill>
              </a:rPr>
              <a:t>8</a:t>
            </a:r>
            <a:r>
              <a:rPr lang="zh-CN" altLang="en-US" sz="2800" dirty="0">
                <a:solidFill>
                  <a:schemeClr val="bg2"/>
                </a:solidFill>
              </a:rPr>
              <a:t>位表示，页数：</a:t>
            </a:r>
          </a:p>
          <a:p>
            <a:pPr eaLnBrk="1" hangingPunct="1">
              <a:spcBef>
                <a:spcPts val="1800"/>
              </a:spcBef>
              <a:buClrTx/>
              <a:buSzTx/>
              <a:buNone/>
            </a:pPr>
            <a:r>
              <a:rPr lang="zh-CN" altLang="en-US" sz="2800" dirty="0">
                <a:solidFill>
                  <a:schemeClr val="bg2"/>
                </a:solidFill>
              </a:rPr>
              <a:t>        页内地址用</a:t>
            </a:r>
            <a:r>
              <a:rPr lang="en-US" altLang="zh-CN" sz="2800" dirty="0">
                <a:solidFill>
                  <a:schemeClr val="bg2"/>
                </a:solidFill>
              </a:rPr>
              <a:t>16</a:t>
            </a:r>
            <a:r>
              <a:rPr lang="zh-CN" altLang="en-US" sz="2800" dirty="0">
                <a:solidFill>
                  <a:schemeClr val="bg2"/>
                </a:solidFill>
              </a:rPr>
              <a:t>位表示，一个页大小：</a:t>
            </a:r>
          </a:p>
        </p:txBody>
      </p:sp>
      <p:sp>
        <p:nvSpPr>
          <p:cNvPr id="732166" name="Text Box 6"/>
          <p:cNvSpPr txBox="1">
            <a:spLocks noChangeArrowheads="1"/>
          </p:cNvSpPr>
          <p:nvPr/>
        </p:nvSpPr>
        <p:spPr bwMode="auto">
          <a:xfrm>
            <a:off x="296455" y="4800166"/>
            <a:ext cx="7707040" cy="954107"/>
          </a:xfrm>
          <a:prstGeom prst="rect">
            <a:avLst/>
          </a:prstGeom>
          <a:solidFill>
            <a:schemeClr val="tx1">
              <a:lumMod val="85000"/>
            </a:schemeClr>
          </a:solidFill>
          <a:ln>
            <a:noFill/>
          </a:ln>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zh-CN" altLang="en-US" sz="2800" dirty="0">
                <a:solidFill>
                  <a:schemeClr val="bg2"/>
                </a:solidFill>
              </a:rPr>
              <a:t>（</a:t>
            </a:r>
            <a:r>
              <a:rPr lang="en-US" altLang="zh-CN" sz="2800" dirty="0">
                <a:solidFill>
                  <a:schemeClr val="bg2"/>
                </a:solidFill>
              </a:rPr>
              <a:t>2</a:t>
            </a:r>
            <a:r>
              <a:rPr lang="zh-CN" altLang="en-US" sz="2800" dirty="0">
                <a:solidFill>
                  <a:schemeClr val="bg2"/>
                </a:solidFill>
              </a:rPr>
              <a:t>）用户程序的最大长度：</a:t>
            </a:r>
            <a:r>
              <a:rPr lang="en-US" altLang="zh-CN" sz="2800" dirty="0">
                <a:solidFill>
                  <a:schemeClr val="bg2"/>
                </a:solidFill>
              </a:rPr>
              <a:t>256</a:t>
            </a:r>
            <a:r>
              <a:rPr lang="zh-CN" altLang="en-US" sz="2800" dirty="0">
                <a:solidFill>
                  <a:schemeClr val="bg2"/>
                </a:solidFill>
              </a:rPr>
              <a:t>页全部使用       	即</a:t>
            </a:r>
            <a:r>
              <a:rPr lang="en-US" altLang="zh-CN" sz="2800" dirty="0">
                <a:solidFill>
                  <a:schemeClr val="bg2"/>
                </a:solidFill>
              </a:rPr>
              <a:t>2</a:t>
            </a:r>
            <a:r>
              <a:rPr lang="en-US" altLang="zh-CN" sz="2800" baseline="30000" dirty="0">
                <a:solidFill>
                  <a:schemeClr val="bg2"/>
                </a:solidFill>
              </a:rPr>
              <a:t>8</a:t>
            </a:r>
            <a:r>
              <a:rPr lang="en-US" altLang="zh-CN" sz="2800" dirty="0">
                <a:solidFill>
                  <a:schemeClr val="bg2"/>
                </a:solidFill>
              </a:rPr>
              <a:t>* 2</a:t>
            </a:r>
            <a:r>
              <a:rPr lang="en-US" altLang="zh-CN" sz="2800" baseline="30000" dirty="0">
                <a:solidFill>
                  <a:schemeClr val="bg2"/>
                </a:solidFill>
              </a:rPr>
              <a:t>16</a:t>
            </a:r>
            <a:r>
              <a:rPr lang="en-US" altLang="zh-CN" sz="2800" dirty="0">
                <a:solidFill>
                  <a:schemeClr val="bg2"/>
                </a:solidFill>
              </a:rPr>
              <a:t>=                  </a:t>
            </a:r>
            <a:r>
              <a:rPr lang="zh-CN" altLang="en-US" sz="2800" dirty="0">
                <a:solidFill>
                  <a:schemeClr val="bg2"/>
                </a:solidFill>
              </a:rPr>
              <a:t>。</a:t>
            </a:r>
          </a:p>
        </p:txBody>
      </p:sp>
      <p:sp>
        <p:nvSpPr>
          <p:cNvPr id="732167" name="Text Box 7"/>
          <p:cNvSpPr txBox="1">
            <a:spLocks noChangeArrowheads="1"/>
          </p:cNvSpPr>
          <p:nvPr/>
        </p:nvSpPr>
        <p:spPr bwMode="auto">
          <a:xfrm>
            <a:off x="304529" y="4195685"/>
            <a:ext cx="7690892" cy="519112"/>
          </a:xfrm>
          <a:prstGeom prst="rect">
            <a:avLst/>
          </a:prstGeom>
          <a:solidFill>
            <a:schemeClr val="tx1">
              <a:lumMod val="85000"/>
            </a:schemeClr>
          </a:solidFill>
          <a:ln>
            <a:noFill/>
          </a:ln>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zh-CN" altLang="en-US" sz="2800" dirty="0">
                <a:solidFill>
                  <a:schemeClr val="bg2"/>
                </a:solidFill>
              </a:rPr>
              <a:t>（</a:t>
            </a:r>
            <a:r>
              <a:rPr lang="en-US" altLang="zh-CN" sz="2800" dirty="0">
                <a:solidFill>
                  <a:schemeClr val="bg2"/>
                </a:solidFill>
              </a:rPr>
              <a:t>1</a:t>
            </a:r>
            <a:r>
              <a:rPr lang="zh-CN" altLang="en-US" sz="2800" dirty="0">
                <a:solidFill>
                  <a:schemeClr val="bg2"/>
                </a:solidFill>
              </a:rPr>
              <a:t>）主存分块大小和逻辑页大小相同：</a:t>
            </a:r>
            <a:endParaRPr lang="en-US" altLang="zh-CN" sz="2800" dirty="0">
              <a:solidFill>
                <a:schemeClr val="bg2"/>
              </a:solidFill>
            </a:endParaRPr>
          </a:p>
        </p:txBody>
      </p:sp>
      <p:sp>
        <p:nvSpPr>
          <p:cNvPr id="2" name="文本框 1"/>
          <p:cNvSpPr txBox="1"/>
          <p:nvPr/>
        </p:nvSpPr>
        <p:spPr>
          <a:xfrm>
            <a:off x="6930532" y="3181728"/>
            <a:ext cx="1612738" cy="492443"/>
          </a:xfrm>
          <a:prstGeom prst="rect">
            <a:avLst/>
          </a:prstGeom>
          <a:solidFill>
            <a:srgbClr val="96AEF2"/>
          </a:solidFill>
        </p:spPr>
        <p:txBody>
          <a:bodyPr wrap="square" tIns="0" bIns="0" rtlCol="0">
            <a:spAutoFit/>
          </a:bodyPr>
          <a:lstStyle/>
          <a:p>
            <a:r>
              <a:rPr lang="en-US" altLang="zh-CN" dirty="0">
                <a:solidFill>
                  <a:schemeClr val="bg2"/>
                </a:solidFill>
                <a:latin typeface="+mn-lt"/>
              </a:rPr>
              <a:t>2</a:t>
            </a:r>
            <a:r>
              <a:rPr lang="en-US" altLang="zh-CN" baseline="30000" dirty="0">
                <a:solidFill>
                  <a:schemeClr val="bg2"/>
                </a:solidFill>
                <a:latin typeface="+mn-lt"/>
              </a:rPr>
              <a:t>16</a:t>
            </a:r>
            <a:r>
              <a:rPr lang="en-US" altLang="zh-CN" dirty="0">
                <a:solidFill>
                  <a:schemeClr val="bg2"/>
                </a:solidFill>
                <a:latin typeface="+mn-lt"/>
              </a:rPr>
              <a:t>=64K</a:t>
            </a:r>
            <a:endParaRPr lang="zh-CN" altLang="en-US" dirty="0">
              <a:solidFill>
                <a:schemeClr val="bg2"/>
              </a:solidFill>
              <a:latin typeface="+mn-lt"/>
            </a:endParaRPr>
          </a:p>
        </p:txBody>
      </p:sp>
      <p:sp>
        <p:nvSpPr>
          <p:cNvPr id="3" name="矩形 2"/>
          <p:cNvSpPr/>
          <p:nvPr/>
        </p:nvSpPr>
        <p:spPr>
          <a:xfrm>
            <a:off x="6930532" y="2496338"/>
            <a:ext cx="1375698" cy="492443"/>
          </a:xfrm>
          <a:prstGeom prst="rect">
            <a:avLst/>
          </a:prstGeom>
          <a:solidFill>
            <a:srgbClr val="96AEF2"/>
          </a:solidFill>
        </p:spPr>
        <p:txBody>
          <a:bodyPr wrap="none" tIns="0" bIns="0">
            <a:spAutoFit/>
          </a:bodyPr>
          <a:lstStyle/>
          <a:p>
            <a:r>
              <a:rPr lang="en-US" altLang="zh-CN" dirty="0">
                <a:solidFill>
                  <a:schemeClr val="bg2"/>
                </a:solidFill>
                <a:latin typeface="+mn-lt"/>
              </a:rPr>
              <a:t>2</a:t>
            </a:r>
            <a:r>
              <a:rPr lang="en-US" altLang="zh-CN" baseline="30000" dirty="0">
                <a:solidFill>
                  <a:schemeClr val="bg2"/>
                </a:solidFill>
                <a:latin typeface="+mn-lt"/>
              </a:rPr>
              <a:t>8</a:t>
            </a:r>
            <a:r>
              <a:rPr lang="en-US" altLang="zh-CN" dirty="0">
                <a:solidFill>
                  <a:schemeClr val="bg2"/>
                </a:solidFill>
                <a:latin typeface="+mn-lt"/>
              </a:rPr>
              <a:t>=256</a:t>
            </a:r>
            <a:endParaRPr lang="zh-CN" altLang="en-US" dirty="0">
              <a:solidFill>
                <a:schemeClr val="bg2"/>
              </a:solidFill>
              <a:latin typeface="+mn-lt"/>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 name="矩形 3"/>
          <p:cNvSpPr/>
          <p:nvPr/>
        </p:nvSpPr>
        <p:spPr>
          <a:xfrm>
            <a:off x="2987824" y="5243782"/>
            <a:ext cx="1257075" cy="492443"/>
          </a:xfrm>
          <a:prstGeom prst="rect">
            <a:avLst/>
          </a:prstGeom>
          <a:solidFill>
            <a:srgbClr val="96AEF2"/>
          </a:solidFill>
        </p:spPr>
        <p:txBody>
          <a:bodyPr wrap="none" tIns="0" bIns="0">
            <a:spAutoFit/>
          </a:bodyPr>
          <a:lstStyle/>
          <a:p>
            <a:r>
              <a:rPr lang="en-US" altLang="zh-CN" dirty="0">
                <a:solidFill>
                  <a:schemeClr val="bg2"/>
                </a:solidFill>
                <a:latin typeface="+mn-lt"/>
              </a:rPr>
              <a:t>16MB</a:t>
            </a:r>
            <a:endParaRPr lang="zh-CN" altLang="en-US" dirty="0">
              <a:latin typeface="+mn-lt"/>
            </a:endParaRPr>
          </a:p>
        </p:txBody>
      </p:sp>
      <p:sp>
        <p:nvSpPr>
          <p:cNvPr id="10" name="文本框 9"/>
          <p:cNvSpPr txBox="1"/>
          <p:nvPr/>
        </p:nvSpPr>
        <p:spPr>
          <a:xfrm>
            <a:off x="6930532" y="4201589"/>
            <a:ext cx="1064888" cy="492443"/>
          </a:xfrm>
          <a:prstGeom prst="rect">
            <a:avLst/>
          </a:prstGeom>
          <a:solidFill>
            <a:srgbClr val="96AEF2"/>
          </a:solidFill>
        </p:spPr>
        <p:txBody>
          <a:bodyPr wrap="square" tIns="0" bIns="0" rtlCol="0">
            <a:spAutoFit/>
          </a:bodyPr>
          <a:lstStyle/>
          <a:p>
            <a:r>
              <a:rPr lang="en-US" altLang="zh-CN" dirty="0">
                <a:solidFill>
                  <a:schemeClr val="bg2"/>
                </a:solidFill>
                <a:latin typeface="+mn-lt"/>
              </a:rPr>
              <a:t>64K</a:t>
            </a:r>
            <a:endParaRPr lang="zh-CN" altLang="en-US" dirty="0">
              <a:solidFill>
                <a:schemeClr val="bg2"/>
              </a:solidFill>
              <a:latin typeface="+mn-lt"/>
            </a:endParaRPr>
          </a:p>
        </p:txBody>
      </p:sp>
    </p:spTree>
    <p:extLst>
      <p:ext uri="{BB962C8B-B14F-4D97-AF65-F5344CB8AC3E}">
        <p14:creationId xmlns:p14="http://schemas.microsoft.com/office/powerpoint/2010/main" val="18021416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fade">
                                      <p:cBhvr>
                                        <p:cTn id="7" dur="5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32167"/>
                                        </p:tgtEl>
                                        <p:attrNameLst>
                                          <p:attrName>style.visibility</p:attrName>
                                        </p:attrNameLst>
                                      </p:cBhvr>
                                      <p:to>
                                        <p:strVal val="visible"/>
                                      </p:to>
                                    </p:set>
                                    <p:animEffect transition="in" filter="blinds(horizontal)">
                                      <p:cBhvr>
                                        <p:cTn id="26" dur="500"/>
                                        <p:tgtEl>
                                          <p:spTgt spid="73216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32166"/>
                                        </p:tgtEl>
                                        <p:attrNameLst>
                                          <p:attrName>style.visibility</p:attrName>
                                        </p:attrNameLst>
                                      </p:cBhvr>
                                      <p:to>
                                        <p:strVal val="visible"/>
                                      </p:to>
                                    </p:set>
                                    <p:animEffect transition="in" filter="blinds(horizontal)">
                                      <p:cBhvr>
                                        <p:cTn id="38" dur="500"/>
                                        <p:tgtEl>
                                          <p:spTgt spid="73216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par>
                          <p:cTn id="44" fill="hold">
                            <p:stCondLst>
                              <p:cond delay="500"/>
                            </p:stCondLst>
                            <p:childTnLst>
                              <p:par>
                                <p:cTn id="45" presetID="2" presetClass="entr" presetSubtype="6"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1+#ppt_w/2"/>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732166" grpId="0" animBg="1"/>
      <p:bldP spid="732167" grpId="0" animBg="1"/>
      <p:bldP spid="2" grpId="0" animBg="1"/>
      <p:bldP spid="3" grpId="0" animBg="1"/>
      <p:bldP spid="8" grpId="0" animBg="1"/>
      <p:bldP spid="4"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300A6261-B4A5-4E6D-9F70-D930B6DD708A}"/>
              </a:ext>
            </a:extLst>
          </p:cNvPr>
          <p:cNvSpPr txBox="1">
            <a:spLocks noRot="1" noChangeArrowheads="1"/>
          </p:cNvSpPr>
          <p:nvPr/>
        </p:nvSpPr>
        <p:spPr>
          <a:xfrm>
            <a:off x="35197" y="0"/>
            <a:ext cx="9073605" cy="3429000"/>
          </a:xfrm>
          <a:prstGeom prst="rect">
            <a:avLst/>
          </a:prstGeom>
          <a:solidFill>
            <a:schemeClr val="bg1">
              <a:lumMod val="20000"/>
              <a:lumOff val="80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88900" indent="-88900" eaLnBrk="1" hangingPunct="1">
              <a:lnSpc>
                <a:spcPct val="90000"/>
              </a:lnSpc>
              <a:buFont typeface="Symbol" panose="05050102010706020507" pitchFamily="18" charset="2"/>
              <a:buNone/>
            </a:pPr>
            <a:r>
              <a:rPr lang="en-US" altLang="zh-CN" b="1" kern="0" dirty="0">
                <a:solidFill>
                  <a:schemeClr val="bg2"/>
                </a:solidFill>
                <a:effectLst/>
              </a:rPr>
              <a:t>[</a:t>
            </a:r>
            <a:r>
              <a:rPr lang="zh-CN" altLang="en-US" b="0" kern="0" dirty="0">
                <a:solidFill>
                  <a:schemeClr val="bg2"/>
                </a:solidFill>
                <a:effectLst/>
              </a:rPr>
              <a:t>例</a:t>
            </a:r>
            <a:r>
              <a:rPr lang="en-US" altLang="zh-CN" b="1" kern="0" dirty="0">
                <a:solidFill>
                  <a:schemeClr val="bg2"/>
                </a:solidFill>
                <a:effectLst/>
              </a:rPr>
              <a:t>4]</a:t>
            </a:r>
            <a:r>
              <a:rPr lang="zh-CN" altLang="en-US" b="1" kern="0" dirty="0">
                <a:solidFill>
                  <a:schemeClr val="bg2"/>
                </a:solidFill>
                <a:effectLst/>
              </a:rPr>
              <a:t> </a:t>
            </a:r>
            <a:r>
              <a:rPr lang="zh-CN" altLang="zh-CN" kern="0" dirty="0">
                <a:solidFill>
                  <a:schemeClr val="bg2"/>
                </a:solidFill>
                <a:effectLst/>
              </a:rPr>
              <a:t>对于采用虚拟内存管理方式的系统，下列关于进程虚拟地址空间的叙述中，错误的是</a:t>
            </a:r>
            <a:r>
              <a:rPr lang="zh-CN" altLang="zh-CN" dirty="0">
                <a:solidFill>
                  <a:schemeClr val="bg2"/>
                </a:solidFill>
                <a:effectLst/>
              </a:rPr>
              <a:t>（</a:t>
            </a:r>
            <a:r>
              <a:rPr lang="en-US" altLang="zh-CN" dirty="0">
                <a:solidFill>
                  <a:schemeClr val="bg2"/>
                </a:solidFill>
                <a:effectLst/>
              </a:rPr>
              <a:t> </a:t>
            </a:r>
            <a:r>
              <a:rPr lang="zh-CN" altLang="zh-CN" dirty="0">
                <a:solidFill>
                  <a:schemeClr val="bg2"/>
                </a:solidFill>
                <a:effectLst/>
              </a:rPr>
              <a:t>）</a:t>
            </a:r>
            <a:r>
              <a:rPr lang="zh-CN" altLang="en-US" dirty="0">
                <a:solidFill>
                  <a:schemeClr val="bg2"/>
                </a:solidFill>
                <a:effectLst/>
              </a:rPr>
              <a:t>。</a:t>
            </a:r>
            <a:r>
              <a:rPr lang="zh-CN" altLang="zh-CN" dirty="0">
                <a:solidFill>
                  <a:schemeClr val="bg2"/>
                </a:solidFill>
              </a:rPr>
              <a:t> </a:t>
            </a:r>
            <a:r>
              <a:rPr lang="zh-CN" altLang="zh-CN" dirty="0">
                <a:solidFill>
                  <a:schemeClr val="bg2"/>
                </a:solidFill>
                <a:effectLst/>
              </a:rPr>
              <a:t>（</a:t>
            </a:r>
            <a:r>
              <a:rPr lang="en-US" altLang="zh-CN" dirty="0">
                <a:solidFill>
                  <a:schemeClr val="bg2"/>
                </a:solidFill>
                <a:effectLst/>
              </a:rPr>
              <a:t>2023 </a:t>
            </a:r>
            <a:r>
              <a:rPr lang="zh-CN" altLang="zh-CN" dirty="0">
                <a:solidFill>
                  <a:schemeClr val="bg2"/>
                </a:solidFill>
                <a:effectLst/>
              </a:rPr>
              <a:t>）</a:t>
            </a:r>
            <a:endParaRPr lang="en-US" altLang="zh-CN" dirty="0">
              <a:solidFill>
                <a:schemeClr val="bg2"/>
              </a:solidFill>
              <a:effectLst/>
            </a:endParaRPr>
          </a:p>
          <a:p>
            <a:pPr marL="88900" indent="-88900" eaLnBrk="1" hangingPunct="1">
              <a:lnSpc>
                <a:spcPct val="90000"/>
              </a:lnSpc>
              <a:buFont typeface="Symbol" panose="05050102010706020507" pitchFamily="18" charset="2"/>
              <a:buNone/>
            </a:pPr>
            <a:r>
              <a:rPr lang="en-US" altLang="zh-CN" sz="2800" kern="0" dirty="0">
                <a:solidFill>
                  <a:schemeClr val="bg2"/>
                </a:solidFill>
                <a:effectLst/>
              </a:rPr>
              <a:t>A</a:t>
            </a:r>
            <a:r>
              <a:rPr lang="zh-CN" altLang="zh-CN" sz="2800" kern="0" dirty="0">
                <a:solidFill>
                  <a:schemeClr val="bg2"/>
                </a:solidFill>
                <a:effectLst/>
              </a:rPr>
              <a:t>．每个进程都有自己独立的虚拟地址空间</a:t>
            </a:r>
          </a:p>
          <a:p>
            <a:pPr marL="0" indent="0">
              <a:buNone/>
            </a:pPr>
            <a:r>
              <a:rPr lang="en-US" altLang="zh-CN" sz="2800" kern="0" dirty="0">
                <a:solidFill>
                  <a:schemeClr val="bg2"/>
                </a:solidFill>
                <a:effectLst/>
              </a:rPr>
              <a:t>B.  C</a:t>
            </a:r>
            <a:r>
              <a:rPr lang="zh-CN" altLang="zh-CN" sz="2800" kern="0" dirty="0">
                <a:solidFill>
                  <a:schemeClr val="bg2"/>
                </a:solidFill>
                <a:effectLst/>
              </a:rPr>
              <a:t>语言中 </a:t>
            </a:r>
            <a:r>
              <a:rPr lang="en-US" altLang="zh-CN" sz="2800" kern="0" dirty="0">
                <a:solidFill>
                  <a:schemeClr val="bg2"/>
                </a:solidFill>
                <a:effectLst/>
              </a:rPr>
              <a:t>malloc()</a:t>
            </a:r>
            <a:r>
              <a:rPr lang="zh-CN" altLang="zh-CN" sz="2800" kern="0" dirty="0">
                <a:solidFill>
                  <a:schemeClr val="bg2"/>
                </a:solidFill>
                <a:effectLst/>
              </a:rPr>
              <a:t>函数返回的是虚拟地址</a:t>
            </a:r>
          </a:p>
          <a:p>
            <a:pPr marL="0" indent="0">
              <a:buNone/>
            </a:pPr>
            <a:r>
              <a:rPr lang="en-US" altLang="zh-CN" sz="2800" kern="0" dirty="0">
                <a:solidFill>
                  <a:schemeClr val="bg2"/>
                </a:solidFill>
                <a:effectLst/>
              </a:rPr>
              <a:t>C.  </a:t>
            </a:r>
            <a:r>
              <a:rPr lang="zh-CN" altLang="zh-CN" sz="2800" kern="0" dirty="0">
                <a:solidFill>
                  <a:schemeClr val="bg2"/>
                </a:solidFill>
                <a:effectLst/>
              </a:rPr>
              <a:t>进程对数据段和代码段可以有不同的访问权限</a:t>
            </a:r>
          </a:p>
          <a:p>
            <a:pPr marL="0" indent="0">
              <a:buNone/>
            </a:pPr>
            <a:r>
              <a:rPr lang="en-US" altLang="zh-CN" sz="2800" kern="0" dirty="0">
                <a:solidFill>
                  <a:schemeClr val="bg2"/>
                </a:solidFill>
                <a:effectLst/>
              </a:rPr>
              <a:t>D</a:t>
            </a:r>
            <a:r>
              <a:rPr lang="zh-CN" altLang="zh-CN" sz="2800" kern="0" dirty="0">
                <a:solidFill>
                  <a:schemeClr val="bg2"/>
                </a:solidFill>
                <a:effectLst/>
              </a:rPr>
              <a:t>．虚拟地址</a:t>
            </a:r>
            <a:r>
              <a:rPr lang="zh-CN" altLang="en-US" sz="2800" kern="0" dirty="0">
                <a:solidFill>
                  <a:schemeClr val="bg2"/>
                </a:solidFill>
                <a:effectLst/>
              </a:rPr>
              <a:t>空间</a:t>
            </a:r>
            <a:r>
              <a:rPr lang="zh-CN" altLang="zh-CN" sz="2800" kern="0" dirty="0">
                <a:solidFill>
                  <a:schemeClr val="bg2"/>
                </a:solidFill>
                <a:effectLst/>
              </a:rPr>
              <a:t>的大小由主存和硬盘的大小决定</a:t>
            </a:r>
          </a:p>
        </p:txBody>
      </p:sp>
      <p:sp>
        <p:nvSpPr>
          <p:cNvPr id="5" name="文本框 4">
            <a:extLst>
              <a:ext uri="{FF2B5EF4-FFF2-40B4-BE49-F238E27FC236}">
                <a16:creationId xmlns:a16="http://schemas.microsoft.com/office/drawing/2014/main" id="{9ED9C55D-9588-4794-90B0-875AA89C31DA}"/>
              </a:ext>
            </a:extLst>
          </p:cNvPr>
          <p:cNvSpPr txBox="1"/>
          <p:nvPr/>
        </p:nvSpPr>
        <p:spPr>
          <a:xfrm>
            <a:off x="0" y="3609948"/>
            <a:ext cx="9196051" cy="1077218"/>
          </a:xfrm>
          <a:prstGeom prst="rect">
            <a:avLst/>
          </a:prstGeom>
          <a:solidFill>
            <a:schemeClr val="tx1">
              <a:lumMod val="85000"/>
            </a:schemeClr>
          </a:solidFill>
        </p:spPr>
        <p:txBody>
          <a:bodyPr wrap="square" rtlCol="0">
            <a:spAutoFit/>
          </a:bodyPr>
          <a:lstStyle/>
          <a:p>
            <a:r>
              <a:rPr lang="zh-CN" altLang="en-US" dirty="0">
                <a:solidFill>
                  <a:schemeClr val="bg1">
                    <a:lumMod val="75000"/>
                  </a:schemeClr>
                </a:solidFill>
                <a:effectLst>
                  <a:outerShdw blurRad="38100" dist="38100" dir="2700000" algn="tl">
                    <a:srgbClr val="000000">
                      <a:alpha val="43137"/>
                    </a:srgbClr>
                  </a:outerShdw>
                </a:effectLst>
              </a:rPr>
              <a:t>虚拟内存最大容量</a:t>
            </a:r>
            <a:r>
              <a:rPr lang="zh-CN" altLang="en-US" dirty="0">
                <a:solidFill>
                  <a:schemeClr val="bg2"/>
                </a:solidFill>
              </a:rPr>
              <a:t>：</a:t>
            </a:r>
            <a:r>
              <a:rPr lang="zh-CN" altLang="en-US" sz="2800" kern="0" dirty="0">
                <a:solidFill>
                  <a:schemeClr val="bg2"/>
                </a:solidFill>
                <a:latin typeface="+mn-lt"/>
                <a:ea typeface="+mn-ea"/>
              </a:rPr>
              <a:t>由</a:t>
            </a:r>
            <a:r>
              <a:rPr lang="en-US" altLang="zh-CN" sz="2800" kern="0" dirty="0">
                <a:solidFill>
                  <a:schemeClr val="bg2"/>
                </a:solidFill>
                <a:latin typeface="+mn-lt"/>
                <a:ea typeface="+mn-ea"/>
              </a:rPr>
              <a:t>CPU</a:t>
            </a:r>
            <a:r>
              <a:rPr lang="zh-CN" altLang="en-US" sz="2800" kern="0" dirty="0">
                <a:solidFill>
                  <a:schemeClr val="bg2"/>
                </a:solidFill>
                <a:latin typeface="+mn-lt"/>
                <a:ea typeface="+mn-ea"/>
              </a:rPr>
              <a:t>的寻址范围决定、与地址寄存器有关，如</a:t>
            </a:r>
            <a:r>
              <a:rPr lang="en-US" altLang="zh-CN" sz="2800" kern="0" dirty="0">
                <a:solidFill>
                  <a:schemeClr val="bg2"/>
                </a:solidFill>
                <a:latin typeface="+mn-lt"/>
                <a:ea typeface="+mn-ea"/>
              </a:rPr>
              <a:t>32</a:t>
            </a:r>
            <a:r>
              <a:rPr lang="zh-CN" altLang="en-US" sz="2800" kern="0" dirty="0">
                <a:solidFill>
                  <a:schemeClr val="bg2"/>
                </a:solidFill>
                <a:latin typeface="+mn-lt"/>
                <a:ea typeface="+mn-ea"/>
              </a:rPr>
              <a:t>位的</a:t>
            </a:r>
            <a:r>
              <a:rPr lang="en-US" altLang="zh-CN" sz="2800" kern="0" dirty="0">
                <a:solidFill>
                  <a:schemeClr val="bg2"/>
                </a:solidFill>
                <a:latin typeface="+mn-lt"/>
                <a:ea typeface="+mn-ea"/>
              </a:rPr>
              <a:t>CPU</a:t>
            </a:r>
            <a:r>
              <a:rPr lang="zh-CN" altLang="en-US" sz="2800" kern="0" dirty="0">
                <a:solidFill>
                  <a:schemeClr val="bg2"/>
                </a:solidFill>
                <a:latin typeface="+mn-lt"/>
                <a:ea typeface="+mn-ea"/>
              </a:rPr>
              <a:t>，最大范围是</a:t>
            </a:r>
            <a:r>
              <a:rPr lang="en-US" altLang="zh-CN" sz="2800" dirty="0">
                <a:solidFill>
                  <a:schemeClr val="bg2"/>
                </a:solidFill>
                <a:effectLst>
                  <a:outerShdw blurRad="38100" dist="38100" dir="2700000" algn="tl">
                    <a:srgbClr val="000000">
                      <a:alpha val="43137"/>
                    </a:srgbClr>
                  </a:outerShdw>
                </a:effectLst>
                <a:latin typeface="+mn-lt"/>
                <a:cs typeface="Times New Roman" panose="02020603050405020304" pitchFamily="18" charset="0"/>
              </a:rPr>
              <a:t>2</a:t>
            </a:r>
            <a:r>
              <a:rPr lang="en-US" altLang="zh-CN" sz="2800" baseline="30000" dirty="0">
                <a:solidFill>
                  <a:schemeClr val="bg2"/>
                </a:solidFill>
                <a:effectLst>
                  <a:outerShdw blurRad="38100" dist="38100" dir="2700000" algn="tl">
                    <a:srgbClr val="000000">
                      <a:alpha val="43137"/>
                    </a:srgbClr>
                  </a:outerShdw>
                </a:effectLst>
                <a:latin typeface="+mn-lt"/>
                <a:cs typeface="Times New Roman" panose="02020603050405020304" pitchFamily="18" charset="0"/>
              </a:rPr>
              <a:t>32</a:t>
            </a:r>
            <a:r>
              <a:rPr lang="zh-CN" altLang="en-US" b="0" dirty="0">
                <a:solidFill>
                  <a:schemeClr val="bg2"/>
                </a:solidFill>
                <a:latin typeface="+mn-lt"/>
                <a:cs typeface="Times New Roman" panose="02020603050405020304" pitchFamily="18" charset="0"/>
              </a:rPr>
              <a:t>。</a:t>
            </a:r>
            <a:endParaRPr lang="zh-CN" altLang="en-US" dirty="0">
              <a:solidFill>
                <a:schemeClr val="bg2"/>
              </a:solidFill>
              <a:latin typeface="+mn-lt"/>
              <a:cs typeface="Times New Roman" panose="02020603050405020304" pitchFamily="18" charset="0"/>
            </a:endParaRPr>
          </a:p>
        </p:txBody>
      </p:sp>
      <p:sp>
        <p:nvSpPr>
          <p:cNvPr id="6" name="文本框 5">
            <a:extLst>
              <a:ext uri="{FF2B5EF4-FFF2-40B4-BE49-F238E27FC236}">
                <a16:creationId xmlns:a16="http://schemas.microsoft.com/office/drawing/2014/main" id="{BC8D37A7-010B-458F-B54F-53BB05BFEC30}"/>
              </a:ext>
            </a:extLst>
          </p:cNvPr>
          <p:cNvSpPr txBox="1"/>
          <p:nvPr/>
        </p:nvSpPr>
        <p:spPr>
          <a:xfrm>
            <a:off x="35197" y="5059740"/>
            <a:ext cx="9073605" cy="1077218"/>
          </a:xfrm>
          <a:prstGeom prst="rect">
            <a:avLst/>
          </a:prstGeom>
          <a:solidFill>
            <a:schemeClr val="tx1">
              <a:lumMod val="85000"/>
            </a:schemeClr>
          </a:solidFill>
        </p:spPr>
        <p:txBody>
          <a:bodyPr wrap="square" rtlCol="0">
            <a:spAutoFit/>
          </a:bodyPr>
          <a:lstStyle/>
          <a:p>
            <a:r>
              <a:rPr lang="zh-CN" altLang="en-US" dirty="0">
                <a:solidFill>
                  <a:schemeClr val="bg1">
                    <a:lumMod val="75000"/>
                  </a:schemeClr>
                </a:solidFill>
                <a:effectLst>
                  <a:outerShdw blurRad="38100" dist="38100" dir="2700000" algn="tl">
                    <a:srgbClr val="000000">
                      <a:alpha val="43137"/>
                    </a:srgbClr>
                  </a:outerShdw>
                </a:effectLst>
              </a:rPr>
              <a:t>逻辑容量</a:t>
            </a:r>
            <a:r>
              <a:rPr lang="en-US" altLang="zh-CN" dirty="0">
                <a:solidFill>
                  <a:schemeClr val="bg1">
                    <a:lumMod val="75000"/>
                  </a:schemeClr>
                </a:solidFill>
                <a:effectLst>
                  <a:outerShdw blurRad="38100" dist="38100" dir="2700000" algn="tl">
                    <a:srgbClr val="000000">
                      <a:alpha val="43137"/>
                    </a:srgbClr>
                  </a:outerShdw>
                </a:effectLst>
              </a:rPr>
              <a:t>(</a:t>
            </a:r>
            <a:r>
              <a:rPr lang="zh-CN" altLang="en-US" dirty="0">
                <a:solidFill>
                  <a:schemeClr val="bg1">
                    <a:lumMod val="75000"/>
                  </a:schemeClr>
                </a:solidFill>
                <a:effectLst>
                  <a:outerShdw blurRad="38100" dist="38100" dir="2700000" algn="tl">
                    <a:srgbClr val="000000">
                      <a:alpha val="43137"/>
                    </a:srgbClr>
                  </a:outerShdw>
                </a:effectLst>
              </a:rPr>
              <a:t>实际容量</a:t>
            </a:r>
            <a:r>
              <a:rPr lang="en-US" altLang="zh-CN" dirty="0">
                <a:solidFill>
                  <a:schemeClr val="bg1">
                    <a:lumMod val="75000"/>
                  </a:schemeClr>
                </a:solidFill>
                <a:effectLst>
                  <a:outerShdw blurRad="38100" dist="38100" dir="2700000" algn="tl">
                    <a:srgbClr val="000000">
                      <a:alpha val="43137"/>
                    </a:srgbClr>
                  </a:outerShdw>
                </a:effectLst>
              </a:rPr>
              <a:t>)</a:t>
            </a:r>
            <a:r>
              <a:rPr lang="en-US" altLang="zh-CN" dirty="0">
                <a:solidFill>
                  <a:schemeClr val="bg2"/>
                </a:solidFill>
                <a:effectLst>
                  <a:outerShdw blurRad="38100" dist="38100" dir="2700000" algn="tl">
                    <a:srgbClr val="000000">
                      <a:alpha val="43137"/>
                    </a:srgbClr>
                  </a:outerShdw>
                </a:effectLst>
              </a:rPr>
              <a:t>=</a:t>
            </a:r>
            <a:r>
              <a:rPr lang="en-US" altLang="zh-CN"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min{CPU</a:t>
            </a:r>
            <a:r>
              <a:rPr lang="zh-CN" altLang="en-US"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寻址范围，内外存容量之和</a:t>
            </a:r>
            <a:r>
              <a:rPr lang="en-US" altLang="zh-CN"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en-US"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AutoShape 27">
            <a:hlinkClick r:id="" action="ppaction://hlinkshowjump?jump=nextslide" highlightClick="1"/>
            <a:extLst>
              <a:ext uri="{FF2B5EF4-FFF2-40B4-BE49-F238E27FC236}">
                <a16:creationId xmlns:a16="http://schemas.microsoft.com/office/drawing/2014/main" id="{7E436C78-0F83-4CFB-8392-DF3B7B1B0FA2}"/>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8521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58693" y="2629609"/>
            <a:ext cx="1644298" cy="584775"/>
          </a:xfrm>
          <a:prstGeom prst="rect">
            <a:avLst/>
          </a:prstGeom>
          <a:noFill/>
        </p:spPr>
        <p:txBody>
          <a:bodyPr wrap="square" rtlCol="0">
            <a:spAutoFit/>
          </a:bodyPr>
          <a:lstStyle/>
          <a:p>
            <a:r>
              <a:rPr lang="zh-CN" altLang="en-US" sz="3200" dirty="0">
                <a:solidFill>
                  <a:schemeClr val="bg2"/>
                </a:solidFill>
              </a:rPr>
              <a:t>页号：</a:t>
            </a:r>
          </a:p>
        </p:txBody>
      </p:sp>
      <p:sp>
        <p:nvSpPr>
          <p:cNvPr id="7" name="文本框 6"/>
          <p:cNvSpPr txBox="1"/>
          <p:nvPr/>
        </p:nvSpPr>
        <p:spPr>
          <a:xfrm>
            <a:off x="4099135" y="2629609"/>
            <a:ext cx="2304256" cy="584775"/>
          </a:xfrm>
          <a:prstGeom prst="rect">
            <a:avLst/>
          </a:prstGeom>
          <a:noFill/>
        </p:spPr>
        <p:txBody>
          <a:bodyPr wrap="square" rtlCol="0">
            <a:spAutoFit/>
          </a:bodyPr>
          <a:lstStyle/>
          <a:p>
            <a:r>
              <a:rPr lang="zh-CN" altLang="en-US" sz="3200" dirty="0">
                <a:solidFill>
                  <a:schemeClr val="bg2"/>
                </a:solidFill>
              </a:rPr>
              <a:t>页内地址：</a:t>
            </a:r>
          </a:p>
        </p:txBody>
      </p:sp>
      <p:sp>
        <p:nvSpPr>
          <p:cNvPr id="8" name="矩形 7"/>
          <p:cNvSpPr/>
          <p:nvPr/>
        </p:nvSpPr>
        <p:spPr>
          <a:xfrm>
            <a:off x="6245146" y="2670322"/>
            <a:ext cx="1301959" cy="584775"/>
          </a:xfrm>
          <a:prstGeom prst="rect">
            <a:avLst/>
          </a:prstGeom>
          <a:solidFill>
            <a:schemeClr val="tx1">
              <a:lumMod val="85000"/>
            </a:schemeClr>
          </a:solidFill>
        </p:spPr>
        <p:txBody>
          <a:bodyPr wrap="none">
            <a:spAutoFit/>
          </a:bodyPr>
          <a:lstStyle/>
          <a:p>
            <a:r>
              <a:rPr lang="en-US" altLang="zh-CN" sz="3200" dirty="0">
                <a:solidFill>
                  <a:schemeClr val="bg2"/>
                </a:solidFill>
                <a:latin typeface="+mn-lt"/>
              </a:rPr>
              <a:t>3ADH</a:t>
            </a:r>
            <a:endParaRPr lang="zh-CN" altLang="en-US" sz="3200" dirty="0">
              <a:solidFill>
                <a:schemeClr val="bg2"/>
              </a:solidFill>
              <a:latin typeface="+mn-lt"/>
            </a:endParaRPr>
          </a:p>
        </p:txBody>
      </p:sp>
      <p:sp>
        <p:nvSpPr>
          <p:cNvPr id="9" name="矩形 8"/>
          <p:cNvSpPr/>
          <p:nvPr/>
        </p:nvSpPr>
        <p:spPr>
          <a:xfrm>
            <a:off x="2391886" y="2675510"/>
            <a:ext cx="982961" cy="584775"/>
          </a:xfrm>
          <a:prstGeom prst="rect">
            <a:avLst/>
          </a:prstGeom>
          <a:solidFill>
            <a:schemeClr val="tx1">
              <a:lumMod val="85000"/>
            </a:schemeClr>
          </a:solidFill>
        </p:spPr>
        <p:txBody>
          <a:bodyPr wrap="none">
            <a:spAutoFit/>
          </a:bodyPr>
          <a:lstStyle/>
          <a:p>
            <a:r>
              <a:rPr lang="en-US" altLang="zh-CN" sz="3200" dirty="0">
                <a:solidFill>
                  <a:schemeClr val="bg2"/>
                </a:solidFill>
                <a:latin typeface="+mn-lt"/>
              </a:rPr>
              <a:t>0EH</a:t>
            </a:r>
            <a:endParaRPr lang="zh-CN" altLang="en-US" sz="3200" dirty="0">
              <a:solidFill>
                <a:schemeClr val="bg2"/>
              </a:solidFill>
              <a:latin typeface="+mn-lt"/>
            </a:endParaRPr>
          </a:p>
        </p:txBody>
      </p:sp>
      <p:sp>
        <p:nvSpPr>
          <p:cNvPr id="17" name="Rectangle 4">
            <a:extLst>
              <a:ext uri="{FF2B5EF4-FFF2-40B4-BE49-F238E27FC236}">
                <a16:creationId xmlns:a16="http://schemas.microsoft.com/office/drawing/2014/main" id="{9A1CFB8E-A40A-4469-8A0D-02B53C5424F0}"/>
              </a:ext>
            </a:extLst>
          </p:cNvPr>
          <p:cNvSpPr txBox="1">
            <a:spLocks noRot="1" noChangeArrowheads="1"/>
          </p:cNvSpPr>
          <p:nvPr/>
        </p:nvSpPr>
        <p:spPr>
          <a:xfrm>
            <a:off x="0" y="15875"/>
            <a:ext cx="9144000" cy="650557"/>
          </a:xfrm>
          <a:prstGeom prst="rect">
            <a:avLst/>
          </a:prstGeom>
          <a:solidFill>
            <a:schemeClr val="bg1">
              <a:lumMod val="20000"/>
              <a:lumOff val="80000"/>
            </a:schemeClr>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spcBef>
                <a:spcPct val="0"/>
              </a:spcBef>
              <a:buClrTx/>
              <a:buSzTx/>
              <a:buFontTx/>
              <a:buNone/>
            </a:pPr>
            <a:r>
              <a:rPr lang="en-US" altLang="zh-CN" dirty="0">
                <a:solidFill>
                  <a:schemeClr val="bg2"/>
                </a:solidFill>
                <a:effectLst/>
              </a:rPr>
              <a:t>[</a:t>
            </a:r>
            <a:r>
              <a:rPr lang="zh-CN" altLang="en-US" dirty="0">
                <a:solidFill>
                  <a:schemeClr val="bg2"/>
                </a:solidFill>
                <a:effectLst/>
              </a:rPr>
              <a:t>例</a:t>
            </a:r>
            <a:r>
              <a:rPr lang="en-US" altLang="zh-CN" dirty="0">
                <a:solidFill>
                  <a:schemeClr val="bg2"/>
                </a:solidFill>
                <a:effectLst/>
              </a:rPr>
              <a:t>5]</a:t>
            </a:r>
            <a:r>
              <a:rPr lang="zh-CN" altLang="en-US" dirty="0">
                <a:solidFill>
                  <a:schemeClr val="bg2"/>
                </a:solidFill>
              </a:rPr>
              <a:t> 逻辑地址</a:t>
            </a:r>
            <a:r>
              <a:rPr lang="en-US" altLang="zh-CN" dirty="0">
                <a:solidFill>
                  <a:schemeClr val="bg2"/>
                </a:solidFill>
              </a:rPr>
              <a:t>16</a:t>
            </a:r>
            <a:r>
              <a:rPr lang="zh-CN" altLang="en-US" dirty="0">
                <a:solidFill>
                  <a:schemeClr val="bg2"/>
                </a:solidFill>
              </a:rPr>
              <a:t>位，计算对应的页号和页内地址</a:t>
            </a:r>
            <a:r>
              <a:rPr lang="zh-CN" altLang="en-US" sz="2800" dirty="0">
                <a:solidFill>
                  <a:schemeClr val="bg2"/>
                </a:solidFill>
              </a:rPr>
              <a:t>。</a:t>
            </a:r>
          </a:p>
        </p:txBody>
      </p:sp>
      <p:graphicFrame>
        <p:nvGraphicFramePr>
          <p:cNvPr id="18" name="表格 17"/>
          <p:cNvGraphicFramePr>
            <a:graphicFrameLocks noGrp="1"/>
          </p:cNvGraphicFramePr>
          <p:nvPr>
            <p:extLst>
              <p:ext uri="{D42A27DB-BD31-4B8C-83A1-F6EECF244321}">
                <p14:modId xmlns:p14="http://schemas.microsoft.com/office/powerpoint/2010/main" val="674044368"/>
              </p:ext>
            </p:extLst>
          </p:nvPr>
        </p:nvGraphicFramePr>
        <p:xfrm>
          <a:off x="887356" y="1713695"/>
          <a:ext cx="7488000" cy="936000"/>
        </p:xfrm>
        <a:graphic>
          <a:graphicData uri="http://schemas.openxmlformats.org/drawingml/2006/table">
            <a:tbl>
              <a:tblPr firstRow="1" bandRow="1">
                <a:tableStyleId>{5C22544A-7EE6-4342-B048-85BDC9FD1C3A}</a:tableStyleId>
              </a:tblPr>
              <a:tblGrid>
                <a:gridCol w="468000">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68000">
                  <a:extLst>
                    <a:ext uri="{9D8B030D-6E8A-4147-A177-3AD203B41FA5}">
                      <a16:colId xmlns:a16="http://schemas.microsoft.com/office/drawing/2014/main" val="20002"/>
                    </a:ext>
                  </a:extLst>
                </a:gridCol>
                <a:gridCol w="468000">
                  <a:extLst>
                    <a:ext uri="{9D8B030D-6E8A-4147-A177-3AD203B41FA5}">
                      <a16:colId xmlns:a16="http://schemas.microsoft.com/office/drawing/2014/main" val="20003"/>
                    </a:ext>
                  </a:extLst>
                </a:gridCol>
                <a:gridCol w="468000">
                  <a:extLst>
                    <a:ext uri="{9D8B030D-6E8A-4147-A177-3AD203B41FA5}">
                      <a16:colId xmlns:a16="http://schemas.microsoft.com/office/drawing/2014/main" val="20004"/>
                    </a:ext>
                  </a:extLst>
                </a:gridCol>
                <a:gridCol w="468000">
                  <a:extLst>
                    <a:ext uri="{9D8B030D-6E8A-4147-A177-3AD203B41FA5}">
                      <a16:colId xmlns:a16="http://schemas.microsoft.com/office/drawing/2014/main" val="20005"/>
                    </a:ext>
                  </a:extLst>
                </a:gridCol>
                <a:gridCol w="468000">
                  <a:extLst>
                    <a:ext uri="{9D8B030D-6E8A-4147-A177-3AD203B41FA5}">
                      <a16:colId xmlns:a16="http://schemas.microsoft.com/office/drawing/2014/main" val="20006"/>
                    </a:ext>
                  </a:extLst>
                </a:gridCol>
                <a:gridCol w="468000">
                  <a:extLst>
                    <a:ext uri="{9D8B030D-6E8A-4147-A177-3AD203B41FA5}">
                      <a16:colId xmlns:a16="http://schemas.microsoft.com/office/drawing/2014/main" val="20007"/>
                    </a:ext>
                  </a:extLst>
                </a:gridCol>
                <a:gridCol w="468000">
                  <a:extLst>
                    <a:ext uri="{9D8B030D-6E8A-4147-A177-3AD203B41FA5}">
                      <a16:colId xmlns:a16="http://schemas.microsoft.com/office/drawing/2014/main" val="20008"/>
                    </a:ext>
                  </a:extLst>
                </a:gridCol>
                <a:gridCol w="468000">
                  <a:extLst>
                    <a:ext uri="{9D8B030D-6E8A-4147-A177-3AD203B41FA5}">
                      <a16:colId xmlns:a16="http://schemas.microsoft.com/office/drawing/2014/main" val="20009"/>
                    </a:ext>
                  </a:extLst>
                </a:gridCol>
                <a:gridCol w="468000">
                  <a:extLst>
                    <a:ext uri="{9D8B030D-6E8A-4147-A177-3AD203B41FA5}">
                      <a16:colId xmlns:a16="http://schemas.microsoft.com/office/drawing/2014/main" val="20010"/>
                    </a:ext>
                  </a:extLst>
                </a:gridCol>
                <a:gridCol w="468000">
                  <a:extLst>
                    <a:ext uri="{9D8B030D-6E8A-4147-A177-3AD203B41FA5}">
                      <a16:colId xmlns:a16="http://schemas.microsoft.com/office/drawing/2014/main" val="20011"/>
                    </a:ext>
                  </a:extLst>
                </a:gridCol>
                <a:gridCol w="468000">
                  <a:extLst>
                    <a:ext uri="{9D8B030D-6E8A-4147-A177-3AD203B41FA5}">
                      <a16:colId xmlns:a16="http://schemas.microsoft.com/office/drawing/2014/main" val="20012"/>
                    </a:ext>
                  </a:extLst>
                </a:gridCol>
                <a:gridCol w="468000">
                  <a:extLst>
                    <a:ext uri="{9D8B030D-6E8A-4147-A177-3AD203B41FA5}">
                      <a16:colId xmlns:a16="http://schemas.microsoft.com/office/drawing/2014/main" val="20013"/>
                    </a:ext>
                  </a:extLst>
                </a:gridCol>
                <a:gridCol w="468000">
                  <a:extLst>
                    <a:ext uri="{9D8B030D-6E8A-4147-A177-3AD203B41FA5}">
                      <a16:colId xmlns:a16="http://schemas.microsoft.com/office/drawing/2014/main" val="20014"/>
                    </a:ext>
                  </a:extLst>
                </a:gridCol>
                <a:gridCol w="468000">
                  <a:extLst>
                    <a:ext uri="{9D8B030D-6E8A-4147-A177-3AD203B41FA5}">
                      <a16:colId xmlns:a16="http://schemas.microsoft.com/office/drawing/2014/main" val="20015"/>
                    </a:ext>
                  </a:extLst>
                </a:gridCol>
              </a:tblGrid>
              <a:tr h="468000">
                <a:tc>
                  <a:txBody>
                    <a:bodyPr/>
                    <a:lstStyle/>
                    <a:p>
                      <a:pPr algn="ctr"/>
                      <a:r>
                        <a:rPr lang="en-US" altLang="zh-CN" sz="2400" dirty="0">
                          <a:solidFill>
                            <a:schemeClr val="bg2"/>
                          </a:solidFill>
                        </a:rPr>
                        <a:t>0</a:t>
                      </a:r>
                      <a:endParaRPr lang="zh-CN" altLang="en-US" sz="2400" dirty="0">
                        <a:solidFill>
                          <a:schemeClr val="bg2"/>
                        </a:solidFill>
                      </a:endParaRPr>
                    </a:p>
                  </a:txBody>
                  <a:tcPr anchor="ctr">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extLst>
                  <a:ext uri="{0D108BD9-81ED-4DB2-BD59-A6C34878D82A}">
                    <a16:rowId xmlns:a16="http://schemas.microsoft.com/office/drawing/2014/main" val="10000"/>
                  </a:ext>
                </a:extLst>
              </a:tr>
              <a:tr h="468000">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15</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14</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10</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rPr>
                        <a:t>9</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0</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9" name="文本框 18"/>
          <p:cNvSpPr txBox="1"/>
          <p:nvPr/>
        </p:nvSpPr>
        <p:spPr>
          <a:xfrm>
            <a:off x="1166496" y="857207"/>
            <a:ext cx="6810645" cy="584775"/>
          </a:xfrm>
          <a:prstGeom prst="rect">
            <a:avLst/>
          </a:prstGeom>
          <a:solidFill>
            <a:schemeClr val="tx1">
              <a:lumMod val="95000"/>
            </a:schemeClr>
          </a:solidFill>
        </p:spPr>
        <p:txBody>
          <a:bodyPr wrap="square" rtlCol="0">
            <a:spAutoFit/>
          </a:bodyPr>
          <a:lstStyle/>
          <a:p>
            <a:pPr algn="ctr"/>
            <a:r>
              <a:rPr lang="zh-CN" altLang="en-US" dirty="0">
                <a:solidFill>
                  <a:schemeClr val="bg2"/>
                </a:solidFill>
                <a:latin typeface="+mn-lt"/>
              </a:rPr>
              <a:t>页面大小是</a:t>
            </a:r>
            <a:r>
              <a:rPr lang="en-US" altLang="zh-CN" dirty="0">
                <a:solidFill>
                  <a:srgbClr val="FF6600"/>
                </a:solidFill>
                <a:latin typeface="+mn-lt"/>
              </a:rPr>
              <a:t>1KB</a:t>
            </a:r>
            <a:r>
              <a:rPr lang="zh-CN" altLang="en-US" dirty="0">
                <a:solidFill>
                  <a:schemeClr val="bg2"/>
                </a:solidFill>
                <a:latin typeface="+mn-lt"/>
              </a:rPr>
              <a:t>，虚地址是</a:t>
            </a:r>
            <a:r>
              <a:rPr lang="en-US" altLang="zh-CN" dirty="0">
                <a:solidFill>
                  <a:schemeClr val="bg2"/>
                </a:solidFill>
                <a:latin typeface="+mn-lt"/>
              </a:rPr>
              <a:t>3BAD</a:t>
            </a:r>
            <a:endParaRPr lang="zh-CN" altLang="en-US" dirty="0">
              <a:solidFill>
                <a:schemeClr val="bg2"/>
              </a:solidFill>
              <a:latin typeface="+mn-lt"/>
            </a:endParaRPr>
          </a:p>
        </p:txBody>
      </p:sp>
      <p:cxnSp>
        <p:nvCxnSpPr>
          <p:cNvPr id="21" name="直接连接符 20"/>
          <p:cNvCxnSpPr/>
          <p:nvPr/>
        </p:nvCxnSpPr>
        <p:spPr bwMode="auto">
          <a:xfrm>
            <a:off x="3707904" y="1453114"/>
            <a:ext cx="0" cy="1176495"/>
          </a:xfrm>
          <a:prstGeom prst="line">
            <a:avLst/>
          </a:prstGeom>
          <a:noFill/>
          <a:ln w="69850" cap="flat" cmpd="sng" algn="ctr">
            <a:solidFill>
              <a:srgbClr val="FF00FF"/>
            </a:solidFill>
            <a:prstDash val="sysDash"/>
            <a:round/>
            <a:headEnd type="none" w="med" len="med"/>
            <a:tailEnd type="none" w="med" len="med"/>
          </a:ln>
          <a:effectLst/>
        </p:spPr>
      </p:cxnSp>
      <p:graphicFrame>
        <p:nvGraphicFramePr>
          <p:cNvPr id="26" name="表格 25"/>
          <p:cNvGraphicFramePr>
            <a:graphicFrameLocks noGrp="1"/>
          </p:cNvGraphicFramePr>
          <p:nvPr>
            <p:extLst>
              <p:ext uri="{D42A27DB-BD31-4B8C-83A1-F6EECF244321}">
                <p14:modId xmlns:p14="http://schemas.microsoft.com/office/powerpoint/2010/main" val="3794662528"/>
              </p:ext>
            </p:extLst>
          </p:nvPr>
        </p:nvGraphicFramePr>
        <p:xfrm>
          <a:off x="887356" y="4900111"/>
          <a:ext cx="7488000" cy="936000"/>
        </p:xfrm>
        <a:graphic>
          <a:graphicData uri="http://schemas.openxmlformats.org/drawingml/2006/table">
            <a:tbl>
              <a:tblPr firstRow="1" bandRow="1">
                <a:tableStyleId>{5C22544A-7EE6-4342-B048-85BDC9FD1C3A}</a:tableStyleId>
              </a:tblPr>
              <a:tblGrid>
                <a:gridCol w="468000">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68000">
                  <a:extLst>
                    <a:ext uri="{9D8B030D-6E8A-4147-A177-3AD203B41FA5}">
                      <a16:colId xmlns:a16="http://schemas.microsoft.com/office/drawing/2014/main" val="20002"/>
                    </a:ext>
                  </a:extLst>
                </a:gridCol>
                <a:gridCol w="468000">
                  <a:extLst>
                    <a:ext uri="{9D8B030D-6E8A-4147-A177-3AD203B41FA5}">
                      <a16:colId xmlns:a16="http://schemas.microsoft.com/office/drawing/2014/main" val="20003"/>
                    </a:ext>
                  </a:extLst>
                </a:gridCol>
                <a:gridCol w="468000">
                  <a:extLst>
                    <a:ext uri="{9D8B030D-6E8A-4147-A177-3AD203B41FA5}">
                      <a16:colId xmlns:a16="http://schemas.microsoft.com/office/drawing/2014/main" val="20004"/>
                    </a:ext>
                  </a:extLst>
                </a:gridCol>
                <a:gridCol w="468000">
                  <a:extLst>
                    <a:ext uri="{9D8B030D-6E8A-4147-A177-3AD203B41FA5}">
                      <a16:colId xmlns:a16="http://schemas.microsoft.com/office/drawing/2014/main" val="20005"/>
                    </a:ext>
                  </a:extLst>
                </a:gridCol>
                <a:gridCol w="468000">
                  <a:extLst>
                    <a:ext uri="{9D8B030D-6E8A-4147-A177-3AD203B41FA5}">
                      <a16:colId xmlns:a16="http://schemas.microsoft.com/office/drawing/2014/main" val="20006"/>
                    </a:ext>
                  </a:extLst>
                </a:gridCol>
                <a:gridCol w="468000">
                  <a:extLst>
                    <a:ext uri="{9D8B030D-6E8A-4147-A177-3AD203B41FA5}">
                      <a16:colId xmlns:a16="http://schemas.microsoft.com/office/drawing/2014/main" val="20007"/>
                    </a:ext>
                  </a:extLst>
                </a:gridCol>
                <a:gridCol w="468000">
                  <a:extLst>
                    <a:ext uri="{9D8B030D-6E8A-4147-A177-3AD203B41FA5}">
                      <a16:colId xmlns:a16="http://schemas.microsoft.com/office/drawing/2014/main" val="20008"/>
                    </a:ext>
                  </a:extLst>
                </a:gridCol>
                <a:gridCol w="468000">
                  <a:extLst>
                    <a:ext uri="{9D8B030D-6E8A-4147-A177-3AD203B41FA5}">
                      <a16:colId xmlns:a16="http://schemas.microsoft.com/office/drawing/2014/main" val="20009"/>
                    </a:ext>
                  </a:extLst>
                </a:gridCol>
                <a:gridCol w="468000">
                  <a:extLst>
                    <a:ext uri="{9D8B030D-6E8A-4147-A177-3AD203B41FA5}">
                      <a16:colId xmlns:a16="http://schemas.microsoft.com/office/drawing/2014/main" val="20010"/>
                    </a:ext>
                  </a:extLst>
                </a:gridCol>
                <a:gridCol w="468000">
                  <a:extLst>
                    <a:ext uri="{9D8B030D-6E8A-4147-A177-3AD203B41FA5}">
                      <a16:colId xmlns:a16="http://schemas.microsoft.com/office/drawing/2014/main" val="20011"/>
                    </a:ext>
                  </a:extLst>
                </a:gridCol>
                <a:gridCol w="468000">
                  <a:extLst>
                    <a:ext uri="{9D8B030D-6E8A-4147-A177-3AD203B41FA5}">
                      <a16:colId xmlns:a16="http://schemas.microsoft.com/office/drawing/2014/main" val="20012"/>
                    </a:ext>
                  </a:extLst>
                </a:gridCol>
                <a:gridCol w="468000">
                  <a:extLst>
                    <a:ext uri="{9D8B030D-6E8A-4147-A177-3AD203B41FA5}">
                      <a16:colId xmlns:a16="http://schemas.microsoft.com/office/drawing/2014/main" val="20013"/>
                    </a:ext>
                  </a:extLst>
                </a:gridCol>
                <a:gridCol w="468000">
                  <a:extLst>
                    <a:ext uri="{9D8B030D-6E8A-4147-A177-3AD203B41FA5}">
                      <a16:colId xmlns:a16="http://schemas.microsoft.com/office/drawing/2014/main" val="20014"/>
                    </a:ext>
                  </a:extLst>
                </a:gridCol>
                <a:gridCol w="468000">
                  <a:extLst>
                    <a:ext uri="{9D8B030D-6E8A-4147-A177-3AD203B41FA5}">
                      <a16:colId xmlns:a16="http://schemas.microsoft.com/office/drawing/2014/main" val="20015"/>
                    </a:ext>
                  </a:extLst>
                </a:gridCol>
              </a:tblGrid>
              <a:tr h="468000">
                <a:tc>
                  <a:txBody>
                    <a:bodyPr/>
                    <a:lstStyle/>
                    <a:p>
                      <a:pPr algn="ctr"/>
                      <a:r>
                        <a:rPr lang="en-US" altLang="zh-CN" sz="2400" dirty="0">
                          <a:solidFill>
                            <a:schemeClr val="bg2"/>
                          </a:solidFill>
                        </a:rPr>
                        <a:t>0</a:t>
                      </a:r>
                      <a:endParaRPr lang="zh-CN" altLang="en-US" sz="2400" dirty="0">
                        <a:solidFill>
                          <a:schemeClr val="bg2"/>
                        </a:solidFill>
                      </a:endParaRPr>
                    </a:p>
                  </a:txBody>
                  <a:tcPr anchor="ctr">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CCFFCC"/>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0</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tc>
                  <a:txBody>
                    <a:bodyPr/>
                    <a:lstStyle/>
                    <a:p>
                      <a:pPr algn="ctr"/>
                      <a:r>
                        <a:rPr lang="en-US" altLang="zh-CN" sz="2400" dirty="0">
                          <a:solidFill>
                            <a:schemeClr val="bg2"/>
                          </a:solidFill>
                        </a:rPr>
                        <a:t>1</a:t>
                      </a:r>
                      <a:endParaRPr lang="zh-CN" altLang="en-US" sz="2400" dirty="0">
                        <a:solidFill>
                          <a:schemeClr val="bg2"/>
                        </a:solidFill>
                      </a:endParaRPr>
                    </a:p>
                  </a:txBody>
                  <a:tcPr anchor="ctr">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6AEF2"/>
                    </a:solidFill>
                  </a:tcPr>
                </a:tc>
                <a:extLst>
                  <a:ext uri="{0D108BD9-81ED-4DB2-BD59-A6C34878D82A}">
                    <a16:rowId xmlns:a16="http://schemas.microsoft.com/office/drawing/2014/main" val="10000"/>
                  </a:ext>
                </a:extLst>
              </a:tr>
              <a:tr h="468000">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15</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14</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11</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10</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1</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r>
                        <a:rPr lang="en-US" altLang="zh-CN" sz="1400" b="1" dirty="0">
                          <a:solidFill>
                            <a:srgbClr val="71050A"/>
                          </a:solidFill>
                          <a:latin typeface="Malgun Gothic" panose="020B0503020000020004" pitchFamily="34" charset="-127"/>
                          <a:ea typeface="Malgun Gothic" panose="020B0503020000020004" pitchFamily="34" charset="-127"/>
                          <a:cs typeface="Arial Unicode MS" panose="020B0604020202020204" pitchFamily="34" charset="-122"/>
                        </a:rPr>
                        <a:t>0</a:t>
                      </a:r>
                      <a:endParaRPr lang="zh-CN" altLang="en-US" sz="1400" b="1" dirty="0">
                        <a:solidFill>
                          <a:srgbClr val="71050A"/>
                        </a:solidFill>
                        <a:latin typeface="Malgun Gothic" panose="020B0503020000020004" pitchFamily="34" charset="-127"/>
                        <a:ea typeface="Arial Unicode MS" panose="020B0604020202020204" pitchFamily="34" charset="-122"/>
                        <a:cs typeface="Arial Unicode MS" panose="020B0604020202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7" name="文本框 26"/>
          <p:cNvSpPr txBox="1"/>
          <p:nvPr/>
        </p:nvSpPr>
        <p:spPr>
          <a:xfrm>
            <a:off x="1166496" y="4043623"/>
            <a:ext cx="6810645" cy="584775"/>
          </a:xfrm>
          <a:prstGeom prst="rect">
            <a:avLst/>
          </a:prstGeom>
          <a:solidFill>
            <a:schemeClr val="tx1">
              <a:lumMod val="95000"/>
            </a:schemeClr>
          </a:solidFill>
        </p:spPr>
        <p:txBody>
          <a:bodyPr wrap="square" rtlCol="0">
            <a:spAutoFit/>
          </a:bodyPr>
          <a:lstStyle/>
          <a:p>
            <a:pPr algn="ctr"/>
            <a:r>
              <a:rPr lang="zh-CN" altLang="en-US" dirty="0">
                <a:solidFill>
                  <a:schemeClr val="bg2"/>
                </a:solidFill>
                <a:latin typeface="+mn-lt"/>
              </a:rPr>
              <a:t>页面大小是</a:t>
            </a:r>
            <a:r>
              <a:rPr lang="en-US" altLang="zh-CN" dirty="0">
                <a:solidFill>
                  <a:srgbClr val="FF6600"/>
                </a:solidFill>
                <a:latin typeface="+mn-lt"/>
              </a:rPr>
              <a:t>2KB</a:t>
            </a:r>
            <a:r>
              <a:rPr lang="zh-CN" altLang="en-US" dirty="0">
                <a:solidFill>
                  <a:schemeClr val="bg2"/>
                </a:solidFill>
                <a:latin typeface="+mn-lt"/>
              </a:rPr>
              <a:t>，虚地址是</a:t>
            </a:r>
            <a:r>
              <a:rPr lang="en-US" altLang="zh-CN" dirty="0">
                <a:solidFill>
                  <a:schemeClr val="bg2"/>
                </a:solidFill>
                <a:latin typeface="+mn-lt"/>
              </a:rPr>
              <a:t>3BAD</a:t>
            </a:r>
            <a:endParaRPr lang="zh-CN" altLang="en-US" dirty="0">
              <a:solidFill>
                <a:schemeClr val="bg2"/>
              </a:solidFill>
              <a:latin typeface="+mn-lt"/>
            </a:endParaRPr>
          </a:p>
        </p:txBody>
      </p:sp>
      <p:grpSp>
        <p:nvGrpSpPr>
          <p:cNvPr id="70" name="组合 69"/>
          <p:cNvGrpSpPr/>
          <p:nvPr/>
        </p:nvGrpSpPr>
        <p:grpSpPr>
          <a:xfrm>
            <a:off x="1021841" y="5716985"/>
            <a:ext cx="5499869" cy="652597"/>
            <a:chOff x="1021841" y="5716985"/>
            <a:chExt cx="5499869" cy="652597"/>
          </a:xfrm>
        </p:grpSpPr>
        <p:sp>
          <p:nvSpPr>
            <p:cNvPr id="59" name="文本框 58"/>
            <p:cNvSpPr txBox="1"/>
            <p:nvPr/>
          </p:nvSpPr>
          <p:spPr>
            <a:xfrm>
              <a:off x="1021841" y="5716985"/>
              <a:ext cx="1644298" cy="584775"/>
            </a:xfrm>
            <a:prstGeom prst="rect">
              <a:avLst/>
            </a:prstGeom>
            <a:noFill/>
          </p:spPr>
          <p:txBody>
            <a:bodyPr wrap="square" rtlCol="0">
              <a:spAutoFit/>
            </a:bodyPr>
            <a:lstStyle/>
            <a:p>
              <a:r>
                <a:rPr lang="zh-CN" altLang="en-US" sz="3200" dirty="0">
                  <a:solidFill>
                    <a:schemeClr val="bg2"/>
                  </a:solidFill>
                </a:rPr>
                <a:t>页号：</a:t>
              </a:r>
            </a:p>
          </p:txBody>
        </p:sp>
        <p:sp>
          <p:nvSpPr>
            <p:cNvPr id="60" name="文本框 59"/>
            <p:cNvSpPr txBox="1"/>
            <p:nvPr/>
          </p:nvSpPr>
          <p:spPr>
            <a:xfrm>
              <a:off x="4217454" y="5784807"/>
              <a:ext cx="2304256" cy="584775"/>
            </a:xfrm>
            <a:prstGeom prst="rect">
              <a:avLst/>
            </a:prstGeom>
            <a:noFill/>
          </p:spPr>
          <p:txBody>
            <a:bodyPr wrap="square" rtlCol="0">
              <a:spAutoFit/>
            </a:bodyPr>
            <a:lstStyle/>
            <a:p>
              <a:r>
                <a:rPr lang="zh-CN" altLang="en-US" sz="3200" dirty="0">
                  <a:solidFill>
                    <a:schemeClr val="bg2"/>
                  </a:solidFill>
                </a:rPr>
                <a:t>页内地址：</a:t>
              </a:r>
            </a:p>
          </p:txBody>
        </p:sp>
      </p:grpSp>
      <p:sp>
        <p:nvSpPr>
          <p:cNvPr id="61" name="矩形 60"/>
          <p:cNvSpPr/>
          <p:nvPr/>
        </p:nvSpPr>
        <p:spPr>
          <a:xfrm>
            <a:off x="6179565" y="5769211"/>
            <a:ext cx="1301959" cy="584775"/>
          </a:xfrm>
          <a:prstGeom prst="rect">
            <a:avLst/>
          </a:prstGeom>
          <a:solidFill>
            <a:schemeClr val="tx1">
              <a:lumMod val="85000"/>
            </a:schemeClr>
          </a:solidFill>
        </p:spPr>
        <p:txBody>
          <a:bodyPr wrap="none">
            <a:spAutoFit/>
          </a:bodyPr>
          <a:lstStyle/>
          <a:p>
            <a:r>
              <a:rPr lang="en-US" altLang="zh-CN" sz="3200" dirty="0">
                <a:solidFill>
                  <a:schemeClr val="bg2"/>
                </a:solidFill>
                <a:latin typeface="+mn-lt"/>
              </a:rPr>
              <a:t>3ADH</a:t>
            </a:r>
            <a:endParaRPr lang="zh-CN" altLang="en-US" sz="3200" dirty="0">
              <a:solidFill>
                <a:schemeClr val="bg2"/>
              </a:solidFill>
              <a:latin typeface="+mn-lt"/>
            </a:endParaRPr>
          </a:p>
        </p:txBody>
      </p:sp>
      <p:sp>
        <p:nvSpPr>
          <p:cNvPr id="62" name="矩形 61"/>
          <p:cNvSpPr/>
          <p:nvPr/>
        </p:nvSpPr>
        <p:spPr>
          <a:xfrm>
            <a:off x="2343607" y="5709885"/>
            <a:ext cx="914033" cy="584775"/>
          </a:xfrm>
          <a:prstGeom prst="rect">
            <a:avLst/>
          </a:prstGeom>
          <a:solidFill>
            <a:schemeClr val="tx1">
              <a:lumMod val="85000"/>
            </a:schemeClr>
          </a:solidFill>
        </p:spPr>
        <p:txBody>
          <a:bodyPr wrap="none">
            <a:spAutoFit/>
          </a:bodyPr>
          <a:lstStyle/>
          <a:p>
            <a:r>
              <a:rPr lang="en-US" altLang="zh-CN" sz="3200" dirty="0">
                <a:solidFill>
                  <a:schemeClr val="bg2"/>
                </a:solidFill>
                <a:latin typeface="+mn-lt"/>
              </a:rPr>
              <a:t>07H</a:t>
            </a:r>
            <a:endParaRPr lang="zh-CN" altLang="en-US" sz="3200" dirty="0">
              <a:solidFill>
                <a:schemeClr val="bg2"/>
              </a:solidFill>
              <a:latin typeface="+mn-lt"/>
            </a:endParaRPr>
          </a:p>
        </p:txBody>
      </p:sp>
      <p:cxnSp>
        <p:nvCxnSpPr>
          <p:cNvPr id="69" name="直接连接符 68"/>
          <p:cNvCxnSpPr/>
          <p:nvPr/>
        </p:nvCxnSpPr>
        <p:spPr bwMode="auto">
          <a:xfrm>
            <a:off x="3203848" y="4582173"/>
            <a:ext cx="0" cy="1176495"/>
          </a:xfrm>
          <a:prstGeom prst="line">
            <a:avLst/>
          </a:prstGeom>
          <a:noFill/>
          <a:ln w="69850" cap="flat" cmpd="sng" algn="ctr">
            <a:solidFill>
              <a:srgbClr val="FF00FF"/>
            </a:solidFill>
            <a:prstDash val="sysDash"/>
            <a:round/>
            <a:headEnd type="none" w="med" len="med"/>
            <a:tailEnd type="none" w="med" len="med"/>
          </a:ln>
          <a:effectLst/>
        </p:spPr>
      </p:cxnSp>
      <p:sp>
        <p:nvSpPr>
          <p:cNvPr id="22" name="AutoShape 8">
            <a:hlinkClick r:id="rId2" action="ppaction://hlinksldjump" highlightClick="1"/>
          </p:cNvPr>
          <p:cNvSpPr>
            <a:spLocks noChangeArrowheads="1"/>
          </p:cNvSpPr>
          <p:nvPr/>
        </p:nvSpPr>
        <p:spPr bwMode="auto">
          <a:xfrm>
            <a:off x="8820150" y="6524625"/>
            <a:ext cx="323850" cy="33337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9605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1)">
                                      <p:cBhvr>
                                        <p:cTn id="7" dur="2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anim calcmode="lin" valueType="num">
                                      <p:cBhvr>
                                        <p:cTn id="28" dur="1000" fill="hold"/>
                                        <p:tgtEl>
                                          <p:spTgt spid="26"/>
                                        </p:tgtEl>
                                        <p:attrNameLst>
                                          <p:attrName>ppt_x</p:attrName>
                                        </p:attrNameLst>
                                      </p:cBhvr>
                                      <p:tavLst>
                                        <p:tav tm="0">
                                          <p:val>
                                            <p:strVal val="#ppt_x"/>
                                          </p:val>
                                        </p:tav>
                                        <p:tav tm="100000">
                                          <p:val>
                                            <p:strVal val="#ppt_x"/>
                                          </p:val>
                                        </p:tav>
                                      </p:tavLst>
                                    </p:anim>
                                    <p:anim calcmode="lin" valueType="num">
                                      <p:cBhvr>
                                        <p:cTn id="2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fade">
                                      <p:cBhvr>
                                        <p:cTn id="34" dur="1000"/>
                                        <p:tgtEl>
                                          <p:spTgt spid="70"/>
                                        </p:tgtEl>
                                      </p:cBhvr>
                                    </p:animEffect>
                                    <p:anim calcmode="lin" valueType="num">
                                      <p:cBhvr>
                                        <p:cTn id="35" dur="1000" fill="hold"/>
                                        <p:tgtEl>
                                          <p:spTgt spid="70"/>
                                        </p:tgtEl>
                                        <p:attrNameLst>
                                          <p:attrName>ppt_x</p:attrName>
                                        </p:attrNameLst>
                                      </p:cBhvr>
                                      <p:tavLst>
                                        <p:tav tm="0">
                                          <p:val>
                                            <p:strVal val="#ppt_x"/>
                                          </p:val>
                                        </p:tav>
                                        <p:tav tm="100000">
                                          <p:val>
                                            <p:strVal val="#ppt_x"/>
                                          </p:val>
                                        </p:tav>
                                      </p:tavLst>
                                    </p:anim>
                                    <p:anim calcmode="lin" valueType="num">
                                      <p:cBhvr>
                                        <p:cTn id="36"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nodeType="click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wheel(1)">
                                      <p:cBhvr>
                                        <p:cTn id="41" dur="2000"/>
                                        <p:tgtEl>
                                          <p:spTgt spid="6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fade">
                                      <p:cBhvr>
                                        <p:cTn id="46" dur="500"/>
                                        <p:tgtEl>
                                          <p:spTgt spid="6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fade">
                                      <p:cBhvr>
                                        <p:cTn id="51" dur="500"/>
                                        <p:tgtEl>
                                          <p:spTgt spid="61"/>
                                        </p:tgtEl>
                                      </p:cBhvr>
                                    </p:animEffect>
                                  </p:childTnLst>
                                </p:cTn>
                              </p:par>
                            </p:childTnLst>
                          </p:cTn>
                        </p:par>
                        <p:par>
                          <p:cTn id="52" fill="hold">
                            <p:stCondLst>
                              <p:cond delay="500"/>
                            </p:stCondLst>
                            <p:childTnLst>
                              <p:par>
                                <p:cTn id="53" presetID="4" presetClass="entr" presetSubtype="16"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ox(in)">
                                      <p:cBhvr>
                                        <p:cTn id="5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7" grpId="0" animBg="1"/>
      <p:bldP spid="61" grpId="0" animBg="1"/>
      <p:bldP spid="62" grpId="0" animBg="1"/>
      <p:bldP spid="2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719572" y="48449"/>
            <a:ext cx="7704856" cy="836613"/>
          </a:xfrm>
        </p:spPr>
        <p:txBody>
          <a:body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7.5.2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页式管理</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的数据结构</a:t>
            </a:r>
            <a:endPar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endParaRPr>
          </a:p>
        </p:txBody>
      </p:sp>
      <p:sp>
        <p:nvSpPr>
          <p:cNvPr id="13316" name="Rectangle 6"/>
          <p:cNvSpPr>
            <a:spLocks noGrp="1" noChangeArrowheads="1"/>
          </p:cNvSpPr>
          <p:nvPr>
            <p:ph type="body" idx="1"/>
          </p:nvPr>
        </p:nvSpPr>
        <p:spPr>
          <a:xfrm>
            <a:off x="280194" y="1129204"/>
            <a:ext cx="8756302" cy="1219676"/>
          </a:xfrm>
          <a:solidFill>
            <a:srgbClr val="99FF99"/>
          </a:solidFill>
        </p:spPr>
        <p:txBody>
          <a:bodyPr/>
          <a:lstStyle/>
          <a:p>
            <a:pPr marL="0" lvl="2" indent="0" algn="ctr" defTabSz="355600">
              <a:lnSpc>
                <a:spcPct val="90000"/>
              </a:lnSpc>
              <a:spcBef>
                <a:spcPct val="0"/>
              </a:spcBef>
              <a:buClr>
                <a:schemeClr val="bg1"/>
              </a:buClr>
              <a:buSzPct val="80000"/>
              <a:buNone/>
              <a:tabLst>
                <a:tab pos="3851275" algn="l"/>
              </a:tabLst>
              <a:defRPr/>
            </a:pPr>
            <a:r>
              <a:rPr lang="zh-CN" altLang="en-US" sz="4000" b="1" kern="1200" dirty="0">
                <a:solidFill>
                  <a:schemeClr val="bg2"/>
                </a:solidFill>
                <a:latin typeface="+mj-lt"/>
                <a:ea typeface="楷体" panose="02010609060101010101" pitchFamily="49" charset="-122"/>
                <a:cs typeface="+mn-cs"/>
              </a:rPr>
              <a:t>静态页式管理</a:t>
            </a:r>
          </a:p>
          <a:p>
            <a:pPr marL="0" lvl="2" indent="0" algn="ctr" defTabSz="355600">
              <a:lnSpc>
                <a:spcPct val="90000"/>
              </a:lnSpc>
              <a:spcBef>
                <a:spcPct val="0"/>
              </a:spcBef>
              <a:buClr>
                <a:schemeClr val="bg1"/>
              </a:buClr>
              <a:buSzPct val="80000"/>
              <a:buNone/>
              <a:tabLst>
                <a:tab pos="3851275" algn="l"/>
              </a:tabLst>
              <a:defRPr/>
            </a:pPr>
            <a:r>
              <a:rPr lang="zh-CN" altLang="en-US" sz="3600" b="1" kern="1200" dirty="0">
                <a:solidFill>
                  <a:schemeClr val="bg2"/>
                </a:solidFill>
                <a:latin typeface="+mj-lt"/>
                <a:ea typeface="楷体" panose="02010609060101010101" pitchFamily="49" charset="-122"/>
                <a:cs typeface="+mn-cs"/>
              </a:rPr>
              <a:t>进程执行之前，按页全部装入内存</a:t>
            </a:r>
          </a:p>
        </p:txBody>
      </p:sp>
      <p:sp>
        <p:nvSpPr>
          <p:cNvPr id="510983" name="Text Box 7"/>
          <p:cNvSpPr txBox="1">
            <a:spLocks noChangeArrowheads="1"/>
          </p:cNvSpPr>
          <p:nvPr/>
        </p:nvSpPr>
        <p:spPr bwMode="auto">
          <a:xfrm>
            <a:off x="1007740" y="2622814"/>
            <a:ext cx="7128519"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2"/>
              </a:buClr>
              <a:buSzPct val="70000"/>
              <a:buFont typeface="Wingdings" panose="05000000000000000000" pitchFamily="2" charset="2"/>
              <a:buChar char="n"/>
              <a:tabLst>
                <a:tab pos="1830388" algn="l"/>
                <a:tab pos="2857500" algn="ctr"/>
              </a:tabLst>
              <a:defRPr/>
            </a:pPr>
            <a:r>
              <a:rPr lang="zh-CN" altLang="en-US" sz="3600" dirty="0">
                <a:solidFill>
                  <a:schemeClr val="bg2"/>
                </a:solidFill>
                <a:effectLst>
                  <a:outerShdw blurRad="38100" dist="38100" dir="2700000" algn="tl">
                    <a:srgbClr val="000000">
                      <a:alpha val="43137"/>
                    </a:srgbClr>
                  </a:outerShdw>
                </a:effectLst>
                <a:ea typeface="楷体" panose="02010609060101010101" pitchFamily="49" charset="-122"/>
              </a:rPr>
              <a:t>与分区相同： 全部装入内存；</a:t>
            </a:r>
          </a:p>
          <a:p>
            <a:pPr marL="355600" lvl="2" indent="-355600" defTabSz="355600">
              <a:lnSpc>
                <a:spcPct val="90000"/>
              </a:lnSpc>
              <a:spcBef>
                <a:spcPct val="0"/>
              </a:spcBef>
              <a:buClr>
                <a:schemeClr val="bg2"/>
              </a:buClr>
              <a:buSzPct val="70000"/>
              <a:buFont typeface="Wingdings" panose="05000000000000000000" pitchFamily="2" charset="2"/>
              <a:buChar char="n"/>
              <a:tabLst>
                <a:tab pos="1830388" algn="l"/>
                <a:tab pos="2857500" algn="ctr"/>
              </a:tabLst>
              <a:defRPr/>
            </a:pPr>
            <a:r>
              <a:rPr lang="zh-CN" altLang="en-US" sz="3600" dirty="0">
                <a:solidFill>
                  <a:schemeClr val="bg2"/>
                </a:solidFill>
                <a:effectLst>
                  <a:outerShdw blurRad="38100" dist="38100" dir="2700000" algn="tl">
                    <a:srgbClr val="000000">
                      <a:alpha val="43137"/>
                    </a:srgbClr>
                  </a:outerShdw>
                </a:effectLst>
                <a:ea typeface="楷体" panose="02010609060101010101" pitchFamily="49" charset="-122"/>
              </a:rPr>
              <a:t>与分区不同： 不需要连续存放。</a:t>
            </a:r>
          </a:p>
        </p:txBody>
      </p:sp>
      <p:sp>
        <p:nvSpPr>
          <p:cNvPr id="3" name="矩形 2">
            <a:extLst>
              <a:ext uri="{FF2B5EF4-FFF2-40B4-BE49-F238E27FC236}">
                <a16:creationId xmlns:a16="http://schemas.microsoft.com/office/drawing/2014/main" id="{B4483425-FD7C-4B49-B8A3-1AF765E102DF}"/>
              </a:ext>
            </a:extLst>
          </p:cNvPr>
          <p:cNvSpPr/>
          <p:nvPr/>
        </p:nvSpPr>
        <p:spPr>
          <a:xfrm>
            <a:off x="3194859" y="3982445"/>
            <a:ext cx="2754280" cy="2069797"/>
          </a:xfrm>
          <a:prstGeom prst="rect">
            <a:avLst/>
          </a:prstGeom>
        </p:spPr>
        <p:txBody>
          <a:bodyPr wrap="none">
            <a:spAutoFit/>
          </a:bodyPr>
          <a:lstStyle/>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页 表</a:t>
            </a:r>
            <a:endParaRPr lang="en-US" altLang="zh-CN" sz="4000" dirty="0">
              <a:solidFill>
                <a:srgbClr val="006699"/>
              </a:solidFill>
              <a:effectLst>
                <a:outerShdw blurRad="38100" dist="38100" dir="2700000" algn="tl">
                  <a:srgbClr val="000000">
                    <a:alpha val="43137"/>
                  </a:srgbClr>
                </a:outerShdw>
              </a:effectLst>
              <a:ea typeface="MS PGothic" pitchFamily="34" charset="-128"/>
            </a:endParaRPr>
          </a:p>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请 求 表</a:t>
            </a:r>
            <a:endParaRPr lang="en-US" altLang="zh-CN" sz="4000" dirty="0">
              <a:solidFill>
                <a:srgbClr val="006699"/>
              </a:solidFill>
              <a:effectLst>
                <a:outerShdw blurRad="38100" dist="38100" dir="2700000" algn="tl">
                  <a:srgbClr val="000000">
                    <a:alpha val="43137"/>
                  </a:srgbClr>
                </a:outerShdw>
              </a:effectLst>
              <a:ea typeface="MS PGothic" pitchFamily="34" charset="-128"/>
            </a:endParaRPr>
          </a:p>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存储页面表</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610546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0983">
                                            <p:txEl>
                                              <p:pRg st="0" end="0"/>
                                            </p:txEl>
                                          </p:spTgt>
                                        </p:tgtEl>
                                        <p:attrNameLst>
                                          <p:attrName>style.visibility</p:attrName>
                                        </p:attrNameLst>
                                      </p:cBhvr>
                                      <p:to>
                                        <p:strVal val="visible"/>
                                      </p:to>
                                    </p:set>
                                    <p:animEffect transition="in" filter="checkerboard(across)">
                                      <p:cBhvr>
                                        <p:cTn id="7" dur="500"/>
                                        <p:tgtEl>
                                          <p:spTgt spid="510983">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10983">
                                            <p:txEl>
                                              <p:pRg st="1" end="1"/>
                                            </p:txEl>
                                          </p:spTgt>
                                        </p:tgtEl>
                                        <p:attrNameLst>
                                          <p:attrName>style.visibility</p:attrName>
                                        </p:attrNameLst>
                                      </p:cBhvr>
                                      <p:to>
                                        <p:strVal val="visible"/>
                                      </p:to>
                                    </p:set>
                                    <p:animEffect transition="in" filter="checkerboard(across)">
                                      <p:cBhvr>
                                        <p:cTn id="10" dur="500"/>
                                        <p:tgtEl>
                                          <p:spTgt spid="5109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2" presetClass="entr" presetSubtype="6"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1+#ppt_w/2"/>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3" grpId="0" build="p"/>
      <p:bldP spid="3" grpId="0"/>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80" name="Rectangle 4"/>
          <p:cNvSpPr>
            <a:spLocks noChangeArrowheads="1"/>
          </p:cNvSpPr>
          <p:nvPr/>
        </p:nvSpPr>
        <p:spPr bwMode="auto">
          <a:xfrm>
            <a:off x="0" y="836612"/>
            <a:ext cx="9324975" cy="4824635"/>
          </a:xfrm>
          <a:prstGeom prst="rect">
            <a:avLst/>
          </a:prstGeom>
          <a:noFill/>
          <a:ln w="12700" cap="sq">
            <a:noFill/>
            <a:miter lim="800000"/>
            <a:headEnd type="none" w="sm" len="sm"/>
            <a:tailEnd type="none" w="sm" len="sm"/>
          </a:ln>
          <a:effectLst/>
        </p:spPr>
        <p:txBody>
          <a:bodyPr/>
          <a:lstStyle/>
          <a:p>
            <a:pPr marL="355600" lvl="2" indent="-355600" defTabSz="355600">
              <a:lnSpc>
                <a:spcPct val="90000"/>
              </a:lnSpc>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（页号）、页面号、其它相关信息。</a:t>
            </a:r>
          </a:p>
          <a:p>
            <a:pPr marL="355600" lvl="2" indent="-355600" defTabSz="355600">
              <a:lnSpc>
                <a:spcPct val="90000"/>
              </a:lnSpc>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每个进程一个，长度和首地址放在</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PCB</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中。</a:t>
            </a:r>
          </a:p>
          <a:p>
            <a:pPr marL="355600" lvl="2" indent="-355600" defTabSz="355600">
              <a:lnSpc>
                <a:spcPct val="90000"/>
              </a:lnSpc>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占用处理机的当前进程的页表</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首地址：页表始址寄存器</a:t>
            </a: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长度：页表长度寄存器</a:t>
            </a:r>
          </a:p>
          <a:p>
            <a:pPr marL="355600" lvl="2" indent="-355600" defTabSz="355600">
              <a:lnSpc>
                <a:spcPct val="90000"/>
              </a:lnSpc>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大小：由进程的长度决定。</a:t>
            </a: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如：一个每页长</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1 K</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，大小为</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20 K</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的进程，</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457200" lvl="3" defTabSz="355600">
              <a:lnSpc>
                <a:spcPct val="90000"/>
              </a:lnSpc>
              <a:buClr>
                <a:schemeClr val="bg2"/>
              </a:buClr>
              <a:buSzPct val="80000"/>
              <a:defRPr/>
            </a:pP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如果一个内存单元存放一个页表项，</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457200" lvl="3" defTabSz="355600">
              <a:lnSpc>
                <a:spcPct val="90000"/>
              </a:lnSpc>
              <a:buClr>
                <a:schemeClr val="bg2"/>
              </a:buClr>
              <a:buSzPct val="80000"/>
              <a:defRPr/>
            </a:pP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则要         个存储单元。</a:t>
            </a:r>
          </a:p>
        </p:txBody>
      </p:sp>
      <p:sp>
        <p:nvSpPr>
          <p:cNvPr id="3" name="矩形 2">
            <a:extLst>
              <a:ext uri="{FF2B5EF4-FFF2-40B4-BE49-F238E27FC236}">
                <a16:creationId xmlns:a16="http://schemas.microsoft.com/office/drawing/2014/main" id="{95E655B3-645A-4A25-8D3B-7618B7F906BD}"/>
              </a:ext>
            </a:extLst>
          </p:cNvPr>
          <p:cNvSpPr/>
          <p:nvPr/>
        </p:nvSpPr>
        <p:spPr>
          <a:xfrm>
            <a:off x="3707904" y="20859"/>
            <a:ext cx="1772480"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   表</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矩形 1"/>
          <p:cNvSpPr/>
          <p:nvPr/>
        </p:nvSpPr>
        <p:spPr>
          <a:xfrm>
            <a:off x="1835696" y="4581128"/>
            <a:ext cx="595035" cy="492443"/>
          </a:xfrm>
          <a:prstGeom prst="rect">
            <a:avLst/>
          </a:prstGeom>
          <a:solidFill>
            <a:srgbClr val="96AEF2"/>
          </a:solidFill>
        </p:spPr>
        <p:txBody>
          <a:bodyPr wrap="none" tIns="0" bIns="0">
            <a:spAutoFit/>
          </a:bodyPr>
          <a:lstStyle/>
          <a:p>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20</a:t>
            </a:r>
            <a:endParaRPr lang="zh-CN" altLang="en-US" dirty="0"/>
          </a:p>
        </p:txBody>
      </p:sp>
    </p:spTree>
    <p:extLst>
      <p:ext uri="{BB962C8B-B14F-4D97-AF65-F5344CB8AC3E}">
        <p14:creationId xmlns:p14="http://schemas.microsoft.com/office/powerpoint/2010/main" val="317424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38980">
                                            <p:txEl>
                                              <p:pRg st="2" end="2"/>
                                            </p:txEl>
                                          </p:spTgt>
                                        </p:tgtEl>
                                        <p:attrNameLst>
                                          <p:attrName>style.visibility</p:attrName>
                                        </p:attrNameLst>
                                      </p:cBhvr>
                                      <p:to>
                                        <p:strVal val="visible"/>
                                      </p:to>
                                    </p:set>
                                    <p:animEffect transition="in" filter="fade">
                                      <p:cBhvr>
                                        <p:cTn id="7" dur="1000"/>
                                        <p:tgtEl>
                                          <p:spTgt spid="638980">
                                            <p:txEl>
                                              <p:pRg st="2" end="2"/>
                                            </p:txEl>
                                          </p:spTgt>
                                        </p:tgtEl>
                                      </p:cBhvr>
                                    </p:animEffect>
                                    <p:anim calcmode="lin" valueType="num">
                                      <p:cBhvr>
                                        <p:cTn id="8" dur="1000" fill="hold"/>
                                        <p:tgtEl>
                                          <p:spTgt spid="63898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38980">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38980">
                                            <p:txEl>
                                              <p:pRg st="3" end="3"/>
                                            </p:txEl>
                                          </p:spTgt>
                                        </p:tgtEl>
                                        <p:attrNameLst>
                                          <p:attrName>style.visibility</p:attrName>
                                        </p:attrNameLst>
                                      </p:cBhvr>
                                      <p:to>
                                        <p:strVal val="visible"/>
                                      </p:to>
                                    </p:set>
                                    <p:animEffect transition="in" filter="fade">
                                      <p:cBhvr>
                                        <p:cTn id="12" dur="1000"/>
                                        <p:tgtEl>
                                          <p:spTgt spid="638980">
                                            <p:txEl>
                                              <p:pRg st="3" end="3"/>
                                            </p:txEl>
                                          </p:spTgt>
                                        </p:tgtEl>
                                      </p:cBhvr>
                                    </p:animEffect>
                                    <p:anim calcmode="lin" valueType="num">
                                      <p:cBhvr>
                                        <p:cTn id="13" dur="1000" fill="hold"/>
                                        <p:tgtEl>
                                          <p:spTgt spid="63898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38980">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38980">
                                            <p:txEl>
                                              <p:pRg st="4" end="4"/>
                                            </p:txEl>
                                          </p:spTgt>
                                        </p:tgtEl>
                                        <p:attrNameLst>
                                          <p:attrName>style.visibility</p:attrName>
                                        </p:attrNameLst>
                                      </p:cBhvr>
                                      <p:to>
                                        <p:strVal val="visible"/>
                                      </p:to>
                                    </p:set>
                                    <p:animEffect transition="in" filter="fade">
                                      <p:cBhvr>
                                        <p:cTn id="17" dur="1000"/>
                                        <p:tgtEl>
                                          <p:spTgt spid="638980">
                                            <p:txEl>
                                              <p:pRg st="4" end="4"/>
                                            </p:txEl>
                                          </p:spTgt>
                                        </p:tgtEl>
                                      </p:cBhvr>
                                    </p:animEffect>
                                    <p:anim calcmode="lin" valueType="num">
                                      <p:cBhvr>
                                        <p:cTn id="18" dur="1000" fill="hold"/>
                                        <p:tgtEl>
                                          <p:spTgt spid="638980">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63898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38980">
                                            <p:txEl>
                                              <p:pRg st="5" end="5"/>
                                            </p:txEl>
                                          </p:spTgt>
                                        </p:tgtEl>
                                        <p:attrNameLst>
                                          <p:attrName>style.visibility</p:attrName>
                                        </p:attrNameLst>
                                      </p:cBhvr>
                                      <p:to>
                                        <p:strVal val="visible"/>
                                      </p:to>
                                    </p:set>
                                    <p:animEffect transition="in" filter="fade">
                                      <p:cBhvr>
                                        <p:cTn id="24" dur="1000"/>
                                        <p:tgtEl>
                                          <p:spTgt spid="638980">
                                            <p:txEl>
                                              <p:pRg st="5" end="5"/>
                                            </p:txEl>
                                          </p:spTgt>
                                        </p:tgtEl>
                                      </p:cBhvr>
                                    </p:animEffect>
                                    <p:anim calcmode="lin" valueType="num">
                                      <p:cBhvr>
                                        <p:cTn id="25" dur="1000" fill="hold"/>
                                        <p:tgtEl>
                                          <p:spTgt spid="638980">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63898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38980">
                                            <p:txEl>
                                              <p:pRg st="6" end="6"/>
                                            </p:txEl>
                                          </p:spTgt>
                                        </p:tgtEl>
                                        <p:attrNameLst>
                                          <p:attrName>style.visibility</p:attrName>
                                        </p:attrNameLst>
                                      </p:cBhvr>
                                      <p:to>
                                        <p:strVal val="visible"/>
                                      </p:to>
                                    </p:set>
                                    <p:animEffect transition="in" filter="fade">
                                      <p:cBhvr>
                                        <p:cTn id="31" dur="1000"/>
                                        <p:tgtEl>
                                          <p:spTgt spid="638980">
                                            <p:txEl>
                                              <p:pRg st="6" end="6"/>
                                            </p:txEl>
                                          </p:spTgt>
                                        </p:tgtEl>
                                      </p:cBhvr>
                                    </p:animEffect>
                                    <p:anim calcmode="lin" valueType="num">
                                      <p:cBhvr>
                                        <p:cTn id="32" dur="1000" fill="hold"/>
                                        <p:tgtEl>
                                          <p:spTgt spid="638980">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638980">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38980">
                                            <p:txEl>
                                              <p:pRg st="7" end="7"/>
                                            </p:txEl>
                                          </p:spTgt>
                                        </p:tgtEl>
                                        <p:attrNameLst>
                                          <p:attrName>style.visibility</p:attrName>
                                        </p:attrNameLst>
                                      </p:cBhvr>
                                      <p:to>
                                        <p:strVal val="visible"/>
                                      </p:to>
                                    </p:set>
                                    <p:animEffect transition="in" filter="fade">
                                      <p:cBhvr>
                                        <p:cTn id="36" dur="1000"/>
                                        <p:tgtEl>
                                          <p:spTgt spid="638980">
                                            <p:txEl>
                                              <p:pRg st="7" end="7"/>
                                            </p:txEl>
                                          </p:spTgt>
                                        </p:tgtEl>
                                      </p:cBhvr>
                                    </p:animEffect>
                                    <p:anim calcmode="lin" valueType="num">
                                      <p:cBhvr>
                                        <p:cTn id="37" dur="1000" fill="hold"/>
                                        <p:tgtEl>
                                          <p:spTgt spid="638980">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638980">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638980">
                                            <p:txEl>
                                              <p:pRg st="8" end="8"/>
                                            </p:txEl>
                                          </p:spTgt>
                                        </p:tgtEl>
                                        <p:attrNameLst>
                                          <p:attrName>style.visibility</p:attrName>
                                        </p:attrNameLst>
                                      </p:cBhvr>
                                      <p:to>
                                        <p:strVal val="visible"/>
                                      </p:to>
                                    </p:set>
                                    <p:animEffect transition="in" filter="fade">
                                      <p:cBhvr>
                                        <p:cTn id="41" dur="1000"/>
                                        <p:tgtEl>
                                          <p:spTgt spid="638980">
                                            <p:txEl>
                                              <p:pRg st="8" end="8"/>
                                            </p:txEl>
                                          </p:spTgt>
                                        </p:tgtEl>
                                      </p:cBhvr>
                                    </p:animEffect>
                                    <p:anim calcmode="lin" valueType="num">
                                      <p:cBhvr>
                                        <p:cTn id="42" dur="1000" fill="hold"/>
                                        <p:tgtEl>
                                          <p:spTgt spid="638980">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63898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500"/>
                                        <p:tgtEl>
                                          <p:spTgt spid="2"/>
                                        </p:tgtEl>
                                      </p:cBhvr>
                                    </p:animEffect>
                                  </p:childTnLst>
                                </p:cTn>
                              </p:par>
                            </p:childTnLst>
                          </p:cTn>
                        </p:par>
                        <p:par>
                          <p:cTn id="49" fill="hold">
                            <p:stCondLst>
                              <p:cond delay="500"/>
                            </p:stCondLst>
                            <p:childTnLst>
                              <p:par>
                                <p:cTn id="50" presetID="2" presetClass="entr" presetSubtype="6" fill="hold" grpId="0" nodeType="after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additive="base">
                                        <p:cTn id="52" dur="500" fill="hold"/>
                                        <p:tgtEl>
                                          <p:spTgt spid="4"/>
                                        </p:tgtEl>
                                        <p:attrNameLst>
                                          <p:attrName>ppt_x</p:attrName>
                                        </p:attrNameLst>
                                      </p:cBhvr>
                                      <p:tavLst>
                                        <p:tav tm="0">
                                          <p:val>
                                            <p:strVal val="1+#ppt_w/2"/>
                                          </p:val>
                                        </p:tav>
                                        <p:tav tm="100000">
                                          <p:val>
                                            <p:strVal val="#ppt_x"/>
                                          </p:val>
                                        </p:tav>
                                      </p:tavLst>
                                    </p:anim>
                                    <p:anim calcmode="lin" valueType="num">
                                      <p:cBhvr additive="base">
                                        <p:cTn id="5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E824714-2E33-45EB-BD82-4ADF9F54F4AF}"/>
              </a:ext>
            </a:extLst>
          </p:cNvPr>
          <p:cNvSpPr>
            <a:spLocks noGrp="1"/>
          </p:cNvSpPr>
          <p:nvPr>
            <p:ph type="dt" sz="half" idx="10"/>
          </p:nvPr>
        </p:nvSpPr>
        <p:spPr/>
        <p:txBody>
          <a:bodyPr/>
          <a:lstStyle/>
          <a:p>
            <a:pPr>
              <a:defRPr/>
            </a:pPr>
            <a:fld id="{7FCA0350-E2C7-4C3F-B45E-5ED928986F04}" type="datetime1">
              <a:rPr lang="zh-CN" altLang="en-US" smtClean="0"/>
              <a:pPr>
                <a:defRPr/>
              </a:pPr>
              <a:t>2024/11/20</a:t>
            </a:fld>
            <a:endParaRPr lang="en-US" altLang="zh-CN"/>
          </a:p>
        </p:txBody>
      </p:sp>
      <p:sp>
        <p:nvSpPr>
          <p:cNvPr id="5" name="灯片编号占位符 4">
            <a:extLst>
              <a:ext uri="{FF2B5EF4-FFF2-40B4-BE49-F238E27FC236}">
                <a16:creationId xmlns:a16="http://schemas.microsoft.com/office/drawing/2014/main" id="{9A53F733-6FB7-4801-93B3-68FCC8B4979C}"/>
              </a:ext>
            </a:extLst>
          </p:cNvPr>
          <p:cNvSpPr>
            <a:spLocks noGrp="1"/>
          </p:cNvSpPr>
          <p:nvPr>
            <p:ph type="sldNum" sz="quarter" idx="12"/>
          </p:nvPr>
        </p:nvSpPr>
        <p:spPr/>
        <p:txBody>
          <a:bodyPr/>
          <a:lstStyle/>
          <a:p>
            <a:pPr>
              <a:defRPr/>
            </a:pPr>
            <a:r>
              <a:rPr lang="zh-CN" altLang="en-US"/>
              <a:t>第 </a:t>
            </a:r>
            <a:fld id="{4D18CCF0-A072-4DBD-9DA3-362055088704}" type="slidenum">
              <a:rPr lang="zh-CN" altLang="en-US" smtClean="0"/>
              <a:pPr>
                <a:defRPr/>
              </a:pPr>
              <a:t>60</a:t>
            </a:fld>
            <a:r>
              <a:rPr lang="zh-CN" altLang="en-US"/>
              <a:t> 页</a:t>
            </a:r>
          </a:p>
        </p:txBody>
      </p:sp>
      <p:sp>
        <p:nvSpPr>
          <p:cNvPr id="6" name="矩形 5">
            <a:extLst>
              <a:ext uri="{FF2B5EF4-FFF2-40B4-BE49-F238E27FC236}">
                <a16:creationId xmlns:a16="http://schemas.microsoft.com/office/drawing/2014/main" id="{9C9731E7-5363-4E30-9340-BADB71A9E0B1}"/>
              </a:ext>
            </a:extLst>
          </p:cNvPr>
          <p:cNvSpPr/>
          <p:nvPr/>
        </p:nvSpPr>
        <p:spPr>
          <a:xfrm>
            <a:off x="1511383" y="53299"/>
            <a:ext cx="6292107" cy="707886"/>
          </a:xfrm>
          <a:prstGeom prst="rect">
            <a:avLst/>
          </a:prstGeom>
          <a:noFill/>
        </p:spPr>
        <p:txBody>
          <a:bodyPr wrap="none">
            <a:spAutoFit/>
          </a:bodyPr>
          <a:lstStyle/>
          <a:p>
            <a:pPr algn="ctr" eaLnBrk="1" hangingPunct="1">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xv6</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进程控制块中页表信息</a:t>
            </a:r>
          </a:p>
        </p:txBody>
      </p:sp>
      <p:sp>
        <p:nvSpPr>
          <p:cNvPr id="7" name="矩形 6">
            <a:extLst>
              <a:ext uri="{FF2B5EF4-FFF2-40B4-BE49-F238E27FC236}">
                <a16:creationId xmlns:a16="http://schemas.microsoft.com/office/drawing/2014/main" id="{3B8AB9E9-FD73-4479-A7C5-3ACA01905E76}"/>
              </a:ext>
            </a:extLst>
          </p:cNvPr>
          <p:cNvSpPr/>
          <p:nvPr/>
        </p:nvSpPr>
        <p:spPr>
          <a:xfrm>
            <a:off x="3463914" y="547401"/>
            <a:ext cx="2628220" cy="584775"/>
          </a:xfrm>
          <a:prstGeom prst="rect">
            <a:avLst/>
          </a:prstGeom>
        </p:spPr>
        <p:txBody>
          <a:bodyPr wrap="none">
            <a:spAutoFit/>
          </a:bodyPr>
          <a:lstStyle/>
          <a:p>
            <a:r>
              <a:rPr lang="en-US" altLang="zh-CN" dirty="0">
                <a:solidFill>
                  <a:schemeClr val="bg2"/>
                </a:solidFill>
                <a:effectLst>
                  <a:outerShdw blurRad="38100" dist="38100" dir="2700000" algn="tl">
                    <a:srgbClr val="000000">
                      <a:alpha val="43137"/>
                    </a:srgbClr>
                  </a:outerShdw>
                </a:effectLst>
                <a:latin typeface="+mn-lt"/>
              </a:rPr>
              <a:t>kernel/</a:t>
            </a:r>
            <a:r>
              <a:rPr lang="en-US" altLang="zh-CN" dirty="0" err="1">
                <a:solidFill>
                  <a:schemeClr val="bg2"/>
                </a:solidFill>
                <a:effectLst>
                  <a:outerShdw blurRad="38100" dist="38100" dir="2700000" algn="tl">
                    <a:srgbClr val="000000">
                      <a:alpha val="43137"/>
                    </a:srgbClr>
                  </a:outerShdw>
                </a:effectLst>
                <a:latin typeface="+mn-lt"/>
              </a:rPr>
              <a:t>proc.h</a:t>
            </a:r>
            <a:endParaRPr lang="zh-CN" altLang="en-US" dirty="0">
              <a:solidFill>
                <a:schemeClr val="bg2"/>
              </a:solidFill>
              <a:effectLst>
                <a:outerShdw blurRad="38100" dist="38100" dir="2700000" algn="tl">
                  <a:srgbClr val="000000">
                    <a:alpha val="43137"/>
                  </a:srgbClr>
                </a:outerShdw>
              </a:effectLst>
              <a:latin typeface="+mn-lt"/>
            </a:endParaRPr>
          </a:p>
        </p:txBody>
      </p:sp>
      <p:pic>
        <p:nvPicPr>
          <p:cNvPr id="8" name="图片 7">
            <a:extLst>
              <a:ext uri="{FF2B5EF4-FFF2-40B4-BE49-F238E27FC236}">
                <a16:creationId xmlns:a16="http://schemas.microsoft.com/office/drawing/2014/main" id="{1B32D899-39F9-457A-BF77-16F66C7E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627" y="1321188"/>
            <a:ext cx="8076335" cy="5467057"/>
          </a:xfrm>
          <a:prstGeom prst="rect">
            <a:avLst/>
          </a:prstGeom>
        </p:spPr>
      </p:pic>
      <p:sp>
        <p:nvSpPr>
          <p:cNvPr id="9" name="矩形 8">
            <a:extLst>
              <a:ext uri="{FF2B5EF4-FFF2-40B4-BE49-F238E27FC236}">
                <a16:creationId xmlns:a16="http://schemas.microsoft.com/office/drawing/2014/main" id="{A95D375C-C4C6-4143-B9D7-800183AA0CAF}"/>
              </a:ext>
            </a:extLst>
          </p:cNvPr>
          <p:cNvSpPr/>
          <p:nvPr/>
        </p:nvSpPr>
        <p:spPr>
          <a:xfrm>
            <a:off x="811929" y="1268347"/>
            <a:ext cx="1438069" cy="298722"/>
          </a:xfrm>
          <a:prstGeom prst="rect">
            <a:avLst/>
          </a:prstGeom>
          <a:solidFill>
            <a:srgbClr val="0000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0" name="矩形 9">
            <a:extLst>
              <a:ext uri="{FF2B5EF4-FFF2-40B4-BE49-F238E27FC236}">
                <a16:creationId xmlns:a16="http://schemas.microsoft.com/office/drawing/2014/main" id="{C32D8EEB-1E10-4FA1-91F5-135E7BD66935}"/>
              </a:ext>
            </a:extLst>
          </p:cNvPr>
          <p:cNvSpPr/>
          <p:nvPr/>
        </p:nvSpPr>
        <p:spPr>
          <a:xfrm>
            <a:off x="1025861" y="5114284"/>
            <a:ext cx="2628219" cy="298722"/>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FF00"/>
                </a:solidFill>
              </a:ln>
            </a:endParaRPr>
          </a:p>
        </p:txBody>
      </p:sp>
      <p:sp>
        <p:nvSpPr>
          <p:cNvPr id="11" name="AutoShape 6">
            <a:hlinkClick r:id="" action="ppaction://hlinkshowjump?jump=nextslide" highlightClick="1"/>
            <a:extLst>
              <a:ext uri="{FF2B5EF4-FFF2-40B4-BE49-F238E27FC236}">
                <a16:creationId xmlns:a16="http://schemas.microsoft.com/office/drawing/2014/main" id="{D0B89E06-A3BD-4F19-A9FF-7CF3949B95F5}"/>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2" name="对话气泡: 圆角矩形 6">
            <a:extLst>
              <a:ext uri="{FF2B5EF4-FFF2-40B4-BE49-F238E27FC236}">
                <a16:creationId xmlns:a16="http://schemas.microsoft.com/office/drawing/2014/main" id="{B1264E9A-88E3-4623-98E0-E85ECB744B59}"/>
              </a:ext>
            </a:extLst>
          </p:cNvPr>
          <p:cNvSpPr/>
          <p:nvPr/>
        </p:nvSpPr>
        <p:spPr bwMode="auto">
          <a:xfrm>
            <a:off x="3654080" y="4277307"/>
            <a:ext cx="1728192" cy="553947"/>
          </a:xfrm>
          <a:prstGeom prst="wedgeRoundRectCallout">
            <a:avLst>
              <a:gd name="adj1" fmla="val -51955"/>
              <a:gd name="adj2" fmla="val 112669"/>
              <a:gd name="adj3" fmla="val 16667"/>
            </a:avLst>
          </a:prstGeom>
          <a:solidFill>
            <a:srgbClr val="FFC000"/>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0" indent="0" eaLnBrk="1" hangingPunct="1">
              <a:spcBef>
                <a:spcPts val="0"/>
              </a:spcBef>
              <a:buClr>
                <a:schemeClr val="bg1"/>
              </a:buClr>
              <a:buNone/>
              <a:defRPr/>
            </a:pPr>
            <a:r>
              <a:rPr lang="zh-CN" altLang="en-US" sz="2800" dirty="0">
                <a:solidFill>
                  <a:srgbClr val="080808"/>
                </a:solidFill>
                <a:latin typeface="+mn-lt"/>
                <a:ea typeface="+mn-ea"/>
              </a:rPr>
              <a:t>页表指针</a:t>
            </a:r>
            <a:endParaRPr lang="en-US" altLang="en-US" sz="2400" kern="0" dirty="0">
              <a:solidFill>
                <a:schemeClr val="bg2"/>
              </a:solidFill>
              <a:latin typeface="+mn-lt"/>
              <a:ea typeface="+mn-ea"/>
            </a:endParaRPr>
          </a:p>
        </p:txBody>
      </p:sp>
    </p:spTree>
    <p:extLst>
      <p:ext uri="{BB962C8B-B14F-4D97-AF65-F5344CB8AC3E}">
        <p14:creationId xmlns:p14="http://schemas.microsoft.com/office/powerpoint/2010/main" val="331553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1+#ppt_w/2"/>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p:cNvPicPr>
            <a:picLocks noChangeAspect="1" noChangeArrowheads="1"/>
          </p:cNvPicPr>
          <p:nvPr/>
        </p:nvPicPr>
        <p:blipFill>
          <a:blip r:embed="rId2">
            <a:extLst>
              <a:ext uri="{28A0092B-C50C-407E-A947-70E740481C1C}">
                <a14:useLocalDpi xmlns:a14="http://schemas.microsoft.com/office/drawing/2010/main" val="0"/>
              </a:ext>
            </a:extLst>
          </a:blip>
          <a:srcRect l="7840" t="800" r="7520" b="999"/>
          <a:stretch>
            <a:fillRect/>
          </a:stretch>
        </p:blipFill>
        <p:spPr bwMode="auto">
          <a:xfrm>
            <a:off x="827584" y="1039018"/>
            <a:ext cx="7096125" cy="569753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24E2A37C-82A5-4807-BDCA-CEBAF3B03158}"/>
              </a:ext>
            </a:extLst>
          </p:cNvPr>
          <p:cNvSpPr/>
          <p:nvPr/>
        </p:nvSpPr>
        <p:spPr>
          <a:xfrm>
            <a:off x="2770108" y="98997"/>
            <a:ext cx="3603783"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 表 示 例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1</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5" name="矩形 4">
            <a:extLst>
              <a:ext uri="{FF2B5EF4-FFF2-40B4-BE49-F238E27FC236}">
                <a16:creationId xmlns:a16="http://schemas.microsoft.com/office/drawing/2014/main" id="{8E55D7CD-406C-4447-9AE8-0B6A0CA15A8E}"/>
              </a:ext>
            </a:extLst>
          </p:cNvPr>
          <p:cNvSpPr/>
          <p:nvPr/>
        </p:nvSpPr>
        <p:spPr>
          <a:xfrm>
            <a:off x="1403648" y="6336445"/>
            <a:ext cx="5472608" cy="400110"/>
          </a:xfrm>
          <a:prstGeom prst="rect">
            <a:avLst/>
          </a:prstGeom>
        </p:spPr>
        <p:txBody>
          <a:bodyPr wrap="square">
            <a:spAutoFit/>
          </a:bodyPr>
          <a:lstStyle/>
          <a:p>
            <a:pPr algn="ctr"/>
            <a:r>
              <a:rPr lang="zh-CN" altLang="en-US" sz="2000" dirty="0">
                <a:solidFill>
                  <a:schemeClr val="bg2"/>
                </a:solidFill>
              </a:rPr>
              <a:t>图 </a:t>
            </a:r>
            <a:r>
              <a:rPr lang="en-US" altLang="zh-CN" sz="2000" dirty="0">
                <a:solidFill>
                  <a:schemeClr val="bg2"/>
                </a:solidFill>
              </a:rPr>
              <a:t>7-11</a:t>
            </a:r>
            <a:r>
              <a:rPr lang="zh-CN" altLang="en-US" sz="2000" dirty="0">
                <a:solidFill>
                  <a:schemeClr val="bg2"/>
                </a:solidFill>
              </a:rPr>
              <a:t> 逻辑内存和物理内存的分页模型</a:t>
            </a:r>
            <a:endParaRPr lang="zh-CN" altLang="en-US" sz="2000" dirty="0"/>
          </a:p>
        </p:txBody>
      </p:sp>
    </p:spTree>
    <p:extLst>
      <p:ext uri="{BB962C8B-B14F-4D97-AF65-F5344CB8AC3E}">
        <p14:creationId xmlns:p14="http://schemas.microsoft.com/office/powerpoint/2010/main" val="342122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E5BF5FD-61DA-4A42-BAD0-251C913D5E7D}"/>
              </a:ext>
            </a:extLst>
          </p:cNvPr>
          <p:cNvSpPr/>
          <p:nvPr/>
        </p:nvSpPr>
        <p:spPr>
          <a:xfrm>
            <a:off x="2843808" y="173394"/>
            <a:ext cx="3603783"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 表 示 例 （</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2</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p>
        </p:txBody>
      </p:sp>
      <p:sp>
        <p:nvSpPr>
          <p:cNvPr id="6" name="矩形 5">
            <a:extLst>
              <a:ext uri="{FF2B5EF4-FFF2-40B4-BE49-F238E27FC236}">
                <a16:creationId xmlns:a16="http://schemas.microsoft.com/office/drawing/2014/main" id="{993C1475-E6B9-40E7-9EDC-8D08F0B5C95B}"/>
              </a:ext>
            </a:extLst>
          </p:cNvPr>
          <p:cNvSpPr/>
          <p:nvPr/>
        </p:nvSpPr>
        <p:spPr>
          <a:xfrm>
            <a:off x="2051720" y="5568915"/>
            <a:ext cx="5472608" cy="400110"/>
          </a:xfrm>
          <a:prstGeom prst="rect">
            <a:avLst/>
          </a:prstGeom>
        </p:spPr>
        <p:txBody>
          <a:bodyPr wrap="square">
            <a:spAutoFit/>
          </a:bodyPr>
          <a:lstStyle/>
          <a:p>
            <a:r>
              <a:rPr lang="zh-CN" altLang="en-US" sz="2000" dirty="0">
                <a:solidFill>
                  <a:schemeClr val="bg2"/>
                </a:solidFill>
              </a:rPr>
              <a:t>图 </a:t>
            </a:r>
            <a:r>
              <a:rPr lang="en-US" altLang="zh-CN" sz="2000" dirty="0">
                <a:solidFill>
                  <a:schemeClr val="bg2"/>
                </a:solidFill>
              </a:rPr>
              <a:t>7-13</a:t>
            </a:r>
            <a:r>
              <a:rPr lang="zh-CN" altLang="en-US" sz="2000" dirty="0">
                <a:solidFill>
                  <a:schemeClr val="bg2"/>
                </a:solidFill>
              </a:rPr>
              <a:t> 空闲页面 </a:t>
            </a:r>
            <a:r>
              <a:rPr lang="en-US" altLang="zh-CN" sz="2000" dirty="0">
                <a:solidFill>
                  <a:schemeClr val="bg2"/>
                </a:solidFill>
              </a:rPr>
              <a:t>(a) </a:t>
            </a:r>
            <a:r>
              <a:rPr lang="zh-CN" altLang="en-US" sz="2000" dirty="0">
                <a:solidFill>
                  <a:schemeClr val="bg2"/>
                </a:solidFill>
              </a:rPr>
              <a:t>分配前</a:t>
            </a:r>
            <a:r>
              <a:rPr lang="en-US" altLang="zh-CN" sz="2000" dirty="0">
                <a:solidFill>
                  <a:schemeClr val="bg2"/>
                </a:solidFill>
              </a:rPr>
              <a:t>   (b) </a:t>
            </a:r>
            <a:r>
              <a:rPr lang="zh-CN" altLang="en-US" sz="2000" dirty="0">
                <a:solidFill>
                  <a:schemeClr val="bg2"/>
                </a:solidFill>
              </a:rPr>
              <a:t>分配后</a:t>
            </a:r>
            <a:endParaRPr lang="zh-CN" altLang="en-US" sz="2000" dirty="0"/>
          </a:p>
        </p:txBody>
      </p:sp>
      <p:pic>
        <p:nvPicPr>
          <p:cNvPr id="2" name="图片 1"/>
          <p:cNvPicPr>
            <a:picLocks noChangeAspect="1"/>
          </p:cNvPicPr>
          <p:nvPr/>
        </p:nvPicPr>
        <p:blipFill>
          <a:blip r:embed="rId2"/>
          <a:stretch>
            <a:fillRect/>
          </a:stretch>
        </p:blipFill>
        <p:spPr>
          <a:xfrm>
            <a:off x="1331640" y="1251219"/>
            <a:ext cx="2533650" cy="4000500"/>
          </a:xfrm>
          <a:prstGeom prst="rect">
            <a:avLst/>
          </a:prstGeom>
        </p:spPr>
      </p:pic>
      <p:pic>
        <p:nvPicPr>
          <p:cNvPr id="7" name="图片 6"/>
          <p:cNvPicPr>
            <a:picLocks noChangeAspect="1"/>
          </p:cNvPicPr>
          <p:nvPr/>
        </p:nvPicPr>
        <p:blipFill>
          <a:blip r:embed="rId3"/>
          <a:stretch>
            <a:fillRect/>
          </a:stretch>
        </p:blipFill>
        <p:spPr>
          <a:xfrm>
            <a:off x="4412738" y="1217038"/>
            <a:ext cx="1356379" cy="656996"/>
          </a:xfrm>
          <a:prstGeom prst="rect">
            <a:avLst/>
          </a:prstGeom>
        </p:spPr>
      </p:pic>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5" name="图片 4"/>
          <p:cNvPicPr>
            <a:picLocks noChangeAspect="1"/>
          </p:cNvPicPr>
          <p:nvPr/>
        </p:nvPicPr>
        <p:blipFill>
          <a:blip r:embed="rId4"/>
          <a:stretch>
            <a:fillRect/>
          </a:stretch>
        </p:blipFill>
        <p:spPr>
          <a:xfrm>
            <a:off x="7527985" y="1345332"/>
            <a:ext cx="936104" cy="3744416"/>
          </a:xfrm>
          <a:prstGeom prst="rect">
            <a:avLst/>
          </a:prstGeom>
        </p:spPr>
      </p:pic>
      <p:pic>
        <p:nvPicPr>
          <p:cNvPr id="9" name="图片 8"/>
          <p:cNvPicPr>
            <a:picLocks noChangeAspect="1"/>
          </p:cNvPicPr>
          <p:nvPr/>
        </p:nvPicPr>
        <p:blipFill>
          <a:blip r:embed="rId5"/>
          <a:stretch>
            <a:fillRect/>
          </a:stretch>
        </p:blipFill>
        <p:spPr>
          <a:xfrm>
            <a:off x="4567820" y="2273269"/>
            <a:ext cx="1224901" cy="2816479"/>
          </a:xfrm>
          <a:prstGeom prst="rect">
            <a:avLst/>
          </a:prstGeom>
        </p:spPr>
      </p:pic>
      <p:pic>
        <p:nvPicPr>
          <p:cNvPr id="8" name="图片 7"/>
          <p:cNvPicPr>
            <a:picLocks noChangeAspect="1"/>
          </p:cNvPicPr>
          <p:nvPr/>
        </p:nvPicPr>
        <p:blipFill>
          <a:blip r:embed="rId6"/>
          <a:stretch>
            <a:fillRect/>
          </a:stretch>
        </p:blipFill>
        <p:spPr>
          <a:xfrm>
            <a:off x="5485207" y="2636912"/>
            <a:ext cx="2075386" cy="1548033"/>
          </a:xfrm>
          <a:prstGeom prst="rect">
            <a:avLst/>
          </a:prstGeom>
        </p:spPr>
      </p:pic>
    </p:spTree>
    <p:extLst>
      <p:ext uri="{BB962C8B-B14F-4D97-AF65-F5344CB8AC3E}">
        <p14:creationId xmlns:p14="http://schemas.microsoft.com/office/powerpoint/2010/main" val="218790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2AF97DC4-9765-4DD5-B79B-CBAE1885F4AF}"/>
              </a:ext>
            </a:extLst>
          </p:cNvPr>
          <p:cNvSpPr txBox="1">
            <a:spLocks/>
          </p:cNvSpPr>
          <p:nvPr/>
        </p:nvSpPr>
        <p:spPr>
          <a:xfrm>
            <a:off x="-320" y="0"/>
            <a:ext cx="9144319" cy="4536504"/>
          </a:xfrm>
          <a:prstGeom prst="rect">
            <a:avLst/>
          </a:prstGeom>
          <a:solidFill>
            <a:schemeClr val="bg1">
              <a:lumMod val="20000"/>
              <a:lumOff val="80000"/>
            </a:schemeClr>
          </a:solidFill>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r>
              <a:rPr lang="en-US" altLang="zh-CN" sz="3200" kern="0" dirty="0">
                <a:solidFill>
                  <a:schemeClr val="bg2"/>
                </a:solidFill>
              </a:rPr>
              <a:t>[</a:t>
            </a:r>
            <a:r>
              <a:rPr lang="zh-CN" altLang="en-US" sz="3200" kern="0" dirty="0">
                <a:solidFill>
                  <a:schemeClr val="bg2"/>
                </a:solidFill>
              </a:rPr>
              <a:t>例</a:t>
            </a:r>
            <a:r>
              <a:rPr lang="en-US" altLang="zh-CN" sz="3200" kern="0" dirty="0">
                <a:solidFill>
                  <a:schemeClr val="bg2"/>
                </a:solidFill>
              </a:rPr>
              <a:t>6]</a:t>
            </a:r>
            <a:r>
              <a:rPr lang="zh-CN" altLang="zh-CN" sz="3200" kern="0" dirty="0">
                <a:solidFill>
                  <a:schemeClr val="bg2"/>
                </a:solidFill>
              </a:rPr>
              <a:t>两个进程共享同一个页中的数据。若数据在进程</a:t>
            </a:r>
            <a:r>
              <a:rPr lang="en-US" altLang="zh-CN" sz="3200" kern="0" dirty="0">
                <a:solidFill>
                  <a:schemeClr val="bg2"/>
                </a:solidFill>
              </a:rPr>
              <a:t>1</a:t>
            </a:r>
            <a:r>
              <a:rPr lang="zh-CN" altLang="zh-CN" sz="3200" kern="0" dirty="0">
                <a:solidFill>
                  <a:schemeClr val="bg2"/>
                </a:solidFill>
              </a:rPr>
              <a:t>、进程</a:t>
            </a:r>
            <a:r>
              <a:rPr lang="en-US" altLang="zh-CN" sz="3200" kern="0" dirty="0">
                <a:solidFill>
                  <a:schemeClr val="bg2"/>
                </a:solidFill>
              </a:rPr>
              <a:t>2</a:t>
            </a:r>
            <a:r>
              <a:rPr lang="zh-CN" altLang="zh-CN" sz="3200" kern="0" dirty="0">
                <a:solidFill>
                  <a:schemeClr val="bg2"/>
                </a:solidFill>
              </a:rPr>
              <a:t>中的页号分别为</a:t>
            </a:r>
            <a:r>
              <a:rPr lang="en-US" altLang="zh-CN" sz="3200" kern="0" dirty="0">
                <a:solidFill>
                  <a:schemeClr val="bg2"/>
                </a:solidFill>
              </a:rPr>
              <a:t> </a:t>
            </a:r>
            <a:r>
              <a:rPr lang="en-US" altLang="zh-CN" sz="3200" kern="0" dirty="0" err="1">
                <a:solidFill>
                  <a:schemeClr val="bg2"/>
                </a:solidFill>
              </a:rPr>
              <a:t>p1</a:t>
            </a:r>
            <a:r>
              <a:rPr lang="en-US" altLang="zh-CN" sz="3200" kern="0" dirty="0">
                <a:solidFill>
                  <a:schemeClr val="bg2"/>
                </a:solidFill>
              </a:rPr>
              <a:t> </a:t>
            </a:r>
            <a:r>
              <a:rPr lang="zh-CN" altLang="zh-CN" sz="3200" kern="0" dirty="0">
                <a:solidFill>
                  <a:schemeClr val="bg2"/>
                </a:solidFill>
              </a:rPr>
              <a:t>和</a:t>
            </a:r>
            <a:r>
              <a:rPr lang="en-US" altLang="zh-CN" sz="3200" kern="0" dirty="0">
                <a:solidFill>
                  <a:schemeClr val="bg2"/>
                </a:solidFill>
              </a:rPr>
              <a:t> </a:t>
            </a:r>
            <a:r>
              <a:rPr lang="en-US" altLang="zh-CN" sz="3200" kern="0" dirty="0" err="1">
                <a:solidFill>
                  <a:schemeClr val="bg2"/>
                </a:solidFill>
              </a:rPr>
              <a:t>p2</a:t>
            </a:r>
            <a:r>
              <a:rPr lang="zh-CN" altLang="zh-CN" sz="3200" kern="0" dirty="0">
                <a:solidFill>
                  <a:schemeClr val="bg2"/>
                </a:solidFill>
              </a:rPr>
              <a:t>，两个页所对应的页框号分别为 </a:t>
            </a:r>
            <a:r>
              <a:rPr lang="en-US" altLang="zh-CN" sz="3200" kern="0" dirty="0" err="1">
                <a:solidFill>
                  <a:schemeClr val="bg2"/>
                </a:solidFill>
              </a:rPr>
              <a:t>t1</a:t>
            </a:r>
            <a:r>
              <a:rPr lang="en-US" altLang="zh-CN" sz="3200" kern="0" dirty="0">
                <a:solidFill>
                  <a:schemeClr val="bg2"/>
                </a:solidFill>
              </a:rPr>
              <a:t> </a:t>
            </a:r>
            <a:r>
              <a:rPr lang="zh-CN" altLang="zh-CN" sz="3200" kern="0" dirty="0">
                <a:solidFill>
                  <a:schemeClr val="bg2"/>
                </a:solidFill>
              </a:rPr>
              <a:t>和 </a:t>
            </a:r>
            <a:r>
              <a:rPr lang="en-US" altLang="zh-CN" sz="3200" kern="0" dirty="0" err="1">
                <a:solidFill>
                  <a:schemeClr val="bg2"/>
                </a:solidFill>
              </a:rPr>
              <a:t>t2</a:t>
            </a:r>
            <a:r>
              <a:rPr lang="zh-CN" altLang="zh-CN" sz="3200" kern="0" dirty="0">
                <a:solidFill>
                  <a:schemeClr val="bg2"/>
                </a:solidFill>
              </a:rPr>
              <a:t>，则下列叙述中正确的是</a:t>
            </a:r>
            <a:r>
              <a:rPr lang="zh-CN" altLang="zh-CN" sz="3200" dirty="0">
                <a:solidFill>
                  <a:schemeClr val="bg2"/>
                </a:solidFill>
              </a:rPr>
              <a:t>（</a:t>
            </a:r>
            <a:r>
              <a:rPr lang="en-US" altLang="zh-CN" sz="3200" dirty="0">
                <a:solidFill>
                  <a:schemeClr val="bg2"/>
                </a:solidFill>
              </a:rPr>
              <a:t> </a:t>
            </a:r>
            <a:r>
              <a:rPr lang="zh-CN" altLang="zh-CN" sz="3200" dirty="0">
                <a:solidFill>
                  <a:schemeClr val="bg2"/>
                </a:solidFill>
              </a:rPr>
              <a:t>）</a:t>
            </a:r>
            <a:r>
              <a:rPr lang="zh-CN" altLang="en-US" sz="3200" dirty="0">
                <a:solidFill>
                  <a:schemeClr val="bg2"/>
                </a:solidFill>
              </a:rPr>
              <a:t>。</a:t>
            </a:r>
            <a:r>
              <a:rPr lang="zh-CN" altLang="zh-CN" sz="3200" dirty="0">
                <a:solidFill>
                  <a:schemeClr val="bg2"/>
                </a:solidFill>
              </a:rPr>
              <a:t> （</a:t>
            </a:r>
            <a:r>
              <a:rPr lang="en-US" altLang="zh-CN" sz="3200" dirty="0">
                <a:solidFill>
                  <a:schemeClr val="bg2"/>
                </a:solidFill>
              </a:rPr>
              <a:t>2023 </a:t>
            </a:r>
            <a:r>
              <a:rPr lang="zh-CN" altLang="zh-CN" sz="3200" dirty="0">
                <a:solidFill>
                  <a:schemeClr val="bg2"/>
                </a:solidFill>
              </a:rPr>
              <a:t>）</a:t>
            </a:r>
            <a:br>
              <a:rPr lang="zh-CN" altLang="zh-CN" sz="3200" dirty="0">
                <a:solidFill>
                  <a:schemeClr val="bg2"/>
                </a:solidFill>
              </a:rPr>
            </a:br>
            <a:endParaRPr lang="en-US" altLang="zh-CN" sz="3200" kern="0" dirty="0">
              <a:solidFill>
                <a:schemeClr val="bg2"/>
              </a:solidFill>
            </a:endParaRPr>
          </a:p>
          <a:p>
            <a:r>
              <a:rPr lang="en-US" altLang="zh-CN" sz="2800" kern="0" dirty="0">
                <a:solidFill>
                  <a:schemeClr val="bg2"/>
                </a:solidFill>
              </a:rPr>
              <a:t>A. </a:t>
            </a:r>
            <a:r>
              <a:rPr lang="en-US" altLang="zh-CN" sz="2800" kern="0" dirty="0" err="1">
                <a:solidFill>
                  <a:schemeClr val="bg2"/>
                </a:solidFill>
              </a:rPr>
              <a:t>p1</a:t>
            </a:r>
            <a:r>
              <a:rPr lang="en-US" altLang="zh-CN" sz="2800" kern="0" dirty="0">
                <a:solidFill>
                  <a:schemeClr val="bg2"/>
                </a:solidFill>
              </a:rPr>
              <a:t> </a:t>
            </a:r>
            <a:r>
              <a:rPr lang="zh-CN" altLang="zh-CN" sz="2800" kern="0" dirty="0">
                <a:solidFill>
                  <a:schemeClr val="bg2"/>
                </a:solidFill>
              </a:rPr>
              <a:t>和</a:t>
            </a:r>
            <a:r>
              <a:rPr lang="en-US" altLang="zh-CN" sz="2800" kern="0" dirty="0">
                <a:solidFill>
                  <a:schemeClr val="bg2"/>
                </a:solidFill>
              </a:rPr>
              <a:t> </a:t>
            </a:r>
            <a:r>
              <a:rPr lang="en-US" altLang="zh-CN" sz="2800" kern="0" dirty="0" err="1">
                <a:solidFill>
                  <a:schemeClr val="bg2"/>
                </a:solidFill>
              </a:rPr>
              <a:t>p2</a:t>
            </a:r>
            <a:r>
              <a:rPr lang="en-US" altLang="zh-CN" sz="2800" kern="0" dirty="0">
                <a:solidFill>
                  <a:schemeClr val="bg2"/>
                </a:solidFill>
              </a:rPr>
              <a:t> </a:t>
            </a:r>
            <a:r>
              <a:rPr lang="zh-CN" altLang="zh-CN" sz="2800" kern="0" dirty="0">
                <a:solidFill>
                  <a:schemeClr val="bg2"/>
                </a:solidFill>
              </a:rPr>
              <a:t>一定相等，</a:t>
            </a:r>
            <a:r>
              <a:rPr lang="en-US" altLang="zh-CN" sz="2800" kern="0" dirty="0" err="1">
                <a:solidFill>
                  <a:schemeClr val="bg2"/>
                </a:solidFill>
              </a:rPr>
              <a:t>t1</a:t>
            </a:r>
            <a:r>
              <a:rPr lang="en-US" altLang="zh-CN" sz="2800" kern="0" dirty="0">
                <a:solidFill>
                  <a:schemeClr val="bg2"/>
                </a:solidFill>
              </a:rPr>
              <a:t> </a:t>
            </a:r>
            <a:r>
              <a:rPr lang="zh-CN" altLang="zh-CN" sz="2800" kern="0" dirty="0">
                <a:solidFill>
                  <a:schemeClr val="bg2"/>
                </a:solidFill>
              </a:rPr>
              <a:t>和 </a:t>
            </a:r>
            <a:r>
              <a:rPr lang="en-US" altLang="zh-CN" sz="2800" kern="0" dirty="0" err="1">
                <a:solidFill>
                  <a:schemeClr val="bg2"/>
                </a:solidFill>
              </a:rPr>
              <a:t>t2</a:t>
            </a:r>
            <a:r>
              <a:rPr lang="en-US" altLang="zh-CN" sz="2800" kern="0" dirty="0">
                <a:solidFill>
                  <a:schemeClr val="bg2"/>
                </a:solidFill>
              </a:rPr>
              <a:t> </a:t>
            </a:r>
            <a:r>
              <a:rPr lang="zh-CN" altLang="zh-CN" sz="2800" kern="0" dirty="0">
                <a:solidFill>
                  <a:schemeClr val="bg2"/>
                </a:solidFill>
              </a:rPr>
              <a:t>一定相等</a:t>
            </a:r>
          </a:p>
          <a:p>
            <a:r>
              <a:rPr lang="en-US" altLang="zh-CN" sz="2800" kern="0" dirty="0">
                <a:solidFill>
                  <a:schemeClr val="bg2"/>
                </a:solidFill>
              </a:rPr>
              <a:t>B. </a:t>
            </a:r>
            <a:r>
              <a:rPr lang="en-US" altLang="zh-CN" sz="2800" kern="0" dirty="0" err="1">
                <a:solidFill>
                  <a:schemeClr val="bg2"/>
                </a:solidFill>
              </a:rPr>
              <a:t>p1</a:t>
            </a:r>
            <a:r>
              <a:rPr lang="en-US" altLang="zh-CN" sz="2800" kern="0" dirty="0">
                <a:solidFill>
                  <a:schemeClr val="bg2"/>
                </a:solidFill>
              </a:rPr>
              <a:t> </a:t>
            </a:r>
            <a:r>
              <a:rPr lang="zh-CN" altLang="zh-CN" sz="2800" kern="0" dirty="0">
                <a:solidFill>
                  <a:schemeClr val="bg2"/>
                </a:solidFill>
              </a:rPr>
              <a:t>和</a:t>
            </a:r>
            <a:r>
              <a:rPr lang="en-US" altLang="zh-CN" sz="2800" kern="0" dirty="0">
                <a:solidFill>
                  <a:schemeClr val="bg2"/>
                </a:solidFill>
              </a:rPr>
              <a:t> </a:t>
            </a:r>
            <a:r>
              <a:rPr lang="en-US" altLang="zh-CN" sz="2800" kern="0" dirty="0" err="1">
                <a:solidFill>
                  <a:schemeClr val="bg2"/>
                </a:solidFill>
              </a:rPr>
              <a:t>p2</a:t>
            </a:r>
            <a:r>
              <a:rPr lang="en-US" altLang="zh-CN" sz="2800" kern="0" dirty="0">
                <a:solidFill>
                  <a:schemeClr val="bg2"/>
                </a:solidFill>
              </a:rPr>
              <a:t> </a:t>
            </a:r>
            <a:r>
              <a:rPr lang="zh-CN" altLang="zh-CN" sz="2800" kern="0" dirty="0">
                <a:solidFill>
                  <a:schemeClr val="bg2"/>
                </a:solidFill>
              </a:rPr>
              <a:t>一定相等，</a:t>
            </a:r>
            <a:r>
              <a:rPr lang="en-US" altLang="zh-CN" sz="2800" kern="0" dirty="0" err="1">
                <a:solidFill>
                  <a:schemeClr val="bg2"/>
                </a:solidFill>
              </a:rPr>
              <a:t>t1</a:t>
            </a:r>
            <a:r>
              <a:rPr lang="en-US" altLang="zh-CN" sz="2800" kern="0" dirty="0">
                <a:solidFill>
                  <a:schemeClr val="bg2"/>
                </a:solidFill>
              </a:rPr>
              <a:t> </a:t>
            </a:r>
            <a:r>
              <a:rPr lang="zh-CN" altLang="zh-CN" sz="2800" kern="0" dirty="0">
                <a:solidFill>
                  <a:schemeClr val="bg2"/>
                </a:solidFill>
              </a:rPr>
              <a:t>和 </a:t>
            </a:r>
            <a:r>
              <a:rPr lang="en-US" altLang="zh-CN" sz="2800" kern="0" dirty="0" err="1">
                <a:solidFill>
                  <a:schemeClr val="bg2"/>
                </a:solidFill>
              </a:rPr>
              <a:t>t2</a:t>
            </a:r>
            <a:r>
              <a:rPr lang="en-US" altLang="zh-CN" sz="2800" kern="0" dirty="0">
                <a:solidFill>
                  <a:schemeClr val="bg2"/>
                </a:solidFill>
              </a:rPr>
              <a:t> </a:t>
            </a:r>
            <a:r>
              <a:rPr lang="zh-CN" altLang="zh-CN" sz="2800" kern="0" dirty="0">
                <a:solidFill>
                  <a:schemeClr val="bg2"/>
                </a:solidFill>
              </a:rPr>
              <a:t>不一定相等</a:t>
            </a:r>
          </a:p>
          <a:p>
            <a:r>
              <a:rPr lang="en-US" altLang="zh-CN" sz="2800" kern="0" dirty="0">
                <a:solidFill>
                  <a:schemeClr val="bg2"/>
                </a:solidFill>
              </a:rPr>
              <a:t>C. </a:t>
            </a:r>
            <a:r>
              <a:rPr lang="en-US" altLang="zh-CN" sz="2800" kern="0" dirty="0" err="1">
                <a:solidFill>
                  <a:schemeClr val="bg2"/>
                </a:solidFill>
              </a:rPr>
              <a:t>p1</a:t>
            </a:r>
            <a:r>
              <a:rPr lang="en-US" altLang="zh-CN" sz="2800" kern="0" dirty="0">
                <a:solidFill>
                  <a:schemeClr val="bg2"/>
                </a:solidFill>
              </a:rPr>
              <a:t> </a:t>
            </a:r>
            <a:r>
              <a:rPr lang="zh-CN" altLang="zh-CN" sz="2800" kern="0" dirty="0">
                <a:solidFill>
                  <a:schemeClr val="bg2"/>
                </a:solidFill>
              </a:rPr>
              <a:t>和</a:t>
            </a:r>
            <a:r>
              <a:rPr lang="en-US" altLang="zh-CN" sz="2800" kern="0" dirty="0">
                <a:solidFill>
                  <a:schemeClr val="bg2"/>
                </a:solidFill>
              </a:rPr>
              <a:t> </a:t>
            </a:r>
            <a:r>
              <a:rPr lang="en-US" altLang="zh-CN" sz="2800" kern="0" dirty="0" err="1">
                <a:solidFill>
                  <a:schemeClr val="bg2"/>
                </a:solidFill>
              </a:rPr>
              <a:t>p2</a:t>
            </a:r>
            <a:r>
              <a:rPr lang="en-US" altLang="zh-CN" sz="2800" kern="0" dirty="0">
                <a:solidFill>
                  <a:schemeClr val="bg2"/>
                </a:solidFill>
              </a:rPr>
              <a:t> </a:t>
            </a:r>
            <a:r>
              <a:rPr lang="zh-CN" altLang="zh-CN" sz="2800" kern="0" dirty="0">
                <a:solidFill>
                  <a:schemeClr val="bg2"/>
                </a:solidFill>
              </a:rPr>
              <a:t>不一定相等，</a:t>
            </a:r>
            <a:r>
              <a:rPr lang="en-US" altLang="zh-CN" sz="2800" kern="0" dirty="0" err="1">
                <a:solidFill>
                  <a:schemeClr val="bg2"/>
                </a:solidFill>
              </a:rPr>
              <a:t>t1</a:t>
            </a:r>
            <a:r>
              <a:rPr lang="en-US" altLang="zh-CN" sz="2800" kern="0" dirty="0">
                <a:solidFill>
                  <a:schemeClr val="bg2"/>
                </a:solidFill>
              </a:rPr>
              <a:t> </a:t>
            </a:r>
            <a:r>
              <a:rPr lang="zh-CN" altLang="zh-CN" sz="2800" kern="0" dirty="0">
                <a:solidFill>
                  <a:schemeClr val="bg2"/>
                </a:solidFill>
              </a:rPr>
              <a:t>和 </a:t>
            </a:r>
            <a:r>
              <a:rPr lang="en-US" altLang="zh-CN" sz="2800" kern="0" dirty="0" err="1">
                <a:solidFill>
                  <a:schemeClr val="bg2"/>
                </a:solidFill>
              </a:rPr>
              <a:t>t2</a:t>
            </a:r>
            <a:r>
              <a:rPr lang="en-US" altLang="zh-CN" sz="2800" kern="0" dirty="0">
                <a:solidFill>
                  <a:schemeClr val="bg2"/>
                </a:solidFill>
              </a:rPr>
              <a:t> </a:t>
            </a:r>
            <a:r>
              <a:rPr lang="zh-CN" altLang="zh-CN" sz="2800" kern="0" dirty="0">
                <a:solidFill>
                  <a:schemeClr val="bg2"/>
                </a:solidFill>
              </a:rPr>
              <a:t>一定相等</a:t>
            </a:r>
          </a:p>
          <a:p>
            <a:r>
              <a:rPr lang="en-US" altLang="zh-CN" sz="2800" kern="0" dirty="0">
                <a:solidFill>
                  <a:schemeClr val="bg2"/>
                </a:solidFill>
              </a:rPr>
              <a:t>D. </a:t>
            </a:r>
            <a:r>
              <a:rPr lang="en-US" altLang="zh-CN" sz="2800" kern="0" dirty="0" err="1">
                <a:solidFill>
                  <a:schemeClr val="bg2"/>
                </a:solidFill>
              </a:rPr>
              <a:t>p1</a:t>
            </a:r>
            <a:r>
              <a:rPr lang="en-US" altLang="zh-CN" sz="2800" kern="0" dirty="0">
                <a:solidFill>
                  <a:schemeClr val="bg2"/>
                </a:solidFill>
              </a:rPr>
              <a:t> </a:t>
            </a:r>
            <a:r>
              <a:rPr lang="zh-CN" altLang="zh-CN" sz="2800" kern="0" dirty="0">
                <a:solidFill>
                  <a:schemeClr val="bg2"/>
                </a:solidFill>
              </a:rPr>
              <a:t>和</a:t>
            </a:r>
            <a:r>
              <a:rPr lang="en-US" altLang="zh-CN" sz="2800" kern="0" dirty="0">
                <a:solidFill>
                  <a:schemeClr val="bg2"/>
                </a:solidFill>
              </a:rPr>
              <a:t> </a:t>
            </a:r>
            <a:r>
              <a:rPr lang="en-US" altLang="zh-CN" sz="2800" kern="0" dirty="0" err="1">
                <a:solidFill>
                  <a:schemeClr val="bg2"/>
                </a:solidFill>
              </a:rPr>
              <a:t>p2</a:t>
            </a:r>
            <a:r>
              <a:rPr lang="en-US" altLang="zh-CN" sz="2800" kern="0" dirty="0">
                <a:solidFill>
                  <a:schemeClr val="bg2"/>
                </a:solidFill>
              </a:rPr>
              <a:t> </a:t>
            </a:r>
            <a:r>
              <a:rPr lang="zh-CN" altLang="zh-CN" sz="2800" kern="0" dirty="0">
                <a:solidFill>
                  <a:schemeClr val="bg2"/>
                </a:solidFill>
              </a:rPr>
              <a:t>不一定相等，</a:t>
            </a:r>
            <a:r>
              <a:rPr lang="en-US" altLang="zh-CN" sz="2800" kern="0" dirty="0" err="1">
                <a:solidFill>
                  <a:schemeClr val="bg2"/>
                </a:solidFill>
              </a:rPr>
              <a:t>t1</a:t>
            </a:r>
            <a:r>
              <a:rPr lang="en-US" altLang="zh-CN" sz="2800" kern="0" dirty="0">
                <a:solidFill>
                  <a:schemeClr val="bg2"/>
                </a:solidFill>
              </a:rPr>
              <a:t> </a:t>
            </a:r>
            <a:r>
              <a:rPr lang="zh-CN" altLang="zh-CN" sz="2800" kern="0" dirty="0">
                <a:solidFill>
                  <a:schemeClr val="bg2"/>
                </a:solidFill>
              </a:rPr>
              <a:t>和 </a:t>
            </a:r>
            <a:r>
              <a:rPr lang="en-US" altLang="zh-CN" sz="2800" kern="0" dirty="0" err="1">
                <a:solidFill>
                  <a:schemeClr val="bg2"/>
                </a:solidFill>
              </a:rPr>
              <a:t>t2</a:t>
            </a:r>
            <a:r>
              <a:rPr lang="en-US" altLang="zh-CN" sz="2800" kern="0" dirty="0">
                <a:solidFill>
                  <a:schemeClr val="bg2"/>
                </a:solidFill>
              </a:rPr>
              <a:t> </a:t>
            </a:r>
            <a:r>
              <a:rPr lang="zh-CN" altLang="zh-CN" sz="2800" kern="0" dirty="0">
                <a:solidFill>
                  <a:schemeClr val="bg2"/>
                </a:solidFill>
              </a:rPr>
              <a:t>不一定相等</a:t>
            </a:r>
          </a:p>
          <a:p>
            <a:r>
              <a:rPr lang="zh-CN" altLang="zh-CN" sz="3200" b="0" kern="0" dirty="0">
                <a:solidFill>
                  <a:schemeClr val="bg2"/>
                </a:solidFill>
              </a:rPr>
              <a:t/>
            </a:r>
            <a:br>
              <a:rPr lang="zh-CN" altLang="zh-CN" sz="3200" b="0" kern="0" dirty="0">
                <a:solidFill>
                  <a:schemeClr val="bg2"/>
                </a:solidFill>
              </a:rPr>
            </a:br>
            <a:endParaRPr lang="zh-CN" altLang="en-US" sz="3200" b="0" kern="0" dirty="0">
              <a:solidFill>
                <a:schemeClr val="bg2"/>
              </a:solidFill>
            </a:endParaRPr>
          </a:p>
        </p:txBody>
      </p:sp>
      <p:sp>
        <p:nvSpPr>
          <p:cNvPr id="5" name="AutoShape 27">
            <a:hlinkClick r:id="" action="ppaction://hlinkshowjump?jump=nextslide" highlightClick="1"/>
            <a:extLst>
              <a:ext uri="{FF2B5EF4-FFF2-40B4-BE49-F238E27FC236}">
                <a16:creationId xmlns:a16="http://schemas.microsoft.com/office/drawing/2014/main" id="{FF6B533B-95C0-4E51-8BCF-BE3866219E21}"/>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8460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3" name="Rectangle 3"/>
          <p:cNvSpPr>
            <a:spLocks noGrp="1" noChangeArrowheads="1"/>
          </p:cNvSpPr>
          <p:nvPr>
            <p:ph type="body" idx="1"/>
          </p:nvPr>
        </p:nvSpPr>
        <p:spPr>
          <a:xfrm>
            <a:off x="0" y="1052513"/>
            <a:ext cx="9036496" cy="1368375"/>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整个系统一张。</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进程的页表起始地址、长度和页面数等。</a:t>
            </a:r>
          </a:p>
        </p:txBody>
      </p:sp>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368" y="2708920"/>
            <a:ext cx="7561262"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5"/>
          <p:cNvSpPr>
            <a:spLocks noChangeArrowheads="1"/>
          </p:cNvSpPr>
          <p:nvPr/>
        </p:nvSpPr>
        <p:spPr bwMode="auto">
          <a:xfrm>
            <a:off x="2978150" y="6165850"/>
            <a:ext cx="3538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800">
                <a:ea typeface="楷体_GB2312" pitchFamily="49" charset="-122"/>
              </a:rPr>
              <a:t>图  </a:t>
            </a:r>
            <a:r>
              <a:rPr lang="en-US" altLang="zh-CN" sz="2800">
                <a:ea typeface="楷体_GB2312" pitchFamily="49" charset="-122"/>
              </a:rPr>
              <a:t> </a:t>
            </a:r>
            <a:r>
              <a:rPr lang="zh-CN" altLang="en-US" sz="2800">
                <a:ea typeface="楷体_GB2312" pitchFamily="49" charset="-122"/>
              </a:rPr>
              <a:t>请求表示例</a:t>
            </a:r>
          </a:p>
        </p:txBody>
      </p:sp>
      <p:sp>
        <p:nvSpPr>
          <p:cNvPr id="512009" name="Rectangle 9"/>
          <p:cNvSpPr>
            <a:spLocks noGrp="1" noChangeArrowheads="1"/>
          </p:cNvSpPr>
          <p:nvPr>
            <p:ph type="title"/>
          </p:nvPr>
        </p:nvSpPr>
        <p:spPr>
          <a:xfrm>
            <a:off x="2290514" y="26698"/>
            <a:ext cx="4562971" cy="820738"/>
          </a:xfrm>
        </p:spPr>
        <p:txBody>
          <a:body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请 求 表</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133119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8" name="Rectangle 4"/>
          <p:cNvSpPr>
            <a:spLocks noGrp="1" noChangeArrowheads="1"/>
          </p:cNvSpPr>
          <p:nvPr>
            <p:ph type="body" idx="1"/>
          </p:nvPr>
        </p:nvSpPr>
        <p:spPr>
          <a:xfrm>
            <a:off x="-15331" y="604243"/>
            <a:ext cx="9142575" cy="2702213"/>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整个系统一张</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ea typeface="楷体" panose="02010609060101010101" pitchFamily="49" charset="-122"/>
              </a:rPr>
              <a:t>空闲页面链表</a:t>
            </a:r>
            <a:endParaRPr lang="zh-CN" altLang="en-US" sz="3600" b="1" kern="1200" dirty="0">
              <a:solidFill>
                <a:schemeClr val="bg1"/>
              </a:solidFill>
              <a:latin typeface="+mj-lt"/>
              <a:ea typeface="楷体" panose="02010609060101010101" pitchFamily="49" charset="-122"/>
              <a:cs typeface="+mn-cs"/>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位示图</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内存中划分一块固定区域，每个单元的每个位代表一个页面；</a:t>
            </a:r>
            <a:r>
              <a:rPr lang="zh-CN" altLang="en-US" sz="2800" b="1" kern="1200" dirty="0">
                <a:solidFill>
                  <a:schemeClr val="bg2"/>
                </a:solidFill>
                <a:effectLst/>
                <a:latin typeface="Times New Roman" panose="02020603050405020304" pitchFamily="18" charset="0"/>
                <a:ea typeface="楷体" panose="02010609060101010101" pitchFamily="49" charset="-122"/>
                <a:cs typeface="+mn-cs"/>
              </a:rPr>
              <a:t>已分配：置</a:t>
            </a:r>
            <a:r>
              <a:rPr lang="en-US" altLang="zh-CN" sz="2800" b="1" kern="1200" dirty="0">
                <a:solidFill>
                  <a:schemeClr val="bg2"/>
                </a:solidFill>
                <a:effectLst/>
                <a:latin typeface="Times New Roman" panose="02020603050405020304" pitchFamily="18" charset="0"/>
                <a:ea typeface="楷体" panose="02010609060101010101" pitchFamily="49" charset="-122"/>
                <a:cs typeface="+mn-cs"/>
              </a:rPr>
              <a:t>1</a:t>
            </a:r>
            <a:r>
              <a:rPr lang="zh-CN" altLang="en-US" sz="2800" b="1" kern="1200" dirty="0">
                <a:solidFill>
                  <a:schemeClr val="bg2"/>
                </a:solidFill>
                <a:effectLst/>
                <a:latin typeface="Times New Roman" panose="02020603050405020304" pitchFamily="18" charset="0"/>
                <a:ea typeface="楷体" panose="02010609060101010101" pitchFamily="49" charset="-122"/>
                <a:cs typeface="+mn-cs"/>
              </a:rPr>
              <a:t>，否则置</a:t>
            </a:r>
            <a:r>
              <a:rPr lang="en-US" altLang="zh-CN" sz="2800" b="1" kern="1200" dirty="0">
                <a:solidFill>
                  <a:schemeClr val="bg2"/>
                </a:solidFill>
                <a:effectLst/>
                <a:latin typeface="Times New Roman" panose="02020603050405020304" pitchFamily="18" charset="0"/>
                <a:ea typeface="楷体" panose="02010609060101010101" pitchFamily="49" charset="-122"/>
                <a:cs typeface="+mn-cs"/>
              </a:rPr>
              <a:t>0</a:t>
            </a:r>
            <a:r>
              <a:rPr lang="zh-CN" altLang="en-US" sz="2800" b="1" kern="1200" dirty="0">
                <a:solidFill>
                  <a:schemeClr val="bg2"/>
                </a:solidFill>
                <a:effectLst/>
                <a:latin typeface="Times New Roman" panose="02020603050405020304" pitchFamily="18" charset="0"/>
                <a:ea typeface="楷体" panose="02010609060101010101" pitchFamily="49" charset="-122"/>
                <a:cs typeface="+mn-cs"/>
              </a:rPr>
              <a:t>。</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b="1" kern="1200" dirty="0">
                <a:solidFill>
                  <a:schemeClr val="bg2"/>
                </a:solidFill>
                <a:effectLst/>
                <a:latin typeface="Times New Roman" panose="02020603050405020304" pitchFamily="18" charset="0"/>
                <a:ea typeface="楷体" panose="02010609060101010101" pitchFamily="49" charset="-122"/>
                <a:cs typeface="+mn-cs"/>
              </a:rPr>
              <a:t>占据一部分内存容量。</a:t>
            </a:r>
          </a:p>
        </p:txBody>
      </p:sp>
      <p:sp>
        <p:nvSpPr>
          <p:cNvPr id="3" name="矩形 2">
            <a:extLst>
              <a:ext uri="{FF2B5EF4-FFF2-40B4-BE49-F238E27FC236}">
                <a16:creationId xmlns:a16="http://schemas.microsoft.com/office/drawing/2014/main" id="{ACAA3B9D-73F9-4184-A271-9050E5110261}"/>
              </a:ext>
            </a:extLst>
          </p:cNvPr>
          <p:cNvSpPr/>
          <p:nvPr/>
        </p:nvSpPr>
        <p:spPr>
          <a:xfrm>
            <a:off x="1923752" y="49594"/>
            <a:ext cx="5296495"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存储页面表（存储块表）</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grpSp>
        <p:nvGrpSpPr>
          <p:cNvPr id="6" name="Group 3">
            <a:extLst>
              <a:ext uri="{FF2B5EF4-FFF2-40B4-BE49-F238E27FC236}">
                <a16:creationId xmlns:a16="http://schemas.microsoft.com/office/drawing/2014/main" id="{69AF3CEF-49FF-4BB4-9B26-9345AD3D2073}"/>
              </a:ext>
            </a:extLst>
          </p:cNvPr>
          <p:cNvGrpSpPr>
            <a:grpSpLocks/>
          </p:cNvGrpSpPr>
          <p:nvPr/>
        </p:nvGrpSpPr>
        <p:grpSpPr bwMode="auto">
          <a:xfrm>
            <a:off x="1403648" y="3306456"/>
            <a:ext cx="4981469" cy="2670969"/>
            <a:chOff x="411" y="1511"/>
            <a:chExt cx="3720" cy="2850"/>
          </a:xfrm>
        </p:grpSpPr>
        <p:sp>
          <p:nvSpPr>
            <p:cNvPr id="7" name="Rectangle 4">
              <a:extLst>
                <a:ext uri="{FF2B5EF4-FFF2-40B4-BE49-F238E27FC236}">
                  <a16:creationId xmlns:a16="http://schemas.microsoft.com/office/drawing/2014/main" id="{B823BAD2-3AEB-42DB-91F3-693C69968EA9}"/>
                </a:ext>
              </a:extLst>
            </p:cNvPr>
            <p:cNvSpPr>
              <a:spLocks noChangeArrowheads="1"/>
            </p:cNvSpPr>
            <p:nvPr/>
          </p:nvSpPr>
          <p:spPr bwMode="auto">
            <a:xfrm>
              <a:off x="687" y="1888"/>
              <a:ext cx="3424" cy="1918"/>
            </a:xfrm>
            <a:prstGeom prst="rect">
              <a:avLst/>
            </a:prstGeom>
            <a:solidFill>
              <a:srgbClr val="C8D5F8"/>
            </a:solidFill>
            <a:ln w="28575">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dirty="0"/>
            </a:p>
          </p:txBody>
        </p:sp>
        <p:sp>
          <p:nvSpPr>
            <p:cNvPr id="8" name="Line 5">
              <a:extLst>
                <a:ext uri="{FF2B5EF4-FFF2-40B4-BE49-F238E27FC236}">
                  <a16:creationId xmlns:a16="http://schemas.microsoft.com/office/drawing/2014/main" id="{607C27E6-ED2B-44E1-8EA0-6A819A70BECB}"/>
                </a:ext>
              </a:extLst>
            </p:cNvPr>
            <p:cNvSpPr>
              <a:spLocks noChangeShapeType="1"/>
            </p:cNvSpPr>
            <p:nvPr/>
          </p:nvSpPr>
          <p:spPr bwMode="auto">
            <a:xfrm>
              <a:off x="687" y="2219"/>
              <a:ext cx="342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6">
              <a:extLst>
                <a:ext uri="{FF2B5EF4-FFF2-40B4-BE49-F238E27FC236}">
                  <a16:creationId xmlns:a16="http://schemas.microsoft.com/office/drawing/2014/main" id="{17497577-225C-4399-860C-83ED61E92C6D}"/>
                </a:ext>
              </a:extLst>
            </p:cNvPr>
            <p:cNvSpPr>
              <a:spLocks noChangeShapeType="1"/>
            </p:cNvSpPr>
            <p:nvPr/>
          </p:nvSpPr>
          <p:spPr bwMode="auto">
            <a:xfrm>
              <a:off x="687" y="2550"/>
              <a:ext cx="342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88A7B21B-A610-4FB9-896E-9F500056AA80}"/>
                </a:ext>
              </a:extLst>
            </p:cNvPr>
            <p:cNvSpPr>
              <a:spLocks noChangeShapeType="1"/>
            </p:cNvSpPr>
            <p:nvPr/>
          </p:nvSpPr>
          <p:spPr bwMode="auto">
            <a:xfrm>
              <a:off x="687" y="3079"/>
              <a:ext cx="342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8">
              <a:extLst>
                <a:ext uri="{FF2B5EF4-FFF2-40B4-BE49-F238E27FC236}">
                  <a16:creationId xmlns:a16="http://schemas.microsoft.com/office/drawing/2014/main" id="{53475478-91AE-4741-8D67-977E576363EF}"/>
                </a:ext>
              </a:extLst>
            </p:cNvPr>
            <p:cNvSpPr>
              <a:spLocks noChangeShapeType="1"/>
            </p:cNvSpPr>
            <p:nvPr/>
          </p:nvSpPr>
          <p:spPr bwMode="auto">
            <a:xfrm>
              <a:off x="687" y="3410"/>
              <a:ext cx="3424" cy="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9">
              <a:extLst>
                <a:ext uri="{FF2B5EF4-FFF2-40B4-BE49-F238E27FC236}">
                  <a16:creationId xmlns:a16="http://schemas.microsoft.com/office/drawing/2014/main" id="{238B30A2-53B5-4155-96AB-563EAAB65844}"/>
                </a:ext>
              </a:extLst>
            </p:cNvPr>
            <p:cNvSpPr>
              <a:spLocks noChangeShapeType="1"/>
            </p:cNvSpPr>
            <p:nvPr/>
          </p:nvSpPr>
          <p:spPr bwMode="auto">
            <a:xfrm>
              <a:off x="1184" y="1888"/>
              <a:ext cx="0" cy="33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0">
              <a:extLst>
                <a:ext uri="{FF2B5EF4-FFF2-40B4-BE49-F238E27FC236}">
                  <a16:creationId xmlns:a16="http://schemas.microsoft.com/office/drawing/2014/main" id="{1F3D2F34-442E-4F07-83C4-A2D4AFB2951D}"/>
                </a:ext>
              </a:extLst>
            </p:cNvPr>
            <p:cNvSpPr>
              <a:spLocks noChangeShapeType="1"/>
            </p:cNvSpPr>
            <p:nvPr/>
          </p:nvSpPr>
          <p:spPr bwMode="auto">
            <a:xfrm>
              <a:off x="1681" y="1888"/>
              <a:ext cx="1" cy="33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1">
              <a:extLst>
                <a:ext uri="{FF2B5EF4-FFF2-40B4-BE49-F238E27FC236}">
                  <a16:creationId xmlns:a16="http://schemas.microsoft.com/office/drawing/2014/main" id="{05F3853F-6C71-4B06-9E45-354400E6C2EE}"/>
                </a:ext>
              </a:extLst>
            </p:cNvPr>
            <p:cNvSpPr>
              <a:spLocks noChangeShapeType="1"/>
            </p:cNvSpPr>
            <p:nvPr/>
          </p:nvSpPr>
          <p:spPr bwMode="auto">
            <a:xfrm>
              <a:off x="2179" y="1888"/>
              <a:ext cx="0" cy="33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2">
              <a:extLst>
                <a:ext uri="{FF2B5EF4-FFF2-40B4-BE49-F238E27FC236}">
                  <a16:creationId xmlns:a16="http://schemas.microsoft.com/office/drawing/2014/main" id="{9FAE9A82-38DA-4ECE-9865-C6F5FC9CA49A}"/>
                </a:ext>
              </a:extLst>
            </p:cNvPr>
            <p:cNvSpPr>
              <a:spLocks noChangeShapeType="1"/>
            </p:cNvSpPr>
            <p:nvPr/>
          </p:nvSpPr>
          <p:spPr bwMode="auto">
            <a:xfrm>
              <a:off x="3118" y="1888"/>
              <a:ext cx="1" cy="33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49DC9190-EB95-49F7-9917-85515016FC82}"/>
                </a:ext>
              </a:extLst>
            </p:cNvPr>
            <p:cNvSpPr>
              <a:spLocks noChangeShapeType="1"/>
            </p:cNvSpPr>
            <p:nvPr/>
          </p:nvSpPr>
          <p:spPr bwMode="auto">
            <a:xfrm>
              <a:off x="3614" y="1888"/>
              <a:ext cx="0" cy="33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Text Box 14">
              <a:extLst>
                <a:ext uri="{FF2B5EF4-FFF2-40B4-BE49-F238E27FC236}">
                  <a16:creationId xmlns:a16="http://schemas.microsoft.com/office/drawing/2014/main" id="{475BD61D-BAC8-4C3C-953A-FB8439F9AC07}"/>
                </a:ext>
              </a:extLst>
            </p:cNvPr>
            <p:cNvSpPr txBox="1">
              <a:spLocks noChangeArrowheads="1"/>
            </p:cNvSpPr>
            <p:nvPr/>
          </p:nvSpPr>
          <p:spPr bwMode="auto">
            <a:xfrm>
              <a:off x="687" y="1511"/>
              <a:ext cx="24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bg2"/>
                  </a:solidFill>
                  <a:latin typeface="Arial" panose="020B0604020202020204" pitchFamily="34" charset="0"/>
                </a:rPr>
                <a:t>0</a:t>
              </a:r>
            </a:p>
          </p:txBody>
        </p:sp>
        <p:sp>
          <p:nvSpPr>
            <p:cNvPr id="18" name="Text Box 15">
              <a:extLst>
                <a:ext uri="{FF2B5EF4-FFF2-40B4-BE49-F238E27FC236}">
                  <a16:creationId xmlns:a16="http://schemas.microsoft.com/office/drawing/2014/main" id="{4DACE759-0A62-441C-A89C-78B2EE011D6B}"/>
                </a:ext>
              </a:extLst>
            </p:cNvPr>
            <p:cNvSpPr txBox="1">
              <a:spLocks noChangeArrowheads="1"/>
            </p:cNvSpPr>
            <p:nvPr/>
          </p:nvSpPr>
          <p:spPr bwMode="auto">
            <a:xfrm>
              <a:off x="3780" y="1511"/>
              <a:ext cx="351"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bg2"/>
                  </a:solidFill>
                  <a:latin typeface="Arial" panose="020B0604020202020204" pitchFamily="34" charset="0"/>
                </a:rPr>
                <a:t>31</a:t>
              </a:r>
            </a:p>
          </p:txBody>
        </p:sp>
        <p:sp>
          <p:nvSpPr>
            <p:cNvPr id="19" name="Text Box 16">
              <a:extLst>
                <a:ext uri="{FF2B5EF4-FFF2-40B4-BE49-F238E27FC236}">
                  <a16:creationId xmlns:a16="http://schemas.microsoft.com/office/drawing/2014/main" id="{BFBAF892-AC14-41F9-8CDC-0E918DB15A54}"/>
                </a:ext>
              </a:extLst>
            </p:cNvPr>
            <p:cNvSpPr txBox="1">
              <a:spLocks noChangeArrowheads="1"/>
            </p:cNvSpPr>
            <p:nvPr/>
          </p:nvSpPr>
          <p:spPr bwMode="auto">
            <a:xfrm>
              <a:off x="3669" y="1878"/>
              <a:ext cx="404" cy="427"/>
            </a:xfrm>
            <a:prstGeom prst="rect">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accent6">
                      <a:lumMod val="75000"/>
                    </a:schemeClr>
                  </a:solidFill>
                  <a:latin typeface="Arial" panose="020B0604020202020204" pitchFamily="34" charset="0"/>
                </a:rPr>
                <a:t>0/1</a:t>
              </a:r>
            </a:p>
          </p:txBody>
        </p:sp>
        <p:sp>
          <p:nvSpPr>
            <p:cNvPr id="20" name="Text Box 17">
              <a:extLst>
                <a:ext uri="{FF2B5EF4-FFF2-40B4-BE49-F238E27FC236}">
                  <a16:creationId xmlns:a16="http://schemas.microsoft.com/office/drawing/2014/main" id="{670F49D8-02F9-447B-9C26-9CC2ECD4A89B}"/>
                </a:ext>
              </a:extLst>
            </p:cNvPr>
            <p:cNvSpPr txBox="1">
              <a:spLocks noChangeArrowheads="1"/>
            </p:cNvSpPr>
            <p:nvPr/>
          </p:nvSpPr>
          <p:spPr bwMode="auto">
            <a:xfrm>
              <a:off x="3172" y="1878"/>
              <a:ext cx="40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accent6">
                      <a:lumMod val="75000"/>
                    </a:schemeClr>
                  </a:solidFill>
                  <a:latin typeface="Arial" panose="020B0604020202020204" pitchFamily="34" charset="0"/>
                </a:rPr>
                <a:t>0/1</a:t>
              </a:r>
            </a:p>
          </p:txBody>
        </p:sp>
        <p:sp>
          <p:nvSpPr>
            <p:cNvPr id="21" name="Text Box 18">
              <a:extLst>
                <a:ext uri="{FF2B5EF4-FFF2-40B4-BE49-F238E27FC236}">
                  <a16:creationId xmlns:a16="http://schemas.microsoft.com/office/drawing/2014/main" id="{DE91BA76-DA9D-4B86-833E-9AFAFF769023}"/>
                </a:ext>
              </a:extLst>
            </p:cNvPr>
            <p:cNvSpPr txBox="1">
              <a:spLocks noChangeArrowheads="1"/>
            </p:cNvSpPr>
            <p:nvPr/>
          </p:nvSpPr>
          <p:spPr bwMode="auto">
            <a:xfrm>
              <a:off x="1737" y="1878"/>
              <a:ext cx="40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accent6">
                      <a:lumMod val="75000"/>
                    </a:schemeClr>
                  </a:solidFill>
                  <a:latin typeface="Arial" panose="020B0604020202020204" pitchFamily="34" charset="0"/>
                </a:rPr>
                <a:t>0/1</a:t>
              </a:r>
            </a:p>
          </p:txBody>
        </p:sp>
        <p:sp>
          <p:nvSpPr>
            <p:cNvPr id="22" name="Text Box 19">
              <a:extLst>
                <a:ext uri="{FF2B5EF4-FFF2-40B4-BE49-F238E27FC236}">
                  <a16:creationId xmlns:a16="http://schemas.microsoft.com/office/drawing/2014/main" id="{D3B18189-A0A7-476C-921E-DC1261C85251}"/>
                </a:ext>
              </a:extLst>
            </p:cNvPr>
            <p:cNvSpPr txBox="1">
              <a:spLocks noChangeArrowheads="1"/>
            </p:cNvSpPr>
            <p:nvPr/>
          </p:nvSpPr>
          <p:spPr bwMode="auto">
            <a:xfrm>
              <a:off x="1240" y="1878"/>
              <a:ext cx="40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accent6">
                      <a:lumMod val="75000"/>
                    </a:schemeClr>
                  </a:solidFill>
                  <a:latin typeface="Arial" panose="020B0604020202020204" pitchFamily="34" charset="0"/>
                </a:rPr>
                <a:t>0/1</a:t>
              </a:r>
            </a:p>
          </p:txBody>
        </p:sp>
        <p:sp>
          <p:nvSpPr>
            <p:cNvPr id="23" name="Text Box 20">
              <a:extLst>
                <a:ext uri="{FF2B5EF4-FFF2-40B4-BE49-F238E27FC236}">
                  <a16:creationId xmlns:a16="http://schemas.microsoft.com/office/drawing/2014/main" id="{4F546A01-B9A1-4E78-952B-58A9CE3C4EAE}"/>
                </a:ext>
              </a:extLst>
            </p:cNvPr>
            <p:cNvSpPr txBox="1">
              <a:spLocks noChangeArrowheads="1"/>
            </p:cNvSpPr>
            <p:nvPr/>
          </p:nvSpPr>
          <p:spPr bwMode="auto">
            <a:xfrm>
              <a:off x="742" y="1878"/>
              <a:ext cx="40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accent6">
                      <a:lumMod val="75000"/>
                    </a:schemeClr>
                  </a:solidFill>
                  <a:latin typeface="Arial" panose="020B0604020202020204" pitchFamily="34" charset="0"/>
                </a:rPr>
                <a:t>0/1</a:t>
              </a:r>
            </a:p>
          </p:txBody>
        </p:sp>
        <p:sp>
          <p:nvSpPr>
            <p:cNvPr id="24" name="Text Box 21">
              <a:extLst>
                <a:ext uri="{FF2B5EF4-FFF2-40B4-BE49-F238E27FC236}">
                  <a16:creationId xmlns:a16="http://schemas.microsoft.com/office/drawing/2014/main" id="{ED352D39-31CD-404A-BFE1-EACECAB792F8}"/>
                </a:ext>
              </a:extLst>
            </p:cNvPr>
            <p:cNvSpPr txBox="1">
              <a:spLocks noChangeArrowheads="1"/>
            </p:cNvSpPr>
            <p:nvPr/>
          </p:nvSpPr>
          <p:spPr bwMode="auto">
            <a:xfrm>
              <a:off x="411" y="1842"/>
              <a:ext cx="24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bg2"/>
                  </a:solidFill>
                  <a:latin typeface="Arial" panose="020B0604020202020204" pitchFamily="34" charset="0"/>
                </a:rPr>
                <a:t>0</a:t>
              </a:r>
            </a:p>
          </p:txBody>
        </p:sp>
        <p:sp>
          <p:nvSpPr>
            <p:cNvPr id="25" name="Text Box 22">
              <a:extLst>
                <a:ext uri="{FF2B5EF4-FFF2-40B4-BE49-F238E27FC236}">
                  <a16:creationId xmlns:a16="http://schemas.microsoft.com/office/drawing/2014/main" id="{D3709665-9E0E-40EF-A16C-95D4581E668E}"/>
                </a:ext>
              </a:extLst>
            </p:cNvPr>
            <p:cNvSpPr txBox="1">
              <a:spLocks noChangeArrowheads="1"/>
            </p:cNvSpPr>
            <p:nvPr/>
          </p:nvSpPr>
          <p:spPr bwMode="auto">
            <a:xfrm>
              <a:off x="411" y="2173"/>
              <a:ext cx="24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bg2"/>
                  </a:solidFill>
                  <a:latin typeface="Arial" panose="020B0604020202020204" pitchFamily="34" charset="0"/>
                </a:rPr>
                <a:t>1</a:t>
              </a:r>
            </a:p>
          </p:txBody>
        </p:sp>
        <p:sp>
          <p:nvSpPr>
            <p:cNvPr id="26" name="Text Box 23">
              <a:extLst>
                <a:ext uri="{FF2B5EF4-FFF2-40B4-BE49-F238E27FC236}">
                  <a16:creationId xmlns:a16="http://schemas.microsoft.com/office/drawing/2014/main" id="{370BDF1F-A37B-4ACC-9CA6-52651F25DE88}"/>
                </a:ext>
              </a:extLst>
            </p:cNvPr>
            <p:cNvSpPr txBox="1">
              <a:spLocks noChangeArrowheads="1"/>
            </p:cNvSpPr>
            <p:nvPr/>
          </p:nvSpPr>
          <p:spPr bwMode="auto">
            <a:xfrm>
              <a:off x="411" y="3033"/>
              <a:ext cx="244"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dirty="0">
                  <a:solidFill>
                    <a:schemeClr val="bg2"/>
                  </a:solidFill>
                  <a:latin typeface="Arial" panose="020B0604020202020204" pitchFamily="34" charset="0"/>
                </a:rPr>
                <a:t>7</a:t>
              </a:r>
            </a:p>
          </p:txBody>
        </p:sp>
        <p:sp>
          <p:nvSpPr>
            <p:cNvPr id="27" name="Text Box 24">
              <a:extLst>
                <a:ext uri="{FF2B5EF4-FFF2-40B4-BE49-F238E27FC236}">
                  <a16:creationId xmlns:a16="http://schemas.microsoft.com/office/drawing/2014/main" id="{9C9E0706-060D-4FAE-AC4B-C6A5007E0379}"/>
                </a:ext>
              </a:extLst>
            </p:cNvPr>
            <p:cNvSpPr txBox="1">
              <a:spLocks noChangeArrowheads="1"/>
            </p:cNvSpPr>
            <p:nvPr/>
          </p:nvSpPr>
          <p:spPr bwMode="auto">
            <a:xfrm>
              <a:off x="2486" y="2520"/>
              <a:ext cx="291" cy="349"/>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vert="eaVert"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dirty="0">
                  <a:solidFill>
                    <a:schemeClr val="accent6">
                      <a:lumMod val="75000"/>
                    </a:schemeClr>
                  </a:solidFill>
                  <a:latin typeface="Arial" panose="020B0604020202020204" pitchFamily="34" charset="0"/>
                </a:rPr>
                <a:t>……</a:t>
              </a:r>
            </a:p>
          </p:txBody>
        </p:sp>
        <p:sp>
          <p:nvSpPr>
            <p:cNvPr id="28" name="Text Box 25">
              <a:extLst>
                <a:ext uri="{FF2B5EF4-FFF2-40B4-BE49-F238E27FC236}">
                  <a16:creationId xmlns:a16="http://schemas.microsoft.com/office/drawing/2014/main" id="{F1124C3F-4C74-4E6B-85CC-3089783351B7}"/>
                </a:ext>
              </a:extLst>
            </p:cNvPr>
            <p:cNvSpPr txBox="1">
              <a:spLocks noChangeArrowheads="1"/>
            </p:cNvSpPr>
            <p:nvPr/>
          </p:nvSpPr>
          <p:spPr bwMode="auto">
            <a:xfrm>
              <a:off x="651" y="3451"/>
              <a:ext cx="90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000" dirty="0">
                  <a:solidFill>
                    <a:schemeClr val="bg2"/>
                  </a:solidFill>
                  <a:latin typeface="Arial" panose="020B0604020202020204" pitchFamily="34" charset="0"/>
                </a:rPr>
                <a:t>空闲页数</a:t>
              </a:r>
            </a:p>
          </p:txBody>
        </p:sp>
        <p:sp>
          <p:nvSpPr>
            <p:cNvPr id="29" name="Line 26">
              <a:extLst>
                <a:ext uri="{FF2B5EF4-FFF2-40B4-BE49-F238E27FC236}">
                  <a16:creationId xmlns:a16="http://schemas.microsoft.com/office/drawing/2014/main" id="{9486BAB7-E940-453F-AA2A-041A4767EE57}"/>
                </a:ext>
              </a:extLst>
            </p:cNvPr>
            <p:cNvSpPr>
              <a:spLocks noChangeShapeType="1"/>
            </p:cNvSpPr>
            <p:nvPr/>
          </p:nvSpPr>
          <p:spPr bwMode="auto">
            <a:xfrm>
              <a:off x="1515" y="3410"/>
              <a:ext cx="0" cy="39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Text Box 27">
              <a:extLst>
                <a:ext uri="{FF2B5EF4-FFF2-40B4-BE49-F238E27FC236}">
                  <a16:creationId xmlns:a16="http://schemas.microsoft.com/office/drawing/2014/main" id="{C95756E2-7210-4B10-946D-52D5D77574DC}"/>
                </a:ext>
              </a:extLst>
            </p:cNvPr>
            <p:cNvSpPr txBox="1">
              <a:spLocks noChangeArrowheads="1"/>
            </p:cNvSpPr>
            <p:nvPr/>
          </p:nvSpPr>
          <p:spPr bwMode="auto">
            <a:xfrm>
              <a:off x="472" y="2613"/>
              <a:ext cx="29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chemeClr val="bg2"/>
                  </a:solidFill>
                  <a:latin typeface="Arial" panose="020B0604020202020204" pitchFamily="34" charset="0"/>
                </a:rPr>
                <a:t>……</a:t>
              </a:r>
            </a:p>
          </p:txBody>
        </p:sp>
        <p:sp>
          <p:nvSpPr>
            <p:cNvPr id="31" name="Text Box 28">
              <a:extLst>
                <a:ext uri="{FF2B5EF4-FFF2-40B4-BE49-F238E27FC236}">
                  <a16:creationId xmlns:a16="http://schemas.microsoft.com/office/drawing/2014/main" id="{AAF5E6C2-E8CF-4395-B8E4-985A0BBC4885}"/>
                </a:ext>
              </a:extLst>
            </p:cNvPr>
            <p:cNvSpPr txBox="1">
              <a:spLocks noChangeArrowheads="1"/>
            </p:cNvSpPr>
            <p:nvPr/>
          </p:nvSpPr>
          <p:spPr bwMode="auto">
            <a:xfrm>
              <a:off x="1955" y="3868"/>
              <a:ext cx="138" cy="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dirty="0">
                <a:solidFill>
                  <a:schemeClr val="bg2"/>
                </a:solidFill>
              </a:endParaRPr>
            </a:p>
          </p:txBody>
        </p:sp>
      </p:grpSp>
      <p:sp>
        <p:nvSpPr>
          <p:cNvPr id="32" name="Text Box 29">
            <a:extLst>
              <a:ext uri="{FF2B5EF4-FFF2-40B4-BE49-F238E27FC236}">
                <a16:creationId xmlns:a16="http://schemas.microsoft.com/office/drawing/2014/main" id="{1D1D10AC-D389-48D1-9F8C-B31AAEC3A84F}"/>
              </a:ext>
            </a:extLst>
          </p:cNvPr>
          <p:cNvSpPr txBox="1">
            <a:spLocks noChangeArrowheads="1"/>
          </p:cNvSpPr>
          <p:nvPr/>
        </p:nvSpPr>
        <p:spPr bwMode="auto">
          <a:xfrm>
            <a:off x="38045" y="5785695"/>
            <a:ext cx="8678167" cy="1077218"/>
          </a:xfrm>
          <a:prstGeom prst="rect">
            <a:avLst/>
          </a:prstGeom>
          <a:solidFill>
            <a:schemeClr val="tx1">
              <a:lumMod val="75000"/>
            </a:schemeClr>
          </a:solidFill>
          <a:ln>
            <a:noFill/>
          </a:ln>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solidFill>
                  <a:schemeClr val="bg2"/>
                </a:solidFill>
              </a:rPr>
              <a:t>若内存中共有</a:t>
            </a:r>
            <a:r>
              <a:rPr lang="en-US" altLang="zh-CN" dirty="0">
                <a:solidFill>
                  <a:schemeClr val="bg2"/>
                </a:solidFill>
              </a:rPr>
              <a:t>256</a:t>
            </a:r>
            <a:r>
              <a:rPr lang="zh-CN" altLang="en-US" dirty="0">
                <a:solidFill>
                  <a:schemeClr val="bg2"/>
                </a:solidFill>
              </a:rPr>
              <a:t>个物理页面，字长为</a:t>
            </a:r>
            <a:r>
              <a:rPr lang="en-US" altLang="zh-CN" dirty="0">
                <a:solidFill>
                  <a:schemeClr val="bg2"/>
                </a:solidFill>
              </a:rPr>
              <a:t>32</a:t>
            </a:r>
            <a:r>
              <a:rPr lang="zh-CN" altLang="en-US" dirty="0">
                <a:solidFill>
                  <a:schemeClr val="bg2"/>
                </a:solidFill>
              </a:rPr>
              <a:t>位。</a:t>
            </a:r>
            <a:endParaRPr lang="en-US" altLang="zh-CN" dirty="0">
              <a:solidFill>
                <a:schemeClr val="bg2"/>
              </a:solidFill>
            </a:endParaRPr>
          </a:p>
          <a:p>
            <a:pPr algn="ctr" eaLnBrk="1" hangingPunct="1">
              <a:spcBef>
                <a:spcPct val="0"/>
              </a:spcBef>
              <a:buClrTx/>
              <a:buSzTx/>
              <a:buFontTx/>
              <a:buNone/>
            </a:pPr>
            <a:r>
              <a:rPr lang="zh-CN" altLang="en-US" dirty="0">
                <a:solidFill>
                  <a:schemeClr val="bg2"/>
                </a:solidFill>
              </a:rPr>
              <a:t>位示图需要多少字？</a:t>
            </a:r>
          </a:p>
        </p:txBody>
      </p:sp>
      <p:sp>
        <p:nvSpPr>
          <p:cNvPr id="33" name="矩形 32">
            <a:extLst>
              <a:ext uri="{FF2B5EF4-FFF2-40B4-BE49-F238E27FC236}">
                <a16:creationId xmlns:a16="http://schemas.microsoft.com/office/drawing/2014/main" id="{8CD2E074-2C08-4772-947B-B4674F172F11}"/>
              </a:ext>
            </a:extLst>
          </p:cNvPr>
          <p:cNvSpPr/>
          <p:nvPr/>
        </p:nvSpPr>
        <p:spPr>
          <a:xfrm>
            <a:off x="6307449" y="6247914"/>
            <a:ext cx="389850" cy="584775"/>
          </a:xfrm>
          <a:prstGeom prst="rect">
            <a:avLst/>
          </a:prstGeom>
          <a:solidFill>
            <a:srgbClr val="00EE6C"/>
          </a:solidFill>
          <a:ln>
            <a:solidFill>
              <a:schemeClr val="accent1"/>
            </a:solidFill>
          </a:ln>
        </p:spPr>
        <p:txBody>
          <a:bodyPr wrap="none">
            <a:spAutoFit/>
          </a:bodyPr>
          <a:lstStyle/>
          <a:p>
            <a:r>
              <a:rPr lang="en-US" altLang="zh-CN" dirty="0">
                <a:solidFill>
                  <a:schemeClr val="bg2"/>
                </a:solidFill>
                <a:latin typeface="+mn-lt"/>
              </a:rPr>
              <a:t>8</a:t>
            </a:r>
            <a:endParaRPr lang="zh-CN" altLang="en-US" dirty="0">
              <a:latin typeface="+mn-lt"/>
            </a:endParaRPr>
          </a:p>
        </p:txBody>
      </p:sp>
    </p:spTree>
    <p:extLst>
      <p:ext uri="{BB962C8B-B14F-4D97-AF65-F5344CB8AC3E}">
        <p14:creationId xmlns:p14="http://schemas.microsoft.com/office/powerpoint/2010/main" val="8053857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3028">
                                            <p:txEl>
                                              <p:pRg st="3" end="3"/>
                                            </p:txEl>
                                          </p:spTgt>
                                        </p:tgtEl>
                                        <p:attrNameLst>
                                          <p:attrName>style.visibility</p:attrName>
                                        </p:attrNameLst>
                                      </p:cBhvr>
                                      <p:to>
                                        <p:strVal val="visible"/>
                                      </p:to>
                                    </p:set>
                                    <p:animEffect transition="in" filter="blinds(horizontal)">
                                      <p:cBhvr>
                                        <p:cTn id="7" dur="500"/>
                                        <p:tgtEl>
                                          <p:spTgt spid="513028">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3028">
                                            <p:txEl>
                                              <p:pRg st="4" end="4"/>
                                            </p:txEl>
                                          </p:spTgt>
                                        </p:tgtEl>
                                        <p:attrNameLst>
                                          <p:attrName>style.visibility</p:attrName>
                                        </p:attrNameLst>
                                      </p:cBhvr>
                                      <p:to>
                                        <p:strVal val="visible"/>
                                      </p:to>
                                    </p:set>
                                    <p:animEffect transition="in" filter="blinds(horizontal)">
                                      <p:cBhvr>
                                        <p:cTn id="12" dur="500"/>
                                        <p:tgtEl>
                                          <p:spTgt spid="51302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1000"/>
                                        <p:tgtEl>
                                          <p:spTgt spid="32"/>
                                        </p:tgtEl>
                                      </p:cBhvr>
                                    </p:animEffect>
                                    <p:anim calcmode="lin" valueType="num">
                                      <p:cBhvr>
                                        <p:cTn id="23" dur="1000" fill="hold"/>
                                        <p:tgtEl>
                                          <p:spTgt spid="32"/>
                                        </p:tgtEl>
                                        <p:attrNameLst>
                                          <p:attrName>ppt_x</p:attrName>
                                        </p:attrNameLst>
                                      </p:cBhvr>
                                      <p:tavLst>
                                        <p:tav tm="0">
                                          <p:val>
                                            <p:strVal val="#ppt_x"/>
                                          </p:val>
                                        </p:tav>
                                        <p:tav tm="100000">
                                          <p:val>
                                            <p:strVal val="#ppt_x"/>
                                          </p:val>
                                        </p:tav>
                                      </p:tavLst>
                                    </p:anim>
                                    <p:anim calcmode="lin" valueType="num">
                                      <p:cBhvr>
                                        <p:cTn id="2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heel(1)">
                                      <p:cBhvr>
                                        <p:cTn id="29" dur="2000"/>
                                        <p:tgtEl>
                                          <p:spTgt spid="33"/>
                                        </p:tgtEl>
                                      </p:cBhvr>
                                    </p:animEffect>
                                  </p:childTnLst>
                                </p:cTn>
                              </p:par>
                            </p:childTnLst>
                          </p:cTn>
                        </p:par>
                        <p:par>
                          <p:cTn id="30" fill="hold">
                            <p:stCondLst>
                              <p:cond delay="2000"/>
                            </p:stCondLst>
                            <p:childTnLst>
                              <p:par>
                                <p:cTn id="31" presetID="2" presetClass="entr" presetSubtype="6"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1+#ppt_w/2"/>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2" grpId="0" animBg="1"/>
      <p:bldP spid="3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A18C3-5B04-444F-A76E-F6FD85735D88}"/>
              </a:ext>
            </a:extLst>
          </p:cNvPr>
          <p:cNvSpPr>
            <a:spLocks noGrp="1"/>
          </p:cNvSpPr>
          <p:nvPr>
            <p:ph type="title"/>
          </p:nvPr>
        </p:nvSpPr>
        <p:spPr>
          <a:xfrm>
            <a:off x="53752" y="0"/>
            <a:ext cx="9036496" cy="2780928"/>
          </a:xfrm>
          <a:solidFill>
            <a:schemeClr val="bg1">
              <a:lumMod val="20000"/>
              <a:lumOff val="80000"/>
            </a:schemeClr>
          </a:solidFill>
        </p:spPr>
        <p:txBody>
          <a:bodyPr/>
          <a:lstStyle/>
          <a:p>
            <a:r>
              <a:rPr lang="en-US" altLang="zh-CN" sz="3200" b="1" dirty="0">
                <a:solidFill>
                  <a:schemeClr val="bg2"/>
                </a:solidFill>
              </a:rPr>
              <a:t>[</a:t>
            </a:r>
            <a:r>
              <a:rPr lang="zh-CN" altLang="en-US" sz="3200" b="1" dirty="0">
                <a:solidFill>
                  <a:schemeClr val="bg2"/>
                </a:solidFill>
              </a:rPr>
              <a:t>例</a:t>
            </a:r>
            <a:r>
              <a:rPr lang="en-US" altLang="zh-CN" sz="3200" b="1" dirty="0">
                <a:solidFill>
                  <a:schemeClr val="bg2"/>
                </a:solidFill>
              </a:rPr>
              <a:t>7]</a:t>
            </a:r>
            <a:r>
              <a:rPr lang="zh-CN" altLang="zh-CN" sz="3200" b="1" dirty="0">
                <a:solidFill>
                  <a:schemeClr val="bg2"/>
                </a:solidFill>
              </a:rPr>
              <a:t>某系统采用页式存储管理，用位图管理空闲页框。若页大小为</a:t>
            </a:r>
            <a:r>
              <a:rPr lang="en-US" altLang="zh-CN" sz="3200" b="1" dirty="0">
                <a:solidFill>
                  <a:schemeClr val="bg2"/>
                </a:solidFill>
              </a:rPr>
              <a:t> </a:t>
            </a:r>
            <a:r>
              <a:rPr lang="en-US" altLang="zh-CN" sz="3200" b="1" dirty="0" err="1">
                <a:solidFill>
                  <a:schemeClr val="bg2"/>
                </a:solidFill>
              </a:rPr>
              <a:t>4KB</a:t>
            </a:r>
            <a:r>
              <a:rPr lang="zh-CN" altLang="zh-CN" sz="3200" b="1" dirty="0">
                <a:solidFill>
                  <a:schemeClr val="bg2"/>
                </a:solidFill>
              </a:rPr>
              <a:t>，物理内存大小为</a:t>
            </a:r>
            <a:r>
              <a:rPr lang="en-US" altLang="zh-CN" sz="3200" b="1" dirty="0" err="1">
                <a:solidFill>
                  <a:schemeClr val="bg2"/>
                </a:solidFill>
              </a:rPr>
              <a:t>16GB</a:t>
            </a:r>
            <a:r>
              <a:rPr lang="zh-CN" altLang="zh-CN" sz="3200" b="1" dirty="0">
                <a:solidFill>
                  <a:schemeClr val="bg2"/>
                </a:solidFill>
              </a:rPr>
              <a:t>，则位图所占空间的大小是（</a:t>
            </a:r>
            <a:r>
              <a:rPr lang="en-US" altLang="zh-CN" sz="3200" b="1" dirty="0">
                <a:solidFill>
                  <a:schemeClr val="bg2"/>
                </a:solidFill>
              </a:rPr>
              <a:t> </a:t>
            </a:r>
            <a:r>
              <a:rPr lang="zh-CN" altLang="zh-CN" sz="3200" b="1" dirty="0">
                <a:solidFill>
                  <a:schemeClr val="bg2"/>
                </a:solidFill>
              </a:rPr>
              <a:t>）</a:t>
            </a:r>
            <a:r>
              <a:rPr lang="zh-CN" altLang="en-US" sz="3200" b="1" dirty="0">
                <a:solidFill>
                  <a:schemeClr val="bg2"/>
                </a:solidFill>
              </a:rPr>
              <a:t>。</a:t>
            </a:r>
            <a:r>
              <a:rPr lang="zh-CN" altLang="zh-CN" sz="3200" b="1" dirty="0">
                <a:solidFill>
                  <a:schemeClr val="bg2"/>
                </a:solidFill>
              </a:rPr>
              <a:t> （</a:t>
            </a:r>
            <a:r>
              <a:rPr lang="en-US" altLang="zh-CN" sz="3200" b="1" dirty="0">
                <a:solidFill>
                  <a:schemeClr val="bg2"/>
                </a:solidFill>
              </a:rPr>
              <a:t>2023 </a:t>
            </a:r>
            <a:r>
              <a:rPr lang="zh-CN" altLang="zh-CN" sz="3200" b="1" dirty="0">
                <a:solidFill>
                  <a:schemeClr val="bg2"/>
                </a:solidFill>
              </a:rPr>
              <a:t>）</a:t>
            </a:r>
            <a:r>
              <a:rPr lang="zh-CN" altLang="zh-CN" sz="3200" dirty="0">
                <a:solidFill>
                  <a:schemeClr val="bg2"/>
                </a:solidFill>
              </a:rPr>
              <a:t/>
            </a:r>
            <a:br>
              <a:rPr lang="zh-CN" altLang="zh-CN" sz="3200" dirty="0">
                <a:solidFill>
                  <a:schemeClr val="bg2"/>
                </a:solidFill>
              </a:rPr>
            </a:br>
            <a:r>
              <a:rPr lang="en-US" altLang="zh-CN" sz="3200" dirty="0">
                <a:solidFill>
                  <a:schemeClr val="bg2"/>
                </a:solidFill>
              </a:rPr>
              <a:t/>
            </a:r>
            <a:br>
              <a:rPr lang="en-US" altLang="zh-CN" sz="3200" dirty="0">
                <a:solidFill>
                  <a:schemeClr val="bg2"/>
                </a:solidFill>
              </a:rPr>
            </a:br>
            <a:r>
              <a:rPr lang="en-US" altLang="zh-CN" sz="2800" b="1" dirty="0">
                <a:solidFill>
                  <a:schemeClr val="bg2"/>
                </a:solidFill>
              </a:rPr>
              <a:t>A. </a:t>
            </a:r>
            <a:r>
              <a:rPr lang="en-US" altLang="zh-CN" sz="2800" b="1" dirty="0" err="1">
                <a:solidFill>
                  <a:schemeClr val="bg2"/>
                </a:solidFill>
              </a:rPr>
              <a:t>128B</a:t>
            </a:r>
            <a:r>
              <a:rPr lang="en-US" altLang="zh-CN" sz="2800" b="1" dirty="0">
                <a:solidFill>
                  <a:schemeClr val="bg2"/>
                </a:solidFill>
              </a:rPr>
              <a:t>           B. </a:t>
            </a:r>
            <a:r>
              <a:rPr lang="en-US" altLang="zh-CN" sz="2800" b="1" dirty="0" err="1">
                <a:solidFill>
                  <a:schemeClr val="bg2"/>
                </a:solidFill>
              </a:rPr>
              <a:t>128KB</a:t>
            </a:r>
            <a:r>
              <a:rPr lang="en-US" altLang="zh-CN" sz="2800" b="1" dirty="0">
                <a:solidFill>
                  <a:schemeClr val="bg2"/>
                </a:solidFill>
              </a:rPr>
              <a:t>           C. </a:t>
            </a:r>
            <a:r>
              <a:rPr lang="en-US" altLang="zh-CN" sz="2800" b="1" dirty="0" err="1">
                <a:solidFill>
                  <a:schemeClr val="bg2"/>
                </a:solidFill>
              </a:rPr>
              <a:t>512KB</a:t>
            </a:r>
            <a:r>
              <a:rPr lang="en-US" altLang="zh-CN" sz="2800" b="1" dirty="0">
                <a:solidFill>
                  <a:schemeClr val="bg2"/>
                </a:solidFill>
              </a:rPr>
              <a:t>           D. </a:t>
            </a:r>
            <a:r>
              <a:rPr lang="en-US" altLang="zh-CN" sz="2800" b="1" dirty="0" err="1">
                <a:solidFill>
                  <a:schemeClr val="bg2"/>
                </a:solidFill>
              </a:rPr>
              <a:t>4MB</a:t>
            </a:r>
            <a:r>
              <a:rPr lang="zh-CN" altLang="zh-CN" sz="3200" dirty="0">
                <a:solidFill>
                  <a:schemeClr val="bg2"/>
                </a:solidFill>
              </a:rPr>
              <a:t/>
            </a:r>
            <a:br>
              <a:rPr lang="zh-CN" altLang="zh-CN" sz="3200" dirty="0">
                <a:solidFill>
                  <a:schemeClr val="bg2"/>
                </a:solidFill>
              </a:rPr>
            </a:br>
            <a:endParaRPr lang="zh-CN" altLang="en-US" sz="3200" dirty="0">
              <a:solidFill>
                <a:schemeClr val="bg2"/>
              </a:solidFill>
            </a:endParaRPr>
          </a:p>
        </p:txBody>
      </p:sp>
      <p:sp>
        <p:nvSpPr>
          <p:cNvPr id="4" name="AutoShape 27">
            <a:hlinkClick r:id="" action="ppaction://hlinkshowjump?jump=nextslide" highlightClick="1"/>
            <a:extLst>
              <a:ext uri="{FF2B5EF4-FFF2-40B4-BE49-F238E27FC236}">
                <a16:creationId xmlns:a16="http://schemas.microsoft.com/office/drawing/2014/main" id="{0E605DCE-F4F8-4201-88AC-B64A24D093C1}"/>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76957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F433AA-AD49-47E9-9670-351BAE33F595}"/>
              </a:ext>
            </a:extLst>
          </p:cNvPr>
          <p:cNvSpPr txBox="1">
            <a:spLocks noChangeArrowheads="1"/>
          </p:cNvSpPr>
          <p:nvPr/>
        </p:nvSpPr>
        <p:spPr bwMode="auto">
          <a:xfrm>
            <a:off x="-20952" y="1196752"/>
            <a:ext cx="9142575" cy="2846229"/>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空闲页面链表</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队首页面的第一、二单元：空闲页面总数、下一个空闲页面的指针；</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其它页面：第一个单元中放入下一个页面的指针。</a:t>
            </a:r>
          </a:p>
          <a:p>
            <a:pPr marL="812800" lvl="3" indent="-355600" defTabSz="355600">
              <a:lnSpc>
                <a:spcPct val="90000"/>
              </a:lnSpc>
              <a:spcBef>
                <a:spcPct val="0"/>
              </a:spcBef>
              <a:buClr>
                <a:schemeClr val="bg2"/>
              </a:buClr>
              <a:buSzPct val="70000"/>
              <a:buFont typeface="Wingdings" panose="05000000000000000000" pitchFamily="2" charset="2"/>
              <a:buChar char="n"/>
              <a:defRPr/>
            </a:pPr>
            <a:r>
              <a:rPr lang="zh-CN" altLang="en-US" sz="28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使用了空闲页面本身的单元存放指针，不占据额外的内存空间。</a:t>
            </a:r>
          </a:p>
        </p:txBody>
      </p:sp>
      <p:sp>
        <p:nvSpPr>
          <p:cNvPr id="8" name="矩形 7">
            <a:extLst>
              <a:ext uri="{FF2B5EF4-FFF2-40B4-BE49-F238E27FC236}">
                <a16:creationId xmlns:a16="http://schemas.microsoft.com/office/drawing/2014/main" id="{D60F8C04-B6E1-454A-BA03-E18A704FB2A3}"/>
              </a:ext>
            </a:extLst>
          </p:cNvPr>
          <p:cNvSpPr/>
          <p:nvPr/>
        </p:nvSpPr>
        <p:spPr>
          <a:xfrm>
            <a:off x="1923752" y="49594"/>
            <a:ext cx="5296495"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存储页面表（存储块表）</a:t>
            </a:r>
          </a:p>
        </p:txBody>
      </p:sp>
      <p:sp>
        <p:nvSpPr>
          <p:cNvPr id="9" name="AutoShape 27">
            <a:hlinkClick r:id="" action="ppaction://hlinkshowjump?jump=nextslide" highlightClick="1"/>
            <a:extLst>
              <a:ext uri="{FF2B5EF4-FFF2-40B4-BE49-F238E27FC236}">
                <a16:creationId xmlns:a16="http://schemas.microsoft.com/office/drawing/2014/main" id="{24907687-90CA-44C6-9034-72964DCA2486}"/>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5872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linds(horizontal)">
                                      <p:cBhvr>
                                        <p:cTn id="7" dur="500"/>
                                        <p:tgtEl>
                                          <p:spTgt spid="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linds(horizontal)">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blinds(horizontal)">
                                      <p:cBhvr>
                                        <p:cTn id="15" dur="500"/>
                                        <p:tgtEl>
                                          <p:spTgt spid="7">
                                            <p:txEl>
                                              <p:pRg st="3" end="3"/>
                                            </p:txEl>
                                          </p:spTgt>
                                        </p:tgtEl>
                                      </p:cBhvr>
                                    </p:animEffect>
                                  </p:childTnLst>
                                </p:cTn>
                              </p:par>
                            </p:childTnLst>
                          </p:cTn>
                        </p:par>
                        <p:par>
                          <p:cTn id="16" fill="hold">
                            <p:stCondLst>
                              <p:cond delay="500"/>
                            </p:stCondLst>
                            <p:childTnLst>
                              <p:par>
                                <p:cTn id="17" presetID="2" presetClass="entr" presetSubtype="6"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A2E2978-4F0C-47BD-B181-9A60C7D908AF}"/>
              </a:ext>
            </a:extLst>
          </p:cNvPr>
          <p:cNvSpPr>
            <a:spLocks noGrp="1"/>
          </p:cNvSpPr>
          <p:nvPr>
            <p:ph type="dt" sz="half" idx="10"/>
          </p:nvPr>
        </p:nvSpPr>
        <p:spPr/>
        <p:txBody>
          <a:bodyPr/>
          <a:lstStyle/>
          <a:p>
            <a:pPr>
              <a:defRPr/>
            </a:pPr>
            <a:fld id="{7FCA0350-E2C7-4C3F-B45E-5ED928986F04}" type="datetime1">
              <a:rPr lang="zh-CN" altLang="en-US" smtClean="0"/>
              <a:pPr>
                <a:defRPr/>
              </a:pPr>
              <a:t>2024/11/20</a:t>
            </a:fld>
            <a:endParaRPr lang="en-US" altLang="zh-CN"/>
          </a:p>
        </p:txBody>
      </p:sp>
      <p:sp>
        <p:nvSpPr>
          <p:cNvPr id="5" name="灯片编号占位符 4">
            <a:extLst>
              <a:ext uri="{FF2B5EF4-FFF2-40B4-BE49-F238E27FC236}">
                <a16:creationId xmlns:a16="http://schemas.microsoft.com/office/drawing/2014/main" id="{A414DF8C-7D1A-4F69-99B6-5DB3875D8276}"/>
              </a:ext>
            </a:extLst>
          </p:cNvPr>
          <p:cNvSpPr>
            <a:spLocks noGrp="1"/>
          </p:cNvSpPr>
          <p:nvPr>
            <p:ph type="sldNum" sz="quarter" idx="12"/>
          </p:nvPr>
        </p:nvSpPr>
        <p:spPr/>
        <p:txBody>
          <a:bodyPr/>
          <a:lstStyle/>
          <a:p>
            <a:pPr>
              <a:defRPr/>
            </a:pPr>
            <a:r>
              <a:rPr lang="zh-CN" altLang="en-US"/>
              <a:t>第 </a:t>
            </a:r>
            <a:fld id="{4D18CCF0-A072-4DBD-9DA3-362055088704}" type="slidenum">
              <a:rPr lang="zh-CN" altLang="en-US" smtClean="0"/>
              <a:pPr>
                <a:defRPr/>
              </a:pPr>
              <a:t>68</a:t>
            </a:fld>
            <a:r>
              <a:rPr lang="zh-CN" altLang="en-US"/>
              <a:t> 页</a:t>
            </a:r>
          </a:p>
        </p:txBody>
      </p:sp>
      <p:sp>
        <p:nvSpPr>
          <p:cNvPr id="6" name="AutoShape 8">
            <a:hlinkClick r:id="rId2" action="ppaction://hlinksldjump" highlightClick="1"/>
            <a:extLst>
              <a:ext uri="{FF2B5EF4-FFF2-40B4-BE49-F238E27FC236}">
                <a16:creationId xmlns:a16="http://schemas.microsoft.com/office/drawing/2014/main" id="{403600A8-D7F3-422E-A1FE-237A2031A580}"/>
              </a:ext>
            </a:extLst>
          </p:cNvPr>
          <p:cNvSpPr>
            <a:spLocks noChangeArrowheads="1"/>
          </p:cNvSpPr>
          <p:nvPr/>
        </p:nvSpPr>
        <p:spPr bwMode="auto">
          <a:xfrm>
            <a:off x="8820150" y="6524625"/>
            <a:ext cx="323850" cy="33337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pic>
        <p:nvPicPr>
          <p:cNvPr id="7" name="图片 6">
            <a:extLst>
              <a:ext uri="{FF2B5EF4-FFF2-40B4-BE49-F238E27FC236}">
                <a16:creationId xmlns:a16="http://schemas.microsoft.com/office/drawing/2014/main" id="{5550A567-8284-4A58-A9BA-88C49FEA718A}"/>
              </a:ext>
            </a:extLst>
          </p:cNvPr>
          <p:cNvPicPr>
            <a:picLocks noChangeAspect="1"/>
          </p:cNvPicPr>
          <p:nvPr/>
        </p:nvPicPr>
        <p:blipFill>
          <a:blip r:embed="rId3"/>
          <a:stretch>
            <a:fillRect/>
          </a:stretch>
        </p:blipFill>
        <p:spPr>
          <a:xfrm>
            <a:off x="478331" y="1406113"/>
            <a:ext cx="3712441" cy="2257425"/>
          </a:xfrm>
          <a:prstGeom prst="rect">
            <a:avLst/>
          </a:prstGeom>
        </p:spPr>
      </p:pic>
      <p:sp>
        <p:nvSpPr>
          <p:cNvPr id="11" name="文本框 10">
            <a:extLst>
              <a:ext uri="{FF2B5EF4-FFF2-40B4-BE49-F238E27FC236}">
                <a16:creationId xmlns:a16="http://schemas.microsoft.com/office/drawing/2014/main" id="{C2D70DF5-F413-41E5-9254-C4D3EF55F2D5}"/>
              </a:ext>
            </a:extLst>
          </p:cNvPr>
          <p:cNvSpPr txBox="1"/>
          <p:nvPr/>
        </p:nvSpPr>
        <p:spPr>
          <a:xfrm>
            <a:off x="4548246" y="3821833"/>
            <a:ext cx="1814666" cy="461665"/>
          </a:xfrm>
          <a:prstGeom prst="rect">
            <a:avLst/>
          </a:prstGeom>
          <a:noFill/>
        </p:spPr>
        <p:txBody>
          <a:bodyPr wrap="square" rtlCol="0">
            <a:spAutoFit/>
          </a:bodyPr>
          <a:lstStyle/>
          <a:p>
            <a:pPr algn="ctr"/>
            <a:r>
              <a:rPr lang="zh-CN" altLang="en-US" sz="2400" dirty="0">
                <a:solidFill>
                  <a:schemeClr val="bg2"/>
                </a:solidFill>
                <a:latin typeface="Times New Roman" panose="02020603050405020304" pitchFamily="18" charset="0"/>
                <a:cs typeface="Times New Roman" panose="02020603050405020304" pitchFamily="18" charset="0"/>
              </a:rPr>
              <a:t>内存页</a:t>
            </a:r>
            <a:r>
              <a:rPr lang="en-US" altLang="zh-CN" sz="2400" dirty="0">
                <a:solidFill>
                  <a:schemeClr val="bg2"/>
                </a:solidFill>
                <a:latin typeface="Times New Roman" panose="02020603050405020304" pitchFamily="18" charset="0"/>
                <a:cs typeface="Times New Roman" panose="02020603050405020304" pitchFamily="18" charset="0"/>
              </a:rPr>
              <a:t>2</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FC1B5418-00F1-4080-ABDB-32103B52CC72}"/>
              </a:ext>
            </a:extLst>
          </p:cNvPr>
          <p:cNvSpPr txBox="1"/>
          <p:nvPr/>
        </p:nvSpPr>
        <p:spPr>
          <a:xfrm>
            <a:off x="6456933" y="3804753"/>
            <a:ext cx="1814666" cy="461665"/>
          </a:xfrm>
          <a:prstGeom prst="rect">
            <a:avLst/>
          </a:prstGeom>
          <a:noFill/>
        </p:spPr>
        <p:txBody>
          <a:bodyPr wrap="square" rtlCol="0">
            <a:spAutoFit/>
          </a:bodyPr>
          <a:lstStyle/>
          <a:p>
            <a:pPr algn="ctr"/>
            <a:r>
              <a:rPr lang="zh-CN" altLang="en-US" sz="2400" dirty="0">
                <a:solidFill>
                  <a:schemeClr val="bg2"/>
                </a:solidFill>
                <a:latin typeface="Times New Roman" panose="02020603050405020304" pitchFamily="18" charset="0"/>
                <a:cs typeface="Times New Roman" panose="02020603050405020304" pitchFamily="18" charset="0"/>
              </a:rPr>
              <a:t>内存页</a:t>
            </a:r>
            <a:r>
              <a:rPr lang="en-US" altLang="zh-CN" sz="2400" dirty="0">
                <a:solidFill>
                  <a:schemeClr val="bg2"/>
                </a:solidFill>
                <a:latin typeface="Times New Roman" panose="02020603050405020304" pitchFamily="18" charset="0"/>
                <a:cs typeface="Times New Roman" panose="02020603050405020304" pitchFamily="18" charset="0"/>
              </a:rPr>
              <a:t>3</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80F1F700-5715-4045-B2BA-904BF3D27343}"/>
              </a:ext>
            </a:extLst>
          </p:cNvPr>
          <p:cNvSpPr txBox="1"/>
          <p:nvPr/>
        </p:nvSpPr>
        <p:spPr>
          <a:xfrm>
            <a:off x="294274" y="4576129"/>
            <a:ext cx="1814666" cy="461665"/>
          </a:xfrm>
          <a:prstGeom prst="rect">
            <a:avLst/>
          </a:prstGeom>
          <a:noFill/>
        </p:spPr>
        <p:txBody>
          <a:bodyPr wrap="square" rtlCol="0">
            <a:spAutoFit/>
          </a:bodyPr>
          <a:lstStyle/>
          <a:p>
            <a:pPr algn="ctr"/>
            <a:r>
              <a:rPr lang="en-US" altLang="zh-CN" sz="2400" dirty="0" err="1">
                <a:solidFill>
                  <a:schemeClr val="bg2"/>
                </a:solidFill>
                <a:latin typeface="Times New Roman" panose="02020603050405020304" pitchFamily="18" charset="0"/>
                <a:cs typeface="Times New Roman" panose="02020603050405020304" pitchFamily="18" charset="0"/>
              </a:rPr>
              <a:t>keme</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grpSp>
        <p:nvGrpSpPr>
          <p:cNvPr id="14" name="组合 13">
            <a:extLst>
              <a:ext uri="{FF2B5EF4-FFF2-40B4-BE49-F238E27FC236}">
                <a16:creationId xmlns:a16="http://schemas.microsoft.com/office/drawing/2014/main" id="{3D3547C7-AABF-4BEB-AEEF-58BC38094AA8}"/>
              </a:ext>
            </a:extLst>
          </p:cNvPr>
          <p:cNvGrpSpPr/>
          <p:nvPr/>
        </p:nvGrpSpPr>
        <p:grpSpPr>
          <a:xfrm>
            <a:off x="4788024" y="4354745"/>
            <a:ext cx="1328572" cy="1775186"/>
            <a:chOff x="3995935" y="4625614"/>
            <a:chExt cx="1670651" cy="1333526"/>
          </a:xfrm>
        </p:grpSpPr>
        <p:sp>
          <p:nvSpPr>
            <p:cNvPr id="15" name="矩形 14">
              <a:extLst>
                <a:ext uri="{FF2B5EF4-FFF2-40B4-BE49-F238E27FC236}">
                  <a16:creationId xmlns:a16="http://schemas.microsoft.com/office/drawing/2014/main" id="{4E660B2A-92B9-4285-92D4-350CA3966FDD}"/>
                </a:ext>
              </a:extLst>
            </p:cNvPr>
            <p:cNvSpPr/>
            <p:nvPr/>
          </p:nvSpPr>
          <p:spPr bwMode="auto">
            <a:xfrm>
              <a:off x="3995936" y="4625614"/>
              <a:ext cx="1670650" cy="963625"/>
            </a:xfrm>
            <a:prstGeom prst="rect">
              <a:avLst/>
            </a:prstGeom>
            <a:solidFill>
              <a:schemeClr val="accent2"/>
            </a:solidFill>
            <a:ln w="9525" cap="flat" cmpd="sng" algn="ctr">
              <a:solidFill>
                <a:schemeClr val="bg2"/>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6" name="矩形 15">
              <a:extLst>
                <a:ext uri="{FF2B5EF4-FFF2-40B4-BE49-F238E27FC236}">
                  <a16:creationId xmlns:a16="http://schemas.microsoft.com/office/drawing/2014/main" id="{10641D12-92DA-4C5F-B630-E40215266B73}"/>
                </a:ext>
              </a:extLst>
            </p:cNvPr>
            <p:cNvSpPr/>
            <p:nvPr/>
          </p:nvSpPr>
          <p:spPr bwMode="auto">
            <a:xfrm>
              <a:off x="3995935" y="5589240"/>
              <a:ext cx="1670650" cy="369900"/>
            </a:xfrm>
            <a:prstGeom prst="rect">
              <a:avLst/>
            </a:prstGeom>
            <a:solidFill>
              <a:schemeClr val="tx2">
                <a:lumMod val="20000"/>
                <a:lumOff val="80000"/>
              </a:schemeClr>
            </a:solid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0" defTabSz="914400" rtl="0" eaLnBrk="0" fontAlgn="base" latinLnBrk="0" hangingPunct="0">
                <a:spcBef>
                  <a:spcPts val="0"/>
                </a:spcBef>
                <a:spcAft>
                  <a:spcPct val="0"/>
                </a:spcAft>
                <a:buClr>
                  <a:schemeClr val="folHlink"/>
                </a:buClr>
                <a:buSzPct val="75000"/>
                <a:buFont typeface="Monotype Sorts" pitchFamily="2" charset="2"/>
                <a:buNone/>
                <a:tabLst/>
              </a:pPr>
              <a:r>
                <a:rPr kumimoji="1" lang="en-US" altLang="zh-CN"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next</a:t>
              </a:r>
              <a:endParaRPr kumimoji="1" lang="zh-CN" altLang="en-US"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7" name="矩形 16">
            <a:extLst>
              <a:ext uri="{FF2B5EF4-FFF2-40B4-BE49-F238E27FC236}">
                <a16:creationId xmlns:a16="http://schemas.microsoft.com/office/drawing/2014/main" id="{9B8580E0-1962-4E8F-9E3A-08810065D1EB}"/>
              </a:ext>
            </a:extLst>
          </p:cNvPr>
          <p:cNvSpPr/>
          <p:nvPr/>
        </p:nvSpPr>
        <p:spPr bwMode="auto">
          <a:xfrm>
            <a:off x="440150" y="5643361"/>
            <a:ext cx="1668790" cy="492410"/>
          </a:xfrm>
          <a:prstGeom prst="rect">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0" defTabSz="914400" rtl="0" eaLnBrk="0" fontAlgn="base" latinLnBrk="0" hangingPunct="0">
              <a:spcBef>
                <a:spcPts val="0"/>
              </a:spcBef>
              <a:spcAft>
                <a:spcPct val="0"/>
              </a:spcAft>
              <a:buClr>
                <a:schemeClr val="folHlink"/>
              </a:buClr>
              <a:buSzPct val="75000"/>
              <a:buFont typeface="Monotype Sorts" pitchFamily="2" charset="2"/>
              <a:buNone/>
              <a:tabLst/>
            </a:pPr>
            <a:r>
              <a:rPr kumimoji="1" lang="en-US" altLang="zh-CN" sz="2400" b="1" i="0" u="none" strike="noStrike" cap="none" normalizeH="0" baseline="0" dirty="0" err="1">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freelist</a:t>
            </a:r>
            <a:endParaRPr kumimoji="1" lang="zh-CN" altLang="en-US"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3861431-0D38-40D9-A41E-EF9CEA447A12}"/>
              </a:ext>
            </a:extLst>
          </p:cNvPr>
          <p:cNvSpPr/>
          <p:nvPr/>
        </p:nvSpPr>
        <p:spPr bwMode="auto">
          <a:xfrm>
            <a:off x="440150" y="5114508"/>
            <a:ext cx="1670650" cy="528853"/>
          </a:xfrm>
          <a:prstGeom prst="rect">
            <a:avLst/>
          </a:prstGeom>
          <a:noFill/>
          <a:ln w="9525" cap="flat" cmpd="sng" algn="ctr">
            <a:solidFill>
              <a:schemeClr val="bg2"/>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a:lnSpc>
                <a:spcPct val="110000"/>
              </a:lnSpc>
              <a:spcBef>
                <a:spcPts val="0"/>
              </a:spcBef>
              <a:buClr>
                <a:schemeClr val="folHlink"/>
              </a:buClr>
              <a:buSzPct val="75000"/>
            </a:pPr>
            <a:r>
              <a:rPr lang="en-US" altLang="zh-CN" sz="2400"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lock</a:t>
            </a:r>
            <a:endParaRPr lang="zh-CN" altLang="en-US" sz="2400"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A47FBD78-8558-4651-B59A-19F7B63B722A}"/>
              </a:ext>
            </a:extLst>
          </p:cNvPr>
          <p:cNvSpPr txBox="1"/>
          <p:nvPr/>
        </p:nvSpPr>
        <p:spPr>
          <a:xfrm>
            <a:off x="2376106" y="3794311"/>
            <a:ext cx="1814666" cy="461665"/>
          </a:xfrm>
          <a:prstGeom prst="rect">
            <a:avLst/>
          </a:prstGeom>
          <a:noFill/>
        </p:spPr>
        <p:txBody>
          <a:bodyPr wrap="square" rtlCol="0">
            <a:spAutoFit/>
          </a:bodyPr>
          <a:lstStyle/>
          <a:p>
            <a:pPr algn="ctr"/>
            <a:r>
              <a:rPr lang="zh-CN" altLang="en-US" sz="2400" dirty="0">
                <a:solidFill>
                  <a:schemeClr val="bg2"/>
                </a:solidFill>
                <a:latin typeface="Times New Roman" panose="02020603050405020304" pitchFamily="18" charset="0"/>
                <a:cs typeface="Times New Roman" panose="02020603050405020304" pitchFamily="18" charset="0"/>
              </a:rPr>
              <a:t>内存页</a:t>
            </a:r>
            <a:r>
              <a:rPr lang="en-US" altLang="zh-CN" sz="2400" dirty="0">
                <a:solidFill>
                  <a:schemeClr val="bg2"/>
                </a:solidFill>
                <a:latin typeface="Times New Roman" panose="02020603050405020304" pitchFamily="18" charset="0"/>
                <a:cs typeface="Times New Roman" panose="02020603050405020304" pitchFamily="18" charset="0"/>
              </a:rPr>
              <a:t>1</a:t>
            </a:r>
            <a:endParaRPr lang="zh-CN" altLang="en-US" sz="2400" dirty="0">
              <a:solidFill>
                <a:schemeClr val="bg2"/>
              </a:solidFill>
              <a:latin typeface="Times New Roman" panose="02020603050405020304" pitchFamily="18" charset="0"/>
              <a:cs typeface="Times New Roman" panose="02020603050405020304" pitchFamily="18" charset="0"/>
            </a:endParaRPr>
          </a:p>
        </p:txBody>
      </p:sp>
      <p:cxnSp>
        <p:nvCxnSpPr>
          <p:cNvPr id="23" name="直接箭头连接符 22">
            <a:extLst>
              <a:ext uri="{FF2B5EF4-FFF2-40B4-BE49-F238E27FC236}">
                <a16:creationId xmlns:a16="http://schemas.microsoft.com/office/drawing/2014/main" id="{A8D0A044-2209-479B-AF1A-6F62FE585CC5}"/>
              </a:ext>
            </a:extLst>
          </p:cNvPr>
          <p:cNvCxnSpPr>
            <a:cxnSpLocks/>
            <a:stCxn id="17" idx="3"/>
          </p:cNvCxnSpPr>
          <p:nvPr/>
        </p:nvCxnSpPr>
        <p:spPr bwMode="auto">
          <a:xfrm flipV="1">
            <a:off x="2108940" y="5883726"/>
            <a:ext cx="562008" cy="5840"/>
          </a:xfrm>
          <a:prstGeom prst="straightConnector1">
            <a:avLst/>
          </a:prstGeom>
          <a:noFill/>
          <a:ln w="38100" cap="flat" cmpd="sng" algn="ctr">
            <a:solidFill>
              <a:schemeClr val="bg2"/>
            </a:solidFill>
            <a:prstDash val="solid"/>
            <a:round/>
            <a:headEnd type="none" w="med" len="med"/>
            <a:tailEnd type="arrow" w="med" len="med"/>
          </a:ln>
          <a:effectLst/>
        </p:spPr>
      </p:cxnSp>
      <p:cxnSp>
        <p:nvCxnSpPr>
          <p:cNvPr id="24" name="直接箭头连接符 23">
            <a:extLst>
              <a:ext uri="{FF2B5EF4-FFF2-40B4-BE49-F238E27FC236}">
                <a16:creationId xmlns:a16="http://schemas.microsoft.com/office/drawing/2014/main" id="{D54D6A34-1460-4520-8C0D-DD4EA95FD346}"/>
              </a:ext>
            </a:extLst>
          </p:cNvPr>
          <p:cNvCxnSpPr>
            <a:cxnSpLocks/>
            <a:endCxn id="16" idx="1"/>
          </p:cNvCxnSpPr>
          <p:nvPr/>
        </p:nvCxnSpPr>
        <p:spPr bwMode="auto">
          <a:xfrm flipV="1">
            <a:off x="4015199" y="5883726"/>
            <a:ext cx="772825" cy="6414"/>
          </a:xfrm>
          <a:prstGeom prst="straightConnector1">
            <a:avLst/>
          </a:prstGeom>
          <a:noFill/>
          <a:ln w="38100" cap="flat" cmpd="sng" algn="ctr">
            <a:solidFill>
              <a:schemeClr val="bg2"/>
            </a:solidFill>
            <a:prstDash val="solid"/>
            <a:round/>
            <a:headEnd type="none" w="med" len="med"/>
            <a:tailEnd type="arrow" w="med" len="med"/>
          </a:ln>
          <a:effectLst/>
        </p:spPr>
      </p:cxnSp>
      <p:cxnSp>
        <p:nvCxnSpPr>
          <p:cNvPr id="25" name="直接箭头连接符 24">
            <a:extLst>
              <a:ext uri="{FF2B5EF4-FFF2-40B4-BE49-F238E27FC236}">
                <a16:creationId xmlns:a16="http://schemas.microsoft.com/office/drawing/2014/main" id="{9B3D7B16-A28D-4B1C-8F9B-5BEC60F91218}"/>
              </a:ext>
            </a:extLst>
          </p:cNvPr>
          <p:cNvCxnSpPr>
            <a:cxnSpLocks/>
          </p:cNvCxnSpPr>
          <p:nvPr/>
        </p:nvCxnSpPr>
        <p:spPr bwMode="auto">
          <a:xfrm flipV="1">
            <a:off x="6132356" y="5918502"/>
            <a:ext cx="649155" cy="2920"/>
          </a:xfrm>
          <a:prstGeom prst="straightConnector1">
            <a:avLst/>
          </a:prstGeom>
          <a:noFill/>
          <a:ln w="38100" cap="flat" cmpd="sng" algn="ctr">
            <a:solidFill>
              <a:schemeClr val="bg2"/>
            </a:solidFill>
            <a:prstDash val="solid"/>
            <a:round/>
            <a:headEnd type="none" w="med" len="med"/>
            <a:tailEnd type="arrow" w="med" len="med"/>
          </a:ln>
          <a:effectLst/>
        </p:spPr>
      </p:cxnSp>
      <p:sp>
        <p:nvSpPr>
          <p:cNvPr id="26" name="矩形 25">
            <a:extLst>
              <a:ext uri="{FF2B5EF4-FFF2-40B4-BE49-F238E27FC236}">
                <a16:creationId xmlns:a16="http://schemas.microsoft.com/office/drawing/2014/main" id="{8D189E46-1B4F-41E2-853B-DC073132980D}"/>
              </a:ext>
            </a:extLst>
          </p:cNvPr>
          <p:cNvSpPr/>
          <p:nvPr/>
        </p:nvSpPr>
        <p:spPr>
          <a:xfrm>
            <a:off x="2302208" y="0"/>
            <a:ext cx="4539583"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en-US" altLang="zh-CN" sz="4000" dirty="0" err="1">
                <a:solidFill>
                  <a:srgbClr val="006699"/>
                </a:solidFill>
                <a:effectLst>
                  <a:outerShdw blurRad="38100" dist="38100" dir="2700000" algn="tl">
                    <a:srgbClr val="000000">
                      <a:alpha val="43137"/>
                    </a:srgbClr>
                  </a:outerShdw>
                </a:effectLst>
                <a:latin typeface="+mj-lt"/>
                <a:ea typeface="MS PGothic" pitchFamily="34" charset="-128"/>
                <a:cs typeface="+mj-cs"/>
              </a:rPr>
              <a:t>xv6</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存储页面表</a:t>
            </a:r>
          </a:p>
        </p:txBody>
      </p:sp>
      <p:grpSp>
        <p:nvGrpSpPr>
          <p:cNvPr id="27" name="组合 26">
            <a:extLst>
              <a:ext uri="{FF2B5EF4-FFF2-40B4-BE49-F238E27FC236}">
                <a16:creationId xmlns:a16="http://schemas.microsoft.com/office/drawing/2014/main" id="{17DC1D7A-A5B4-4F8F-819C-AB780C91D328}"/>
              </a:ext>
            </a:extLst>
          </p:cNvPr>
          <p:cNvGrpSpPr/>
          <p:nvPr/>
        </p:nvGrpSpPr>
        <p:grpSpPr>
          <a:xfrm>
            <a:off x="2670087" y="4354745"/>
            <a:ext cx="1328571" cy="1775186"/>
            <a:chOff x="3995936" y="4625614"/>
            <a:chExt cx="1670650" cy="1333526"/>
          </a:xfrm>
        </p:grpSpPr>
        <p:sp>
          <p:nvSpPr>
            <p:cNvPr id="28" name="矩形 27">
              <a:extLst>
                <a:ext uri="{FF2B5EF4-FFF2-40B4-BE49-F238E27FC236}">
                  <a16:creationId xmlns:a16="http://schemas.microsoft.com/office/drawing/2014/main" id="{376009B2-B461-4A6E-A4C5-1553E50286BD}"/>
                </a:ext>
              </a:extLst>
            </p:cNvPr>
            <p:cNvSpPr/>
            <p:nvPr/>
          </p:nvSpPr>
          <p:spPr bwMode="auto">
            <a:xfrm>
              <a:off x="3995936" y="4625614"/>
              <a:ext cx="1670650" cy="963625"/>
            </a:xfrm>
            <a:prstGeom prst="rect">
              <a:avLst/>
            </a:prstGeom>
            <a:solidFill>
              <a:schemeClr val="accent2"/>
            </a:solidFill>
            <a:ln w="9525" cap="flat" cmpd="sng" algn="ctr">
              <a:solidFill>
                <a:schemeClr val="bg2"/>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9" name="矩形 28">
              <a:extLst>
                <a:ext uri="{FF2B5EF4-FFF2-40B4-BE49-F238E27FC236}">
                  <a16:creationId xmlns:a16="http://schemas.microsoft.com/office/drawing/2014/main" id="{D714DAB5-EC2B-4065-AA7B-78925C74ABAA}"/>
                </a:ext>
              </a:extLst>
            </p:cNvPr>
            <p:cNvSpPr/>
            <p:nvPr/>
          </p:nvSpPr>
          <p:spPr bwMode="auto">
            <a:xfrm>
              <a:off x="3995936" y="5589240"/>
              <a:ext cx="1670650" cy="369900"/>
            </a:xfrm>
            <a:prstGeom prst="rect">
              <a:avLst/>
            </a:prstGeom>
            <a:solidFill>
              <a:schemeClr val="tx2">
                <a:lumMod val="20000"/>
                <a:lumOff val="80000"/>
              </a:schemeClr>
            </a:solid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0" defTabSz="914400" rtl="0" eaLnBrk="0" fontAlgn="base" latinLnBrk="0" hangingPunct="0">
                <a:spcBef>
                  <a:spcPts val="0"/>
                </a:spcBef>
                <a:spcAft>
                  <a:spcPct val="0"/>
                </a:spcAft>
                <a:buClr>
                  <a:schemeClr val="folHlink"/>
                </a:buClr>
                <a:buSzPct val="75000"/>
                <a:buFont typeface="Monotype Sorts" pitchFamily="2" charset="2"/>
                <a:buNone/>
                <a:tabLst/>
              </a:pPr>
              <a:r>
                <a:rPr kumimoji="1" lang="en-US" altLang="zh-CN"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next</a:t>
              </a:r>
              <a:endParaRPr kumimoji="1" lang="zh-CN" altLang="en-US"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34" name="组合 33">
            <a:extLst>
              <a:ext uri="{FF2B5EF4-FFF2-40B4-BE49-F238E27FC236}">
                <a16:creationId xmlns:a16="http://schemas.microsoft.com/office/drawing/2014/main" id="{4259DDD2-F5FB-4D72-BEAE-6510BF1D7860}"/>
              </a:ext>
            </a:extLst>
          </p:cNvPr>
          <p:cNvGrpSpPr/>
          <p:nvPr/>
        </p:nvGrpSpPr>
        <p:grpSpPr>
          <a:xfrm>
            <a:off x="6732588" y="4354745"/>
            <a:ext cx="1328571" cy="1775186"/>
            <a:chOff x="3995936" y="4625614"/>
            <a:chExt cx="1670650" cy="1333526"/>
          </a:xfrm>
        </p:grpSpPr>
        <p:sp>
          <p:nvSpPr>
            <p:cNvPr id="35" name="矩形 34">
              <a:extLst>
                <a:ext uri="{FF2B5EF4-FFF2-40B4-BE49-F238E27FC236}">
                  <a16:creationId xmlns:a16="http://schemas.microsoft.com/office/drawing/2014/main" id="{DA601B86-6631-4133-8B89-CB16357FD768}"/>
                </a:ext>
              </a:extLst>
            </p:cNvPr>
            <p:cNvSpPr/>
            <p:nvPr/>
          </p:nvSpPr>
          <p:spPr bwMode="auto">
            <a:xfrm>
              <a:off x="3995936" y="4625614"/>
              <a:ext cx="1670650" cy="963625"/>
            </a:xfrm>
            <a:prstGeom prst="rect">
              <a:avLst/>
            </a:prstGeom>
            <a:solidFill>
              <a:schemeClr val="accent2"/>
            </a:solidFill>
            <a:ln w="9525" cap="flat" cmpd="sng" algn="ctr">
              <a:solidFill>
                <a:schemeClr val="bg2"/>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6" name="矩形 35">
              <a:extLst>
                <a:ext uri="{FF2B5EF4-FFF2-40B4-BE49-F238E27FC236}">
                  <a16:creationId xmlns:a16="http://schemas.microsoft.com/office/drawing/2014/main" id="{34B8CE67-49D2-4D0C-9F7D-E202E3B62CD5}"/>
                </a:ext>
              </a:extLst>
            </p:cNvPr>
            <p:cNvSpPr/>
            <p:nvPr/>
          </p:nvSpPr>
          <p:spPr bwMode="auto">
            <a:xfrm>
              <a:off x="3995936" y="5589240"/>
              <a:ext cx="1670650" cy="369900"/>
            </a:xfrm>
            <a:prstGeom prst="rect">
              <a:avLst/>
            </a:prstGeom>
            <a:solidFill>
              <a:schemeClr val="tx2">
                <a:lumMod val="20000"/>
                <a:lumOff val="80000"/>
              </a:schemeClr>
            </a:solid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457200" marR="0" indent="0" defTabSz="914400" rtl="0" eaLnBrk="0" fontAlgn="base" latinLnBrk="0" hangingPunct="0">
                <a:spcBef>
                  <a:spcPts val="0"/>
                </a:spcBef>
                <a:spcAft>
                  <a:spcPct val="0"/>
                </a:spcAft>
                <a:buClr>
                  <a:schemeClr val="folHlink"/>
                </a:buClr>
                <a:buSzPct val="75000"/>
                <a:buFont typeface="Monotype Sorts" pitchFamily="2" charset="2"/>
                <a:buNone/>
                <a:tabLst/>
              </a:pPr>
              <a:r>
                <a:rPr kumimoji="1" lang="en-US" altLang="zh-CN"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next</a:t>
              </a:r>
              <a:endParaRPr kumimoji="1" lang="zh-CN" altLang="en-US" sz="24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2632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14"/>
          <p:cNvSpPr>
            <a:spLocks noGrp="1" noRot="1" noChangeArrowheads="1"/>
          </p:cNvSpPr>
          <p:nvPr>
            <p:ph type="body" idx="1"/>
          </p:nvPr>
        </p:nvSpPr>
        <p:spPr>
          <a:xfrm>
            <a:off x="0" y="1011448"/>
            <a:ext cx="8892480" cy="761368"/>
          </a:xfrm>
          <a:noFill/>
        </p:spPr>
        <p:txBody>
          <a:bodyPr/>
          <a:lstStyle/>
          <a:p>
            <a:pPr marL="0" indent="0" eaLnBrk="1" hangingPunct="1">
              <a:buFont typeface="Symbol" panose="05050102010706020507" pitchFamily="18" charset="2"/>
              <a:buNone/>
            </a:pPr>
            <a:r>
              <a:rPr lang="en-US" altLang="zh-CN" sz="4000" b="1" kern="1200" dirty="0">
                <a:solidFill>
                  <a:schemeClr val="bg1"/>
                </a:solidFill>
                <a:latin typeface="+mj-lt"/>
                <a:ea typeface="楷体" panose="02010609060101010101" pitchFamily="49" charset="-122"/>
              </a:rPr>
              <a:t>MMU</a:t>
            </a:r>
            <a:r>
              <a:rPr lang="en-US" altLang="zh-CN" b="1" dirty="0">
                <a:solidFill>
                  <a:schemeClr val="bg2"/>
                </a:solidFill>
                <a:ea typeface="楷体_GB2312" pitchFamily="49" charset="-122"/>
              </a:rPr>
              <a:t>(</a:t>
            </a:r>
            <a:r>
              <a:rPr lang="en-US" altLang="zh-CN" b="1" kern="1200" dirty="0">
                <a:solidFill>
                  <a:schemeClr val="bg1"/>
                </a:solidFill>
                <a:latin typeface="+mj-lt"/>
                <a:ea typeface="楷体" panose="02010609060101010101" pitchFamily="49" charset="-122"/>
              </a:rPr>
              <a:t>M</a:t>
            </a:r>
            <a:r>
              <a:rPr lang="en-US" altLang="zh-CN" b="1" dirty="0">
                <a:solidFill>
                  <a:schemeClr val="bg2"/>
                </a:solidFill>
                <a:ea typeface="楷体_GB2312" pitchFamily="49" charset="-122"/>
              </a:rPr>
              <a:t>emory </a:t>
            </a:r>
            <a:r>
              <a:rPr lang="en-US" altLang="zh-CN" b="1" kern="1200" dirty="0">
                <a:solidFill>
                  <a:schemeClr val="bg1"/>
                </a:solidFill>
                <a:latin typeface="+mj-lt"/>
                <a:ea typeface="楷体" panose="02010609060101010101" pitchFamily="49" charset="-122"/>
              </a:rPr>
              <a:t>M</a:t>
            </a:r>
            <a:r>
              <a:rPr lang="en-US" altLang="zh-CN" b="1" dirty="0">
                <a:solidFill>
                  <a:schemeClr val="bg2"/>
                </a:solidFill>
                <a:ea typeface="楷体_GB2312" pitchFamily="49" charset="-122"/>
              </a:rPr>
              <a:t>anagement </a:t>
            </a:r>
            <a:r>
              <a:rPr lang="en-US" altLang="zh-CN" b="1" kern="1200" dirty="0">
                <a:solidFill>
                  <a:schemeClr val="bg1"/>
                </a:solidFill>
                <a:latin typeface="+mj-lt"/>
                <a:ea typeface="楷体" panose="02010609060101010101" pitchFamily="49" charset="-122"/>
              </a:rPr>
              <a:t>U</a:t>
            </a:r>
            <a:r>
              <a:rPr lang="en-US" altLang="zh-CN" b="1" dirty="0">
                <a:solidFill>
                  <a:schemeClr val="bg2"/>
                </a:solidFill>
                <a:ea typeface="楷体_GB2312" pitchFamily="49" charset="-122"/>
              </a:rPr>
              <a:t>nit) </a:t>
            </a:r>
            <a:r>
              <a:rPr lang="zh-CN" altLang="en-US" sz="4000" b="1" dirty="0">
                <a:solidFill>
                  <a:schemeClr val="bg2"/>
                </a:solidFill>
                <a:ea typeface="楷体_GB2312" pitchFamily="49" charset="-122"/>
              </a:rPr>
              <a:t>自动完成</a:t>
            </a:r>
            <a:r>
              <a:rPr lang="zh-CN" altLang="en-US" b="1" dirty="0">
                <a:solidFill>
                  <a:schemeClr val="bg2"/>
                </a:solidFill>
                <a:ea typeface="楷体_GB2312" pitchFamily="49" charset="-122"/>
              </a:rPr>
              <a:t>。</a:t>
            </a:r>
          </a:p>
        </p:txBody>
      </p:sp>
      <p:sp>
        <p:nvSpPr>
          <p:cNvPr id="10" name="Rectangle 3">
            <a:extLst>
              <a:ext uri="{FF2B5EF4-FFF2-40B4-BE49-F238E27FC236}">
                <a16:creationId xmlns:a16="http://schemas.microsoft.com/office/drawing/2014/main" id="{F0EEC6BC-5D1E-4908-921B-BA919CAA8BCE}"/>
              </a:ext>
            </a:extLst>
          </p:cNvPr>
          <p:cNvSpPr txBox="1">
            <a:spLocks noChangeArrowheads="1"/>
          </p:cNvSpPr>
          <p:nvPr/>
        </p:nvSpPr>
        <p:spPr>
          <a:xfrm>
            <a:off x="1079612" y="9993"/>
            <a:ext cx="6984776"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7.5.3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页式管理的地址映射</a:t>
            </a:r>
          </a:p>
        </p:txBody>
      </p:sp>
      <p:sp>
        <p:nvSpPr>
          <p:cNvPr id="11" name="Text Box 2">
            <a:extLst>
              <a:ext uri="{FF2B5EF4-FFF2-40B4-BE49-F238E27FC236}">
                <a16:creationId xmlns:a16="http://schemas.microsoft.com/office/drawing/2014/main" id="{EF56F59C-540C-41B5-81DF-12271D0167C1}"/>
              </a:ext>
            </a:extLst>
          </p:cNvPr>
          <p:cNvSpPr txBox="1">
            <a:spLocks noChangeArrowheads="1"/>
          </p:cNvSpPr>
          <p:nvPr/>
        </p:nvSpPr>
        <p:spPr bwMode="auto">
          <a:xfrm>
            <a:off x="119769" y="2291765"/>
            <a:ext cx="8816975" cy="2274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74650" indent="-37465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页表基地址寄存器</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Page-table base register</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PTBR</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rgbClr val="FF0000"/>
                </a:solidFill>
                <a:effectLst>
                  <a:outerShdw blurRad="38100" dist="38100" dir="2700000" algn="tl">
                    <a:srgbClr val="000000"/>
                  </a:outerShdw>
                </a:effectLst>
                <a:latin typeface="+mj-lt"/>
                <a:ea typeface="楷体" panose="02010609060101010101" pitchFamily="49" charset="-122"/>
              </a:rPr>
              <a:t>当前进程</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页表的始址；</a:t>
            </a:r>
          </a:p>
          <a:p>
            <a:pPr marL="355600" lvl="2" indent="-355600" defTabSz="355600">
              <a:spcBef>
                <a:spcPts val="60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页表长度寄存器</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Page-table length register</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PTLR</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页表的大小。</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9213618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dissolve">
                                      <p:cBhvr>
                                        <p:cTn id="12" dur="500"/>
                                        <p:tgtEl>
                                          <p:spTgt spid="11">
                                            <p:txEl>
                                              <p:pRg st="1" end="1"/>
                                            </p:txEl>
                                          </p:spTgt>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3" name="Object 1024"/>
          <p:cNvGraphicFramePr>
            <a:graphicFrameLocks noChangeAspect="1"/>
          </p:cNvGraphicFramePr>
          <p:nvPr/>
        </p:nvGraphicFramePr>
        <p:xfrm>
          <a:off x="304800" y="609600"/>
          <a:ext cx="8610600" cy="5221288"/>
        </p:xfrm>
        <a:graphic>
          <a:graphicData uri="http://schemas.openxmlformats.org/presentationml/2006/ole">
            <mc:AlternateContent xmlns:mc="http://schemas.openxmlformats.org/markup-compatibility/2006">
              <mc:Choice xmlns:v="urn:schemas-microsoft-com:vml" Requires="v">
                <p:oleObj spid="_x0000_s2488" name="VISIO" r:id="rId3" imgW="6919560" imgH="4196880" progId="Visio.Drawing.6">
                  <p:embed/>
                </p:oleObj>
              </mc:Choice>
              <mc:Fallback>
                <p:oleObj name="VISIO" r:id="rId3" imgW="6919560" imgH="4196880" progId="Visio.Drawing.6">
                  <p:embed/>
                  <p:pic>
                    <p:nvPicPr>
                      <p:cNvPr id="27653"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609600"/>
                        <a:ext cx="8610600"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4" name="Text Box 4"/>
          <p:cNvSpPr txBox="1">
            <a:spLocks noChangeArrowheads="1"/>
          </p:cNvSpPr>
          <p:nvPr/>
        </p:nvSpPr>
        <p:spPr bwMode="auto">
          <a:xfrm>
            <a:off x="2423015" y="0"/>
            <a:ext cx="429797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页式地址映射过程</a:t>
            </a:r>
          </a:p>
        </p:txBody>
      </p:sp>
      <p:sp>
        <p:nvSpPr>
          <p:cNvPr id="27655" name="Text Box 5"/>
          <p:cNvSpPr txBox="1">
            <a:spLocks noChangeArrowheads="1"/>
          </p:cNvSpPr>
          <p:nvPr/>
        </p:nvSpPr>
        <p:spPr bwMode="auto">
          <a:xfrm>
            <a:off x="4826000" y="8096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a:solidFill>
                  <a:srgbClr val="FF0000"/>
                </a:solidFill>
              </a:rPr>
              <a:t>叠加</a:t>
            </a:r>
          </a:p>
        </p:txBody>
      </p:sp>
      <p:sp>
        <p:nvSpPr>
          <p:cNvPr id="8" name="Text Box 7"/>
          <p:cNvSpPr txBox="1">
            <a:spLocks noChangeArrowheads="1"/>
          </p:cNvSpPr>
          <p:nvPr/>
        </p:nvSpPr>
        <p:spPr bwMode="auto">
          <a:xfrm>
            <a:off x="3071813" y="5429250"/>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0000"/>
                </a:solidFill>
              </a:rPr>
              <a:t>需访问几次内存？</a:t>
            </a:r>
          </a:p>
        </p:txBody>
      </p:sp>
      <p:sp>
        <p:nvSpPr>
          <p:cNvPr id="27657" name="Line 8"/>
          <p:cNvSpPr>
            <a:spLocks noChangeShapeType="1"/>
          </p:cNvSpPr>
          <p:nvPr/>
        </p:nvSpPr>
        <p:spPr bwMode="auto">
          <a:xfrm>
            <a:off x="361950" y="1177925"/>
            <a:ext cx="14652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7660" name="矩形标注 1"/>
          <p:cNvSpPr>
            <a:spLocks noChangeArrowheads="1"/>
          </p:cNvSpPr>
          <p:nvPr/>
        </p:nvSpPr>
        <p:spPr bwMode="auto">
          <a:xfrm>
            <a:off x="228600" y="3056731"/>
            <a:ext cx="2185988" cy="447675"/>
          </a:xfrm>
          <a:prstGeom prst="wedgeRectCallout">
            <a:avLst>
              <a:gd name="adj1" fmla="val -7460"/>
              <a:gd name="adj2" fmla="val -399279"/>
            </a:avLst>
          </a:prstGeom>
          <a:solidFill>
            <a:srgbClr val="E6CDFF"/>
          </a:solidFill>
          <a:ln w="12700" cap="sq" algn="ctr">
            <a:solidFill>
              <a:schemeClr val="tx1"/>
            </a:solidFill>
            <a:round/>
            <a:headEnd type="none" w="sm" len="sm"/>
            <a:tailEnd type="none" w="sm" len="sm"/>
          </a:ln>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chemeClr val="bg2"/>
                </a:solidFill>
              </a:rPr>
              <a:t>硬件自动分离</a:t>
            </a:r>
          </a:p>
        </p:txBody>
      </p:sp>
      <p:sp>
        <p:nvSpPr>
          <p:cNvPr id="13" name="Text Box 4">
            <a:extLst>
              <a:ext uri="{FF2B5EF4-FFF2-40B4-BE49-F238E27FC236}">
                <a16:creationId xmlns:a16="http://schemas.microsoft.com/office/drawing/2014/main" id="{40E7F8A3-B895-42CB-913D-F72A570449E0}"/>
              </a:ext>
            </a:extLst>
          </p:cNvPr>
          <p:cNvSpPr txBox="1">
            <a:spLocks noChangeArrowheads="1"/>
          </p:cNvSpPr>
          <p:nvPr/>
        </p:nvSpPr>
        <p:spPr bwMode="auto">
          <a:xfrm>
            <a:off x="467544" y="6370180"/>
            <a:ext cx="78488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dirty="0">
                <a:solidFill>
                  <a:schemeClr val="bg2"/>
                </a:solidFill>
              </a:rPr>
              <a:t>William Stallings, Operating Systems: Internals and Design Principles</a:t>
            </a:r>
            <a:endParaRPr lang="zh-CN" altLang="en-US" sz="2000" dirty="0">
              <a:solidFill>
                <a:schemeClr val="bg2"/>
              </a:solidFill>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64219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1+#ppt_w/2"/>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xfrm>
            <a:off x="6623547" y="7140575"/>
            <a:ext cx="1905000" cy="1968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86832BE2-8B81-40CA-A03C-6C3F46A6CC15}" type="slidenum">
              <a:rPr kumimoji="0" lang="en-US" altLang="zh-CN" sz="1400" smtClean="0"/>
              <a:pPr>
                <a:spcBef>
                  <a:spcPct val="0"/>
                </a:spcBef>
                <a:buClrTx/>
                <a:buSzTx/>
                <a:buFontTx/>
                <a:buNone/>
              </a:pPr>
              <a:t>71</a:t>
            </a:fld>
            <a:endParaRPr kumimoji="0" lang="en-US" altLang="zh-CN" sz="1400"/>
          </a:p>
        </p:txBody>
      </p:sp>
      <p:pic>
        <p:nvPicPr>
          <p:cNvPr id="28675"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909" y="633412"/>
            <a:ext cx="8207375" cy="61182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8677" name="Text Box 6"/>
          <p:cNvSpPr txBox="1">
            <a:spLocks noChangeArrowheads="1"/>
          </p:cNvSpPr>
          <p:nvPr/>
        </p:nvSpPr>
        <p:spPr bwMode="auto">
          <a:xfrm>
            <a:off x="247932" y="5656695"/>
            <a:ext cx="5256213" cy="867930"/>
          </a:xfrm>
          <a:prstGeom prst="rect">
            <a:avLst/>
          </a:prstGeom>
          <a:solidFill>
            <a:schemeClr val="tx1">
              <a:lumMod val="85000"/>
            </a:schemeClr>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ClrTx/>
              <a:buSzTx/>
              <a:buFontTx/>
              <a:buNone/>
            </a:pPr>
            <a:r>
              <a:rPr lang="zh-CN" altLang="en-US" sz="2400" dirty="0">
                <a:solidFill>
                  <a:schemeClr val="bg2"/>
                </a:solidFill>
                <a:latin typeface="楷体_GB2312" pitchFamily="49" charset="-122"/>
                <a:ea typeface="楷体_GB2312" pitchFamily="49" charset="-122"/>
              </a:rPr>
              <a:t>设每个</a:t>
            </a:r>
            <a:r>
              <a:rPr lang="zh-CN" altLang="en-US" sz="2400" dirty="0">
                <a:solidFill>
                  <a:srgbClr val="FF0000"/>
                </a:solidFill>
                <a:latin typeface="楷体_GB2312" pitchFamily="49" charset="-122"/>
                <a:ea typeface="楷体_GB2312" pitchFamily="49" charset="-122"/>
              </a:rPr>
              <a:t>页面长度为</a:t>
            </a:r>
            <a:r>
              <a:rPr lang="en-US" altLang="zh-CN" sz="2400" dirty="0">
                <a:solidFill>
                  <a:srgbClr val="FF0000"/>
                </a:solidFill>
                <a:latin typeface="+mn-lt"/>
                <a:ea typeface="楷体_GB2312" pitchFamily="49" charset="-122"/>
              </a:rPr>
              <a:t>1K</a:t>
            </a:r>
            <a:r>
              <a:rPr lang="zh-CN" altLang="en-US" sz="2400" dirty="0">
                <a:solidFill>
                  <a:schemeClr val="bg2"/>
                </a:solidFill>
                <a:latin typeface="楷体_GB2312" pitchFamily="49" charset="-122"/>
                <a:ea typeface="楷体_GB2312" pitchFamily="49" charset="-122"/>
              </a:rPr>
              <a:t>，</a:t>
            </a:r>
          </a:p>
          <a:p>
            <a:pPr eaLnBrk="1" hangingPunct="1">
              <a:spcBef>
                <a:spcPct val="10000"/>
              </a:spcBef>
              <a:buClrTx/>
              <a:buSzTx/>
              <a:buFontTx/>
              <a:buNone/>
            </a:pPr>
            <a:r>
              <a:rPr lang="zh-CN" altLang="en-US" sz="2400" dirty="0">
                <a:solidFill>
                  <a:schemeClr val="bg2"/>
                </a:solidFill>
                <a:latin typeface="楷体_GB2312" pitchFamily="49" charset="-122"/>
                <a:ea typeface="楷体_GB2312" pitchFamily="49" charset="-122"/>
              </a:rPr>
              <a:t>指令 </a:t>
            </a:r>
            <a:r>
              <a:rPr lang="en-US" altLang="zh-CN" sz="2400" dirty="0">
                <a:solidFill>
                  <a:schemeClr val="bg2"/>
                </a:solidFill>
                <a:ea typeface="楷体_GB2312" pitchFamily="49" charset="-122"/>
              </a:rPr>
              <a:t>LOAD 1</a:t>
            </a:r>
            <a:r>
              <a:rPr lang="zh-CN" altLang="en-US" sz="2400" dirty="0">
                <a:solidFill>
                  <a:schemeClr val="bg2"/>
                </a:solidFill>
                <a:ea typeface="楷体_GB2312" pitchFamily="49" charset="-122"/>
              </a:rPr>
              <a:t>，</a:t>
            </a:r>
            <a:r>
              <a:rPr lang="en-US" altLang="zh-CN" sz="2400" dirty="0">
                <a:solidFill>
                  <a:schemeClr val="bg2"/>
                </a:solidFill>
                <a:ea typeface="楷体_GB2312" pitchFamily="49" charset="-122"/>
              </a:rPr>
              <a:t>2500 </a:t>
            </a:r>
            <a:r>
              <a:rPr lang="zh-CN" altLang="en-US" sz="2400" dirty="0">
                <a:solidFill>
                  <a:schemeClr val="bg2"/>
                </a:solidFill>
                <a:ea typeface="楷体_GB2312" pitchFamily="49" charset="-122"/>
              </a:rPr>
              <a:t>的虚地址为</a:t>
            </a:r>
            <a:r>
              <a:rPr lang="en-US" altLang="zh-CN" sz="2400" dirty="0">
                <a:solidFill>
                  <a:schemeClr val="bg2"/>
                </a:solidFill>
                <a:ea typeface="楷体_GB2312" pitchFamily="49" charset="-122"/>
              </a:rPr>
              <a:t>100</a:t>
            </a:r>
          </a:p>
        </p:txBody>
      </p:sp>
      <p:sp>
        <p:nvSpPr>
          <p:cNvPr id="688135" name="Oval 7"/>
          <p:cNvSpPr>
            <a:spLocks noChangeArrowheads="1"/>
          </p:cNvSpPr>
          <p:nvPr/>
        </p:nvSpPr>
        <p:spPr bwMode="auto">
          <a:xfrm>
            <a:off x="4860627" y="3806031"/>
            <a:ext cx="935038" cy="433388"/>
          </a:xfrm>
          <a:prstGeom prst="ellipse">
            <a:avLst/>
          </a:prstGeom>
          <a:noFill/>
          <a:ln w="57150" cap="sq">
            <a:solidFill>
              <a:schemeClr val="accent2">
                <a:lumMod val="50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688136" name="Line 8"/>
          <p:cNvSpPr>
            <a:spLocks noChangeShapeType="1"/>
          </p:cNvSpPr>
          <p:nvPr/>
        </p:nvSpPr>
        <p:spPr bwMode="auto">
          <a:xfrm>
            <a:off x="4283572" y="2900363"/>
            <a:ext cx="144462" cy="2160587"/>
          </a:xfrm>
          <a:prstGeom prst="line">
            <a:avLst/>
          </a:prstGeom>
          <a:noFill/>
          <a:ln w="38100" cap="sq">
            <a:solidFill>
              <a:srgbClr val="00CC99"/>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88137" name="Line 9"/>
          <p:cNvSpPr>
            <a:spLocks noChangeShapeType="1"/>
          </p:cNvSpPr>
          <p:nvPr/>
        </p:nvSpPr>
        <p:spPr bwMode="auto">
          <a:xfrm>
            <a:off x="1222872" y="3908425"/>
            <a:ext cx="3024187" cy="1152525"/>
          </a:xfrm>
          <a:prstGeom prst="line">
            <a:avLst/>
          </a:prstGeom>
          <a:noFill/>
          <a:ln w="38100" cap="sq">
            <a:solidFill>
              <a:srgbClr val="00CC99"/>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88138" name="Text Box 10"/>
          <p:cNvSpPr txBox="1">
            <a:spLocks noChangeArrowheads="1"/>
          </p:cNvSpPr>
          <p:nvPr/>
        </p:nvSpPr>
        <p:spPr bwMode="auto">
          <a:xfrm>
            <a:off x="3780334" y="4987925"/>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7030A0"/>
                </a:solidFill>
              </a:rPr>
              <a:t>2048+100</a:t>
            </a:r>
          </a:p>
        </p:txBody>
      </p:sp>
      <p:sp>
        <p:nvSpPr>
          <p:cNvPr id="688140" name="Oval 12"/>
          <p:cNvSpPr>
            <a:spLocks noChangeArrowheads="1"/>
          </p:cNvSpPr>
          <p:nvPr/>
        </p:nvSpPr>
        <p:spPr bwMode="auto">
          <a:xfrm>
            <a:off x="2196009" y="1531938"/>
            <a:ext cx="504825" cy="719137"/>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1</a:t>
            </a:r>
          </a:p>
        </p:txBody>
      </p:sp>
      <p:sp>
        <p:nvSpPr>
          <p:cNvPr id="688141" name="Oval 13"/>
          <p:cNvSpPr>
            <a:spLocks noChangeArrowheads="1"/>
          </p:cNvSpPr>
          <p:nvPr/>
        </p:nvSpPr>
        <p:spPr bwMode="auto">
          <a:xfrm>
            <a:off x="4356597" y="3692525"/>
            <a:ext cx="504825" cy="719138"/>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2</a:t>
            </a:r>
          </a:p>
        </p:txBody>
      </p:sp>
      <p:sp>
        <p:nvSpPr>
          <p:cNvPr id="688142" name="Oval 14"/>
          <p:cNvSpPr>
            <a:spLocks noChangeArrowheads="1"/>
          </p:cNvSpPr>
          <p:nvPr/>
        </p:nvSpPr>
        <p:spPr bwMode="auto">
          <a:xfrm>
            <a:off x="2591297" y="3836988"/>
            <a:ext cx="504825" cy="719137"/>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3</a:t>
            </a:r>
          </a:p>
        </p:txBody>
      </p:sp>
      <p:sp>
        <p:nvSpPr>
          <p:cNvPr id="688143" name="Line 15"/>
          <p:cNvSpPr>
            <a:spLocks noChangeShapeType="1"/>
          </p:cNvSpPr>
          <p:nvPr/>
        </p:nvSpPr>
        <p:spPr bwMode="auto">
          <a:xfrm flipV="1">
            <a:off x="5075734" y="4340225"/>
            <a:ext cx="576263" cy="792163"/>
          </a:xfrm>
          <a:prstGeom prst="line">
            <a:avLst/>
          </a:prstGeom>
          <a:noFill/>
          <a:ln w="28575" cap="sq">
            <a:solidFill>
              <a:srgbClr val="00CC99"/>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8144" name="Oval 16"/>
          <p:cNvSpPr>
            <a:spLocks noChangeArrowheads="1"/>
          </p:cNvSpPr>
          <p:nvPr/>
        </p:nvSpPr>
        <p:spPr bwMode="auto">
          <a:xfrm>
            <a:off x="5303624" y="4701381"/>
            <a:ext cx="504825" cy="719138"/>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4</a:t>
            </a:r>
          </a:p>
        </p:txBody>
      </p:sp>
      <p:sp>
        <p:nvSpPr>
          <p:cNvPr id="688148" name="AutoShape 20"/>
          <p:cNvSpPr>
            <a:spLocks/>
          </p:cNvSpPr>
          <p:nvPr/>
        </p:nvSpPr>
        <p:spPr bwMode="auto">
          <a:xfrm>
            <a:off x="141784" y="3187700"/>
            <a:ext cx="1876425" cy="865188"/>
          </a:xfrm>
          <a:prstGeom prst="borderCallout1">
            <a:avLst>
              <a:gd name="adj1" fmla="val 13213"/>
              <a:gd name="adj2" fmla="val 104060"/>
              <a:gd name="adj3" fmla="val -53759"/>
              <a:gd name="adj4" fmla="val 138069"/>
            </a:avLst>
          </a:prstGeom>
          <a:solidFill>
            <a:schemeClr val="tx1">
              <a:lumMod val="85000"/>
            </a:schemeClr>
          </a:solidFill>
          <a:ln w="28575" cap="sq">
            <a:solidFill>
              <a:schemeClr val="bg2"/>
            </a:solidFill>
            <a:miter lim="800000"/>
            <a:headEnd type="none" w="sm" len="sm"/>
            <a:tailEnd type="none" w="sm" len="sm"/>
          </a:ln>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7030A0"/>
                </a:solidFill>
              </a:rPr>
              <a:t>100/1024=0  </a:t>
            </a:r>
          </a:p>
          <a:p>
            <a:pPr eaLnBrk="1" hangingPunct="1">
              <a:spcBef>
                <a:spcPct val="0"/>
              </a:spcBef>
              <a:buClrTx/>
              <a:buSzTx/>
              <a:buFontTx/>
              <a:buNone/>
            </a:pPr>
            <a:r>
              <a:rPr lang="zh-CN" altLang="en-US" sz="2400" dirty="0">
                <a:solidFill>
                  <a:srgbClr val="7030A0"/>
                </a:solidFill>
              </a:rPr>
              <a:t>余 </a:t>
            </a:r>
            <a:r>
              <a:rPr lang="en-US" altLang="zh-CN" sz="2400" dirty="0">
                <a:solidFill>
                  <a:srgbClr val="7030A0"/>
                </a:solidFill>
              </a:rPr>
              <a:t>100</a:t>
            </a:r>
          </a:p>
        </p:txBody>
      </p:sp>
      <p:sp>
        <p:nvSpPr>
          <p:cNvPr id="688149" name="AutoShape 21"/>
          <p:cNvSpPr>
            <a:spLocks noChangeArrowheads="1"/>
          </p:cNvSpPr>
          <p:nvPr/>
        </p:nvSpPr>
        <p:spPr bwMode="auto">
          <a:xfrm>
            <a:off x="5686922" y="2828925"/>
            <a:ext cx="2160587" cy="647700"/>
          </a:xfrm>
          <a:prstGeom prst="wedgeEllipseCallout">
            <a:avLst>
              <a:gd name="adj1" fmla="val -44194"/>
              <a:gd name="adj2" fmla="val 117157"/>
            </a:avLst>
          </a:prstGeom>
          <a:solidFill>
            <a:schemeClr val="accent1"/>
          </a:solidFill>
          <a:ln w="12700" cap="sq">
            <a:solidFill>
              <a:schemeClr val="tx1"/>
            </a:solidFill>
            <a:miter lim="800000"/>
            <a:headEnd type="none" w="sm" len="sm"/>
            <a:tailEnd type="none" w="sm" len="sm"/>
          </a:ln>
        </p:spPr>
        <p:txBody>
          <a:bodyPr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rgbClr val="000000"/>
                </a:solidFill>
                <a:ea typeface="楷体_GB2312" pitchFamily="49" charset="-122"/>
              </a:rPr>
              <a:t>物理地址</a:t>
            </a:r>
          </a:p>
        </p:txBody>
      </p:sp>
      <p:sp>
        <p:nvSpPr>
          <p:cNvPr id="688150" name="Oval 22"/>
          <p:cNvSpPr>
            <a:spLocks noChangeArrowheads="1"/>
          </p:cNvSpPr>
          <p:nvPr/>
        </p:nvSpPr>
        <p:spPr bwMode="auto">
          <a:xfrm>
            <a:off x="4609009" y="6067425"/>
            <a:ext cx="574675" cy="431800"/>
          </a:xfrm>
          <a:prstGeom prst="ellipse">
            <a:avLst/>
          </a:prstGeom>
          <a:noFill/>
          <a:ln w="38100" cap="sq">
            <a:solidFill>
              <a:schemeClr val="accent6">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688151" name="AutoShape 23"/>
          <p:cNvSpPr>
            <a:spLocks noChangeArrowheads="1"/>
          </p:cNvSpPr>
          <p:nvPr/>
        </p:nvSpPr>
        <p:spPr bwMode="auto">
          <a:xfrm>
            <a:off x="1420515" y="4879975"/>
            <a:ext cx="2160588" cy="647700"/>
          </a:xfrm>
          <a:prstGeom prst="wedgeEllipseCallout">
            <a:avLst>
              <a:gd name="adj1" fmla="val 119681"/>
              <a:gd name="adj2" fmla="val 127269"/>
            </a:avLst>
          </a:prstGeom>
          <a:solidFill>
            <a:schemeClr val="accent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rgbClr val="000000"/>
                </a:solidFill>
                <a:ea typeface="楷体_GB2312" pitchFamily="49" charset="-122"/>
              </a:rPr>
              <a:t>逻辑地址</a:t>
            </a:r>
          </a:p>
        </p:txBody>
      </p:sp>
      <p:sp>
        <p:nvSpPr>
          <p:cNvPr id="20" name="Rectangle 5">
            <a:extLst>
              <a:ext uri="{FF2B5EF4-FFF2-40B4-BE49-F238E27FC236}">
                <a16:creationId xmlns:a16="http://schemas.microsoft.com/office/drawing/2014/main" id="{A51C16C4-6A75-4606-8909-0C17228CEEA6}"/>
              </a:ext>
            </a:extLst>
          </p:cNvPr>
          <p:cNvSpPr>
            <a:spLocks noGrp="1" noChangeArrowheads="1"/>
          </p:cNvSpPr>
          <p:nvPr>
            <p:ph type="title"/>
          </p:nvPr>
        </p:nvSpPr>
        <p:spPr>
          <a:xfrm>
            <a:off x="1902290" y="0"/>
            <a:ext cx="5622037" cy="747713"/>
          </a:xfrm>
        </p:spPr>
        <p:txBody>
          <a:body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页式地址映射示例（</a:t>
            </a:r>
            <a:r>
              <a:rPr lang="en-US" altLang="zh-CN"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1</a:t>
            </a: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 </a:t>
            </a:r>
          </a:p>
        </p:txBody>
      </p:sp>
      <p:sp>
        <p:nvSpPr>
          <p:cNvPr id="1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36504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88150"/>
                                        </p:tgtEl>
                                        <p:attrNameLst>
                                          <p:attrName>style.visibility</p:attrName>
                                        </p:attrNameLst>
                                      </p:cBhvr>
                                      <p:to>
                                        <p:strVal val="visible"/>
                                      </p:to>
                                    </p:set>
                                    <p:animEffect transition="in" filter="checkerboard(across)">
                                      <p:cBhvr>
                                        <p:cTn id="7" dur="500"/>
                                        <p:tgtEl>
                                          <p:spTgt spid="6881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88151"/>
                                        </p:tgtEl>
                                        <p:attrNameLst>
                                          <p:attrName>style.visibility</p:attrName>
                                        </p:attrNameLst>
                                      </p:cBhvr>
                                      <p:to>
                                        <p:strVal val="visible"/>
                                      </p:to>
                                    </p:set>
                                    <p:animEffect transition="in" filter="dissolve">
                                      <p:cBhvr>
                                        <p:cTn id="12" dur="500"/>
                                        <p:tgtEl>
                                          <p:spTgt spid="6881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8140"/>
                                        </p:tgtEl>
                                        <p:attrNameLst>
                                          <p:attrName>style.visibility</p:attrName>
                                        </p:attrNameLst>
                                      </p:cBhvr>
                                      <p:to>
                                        <p:strVal val="visible"/>
                                      </p:to>
                                    </p:set>
                                    <p:animEffect transition="in" filter="blinds(horizontal)">
                                      <p:cBhvr>
                                        <p:cTn id="17" dur="500"/>
                                        <p:tgtEl>
                                          <p:spTgt spid="688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88148"/>
                                        </p:tgtEl>
                                        <p:attrNameLst>
                                          <p:attrName>style.visibility</p:attrName>
                                        </p:attrNameLst>
                                      </p:cBhvr>
                                      <p:to>
                                        <p:strVal val="visible"/>
                                      </p:to>
                                    </p:set>
                                    <p:animEffect transition="in" filter="checkerboard(across)">
                                      <p:cBhvr>
                                        <p:cTn id="22" dur="500"/>
                                        <p:tgtEl>
                                          <p:spTgt spid="6881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8136"/>
                                        </p:tgtEl>
                                        <p:attrNameLst>
                                          <p:attrName>style.visibility</p:attrName>
                                        </p:attrNameLst>
                                      </p:cBhvr>
                                      <p:to>
                                        <p:strVal val="visible"/>
                                      </p:to>
                                    </p:set>
                                    <p:animEffect transition="in" filter="blinds(horizontal)">
                                      <p:cBhvr>
                                        <p:cTn id="27" dur="500"/>
                                        <p:tgtEl>
                                          <p:spTgt spid="6881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8141"/>
                                        </p:tgtEl>
                                        <p:attrNameLst>
                                          <p:attrName>style.visibility</p:attrName>
                                        </p:attrNameLst>
                                      </p:cBhvr>
                                      <p:to>
                                        <p:strVal val="visible"/>
                                      </p:to>
                                    </p:set>
                                    <p:animEffect transition="in" filter="blinds(horizontal)">
                                      <p:cBhvr>
                                        <p:cTn id="32" dur="500"/>
                                        <p:tgtEl>
                                          <p:spTgt spid="688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88137"/>
                                        </p:tgtEl>
                                        <p:attrNameLst>
                                          <p:attrName>style.visibility</p:attrName>
                                        </p:attrNameLst>
                                      </p:cBhvr>
                                      <p:to>
                                        <p:strVal val="visible"/>
                                      </p:to>
                                    </p:set>
                                    <p:animEffect transition="in" filter="blinds(horizontal)">
                                      <p:cBhvr>
                                        <p:cTn id="37" dur="500"/>
                                        <p:tgtEl>
                                          <p:spTgt spid="6881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88142"/>
                                        </p:tgtEl>
                                        <p:attrNameLst>
                                          <p:attrName>style.visibility</p:attrName>
                                        </p:attrNameLst>
                                      </p:cBhvr>
                                      <p:to>
                                        <p:strVal val="visible"/>
                                      </p:to>
                                    </p:set>
                                    <p:animEffect transition="in" filter="blinds(horizontal)">
                                      <p:cBhvr>
                                        <p:cTn id="42" dur="500"/>
                                        <p:tgtEl>
                                          <p:spTgt spid="6881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88138"/>
                                        </p:tgtEl>
                                        <p:attrNameLst>
                                          <p:attrName>style.visibility</p:attrName>
                                        </p:attrNameLst>
                                      </p:cBhvr>
                                      <p:to>
                                        <p:strVal val="visible"/>
                                      </p:to>
                                    </p:set>
                                    <p:animEffect transition="in" filter="dissolve">
                                      <p:cBhvr>
                                        <p:cTn id="47" dur="500"/>
                                        <p:tgtEl>
                                          <p:spTgt spid="6881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688143"/>
                                        </p:tgtEl>
                                        <p:attrNameLst>
                                          <p:attrName>style.visibility</p:attrName>
                                        </p:attrNameLst>
                                      </p:cBhvr>
                                      <p:to>
                                        <p:strVal val="visible"/>
                                      </p:to>
                                    </p:set>
                                    <p:animEffect transition="in" filter="checkerboard(across)">
                                      <p:cBhvr>
                                        <p:cTn id="52" dur="500"/>
                                        <p:tgtEl>
                                          <p:spTgt spid="68814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88144"/>
                                        </p:tgtEl>
                                        <p:attrNameLst>
                                          <p:attrName>style.visibility</p:attrName>
                                        </p:attrNameLst>
                                      </p:cBhvr>
                                      <p:to>
                                        <p:strVal val="visible"/>
                                      </p:to>
                                    </p:set>
                                    <p:animEffect transition="in" filter="blinds(horizontal)">
                                      <p:cBhvr>
                                        <p:cTn id="57" dur="500"/>
                                        <p:tgtEl>
                                          <p:spTgt spid="6881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88135"/>
                                        </p:tgtEl>
                                        <p:attrNameLst>
                                          <p:attrName>style.visibility</p:attrName>
                                        </p:attrNameLst>
                                      </p:cBhvr>
                                      <p:to>
                                        <p:strVal val="visible"/>
                                      </p:to>
                                    </p:set>
                                    <p:animEffect transition="in" filter="blinds(horizontal)">
                                      <p:cBhvr>
                                        <p:cTn id="62" dur="500"/>
                                        <p:tgtEl>
                                          <p:spTgt spid="68813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688149"/>
                                        </p:tgtEl>
                                        <p:attrNameLst>
                                          <p:attrName>style.visibility</p:attrName>
                                        </p:attrNameLst>
                                      </p:cBhvr>
                                      <p:to>
                                        <p:strVal val="visible"/>
                                      </p:to>
                                    </p:set>
                                    <p:animEffect transition="in" filter="dissolve">
                                      <p:cBhvr>
                                        <p:cTn id="67" dur="500"/>
                                        <p:tgtEl>
                                          <p:spTgt spid="688149"/>
                                        </p:tgtEl>
                                      </p:cBhvr>
                                    </p:animEffect>
                                  </p:childTnLst>
                                </p:cTn>
                              </p:par>
                            </p:childTnLst>
                          </p:cTn>
                        </p:par>
                        <p:par>
                          <p:cTn id="68" fill="hold">
                            <p:stCondLst>
                              <p:cond delay="500"/>
                            </p:stCondLst>
                            <p:childTnLst>
                              <p:par>
                                <p:cTn id="69" presetID="2" presetClass="entr" presetSubtype="6" fill="hold" grpId="0" nodeType="after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1+#ppt_w/2"/>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5" grpId="0" animBg="1"/>
      <p:bldP spid="688136" grpId="0" animBg="1"/>
      <p:bldP spid="688137" grpId="0" animBg="1"/>
      <p:bldP spid="688138" grpId="0"/>
      <p:bldP spid="688140" grpId="0" animBg="1"/>
      <p:bldP spid="688141" grpId="0" animBg="1"/>
      <p:bldP spid="688142" grpId="0" animBg="1"/>
      <p:bldP spid="688143" grpId="0" animBg="1"/>
      <p:bldP spid="688144" grpId="0" animBg="1"/>
      <p:bldP spid="688148" grpId="0" animBg="1"/>
      <p:bldP spid="688149" grpId="0" animBg="1"/>
      <p:bldP spid="688150" grpId="0" animBg="1"/>
      <p:bldP spid="688151" grpId="0" animBg="1"/>
      <p:bldP spid="1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4"/>
          <p:cNvSpPr>
            <a:spLocks noGrp="1" noRot="1" noChangeArrowheads="1"/>
          </p:cNvSpPr>
          <p:nvPr>
            <p:ph type="body" idx="1"/>
          </p:nvPr>
        </p:nvSpPr>
        <p:spPr>
          <a:xfrm>
            <a:off x="251520" y="1700808"/>
            <a:ext cx="8892480" cy="3384376"/>
          </a:xfrm>
          <a:solidFill>
            <a:schemeClr val="tx1">
              <a:lumMod val="85000"/>
            </a:schemeClr>
          </a:solidFill>
        </p:spPr>
        <p:txBody>
          <a:bodyPr/>
          <a:lstStyle/>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lumMod val="75000"/>
                  </a:schemeClr>
                </a:solidFill>
                <a:cs typeface="+mn-cs"/>
              </a:rPr>
              <a:t>页号</a:t>
            </a:r>
            <a:r>
              <a:rPr lang="zh-CN" altLang="en-US" sz="3600" b="1" kern="1200" dirty="0">
                <a:solidFill>
                  <a:schemeClr val="bg2"/>
                </a:solidFill>
                <a:cs typeface="+mn-cs"/>
              </a:rPr>
              <a:t>：</a:t>
            </a:r>
            <a:r>
              <a:rPr lang="en-US" altLang="zh-CN" sz="3200" b="1" kern="1200" dirty="0">
                <a:solidFill>
                  <a:schemeClr val="bg2"/>
                </a:solidFill>
                <a:cs typeface="+mn-cs"/>
              </a:rPr>
              <a:t>P</a:t>
            </a:r>
            <a:r>
              <a:rPr lang="zh-CN" altLang="en-US" sz="3200" b="1" kern="1200" dirty="0">
                <a:solidFill>
                  <a:schemeClr val="bg2"/>
                </a:solidFill>
                <a:cs typeface="+mn-cs"/>
              </a:rPr>
              <a:t>＝</a:t>
            </a:r>
            <a:r>
              <a:rPr lang="en-US" altLang="zh-CN" sz="3200" b="1" kern="1200" dirty="0">
                <a:solidFill>
                  <a:schemeClr val="bg2"/>
                </a:solidFill>
                <a:cs typeface="+mn-cs"/>
              </a:rPr>
              <a:t>INT(</a:t>
            </a:r>
            <a:r>
              <a:rPr lang="zh-CN" altLang="en-US" sz="3200" b="1" kern="1200" dirty="0">
                <a:solidFill>
                  <a:schemeClr val="bg2"/>
                </a:solidFill>
                <a:cs typeface="+mn-cs"/>
              </a:rPr>
              <a:t>虚地址 </a:t>
            </a:r>
            <a:r>
              <a:rPr lang="en-US" altLang="zh-CN" sz="3200" b="1" kern="1200" dirty="0">
                <a:solidFill>
                  <a:schemeClr val="bg2"/>
                </a:solidFill>
                <a:cs typeface="+mn-cs"/>
              </a:rPr>
              <a:t>/ </a:t>
            </a:r>
            <a:r>
              <a:rPr lang="zh-CN" altLang="en-US" sz="3200" b="1" kern="1200" dirty="0">
                <a:solidFill>
                  <a:schemeClr val="bg2"/>
                </a:solidFill>
                <a:cs typeface="+mn-cs"/>
              </a:rPr>
              <a:t>页大小</a:t>
            </a:r>
            <a:r>
              <a:rPr lang="en-US" altLang="zh-CN" sz="3200" b="1" kern="1200" dirty="0">
                <a:solidFill>
                  <a:schemeClr val="bg2"/>
                </a:solidFill>
                <a:cs typeface="+mn-cs"/>
              </a:rPr>
              <a:t>)</a:t>
            </a:r>
            <a:r>
              <a:rPr lang="zh-CN" altLang="en-US" sz="3200" b="1" kern="1200" dirty="0">
                <a:solidFill>
                  <a:schemeClr val="bg2"/>
                </a:solidFill>
                <a:cs typeface="+mn-cs"/>
              </a:rPr>
              <a:t>－取整数</a:t>
            </a: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lumMod val="75000"/>
                  </a:schemeClr>
                </a:solidFill>
                <a:cs typeface="+mn-cs"/>
              </a:rPr>
              <a:t>位移量</a:t>
            </a:r>
            <a:r>
              <a:rPr lang="zh-CN" altLang="en-US" sz="3600" b="1" kern="1200" dirty="0">
                <a:solidFill>
                  <a:schemeClr val="bg2"/>
                </a:solidFill>
                <a:cs typeface="+mn-cs"/>
              </a:rPr>
              <a:t>： </a:t>
            </a:r>
            <a:r>
              <a:rPr lang="en-US" altLang="zh-CN" sz="3200" b="1" kern="1200" dirty="0">
                <a:solidFill>
                  <a:schemeClr val="bg2"/>
                </a:solidFill>
                <a:cs typeface="+mn-cs"/>
              </a:rPr>
              <a:t>W</a:t>
            </a:r>
            <a:r>
              <a:rPr lang="zh-CN" altLang="en-US" sz="3200" b="1" kern="1200" dirty="0">
                <a:solidFill>
                  <a:schemeClr val="bg2"/>
                </a:solidFill>
                <a:cs typeface="+mn-cs"/>
              </a:rPr>
              <a:t>＝虚地址 </a:t>
            </a:r>
            <a:r>
              <a:rPr lang="en-US" altLang="zh-CN" sz="3200" b="1" kern="1200" dirty="0">
                <a:solidFill>
                  <a:schemeClr val="bg2"/>
                </a:solidFill>
                <a:cs typeface="+mn-cs"/>
              </a:rPr>
              <a:t>% </a:t>
            </a:r>
            <a:r>
              <a:rPr lang="zh-CN" altLang="en-US" sz="3200" b="1" kern="1200" dirty="0">
                <a:solidFill>
                  <a:schemeClr val="bg2"/>
                </a:solidFill>
                <a:cs typeface="+mn-cs"/>
              </a:rPr>
              <a:t>页大小</a:t>
            </a:r>
            <a:r>
              <a:rPr lang="en-US" altLang="zh-CN" sz="3200" b="1" kern="1200" dirty="0">
                <a:solidFill>
                  <a:schemeClr val="bg2"/>
                </a:solidFill>
                <a:cs typeface="+mn-cs"/>
              </a:rPr>
              <a:t>—</a:t>
            </a:r>
            <a:r>
              <a:rPr lang="zh-CN" altLang="en-US" sz="3200" b="1" kern="1200" dirty="0">
                <a:solidFill>
                  <a:schemeClr val="bg2"/>
                </a:solidFill>
                <a:cs typeface="+mn-cs"/>
              </a:rPr>
              <a:t>取余数</a:t>
            </a: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lumMod val="75000"/>
                  </a:schemeClr>
                </a:solidFill>
                <a:cs typeface="+mn-cs"/>
              </a:rPr>
              <a:t>块号</a:t>
            </a:r>
            <a:r>
              <a:rPr lang="zh-CN" altLang="en-US" sz="3600" b="1" kern="1200" dirty="0">
                <a:solidFill>
                  <a:schemeClr val="bg2"/>
                </a:solidFill>
                <a:cs typeface="+mn-cs"/>
              </a:rPr>
              <a:t>：</a:t>
            </a:r>
            <a:r>
              <a:rPr lang="zh-CN" altLang="en-US" sz="3200" b="1" kern="1200" dirty="0">
                <a:solidFill>
                  <a:schemeClr val="bg2"/>
                </a:solidFill>
                <a:cs typeface="+mn-cs"/>
              </a:rPr>
              <a:t>以页号查页表</a:t>
            </a:r>
            <a:r>
              <a:rPr lang="en-US" altLang="zh-CN" sz="3200" b="1" kern="1200" dirty="0">
                <a:solidFill>
                  <a:schemeClr val="bg2"/>
                </a:solidFill>
                <a:cs typeface="+mn-cs"/>
              </a:rPr>
              <a:t>, </a:t>
            </a:r>
            <a:r>
              <a:rPr lang="zh-CN" altLang="en-US" sz="3200" b="1" kern="1200" dirty="0">
                <a:solidFill>
                  <a:schemeClr val="bg2"/>
                </a:solidFill>
                <a:cs typeface="+mn-cs"/>
              </a:rPr>
              <a:t>得到块号</a:t>
            </a:r>
          </a:p>
          <a:p>
            <a:pPr marL="355600" lvl="2" indent="-355600" defTabSz="355600">
              <a:lnSpc>
                <a:spcPct val="15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lumMod val="75000"/>
                  </a:schemeClr>
                </a:solidFill>
                <a:cs typeface="+mn-cs"/>
              </a:rPr>
              <a:t>内存地址</a:t>
            </a:r>
            <a:r>
              <a:rPr lang="zh-CN" altLang="en-US" sz="3200" b="1" kern="1200" dirty="0">
                <a:solidFill>
                  <a:schemeClr val="bg2"/>
                </a:solidFill>
                <a:cs typeface="+mn-cs"/>
              </a:rPr>
              <a:t>＝块号</a:t>
            </a:r>
            <a:r>
              <a:rPr lang="en-US" altLang="zh-CN" sz="3200" b="1" kern="1200" dirty="0">
                <a:solidFill>
                  <a:schemeClr val="bg2"/>
                </a:solidFill>
                <a:cs typeface="+mn-cs"/>
              </a:rPr>
              <a:t>×</a:t>
            </a:r>
            <a:r>
              <a:rPr lang="zh-CN" altLang="en-US" sz="3200" b="1" kern="1200" dirty="0">
                <a:solidFill>
                  <a:schemeClr val="bg2"/>
                </a:solidFill>
                <a:cs typeface="+mn-cs"/>
              </a:rPr>
              <a:t>页大小＋位移量</a:t>
            </a:r>
            <a:endParaRPr lang="en-US" altLang="zh-CN" sz="2400" b="1" dirty="0">
              <a:ea typeface="楷体_GB2312" pitchFamily="49" charset="-122"/>
            </a:endParaRPr>
          </a:p>
        </p:txBody>
      </p:sp>
      <p:sp>
        <p:nvSpPr>
          <p:cNvPr id="734213" name="Rectangle 5"/>
          <p:cNvSpPr>
            <a:spLocks noGrp="1" noChangeArrowheads="1"/>
          </p:cNvSpPr>
          <p:nvPr>
            <p:ph type="title"/>
          </p:nvPr>
        </p:nvSpPr>
        <p:spPr>
          <a:xfrm>
            <a:off x="2700338" y="0"/>
            <a:ext cx="3497262" cy="747713"/>
          </a:xfrm>
        </p:spPr>
        <p:txBody>
          <a:body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地址计算方法 </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6831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4" descr="e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0451" y="716385"/>
            <a:ext cx="7559675" cy="614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31749" name="Text Box 6"/>
          <p:cNvSpPr txBox="1">
            <a:spLocks noChangeArrowheads="1"/>
          </p:cNvSpPr>
          <p:nvPr/>
        </p:nvSpPr>
        <p:spPr bwMode="auto">
          <a:xfrm>
            <a:off x="944120" y="4119985"/>
            <a:ext cx="3384550" cy="867930"/>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ClrTx/>
              <a:buSzTx/>
              <a:buFontTx/>
              <a:buNone/>
            </a:pPr>
            <a:r>
              <a:rPr lang="zh-CN" altLang="en-US" sz="2400" dirty="0">
                <a:solidFill>
                  <a:schemeClr val="bg2"/>
                </a:solidFill>
                <a:ea typeface="楷体_GB2312" pitchFamily="49" charset="-122"/>
              </a:rPr>
              <a:t>设每个</a:t>
            </a:r>
            <a:r>
              <a:rPr lang="zh-CN" altLang="en-US" sz="2400" dirty="0">
                <a:solidFill>
                  <a:srgbClr val="FF0000"/>
                </a:solidFill>
                <a:ea typeface="楷体_GB2312" pitchFamily="49" charset="-122"/>
              </a:rPr>
              <a:t>页面长度为</a:t>
            </a:r>
            <a:r>
              <a:rPr lang="en-US" altLang="zh-CN" sz="2400" dirty="0">
                <a:solidFill>
                  <a:srgbClr val="FF0000"/>
                </a:solidFill>
                <a:ea typeface="楷体_GB2312" pitchFamily="49" charset="-122"/>
              </a:rPr>
              <a:t>1K</a:t>
            </a:r>
            <a:r>
              <a:rPr lang="zh-CN" altLang="en-US" sz="2400" dirty="0">
                <a:solidFill>
                  <a:srgbClr val="7030A0"/>
                </a:solidFill>
                <a:latin typeface="楷体_GB2312" pitchFamily="49" charset="-122"/>
                <a:ea typeface="楷体_GB2312" pitchFamily="49" charset="-122"/>
              </a:rPr>
              <a:t>，</a:t>
            </a:r>
          </a:p>
          <a:p>
            <a:pPr eaLnBrk="1" hangingPunct="1">
              <a:spcBef>
                <a:spcPct val="10000"/>
              </a:spcBef>
              <a:buClrTx/>
              <a:buSzTx/>
              <a:buFontTx/>
              <a:buNone/>
            </a:pPr>
            <a:r>
              <a:rPr lang="zh-CN" altLang="en-US" sz="2400" dirty="0">
                <a:solidFill>
                  <a:schemeClr val="bg2"/>
                </a:solidFill>
                <a:latin typeface="楷体_GB2312" pitchFamily="49" charset="-122"/>
                <a:ea typeface="楷体_GB2312" pitchFamily="49" charset="-122"/>
              </a:rPr>
              <a:t>指令 </a:t>
            </a:r>
            <a:r>
              <a:rPr lang="en-US" altLang="zh-CN" sz="2400" dirty="0">
                <a:solidFill>
                  <a:schemeClr val="bg2"/>
                </a:solidFill>
                <a:ea typeface="楷体_GB2312" pitchFamily="49" charset="-122"/>
              </a:rPr>
              <a:t>LOAD 1</a:t>
            </a:r>
            <a:r>
              <a:rPr lang="zh-CN" altLang="en-US" sz="2400" dirty="0">
                <a:solidFill>
                  <a:srgbClr val="7030A0"/>
                </a:solidFill>
                <a:ea typeface="楷体_GB2312" pitchFamily="49" charset="-122"/>
              </a:rPr>
              <a:t>，</a:t>
            </a:r>
            <a:r>
              <a:rPr lang="en-US" altLang="zh-CN" sz="2400" dirty="0">
                <a:solidFill>
                  <a:schemeClr val="hlink"/>
                </a:solidFill>
                <a:ea typeface="楷体_GB2312" pitchFamily="49" charset="-122"/>
              </a:rPr>
              <a:t>2500</a:t>
            </a:r>
          </a:p>
        </p:txBody>
      </p:sp>
      <p:sp>
        <p:nvSpPr>
          <p:cNvPr id="687112" name="Oval 8"/>
          <p:cNvSpPr>
            <a:spLocks noChangeArrowheads="1"/>
          </p:cNvSpPr>
          <p:nvPr/>
        </p:nvSpPr>
        <p:spPr bwMode="auto">
          <a:xfrm>
            <a:off x="4831908" y="5488410"/>
            <a:ext cx="863600" cy="360362"/>
          </a:xfrm>
          <a:prstGeom prst="ellipse">
            <a:avLst/>
          </a:prstGeom>
          <a:noFill/>
          <a:ln w="57150" cap="sq">
            <a:solidFill>
              <a:schemeClr val="accent6">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31752"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2255" y="3892287"/>
            <a:ext cx="7905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7122" name="AutoShape 18"/>
          <p:cNvSpPr>
            <a:spLocks/>
          </p:cNvSpPr>
          <p:nvPr/>
        </p:nvSpPr>
        <p:spPr bwMode="auto">
          <a:xfrm>
            <a:off x="6196292" y="641560"/>
            <a:ext cx="2947987" cy="474663"/>
          </a:xfrm>
          <a:prstGeom prst="borderCallout1">
            <a:avLst>
              <a:gd name="adj1" fmla="val 24079"/>
              <a:gd name="adj2" fmla="val -2583"/>
              <a:gd name="adj3" fmla="val 102676"/>
              <a:gd name="adj4" fmla="val -19226"/>
            </a:avLst>
          </a:prstGeom>
          <a:solidFill>
            <a:srgbClr val="00B0F0"/>
          </a:solidFill>
          <a:ln w="28575" cap="sq">
            <a:solidFill>
              <a:srgbClr val="00B0F0"/>
            </a:solidFill>
            <a:miter lim="800000"/>
            <a:headEnd type="none" w="sm" len="sm"/>
            <a:tailEnd type="none" w="sm" len="sm"/>
          </a:ln>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2500/1024=2  </a:t>
            </a:r>
            <a:r>
              <a:rPr lang="zh-CN" altLang="en-US" sz="2400" dirty="0">
                <a:solidFill>
                  <a:schemeClr val="bg2"/>
                </a:solidFill>
              </a:rPr>
              <a:t>余 </a:t>
            </a:r>
            <a:r>
              <a:rPr lang="en-US" altLang="zh-CN" sz="2400" dirty="0">
                <a:solidFill>
                  <a:schemeClr val="bg2"/>
                </a:solidFill>
              </a:rPr>
              <a:t>452</a:t>
            </a:r>
          </a:p>
        </p:txBody>
      </p:sp>
      <p:sp>
        <p:nvSpPr>
          <p:cNvPr id="687123" name="Oval 19"/>
          <p:cNvSpPr>
            <a:spLocks noChangeArrowheads="1"/>
          </p:cNvSpPr>
          <p:nvPr/>
        </p:nvSpPr>
        <p:spPr bwMode="auto">
          <a:xfrm>
            <a:off x="1807720" y="1599035"/>
            <a:ext cx="431800" cy="503237"/>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1</a:t>
            </a:r>
          </a:p>
        </p:txBody>
      </p:sp>
      <p:sp>
        <p:nvSpPr>
          <p:cNvPr id="687124" name="Oval 20"/>
          <p:cNvSpPr>
            <a:spLocks noChangeArrowheads="1"/>
          </p:cNvSpPr>
          <p:nvPr/>
        </p:nvSpPr>
        <p:spPr bwMode="auto">
          <a:xfrm>
            <a:off x="1736283" y="3183360"/>
            <a:ext cx="431800" cy="503237"/>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2</a:t>
            </a:r>
          </a:p>
        </p:txBody>
      </p:sp>
      <p:sp>
        <p:nvSpPr>
          <p:cNvPr id="687125" name="Oval 21"/>
          <p:cNvSpPr>
            <a:spLocks noChangeArrowheads="1"/>
          </p:cNvSpPr>
          <p:nvPr/>
        </p:nvSpPr>
        <p:spPr bwMode="auto">
          <a:xfrm>
            <a:off x="4689033" y="1959397"/>
            <a:ext cx="431800" cy="503238"/>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3</a:t>
            </a:r>
          </a:p>
        </p:txBody>
      </p:sp>
      <p:sp>
        <p:nvSpPr>
          <p:cNvPr id="687126" name="Oval 22"/>
          <p:cNvSpPr>
            <a:spLocks noChangeArrowheads="1"/>
          </p:cNvSpPr>
          <p:nvPr/>
        </p:nvSpPr>
        <p:spPr bwMode="auto">
          <a:xfrm>
            <a:off x="6128895" y="1959397"/>
            <a:ext cx="431800" cy="503238"/>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3</a:t>
            </a:r>
          </a:p>
        </p:txBody>
      </p:sp>
      <p:sp>
        <p:nvSpPr>
          <p:cNvPr id="687127" name="Oval 23"/>
          <p:cNvSpPr>
            <a:spLocks noChangeArrowheads="1"/>
          </p:cNvSpPr>
          <p:nvPr/>
        </p:nvSpPr>
        <p:spPr bwMode="auto">
          <a:xfrm>
            <a:off x="4328670" y="4407322"/>
            <a:ext cx="431800" cy="503238"/>
          </a:xfrm>
          <a:prstGeom prst="ellipse">
            <a:avLst/>
          </a:prstGeom>
          <a:noFill/>
          <a:ln w="28575" cap="sq">
            <a:solidFill>
              <a:srgbClr val="00CC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00CC99"/>
                </a:solidFill>
              </a:rPr>
              <a:t>4</a:t>
            </a:r>
          </a:p>
        </p:txBody>
      </p:sp>
      <p:sp>
        <p:nvSpPr>
          <p:cNvPr id="687131" name="Oval 27"/>
          <p:cNvSpPr>
            <a:spLocks noChangeArrowheads="1"/>
          </p:cNvSpPr>
          <p:nvPr/>
        </p:nvSpPr>
        <p:spPr bwMode="auto">
          <a:xfrm>
            <a:off x="3031683" y="4581947"/>
            <a:ext cx="1008062" cy="358775"/>
          </a:xfrm>
          <a:prstGeom prst="ellipse">
            <a:avLst/>
          </a:prstGeom>
          <a:noFill/>
          <a:ln w="38100" cap="sq">
            <a:solidFill>
              <a:schemeClr val="accent2">
                <a:lumMod val="50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8" name="AutoShape 23"/>
          <p:cNvSpPr>
            <a:spLocks noChangeArrowheads="1"/>
          </p:cNvSpPr>
          <p:nvPr/>
        </p:nvSpPr>
        <p:spPr bwMode="auto">
          <a:xfrm flipH="1">
            <a:off x="3473008" y="6075785"/>
            <a:ext cx="2214562" cy="647700"/>
          </a:xfrm>
          <a:prstGeom prst="wedgeEllipseCallout">
            <a:avLst>
              <a:gd name="adj1" fmla="val 43903"/>
              <a:gd name="adj2" fmla="val -231861"/>
            </a:avLst>
          </a:prstGeom>
          <a:solidFill>
            <a:schemeClr val="accent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rgbClr val="000000"/>
                </a:solidFill>
                <a:ea typeface="楷体_GB2312" pitchFamily="49" charset="-122"/>
              </a:rPr>
              <a:t>逻辑地址</a:t>
            </a:r>
          </a:p>
        </p:txBody>
      </p:sp>
      <p:sp>
        <p:nvSpPr>
          <p:cNvPr id="19" name="AutoShape 21"/>
          <p:cNvSpPr>
            <a:spLocks noChangeArrowheads="1"/>
          </p:cNvSpPr>
          <p:nvPr/>
        </p:nvSpPr>
        <p:spPr bwMode="auto">
          <a:xfrm>
            <a:off x="5695508" y="6030279"/>
            <a:ext cx="2160588" cy="647700"/>
          </a:xfrm>
          <a:prstGeom prst="wedgeEllipseCallout">
            <a:avLst>
              <a:gd name="adj1" fmla="val -61241"/>
              <a:gd name="adj2" fmla="val -120097"/>
            </a:avLst>
          </a:prstGeom>
          <a:solidFill>
            <a:schemeClr val="accent1"/>
          </a:solidFill>
          <a:ln w="12700" cap="sq">
            <a:solidFill>
              <a:schemeClr val="tx1"/>
            </a:solidFill>
            <a:miter lim="800000"/>
            <a:headEnd type="none" w="sm" len="sm"/>
            <a:tailEnd type="none" w="sm" len="sm"/>
          </a:ln>
        </p:spPr>
        <p:txBody>
          <a:bodyPr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rgbClr val="000000"/>
                </a:solidFill>
                <a:ea typeface="楷体_GB2312" pitchFamily="49" charset="-122"/>
              </a:rPr>
              <a:t>物理地址</a:t>
            </a:r>
          </a:p>
        </p:txBody>
      </p:sp>
      <p:sp>
        <p:nvSpPr>
          <p:cNvPr id="20" name="Rectangle 5">
            <a:extLst>
              <a:ext uri="{FF2B5EF4-FFF2-40B4-BE49-F238E27FC236}">
                <a16:creationId xmlns:a16="http://schemas.microsoft.com/office/drawing/2014/main" id="{10A778C1-D51F-4857-8AB2-ABC4AEFC3E57}"/>
              </a:ext>
            </a:extLst>
          </p:cNvPr>
          <p:cNvSpPr>
            <a:spLocks noGrp="1" noChangeArrowheads="1"/>
          </p:cNvSpPr>
          <p:nvPr>
            <p:ph type="title"/>
          </p:nvPr>
        </p:nvSpPr>
        <p:spPr>
          <a:xfrm>
            <a:off x="1894002" y="10164"/>
            <a:ext cx="5355996" cy="747713"/>
          </a:xfrm>
        </p:spPr>
        <p:txBody>
          <a:bodyPr/>
          <a:lstStyle/>
          <a:p>
            <a:pPr marL="342900" lvl="1" indent="-342900" algn="ctr" eaLnBrk="1" hangingPunct="1">
              <a:lnSpc>
                <a:spcPct val="110000"/>
              </a:lnSpc>
              <a:buClr>
                <a:schemeClr val="tx2"/>
              </a:buClr>
              <a:buSzPct val="75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页式地址映射示例（</a:t>
            </a:r>
            <a:r>
              <a:rPr lang="en-US" altLang="zh-CN"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2</a:t>
            </a: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 </a:t>
            </a:r>
          </a:p>
        </p:txBody>
      </p:sp>
      <p:sp>
        <p:nvSpPr>
          <p:cNvPr id="2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186817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87131"/>
                                        </p:tgtEl>
                                        <p:attrNameLst>
                                          <p:attrName>style.visibility</p:attrName>
                                        </p:attrNameLst>
                                      </p:cBhvr>
                                      <p:to>
                                        <p:strVal val="visible"/>
                                      </p:to>
                                    </p:set>
                                    <p:animEffect transition="in" filter="wedge">
                                      <p:cBhvr>
                                        <p:cTn id="7" dur="2000"/>
                                        <p:tgtEl>
                                          <p:spTgt spid="687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87122"/>
                                        </p:tgtEl>
                                        <p:attrNameLst>
                                          <p:attrName>style.visibility</p:attrName>
                                        </p:attrNameLst>
                                      </p:cBhvr>
                                      <p:to>
                                        <p:strVal val="visible"/>
                                      </p:to>
                                    </p:set>
                                    <p:animEffect transition="in" filter="checkerboard(across)">
                                      <p:cBhvr>
                                        <p:cTn id="17" dur="500"/>
                                        <p:tgtEl>
                                          <p:spTgt spid="6871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7123"/>
                                        </p:tgtEl>
                                        <p:attrNameLst>
                                          <p:attrName>style.visibility</p:attrName>
                                        </p:attrNameLst>
                                      </p:cBhvr>
                                      <p:to>
                                        <p:strVal val="visible"/>
                                      </p:to>
                                    </p:set>
                                    <p:animEffect transition="in" filter="blinds(horizontal)">
                                      <p:cBhvr>
                                        <p:cTn id="22" dur="500"/>
                                        <p:tgtEl>
                                          <p:spTgt spid="6871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7124"/>
                                        </p:tgtEl>
                                        <p:attrNameLst>
                                          <p:attrName>style.visibility</p:attrName>
                                        </p:attrNameLst>
                                      </p:cBhvr>
                                      <p:to>
                                        <p:strVal val="visible"/>
                                      </p:to>
                                    </p:set>
                                    <p:animEffect transition="in" filter="blinds(horizontal)">
                                      <p:cBhvr>
                                        <p:cTn id="27" dur="500"/>
                                        <p:tgtEl>
                                          <p:spTgt spid="6871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7125"/>
                                        </p:tgtEl>
                                        <p:attrNameLst>
                                          <p:attrName>style.visibility</p:attrName>
                                        </p:attrNameLst>
                                      </p:cBhvr>
                                      <p:to>
                                        <p:strVal val="visible"/>
                                      </p:to>
                                    </p:set>
                                    <p:animEffect transition="in" filter="blinds(horizontal)">
                                      <p:cBhvr>
                                        <p:cTn id="32" dur="500"/>
                                        <p:tgtEl>
                                          <p:spTgt spid="6871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87126"/>
                                        </p:tgtEl>
                                        <p:attrNameLst>
                                          <p:attrName>style.visibility</p:attrName>
                                        </p:attrNameLst>
                                      </p:cBhvr>
                                      <p:to>
                                        <p:strVal val="visible"/>
                                      </p:to>
                                    </p:set>
                                    <p:animEffect transition="in" filter="blinds(horizontal)">
                                      <p:cBhvr>
                                        <p:cTn id="37" dur="500"/>
                                        <p:tgtEl>
                                          <p:spTgt spid="6871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87127"/>
                                        </p:tgtEl>
                                        <p:attrNameLst>
                                          <p:attrName>style.visibility</p:attrName>
                                        </p:attrNameLst>
                                      </p:cBhvr>
                                      <p:to>
                                        <p:strVal val="visible"/>
                                      </p:to>
                                    </p:set>
                                    <p:animEffect transition="in" filter="blinds(horizontal)">
                                      <p:cBhvr>
                                        <p:cTn id="42" dur="500"/>
                                        <p:tgtEl>
                                          <p:spTgt spid="6871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0" presetClass="entr" presetSubtype="0" fill="hold" grpId="0" nodeType="clickEffect">
                                  <p:stCondLst>
                                    <p:cond delay="0"/>
                                  </p:stCondLst>
                                  <p:childTnLst>
                                    <p:set>
                                      <p:cBhvr>
                                        <p:cTn id="46" dur="1" fill="hold">
                                          <p:stCondLst>
                                            <p:cond delay="0"/>
                                          </p:stCondLst>
                                        </p:cTn>
                                        <p:tgtEl>
                                          <p:spTgt spid="687112"/>
                                        </p:tgtEl>
                                        <p:attrNameLst>
                                          <p:attrName>style.visibility</p:attrName>
                                        </p:attrNameLst>
                                      </p:cBhvr>
                                      <p:to>
                                        <p:strVal val="visible"/>
                                      </p:to>
                                    </p:set>
                                    <p:animEffect transition="in" filter="wedge">
                                      <p:cBhvr>
                                        <p:cTn id="47" dur="2000"/>
                                        <p:tgtEl>
                                          <p:spTgt spid="6871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dissolve">
                                      <p:cBhvr>
                                        <p:cTn id="52" dur="500"/>
                                        <p:tgtEl>
                                          <p:spTgt spid="19"/>
                                        </p:tgtEl>
                                      </p:cBhvr>
                                    </p:animEffect>
                                  </p:childTnLst>
                                </p:cTn>
                              </p:par>
                            </p:childTnLst>
                          </p:cTn>
                        </p:par>
                        <p:par>
                          <p:cTn id="53" fill="hold">
                            <p:stCondLst>
                              <p:cond delay="500"/>
                            </p:stCondLst>
                            <p:childTnLst>
                              <p:par>
                                <p:cTn id="54" presetID="2" presetClass="entr" presetSubtype="6"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1+#ppt_w/2"/>
                                          </p:val>
                                        </p:tav>
                                        <p:tav tm="100000">
                                          <p:val>
                                            <p:strVal val="#ppt_x"/>
                                          </p:val>
                                        </p:tav>
                                      </p:tavLst>
                                    </p:anim>
                                    <p:anim calcmode="lin" valueType="num">
                                      <p:cBhvr additive="base">
                                        <p:cTn id="5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12" grpId="0" animBg="1"/>
      <p:bldP spid="687122" grpId="0" animBg="1"/>
      <p:bldP spid="687123" grpId="0" animBg="1"/>
      <p:bldP spid="687124" grpId="0" animBg="1"/>
      <p:bldP spid="687125" grpId="0" animBg="1"/>
      <p:bldP spid="687126" grpId="0" animBg="1"/>
      <p:bldP spid="687127" grpId="0" animBg="1"/>
      <p:bldP spid="687131" grpId="0" animBg="1"/>
      <p:bldP spid="18" grpId="0" animBg="1"/>
      <p:bldP spid="19" grpId="0" animBg="1"/>
      <p:bldP spid="2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2"/>
          <p:cNvSpPr txBox="1">
            <a:spLocks noChangeArrowheads="1"/>
          </p:cNvSpPr>
          <p:nvPr/>
        </p:nvSpPr>
        <p:spPr bwMode="auto">
          <a:xfrm>
            <a:off x="1692275" y="1916113"/>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endParaRPr lang="zh-CN" altLang="zh-CN" sz="2400" b="0"/>
          </a:p>
        </p:txBody>
      </p:sp>
      <p:graphicFrame>
        <p:nvGraphicFramePr>
          <p:cNvPr id="700420" name="Group 4"/>
          <p:cNvGraphicFramePr>
            <a:graphicFrameLocks noGrp="1"/>
          </p:cNvGraphicFramePr>
          <p:nvPr>
            <p:ph/>
            <p:extLst>
              <p:ext uri="{D42A27DB-BD31-4B8C-83A1-F6EECF244321}">
                <p14:modId xmlns:p14="http://schemas.microsoft.com/office/powerpoint/2010/main" val="893648555"/>
              </p:ext>
            </p:extLst>
          </p:nvPr>
        </p:nvGraphicFramePr>
        <p:xfrm>
          <a:off x="250825" y="2276475"/>
          <a:ext cx="3640138" cy="3024001"/>
        </p:xfrm>
        <a:graphic>
          <a:graphicData uri="http://schemas.openxmlformats.org/drawingml/2006/table">
            <a:tbl>
              <a:tblPr/>
              <a:tblGrid>
                <a:gridCol w="1820863">
                  <a:extLst>
                    <a:ext uri="{9D8B030D-6E8A-4147-A177-3AD203B41FA5}">
                      <a16:colId xmlns:a16="http://schemas.microsoft.com/office/drawing/2014/main" val="20000"/>
                    </a:ext>
                  </a:extLst>
                </a:gridCol>
                <a:gridCol w="1819275">
                  <a:extLst>
                    <a:ext uri="{9D8B030D-6E8A-4147-A177-3AD203B41FA5}">
                      <a16:colId xmlns:a16="http://schemas.microsoft.com/office/drawing/2014/main" val="20001"/>
                    </a:ext>
                  </a:extLst>
                </a:gridCol>
              </a:tblGrid>
              <a:tr h="605072">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zh-CN" altLang="en-US" sz="32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页号</a:t>
                      </a:r>
                    </a:p>
                  </a:txBody>
                  <a:tcPr horzOverflow="overflow">
                    <a:lnL w="1905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tx1">
                        <a:lumMod val="85000"/>
                      </a:schemeClr>
                    </a:solidFill>
                  </a:tcPr>
                </a:tc>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zh-CN" altLang="en-US" sz="32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页面号</a:t>
                      </a:r>
                    </a:p>
                  </a:txBody>
                  <a:tcPr horzOverflow="overflow">
                    <a:lnL w="28575"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tx1">
                        <a:lumMod val="85000"/>
                      </a:schemeClr>
                    </a:solidFill>
                  </a:tcPr>
                </a:tc>
                <a:extLst>
                  <a:ext uri="{0D108BD9-81ED-4DB2-BD59-A6C34878D82A}">
                    <a16:rowId xmlns:a16="http://schemas.microsoft.com/office/drawing/2014/main" val="10000"/>
                  </a:ext>
                </a:extLst>
              </a:tr>
              <a:tr h="605072">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0</a:t>
                      </a:r>
                    </a:p>
                  </a:txBody>
                  <a:tcPr horzOverflow="overflow">
                    <a:lnL w="1905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5</a:t>
                      </a:r>
                    </a:p>
                  </a:txBody>
                  <a:tcPr horzOverflow="overflow">
                    <a:lnL w="28575"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3713">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1</a:t>
                      </a:r>
                    </a:p>
                  </a:txBody>
                  <a:tcPr horzOverflow="overflow">
                    <a:lnL w="1905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3</a:t>
                      </a:r>
                    </a:p>
                  </a:txBody>
                  <a:tcPr horzOverflow="overflow">
                    <a:lnL w="28575"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5072">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a:ln>
                            <a:noFill/>
                          </a:ln>
                          <a:solidFill>
                            <a:schemeClr val="bg2"/>
                          </a:solidFill>
                          <a:effectLst/>
                          <a:latin typeface="Times New Roman" panose="02020603050405020304" pitchFamily="18" charset="0"/>
                          <a:ea typeface="宋体" panose="02010600030101010101" pitchFamily="2" charset="-122"/>
                        </a:rPr>
                        <a:t>2</a:t>
                      </a:r>
                    </a:p>
                  </a:txBody>
                  <a:tcPr horzOverflow="overflow">
                    <a:lnL w="1905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7</a:t>
                      </a:r>
                    </a:p>
                  </a:txBody>
                  <a:tcPr horzOverflow="overflow">
                    <a:lnL w="28575"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5072">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a:ln>
                            <a:noFill/>
                          </a:ln>
                          <a:solidFill>
                            <a:schemeClr val="bg2"/>
                          </a:solidFill>
                          <a:effectLst/>
                          <a:latin typeface="Times New Roman" panose="02020603050405020304" pitchFamily="18" charset="0"/>
                          <a:ea typeface="宋体" panose="02010600030101010101" pitchFamily="2" charset="-122"/>
                        </a:rPr>
                        <a:t>3</a:t>
                      </a:r>
                    </a:p>
                  </a:txBody>
                  <a:tcPr horzOverflow="overflow">
                    <a:lnL w="1905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FFABFF"/>
                        </a:buClr>
                        <a:buSzPct val="90000"/>
                        <a:buFont typeface="Symbol" panose="05050102010706020507" pitchFamily="18" charset="2"/>
                        <a:buNone/>
                        <a:tabLst/>
                      </a:pPr>
                      <a:r>
                        <a:rPr kumimoji="1" lang="en-US" altLang="zh-CN" sz="28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rPr>
                        <a:t>6</a:t>
                      </a:r>
                    </a:p>
                  </a:txBody>
                  <a:tcPr horzOverflow="overflow">
                    <a:lnL w="28575"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00440" name="Text Box 24"/>
          <p:cNvSpPr txBox="1">
            <a:spLocks noChangeArrowheads="1"/>
          </p:cNvSpPr>
          <p:nvPr/>
        </p:nvSpPr>
        <p:spPr bwMode="auto">
          <a:xfrm>
            <a:off x="4211638" y="2708275"/>
            <a:ext cx="4824858" cy="523220"/>
          </a:xfrm>
          <a:prstGeom prst="rect">
            <a:avLst/>
          </a:prstGeom>
          <a:solidFill>
            <a:schemeClr val="tx1">
              <a:lumMod val="85000"/>
            </a:schemeClr>
          </a:solidFill>
          <a:ln>
            <a:noFill/>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dirty="0">
                <a:solidFill>
                  <a:srgbClr val="7030A0"/>
                </a:solidFill>
              </a:rPr>
              <a:t>4635</a:t>
            </a:r>
            <a:r>
              <a:rPr lang="en-US" altLang="zh-CN" sz="2800" dirty="0">
                <a:solidFill>
                  <a:schemeClr val="bg2"/>
                </a:solidFill>
              </a:rPr>
              <a:t>/2048=2(</a:t>
            </a:r>
            <a:r>
              <a:rPr lang="zh-CN" altLang="en-US" sz="2800" dirty="0">
                <a:solidFill>
                  <a:schemeClr val="bg2"/>
                </a:solidFill>
              </a:rPr>
              <a:t>页号</a:t>
            </a:r>
            <a:r>
              <a:rPr lang="en-US" altLang="zh-CN" sz="2800" dirty="0">
                <a:solidFill>
                  <a:schemeClr val="bg2"/>
                </a:solidFill>
              </a:rPr>
              <a:t>)……539</a:t>
            </a:r>
          </a:p>
        </p:txBody>
      </p:sp>
      <p:sp>
        <p:nvSpPr>
          <p:cNvPr id="700441" name="Text Box 25"/>
          <p:cNvSpPr txBox="1">
            <a:spLocks noChangeArrowheads="1"/>
          </p:cNvSpPr>
          <p:nvPr/>
        </p:nvSpPr>
        <p:spPr bwMode="auto">
          <a:xfrm>
            <a:off x="4283968" y="4069417"/>
            <a:ext cx="3455988" cy="523220"/>
          </a:xfrm>
          <a:prstGeom prst="rect">
            <a:avLst/>
          </a:prstGeom>
          <a:solidFill>
            <a:schemeClr val="tx1">
              <a:lumMod val="85000"/>
            </a:schemeClr>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dirty="0">
                <a:solidFill>
                  <a:schemeClr val="bg2"/>
                </a:solidFill>
              </a:rPr>
              <a:t>7*2048+539=14875</a:t>
            </a:r>
          </a:p>
        </p:txBody>
      </p:sp>
      <p:sp>
        <p:nvSpPr>
          <p:cNvPr id="8" name="Rectangle 4">
            <a:extLst>
              <a:ext uri="{FF2B5EF4-FFF2-40B4-BE49-F238E27FC236}">
                <a16:creationId xmlns:a16="http://schemas.microsoft.com/office/drawing/2014/main" id="{F6BF8A03-0809-42A9-A4B8-AF39129F7802}"/>
              </a:ext>
            </a:extLst>
          </p:cNvPr>
          <p:cNvSpPr txBox="1">
            <a:spLocks noRot="1" noChangeArrowheads="1"/>
          </p:cNvSpPr>
          <p:nvPr/>
        </p:nvSpPr>
        <p:spPr>
          <a:xfrm>
            <a:off x="0" y="15875"/>
            <a:ext cx="9036496" cy="964853"/>
          </a:xfrm>
          <a:prstGeom prst="rect">
            <a:avLst/>
          </a:prstGeom>
          <a:solidFill>
            <a:srgbClr val="CCCCFF"/>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eaLnBrk="1" hangingPunct="1">
              <a:spcBef>
                <a:spcPct val="0"/>
              </a:spcBef>
              <a:buClrTx/>
              <a:buSzTx/>
              <a:buNone/>
            </a:pPr>
            <a:r>
              <a:rPr lang="en-US" altLang="zh-CN" sz="2800" dirty="0">
                <a:solidFill>
                  <a:schemeClr val="bg2"/>
                </a:solidFill>
                <a:effectLst/>
              </a:rPr>
              <a:t>[</a:t>
            </a:r>
            <a:r>
              <a:rPr lang="zh-CN" altLang="en-US" sz="2800" dirty="0">
                <a:solidFill>
                  <a:schemeClr val="bg2"/>
                </a:solidFill>
                <a:effectLst/>
              </a:rPr>
              <a:t>例</a:t>
            </a:r>
            <a:r>
              <a:rPr lang="en-US" altLang="zh-CN" sz="2800" dirty="0">
                <a:solidFill>
                  <a:schemeClr val="bg2"/>
                </a:solidFill>
                <a:effectLst/>
              </a:rPr>
              <a:t>8]</a:t>
            </a:r>
            <a:r>
              <a:rPr lang="zh-CN" altLang="en-US" sz="2800" dirty="0">
                <a:solidFill>
                  <a:srgbClr val="000000"/>
                </a:solidFill>
                <a:effectLst/>
              </a:rPr>
              <a:t>在分页存储管理系统中，进程大小为</a:t>
            </a:r>
            <a:r>
              <a:rPr lang="en-US" altLang="zh-CN" sz="2800" dirty="0">
                <a:solidFill>
                  <a:srgbClr val="000000"/>
                </a:solidFill>
                <a:effectLst/>
              </a:rPr>
              <a:t>4</a:t>
            </a:r>
            <a:r>
              <a:rPr lang="zh-CN" altLang="en-US" sz="2800" dirty="0">
                <a:solidFill>
                  <a:srgbClr val="000000"/>
                </a:solidFill>
                <a:effectLst/>
              </a:rPr>
              <a:t>页，页长为</a:t>
            </a:r>
            <a:r>
              <a:rPr lang="en-US" altLang="zh-CN" sz="2800" dirty="0">
                <a:solidFill>
                  <a:srgbClr val="000000"/>
                </a:solidFill>
                <a:effectLst/>
              </a:rPr>
              <a:t>2K</a:t>
            </a:r>
            <a:r>
              <a:rPr lang="zh-CN" altLang="en-US" sz="2800" dirty="0">
                <a:solidFill>
                  <a:srgbClr val="000000"/>
                </a:solidFill>
                <a:effectLst/>
              </a:rPr>
              <a:t>，页表如下：求出逻辑地址</a:t>
            </a:r>
            <a:r>
              <a:rPr lang="en-US" altLang="zh-CN" sz="2800" dirty="0">
                <a:solidFill>
                  <a:srgbClr val="7030A0"/>
                </a:solidFill>
                <a:effectLst/>
              </a:rPr>
              <a:t>4635</a:t>
            </a:r>
            <a:r>
              <a:rPr lang="zh-CN" altLang="en-US" sz="2800" dirty="0">
                <a:solidFill>
                  <a:srgbClr val="000000"/>
                </a:solidFill>
                <a:effectLst/>
              </a:rPr>
              <a:t>所对应的物理地址。</a:t>
            </a:r>
          </a:p>
          <a:p>
            <a:pPr eaLnBrk="1" hangingPunct="1">
              <a:spcBef>
                <a:spcPct val="0"/>
              </a:spcBef>
              <a:buClrTx/>
              <a:buSzTx/>
              <a:buFontTx/>
              <a:buNone/>
            </a:pPr>
            <a:endParaRPr lang="zh-CN" altLang="en-US" sz="2800" dirty="0">
              <a:solidFill>
                <a:schemeClr val="bg2"/>
              </a:solidFill>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1050053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00440"/>
                                        </p:tgtEl>
                                        <p:attrNameLst>
                                          <p:attrName>style.visibility</p:attrName>
                                        </p:attrNameLst>
                                      </p:cBhvr>
                                      <p:to>
                                        <p:strVal val="visible"/>
                                      </p:to>
                                    </p:set>
                                    <p:animEffect transition="in" filter="checkerboard(across)">
                                      <p:cBhvr>
                                        <p:cTn id="7" dur="500"/>
                                        <p:tgtEl>
                                          <p:spTgt spid="7004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00441"/>
                                        </p:tgtEl>
                                        <p:attrNameLst>
                                          <p:attrName>style.visibility</p:attrName>
                                        </p:attrNameLst>
                                      </p:cBhvr>
                                      <p:to>
                                        <p:strVal val="visible"/>
                                      </p:to>
                                    </p:set>
                                    <p:animEffect transition="in" filter="checkerboard(across)">
                                      <p:cBhvr>
                                        <p:cTn id="12" dur="500"/>
                                        <p:tgtEl>
                                          <p:spTgt spid="700441"/>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40" grpId="0" animBg="1"/>
      <p:bldP spid="700441" grpId="0" animBg="1"/>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p:cNvSpPr>
            <a:spLocks noGrp="1" noChangeArrowheads="1"/>
          </p:cNvSpPr>
          <p:nvPr>
            <p:ph type="body" sz="half" idx="1"/>
          </p:nvPr>
        </p:nvSpPr>
        <p:spPr>
          <a:xfrm>
            <a:off x="372925" y="5820222"/>
            <a:ext cx="7295420" cy="1037778"/>
          </a:xfrm>
        </p:spPr>
        <p:txBody>
          <a:bodyPr/>
          <a:lstStyle/>
          <a:p>
            <a:pPr marL="457200" lvl="3" indent="0" algn="ctr" defTabSz="355600">
              <a:lnSpc>
                <a:spcPct val="90000"/>
              </a:lnSpc>
              <a:spcBef>
                <a:spcPct val="0"/>
              </a:spcBef>
              <a:buClrTx/>
              <a:buSzPct val="80000"/>
              <a:buNone/>
              <a:tabLst>
                <a:tab pos="3851275" algn="l"/>
              </a:tabLst>
              <a:defRPr/>
            </a:pPr>
            <a:r>
              <a:rPr lang="zh-CN" altLang="en-US" sz="3200" b="1" kern="1200" dirty="0">
                <a:solidFill>
                  <a:schemeClr val="bg2"/>
                </a:solidFill>
                <a:latin typeface="+mn-ea"/>
                <a:cs typeface="+mn-cs"/>
              </a:rPr>
              <a:t>把整个页表放在寄存器中？</a:t>
            </a:r>
          </a:p>
          <a:p>
            <a:pPr marL="457200" lvl="3" indent="0" algn="ctr" defTabSz="355600">
              <a:lnSpc>
                <a:spcPct val="90000"/>
              </a:lnSpc>
              <a:spcBef>
                <a:spcPct val="0"/>
              </a:spcBef>
              <a:buClrTx/>
              <a:buSzPct val="80000"/>
              <a:buNone/>
              <a:tabLst>
                <a:tab pos="3851275" algn="l"/>
              </a:tabLst>
              <a:defRPr/>
            </a:pPr>
            <a:r>
              <a:rPr lang="zh-CN" altLang="en-US" sz="3200" b="1" kern="1200" dirty="0">
                <a:solidFill>
                  <a:schemeClr val="bg2"/>
                </a:solidFill>
                <a:latin typeface="+mn-ea"/>
                <a:cs typeface="+mn-cs"/>
              </a:rPr>
              <a:t>寄存器价格太贵，不可取。</a:t>
            </a:r>
          </a:p>
        </p:txBody>
      </p:sp>
      <p:sp>
        <p:nvSpPr>
          <p:cNvPr id="517126" name="Text Box 6"/>
          <p:cNvSpPr txBox="1">
            <a:spLocks noChangeArrowheads="1"/>
          </p:cNvSpPr>
          <p:nvPr/>
        </p:nvSpPr>
        <p:spPr bwMode="auto">
          <a:xfrm>
            <a:off x="2339975" y="0"/>
            <a:ext cx="4321175" cy="722249"/>
          </a:xfrm>
          <a:prstGeom prst="rect">
            <a:avLst/>
          </a:prstGeom>
          <a:noFill/>
          <a:ln w="12700" cap="sq">
            <a:noFill/>
            <a:miter lim="800000"/>
            <a:headEnd type="none" w="sm" len="sm"/>
            <a:tailEnd type="none" w="sm" len="sm"/>
          </a:ln>
          <a:effectLst/>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快 表</a:t>
            </a:r>
          </a:p>
        </p:txBody>
      </p:sp>
      <p:sp>
        <p:nvSpPr>
          <p:cNvPr id="34821" name="Text Box 8"/>
          <p:cNvSpPr txBox="1">
            <a:spLocks noChangeArrowheads="1"/>
          </p:cNvSpPr>
          <p:nvPr/>
        </p:nvSpPr>
        <p:spPr bwMode="auto">
          <a:xfrm>
            <a:off x="89442" y="3717032"/>
            <a:ext cx="9144000" cy="1938992"/>
          </a:xfrm>
          <a:prstGeom prst="rect">
            <a:avLst/>
          </a:prstGeom>
          <a:solidFill>
            <a:schemeClr val="tx1">
              <a:lumMod val="85000"/>
            </a:schemeClr>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dirty="0">
                <a:solidFill>
                  <a:schemeClr val="bg2"/>
                </a:solidFill>
              </a:rPr>
              <a:t>当按给定的逻辑地址进行读写时，</a:t>
            </a:r>
            <a:endParaRPr lang="en-US" altLang="zh-CN" dirty="0">
              <a:solidFill>
                <a:schemeClr val="bg2"/>
              </a:solidFill>
            </a:endParaRPr>
          </a:p>
          <a:p>
            <a:pPr eaLnBrk="1" hangingPunct="1">
              <a:spcBef>
                <a:spcPct val="0"/>
              </a:spcBef>
              <a:buClrTx/>
              <a:buSzTx/>
              <a:buNone/>
            </a:pPr>
            <a:r>
              <a:rPr lang="zh-CN" altLang="en-US" dirty="0">
                <a:solidFill>
                  <a:schemeClr val="bg2"/>
                </a:solidFill>
              </a:rPr>
              <a:t>必须访问两次内存，</a:t>
            </a:r>
            <a:r>
              <a:rPr lang="zh-CN" altLang="en-US" dirty="0">
                <a:solidFill>
                  <a:schemeClr val="bg2"/>
                </a:solidFill>
                <a:latin typeface="宋体" panose="02010600030101010101" pitchFamily="2" charset="-122"/>
              </a:rPr>
              <a:t>运行速度要下降一半</a:t>
            </a:r>
            <a:r>
              <a:rPr lang="en-US" altLang="zh-CN" dirty="0">
                <a:solidFill>
                  <a:schemeClr val="bg2"/>
                </a:solidFill>
              </a:rPr>
              <a:t>:</a:t>
            </a:r>
            <a:endParaRPr lang="en-US" altLang="zh-CN" dirty="0">
              <a:solidFill>
                <a:schemeClr val="bg2"/>
              </a:solidFill>
              <a:latin typeface="宋体" panose="02010600030101010101" pitchFamily="2" charset="-122"/>
            </a:endParaRPr>
          </a:p>
          <a:p>
            <a:pPr>
              <a:spcBef>
                <a:spcPct val="0"/>
              </a:spcBef>
              <a:buNone/>
            </a:pPr>
            <a:r>
              <a:rPr lang="zh-CN" altLang="en-US" sz="2800" dirty="0">
                <a:solidFill>
                  <a:schemeClr val="bg2"/>
                </a:solidFill>
              </a:rPr>
              <a:t>第</a:t>
            </a:r>
            <a:r>
              <a:rPr lang="en-US" altLang="zh-CN" sz="2800" dirty="0">
                <a:solidFill>
                  <a:schemeClr val="bg2"/>
                </a:solidFill>
              </a:rPr>
              <a:t>1</a:t>
            </a:r>
            <a:r>
              <a:rPr lang="zh-CN" altLang="en-US" sz="2800" dirty="0">
                <a:solidFill>
                  <a:schemeClr val="bg2"/>
                </a:solidFill>
              </a:rPr>
              <a:t>次：访问内存中的页表，按页号读出块号；</a:t>
            </a:r>
            <a:endParaRPr lang="en-US" altLang="zh-CN" sz="2800" dirty="0">
              <a:solidFill>
                <a:schemeClr val="bg2"/>
              </a:solidFill>
            </a:endParaRPr>
          </a:p>
          <a:p>
            <a:pPr>
              <a:spcBef>
                <a:spcPct val="0"/>
              </a:spcBef>
              <a:buNone/>
            </a:pPr>
            <a:r>
              <a:rPr lang="zh-CN" altLang="en-US" sz="2800" dirty="0">
                <a:solidFill>
                  <a:schemeClr val="bg2"/>
                </a:solidFill>
              </a:rPr>
              <a:t>第</a:t>
            </a:r>
            <a:r>
              <a:rPr lang="en-US" altLang="zh-CN" sz="2800" dirty="0">
                <a:solidFill>
                  <a:schemeClr val="bg2"/>
                </a:solidFill>
              </a:rPr>
              <a:t>2</a:t>
            </a:r>
            <a:r>
              <a:rPr lang="zh-CN" altLang="en-US" sz="2800" dirty="0">
                <a:solidFill>
                  <a:schemeClr val="bg2"/>
                </a:solidFill>
              </a:rPr>
              <a:t>次：按计算出的物理地址进行读写。</a:t>
            </a:r>
            <a:endParaRPr lang="zh-CN" altLang="en-US" dirty="0">
              <a:solidFill>
                <a:schemeClr val="bg2"/>
              </a:solidFill>
              <a:latin typeface="宋体" panose="02010600030101010101" pitchFamily="2" charset="-122"/>
            </a:endParaRPr>
          </a:p>
        </p:txBody>
      </p:sp>
      <p:sp>
        <p:nvSpPr>
          <p:cNvPr id="7" name="Rectangle 3">
            <a:extLst>
              <a:ext uri="{FF2B5EF4-FFF2-40B4-BE49-F238E27FC236}">
                <a16:creationId xmlns:a16="http://schemas.microsoft.com/office/drawing/2014/main" id="{9E793E9E-F6A6-4DF2-B027-B306988F1199}"/>
              </a:ext>
            </a:extLst>
          </p:cNvPr>
          <p:cNvSpPr txBox="1">
            <a:spLocks noChangeArrowheads="1"/>
          </p:cNvSpPr>
          <p:nvPr/>
        </p:nvSpPr>
        <p:spPr bwMode="auto">
          <a:xfrm>
            <a:off x="18458" y="722249"/>
            <a:ext cx="8893175" cy="2706751"/>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快表</a:t>
            </a:r>
            <a:r>
              <a:rPr lang="en-US" altLang="zh-CN" sz="3600" b="1" kern="1200" dirty="0">
                <a:solidFill>
                  <a:schemeClr val="bg1"/>
                </a:solidFill>
                <a:latin typeface="+mj-lt"/>
                <a:ea typeface="楷体" panose="02010609060101010101" pitchFamily="49" charset="-122"/>
                <a:cs typeface="+mn-cs"/>
              </a:rPr>
              <a:t>TLB (</a:t>
            </a:r>
            <a:r>
              <a:rPr lang="en-US" altLang="zh-CN" sz="2800" b="1" kern="1200" dirty="0">
                <a:solidFill>
                  <a:schemeClr val="bg1"/>
                </a:solidFill>
                <a:latin typeface="+mj-lt"/>
                <a:ea typeface="楷体" panose="02010609060101010101" pitchFamily="49" charset="-122"/>
                <a:cs typeface="+mn-cs"/>
              </a:rPr>
              <a:t>T</a:t>
            </a:r>
            <a:r>
              <a:rPr lang="en-US" altLang="zh-CN" sz="2800" b="1" kern="1200" dirty="0">
                <a:solidFill>
                  <a:schemeClr val="bg2"/>
                </a:solidFill>
                <a:latin typeface="+mj-lt"/>
                <a:ea typeface="楷体" panose="02010609060101010101" pitchFamily="49" charset="-122"/>
                <a:cs typeface="+mn-cs"/>
              </a:rPr>
              <a:t>ranslation</a:t>
            </a:r>
            <a:r>
              <a:rPr lang="en-US" altLang="zh-CN" sz="2800" b="1" kern="1200" dirty="0">
                <a:solidFill>
                  <a:schemeClr val="bg1"/>
                </a:solidFill>
                <a:latin typeface="+mj-lt"/>
                <a:ea typeface="楷体" panose="02010609060101010101" pitchFamily="49" charset="-122"/>
                <a:cs typeface="+mn-cs"/>
              </a:rPr>
              <a:t> L</a:t>
            </a:r>
            <a:r>
              <a:rPr lang="en-US" altLang="zh-CN" sz="2800" b="1" kern="1200" dirty="0">
                <a:solidFill>
                  <a:schemeClr val="bg2"/>
                </a:solidFill>
                <a:latin typeface="+mj-lt"/>
                <a:ea typeface="楷体" panose="02010609060101010101" pitchFamily="49" charset="-122"/>
                <a:cs typeface="+mn-cs"/>
              </a:rPr>
              <a:t>ookaside</a:t>
            </a:r>
            <a:r>
              <a:rPr lang="en-US" altLang="zh-CN" sz="2800" b="1" kern="1200" dirty="0">
                <a:solidFill>
                  <a:schemeClr val="bg1"/>
                </a:solidFill>
                <a:latin typeface="+mj-lt"/>
                <a:ea typeface="楷体" panose="02010609060101010101" pitchFamily="49" charset="-122"/>
                <a:cs typeface="+mn-cs"/>
              </a:rPr>
              <a:t> B</a:t>
            </a:r>
            <a:r>
              <a:rPr lang="en-US" altLang="zh-CN" sz="2800" b="1" kern="1200" dirty="0">
                <a:solidFill>
                  <a:schemeClr val="bg2"/>
                </a:solidFill>
                <a:latin typeface="+mj-lt"/>
                <a:ea typeface="楷体" panose="02010609060101010101" pitchFamily="49" charset="-122"/>
                <a:cs typeface="+mn-cs"/>
              </a:rPr>
              <a:t>uffer</a:t>
            </a:r>
            <a:r>
              <a:rPr lang="zh-CN" altLang="en-US" sz="2800" b="1" kern="1200" dirty="0">
                <a:solidFill>
                  <a:schemeClr val="bg1"/>
                </a:solidFill>
                <a:latin typeface="+mj-lt"/>
                <a:ea typeface="楷体" panose="02010609060101010101" pitchFamily="49" charset="-122"/>
                <a:cs typeface="+mn-cs"/>
              </a:rPr>
              <a:t>旁路转换缓冲区</a:t>
            </a:r>
            <a:r>
              <a:rPr lang="en-US" altLang="zh-CN" sz="3600" b="1" kern="1200" dirty="0">
                <a:solidFill>
                  <a:schemeClr val="bg1"/>
                </a:solidFill>
                <a:latin typeface="+mj-lt"/>
                <a:ea typeface="楷体" panose="02010609060101010101" pitchFamily="49" charset="-122"/>
                <a:cs typeface="+mn-cs"/>
              </a:rPr>
              <a:t>)</a:t>
            </a:r>
            <a:r>
              <a:rPr lang="zh-CN" altLang="en-US" sz="3600" b="1" kern="1200" dirty="0">
                <a:solidFill>
                  <a:schemeClr val="bg1"/>
                </a:solidFill>
                <a:latin typeface="+mj-lt"/>
                <a:ea typeface="楷体" panose="02010609060101010101" pitchFamily="49" charset="-122"/>
                <a:cs typeface="+mn-cs"/>
              </a:rPr>
              <a:t>（</a:t>
            </a:r>
            <a:r>
              <a:rPr lang="en-US" altLang="en-US" sz="3600" dirty="0">
                <a:solidFill>
                  <a:srgbClr val="3366FF"/>
                </a:solidFill>
              </a:rPr>
              <a:t> </a:t>
            </a:r>
            <a:r>
              <a:rPr lang="en-US" altLang="en-US" sz="3600" dirty="0">
                <a:solidFill>
                  <a:schemeClr val="bg1"/>
                </a:solidFill>
                <a:latin typeface="+mj-lt"/>
                <a:ea typeface="楷体" panose="02010609060101010101" pitchFamily="49" charset="-122"/>
              </a:rPr>
              <a:t>associative memory </a:t>
            </a:r>
            <a:r>
              <a:rPr lang="zh-CN" altLang="en-US" sz="3600" b="1" kern="1200" dirty="0">
                <a:solidFill>
                  <a:schemeClr val="bg1"/>
                </a:solidFill>
                <a:latin typeface="+mj-lt"/>
                <a:ea typeface="楷体" panose="02010609060101010101" pitchFamily="49" charset="-122"/>
                <a:cs typeface="+mn-cs"/>
              </a:rPr>
              <a:t>）</a:t>
            </a:r>
          </a:p>
          <a:p>
            <a:pPr marL="812800" lvl="3" indent="-355600" defTabSz="355600">
              <a:lnSpc>
                <a:spcPct val="90000"/>
              </a:lnSpc>
              <a:spcBef>
                <a:spcPct val="0"/>
              </a:spcBef>
              <a:buClr>
                <a:schemeClr val="bg2"/>
              </a:buClr>
              <a:buSzPct val="8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存放当前进程</a:t>
            </a:r>
            <a:r>
              <a:rPr lang="zh-CN" altLang="en-US" sz="3200" b="1" kern="1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部分</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页表项</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8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sym typeface="Symbol" panose="05050102010706020507" pitchFamily="18" charset="2"/>
              </a:rPr>
              <a:t>价格昂贵，</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处理器硬件支持并行查找（</a:t>
            </a:r>
            <a:r>
              <a:rPr lang="en-US"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parallel search</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endPar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8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“局部性”原理</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1295624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blinds(horizontal)">
                                      <p:cBhvr>
                                        <p:cTn id="7" dur="500"/>
                                        <p:tgtEl>
                                          <p:spTgt spid="5171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17123">
                                            <p:txEl>
                                              <p:pRg st="1" end="1"/>
                                            </p:txEl>
                                          </p:spTgt>
                                        </p:tgtEl>
                                        <p:attrNameLst>
                                          <p:attrName>style.visibility</p:attrName>
                                        </p:attrNameLst>
                                      </p:cBhvr>
                                      <p:to>
                                        <p:strVal val="visible"/>
                                      </p:to>
                                    </p:set>
                                    <p:animEffect transition="in" filter="blinds(horizontal)">
                                      <p:cBhvr>
                                        <p:cTn id="10" dur="500"/>
                                        <p:tgtEl>
                                          <p:spTgt spid="51712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17126"/>
                                        </p:tgtEl>
                                        <p:attrNameLst>
                                          <p:attrName>style.visibility</p:attrName>
                                        </p:attrNameLst>
                                      </p:cBhvr>
                                      <p:to>
                                        <p:strVal val="visible"/>
                                      </p:to>
                                    </p:set>
                                    <p:animEffect transition="in" filter="dissolve">
                                      <p:cBhvr>
                                        <p:cTn id="15" dur="500"/>
                                        <p:tgtEl>
                                          <p:spTgt spid="51712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blinds(horizontal)">
                                      <p:cBhvr>
                                        <p:cTn id="20" dur="500"/>
                                        <p:tgtEl>
                                          <p:spTgt spid="7">
                                            <p:txEl>
                                              <p:pRg st="0" end="0"/>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blinds(horizontal)">
                                      <p:cBhvr>
                                        <p:cTn id="23" dur="500"/>
                                        <p:tgtEl>
                                          <p:spTgt spid="7">
                                            <p:txEl>
                                              <p:pRg st="1" end="1"/>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blinds(horizontal)">
                                      <p:cBhvr>
                                        <p:cTn id="26" dur="500"/>
                                        <p:tgtEl>
                                          <p:spTgt spid="7">
                                            <p:txEl>
                                              <p:pRg st="2" end="2"/>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blinds(horizontal)">
                                      <p:cBhvr>
                                        <p:cTn id="29" dur="500"/>
                                        <p:tgtEl>
                                          <p:spTgt spid="7">
                                            <p:txEl>
                                              <p:pRg st="3" end="3"/>
                                            </p:txEl>
                                          </p:spTgt>
                                        </p:tgtEl>
                                      </p:cBhvr>
                                    </p:animEffect>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6" grpId="0"/>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l="1364" t="1157" r="1537" b="1157"/>
          <a:stretch>
            <a:fillRect/>
          </a:stretch>
        </p:blipFill>
        <p:spPr bwMode="auto">
          <a:xfrm>
            <a:off x="741363" y="904875"/>
            <a:ext cx="7712075" cy="524986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8915" name="Text Box 4"/>
          <p:cNvSpPr txBox="1">
            <a:spLocks noChangeArrowheads="1"/>
          </p:cNvSpPr>
          <p:nvPr/>
        </p:nvSpPr>
        <p:spPr bwMode="auto">
          <a:xfrm>
            <a:off x="3046030" y="6276848"/>
            <a:ext cx="33746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600" dirty="0"/>
              <a:t>（</a:t>
            </a:r>
            <a:r>
              <a:rPr lang="zh-CN" altLang="en-US" sz="2000" dirty="0">
                <a:solidFill>
                  <a:schemeClr val="bg2"/>
                </a:solidFill>
              </a:rPr>
              <a:t>图 </a:t>
            </a:r>
            <a:r>
              <a:rPr lang="en-US" altLang="zh-CN" sz="2000" dirty="0">
                <a:solidFill>
                  <a:schemeClr val="bg2"/>
                </a:solidFill>
              </a:rPr>
              <a:t>7-13</a:t>
            </a:r>
            <a:r>
              <a:rPr lang="zh-CN" altLang="en-US" sz="2000" dirty="0">
                <a:solidFill>
                  <a:schemeClr val="bg2"/>
                </a:solidFill>
              </a:rPr>
              <a:t>  带</a:t>
            </a:r>
            <a:r>
              <a:rPr lang="en-US" altLang="zh-CN" sz="2000" dirty="0">
                <a:solidFill>
                  <a:schemeClr val="bg2"/>
                </a:solidFill>
              </a:rPr>
              <a:t>TLB</a:t>
            </a:r>
            <a:r>
              <a:rPr lang="zh-CN" altLang="en-US" sz="2000" dirty="0">
                <a:solidFill>
                  <a:schemeClr val="bg2"/>
                </a:solidFill>
              </a:rPr>
              <a:t>的分页硬件</a:t>
            </a:r>
            <a:endParaRPr lang="zh-CN" altLang="en-US" sz="2000" dirty="0">
              <a:solidFill>
                <a:srgbClr val="7030A0"/>
              </a:solidFill>
            </a:endParaRPr>
          </a:p>
        </p:txBody>
      </p:sp>
      <p:sp>
        <p:nvSpPr>
          <p:cNvPr id="38916" name="Text Box 5"/>
          <p:cNvSpPr txBox="1">
            <a:spLocks noChangeArrowheads="1"/>
          </p:cNvSpPr>
          <p:nvPr/>
        </p:nvSpPr>
        <p:spPr bwMode="auto">
          <a:xfrm>
            <a:off x="5208588" y="2284413"/>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先</a:t>
            </a:r>
          </a:p>
        </p:txBody>
      </p:sp>
      <p:sp>
        <p:nvSpPr>
          <p:cNvPr id="38917" name="Text Box 6"/>
          <p:cNvSpPr txBox="1">
            <a:spLocks noChangeArrowheads="1"/>
          </p:cNvSpPr>
          <p:nvPr/>
        </p:nvSpPr>
        <p:spPr bwMode="auto">
          <a:xfrm>
            <a:off x="5435600" y="3835400"/>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后</a:t>
            </a:r>
          </a:p>
        </p:txBody>
      </p:sp>
      <p:sp>
        <p:nvSpPr>
          <p:cNvPr id="10" name="Rectangle 14"/>
          <p:cNvSpPr>
            <a:spLocks noChangeArrowheads="1"/>
          </p:cNvSpPr>
          <p:nvPr/>
        </p:nvSpPr>
        <p:spPr bwMode="auto">
          <a:xfrm>
            <a:off x="1547664" y="0"/>
            <a:ext cx="6572250" cy="715581"/>
          </a:xfrm>
          <a:prstGeom prst="rect">
            <a:avLst/>
          </a:prstGeom>
          <a:noFill/>
          <a:ln w="12700" cap="sq">
            <a:noFill/>
            <a:miter lim="800000"/>
            <a:headEnd type="none" w="sm" len="sm"/>
            <a:tailEnd type="none" w="sm" len="sm"/>
          </a:ln>
          <a:effectLst/>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带</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TLB</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的页式地址映射过程</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59772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59D8CD0-60C1-4D2D-8D38-AD5D4CAF8CE6}"/>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4" name="Rectangle 2">
            <a:extLst>
              <a:ext uri="{FF2B5EF4-FFF2-40B4-BE49-F238E27FC236}">
                <a16:creationId xmlns:a16="http://schemas.microsoft.com/office/drawing/2014/main" id="{5A572876-F243-4ACF-9032-C04B86B17618}"/>
              </a:ext>
            </a:extLst>
          </p:cNvPr>
          <p:cNvSpPr txBox="1">
            <a:spLocks noChangeArrowheads="1"/>
          </p:cNvSpPr>
          <p:nvPr/>
        </p:nvSpPr>
        <p:spPr>
          <a:xfrm>
            <a:off x="2429283" y="10321"/>
            <a:ext cx="4335016"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TLB</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的更新</a:t>
            </a:r>
            <a:endParaRPr lang="zh-CN"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sp>
        <p:nvSpPr>
          <p:cNvPr id="24" name="Rectangle 4">
            <a:extLst>
              <a:ext uri="{FF2B5EF4-FFF2-40B4-BE49-F238E27FC236}">
                <a16:creationId xmlns:a16="http://schemas.microsoft.com/office/drawing/2014/main" id="{924CDD07-7EC4-4FB6-A198-84391A9CA833}"/>
              </a:ext>
            </a:extLst>
          </p:cNvPr>
          <p:cNvSpPr txBox="1">
            <a:spLocks noChangeArrowheads="1"/>
          </p:cNvSpPr>
          <p:nvPr/>
        </p:nvSpPr>
        <p:spPr>
          <a:xfrm>
            <a:off x="107504" y="1534142"/>
            <a:ext cx="9142575" cy="303630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3851275" algn="l"/>
              </a:tabLst>
              <a:defRPr/>
            </a:pPr>
            <a:r>
              <a:rPr lang="en-US" altLang="zh-CN" sz="3600" dirty="0">
                <a:solidFill>
                  <a:schemeClr val="bg1"/>
                </a:solidFill>
                <a:latin typeface="+mj-lt"/>
                <a:ea typeface="楷体" panose="02010609060101010101" pitchFamily="49" charset="-122"/>
                <a:sym typeface="Symbol" panose="05050102010706020507" pitchFamily="18" charset="2"/>
              </a:rPr>
              <a:t>TLB</a:t>
            </a:r>
            <a:r>
              <a:rPr lang="zh-CN" altLang="en-US" sz="3600" dirty="0">
                <a:solidFill>
                  <a:schemeClr val="bg1"/>
                </a:solidFill>
                <a:latin typeface="+mj-lt"/>
                <a:ea typeface="楷体" panose="02010609060101010101" pitchFamily="49" charset="-122"/>
                <a:sym typeface="Symbol" panose="05050102010706020507" pitchFamily="18" charset="2"/>
              </a:rPr>
              <a:t>未命中，将页表中查到的页表项载入</a:t>
            </a:r>
            <a:endParaRPr lang="en-US" altLang="zh-CN" sz="3600" dirty="0">
              <a:solidFill>
                <a:schemeClr val="bg1"/>
              </a:solidFill>
              <a:latin typeface="+mj-lt"/>
              <a:ea typeface="楷体" panose="02010609060101010101" pitchFamily="49" charset="-122"/>
              <a:sym typeface="Symbol" panose="05050102010706020507" pitchFamily="18" charset="2"/>
            </a:endParaRPr>
          </a:p>
          <a:p>
            <a:pPr marL="812800" lvl="3" indent="-355600" defTabSz="355600">
              <a:lnSpc>
                <a:spcPts val="4500"/>
              </a:lnSpc>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如果</a:t>
            </a:r>
            <a:r>
              <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TLB</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已满，选择一个被淘汰的条目</a:t>
            </a:r>
            <a:endPar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sym typeface="Symbol" panose="05050102010706020507" pitchFamily="18" charset="2"/>
              </a:rPr>
              <a:t>某些</a:t>
            </a:r>
            <a:r>
              <a:rPr lang="en-US" altLang="zh-CN" sz="3600" dirty="0">
                <a:solidFill>
                  <a:schemeClr val="bg1"/>
                </a:solidFill>
                <a:latin typeface="+mj-lt"/>
                <a:ea typeface="楷体" panose="02010609060101010101" pitchFamily="49" charset="-122"/>
                <a:sym typeface="Symbol" panose="05050102010706020507" pitchFamily="18" charset="2"/>
              </a:rPr>
              <a:t>TLB</a:t>
            </a:r>
            <a:r>
              <a:rPr lang="zh-CN" altLang="en-US" sz="3600" dirty="0">
                <a:solidFill>
                  <a:schemeClr val="bg1"/>
                </a:solidFill>
                <a:latin typeface="+mj-lt"/>
                <a:ea typeface="楷体" panose="02010609060101010101" pitchFamily="49" charset="-122"/>
                <a:sym typeface="Symbol" panose="05050102010706020507" pitchFamily="18" charset="2"/>
              </a:rPr>
              <a:t>的设计能够将某些条目固定下来</a:t>
            </a:r>
            <a:r>
              <a:rPr lang="en-US" altLang="zh-CN" sz="3600" dirty="0">
                <a:solidFill>
                  <a:schemeClr val="bg1"/>
                </a:solidFill>
                <a:latin typeface="+mj-lt"/>
                <a:ea typeface="楷体" panose="02010609060101010101" pitchFamily="49" charset="-122"/>
                <a:sym typeface="Symbol" panose="05050102010706020507" pitchFamily="18" charset="2"/>
              </a:rPr>
              <a:t>(</a:t>
            </a:r>
            <a:r>
              <a:rPr lang="zh-CN" altLang="en-US" sz="3600" dirty="0">
                <a:solidFill>
                  <a:schemeClr val="bg1"/>
                </a:solidFill>
                <a:latin typeface="+mj-lt"/>
                <a:ea typeface="楷体" panose="02010609060101010101" pitchFamily="49" charset="-122"/>
                <a:sym typeface="Symbol" panose="05050102010706020507" pitchFamily="18" charset="2"/>
              </a:rPr>
              <a:t>如内核代码</a:t>
            </a:r>
            <a:r>
              <a:rPr lang="en-US" altLang="zh-CN" sz="3600" dirty="0">
                <a:solidFill>
                  <a:schemeClr val="bg1"/>
                </a:solidFill>
                <a:latin typeface="+mj-lt"/>
                <a:ea typeface="楷体" panose="02010609060101010101" pitchFamily="49" charset="-122"/>
                <a:sym typeface="Symbol" panose="05050102010706020507" pitchFamily="18" charset="2"/>
              </a:rPr>
              <a:t>)</a:t>
            </a:r>
            <a:r>
              <a:rPr lang="zh-CN" altLang="en-US" sz="3600" dirty="0">
                <a:solidFill>
                  <a:schemeClr val="bg1"/>
                </a:solidFill>
                <a:latin typeface="+mj-lt"/>
                <a:ea typeface="楷体" panose="02010609060101010101" pitchFamily="49" charset="-122"/>
                <a:sym typeface="Symbol" panose="05050102010706020507" pitchFamily="18" charset="2"/>
              </a:rPr>
              <a:t>，不被替换</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sym typeface="Symbol" panose="05050102010706020507" pitchFamily="18" charset="2"/>
              </a:rPr>
              <a:t>进程切换后，所有的</a:t>
            </a:r>
            <a:r>
              <a:rPr lang="en-US" altLang="zh-CN" sz="3600" dirty="0">
                <a:solidFill>
                  <a:schemeClr val="bg1"/>
                </a:solidFill>
                <a:latin typeface="+mj-lt"/>
                <a:ea typeface="楷体" panose="02010609060101010101" pitchFamily="49" charset="-122"/>
                <a:sym typeface="Symbol" panose="05050102010706020507" pitchFamily="18" charset="2"/>
              </a:rPr>
              <a:t>TLB</a:t>
            </a:r>
            <a:r>
              <a:rPr lang="zh-CN" altLang="en-US" sz="3600" dirty="0">
                <a:solidFill>
                  <a:schemeClr val="bg1"/>
                </a:solidFill>
                <a:latin typeface="+mj-lt"/>
                <a:ea typeface="楷体" panose="02010609060101010101" pitchFamily="49" charset="-122"/>
                <a:sym typeface="Symbol" panose="05050102010706020507" pitchFamily="18" charset="2"/>
              </a:rPr>
              <a:t>表项都变为无效</a:t>
            </a:r>
            <a:endParaRPr lang="zh-CN" altLang="en-US" sz="3600" dirty="0">
              <a:solidFill>
                <a:schemeClr val="bg1"/>
              </a:solidFill>
              <a:latin typeface="+mj-lt"/>
              <a:ea typeface="楷体" panose="02010609060101010101" pitchFamily="49" charset="-122"/>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7351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3" name="Rectangle 3"/>
          <p:cNvSpPr>
            <a:spLocks noGrp="1" noChangeArrowheads="1"/>
          </p:cNvSpPr>
          <p:nvPr>
            <p:ph type="subTitle" idx="1"/>
          </p:nvPr>
        </p:nvSpPr>
        <p:spPr>
          <a:xfrm>
            <a:off x="1411287" y="1656392"/>
            <a:ext cx="6400800" cy="576262"/>
          </a:xfrm>
        </p:spPr>
        <p:txBody>
          <a:bodyPr/>
          <a:lstStyle/>
          <a:p>
            <a:pPr>
              <a:lnSpc>
                <a:spcPct val="90000"/>
              </a:lnSpc>
            </a:pPr>
            <a:r>
              <a:rPr lang="zh-CN" altLang="en-US" b="1" dirty="0">
                <a:solidFill>
                  <a:schemeClr val="bg2"/>
                </a:solidFill>
              </a:rPr>
              <a:t>快表命中率统计</a:t>
            </a:r>
          </a:p>
        </p:txBody>
      </p:sp>
      <p:graphicFrame>
        <p:nvGraphicFramePr>
          <p:cNvPr id="25630" name="Group 30"/>
          <p:cNvGraphicFramePr>
            <a:graphicFrameLocks noGrp="1"/>
          </p:cNvGraphicFramePr>
          <p:nvPr>
            <p:ph type="ctrTitle"/>
            <p:extLst>
              <p:ext uri="{D42A27DB-BD31-4B8C-83A1-F6EECF244321}">
                <p14:modId xmlns:p14="http://schemas.microsoft.com/office/powerpoint/2010/main" val="2019509474"/>
              </p:ext>
            </p:extLst>
          </p:nvPr>
        </p:nvGraphicFramePr>
        <p:xfrm>
          <a:off x="471487" y="2160165"/>
          <a:ext cx="8496300" cy="1828800"/>
        </p:xfrm>
        <a:graphic>
          <a:graphicData uri="http://schemas.openxmlformats.org/drawingml/2006/table">
            <a:tbl>
              <a:tblPr/>
              <a:tblGrid>
                <a:gridCol w="3640138">
                  <a:extLst>
                    <a:ext uri="{9D8B030D-6E8A-4147-A177-3AD203B41FA5}">
                      <a16:colId xmlns:a16="http://schemas.microsoft.com/office/drawing/2014/main" val="20000"/>
                    </a:ext>
                  </a:extLst>
                </a:gridCol>
                <a:gridCol w="4856162">
                  <a:extLst>
                    <a:ext uri="{9D8B030D-6E8A-4147-A177-3AD203B41FA5}">
                      <a16:colId xmlns:a16="http://schemas.microsoft.com/office/drawing/2014/main" val="20001"/>
                    </a:ext>
                  </a:extLst>
                </a:gridCol>
              </a:tblGrid>
              <a:tr h="343222">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高速缓冲存储器的单元数</a:t>
                      </a:r>
                      <a:endParaRPr kumimoji="1" lang="zh-CN" altLang="en-US" sz="24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平均命中率</a:t>
                      </a:r>
                      <a:endParaRPr kumimoji="1" lang="zh-CN" altLang="en-US" sz="24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355600">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8</a:t>
                      </a:r>
                      <a:endParaRPr kumimoji="1" lang="en-US" altLang="zh-CN" sz="2400" b="1" i="0" u="none" strike="noStrike" cap="none" normalizeH="0" baseline="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85%</a:t>
                      </a:r>
                      <a:endParaRPr kumimoji="1" lang="en-US" altLang="zh-CN" sz="2400" b="1" i="0" u="none" strike="noStrike" cap="none" normalizeH="0" baseline="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354013">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12</a:t>
                      </a:r>
                      <a:endParaRPr kumimoji="1" lang="en-US" altLang="zh-CN" sz="2400" b="1" i="0" u="none" strike="noStrike" cap="none" normalizeH="0" baseline="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bg2"/>
                          </a:solidFill>
                          <a:effectLst/>
                          <a:latin typeface="Times New Roman" panose="02020603050405020304" pitchFamily="18" charset="0"/>
                          <a:ea typeface="宋体" panose="02010600030101010101" pitchFamily="2" charset="-122"/>
                        </a:rPr>
                        <a:t>90-93%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2"/>
                  </a:ext>
                </a:extLst>
              </a:tr>
              <a:tr h="373063">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16</a:t>
                      </a:r>
                      <a:endParaRPr kumimoji="1" lang="en-US" altLang="zh-CN" sz="24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lvl1pPr marL="342900" indent="-342900" eaLnBrk="0" hangingPunct="0">
                        <a:spcBef>
                          <a:spcPct val="20000"/>
                        </a:spcBef>
                        <a:buClr>
                          <a:srgbClr val="FFABFF"/>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Times New Roman" panose="02020603050405020304" pitchFamily="18" charset="0"/>
                          <a:ea typeface="Arial Unicode MS" panose="020B0604020202020204" pitchFamily="34" charset="-122"/>
                          <a:cs typeface="Arial Unicode MS" panose="020B0604020202020204" pitchFamily="34" charset="-122"/>
                        </a:rPr>
                        <a:t>97%</a:t>
                      </a:r>
                      <a:endParaRPr kumimoji="1" lang="en-US" altLang="zh-CN" sz="2400" b="1"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bl>
          </a:graphicData>
        </a:graphic>
      </p:graphicFrame>
      <p:sp>
        <p:nvSpPr>
          <p:cNvPr id="2" name="文本框 1"/>
          <p:cNvSpPr txBox="1">
            <a:spLocks noChangeArrowheads="1"/>
          </p:cNvSpPr>
          <p:nvPr/>
        </p:nvSpPr>
        <p:spPr bwMode="auto">
          <a:xfrm>
            <a:off x="579437" y="984622"/>
            <a:ext cx="8280400" cy="5847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solidFill>
                  <a:schemeClr val="bg2"/>
                </a:solidFill>
                <a:effectLst>
                  <a:outerShdw blurRad="38100" dist="38100" dir="2700000" algn="tl">
                    <a:srgbClr val="000000">
                      <a:alpha val="43137"/>
                    </a:srgbClr>
                  </a:outerShdw>
                </a:effectLst>
              </a:rPr>
              <a:t>通过查找快表就能实现内存访问的成功率。</a:t>
            </a:r>
          </a:p>
        </p:txBody>
      </p:sp>
      <p:sp>
        <p:nvSpPr>
          <p:cNvPr id="4" name="矩形 3"/>
          <p:cNvSpPr/>
          <p:nvPr/>
        </p:nvSpPr>
        <p:spPr>
          <a:xfrm>
            <a:off x="3492189" y="132123"/>
            <a:ext cx="2159620" cy="646113"/>
          </a:xfrm>
          <a:prstGeom prst="rect">
            <a:avLst/>
          </a:prstGeom>
          <a:solidFill>
            <a:srgbClr val="00EE6C"/>
          </a:solidFill>
        </p:spPr>
        <p:txBody>
          <a:bodyPr wrap="square">
            <a:spAutoFit/>
          </a:bodyPr>
          <a:lstStyle/>
          <a:p>
            <a:pPr eaLnBrk="1" hangingPunct="1">
              <a:defRPr/>
            </a:pPr>
            <a:r>
              <a:rPr lang="zh-CN" altLang="en-US" sz="3600" dirty="0">
                <a:solidFill>
                  <a:schemeClr val="bg2"/>
                </a:solidFill>
                <a:effectLst>
                  <a:outerShdw blurRad="38100" dist="38100" dir="2700000" algn="tl">
                    <a:srgbClr val="000000">
                      <a:alpha val="43137"/>
                    </a:srgbClr>
                  </a:outerShdw>
                </a:effectLst>
              </a:rPr>
              <a:t>命 中 率</a:t>
            </a:r>
          </a:p>
        </p:txBody>
      </p:sp>
      <p:sp>
        <p:nvSpPr>
          <p:cNvPr id="9" name="Rectangle 68">
            <a:extLst>
              <a:ext uri="{FF2B5EF4-FFF2-40B4-BE49-F238E27FC236}">
                <a16:creationId xmlns:a16="http://schemas.microsoft.com/office/drawing/2014/main" id="{9CF45F7D-06FF-4958-B0D1-CE4F20687E56}"/>
              </a:ext>
            </a:extLst>
          </p:cNvPr>
          <p:cNvSpPr>
            <a:spLocks noChangeArrowheads="1"/>
          </p:cNvSpPr>
          <p:nvPr/>
        </p:nvSpPr>
        <p:spPr bwMode="auto">
          <a:xfrm>
            <a:off x="534987" y="3916476"/>
            <a:ext cx="80740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0" indent="0" algn="ctr">
              <a:buNone/>
            </a:pPr>
            <a:r>
              <a:rPr lang="en-US" altLang="zh-CN" dirty="0">
                <a:solidFill>
                  <a:schemeClr val="bg2"/>
                </a:solidFill>
              </a:rPr>
              <a:t>TLB</a:t>
            </a:r>
            <a:r>
              <a:rPr lang="zh-CN" altLang="en-US" dirty="0">
                <a:solidFill>
                  <a:schemeClr val="bg2"/>
                </a:solidFill>
              </a:rPr>
              <a:t>命中时效率会很高，未命中效率会降低，</a:t>
            </a:r>
            <a:endParaRPr lang="en-US" altLang="zh-CN" dirty="0">
              <a:solidFill>
                <a:schemeClr val="bg2"/>
              </a:solidFill>
            </a:endParaRPr>
          </a:p>
          <a:p>
            <a:pPr marL="0" indent="0" algn="ctr">
              <a:spcBef>
                <a:spcPts val="0"/>
              </a:spcBef>
              <a:buNone/>
            </a:pPr>
            <a:r>
              <a:rPr lang="zh-CN" altLang="en-US" dirty="0">
                <a:solidFill>
                  <a:schemeClr val="bg2"/>
                </a:solidFill>
              </a:rPr>
              <a:t>平均后仍表现良好。</a:t>
            </a:r>
            <a:endParaRPr lang="en-US" altLang="zh-CN" dirty="0">
              <a:solidFill>
                <a:schemeClr val="bg2"/>
              </a:solidFill>
            </a:endParaRPr>
          </a:p>
        </p:txBody>
      </p:sp>
      <p:sp>
        <p:nvSpPr>
          <p:cNvPr id="10" name="Text Box 69">
            <a:extLst>
              <a:ext uri="{FF2B5EF4-FFF2-40B4-BE49-F238E27FC236}">
                <a16:creationId xmlns:a16="http://schemas.microsoft.com/office/drawing/2014/main" id="{71F64AAA-61D6-46C6-941A-DFA571014F7C}"/>
              </a:ext>
            </a:extLst>
          </p:cNvPr>
          <p:cNvSpPr txBox="1">
            <a:spLocks noChangeArrowheads="1"/>
          </p:cNvSpPr>
          <p:nvPr/>
        </p:nvSpPr>
        <p:spPr bwMode="auto">
          <a:xfrm>
            <a:off x="303212" y="5262676"/>
            <a:ext cx="8458200" cy="466725"/>
          </a:xfrm>
          <a:prstGeom prst="rect">
            <a:avLst/>
          </a:prstGeom>
          <a:solidFill>
            <a:schemeClr val="tx1">
              <a:lumMod val="95000"/>
            </a:schemeClr>
          </a:solidFill>
          <a:ln w="9525">
            <a:noFill/>
            <a:miter lim="800000"/>
            <a:headEnd/>
            <a:tailEnd/>
          </a:ln>
          <a:effectLst/>
        </p:spPr>
        <p:txBody>
          <a:bodyPr>
            <a:spAutoFit/>
          </a:bodyPr>
          <a:lstStyle/>
          <a:p>
            <a:pPr algn="ctr"/>
            <a:r>
              <a:rPr lang="zh-CN" altLang="en-US" sz="2400" b="1" dirty="0">
                <a:solidFill>
                  <a:srgbClr val="FF0000"/>
                </a:solidFill>
                <a:effectLst>
                  <a:outerShdw blurRad="38100" dist="38100" dir="2700000" algn="tl">
                    <a:srgbClr val="000000">
                      <a:alpha val="43137"/>
                    </a:srgbClr>
                  </a:outerShdw>
                </a:effectLst>
              </a:rPr>
              <a:t>有效访问时间 </a:t>
            </a:r>
            <a:r>
              <a:rPr lang="en-US" altLang="zh-CN" sz="2400" b="1" dirty="0">
                <a:solidFill>
                  <a:schemeClr val="bg2"/>
                </a:solidFill>
              </a:rPr>
              <a:t>= </a:t>
            </a:r>
            <a:r>
              <a:rPr lang="en-US" altLang="zh-CN" sz="2400" b="1" dirty="0" err="1">
                <a:solidFill>
                  <a:schemeClr val="bg2"/>
                </a:solidFill>
              </a:rPr>
              <a:t>HitR</a:t>
            </a:r>
            <a:r>
              <a:rPr lang="en-US" altLang="zh-CN" sz="2400" b="1" dirty="0">
                <a:solidFill>
                  <a:schemeClr val="bg2"/>
                </a:solidFill>
                <a:sym typeface="Symbol" panose="05050102010706020507" pitchFamily="18" charset="2"/>
              </a:rPr>
              <a:t>(TLB+MA) + (1-HitR)(TLB+2MA)</a:t>
            </a:r>
            <a:endParaRPr lang="zh-CN" altLang="zh-CN" sz="2400" b="1" dirty="0">
              <a:solidFill>
                <a:schemeClr val="bg2"/>
              </a:solidFill>
              <a:sym typeface="Symbol" panose="05050102010706020507" pitchFamily="18" charset="2"/>
            </a:endParaRPr>
          </a:p>
        </p:txBody>
      </p:sp>
      <p:sp>
        <p:nvSpPr>
          <p:cNvPr id="11" name="AutoShape 70">
            <a:extLst>
              <a:ext uri="{FF2B5EF4-FFF2-40B4-BE49-F238E27FC236}">
                <a16:creationId xmlns:a16="http://schemas.microsoft.com/office/drawing/2014/main" id="{D8B0621D-5614-4754-AD0B-C5C455E0F13E}"/>
              </a:ext>
            </a:extLst>
          </p:cNvPr>
          <p:cNvSpPr>
            <a:spLocks noChangeArrowheads="1"/>
          </p:cNvSpPr>
          <p:nvPr/>
        </p:nvSpPr>
        <p:spPr bwMode="auto">
          <a:xfrm rot="10800000">
            <a:off x="2424206" y="5896204"/>
            <a:ext cx="1371600" cy="533400"/>
          </a:xfrm>
          <a:prstGeom prst="wedgeRoundRectCallout">
            <a:avLst>
              <a:gd name="adj1" fmla="val -19152"/>
              <a:gd name="adj2" fmla="val 121271"/>
              <a:gd name="adj3" fmla="val 16667"/>
            </a:avLst>
          </a:prstGeom>
          <a:solidFill>
            <a:srgbClr val="929EF8"/>
          </a:solidFill>
          <a:ln w="9525">
            <a:solidFill>
              <a:schemeClr val="tx1"/>
            </a:solidFill>
            <a:miter lim="800000"/>
            <a:headEnd/>
            <a:tailEnd/>
          </a:ln>
          <a:effectLst/>
        </p:spPr>
        <p:txBody>
          <a:bodyPr rot="10800000"/>
          <a:lstStyle/>
          <a:p>
            <a:pPr algn="ctr"/>
            <a:r>
              <a:rPr lang="zh-CN" altLang="en-US" sz="2400" b="1" dirty="0">
                <a:solidFill>
                  <a:schemeClr val="bg2"/>
                </a:solidFill>
              </a:rPr>
              <a:t>命中率</a:t>
            </a:r>
            <a:endParaRPr lang="en-US" altLang="zh-CN" sz="2400" b="1" dirty="0">
              <a:solidFill>
                <a:schemeClr val="bg2"/>
              </a:solidFill>
            </a:endParaRPr>
          </a:p>
        </p:txBody>
      </p:sp>
      <p:sp>
        <p:nvSpPr>
          <p:cNvPr id="12" name="AutoShape 71">
            <a:extLst>
              <a:ext uri="{FF2B5EF4-FFF2-40B4-BE49-F238E27FC236}">
                <a16:creationId xmlns:a16="http://schemas.microsoft.com/office/drawing/2014/main" id="{87BB9EFC-9C9C-40FC-AD51-24E5D46FA19F}"/>
              </a:ext>
            </a:extLst>
          </p:cNvPr>
          <p:cNvSpPr>
            <a:spLocks noChangeArrowheads="1"/>
          </p:cNvSpPr>
          <p:nvPr/>
        </p:nvSpPr>
        <p:spPr bwMode="auto">
          <a:xfrm rot="10800000">
            <a:off x="4418012" y="5881801"/>
            <a:ext cx="2098204" cy="533400"/>
          </a:xfrm>
          <a:prstGeom prst="wedgeRoundRectCallout">
            <a:avLst>
              <a:gd name="adj1" fmla="val 32917"/>
              <a:gd name="adj2" fmla="val 92259"/>
              <a:gd name="adj3" fmla="val 16667"/>
            </a:avLst>
          </a:prstGeom>
          <a:solidFill>
            <a:srgbClr val="929EF8"/>
          </a:solidFill>
          <a:ln w="9525">
            <a:solidFill>
              <a:schemeClr val="tx1"/>
            </a:solidFill>
            <a:miter lim="800000"/>
            <a:headEnd/>
            <a:tailEnd/>
          </a:ln>
          <a:effectLst/>
        </p:spPr>
        <p:txBody>
          <a:bodyPr rot="10800000"/>
          <a:lstStyle/>
          <a:p>
            <a:pPr algn="ctr"/>
            <a:r>
              <a:rPr lang="zh-CN" altLang="en-US" sz="2400" b="1" dirty="0">
                <a:solidFill>
                  <a:schemeClr val="bg2"/>
                </a:solidFill>
              </a:rPr>
              <a:t>内存访问时间</a:t>
            </a:r>
            <a:endParaRPr lang="en-US" altLang="zh-CN" sz="2400" b="1" dirty="0">
              <a:solidFill>
                <a:schemeClr val="bg2"/>
              </a:solidFill>
            </a:endParaRPr>
          </a:p>
        </p:txBody>
      </p:sp>
      <p:sp>
        <p:nvSpPr>
          <p:cNvPr id="13" name="AutoShape 72">
            <a:extLst>
              <a:ext uri="{FF2B5EF4-FFF2-40B4-BE49-F238E27FC236}">
                <a16:creationId xmlns:a16="http://schemas.microsoft.com/office/drawing/2014/main" id="{E901152C-B1FE-487C-B533-E8FE2E487E62}"/>
              </a:ext>
            </a:extLst>
          </p:cNvPr>
          <p:cNvSpPr>
            <a:spLocks noChangeArrowheads="1"/>
          </p:cNvSpPr>
          <p:nvPr/>
        </p:nvSpPr>
        <p:spPr bwMode="auto">
          <a:xfrm rot="10800000">
            <a:off x="7092280" y="5881801"/>
            <a:ext cx="1592932" cy="533400"/>
          </a:xfrm>
          <a:prstGeom prst="wedgeRoundRectCallout">
            <a:avLst>
              <a:gd name="adj1" fmla="val 36000"/>
              <a:gd name="adj2" fmla="val 94343"/>
              <a:gd name="adj3" fmla="val 16667"/>
            </a:avLst>
          </a:prstGeom>
          <a:solidFill>
            <a:srgbClr val="929EF8"/>
          </a:solidFill>
          <a:ln w="9525">
            <a:solidFill>
              <a:schemeClr val="tx1"/>
            </a:solidFill>
            <a:miter lim="800000"/>
            <a:headEnd/>
            <a:tailEnd/>
          </a:ln>
          <a:effectLst/>
        </p:spPr>
        <p:txBody>
          <a:bodyPr rot="10800000"/>
          <a:lstStyle/>
          <a:p>
            <a:pPr algn="ctr"/>
            <a:r>
              <a:rPr lang="en-US" altLang="zh-CN" sz="2400" b="1" dirty="0">
                <a:solidFill>
                  <a:schemeClr val="bg2"/>
                </a:solidFill>
              </a:rPr>
              <a:t>TLB</a:t>
            </a:r>
            <a:r>
              <a:rPr lang="zh-CN" altLang="en-US" sz="2400" b="1" dirty="0">
                <a:solidFill>
                  <a:schemeClr val="bg2"/>
                </a:solidFill>
              </a:rPr>
              <a:t>时间</a:t>
            </a:r>
            <a:endParaRPr lang="en-US" altLang="zh-CN" sz="2400" b="1" dirty="0">
              <a:solidFill>
                <a:schemeClr val="bg2"/>
              </a:solidFill>
            </a:endParaRPr>
          </a:p>
        </p:txBody>
      </p:sp>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9132897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563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dissolv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dissolve">
                                      <p:cBhvr>
                                        <p:cTn id="38" dur="500"/>
                                        <p:tgtEl>
                                          <p:spTgt spid="13"/>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1+#ppt_w/2"/>
                                          </p:val>
                                        </p:tav>
                                        <p:tav tm="100000">
                                          <p:val>
                                            <p:strVal val="#ppt_x"/>
                                          </p:val>
                                        </p:tav>
                                      </p:tavLst>
                                    </p:anim>
                                    <p:anim calcmode="lin" valueType="num">
                                      <p:cBhvr additive="base">
                                        <p:cTn id="4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 grpId="0" animBg="1"/>
      <p:bldP spid="9" grpId="0"/>
      <p:bldP spid="10" grpId="0" animBg="1"/>
      <p:bldP spid="11" grpId="0" animBg="1"/>
      <p:bldP spid="12" grpId="0" animBg="1"/>
      <p:bldP spid="13" grpId="0" animBg="1"/>
      <p:bldP spid="1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DFE0A85D-026E-4F8B-BEA5-1D15F26B1E8F}"/>
              </a:ext>
            </a:extLst>
          </p:cNvPr>
          <p:cNvSpPr/>
          <p:nvPr/>
        </p:nvSpPr>
        <p:spPr>
          <a:xfrm>
            <a:off x="1637750" y="-82657"/>
            <a:ext cx="5868497" cy="1209049"/>
          </a:xfrm>
          <a:prstGeom prst="rect">
            <a:avLst/>
          </a:prstGeom>
          <a:noFill/>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局部性原理</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a:p>
            <a:pPr marL="342900" lvl="1" indent="-342900" algn="ctr" eaLnBrk="1" hangingPunct="1">
              <a:lnSpc>
                <a:spcPct val="110000"/>
              </a:lnSpc>
              <a:buClr>
                <a:schemeClr val="tx2"/>
              </a:buClr>
              <a:buSzPct val="75000"/>
              <a:defRPr/>
            </a:pPr>
            <a:r>
              <a:rPr lang="en-US" altLang="zh-CN" sz="2800" dirty="0">
                <a:solidFill>
                  <a:srgbClr val="006699"/>
                </a:solidFill>
                <a:effectLst>
                  <a:outerShdw blurRad="38100" dist="38100" dir="2700000" algn="tl">
                    <a:srgbClr val="000000">
                      <a:alpha val="43137"/>
                    </a:srgbClr>
                  </a:outerShdw>
                </a:effectLst>
                <a:latin typeface="+mj-lt"/>
                <a:ea typeface="MS PGothic" pitchFamily="34" charset="-128"/>
                <a:cs typeface="+mj-cs"/>
              </a:rPr>
              <a:t>(principle of locality)</a:t>
            </a:r>
            <a:endParaRPr lang="zh-CN" altLang="en-US" sz="28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28" name="TextBox 4">
            <a:extLst>
              <a:ext uri="{FF2B5EF4-FFF2-40B4-BE49-F238E27FC236}">
                <a16:creationId xmlns:a16="http://schemas.microsoft.com/office/drawing/2014/main" id="{87E85C3B-18B0-49F8-B831-81B386FE21B1}"/>
              </a:ext>
            </a:extLst>
          </p:cNvPr>
          <p:cNvSpPr txBox="1">
            <a:spLocks noChangeArrowheads="1"/>
          </p:cNvSpPr>
          <p:nvPr/>
        </p:nvSpPr>
        <p:spPr bwMode="auto">
          <a:xfrm>
            <a:off x="80737" y="646567"/>
            <a:ext cx="8982521" cy="1077218"/>
          </a:xfrm>
          <a:prstGeom prst="rect">
            <a:avLst/>
          </a:prstGeom>
          <a:solidFill>
            <a:schemeClr val="accent6">
              <a:lumMod val="40000"/>
              <a:lumOff val="60000"/>
            </a:schemeClr>
          </a:solidFill>
          <a:ln>
            <a:noFill/>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zh-CN" dirty="0">
                <a:solidFill>
                  <a:schemeClr val="bg2"/>
                </a:solidFill>
                <a:effectLst>
                  <a:outerShdw blurRad="38100" dist="38100" dir="2700000" algn="tl">
                    <a:srgbClr val="000000">
                      <a:alpha val="43137"/>
                    </a:srgbClr>
                  </a:outerShdw>
                </a:effectLst>
              </a:rPr>
              <a:t>程序在执行过程中的一个较短时期，指令地址和指令的操作数地址，分别局限于一定区域。</a:t>
            </a:r>
            <a:endParaRPr lang="en-US" altLang="zh-CN" dirty="0">
              <a:solidFill>
                <a:schemeClr val="bg2"/>
              </a:solidFill>
              <a:effectLst>
                <a:outerShdw blurRad="38100" dist="38100" dir="2700000" algn="tl">
                  <a:srgbClr val="000000">
                    <a:alpha val="43137"/>
                  </a:srgbClr>
                </a:outerShdw>
              </a:effectLst>
            </a:endParaRPr>
          </a:p>
        </p:txBody>
      </p:sp>
      <p:sp>
        <p:nvSpPr>
          <p:cNvPr id="30" name="Rectangle 6">
            <a:extLst>
              <a:ext uri="{FF2B5EF4-FFF2-40B4-BE49-F238E27FC236}">
                <a16:creationId xmlns:a16="http://schemas.microsoft.com/office/drawing/2014/main" id="{4D5AB1F8-1117-4FAC-8EBE-D27F7BBE5E45}"/>
              </a:ext>
            </a:extLst>
          </p:cNvPr>
          <p:cNvSpPr>
            <a:spLocks noChangeArrowheads="1"/>
          </p:cNvSpPr>
          <p:nvPr/>
        </p:nvSpPr>
        <p:spPr bwMode="auto">
          <a:xfrm>
            <a:off x="80737" y="1855616"/>
            <a:ext cx="9144000" cy="4081117"/>
          </a:xfrm>
          <a:prstGeom prst="rect">
            <a:avLst/>
          </a:prstGeom>
          <a:noFill/>
          <a:ln w="9525">
            <a:noFill/>
            <a:miter lim="800000"/>
            <a:headEnd/>
            <a:tailEnd/>
          </a:ln>
        </p:spPr>
        <p:txBody>
          <a:bodyPr>
            <a:spAutoFit/>
          </a:bodyPr>
          <a:lstStyle/>
          <a:p>
            <a:pPr marL="355600" lvl="2" indent="-355600" defTabSz="355600">
              <a:lnSpc>
                <a:spcPct val="12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时间局部性</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 </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 （指令）</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一条指令被执行，有可能在较短时间间隔内被重复执行</a:t>
            </a: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循环、重复调用</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12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空间局部性  （数据）  </a:t>
            </a: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某存储单元被访问，其相邻单元在一定时间内也会被访问</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数组</a:t>
            </a:r>
          </a:p>
        </p:txBody>
      </p:sp>
      <p:sp>
        <p:nvSpPr>
          <p:cNvPr id="31" name="TextBox 8">
            <a:extLst>
              <a:ext uri="{FF2B5EF4-FFF2-40B4-BE49-F238E27FC236}">
                <a16:creationId xmlns:a16="http://schemas.microsoft.com/office/drawing/2014/main" id="{EA657CD4-C5C9-4314-BFBE-B608A92B88DB}"/>
              </a:ext>
            </a:extLst>
          </p:cNvPr>
          <p:cNvSpPr txBox="1"/>
          <p:nvPr/>
        </p:nvSpPr>
        <p:spPr>
          <a:xfrm>
            <a:off x="16756" y="6273225"/>
            <a:ext cx="9144000" cy="584775"/>
          </a:xfrm>
          <a:prstGeom prst="rect">
            <a:avLst/>
          </a:prstGeom>
          <a:solidFill>
            <a:srgbClr val="FFFF66"/>
          </a:solidFill>
        </p:spPr>
        <p:txBody>
          <a:bodyPr wrap="square">
            <a:spAutoFit/>
          </a:bodyPr>
          <a:lstStyle/>
          <a:p>
            <a:pPr algn="ctr" eaLnBrk="1" hangingPunct="1">
              <a:defRPr/>
            </a:pPr>
            <a:r>
              <a:rPr lang="zh-CN" altLang="en-US" sz="3200" dirty="0">
                <a:solidFill>
                  <a:schemeClr val="bg2"/>
                </a:solidFill>
                <a:effectLst>
                  <a:outerShdw blurRad="38100" dist="38100" dir="2700000" algn="tl">
                    <a:srgbClr val="000000">
                      <a:alpha val="43137"/>
                    </a:srgbClr>
                  </a:outerShdw>
                </a:effectLst>
                <a:latin typeface="+mj-lt"/>
                <a:ea typeface="楷体_GB2312" pitchFamily="49" charset="-122"/>
              </a:rPr>
              <a:t>成功案例 ：处理器亲和性、</a:t>
            </a:r>
            <a:r>
              <a:rPr lang="en-US" altLang="zh-CN" sz="3200" dirty="0">
                <a:solidFill>
                  <a:schemeClr val="bg2"/>
                </a:solidFill>
                <a:effectLst>
                  <a:outerShdw blurRad="38100" dist="38100" dir="2700000" algn="tl">
                    <a:srgbClr val="000000">
                      <a:alpha val="43137"/>
                    </a:srgbClr>
                  </a:outerShdw>
                </a:effectLst>
                <a:latin typeface="+mj-lt"/>
                <a:ea typeface="楷体_GB2312" pitchFamily="49" charset="-122"/>
              </a:rPr>
              <a:t>TLB</a:t>
            </a:r>
            <a:r>
              <a:rPr lang="zh-CN" altLang="en-US" sz="3200" dirty="0">
                <a:solidFill>
                  <a:schemeClr val="bg2"/>
                </a:solidFill>
                <a:effectLst>
                  <a:outerShdw blurRad="38100" dist="38100" dir="2700000" algn="tl">
                    <a:srgbClr val="000000">
                      <a:alpha val="43137"/>
                    </a:srgbClr>
                  </a:outerShdw>
                </a:effectLst>
                <a:latin typeface="+mj-lt"/>
                <a:ea typeface="楷体_GB2312" pitchFamily="49" charset="-122"/>
              </a:rPr>
              <a:t>、覆盖、</a:t>
            </a:r>
            <a:r>
              <a:rPr lang="en-US" altLang="zh-CN" sz="3200" dirty="0">
                <a:solidFill>
                  <a:schemeClr val="bg2"/>
                </a:solidFill>
                <a:effectLst>
                  <a:outerShdw blurRad="38100" dist="38100" dir="2700000" algn="tl">
                    <a:srgbClr val="000000">
                      <a:alpha val="43137"/>
                    </a:srgbClr>
                  </a:outerShdw>
                </a:effectLst>
                <a:latin typeface="+mj-lt"/>
                <a:ea typeface="楷体_GB2312" pitchFamily="49" charset="-122"/>
              </a:rPr>
              <a:t>LRU</a:t>
            </a:r>
            <a:r>
              <a:rPr lang="zh-CN" altLang="en-US" sz="3200" dirty="0">
                <a:solidFill>
                  <a:schemeClr val="bg2"/>
                </a:solidFill>
                <a:effectLst>
                  <a:outerShdw blurRad="38100" dist="38100" dir="2700000" algn="tl">
                    <a:srgbClr val="000000">
                      <a:alpha val="43137"/>
                    </a:srgbClr>
                  </a:outerShdw>
                </a:effectLst>
                <a:latin typeface="+mj-lt"/>
                <a:ea typeface="楷体_GB2312" pitchFamily="49" charset="-122"/>
              </a:rPr>
              <a:t>。</a:t>
            </a:r>
            <a:endParaRPr lang="zh-CN" altLang="en-US" sz="3200" dirty="0">
              <a:solidFill>
                <a:schemeClr val="bg2"/>
              </a:solidFill>
              <a:effectLst>
                <a:outerShdw blurRad="38100" dist="38100" dir="2700000" algn="tl">
                  <a:srgbClr val="000000">
                    <a:alpha val="43137"/>
                  </a:srgbClr>
                </a:outerShdw>
              </a:effectLst>
              <a:latin typeface="+mj-lt"/>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8602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blinds(horizontal)">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
                                            <p:txEl>
                                              <p:pRg st="3" end="3"/>
                                            </p:txEl>
                                          </p:spTgt>
                                        </p:tgtEl>
                                        <p:attrNameLst>
                                          <p:attrName>style.visibility</p:attrName>
                                        </p:attrNameLst>
                                      </p:cBhvr>
                                      <p:to>
                                        <p:strVal val="visible"/>
                                      </p:to>
                                    </p:set>
                                    <p:animEffect transition="in" filter="blinds(horizontal)">
                                      <p:cBhvr>
                                        <p:cTn id="12" dur="500"/>
                                        <p:tgtEl>
                                          <p:spTgt spid="3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1" end="1"/>
                                            </p:txEl>
                                          </p:spTgt>
                                        </p:tgtEl>
                                        <p:attrNameLst>
                                          <p:attrName>style.visibility</p:attrName>
                                        </p:attrNameLst>
                                      </p:cBhvr>
                                      <p:to>
                                        <p:strVal val="visible"/>
                                      </p:to>
                                    </p:set>
                                    <p:animEffect transition="in" filter="fade">
                                      <p:cBhvr>
                                        <p:cTn id="17" dur="2000"/>
                                        <p:tgtEl>
                                          <p:spTgt spid="30">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xEl>
                                              <p:pRg st="2" end="2"/>
                                            </p:txEl>
                                          </p:spTgt>
                                        </p:tgtEl>
                                        <p:attrNameLst>
                                          <p:attrName>style.visibility</p:attrName>
                                        </p:attrNameLst>
                                      </p:cBhvr>
                                      <p:to>
                                        <p:strVal val="visible"/>
                                      </p:to>
                                    </p:set>
                                    <p:animEffect transition="in" filter="fade">
                                      <p:cBhvr>
                                        <p:cTn id="20" dur="2000"/>
                                        <p:tgtEl>
                                          <p:spTgt spid="3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0">
                                            <p:txEl>
                                              <p:pRg st="4" end="4"/>
                                            </p:txEl>
                                          </p:spTgt>
                                        </p:tgtEl>
                                        <p:attrNameLst>
                                          <p:attrName>style.visibility</p:attrName>
                                        </p:attrNameLst>
                                      </p:cBhvr>
                                      <p:to>
                                        <p:strVal val="visible"/>
                                      </p:to>
                                    </p:set>
                                    <p:animEffect transition="in" filter="fade">
                                      <p:cBhvr>
                                        <p:cTn id="25" dur="2000"/>
                                        <p:tgtEl>
                                          <p:spTgt spid="30">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0">
                                            <p:txEl>
                                              <p:pRg st="5" end="5"/>
                                            </p:txEl>
                                          </p:spTgt>
                                        </p:tgtEl>
                                        <p:attrNameLst>
                                          <p:attrName>style.visibility</p:attrName>
                                        </p:attrNameLst>
                                      </p:cBhvr>
                                      <p:to>
                                        <p:strVal val="visible"/>
                                      </p:to>
                                    </p:set>
                                    <p:animEffect transition="in" filter="fade">
                                      <p:cBhvr>
                                        <p:cTn id="30" dur="2000"/>
                                        <p:tgtEl>
                                          <p:spTgt spid="30">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par>
                          <p:cTn id="36" fill="hold">
                            <p:stCondLst>
                              <p:cond delay="500"/>
                            </p:stCondLst>
                            <p:childTnLst>
                              <p:par>
                                <p:cTn id="37" presetID="2" presetClass="entr" presetSubtype="6"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1+#ppt_w/2"/>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a:extLst>
              <a:ext uri="{FF2B5EF4-FFF2-40B4-BE49-F238E27FC236}">
                <a16:creationId xmlns:a16="http://schemas.microsoft.com/office/drawing/2014/main" id="{5FDE01DA-C19E-4C1E-9427-38A0FC4C17B9}"/>
              </a:ext>
            </a:extLst>
          </p:cNvPr>
          <p:cNvSpPr txBox="1">
            <a:spLocks/>
          </p:cNvSpPr>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fld id="{0F3703A3-1889-4D5A-B002-82B1611E7DF6}" type="datetime1">
              <a:rPr lang="zh-CN" altLang="en-US" smtClean="0"/>
              <a:pPr>
                <a:defRPr/>
              </a:pPr>
              <a:t>2024/11/20</a:t>
            </a:fld>
            <a:endParaRPr lang="en-US" altLang="zh-CN"/>
          </a:p>
        </p:txBody>
      </p:sp>
      <p:sp>
        <p:nvSpPr>
          <p:cNvPr id="5" name="矩形 4">
            <a:extLst>
              <a:ext uri="{FF2B5EF4-FFF2-40B4-BE49-F238E27FC236}">
                <a16:creationId xmlns:a16="http://schemas.microsoft.com/office/drawing/2014/main" id="{DFE0A85D-026E-4F8B-BEA5-1D15F26B1E8F}"/>
              </a:ext>
            </a:extLst>
          </p:cNvPr>
          <p:cNvSpPr/>
          <p:nvPr/>
        </p:nvSpPr>
        <p:spPr>
          <a:xfrm>
            <a:off x="1905000" y="10886"/>
            <a:ext cx="5868497" cy="715581"/>
          </a:xfrm>
          <a:prstGeom prst="rect">
            <a:avLst/>
          </a:prstGeom>
          <a:noFill/>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局部性原理示意图</a:t>
            </a:r>
          </a:p>
        </p:txBody>
      </p:sp>
      <p:grpSp>
        <p:nvGrpSpPr>
          <p:cNvPr id="7" name="Group 168">
            <a:extLst>
              <a:ext uri="{FF2B5EF4-FFF2-40B4-BE49-F238E27FC236}">
                <a16:creationId xmlns:a16="http://schemas.microsoft.com/office/drawing/2014/main" id="{C34B2396-173A-4A41-A061-20B063990CF1}"/>
              </a:ext>
            </a:extLst>
          </p:cNvPr>
          <p:cNvGrpSpPr>
            <a:grpSpLocks/>
          </p:cNvGrpSpPr>
          <p:nvPr/>
        </p:nvGrpSpPr>
        <p:grpSpPr bwMode="auto">
          <a:xfrm>
            <a:off x="1627735" y="2518123"/>
            <a:ext cx="6423025" cy="2835275"/>
            <a:chOff x="362" y="2304"/>
            <a:chExt cx="4046" cy="1786"/>
          </a:xfrm>
        </p:grpSpPr>
        <p:sp>
          <p:nvSpPr>
            <p:cNvPr id="8" name="Freeform 137">
              <a:extLst>
                <a:ext uri="{FF2B5EF4-FFF2-40B4-BE49-F238E27FC236}">
                  <a16:creationId xmlns:a16="http://schemas.microsoft.com/office/drawing/2014/main" id="{40432B9B-CF75-45E6-B1D0-CD044B29C3CF}"/>
                </a:ext>
              </a:extLst>
            </p:cNvPr>
            <p:cNvSpPr>
              <a:spLocks/>
            </p:cNvSpPr>
            <p:nvPr/>
          </p:nvSpPr>
          <p:spPr bwMode="auto">
            <a:xfrm>
              <a:off x="803" y="2448"/>
              <a:ext cx="3277" cy="684"/>
            </a:xfrm>
            <a:custGeom>
              <a:avLst/>
              <a:gdLst>
                <a:gd name="T0" fmla="*/ 13 w 4321"/>
                <a:gd name="T1" fmla="*/ 1207 h 1207"/>
                <a:gd name="T2" fmla="*/ 1 w 4321"/>
                <a:gd name="T3" fmla="*/ 1171 h 1207"/>
                <a:gd name="T4" fmla="*/ 73 w 4321"/>
                <a:gd name="T5" fmla="*/ 991 h 1207"/>
                <a:gd name="T6" fmla="*/ 169 w 4321"/>
                <a:gd name="T7" fmla="*/ 667 h 1207"/>
                <a:gd name="T8" fmla="*/ 253 w 4321"/>
                <a:gd name="T9" fmla="*/ 391 h 1207"/>
                <a:gd name="T10" fmla="*/ 301 w 4321"/>
                <a:gd name="T11" fmla="*/ 151 h 1207"/>
                <a:gd name="T12" fmla="*/ 325 w 4321"/>
                <a:gd name="T13" fmla="*/ 115 h 1207"/>
                <a:gd name="T14" fmla="*/ 349 w 4321"/>
                <a:gd name="T15" fmla="*/ 43 h 1207"/>
                <a:gd name="T16" fmla="*/ 373 w 4321"/>
                <a:gd name="T17" fmla="*/ 235 h 1207"/>
                <a:gd name="T18" fmla="*/ 421 w 4321"/>
                <a:gd name="T19" fmla="*/ 499 h 1207"/>
                <a:gd name="T20" fmla="*/ 481 w 4321"/>
                <a:gd name="T21" fmla="*/ 1099 h 1207"/>
                <a:gd name="T22" fmla="*/ 517 w 4321"/>
                <a:gd name="T23" fmla="*/ 1111 h 1207"/>
                <a:gd name="T24" fmla="*/ 589 w 4321"/>
                <a:gd name="T25" fmla="*/ 1123 h 1207"/>
                <a:gd name="T26" fmla="*/ 697 w 4321"/>
                <a:gd name="T27" fmla="*/ 1135 h 1207"/>
                <a:gd name="T28" fmla="*/ 829 w 4321"/>
                <a:gd name="T29" fmla="*/ 1171 h 1207"/>
                <a:gd name="T30" fmla="*/ 913 w 4321"/>
                <a:gd name="T31" fmla="*/ 1171 h 1207"/>
                <a:gd name="T32" fmla="*/ 949 w 4321"/>
                <a:gd name="T33" fmla="*/ 1159 h 1207"/>
                <a:gd name="T34" fmla="*/ 1189 w 4321"/>
                <a:gd name="T35" fmla="*/ 1111 h 1207"/>
                <a:gd name="T36" fmla="*/ 1417 w 4321"/>
                <a:gd name="T37" fmla="*/ 1099 h 1207"/>
                <a:gd name="T38" fmla="*/ 1525 w 4321"/>
                <a:gd name="T39" fmla="*/ 931 h 1207"/>
                <a:gd name="T40" fmla="*/ 1561 w 4321"/>
                <a:gd name="T41" fmla="*/ 571 h 1207"/>
                <a:gd name="T42" fmla="*/ 1621 w 4321"/>
                <a:gd name="T43" fmla="*/ 91 h 1207"/>
                <a:gd name="T44" fmla="*/ 1657 w 4321"/>
                <a:gd name="T45" fmla="*/ 235 h 1207"/>
                <a:gd name="T46" fmla="*/ 1669 w 4321"/>
                <a:gd name="T47" fmla="*/ 271 h 1207"/>
                <a:gd name="T48" fmla="*/ 1705 w 4321"/>
                <a:gd name="T49" fmla="*/ 283 h 1207"/>
                <a:gd name="T50" fmla="*/ 1777 w 4321"/>
                <a:gd name="T51" fmla="*/ 247 h 1207"/>
                <a:gd name="T52" fmla="*/ 1789 w 4321"/>
                <a:gd name="T53" fmla="*/ 307 h 1207"/>
                <a:gd name="T54" fmla="*/ 1801 w 4321"/>
                <a:gd name="T55" fmla="*/ 403 h 1207"/>
                <a:gd name="T56" fmla="*/ 1861 w 4321"/>
                <a:gd name="T57" fmla="*/ 415 h 1207"/>
                <a:gd name="T58" fmla="*/ 1849 w 4321"/>
                <a:gd name="T59" fmla="*/ 547 h 1207"/>
                <a:gd name="T60" fmla="*/ 1837 w 4321"/>
                <a:gd name="T61" fmla="*/ 583 h 1207"/>
                <a:gd name="T62" fmla="*/ 1825 w 4321"/>
                <a:gd name="T63" fmla="*/ 619 h 1207"/>
                <a:gd name="T64" fmla="*/ 1849 w 4321"/>
                <a:gd name="T65" fmla="*/ 715 h 1207"/>
                <a:gd name="T66" fmla="*/ 1861 w 4321"/>
                <a:gd name="T67" fmla="*/ 751 h 1207"/>
                <a:gd name="T68" fmla="*/ 1885 w 4321"/>
                <a:gd name="T69" fmla="*/ 847 h 1207"/>
                <a:gd name="T70" fmla="*/ 1957 w 4321"/>
                <a:gd name="T71" fmla="*/ 1075 h 1207"/>
                <a:gd name="T72" fmla="*/ 2029 w 4321"/>
                <a:gd name="T73" fmla="*/ 1159 h 1207"/>
                <a:gd name="T74" fmla="*/ 2257 w 4321"/>
                <a:gd name="T75" fmla="*/ 1123 h 1207"/>
                <a:gd name="T76" fmla="*/ 2473 w 4321"/>
                <a:gd name="T77" fmla="*/ 1159 h 1207"/>
                <a:gd name="T78" fmla="*/ 2545 w 4321"/>
                <a:gd name="T79" fmla="*/ 1183 h 1207"/>
                <a:gd name="T80" fmla="*/ 2581 w 4321"/>
                <a:gd name="T81" fmla="*/ 1195 h 1207"/>
                <a:gd name="T82" fmla="*/ 2905 w 4321"/>
                <a:gd name="T83" fmla="*/ 1135 h 1207"/>
                <a:gd name="T84" fmla="*/ 3121 w 4321"/>
                <a:gd name="T85" fmla="*/ 1147 h 1207"/>
                <a:gd name="T86" fmla="*/ 3133 w 4321"/>
                <a:gd name="T87" fmla="*/ 931 h 1207"/>
                <a:gd name="T88" fmla="*/ 3169 w 4321"/>
                <a:gd name="T89" fmla="*/ 451 h 1207"/>
                <a:gd name="T90" fmla="*/ 3205 w 4321"/>
                <a:gd name="T91" fmla="*/ 259 h 1207"/>
                <a:gd name="T92" fmla="*/ 3229 w 4321"/>
                <a:gd name="T93" fmla="*/ 187 h 1207"/>
                <a:gd name="T94" fmla="*/ 3241 w 4321"/>
                <a:gd name="T95" fmla="*/ 19 h 1207"/>
                <a:gd name="T96" fmla="*/ 3277 w 4321"/>
                <a:gd name="T97" fmla="*/ 451 h 1207"/>
                <a:gd name="T98" fmla="*/ 3301 w 4321"/>
                <a:gd name="T99" fmla="*/ 967 h 1207"/>
                <a:gd name="T100" fmla="*/ 3361 w 4321"/>
                <a:gd name="T101" fmla="*/ 1135 h 1207"/>
                <a:gd name="T102" fmla="*/ 3481 w 4321"/>
                <a:gd name="T103" fmla="*/ 1135 h 1207"/>
                <a:gd name="T104" fmla="*/ 3565 w 4321"/>
                <a:gd name="T105" fmla="*/ 1123 h 1207"/>
                <a:gd name="T106" fmla="*/ 3625 w 4321"/>
                <a:gd name="T107" fmla="*/ 1111 h 1207"/>
                <a:gd name="T108" fmla="*/ 3697 w 4321"/>
                <a:gd name="T109" fmla="*/ 1087 h 1207"/>
                <a:gd name="T110" fmla="*/ 3985 w 4321"/>
                <a:gd name="T111" fmla="*/ 1075 h 1207"/>
                <a:gd name="T112" fmla="*/ 4129 w 4321"/>
                <a:gd name="T113" fmla="*/ 1111 h 1207"/>
                <a:gd name="T114" fmla="*/ 4177 w 4321"/>
                <a:gd name="T115" fmla="*/ 1183 h 1207"/>
                <a:gd name="T116" fmla="*/ 4225 w 4321"/>
                <a:gd name="T117" fmla="*/ 1171 h 1207"/>
                <a:gd name="T118" fmla="*/ 4321 w 4321"/>
                <a:gd name="T119" fmla="*/ 114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21" h="1207">
                  <a:moveTo>
                    <a:pt x="13" y="1207"/>
                  </a:moveTo>
                  <a:cubicBezTo>
                    <a:pt x="9" y="1195"/>
                    <a:pt x="0" y="1184"/>
                    <a:pt x="1" y="1171"/>
                  </a:cubicBezTo>
                  <a:cubicBezTo>
                    <a:pt x="7" y="1120"/>
                    <a:pt x="43" y="1037"/>
                    <a:pt x="73" y="991"/>
                  </a:cubicBezTo>
                  <a:cubicBezTo>
                    <a:pt x="95" y="881"/>
                    <a:pt x="134" y="773"/>
                    <a:pt x="169" y="667"/>
                  </a:cubicBezTo>
                  <a:cubicBezTo>
                    <a:pt x="199" y="576"/>
                    <a:pt x="223" y="482"/>
                    <a:pt x="253" y="391"/>
                  </a:cubicBezTo>
                  <a:cubicBezTo>
                    <a:pt x="278" y="315"/>
                    <a:pt x="269" y="226"/>
                    <a:pt x="301" y="151"/>
                  </a:cubicBezTo>
                  <a:cubicBezTo>
                    <a:pt x="307" y="138"/>
                    <a:pt x="319" y="128"/>
                    <a:pt x="325" y="115"/>
                  </a:cubicBezTo>
                  <a:cubicBezTo>
                    <a:pt x="335" y="92"/>
                    <a:pt x="349" y="43"/>
                    <a:pt x="349" y="43"/>
                  </a:cubicBezTo>
                  <a:cubicBezTo>
                    <a:pt x="379" y="163"/>
                    <a:pt x="341" y="0"/>
                    <a:pt x="373" y="235"/>
                  </a:cubicBezTo>
                  <a:cubicBezTo>
                    <a:pt x="385" y="324"/>
                    <a:pt x="412" y="409"/>
                    <a:pt x="421" y="499"/>
                  </a:cubicBezTo>
                  <a:cubicBezTo>
                    <a:pt x="442" y="700"/>
                    <a:pt x="465" y="897"/>
                    <a:pt x="481" y="1099"/>
                  </a:cubicBezTo>
                  <a:cubicBezTo>
                    <a:pt x="482" y="1112"/>
                    <a:pt x="505" y="1108"/>
                    <a:pt x="517" y="1111"/>
                  </a:cubicBezTo>
                  <a:cubicBezTo>
                    <a:pt x="541" y="1116"/>
                    <a:pt x="565" y="1120"/>
                    <a:pt x="589" y="1123"/>
                  </a:cubicBezTo>
                  <a:cubicBezTo>
                    <a:pt x="625" y="1128"/>
                    <a:pt x="661" y="1131"/>
                    <a:pt x="697" y="1135"/>
                  </a:cubicBezTo>
                  <a:cubicBezTo>
                    <a:pt x="740" y="1149"/>
                    <a:pt x="829" y="1171"/>
                    <a:pt x="829" y="1171"/>
                  </a:cubicBezTo>
                  <a:cubicBezTo>
                    <a:pt x="979" y="1133"/>
                    <a:pt x="792" y="1171"/>
                    <a:pt x="913" y="1171"/>
                  </a:cubicBezTo>
                  <a:cubicBezTo>
                    <a:pt x="926" y="1171"/>
                    <a:pt x="937" y="1162"/>
                    <a:pt x="949" y="1159"/>
                  </a:cubicBezTo>
                  <a:cubicBezTo>
                    <a:pt x="1024" y="1142"/>
                    <a:pt x="1113" y="1118"/>
                    <a:pt x="1189" y="1111"/>
                  </a:cubicBezTo>
                  <a:cubicBezTo>
                    <a:pt x="1265" y="1104"/>
                    <a:pt x="1341" y="1103"/>
                    <a:pt x="1417" y="1099"/>
                  </a:cubicBezTo>
                  <a:cubicBezTo>
                    <a:pt x="1520" y="1133"/>
                    <a:pt x="1516" y="1007"/>
                    <a:pt x="1525" y="931"/>
                  </a:cubicBezTo>
                  <a:cubicBezTo>
                    <a:pt x="1525" y="931"/>
                    <a:pt x="1555" y="631"/>
                    <a:pt x="1561" y="571"/>
                  </a:cubicBezTo>
                  <a:cubicBezTo>
                    <a:pt x="1577" y="410"/>
                    <a:pt x="1609" y="254"/>
                    <a:pt x="1621" y="91"/>
                  </a:cubicBezTo>
                  <a:cubicBezTo>
                    <a:pt x="1631" y="140"/>
                    <a:pt x="1643" y="187"/>
                    <a:pt x="1657" y="235"/>
                  </a:cubicBezTo>
                  <a:cubicBezTo>
                    <a:pt x="1660" y="247"/>
                    <a:pt x="1660" y="262"/>
                    <a:pt x="1669" y="271"/>
                  </a:cubicBezTo>
                  <a:cubicBezTo>
                    <a:pt x="1678" y="280"/>
                    <a:pt x="1693" y="279"/>
                    <a:pt x="1705" y="283"/>
                  </a:cubicBezTo>
                  <a:cubicBezTo>
                    <a:pt x="1761" y="199"/>
                    <a:pt x="1737" y="187"/>
                    <a:pt x="1777" y="247"/>
                  </a:cubicBezTo>
                  <a:cubicBezTo>
                    <a:pt x="1781" y="267"/>
                    <a:pt x="1786" y="287"/>
                    <a:pt x="1789" y="307"/>
                  </a:cubicBezTo>
                  <a:cubicBezTo>
                    <a:pt x="1794" y="339"/>
                    <a:pt x="1783" y="376"/>
                    <a:pt x="1801" y="403"/>
                  </a:cubicBezTo>
                  <a:cubicBezTo>
                    <a:pt x="1812" y="420"/>
                    <a:pt x="1841" y="411"/>
                    <a:pt x="1861" y="415"/>
                  </a:cubicBezTo>
                  <a:cubicBezTo>
                    <a:pt x="1878" y="500"/>
                    <a:pt x="1879" y="456"/>
                    <a:pt x="1849" y="547"/>
                  </a:cubicBezTo>
                  <a:cubicBezTo>
                    <a:pt x="1845" y="559"/>
                    <a:pt x="1841" y="571"/>
                    <a:pt x="1837" y="583"/>
                  </a:cubicBezTo>
                  <a:cubicBezTo>
                    <a:pt x="1833" y="595"/>
                    <a:pt x="1825" y="619"/>
                    <a:pt x="1825" y="619"/>
                  </a:cubicBezTo>
                  <a:cubicBezTo>
                    <a:pt x="1833" y="651"/>
                    <a:pt x="1839" y="684"/>
                    <a:pt x="1849" y="715"/>
                  </a:cubicBezTo>
                  <a:cubicBezTo>
                    <a:pt x="1853" y="727"/>
                    <a:pt x="1858" y="739"/>
                    <a:pt x="1861" y="751"/>
                  </a:cubicBezTo>
                  <a:cubicBezTo>
                    <a:pt x="1870" y="783"/>
                    <a:pt x="1885" y="847"/>
                    <a:pt x="1885" y="847"/>
                  </a:cubicBezTo>
                  <a:cubicBezTo>
                    <a:pt x="1896" y="989"/>
                    <a:pt x="1877" y="995"/>
                    <a:pt x="1957" y="1075"/>
                  </a:cubicBezTo>
                  <a:cubicBezTo>
                    <a:pt x="1974" y="1127"/>
                    <a:pt x="1975" y="1141"/>
                    <a:pt x="2029" y="1159"/>
                  </a:cubicBezTo>
                  <a:cubicBezTo>
                    <a:pt x="2106" y="1149"/>
                    <a:pt x="2181" y="1136"/>
                    <a:pt x="2257" y="1123"/>
                  </a:cubicBezTo>
                  <a:cubicBezTo>
                    <a:pt x="2329" y="1135"/>
                    <a:pt x="2403" y="1138"/>
                    <a:pt x="2473" y="1159"/>
                  </a:cubicBezTo>
                  <a:cubicBezTo>
                    <a:pt x="2497" y="1166"/>
                    <a:pt x="2521" y="1175"/>
                    <a:pt x="2545" y="1183"/>
                  </a:cubicBezTo>
                  <a:cubicBezTo>
                    <a:pt x="2557" y="1187"/>
                    <a:pt x="2581" y="1195"/>
                    <a:pt x="2581" y="1195"/>
                  </a:cubicBezTo>
                  <a:cubicBezTo>
                    <a:pt x="2693" y="1158"/>
                    <a:pt x="2785" y="1144"/>
                    <a:pt x="2905" y="1135"/>
                  </a:cubicBezTo>
                  <a:cubicBezTo>
                    <a:pt x="3012" y="1153"/>
                    <a:pt x="3000" y="1160"/>
                    <a:pt x="3121" y="1147"/>
                  </a:cubicBezTo>
                  <a:cubicBezTo>
                    <a:pt x="3145" y="1053"/>
                    <a:pt x="3144" y="1051"/>
                    <a:pt x="3133" y="931"/>
                  </a:cubicBezTo>
                  <a:cubicBezTo>
                    <a:pt x="3142" y="771"/>
                    <a:pt x="3148" y="610"/>
                    <a:pt x="3169" y="451"/>
                  </a:cubicBezTo>
                  <a:cubicBezTo>
                    <a:pt x="3177" y="388"/>
                    <a:pt x="3190" y="320"/>
                    <a:pt x="3205" y="259"/>
                  </a:cubicBezTo>
                  <a:cubicBezTo>
                    <a:pt x="3211" y="234"/>
                    <a:pt x="3229" y="187"/>
                    <a:pt x="3229" y="187"/>
                  </a:cubicBezTo>
                  <a:cubicBezTo>
                    <a:pt x="3237" y="129"/>
                    <a:pt x="3259" y="74"/>
                    <a:pt x="3241" y="19"/>
                  </a:cubicBezTo>
                  <a:cubicBezTo>
                    <a:pt x="3248" y="175"/>
                    <a:pt x="3258" y="302"/>
                    <a:pt x="3277" y="451"/>
                  </a:cubicBezTo>
                  <a:cubicBezTo>
                    <a:pt x="3286" y="733"/>
                    <a:pt x="3279" y="758"/>
                    <a:pt x="3301" y="967"/>
                  </a:cubicBezTo>
                  <a:cubicBezTo>
                    <a:pt x="3309" y="1040"/>
                    <a:pt x="3300" y="1094"/>
                    <a:pt x="3361" y="1135"/>
                  </a:cubicBezTo>
                  <a:cubicBezTo>
                    <a:pt x="3472" y="1107"/>
                    <a:pt x="3334" y="1135"/>
                    <a:pt x="3481" y="1135"/>
                  </a:cubicBezTo>
                  <a:cubicBezTo>
                    <a:pt x="3509" y="1135"/>
                    <a:pt x="3537" y="1128"/>
                    <a:pt x="3565" y="1123"/>
                  </a:cubicBezTo>
                  <a:cubicBezTo>
                    <a:pt x="3585" y="1120"/>
                    <a:pt x="3605" y="1116"/>
                    <a:pt x="3625" y="1111"/>
                  </a:cubicBezTo>
                  <a:cubicBezTo>
                    <a:pt x="3649" y="1104"/>
                    <a:pt x="3697" y="1087"/>
                    <a:pt x="3697" y="1087"/>
                  </a:cubicBezTo>
                  <a:cubicBezTo>
                    <a:pt x="3790" y="1110"/>
                    <a:pt x="3985" y="1075"/>
                    <a:pt x="3985" y="1075"/>
                  </a:cubicBezTo>
                  <a:cubicBezTo>
                    <a:pt x="4031" y="1080"/>
                    <a:pt x="4093" y="1070"/>
                    <a:pt x="4129" y="1111"/>
                  </a:cubicBezTo>
                  <a:cubicBezTo>
                    <a:pt x="4148" y="1133"/>
                    <a:pt x="4177" y="1183"/>
                    <a:pt x="4177" y="1183"/>
                  </a:cubicBezTo>
                  <a:cubicBezTo>
                    <a:pt x="4193" y="1179"/>
                    <a:pt x="4210" y="1177"/>
                    <a:pt x="4225" y="1171"/>
                  </a:cubicBezTo>
                  <a:cubicBezTo>
                    <a:pt x="4266" y="1154"/>
                    <a:pt x="4276" y="1124"/>
                    <a:pt x="4321" y="1147"/>
                  </a:cubicBezTo>
                </a:path>
              </a:pathLst>
            </a:custGeom>
            <a:solidFill>
              <a:srgbClr val="66FF66"/>
            </a:solidFill>
            <a:ln w="38100" cap="flat" cmpd="sng">
              <a:solidFill>
                <a:srgbClr val="0F0C1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 name="Rectangle 138">
              <a:extLst>
                <a:ext uri="{FF2B5EF4-FFF2-40B4-BE49-F238E27FC236}">
                  <a16:creationId xmlns:a16="http://schemas.microsoft.com/office/drawing/2014/main" id="{60B5EE6F-6B04-49A4-953A-E52B68119AED}"/>
                </a:ext>
              </a:extLst>
            </p:cNvPr>
            <p:cNvSpPr>
              <a:spLocks noChangeArrowheads="1"/>
            </p:cNvSpPr>
            <p:nvPr/>
          </p:nvSpPr>
          <p:spPr bwMode="auto">
            <a:xfrm>
              <a:off x="1200" y="3024"/>
              <a:ext cx="67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 name="Rectangle 139">
              <a:extLst>
                <a:ext uri="{FF2B5EF4-FFF2-40B4-BE49-F238E27FC236}">
                  <a16:creationId xmlns:a16="http://schemas.microsoft.com/office/drawing/2014/main" id="{679EC32F-CF27-4F2F-9597-2948F2F8898A}"/>
                </a:ext>
              </a:extLst>
            </p:cNvPr>
            <p:cNvSpPr>
              <a:spLocks noChangeArrowheads="1"/>
            </p:cNvSpPr>
            <p:nvPr/>
          </p:nvSpPr>
          <p:spPr bwMode="auto">
            <a:xfrm>
              <a:off x="2304" y="3024"/>
              <a:ext cx="864"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1" name="Rectangle 140">
              <a:extLst>
                <a:ext uri="{FF2B5EF4-FFF2-40B4-BE49-F238E27FC236}">
                  <a16:creationId xmlns:a16="http://schemas.microsoft.com/office/drawing/2014/main" id="{D3EFCA40-E565-4260-9C60-92B0C4E1F022}"/>
                </a:ext>
              </a:extLst>
            </p:cNvPr>
            <p:cNvSpPr>
              <a:spLocks noChangeArrowheads="1"/>
            </p:cNvSpPr>
            <p:nvPr/>
          </p:nvSpPr>
          <p:spPr bwMode="auto">
            <a:xfrm>
              <a:off x="3360" y="3024"/>
              <a:ext cx="720"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Rectangle 141">
              <a:extLst>
                <a:ext uri="{FF2B5EF4-FFF2-40B4-BE49-F238E27FC236}">
                  <a16:creationId xmlns:a16="http://schemas.microsoft.com/office/drawing/2014/main" id="{0C2708BC-BE32-40DA-BFD7-1B77C8C83028}"/>
                </a:ext>
              </a:extLst>
            </p:cNvPr>
            <p:cNvSpPr>
              <a:spLocks noChangeArrowheads="1"/>
            </p:cNvSpPr>
            <p:nvPr/>
          </p:nvSpPr>
          <p:spPr bwMode="auto">
            <a:xfrm>
              <a:off x="672" y="3024"/>
              <a:ext cx="19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 name="Rectangle 142">
              <a:extLst>
                <a:ext uri="{FF2B5EF4-FFF2-40B4-BE49-F238E27FC236}">
                  <a16:creationId xmlns:a16="http://schemas.microsoft.com/office/drawing/2014/main" id="{B8219BB1-0B3B-4489-B107-09D5DD1DCEE7}"/>
                </a:ext>
              </a:extLst>
            </p:cNvPr>
            <p:cNvSpPr>
              <a:spLocks noChangeArrowheads="1"/>
            </p:cNvSpPr>
            <p:nvPr/>
          </p:nvSpPr>
          <p:spPr bwMode="auto">
            <a:xfrm>
              <a:off x="624" y="3408"/>
              <a:ext cx="912" cy="432"/>
            </a:xfrm>
            <a:prstGeom prst="rect">
              <a:avLst/>
            </a:prstGeom>
            <a:solidFill>
              <a:schemeClr val="bg1"/>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 name="Rectangle 143">
              <a:extLst>
                <a:ext uri="{FF2B5EF4-FFF2-40B4-BE49-F238E27FC236}">
                  <a16:creationId xmlns:a16="http://schemas.microsoft.com/office/drawing/2014/main" id="{72CB650E-4D9E-4013-B611-046324A9849A}"/>
                </a:ext>
              </a:extLst>
            </p:cNvPr>
            <p:cNvSpPr>
              <a:spLocks noChangeArrowheads="1"/>
            </p:cNvSpPr>
            <p:nvPr/>
          </p:nvSpPr>
          <p:spPr bwMode="auto">
            <a:xfrm>
              <a:off x="67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 name="Rectangle 144">
              <a:extLst>
                <a:ext uri="{FF2B5EF4-FFF2-40B4-BE49-F238E27FC236}">
                  <a16:creationId xmlns:a16="http://schemas.microsoft.com/office/drawing/2014/main" id="{8F7BFB1C-58B6-4106-B47F-ECAFDB535875}"/>
                </a:ext>
              </a:extLst>
            </p:cNvPr>
            <p:cNvSpPr>
              <a:spLocks noChangeArrowheads="1"/>
            </p:cNvSpPr>
            <p:nvPr/>
          </p:nvSpPr>
          <p:spPr bwMode="auto">
            <a:xfrm>
              <a:off x="115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 name="Rectangle 145">
              <a:extLst>
                <a:ext uri="{FF2B5EF4-FFF2-40B4-BE49-F238E27FC236}">
                  <a16:creationId xmlns:a16="http://schemas.microsoft.com/office/drawing/2014/main" id="{60157543-C1E6-461F-BCBE-BEE28B904684}"/>
                </a:ext>
              </a:extLst>
            </p:cNvPr>
            <p:cNvSpPr>
              <a:spLocks noChangeArrowheads="1"/>
            </p:cNvSpPr>
            <p:nvPr/>
          </p:nvSpPr>
          <p:spPr bwMode="auto">
            <a:xfrm>
              <a:off x="1104" y="3648"/>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 name="Line 146">
              <a:extLst>
                <a:ext uri="{FF2B5EF4-FFF2-40B4-BE49-F238E27FC236}">
                  <a16:creationId xmlns:a16="http://schemas.microsoft.com/office/drawing/2014/main" id="{A684D2C3-7D4B-4205-B1DC-F940C2FC49E3}"/>
                </a:ext>
              </a:extLst>
            </p:cNvPr>
            <p:cNvSpPr>
              <a:spLocks noChangeShapeType="1"/>
            </p:cNvSpPr>
            <p:nvPr/>
          </p:nvSpPr>
          <p:spPr bwMode="auto">
            <a:xfrm flipH="1">
              <a:off x="864" y="3120"/>
              <a:ext cx="14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8" name="Line 147">
              <a:extLst>
                <a:ext uri="{FF2B5EF4-FFF2-40B4-BE49-F238E27FC236}">
                  <a16:creationId xmlns:a16="http://schemas.microsoft.com/office/drawing/2014/main" id="{D6D6D3BF-D411-4E45-ABB7-D240DC8173B8}"/>
                </a:ext>
              </a:extLst>
            </p:cNvPr>
            <p:cNvSpPr>
              <a:spLocks noChangeShapeType="1"/>
            </p:cNvSpPr>
            <p:nvPr/>
          </p:nvSpPr>
          <p:spPr bwMode="auto">
            <a:xfrm flipH="1">
              <a:off x="1440" y="3120"/>
              <a:ext cx="62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9" name="Line 148">
              <a:extLst>
                <a:ext uri="{FF2B5EF4-FFF2-40B4-BE49-F238E27FC236}">
                  <a16:creationId xmlns:a16="http://schemas.microsoft.com/office/drawing/2014/main" id="{0141B422-9B9C-4183-AC3E-417147F3DFF2}"/>
                </a:ext>
              </a:extLst>
            </p:cNvPr>
            <p:cNvSpPr>
              <a:spLocks noChangeShapeType="1"/>
            </p:cNvSpPr>
            <p:nvPr/>
          </p:nvSpPr>
          <p:spPr bwMode="auto">
            <a:xfrm flipH="1">
              <a:off x="1488" y="3072"/>
              <a:ext cx="1776" cy="624"/>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 name="Line 149">
              <a:extLst>
                <a:ext uri="{FF2B5EF4-FFF2-40B4-BE49-F238E27FC236}">
                  <a16:creationId xmlns:a16="http://schemas.microsoft.com/office/drawing/2014/main" id="{98FCF46B-4AEC-4C6D-82A6-F7FA3991F991}"/>
                </a:ext>
              </a:extLst>
            </p:cNvPr>
            <p:cNvSpPr>
              <a:spLocks noChangeShapeType="1"/>
            </p:cNvSpPr>
            <p:nvPr/>
          </p:nvSpPr>
          <p:spPr bwMode="auto">
            <a:xfrm>
              <a:off x="1632" y="3120"/>
              <a:ext cx="1392" cy="48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1" name="Line 150">
              <a:extLst>
                <a:ext uri="{FF2B5EF4-FFF2-40B4-BE49-F238E27FC236}">
                  <a16:creationId xmlns:a16="http://schemas.microsoft.com/office/drawing/2014/main" id="{FA8606F6-78CB-4AFC-B0C7-5407D0B6A676}"/>
                </a:ext>
              </a:extLst>
            </p:cNvPr>
            <p:cNvSpPr>
              <a:spLocks noChangeShapeType="1"/>
            </p:cNvSpPr>
            <p:nvPr/>
          </p:nvSpPr>
          <p:spPr bwMode="auto">
            <a:xfrm>
              <a:off x="2784" y="3120"/>
              <a:ext cx="336" cy="576"/>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 name="Line 151">
              <a:extLst>
                <a:ext uri="{FF2B5EF4-FFF2-40B4-BE49-F238E27FC236}">
                  <a16:creationId xmlns:a16="http://schemas.microsoft.com/office/drawing/2014/main" id="{5822EFCB-FABA-4999-B167-912C46B52B46}"/>
                </a:ext>
              </a:extLst>
            </p:cNvPr>
            <p:cNvSpPr>
              <a:spLocks noChangeShapeType="1"/>
            </p:cNvSpPr>
            <p:nvPr/>
          </p:nvSpPr>
          <p:spPr bwMode="auto">
            <a:xfrm flipH="1">
              <a:off x="3168" y="3120"/>
              <a:ext cx="432" cy="72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23" name="Group 153">
              <a:extLst>
                <a:ext uri="{FF2B5EF4-FFF2-40B4-BE49-F238E27FC236}">
                  <a16:creationId xmlns:a16="http://schemas.microsoft.com/office/drawing/2014/main" id="{24C84EE4-660C-4ABB-98DD-8CDF5BDB07CB}"/>
                </a:ext>
              </a:extLst>
            </p:cNvPr>
            <p:cNvGrpSpPr>
              <a:grpSpLocks/>
            </p:cNvGrpSpPr>
            <p:nvPr/>
          </p:nvGrpSpPr>
          <p:grpSpPr bwMode="auto">
            <a:xfrm>
              <a:off x="2558" y="3456"/>
              <a:ext cx="994" cy="528"/>
              <a:chOff x="4032" y="3504"/>
              <a:chExt cx="1200" cy="672"/>
            </a:xfrm>
          </p:grpSpPr>
          <p:sp>
            <p:nvSpPr>
              <p:cNvPr id="32" name="Oval 154">
                <a:extLst>
                  <a:ext uri="{FF2B5EF4-FFF2-40B4-BE49-F238E27FC236}">
                    <a16:creationId xmlns:a16="http://schemas.microsoft.com/office/drawing/2014/main" id="{3F97AF04-8727-4C15-9D24-198B97B11927}"/>
                  </a:ext>
                </a:extLst>
              </p:cNvPr>
              <p:cNvSpPr>
                <a:spLocks noChangeArrowheads="1"/>
              </p:cNvSpPr>
              <p:nvPr/>
            </p:nvSpPr>
            <p:spPr bwMode="auto">
              <a:xfrm>
                <a:off x="4032" y="3504"/>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3" name="Oval 155">
                <a:extLst>
                  <a:ext uri="{FF2B5EF4-FFF2-40B4-BE49-F238E27FC236}">
                    <a16:creationId xmlns:a16="http://schemas.microsoft.com/office/drawing/2014/main" id="{160517B9-398E-4331-BB3D-FD54FBCDF6EE}"/>
                  </a:ext>
                </a:extLst>
              </p:cNvPr>
              <p:cNvSpPr>
                <a:spLocks noChangeArrowheads="1"/>
              </p:cNvSpPr>
              <p:nvPr/>
            </p:nvSpPr>
            <p:spPr bwMode="auto">
              <a:xfrm>
                <a:off x="4032" y="4032"/>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 name="Line 156">
                <a:extLst>
                  <a:ext uri="{FF2B5EF4-FFF2-40B4-BE49-F238E27FC236}">
                    <a16:creationId xmlns:a16="http://schemas.microsoft.com/office/drawing/2014/main" id="{09CDA386-5528-4DF2-B66F-15530F869620}"/>
                  </a:ext>
                </a:extLst>
              </p:cNvPr>
              <p:cNvSpPr>
                <a:spLocks noChangeShapeType="1"/>
              </p:cNvSpPr>
              <p:nvPr/>
            </p:nvSpPr>
            <p:spPr bwMode="auto">
              <a:xfrm>
                <a:off x="40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 name="Line 157">
                <a:extLst>
                  <a:ext uri="{FF2B5EF4-FFF2-40B4-BE49-F238E27FC236}">
                    <a16:creationId xmlns:a16="http://schemas.microsoft.com/office/drawing/2014/main" id="{45791AF2-DF76-4875-9A7B-25E65ED2DDFC}"/>
                  </a:ext>
                </a:extLst>
              </p:cNvPr>
              <p:cNvSpPr>
                <a:spLocks noChangeShapeType="1"/>
              </p:cNvSpPr>
              <p:nvPr/>
            </p:nvSpPr>
            <p:spPr bwMode="auto">
              <a:xfrm>
                <a:off x="52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4" name="Rectangle 158">
              <a:extLst>
                <a:ext uri="{FF2B5EF4-FFF2-40B4-BE49-F238E27FC236}">
                  <a16:creationId xmlns:a16="http://schemas.microsoft.com/office/drawing/2014/main" id="{A3ED971E-56E8-4E11-934A-1A5B9E8FEF43}"/>
                </a:ext>
              </a:extLst>
            </p:cNvPr>
            <p:cNvSpPr>
              <a:spLocks noChangeArrowheads="1"/>
            </p:cNvSpPr>
            <p:nvPr/>
          </p:nvSpPr>
          <p:spPr bwMode="auto">
            <a:xfrm>
              <a:off x="2677" y="3720"/>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5" name="Rectangle 159">
              <a:extLst>
                <a:ext uri="{FF2B5EF4-FFF2-40B4-BE49-F238E27FC236}">
                  <a16:creationId xmlns:a16="http://schemas.microsoft.com/office/drawing/2014/main" id="{CC2EA74C-DBBA-4207-B4D2-29145D1D23D1}"/>
                </a:ext>
              </a:extLst>
            </p:cNvPr>
            <p:cNvSpPr>
              <a:spLocks noChangeArrowheads="1"/>
            </p:cNvSpPr>
            <p:nvPr/>
          </p:nvSpPr>
          <p:spPr bwMode="auto">
            <a:xfrm>
              <a:off x="2677" y="3796"/>
              <a:ext cx="756" cy="37"/>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6" name="Rectangle 160">
              <a:extLst>
                <a:ext uri="{FF2B5EF4-FFF2-40B4-BE49-F238E27FC236}">
                  <a16:creationId xmlns:a16="http://schemas.microsoft.com/office/drawing/2014/main" id="{A430476C-9760-44AC-8346-2A2C33EB4182}"/>
                </a:ext>
              </a:extLst>
            </p:cNvPr>
            <p:cNvSpPr>
              <a:spLocks noChangeArrowheads="1"/>
            </p:cNvSpPr>
            <p:nvPr/>
          </p:nvSpPr>
          <p:spPr bwMode="auto">
            <a:xfrm>
              <a:off x="2677" y="3607"/>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7" name="Line 162">
              <a:extLst>
                <a:ext uri="{FF2B5EF4-FFF2-40B4-BE49-F238E27FC236}">
                  <a16:creationId xmlns:a16="http://schemas.microsoft.com/office/drawing/2014/main" id="{AD7B2C8B-1C3E-4A69-800E-F92DE28E39AF}"/>
                </a:ext>
              </a:extLst>
            </p:cNvPr>
            <p:cNvSpPr>
              <a:spLocks noChangeShapeType="1"/>
            </p:cNvSpPr>
            <p:nvPr/>
          </p:nvSpPr>
          <p:spPr bwMode="auto">
            <a:xfrm>
              <a:off x="672" y="3120"/>
              <a:ext cx="3696"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 name="Line 163">
              <a:extLst>
                <a:ext uri="{FF2B5EF4-FFF2-40B4-BE49-F238E27FC236}">
                  <a16:creationId xmlns:a16="http://schemas.microsoft.com/office/drawing/2014/main" id="{801367E4-7A81-4BC3-9212-63C96FFAFC6B}"/>
                </a:ext>
              </a:extLst>
            </p:cNvPr>
            <p:cNvSpPr>
              <a:spLocks noChangeShapeType="1"/>
            </p:cNvSpPr>
            <p:nvPr/>
          </p:nvSpPr>
          <p:spPr bwMode="auto">
            <a:xfrm flipV="1">
              <a:off x="672" y="2352"/>
              <a:ext cx="0" cy="72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 name="Text Box 165">
              <a:extLst>
                <a:ext uri="{FF2B5EF4-FFF2-40B4-BE49-F238E27FC236}">
                  <a16:creationId xmlns:a16="http://schemas.microsoft.com/office/drawing/2014/main" id="{5E68F31A-44CE-4C24-AE5D-04A7C4DA42B6}"/>
                </a:ext>
              </a:extLst>
            </p:cNvPr>
            <p:cNvSpPr txBox="1">
              <a:spLocks noChangeArrowheads="1"/>
            </p:cNvSpPr>
            <p:nvPr/>
          </p:nvSpPr>
          <p:spPr bwMode="auto">
            <a:xfrm>
              <a:off x="3648" y="312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zh-CN" altLang="en-US" sz="2000" b="1">
                  <a:solidFill>
                    <a:srgbClr val="0F0C19"/>
                  </a:solidFill>
                  <a:latin typeface="Comic Sans MS" panose="030F0702030302020204" pitchFamily="66" charset="0"/>
                </a:rPr>
                <a:t>内存地址</a:t>
              </a:r>
              <a:endParaRPr lang="zh-CN" altLang="en-US" sz="2000" b="1">
                <a:solidFill>
                  <a:schemeClr val="bg2"/>
                </a:solidFill>
                <a:latin typeface="Comic Sans MS" panose="030F0702030302020204" pitchFamily="66" charset="0"/>
              </a:endParaRPr>
            </a:p>
          </p:txBody>
        </p:sp>
        <p:sp>
          <p:nvSpPr>
            <p:cNvPr id="30" name="Text Box 166">
              <a:extLst>
                <a:ext uri="{FF2B5EF4-FFF2-40B4-BE49-F238E27FC236}">
                  <a16:creationId xmlns:a16="http://schemas.microsoft.com/office/drawing/2014/main" id="{661A567F-FE91-4D8A-B843-D40815177DF6}"/>
                </a:ext>
              </a:extLst>
            </p:cNvPr>
            <p:cNvSpPr txBox="1">
              <a:spLocks noChangeArrowheads="1"/>
            </p:cNvSpPr>
            <p:nvPr/>
          </p:nvSpPr>
          <p:spPr bwMode="auto">
            <a:xfrm>
              <a:off x="362" y="2304"/>
              <a:ext cx="310"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000" b="1" dirty="0">
                  <a:solidFill>
                    <a:schemeClr val="bg2"/>
                  </a:solidFill>
                </a:rPr>
                <a:t>访问频率</a:t>
              </a:r>
            </a:p>
          </p:txBody>
        </p:sp>
        <p:sp>
          <p:nvSpPr>
            <p:cNvPr id="31" name="Text Box 167">
              <a:extLst>
                <a:ext uri="{FF2B5EF4-FFF2-40B4-BE49-F238E27FC236}">
                  <a16:creationId xmlns:a16="http://schemas.microsoft.com/office/drawing/2014/main" id="{35B45AA5-7863-410B-B4EF-CED1B47D8001}"/>
                </a:ext>
              </a:extLst>
            </p:cNvPr>
            <p:cNvSpPr txBox="1">
              <a:spLocks noChangeArrowheads="1"/>
            </p:cNvSpPr>
            <p:nvPr/>
          </p:nvSpPr>
          <p:spPr bwMode="auto">
            <a:xfrm>
              <a:off x="672" y="384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zh-CN" altLang="en-US" sz="2000" b="1" dirty="0">
                  <a:solidFill>
                    <a:schemeClr val="bg2"/>
                  </a:solidFill>
                  <a:latin typeface="Comic Sans MS" panose="030F0702030302020204" pitchFamily="66" charset="0"/>
                </a:rPr>
                <a:t>物理内存</a:t>
              </a:r>
            </a:p>
          </p:txBody>
        </p:sp>
      </p:grpSp>
      <p:sp>
        <p:nvSpPr>
          <p:cNvPr id="36" name="AutoShape 169">
            <a:extLst>
              <a:ext uri="{FF2B5EF4-FFF2-40B4-BE49-F238E27FC236}">
                <a16:creationId xmlns:a16="http://schemas.microsoft.com/office/drawing/2014/main" id="{C90A84AE-E7DB-4D85-85DA-A879A737E664}"/>
              </a:ext>
            </a:extLst>
          </p:cNvPr>
          <p:cNvSpPr>
            <a:spLocks noChangeArrowheads="1"/>
          </p:cNvSpPr>
          <p:nvPr/>
        </p:nvSpPr>
        <p:spPr bwMode="auto">
          <a:xfrm rot="10800000">
            <a:off x="3834360" y="1198230"/>
            <a:ext cx="4152900" cy="914400"/>
          </a:xfrm>
          <a:prstGeom prst="wedgeRoundRectCallout">
            <a:avLst>
              <a:gd name="adj1" fmla="val 38029"/>
              <a:gd name="adj2" fmla="val -147063"/>
              <a:gd name="adj3" fmla="val 16667"/>
            </a:avLst>
          </a:prstGeom>
          <a:solidFill>
            <a:schemeClr val="bg1">
              <a:lumMod val="40000"/>
              <a:lumOff val="60000"/>
            </a:schemeClr>
          </a:solidFill>
          <a:ln w="9525">
            <a:solidFill>
              <a:schemeClr val="tx1"/>
            </a:solidFill>
            <a:miter lim="800000"/>
            <a:headEnd/>
            <a:tailEnd/>
          </a:ln>
          <a:effectLst/>
        </p:spPr>
        <p:txBody>
          <a:bodyPr rot="10800000"/>
          <a:lstStyle/>
          <a:p>
            <a:pPr algn="ctr"/>
            <a:r>
              <a:rPr lang="en-US" altLang="zh-CN" sz="2400" dirty="0">
                <a:solidFill>
                  <a:schemeClr val="bg2"/>
                </a:solidFill>
                <a:latin typeface="+mn-lt"/>
              </a:rPr>
              <a:t>90/10</a:t>
            </a:r>
            <a:r>
              <a:rPr lang="zh-CN" altLang="en-US" sz="2400" dirty="0">
                <a:solidFill>
                  <a:schemeClr val="bg2"/>
                </a:solidFill>
                <a:latin typeface="+mn-lt"/>
              </a:rPr>
              <a:t>原则：</a:t>
            </a:r>
            <a:endParaRPr lang="en-US" altLang="zh-CN" sz="2400" dirty="0">
              <a:solidFill>
                <a:schemeClr val="bg2"/>
              </a:solidFill>
              <a:latin typeface="+mn-lt"/>
            </a:endParaRPr>
          </a:p>
          <a:p>
            <a:pPr algn="ctr"/>
            <a:r>
              <a:rPr lang="en-US" altLang="zh-CN" sz="2400" b="1" dirty="0">
                <a:solidFill>
                  <a:schemeClr val="bg2"/>
                </a:solidFill>
                <a:latin typeface="+mn-lt"/>
              </a:rPr>
              <a:t>90%</a:t>
            </a:r>
            <a:r>
              <a:rPr lang="zh-CN" altLang="en-US" sz="2400" b="1" dirty="0">
                <a:solidFill>
                  <a:schemeClr val="bg2"/>
                </a:solidFill>
                <a:latin typeface="+mn-lt"/>
              </a:rPr>
              <a:t>的程序访问</a:t>
            </a:r>
            <a:r>
              <a:rPr lang="en-US" altLang="zh-CN" sz="2400" b="1" dirty="0">
                <a:solidFill>
                  <a:schemeClr val="bg2"/>
                </a:solidFill>
                <a:latin typeface="+mn-lt"/>
              </a:rPr>
              <a:t>10%</a:t>
            </a:r>
            <a:r>
              <a:rPr lang="zh-CN" altLang="en-US" sz="2400" b="1" dirty="0">
                <a:solidFill>
                  <a:schemeClr val="bg2"/>
                </a:solidFill>
                <a:latin typeface="+mn-lt"/>
              </a:rPr>
              <a:t>的地址</a:t>
            </a:r>
            <a:r>
              <a:rPr lang="en-US" altLang="zh-CN" sz="2400" b="1" dirty="0">
                <a:solidFill>
                  <a:schemeClr val="bg2"/>
                </a:solidFill>
              </a:rPr>
              <a:t>!</a:t>
            </a:r>
            <a:endParaRPr lang="en-US" altLang="zh-CN" sz="2400" b="1" dirty="0">
              <a:solidFill>
                <a:schemeClr val="bg2"/>
              </a:solidFill>
              <a:sym typeface="Symbol" panose="05050102010706020507" pitchFamily="18" charset="2"/>
            </a:endParaRPr>
          </a:p>
        </p:txBody>
      </p:sp>
      <p:sp>
        <p:nvSpPr>
          <p:cNvPr id="38" name="文本框 37">
            <a:extLst>
              <a:ext uri="{FF2B5EF4-FFF2-40B4-BE49-F238E27FC236}">
                <a16:creationId xmlns:a16="http://schemas.microsoft.com/office/drawing/2014/main" id="{FAD3DC9A-E345-407A-A538-C761D5C2AE6B}"/>
              </a:ext>
            </a:extLst>
          </p:cNvPr>
          <p:cNvSpPr txBox="1"/>
          <p:nvPr/>
        </p:nvSpPr>
        <p:spPr>
          <a:xfrm>
            <a:off x="568029" y="6318028"/>
            <a:ext cx="8001000" cy="400110"/>
          </a:xfrm>
          <a:prstGeom prst="rect">
            <a:avLst/>
          </a:prstGeom>
          <a:noFill/>
        </p:spPr>
        <p:txBody>
          <a:bodyPr wrap="square" rtlCol="0">
            <a:spAutoFit/>
          </a:bodyPr>
          <a:lstStyle/>
          <a:p>
            <a:pPr algn="ctr"/>
            <a:r>
              <a:rPr lang="zh-CN" altLang="en-US" sz="2000" dirty="0">
                <a:solidFill>
                  <a:schemeClr val="bg2"/>
                </a:solidFill>
                <a:latin typeface="+mn-ea"/>
                <a:ea typeface="+mn-ea"/>
              </a:rPr>
              <a:t>李治军 操作系统课件 哈尔滨工业大学</a:t>
            </a:r>
          </a:p>
        </p:txBody>
      </p:sp>
      <p:sp>
        <p:nvSpPr>
          <p:cNvPr id="39" name="文本框 38"/>
          <p:cNvSpPr txBox="1"/>
          <p:nvPr/>
        </p:nvSpPr>
        <p:spPr>
          <a:xfrm>
            <a:off x="5540129" y="5201759"/>
            <a:ext cx="931862" cy="400110"/>
          </a:xfrm>
          <a:prstGeom prst="rect">
            <a:avLst/>
          </a:prstGeom>
          <a:noFill/>
        </p:spPr>
        <p:txBody>
          <a:bodyPr wrap="square" rtlCol="0">
            <a:spAutoFit/>
          </a:bodyPr>
          <a:lstStyle/>
          <a:p>
            <a:r>
              <a:rPr lang="zh-CN" altLang="en-US" sz="2000" dirty="0">
                <a:solidFill>
                  <a:schemeClr val="bg2"/>
                </a:solidFill>
              </a:rPr>
              <a:t>外存</a:t>
            </a:r>
          </a:p>
        </p:txBody>
      </p:sp>
      <p:sp>
        <p:nvSpPr>
          <p:cNvPr id="4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8663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1+#ppt_w/2"/>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a:spLocks noChangeArrowheads="1"/>
          </p:cNvSpPr>
          <p:nvPr/>
        </p:nvSpPr>
        <p:spPr bwMode="auto">
          <a:xfrm>
            <a:off x="34925" y="0"/>
            <a:ext cx="9109075" cy="1490663"/>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Symbol" panose="05050102010706020507" pitchFamily="18" charset="2"/>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9]</a:t>
            </a:r>
            <a:r>
              <a:rPr lang="zh-CN" altLang="en-US" sz="2800" dirty="0">
                <a:solidFill>
                  <a:schemeClr val="bg2"/>
                </a:solidFill>
              </a:rPr>
              <a:t>假定</a:t>
            </a:r>
            <a:r>
              <a:rPr lang="en-US" altLang="zh-CN" sz="2800" dirty="0">
                <a:solidFill>
                  <a:schemeClr val="bg2"/>
                </a:solidFill>
              </a:rPr>
              <a:t>CPU</a:t>
            </a:r>
            <a:r>
              <a:rPr lang="zh-CN" altLang="en-US" sz="2800" dirty="0">
                <a:solidFill>
                  <a:schemeClr val="bg2"/>
                </a:solidFill>
              </a:rPr>
              <a:t>访问一次内存的时间为</a:t>
            </a:r>
            <a:r>
              <a:rPr lang="en-US" altLang="zh-CN" sz="2800" dirty="0">
                <a:solidFill>
                  <a:schemeClr val="bg2"/>
                </a:solidFill>
              </a:rPr>
              <a:t>200ns</a:t>
            </a:r>
            <a:r>
              <a:rPr lang="zh-CN" altLang="en-US" sz="2800" dirty="0">
                <a:solidFill>
                  <a:schemeClr val="bg2"/>
                </a:solidFill>
              </a:rPr>
              <a:t>，访问一次快表的时间为</a:t>
            </a:r>
            <a:r>
              <a:rPr lang="en-US" altLang="zh-CN" sz="2800" dirty="0">
                <a:solidFill>
                  <a:schemeClr val="bg2"/>
                </a:solidFill>
              </a:rPr>
              <a:t>40ns</a:t>
            </a:r>
            <a:r>
              <a:rPr lang="zh-CN" altLang="en-US" sz="2800" dirty="0">
                <a:solidFill>
                  <a:schemeClr val="bg2"/>
                </a:solidFill>
              </a:rPr>
              <a:t>，若快表命中率为</a:t>
            </a:r>
            <a:r>
              <a:rPr lang="en-US" altLang="zh-CN" sz="2800" dirty="0">
                <a:solidFill>
                  <a:schemeClr val="bg2"/>
                </a:solidFill>
              </a:rPr>
              <a:t>90%, </a:t>
            </a:r>
            <a:r>
              <a:rPr lang="zh-CN" altLang="en-US" sz="2800" dirty="0">
                <a:solidFill>
                  <a:schemeClr val="bg2"/>
                </a:solidFill>
              </a:rPr>
              <a:t>进行一次内存存取的平均时间是多少？比只采用页表下降了</a:t>
            </a:r>
            <a:r>
              <a:rPr lang="en-US" altLang="zh-CN" sz="2800" dirty="0">
                <a:solidFill>
                  <a:schemeClr val="bg2"/>
                </a:solidFill>
              </a:rPr>
              <a:t>%</a:t>
            </a:r>
            <a:r>
              <a:rPr lang="zh-CN" altLang="en-US" sz="2800" dirty="0">
                <a:solidFill>
                  <a:schemeClr val="bg2"/>
                </a:solidFill>
              </a:rPr>
              <a:t>多少？</a:t>
            </a:r>
          </a:p>
        </p:txBody>
      </p:sp>
      <p:sp>
        <p:nvSpPr>
          <p:cNvPr id="26630" name="Rectangle 6"/>
          <p:cNvSpPr>
            <a:spLocks noChangeArrowheads="1"/>
          </p:cNvSpPr>
          <p:nvPr/>
        </p:nvSpPr>
        <p:spPr bwMode="auto">
          <a:xfrm>
            <a:off x="5268913" y="5821363"/>
            <a:ext cx="3343275" cy="471487"/>
          </a:xfrm>
          <a:prstGeom prst="rect">
            <a:avLst/>
          </a:prstGeom>
          <a:solidFill>
            <a:schemeClr val="tx1">
              <a:lumMod val="85000"/>
            </a:schemeClr>
          </a:solidFill>
          <a:ln>
            <a:noFill/>
          </a:ln>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Symbol" panose="05050102010706020507" pitchFamily="18" charset="2"/>
              <a:buNone/>
            </a:pPr>
            <a:r>
              <a:rPr lang="en-US" altLang="zh-CN" sz="2400" dirty="0">
                <a:solidFill>
                  <a:schemeClr val="bg2"/>
                </a:solidFill>
              </a:rPr>
              <a:t>(140/400)*100%=35%</a:t>
            </a:r>
          </a:p>
        </p:txBody>
      </p:sp>
      <p:sp>
        <p:nvSpPr>
          <p:cNvPr id="2" name="矩形 1"/>
          <p:cNvSpPr>
            <a:spLocks noChangeArrowheads="1"/>
          </p:cNvSpPr>
          <p:nvPr/>
        </p:nvSpPr>
        <p:spPr bwMode="auto">
          <a:xfrm>
            <a:off x="92075" y="1773238"/>
            <a:ext cx="52562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2"/>
                </a:solidFill>
              </a:rPr>
              <a:t>快表命中，进行内存存取的时间：</a:t>
            </a:r>
          </a:p>
        </p:txBody>
      </p:sp>
      <p:sp>
        <p:nvSpPr>
          <p:cNvPr id="3" name="矩形 2"/>
          <p:cNvSpPr>
            <a:spLocks noChangeArrowheads="1"/>
          </p:cNvSpPr>
          <p:nvPr/>
        </p:nvSpPr>
        <p:spPr bwMode="auto">
          <a:xfrm>
            <a:off x="5724525" y="1868488"/>
            <a:ext cx="2640013" cy="461962"/>
          </a:xfrm>
          <a:prstGeom prst="rect">
            <a:avLst/>
          </a:prstGeom>
          <a:solidFill>
            <a:schemeClr val="tx1">
              <a:lumMod val="85000"/>
            </a:schemeClr>
          </a:solidFill>
          <a:ln>
            <a:noFill/>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40ns+200ns=240ns</a:t>
            </a:r>
            <a:endParaRPr lang="zh-CN" altLang="en-US" sz="2400" dirty="0">
              <a:solidFill>
                <a:schemeClr val="bg2"/>
              </a:solidFill>
            </a:endParaRPr>
          </a:p>
        </p:txBody>
      </p:sp>
      <p:sp>
        <p:nvSpPr>
          <p:cNvPr id="4" name="矩形 3"/>
          <p:cNvSpPr>
            <a:spLocks noChangeArrowheads="1"/>
          </p:cNvSpPr>
          <p:nvPr/>
        </p:nvSpPr>
        <p:spPr bwMode="auto">
          <a:xfrm>
            <a:off x="92075" y="2462213"/>
            <a:ext cx="4994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2"/>
                </a:solidFill>
              </a:rPr>
              <a:t>通过页表进行内存存取的时间</a:t>
            </a:r>
            <a:r>
              <a:rPr lang="en-US" altLang="zh-CN" sz="2800" dirty="0">
                <a:solidFill>
                  <a:schemeClr val="bg2"/>
                </a:solidFill>
              </a:rPr>
              <a:t>:</a:t>
            </a:r>
            <a:endParaRPr lang="zh-CN" altLang="en-US" sz="2800" dirty="0">
              <a:solidFill>
                <a:schemeClr val="bg2"/>
              </a:solidFill>
            </a:endParaRPr>
          </a:p>
        </p:txBody>
      </p:sp>
      <p:sp>
        <p:nvSpPr>
          <p:cNvPr id="5" name="矩形 4"/>
          <p:cNvSpPr>
            <a:spLocks noChangeArrowheads="1"/>
          </p:cNvSpPr>
          <p:nvPr/>
        </p:nvSpPr>
        <p:spPr bwMode="auto">
          <a:xfrm>
            <a:off x="5260975" y="2541588"/>
            <a:ext cx="3687763" cy="461962"/>
          </a:xfrm>
          <a:prstGeom prst="rect">
            <a:avLst/>
          </a:prstGeom>
          <a:solidFill>
            <a:schemeClr val="tx1">
              <a:lumMod val="85000"/>
            </a:schemeClr>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40ns+200ns+200ns=440ns</a:t>
            </a:r>
            <a:endParaRPr lang="zh-CN" altLang="en-US" sz="2400" dirty="0">
              <a:solidFill>
                <a:schemeClr val="bg2"/>
              </a:solidFill>
            </a:endParaRPr>
          </a:p>
        </p:txBody>
      </p:sp>
      <p:sp>
        <p:nvSpPr>
          <p:cNvPr id="6" name="矩形 5"/>
          <p:cNvSpPr>
            <a:spLocks noChangeArrowheads="1"/>
          </p:cNvSpPr>
          <p:nvPr/>
        </p:nvSpPr>
        <p:spPr bwMode="auto">
          <a:xfrm>
            <a:off x="92075" y="3179763"/>
            <a:ext cx="4464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一次内存存取的平均时间</a:t>
            </a:r>
            <a:r>
              <a:rPr lang="en-US" altLang="zh-CN" sz="2800">
                <a:solidFill>
                  <a:schemeClr val="bg2"/>
                </a:solidFill>
              </a:rPr>
              <a:t>:</a:t>
            </a:r>
            <a:endParaRPr lang="zh-CN" altLang="en-US" sz="2800">
              <a:solidFill>
                <a:schemeClr val="bg2"/>
              </a:solidFill>
            </a:endParaRPr>
          </a:p>
        </p:txBody>
      </p:sp>
      <p:sp>
        <p:nvSpPr>
          <p:cNvPr id="7" name="矩形 6"/>
          <p:cNvSpPr>
            <a:spLocks noChangeArrowheads="1"/>
          </p:cNvSpPr>
          <p:nvPr/>
        </p:nvSpPr>
        <p:spPr bwMode="auto">
          <a:xfrm>
            <a:off x="157163" y="3681413"/>
            <a:ext cx="8791575" cy="460375"/>
          </a:xfrm>
          <a:prstGeom prst="rect">
            <a:avLst/>
          </a:prstGeom>
          <a:solidFill>
            <a:schemeClr val="tx1">
              <a:lumMod val="85000"/>
            </a:schemeClr>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en-US" altLang="zh-CN" sz="2400" dirty="0">
                <a:solidFill>
                  <a:schemeClr val="bg2"/>
                </a:solidFill>
              </a:rPr>
              <a:t>(40+200)*90%+ (40+200+200)*10%=240*0.9+440*0.1=260ns</a:t>
            </a:r>
          </a:p>
        </p:txBody>
      </p:sp>
      <p:sp>
        <p:nvSpPr>
          <p:cNvPr id="8" name="矩形 7"/>
          <p:cNvSpPr>
            <a:spLocks noChangeArrowheads="1"/>
          </p:cNvSpPr>
          <p:nvPr/>
        </p:nvSpPr>
        <p:spPr bwMode="auto">
          <a:xfrm>
            <a:off x="9525" y="4319588"/>
            <a:ext cx="63468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不采用快表，只用页表进行内存存取</a:t>
            </a:r>
            <a:r>
              <a:rPr lang="en-US" altLang="zh-CN" sz="2800">
                <a:solidFill>
                  <a:schemeClr val="bg2"/>
                </a:solidFill>
              </a:rPr>
              <a:t>:</a:t>
            </a:r>
            <a:endParaRPr lang="zh-CN" altLang="en-US" sz="2800">
              <a:solidFill>
                <a:schemeClr val="bg2"/>
              </a:solidFill>
            </a:endParaRPr>
          </a:p>
        </p:txBody>
      </p:sp>
      <p:sp>
        <p:nvSpPr>
          <p:cNvPr id="9" name="矩形 8"/>
          <p:cNvSpPr>
            <a:spLocks noChangeArrowheads="1"/>
          </p:cNvSpPr>
          <p:nvPr/>
        </p:nvSpPr>
        <p:spPr bwMode="auto">
          <a:xfrm>
            <a:off x="6227763" y="4375150"/>
            <a:ext cx="938212" cy="461963"/>
          </a:xfrm>
          <a:prstGeom prst="rect">
            <a:avLst/>
          </a:prstGeom>
          <a:solidFill>
            <a:schemeClr val="tx1">
              <a:lumMod val="85000"/>
            </a:schemeClr>
          </a:solidFill>
          <a:ln>
            <a:noFill/>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en-US" altLang="zh-CN" sz="2400" dirty="0">
                <a:solidFill>
                  <a:schemeClr val="bg2"/>
                </a:solidFill>
              </a:rPr>
              <a:t>400ns</a:t>
            </a:r>
          </a:p>
        </p:txBody>
      </p:sp>
      <p:sp>
        <p:nvSpPr>
          <p:cNvPr id="10" name="矩形 9"/>
          <p:cNvSpPr>
            <a:spLocks noChangeArrowheads="1"/>
          </p:cNvSpPr>
          <p:nvPr/>
        </p:nvSpPr>
        <p:spPr bwMode="auto">
          <a:xfrm>
            <a:off x="5341938" y="5159375"/>
            <a:ext cx="2798762" cy="460375"/>
          </a:xfrm>
          <a:prstGeom prst="rect">
            <a:avLst/>
          </a:prstGeom>
          <a:solidFill>
            <a:schemeClr val="tx1">
              <a:lumMod val="85000"/>
            </a:schemeClr>
          </a:solidFill>
          <a:ln>
            <a:noFill/>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en-US" altLang="zh-CN" sz="2400" dirty="0">
                <a:solidFill>
                  <a:schemeClr val="bg2"/>
                </a:solidFill>
              </a:rPr>
              <a:t>400ns-260ns=140ns </a:t>
            </a:r>
          </a:p>
        </p:txBody>
      </p:sp>
      <p:sp>
        <p:nvSpPr>
          <p:cNvPr id="11" name="矩形 10"/>
          <p:cNvSpPr>
            <a:spLocks noChangeArrowheads="1"/>
          </p:cNvSpPr>
          <p:nvPr/>
        </p:nvSpPr>
        <p:spPr bwMode="auto">
          <a:xfrm>
            <a:off x="100013" y="5127625"/>
            <a:ext cx="524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采用快表</a:t>
            </a:r>
            <a:r>
              <a:rPr lang="en-US" altLang="zh-CN" sz="2800">
                <a:solidFill>
                  <a:schemeClr val="bg2"/>
                </a:solidFill>
              </a:rPr>
              <a:t>, </a:t>
            </a:r>
            <a:r>
              <a:rPr lang="zh-CN" altLang="en-US" sz="2800">
                <a:solidFill>
                  <a:schemeClr val="bg2"/>
                </a:solidFill>
              </a:rPr>
              <a:t>比只采用页表少用了：</a:t>
            </a:r>
          </a:p>
        </p:txBody>
      </p:sp>
      <p:sp>
        <p:nvSpPr>
          <p:cNvPr id="15" name="矩形 14"/>
          <p:cNvSpPr>
            <a:spLocks noChangeArrowheads="1"/>
          </p:cNvSpPr>
          <p:nvPr/>
        </p:nvSpPr>
        <p:spPr bwMode="auto">
          <a:xfrm>
            <a:off x="150813" y="5737225"/>
            <a:ext cx="52403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采用快表</a:t>
            </a:r>
            <a:r>
              <a:rPr lang="en-US" altLang="zh-CN" sz="2800">
                <a:solidFill>
                  <a:schemeClr val="bg2"/>
                </a:solidFill>
              </a:rPr>
              <a:t>, </a:t>
            </a:r>
            <a:r>
              <a:rPr lang="zh-CN" altLang="en-US" sz="2800">
                <a:solidFill>
                  <a:schemeClr val="bg2"/>
                </a:solidFill>
              </a:rPr>
              <a:t>比只采用页表下降了：</a:t>
            </a:r>
          </a:p>
        </p:txBody>
      </p:sp>
      <p:sp>
        <p:nvSpPr>
          <p:cNvPr id="1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130405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1000"/>
                                        <p:tgtEl>
                                          <p:spTgt spid="10"/>
                                        </p:tgtEl>
                                      </p:cBhvr>
                                    </p:animEffect>
                                    <p:anim calcmode="lin" valueType="num">
                                      <p:cBhvr>
                                        <p:cTn id="61" dur="1000" fill="hold"/>
                                        <p:tgtEl>
                                          <p:spTgt spid="10"/>
                                        </p:tgtEl>
                                        <p:attrNameLst>
                                          <p:attrName>ppt_x</p:attrName>
                                        </p:attrNameLst>
                                      </p:cBhvr>
                                      <p:tavLst>
                                        <p:tav tm="0">
                                          <p:val>
                                            <p:strVal val="#ppt_x"/>
                                          </p:val>
                                        </p:tav>
                                        <p:tav tm="100000">
                                          <p:val>
                                            <p:strVal val="#ppt_x"/>
                                          </p:val>
                                        </p:tav>
                                      </p:tavLst>
                                    </p:anim>
                                    <p:anim calcmode="lin" valueType="num">
                                      <p:cBhvr>
                                        <p:cTn id="6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6630"/>
                                        </p:tgtEl>
                                        <p:attrNameLst>
                                          <p:attrName>style.visibility</p:attrName>
                                        </p:attrNameLst>
                                      </p:cBhvr>
                                      <p:to>
                                        <p:strVal val="visible"/>
                                      </p:to>
                                    </p:set>
                                    <p:animEffect transition="in" filter="fade">
                                      <p:cBhvr>
                                        <p:cTn id="72" dur="1000"/>
                                        <p:tgtEl>
                                          <p:spTgt spid="26630"/>
                                        </p:tgtEl>
                                      </p:cBhvr>
                                    </p:animEffect>
                                    <p:anim calcmode="lin" valueType="num">
                                      <p:cBhvr>
                                        <p:cTn id="73" dur="1000" fill="hold"/>
                                        <p:tgtEl>
                                          <p:spTgt spid="26630"/>
                                        </p:tgtEl>
                                        <p:attrNameLst>
                                          <p:attrName>ppt_x</p:attrName>
                                        </p:attrNameLst>
                                      </p:cBhvr>
                                      <p:tavLst>
                                        <p:tav tm="0">
                                          <p:val>
                                            <p:strVal val="#ppt_x"/>
                                          </p:val>
                                        </p:tav>
                                        <p:tav tm="100000">
                                          <p:val>
                                            <p:strVal val="#ppt_x"/>
                                          </p:val>
                                        </p:tav>
                                      </p:tavLst>
                                    </p:anim>
                                    <p:anim calcmode="lin" valueType="num">
                                      <p:cBhvr>
                                        <p:cTn id="74" dur="1000" fill="hold"/>
                                        <p:tgtEl>
                                          <p:spTgt spid="26630"/>
                                        </p:tgtEl>
                                        <p:attrNameLst>
                                          <p:attrName>ppt_y</p:attrName>
                                        </p:attrNameLst>
                                      </p:cBhvr>
                                      <p:tavLst>
                                        <p:tav tm="0">
                                          <p:val>
                                            <p:strVal val="#ppt_y+.1"/>
                                          </p:val>
                                        </p:tav>
                                        <p:tav tm="100000">
                                          <p:val>
                                            <p:strVal val="#ppt_y"/>
                                          </p:val>
                                        </p:tav>
                                      </p:tavLst>
                                    </p:anim>
                                  </p:childTnLst>
                                </p:cTn>
                              </p:par>
                            </p:childTnLst>
                          </p:cTn>
                        </p:par>
                        <p:par>
                          <p:cTn id="75" fill="hold">
                            <p:stCondLst>
                              <p:cond delay="1000"/>
                            </p:stCondLst>
                            <p:childTnLst>
                              <p:par>
                                <p:cTn id="76" presetID="2" presetClass="entr" presetSubtype="6" fill="hold" grpId="0" nodeType="afterEffect">
                                  <p:stCondLst>
                                    <p:cond delay="0"/>
                                  </p:stCondLst>
                                  <p:childTnLst>
                                    <p:set>
                                      <p:cBhvr>
                                        <p:cTn id="77" dur="1" fill="hold">
                                          <p:stCondLst>
                                            <p:cond delay="0"/>
                                          </p:stCondLst>
                                        </p:cTn>
                                        <p:tgtEl>
                                          <p:spTgt spid="16"/>
                                        </p:tgtEl>
                                        <p:attrNameLst>
                                          <p:attrName>style.visibility</p:attrName>
                                        </p:attrNameLst>
                                      </p:cBhvr>
                                      <p:to>
                                        <p:strVal val="visible"/>
                                      </p:to>
                                    </p:set>
                                    <p:anim calcmode="lin" valueType="num">
                                      <p:cBhvr additive="base">
                                        <p:cTn id="78" dur="500" fill="hold"/>
                                        <p:tgtEl>
                                          <p:spTgt spid="16"/>
                                        </p:tgtEl>
                                        <p:attrNameLst>
                                          <p:attrName>ppt_x</p:attrName>
                                        </p:attrNameLst>
                                      </p:cBhvr>
                                      <p:tavLst>
                                        <p:tav tm="0">
                                          <p:val>
                                            <p:strVal val="1+#ppt_w/2"/>
                                          </p:val>
                                        </p:tav>
                                        <p:tav tm="100000">
                                          <p:val>
                                            <p:strVal val="#ppt_x"/>
                                          </p:val>
                                        </p:tav>
                                      </p:tavLst>
                                    </p:anim>
                                    <p:anim calcmode="lin" valueType="num">
                                      <p:cBhvr additive="base">
                                        <p:cTn id="7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p:bldP spid="2" grpId="0"/>
      <p:bldP spid="3" grpId="0" animBg="1"/>
      <p:bldP spid="4" grpId="0"/>
      <p:bldP spid="5" grpId="0" animBg="1"/>
      <p:bldP spid="6" grpId="0"/>
      <p:bldP spid="7" grpId="0" animBg="1"/>
      <p:bldP spid="8" grpId="0"/>
      <p:bldP spid="9" grpId="0" animBg="1"/>
      <p:bldP spid="10" grpId="0" animBg="1"/>
      <p:bldP spid="11" grpId="0"/>
      <p:bldP spid="15" grpId="0"/>
      <p:bldP spid="1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0"/>
            <a:ext cx="9144000" cy="1295400"/>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Symbol" panose="05050102010706020507" pitchFamily="18" charset="2"/>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10]</a:t>
            </a:r>
            <a:r>
              <a:rPr lang="zh-CN" altLang="en-US" sz="2800" dirty="0">
                <a:solidFill>
                  <a:schemeClr val="bg2"/>
                </a:solidFill>
              </a:rPr>
              <a:t>假定访问页表的时间为</a:t>
            </a:r>
            <a:r>
              <a:rPr lang="en-US" altLang="zh-CN" sz="2800" dirty="0">
                <a:solidFill>
                  <a:schemeClr val="bg2"/>
                </a:solidFill>
              </a:rPr>
              <a:t>100ns</a:t>
            </a:r>
            <a:r>
              <a:rPr lang="zh-CN" altLang="en-US" sz="2800" dirty="0">
                <a:solidFill>
                  <a:schemeClr val="bg2"/>
                </a:solidFill>
              </a:rPr>
              <a:t>，访问快表的时间为</a:t>
            </a:r>
            <a:r>
              <a:rPr lang="en-US" altLang="zh-CN" sz="2800" dirty="0">
                <a:solidFill>
                  <a:schemeClr val="bg2"/>
                </a:solidFill>
              </a:rPr>
              <a:t>20ns</a:t>
            </a:r>
            <a:r>
              <a:rPr lang="zh-CN" altLang="en-US" sz="2800" dirty="0">
                <a:solidFill>
                  <a:schemeClr val="bg2"/>
                </a:solidFill>
              </a:rPr>
              <a:t>，希望把进行一次内存存取的</a:t>
            </a:r>
            <a:r>
              <a:rPr lang="zh-CN" altLang="en-US" sz="2800" dirty="0">
                <a:solidFill>
                  <a:srgbClr val="C00000"/>
                </a:solidFill>
              </a:rPr>
              <a:t>平均时间</a:t>
            </a:r>
            <a:r>
              <a:rPr lang="zh-CN" altLang="en-US" sz="2800" dirty="0">
                <a:solidFill>
                  <a:schemeClr val="bg2"/>
                </a:solidFill>
              </a:rPr>
              <a:t>控制在</a:t>
            </a:r>
            <a:r>
              <a:rPr lang="en-US" altLang="zh-CN" sz="2800" dirty="0">
                <a:solidFill>
                  <a:schemeClr val="bg2"/>
                </a:solidFill>
              </a:rPr>
              <a:t>140ns</a:t>
            </a:r>
            <a:r>
              <a:rPr lang="zh-CN" altLang="en-US" sz="2800" dirty="0">
                <a:solidFill>
                  <a:schemeClr val="bg2"/>
                </a:solidFill>
              </a:rPr>
              <a:t>内，问这时要求快表的命中率为多少？</a:t>
            </a:r>
          </a:p>
        </p:txBody>
      </p:sp>
      <p:sp>
        <p:nvSpPr>
          <p:cNvPr id="2" name="矩形 1"/>
          <p:cNvSpPr>
            <a:spLocks noChangeArrowheads="1"/>
          </p:cNvSpPr>
          <p:nvPr/>
        </p:nvSpPr>
        <p:spPr bwMode="auto">
          <a:xfrm>
            <a:off x="109538" y="1509713"/>
            <a:ext cx="3960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访问一次内存的时间</a:t>
            </a:r>
            <a:r>
              <a:rPr lang="en-US" altLang="zh-CN" sz="2800">
                <a:solidFill>
                  <a:schemeClr val="bg2"/>
                </a:solidFill>
              </a:rPr>
              <a:t>: </a:t>
            </a:r>
            <a:endParaRPr lang="zh-CN" altLang="en-US" sz="2800">
              <a:solidFill>
                <a:schemeClr val="bg2"/>
              </a:solidFill>
            </a:endParaRPr>
          </a:p>
        </p:txBody>
      </p:sp>
      <p:sp>
        <p:nvSpPr>
          <p:cNvPr id="3" name="矩形 2"/>
          <p:cNvSpPr>
            <a:spLocks noChangeArrowheads="1"/>
          </p:cNvSpPr>
          <p:nvPr/>
        </p:nvSpPr>
        <p:spPr bwMode="auto">
          <a:xfrm>
            <a:off x="4400550" y="1524000"/>
            <a:ext cx="936625" cy="46037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100ns</a:t>
            </a:r>
            <a:endParaRPr lang="zh-CN" altLang="en-US" sz="2400">
              <a:solidFill>
                <a:schemeClr val="bg2"/>
              </a:solidFill>
            </a:endParaRPr>
          </a:p>
        </p:txBody>
      </p:sp>
      <p:sp>
        <p:nvSpPr>
          <p:cNvPr id="4" name="矩形 3"/>
          <p:cNvSpPr>
            <a:spLocks noChangeArrowheads="1"/>
          </p:cNvSpPr>
          <p:nvPr/>
        </p:nvSpPr>
        <p:spPr bwMode="auto">
          <a:xfrm>
            <a:off x="109538" y="3768725"/>
            <a:ext cx="58594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通过页表进行一次内存存取的时间</a:t>
            </a:r>
          </a:p>
        </p:txBody>
      </p:sp>
      <p:sp>
        <p:nvSpPr>
          <p:cNvPr id="5" name="矩形 4"/>
          <p:cNvSpPr>
            <a:spLocks noChangeArrowheads="1"/>
          </p:cNvSpPr>
          <p:nvPr/>
        </p:nvSpPr>
        <p:spPr bwMode="auto">
          <a:xfrm>
            <a:off x="5575300" y="3809321"/>
            <a:ext cx="3568700" cy="46196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20ns+100ns+100ns=220ns</a:t>
            </a:r>
            <a:endParaRPr lang="zh-CN" altLang="en-US" sz="2400" dirty="0">
              <a:solidFill>
                <a:schemeClr val="bg2"/>
              </a:solidFill>
            </a:endParaRPr>
          </a:p>
        </p:txBody>
      </p:sp>
      <p:sp>
        <p:nvSpPr>
          <p:cNvPr id="6" name="矩形 5"/>
          <p:cNvSpPr>
            <a:spLocks noChangeArrowheads="1"/>
          </p:cNvSpPr>
          <p:nvPr/>
        </p:nvSpPr>
        <p:spPr bwMode="auto">
          <a:xfrm>
            <a:off x="134938" y="2484439"/>
            <a:ext cx="58340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2"/>
                </a:solidFill>
              </a:rPr>
              <a:t>快表命中，一次内存存取的时间：</a:t>
            </a:r>
          </a:p>
        </p:txBody>
      </p:sp>
      <p:sp>
        <p:nvSpPr>
          <p:cNvPr id="7" name="矩形 6"/>
          <p:cNvSpPr>
            <a:spLocks noChangeArrowheads="1"/>
          </p:cNvSpPr>
          <p:nvPr/>
        </p:nvSpPr>
        <p:spPr bwMode="auto">
          <a:xfrm>
            <a:off x="6101528" y="2530249"/>
            <a:ext cx="2838450" cy="46196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chemeClr val="bg2"/>
                </a:solidFill>
              </a:rPr>
              <a:t>20ns +100ns=120ns</a:t>
            </a:r>
            <a:endParaRPr lang="zh-CN" altLang="en-US" sz="2400" dirty="0">
              <a:solidFill>
                <a:schemeClr val="bg2"/>
              </a:solidFill>
            </a:endParaRPr>
          </a:p>
        </p:txBody>
      </p:sp>
      <p:sp>
        <p:nvSpPr>
          <p:cNvPr id="8" name="矩形 7"/>
          <p:cNvSpPr>
            <a:spLocks noChangeArrowheads="1"/>
          </p:cNvSpPr>
          <p:nvPr/>
        </p:nvSpPr>
        <p:spPr bwMode="auto">
          <a:xfrm>
            <a:off x="128588" y="5148263"/>
            <a:ext cx="2347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设命中率为 </a:t>
            </a:r>
            <a:r>
              <a:rPr lang="en-US" altLang="zh-CN" sz="2800">
                <a:solidFill>
                  <a:schemeClr val="bg2"/>
                </a:solidFill>
              </a:rPr>
              <a:t>x </a:t>
            </a:r>
            <a:endParaRPr lang="zh-CN" altLang="en-US" sz="2800">
              <a:solidFill>
                <a:schemeClr val="bg2"/>
              </a:solidFill>
            </a:endParaRPr>
          </a:p>
        </p:txBody>
      </p:sp>
      <p:sp>
        <p:nvSpPr>
          <p:cNvPr id="9" name="矩形 8"/>
          <p:cNvSpPr>
            <a:spLocks noChangeArrowheads="1"/>
          </p:cNvSpPr>
          <p:nvPr/>
        </p:nvSpPr>
        <p:spPr bwMode="auto">
          <a:xfrm>
            <a:off x="6719888" y="5210175"/>
            <a:ext cx="1128712" cy="461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x=80%</a:t>
            </a:r>
            <a:endParaRPr lang="zh-CN" altLang="en-US" sz="2400">
              <a:solidFill>
                <a:schemeClr val="bg2"/>
              </a:solidFill>
            </a:endParaRPr>
          </a:p>
        </p:txBody>
      </p:sp>
      <p:sp>
        <p:nvSpPr>
          <p:cNvPr id="10" name="矩形 9"/>
          <p:cNvSpPr>
            <a:spLocks noChangeArrowheads="1"/>
          </p:cNvSpPr>
          <p:nvPr/>
        </p:nvSpPr>
        <p:spPr bwMode="auto">
          <a:xfrm>
            <a:off x="2852738" y="5210175"/>
            <a:ext cx="3381375" cy="461963"/>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en-US" altLang="zh-CN" sz="2400">
                <a:solidFill>
                  <a:schemeClr val="bg2"/>
                </a:solidFill>
              </a:rPr>
              <a:t>220*(1-x)+120*x=140     </a:t>
            </a:r>
          </a:p>
        </p:txBody>
      </p:sp>
      <p:sp>
        <p:nvSpPr>
          <p:cNvPr id="13" name="AutoShape 8">
            <a:hlinkClick r:id="rId2" action="ppaction://hlinksldjump" highlightClick="1"/>
          </p:cNvPr>
          <p:cNvSpPr>
            <a:spLocks noChangeArrowheads="1"/>
          </p:cNvSpPr>
          <p:nvPr/>
        </p:nvSpPr>
        <p:spPr bwMode="auto">
          <a:xfrm>
            <a:off x="8820150" y="6524625"/>
            <a:ext cx="323850" cy="33337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105009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1000"/>
                                        <p:tgtEl>
                                          <p:spTgt spid="5"/>
                                        </p:tgtEl>
                                      </p:cBhvr>
                                    </p:animEffect>
                                    <p:anim calcmode="lin" valueType="num">
                                      <p:cBhvr>
                                        <p:cTn id="37" dur="1000" fill="hold"/>
                                        <p:tgtEl>
                                          <p:spTgt spid="5"/>
                                        </p:tgtEl>
                                        <p:attrNameLst>
                                          <p:attrName>ppt_x</p:attrName>
                                        </p:attrNameLst>
                                      </p:cBhvr>
                                      <p:tavLst>
                                        <p:tav tm="0">
                                          <p:val>
                                            <p:strVal val="#ppt_x"/>
                                          </p:val>
                                        </p:tav>
                                        <p:tav tm="100000">
                                          <p:val>
                                            <p:strVal val="#ppt_x"/>
                                          </p:val>
                                        </p:tav>
                                      </p:tavLst>
                                    </p:anim>
                                    <p:anim calcmode="lin" valueType="num">
                                      <p:cBhvr>
                                        <p:cTn id="3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animEffect transition="in" filter="fade">
                                      <p:cBhvr>
                                        <p:cTn id="57" dur="500"/>
                                        <p:tgtEl>
                                          <p:spTgt spid="9"/>
                                        </p:tgtEl>
                                      </p:cBhvr>
                                    </p:animEffect>
                                  </p:childTnLst>
                                </p:cTn>
                              </p:par>
                            </p:childTnLst>
                          </p:cTn>
                        </p:par>
                        <p:par>
                          <p:cTn id="58" fill="hold">
                            <p:stCondLst>
                              <p:cond delay="500"/>
                            </p:stCondLst>
                            <p:childTnLst>
                              <p:par>
                                <p:cTn id="59" presetID="4" presetClass="entr" presetSubtype="16"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box(in)">
                                      <p:cBhvr>
                                        <p:cTn id="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animBg="1"/>
      <p:bldP spid="6" grpId="0"/>
      <p:bldP spid="7" grpId="0" animBg="1"/>
      <p:bldP spid="8" grpId="0"/>
      <p:bldP spid="9" grpId="0" animBg="1"/>
      <p:bldP spid="10" grpId="0" animBg="1"/>
      <p:bldP spid="1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414138D4-EE4D-4107-B1E7-BCABA763E929}"/>
              </a:ext>
            </a:extLst>
          </p:cNvPr>
          <p:cNvSpPr txBox="1">
            <a:spLocks noChangeArrowheads="1"/>
          </p:cNvSpPr>
          <p:nvPr/>
        </p:nvSpPr>
        <p:spPr>
          <a:xfrm>
            <a:off x="3419872" y="1844824"/>
            <a:ext cx="363926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多级页表</a:t>
            </a:r>
          </a:p>
        </p:txBody>
      </p:sp>
      <p:sp>
        <p:nvSpPr>
          <p:cNvPr id="6" name="Rectangle 3">
            <a:extLst>
              <a:ext uri="{FF2B5EF4-FFF2-40B4-BE49-F238E27FC236}">
                <a16:creationId xmlns:a16="http://schemas.microsoft.com/office/drawing/2014/main" id="{86CA5F59-5B8C-4992-A2BE-7871F682D012}"/>
              </a:ext>
            </a:extLst>
          </p:cNvPr>
          <p:cNvSpPr txBox="1">
            <a:spLocks noChangeArrowheads="1"/>
          </p:cNvSpPr>
          <p:nvPr/>
        </p:nvSpPr>
        <p:spPr>
          <a:xfrm>
            <a:off x="3418880" y="3534768"/>
            <a:ext cx="371226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倒置页表</a:t>
            </a:r>
          </a:p>
        </p:txBody>
      </p:sp>
      <p:sp>
        <p:nvSpPr>
          <p:cNvPr id="8" name="Rectangle 3">
            <a:extLst>
              <a:ext uri="{FF2B5EF4-FFF2-40B4-BE49-F238E27FC236}">
                <a16:creationId xmlns:a16="http://schemas.microsoft.com/office/drawing/2014/main" id="{30D6D4EE-CFCD-4305-947B-5ED67223BE98}"/>
              </a:ext>
            </a:extLst>
          </p:cNvPr>
          <p:cNvSpPr txBox="1">
            <a:spLocks noChangeArrowheads="1"/>
          </p:cNvSpPr>
          <p:nvPr/>
        </p:nvSpPr>
        <p:spPr>
          <a:xfrm>
            <a:off x="3418880" y="2659011"/>
            <a:ext cx="3928292"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哈希页表</a:t>
            </a:r>
          </a:p>
        </p:txBody>
      </p:sp>
      <p:sp>
        <p:nvSpPr>
          <p:cNvPr id="9"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4067944"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计算机科学与技术系  </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10" name="Rectangle 3">
            <a:extLst>
              <a:ext uri="{FF2B5EF4-FFF2-40B4-BE49-F238E27FC236}">
                <a16:creationId xmlns:a16="http://schemas.microsoft.com/office/drawing/2014/main" id="{70578FEE-E15C-4C15-A7B0-FA6D513AAA77}"/>
              </a:ext>
            </a:extLst>
          </p:cNvPr>
          <p:cNvSpPr txBox="1">
            <a:spLocks noChangeArrowheads="1"/>
          </p:cNvSpPr>
          <p:nvPr/>
        </p:nvSpPr>
        <p:spPr>
          <a:xfrm>
            <a:off x="2234604" y="0"/>
            <a:ext cx="4464496"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7.5.4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页表的结构</a:t>
            </a:r>
          </a:p>
        </p:txBody>
      </p:sp>
    </p:spTree>
    <p:extLst>
      <p:ext uri="{BB962C8B-B14F-4D97-AF65-F5344CB8AC3E}">
        <p14:creationId xmlns:p14="http://schemas.microsoft.com/office/powerpoint/2010/main" val="18942028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E9D006-8C58-4A65-B565-D7EE0EDB58D7}"/>
              </a:ext>
            </a:extLst>
          </p:cNvPr>
          <p:cNvSpPr txBox="1">
            <a:spLocks noChangeArrowheads="1"/>
          </p:cNvSpPr>
          <p:nvPr/>
        </p:nvSpPr>
        <p:spPr>
          <a:xfrm>
            <a:off x="2752366" y="116632"/>
            <a:ext cx="363926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多级页表</a:t>
            </a:r>
          </a:p>
        </p:txBody>
      </p:sp>
      <p:sp>
        <p:nvSpPr>
          <p:cNvPr id="5" name="Rectangle 3">
            <a:extLst>
              <a:ext uri="{FF2B5EF4-FFF2-40B4-BE49-F238E27FC236}">
                <a16:creationId xmlns:a16="http://schemas.microsoft.com/office/drawing/2014/main" id="{C74D06AD-DAA3-435E-A41F-EAD159A2BC94}"/>
              </a:ext>
            </a:extLst>
          </p:cNvPr>
          <p:cNvSpPr txBox="1">
            <a:spLocks noChangeArrowheads="1"/>
          </p:cNvSpPr>
          <p:nvPr/>
        </p:nvSpPr>
        <p:spPr>
          <a:xfrm>
            <a:off x="198253" y="1052736"/>
            <a:ext cx="8928991" cy="542426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现代计算机支持大逻辑地址空间</a:t>
            </a:r>
            <a:r>
              <a:rPr lang="en-US" altLang="zh-CN" sz="3600" dirty="0">
                <a:solidFill>
                  <a:schemeClr val="bg1"/>
                </a:solidFill>
                <a:latin typeface="+mj-lt"/>
                <a:ea typeface="楷体" panose="02010609060101010101" pitchFamily="49" charset="-122"/>
              </a:rPr>
              <a:t>: </a:t>
            </a:r>
            <a:r>
              <a:rPr lang="en-US" altLang="en-US" sz="3600" dirty="0">
                <a:solidFill>
                  <a:schemeClr val="bg1"/>
                </a:solidFill>
                <a:latin typeface="+mj-lt"/>
                <a:ea typeface="楷体" panose="02010609060101010101" pitchFamily="49" charset="-122"/>
              </a:rPr>
              <a:t>2</a:t>
            </a:r>
            <a:r>
              <a:rPr lang="en-US" altLang="en-US" sz="3600" baseline="30000" dirty="0">
                <a:solidFill>
                  <a:schemeClr val="bg1"/>
                </a:solidFill>
                <a:latin typeface="+mj-lt"/>
                <a:ea typeface="楷体" panose="02010609060101010101" pitchFamily="49" charset="-122"/>
              </a:rPr>
              <a:t>32</a:t>
            </a:r>
            <a:r>
              <a:rPr lang="en-US" altLang="en-US" sz="3600" dirty="0">
                <a:solidFill>
                  <a:schemeClr val="bg1"/>
                </a:solidFill>
                <a:latin typeface="+mj-lt"/>
                <a:ea typeface="楷体" panose="02010609060101010101" pitchFamily="49" charset="-122"/>
              </a:rPr>
              <a:t> </a:t>
            </a:r>
            <a:r>
              <a:rPr lang="en-US" altLang="zh-CN" sz="3600" dirty="0">
                <a:solidFill>
                  <a:schemeClr val="bg1"/>
                </a:solidFill>
                <a:latin typeface="+mj-lt"/>
                <a:ea typeface="楷体" panose="02010609060101010101" pitchFamily="49" charset="-122"/>
              </a:rPr>
              <a:t>–</a:t>
            </a:r>
            <a:r>
              <a:rPr lang="en-US" altLang="en-US" sz="3600" dirty="0">
                <a:solidFill>
                  <a:schemeClr val="bg1"/>
                </a:solidFill>
                <a:latin typeface="+mj-lt"/>
                <a:ea typeface="楷体" panose="02010609060101010101" pitchFamily="49" charset="-122"/>
              </a:rPr>
              <a:t> 2</a:t>
            </a:r>
            <a:r>
              <a:rPr lang="en-US" altLang="zh-CN" sz="3600" baseline="30000" dirty="0">
                <a:solidFill>
                  <a:schemeClr val="bg1"/>
                </a:solidFill>
                <a:latin typeface="+mj-lt"/>
                <a:ea typeface="楷体" panose="02010609060101010101" pitchFamily="49" charset="-122"/>
              </a:rPr>
              <a:t>64</a:t>
            </a:r>
          </a:p>
          <a:p>
            <a:pPr marL="355600" lvl="2" indent="-355600" defTabSz="355600">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假设计算机有</a:t>
            </a:r>
            <a:r>
              <a:rPr lang="en-US" altLang="zh-CN" sz="3600" dirty="0">
                <a:solidFill>
                  <a:schemeClr val="bg1"/>
                </a:solidFill>
                <a:latin typeface="+mj-lt"/>
                <a:ea typeface="楷体" panose="02010609060101010101" pitchFamily="49" charset="-122"/>
              </a:rPr>
              <a:t>32</a:t>
            </a:r>
            <a:r>
              <a:rPr lang="zh-CN" altLang="en-US" sz="3600" dirty="0">
                <a:solidFill>
                  <a:schemeClr val="bg1"/>
                </a:solidFill>
                <a:latin typeface="+mj-lt"/>
                <a:ea typeface="楷体" panose="02010609060101010101" pitchFamily="49" charset="-122"/>
              </a:rPr>
              <a:t>位（</a:t>
            </a:r>
            <a:r>
              <a:rPr lang="en-US" altLang="zh-CN" sz="3600" dirty="0">
                <a:solidFill>
                  <a:schemeClr val="bg1"/>
                </a:solidFill>
                <a:latin typeface="+mj-lt"/>
                <a:ea typeface="楷体" panose="02010609060101010101" pitchFamily="49" charset="-122"/>
              </a:rPr>
              <a:t>4G</a:t>
            </a:r>
            <a:r>
              <a:rPr lang="zh-CN" altLang="en-US" sz="3600" dirty="0">
                <a:solidFill>
                  <a:schemeClr val="bg1"/>
                </a:solidFill>
                <a:latin typeface="+mj-lt"/>
                <a:ea typeface="楷体" panose="02010609060101010101" pitchFamily="49" charset="-122"/>
              </a:rPr>
              <a:t>）逻辑地址空间，页大小</a:t>
            </a:r>
            <a:r>
              <a:rPr lang="en-US" altLang="en-US" sz="3600" dirty="0">
                <a:solidFill>
                  <a:schemeClr val="bg1"/>
                </a:solidFill>
                <a:latin typeface="+mj-lt"/>
                <a:ea typeface="楷体" panose="02010609060101010101" pitchFamily="49" charset="-122"/>
              </a:rPr>
              <a:t>4 KB (2</a:t>
            </a:r>
            <a:r>
              <a:rPr lang="en-US" altLang="en-US" sz="3600" baseline="30000" dirty="0">
                <a:solidFill>
                  <a:schemeClr val="bg1"/>
                </a:solidFill>
                <a:latin typeface="+mj-lt"/>
                <a:ea typeface="楷体" panose="02010609060101010101" pitchFamily="49" charset="-122"/>
              </a:rPr>
              <a:t>12</a:t>
            </a:r>
            <a:r>
              <a:rPr lang="en-US" altLang="en-US" sz="3600" dirty="0">
                <a:solidFill>
                  <a:schemeClr val="bg1"/>
                </a:solidFill>
                <a:latin typeface="+mj-lt"/>
                <a:ea typeface="楷体" panose="02010609060101010101" pitchFamily="49" charset="-122"/>
              </a:rPr>
              <a:t>)</a:t>
            </a:r>
          </a:p>
          <a:p>
            <a:pPr marL="355600" lvl="2" indent="-355600" defTabSz="355600">
              <a:lnSpc>
                <a:spcPts val="4100"/>
              </a:lnSpc>
              <a:spcBef>
                <a:spcPct val="0"/>
              </a:spcBef>
              <a:buClr>
                <a:schemeClr val="accent3">
                  <a:lumMod val="50000"/>
                </a:schemeClr>
              </a:buClr>
              <a:buSzPct val="11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页表项的个数</a:t>
            </a:r>
            <a:r>
              <a:rPr lang="en-US" altLang="zh-CN" sz="3600" dirty="0">
                <a:solidFill>
                  <a:schemeClr val="bg1"/>
                </a:solidFill>
                <a:latin typeface="+mj-lt"/>
                <a:ea typeface="楷体" panose="02010609060101010101" pitchFamily="49" charset="-122"/>
              </a:rPr>
              <a:t>?</a:t>
            </a:r>
            <a:endParaRPr lang="en-US" altLang="en-US" sz="3600" dirty="0">
              <a:solidFill>
                <a:schemeClr val="bg1"/>
              </a:solidFill>
              <a:latin typeface="+mj-lt"/>
              <a:ea typeface="楷体" panose="02010609060101010101" pitchFamily="49" charset="-122"/>
            </a:endParaRPr>
          </a:p>
          <a:p>
            <a:pPr marL="355600" lvl="2" indent="-355600" defTabSz="355600">
              <a:lnSpc>
                <a:spcPts val="4100"/>
              </a:lnSpc>
              <a:spcBef>
                <a:spcPct val="0"/>
              </a:spcBef>
              <a:buClr>
                <a:srgbClr val="CC3300"/>
              </a:buClr>
              <a:buSzPct val="110000"/>
              <a:buFont typeface="Wingdings" panose="05000000000000000000" pitchFamily="2" charset="2"/>
              <a:buChar char="n"/>
              <a:tabLst>
                <a:tab pos="1433513" algn="l"/>
              </a:tabLst>
              <a:defRPr/>
            </a:pPr>
            <a:r>
              <a:rPr lang="zh-CN" altLang="en-US" sz="3600" dirty="0">
                <a:solidFill>
                  <a:srgbClr val="CC3300"/>
                </a:solidFill>
                <a:latin typeface="+mj-lt"/>
                <a:ea typeface="楷体" panose="02010609060101010101" pitchFamily="49" charset="-122"/>
              </a:rPr>
              <a:t>单级页表：</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若一个页表项占</a:t>
            </a:r>
            <a:r>
              <a:rPr lang="en-US"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4 bytes</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，页表本  </a:t>
            </a:r>
            <a:r>
              <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身占</a:t>
            </a:r>
            <a:r>
              <a:rPr lang="en-US"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连续空间</a:t>
            </a:r>
            <a:r>
              <a:rPr lang="en-US" altLang="zh-CN" sz="3200"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p>
          <a:p>
            <a:pPr marL="1270000" lvl="4" indent="-355600" defTabSz="355600">
              <a:lnSpc>
                <a:spcPts val="41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大部分逻辑地址不会用到，</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页表项大部分空闲，内存浪费。</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ts val="4100"/>
              </a:lnSpc>
              <a:spcBef>
                <a:spcPct val="0"/>
              </a:spcBef>
              <a:buClr>
                <a:srgbClr val="C00000"/>
              </a:buClr>
              <a:buSzPct val="110000"/>
              <a:buFont typeface="Wingdings" panose="05000000000000000000" pitchFamily="2" charset="2"/>
              <a:buChar char="n"/>
              <a:tabLst>
                <a:tab pos="3851275" algn="l"/>
              </a:tabLst>
              <a:defRPr/>
            </a:pPr>
            <a:r>
              <a:rPr lang="zh-CN" altLang="en-US" sz="3600" dirty="0">
                <a:solidFill>
                  <a:srgbClr val="CC3300"/>
                </a:solidFill>
                <a:ea typeface="楷体" panose="02010609060101010101" pitchFamily="49" charset="-122"/>
              </a:rPr>
              <a:t>多级页表：</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如果顶层页表中的表目留空，就不需要为它建立中级页表和底层页表。</a:t>
            </a:r>
            <a:endParaRPr lang="en-US"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7" name="矩形 6">
            <a:extLst>
              <a:ext uri="{FF2B5EF4-FFF2-40B4-BE49-F238E27FC236}">
                <a16:creationId xmlns:a16="http://schemas.microsoft.com/office/drawing/2014/main" id="{3D655A16-C9F3-4EEC-ACEE-0F23058B6854}"/>
              </a:ext>
            </a:extLst>
          </p:cNvPr>
          <p:cNvSpPr/>
          <p:nvPr/>
        </p:nvSpPr>
        <p:spPr>
          <a:xfrm>
            <a:off x="2752366" y="3764868"/>
            <a:ext cx="1154483" cy="492443"/>
          </a:xfrm>
          <a:prstGeom prst="rect">
            <a:avLst/>
          </a:prstGeom>
          <a:solidFill>
            <a:srgbClr val="FF69FF"/>
          </a:solidFill>
        </p:spPr>
        <p:txBody>
          <a:bodyPr wrap="square" tIns="0" bIns="0">
            <a:spAutoFit/>
          </a:bodyPr>
          <a:lstStyle/>
          <a:p>
            <a:r>
              <a:rPr lang="en-US"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4 MB</a:t>
            </a:r>
            <a:endParaRPr lang="zh-CN" altLang="en-US" dirty="0"/>
          </a:p>
        </p:txBody>
      </p:sp>
      <p:sp>
        <p:nvSpPr>
          <p:cNvPr id="8" name="矩形 7">
            <a:extLst>
              <a:ext uri="{FF2B5EF4-FFF2-40B4-BE49-F238E27FC236}">
                <a16:creationId xmlns:a16="http://schemas.microsoft.com/office/drawing/2014/main" id="{8EF62BD5-C557-49E5-8DB4-167C40A344F2}"/>
              </a:ext>
            </a:extLst>
          </p:cNvPr>
          <p:cNvSpPr/>
          <p:nvPr/>
        </p:nvSpPr>
        <p:spPr>
          <a:xfrm>
            <a:off x="3707904" y="2708920"/>
            <a:ext cx="3528392" cy="492443"/>
          </a:xfrm>
          <a:prstGeom prst="rect">
            <a:avLst/>
          </a:prstGeom>
          <a:solidFill>
            <a:srgbClr val="FF69FF"/>
          </a:solidFill>
        </p:spPr>
        <p:txBody>
          <a:bodyPr wrap="square" tIns="0" bIns="0">
            <a:spAutoFit/>
          </a:bodyPr>
          <a:lstStyle/>
          <a:p>
            <a:pPr eaLnBrk="1" hangingPunct="1">
              <a:defRPr/>
            </a:pPr>
            <a:r>
              <a:rPr lang="en-US"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2</a:t>
            </a:r>
            <a:r>
              <a:rPr lang="en-US" altLang="en-US" baseline="300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32</a:t>
            </a:r>
            <a:r>
              <a:rPr lang="en-US"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en-US"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en-US" baseline="300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12</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b="1" kern="0" dirty="0">
                <a:solidFill>
                  <a:schemeClr val="bg2"/>
                </a:solidFill>
                <a:latin typeface="Times New Roman" panose="02020603050405020304" pitchFamily="18" charset="0"/>
                <a:ea typeface="楷体_GB2312" pitchFamily="49" charset="-122"/>
                <a:cs typeface="Times New Roman" panose="02020603050405020304" pitchFamily="18" charset="0"/>
              </a:rPr>
              <a:t>2</a:t>
            </a:r>
            <a:r>
              <a:rPr lang="en-US" altLang="zh-CN" b="1" kern="0" baseline="30000" dirty="0">
                <a:solidFill>
                  <a:schemeClr val="bg2"/>
                </a:solidFill>
                <a:latin typeface="Times New Roman" panose="02020603050405020304" pitchFamily="18" charset="0"/>
                <a:ea typeface="楷体_GB2312" pitchFamily="49" charset="-122"/>
                <a:cs typeface="Times New Roman" panose="02020603050405020304" pitchFamily="18" charset="0"/>
              </a:rPr>
              <a:t>20</a:t>
            </a:r>
            <a:r>
              <a:rPr lang="en-US" altLang="zh-CN" kern="0" dirty="0">
                <a:solidFill>
                  <a:schemeClr val="bg2"/>
                </a:solidFill>
                <a:latin typeface="Times New Roman" panose="02020603050405020304" pitchFamily="18" charset="0"/>
                <a:ea typeface="楷体_GB2312" pitchFamily="49" charset="-122"/>
                <a:cs typeface="Times New Roman" panose="02020603050405020304" pitchFamily="18" charset="0"/>
              </a:rPr>
              <a:t>=</a:t>
            </a:r>
            <a:r>
              <a:rPr lang="en-US" altLang="zh-CN" b="1" kern="0" baseline="30000" dirty="0">
                <a:solidFill>
                  <a:schemeClr val="bg2"/>
                </a:solidFill>
                <a:latin typeface="Times New Roman" panose="02020603050405020304" pitchFamily="18" charset="0"/>
                <a:ea typeface="楷体_GB2312" pitchFamily="49" charset="-122"/>
                <a:cs typeface="Times New Roman" panose="02020603050405020304" pitchFamily="18" charset="0"/>
              </a:rPr>
              <a:t> </a:t>
            </a:r>
            <a:r>
              <a:rPr lang="en-US" altLang="zh-CN" kern="0" dirty="0">
                <a:solidFill>
                  <a:schemeClr val="bg2"/>
                </a:solidFill>
                <a:latin typeface="Times New Roman" panose="02020603050405020304" pitchFamily="18" charset="0"/>
                <a:ea typeface="楷体_GB2312" pitchFamily="49" charset="-122"/>
                <a:cs typeface="Times New Roman" panose="02020603050405020304" pitchFamily="18" charset="0"/>
              </a:rPr>
              <a:t>1M</a:t>
            </a:r>
            <a:endParaRPr lang="zh-CN" altLang="en-US" dirty="0">
              <a:solidFill>
                <a:schemeClr val="bg2"/>
              </a:solidFill>
              <a:latin typeface="Times New Roman" panose="02020603050405020304" pitchFamily="18" charset="0"/>
              <a:cs typeface="Times New Roman" panose="02020603050405020304" pitchFamily="18" charset="0"/>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1272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1000"/>
                                        <p:tgtEl>
                                          <p:spTgt spid="5">
                                            <p:txEl>
                                              <p:pRg st="4" end="4"/>
                                            </p:txEl>
                                          </p:spTgt>
                                        </p:tgtEl>
                                      </p:cBhvr>
                                    </p:animEffect>
                                    <p:anim calcmode="lin" valueType="num">
                                      <p:cBhvr>
                                        <p:cTn id="27"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Effect transition="in" filter="fade">
                                      <p:cBhvr>
                                        <p:cTn id="33" dur="1000"/>
                                        <p:tgtEl>
                                          <p:spTgt spid="5">
                                            <p:txEl>
                                              <p:pRg st="5" end="5"/>
                                            </p:txEl>
                                          </p:spTgt>
                                        </p:tgtEl>
                                      </p:cBhvr>
                                    </p:animEffect>
                                    <p:anim calcmode="lin" valueType="num">
                                      <p:cBhvr>
                                        <p:cTn id="34"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2" presetClass="entr" presetSubtype="6"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1+#ppt_w/2"/>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2070696-00B5-438A-9AC2-54D221CBAED1}"/>
              </a:ext>
            </a:extLst>
          </p:cNvPr>
          <p:cNvPicPr>
            <a:picLocks noChangeAspect="1"/>
          </p:cNvPicPr>
          <p:nvPr/>
        </p:nvPicPr>
        <p:blipFill>
          <a:blip r:embed="rId2"/>
          <a:stretch>
            <a:fillRect/>
          </a:stretch>
        </p:blipFill>
        <p:spPr>
          <a:xfrm>
            <a:off x="1173367" y="2181730"/>
            <a:ext cx="7011918" cy="4234073"/>
          </a:xfrm>
          <a:prstGeom prst="rect">
            <a:avLst/>
          </a:prstGeom>
        </p:spPr>
      </p:pic>
      <p:sp>
        <p:nvSpPr>
          <p:cNvPr id="8" name="Text Box 4">
            <a:extLst>
              <a:ext uri="{FF2B5EF4-FFF2-40B4-BE49-F238E27FC236}">
                <a16:creationId xmlns:a16="http://schemas.microsoft.com/office/drawing/2014/main" id="{18A9DEAB-A214-4CC0-9C9E-65DDBB19A9B4}"/>
              </a:ext>
            </a:extLst>
          </p:cNvPr>
          <p:cNvSpPr txBox="1">
            <a:spLocks noChangeArrowheads="1"/>
          </p:cNvSpPr>
          <p:nvPr/>
        </p:nvSpPr>
        <p:spPr bwMode="auto">
          <a:xfrm>
            <a:off x="717674" y="6499484"/>
            <a:ext cx="78488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lang="en-US" altLang="zh-CN" sz="2000" dirty="0">
                <a:solidFill>
                  <a:schemeClr val="bg2"/>
                </a:solidFill>
              </a:rPr>
              <a:t>William Stallings, Operating Systems: Internals and Design Principles</a:t>
            </a:r>
            <a:endParaRPr lang="zh-CN" altLang="en-US" sz="2000" dirty="0">
              <a:solidFill>
                <a:schemeClr val="bg2"/>
              </a:solidFill>
            </a:endParaRP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6" name="矩形 5">
            <a:extLst>
              <a:ext uri="{FF2B5EF4-FFF2-40B4-BE49-F238E27FC236}">
                <a16:creationId xmlns:a16="http://schemas.microsoft.com/office/drawing/2014/main" id="{124A7A7B-A97D-4DB6-8C09-327D22BAD8C2}"/>
              </a:ext>
            </a:extLst>
          </p:cNvPr>
          <p:cNvSpPr/>
          <p:nvPr/>
        </p:nvSpPr>
        <p:spPr>
          <a:xfrm>
            <a:off x="2886821" y="0"/>
            <a:ext cx="3434655" cy="76944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二级页表</a:t>
            </a:r>
          </a:p>
        </p:txBody>
      </p:sp>
      <p:grpSp>
        <p:nvGrpSpPr>
          <p:cNvPr id="9" name="组合 8"/>
          <p:cNvGrpSpPr/>
          <p:nvPr/>
        </p:nvGrpSpPr>
        <p:grpSpPr>
          <a:xfrm>
            <a:off x="1141549" y="792574"/>
            <a:ext cx="7354886" cy="1339851"/>
            <a:chOff x="894557" y="1196752"/>
            <a:chExt cx="7354886" cy="1339851"/>
          </a:xfrm>
        </p:grpSpPr>
        <p:grpSp>
          <p:nvGrpSpPr>
            <p:cNvPr id="10" name="Group 86">
              <a:extLst>
                <a:ext uri="{FF2B5EF4-FFF2-40B4-BE49-F238E27FC236}">
                  <a16:creationId xmlns:a16="http://schemas.microsoft.com/office/drawing/2014/main" id="{C3AC9C40-6B2E-40E1-8D09-653F9053AF09}"/>
                </a:ext>
              </a:extLst>
            </p:cNvPr>
            <p:cNvGrpSpPr>
              <a:grpSpLocks/>
            </p:cNvGrpSpPr>
            <p:nvPr/>
          </p:nvGrpSpPr>
          <p:grpSpPr bwMode="auto">
            <a:xfrm>
              <a:off x="894557" y="1196752"/>
              <a:ext cx="7354886" cy="1339851"/>
              <a:chOff x="640" y="3312"/>
              <a:chExt cx="4633" cy="844"/>
            </a:xfrm>
          </p:grpSpPr>
          <p:sp>
            <p:nvSpPr>
              <p:cNvPr id="12" name="Rectangle 71">
                <a:extLst>
                  <a:ext uri="{FF2B5EF4-FFF2-40B4-BE49-F238E27FC236}">
                    <a16:creationId xmlns:a16="http://schemas.microsoft.com/office/drawing/2014/main" id="{4F125BA1-653A-4046-A7B5-C8B92360C385}"/>
                  </a:ext>
                </a:extLst>
              </p:cNvPr>
              <p:cNvSpPr>
                <a:spLocks noChangeArrowheads="1"/>
              </p:cNvSpPr>
              <p:nvPr/>
            </p:nvSpPr>
            <p:spPr bwMode="auto">
              <a:xfrm>
                <a:off x="3408" y="3600"/>
                <a:ext cx="1808" cy="299"/>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en-US" altLang="zh-CN" sz="2400" b="1" dirty="0">
                    <a:solidFill>
                      <a:schemeClr val="bg2"/>
                    </a:solidFill>
                    <a:latin typeface="+mn-lt"/>
                  </a:rPr>
                  <a:t>Offset</a:t>
                </a:r>
                <a:r>
                  <a:rPr lang="zh-CN" altLang="en-US" sz="2000" dirty="0">
                    <a:solidFill>
                      <a:schemeClr val="bg2"/>
                    </a:solidFill>
                    <a:latin typeface="+mn-lt"/>
                  </a:rPr>
                  <a:t>（</a:t>
                </a:r>
                <a:r>
                  <a:rPr lang="en-US" altLang="zh-CN" sz="2000" dirty="0">
                    <a:solidFill>
                      <a:schemeClr val="bg2"/>
                    </a:solidFill>
                    <a:latin typeface="+mn-lt"/>
                  </a:rPr>
                  <a:t>12bits</a:t>
                </a:r>
                <a:r>
                  <a:rPr lang="zh-CN" altLang="en-US" sz="2000" dirty="0">
                    <a:solidFill>
                      <a:schemeClr val="bg2"/>
                    </a:solidFill>
                    <a:latin typeface="+mn-lt"/>
                  </a:rPr>
                  <a:t>）</a:t>
                </a:r>
                <a:endParaRPr lang="en-US" altLang="zh-CN" sz="2000" dirty="0">
                  <a:solidFill>
                    <a:schemeClr val="bg2"/>
                  </a:solidFill>
                  <a:latin typeface="+mn-lt"/>
                </a:endParaRPr>
              </a:p>
            </p:txBody>
          </p:sp>
          <p:sp>
            <p:nvSpPr>
              <p:cNvPr id="13" name="Rectangle 72">
                <a:extLst>
                  <a:ext uri="{FF2B5EF4-FFF2-40B4-BE49-F238E27FC236}">
                    <a16:creationId xmlns:a16="http://schemas.microsoft.com/office/drawing/2014/main" id="{0FED779F-D788-42F8-A100-D0311698D3B1}"/>
                  </a:ext>
                </a:extLst>
              </p:cNvPr>
              <p:cNvSpPr>
                <a:spLocks noChangeArrowheads="1"/>
              </p:cNvSpPr>
              <p:nvPr/>
            </p:nvSpPr>
            <p:spPr bwMode="auto">
              <a:xfrm>
                <a:off x="2068" y="3600"/>
                <a:ext cx="1340" cy="299"/>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zh-CN" altLang="en-US" sz="2400" b="1" dirty="0">
                    <a:solidFill>
                      <a:schemeClr val="bg2"/>
                    </a:solidFill>
                    <a:latin typeface="+mn-lt"/>
                  </a:rPr>
                  <a:t>页号</a:t>
                </a:r>
                <a:r>
                  <a:rPr lang="en-US" altLang="zh-CN" sz="2000" b="1" dirty="0">
                    <a:solidFill>
                      <a:schemeClr val="bg2"/>
                    </a:solidFill>
                    <a:latin typeface="+mn-lt"/>
                  </a:rPr>
                  <a:t>(</a:t>
                </a:r>
                <a:r>
                  <a:rPr lang="en-US" altLang="zh-CN" sz="2000" dirty="0">
                    <a:solidFill>
                      <a:schemeClr val="bg2"/>
                    </a:solidFill>
                    <a:latin typeface="+mn-lt"/>
                  </a:rPr>
                  <a:t>10bits</a:t>
                </a:r>
                <a:r>
                  <a:rPr lang="en-US" altLang="zh-CN" sz="2000" b="1" dirty="0">
                    <a:solidFill>
                      <a:schemeClr val="bg2"/>
                    </a:solidFill>
                    <a:latin typeface="+mn-lt"/>
                  </a:rPr>
                  <a:t>)</a:t>
                </a:r>
                <a:endParaRPr lang="zh-CN" altLang="en-US" sz="2000" b="1" dirty="0">
                  <a:solidFill>
                    <a:schemeClr val="bg2"/>
                  </a:solidFill>
                  <a:latin typeface="+mn-lt"/>
                </a:endParaRPr>
              </a:p>
            </p:txBody>
          </p:sp>
          <p:sp>
            <p:nvSpPr>
              <p:cNvPr id="14" name="Text Box 73">
                <a:extLst>
                  <a:ext uri="{FF2B5EF4-FFF2-40B4-BE49-F238E27FC236}">
                    <a16:creationId xmlns:a16="http://schemas.microsoft.com/office/drawing/2014/main" id="{9BF22078-F977-4D00-B7EF-F1E47EFCAF19}"/>
                  </a:ext>
                </a:extLst>
              </p:cNvPr>
              <p:cNvSpPr txBox="1">
                <a:spLocks noChangeArrowheads="1"/>
              </p:cNvSpPr>
              <p:nvPr/>
            </p:nvSpPr>
            <p:spPr bwMode="auto">
              <a:xfrm>
                <a:off x="5077" y="3925"/>
                <a:ext cx="196"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0</a:t>
                </a:r>
              </a:p>
            </p:txBody>
          </p:sp>
          <p:sp>
            <p:nvSpPr>
              <p:cNvPr id="15" name="Text Box 74">
                <a:extLst>
                  <a:ext uri="{FF2B5EF4-FFF2-40B4-BE49-F238E27FC236}">
                    <a16:creationId xmlns:a16="http://schemas.microsoft.com/office/drawing/2014/main" id="{9C934B72-17A2-49F6-9694-52A81FDC4666}"/>
                  </a:ext>
                </a:extLst>
              </p:cNvPr>
              <p:cNvSpPr txBox="1">
                <a:spLocks noChangeArrowheads="1"/>
              </p:cNvSpPr>
              <p:nvPr/>
            </p:nvSpPr>
            <p:spPr bwMode="auto">
              <a:xfrm>
                <a:off x="3076" y="3944"/>
                <a:ext cx="356"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12</a:t>
                </a:r>
              </a:p>
            </p:txBody>
          </p:sp>
          <p:sp>
            <p:nvSpPr>
              <p:cNvPr id="16" name="Text Box 75">
                <a:extLst>
                  <a:ext uri="{FF2B5EF4-FFF2-40B4-BE49-F238E27FC236}">
                    <a16:creationId xmlns:a16="http://schemas.microsoft.com/office/drawing/2014/main" id="{40547142-9BE2-45AD-AD33-89B2530443E6}"/>
                  </a:ext>
                </a:extLst>
              </p:cNvPr>
              <p:cNvSpPr txBox="1">
                <a:spLocks noChangeArrowheads="1"/>
              </p:cNvSpPr>
              <p:nvPr/>
            </p:nvSpPr>
            <p:spPr bwMode="auto">
              <a:xfrm>
                <a:off x="3382" y="3925"/>
                <a:ext cx="268"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11</a:t>
                </a:r>
              </a:p>
            </p:txBody>
          </p:sp>
          <p:sp>
            <p:nvSpPr>
              <p:cNvPr id="17" name="Text Box 77">
                <a:extLst>
                  <a:ext uri="{FF2B5EF4-FFF2-40B4-BE49-F238E27FC236}">
                    <a16:creationId xmlns:a16="http://schemas.microsoft.com/office/drawing/2014/main" id="{6538BE70-D5E7-430D-A1BE-41EF4E20EA70}"/>
                  </a:ext>
                </a:extLst>
              </p:cNvPr>
              <p:cNvSpPr txBox="1">
                <a:spLocks noChangeArrowheads="1"/>
              </p:cNvSpPr>
              <p:nvPr/>
            </p:nvSpPr>
            <p:spPr bwMode="auto">
              <a:xfrm>
                <a:off x="1680" y="3312"/>
                <a:ext cx="2688" cy="243"/>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spAutoFit/>
              </a:bodyPr>
              <a:lstStyle/>
              <a:p>
                <a:pPr algn="ctr" eaLnBrk="0" hangingPunct="0">
                  <a:lnSpc>
                    <a:spcPct val="80000"/>
                  </a:lnSpc>
                  <a:spcBef>
                    <a:spcPct val="20000"/>
                  </a:spcBef>
                  <a:buSzPct val="100000"/>
                </a:pPr>
                <a:r>
                  <a:rPr lang="en-US" altLang="zh-CN" sz="2400" b="1" dirty="0">
                    <a:solidFill>
                      <a:schemeClr val="bg2"/>
                    </a:solidFill>
                    <a:latin typeface="+mn-lt"/>
                  </a:rPr>
                  <a:t>32</a:t>
                </a:r>
                <a:r>
                  <a:rPr lang="zh-CN" altLang="en-US" sz="2400" b="1" dirty="0">
                    <a:solidFill>
                      <a:schemeClr val="bg2"/>
                    </a:solidFill>
                    <a:latin typeface="+mn-lt"/>
                  </a:rPr>
                  <a:t>位逻辑地址格式</a:t>
                </a:r>
                <a:endParaRPr lang="en-US" altLang="zh-CN" sz="2400" b="1" dirty="0">
                  <a:solidFill>
                    <a:schemeClr val="bg2"/>
                  </a:solidFill>
                  <a:latin typeface="+mn-lt"/>
                </a:endParaRPr>
              </a:p>
            </p:txBody>
          </p:sp>
          <p:sp>
            <p:nvSpPr>
              <p:cNvPr id="18" name="Text Box 81">
                <a:extLst>
                  <a:ext uri="{FF2B5EF4-FFF2-40B4-BE49-F238E27FC236}">
                    <a16:creationId xmlns:a16="http://schemas.microsoft.com/office/drawing/2014/main" id="{B33F90FD-79D0-4D2E-858A-CFA0F95ABCB1}"/>
                  </a:ext>
                </a:extLst>
              </p:cNvPr>
              <p:cNvSpPr txBox="1">
                <a:spLocks noChangeArrowheads="1"/>
              </p:cNvSpPr>
              <p:nvPr/>
            </p:nvSpPr>
            <p:spPr bwMode="auto">
              <a:xfrm>
                <a:off x="2063" y="3930"/>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21</a:t>
                </a:r>
              </a:p>
            </p:txBody>
          </p:sp>
          <p:sp>
            <p:nvSpPr>
              <p:cNvPr id="19" name="Rectangle 82">
                <a:extLst>
                  <a:ext uri="{FF2B5EF4-FFF2-40B4-BE49-F238E27FC236}">
                    <a16:creationId xmlns:a16="http://schemas.microsoft.com/office/drawing/2014/main" id="{94E0AC54-AD3E-4292-838F-B4687F54BCBF}"/>
                  </a:ext>
                </a:extLst>
              </p:cNvPr>
              <p:cNvSpPr>
                <a:spLocks noChangeArrowheads="1"/>
              </p:cNvSpPr>
              <p:nvPr/>
            </p:nvSpPr>
            <p:spPr bwMode="auto">
              <a:xfrm>
                <a:off x="673" y="3600"/>
                <a:ext cx="1390" cy="301"/>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zh-CN" altLang="en-US" sz="2400" b="1" dirty="0">
                    <a:solidFill>
                      <a:schemeClr val="bg2"/>
                    </a:solidFill>
                    <a:latin typeface="+mn-lt"/>
                  </a:rPr>
                  <a:t>页目录号</a:t>
                </a:r>
                <a:r>
                  <a:rPr lang="en-US" altLang="zh-CN" sz="2000" dirty="0">
                    <a:solidFill>
                      <a:schemeClr val="bg2"/>
                    </a:solidFill>
                    <a:latin typeface="+mn-lt"/>
                  </a:rPr>
                  <a:t>(10bits)</a:t>
                </a:r>
                <a:endParaRPr lang="zh-CN" altLang="en-US" sz="2000" b="1" dirty="0">
                  <a:solidFill>
                    <a:schemeClr val="bg2"/>
                  </a:solidFill>
                  <a:latin typeface="+mn-lt"/>
                </a:endParaRPr>
              </a:p>
            </p:txBody>
          </p:sp>
          <p:sp>
            <p:nvSpPr>
              <p:cNvPr id="20" name="Text Box 83">
                <a:extLst>
                  <a:ext uri="{FF2B5EF4-FFF2-40B4-BE49-F238E27FC236}">
                    <a16:creationId xmlns:a16="http://schemas.microsoft.com/office/drawing/2014/main" id="{68E45935-0295-420F-843F-4C93FB25C105}"/>
                  </a:ext>
                </a:extLst>
              </p:cNvPr>
              <p:cNvSpPr txBox="1">
                <a:spLocks noChangeArrowheads="1"/>
              </p:cNvSpPr>
              <p:nvPr/>
            </p:nvSpPr>
            <p:spPr bwMode="auto">
              <a:xfrm>
                <a:off x="1743" y="3927"/>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22</a:t>
                </a:r>
              </a:p>
            </p:txBody>
          </p:sp>
          <p:sp>
            <p:nvSpPr>
              <p:cNvPr id="21" name="Text Box 84">
                <a:extLst>
                  <a:ext uri="{FF2B5EF4-FFF2-40B4-BE49-F238E27FC236}">
                    <a16:creationId xmlns:a16="http://schemas.microsoft.com/office/drawing/2014/main" id="{6808B06C-5A97-4492-83A0-8FB837BA3229}"/>
                  </a:ext>
                </a:extLst>
              </p:cNvPr>
              <p:cNvSpPr txBox="1">
                <a:spLocks noChangeArrowheads="1"/>
              </p:cNvSpPr>
              <p:nvPr/>
            </p:nvSpPr>
            <p:spPr bwMode="auto">
              <a:xfrm>
                <a:off x="640" y="3944"/>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a:solidFill>
                      <a:schemeClr val="bg2"/>
                    </a:solidFill>
                    <a:latin typeface="+mn-lt"/>
                  </a:rPr>
                  <a:t>31</a:t>
                </a:r>
              </a:p>
            </p:txBody>
          </p:sp>
        </p:grpSp>
        <p:sp>
          <p:nvSpPr>
            <p:cNvPr id="11" name="矩形 10"/>
            <p:cNvSpPr/>
            <p:nvPr/>
          </p:nvSpPr>
          <p:spPr>
            <a:xfrm>
              <a:off x="5920680" y="2052713"/>
              <a:ext cx="1423788" cy="461665"/>
            </a:xfrm>
            <a:prstGeom prst="rect">
              <a:avLst/>
            </a:prstGeom>
          </p:spPr>
          <p:txBody>
            <a:bodyPr wrap="none">
              <a:spAutoFit/>
            </a:bodyPr>
            <a:lstStyle/>
            <a:p>
              <a:r>
                <a:rPr lang="zh-CN" altLang="en-US" sz="2400" dirty="0">
                  <a:solidFill>
                    <a:schemeClr val="bg2"/>
                  </a:solidFill>
                  <a:effectLst>
                    <a:outerShdw blurRad="38100" dist="38100" dir="2700000" algn="tl">
                      <a:srgbClr val="000000">
                        <a:alpha val="43137"/>
                      </a:srgbClr>
                    </a:outerShdw>
                  </a:effectLst>
                  <a:latin typeface="+mn-ea"/>
                  <a:ea typeface="+mn-ea"/>
                </a:rPr>
                <a:t>页大小</a:t>
              </a:r>
              <a:r>
                <a:rPr lang="en-US" altLang="zh-CN" sz="2400" dirty="0">
                  <a:solidFill>
                    <a:schemeClr val="bg2"/>
                  </a:solidFill>
                  <a:effectLst>
                    <a:outerShdw blurRad="38100" dist="38100" dir="2700000" algn="tl">
                      <a:srgbClr val="000000">
                        <a:alpha val="43137"/>
                      </a:srgbClr>
                    </a:outerShdw>
                  </a:effectLst>
                  <a:latin typeface="+mn-ea"/>
                  <a:ea typeface="+mn-ea"/>
                </a:rPr>
                <a:t>4k</a:t>
              </a:r>
              <a:endParaRPr lang="zh-CN" altLang="en-US" sz="2400" dirty="0">
                <a:solidFill>
                  <a:schemeClr val="bg2"/>
                </a:solidFill>
                <a:latin typeface="+mn-ea"/>
                <a:ea typeface="+mn-ea"/>
              </a:endParaRPr>
            </a:p>
          </p:txBody>
        </p:sp>
      </p:grpSp>
      <p:graphicFrame>
        <p:nvGraphicFramePr>
          <p:cNvPr id="2" name="表格 1"/>
          <p:cNvGraphicFramePr>
            <a:graphicFrameLocks noGrp="1"/>
          </p:cNvGraphicFramePr>
          <p:nvPr>
            <p:extLst>
              <p:ext uri="{D42A27DB-BD31-4B8C-83A1-F6EECF244321}">
                <p14:modId xmlns:p14="http://schemas.microsoft.com/office/powerpoint/2010/main" val="1445076909"/>
              </p:ext>
            </p:extLst>
          </p:nvPr>
        </p:nvGraphicFramePr>
        <p:xfrm>
          <a:off x="1208059" y="2708920"/>
          <a:ext cx="1728192" cy="285975"/>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tblGrid>
              <a:tr h="285975">
                <a:tc>
                  <a:txBody>
                    <a:bodyPr/>
                    <a:lstStyle/>
                    <a:p>
                      <a:pPr algn="ctr"/>
                      <a:r>
                        <a:rPr lang="en-US" altLang="zh-CN" sz="1600" dirty="0">
                          <a:solidFill>
                            <a:srgbClr val="FF00FF"/>
                          </a:solidFill>
                        </a:rPr>
                        <a:t>p</a:t>
                      </a:r>
                      <a:r>
                        <a:rPr lang="en-US" altLang="zh-CN" sz="1600" baseline="-25000" dirty="0">
                          <a:solidFill>
                            <a:srgbClr val="FF00FF"/>
                          </a:solidFill>
                        </a:rPr>
                        <a:t>1</a:t>
                      </a:r>
                      <a:endParaRPr lang="zh-CN" altLang="en-US" sz="1600" baseline="-25000" dirty="0">
                        <a:solidFill>
                          <a:srgbClr val="FF00FF"/>
                        </a:solidFill>
                      </a:endParaRPr>
                    </a:p>
                  </a:txBody>
                  <a:tcPr marL="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E1F4FF"/>
                    </a:solidFill>
                  </a:tcPr>
                </a:tc>
                <a:tc>
                  <a:txBody>
                    <a:bodyPr/>
                    <a:lstStyle/>
                    <a:p>
                      <a:pPr algn="ctr"/>
                      <a:r>
                        <a:rPr lang="en-US" altLang="zh-CN" sz="1600" dirty="0">
                          <a:solidFill>
                            <a:srgbClr val="FF00FF"/>
                          </a:solidFill>
                        </a:rPr>
                        <a:t>p</a:t>
                      </a:r>
                      <a:r>
                        <a:rPr lang="en-US" altLang="zh-CN" sz="1600" baseline="-25000" dirty="0">
                          <a:solidFill>
                            <a:srgbClr val="FF00FF"/>
                          </a:solidFill>
                        </a:rPr>
                        <a:t>2</a:t>
                      </a:r>
                      <a:endParaRPr lang="zh-CN" altLang="en-US" sz="1600" baseline="-25000" dirty="0">
                        <a:solidFill>
                          <a:srgbClr val="FF00FF"/>
                        </a:solidFill>
                      </a:endParaRPr>
                    </a:p>
                  </a:txBody>
                  <a:tcPr marL="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rgbClr val="E1F4FF"/>
                    </a:solidFill>
                  </a:tcPr>
                </a:tc>
                <a:tc>
                  <a:txBody>
                    <a:bodyPr/>
                    <a:lstStyle/>
                    <a:p>
                      <a:pPr algn="ctr"/>
                      <a:r>
                        <a:rPr lang="en-US" altLang="zh-CN" sz="1600" dirty="0">
                          <a:solidFill>
                            <a:srgbClr val="FF00FF"/>
                          </a:solidFill>
                        </a:rPr>
                        <a:t>d</a:t>
                      </a:r>
                      <a:endParaRPr lang="zh-CN" altLang="en-US" sz="1600" dirty="0">
                        <a:solidFill>
                          <a:srgbClr val="FF00FF"/>
                        </a:solidFill>
                      </a:endParaRPr>
                    </a:p>
                  </a:txBody>
                  <a:tcPr marL="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bl>
          </a:graphicData>
        </a:graphic>
      </p:graphicFrame>
      <p:cxnSp>
        <p:nvCxnSpPr>
          <p:cNvPr id="5" name="直接连接符 4"/>
          <p:cNvCxnSpPr/>
          <p:nvPr/>
        </p:nvCxnSpPr>
        <p:spPr bwMode="auto">
          <a:xfrm>
            <a:off x="2123728" y="4509120"/>
            <a:ext cx="914400" cy="914400"/>
          </a:xfrm>
          <a:prstGeom prst="line">
            <a:avLst/>
          </a:prstGeom>
          <a:noFill/>
          <a:ln w="9525" cap="flat" cmpd="sng" algn="ctr">
            <a:noFill/>
            <a:prstDash val="solid"/>
            <a:round/>
            <a:headEnd type="none" w="med" len="med"/>
            <a:tailEnd type="none" w="med" len="med"/>
          </a:ln>
          <a:effectLst/>
        </p:spPr>
      </p:cxnSp>
      <p:sp>
        <p:nvSpPr>
          <p:cNvPr id="22" name="左大括号 21"/>
          <p:cNvSpPr/>
          <p:nvPr/>
        </p:nvSpPr>
        <p:spPr bwMode="auto">
          <a:xfrm>
            <a:off x="3563888" y="4365104"/>
            <a:ext cx="276410" cy="601216"/>
          </a:xfrm>
          <a:prstGeom prst="leftBrace">
            <a:avLst/>
          </a:prstGeom>
          <a:noFill/>
          <a:ln w="28575" cap="flat" cmpd="sng" algn="ctr">
            <a:solidFill>
              <a:srgbClr val="FF00FF"/>
            </a:solidFill>
            <a:prstDash val="solid"/>
            <a:round/>
            <a:headEnd type="none" w="med" len="med"/>
            <a:tailEnd type="none" w="med" len="med"/>
          </a:ln>
          <a:effectLst/>
        </p:spPr>
        <p:txBody>
          <a:bodyPr vert="horz" wrap="square" lIns="92075" tIns="288000"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3" name="矩形 22"/>
          <p:cNvSpPr/>
          <p:nvPr/>
        </p:nvSpPr>
        <p:spPr>
          <a:xfrm>
            <a:off x="3354740" y="4281423"/>
            <a:ext cx="367408" cy="338554"/>
          </a:xfrm>
          <a:prstGeom prst="rect">
            <a:avLst/>
          </a:prstGeom>
        </p:spPr>
        <p:txBody>
          <a:bodyPr wrap="none">
            <a:spAutoFit/>
          </a:bodyPr>
          <a:lstStyle/>
          <a:p>
            <a:pPr algn="ctr"/>
            <a:r>
              <a:rPr lang="en-US" altLang="zh-CN" sz="1600" dirty="0">
                <a:solidFill>
                  <a:srgbClr val="FF00FF"/>
                </a:solidFill>
                <a:latin typeface="+mn-lt"/>
              </a:rPr>
              <a:t>p</a:t>
            </a:r>
            <a:r>
              <a:rPr lang="en-US" altLang="zh-CN" sz="1600" baseline="-25000" dirty="0">
                <a:solidFill>
                  <a:srgbClr val="FF00FF"/>
                </a:solidFill>
                <a:latin typeface="+mn-lt"/>
              </a:rPr>
              <a:t>1</a:t>
            </a:r>
            <a:endParaRPr lang="zh-CN" altLang="en-US" sz="1600" baseline="-25000" dirty="0">
              <a:solidFill>
                <a:srgbClr val="FF00FF"/>
              </a:solidFill>
              <a:latin typeface="+mn-lt"/>
            </a:endParaRPr>
          </a:p>
        </p:txBody>
      </p:sp>
      <p:sp>
        <p:nvSpPr>
          <p:cNvPr id="24" name="矩形 23"/>
          <p:cNvSpPr/>
          <p:nvPr/>
        </p:nvSpPr>
        <p:spPr>
          <a:xfrm>
            <a:off x="4903592" y="4066021"/>
            <a:ext cx="367408" cy="338554"/>
          </a:xfrm>
          <a:prstGeom prst="rect">
            <a:avLst/>
          </a:prstGeom>
        </p:spPr>
        <p:txBody>
          <a:bodyPr wrap="none">
            <a:spAutoFit/>
          </a:bodyPr>
          <a:lstStyle/>
          <a:p>
            <a:pPr algn="ctr"/>
            <a:r>
              <a:rPr lang="en-US" altLang="zh-CN" sz="1600" dirty="0">
                <a:solidFill>
                  <a:srgbClr val="FF00FF"/>
                </a:solidFill>
                <a:latin typeface="+mn-lt"/>
              </a:rPr>
              <a:t>p</a:t>
            </a:r>
            <a:r>
              <a:rPr lang="en-US" altLang="zh-CN" sz="1600" baseline="-25000" dirty="0">
                <a:solidFill>
                  <a:srgbClr val="FF00FF"/>
                </a:solidFill>
                <a:latin typeface="+mn-lt"/>
              </a:rPr>
              <a:t>2</a:t>
            </a:r>
            <a:endParaRPr lang="zh-CN" altLang="en-US" sz="1600" baseline="-25000" dirty="0">
              <a:solidFill>
                <a:srgbClr val="FF00FF"/>
              </a:solidFill>
              <a:latin typeface="+mn-lt"/>
            </a:endParaRPr>
          </a:p>
        </p:txBody>
      </p:sp>
      <p:sp>
        <p:nvSpPr>
          <p:cNvPr id="25" name="左大括号 24"/>
          <p:cNvSpPr/>
          <p:nvPr/>
        </p:nvSpPr>
        <p:spPr bwMode="auto">
          <a:xfrm>
            <a:off x="5181226" y="4228345"/>
            <a:ext cx="188155" cy="396000"/>
          </a:xfrm>
          <a:prstGeom prst="leftBrace">
            <a:avLst/>
          </a:prstGeom>
          <a:noFill/>
          <a:ln w="28575" cap="flat" cmpd="sng" algn="ctr">
            <a:solidFill>
              <a:srgbClr val="FF00FF"/>
            </a:solidFill>
            <a:prstDash val="solid"/>
            <a:round/>
            <a:headEnd type="none" w="med" len="med"/>
            <a:tailEnd type="none" w="med" len="med"/>
          </a:ln>
          <a:effectLst/>
        </p:spPr>
        <p:txBody>
          <a:bodyPr vert="horz" wrap="square" lIns="92075" tIns="288000"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6" name="左大括号 25"/>
          <p:cNvSpPr/>
          <p:nvPr/>
        </p:nvSpPr>
        <p:spPr bwMode="auto">
          <a:xfrm>
            <a:off x="6915525" y="4228345"/>
            <a:ext cx="144223" cy="198000"/>
          </a:xfrm>
          <a:prstGeom prst="leftBrace">
            <a:avLst/>
          </a:prstGeom>
          <a:noFill/>
          <a:ln w="28575" cap="flat" cmpd="sng" algn="ctr">
            <a:solidFill>
              <a:srgbClr val="FF00FF"/>
            </a:solidFill>
            <a:prstDash val="solid"/>
            <a:round/>
            <a:headEnd type="none" w="med" len="med"/>
            <a:tailEnd type="none" w="med" len="med"/>
          </a:ln>
          <a:effectLst/>
        </p:spPr>
        <p:txBody>
          <a:bodyPr vert="horz" wrap="square" lIns="92075" tIns="288000"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27" name="矩形 26"/>
          <p:cNvSpPr/>
          <p:nvPr/>
        </p:nvSpPr>
        <p:spPr>
          <a:xfrm>
            <a:off x="6648797" y="4081368"/>
            <a:ext cx="298479" cy="338554"/>
          </a:xfrm>
          <a:prstGeom prst="rect">
            <a:avLst/>
          </a:prstGeom>
        </p:spPr>
        <p:txBody>
          <a:bodyPr wrap="none">
            <a:spAutoFit/>
          </a:bodyPr>
          <a:lstStyle/>
          <a:p>
            <a:pPr algn="ctr"/>
            <a:r>
              <a:rPr lang="en-US" altLang="zh-CN" sz="1600" dirty="0">
                <a:solidFill>
                  <a:srgbClr val="FF00FF"/>
                </a:solidFill>
                <a:latin typeface="+mn-lt"/>
              </a:rPr>
              <a:t>d</a:t>
            </a:r>
            <a:endParaRPr lang="zh-CN" altLang="en-US" sz="1600" baseline="-25000" dirty="0">
              <a:solidFill>
                <a:srgbClr val="FF00FF"/>
              </a:solidFill>
              <a:latin typeface="+mn-lt"/>
            </a:endParaRPr>
          </a:p>
        </p:txBody>
      </p:sp>
    </p:spTree>
    <p:extLst>
      <p:ext uri="{BB962C8B-B14F-4D97-AF65-F5344CB8AC3E}">
        <p14:creationId xmlns:p14="http://schemas.microsoft.com/office/powerpoint/2010/main" val="336418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22EFEE3-7A2E-423E-BFAA-FC1DED86CCB1}"/>
              </a:ext>
            </a:extLst>
          </p:cNvPr>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3" name="灯片编号占位符 2">
            <a:extLst>
              <a:ext uri="{FF2B5EF4-FFF2-40B4-BE49-F238E27FC236}">
                <a16:creationId xmlns:a16="http://schemas.microsoft.com/office/drawing/2014/main" id="{42928F89-CC58-4427-BBA1-F241949AFA63}"/>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86</a:t>
            </a:fld>
            <a:r>
              <a:rPr lang="zh-CN" altLang="en-US"/>
              <a:t> 页</a:t>
            </a:r>
          </a:p>
        </p:txBody>
      </p:sp>
      <p:grpSp>
        <p:nvGrpSpPr>
          <p:cNvPr id="4" name="组合 3">
            <a:extLst>
              <a:ext uri="{FF2B5EF4-FFF2-40B4-BE49-F238E27FC236}">
                <a16:creationId xmlns:a16="http://schemas.microsoft.com/office/drawing/2014/main" id="{54AE2F29-0EE7-4FB7-812D-C6720E108691}"/>
              </a:ext>
            </a:extLst>
          </p:cNvPr>
          <p:cNvGrpSpPr/>
          <p:nvPr/>
        </p:nvGrpSpPr>
        <p:grpSpPr>
          <a:xfrm>
            <a:off x="952500" y="1052736"/>
            <a:ext cx="7354886" cy="1339851"/>
            <a:chOff x="894557" y="1196752"/>
            <a:chExt cx="7354886" cy="1339851"/>
          </a:xfrm>
        </p:grpSpPr>
        <p:grpSp>
          <p:nvGrpSpPr>
            <p:cNvPr id="5" name="Group 86">
              <a:extLst>
                <a:ext uri="{FF2B5EF4-FFF2-40B4-BE49-F238E27FC236}">
                  <a16:creationId xmlns:a16="http://schemas.microsoft.com/office/drawing/2014/main" id="{36512582-0F4A-41AC-B5E1-3323D1A8C31F}"/>
                </a:ext>
              </a:extLst>
            </p:cNvPr>
            <p:cNvGrpSpPr>
              <a:grpSpLocks/>
            </p:cNvGrpSpPr>
            <p:nvPr/>
          </p:nvGrpSpPr>
          <p:grpSpPr bwMode="auto">
            <a:xfrm>
              <a:off x="894557" y="1196752"/>
              <a:ext cx="7354886" cy="1339851"/>
              <a:chOff x="640" y="3312"/>
              <a:chExt cx="4633" cy="844"/>
            </a:xfrm>
          </p:grpSpPr>
          <p:sp>
            <p:nvSpPr>
              <p:cNvPr id="7" name="Rectangle 71">
                <a:extLst>
                  <a:ext uri="{FF2B5EF4-FFF2-40B4-BE49-F238E27FC236}">
                    <a16:creationId xmlns:a16="http://schemas.microsoft.com/office/drawing/2014/main" id="{10A6F73F-91F4-454B-AB19-B458E55F1E46}"/>
                  </a:ext>
                </a:extLst>
              </p:cNvPr>
              <p:cNvSpPr>
                <a:spLocks noChangeArrowheads="1"/>
              </p:cNvSpPr>
              <p:nvPr/>
            </p:nvSpPr>
            <p:spPr bwMode="auto">
              <a:xfrm>
                <a:off x="3408" y="3600"/>
                <a:ext cx="1808" cy="299"/>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en-US" altLang="zh-CN" sz="2400" b="1" dirty="0">
                    <a:solidFill>
                      <a:schemeClr val="bg2"/>
                    </a:solidFill>
                    <a:latin typeface="+mn-lt"/>
                  </a:rPr>
                  <a:t>Offset</a:t>
                </a:r>
                <a:r>
                  <a:rPr lang="zh-CN" altLang="en-US" sz="2000" dirty="0">
                    <a:solidFill>
                      <a:schemeClr val="bg2"/>
                    </a:solidFill>
                    <a:latin typeface="+mn-lt"/>
                  </a:rPr>
                  <a:t>（</a:t>
                </a:r>
                <a:r>
                  <a:rPr lang="en-US" altLang="zh-CN" sz="2000" dirty="0">
                    <a:solidFill>
                      <a:schemeClr val="bg2"/>
                    </a:solidFill>
                    <a:latin typeface="+mn-lt"/>
                  </a:rPr>
                  <a:t>12bits</a:t>
                </a:r>
                <a:r>
                  <a:rPr lang="zh-CN" altLang="en-US" sz="2000" dirty="0">
                    <a:solidFill>
                      <a:schemeClr val="bg2"/>
                    </a:solidFill>
                    <a:latin typeface="+mn-lt"/>
                  </a:rPr>
                  <a:t>）</a:t>
                </a:r>
                <a:endParaRPr lang="en-US" altLang="zh-CN" sz="2000" dirty="0">
                  <a:solidFill>
                    <a:schemeClr val="bg2"/>
                  </a:solidFill>
                  <a:latin typeface="+mn-lt"/>
                </a:endParaRPr>
              </a:p>
            </p:txBody>
          </p:sp>
          <p:sp>
            <p:nvSpPr>
              <p:cNvPr id="8" name="Rectangle 72">
                <a:extLst>
                  <a:ext uri="{FF2B5EF4-FFF2-40B4-BE49-F238E27FC236}">
                    <a16:creationId xmlns:a16="http://schemas.microsoft.com/office/drawing/2014/main" id="{C2016852-38A0-45E2-817E-52DB5FCDEB0A}"/>
                  </a:ext>
                </a:extLst>
              </p:cNvPr>
              <p:cNvSpPr>
                <a:spLocks noChangeArrowheads="1"/>
              </p:cNvSpPr>
              <p:nvPr/>
            </p:nvSpPr>
            <p:spPr bwMode="auto">
              <a:xfrm>
                <a:off x="2068" y="3600"/>
                <a:ext cx="1340" cy="299"/>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zh-CN" altLang="en-US" sz="2400" b="1" dirty="0">
                    <a:solidFill>
                      <a:schemeClr val="bg2"/>
                    </a:solidFill>
                    <a:latin typeface="+mn-lt"/>
                  </a:rPr>
                  <a:t>页号</a:t>
                </a:r>
                <a:r>
                  <a:rPr lang="en-US" altLang="zh-CN" sz="2000" b="1" dirty="0">
                    <a:solidFill>
                      <a:schemeClr val="bg2"/>
                    </a:solidFill>
                    <a:latin typeface="+mn-lt"/>
                  </a:rPr>
                  <a:t>(</a:t>
                </a:r>
                <a:r>
                  <a:rPr lang="en-US" altLang="zh-CN" sz="2000" dirty="0">
                    <a:solidFill>
                      <a:schemeClr val="bg2"/>
                    </a:solidFill>
                    <a:latin typeface="+mn-lt"/>
                  </a:rPr>
                  <a:t>10bits</a:t>
                </a:r>
                <a:r>
                  <a:rPr lang="en-US" altLang="zh-CN" sz="2000" b="1" dirty="0">
                    <a:solidFill>
                      <a:schemeClr val="bg2"/>
                    </a:solidFill>
                    <a:latin typeface="+mn-lt"/>
                  </a:rPr>
                  <a:t>)</a:t>
                </a:r>
                <a:endParaRPr lang="zh-CN" altLang="en-US" sz="2000" b="1" dirty="0">
                  <a:solidFill>
                    <a:schemeClr val="bg2"/>
                  </a:solidFill>
                  <a:latin typeface="+mn-lt"/>
                </a:endParaRPr>
              </a:p>
            </p:txBody>
          </p:sp>
          <p:sp>
            <p:nvSpPr>
              <p:cNvPr id="9" name="Text Box 73">
                <a:extLst>
                  <a:ext uri="{FF2B5EF4-FFF2-40B4-BE49-F238E27FC236}">
                    <a16:creationId xmlns:a16="http://schemas.microsoft.com/office/drawing/2014/main" id="{24377006-9796-4F1D-80ED-D84EFF5106C2}"/>
                  </a:ext>
                </a:extLst>
              </p:cNvPr>
              <p:cNvSpPr txBox="1">
                <a:spLocks noChangeArrowheads="1"/>
              </p:cNvSpPr>
              <p:nvPr/>
            </p:nvSpPr>
            <p:spPr bwMode="auto">
              <a:xfrm>
                <a:off x="5077" y="3925"/>
                <a:ext cx="196"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0</a:t>
                </a:r>
              </a:p>
            </p:txBody>
          </p:sp>
          <p:sp>
            <p:nvSpPr>
              <p:cNvPr id="10" name="Text Box 74">
                <a:extLst>
                  <a:ext uri="{FF2B5EF4-FFF2-40B4-BE49-F238E27FC236}">
                    <a16:creationId xmlns:a16="http://schemas.microsoft.com/office/drawing/2014/main" id="{A25ACE0C-FA9C-479D-8C26-7D5A34A0D288}"/>
                  </a:ext>
                </a:extLst>
              </p:cNvPr>
              <p:cNvSpPr txBox="1">
                <a:spLocks noChangeArrowheads="1"/>
              </p:cNvSpPr>
              <p:nvPr/>
            </p:nvSpPr>
            <p:spPr bwMode="auto">
              <a:xfrm>
                <a:off x="3076" y="3944"/>
                <a:ext cx="356"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12</a:t>
                </a:r>
              </a:p>
            </p:txBody>
          </p:sp>
          <p:sp>
            <p:nvSpPr>
              <p:cNvPr id="11" name="Text Box 75">
                <a:extLst>
                  <a:ext uri="{FF2B5EF4-FFF2-40B4-BE49-F238E27FC236}">
                    <a16:creationId xmlns:a16="http://schemas.microsoft.com/office/drawing/2014/main" id="{C67B829C-1FEC-4F67-BE92-0F3236A20596}"/>
                  </a:ext>
                </a:extLst>
              </p:cNvPr>
              <p:cNvSpPr txBox="1">
                <a:spLocks noChangeArrowheads="1"/>
              </p:cNvSpPr>
              <p:nvPr/>
            </p:nvSpPr>
            <p:spPr bwMode="auto">
              <a:xfrm>
                <a:off x="3382" y="3925"/>
                <a:ext cx="268"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11</a:t>
                </a:r>
              </a:p>
            </p:txBody>
          </p:sp>
          <p:sp>
            <p:nvSpPr>
              <p:cNvPr id="12" name="Text Box 77">
                <a:extLst>
                  <a:ext uri="{FF2B5EF4-FFF2-40B4-BE49-F238E27FC236}">
                    <a16:creationId xmlns:a16="http://schemas.microsoft.com/office/drawing/2014/main" id="{AB0BD337-DB08-4EF3-B451-4658214016D1}"/>
                  </a:ext>
                </a:extLst>
              </p:cNvPr>
              <p:cNvSpPr txBox="1">
                <a:spLocks noChangeArrowheads="1"/>
              </p:cNvSpPr>
              <p:nvPr/>
            </p:nvSpPr>
            <p:spPr bwMode="auto">
              <a:xfrm>
                <a:off x="1680" y="3312"/>
                <a:ext cx="2688" cy="243"/>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spAutoFit/>
              </a:bodyPr>
              <a:lstStyle/>
              <a:p>
                <a:pPr algn="ctr" eaLnBrk="0" hangingPunct="0">
                  <a:lnSpc>
                    <a:spcPct val="80000"/>
                  </a:lnSpc>
                  <a:spcBef>
                    <a:spcPct val="20000"/>
                  </a:spcBef>
                  <a:buSzPct val="100000"/>
                </a:pPr>
                <a:r>
                  <a:rPr lang="en-US" altLang="zh-CN" sz="2400" b="1" dirty="0">
                    <a:solidFill>
                      <a:schemeClr val="bg2"/>
                    </a:solidFill>
                    <a:latin typeface="+mn-lt"/>
                  </a:rPr>
                  <a:t>32</a:t>
                </a:r>
                <a:r>
                  <a:rPr lang="zh-CN" altLang="en-US" sz="2400" b="1" dirty="0">
                    <a:solidFill>
                      <a:schemeClr val="bg2"/>
                    </a:solidFill>
                    <a:latin typeface="+mn-lt"/>
                  </a:rPr>
                  <a:t>位逻辑地址格式</a:t>
                </a:r>
                <a:endParaRPr lang="en-US" altLang="zh-CN" sz="2400" b="1" dirty="0">
                  <a:solidFill>
                    <a:schemeClr val="bg2"/>
                  </a:solidFill>
                  <a:latin typeface="+mn-lt"/>
                </a:endParaRPr>
              </a:p>
            </p:txBody>
          </p:sp>
          <p:sp>
            <p:nvSpPr>
              <p:cNvPr id="13" name="Text Box 81">
                <a:extLst>
                  <a:ext uri="{FF2B5EF4-FFF2-40B4-BE49-F238E27FC236}">
                    <a16:creationId xmlns:a16="http://schemas.microsoft.com/office/drawing/2014/main" id="{25927863-E498-406D-ACD2-A17739F4B520}"/>
                  </a:ext>
                </a:extLst>
              </p:cNvPr>
              <p:cNvSpPr txBox="1">
                <a:spLocks noChangeArrowheads="1"/>
              </p:cNvSpPr>
              <p:nvPr/>
            </p:nvSpPr>
            <p:spPr bwMode="auto">
              <a:xfrm>
                <a:off x="2063" y="3930"/>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21</a:t>
                </a:r>
              </a:p>
            </p:txBody>
          </p:sp>
          <p:sp>
            <p:nvSpPr>
              <p:cNvPr id="14" name="Rectangle 82">
                <a:extLst>
                  <a:ext uri="{FF2B5EF4-FFF2-40B4-BE49-F238E27FC236}">
                    <a16:creationId xmlns:a16="http://schemas.microsoft.com/office/drawing/2014/main" id="{1B44DE96-6F5D-4FA3-84DC-73B6C534FB20}"/>
                  </a:ext>
                </a:extLst>
              </p:cNvPr>
              <p:cNvSpPr>
                <a:spLocks noChangeArrowheads="1"/>
              </p:cNvSpPr>
              <p:nvPr/>
            </p:nvSpPr>
            <p:spPr bwMode="auto">
              <a:xfrm>
                <a:off x="673" y="3600"/>
                <a:ext cx="1390" cy="301"/>
              </a:xfrm>
              <a:prstGeom prst="rect">
                <a:avLst/>
              </a:prstGeom>
              <a:solidFill>
                <a:schemeClr val="accent1">
                  <a:lumMod val="20000"/>
                  <a:lumOff val="80000"/>
                </a:schemeClr>
              </a:solidFill>
              <a:ln w="2857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nchor="ctr"/>
              <a:lstStyle/>
              <a:p>
                <a:pPr algn="ctr">
                  <a:lnSpc>
                    <a:spcPct val="80000"/>
                  </a:lnSpc>
                  <a:spcBef>
                    <a:spcPct val="20000"/>
                  </a:spcBef>
                  <a:buSzPct val="100000"/>
                </a:pPr>
                <a:r>
                  <a:rPr lang="zh-CN" altLang="en-US" sz="2400" b="1" dirty="0">
                    <a:solidFill>
                      <a:schemeClr val="bg2"/>
                    </a:solidFill>
                    <a:latin typeface="+mn-lt"/>
                  </a:rPr>
                  <a:t>页目录号</a:t>
                </a:r>
                <a:r>
                  <a:rPr lang="en-US" altLang="zh-CN" sz="2000" dirty="0">
                    <a:solidFill>
                      <a:schemeClr val="bg2"/>
                    </a:solidFill>
                    <a:latin typeface="+mn-lt"/>
                  </a:rPr>
                  <a:t>(10bits)</a:t>
                </a:r>
                <a:endParaRPr lang="zh-CN" altLang="en-US" sz="2000" b="1" dirty="0">
                  <a:solidFill>
                    <a:schemeClr val="bg2"/>
                  </a:solidFill>
                  <a:latin typeface="+mn-lt"/>
                </a:endParaRPr>
              </a:p>
            </p:txBody>
          </p:sp>
          <p:sp>
            <p:nvSpPr>
              <p:cNvPr id="15" name="Text Box 83">
                <a:extLst>
                  <a:ext uri="{FF2B5EF4-FFF2-40B4-BE49-F238E27FC236}">
                    <a16:creationId xmlns:a16="http://schemas.microsoft.com/office/drawing/2014/main" id="{CAF47A55-62D0-4EB1-926A-B9AAF3014932}"/>
                  </a:ext>
                </a:extLst>
              </p:cNvPr>
              <p:cNvSpPr txBox="1">
                <a:spLocks noChangeArrowheads="1"/>
              </p:cNvSpPr>
              <p:nvPr/>
            </p:nvSpPr>
            <p:spPr bwMode="auto">
              <a:xfrm>
                <a:off x="1743" y="3927"/>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dirty="0">
                    <a:solidFill>
                      <a:schemeClr val="bg2"/>
                    </a:solidFill>
                    <a:latin typeface="+mn-lt"/>
                  </a:rPr>
                  <a:t>22</a:t>
                </a:r>
              </a:p>
            </p:txBody>
          </p:sp>
          <p:sp>
            <p:nvSpPr>
              <p:cNvPr id="16" name="Text Box 84">
                <a:extLst>
                  <a:ext uri="{FF2B5EF4-FFF2-40B4-BE49-F238E27FC236}">
                    <a16:creationId xmlns:a16="http://schemas.microsoft.com/office/drawing/2014/main" id="{CD1B521A-27F7-4704-9F1C-1C5A82CF3CBC}"/>
                  </a:ext>
                </a:extLst>
              </p:cNvPr>
              <p:cNvSpPr txBox="1">
                <a:spLocks noChangeArrowheads="1"/>
              </p:cNvSpPr>
              <p:nvPr/>
            </p:nvSpPr>
            <p:spPr bwMode="auto">
              <a:xfrm>
                <a:off x="640" y="3944"/>
                <a:ext cx="277" cy="212"/>
              </a:xfrm>
              <a:prstGeom prst="rect">
                <a:avLst/>
              </a:prstGeom>
              <a:noFill/>
              <a:ln w="38100" algn="ctr">
                <a:solidFill>
                  <a:schemeClr val="tx1"/>
                </a:solidFill>
                <a:miter lim="800000"/>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eaLnBrk="0" hangingPunct="0">
                  <a:lnSpc>
                    <a:spcPct val="80000"/>
                  </a:lnSpc>
                  <a:spcBef>
                    <a:spcPct val="20000"/>
                  </a:spcBef>
                  <a:buSzPct val="100000"/>
                </a:pPr>
                <a:r>
                  <a:rPr lang="en-US" altLang="zh-CN" sz="2000" b="1">
                    <a:solidFill>
                      <a:schemeClr val="bg2"/>
                    </a:solidFill>
                    <a:latin typeface="+mn-lt"/>
                  </a:rPr>
                  <a:t>31</a:t>
                </a:r>
              </a:p>
            </p:txBody>
          </p:sp>
        </p:grpSp>
        <p:sp>
          <p:nvSpPr>
            <p:cNvPr id="6" name="矩形 5">
              <a:extLst>
                <a:ext uri="{FF2B5EF4-FFF2-40B4-BE49-F238E27FC236}">
                  <a16:creationId xmlns:a16="http://schemas.microsoft.com/office/drawing/2014/main" id="{79F7036F-6EAF-4075-9F9B-637DE3CD125E}"/>
                </a:ext>
              </a:extLst>
            </p:cNvPr>
            <p:cNvSpPr/>
            <p:nvPr/>
          </p:nvSpPr>
          <p:spPr>
            <a:xfrm>
              <a:off x="5920680" y="2052713"/>
              <a:ext cx="1423788" cy="461665"/>
            </a:xfrm>
            <a:prstGeom prst="rect">
              <a:avLst/>
            </a:prstGeom>
          </p:spPr>
          <p:txBody>
            <a:bodyPr wrap="none">
              <a:spAutoFit/>
            </a:bodyPr>
            <a:lstStyle/>
            <a:p>
              <a:r>
                <a:rPr lang="zh-CN" altLang="en-US" sz="2400" dirty="0">
                  <a:solidFill>
                    <a:schemeClr val="bg2"/>
                  </a:solidFill>
                  <a:effectLst>
                    <a:outerShdw blurRad="38100" dist="38100" dir="2700000" algn="tl">
                      <a:srgbClr val="000000">
                        <a:alpha val="43137"/>
                      </a:srgbClr>
                    </a:outerShdw>
                  </a:effectLst>
                  <a:latin typeface="+mn-ea"/>
                  <a:ea typeface="+mn-ea"/>
                </a:rPr>
                <a:t>页大小</a:t>
              </a:r>
              <a:r>
                <a:rPr lang="en-US" altLang="zh-CN" sz="2400" dirty="0">
                  <a:solidFill>
                    <a:schemeClr val="bg2"/>
                  </a:solidFill>
                  <a:effectLst>
                    <a:outerShdw blurRad="38100" dist="38100" dir="2700000" algn="tl">
                      <a:srgbClr val="000000">
                        <a:alpha val="43137"/>
                      </a:srgbClr>
                    </a:outerShdw>
                  </a:effectLst>
                  <a:latin typeface="+mn-ea"/>
                  <a:ea typeface="+mn-ea"/>
                </a:rPr>
                <a:t>4k</a:t>
              </a:r>
              <a:endParaRPr lang="zh-CN" altLang="en-US" sz="2400" dirty="0">
                <a:solidFill>
                  <a:schemeClr val="bg2"/>
                </a:solidFill>
                <a:latin typeface="+mn-ea"/>
                <a:ea typeface="+mn-ea"/>
              </a:endParaRPr>
            </a:p>
          </p:txBody>
        </p:sp>
      </p:grpSp>
      <p:sp>
        <p:nvSpPr>
          <p:cNvPr id="17" name="矩形 16">
            <a:extLst>
              <a:ext uri="{FF2B5EF4-FFF2-40B4-BE49-F238E27FC236}">
                <a16:creationId xmlns:a16="http://schemas.microsoft.com/office/drawing/2014/main" id="{AE2F99D8-BE2C-47F8-930A-77B95028372A}"/>
              </a:ext>
            </a:extLst>
          </p:cNvPr>
          <p:cNvSpPr/>
          <p:nvPr/>
        </p:nvSpPr>
        <p:spPr>
          <a:xfrm>
            <a:off x="2886821" y="0"/>
            <a:ext cx="3434655" cy="76944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二级页表</a:t>
            </a:r>
          </a:p>
        </p:txBody>
      </p:sp>
      <p:sp>
        <p:nvSpPr>
          <p:cNvPr id="18" name="文本框 17">
            <a:extLst>
              <a:ext uri="{FF2B5EF4-FFF2-40B4-BE49-F238E27FC236}">
                <a16:creationId xmlns:a16="http://schemas.microsoft.com/office/drawing/2014/main" id="{375F2E4D-A9FF-47E7-B87D-A81CF977AD30}"/>
              </a:ext>
            </a:extLst>
          </p:cNvPr>
          <p:cNvSpPr txBox="1"/>
          <p:nvPr/>
        </p:nvSpPr>
        <p:spPr>
          <a:xfrm>
            <a:off x="467544" y="2681777"/>
            <a:ext cx="8280920" cy="1077218"/>
          </a:xfrm>
          <a:prstGeom prst="rect">
            <a:avLst/>
          </a:prstGeom>
          <a:solidFill>
            <a:srgbClr val="DDDDFF"/>
          </a:solidFill>
        </p:spPr>
        <p:txBody>
          <a:bodyPr wrap="square" rtlCol="0">
            <a:spAutoFit/>
          </a:bodyPr>
          <a:lstStyle/>
          <a:p>
            <a:r>
              <a:rPr lang="zh-CN" altLang="en-US" dirty="0">
                <a:solidFill>
                  <a:schemeClr val="bg2"/>
                </a:solidFill>
              </a:rPr>
              <a:t>逻辑地址：</a:t>
            </a:r>
            <a:r>
              <a:rPr lang="en-US" altLang="zh-CN" dirty="0" err="1">
                <a:solidFill>
                  <a:schemeClr val="bg2"/>
                </a:solidFill>
              </a:rPr>
              <a:t>12345678H</a:t>
            </a:r>
            <a:endParaRPr lang="en-US" altLang="zh-CN" dirty="0">
              <a:solidFill>
                <a:schemeClr val="bg2"/>
              </a:solidFill>
            </a:endParaRPr>
          </a:p>
          <a:p>
            <a:r>
              <a:rPr lang="zh-CN" altLang="en-US" dirty="0">
                <a:solidFill>
                  <a:schemeClr val="bg2"/>
                </a:solidFill>
              </a:rPr>
              <a:t>页目录号、页号、页内地址？</a:t>
            </a:r>
            <a:r>
              <a:rPr lang="zh-CN" altLang="en-US" sz="2800" dirty="0">
                <a:solidFill>
                  <a:schemeClr val="bg2"/>
                </a:solidFill>
              </a:rPr>
              <a:t>（</a:t>
            </a:r>
            <a:r>
              <a:rPr lang="en-US" altLang="zh-CN" sz="2800" dirty="0">
                <a:solidFill>
                  <a:schemeClr val="bg2"/>
                </a:solidFill>
              </a:rPr>
              <a:t>16</a:t>
            </a:r>
            <a:r>
              <a:rPr lang="zh-CN" altLang="en-US" sz="2800" dirty="0">
                <a:solidFill>
                  <a:schemeClr val="bg2"/>
                </a:solidFill>
              </a:rPr>
              <a:t>进制</a:t>
            </a:r>
            <a:r>
              <a:rPr lang="zh-CN" altLang="en-US" sz="2800">
                <a:solidFill>
                  <a:schemeClr val="bg2"/>
                </a:solidFill>
              </a:rPr>
              <a:t>表示）</a:t>
            </a:r>
            <a:endParaRPr lang="zh-CN" altLang="en-US" dirty="0">
              <a:solidFill>
                <a:schemeClr val="bg2"/>
              </a:solidFill>
            </a:endParaRPr>
          </a:p>
        </p:txBody>
      </p:sp>
    </p:spTree>
    <p:extLst>
      <p:ext uri="{BB962C8B-B14F-4D97-AF65-F5344CB8AC3E}">
        <p14:creationId xmlns:p14="http://schemas.microsoft.com/office/powerpoint/2010/main" val="36206849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F3C16D8-C414-4FD8-9A7D-2C452EB0CD13}"/>
              </a:ext>
            </a:extLst>
          </p:cNvPr>
          <p:cNvPicPr>
            <a:picLocks noChangeAspect="1"/>
          </p:cNvPicPr>
          <p:nvPr/>
        </p:nvPicPr>
        <p:blipFill>
          <a:blip r:embed="rId3"/>
          <a:stretch>
            <a:fillRect/>
          </a:stretch>
        </p:blipFill>
        <p:spPr>
          <a:xfrm>
            <a:off x="1819260" y="634970"/>
            <a:ext cx="5887478" cy="3364273"/>
          </a:xfrm>
          <a:prstGeom prst="rect">
            <a:avLst/>
          </a:prstGeom>
        </p:spPr>
      </p:pic>
      <p:sp>
        <p:nvSpPr>
          <p:cNvPr id="5" name="矩形 4">
            <a:extLst>
              <a:ext uri="{FF2B5EF4-FFF2-40B4-BE49-F238E27FC236}">
                <a16:creationId xmlns:a16="http://schemas.microsoft.com/office/drawing/2014/main" id="{EAE8B53B-1E81-4267-9DEB-26AF7E5B613F}"/>
              </a:ext>
            </a:extLst>
          </p:cNvPr>
          <p:cNvSpPr/>
          <p:nvPr/>
        </p:nvSpPr>
        <p:spPr>
          <a:xfrm>
            <a:off x="2854672" y="-115780"/>
            <a:ext cx="3434655"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xv6</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三级页表</a:t>
            </a:r>
          </a:p>
        </p:txBody>
      </p:sp>
      <p:sp>
        <p:nvSpPr>
          <p:cNvPr id="8" name="文本框 7">
            <a:extLst>
              <a:ext uri="{FF2B5EF4-FFF2-40B4-BE49-F238E27FC236}">
                <a16:creationId xmlns:a16="http://schemas.microsoft.com/office/drawing/2014/main" id="{55D3E82E-12CE-4151-ABD3-F3A016E77AF9}"/>
              </a:ext>
            </a:extLst>
          </p:cNvPr>
          <p:cNvSpPr txBox="1"/>
          <p:nvPr/>
        </p:nvSpPr>
        <p:spPr>
          <a:xfrm>
            <a:off x="68512" y="4017716"/>
            <a:ext cx="9006976" cy="584775"/>
          </a:xfrm>
          <a:prstGeom prst="rect">
            <a:avLst/>
          </a:prstGeom>
          <a:noFill/>
        </p:spPr>
        <p:txBody>
          <a:bodyPr wrap="square" rtlCol="0">
            <a:spAutoFit/>
          </a:bodyPr>
          <a:lstStyle/>
          <a:p>
            <a:r>
              <a:rPr lang="zh-CN" altLang="en-US" dirty="0">
                <a:solidFill>
                  <a:schemeClr val="bg2"/>
                </a:solidFill>
                <a:latin typeface="Times New Roman" panose="02020603050405020304" pitchFamily="18" charset="0"/>
                <a:cs typeface="Times New Roman" panose="02020603050405020304" pitchFamily="18" charset="0"/>
              </a:rPr>
              <a:t>页大小</a:t>
            </a:r>
            <a:r>
              <a:rPr lang="en-US" altLang="zh-CN" dirty="0">
                <a:solidFill>
                  <a:schemeClr val="bg2"/>
                </a:solidFill>
                <a:latin typeface="Times New Roman" panose="02020603050405020304" pitchFamily="18" charset="0"/>
                <a:cs typeface="Times New Roman" panose="02020603050405020304" pitchFamily="18" charset="0"/>
              </a:rPr>
              <a:t>4k</a:t>
            </a:r>
            <a:r>
              <a:rPr lang="zh-CN" altLang="en-US" dirty="0">
                <a:solidFill>
                  <a:schemeClr val="bg2"/>
                </a:solidFill>
                <a:latin typeface="Times New Roman" panose="02020603050405020304" pitchFamily="18" charset="0"/>
                <a:cs typeface="Times New Roman" panose="02020603050405020304" pitchFamily="18" charset="0"/>
              </a:rPr>
              <a:t>，页表项占</a:t>
            </a:r>
            <a:r>
              <a:rPr lang="en-US" altLang="zh-CN" dirty="0">
                <a:solidFill>
                  <a:schemeClr val="bg2"/>
                </a:solidFill>
                <a:latin typeface="Times New Roman" panose="02020603050405020304" pitchFamily="18" charset="0"/>
                <a:cs typeface="Times New Roman" panose="02020603050405020304" pitchFamily="18" charset="0"/>
              </a:rPr>
              <a:t>8Byte, </a:t>
            </a:r>
            <a:r>
              <a:rPr lang="zh-CN" altLang="en-US" dirty="0">
                <a:solidFill>
                  <a:schemeClr val="bg2"/>
                </a:solidFill>
                <a:latin typeface="Times New Roman" panose="02020603050405020304" pitchFamily="18" charset="0"/>
                <a:cs typeface="Times New Roman" panose="02020603050405020304" pitchFamily="18" charset="0"/>
              </a:rPr>
              <a:t>每一页       个页表项</a:t>
            </a:r>
            <a:endParaRPr lang="zh-CN" altLang="en-US"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37C7F65D-5C17-4124-AC3C-FCE2B584D949}"/>
              </a:ext>
            </a:extLst>
          </p:cNvPr>
          <p:cNvSpPr/>
          <p:nvPr/>
        </p:nvSpPr>
        <p:spPr>
          <a:xfrm>
            <a:off x="6289327" y="3999243"/>
            <a:ext cx="805029" cy="584775"/>
          </a:xfrm>
          <a:prstGeom prst="rect">
            <a:avLst/>
          </a:prstGeom>
        </p:spPr>
        <p:txBody>
          <a:bodyPr wrap="none">
            <a:spAutoFit/>
          </a:bodyPr>
          <a:lstStyle/>
          <a:p>
            <a:r>
              <a:rPr lang="en-US" altLang="zh-CN" dirty="0">
                <a:solidFill>
                  <a:schemeClr val="bg1">
                    <a:lumMod val="75000"/>
                  </a:schemeClr>
                </a:solidFill>
                <a:latin typeface="+mn-lt"/>
              </a:rPr>
              <a:t>512</a:t>
            </a:r>
            <a:endParaRPr lang="zh-CN" altLang="en-US" dirty="0">
              <a:solidFill>
                <a:schemeClr val="bg1">
                  <a:lumMod val="75000"/>
                </a:schemeClr>
              </a:solidFill>
              <a:latin typeface="+mn-lt"/>
            </a:endParaRPr>
          </a:p>
        </p:txBody>
      </p:sp>
      <p:sp>
        <p:nvSpPr>
          <p:cNvPr id="10" name="AutoShape 27">
            <a:hlinkClick r:id="" action="ppaction://hlinkshowjump?jump=nextslide" highlightClick="1"/>
            <a:extLst>
              <a:ext uri="{FF2B5EF4-FFF2-40B4-BE49-F238E27FC236}">
                <a16:creationId xmlns:a16="http://schemas.microsoft.com/office/drawing/2014/main" id="{A2257057-B6E5-4A38-A8DD-8750F028DF26}"/>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pic>
        <p:nvPicPr>
          <p:cNvPr id="12" name="图片 11">
            <a:extLst>
              <a:ext uri="{FF2B5EF4-FFF2-40B4-BE49-F238E27FC236}">
                <a16:creationId xmlns:a16="http://schemas.microsoft.com/office/drawing/2014/main" id="{CBD20411-2D4D-42DB-A676-8B1E98C3B41C}"/>
              </a:ext>
            </a:extLst>
          </p:cNvPr>
          <p:cNvPicPr>
            <a:picLocks noChangeAspect="1"/>
          </p:cNvPicPr>
          <p:nvPr/>
        </p:nvPicPr>
        <p:blipFill>
          <a:blip r:embed="rId4"/>
          <a:stretch>
            <a:fillRect/>
          </a:stretch>
        </p:blipFill>
        <p:spPr>
          <a:xfrm>
            <a:off x="1103389" y="4950634"/>
            <a:ext cx="7833355" cy="1178222"/>
          </a:xfrm>
          <a:prstGeom prst="rect">
            <a:avLst/>
          </a:prstGeom>
        </p:spPr>
      </p:pic>
    </p:spTree>
    <p:extLst>
      <p:ext uri="{BB962C8B-B14F-4D97-AF65-F5344CB8AC3E}">
        <p14:creationId xmlns:p14="http://schemas.microsoft.com/office/powerpoint/2010/main" val="36403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1CCD8E7-87D6-4A4A-8273-0CFF2109C901}"/>
              </a:ext>
            </a:extLst>
          </p:cNvPr>
          <p:cNvPicPr>
            <a:picLocks noChangeAspect="1"/>
          </p:cNvPicPr>
          <p:nvPr/>
        </p:nvPicPr>
        <p:blipFill>
          <a:blip r:embed="rId3"/>
          <a:stretch>
            <a:fillRect/>
          </a:stretch>
        </p:blipFill>
        <p:spPr>
          <a:xfrm>
            <a:off x="1547664" y="903948"/>
            <a:ext cx="6552728" cy="2525052"/>
          </a:xfrm>
          <a:prstGeom prst="rect">
            <a:avLst/>
          </a:prstGeom>
        </p:spPr>
      </p:pic>
      <p:sp>
        <p:nvSpPr>
          <p:cNvPr id="5" name="矩形 4">
            <a:extLst>
              <a:ext uri="{FF2B5EF4-FFF2-40B4-BE49-F238E27FC236}">
                <a16:creationId xmlns:a16="http://schemas.microsoft.com/office/drawing/2014/main" id="{649FDDAB-47FC-4D49-82E3-63878774B28F}"/>
              </a:ext>
            </a:extLst>
          </p:cNvPr>
          <p:cNvSpPr/>
          <p:nvPr/>
        </p:nvSpPr>
        <p:spPr>
          <a:xfrm>
            <a:off x="2302208" y="0"/>
            <a:ext cx="4539583"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en-US" altLang="zh-CN" sz="4000" dirty="0" err="1">
                <a:solidFill>
                  <a:srgbClr val="006699"/>
                </a:solidFill>
                <a:effectLst>
                  <a:outerShdw blurRad="38100" dist="38100" dir="2700000" algn="tl">
                    <a:srgbClr val="000000">
                      <a:alpha val="43137"/>
                    </a:srgbClr>
                  </a:outerShdw>
                </a:effectLst>
                <a:latin typeface="+mj-lt"/>
                <a:ea typeface="MS PGothic" pitchFamily="34" charset="-128"/>
                <a:cs typeface="+mj-cs"/>
              </a:rPr>
              <a:t>xv6</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页表项示例</a:t>
            </a:r>
          </a:p>
        </p:txBody>
      </p:sp>
      <p:sp>
        <p:nvSpPr>
          <p:cNvPr id="6" name="文本框 5">
            <a:extLst>
              <a:ext uri="{FF2B5EF4-FFF2-40B4-BE49-F238E27FC236}">
                <a16:creationId xmlns:a16="http://schemas.microsoft.com/office/drawing/2014/main" id="{D8F7FE10-1E33-4D31-860C-DA9F8F835378}"/>
              </a:ext>
            </a:extLst>
          </p:cNvPr>
          <p:cNvSpPr txBox="1"/>
          <p:nvPr/>
        </p:nvSpPr>
        <p:spPr>
          <a:xfrm>
            <a:off x="197768" y="3369516"/>
            <a:ext cx="8350708" cy="2314480"/>
          </a:xfrm>
          <a:prstGeom prst="rect">
            <a:avLst/>
          </a:prstGeom>
          <a:noFill/>
        </p:spPr>
        <p:txBody>
          <a:bodyPr wrap="square" rtlCol="0">
            <a:spAutoFit/>
          </a:bodyPr>
          <a:lstStyle/>
          <a:p>
            <a:pPr marL="355600" lvl="2" indent="-355600" defTabSz="355600">
              <a:lnSpc>
                <a:spcPct val="90000"/>
              </a:lnSpc>
              <a:buClr>
                <a:schemeClr val="bg1">
                  <a:lumMod val="75000"/>
                </a:schemeClr>
              </a:buClr>
              <a:buSzPct val="10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低</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8</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位标志位</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r>
              <a:rPr lang="en-US" altLang="zh-CN" sz="2800" dirty="0">
                <a:solidFill>
                  <a:srgbClr val="CC3300"/>
                </a:solidFill>
                <a:effectLst>
                  <a:outerShdw blurRad="38100" dist="38100" dir="2700000" algn="tl">
                    <a:srgbClr val="000000">
                      <a:alpha val="43137"/>
                    </a:srgbClr>
                  </a:outerShdw>
                </a:effectLst>
              </a:rPr>
              <a:t>PTE_V</a:t>
            </a:r>
            <a:r>
              <a:rPr lang="zh-CN" altLang="en-US" sz="2800" dirty="0">
                <a:solidFill>
                  <a:srgbClr val="CC3300"/>
                </a:solidFill>
                <a:effectLst>
                  <a:outerShdw blurRad="38100" dist="38100" dir="2700000" algn="tl">
                    <a:srgbClr val="000000">
                      <a:alpha val="43137"/>
                    </a:srgbClr>
                  </a:outerShdw>
                </a:effectLst>
              </a:rPr>
              <a:t>：</a:t>
            </a:r>
            <a:r>
              <a:rPr lang="zh-CN" altLang="en-US" sz="2800" dirty="0">
                <a:solidFill>
                  <a:schemeClr val="bg2"/>
                </a:solidFill>
              </a:rPr>
              <a:t>是否有效           </a:t>
            </a:r>
            <a:r>
              <a:rPr lang="en-US" altLang="zh-CN" sz="2800" dirty="0" err="1">
                <a:solidFill>
                  <a:srgbClr val="CC3300"/>
                </a:solidFill>
                <a:effectLst>
                  <a:outerShdw blurRad="38100" dist="38100" dir="2700000" algn="tl">
                    <a:srgbClr val="000000">
                      <a:alpha val="43137"/>
                    </a:srgbClr>
                  </a:outerShdw>
                </a:effectLst>
              </a:rPr>
              <a:t>PTE_R</a:t>
            </a:r>
            <a:r>
              <a:rPr lang="zh-CN" altLang="en-US" sz="2800" dirty="0">
                <a:solidFill>
                  <a:srgbClr val="CC3300"/>
                </a:solidFill>
                <a:effectLst>
                  <a:outerShdw blurRad="38100" dist="38100" dir="2700000" algn="tl">
                    <a:srgbClr val="000000">
                      <a:alpha val="43137"/>
                    </a:srgbClr>
                  </a:outerShdw>
                </a:effectLst>
              </a:rPr>
              <a:t>：</a:t>
            </a:r>
            <a:r>
              <a:rPr lang="zh-CN" altLang="zh-CN" sz="2800" dirty="0">
                <a:solidFill>
                  <a:schemeClr val="bg2"/>
                </a:solidFill>
              </a:rPr>
              <a:t>是否允许读</a:t>
            </a:r>
            <a:endParaRPr lang="en-US" altLang="zh-CN" sz="2800" dirty="0">
              <a:solidFill>
                <a:schemeClr val="bg2"/>
              </a:solidFill>
            </a:endParaRPr>
          </a:p>
          <a:p>
            <a:r>
              <a:rPr lang="en-US" altLang="zh-CN" sz="2800" dirty="0">
                <a:solidFill>
                  <a:srgbClr val="CC3300"/>
                </a:solidFill>
                <a:effectLst>
                  <a:outerShdw blurRad="38100" dist="38100" dir="2700000" algn="tl">
                    <a:srgbClr val="000000">
                      <a:alpha val="43137"/>
                    </a:srgbClr>
                  </a:outerShdw>
                </a:effectLst>
              </a:rPr>
              <a:t>PTE_W</a:t>
            </a:r>
            <a:r>
              <a:rPr lang="zh-CN" altLang="en-US" sz="2800" dirty="0">
                <a:solidFill>
                  <a:schemeClr val="bg2"/>
                </a:solidFill>
              </a:rPr>
              <a:t>：</a:t>
            </a:r>
            <a:r>
              <a:rPr lang="zh-CN" altLang="zh-CN" sz="2800" dirty="0">
                <a:solidFill>
                  <a:schemeClr val="bg2"/>
                </a:solidFill>
              </a:rPr>
              <a:t>是否允许写</a:t>
            </a:r>
            <a:r>
              <a:rPr lang="en-US" altLang="zh-CN" sz="2800" dirty="0">
                <a:solidFill>
                  <a:schemeClr val="bg2"/>
                </a:solidFill>
              </a:rPr>
              <a:t>         </a:t>
            </a:r>
            <a:r>
              <a:rPr lang="en-US" altLang="zh-CN" sz="2800" dirty="0" err="1">
                <a:solidFill>
                  <a:srgbClr val="CC3300"/>
                </a:solidFill>
                <a:effectLst>
                  <a:outerShdw blurRad="38100" dist="38100" dir="2700000" algn="tl">
                    <a:srgbClr val="000000">
                      <a:alpha val="43137"/>
                    </a:srgbClr>
                  </a:outerShdw>
                </a:effectLst>
              </a:rPr>
              <a:t>PTE_X</a:t>
            </a:r>
            <a:r>
              <a:rPr lang="zh-CN" altLang="en-US" sz="2800" dirty="0">
                <a:solidFill>
                  <a:schemeClr val="bg2"/>
                </a:solidFill>
              </a:rPr>
              <a:t>：</a:t>
            </a:r>
            <a:r>
              <a:rPr lang="zh-CN" altLang="zh-CN" sz="2800" dirty="0">
                <a:solidFill>
                  <a:schemeClr val="bg2"/>
                </a:solidFill>
              </a:rPr>
              <a:t>是否</a:t>
            </a:r>
            <a:r>
              <a:rPr lang="zh-CN" altLang="en-US" sz="2800" dirty="0">
                <a:solidFill>
                  <a:schemeClr val="bg2"/>
                </a:solidFill>
              </a:rPr>
              <a:t>可</a:t>
            </a:r>
            <a:r>
              <a:rPr lang="zh-CN" altLang="zh-CN" sz="2800" dirty="0">
                <a:solidFill>
                  <a:schemeClr val="bg2"/>
                </a:solidFill>
              </a:rPr>
              <a:t>执行</a:t>
            </a:r>
            <a:endParaRPr lang="en-US" altLang="zh-CN" sz="2800" dirty="0">
              <a:solidFill>
                <a:schemeClr val="bg2"/>
              </a:solidFill>
            </a:endParaRPr>
          </a:p>
          <a:p>
            <a:r>
              <a:rPr lang="en-US" altLang="zh-CN" sz="2800" dirty="0">
                <a:solidFill>
                  <a:srgbClr val="CC3300"/>
                </a:solidFill>
                <a:effectLst>
                  <a:outerShdw blurRad="38100" dist="38100" dir="2700000" algn="tl">
                    <a:srgbClr val="000000">
                      <a:alpha val="43137"/>
                    </a:srgbClr>
                  </a:outerShdw>
                </a:effectLst>
              </a:rPr>
              <a:t>PTE_U</a:t>
            </a:r>
            <a:r>
              <a:rPr lang="zh-CN" altLang="en-US" sz="2800" dirty="0">
                <a:solidFill>
                  <a:schemeClr val="bg2"/>
                </a:solidFill>
              </a:rPr>
              <a:t>：‘</a:t>
            </a:r>
            <a:r>
              <a:rPr lang="en-US" altLang="zh-CN" sz="2800" dirty="0">
                <a:solidFill>
                  <a:schemeClr val="bg2"/>
                </a:solidFill>
              </a:rPr>
              <a:t>1</a:t>
            </a:r>
            <a:r>
              <a:rPr lang="zh-CN" altLang="en-US" sz="2800" dirty="0">
                <a:solidFill>
                  <a:schemeClr val="bg2"/>
                </a:solidFill>
              </a:rPr>
              <a:t>’</a:t>
            </a:r>
            <a:r>
              <a:rPr lang="zh-CN" altLang="zh-CN" sz="2800" dirty="0">
                <a:solidFill>
                  <a:schemeClr val="bg2"/>
                </a:solidFill>
              </a:rPr>
              <a:t>用户</a:t>
            </a:r>
            <a:r>
              <a:rPr lang="zh-CN" altLang="en-US" sz="2800" dirty="0">
                <a:solidFill>
                  <a:schemeClr val="bg2"/>
                </a:solidFill>
              </a:rPr>
              <a:t>态下</a:t>
            </a:r>
            <a:r>
              <a:rPr lang="zh-CN" altLang="zh-CN" sz="2800" dirty="0">
                <a:solidFill>
                  <a:schemeClr val="bg2"/>
                </a:solidFill>
              </a:rPr>
              <a:t>允许访问</a:t>
            </a:r>
            <a:endParaRPr lang="en-US" altLang="zh-CN" sz="2800" dirty="0">
              <a:solidFill>
                <a:schemeClr val="bg2"/>
              </a:solidFill>
            </a:endParaRPr>
          </a:p>
          <a:p>
            <a:r>
              <a:rPr lang="en-US" altLang="zh-CN" sz="2800" dirty="0">
                <a:solidFill>
                  <a:schemeClr val="bg2"/>
                </a:solidFill>
              </a:rPr>
              <a:t>       </a:t>
            </a:r>
            <a:r>
              <a:rPr lang="zh-CN" altLang="en-US" sz="2800" dirty="0">
                <a:solidFill>
                  <a:schemeClr val="bg2"/>
                </a:solidFill>
              </a:rPr>
              <a:t>‘</a:t>
            </a:r>
            <a:r>
              <a:rPr lang="en-US" altLang="zh-CN" sz="2800" dirty="0">
                <a:solidFill>
                  <a:schemeClr val="bg2"/>
                </a:solidFill>
              </a:rPr>
              <a:t>0</a:t>
            </a:r>
            <a:r>
              <a:rPr lang="zh-CN" altLang="en-US" sz="2800" dirty="0">
                <a:solidFill>
                  <a:schemeClr val="bg2"/>
                </a:solidFill>
              </a:rPr>
              <a:t>’内核态</a:t>
            </a:r>
            <a:r>
              <a:rPr lang="zh-CN" altLang="zh-CN" sz="2800" dirty="0">
                <a:solidFill>
                  <a:schemeClr val="bg2"/>
                </a:solidFill>
              </a:rPr>
              <a:t>下允许</a:t>
            </a:r>
            <a:r>
              <a:rPr lang="zh-CN" altLang="en-US" sz="2800" dirty="0">
                <a:solidFill>
                  <a:schemeClr val="bg2"/>
                </a:solidFill>
              </a:rPr>
              <a:t>访问</a:t>
            </a:r>
          </a:p>
        </p:txBody>
      </p:sp>
      <p:sp>
        <p:nvSpPr>
          <p:cNvPr id="7" name="AutoShape 27">
            <a:hlinkClick r:id="" action="ppaction://hlinkshowjump?jump=nextslide" highlightClick="1"/>
            <a:extLst>
              <a:ext uri="{FF2B5EF4-FFF2-40B4-BE49-F238E27FC236}">
                <a16:creationId xmlns:a16="http://schemas.microsoft.com/office/drawing/2014/main" id="{49CB7744-0A56-44A1-B082-94B063CC9A9D}"/>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0" name="矩形 9">
            <a:extLst>
              <a:ext uri="{FF2B5EF4-FFF2-40B4-BE49-F238E27FC236}">
                <a16:creationId xmlns:a16="http://schemas.microsoft.com/office/drawing/2014/main" id="{062D6BB2-6A2A-4FB6-AF7F-60816CD903D6}"/>
              </a:ext>
            </a:extLst>
          </p:cNvPr>
          <p:cNvSpPr/>
          <p:nvPr/>
        </p:nvSpPr>
        <p:spPr>
          <a:xfrm>
            <a:off x="0" y="5780185"/>
            <a:ext cx="8746244" cy="954107"/>
          </a:xfrm>
          <a:prstGeom prst="rect">
            <a:avLst/>
          </a:prstGeom>
          <a:solidFill>
            <a:srgbClr val="C6FED7"/>
          </a:solidFill>
        </p:spPr>
        <p:txBody>
          <a:bodyPr wrap="square">
            <a:spAutoFit/>
          </a:bodyPr>
          <a:lstStyle/>
          <a:p>
            <a:r>
              <a:rPr lang="zh-CN" altLang="en-US" sz="2800" dirty="0">
                <a:solidFill>
                  <a:schemeClr val="bg2"/>
                </a:solidFill>
                <a:effectLst>
                  <a:outerShdw blurRad="38100" dist="38100" dir="2700000" algn="tl">
                    <a:srgbClr val="000000">
                      <a:alpha val="43137"/>
                    </a:srgbClr>
                  </a:outerShdw>
                </a:effectLst>
                <a:latin typeface="+mn-lt"/>
              </a:rPr>
              <a:t>指向低级页表的</a:t>
            </a:r>
            <a:r>
              <a:rPr lang="en-US" altLang="zh-CN" sz="2800" dirty="0" err="1">
                <a:solidFill>
                  <a:schemeClr val="bg2"/>
                </a:solidFill>
                <a:effectLst>
                  <a:outerShdw blurRad="38100" dist="38100" dir="2700000" algn="tl">
                    <a:srgbClr val="000000">
                      <a:alpha val="43137"/>
                    </a:srgbClr>
                  </a:outerShdw>
                </a:effectLst>
                <a:latin typeface="+mn-lt"/>
              </a:rPr>
              <a:t>pte</a:t>
            </a:r>
            <a:r>
              <a:rPr lang="en-US" altLang="zh-CN" sz="2800" dirty="0">
                <a:solidFill>
                  <a:schemeClr val="bg2"/>
                </a:solidFill>
                <a:effectLst>
                  <a:outerShdw blurRad="38100" dist="38100" dir="2700000" algn="tl">
                    <a:srgbClr val="000000">
                      <a:alpha val="43137"/>
                    </a:srgbClr>
                  </a:outerShdw>
                </a:effectLst>
                <a:latin typeface="+mn-lt"/>
              </a:rPr>
              <a:t>:   Flags</a:t>
            </a:r>
            <a:r>
              <a:rPr lang="zh-CN" altLang="en-US" sz="2800" dirty="0">
                <a:solidFill>
                  <a:schemeClr val="bg2"/>
                </a:solidFill>
                <a:effectLst>
                  <a:outerShdw blurRad="38100" dist="38100" dir="2700000" algn="tl">
                    <a:srgbClr val="000000">
                      <a:alpha val="43137"/>
                    </a:srgbClr>
                  </a:outerShdw>
                </a:effectLst>
                <a:latin typeface="+mn-lt"/>
              </a:rPr>
              <a:t>值是</a:t>
            </a:r>
            <a:r>
              <a:rPr lang="en-US" altLang="zh-CN" sz="2800" dirty="0">
                <a:solidFill>
                  <a:schemeClr val="bg2"/>
                </a:solidFill>
                <a:effectLst>
                  <a:outerShdw blurRad="38100" dist="38100" dir="2700000" algn="tl">
                    <a:srgbClr val="000000">
                      <a:alpha val="43137"/>
                    </a:srgbClr>
                  </a:outerShdw>
                </a:effectLst>
                <a:latin typeface="+mn-lt"/>
              </a:rPr>
              <a:t>01H</a:t>
            </a:r>
            <a:r>
              <a:rPr lang="zh-CN" altLang="en-US" sz="2800" dirty="0">
                <a:solidFill>
                  <a:schemeClr val="bg2"/>
                </a:solidFill>
                <a:effectLst>
                  <a:outerShdw blurRad="38100" dist="38100" dir="2700000" algn="tl">
                    <a:srgbClr val="000000">
                      <a:alpha val="43137"/>
                    </a:srgbClr>
                  </a:outerShdw>
                </a:effectLst>
                <a:latin typeface="+mn-lt"/>
              </a:rPr>
              <a:t>，即：</a:t>
            </a:r>
            <a:endParaRPr lang="en-US" altLang="zh-CN" sz="2800" dirty="0">
              <a:solidFill>
                <a:schemeClr val="bg2"/>
              </a:solidFill>
              <a:effectLst>
                <a:outerShdw blurRad="38100" dist="38100" dir="2700000" algn="tl">
                  <a:srgbClr val="000000">
                    <a:alpha val="43137"/>
                  </a:srgbClr>
                </a:outerShdw>
              </a:effectLst>
              <a:latin typeface="+mn-lt"/>
            </a:endParaRPr>
          </a:p>
          <a:p>
            <a:r>
              <a:rPr lang="en-US" altLang="zh-CN" sz="2800" dirty="0">
                <a:solidFill>
                  <a:schemeClr val="bg2"/>
                </a:solidFill>
                <a:latin typeface="+mn-lt"/>
              </a:rPr>
              <a:t>(</a:t>
            </a:r>
            <a:r>
              <a:rPr lang="en-US" altLang="zh-CN" sz="2400" dirty="0" err="1">
                <a:solidFill>
                  <a:schemeClr val="bg2"/>
                </a:solidFill>
                <a:latin typeface="+mn-lt"/>
              </a:rPr>
              <a:t>pte</a:t>
            </a:r>
            <a:r>
              <a:rPr lang="en-US" altLang="zh-CN" sz="2400" dirty="0">
                <a:solidFill>
                  <a:schemeClr val="bg2"/>
                </a:solidFill>
                <a:latin typeface="+mn-lt"/>
              </a:rPr>
              <a:t> &amp; PTE_V</a:t>
            </a:r>
            <a:r>
              <a:rPr lang="en-US" altLang="zh-CN" sz="2800" dirty="0">
                <a:solidFill>
                  <a:schemeClr val="bg2"/>
                </a:solidFill>
                <a:latin typeface="+mn-lt"/>
              </a:rPr>
              <a:t>)</a:t>
            </a:r>
            <a:r>
              <a:rPr lang="en-US" altLang="zh-CN" sz="2400" dirty="0">
                <a:solidFill>
                  <a:schemeClr val="bg2"/>
                </a:solidFill>
                <a:latin typeface="+mn-lt"/>
              </a:rPr>
              <a:t>  &amp;&amp;</a:t>
            </a:r>
            <a:r>
              <a:rPr lang="en-US" altLang="zh-CN" sz="2800" dirty="0">
                <a:solidFill>
                  <a:schemeClr val="bg2"/>
                </a:solidFill>
                <a:latin typeface="+mn-lt"/>
              </a:rPr>
              <a:t> ( </a:t>
            </a:r>
            <a:r>
              <a:rPr lang="en-US" altLang="zh-CN" sz="2400" dirty="0">
                <a:solidFill>
                  <a:schemeClr val="bg2"/>
                </a:solidFill>
                <a:latin typeface="+mn-lt"/>
              </a:rPr>
              <a:t>(</a:t>
            </a:r>
            <a:r>
              <a:rPr lang="en-US" altLang="zh-CN" sz="2400" dirty="0" err="1">
                <a:solidFill>
                  <a:schemeClr val="bg2"/>
                </a:solidFill>
                <a:latin typeface="+mn-lt"/>
              </a:rPr>
              <a:t>pte</a:t>
            </a:r>
            <a:r>
              <a:rPr lang="en-US" altLang="zh-CN" sz="2400" dirty="0">
                <a:solidFill>
                  <a:schemeClr val="bg2"/>
                </a:solidFill>
                <a:latin typeface="+mn-lt"/>
              </a:rPr>
              <a:t>&amp;(PTE_R|PTE_W|PTE_X) ==0) </a:t>
            </a:r>
            <a:r>
              <a:rPr lang="en-US" altLang="zh-CN" sz="2800" dirty="0">
                <a:solidFill>
                  <a:schemeClr val="bg2"/>
                </a:solidFill>
                <a:latin typeface="+mn-lt"/>
              </a:rPr>
              <a:t>)</a:t>
            </a:r>
            <a:endParaRPr lang="zh-CN" altLang="en-US" sz="2800" dirty="0">
              <a:solidFill>
                <a:schemeClr val="bg2"/>
              </a:solidFill>
              <a:latin typeface="+mn-lt"/>
            </a:endParaRPr>
          </a:p>
        </p:txBody>
      </p:sp>
    </p:spTree>
    <p:extLst>
      <p:ext uri="{BB962C8B-B14F-4D97-AF65-F5344CB8AC3E}">
        <p14:creationId xmlns:p14="http://schemas.microsoft.com/office/powerpoint/2010/main" val="390014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2730EB-2CB9-4F54-B0BA-3CD4EA4E102D}"/>
              </a:ext>
            </a:extLst>
          </p:cNvPr>
          <p:cNvSpPr txBox="1">
            <a:spLocks noChangeArrowheads="1"/>
          </p:cNvSpPr>
          <p:nvPr/>
        </p:nvSpPr>
        <p:spPr>
          <a:xfrm>
            <a:off x="2699792" y="0"/>
            <a:ext cx="3928292"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哈希页表</a:t>
            </a:r>
          </a:p>
        </p:txBody>
      </p:sp>
      <p:sp>
        <p:nvSpPr>
          <p:cNvPr id="5" name="Rectangle 3">
            <a:extLst>
              <a:ext uri="{FF2B5EF4-FFF2-40B4-BE49-F238E27FC236}">
                <a16:creationId xmlns:a16="http://schemas.microsoft.com/office/drawing/2014/main" id="{162E8931-F44D-4C3A-BBD9-AB4CC62EE86F}"/>
              </a:ext>
            </a:extLst>
          </p:cNvPr>
          <p:cNvSpPr txBox="1">
            <a:spLocks noChangeArrowheads="1"/>
          </p:cNvSpPr>
          <p:nvPr/>
        </p:nvSpPr>
        <p:spPr>
          <a:xfrm>
            <a:off x="71754" y="486408"/>
            <a:ext cx="9000492" cy="215050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0" lvl="2" indent="0" algn="ctr" defTabSz="355600">
              <a:lnSpc>
                <a:spcPct val="90000"/>
              </a:lnSpc>
              <a:spcBef>
                <a:spcPct val="0"/>
              </a:spcBef>
              <a:buClr>
                <a:schemeClr val="bg1">
                  <a:lumMod val="75000"/>
                </a:schemeClr>
              </a:buClr>
              <a:buSzPct val="100000"/>
              <a:buNone/>
              <a:tabLst>
                <a:tab pos="1830388" algn="l"/>
                <a:tab pos="2857500" algn="ctr"/>
              </a:tabLst>
              <a:defRPr/>
            </a:pPr>
            <a:r>
              <a:rPr lang="zh-CN" altLang="en-US" sz="3600" dirty="0">
                <a:solidFill>
                  <a:schemeClr val="bg1"/>
                </a:solidFill>
                <a:latin typeface="+mj-lt"/>
                <a:ea typeface="楷体" panose="02010609060101010101" pitchFamily="49" charset="-122"/>
              </a:rPr>
              <a:t>逻辑页号映射为</a:t>
            </a:r>
            <a:r>
              <a:rPr lang="en-US" altLang="zh-CN" sz="3600" dirty="0">
                <a:solidFill>
                  <a:schemeClr val="bg1"/>
                </a:solidFill>
                <a:latin typeface="+mj-lt"/>
                <a:ea typeface="楷体" panose="02010609060101010101" pitchFamily="49" charset="-122"/>
              </a:rPr>
              <a:t>hash</a:t>
            </a:r>
            <a:r>
              <a:rPr lang="zh-CN" altLang="en-US" sz="3600" dirty="0">
                <a:solidFill>
                  <a:schemeClr val="bg1"/>
                </a:solidFill>
                <a:latin typeface="+mj-lt"/>
                <a:ea typeface="楷体" panose="02010609060101010101" pitchFamily="49" charset="-122"/>
              </a:rPr>
              <a:t>值</a:t>
            </a:r>
            <a:endParaRPr lang="en-US" altLang="en-US" sz="3600" dirty="0">
              <a:solidFill>
                <a:schemeClr val="bg1"/>
              </a:solidFill>
              <a:latin typeface="+mj-lt"/>
              <a:ea typeface="楷体" panose="02010609060101010101" pitchFamily="49" charset="-122"/>
            </a:endParaRPr>
          </a:p>
          <a:p>
            <a:pPr marL="355600" lvl="2" indent="-355600" defTabSz="355600">
              <a:spcBef>
                <a:spcPct val="0"/>
              </a:spcBef>
              <a:buClr>
                <a:schemeClr val="bg2"/>
              </a:buClr>
              <a:buSzPct val="7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每一个表目包括一个链表，处理冲突。</a:t>
            </a:r>
            <a:endParaRPr lang="en-US" altLang="zh-CN"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spcBef>
                <a:spcPct val="0"/>
              </a:spcBef>
              <a:buClr>
                <a:schemeClr val="bg2"/>
              </a:buClr>
              <a:buSzPct val="7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每个元素</a:t>
            </a:r>
            <a:r>
              <a:rPr lang="en-US"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：逻辑页号</a:t>
            </a:r>
            <a:r>
              <a:rPr lang="en-US"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en-US"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物理页号、</a:t>
            </a:r>
            <a:r>
              <a:rPr lang="en-US"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指向下一元素的指针</a:t>
            </a:r>
            <a:endParaRPr lang="en-US" altLang="en-US" sz="36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pic>
        <p:nvPicPr>
          <p:cNvPr id="6" name="Picture 6">
            <a:extLst>
              <a:ext uri="{FF2B5EF4-FFF2-40B4-BE49-F238E27FC236}">
                <a16:creationId xmlns:a16="http://schemas.microsoft.com/office/drawing/2014/main" id="{A523846C-9A23-4E55-8F3E-D088DD4AD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637700"/>
            <a:ext cx="6192688" cy="35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6936F663-380E-4655-9927-845D74E96144}"/>
              </a:ext>
            </a:extLst>
          </p:cNvPr>
          <p:cNvSpPr txBox="1">
            <a:spLocks noChangeArrowheads="1"/>
          </p:cNvSpPr>
          <p:nvPr/>
        </p:nvSpPr>
        <p:spPr bwMode="auto">
          <a:xfrm>
            <a:off x="3707904" y="5661248"/>
            <a:ext cx="23439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600" dirty="0"/>
              <a:t>（</a:t>
            </a:r>
            <a:r>
              <a:rPr lang="zh-CN" altLang="en-US" sz="2000" dirty="0">
                <a:solidFill>
                  <a:schemeClr val="bg2"/>
                </a:solidFill>
              </a:rPr>
              <a:t>图 </a:t>
            </a:r>
            <a:r>
              <a:rPr lang="en-US" altLang="zh-CN" sz="2000" dirty="0">
                <a:solidFill>
                  <a:schemeClr val="bg2"/>
                </a:solidFill>
              </a:rPr>
              <a:t>7-19</a:t>
            </a:r>
            <a:r>
              <a:rPr lang="zh-CN" altLang="en-US" sz="2000" dirty="0">
                <a:solidFill>
                  <a:schemeClr val="bg2"/>
                </a:solidFill>
              </a:rPr>
              <a:t>  哈希页表</a:t>
            </a:r>
            <a:endParaRPr lang="zh-CN" altLang="en-US" sz="2000" dirty="0">
              <a:solidFill>
                <a:srgbClr val="7030A0"/>
              </a:solidFill>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 name="文本框 2"/>
          <p:cNvSpPr txBox="1"/>
          <p:nvPr/>
        </p:nvSpPr>
        <p:spPr>
          <a:xfrm>
            <a:off x="1639602" y="6273225"/>
            <a:ext cx="6048672" cy="584775"/>
          </a:xfrm>
          <a:prstGeom prst="rect">
            <a:avLst/>
          </a:prstGeom>
          <a:noFill/>
        </p:spPr>
        <p:txBody>
          <a:bodyPr wrap="square" rtlCol="0">
            <a:spAutoFit/>
          </a:bodyPr>
          <a:lstStyle/>
          <a:p>
            <a:pPr algn="ctr"/>
            <a:r>
              <a:rPr lang="zh-CN" altLang="en-US" dirty="0">
                <a:solidFill>
                  <a:schemeClr val="bg2"/>
                </a:solidFill>
                <a:effectLst>
                  <a:outerShdw blurRad="38100" dist="38100" dir="2700000" algn="tl">
                    <a:srgbClr val="000000">
                      <a:alpha val="43137"/>
                    </a:srgbClr>
                  </a:outerShdw>
                </a:effectLst>
                <a:latin typeface="+mn-lt"/>
                <a:ea typeface="+mn-ea"/>
              </a:rPr>
              <a:t>大于</a:t>
            </a:r>
            <a:r>
              <a:rPr lang="en-US" altLang="zh-CN" dirty="0">
                <a:solidFill>
                  <a:schemeClr val="bg2"/>
                </a:solidFill>
                <a:effectLst>
                  <a:outerShdw blurRad="38100" dist="38100" dir="2700000" algn="tl">
                    <a:srgbClr val="000000">
                      <a:alpha val="43137"/>
                    </a:srgbClr>
                  </a:outerShdw>
                </a:effectLst>
                <a:latin typeface="+mn-lt"/>
                <a:ea typeface="+mn-ea"/>
              </a:rPr>
              <a:t>32</a:t>
            </a:r>
            <a:r>
              <a:rPr lang="zh-CN" altLang="en-US" dirty="0">
                <a:solidFill>
                  <a:schemeClr val="bg2"/>
                </a:solidFill>
                <a:effectLst>
                  <a:outerShdw blurRad="38100" dist="38100" dir="2700000" algn="tl">
                    <a:srgbClr val="000000">
                      <a:alpha val="43137"/>
                    </a:srgbClr>
                  </a:outerShdw>
                </a:effectLst>
                <a:latin typeface="+mn-lt"/>
                <a:ea typeface="+mn-ea"/>
              </a:rPr>
              <a:t>位地址空间的常用方法</a:t>
            </a:r>
          </a:p>
        </p:txBody>
      </p:sp>
    </p:spTree>
    <p:extLst>
      <p:ext uri="{BB962C8B-B14F-4D97-AF65-F5344CB8AC3E}">
        <p14:creationId xmlns:p14="http://schemas.microsoft.com/office/powerpoint/2010/main" val="288783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9AD6FF-1069-4F8A-B996-0D85F11C40D1}"/>
              </a:ext>
            </a:extLst>
          </p:cNvPr>
          <p:cNvSpPr txBox="1">
            <a:spLocks noChangeArrowheads="1"/>
          </p:cNvSpPr>
          <p:nvPr/>
        </p:nvSpPr>
        <p:spPr>
          <a:xfrm>
            <a:off x="2715866" y="0"/>
            <a:ext cx="371226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倒置页表（</a:t>
            </a:r>
            <a:r>
              <a:rPr lang="en-US" altLang="zh-CN" sz="4000" dirty="0">
                <a:solidFill>
                  <a:srgbClr val="006699"/>
                </a:solidFill>
                <a:effectLst>
                  <a:outerShdw blurRad="38100" dist="38100" dir="2700000" algn="tl">
                    <a:srgbClr val="000000">
                      <a:alpha val="43137"/>
                    </a:srgbClr>
                  </a:outerShdw>
                </a:effectLst>
                <a:ea typeface="MS PGothic" pitchFamily="34" charset="-128"/>
              </a:rPr>
              <a:t>1</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p>
        </p:txBody>
      </p:sp>
      <p:sp>
        <p:nvSpPr>
          <p:cNvPr id="5" name="Rectangle 3">
            <a:extLst>
              <a:ext uri="{FF2B5EF4-FFF2-40B4-BE49-F238E27FC236}">
                <a16:creationId xmlns:a16="http://schemas.microsoft.com/office/drawing/2014/main" id="{BADA75EE-A284-4F42-9C2F-83148182F2AD}"/>
              </a:ext>
            </a:extLst>
          </p:cNvPr>
          <p:cNvSpPr txBox="1">
            <a:spLocks noChangeArrowheads="1"/>
          </p:cNvSpPr>
          <p:nvPr/>
        </p:nvSpPr>
        <p:spPr>
          <a:xfrm>
            <a:off x="232756" y="640986"/>
            <a:ext cx="8856984" cy="202443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整个系统一个倒置页表</a:t>
            </a:r>
            <a:endParaRPr lang="en-US" altLang="zh-CN" sz="3600" dirty="0">
              <a:solidFill>
                <a:schemeClr val="bg1"/>
              </a:solidFill>
              <a:latin typeface="+mj-lt"/>
              <a:ea typeface="楷体" panose="02010609060101010101" pitchFamily="49" charset="-122"/>
            </a:endParaRPr>
          </a:p>
          <a:p>
            <a:pPr marL="812800" lvl="3" indent="-355600" defTabSz="355600">
              <a:lnSpc>
                <a:spcPts val="4100"/>
              </a:lnSpc>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减少存储每个进程页表所需的内存</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一个物理页占用一个表项</a:t>
            </a:r>
            <a:endParaRPr lang="en-US" altLang="zh-CN" sz="3600" dirty="0">
              <a:solidFill>
                <a:schemeClr val="bg1"/>
              </a:solidFill>
              <a:latin typeface="+mj-lt"/>
              <a:ea typeface="楷体" panose="02010609060101010101" pitchFamily="49" charset="-122"/>
            </a:endParaRPr>
          </a:p>
          <a:p>
            <a:pPr marL="812800" lvl="3" indent="-355600" defTabSz="355600">
              <a:lnSpc>
                <a:spcPts val="4100"/>
              </a:lnSpc>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占用该物理页的进程</a:t>
            </a:r>
            <a:r>
              <a:rPr lang="en-US" altLang="zh-CN" sz="3200" dirty="0" err="1">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pid</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、逻辑页号。</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7" name="Text Box 4">
            <a:extLst>
              <a:ext uri="{FF2B5EF4-FFF2-40B4-BE49-F238E27FC236}">
                <a16:creationId xmlns:a16="http://schemas.microsoft.com/office/drawing/2014/main" id="{A1875ED6-CD60-4FFC-B685-256FBAAE2E02}"/>
              </a:ext>
            </a:extLst>
          </p:cNvPr>
          <p:cNvSpPr txBox="1">
            <a:spLocks noChangeArrowheads="1"/>
          </p:cNvSpPr>
          <p:nvPr/>
        </p:nvSpPr>
        <p:spPr bwMode="auto">
          <a:xfrm>
            <a:off x="3489292" y="6309320"/>
            <a:ext cx="23439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600" dirty="0"/>
              <a:t>（</a:t>
            </a:r>
            <a:r>
              <a:rPr lang="zh-CN" altLang="en-US" sz="2000" dirty="0">
                <a:solidFill>
                  <a:schemeClr val="bg2"/>
                </a:solidFill>
              </a:rPr>
              <a:t>图 </a:t>
            </a:r>
            <a:r>
              <a:rPr lang="en-US" altLang="zh-CN" sz="2000" dirty="0">
                <a:solidFill>
                  <a:schemeClr val="bg2"/>
                </a:solidFill>
              </a:rPr>
              <a:t>7-20</a:t>
            </a:r>
            <a:r>
              <a:rPr lang="zh-CN" altLang="en-US" sz="2000" dirty="0">
                <a:solidFill>
                  <a:schemeClr val="bg2"/>
                </a:solidFill>
              </a:rPr>
              <a:t>  倒置页表</a:t>
            </a:r>
            <a:endParaRPr lang="zh-CN" altLang="en-US" sz="2000" dirty="0">
              <a:solidFill>
                <a:srgbClr val="7030A0"/>
              </a:solidFill>
            </a:endParaRPr>
          </a:p>
        </p:txBody>
      </p:sp>
      <p:pic>
        <p:nvPicPr>
          <p:cNvPr id="2" name="图片 1"/>
          <p:cNvPicPr>
            <a:picLocks noChangeAspect="1"/>
          </p:cNvPicPr>
          <p:nvPr/>
        </p:nvPicPr>
        <p:blipFill>
          <a:blip r:embed="rId3"/>
          <a:stretch>
            <a:fillRect/>
          </a:stretch>
        </p:blipFill>
        <p:spPr>
          <a:xfrm>
            <a:off x="1619672" y="2665420"/>
            <a:ext cx="5429250" cy="3181350"/>
          </a:xfrm>
          <a:prstGeom prst="rect">
            <a:avLst/>
          </a:prstGeom>
        </p:spPr>
      </p:pic>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711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DFEACA-8850-429C-89E6-8F54AA0E4509}"/>
              </a:ext>
            </a:extLst>
          </p:cNvPr>
          <p:cNvSpPr txBox="1">
            <a:spLocks noChangeArrowheads="1"/>
          </p:cNvSpPr>
          <p:nvPr/>
        </p:nvSpPr>
        <p:spPr>
          <a:xfrm>
            <a:off x="0" y="1052736"/>
            <a:ext cx="8965504" cy="4476681"/>
          </a:xfrm>
          <a:prstGeom prst="rect">
            <a:avLst/>
          </a:prstGeom>
          <a:solidFill>
            <a:schemeClr val="tx1"/>
          </a:solidFill>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增加了查找页表的时间</a:t>
            </a:r>
            <a:endParaRPr lang="en-US" altLang="zh-CN" sz="3600" dirty="0">
              <a:solidFill>
                <a:schemeClr val="bg1"/>
              </a:solidFill>
              <a:latin typeface="+mj-lt"/>
              <a:ea typeface="楷体" panose="02010609060101010101" pitchFamily="49" charset="-122"/>
            </a:endParaRPr>
          </a:p>
          <a:p>
            <a:pPr marL="812800" lvl="3" indent="-355600" defTabSz="355600">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倒置页表按物理地址排序，根据虚拟地址查找，可能需要搜索整个表</a:t>
            </a:r>
          </a:p>
          <a:p>
            <a:pPr marL="812800" lvl="3" indent="-355600" defTabSz="355600">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使用哈希表来限制搜索的页表条目数</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en-US" altLang="zh-CN" sz="3600" dirty="0">
                <a:solidFill>
                  <a:schemeClr val="bg1"/>
                </a:solidFill>
                <a:latin typeface="+mj-lt"/>
                <a:ea typeface="楷体" panose="02010609060101010101" pitchFamily="49" charset="-122"/>
              </a:rPr>
              <a:t>IBM RT</a:t>
            </a:r>
            <a:r>
              <a:rPr lang="zh-CN" altLang="en-US" sz="3600" dirty="0">
                <a:solidFill>
                  <a:schemeClr val="bg1"/>
                </a:solidFill>
                <a:latin typeface="+mj-lt"/>
                <a:ea typeface="楷体" panose="02010609060101010101" pitchFamily="49" charset="-122"/>
              </a:rPr>
              <a:t>、</a:t>
            </a:r>
            <a:r>
              <a:rPr lang="en-US" altLang="zh-CN" sz="3600" dirty="0">
                <a:solidFill>
                  <a:schemeClr val="bg1"/>
                </a:solidFill>
                <a:latin typeface="+mj-lt"/>
                <a:ea typeface="楷体" panose="02010609060101010101" pitchFamily="49" charset="-122"/>
              </a:rPr>
              <a:t> </a:t>
            </a:r>
            <a:r>
              <a:rPr lang="en-US" altLang="zh-CN" sz="3600" dirty="0" err="1">
                <a:solidFill>
                  <a:schemeClr val="bg1"/>
                </a:solidFill>
                <a:latin typeface="+mj-lt"/>
                <a:ea typeface="楷体" panose="02010609060101010101" pitchFamily="49" charset="-122"/>
              </a:rPr>
              <a:t>UltraSPAC</a:t>
            </a:r>
            <a:r>
              <a:rPr lang="en-US" altLang="zh-CN" sz="3600" dirty="0">
                <a:solidFill>
                  <a:schemeClr val="bg1"/>
                </a:solidFill>
                <a:latin typeface="+mj-lt"/>
                <a:ea typeface="楷体" panose="02010609060101010101" pitchFamily="49" charset="-122"/>
              </a:rPr>
              <a:t> </a:t>
            </a:r>
            <a:r>
              <a:rPr lang="zh-CN" altLang="en-US" sz="3600" dirty="0">
                <a:solidFill>
                  <a:schemeClr val="bg1"/>
                </a:solidFill>
                <a:latin typeface="+mj-lt"/>
                <a:ea typeface="楷体" panose="02010609060101010101" pitchFamily="49" charset="-122"/>
              </a:rPr>
              <a:t>、</a:t>
            </a:r>
            <a:r>
              <a:rPr lang="en-US" altLang="zh-CN" sz="3600" dirty="0">
                <a:solidFill>
                  <a:schemeClr val="bg1"/>
                </a:solidFill>
                <a:latin typeface="+mj-lt"/>
                <a:ea typeface="楷体" panose="02010609060101010101" pitchFamily="49" charset="-122"/>
              </a:rPr>
              <a:t>PowerPC</a:t>
            </a:r>
            <a:r>
              <a:rPr lang="zh-CN" altLang="en-US" sz="3600" dirty="0">
                <a:solidFill>
                  <a:schemeClr val="bg1"/>
                </a:solidFill>
                <a:latin typeface="+mj-lt"/>
                <a:ea typeface="楷体" panose="02010609060101010101" pitchFamily="49" charset="-122"/>
              </a:rPr>
              <a:t>采用</a:t>
            </a:r>
            <a:endParaRPr lang="en-US" altLang="zh-CN" sz="3600" dirty="0">
              <a:solidFill>
                <a:schemeClr val="bg1"/>
              </a:solidFill>
              <a:latin typeface="+mj-lt"/>
              <a:ea typeface="楷体" panose="02010609060101010101" pitchFamily="49" charset="-122"/>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虚拟地址空间远大于物理地址空间时适用</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en-US" altLang="zh-CN" sz="3600" dirty="0">
                <a:solidFill>
                  <a:schemeClr val="bg1"/>
                </a:solidFill>
                <a:latin typeface="+mj-lt"/>
                <a:ea typeface="楷体" panose="02010609060101010101" pitchFamily="49" charset="-122"/>
              </a:rPr>
              <a:t>64</a:t>
            </a:r>
            <a:r>
              <a:rPr lang="zh-CN" altLang="en-US" sz="3600" dirty="0">
                <a:solidFill>
                  <a:schemeClr val="bg1"/>
                </a:solidFill>
                <a:latin typeface="+mj-lt"/>
                <a:ea typeface="楷体" panose="02010609060101010101" pitchFamily="49" charset="-122"/>
              </a:rPr>
              <a:t>位乃至更高位计算环境的合理选择</a:t>
            </a:r>
            <a:endParaRPr lang="en-US" altLang="zh-CN" sz="3600" dirty="0">
              <a:solidFill>
                <a:schemeClr val="bg1"/>
              </a:solidFill>
              <a:latin typeface="+mj-lt"/>
              <a:ea typeface="楷体" panose="02010609060101010101" pitchFamily="49" charset="-122"/>
            </a:endParaRPr>
          </a:p>
        </p:txBody>
      </p:sp>
      <p:sp>
        <p:nvSpPr>
          <p:cNvPr id="34" name="Rectangle 3">
            <a:extLst>
              <a:ext uri="{FF2B5EF4-FFF2-40B4-BE49-F238E27FC236}">
                <a16:creationId xmlns:a16="http://schemas.microsoft.com/office/drawing/2014/main" id="{0F9AD6FF-1069-4F8A-B996-0D85F11C40D1}"/>
              </a:ext>
            </a:extLst>
          </p:cNvPr>
          <p:cNvSpPr txBox="1">
            <a:spLocks noChangeArrowheads="1"/>
          </p:cNvSpPr>
          <p:nvPr/>
        </p:nvSpPr>
        <p:spPr>
          <a:xfrm>
            <a:off x="2715866" y="0"/>
            <a:ext cx="371226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倒置页表</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r>
              <a:rPr lang="en-US" altLang="zh-CN" sz="4000" dirty="0">
                <a:solidFill>
                  <a:srgbClr val="006699"/>
                </a:solidFill>
                <a:effectLst>
                  <a:outerShdw blurRad="38100" dist="38100" dir="2700000" algn="tl">
                    <a:srgbClr val="000000">
                      <a:alpha val="43137"/>
                    </a:srgbClr>
                  </a:outerShdw>
                </a:effectLst>
                <a:ea typeface="MS PGothic" pitchFamily="34" charset="-128"/>
              </a:rPr>
              <a:t>2</a:t>
            </a:r>
            <a:r>
              <a:rPr lang="zh-CN" altLang="en-US" sz="4000" dirty="0">
                <a:solidFill>
                  <a:srgbClr val="006699"/>
                </a:solidFill>
                <a:effectLst>
                  <a:outerShdw blurRad="38100" dist="38100" dir="2700000" algn="tl">
                    <a:srgbClr val="000000">
                      <a:alpha val="43137"/>
                    </a:srgbClr>
                  </a:outerShdw>
                </a:effectLst>
                <a:ea typeface="MS PGothic" pitchFamily="34" charset="-128"/>
              </a:rPr>
              <a:t>）</a:t>
            </a:r>
          </a:p>
          <a:p>
            <a:pPr marL="342900" lvl="1" indent="-342900" algn="ctr" eaLnBrk="1" hangingPunct="1">
              <a:lnSpc>
                <a:spcPct val="110000"/>
              </a:lnSpc>
              <a:buClr>
                <a:schemeClr val="tx2"/>
              </a:buClr>
              <a:buSzPct val="75000"/>
              <a:defRPr/>
            </a:pP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5" name="AutoShape 8">
            <a:hlinkClick r:id="rId3" action="ppaction://hlinksldjump" highlightClick="1"/>
          </p:cNvPr>
          <p:cNvSpPr>
            <a:spLocks noChangeArrowheads="1"/>
          </p:cNvSpPr>
          <p:nvPr/>
        </p:nvSpPr>
        <p:spPr bwMode="auto">
          <a:xfrm>
            <a:off x="8820150" y="6524625"/>
            <a:ext cx="323850" cy="33337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2769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2024/11/20</a:t>
            </a:fld>
            <a:endParaRPr lang="en-US" altLang="zh-CN"/>
          </a:p>
        </p:txBody>
      </p:sp>
      <p:sp>
        <p:nvSpPr>
          <p:cNvPr id="3" name="灯片编号占位符 2"/>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92</a:t>
            </a:fld>
            <a:r>
              <a:rPr lang="zh-CN" altLang="en-US"/>
              <a:t> 页</a:t>
            </a:r>
          </a:p>
        </p:txBody>
      </p:sp>
      <p:sp>
        <p:nvSpPr>
          <p:cNvPr id="4" name="Rectangle 3">
            <a:extLst>
              <a:ext uri="{FF2B5EF4-FFF2-40B4-BE49-F238E27FC236}">
                <a16:creationId xmlns:a16="http://schemas.microsoft.com/office/drawing/2014/main" id="{86CA5F59-5B8C-4992-A2BE-7871F682D012}"/>
              </a:ext>
            </a:extLst>
          </p:cNvPr>
          <p:cNvSpPr txBox="1">
            <a:spLocks noChangeArrowheads="1"/>
          </p:cNvSpPr>
          <p:nvPr/>
        </p:nvSpPr>
        <p:spPr>
          <a:xfrm>
            <a:off x="1044092" y="9330"/>
            <a:ext cx="705069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en-US" altLang="zh-CN"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7.5.5 </a:t>
            </a:r>
            <a:r>
              <a:rPr lang="zh-CN" altLang="en-US" sz="4000" b="1" kern="12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静态页式管理小节</a:t>
            </a:r>
          </a:p>
        </p:txBody>
      </p:sp>
      <p:sp>
        <p:nvSpPr>
          <p:cNvPr id="5" name="Rectangle 3">
            <a:extLst>
              <a:ext uri="{FF2B5EF4-FFF2-40B4-BE49-F238E27FC236}">
                <a16:creationId xmlns:a16="http://schemas.microsoft.com/office/drawing/2014/main" id="{86CA5F59-5B8C-4992-A2BE-7871F682D012}"/>
              </a:ext>
            </a:extLst>
          </p:cNvPr>
          <p:cNvSpPr txBox="1">
            <a:spLocks noChangeArrowheads="1"/>
          </p:cNvSpPr>
          <p:nvPr/>
        </p:nvSpPr>
        <p:spPr>
          <a:xfrm>
            <a:off x="2325393" y="1511424"/>
            <a:ext cx="5328592" cy="576064"/>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静态页式管理优缺点</a:t>
            </a:r>
          </a:p>
        </p:txBody>
      </p:sp>
      <p:sp>
        <p:nvSpPr>
          <p:cNvPr id="6" name="Text Box 5">
            <a:extLst>
              <a:ext uri="{FF2B5EF4-FFF2-40B4-BE49-F238E27FC236}">
                <a16:creationId xmlns:a16="http://schemas.microsoft.com/office/drawing/2014/main" id="{EC05D2AA-C096-4B35-B44E-6707197CDC41}"/>
              </a:ext>
            </a:extLst>
          </p:cNvPr>
          <p:cNvSpPr txBox="1">
            <a:spLocks noChangeArrowheads="1"/>
          </p:cNvSpPr>
          <p:nvPr/>
        </p:nvSpPr>
        <p:spPr bwMode="auto">
          <a:xfrm>
            <a:off x="2308489" y="2637473"/>
            <a:ext cx="5041900" cy="701675"/>
          </a:xfrm>
          <a:prstGeom prst="rect">
            <a:avLst/>
          </a:prstGeom>
          <a:noFill/>
          <a:ln w="9525" algn="ctr">
            <a:noFill/>
            <a:miter lim="800000"/>
            <a:headEnd/>
            <a:tailEnd/>
          </a:ln>
          <a:effectLst/>
        </p:spPr>
        <p:txBody>
          <a:bodyPr>
            <a:spAutoFit/>
          </a:bodyPr>
          <a:lstStyle/>
          <a:p>
            <a:pP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页式与段式的比较</a:t>
            </a:r>
          </a:p>
        </p:txBody>
      </p:sp>
    </p:spTree>
    <p:extLst>
      <p:ext uri="{BB962C8B-B14F-4D97-AF65-F5344CB8AC3E}">
        <p14:creationId xmlns:p14="http://schemas.microsoft.com/office/powerpoint/2010/main" val="42496629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8" name="Rectangle 4"/>
          <p:cNvSpPr>
            <a:spLocks noChangeArrowheads="1"/>
          </p:cNvSpPr>
          <p:nvPr/>
        </p:nvSpPr>
        <p:spPr bwMode="auto">
          <a:xfrm>
            <a:off x="7843" y="1196752"/>
            <a:ext cx="9610726" cy="5111750"/>
          </a:xfrm>
          <a:prstGeom prst="rect">
            <a:avLst/>
          </a:prstGeom>
          <a:noFill/>
          <a:ln w="9525">
            <a:noFill/>
            <a:miter lim="800000"/>
            <a:headEnd/>
            <a:tailEnd/>
          </a:ln>
          <a:effectLst/>
        </p:spPr>
        <p:txBody>
          <a:bodyPr/>
          <a:lstStyle/>
          <a:p>
            <a:pPr marL="355600" lvl="2" indent="-355600" defTabSz="355600">
              <a:lnSpc>
                <a:spcPct val="9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优点</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打破了连续存储空间的限制。</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解决了分区管理时的碎片问题。</a:t>
            </a:r>
          </a:p>
          <a:p>
            <a:pPr marL="355600" lvl="2" indent="-355600" defTabSz="355600">
              <a:lnSpc>
                <a:spcPct val="9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缺点</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进程的大小仍受内存可用页面数的限制。</a:t>
            </a:r>
          </a:p>
          <a:p>
            <a:pPr marL="1270000" lvl="4"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要求进程全部装入内存；</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内碎片：一个进程要浪费半页的存储块。</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Rectangle 3">
            <a:extLst>
              <a:ext uri="{FF2B5EF4-FFF2-40B4-BE49-F238E27FC236}">
                <a16:creationId xmlns:a16="http://schemas.microsoft.com/office/drawing/2014/main" id="{86CA5F59-5B8C-4992-A2BE-7871F682D012}"/>
              </a:ext>
            </a:extLst>
          </p:cNvPr>
          <p:cNvSpPr txBox="1">
            <a:spLocks noChangeArrowheads="1"/>
          </p:cNvSpPr>
          <p:nvPr/>
        </p:nvSpPr>
        <p:spPr>
          <a:xfrm>
            <a:off x="1044092" y="9330"/>
            <a:ext cx="7050698" cy="692150"/>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静态页式管理优缺点</a:t>
            </a:r>
          </a:p>
        </p:txBody>
      </p:sp>
    </p:spTree>
    <p:extLst>
      <p:ext uri="{BB962C8B-B14F-4D97-AF65-F5344CB8AC3E}">
        <p14:creationId xmlns:p14="http://schemas.microsoft.com/office/powerpoint/2010/main" val="32665877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46148">
                                            <p:txEl>
                                              <p:pRg st="1" end="1"/>
                                            </p:txEl>
                                          </p:spTgt>
                                        </p:tgtEl>
                                        <p:attrNameLst>
                                          <p:attrName>style.visibility</p:attrName>
                                        </p:attrNameLst>
                                      </p:cBhvr>
                                      <p:to>
                                        <p:strVal val="visible"/>
                                      </p:to>
                                    </p:set>
                                    <p:animEffect transition="in" filter="checkerboard(across)">
                                      <p:cBhvr>
                                        <p:cTn id="7" dur="500"/>
                                        <p:tgtEl>
                                          <p:spTgt spid="64614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6148">
                                            <p:txEl>
                                              <p:pRg st="2" end="2"/>
                                            </p:txEl>
                                          </p:spTgt>
                                        </p:tgtEl>
                                        <p:attrNameLst>
                                          <p:attrName>style.visibility</p:attrName>
                                        </p:attrNameLst>
                                      </p:cBhvr>
                                      <p:to>
                                        <p:strVal val="visible"/>
                                      </p:to>
                                    </p:set>
                                    <p:animEffect transition="in" filter="blinds(horizontal)">
                                      <p:cBhvr>
                                        <p:cTn id="12" dur="500"/>
                                        <p:tgtEl>
                                          <p:spTgt spid="64614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6148">
                                            <p:txEl>
                                              <p:pRg st="4" end="4"/>
                                            </p:txEl>
                                          </p:spTgt>
                                        </p:tgtEl>
                                        <p:attrNameLst>
                                          <p:attrName>style.visibility</p:attrName>
                                        </p:attrNameLst>
                                      </p:cBhvr>
                                      <p:to>
                                        <p:strVal val="visible"/>
                                      </p:to>
                                    </p:set>
                                    <p:animEffect transition="in" filter="blinds(horizontal)">
                                      <p:cBhvr>
                                        <p:cTn id="17" dur="500"/>
                                        <p:tgtEl>
                                          <p:spTgt spid="646148">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46148">
                                            <p:txEl>
                                              <p:pRg st="5" end="5"/>
                                            </p:txEl>
                                          </p:spTgt>
                                        </p:tgtEl>
                                        <p:attrNameLst>
                                          <p:attrName>style.visibility</p:attrName>
                                        </p:attrNameLst>
                                      </p:cBhvr>
                                      <p:to>
                                        <p:strVal val="visible"/>
                                      </p:to>
                                    </p:set>
                                    <p:animEffect transition="in" filter="blinds(horizontal)">
                                      <p:cBhvr>
                                        <p:cTn id="20" dur="500"/>
                                        <p:tgtEl>
                                          <p:spTgt spid="646148">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46148">
                                            <p:txEl>
                                              <p:pRg st="6" end="6"/>
                                            </p:txEl>
                                          </p:spTgt>
                                        </p:tgtEl>
                                        <p:attrNameLst>
                                          <p:attrName>style.visibility</p:attrName>
                                        </p:attrNameLst>
                                      </p:cBhvr>
                                      <p:to>
                                        <p:strVal val="visible"/>
                                      </p:to>
                                    </p:set>
                                    <p:animEffect transition="in" filter="blinds(horizontal)">
                                      <p:cBhvr>
                                        <p:cTn id="23" dur="500"/>
                                        <p:tgtEl>
                                          <p:spTgt spid="646148">
                                            <p:txEl>
                                              <p:pRg st="6" end="6"/>
                                            </p:txEl>
                                          </p:spTgt>
                                        </p:tgtEl>
                                      </p:cBhvr>
                                    </p:animEffect>
                                  </p:childTnLst>
                                </p:cTn>
                              </p:par>
                            </p:childTnLst>
                          </p:cTn>
                        </p:par>
                        <p:par>
                          <p:cTn id="24" fill="hold">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1+#ppt_w/2"/>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F9938DD3-ABF6-49BE-AAEE-014B2DFF6751}"/>
              </a:ext>
            </a:extLst>
          </p:cNvPr>
          <p:cNvSpPr txBox="1">
            <a:spLocks noChangeArrowheads="1"/>
          </p:cNvSpPr>
          <p:nvPr/>
        </p:nvSpPr>
        <p:spPr bwMode="auto">
          <a:xfrm>
            <a:off x="0" y="590121"/>
            <a:ext cx="9649072" cy="5521512"/>
          </a:xfrm>
          <a:prstGeom prst="rect">
            <a:avLst/>
          </a:prstGeom>
          <a:noFill/>
          <a:ln w="9525" algn="ctr">
            <a:noFill/>
            <a:miter lim="800000"/>
            <a:headEnd/>
            <a:tailEnd/>
          </a:ln>
          <a:effectLst/>
        </p:spPr>
        <p:txBody>
          <a:bodyPr wrap="square">
            <a:spAutoFit/>
          </a:bodyPr>
          <a:lstStyle/>
          <a:p>
            <a:pPr marL="355600" lvl="2" indent="-355600" defTabSz="355600">
              <a:lnSpc>
                <a:spcPct val="9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页式</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用户程序是一维逻辑地址空间；</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页是信息的物理单位；</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分页是系统管理的需要；</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页的大小由系统确定，与内存块的大小相同；</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页面大到能装下整个程序，退化为               。          </a:t>
            </a:r>
          </a:p>
          <a:p>
            <a:pPr marL="355600" lvl="2" indent="-355600" defTabSz="355600">
              <a:lnSpc>
                <a:spcPct val="90000"/>
              </a:lnSpc>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段式</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用户程序是二维的逻辑地址空间</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段是信息的逻辑单位；</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分段基于用户程序结构，段在逻辑上是完整的；</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段长度取决于用户编写的程序，段长不等；</a:t>
            </a:r>
          </a:p>
          <a:p>
            <a:pPr marL="812800" lvl="3" indent="-355600" defTabSz="355600">
              <a:lnSpc>
                <a:spcPct val="90000"/>
              </a:lnSpc>
              <a:buClr>
                <a:schemeClr val="bg2"/>
              </a:buClr>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如果段的个数为</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1</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，退化为                 。</a:t>
            </a:r>
          </a:p>
        </p:txBody>
      </p:sp>
      <p:sp>
        <p:nvSpPr>
          <p:cNvPr id="6" name="Text Box 5">
            <a:extLst>
              <a:ext uri="{FF2B5EF4-FFF2-40B4-BE49-F238E27FC236}">
                <a16:creationId xmlns:a16="http://schemas.microsoft.com/office/drawing/2014/main" id="{EC05D2AA-C096-4B35-B44E-6707197CDC41}"/>
              </a:ext>
            </a:extLst>
          </p:cNvPr>
          <p:cNvSpPr txBox="1">
            <a:spLocks noChangeArrowheads="1"/>
          </p:cNvSpPr>
          <p:nvPr/>
        </p:nvSpPr>
        <p:spPr bwMode="auto">
          <a:xfrm>
            <a:off x="2051050" y="50801"/>
            <a:ext cx="5041900" cy="701675"/>
          </a:xfrm>
          <a:prstGeom prst="rect">
            <a:avLst/>
          </a:prstGeom>
          <a:noFill/>
          <a:ln w="9525" algn="ctr">
            <a:noFill/>
            <a:miter lim="800000"/>
            <a:headEnd/>
            <a:tailEnd/>
          </a:ln>
          <a:effectLst/>
        </p:spPr>
        <p:txBody>
          <a:bodyPr>
            <a:spAutoFit/>
          </a:bodyPr>
          <a:lstStyle/>
          <a:p>
            <a:pPr algn="ctr" eaLnBrk="1" hangingPunct="1">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页式与段式的比较</a:t>
            </a:r>
          </a:p>
        </p:txBody>
      </p:sp>
      <p:sp>
        <p:nvSpPr>
          <p:cNvPr id="7" name="Rectangle 3">
            <a:extLst>
              <a:ext uri="{FF2B5EF4-FFF2-40B4-BE49-F238E27FC236}">
                <a16:creationId xmlns:a16="http://schemas.microsoft.com/office/drawing/2014/main" id="{B25F6231-7A3D-4218-8D6E-E920635FCA10}"/>
              </a:ext>
            </a:extLst>
          </p:cNvPr>
          <p:cNvSpPr>
            <a:spLocks noChangeArrowheads="1"/>
          </p:cNvSpPr>
          <p:nvPr/>
        </p:nvSpPr>
        <p:spPr bwMode="auto">
          <a:xfrm>
            <a:off x="6948264" y="2827002"/>
            <a:ext cx="1689324"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33CC"/>
                </a:solidFill>
              </a:rPr>
              <a:t>固定分区</a:t>
            </a:r>
          </a:p>
        </p:txBody>
      </p:sp>
      <p:sp>
        <p:nvSpPr>
          <p:cNvPr id="8" name="Rectangle 4">
            <a:extLst>
              <a:ext uri="{FF2B5EF4-FFF2-40B4-BE49-F238E27FC236}">
                <a16:creationId xmlns:a16="http://schemas.microsoft.com/office/drawing/2014/main" id="{B59456D2-7A8E-4F05-AB8F-17D7277F4897}"/>
              </a:ext>
            </a:extLst>
          </p:cNvPr>
          <p:cNvSpPr>
            <a:spLocks noChangeArrowheads="1"/>
          </p:cNvSpPr>
          <p:nvPr/>
        </p:nvSpPr>
        <p:spPr bwMode="auto">
          <a:xfrm>
            <a:off x="5724128" y="5532317"/>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33CC"/>
                </a:solidFill>
              </a:rPr>
              <a:t>可变分区</a:t>
            </a:r>
          </a:p>
        </p:txBody>
      </p:sp>
      <p:sp>
        <p:nvSpPr>
          <p:cNvPr id="10" name="AutoShape 8">
            <a:hlinkClick r:id="rId3" action="ppaction://hlinksldjump" highlightClick="1"/>
          </p:cNvPr>
          <p:cNvSpPr>
            <a:spLocks noChangeArrowheads="1"/>
          </p:cNvSpPr>
          <p:nvPr/>
        </p:nvSpPr>
        <p:spPr bwMode="auto">
          <a:xfrm>
            <a:off x="8820150" y="6524625"/>
            <a:ext cx="323850" cy="33337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6678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7" end="7"/>
                                            </p:txEl>
                                          </p:spTgt>
                                        </p:tgtEl>
                                        <p:attrNameLst>
                                          <p:attrName>style.visibility</p:attrName>
                                        </p:attrNameLst>
                                      </p:cBhvr>
                                      <p:to>
                                        <p:strVal val="visible"/>
                                      </p:to>
                                    </p:set>
                                    <p:animEffect transition="in" filter="checkerboard(across)">
                                      <p:cBhvr>
                                        <p:cTn id="12" dur="500"/>
                                        <p:tgtEl>
                                          <p:spTgt spid="5">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checkerboard(across)">
                                      <p:cBhvr>
                                        <p:cTn id="22" dur="500"/>
                                        <p:tgtEl>
                                          <p:spTgt spid="5">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linds(horizont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blinds(horizontal)">
                                      <p:cBhvr>
                                        <p:cTn id="32" dur="500"/>
                                        <p:tgtEl>
                                          <p:spTgt spid="5">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blinds(horizontal)">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blinds(horizontal)">
                                      <p:cBhvr>
                                        <p:cTn id="42" dur="500"/>
                                        <p:tgtEl>
                                          <p:spTgt spid="5">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blinds(horizontal)">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11" end="11"/>
                                            </p:txEl>
                                          </p:spTgt>
                                        </p:tgtEl>
                                        <p:attrNameLst>
                                          <p:attrName>style.visibility</p:attrName>
                                        </p:attrNameLst>
                                      </p:cBhvr>
                                      <p:to>
                                        <p:strVal val="visible"/>
                                      </p:to>
                                    </p:set>
                                    <p:animEffect transition="in" filter="blinds(horizontal)">
                                      <p:cBhvr>
                                        <p:cTn id="52" dur="500"/>
                                        <p:tgtEl>
                                          <p:spTgt spid="5">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 calcmode="lin" valueType="num">
                                      <p:cBhvr additive="base">
                                        <p:cTn id="63" dur="500" fill="hold"/>
                                        <p:tgtEl>
                                          <p:spTgt spid="8"/>
                                        </p:tgtEl>
                                        <p:attrNameLst>
                                          <p:attrName>ppt_x</p:attrName>
                                        </p:attrNameLst>
                                      </p:cBhvr>
                                      <p:tavLst>
                                        <p:tav tm="0">
                                          <p:val>
                                            <p:strVal val="#ppt_x"/>
                                          </p:val>
                                        </p:tav>
                                        <p:tav tm="100000">
                                          <p:val>
                                            <p:strVal val="#ppt_x"/>
                                          </p:val>
                                        </p:tav>
                                      </p:tavLst>
                                    </p:anim>
                                    <p:anim calcmode="lin" valueType="num">
                                      <p:cBhvr additive="base">
                                        <p:cTn id="64" dur="500" fill="hold"/>
                                        <p:tgtEl>
                                          <p:spTgt spid="8"/>
                                        </p:tgtEl>
                                        <p:attrNameLst>
                                          <p:attrName>ppt_y</p:attrName>
                                        </p:attrNameLst>
                                      </p:cBhvr>
                                      <p:tavLst>
                                        <p:tav tm="0">
                                          <p:val>
                                            <p:strVal val="1+#ppt_h/2"/>
                                          </p:val>
                                        </p:tav>
                                        <p:tav tm="100000">
                                          <p:val>
                                            <p:strVal val="#ppt_y"/>
                                          </p:val>
                                        </p:tav>
                                      </p:tavLst>
                                    </p:anim>
                                  </p:childTnLst>
                                </p:cTn>
                              </p:par>
                            </p:childTnLst>
                          </p:cTn>
                        </p:par>
                        <p:par>
                          <p:cTn id="65" fill="hold">
                            <p:stCondLst>
                              <p:cond delay="500"/>
                            </p:stCondLst>
                            <p:childTnLst>
                              <p:par>
                                <p:cTn id="66" presetID="4" presetClass="entr" presetSubtype="16" fill="hold" grpId="0" nodeType="after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box(in)">
                                      <p:cBhvr>
                                        <p:cTn id="6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rId3" action="ppaction://hlinksldjump"/>
            <a:extLst>
              <a:ext uri="{FF2B5EF4-FFF2-40B4-BE49-F238E27FC236}">
                <a16:creationId xmlns:a16="http://schemas.microsoft.com/office/drawing/2014/main" id="{32D81804-1936-4D4D-93C2-4F5288C4EC13}"/>
              </a:ext>
            </a:extLst>
          </p:cNvPr>
          <p:cNvSpPr/>
          <p:nvPr/>
        </p:nvSpPr>
        <p:spPr>
          <a:xfrm>
            <a:off x="2464971" y="0"/>
            <a:ext cx="4214057" cy="90486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7.6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段页式管理</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Rectangle 4">
            <a:extLst>
              <a:ext uri="{FF2B5EF4-FFF2-40B4-BE49-F238E27FC236}">
                <a16:creationId xmlns:a16="http://schemas.microsoft.com/office/drawing/2014/main" id="{3465084E-2738-45E5-B11B-9E611E0998FC}"/>
              </a:ext>
            </a:extLst>
          </p:cNvPr>
          <p:cNvSpPr>
            <a:spLocks noChangeArrowheads="1"/>
          </p:cNvSpPr>
          <p:nvPr/>
        </p:nvSpPr>
        <p:spPr bwMode="auto">
          <a:xfrm>
            <a:off x="0" y="1196975"/>
            <a:ext cx="9144000" cy="266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分页优点：克服碎片，提高内存利用率</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分段优点：方便用户、易于共享、保护、动态链接。</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段页式系统基本思想</a:t>
            </a:r>
          </a:p>
          <a:p>
            <a:pPr marL="812800" lvl="3" indent="-355600" defTabSz="355600">
              <a:lnSpc>
                <a:spcPct val="90000"/>
              </a:lnSpc>
              <a:spcBef>
                <a:spcPct val="0"/>
              </a:spcBef>
              <a:buClr>
                <a:schemeClr val="bg2"/>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结合页式段式优点，克服二者的缺点</a:t>
            </a:r>
          </a:p>
        </p:txBody>
      </p:sp>
      <p:sp>
        <p:nvSpPr>
          <p:cNvPr id="6"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4355976"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计算机系科学与技术系</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2" name="矩形 1"/>
          <p:cNvSpPr/>
          <p:nvPr/>
        </p:nvSpPr>
        <p:spPr>
          <a:xfrm>
            <a:off x="0" y="4832271"/>
            <a:ext cx="9144000" cy="590931"/>
          </a:xfrm>
          <a:prstGeom prst="rect">
            <a:avLst/>
          </a:prstGeom>
          <a:solidFill>
            <a:srgbClr val="FFFF00"/>
          </a:solidFill>
        </p:spPr>
        <p:txBody>
          <a:bodyPr wrap="square">
            <a:spAutoFit/>
          </a:bodyPr>
          <a:lstStyle/>
          <a:p>
            <a:pPr marL="0" lvl="2" algn="ctr" defTabSz="355600">
              <a:lnSpc>
                <a:spcPct val="90000"/>
              </a:lnSpc>
              <a:buClr>
                <a:schemeClr val="bg2"/>
              </a:buClr>
              <a:buSzPct val="70000"/>
              <a:tabLst>
                <a:tab pos="3851275" algn="l"/>
              </a:tabLst>
              <a:defRPr/>
            </a:pPr>
            <a:r>
              <a:rPr lang="zh-CN" altLang="en-US" sz="3600" dirty="0">
                <a:solidFill>
                  <a:schemeClr val="bg2"/>
                </a:solidFill>
                <a:effectLst>
                  <a:outerShdw blurRad="38100" dist="38100" dir="2700000" algn="tl">
                    <a:srgbClr val="000000">
                      <a:alpha val="43137"/>
                    </a:srgbClr>
                  </a:outerShdw>
                </a:effectLst>
                <a:ea typeface="楷体" panose="02010609060101010101" pitchFamily="49" charset="-122"/>
              </a:rPr>
              <a:t>系统开销大，一般只用在大型机、工作站。</a:t>
            </a:r>
            <a:endParaRPr lang="en-US" altLang="zh-CN" sz="3600" dirty="0">
              <a:solidFill>
                <a:schemeClr val="bg2"/>
              </a:solidFill>
              <a:effectLst>
                <a:outerShdw blurRad="38100" dist="38100" dir="2700000" algn="tl">
                  <a:srgbClr val="000000">
                    <a:alpha val="43137"/>
                  </a:srgbClr>
                </a:outerShdw>
              </a:effectLst>
              <a:ea typeface="楷体" panose="02010609060101010101" pitchFamily="49" charset="-122"/>
            </a:endParaRPr>
          </a:p>
        </p:txBody>
      </p:sp>
      <p:sp>
        <p:nvSpPr>
          <p:cNvPr id="3" name="矩形 2"/>
          <p:cNvSpPr/>
          <p:nvPr/>
        </p:nvSpPr>
        <p:spPr>
          <a:xfrm>
            <a:off x="629253" y="5415696"/>
            <a:ext cx="7885492" cy="978729"/>
          </a:xfrm>
          <a:prstGeom prst="rect">
            <a:avLst/>
          </a:prstGeom>
        </p:spPr>
        <p:txBody>
          <a:bodyPr wrap="none">
            <a:spAutoFit/>
          </a:bodyPr>
          <a:lstStyle/>
          <a:p>
            <a:pPr marL="457200" lvl="3" indent="-371475" algn="ctr" defTabSz="355600">
              <a:lnSpc>
                <a:spcPct val="90000"/>
              </a:lnSpc>
              <a:buClr>
                <a:schemeClr val="bg2"/>
              </a:buClr>
              <a:buSzPct val="70000"/>
              <a:tabLst>
                <a:tab pos="3851275" algn="l"/>
              </a:tabLst>
              <a:defRPr/>
            </a:pP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OS:  </a:t>
            </a:r>
            <a:r>
              <a:rPr lang="en-US" altLang="zh-CN" dirty="0" err="1">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Multics</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系统</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457200" lvl="3" indent="-371475" algn="ctr" defTabSz="355600">
              <a:lnSpc>
                <a:spcPct val="90000"/>
              </a:lnSpc>
              <a:buClr>
                <a:schemeClr val="bg2"/>
              </a:buClr>
              <a:buSzPct val="70000"/>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运行在</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Honeywell</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计算机及其后继机型上。</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8" name="文本框 7"/>
          <p:cNvSpPr txBox="1"/>
          <p:nvPr/>
        </p:nvSpPr>
        <p:spPr>
          <a:xfrm>
            <a:off x="1303103" y="4056784"/>
            <a:ext cx="6537792" cy="584775"/>
          </a:xfrm>
          <a:prstGeom prst="rect">
            <a:avLst/>
          </a:prstGeom>
          <a:solidFill>
            <a:srgbClr val="FFFF00"/>
          </a:solidFill>
        </p:spPr>
        <p:txBody>
          <a:bodyPr wrap="square" rtlCol="0">
            <a:spAutoFit/>
          </a:bodyPr>
          <a:lstStyle/>
          <a:p>
            <a:pPr algn="ct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CPU: IA-32 </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支持分页和分段</a:t>
            </a:r>
          </a:p>
        </p:txBody>
      </p:sp>
    </p:spTree>
    <p:extLst>
      <p:ext uri="{BB962C8B-B14F-4D97-AF65-F5344CB8AC3E}">
        <p14:creationId xmlns:p14="http://schemas.microsoft.com/office/powerpoint/2010/main" val="3920202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dissolve">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par>
                          <p:cTn id="32" fill="hold">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1+#ppt_w/2"/>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7" grpId="0" animBg="1"/>
      <p:bldP spid="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D394983-7EFD-4E95-8EA9-3A44CC8ADF33}"/>
              </a:ext>
            </a:extLst>
          </p:cNvPr>
          <p:cNvSpPr txBox="1">
            <a:spLocks noChangeArrowheads="1"/>
          </p:cNvSpPr>
          <p:nvPr/>
        </p:nvSpPr>
        <p:spPr>
          <a:xfrm>
            <a:off x="755576" y="-55562"/>
            <a:ext cx="7416800" cy="8921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cs typeface="+mn-cs"/>
              </a:rPr>
              <a:t>段页式管理的实现原理</a:t>
            </a:r>
          </a:p>
        </p:txBody>
      </p:sp>
      <p:sp>
        <p:nvSpPr>
          <p:cNvPr id="6" name="Rectangle 3">
            <a:extLst>
              <a:ext uri="{FF2B5EF4-FFF2-40B4-BE49-F238E27FC236}">
                <a16:creationId xmlns:a16="http://schemas.microsoft.com/office/drawing/2014/main" id="{6448E0CF-0671-46CA-A2A6-E2DF06908360}"/>
              </a:ext>
            </a:extLst>
          </p:cNvPr>
          <p:cNvSpPr txBox="1">
            <a:spLocks noChangeArrowheads="1"/>
          </p:cNvSpPr>
          <p:nvPr/>
        </p:nvSpPr>
        <p:spPr>
          <a:xfrm>
            <a:off x="611561" y="836613"/>
            <a:ext cx="7776864" cy="547211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en-US" altLang="en-US" sz="3600" dirty="0" err="1">
                <a:solidFill>
                  <a:schemeClr val="bg1"/>
                </a:solidFill>
                <a:latin typeface="+mj-lt"/>
                <a:ea typeface="楷体" panose="02010609060101010101" pitchFamily="49" charset="-122"/>
              </a:rPr>
              <a:t>用户程序划分</a:t>
            </a:r>
            <a:endParaRPr lang="en-US" altLang="en-US" sz="3600" dirty="0">
              <a:solidFill>
                <a:schemeClr val="bg1"/>
              </a:solidFill>
              <a:latin typeface="+mj-lt"/>
              <a:ea typeface="楷体" panose="02010609060101010101" pitchFamily="49" charset="-122"/>
            </a:endParaRPr>
          </a:p>
          <a:p>
            <a:pPr marL="812800" lvl="3" indent="-355600" defTabSz="355600">
              <a:lnSpc>
                <a:spcPct val="90000"/>
              </a:lnSpc>
              <a:spcBef>
                <a:spcPct val="0"/>
              </a:spcBef>
              <a:buClr>
                <a:schemeClr val="bg2"/>
              </a:buClr>
              <a:buSzPct val="80000"/>
              <a:buFont typeface="Wingdings" panose="05000000000000000000" pitchFamily="2" charset="2"/>
              <a:buChar char="n"/>
              <a:tabLst>
                <a:tab pos="3851275" algn="l"/>
              </a:tabLst>
              <a:defRPr/>
            </a:pPr>
            <a:r>
              <a:rPr lang="en-US" altLang="en-US" sz="3200" dirty="0" err="1">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按段式</a:t>
            </a:r>
            <a:endPar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逻辑地址</a:t>
            </a:r>
          </a:p>
          <a:p>
            <a:pPr eaLnBrk="1" hangingPunct="1"/>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eaLnBrk="1" hangingPunct="1"/>
            <a:endPar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内存划分</a:t>
            </a:r>
            <a:r>
              <a:rPr lang="en-US" altLang="zh-CN" sz="3600" dirty="0">
                <a:solidFill>
                  <a:schemeClr val="bg1"/>
                </a:solidFill>
                <a:latin typeface="+mj-lt"/>
                <a:ea typeface="楷体" panose="02010609060101010101" pitchFamily="49" charset="-122"/>
              </a:rPr>
              <a:t>: </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按页式</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1830388" algn="l"/>
                <a:tab pos="2857500" algn="ctr"/>
              </a:tabLst>
              <a:defRPr/>
            </a:pPr>
            <a:r>
              <a:rPr lang="zh-CN" altLang="en-US" sz="3600" dirty="0">
                <a:solidFill>
                  <a:schemeClr val="bg1"/>
                </a:solidFill>
                <a:latin typeface="+mj-lt"/>
                <a:ea typeface="楷体" panose="02010609060101010101" pitchFamily="49" charset="-122"/>
              </a:rPr>
              <a:t>内存分配</a:t>
            </a:r>
            <a:r>
              <a:rPr lang="en-US" altLang="zh-CN" sz="3600" dirty="0">
                <a:solidFill>
                  <a:schemeClr val="bg1"/>
                </a:solidFill>
                <a:latin typeface="+mj-lt"/>
                <a:ea typeface="楷体" panose="02010609060101010101" pitchFamily="49" charset="-122"/>
              </a:rPr>
              <a:t>:</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以页为单位</a:t>
            </a:r>
          </a:p>
        </p:txBody>
      </p:sp>
      <p:pic>
        <p:nvPicPr>
          <p:cNvPr id="7" name="Picture 7">
            <a:extLst>
              <a:ext uri="{FF2B5EF4-FFF2-40B4-BE49-F238E27FC236}">
                <a16:creationId xmlns:a16="http://schemas.microsoft.com/office/drawing/2014/main" id="{74ABBC63-F31F-484F-B2E5-585F57799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2132856"/>
            <a:ext cx="47148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1246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9">
            <a:extLst>
              <a:ext uri="{FF2B5EF4-FFF2-40B4-BE49-F238E27FC236}">
                <a16:creationId xmlns:a16="http://schemas.microsoft.com/office/drawing/2014/main" id="{D522621D-06DC-46D7-A6B9-43DA89395913}"/>
              </a:ext>
            </a:extLst>
          </p:cNvPr>
          <p:cNvGrpSpPr>
            <a:grpSpLocks/>
          </p:cNvGrpSpPr>
          <p:nvPr/>
        </p:nvGrpSpPr>
        <p:grpSpPr bwMode="auto">
          <a:xfrm>
            <a:off x="395536" y="3251059"/>
            <a:ext cx="8212138" cy="3600450"/>
            <a:chOff x="59" y="1932"/>
            <a:chExt cx="5173" cy="2268"/>
          </a:xfrm>
        </p:grpSpPr>
        <p:pic>
          <p:nvPicPr>
            <p:cNvPr id="6" name="Picture 4" descr="e33">
              <a:extLst>
                <a:ext uri="{FF2B5EF4-FFF2-40B4-BE49-F238E27FC236}">
                  <a16:creationId xmlns:a16="http://schemas.microsoft.com/office/drawing/2014/main" id="{C57E09ED-03EA-4A84-B58C-54801E83E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 y="1932"/>
              <a:ext cx="4718" cy="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a:extLst>
                <a:ext uri="{FF2B5EF4-FFF2-40B4-BE49-F238E27FC236}">
                  <a16:creationId xmlns:a16="http://schemas.microsoft.com/office/drawing/2014/main" id="{4E64A69F-16F8-48F7-9A52-3A7889966F92}"/>
                </a:ext>
              </a:extLst>
            </p:cNvPr>
            <p:cNvSpPr>
              <a:spLocks noChangeArrowheads="1"/>
            </p:cNvSpPr>
            <p:nvPr/>
          </p:nvSpPr>
          <p:spPr bwMode="auto">
            <a:xfrm>
              <a:off x="59" y="3702"/>
              <a:ext cx="32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None/>
              </a:pPr>
              <a:r>
                <a:rPr lang="zh-CN" altLang="en-US" sz="2000" dirty="0">
                  <a:solidFill>
                    <a:schemeClr val="bg2"/>
                  </a:solidFill>
                </a:rPr>
                <a:t>图  </a:t>
              </a:r>
              <a:r>
                <a:rPr lang="en-US" altLang="zh-CN" sz="2000" dirty="0">
                  <a:solidFill>
                    <a:schemeClr val="bg2"/>
                  </a:solidFill>
                </a:rPr>
                <a:t> </a:t>
              </a:r>
              <a:r>
                <a:rPr lang="zh-CN" altLang="en-US" sz="2000" dirty="0">
                  <a:solidFill>
                    <a:schemeClr val="bg2"/>
                  </a:solidFill>
                </a:rPr>
                <a:t>段页式管理中段表、页表与内存的关系 </a:t>
              </a:r>
            </a:p>
          </p:txBody>
        </p:sp>
      </p:grpSp>
      <p:sp>
        <p:nvSpPr>
          <p:cNvPr id="8" name="Text Box 6">
            <a:extLst>
              <a:ext uri="{FF2B5EF4-FFF2-40B4-BE49-F238E27FC236}">
                <a16:creationId xmlns:a16="http://schemas.microsoft.com/office/drawing/2014/main" id="{9695AB4F-85A1-451D-B0BA-085E11C0B686}"/>
              </a:ext>
            </a:extLst>
          </p:cNvPr>
          <p:cNvSpPr txBox="1">
            <a:spLocks noChangeArrowheads="1"/>
          </p:cNvSpPr>
          <p:nvPr/>
        </p:nvSpPr>
        <p:spPr bwMode="auto">
          <a:xfrm>
            <a:off x="0" y="620713"/>
            <a:ext cx="8748464" cy="2363724"/>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tabLst>
                <a:tab pos="1614488"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段表：</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每个进程一个，记录每段的页表始址和 </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页表长度</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tabLst>
                <a:tab pos="1614488" algn="l"/>
                <a:tab pos="3851275"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页表：</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每段一个，记录逻辑页号与内存块号的</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对应关系</a:t>
            </a:r>
          </a:p>
          <a:p>
            <a:pPr marL="355600" lvl="2" indent="-355600" defTabSz="355600">
              <a:lnSpc>
                <a:spcPct val="90000"/>
              </a:lnSpc>
              <a:spcBef>
                <a:spcPct val="0"/>
              </a:spcBef>
              <a:buClr>
                <a:schemeClr val="bg1">
                  <a:lumMod val="75000"/>
                </a:schemeClr>
              </a:buClr>
              <a:buSzPct val="80000"/>
              <a:buFont typeface="Wingdings" panose="05000000000000000000" pitchFamily="2" charset="2"/>
              <a:buChar char="n"/>
              <a:tabLst>
                <a:tab pos="1830388" algn="l"/>
                <a:tab pos="2857500" algn="ctr"/>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段表地址寄存器</a:t>
            </a:r>
          </a:p>
        </p:txBody>
      </p:sp>
      <p:sp>
        <p:nvSpPr>
          <p:cNvPr id="9" name="Rectangle 8">
            <a:extLst>
              <a:ext uri="{FF2B5EF4-FFF2-40B4-BE49-F238E27FC236}">
                <a16:creationId xmlns:a16="http://schemas.microsoft.com/office/drawing/2014/main" id="{F62E0355-D447-4F7F-A8A7-1FEC9428A98D}"/>
              </a:ext>
            </a:extLst>
          </p:cNvPr>
          <p:cNvSpPr>
            <a:spLocks noChangeArrowheads="1"/>
          </p:cNvSpPr>
          <p:nvPr/>
        </p:nvSpPr>
        <p:spPr bwMode="auto">
          <a:xfrm>
            <a:off x="2051645" y="-15736"/>
            <a:ext cx="5040710" cy="707886"/>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段页式地址变换机构</a:t>
            </a: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17631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2000"/>
                                        <p:tgtEl>
                                          <p:spTgt spid="5"/>
                                        </p:tgtEl>
                                      </p:cBhvr>
                                    </p:animEffect>
                                  </p:childTnLst>
                                </p:cTn>
                              </p:par>
                            </p:childTnLst>
                          </p:cTn>
                        </p:par>
                        <p:par>
                          <p:cTn id="8" fill="hold">
                            <p:stCondLst>
                              <p:cond delay="2000"/>
                            </p:stCondLst>
                            <p:childTnLst>
                              <p:par>
                                <p:cTn id="9" presetID="2" presetClass="entr" presetSubtype="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3295D305-5E4C-429C-8A7C-93E0BB3E40B8}"/>
              </a:ext>
            </a:extLst>
          </p:cNvPr>
          <p:cNvSpPr>
            <a:spLocks noChangeArrowheads="1"/>
          </p:cNvSpPr>
          <p:nvPr/>
        </p:nvSpPr>
        <p:spPr bwMode="auto">
          <a:xfrm>
            <a:off x="2051993" y="24791"/>
            <a:ext cx="5040014" cy="707886"/>
          </a:xfrm>
          <a:prstGeom prst="rect">
            <a:avLst/>
          </a:prstGeom>
          <a:noFill/>
          <a:ln w="12700" cap="sq">
            <a:noFill/>
            <a:miter lim="800000"/>
            <a:headEnd type="none" w="sm" len="sm"/>
            <a:tailEnd type="none" w="sm" len="sm"/>
          </a:ln>
          <a:effectLst/>
        </p:spPr>
        <p:txBody>
          <a:bodyPr wrap="square">
            <a:spAutoFit/>
          </a:bodyPr>
          <a:lstStyle/>
          <a:p>
            <a:pPr eaLnBrk="1" hangingPunct="1">
              <a:defRPr/>
            </a:pPr>
            <a:r>
              <a:rPr lang="zh-CN" altLang="en-US" sz="4000" dirty="0">
                <a:solidFill>
                  <a:srgbClr val="B2622C"/>
                </a:solidFill>
                <a:effectLst>
                  <a:outerShdw blurRad="38100" dist="38100" dir="2700000" algn="tl">
                    <a:srgbClr val="000000"/>
                  </a:outerShdw>
                </a:effectLst>
                <a:latin typeface="Times New Roman" panose="02020603050405020304" pitchFamily="18" charset="0"/>
                <a:ea typeface="楷体_GB2312" pitchFamily="49" charset="-122"/>
              </a:rPr>
              <a:t>段页式地址变换过程</a:t>
            </a:r>
          </a:p>
        </p:txBody>
      </p:sp>
      <p:pic>
        <p:nvPicPr>
          <p:cNvPr id="8" name="Picture 10" descr="图5">
            <a:extLst>
              <a:ext uri="{FF2B5EF4-FFF2-40B4-BE49-F238E27FC236}">
                <a16:creationId xmlns:a16="http://schemas.microsoft.com/office/drawing/2014/main" id="{F0734F62-CAE7-494C-9DC2-1C74718F7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620713"/>
            <a:ext cx="8559800" cy="348615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pic>
      <p:sp>
        <p:nvSpPr>
          <p:cNvPr id="10" name="Line 12">
            <a:extLst>
              <a:ext uri="{FF2B5EF4-FFF2-40B4-BE49-F238E27FC236}">
                <a16:creationId xmlns:a16="http://schemas.microsoft.com/office/drawing/2014/main" id="{E299EDBA-A127-47E4-9CFA-D544A43A1D26}"/>
              </a:ext>
            </a:extLst>
          </p:cNvPr>
          <p:cNvSpPr>
            <a:spLocks noChangeShapeType="1"/>
          </p:cNvSpPr>
          <p:nvPr/>
        </p:nvSpPr>
        <p:spPr bwMode="auto">
          <a:xfrm flipH="1">
            <a:off x="1876425" y="1763713"/>
            <a:ext cx="1676400" cy="1447800"/>
          </a:xfrm>
          <a:prstGeom prst="line">
            <a:avLst/>
          </a:prstGeom>
          <a:noFill/>
          <a:ln w="19050">
            <a:solidFill>
              <a:schemeClr val="bg2"/>
            </a:solidFill>
            <a:round/>
            <a:headEnd/>
            <a:tailEnd type="triangle" w="lg" len="lg"/>
          </a:ln>
          <a:extLst>
            <a:ext uri="{909E8E84-426E-40DD-AFC4-6F175D3DCCD1}">
              <a14:hiddenFill xmlns:a14="http://schemas.microsoft.com/office/drawing/2010/main">
                <a:noFill/>
              </a14:hiddenFill>
            </a:ext>
          </a:extLst>
        </p:spPr>
        <p:txBody>
          <a:bodyPr wrap="none" anchor="ctr">
            <a:spAutoFit/>
          </a:bodyPr>
          <a:lstStyle/>
          <a:p>
            <a:endParaRPr lang="zh-CN" altLang="en-US">
              <a:solidFill>
                <a:schemeClr val="bg2"/>
              </a:solidFill>
            </a:endParaRPr>
          </a:p>
        </p:txBody>
      </p:sp>
      <p:sp>
        <p:nvSpPr>
          <p:cNvPr id="11" name="Oval 13">
            <a:extLst>
              <a:ext uri="{FF2B5EF4-FFF2-40B4-BE49-F238E27FC236}">
                <a16:creationId xmlns:a16="http://schemas.microsoft.com/office/drawing/2014/main" id="{837FE5EA-E1D3-4239-82F2-82A6B1149AD8}"/>
              </a:ext>
            </a:extLst>
          </p:cNvPr>
          <p:cNvSpPr>
            <a:spLocks noChangeArrowheads="1"/>
          </p:cNvSpPr>
          <p:nvPr/>
        </p:nvSpPr>
        <p:spPr bwMode="auto">
          <a:xfrm>
            <a:off x="8124825" y="2051100"/>
            <a:ext cx="3048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1</a:t>
            </a:r>
          </a:p>
        </p:txBody>
      </p:sp>
      <p:sp>
        <p:nvSpPr>
          <p:cNvPr id="12" name="Oval 14">
            <a:extLst>
              <a:ext uri="{FF2B5EF4-FFF2-40B4-BE49-F238E27FC236}">
                <a16:creationId xmlns:a16="http://schemas.microsoft.com/office/drawing/2014/main" id="{ECAA7905-526D-4A93-97A5-670DE1651BC7}"/>
              </a:ext>
            </a:extLst>
          </p:cNvPr>
          <p:cNvSpPr>
            <a:spLocks noChangeArrowheads="1"/>
          </p:cNvSpPr>
          <p:nvPr/>
        </p:nvSpPr>
        <p:spPr bwMode="auto">
          <a:xfrm>
            <a:off x="2790825" y="18225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3</a:t>
            </a:r>
          </a:p>
        </p:txBody>
      </p:sp>
      <p:sp>
        <p:nvSpPr>
          <p:cNvPr id="13" name="Oval 15">
            <a:extLst>
              <a:ext uri="{FF2B5EF4-FFF2-40B4-BE49-F238E27FC236}">
                <a16:creationId xmlns:a16="http://schemas.microsoft.com/office/drawing/2014/main" id="{E55304AE-3FA8-43AF-BB84-39D9996684D8}"/>
              </a:ext>
            </a:extLst>
          </p:cNvPr>
          <p:cNvSpPr>
            <a:spLocks noChangeArrowheads="1"/>
          </p:cNvSpPr>
          <p:nvPr/>
        </p:nvSpPr>
        <p:spPr bwMode="auto">
          <a:xfrm>
            <a:off x="1038225" y="22416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2</a:t>
            </a:r>
          </a:p>
        </p:txBody>
      </p:sp>
      <p:sp>
        <p:nvSpPr>
          <p:cNvPr id="14" name="Oval 16">
            <a:extLst>
              <a:ext uri="{FF2B5EF4-FFF2-40B4-BE49-F238E27FC236}">
                <a16:creationId xmlns:a16="http://schemas.microsoft.com/office/drawing/2014/main" id="{9F698A2F-6F95-4E22-80F4-E3AEC06F7983}"/>
              </a:ext>
            </a:extLst>
          </p:cNvPr>
          <p:cNvSpPr>
            <a:spLocks noChangeArrowheads="1"/>
          </p:cNvSpPr>
          <p:nvPr/>
        </p:nvSpPr>
        <p:spPr bwMode="auto">
          <a:xfrm>
            <a:off x="2867025" y="28893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3</a:t>
            </a:r>
          </a:p>
        </p:txBody>
      </p:sp>
      <p:sp>
        <p:nvSpPr>
          <p:cNvPr id="15" name="Oval 17">
            <a:extLst>
              <a:ext uri="{FF2B5EF4-FFF2-40B4-BE49-F238E27FC236}">
                <a16:creationId xmlns:a16="http://schemas.microsoft.com/office/drawing/2014/main" id="{C7DC7739-38A0-4CDA-BC61-40DD5BF8D5CB}"/>
              </a:ext>
            </a:extLst>
          </p:cNvPr>
          <p:cNvSpPr>
            <a:spLocks noChangeArrowheads="1"/>
          </p:cNvSpPr>
          <p:nvPr/>
        </p:nvSpPr>
        <p:spPr bwMode="auto">
          <a:xfrm>
            <a:off x="3476625" y="19749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4</a:t>
            </a:r>
          </a:p>
        </p:txBody>
      </p:sp>
      <p:sp>
        <p:nvSpPr>
          <p:cNvPr id="16" name="Oval 18">
            <a:extLst>
              <a:ext uri="{FF2B5EF4-FFF2-40B4-BE49-F238E27FC236}">
                <a16:creationId xmlns:a16="http://schemas.microsoft.com/office/drawing/2014/main" id="{F7757CA4-00BA-47B1-B9E0-C5F2BF799A34}"/>
              </a:ext>
            </a:extLst>
          </p:cNvPr>
          <p:cNvSpPr>
            <a:spLocks noChangeArrowheads="1"/>
          </p:cNvSpPr>
          <p:nvPr/>
        </p:nvSpPr>
        <p:spPr bwMode="auto">
          <a:xfrm>
            <a:off x="5610225" y="17463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dirty="0">
                <a:solidFill>
                  <a:schemeClr val="bg2"/>
                </a:solidFill>
              </a:rPr>
              <a:t>5</a:t>
            </a:r>
          </a:p>
        </p:txBody>
      </p:sp>
      <p:sp>
        <p:nvSpPr>
          <p:cNvPr id="17" name="Oval 19">
            <a:extLst>
              <a:ext uri="{FF2B5EF4-FFF2-40B4-BE49-F238E27FC236}">
                <a16:creationId xmlns:a16="http://schemas.microsoft.com/office/drawing/2014/main" id="{6CE790EE-4D7C-4495-A3C4-5594138A106A}"/>
              </a:ext>
            </a:extLst>
          </p:cNvPr>
          <p:cNvSpPr>
            <a:spLocks noChangeArrowheads="1"/>
          </p:cNvSpPr>
          <p:nvPr/>
        </p:nvSpPr>
        <p:spPr bwMode="auto">
          <a:xfrm>
            <a:off x="5534025" y="32703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5</a:t>
            </a:r>
          </a:p>
        </p:txBody>
      </p:sp>
      <p:sp>
        <p:nvSpPr>
          <p:cNvPr id="18" name="Oval 20">
            <a:extLst>
              <a:ext uri="{FF2B5EF4-FFF2-40B4-BE49-F238E27FC236}">
                <a16:creationId xmlns:a16="http://schemas.microsoft.com/office/drawing/2014/main" id="{0744D868-5BA2-4229-A905-8A070311565C}"/>
              </a:ext>
            </a:extLst>
          </p:cNvPr>
          <p:cNvSpPr>
            <a:spLocks noChangeArrowheads="1"/>
          </p:cNvSpPr>
          <p:nvPr/>
        </p:nvSpPr>
        <p:spPr bwMode="auto">
          <a:xfrm>
            <a:off x="6524625" y="3270300"/>
            <a:ext cx="381000" cy="6491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b="0">
                <a:solidFill>
                  <a:schemeClr val="bg2"/>
                </a:solidFill>
              </a:rPr>
              <a:t>6</a:t>
            </a:r>
          </a:p>
        </p:txBody>
      </p:sp>
      <p:sp>
        <p:nvSpPr>
          <p:cNvPr id="7" name="Text Box 8">
            <a:extLst>
              <a:ext uri="{FF2B5EF4-FFF2-40B4-BE49-F238E27FC236}">
                <a16:creationId xmlns:a16="http://schemas.microsoft.com/office/drawing/2014/main" id="{86DE5414-8266-4A65-A426-B2424AFF87DA}"/>
              </a:ext>
            </a:extLst>
          </p:cNvPr>
          <p:cNvSpPr txBox="1">
            <a:spLocks noChangeArrowheads="1"/>
          </p:cNvSpPr>
          <p:nvPr/>
        </p:nvSpPr>
        <p:spPr bwMode="auto">
          <a:xfrm>
            <a:off x="-52726" y="4286061"/>
            <a:ext cx="9179037" cy="2554545"/>
          </a:xfrm>
          <a:prstGeom prst="rect">
            <a:avLst/>
          </a:prstGeom>
          <a:solidFill>
            <a:schemeClr val="tx1">
              <a:lumMod val="95000"/>
            </a:schemeClr>
          </a:solidFill>
          <a:ln w="12700" cap="sq">
            <a:noFill/>
            <a:miter lim="800000"/>
            <a:headEnd type="none" w="sm" len="sm"/>
            <a:tailEnd type="none" w="sm" len="sm"/>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不考虑快表，获取一条指令或数据，需</a:t>
            </a:r>
            <a:r>
              <a:rPr lang="en-US" altLang="zh-CN" dirty="0">
                <a:solidFill>
                  <a:schemeClr val="bg1"/>
                </a:solidFill>
                <a:effectLst>
                  <a:outerShdw blurRad="38100" dist="38100" dir="2700000" algn="tl">
                    <a:srgbClr val="000000"/>
                  </a:outerShdw>
                </a:effectLst>
                <a:latin typeface="+mj-lt"/>
                <a:ea typeface="楷体" panose="02010609060101010101" pitchFamily="49" charset="-122"/>
              </a:rPr>
              <a:t>3</a:t>
            </a:r>
            <a:r>
              <a:rPr lang="zh-CN" altLang="en-US">
                <a:solidFill>
                  <a:schemeClr val="bg1"/>
                </a:solidFill>
                <a:effectLst>
                  <a:outerShdw blurRad="38100" dist="38100" dir="2700000" algn="tl">
                    <a:srgbClr val="000000"/>
                  </a:outerShdw>
                </a:effectLst>
                <a:latin typeface="+mj-lt"/>
                <a:ea typeface="楷体" panose="02010609060101010101" pitchFamily="49" charset="-122"/>
              </a:rPr>
              <a:t>次访内存</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a:t>
            </a:r>
          </a:p>
          <a:p>
            <a:pPr eaLnBrk="1" hangingPunct="1">
              <a:spcBef>
                <a:spcPct val="0"/>
              </a:spcBef>
              <a:buClrTx/>
              <a:buSzTx/>
              <a:buFontTx/>
              <a:buNone/>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第</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1</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次：访问内存中的段表，取得页表始址</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a:t>
            </a:r>
            <a:endParaRPr lang="zh-CN" altLang="en-US" dirty="0">
              <a:solidFill>
                <a:schemeClr val="bg2"/>
              </a:solidFill>
              <a:effectLst>
                <a:outerShdw blurRad="38100" dist="38100" dir="2700000" algn="tl">
                  <a:srgbClr val="000000"/>
                </a:outerShdw>
              </a:effectLst>
              <a:latin typeface="+mj-lt"/>
              <a:ea typeface="楷体" panose="02010609060101010101" pitchFamily="49" charset="-122"/>
            </a:endParaRPr>
          </a:p>
          <a:p>
            <a:pPr eaLnBrk="1" hangingPunct="1">
              <a:spcBef>
                <a:spcPct val="0"/>
              </a:spcBef>
              <a:buClrTx/>
              <a:buSzTx/>
              <a:buFontTx/>
              <a:buNone/>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第</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2</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次：访问内存中的页表，取得物理块号，</a:t>
            </a:r>
            <a:endParaRPr lang="en-US" altLang="zh-CN" dirty="0">
              <a:solidFill>
                <a:schemeClr val="bg2"/>
              </a:solidFill>
              <a:effectLst>
                <a:outerShdw blurRad="38100" dist="38100" dir="2700000" algn="tl">
                  <a:srgbClr val="000000"/>
                </a:outerShdw>
              </a:effectLst>
              <a:latin typeface="+mj-lt"/>
              <a:ea typeface="楷体" panose="02010609060101010101" pitchFamily="49" charset="-122"/>
            </a:endParaRPr>
          </a:p>
          <a:p>
            <a:pPr eaLnBrk="1" hangingPunct="1">
              <a:spcBef>
                <a:spcPct val="0"/>
              </a:spcBef>
              <a:buClrTx/>
              <a:buSzTx/>
              <a:buFontTx/>
              <a:buNone/>
            </a:pP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并将块号与页内地址一起形成物理地址；</a:t>
            </a:r>
          </a:p>
          <a:p>
            <a:pPr eaLnBrk="1" hangingPunct="1">
              <a:spcBef>
                <a:spcPct val="0"/>
              </a:spcBef>
              <a:buClrTx/>
              <a:buSzTx/>
              <a:buFontTx/>
              <a:buNone/>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第</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3</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次：访问物理地址，取得指令或数据。</a:t>
            </a:r>
          </a:p>
        </p:txBody>
      </p:sp>
      <p:sp>
        <p:nvSpPr>
          <p:cNvPr id="5" name="Rectangle 5">
            <a:extLst>
              <a:ext uri="{FF2B5EF4-FFF2-40B4-BE49-F238E27FC236}">
                <a16:creationId xmlns:a16="http://schemas.microsoft.com/office/drawing/2014/main" id="{D9626D0F-F283-46C1-8571-8E3F7A379B6D}"/>
              </a:ext>
            </a:extLst>
          </p:cNvPr>
          <p:cNvSpPr>
            <a:spLocks noChangeArrowheads="1"/>
          </p:cNvSpPr>
          <p:nvPr/>
        </p:nvSpPr>
        <p:spPr bwMode="auto">
          <a:xfrm>
            <a:off x="2538413" y="3900523"/>
            <a:ext cx="4176712"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600" dirty="0">
                <a:solidFill>
                  <a:schemeClr val="bg2"/>
                </a:solidFill>
              </a:rPr>
              <a:t>图 </a:t>
            </a:r>
            <a:r>
              <a:rPr lang="en-US" altLang="zh-CN" sz="1600" dirty="0">
                <a:solidFill>
                  <a:schemeClr val="bg2"/>
                </a:solidFill>
              </a:rPr>
              <a:t> </a:t>
            </a:r>
            <a:r>
              <a:rPr lang="zh-CN" altLang="en-US" sz="1600" dirty="0">
                <a:solidFill>
                  <a:schemeClr val="bg2"/>
                </a:solidFill>
              </a:rPr>
              <a:t>段页式地址变换 </a:t>
            </a:r>
          </a:p>
        </p:txBody>
      </p:sp>
      <p:sp>
        <p:nvSpPr>
          <p:cNvPr id="21" name="AutoShape 7">
            <a:hlinkClick r:id="rId4"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90601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7">
                                            <p:bg/>
                                          </p:spTgt>
                                        </p:tgtEl>
                                        <p:attrNameLst>
                                          <p:attrName>style.visibility</p:attrName>
                                        </p:attrNameLst>
                                      </p:cBhvr>
                                      <p:to>
                                        <p:strVal val="visible"/>
                                      </p:to>
                                    </p:set>
                                    <p:animEffect transition="in" filter="dissolve">
                                      <p:cBhvr>
                                        <p:cTn id="51" dur="500"/>
                                        <p:tgtEl>
                                          <p:spTgt spid="7">
                                            <p:bg/>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7">
                                            <p:txEl>
                                              <p:pRg st="0" end="0"/>
                                            </p:txEl>
                                          </p:spTgt>
                                        </p:tgtEl>
                                        <p:attrNameLst>
                                          <p:attrName>style.visibility</p:attrName>
                                        </p:attrNameLst>
                                      </p:cBhvr>
                                      <p:to>
                                        <p:strVal val="visible"/>
                                      </p:to>
                                    </p:set>
                                    <p:animEffect transition="in" filter="dissolve">
                                      <p:cBhvr>
                                        <p:cTn id="56" dur="500"/>
                                        <p:tgtEl>
                                          <p:spTgt spid="7">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7">
                                            <p:txEl>
                                              <p:pRg st="1" end="1"/>
                                            </p:txEl>
                                          </p:spTgt>
                                        </p:tgtEl>
                                        <p:attrNameLst>
                                          <p:attrName>style.visibility</p:attrName>
                                        </p:attrNameLst>
                                      </p:cBhvr>
                                      <p:to>
                                        <p:strVal val="visible"/>
                                      </p:to>
                                    </p:set>
                                    <p:animEffect transition="in" filter="dissolve">
                                      <p:cBhvr>
                                        <p:cTn id="61" dur="500"/>
                                        <p:tgtEl>
                                          <p:spTgt spid="7">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7">
                                            <p:txEl>
                                              <p:pRg st="2" end="2"/>
                                            </p:txEl>
                                          </p:spTgt>
                                        </p:tgtEl>
                                        <p:attrNameLst>
                                          <p:attrName>style.visibility</p:attrName>
                                        </p:attrNameLst>
                                      </p:cBhvr>
                                      <p:to>
                                        <p:strVal val="visible"/>
                                      </p:to>
                                    </p:set>
                                    <p:animEffect transition="in" filter="dissolve">
                                      <p:cBhvr>
                                        <p:cTn id="66" dur="500"/>
                                        <p:tgtEl>
                                          <p:spTgt spid="7">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dissolve">
                                      <p:cBhvr>
                                        <p:cTn id="71" dur="500"/>
                                        <p:tgtEl>
                                          <p:spTgt spid="7">
                                            <p:txEl>
                                              <p:pRg st="3" end="3"/>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7">
                                            <p:txEl>
                                              <p:pRg st="4" end="4"/>
                                            </p:txEl>
                                          </p:spTgt>
                                        </p:tgtEl>
                                        <p:attrNameLst>
                                          <p:attrName>style.visibility</p:attrName>
                                        </p:attrNameLst>
                                      </p:cBhvr>
                                      <p:to>
                                        <p:strVal val="visible"/>
                                      </p:to>
                                    </p:set>
                                    <p:animEffect transition="in" filter="dissolve">
                                      <p:cBhvr>
                                        <p:cTn id="76" dur="500"/>
                                        <p:tgtEl>
                                          <p:spTgt spid="7">
                                            <p:txEl>
                                              <p:pRg st="4" end="4"/>
                                            </p:txEl>
                                          </p:spTgt>
                                        </p:tgtEl>
                                      </p:cBhvr>
                                    </p:animEffect>
                                  </p:childTnLst>
                                </p:cTn>
                              </p:par>
                            </p:childTnLst>
                          </p:cTn>
                        </p:par>
                        <p:par>
                          <p:cTn id="77" fill="hold">
                            <p:stCondLst>
                              <p:cond delay="500"/>
                            </p:stCondLst>
                            <p:childTnLst>
                              <p:par>
                                <p:cTn id="78" presetID="2" presetClass="entr" presetSubtype="8" fill="hold" grpId="0" nodeType="after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ppt_x</p:attrName>
                                        </p:attrNameLst>
                                      </p:cBhvr>
                                      <p:tavLst>
                                        <p:tav tm="0">
                                          <p:val>
                                            <p:strVal val="0-#ppt_w/2"/>
                                          </p:val>
                                        </p:tav>
                                        <p:tav tm="100000">
                                          <p:val>
                                            <p:strVal val="#ppt_x"/>
                                          </p:val>
                                        </p:tav>
                                      </p:tavLst>
                                    </p:anim>
                                    <p:anim calcmode="lin" valueType="num">
                                      <p:cBhvr additive="base">
                                        <p:cTn id="81"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7" grpId="0" build="p" animBg="1"/>
      <p:bldP spid="21" grpId="0" animBg="1"/>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556088</TotalTime>
  <Words>6093</Words>
  <Application>Microsoft Office PowerPoint</Application>
  <PresentationFormat>全屏显示(4:3)</PresentationFormat>
  <Paragraphs>972</Paragraphs>
  <Slides>98</Slides>
  <Notes>52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98</vt:i4>
      </vt:variant>
    </vt:vector>
  </HeadingPairs>
  <TitlesOfParts>
    <vt:vector size="116" baseType="lpstr">
      <vt:lpstr>Arial Unicode MS</vt:lpstr>
      <vt:lpstr>Malgun Gothic</vt:lpstr>
      <vt:lpstr>Monotype Sorts</vt:lpstr>
      <vt:lpstr>MS PGothic</vt:lpstr>
      <vt:lpstr>黑体</vt:lpstr>
      <vt:lpstr>楷体</vt:lpstr>
      <vt:lpstr>楷体_GB2312</vt:lpstr>
      <vt:lpstr>隶书</vt:lpstr>
      <vt:lpstr>宋体</vt:lpstr>
      <vt:lpstr>Arial</vt:lpstr>
      <vt:lpstr>Calibri</vt:lpstr>
      <vt:lpstr>Comic Sans MS</vt:lpstr>
      <vt:lpstr>Symbol</vt:lpstr>
      <vt:lpstr>Tahoma</vt:lpstr>
      <vt:lpstr>Times New Roman</vt:lpstr>
      <vt:lpstr>Wingdings</vt:lpstr>
      <vt:lpstr>Azure</vt:lpstr>
      <vt:lpstr>VISIO</vt:lpstr>
      <vt:lpstr>第 7 章  内  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交换方式（交换调度，标准交换）</vt:lpstr>
      <vt:lpstr>PowerPoint 演示文稿</vt:lpstr>
      <vt:lpstr>请求调入和预调入</vt:lpstr>
      <vt:lpstr>PowerPoint 演示文稿</vt:lpstr>
      <vt:lpstr>PowerPoint 演示文稿</vt:lpstr>
      <vt:lpstr>PowerPoint 演示文稿</vt:lpstr>
      <vt:lpstr>PowerPoint 演示文稿</vt:lpstr>
      <vt:lpstr>固定分区的性能分析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212KB、417KB、112KB和426KB的作业？</vt:lpstr>
      <vt:lpstr>212KB、417KB、112KB和426KB的作业？</vt:lpstr>
      <vt:lpstr>212KB、417KB、112KB和426KB的作业？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7.5.1 页式管理的基本原理（1）</vt:lpstr>
      <vt:lpstr>7.5.1 页式管理的基本原理（2）</vt:lpstr>
      <vt:lpstr>PowerPoint 演示文稿</vt:lpstr>
      <vt:lpstr>PowerPoint 演示文稿</vt:lpstr>
      <vt:lpstr>PowerPoint 演示文稿</vt:lpstr>
      <vt:lpstr>PowerPoint 演示文稿</vt:lpstr>
      <vt:lpstr>7.5.2 页式管理的数据结构</vt:lpstr>
      <vt:lpstr>PowerPoint 演示文稿</vt:lpstr>
      <vt:lpstr>PowerPoint 演示文稿</vt:lpstr>
      <vt:lpstr>PowerPoint 演示文稿</vt:lpstr>
      <vt:lpstr>PowerPoint 演示文稿</vt:lpstr>
      <vt:lpstr>PowerPoint 演示文稿</vt:lpstr>
      <vt:lpstr>请 求 表</vt:lpstr>
      <vt:lpstr>PowerPoint 演示文稿</vt:lpstr>
      <vt:lpstr>[例7]某系统采用页式存储管理，用位图管理空闲页框。若页大小为 4KB，物理内存大小为16GB，则位图所占空间的大小是（ ）。 （2023 ）  A. 128B           B. 128KB           C. 512KB           D. 4MB </vt:lpstr>
      <vt:lpstr>PowerPoint 演示文稿</vt:lpstr>
      <vt:lpstr>PowerPoint 演示文稿</vt:lpstr>
      <vt:lpstr>PowerPoint 演示文稿</vt:lpstr>
      <vt:lpstr>PowerPoint 演示文稿</vt:lpstr>
      <vt:lpstr>页式地址映射示例（1） </vt:lpstr>
      <vt:lpstr>地址计算方法 </vt:lpstr>
      <vt:lpstr>页式地址映射示例（2）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操作下</dc:title>
  <dc:subject>第7章</dc:subject>
  <dc:creator>史一民</dc:creator>
  <cp:keywords/>
  <cp:lastModifiedBy>Zetian Mi</cp:lastModifiedBy>
  <cp:revision>3107</cp:revision>
  <dcterms:created xsi:type="dcterms:W3CDTF">1995-06-17T23:31:02Z</dcterms:created>
  <dcterms:modified xsi:type="dcterms:W3CDTF">2024-11-20T09:09:41Z</dcterms:modified>
</cp:coreProperties>
</file>