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52"/>
  </p:notesMasterIdLst>
  <p:handoutMasterIdLst>
    <p:handoutMasterId r:id="rId53"/>
  </p:handoutMasterIdLst>
  <p:sldIdLst>
    <p:sldId id="1342" r:id="rId2"/>
    <p:sldId id="1343" r:id="rId3"/>
    <p:sldId id="1344" r:id="rId4"/>
    <p:sldId id="1345" r:id="rId5"/>
    <p:sldId id="1346" r:id="rId6"/>
    <p:sldId id="1347" r:id="rId7"/>
    <p:sldId id="1348" r:id="rId8"/>
    <p:sldId id="1349" r:id="rId9"/>
    <p:sldId id="1350" r:id="rId10"/>
    <p:sldId id="1351" r:id="rId11"/>
    <p:sldId id="1352" r:id="rId12"/>
    <p:sldId id="1353" r:id="rId13"/>
    <p:sldId id="1354" r:id="rId14"/>
    <p:sldId id="1355" r:id="rId15"/>
    <p:sldId id="1356" r:id="rId16"/>
    <p:sldId id="1357" r:id="rId17"/>
    <p:sldId id="1358" r:id="rId18"/>
    <p:sldId id="1359" r:id="rId19"/>
    <p:sldId id="1360" r:id="rId20"/>
    <p:sldId id="1361" r:id="rId21"/>
    <p:sldId id="1362" r:id="rId22"/>
    <p:sldId id="1363" r:id="rId23"/>
    <p:sldId id="1364" r:id="rId24"/>
    <p:sldId id="1365" r:id="rId25"/>
    <p:sldId id="1366" r:id="rId26"/>
    <p:sldId id="1367" r:id="rId27"/>
    <p:sldId id="1368" r:id="rId28"/>
    <p:sldId id="1369" r:id="rId29"/>
    <p:sldId id="1370" r:id="rId30"/>
    <p:sldId id="1371" r:id="rId31"/>
    <p:sldId id="1373" r:id="rId32"/>
    <p:sldId id="1374" r:id="rId33"/>
    <p:sldId id="1375" r:id="rId34"/>
    <p:sldId id="1376" r:id="rId35"/>
    <p:sldId id="1377" r:id="rId36"/>
    <p:sldId id="1378" r:id="rId37"/>
    <p:sldId id="1379" r:id="rId38"/>
    <p:sldId id="1380" r:id="rId39"/>
    <p:sldId id="1381" r:id="rId40"/>
    <p:sldId id="1382" r:id="rId41"/>
    <p:sldId id="1383" r:id="rId42"/>
    <p:sldId id="1384" r:id="rId43"/>
    <p:sldId id="1385" r:id="rId44"/>
    <p:sldId id="1386" r:id="rId45"/>
    <p:sldId id="1387" r:id="rId46"/>
    <p:sldId id="1388" r:id="rId47"/>
    <p:sldId id="1389" r:id="rId48"/>
    <p:sldId id="1390" r:id="rId49"/>
    <p:sldId id="1391" r:id="rId50"/>
    <p:sldId id="1392" r:id="rId51"/>
  </p:sldIdLst>
  <p:sldSz cx="9144000" cy="6858000" type="screen4x3"/>
  <p:notesSz cx="6858000" cy="9144000"/>
  <p:defaultTextStyle>
    <a:defPPr>
      <a:defRPr lang="zh-CN"/>
    </a:defPPr>
    <a:lvl1pPr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p:defaultTextStyle>
  <p:extLst>
    <p:ext uri="{521415D9-36F7-43E2-AB2F-B90AF26B5E84}">
      <p14:sectionLst xmlns:p14="http://schemas.microsoft.com/office/powerpoint/2010/main">
        <p14:section name="默认节" id="{648D39FF-9B98-41A3-B208-5AF141360F82}">
          <p14:sldIdLst>
            <p14:sldId id="1342"/>
            <p14:sldId id="1343"/>
            <p14:sldId id="1344"/>
            <p14:sldId id="1345"/>
            <p14:sldId id="1346"/>
            <p14:sldId id="1347"/>
            <p14:sldId id="1348"/>
            <p14:sldId id="1349"/>
            <p14:sldId id="1350"/>
            <p14:sldId id="1351"/>
            <p14:sldId id="1352"/>
            <p14:sldId id="1353"/>
            <p14:sldId id="1354"/>
            <p14:sldId id="1355"/>
            <p14:sldId id="1356"/>
            <p14:sldId id="1357"/>
            <p14:sldId id="1358"/>
            <p14:sldId id="1359"/>
            <p14:sldId id="1360"/>
            <p14:sldId id="1361"/>
            <p14:sldId id="1362"/>
            <p14:sldId id="1363"/>
            <p14:sldId id="1364"/>
            <p14:sldId id="1365"/>
            <p14:sldId id="1366"/>
            <p14:sldId id="1367"/>
            <p14:sldId id="1368"/>
            <p14:sldId id="1369"/>
            <p14:sldId id="1370"/>
            <p14:sldId id="1371"/>
            <p14:sldId id="1373"/>
            <p14:sldId id="1374"/>
            <p14:sldId id="1375"/>
            <p14:sldId id="1376"/>
            <p14:sldId id="1377"/>
            <p14:sldId id="1378"/>
            <p14:sldId id="1379"/>
            <p14:sldId id="1380"/>
            <p14:sldId id="1381"/>
            <p14:sldId id="1382"/>
            <p14:sldId id="1383"/>
            <p14:sldId id="1384"/>
            <p14:sldId id="1385"/>
            <p14:sldId id="1386"/>
            <p14:sldId id="1387"/>
            <p14:sldId id="1388"/>
            <p14:sldId id="1389"/>
            <p14:sldId id="1390"/>
            <p14:sldId id="1391"/>
            <p14:sldId id="1392"/>
          </p14:sldIdLst>
        </p14:section>
        <p14:section name="无标题节" id="{A8E58A6A-0C32-4F6E-97D2-0FEC50D03B7D}">
          <p14:sldIdLst/>
        </p14:section>
        <p14:section name="无标题节" id="{AE64ACB7-3C47-4E33-BD1D-B26F122DF30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60093"/>
    <a:srgbClr val="CCFF66"/>
    <a:srgbClr val="FFFF00"/>
    <a:srgbClr val="FFCC00"/>
    <a:srgbClr val="FF00FF"/>
    <a:srgbClr val="00CC00"/>
    <a:srgbClr val="CCFFCC"/>
    <a:srgbClr val="5872F2"/>
    <a:srgbClr val="CDD5FB"/>
    <a:srgbClr val="FBBB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6" autoAdjust="0"/>
    <p:restoredTop sz="85232" autoAdjust="0"/>
  </p:normalViewPr>
  <p:slideViewPr>
    <p:cSldViewPr>
      <p:cViewPr varScale="1">
        <p:scale>
          <a:sx n="90" d="100"/>
          <a:sy n="90" d="100"/>
        </p:scale>
        <p:origin x="153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58" d="100"/>
          <a:sy n="58" d="100"/>
        </p:scale>
        <p:origin x="-176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2147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15364"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lnSpc>
                <a:spcPct val="100000"/>
              </a:lnSpc>
              <a:spcBef>
                <a:spcPct val="0"/>
              </a:spcBef>
              <a:buClrTx/>
              <a:buSzTx/>
              <a:buFontTx/>
              <a:buNone/>
              <a:defRPr sz="1000" b="0" i="1">
                <a:solidFill>
                  <a:schemeClr val="tx1"/>
                </a:solidFill>
                <a:latin typeface="Times New Roman" panose="02020603050405020304" pitchFamily="18" charset="0"/>
              </a:defRPr>
            </a:lvl1pPr>
          </a:lstStyle>
          <a:p>
            <a:pPr>
              <a:defRPr/>
            </a:pPr>
            <a:fld id="{B4AD9251-16E8-4FE0-8FFB-FFF0533BDB86}" type="slidenum">
              <a:rPr lang="en-US" altLang="zh-CN"/>
              <a:pPr>
                <a:defRPr/>
              </a:pPr>
              <a:t>‹#›</a:t>
            </a:fld>
            <a:endParaRPr lang="en-US" altLang="zh-CN"/>
          </a:p>
        </p:txBody>
      </p:sp>
    </p:spTree>
    <p:extLst>
      <p:ext uri="{BB962C8B-B14F-4D97-AF65-F5344CB8AC3E}">
        <p14:creationId xmlns:p14="http://schemas.microsoft.com/office/powerpoint/2010/main" val="27491541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993F6BC-2F70-4DCA-83F4-02974B9B6AEC}" type="slidenum">
              <a:rPr lang="en-US" altLang="zh-CN" sz="1300" smtClean="0">
                <a:ea typeface="隶书" panose="02010509060101010101" pitchFamily="49" charset="-122"/>
              </a:rPr>
              <a:pPr>
                <a:spcBef>
                  <a:spcPct val="0"/>
                </a:spcBef>
              </a:pPr>
              <a:t>1</a:t>
            </a:fld>
            <a:endParaRPr lang="en-US" altLang="zh-CN" sz="1300" smtClean="0">
              <a:ea typeface="隶书" panose="02010509060101010101" pitchFamily="49" charset="-122"/>
            </a:endParaRPr>
          </a:p>
        </p:txBody>
      </p:sp>
      <p:sp>
        <p:nvSpPr>
          <p:cNvPr id="6147" name="Rectangle 2"/>
          <p:cNvSpPr>
            <a:spLocks noGrp="1" noRot="1" noChangeAspect="1" noChangeArrowheads="1" noTextEdit="1"/>
          </p:cNvSpPr>
          <p:nvPr>
            <p:ph type="sldImg"/>
          </p:nvPr>
        </p:nvSpPr>
        <p:spPr>
          <a:xfrm>
            <a:off x="1150938" y="692150"/>
            <a:ext cx="4556125" cy="3416300"/>
          </a:xfrm>
          <a:ln/>
        </p:spPr>
      </p:sp>
      <p:sp>
        <p:nvSpPr>
          <p:cNvPr id="614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mtClean="0"/>
              <a:t>格式化：文件系统创建的过程。</a:t>
            </a:r>
          </a:p>
          <a:p>
            <a:pPr eaLnBrk="1" hangingPunct="1"/>
            <a:endParaRPr lang="en-US" altLang="zh-CN" smtClean="0"/>
          </a:p>
        </p:txBody>
      </p:sp>
    </p:spTree>
    <p:extLst>
      <p:ext uri="{BB962C8B-B14F-4D97-AF65-F5344CB8AC3E}">
        <p14:creationId xmlns:p14="http://schemas.microsoft.com/office/powerpoint/2010/main" val="904949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a:xfrm>
            <a:off x="1150938" y="692150"/>
            <a:ext cx="4556125" cy="3416300"/>
          </a:xfrm>
          <a:ln/>
        </p:spPr>
      </p:sp>
      <p:sp>
        <p:nvSpPr>
          <p:cNvPr id="819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smtClean="0"/>
          </a:p>
        </p:txBody>
      </p:sp>
      <p:sp>
        <p:nvSpPr>
          <p:cNvPr id="819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B1831DC-B0D8-4E83-8EEA-1CBCE103C98C}" type="slidenum">
              <a:rPr lang="en-US" altLang="zh-CN" sz="1300" smtClean="0">
                <a:ea typeface="隶书" panose="02010509060101010101" pitchFamily="49" charset="-122"/>
              </a:rPr>
              <a:pPr>
                <a:spcBef>
                  <a:spcPct val="0"/>
                </a:spcBef>
              </a:pPr>
              <a:t>2</a:t>
            </a:fld>
            <a:endParaRPr lang="en-US" altLang="zh-CN" sz="1300" smtClean="0">
              <a:ea typeface="隶书" panose="02010509060101010101" pitchFamily="49" charset="-122"/>
            </a:endParaRPr>
          </a:p>
        </p:txBody>
      </p:sp>
    </p:spTree>
    <p:extLst>
      <p:ext uri="{BB962C8B-B14F-4D97-AF65-F5344CB8AC3E}">
        <p14:creationId xmlns:p14="http://schemas.microsoft.com/office/powerpoint/2010/main" val="1951811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sz="1200" dirty="0" smtClean="0">
                <a:solidFill>
                  <a:schemeClr val="bg2"/>
                </a:solidFill>
                <a:effectLst>
                  <a:outerShdw blurRad="38100" dist="38100" dir="2700000" algn="tl">
                    <a:srgbClr val="000000">
                      <a:alpha val="43137"/>
                    </a:srgbClr>
                  </a:outerShdw>
                </a:effectLst>
                <a:latin typeface="Arial" panose="020B0604020202020204" pitchFamily="34" charset="0"/>
              </a:rPr>
              <a:t>逻辑文件系统层</a:t>
            </a:r>
            <a:r>
              <a:rPr lang="en-US" altLang="zh-CN" sz="1200" dirty="0" smtClean="0">
                <a:solidFill>
                  <a:schemeClr val="bg2"/>
                </a:solidFill>
                <a:effectLst>
                  <a:outerShdw blurRad="38100" dist="38100" dir="2700000" algn="tl">
                    <a:srgbClr val="000000">
                      <a:alpha val="43137"/>
                    </a:srgbClr>
                  </a:outerShdw>
                </a:effectLst>
                <a:latin typeface="Arial" panose="020B0604020202020204" pitchFamily="34" charset="0"/>
              </a:rPr>
              <a:t>: </a:t>
            </a:r>
            <a:r>
              <a:rPr lang="zh-CN" altLang="en-US" dirty="0" smtClean="0">
                <a:solidFill>
                  <a:schemeClr val="bg2"/>
                </a:solidFill>
                <a:latin typeface="Arial" panose="020B0604020202020204" pitchFamily="34" charset="0"/>
              </a:rPr>
              <a:t>处理文件及记录的相关操作（访问、保护及目录操作</a:t>
            </a:r>
            <a:r>
              <a:rPr lang="en-US" altLang="zh-CN" dirty="0" smtClean="0">
                <a:solidFill>
                  <a:schemeClr val="bg2"/>
                </a:solidFill>
                <a:latin typeface="Arial" panose="020B0604020202020204" pitchFamily="34" charset="0"/>
              </a:rPr>
              <a:t>)</a:t>
            </a:r>
          </a:p>
          <a:p>
            <a:pPr>
              <a:spcBef>
                <a:spcPct val="0"/>
              </a:spcBef>
              <a:buClrTx/>
              <a:buSzTx/>
              <a:buFontTx/>
              <a:buNone/>
            </a:pPr>
            <a:r>
              <a:rPr lang="zh-CN" altLang="en-US" sz="1200" dirty="0" smtClean="0">
                <a:solidFill>
                  <a:schemeClr val="bg2"/>
                </a:solidFill>
                <a:effectLst>
                  <a:outerShdw blurRad="38100" dist="38100" dir="2700000" algn="tl">
                    <a:srgbClr val="000000">
                      <a:alpha val="43137"/>
                    </a:srgbClr>
                  </a:outerShdw>
                </a:effectLst>
                <a:latin typeface="Arial" panose="020B0604020202020204" pitchFamily="34" charset="0"/>
              </a:rPr>
              <a:t>基本</a:t>
            </a:r>
            <a:r>
              <a:rPr lang="en-US" altLang="zh-CN" sz="1200" dirty="0" smtClean="0">
                <a:solidFill>
                  <a:schemeClr val="bg2"/>
                </a:solidFill>
                <a:effectLst>
                  <a:outerShdw blurRad="38100" dist="38100" dir="2700000" algn="tl">
                    <a:srgbClr val="000000">
                      <a:alpha val="43137"/>
                    </a:srgbClr>
                  </a:outerShdw>
                </a:effectLst>
                <a:latin typeface="Arial" panose="020B0604020202020204" pitchFamily="34" charset="0"/>
              </a:rPr>
              <a:t>I/O</a:t>
            </a:r>
            <a:r>
              <a:rPr lang="zh-CN" altLang="en-US" sz="1200" dirty="0" smtClean="0">
                <a:solidFill>
                  <a:schemeClr val="bg2"/>
                </a:solidFill>
                <a:effectLst>
                  <a:outerShdw blurRad="38100" dist="38100" dir="2700000" algn="tl">
                    <a:srgbClr val="000000">
                      <a:alpha val="43137"/>
                    </a:srgbClr>
                  </a:outerShdw>
                </a:effectLst>
                <a:latin typeface="Arial" panose="020B0604020202020204" pitchFamily="34" charset="0"/>
              </a:rPr>
              <a:t>管理程序层</a:t>
            </a:r>
            <a:r>
              <a:rPr lang="zh-CN" altLang="en-US" sz="1200" dirty="0" smtClean="0">
                <a:solidFill>
                  <a:schemeClr val="bg2"/>
                </a:solidFill>
                <a:latin typeface="Arial" panose="020B0604020202020204" pitchFamily="34" charset="0"/>
              </a:rPr>
              <a:t>：完成大量与磁盘</a:t>
            </a:r>
            <a:r>
              <a:rPr lang="en-US" altLang="zh-CN" sz="1200" dirty="0" smtClean="0">
                <a:solidFill>
                  <a:schemeClr val="bg2"/>
                </a:solidFill>
                <a:latin typeface="Arial" panose="020B0604020202020204" pitchFamily="34" charset="0"/>
              </a:rPr>
              <a:t>I/O</a:t>
            </a:r>
            <a:r>
              <a:rPr lang="zh-CN" altLang="en-US" sz="1200" dirty="0" smtClean="0">
                <a:solidFill>
                  <a:schemeClr val="bg2"/>
                </a:solidFill>
                <a:latin typeface="Arial" panose="020B0604020202020204" pitchFamily="34" charset="0"/>
              </a:rPr>
              <a:t>有关的工作（选择设备，逻辑块号到物理块号的转换，空闲空间管理等）。</a:t>
            </a:r>
            <a:endParaRPr lang="en-US" altLang="zh-CN" sz="1200" dirty="0" smtClean="0">
              <a:solidFill>
                <a:schemeClr val="bg2"/>
              </a:solidFill>
              <a:latin typeface="Arial" panose="020B0604020202020204" pitchFamily="34" charset="0"/>
            </a:endParaRPr>
          </a:p>
          <a:p>
            <a:pPr marL="0" marR="0" indent="0" algn="l" defTabSz="914400" rtl="0" eaLnBrk="0" fontAlgn="base" latinLnBrk="0" hangingPunct="0">
              <a:lnSpc>
                <a:spcPct val="100000"/>
              </a:lnSpc>
              <a:spcBef>
                <a:spcPct val="0"/>
              </a:spcBef>
              <a:spcAft>
                <a:spcPct val="0"/>
              </a:spcAft>
              <a:buClrTx/>
              <a:buSzTx/>
              <a:buFontTx/>
              <a:buNone/>
              <a:tabLst/>
              <a:defRPr/>
            </a:pPr>
            <a:r>
              <a:rPr kumimoji="0" lang="zh-CN" altLang="en-US" sz="1200" b="1" i="0" u="none" strike="noStrike" cap="none" normalizeH="0" baseline="0" dirty="0" smtClean="0">
                <a:ln>
                  <a:noFill/>
                </a:ln>
                <a:solidFill>
                  <a:schemeClr val="bg2"/>
                </a:solidFill>
                <a:effectLst/>
                <a:latin typeface="Arial" panose="020B0604020202020204" pitchFamily="34" charset="0"/>
                <a:ea typeface="楷体_GB2312" pitchFamily="49" charset="-122"/>
              </a:rPr>
              <a:t>基本文件系统层：</a:t>
            </a:r>
            <a:r>
              <a:rPr lang="zh-CN" altLang="en-US" sz="1200" dirty="0" smtClean="0">
                <a:solidFill>
                  <a:schemeClr val="bg2"/>
                </a:solidFill>
                <a:latin typeface="Arial" panose="020B0604020202020204" pitchFamily="34" charset="0"/>
              </a:rPr>
              <a:t>内存与磁盘间的数据块交换（在外存及内存缓冲区的位置）。</a:t>
            </a:r>
            <a:endParaRPr lang="en-US" altLang="zh-CN" sz="1200" dirty="0" smtClean="0">
              <a:solidFill>
                <a:schemeClr val="bg2"/>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200" b="1" i="0" u="none" strike="noStrike" cap="none" normalizeH="0" baseline="0" dirty="0" smtClean="0">
                <a:ln>
                  <a:noFill/>
                </a:ln>
                <a:solidFill>
                  <a:schemeClr val="bg2"/>
                </a:solidFill>
                <a:effectLst/>
                <a:latin typeface="Arial" panose="020B0604020202020204" pitchFamily="34" charset="0"/>
                <a:ea typeface="楷体_GB2312" pitchFamily="49" charset="-122"/>
              </a:rPr>
              <a:t>I/O</a:t>
            </a:r>
            <a:r>
              <a:rPr kumimoji="0" lang="zh-CN" altLang="en-US" sz="1200" b="1" i="0" u="none" strike="noStrike" cap="none" normalizeH="0" baseline="0" dirty="0" smtClean="0">
                <a:ln>
                  <a:noFill/>
                </a:ln>
                <a:solidFill>
                  <a:schemeClr val="bg2"/>
                </a:solidFill>
                <a:effectLst/>
                <a:latin typeface="Arial" panose="020B0604020202020204" pitchFamily="34" charset="0"/>
                <a:ea typeface="楷体_GB2312" pitchFamily="49" charset="-122"/>
              </a:rPr>
              <a:t>控制层（设备驱动程序）：</a:t>
            </a:r>
            <a:r>
              <a:rPr lang="zh-CN" altLang="en-US" sz="1200" dirty="0" smtClean="0">
                <a:solidFill>
                  <a:schemeClr val="bg2"/>
                </a:solidFill>
                <a:latin typeface="Arial" panose="020B0604020202020204" pitchFamily="34" charset="0"/>
              </a:rPr>
              <a:t>负责启动</a:t>
            </a:r>
            <a:r>
              <a:rPr lang="en-US" altLang="zh-CN" sz="1200" dirty="0" smtClean="0">
                <a:solidFill>
                  <a:schemeClr val="bg2"/>
                </a:solidFill>
                <a:latin typeface="Arial" panose="020B0604020202020204" pitchFamily="34" charset="0"/>
              </a:rPr>
              <a:t>I/O</a:t>
            </a:r>
            <a:r>
              <a:rPr lang="zh-CN" altLang="en-US" sz="1200" dirty="0" smtClean="0">
                <a:solidFill>
                  <a:schemeClr val="bg2"/>
                </a:solidFill>
                <a:latin typeface="Arial" panose="020B0604020202020204" pitchFamily="34" charset="0"/>
              </a:rPr>
              <a:t>操作及处理设备发来的中断信号。</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200" b="1" i="0" u="none" strike="noStrike" cap="none" normalizeH="0" baseline="0" dirty="0" smtClean="0">
              <a:ln>
                <a:noFill/>
              </a:ln>
              <a:solidFill>
                <a:schemeClr val="bg2"/>
              </a:solidFill>
              <a:effectLst/>
              <a:latin typeface="Arial" panose="020B0604020202020204" pitchFamily="34" charset="0"/>
              <a:ea typeface="楷体_GB2312" pitchFamily="49" charset="-122"/>
            </a:endParaRPr>
          </a:p>
          <a:p>
            <a:pPr marL="0" marR="0" indent="0" algn="l" defTabSz="914400" rtl="0" eaLnBrk="0" fontAlgn="base" latinLnBrk="0" hangingPunct="0">
              <a:lnSpc>
                <a:spcPct val="100000"/>
              </a:lnSpc>
              <a:spcBef>
                <a:spcPct val="0"/>
              </a:spcBef>
              <a:spcAft>
                <a:spcPct val="0"/>
              </a:spcAft>
              <a:buClrTx/>
              <a:buSzTx/>
              <a:buFontTx/>
              <a:buNone/>
              <a:tabLst/>
              <a:defRPr/>
            </a:pPr>
            <a:endParaRPr lang="en-US" altLang="zh-CN" sz="1200" dirty="0" smtClean="0">
              <a:solidFill>
                <a:schemeClr val="bg2"/>
              </a:solidFill>
              <a:latin typeface="Arial" panose="020B0604020202020204" pitchFamily="34" charset="0"/>
            </a:endParaRPr>
          </a:p>
          <a:p>
            <a:pPr marL="0" marR="0" indent="0" algn="l" defTabSz="914400" rtl="0" eaLnBrk="0" fontAlgn="base" latinLnBrk="0" hangingPunct="0">
              <a:lnSpc>
                <a:spcPct val="100000"/>
              </a:lnSpc>
              <a:spcBef>
                <a:spcPct val="0"/>
              </a:spcBef>
              <a:spcAft>
                <a:spcPct val="0"/>
              </a:spcAft>
              <a:buClrTx/>
              <a:buSzTx/>
              <a:buFontTx/>
              <a:buNone/>
              <a:tabLst/>
              <a:defRPr/>
            </a:pPr>
            <a:endParaRPr kumimoji="1" lang="zh-CN" altLang="en-US" sz="1200" b="1" i="0" u="none" strike="noStrike" cap="none" normalizeH="0" baseline="0" dirty="0" smtClean="0">
              <a:ln>
                <a:noFill/>
              </a:ln>
              <a:solidFill>
                <a:srgbClr val="FFFF00"/>
              </a:solidFill>
              <a:effectLst>
                <a:outerShdw blurRad="38100" dist="38100" dir="2700000" algn="tl">
                  <a:srgbClr val="000000">
                    <a:alpha val="43137"/>
                  </a:srgbClr>
                </a:outerShdw>
              </a:effectLst>
            </a:endParaRPr>
          </a:p>
          <a:p>
            <a:pPr>
              <a:spcBef>
                <a:spcPct val="0"/>
              </a:spcBef>
              <a:buClrTx/>
              <a:buSzTx/>
              <a:buFontTx/>
              <a:buNone/>
            </a:pPr>
            <a:endParaRPr lang="zh-CN" altLang="en-US" sz="1200" dirty="0">
              <a:solidFill>
                <a:schemeClr val="bg2"/>
              </a:solidFill>
              <a:latin typeface="Arial" panose="020B0604020202020204" pitchFamily="34" charset="0"/>
            </a:endParaRPr>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3</a:t>
            </a:fld>
            <a:endParaRPr lang="en-US" altLang="zh-CN"/>
          </a:p>
        </p:txBody>
      </p:sp>
    </p:spTree>
    <p:extLst>
      <p:ext uri="{BB962C8B-B14F-4D97-AF65-F5344CB8AC3E}">
        <p14:creationId xmlns:p14="http://schemas.microsoft.com/office/powerpoint/2010/main" val="3624126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a:xfrm>
            <a:off x="1150938" y="692150"/>
            <a:ext cx="4556125" cy="3416300"/>
          </a:xfrm>
          <a:ln/>
        </p:spPr>
      </p:sp>
      <p:sp>
        <p:nvSpPr>
          <p:cNvPr id="1126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smtClean="0"/>
          </a:p>
        </p:txBody>
      </p:sp>
      <p:sp>
        <p:nvSpPr>
          <p:cNvPr id="1126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2D95DB4-700B-4809-B05A-58A4EF9C2074}" type="slidenum">
              <a:rPr lang="en-US" altLang="zh-CN" sz="1300" smtClean="0">
                <a:ea typeface="隶书" panose="02010509060101010101" pitchFamily="49" charset="-122"/>
              </a:rPr>
              <a:pPr>
                <a:spcBef>
                  <a:spcPct val="0"/>
                </a:spcBef>
              </a:pPr>
              <a:t>4</a:t>
            </a:fld>
            <a:endParaRPr lang="en-US" altLang="zh-CN" sz="1300" smtClean="0">
              <a:ea typeface="隶书" panose="02010509060101010101" pitchFamily="49" charset="-122"/>
            </a:endParaRPr>
          </a:p>
        </p:txBody>
      </p:sp>
    </p:spTree>
    <p:extLst>
      <p:ext uri="{BB962C8B-B14F-4D97-AF65-F5344CB8AC3E}">
        <p14:creationId xmlns:p14="http://schemas.microsoft.com/office/powerpoint/2010/main" val="1713510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7</a:t>
            </a:fld>
            <a:endParaRPr lang="en-US" altLang="zh-CN"/>
          </a:p>
        </p:txBody>
      </p:sp>
    </p:spTree>
    <p:extLst>
      <p:ext uri="{BB962C8B-B14F-4D97-AF65-F5344CB8AC3E}">
        <p14:creationId xmlns:p14="http://schemas.microsoft.com/office/powerpoint/2010/main" val="3151907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a:xfrm>
            <a:off x="1150938" y="692150"/>
            <a:ext cx="4556125" cy="3416300"/>
          </a:xfrm>
          <a:ln/>
        </p:spPr>
      </p:sp>
      <p:sp>
        <p:nvSpPr>
          <p:cNvPr id="235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marL="0" lvl="1"/>
            <a:r>
              <a:rPr lang="zh-CN" altLang="en-US" sz="3200" smtClean="0"/>
              <a:t>都会影响到文件的检索速度</a:t>
            </a:r>
          </a:p>
          <a:p>
            <a:endParaRPr lang="zh-CN" altLang="en-US" smtClean="0"/>
          </a:p>
        </p:txBody>
      </p:sp>
      <p:sp>
        <p:nvSpPr>
          <p:cNvPr id="235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EE64A32-C430-4551-94B5-FC230BF8DCCA}" type="slidenum">
              <a:rPr lang="en-US" altLang="zh-CN" sz="1300" smtClean="0">
                <a:ea typeface="隶书" panose="02010509060101010101" pitchFamily="49" charset="-122"/>
              </a:rPr>
              <a:pPr>
                <a:spcBef>
                  <a:spcPct val="0"/>
                </a:spcBef>
              </a:pPr>
              <a:t>8</a:t>
            </a:fld>
            <a:endParaRPr lang="en-US" altLang="zh-CN" sz="1300" smtClean="0">
              <a:ea typeface="隶书" panose="02010509060101010101" pitchFamily="49" charset="-122"/>
            </a:endParaRPr>
          </a:p>
        </p:txBody>
      </p:sp>
    </p:spTree>
    <p:extLst>
      <p:ext uri="{BB962C8B-B14F-4D97-AF65-F5344CB8AC3E}">
        <p14:creationId xmlns:p14="http://schemas.microsoft.com/office/powerpoint/2010/main" val="2455914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C427A09-0F70-4ABD-8ABB-FA8F2974379A}" type="slidenum">
              <a:rPr lang="en-US" altLang="zh-CN" sz="1300" smtClean="0">
                <a:ea typeface="隶书" panose="02010509060101010101" pitchFamily="49" charset="-122"/>
              </a:rPr>
              <a:pPr>
                <a:spcBef>
                  <a:spcPct val="0"/>
                </a:spcBef>
              </a:pPr>
              <a:t>9</a:t>
            </a:fld>
            <a:endParaRPr lang="en-US" altLang="zh-CN" sz="1300" smtClean="0">
              <a:ea typeface="隶书" panose="02010509060101010101" pitchFamily="49" charset="-122"/>
            </a:endParaRPr>
          </a:p>
        </p:txBody>
      </p:sp>
      <p:sp>
        <p:nvSpPr>
          <p:cNvPr id="25603" name="Rectangle 2"/>
          <p:cNvSpPr>
            <a:spLocks noGrp="1" noRot="1" noChangeAspect="1" noChangeArrowheads="1" noTextEdit="1"/>
          </p:cNvSpPr>
          <p:nvPr>
            <p:ph type="sldImg"/>
          </p:nvPr>
        </p:nvSpPr>
        <p:spPr>
          <a:xfrm>
            <a:off x="1150938" y="692150"/>
            <a:ext cx="4556125" cy="3416300"/>
          </a:xfrm>
          <a:ln/>
        </p:spPr>
      </p:sp>
      <p:sp>
        <p:nvSpPr>
          <p:cNvPr id="2560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z="1400" b="1" i="1" smtClean="0">
                <a:solidFill>
                  <a:srgbClr val="FF33CC"/>
                </a:solidFill>
              </a:rPr>
              <a:t>相对优先级取决于使用这些文件的应用程序。如，批处理方式，每次访问所有的记录，不关注检索一条记录的快速；</a:t>
            </a:r>
            <a:r>
              <a:rPr lang="en-US" altLang="zh-CN" sz="1400" b="1" i="1" smtClean="0">
                <a:solidFill>
                  <a:srgbClr val="FF33CC"/>
                </a:solidFill>
              </a:rPr>
              <a:t>CD-ROM</a:t>
            </a:r>
            <a:r>
              <a:rPr lang="zh-CN" altLang="en-US" sz="1400" b="1" i="1" smtClean="0">
                <a:solidFill>
                  <a:srgbClr val="FF33CC"/>
                </a:solidFill>
              </a:rPr>
              <a:t>中的文件永远不会被修改。</a:t>
            </a:r>
          </a:p>
        </p:txBody>
      </p:sp>
    </p:spTree>
    <p:extLst>
      <p:ext uri="{BB962C8B-B14F-4D97-AF65-F5344CB8AC3E}">
        <p14:creationId xmlns:p14="http://schemas.microsoft.com/office/powerpoint/2010/main" val="1311003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5822179-AD99-41C6-8F20-8D83596010BE}" type="slidenum">
              <a:rPr lang="en-US" altLang="zh-CN" sz="1300" smtClean="0">
                <a:ea typeface="隶书" panose="02010509060101010101" pitchFamily="49" charset="-122"/>
              </a:rPr>
              <a:pPr>
                <a:spcBef>
                  <a:spcPct val="0"/>
                </a:spcBef>
              </a:pPr>
              <a:t>10</a:t>
            </a:fld>
            <a:endParaRPr lang="en-US" altLang="zh-CN" sz="1300" smtClean="0">
              <a:ea typeface="隶书" panose="02010509060101010101" pitchFamily="49" charset="-122"/>
            </a:endParaRPr>
          </a:p>
        </p:txBody>
      </p:sp>
      <p:sp>
        <p:nvSpPr>
          <p:cNvPr id="27651" name="Rectangle 2"/>
          <p:cNvSpPr>
            <a:spLocks noGrp="1" noRot="1" noChangeAspect="1" noChangeArrowheads="1" noTextEdit="1"/>
          </p:cNvSpPr>
          <p:nvPr>
            <p:ph type="sldImg"/>
          </p:nvPr>
        </p:nvSpPr>
        <p:spPr>
          <a:xfrm>
            <a:off x="1150938" y="692150"/>
            <a:ext cx="4556125" cy="3416300"/>
          </a:xfrm>
          <a:ln/>
        </p:spPr>
      </p:sp>
      <p:sp>
        <p:nvSpPr>
          <p:cNvPr id="2765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b="1" dirty="0" smtClean="0"/>
              <a:t>用户可见结构</a:t>
            </a:r>
          </a:p>
        </p:txBody>
      </p:sp>
    </p:spTree>
    <p:extLst>
      <p:ext uri="{BB962C8B-B14F-4D97-AF65-F5344CB8AC3E}">
        <p14:creationId xmlns:p14="http://schemas.microsoft.com/office/powerpoint/2010/main" val="2503217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D204E99-A2BF-49D9-8F75-441BCEC9707F}" type="slidenum">
              <a:rPr lang="en-US" altLang="zh-CN" smtClean="0"/>
              <a:pPr>
                <a:defRPr/>
              </a:pPr>
              <a:t>13</a:t>
            </a:fld>
            <a:endParaRPr lang="en-US" altLang="zh-CN"/>
          </a:p>
        </p:txBody>
      </p:sp>
    </p:spTree>
    <p:extLst>
      <p:ext uri="{BB962C8B-B14F-4D97-AF65-F5344CB8AC3E}">
        <p14:creationId xmlns:p14="http://schemas.microsoft.com/office/powerpoint/2010/main" val="3473390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xfrm>
            <a:off x="1150938" y="692150"/>
            <a:ext cx="4556125" cy="3416300"/>
          </a:xfrm>
          <a:ln/>
        </p:spPr>
      </p:sp>
      <p:sp>
        <p:nvSpPr>
          <p:cNvPr id="31747" name="备注占位符 2"/>
          <p:cNvSpPr>
            <a:spLocks noGrp="1"/>
          </p:cNvSpPr>
          <p:nvPr>
            <p:ph type="body" idx="1"/>
          </p:nvPr>
        </p:nvSpPr>
        <p:spPr>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solidFill>
                  <a:schemeClr val="tx1"/>
                </a:solidFill>
                <a:ea typeface="宋体" panose="02010600030101010101" pitchFamily="2" charset="-122"/>
              </a:rPr>
              <a:t>一种所有分支等长的平衡树结构，提供最佳的平均性能。</a:t>
            </a:r>
          </a:p>
          <a:p>
            <a:pPr>
              <a:defRPr/>
            </a:pPr>
            <a:r>
              <a:rPr lang="zh-CN" altLang="en-US" dirty="0" smtClean="0">
                <a:solidFill>
                  <a:schemeClr val="bg2"/>
                </a:solidFill>
                <a:effectLst>
                  <a:outerShdw blurRad="38100" dist="38100" dir="2700000" algn="tl">
                    <a:srgbClr val="000000">
                      <a:alpha val="43137"/>
                    </a:srgbClr>
                  </a:outerShdw>
                </a:effectLst>
              </a:rPr>
              <a:t>在一些操作系统的文件系统中广泛使用：</a:t>
            </a:r>
            <a:endParaRPr lang="en-US" altLang="zh-CN" dirty="0" smtClean="0">
              <a:solidFill>
                <a:schemeClr val="bg2"/>
              </a:solidFill>
              <a:effectLst>
                <a:outerShdw blurRad="38100" dist="38100" dir="2700000" algn="tl">
                  <a:srgbClr val="000000">
                    <a:alpha val="43137"/>
                  </a:srgbClr>
                </a:outerShdw>
              </a:effectLst>
            </a:endParaRPr>
          </a:p>
          <a:p>
            <a:pPr>
              <a:defRPr/>
            </a:pPr>
            <a:r>
              <a:rPr lang="en-US" altLang="zh-CN" dirty="0" smtClean="0">
                <a:solidFill>
                  <a:schemeClr val="bg2"/>
                </a:solidFill>
                <a:effectLst>
                  <a:outerShdw blurRad="38100" dist="38100" dir="2700000" algn="tl">
                    <a:srgbClr val="000000">
                      <a:alpha val="43137"/>
                    </a:srgbClr>
                  </a:outerShdw>
                </a:effectLst>
              </a:rPr>
              <a:t>Mac OS X </a:t>
            </a:r>
            <a:r>
              <a:rPr lang="zh-CN" altLang="en-US" dirty="0" smtClean="0">
                <a:solidFill>
                  <a:schemeClr val="bg2"/>
                </a:solidFill>
                <a:effectLst>
                  <a:outerShdw blurRad="38100" dist="38100" dir="2700000" algn="tl">
                    <a:srgbClr val="000000">
                      <a:alpha val="43137"/>
                    </a:srgbClr>
                  </a:outerShdw>
                </a:effectLst>
              </a:rPr>
              <a:t>、</a:t>
            </a:r>
            <a:r>
              <a:rPr lang="en-US" altLang="zh-CN" dirty="0" smtClean="0">
                <a:solidFill>
                  <a:schemeClr val="bg2"/>
                </a:solidFill>
                <a:effectLst>
                  <a:outerShdw blurRad="38100" dist="38100" dir="2700000" algn="tl">
                    <a:srgbClr val="000000">
                      <a:alpha val="43137"/>
                    </a:srgbClr>
                  </a:outerShdw>
                </a:effectLst>
              </a:rPr>
              <a:t> Windows</a:t>
            </a:r>
            <a:r>
              <a:rPr lang="zh-CN" altLang="en-US" dirty="0" smtClean="0">
                <a:solidFill>
                  <a:schemeClr val="bg2"/>
                </a:solidFill>
                <a:effectLst>
                  <a:outerShdw blurRad="38100" dist="38100" dir="2700000" algn="tl">
                    <a:srgbClr val="000000">
                      <a:alpha val="43137"/>
                    </a:srgbClr>
                  </a:outerShdw>
                </a:effectLst>
              </a:rPr>
              <a:t>支持的文件系统、</a:t>
            </a:r>
            <a:r>
              <a:rPr lang="en-US" altLang="zh-CN" dirty="0" smtClean="0">
                <a:solidFill>
                  <a:schemeClr val="bg2"/>
                </a:solidFill>
                <a:effectLst>
                  <a:outerShdw blurRad="38100" dist="38100" dir="2700000" algn="tl">
                    <a:srgbClr val="000000">
                      <a:alpha val="43137"/>
                    </a:srgbClr>
                  </a:outerShdw>
                </a:effectLst>
              </a:rPr>
              <a:t>Linux</a:t>
            </a:r>
            <a:r>
              <a:rPr lang="zh-CN" altLang="en-US" dirty="0" smtClean="0">
                <a:solidFill>
                  <a:schemeClr val="bg2"/>
                </a:solidFill>
                <a:effectLst>
                  <a:outerShdw blurRad="38100" dist="38100" dir="2700000" algn="tl">
                    <a:srgbClr val="000000">
                      <a:alpha val="43137"/>
                    </a:srgbClr>
                  </a:outerShdw>
                </a:effectLst>
              </a:rPr>
              <a:t>支持的文件系统</a:t>
            </a:r>
          </a:p>
          <a:p>
            <a:pPr>
              <a:defRPr/>
            </a:pPr>
            <a:endParaRPr lang="zh-CN" altLang="en-US" dirty="0" smtClean="0"/>
          </a:p>
        </p:txBody>
      </p:sp>
      <p:sp>
        <p:nvSpPr>
          <p:cNvPr id="3277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fld id="{018C6D2D-0F2B-4F14-B702-6096EAF11E6C}" type="slidenum">
              <a:rPr lang="en-US" altLang="zh-CN" sz="1300" b="0" smtClean="0">
                <a:ea typeface="隶书" panose="02010509060101010101" pitchFamily="49" charset="-122"/>
              </a:rPr>
              <a:pPr/>
              <a:t>14</a:t>
            </a:fld>
            <a:endParaRPr lang="en-US" altLang="zh-CN" sz="1300" b="0" smtClean="0">
              <a:ea typeface="隶书" panose="02010509060101010101" pitchFamily="49" charset="-122"/>
            </a:endParaRPr>
          </a:p>
        </p:txBody>
      </p:sp>
    </p:spTree>
    <p:extLst>
      <p:ext uri="{BB962C8B-B14F-4D97-AF65-F5344CB8AC3E}">
        <p14:creationId xmlns:p14="http://schemas.microsoft.com/office/powerpoint/2010/main" val="3884298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09FE8C8-087B-4070-A0EB-8DD0EC972314}" type="slidenum">
              <a:rPr lang="en-US" altLang="zh-CN" sz="1300" smtClean="0">
                <a:ea typeface="隶书" panose="02010509060101010101" pitchFamily="49" charset="-122"/>
              </a:rPr>
              <a:pPr>
                <a:spcBef>
                  <a:spcPct val="0"/>
                </a:spcBef>
              </a:pPr>
              <a:t>15</a:t>
            </a:fld>
            <a:endParaRPr lang="en-US" altLang="zh-CN" sz="1300" smtClean="0">
              <a:ea typeface="隶书" panose="02010509060101010101" pitchFamily="49" charset="-122"/>
            </a:endParaRPr>
          </a:p>
        </p:txBody>
      </p:sp>
      <p:sp>
        <p:nvSpPr>
          <p:cNvPr id="34819" name="Rectangle 2"/>
          <p:cNvSpPr>
            <a:spLocks noGrp="1" noRot="1" noChangeAspect="1" noChangeArrowheads="1" noTextEdit="1"/>
          </p:cNvSpPr>
          <p:nvPr>
            <p:ph type="sldImg"/>
          </p:nvPr>
        </p:nvSpPr>
        <p:spPr>
          <a:xfrm>
            <a:off x="1150938" y="692150"/>
            <a:ext cx="4556125" cy="3416300"/>
          </a:xfrm>
          <a:ln/>
        </p:spPr>
      </p:sp>
      <p:sp>
        <p:nvSpPr>
          <p:cNvPr id="3482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z="1400" smtClean="0">
                <a:solidFill>
                  <a:srgbClr val="800000"/>
                </a:solidFill>
              </a:rPr>
              <a:t>流文件和记录文件的存取方法</a:t>
            </a:r>
          </a:p>
          <a:p>
            <a:pPr eaLnBrk="1" hangingPunct="1"/>
            <a:r>
              <a:rPr lang="zh-CN" altLang="en-US" b="1" smtClean="0">
                <a:latin typeface="楷体_GB2312" pitchFamily="49" charset="-122"/>
              </a:rPr>
              <a:t>用户通过对文件的存取来完成对文件的修改、追加和搜索等操作。</a:t>
            </a:r>
          </a:p>
          <a:p>
            <a:pPr eaLnBrk="1" hangingPunct="1"/>
            <a:r>
              <a:rPr lang="en-US" altLang="zh-CN" sz="1300" smtClean="0"/>
              <a:t>UNIX</a:t>
            </a:r>
            <a:r>
              <a:rPr lang="zh-CN" altLang="en-US" sz="1300" smtClean="0"/>
              <a:t>系统以及</a:t>
            </a:r>
            <a:r>
              <a:rPr lang="en-US" altLang="zh-CN" sz="1300" smtClean="0"/>
              <a:t>MS-DOS</a:t>
            </a:r>
            <a:r>
              <a:rPr lang="zh-CN" altLang="en-US" sz="1300" smtClean="0"/>
              <a:t>等操作系统都采用顺序存取和随机存取等两种方法。</a:t>
            </a:r>
          </a:p>
          <a:p>
            <a:pPr eaLnBrk="1" hangingPunct="1"/>
            <a:endParaRPr lang="en-US" altLang="zh-CN" b="1" smtClean="0">
              <a:latin typeface="楷体_GB2312" pitchFamily="49" charset="-122"/>
            </a:endParaRPr>
          </a:p>
        </p:txBody>
      </p:sp>
    </p:spTree>
    <p:extLst>
      <p:ext uri="{BB962C8B-B14F-4D97-AF65-F5344CB8AC3E}">
        <p14:creationId xmlns:p14="http://schemas.microsoft.com/office/powerpoint/2010/main" val="3293836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7EA8D51-E0D5-49E8-9CE1-90504A38CADF}" type="slidenum">
              <a:rPr lang="en-US" altLang="zh-CN" sz="1300" smtClean="0">
                <a:ea typeface="隶书" panose="02010509060101010101" pitchFamily="49" charset="-122"/>
              </a:rPr>
              <a:pPr>
                <a:spcBef>
                  <a:spcPct val="0"/>
                </a:spcBef>
              </a:pPr>
              <a:t>16</a:t>
            </a:fld>
            <a:endParaRPr lang="en-US" altLang="zh-CN" sz="1300" smtClean="0">
              <a:ea typeface="隶书" panose="02010509060101010101" pitchFamily="49" charset="-122"/>
            </a:endParaRPr>
          </a:p>
        </p:txBody>
      </p:sp>
      <p:sp>
        <p:nvSpPr>
          <p:cNvPr id="36867" name="Rectangle 2"/>
          <p:cNvSpPr>
            <a:spLocks noGrp="1" noRot="1" noChangeAspect="1" noChangeArrowheads="1" noTextEdit="1"/>
          </p:cNvSpPr>
          <p:nvPr>
            <p:ph type="sldImg"/>
          </p:nvPr>
        </p:nvSpPr>
        <p:spPr>
          <a:xfrm>
            <a:off x="1150938" y="692150"/>
            <a:ext cx="4556125" cy="3416300"/>
          </a:xfrm>
          <a:ln/>
        </p:spPr>
      </p:sp>
      <p:sp>
        <p:nvSpPr>
          <p:cNvPr id="3686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dirty="0" smtClean="0"/>
              <a:t>由逻辑地址到物理地址的映射是和文件的存储</a:t>
            </a:r>
          </a:p>
          <a:p>
            <a:pPr eaLnBrk="1" hangingPunct="1"/>
            <a:r>
              <a:rPr lang="zh-CN" altLang="en-US" dirty="0" smtClean="0"/>
              <a:t>方式，也就是文件的物理结构紧密相关的。</a:t>
            </a:r>
          </a:p>
        </p:txBody>
      </p:sp>
    </p:spTree>
    <p:extLst>
      <p:ext uri="{BB962C8B-B14F-4D97-AF65-F5344CB8AC3E}">
        <p14:creationId xmlns:p14="http://schemas.microsoft.com/office/powerpoint/2010/main" val="2166214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DF7C2BE-6254-4629-B93B-637DAF630B42}" type="slidenum">
              <a:rPr lang="en-US" altLang="zh-CN" sz="1300" smtClean="0">
                <a:ea typeface="隶书" panose="02010509060101010101" pitchFamily="49" charset="-122"/>
              </a:rPr>
              <a:pPr>
                <a:spcBef>
                  <a:spcPct val="0"/>
                </a:spcBef>
              </a:pPr>
              <a:t>17</a:t>
            </a:fld>
            <a:endParaRPr lang="en-US" altLang="zh-CN" sz="1300" smtClean="0">
              <a:ea typeface="隶书" panose="02010509060101010101" pitchFamily="49" charset="-122"/>
            </a:endParaRPr>
          </a:p>
        </p:txBody>
      </p:sp>
      <p:sp>
        <p:nvSpPr>
          <p:cNvPr id="40963" name="Rectangle 2"/>
          <p:cNvSpPr>
            <a:spLocks noGrp="1" noRot="1" noChangeAspect="1" noChangeArrowheads="1" noTextEdit="1"/>
          </p:cNvSpPr>
          <p:nvPr>
            <p:ph type="sldImg"/>
          </p:nvPr>
        </p:nvSpPr>
        <p:spPr>
          <a:xfrm>
            <a:off x="1150938" y="692150"/>
            <a:ext cx="4556125" cy="3416300"/>
          </a:xfrm>
          <a:ln/>
        </p:spPr>
      </p:sp>
      <p:sp>
        <p:nvSpPr>
          <p:cNvPr id="4096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z="1400" smtClean="0"/>
              <a:t>文件系统采用哪种存取方法和逻辑结构，实际上是和物理存储介质有关的</a:t>
            </a:r>
          </a:p>
        </p:txBody>
      </p:sp>
    </p:spTree>
    <p:extLst>
      <p:ext uri="{BB962C8B-B14F-4D97-AF65-F5344CB8AC3E}">
        <p14:creationId xmlns:p14="http://schemas.microsoft.com/office/powerpoint/2010/main" val="154928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D204E99-A2BF-49D9-8F75-441BCEC9707F}" type="slidenum">
              <a:rPr lang="en-US" altLang="zh-CN" smtClean="0"/>
              <a:pPr>
                <a:defRPr/>
              </a:pPr>
              <a:t>18</a:t>
            </a:fld>
            <a:endParaRPr lang="en-US" altLang="zh-CN"/>
          </a:p>
        </p:txBody>
      </p:sp>
    </p:spTree>
    <p:extLst>
      <p:ext uri="{BB962C8B-B14F-4D97-AF65-F5344CB8AC3E}">
        <p14:creationId xmlns:p14="http://schemas.microsoft.com/office/powerpoint/2010/main" val="32504902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xfrm>
            <a:off x="1150938" y="692150"/>
            <a:ext cx="4556125" cy="3416300"/>
          </a:xfrm>
          <a:ln/>
        </p:spPr>
      </p:sp>
      <p:sp>
        <p:nvSpPr>
          <p:cNvPr id="4403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smtClean="0"/>
          </a:p>
        </p:txBody>
      </p:sp>
      <p:sp>
        <p:nvSpPr>
          <p:cNvPr id="4403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fld id="{A509F5DF-D0F6-4CD6-977B-4399CB9E80DD}" type="slidenum">
              <a:rPr lang="en-US" altLang="zh-CN" sz="1300" b="0" smtClean="0">
                <a:ea typeface="隶书" panose="02010509060101010101" pitchFamily="49" charset="-122"/>
              </a:rPr>
              <a:pPr/>
              <a:t>19</a:t>
            </a:fld>
            <a:endParaRPr lang="en-US" altLang="zh-CN" sz="1300" b="0" smtClean="0">
              <a:ea typeface="隶书" panose="02010509060101010101" pitchFamily="49" charset="-122"/>
            </a:endParaRPr>
          </a:p>
        </p:txBody>
      </p:sp>
    </p:spTree>
    <p:extLst>
      <p:ext uri="{BB962C8B-B14F-4D97-AF65-F5344CB8AC3E}">
        <p14:creationId xmlns:p14="http://schemas.microsoft.com/office/powerpoint/2010/main" val="8191346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91145F4-24D6-44A4-846D-435515B90DB6}" type="slidenum">
              <a:rPr lang="en-US" altLang="zh-CN" sz="1300" smtClean="0">
                <a:ea typeface="隶书" panose="02010509060101010101" pitchFamily="49" charset="-122"/>
              </a:rPr>
              <a:pPr>
                <a:spcBef>
                  <a:spcPct val="0"/>
                </a:spcBef>
              </a:pPr>
              <a:t>20</a:t>
            </a:fld>
            <a:endParaRPr lang="en-US" altLang="zh-CN" sz="1300" smtClean="0">
              <a:ea typeface="隶书" panose="02010509060101010101" pitchFamily="49" charset="-122"/>
            </a:endParaRPr>
          </a:p>
        </p:txBody>
      </p:sp>
      <p:sp>
        <p:nvSpPr>
          <p:cNvPr id="46083" name="Rectangle 2"/>
          <p:cNvSpPr>
            <a:spLocks noGrp="1" noRot="1" noChangeAspect="1" noChangeArrowheads="1" noTextEdit="1"/>
          </p:cNvSpPr>
          <p:nvPr>
            <p:ph type="sldImg"/>
          </p:nvPr>
        </p:nvSpPr>
        <p:spPr>
          <a:xfrm>
            <a:off x="1150938" y="692150"/>
            <a:ext cx="4556125" cy="3416300"/>
          </a:xfrm>
          <a:ln/>
        </p:spPr>
      </p:sp>
      <p:sp>
        <p:nvSpPr>
          <p:cNvPr id="4608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b="1" dirty="0" smtClean="0"/>
              <a:t>磁带，磁盘都可采用</a:t>
            </a:r>
          </a:p>
          <a:p>
            <a:pPr eaLnBrk="1" hangingPunct="1"/>
            <a:r>
              <a:rPr lang="zh-CN" altLang="en-US" sz="1400" dirty="0" smtClean="0"/>
              <a:t>最简单的物理文件。</a:t>
            </a:r>
          </a:p>
        </p:txBody>
      </p:sp>
    </p:spTree>
    <p:extLst>
      <p:ext uri="{BB962C8B-B14F-4D97-AF65-F5344CB8AC3E}">
        <p14:creationId xmlns:p14="http://schemas.microsoft.com/office/powerpoint/2010/main" val="2985226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en-US" altLang="zh-CN" sz="1200" b="0" i="0" kern="1200" dirty="0" smtClean="0">
                <a:solidFill>
                  <a:schemeClr val="tx1"/>
                </a:solidFill>
                <a:effectLst/>
                <a:latin typeface="Times New Roman" pitchFamily="18" charset="0"/>
                <a:ea typeface="宋体" pitchFamily="2" charset="-122"/>
                <a:cs typeface="+mn-cs"/>
              </a:rPr>
              <a:t>Contiguous allocation has some problems, however. One difficulty is finding space for a new file. </a:t>
            </a:r>
            <a:r>
              <a:rPr lang="en-US" altLang="zh-CN" dirty="0" smtClean="0"/>
              <a:t/>
            </a:r>
            <a:br>
              <a:rPr lang="en-US" altLang="zh-CN" dirty="0" smtClean="0"/>
            </a:br>
            <a:endParaRPr lang="en-US" altLang="zh-CN" dirty="0" smtClean="0"/>
          </a:p>
          <a:p>
            <a:r>
              <a:rPr lang="zh-CN" altLang="en-US" dirty="0" smtClean="0"/>
              <a:t>从一组空闲孔中寻找一个满足大小为</a:t>
            </a:r>
            <a:r>
              <a:rPr lang="en-US" altLang="zh-CN" dirty="0" smtClean="0"/>
              <a:t>n</a:t>
            </a:r>
            <a:r>
              <a:rPr lang="zh-CN" altLang="en-US" dirty="0" smtClean="0"/>
              <a:t>的空间，策略：首次适应和最优适应</a:t>
            </a:r>
            <a:endParaRPr lang="en-US" altLang="zh-CN" dirty="0" smtClean="0"/>
          </a:p>
          <a:p>
            <a:r>
              <a:rPr kumimoji="1" lang="en-US" altLang="zh-CN" sz="1200" b="0" i="0" kern="1200" smtClean="0">
                <a:solidFill>
                  <a:schemeClr val="tx1"/>
                </a:solidFill>
                <a:effectLst/>
                <a:latin typeface="Times New Roman" pitchFamily="18" charset="0"/>
                <a:ea typeface="宋体" pitchFamily="2" charset="-122"/>
                <a:cs typeface="+mn-cs"/>
              </a:rPr>
              <a:t>the free disk space is broken into little pieces.</a:t>
            </a:r>
            <a:r>
              <a:rPr lang="en-US" altLang="zh-CN" smtClean="0"/>
              <a:t> </a:t>
            </a:r>
          </a:p>
          <a:p>
            <a:r>
              <a:rPr lang="zh-CN" altLang="en-US" dirty="0" smtClean="0"/>
              <a:t>外碎片：随着文件的分配和删除，可用磁盘空间被分成许多小片，当最大连续片不能满足需求时就有问题。</a:t>
            </a:r>
            <a:endParaRPr lang="en-US" altLang="zh-CN" dirty="0" smtClean="0"/>
          </a:p>
          <a:p>
            <a:endParaRPr lang="en-US" altLang="zh-CN" dirty="0" smtClean="0"/>
          </a:p>
          <a:p>
            <a:r>
              <a:rPr lang="zh-CN" altLang="en-US" dirty="0" smtClean="0"/>
              <a:t>文件长度不宜动态增加：因为文件末尾后的盘块可能分配给其它文件，一旦需要增加，需要大量移动盘块</a:t>
            </a:r>
            <a:endParaRPr lang="en-US" altLang="zh-CN" dirty="0" smtClean="0"/>
          </a:p>
          <a:p>
            <a:r>
              <a:rPr lang="zh-CN" altLang="en-US" dirty="0" smtClean="0"/>
              <a:t>反复增删文件后会产生外碎片</a:t>
            </a:r>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21</a:t>
            </a:fld>
            <a:endParaRPr lang="en-US" altLang="zh-CN"/>
          </a:p>
        </p:txBody>
      </p:sp>
    </p:spTree>
    <p:extLst>
      <p:ext uri="{BB962C8B-B14F-4D97-AF65-F5344CB8AC3E}">
        <p14:creationId xmlns:p14="http://schemas.microsoft.com/office/powerpoint/2010/main" val="40740398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69D4590-9DB9-4025-8929-468F052F60F9}" type="slidenum">
              <a:rPr lang="en-US" altLang="zh-CN" sz="1300" smtClean="0">
                <a:ea typeface="隶书" panose="02010509060101010101" pitchFamily="49" charset="-122"/>
              </a:rPr>
              <a:pPr>
                <a:spcBef>
                  <a:spcPct val="0"/>
                </a:spcBef>
              </a:pPr>
              <a:t>22</a:t>
            </a:fld>
            <a:endParaRPr lang="en-US" altLang="zh-CN" sz="1300" smtClean="0">
              <a:ea typeface="隶书" panose="02010509060101010101" pitchFamily="49" charset="-122"/>
            </a:endParaRPr>
          </a:p>
        </p:txBody>
      </p:sp>
      <p:sp>
        <p:nvSpPr>
          <p:cNvPr id="49155" name="Rectangle 2"/>
          <p:cNvSpPr>
            <a:spLocks noGrp="1" noRot="1" noChangeAspect="1" noChangeArrowheads="1" noTextEdit="1"/>
          </p:cNvSpPr>
          <p:nvPr>
            <p:ph type="sldImg"/>
          </p:nvPr>
        </p:nvSpPr>
        <p:spPr>
          <a:xfrm>
            <a:off x="1150938" y="692150"/>
            <a:ext cx="4556125" cy="3416300"/>
          </a:xfrm>
          <a:ln/>
        </p:spPr>
      </p:sp>
      <p:sp>
        <p:nvSpPr>
          <p:cNvPr id="4915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z="1400" smtClean="0"/>
              <a:t>克服连续文件的缺点的办法之一</a:t>
            </a:r>
          </a:p>
        </p:txBody>
      </p:sp>
    </p:spTree>
    <p:extLst>
      <p:ext uri="{BB962C8B-B14F-4D97-AF65-F5344CB8AC3E}">
        <p14:creationId xmlns:p14="http://schemas.microsoft.com/office/powerpoint/2010/main" val="12610657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xfrm>
            <a:off x="1150938" y="692150"/>
            <a:ext cx="4556125" cy="3416300"/>
          </a:xfrm>
          <a:ln/>
        </p:spPr>
      </p:sp>
      <p:sp>
        <p:nvSpPr>
          <p:cNvPr id="5120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l"/>
            <a:r>
              <a:rPr kumimoji="1" lang="en-US" altLang="zh-CN" sz="1200" kern="1200" dirty="0" smtClean="0">
                <a:solidFill>
                  <a:schemeClr val="bg2"/>
                </a:solidFill>
                <a:effectLst>
                  <a:outerShdw blurRad="38100" dist="38100" dir="2700000" algn="tl">
                    <a:srgbClr val="000000"/>
                  </a:outerShdw>
                </a:effectLst>
                <a:latin typeface="Times New Roman" pitchFamily="18" charset="0"/>
                <a:ea typeface="楷体" panose="02010609060101010101" pitchFamily="49" charset="-122"/>
                <a:cs typeface="+mn-cs"/>
              </a:rPr>
              <a:t>DOS</a:t>
            </a:r>
            <a:r>
              <a:rPr kumimoji="1" lang="zh-CN" altLang="en-US" sz="1200" kern="1200" dirty="0" smtClean="0">
                <a:solidFill>
                  <a:schemeClr val="bg2"/>
                </a:solidFill>
                <a:effectLst>
                  <a:outerShdw blurRad="38100" dist="38100" dir="2700000" algn="tl">
                    <a:srgbClr val="000000"/>
                  </a:outerShdw>
                </a:effectLst>
                <a:latin typeface="Times New Roman" pitchFamily="18" charset="0"/>
                <a:ea typeface="楷体" panose="02010609060101010101" pitchFamily="49" charset="-122"/>
                <a:cs typeface="+mn-cs"/>
              </a:rPr>
              <a:t>系统采用文件分配表（</a:t>
            </a:r>
            <a:r>
              <a:rPr kumimoji="1" lang="en-US" altLang="zh-CN" sz="1200" kern="1200" dirty="0" smtClean="0">
                <a:solidFill>
                  <a:schemeClr val="bg2"/>
                </a:solidFill>
                <a:effectLst>
                  <a:outerShdw blurRad="38100" dist="38100" dir="2700000" algn="tl">
                    <a:srgbClr val="000000"/>
                  </a:outerShdw>
                </a:effectLst>
                <a:latin typeface="Times New Roman" pitchFamily="18" charset="0"/>
                <a:ea typeface="楷体" panose="02010609060101010101" pitchFamily="49" charset="-122"/>
                <a:cs typeface="+mn-cs"/>
              </a:rPr>
              <a:t>FAT</a:t>
            </a:r>
            <a:r>
              <a:rPr kumimoji="1" lang="zh-CN" altLang="en-US" sz="1200" kern="1200" dirty="0" smtClean="0">
                <a:solidFill>
                  <a:schemeClr val="bg2"/>
                </a:solidFill>
                <a:effectLst>
                  <a:outerShdw blurRad="38100" dist="38100" dir="2700000" algn="tl">
                    <a:srgbClr val="000000"/>
                  </a:outerShdw>
                </a:effectLst>
                <a:latin typeface="Times New Roman" pitchFamily="18" charset="0"/>
                <a:ea typeface="楷体" panose="02010609060101010101" pitchFamily="49" charset="-122"/>
                <a:cs typeface="+mn-cs"/>
              </a:rPr>
              <a:t>）的形式，</a:t>
            </a:r>
            <a:endParaRPr kumimoji="1" lang="en-US" altLang="zh-CN" sz="1200" kern="1200" dirty="0" smtClean="0">
              <a:solidFill>
                <a:schemeClr val="bg2"/>
              </a:solidFill>
              <a:effectLst>
                <a:outerShdw blurRad="38100" dist="38100" dir="2700000" algn="tl">
                  <a:srgbClr val="000000"/>
                </a:outerShdw>
              </a:effectLst>
              <a:latin typeface="Times New Roman" pitchFamily="18" charset="0"/>
              <a:ea typeface="楷体" panose="02010609060101010101" pitchFamily="49" charset="-122"/>
              <a:cs typeface="+mn-cs"/>
            </a:endParaRPr>
          </a:p>
          <a:p>
            <a:pPr algn="l"/>
            <a:r>
              <a:rPr kumimoji="1" lang="zh-CN" altLang="en-US" sz="1200" kern="1200" dirty="0" smtClean="0">
                <a:solidFill>
                  <a:schemeClr val="bg2"/>
                </a:solidFill>
                <a:effectLst>
                  <a:outerShdw blurRad="38100" dist="38100" dir="2700000" algn="tl">
                    <a:srgbClr val="000000"/>
                  </a:outerShdw>
                </a:effectLst>
                <a:latin typeface="Times New Roman" pitchFamily="18" charset="0"/>
                <a:ea typeface="楷体" panose="02010609060101010101" pitchFamily="49" charset="-122"/>
                <a:cs typeface="+mn-cs"/>
              </a:rPr>
              <a:t>将所有指针集中到</a:t>
            </a:r>
            <a:r>
              <a:rPr kumimoji="1" lang="en-US" altLang="zh-CN" sz="1200" kern="1200" dirty="0" smtClean="0">
                <a:solidFill>
                  <a:schemeClr val="bg2"/>
                </a:solidFill>
                <a:effectLst>
                  <a:outerShdw blurRad="38100" dist="38100" dir="2700000" algn="tl">
                    <a:srgbClr val="000000"/>
                  </a:outerShdw>
                </a:effectLst>
                <a:latin typeface="Times New Roman" pitchFamily="18" charset="0"/>
                <a:ea typeface="楷体" panose="02010609060101010101" pitchFamily="49" charset="-122"/>
                <a:cs typeface="+mn-cs"/>
              </a:rPr>
              <a:t>FAT</a:t>
            </a:r>
            <a:r>
              <a:rPr kumimoji="1" lang="zh-CN" altLang="en-US" sz="1200" kern="1200" dirty="0" smtClean="0">
                <a:solidFill>
                  <a:schemeClr val="bg2"/>
                </a:solidFill>
                <a:effectLst>
                  <a:outerShdw blurRad="38100" dist="38100" dir="2700000" algn="tl">
                    <a:srgbClr val="000000"/>
                  </a:outerShdw>
                </a:effectLst>
                <a:latin typeface="Times New Roman" pitchFamily="18" charset="0"/>
                <a:ea typeface="楷体" panose="02010609060101010101" pitchFamily="49" charset="-122"/>
                <a:cs typeface="+mn-cs"/>
              </a:rPr>
              <a:t>，缓存在内存中。</a:t>
            </a:r>
          </a:p>
          <a:p>
            <a:endParaRPr lang="en-US" altLang="zh-CN" dirty="0" smtClean="0"/>
          </a:p>
          <a:p>
            <a:endParaRPr lang="en-US" altLang="zh-CN" dirty="0" smtClean="0"/>
          </a:p>
          <a:p>
            <a:r>
              <a:rPr lang="zh-CN" altLang="en-US" dirty="0" smtClean="0"/>
              <a:t>没有采用纯粹链接方式，随机访问造成困难</a:t>
            </a:r>
            <a:endParaRPr lang="en-US" altLang="zh-CN" dirty="0" smtClean="0"/>
          </a:p>
          <a:p>
            <a:endParaRPr lang="zh-CN" altLang="en-US" dirty="0" smtClean="0"/>
          </a:p>
        </p:txBody>
      </p:sp>
      <p:sp>
        <p:nvSpPr>
          <p:cNvPr id="5120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fld id="{B4CDF0BF-5B61-4FCA-A9BF-6B7F97C303C5}" type="slidenum">
              <a:rPr lang="en-US" altLang="zh-CN" sz="1300" b="0" smtClean="0">
                <a:ea typeface="隶书" panose="02010509060101010101" pitchFamily="49" charset="-122"/>
              </a:rPr>
              <a:pPr/>
              <a:t>23</a:t>
            </a:fld>
            <a:endParaRPr lang="en-US" altLang="zh-CN" sz="1300" b="0" smtClean="0">
              <a:ea typeface="隶书" panose="02010509060101010101" pitchFamily="49" charset="-122"/>
            </a:endParaRPr>
          </a:p>
        </p:txBody>
      </p:sp>
    </p:spTree>
    <p:extLst>
      <p:ext uri="{BB962C8B-B14F-4D97-AF65-F5344CB8AC3E}">
        <p14:creationId xmlns:p14="http://schemas.microsoft.com/office/powerpoint/2010/main" val="35877543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xfrm>
            <a:off x="1150938" y="692150"/>
            <a:ext cx="4556125" cy="3416300"/>
          </a:xfrm>
          <a:ln/>
        </p:spPr>
      </p:sp>
      <p:sp>
        <p:nvSpPr>
          <p:cNvPr id="5325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mtClean="0"/>
              <a:t>类似于普通页表</a:t>
            </a:r>
          </a:p>
        </p:txBody>
      </p:sp>
      <p:sp>
        <p:nvSpPr>
          <p:cNvPr id="5325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33289D5-CDD5-4685-B3E2-0659BE2E5D7D}" type="slidenum">
              <a:rPr lang="en-US" altLang="zh-CN" sz="1300" smtClean="0">
                <a:ea typeface="隶书" panose="02010509060101010101" pitchFamily="49" charset="-122"/>
              </a:rPr>
              <a:pPr>
                <a:spcBef>
                  <a:spcPct val="0"/>
                </a:spcBef>
              </a:pPr>
              <a:t>24</a:t>
            </a:fld>
            <a:endParaRPr lang="en-US" altLang="zh-CN" sz="1300" smtClean="0">
              <a:ea typeface="隶书" panose="02010509060101010101" pitchFamily="49" charset="-122"/>
            </a:endParaRPr>
          </a:p>
        </p:txBody>
      </p:sp>
    </p:spTree>
    <p:extLst>
      <p:ext uri="{BB962C8B-B14F-4D97-AF65-F5344CB8AC3E}">
        <p14:creationId xmlns:p14="http://schemas.microsoft.com/office/powerpoint/2010/main" val="439144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76B7403-7AC6-4EE7-9098-63C1BDAD305E}" type="slidenum">
              <a:rPr lang="en-US" altLang="zh-CN" sz="1300" smtClean="0">
                <a:ea typeface="隶书" panose="02010509060101010101" pitchFamily="49" charset="-122"/>
              </a:rPr>
              <a:pPr>
                <a:spcBef>
                  <a:spcPct val="0"/>
                </a:spcBef>
              </a:pPr>
              <a:t>25</a:t>
            </a:fld>
            <a:endParaRPr lang="en-US" altLang="zh-CN" sz="1300" smtClean="0">
              <a:ea typeface="隶书" panose="02010509060101010101" pitchFamily="49" charset="-122"/>
            </a:endParaRPr>
          </a:p>
        </p:txBody>
      </p:sp>
      <p:sp>
        <p:nvSpPr>
          <p:cNvPr id="55299" name="Rectangle 2"/>
          <p:cNvSpPr>
            <a:spLocks noGrp="1" noRot="1" noChangeAspect="1" noChangeArrowheads="1" noTextEdit="1"/>
          </p:cNvSpPr>
          <p:nvPr>
            <p:ph type="sldImg"/>
          </p:nvPr>
        </p:nvSpPr>
        <p:spPr>
          <a:xfrm>
            <a:off x="1150938" y="692150"/>
            <a:ext cx="4556125" cy="3416300"/>
          </a:xfrm>
          <a:ln/>
        </p:spPr>
      </p:sp>
      <p:sp>
        <p:nvSpPr>
          <p:cNvPr id="553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sz="1400" smtClean="0">
              <a:solidFill>
                <a:srgbClr val="FF3300"/>
              </a:solidFill>
            </a:endParaRPr>
          </a:p>
        </p:txBody>
      </p:sp>
    </p:spTree>
    <p:extLst>
      <p:ext uri="{BB962C8B-B14F-4D97-AF65-F5344CB8AC3E}">
        <p14:creationId xmlns:p14="http://schemas.microsoft.com/office/powerpoint/2010/main" val="1219731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D204E99-A2BF-49D9-8F75-441BCEC9707F}" type="slidenum">
              <a:rPr lang="en-US" altLang="zh-CN" smtClean="0"/>
              <a:pPr>
                <a:defRPr/>
              </a:pPr>
              <a:t>28</a:t>
            </a:fld>
            <a:endParaRPr lang="en-US" altLang="zh-CN"/>
          </a:p>
        </p:txBody>
      </p:sp>
    </p:spTree>
    <p:extLst>
      <p:ext uri="{BB962C8B-B14F-4D97-AF65-F5344CB8AC3E}">
        <p14:creationId xmlns:p14="http://schemas.microsoft.com/office/powerpoint/2010/main" val="39558506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2C80883-984F-4EA3-8F9A-69612913F6B8}" type="slidenum">
              <a:rPr lang="en-US" altLang="zh-CN" sz="1300" smtClean="0">
                <a:ea typeface="隶书" panose="02010509060101010101" pitchFamily="49" charset="-122"/>
              </a:rPr>
              <a:pPr>
                <a:spcBef>
                  <a:spcPct val="0"/>
                </a:spcBef>
              </a:pPr>
              <a:t>29</a:t>
            </a:fld>
            <a:endParaRPr lang="en-US" altLang="zh-CN" sz="1300" smtClean="0">
              <a:ea typeface="隶书" panose="02010509060101010101" pitchFamily="49" charset="-122"/>
            </a:endParaRPr>
          </a:p>
        </p:txBody>
      </p:sp>
      <p:sp>
        <p:nvSpPr>
          <p:cNvPr id="59395" name="Rectangle 2"/>
          <p:cNvSpPr>
            <a:spLocks noGrp="1" noRot="1" noChangeAspect="1" noChangeArrowheads="1" noTextEdit="1"/>
          </p:cNvSpPr>
          <p:nvPr>
            <p:ph type="sldImg"/>
          </p:nvPr>
        </p:nvSpPr>
        <p:spPr>
          <a:xfrm>
            <a:off x="1150938" y="692150"/>
            <a:ext cx="4556125" cy="3416300"/>
          </a:xfrm>
          <a:ln/>
        </p:spPr>
      </p:sp>
      <p:sp>
        <p:nvSpPr>
          <p:cNvPr id="5939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z="1400" smtClean="0"/>
              <a:t>常用的存储设备有磁盘、光盘、磁带等。其中磁盘又可分为硬盘和软盘。存储设备的特性决定了文件的存取设备和方法，只介绍以磁带为代表的顺序存储设备和以磁盘为代表的直接存储设备的特性及有关存取方法。</a:t>
            </a:r>
          </a:p>
        </p:txBody>
      </p:sp>
    </p:spTree>
    <p:extLst>
      <p:ext uri="{BB962C8B-B14F-4D97-AF65-F5344CB8AC3E}">
        <p14:creationId xmlns:p14="http://schemas.microsoft.com/office/powerpoint/2010/main" val="42051952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C67DC4A-DA1D-4714-911C-B773E7356AD5}" type="slidenum">
              <a:rPr lang="en-US" altLang="zh-CN" sz="1300" smtClean="0">
                <a:ea typeface="隶书" panose="02010509060101010101" pitchFamily="49" charset="-122"/>
              </a:rPr>
              <a:pPr>
                <a:spcBef>
                  <a:spcPct val="0"/>
                </a:spcBef>
              </a:pPr>
              <a:t>30</a:t>
            </a:fld>
            <a:endParaRPr lang="en-US" altLang="zh-CN" sz="1300" smtClean="0">
              <a:ea typeface="隶书" panose="02010509060101010101" pitchFamily="49" charset="-122"/>
            </a:endParaRPr>
          </a:p>
        </p:txBody>
      </p:sp>
      <p:sp>
        <p:nvSpPr>
          <p:cNvPr id="61443" name="Rectangle 2"/>
          <p:cNvSpPr>
            <a:spLocks noGrp="1" noRot="1" noChangeAspect="1" noChangeArrowheads="1" noTextEdit="1"/>
          </p:cNvSpPr>
          <p:nvPr>
            <p:ph type="sldImg"/>
          </p:nvPr>
        </p:nvSpPr>
        <p:spPr>
          <a:xfrm>
            <a:off x="1150938" y="692150"/>
            <a:ext cx="4556125" cy="3416300"/>
          </a:xfrm>
          <a:ln/>
        </p:spPr>
      </p:sp>
      <p:sp>
        <p:nvSpPr>
          <p:cNvPr id="6144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lvl="1" eaLnBrk="1" hangingPunct="1"/>
            <a:r>
              <a:rPr lang="zh-CN" altLang="en-US" smtClean="0"/>
              <a:t>不需要像顺序存取那样事先存取其他的物理块</a:t>
            </a:r>
          </a:p>
          <a:p>
            <a:pPr eaLnBrk="1" hangingPunct="1"/>
            <a:endParaRPr lang="en-US" altLang="zh-CN" smtClean="0"/>
          </a:p>
        </p:txBody>
      </p:sp>
    </p:spTree>
    <p:extLst>
      <p:ext uri="{BB962C8B-B14F-4D97-AF65-F5344CB8AC3E}">
        <p14:creationId xmlns:p14="http://schemas.microsoft.com/office/powerpoint/2010/main" val="16565796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a:xfrm>
            <a:off x="1150938" y="692150"/>
            <a:ext cx="4556125" cy="3416300"/>
          </a:xfrm>
          <a:ln/>
        </p:spPr>
      </p:sp>
      <p:sp>
        <p:nvSpPr>
          <p:cNvPr id="7065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r>
              <a:rPr lang="en-US" altLang="zh-CN" smtClean="0"/>
              <a:t>file metadata </a:t>
            </a:r>
            <a:r>
              <a:rPr lang="zh-CN" altLang="en-US" smtClean="0"/>
              <a:t>：</a:t>
            </a:r>
            <a:r>
              <a:rPr lang="en-US" altLang="zh-CN" smtClean="0"/>
              <a:t>A file’s information has two parts, metadata and data. A </a:t>
            </a:r>
            <a:r>
              <a:rPr lang="en-US" altLang="zh-CN" i="1" smtClean="0"/>
              <a:t>file’s metadata</a:t>
            </a:r>
            <a:r>
              <a:rPr lang="en-US" altLang="zh-CN" smtClean="0"/>
              <a:t/>
            </a:r>
            <a:br>
              <a:rPr lang="en-US" altLang="zh-CN" smtClean="0"/>
            </a:br>
            <a:r>
              <a:rPr lang="en-US" altLang="zh-CN" smtClean="0"/>
              <a:t>is information about the file that is understood and managed by the operating</a:t>
            </a:r>
            <a:br>
              <a:rPr lang="en-US" altLang="zh-CN" smtClean="0"/>
            </a:br>
            <a:r>
              <a:rPr lang="en-US" altLang="zh-CN" smtClean="0"/>
              <a:t>system. For example, a file’s metadata typically includes the file’s </a:t>
            </a:r>
            <a:r>
              <a:rPr lang="en-US" altLang="zh-CN" i="1" smtClean="0"/>
              <a:t>size</a:t>
            </a:r>
            <a:r>
              <a:rPr lang="en-US" altLang="zh-CN" smtClean="0"/>
              <a:t>, its</a:t>
            </a:r>
            <a:br>
              <a:rPr lang="en-US" altLang="zh-CN" smtClean="0"/>
            </a:br>
            <a:r>
              <a:rPr lang="en-US" altLang="zh-CN" i="1" smtClean="0"/>
              <a:t>modification time</a:t>
            </a:r>
            <a:r>
              <a:rPr lang="en-US" altLang="zh-CN" smtClean="0"/>
              <a:t>, its </a:t>
            </a:r>
            <a:r>
              <a:rPr lang="en-US" altLang="zh-CN" i="1" smtClean="0"/>
              <a:t>owner</a:t>
            </a:r>
            <a:r>
              <a:rPr lang="en-US" altLang="zh-CN" smtClean="0"/>
              <a:t>, and its </a:t>
            </a:r>
            <a:r>
              <a:rPr lang="en-US" altLang="zh-CN" i="1" smtClean="0"/>
              <a:t>security information </a:t>
            </a:r>
            <a:r>
              <a:rPr lang="en-US" altLang="zh-CN" smtClean="0"/>
              <a:t>such as whether it</a:t>
            </a:r>
            <a:br>
              <a:rPr lang="en-US" altLang="zh-CN" smtClean="0"/>
            </a:br>
            <a:r>
              <a:rPr lang="en-US" altLang="zh-CN" smtClean="0"/>
              <a:t>may be read, written, or executed by the owner or by other users.</a:t>
            </a:r>
            <a:br>
              <a:rPr lang="en-US" altLang="zh-CN" smtClean="0"/>
            </a:br>
            <a:r>
              <a:rPr lang="en-US" altLang="zh-CN" smtClean="0"/>
              <a:t>file data A </a:t>
            </a:r>
            <a:r>
              <a:rPr lang="en-US" altLang="zh-CN" i="1" smtClean="0"/>
              <a:t>file’s data </a:t>
            </a:r>
            <a:r>
              <a:rPr lang="en-US" altLang="zh-CN" smtClean="0"/>
              <a:t>can be whatever information a user or application puts in it.</a:t>
            </a:r>
            <a:br>
              <a:rPr lang="en-US" altLang="zh-CN" smtClean="0"/>
            </a:br>
            <a:r>
              <a:rPr lang="en-US" altLang="zh-CN" smtClean="0"/>
              <a:t/>
            </a:r>
            <a:br>
              <a:rPr lang="en-US" altLang="zh-CN" smtClean="0"/>
            </a:br>
            <a:endParaRPr lang="zh-CN" altLang="en-US" smtClean="0"/>
          </a:p>
          <a:p>
            <a:endParaRPr lang="zh-CN" altLang="en-US" smtClean="0"/>
          </a:p>
        </p:txBody>
      </p:sp>
      <p:sp>
        <p:nvSpPr>
          <p:cNvPr id="7066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7CE5F60-FAB5-477E-B6C5-7B90DE5BAE8A}" type="slidenum">
              <a:rPr lang="en-US" altLang="zh-CN" sz="1300" smtClean="0">
                <a:ea typeface="隶书" panose="02010509060101010101" pitchFamily="49" charset="-122"/>
              </a:rPr>
              <a:pPr>
                <a:spcBef>
                  <a:spcPct val="0"/>
                </a:spcBef>
              </a:pPr>
              <a:t>39</a:t>
            </a:fld>
            <a:endParaRPr lang="en-US" altLang="zh-CN" sz="1300" smtClean="0">
              <a:ea typeface="隶书" panose="02010509060101010101" pitchFamily="49" charset="-122"/>
            </a:endParaRPr>
          </a:p>
        </p:txBody>
      </p:sp>
    </p:spTree>
    <p:extLst>
      <p:ext uri="{BB962C8B-B14F-4D97-AF65-F5344CB8AC3E}">
        <p14:creationId xmlns:p14="http://schemas.microsoft.com/office/powerpoint/2010/main" val="13662499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xfrm>
            <a:off x="1150938" y="692150"/>
            <a:ext cx="4556125" cy="3416300"/>
          </a:xfrm>
          <a:ln/>
        </p:spPr>
      </p:sp>
      <p:sp>
        <p:nvSpPr>
          <p:cNvPr id="7373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smtClean="0"/>
          </a:p>
        </p:txBody>
      </p:sp>
      <p:sp>
        <p:nvSpPr>
          <p:cNvPr id="7373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D69C2A1-43F9-4888-ABEC-C58F4BC2EBB7}" type="slidenum">
              <a:rPr lang="en-US" altLang="zh-CN" sz="1300" smtClean="0">
                <a:ea typeface="隶书" panose="02010509060101010101" pitchFamily="49" charset="-122"/>
              </a:rPr>
              <a:pPr>
                <a:spcBef>
                  <a:spcPct val="0"/>
                </a:spcBef>
              </a:pPr>
              <a:t>40</a:t>
            </a:fld>
            <a:endParaRPr lang="en-US" altLang="zh-CN" sz="1300" smtClean="0">
              <a:ea typeface="隶书" panose="02010509060101010101" pitchFamily="49" charset="-122"/>
            </a:endParaRPr>
          </a:p>
        </p:txBody>
      </p:sp>
    </p:spTree>
    <p:extLst>
      <p:ext uri="{BB962C8B-B14F-4D97-AF65-F5344CB8AC3E}">
        <p14:creationId xmlns:p14="http://schemas.microsoft.com/office/powerpoint/2010/main" val="13151190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6BC1F14-2146-4E78-B30B-E2016CEAC6D0}" type="slidenum">
              <a:rPr lang="en-US" altLang="zh-CN" sz="1300" smtClean="0">
                <a:ea typeface="隶书" panose="02010509060101010101" pitchFamily="49" charset="-122"/>
              </a:rPr>
              <a:pPr>
                <a:spcBef>
                  <a:spcPct val="0"/>
                </a:spcBef>
              </a:pPr>
              <a:t>41</a:t>
            </a:fld>
            <a:endParaRPr lang="en-US" altLang="zh-CN" sz="1300" smtClean="0">
              <a:ea typeface="隶书" panose="02010509060101010101" pitchFamily="49" charset="-122"/>
            </a:endParaRPr>
          </a:p>
        </p:txBody>
      </p:sp>
      <p:sp>
        <p:nvSpPr>
          <p:cNvPr id="75779" name="Rectangle 2"/>
          <p:cNvSpPr>
            <a:spLocks noGrp="1" noRot="1" noChangeAspect="1" noChangeArrowheads="1" noTextEdit="1"/>
          </p:cNvSpPr>
          <p:nvPr>
            <p:ph type="sldImg"/>
          </p:nvPr>
        </p:nvSpPr>
        <p:spPr>
          <a:xfrm>
            <a:off x="1150938" y="692150"/>
            <a:ext cx="4556125" cy="3416300"/>
          </a:xfrm>
          <a:ln/>
        </p:spPr>
      </p:sp>
      <p:sp>
        <p:nvSpPr>
          <p:cNvPr id="7578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mtClean="0"/>
              <a:t>目录结构的组织关系到文件系统的存取速度，关系到文件共享性和安全性，</a:t>
            </a:r>
          </a:p>
          <a:p>
            <a:pPr eaLnBrk="1" hangingPunct="1"/>
            <a:r>
              <a:rPr lang="zh-CN" altLang="en-US" smtClean="0"/>
              <a:t>组织好文件的目录是设计文件系统的重要环节</a:t>
            </a:r>
            <a:r>
              <a:rPr lang="zh-CN" altLang="en-US" b="1" smtClean="0"/>
              <a:t>在一个目录文件中，不允许两个不同</a:t>
            </a:r>
          </a:p>
          <a:p>
            <a:pPr lvl="2" eaLnBrk="1" hangingPunct="1"/>
            <a:r>
              <a:rPr lang="zh-CN" altLang="en-US" b="1" smtClean="0"/>
              <a:t>的文件具有相同的名字。要求各自独立的用户对文件命名不重名</a:t>
            </a:r>
          </a:p>
          <a:p>
            <a:pPr lvl="2" eaLnBrk="1" hangingPunct="1"/>
            <a:r>
              <a:rPr lang="zh-CN" altLang="en-US" b="1" smtClean="0"/>
              <a:t>是难以做到的。</a:t>
            </a:r>
          </a:p>
        </p:txBody>
      </p:sp>
    </p:spTree>
    <p:extLst>
      <p:ext uri="{BB962C8B-B14F-4D97-AF65-F5344CB8AC3E}">
        <p14:creationId xmlns:p14="http://schemas.microsoft.com/office/powerpoint/2010/main" val="4838560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DA1362C-FE8A-4849-A3FC-0C0F6CE24DA6}" type="slidenum">
              <a:rPr lang="en-US" altLang="zh-CN" sz="1300" smtClean="0">
                <a:ea typeface="隶书" panose="02010509060101010101" pitchFamily="49" charset="-122"/>
              </a:rPr>
              <a:pPr>
                <a:spcBef>
                  <a:spcPct val="0"/>
                </a:spcBef>
              </a:pPr>
              <a:t>42</a:t>
            </a:fld>
            <a:endParaRPr lang="en-US" altLang="zh-CN" sz="1300" smtClean="0">
              <a:ea typeface="隶书" panose="02010509060101010101" pitchFamily="49" charset="-122"/>
            </a:endParaRPr>
          </a:p>
        </p:txBody>
      </p:sp>
      <p:sp>
        <p:nvSpPr>
          <p:cNvPr id="77827" name="Rectangle 2"/>
          <p:cNvSpPr>
            <a:spLocks noGrp="1" noRot="1" noChangeAspect="1" noChangeArrowheads="1" noTextEdit="1"/>
          </p:cNvSpPr>
          <p:nvPr>
            <p:ph type="sldImg"/>
          </p:nvPr>
        </p:nvSpPr>
        <p:spPr>
          <a:xfrm>
            <a:off x="1150938" y="692150"/>
            <a:ext cx="4556125" cy="3416300"/>
          </a:xfrm>
          <a:ln/>
        </p:spPr>
      </p:sp>
      <p:sp>
        <p:nvSpPr>
          <p:cNvPr id="7782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mtClean="0"/>
              <a:t>对一级目录结构的改进，</a:t>
            </a:r>
          </a:p>
          <a:p>
            <a:pPr eaLnBrk="1" hangingPunct="1"/>
            <a:r>
              <a:rPr lang="zh-CN" altLang="en-US" smtClean="0"/>
              <a:t>其目的是改变一级目录文件目录命名冲突，并提高对目录文件检索速度。</a:t>
            </a:r>
          </a:p>
        </p:txBody>
      </p:sp>
    </p:spTree>
    <p:extLst>
      <p:ext uri="{BB962C8B-B14F-4D97-AF65-F5344CB8AC3E}">
        <p14:creationId xmlns:p14="http://schemas.microsoft.com/office/powerpoint/2010/main" val="8317078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D204E99-A2BF-49D9-8F75-441BCEC9707F}" type="slidenum">
              <a:rPr lang="en-US" altLang="zh-CN" smtClean="0"/>
              <a:pPr>
                <a:defRPr/>
              </a:pPr>
              <a:t>44</a:t>
            </a:fld>
            <a:endParaRPr lang="en-US" altLang="zh-CN"/>
          </a:p>
        </p:txBody>
      </p:sp>
    </p:spTree>
    <p:extLst>
      <p:ext uri="{BB962C8B-B14F-4D97-AF65-F5344CB8AC3E}">
        <p14:creationId xmlns:p14="http://schemas.microsoft.com/office/powerpoint/2010/main" val="24488454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4AF8AE3-C66D-487A-83DD-5B6410B2D049}" type="slidenum">
              <a:rPr lang="en-US" altLang="zh-CN" sz="1300" smtClean="0">
                <a:ea typeface="隶书" panose="02010509060101010101" pitchFamily="49" charset="-122"/>
              </a:rPr>
              <a:pPr>
                <a:spcBef>
                  <a:spcPct val="0"/>
                </a:spcBef>
              </a:pPr>
              <a:t>47</a:t>
            </a:fld>
            <a:endParaRPr lang="en-US" altLang="zh-CN" sz="1300" smtClean="0">
              <a:ea typeface="隶书" panose="02010509060101010101" pitchFamily="49" charset="-122"/>
            </a:endParaRPr>
          </a:p>
        </p:txBody>
      </p:sp>
      <p:sp>
        <p:nvSpPr>
          <p:cNvPr id="83971" name="Rectangle 2"/>
          <p:cNvSpPr>
            <a:spLocks noGrp="1" noRot="1" noChangeAspect="1" noChangeArrowheads="1" noTextEdit="1"/>
          </p:cNvSpPr>
          <p:nvPr>
            <p:ph type="sldImg"/>
          </p:nvPr>
        </p:nvSpPr>
        <p:spPr>
          <a:xfrm>
            <a:off x="1150938" y="692150"/>
            <a:ext cx="4556125" cy="3416300"/>
          </a:xfrm>
          <a:ln/>
        </p:spPr>
      </p:sp>
      <p:sp>
        <p:nvSpPr>
          <p:cNvPr id="839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mtClean="0"/>
              <a:t>分区管理：可用表和自由链</a:t>
            </a:r>
          </a:p>
          <a:p>
            <a:pPr eaLnBrk="1" hangingPunct="1"/>
            <a:r>
              <a:rPr lang="zh-CN" altLang="en-US" smtClean="0"/>
              <a:t>页式管理：空闲页面链表、位示图</a:t>
            </a:r>
          </a:p>
          <a:p>
            <a:pPr eaLnBrk="1" hangingPunct="1"/>
            <a:endParaRPr lang="en-US" altLang="zh-CN" sz="1400" smtClean="0">
              <a:solidFill>
                <a:srgbClr val="CC3300"/>
              </a:solidFill>
            </a:endParaRPr>
          </a:p>
        </p:txBody>
      </p:sp>
    </p:spTree>
    <p:extLst>
      <p:ext uri="{BB962C8B-B14F-4D97-AF65-F5344CB8AC3E}">
        <p14:creationId xmlns:p14="http://schemas.microsoft.com/office/powerpoint/2010/main" val="8417951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5F2A49E-91B9-4C23-A96F-EF1563715B32}" type="slidenum">
              <a:rPr lang="en-US" altLang="zh-CN" sz="1300" smtClean="0">
                <a:ea typeface="隶书" panose="02010509060101010101" pitchFamily="49" charset="-122"/>
              </a:rPr>
              <a:pPr>
                <a:spcBef>
                  <a:spcPct val="0"/>
                </a:spcBef>
              </a:pPr>
              <a:t>48</a:t>
            </a:fld>
            <a:endParaRPr lang="en-US" altLang="zh-CN" sz="1300" smtClean="0">
              <a:ea typeface="隶书" panose="02010509060101010101" pitchFamily="49" charset="-122"/>
            </a:endParaRPr>
          </a:p>
        </p:txBody>
      </p:sp>
      <p:sp>
        <p:nvSpPr>
          <p:cNvPr id="86019" name="Rectangle 2"/>
          <p:cNvSpPr>
            <a:spLocks noGrp="1" noRot="1" noChangeAspect="1" noChangeArrowheads="1" noTextEdit="1"/>
          </p:cNvSpPr>
          <p:nvPr>
            <p:ph type="sldImg"/>
          </p:nvPr>
        </p:nvSpPr>
        <p:spPr>
          <a:xfrm>
            <a:off x="1150938" y="692150"/>
            <a:ext cx="4556125" cy="3416300"/>
          </a:xfrm>
          <a:ln/>
        </p:spPr>
      </p:sp>
      <p:sp>
        <p:nvSpPr>
          <p:cNvPr id="800771" name="Rectangle 3"/>
          <p:cNvSpPr>
            <a:spLocks noGrp="1" noChangeArrowheads="1"/>
          </p:cNvSpPr>
          <p:nvPr>
            <p:ph type="body" idx="1"/>
          </p:nvPr>
        </p:nvSpPr>
        <p:spPr/>
        <p:txBody>
          <a:bodyPr/>
          <a:lstStyle/>
          <a:p>
            <a:pPr eaLnBrk="1" hangingPunct="1">
              <a:defRPr/>
            </a:pPr>
            <a:r>
              <a:rPr lang="zh-CN" altLang="en-US" sz="1400" smtClean="0"/>
              <a:t>最简单的空闲块管理方法</a:t>
            </a:r>
            <a:endParaRPr lang="zh-CN" altLang="en-US" b="1" smtClean="0"/>
          </a:p>
          <a:p>
            <a:pPr eaLnBrk="1" hangingPunct="1">
              <a:defRPr/>
            </a:pPr>
            <a:r>
              <a:rPr lang="zh-CN" altLang="en-US" b="1" smtClean="0"/>
              <a:t>空闲文件目录：可用表</a:t>
            </a:r>
          </a:p>
          <a:p>
            <a:pPr eaLnBrk="1" hangingPunct="1">
              <a:defRPr/>
            </a:pPr>
            <a:r>
              <a:rPr lang="zh-CN" altLang="en-US" sz="1400" smtClean="0"/>
              <a:t>空闲块链</a:t>
            </a:r>
            <a:r>
              <a:rPr lang="en-US" altLang="zh-CN" sz="1400" smtClean="0">
                <a:solidFill>
                  <a:srgbClr val="FF3300"/>
                </a:solidFill>
              </a:rPr>
              <a:t>//</a:t>
            </a:r>
            <a:r>
              <a:rPr lang="zh-CN" altLang="en-US" sz="1400" smtClean="0">
                <a:solidFill>
                  <a:srgbClr val="FF3300"/>
                </a:solidFill>
              </a:rPr>
              <a:t>分区存储管理中的自由链</a:t>
            </a:r>
          </a:p>
          <a:p>
            <a:pPr eaLnBrk="1" hangingPunct="1">
              <a:defRPr/>
            </a:pPr>
            <a:r>
              <a:rPr lang="zh-CN" altLang="en-US" b="1" smtClean="0"/>
              <a:t>首次</a:t>
            </a:r>
            <a:r>
              <a:rPr lang="en-US" altLang="zh-CN" b="1" smtClean="0"/>
              <a:t>/</a:t>
            </a:r>
            <a:r>
              <a:rPr lang="zh-CN" altLang="en-US" b="1" smtClean="0"/>
              <a:t>最佳</a:t>
            </a:r>
            <a:r>
              <a:rPr lang="en-US" altLang="zh-CN" b="1" smtClean="0"/>
              <a:t>/</a:t>
            </a:r>
            <a:r>
              <a:rPr lang="zh-CN" altLang="en-US" b="1" smtClean="0"/>
              <a:t>最坏</a:t>
            </a:r>
          </a:p>
          <a:p>
            <a:pPr eaLnBrk="1" hangingPunct="1">
              <a:defRPr/>
            </a:pPr>
            <a:r>
              <a:rPr lang="zh-CN" altLang="en-US" b="1" smtClean="0">
                <a:solidFill>
                  <a:srgbClr val="FFCCFF"/>
                </a:solidFill>
                <a:effectLst>
                  <a:outerShdw blurRad="38100" dist="38100" dir="2700000" algn="tl">
                    <a:srgbClr val="C0C0C0"/>
                  </a:outerShdw>
                </a:effectLst>
              </a:rPr>
              <a:t>空闲分区管理：可用表或自由链</a:t>
            </a:r>
            <a:endParaRPr lang="zh-CN" altLang="en-US" b="1" smtClean="0"/>
          </a:p>
          <a:p>
            <a:pPr eaLnBrk="1" hangingPunct="1">
              <a:defRPr/>
            </a:pPr>
            <a:endParaRPr lang="zh-CN" altLang="en-US" b="1" smtClean="0"/>
          </a:p>
          <a:p>
            <a:pPr eaLnBrk="1" hangingPunct="1">
              <a:defRPr/>
            </a:pPr>
            <a:endParaRPr lang="en-US" altLang="zh-CN" smtClean="0"/>
          </a:p>
        </p:txBody>
      </p:sp>
    </p:spTree>
    <p:extLst>
      <p:ext uri="{BB962C8B-B14F-4D97-AF65-F5344CB8AC3E}">
        <p14:creationId xmlns:p14="http://schemas.microsoft.com/office/powerpoint/2010/main" val="24890924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201D006-7CFA-4075-B37F-121072E0C2F0}" type="slidenum">
              <a:rPr lang="en-US" altLang="zh-CN" sz="1300" smtClean="0">
                <a:ea typeface="隶书" panose="02010509060101010101" pitchFamily="49" charset="-122"/>
              </a:rPr>
              <a:pPr>
                <a:spcBef>
                  <a:spcPct val="0"/>
                </a:spcBef>
              </a:pPr>
              <a:t>50</a:t>
            </a:fld>
            <a:endParaRPr lang="en-US" altLang="zh-CN" sz="1300" smtClean="0">
              <a:ea typeface="隶书" panose="02010509060101010101" pitchFamily="49" charset="-122"/>
            </a:endParaRPr>
          </a:p>
        </p:txBody>
      </p:sp>
      <p:sp>
        <p:nvSpPr>
          <p:cNvPr id="89091" name="Rectangle 2"/>
          <p:cNvSpPr>
            <a:spLocks noGrp="1" noRot="1" noChangeAspect="1" noChangeArrowheads="1" noTextEdit="1"/>
          </p:cNvSpPr>
          <p:nvPr>
            <p:ph type="sldImg"/>
          </p:nvPr>
        </p:nvSpPr>
        <p:spPr>
          <a:xfrm>
            <a:off x="1150938" y="692150"/>
            <a:ext cx="4556125" cy="3416300"/>
          </a:xfrm>
          <a:ln/>
        </p:spPr>
      </p:sp>
      <p:sp>
        <p:nvSpPr>
          <p:cNvPr id="8909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lnSpc>
                <a:spcPct val="130000"/>
              </a:lnSpc>
            </a:pPr>
            <a:r>
              <a:rPr lang="zh-CN" altLang="en-US" sz="1400" smtClean="0">
                <a:latin typeface="楷体_GB2312" pitchFamily="49" charset="-122"/>
              </a:rPr>
              <a:t>（可采用连续或离散分配）</a:t>
            </a:r>
          </a:p>
          <a:p>
            <a:pPr eaLnBrk="1" hangingPunct="1">
              <a:lnSpc>
                <a:spcPct val="130000"/>
              </a:lnSpc>
            </a:pPr>
            <a:r>
              <a:rPr lang="zh-CN" altLang="en-US" sz="1400" smtClean="0"/>
              <a:t>空闲文件目录和空闲块链法在分配和回收空闲块时，都需在文件存储设备上查找空闲文件目录项或链接块号，这必须经过设备管理程序启动外设才能完成。</a:t>
            </a:r>
          </a:p>
          <a:p>
            <a:pPr eaLnBrk="1" hangingPunct="1">
              <a:lnSpc>
                <a:spcPct val="130000"/>
              </a:lnSpc>
            </a:pPr>
            <a:r>
              <a:rPr lang="zh-CN" altLang="en-US" sz="1400" smtClean="0"/>
              <a:t>为提高空闲块的分配回收速度，用位示图进行管理。</a:t>
            </a:r>
          </a:p>
          <a:p>
            <a:pPr eaLnBrk="1" hangingPunct="1">
              <a:lnSpc>
                <a:spcPct val="130000"/>
              </a:lnSpc>
            </a:pPr>
            <a:r>
              <a:rPr lang="zh-CN" altLang="en-US" smtClean="0"/>
              <a:t>常用的管理存储空间的办法</a:t>
            </a:r>
          </a:p>
          <a:p>
            <a:pPr eaLnBrk="1" hangingPunct="1">
              <a:lnSpc>
                <a:spcPct val="130000"/>
              </a:lnSpc>
            </a:pPr>
            <a:endParaRPr lang="zh-CN" altLang="en-US" sz="1400" smtClean="0"/>
          </a:p>
          <a:p>
            <a:pPr eaLnBrk="1" hangingPunct="1"/>
            <a:endParaRPr lang="en-US" altLang="zh-CN" smtClean="0"/>
          </a:p>
        </p:txBody>
      </p:sp>
    </p:spTree>
    <p:extLst>
      <p:ext uri="{BB962C8B-B14F-4D97-AF65-F5344CB8AC3E}">
        <p14:creationId xmlns:p14="http://schemas.microsoft.com/office/powerpoint/2010/main" val="2602805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33"/>
          <p:cNvGrpSpPr>
            <a:grpSpLocks/>
          </p:cNvGrpSpPr>
          <p:nvPr/>
        </p:nvGrpSpPr>
        <p:grpSpPr bwMode="auto">
          <a:xfrm>
            <a:off x="0" y="0"/>
            <a:ext cx="1085850" cy="6854825"/>
            <a:chOff x="0" y="0"/>
            <a:chExt cx="684" cy="4318"/>
          </a:xfrm>
        </p:grpSpPr>
        <p:sp>
          <p:nvSpPr>
            <p:cNvPr id="5"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6" name="Group 32"/>
            <p:cNvGrpSpPr>
              <a:grpSpLocks/>
            </p:cNvGrpSpPr>
            <p:nvPr/>
          </p:nvGrpSpPr>
          <p:grpSpPr bwMode="auto">
            <a:xfrm>
              <a:off x="48" y="103"/>
              <a:ext cx="96" cy="4126"/>
              <a:chOff x="48" y="103"/>
              <a:chExt cx="96" cy="4126"/>
            </a:xfrm>
          </p:grpSpPr>
          <p:sp>
            <p:nvSpPr>
              <p:cNvPr id="7"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8" name="Rectangle 4"/>
              <p:cNvSpPr>
                <a:spLocks noChangeArrowheads="1"/>
              </p:cNvSpPr>
              <p:nvPr/>
            </p:nvSpPr>
            <p:spPr bwMode="auto">
              <a:xfrm>
                <a:off x="48" y="1250"/>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 name="Rectangle 6"/>
              <p:cNvSpPr>
                <a:spLocks noChangeArrowheads="1"/>
              </p:cNvSpPr>
              <p:nvPr/>
            </p:nvSpPr>
            <p:spPr bwMode="auto">
              <a:xfrm>
                <a:off x="48" y="153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 name="Rectangle 8"/>
              <p:cNvSpPr>
                <a:spLocks noChangeArrowheads="1"/>
              </p:cNvSpPr>
              <p:nvPr/>
            </p:nvSpPr>
            <p:spPr bwMode="auto">
              <a:xfrm>
                <a:off x="48" y="182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3"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4" name="Rectangle 10"/>
              <p:cNvSpPr>
                <a:spLocks noChangeArrowheads="1"/>
              </p:cNvSpPr>
              <p:nvPr/>
            </p:nvSpPr>
            <p:spPr bwMode="auto">
              <a:xfrm>
                <a:off x="48" y="2116"/>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6" name="Rectangle 12"/>
              <p:cNvSpPr>
                <a:spLocks noChangeArrowheads="1"/>
              </p:cNvSpPr>
              <p:nvPr/>
            </p:nvSpPr>
            <p:spPr bwMode="auto">
              <a:xfrm>
                <a:off x="48" y="2404"/>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7" name="Rectangle 13"/>
              <p:cNvSpPr>
                <a:spLocks noChangeArrowheads="1"/>
              </p:cNvSpPr>
              <p:nvPr/>
            </p:nvSpPr>
            <p:spPr bwMode="auto">
              <a:xfrm>
                <a:off x="48" y="2549"/>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8" name="Rectangle 14"/>
              <p:cNvSpPr>
                <a:spLocks noChangeArrowheads="1"/>
              </p:cNvSpPr>
              <p:nvPr/>
            </p:nvSpPr>
            <p:spPr bwMode="auto">
              <a:xfrm>
                <a:off x="48" y="2691"/>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0" name="Rectangle 16"/>
              <p:cNvSpPr>
                <a:spLocks noChangeArrowheads="1"/>
              </p:cNvSpPr>
              <p:nvPr/>
            </p:nvSpPr>
            <p:spPr bwMode="auto">
              <a:xfrm>
                <a:off x="48" y="2979"/>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4" name="Rectangle 20"/>
              <p:cNvSpPr>
                <a:spLocks noChangeArrowheads="1"/>
              </p:cNvSpPr>
              <p:nvPr/>
            </p:nvSpPr>
            <p:spPr bwMode="auto">
              <a:xfrm>
                <a:off x="48" y="3557"/>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8" name="Rectangle 24"/>
              <p:cNvSpPr>
                <a:spLocks noChangeArrowheads="1"/>
              </p:cNvSpPr>
              <p:nvPr/>
            </p:nvSpPr>
            <p:spPr bwMode="auto">
              <a:xfrm>
                <a:off x="48" y="4134"/>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9" name="Rectangle 25"/>
              <p:cNvSpPr>
                <a:spLocks noChangeArrowheads="1"/>
              </p:cNvSpPr>
              <p:nvPr/>
            </p:nvSpPr>
            <p:spPr bwMode="auto">
              <a:xfrm>
                <a:off x="48" y="103"/>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3" name="Rectangle 29"/>
              <p:cNvSpPr>
                <a:spLocks noChangeArrowheads="1"/>
              </p:cNvSpPr>
              <p:nvPr/>
            </p:nvSpPr>
            <p:spPr bwMode="auto">
              <a:xfrm>
                <a:off x="48" y="67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3106" name="Rectangle 34"/>
          <p:cNvSpPr>
            <a:spLocks noGrp="1" noChangeArrowheads="1"/>
          </p:cNvSpPr>
          <p:nvPr>
            <p:ph type="ctrTitle" sz="quarter"/>
          </p:nvPr>
        </p:nvSpPr>
        <p:spPr>
          <a:xfrm>
            <a:off x="1143000" y="2286000"/>
            <a:ext cx="7772400" cy="1143000"/>
          </a:xfrm>
        </p:spPr>
        <p:txBody>
          <a:bodyPr/>
          <a:lstStyle>
            <a:lvl1pPr>
              <a:defRPr/>
            </a:lvl1pPr>
          </a:lstStyle>
          <a:p>
            <a:r>
              <a:rPr lang="en-US" altLang="zh-CN"/>
              <a:t>Click to edit Master title style</a:t>
            </a:r>
          </a:p>
        </p:txBody>
      </p:sp>
      <p:sp>
        <p:nvSpPr>
          <p:cNvPr id="3107" name="Rectangle 35"/>
          <p:cNvSpPr>
            <a:spLocks noGrp="1" noChangeArrowheads="1"/>
          </p:cNvSpPr>
          <p:nvPr>
            <p:ph type="subTitle" sz="quarter" idx="1"/>
          </p:nvPr>
        </p:nvSpPr>
        <p:spPr>
          <a:xfrm>
            <a:off x="1828800" y="3886200"/>
            <a:ext cx="6400800" cy="1752600"/>
          </a:xfrm>
        </p:spPr>
        <p:txBody>
          <a:bodyPr/>
          <a:lstStyle>
            <a:lvl1pPr marL="0" indent="0" algn="ctr">
              <a:buFont typeface="Monotype Sorts" pitchFamily="2" charset="2"/>
              <a:buNone/>
              <a:defRPr/>
            </a:lvl1pPr>
          </a:lstStyle>
          <a:p>
            <a:r>
              <a:rPr lang="en-US" altLang="zh-CN"/>
              <a:t>Click to edit Master subtitle style</a:t>
            </a:r>
          </a:p>
        </p:txBody>
      </p:sp>
      <p:sp>
        <p:nvSpPr>
          <p:cNvPr id="36" name="Rectangle 36"/>
          <p:cNvSpPr>
            <a:spLocks noGrp="1" noChangeArrowheads="1"/>
          </p:cNvSpPr>
          <p:nvPr>
            <p:ph type="dt" sz="quarter" idx="10"/>
          </p:nvPr>
        </p:nvSpPr>
        <p:spPr>
          <a:xfrm>
            <a:off x="1143000" y="6248400"/>
            <a:ext cx="1905000" cy="457200"/>
          </a:xfrm>
        </p:spPr>
        <p:txBody>
          <a:bodyPr/>
          <a:lstStyle>
            <a:lvl1pPr>
              <a:defRPr/>
            </a:lvl1pPr>
          </a:lstStyle>
          <a:p>
            <a:pPr>
              <a:defRPr/>
            </a:pPr>
            <a:fld id="{394AAAF5-532F-4286-8087-1EE77342A63D}" type="datetime1">
              <a:rPr lang="zh-CN" altLang="en-US"/>
              <a:pPr>
                <a:defRPr/>
              </a:pPr>
              <a:t>2024/12/4</a:t>
            </a:fld>
            <a:endParaRPr lang="en-US" altLang="zh-CN"/>
          </a:p>
        </p:txBody>
      </p:sp>
      <p:sp>
        <p:nvSpPr>
          <p:cNvPr id="37" name="Rectangle 37"/>
          <p:cNvSpPr>
            <a:spLocks noGrp="1" noChangeArrowheads="1"/>
          </p:cNvSpPr>
          <p:nvPr>
            <p:ph type="ftr" sz="quarter" idx="11"/>
          </p:nvPr>
        </p:nvSpPr>
        <p:spPr>
          <a:xfrm>
            <a:off x="3581400" y="6248400"/>
            <a:ext cx="2895600" cy="457200"/>
          </a:xfrm>
        </p:spPr>
        <p:txBody>
          <a:bodyPr/>
          <a:lstStyle>
            <a:lvl1pPr>
              <a:defRPr/>
            </a:lvl1pPr>
          </a:lstStyle>
          <a:p>
            <a:pPr>
              <a:defRPr/>
            </a:pPr>
            <a:endParaRPr lang="en-US" altLang="zh-CN"/>
          </a:p>
        </p:txBody>
      </p:sp>
      <p:sp>
        <p:nvSpPr>
          <p:cNvPr id="38" name="Rectangle 38"/>
          <p:cNvSpPr>
            <a:spLocks noGrp="1" noChangeArrowheads="1"/>
          </p:cNvSpPr>
          <p:nvPr>
            <p:ph type="sldNum" sz="quarter" idx="12"/>
          </p:nvPr>
        </p:nvSpPr>
        <p:spPr>
          <a:xfrm>
            <a:off x="7010400" y="6248400"/>
            <a:ext cx="1905000" cy="457200"/>
          </a:xfrm>
        </p:spPr>
        <p:txBody>
          <a:bodyPr/>
          <a:lstStyle>
            <a:lvl1pPr>
              <a:defRPr/>
            </a:lvl1pPr>
          </a:lstStyle>
          <a:p>
            <a:pPr>
              <a:defRPr/>
            </a:pPr>
            <a:fld id="{0C2BFFE8-88A0-45CD-BD99-653CADDCD4AD}" type="slidenum">
              <a:rPr lang="en-US" altLang="zh-CN"/>
              <a:pPr>
                <a:defRPr/>
              </a:pPr>
              <a:t>‹#›</a:t>
            </a:fld>
            <a:endParaRPr lang="en-US" altLang="zh-CN"/>
          </a:p>
        </p:txBody>
      </p:sp>
    </p:spTree>
    <p:extLst>
      <p:ext uri="{BB962C8B-B14F-4D97-AF65-F5344CB8AC3E}">
        <p14:creationId xmlns:p14="http://schemas.microsoft.com/office/powerpoint/2010/main" val="4015723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7FCA0350-E2C7-4C3F-B45E-5ED928986F04}" type="datetime1">
              <a:rPr lang="zh-CN" altLang="en-US"/>
              <a:pPr>
                <a:defRPr/>
              </a:pPr>
              <a:t>2024/12/4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4D18CCF0-A072-4DBD-9DA3-362055088704}" type="slidenum">
              <a:rPr lang="zh-CN" altLang="en-US"/>
              <a:pPr>
                <a:defRPr/>
              </a:pPr>
              <a:t>‹#›</a:t>
            </a:fld>
            <a:r>
              <a:rPr lang="zh-CN" altLang="en-US"/>
              <a:t> 页</a:t>
            </a:r>
          </a:p>
        </p:txBody>
      </p:sp>
    </p:spTree>
    <p:extLst>
      <p:ext uri="{BB962C8B-B14F-4D97-AF65-F5344CB8AC3E}">
        <p14:creationId xmlns:p14="http://schemas.microsoft.com/office/powerpoint/2010/main" val="1975652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36"/>
          <p:cNvSpPr>
            <a:spLocks noGrp="1" noChangeArrowheads="1"/>
          </p:cNvSpPr>
          <p:nvPr>
            <p:ph type="dt" sz="half" idx="10"/>
          </p:nvPr>
        </p:nvSpPr>
        <p:spPr/>
        <p:txBody>
          <a:bodyPr/>
          <a:lstStyle>
            <a:lvl1pPr>
              <a:defRPr/>
            </a:lvl1pPr>
          </a:lstStyle>
          <a:p>
            <a:pPr>
              <a:defRPr/>
            </a:pPr>
            <a:fld id="{0B6D1341-F78E-49F0-9610-F78ED1CD133B}" type="datetime1">
              <a:rPr lang="zh-CN" altLang="en-US"/>
              <a:pPr>
                <a:defRPr/>
              </a:pPr>
              <a:t>2024/12/4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8519D63C-5EA9-49E2-8385-F834B696D880}" type="slidenum">
              <a:rPr lang="zh-CN" altLang="en-US"/>
              <a:pPr>
                <a:defRPr/>
              </a:pPr>
              <a:t>‹#›</a:t>
            </a:fld>
            <a:r>
              <a:rPr lang="zh-CN" altLang="en-US"/>
              <a:t> 页</a:t>
            </a:r>
          </a:p>
        </p:txBody>
      </p:sp>
    </p:spTree>
    <p:extLst>
      <p:ext uri="{BB962C8B-B14F-4D97-AF65-F5344CB8AC3E}">
        <p14:creationId xmlns:p14="http://schemas.microsoft.com/office/powerpoint/2010/main" val="407332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430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7AE98789-F8A9-4B5F-BEE4-6250E5425CAE}" type="datetime1">
              <a:rPr lang="zh-CN" altLang="en-US"/>
              <a:pPr>
                <a:defRPr/>
              </a:pPr>
              <a:t>2024/12/4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7409795D-40E7-4A5D-BA3F-90C01BB69497}" type="slidenum">
              <a:rPr lang="zh-CN" altLang="en-US"/>
              <a:pPr>
                <a:defRPr/>
              </a:pPr>
              <a:t>‹#›</a:t>
            </a:fld>
            <a:r>
              <a:rPr lang="zh-CN" altLang="en-US"/>
              <a:t> 页</a:t>
            </a:r>
          </a:p>
        </p:txBody>
      </p:sp>
    </p:spTree>
    <p:extLst>
      <p:ext uri="{BB962C8B-B14F-4D97-AF65-F5344CB8AC3E}">
        <p14:creationId xmlns:p14="http://schemas.microsoft.com/office/powerpoint/2010/main" val="251579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36"/>
          <p:cNvSpPr>
            <a:spLocks noGrp="1" noChangeArrowheads="1"/>
          </p:cNvSpPr>
          <p:nvPr>
            <p:ph type="dt" sz="half" idx="10"/>
          </p:nvPr>
        </p:nvSpPr>
        <p:spPr/>
        <p:txBody>
          <a:bodyPr/>
          <a:lstStyle>
            <a:lvl1pPr>
              <a:defRPr/>
            </a:lvl1pPr>
          </a:lstStyle>
          <a:p>
            <a:pPr>
              <a:defRPr/>
            </a:pPr>
            <a:fld id="{BBD87684-F0D2-4E98-8235-739B1F111B16}" type="datetime1">
              <a:rPr lang="zh-CN" altLang="en-US"/>
              <a:pPr>
                <a:defRPr/>
              </a:pPr>
              <a:t>2024/12/4</a:t>
            </a:fld>
            <a:endParaRPr lang="en-US" altLang="zh-CN"/>
          </a:p>
        </p:txBody>
      </p:sp>
      <p:sp>
        <p:nvSpPr>
          <p:cNvPr id="8" name="Rectangle 37"/>
          <p:cNvSpPr>
            <a:spLocks noGrp="1" noChangeArrowheads="1"/>
          </p:cNvSpPr>
          <p:nvPr>
            <p:ph type="ftr" sz="quarter" idx="11"/>
          </p:nvPr>
        </p:nvSpPr>
        <p:spPr/>
        <p:txBody>
          <a:bodyPr/>
          <a:lstStyle>
            <a:lvl1pPr>
              <a:defRPr/>
            </a:lvl1pPr>
          </a:lstStyle>
          <a:p>
            <a:pPr>
              <a:defRPr/>
            </a:pPr>
            <a:endParaRPr lang="en-US" altLang="zh-CN"/>
          </a:p>
        </p:txBody>
      </p:sp>
      <p:sp>
        <p:nvSpPr>
          <p:cNvPr id="9" name="Rectangle 38"/>
          <p:cNvSpPr>
            <a:spLocks noGrp="1" noChangeArrowheads="1"/>
          </p:cNvSpPr>
          <p:nvPr>
            <p:ph type="sldNum" sz="quarter" idx="12"/>
          </p:nvPr>
        </p:nvSpPr>
        <p:spPr/>
        <p:txBody>
          <a:bodyPr/>
          <a:lstStyle>
            <a:lvl1pPr>
              <a:defRPr/>
            </a:lvl1pPr>
          </a:lstStyle>
          <a:p>
            <a:pPr>
              <a:defRPr/>
            </a:pPr>
            <a:r>
              <a:rPr lang="zh-CN" altLang="en-US"/>
              <a:t>第 </a:t>
            </a:r>
            <a:fld id="{D2059273-7D80-4E3B-8BCE-583D5260105C}" type="slidenum">
              <a:rPr lang="zh-CN" altLang="en-US"/>
              <a:pPr>
                <a:defRPr/>
              </a:pPr>
              <a:t>‹#›</a:t>
            </a:fld>
            <a:r>
              <a:rPr lang="zh-CN" altLang="en-US"/>
              <a:t> 页</a:t>
            </a:r>
          </a:p>
        </p:txBody>
      </p:sp>
    </p:spTree>
    <p:extLst>
      <p:ext uri="{BB962C8B-B14F-4D97-AF65-F5344CB8AC3E}">
        <p14:creationId xmlns:p14="http://schemas.microsoft.com/office/powerpoint/2010/main" val="1085483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36"/>
          <p:cNvSpPr>
            <a:spLocks noGrp="1" noChangeArrowheads="1"/>
          </p:cNvSpPr>
          <p:nvPr>
            <p:ph type="dt" sz="half" idx="10"/>
          </p:nvPr>
        </p:nvSpPr>
        <p:spPr/>
        <p:txBody>
          <a:bodyPr/>
          <a:lstStyle>
            <a:lvl1pPr>
              <a:defRPr/>
            </a:lvl1pPr>
          </a:lstStyle>
          <a:p>
            <a:pPr>
              <a:defRPr/>
            </a:pPr>
            <a:fld id="{2F832044-E465-4215-A18A-293C1E55801A}" type="datetime1">
              <a:rPr lang="zh-CN" altLang="en-US"/>
              <a:pPr>
                <a:defRPr/>
              </a:pPr>
              <a:t>2024/12/4</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97A9B27E-F6AD-429A-B769-769820E19C6F}" type="slidenum">
              <a:rPr lang="zh-CN" altLang="en-US"/>
              <a:pPr>
                <a:defRPr/>
              </a:pPr>
              <a:t>‹#›</a:t>
            </a:fld>
            <a:r>
              <a:rPr lang="zh-CN" altLang="en-US"/>
              <a:t> 页</a:t>
            </a:r>
          </a:p>
        </p:txBody>
      </p:sp>
    </p:spTree>
    <p:extLst>
      <p:ext uri="{BB962C8B-B14F-4D97-AF65-F5344CB8AC3E}">
        <p14:creationId xmlns:p14="http://schemas.microsoft.com/office/powerpoint/2010/main" val="294273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36"/>
          <p:cNvSpPr>
            <a:spLocks noGrp="1" noChangeArrowheads="1"/>
          </p:cNvSpPr>
          <p:nvPr>
            <p:ph type="dt" sz="half" idx="10"/>
          </p:nvPr>
        </p:nvSpPr>
        <p:spPr/>
        <p:txBody>
          <a:bodyPr/>
          <a:lstStyle>
            <a:lvl1pPr>
              <a:defRPr/>
            </a:lvl1pPr>
          </a:lstStyle>
          <a:p>
            <a:pPr>
              <a:defRPr/>
            </a:pPr>
            <a:fld id="{0F3703A3-1889-4D5A-B002-82B1611E7DF6}" type="datetime1">
              <a:rPr lang="zh-CN" altLang="en-US"/>
              <a:pPr>
                <a:defRPr/>
              </a:pPr>
              <a:t>2024/12/4</a:t>
            </a:fld>
            <a:endParaRPr lang="en-US" altLang="zh-CN"/>
          </a:p>
        </p:txBody>
      </p:sp>
      <p:sp>
        <p:nvSpPr>
          <p:cNvPr id="3" name="Rectangle 37"/>
          <p:cNvSpPr>
            <a:spLocks noGrp="1" noChangeArrowheads="1"/>
          </p:cNvSpPr>
          <p:nvPr>
            <p:ph type="ftr" sz="quarter" idx="11"/>
          </p:nvPr>
        </p:nvSpPr>
        <p:spPr/>
        <p:txBody>
          <a:bodyPr/>
          <a:lstStyle>
            <a:lvl1pPr>
              <a:defRPr/>
            </a:lvl1pPr>
          </a:lstStyle>
          <a:p>
            <a:pPr>
              <a:defRPr/>
            </a:pPr>
            <a:endParaRPr lang="en-US" altLang="zh-CN"/>
          </a:p>
        </p:txBody>
      </p:sp>
      <p:sp>
        <p:nvSpPr>
          <p:cNvPr id="4" name="Rectangle 38"/>
          <p:cNvSpPr>
            <a:spLocks noGrp="1" noChangeArrowheads="1"/>
          </p:cNvSpPr>
          <p:nvPr>
            <p:ph type="sldNum" sz="quarter" idx="12"/>
          </p:nvPr>
        </p:nvSpPr>
        <p:spPr/>
        <p:txBody>
          <a:bodyPr/>
          <a:lstStyle>
            <a:lvl1pPr>
              <a:defRPr/>
            </a:lvl1pPr>
          </a:lstStyle>
          <a:p>
            <a:pPr>
              <a:defRPr/>
            </a:pPr>
            <a:r>
              <a:rPr lang="zh-CN" altLang="en-US"/>
              <a:t>第 </a:t>
            </a:r>
            <a:fld id="{AA9BF305-28BD-41C0-8AA3-BF5601F9D25F}" type="slidenum">
              <a:rPr lang="zh-CN" altLang="en-US"/>
              <a:pPr>
                <a:defRPr/>
              </a:pPr>
              <a:t>‹#›</a:t>
            </a:fld>
            <a:r>
              <a:rPr lang="zh-CN" altLang="en-US"/>
              <a:t> 页</a:t>
            </a:r>
          </a:p>
        </p:txBody>
      </p:sp>
    </p:spTree>
    <p:extLst>
      <p:ext uri="{BB962C8B-B14F-4D97-AF65-F5344CB8AC3E}">
        <p14:creationId xmlns:p14="http://schemas.microsoft.com/office/powerpoint/2010/main" val="408380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DC6E5853-D849-460E-9F4F-6003FF06D3DA}" type="datetime1">
              <a:rPr lang="zh-CN" altLang="en-US"/>
              <a:pPr>
                <a:defRPr/>
              </a:pPr>
              <a:t>2024/12/4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B03169C1-45E3-47B7-AD5D-8FF29948B46E}" type="slidenum">
              <a:rPr lang="zh-CN" altLang="en-US"/>
              <a:pPr>
                <a:defRPr/>
              </a:pPr>
              <a:t>‹#›</a:t>
            </a:fld>
            <a:r>
              <a:rPr lang="zh-CN" altLang="en-US"/>
              <a:t> 页</a:t>
            </a:r>
          </a:p>
        </p:txBody>
      </p:sp>
    </p:spTree>
    <p:extLst>
      <p:ext uri="{BB962C8B-B14F-4D97-AF65-F5344CB8AC3E}">
        <p14:creationId xmlns:p14="http://schemas.microsoft.com/office/powerpoint/2010/main" val="3414277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1549D3A2-BCD0-4CFB-ABCB-27401639CB2C}" type="datetime1">
              <a:rPr lang="zh-CN" altLang="en-US"/>
              <a:pPr>
                <a:defRPr/>
              </a:pPr>
              <a:t>2024/12/4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98695DA6-D3C0-4362-B9C6-2058F88EAA16}" type="slidenum">
              <a:rPr lang="zh-CN" altLang="en-US"/>
              <a:pPr>
                <a:defRPr/>
              </a:pPr>
              <a:t>‹#›</a:t>
            </a:fld>
            <a:r>
              <a:rPr lang="zh-CN" altLang="en-US"/>
              <a:t> 页</a:t>
            </a:r>
          </a:p>
        </p:txBody>
      </p:sp>
    </p:spTree>
    <p:extLst>
      <p:ext uri="{BB962C8B-B14F-4D97-AF65-F5344CB8AC3E}">
        <p14:creationId xmlns:p14="http://schemas.microsoft.com/office/powerpoint/2010/main" val="2061160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0A0937CE-14AC-4FDC-8791-A5C3FABEA371}" type="datetime1">
              <a:rPr lang="zh-CN" altLang="en-US"/>
              <a:pPr>
                <a:defRPr/>
              </a:pPr>
              <a:t>2024/12/4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F9CE347-85B5-4E19-9840-3BD30714E280}" type="slidenum">
              <a:rPr lang="zh-CN" altLang="en-US"/>
              <a:pPr>
                <a:defRPr/>
              </a:pPr>
              <a:t>‹#›</a:t>
            </a:fld>
            <a:r>
              <a:rPr lang="zh-CN" altLang="en-US"/>
              <a:t> 页</a:t>
            </a:r>
          </a:p>
        </p:txBody>
      </p:sp>
    </p:spTree>
    <p:extLst>
      <p:ext uri="{BB962C8B-B14F-4D97-AF65-F5344CB8AC3E}">
        <p14:creationId xmlns:p14="http://schemas.microsoft.com/office/powerpoint/2010/main" val="359183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723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430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18CB66FB-F865-4CCD-9088-832BE60B9DC4}" type="datetime1">
              <a:rPr lang="zh-CN" altLang="en-US"/>
              <a:pPr>
                <a:defRPr/>
              </a:pPr>
              <a:t>2024/12/4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DF596D4-5A36-4042-A11D-CAC24AB8477E}" type="slidenum">
              <a:rPr lang="zh-CN" altLang="en-US"/>
              <a:pPr>
                <a:defRPr/>
              </a:pPr>
              <a:t>‹#›</a:t>
            </a:fld>
            <a:r>
              <a:rPr lang="zh-CN" altLang="en-US"/>
              <a:t> 页</a:t>
            </a:r>
          </a:p>
        </p:txBody>
      </p:sp>
    </p:spTree>
    <p:extLst>
      <p:ext uri="{BB962C8B-B14F-4D97-AF65-F5344CB8AC3E}">
        <p14:creationId xmlns:p14="http://schemas.microsoft.com/office/powerpoint/2010/main" val="2770059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430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36"/>
          <p:cNvSpPr>
            <a:spLocks noGrp="1" noChangeArrowheads="1"/>
          </p:cNvSpPr>
          <p:nvPr>
            <p:ph type="dt" sz="half" idx="10"/>
          </p:nvPr>
        </p:nvSpPr>
        <p:spPr/>
        <p:txBody>
          <a:bodyPr/>
          <a:lstStyle>
            <a:lvl1pPr>
              <a:defRPr/>
            </a:lvl1pPr>
          </a:lstStyle>
          <a:p>
            <a:pPr>
              <a:defRPr/>
            </a:pPr>
            <a:fld id="{0B1C1D82-E8E2-48B3-AD85-615A84ADA2AC}" type="datetime1">
              <a:rPr lang="zh-CN" altLang="en-US"/>
              <a:pPr>
                <a:defRPr/>
              </a:pPr>
              <a:t>2024/12/4</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78AD3EBF-7634-4DB3-B027-7EE6659BDEF6}" type="slidenum">
              <a:rPr lang="zh-CN" altLang="en-US"/>
              <a:pPr>
                <a:defRPr/>
              </a:pPr>
              <a:t>‹#›</a:t>
            </a:fld>
            <a:r>
              <a:rPr lang="zh-CN" altLang="en-US"/>
              <a:t> 页</a:t>
            </a:r>
          </a:p>
        </p:txBody>
      </p:sp>
    </p:spTree>
    <p:extLst>
      <p:ext uri="{BB962C8B-B14F-4D97-AF65-F5344CB8AC3E}">
        <p14:creationId xmlns:p14="http://schemas.microsoft.com/office/powerpoint/2010/main" val="1493883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430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430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A103EBAB-9D8B-4C7B-B0E2-D4E34748BDBD}" type="datetime1">
              <a:rPr lang="zh-CN" altLang="en-US"/>
              <a:pPr>
                <a:defRPr/>
              </a:pPr>
              <a:t>2024/12/4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DC39A68F-2843-49D1-BA2D-56A2F9C7C602}" type="slidenum">
              <a:rPr lang="zh-CN" altLang="en-US"/>
              <a:pPr>
                <a:defRPr/>
              </a:pPr>
              <a:t>‹#›</a:t>
            </a:fld>
            <a:r>
              <a:rPr lang="zh-CN" altLang="en-US"/>
              <a:t> 页</a:t>
            </a:r>
          </a:p>
        </p:txBody>
      </p:sp>
    </p:spTree>
    <p:extLst>
      <p:ext uri="{BB962C8B-B14F-4D97-AF65-F5344CB8AC3E}">
        <p14:creationId xmlns:p14="http://schemas.microsoft.com/office/powerpoint/2010/main" val="2137411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026" name="Group 33"/>
          <p:cNvGrpSpPr>
            <a:grpSpLocks/>
          </p:cNvGrpSpPr>
          <p:nvPr/>
        </p:nvGrpSpPr>
        <p:grpSpPr bwMode="auto">
          <a:xfrm>
            <a:off x="0" y="0"/>
            <a:ext cx="1085850" cy="6854825"/>
            <a:chOff x="0" y="0"/>
            <a:chExt cx="684" cy="4318"/>
          </a:xfrm>
        </p:grpSpPr>
        <p:sp>
          <p:nvSpPr>
            <p:cNvPr id="2"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1033" name="Group 32"/>
            <p:cNvGrpSpPr>
              <a:grpSpLocks/>
            </p:cNvGrpSpPr>
            <p:nvPr/>
          </p:nvGrpSpPr>
          <p:grpSpPr bwMode="auto">
            <a:xfrm>
              <a:off x="48" y="102"/>
              <a:ext cx="96" cy="4128"/>
              <a:chOff x="48" y="102"/>
              <a:chExt cx="96" cy="4128"/>
            </a:xfrm>
          </p:grpSpPr>
          <p:sp>
            <p:nvSpPr>
              <p:cNvPr id="3"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8" name="Rectangle 4"/>
              <p:cNvSpPr>
                <a:spLocks noChangeArrowheads="1"/>
              </p:cNvSpPr>
              <p:nvPr/>
            </p:nvSpPr>
            <p:spPr bwMode="auto">
              <a:xfrm>
                <a:off x="48" y="125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0" name="Rectangle 6"/>
              <p:cNvSpPr>
                <a:spLocks noChangeArrowheads="1"/>
              </p:cNvSpPr>
              <p:nvPr/>
            </p:nvSpPr>
            <p:spPr bwMode="auto">
              <a:xfrm>
                <a:off x="48" y="1538"/>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2" name="Rectangle 8"/>
              <p:cNvSpPr>
                <a:spLocks noChangeArrowheads="1"/>
              </p:cNvSpPr>
              <p:nvPr/>
            </p:nvSpPr>
            <p:spPr bwMode="auto">
              <a:xfrm>
                <a:off x="48" y="182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4"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4" name="Rectangle 10"/>
              <p:cNvSpPr>
                <a:spLocks noChangeArrowheads="1"/>
              </p:cNvSpPr>
              <p:nvPr/>
            </p:nvSpPr>
            <p:spPr bwMode="auto">
              <a:xfrm>
                <a:off x="48" y="2115"/>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6" name="Rectangle 12"/>
              <p:cNvSpPr>
                <a:spLocks noChangeArrowheads="1"/>
              </p:cNvSpPr>
              <p:nvPr/>
            </p:nvSpPr>
            <p:spPr bwMode="auto">
              <a:xfrm>
                <a:off x="48" y="240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7" name="Rectangle 13"/>
              <p:cNvSpPr>
                <a:spLocks noChangeArrowheads="1"/>
              </p:cNvSpPr>
              <p:nvPr/>
            </p:nvSpPr>
            <p:spPr bwMode="auto">
              <a:xfrm>
                <a:off x="48" y="254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8" name="Rectangle 14"/>
              <p:cNvSpPr>
                <a:spLocks noChangeArrowheads="1"/>
              </p:cNvSpPr>
              <p:nvPr/>
            </p:nvSpPr>
            <p:spPr bwMode="auto">
              <a:xfrm>
                <a:off x="48" y="269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0" name="Rectangle 16"/>
              <p:cNvSpPr>
                <a:spLocks noChangeArrowheads="1"/>
              </p:cNvSpPr>
              <p:nvPr/>
            </p:nvSpPr>
            <p:spPr bwMode="auto">
              <a:xfrm>
                <a:off x="48" y="298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4" name="Rectangle 20"/>
              <p:cNvSpPr>
                <a:spLocks noChangeArrowheads="1"/>
              </p:cNvSpPr>
              <p:nvPr/>
            </p:nvSpPr>
            <p:spPr bwMode="auto">
              <a:xfrm>
                <a:off x="48" y="3557"/>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8" name="Rectangle 24"/>
              <p:cNvSpPr>
                <a:spLocks noChangeArrowheads="1"/>
              </p:cNvSpPr>
              <p:nvPr/>
            </p:nvSpPr>
            <p:spPr bwMode="auto">
              <a:xfrm>
                <a:off x="48" y="413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9" name="Rectangle 25"/>
              <p:cNvSpPr>
                <a:spLocks noChangeArrowheads="1"/>
              </p:cNvSpPr>
              <p:nvPr/>
            </p:nvSpPr>
            <p:spPr bwMode="auto">
              <a:xfrm>
                <a:off x="48" y="10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3" name="Rectangle 29"/>
              <p:cNvSpPr>
                <a:spLocks noChangeArrowheads="1"/>
              </p:cNvSpPr>
              <p:nvPr/>
            </p:nvSpPr>
            <p:spPr bwMode="auto">
              <a:xfrm>
                <a:off x="48" y="67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1027" name="Rectangle 34"/>
          <p:cNvSpPr>
            <a:spLocks noGrp="1" noChangeArrowheads="1"/>
          </p:cNvSpPr>
          <p:nvPr>
            <p:ph type="title"/>
          </p:nvPr>
        </p:nvSpPr>
        <p:spPr bwMode="auto">
          <a:xfrm>
            <a:off x="11430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zh-CN"/>
              <a:t>Click to edit Master title style</a:t>
            </a:r>
          </a:p>
        </p:txBody>
      </p:sp>
      <p:sp>
        <p:nvSpPr>
          <p:cNvPr id="1059" name="Rectangle 35"/>
          <p:cNvSpPr>
            <a:spLocks noGrp="1" noChangeArrowheads="1"/>
          </p:cNvSpPr>
          <p:nvPr>
            <p:ph type="body" idx="1"/>
          </p:nvPr>
        </p:nvSpPr>
        <p:spPr bwMode="auto">
          <a:xfrm>
            <a:off x="1143000" y="1981200"/>
            <a:ext cx="77724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60" name="Rectangle 36"/>
          <p:cNvSpPr>
            <a:spLocks noGrp="1" noChangeArrowheads="1"/>
          </p:cNvSpPr>
          <p:nvPr>
            <p:ph type="dt" sz="half" idx="2"/>
          </p:nvPr>
        </p:nvSpPr>
        <p:spPr bwMode="auto">
          <a:xfrm>
            <a:off x="0" y="64008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nSpc>
                <a:spcPct val="100000"/>
              </a:lnSpc>
              <a:spcBef>
                <a:spcPct val="0"/>
              </a:spcBef>
              <a:buClrTx/>
              <a:buSzTx/>
              <a:buFontTx/>
              <a:buNone/>
              <a:defRPr sz="1400" b="0">
                <a:solidFill>
                  <a:schemeClr val="tx1"/>
                </a:solidFill>
                <a:effectLst/>
                <a:latin typeface="+mn-lt"/>
              </a:defRPr>
            </a:lvl1pPr>
          </a:lstStyle>
          <a:p>
            <a:pPr>
              <a:defRPr/>
            </a:pPr>
            <a:fld id="{FAB4141E-F527-482F-9800-1834449B9BF3}" type="datetime1">
              <a:rPr lang="zh-CN" altLang="en-US"/>
              <a:pPr>
                <a:defRPr/>
              </a:pPr>
              <a:t>2024/12/4</a:t>
            </a:fld>
            <a:endParaRPr lang="en-US" altLang="zh-CN"/>
          </a:p>
        </p:txBody>
      </p:sp>
      <p:sp>
        <p:nvSpPr>
          <p:cNvPr id="1061" name="Rectangle 37"/>
          <p:cNvSpPr>
            <a:spLocks noGrp="1" noChangeArrowheads="1"/>
          </p:cNvSpPr>
          <p:nvPr>
            <p:ph type="ftr" sz="quarter" idx="3"/>
          </p:nvPr>
        </p:nvSpPr>
        <p:spPr bwMode="auto">
          <a:xfrm>
            <a:off x="3581400" y="63246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lnSpc>
                <a:spcPct val="100000"/>
              </a:lnSpc>
              <a:spcBef>
                <a:spcPct val="0"/>
              </a:spcBef>
              <a:buClrTx/>
              <a:buSzTx/>
              <a:buFontTx/>
              <a:buNone/>
              <a:defRPr sz="1400" b="0">
                <a:solidFill>
                  <a:schemeClr val="tx1"/>
                </a:solidFill>
                <a:effectLst/>
                <a:latin typeface="+mn-lt"/>
              </a:defRPr>
            </a:lvl1pPr>
          </a:lstStyle>
          <a:p>
            <a:pPr>
              <a:defRPr/>
            </a:pPr>
            <a:endParaRPr lang="en-US" altLang="zh-CN"/>
          </a:p>
        </p:txBody>
      </p:sp>
      <p:sp>
        <p:nvSpPr>
          <p:cNvPr id="1062" name="Rectangle 38"/>
          <p:cNvSpPr>
            <a:spLocks noGrp="1" noChangeArrowheads="1"/>
          </p:cNvSpPr>
          <p:nvPr>
            <p:ph type="sldNum" sz="quarter" idx="4"/>
          </p:nvPr>
        </p:nvSpPr>
        <p:spPr bwMode="auto">
          <a:xfrm>
            <a:off x="6732588" y="6661150"/>
            <a:ext cx="1905000" cy="19685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lnSpc>
                <a:spcPct val="100000"/>
              </a:lnSpc>
              <a:spcBef>
                <a:spcPct val="0"/>
              </a:spcBef>
              <a:buClrTx/>
              <a:buSzTx/>
              <a:buFontTx/>
              <a:buNone/>
              <a:defRPr sz="1400" b="0">
                <a:solidFill>
                  <a:schemeClr val="tx1"/>
                </a:solidFill>
                <a:latin typeface="Times New Roman" panose="02020603050405020304" pitchFamily="18" charset="0"/>
              </a:defRPr>
            </a:lvl1pPr>
          </a:lstStyle>
          <a:p>
            <a:pPr>
              <a:defRPr/>
            </a:pPr>
            <a:r>
              <a:rPr lang="zh-CN" altLang="en-US"/>
              <a:t>第 </a:t>
            </a:r>
            <a:fld id="{CE3EE724-3080-4457-B503-924982FD04EC}" type="slidenum">
              <a:rPr lang="zh-CN" altLang="en-US"/>
              <a:pPr>
                <a:defRPr/>
              </a:pPr>
              <a:t>‹#›</a:t>
            </a:fld>
            <a:r>
              <a:rPr lang="zh-CN" altLang="en-US"/>
              <a:t> 页</a:t>
            </a:r>
          </a:p>
        </p:txBody>
      </p:sp>
    </p:spTree>
  </p:cSld>
  <p:clrMap bg1="dk2" tx1="lt1" bg2="dk1" tx2="lt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 id="2147484116" r:id="rId12"/>
    <p:sldLayoutId id="2147484117" r:id="rId13"/>
  </p:sldLayoutIdLst>
  <p:hf hdr="0" ft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47.xml"/><Relationship Id="rId5" Type="http://schemas.openxmlformats.org/officeDocument/2006/relationships/slide" Target="slide38.xml"/><Relationship Id="rId4" Type="http://schemas.openxmlformats.org/officeDocument/2006/relationships/slide" Target="slide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33"/>
          <p:cNvSpPr>
            <a:spLocks noChangeArrowheads="1"/>
          </p:cNvSpPr>
          <p:nvPr/>
        </p:nvSpPr>
        <p:spPr bwMode="auto">
          <a:xfrm>
            <a:off x="1763713" y="1989138"/>
            <a:ext cx="738028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0"/>
              </a:spcBef>
              <a:buClrTx/>
              <a:buSzTx/>
              <a:buFontTx/>
              <a:buNone/>
            </a:pPr>
            <a:endParaRPr lang="zh-CN" altLang="zh-CN">
              <a:solidFill>
                <a:srgbClr val="FFFF00"/>
              </a:solidFill>
              <a:latin typeface="楷体_GB2312" pitchFamily="49" charset="-122"/>
            </a:endParaRPr>
          </a:p>
        </p:txBody>
      </p:sp>
      <p:sp>
        <p:nvSpPr>
          <p:cNvPr id="5123" name="Rectangle 35"/>
          <p:cNvSpPr>
            <a:spLocks noChangeArrowheads="1"/>
          </p:cNvSpPr>
          <p:nvPr/>
        </p:nvSpPr>
        <p:spPr bwMode="auto">
          <a:xfrm>
            <a:off x="1767681" y="-23933"/>
            <a:ext cx="568801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lgn="ctr">
              <a:spcBef>
                <a:spcPct val="0"/>
              </a:spcBef>
              <a:buClrTx/>
              <a:buSzTx/>
              <a:buFontTx/>
              <a:buNone/>
              <a:defRPr/>
            </a:pPr>
            <a:r>
              <a:rPr lang="zh-CN" altLang="en-US" sz="4800" dirty="0">
                <a:solidFill>
                  <a:srgbClr val="C00000"/>
                </a:solidFill>
                <a:effectLst>
                  <a:outerShdw blurRad="38100" dist="38100" dir="2700000" algn="tl">
                    <a:srgbClr val="000000"/>
                  </a:outerShdw>
                </a:effectLst>
                <a:latin typeface="+mj-lt"/>
              </a:rPr>
              <a:t>第 </a:t>
            </a:r>
            <a:r>
              <a:rPr lang="en-US" altLang="zh-CN" sz="4800" dirty="0">
                <a:solidFill>
                  <a:srgbClr val="C00000"/>
                </a:solidFill>
                <a:effectLst>
                  <a:outerShdw blurRad="38100" dist="38100" dir="2700000" algn="tl">
                    <a:srgbClr val="000000"/>
                  </a:outerShdw>
                </a:effectLst>
                <a:latin typeface="+mj-lt"/>
              </a:rPr>
              <a:t>9 </a:t>
            </a:r>
            <a:r>
              <a:rPr lang="zh-CN" altLang="en-US" sz="4800" dirty="0">
                <a:solidFill>
                  <a:srgbClr val="C00000"/>
                </a:solidFill>
                <a:effectLst>
                  <a:outerShdw blurRad="38100" dist="38100" dir="2700000" algn="tl">
                    <a:srgbClr val="000000"/>
                  </a:outerShdw>
                </a:effectLst>
                <a:latin typeface="+mj-lt"/>
              </a:rPr>
              <a:t>章  文件系统</a:t>
            </a:r>
          </a:p>
        </p:txBody>
      </p:sp>
      <p:sp>
        <p:nvSpPr>
          <p:cNvPr id="5124" name="Text Box 37"/>
          <p:cNvSpPr txBox="1">
            <a:spLocks noChangeArrowheads="1"/>
          </p:cNvSpPr>
          <p:nvPr/>
        </p:nvSpPr>
        <p:spPr bwMode="auto">
          <a:xfrm>
            <a:off x="2124075" y="1268413"/>
            <a:ext cx="6769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endParaRPr lang="zh-CN" altLang="zh-CN" sz="2400">
              <a:solidFill>
                <a:schemeClr val="tx1"/>
              </a:solidFill>
              <a:ea typeface="宋体" panose="02010600030101010101" pitchFamily="2" charset="-122"/>
            </a:endParaRPr>
          </a:p>
        </p:txBody>
      </p:sp>
      <p:sp>
        <p:nvSpPr>
          <p:cNvPr id="5125" name="文本框 1"/>
          <p:cNvSpPr txBox="1">
            <a:spLocks noChangeArrowheads="1"/>
          </p:cNvSpPr>
          <p:nvPr/>
        </p:nvSpPr>
        <p:spPr bwMode="auto">
          <a:xfrm>
            <a:off x="39688" y="1463675"/>
            <a:ext cx="91440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indent="-185738">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815975" indent="-185738">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lnSpc>
                <a:spcPts val="4200"/>
              </a:lnSpc>
              <a:spcBef>
                <a:spcPct val="0"/>
              </a:spcBef>
              <a:buClrTx/>
              <a:buSzPct val="80000"/>
              <a:buFont typeface="Wingdings" panose="05000000000000000000" pitchFamily="2" charset="2"/>
              <a:buChar char="n"/>
            </a:pPr>
            <a:r>
              <a:rPr lang="zh-CN" altLang="en-US" dirty="0">
                <a:solidFill>
                  <a:schemeClr val="bg2"/>
                </a:solidFill>
                <a:effectLst>
                  <a:outerShdw blurRad="38100" dist="38100" dir="2700000" algn="tl">
                    <a:srgbClr val="000000">
                      <a:alpha val="43137"/>
                    </a:srgbClr>
                  </a:outerShdw>
                </a:effectLst>
                <a:ea typeface="宋体" panose="02010600030101010101" pitchFamily="2" charset="-122"/>
              </a:rPr>
              <a:t>定义了磁盘上储存文件的方法、数据结构。</a:t>
            </a:r>
            <a:endParaRPr lang="en-US" altLang="zh-CN" dirty="0">
              <a:solidFill>
                <a:schemeClr val="bg2"/>
              </a:solidFill>
              <a:effectLst>
                <a:outerShdw blurRad="38100" dist="38100" dir="2700000" algn="tl">
                  <a:srgbClr val="000000">
                    <a:alpha val="43137"/>
                  </a:srgbClr>
                </a:outerShdw>
              </a:effectLst>
              <a:ea typeface="宋体" panose="02010600030101010101" pitchFamily="2" charset="-122"/>
            </a:endParaRPr>
          </a:p>
          <a:p>
            <a:pPr>
              <a:lnSpc>
                <a:spcPts val="4200"/>
              </a:lnSpc>
              <a:spcBef>
                <a:spcPct val="0"/>
              </a:spcBef>
              <a:buClrTx/>
              <a:buSzPct val="80000"/>
              <a:buFont typeface="Wingdings" panose="05000000000000000000" pitchFamily="2" charset="2"/>
              <a:buChar char="n"/>
            </a:pPr>
            <a:r>
              <a:rPr lang="zh-CN" altLang="en-US" dirty="0">
                <a:solidFill>
                  <a:schemeClr val="bg2"/>
                </a:solidFill>
                <a:effectLst>
                  <a:outerShdw blurRad="38100" dist="38100" dir="2700000" algn="tl">
                    <a:srgbClr val="000000">
                      <a:alpha val="43137"/>
                    </a:srgbClr>
                  </a:outerShdw>
                </a:effectLst>
                <a:ea typeface="宋体" panose="02010600030101010101" pitchFamily="2" charset="-122"/>
              </a:rPr>
              <a:t>操作系统组织、存取和保存信息的重要手段。</a:t>
            </a:r>
            <a:endParaRPr lang="en-US" altLang="zh-CN" dirty="0">
              <a:solidFill>
                <a:schemeClr val="bg2"/>
              </a:solidFill>
              <a:effectLst>
                <a:outerShdw blurRad="38100" dist="38100" dir="2700000" algn="tl">
                  <a:srgbClr val="000000">
                    <a:alpha val="43137"/>
                  </a:srgbClr>
                </a:outerShdw>
              </a:effectLst>
              <a:ea typeface="宋体" panose="02010600030101010101" pitchFamily="2" charset="-122"/>
            </a:endParaRPr>
          </a:p>
          <a:p>
            <a:pPr>
              <a:lnSpc>
                <a:spcPts val="4200"/>
              </a:lnSpc>
              <a:spcBef>
                <a:spcPct val="0"/>
              </a:spcBef>
              <a:buClrTx/>
              <a:buSzPct val="80000"/>
              <a:buFont typeface="Wingdings" panose="05000000000000000000" pitchFamily="2" charset="2"/>
              <a:buChar char="n"/>
            </a:pPr>
            <a:r>
              <a:rPr lang="zh-CN" altLang="en-US" dirty="0">
                <a:solidFill>
                  <a:schemeClr val="bg2"/>
                </a:solidFill>
                <a:effectLst>
                  <a:outerShdw blurRad="38100" dist="38100" dir="2700000" algn="tl">
                    <a:srgbClr val="000000">
                      <a:alpha val="43137"/>
                    </a:srgbClr>
                  </a:outerShdw>
                </a:effectLst>
                <a:ea typeface="宋体" panose="02010600030101010101" pitchFamily="2" charset="-122"/>
              </a:rPr>
              <a:t>每种操作系统都</a:t>
            </a:r>
            <a:r>
              <a:rPr lang="zh-CN" altLang="en-US" dirty="0" smtClean="0">
                <a:solidFill>
                  <a:schemeClr val="bg2"/>
                </a:solidFill>
                <a:effectLst>
                  <a:outerShdw blurRad="38100" dist="38100" dir="2700000" algn="tl">
                    <a:srgbClr val="000000">
                      <a:alpha val="43137"/>
                    </a:srgbClr>
                  </a:outerShdw>
                </a:effectLst>
                <a:ea typeface="宋体" panose="02010600030101010101" pitchFamily="2" charset="-122"/>
              </a:rPr>
              <a:t>支持</a:t>
            </a:r>
            <a:r>
              <a:rPr lang="zh-CN" altLang="en-US" dirty="0">
                <a:solidFill>
                  <a:schemeClr val="bg2"/>
                </a:solidFill>
                <a:effectLst>
                  <a:outerShdw blurRad="38100" dist="38100" dir="2700000" algn="tl">
                    <a:srgbClr val="000000">
                      <a:alpha val="43137"/>
                    </a:srgbClr>
                  </a:outerShdw>
                </a:effectLst>
                <a:ea typeface="宋体" panose="02010600030101010101" pitchFamily="2" charset="-122"/>
              </a:rPr>
              <a:t>相应</a:t>
            </a:r>
            <a:r>
              <a:rPr lang="zh-CN" altLang="en-US" dirty="0" smtClean="0">
                <a:solidFill>
                  <a:schemeClr val="bg2"/>
                </a:solidFill>
                <a:effectLst>
                  <a:outerShdw blurRad="38100" dist="38100" dir="2700000" algn="tl">
                    <a:srgbClr val="000000">
                      <a:alpha val="43137"/>
                    </a:srgbClr>
                  </a:outerShdw>
                </a:effectLst>
                <a:ea typeface="宋体" panose="02010600030101010101" pitchFamily="2" charset="-122"/>
              </a:rPr>
              <a:t>的物理文件系统</a:t>
            </a:r>
            <a:endParaRPr lang="en-US" altLang="zh-CN" dirty="0">
              <a:solidFill>
                <a:schemeClr val="bg2"/>
              </a:solidFill>
              <a:effectLst>
                <a:outerShdw blurRad="38100" dist="38100" dir="2700000" algn="tl">
                  <a:srgbClr val="000000">
                    <a:alpha val="43137"/>
                  </a:srgbClr>
                </a:outerShdw>
              </a:effectLst>
              <a:ea typeface="宋体" panose="02010600030101010101" pitchFamily="2" charset="-122"/>
            </a:endParaRPr>
          </a:p>
          <a:p>
            <a:pPr lvl="2">
              <a:lnSpc>
                <a:spcPts val="4200"/>
              </a:lnSpc>
              <a:spcBef>
                <a:spcPct val="0"/>
              </a:spcBef>
              <a:buSzPct val="80000"/>
              <a:buFont typeface="Wingdings" panose="05000000000000000000" pitchFamily="2" charset="2"/>
              <a:buChar char="n"/>
            </a:pPr>
            <a:r>
              <a:rPr lang="en-US" altLang="zh-CN" sz="3200" dirty="0">
                <a:solidFill>
                  <a:schemeClr val="bg2"/>
                </a:solidFill>
                <a:effectLst>
                  <a:outerShdw blurRad="38100" dist="38100" dir="2700000" algn="tl">
                    <a:srgbClr val="000000">
                      <a:alpha val="43137"/>
                    </a:srgbClr>
                  </a:outerShdw>
                </a:effectLst>
                <a:ea typeface="宋体" panose="02010600030101010101" pitchFamily="2" charset="-122"/>
              </a:rPr>
              <a:t>Windows</a:t>
            </a:r>
            <a:r>
              <a:rPr lang="zh-CN" altLang="en-US" sz="3200" dirty="0">
                <a:solidFill>
                  <a:schemeClr val="bg2"/>
                </a:solidFill>
                <a:ea typeface="宋体" panose="02010600030101010101" pitchFamily="2" charset="-122"/>
              </a:rPr>
              <a:t>：</a:t>
            </a:r>
            <a:r>
              <a:rPr lang="en-US" altLang="zh-CN" sz="3200" dirty="0">
                <a:solidFill>
                  <a:schemeClr val="bg2"/>
                </a:solidFill>
                <a:ea typeface="宋体" panose="02010600030101010101" pitchFamily="2" charset="-122"/>
              </a:rPr>
              <a:t>FAT16</a:t>
            </a:r>
            <a:r>
              <a:rPr lang="zh-CN" altLang="en-US" sz="3200" dirty="0">
                <a:solidFill>
                  <a:schemeClr val="bg2"/>
                </a:solidFill>
                <a:ea typeface="宋体" panose="02010600030101010101" pitchFamily="2" charset="-122"/>
              </a:rPr>
              <a:t>、</a:t>
            </a:r>
            <a:r>
              <a:rPr lang="en-US" altLang="zh-CN" sz="3200" dirty="0">
                <a:solidFill>
                  <a:schemeClr val="bg2"/>
                </a:solidFill>
                <a:ea typeface="宋体" panose="02010600030101010101" pitchFamily="2" charset="-122"/>
              </a:rPr>
              <a:t>FAT32</a:t>
            </a:r>
            <a:r>
              <a:rPr lang="zh-CN" altLang="en-US" sz="3200" dirty="0">
                <a:solidFill>
                  <a:schemeClr val="bg2"/>
                </a:solidFill>
                <a:ea typeface="宋体" panose="02010600030101010101" pitchFamily="2" charset="-122"/>
              </a:rPr>
              <a:t>、</a:t>
            </a:r>
            <a:r>
              <a:rPr lang="en-US" altLang="zh-CN" sz="3200" dirty="0">
                <a:solidFill>
                  <a:schemeClr val="bg2"/>
                </a:solidFill>
                <a:ea typeface="宋体" panose="02010600030101010101" pitchFamily="2" charset="-122"/>
              </a:rPr>
              <a:t>NTFS</a:t>
            </a:r>
            <a:r>
              <a:rPr lang="zh-CN" altLang="en-US" sz="3200" dirty="0">
                <a:solidFill>
                  <a:schemeClr val="bg2"/>
                </a:solidFill>
                <a:ea typeface="宋体" panose="02010600030101010101" pitchFamily="2" charset="-122"/>
              </a:rPr>
              <a:t>、</a:t>
            </a:r>
            <a:r>
              <a:rPr lang="en-US" altLang="zh-CN" sz="3200" dirty="0">
                <a:solidFill>
                  <a:schemeClr val="bg2"/>
                </a:solidFill>
                <a:ea typeface="宋体" panose="02010600030101010101" pitchFamily="2" charset="-122"/>
              </a:rPr>
              <a:t>CDFS</a:t>
            </a:r>
            <a:r>
              <a:rPr lang="zh-CN" altLang="en-US" sz="3200" dirty="0">
                <a:solidFill>
                  <a:schemeClr val="bg2"/>
                </a:solidFill>
                <a:ea typeface="宋体" panose="02010600030101010101" pitchFamily="2" charset="-122"/>
              </a:rPr>
              <a:t>、</a:t>
            </a:r>
            <a:r>
              <a:rPr lang="en-US" altLang="zh-CN" sz="3200" dirty="0">
                <a:solidFill>
                  <a:schemeClr val="bg2"/>
                </a:solidFill>
                <a:ea typeface="宋体" panose="02010600030101010101" pitchFamily="2" charset="-122"/>
              </a:rPr>
              <a:t>UDF</a:t>
            </a:r>
          </a:p>
          <a:p>
            <a:pPr lvl="2">
              <a:lnSpc>
                <a:spcPts val="4200"/>
              </a:lnSpc>
              <a:spcBef>
                <a:spcPct val="0"/>
              </a:spcBef>
              <a:buSzPct val="80000"/>
              <a:buFont typeface="Wingdings" panose="05000000000000000000" pitchFamily="2" charset="2"/>
              <a:buChar char="n"/>
            </a:pPr>
            <a:r>
              <a:rPr lang="en-US" altLang="zh-CN" sz="3200" dirty="0">
                <a:solidFill>
                  <a:schemeClr val="bg2"/>
                </a:solidFill>
                <a:effectLst>
                  <a:outerShdw blurRad="38100" dist="38100" dir="2700000" algn="tl">
                    <a:srgbClr val="000000">
                      <a:alpha val="43137"/>
                    </a:srgbClr>
                  </a:outerShdw>
                </a:effectLst>
                <a:ea typeface="宋体" panose="02010600030101010101" pitchFamily="2" charset="-122"/>
              </a:rPr>
              <a:t>LINUX</a:t>
            </a:r>
            <a:r>
              <a:rPr lang="zh-CN" altLang="en-US" sz="3200" dirty="0">
                <a:solidFill>
                  <a:schemeClr val="bg2"/>
                </a:solidFill>
                <a:ea typeface="宋体" panose="02010600030101010101" pitchFamily="2" charset="-122"/>
              </a:rPr>
              <a:t>：</a:t>
            </a:r>
            <a:r>
              <a:rPr lang="en-US" altLang="zh-CN" sz="3200" dirty="0">
                <a:solidFill>
                  <a:schemeClr val="bg2"/>
                </a:solidFill>
                <a:ea typeface="宋体" panose="02010600030101010101" pitchFamily="2" charset="-122"/>
              </a:rPr>
              <a:t>ext2</a:t>
            </a:r>
            <a:r>
              <a:rPr lang="zh-CN" altLang="en-US" sz="3200" dirty="0">
                <a:solidFill>
                  <a:schemeClr val="bg2"/>
                </a:solidFill>
                <a:ea typeface="宋体" panose="02010600030101010101" pitchFamily="2" charset="-122"/>
              </a:rPr>
              <a:t>、</a:t>
            </a:r>
            <a:r>
              <a:rPr lang="en-US" altLang="zh-CN" sz="3200" dirty="0">
                <a:solidFill>
                  <a:schemeClr val="bg2"/>
                </a:solidFill>
                <a:ea typeface="宋体" panose="02010600030101010101" pitchFamily="2" charset="-122"/>
              </a:rPr>
              <a:t>ext3</a:t>
            </a:r>
            <a:r>
              <a:rPr lang="zh-CN" altLang="en-US" sz="3200" dirty="0">
                <a:solidFill>
                  <a:schemeClr val="bg2"/>
                </a:solidFill>
                <a:ea typeface="宋体" panose="02010600030101010101" pitchFamily="2" charset="-122"/>
              </a:rPr>
              <a:t>、</a:t>
            </a:r>
            <a:r>
              <a:rPr lang="en-US" altLang="zh-CN" sz="3200" dirty="0" err="1">
                <a:solidFill>
                  <a:schemeClr val="bg2"/>
                </a:solidFill>
                <a:ea typeface="宋体" panose="02010600030101010101" pitchFamily="2" charset="-122"/>
              </a:rPr>
              <a:t>ReiserFS</a:t>
            </a:r>
            <a:r>
              <a:rPr lang="zh-CN" altLang="en-US" sz="3200" dirty="0">
                <a:solidFill>
                  <a:schemeClr val="bg2"/>
                </a:solidFill>
                <a:ea typeface="宋体" panose="02010600030101010101" pitchFamily="2" charset="-122"/>
              </a:rPr>
              <a:t>和</a:t>
            </a:r>
            <a:r>
              <a:rPr lang="en-US" altLang="zh-CN" sz="3200" dirty="0" err="1">
                <a:solidFill>
                  <a:schemeClr val="bg2"/>
                </a:solidFill>
                <a:ea typeface="宋体" panose="02010600030101010101" pitchFamily="2" charset="-122"/>
              </a:rPr>
              <a:t>btrfs</a:t>
            </a:r>
            <a:r>
              <a:rPr lang="zh-CN" altLang="en-US" sz="3200" dirty="0">
                <a:solidFill>
                  <a:schemeClr val="bg2"/>
                </a:solidFill>
                <a:ea typeface="宋体" panose="02010600030101010101" pitchFamily="2" charset="-122"/>
              </a:rPr>
              <a:t>等。</a:t>
            </a:r>
            <a:endParaRPr lang="en-US" altLang="zh-CN" sz="3200" dirty="0">
              <a:solidFill>
                <a:schemeClr val="bg2"/>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1" name="Rectangle 4"/>
          <p:cNvSpPr>
            <a:spLocks noGrp="1" noRot="1" noChangeArrowheads="1"/>
          </p:cNvSpPr>
          <p:nvPr>
            <p:ph type="title"/>
          </p:nvPr>
        </p:nvSpPr>
        <p:spPr>
          <a:xfrm>
            <a:off x="2843213" y="-88340"/>
            <a:ext cx="3527425" cy="936625"/>
          </a:xfrm>
          <a:noFill/>
        </p:spPr>
        <p:txBody>
          <a:bodyPr/>
          <a:lstStyle/>
          <a:p>
            <a:pPr lvl="2" algn="ctr" defTabSz="355600" eaLnBrk="1" hangingPunct="1">
              <a:lnSpc>
                <a:spcPct val="90000"/>
              </a:lnSpc>
              <a:buClr>
                <a:schemeClr val="bg1"/>
              </a:buClr>
              <a:buSzPct val="80000"/>
              <a:defRPr/>
            </a:pP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文件系统</a:t>
            </a:r>
          </a:p>
        </p:txBody>
      </p:sp>
      <p:grpSp>
        <p:nvGrpSpPr>
          <p:cNvPr id="3" name="Group 9"/>
          <p:cNvGrpSpPr>
            <a:grpSpLocks/>
          </p:cNvGrpSpPr>
          <p:nvPr/>
        </p:nvGrpSpPr>
        <p:grpSpPr bwMode="auto">
          <a:xfrm>
            <a:off x="236538" y="4665663"/>
            <a:ext cx="2089150" cy="503237"/>
            <a:chOff x="779" y="2614"/>
            <a:chExt cx="1110" cy="317"/>
          </a:xfrm>
        </p:grpSpPr>
        <p:sp>
          <p:nvSpPr>
            <p:cNvPr id="7212" name="AutoShape 10"/>
            <p:cNvSpPr>
              <a:spLocks noChangeArrowheads="1"/>
            </p:cNvSpPr>
            <p:nvPr/>
          </p:nvSpPr>
          <p:spPr bwMode="auto">
            <a:xfrm>
              <a:off x="779" y="2614"/>
              <a:ext cx="1110" cy="317"/>
            </a:xfrm>
            <a:prstGeom prst="flowChartPredefinedProcess">
              <a:avLst/>
            </a:prstGeom>
            <a:solidFill>
              <a:schemeClr val="folHlink"/>
            </a:solidFill>
            <a:ln w="9525">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824331" name="Text Box 11"/>
            <p:cNvSpPr txBox="1">
              <a:spLocks noChangeArrowheads="1"/>
            </p:cNvSpPr>
            <p:nvPr/>
          </p:nvSpPr>
          <p:spPr bwMode="auto">
            <a:xfrm>
              <a:off x="855" y="2659"/>
              <a:ext cx="1002" cy="250"/>
            </a:xfrm>
            <a:prstGeom prst="rect">
              <a:avLst/>
            </a:prstGeom>
            <a:noFill/>
            <a:ln w="9525">
              <a:noFill/>
              <a:miter lim="800000"/>
              <a:headEnd/>
              <a:tailEnd/>
            </a:ln>
            <a:effectLst/>
          </p:spPr>
          <p:txBody>
            <a:bodyPr>
              <a:spAutoFit/>
            </a:bodyPr>
            <a:lstStyle/>
            <a:p>
              <a:pPr eaLnBrk="1" hangingPunct="1">
                <a:defRPr/>
              </a:pPr>
              <a:r>
                <a:rPr kumimoji="0" lang="zh-CN" altLang="en-US" sz="2000" dirty="0">
                  <a:solidFill>
                    <a:schemeClr val="bg2"/>
                  </a:solidFill>
                  <a:effectLst>
                    <a:outerShdw blurRad="38100" dist="38100" dir="2700000" algn="tl">
                      <a:srgbClr val="000000"/>
                    </a:outerShdw>
                  </a:effectLst>
                  <a:latin typeface="Tahoma" pitchFamily="34" charset="0"/>
                </a:rPr>
                <a:t>文件结构定义</a:t>
              </a:r>
            </a:p>
          </p:txBody>
        </p:sp>
      </p:grpSp>
      <p:grpSp>
        <p:nvGrpSpPr>
          <p:cNvPr id="4" name="Group 12"/>
          <p:cNvGrpSpPr>
            <a:grpSpLocks/>
          </p:cNvGrpSpPr>
          <p:nvPr/>
        </p:nvGrpSpPr>
        <p:grpSpPr bwMode="auto">
          <a:xfrm>
            <a:off x="230188" y="3600450"/>
            <a:ext cx="2159000" cy="503238"/>
            <a:chOff x="703" y="2614"/>
            <a:chExt cx="1224" cy="317"/>
          </a:xfrm>
        </p:grpSpPr>
        <p:sp>
          <p:nvSpPr>
            <p:cNvPr id="7210" name="AutoShape 13"/>
            <p:cNvSpPr>
              <a:spLocks noChangeArrowheads="1"/>
            </p:cNvSpPr>
            <p:nvPr/>
          </p:nvSpPr>
          <p:spPr bwMode="auto">
            <a:xfrm>
              <a:off x="703" y="2614"/>
              <a:ext cx="1224" cy="317"/>
            </a:xfrm>
            <a:prstGeom prst="flowChartPredefinedProcess">
              <a:avLst/>
            </a:prstGeom>
            <a:solidFill>
              <a:schemeClr val="folHlink"/>
            </a:solidFill>
            <a:ln w="9525">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824334" name="Text Box 14"/>
            <p:cNvSpPr txBox="1">
              <a:spLocks noChangeArrowheads="1"/>
            </p:cNvSpPr>
            <p:nvPr/>
          </p:nvSpPr>
          <p:spPr bwMode="auto">
            <a:xfrm>
              <a:off x="811" y="2643"/>
              <a:ext cx="1007" cy="250"/>
            </a:xfrm>
            <a:prstGeom prst="rect">
              <a:avLst/>
            </a:prstGeom>
            <a:noFill/>
            <a:ln w="9525">
              <a:noFill/>
              <a:miter lim="800000"/>
              <a:headEnd/>
              <a:tailEnd/>
            </a:ln>
            <a:effectLst/>
          </p:spPr>
          <p:txBody>
            <a:bodyPr>
              <a:spAutoFit/>
            </a:bodyPr>
            <a:lstStyle/>
            <a:p>
              <a:pPr eaLnBrk="1" hangingPunct="1">
                <a:defRPr/>
              </a:pPr>
              <a:r>
                <a:rPr kumimoji="0" lang="zh-CN" altLang="en-US" sz="2000">
                  <a:solidFill>
                    <a:schemeClr val="bg2"/>
                  </a:solidFill>
                  <a:effectLst>
                    <a:outerShdw blurRad="38100" dist="38100" dir="2700000" algn="tl">
                      <a:srgbClr val="000000"/>
                    </a:outerShdw>
                  </a:effectLst>
                  <a:latin typeface="Tahoma" pitchFamily="34" charset="0"/>
                </a:rPr>
                <a:t>文件访问控制</a:t>
              </a:r>
            </a:p>
          </p:txBody>
        </p:sp>
      </p:grpSp>
      <p:grpSp>
        <p:nvGrpSpPr>
          <p:cNvPr id="5" name="Group 15"/>
          <p:cNvGrpSpPr>
            <a:grpSpLocks/>
          </p:cNvGrpSpPr>
          <p:nvPr/>
        </p:nvGrpSpPr>
        <p:grpSpPr bwMode="auto">
          <a:xfrm>
            <a:off x="242888" y="2449513"/>
            <a:ext cx="2160587" cy="503237"/>
            <a:chOff x="703" y="2614"/>
            <a:chExt cx="1224" cy="317"/>
          </a:xfrm>
        </p:grpSpPr>
        <p:sp>
          <p:nvSpPr>
            <p:cNvPr id="7208" name="AutoShape 16"/>
            <p:cNvSpPr>
              <a:spLocks noChangeArrowheads="1"/>
            </p:cNvSpPr>
            <p:nvPr/>
          </p:nvSpPr>
          <p:spPr bwMode="auto">
            <a:xfrm>
              <a:off x="703" y="2614"/>
              <a:ext cx="1224" cy="317"/>
            </a:xfrm>
            <a:prstGeom prst="flowChartPredefinedProcess">
              <a:avLst/>
            </a:prstGeom>
            <a:solidFill>
              <a:schemeClr val="folHlink"/>
            </a:solidFill>
            <a:ln w="9525">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824337" name="Text Box 17"/>
            <p:cNvSpPr txBox="1">
              <a:spLocks noChangeArrowheads="1"/>
            </p:cNvSpPr>
            <p:nvPr/>
          </p:nvSpPr>
          <p:spPr bwMode="auto">
            <a:xfrm>
              <a:off x="811" y="2649"/>
              <a:ext cx="931" cy="250"/>
            </a:xfrm>
            <a:prstGeom prst="rect">
              <a:avLst/>
            </a:prstGeom>
            <a:noFill/>
            <a:ln w="9525">
              <a:noFill/>
              <a:miter lim="800000"/>
              <a:headEnd/>
              <a:tailEnd/>
            </a:ln>
            <a:effectLst/>
          </p:spPr>
          <p:txBody>
            <a:bodyPr>
              <a:spAutoFit/>
            </a:bodyPr>
            <a:lstStyle/>
            <a:p>
              <a:pPr eaLnBrk="1" hangingPunct="1">
                <a:defRPr/>
              </a:pPr>
              <a:r>
                <a:rPr kumimoji="0" lang="en-US" altLang="zh-CN" sz="1800">
                  <a:solidFill>
                    <a:srgbClr val="FFFF00"/>
                  </a:solidFill>
                  <a:effectLst>
                    <a:outerShdw blurRad="38100" dist="38100" dir="2700000" algn="tl">
                      <a:srgbClr val="000000"/>
                    </a:outerShdw>
                  </a:effectLst>
                  <a:latin typeface="Tahoma" pitchFamily="34" charset="0"/>
                </a:rPr>
                <a:t>  </a:t>
              </a:r>
              <a:r>
                <a:rPr kumimoji="0" lang="zh-CN" altLang="en-US" sz="2000">
                  <a:solidFill>
                    <a:schemeClr val="bg2"/>
                  </a:solidFill>
                  <a:effectLst>
                    <a:outerShdw blurRad="38100" dist="38100" dir="2700000" algn="tl">
                      <a:srgbClr val="000000"/>
                    </a:outerShdw>
                  </a:effectLst>
                  <a:latin typeface="Tahoma" pitchFamily="34" charset="0"/>
                </a:rPr>
                <a:t>安全、保护</a:t>
              </a:r>
            </a:p>
          </p:txBody>
        </p:sp>
      </p:grpSp>
      <p:sp>
        <p:nvSpPr>
          <p:cNvPr id="824338" name="AutoShape 18"/>
          <p:cNvSpPr>
            <a:spLocks noChangeArrowheads="1"/>
          </p:cNvSpPr>
          <p:nvPr/>
        </p:nvSpPr>
        <p:spPr bwMode="auto">
          <a:xfrm>
            <a:off x="3360738" y="3529013"/>
            <a:ext cx="792162" cy="503237"/>
          </a:xfrm>
          <a:prstGeom prst="flowChartMultidocument">
            <a:avLst/>
          </a:prstGeom>
          <a:solidFill>
            <a:srgbClr val="FF66CC"/>
          </a:solidFill>
          <a:ln w="9525">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bg2"/>
              </a:solidFill>
              <a:ea typeface="宋体" panose="02010600030101010101" pitchFamily="2" charset="-122"/>
            </a:endParaRPr>
          </a:p>
        </p:txBody>
      </p:sp>
      <p:cxnSp>
        <p:nvCxnSpPr>
          <p:cNvPr id="824339" name="AutoShape 19"/>
          <p:cNvCxnSpPr>
            <a:cxnSpLocks noChangeShapeType="1"/>
          </p:cNvCxnSpPr>
          <p:nvPr/>
        </p:nvCxnSpPr>
        <p:spPr bwMode="auto">
          <a:xfrm rot="5400000" flipH="1">
            <a:off x="2635250" y="3794125"/>
            <a:ext cx="649288" cy="3348038"/>
          </a:xfrm>
          <a:prstGeom prst="bentConnector3">
            <a:avLst>
              <a:gd name="adj1" fmla="val 69681"/>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cxnSp>
      <p:cxnSp>
        <p:nvCxnSpPr>
          <p:cNvPr id="824340" name="AutoShape 20"/>
          <p:cNvCxnSpPr>
            <a:cxnSpLocks noChangeShapeType="1"/>
          </p:cNvCxnSpPr>
          <p:nvPr/>
        </p:nvCxnSpPr>
        <p:spPr bwMode="auto">
          <a:xfrm rot="16320000" flipV="1">
            <a:off x="1081088" y="4367213"/>
            <a:ext cx="539750" cy="12700"/>
          </a:xfrm>
          <a:prstGeom prst="straightConnector1">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cxnSp>
      <p:cxnSp>
        <p:nvCxnSpPr>
          <p:cNvPr id="824341" name="AutoShape 21"/>
          <p:cNvCxnSpPr>
            <a:cxnSpLocks noChangeShapeType="1"/>
          </p:cNvCxnSpPr>
          <p:nvPr/>
        </p:nvCxnSpPr>
        <p:spPr bwMode="auto">
          <a:xfrm rot="5400000" flipH="1" flipV="1">
            <a:off x="1011014" y="3281362"/>
            <a:ext cx="646113" cy="14288"/>
          </a:xfrm>
          <a:prstGeom prst="straightConnector1">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cxnSp>
      <p:cxnSp>
        <p:nvCxnSpPr>
          <p:cNvPr id="824342" name="AutoShape 22"/>
          <p:cNvCxnSpPr>
            <a:cxnSpLocks noChangeShapeType="1"/>
            <a:stCxn id="7212" idx="3"/>
            <a:endCxn id="824338" idx="1"/>
          </p:cNvCxnSpPr>
          <p:nvPr/>
        </p:nvCxnSpPr>
        <p:spPr bwMode="auto">
          <a:xfrm flipV="1">
            <a:off x="2325688" y="3781425"/>
            <a:ext cx="1035050" cy="1135063"/>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24343" name="AutoShape 23"/>
          <p:cNvCxnSpPr>
            <a:cxnSpLocks noChangeShapeType="1"/>
            <a:endCxn id="824338" idx="1"/>
          </p:cNvCxnSpPr>
          <p:nvPr/>
        </p:nvCxnSpPr>
        <p:spPr bwMode="auto">
          <a:xfrm flipV="1">
            <a:off x="2424113" y="3781425"/>
            <a:ext cx="936625" cy="71438"/>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24344" name="AutoShape 24"/>
          <p:cNvCxnSpPr>
            <a:cxnSpLocks noChangeShapeType="1"/>
            <a:stCxn id="7208" idx="3"/>
            <a:endCxn id="824338" idx="1"/>
          </p:cNvCxnSpPr>
          <p:nvPr/>
        </p:nvCxnSpPr>
        <p:spPr bwMode="auto">
          <a:xfrm>
            <a:off x="2403475" y="2700338"/>
            <a:ext cx="957263" cy="1081087"/>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24345" name="AutoShape 25"/>
          <p:cNvSpPr>
            <a:spLocks noChangeArrowheads="1"/>
          </p:cNvSpPr>
          <p:nvPr/>
        </p:nvSpPr>
        <p:spPr bwMode="auto">
          <a:xfrm>
            <a:off x="5233988" y="3455988"/>
            <a:ext cx="863600" cy="504825"/>
          </a:xfrm>
          <a:prstGeom prst="can">
            <a:avLst>
              <a:gd name="adj" fmla="val 25000"/>
            </a:avLst>
          </a:prstGeom>
          <a:solidFill>
            <a:srgbClr val="666699"/>
          </a:solidFill>
          <a:ln w="9525">
            <a:solidFill>
              <a:srgbClr val="000000"/>
            </a:solidFill>
            <a:round/>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bg2"/>
              </a:solidFill>
              <a:ea typeface="宋体" panose="02010600030101010101" pitchFamily="2" charset="-122"/>
            </a:endParaRPr>
          </a:p>
        </p:txBody>
      </p:sp>
      <p:sp>
        <p:nvSpPr>
          <p:cNvPr id="824346" name="AutoShape 26"/>
          <p:cNvSpPr>
            <a:spLocks noChangeArrowheads="1"/>
          </p:cNvSpPr>
          <p:nvPr/>
        </p:nvSpPr>
        <p:spPr bwMode="auto">
          <a:xfrm>
            <a:off x="4224338" y="3600450"/>
            <a:ext cx="936625" cy="287338"/>
          </a:xfrm>
          <a:prstGeom prst="leftRightArrow">
            <a:avLst>
              <a:gd name="adj1" fmla="val 50000"/>
              <a:gd name="adj2" fmla="val 65193"/>
            </a:avLst>
          </a:prstGeom>
          <a:solidFill>
            <a:schemeClr val="accent1"/>
          </a:solidFill>
          <a:ln w="9525">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bg2"/>
              </a:solidFill>
              <a:ea typeface="宋体" panose="02010600030101010101" pitchFamily="2" charset="-122"/>
            </a:endParaRPr>
          </a:p>
        </p:txBody>
      </p:sp>
      <p:grpSp>
        <p:nvGrpSpPr>
          <p:cNvPr id="6" name="Group 27"/>
          <p:cNvGrpSpPr>
            <a:grpSpLocks/>
          </p:cNvGrpSpPr>
          <p:nvPr/>
        </p:nvGrpSpPr>
        <p:grpSpPr bwMode="auto">
          <a:xfrm>
            <a:off x="6673850" y="4535488"/>
            <a:ext cx="2266950" cy="503237"/>
            <a:chOff x="703" y="2614"/>
            <a:chExt cx="1224" cy="317"/>
          </a:xfrm>
        </p:grpSpPr>
        <p:sp>
          <p:nvSpPr>
            <p:cNvPr id="7206" name="AutoShape 28"/>
            <p:cNvSpPr>
              <a:spLocks noChangeArrowheads="1"/>
            </p:cNvSpPr>
            <p:nvPr/>
          </p:nvSpPr>
          <p:spPr bwMode="auto">
            <a:xfrm>
              <a:off x="703" y="2614"/>
              <a:ext cx="1224" cy="317"/>
            </a:xfrm>
            <a:prstGeom prst="flowChartPredefinedProcess">
              <a:avLst/>
            </a:prstGeom>
            <a:solidFill>
              <a:srgbClr val="FFCC66"/>
            </a:solidFill>
            <a:ln w="9525">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824349" name="Text Box 29"/>
            <p:cNvSpPr txBox="1">
              <a:spLocks noChangeArrowheads="1"/>
            </p:cNvSpPr>
            <p:nvPr/>
          </p:nvSpPr>
          <p:spPr bwMode="auto">
            <a:xfrm>
              <a:off x="811" y="2643"/>
              <a:ext cx="927" cy="250"/>
            </a:xfrm>
            <a:prstGeom prst="rect">
              <a:avLst/>
            </a:prstGeom>
            <a:noFill/>
            <a:ln w="9525">
              <a:noFill/>
              <a:miter lim="800000"/>
              <a:headEnd/>
              <a:tailEnd/>
            </a:ln>
            <a:effectLst/>
          </p:spPr>
          <p:txBody>
            <a:bodyPr>
              <a:spAutoFit/>
            </a:bodyPr>
            <a:lstStyle/>
            <a:p>
              <a:pPr eaLnBrk="1" hangingPunct="1">
                <a:defRPr/>
              </a:pPr>
              <a:r>
                <a:rPr kumimoji="0" lang="zh-CN" altLang="en-US" sz="2000">
                  <a:solidFill>
                    <a:schemeClr val="bg2"/>
                  </a:solidFill>
                  <a:effectLst>
                    <a:outerShdw blurRad="38100" dist="38100" dir="2700000" algn="tl">
                      <a:srgbClr val="000000"/>
                    </a:outerShdw>
                  </a:effectLst>
                  <a:latin typeface="Tahoma" pitchFamily="34" charset="0"/>
                </a:rPr>
                <a:t>磁盘空间分配</a:t>
              </a:r>
            </a:p>
          </p:txBody>
        </p:sp>
      </p:grpSp>
      <p:grpSp>
        <p:nvGrpSpPr>
          <p:cNvPr id="7" name="Group 33"/>
          <p:cNvGrpSpPr>
            <a:grpSpLocks/>
          </p:cNvGrpSpPr>
          <p:nvPr/>
        </p:nvGrpSpPr>
        <p:grpSpPr bwMode="auto">
          <a:xfrm>
            <a:off x="6673850" y="2376488"/>
            <a:ext cx="2266950" cy="503237"/>
            <a:chOff x="703" y="2614"/>
            <a:chExt cx="1224" cy="317"/>
          </a:xfrm>
        </p:grpSpPr>
        <p:sp>
          <p:nvSpPr>
            <p:cNvPr id="7204" name="AutoShape 34"/>
            <p:cNvSpPr>
              <a:spLocks noChangeArrowheads="1"/>
            </p:cNvSpPr>
            <p:nvPr/>
          </p:nvSpPr>
          <p:spPr bwMode="auto">
            <a:xfrm>
              <a:off x="703" y="2614"/>
              <a:ext cx="1224" cy="317"/>
            </a:xfrm>
            <a:prstGeom prst="flowChartPredefinedProcess">
              <a:avLst/>
            </a:prstGeom>
            <a:solidFill>
              <a:srgbClr val="FFCC66"/>
            </a:solidFill>
            <a:ln w="9525">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824355" name="Text Box 35"/>
            <p:cNvSpPr txBox="1">
              <a:spLocks noChangeArrowheads="1"/>
            </p:cNvSpPr>
            <p:nvPr/>
          </p:nvSpPr>
          <p:spPr bwMode="auto">
            <a:xfrm>
              <a:off x="811" y="2665"/>
              <a:ext cx="1022" cy="250"/>
            </a:xfrm>
            <a:prstGeom prst="rect">
              <a:avLst/>
            </a:prstGeom>
            <a:noFill/>
            <a:ln w="9525">
              <a:noFill/>
              <a:miter lim="800000"/>
              <a:headEnd/>
              <a:tailEnd/>
            </a:ln>
            <a:effectLst/>
          </p:spPr>
          <p:txBody>
            <a:bodyPr>
              <a:spAutoFit/>
            </a:bodyPr>
            <a:lstStyle/>
            <a:p>
              <a:pPr eaLnBrk="1" hangingPunct="1">
                <a:defRPr/>
              </a:pPr>
              <a:r>
                <a:rPr kumimoji="0" lang="en-US" altLang="zh-CN" sz="1800">
                  <a:solidFill>
                    <a:schemeClr val="bg1"/>
                  </a:solidFill>
                  <a:effectLst>
                    <a:outerShdw blurRad="38100" dist="38100" dir="2700000" algn="tl">
                      <a:srgbClr val="000000"/>
                    </a:outerShdw>
                  </a:effectLst>
                  <a:latin typeface="Tahoma" pitchFamily="34" charset="0"/>
                </a:rPr>
                <a:t> </a:t>
              </a:r>
              <a:r>
                <a:rPr kumimoji="0" lang="zh-CN" altLang="en-US" sz="2000">
                  <a:solidFill>
                    <a:schemeClr val="bg2"/>
                  </a:solidFill>
                  <a:effectLst>
                    <a:outerShdw blurRad="38100" dist="38100" dir="2700000" algn="tl">
                      <a:srgbClr val="000000"/>
                    </a:outerShdw>
                  </a:effectLst>
                  <a:latin typeface="Tahoma" pitchFamily="34" charset="0"/>
                </a:rPr>
                <a:t>磁盘设备防护</a:t>
              </a:r>
            </a:p>
          </p:txBody>
        </p:sp>
      </p:grpSp>
      <p:cxnSp>
        <p:nvCxnSpPr>
          <p:cNvPr id="824356" name="AutoShape 36"/>
          <p:cNvCxnSpPr>
            <a:cxnSpLocks noChangeShapeType="1"/>
          </p:cNvCxnSpPr>
          <p:nvPr/>
        </p:nvCxnSpPr>
        <p:spPr bwMode="auto">
          <a:xfrm flipV="1">
            <a:off x="7807325" y="3810000"/>
            <a:ext cx="0" cy="725488"/>
          </a:xfrm>
          <a:prstGeom prst="straightConnector1">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cxnSp>
      <p:cxnSp>
        <p:nvCxnSpPr>
          <p:cNvPr id="824357" name="AutoShape 37"/>
          <p:cNvCxnSpPr>
            <a:cxnSpLocks noChangeShapeType="1"/>
          </p:cNvCxnSpPr>
          <p:nvPr/>
        </p:nvCxnSpPr>
        <p:spPr bwMode="auto">
          <a:xfrm flipV="1">
            <a:off x="7807325" y="2879725"/>
            <a:ext cx="0" cy="504825"/>
          </a:xfrm>
          <a:prstGeom prst="straightConnector1">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cxnSp>
      <p:cxnSp>
        <p:nvCxnSpPr>
          <p:cNvPr id="824358" name="AutoShape 38"/>
          <p:cNvCxnSpPr>
            <a:cxnSpLocks noChangeShapeType="1"/>
          </p:cNvCxnSpPr>
          <p:nvPr/>
        </p:nvCxnSpPr>
        <p:spPr bwMode="auto">
          <a:xfrm rot="-5400000">
            <a:off x="5838825" y="3876675"/>
            <a:ext cx="722313" cy="2970213"/>
          </a:xfrm>
          <a:prstGeom prst="bentConnector3">
            <a:avLst>
              <a:gd name="adj1" fmla="val 50111"/>
            </a:avLst>
          </a:prstGeom>
          <a:noFill/>
          <a:ln w="28575">
            <a:solidFill>
              <a:schemeClr val="bg2"/>
            </a:solidFill>
            <a:miter lim="800000"/>
            <a:headEnd/>
            <a:tailEnd type="triangle" w="med" len="med"/>
          </a:ln>
          <a:extLst>
            <a:ext uri="{909E8E84-426E-40DD-AFC4-6F175D3DCCD1}">
              <a14:hiddenFill xmlns:a14="http://schemas.microsoft.com/office/drawing/2010/main">
                <a:noFill/>
              </a14:hiddenFill>
            </a:ext>
          </a:extLst>
        </p:spPr>
      </p:cxnSp>
      <p:sp>
        <p:nvSpPr>
          <p:cNvPr id="824359" name="Text Box 39"/>
          <p:cNvSpPr txBox="1">
            <a:spLocks noChangeArrowheads="1"/>
          </p:cNvSpPr>
          <p:nvPr/>
        </p:nvSpPr>
        <p:spPr bwMode="auto">
          <a:xfrm>
            <a:off x="3144838" y="4098925"/>
            <a:ext cx="158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sz="2400">
                <a:solidFill>
                  <a:schemeClr val="bg2"/>
                </a:solidFill>
                <a:latin typeface="Tahoma" panose="020B0604030504040204" pitchFamily="34" charset="0"/>
                <a:ea typeface="宋体" panose="02010600030101010101" pitchFamily="2" charset="-122"/>
              </a:rPr>
              <a:t>数据文件</a:t>
            </a:r>
          </a:p>
        </p:txBody>
      </p:sp>
      <p:sp>
        <p:nvSpPr>
          <p:cNvPr id="824360" name="Text Box 40"/>
          <p:cNvSpPr txBox="1">
            <a:spLocks noChangeArrowheads="1"/>
          </p:cNvSpPr>
          <p:nvPr/>
        </p:nvSpPr>
        <p:spPr bwMode="auto">
          <a:xfrm>
            <a:off x="5016500" y="4103688"/>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sz="2400">
                <a:solidFill>
                  <a:schemeClr val="bg2"/>
                </a:solidFill>
                <a:latin typeface="Tahoma" panose="020B0604030504040204" pitchFamily="34" charset="0"/>
                <a:ea typeface="宋体" panose="02010600030101010101" pitchFamily="2" charset="-122"/>
              </a:rPr>
              <a:t>磁盘空间</a:t>
            </a:r>
          </a:p>
        </p:txBody>
      </p:sp>
      <p:sp>
        <p:nvSpPr>
          <p:cNvPr id="824361" name="Text Box 41"/>
          <p:cNvSpPr txBox="1">
            <a:spLocks noChangeArrowheads="1"/>
          </p:cNvSpPr>
          <p:nvPr/>
        </p:nvSpPr>
        <p:spPr bwMode="auto">
          <a:xfrm>
            <a:off x="4359838" y="2605636"/>
            <a:ext cx="801125" cy="1077218"/>
          </a:xfrm>
          <a:prstGeom prst="rect">
            <a:avLst/>
          </a:prstGeom>
          <a:noFill/>
          <a:ln w="9525">
            <a:noFill/>
            <a:miter lim="800000"/>
            <a:headEnd/>
            <a:tailEnd/>
          </a:ln>
          <a:effectLst/>
        </p:spPr>
        <p:txBody>
          <a:bodyPr wrap="square">
            <a:spAutoFit/>
          </a:bodyPr>
          <a:lstStyle/>
          <a:p>
            <a:pPr eaLnBrk="1" hangingPunct="1">
              <a:defRPr/>
            </a:pPr>
            <a:r>
              <a:rPr kumimoji="0" lang="zh-CN" altLang="en-US" dirty="0">
                <a:solidFill>
                  <a:schemeClr val="bg2"/>
                </a:solidFill>
                <a:effectLst>
                  <a:outerShdw blurRad="38100" dist="38100" dir="2700000" algn="tl">
                    <a:srgbClr val="000000"/>
                  </a:outerShdw>
                </a:effectLst>
                <a:latin typeface="Tahoma" pitchFamily="34" charset="0"/>
              </a:rPr>
              <a:t>映   射</a:t>
            </a:r>
          </a:p>
        </p:txBody>
      </p:sp>
      <p:sp>
        <p:nvSpPr>
          <p:cNvPr id="7193" name="Line 42"/>
          <p:cNvSpPr>
            <a:spLocks noChangeShapeType="1"/>
          </p:cNvSpPr>
          <p:nvPr/>
        </p:nvSpPr>
        <p:spPr bwMode="auto">
          <a:xfrm>
            <a:off x="4643438" y="1714500"/>
            <a:ext cx="0" cy="3455988"/>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63" name="Text Box 43"/>
          <p:cNvSpPr txBox="1">
            <a:spLocks noChangeArrowheads="1"/>
          </p:cNvSpPr>
          <p:nvPr/>
        </p:nvSpPr>
        <p:spPr bwMode="auto">
          <a:xfrm>
            <a:off x="407988" y="1439863"/>
            <a:ext cx="3884612" cy="519112"/>
          </a:xfrm>
          <a:prstGeom prst="rect">
            <a:avLst/>
          </a:prstGeom>
          <a:noFill/>
          <a:ln w="9525">
            <a:noFill/>
            <a:miter lim="800000"/>
            <a:headEnd/>
            <a:tailEnd/>
          </a:ln>
          <a:effectLst/>
        </p:spPr>
        <p:txBody>
          <a:bodyPr>
            <a:spAutoFit/>
          </a:bodyPr>
          <a:lstStyle/>
          <a:p>
            <a:pPr eaLnBrk="1" hangingPunct="1">
              <a:defRPr/>
            </a:pPr>
            <a:r>
              <a:rPr kumimoji="0" lang="zh-CN" altLang="en-US" sz="2800" dirty="0">
                <a:solidFill>
                  <a:schemeClr val="bg1">
                    <a:lumMod val="75000"/>
                  </a:schemeClr>
                </a:solidFill>
                <a:effectLst>
                  <a:outerShdw blurRad="38100" dist="38100" dir="2700000" algn="tl">
                    <a:srgbClr val="000000"/>
                  </a:outerShdw>
                </a:effectLst>
                <a:latin typeface="Tahoma" pitchFamily="34" charset="0"/>
              </a:rPr>
              <a:t>应用层观点：逻辑抽象</a:t>
            </a:r>
          </a:p>
        </p:txBody>
      </p:sp>
      <p:sp>
        <p:nvSpPr>
          <p:cNvPr id="824364" name="Text Box 44"/>
          <p:cNvSpPr txBox="1">
            <a:spLocks noChangeArrowheads="1"/>
          </p:cNvSpPr>
          <p:nvPr/>
        </p:nvSpPr>
        <p:spPr bwMode="auto">
          <a:xfrm>
            <a:off x="4800600" y="1439863"/>
            <a:ext cx="3889375" cy="519112"/>
          </a:xfrm>
          <a:prstGeom prst="rect">
            <a:avLst/>
          </a:prstGeom>
          <a:noFill/>
          <a:ln w="9525">
            <a:noFill/>
            <a:miter lim="800000"/>
            <a:headEnd/>
            <a:tailEnd/>
          </a:ln>
          <a:effectLst/>
        </p:spPr>
        <p:txBody>
          <a:bodyPr>
            <a:spAutoFit/>
          </a:bodyPr>
          <a:lstStyle/>
          <a:p>
            <a:pPr eaLnBrk="1" hangingPunct="1">
              <a:defRPr/>
            </a:pPr>
            <a:r>
              <a:rPr kumimoji="0" lang="zh-CN" altLang="en-US" sz="2800" dirty="0">
                <a:solidFill>
                  <a:schemeClr val="bg1">
                    <a:lumMod val="75000"/>
                  </a:schemeClr>
                </a:solidFill>
                <a:effectLst>
                  <a:outerShdw blurRad="38100" dist="38100" dir="2700000" algn="tl">
                    <a:srgbClr val="000000"/>
                  </a:outerShdw>
                </a:effectLst>
                <a:latin typeface="Tahoma" pitchFamily="34" charset="0"/>
              </a:rPr>
              <a:t>物理层观点：空间管理</a:t>
            </a:r>
          </a:p>
        </p:txBody>
      </p:sp>
      <p:cxnSp>
        <p:nvCxnSpPr>
          <p:cNvPr id="824365" name="AutoShape 45"/>
          <p:cNvCxnSpPr>
            <a:cxnSpLocks noChangeShapeType="1"/>
            <a:endCxn id="824345" idx="4"/>
          </p:cNvCxnSpPr>
          <p:nvPr/>
        </p:nvCxnSpPr>
        <p:spPr bwMode="auto">
          <a:xfrm flipH="1" flipV="1">
            <a:off x="6097588" y="3708400"/>
            <a:ext cx="576262" cy="107950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8" name="Group 48"/>
          <p:cNvGrpSpPr>
            <a:grpSpLocks/>
          </p:cNvGrpSpPr>
          <p:nvPr/>
        </p:nvGrpSpPr>
        <p:grpSpPr bwMode="auto">
          <a:xfrm>
            <a:off x="6097588" y="3384550"/>
            <a:ext cx="2843212" cy="436563"/>
            <a:chOff x="3969" y="2251"/>
            <a:chExt cx="1791" cy="275"/>
          </a:xfrm>
        </p:grpSpPr>
        <p:sp>
          <p:nvSpPr>
            <p:cNvPr id="7201" name="AutoShape 31"/>
            <p:cNvSpPr>
              <a:spLocks noChangeArrowheads="1"/>
            </p:cNvSpPr>
            <p:nvPr/>
          </p:nvSpPr>
          <p:spPr bwMode="auto">
            <a:xfrm>
              <a:off x="4332" y="2251"/>
              <a:ext cx="1428" cy="268"/>
            </a:xfrm>
            <a:prstGeom prst="flowChartPredefinedProcess">
              <a:avLst/>
            </a:prstGeom>
            <a:solidFill>
              <a:srgbClr val="FFCC66"/>
            </a:solidFill>
            <a:ln w="9525">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824352" name="Text Box 32"/>
            <p:cNvSpPr txBox="1">
              <a:spLocks noChangeArrowheads="1"/>
            </p:cNvSpPr>
            <p:nvPr/>
          </p:nvSpPr>
          <p:spPr bwMode="auto">
            <a:xfrm>
              <a:off x="4458" y="2276"/>
              <a:ext cx="1302" cy="250"/>
            </a:xfrm>
            <a:prstGeom prst="rect">
              <a:avLst/>
            </a:prstGeom>
            <a:noFill/>
            <a:ln w="9525">
              <a:noFill/>
              <a:miter lim="800000"/>
              <a:headEnd/>
              <a:tailEnd/>
            </a:ln>
            <a:effectLst/>
          </p:spPr>
          <p:txBody>
            <a:bodyPr>
              <a:spAutoFit/>
            </a:bodyPr>
            <a:lstStyle/>
            <a:p>
              <a:pPr eaLnBrk="1" hangingPunct="1">
                <a:defRPr/>
              </a:pPr>
              <a:r>
                <a:rPr kumimoji="0" lang="zh-CN" altLang="en-US" sz="2000">
                  <a:solidFill>
                    <a:schemeClr val="bg2"/>
                  </a:solidFill>
                  <a:effectLst>
                    <a:outerShdw blurRad="38100" dist="38100" dir="2700000" algn="tl">
                      <a:srgbClr val="000000"/>
                    </a:outerShdw>
                  </a:effectLst>
                  <a:latin typeface="Tahoma" pitchFamily="34" charset="0"/>
                </a:rPr>
                <a:t>磁盘数据存取</a:t>
              </a:r>
            </a:p>
          </p:txBody>
        </p:sp>
        <p:cxnSp>
          <p:nvCxnSpPr>
            <p:cNvPr id="7203" name="AutoShape 46"/>
            <p:cNvCxnSpPr>
              <a:cxnSpLocks noChangeShapeType="1"/>
              <a:stCxn id="7201" idx="1"/>
              <a:endCxn id="824345" idx="4"/>
            </p:cNvCxnSpPr>
            <p:nvPr/>
          </p:nvCxnSpPr>
          <p:spPr bwMode="auto">
            <a:xfrm rot="10800000" flipV="1">
              <a:off x="3969" y="2385"/>
              <a:ext cx="363" cy="7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grpSp>
      <p:cxnSp>
        <p:nvCxnSpPr>
          <p:cNvPr id="824367" name="AutoShape 47"/>
          <p:cNvCxnSpPr>
            <a:cxnSpLocks noChangeShapeType="1"/>
            <a:endCxn id="824345" idx="4"/>
          </p:cNvCxnSpPr>
          <p:nvPr/>
        </p:nvCxnSpPr>
        <p:spPr bwMode="auto">
          <a:xfrm flipH="1">
            <a:off x="6097588" y="2628900"/>
            <a:ext cx="576262" cy="107950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4" name="TextBox 63"/>
          <p:cNvSpPr txBox="1"/>
          <p:nvPr/>
        </p:nvSpPr>
        <p:spPr>
          <a:xfrm>
            <a:off x="1357313" y="6429375"/>
            <a:ext cx="6072187" cy="400050"/>
          </a:xfrm>
          <a:prstGeom prst="rect">
            <a:avLst/>
          </a:prstGeom>
          <a:noFill/>
        </p:spPr>
        <p:txBody>
          <a:bodyPr>
            <a:spAutoFit/>
          </a:bodyPr>
          <a:lstStyle/>
          <a:p>
            <a:pPr algn="ctr" eaLnBrk="1" hangingPunct="1">
              <a:defRPr/>
            </a:pPr>
            <a:r>
              <a:rPr lang="zh-CN" altLang="en-US" sz="2000" dirty="0">
                <a:solidFill>
                  <a:schemeClr val="bg2"/>
                </a:solidFill>
                <a:effectLst>
                  <a:outerShdw blurRad="38100" dist="38100" dir="2700000" algn="tl">
                    <a:srgbClr val="C0C0C0"/>
                  </a:outerShdw>
                </a:effectLst>
                <a:latin typeface="+mj-ea"/>
                <a:ea typeface="+mj-ea"/>
              </a:rPr>
              <a:t>摘自 史广顺</a:t>
            </a:r>
            <a:r>
              <a:rPr lang="en-US" altLang="zh-CN" sz="2000" dirty="0">
                <a:solidFill>
                  <a:schemeClr val="bg2"/>
                </a:solidFill>
                <a:latin typeface="+mj-ea"/>
                <a:ea typeface="+mj-ea"/>
              </a:rPr>
              <a:t>《</a:t>
            </a:r>
            <a:r>
              <a:rPr lang="zh-CN" altLang="en-US" sz="2000" dirty="0">
                <a:solidFill>
                  <a:schemeClr val="bg2"/>
                </a:solidFill>
                <a:latin typeface="+mj-ea"/>
                <a:ea typeface="+mj-ea"/>
              </a:rPr>
              <a:t>操作系统设计与实现</a:t>
            </a:r>
            <a:r>
              <a:rPr lang="en-US" altLang="zh-CN" sz="2000" dirty="0">
                <a:solidFill>
                  <a:schemeClr val="bg2"/>
                </a:solidFill>
                <a:latin typeface="+mj-ea"/>
                <a:ea typeface="+mj-ea"/>
              </a:rPr>
              <a:t>》</a:t>
            </a:r>
            <a:r>
              <a:rPr lang="zh-CN" altLang="en-US" sz="2000" dirty="0">
                <a:solidFill>
                  <a:schemeClr val="bg2"/>
                </a:solidFill>
                <a:latin typeface="+mj-ea"/>
                <a:ea typeface="+mj-ea"/>
              </a:rPr>
              <a:t>讲稿</a:t>
            </a:r>
          </a:p>
        </p:txBody>
      </p:sp>
      <p:sp>
        <p:nvSpPr>
          <p:cNvPr id="48"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grpSp>
        <p:nvGrpSpPr>
          <p:cNvPr id="2" name="Group 6"/>
          <p:cNvGrpSpPr>
            <a:grpSpLocks/>
          </p:cNvGrpSpPr>
          <p:nvPr/>
        </p:nvGrpSpPr>
        <p:grpSpPr bwMode="auto">
          <a:xfrm>
            <a:off x="2928938" y="5715000"/>
            <a:ext cx="3783012" cy="582613"/>
            <a:chOff x="2336" y="3748"/>
            <a:chExt cx="1633" cy="272"/>
          </a:xfrm>
        </p:grpSpPr>
        <p:sp>
          <p:nvSpPr>
            <p:cNvPr id="7214" name="AutoShape 7"/>
            <p:cNvSpPr>
              <a:spLocks noChangeArrowheads="1"/>
            </p:cNvSpPr>
            <p:nvPr/>
          </p:nvSpPr>
          <p:spPr bwMode="auto">
            <a:xfrm>
              <a:off x="2336" y="3748"/>
              <a:ext cx="1633" cy="272"/>
            </a:xfrm>
            <a:prstGeom prst="flowChartAlternateProcess">
              <a:avLst/>
            </a:prstGeom>
            <a:solidFill>
              <a:schemeClr val="accent1"/>
            </a:solidFill>
            <a:ln w="9525">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7215" name="Text Box 8"/>
            <p:cNvSpPr txBox="1">
              <a:spLocks noChangeArrowheads="1"/>
            </p:cNvSpPr>
            <p:nvPr/>
          </p:nvSpPr>
          <p:spPr bwMode="auto">
            <a:xfrm>
              <a:off x="2458" y="3760"/>
              <a:ext cx="1367" cy="24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0" lang="zh-CN" altLang="en-US" sz="2800">
                  <a:solidFill>
                    <a:schemeClr val="bg2"/>
                  </a:solidFill>
                  <a:latin typeface="Tahoma" panose="020B0604030504040204" pitchFamily="34" charset="0"/>
                  <a:ea typeface="宋体" panose="02010600030101010101" pitchFamily="2" charset="-122"/>
                </a:rPr>
                <a:t>文件系统服务器</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9" fill="hold" nodeType="clickEffect">
                                  <p:stCondLst>
                                    <p:cond delay="0"/>
                                  </p:stCondLst>
                                  <p:childTnLst>
                                    <p:set>
                                      <p:cBhvr>
                                        <p:cTn id="11" dur="1" fill="hold">
                                          <p:stCondLst>
                                            <p:cond delay="0"/>
                                          </p:stCondLst>
                                        </p:cTn>
                                        <p:tgtEl>
                                          <p:spTgt spid="824339"/>
                                        </p:tgtEl>
                                        <p:attrNameLst>
                                          <p:attrName>style.visibility</p:attrName>
                                        </p:attrNameLst>
                                      </p:cBhvr>
                                      <p:to>
                                        <p:strVal val="visible"/>
                                      </p:to>
                                    </p:set>
                                    <p:animEffect transition="in" filter="strips(upLeft)">
                                      <p:cBhvr>
                                        <p:cTn id="12" dur="500"/>
                                        <p:tgtEl>
                                          <p:spTgt spid="824339"/>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par>
                          <p:cTn id="17" fill="hold" nodeType="afterGroup">
                            <p:stCondLst>
                              <p:cond delay="1000"/>
                            </p:stCondLst>
                            <p:childTnLst>
                              <p:par>
                                <p:cTn id="18" presetID="18" presetClass="entr" presetSubtype="9" fill="hold" nodeType="afterEffect">
                                  <p:stCondLst>
                                    <p:cond delay="0"/>
                                  </p:stCondLst>
                                  <p:childTnLst>
                                    <p:set>
                                      <p:cBhvr>
                                        <p:cTn id="19" dur="1" fill="hold">
                                          <p:stCondLst>
                                            <p:cond delay="0"/>
                                          </p:stCondLst>
                                        </p:cTn>
                                        <p:tgtEl>
                                          <p:spTgt spid="824340"/>
                                        </p:tgtEl>
                                        <p:attrNameLst>
                                          <p:attrName>style.visibility</p:attrName>
                                        </p:attrNameLst>
                                      </p:cBhvr>
                                      <p:to>
                                        <p:strVal val="visible"/>
                                      </p:to>
                                    </p:set>
                                    <p:animEffect transition="in" filter="strips(upLeft)">
                                      <p:cBhvr>
                                        <p:cTn id="20" dur="500"/>
                                        <p:tgtEl>
                                          <p:spTgt spid="824340"/>
                                        </p:tgtEl>
                                      </p:cBhvr>
                                    </p:animEffect>
                                  </p:childTnLst>
                                </p:cTn>
                              </p:par>
                            </p:childTnLst>
                          </p:cTn>
                        </p:par>
                        <p:par>
                          <p:cTn id="21" fill="hold" nodeType="afterGroup">
                            <p:stCondLst>
                              <p:cond delay="1500"/>
                            </p:stCondLst>
                            <p:childTnLst>
                              <p:par>
                                <p:cTn id="22" presetID="9"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dissolve">
                                      <p:cBhvr>
                                        <p:cTn id="24" dur="500"/>
                                        <p:tgtEl>
                                          <p:spTgt spid="4"/>
                                        </p:tgtEl>
                                      </p:cBhvr>
                                    </p:animEffect>
                                  </p:childTnLst>
                                </p:cTn>
                              </p:par>
                            </p:childTnLst>
                          </p:cTn>
                        </p:par>
                        <p:par>
                          <p:cTn id="25" fill="hold" nodeType="afterGroup">
                            <p:stCondLst>
                              <p:cond delay="2000"/>
                            </p:stCondLst>
                            <p:childTnLst>
                              <p:par>
                                <p:cTn id="26" presetID="18" presetClass="entr" presetSubtype="12" fill="hold" nodeType="afterEffect">
                                  <p:stCondLst>
                                    <p:cond delay="0"/>
                                  </p:stCondLst>
                                  <p:childTnLst>
                                    <p:set>
                                      <p:cBhvr>
                                        <p:cTn id="27" dur="1" fill="hold">
                                          <p:stCondLst>
                                            <p:cond delay="0"/>
                                          </p:stCondLst>
                                        </p:cTn>
                                        <p:tgtEl>
                                          <p:spTgt spid="824341"/>
                                        </p:tgtEl>
                                        <p:attrNameLst>
                                          <p:attrName>style.visibility</p:attrName>
                                        </p:attrNameLst>
                                      </p:cBhvr>
                                      <p:to>
                                        <p:strVal val="visible"/>
                                      </p:to>
                                    </p:set>
                                    <p:animEffect transition="in" filter="strips(downLeft)">
                                      <p:cBhvr>
                                        <p:cTn id="28" dur="500"/>
                                        <p:tgtEl>
                                          <p:spTgt spid="824341"/>
                                        </p:tgtEl>
                                      </p:cBhvr>
                                    </p:animEffect>
                                  </p:childTnLst>
                                </p:cTn>
                              </p:par>
                            </p:childTnLst>
                          </p:cTn>
                        </p:par>
                        <p:par>
                          <p:cTn id="29" fill="hold" nodeType="afterGroup">
                            <p:stCondLst>
                              <p:cond delay="2500"/>
                            </p:stCondLst>
                            <p:childTnLst>
                              <p:par>
                                <p:cTn id="30" presetID="9" presetClass="entr" presetSubtype="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dissolve">
                                      <p:cBhvr>
                                        <p:cTn id="32" dur="5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3" fill="hold" nodeType="clickEffect">
                                  <p:stCondLst>
                                    <p:cond delay="0"/>
                                  </p:stCondLst>
                                  <p:childTnLst>
                                    <p:set>
                                      <p:cBhvr>
                                        <p:cTn id="36" dur="1" fill="hold">
                                          <p:stCondLst>
                                            <p:cond delay="0"/>
                                          </p:stCondLst>
                                        </p:cTn>
                                        <p:tgtEl>
                                          <p:spTgt spid="824342"/>
                                        </p:tgtEl>
                                        <p:attrNameLst>
                                          <p:attrName>style.visibility</p:attrName>
                                        </p:attrNameLst>
                                      </p:cBhvr>
                                      <p:to>
                                        <p:strVal val="visible"/>
                                      </p:to>
                                    </p:set>
                                    <p:animEffect transition="in" filter="strips(upRight)">
                                      <p:cBhvr>
                                        <p:cTn id="37" dur="500"/>
                                        <p:tgtEl>
                                          <p:spTgt spid="824342"/>
                                        </p:tgtEl>
                                      </p:cBhvr>
                                    </p:animEffect>
                                  </p:childTnLst>
                                </p:cTn>
                              </p:par>
                            </p:childTnLst>
                          </p:cTn>
                        </p:par>
                        <p:par>
                          <p:cTn id="38" fill="hold" nodeType="afterGroup">
                            <p:stCondLst>
                              <p:cond delay="500"/>
                            </p:stCondLst>
                            <p:childTnLst>
                              <p:par>
                                <p:cTn id="39" presetID="18" presetClass="entr" presetSubtype="3" fill="hold" nodeType="afterEffect">
                                  <p:stCondLst>
                                    <p:cond delay="0"/>
                                  </p:stCondLst>
                                  <p:childTnLst>
                                    <p:set>
                                      <p:cBhvr>
                                        <p:cTn id="40" dur="1" fill="hold">
                                          <p:stCondLst>
                                            <p:cond delay="0"/>
                                          </p:stCondLst>
                                        </p:cTn>
                                        <p:tgtEl>
                                          <p:spTgt spid="824343"/>
                                        </p:tgtEl>
                                        <p:attrNameLst>
                                          <p:attrName>style.visibility</p:attrName>
                                        </p:attrNameLst>
                                      </p:cBhvr>
                                      <p:to>
                                        <p:strVal val="visible"/>
                                      </p:to>
                                    </p:set>
                                    <p:animEffect transition="in" filter="strips(upRight)">
                                      <p:cBhvr>
                                        <p:cTn id="41" dur="500"/>
                                        <p:tgtEl>
                                          <p:spTgt spid="824343"/>
                                        </p:tgtEl>
                                      </p:cBhvr>
                                    </p:animEffect>
                                  </p:childTnLst>
                                </p:cTn>
                              </p:par>
                            </p:childTnLst>
                          </p:cTn>
                        </p:par>
                        <p:par>
                          <p:cTn id="42" fill="hold" nodeType="afterGroup">
                            <p:stCondLst>
                              <p:cond delay="1000"/>
                            </p:stCondLst>
                            <p:childTnLst>
                              <p:par>
                                <p:cTn id="43" presetID="18" presetClass="entr" presetSubtype="12" fill="hold" nodeType="afterEffect">
                                  <p:stCondLst>
                                    <p:cond delay="0"/>
                                  </p:stCondLst>
                                  <p:childTnLst>
                                    <p:set>
                                      <p:cBhvr>
                                        <p:cTn id="44" dur="1" fill="hold">
                                          <p:stCondLst>
                                            <p:cond delay="0"/>
                                          </p:stCondLst>
                                        </p:cTn>
                                        <p:tgtEl>
                                          <p:spTgt spid="824344"/>
                                        </p:tgtEl>
                                        <p:attrNameLst>
                                          <p:attrName>style.visibility</p:attrName>
                                        </p:attrNameLst>
                                      </p:cBhvr>
                                      <p:to>
                                        <p:strVal val="visible"/>
                                      </p:to>
                                    </p:set>
                                    <p:animEffect transition="in" filter="strips(downLeft)">
                                      <p:cBhvr>
                                        <p:cTn id="45" dur="500"/>
                                        <p:tgtEl>
                                          <p:spTgt spid="824344"/>
                                        </p:tgtEl>
                                      </p:cBhvr>
                                    </p:animEffect>
                                  </p:childTnLst>
                                </p:cTn>
                              </p:par>
                            </p:childTnLst>
                          </p:cTn>
                        </p:par>
                        <p:par>
                          <p:cTn id="46" fill="hold" nodeType="afterGroup">
                            <p:stCondLst>
                              <p:cond delay="1500"/>
                            </p:stCondLst>
                            <p:childTnLst>
                              <p:par>
                                <p:cTn id="47" presetID="9" presetClass="entr" presetSubtype="0" fill="hold" grpId="0" nodeType="afterEffect">
                                  <p:stCondLst>
                                    <p:cond delay="0"/>
                                  </p:stCondLst>
                                  <p:childTnLst>
                                    <p:set>
                                      <p:cBhvr>
                                        <p:cTn id="48" dur="1" fill="hold">
                                          <p:stCondLst>
                                            <p:cond delay="0"/>
                                          </p:stCondLst>
                                        </p:cTn>
                                        <p:tgtEl>
                                          <p:spTgt spid="824338"/>
                                        </p:tgtEl>
                                        <p:attrNameLst>
                                          <p:attrName>style.visibility</p:attrName>
                                        </p:attrNameLst>
                                      </p:cBhvr>
                                      <p:to>
                                        <p:strVal val="visible"/>
                                      </p:to>
                                    </p:set>
                                    <p:animEffect transition="in" filter="dissolve">
                                      <p:cBhvr>
                                        <p:cTn id="49" dur="500"/>
                                        <p:tgtEl>
                                          <p:spTgt spid="824338"/>
                                        </p:tgtEl>
                                      </p:cBhvr>
                                    </p:animEffect>
                                  </p:childTnLst>
                                </p:cTn>
                              </p:par>
                            </p:childTnLst>
                          </p:cTn>
                        </p:par>
                        <p:par>
                          <p:cTn id="50" fill="hold" nodeType="afterGroup">
                            <p:stCondLst>
                              <p:cond delay="2000"/>
                            </p:stCondLst>
                            <p:childTnLst>
                              <p:par>
                                <p:cTn id="51" presetID="9" presetClass="entr" presetSubtype="0" fill="hold" grpId="0" nodeType="afterEffect">
                                  <p:stCondLst>
                                    <p:cond delay="0"/>
                                  </p:stCondLst>
                                  <p:childTnLst>
                                    <p:set>
                                      <p:cBhvr>
                                        <p:cTn id="52" dur="1" fill="hold">
                                          <p:stCondLst>
                                            <p:cond delay="0"/>
                                          </p:stCondLst>
                                        </p:cTn>
                                        <p:tgtEl>
                                          <p:spTgt spid="824359"/>
                                        </p:tgtEl>
                                        <p:attrNameLst>
                                          <p:attrName>style.visibility</p:attrName>
                                        </p:attrNameLst>
                                      </p:cBhvr>
                                      <p:to>
                                        <p:strVal val="visible"/>
                                      </p:to>
                                    </p:set>
                                    <p:animEffect transition="in" filter="dissolve">
                                      <p:cBhvr>
                                        <p:cTn id="53" dur="500"/>
                                        <p:tgtEl>
                                          <p:spTgt spid="82435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8" presetClass="entr" presetSubtype="3" fill="hold" nodeType="clickEffect">
                                  <p:stCondLst>
                                    <p:cond delay="0"/>
                                  </p:stCondLst>
                                  <p:childTnLst>
                                    <p:set>
                                      <p:cBhvr>
                                        <p:cTn id="57" dur="1" fill="hold">
                                          <p:stCondLst>
                                            <p:cond delay="0"/>
                                          </p:stCondLst>
                                        </p:cTn>
                                        <p:tgtEl>
                                          <p:spTgt spid="824358"/>
                                        </p:tgtEl>
                                        <p:attrNameLst>
                                          <p:attrName>style.visibility</p:attrName>
                                        </p:attrNameLst>
                                      </p:cBhvr>
                                      <p:to>
                                        <p:strVal val="visible"/>
                                      </p:to>
                                    </p:set>
                                    <p:animEffect transition="in" filter="strips(upRight)">
                                      <p:cBhvr>
                                        <p:cTn id="58" dur="500"/>
                                        <p:tgtEl>
                                          <p:spTgt spid="824358"/>
                                        </p:tgtEl>
                                      </p:cBhvr>
                                    </p:animEffect>
                                  </p:childTnLst>
                                </p:cTn>
                              </p:par>
                            </p:childTnLst>
                          </p:cTn>
                        </p:par>
                        <p:par>
                          <p:cTn id="59" fill="hold" nodeType="afterGroup">
                            <p:stCondLst>
                              <p:cond delay="500"/>
                            </p:stCondLst>
                            <p:childTnLst>
                              <p:par>
                                <p:cTn id="60" presetID="9" presetClass="entr" presetSubtype="0" fill="hold" nodeType="after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dissolve">
                                      <p:cBhvr>
                                        <p:cTn id="62" dur="500"/>
                                        <p:tgtEl>
                                          <p:spTgt spid="6"/>
                                        </p:tgtEl>
                                      </p:cBhvr>
                                    </p:animEffect>
                                  </p:childTnLst>
                                </p:cTn>
                              </p:par>
                            </p:childTnLst>
                          </p:cTn>
                        </p:par>
                        <p:par>
                          <p:cTn id="63" fill="hold" nodeType="afterGroup">
                            <p:stCondLst>
                              <p:cond delay="1000"/>
                            </p:stCondLst>
                            <p:childTnLst>
                              <p:par>
                                <p:cTn id="64" presetID="18" presetClass="entr" presetSubtype="3" fill="hold" nodeType="afterEffect">
                                  <p:stCondLst>
                                    <p:cond delay="0"/>
                                  </p:stCondLst>
                                  <p:childTnLst>
                                    <p:set>
                                      <p:cBhvr>
                                        <p:cTn id="65" dur="1" fill="hold">
                                          <p:stCondLst>
                                            <p:cond delay="0"/>
                                          </p:stCondLst>
                                        </p:cTn>
                                        <p:tgtEl>
                                          <p:spTgt spid="824356"/>
                                        </p:tgtEl>
                                        <p:attrNameLst>
                                          <p:attrName>style.visibility</p:attrName>
                                        </p:attrNameLst>
                                      </p:cBhvr>
                                      <p:to>
                                        <p:strVal val="visible"/>
                                      </p:to>
                                    </p:set>
                                    <p:animEffect transition="in" filter="strips(upRight)">
                                      <p:cBhvr>
                                        <p:cTn id="66" dur="500"/>
                                        <p:tgtEl>
                                          <p:spTgt spid="82435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nodeType="click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blinds(horizontal)">
                                      <p:cBhvr>
                                        <p:cTn id="71" dur="500"/>
                                        <p:tgtEl>
                                          <p:spTgt spid="8"/>
                                        </p:tgtEl>
                                      </p:cBhvr>
                                    </p:animEffect>
                                  </p:childTnLst>
                                </p:cTn>
                              </p:par>
                            </p:childTnLst>
                          </p:cTn>
                        </p:par>
                        <p:par>
                          <p:cTn id="72" fill="hold" nodeType="afterGroup">
                            <p:stCondLst>
                              <p:cond delay="500"/>
                            </p:stCondLst>
                            <p:childTnLst>
                              <p:par>
                                <p:cTn id="73" presetID="18" presetClass="entr" presetSubtype="3" fill="hold" nodeType="afterEffect">
                                  <p:stCondLst>
                                    <p:cond delay="0"/>
                                  </p:stCondLst>
                                  <p:childTnLst>
                                    <p:set>
                                      <p:cBhvr>
                                        <p:cTn id="74" dur="1" fill="hold">
                                          <p:stCondLst>
                                            <p:cond delay="0"/>
                                          </p:stCondLst>
                                        </p:cTn>
                                        <p:tgtEl>
                                          <p:spTgt spid="824357"/>
                                        </p:tgtEl>
                                        <p:attrNameLst>
                                          <p:attrName>style.visibility</p:attrName>
                                        </p:attrNameLst>
                                      </p:cBhvr>
                                      <p:to>
                                        <p:strVal val="visible"/>
                                      </p:to>
                                    </p:set>
                                    <p:animEffect transition="in" filter="strips(upRight)">
                                      <p:cBhvr>
                                        <p:cTn id="75" dur="500"/>
                                        <p:tgtEl>
                                          <p:spTgt spid="824357"/>
                                        </p:tgtEl>
                                      </p:cBhvr>
                                    </p:animEffect>
                                  </p:childTnLst>
                                </p:cTn>
                              </p:par>
                            </p:childTnLst>
                          </p:cTn>
                        </p:par>
                        <p:par>
                          <p:cTn id="76" fill="hold" nodeType="afterGroup">
                            <p:stCondLst>
                              <p:cond delay="1000"/>
                            </p:stCondLst>
                            <p:childTnLst>
                              <p:par>
                                <p:cTn id="77" presetID="9" presetClass="entr" presetSubtype="0" fill="hold" nodeType="after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dissolve">
                                      <p:cBhvr>
                                        <p:cTn id="79" dur="500"/>
                                        <p:tgtEl>
                                          <p:spTgt spid="7"/>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8" presetClass="entr" presetSubtype="3" fill="hold" nodeType="clickEffect">
                                  <p:stCondLst>
                                    <p:cond delay="0"/>
                                  </p:stCondLst>
                                  <p:childTnLst>
                                    <p:set>
                                      <p:cBhvr>
                                        <p:cTn id="83" dur="1" fill="hold">
                                          <p:stCondLst>
                                            <p:cond delay="0"/>
                                          </p:stCondLst>
                                        </p:cTn>
                                        <p:tgtEl>
                                          <p:spTgt spid="824365"/>
                                        </p:tgtEl>
                                        <p:attrNameLst>
                                          <p:attrName>style.visibility</p:attrName>
                                        </p:attrNameLst>
                                      </p:cBhvr>
                                      <p:to>
                                        <p:strVal val="visible"/>
                                      </p:to>
                                    </p:set>
                                    <p:animEffect transition="in" filter="strips(upRight)">
                                      <p:cBhvr>
                                        <p:cTn id="84" dur="500"/>
                                        <p:tgtEl>
                                          <p:spTgt spid="824365"/>
                                        </p:tgtEl>
                                      </p:cBhvr>
                                    </p:animEffect>
                                  </p:childTnLst>
                                </p:cTn>
                              </p:par>
                            </p:childTnLst>
                          </p:cTn>
                        </p:par>
                        <p:par>
                          <p:cTn id="85" fill="hold" nodeType="afterGroup">
                            <p:stCondLst>
                              <p:cond delay="500"/>
                            </p:stCondLst>
                            <p:childTnLst>
                              <p:par>
                                <p:cTn id="86" presetID="18" presetClass="entr" presetSubtype="12" fill="hold" nodeType="afterEffect">
                                  <p:stCondLst>
                                    <p:cond delay="0"/>
                                  </p:stCondLst>
                                  <p:childTnLst>
                                    <p:set>
                                      <p:cBhvr>
                                        <p:cTn id="87" dur="1" fill="hold">
                                          <p:stCondLst>
                                            <p:cond delay="0"/>
                                          </p:stCondLst>
                                        </p:cTn>
                                        <p:tgtEl>
                                          <p:spTgt spid="824367"/>
                                        </p:tgtEl>
                                        <p:attrNameLst>
                                          <p:attrName>style.visibility</p:attrName>
                                        </p:attrNameLst>
                                      </p:cBhvr>
                                      <p:to>
                                        <p:strVal val="visible"/>
                                      </p:to>
                                    </p:set>
                                    <p:animEffect transition="in" filter="strips(downLeft)">
                                      <p:cBhvr>
                                        <p:cTn id="88" dur="500"/>
                                        <p:tgtEl>
                                          <p:spTgt spid="824367"/>
                                        </p:tgtEl>
                                      </p:cBhvr>
                                    </p:animEffect>
                                  </p:childTnLst>
                                </p:cTn>
                              </p:par>
                            </p:childTnLst>
                          </p:cTn>
                        </p:par>
                        <p:par>
                          <p:cTn id="89" fill="hold" nodeType="afterGroup">
                            <p:stCondLst>
                              <p:cond delay="1000"/>
                            </p:stCondLst>
                            <p:childTnLst>
                              <p:par>
                                <p:cTn id="90" presetID="9" presetClass="entr" presetSubtype="0" fill="hold" grpId="0" nodeType="afterEffect">
                                  <p:stCondLst>
                                    <p:cond delay="0"/>
                                  </p:stCondLst>
                                  <p:childTnLst>
                                    <p:set>
                                      <p:cBhvr>
                                        <p:cTn id="91" dur="1" fill="hold">
                                          <p:stCondLst>
                                            <p:cond delay="0"/>
                                          </p:stCondLst>
                                        </p:cTn>
                                        <p:tgtEl>
                                          <p:spTgt spid="824345"/>
                                        </p:tgtEl>
                                        <p:attrNameLst>
                                          <p:attrName>style.visibility</p:attrName>
                                        </p:attrNameLst>
                                      </p:cBhvr>
                                      <p:to>
                                        <p:strVal val="visible"/>
                                      </p:to>
                                    </p:set>
                                    <p:animEffect transition="in" filter="dissolve">
                                      <p:cBhvr>
                                        <p:cTn id="92" dur="500"/>
                                        <p:tgtEl>
                                          <p:spTgt spid="824345"/>
                                        </p:tgtEl>
                                      </p:cBhvr>
                                    </p:animEffect>
                                  </p:childTnLst>
                                </p:cTn>
                              </p:par>
                            </p:childTnLst>
                          </p:cTn>
                        </p:par>
                        <p:par>
                          <p:cTn id="93" fill="hold" nodeType="afterGroup">
                            <p:stCondLst>
                              <p:cond delay="1500"/>
                            </p:stCondLst>
                            <p:childTnLst>
                              <p:par>
                                <p:cTn id="94" presetID="9" presetClass="entr" presetSubtype="0" fill="hold" grpId="0" nodeType="afterEffect">
                                  <p:stCondLst>
                                    <p:cond delay="0"/>
                                  </p:stCondLst>
                                  <p:childTnLst>
                                    <p:set>
                                      <p:cBhvr>
                                        <p:cTn id="95" dur="1" fill="hold">
                                          <p:stCondLst>
                                            <p:cond delay="0"/>
                                          </p:stCondLst>
                                        </p:cTn>
                                        <p:tgtEl>
                                          <p:spTgt spid="824360"/>
                                        </p:tgtEl>
                                        <p:attrNameLst>
                                          <p:attrName>style.visibility</p:attrName>
                                        </p:attrNameLst>
                                      </p:cBhvr>
                                      <p:to>
                                        <p:strVal val="visible"/>
                                      </p:to>
                                    </p:set>
                                    <p:animEffect transition="in" filter="dissolve">
                                      <p:cBhvr>
                                        <p:cTn id="96" dur="500"/>
                                        <p:tgtEl>
                                          <p:spTgt spid="824360"/>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0" presetClass="entr" presetSubtype="0" fill="hold" grpId="0" nodeType="clickEffect">
                                  <p:stCondLst>
                                    <p:cond delay="0"/>
                                  </p:stCondLst>
                                  <p:childTnLst>
                                    <p:set>
                                      <p:cBhvr>
                                        <p:cTn id="100" dur="1" fill="hold">
                                          <p:stCondLst>
                                            <p:cond delay="0"/>
                                          </p:stCondLst>
                                        </p:cTn>
                                        <p:tgtEl>
                                          <p:spTgt spid="824346"/>
                                        </p:tgtEl>
                                        <p:attrNameLst>
                                          <p:attrName>style.visibility</p:attrName>
                                        </p:attrNameLst>
                                      </p:cBhvr>
                                      <p:to>
                                        <p:strVal val="visible"/>
                                      </p:to>
                                    </p:set>
                                    <p:animEffect transition="in" filter="wedge">
                                      <p:cBhvr>
                                        <p:cTn id="101" dur="2000"/>
                                        <p:tgtEl>
                                          <p:spTgt spid="824346"/>
                                        </p:tgtEl>
                                      </p:cBhvr>
                                    </p:animEffect>
                                  </p:childTnLst>
                                </p:cTn>
                              </p:par>
                            </p:childTnLst>
                          </p:cTn>
                        </p:par>
                        <p:par>
                          <p:cTn id="102" fill="hold" nodeType="afterGroup">
                            <p:stCondLst>
                              <p:cond delay="2000"/>
                            </p:stCondLst>
                            <p:childTnLst>
                              <p:par>
                                <p:cTn id="103" presetID="9" presetClass="entr" presetSubtype="0" fill="hold" grpId="0" nodeType="afterEffect">
                                  <p:stCondLst>
                                    <p:cond delay="0"/>
                                  </p:stCondLst>
                                  <p:childTnLst>
                                    <p:set>
                                      <p:cBhvr>
                                        <p:cTn id="104" dur="1" fill="hold">
                                          <p:stCondLst>
                                            <p:cond delay="0"/>
                                          </p:stCondLst>
                                        </p:cTn>
                                        <p:tgtEl>
                                          <p:spTgt spid="824361"/>
                                        </p:tgtEl>
                                        <p:attrNameLst>
                                          <p:attrName>style.visibility</p:attrName>
                                        </p:attrNameLst>
                                      </p:cBhvr>
                                      <p:to>
                                        <p:strVal val="visible"/>
                                      </p:to>
                                    </p:set>
                                    <p:animEffect transition="in" filter="dissolve">
                                      <p:cBhvr>
                                        <p:cTn id="105" dur="500"/>
                                        <p:tgtEl>
                                          <p:spTgt spid="824361"/>
                                        </p:tgtEl>
                                      </p:cBhvr>
                                    </p:animEffect>
                                  </p:childTnLst>
                                </p:cTn>
                              </p:par>
                            </p:childTnLst>
                          </p:cTn>
                        </p:par>
                        <p:par>
                          <p:cTn id="106" fill="hold">
                            <p:stCondLst>
                              <p:cond delay="2500"/>
                            </p:stCondLst>
                            <p:childTnLst>
                              <p:par>
                                <p:cTn id="107" presetID="2" presetClass="entr" presetSubtype="6" fill="hold" grpId="0" nodeType="afterEffect">
                                  <p:stCondLst>
                                    <p:cond delay="0"/>
                                  </p:stCondLst>
                                  <p:childTnLst>
                                    <p:set>
                                      <p:cBhvr>
                                        <p:cTn id="108" dur="1" fill="hold">
                                          <p:stCondLst>
                                            <p:cond delay="0"/>
                                          </p:stCondLst>
                                        </p:cTn>
                                        <p:tgtEl>
                                          <p:spTgt spid="48"/>
                                        </p:tgtEl>
                                        <p:attrNameLst>
                                          <p:attrName>style.visibility</p:attrName>
                                        </p:attrNameLst>
                                      </p:cBhvr>
                                      <p:to>
                                        <p:strVal val="visible"/>
                                      </p:to>
                                    </p:set>
                                    <p:anim calcmode="lin" valueType="num">
                                      <p:cBhvr additive="base">
                                        <p:cTn id="109" dur="500" fill="hold"/>
                                        <p:tgtEl>
                                          <p:spTgt spid="48"/>
                                        </p:tgtEl>
                                        <p:attrNameLst>
                                          <p:attrName>ppt_x</p:attrName>
                                        </p:attrNameLst>
                                      </p:cBhvr>
                                      <p:tavLst>
                                        <p:tav tm="0">
                                          <p:val>
                                            <p:strVal val="1+#ppt_w/2"/>
                                          </p:val>
                                        </p:tav>
                                        <p:tav tm="100000">
                                          <p:val>
                                            <p:strVal val="#ppt_x"/>
                                          </p:val>
                                        </p:tav>
                                      </p:tavLst>
                                    </p:anim>
                                    <p:anim calcmode="lin" valueType="num">
                                      <p:cBhvr additive="base">
                                        <p:cTn id="11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38" grpId="0" animBg="1"/>
      <p:bldP spid="824345" grpId="0" animBg="1"/>
      <p:bldP spid="824346" grpId="0" animBg="1"/>
      <p:bldP spid="824359" grpId="0"/>
      <p:bldP spid="824360" grpId="0"/>
      <p:bldP spid="824361" grpId="0"/>
      <p:bldP spid="48"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1949390" y="0"/>
            <a:ext cx="5568950" cy="776288"/>
          </a:xfrm>
        </p:spPr>
        <p:txBody>
          <a:bodyPr/>
          <a:lstStyle/>
          <a:p>
            <a:pPr lvl="2" algn="ctr" defTabSz="355600" eaLnBrk="1" hangingPunct="1">
              <a:lnSpc>
                <a:spcPct val="90000"/>
              </a:lnSpc>
              <a:buClr>
                <a:schemeClr val="bg1"/>
              </a:buClr>
              <a:buSzPct val="80000"/>
              <a:defRPr/>
            </a:pP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文件系统模型</a:t>
            </a:r>
          </a:p>
        </p:txBody>
      </p:sp>
      <p:graphicFrame>
        <p:nvGraphicFramePr>
          <p:cNvPr id="6" name="Group 52"/>
          <p:cNvGraphicFramePr>
            <a:graphicFrameLocks noGrp="1"/>
          </p:cNvGraphicFramePr>
          <p:nvPr>
            <p:extLst>
              <p:ext uri="{D42A27DB-BD31-4B8C-83A1-F6EECF244321}">
                <p14:modId xmlns:p14="http://schemas.microsoft.com/office/powerpoint/2010/main" val="3909149397"/>
              </p:ext>
            </p:extLst>
          </p:nvPr>
        </p:nvGraphicFramePr>
        <p:xfrm>
          <a:off x="1169134" y="1731343"/>
          <a:ext cx="7129462" cy="3095626"/>
        </p:xfrm>
        <a:graphic>
          <a:graphicData uri="http://schemas.openxmlformats.org/drawingml/2006/table">
            <a:tbl>
              <a:tblPr/>
              <a:tblGrid>
                <a:gridCol w="1782762">
                  <a:extLst>
                    <a:ext uri="{9D8B030D-6E8A-4147-A177-3AD203B41FA5}">
                      <a16:colId xmlns:a16="http://schemas.microsoft.com/office/drawing/2014/main" val="20000"/>
                    </a:ext>
                  </a:extLst>
                </a:gridCol>
                <a:gridCol w="5346700">
                  <a:extLst>
                    <a:ext uri="{9D8B030D-6E8A-4147-A177-3AD203B41FA5}">
                      <a16:colId xmlns:a16="http://schemas.microsoft.com/office/drawing/2014/main" val="20001"/>
                    </a:ext>
                  </a:extLst>
                </a:gridCol>
              </a:tblGrid>
              <a:tr h="506413">
                <a:tc gridSpan="2">
                  <a:txBody>
                    <a:bodyPr/>
                    <a:lstStyle>
                      <a:lvl1pPr>
                        <a:spcBef>
                          <a:spcPct val="20000"/>
                        </a:spcBef>
                        <a:buClr>
                          <a:schemeClr val="folHlink"/>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spcBef>
                          <a:spcPct val="20000"/>
                        </a:spcBef>
                        <a:buClr>
                          <a:srgbClr val="A50021"/>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spcBef>
                          <a:spcPct val="20000"/>
                        </a:spcBef>
                        <a:buClr>
                          <a:srgbClr val="FF9900"/>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3pPr>
                      <a:lvl4pPr>
                        <a:spcBef>
                          <a:spcPct val="20000"/>
                        </a:spcBef>
                        <a:buClr>
                          <a:srgbClr val="0099FF"/>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4pPr>
                      <a:lvl5pPr>
                        <a:spcBef>
                          <a:spcPct val="20000"/>
                        </a:spcBef>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tabLst/>
                      </a:pPr>
                      <a:r>
                        <a:rPr kumimoji="0" lang="zh-CN" altLang="en-US" sz="2400" b="1" i="0" u="none" strike="noStrike" kern="1200" cap="none" normalizeH="0" baseline="0" dirty="0" smtClean="0">
                          <a:ln>
                            <a:noFill/>
                          </a:ln>
                          <a:solidFill>
                            <a:schemeClr val="bg1">
                              <a:lumMod val="75000"/>
                            </a:schemeClr>
                          </a:solidFill>
                          <a:effectLst/>
                          <a:latin typeface="Arial" panose="020B0604020202020204" pitchFamily="34" charset="0"/>
                          <a:ea typeface="楷体_GB2312" pitchFamily="49" charset="-122"/>
                          <a:cs typeface="+mn-cs"/>
                        </a:rPr>
                        <a:t>文件系统接口</a:t>
                      </a: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517525">
                <a:tc rowSpan="4">
                  <a:txBody>
                    <a:bodyPr/>
                    <a:lstStyle>
                      <a:lvl1pPr>
                        <a:spcBef>
                          <a:spcPct val="20000"/>
                        </a:spcBef>
                        <a:buClr>
                          <a:schemeClr val="folHlink"/>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spcBef>
                          <a:spcPct val="20000"/>
                        </a:spcBef>
                        <a:buClr>
                          <a:srgbClr val="A50021"/>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spcBef>
                          <a:spcPct val="20000"/>
                        </a:spcBef>
                        <a:buClr>
                          <a:srgbClr val="FF9900"/>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3pPr>
                      <a:lvl4pPr>
                        <a:spcBef>
                          <a:spcPct val="20000"/>
                        </a:spcBef>
                        <a:buClr>
                          <a:srgbClr val="0099FF"/>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4pPr>
                      <a:lvl5pPr>
                        <a:spcBef>
                          <a:spcPct val="20000"/>
                        </a:spcBef>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tabLst/>
                      </a:pPr>
                      <a:r>
                        <a:rPr kumimoji="0" lang="zh-CN" altLang="en-US" sz="2400" b="1" i="0" u="none" strike="noStrike" cap="none" normalizeH="0" baseline="0" dirty="0" smtClean="0">
                          <a:ln>
                            <a:noFill/>
                          </a:ln>
                          <a:solidFill>
                            <a:schemeClr val="bg1">
                              <a:lumMod val="75000"/>
                            </a:schemeClr>
                          </a:solidFill>
                          <a:effectLst/>
                          <a:latin typeface="Arial" panose="020B0604020202020204" pitchFamily="34" charset="0"/>
                          <a:ea typeface="楷体_GB2312" pitchFamily="49" charset="-122"/>
                        </a:rPr>
                        <a:t>对对象操纵和管理的软件集合</a:t>
                      </a:r>
                    </a:p>
                  </a:txBody>
                  <a:tcPr anchor="ctr" horzOverflow="overflow">
                    <a:lnL w="381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spcBef>
                          <a:spcPct val="20000"/>
                        </a:spcBef>
                        <a:buClr>
                          <a:srgbClr val="A50021"/>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spcBef>
                          <a:spcPct val="20000"/>
                        </a:spcBef>
                        <a:buClr>
                          <a:srgbClr val="FF9900"/>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3pPr>
                      <a:lvl4pPr>
                        <a:spcBef>
                          <a:spcPct val="20000"/>
                        </a:spcBef>
                        <a:buClr>
                          <a:srgbClr val="0099FF"/>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4pPr>
                      <a:lvl5pPr>
                        <a:spcBef>
                          <a:spcPct val="20000"/>
                        </a:spcBef>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tabLst/>
                      </a:pPr>
                      <a:r>
                        <a:rPr kumimoji="0" lang="en-US" altLang="zh-CN" sz="2400" b="1" i="0" u="none" strike="noStrike" cap="none" normalizeH="0" baseline="0" dirty="0" smtClean="0">
                          <a:ln>
                            <a:noFill/>
                          </a:ln>
                          <a:solidFill>
                            <a:schemeClr val="bg2"/>
                          </a:solidFill>
                          <a:effectLst/>
                          <a:latin typeface="Arial" panose="020B0604020202020204" pitchFamily="34" charset="0"/>
                          <a:ea typeface="楷体_GB2312" pitchFamily="49" charset="-122"/>
                        </a:rPr>
                        <a:t>              </a:t>
                      </a:r>
                      <a:r>
                        <a:rPr kumimoji="0" lang="zh-CN" altLang="en-US" sz="2400" b="1" i="0" u="none" strike="noStrike" cap="none" normalizeH="0" baseline="0" dirty="0" smtClean="0">
                          <a:ln>
                            <a:noFill/>
                          </a:ln>
                          <a:solidFill>
                            <a:schemeClr val="bg2"/>
                          </a:solidFill>
                          <a:effectLst/>
                          <a:latin typeface="Arial" panose="020B0604020202020204" pitchFamily="34" charset="0"/>
                          <a:ea typeface="楷体_GB2312" pitchFamily="49" charset="-122"/>
                        </a:rPr>
                        <a:t>逻辑文件系统层</a:t>
                      </a:r>
                    </a:p>
                  </a:txBody>
                  <a:tcPr horzOverflow="overflow">
                    <a:lnL w="127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525">
                <a:tc vMerge="1">
                  <a:txBody>
                    <a:bodyPr/>
                    <a:lstStyle/>
                    <a:p>
                      <a:endParaRPr lang="zh-CN" altLang="en-US"/>
                    </a:p>
                  </a:txBody>
                  <a:tcPr/>
                </a:tc>
                <a:tc>
                  <a:txBody>
                    <a:bodyPr/>
                    <a:lstStyle>
                      <a:lvl1pPr>
                        <a:spcBef>
                          <a:spcPct val="20000"/>
                        </a:spcBef>
                        <a:buClr>
                          <a:schemeClr val="folHlink"/>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spcBef>
                          <a:spcPct val="20000"/>
                        </a:spcBef>
                        <a:buClr>
                          <a:srgbClr val="A50021"/>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spcBef>
                          <a:spcPct val="20000"/>
                        </a:spcBef>
                        <a:buClr>
                          <a:srgbClr val="FF9900"/>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3pPr>
                      <a:lvl4pPr>
                        <a:spcBef>
                          <a:spcPct val="20000"/>
                        </a:spcBef>
                        <a:buClr>
                          <a:srgbClr val="0099FF"/>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4pPr>
                      <a:lvl5pPr>
                        <a:spcBef>
                          <a:spcPct val="20000"/>
                        </a:spcBef>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tabLst/>
                      </a:pPr>
                      <a:r>
                        <a:rPr kumimoji="0" lang="zh-CN" altLang="en-US" sz="2400" b="1" i="0" u="none" strike="noStrike" cap="none" normalizeH="0" baseline="0" dirty="0" smtClean="0">
                          <a:ln>
                            <a:noFill/>
                          </a:ln>
                          <a:solidFill>
                            <a:schemeClr val="bg2"/>
                          </a:solidFill>
                          <a:effectLst/>
                          <a:latin typeface="Arial" panose="020B0604020202020204" pitchFamily="34" charset="0"/>
                          <a:ea typeface="楷体_GB2312" pitchFamily="49" charset="-122"/>
                        </a:rPr>
                        <a:t>基本</a:t>
                      </a:r>
                      <a:r>
                        <a:rPr kumimoji="0" lang="en-US" altLang="zh-CN" sz="2400" b="1" i="0" u="none" strike="noStrike" cap="none" normalizeH="0" baseline="0" dirty="0" smtClean="0">
                          <a:ln>
                            <a:noFill/>
                          </a:ln>
                          <a:solidFill>
                            <a:schemeClr val="bg2"/>
                          </a:solidFill>
                          <a:effectLst/>
                          <a:latin typeface="Arial" panose="020B0604020202020204" pitchFamily="34" charset="0"/>
                          <a:ea typeface="楷体_GB2312" pitchFamily="49" charset="-122"/>
                        </a:rPr>
                        <a:t>I/O</a:t>
                      </a:r>
                      <a:r>
                        <a:rPr kumimoji="0" lang="zh-CN" altLang="en-US" sz="2400" b="1" i="0" u="none" strike="noStrike" cap="none" normalizeH="0" baseline="0" dirty="0" smtClean="0">
                          <a:ln>
                            <a:noFill/>
                          </a:ln>
                          <a:solidFill>
                            <a:schemeClr val="bg2"/>
                          </a:solidFill>
                          <a:effectLst/>
                          <a:latin typeface="Arial" panose="020B0604020202020204" pitchFamily="34" charset="0"/>
                          <a:ea typeface="楷体_GB2312" pitchFamily="49" charset="-122"/>
                        </a:rPr>
                        <a:t>管理程序层（文件组织模块）</a:t>
                      </a:r>
                    </a:p>
                  </a:txBody>
                  <a:tcPr horzOverflow="overflow">
                    <a:lnL w="127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7525">
                <a:tc vMerge="1">
                  <a:txBody>
                    <a:bodyPr/>
                    <a:lstStyle/>
                    <a:p>
                      <a:endParaRPr lang="zh-CN" altLang="en-US"/>
                    </a:p>
                  </a:txBody>
                  <a:tcPr/>
                </a:tc>
                <a:tc>
                  <a:txBody>
                    <a:bodyPr/>
                    <a:lstStyle>
                      <a:lvl1pPr>
                        <a:spcBef>
                          <a:spcPct val="20000"/>
                        </a:spcBef>
                        <a:buClr>
                          <a:schemeClr val="folHlink"/>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spcBef>
                          <a:spcPct val="20000"/>
                        </a:spcBef>
                        <a:buClr>
                          <a:srgbClr val="A50021"/>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spcBef>
                          <a:spcPct val="20000"/>
                        </a:spcBef>
                        <a:buClr>
                          <a:srgbClr val="FF9900"/>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3pPr>
                      <a:lvl4pPr>
                        <a:spcBef>
                          <a:spcPct val="20000"/>
                        </a:spcBef>
                        <a:buClr>
                          <a:srgbClr val="0099FF"/>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4pPr>
                      <a:lvl5pPr>
                        <a:spcBef>
                          <a:spcPct val="20000"/>
                        </a:spcBef>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tabLst/>
                      </a:pPr>
                      <a:r>
                        <a:rPr kumimoji="0" lang="zh-CN" altLang="en-US" sz="2400" b="1" i="0" u="none" strike="noStrike" cap="none" normalizeH="0" baseline="0" dirty="0" smtClean="0">
                          <a:ln>
                            <a:noFill/>
                          </a:ln>
                          <a:solidFill>
                            <a:schemeClr val="bg2"/>
                          </a:solidFill>
                          <a:effectLst/>
                          <a:latin typeface="Arial" panose="020B0604020202020204" pitchFamily="34" charset="0"/>
                          <a:ea typeface="楷体_GB2312" pitchFamily="49" charset="-122"/>
                        </a:rPr>
                        <a:t>基本文件系统层（物理</a:t>
                      </a:r>
                      <a:r>
                        <a:rPr kumimoji="0" lang="en-US" altLang="zh-CN" sz="2400" b="1" i="0" u="none" strike="noStrike" cap="none" normalizeH="0" baseline="0" dirty="0" smtClean="0">
                          <a:ln>
                            <a:noFill/>
                          </a:ln>
                          <a:solidFill>
                            <a:schemeClr val="bg2"/>
                          </a:solidFill>
                          <a:effectLst/>
                          <a:latin typeface="Arial" panose="020B0604020202020204" pitchFamily="34" charset="0"/>
                          <a:ea typeface="楷体_GB2312" pitchFamily="49" charset="-122"/>
                        </a:rPr>
                        <a:t>I/O</a:t>
                      </a:r>
                      <a:r>
                        <a:rPr kumimoji="0" lang="zh-CN" altLang="en-US" sz="2400" b="1" i="0" u="none" strike="noStrike" cap="none" normalizeH="0" baseline="0" dirty="0" smtClean="0">
                          <a:ln>
                            <a:noFill/>
                          </a:ln>
                          <a:solidFill>
                            <a:schemeClr val="bg2"/>
                          </a:solidFill>
                          <a:effectLst/>
                          <a:latin typeface="Arial" panose="020B0604020202020204" pitchFamily="34" charset="0"/>
                          <a:ea typeface="楷体_GB2312" pitchFamily="49" charset="-122"/>
                        </a:rPr>
                        <a:t>层</a:t>
                      </a:r>
                      <a:r>
                        <a:rPr kumimoji="0" lang="en-US" altLang="zh-CN" sz="2400" b="1" i="0" u="none" strike="noStrike" cap="none" normalizeH="0" baseline="0" dirty="0" smtClean="0">
                          <a:ln>
                            <a:noFill/>
                          </a:ln>
                          <a:solidFill>
                            <a:schemeClr val="bg2"/>
                          </a:solidFill>
                          <a:effectLst/>
                          <a:latin typeface="Arial" panose="020B0604020202020204" pitchFamily="34" charset="0"/>
                          <a:ea typeface="楷体_GB2312" pitchFamily="49" charset="-122"/>
                        </a:rPr>
                        <a:t>)</a:t>
                      </a:r>
                    </a:p>
                  </a:txBody>
                  <a:tcPr horzOverflow="overflow">
                    <a:lnL w="127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13">
                <a:tc vMerge="1">
                  <a:txBody>
                    <a:bodyPr/>
                    <a:lstStyle/>
                    <a:p>
                      <a:endParaRPr lang="zh-CN" altLang="en-US"/>
                    </a:p>
                  </a:txBody>
                  <a:tcPr/>
                </a:tc>
                <a:tc>
                  <a:txBody>
                    <a:bodyPr/>
                    <a:lstStyle>
                      <a:lvl1pPr>
                        <a:spcBef>
                          <a:spcPct val="20000"/>
                        </a:spcBef>
                        <a:buClr>
                          <a:schemeClr val="folHlink"/>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spcBef>
                          <a:spcPct val="20000"/>
                        </a:spcBef>
                        <a:buClr>
                          <a:srgbClr val="A50021"/>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spcBef>
                          <a:spcPct val="20000"/>
                        </a:spcBef>
                        <a:buClr>
                          <a:srgbClr val="FF9900"/>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3pPr>
                      <a:lvl4pPr>
                        <a:spcBef>
                          <a:spcPct val="20000"/>
                        </a:spcBef>
                        <a:buClr>
                          <a:srgbClr val="0099FF"/>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4pPr>
                      <a:lvl5pPr>
                        <a:spcBef>
                          <a:spcPct val="20000"/>
                        </a:spcBef>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tabLst/>
                      </a:pPr>
                      <a:r>
                        <a:rPr kumimoji="0" lang="en-US" altLang="zh-CN" sz="2400" b="1" i="0" u="none" strike="noStrike" cap="none" normalizeH="0" baseline="0" dirty="0" smtClean="0">
                          <a:ln>
                            <a:noFill/>
                          </a:ln>
                          <a:solidFill>
                            <a:schemeClr val="bg2"/>
                          </a:solidFill>
                          <a:effectLst/>
                          <a:latin typeface="Arial" panose="020B0604020202020204" pitchFamily="34" charset="0"/>
                          <a:ea typeface="楷体_GB2312" pitchFamily="49" charset="-122"/>
                        </a:rPr>
                        <a:t>I/O</a:t>
                      </a:r>
                      <a:r>
                        <a:rPr kumimoji="0" lang="zh-CN" altLang="en-US" sz="2400" b="1" i="0" u="none" strike="noStrike" cap="none" normalizeH="0" baseline="0" dirty="0" smtClean="0">
                          <a:ln>
                            <a:noFill/>
                          </a:ln>
                          <a:solidFill>
                            <a:schemeClr val="bg2"/>
                          </a:solidFill>
                          <a:effectLst/>
                          <a:latin typeface="Arial" panose="020B0604020202020204" pitchFamily="34" charset="0"/>
                          <a:ea typeface="楷体_GB2312" pitchFamily="49" charset="-122"/>
                        </a:rPr>
                        <a:t>控制层（设备驱动程序）</a:t>
                      </a:r>
                    </a:p>
                  </a:txBody>
                  <a:tcPr horzOverflow="overflow">
                    <a:lnL w="127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7525">
                <a:tc gridSpan="2">
                  <a:txBody>
                    <a:bodyPr/>
                    <a:lstStyle>
                      <a:lvl1pPr>
                        <a:spcBef>
                          <a:spcPct val="20000"/>
                        </a:spcBef>
                        <a:buClr>
                          <a:schemeClr val="folHlink"/>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1pPr>
                      <a:lvl2pPr>
                        <a:spcBef>
                          <a:spcPct val="20000"/>
                        </a:spcBef>
                        <a:buClr>
                          <a:srgbClr val="A50021"/>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2pPr>
                      <a:lvl3pPr>
                        <a:spcBef>
                          <a:spcPct val="20000"/>
                        </a:spcBef>
                        <a:buClr>
                          <a:srgbClr val="FF9900"/>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3pPr>
                      <a:lvl4pPr>
                        <a:spcBef>
                          <a:spcPct val="20000"/>
                        </a:spcBef>
                        <a:buClr>
                          <a:srgbClr val="0099FF"/>
                        </a:buClr>
                        <a:buSzPct val="75000"/>
                        <a:buFont typeface="Wingdings" panose="05000000000000000000" pitchFamily="2" charset="2"/>
                        <a:defRPr sz="2400" b="1">
                          <a:solidFill>
                            <a:schemeClr val="tx1"/>
                          </a:solidFill>
                          <a:latin typeface="Arial" panose="020B0604020202020204" pitchFamily="34" charset="0"/>
                          <a:ea typeface="楷体_GB2312" pitchFamily="49" charset="-122"/>
                        </a:defRPr>
                      </a:lvl4pPr>
                      <a:lvl5pPr>
                        <a:spcBef>
                          <a:spcPct val="20000"/>
                        </a:spcBef>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5pPr>
                      <a:lvl6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6pPr>
                      <a:lvl7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7pPr>
                      <a:lvl8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8pPr>
                      <a:lvl9pPr fontAlgn="base">
                        <a:spcBef>
                          <a:spcPct val="20000"/>
                        </a:spcBef>
                        <a:spcAft>
                          <a:spcPct val="0"/>
                        </a:spcAft>
                        <a:buClr>
                          <a:schemeClr val="accent1"/>
                        </a:buClr>
                        <a:buSzPct val="50000"/>
                        <a:buFont typeface="Wingdings" panose="05000000000000000000" pitchFamily="2" charset="2"/>
                        <a:defRPr sz="24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tabLst/>
                      </a:pPr>
                      <a:r>
                        <a:rPr kumimoji="0" lang="zh-CN" altLang="en-US" sz="2400" b="1" i="0" u="none" strike="noStrike" kern="1200" cap="none" normalizeH="0" baseline="0" dirty="0" smtClean="0">
                          <a:ln>
                            <a:noFill/>
                          </a:ln>
                          <a:solidFill>
                            <a:schemeClr val="bg1">
                              <a:lumMod val="75000"/>
                            </a:schemeClr>
                          </a:solidFill>
                          <a:effectLst/>
                          <a:latin typeface="Arial" panose="020B0604020202020204" pitchFamily="34" charset="0"/>
                          <a:ea typeface="楷体_GB2312" pitchFamily="49" charset="-122"/>
                          <a:cs typeface="+mn-cs"/>
                        </a:rPr>
                        <a:t>对象</a:t>
                      </a:r>
                      <a:r>
                        <a:rPr kumimoji="0" lang="en-US" altLang="zh-CN" sz="2400" b="1" i="0" u="none" strike="noStrike" cap="none" normalizeH="0" baseline="0" dirty="0" smtClean="0">
                          <a:ln>
                            <a:noFill/>
                          </a:ln>
                          <a:solidFill>
                            <a:schemeClr val="bg1">
                              <a:lumMod val="75000"/>
                            </a:schemeClr>
                          </a:solidFill>
                          <a:effectLst/>
                          <a:latin typeface="Arial" panose="020B0604020202020204" pitchFamily="34" charset="0"/>
                          <a:ea typeface="楷体_GB2312" pitchFamily="49" charset="-122"/>
                        </a:rPr>
                        <a:t>(</a:t>
                      </a:r>
                      <a:r>
                        <a:rPr kumimoji="0" lang="zh-CN" altLang="en-US" sz="2400" b="1" i="0" u="none" strike="noStrike" cap="none" normalizeH="0" baseline="0" dirty="0" smtClean="0">
                          <a:ln>
                            <a:noFill/>
                          </a:ln>
                          <a:solidFill>
                            <a:schemeClr val="bg1">
                              <a:lumMod val="75000"/>
                            </a:schemeClr>
                          </a:solidFill>
                          <a:effectLst/>
                          <a:latin typeface="Arial" panose="020B0604020202020204" pitchFamily="34" charset="0"/>
                          <a:ea typeface="楷体_GB2312" pitchFamily="49" charset="-122"/>
                        </a:rPr>
                        <a:t>文件、目录及磁盘存储空间</a:t>
                      </a:r>
                      <a:r>
                        <a:rPr kumimoji="0" lang="en-US" altLang="zh-CN" sz="2400" b="1" i="0" u="none" strike="noStrike" cap="none" normalizeH="0" baseline="0" dirty="0" smtClean="0">
                          <a:ln>
                            <a:noFill/>
                          </a:ln>
                          <a:solidFill>
                            <a:schemeClr val="bg1">
                              <a:lumMod val="75000"/>
                            </a:schemeClr>
                          </a:solidFill>
                          <a:effectLst/>
                          <a:latin typeface="Arial" panose="020B0604020202020204" pitchFamily="34" charset="0"/>
                          <a:ea typeface="楷体_GB2312" pitchFamily="49" charset="-122"/>
                        </a:rPr>
                        <a:t>)</a:t>
                      </a:r>
                      <a:r>
                        <a:rPr kumimoji="0" lang="zh-CN" altLang="en-US" sz="2400" b="1" i="0" u="none" strike="noStrike" kern="1200" cap="none" normalizeH="0" baseline="0" dirty="0" smtClean="0">
                          <a:ln>
                            <a:noFill/>
                          </a:ln>
                          <a:solidFill>
                            <a:schemeClr val="bg1">
                              <a:lumMod val="75000"/>
                            </a:schemeClr>
                          </a:solidFill>
                          <a:effectLst/>
                          <a:latin typeface="Arial" panose="020B0604020202020204" pitchFamily="34" charset="0"/>
                          <a:ea typeface="楷体_GB2312" pitchFamily="49" charset="-122"/>
                          <a:cs typeface="+mn-cs"/>
                        </a:rPr>
                        <a:t>及其属性说明</a:t>
                      </a: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sp>
        <p:nvSpPr>
          <p:cNvPr id="12"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2" name="矩形标注 1"/>
          <p:cNvSpPr/>
          <p:nvPr/>
        </p:nvSpPr>
        <p:spPr bwMode="auto">
          <a:xfrm>
            <a:off x="4088904" y="645408"/>
            <a:ext cx="5055096" cy="546537"/>
          </a:xfrm>
          <a:prstGeom prst="wedgeRectCallout">
            <a:avLst>
              <a:gd name="adj1" fmla="val -8168"/>
              <a:gd name="adj2" fmla="val 262635"/>
            </a:avLst>
          </a:prstGeom>
          <a:solidFill>
            <a:srgbClr val="CCFF66"/>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indent="-457200" algn="ctr">
              <a:lnSpc>
                <a:spcPct val="110000"/>
              </a:lnSpc>
              <a:spcBef>
                <a:spcPct val="20000"/>
              </a:spcBef>
              <a:buClr>
                <a:schemeClr val="folHlink"/>
              </a:buClr>
              <a:buSzPct val="75000"/>
            </a:pPr>
            <a:r>
              <a:rPr lang="zh-CN" altLang="en-US" sz="2800" dirty="0">
                <a:solidFill>
                  <a:schemeClr val="bg2"/>
                </a:solidFill>
                <a:latin typeface="Arial" panose="020B0604020202020204" pitchFamily="34" charset="0"/>
              </a:rPr>
              <a:t>处理文件及记录的相关</a:t>
            </a:r>
            <a:r>
              <a:rPr lang="zh-CN" altLang="en-US" sz="2800" dirty="0" smtClean="0">
                <a:solidFill>
                  <a:schemeClr val="bg2"/>
                </a:solidFill>
                <a:latin typeface="Arial" panose="020B0604020202020204" pitchFamily="34" charset="0"/>
              </a:rPr>
              <a:t>操作。</a:t>
            </a:r>
            <a:endParaRPr kumimoji="1" lang="zh-CN" altLang="en-US" sz="2800" b="1" i="0" u="none" strike="noStrike" cap="none" normalizeH="0" baseline="0" dirty="0" smtClean="0">
              <a:ln>
                <a:noFill/>
              </a:ln>
              <a:solidFill>
                <a:srgbClr val="FFFF00"/>
              </a:solidFill>
              <a:effectLst>
                <a:outerShdw blurRad="38100" dist="38100" dir="2700000" algn="tl">
                  <a:srgbClr val="000000">
                    <a:alpha val="43137"/>
                  </a:srgbClr>
                </a:outerShdw>
              </a:effectLst>
            </a:endParaRPr>
          </a:p>
        </p:txBody>
      </p:sp>
      <p:sp>
        <p:nvSpPr>
          <p:cNvPr id="11" name="矩形标注 10"/>
          <p:cNvSpPr/>
          <p:nvPr/>
        </p:nvSpPr>
        <p:spPr bwMode="auto">
          <a:xfrm>
            <a:off x="-13900" y="1100197"/>
            <a:ext cx="7560840" cy="1147714"/>
          </a:xfrm>
          <a:prstGeom prst="wedgeRectCallout">
            <a:avLst>
              <a:gd name="adj1" fmla="val -3347"/>
              <a:gd name="adj2" fmla="val 107551"/>
            </a:avLst>
          </a:prstGeom>
          <a:solidFill>
            <a:srgbClr val="CCFF66"/>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indent="-457200" algn="ctr">
              <a:lnSpc>
                <a:spcPct val="110000"/>
              </a:lnSpc>
              <a:spcBef>
                <a:spcPct val="20000"/>
              </a:spcBef>
              <a:buClr>
                <a:schemeClr val="folHlink"/>
              </a:buClr>
              <a:buSzPct val="75000"/>
            </a:pPr>
            <a:r>
              <a:rPr lang="zh-CN" altLang="en-US" sz="2800" dirty="0">
                <a:solidFill>
                  <a:schemeClr val="bg2"/>
                </a:solidFill>
                <a:latin typeface="Arial" panose="020B0604020202020204" pitchFamily="34" charset="0"/>
              </a:rPr>
              <a:t>磁盘</a:t>
            </a:r>
            <a:r>
              <a:rPr lang="en-US" altLang="zh-CN" sz="2800" dirty="0">
                <a:solidFill>
                  <a:schemeClr val="bg2"/>
                </a:solidFill>
                <a:latin typeface="Arial" panose="020B0604020202020204" pitchFamily="34" charset="0"/>
              </a:rPr>
              <a:t>I/O</a:t>
            </a:r>
            <a:r>
              <a:rPr lang="zh-CN" altLang="en-US" sz="2800" dirty="0">
                <a:solidFill>
                  <a:schemeClr val="bg2"/>
                </a:solidFill>
                <a:latin typeface="Arial" panose="020B0604020202020204" pitchFamily="34" charset="0"/>
              </a:rPr>
              <a:t>有关的工作（</a:t>
            </a:r>
            <a:r>
              <a:rPr lang="zh-CN" altLang="en-US" sz="2800" dirty="0" smtClean="0">
                <a:solidFill>
                  <a:schemeClr val="bg2"/>
                </a:solidFill>
                <a:latin typeface="Arial" panose="020B0604020202020204" pitchFamily="34" charset="0"/>
              </a:rPr>
              <a:t>选择设备</a:t>
            </a:r>
            <a:r>
              <a:rPr lang="zh-CN" altLang="en-US" sz="2800" dirty="0">
                <a:solidFill>
                  <a:schemeClr val="bg2"/>
                </a:solidFill>
                <a:latin typeface="Arial" panose="020B0604020202020204" pitchFamily="34" charset="0"/>
              </a:rPr>
              <a:t>、</a:t>
            </a:r>
            <a:r>
              <a:rPr lang="zh-CN" altLang="en-US" sz="2800" dirty="0" smtClean="0">
                <a:solidFill>
                  <a:schemeClr val="bg2"/>
                </a:solidFill>
                <a:latin typeface="Arial" panose="020B0604020202020204" pitchFamily="34" charset="0"/>
              </a:rPr>
              <a:t>逻辑</a:t>
            </a:r>
            <a:r>
              <a:rPr lang="zh-CN" altLang="en-US" sz="2800" dirty="0">
                <a:solidFill>
                  <a:schemeClr val="bg2"/>
                </a:solidFill>
                <a:latin typeface="Arial" panose="020B0604020202020204" pitchFamily="34" charset="0"/>
              </a:rPr>
              <a:t>块号到物理块号</a:t>
            </a:r>
            <a:r>
              <a:rPr lang="zh-CN" altLang="en-US" sz="2800">
                <a:solidFill>
                  <a:schemeClr val="bg2"/>
                </a:solidFill>
                <a:latin typeface="Arial" panose="020B0604020202020204" pitchFamily="34" charset="0"/>
              </a:rPr>
              <a:t>的</a:t>
            </a:r>
            <a:r>
              <a:rPr lang="zh-CN" altLang="en-US" sz="2800" smtClean="0">
                <a:solidFill>
                  <a:schemeClr val="bg2"/>
                </a:solidFill>
                <a:latin typeface="Arial" panose="020B0604020202020204" pitchFamily="34" charset="0"/>
              </a:rPr>
              <a:t>转换、空闲</a:t>
            </a:r>
            <a:r>
              <a:rPr lang="zh-CN" altLang="en-US" sz="2800" dirty="0">
                <a:solidFill>
                  <a:schemeClr val="bg2"/>
                </a:solidFill>
                <a:latin typeface="Arial" panose="020B0604020202020204" pitchFamily="34" charset="0"/>
              </a:rPr>
              <a:t>空间管理等） </a:t>
            </a:r>
            <a:r>
              <a:rPr lang="zh-CN" altLang="en-US" sz="2800" dirty="0" smtClean="0">
                <a:solidFill>
                  <a:schemeClr val="bg2"/>
                </a:solidFill>
                <a:latin typeface="Arial" panose="020B0604020202020204" pitchFamily="34" charset="0"/>
              </a:rPr>
              <a:t>。</a:t>
            </a:r>
            <a:endParaRPr kumimoji="1" lang="zh-CN" altLang="en-US" sz="2800" b="1" i="0" u="none" strike="noStrike" cap="none" normalizeH="0" baseline="0" dirty="0" smtClean="0">
              <a:ln>
                <a:noFill/>
              </a:ln>
              <a:solidFill>
                <a:srgbClr val="FFFF00"/>
              </a:solidFill>
              <a:effectLst>
                <a:outerShdw blurRad="38100" dist="38100" dir="2700000" algn="tl">
                  <a:srgbClr val="000000">
                    <a:alpha val="43137"/>
                  </a:srgbClr>
                </a:outerShdw>
              </a:effectLst>
            </a:endParaRPr>
          </a:p>
        </p:txBody>
      </p:sp>
      <p:sp>
        <p:nvSpPr>
          <p:cNvPr id="13" name="矩形标注 12"/>
          <p:cNvSpPr/>
          <p:nvPr/>
        </p:nvSpPr>
        <p:spPr bwMode="auto">
          <a:xfrm>
            <a:off x="3455368" y="4995531"/>
            <a:ext cx="5688632" cy="1147714"/>
          </a:xfrm>
          <a:prstGeom prst="wedgeRectCallout">
            <a:avLst>
              <a:gd name="adj1" fmla="val 15638"/>
              <a:gd name="adj2" fmla="val -187124"/>
            </a:avLst>
          </a:prstGeom>
          <a:solidFill>
            <a:srgbClr val="CCFF66"/>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indent="-457200" algn="ctr">
              <a:lnSpc>
                <a:spcPct val="110000"/>
              </a:lnSpc>
              <a:spcBef>
                <a:spcPct val="20000"/>
              </a:spcBef>
              <a:buClr>
                <a:schemeClr val="folHlink"/>
              </a:buClr>
              <a:buSzPct val="75000"/>
            </a:pPr>
            <a:r>
              <a:rPr lang="zh-CN" altLang="en-US" sz="2800" dirty="0">
                <a:solidFill>
                  <a:schemeClr val="bg2"/>
                </a:solidFill>
                <a:latin typeface="Arial" panose="020B0604020202020204" pitchFamily="34" charset="0"/>
              </a:rPr>
              <a:t>内存与磁盘间的数据块</a:t>
            </a:r>
            <a:r>
              <a:rPr lang="zh-CN" altLang="en-US" sz="2800" dirty="0" smtClean="0">
                <a:solidFill>
                  <a:schemeClr val="bg2"/>
                </a:solidFill>
                <a:latin typeface="Arial" panose="020B0604020202020204" pitchFamily="34" charset="0"/>
              </a:rPr>
              <a:t>交换</a:t>
            </a:r>
            <a:endParaRPr lang="en-US" altLang="zh-CN" sz="2800" dirty="0" smtClean="0">
              <a:solidFill>
                <a:schemeClr val="bg2"/>
              </a:solidFill>
              <a:latin typeface="Arial" panose="020B0604020202020204" pitchFamily="34" charset="0"/>
            </a:endParaRPr>
          </a:p>
          <a:p>
            <a:pPr marL="457200" indent="-457200" algn="ctr">
              <a:lnSpc>
                <a:spcPct val="110000"/>
              </a:lnSpc>
              <a:spcBef>
                <a:spcPct val="20000"/>
              </a:spcBef>
              <a:buClr>
                <a:schemeClr val="folHlink"/>
              </a:buClr>
              <a:buSzPct val="75000"/>
            </a:pPr>
            <a:r>
              <a:rPr lang="zh-CN" altLang="en-US" sz="2800" dirty="0" smtClean="0">
                <a:solidFill>
                  <a:schemeClr val="bg2"/>
                </a:solidFill>
                <a:latin typeface="Arial" panose="020B0604020202020204" pitchFamily="34" charset="0"/>
              </a:rPr>
              <a:t>（</a:t>
            </a:r>
            <a:r>
              <a:rPr lang="zh-CN" altLang="en-US" sz="2800" dirty="0">
                <a:solidFill>
                  <a:schemeClr val="bg2"/>
                </a:solidFill>
                <a:latin typeface="Arial" panose="020B0604020202020204" pitchFamily="34" charset="0"/>
              </a:rPr>
              <a:t>在外存及内存缓冲区的位置）</a:t>
            </a:r>
            <a:r>
              <a:rPr lang="zh-CN" altLang="en-US" sz="2800" dirty="0" smtClean="0">
                <a:solidFill>
                  <a:schemeClr val="bg2"/>
                </a:solidFill>
                <a:latin typeface="Arial" panose="020B0604020202020204" pitchFamily="34" charset="0"/>
              </a:rPr>
              <a:t>。</a:t>
            </a:r>
            <a:endParaRPr kumimoji="1" lang="zh-CN" altLang="en-US" sz="2800" b="1" i="0" u="none" strike="noStrike" cap="none" normalizeH="0" baseline="0" dirty="0" smtClean="0">
              <a:ln>
                <a:noFill/>
              </a:ln>
              <a:solidFill>
                <a:srgbClr val="FFFF00"/>
              </a:solidFill>
              <a:effectLst>
                <a:outerShdw blurRad="38100" dist="38100" dir="2700000" algn="tl">
                  <a:srgbClr val="000000">
                    <a:alpha val="43137"/>
                  </a:srgbClr>
                </a:outerShdw>
              </a:effectLst>
            </a:endParaRPr>
          </a:p>
        </p:txBody>
      </p:sp>
      <p:sp>
        <p:nvSpPr>
          <p:cNvPr id="14" name="矩形标注 13"/>
          <p:cNvSpPr/>
          <p:nvPr/>
        </p:nvSpPr>
        <p:spPr bwMode="auto">
          <a:xfrm>
            <a:off x="179512" y="6051497"/>
            <a:ext cx="6768752" cy="692002"/>
          </a:xfrm>
          <a:prstGeom prst="wedgeRectCallout">
            <a:avLst>
              <a:gd name="adj1" fmla="val -2540"/>
              <a:gd name="adj2" fmla="val -350328"/>
            </a:avLst>
          </a:prstGeom>
          <a:solidFill>
            <a:srgbClr val="CCFF66"/>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r>
              <a:rPr lang="zh-CN" altLang="en-US" sz="2800" dirty="0">
                <a:solidFill>
                  <a:schemeClr val="bg2"/>
                </a:solidFill>
                <a:latin typeface="Arial" panose="020B0604020202020204" pitchFamily="34" charset="0"/>
              </a:rPr>
              <a:t>启动</a:t>
            </a:r>
            <a:r>
              <a:rPr lang="en-US" altLang="zh-CN" sz="2800" dirty="0">
                <a:solidFill>
                  <a:schemeClr val="bg2"/>
                </a:solidFill>
                <a:latin typeface="Arial" panose="020B0604020202020204" pitchFamily="34" charset="0"/>
              </a:rPr>
              <a:t>I/O</a:t>
            </a:r>
            <a:r>
              <a:rPr lang="zh-CN" altLang="en-US" sz="2800" dirty="0">
                <a:solidFill>
                  <a:schemeClr val="bg2"/>
                </a:solidFill>
                <a:latin typeface="Arial" panose="020B0604020202020204" pitchFamily="34" charset="0"/>
              </a:rPr>
              <a:t>操作及处理设备发来的中断信号。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1+#ppt_w/2"/>
                                          </p:val>
                                        </p:tav>
                                        <p:tav tm="100000">
                                          <p:val>
                                            <p:strVal val="#ppt_x"/>
                                          </p:val>
                                        </p:tav>
                                      </p:tavLst>
                                    </p:anim>
                                    <p:anim calcmode="lin" valueType="num">
                                      <p:cBhvr additive="base">
                                        <p:cTn id="2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animBg="1"/>
      <p:bldP spid="11"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3" name="Rectangle 3"/>
          <p:cNvSpPr>
            <a:spLocks noChangeArrowheads="1"/>
          </p:cNvSpPr>
          <p:nvPr/>
        </p:nvSpPr>
        <p:spPr bwMode="auto">
          <a:xfrm>
            <a:off x="1508789" y="1484784"/>
            <a:ext cx="7253287"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marL="457200" indent="-457200">
              <a:lnSpc>
                <a:spcPct val="120000"/>
              </a:lnSpc>
              <a:spcBef>
                <a:spcPts val="600"/>
              </a:spcBef>
              <a:buClr>
                <a:schemeClr val="folHlink"/>
              </a:buClr>
              <a:buSzPct val="75000"/>
              <a:buFontTx/>
              <a:buNone/>
              <a:defRPr/>
            </a:pPr>
            <a:r>
              <a:rPr lang="en-US" altLang="zh-CN" sz="4000" dirty="0">
                <a:solidFill>
                  <a:srgbClr val="C00000"/>
                </a:solidFill>
                <a:effectLst>
                  <a:outerShdw blurRad="38100" dist="38100" dir="2700000" algn="tl">
                    <a:srgbClr val="000000"/>
                  </a:outerShdw>
                </a:effectLst>
              </a:rPr>
              <a:t>9.1 </a:t>
            </a:r>
            <a:r>
              <a:rPr lang="zh-CN" altLang="en-US" sz="4000" dirty="0">
                <a:solidFill>
                  <a:srgbClr val="C00000"/>
                </a:solidFill>
                <a:effectLst>
                  <a:outerShdw blurRad="38100" dist="38100" dir="2700000" algn="tl">
                    <a:srgbClr val="000000"/>
                  </a:outerShdw>
                </a:effectLst>
              </a:rPr>
              <a:t>文件系统的概念</a:t>
            </a:r>
          </a:p>
        </p:txBody>
      </p:sp>
      <p:sp>
        <p:nvSpPr>
          <p:cNvPr id="10244" name="Rectangle 4">
            <a:hlinkClick r:id="rId3" action="ppaction://hlinksldjump"/>
          </p:cNvPr>
          <p:cNvSpPr>
            <a:spLocks noChangeArrowheads="1"/>
          </p:cNvSpPr>
          <p:nvPr/>
        </p:nvSpPr>
        <p:spPr bwMode="auto">
          <a:xfrm>
            <a:off x="1508789" y="2205509"/>
            <a:ext cx="76327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marL="457200" indent="-457200">
              <a:lnSpc>
                <a:spcPct val="120000"/>
              </a:lnSpc>
              <a:spcBef>
                <a:spcPts val="600"/>
              </a:spcBef>
              <a:buClr>
                <a:schemeClr val="folHlink"/>
              </a:buClr>
              <a:buSzPct val="75000"/>
              <a:buNone/>
              <a:defRPr/>
            </a:pPr>
            <a:r>
              <a:rPr lang="en-US" altLang="zh-CN" sz="4000" dirty="0">
                <a:solidFill>
                  <a:srgbClr val="C00000"/>
                </a:solidFill>
                <a:effectLst>
                  <a:outerShdw blurRad="38100" dist="38100" dir="2700000" algn="tl">
                    <a:srgbClr val="000000"/>
                  </a:outerShdw>
                </a:effectLst>
              </a:rPr>
              <a:t>9.2 </a:t>
            </a:r>
            <a:r>
              <a:rPr lang="zh-CN" altLang="en-US" sz="4000" dirty="0">
                <a:solidFill>
                  <a:srgbClr val="C00000"/>
                </a:solidFill>
                <a:effectLst>
                  <a:outerShdw blurRad="38100" dist="38100" dir="2700000" algn="tl">
                    <a:srgbClr val="000000"/>
                  </a:outerShdw>
                </a:effectLst>
              </a:rPr>
              <a:t>文件的逻辑结构与存取方法 </a:t>
            </a:r>
          </a:p>
        </p:txBody>
      </p:sp>
      <p:sp>
        <p:nvSpPr>
          <p:cNvPr id="10245" name="Rectangle 5">
            <a:hlinkClick r:id="rId4" action="ppaction://hlinksldjump"/>
          </p:cNvPr>
          <p:cNvSpPr>
            <a:spLocks noChangeArrowheads="1"/>
          </p:cNvSpPr>
          <p:nvPr/>
        </p:nvSpPr>
        <p:spPr bwMode="auto">
          <a:xfrm>
            <a:off x="1497676" y="3000846"/>
            <a:ext cx="73437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marL="457200" indent="-457200">
              <a:lnSpc>
                <a:spcPct val="120000"/>
              </a:lnSpc>
              <a:spcBef>
                <a:spcPts val="600"/>
              </a:spcBef>
              <a:buClr>
                <a:schemeClr val="folHlink"/>
              </a:buClr>
              <a:buSzPct val="75000"/>
              <a:buNone/>
              <a:defRPr/>
            </a:pPr>
            <a:r>
              <a:rPr lang="en-US" altLang="zh-CN" sz="4000" dirty="0">
                <a:solidFill>
                  <a:srgbClr val="C00000"/>
                </a:solidFill>
                <a:effectLst>
                  <a:outerShdw blurRad="38100" dist="38100" dir="2700000" algn="tl">
                    <a:srgbClr val="000000"/>
                  </a:outerShdw>
                </a:effectLst>
              </a:rPr>
              <a:t>9.3 </a:t>
            </a:r>
            <a:r>
              <a:rPr lang="zh-CN" altLang="en-US" sz="4000" dirty="0">
                <a:solidFill>
                  <a:srgbClr val="C00000"/>
                </a:solidFill>
                <a:effectLst>
                  <a:outerShdw blurRad="38100" dist="38100" dir="2700000" algn="tl">
                    <a:srgbClr val="000000"/>
                  </a:outerShdw>
                </a:effectLst>
              </a:rPr>
              <a:t>文件的物理结构与存储设备 </a:t>
            </a:r>
          </a:p>
        </p:txBody>
      </p:sp>
      <p:sp>
        <p:nvSpPr>
          <p:cNvPr id="10246" name="Rectangle 6">
            <a:hlinkClick r:id="rId5" action="ppaction://hlinksldjump"/>
          </p:cNvPr>
          <p:cNvSpPr>
            <a:spLocks noChangeArrowheads="1"/>
          </p:cNvSpPr>
          <p:nvPr/>
        </p:nvSpPr>
        <p:spPr bwMode="auto">
          <a:xfrm>
            <a:off x="1497676" y="3643784"/>
            <a:ext cx="49688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marL="457200" indent="-457200">
              <a:lnSpc>
                <a:spcPct val="120000"/>
              </a:lnSpc>
              <a:spcBef>
                <a:spcPts val="600"/>
              </a:spcBef>
              <a:buClr>
                <a:schemeClr val="folHlink"/>
              </a:buClr>
              <a:buSzPct val="75000"/>
              <a:buNone/>
              <a:defRPr/>
            </a:pPr>
            <a:r>
              <a:rPr lang="en-US" altLang="zh-CN" sz="4000" dirty="0">
                <a:solidFill>
                  <a:srgbClr val="C00000"/>
                </a:solidFill>
                <a:effectLst>
                  <a:outerShdw blurRad="38100" dist="38100" dir="2700000" algn="tl">
                    <a:srgbClr val="000000"/>
                  </a:outerShdw>
                </a:effectLst>
              </a:rPr>
              <a:t>9.4 </a:t>
            </a:r>
            <a:r>
              <a:rPr lang="zh-CN" altLang="en-US" sz="4000" dirty="0">
                <a:solidFill>
                  <a:srgbClr val="C00000"/>
                </a:solidFill>
                <a:effectLst>
                  <a:outerShdw blurRad="38100" dist="38100" dir="2700000" algn="tl">
                    <a:srgbClr val="000000"/>
                  </a:outerShdw>
                </a:effectLst>
              </a:rPr>
              <a:t>文件目录管理 </a:t>
            </a:r>
          </a:p>
        </p:txBody>
      </p:sp>
      <p:sp>
        <p:nvSpPr>
          <p:cNvPr id="10247" name="Rectangle 7">
            <a:hlinkClick r:id="rId6" action="ppaction://hlinksldjump"/>
          </p:cNvPr>
          <p:cNvSpPr>
            <a:spLocks noChangeArrowheads="1"/>
          </p:cNvSpPr>
          <p:nvPr/>
        </p:nvSpPr>
        <p:spPr bwMode="auto">
          <a:xfrm>
            <a:off x="1497676" y="4429596"/>
            <a:ext cx="56165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marL="457200" indent="-457200">
              <a:lnSpc>
                <a:spcPct val="120000"/>
              </a:lnSpc>
              <a:spcBef>
                <a:spcPts val="600"/>
              </a:spcBef>
              <a:buClr>
                <a:schemeClr val="folHlink"/>
              </a:buClr>
              <a:buSzPct val="75000"/>
              <a:buNone/>
              <a:defRPr/>
            </a:pPr>
            <a:r>
              <a:rPr lang="en-US" altLang="zh-CN" sz="4000" dirty="0">
                <a:solidFill>
                  <a:srgbClr val="C00000"/>
                </a:solidFill>
                <a:effectLst>
                  <a:outerShdw blurRad="38100" dist="38100" dir="2700000" algn="tl">
                    <a:srgbClr val="000000"/>
                  </a:outerShdw>
                </a:effectLst>
              </a:rPr>
              <a:t>9.5 </a:t>
            </a:r>
            <a:r>
              <a:rPr lang="zh-CN" altLang="en-US" sz="4000" dirty="0">
                <a:solidFill>
                  <a:srgbClr val="C00000"/>
                </a:solidFill>
                <a:effectLst>
                  <a:outerShdw blurRad="38100" dist="38100" dir="2700000" algn="tl">
                    <a:srgbClr val="000000"/>
                  </a:outerShdw>
                </a:effectLst>
              </a:rPr>
              <a:t>文件存储空间管理 </a:t>
            </a:r>
          </a:p>
        </p:txBody>
      </p:sp>
      <p:sp>
        <p:nvSpPr>
          <p:cNvPr id="707595" name="Rectangle 11"/>
          <p:cNvSpPr>
            <a:spLocks noChangeArrowheads="1"/>
          </p:cNvSpPr>
          <p:nvPr/>
        </p:nvSpPr>
        <p:spPr bwMode="auto">
          <a:xfrm>
            <a:off x="3132138" y="0"/>
            <a:ext cx="3065462" cy="676275"/>
          </a:xfrm>
          <a:prstGeom prst="rect">
            <a:avLst/>
          </a:prstGeom>
          <a:noFill/>
          <a:ln w="12700" cap="sq">
            <a:noFill/>
            <a:miter lim="800000"/>
            <a:headEnd type="none" w="sm" len="sm"/>
            <a:tailEnd type="none" w="sm" len="sm"/>
          </a:ln>
          <a:effectLst/>
        </p:spPr>
        <p:txBody>
          <a:bodyPr anchor="ctr"/>
          <a:lstStyle/>
          <a:p>
            <a:pPr algn="ctr">
              <a:defRPr/>
            </a:pPr>
            <a:r>
              <a:rPr lang="zh-CN" altLang="en-US" sz="4800" dirty="0">
                <a:solidFill>
                  <a:srgbClr val="C00000"/>
                </a:solidFill>
                <a:effectLst>
                  <a:outerShdw blurRad="38100" dist="38100" dir="2700000" algn="tl">
                    <a:srgbClr val="000000"/>
                  </a:outerShdw>
                </a:effectLst>
                <a:latin typeface="+mj-lt"/>
                <a:ea typeface="楷体_GB2312" pitchFamily="49" charset="-122"/>
              </a:rPr>
              <a:t>章节安排</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6195" name="Rectangle 3"/>
          <p:cNvSpPr>
            <a:spLocks noGrp="1" noChangeArrowheads="1"/>
          </p:cNvSpPr>
          <p:nvPr>
            <p:ph type="body" idx="1"/>
          </p:nvPr>
        </p:nvSpPr>
        <p:spPr>
          <a:xfrm>
            <a:off x="0" y="836613"/>
            <a:ext cx="9144000" cy="5661025"/>
          </a:xfrm>
        </p:spPr>
        <p:txBody>
          <a:body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按组织形式</a:t>
            </a:r>
          </a:p>
          <a:p>
            <a:pPr marL="812800" lvl="3" indent="-355600" defTabSz="355600">
              <a:lnSpc>
                <a:spcPct val="90000"/>
              </a:lnSpc>
              <a:spcBef>
                <a:spcPct val="0"/>
              </a:spcBef>
              <a:buClr>
                <a:schemeClr val="bg2"/>
              </a:buClr>
              <a:buSzPct val="80000"/>
              <a:buFont typeface="Wingdings" panose="05000000000000000000" pitchFamily="2" charset="2"/>
              <a:buChar char="n"/>
              <a:tabLst>
                <a:tab pos="990600" algn="l"/>
              </a:tabLst>
              <a:defRPr/>
            </a:pPr>
            <a:r>
              <a:rPr lang="zh-CN" altLang="en-US" sz="3200" b="1" kern="1200" dirty="0">
                <a:solidFill>
                  <a:schemeClr val="bg2"/>
                </a:solidFill>
                <a:latin typeface="+mj-lt"/>
                <a:ea typeface="楷体" panose="02010609060101010101" pitchFamily="49" charset="-122"/>
                <a:cs typeface="+mn-cs"/>
              </a:rPr>
              <a:t>普通文件</a:t>
            </a:r>
          </a:p>
          <a:p>
            <a:pPr marL="1077913" lvl="2" indent="-273050" eaLnBrk="1" hangingPunct="1">
              <a:spcBef>
                <a:spcPct val="10000"/>
              </a:spcBef>
              <a:buClrTx/>
              <a:buSzPct val="60000"/>
              <a:buFont typeface="Wingdings" panose="05000000000000000000" pitchFamily="2" charset="2"/>
              <a:buChar char="n"/>
              <a:tabLst>
                <a:tab pos="990600" algn="l"/>
                <a:tab pos="1165225" algn="l"/>
              </a:tabLst>
            </a:pPr>
            <a:r>
              <a:rPr lang="zh-CN" altLang="en-US" sz="2800" dirty="0" smtClean="0">
                <a:solidFill>
                  <a:schemeClr val="bg2"/>
                </a:solidFill>
              </a:rPr>
              <a:t>系统文件、用户文件</a:t>
            </a:r>
            <a:r>
              <a:rPr lang="zh-CN" altLang="en-US" sz="2800" dirty="0">
                <a:solidFill>
                  <a:schemeClr val="bg2"/>
                </a:solidFill>
              </a:rPr>
              <a:t>、</a:t>
            </a:r>
            <a:r>
              <a:rPr lang="zh-CN" altLang="en-US" sz="2800" dirty="0" smtClean="0">
                <a:solidFill>
                  <a:schemeClr val="bg2"/>
                </a:solidFill>
              </a:rPr>
              <a:t>库函数文件、实用程序文件。</a:t>
            </a:r>
          </a:p>
          <a:p>
            <a:pPr marL="1077913" lvl="2" indent="-273050" eaLnBrk="1" hangingPunct="1">
              <a:spcBef>
                <a:spcPct val="10000"/>
              </a:spcBef>
              <a:buClrTx/>
              <a:buSzPct val="60000"/>
              <a:buFont typeface="Wingdings" panose="05000000000000000000" pitchFamily="2" charset="2"/>
              <a:buChar char="n"/>
              <a:tabLst>
                <a:tab pos="990600" algn="l"/>
              </a:tabLst>
            </a:pPr>
            <a:r>
              <a:rPr lang="zh-CN" altLang="en-US" sz="2800" dirty="0" smtClean="0">
                <a:solidFill>
                  <a:schemeClr val="bg2"/>
                </a:solidFill>
              </a:rPr>
              <a:t>组织格式为系统中所规定的最一般格式，例如由字符流组成的文件。</a:t>
            </a:r>
          </a:p>
          <a:p>
            <a:pPr marL="812800" lvl="3" indent="-355600" defTabSz="355600">
              <a:lnSpc>
                <a:spcPct val="90000"/>
              </a:lnSpc>
              <a:spcBef>
                <a:spcPct val="0"/>
              </a:spcBef>
              <a:buClr>
                <a:schemeClr val="bg2"/>
              </a:buClr>
              <a:buSzPct val="70000"/>
              <a:buFont typeface="Wingdings" panose="05000000000000000000" pitchFamily="2" charset="2"/>
              <a:buChar char="n"/>
              <a:tabLst>
                <a:tab pos="990600" algn="l"/>
              </a:tabLst>
              <a:defRPr/>
            </a:pPr>
            <a:r>
              <a:rPr lang="zh-CN" altLang="en-US" sz="3200" b="1" kern="1200" dirty="0">
                <a:solidFill>
                  <a:schemeClr val="bg2"/>
                </a:solidFill>
                <a:latin typeface="+mj-lt"/>
                <a:ea typeface="楷体" panose="02010609060101010101" pitchFamily="49" charset="-122"/>
                <a:cs typeface="+mn-cs"/>
              </a:rPr>
              <a:t>目录文件</a:t>
            </a:r>
          </a:p>
          <a:p>
            <a:pPr marL="804863" lvl="2" indent="288925" eaLnBrk="1" hangingPunct="1">
              <a:spcBef>
                <a:spcPct val="10000"/>
              </a:spcBef>
              <a:buClrTx/>
              <a:buSzPct val="60000"/>
              <a:buFont typeface="Wingdings" panose="05000000000000000000" pitchFamily="2" charset="2"/>
              <a:buChar char="n"/>
              <a:tabLst>
                <a:tab pos="990600" algn="l"/>
              </a:tabLst>
            </a:pPr>
            <a:r>
              <a:rPr lang="zh-CN" altLang="en-US" sz="2800" dirty="0" smtClean="0">
                <a:solidFill>
                  <a:schemeClr val="bg2"/>
                </a:solidFill>
              </a:rPr>
              <a:t>内容：用来</a:t>
            </a:r>
            <a:r>
              <a:rPr lang="zh-CN" altLang="en-US" sz="2800" dirty="0">
                <a:solidFill>
                  <a:schemeClr val="bg2"/>
                </a:solidFill>
              </a:rPr>
              <a:t>检索普通文件的目录信息。</a:t>
            </a:r>
          </a:p>
          <a:p>
            <a:pPr marL="812800" lvl="3" indent="-355600" defTabSz="355600">
              <a:lnSpc>
                <a:spcPct val="90000"/>
              </a:lnSpc>
              <a:spcBef>
                <a:spcPct val="0"/>
              </a:spcBef>
              <a:buClr>
                <a:schemeClr val="bg2"/>
              </a:buClr>
              <a:buSzPct val="70000"/>
              <a:buFont typeface="Wingdings" panose="05000000000000000000" pitchFamily="2" charset="2"/>
              <a:buChar char="n"/>
              <a:tabLst>
                <a:tab pos="990600" algn="l"/>
              </a:tabLst>
              <a:defRPr/>
            </a:pPr>
            <a:r>
              <a:rPr lang="zh-CN" altLang="en-US" sz="3200" b="1" kern="1200" dirty="0">
                <a:solidFill>
                  <a:schemeClr val="bg2"/>
                </a:solidFill>
                <a:latin typeface="+mj-lt"/>
                <a:ea typeface="楷体" panose="02010609060101010101" pitchFamily="49" charset="-122"/>
                <a:cs typeface="+mn-cs"/>
              </a:rPr>
              <a:t>特殊文件</a:t>
            </a:r>
          </a:p>
          <a:p>
            <a:pPr marL="1077913" lvl="2" indent="-273050" eaLnBrk="1" hangingPunct="1">
              <a:spcBef>
                <a:spcPct val="10000"/>
              </a:spcBef>
              <a:buClrTx/>
              <a:buSzPct val="60000"/>
              <a:buFont typeface="Wingdings" panose="05000000000000000000" pitchFamily="2" charset="2"/>
              <a:buChar char="n"/>
              <a:tabLst>
                <a:tab pos="990600" algn="l"/>
              </a:tabLst>
            </a:pPr>
            <a:r>
              <a:rPr lang="en-US" altLang="zh-CN" sz="2800" dirty="0" smtClean="0">
                <a:solidFill>
                  <a:schemeClr val="bg2"/>
                </a:solidFill>
              </a:rPr>
              <a:t>UNIX </a:t>
            </a:r>
            <a:r>
              <a:rPr lang="zh-CN" altLang="en-US" sz="2800" dirty="0" smtClean="0">
                <a:solidFill>
                  <a:schemeClr val="bg2"/>
                </a:solidFill>
              </a:rPr>
              <a:t>系统，输入</a:t>
            </a:r>
            <a:r>
              <a:rPr lang="zh-CN" altLang="en-US" sz="2800" dirty="0">
                <a:solidFill>
                  <a:schemeClr val="bg2"/>
                </a:solidFill>
              </a:rPr>
              <a:t>、输出设备都被看作特殊文件</a:t>
            </a:r>
            <a:r>
              <a:rPr lang="zh-CN" altLang="en-US" sz="2800" dirty="0" smtClean="0">
                <a:solidFill>
                  <a:schemeClr val="bg2"/>
                </a:solidFill>
              </a:rPr>
              <a:t>。</a:t>
            </a:r>
            <a:endParaRPr lang="zh-CN" altLang="en-US" sz="2800" dirty="0">
              <a:solidFill>
                <a:schemeClr val="bg2"/>
              </a:solidFill>
            </a:endParaRPr>
          </a:p>
        </p:txBody>
      </p:sp>
      <p:sp>
        <p:nvSpPr>
          <p:cNvPr id="776196" name="Rectangle 4"/>
          <p:cNvSpPr>
            <a:spLocks noChangeArrowheads="1"/>
          </p:cNvSpPr>
          <p:nvPr/>
        </p:nvSpPr>
        <p:spPr bwMode="auto">
          <a:xfrm>
            <a:off x="2555875" y="-98888"/>
            <a:ext cx="4032250" cy="908050"/>
          </a:xfrm>
          <a:prstGeom prst="rect">
            <a:avLst/>
          </a:prstGeom>
          <a:noFill/>
          <a:ln w="12700" cap="sq">
            <a:noFill/>
            <a:miter lim="800000"/>
            <a:headEnd type="none" w="sm" len="sm"/>
            <a:tailEnd type="none" w="sm" len="sm"/>
          </a:ln>
          <a:effectLst/>
        </p:spPr>
        <p:txBody>
          <a:bodyPr anchor="ctr"/>
          <a:lstStyle/>
          <a:p>
            <a:pPr algn="ctr">
              <a:lnSpc>
                <a:spcPct val="120000"/>
              </a:lnSpc>
              <a:defRPr/>
            </a:pPr>
            <a:r>
              <a:rPr lang="zh-CN" altLang="en-US" sz="4000" dirty="0">
                <a:solidFill>
                  <a:srgbClr val="B2622C"/>
                </a:solidFill>
                <a:effectLst>
                  <a:outerShdw blurRad="38100" dist="38100" dir="2700000" algn="tl">
                    <a:srgbClr val="000000"/>
                  </a:outerShdw>
                </a:effectLst>
                <a:ea typeface="楷体_GB2312" pitchFamily="49" charset="-122"/>
              </a:rPr>
              <a:t>文件的</a:t>
            </a:r>
            <a:r>
              <a:rPr lang="zh-CN" altLang="en-US" sz="4000" dirty="0" smtClean="0">
                <a:solidFill>
                  <a:srgbClr val="B2622C"/>
                </a:solidFill>
                <a:effectLst>
                  <a:outerShdw blurRad="38100" dist="38100" dir="2700000" algn="tl">
                    <a:srgbClr val="000000"/>
                  </a:outerShdw>
                </a:effectLst>
                <a:ea typeface="楷体_GB2312" pitchFamily="49" charset="-122"/>
              </a:rPr>
              <a:t>分类（</a:t>
            </a:r>
            <a:r>
              <a:rPr lang="en-US" altLang="zh-CN" sz="4000" dirty="0" smtClean="0">
                <a:solidFill>
                  <a:srgbClr val="B2622C"/>
                </a:solidFill>
                <a:effectLst>
                  <a:outerShdw blurRad="38100" dist="38100" dir="2700000" algn="tl">
                    <a:srgbClr val="000000"/>
                  </a:outerShdw>
                </a:effectLst>
                <a:ea typeface="楷体_GB2312" pitchFamily="49" charset="-122"/>
              </a:rPr>
              <a:t>1</a:t>
            </a:r>
            <a:r>
              <a:rPr lang="zh-CN" altLang="en-US" sz="4000" dirty="0" smtClean="0">
                <a:solidFill>
                  <a:srgbClr val="B2622C"/>
                </a:solidFill>
                <a:effectLst>
                  <a:outerShdw blurRad="38100" dist="38100" dir="2700000" algn="tl">
                    <a:srgbClr val="000000"/>
                  </a:outerShdw>
                </a:effectLst>
                <a:ea typeface="楷体_GB2312" pitchFamily="49" charset="-122"/>
              </a:rPr>
              <a:t>）</a:t>
            </a:r>
            <a:endParaRPr lang="zh-CN" altLang="en-US" sz="4000" dirty="0">
              <a:solidFill>
                <a:srgbClr val="B2622C"/>
              </a:solidFill>
              <a:effectLst>
                <a:outerShdw blurRad="38100" dist="38100" dir="2700000" algn="tl">
                  <a:srgbClr val="000000"/>
                </a:outerShdw>
              </a:effectLst>
              <a:ea typeface="楷体_GB2312" pitchFamily="49" charset="-122"/>
            </a:endParaRP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76195">
                                            <p:txEl>
                                              <p:pRg st="2" end="2"/>
                                            </p:txEl>
                                          </p:spTgt>
                                        </p:tgtEl>
                                        <p:attrNameLst>
                                          <p:attrName>style.visibility</p:attrName>
                                        </p:attrNameLst>
                                      </p:cBhvr>
                                      <p:to>
                                        <p:strVal val="visible"/>
                                      </p:to>
                                    </p:set>
                                    <p:animEffect transition="in" filter="blinds(horizontal)">
                                      <p:cBhvr>
                                        <p:cTn id="7" dur="500"/>
                                        <p:tgtEl>
                                          <p:spTgt spid="776195">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76195">
                                            <p:txEl>
                                              <p:pRg st="3" end="3"/>
                                            </p:txEl>
                                          </p:spTgt>
                                        </p:tgtEl>
                                        <p:attrNameLst>
                                          <p:attrName>style.visibility</p:attrName>
                                        </p:attrNameLst>
                                      </p:cBhvr>
                                      <p:to>
                                        <p:strVal val="visible"/>
                                      </p:to>
                                    </p:set>
                                    <p:animEffect transition="in" filter="blinds(horizontal)">
                                      <p:cBhvr>
                                        <p:cTn id="10" dur="500"/>
                                        <p:tgtEl>
                                          <p:spTgt spid="776195">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76195">
                                            <p:txEl>
                                              <p:pRg st="5" end="5"/>
                                            </p:txEl>
                                          </p:spTgt>
                                        </p:tgtEl>
                                        <p:attrNameLst>
                                          <p:attrName>style.visibility</p:attrName>
                                        </p:attrNameLst>
                                      </p:cBhvr>
                                      <p:to>
                                        <p:strVal val="visible"/>
                                      </p:to>
                                    </p:set>
                                    <p:animEffect transition="in" filter="blinds(horizontal)">
                                      <p:cBhvr>
                                        <p:cTn id="13" dur="500"/>
                                        <p:tgtEl>
                                          <p:spTgt spid="776195">
                                            <p:txEl>
                                              <p:pRg st="5" end="5"/>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776195">
                                            <p:txEl>
                                              <p:pRg st="7" end="7"/>
                                            </p:txEl>
                                          </p:spTgt>
                                        </p:tgtEl>
                                        <p:attrNameLst>
                                          <p:attrName>style.visibility</p:attrName>
                                        </p:attrNameLst>
                                      </p:cBhvr>
                                      <p:to>
                                        <p:strVal val="visible"/>
                                      </p:to>
                                    </p:set>
                                    <p:animEffect transition="in" filter="blinds(horizontal)">
                                      <p:cBhvr>
                                        <p:cTn id="18" dur="500"/>
                                        <p:tgtEl>
                                          <p:spTgt spid="776195">
                                            <p:txEl>
                                              <p:pRg st="7" end="7"/>
                                            </p:txEl>
                                          </p:spTgt>
                                        </p:tgtEl>
                                      </p:cBhvr>
                                    </p:animEffect>
                                  </p:childTnLst>
                                </p:cTn>
                              </p:par>
                            </p:childTnLst>
                          </p:cTn>
                        </p:par>
                        <p:par>
                          <p:cTn id="19" fill="hold">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4755" name="Rectangle 3"/>
          <p:cNvSpPr>
            <a:spLocks noGrp="1" noChangeArrowheads="1"/>
          </p:cNvSpPr>
          <p:nvPr>
            <p:ph type="body" idx="1"/>
          </p:nvPr>
        </p:nvSpPr>
        <p:spPr>
          <a:xfrm>
            <a:off x="0" y="765175"/>
            <a:ext cx="8991600" cy="5472113"/>
          </a:xfrm>
        </p:spPr>
        <p:txBody>
          <a:body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逻辑结构</a:t>
            </a:r>
          </a:p>
          <a:p>
            <a:pPr marL="812800" lvl="3" indent="-355600" defTabSz="355600">
              <a:lnSpc>
                <a:spcPct val="90000"/>
              </a:lnSpc>
              <a:spcBef>
                <a:spcPct val="0"/>
              </a:spcBef>
              <a:buClr>
                <a:schemeClr val="bg2"/>
              </a:buClr>
              <a:buSzPct val="80000"/>
              <a:buFont typeface="Wingdings" panose="05000000000000000000" pitchFamily="2" charset="2"/>
              <a:buChar char="n"/>
              <a:tabLst>
                <a:tab pos="990600" algn="l"/>
              </a:tabLst>
              <a:defRPr/>
            </a:pPr>
            <a:r>
              <a:rPr lang="zh-CN" altLang="en-US" sz="3200" b="1" kern="1200" dirty="0">
                <a:solidFill>
                  <a:schemeClr val="bg2"/>
                </a:solidFill>
                <a:latin typeface="+mj-lt"/>
                <a:ea typeface="楷体" panose="02010609060101010101" pitchFamily="49" charset="-122"/>
                <a:cs typeface="+mn-cs"/>
              </a:rPr>
              <a:t>流式、记录式、树</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物理结构</a:t>
            </a:r>
          </a:p>
          <a:p>
            <a:pPr marL="812800" lvl="3" indent="-355600" defTabSz="355600">
              <a:lnSpc>
                <a:spcPct val="90000"/>
              </a:lnSpc>
              <a:spcBef>
                <a:spcPct val="0"/>
              </a:spcBef>
              <a:buClr>
                <a:schemeClr val="bg2"/>
              </a:buClr>
              <a:buSzPct val="80000"/>
              <a:buFont typeface="Wingdings" panose="05000000000000000000" pitchFamily="2" charset="2"/>
              <a:buChar char="n"/>
              <a:tabLst>
                <a:tab pos="990600" algn="l"/>
              </a:tabLst>
              <a:defRPr/>
            </a:pPr>
            <a:r>
              <a:rPr lang="zh-CN" altLang="en-US" sz="3200" b="1" kern="1200" dirty="0">
                <a:solidFill>
                  <a:schemeClr val="bg2"/>
                </a:solidFill>
                <a:latin typeface="+mj-lt"/>
                <a:ea typeface="楷体" panose="02010609060101010101" pitchFamily="49" charset="-122"/>
                <a:cs typeface="+mn-cs"/>
              </a:rPr>
              <a:t>顺序文件（数据连续放）、串联（链接）文件；索引文件</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信息流向</a:t>
            </a:r>
          </a:p>
          <a:p>
            <a:pPr marL="812800" lvl="3" indent="-355600" defTabSz="355600">
              <a:lnSpc>
                <a:spcPct val="90000"/>
              </a:lnSpc>
              <a:spcBef>
                <a:spcPct val="0"/>
              </a:spcBef>
              <a:buClr>
                <a:schemeClr val="bg2"/>
              </a:buClr>
              <a:buSzPct val="80000"/>
              <a:buFont typeface="Wingdings" panose="05000000000000000000" pitchFamily="2" charset="2"/>
              <a:buChar char="n"/>
              <a:tabLst>
                <a:tab pos="990600" algn="l"/>
              </a:tabLst>
              <a:defRPr/>
            </a:pPr>
            <a:r>
              <a:rPr lang="zh-CN" altLang="en-US" sz="3200" b="1" kern="1200" dirty="0">
                <a:solidFill>
                  <a:schemeClr val="bg2"/>
                </a:solidFill>
                <a:latin typeface="+mj-lt"/>
                <a:ea typeface="楷体" panose="02010609060101010101" pitchFamily="49" charset="-122"/>
                <a:cs typeface="+mn-cs"/>
              </a:rPr>
              <a:t>输入文件、输出文件</a:t>
            </a:r>
            <a:r>
              <a:rPr lang="zh-CN" altLang="en-US" sz="3200" b="1" kern="1200" dirty="0" smtClean="0">
                <a:solidFill>
                  <a:schemeClr val="bg2"/>
                </a:solidFill>
                <a:latin typeface="+mj-lt"/>
                <a:ea typeface="楷体" panose="02010609060101010101" pitchFamily="49" charset="-122"/>
                <a:cs typeface="+mn-cs"/>
              </a:rPr>
              <a:t>、输入</a:t>
            </a:r>
            <a:r>
              <a:rPr lang="en-US" altLang="zh-CN" sz="3200" b="1" kern="1200" dirty="0">
                <a:solidFill>
                  <a:schemeClr val="bg2"/>
                </a:solidFill>
                <a:latin typeface="+mj-lt"/>
                <a:ea typeface="楷体" panose="02010609060101010101" pitchFamily="49" charset="-122"/>
                <a:cs typeface="+mn-cs"/>
              </a:rPr>
              <a:t>/ </a:t>
            </a:r>
            <a:r>
              <a:rPr lang="zh-CN" altLang="en-US" sz="3200" b="1" kern="1200" dirty="0">
                <a:solidFill>
                  <a:schemeClr val="bg2"/>
                </a:solidFill>
                <a:latin typeface="+mj-lt"/>
                <a:ea typeface="楷体" panose="02010609060101010101" pitchFamily="49" charset="-122"/>
                <a:cs typeface="+mn-cs"/>
              </a:rPr>
              <a:t>输出文件等。</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文件的保护级别</a:t>
            </a:r>
          </a:p>
          <a:p>
            <a:pPr marL="812800" lvl="3" indent="-355600" defTabSz="355600">
              <a:lnSpc>
                <a:spcPct val="90000"/>
              </a:lnSpc>
              <a:spcBef>
                <a:spcPct val="0"/>
              </a:spcBef>
              <a:buClr>
                <a:schemeClr val="bg2"/>
              </a:buClr>
              <a:buSzPct val="80000"/>
              <a:buFont typeface="Wingdings" panose="05000000000000000000" pitchFamily="2" charset="2"/>
              <a:buChar char="n"/>
              <a:tabLst>
                <a:tab pos="990600" algn="l"/>
              </a:tabLst>
              <a:defRPr/>
            </a:pPr>
            <a:r>
              <a:rPr lang="zh-CN" altLang="en-US" sz="3200" b="1" kern="1200" dirty="0">
                <a:solidFill>
                  <a:schemeClr val="bg2"/>
                </a:solidFill>
                <a:latin typeface="+mj-lt"/>
                <a:ea typeface="楷体" panose="02010609060101010101" pitchFamily="49" charset="-122"/>
                <a:cs typeface="+mn-cs"/>
              </a:rPr>
              <a:t>只读文件、读写文件、可执行文件和不保护文件等。</a:t>
            </a:r>
          </a:p>
          <a:p>
            <a:pPr marL="812800" lvl="3" indent="-355600" defTabSz="355600">
              <a:lnSpc>
                <a:spcPct val="90000"/>
              </a:lnSpc>
              <a:spcBef>
                <a:spcPct val="0"/>
              </a:spcBef>
              <a:buClr>
                <a:schemeClr val="bg2"/>
              </a:buClr>
              <a:buSzPct val="80000"/>
              <a:buFont typeface="Wingdings" panose="05000000000000000000" pitchFamily="2" charset="2"/>
              <a:buChar char="n"/>
              <a:tabLst>
                <a:tab pos="990600" algn="l"/>
              </a:tabLst>
              <a:defRPr/>
            </a:pPr>
            <a:endParaRPr lang="en-US" altLang="zh-CN" sz="3200" b="1" kern="1200" dirty="0">
              <a:solidFill>
                <a:schemeClr val="bg2"/>
              </a:solidFill>
              <a:latin typeface="+mj-lt"/>
              <a:ea typeface="楷体" panose="02010609060101010101" pitchFamily="49" charset="-122"/>
              <a:cs typeface="+mn-cs"/>
            </a:endParaRPr>
          </a:p>
        </p:txBody>
      </p:sp>
      <p:sp>
        <p:nvSpPr>
          <p:cNvPr id="714756" name="Rectangle 4"/>
          <p:cNvSpPr>
            <a:spLocks noChangeArrowheads="1"/>
          </p:cNvSpPr>
          <p:nvPr/>
        </p:nvSpPr>
        <p:spPr bwMode="auto">
          <a:xfrm>
            <a:off x="2700338" y="0"/>
            <a:ext cx="4032250" cy="908050"/>
          </a:xfrm>
          <a:prstGeom prst="rect">
            <a:avLst/>
          </a:prstGeom>
          <a:noFill/>
          <a:ln w="12700" cap="sq">
            <a:noFill/>
            <a:miter lim="800000"/>
            <a:headEnd type="none" w="sm" len="sm"/>
            <a:tailEnd type="none" w="sm" len="sm"/>
          </a:ln>
          <a:effectLst/>
        </p:spPr>
        <p:txBody>
          <a:bodyPr anchor="ctr"/>
          <a:lstStyle/>
          <a:p>
            <a:pPr algn="ctr">
              <a:lnSpc>
                <a:spcPct val="120000"/>
              </a:lnSpc>
              <a:defRPr/>
            </a:pPr>
            <a:r>
              <a:rPr lang="zh-CN" altLang="en-US" sz="4000" dirty="0">
                <a:solidFill>
                  <a:srgbClr val="B2622C"/>
                </a:solidFill>
                <a:effectLst>
                  <a:outerShdw blurRad="38100" dist="38100" dir="2700000" algn="tl">
                    <a:srgbClr val="000000"/>
                  </a:outerShdw>
                </a:effectLst>
                <a:ea typeface="楷体_GB2312" pitchFamily="49" charset="-122"/>
              </a:rPr>
              <a:t>文件的分类（</a:t>
            </a:r>
            <a:r>
              <a:rPr lang="en-US" altLang="zh-CN" sz="4000" dirty="0">
                <a:solidFill>
                  <a:srgbClr val="B2622C"/>
                </a:solidFill>
                <a:effectLst>
                  <a:outerShdw blurRad="38100" dist="38100" dir="2700000" algn="tl">
                    <a:srgbClr val="000000"/>
                  </a:outerShdw>
                </a:effectLst>
                <a:ea typeface="楷体_GB2312" pitchFamily="49" charset="-122"/>
              </a:rPr>
              <a:t>1</a:t>
            </a:r>
            <a:r>
              <a:rPr lang="zh-CN" altLang="en-US" sz="4000" dirty="0" smtClean="0">
                <a:solidFill>
                  <a:srgbClr val="B2622C"/>
                </a:solidFill>
                <a:effectLst>
                  <a:outerShdw blurRad="38100" dist="38100" dir="2700000" algn="tl">
                    <a:srgbClr val="000000"/>
                  </a:outerShdw>
                </a:effectLst>
                <a:ea typeface="楷体_GB2312" pitchFamily="49" charset="-122"/>
              </a:rPr>
              <a:t>）</a:t>
            </a:r>
            <a:endParaRPr lang="zh-CN" altLang="en-US" sz="4000" dirty="0">
              <a:solidFill>
                <a:srgbClr val="B2622C"/>
              </a:solidFill>
              <a:effectLst>
                <a:outerShdw blurRad="38100" dist="38100" dir="2700000" algn="tl">
                  <a:srgbClr val="000000"/>
                </a:outerShdw>
              </a:effectLst>
              <a:ea typeface="楷体_GB2312" pitchFamily="49" charset="-122"/>
            </a:endParaRP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4755">
                                            <p:txEl>
                                              <p:pRg st="1" end="1"/>
                                            </p:txEl>
                                          </p:spTgt>
                                        </p:tgtEl>
                                        <p:attrNameLst>
                                          <p:attrName>style.visibility</p:attrName>
                                        </p:attrNameLst>
                                      </p:cBhvr>
                                      <p:to>
                                        <p:strVal val="visible"/>
                                      </p:to>
                                    </p:set>
                                    <p:animEffect transition="in" filter="blinds(horizontal)">
                                      <p:cBhvr>
                                        <p:cTn id="7" dur="500"/>
                                        <p:tgtEl>
                                          <p:spTgt spid="7147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4755">
                                            <p:txEl>
                                              <p:pRg st="3" end="3"/>
                                            </p:txEl>
                                          </p:spTgt>
                                        </p:tgtEl>
                                        <p:attrNameLst>
                                          <p:attrName>style.visibility</p:attrName>
                                        </p:attrNameLst>
                                      </p:cBhvr>
                                      <p:to>
                                        <p:strVal val="visible"/>
                                      </p:to>
                                    </p:set>
                                    <p:animEffect transition="in" filter="blinds(horizontal)">
                                      <p:cBhvr>
                                        <p:cTn id="12" dur="500"/>
                                        <p:tgtEl>
                                          <p:spTgt spid="71475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4755">
                                            <p:txEl>
                                              <p:pRg st="5" end="5"/>
                                            </p:txEl>
                                          </p:spTgt>
                                        </p:tgtEl>
                                        <p:attrNameLst>
                                          <p:attrName>style.visibility</p:attrName>
                                        </p:attrNameLst>
                                      </p:cBhvr>
                                      <p:to>
                                        <p:strVal val="visible"/>
                                      </p:to>
                                    </p:set>
                                    <p:animEffect transition="in" filter="blinds(horizontal)">
                                      <p:cBhvr>
                                        <p:cTn id="17" dur="500"/>
                                        <p:tgtEl>
                                          <p:spTgt spid="714755">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14755">
                                            <p:txEl>
                                              <p:pRg st="7" end="7"/>
                                            </p:txEl>
                                          </p:spTgt>
                                        </p:tgtEl>
                                        <p:attrNameLst>
                                          <p:attrName>style.visibility</p:attrName>
                                        </p:attrNameLst>
                                      </p:cBhvr>
                                      <p:to>
                                        <p:strVal val="visible"/>
                                      </p:to>
                                    </p:set>
                                    <p:animEffect transition="in" filter="blinds(horizontal)">
                                      <p:cBhvr>
                                        <p:cTn id="22" dur="500"/>
                                        <p:tgtEl>
                                          <p:spTgt spid="714755">
                                            <p:txEl>
                                              <p:pRg st="7" end="7"/>
                                            </p:txEl>
                                          </p:spTgt>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1+#ppt_w/2"/>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7218" name="Rectangle 2"/>
          <p:cNvSpPr>
            <a:spLocks noGrp="1" noChangeArrowheads="1"/>
          </p:cNvSpPr>
          <p:nvPr>
            <p:ph type="title"/>
          </p:nvPr>
        </p:nvSpPr>
        <p:spPr>
          <a:xfrm>
            <a:off x="1763688" y="50801"/>
            <a:ext cx="5328369" cy="747713"/>
          </a:xfrm>
        </p:spPr>
        <p:txBody>
          <a:bodyPr/>
          <a:lstStyle/>
          <a:p>
            <a:pPr marL="271463" indent="87313" algn="ctr" defTabSz="355600" eaLnBrk="1" hangingPunct="1">
              <a:lnSpc>
                <a:spcPct val="90000"/>
              </a:lnSpc>
              <a:buClr>
                <a:schemeClr val="bg1"/>
              </a:buClr>
              <a:buSzPct val="80000"/>
              <a:defRPr/>
            </a:pP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文件分类的目的</a:t>
            </a:r>
          </a:p>
        </p:txBody>
      </p:sp>
      <p:sp>
        <p:nvSpPr>
          <p:cNvPr id="21508" name="Rectangle 3"/>
          <p:cNvSpPr>
            <a:spLocks noGrp="1" noChangeArrowheads="1"/>
          </p:cNvSpPr>
          <p:nvPr>
            <p:ph type="body" idx="1"/>
          </p:nvPr>
        </p:nvSpPr>
        <p:spPr>
          <a:xfrm>
            <a:off x="331788" y="3068638"/>
            <a:ext cx="8812212" cy="2333625"/>
          </a:xfrm>
        </p:spPr>
        <p:txBody>
          <a:bodyPr/>
          <a:lstStyle/>
          <a:p>
            <a:pPr marL="0" indent="723900" eaLnBrk="1" hangingPunct="1">
              <a:buFont typeface="Symbol" panose="05050102010706020507" pitchFamily="18" charset="2"/>
              <a:buNone/>
            </a:pPr>
            <a:r>
              <a:rPr lang="zh-CN" altLang="en-US" sz="2800" dirty="0" smtClean="0">
                <a:solidFill>
                  <a:schemeClr val="bg2"/>
                </a:solidFill>
              </a:rPr>
              <a:t>如：系统文件在读入内存时被放在内存的某一固定区且享受高的保护级别；</a:t>
            </a:r>
          </a:p>
          <a:p>
            <a:pPr marL="0" indent="723900" eaLnBrk="1" hangingPunct="1">
              <a:buFont typeface="Symbol" panose="05050102010706020507" pitchFamily="18" charset="2"/>
              <a:buNone/>
            </a:pPr>
            <a:r>
              <a:rPr lang="zh-CN" altLang="en-US" sz="2800" dirty="0" smtClean="0">
                <a:solidFill>
                  <a:schemeClr val="bg2"/>
                </a:solidFill>
              </a:rPr>
              <a:t>用户文件只有在分得相应的空闲区之后才能被调入内存。</a:t>
            </a:r>
          </a:p>
          <a:p>
            <a:pPr marL="0" indent="723900" eaLnBrk="1" hangingPunct="1">
              <a:lnSpc>
                <a:spcPct val="90000"/>
              </a:lnSpc>
            </a:pPr>
            <a:endParaRPr lang="en-US" altLang="zh-CN" sz="2400" dirty="0" smtClean="0">
              <a:solidFill>
                <a:schemeClr val="bg2"/>
              </a:solidFill>
            </a:endParaRPr>
          </a:p>
        </p:txBody>
      </p:sp>
      <p:sp>
        <p:nvSpPr>
          <p:cNvPr id="777220" name="AutoShape 4">
            <a:hlinkClick r:id="rId3" action="ppaction://hlinksldjump" highlightClick="1"/>
          </p:cNvPr>
          <p:cNvSpPr>
            <a:spLocks noChangeArrowheads="1"/>
          </p:cNvSpPr>
          <p:nvPr/>
        </p:nvSpPr>
        <p:spPr bwMode="auto">
          <a:xfrm>
            <a:off x="8763000" y="6477000"/>
            <a:ext cx="381000" cy="381000"/>
          </a:xfrm>
          <a:prstGeom prst="actionButtonHome">
            <a:avLst/>
          </a:prstGeom>
          <a:solidFill>
            <a:schemeClr val="tx1">
              <a:lumMod val="65000"/>
            </a:schemeClr>
          </a:solidFill>
          <a:ln w="12700" cap="sq">
            <a:noFill/>
            <a:miter lim="800000"/>
            <a:headEnd type="none" w="sm" len="sm"/>
            <a:tailEnd type="none" w="sm" len="sm"/>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21510" name="Text Box 5"/>
          <p:cNvSpPr txBox="1">
            <a:spLocks noChangeArrowheads="1"/>
          </p:cNvSpPr>
          <p:nvPr/>
        </p:nvSpPr>
        <p:spPr bwMode="auto">
          <a:xfrm>
            <a:off x="684213" y="1125538"/>
            <a:ext cx="7704137" cy="1101725"/>
          </a:xfrm>
          <a:prstGeom prst="rect">
            <a:avLst/>
          </a:prstGeom>
          <a:solidFill>
            <a:srgbClr val="FFFF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lgn="ctr" eaLnBrk="1" hangingPunct="1">
              <a:spcBef>
                <a:spcPct val="5000"/>
              </a:spcBef>
              <a:buClr>
                <a:schemeClr val="tx1"/>
              </a:buClr>
              <a:buFont typeface="Wingdings" panose="05000000000000000000" pitchFamily="2" charset="2"/>
              <a:buNone/>
            </a:pPr>
            <a:r>
              <a:rPr lang="zh-CN" altLang="en-US" dirty="0">
                <a:solidFill>
                  <a:schemeClr val="bg2"/>
                </a:solidFill>
                <a:effectLst>
                  <a:outerShdw blurRad="38100" dist="38100" dir="2700000" algn="tl">
                    <a:srgbClr val="000000">
                      <a:alpha val="43137"/>
                    </a:srgbClr>
                  </a:outerShdw>
                </a:effectLst>
              </a:rPr>
              <a:t>便于系统对不同的文件进行不同的管理，</a:t>
            </a:r>
          </a:p>
          <a:p>
            <a:pPr algn="ctr" eaLnBrk="1" hangingPunct="1">
              <a:spcBef>
                <a:spcPct val="5000"/>
              </a:spcBef>
              <a:buClr>
                <a:schemeClr val="tx1"/>
              </a:buClr>
              <a:buFont typeface="Wingdings" panose="05000000000000000000" pitchFamily="2" charset="2"/>
              <a:buNone/>
            </a:pPr>
            <a:r>
              <a:rPr lang="zh-CN" altLang="en-US" dirty="0">
                <a:solidFill>
                  <a:schemeClr val="bg2"/>
                </a:solidFill>
                <a:effectLst>
                  <a:outerShdw blurRad="38100" dist="38100" dir="2700000" algn="tl">
                    <a:srgbClr val="000000">
                      <a:alpha val="43137"/>
                    </a:srgbClr>
                  </a:outerShdw>
                </a:effectLst>
              </a:rPr>
              <a:t>提高处理速度、起到保护与共享的作用。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77220"/>
                                        </p:tgtEl>
                                        <p:attrNameLst>
                                          <p:attrName>style.visibility</p:attrName>
                                        </p:attrNameLst>
                                      </p:cBhvr>
                                      <p:to>
                                        <p:strVal val="visible"/>
                                      </p:to>
                                    </p:set>
                                    <p:anim calcmode="lin" valueType="num">
                                      <p:cBhvr additive="base">
                                        <p:cTn id="7" dur="500" fill="hold"/>
                                        <p:tgtEl>
                                          <p:spTgt spid="777220"/>
                                        </p:tgtEl>
                                        <p:attrNameLst>
                                          <p:attrName>ppt_x</p:attrName>
                                        </p:attrNameLst>
                                      </p:cBhvr>
                                      <p:tavLst>
                                        <p:tav tm="0">
                                          <p:val>
                                            <p:strVal val="0-#ppt_w/2"/>
                                          </p:val>
                                        </p:tav>
                                        <p:tav tm="100000">
                                          <p:val>
                                            <p:strVal val="#ppt_x"/>
                                          </p:val>
                                        </p:tav>
                                      </p:tavLst>
                                    </p:anim>
                                    <p:anim calcmode="lin" valueType="num">
                                      <p:cBhvr additive="base">
                                        <p:cTn id="8" dur="500" fill="hold"/>
                                        <p:tgtEl>
                                          <p:spTgt spid="7772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7220"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900113" y="0"/>
            <a:ext cx="7772400" cy="908050"/>
          </a:xfrm>
        </p:spPr>
        <p:txBody>
          <a:bodyPr/>
          <a:lstStyle/>
          <a:p>
            <a:pPr marL="457200" indent="-457200" algn="ctr">
              <a:lnSpc>
                <a:spcPct val="120000"/>
              </a:lnSpc>
              <a:spcBef>
                <a:spcPts val="600"/>
              </a:spcBef>
              <a:buClr>
                <a:schemeClr val="folHlink"/>
              </a:buClr>
              <a:buSzPct val="75000"/>
              <a:defRPr/>
            </a:pPr>
            <a:r>
              <a:rPr lang="en-US" altLang="zh-CN" b="1" kern="1200" dirty="0" smtClean="0">
                <a:solidFill>
                  <a:srgbClr val="C00000"/>
                </a:solidFill>
                <a:effectLst>
                  <a:outerShdw blurRad="38100" dist="38100" dir="2700000" algn="tl">
                    <a:srgbClr val="000000"/>
                  </a:outerShdw>
                </a:effectLst>
                <a:latin typeface="Times New Roman" pitchFamily="18" charset="0"/>
                <a:ea typeface="楷体_GB2312" pitchFamily="49" charset="-122"/>
                <a:cs typeface="+mn-cs"/>
              </a:rPr>
              <a:t>9.2 </a:t>
            </a:r>
            <a:r>
              <a:rPr lang="zh-CN" altLang="en-US" b="1" kern="1200" dirty="0" smtClean="0">
                <a:solidFill>
                  <a:srgbClr val="C00000"/>
                </a:solidFill>
                <a:effectLst>
                  <a:outerShdw blurRad="38100" dist="38100" dir="2700000" algn="tl">
                    <a:srgbClr val="000000"/>
                  </a:outerShdw>
                </a:effectLst>
                <a:latin typeface="Times New Roman" pitchFamily="18" charset="0"/>
                <a:ea typeface="楷体_GB2312" pitchFamily="49" charset="-122"/>
                <a:cs typeface="+mn-cs"/>
              </a:rPr>
              <a:t>文件的逻辑结构与存取方法 </a:t>
            </a:r>
            <a:endParaRPr lang="zh-CN" altLang="en-US" b="1" kern="1200" dirty="0">
              <a:solidFill>
                <a:srgbClr val="C00000"/>
              </a:solidFill>
              <a:effectLst>
                <a:outerShdw blurRad="38100" dist="38100" dir="2700000" algn="tl">
                  <a:srgbClr val="000000"/>
                </a:outerShdw>
              </a:effectLst>
              <a:latin typeface="Times New Roman" pitchFamily="18" charset="0"/>
              <a:ea typeface="楷体_GB2312" pitchFamily="49" charset="-122"/>
              <a:cs typeface="+mn-cs"/>
            </a:endParaRPr>
          </a:p>
        </p:txBody>
      </p:sp>
      <p:sp>
        <p:nvSpPr>
          <p:cNvPr id="715779" name="Rectangle 3"/>
          <p:cNvSpPr>
            <a:spLocks noGrp="1" noChangeArrowheads="1"/>
          </p:cNvSpPr>
          <p:nvPr>
            <p:ph type="body" sz="half" idx="1"/>
          </p:nvPr>
        </p:nvSpPr>
        <p:spPr>
          <a:xfrm>
            <a:off x="20690" y="1625377"/>
            <a:ext cx="9252520" cy="4851623"/>
          </a:xfrm>
        </p:spPr>
        <p:txBody>
          <a:bodyPr/>
          <a:lstStyle/>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用户观点（逻辑结构）</a:t>
            </a:r>
          </a:p>
          <a:p>
            <a:pPr marL="812800" lvl="3" indent="-355600" defTabSz="355600">
              <a:lnSpc>
                <a:spcPct val="90000"/>
              </a:lnSpc>
              <a:spcBef>
                <a:spcPct val="0"/>
              </a:spcBef>
              <a:buClr>
                <a:schemeClr val="bg2"/>
              </a:buClr>
              <a:buSzPct val="80000"/>
              <a:buFont typeface="Wingdings" panose="05000000000000000000" pitchFamily="2" charset="2"/>
              <a:buChar char="n"/>
              <a:tabLst>
                <a:tab pos="990600" algn="l"/>
              </a:tabLst>
              <a:defRPr/>
            </a:pPr>
            <a:r>
              <a:rPr lang="zh-CN" altLang="en-US" sz="3200" b="1" kern="1200" dirty="0">
                <a:solidFill>
                  <a:schemeClr val="bg2"/>
                </a:solidFill>
                <a:latin typeface="+mj-lt"/>
                <a:ea typeface="楷体" panose="02010609060101010101" pitchFamily="49" charset="-122"/>
                <a:cs typeface="+mn-cs"/>
              </a:rPr>
              <a:t>内容的组织形式</a:t>
            </a:r>
          </a:p>
          <a:p>
            <a:pPr marL="812800" lvl="3" indent="-355600" defTabSz="355600">
              <a:lnSpc>
                <a:spcPct val="90000"/>
              </a:lnSpc>
              <a:spcBef>
                <a:spcPct val="0"/>
              </a:spcBef>
              <a:buClr>
                <a:schemeClr val="bg2"/>
              </a:buClr>
              <a:buSzPct val="80000"/>
              <a:buFont typeface="Wingdings" panose="05000000000000000000" pitchFamily="2" charset="2"/>
              <a:buChar char="n"/>
              <a:tabLst>
                <a:tab pos="990600" algn="l"/>
              </a:tabLst>
              <a:defRPr/>
            </a:pPr>
            <a:r>
              <a:rPr lang="zh-CN" altLang="en-US" sz="3200" b="1" kern="1200" dirty="0">
                <a:solidFill>
                  <a:schemeClr val="bg2"/>
                </a:solidFill>
                <a:latin typeface="+mj-lt"/>
                <a:ea typeface="楷体" panose="02010609060101010101" pitchFamily="49" charset="-122"/>
                <a:cs typeface="+mn-cs"/>
              </a:rPr>
              <a:t>为用户提供一种结构清晰、使用简便的逻辑组织。独立于物理特性</a:t>
            </a:r>
            <a:r>
              <a:rPr lang="zh-CN" altLang="en-US" sz="3200" b="1" kern="1200" dirty="0" smtClean="0">
                <a:solidFill>
                  <a:schemeClr val="bg2"/>
                </a:solidFill>
                <a:latin typeface="+mj-lt"/>
                <a:ea typeface="楷体" panose="02010609060101010101" pitchFamily="49" charset="-122"/>
                <a:cs typeface="+mn-cs"/>
              </a:rPr>
              <a:t>，容易检索和修改。</a:t>
            </a:r>
            <a:endParaRPr lang="zh-CN" altLang="en-US" sz="3200" b="1" kern="1200" dirty="0">
              <a:solidFill>
                <a:schemeClr val="bg2"/>
              </a:solidFill>
              <a:latin typeface="+mj-lt"/>
              <a:ea typeface="楷体" panose="02010609060101010101" pitchFamily="49" charset="-122"/>
              <a:cs typeface="+mn-cs"/>
            </a:endParaRP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实现观点（物理结构）</a:t>
            </a:r>
          </a:p>
          <a:p>
            <a:pPr marL="812800" lvl="3" indent="-355600" defTabSz="355600">
              <a:lnSpc>
                <a:spcPct val="90000"/>
              </a:lnSpc>
              <a:spcBef>
                <a:spcPct val="0"/>
              </a:spcBef>
              <a:buClr>
                <a:schemeClr val="bg2"/>
              </a:buClr>
              <a:buSzPct val="80000"/>
              <a:buFont typeface="Wingdings" panose="05000000000000000000" pitchFamily="2" charset="2"/>
              <a:buChar char="n"/>
              <a:tabLst>
                <a:tab pos="990600" algn="l"/>
              </a:tabLst>
              <a:defRPr/>
            </a:pPr>
            <a:r>
              <a:rPr lang="zh-CN" altLang="en-US" sz="3200" b="1" kern="1200" dirty="0">
                <a:solidFill>
                  <a:schemeClr val="bg2"/>
                </a:solidFill>
                <a:latin typeface="+mj-lt"/>
                <a:ea typeface="楷体" panose="02010609060101010101" pitchFamily="49" charset="-122"/>
                <a:cs typeface="+mn-cs"/>
              </a:rPr>
              <a:t>数据的存储形式</a:t>
            </a:r>
          </a:p>
          <a:p>
            <a:pPr marL="812800" lvl="3" indent="-355600" defTabSz="355600">
              <a:lnSpc>
                <a:spcPct val="90000"/>
              </a:lnSpc>
              <a:spcBef>
                <a:spcPct val="0"/>
              </a:spcBef>
              <a:buClr>
                <a:schemeClr val="bg2"/>
              </a:buClr>
              <a:buSzPct val="80000"/>
              <a:buFont typeface="Wingdings" panose="05000000000000000000" pitchFamily="2" charset="2"/>
              <a:buChar char="n"/>
              <a:tabLst>
                <a:tab pos="990600" algn="l"/>
              </a:tabLst>
              <a:defRPr/>
            </a:pPr>
            <a:r>
              <a:rPr lang="zh-CN" altLang="en-US" sz="3200" b="1" kern="1200" dirty="0" smtClean="0">
                <a:solidFill>
                  <a:schemeClr val="bg2"/>
                </a:solidFill>
                <a:latin typeface="+mj-lt"/>
                <a:ea typeface="楷体" panose="02010609060101010101" pitchFamily="49" charset="-122"/>
                <a:cs typeface="+mn-cs"/>
              </a:rPr>
              <a:t>选择性</a:t>
            </a:r>
            <a:r>
              <a:rPr lang="zh-CN" altLang="en-US" sz="3200" b="1" kern="1200" dirty="0">
                <a:solidFill>
                  <a:schemeClr val="bg2"/>
                </a:solidFill>
                <a:latin typeface="+mj-lt"/>
                <a:ea typeface="楷体" panose="02010609060101010101" pitchFamily="49" charset="-122"/>
                <a:cs typeface="+mn-cs"/>
              </a:rPr>
              <a:t>能良好、设备利用率高的物理结构</a:t>
            </a:r>
            <a:r>
              <a:rPr lang="zh-CN" altLang="en-US" sz="3200" b="1" kern="1200" dirty="0" smtClean="0">
                <a:solidFill>
                  <a:schemeClr val="bg2"/>
                </a:solidFill>
                <a:latin typeface="+mj-lt"/>
                <a:ea typeface="楷体" panose="02010609060101010101" pitchFamily="49" charset="-122"/>
                <a:cs typeface="+mn-cs"/>
              </a:rPr>
              <a:t>。</a:t>
            </a:r>
            <a:endParaRPr lang="en-US" altLang="zh-CN" sz="3200" b="1" kern="1200" dirty="0" smtClean="0">
              <a:solidFill>
                <a:schemeClr val="bg2"/>
              </a:solidFill>
              <a:latin typeface="+mj-lt"/>
              <a:ea typeface="楷体" panose="02010609060101010101" pitchFamily="49" charset="-122"/>
              <a:cs typeface="+mn-cs"/>
            </a:endParaRPr>
          </a:p>
        </p:txBody>
      </p:sp>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2" name="矩形 1"/>
          <p:cNvSpPr/>
          <p:nvPr/>
        </p:nvSpPr>
        <p:spPr>
          <a:xfrm>
            <a:off x="1741689" y="927117"/>
            <a:ext cx="5810522" cy="590931"/>
          </a:xfrm>
          <a:prstGeom prst="rect">
            <a:avLst/>
          </a:prstGeom>
          <a:solidFill>
            <a:srgbClr val="00CC00"/>
          </a:solidFill>
        </p:spPr>
        <p:txBody>
          <a:bodyPr wrap="square">
            <a:spAutoFit/>
          </a:bodyPr>
          <a:lstStyle/>
          <a:p>
            <a:pPr indent="-355600" algn="ctr" defTabSz="355600" eaLnBrk="1" hangingPunct="1">
              <a:lnSpc>
                <a:spcPct val="90000"/>
              </a:lnSpc>
              <a:buClr>
                <a:schemeClr val="bg1"/>
              </a:buClr>
              <a:buSzPct val="80000"/>
              <a:defRPr/>
            </a:pPr>
            <a:r>
              <a:rPr lang="zh-CN" altLang="en-US" sz="3600" dirty="0">
                <a:solidFill>
                  <a:schemeClr val="bg2"/>
                </a:solidFill>
                <a:effectLst>
                  <a:outerShdw blurRad="38100" dist="38100" dir="2700000" algn="tl">
                    <a:srgbClr val="000000"/>
                  </a:outerShdw>
                </a:effectLst>
                <a:latin typeface="Times New Roman" pitchFamily="18" charset="0"/>
                <a:ea typeface="楷体_GB2312" pitchFamily="49" charset="-122"/>
              </a:rPr>
              <a:t>文件组织的两种观点</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715779">
                                            <p:txEl>
                                              <p:pRg st="2" end="2"/>
                                            </p:txEl>
                                          </p:spTgt>
                                        </p:tgtEl>
                                        <p:attrNameLst>
                                          <p:attrName>style.visibility</p:attrName>
                                        </p:attrNameLst>
                                      </p:cBhvr>
                                      <p:to>
                                        <p:strVal val="visible"/>
                                      </p:to>
                                    </p:set>
                                    <p:animEffect transition="in" filter="checkerboard(across)">
                                      <p:cBhvr>
                                        <p:cTn id="7" dur="500"/>
                                        <p:tgtEl>
                                          <p:spTgt spid="715779">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715779">
                                            <p:txEl>
                                              <p:pRg st="1" end="1"/>
                                            </p:txEl>
                                          </p:spTgt>
                                        </p:tgtEl>
                                        <p:attrNameLst>
                                          <p:attrName>style.visibility</p:attrName>
                                        </p:attrNameLst>
                                      </p:cBhvr>
                                      <p:to>
                                        <p:strVal val="visible"/>
                                      </p:to>
                                    </p:set>
                                    <p:animEffect transition="in" filter="checkerboard(across)">
                                      <p:cBhvr>
                                        <p:cTn id="10" dur="500"/>
                                        <p:tgtEl>
                                          <p:spTgt spid="715779">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715779">
                                            <p:txEl>
                                              <p:pRg st="5" end="5"/>
                                            </p:txEl>
                                          </p:spTgt>
                                        </p:tgtEl>
                                        <p:attrNameLst>
                                          <p:attrName>style.visibility</p:attrName>
                                        </p:attrNameLst>
                                      </p:cBhvr>
                                      <p:to>
                                        <p:strVal val="visible"/>
                                      </p:to>
                                    </p:set>
                                    <p:animEffect transition="in" filter="checkerboard(across)">
                                      <p:cBhvr>
                                        <p:cTn id="13" dur="500"/>
                                        <p:tgtEl>
                                          <p:spTgt spid="715779">
                                            <p:txEl>
                                              <p:pRg st="5" end="5"/>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715779">
                                            <p:txEl>
                                              <p:pRg st="4" end="4"/>
                                            </p:txEl>
                                          </p:spTgt>
                                        </p:tgtEl>
                                        <p:attrNameLst>
                                          <p:attrName>style.visibility</p:attrName>
                                        </p:attrNameLst>
                                      </p:cBhvr>
                                      <p:to>
                                        <p:strVal val="visible"/>
                                      </p:to>
                                    </p:set>
                                    <p:animEffect transition="in" filter="checkerboard(across)">
                                      <p:cBhvr>
                                        <p:cTn id="16" dur="500"/>
                                        <p:tgtEl>
                                          <p:spTgt spid="715779">
                                            <p:txEl>
                                              <p:pRg st="4" end="4"/>
                                            </p:txEl>
                                          </p:spTgt>
                                        </p:tgtEl>
                                      </p:cBhvr>
                                    </p:animEffect>
                                  </p:childTnLst>
                                </p:cTn>
                              </p:par>
                            </p:childTnLst>
                          </p:cTn>
                        </p:par>
                        <p:par>
                          <p:cTn id="17" fill="hold">
                            <p:stCondLst>
                              <p:cond delay="500"/>
                            </p:stCondLst>
                            <p:childTnLst>
                              <p:par>
                                <p:cTn id="18" presetID="2" presetClass="entr" presetSubtype="6"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1+#ppt_w/2"/>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9" name="Rectangle 3"/>
          <p:cNvSpPr>
            <a:spLocks noGrp="1" noChangeArrowheads="1"/>
          </p:cNvSpPr>
          <p:nvPr>
            <p:ph type="body" sz="half" idx="1"/>
          </p:nvPr>
        </p:nvSpPr>
        <p:spPr>
          <a:xfrm>
            <a:off x="2227401" y="2038058"/>
            <a:ext cx="5554385" cy="2736304"/>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访问快速；</a:t>
            </a:r>
            <a:endParaRPr lang="en-US" altLang="zh-CN" sz="3600" b="1" kern="1200" dirty="0">
              <a:solidFill>
                <a:schemeClr val="bg1"/>
              </a:solidFill>
              <a:latin typeface="+mj-lt"/>
              <a:ea typeface="楷体" panose="02010609060101010101" pitchFamily="49" charset="-122"/>
              <a:cs typeface="+mn-cs"/>
            </a:endParaRP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易于修改；</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节约存储空间；</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维护简单；</a:t>
            </a:r>
            <a:endParaRPr lang="en-US" altLang="zh-CN" sz="3600" b="1" kern="1200" dirty="0">
              <a:solidFill>
                <a:schemeClr val="bg1"/>
              </a:solidFill>
              <a:latin typeface="+mj-lt"/>
              <a:ea typeface="楷体" panose="02010609060101010101" pitchFamily="49" charset="-122"/>
              <a:cs typeface="+mn-cs"/>
            </a:endParaRP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可靠性。</a:t>
            </a:r>
          </a:p>
        </p:txBody>
      </p:sp>
      <p:sp>
        <p:nvSpPr>
          <p:cNvPr id="716805" name="Rectangle 5"/>
          <p:cNvSpPr>
            <a:spLocks noChangeArrowheads="1"/>
          </p:cNvSpPr>
          <p:nvPr/>
        </p:nvSpPr>
        <p:spPr bwMode="auto">
          <a:xfrm>
            <a:off x="2916238" y="0"/>
            <a:ext cx="4176712" cy="769441"/>
          </a:xfrm>
          <a:prstGeom prst="rect">
            <a:avLst/>
          </a:prstGeom>
          <a:noFill/>
          <a:ln w="12700" cap="sq">
            <a:noFill/>
            <a:miter lim="800000"/>
            <a:headEnd type="none" w="sm" len="sm"/>
            <a:tailEnd type="none" w="sm" len="sm"/>
          </a:ln>
          <a:effectLst/>
        </p:spPr>
        <p:txBody>
          <a:bodyPr>
            <a:spAutoFit/>
          </a:bodyPr>
          <a:lstStyle/>
          <a:p>
            <a:pPr marL="0" lvl="1" indent="-285750" eaLnBrk="1" hangingPunct="1">
              <a:defRPr/>
            </a:pPr>
            <a:r>
              <a:rPr lang="en-US" altLang="zh-CN" sz="4400" dirty="0">
                <a:solidFill>
                  <a:srgbClr val="B2622C"/>
                </a:solidFill>
                <a:effectLst>
                  <a:outerShdw blurRad="38100" dist="38100" dir="2700000" algn="tl">
                    <a:srgbClr val="000000"/>
                  </a:outerShdw>
                </a:effectLst>
                <a:latin typeface="+mj-lt"/>
                <a:ea typeface="楷体_GB2312" pitchFamily="49" charset="-122"/>
                <a:cs typeface="+mj-cs"/>
              </a:rPr>
              <a:t>9.2.1  </a:t>
            </a:r>
            <a:r>
              <a:rPr lang="zh-CN" altLang="en-US" sz="4400" dirty="0">
                <a:solidFill>
                  <a:srgbClr val="B2622C"/>
                </a:solidFill>
                <a:effectLst>
                  <a:outerShdw blurRad="38100" dist="38100" dir="2700000" algn="tl">
                    <a:srgbClr val="000000"/>
                  </a:outerShdw>
                </a:effectLst>
                <a:latin typeface="+mj-lt"/>
                <a:ea typeface="楷体_GB2312" pitchFamily="49" charset="-122"/>
                <a:cs typeface="+mj-cs"/>
              </a:rPr>
              <a:t>逻辑结构</a:t>
            </a: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6" name="矩形 5"/>
          <p:cNvSpPr/>
          <p:nvPr/>
        </p:nvSpPr>
        <p:spPr>
          <a:xfrm>
            <a:off x="1741689" y="927117"/>
            <a:ext cx="5810522" cy="590931"/>
          </a:xfrm>
          <a:prstGeom prst="rect">
            <a:avLst/>
          </a:prstGeom>
          <a:solidFill>
            <a:srgbClr val="00CC00"/>
          </a:solidFill>
        </p:spPr>
        <p:txBody>
          <a:bodyPr wrap="square">
            <a:spAutoFit/>
          </a:bodyPr>
          <a:lstStyle/>
          <a:p>
            <a:pPr indent="-355600" algn="ctr" defTabSz="355600" eaLnBrk="1" hangingPunct="1">
              <a:lnSpc>
                <a:spcPct val="90000"/>
              </a:lnSpc>
              <a:buClr>
                <a:schemeClr val="bg1"/>
              </a:buClr>
              <a:buSzPct val="80000"/>
              <a:defRPr/>
            </a:pPr>
            <a:r>
              <a:rPr lang="zh-CN" altLang="en-US" sz="3600" dirty="0" smtClean="0">
                <a:solidFill>
                  <a:schemeClr val="bg2"/>
                </a:solidFill>
                <a:effectLst>
                  <a:outerShdw blurRad="38100" dist="38100" dir="2700000" algn="tl">
                    <a:srgbClr val="000000"/>
                  </a:outerShdw>
                </a:effectLst>
                <a:latin typeface="Times New Roman" pitchFamily="18" charset="0"/>
                <a:ea typeface="楷体_GB2312" pitchFamily="49" charset="-122"/>
              </a:rPr>
              <a:t>选取</a:t>
            </a:r>
            <a:r>
              <a:rPr lang="zh-CN" altLang="en-US" sz="3600" dirty="0">
                <a:solidFill>
                  <a:schemeClr val="bg2"/>
                </a:solidFill>
                <a:effectLst>
                  <a:outerShdw blurRad="38100" dist="38100" dir="2700000" algn="tl">
                    <a:srgbClr val="000000"/>
                  </a:outerShdw>
                </a:effectLst>
                <a:latin typeface="Times New Roman" pitchFamily="18" charset="0"/>
                <a:ea typeface="楷体_GB2312" pitchFamily="49" charset="-122"/>
              </a:rPr>
              <a:t>文件逻辑结构的</a:t>
            </a:r>
            <a:r>
              <a:rPr lang="zh-CN" altLang="en-US" sz="3600" dirty="0" smtClean="0">
                <a:solidFill>
                  <a:schemeClr val="bg2"/>
                </a:solidFill>
                <a:effectLst>
                  <a:outerShdw blurRad="38100" dist="38100" dir="2700000" algn="tl">
                    <a:srgbClr val="000000"/>
                  </a:outerShdw>
                </a:effectLst>
                <a:latin typeface="Times New Roman" pitchFamily="18" charset="0"/>
                <a:ea typeface="楷体_GB2312" pitchFamily="49" charset="-122"/>
              </a:rPr>
              <a:t>原则</a:t>
            </a:r>
            <a:endParaRPr lang="zh-CN" altLang="en-US" sz="3600" dirty="0">
              <a:solidFill>
                <a:schemeClr val="bg2"/>
              </a:solidFill>
              <a:effectLst>
                <a:outerShdw blurRad="38100" dist="38100" dir="2700000" algn="tl">
                  <a:srgbClr val="000000"/>
                </a:outerShdw>
              </a:effectLst>
              <a:latin typeface="Times New Roman"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42" name="Rectangle 2"/>
          <p:cNvSpPr>
            <a:spLocks noGrp="1" noChangeArrowheads="1"/>
          </p:cNvSpPr>
          <p:nvPr>
            <p:ph type="title"/>
          </p:nvPr>
        </p:nvSpPr>
        <p:spPr>
          <a:xfrm>
            <a:off x="2051050" y="0"/>
            <a:ext cx="4895850" cy="908050"/>
          </a:xfrm>
        </p:spPr>
        <p:txBody>
          <a:bodyPr/>
          <a:lstStyle/>
          <a:p>
            <a:pPr algn="ctr">
              <a:lnSpc>
                <a:spcPct val="120000"/>
              </a:lnSpc>
              <a:defRPr/>
            </a:pPr>
            <a:r>
              <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文件的逻辑结构</a:t>
            </a:r>
          </a:p>
        </p:txBody>
      </p:sp>
      <p:sp>
        <p:nvSpPr>
          <p:cNvPr id="26628" name="Rectangle 3"/>
          <p:cNvSpPr>
            <a:spLocks noGrp="1" noChangeArrowheads="1"/>
          </p:cNvSpPr>
          <p:nvPr>
            <p:ph type="body" idx="1"/>
          </p:nvPr>
        </p:nvSpPr>
        <p:spPr>
          <a:xfrm>
            <a:off x="1331640" y="1124744"/>
            <a:ext cx="6912768" cy="4680520"/>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字符流式的无结构文件</a:t>
            </a:r>
            <a:endParaRPr lang="en-US" altLang="zh-CN" sz="3600" b="1" kern="1200" dirty="0">
              <a:solidFill>
                <a:schemeClr val="bg1"/>
              </a:solidFill>
              <a:latin typeface="+mj-lt"/>
              <a:ea typeface="楷体" panose="02010609060101010101" pitchFamily="49" charset="-122"/>
              <a:cs typeface="+mn-cs"/>
            </a:endParaRPr>
          </a:p>
          <a:p>
            <a:pPr lvl="1" eaLnBrk="1" hangingPunct="1">
              <a:lnSpc>
                <a:spcPct val="90000"/>
              </a:lnSpc>
              <a:spcBef>
                <a:spcPct val="5000"/>
              </a:spcBef>
              <a:buClr>
                <a:schemeClr val="bg2"/>
              </a:buClr>
              <a:buSzPct val="80000"/>
              <a:buFont typeface="Wingdings" panose="05000000000000000000" pitchFamily="2" charset="2"/>
              <a:buChar char="n"/>
            </a:pPr>
            <a:r>
              <a:rPr lang="zh-CN" altLang="en-US" sz="3200" b="1" kern="1200" dirty="0">
                <a:solidFill>
                  <a:schemeClr val="bg2"/>
                </a:solidFill>
                <a:latin typeface="+mj-lt"/>
                <a:ea typeface="楷体" panose="02010609060101010101" pitchFamily="49" charset="-122"/>
                <a:cs typeface="+mn-cs"/>
              </a:rPr>
              <a:t>最简单、最原始的逻辑结构</a:t>
            </a:r>
          </a:p>
          <a:p>
            <a:pPr lvl="1" eaLnBrk="1" hangingPunct="1">
              <a:lnSpc>
                <a:spcPct val="90000"/>
              </a:lnSpc>
              <a:spcBef>
                <a:spcPct val="5000"/>
              </a:spcBef>
              <a:buClr>
                <a:schemeClr val="bg2"/>
              </a:buClr>
              <a:buSzPct val="80000"/>
              <a:buFont typeface="Wingdings" panose="05000000000000000000" pitchFamily="2" charset="2"/>
              <a:buChar char="n"/>
            </a:pPr>
            <a:r>
              <a:rPr lang="zh-CN" altLang="en-US" sz="3200" b="1" kern="1200" dirty="0">
                <a:solidFill>
                  <a:schemeClr val="bg2"/>
                </a:solidFill>
                <a:latin typeface="+mj-lt"/>
                <a:ea typeface="楷体" panose="02010609060101010101" pitchFamily="49" charset="-122"/>
                <a:cs typeface="+mn-cs"/>
              </a:rPr>
              <a:t>缺点：增删改查困难</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记录式的有结构文件</a:t>
            </a:r>
          </a:p>
          <a:p>
            <a:pPr lvl="1" eaLnBrk="1" hangingPunct="1">
              <a:lnSpc>
                <a:spcPct val="90000"/>
              </a:lnSpc>
              <a:spcBef>
                <a:spcPct val="5000"/>
              </a:spcBef>
              <a:buClr>
                <a:schemeClr val="bg2"/>
              </a:buClr>
              <a:buSzPct val="80000"/>
              <a:buFont typeface="Wingdings" panose="05000000000000000000" pitchFamily="2" charset="2"/>
              <a:buChar char="n"/>
            </a:pPr>
            <a:r>
              <a:rPr lang="zh-CN" altLang="en-US" sz="3200" b="1" kern="1200" dirty="0">
                <a:solidFill>
                  <a:schemeClr val="bg2"/>
                </a:solidFill>
                <a:latin typeface="+mj-lt"/>
                <a:ea typeface="楷体" panose="02010609060101010101" pitchFamily="49" charset="-122"/>
                <a:cs typeface="+mn-cs"/>
              </a:rPr>
              <a:t>结构化的文件内容组织</a:t>
            </a:r>
          </a:p>
          <a:p>
            <a:pPr lvl="1" eaLnBrk="1" hangingPunct="1">
              <a:lnSpc>
                <a:spcPct val="90000"/>
              </a:lnSpc>
              <a:spcBef>
                <a:spcPct val="5000"/>
              </a:spcBef>
              <a:buClr>
                <a:schemeClr val="bg2"/>
              </a:buClr>
              <a:buSzPct val="80000"/>
              <a:buFont typeface="Wingdings" panose="05000000000000000000" pitchFamily="2" charset="2"/>
              <a:buChar char="n"/>
            </a:pPr>
            <a:r>
              <a:rPr lang="zh-CN" altLang="en-US" sz="3200" b="1" kern="1200" dirty="0">
                <a:solidFill>
                  <a:schemeClr val="bg2"/>
                </a:solidFill>
                <a:latin typeface="+mj-lt"/>
                <a:ea typeface="楷体" panose="02010609060101010101" pitchFamily="49" charset="-122"/>
                <a:cs typeface="+mn-cs"/>
              </a:rPr>
              <a:t>曾经流行一时，已经落伍</a:t>
            </a:r>
          </a:p>
          <a:p>
            <a:pPr marL="355600" lvl="2" indent="-355600" defTabSz="355600">
              <a:lnSpc>
                <a:spcPct val="90000"/>
              </a:lnSpc>
              <a:spcBef>
                <a:spcPct val="0"/>
              </a:spcBef>
              <a:buClr>
                <a:schemeClr val="bg1">
                  <a:lumMod val="75000"/>
                </a:schemeClr>
              </a:buClr>
              <a:buSzPct val="100000"/>
              <a:buFont typeface="Wingdings" panose="05000000000000000000" pitchFamily="2" charset="2"/>
              <a:buChar char="n"/>
              <a:defRPr/>
            </a:pPr>
            <a:r>
              <a:rPr lang="zh-CN" altLang="en-US" sz="3600" b="1" kern="1200" dirty="0">
                <a:solidFill>
                  <a:schemeClr val="bg1"/>
                </a:solidFill>
                <a:latin typeface="+mj-lt"/>
                <a:ea typeface="楷体" panose="02010609060101010101" pitchFamily="49" charset="-122"/>
                <a:cs typeface="+mn-cs"/>
              </a:rPr>
              <a:t>树</a:t>
            </a:r>
            <a:endParaRPr lang="en-US" altLang="zh-CN" sz="3600" b="1" kern="1200" dirty="0">
              <a:solidFill>
                <a:schemeClr val="bg1"/>
              </a:solidFill>
              <a:latin typeface="+mj-lt"/>
              <a:ea typeface="楷体" panose="02010609060101010101" pitchFamily="49" charset="-122"/>
              <a:cs typeface="+mn-cs"/>
            </a:endParaRPr>
          </a:p>
          <a:p>
            <a:pPr lvl="1" eaLnBrk="1" hangingPunct="1">
              <a:lnSpc>
                <a:spcPct val="90000"/>
              </a:lnSpc>
              <a:spcBef>
                <a:spcPct val="5000"/>
              </a:spcBef>
              <a:buClr>
                <a:schemeClr val="bg2"/>
              </a:buClr>
              <a:buSzPct val="80000"/>
              <a:buFont typeface="Wingdings" panose="05000000000000000000" pitchFamily="2" charset="2"/>
              <a:buChar char="n"/>
            </a:pPr>
            <a:r>
              <a:rPr lang="zh-CN" altLang="en-US" sz="3200" b="1" kern="1200" dirty="0">
                <a:solidFill>
                  <a:schemeClr val="bg2"/>
                </a:solidFill>
                <a:latin typeface="+mj-lt"/>
                <a:ea typeface="楷体" panose="02010609060101010101" pitchFamily="49" charset="-122"/>
                <a:cs typeface="+mn-cs"/>
              </a:rPr>
              <a:t>最灵活的逻辑结构</a:t>
            </a:r>
          </a:p>
          <a:p>
            <a:pPr lvl="1" eaLnBrk="1" hangingPunct="1">
              <a:lnSpc>
                <a:spcPct val="90000"/>
              </a:lnSpc>
              <a:spcBef>
                <a:spcPct val="5000"/>
              </a:spcBef>
              <a:buClr>
                <a:schemeClr val="bg2"/>
              </a:buClr>
              <a:buSzPct val="80000"/>
              <a:buFont typeface="Wingdings" panose="05000000000000000000" pitchFamily="2" charset="2"/>
              <a:buChar char="n"/>
            </a:pPr>
            <a:r>
              <a:rPr lang="zh-CN" altLang="en-US" sz="3200" b="1" kern="1200" dirty="0">
                <a:solidFill>
                  <a:schemeClr val="bg2"/>
                </a:solidFill>
                <a:latin typeface="+mj-lt"/>
                <a:ea typeface="楷体" panose="02010609060101010101" pitchFamily="49" charset="-122"/>
                <a:cs typeface="+mn-cs"/>
              </a:rPr>
              <a:t>便于增量存储和各种操作</a:t>
            </a:r>
            <a:endParaRPr lang="en-US" altLang="zh-CN" sz="3200" b="1" kern="1200" dirty="0">
              <a:solidFill>
                <a:schemeClr val="bg2"/>
              </a:solidFill>
              <a:latin typeface="+mj-lt"/>
              <a:ea typeface="楷体" panose="02010609060101010101" pitchFamily="49" charset="-122"/>
              <a:cs typeface="+mn-cs"/>
            </a:endParaRP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8" descr="文件的逻辑结构"/>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1700213"/>
            <a:ext cx="614997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Grp="1" noChangeArrowheads="1"/>
          </p:cNvSpPr>
          <p:nvPr>
            <p:ph type="title"/>
          </p:nvPr>
        </p:nvSpPr>
        <p:spPr>
          <a:xfrm>
            <a:off x="2051050" y="0"/>
            <a:ext cx="4895850" cy="908050"/>
          </a:xfrm>
        </p:spPr>
        <p:txBody>
          <a:bodyPr/>
          <a:lstStyle/>
          <a:p>
            <a:pPr algn="ctr">
              <a:lnSpc>
                <a:spcPct val="120000"/>
              </a:lnSpc>
              <a:defRPr/>
            </a:pPr>
            <a:r>
              <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文件的逻辑结构</a:t>
            </a:r>
          </a:p>
        </p:txBody>
      </p:sp>
      <p:sp>
        <p:nvSpPr>
          <p:cNvPr id="28677" name="文本框 1"/>
          <p:cNvSpPr txBox="1">
            <a:spLocks noChangeArrowheads="1"/>
          </p:cNvSpPr>
          <p:nvPr/>
        </p:nvSpPr>
        <p:spPr bwMode="auto">
          <a:xfrm>
            <a:off x="1906588" y="5589588"/>
            <a:ext cx="51847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lgn="ctr">
              <a:spcBef>
                <a:spcPct val="0"/>
              </a:spcBef>
              <a:buClrTx/>
              <a:buSzTx/>
              <a:buFontTx/>
              <a:buNone/>
            </a:pPr>
            <a:r>
              <a:rPr lang="zh-CN" altLang="en-US" sz="2000" dirty="0">
                <a:solidFill>
                  <a:schemeClr val="bg2"/>
                </a:solidFill>
                <a:ea typeface="宋体" panose="02010600030101010101" pitchFamily="2" charset="-122"/>
              </a:rPr>
              <a:t>图  三种文件逻辑结构</a:t>
            </a:r>
          </a:p>
        </p:txBody>
      </p:sp>
      <p:sp>
        <p:nvSpPr>
          <p:cNvPr id="8"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0290" name="Rectangle 2"/>
          <p:cNvSpPr>
            <a:spLocks noGrp="1" noChangeArrowheads="1"/>
          </p:cNvSpPr>
          <p:nvPr>
            <p:ph type="title"/>
          </p:nvPr>
        </p:nvSpPr>
        <p:spPr>
          <a:xfrm>
            <a:off x="1835150" y="0"/>
            <a:ext cx="5513388" cy="892175"/>
          </a:xfrm>
        </p:spPr>
        <p:txBody>
          <a:bodyPr/>
          <a:lstStyle/>
          <a:p>
            <a:pPr lvl="2" algn="ctr" defTabSz="355600" eaLnBrk="1" hangingPunct="1">
              <a:lnSpc>
                <a:spcPct val="90000"/>
              </a:lnSpc>
              <a:buClr>
                <a:schemeClr val="bg1"/>
              </a:buClr>
              <a:buSzPct val="80000"/>
              <a:defRPr/>
            </a:pPr>
            <a:r>
              <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rPr>
              <a:t>无结构（流式）文件</a:t>
            </a:r>
          </a:p>
        </p:txBody>
      </p:sp>
      <p:sp>
        <p:nvSpPr>
          <p:cNvPr id="29700" name="Rectangle 3"/>
          <p:cNvSpPr>
            <a:spLocks noGrp="1" noChangeArrowheads="1"/>
          </p:cNvSpPr>
          <p:nvPr>
            <p:ph type="body" idx="1"/>
          </p:nvPr>
        </p:nvSpPr>
        <p:spPr>
          <a:xfrm>
            <a:off x="0" y="1052513"/>
            <a:ext cx="9396536" cy="4176688"/>
          </a:xfrm>
        </p:spPr>
        <p:txBody>
          <a:bodyPr/>
          <a:lstStyle/>
          <a:p>
            <a:pPr eaLnBrk="1" hangingPunct="1">
              <a:lnSpc>
                <a:spcPct val="90000"/>
              </a:lnSpc>
              <a:spcBef>
                <a:spcPct val="5000"/>
              </a:spcBef>
              <a:buClr>
                <a:schemeClr val="bg2"/>
              </a:buClr>
              <a:buSzPct val="80000"/>
              <a:buFont typeface="Wingdings" panose="05000000000000000000" pitchFamily="2" charset="2"/>
              <a:buChar char="n"/>
            </a:pPr>
            <a:r>
              <a:rPr lang="zh-CN" altLang="en-US" sz="3600" b="1" kern="1200" dirty="0">
                <a:solidFill>
                  <a:schemeClr val="bg2"/>
                </a:solidFill>
                <a:latin typeface="+mj-lt"/>
                <a:ea typeface="楷体" panose="02010609060101010101" pitchFamily="49" charset="-122"/>
                <a:cs typeface="+mn-cs"/>
              </a:rPr>
              <a:t>相关信息的有序集合，有一定意义的字符流。</a:t>
            </a:r>
            <a:endParaRPr lang="en-US" altLang="zh-CN" sz="3600" b="1" kern="1200" dirty="0">
              <a:solidFill>
                <a:schemeClr val="bg2"/>
              </a:solidFill>
              <a:latin typeface="+mj-lt"/>
              <a:ea typeface="楷体" panose="02010609060101010101" pitchFamily="49" charset="-122"/>
              <a:cs typeface="+mn-cs"/>
            </a:endParaRPr>
          </a:p>
          <a:p>
            <a:pPr eaLnBrk="1" hangingPunct="1">
              <a:lnSpc>
                <a:spcPct val="90000"/>
              </a:lnSpc>
              <a:spcBef>
                <a:spcPct val="5000"/>
              </a:spcBef>
              <a:buClr>
                <a:schemeClr val="bg2"/>
              </a:buClr>
              <a:buSzPct val="80000"/>
              <a:buFont typeface="Wingdings" panose="05000000000000000000" pitchFamily="2" charset="2"/>
              <a:buChar char="n"/>
            </a:pPr>
            <a:r>
              <a:rPr lang="zh-CN" altLang="en-US" sz="3600" b="1" kern="1200" dirty="0">
                <a:solidFill>
                  <a:schemeClr val="bg2"/>
                </a:solidFill>
                <a:latin typeface="+mj-lt"/>
                <a:ea typeface="楷体" panose="02010609060101010101" pitchFamily="49" charset="-122"/>
                <a:cs typeface="+mn-cs"/>
              </a:rPr>
              <a:t>长度以字节为单位。</a:t>
            </a:r>
          </a:p>
          <a:p>
            <a:pPr eaLnBrk="1" hangingPunct="1">
              <a:lnSpc>
                <a:spcPct val="90000"/>
              </a:lnSpc>
              <a:spcBef>
                <a:spcPct val="5000"/>
              </a:spcBef>
              <a:buClr>
                <a:schemeClr val="bg2"/>
              </a:buClr>
              <a:buSzPct val="80000"/>
              <a:buFont typeface="Wingdings" panose="05000000000000000000" pitchFamily="2" charset="2"/>
              <a:buChar char="n"/>
            </a:pPr>
            <a:r>
              <a:rPr lang="zh-CN" altLang="en-US" sz="3600" b="1" kern="1200" dirty="0">
                <a:solidFill>
                  <a:schemeClr val="bg2"/>
                </a:solidFill>
                <a:latin typeface="+mj-lt"/>
                <a:ea typeface="楷体" panose="02010609060101010101" pitchFamily="49" charset="-122"/>
                <a:cs typeface="+mn-cs"/>
              </a:rPr>
              <a:t>大量的源程序、可执行文件、库函数</a:t>
            </a:r>
            <a:r>
              <a:rPr lang="zh-CN" altLang="en-US" sz="3600" b="1" kern="1200" dirty="0" smtClean="0">
                <a:solidFill>
                  <a:schemeClr val="bg2"/>
                </a:solidFill>
                <a:latin typeface="+mj-lt"/>
                <a:ea typeface="楷体" panose="02010609060101010101" pitchFamily="49" charset="-122"/>
                <a:cs typeface="+mn-cs"/>
              </a:rPr>
              <a:t>等。</a:t>
            </a:r>
            <a:endParaRPr lang="zh-CN" altLang="en-US" sz="3600" b="1" kern="1200" dirty="0">
              <a:solidFill>
                <a:schemeClr val="bg2"/>
              </a:solidFill>
              <a:latin typeface="+mj-lt"/>
              <a:ea typeface="楷体" panose="02010609060101010101" pitchFamily="49" charset="-122"/>
              <a:cs typeface="+mn-cs"/>
            </a:endParaRPr>
          </a:p>
          <a:p>
            <a:pPr eaLnBrk="1" hangingPunct="1">
              <a:lnSpc>
                <a:spcPct val="90000"/>
              </a:lnSpc>
              <a:spcBef>
                <a:spcPct val="5000"/>
              </a:spcBef>
              <a:buClr>
                <a:schemeClr val="bg2"/>
              </a:buClr>
              <a:buSzPct val="80000"/>
              <a:buFont typeface="Wingdings" panose="05000000000000000000" pitchFamily="2" charset="2"/>
              <a:buChar char="n"/>
            </a:pPr>
            <a:r>
              <a:rPr lang="zh-CN" altLang="en-US" sz="3600" b="1" kern="1200" dirty="0">
                <a:solidFill>
                  <a:schemeClr val="bg2"/>
                </a:solidFill>
                <a:latin typeface="+mj-lt"/>
                <a:ea typeface="楷体" panose="02010609060101010101" pitchFamily="49" charset="-122"/>
                <a:cs typeface="+mn-cs"/>
              </a:rPr>
              <a:t>访问：读写</a:t>
            </a:r>
            <a:r>
              <a:rPr lang="zh-CN" altLang="en-US" sz="3600" b="1" kern="1200" dirty="0" smtClean="0">
                <a:solidFill>
                  <a:schemeClr val="bg2"/>
                </a:solidFill>
                <a:latin typeface="+mj-lt"/>
                <a:ea typeface="楷体" panose="02010609060101010101" pitchFamily="49" charset="-122"/>
                <a:cs typeface="+mn-cs"/>
              </a:rPr>
              <a:t>指针。</a:t>
            </a:r>
            <a:endParaRPr lang="zh-CN" altLang="en-US" sz="3600" b="1" kern="1200" dirty="0">
              <a:solidFill>
                <a:schemeClr val="bg2"/>
              </a:solidFill>
              <a:latin typeface="+mj-lt"/>
              <a:ea typeface="楷体" panose="02010609060101010101" pitchFamily="49" charset="-122"/>
              <a:cs typeface="+mn-cs"/>
            </a:endParaRPr>
          </a:p>
          <a:p>
            <a:pPr eaLnBrk="1" hangingPunct="1">
              <a:lnSpc>
                <a:spcPct val="90000"/>
              </a:lnSpc>
              <a:spcBef>
                <a:spcPct val="5000"/>
              </a:spcBef>
              <a:buClr>
                <a:schemeClr val="bg2"/>
              </a:buClr>
              <a:buSzPct val="80000"/>
              <a:buFont typeface="Wingdings" panose="05000000000000000000" pitchFamily="2" charset="2"/>
              <a:buChar char="n"/>
            </a:pPr>
            <a:r>
              <a:rPr lang="zh-CN" altLang="en-US" sz="3600" b="1" kern="1200" dirty="0">
                <a:solidFill>
                  <a:schemeClr val="bg2"/>
                </a:solidFill>
                <a:latin typeface="+mj-lt"/>
                <a:ea typeface="楷体" panose="02010609060101010101" pitchFamily="49" charset="-122"/>
                <a:cs typeface="+mn-cs"/>
              </a:rPr>
              <a:t>好处</a:t>
            </a:r>
            <a:endParaRPr lang="en-US" altLang="zh-CN" sz="3600" b="1" kern="1200" dirty="0">
              <a:solidFill>
                <a:schemeClr val="bg2"/>
              </a:solidFill>
              <a:latin typeface="+mj-lt"/>
              <a:ea typeface="楷体" panose="02010609060101010101" pitchFamily="49" charset="-122"/>
              <a:cs typeface="+mn-cs"/>
            </a:endParaRPr>
          </a:p>
          <a:p>
            <a:pPr lvl="1" eaLnBrk="1" hangingPunct="1">
              <a:lnSpc>
                <a:spcPts val="3800"/>
              </a:lnSpc>
              <a:spcBef>
                <a:spcPts val="600"/>
              </a:spcBef>
              <a:buClrTx/>
              <a:buSzPct val="80000"/>
              <a:buFont typeface="Wingdings" panose="05000000000000000000" pitchFamily="2" charset="2"/>
              <a:buChar char="n"/>
            </a:pPr>
            <a:r>
              <a:rPr lang="zh-CN" altLang="en-US" sz="3200" b="1" kern="1200" dirty="0">
                <a:solidFill>
                  <a:schemeClr val="bg2"/>
                </a:solidFill>
                <a:latin typeface="+mj-lt"/>
                <a:ea typeface="楷体" panose="02010609060101010101" pitchFamily="49" charset="-122"/>
                <a:cs typeface="+mn-cs"/>
              </a:rPr>
              <a:t>管理简单</a:t>
            </a:r>
            <a:r>
              <a:rPr lang="zh-CN" altLang="en-US" sz="3200" b="1" kern="1200" dirty="0" smtClean="0">
                <a:solidFill>
                  <a:schemeClr val="bg2"/>
                </a:solidFill>
                <a:latin typeface="+mj-lt"/>
                <a:ea typeface="楷体" panose="02010609060101010101" pitchFamily="49" charset="-122"/>
                <a:cs typeface="+mn-cs"/>
              </a:rPr>
              <a:t>，其</a:t>
            </a:r>
            <a:r>
              <a:rPr lang="zh-CN" altLang="en-US" sz="3200" b="1" kern="1200" dirty="0">
                <a:solidFill>
                  <a:schemeClr val="bg2"/>
                </a:solidFill>
                <a:latin typeface="+mj-lt"/>
                <a:ea typeface="楷体" panose="02010609060101010101" pitchFamily="49" charset="-122"/>
                <a:cs typeface="+mn-cs"/>
              </a:rPr>
              <a:t>任何意义只在用户程序中解释。</a:t>
            </a:r>
            <a:endParaRPr lang="en-US" altLang="zh-CN" sz="3200" b="1" kern="1200" dirty="0">
              <a:solidFill>
                <a:schemeClr val="bg2"/>
              </a:solidFill>
              <a:latin typeface="+mj-lt"/>
              <a:ea typeface="楷体" panose="02010609060101010101" pitchFamily="49" charset="-122"/>
              <a:cs typeface="+mn-cs"/>
            </a:endParaRPr>
          </a:p>
          <a:p>
            <a:pPr lvl="1" eaLnBrk="1" hangingPunct="1">
              <a:lnSpc>
                <a:spcPts val="3800"/>
              </a:lnSpc>
              <a:spcBef>
                <a:spcPts val="600"/>
              </a:spcBef>
              <a:buClrTx/>
              <a:buSzPct val="80000"/>
              <a:buFont typeface="Wingdings" panose="05000000000000000000" pitchFamily="2" charset="2"/>
              <a:buChar char="n"/>
            </a:pPr>
            <a:r>
              <a:rPr lang="zh-CN" altLang="en-US" sz="3200" b="1" kern="1200" dirty="0" smtClean="0">
                <a:solidFill>
                  <a:schemeClr val="bg2"/>
                </a:solidFill>
                <a:latin typeface="+mj-lt"/>
                <a:ea typeface="楷体" panose="02010609060101010101" pitchFamily="49" charset="-122"/>
                <a:cs typeface="+mn-cs"/>
              </a:rPr>
              <a:t>用户操作方便</a:t>
            </a:r>
            <a:endParaRPr lang="zh-CN" altLang="en-US" sz="3200" b="1" kern="1200" dirty="0">
              <a:solidFill>
                <a:schemeClr val="bg2"/>
              </a:solidFill>
              <a:latin typeface="+mj-lt"/>
              <a:ea typeface="楷体" panose="02010609060101010101" pitchFamily="49" charset="-122"/>
              <a:cs typeface="+mn-cs"/>
            </a:endParaRPr>
          </a:p>
        </p:txBody>
      </p:sp>
      <p:sp>
        <p:nvSpPr>
          <p:cNvPr id="6" name="TextBox 5"/>
          <p:cNvSpPr txBox="1"/>
          <p:nvPr/>
        </p:nvSpPr>
        <p:spPr>
          <a:xfrm>
            <a:off x="1035050" y="5892800"/>
            <a:ext cx="7072313" cy="584200"/>
          </a:xfrm>
          <a:prstGeom prst="rect">
            <a:avLst/>
          </a:prstGeom>
          <a:solidFill>
            <a:srgbClr val="FFFF00"/>
          </a:solidFill>
        </p:spPr>
        <p:txBody>
          <a:bodyPr>
            <a:spAutoFit/>
          </a:bodyPr>
          <a:lstStyle/>
          <a:p>
            <a:pPr algn="ctr" eaLnBrk="1" hangingPunct="1">
              <a:defRPr/>
            </a:pPr>
            <a:r>
              <a:rPr lang="en-US" altLang="zh-CN" sz="3200" dirty="0">
                <a:solidFill>
                  <a:schemeClr val="bg2"/>
                </a:solidFill>
                <a:effectLst>
                  <a:outerShdw blurRad="38100" dist="38100" dir="2700000" algn="tl">
                    <a:srgbClr val="000000">
                      <a:alpha val="43137"/>
                    </a:srgbClr>
                  </a:outerShdw>
                </a:effectLst>
                <a:latin typeface="+mn-lt"/>
              </a:rPr>
              <a:t>UNIX</a:t>
            </a:r>
            <a:r>
              <a:rPr lang="zh-CN" altLang="en-US" sz="3200" dirty="0">
                <a:solidFill>
                  <a:schemeClr val="bg2"/>
                </a:solidFill>
                <a:effectLst>
                  <a:outerShdw blurRad="38100" dist="38100" dir="2700000" algn="tl">
                    <a:srgbClr val="000000">
                      <a:alpha val="43137"/>
                    </a:srgbClr>
                  </a:outerShdw>
                </a:effectLst>
                <a:latin typeface="+mn-lt"/>
              </a:rPr>
              <a:t>、</a:t>
            </a:r>
            <a:r>
              <a:rPr lang="en-US" altLang="zh-CN" sz="3200" dirty="0">
                <a:solidFill>
                  <a:schemeClr val="bg2"/>
                </a:solidFill>
                <a:effectLst>
                  <a:outerShdw blurRad="38100" dist="38100" dir="2700000" algn="tl">
                    <a:srgbClr val="000000">
                      <a:alpha val="43137"/>
                    </a:srgbClr>
                  </a:outerShdw>
                </a:effectLst>
                <a:latin typeface="+mn-lt"/>
              </a:rPr>
              <a:t>MS-DOS</a:t>
            </a:r>
            <a:r>
              <a:rPr lang="zh-CN" altLang="en-US" sz="3200" dirty="0">
                <a:solidFill>
                  <a:schemeClr val="bg2"/>
                </a:solidFill>
                <a:effectLst>
                  <a:outerShdw blurRad="38100" dist="38100" dir="2700000" algn="tl">
                    <a:srgbClr val="000000">
                      <a:alpha val="43137"/>
                    </a:srgbClr>
                  </a:outerShdw>
                </a:effectLst>
                <a:latin typeface="+mn-lt"/>
              </a:rPr>
              <a:t>、</a:t>
            </a:r>
            <a:r>
              <a:rPr lang="en-US" altLang="zh-CN" sz="3200" dirty="0">
                <a:solidFill>
                  <a:schemeClr val="bg2"/>
                </a:solidFill>
                <a:effectLst>
                  <a:outerShdw blurRad="38100" dist="38100" dir="2700000" algn="tl">
                    <a:srgbClr val="000000">
                      <a:alpha val="43137"/>
                    </a:srgbClr>
                  </a:outerShdw>
                </a:effectLst>
                <a:latin typeface="+mn-lt"/>
              </a:rPr>
              <a:t>Windows</a:t>
            </a:r>
            <a:r>
              <a:rPr lang="zh-CN" altLang="en-US" sz="3200" dirty="0">
                <a:solidFill>
                  <a:schemeClr val="bg2"/>
                </a:solidFill>
                <a:effectLst>
                  <a:outerShdw blurRad="38100" dist="38100" dir="2700000" algn="tl">
                    <a:srgbClr val="000000">
                      <a:alpha val="43137"/>
                    </a:srgbClr>
                  </a:outerShdw>
                </a:effectLst>
                <a:latin typeface="+mn-lt"/>
              </a:rPr>
              <a:t>采用</a:t>
            </a:r>
          </a:p>
        </p:txBody>
      </p:sp>
      <p:sp>
        <p:nvSpPr>
          <p:cNvPr id="7"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3"/>
          <p:cNvSpPr>
            <a:spLocks noGrp="1" noChangeArrowheads="1"/>
          </p:cNvSpPr>
          <p:nvPr>
            <p:ph type="body" sz="half" idx="1"/>
          </p:nvPr>
        </p:nvSpPr>
        <p:spPr>
          <a:xfrm>
            <a:off x="159442" y="1005498"/>
            <a:ext cx="8964612" cy="3215590"/>
          </a:xfrm>
        </p:spPr>
        <p:txBody>
          <a:bodyPr/>
          <a:lstStyle/>
          <a:p>
            <a:pPr marL="446088" lvl="1" indent="-446088" eaLnBrk="1" hangingPunct="1">
              <a:lnSpc>
                <a:spcPct val="90000"/>
              </a:lnSpc>
              <a:spcBef>
                <a:spcPct val="5000"/>
              </a:spcBef>
              <a:buClr>
                <a:schemeClr val="bg2"/>
              </a:buClr>
              <a:buSzPct val="80000"/>
              <a:buFont typeface="Wingdings" panose="05000000000000000000" pitchFamily="2" charset="2"/>
              <a:buChar char="n"/>
            </a:pPr>
            <a:r>
              <a:rPr lang="zh-CN" altLang="zh-CN" sz="3600" b="1" kern="1200" dirty="0">
                <a:solidFill>
                  <a:schemeClr val="bg2"/>
                </a:solidFill>
                <a:latin typeface="+mj-lt"/>
                <a:ea typeface="楷体" panose="02010609060101010101" pitchFamily="49" charset="-122"/>
                <a:cs typeface="+mn-cs"/>
              </a:rPr>
              <a:t>由若干个记录组成</a:t>
            </a:r>
            <a:r>
              <a:rPr lang="zh-CN" altLang="en-US" sz="3600" b="1" kern="1200" dirty="0">
                <a:solidFill>
                  <a:schemeClr val="bg2"/>
                </a:solidFill>
                <a:latin typeface="+mj-lt"/>
                <a:ea typeface="楷体" panose="02010609060101010101" pitchFamily="49" charset="-122"/>
                <a:cs typeface="+mn-cs"/>
              </a:rPr>
              <a:t>；</a:t>
            </a:r>
          </a:p>
          <a:p>
            <a:pPr marL="446088" lvl="1" indent="-446088" eaLnBrk="1" hangingPunct="1">
              <a:lnSpc>
                <a:spcPct val="90000"/>
              </a:lnSpc>
              <a:spcBef>
                <a:spcPct val="5000"/>
              </a:spcBef>
              <a:buClr>
                <a:schemeClr val="bg2"/>
              </a:buClr>
              <a:buSzPct val="80000"/>
              <a:buFont typeface="Wingdings" panose="05000000000000000000" pitchFamily="2" charset="2"/>
              <a:buChar char="n"/>
            </a:pPr>
            <a:r>
              <a:rPr lang="zh-CN" altLang="en-US" sz="3600" b="1" kern="1200" dirty="0">
                <a:solidFill>
                  <a:schemeClr val="bg2"/>
                </a:solidFill>
                <a:latin typeface="+mj-lt"/>
                <a:ea typeface="楷体" panose="02010609060101010101" pitchFamily="49" charset="-122"/>
                <a:cs typeface="+mn-cs"/>
              </a:rPr>
              <a:t>记录：一个具有特定意义的信息单位</a:t>
            </a:r>
            <a:r>
              <a:rPr lang="en-US" altLang="zh-CN" sz="3600" b="1" kern="1200" dirty="0">
                <a:solidFill>
                  <a:schemeClr val="bg2"/>
                </a:solidFill>
                <a:latin typeface="+mj-lt"/>
                <a:ea typeface="楷体" panose="02010609060101010101" pitchFamily="49" charset="-122"/>
                <a:cs typeface="+mn-cs"/>
              </a:rPr>
              <a:t>;</a:t>
            </a:r>
          </a:p>
          <a:p>
            <a:pPr marL="446088" lvl="1" indent="-446088" eaLnBrk="1" hangingPunct="1">
              <a:lnSpc>
                <a:spcPct val="90000"/>
              </a:lnSpc>
              <a:spcBef>
                <a:spcPct val="5000"/>
              </a:spcBef>
              <a:buClr>
                <a:schemeClr val="bg2"/>
              </a:buClr>
              <a:buSzPct val="80000"/>
              <a:buFont typeface="Wingdings" panose="05000000000000000000" pitchFamily="2" charset="2"/>
              <a:buChar char="n"/>
            </a:pPr>
            <a:r>
              <a:rPr lang="zh-CN" altLang="en-US" sz="3600" b="1" kern="1200" dirty="0">
                <a:solidFill>
                  <a:schemeClr val="bg2"/>
                </a:solidFill>
                <a:latin typeface="+mj-lt"/>
                <a:ea typeface="楷体" panose="02010609060101010101" pitchFamily="49" charset="-122"/>
                <a:cs typeface="+mn-cs"/>
              </a:rPr>
              <a:t>主关键字：能够唯一地标识记录的</a:t>
            </a:r>
            <a:r>
              <a:rPr lang="zh-CN" altLang="en-US" sz="3600" b="1" kern="1200" dirty="0" smtClean="0">
                <a:solidFill>
                  <a:schemeClr val="bg2"/>
                </a:solidFill>
                <a:latin typeface="+mj-lt"/>
                <a:ea typeface="楷体" panose="02010609060101010101" pitchFamily="49" charset="-122"/>
                <a:cs typeface="+mn-cs"/>
              </a:rPr>
              <a:t>数据项；</a:t>
            </a:r>
            <a:endParaRPr lang="en-US" altLang="zh-CN" sz="3600" b="1" kern="1200" dirty="0" smtClean="0">
              <a:solidFill>
                <a:schemeClr val="bg2"/>
              </a:solidFill>
              <a:latin typeface="+mj-lt"/>
              <a:ea typeface="楷体" panose="02010609060101010101" pitchFamily="49" charset="-122"/>
              <a:cs typeface="+mn-cs"/>
            </a:endParaRPr>
          </a:p>
          <a:p>
            <a:pPr marL="446088" lvl="1" indent="-446088" eaLnBrk="1" hangingPunct="1">
              <a:lnSpc>
                <a:spcPct val="90000"/>
              </a:lnSpc>
              <a:spcBef>
                <a:spcPct val="5000"/>
              </a:spcBef>
              <a:buClr>
                <a:schemeClr val="bg2"/>
              </a:buClr>
              <a:buSzPct val="80000"/>
              <a:buFont typeface="Wingdings" panose="05000000000000000000" pitchFamily="2" charset="2"/>
              <a:buChar char="n"/>
            </a:pPr>
            <a:r>
              <a:rPr lang="zh-CN" altLang="en-US" sz="3600" dirty="0">
                <a:solidFill>
                  <a:schemeClr val="bg2"/>
                </a:solidFill>
                <a:latin typeface="+mj-lt"/>
                <a:ea typeface="楷体" panose="02010609060101010101" pitchFamily="49" charset="-122"/>
              </a:rPr>
              <a:t>五种</a:t>
            </a:r>
            <a:r>
              <a:rPr lang="zh-CN" altLang="en-US" sz="3600" b="1" dirty="0" smtClean="0">
                <a:solidFill>
                  <a:schemeClr val="bg2"/>
                </a:solidFill>
                <a:latin typeface="+mj-lt"/>
                <a:ea typeface="楷体" panose="02010609060101010101" pitchFamily="49" charset="-122"/>
              </a:rPr>
              <a:t>基本组织</a:t>
            </a:r>
            <a:endParaRPr lang="en-US" altLang="zh-CN" sz="3600" b="1" dirty="0" smtClean="0">
              <a:solidFill>
                <a:schemeClr val="bg2"/>
              </a:solidFill>
              <a:latin typeface="+mj-lt"/>
              <a:ea typeface="楷体" panose="02010609060101010101" pitchFamily="49" charset="-122"/>
            </a:endParaRPr>
          </a:p>
          <a:p>
            <a:pPr marL="846138" lvl="2" indent="-446088" eaLnBrk="1" hangingPunct="1">
              <a:lnSpc>
                <a:spcPct val="90000"/>
              </a:lnSpc>
              <a:spcBef>
                <a:spcPct val="5000"/>
              </a:spcBef>
              <a:buClr>
                <a:schemeClr val="bg2"/>
              </a:buClr>
              <a:buSzPct val="80000"/>
              <a:buFont typeface="Wingdings" panose="05000000000000000000" pitchFamily="2" charset="2"/>
              <a:buChar char="n"/>
              <a:defRPr/>
            </a:pPr>
            <a:r>
              <a:rPr lang="zh-CN" altLang="en-US" sz="3200" dirty="0">
                <a:solidFill>
                  <a:schemeClr val="bg1">
                    <a:lumMod val="75000"/>
                  </a:schemeClr>
                </a:solidFill>
                <a:ea typeface="楷体" panose="02010609060101010101" pitchFamily="49" charset="-122"/>
              </a:rPr>
              <a:t>堆、顺序、索引、索引顺序、直接或散列。</a:t>
            </a:r>
            <a:endParaRPr lang="en-US" altLang="zh-CN" sz="3200" dirty="0">
              <a:solidFill>
                <a:schemeClr val="bg1">
                  <a:lumMod val="75000"/>
                </a:schemeClr>
              </a:solidFill>
              <a:ea typeface="楷体" panose="02010609060101010101" pitchFamily="49" charset="-122"/>
            </a:endParaRPr>
          </a:p>
          <a:p>
            <a:pPr marL="846138" lvl="2" indent="-446088" eaLnBrk="1" hangingPunct="1">
              <a:lnSpc>
                <a:spcPct val="90000"/>
              </a:lnSpc>
              <a:spcBef>
                <a:spcPct val="5000"/>
              </a:spcBef>
              <a:buClr>
                <a:schemeClr val="bg2"/>
              </a:buClr>
              <a:buSzPct val="80000"/>
              <a:buFont typeface="Wingdings" panose="05000000000000000000" pitchFamily="2" charset="2"/>
              <a:buChar char="n"/>
              <a:defRPr/>
            </a:pPr>
            <a:r>
              <a:rPr lang="zh-CN" altLang="en-US" sz="3200" dirty="0">
                <a:solidFill>
                  <a:schemeClr val="bg2"/>
                </a:solidFill>
                <a:ea typeface="楷体" panose="02010609060101010101" pitchFamily="49" charset="-122"/>
              </a:rPr>
              <a:t>实际系统采用的是其中某个或组合</a:t>
            </a:r>
            <a:r>
              <a:rPr lang="zh-CN" altLang="en-US" sz="3200" dirty="0" smtClean="0">
                <a:solidFill>
                  <a:schemeClr val="bg2"/>
                </a:solidFill>
                <a:ea typeface="楷体" panose="02010609060101010101" pitchFamily="49" charset="-122"/>
              </a:rPr>
              <a:t>。</a:t>
            </a:r>
            <a:endParaRPr lang="zh-CN" altLang="en-US" sz="3200" b="1" kern="1200" dirty="0">
              <a:solidFill>
                <a:schemeClr val="bg2"/>
              </a:solidFill>
              <a:latin typeface="+mj-lt"/>
              <a:ea typeface="楷体" panose="02010609060101010101" pitchFamily="49" charset="-122"/>
              <a:cs typeface="+mn-cs"/>
            </a:endParaRPr>
          </a:p>
        </p:txBody>
      </p:sp>
      <p:sp>
        <p:nvSpPr>
          <p:cNvPr id="717830" name="Text Box 6"/>
          <p:cNvSpPr txBox="1">
            <a:spLocks noChangeArrowheads="1"/>
          </p:cNvSpPr>
          <p:nvPr/>
        </p:nvSpPr>
        <p:spPr bwMode="auto">
          <a:xfrm>
            <a:off x="2195513" y="0"/>
            <a:ext cx="4249737" cy="646331"/>
          </a:xfrm>
          <a:prstGeom prst="rect">
            <a:avLst/>
          </a:prstGeom>
          <a:noFill/>
          <a:ln w="12700" cap="sq">
            <a:noFill/>
            <a:miter lim="800000"/>
            <a:headEnd type="none" w="sm" len="sm"/>
            <a:tailEnd type="none" w="sm" len="sm"/>
          </a:ln>
          <a:effectLst/>
        </p:spPr>
        <p:txBody>
          <a:bodyPr>
            <a:spAutoFit/>
          </a:bodyPr>
          <a:lstStyle/>
          <a:p>
            <a:pPr lvl="2" algn="ctr" defTabSz="355600" eaLnBrk="1" hangingPunct="1">
              <a:lnSpc>
                <a:spcPct val="90000"/>
              </a:lnSpc>
              <a:buClr>
                <a:schemeClr val="bg1"/>
              </a:buClr>
              <a:buSzPct val="80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记录式文件</a:t>
            </a:r>
          </a:p>
        </p:txBody>
      </p:sp>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文本框 1"/>
          <p:cNvSpPr txBox="1">
            <a:spLocks noChangeArrowheads="1"/>
          </p:cNvSpPr>
          <p:nvPr/>
        </p:nvSpPr>
        <p:spPr bwMode="auto">
          <a:xfrm>
            <a:off x="395288" y="1052513"/>
            <a:ext cx="8558212" cy="260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
              </a:spcBef>
              <a:buClr>
                <a:schemeClr val="bg2"/>
              </a:buClr>
              <a:buSzPct val="80000"/>
              <a:buFont typeface="Wingdings" panose="05000000000000000000" pitchFamily="2" charset="2"/>
              <a:buChar char="n"/>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文件由一棵记录树组成；</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eaLnBrk="1" hangingPunct="1">
              <a:lnSpc>
                <a:spcPct val="90000"/>
              </a:lnSpc>
              <a:spcBef>
                <a:spcPct val="5000"/>
              </a:spcBef>
              <a:buClr>
                <a:schemeClr val="bg2"/>
              </a:buClr>
              <a:buSzPct val="80000"/>
              <a:buFont typeface="Wingdings" panose="05000000000000000000" pitchFamily="2" charset="2"/>
              <a:buChar char="n"/>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记录长度不等；</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eaLnBrk="1" hangingPunct="1">
              <a:lnSpc>
                <a:spcPct val="90000"/>
              </a:lnSpc>
              <a:spcBef>
                <a:spcPct val="5000"/>
              </a:spcBef>
              <a:buClr>
                <a:schemeClr val="bg2"/>
              </a:buClr>
              <a:buSzPct val="80000"/>
              <a:buFont typeface="Wingdings" panose="05000000000000000000" pitchFamily="2" charset="2"/>
              <a:buChar char="n"/>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大文件或大型的数据库</a:t>
            </a:r>
            <a:r>
              <a:rPr lang="en-US" altLang="zh-CN" sz="3600" dirty="0">
                <a:solidFill>
                  <a:schemeClr val="bg2"/>
                </a:solidFill>
                <a:effectLst>
                  <a:outerShdw blurRad="38100" dist="38100" dir="2700000" algn="tl">
                    <a:srgbClr val="000000"/>
                  </a:outerShdw>
                </a:effectLst>
                <a:latin typeface="+mj-lt"/>
                <a:ea typeface="楷体" panose="02010609060101010101" pitchFamily="49" charset="-122"/>
              </a:rPr>
              <a:t>(</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数据库中组织索引的标准方法</a:t>
            </a:r>
            <a:r>
              <a:rPr lang="en-US" altLang="zh-CN" sz="3600" dirty="0">
                <a:solidFill>
                  <a:schemeClr val="bg2"/>
                </a:solidFill>
                <a:effectLst>
                  <a:outerShdw blurRad="38100" dist="38100" dir="2700000" algn="tl">
                    <a:srgbClr val="000000"/>
                  </a:outerShdw>
                </a:effectLst>
                <a:latin typeface="+mj-lt"/>
                <a:ea typeface="楷体" panose="02010609060101010101" pitchFamily="49" charset="-122"/>
              </a:rPr>
              <a:t>)</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a:t>
            </a:r>
          </a:p>
          <a:p>
            <a:pPr lvl="1" eaLnBrk="1" hangingPunct="1">
              <a:lnSpc>
                <a:spcPct val="90000"/>
              </a:lnSpc>
              <a:spcBef>
                <a:spcPct val="5000"/>
              </a:spcBef>
              <a:buClr>
                <a:schemeClr val="bg2"/>
              </a:buClr>
              <a:buSzPct val="80000"/>
              <a:buFont typeface="Wingdings" panose="05000000000000000000" pitchFamily="2" charset="2"/>
              <a:buChar char="n"/>
              <a:defRPr/>
            </a:pPr>
            <a:endParaRPr lang="zh-CN" altLang="en-US" sz="3200" dirty="0">
              <a:solidFill>
                <a:schemeClr val="bg2"/>
              </a:solidFill>
              <a:effectLst>
                <a:outerShdw blurRad="38100" dist="38100" dir="2700000" algn="tl">
                  <a:srgbClr val="000000"/>
                </a:outerShdw>
              </a:effectLst>
              <a:latin typeface="+mj-lt"/>
              <a:ea typeface="楷体" panose="02010609060101010101" pitchFamily="49" charset="-122"/>
            </a:endParaRPr>
          </a:p>
        </p:txBody>
      </p:sp>
      <p:sp>
        <p:nvSpPr>
          <p:cNvPr id="7" name="Text Box 6"/>
          <p:cNvSpPr txBox="1">
            <a:spLocks noChangeArrowheads="1"/>
          </p:cNvSpPr>
          <p:nvPr/>
        </p:nvSpPr>
        <p:spPr bwMode="auto">
          <a:xfrm>
            <a:off x="2550319" y="0"/>
            <a:ext cx="4248150" cy="646331"/>
          </a:xfrm>
          <a:prstGeom prst="rect">
            <a:avLst/>
          </a:prstGeom>
          <a:noFill/>
          <a:ln w="12700" cap="sq">
            <a:noFill/>
            <a:miter lim="800000"/>
            <a:headEnd type="none" w="sm" len="sm"/>
            <a:tailEnd type="none" w="sm" len="sm"/>
          </a:ln>
          <a:effectLst/>
        </p:spPr>
        <p:txBody>
          <a:bodyPr>
            <a:spAutoFit/>
          </a:bodyPr>
          <a:lstStyle/>
          <a:p>
            <a:pPr algn="ctr" defTabSz="355600" eaLnBrk="1" hangingPunct="1">
              <a:lnSpc>
                <a:spcPct val="90000"/>
              </a:lnSpc>
              <a:buClr>
                <a:schemeClr val="bg1"/>
              </a:buClr>
              <a:buSzPct val="80000"/>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B </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树</a:t>
            </a:r>
            <a:endPar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1922" name="Rectangle 2"/>
          <p:cNvSpPr>
            <a:spLocks noGrp="1" noChangeArrowheads="1"/>
          </p:cNvSpPr>
          <p:nvPr>
            <p:ph type="title"/>
          </p:nvPr>
        </p:nvSpPr>
        <p:spPr>
          <a:xfrm>
            <a:off x="2013966" y="-171400"/>
            <a:ext cx="5008563" cy="892175"/>
          </a:xfrm>
        </p:spPr>
        <p:txBody>
          <a:bodyPr/>
          <a:lstStyle/>
          <a:p>
            <a:pPr lvl="1" indent="-285750" algn="ctr" eaLnBrk="1" hangingPunct="1">
              <a:defRPr/>
            </a:pPr>
            <a:r>
              <a:rPr lang="en-US" altLang="zh-CN" b="1" kern="1200" dirty="0">
                <a:solidFill>
                  <a:srgbClr val="B2622C"/>
                </a:solidFill>
                <a:effectLst>
                  <a:outerShdw blurRad="38100" dist="38100" dir="2700000" algn="tl">
                    <a:srgbClr val="000000"/>
                  </a:outerShdw>
                </a:effectLst>
                <a:latin typeface="+mj-lt"/>
                <a:ea typeface="楷体_GB2312" pitchFamily="49" charset="-122"/>
                <a:cs typeface="+mj-cs"/>
              </a:rPr>
              <a:t>9.2.3  </a:t>
            </a:r>
            <a:r>
              <a:rPr lang="zh-CN" altLang="en-US" b="1" kern="1200" dirty="0">
                <a:solidFill>
                  <a:srgbClr val="B2622C"/>
                </a:solidFill>
                <a:effectLst>
                  <a:outerShdw blurRad="38100" dist="38100" dir="2700000" algn="tl">
                    <a:srgbClr val="000000"/>
                  </a:outerShdw>
                </a:effectLst>
                <a:latin typeface="+mj-lt"/>
                <a:ea typeface="楷体_GB2312" pitchFamily="49" charset="-122"/>
                <a:cs typeface="+mj-cs"/>
              </a:rPr>
              <a:t>存取方法</a:t>
            </a:r>
          </a:p>
        </p:txBody>
      </p:sp>
      <p:sp>
        <p:nvSpPr>
          <p:cNvPr id="721923" name="Rectangle 3"/>
          <p:cNvSpPr>
            <a:spLocks noGrp="1" noChangeArrowheads="1"/>
          </p:cNvSpPr>
          <p:nvPr>
            <p:ph type="body" idx="1"/>
          </p:nvPr>
        </p:nvSpPr>
        <p:spPr>
          <a:xfrm>
            <a:off x="82689" y="837392"/>
            <a:ext cx="9036496" cy="5605463"/>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顺序存取法：</a:t>
            </a:r>
            <a:r>
              <a:rPr lang="zh-CN" altLang="en-US" sz="3200" b="1" kern="1200" dirty="0">
                <a:solidFill>
                  <a:schemeClr val="bg2"/>
                </a:solidFill>
                <a:latin typeface="+mj-lt"/>
                <a:ea typeface="楷体" panose="02010609060101010101" pitchFamily="49" charset="-122"/>
                <a:cs typeface="+mn-cs"/>
              </a:rPr>
              <a:t>按照文件的逻辑地址</a:t>
            </a:r>
          </a:p>
          <a:p>
            <a:pPr lvl="1" eaLnBrk="1" hangingPunct="1">
              <a:lnSpc>
                <a:spcPct val="90000"/>
              </a:lnSpc>
              <a:spcBef>
                <a:spcPct val="500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记录式文件：</a:t>
            </a:r>
            <a:r>
              <a:rPr lang="zh-CN" altLang="en-US" sz="3200" b="1" kern="1200" dirty="0">
                <a:solidFill>
                  <a:schemeClr val="bg2"/>
                </a:solidFill>
                <a:effectLst/>
                <a:latin typeface="+mj-lt"/>
                <a:ea typeface="楷体" panose="02010609060101010101" pitchFamily="49" charset="-122"/>
                <a:cs typeface="+mn-cs"/>
              </a:rPr>
              <a:t>按记录的排列顺序。</a:t>
            </a:r>
            <a:r>
              <a:rPr lang="zh-CN" altLang="en-US" sz="3200" b="1" kern="1200" dirty="0" smtClean="0">
                <a:solidFill>
                  <a:schemeClr val="bg2"/>
                </a:solidFill>
                <a:effectLst/>
                <a:latin typeface="+mj-lt"/>
                <a:ea typeface="楷体" panose="02010609060101010101" pitchFamily="49" charset="-122"/>
                <a:cs typeface="+mn-cs"/>
              </a:rPr>
              <a:t>例如：若</a:t>
            </a:r>
            <a:r>
              <a:rPr lang="zh-CN" altLang="en-US" sz="3200" b="1" kern="1200" dirty="0">
                <a:solidFill>
                  <a:schemeClr val="bg2"/>
                </a:solidFill>
                <a:effectLst/>
                <a:latin typeface="+mj-lt"/>
                <a:ea typeface="楷体" panose="02010609060101010101" pitchFamily="49" charset="-122"/>
                <a:cs typeface="+mn-cs"/>
              </a:rPr>
              <a:t>当前读取的记录为</a:t>
            </a:r>
            <a:r>
              <a:rPr lang="en-US" altLang="zh-CN" sz="3200" b="1" kern="1200" dirty="0" err="1">
                <a:solidFill>
                  <a:schemeClr val="bg2"/>
                </a:solidFill>
                <a:effectLst/>
                <a:latin typeface="+mj-lt"/>
                <a:ea typeface="楷体" panose="02010609060101010101" pitchFamily="49" charset="-122"/>
                <a:cs typeface="+mn-cs"/>
              </a:rPr>
              <a:t>R</a:t>
            </a:r>
            <a:r>
              <a:rPr lang="en-US" altLang="zh-CN" sz="3200" b="1" kern="1200" baseline="-25000" dirty="0" err="1">
                <a:solidFill>
                  <a:schemeClr val="bg2"/>
                </a:solidFill>
                <a:effectLst/>
                <a:latin typeface="+mj-lt"/>
                <a:ea typeface="楷体" panose="02010609060101010101" pitchFamily="49" charset="-122"/>
                <a:cs typeface="+mn-cs"/>
              </a:rPr>
              <a:t>i</a:t>
            </a:r>
            <a:r>
              <a:rPr lang="zh-CN" altLang="en-US" sz="3200" b="1" kern="1200" dirty="0" smtClean="0">
                <a:solidFill>
                  <a:schemeClr val="bg2"/>
                </a:solidFill>
                <a:effectLst/>
                <a:latin typeface="+mj-lt"/>
                <a:ea typeface="楷体" panose="02010609060101010101" pitchFamily="49" charset="-122"/>
                <a:cs typeface="+mn-cs"/>
              </a:rPr>
              <a:t>，则下次读取为</a:t>
            </a:r>
            <a:r>
              <a:rPr lang="en-US" altLang="zh-CN" sz="3200" b="1" kern="1200" dirty="0">
                <a:solidFill>
                  <a:schemeClr val="bg2"/>
                </a:solidFill>
                <a:effectLst/>
                <a:latin typeface="+mj-lt"/>
                <a:ea typeface="楷体" panose="02010609060101010101" pitchFamily="49" charset="-122"/>
                <a:cs typeface="+mn-cs"/>
              </a:rPr>
              <a:t>R</a:t>
            </a:r>
            <a:r>
              <a:rPr lang="en-US" altLang="zh-CN" sz="3200" b="1" kern="1200" baseline="-25000" dirty="0">
                <a:solidFill>
                  <a:schemeClr val="bg2"/>
                </a:solidFill>
                <a:effectLst/>
                <a:latin typeface="+mj-lt"/>
                <a:ea typeface="楷体" panose="02010609060101010101" pitchFamily="49" charset="-122"/>
                <a:cs typeface="+mn-cs"/>
              </a:rPr>
              <a:t>i+1</a:t>
            </a:r>
            <a:r>
              <a:rPr lang="zh-CN" altLang="en-US" sz="3200" b="1" kern="1200" dirty="0">
                <a:solidFill>
                  <a:schemeClr val="bg2"/>
                </a:solidFill>
                <a:effectLst/>
                <a:latin typeface="+mj-lt"/>
                <a:ea typeface="楷体" panose="02010609060101010101" pitchFamily="49" charset="-122"/>
                <a:cs typeface="+mn-cs"/>
              </a:rPr>
              <a:t>。</a:t>
            </a:r>
          </a:p>
          <a:p>
            <a:pPr lvl="1" eaLnBrk="1" hangingPunct="1">
              <a:lnSpc>
                <a:spcPct val="90000"/>
              </a:lnSpc>
              <a:spcBef>
                <a:spcPct val="500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字符流文件</a:t>
            </a:r>
            <a:r>
              <a:rPr lang="zh-CN" altLang="en-US" sz="3200" b="1" kern="1200" dirty="0" smtClean="0">
                <a:solidFill>
                  <a:schemeClr val="bg2"/>
                </a:solidFill>
                <a:latin typeface="+mj-lt"/>
                <a:ea typeface="楷体" panose="02010609060101010101" pitchFamily="49" charset="-122"/>
                <a:cs typeface="+mn-cs"/>
              </a:rPr>
              <a:t>：</a:t>
            </a:r>
            <a:r>
              <a:rPr lang="zh-CN" altLang="en-US" sz="3200" b="1" kern="1200" dirty="0" smtClean="0">
                <a:solidFill>
                  <a:schemeClr val="bg2"/>
                </a:solidFill>
                <a:effectLst/>
                <a:latin typeface="+mj-lt"/>
                <a:ea typeface="楷体" panose="02010609060101010101" pitchFamily="49" charset="-122"/>
                <a:cs typeface="+mn-cs"/>
              </a:rPr>
              <a:t>在</a:t>
            </a:r>
            <a:r>
              <a:rPr lang="zh-CN" altLang="en-US" sz="3200" b="1" kern="1200" dirty="0">
                <a:solidFill>
                  <a:schemeClr val="bg2"/>
                </a:solidFill>
                <a:effectLst/>
                <a:latin typeface="+mj-lt"/>
                <a:ea typeface="楷体" panose="02010609060101010101" pitchFamily="49" charset="-122"/>
                <a:cs typeface="+mn-cs"/>
              </a:rPr>
              <a:t>存取完一段信息之后，读写指针自动加或减去该段信息长度。</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随机存取法</a:t>
            </a:r>
            <a:r>
              <a:rPr lang="en-US" altLang="zh-CN" sz="3600" b="1" kern="1200" dirty="0">
                <a:solidFill>
                  <a:schemeClr val="bg1"/>
                </a:solidFill>
                <a:latin typeface="+mj-lt"/>
                <a:ea typeface="楷体" panose="02010609060101010101" pitchFamily="49" charset="-122"/>
                <a:cs typeface="+mn-cs"/>
              </a:rPr>
              <a:t>(</a:t>
            </a:r>
            <a:r>
              <a:rPr lang="zh-CN" altLang="en-US" sz="3600" b="1" kern="1200" dirty="0">
                <a:solidFill>
                  <a:schemeClr val="bg1"/>
                </a:solidFill>
                <a:latin typeface="+mj-lt"/>
                <a:ea typeface="楷体" panose="02010609060101010101" pitchFamily="49" charset="-122"/>
                <a:cs typeface="+mn-cs"/>
              </a:rPr>
              <a:t>直接存取法</a:t>
            </a:r>
            <a:r>
              <a:rPr lang="en-US" altLang="zh-CN" sz="3600" b="1" kern="1200" dirty="0">
                <a:solidFill>
                  <a:schemeClr val="bg1"/>
                </a:solidFill>
                <a:latin typeface="+mj-lt"/>
                <a:ea typeface="楷体" panose="02010609060101010101" pitchFamily="49" charset="-122"/>
                <a:cs typeface="+mn-cs"/>
              </a:rPr>
              <a:t>)</a:t>
            </a:r>
          </a:p>
          <a:p>
            <a:pPr lvl="1" eaLnBrk="1" hangingPunct="1">
              <a:lnSpc>
                <a:spcPct val="90000"/>
              </a:lnSpc>
              <a:spcBef>
                <a:spcPct val="5000"/>
              </a:spcBef>
              <a:buClr>
                <a:schemeClr val="bg2"/>
              </a:buClr>
              <a:buSzPct val="80000"/>
              <a:buFont typeface="Wingdings" panose="05000000000000000000" pitchFamily="2" charset="2"/>
              <a:buChar char="n"/>
              <a:defRPr/>
            </a:pPr>
            <a:r>
              <a:rPr lang="zh-CN" altLang="en-US" sz="3200" b="1" kern="1200" dirty="0">
                <a:solidFill>
                  <a:schemeClr val="bg2"/>
                </a:solidFill>
                <a:effectLst/>
                <a:ea typeface="楷体" panose="02010609060101010101" pitchFamily="49" charset="-122"/>
              </a:rPr>
              <a:t>按</a:t>
            </a:r>
            <a:r>
              <a:rPr lang="zh-CN" altLang="en-US" sz="3200" b="1" kern="1200" dirty="0" smtClean="0">
                <a:solidFill>
                  <a:schemeClr val="bg2"/>
                </a:solidFill>
                <a:effectLst/>
                <a:latin typeface="+mj-lt"/>
                <a:ea typeface="楷体" panose="02010609060101010101" pitchFamily="49" charset="-122"/>
                <a:cs typeface="+mn-cs"/>
              </a:rPr>
              <a:t>记录编号存取任一记录。</a:t>
            </a:r>
            <a:endParaRPr lang="en-US" altLang="zh-CN" sz="3200" b="1" kern="1200" dirty="0" smtClean="0">
              <a:solidFill>
                <a:schemeClr val="bg2"/>
              </a:solidFill>
              <a:effectLst/>
              <a:latin typeface="+mj-lt"/>
              <a:ea typeface="楷体" panose="02010609060101010101" pitchFamily="49" charset="-122"/>
              <a:cs typeface="+mn-cs"/>
            </a:endParaRPr>
          </a:p>
          <a:p>
            <a:pPr lvl="1" eaLnBrk="1" hangingPunct="1">
              <a:lnSpc>
                <a:spcPct val="90000"/>
              </a:lnSpc>
              <a:spcBef>
                <a:spcPct val="5000"/>
              </a:spcBef>
              <a:buClr>
                <a:schemeClr val="bg2"/>
              </a:buClr>
              <a:buSzPct val="80000"/>
              <a:buFont typeface="Wingdings" panose="05000000000000000000" pitchFamily="2" charset="2"/>
              <a:buChar char="n"/>
              <a:defRPr/>
            </a:pPr>
            <a:r>
              <a:rPr lang="zh-CN" altLang="en-US" sz="3200" b="1" kern="1200" dirty="0" smtClean="0">
                <a:solidFill>
                  <a:schemeClr val="bg2"/>
                </a:solidFill>
                <a:effectLst/>
                <a:latin typeface="+mj-lt"/>
                <a:ea typeface="楷体" panose="02010609060101010101" pitchFamily="49" charset="-122"/>
                <a:cs typeface="+mn-cs"/>
              </a:rPr>
              <a:t>根据</a:t>
            </a:r>
            <a:r>
              <a:rPr lang="zh-CN" altLang="en-US" sz="3200" b="1" kern="1200" dirty="0">
                <a:solidFill>
                  <a:schemeClr val="bg2"/>
                </a:solidFill>
                <a:effectLst/>
                <a:latin typeface="+mj-lt"/>
                <a:ea typeface="楷体" panose="02010609060101010101" pitchFamily="49" charset="-122"/>
                <a:cs typeface="+mn-cs"/>
              </a:rPr>
              <a:t>存取</a:t>
            </a:r>
            <a:r>
              <a:rPr lang="zh-CN" altLang="en-US" sz="3200" b="1" kern="1200" dirty="0" smtClean="0">
                <a:solidFill>
                  <a:schemeClr val="bg2"/>
                </a:solidFill>
                <a:effectLst/>
                <a:latin typeface="+mj-lt"/>
                <a:ea typeface="楷体" panose="02010609060101010101" pitchFamily="49" charset="-122"/>
                <a:cs typeface="+mn-cs"/>
              </a:rPr>
              <a:t>命令移动读写指针。</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smtClean="0">
                <a:solidFill>
                  <a:schemeClr val="bg1"/>
                </a:solidFill>
                <a:latin typeface="+mj-lt"/>
                <a:ea typeface="楷体" panose="02010609060101010101" pitchFamily="49" charset="-122"/>
                <a:cs typeface="+mn-cs"/>
              </a:rPr>
              <a:t>按键存取法 </a:t>
            </a:r>
            <a:endParaRPr lang="zh-CN" altLang="en-US" sz="3600" b="1" kern="1200" dirty="0">
              <a:solidFill>
                <a:schemeClr val="bg1"/>
              </a:solidFill>
              <a:latin typeface="+mj-lt"/>
              <a:ea typeface="楷体" panose="02010609060101010101" pitchFamily="49" charset="-122"/>
              <a:cs typeface="+mn-cs"/>
            </a:endParaRP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721923">
                                            <p:txEl>
                                              <p:pRg st="1" end="1"/>
                                            </p:txEl>
                                          </p:spTgt>
                                        </p:tgtEl>
                                        <p:attrNameLst>
                                          <p:attrName>style.visibility</p:attrName>
                                        </p:attrNameLst>
                                      </p:cBhvr>
                                      <p:to>
                                        <p:strVal val="visible"/>
                                      </p:to>
                                    </p:set>
                                    <p:animEffect transition="in" filter="blinds(horizontal)">
                                      <p:cBhvr>
                                        <p:cTn id="7" dur="500"/>
                                        <p:tgtEl>
                                          <p:spTgt spid="72192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21923">
                                            <p:txEl>
                                              <p:pRg st="2" end="2"/>
                                            </p:txEl>
                                          </p:spTgt>
                                        </p:tgtEl>
                                        <p:attrNameLst>
                                          <p:attrName>style.visibility</p:attrName>
                                        </p:attrNameLst>
                                      </p:cBhvr>
                                      <p:to>
                                        <p:strVal val="visible"/>
                                      </p:to>
                                    </p:set>
                                    <p:animEffect transition="in" filter="blinds(horizontal)">
                                      <p:cBhvr>
                                        <p:cTn id="10" dur="500"/>
                                        <p:tgtEl>
                                          <p:spTgt spid="721923">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721923">
                                            <p:txEl>
                                              <p:pRg st="4" end="4"/>
                                            </p:txEl>
                                          </p:spTgt>
                                        </p:tgtEl>
                                        <p:attrNameLst>
                                          <p:attrName>style.visibility</p:attrName>
                                        </p:attrNameLst>
                                      </p:cBhvr>
                                      <p:to>
                                        <p:strVal val="visible"/>
                                      </p:to>
                                    </p:set>
                                    <p:animEffect transition="in" filter="blinds(horizontal)">
                                      <p:cBhvr>
                                        <p:cTn id="15" dur="500"/>
                                        <p:tgtEl>
                                          <p:spTgt spid="72192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21923">
                                            <p:txEl>
                                              <p:pRg st="5" end="5"/>
                                            </p:txEl>
                                          </p:spTgt>
                                        </p:tgtEl>
                                        <p:attrNameLst>
                                          <p:attrName>style.visibility</p:attrName>
                                        </p:attrNameLst>
                                      </p:cBhvr>
                                      <p:to>
                                        <p:strVal val="visible"/>
                                      </p:to>
                                    </p:set>
                                    <p:animEffect transition="in" filter="blinds(horizontal)">
                                      <p:cBhvr>
                                        <p:cTn id="20" dur="500"/>
                                        <p:tgtEl>
                                          <p:spTgt spid="721923">
                                            <p:txEl>
                                              <p:pRg st="5" end="5"/>
                                            </p:txEl>
                                          </p:spTgt>
                                        </p:tgtEl>
                                      </p:cBhvr>
                                    </p:animEffect>
                                  </p:childTnLst>
                                </p:cTn>
                              </p:par>
                            </p:childTnLst>
                          </p:cTn>
                        </p:par>
                        <p:par>
                          <p:cTn id="21" fill="hold">
                            <p:stCondLst>
                              <p:cond delay="500"/>
                            </p:stCondLst>
                            <p:childTnLst>
                              <p:par>
                                <p:cTn id="22" presetID="2" presetClass="entr" presetSubtype="6"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1+#ppt_w/2"/>
                                          </p:val>
                                        </p:tav>
                                        <p:tav tm="100000">
                                          <p:val>
                                            <p:strVal val="#ppt_x"/>
                                          </p:val>
                                        </p:tav>
                                      </p:tavLst>
                                    </p:anim>
                                    <p:anim calcmode="lin" valueType="num">
                                      <p:cBhvr additive="base">
                                        <p:cTn id="2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2947" name="Rectangle 3"/>
          <p:cNvSpPr>
            <a:spLocks noGrp="1" noChangeArrowheads="1"/>
          </p:cNvSpPr>
          <p:nvPr>
            <p:ph type="body" idx="1"/>
          </p:nvPr>
        </p:nvSpPr>
        <p:spPr>
          <a:xfrm>
            <a:off x="21839" y="980728"/>
            <a:ext cx="9106283" cy="4752528"/>
          </a:xfrm>
        </p:spPr>
        <p:txBody>
          <a:bodyPr/>
          <a:lstStyle/>
          <a:p>
            <a:pPr eaLnBrk="1" hangingPunct="1">
              <a:lnSpc>
                <a:spcPct val="90000"/>
              </a:lnSpc>
              <a:spcBef>
                <a:spcPct val="5000"/>
              </a:spcBef>
              <a:buClr>
                <a:schemeClr val="bg2"/>
              </a:buClr>
              <a:buSzPct val="80000"/>
              <a:buFont typeface="Wingdings" panose="05000000000000000000" pitchFamily="2" charset="2"/>
              <a:buChar char="n"/>
              <a:defRPr/>
            </a:pPr>
            <a:r>
              <a:rPr lang="zh-CN" altLang="en-US" sz="3600" b="1" kern="1200" dirty="0" smtClean="0">
                <a:solidFill>
                  <a:schemeClr val="bg2"/>
                </a:solidFill>
                <a:latin typeface="+mj-lt"/>
                <a:ea typeface="楷体" panose="02010609060101010101" pitchFamily="49" charset="-122"/>
                <a:cs typeface="+mn-cs"/>
              </a:rPr>
              <a:t>用于复杂</a:t>
            </a:r>
            <a:r>
              <a:rPr lang="zh-CN" altLang="en-US" sz="3600" b="1" kern="1200" dirty="0">
                <a:solidFill>
                  <a:schemeClr val="bg2"/>
                </a:solidFill>
                <a:latin typeface="+mj-lt"/>
                <a:ea typeface="楷体" panose="02010609060101010101" pitchFamily="49" charset="-122"/>
                <a:cs typeface="+mn-cs"/>
              </a:rPr>
              <a:t>文件系统</a:t>
            </a:r>
            <a:r>
              <a:rPr lang="zh-CN" altLang="en-US" sz="3600" b="1" kern="1200" dirty="0" smtClean="0">
                <a:solidFill>
                  <a:schemeClr val="bg2"/>
                </a:solidFill>
                <a:latin typeface="+mj-lt"/>
                <a:ea typeface="楷体" panose="02010609060101010101" pitchFamily="49" charset="-122"/>
                <a:cs typeface="+mn-cs"/>
              </a:rPr>
              <a:t>，如数据库管理系统</a:t>
            </a:r>
            <a:endParaRPr lang="zh-CN" altLang="en-US" sz="3600" b="1" kern="1200" dirty="0">
              <a:solidFill>
                <a:schemeClr val="bg2"/>
              </a:solidFill>
              <a:latin typeface="+mj-lt"/>
              <a:ea typeface="楷体" panose="02010609060101010101" pitchFamily="49" charset="-122"/>
              <a:cs typeface="+mn-cs"/>
            </a:endParaRPr>
          </a:p>
          <a:p>
            <a:pPr eaLnBrk="1" hangingPunct="1">
              <a:lnSpc>
                <a:spcPct val="90000"/>
              </a:lnSpc>
              <a:spcBef>
                <a:spcPct val="5000"/>
              </a:spcBef>
              <a:buClr>
                <a:schemeClr val="bg2"/>
              </a:buClr>
              <a:buSzPct val="80000"/>
              <a:buFont typeface="Wingdings" panose="05000000000000000000" pitchFamily="2" charset="2"/>
              <a:buChar char="n"/>
              <a:defRPr/>
            </a:pPr>
            <a:r>
              <a:rPr lang="zh-CN" altLang="en-US" sz="3600" b="1" kern="1200" dirty="0">
                <a:solidFill>
                  <a:schemeClr val="bg2"/>
                </a:solidFill>
                <a:latin typeface="+mj-lt"/>
                <a:ea typeface="楷体" panose="02010609060101010101" pitchFamily="49" charset="-122"/>
                <a:cs typeface="+mn-cs"/>
              </a:rPr>
              <a:t>先搜索到记录的逻辑位置，转换到相应的物理地址后进行存取</a:t>
            </a:r>
          </a:p>
          <a:p>
            <a:pPr eaLnBrk="1" hangingPunct="1">
              <a:lnSpc>
                <a:spcPct val="90000"/>
              </a:lnSpc>
              <a:spcBef>
                <a:spcPct val="5000"/>
              </a:spcBef>
              <a:buClr>
                <a:schemeClr val="bg2"/>
              </a:buClr>
              <a:buSzPct val="80000"/>
              <a:buFont typeface="Wingdings" panose="05000000000000000000" pitchFamily="2" charset="2"/>
              <a:buChar char="n"/>
              <a:defRPr/>
            </a:pPr>
            <a:r>
              <a:rPr lang="zh-CN" altLang="en-US" sz="3600" b="1" kern="1200" dirty="0">
                <a:solidFill>
                  <a:schemeClr val="bg2"/>
                </a:solidFill>
                <a:latin typeface="+mj-lt"/>
                <a:ea typeface="楷体" panose="02010609060101010101" pitchFamily="49" charset="-122"/>
                <a:cs typeface="+mn-cs"/>
              </a:rPr>
              <a:t>对文件的搜索</a:t>
            </a:r>
          </a:p>
          <a:p>
            <a:pPr lvl="1" eaLnBrk="1" hangingPunct="1">
              <a:lnSpc>
                <a:spcPct val="90000"/>
              </a:lnSpc>
              <a:spcBef>
                <a:spcPct val="5000"/>
              </a:spcBef>
              <a:buClr>
                <a:schemeClr val="bg2"/>
              </a:buClr>
              <a:buSzPct val="80000"/>
              <a:buFont typeface="Wingdings" panose="05000000000000000000" pitchFamily="2" charset="2"/>
              <a:buChar char="n"/>
              <a:defRPr/>
            </a:pPr>
            <a:r>
              <a:rPr lang="zh-CN" altLang="en-US" sz="3200" b="1" kern="1200" dirty="0">
                <a:solidFill>
                  <a:schemeClr val="bg2"/>
                </a:solidFill>
                <a:effectLst>
                  <a:outerShdw blurRad="38100" dist="38100" dir="2700000" algn="tl">
                    <a:srgbClr val="000000">
                      <a:alpha val="43137"/>
                    </a:srgbClr>
                  </a:outerShdw>
                </a:effectLst>
                <a:ea typeface="楷体" panose="02010609060101010101" pitchFamily="49" charset="-122"/>
              </a:rPr>
              <a:t>键的搜索</a:t>
            </a:r>
            <a:r>
              <a:rPr lang="zh-CN" altLang="en-US" sz="3200" b="1" kern="1200" dirty="0">
                <a:solidFill>
                  <a:schemeClr val="bg2"/>
                </a:solidFill>
                <a:effectLst/>
                <a:ea typeface="楷体" panose="02010609060101010101" pitchFamily="49" charset="-122"/>
              </a:rPr>
              <a:t>：用户给定所要搜索的键名和记录，确定该键名在文件中的位置</a:t>
            </a:r>
          </a:p>
          <a:p>
            <a:pPr lvl="1" eaLnBrk="1" hangingPunct="1">
              <a:lnSpc>
                <a:spcPct val="90000"/>
              </a:lnSpc>
              <a:spcBef>
                <a:spcPct val="5000"/>
              </a:spcBef>
              <a:buClr>
                <a:schemeClr val="bg2"/>
              </a:buClr>
              <a:buSzPct val="80000"/>
              <a:buFont typeface="Wingdings" panose="05000000000000000000" pitchFamily="2" charset="2"/>
              <a:buChar char="n"/>
              <a:defRPr/>
            </a:pPr>
            <a:r>
              <a:rPr lang="zh-CN" altLang="en-US" sz="3200" b="1" kern="1200" dirty="0">
                <a:solidFill>
                  <a:schemeClr val="bg2"/>
                </a:solidFill>
                <a:effectLst>
                  <a:outerShdw blurRad="38100" dist="38100" dir="2700000" algn="tl">
                    <a:srgbClr val="000000">
                      <a:alpha val="43137"/>
                    </a:srgbClr>
                  </a:outerShdw>
                </a:effectLst>
                <a:ea typeface="楷体" panose="02010609060101010101" pitchFamily="49" charset="-122"/>
              </a:rPr>
              <a:t>记录的搜索</a:t>
            </a:r>
            <a:r>
              <a:rPr lang="en-US" altLang="zh-CN" sz="3200" b="1" kern="1200" dirty="0">
                <a:solidFill>
                  <a:schemeClr val="bg2"/>
                </a:solidFill>
                <a:effectLst/>
                <a:ea typeface="楷体" panose="02010609060101010101" pitchFamily="49" charset="-122"/>
              </a:rPr>
              <a:t>:</a:t>
            </a:r>
            <a:r>
              <a:rPr lang="zh-CN" altLang="en-US" sz="3200" b="1" kern="1200" dirty="0">
                <a:solidFill>
                  <a:schemeClr val="bg2"/>
                </a:solidFill>
                <a:effectLst/>
                <a:ea typeface="楷体" panose="02010609060101010101" pitchFamily="49" charset="-122"/>
              </a:rPr>
              <a:t>在含有该键的所有记录中查找出所需要的记录。</a:t>
            </a:r>
          </a:p>
        </p:txBody>
      </p:sp>
      <p:sp>
        <p:nvSpPr>
          <p:cNvPr id="5" name="AutoShape 4">
            <a:hlinkClick r:id="rId3" action="ppaction://hlinksldjump" highlightClick="1"/>
          </p:cNvPr>
          <p:cNvSpPr>
            <a:spLocks noChangeArrowheads="1"/>
          </p:cNvSpPr>
          <p:nvPr/>
        </p:nvSpPr>
        <p:spPr bwMode="auto">
          <a:xfrm>
            <a:off x="8763000" y="6477000"/>
            <a:ext cx="381000" cy="381000"/>
          </a:xfrm>
          <a:prstGeom prst="actionButtonHome">
            <a:avLst/>
          </a:prstGeom>
          <a:solidFill>
            <a:schemeClr val="tx1">
              <a:lumMod val="65000"/>
            </a:schemeClr>
          </a:solidFill>
          <a:ln w="12700" cap="sq">
            <a:noFill/>
            <a:miter lim="800000"/>
            <a:headEnd type="none" w="sm" len="sm"/>
            <a:tailEnd type="none" w="sm" len="sm"/>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2" name="矩形 1"/>
          <p:cNvSpPr/>
          <p:nvPr/>
        </p:nvSpPr>
        <p:spPr>
          <a:xfrm>
            <a:off x="2627784" y="116632"/>
            <a:ext cx="3781805" cy="646331"/>
          </a:xfrm>
          <a:prstGeom prst="rect">
            <a:avLst/>
          </a:prstGeom>
        </p:spPr>
        <p:txBody>
          <a:bodyPr wrap="none">
            <a:spAutoFit/>
          </a:bodyPr>
          <a:lstStyle/>
          <a:p>
            <a:pPr marL="0" lvl="2" algn="ctr" defTabSz="355600" eaLnBrk="1" hangingPunct="1">
              <a:lnSpc>
                <a:spcPct val="90000"/>
              </a:lnSpc>
              <a:buClr>
                <a:schemeClr val="bg1"/>
              </a:buClr>
              <a:buSzPct val="80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按键存取的实现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683568" y="10209"/>
            <a:ext cx="7772400" cy="908050"/>
          </a:xfrm>
        </p:spPr>
        <p:txBody>
          <a:bodyPr/>
          <a:lstStyle/>
          <a:p>
            <a:pPr marL="457200" indent="-457200" algn="ctr">
              <a:lnSpc>
                <a:spcPct val="120000"/>
              </a:lnSpc>
              <a:spcBef>
                <a:spcPts val="600"/>
              </a:spcBef>
              <a:buClr>
                <a:schemeClr val="folHlink"/>
              </a:buClr>
              <a:buSzPct val="75000"/>
              <a:defRPr/>
            </a:pPr>
            <a:r>
              <a:rPr lang="en-US" altLang="zh-CN" b="1" kern="1200" dirty="0">
                <a:solidFill>
                  <a:srgbClr val="C00000"/>
                </a:solidFill>
                <a:effectLst>
                  <a:outerShdw blurRad="38100" dist="38100" dir="2700000" algn="tl">
                    <a:srgbClr val="000000"/>
                  </a:outerShdw>
                </a:effectLst>
                <a:latin typeface="Times New Roman" pitchFamily="18" charset="0"/>
                <a:ea typeface="楷体_GB2312" pitchFamily="49" charset="-122"/>
                <a:cs typeface="+mn-cs"/>
              </a:rPr>
              <a:t>9.3 </a:t>
            </a:r>
            <a:r>
              <a:rPr lang="zh-CN" altLang="en-US" b="1" kern="1200" dirty="0">
                <a:solidFill>
                  <a:srgbClr val="C00000"/>
                </a:solidFill>
                <a:effectLst>
                  <a:outerShdw blurRad="38100" dist="38100" dir="2700000" algn="tl">
                    <a:srgbClr val="000000"/>
                  </a:outerShdw>
                </a:effectLst>
                <a:latin typeface="Times New Roman" pitchFamily="18" charset="0"/>
                <a:ea typeface="楷体_GB2312" pitchFamily="49" charset="-122"/>
                <a:cs typeface="+mn-cs"/>
              </a:rPr>
              <a:t>文件的物理结构与</a:t>
            </a:r>
            <a:r>
              <a:rPr lang="zh-CN" altLang="en-US" b="1" kern="1200" dirty="0" smtClean="0">
                <a:solidFill>
                  <a:srgbClr val="C00000"/>
                </a:solidFill>
                <a:effectLst>
                  <a:outerShdw blurRad="38100" dist="38100" dir="2700000" algn="tl">
                    <a:srgbClr val="000000"/>
                  </a:outerShdw>
                </a:effectLst>
                <a:latin typeface="Times New Roman" pitchFamily="18" charset="0"/>
                <a:ea typeface="楷体_GB2312" pitchFamily="49" charset="-122"/>
                <a:cs typeface="+mn-cs"/>
              </a:rPr>
              <a:t>存储设备 </a:t>
            </a:r>
            <a:endParaRPr lang="zh-CN" altLang="en-US" b="1" kern="1200" dirty="0">
              <a:solidFill>
                <a:srgbClr val="C00000"/>
              </a:solidFill>
              <a:effectLst>
                <a:outerShdw blurRad="38100" dist="38100" dir="2700000" algn="tl">
                  <a:srgbClr val="000000"/>
                </a:outerShdw>
              </a:effectLst>
              <a:latin typeface="Times New Roman" pitchFamily="18" charset="0"/>
              <a:ea typeface="楷体_GB2312" pitchFamily="49" charset="-122"/>
              <a:cs typeface="+mn-cs"/>
            </a:endParaRPr>
          </a:p>
        </p:txBody>
      </p:sp>
      <p:sp>
        <p:nvSpPr>
          <p:cNvPr id="24580" name="Text Box 10"/>
          <p:cNvSpPr txBox="1">
            <a:spLocks noChangeArrowheads="1"/>
          </p:cNvSpPr>
          <p:nvPr/>
        </p:nvSpPr>
        <p:spPr bwMode="auto">
          <a:xfrm>
            <a:off x="87462" y="1844824"/>
            <a:ext cx="8964612" cy="1781898"/>
          </a:xfrm>
          <a:prstGeom prst="rect">
            <a:avLst/>
          </a:prstGeom>
          <a:noFill/>
          <a:ln w="12700" cap="sq">
            <a:noFill/>
            <a:miter lim="800000"/>
            <a:headEnd type="none" w="sm" len="sm"/>
            <a:tailEnd type="none" w="sm" len="sm"/>
          </a:ln>
        </p:spPr>
        <p:txBody>
          <a:bodyPr>
            <a:spAutoFit/>
          </a:bodyPr>
          <a:lstStyle/>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决定了文件信息的存储位置。</a:t>
            </a:r>
          </a:p>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决定了文件的逻辑块号（逻辑地址）到物理块号（物理地址）的变换。</a:t>
            </a: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7" name="矩形 6"/>
          <p:cNvSpPr/>
          <p:nvPr/>
        </p:nvSpPr>
        <p:spPr>
          <a:xfrm>
            <a:off x="1741689" y="927117"/>
            <a:ext cx="5810522" cy="590931"/>
          </a:xfrm>
          <a:prstGeom prst="rect">
            <a:avLst/>
          </a:prstGeom>
          <a:solidFill>
            <a:srgbClr val="00CC00"/>
          </a:solidFill>
        </p:spPr>
        <p:txBody>
          <a:bodyPr wrap="square">
            <a:spAutoFit/>
          </a:bodyPr>
          <a:lstStyle/>
          <a:p>
            <a:pPr indent="-355600" algn="ctr" defTabSz="355600" eaLnBrk="1" hangingPunct="1">
              <a:lnSpc>
                <a:spcPct val="90000"/>
              </a:lnSpc>
              <a:buClr>
                <a:schemeClr val="bg1"/>
              </a:buClr>
              <a:buSzPct val="80000"/>
              <a:defRPr/>
            </a:pPr>
            <a:r>
              <a:rPr lang="zh-CN" altLang="en-US" sz="3600" dirty="0" smtClean="0">
                <a:solidFill>
                  <a:schemeClr val="bg2"/>
                </a:solidFill>
                <a:effectLst>
                  <a:outerShdw blurRad="38100" dist="38100" dir="2700000" algn="tl">
                    <a:srgbClr val="000000"/>
                  </a:outerShdw>
                </a:effectLst>
                <a:latin typeface="Times New Roman" pitchFamily="18" charset="0"/>
                <a:ea typeface="楷体_GB2312" pitchFamily="49" charset="-122"/>
              </a:rPr>
              <a:t>文件</a:t>
            </a:r>
            <a:r>
              <a:rPr lang="zh-CN" altLang="en-US" sz="3600" dirty="0">
                <a:solidFill>
                  <a:schemeClr val="bg2"/>
                </a:solidFill>
                <a:effectLst>
                  <a:outerShdw blurRad="38100" dist="38100" dir="2700000" algn="tl">
                    <a:srgbClr val="000000"/>
                  </a:outerShdw>
                </a:effectLst>
                <a:latin typeface="Times New Roman" pitchFamily="18" charset="0"/>
                <a:ea typeface="楷体_GB2312" pitchFamily="49" charset="-122"/>
              </a:rPr>
              <a:t>的物理</a:t>
            </a:r>
            <a:r>
              <a:rPr lang="zh-CN" altLang="en-US" sz="3600" dirty="0" smtClean="0">
                <a:solidFill>
                  <a:schemeClr val="bg2"/>
                </a:solidFill>
                <a:effectLst>
                  <a:outerShdw blurRad="38100" dist="38100" dir="2700000" algn="tl">
                    <a:srgbClr val="000000"/>
                  </a:outerShdw>
                </a:effectLst>
                <a:latin typeface="Times New Roman" pitchFamily="18" charset="0"/>
                <a:ea typeface="楷体_GB2312" pitchFamily="49" charset="-122"/>
              </a:rPr>
              <a:t>结构</a:t>
            </a:r>
            <a:endParaRPr lang="zh-CN" altLang="en-US" sz="3600" dirty="0">
              <a:solidFill>
                <a:schemeClr val="bg2"/>
              </a:solidFill>
              <a:effectLst>
                <a:outerShdw blurRad="38100" dist="38100" dir="2700000" algn="tl">
                  <a:srgbClr val="000000"/>
                </a:outerShdw>
              </a:effectLst>
              <a:latin typeface="Times New Roman"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1554" name="Rectangle 2"/>
          <p:cNvSpPr>
            <a:spLocks noGrp="1" noChangeArrowheads="1"/>
          </p:cNvSpPr>
          <p:nvPr>
            <p:ph type="title"/>
          </p:nvPr>
        </p:nvSpPr>
        <p:spPr>
          <a:xfrm>
            <a:off x="1979712" y="0"/>
            <a:ext cx="5081588" cy="820738"/>
          </a:xfrm>
        </p:spPr>
        <p:txBody>
          <a:bodyPr/>
          <a:lstStyle/>
          <a:p>
            <a:pPr lvl="2" algn="ctr" defTabSz="355600" eaLnBrk="1" hangingPunct="1">
              <a:lnSpc>
                <a:spcPct val="90000"/>
              </a:lnSpc>
              <a:buClr>
                <a:schemeClr val="bg1"/>
              </a:buClr>
              <a:buSzPct val="80000"/>
              <a:defRPr/>
            </a:pPr>
            <a:r>
              <a:rPr lang="zh-CN" altLang="en-US" sz="4000" b="1" kern="12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物理块和逻辑块</a:t>
            </a:r>
            <a:endPar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791555" name="Rectangle 3"/>
          <p:cNvSpPr>
            <a:spLocks noGrp="1" noChangeArrowheads="1"/>
          </p:cNvSpPr>
          <p:nvPr>
            <p:ph type="body" idx="1"/>
          </p:nvPr>
        </p:nvSpPr>
        <p:spPr>
          <a:xfrm>
            <a:off x="-29302" y="1916832"/>
            <a:ext cx="8964613" cy="2880990"/>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物理块</a:t>
            </a:r>
            <a:endParaRPr lang="en-US" altLang="zh-CN" sz="3600" b="1" kern="1200" dirty="0">
              <a:solidFill>
                <a:schemeClr val="bg1"/>
              </a:solidFill>
              <a:latin typeface="+mj-lt"/>
              <a:ea typeface="楷体" panose="02010609060101010101" pitchFamily="49" charset="-122"/>
              <a:cs typeface="+mn-cs"/>
            </a:endParaRPr>
          </a:p>
          <a:p>
            <a:pPr marL="400050" lvl="2" indent="0" eaLnBrk="1" hangingPunct="1">
              <a:lnSpc>
                <a:spcPct val="90000"/>
              </a:lnSpc>
              <a:spcBef>
                <a:spcPct val="5000"/>
              </a:spcBef>
              <a:buClr>
                <a:schemeClr val="bg1">
                  <a:lumMod val="75000"/>
                </a:schemeClr>
              </a:buClr>
              <a:buSzPct val="90000"/>
              <a:buNone/>
              <a:defRPr/>
            </a:pPr>
            <a:r>
              <a:rPr lang="zh-CN" altLang="en-US" sz="3200" b="1" kern="1200" dirty="0" smtClean="0">
                <a:solidFill>
                  <a:schemeClr val="bg2"/>
                </a:solidFill>
                <a:latin typeface="+mj-lt"/>
                <a:ea typeface="楷体" panose="02010609060101010101" pitchFamily="49" charset="-122"/>
                <a:cs typeface="+mn-cs"/>
              </a:rPr>
              <a:t>文件</a:t>
            </a:r>
            <a:r>
              <a:rPr lang="zh-CN" altLang="en-US" sz="3200" b="1" kern="1200" dirty="0">
                <a:solidFill>
                  <a:schemeClr val="bg2"/>
                </a:solidFill>
                <a:latin typeface="+mj-lt"/>
                <a:ea typeface="楷体" panose="02010609060101010101" pitchFamily="49" charset="-122"/>
                <a:cs typeface="+mn-cs"/>
              </a:rPr>
              <a:t>的存储设备划分为若干个大小相等的块，长度为</a:t>
            </a:r>
            <a:r>
              <a:rPr lang="en-US" altLang="zh-CN" sz="3200" b="1" kern="1200" dirty="0">
                <a:solidFill>
                  <a:schemeClr val="bg2"/>
                </a:solidFill>
                <a:latin typeface="+mj-lt"/>
                <a:ea typeface="楷体" panose="02010609060101010101" pitchFamily="49" charset="-122"/>
                <a:cs typeface="+mn-cs"/>
              </a:rPr>
              <a:t>512</a:t>
            </a:r>
            <a:r>
              <a:rPr lang="zh-CN" altLang="en-US" sz="3200" b="1" kern="1200" dirty="0">
                <a:solidFill>
                  <a:schemeClr val="bg2"/>
                </a:solidFill>
                <a:latin typeface="+mj-lt"/>
                <a:ea typeface="楷体" panose="02010609060101010101" pitchFamily="49" charset="-122"/>
                <a:cs typeface="+mn-cs"/>
              </a:rPr>
              <a:t>或</a:t>
            </a:r>
            <a:r>
              <a:rPr lang="en-US" altLang="zh-CN" sz="3200" b="1" kern="1200" dirty="0">
                <a:solidFill>
                  <a:schemeClr val="bg2"/>
                </a:solidFill>
                <a:latin typeface="+mj-lt"/>
                <a:ea typeface="楷体" panose="02010609060101010101" pitchFamily="49" charset="-122"/>
                <a:cs typeface="+mn-cs"/>
              </a:rPr>
              <a:t>1024</a:t>
            </a:r>
            <a:r>
              <a:rPr lang="zh-CN" altLang="en-US" sz="3200" b="1" kern="1200" dirty="0">
                <a:solidFill>
                  <a:schemeClr val="bg2"/>
                </a:solidFill>
                <a:latin typeface="+mj-lt"/>
                <a:ea typeface="楷体" panose="02010609060101010101" pitchFamily="49" charset="-122"/>
                <a:cs typeface="+mn-cs"/>
              </a:rPr>
              <a:t>字节。</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逻辑块</a:t>
            </a:r>
            <a:endParaRPr lang="en-US" altLang="zh-CN" sz="3600" b="1" kern="1200" dirty="0">
              <a:solidFill>
                <a:schemeClr val="bg1"/>
              </a:solidFill>
              <a:latin typeface="+mj-lt"/>
              <a:ea typeface="楷体" panose="02010609060101010101" pitchFamily="49" charset="-122"/>
              <a:cs typeface="+mn-cs"/>
            </a:endParaRPr>
          </a:p>
          <a:p>
            <a:pPr marL="0" lvl="1" indent="0" eaLnBrk="1" hangingPunct="1">
              <a:lnSpc>
                <a:spcPct val="90000"/>
              </a:lnSpc>
              <a:spcBef>
                <a:spcPct val="5000"/>
              </a:spcBef>
              <a:buClr>
                <a:schemeClr val="bg1">
                  <a:lumMod val="75000"/>
                </a:schemeClr>
              </a:buClr>
              <a:buSzPct val="90000"/>
              <a:buNone/>
              <a:defRPr/>
            </a:pPr>
            <a:r>
              <a:rPr lang="en-US" altLang="zh-CN" sz="3200" b="1" kern="1200" dirty="0">
                <a:solidFill>
                  <a:schemeClr val="bg1">
                    <a:lumMod val="75000"/>
                  </a:schemeClr>
                </a:solidFill>
                <a:latin typeface="+mj-lt"/>
                <a:ea typeface="楷体" panose="02010609060101010101" pitchFamily="49" charset="-122"/>
                <a:cs typeface="+mn-cs"/>
              </a:rPr>
              <a:t> </a:t>
            </a:r>
            <a:r>
              <a:rPr lang="en-US" altLang="zh-CN" sz="3200" b="1" kern="1200" dirty="0" smtClean="0">
                <a:solidFill>
                  <a:schemeClr val="bg1">
                    <a:lumMod val="75000"/>
                  </a:schemeClr>
                </a:solidFill>
                <a:latin typeface="+mj-lt"/>
                <a:ea typeface="楷体" panose="02010609060101010101" pitchFamily="49" charset="-122"/>
                <a:cs typeface="+mn-cs"/>
              </a:rPr>
              <a:t>   </a:t>
            </a:r>
            <a:r>
              <a:rPr lang="zh-CN" altLang="en-US" sz="3200" b="1" kern="1200" dirty="0" smtClean="0">
                <a:solidFill>
                  <a:schemeClr val="bg2"/>
                </a:solidFill>
                <a:latin typeface="+mj-lt"/>
                <a:ea typeface="楷体" panose="02010609060101010101" pitchFamily="49" charset="-122"/>
                <a:cs typeface="+mn-cs"/>
              </a:rPr>
              <a:t>把</a:t>
            </a:r>
            <a:r>
              <a:rPr lang="zh-CN" altLang="en-US" sz="3200" b="1" kern="1200" dirty="0">
                <a:solidFill>
                  <a:schemeClr val="bg2"/>
                </a:solidFill>
                <a:latin typeface="+mj-lt"/>
                <a:ea typeface="楷体" panose="02010609060101010101" pitchFamily="49" charset="-122"/>
                <a:cs typeface="+mn-cs"/>
              </a:rPr>
              <a:t>文件信息划分为与物理块大小相等的块</a:t>
            </a: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6" name="矩形 5"/>
          <p:cNvSpPr/>
          <p:nvPr/>
        </p:nvSpPr>
        <p:spPr>
          <a:xfrm>
            <a:off x="611560" y="927117"/>
            <a:ext cx="7992887" cy="590931"/>
          </a:xfrm>
          <a:prstGeom prst="rect">
            <a:avLst/>
          </a:prstGeom>
          <a:solidFill>
            <a:srgbClr val="00CC00"/>
          </a:solidFill>
        </p:spPr>
        <p:txBody>
          <a:bodyPr wrap="square">
            <a:spAutoFit/>
          </a:bodyPr>
          <a:lstStyle/>
          <a:p>
            <a:pPr indent="-355600" algn="ctr" defTabSz="355600" eaLnBrk="1" hangingPunct="1">
              <a:lnSpc>
                <a:spcPct val="90000"/>
              </a:lnSpc>
              <a:buClr>
                <a:schemeClr val="bg1"/>
              </a:buClr>
              <a:buSzPct val="80000"/>
              <a:defRPr/>
            </a:pPr>
            <a:r>
              <a:rPr lang="zh-CN" altLang="en-US" sz="3600" dirty="0" smtClean="0">
                <a:solidFill>
                  <a:schemeClr val="bg2"/>
                </a:solidFill>
                <a:effectLst>
                  <a:outerShdw blurRad="38100" dist="38100" dir="2700000" algn="tl">
                    <a:srgbClr val="000000"/>
                  </a:outerShdw>
                </a:effectLst>
                <a:latin typeface="Times New Roman" pitchFamily="18" charset="0"/>
                <a:ea typeface="楷体_GB2312" pitchFamily="49" charset="-122"/>
              </a:rPr>
              <a:t>“块”</a:t>
            </a:r>
            <a:r>
              <a:rPr lang="zh-CN" altLang="en-US" sz="3600" dirty="0">
                <a:solidFill>
                  <a:schemeClr val="bg2"/>
                </a:solidFill>
                <a:effectLst>
                  <a:outerShdw blurRad="38100" dist="38100" dir="2700000" algn="tl">
                    <a:srgbClr val="000000"/>
                  </a:outerShdw>
                </a:effectLst>
                <a:latin typeface="Times New Roman" pitchFamily="18" charset="0"/>
                <a:ea typeface="楷体_GB2312" pitchFamily="49" charset="-122"/>
              </a:rPr>
              <a:t>作为分配和传送信息的</a:t>
            </a:r>
            <a:r>
              <a:rPr lang="zh-CN" altLang="en-US" sz="3600" dirty="0" smtClean="0">
                <a:solidFill>
                  <a:schemeClr val="bg2"/>
                </a:solidFill>
                <a:effectLst>
                  <a:outerShdw blurRad="38100" dist="38100" dir="2700000" algn="tl">
                    <a:srgbClr val="000000"/>
                  </a:outerShdw>
                </a:effectLst>
                <a:latin typeface="Times New Roman" pitchFamily="18" charset="0"/>
                <a:ea typeface="楷体_GB2312" pitchFamily="49" charset="-122"/>
              </a:rPr>
              <a:t>基本单位</a:t>
            </a:r>
            <a:endParaRPr lang="zh-CN" altLang="en-US" sz="3600" dirty="0">
              <a:solidFill>
                <a:schemeClr val="bg2"/>
              </a:solidFill>
              <a:effectLst>
                <a:outerShdw blurRad="38100" dist="38100" dir="2700000" algn="tl">
                  <a:srgbClr val="000000"/>
                </a:outerShdw>
              </a:effectLst>
              <a:latin typeface="Times New Roman"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8"/>
          <p:cNvSpPr>
            <a:spLocks noChangeArrowheads="1"/>
          </p:cNvSpPr>
          <p:nvPr/>
        </p:nvSpPr>
        <p:spPr bwMode="auto">
          <a:xfrm>
            <a:off x="1878332" y="0"/>
            <a:ext cx="5545137" cy="827150"/>
          </a:xfrm>
          <a:prstGeom prst="rect">
            <a:avLst/>
          </a:prstGeom>
          <a:noFill/>
          <a:ln w="12700" cap="sq">
            <a:noFill/>
            <a:miter lim="800000"/>
            <a:headEnd type="none" w="sm" len="sm"/>
            <a:tailEnd type="none" w="sm" len="sm"/>
          </a:ln>
          <a:effectLst/>
        </p:spPr>
        <p:txBody>
          <a:bodyPr>
            <a:spAutoFit/>
          </a:bodyPr>
          <a:lstStyle/>
          <a:p>
            <a:pPr lvl="1" indent="-285750" algn="ctr" eaLnBrk="1" hangingPunct="1">
              <a:lnSpc>
                <a:spcPct val="120000"/>
              </a:lnSpc>
              <a:buClr>
                <a:srgbClr val="FFABFF"/>
              </a:buClr>
              <a:buSzPct val="90000"/>
              <a:buFont typeface="Symbol" pitchFamily="18" charset="2"/>
              <a:buNone/>
              <a:defRPr/>
            </a:pPr>
            <a:r>
              <a:rPr lang="en-US" altLang="zh-CN" sz="4400" dirty="0">
                <a:solidFill>
                  <a:srgbClr val="B2622C"/>
                </a:solidFill>
                <a:effectLst>
                  <a:outerShdw blurRad="38100" dist="38100" dir="2700000" algn="tl">
                    <a:srgbClr val="000000"/>
                  </a:outerShdw>
                </a:effectLst>
                <a:latin typeface="+mj-lt"/>
                <a:ea typeface="楷体_GB2312" pitchFamily="49" charset="-122"/>
                <a:cs typeface="+mj-cs"/>
              </a:rPr>
              <a:t>9.3.1 </a:t>
            </a:r>
            <a:r>
              <a:rPr lang="zh-CN" altLang="en-US" sz="4400" dirty="0">
                <a:solidFill>
                  <a:srgbClr val="B2622C"/>
                </a:solidFill>
                <a:effectLst>
                  <a:outerShdw blurRad="38100" dist="38100" dir="2700000" algn="tl">
                    <a:srgbClr val="000000"/>
                  </a:outerShdw>
                </a:effectLst>
                <a:latin typeface="+mj-lt"/>
                <a:ea typeface="楷体_GB2312" pitchFamily="49" charset="-122"/>
                <a:cs typeface="+mj-cs"/>
              </a:rPr>
              <a:t>文件的物理结构</a:t>
            </a:r>
          </a:p>
        </p:txBody>
      </p:sp>
      <p:sp>
        <p:nvSpPr>
          <p:cNvPr id="4" name="矩形 3"/>
          <p:cNvSpPr/>
          <p:nvPr/>
        </p:nvSpPr>
        <p:spPr>
          <a:xfrm>
            <a:off x="2428875" y="1143000"/>
            <a:ext cx="5330305" cy="732893"/>
          </a:xfrm>
          <a:prstGeom prst="rect">
            <a:avLst/>
          </a:prstGeom>
        </p:spPr>
        <p:txBody>
          <a:bodyPr wrap="none">
            <a:spAutoFit/>
          </a:bodyPr>
          <a:lstStyle/>
          <a:p>
            <a:pPr marL="342900" indent="-342900" algn="ctr">
              <a:lnSpc>
                <a:spcPct val="120000"/>
              </a:lnSpc>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连续结构（顺序结构）</a:t>
            </a:r>
          </a:p>
        </p:txBody>
      </p:sp>
      <p:sp>
        <p:nvSpPr>
          <p:cNvPr id="5" name="矩形 4"/>
          <p:cNvSpPr/>
          <p:nvPr/>
        </p:nvSpPr>
        <p:spPr>
          <a:xfrm>
            <a:off x="2500313" y="2357438"/>
            <a:ext cx="4301177" cy="732893"/>
          </a:xfrm>
          <a:prstGeom prst="rect">
            <a:avLst/>
          </a:prstGeom>
        </p:spPr>
        <p:txBody>
          <a:bodyPr wrap="none">
            <a:spAutoFit/>
          </a:bodyPr>
          <a:lstStyle/>
          <a:p>
            <a:pPr marL="342900" indent="-342900" algn="ctr">
              <a:lnSpc>
                <a:spcPct val="120000"/>
              </a:lnSpc>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链接（串联）结构</a:t>
            </a:r>
          </a:p>
        </p:txBody>
      </p:sp>
      <p:sp>
        <p:nvSpPr>
          <p:cNvPr id="6" name="矩形 5"/>
          <p:cNvSpPr/>
          <p:nvPr/>
        </p:nvSpPr>
        <p:spPr>
          <a:xfrm>
            <a:off x="2500313" y="3500438"/>
            <a:ext cx="2722562" cy="732893"/>
          </a:xfrm>
          <a:prstGeom prst="rect">
            <a:avLst/>
          </a:prstGeom>
        </p:spPr>
        <p:txBody>
          <a:bodyPr>
            <a:spAutoFit/>
          </a:bodyPr>
          <a:lstStyle/>
          <a:p>
            <a:pPr marL="342900" indent="-342900" algn="ctr">
              <a:lnSpc>
                <a:spcPct val="120000"/>
              </a:lnSpc>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索引结构</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9509" name="Rectangle 5"/>
          <p:cNvSpPr>
            <a:spLocks noGrp="1" noChangeArrowheads="1"/>
          </p:cNvSpPr>
          <p:nvPr>
            <p:ph type="body" sz="half" idx="1"/>
          </p:nvPr>
        </p:nvSpPr>
        <p:spPr>
          <a:xfrm>
            <a:off x="-61433" y="646432"/>
            <a:ext cx="9442384" cy="1201737"/>
          </a:xfrm>
        </p:spPr>
        <p:txBody>
          <a:bodyPr/>
          <a:lstStyle/>
          <a:p>
            <a:pPr marL="446088" lvl="1" indent="-446088" eaLnBrk="1" hangingPunct="1">
              <a:lnSpc>
                <a:spcPct val="90000"/>
              </a:lnSpc>
              <a:spcBef>
                <a:spcPct val="500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逻辑上连续的文件信息依次存放到连续的物理块。</a:t>
            </a:r>
          </a:p>
          <a:p>
            <a:pPr marL="446088" lvl="1" indent="-446088" eaLnBrk="1" hangingPunct="1">
              <a:lnSpc>
                <a:spcPct val="90000"/>
              </a:lnSpc>
              <a:spcBef>
                <a:spcPct val="5000"/>
              </a:spcBef>
              <a:buClr>
                <a:schemeClr val="bg2"/>
              </a:buClr>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目录项：始址、总块数、最后一块字节数。</a:t>
            </a:r>
          </a:p>
        </p:txBody>
      </p:sp>
      <p:grpSp>
        <p:nvGrpSpPr>
          <p:cNvPr id="45062" name="Group 3"/>
          <p:cNvGrpSpPr>
            <a:grpSpLocks/>
          </p:cNvGrpSpPr>
          <p:nvPr/>
        </p:nvGrpSpPr>
        <p:grpSpPr bwMode="auto">
          <a:xfrm>
            <a:off x="2123728" y="2155446"/>
            <a:ext cx="5072062" cy="4000500"/>
            <a:chOff x="754" y="283"/>
            <a:chExt cx="4221" cy="3696"/>
          </a:xfrm>
        </p:grpSpPr>
        <p:pic>
          <p:nvPicPr>
            <p:cNvPr id="45064" name="Picture 4"/>
            <p:cNvPicPr>
              <a:picLocks noChangeAspect="1" noChangeArrowheads="1"/>
            </p:cNvPicPr>
            <p:nvPr/>
          </p:nvPicPr>
          <p:blipFill>
            <a:blip r:embed="rId3">
              <a:extLst>
                <a:ext uri="{28A0092B-C50C-407E-A947-70E740481C1C}">
                  <a14:useLocalDpi xmlns:a14="http://schemas.microsoft.com/office/drawing/2010/main" val="0"/>
                </a:ext>
              </a:extLst>
            </a:blip>
            <a:srcRect l="14819" t="5881" r="14653" b="1823"/>
            <a:stretch>
              <a:fillRect/>
            </a:stretch>
          </p:blipFill>
          <p:spPr bwMode="auto">
            <a:xfrm>
              <a:off x="754" y="283"/>
              <a:ext cx="4221" cy="3696"/>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45065" name="Line 5"/>
            <p:cNvSpPr>
              <a:spLocks noChangeShapeType="1"/>
            </p:cNvSpPr>
            <p:nvPr/>
          </p:nvSpPr>
          <p:spPr bwMode="auto">
            <a:xfrm>
              <a:off x="3008" y="805"/>
              <a:ext cx="192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15" name="矩形 14"/>
          <p:cNvSpPr/>
          <p:nvPr/>
        </p:nvSpPr>
        <p:spPr>
          <a:xfrm>
            <a:off x="1070484" y="-12374"/>
            <a:ext cx="7178550" cy="830997"/>
          </a:xfrm>
          <a:prstGeom prst="rect">
            <a:avLst/>
          </a:prstGeom>
        </p:spPr>
        <p:txBody>
          <a:bodyPr wrap="square">
            <a:spAutoFit/>
          </a:bodyPr>
          <a:lstStyle/>
          <a:p>
            <a:pPr marL="342900" indent="-342900" algn="ctr">
              <a:lnSpc>
                <a:spcPct val="120000"/>
              </a:lnSpc>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连续结构（顺序结构</a:t>
            </a:r>
            <a:r>
              <a:rPr lang="zh-CN" altLang="en-US" sz="4000" dirty="0" smtClean="0">
                <a:solidFill>
                  <a:srgbClr val="B2622C"/>
                </a:solidFill>
                <a:effectLst>
                  <a:outerShdw blurRad="38100" dist="38100" dir="2700000" algn="tl">
                    <a:srgbClr val="000000"/>
                  </a:outerShdw>
                </a:effectLst>
                <a:ea typeface="楷体_GB2312" pitchFamily="49" charset="-122"/>
              </a:rPr>
              <a:t>）（</a:t>
            </a:r>
            <a:r>
              <a:rPr lang="en-US" altLang="zh-CN" sz="4000" dirty="0">
                <a:solidFill>
                  <a:srgbClr val="B2622C"/>
                </a:solidFill>
                <a:effectLst>
                  <a:outerShdw blurRad="38100" dist="38100" dir="2700000" algn="tl">
                    <a:srgbClr val="000000"/>
                  </a:outerShdw>
                </a:effectLst>
                <a:ea typeface="楷体_GB2312" pitchFamily="49" charset="-122"/>
              </a:rPr>
              <a:t>1</a:t>
            </a:r>
            <a:r>
              <a:rPr lang="zh-CN" altLang="en-US" sz="4000" dirty="0">
                <a:solidFill>
                  <a:srgbClr val="B2622C"/>
                </a:solidFill>
                <a:effectLst>
                  <a:outerShdw blurRad="38100" dist="38100" dir="2700000" algn="tl">
                    <a:srgbClr val="000000"/>
                  </a:outerShdw>
                </a:effectLst>
                <a:ea typeface="楷体_GB2312" pitchFamily="49" charset="-122"/>
              </a:rPr>
              <a:t>）</a:t>
            </a:r>
          </a:p>
        </p:txBody>
      </p:sp>
      <p:sp>
        <p:nvSpPr>
          <p:cNvPr id="10" name="文本框 9">
            <a:extLst>
              <a:ext uri="{FF2B5EF4-FFF2-40B4-BE49-F238E27FC236}">
                <a16:creationId xmlns:a16="http://schemas.microsoft.com/office/drawing/2014/main" id="{0992A92D-3FED-4562-800D-651BF39FB349}"/>
              </a:ext>
            </a:extLst>
          </p:cNvPr>
          <p:cNvSpPr txBox="1"/>
          <p:nvPr/>
        </p:nvSpPr>
        <p:spPr>
          <a:xfrm>
            <a:off x="2101964" y="6320842"/>
            <a:ext cx="4635326" cy="400110"/>
          </a:xfrm>
          <a:prstGeom prst="rect">
            <a:avLst/>
          </a:prstGeom>
          <a:noFill/>
        </p:spPr>
        <p:txBody>
          <a:bodyPr wrap="square" rtlCol="0">
            <a:spAutoFit/>
          </a:bodyPr>
          <a:lstStyle/>
          <a:p>
            <a:pPr algn="ctr"/>
            <a:r>
              <a:rPr lang="zh-CN" altLang="en-US" sz="2000" b="1" dirty="0">
                <a:solidFill>
                  <a:schemeClr val="bg2"/>
                </a:solidFill>
              </a:rPr>
              <a:t>图 </a:t>
            </a:r>
            <a:r>
              <a:rPr lang="en-US" altLang="zh-CN" sz="2000" b="1" dirty="0" smtClean="0">
                <a:solidFill>
                  <a:schemeClr val="bg2"/>
                </a:solidFill>
              </a:rPr>
              <a:t>11-5 </a:t>
            </a:r>
            <a:r>
              <a:rPr lang="zh-CN" altLang="en-US" sz="2000" b="1" dirty="0" smtClean="0">
                <a:solidFill>
                  <a:schemeClr val="bg2"/>
                </a:solidFill>
              </a:rPr>
              <a:t>磁盘空间的连续分配</a:t>
            </a:r>
            <a:endParaRPr lang="zh-CN" altLang="en-US" sz="2000" b="1" dirty="0">
              <a:solidFill>
                <a:schemeClr val="bg2"/>
              </a:solidFill>
            </a:endParaRPr>
          </a:p>
        </p:txBody>
      </p:sp>
      <p:sp>
        <p:nvSpPr>
          <p:cNvPr id="9"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5"/>
          <p:cNvSpPr txBox="1">
            <a:spLocks noChangeArrowheads="1"/>
          </p:cNvSpPr>
          <p:nvPr/>
        </p:nvSpPr>
        <p:spPr>
          <a:xfrm>
            <a:off x="0" y="620688"/>
            <a:ext cx="9162196" cy="4536503"/>
          </a:xfrm>
          <a:prstGeom prst="rect">
            <a:avLst/>
          </a:prstGeom>
          <a:noFill/>
          <a:ln/>
        </p:spPr>
        <p:txBody>
          <a:bodyPr/>
          <a:lstStyle/>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smtClean="0">
                <a:solidFill>
                  <a:schemeClr val="bg1"/>
                </a:solidFill>
                <a:effectLst>
                  <a:outerShdw blurRad="38100" dist="38100" dir="2700000" algn="tl">
                    <a:srgbClr val="000000"/>
                  </a:outerShdw>
                </a:effectLst>
                <a:latin typeface="+mj-lt"/>
                <a:ea typeface="楷体" panose="02010609060101010101" pitchFamily="49" charset="-122"/>
              </a:rPr>
              <a:t>优点</a:t>
            </a:r>
            <a:endParaRPr lang="en-US" altLang="zh-CN" sz="3600" dirty="0" smtClean="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ts val="4500"/>
              </a:lnSpc>
              <a:buClr>
                <a:schemeClr val="bg1">
                  <a:lumMod val="75000"/>
                </a:schemeClr>
              </a:buClr>
              <a:buSzPct val="80000"/>
              <a:buFont typeface="Wingdings" panose="05000000000000000000" pitchFamily="2" charset="2"/>
              <a:buChar char="n"/>
              <a:tabLst>
                <a:tab pos="990600" algn="l"/>
              </a:tabLst>
              <a:defRPr/>
            </a:pPr>
            <a:r>
              <a:rPr lang="zh-CN" altLang="en-US" dirty="0" smtClean="0">
                <a:solidFill>
                  <a:schemeClr val="bg1"/>
                </a:solidFill>
                <a:effectLst>
                  <a:outerShdw blurRad="38100" dist="38100" dir="2700000" algn="tl">
                    <a:srgbClr val="000000"/>
                  </a:outerShdw>
                </a:effectLst>
                <a:latin typeface="+mj-lt"/>
                <a:ea typeface="楷体" panose="02010609060101010101" pitchFamily="49" charset="-122"/>
              </a:rPr>
              <a:t>访问时寻道时间短、随机访问速度快</a:t>
            </a:r>
            <a:endParaRPr lang="en-US" altLang="zh-CN" dirty="0" smtClean="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ts val="4500"/>
              </a:lnSpc>
              <a:buClr>
                <a:schemeClr val="bg1">
                  <a:lumMod val="75000"/>
                </a:schemeClr>
              </a:buClr>
              <a:buSzPct val="80000"/>
              <a:buFont typeface="Wingdings" panose="05000000000000000000" pitchFamily="2" charset="2"/>
              <a:buChar char="n"/>
              <a:tabLst>
                <a:tab pos="990600" algn="l"/>
              </a:tabLst>
              <a:defRPr/>
            </a:pPr>
            <a:r>
              <a:rPr lang="zh-CN" altLang="en-US" dirty="0" smtClean="0">
                <a:solidFill>
                  <a:schemeClr val="bg1"/>
                </a:solidFill>
                <a:effectLst>
                  <a:outerShdw blurRad="38100" dist="38100" dir="2700000" algn="tl">
                    <a:srgbClr val="000000"/>
                  </a:outerShdw>
                </a:effectLst>
                <a:latin typeface="+mj-lt"/>
                <a:ea typeface="楷体" panose="02010609060101010101" pitchFamily="49" charset="-122"/>
              </a:rPr>
              <a:t>没有指针的空间开销（链式、索引）</a:t>
            </a:r>
            <a:endParaRPr lang="en-US" altLang="zh-CN" dirty="0" smtClean="0">
              <a:solidFill>
                <a:schemeClr val="bg1"/>
              </a:solidFill>
              <a:effectLst>
                <a:outerShdw blurRad="38100" dist="38100" dir="2700000" algn="tl">
                  <a:srgbClr val="000000"/>
                </a:outerShdw>
              </a:effectLst>
              <a:latin typeface="+mj-lt"/>
              <a:ea typeface="楷体" panose="02010609060101010101" pitchFamily="49" charset="-122"/>
            </a:endParaRPr>
          </a:p>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smtClean="0">
                <a:solidFill>
                  <a:schemeClr val="bg1"/>
                </a:solidFill>
                <a:effectLst>
                  <a:outerShdw blurRad="38100" dist="38100" dir="2700000" algn="tl">
                    <a:srgbClr val="000000"/>
                  </a:outerShdw>
                </a:effectLst>
                <a:latin typeface="+mj-lt"/>
                <a:ea typeface="楷体" panose="02010609060101010101" pitchFamily="49" charset="-122"/>
              </a:rPr>
              <a:t>缺点</a:t>
            </a:r>
          </a:p>
          <a:p>
            <a:pPr marL="903288" lvl="2" indent="-446088" eaLnBrk="1" hangingPunct="1">
              <a:lnSpc>
                <a:spcPct val="90000"/>
              </a:lnSpc>
              <a:spcBef>
                <a:spcPct val="5000"/>
              </a:spcBef>
              <a:buClr>
                <a:schemeClr val="bg2"/>
              </a:buClr>
              <a:buSzPct val="80000"/>
              <a:buFont typeface="Wingdings" panose="05000000000000000000" pitchFamily="2" charset="2"/>
              <a:buChar char="n"/>
              <a:defRPr/>
            </a:pPr>
            <a:r>
              <a:rPr lang="zh-CN" altLang="en-US" dirty="0" smtClean="0">
                <a:solidFill>
                  <a:schemeClr val="bg2"/>
                </a:solidFill>
                <a:effectLst>
                  <a:outerShdw blurRad="38100" dist="38100" dir="2700000" algn="tl">
                    <a:srgbClr val="000000"/>
                  </a:outerShdw>
                </a:effectLst>
                <a:latin typeface="+mj-lt"/>
                <a:ea typeface="楷体" panose="02010609060101010101" pitchFamily="49" charset="-122"/>
              </a:rPr>
              <a:t>建立文件时确定长度，</a:t>
            </a:r>
            <a:r>
              <a:rPr lang="zh-CN" altLang="en-US" dirty="0" smtClean="0">
                <a:solidFill>
                  <a:schemeClr val="bg1"/>
                </a:solidFill>
                <a:effectLst>
                  <a:outerShdw blurRad="38100" dist="38100" dir="2700000" algn="tl">
                    <a:srgbClr val="000000"/>
                  </a:outerShdw>
                </a:effectLst>
                <a:latin typeface="+mj-lt"/>
                <a:ea typeface="楷体" panose="02010609060101010101" pitchFamily="49" charset="-122"/>
              </a:rPr>
              <a:t>不能</a:t>
            </a:r>
            <a:r>
              <a:rPr lang="zh-CN" altLang="en-US" dirty="0">
                <a:solidFill>
                  <a:schemeClr val="bg1"/>
                </a:solidFill>
                <a:effectLst>
                  <a:outerShdw blurRad="38100" dist="38100" dir="2700000" algn="tl">
                    <a:srgbClr val="000000"/>
                  </a:outerShdw>
                </a:effectLst>
                <a:latin typeface="+mj-lt"/>
                <a:ea typeface="楷体" panose="02010609060101010101" pitchFamily="49" charset="-122"/>
              </a:rPr>
              <a:t>动态</a:t>
            </a:r>
            <a:r>
              <a:rPr lang="zh-CN" altLang="en-US" dirty="0" smtClean="0">
                <a:solidFill>
                  <a:schemeClr val="bg1"/>
                </a:solidFill>
                <a:effectLst>
                  <a:outerShdw blurRad="38100" dist="38100" dir="2700000" algn="tl">
                    <a:srgbClr val="000000"/>
                  </a:outerShdw>
                </a:effectLst>
                <a:latin typeface="+mj-lt"/>
                <a:ea typeface="楷体" panose="02010609060101010101" pitchFamily="49" charset="-122"/>
              </a:rPr>
              <a:t>增长</a:t>
            </a:r>
            <a:endParaRPr lang="en-US" altLang="zh-CN" dirty="0" smtClean="0">
              <a:solidFill>
                <a:schemeClr val="bg1"/>
              </a:solidFill>
              <a:effectLst>
                <a:outerShdw blurRad="38100" dist="38100" dir="2700000" algn="tl">
                  <a:srgbClr val="000000"/>
                </a:outerShdw>
              </a:effectLst>
              <a:latin typeface="+mj-lt"/>
              <a:ea typeface="楷体" panose="02010609060101010101" pitchFamily="49" charset="-122"/>
            </a:endParaRPr>
          </a:p>
          <a:p>
            <a:pPr marL="903288" lvl="2" indent="-446088" eaLnBrk="1" hangingPunct="1">
              <a:lnSpc>
                <a:spcPct val="90000"/>
              </a:lnSpc>
              <a:spcBef>
                <a:spcPct val="5000"/>
              </a:spcBef>
              <a:buClr>
                <a:schemeClr val="bg2"/>
              </a:buClr>
              <a:buSzPct val="80000"/>
              <a:buFont typeface="Wingdings" panose="05000000000000000000" pitchFamily="2" charset="2"/>
              <a:buChar char="n"/>
              <a:defRPr/>
            </a:pPr>
            <a:r>
              <a:rPr lang="zh-CN" altLang="en-US" dirty="0" smtClean="0">
                <a:solidFill>
                  <a:schemeClr val="bg1"/>
                </a:solidFill>
                <a:effectLst>
                  <a:outerShdw blurRad="38100" dist="38100" dir="2700000" algn="tl">
                    <a:srgbClr val="000000"/>
                  </a:outerShdw>
                </a:effectLst>
                <a:latin typeface="+mj-lt"/>
                <a:ea typeface="楷体" panose="02010609060101010101" pitchFamily="49" charset="-122"/>
              </a:rPr>
              <a:t>外碎片</a:t>
            </a:r>
            <a:endParaRPr lang="zh-CN" altLang="en-US" dirty="0">
              <a:solidFill>
                <a:schemeClr val="bg2"/>
              </a:solidFill>
              <a:effectLst>
                <a:outerShdw blurRad="38100" dist="38100" dir="2700000" algn="tl">
                  <a:srgbClr val="000000"/>
                </a:outerShdw>
              </a:effectLst>
              <a:latin typeface="+mj-lt"/>
              <a:ea typeface="楷体" panose="02010609060101010101" pitchFamily="49" charset="-122"/>
            </a:endParaRPr>
          </a:p>
          <a:p>
            <a:pPr marL="903288" lvl="2" indent="-446088" eaLnBrk="1" hangingPunct="1">
              <a:lnSpc>
                <a:spcPct val="90000"/>
              </a:lnSpc>
              <a:spcBef>
                <a:spcPct val="5000"/>
              </a:spcBef>
              <a:buClr>
                <a:schemeClr val="bg2"/>
              </a:buClr>
              <a:buSzPct val="80000"/>
              <a:buFont typeface="Wingdings" panose="05000000000000000000" pitchFamily="2" charset="2"/>
              <a:buChar char="n"/>
              <a:defRPr/>
            </a:pPr>
            <a:r>
              <a:rPr lang="zh-CN" altLang="en-US" dirty="0">
                <a:solidFill>
                  <a:schemeClr val="bg1"/>
                </a:solidFill>
                <a:effectLst>
                  <a:outerShdw blurRad="38100" dist="38100" dir="2700000" algn="tl">
                    <a:srgbClr val="000000"/>
                  </a:outerShdw>
                </a:effectLst>
                <a:latin typeface="+mj-lt"/>
                <a:ea typeface="楷体" panose="02010609060101010101" pitchFamily="49" charset="-122"/>
              </a:rPr>
              <a:t>不宜存放</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用户文件、数据库文件等</a:t>
            </a:r>
            <a:r>
              <a:rPr lang="zh-CN" altLang="en-US" dirty="0">
                <a:solidFill>
                  <a:schemeClr val="bg1"/>
                </a:solidFill>
                <a:effectLst>
                  <a:outerShdw blurRad="38100" dist="38100" dir="2700000" algn="tl">
                    <a:srgbClr val="000000"/>
                  </a:outerShdw>
                </a:effectLst>
                <a:latin typeface="+mj-lt"/>
                <a:ea typeface="楷体" panose="02010609060101010101" pitchFamily="49" charset="-122"/>
              </a:rPr>
              <a:t>经常被修改的文件。</a:t>
            </a:r>
            <a:endParaRPr lang="en-US" altLang="zh-CN" dirty="0">
              <a:solidFill>
                <a:schemeClr val="bg1"/>
              </a:solidFill>
              <a:effectLst>
                <a:outerShdw blurRad="38100" dist="38100" dir="2700000" algn="tl">
                  <a:srgbClr val="000000"/>
                </a:outerShdw>
              </a:effectLst>
              <a:latin typeface="+mj-lt"/>
              <a:ea typeface="楷体" panose="02010609060101010101" pitchFamily="49" charset="-122"/>
            </a:endParaRPr>
          </a:p>
        </p:txBody>
      </p:sp>
      <p:sp>
        <p:nvSpPr>
          <p:cNvPr id="4" name="矩形 3"/>
          <p:cNvSpPr/>
          <p:nvPr/>
        </p:nvSpPr>
        <p:spPr>
          <a:xfrm>
            <a:off x="2286000" y="0"/>
            <a:ext cx="5072063" cy="707886"/>
          </a:xfrm>
          <a:prstGeom prst="rect">
            <a:avLst/>
          </a:prstGeom>
        </p:spPr>
        <p:txBody>
          <a:bodyPr>
            <a:spAutoFit/>
          </a:bodyPr>
          <a:lstStyle/>
          <a:p>
            <a:pPr marL="342900" indent="-342900" algn="ctr" eaLnBrk="1" hangingPunct="1">
              <a:spcBef>
                <a:spcPct val="20000"/>
              </a:spcBef>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连续结构（</a:t>
            </a:r>
            <a:r>
              <a:rPr lang="en-US" altLang="zh-CN" sz="4000" dirty="0">
                <a:solidFill>
                  <a:srgbClr val="B2622C"/>
                </a:solidFill>
                <a:effectLst>
                  <a:outerShdw blurRad="38100" dist="38100" dir="2700000" algn="tl">
                    <a:srgbClr val="000000"/>
                  </a:outerShdw>
                </a:effectLst>
                <a:ea typeface="楷体_GB2312" pitchFamily="49" charset="-122"/>
              </a:rPr>
              <a:t>2</a:t>
            </a:r>
            <a:r>
              <a:rPr lang="zh-CN" altLang="en-US" sz="4000" dirty="0">
                <a:solidFill>
                  <a:srgbClr val="B2622C"/>
                </a:solidFill>
                <a:effectLst>
                  <a:outerShdw blurRad="38100" dist="38100" dir="2700000" algn="tl">
                    <a:srgbClr val="000000"/>
                  </a:outerShdw>
                </a:effectLst>
                <a:ea typeface="楷体_GB2312" pitchFamily="49" charset="-122"/>
              </a:rPr>
              <a:t>）</a:t>
            </a:r>
          </a:p>
        </p:txBody>
      </p:sp>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2" name="矩形 1"/>
          <p:cNvSpPr/>
          <p:nvPr/>
        </p:nvSpPr>
        <p:spPr>
          <a:xfrm>
            <a:off x="134858" y="5230505"/>
            <a:ext cx="8892480" cy="1193404"/>
          </a:xfrm>
          <a:prstGeom prst="rect">
            <a:avLst/>
          </a:prstGeom>
        </p:spPr>
        <p:txBody>
          <a:bodyPr wrap="square">
            <a:spAutoFit/>
          </a:bodyPr>
          <a:lstStyle/>
          <a:p>
            <a:pPr marL="0" lvl="2" defTabSz="355600">
              <a:lnSpc>
                <a:spcPts val="4500"/>
              </a:lnSpc>
              <a:buClr>
                <a:schemeClr val="bg1">
                  <a:lumMod val="75000"/>
                </a:schemeClr>
              </a:buClr>
              <a:buSzPct val="100000"/>
              <a:tabLst>
                <a:tab pos="990600" algn="l"/>
              </a:tabLst>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用于早期的文件系统，</a:t>
            </a:r>
            <a:r>
              <a:rPr lang="zh-CN" altLang="en-US" dirty="0">
                <a:solidFill>
                  <a:schemeClr val="bg1"/>
                </a:solidFill>
                <a:effectLst>
                  <a:outerShdw blurRad="38100" dist="38100" dir="2700000" algn="tl">
                    <a:srgbClr val="000000"/>
                  </a:outerShdw>
                </a:effectLst>
                <a:latin typeface="+mj-lt"/>
                <a:ea typeface="楷体" panose="02010609060101010101" pitchFamily="49" charset="-122"/>
              </a:rPr>
              <a:t>当今的</a:t>
            </a:r>
            <a:r>
              <a:rPr lang="en-US" altLang="zh-CN" dirty="0">
                <a:solidFill>
                  <a:schemeClr val="bg1"/>
                </a:solidFill>
                <a:effectLst>
                  <a:outerShdw blurRad="38100" dist="38100" dir="2700000" algn="tl">
                    <a:srgbClr val="000000"/>
                  </a:outerShdw>
                </a:effectLst>
                <a:latin typeface="+mj-lt"/>
                <a:ea typeface="楷体" panose="02010609060101010101" pitchFamily="49" charset="-122"/>
              </a:rPr>
              <a:t>CD</a:t>
            </a:r>
            <a:r>
              <a:rPr lang="zh-CN" altLang="en-US" dirty="0">
                <a:solidFill>
                  <a:schemeClr val="bg1"/>
                </a:solidFill>
                <a:effectLst>
                  <a:outerShdw blurRad="38100" dist="38100" dir="2700000" algn="tl">
                    <a:srgbClr val="000000"/>
                  </a:outerShdw>
                </a:effectLst>
                <a:latin typeface="+mj-lt"/>
                <a:ea typeface="楷体" panose="02010609060101010101" pitchFamily="49" charset="-122"/>
              </a:rPr>
              <a:t>－</a:t>
            </a:r>
            <a:r>
              <a:rPr lang="en-US" altLang="zh-CN" dirty="0">
                <a:solidFill>
                  <a:schemeClr val="bg1"/>
                </a:solidFill>
                <a:effectLst>
                  <a:outerShdw blurRad="38100" dist="38100" dir="2700000" algn="tl">
                    <a:srgbClr val="000000"/>
                  </a:outerShdw>
                </a:effectLst>
                <a:latin typeface="+mj-lt"/>
                <a:ea typeface="楷体" panose="02010609060101010101" pitchFamily="49" charset="-122"/>
              </a:rPr>
              <a:t>ROM</a:t>
            </a:r>
            <a:r>
              <a:rPr lang="zh-CN" altLang="en-US" dirty="0">
                <a:solidFill>
                  <a:schemeClr val="bg1"/>
                </a:solidFill>
                <a:effectLst>
                  <a:outerShdw blurRad="38100" dist="38100" dir="2700000" algn="tl">
                    <a:srgbClr val="000000"/>
                  </a:outerShdw>
                </a:effectLst>
                <a:latin typeface="+mj-lt"/>
                <a:ea typeface="楷体" panose="02010609060101010101" pitchFamily="49" charset="-122"/>
              </a:rPr>
              <a:t>、</a:t>
            </a:r>
            <a:r>
              <a:rPr lang="en-US" altLang="zh-CN" dirty="0">
                <a:solidFill>
                  <a:schemeClr val="bg1"/>
                </a:solidFill>
                <a:effectLst>
                  <a:outerShdw blurRad="38100" dist="38100" dir="2700000" algn="tl">
                    <a:srgbClr val="000000"/>
                  </a:outerShdw>
                </a:effectLst>
                <a:latin typeface="+mj-lt"/>
                <a:ea typeface="楷体" panose="02010609060101010101" pitchFamily="49" charset="-122"/>
              </a:rPr>
              <a:t>DVD</a:t>
            </a:r>
            <a:r>
              <a:rPr lang="zh-CN" altLang="en-US" dirty="0" smtClean="0">
                <a:solidFill>
                  <a:schemeClr val="bg1"/>
                </a:solidFill>
                <a:effectLst>
                  <a:outerShdw blurRad="38100" dist="38100" dir="2700000" algn="tl">
                    <a:srgbClr val="000000"/>
                  </a:outerShdw>
                </a:effectLst>
                <a:latin typeface="+mj-lt"/>
                <a:ea typeface="楷体" panose="02010609060101010101" pitchFamily="49" charset="-122"/>
              </a:rPr>
              <a:t>和一次性写入不再修改的</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光学存储介质中。</a:t>
            </a:r>
          </a:p>
        </p:txBody>
      </p:sp>
      <p:sp>
        <p:nvSpPr>
          <p:cNvPr id="5" name="文本框 4"/>
          <p:cNvSpPr txBox="1"/>
          <p:nvPr/>
        </p:nvSpPr>
        <p:spPr>
          <a:xfrm>
            <a:off x="8260581" y="24154"/>
            <a:ext cx="1004837" cy="523220"/>
          </a:xfrm>
          <a:prstGeom prst="rect">
            <a:avLst/>
          </a:prstGeom>
          <a:noFill/>
        </p:spPr>
        <p:txBody>
          <a:bodyPr wrap="square" rtlCol="0">
            <a:spAutoFit/>
          </a:bodyPr>
          <a:lstStyle/>
          <a:p>
            <a:r>
              <a:rPr lang="en-US" altLang="zh-CN" sz="2800" dirty="0" smtClean="0">
                <a:solidFill>
                  <a:schemeClr val="bg2"/>
                </a:solidFill>
                <a:latin typeface="+mn-lt"/>
              </a:rPr>
              <a:t>P357</a:t>
            </a:r>
            <a:endParaRPr lang="zh-CN" altLang="en-US" sz="2800" dirty="0">
              <a:solidFill>
                <a:schemeClr val="bg2"/>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blinds(horizontal)">
                                      <p:cBhvr>
                                        <p:cTn id="15" dur="500"/>
                                        <p:tgtEl>
                                          <p:spTgt spid="3">
                                            <p:txEl>
                                              <p:pRg st="6" end="6"/>
                                            </p:txEl>
                                          </p:spTgt>
                                        </p:tgtEl>
                                      </p:cBhvr>
                                    </p:animEffect>
                                  </p:childTnLst>
                                </p:cTn>
                              </p:par>
                            </p:childTnLst>
                          </p:cTn>
                        </p:par>
                        <p:par>
                          <p:cTn id="16" fill="hold">
                            <p:stCondLst>
                              <p:cond delay="500"/>
                            </p:stCondLst>
                            <p:childTnLst>
                              <p:par>
                                <p:cTn id="17" presetID="2" presetClass="entr" presetSubtype="6"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9091" name="Rectangle 3"/>
          <p:cNvSpPr>
            <a:spLocks noGrp="1" noChangeArrowheads="1"/>
          </p:cNvSpPr>
          <p:nvPr>
            <p:ph type="body" sz="half" idx="1"/>
          </p:nvPr>
        </p:nvSpPr>
        <p:spPr>
          <a:xfrm>
            <a:off x="0" y="585929"/>
            <a:ext cx="9144000" cy="1620838"/>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文件信息存放在不连续物理块中，通过指针连接</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目录项：链表的首指针</a:t>
            </a:r>
          </a:p>
        </p:txBody>
      </p:sp>
      <p:pic>
        <p:nvPicPr>
          <p:cNvPr id="48134" name="Picture 3"/>
          <p:cNvPicPr>
            <a:picLocks noChangeAspect="1" noChangeArrowheads="1"/>
          </p:cNvPicPr>
          <p:nvPr/>
        </p:nvPicPr>
        <p:blipFill>
          <a:blip r:embed="rId3">
            <a:extLst>
              <a:ext uri="{28A0092B-C50C-407E-A947-70E740481C1C}">
                <a14:useLocalDpi xmlns:a14="http://schemas.microsoft.com/office/drawing/2010/main" val="0"/>
              </a:ext>
            </a:extLst>
          </a:blip>
          <a:srcRect l="10561" t="801" r="10583" b="534"/>
          <a:stretch>
            <a:fillRect/>
          </a:stretch>
        </p:blipFill>
        <p:spPr bwMode="auto">
          <a:xfrm>
            <a:off x="1571451" y="2459289"/>
            <a:ext cx="4849813" cy="4265613"/>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13" name="Group 4"/>
          <p:cNvGraphicFramePr>
            <a:graphicFrameLocks noGrp="1"/>
          </p:cNvGraphicFramePr>
          <p:nvPr/>
        </p:nvGraphicFramePr>
        <p:xfrm>
          <a:off x="6715125" y="2643188"/>
          <a:ext cx="1357313" cy="1682750"/>
        </p:xfrm>
        <a:graphic>
          <a:graphicData uri="http://schemas.openxmlformats.org/drawingml/2006/table">
            <a:tbl>
              <a:tblPr/>
              <a:tblGrid>
                <a:gridCol w="1357313">
                  <a:extLst>
                    <a:ext uri="{9D8B030D-6E8A-4147-A177-3AD203B41FA5}">
                      <a16:colId xmlns:a16="http://schemas.microsoft.com/office/drawing/2014/main" val="20000"/>
                    </a:ext>
                  </a:extLst>
                </a:gridCol>
              </a:tblGrid>
              <a:tr h="51830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dirty="0" smtClean="0">
                          <a:ln>
                            <a:noFill/>
                          </a:ln>
                          <a:solidFill>
                            <a:schemeClr val="bg2"/>
                          </a:solidFill>
                          <a:effectLst/>
                          <a:latin typeface="Times New Roman" pitchFamily="18" charset="0"/>
                          <a:ea typeface="宋体" pitchFamily="2" charset="-122"/>
                        </a:rPr>
                        <a:t>指针</a:t>
                      </a:r>
                    </a:p>
                  </a:txBody>
                  <a:tcPr marL="91439" marR="91439" marT="45733" marB="45733" anchor="ctr" anchorCtr="1"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CC99"/>
                    </a:solidFill>
                  </a:tcPr>
                </a:tc>
                <a:extLst>
                  <a:ext uri="{0D108BD9-81ED-4DB2-BD59-A6C34878D82A}">
                    <a16:rowId xmlns:a16="http://schemas.microsoft.com/office/drawing/2014/main" val="10000"/>
                  </a:ext>
                </a:extLst>
              </a:tr>
              <a:tr h="116444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800" b="1" i="0" u="none" strike="noStrike" cap="none" normalizeH="0" baseline="0" dirty="0" smtClean="0">
                          <a:ln>
                            <a:noFill/>
                          </a:ln>
                          <a:solidFill>
                            <a:schemeClr val="bg2"/>
                          </a:solidFill>
                          <a:effectLst/>
                          <a:latin typeface="Times New Roman" pitchFamily="18" charset="0"/>
                          <a:ea typeface="宋体" pitchFamily="2" charset="-122"/>
                        </a:rPr>
                        <a:t>数据</a:t>
                      </a:r>
                    </a:p>
                  </a:txBody>
                  <a:tcPr marL="91439" marR="91439" marT="45733" marB="45733" anchor="ctr" anchorCtr="1"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00CC99"/>
                    </a:solidFill>
                  </a:tcPr>
                </a:tc>
                <a:extLst>
                  <a:ext uri="{0D108BD9-81ED-4DB2-BD59-A6C34878D82A}">
                    <a16:rowId xmlns:a16="http://schemas.microsoft.com/office/drawing/2014/main" val="10001"/>
                  </a:ext>
                </a:extLst>
              </a:tr>
            </a:tbl>
          </a:graphicData>
        </a:graphic>
      </p:graphicFrame>
      <p:sp>
        <p:nvSpPr>
          <p:cNvPr id="48143" name="Text Box 12"/>
          <p:cNvSpPr txBox="1">
            <a:spLocks noChangeArrowheads="1"/>
          </p:cNvSpPr>
          <p:nvPr/>
        </p:nvSpPr>
        <p:spPr bwMode="auto">
          <a:xfrm>
            <a:off x="6858000" y="1928813"/>
            <a:ext cx="12557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dirty="0">
                <a:solidFill>
                  <a:schemeClr val="tx1"/>
                </a:solidFill>
                <a:ea typeface="宋体" panose="02010600030101010101" pitchFamily="2" charset="-122"/>
              </a:rPr>
              <a:t>块结构</a:t>
            </a:r>
          </a:p>
        </p:txBody>
      </p:sp>
      <p:sp>
        <p:nvSpPr>
          <p:cNvPr id="16" name="矩形 15"/>
          <p:cNvSpPr/>
          <p:nvPr/>
        </p:nvSpPr>
        <p:spPr>
          <a:xfrm>
            <a:off x="1785938" y="0"/>
            <a:ext cx="6072187" cy="707886"/>
          </a:xfrm>
          <a:prstGeom prst="rect">
            <a:avLst/>
          </a:prstGeom>
        </p:spPr>
        <p:txBody>
          <a:bodyPr>
            <a:spAutoFit/>
          </a:bodyPr>
          <a:lstStyle/>
          <a:p>
            <a:pPr marL="342900" indent="-342900" algn="ctr" eaLnBrk="1" hangingPunct="1">
              <a:spcBef>
                <a:spcPct val="20000"/>
              </a:spcBef>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链接（串联）结构（</a:t>
            </a:r>
            <a:r>
              <a:rPr lang="en-US" altLang="zh-CN" sz="4000" dirty="0">
                <a:solidFill>
                  <a:srgbClr val="B2622C"/>
                </a:solidFill>
                <a:effectLst>
                  <a:outerShdw blurRad="38100" dist="38100" dir="2700000" algn="tl">
                    <a:srgbClr val="000000"/>
                  </a:outerShdw>
                </a:effectLst>
                <a:ea typeface="楷体_GB2312" pitchFamily="49" charset="-122"/>
              </a:rPr>
              <a:t>1</a:t>
            </a:r>
            <a:r>
              <a:rPr lang="zh-CN" altLang="en-US" sz="4000" dirty="0">
                <a:solidFill>
                  <a:srgbClr val="B2622C"/>
                </a:solidFill>
                <a:effectLst>
                  <a:outerShdw blurRad="38100" dist="38100" dir="2700000" algn="tl">
                    <a:srgbClr val="000000"/>
                  </a:outerShdw>
                </a:effectLst>
                <a:ea typeface="楷体_GB2312" pitchFamily="49" charset="-122"/>
              </a:rPr>
              <a:t>）</a:t>
            </a:r>
          </a:p>
        </p:txBody>
      </p:sp>
      <p:sp>
        <p:nvSpPr>
          <p:cNvPr id="10" name="文本框 9">
            <a:extLst>
              <a:ext uri="{FF2B5EF4-FFF2-40B4-BE49-F238E27FC236}">
                <a16:creationId xmlns:a16="http://schemas.microsoft.com/office/drawing/2014/main" id="{0992A92D-3FED-4562-800D-651BF39FB349}"/>
              </a:ext>
            </a:extLst>
          </p:cNvPr>
          <p:cNvSpPr txBox="1"/>
          <p:nvPr/>
        </p:nvSpPr>
        <p:spPr>
          <a:xfrm>
            <a:off x="1785938" y="6324792"/>
            <a:ext cx="4635326" cy="400110"/>
          </a:xfrm>
          <a:prstGeom prst="rect">
            <a:avLst/>
          </a:prstGeom>
          <a:noFill/>
        </p:spPr>
        <p:txBody>
          <a:bodyPr wrap="square" rtlCol="0">
            <a:spAutoFit/>
          </a:bodyPr>
          <a:lstStyle/>
          <a:p>
            <a:pPr algn="ctr"/>
            <a:r>
              <a:rPr lang="zh-CN" altLang="en-US" sz="2000" b="1" dirty="0">
                <a:solidFill>
                  <a:schemeClr val="bg2"/>
                </a:solidFill>
              </a:rPr>
              <a:t>图 </a:t>
            </a:r>
            <a:r>
              <a:rPr lang="en-US" altLang="zh-CN" sz="2000" b="1" dirty="0" smtClean="0">
                <a:solidFill>
                  <a:schemeClr val="bg2"/>
                </a:solidFill>
              </a:rPr>
              <a:t>11-6 </a:t>
            </a:r>
            <a:r>
              <a:rPr lang="zh-CN" altLang="en-US" sz="2000" b="1" dirty="0" smtClean="0">
                <a:solidFill>
                  <a:schemeClr val="bg2"/>
                </a:solidFill>
              </a:rPr>
              <a:t>磁盘空间的链接分配</a:t>
            </a:r>
            <a:endParaRPr lang="zh-CN" altLang="en-US" sz="2000" b="1" dirty="0">
              <a:solidFill>
                <a:schemeClr val="bg2"/>
              </a:solidFill>
            </a:endParaRPr>
          </a:p>
        </p:txBody>
      </p:sp>
      <p:sp>
        <p:nvSpPr>
          <p:cNvPr id="9"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p:cNvSpPr txBox="1">
            <a:spLocks noChangeArrowheads="1"/>
          </p:cNvSpPr>
          <p:nvPr/>
        </p:nvSpPr>
        <p:spPr>
          <a:xfrm>
            <a:off x="0" y="593725"/>
            <a:ext cx="9358313" cy="4347443"/>
          </a:xfrm>
          <a:prstGeom prst="rect">
            <a:avLst/>
          </a:prstGeom>
        </p:spPr>
        <p:txBody>
          <a:bodyPr/>
          <a:lstStyle/>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优点</a:t>
            </a:r>
          </a:p>
          <a:p>
            <a:pPr marL="914400" lvl="1" indent="-457200" eaLnBrk="1" hangingPunct="1">
              <a:spcBef>
                <a:spcPct val="5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提高了磁盘空间利用率</a:t>
            </a:r>
          </a:p>
          <a:p>
            <a:pPr marL="914400" lvl="1" indent="-457200" eaLnBrk="1" hangingPunct="1">
              <a:spcBef>
                <a:spcPct val="5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有利于文件动态扩充：插入和删除</a:t>
            </a:r>
          </a:p>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缺点</a:t>
            </a:r>
          </a:p>
          <a:p>
            <a:pPr marL="914400" lvl="1" indent="-457200" eaLnBrk="1" hangingPunct="1">
              <a:spcBef>
                <a:spcPct val="5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搜索效率较低</a:t>
            </a:r>
          </a:p>
          <a:p>
            <a:pPr marL="914400" lvl="1" indent="-457200" eaLnBrk="1" hangingPunct="1">
              <a:spcBef>
                <a:spcPct val="5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适合顺序存取方法、不适于随机存取</a:t>
            </a:r>
          </a:p>
          <a:p>
            <a:pPr marL="914400" lvl="1" indent="-457200" eaLnBrk="1" hangingPunct="1">
              <a:spcBef>
                <a:spcPct val="5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为读取某个信息块需要更多的寻道次数和寻道时间</a:t>
            </a:r>
          </a:p>
        </p:txBody>
      </p:sp>
      <p:sp>
        <p:nvSpPr>
          <p:cNvPr id="4" name="矩形 3"/>
          <p:cNvSpPr/>
          <p:nvPr/>
        </p:nvSpPr>
        <p:spPr>
          <a:xfrm>
            <a:off x="1500188" y="0"/>
            <a:ext cx="6286500" cy="707886"/>
          </a:xfrm>
          <a:prstGeom prst="rect">
            <a:avLst/>
          </a:prstGeom>
        </p:spPr>
        <p:txBody>
          <a:bodyPr>
            <a:spAutoFit/>
          </a:bodyPr>
          <a:lstStyle/>
          <a:p>
            <a:pPr marL="342900" indent="-342900" algn="ctr" eaLnBrk="1" hangingPunct="1">
              <a:spcBef>
                <a:spcPct val="20000"/>
              </a:spcBef>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链接（串联）结构（</a:t>
            </a:r>
            <a:r>
              <a:rPr lang="en-US" altLang="zh-CN" sz="4000" dirty="0">
                <a:solidFill>
                  <a:srgbClr val="B2622C"/>
                </a:solidFill>
                <a:effectLst>
                  <a:outerShdw blurRad="38100" dist="38100" dir="2700000" algn="tl">
                    <a:srgbClr val="000000"/>
                  </a:outerShdw>
                </a:effectLst>
                <a:ea typeface="楷体_GB2312" pitchFamily="49" charset="-122"/>
              </a:rPr>
              <a:t>2</a:t>
            </a:r>
            <a:r>
              <a:rPr lang="zh-CN" altLang="en-US" sz="4000" dirty="0">
                <a:solidFill>
                  <a:srgbClr val="B2622C"/>
                </a:solidFill>
                <a:effectLst>
                  <a:outerShdw blurRad="38100" dist="38100" dir="2700000" algn="tl">
                    <a:srgbClr val="000000"/>
                  </a:outerShdw>
                </a:effectLst>
                <a:ea typeface="楷体_GB2312" pitchFamily="49" charset="-122"/>
              </a:rPr>
              <a:t>）</a:t>
            </a:r>
          </a:p>
        </p:txBody>
      </p:sp>
      <p:sp>
        <p:nvSpPr>
          <p:cNvPr id="50182" name="文本框 5"/>
          <p:cNvSpPr txBox="1">
            <a:spLocks noChangeArrowheads="1"/>
          </p:cNvSpPr>
          <p:nvPr/>
        </p:nvSpPr>
        <p:spPr bwMode="auto">
          <a:xfrm>
            <a:off x="229932" y="5229200"/>
            <a:ext cx="85121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endParaRPr lang="zh-CN" altLang="en-US" sz="3200" dirty="0">
              <a:solidFill>
                <a:schemeClr val="bg2"/>
              </a:solidFill>
              <a:effectLst>
                <a:outerShdw blurRad="38100" dist="38100" dir="2700000" algn="tl">
                  <a:srgbClr val="000000"/>
                </a:outerShdw>
              </a:effectLst>
              <a:latin typeface="+mj-lt"/>
              <a:ea typeface="楷体" panose="02010609060101010101" pitchFamily="49" charset="-122"/>
            </a:endParaRPr>
          </a:p>
        </p:txBody>
      </p:sp>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linds(horizontal)">
                                      <p:cBhvr>
                                        <p:cTn id="15" dur="500"/>
                                        <p:tgtEl>
                                          <p:spTgt spid="3">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linds(horizontal)">
                                      <p:cBhvr>
                                        <p:cTn id="18" dur="500"/>
                                        <p:tgtEl>
                                          <p:spTgt spid="3">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linds(horizontal)">
                                      <p:cBhvr>
                                        <p:cTn id="21" dur="500"/>
                                        <p:tgtEl>
                                          <p:spTgt spid="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nodePh="1">
                                  <p:stCondLst>
                                    <p:cond delay="0"/>
                                  </p:stCondLst>
                                  <p:endCondLst>
                                    <p:cond evt="begin" delay="0">
                                      <p:tn val="24"/>
                                    </p:cond>
                                  </p:endCondLst>
                                  <p:childTnLst>
                                    <p:set>
                                      <p:cBhvr>
                                        <p:cTn id="25" dur="1" fill="hold">
                                          <p:stCondLst>
                                            <p:cond delay="0"/>
                                          </p:stCondLst>
                                        </p:cTn>
                                        <p:tgtEl>
                                          <p:spTgt spid="50182"/>
                                        </p:tgtEl>
                                        <p:attrNameLst>
                                          <p:attrName>style.visibility</p:attrName>
                                        </p:attrNameLst>
                                      </p:cBhvr>
                                      <p:to>
                                        <p:strVal val="visible"/>
                                      </p:to>
                                    </p:set>
                                    <p:animEffect transition="in" filter="fade">
                                      <p:cBhvr>
                                        <p:cTn id="26" dur="500"/>
                                        <p:tgtEl>
                                          <p:spTgt spid="50182"/>
                                        </p:tgtEl>
                                      </p:cBhvr>
                                    </p:animEffect>
                                  </p:childTnLst>
                                </p:cTn>
                              </p:par>
                            </p:childTnLst>
                          </p:cTn>
                        </p:par>
                        <p:par>
                          <p:cTn id="27" fill="hold">
                            <p:stCondLst>
                              <p:cond delay="500"/>
                            </p:stCondLst>
                            <p:childTnLst>
                              <p:par>
                                <p:cTn id="28" presetID="2" presetClass="entr" presetSubtype="6"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1+#ppt_w/2"/>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2" grpId="0"/>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3"/>
          <p:cNvSpPr txBox="1">
            <a:spLocks noChangeArrowheads="1"/>
          </p:cNvSpPr>
          <p:nvPr/>
        </p:nvSpPr>
        <p:spPr>
          <a:xfrm>
            <a:off x="312738" y="501759"/>
            <a:ext cx="8640762" cy="1928813"/>
          </a:xfrm>
          <a:prstGeom prst="rect">
            <a:avLst/>
          </a:prstGeom>
        </p:spPr>
        <p:txBody>
          <a:bodyPr/>
          <a:lstStyle/>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文件的信息存放在若干不连续物理块中</a:t>
            </a:r>
          </a:p>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每个文件建立一张索引表</a:t>
            </a:r>
          </a:p>
          <a:p>
            <a:pPr marL="914400" lvl="1" indent="-457200" eaLnBrk="1" hangingPunct="1">
              <a:lnSpc>
                <a:spcPct val="90000"/>
              </a:lnSpc>
              <a:spcBef>
                <a:spcPct val="5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表项：逻辑块号和对应的物理块号</a:t>
            </a:r>
          </a:p>
          <a:p>
            <a:pPr marL="914400" lvl="1" indent="-457200" eaLnBrk="1" hangingPunct="1">
              <a:lnSpc>
                <a:spcPct val="90000"/>
              </a:lnSpc>
              <a:spcBef>
                <a:spcPct val="5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目录项：索引表的物理地址</a:t>
            </a:r>
          </a:p>
        </p:txBody>
      </p:sp>
      <p:sp>
        <p:nvSpPr>
          <p:cNvPr id="6" name="矩形 5"/>
          <p:cNvSpPr/>
          <p:nvPr/>
        </p:nvSpPr>
        <p:spPr>
          <a:xfrm>
            <a:off x="2786063" y="0"/>
            <a:ext cx="4429125" cy="646331"/>
          </a:xfrm>
          <a:prstGeom prst="rect">
            <a:avLst/>
          </a:prstGeom>
        </p:spPr>
        <p:txBody>
          <a:bodyPr>
            <a:spAutoFit/>
          </a:bodyPr>
          <a:lstStyle/>
          <a:p>
            <a:pPr marL="342900" indent="-342900" algn="ctr" eaLnBrk="1" hangingPunct="1">
              <a:lnSpc>
                <a:spcPct val="90000"/>
              </a:lnSpc>
              <a:spcBef>
                <a:spcPct val="20000"/>
              </a:spcBef>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索引结构（</a:t>
            </a:r>
            <a:r>
              <a:rPr lang="en-US" altLang="zh-CN" sz="4000" dirty="0">
                <a:solidFill>
                  <a:srgbClr val="B2622C"/>
                </a:solidFill>
                <a:effectLst>
                  <a:outerShdw blurRad="38100" dist="38100" dir="2700000" algn="tl">
                    <a:srgbClr val="000000"/>
                  </a:outerShdw>
                </a:effectLst>
                <a:ea typeface="楷体_GB2312" pitchFamily="49" charset="-122"/>
              </a:rPr>
              <a:t>1</a:t>
            </a:r>
            <a:r>
              <a:rPr lang="zh-CN" altLang="en-US" sz="4000" dirty="0">
                <a:solidFill>
                  <a:srgbClr val="B2622C"/>
                </a:solidFill>
                <a:effectLst>
                  <a:outerShdw blurRad="38100" dist="38100" dir="2700000" algn="tl">
                    <a:srgbClr val="000000"/>
                  </a:outerShdw>
                </a:effectLst>
                <a:ea typeface="楷体_GB2312" pitchFamily="49" charset="-122"/>
              </a:rPr>
              <a:t>）</a:t>
            </a:r>
          </a:p>
        </p:txBody>
      </p:sp>
      <p:pic>
        <p:nvPicPr>
          <p:cNvPr id="52230"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l="4932" t="871" r="4906" b="581"/>
          <a:stretch>
            <a:fillRect/>
          </a:stretch>
        </p:blipFill>
        <p:spPr bwMode="auto">
          <a:xfrm>
            <a:off x="1907704" y="2650061"/>
            <a:ext cx="4080495" cy="3567287"/>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0992A92D-3FED-4562-800D-651BF39FB349}"/>
              </a:ext>
            </a:extLst>
          </p:cNvPr>
          <p:cNvSpPr txBox="1"/>
          <p:nvPr/>
        </p:nvSpPr>
        <p:spPr>
          <a:xfrm>
            <a:off x="2315456" y="6335713"/>
            <a:ext cx="4635326" cy="400110"/>
          </a:xfrm>
          <a:prstGeom prst="rect">
            <a:avLst/>
          </a:prstGeom>
          <a:noFill/>
        </p:spPr>
        <p:txBody>
          <a:bodyPr wrap="square" rtlCol="0">
            <a:spAutoFit/>
          </a:bodyPr>
          <a:lstStyle/>
          <a:p>
            <a:pPr algn="ctr"/>
            <a:r>
              <a:rPr lang="zh-CN" altLang="en-US" sz="2000" b="1" dirty="0">
                <a:solidFill>
                  <a:schemeClr val="bg2"/>
                </a:solidFill>
              </a:rPr>
              <a:t>图 </a:t>
            </a:r>
            <a:r>
              <a:rPr lang="en-US" altLang="zh-CN" sz="2000" b="1" dirty="0" smtClean="0">
                <a:solidFill>
                  <a:schemeClr val="bg2"/>
                </a:solidFill>
              </a:rPr>
              <a:t>11-8 </a:t>
            </a:r>
            <a:r>
              <a:rPr lang="zh-CN" altLang="en-US" sz="2000" b="1" dirty="0" smtClean="0">
                <a:solidFill>
                  <a:schemeClr val="bg2"/>
                </a:solidFill>
              </a:rPr>
              <a:t>磁盘空间的索引分配</a:t>
            </a:r>
            <a:endParaRPr lang="zh-CN" altLang="en-US" sz="2000" b="1" dirty="0">
              <a:solidFill>
                <a:schemeClr val="bg2"/>
              </a:solidFill>
            </a:endParaRPr>
          </a:p>
        </p:txBody>
      </p:sp>
      <p:sp>
        <p:nvSpPr>
          <p:cNvPr id="9"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a:xfrm>
            <a:off x="0" y="1601788"/>
            <a:ext cx="9144000" cy="3483396"/>
          </a:xfrm>
        </p:spPr>
        <p:txBody>
          <a:bodyPr/>
          <a:lstStyle/>
          <a:p>
            <a:pPr marL="514350" indent="-457200" eaLnBrk="1" hangingPunct="1">
              <a:lnSpc>
                <a:spcPct val="90000"/>
              </a:lnSpc>
              <a:spcBef>
                <a:spcPct val="5000"/>
              </a:spcBef>
              <a:buClrTx/>
              <a:buSzPct val="80000"/>
              <a:buFont typeface="Wingdings" panose="05000000000000000000" pitchFamily="2" charset="2"/>
              <a:buChar char="n"/>
              <a:defRPr/>
            </a:pPr>
            <a:r>
              <a:rPr lang="zh-CN" altLang="en-US" sz="3600" b="1" kern="1200" dirty="0">
                <a:solidFill>
                  <a:schemeClr val="bg2"/>
                </a:solidFill>
                <a:latin typeface="+mj-lt"/>
                <a:ea typeface="楷体" panose="02010609060101010101" pitchFamily="49" charset="-122"/>
                <a:cs typeface="+mn-cs"/>
              </a:rPr>
              <a:t>要决定索引表的物理存放方式，不利于索引表的动态增加；</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二重索引</a:t>
            </a:r>
          </a:p>
          <a:p>
            <a:pPr marL="91440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索引表所指的物理块中存放的是装有文件信息的物理块地址</a:t>
            </a:r>
          </a:p>
        </p:txBody>
      </p:sp>
      <p:sp>
        <p:nvSpPr>
          <p:cNvPr id="12" name="矩形 11"/>
          <p:cNvSpPr/>
          <p:nvPr/>
        </p:nvSpPr>
        <p:spPr>
          <a:xfrm>
            <a:off x="3071813" y="0"/>
            <a:ext cx="3786187" cy="646331"/>
          </a:xfrm>
          <a:prstGeom prst="rect">
            <a:avLst/>
          </a:prstGeom>
        </p:spPr>
        <p:txBody>
          <a:bodyPr>
            <a:spAutoFit/>
          </a:bodyPr>
          <a:lstStyle/>
          <a:p>
            <a:pPr marL="342900" indent="-342900" algn="ctr" eaLnBrk="1" hangingPunct="1">
              <a:lnSpc>
                <a:spcPct val="90000"/>
              </a:lnSpc>
              <a:spcBef>
                <a:spcPct val="20000"/>
              </a:spcBef>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索引结构（</a:t>
            </a:r>
            <a:r>
              <a:rPr lang="en-US" altLang="zh-CN" sz="4000" dirty="0">
                <a:solidFill>
                  <a:srgbClr val="B2622C"/>
                </a:solidFill>
                <a:effectLst>
                  <a:outerShdw blurRad="38100" dist="38100" dir="2700000" algn="tl">
                    <a:srgbClr val="000000"/>
                  </a:outerShdw>
                </a:effectLst>
                <a:ea typeface="楷体_GB2312" pitchFamily="49" charset="-122"/>
              </a:rPr>
              <a:t>2</a:t>
            </a:r>
            <a:r>
              <a:rPr lang="zh-CN" altLang="en-US" sz="4000" dirty="0">
                <a:solidFill>
                  <a:srgbClr val="B2622C"/>
                </a:solidFill>
                <a:effectLst>
                  <a:outerShdw blurRad="38100" dist="38100" dir="2700000" algn="tl">
                    <a:srgbClr val="000000"/>
                  </a:outerShdw>
                </a:effectLst>
                <a:ea typeface="楷体_GB2312" pitchFamily="49" charset="-122"/>
              </a:rPr>
              <a:t>）</a:t>
            </a: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2" name="矩形 1"/>
          <p:cNvSpPr/>
          <p:nvPr/>
        </p:nvSpPr>
        <p:spPr>
          <a:xfrm>
            <a:off x="467544" y="764704"/>
            <a:ext cx="8208912" cy="590931"/>
          </a:xfrm>
          <a:prstGeom prst="rect">
            <a:avLst/>
          </a:prstGeom>
        </p:spPr>
        <p:txBody>
          <a:bodyPr wrap="square">
            <a:spAutoFit/>
          </a:bodyPr>
          <a:lstStyle/>
          <a:p>
            <a:pPr eaLnBrk="1" hangingPunct="1">
              <a:lnSpc>
                <a:spcPct val="90000"/>
              </a:lnSpc>
              <a:spcBef>
                <a:spcPct val="5000"/>
              </a:spcBef>
              <a:buSzPct val="80000"/>
              <a:defRPr/>
            </a:pPr>
            <a:r>
              <a:rPr lang="zh-CN" altLang="en-US" sz="3600" dirty="0">
                <a:solidFill>
                  <a:srgbClr val="D60093"/>
                </a:solidFill>
                <a:effectLst>
                  <a:outerShdw blurRad="38100" dist="38100" dir="2700000" algn="tl">
                    <a:srgbClr val="000000">
                      <a:alpha val="43137"/>
                    </a:srgbClr>
                  </a:outerShdw>
                </a:effectLst>
                <a:latin typeface="+mj-ea"/>
                <a:ea typeface="+mj-ea"/>
              </a:rPr>
              <a:t>问题：索引表的大小超过了一个物理块？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5" name="Rectangle 3"/>
          <p:cNvSpPr>
            <a:spLocks noGrp="1" noChangeArrowheads="1"/>
          </p:cNvSpPr>
          <p:nvPr>
            <p:ph type="body" idx="1"/>
          </p:nvPr>
        </p:nvSpPr>
        <p:spPr>
          <a:xfrm>
            <a:off x="152400" y="1196975"/>
            <a:ext cx="8991600" cy="4495800"/>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在实际系统中，索引表</a:t>
            </a:r>
          </a:p>
          <a:p>
            <a:pPr marL="91440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smtClean="0">
                <a:solidFill>
                  <a:schemeClr val="bg2"/>
                </a:solidFill>
                <a:latin typeface="+mj-lt"/>
                <a:ea typeface="楷体" panose="02010609060101010101" pitchFamily="49" charset="-122"/>
                <a:cs typeface="+mn-cs"/>
              </a:rPr>
              <a:t>头几项设计成直接寻址方式：所指的物理块中存放的是文件信息；</a:t>
            </a:r>
          </a:p>
          <a:p>
            <a:pPr marL="91440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smtClean="0">
                <a:solidFill>
                  <a:schemeClr val="bg2"/>
                </a:solidFill>
                <a:latin typeface="+mj-lt"/>
                <a:ea typeface="楷体" panose="02010609060101010101" pitchFamily="49" charset="-122"/>
                <a:cs typeface="+mn-cs"/>
              </a:rPr>
              <a:t>后</a:t>
            </a:r>
            <a:r>
              <a:rPr lang="zh-CN" altLang="en-US" sz="3200" b="1" kern="1200" dirty="0">
                <a:solidFill>
                  <a:schemeClr val="bg2"/>
                </a:solidFill>
                <a:latin typeface="+mj-lt"/>
                <a:ea typeface="楷体" panose="02010609060101010101" pitchFamily="49" charset="-122"/>
                <a:cs typeface="+mn-cs"/>
              </a:rPr>
              <a:t>几项：设计成多重索引  </a:t>
            </a:r>
          </a:p>
          <a:p>
            <a:pPr marL="91440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在文件较小时，可利用直接寻址方式找到物理块号而节省存取时间</a:t>
            </a:r>
            <a:endParaRPr lang="en-US" altLang="zh-CN" sz="3200" b="1" kern="1200" dirty="0">
              <a:solidFill>
                <a:schemeClr val="bg2"/>
              </a:solidFill>
              <a:latin typeface="+mj-lt"/>
              <a:ea typeface="楷体" panose="02010609060101010101" pitchFamily="49" charset="-122"/>
              <a:cs typeface="+mn-cs"/>
            </a:endParaRP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en-US" altLang="zh-CN" sz="3600" b="1" kern="1200" dirty="0">
                <a:solidFill>
                  <a:schemeClr val="bg1"/>
                </a:solidFill>
                <a:latin typeface="+mj-lt"/>
                <a:ea typeface="楷体" panose="02010609060101010101" pitchFamily="49" charset="-122"/>
                <a:cs typeface="+mn-cs"/>
              </a:rPr>
              <a:t>Linux </a:t>
            </a:r>
            <a:r>
              <a:rPr lang="zh-CN" altLang="en-US" sz="3600" b="1" kern="1200" dirty="0">
                <a:solidFill>
                  <a:schemeClr val="bg1"/>
                </a:solidFill>
                <a:latin typeface="+mj-lt"/>
                <a:ea typeface="楷体" panose="02010609060101010101" pitchFamily="49" charset="-122"/>
                <a:cs typeface="+mn-cs"/>
              </a:rPr>
              <a:t>：多级索引结构     </a:t>
            </a:r>
          </a:p>
        </p:txBody>
      </p:sp>
      <p:sp>
        <p:nvSpPr>
          <p:cNvPr id="6" name="矩形 5"/>
          <p:cNvSpPr/>
          <p:nvPr/>
        </p:nvSpPr>
        <p:spPr>
          <a:xfrm>
            <a:off x="3071813" y="0"/>
            <a:ext cx="3786187" cy="646331"/>
          </a:xfrm>
          <a:prstGeom prst="rect">
            <a:avLst/>
          </a:prstGeom>
        </p:spPr>
        <p:txBody>
          <a:bodyPr>
            <a:spAutoFit/>
          </a:bodyPr>
          <a:lstStyle/>
          <a:p>
            <a:pPr marL="342900" indent="-342900" algn="ctr" eaLnBrk="1" hangingPunct="1">
              <a:lnSpc>
                <a:spcPct val="90000"/>
              </a:lnSpc>
              <a:spcBef>
                <a:spcPct val="20000"/>
              </a:spcBef>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索引结构（</a:t>
            </a:r>
            <a:r>
              <a:rPr lang="en-US" altLang="zh-CN" sz="4000" dirty="0">
                <a:solidFill>
                  <a:srgbClr val="B2622C"/>
                </a:solidFill>
                <a:effectLst>
                  <a:outerShdw blurRad="38100" dist="38100" dir="2700000" algn="tl">
                    <a:srgbClr val="000000"/>
                  </a:outerShdw>
                </a:effectLst>
                <a:ea typeface="楷体_GB2312" pitchFamily="49" charset="-122"/>
              </a:rPr>
              <a:t>3</a:t>
            </a:r>
            <a:r>
              <a:rPr lang="zh-CN" altLang="en-US" sz="4000" dirty="0">
                <a:solidFill>
                  <a:srgbClr val="B2622C"/>
                </a:solidFill>
                <a:effectLst>
                  <a:outerShdw blurRad="38100" dist="38100" dir="2700000" algn="tl">
                    <a:srgbClr val="000000"/>
                  </a:outerShdw>
                </a:effectLst>
                <a:ea typeface="楷体_GB2312" pitchFamily="49" charset="-122"/>
              </a:rPr>
              <a:t>）</a:t>
            </a: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992A92D-3FED-4562-800D-651BF39FB349}"/>
              </a:ext>
            </a:extLst>
          </p:cNvPr>
          <p:cNvSpPr txBox="1"/>
          <p:nvPr/>
        </p:nvSpPr>
        <p:spPr>
          <a:xfrm>
            <a:off x="1907704" y="6276945"/>
            <a:ext cx="4635326" cy="400110"/>
          </a:xfrm>
          <a:prstGeom prst="rect">
            <a:avLst/>
          </a:prstGeom>
          <a:noFill/>
        </p:spPr>
        <p:txBody>
          <a:bodyPr wrap="square" rtlCol="0">
            <a:spAutoFit/>
          </a:bodyPr>
          <a:lstStyle/>
          <a:p>
            <a:pPr algn="ctr"/>
            <a:r>
              <a:rPr lang="zh-CN" altLang="en-US" sz="2000" b="1" dirty="0">
                <a:solidFill>
                  <a:schemeClr val="bg2"/>
                </a:solidFill>
              </a:rPr>
              <a:t>图 </a:t>
            </a:r>
            <a:r>
              <a:rPr lang="en-US" altLang="zh-CN" sz="2000" b="1" dirty="0" smtClean="0">
                <a:solidFill>
                  <a:schemeClr val="bg2"/>
                </a:solidFill>
              </a:rPr>
              <a:t> Linux</a:t>
            </a:r>
            <a:r>
              <a:rPr lang="zh-CN" altLang="en-US" sz="2000" b="1" dirty="0" smtClean="0">
                <a:solidFill>
                  <a:schemeClr val="bg2"/>
                </a:solidFill>
              </a:rPr>
              <a:t>系统</a:t>
            </a:r>
            <a:r>
              <a:rPr lang="en-US" altLang="zh-CN" sz="2000" b="1" dirty="0" smtClean="0">
                <a:solidFill>
                  <a:schemeClr val="bg2"/>
                </a:solidFill>
              </a:rPr>
              <a:t>ext2</a:t>
            </a:r>
            <a:r>
              <a:rPr lang="zh-CN" altLang="en-US" sz="2000" b="1" dirty="0" smtClean="0">
                <a:solidFill>
                  <a:schemeClr val="bg2"/>
                </a:solidFill>
              </a:rPr>
              <a:t>文件多级索引结构</a:t>
            </a:r>
            <a:endParaRPr lang="zh-CN" altLang="en-US" sz="2000" b="1" dirty="0">
              <a:solidFill>
                <a:schemeClr val="bg2"/>
              </a:solidFill>
            </a:endParaRPr>
          </a:p>
        </p:txBody>
      </p:sp>
      <p:sp>
        <p:nvSpPr>
          <p:cNvPr id="7" name="矩形 6"/>
          <p:cNvSpPr/>
          <p:nvPr/>
        </p:nvSpPr>
        <p:spPr>
          <a:xfrm>
            <a:off x="2635077" y="0"/>
            <a:ext cx="3786187" cy="646331"/>
          </a:xfrm>
          <a:prstGeom prst="rect">
            <a:avLst/>
          </a:prstGeom>
        </p:spPr>
        <p:txBody>
          <a:bodyPr>
            <a:spAutoFit/>
          </a:bodyPr>
          <a:lstStyle/>
          <a:p>
            <a:pPr marL="342900" lvl="2" indent="-342900" algn="ctr" defTabSz="355600" eaLnBrk="1" hangingPunct="1">
              <a:lnSpc>
                <a:spcPct val="90000"/>
              </a:lnSpc>
              <a:buClr>
                <a:schemeClr val="bg1"/>
              </a:buClr>
              <a:buSzPct val="80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多级索引示例</a:t>
            </a:r>
          </a:p>
        </p:txBody>
      </p:sp>
      <p:pic>
        <p:nvPicPr>
          <p:cNvPr id="2" name="图片 1"/>
          <p:cNvPicPr>
            <a:picLocks noChangeAspect="1"/>
          </p:cNvPicPr>
          <p:nvPr/>
        </p:nvPicPr>
        <p:blipFill>
          <a:blip r:embed="rId2"/>
          <a:stretch>
            <a:fillRect/>
          </a:stretch>
        </p:blipFill>
        <p:spPr>
          <a:xfrm>
            <a:off x="23812" y="723900"/>
            <a:ext cx="9096375" cy="5410200"/>
          </a:xfrm>
          <a:prstGeom prst="rect">
            <a:avLst/>
          </a:prstGeom>
        </p:spPr>
      </p:pic>
      <p:sp>
        <p:nvSpPr>
          <p:cNvPr id="9"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extLst>
      <p:ext uri="{BB962C8B-B14F-4D97-AF65-F5344CB8AC3E}">
        <p14:creationId xmlns:p14="http://schemas.microsoft.com/office/powerpoint/2010/main" val="31355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9" name="Rectangle 3"/>
          <p:cNvSpPr>
            <a:spLocks noGrp="1" noChangeArrowheads="1"/>
          </p:cNvSpPr>
          <p:nvPr>
            <p:ph type="body" idx="1"/>
          </p:nvPr>
        </p:nvSpPr>
        <p:spPr>
          <a:xfrm>
            <a:off x="0" y="642938"/>
            <a:ext cx="9144000" cy="5307012"/>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优点</a:t>
            </a:r>
          </a:p>
          <a:p>
            <a:pPr marL="91440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既能顺序存取，又能随机存取；</a:t>
            </a:r>
          </a:p>
          <a:p>
            <a:pPr marL="91440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满足了文件动态增长、插入删除的要求；</a:t>
            </a:r>
          </a:p>
          <a:p>
            <a:pPr marL="91440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充分利用外存空间。</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缺点</a:t>
            </a:r>
          </a:p>
          <a:p>
            <a:pPr marL="91440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索引表增加了存储空间的开销</a:t>
            </a:r>
          </a:p>
          <a:p>
            <a:pPr marL="91440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在存取文件时，至少访问磁盘二次以上</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改进的方法</a:t>
            </a:r>
          </a:p>
          <a:p>
            <a:pPr marL="91440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对文件进行</a:t>
            </a:r>
            <a:r>
              <a:rPr lang="zh-CN" altLang="en-US" sz="3200" b="1" kern="1200" dirty="0" smtClean="0">
                <a:solidFill>
                  <a:schemeClr val="bg2"/>
                </a:solidFill>
                <a:latin typeface="+mj-lt"/>
                <a:ea typeface="楷体" panose="02010609060101010101" pitchFamily="49" charset="-122"/>
                <a:cs typeface="+mn-cs"/>
              </a:rPr>
              <a:t>操作前</a:t>
            </a:r>
            <a:r>
              <a:rPr lang="zh-CN" altLang="en-US" sz="3200" b="1" kern="1200" dirty="0">
                <a:solidFill>
                  <a:schemeClr val="bg2"/>
                </a:solidFill>
                <a:latin typeface="+mj-lt"/>
                <a:ea typeface="楷体" panose="02010609060101010101" pitchFamily="49" charset="-122"/>
                <a:cs typeface="+mn-cs"/>
              </a:rPr>
              <a:t>，预先把索引表放入内存。</a:t>
            </a:r>
          </a:p>
          <a:p>
            <a:pPr marL="91440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直接在内存通过索引表确定物理地址块号，访问磁盘的动作只需要一次。</a:t>
            </a:r>
          </a:p>
        </p:txBody>
      </p:sp>
      <p:sp>
        <p:nvSpPr>
          <p:cNvPr id="7" name="矩形 6"/>
          <p:cNvSpPr/>
          <p:nvPr/>
        </p:nvSpPr>
        <p:spPr>
          <a:xfrm>
            <a:off x="3071813" y="0"/>
            <a:ext cx="3786187" cy="646331"/>
          </a:xfrm>
          <a:prstGeom prst="rect">
            <a:avLst/>
          </a:prstGeom>
        </p:spPr>
        <p:txBody>
          <a:bodyPr>
            <a:spAutoFit/>
          </a:bodyPr>
          <a:lstStyle/>
          <a:p>
            <a:pPr marL="342900" indent="-342900" algn="ctr" eaLnBrk="1" hangingPunct="1">
              <a:lnSpc>
                <a:spcPct val="90000"/>
              </a:lnSpc>
              <a:spcBef>
                <a:spcPct val="20000"/>
              </a:spcBef>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索引结构（</a:t>
            </a:r>
            <a:r>
              <a:rPr lang="en-US" altLang="zh-CN" sz="4000" dirty="0">
                <a:solidFill>
                  <a:srgbClr val="B2622C"/>
                </a:solidFill>
                <a:effectLst>
                  <a:outerShdw blurRad="38100" dist="38100" dir="2700000" algn="tl">
                    <a:srgbClr val="000000"/>
                  </a:outerShdw>
                </a:effectLst>
                <a:ea typeface="楷体_GB2312" pitchFamily="49" charset="-122"/>
              </a:rPr>
              <a:t>4</a:t>
            </a:r>
            <a:r>
              <a:rPr lang="zh-CN" altLang="en-US" sz="4000" dirty="0">
                <a:solidFill>
                  <a:srgbClr val="B2622C"/>
                </a:solidFill>
                <a:effectLst>
                  <a:outerShdw blurRad="38100" dist="38100" dir="2700000" algn="tl">
                    <a:srgbClr val="000000"/>
                  </a:outerShdw>
                </a:effectLst>
                <a:ea typeface="楷体_GB2312" pitchFamily="49" charset="-122"/>
              </a:rPr>
              <a:t>）</a:t>
            </a:r>
          </a:p>
        </p:txBody>
      </p:sp>
      <p:sp>
        <p:nvSpPr>
          <p:cNvPr id="2" name="文本框 1"/>
          <p:cNvSpPr txBox="1"/>
          <p:nvPr/>
        </p:nvSpPr>
        <p:spPr>
          <a:xfrm>
            <a:off x="1187624" y="6083300"/>
            <a:ext cx="6697663" cy="584200"/>
          </a:xfrm>
          <a:prstGeom prst="rect">
            <a:avLst/>
          </a:prstGeom>
          <a:solidFill>
            <a:srgbClr val="FFFF00"/>
          </a:solidFill>
        </p:spPr>
        <p:txBody>
          <a:bodyPr>
            <a:spAutoFit/>
          </a:bodyPr>
          <a:lstStyle/>
          <a:p>
            <a:pPr algn="ctr">
              <a:defRPr/>
            </a:pPr>
            <a:r>
              <a:rPr lang="zh-CN" altLang="en-US" sz="3200" dirty="0">
                <a:solidFill>
                  <a:schemeClr val="bg2"/>
                </a:solidFill>
                <a:effectLst>
                  <a:outerShdw blurRad="38100" dist="38100" dir="2700000" algn="tl">
                    <a:srgbClr val="000000">
                      <a:alpha val="43137"/>
                    </a:srgbClr>
                  </a:outerShdw>
                </a:effectLst>
              </a:rPr>
              <a:t>最普遍的一</a:t>
            </a:r>
            <a:r>
              <a:rPr lang="zh-CN" altLang="en-US" sz="3200" dirty="0" smtClean="0">
                <a:solidFill>
                  <a:schemeClr val="bg2"/>
                </a:solidFill>
                <a:effectLst>
                  <a:outerShdw blurRad="38100" dist="38100" dir="2700000" algn="tl">
                    <a:srgbClr val="000000">
                      <a:alpha val="43137"/>
                    </a:srgbClr>
                  </a:outerShdw>
                </a:effectLst>
              </a:rPr>
              <a:t>种物理结构</a:t>
            </a:r>
            <a:endParaRPr lang="zh-CN" altLang="en-US" sz="3200" dirty="0">
              <a:solidFill>
                <a:schemeClr val="bg2"/>
              </a:solidFill>
              <a:effectLst>
                <a:outerShdw blurRad="38100" dist="38100" dir="2700000" algn="tl">
                  <a:srgbClr val="000000">
                    <a:alpha val="43137"/>
                  </a:srgbClr>
                </a:outerShdw>
              </a:effectLst>
            </a:endParaRPr>
          </a:p>
        </p:txBody>
      </p:sp>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1378" name="Rectangle 2"/>
          <p:cNvSpPr>
            <a:spLocks noGrp="1" noChangeArrowheads="1"/>
          </p:cNvSpPr>
          <p:nvPr>
            <p:ph type="title"/>
          </p:nvPr>
        </p:nvSpPr>
        <p:spPr>
          <a:xfrm>
            <a:off x="1582735" y="-164962"/>
            <a:ext cx="5800725" cy="820738"/>
          </a:xfrm>
        </p:spPr>
        <p:txBody>
          <a:bodyPr/>
          <a:lstStyle/>
          <a:p>
            <a:pPr marL="457200" lvl="1" indent="-285750" algn="ctr" eaLnBrk="1" hangingPunct="1">
              <a:lnSpc>
                <a:spcPct val="120000"/>
              </a:lnSpc>
              <a:buClr>
                <a:srgbClr val="FFABFF"/>
              </a:buClr>
              <a:buSzPct val="90000"/>
              <a:defRPr/>
            </a:pPr>
            <a:r>
              <a:rPr lang="en-US" altLang="zh-CN" b="1" kern="1200" dirty="0">
                <a:solidFill>
                  <a:srgbClr val="B2622C"/>
                </a:solidFill>
                <a:effectLst>
                  <a:outerShdw blurRad="38100" dist="38100" dir="2700000" algn="tl">
                    <a:srgbClr val="000000"/>
                  </a:outerShdw>
                </a:effectLst>
                <a:latin typeface="+mj-lt"/>
                <a:ea typeface="楷体_GB2312" pitchFamily="49" charset="-122"/>
                <a:cs typeface="+mj-cs"/>
              </a:rPr>
              <a:t>9.3.2  </a:t>
            </a:r>
            <a:r>
              <a:rPr lang="zh-CN" altLang="en-US" b="1" kern="1200" dirty="0">
                <a:solidFill>
                  <a:srgbClr val="B2622C"/>
                </a:solidFill>
                <a:effectLst>
                  <a:outerShdw blurRad="38100" dist="38100" dir="2700000" algn="tl">
                    <a:srgbClr val="000000"/>
                  </a:outerShdw>
                </a:effectLst>
                <a:latin typeface="+mj-lt"/>
                <a:ea typeface="楷体_GB2312" pitchFamily="49" charset="-122"/>
                <a:cs typeface="+mj-cs"/>
              </a:rPr>
              <a:t>文件存储设备</a:t>
            </a:r>
          </a:p>
        </p:txBody>
      </p:sp>
      <p:sp>
        <p:nvSpPr>
          <p:cNvPr id="35844" name="Rectangle 3"/>
          <p:cNvSpPr>
            <a:spLocks noGrp="1" noChangeArrowheads="1"/>
          </p:cNvSpPr>
          <p:nvPr>
            <p:ph type="body" idx="1"/>
          </p:nvPr>
        </p:nvSpPr>
        <p:spPr>
          <a:xfrm>
            <a:off x="-32647" y="1353299"/>
            <a:ext cx="9072563" cy="3872750"/>
          </a:xfrm>
        </p:spPr>
        <p:txBody>
          <a:bodyPr/>
          <a:lstStyle/>
          <a:p>
            <a:pPr marL="514350" indent="-457200" eaLnBrk="1" hangingPunct="1">
              <a:lnSpc>
                <a:spcPct val="90000"/>
              </a:lnSpc>
              <a:spcBef>
                <a:spcPct val="5000"/>
              </a:spcBef>
              <a:buClrTx/>
              <a:buSzPct val="80000"/>
              <a:buFont typeface="Wingdings" panose="05000000000000000000" pitchFamily="2" charset="2"/>
              <a:buChar char="n"/>
              <a:defRPr/>
            </a:pPr>
            <a:r>
              <a:rPr lang="zh-CN" altLang="en-US" b="1" kern="1200" dirty="0">
                <a:solidFill>
                  <a:schemeClr val="bg2"/>
                </a:solidFill>
                <a:latin typeface="+mj-lt"/>
                <a:ea typeface="楷体" panose="02010609060101010101" pitchFamily="49" charset="-122"/>
                <a:cs typeface="+mn-cs"/>
              </a:rPr>
              <a:t>前面的物理块</a:t>
            </a:r>
            <a:r>
              <a:rPr lang="zh-CN" altLang="en-US" b="1" kern="1200" dirty="0" smtClean="0">
                <a:solidFill>
                  <a:schemeClr val="bg2"/>
                </a:solidFill>
                <a:latin typeface="+mj-lt"/>
                <a:ea typeface="楷体" panose="02010609060101010101" pitchFamily="49" charset="-122"/>
                <a:cs typeface="+mn-cs"/>
              </a:rPr>
              <a:t>被访问</a:t>
            </a:r>
            <a:r>
              <a:rPr lang="zh-CN" altLang="en-US" b="1" kern="1200" dirty="0">
                <a:solidFill>
                  <a:schemeClr val="bg2"/>
                </a:solidFill>
                <a:latin typeface="+mj-lt"/>
                <a:ea typeface="楷体" panose="02010609060101010101" pitchFamily="49" charset="-122"/>
                <a:cs typeface="+mn-cs"/>
              </a:rPr>
              <a:t>后，才能存取后续物理块。</a:t>
            </a:r>
          </a:p>
          <a:p>
            <a:pPr marL="514350" indent="-457200" eaLnBrk="1" hangingPunct="1">
              <a:lnSpc>
                <a:spcPct val="90000"/>
              </a:lnSpc>
              <a:spcBef>
                <a:spcPct val="5000"/>
              </a:spcBef>
              <a:buClrTx/>
              <a:buSzPct val="80000"/>
              <a:buFont typeface="Wingdings" panose="05000000000000000000" pitchFamily="2" charset="2"/>
              <a:buChar char="n"/>
              <a:defRPr/>
            </a:pPr>
            <a:r>
              <a:rPr lang="zh-CN" altLang="en-US" b="1" kern="1200" dirty="0">
                <a:solidFill>
                  <a:schemeClr val="bg2"/>
                </a:solidFill>
                <a:latin typeface="+mj-lt"/>
                <a:ea typeface="楷体" panose="02010609060101010101" pitchFamily="49" charset="-122"/>
                <a:cs typeface="+mn-cs"/>
              </a:rPr>
              <a:t>磁带最典型</a:t>
            </a:r>
          </a:p>
          <a:p>
            <a:pPr marL="51435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smtClean="0">
                <a:solidFill>
                  <a:schemeClr val="bg2"/>
                </a:solidFill>
                <a:latin typeface="+mj-lt"/>
                <a:ea typeface="楷体" panose="02010609060101010101" pitchFamily="49" charset="-122"/>
                <a:cs typeface="+mn-cs"/>
              </a:rPr>
              <a:t>特点</a:t>
            </a:r>
            <a:endParaRPr lang="zh-CN" altLang="en-US" sz="3200" b="1" kern="1200" dirty="0">
              <a:solidFill>
                <a:schemeClr val="bg2"/>
              </a:solidFill>
              <a:latin typeface="+mj-lt"/>
              <a:ea typeface="楷体" panose="02010609060101010101" pitchFamily="49" charset="-122"/>
              <a:cs typeface="+mn-cs"/>
            </a:endParaRP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2800" b="1" kern="1200" dirty="0">
                <a:solidFill>
                  <a:schemeClr val="bg2"/>
                </a:solidFill>
                <a:latin typeface="+mj-lt"/>
                <a:ea typeface="楷体" panose="02010609060101010101" pitchFamily="49" charset="-122"/>
                <a:cs typeface="+mn-cs"/>
              </a:rPr>
              <a:t>容量大</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2800" b="1" kern="1200" dirty="0">
                <a:solidFill>
                  <a:schemeClr val="bg2"/>
                </a:solidFill>
                <a:latin typeface="+mj-lt"/>
                <a:ea typeface="楷体" panose="02010609060101010101" pitchFamily="49" charset="-122"/>
                <a:cs typeface="+mn-cs"/>
              </a:rPr>
              <a:t>顺序存取方式时存取速度高，按随机方式或按键存取方式，效率低。</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2800" b="1" kern="1200" dirty="0">
                <a:solidFill>
                  <a:schemeClr val="bg2"/>
                </a:solidFill>
                <a:latin typeface="+mj-lt"/>
                <a:ea typeface="楷体" panose="02010609060101010101" pitchFamily="49" charset="-122"/>
                <a:cs typeface="+mn-cs"/>
              </a:rPr>
              <a:t>适合存放连续文件结构且文件大小确定，修改、增删比较少的文件</a:t>
            </a:r>
          </a:p>
        </p:txBody>
      </p:sp>
      <p:pic>
        <p:nvPicPr>
          <p:cNvPr id="5837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127" y="4962354"/>
            <a:ext cx="8135937"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1381" name="Rectangle 5"/>
          <p:cNvSpPr>
            <a:spLocks noChangeArrowheads="1"/>
          </p:cNvSpPr>
          <p:nvPr/>
        </p:nvSpPr>
        <p:spPr bwMode="auto">
          <a:xfrm>
            <a:off x="2987824" y="6076890"/>
            <a:ext cx="4248621" cy="400110"/>
          </a:xfrm>
          <a:prstGeom prst="rect">
            <a:avLst/>
          </a:prstGeom>
          <a:noFill/>
          <a:ln w="9525">
            <a:noFill/>
            <a:miter lim="800000"/>
            <a:headEnd/>
            <a:tailEnd/>
          </a:ln>
          <a:effectLst/>
        </p:spPr>
        <p:txBody>
          <a:bodyPr wrap="square" anchor="ctr">
            <a:spAutoFit/>
          </a:bodyPr>
          <a:lstStyle/>
          <a:p>
            <a:pPr eaLnBrk="1" hangingPunct="1">
              <a:defRPr/>
            </a:pPr>
            <a:r>
              <a:rPr lang="zh-CN" altLang="en-US" sz="2000" dirty="0">
                <a:solidFill>
                  <a:schemeClr val="bg2"/>
                </a:solidFill>
                <a:latin typeface="+mj-ea"/>
                <a:ea typeface="+mj-ea"/>
              </a:rPr>
              <a:t>图 </a:t>
            </a:r>
            <a:r>
              <a:rPr lang="en-US" altLang="zh-CN" sz="2000" dirty="0">
                <a:solidFill>
                  <a:schemeClr val="bg2"/>
                </a:solidFill>
                <a:latin typeface="+mj-ea"/>
                <a:ea typeface="+mj-ea"/>
              </a:rPr>
              <a:t> </a:t>
            </a:r>
            <a:r>
              <a:rPr lang="zh-CN" altLang="en-US" sz="2000" dirty="0">
                <a:solidFill>
                  <a:schemeClr val="bg2"/>
                </a:solidFill>
                <a:latin typeface="+mj-ea"/>
                <a:ea typeface="+mj-ea"/>
              </a:rPr>
              <a:t>磁带的结构</a:t>
            </a:r>
            <a:r>
              <a:rPr lang="zh-CN" altLang="en-US" sz="2000" dirty="0">
                <a:solidFill>
                  <a:schemeClr val="bg2"/>
                </a:solidFill>
                <a:effectLst>
                  <a:outerShdw blurRad="38100" dist="38100" dir="2700000" algn="tl">
                    <a:srgbClr val="000000"/>
                  </a:outerShdw>
                </a:effectLst>
                <a:latin typeface="+mj-ea"/>
                <a:ea typeface="+mj-ea"/>
              </a:rPr>
              <a:t> </a:t>
            </a:r>
          </a:p>
        </p:txBody>
      </p:sp>
      <p:sp>
        <p:nvSpPr>
          <p:cNvPr id="8"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2" name="矩形 1"/>
          <p:cNvSpPr/>
          <p:nvPr/>
        </p:nvSpPr>
        <p:spPr>
          <a:xfrm>
            <a:off x="2849474" y="680315"/>
            <a:ext cx="3267240" cy="646331"/>
          </a:xfrm>
          <a:prstGeom prst="rect">
            <a:avLst/>
          </a:prstGeom>
        </p:spPr>
        <p:txBody>
          <a:bodyPr wrap="none">
            <a:spAutoFit/>
          </a:bodyPr>
          <a:lstStyle/>
          <a:p>
            <a:pPr marL="0" lvl="2" algn="ctr" defTabSz="355600" eaLnBrk="1" hangingPunct="1">
              <a:lnSpc>
                <a:spcPct val="90000"/>
              </a:lnSpc>
              <a:buClr>
                <a:schemeClr val="bg1"/>
              </a:buClr>
              <a:buSzPct val="80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顺序存取设备</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0" y="549275"/>
            <a:ext cx="9252520" cy="4752975"/>
          </a:xfrm>
        </p:spPr>
        <p:txBody>
          <a:bodyPr/>
          <a:lstStyle/>
          <a:p>
            <a:pPr marL="51435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磁盘最典型</a:t>
            </a:r>
          </a:p>
          <a:p>
            <a:pPr marL="51435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允许直接存取磁盘上的任意物理块。</a:t>
            </a:r>
            <a:endParaRPr lang="en-US" altLang="zh-CN" sz="3200" b="1" kern="1200" dirty="0">
              <a:solidFill>
                <a:schemeClr val="bg2"/>
              </a:solidFill>
              <a:latin typeface="+mj-lt"/>
              <a:ea typeface="楷体" panose="02010609060101010101" pitchFamily="49" charset="-122"/>
              <a:cs typeface="+mn-cs"/>
            </a:endParaRPr>
          </a:p>
          <a:p>
            <a:pPr marL="51435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信息记录在磁道上，多个盘片，正反两面都用来记录信息，每面一个磁头</a:t>
            </a:r>
          </a:p>
          <a:p>
            <a:pPr marL="51435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柱面：所有盘面中处于同一磁道号上的所有磁道组成</a:t>
            </a:r>
          </a:p>
          <a:p>
            <a:pPr marL="514350" lvl="1"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 物理地址形式</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b="1" kern="1200" dirty="0">
                <a:solidFill>
                  <a:schemeClr val="bg2"/>
                </a:solidFill>
                <a:latin typeface="+mj-lt"/>
                <a:ea typeface="楷体" panose="02010609060101010101" pitchFamily="49" charset="-122"/>
                <a:cs typeface="+mn-cs"/>
              </a:rPr>
              <a:t>磁头号（盘面号）</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b="1" kern="1200" dirty="0">
                <a:solidFill>
                  <a:schemeClr val="bg2"/>
                </a:solidFill>
                <a:latin typeface="+mj-lt"/>
                <a:ea typeface="楷体" panose="02010609060101010101" pitchFamily="49" charset="-122"/>
                <a:cs typeface="+mn-cs"/>
              </a:rPr>
              <a:t>磁道号（柱面号）</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b="1" kern="1200" dirty="0">
                <a:solidFill>
                  <a:schemeClr val="bg2"/>
                </a:solidFill>
                <a:latin typeface="+mj-lt"/>
                <a:ea typeface="楷体" panose="02010609060101010101" pitchFamily="49" charset="-122"/>
                <a:cs typeface="+mn-cs"/>
              </a:rPr>
              <a:t>扇区号</a:t>
            </a:r>
          </a:p>
        </p:txBody>
      </p:sp>
      <p:pic>
        <p:nvPicPr>
          <p:cNvPr id="60419" name="Picture 4" descr="h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375" y="3429000"/>
            <a:ext cx="5256213"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2405" name="Rectangle 5"/>
          <p:cNvSpPr>
            <a:spLocks noChangeArrowheads="1"/>
          </p:cNvSpPr>
          <p:nvPr/>
        </p:nvSpPr>
        <p:spPr bwMode="auto">
          <a:xfrm>
            <a:off x="4786313" y="6276945"/>
            <a:ext cx="2122697" cy="400110"/>
          </a:xfrm>
          <a:prstGeom prst="rect">
            <a:avLst/>
          </a:prstGeom>
          <a:noFill/>
          <a:ln w="9525">
            <a:noFill/>
            <a:miter lim="800000"/>
            <a:headEnd/>
            <a:tailEnd/>
          </a:ln>
          <a:effectLst/>
        </p:spPr>
        <p:txBody>
          <a:bodyPr wrap="none" anchor="ctr">
            <a:spAutoFit/>
          </a:bodyPr>
          <a:lstStyle/>
          <a:p>
            <a:pPr eaLnBrk="1" hangingPunct="1">
              <a:defRPr/>
            </a:pPr>
            <a:r>
              <a:rPr lang="zh-CN" altLang="en-US" sz="2000" dirty="0">
                <a:solidFill>
                  <a:schemeClr val="bg2"/>
                </a:solidFill>
                <a:ea typeface="楷体_GB2312" pitchFamily="49" charset="-122"/>
              </a:rPr>
              <a:t>图 </a:t>
            </a:r>
            <a:r>
              <a:rPr lang="en-US" altLang="zh-CN" sz="2000" dirty="0">
                <a:solidFill>
                  <a:schemeClr val="bg2"/>
                </a:solidFill>
                <a:ea typeface="楷体_GB2312" pitchFamily="49" charset="-122"/>
              </a:rPr>
              <a:t> </a:t>
            </a:r>
            <a:r>
              <a:rPr lang="zh-CN" altLang="en-US" sz="2000" dirty="0">
                <a:solidFill>
                  <a:schemeClr val="bg2"/>
                </a:solidFill>
                <a:ea typeface="楷体_GB2312" pitchFamily="49" charset="-122"/>
              </a:rPr>
              <a:t>磁盘的结构</a:t>
            </a:r>
            <a:r>
              <a:rPr lang="zh-CN" altLang="en-US" sz="2000" dirty="0">
                <a:solidFill>
                  <a:schemeClr val="bg2"/>
                </a:solidFill>
                <a:effectLst>
                  <a:outerShdw blurRad="38100" dist="38100" dir="2700000" algn="tl">
                    <a:srgbClr val="000000"/>
                  </a:outerShdw>
                </a:effectLst>
                <a:ea typeface="方正舒体" pitchFamily="2" charset="-122"/>
              </a:rPr>
              <a:t> </a:t>
            </a:r>
          </a:p>
        </p:txBody>
      </p:sp>
      <p:sp>
        <p:nvSpPr>
          <p:cNvPr id="742406" name="Rectangle 6"/>
          <p:cNvSpPr>
            <a:spLocks noGrp="1" noChangeArrowheads="1"/>
          </p:cNvSpPr>
          <p:nvPr>
            <p:ph type="title"/>
          </p:nvPr>
        </p:nvSpPr>
        <p:spPr>
          <a:xfrm>
            <a:off x="900113" y="0"/>
            <a:ext cx="7772400" cy="820738"/>
          </a:xfrm>
        </p:spPr>
        <p:txBody>
          <a:bodyPr/>
          <a:lstStyle/>
          <a:p>
            <a:pPr marL="342900" lvl="2" indent="-342900" algn="ctr" defTabSz="355600" eaLnBrk="1" hangingPunct="1">
              <a:lnSpc>
                <a:spcPct val="90000"/>
              </a:lnSpc>
              <a:buClr>
                <a:schemeClr val="bg1"/>
              </a:buClr>
              <a:buSzPct val="80000"/>
              <a:defRPr/>
            </a:pPr>
            <a:r>
              <a:rPr lang="zh-CN" altLang="en-US" sz="4000" b="1" kern="12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直接存取设备</a:t>
            </a:r>
            <a:endParaRPr lang="zh-CN" altLang="en-US" sz="4000" b="1" kern="12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8"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2276" name="Text Box 4"/>
          <p:cNvSpPr txBox="1">
            <a:spLocks noChangeArrowheads="1"/>
          </p:cNvSpPr>
          <p:nvPr/>
        </p:nvSpPr>
        <p:spPr bwMode="auto">
          <a:xfrm>
            <a:off x="0" y="155357"/>
            <a:ext cx="921625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marL="342900" lvl="2" indent="-342900" algn="ctr" defTabSz="355600" eaLnBrk="1" hangingPunct="1">
              <a:lnSpc>
                <a:spcPct val="90000"/>
              </a:lnSpc>
              <a:spcBef>
                <a:spcPct val="0"/>
              </a:spcBef>
              <a:buClr>
                <a:schemeClr val="bg1"/>
              </a:buClr>
              <a:buSzPct val="80000"/>
              <a:buFontTx/>
              <a:buNone/>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存储设备、存储结构、存取方式间的关系</a:t>
            </a:r>
          </a:p>
        </p:txBody>
      </p:sp>
      <p:sp>
        <p:nvSpPr>
          <p:cNvPr id="822278" name="Text Box 6"/>
          <p:cNvSpPr txBox="1">
            <a:spLocks noChangeArrowheads="1"/>
          </p:cNvSpPr>
          <p:nvPr/>
        </p:nvSpPr>
        <p:spPr bwMode="auto">
          <a:xfrm>
            <a:off x="395288" y="1844675"/>
            <a:ext cx="18161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dirty="0">
                <a:solidFill>
                  <a:schemeClr val="bg2"/>
                </a:solidFill>
                <a:latin typeface="Arial" panose="020B0604020202020204" pitchFamily="34" charset="0"/>
                <a:ea typeface="宋体" panose="02010600030101010101" pitchFamily="2" charset="-122"/>
              </a:rPr>
              <a:t>存储设备</a:t>
            </a:r>
          </a:p>
        </p:txBody>
      </p:sp>
      <p:sp>
        <p:nvSpPr>
          <p:cNvPr id="822285" name="Text Box 13"/>
          <p:cNvSpPr txBox="1">
            <a:spLocks noChangeArrowheads="1"/>
          </p:cNvSpPr>
          <p:nvPr/>
        </p:nvSpPr>
        <p:spPr bwMode="auto">
          <a:xfrm>
            <a:off x="395288" y="2852738"/>
            <a:ext cx="18161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dirty="0">
                <a:solidFill>
                  <a:schemeClr val="bg2"/>
                </a:solidFill>
                <a:latin typeface="Arial" panose="020B0604020202020204" pitchFamily="34" charset="0"/>
                <a:ea typeface="宋体" panose="02010600030101010101" pitchFamily="2" charset="-122"/>
              </a:rPr>
              <a:t>存储结构</a:t>
            </a:r>
          </a:p>
        </p:txBody>
      </p:sp>
      <p:sp>
        <p:nvSpPr>
          <p:cNvPr id="822286" name="Text Box 14"/>
          <p:cNvSpPr txBox="1">
            <a:spLocks noChangeArrowheads="1"/>
          </p:cNvSpPr>
          <p:nvPr/>
        </p:nvSpPr>
        <p:spPr bwMode="auto">
          <a:xfrm>
            <a:off x="468313" y="4221163"/>
            <a:ext cx="18161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dirty="0">
                <a:solidFill>
                  <a:schemeClr val="bg2"/>
                </a:solidFill>
                <a:latin typeface="Arial" panose="020B0604020202020204" pitchFamily="34" charset="0"/>
                <a:ea typeface="宋体" panose="02010600030101010101" pitchFamily="2" charset="-122"/>
              </a:rPr>
              <a:t>存取方式</a:t>
            </a:r>
          </a:p>
        </p:txBody>
      </p:sp>
      <p:sp>
        <p:nvSpPr>
          <p:cNvPr id="822287" name="Text Box 15"/>
          <p:cNvSpPr txBox="1">
            <a:spLocks noChangeArrowheads="1"/>
          </p:cNvSpPr>
          <p:nvPr/>
        </p:nvSpPr>
        <p:spPr bwMode="auto">
          <a:xfrm>
            <a:off x="3492500" y="1844675"/>
            <a:ext cx="1901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dirty="0">
                <a:solidFill>
                  <a:schemeClr val="bg2"/>
                </a:solidFill>
                <a:latin typeface="Arial" panose="020B0604020202020204" pitchFamily="34" charset="0"/>
                <a:ea typeface="宋体" panose="02010600030101010101" pitchFamily="2" charset="-122"/>
              </a:rPr>
              <a:t>磁        盘</a:t>
            </a:r>
          </a:p>
        </p:txBody>
      </p:sp>
      <p:sp>
        <p:nvSpPr>
          <p:cNvPr id="822288" name="Text Box 16"/>
          <p:cNvSpPr txBox="1">
            <a:spLocks noChangeArrowheads="1"/>
          </p:cNvSpPr>
          <p:nvPr/>
        </p:nvSpPr>
        <p:spPr bwMode="auto">
          <a:xfrm>
            <a:off x="7380288" y="1773238"/>
            <a:ext cx="1112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dirty="0">
                <a:solidFill>
                  <a:schemeClr val="bg2"/>
                </a:solidFill>
                <a:latin typeface="Arial" panose="020B0604020202020204" pitchFamily="34" charset="0"/>
                <a:ea typeface="宋体" panose="02010600030101010101" pitchFamily="2" charset="-122"/>
              </a:rPr>
              <a:t>磁 带</a:t>
            </a:r>
          </a:p>
        </p:txBody>
      </p:sp>
      <p:sp>
        <p:nvSpPr>
          <p:cNvPr id="822289" name="Text Box 17"/>
          <p:cNvSpPr txBox="1">
            <a:spLocks noChangeArrowheads="1"/>
          </p:cNvSpPr>
          <p:nvPr/>
        </p:nvSpPr>
        <p:spPr bwMode="auto">
          <a:xfrm>
            <a:off x="2484438" y="292417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sz="2400" dirty="0">
                <a:solidFill>
                  <a:schemeClr val="bg2"/>
                </a:solidFill>
                <a:latin typeface="Arial" panose="020B0604020202020204" pitchFamily="34" charset="0"/>
                <a:ea typeface="宋体" panose="02010600030101010101" pitchFamily="2" charset="-122"/>
              </a:rPr>
              <a:t>连续文件</a:t>
            </a:r>
          </a:p>
        </p:txBody>
      </p:sp>
      <p:sp>
        <p:nvSpPr>
          <p:cNvPr id="822290" name="Text Box 18"/>
          <p:cNvSpPr txBox="1">
            <a:spLocks noChangeArrowheads="1"/>
          </p:cNvSpPr>
          <p:nvPr/>
        </p:nvSpPr>
        <p:spPr bwMode="auto">
          <a:xfrm>
            <a:off x="2484438" y="4292600"/>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sz="2400" dirty="0">
                <a:solidFill>
                  <a:schemeClr val="bg2"/>
                </a:solidFill>
                <a:latin typeface="Arial" panose="020B0604020202020204" pitchFamily="34" charset="0"/>
                <a:ea typeface="宋体" panose="02010600030101010101" pitchFamily="2" charset="-122"/>
              </a:rPr>
              <a:t>顺序、随机</a:t>
            </a:r>
          </a:p>
        </p:txBody>
      </p:sp>
      <p:sp>
        <p:nvSpPr>
          <p:cNvPr id="822291" name="Text Box 19"/>
          <p:cNvSpPr txBox="1">
            <a:spLocks noChangeArrowheads="1"/>
          </p:cNvSpPr>
          <p:nvPr/>
        </p:nvSpPr>
        <p:spPr bwMode="auto">
          <a:xfrm>
            <a:off x="4140200" y="292417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sz="2400" dirty="0">
                <a:solidFill>
                  <a:schemeClr val="bg2"/>
                </a:solidFill>
                <a:latin typeface="Arial" panose="020B0604020202020204" pitchFamily="34" charset="0"/>
                <a:ea typeface="宋体" panose="02010600030101010101" pitchFamily="2" charset="-122"/>
              </a:rPr>
              <a:t>串联文件</a:t>
            </a:r>
          </a:p>
        </p:txBody>
      </p:sp>
      <p:sp>
        <p:nvSpPr>
          <p:cNvPr id="822292" name="Text Box 20"/>
          <p:cNvSpPr txBox="1">
            <a:spLocks noChangeArrowheads="1"/>
          </p:cNvSpPr>
          <p:nvPr/>
        </p:nvSpPr>
        <p:spPr bwMode="auto">
          <a:xfrm>
            <a:off x="4429125" y="4292600"/>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sz="2400" dirty="0">
                <a:solidFill>
                  <a:schemeClr val="bg2"/>
                </a:solidFill>
                <a:latin typeface="Arial" panose="020B0604020202020204" pitchFamily="34" charset="0"/>
                <a:ea typeface="宋体" panose="02010600030101010101" pitchFamily="2" charset="-122"/>
              </a:rPr>
              <a:t>顺序</a:t>
            </a:r>
          </a:p>
        </p:txBody>
      </p:sp>
      <p:sp>
        <p:nvSpPr>
          <p:cNvPr id="822293" name="Text Box 21"/>
          <p:cNvSpPr txBox="1">
            <a:spLocks noChangeArrowheads="1"/>
          </p:cNvSpPr>
          <p:nvPr/>
        </p:nvSpPr>
        <p:spPr bwMode="auto">
          <a:xfrm>
            <a:off x="5795963" y="292417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sz="2400" dirty="0">
                <a:solidFill>
                  <a:schemeClr val="bg2"/>
                </a:solidFill>
                <a:latin typeface="Arial" panose="020B0604020202020204" pitchFamily="34" charset="0"/>
                <a:ea typeface="宋体" panose="02010600030101010101" pitchFamily="2" charset="-122"/>
              </a:rPr>
              <a:t>索引文件</a:t>
            </a:r>
          </a:p>
        </p:txBody>
      </p:sp>
      <p:sp>
        <p:nvSpPr>
          <p:cNvPr id="822294" name="Text Box 22"/>
          <p:cNvSpPr txBox="1">
            <a:spLocks noChangeArrowheads="1"/>
          </p:cNvSpPr>
          <p:nvPr/>
        </p:nvSpPr>
        <p:spPr bwMode="auto">
          <a:xfrm>
            <a:off x="5724525" y="4292600"/>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sz="2400" dirty="0">
                <a:solidFill>
                  <a:schemeClr val="bg2"/>
                </a:solidFill>
                <a:latin typeface="Arial" panose="020B0604020202020204" pitchFamily="34" charset="0"/>
                <a:ea typeface="宋体" panose="02010600030101010101" pitchFamily="2" charset="-122"/>
              </a:rPr>
              <a:t>顺序、随机</a:t>
            </a:r>
          </a:p>
        </p:txBody>
      </p:sp>
      <p:sp>
        <p:nvSpPr>
          <p:cNvPr id="822295" name="Text Box 23"/>
          <p:cNvSpPr txBox="1">
            <a:spLocks noChangeArrowheads="1"/>
          </p:cNvSpPr>
          <p:nvPr/>
        </p:nvSpPr>
        <p:spPr bwMode="auto">
          <a:xfrm>
            <a:off x="7380288" y="292417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sz="2400" dirty="0">
                <a:solidFill>
                  <a:schemeClr val="bg2"/>
                </a:solidFill>
                <a:latin typeface="Arial" panose="020B0604020202020204" pitchFamily="34" charset="0"/>
                <a:ea typeface="宋体" panose="02010600030101010101" pitchFamily="2" charset="-122"/>
              </a:rPr>
              <a:t>连续文件</a:t>
            </a:r>
          </a:p>
        </p:txBody>
      </p:sp>
      <p:sp>
        <p:nvSpPr>
          <p:cNvPr id="822296" name="Text Box 24"/>
          <p:cNvSpPr txBox="1">
            <a:spLocks noChangeArrowheads="1"/>
          </p:cNvSpPr>
          <p:nvPr/>
        </p:nvSpPr>
        <p:spPr bwMode="auto">
          <a:xfrm>
            <a:off x="7813675" y="4292600"/>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0" lang="zh-CN" altLang="en-US" sz="2400" dirty="0">
                <a:solidFill>
                  <a:schemeClr val="bg2"/>
                </a:solidFill>
                <a:latin typeface="Arial" panose="020B0604020202020204" pitchFamily="34" charset="0"/>
                <a:ea typeface="宋体" panose="02010600030101010101" pitchFamily="2" charset="-122"/>
              </a:rPr>
              <a:t>顺序</a:t>
            </a:r>
          </a:p>
        </p:txBody>
      </p:sp>
      <p:graphicFrame>
        <p:nvGraphicFramePr>
          <p:cNvPr id="822349" name="Group 77"/>
          <p:cNvGraphicFramePr>
            <a:graphicFrameLocks noGrp="1"/>
          </p:cNvGraphicFramePr>
          <p:nvPr>
            <p:ph/>
            <p:extLst>
              <p:ext uri="{D42A27DB-BD31-4B8C-83A1-F6EECF244321}">
                <p14:modId xmlns:p14="http://schemas.microsoft.com/office/powerpoint/2010/main" val="334518339"/>
              </p:ext>
            </p:extLst>
          </p:nvPr>
        </p:nvGraphicFramePr>
        <p:xfrm>
          <a:off x="489418" y="1643062"/>
          <a:ext cx="8424862" cy="3225801"/>
        </p:xfrm>
        <a:graphic>
          <a:graphicData uri="http://schemas.openxmlformats.org/drawingml/2006/table">
            <a:tbl>
              <a:tblPr/>
              <a:tblGrid>
                <a:gridCol w="1871662">
                  <a:extLst>
                    <a:ext uri="{9D8B030D-6E8A-4147-A177-3AD203B41FA5}">
                      <a16:colId xmlns:a16="http://schemas.microsoft.com/office/drawing/2014/main" val="20000"/>
                    </a:ext>
                  </a:extLst>
                </a:gridCol>
                <a:gridCol w="5013325">
                  <a:extLst>
                    <a:ext uri="{9D8B030D-6E8A-4147-A177-3AD203B41FA5}">
                      <a16:colId xmlns:a16="http://schemas.microsoft.com/office/drawing/2014/main" val="20001"/>
                    </a:ext>
                  </a:extLst>
                </a:gridCol>
                <a:gridCol w="1539875">
                  <a:extLst>
                    <a:ext uri="{9D8B030D-6E8A-4147-A177-3AD203B41FA5}">
                      <a16:colId xmlns:a16="http://schemas.microsoft.com/office/drawing/2014/main" val="20002"/>
                    </a:ext>
                  </a:extLst>
                </a:gridCol>
              </a:tblGrid>
              <a:tr h="1074738">
                <a:tc>
                  <a:txBody>
                    <a:bodyPr/>
                    <a:lstStyle/>
                    <a:p>
                      <a:pPr marL="0" marR="0" lvl="0" indent="0" algn="l" defTabSz="914400" rtl="0" eaLnBrk="1" fontAlgn="base" latinLnBrk="0" hangingPunct="1">
                        <a:lnSpc>
                          <a:spcPct val="100000"/>
                        </a:lnSpc>
                        <a:spcBef>
                          <a:spcPct val="20000"/>
                        </a:spcBef>
                        <a:spcAft>
                          <a:spcPct val="0"/>
                        </a:spcAft>
                        <a:buClr>
                          <a:srgbClr val="FFABFF"/>
                        </a:buClr>
                        <a:buSzPct val="90000"/>
                        <a:buFont typeface="Symbol" pitchFamily="18" charset="2"/>
                        <a:buNone/>
                        <a:tabLst/>
                      </a:pPr>
                      <a:endParaRPr kumimoji="1" lang="zh-CN" altLang="zh-CN" sz="2800" b="1" i="0" u="none" strike="noStrike" cap="none" normalizeH="0" baseline="0" dirty="0" smtClean="0">
                        <a:ln>
                          <a:noFill/>
                        </a:ln>
                        <a:solidFill>
                          <a:schemeClr val="bg2"/>
                        </a:solidFill>
                        <a:effectLst/>
                        <a:latin typeface="Times New Roman" pitchFamily="18" charset="0"/>
                        <a:ea typeface="楷体_GB2312" pitchFamily="49"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ABFF"/>
                        </a:buClr>
                        <a:buSzPct val="90000"/>
                        <a:buFont typeface="Symbol" pitchFamily="18" charset="2"/>
                        <a:buNone/>
                        <a:tabLst/>
                      </a:pPr>
                      <a:endParaRPr kumimoji="1" lang="zh-CN" altLang="zh-CN" sz="2800" b="1" i="0" u="none" strike="noStrike" cap="none" normalizeH="0" baseline="0" dirty="0" smtClean="0">
                        <a:ln>
                          <a:noFill/>
                        </a:ln>
                        <a:solidFill>
                          <a:schemeClr val="bg2"/>
                        </a:solidFill>
                        <a:effectLst/>
                        <a:latin typeface="Times New Roman" pitchFamily="18" charset="0"/>
                        <a:ea typeface="楷体_GB2312" pitchFamily="49"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ABFF"/>
                        </a:buClr>
                        <a:buSzPct val="90000"/>
                        <a:buFont typeface="Symbol" pitchFamily="18" charset="2"/>
                        <a:buNone/>
                        <a:tabLst/>
                      </a:pPr>
                      <a:endParaRPr kumimoji="1" lang="zh-CN" altLang="zh-CN" sz="2800" b="1" i="0" u="none" strike="noStrike" cap="none" normalizeH="0" baseline="0" dirty="0" smtClean="0">
                        <a:ln>
                          <a:noFill/>
                        </a:ln>
                        <a:solidFill>
                          <a:schemeClr val="bg2"/>
                        </a:solidFill>
                        <a:effectLst/>
                        <a:latin typeface="Times New Roman" pitchFamily="18" charset="0"/>
                        <a:ea typeface="楷体_GB2312" pitchFamily="49"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76325">
                <a:tc>
                  <a:txBody>
                    <a:bodyPr/>
                    <a:lstStyle/>
                    <a:p>
                      <a:pPr marL="0" marR="0" lvl="0" indent="0" algn="l" defTabSz="914400" rtl="0" eaLnBrk="1" fontAlgn="base" latinLnBrk="0" hangingPunct="1">
                        <a:lnSpc>
                          <a:spcPct val="100000"/>
                        </a:lnSpc>
                        <a:spcBef>
                          <a:spcPct val="20000"/>
                        </a:spcBef>
                        <a:spcAft>
                          <a:spcPct val="0"/>
                        </a:spcAft>
                        <a:buClr>
                          <a:srgbClr val="FFABFF"/>
                        </a:buClr>
                        <a:buSzPct val="90000"/>
                        <a:buFont typeface="Symbol" pitchFamily="18" charset="2"/>
                        <a:buNone/>
                        <a:tabLst/>
                      </a:pPr>
                      <a:endParaRPr kumimoji="1" lang="zh-CN" altLang="zh-CN" sz="2800" b="1" i="0" u="none" strike="noStrike" cap="none" normalizeH="0" baseline="0" dirty="0" smtClean="0">
                        <a:ln>
                          <a:noFill/>
                        </a:ln>
                        <a:solidFill>
                          <a:schemeClr val="bg2"/>
                        </a:solidFill>
                        <a:effectLst/>
                        <a:latin typeface="Times New Roman" pitchFamily="18" charset="0"/>
                        <a:ea typeface="楷体_GB2312" pitchFamily="49"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ABFF"/>
                        </a:buClr>
                        <a:buSzPct val="90000"/>
                        <a:buFont typeface="Symbol" pitchFamily="18" charset="2"/>
                        <a:buNone/>
                        <a:tabLst/>
                      </a:pPr>
                      <a:endParaRPr kumimoji="1" lang="zh-CN" altLang="zh-CN" sz="2800" b="1" i="0" u="none" strike="noStrike" cap="none" normalizeH="0" baseline="0" dirty="0" smtClean="0">
                        <a:ln>
                          <a:noFill/>
                        </a:ln>
                        <a:solidFill>
                          <a:schemeClr val="bg2"/>
                        </a:solidFill>
                        <a:effectLst/>
                        <a:latin typeface="Times New Roman" pitchFamily="18" charset="0"/>
                        <a:ea typeface="楷体_GB2312" pitchFamily="49"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ABFF"/>
                        </a:buClr>
                        <a:buSzPct val="90000"/>
                        <a:buFont typeface="Symbol" pitchFamily="18" charset="2"/>
                        <a:buNone/>
                        <a:tabLst/>
                      </a:pPr>
                      <a:endParaRPr kumimoji="1" lang="zh-CN" altLang="zh-CN" sz="2800" b="1" i="0" u="none" strike="noStrike" cap="none" normalizeH="0" baseline="0" smtClean="0">
                        <a:ln>
                          <a:noFill/>
                        </a:ln>
                        <a:solidFill>
                          <a:schemeClr val="bg2"/>
                        </a:solidFill>
                        <a:effectLst/>
                        <a:latin typeface="Times New Roman" pitchFamily="18" charset="0"/>
                        <a:ea typeface="楷体_GB2312" pitchFamily="49"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74738">
                <a:tc>
                  <a:txBody>
                    <a:bodyPr/>
                    <a:lstStyle/>
                    <a:p>
                      <a:pPr marL="0" marR="0" lvl="0" indent="0" algn="l" defTabSz="914400" rtl="0" eaLnBrk="1" fontAlgn="base" latinLnBrk="0" hangingPunct="1">
                        <a:lnSpc>
                          <a:spcPct val="100000"/>
                        </a:lnSpc>
                        <a:spcBef>
                          <a:spcPct val="20000"/>
                        </a:spcBef>
                        <a:spcAft>
                          <a:spcPct val="0"/>
                        </a:spcAft>
                        <a:buClr>
                          <a:srgbClr val="FFABFF"/>
                        </a:buClr>
                        <a:buSzPct val="90000"/>
                        <a:buFont typeface="Symbol" pitchFamily="18" charset="2"/>
                        <a:buNone/>
                        <a:tabLst/>
                      </a:pPr>
                      <a:endParaRPr kumimoji="1" lang="zh-CN" altLang="zh-CN" sz="2800" b="1" i="0" u="none" strike="noStrike" cap="none" normalizeH="0" baseline="0" dirty="0" smtClean="0">
                        <a:ln>
                          <a:noFill/>
                        </a:ln>
                        <a:solidFill>
                          <a:schemeClr val="bg2"/>
                        </a:solidFill>
                        <a:effectLst/>
                        <a:latin typeface="Times New Roman" pitchFamily="18" charset="0"/>
                        <a:ea typeface="楷体_GB2312" pitchFamily="49"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ABFF"/>
                        </a:buClr>
                        <a:buSzPct val="90000"/>
                        <a:buFont typeface="Symbol" pitchFamily="18" charset="2"/>
                        <a:buNone/>
                        <a:tabLst/>
                      </a:pPr>
                      <a:endParaRPr kumimoji="1" lang="zh-CN" altLang="zh-CN" sz="2800" b="1" i="0" u="none" strike="noStrike" cap="none" normalizeH="0" baseline="0" dirty="0" smtClean="0">
                        <a:ln>
                          <a:noFill/>
                        </a:ln>
                        <a:solidFill>
                          <a:schemeClr val="bg2"/>
                        </a:solidFill>
                        <a:effectLst/>
                        <a:latin typeface="Times New Roman" pitchFamily="18" charset="0"/>
                        <a:ea typeface="楷体_GB2312" pitchFamily="49"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ABFF"/>
                        </a:buClr>
                        <a:buSzPct val="90000"/>
                        <a:buFont typeface="Symbol" pitchFamily="18" charset="2"/>
                        <a:buNone/>
                        <a:tabLst/>
                      </a:pPr>
                      <a:endParaRPr kumimoji="1" lang="zh-CN" altLang="zh-CN" sz="2800" b="1" i="0" u="none" strike="noStrike" cap="none" normalizeH="0" baseline="0" dirty="0" smtClean="0">
                        <a:ln>
                          <a:noFill/>
                        </a:ln>
                        <a:solidFill>
                          <a:schemeClr val="bg2"/>
                        </a:solidFill>
                        <a:effectLst/>
                        <a:latin typeface="Times New Roman" pitchFamily="18" charset="0"/>
                        <a:ea typeface="楷体_GB2312" pitchFamily="49"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2498" name="Line 78"/>
          <p:cNvSpPr>
            <a:spLocks noChangeShapeType="1"/>
          </p:cNvSpPr>
          <p:nvPr/>
        </p:nvSpPr>
        <p:spPr bwMode="auto">
          <a:xfrm>
            <a:off x="5580063" y="2781300"/>
            <a:ext cx="0" cy="2087563"/>
          </a:xfrm>
          <a:prstGeom prst="line">
            <a:avLst/>
          </a:prstGeom>
          <a:noFill/>
          <a:ln w="38100" cap="sq">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2499" name="Line 79"/>
          <p:cNvSpPr>
            <a:spLocks noChangeShapeType="1"/>
          </p:cNvSpPr>
          <p:nvPr/>
        </p:nvSpPr>
        <p:spPr bwMode="auto">
          <a:xfrm>
            <a:off x="4140200" y="2781300"/>
            <a:ext cx="0" cy="2160588"/>
          </a:xfrm>
          <a:prstGeom prst="line">
            <a:avLst/>
          </a:prstGeom>
          <a:noFill/>
          <a:ln w="38100" cap="sq">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822278"/>
                                        </p:tgtEl>
                                        <p:attrNameLst>
                                          <p:attrName>style.visibility</p:attrName>
                                        </p:attrNameLst>
                                      </p:cBhvr>
                                      <p:to>
                                        <p:strVal val="visible"/>
                                      </p:to>
                                    </p:set>
                                    <p:anim calcmode="lin" valueType="num">
                                      <p:cBhvr additive="base">
                                        <p:cTn id="7" dur="3000" fill="hold"/>
                                        <p:tgtEl>
                                          <p:spTgt spid="822278"/>
                                        </p:tgtEl>
                                        <p:attrNameLst>
                                          <p:attrName>ppt_x</p:attrName>
                                        </p:attrNameLst>
                                      </p:cBhvr>
                                      <p:tavLst>
                                        <p:tav tm="0">
                                          <p:val>
                                            <p:strVal val="#ppt_x"/>
                                          </p:val>
                                        </p:tav>
                                        <p:tav tm="100000">
                                          <p:val>
                                            <p:strVal val="#ppt_x"/>
                                          </p:val>
                                        </p:tav>
                                      </p:tavLst>
                                    </p:anim>
                                    <p:anim calcmode="lin" valueType="num">
                                      <p:cBhvr additive="base">
                                        <p:cTn id="8" dur="3000" fill="hold"/>
                                        <p:tgtEl>
                                          <p:spTgt spid="82227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22285"/>
                                        </p:tgtEl>
                                        <p:attrNameLst>
                                          <p:attrName>style.visibility</p:attrName>
                                        </p:attrNameLst>
                                      </p:cBhvr>
                                      <p:to>
                                        <p:strVal val="visible"/>
                                      </p:to>
                                    </p:set>
                                    <p:anim calcmode="lin" valueType="num">
                                      <p:cBhvr additive="base">
                                        <p:cTn id="11" dur="3000" fill="hold"/>
                                        <p:tgtEl>
                                          <p:spTgt spid="822285"/>
                                        </p:tgtEl>
                                        <p:attrNameLst>
                                          <p:attrName>ppt_x</p:attrName>
                                        </p:attrNameLst>
                                      </p:cBhvr>
                                      <p:tavLst>
                                        <p:tav tm="0">
                                          <p:val>
                                            <p:strVal val="#ppt_x"/>
                                          </p:val>
                                        </p:tav>
                                        <p:tav tm="100000">
                                          <p:val>
                                            <p:strVal val="#ppt_x"/>
                                          </p:val>
                                        </p:tav>
                                      </p:tavLst>
                                    </p:anim>
                                    <p:anim calcmode="lin" valueType="num">
                                      <p:cBhvr additive="base">
                                        <p:cTn id="12" dur="3000" fill="hold"/>
                                        <p:tgtEl>
                                          <p:spTgt spid="82228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22286"/>
                                        </p:tgtEl>
                                        <p:attrNameLst>
                                          <p:attrName>style.visibility</p:attrName>
                                        </p:attrNameLst>
                                      </p:cBhvr>
                                      <p:to>
                                        <p:strVal val="visible"/>
                                      </p:to>
                                    </p:set>
                                    <p:anim calcmode="lin" valueType="num">
                                      <p:cBhvr additive="base">
                                        <p:cTn id="15" dur="3000" fill="hold"/>
                                        <p:tgtEl>
                                          <p:spTgt spid="822286"/>
                                        </p:tgtEl>
                                        <p:attrNameLst>
                                          <p:attrName>ppt_x</p:attrName>
                                        </p:attrNameLst>
                                      </p:cBhvr>
                                      <p:tavLst>
                                        <p:tav tm="0">
                                          <p:val>
                                            <p:strVal val="#ppt_x"/>
                                          </p:val>
                                        </p:tav>
                                        <p:tav tm="100000">
                                          <p:val>
                                            <p:strVal val="#ppt_x"/>
                                          </p:val>
                                        </p:tav>
                                      </p:tavLst>
                                    </p:anim>
                                    <p:anim calcmode="lin" valueType="num">
                                      <p:cBhvr additive="base">
                                        <p:cTn id="16" dur="3000" fill="hold"/>
                                        <p:tgtEl>
                                          <p:spTgt spid="82228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22287"/>
                                        </p:tgtEl>
                                        <p:attrNameLst>
                                          <p:attrName>style.visibility</p:attrName>
                                        </p:attrNameLst>
                                      </p:cBhvr>
                                      <p:to>
                                        <p:strVal val="visible"/>
                                      </p:to>
                                    </p:set>
                                    <p:anim calcmode="lin" valueType="num">
                                      <p:cBhvr additive="base">
                                        <p:cTn id="19" dur="3000" fill="hold"/>
                                        <p:tgtEl>
                                          <p:spTgt spid="822287"/>
                                        </p:tgtEl>
                                        <p:attrNameLst>
                                          <p:attrName>ppt_x</p:attrName>
                                        </p:attrNameLst>
                                      </p:cBhvr>
                                      <p:tavLst>
                                        <p:tav tm="0">
                                          <p:val>
                                            <p:strVal val="#ppt_x"/>
                                          </p:val>
                                        </p:tav>
                                        <p:tav tm="100000">
                                          <p:val>
                                            <p:strVal val="#ppt_x"/>
                                          </p:val>
                                        </p:tav>
                                      </p:tavLst>
                                    </p:anim>
                                    <p:anim calcmode="lin" valueType="num">
                                      <p:cBhvr additive="base">
                                        <p:cTn id="20" dur="3000" fill="hold"/>
                                        <p:tgtEl>
                                          <p:spTgt spid="82228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22288"/>
                                        </p:tgtEl>
                                        <p:attrNameLst>
                                          <p:attrName>style.visibility</p:attrName>
                                        </p:attrNameLst>
                                      </p:cBhvr>
                                      <p:to>
                                        <p:strVal val="visible"/>
                                      </p:to>
                                    </p:set>
                                    <p:anim calcmode="lin" valueType="num">
                                      <p:cBhvr additive="base">
                                        <p:cTn id="23" dur="3000" fill="hold"/>
                                        <p:tgtEl>
                                          <p:spTgt spid="822288"/>
                                        </p:tgtEl>
                                        <p:attrNameLst>
                                          <p:attrName>ppt_x</p:attrName>
                                        </p:attrNameLst>
                                      </p:cBhvr>
                                      <p:tavLst>
                                        <p:tav tm="0">
                                          <p:val>
                                            <p:strVal val="#ppt_x"/>
                                          </p:val>
                                        </p:tav>
                                        <p:tav tm="100000">
                                          <p:val>
                                            <p:strVal val="#ppt_x"/>
                                          </p:val>
                                        </p:tav>
                                      </p:tavLst>
                                    </p:anim>
                                    <p:anim calcmode="lin" valueType="num">
                                      <p:cBhvr additive="base">
                                        <p:cTn id="24" dur="3000" fill="hold"/>
                                        <p:tgtEl>
                                          <p:spTgt spid="82228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22289"/>
                                        </p:tgtEl>
                                        <p:attrNameLst>
                                          <p:attrName>style.visibility</p:attrName>
                                        </p:attrNameLst>
                                      </p:cBhvr>
                                      <p:to>
                                        <p:strVal val="visible"/>
                                      </p:to>
                                    </p:set>
                                    <p:anim calcmode="lin" valueType="num">
                                      <p:cBhvr additive="base">
                                        <p:cTn id="27" dur="3000" fill="hold"/>
                                        <p:tgtEl>
                                          <p:spTgt spid="822289"/>
                                        </p:tgtEl>
                                        <p:attrNameLst>
                                          <p:attrName>ppt_x</p:attrName>
                                        </p:attrNameLst>
                                      </p:cBhvr>
                                      <p:tavLst>
                                        <p:tav tm="0">
                                          <p:val>
                                            <p:strVal val="#ppt_x"/>
                                          </p:val>
                                        </p:tav>
                                        <p:tav tm="100000">
                                          <p:val>
                                            <p:strVal val="#ppt_x"/>
                                          </p:val>
                                        </p:tav>
                                      </p:tavLst>
                                    </p:anim>
                                    <p:anim calcmode="lin" valueType="num">
                                      <p:cBhvr additive="base">
                                        <p:cTn id="28" dur="3000" fill="hold"/>
                                        <p:tgtEl>
                                          <p:spTgt spid="82228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22290"/>
                                        </p:tgtEl>
                                        <p:attrNameLst>
                                          <p:attrName>style.visibility</p:attrName>
                                        </p:attrNameLst>
                                      </p:cBhvr>
                                      <p:to>
                                        <p:strVal val="visible"/>
                                      </p:to>
                                    </p:set>
                                    <p:anim calcmode="lin" valueType="num">
                                      <p:cBhvr additive="base">
                                        <p:cTn id="31" dur="3000" fill="hold"/>
                                        <p:tgtEl>
                                          <p:spTgt spid="822290"/>
                                        </p:tgtEl>
                                        <p:attrNameLst>
                                          <p:attrName>ppt_x</p:attrName>
                                        </p:attrNameLst>
                                      </p:cBhvr>
                                      <p:tavLst>
                                        <p:tav tm="0">
                                          <p:val>
                                            <p:strVal val="#ppt_x"/>
                                          </p:val>
                                        </p:tav>
                                        <p:tav tm="100000">
                                          <p:val>
                                            <p:strVal val="#ppt_x"/>
                                          </p:val>
                                        </p:tav>
                                      </p:tavLst>
                                    </p:anim>
                                    <p:anim calcmode="lin" valueType="num">
                                      <p:cBhvr additive="base">
                                        <p:cTn id="32" dur="3000" fill="hold"/>
                                        <p:tgtEl>
                                          <p:spTgt spid="82229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22291"/>
                                        </p:tgtEl>
                                        <p:attrNameLst>
                                          <p:attrName>style.visibility</p:attrName>
                                        </p:attrNameLst>
                                      </p:cBhvr>
                                      <p:to>
                                        <p:strVal val="visible"/>
                                      </p:to>
                                    </p:set>
                                    <p:anim calcmode="lin" valueType="num">
                                      <p:cBhvr additive="base">
                                        <p:cTn id="35" dur="3000" fill="hold"/>
                                        <p:tgtEl>
                                          <p:spTgt spid="822291"/>
                                        </p:tgtEl>
                                        <p:attrNameLst>
                                          <p:attrName>ppt_x</p:attrName>
                                        </p:attrNameLst>
                                      </p:cBhvr>
                                      <p:tavLst>
                                        <p:tav tm="0">
                                          <p:val>
                                            <p:strVal val="#ppt_x"/>
                                          </p:val>
                                        </p:tav>
                                        <p:tav tm="100000">
                                          <p:val>
                                            <p:strVal val="#ppt_x"/>
                                          </p:val>
                                        </p:tav>
                                      </p:tavLst>
                                    </p:anim>
                                    <p:anim calcmode="lin" valueType="num">
                                      <p:cBhvr additive="base">
                                        <p:cTn id="36" dur="3000" fill="hold"/>
                                        <p:tgtEl>
                                          <p:spTgt spid="82229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822292"/>
                                        </p:tgtEl>
                                        <p:attrNameLst>
                                          <p:attrName>style.visibility</p:attrName>
                                        </p:attrNameLst>
                                      </p:cBhvr>
                                      <p:to>
                                        <p:strVal val="visible"/>
                                      </p:to>
                                    </p:set>
                                    <p:anim calcmode="lin" valueType="num">
                                      <p:cBhvr additive="base">
                                        <p:cTn id="39" dur="3000" fill="hold"/>
                                        <p:tgtEl>
                                          <p:spTgt spid="822292"/>
                                        </p:tgtEl>
                                        <p:attrNameLst>
                                          <p:attrName>ppt_x</p:attrName>
                                        </p:attrNameLst>
                                      </p:cBhvr>
                                      <p:tavLst>
                                        <p:tav tm="0">
                                          <p:val>
                                            <p:strVal val="#ppt_x"/>
                                          </p:val>
                                        </p:tav>
                                        <p:tav tm="100000">
                                          <p:val>
                                            <p:strVal val="#ppt_x"/>
                                          </p:val>
                                        </p:tav>
                                      </p:tavLst>
                                    </p:anim>
                                    <p:anim calcmode="lin" valueType="num">
                                      <p:cBhvr additive="base">
                                        <p:cTn id="40" dur="3000" fill="hold"/>
                                        <p:tgtEl>
                                          <p:spTgt spid="82229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822293"/>
                                        </p:tgtEl>
                                        <p:attrNameLst>
                                          <p:attrName>style.visibility</p:attrName>
                                        </p:attrNameLst>
                                      </p:cBhvr>
                                      <p:to>
                                        <p:strVal val="visible"/>
                                      </p:to>
                                    </p:set>
                                    <p:anim calcmode="lin" valueType="num">
                                      <p:cBhvr additive="base">
                                        <p:cTn id="43" dur="3000" fill="hold"/>
                                        <p:tgtEl>
                                          <p:spTgt spid="822293"/>
                                        </p:tgtEl>
                                        <p:attrNameLst>
                                          <p:attrName>ppt_x</p:attrName>
                                        </p:attrNameLst>
                                      </p:cBhvr>
                                      <p:tavLst>
                                        <p:tav tm="0">
                                          <p:val>
                                            <p:strVal val="#ppt_x"/>
                                          </p:val>
                                        </p:tav>
                                        <p:tav tm="100000">
                                          <p:val>
                                            <p:strVal val="#ppt_x"/>
                                          </p:val>
                                        </p:tav>
                                      </p:tavLst>
                                    </p:anim>
                                    <p:anim calcmode="lin" valueType="num">
                                      <p:cBhvr additive="base">
                                        <p:cTn id="44" dur="3000" fill="hold"/>
                                        <p:tgtEl>
                                          <p:spTgt spid="82229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822294"/>
                                        </p:tgtEl>
                                        <p:attrNameLst>
                                          <p:attrName>style.visibility</p:attrName>
                                        </p:attrNameLst>
                                      </p:cBhvr>
                                      <p:to>
                                        <p:strVal val="visible"/>
                                      </p:to>
                                    </p:set>
                                    <p:anim calcmode="lin" valueType="num">
                                      <p:cBhvr additive="base">
                                        <p:cTn id="47" dur="3000" fill="hold"/>
                                        <p:tgtEl>
                                          <p:spTgt spid="822294"/>
                                        </p:tgtEl>
                                        <p:attrNameLst>
                                          <p:attrName>ppt_x</p:attrName>
                                        </p:attrNameLst>
                                      </p:cBhvr>
                                      <p:tavLst>
                                        <p:tav tm="0">
                                          <p:val>
                                            <p:strVal val="#ppt_x"/>
                                          </p:val>
                                        </p:tav>
                                        <p:tav tm="100000">
                                          <p:val>
                                            <p:strVal val="#ppt_x"/>
                                          </p:val>
                                        </p:tav>
                                      </p:tavLst>
                                    </p:anim>
                                    <p:anim calcmode="lin" valueType="num">
                                      <p:cBhvr additive="base">
                                        <p:cTn id="48" dur="3000" fill="hold"/>
                                        <p:tgtEl>
                                          <p:spTgt spid="82229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822295"/>
                                        </p:tgtEl>
                                        <p:attrNameLst>
                                          <p:attrName>style.visibility</p:attrName>
                                        </p:attrNameLst>
                                      </p:cBhvr>
                                      <p:to>
                                        <p:strVal val="visible"/>
                                      </p:to>
                                    </p:set>
                                    <p:anim calcmode="lin" valueType="num">
                                      <p:cBhvr additive="base">
                                        <p:cTn id="51" dur="3000" fill="hold"/>
                                        <p:tgtEl>
                                          <p:spTgt spid="822295"/>
                                        </p:tgtEl>
                                        <p:attrNameLst>
                                          <p:attrName>ppt_x</p:attrName>
                                        </p:attrNameLst>
                                      </p:cBhvr>
                                      <p:tavLst>
                                        <p:tav tm="0">
                                          <p:val>
                                            <p:strVal val="#ppt_x"/>
                                          </p:val>
                                        </p:tav>
                                        <p:tav tm="100000">
                                          <p:val>
                                            <p:strVal val="#ppt_x"/>
                                          </p:val>
                                        </p:tav>
                                      </p:tavLst>
                                    </p:anim>
                                    <p:anim calcmode="lin" valueType="num">
                                      <p:cBhvr additive="base">
                                        <p:cTn id="52" dur="3000" fill="hold"/>
                                        <p:tgtEl>
                                          <p:spTgt spid="82229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822296"/>
                                        </p:tgtEl>
                                        <p:attrNameLst>
                                          <p:attrName>style.visibility</p:attrName>
                                        </p:attrNameLst>
                                      </p:cBhvr>
                                      <p:to>
                                        <p:strVal val="visible"/>
                                      </p:to>
                                    </p:set>
                                    <p:anim calcmode="lin" valueType="num">
                                      <p:cBhvr additive="base">
                                        <p:cTn id="55" dur="3000" fill="hold"/>
                                        <p:tgtEl>
                                          <p:spTgt spid="822296"/>
                                        </p:tgtEl>
                                        <p:attrNameLst>
                                          <p:attrName>ppt_x</p:attrName>
                                        </p:attrNameLst>
                                      </p:cBhvr>
                                      <p:tavLst>
                                        <p:tav tm="0">
                                          <p:val>
                                            <p:strVal val="#ppt_x"/>
                                          </p:val>
                                        </p:tav>
                                        <p:tav tm="100000">
                                          <p:val>
                                            <p:strVal val="#ppt_x"/>
                                          </p:val>
                                        </p:tav>
                                      </p:tavLst>
                                    </p:anim>
                                    <p:anim calcmode="lin" valueType="num">
                                      <p:cBhvr additive="base">
                                        <p:cTn id="56" dur="3000" fill="hold"/>
                                        <p:tgtEl>
                                          <p:spTgt spid="822296"/>
                                        </p:tgtEl>
                                        <p:attrNameLst>
                                          <p:attrName>ppt_y</p:attrName>
                                        </p:attrNameLst>
                                      </p:cBhvr>
                                      <p:tavLst>
                                        <p:tav tm="0">
                                          <p:val>
                                            <p:strVal val="1+#ppt_h/2"/>
                                          </p:val>
                                        </p:tav>
                                        <p:tav tm="100000">
                                          <p:val>
                                            <p:strVal val="#ppt_y"/>
                                          </p:val>
                                        </p:tav>
                                      </p:tavLst>
                                    </p:anim>
                                  </p:childTnLst>
                                </p:cTn>
                              </p:par>
                            </p:childTnLst>
                          </p:cTn>
                        </p:par>
                        <p:par>
                          <p:cTn id="57" fill="hold">
                            <p:stCondLst>
                              <p:cond delay="3000"/>
                            </p:stCondLst>
                            <p:childTnLst>
                              <p:par>
                                <p:cTn id="58" presetID="2" presetClass="entr" presetSubtype="6" fill="hold" grpId="0" nodeType="afterEffect">
                                  <p:stCondLst>
                                    <p:cond delay="0"/>
                                  </p:stCondLst>
                                  <p:childTnLst>
                                    <p:set>
                                      <p:cBhvr>
                                        <p:cTn id="59" dur="1" fill="hold">
                                          <p:stCondLst>
                                            <p:cond delay="0"/>
                                          </p:stCondLst>
                                        </p:cTn>
                                        <p:tgtEl>
                                          <p:spTgt spid="20"/>
                                        </p:tgtEl>
                                        <p:attrNameLst>
                                          <p:attrName>style.visibility</p:attrName>
                                        </p:attrNameLst>
                                      </p:cBhvr>
                                      <p:to>
                                        <p:strVal val="visible"/>
                                      </p:to>
                                    </p:set>
                                    <p:anim calcmode="lin" valueType="num">
                                      <p:cBhvr additive="base">
                                        <p:cTn id="60" dur="500" fill="hold"/>
                                        <p:tgtEl>
                                          <p:spTgt spid="20"/>
                                        </p:tgtEl>
                                        <p:attrNameLst>
                                          <p:attrName>ppt_x</p:attrName>
                                        </p:attrNameLst>
                                      </p:cBhvr>
                                      <p:tavLst>
                                        <p:tav tm="0">
                                          <p:val>
                                            <p:strVal val="1+#ppt_w/2"/>
                                          </p:val>
                                        </p:tav>
                                        <p:tav tm="100000">
                                          <p:val>
                                            <p:strVal val="#ppt_x"/>
                                          </p:val>
                                        </p:tav>
                                      </p:tavLst>
                                    </p:anim>
                                    <p:anim calcmode="lin" valueType="num">
                                      <p:cBhvr additive="base">
                                        <p:cTn id="61"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278" grpId="0"/>
      <p:bldP spid="822285" grpId="0"/>
      <p:bldP spid="822286" grpId="0"/>
      <p:bldP spid="822287" grpId="0"/>
      <p:bldP spid="822288" grpId="0"/>
      <p:bldP spid="822289" grpId="0"/>
      <p:bldP spid="822290" grpId="0"/>
      <p:bldP spid="822291" grpId="0"/>
      <p:bldP spid="822292" grpId="0"/>
      <p:bldP spid="822293" grpId="0"/>
      <p:bldP spid="822294" grpId="0"/>
      <p:bldP spid="822295" grpId="0"/>
      <p:bldP spid="822296" grpId="0"/>
      <p:bldP spid="20"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3"/>
          <p:cNvSpPr>
            <a:spLocks noGrp="1" noChangeArrowheads="1"/>
          </p:cNvSpPr>
          <p:nvPr>
            <p:ph type="body" idx="1"/>
          </p:nvPr>
        </p:nvSpPr>
        <p:spPr>
          <a:xfrm>
            <a:off x="0" y="7938"/>
            <a:ext cx="9144000" cy="6192837"/>
          </a:xfrm>
          <a:solidFill>
            <a:srgbClr val="EEDDFF"/>
          </a:solidFill>
        </p:spPr>
        <p:txBody>
          <a:bodyPr/>
          <a:lstStyle/>
          <a:p>
            <a:pPr>
              <a:lnSpc>
                <a:spcPct val="110000"/>
              </a:lnSpc>
              <a:spcBef>
                <a:spcPct val="0"/>
              </a:spcBef>
              <a:buFont typeface="Wingdings" panose="05000000000000000000" pitchFamily="2" charset="2"/>
              <a:buNone/>
            </a:pPr>
            <a:r>
              <a:rPr lang="zh-CN" altLang="en-US" sz="2600" smtClean="0">
                <a:solidFill>
                  <a:schemeClr val="bg2"/>
                </a:solidFill>
              </a:rPr>
              <a:t>例：存放在某个磁盘上的文件系统，采用混合索引分配方式，其</a:t>
            </a:r>
            <a:r>
              <a:rPr lang="en-US" altLang="zh-CN" sz="2600" smtClean="0">
                <a:solidFill>
                  <a:schemeClr val="bg2"/>
                </a:solidFill>
              </a:rPr>
              <a:t>FCB</a:t>
            </a:r>
            <a:r>
              <a:rPr lang="zh-CN" altLang="en-US" sz="2600" smtClean="0">
                <a:solidFill>
                  <a:schemeClr val="bg2"/>
                </a:solidFill>
              </a:rPr>
              <a:t>中共有</a:t>
            </a:r>
            <a:r>
              <a:rPr lang="en-US" altLang="zh-CN" sz="2600" smtClean="0">
                <a:solidFill>
                  <a:schemeClr val="bg2"/>
                </a:solidFill>
              </a:rPr>
              <a:t>13</a:t>
            </a:r>
            <a:r>
              <a:rPr lang="zh-CN" altLang="en-US" sz="2600" smtClean="0">
                <a:solidFill>
                  <a:schemeClr val="bg2"/>
                </a:solidFill>
              </a:rPr>
              <a:t>个地址项，第</a:t>
            </a:r>
            <a:r>
              <a:rPr lang="en-US" altLang="zh-CN" sz="2600" smtClean="0">
                <a:solidFill>
                  <a:schemeClr val="bg2"/>
                </a:solidFill>
              </a:rPr>
              <a:t>0-9</a:t>
            </a:r>
            <a:r>
              <a:rPr lang="zh-CN" altLang="en-US" sz="2600" smtClean="0">
                <a:solidFill>
                  <a:schemeClr val="bg2"/>
                </a:solidFill>
              </a:rPr>
              <a:t>个地址项为直接地址，第</a:t>
            </a:r>
            <a:r>
              <a:rPr lang="en-US" altLang="zh-CN" sz="2600" smtClean="0">
                <a:solidFill>
                  <a:schemeClr val="bg2"/>
                </a:solidFill>
              </a:rPr>
              <a:t>10</a:t>
            </a:r>
            <a:r>
              <a:rPr lang="zh-CN" altLang="en-US" sz="2600" smtClean="0">
                <a:solidFill>
                  <a:schemeClr val="bg2"/>
                </a:solidFill>
              </a:rPr>
              <a:t>个地址项为一次间接地址，第</a:t>
            </a:r>
            <a:r>
              <a:rPr lang="en-US" altLang="zh-CN" sz="2600" smtClean="0">
                <a:solidFill>
                  <a:schemeClr val="bg2"/>
                </a:solidFill>
              </a:rPr>
              <a:t>11</a:t>
            </a:r>
            <a:r>
              <a:rPr lang="zh-CN" altLang="en-US" sz="2600" smtClean="0">
                <a:solidFill>
                  <a:schemeClr val="bg2"/>
                </a:solidFill>
              </a:rPr>
              <a:t>个地址项为二次间接地址，第</a:t>
            </a:r>
            <a:r>
              <a:rPr lang="en-US" altLang="zh-CN" sz="2600" smtClean="0">
                <a:solidFill>
                  <a:schemeClr val="bg2"/>
                </a:solidFill>
              </a:rPr>
              <a:t>12</a:t>
            </a:r>
            <a:r>
              <a:rPr lang="zh-CN" altLang="en-US" sz="2600" smtClean="0">
                <a:solidFill>
                  <a:schemeClr val="bg2"/>
                </a:solidFill>
              </a:rPr>
              <a:t>个地址项为三次间接地址。每个盘块的大小为</a:t>
            </a:r>
            <a:r>
              <a:rPr lang="en-US" altLang="zh-CN" sz="2600" smtClean="0">
                <a:solidFill>
                  <a:schemeClr val="bg2"/>
                </a:solidFill>
              </a:rPr>
              <a:t>512</a:t>
            </a:r>
            <a:r>
              <a:rPr lang="zh-CN" altLang="en-US" sz="2600" smtClean="0">
                <a:solidFill>
                  <a:schemeClr val="bg2"/>
                </a:solidFill>
              </a:rPr>
              <a:t>字节，若盘块号需要用</a:t>
            </a:r>
            <a:r>
              <a:rPr lang="en-US" altLang="zh-CN" sz="2600" smtClean="0">
                <a:solidFill>
                  <a:schemeClr val="bg2"/>
                </a:solidFill>
              </a:rPr>
              <a:t>3</a:t>
            </a:r>
            <a:r>
              <a:rPr lang="zh-CN" altLang="en-US" sz="2600" smtClean="0">
                <a:solidFill>
                  <a:schemeClr val="bg2"/>
                </a:solidFill>
              </a:rPr>
              <a:t>个字节来描述，每个盘块最多存放</a:t>
            </a:r>
            <a:r>
              <a:rPr lang="en-US" altLang="zh-CN" sz="2600" smtClean="0">
                <a:solidFill>
                  <a:schemeClr val="bg2"/>
                </a:solidFill>
              </a:rPr>
              <a:t>170</a:t>
            </a:r>
            <a:r>
              <a:rPr lang="zh-CN" altLang="en-US" sz="2600" smtClean="0">
                <a:solidFill>
                  <a:schemeClr val="bg2"/>
                </a:solidFill>
              </a:rPr>
              <a:t>个盘块地址。问：</a:t>
            </a:r>
          </a:p>
          <a:p>
            <a:pPr>
              <a:lnSpc>
                <a:spcPct val="110000"/>
              </a:lnSpc>
              <a:spcBef>
                <a:spcPct val="0"/>
              </a:spcBef>
              <a:buFont typeface="Wingdings" panose="05000000000000000000" pitchFamily="2" charset="2"/>
              <a:buNone/>
            </a:pPr>
            <a:r>
              <a:rPr lang="zh-CN" altLang="en-US" sz="2600" smtClean="0">
                <a:solidFill>
                  <a:schemeClr val="bg2"/>
                </a:solidFill>
              </a:rPr>
              <a:t>    （</a:t>
            </a:r>
            <a:r>
              <a:rPr lang="en-US" altLang="zh-CN" sz="2600" smtClean="0">
                <a:solidFill>
                  <a:schemeClr val="bg2"/>
                </a:solidFill>
              </a:rPr>
              <a:t>1</a:t>
            </a:r>
            <a:r>
              <a:rPr lang="zh-CN" altLang="en-US" sz="2600" smtClean="0">
                <a:solidFill>
                  <a:schemeClr val="bg2"/>
                </a:solidFill>
              </a:rPr>
              <a:t>） 该文件系统允许文件的最大长度是多少？</a:t>
            </a:r>
          </a:p>
          <a:p>
            <a:pPr>
              <a:lnSpc>
                <a:spcPct val="110000"/>
              </a:lnSpc>
              <a:spcBef>
                <a:spcPct val="0"/>
              </a:spcBef>
              <a:buFont typeface="Wingdings" panose="05000000000000000000" pitchFamily="2" charset="2"/>
              <a:buNone/>
            </a:pPr>
            <a:r>
              <a:rPr lang="zh-CN" altLang="en-US" sz="2600" smtClean="0">
                <a:solidFill>
                  <a:schemeClr val="bg2"/>
                </a:solidFill>
              </a:rPr>
              <a:t>    （</a:t>
            </a:r>
            <a:r>
              <a:rPr lang="en-US" altLang="zh-CN" sz="2600" smtClean="0">
                <a:solidFill>
                  <a:schemeClr val="bg2"/>
                </a:solidFill>
              </a:rPr>
              <a:t>2</a:t>
            </a:r>
            <a:r>
              <a:rPr lang="zh-CN" altLang="en-US" sz="2600" smtClean="0">
                <a:solidFill>
                  <a:schemeClr val="bg2"/>
                </a:solidFill>
              </a:rPr>
              <a:t>） 将文件的字节偏移量</a:t>
            </a:r>
            <a:r>
              <a:rPr lang="en-US" altLang="zh-CN" sz="2600" smtClean="0">
                <a:solidFill>
                  <a:schemeClr val="bg2"/>
                </a:solidFill>
              </a:rPr>
              <a:t>5000</a:t>
            </a:r>
            <a:r>
              <a:rPr lang="zh-CN" altLang="en-US" sz="2600" smtClean="0">
                <a:solidFill>
                  <a:schemeClr val="bg2"/>
                </a:solidFill>
              </a:rPr>
              <a:t>、</a:t>
            </a:r>
            <a:r>
              <a:rPr lang="en-US" altLang="zh-CN" sz="2600" smtClean="0">
                <a:solidFill>
                  <a:schemeClr val="bg2"/>
                </a:solidFill>
              </a:rPr>
              <a:t>15000</a:t>
            </a:r>
            <a:r>
              <a:rPr lang="zh-CN" altLang="en-US" sz="2600" smtClean="0">
                <a:solidFill>
                  <a:schemeClr val="bg2"/>
                </a:solidFill>
              </a:rPr>
              <a:t>、</a:t>
            </a:r>
            <a:r>
              <a:rPr lang="en-US" altLang="zh-CN" sz="2600" smtClean="0">
                <a:solidFill>
                  <a:schemeClr val="bg2"/>
                </a:solidFill>
              </a:rPr>
              <a:t>150000</a:t>
            </a:r>
            <a:r>
              <a:rPr lang="zh-CN" altLang="en-US" sz="2600" smtClean="0">
                <a:solidFill>
                  <a:schemeClr val="bg2"/>
                </a:solidFill>
              </a:rPr>
              <a:t>转换为物理块号和块内偏移量。</a:t>
            </a:r>
          </a:p>
          <a:p>
            <a:pPr>
              <a:lnSpc>
                <a:spcPct val="110000"/>
              </a:lnSpc>
              <a:spcBef>
                <a:spcPct val="0"/>
              </a:spcBef>
              <a:buFont typeface="Wingdings" panose="05000000000000000000" pitchFamily="2" charset="2"/>
              <a:buNone/>
            </a:pPr>
            <a:r>
              <a:rPr lang="zh-CN" altLang="en-US" sz="2600" smtClean="0">
                <a:solidFill>
                  <a:schemeClr val="bg2"/>
                </a:solidFill>
              </a:rPr>
              <a:t>    （</a:t>
            </a:r>
            <a:r>
              <a:rPr lang="en-US" altLang="zh-CN" sz="2600" smtClean="0">
                <a:solidFill>
                  <a:schemeClr val="bg2"/>
                </a:solidFill>
              </a:rPr>
              <a:t>3</a:t>
            </a:r>
            <a:r>
              <a:rPr lang="zh-CN" altLang="en-US" sz="2600" smtClean="0">
                <a:solidFill>
                  <a:schemeClr val="bg2"/>
                </a:solidFill>
              </a:rPr>
              <a:t>） 假设某个文件的</a:t>
            </a:r>
            <a:r>
              <a:rPr lang="en-US" altLang="zh-CN" sz="2600" smtClean="0">
                <a:solidFill>
                  <a:schemeClr val="bg2"/>
                </a:solidFill>
              </a:rPr>
              <a:t>FCB</a:t>
            </a:r>
            <a:r>
              <a:rPr lang="zh-CN" altLang="en-US" sz="2600" smtClean="0">
                <a:solidFill>
                  <a:schemeClr val="bg2"/>
                </a:solidFill>
              </a:rPr>
              <a:t>己在内存，但其它信息均在外存，为了访问该文件中某个位置的内容，最少需要几次访问磁盘，最多需要几次访问磁盘？</a:t>
            </a:r>
          </a:p>
        </p:txBody>
      </p:sp>
      <p:sp>
        <p:nvSpPr>
          <p:cNvPr id="4"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矩形 1"/>
          <p:cNvSpPr>
            <a:spLocks noChangeArrowheads="1"/>
          </p:cNvSpPr>
          <p:nvPr/>
        </p:nvSpPr>
        <p:spPr bwMode="auto">
          <a:xfrm>
            <a:off x="250825" y="2420938"/>
            <a:ext cx="5437188"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lnSpc>
                <a:spcPct val="140000"/>
              </a:lnSpc>
              <a:spcBef>
                <a:spcPct val="0"/>
              </a:spcBef>
              <a:buClrTx/>
              <a:buSzTx/>
              <a:buFont typeface="Wingdings" panose="05000000000000000000" pitchFamily="2" charset="2"/>
              <a:buNone/>
            </a:pPr>
            <a:r>
              <a:rPr lang="zh-CN" altLang="en-US" dirty="0">
                <a:solidFill>
                  <a:schemeClr val="bg2"/>
                </a:solidFill>
                <a:ea typeface="宋体" panose="02010600030101010101" pitchFamily="2" charset="-122"/>
              </a:rPr>
              <a:t>（</a:t>
            </a:r>
            <a:r>
              <a:rPr lang="en-US" altLang="zh-CN" dirty="0">
                <a:solidFill>
                  <a:schemeClr val="bg2"/>
                </a:solidFill>
                <a:ea typeface="宋体" panose="02010600030101010101" pitchFamily="2" charset="-122"/>
              </a:rPr>
              <a:t>1</a:t>
            </a:r>
            <a:r>
              <a:rPr lang="zh-CN" altLang="en-US" dirty="0">
                <a:solidFill>
                  <a:schemeClr val="bg2"/>
                </a:solidFill>
                <a:ea typeface="宋体" panose="02010600030101010101" pitchFamily="2" charset="-122"/>
              </a:rPr>
              <a:t>） 一个文件的最大长度</a:t>
            </a:r>
            <a:r>
              <a:rPr lang="zh-CN" altLang="en-US" dirty="0">
                <a:solidFill>
                  <a:srgbClr val="FFFF00"/>
                </a:solidFill>
                <a:ea typeface="宋体" panose="02010600030101010101" pitchFamily="2" charset="-122"/>
              </a:rPr>
              <a:t>：</a:t>
            </a:r>
          </a:p>
        </p:txBody>
      </p:sp>
      <p:sp>
        <p:nvSpPr>
          <p:cNvPr id="3" name="文本框 2"/>
          <p:cNvSpPr txBox="1">
            <a:spLocks noChangeArrowheads="1"/>
          </p:cNvSpPr>
          <p:nvPr/>
        </p:nvSpPr>
        <p:spPr bwMode="auto">
          <a:xfrm>
            <a:off x="323850" y="3213100"/>
            <a:ext cx="8496300" cy="24003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dirty="0">
                <a:solidFill>
                  <a:schemeClr val="bg2"/>
                </a:solidFill>
                <a:ea typeface="宋体" panose="02010600030101010101" pitchFamily="2" charset="-122"/>
              </a:rPr>
              <a:t>10 +</a:t>
            </a:r>
          </a:p>
          <a:p>
            <a:pPr>
              <a:spcBef>
                <a:spcPct val="0"/>
              </a:spcBef>
              <a:buClrTx/>
              <a:buSzTx/>
              <a:buFontTx/>
              <a:buNone/>
            </a:pPr>
            <a:r>
              <a:rPr lang="en-US" altLang="zh-CN" sz="2800" dirty="0">
                <a:solidFill>
                  <a:schemeClr val="bg2"/>
                </a:solidFill>
                <a:ea typeface="宋体" panose="02010600030101010101" pitchFamily="2" charset="-122"/>
              </a:rPr>
              <a:t>170 +</a:t>
            </a:r>
          </a:p>
          <a:p>
            <a:pPr>
              <a:spcBef>
                <a:spcPct val="0"/>
              </a:spcBef>
              <a:buClrTx/>
              <a:buSzTx/>
              <a:buFontTx/>
              <a:buNone/>
            </a:pPr>
            <a:r>
              <a:rPr lang="en-US" altLang="zh-CN" sz="2800" dirty="0">
                <a:solidFill>
                  <a:schemeClr val="bg2"/>
                </a:solidFill>
                <a:ea typeface="宋体" panose="02010600030101010101" pitchFamily="2" charset="-122"/>
              </a:rPr>
              <a:t>170×170 +</a:t>
            </a:r>
          </a:p>
          <a:p>
            <a:pPr>
              <a:spcBef>
                <a:spcPct val="0"/>
              </a:spcBef>
              <a:buClrTx/>
              <a:buSzTx/>
              <a:buFontTx/>
              <a:buNone/>
            </a:pPr>
            <a:r>
              <a:rPr lang="en-US" altLang="zh-CN" sz="2800" dirty="0">
                <a:solidFill>
                  <a:schemeClr val="bg2"/>
                </a:solidFill>
                <a:ea typeface="宋体" panose="02010600030101010101" pitchFamily="2" charset="-122"/>
              </a:rPr>
              <a:t>170×170×170 = 4942080</a:t>
            </a:r>
            <a:r>
              <a:rPr lang="zh-CN" altLang="en-US" sz="2800" dirty="0">
                <a:solidFill>
                  <a:schemeClr val="bg2"/>
                </a:solidFill>
                <a:ea typeface="宋体" panose="02010600030101010101" pitchFamily="2" charset="-122"/>
              </a:rPr>
              <a:t>块</a:t>
            </a:r>
            <a:endParaRPr lang="en-US" altLang="zh-CN" sz="2800" dirty="0">
              <a:solidFill>
                <a:schemeClr val="bg2"/>
              </a:solidFill>
              <a:ea typeface="宋体" panose="02010600030101010101" pitchFamily="2" charset="-122"/>
            </a:endParaRPr>
          </a:p>
          <a:p>
            <a:pPr>
              <a:spcBef>
                <a:spcPts val="1200"/>
              </a:spcBef>
              <a:buClrTx/>
              <a:buSzTx/>
              <a:buFontTx/>
              <a:buNone/>
            </a:pPr>
            <a:r>
              <a:rPr lang="en-US" altLang="zh-CN" sz="2800" dirty="0">
                <a:solidFill>
                  <a:schemeClr val="bg2"/>
                </a:solidFill>
                <a:ea typeface="宋体" panose="02010600030101010101" pitchFamily="2" charset="-122"/>
              </a:rPr>
              <a:t>4942080×512</a:t>
            </a:r>
            <a:r>
              <a:rPr lang="zh-CN" altLang="en-US" sz="2800" dirty="0">
                <a:solidFill>
                  <a:schemeClr val="bg2"/>
                </a:solidFill>
                <a:ea typeface="宋体" panose="02010600030101010101" pitchFamily="2" charset="-122"/>
              </a:rPr>
              <a:t>字节</a:t>
            </a:r>
            <a:r>
              <a:rPr lang="en-US" altLang="zh-CN" sz="2800" dirty="0">
                <a:solidFill>
                  <a:schemeClr val="bg2"/>
                </a:solidFill>
                <a:ea typeface="宋体" panose="02010600030101010101" pitchFamily="2" charset="-122"/>
              </a:rPr>
              <a:t>= 2471040KB</a:t>
            </a:r>
            <a:endParaRPr lang="zh-CN" altLang="en-US" sz="2400" dirty="0">
              <a:solidFill>
                <a:schemeClr val="bg2"/>
              </a:solidFill>
              <a:ea typeface="宋体" panose="02010600030101010101" pitchFamily="2" charset="-122"/>
            </a:endParaRPr>
          </a:p>
        </p:txBody>
      </p:sp>
      <p:sp>
        <p:nvSpPr>
          <p:cNvPr id="64516" name="文本框 4"/>
          <p:cNvSpPr txBox="1">
            <a:spLocks noChangeArrowheads="1"/>
          </p:cNvSpPr>
          <p:nvPr/>
        </p:nvSpPr>
        <p:spPr bwMode="auto">
          <a:xfrm>
            <a:off x="0" y="0"/>
            <a:ext cx="9144000" cy="2062163"/>
          </a:xfrm>
          <a:prstGeom prst="rect">
            <a:avLst/>
          </a:prstGeom>
          <a:solidFill>
            <a:srgbClr val="EEDD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a:solidFill>
                  <a:schemeClr val="bg2"/>
                </a:solidFill>
                <a:ea typeface="宋体" panose="02010600030101010101" pitchFamily="2" charset="-122"/>
              </a:rPr>
              <a:t>第</a:t>
            </a:r>
            <a:r>
              <a:rPr lang="en-US" altLang="zh-CN">
                <a:solidFill>
                  <a:schemeClr val="bg2"/>
                </a:solidFill>
                <a:ea typeface="宋体" panose="02010600030101010101" pitchFamily="2" charset="-122"/>
              </a:rPr>
              <a:t>0-9</a:t>
            </a:r>
            <a:r>
              <a:rPr lang="zh-CN" altLang="en-US">
                <a:solidFill>
                  <a:schemeClr val="bg2"/>
                </a:solidFill>
                <a:ea typeface="宋体" panose="02010600030101010101" pitchFamily="2" charset="-122"/>
              </a:rPr>
              <a:t>个地址项为直接地址，第</a:t>
            </a:r>
            <a:r>
              <a:rPr lang="en-US" altLang="zh-CN">
                <a:solidFill>
                  <a:schemeClr val="bg2"/>
                </a:solidFill>
                <a:ea typeface="宋体" panose="02010600030101010101" pitchFamily="2" charset="-122"/>
              </a:rPr>
              <a:t>10</a:t>
            </a:r>
            <a:r>
              <a:rPr lang="zh-CN" altLang="en-US">
                <a:solidFill>
                  <a:schemeClr val="bg2"/>
                </a:solidFill>
                <a:ea typeface="宋体" panose="02010600030101010101" pitchFamily="2" charset="-122"/>
              </a:rPr>
              <a:t>个地址项为一次间接地址，第</a:t>
            </a:r>
            <a:r>
              <a:rPr lang="en-US" altLang="zh-CN">
                <a:solidFill>
                  <a:schemeClr val="bg2"/>
                </a:solidFill>
                <a:ea typeface="宋体" panose="02010600030101010101" pitchFamily="2" charset="-122"/>
              </a:rPr>
              <a:t>11</a:t>
            </a:r>
            <a:r>
              <a:rPr lang="zh-CN" altLang="en-US">
                <a:solidFill>
                  <a:schemeClr val="bg2"/>
                </a:solidFill>
                <a:ea typeface="宋体" panose="02010600030101010101" pitchFamily="2" charset="-122"/>
              </a:rPr>
              <a:t>个地址项为二次间接地址，第</a:t>
            </a:r>
            <a:r>
              <a:rPr lang="en-US" altLang="zh-CN">
                <a:solidFill>
                  <a:schemeClr val="bg2"/>
                </a:solidFill>
                <a:ea typeface="宋体" panose="02010600030101010101" pitchFamily="2" charset="-122"/>
              </a:rPr>
              <a:t>12</a:t>
            </a:r>
            <a:r>
              <a:rPr lang="zh-CN" altLang="en-US">
                <a:solidFill>
                  <a:schemeClr val="bg2"/>
                </a:solidFill>
                <a:ea typeface="宋体" panose="02010600030101010101" pitchFamily="2" charset="-122"/>
              </a:rPr>
              <a:t>个地址项为三次间接地址。每个盘块的大小为</a:t>
            </a:r>
            <a:r>
              <a:rPr lang="en-US" altLang="zh-CN">
                <a:solidFill>
                  <a:schemeClr val="bg2"/>
                </a:solidFill>
                <a:ea typeface="宋体" panose="02010600030101010101" pitchFamily="2" charset="-122"/>
              </a:rPr>
              <a:t>512</a:t>
            </a:r>
            <a:r>
              <a:rPr lang="zh-CN" altLang="en-US">
                <a:solidFill>
                  <a:schemeClr val="bg2"/>
                </a:solidFill>
                <a:ea typeface="宋体" panose="02010600030101010101" pitchFamily="2" charset="-122"/>
              </a:rPr>
              <a:t>字节。每个盘块最多存放</a:t>
            </a:r>
            <a:r>
              <a:rPr lang="en-US" altLang="zh-CN">
                <a:solidFill>
                  <a:schemeClr val="bg2"/>
                </a:solidFill>
                <a:ea typeface="宋体" panose="02010600030101010101" pitchFamily="2" charset="-122"/>
              </a:rPr>
              <a:t>170</a:t>
            </a:r>
            <a:r>
              <a:rPr lang="zh-CN" altLang="en-US">
                <a:solidFill>
                  <a:schemeClr val="bg2"/>
                </a:solidFill>
                <a:ea typeface="宋体" panose="02010600030101010101" pitchFamily="2" charset="-122"/>
              </a:rPr>
              <a:t>个索引项。</a:t>
            </a:r>
          </a:p>
        </p:txBody>
      </p:sp>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45" fill="hold">
                            <p:stCondLst>
                              <p:cond delay="1000"/>
                            </p:stCondLst>
                            <p:childTnLst>
                              <p:par>
                                <p:cTn id="46" presetID="2" presetClass="entr" presetSubtype="6" fill="hold" grpId="0" nodeType="afterEffect">
                                  <p:stCondLst>
                                    <p:cond delay="0"/>
                                  </p:stCondLst>
                                  <p:childTnLst>
                                    <p:set>
                                      <p:cBhvr>
                                        <p:cTn id="47" dur="1" fill="hold">
                                          <p:stCondLst>
                                            <p:cond delay="0"/>
                                          </p:stCondLst>
                                        </p:cTn>
                                        <p:tgtEl>
                                          <p:spTgt spid="6"/>
                                        </p:tgtEl>
                                        <p:attrNameLst>
                                          <p:attrName>style.visibility</p:attrName>
                                        </p:attrNameLst>
                                      </p:cBhvr>
                                      <p:to>
                                        <p:strVal val="visible"/>
                                      </p:to>
                                    </p:set>
                                    <p:anim calcmode="lin" valueType="num">
                                      <p:cBhvr additive="base">
                                        <p:cTn id="48" dur="500" fill="hold"/>
                                        <p:tgtEl>
                                          <p:spTgt spid="6"/>
                                        </p:tgtEl>
                                        <p:attrNameLst>
                                          <p:attrName>ppt_x</p:attrName>
                                        </p:attrNameLst>
                                      </p:cBhvr>
                                      <p:tavLst>
                                        <p:tav tm="0">
                                          <p:val>
                                            <p:strVal val="1+#ppt_w/2"/>
                                          </p:val>
                                        </p:tav>
                                        <p:tav tm="100000">
                                          <p:val>
                                            <p:strVal val="#ppt_x"/>
                                          </p:val>
                                        </p:tav>
                                      </p:tavLst>
                                    </p:anim>
                                    <p:anim calcmode="lin" valueType="num">
                                      <p:cBhvr additive="base">
                                        <p:cTn id="4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4763" y="3543300"/>
            <a:ext cx="9144000" cy="2867025"/>
          </a:xfrm>
          <a:prstGeom prst="rect">
            <a:avLst/>
          </a:prstGeom>
          <a:solidFill>
            <a:schemeClr val="tx1"/>
          </a:solidFill>
          <a:ln>
            <a:noFill/>
          </a:ln>
        </p:spPr>
        <p:txBody>
          <a:bodyPr/>
          <a:lstStyle>
            <a:lvl1pPr marL="342900" indent="-342900" algn="l" rtl="0" eaLnBrk="0" fontAlgn="base" hangingPunct="0">
              <a:spcBef>
                <a:spcPct val="20000"/>
              </a:spcBef>
              <a:spcAft>
                <a:spcPct val="0"/>
              </a:spcAft>
              <a:buClr>
                <a:srgbClr val="FFABFF"/>
              </a:buClr>
              <a:buSzPct val="90000"/>
              <a:buFont typeface="Symbol" panose="05050102010706020507" pitchFamily="18" charset="2"/>
              <a:buChar char="¨"/>
              <a:defRPr kumimoji="1" sz="3200" b="1">
                <a:solidFill>
                  <a:srgbClr val="FFCCFF"/>
                </a:solidFill>
                <a:latin typeface="+mn-lt"/>
                <a:ea typeface="+mn-ea"/>
                <a:cs typeface="+mn-cs"/>
              </a:defRPr>
            </a:lvl1pPr>
            <a:lvl2pPr marL="742950" indent="-285750" algn="l" rtl="0" eaLnBrk="0" fontAlgn="base" hangingPunct="0">
              <a:spcBef>
                <a:spcPct val="20000"/>
              </a:spcBef>
              <a:spcAft>
                <a:spcPct val="0"/>
              </a:spcAft>
              <a:buChar char="–"/>
              <a:defRPr kumimoji="1" sz="2800" b="1">
                <a:solidFill>
                  <a:srgbClr val="FFFF00"/>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vl6pPr marL="2514600" indent="-228600" algn="l" rtl="0" fontAlgn="base">
              <a:spcBef>
                <a:spcPct val="20000"/>
              </a:spcBef>
              <a:spcAft>
                <a:spcPct val="0"/>
              </a:spcAft>
              <a:buChar char="•"/>
              <a:defRPr kumimoji="1" sz="2000" b="1">
                <a:solidFill>
                  <a:schemeClr val="tx1"/>
                </a:solidFill>
                <a:latin typeface="+mn-lt"/>
                <a:ea typeface="+mn-ea"/>
              </a:defRPr>
            </a:lvl6pPr>
            <a:lvl7pPr marL="2971800" indent="-228600" algn="l" rtl="0" fontAlgn="base">
              <a:spcBef>
                <a:spcPct val="20000"/>
              </a:spcBef>
              <a:spcAft>
                <a:spcPct val="0"/>
              </a:spcAft>
              <a:buChar char="•"/>
              <a:defRPr kumimoji="1" sz="2000" b="1">
                <a:solidFill>
                  <a:schemeClr val="tx1"/>
                </a:solidFill>
                <a:latin typeface="+mn-lt"/>
                <a:ea typeface="+mn-ea"/>
              </a:defRPr>
            </a:lvl7pPr>
            <a:lvl8pPr marL="3429000" indent="-228600" algn="l" rtl="0" fontAlgn="base">
              <a:spcBef>
                <a:spcPct val="20000"/>
              </a:spcBef>
              <a:spcAft>
                <a:spcPct val="0"/>
              </a:spcAft>
              <a:buChar char="•"/>
              <a:defRPr kumimoji="1" sz="2000" b="1">
                <a:solidFill>
                  <a:schemeClr val="tx1"/>
                </a:solidFill>
                <a:latin typeface="+mn-lt"/>
                <a:ea typeface="+mn-ea"/>
              </a:defRPr>
            </a:lvl8pPr>
            <a:lvl9pPr marL="3886200" indent="-228600" algn="l" rtl="0" fontAlgn="base">
              <a:spcBef>
                <a:spcPct val="20000"/>
              </a:spcBef>
              <a:spcAft>
                <a:spcPct val="0"/>
              </a:spcAft>
              <a:buChar char="•"/>
              <a:defRPr kumimoji="1" sz="2000" b="1">
                <a:solidFill>
                  <a:schemeClr val="tx1"/>
                </a:solidFill>
                <a:latin typeface="+mn-lt"/>
                <a:ea typeface="+mn-ea"/>
              </a:defRPr>
            </a:lvl9pPr>
          </a:lstStyle>
          <a:p>
            <a:pPr>
              <a:lnSpc>
                <a:spcPct val="120000"/>
              </a:lnSpc>
              <a:buFont typeface="Wingdings" panose="05000000000000000000" pitchFamily="2" charset="2"/>
              <a:buNone/>
              <a:defRPr/>
            </a:pPr>
            <a:r>
              <a:rPr lang="en-US" altLang="zh-CN" sz="2800" kern="0" dirty="0" smtClean="0">
                <a:solidFill>
                  <a:schemeClr val="bg2"/>
                </a:solidFill>
              </a:rPr>
              <a:t>5000</a:t>
            </a:r>
            <a:r>
              <a:rPr lang="zh-CN" altLang="en-US" sz="2800" kern="0" dirty="0" smtClean="0">
                <a:solidFill>
                  <a:schemeClr val="bg2"/>
                </a:solidFill>
              </a:rPr>
              <a:t>／</a:t>
            </a:r>
            <a:r>
              <a:rPr lang="en-US" altLang="zh-CN" sz="2800" kern="0" dirty="0" smtClean="0">
                <a:solidFill>
                  <a:schemeClr val="bg2"/>
                </a:solidFill>
              </a:rPr>
              <a:t>512</a:t>
            </a:r>
            <a:r>
              <a:rPr lang="zh-CN" altLang="en-US" sz="2800" kern="0" dirty="0" smtClean="0">
                <a:solidFill>
                  <a:schemeClr val="bg2"/>
                </a:solidFill>
              </a:rPr>
              <a:t>得到商为</a:t>
            </a:r>
            <a:r>
              <a:rPr lang="en-US" altLang="zh-CN" sz="2800" kern="0" dirty="0" smtClean="0">
                <a:solidFill>
                  <a:schemeClr val="bg2"/>
                </a:solidFill>
              </a:rPr>
              <a:t>9</a:t>
            </a:r>
            <a:r>
              <a:rPr lang="zh-CN" altLang="en-US" sz="2800" kern="0" dirty="0" smtClean="0">
                <a:solidFill>
                  <a:schemeClr val="bg2"/>
                </a:solidFill>
              </a:rPr>
              <a:t>，余数为</a:t>
            </a:r>
            <a:r>
              <a:rPr lang="en-US" altLang="zh-CN" sz="2800" kern="0" dirty="0" smtClean="0">
                <a:solidFill>
                  <a:schemeClr val="bg2"/>
                </a:solidFill>
              </a:rPr>
              <a:t>392;</a:t>
            </a:r>
          </a:p>
          <a:p>
            <a:pPr>
              <a:lnSpc>
                <a:spcPct val="120000"/>
              </a:lnSpc>
              <a:buFont typeface="Wingdings" panose="05000000000000000000" pitchFamily="2" charset="2"/>
              <a:buNone/>
              <a:defRPr/>
            </a:pPr>
            <a:r>
              <a:rPr lang="zh-CN" altLang="en-US" sz="2800" kern="0" dirty="0" smtClean="0">
                <a:solidFill>
                  <a:schemeClr val="bg2"/>
                </a:solidFill>
              </a:rPr>
              <a:t>逻辑块号为</a:t>
            </a:r>
            <a:r>
              <a:rPr lang="en-US" altLang="zh-CN" sz="2800" kern="0" dirty="0" smtClean="0">
                <a:solidFill>
                  <a:schemeClr val="bg2"/>
                </a:solidFill>
              </a:rPr>
              <a:t>9</a:t>
            </a:r>
            <a:r>
              <a:rPr lang="zh-CN" altLang="en-US" sz="2800" kern="0" dirty="0" smtClean="0">
                <a:solidFill>
                  <a:schemeClr val="bg2"/>
                </a:solidFill>
              </a:rPr>
              <a:t>，块内偏移量为</a:t>
            </a:r>
            <a:r>
              <a:rPr lang="en-US" altLang="zh-CN" sz="2800" kern="0" dirty="0" smtClean="0">
                <a:solidFill>
                  <a:schemeClr val="bg2"/>
                </a:solidFill>
              </a:rPr>
              <a:t>392</a:t>
            </a:r>
            <a:r>
              <a:rPr lang="zh-CN" altLang="en-US" sz="2800" kern="0" dirty="0" smtClean="0">
                <a:solidFill>
                  <a:schemeClr val="bg2"/>
                </a:solidFill>
              </a:rPr>
              <a:t>。</a:t>
            </a:r>
            <a:endParaRPr lang="en-US" altLang="zh-CN" sz="2800" kern="0" dirty="0" smtClean="0">
              <a:solidFill>
                <a:schemeClr val="bg2"/>
              </a:solidFill>
            </a:endParaRPr>
          </a:p>
          <a:p>
            <a:pPr marL="0" indent="0">
              <a:lnSpc>
                <a:spcPct val="120000"/>
              </a:lnSpc>
              <a:buFont typeface="Wingdings" panose="05000000000000000000" pitchFamily="2" charset="2"/>
              <a:buNone/>
              <a:defRPr/>
            </a:pPr>
            <a:r>
              <a:rPr lang="zh-CN" altLang="en-US" sz="2800" kern="0" dirty="0" smtClean="0">
                <a:solidFill>
                  <a:schemeClr val="bg2"/>
                </a:solidFill>
              </a:rPr>
              <a:t>由于</a:t>
            </a:r>
            <a:r>
              <a:rPr lang="en-US" altLang="zh-CN" sz="2800" kern="0" dirty="0" smtClean="0">
                <a:solidFill>
                  <a:schemeClr val="bg2"/>
                </a:solidFill>
              </a:rPr>
              <a:t>9&lt;10</a:t>
            </a:r>
            <a:r>
              <a:rPr lang="zh-CN" altLang="en-US" sz="2800" kern="0" dirty="0" smtClean="0">
                <a:solidFill>
                  <a:schemeClr val="bg2"/>
                </a:solidFill>
              </a:rPr>
              <a:t>：一级索引</a:t>
            </a:r>
            <a:endParaRPr lang="en-US" altLang="zh-CN" sz="2800" kern="0" dirty="0" smtClean="0">
              <a:solidFill>
                <a:schemeClr val="bg2"/>
              </a:solidFill>
            </a:endParaRPr>
          </a:p>
          <a:p>
            <a:pPr marL="0" indent="0">
              <a:lnSpc>
                <a:spcPct val="120000"/>
              </a:lnSpc>
              <a:buFont typeface="Wingdings" panose="05000000000000000000" pitchFamily="2" charset="2"/>
              <a:buNone/>
              <a:defRPr/>
            </a:pPr>
            <a:r>
              <a:rPr lang="zh-CN" altLang="en-US" sz="2800" kern="0" dirty="0" smtClean="0">
                <a:solidFill>
                  <a:schemeClr val="bg2"/>
                </a:solidFill>
              </a:rPr>
              <a:t>直接从该文件的</a:t>
            </a:r>
            <a:r>
              <a:rPr lang="en-US" altLang="zh-CN" sz="2800" kern="0" dirty="0" smtClean="0">
                <a:solidFill>
                  <a:schemeClr val="bg2"/>
                </a:solidFill>
              </a:rPr>
              <a:t>FCB</a:t>
            </a:r>
            <a:r>
              <a:rPr lang="zh-CN" altLang="en-US" sz="2800" kern="0" dirty="0" smtClean="0">
                <a:solidFill>
                  <a:schemeClr val="bg2"/>
                </a:solidFill>
              </a:rPr>
              <a:t>的第</a:t>
            </a:r>
            <a:r>
              <a:rPr lang="en-US" altLang="zh-CN" sz="2800" kern="0" dirty="0" smtClean="0">
                <a:solidFill>
                  <a:schemeClr val="bg2"/>
                </a:solidFill>
              </a:rPr>
              <a:t>9</a:t>
            </a:r>
            <a:r>
              <a:rPr lang="zh-CN" altLang="en-US" sz="2800" kern="0" dirty="0" smtClean="0">
                <a:solidFill>
                  <a:schemeClr val="bg2"/>
                </a:solidFill>
              </a:rPr>
              <a:t>个地址项处得到物理盘块号，块内偏移量为</a:t>
            </a:r>
            <a:r>
              <a:rPr lang="en-US" altLang="zh-CN" sz="2800" kern="0" dirty="0" smtClean="0">
                <a:solidFill>
                  <a:schemeClr val="bg2"/>
                </a:solidFill>
              </a:rPr>
              <a:t>392</a:t>
            </a:r>
            <a:r>
              <a:rPr lang="zh-CN" altLang="en-US" sz="2800" kern="0" dirty="0" smtClean="0">
                <a:solidFill>
                  <a:schemeClr val="bg2"/>
                </a:solidFill>
              </a:rPr>
              <a:t>。</a:t>
            </a:r>
          </a:p>
          <a:p>
            <a:pPr>
              <a:lnSpc>
                <a:spcPct val="110000"/>
              </a:lnSpc>
              <a:buFont typeface="Wingdings" panose="05000000000000000000" pitchFamily="2" charset="2"/>
              <a:buNone/>
              <a:defRPr/>
            </a:pPr>
            <a:r>
              <a:rPr lang="zh-CN" altLang="en-US" sz="2600" kern="0" dirty="0" smtClean="0"/>
              <a:t>    </a:t>
            </a:r>
            <a:endParaRPr lang="zh-CN" altLang="en-US" sz="2400" kern="0" dirty="0" smtClean="0"/>
          </a:p>
        </p:txBody>
      </p:sp>
      <p:sp>
        <p:nvSpPr>
          <p:cNvPr id="65539" name="文本框 5"/>
          <p:cNvSpPr txBox="1">
            <a:spLocks noChangeArrowheads="1"/>
          </p:cNvSpPr>
          <p:nvPr/>
        </p:nvSpPr>
        <p:spPr bwMode="auto">
          <a:xfrm>
            <a:off x="4762" y="2263775"/>
            <a:ext cx="8887717"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dirty="0">
                <a:solidFill>
                  <a:schemeClr val="bg2"/>
                </a:solidFill>
                <a:ea typeface="宋体" panose="02010600030101010101" pitchFamily="2" charset="-122"/>
              </a:rPr>
              <a:t>（</a:t>
            </a:r>
            <a:r>
              <a:rPr lang="en-US" altLang="zh-CN" dirty="0">
                <a:solidFill>
                  <a:schemeClr val="bg2"/>
                </a:solidFill>
                <a:ea typeface="宋体" panose="02010600030101010101" pitchFamily="2" charset="-122"/>
              </a:rPr>
              <a:t>2</a:t>
            </a:r>
            <a:r>
              <a:rPr lang="zh-CN" altLang="en-US" dirty="0">
                <a:solidFill>
                  <a:schemeClr val="bg2"/>
                </a:solidFill>
                <a:ea typeface="宋体" panose="02010600030101010101" pitchFamily="2" charset="-122"/>
              </a:rPr>
              <a:t>） 将文件的字节偏移量</a:t>
            </a:r>
            <a:r>
              <a:rPr lang="en-US" altLang="zh-CN" dirty="0">
                <a:solidFill>
                  <a:schemeClr val="bg2"/>
                </a:solidFill>
                <a:ea typeface="宋体" panose="02010600030101010101" pitchFamily="2" charset="-122"/>
              </a:rPr>
              <a:t>5000</a:t>
            </a:r>
            <a:r>
              <a:rPr lang="zh-CN" altLang="en-US" dirty="0">
                <a:solidFill>
                  <a:schemeClr val="bg2"/>
                </a:solidFill>
                <a:ea typeface="宋体" panose="02010600030101010101" pitchFamily="2" charset="-122"/>
              </a:rPr>
              <a:t>转换为物理块号和块内偏移量。</a:t>
            </a:r>
            <a:endParaRPr lang="zh-CN" altLang="en-US" sz="2400" dirty="0">
              <a:solidFill>
                <a:schemeClr val="bg2"/>
              </a:solidFill>
              <a:ea typeface="宋体" panose="02010600030101010101" pitchFamily="2" charset="-122"/>
            </a:endParaRPr>
          </a:p>
        </p:txBody>
      </p:sp>
      <p:sp>
        <p:nvSpPr>
          <p:cNvPr id="65540" name="文本框 6"/>
          <p:cNvSpPr txBox="1">
            <a:spLocks noChangeArrowheads="1"/>
          </p:cNvSpPr>
          <p:nvPr/>
        </p:nvSpPr>
        <p:spPr bwMode="auto">
          <a:xfrm>
            <a:off x="0" y="0"/>
            <a:ext cx="9144000" cy="2062163"/>
          </a:xfrm>
          <a:prstGeom prst="rect">
            <a:avLst/>
          </a:prstGeom>
          <a:solidFill>
            <a:srgbClr val="EEDD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a:solidFill>
                  <a:schemeClr val="bg2"/>
                </a:solidFill>
                <a:ea typeface="宋体" panose="02010600030101010101" pitchFamily="2" charset="-122"/>
              </a:rPr>
              <a:t>第</a:t>
            </a:r>
            <a:r>
              <a:rPr lang="en-US" altLang="zh-CN">
                <a:solidFill>
                  <a:schemeClr val="bg2"/>
                </a:solidFill>
                <a:ea typeface="宋体" panose="02010600030101010101" pitchFamily="2" charset="-122"/>
              </a:rPr>
              <a:t>0-9</a:t>
            </a:r>
            <a:r>
              <a:rPr lang="zh-CN" altLang="en-US">
                <a:solidFill>
                  <a:schemeClr val="bg2"/>
                </a:solidFill>
                <a:ea typeface="宋体" panose="02010600030101010101" pitchFamily="2" charset="-122"/>
              </a:rPr>
              <a:t>个地址项为直接地址，第</a:t>
            </a:r>
            <a:r>
              <a:rPr lang="en-US" altLang="zh-CN">
                <a:solidFill>
                  <a:schemeClr val="bg2"/>
                </a:solidFill>
                <a:ea typeface="宋体" panose="02010600030101010101" pitchFamily="2" charset="-122"/>
              </a:rPr>
              <a:t>10</a:t>
            </a:r>
            <a:r>
              <a:rPr lang="zh-CN" altLang="en-US">
                <a:solidFill>
                  <a:schemeClr val="bg2"/>
                </a:solidFill>
                <a:ea typeface="宋体" panose="02010600030101010101" pitchFamily="2" charset="-122"/>
              </a:rPr>
              <a:t>个地址项为一次间接地址，第</a:t>
            </a:r>
            <a:r>
              <a:rPr lang="en-US" altLang="zh-CN">
                <a:solidFill>
                  <a:schemeClr val="bg2"/>
                </a:solidFill>
                <a:ea typeface="宋体" panose="02010600030101010101" pitchFamily="2" charset="-122"/>
              </a:rPr>
              <a:t>11</a:t>
            </a:r>
            <a:r>
              <a:rPr lang="zh-CN" altLang="en-US">
                <a:solidFill>
                  <a:schemeClr val="bg2"/>
                </a:solidFill>
                <a:ea typeface="宋体" panose="02010600030101010101" pitchFamily="2" charset="-122"/>
              </a:rPr>
              <a:t>个地址项为二次间接地址，第</a:t>
            </a:r>
            <a:r>
              <a:rPr lang="en-US" altLang="zh-CN">
                <a:solidFill>
                  <a:schemeClr val="bg2"/>
                </a:solidFill>
                <a:ea typeface="宋体" panose="02010600030101010101" pitchFamily="2" charset="-122"/>
              </a:rPr>
              <a:t>12</a:t>
            </a:r>
            <a:r>
              <a:rPr lang="zh-CN" altLang="en-US">
                <a:solidFill>
                  <a:schemeClr val="bg2"/>
                </a:solidFill>
                <a:ea typeface="宋体" panose="02010600030101010101" pitchFamily="2" charset="-122"/>
              </a:rPr>
              <a:t>个地址项为三次间接地址。每个盘块大小为</a:t>
            </a:r>
            <a:r>
              <a:rPr lang="en-US" altLang="zh-CN">
                <a:solidFill>
                  <a:schemeClr val="bg2"/>
                </a:solidFill>
                <a:ea typeface="宋体" panose="02010600030101010101" pitchFamily="2" charset="-122"/>
              </a:rPr>
              <a:t>512B</a:t>
            </a:r>
            <a:r>
              <a:rPr lang="zh-CN" altLang="en-US">
                <a:solidFill>
                  <a:schemeClr val="bg2"/>
                </a:solidFill>
                <a:ea typeface="宋体" panose="02010600030101010101" pitchFamily="2" charset="-122"/>
              </a:rPr>
              <a:t> 。</a:t>
            </a:r>
            <a:endParaRPr lang="en-US" altLang="zh-CN">
              <a:solidFill>
                <a:schemeClr val="bg2"/>
              </a:solidFill>
              <a:ea typeface="宋体" panose="02010600030101010101" pitchFamily="2" charset="-122"/>
            </a:endParaRPr>
          </a:p>
          <a:p>
            <a:pPr>
              <a:spcBef>
                <a:spcPct val="0"/>
              </a:spcBef>
              <a:buClrTx/>
              <a:buSzTx/>
              <a:buFontTx/>
              <a:buNone/>
            </a:pPr>
            <a:r>
              <a:rPr lang="zh-CN" altLang="en-US">
                <a:solidFill>
                  <a:schemeClr val="bg2"/>
                </a:solidFill>
                <a:ea typeface="宋体" panose="02010600030101010101" pitchFamily="2" charset="-122"/>
              </a:rPr>
              <a:t>每个盘块最多存放</a:t>
            </a:r>
            <a:r>
              <a:rPr lang="en-US" altLang="zh-CN">
                <a:solidFill>
                  <a:schemeClr val="bg2"/>
                </a:solidFill>
                <a:ea typeface="宋体" panose="02010600030101010101" pitchFamily="2" charset="-122"/>
              </a:rPr>
              <a:t>170</a:t>
            </a:r>
            <a:r>
              <a:rPr lang="zh-CN" altLang="en-US">
                <a:solidFill>
                  <a:schemeClr val="bg2"/>
                </a:solidFill>
                <a:ea typeface="宋体" panose="02010600030101010101" pitchFamily="2" charset="-122"/>
              </a:rPr>
              <a:t>个索引项。</a:t>
            </a:r>
          </a:p>
        </p:txBody>
      </p:sp>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par>
                          <p:cTn id="23" fill="hold">
                            <p:stCondLst>
                              <p:cond delay="0"/>
                            </p:stCondLst>
                            <p:childTnLst>
                              <p:par>
                                <p:cTn id="24" presetID="2" presetClass="entr" presetSubtype="6"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灯片编号占位符 3"/>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DE2B1F35-0249-4D73-B3E8-29D216551629}" type="slidenum">
              <a:rPr kumimoji="0" lang="en-US" altLang="zh-CN" sz="1400" b="0" smtClean="0">
                <a:solidFill>
                  <a:schemeClr val="tx1"/>
                </a:solidFill>
                <a:ea typeface="宋体" panose="02010600030101010101" pitchFamily="2" charset="-122"/>
              </a:rPr>
              <a:pPr>
                <a:spcBef>
                  <a:spcPct val="0"/>
                </a:spcBef>
                <a:buClrTx/>
                <a:buSzTx/>
                <a:buFontTx/>
                <a:buNone/>
              </a:pPr>
              <a:t>35</a:t>
            </a:fld>
            <a:endParaRPr kumimoji="0" lang="en-US" altLang="zh-CN" sz="1400" b="0" smtClean="0">
              <a:solidFill>
                <a:schemeClr val="tx1"/>
              </a:solidFill>
              <a:ea typeface="宋体" panose="02010600030101010101" pitchFamily="2" charset="-122"/>
            </a:endParaRPr>
          </a:p>
        </p:txBody>
      </p:sp>
      <p:sp>
        <p:nvSpPr>
          <p:cNvPr id="66563" name="文本框 4"/>
          <p:cNvSpPr txBox="1">
            <a:spLocks noChangeArrowheads="1"/>
          </p:cNvSpPr>
          <p:nvPr/>
        </p:nvSpPr>
        <p:spPr bwMode="auto">
          <a:xfrm>
            <a:off x="0" y="0"/>
            <a:ext cx="9144000" cy="2062163"/>
          </a:xfrm>
          <a:prstGeom prst="rect">
            <a:avLst/>
          </a:prstGeom>
          <a:solidFill>
            <a:srgbClr val="EEDD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a:solidFill>
                  <a:schemeClr val="bg2"/>
                </a:solidFill>
                <a:ea typeface="宋体" panose="02010600030101010101" pitchFamily="2" charset="-122"/>
              </a:rPr>
              <a:t>第</a:t>
            </a:r>
            <a:r>
              <a:rPr lang="en-US" altLang="zh-CN">
                <a:solidFill>
                  <a:schemeClr val="bg2"/>
                </a:solidFill>
                <a:ea typeface="宋体" panose="02010600030101010101" pitchFamily="2" charset="-122"/>
              </a:rPr>
              <a:t>0-9</a:t>
            </a:r>
            <a:r>
              <a:rPr lang="zh-CN" altLang="en-US">
                <a:solidFill>
                  <a:schemeClr val="bg2"/>
                </a:solidFill>
                <a:ea typeface="宋体" panose="02010600030101010101" pitchFamily="2" charset="-122"/>
              </a:rPr>
              <a:t>个地址项为直接地址，第</a:t>
            </a:r>
            <a:r>
              <a:rPr lang="en-US" altLang="zh-CN">
                <a:solidFill>
                  <a:schemeClr val="bg2"/>
                </a:solidFill>
                <a:ea typeface="宋体" panose="02010600030101010101" pitchFamily="2" charset="-122"/>
              </a:rPr>
              <a:t>10</a:t>
            </a:r>
            <a:r>
              <a:rPr lang="zh-CN" altLang="en-US">
                <a:solidFill>
                  <a:schemeClr val="bg2"/>
                </a:solidFill>
                <a:ea typeface="宋体" panose="02010600030101010101" pitchFamily="2" charset="-122"/>
              </a:rPr>
              <a:t>个地址项为一次间接地址，第</a:t>
            </a:r>
            <a:r>
              <a:rPr lang="en-US" altLang="zh-CN">
                <a:solidFill>
                  <a:schemeClr val="bg2"/>
                </a:solidFill>
                <a:ea typeface="宋体" panose="02010600030101010101" pitchFamily="2" charset="-122"/>
              </a:rPr>
              <a:t>11</a:t>
            </a:r>
            <a:r>
              <a:rPr lang="zh-CN" altLang="en-US">
                <a:solidFill>
                  <a:schemeClr val="bg2"/>
                </a:solidFill>
                <a:ea typeface="宋体" panose="02010600030101010101" pitchFamily="2" charset="-122"/>
              </a:rPr>
              <a:t>个地址项为二次间接地址，第</a:t>
            </a:r>
            <a:r>
              <a:rPr lang="en-US" altLang="zh-CN">
                <a:solidFill>
                  <a:schemeClr val="bg2"/>
                </a:solidFill>
                <a:ea typeface="宋体" panose="02010600030101010101" pitchFamily="2" charset="-122"/>
              </a:rPr>
              <a:t>12</a:t>
            </a:r>
            <a:r>
              <a:rPr lang="zh-CN" altLang="en-US">
                <a:solidFill>
                  <a:schemeClr val="bg2"/>
                </a:solidFill>
                <a:ea typeface="宋体" panose="02010600030101010101" pitchFamily="2" charset="-122"/>
              </a:rPr>
              <a:t>个地址项为三次间接地址。每个盘块大小为</a:t>
            </a:r>
            <a:r>
              <a:rPr lang="en-US" altLang="zh-CN">
                <a:solidFill>
                  <a:schemeClr val="bg2"/>
                </a:solidFill>
                <a:ea typeface="宋体" panose="02010600030101010101" pitchFamily="2" charset="-122"/>
              </a:rPr>
              <a:t>512B</a:t>
            </a:r>
            <a:r>
              <a:rPr lang="zh-CN" altLang="en-US">
                <a:solidFill>
                  <a:schemeClr val="bg2"/>
                </a:solidFill>
                <a:ea typeface="宋体" panose="02010600030101010101" pitchFamily="2" charset="-122"/>
              </a:rPr>
              <a:t>。</a:t>
            </a:r>
            <a:endParaRPr lang="en-US" altLang="zh-CN">
              <a:solidFill>
                <a:schemeClr val="bg2"/>
              </a:solidFill>
              <a:ea typeface="宋体" panose="02010600030101010101" pitchFamily="2" charset="-122"/>
            </a:endParaRPr>
          </a:p>
          <a:p>
            <a:pPr>
              <a:spcBef>
                <a:spcPct val="0"/>
              </a:spcBef>
              <a:buClrTx/>
              <a:buSzTx/>
              <a:buFontTx/>
              <a:buNone/>
            </a:pPr>
            <a:r>
              <a:rPr lang="zh-CN" altLang="en-US">
                <a:solidFill>
                  <a:schemeClr val="bg2"/>
                </a:solidFill>
                <a:ea typeface="宋体" panose="02010600030101010101" pitchFamily="2" charset="-122"/>
              </a:rPr>
              <a:t>每个盘块最多存放</a:t>
            </a:r>
            <a:r>
              <a:rPr lang="en-US" altLang="zh-CN">
                <a:solidFill>
                  <a:schemeClr val="bg2"/>
                </a:solidFill>
                <a:ea typeface="宋体" panose="02010600030101010101" pitchFamily="2" charset="-122"/>
              </a:rPr>
              <a:t>170</a:t>
            </a:r>
            <a:r>
              <a:rPr lang="zh-CN" altLang="en-US">
                <a:solidFill>
                  <a:schemeClr val="bg2"/>
                </a:solidFill>
                <a:ea typeface="宋体" panose="02010600030101010101" pitchFamily="2" charset="-122"/>
              </a:rPr>
              <a:t>个索引项。</a:t>
            </a:r>
          </a:p>
        </p:txBody>
      </p:sp>
      <p:sp>
        <p:nvSpPr>
          <p:cNvPr id="66564" name="文本框 5"/>
          <p:cNvSpPr txBox="1">
            <a:spLocks noChangeArrowheads="1"/>
          </p:cNvSpPr>
          <p:nvPr/>
        </p:nvSpPr>
        <p:spPr bwMode="auto">
          <a:xfrm>
            <a:off x="-30164" y="2062163"/>
            <a:ext cx="8994651"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dirty="0">
                <a:solidFill>
                  <a:schemeClr val="bg2"/>
                </a:solidFill>
                <a:ea typeface="宋体" panose="02010600030101010101" pitchFamily="2" charset="-122"/>
              </a:rPr>
              <a:t>（</a:t>
            </a:r>
            <a:r>
              <a:rPr lang="en-US" altLang="zh-CN" dirty="0">
                <a:solidFill>
                  <a:schemeClr val="bg2"/>
                </a:solidFill>
                <a:ea typeface="宋体" panose="02010600030101010101" pitchFamily="2" charset="-122"/>
              </a:rPr>
              <a:t>2</a:t>
            </a:r>
            <a:r>
              <a:rPr lang="zh-CN" altLang="en-US" dirty="0">
                <a:solidFill>
                  <a:schemeClr val="bg2"/>
                </a:solidFill>
                <a:ea typeface="宋体" panose="02010600030101010101" pitchFamily="2" charset="-122"/>
              </a:rPr>
              <a:t>） 将文件的字节偏移量 </a:t>
            </a:r>
            <a:r>
              <a:rPr lang="en-US" altLang="zh-CN" dirty="0">
                <a:solidFill>
                  <a:schemeClr val="bg2"/>
                </a:solidFill>
                <a:ea typeface="宋体" panose="02010600030101010101" pitchFamily="2" charset="-122"/>
              </a:rPr>
              <a:t>15000</a:t>
            </a:r>
            <a:r>
              <a:rPr lang="zh-CN" altLang="en-US" dirty="0">
                <a:solidFill>
                  <a:schemeClr val="bg2"/>
                </a:solidFill>
                <a:ea typeface="宋体" panose="02010600030101010101" pitchFamily="2" charset="-122"/>
              </a:rPr>
              <a:t>转换为物理块号和块内偏移量。</a:t>
            </a:r>
            <a:endParaRPr lang="zh-CN" altLang="en-US" sz="2400" dirty="0">
              <a:solidFill>
                <a:schemeClr val="bg2"/>
              </a:solidFill>
              <a:ea typeface="宋体" panose="02010600030101010101" pitchFamily="2" charset="-122"/>
            </a:endParaRPr>
          </a:p>
        </p:txBody>
      </p:sp>
      <p:sp>
        <p:nvSpPr>
          <p:cNvPr id="7" name="Rectangle 3"/>
          <p:cNvSpPr txBox="1">
            <a:spLocks noChangeArrowheads="1"/>
          </p:cNvSpPr>
          <p:nvPr/>
        </p:nvSpPr>
        <p:spPr bwMode="auto">
          <a:xfrm>
            <a:off x="0" y="3068638"/>
            <a:ext cx="9144000" cy="3600450"/>
          </a:xfrm>
          <a:prstGeom prst="rect">
            <a:avLst/>
          </a:prstGeom>
          <a:solidFill>
            <a:schemeClr val="tx1"/>
          </a:solidFill>
          <a:ln>
            <a:noFill/>
          </a:ln>
        </p:spPr>
        <p:txBody>
          <a:bodyPr/>
          <a:lstStyle>
            <a:lvl1pPr marL="342900" indent="-342900" algn="l" rtl="0" eaLnBrk="0" fontAlgn="base" hangingPunct="0">
              <a:spcBef>
                <a:spcPct val="20000"/>
              </a:spcBef>
              <a:spcAft>
                <a:spcPct val="0"/>
              </a:spcAft>
              <a:buClr>
                <a:srgbClr val="FFABFF"/>
              </a:buClr>
              <a:buSzPct val="90000"/>
              <a:buFont typeface="Symbol" panose="05050102010706020507" pitchFamily="18" charset="2"/>
              <a:buChar char="¨"/>
              <a:defRPr kumimoji="1" sz="3200" b="1">
                <a:solidFill>
                  <a:srgbClr val="FFCCFF"/>
                </a:solidFill>
                <a:latin typeface="+mn-lt"/>
                <a:ea typeface="+mn-ea"/>
                <a:cs typeface="+mn-cs"/>
              </a:defRPr>
            </a:lvl1pPr>
            <a:lvl2pPr marL="742950" indent="-285750" algn="l" rtl="0" eaLnBrk="0" fontAlgn="base" hangingPunct="0">
              <a:spcBef>
                <a:spcPct val="20000"/>
              </a:spcBef>
              <a:spcAft>
                <a:spcPct val="0"/>
              </a:spcAft>
              <a:buChar char="–"/>
              <a:defRPr kumimoji="1" sz="2800" b="1">
                <a:solidFill>
                  <a:srgbClr val="FFFF00"/>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vl6pPr marL="2514600" indent="-228600" algn="l" rtl="0" fontAlgn="base">
              <a:spcBef>
                <a:spcPct val="20000"/>
              </a:spcBef>
              <a:spcAft>
                <a:spcPct val="0"/>
              </a:spcAft>
              <a:buChar char="•"/>
              <a:defRPr kumimoji="1" sz="2000" b="1">
                <a:solidFill>
                  <a:schemeClr val="tx1"/>
                </a:solidFill>
                <a:latin typeface="+mn-lt"/>
                <a:ea typeface="+mn-ea"/>
              </a:defRPr>
            </a:lvl6pPr>
            <a:lvl7pPr marL="2971800" indent="-228600" algn="l" rtl="0" fontAlgn="base">
              <a:spcBef>
                <a:spcPct val="20000"/>
              </a:spcBef>
              <a:spcAft>
                <a:spcPct val="0"/>
              </a:spcAft>
              <a:buChar char="•"/>
              <a:defRPr kumimoji="1" sz="2000" b="1">
                <a:solidFill>
                  <a:schemeClr val="tx1"/>
                </a:solidFill>
                <a:latin typeface="+mn-lt"/>
                <a:ea typeface="+mn-ea"/>
              </a:defRPr>
            </a:lvl7pPr>
            <a:lvl8pPr marL="3429000" indent="-228600" algn="l" rtl="0" fontAlgn="base">
              <a:spcBef>
                <a:spcPct val="20000"/>
              </a:spcBef>
              <a:spcAft>
                <a:spcPct val="0"/>
              </a:spcAft>
              <a:buChar char="•"/>
              <a:defRPr kumimoji="1" sz="2000" b="1">
                <a:solidFill>
                  <a:schemeClr val="tx1"/>
                </a:solidFill>
                <a:latin typeface="+mn-lt"/>
                <a:ea typeface="+mn-ea"/>
              </a:defRPr>
            </a:lvl8pPr>
            <a:lvl9pPr marL="3886200" indent="-228600" algn="l" rtl="0" fontAlgn="base">
              <a:spcBef>
                <a:spcPct val="20000"/>
              </a:spcBef>
              <a:spcAft>
                <a:spcPct val="0"/>
              </a:spcAft>
              <a:buChar char="•"/>
              <a:defRPr kumimoji="1" sz="2000" b="1">
                <a:solidFill>
                  <a:schemeClr val="tx1"/>
                </a:solidFill>
                <a:latin typeface="+mn-lt"/>
                <a:ea typeface="+mn-ea"/>
              </a:defRPr>
            </a:lvl9pPr>
          </a:lstStyle>
          <a:p>
            <a:pPr marL="0" indent="0">
              <a:lnSpc>
                <a:spcPct val="120000"/>
              </a:lnSpc>
              <a:buFont typeface="Symbol" panose="05050102010706020507" pitchFamily="18" charset="2"/>
              <a:buNone/>
              <a:defRPr/>
            </a:pPr>
            <a:r>
              <a:rPr lang="en-US" altLang="zh-CN" sz="2800" kern="0" dirty="0" smtClean="0">
                <a:solidFill>
                  <a:schemeClr val="bg2"/>
                </a:solidFill>
              </a:rPr>
              <a:t>15000</a:t>
            </a:r>
            <a:r>
              <a:rPr lang="zh-CN" altLang="en-US" sz="2800" kern="0" dirty="0" smtClean="0">
                <a:solidFill>
                  <a:schemeClr val="bg2"/>
                </a:solidFill>
              </a:rPr>
              <a:t>／</a:t>
            </a:r>
            <a:r>
              <a:rPr lang="en-US" altLang="zh-CN" sz="2800" kern="0" dirty="0" smtClean="0">
                <a:solidFill>
                  <a:schemeClr val="bg2"/>
                </a:solidFill>
              </a:rPr>
              <a:t>512</a:t>
            </a:r>
            <a:r>
              <a:rPr lang="zh-CN" altLang="en-US" sz="2800" kern="0" dirty="0" smtClean="0">
                <a:solidFill>
                  <a:schemeClr val="bg2"/>
                </a:solidFill>
              </a:rPr>
              <a:t>得到商为</a:t>
            </a:r>
            <a:r>
              <a:rPr lang="en-US" altLang="zh-CN" sz="2800" kern="0" dirty="0" smtClean="0">
                <a:solidFill>
                  <a:schemeClr val="bg2"/>
                </a:solidFill>
              </a:rPr>
              <a:t>29</a:t>
            </a:r>
            <a:r>
              <a:rPr lang="zh-CN" altLang="en-US" sz="2800" kern="0" dirty="0" smtClean="0">
                <a:solidFill>
                  <a:schemeClr val="bg2"/>
                </a:solidFill>
              </a:rPr>
              <a:t>，余数为</a:t>
            </a:r>
            <a:r>
              <a:rPr lang="en-US" altLang="zh-CN" sz="2800" kern="0" dirty="0" smtClean="0">
                <a:solidFill>
                  <a:schemeClr val="bg2"/>
                </a:solidFill>
              </a:rPr>
              <a:t>152;</a:t>
            </a:r>
          </a:p>
          <a:p>
            <a:pPr marL="0" indent="0">
              <a:lnSpc>
                <a:spcPct val="120000"/>
              </a:lnSpc>
              <a:buFont typeface="Symbol" panose="05050102010706020507" pitchFamily="18" charset="2"/>
              <a:buNone/>
              <a:defRPr/>
            </a:pPr>
            <a:r>
              <a:rPr lang="zh-CN" altLang="en-US" sz="2800" kern="0" dirty="0" smtClean="0">
                <a:solidFill>
                  <a:schemeClr val="bg2"/>
                </a:solidFill>
              </a:rPr>
              <a:t>逻辑块号为</a:t>
            </a:r>
            <a:r>
              <a:rPr lang="en-US" altLang="zh-CN" sz="2800" kern="0" dirty="0" smtClean="0">
                <a:solidFill>
                  <a:schemeClr val="bg2"/>
                </a:solidFill>
              </a:rPr>
              <a:t>29</a:t>
            </a:r>
            <a:r>
              <a:rPr lang="zh-CN" altLang="en-US" sz="2800" kern="0" dirty="0" smtClean="0">
                <a:solidFill>
                  <a:schemeClr val="bg2"/>
                </a:solidFill>
              </a:rPr>
              <a:t>，块内偏移量为</a:t>
            </a:r>
            <a:r>
              <a:rPr lang="en-US" altLang="zh-CN" sz="2800" kern="0" dirty="0" smtClean="0">
                <a:solidFill>
                  <a:schemeClr val="bg2"/>
                </a:solidFill>
              </a:rPr>
              <a:t>152</a:t>
            </a:r>
            <a:r>
              <a:rPr lang="zh-CN" altLang="en-US" sz="2800" kern="0" dirty="0" smtClean="0">
                <a:solidFill>
                  <a:schemeClr val="bg2"/>
                </a:solidFill>
              </a:rPr>
              <a:t>。</a:t>
            </a:r>
            <a:endParaRPr lang="en-US" altLang="zh-CN" sz="2800" kern="0" dirty="0" smtClean="0">
              <a:solidFill>
                <a:schemeClr val="bg2"/>
              </a:solidFill>
            </a:endParaRPr>
          </a:p>
          <a:p>
            <a:pPr marL="0" indent="0">
              <a:lnSpc>
                <a:spcPct val="120000"/>
              </a:lnSpc>
              <a:buFont typeface="Symbol" panose="05050102010706020507" pitchFamily="18" charset="2"/>
              <a:buNone/>
              <a:defRPr/>
            </a:pPr>
            <a:r>
              <a:rPr lang="en-US" altLang="zh-CN" sz="2800" kern="0" dirty="0" smtClean="0">
                <a:solidFill>
                  <a:schemeClr val="bg2"/>
                </a:solidFill>
              </a:rPr>
              <a:t>10&lt; 29&lt; 10+170</a:t>
            </a:r>
            <a:r>
              <a:rPr lang="zh-CN" altLang="en-US" sz="2800" kern="0" dirty="0" smtClean="0">
                <a:solidFill>
                  <a:schemeClr val="bg2"/>
                </a:solidFill>
              </a:rPr>
              <a:t>：可从</a:t>
            </a:r>
            <a:r>
              <a:rPr lang="en-US" altLang="zh-CN" sz="2800" kern="0" dirty="0" smtClean="0">
                <a:solidFill>
                  <a:schemeClr val="bg2"/>
                </a:solidFill>
              </a:rPr>
              <a:t>FCB</a:t>
            </a:r>
            <a:r>
              <a:rPr lang="zh-CN" altLang="en-US" sz="2800" kern="0" dirty="0" smtClean="0">
                <a:solidFill>
                  <a:schemeClr val="bg2"/>
                </a:solidFill>
              </a:rPr>
              <a:t>的第</a:t>
            </a:r>
            <a:r>
              <a:rPr lang="en-US" altLang="zh-CN" sz="2800" kern="0" dirty="0" smtClean="0">
                <a:solidFill>
                  <a:schemeClr val="bg2"/>
                </a:solidFill>
              </a:rPr>
              <a:t>10</a:t>
            </a:r>
            <a:r>
              <a:rPr lang="zh-CN" altLang="en-US" sz="2800" kern="0" dirty="0" smtClean="0">
                <a:solidFill>
                  <a:schemeClr val="bg2"/>
                </a:solidFill>
              </a:rPr>
              <a:t>个地址项，即一次间址项中得到一次间址块的地址；</a:t>
            </a:r>
            <a:endParaRPr lang="en-US" altLang="zh-CN" sz="2800" kern="0" dirty="0" smtClean="0">
              <a:solidFill>
                <a:schemeClr val="bg2"/>
              </a:solidFill>
            </a:endParaRPr>
          </a:p>
          <a:p>
            <a:pPr marL="0" indent="0">
              <a:lnSpc>
                <a:spcPct val="120000"/>
              </a:lnSpc>
              <a:buFont typeface="Symbol" panose="05050102010706020507" pitchFamily="18" charset="2"/>
              <a:buNone/>
              <a:defRPr/>
            </a:pPr>
            <a:r>
              <a:rPr lang="zh-CN" altLang="en-US" sz="2800" kern="0" dirty="0" smtClean="0">
                <a:solidFill>
                  <a:schemeClr val="bg2"/>
                </a:solidFill>
              </a:rPr>
              <a:t>而</a:t>
            </a:r>
            <a:r>
              <a:rPr lang="en-US" altLang="zh-CN" sz="2800" kern="0" dirty="0" smtClean="0">
                <a:solidFill>
                  <a:schemeClr val="bg2"/>
                </a:solidFill>
              </a:rPr>
              <a:t>29-10=19</a:t>
            </a:r>
            <a:r>
              <a:rPr lang="zh-CN" altLang="en-US" sz="2800" kern="0" dirty="0" smtClean="0">
                <a:solidFill>
                  <a:schemeClr val="bg2"/>
                </a:solidFill>
              </a:rPr>
              <a:t>：从一次间址块的第</a:t>
            </a:r>
            <a:r>
              <a:rPr lang="en-US" altLang="zh-CN" sz="2800" kern="0" dirty="0" smtClean="0">
                <a:solidFill>
                  <a:schemeClr val="bg2"/>
                </a:solidFill>
              </a:rPr>
              <a:t>19</a:t>
            </a:r>
            <a:r>
              <a:rPr lang="zh-CN" altLang="en-US" sz="2800" kern="0" dirty="0" smtClean="0">
                <a:solidFill>
                  <a:schemeClr val="bg2"/>
                </a:solidFill>
              </a:rPr>
              <a:t>项（即该块的第</a:t>
            </a:r>
            <a:r>
              <a:rPr lang="en-US" altLang="zh-CN" sz="2800" kern="0" dirty="0" smtClean="0">
                <a:solidFill>
                  <a:schemeClr val="bg2"/>
                </a:solidFill>
              </a:rPr>
              <a:t>57~59</a:t>
            </a:r>
            <a:r>
              <a:rPr lang="zh-CN" altLang="en-US" sz="2800" kern="0" dirty="0" smtClean="0">
                <a:solidFill>
                  <a:schemeClr val="bg2"/>
                </a:solidFill>
              </a:rPr>
              <a:t>这</a:t>
            </a:r>
            <a:r>
              <a:rPr lang="en-US" altLang="zh-CN" sz="2800" kern="0" dirty="0" smtClean="0">
                <a:solidFill>
                  <a:schemeClr val="bg2"/>
                </a:solidFill>
              </a:rPr>
              <a:t>3</a:t>
            </a:r>
            <a:r>
              <a:rPr lang="zh-CN" altLang="en-US" sz="2800" kern="0" dirty="0" smtClean="0">
                <a:solidFill>
                  <a:schemeClr val="bg2"/>
                </a:solidFill>
              </a:rPr>
              <a:t>个字节）中获得对应的物理盘块号，块内偏移量为</a:t>
            </a:r>
            <a:r>
              <a:rPr lang="en-US" altLang="zh-CN" sz="2800" kern="0" dirty="0" smtClean="0">
                <a:solidFill>
                  <a:schemeClr val="bg2"/>
                </a:solidFill>
              </a:rPr>
              <a:t>152</a:t>
            </a:r>
            <a:r>
              <a:rPr lang="zh-CN" altLang="en-US" sz="2800" kern="0" dirty="0" smtClean="0">
                <a:solidFill>
                  <a:schemeClr val="bg2"/>
                </a:solidFill>
              </a:rPr>
              <a:t>。</a:t>
            </a:r>
          </a:p>
        </p:txBody>
      </p:sp>
      <p:sp>
        <p:nvSpPr>
          <p:cNvPr id="9"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1000"/>
                                        <p:tgtEl>
                                          <p:spTgt spid="7">
                                            <p:bg/>
                                          </p:spTgt>
                                        </p:tgtEl>
                                      </p:cBhvr>
                                    </p:animEffect>
                                    <p:anim calcmode="lin" valueType="num">
                                      <p:cBhvr>
                                        <p:cTn id="8" dur="1000" fill="hold"/>
                                        <p:tgtEl>
                                          <p:spTgt spid="7">
                                            <p:bg/>
                                          </p:spTgt>
                                        </p:tgtEl>
                                        <p:attrNameLst>
                                          <p:attrName>ppt_x</p:attrName>
                                        </p:attrNameLst>
                                      </p:cBhvr>
                                      <p:tavLst>
                                        <p:tav tm="0">
                                          <p:val>
                                            <p:strVal val="#ppt_x"/>
                                          </p:val>
                                        </p:tav>
                                        <p:tav tm="100000">
                                          <p:val>
                                            <p:strVal val="#ppt_x"/>
                                          </p:val>
                                        </p:tav>
                                      </p:tavLst>
                                    </p:anim>
                                    <p:anim calcmode="lin" valueType="num">
                                      <p:cBhvr>
                                        <p:cTn id="9" dur="1000" fill="hold"/>
                                        <p:tgtEl>
                                          <p:spTgt spid="7">
                                            <p:bg/>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par>
                          <p:cTn id="38" fill="hold">
                            <p:stCondLst>
                              <p:cond delay="1000"/>
                            </p:stCondLst>
                            <p:childTnLst>
                              <p:par>
                                <p:cTn id="39" presetID="2" presetClass="entr" presetSubtype="6"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1+#ppt_w/2"/>
                                          </p:val>
                                        </p:tav>
                                        <p:tav tm="100000">
                                          <p:val>
                                            <p:strVal val="#ppt_x"/>
                                          </p:val>
                                        </p:tav>
                                      </p:tavLst>
                                    </p:anim>
                                    <p:anim calcmode="lin" valueType="num">
                                      <p:cBhvr additive="base">
                                        <p:cTn id="4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文本框 3"/>
          <p:cNvSpPr txBox="1">
            <a:spLocks noChangeArrowheads="1"/>
          </p:cNvSpPr>
          <p:nvPr/>
        </p:nvSpPr>
        <p:spPr bwMode="auto">
          <a:xfrm>
            <a:off x="0" y="0"/>
            <a:ext cx="9144000" cy="1816100"/>
          </a:xfrm>
          <a:prstGeom prst="rect">
            <a:avLst/>
          </a:prstGeom>
          <a:solidFill>
            <a:srgbClr val="EEDD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a:solidFill>
                  <a:schemeClr val="bg2"/>
                </a:solidFill>
                <a:ea typeface="宋体" panose="02010600030101010101" pitchFamily="2" charset="-122"/>
              </a:rPr>
              <a:t>第</a:t>
            </a:r>
            <a:r>
              <a:rPr lang="en-US" altLang="zh-CN" sz="2800">
                <a:solidFill>
                  <a:schemeClr val="bg2"/>
                </a:solidFill>
                <a:ea typeface="宋体" panose="02010600030101010101" pitchFamily="2" charset="-122"/>
              </a:rPr>
              <a:t>0-9</a:t>
            </a:r>
            <a:r>
              <a:rPr lang="zh-CN" altLang="en-US" sz="2800">
                <a:solidFill>
                  <a:schemeClr val="bg2"/>
                </a:solidFill>
                <a:ea typeface="宋体" panose="02010600030101010101" pitchFamily="2" charset="-122"/>
              </a:rPr>
              <a:t>个地址项为直接地址，第</a:t>
            </a:r>
            <a:r>
              <a:rPr lang="en-US" altLang="zh-CN" sz="2800">
                <a:solidFill>
                  <a:schemeClr val="bg2"/>
                </a:solidFill>
                <a:ea typeface="宋体" panose="02010600030101010101" pitchFamily="2" charset="-122"/>
              </a:rPr>
              <a:t>10</a:t>
            </a:r>
            <a:r>
              <a:rPr lang="zh-CN" altLang="en-US" sz="2800">
                <a:solidFill>
                  <a:schemeClr val="bg2"/>
                </a:solidFill>
                <a:ea typeface="宋体" panose="02010600030101010101" pitchFamily="2" charset="-122"/>
              </a:rPr>
              <a:t>个地址项为一次间接地址，第</a:t>
            </a:r>
            <a:r>
              <a:rPr lang="en-US" altLang="zh-CN" sz="2800">
                <a:solidFill>
                  <a:schemeClr val="bg2"/>
                </a:solidFill>
                <a:ea typeface="宋体" panose="02010600030101010101" pitchFamily="2" charset="-122"/>
              </a:rPr>
              <a:t>11</a:t>
            </a:r>
            <a:r>
              <a:rPr lang="zh-CN" altLang="en-US" sz="2800">
                <a:solidFill>
                  <a:schemeClr val="bg2"/>
                </a:solidFill>
                <a:ea typeface="宋体" panose="02010600030101010101" pitchFamily="2" charset="-122"/>
              </a:rPr>
              <a:t>个地址项为二次间接地址，第</a:t>
            </a:r>
            <a:r>
              <a:rPr lang="en-US" altLang="zh-CN" sz="2800">
                <a:solidFill>
                  <a:schemeClr val="bg2"/>
                </a:solidFill>
                <a:ea typeface="宋体" panose="02010600030101010101" pitchFamily="2" charset="-122"/>
              </a:rPr>
              <a:t>12</a:t>
            </a:r>
            <a:r>
              <a:rPr lang="zh-CN" altLang="en-US" sz="2800">
                <a:solidFill>
                  <a:schemeClr val="bg2"/>
                </a:solidFill>
                <a:ea typeface="宋体" panose="02010600030101010101" pitchFamily="2" charset="-122"/>
              </a:rPr>
              <a:t>个地址项为三次间接地址。每个盘块大小为</a:t>
            </a:r>
            <a:r>
              <a:rPr lang="en-US" altLang="zh-CN" sz="2800">
                <a:solidFill>
                  <a:schemeClr val="bg2"/>
                </a:solidFill>
                <a:ea typeface="宋体" panose="02010600030101010101" pitchFamily="2" charset="-122"/>
              </a:rPr>
              <a:t>512B</a:t>
            </a:r>
            <a:r>
              <a:rPr lang="zh-CN" altLang="en-US" sz="2800">
                <a:solidFill>
                  <a:schemeClr val="bg2"/>
                </a:solidFill>
                <a:ea typeface="宋体" panose="02010600030101010101" pitchFamily="2" charset="-122"/>
              </a:rPr>
              <a:t>。</a:t>
            </a:r>
            <a:endParaRPr lang="en-US" altLang="zh-CN" sz="2800">
              <a:solidFill>
                <a:schemeClr val="bg2"/>
              </a:solidFill>
              <a:ea typeface="宋体" panose="02010600030101010101" pitchFamily="2" charset="-122"/>
            </a:endParaRPr>
          </a:p>
          <a:p>
            <a:pPr>
              <a:spcBef>
                <a:spcPct val="0"/>
              </a:spcBef>
              <a:buClrTx/>
              <a:buSzTx/>
              <a:buFontTx/>
              <a:buNone/>
            </a:pPr>
            <a:r>
              <a:rPr lang="zh-CN" altLang="en-US" sz="2800">
                <a:solidFill>
                  <a:schemeClr val="bg2"/>
                </a:solidFill>
                <a:ea typeface="宋体" panose="02010600030101010101" pitchFamily="2" charset="-122"/>
              </a:rPr>
              <a:t>每个盘块最多存放</a:t>
            </a:r>
            <a:r>
              <a:rPr lang="en-US" altLang="zh-CN" sz="2800">
                <a:solidFill>
                  <a:schemeClr val="bg2"/>
                </a:solidFill>
                <a:ea typeface="宋体" panose="02010600030101010101" pitchFamily="2" charset="-122"/>
              </a:rPr>
              <a:t>170</a:t>
            </a:r>
            <a:r>
              <a:rPr lang="zh-CN" altLang="en-US" sz="2800">
                <a:solidFill>
                  <a:schemeClr val="bg2"/>
                </a:solidFill>
                <a:ea typeface="宋体" panose="02010600030101010101" pitchFamily="2" charset="-122"/>
              </a:rPr>
              <a:t>个索引项。</a:t>
            </a:r>
          </a:p>
        </p:txBody>
      </p:sp>
      <p:sp>
        <p:nvSpPr>
          <p:cNvPr id="67587" name="文本框 4"/>
          <p:cNvSpPr txBox="1">
            <a:spLocks noChangeArrowheads="1"/>
          </p:cNvSpPr>
          <p:nvPr/>
        </p:nvSpPr>
        <p:spPr bwMode="auto">
          <a:xfrm>
            <a:off x="74613" y="1700213"/>
            <a:ext cx="899477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dirty="0">
                <a:solidFill>
                  <a:schemeClr val="bg2"/>
                </a:solidFill>
                <a:ea typeface="宋体" panose="02010600030101010101" pitchFamily="2" charset="-122"/>
              </a:rPr>
              <a:t>（</a:t>
            </a:r>
            <a:r>
              <a:rPr lang="en-US" altLang="zh-CN" dirty="0">
                <a:solidFill>
                  <a:schemeClr val="bg2"/>
                </a:solidFill>
                <a:ea typeface="宋体" panose="02010600030101010101" pitchFamily="2" charset="-122"/>
              </a:rPr>
              <a:t>3</a:t>
            </a:r>
            <a:r>
              <a:rPr lang="zh-CN" altLang="en-US" dirty="0">
                <a:solidFill>
                  <a:schemeClr val="bg2"/>
                </a:solidFill>
                <a:ea typeface="宋体" panose="02010600030101010101" pitchFamily="2" charset="-122"/>
              </a:rPr>
              <a:t>） 将文件的字节偏移量 </a:t>
            </a:r>
            <a:r>
              <a:rPr lang="en-US" altLang="zh-CN" dirty="0">
                <a:solidFill>
                  <a:schemeClr val="bg2"/>
                </a:solidFill>
                <a:ea typeface="宋体" panose="02010600030101010101" pitchFamily="2" charset="-122"/>
              </a:rPr>
              <a:t>150000</a:t>
            </a:r>
            <a:r>
              <a:rPr lang="zh-CN" altLang="en-US" dirty="0">
                <a:solidFill>
                  <a:schemeClr val="bg2"/>
                </a:solidFill>
                <a:ea typeface="宋体" panose="02010600030101010101" pitchFamily="2" charset="-122"/>
              </a:rPr>
              <a:t>转换为物理块号和块内偏移量。</a:t>
            </a:r>
            <a:endParaRPr lang="zh-CN" altLang="en-US" sz="2400" dirty="0">
              <a:solidFill>
                <a:schemeClr val="bg2"/>
              </a:solidFill>
              <a:ea typeface="宋体" panose="02010600030101010101" pitchFamily="2" charset="-122"/>
            </a:endParaRPr>
          </a:p>
        </p:txBody>
      </p:sp>
      <p:sp>
        <p:nvSpPr>
          <p:cNvPr id="6" name="Rectangle 3"/>
          <p:cNvSpPr txBox="1">
            <a:spLocks noChangeArrowheads="1"/>
          </p:cNvSpPr>
          <p:nvPr/>
        </p:nvSpPr>
        <p:spPr bwMode="auto">
          <a:xfrm>
            <a:off x="74613" y="2778125"/>
            <a:ext cx="9069387" cy="3960813"/>
          </a:xfrm>
          <a:prstGeom prst="rect">
            <a:avLst/>
          </a:prstGeom>
          <a:solidFill>
            <a:schemeClr val="tx1"/>
          </a:solidFill>
          <a:ln>
            <a:noFill/>
          </a:ln>
        </p:spPr>
        <p:txBody>
          <a:bodyPr/>
          <a:lstStyle>
            <a:lvl1pPr marL="342900" indent="-342900" algn="l" rtl="0" eaLnBrk="0" fontAlgn="base" hangingPunct="0">
              <a:spcBef>
                <a:spcPct val="20000"/>
              </a:spcBef>
              <a:spcAft>
                <a:spcPct val="0"/>
              </a:spcAft>
              <a:buClr>
                <a:srgbClr val="FFABFF"/>
              </a:buClr>
              <a:buSzPct val="90000"/>
              <a:buFont typeface="Symbol" panose="05050102010706020507" pitchFamily="18" charset="2"/>
              <a:buChar char="¨"/>
              <a:defRPr kumimoji="1" sz="3200" b="1">
                <a:solidFill>
                  <a:srgbClr val="FFCCFF"/>
                </a:solidFill>
                <a:latin typeface="+mn-lt"/>
                <a:ea typeface="+mn-ea"/>
                <a:cs typeface="+mn-cs"/>
              </a:defRPr>
            </a:lvl1pPr>
            <a:lvl2pPr marL="742950" indent="-285750" algn="l" rtl="0" eaLnBrk="0" fontAlgn="base" hangingPunct="0">
              <a:spcBef>
                <a:spcPct val="20000"/>
              </a:spcBef>
              <a:spcAft>
                <a:spcPct val="0"/>
              </a:spcAft>
              <a:buChar char="–"/>
              <a:defRPr kumimoji="1" sz="2800" b="1">
                <a:solidFill>
                  <a:srgbClr val="FFFF00"/>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har char="•"/>
              <a:defRPr kumimoji="1" sz="2000" b="1">
                <a:solidFill>
                  <a:schemeClr val="tx1"/>
                </a:solidFill>
                <a:latin typeface="+mn-lt"/>
                <a:ea typeface="+mn-ea"/>
              </a:defRPr>
            </a:lvl5pPr>
            <a:lvl6pPr marL="2514600" indent="-228600" algn="l" rtl="0" fontAlgn="base">
              <a:spcBef>
                <a:spcPct val="20000"/>
              </a:spcBef>
              <a:spcAft>
                <a:spcPct val="0"/>
              </a:spcAft>
              <a:buChar char="•"/>
              <a:defRPr kumimoji="1" sz="2000" b="1">
                <a:solidFill>
                  <a:schemeClr val="tx1"/>
                </a:solidFill>
                <a:latin typeface="+mn-lt"/>
                <a:ea typeface="+mn-ea"/>
              </a:defRPr>
            </a:lvl6pPr>
            <a:lvl7pPr marL="2971800" indent="-228600" algn="l" rtl="0" fontAlgn="base">
              <a:spcBef>
                <a:spcPct val="20000"/>
              </a:spcBef>
              <a:spcAft>
                <a:spcPct val="0"/>
              </a:spcAft>
              <a:buChar char="•"/>
              <a:defRPr kumimoji="1" sz="2000" b="1">
                <a:solidFill>
                  <a:schemeClr val="tx1"/>
                </a:solidFill>
                <a:latin typeface="+mn-lt"/>
                <a:ea typeface="+mn-ea"/>
              </a:defRPr>
            </a:lvl7pPr>
            <a:lvl8pPr marL="3429000" indent="-228600" algn="l" rtl="0" fontAlgn="base">
              <a:spcBef>
                <a:spcPct val="20000"/>
              </a:spcBef>
              <a:spcAft>
                <a:spcPct val="0"/>
              </a:spcAft>
              <a:buChar char="•"/>
              <a:defRPr kumimoji="1" sz="2000" b="1">
                <a:solidFill>
                  <a:schemeClr val="tx1"/>
                </a:solidFill>
                <a:latin typeface="+mn-lt"/>
                <a:ea typeface="+mn-ea"/>
              </a:defRPr>
            </a:lvl8pPr>
            <a:lvl9pPr marL="3886200" indent="-228600" algn="l" rtl="0" fontAlgn="base">
              <a:spcBef>
                <a:spcPct val="20000"/>
              </a:spcBef>
              <a:spcAft>
                <a:spcPct val="0"/>
              </a:spcAft>
              <a:buChar char="•"/>
              <a:defRPr kumimoji="1" sz="2000" b="1">
                <a:solidFill>
                  <a:schemeClr val="tx1"/>
                </a:solidFill>
                <a:latin typeface="+mn-lt"/>
                <a:ea typeface="+mn-ea"/>
              </a:defRPr>
            </a:lvl9pPr>
          </a:lstStyle>
          <a:p>
            <a:pPr marL="0" indent="0">
              <a:buClr>
                <a:srgbClr val="CC0000"/>
              </a:buClr>
              <a:buFont typeface="Symbol" panose="05050102010706020507" pitchFamily="18" charset="2"/>
              <a:buNone/>
              <a:defRPr/>
            </a:pPr>
            <a:r>
              <a:rPr lang="en-US" altLang="zh-CN" sz="2800" kern="0" dirty="0" smtClean="0">
                <a:solidFill>
                  <a:schemeClr val="bg2"/>
                </a:solidFill>
              </a:rPr>
              <a:t>150000</a:t>
            </a:r>
            <a:r>
              <a:rPr lang="zh-CN" altLang="en-US" sz="2800" kern="0" dirty="0" smtClean="0">
                <a:solidFill>
                  <a:schemeClr val="bg2"/>
                </a:solidFill>
              </a:rPr>
              <a:t>／</a:t>
            </a:r>
            <a:r>
              <a:rPr lang="en-US" altLang="zh-CN" sz="2800" kern="0" dirty="0" smtClean="0">
                <a:solidFill>
                  <a:schemeClr val="bg2"/>
                </a:solidFill>
              </a:rPr>
              <a:t>512</a:t>
            </a:r>
            <a:r>
              <a:rPr lang="zh-CN" altLang="en-US" sz="2800" kern="0" dirty="0" smtClean="0">
                <a:solidFill>
                  <a:schemeClr val="bg2"/>
                </a:solidFill>
              </a:rPr>
              <a:t>得到商为</a:t>
            </a:r>
            <a:r>
              <a:rPr lang="en-US" altLang="zh-CN" sz="2800" kern="0" dirty="0" smtClean="0">
                <a:solidFill>
                  <a:schemeClr val="bg2"/>
                </a:solidFill>
              </a:rPr>
              <a:t>292</a:t>
            </a:r>
            <a:r>
              <a:rPr lang="zh-CN" altLang="en-US" sz="2800" kern="0" dirty="0" smtClean="0">
                <a:solidFill>
                  <a:schemeClr val="bg2"/>
                </a:solidFill>
              </a:rPr>
              <a:t>，余数为</a:t>
            </a:r>
            <a:r>
              <a:rPr lang="en-US" altLang="zh-CN" sz="2800" kern="0" dirty="0" smtClean="0">
                <a:solidFill>
                  <a:schemeClr val="bg2"/>
                </a:solidFill>
              </a:rPr>
              <a:t>496</a:t>
            </a:r>
            <a:r>
              <a:rPr lang="zh-CN" altLang="en-US" sz="2800" kern="0" dirty="0" smtClean="0">
                <a:solidFill>
                  <a:schemeClr val="bg2"/>
                </a:solidFill>
              </a:rPr>
              <a:t>；</a:t>
            </a:r>
            <a:endParaRPr lang="en-US" altLang="zh-CN" sz="2800" kern="0" dirty="0" smtClean="0">
              <a:solidFill>
                <a:schemeClr val="bg2"/>
              </a:solidFill>
            </a:endParaRPr>
          </a:p>
          <a:p>
            <a:pPr marL="0" indent="0">
              <a:buClr>
                <a:srgbClr val="CC0000"/>
              </a:buClr>
              <a:buFont typeface="Symbol" panose="05050102010706020507" pitchFamily="18" charset="2"/>
              <a:buNone/>
              <a:defRPr/>
            </a:pPr>
            <a:r>
              <a:rPr lang="zh-CN" altLang="en-US" sz="2800" kern="0" dirty="0" smtClean="0">
                <a:solidFill>
                  <a:schemeClr val="bg2"/>
                </a:solidFill>
              </a:rPr>
              <a:t>逻辑块号为</a:t>
            </a:r>
            <a:r>
              <a:rPr lang="en-US" altLang="zh-CN" sz="2800" kern="0" dirty="0" smtClean="0">
                <a:solidFill>
                  <a:schemeClr val="bg2"/>
                </a:solidFill>
              </a:rPr>
              <a:t>292</a:t>
            </a:r>
            <a:r>
              <a:rPr lang="zh-CN" altLang="en-US" sz="2800" kern="0" dirty="0" smtClean="0">
                <a:solidFill>
                  <a:schemeClr val="bg2"/>
                </a:solidFill>
              </a:rPr>
              <a:t>，块内偏移量为</a:t>
            </a:r>
            <a:r>
              <a:rPr lang="en-US" altLang="zh-CN" sz="2800" kern="0" dirty="0" smtClean="0">
                <a:solidFill>
                  <a:schemeClr val="bg2"/>
                </a:solidFill>
              </a:rPr>
              <a:t>496</a:t>
            </a:r>
            <a:r>
              <a:rPr lang="zh-CN" altLang="en-US" sz="2800" kern="0" dirty="0" smtClean="0">
                <a:solidFill>
                  <a:schemeClr val="bg2"/>
                </a:solidFill>
              </a:rPr>
              <a:t>。</a:t>
            </a:r>
            <a:endParaRPr lang="en-US" altLang="zh-CN" sz="2800" kern="0" dirty="0" smtClean="0">
              <a:solidFill>
                <a:schemeClr val="bg2"/>
              </a:solidFill>
            </a:endParaRPr>
          </a:p>
          <a:p>
            <a:pPr marL="0" indent="0">
              <a:buClr>
                <a:srgbClr val="CC0000"/>
              </a:buClr>
              <a:buFont typeface="Symbol" panose="05050102010706020507" pitchFamily="18" charset="2"/>
              <a:buNone/>
              <a:defRPr/>
            </a:pPr>
            <a:r>
              <a:rPr lang="en-US" altLang="zh-CN" sz="2800" kern="0" dirty="0" smtClean="0">
                <a:solidFill>
                  <a:schemeClr val="bg2"/>
                </a:solidFill>
              </a:rPr>
              <a:t>10+170&lt; 292&lt; 10+170+170×170</a:t>
            </a:r>
            <a:r>
              <a:rPr lang="zh-CN" altLang="en-US" sz="2800" kern="0" dirty="0" smtClean="0">
                <a:solidFill>
                  <a:schemeClr val="bg2"/>
                </a:solidFill>
              </a:rPr>
              <a:t>：从</a:t>
            </a:r>
            <a:r>
              <a:rPr lang="en-US" altLang="zh-CN" sz="2800" kern="0" dirty="0" smtClean="0">
                <a:solidFill>
                  <a:schemeClr val="bg2"/>
                </a:solidFill>
              </a:rPr>
              <a:t>FCB</a:t>
            </a:r>
            <a:r>
              <a:rPr lang="zh-CN" altLang="en-US" sz="2800" kern="0" dirty="0" smtClean="0">
                <a:solidFill>
                  <a:schemeClr val="bg2"/>
                </a:solidFill>
              </a:rPr>
              <a:t>的第</a:t>
            </a:r>
            <a:r>
              <a:rPr lang="en-US" altLang="zh-CN" sz="2800" kern="0" dirty="0" smtClean="0">
                <a:solidFill>
                  <a:schemeClr val="bg2"/>
                </a:solidFill>
              </a:rPr>
              <a:t>11</a:t>
            </a:r>
            <a:r>
              <a:rPr lang="zh-CN" altLang="en-US" sz="2800" kern="0" dirty="0" smtClean="0">
                <a:solidFill>
                  <a:schemeClr val="bg2"/>
                </a:solidFill>
              </a:rPr>
              <a:t>个地址项，即二次间址项中得到二次间址块的地址；</a:t>
            </a:r>
            <a:endParaRPr lang="en-US" altLang="zh-CN" sz="2800" kern="0" dirty="0" smtClean="0">
              <a:solidFill>
                <a:schemeClr val="bg2"/>
              </a:solidFill>
            </a:endParaRPr>
          </a:p>
          <a:p>
            <a:pPr marL="0" indent="0">
              <a:buClr>
                <a:srgbClr val="CC0000"/>
              </a:buClr>
              <a:buFont typeface="Symbol" panose="05050102010706020507" pitchFamily="18" charset="2"/>
              <a:buNone/>
              <a:defRPr/>
            </a:pPr>
            <a:r>
              <a:rPr lang="en-US" altLang="zh-CN" sz="2800" kern="0" dirty="0" smtClean="0">
                <a:solidFill>
                  <a:schemeClr val="bg2"/>
                </a:solidFill>
              </a:rPr>
              <a:t>292-</a:t>
            </a:r>
            <a:r>
              <a:rPr lang="zh-CN" altLang="en-US" sz="2800" kern="0" dirty="0" smtClean="0">
                <a:solidFill>
                  <a:schemeClr val="bg2"/>
                </a:solidFill>
              </a:rPr>
              <a:t>（</a:t>
            </a:r>
            <a:r>
              <a:rPr lang="en-US" altLang="zh-CN" sz="2800" kern="0" dirty="0" smtClean="0">
                <a:solidFill>
                  <a:schemeClr val="bg2"/>
                </a:solidFill>
              </a:rPr>
              <a:t>10+170</a:t>
            </a:r>
            <a:r>
              <a:rPr lang="zh-CN" altLang="en-US" sz="2800" kern="0" dirty="0" smtClean="0">
                <a:solidFill>
                  <a:schemeClr val="bg2"/>
                </a:solidFill>
              </a:rPr>
              <a:t>）</a:t>
            </a:r>
            <a:r>
              <a:rPr lang="en-US" altLang="zh-CN" sz="2800" kern="0" dirty="0" smtClean="0">
                <a:solidFill>
                  <a:schemeClr val="bg2"/>
                </a:solidFill>
              </a:rPr>
              <a:t>=112</a:t>
            </a:r>
            <a:r>
              <a:rPr lang="zh-CN" altLang="en-US" sz="2800" kern="0" dirty="0" smtClean="0">
                <a:solidFill>
                  <a:schemeClr val="bg2"/>
                </a:solidFill>
              </a:rPr>
              <a:t>，</a:t>
            </a:r>
            <a:r>
              <a:rPr lang="en-US" altLang="zh-CN" sz="2800" kern="0" dirty="0" smtClean="0">
                <a:solidFill>
                  <a:schemeClr val="bg2"/>
                </a:solidFill>
              </a:rPr>
              <a:t>112</a:t>
            </a:r>
            <a:r>
              <a:rPr lang="zh-CN" altLang="en-US" sz="2800" kern="0" dirty="0" smtClean="0">
                <a:solidFill>
                  <a:schemeClr val="bg2"/>
                </a:solidFill>
              </a:rPr>
              <a:t>／</a:t>
            </a:r>
            <a:r>
              <a:rPr lang="en-US" altLang="zh-CN" sz="2800" kern="0" dirty="0" smtClean="0">
                <a:solidFill>
                  <a:schemeClr val="bg2"/>
                </a:solidFill>
              </a:rPr>
              <a:t>170</a:t>
            </a:r>
            <a:r>
              <a:rPr lang="zh-CN" altLang="en-US" sz="2800" kern="0" dirty="0" smtClean="0">
                <a:solidFill>
                  <a:schemeClr val="bg2"/>
                </a:solidFill>
              </a:rPr>
              <a:t>得到商为</a:t>
            </a:r>
            <a:r>
              <a:rPr lang="en-US" altLang="zh-CN" sz="2800" kern="0" dirty="0" smtClean="0">
                <a:solidFill>
                  <a:schemeClr val="bg2"/>
                </a:solidFill>
              </a:rPr>
              <a:t>0</a:t>
            </a:r>
            <a:r>
              <a:rPr lang="zh-CN" altLang="en-US" sz="2800" kern="0" dirty="0" smtClean="0">
                <a:solidFill>
                  <a:schemeClr val="bg2"/>
                </a:solidFill>
              </a:rPr>
              <a:t>，余数为</a:t>
            </a:r>
            <a:r>
              <a:rPr lang="en-US" altLang="zh-CN" sz="2800" kern="0" dirty="0" smtClean="0">
                <a:solidFill>
                  <a:schemeClr val="bg2"/>
                </a:solidFill>
              </a:rPr>
              <a:t>112</a:t>
            </a:r>
            <a:r>
              <a:rPr lang="zh-CN" altLang="en-US" sz="2800" kern="0" dirty="0" smtClean="0">
                <a:solidFill>
                  <a:schemeClr val="bg2"/>
                </a:solidFill>
              </a:rPr>
              <a:t>：从二次间址块的第</a:t>
            </a:r>
            <a:r>
              <a:rPr lang="en-US" altLang="zh-CN" sz="2800" kern="0" dirty="0" smtClean="0">
                <a:solidFill>
                  <a:schemeClr val="bg2"/>
                </a:solidFill>
              </a:rPr>
              <a:t>0</a:t>
            </a:r>
            <a:r>
              <a:rPr lang="zh-CN" altLang="en-US" sz="2800" kern="0" dirty="0" smtClean="0">
                <a:solidFill>
                  <a:schemeClr val="bg2"/>
                </a:solidFill>
              </a:rPr>
              <a:t>项中获得一个一次间址块的地址；再从这一次间址块的第</a:t>
            </a:r>
            <a:r>
              <a:rPr lang="en-US" altLang="zh-CN" sz="2800" kern="0" dirty="0" smtClean="0">
                <a:solidFill>
                  <a:schemeClr val="bg2"/>
                </a:solidFill>
              </a:rPr>
              <a:t>112</a:t>
            </a:r>
            <a:r>
              <a:rPr lang="zh-CN" altLang="en-US" sz="2800" kern="0" dirty="0" smtClean="0">
                <a:solidFill>
                  <a:schemeClr val="bg2"/>
                </a:solidFill>
              </a:rPr>
              <a:t>项中获得对应的物理盘块号，块内偏移量为</a:t>
            </a:r>
            <a:r>
              <a:rPr lang="en-US" altLang="zh-CN" sz="2800" kern="0" dirty="0" smtClean="0">
                <a:solidFill>
                  <a:schemeClr val="bg2"/>
                </a:solidFill>
              </a:rPr>
              <a:t>496</a:t>
            </a:r>
            <a:r>
              <a:rPr lang="zh-CN" altLang="en-US" sz="2800" kern="0" dirty="0" smtClean="0">
                <a:solidFill>
                  <a:schemeClr val="bg2"/>
                </a:solidFill>
              </a:rPr>
              <a:t>。</a:t>
            </a:r>
          </a:p>
        </p:txBody>
      </p:sp>
      <p:sp>
        <p:nvSpPr>
          <p:cNvPr id="8"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 calcmode="lin" valueType="num">
                                      <p:cBhvr additive="base">
                                        <p:cTn id="7" dur="500" fill="hold"/>
                                        <p:tgtEl>
                                          <p:spTgt spid="6">
                                            <p:bg/>
                                          </p:spTgt>
                                        </p:tgtEl>
                                        <p:attrNameLst>
                                          <p:attrName>ppt_x</p:attrName>
                                        </p:attrNameLst>
                                      </p:cBhvr>
                                      <p:tavLst>
                                        <p:tav tm="0">
                                          <p:val>
                                            <p:strVal val="#ppt_x"/>
                                          </p:val>
                                        </p:tav>
                                        <p:tav tm="100000">
                                          <p:val>
                                            <p:strVal val="#ppt_x"/>
                                          </p:val>
                                        </p:tav>
                                      </p:tavLst>
                                    </p:anim>
                                    <p:anim calcmode="lin" valueType="num">
                                      <p:cBhvr additive="base">
                                        <p:cTn id="8" dur="500" fill="hold"/>
                                        <p:tgtEl>
                                          <p:spTgt spid="6">
                                            <p:bg/>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 calcmode="lin" valueType="num">
                                      <p:cBhvr additive="base">
                                        <p:cTn id="2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 calcmode="lin" valueType="num">
                                      <p:cBhvr additive="base">
                                        <p:cTn id="3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2" presetClass="entr" presetSubtype="6"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1+#ppt_w/2"/>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Rectangle 3"/>
          <p:cNvSpPr>
            <a:spLocks noGrp="1" noChangeArrowheads="1"/>
          </p:cNvSpPr>
          <p:nvPr>
            <p:ph type="body" idx="1"/>
          </p:nvPr>
        </p:nvSpPr>
        <p:spPr>
          <a:xfrm>
            <a:off x="0" y="1916113"/>
            <a:ext cx="9144000" cy="3529012"/>
          </a:xfrm>
          <a:solidFill>
            <a:schemeClr val="tx1"/>
          </a:solidFill>
        </p:spPr>
        <p:txBody>
          <a:bodyPr/>
          <a:lstStyle/>
          <a:p>
            <a:pPr>
              <a:lnSpc>
                <a:spcPct val="130000"/>
              </a:lnSpc>
              <a:buClrTx/>
              <a:buSzPct val="80000"/>
            </a:pPr>
            <a:r>
              <a:rPr lang="zh-CN" altLang="en-US" dirty="0" smtClean="0">
                <a:solidFill>
                  <a:schemeClr val="bg2"/>
                </a:solidFill>
              </a:rPr>
              <a:t>最少需要</a:t>
            </a:r>
            <a:r>
              <a:rPr lang="en-US" altLang="zh-CN" dirty="0" smtClean="0">
                <a:solidFill>
                  <a:schemeClr val="bg2"/>
                </a:solidFill>
              </a:rPr>
              <a:t>1</a:t>
            </a:r>
            <a:r>
              <a:rPr lang="zh-CN" altLang="en-US" dirty="0" smtClean="0">
                <a:solidFill>
                  <a:schemeClr val="bg2"/>
                </a:solidFill>
              </a:rPr>
              <a:t>次访问磁盘：</a:t>
            </a:r>
            <a:endParaRPr lang="en-US" altLang="zh-CN" dirty="0" smtClean="0">
              <a:solidFill>
                <a:schemeClr val="bg2"/>
              </a:solidFill>
            </a:endParaRPr>
          </a:p>
          <a:p>
            <a:pPr marL="742950" lvl="2" indent="-342900">
              <a:lnSpc>
                <a:spcPct val="130000"/>
              </a:lnSpc>
              <a:buClrTx/>
              <a:buSzPct val="80000"/>
              <a:buFont typeface="Monotype Sorts" pitchFamily="2" charset="2"/>
              <a:buChar char="n"/>
            </a:pPr>
            <a:r>
              <a:rPr lang="zh-CN" altLang="en-US" sz="2800" dirty="0">
                <a:solidFill>
                  <a:schemeClr val="bg2"/>
                </a:solidFill>
                <a:cs typeface="+mn-cs"/>
              </a:rPr>
              <a:t>即可通过直接地址直接读文件盘块</a:t>
            </a:r>
            <a:endParaRPr lang="en-US" altLang="zh-CN" sz="2800" dirty="0">
              <a:solidFill>
                <a:schemeClr val="bg2"/>
              </a:solidFill>
              <a:cs typeface="+mn-cs"/>
            </a:endParaRPr>
          </a:p>
          <a:p>
            <a:pPr>
              <a:lnSpc>
                <a:spcPct val="130000"/>
              </a:lnSpc>
              <a:buClrTx/>
              <a:buSzPct val="80000"/>
            </a:pPr>
            <a:r>
              <a:rPr lang="zh-CN" altLang="en-US" dirty="0">
                <a:solidFill>
                  <a:schemeClr val="bg2"/>
                </a:solidFill>
              </a:rPr>
              <a:t>最多需要</a:t>
            </a:r>
            <a:r>
              <a:rPr lang="en-US" altLang="zh-CN" dirty="0">
                <a:solidFill>
                  <a:schemeClr val="bg2"/>
                </a:solidFill>
              </a:rPr>
              <a:t>4</a:t>
            </a:r>
            <a:r>
              <a:rPr lang="zh-CN" altLang="en-US" dirty="0">
                <a:solidFill>
                  <a:schemeClr val="bg2"/>
                </a:solidFill>
              </a:rPr>
              <a:t>次访问磁盘</a:t>
            </a:r>
            <a:r>
              <a:rPr lang="en-US" altLang="zh-CN" dirty="0">
                <a:solidFill>
                  <a:schemeClr val="bg2"/>
                </a:solidFill>
              </a:rPr>
              <a:t>: </a:t>
            </a:r>
          </a:p>
          <a:p>
            <a:pPr marL="742950" lvl="2" indent="-342900">
              <a:lnSpc>
                <a:spcPct val="130000"/>
              </a:lnSpc>
              <a:buClrTx/>
              <a:buSzPct val="80000"/>
              <a:buFont typeface="Monotype Sorts" pitchFamily="2" charset="2"/>
              <a:buChar char="n"/>
            </a:pPr>
            <a:r>
              <a:rPr lang="zh-CN" altLang="en-US" sz="2800" dirty="0">
                <a:solidFill>
                  <a:schemeClr val="bg2"/>
                </a:solidFill>
                <a:cs typeface="+mn-cs"/>
              </a:rPr>
              <a:t>第一次是读三次间址块</a:t>
            </a:r>
            <a:r>
              <a:rPr lang="en-US" altLang="zh-CN" sz="2800" dirty="0">
                <a:solidFill>
                  <a:schemeClr val="bg2"/>
                </a:solidFill>
                <a:cs typeface="+mn-cs"/>
              </a:rPr>
              <a:t>; </a:t>
            </a:r>
            <a:r>
              <a:rPr lang="zh-CN" altLang="en-US" sz="2800" dirty="0">
                <a:solidFill>
                  <a:schemeClr val="bg2"/>
                </a:solidFill>
                <a:cs typeface="+mn-cs"/>
              </a:rPr>
              <a:t>第二次是读二次间址块</a:t>
            </a:r>
            <a:r>
              <a:rPr lang="en-US" altLang="zh-CN" sz="2800" dirty="0">
                <a:solidFill>
                  <a:schemeClr val="bg2"/>
                </a:solidFill>
                <a:cs typeface="+mn-cs"/>
              </a:rPr>
              <a:t>;</a:t>
            </a:r>
          </a:p>
          <a:p>
            <a:pPr marL="742950" lvl="2" indent="-342900">
              <a:lnSpc>
                <a:spcPct val="130000"/>
              </a:lnSpc>
              <a:buClrTx/>
              <a:buSzPct val="80000"/>
              <a:buFont typeface="Monotype Sorts" pitchFamily="2" charset="2"/>
              <a:buChar char="n"/>
            </a:pPr>
            <a:r>
              <a:rPr lang="zh-CN" altLang="en-US" sz="2800" dirty="0">
                <a:solidFill>
                  <a:schemeClr val="bg2"/>
                </a:solidFill>
                <a:cs typeface="+mn-cs"/>
              </a:rPr>
              <a:t>第三次是读一次间址块</a:t>
            </a:r>
            <a:r>
              <a:rPr lang="en-US" altLang="zh-CN" sz="2800" dirty="0">
                <a:solidFill>
                  <a:schemeClr val="bg2"/>
                </a:solidFill>
                <a:cs typeface="+mn-cs"/>
              </a:rPr>
              <a:t>; </a:t>
            </a:r>
            <a:r>
              <a:rPr lang="zh-CN" altLang="en-US" sz="2800" dirty="0">
                <a:solidFill>
                  <a:schemeClr val="bg2"/>
                </a:solidFill>
                <a:cs typeface="+mn-cs"/>
              </a:rPr>
              <a:t>第四次是读文件盘块。</a:t>
            </a:r>
          </a:p>
        </p:txBody>
      </p:sp>
      <p:sp>
        <p:nvSpPr>
          <p:cNvPr id="2" name="矩形 1"/>
          <p:cNvSpPr/>
          <p:nvPr/>
        </p:nvSpPr>
        <p:spPr>
          <a:xfrm>
            <a:off x="0" y="153988"/>
            <a:ext cx="9144000" cy="1512887"/>
          </a:xfrm>
          <a:prstGeom prst="rect">
            <a:avLst/>
          </a:prstGeom>
          <a:solidFill>
            <a:schemeClr val="bg1">
              <a:lumMod val="20000"/>
              <a:lumOff val="80000"/>
            </a:schemeClr>
          </a:solidFill>
        </p:spPr>
        <p:txBody>
          <a:bodyPr>
            <a:spAutoFit/>
          </a:bodyPr>
          <a:lstStyle/>
          <a:p>
            <a:pPr>
              <a:lnSpc>
                <a:spcPct val="110000"/>
              </a:lnSpc>
              <a:defRPr/>
            </a:pPr>
            <a:r>
              <a:rPr lang="zh-CN" altLang="en-US" sz="2800" dirty="0">
                <a:solidFill>
                  <a:schemeClr val="bg2"/>
                </a:solidFill>
              </a:rPr>
              <a:t>（</a:t>
            </a:r>
            <a:r>
              <a:rPr lang="en-US" altLang="zh-CN" sz="2800" dirty="0">
                <a:solidFill>
                  <a:schemeClr val="bg2"/>
                </a:solidFill>
              </a:rPr>
              <a:t>3</a:t>
            </a:r>
            <a:r>
              <a:rPr lang="zh-CN" altLang="en-US" sz="2800" dirty="0">
                <a:solidFill>
                  <a:schemeClr val="bg2"/>
                </a:solidFill>
              </a:rPr>
              <a:t>） 假设某个文件的</a:t>
            </a:r>
            <a:r>
              <a:rPr lang="en-US" altLang="zh-CN" sz="2800" dirty="0">
                <a:solidFill>
                  <a:schemeClr val="bg2"/>
                </a:solidFill>
              </a:rPr>
              <a:t>FCB</a:t>
            </a:r>
            <a:r>
              <a:rPr lang="zh-CN" altLang="en-US" sz="2800" dirty="0">
                <a:solidFill>
                  <a:schemeClr val="bg2"/>
                </a:solidFill>
              </a:rPr>
              <a:t>己在内存，但其它信息均在外存，为了访问该文件中某个位置的内容，最少需要几次访问磁盘，最多需要几次访问磁盘？</a:t>
            </a:r>
          </a:p>
        </p:txBody>
      </p:sp>
      <p:sp>
        <p:nvSpPr>
          <p:cNvPr id="5" name="AutoShape 4">
            <a:hlinkClick r:id="rId2" action="ppaction://hlinksldjump" highlightClick="1"/>
          </p:cNvPr>
          <p:cNvSpPr>
            <a:spLocks noChangeArrowheads="1"/>
          </p:cNvSpPr>
          <p:nvPr/>
        </p:nvSpPr>
        <p:spPr bwMode="auto">
          <a:xfrm>
            <a:off x="8763000" y="6477000"/>
            <a:ext cx="381000" cy="381000"/>
          </a:xfrm>
          <a:prstGeom prst="actionButtonHome">
            <a:avLst/>
          </a:prstGeom>
          <a:solidFill>
            <a:schemeClr val="tx1">
              <a:lumMod val="65000"/>
            </a:schemeClr>
          </a:solidFill>
          <a:ln w="12700" cap="sq">
            <a:noFill/>
            <a:miter lim="800000"/>
            <a:headEnd type="none" w="sm" len="sm"/>
            <a:tailEnd type="none" w="sm" len="sm"/>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6562">
                                            <p:bg/>
                                          </p:spTgt>
                                        </p:tgtEl>
                                        <p:attrNameLst>
                                          <p:attrName>style.visibility</p:attrName>
                                        </p:attrNameLst>
                                      </p:cBhvr>
                                      <p:to>
                                        <p:strVal val="visible"/>
                                      </p:to>
                                    </p:set>
                                    <p:animEffect transition="in" filter="fade">
                                      <p:cBhvr>
                                        <p:cTn id="7" dur="1000"/>
                                        <p:tgtEl>
                                          <p:spTgt spid="66562">
                                            <p:bg/>
                                          </p:spTgt>
                                        </p:tgtEl>
                                      </p:cBhvr>
                                    </p:animEffect>
                                    <p:anim calcmode="lin" valueType="num">
                                      <p:cBhvr>
                                        <p:cTn id="8" dur="1000" fill="hold"/>
                                        <p:tgtEl>
                                          <p:spTgt spid="66562">
                                            <p:bg/>
                                          </p:spTgt>
                                        </p:tgtEl>
                                        <p:attrNameLst>
                                          <p:attrName>ppt_x</p:attrName>
                                        </p:attrNameLst>
                                      </p:cBhvr>
                                      <p:tavLst>
                                        <p:tav tm="0">
                                          <p:val>
                                            <p:strVal val="#ppt_x"/>
                                          </p:val>
                                        </p:tav>
                                        <p:tav tm="100000">
                                          <p:val>
                                            <p:strVal val="#ppt_x"/>
                                          </p:val>
                                        </p:tav>
                                      </p:tavLst>
                                    </p:anim>
                                    <p:anim calcmode="lin" valueType="num">
                                      <p:cBhvr>
                                        <p:cTn id="9" dur="1000" fill="hold"/>
                                        <p:tgtEl>
                                          <p:spTgt spid="66562">
                                            <p:bg/>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6562">
                                            <p:txEl>
                                              <p:pRg st="0" end="0"/>
                                            </p:txEl>
                                          </p:spTgt>
                                        </p:tgtEl>
                                        <p:attrNameLst>
                                          <p:attrName>style.visibility</p:attrName>
                                        </p:attrNameLst>
                                      </p:cBhvr>
                                      <p:to>
                                        <p:strVal val="visible"/>
                                      </p:to>
                                    </p:set>
                                    <p:animEffect transition="in" filter="fade">
                                      <p:cBhvr>
                                        <p:cTn id="14" dur="1000"/>
                                        <p:tgtEl>
                                          <p:spTgt spid="66562">
                                            <p:txEl>
                                              <p:pRg st="0" end="0"/>
                                            </p:txEl>
                                          </p:spTgt>
                                        </p:tgtEl>
                                      </p:cBhvr>
                                    </p:animEffect>
                                    <p:anim calcmode="lin" valueType="num">
                                      <p:cBhvr>
                                        <p:cTn id="15" dur="1000" fill="hold"/>
                                        <p:tgtEl>
                                          <p:spTgt spid="6656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6562">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6562">
                                            <p:txEl>
                                              <p:pRg st="1" end="1"/>
                                            </p:txEl>
                                          </p:spTgt>
                                        </p:tgtEl>
                                        <p:attrNameLst>
                                          <p:attrName>style.visibility</p:attrName>
                                        </p:attrNameLst>
                                      </p:cBhvr>
                                      <p:to>
                                        <p:strVal val="visible"/>
                                      </p:to>
                                    </p:set>
                                    <p:animEffect transition="in" filter="fade">
                                      <p:cBhvr>
                                        <p:cTn id="19" dur="1000"/>
                                        <p:tgtEl>
                                          <p:spTgt spid="66562">
                                            <p:txEl>
                                              <p:pRg st="1" end="1"/>
                                            </p:txEl>
                                          </p:spTgt>
                                        </p:tgtEl>
                                      </p:cBhvr>
                                    </p:animEffect>
                                    <p:anim calcmode="lin" valueType="num">
                                      <p:cBhvr>
                                        <p:cTn id="20" dur="1000" fill="hold"/>
                                        <p:tgtEl>
                                          <p:spTgt spid="6656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656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6562">
                                            <p:txEl>
                                              <p:pRg st="2" end="2"/>
                                            </p:txEl>
                                          </p:spTgt>
                                        </p:tgtEl>
                                        <p:attrNameLst>
                                          <p:attrName>style.visibility</p:attrName>
                                        </p:attrNameLst>
                                      </p:cBhvr>
                                      <p:to>
                                        <p:strVal val="visible"/>
                                      </p:to>
                                    </p:set>
                                    <p:animEffect transition="in" filter="fade">
                                      <p:cBhvr>
                                        <p:cTn id="26" dur="1000"/>
                                        <p:tgtEl>
                                          <p:spTgt spid="66562">
                                            <p:txEl>
                                              <p:pRg st="2" end="2"/>
                                            </p:txEl>
                                          </p:spTgt>
                                        </p:tgtEl>
                                      </p:cBhvr>
                                    </p:animEffect>
                                    <p:anim calcmode="lin" valueType="num">
                                      <p:cBhvr>
                                        <p:cTn id="27" dur="1000" fill="hold"/>
                                        <p:tgtEl>
                                          <p:spTgt spid="66562">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6562">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66562">
                                            <p:txEl>
                                              <p:pRg st="3" end="3"/>
                                            </p:txEl>
                                          </p:spTgt>
                                        </p:tgtEl>
                                        <p:attrNameLst>
                                          <p:attrName>style.visibility</p:attrName>
                                        </p:attrNameLst>
                                      </p:cBhvr>
                                      <p:to>
                                        <p:strVal val="visible"/>
                                      </p:to>
                                    </p:set>
                                    <p:animEffect transition="in" filter="fade">
                                      <p:cBhvr>
                                        <p:cTn id="31" dur="1000"/>
                                        <p:tgtEl>
                                          <p:spTgt spid="66562">
                                            <p:txEl>
                                              <p:pRg st="3" end="3"/>
                                            </p:txEl>
                                          </p:spTgt>
                                        </p:tgtEl>
                                      </p:cBhvr>
                                    </p:animEffect>
                                    <p:anim calcmode="lin" valueType="num">
                                      <p:cBhvr>
                                        <p:cTn id="32" dur="1000" fill="hold"/>
                                        <p:tgtEl>
                                          <p:spTgt spid="66562">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66562">
                                            <p:txEl>
                                              <p:pRg st="3" end="3"/>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66562">
                                            <p:txEl>
                                              <p:pRg st="4" end="4"/>
                                            </p:txEl>
                                          </p:spTgt>
                                        </p:tgtEl>
                                        <p:attrNameLst>
                                          <p:attrName>style.visibility</p:attrName>
                                        </p:attrNameLst>
                                      </p:cBhvr>
                                      <p:to>
                                        <p:strVal val="visible"/>
                                      </p:to>
                                    </p:set>
                                    <p:animEffect transition="in" filter="fade">
                                      <p:cBhvr>
                                        <p:cTn id="36" dur="1000"/>
                                        <p:tgtEl>
                                          <p:spTgt spid="66562">
                                            <p:txEl>
                                              <p:pRg st="4" end="4"/>
                                            </p:txEl>
                                          </p:spTgt>
                                        </p:tgtEl>
                                      </p:cBhvr>
                                    </p:animEffect>
                                    <p:anim calcmode="lin" valueType="num">
                                      <p:cBhvr>
                                        <p:cTn id="37" dur="1000" fill="hold"/>
                                        <p:tgtEl>
                                          <p:spTgt spid="66562">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66562">
                                            <p:txEl>
                                              <p:pRg st="4" end="4"/>
                                            </p:txEl>
                                          </p:spTgt>
                                        </p:tgtEl>
                                        <p:attrNameLst>
                                          <p:attrName>ppt_y</p:attrName>
                                        </p:attrNameLst>
                                      </p:cBhvr>
                                      <p:tavLst>
                                        <p:tav tm="0">
                                          <p:val>
                                            <p:strVal val="#ppt_y+.1"/>
                                          </p:val>
                                        </p:tav>
                                        <p:tav tm="100000">
                                          <p:val>
                                            <p:strVal val="#ppt_y"/>
                                          </p:val>
                                        </p:tav>
                                      </p:tavLst>
                                    </p:anim>
                                  </p:childTnLst>
                                </p:cTn>
                              </p:par>
                            </p:childTnLst>
                          </p:cTn>
                        </p:par>
                        <p:par>
                          <p:cTn id="39" fill="hold">
                            <p:stCondLst>
                              <p:cond delay="1000"/>
                            </p:stCondLst>
                            <p:childTnLst>
                              <p:par>
                                <p:cTn id="40" presetID="2" presetClass="entr" presetSubtype="8" fill="hold" grpId="0" nodeType="after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additive="base">
                                        <p:cTn id="42" dur="500" fill="hold"/>
                                        <p:tgtEl>
                                          <p:spTgt spid="5"/>
                                        </p:tgtEl>
                                        <p:attrNameLst>
                                          <p:attrName>ppt_x</p:attrName>
                                        </p:attrNameLst>
                                      </p:cBhvr>
                                      <p:tavLst>
                                        <p:tav tm="0">
                                          <p:val>
                                            <p:strVal val="0-#ppt_w/2"/>
                                          </p:val>
                                        </p:tav>
                                        <p:tav tm="100000">
                                          <p:val>
                                            <p:strVal val="#ppt_x"/>
                                          </p:val>
                                        </p:tav>
                                      </p:tavLst>
                                    </p:anim>
                                    <p:anim calcmode="lin" valueType="num">
                                      <p:cBhvr additive="base">
                                        <p:cTn id="4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build="p" bldLvl="2" animBg="1"/>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1692275" y="0"/>
            <a:ext cx="5729288" cy="963613"/>
          </a:xfrm>
        </p:spPr>
        <p:txBody>
          <a:bodyPr/>
          <a:lstStyle/>
          <a:p>
            <a:pPr marL="457200" indent="-457200" algn="ctr">
              <a:lnSpc>
                <a:spcPct val="120000"/>
              </a:lnSpc>
              <a:spcBef>
                <a:spcPts val="600"/>
              </a:spcBef>
              <a:buClr>
                <a:schemeClr val="folHlink"/>
              </a:buClr>
              <a:buSzPct val="75000"/>
              <a:defRPr/>
            </a:pPr>
            <a:r>
              <a:rPr lang="en-US" altLang="zh-CN" b="1" kern="1200" dirty="0">
                <a:solidFill>
                  <a:srgbClr val="C00000"/>
                </a:solidFill>
                <a:effectLst>
                  <a:outerShdw blurRad="38100" dist="38100" dir="2700000" algn="tl">
                    <a:srgbClr val="000000"/>
                  </a:outerShdw>
                </a:effectLst>
                <a:latin typeface="Times New Roman" pitchFamily="18" charset="0"/>
                <a:ea typeface="楷体_GB2312" pitchFamily="49" charset="-122"/>
                <a:cs typeface="+mn-cs"/>
              </a:rPr>
              <a:t>9.4  </a:t>
            </a:r>
            <a:r>
              <a:rPr lang="zh-CN" altLang="en-US" b="1" kern="1200" dirty="0">
                <a:solidFill>
                  <a:srgbClr val="C00000"/>
                </a:solidFill>
                <a:effectLst>
                  <a:outerShdw blurRad="38100" dist="38100" dir="2700000" algn="tl">
                    <a:srgbClr val="000000"/>
                  </a:outerShdw>
                </a:effectLst>
                <a:latin typeface="Times New Roman" pitchFamily="18" charset="0"/>
                <a:ea typeface="楷体_GB2312" pitchFamily="49" charset="-122"/>
                <a:cs typeface="+mn-cs"/>
              </a:rPr>
              <a:t>文件目录管理</a:t>
            </a:r>
          </a:p>
        </p:txBody>
      </p:sp>
      <p:sp>
        <p:nvSpPr>
          <p:cNvPr id="7" name="Rectangle 2"/>
          <p:cNvSpPr txBox="1">
            <a:spLocks noChangeArrowheads="1"/>
          </p:cNvSpPr>
          <p:nvPr/>
        </p:nvSpPr>
        <p:spPr bwMode="auto">
          <a:xfrm>
            <a:off x="2143125" y="1285875"/>
            <a:ext cx="4752975" cy="836613"/>
          </a:xfrm>
          <a:prstGeom prst="rect">
            <a:avLst/>
          </a:prstGeom>
          <a:noFill/>
          <a:ln w="12700" cap="sq">
            <a:noFill/>
            <a:miter lim="800000"/>
            <a:headEnd type="none" w="sm" len="sm"/>
            <a:tailEnd type="none" w="sm" len="sm"/>
          </a:ln>
        </p:spPr>
        <p:txBody>
          <a:bodyPr anchor="ctr"/>
          <a:lstStyle/>
          <a:p>
            <a:pPr marL="0" lvl="1" indent="-285750" eaLnBrk="1" hangingPunct="1">
              <a:lnSpc>
                <a:spcPct val="120000"/>
              </a:lnSpc>
              <a:defRPr/>
            </a:pPr>
            <a:r>
              <a:rPr lang="en-US" altLang="zh-CN" sz="4000" dirty="0">
                <a:solidFill>
                  <a:srgbClr val="B2622C"/>
                </a:solidFill>
                <a:effectLst>
                  <a:outerShdw blurRad="38100" dist="38100" dir="2700000" algn="tl">
                    <a:srgbClr val="000000"/>
                  </a:outerShdw>
                </a:effectLst>
                <a:latin typeface="+mj-lt"/>
                <a:ea typeface="楷体_GB2312" pitchFamily="49" charset="-122"/>
                <a:cs typeface="+mj-cs"/>
              </a:rPr>
              <a:t>9.4.1 </a:t>
            </a: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文件的组成</a:t>
            </a:r>
          </a:p>
        </p:txBody>
      </p:sp>
      <p:sp>
        <p:nvSpPr>
          <p:cNvPr id="8" name="Text Box 2"/>
          <p:cNvSpPr txBox="1">
            <a:spLocks noChangeArrowheads="1"/>
          </p:cNvSpPr>
          <p:nvPr/>
        </p:nvSpPr>
        <p:spPr bwMode="auto">
          <a:xfrm>
            <a:off x="2163763" y="2168602"/>
            <a:ext cx="4786312" cy="760336"/>
          </a:xfrm>
          <a:prstGeom prst="rect">
            <a:avLst/>
          </a:prstGeom>
          <a:noFill/>
          <a:ln w="9525">
            <a:noFill/>
            <a:miter lim="800000"/>
            <a:headEnd/>
            <a:tailEnd/>
          </a:ln>
        </p:spPr>
        <p:txBody>
          <a:bodyPr>
            <a:spAutoFit/>
          </a:bodyPr>
          <a:lstStyle/>
          <a:p>
            <a:pPr marL="0" lvl="1" indent="-285750" eaLnBrk="1" hangingPunct="1">
              <a:lnSpc>
                <a:spcPct val="120000"/>
              </a:lnSpc>
              <a:defRPr/>
            </a:pPr>
            <a:r>
              <a:rPr lang="en-US" altLang="zh-CN" sz="4000" dirty="0">
                <a:solidFill>
                  <a:srgbClr val="B2622C"/>
                </a:solidFill>
                <a:effectLst>
                  <a:outerShdw blurRad="38100" dist="38100" dir="2700000" algn="tl">
                    <a:srgbClr val="000000"/>
                  </a:outerShdw>
                </a:effectLst>
                <a:latin typeface="+mj-lt"/>
                <a:ea typeface="楷体_GB2312" pitchFamily="49" charset="-122"/>
                <a:cs typeface="+mj-cs"/>
              </a:rPr>
              <a:t>9.4.2 </a:t>
            </a: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目录项的内容</a:t>
            </a:r>
          </a:p>
        </p:txBody>
      </p:sp>
      <p:sp>
        <p:nvSpPr>
          <p:cNvPr id="9" name="Rectangle 2"/>
          <p:cNvSpPr txBox="1">
            <a:spLocks noChangeArrowheads="1"/>
          </p:cNvSpPr>
          <p:nvPr/>
        </p:nvSpPr>
        <p:spPr bwMode="auto">
          <a:xfrm>
            <a:off x="2169003" y="3140968"/>
            <a:ext cx="4648200" cy="785812"/>
          </a:xfrm>
          <a:prstGeom prst="rect">
            <a:avLst/>
          </a:prstGeom>
          <a:noFill/>
          <a:ln w="12700" cap="sq">
            <a:noFill/>
            <a:miter lim="800000"/>
            <a:headEnd type="none" w="sm" len="sm"/>
            <a:tailEnd type="none" w="sm" len="sm"/>
          </a:ln>
        </p:spPr>
        <p:txBody>
          <a:bodyPr anchor="ctr"/>
          <a:lstStyle/>
          <a:p>
            <a:pPr marL="0" lvl="1" indent="-285750" eaLnBrk="1" hangingPunct="1">
              <a:lnSpc>
                <a:spcPct val="120000"/>
              </a:lnSpc>
              <a:defRPr/>
            </a:pPr>
            <a:r>
              <a:rPr lang="en-US" altLang="zh-CN" sz="4000" dirty="0">
                <a:solidFill>
                  <a:srgbClr val="B2622C"/>
                </a:solidFill>
                <a:effectLst>
                  <a:outerShdw blurRad="38100" dist="38100" dir="2700000" algn="tl">
                    <a:srgbClr val="000000"/>
                  </a:outerShdw>
                </a:effectLst>
                <a:latin typeface="+mj-lt"/>
                <a:ea typeface="楷体_GB2312" pitchFamily="49" charset="-122"/>
                <a:cs typeface="+mj-cs"/>
              </a:rPr>
              <a:t>9.4.3 </a:t>
            </a: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目录结构</a:t>
            </a:r>
          </a:p>
        </p:txBody>
      </p:sp>
      <p:sp>
        <p:nvSpPr>
          <p:cNvPr id="10"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22" name="Rectangle 2"/>
          <p:cNvSpPr>
            <a:spLocks noGrp="1" noChangeArrowheads="1"/>
          </p:cNvSpPr>
          <p:nvPr>
            <p:ph type="title"/>
          </p:nvPr>
        </p:nvSpPr>
        <p:spPr>
          <a:xfrm>
            <a:off x="2357438" y="0"/>
            <a:ext cx="4752975" cy="836613"/>
          </a:xfrm>
        </p:spPr>
        <p:txBody>
          <a:bodyPr/>
          <a:lstStyle/>
          <a:p>
            <a:pPr lvl="1" algn="ctr" eaLnBrk="1" hangingPunct="1">
              <a:lnSpc>
                <a:spcPct val="150000"/>
              </a:lnSpc>
              <a:tabLst>
                <a:tab pos="803275" algn="l"/>
              </a:tabLst>
              <a:defRPr/>
            </a:pPr>
            <a:r>
              <a:rPr lang="en-US" altLang="zh-CN" sz="4000" b="1" kern="1200" dirty="0">
                <a:solidFill>
                  <a:srgbClr val="B2622C"/>
                </a:solidFill>
                <a:effectLst>
                  <a:outerShdw blurRad="38100" dist="38100" dir="2700000" algn="tl">
                    <a:srgbClr val="000000"/>
                  </a:outerShdw>
                </a:effectLst>
                <a:latin typeface="+mj-lt"/>
                <a:ea typeface="楷体_GB2312" pitchFamily="49" charset="-122"/>
                <a:cs typeface="+mn-cs"/>
              </a:rPr>
              <a:t>9.4.1 </a:t>
            </a:r>
            <a:r>
              <a:rPr lang="zh-CN" altLang="en-US" sz="4000" b="1" kern="1200" dirty="0">
                <a:solidFill>
                  <a:srgbClr val="B2622C"/>
                </a:solidFill>
                <a:effectLst>
                  <a:outerShdw blurRad="38100" dist="38100" dir="2700000" algn="tl">
                    <a:srgbClr val="000000"/>
                  </a:outerShdw>
                </a:effectLst>
                <a:latin typeface="+mj-lt"/>
                <a:ea typeface="楷体_GB2312" pitchFamily="49" charset="-122"/>
                <a:cs typeface="+mn-cs"/>
              </a:rPr>
              <a:t>文件的组成</a:t>
            </a:r>
          </a:p>
        </p:txBody>
      </p:sp>
      <p:sp>
        <p:nvSpPr>
          <p:cNvPr id="747527" name="Text Box 7"/>
          <p:cNvSpPr txBox="1">
            <a:spLocks noChangeArrowheads="1"/>
          </p:cNvSpPr>
          <p:nvPr/>
        </p:nvSpPr>
        <p:spPr bwMode="auto">
          <a:xfrm>
            <a:off x="250825" y="912813"/>
            <a:ext cx="8569325" cy="4028795"/>
          </a:xfrm>
          <a:prstGeom prst="rect">
            <a:avLst/>
          </a:prstGeom>
          <a:noFill/>
          <a:ln w="12700" cap="sq">
            <a:noFill/>
            <a:miter lim="800000"/>
            <a:headEnd type="none" w="sm" len="sm"/>
            <a:tailEnd type="none" w="sm" len="sm"/>
          </a:ln>
        </p:spPr>
        <p:txBody>
          <a:bodyPr>
            <a:spAutoFit/>
          </a:bodyPr>
          <a:lstStyle/>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文件说明（文件控制块</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FCB</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a:t>
            </a:r>
          </a:p>
          <a:p>
            <a:pPr marL="800100" lvl="2" indent="-342900" eaLnBrk="1" hangingPunct="1">
              <a:lnSpc>
                <a:spcPct val="90000"/>
              </a:lnSpc>
              <a:spcBef>
                <a:spcPct val="5000"/>
              </a:spcBef>
              <a:buSzPct val="80000"/>
              <a:buFont typeface="Wingdings" panose="05000000000000000000" pitchFamily="2" charset="2"/>
              <a:buChar char="n"/>
              <a:defRPr/>
            </a:pPr>
            <a:r>
              <a:rPr lang="zh-CN" altLang="en-US" dirty="0" smtClean="0">
                <a:solidFill>
                  <a:schemeClr val="bg2"/>
                </a:solidFill>
                <a:effectLst>
                  <a:outerShdw blurRad="38100" dist="38100" dir="2700000" algn="tl">
                    <a:srgbClr val="000000"/>
                  </a:outerShdw>
                </a:effectLst>
                <a:latin typeface="+mj-lt"/>
                <a:ea typeface="楷体" panose="02010609060101010101" pitchFamily="49" charset="-122"/>
              </a:rPr>
              <a:t>文件的属性信息、文件</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存在的</a:t>
            </a:r>
            <a:r>
              <a:rPr lang="zh-CN" altLang="en-US" dirty="0" smtClean="0">
                <a:solidFill>
                  <a:schemeClr val="bg2"/>
                </a:solidFill>
                <a:effectLst>
                  <a:outerShdw blurRad="38100" dist="38100" dir="2700000" algn="tl">
                    <a:srgbClr val="000000"/>
                  </a:outerShdw>
                </a:effectLst>
                <a:latin typeface="+mj-lt"/>
                <a:ea typeface="楷体" panose="02010609060101010101" pitchFamily="49" charset="-122"/>
              </a:rPr>
              <a:t>标志</a:t>
            </a:r>
            <a:r>
              <a:rPr lang="zh-CN" altLang="en-US" dirty="0" smtClean="0">
                <a:solidFill>
                  <a:schemeClr val="bg2"/>
                </a:solidFill>
                <a:latin typeface="+mj-lt"/>
                <a:ea typeface="楷体" panose="02010609060101010101" pitchFamily="49" charset="-122"/>
              </a:rPr>
              <a:t>。</a:t>
            </a:r>
            <a:endParaRPr lang="zh-CN" altLang="en-US" dirty="0">
              <a:solidFill>
                <a:schemeClr val="bg2"/>
              </a:solidFill>
              <a:latin typeface="+mj-lt"/>
              <a:ea typeface="楷体" panose="02010609060101010101" pitchFamily="49" charset="-122"/>
            </a:endParaRPr>
          </a:p>
          <a:p>
            <a:pPr marL="800100" lvl="2" indent="-342900" eaLnBrk="1" hangingPunct="1">
              <a:lnSpc>
                <a:spcPct val="90000"/>
              </a:lnSpc>
              <a:spcBef>
                <a:spcPct val="5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存储</a:t>
            </a:r>
            <a:endParaRPr lang="en-US" altLang="zh-CN" dirty="0" smtClean="0">
              <a:solidFill>
                <a:schemeClr val="bg2"/>
              </a:solidFill>
              <a:effectLst>
                <a:outerShdw blurRad="38100" dist="38100" dir="2700000" algn="tl">
                  <a:srgbClr val="000000"/>
                </a:outerShdw>
              </a:effectLst>
              <a:latin typeface="+mj-lt"/>
              <a:ea typeface="楷体" panose="02010609060101010101" pitchFamily="49" charset="-122"/>
            </a:endParaRPr>
          </a:p>
          <a:p>
            <a:pPr marL="1257300" lvl="3" indent="-342900" eaLnBrk="1" hangingPunct="1">
              <a:lnSpc>
                <a:spcPct val="90000"/>
              </a:lnSpc>
              <a:spcBef>
                <a:spcPct val="5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与文件数据块</a:t>
            </a:r>
            <a:r>
              <a:rPr lang="zh-CN" altLang="en-US" dirty="0" smtClean="0">
                <a:solidFill>
                  <a:schemeClr val="bg2"/>
                </a:solidFill>
                <a:effectLst>
                  <a:outerShdw blurRad="38100" dist="38100" dir="2700000" algn="tl">
                    <a:srgbClr val="000000"/>
                  </a:outerShdw>
                </a:effectLst>
                <a:latin typeface="+mj-lt"/>
                <a:ea typeface="楷体" panose="02010609060101010101" pitchFamily="49" charset="-122"/>
              </a:rPr>
              <a:t>一起</a:t>
            </a:r>
            <a:endParaRPr lang="en-US" altLang="zh-CN" dirty="0" smtClean="0">
              <a:solidFill>
                <a:schemeClr val="bg2"/>
              </a:solidFill>
              <a:effectLst>
                <a:outerShdw blurRad="38100" dist="38100" dir="2700000" algn="tl">
                  <a:srgbClr val="000000"/>
                </a:outerShdw>
              </a:effectLst>
              <a:latin typeface="+mj-lt"/>
              <a:ea typeface="楷体" panose="02010609060101010101" pitchFamily="49" charset="-122"/>
            </a:endParaRPr>
          </a:p>
          <a:p>
            <a:pPr marL="1257300" lvl="3" indent="-342900" eaLnBrk="1" hangingPunct="1">
              <a:lnSpc>
                <a:spcPct val="90000"/>
              </a:lnSpc>
              <a:spcBef>
                <a:spcPct val="5000"/>
              </a:spcBef>
              <a:buSzPct val="80000"/>
              <a:buFont typeface="Wingdings" panose="05000000000000000000" pitchFamily="2" charset="2"/>
              <a:buChar char="n"/>
              <a:defRPr/>
            </a:pPr>
            <a:r>
              <a:rPr lang="zh-CN" altLang="en-US" dirty="0" smtClean="0">
                <a:solidFill>
                  <a:schemeClr val="bg2"/>
                </a:solidFill>
                <a:effectLst>
                  <a:outerShdw blurRad="38100" dist="38100" dir="2700000" algn="tl">
                    <a:srgbClr val="000000"/>
                  </a:outerShdw>
                </a:effectLst>
                <a:latin typeface="+mj-lt"/>
                <a:ea typeface="楷体" panose="02010609060101010101" pitchFamily="49" charset="-122"/>
              </a:rPr>
              <a:t>所有</a:t>
            </a:r>
            <a:r>
              <a:rPr lang="en-US" altLang="zh-CN" dirty="0" smtClean="0">
                <a:solidFill>
                  <a:schemeClr val="bg2"/>
                </a:solidFill>
                <a:effectLst>
                  <a:outerShdw blurRad="38100" dist="38100" dir="2700000" algn="tl">
                    <a:srgbClr val="000000"/>
                  </a:outerShdw>
                </a:effectLst>
                <a:latin typeface="+mj-lt"/>
                <a:ea typeface="楷体" panose="02010609060101010101" pitchFamily="49" charset="-122"/>
              </a:rPr>
              <a:t>FCB</a:t>
            </a:r>
            <a:r>
              <a:rPr lang="zh-CN" altLang="en-US" dirty="0" smtClean="0">
                <a:solidFill>
                  <a:schemeClr val="bg2"/>
                </a:solidFill>
                <a:effectLst>
                  <a:outerShdw blurRad="38100" dist="38100" dir="2700000" algn="tl">
                    <a:srgbClr val="000000"/>
                  </a:outerShdw>
                </a:effectLst>
                <a:latin typeface="+mj-lt"/>
                <a:ea typeface="楷体" panose="02010609060101010101" pitchFamily="49" charset="-122"/>
              </a:rPr>
              <a:t>集中存储：减少磁头移动和磁盘</a:t>
            </a:r>
            <a:r>
              <a:rPr lang="en-US" altLang="zh-CN" dirty="0" smtClean="0">
                <a:solidFill>
                  <a:schemeClr val="bg2"/>
                </a:solidFill>
                <a:effectLst>
                  <a:outerShdw blurRad="38100" dist="38100" dir="2700000" algn="tl">
                    <a:srgbClr val="000000"/>
                  </a:outerShdw>
                </a:effectLst>
                <a:latin typeface="+mj-lt"/>
                <a:ea typeface="楷体" panose="02010609060101010101" pitchFamily="49" charset="-122"/>
              </a:rPr>
              <a:t>I/O</a:t>
            </a:r>
            <a:r>
              <a:rPr lang="zh-CN" altLang="en-US" dirty="0" smtClean="0">
                <a:solidFill>
                  <a:schemeClr val="bg2"/>
                </a:solidFill>
                <a:effectLst>
                  <a:outerShdw blurRad="38100" dist="38100" dir="2700000" algn="tl">
                    <a:srgbClr val="000000"/>
                  </a:outerShdw>
                </a:effectLst>
                <a:latin typeface="+mj-lt"/>
                <a:ea typeface="楷体" panose="02010609060101010101" pitchFamily="49" charset="-122"/>
              </a:rPr>
              <a:t>访问次数</a:t>
            </a:r>
            <a:endParaRPr lang="en-US" altLang="zh-CN" dirty="0" smtClean="0">
              <a:solidFill>
                <a:schemeClr val="bg2"/>
              </a:solidFill>
              <a:effectLst>
                <a:outerShdw blurRad="38100" dist="38100" dir="2700000" algn="tl">
                  <a:srgbClr val="000000"/>
                </a:outerShdw>
              </a:effectLst>
              <a:latin typeface="+mj-lt"/>
              <a:ea typeface="楷体" panose="02010609060101010101" pitchFamily="49" charset="-122"/>
            </a:endParaRPr>
          </a:p>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smtClean="0">
                <a:solidFill>
                  <a:schemeClr val="bg1"/>
                </a:solidFill>
                <a:effectLst>
                  <a:outerShdw blurRad="38100" dist="38100" dir="2700000" algn="tl">
                    <a:srgbClr val="000000"/>
                  </a:outerShdw>
                </a:effectLst>
                <a:latin typeface="+mj-lt"/>
                <a:ea typeface="楷体" panose="02010609060101010101" pitchFamily="49" charset="-122"/>
              </a:rPr>
              <a:t>文件</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体</a:t>
            </a:r>
          </a:p>
          <a:p>
            <a:pPr marL="800100" lvl="2" indent="-342900" eaLnBrk="1" hangingPunct="1">
              <a:lnSpc>
                <a:spcPct val="90000"/>
              </a:lnSpc>
              <a:spcBef>
                <a:spcPct val="5000"/>
              </a:spcBef>
              <a:buSzPct val="80000"/>
              <a:buFont typeface="Wingdings" panose="05000000000000000000" pitchFamily="2" charset="2"/>
              <a:buChar char="n"/>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文件本身的</a:t>
            </a:r>
            <a:r>
              <a:rPr lang="zh-CN" altLang="en-US" dirty="0" smtClean="0">
                <a:solidFill>
                  <a:schemeClr val="bg2"/>
                </a:solidFill>
                <a:effectLst>
                  <a:outerShdw blurRad="38100" dist="38100" dir="2700000" algn="tl">
                    <a:srgbClr val="000000"/>
                  </a:outerShdw>
                </a:effectLst>
                <a:latin typeface="+mj-lt"/>
                <a:ea typeface="楷体" panose="02010609060101010101" pitchFamily="49" charset="-122"/>
              </a:rPr>
              <a:t>信息。</a:t>
            </a:r>
            <a:endParaRPr lang="zh-CN" altLang="en-US" dirty="0">
              <a:solidFill>
                <a:schemeClr val="bg2"/>
              </a:solidFill>
              <a:effectLst>
                <a:outerShdw blurRad="38100" dist="38100" dir="2700000" algn="tl">
                  <a:srgbClr val="000000"/>
                </a:outerShdw>
              </a:effectLst>
              <a:latin typeface="+mj-lt"/>
              <a:ea typeface="楷体" panose="02010609060101010101" pitchFamily="49" charset="-122"/>
            </a:endParaRPr>
          </a:p>
        </p:txBody>
      </p:sp>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47527">
                                            <p:txEl>
                                              <p:pRg st="1" end="1"/>
                                            </p:txEl>
                                          </p:spTgt>
                                        </p:tgtEl>
                                        <p:attrNameLst>
                                          <p:attrName>style.visibility</p:attrName>
                                        </p:attrNameLst>
                                      </p:cBhvr>
                                      <p:to>
                                        <p:strVal val="visible"/>
                                      </p:to>
                                    </p:set>
                                    <p:animEffect transition="in" filter="blinds(horizontal)">
                                      <p:cBhvr>
                                        <p:cTn id="7" dur="500"/>
                                        <p:tgtEl>
                                          <p:spTgt spid="7475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47527">
                                            <p:txEl>
                                              <p:pRg st="2" end="2"/>
                                            </p:txEl>
                                          </p:spTgt>
                                        </p:tgtEl>
                                        <p:attrNameLst>
                                          <p:attrName>style.visibility</p:attrName>
                                        </p:attrNameLst>
                                      </p:cBhvr>
                                      <p:to>
                                        <p:strVal val="visible"/>
                                      </p:to>
                                    </p:set>
                                    <p:animEffect transition="in" filter="blinds(horizontal)">
                                      <p:cBhvr>
                                        <p:cTn id="12" dur="500"/>
                                        <p:tgtEl>
                                          <p:spTgt spid="7475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47527">
                                            <p:txEl>
                                              <p:pRg st="3" end="3"/>
                                            </p:txEl>
                                          </p:spTgt>
                                        </p:tgtEl>
                                        <p:attrNameLst>
                                          <p:attrName>style.visibility</p:attrName>
                                        </p:attrNameLst>
                                      </p:cBhvr>
                                      <p:to>
                                        <p:strVal val="visible"/>
                                      </p:to>
                                    </p:set>
                                    <p:animEffect transition="in" filter="blinds(horizontal)">
                                      <p:cBhvr>
                                        <p:cTn id="17" dur="500"/>
                                        <p:tgtEl>
                                          <p:spTgt spid="74752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47527">
                                            <p:txEl>
                                              <p:pRg st="4" end="4"/>
                                            </p:txEl>
                                          </p:spTgt>
                                        </p:tgtEl>
                                        <p:attrNameLst>
                                          <p:attrName>style.visibility</p:attrName>
                                        </p:attrNameLst>
                                      </p:cBhvr>
                                      <p:to>
                                        <p:strVal val="visible"/>
                                      </p:to>
                                    </p:set>
                                    <p:animEffect transition="in" filter="blinds(horizontal)">
                                      <p:cBhvr>
                                        <p:cTn id="22" dur="500"/>
                                        <p:tgtEl>
                                          <p:spTgt spid="74752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47527">
                                            <p:txEl>
                                              <p:pRg st="6" end="6"/>
                                            </p:txEl>
                                          </p:spTgt>
                                        </p:tgtEl>
                                        <p:attrNameLst>
                                          <p:attrName>style.visibility</p:attrName>
                                        </p:attrNameLst>
                                      </p:cBhvr>
                                      <p:to>
                                        <p:strVal val="visible"/>
                                      </p:to>
                                    </p:set>
                                    <p:animEffect transition="in" filter="blinds(horizontal)">
                                      <p:cBhvr>
                                        <p:cTn id="27" dur="500"/>
                                        <p:tgtEl>
                                          <p:spTgt spid="747527">
                                            <p:txEl>
                                              <p:pRg st="6" end="6"/>
                                            </p:txEl>
                                          </p:spTgt>
                                        </p:tgtEl>
                                      </p:cBhvr>
                                    </p:animEffect>
                                  </p:childTnLst>
                                </p:cTn>
                              </p:par>
                            </p:childTnLst>
                          </p:cTn>
                        </p:par>
                        <p:par>
                          <p:cTn id="28" fill="hold">
                            <p:stCondLst>
                              <p:cond delay="500"/>
                            </p:stCondLst>
                            <p:childTnLst>
                              <p:par>
                                <p:cTn id="29" presetID="2" presetClass="entr" presetSubtype="6"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1+#ppt_w/2"/>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1849086" y="-118723"/>
            <a:ext cx="5526360" cy="1015663"/>
          </a:xfrm>
          <a:prstGeom prst="rect">
            <a:avLst/>
          </a:prstGeom>
          <a:noFill/>
          <a:ln w="9525">
            <a:noFill/>
            <a:miter lim="800000"/>
            <a:headEnd/>
            <a:tailEnd/>
          </a:ln>
        </p:spPr>
        <p:txBody>
          <a:bodyPr wrap="square">
            <a:spAutoFit/>
          </a:bodyPr>
          <a:lstStyle/>
          <a:p>
            <a:pPr lvl="1" algn="ctr" eaLnBrk="1" hangingPunct="1">
              <a:lnSpc>
                <a:spcPct val="150000"/>
              </a:lnSpc>
              <a:tabLst>
                <a:tab pos="803275" algn="l"/>
              </a:tabLst>
              <a:defRPr/>
            </a:pPr>
            <a:r>
              <a:rPr lang="en-US" altLang="zh-CN" sz="4000" dirty="0">
                <a:solidFill>
                  <a:srgbClr val="B2622C"/>
                </a:solidFill>
                <a:effectLst>
                  <a:outerShdw blurRad="38100" dist="38100" dir="2700000" algn="tl">
                    <a:srgbClr val="000000"/>
                  </a:outerShdw>
                </a:effectLst>
                <a:latin typeface="+mj-lt"/>
                <a:ea typeface="楷体_GB2312" pitchFamily="49" charset="-122"/>
              </a:rPr>
              <a:t>9.4.2 </a:t>
            </a:r>
            <a:r>
              <a:rPr lang="zh-CN" altLang="en-US" sz="4000" dirty="0">
                <a:solidFill>
                  <a:srgbClr val="B2622C"/>
                </a:solidFill>
                <a:effectLst>
                  <a:outerShdw blurRad="38100" dist="38100" dir="2700000" algn="tl">
                    <a:srgbClr val="000000"/>
                  </a:outerShdw>
                </a:effectLst>
                <a:latin typeface="+mj-lt"/>
                <a:ea typeface="楷体_GB2312" pitchFamily="49" charset="-122"/>
              </a:rPr>
              <a:t>目录项的内容</a:t>
            </a:r>
          </a:p>
        </p:txBody>
      </p:sp>
      <p:sp>
        <p:nvSpPr>
          <p:cNvPr id="4" name="Rectangle 3"/>
          <p:cNvSpPr>
            <a:spLocks noChangeArrowheads="1"/>
          </p:cNvSpPr>
          <p:nvPr/>
        </p:nvSpPr>
        <p:spPr bwMode="auto">
          <a:xfrm>
            <a:off x="395536" y="1268760"/>
            <a:ext cx="8143875" cy="3831818"/>
          </a:xfrm>
          <a:prstGeom prst="rect">
            <a:avLst/>
          </a:prstGeom>
          <a:noFill/>
          <a:ln w="9525">
            <a:noFill/>
            <a:miter lim="800000"/>
            <a:headEnd/>
            <a:tailEnd/>
          </a:ln>
        </p:spPr>
        <p:txBody>
          <a:bodyPr>
            <a:spAutoFit/>
          </a:bodyPr>
          <a:lstStyle/>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smtClean="0">
                <a:solidFill>
                  <a:schemeClr val="bg1"/>
                </a:solidFill>
                <a:effectLst>
                  <a:outerShdw blurRad="38100" dist="38100" dir="2700000" algn="tl">
                    <a:srgbClr val="000000"/>
                  </a:outerShdw>
                </a:effectLst>
                <a:latin typeface="+mj-lt"/>
                <a:ea typeface="楷体" panose="02010609060101010101" pitchFamily="49" charset="-122"/>
              </a:rPr>
              <a:t>直接法</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723900" lvl="1" indent="-244475" eaLnBrk="1" hangingPunct="1">
              <a:spcBef>
                <a:spcPts val="1200"/>
              </a:spcBef>
              <a:spcAft>
                <a:spcPts val="600"/>
              </a:spcAft>
              <a:buClr>
                <a:srgbClr val="FFFF66"/>
              </a:buClr>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目录项＝文件名＋</a:t>
            </a:r>
            <a:r>
              <a:rPr lang="en-US" altLang="zh-CN" sz="3200" dirty="0" smtClean="0">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FCB</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36625" lvl="1" indent="-457200" eaLnBrk="1" hangingPunct="1">
              <a:spcBef>
                <a:spcPts val="600"/>
              </a:spcBef>
              <a:buSzPct val="80000"/>
              <a:buFont typeface="Wingdings" panose="05000000000000000000" pitchFamily="2" charset="2"/>
              <a:buChar char="n"/>
              <a:defRPr/>
            </a:pPr>
            <a:r>
              <a:rPr lang="en-US" altLang="zh-CN" dirty="0">
                <a:solidFill>
                  <a:schemeClr val="bg2"/>
                </a:solidFill>
                <a:effectLst>
                  <a:outerShdw blurRad="38100" dist="38100" dir="2700000" algn="tl">
                    <a:srgbClr val="000000">
                      <a:alpha val="43137"/>
                    </a:srgbClr>
                  </a:outerShdw>
                </a:effectLst>
                <a:latin typeface="+mn-lt"/>
              </a:rPr>
              <a:t>MS-DOS/Windows</a:t>
            </a:r>
            <a:endParaRPr lang="zh-CN" altLang="en-US" dirty="0">
              <a:solidFill>
                <a:schemeClr val="bg2"/>
              </a:solidFill>
              <a:effectLst>
                <a:outerShdw blurRad="38100" dist="38100" dir="2700000" algn="tl">
                  <a:srgbClr val="000000">
                    <a:alpha val="43137"/>
                  </a:srgbClr>
                </a:outerShdw>
              </a:effectLst>
              <a:latin typeface="+mn-lt"/>
            </a:endParaRPr>
          </a:p>
          <a:p>
            <a:pPr marL="355600" lvl="2" indent="-355600" defTabSz="355600">
              <a:lnSpc>
                <a:spcPts val="4500"/>
              </a:lnSpc>
              <a:buClr>
                <a:schemeClr val="bg1">
                  <a:lumMod val="75000"/>
                </a:schemeClr>
              </a:buClr>
              <a:buSzPct val="100000"/>
              <a:buFont typeface="Wingdings" panose="05000000000000000000" pitchFamily="2" charset="2"/>
              <a:buChar char="n"/>
              <a:tabLst>
                <a:tab pos="990600"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间接法</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479425" lvl="1" eaLnBrk="1" hangingPunct="1">
              <a:spcBef>
                <a:spcPts val="1200"/>
              </a:spcBef>
              <a:spcAft>
                <a:spcPts val="600"/>
              </a:spcAft>
              <a:buClr>
                <a:schemeClr val="tx1"/>
              </a:buClr>
              <a:buSzPct val="80000"/>
              <a:defRPr/>
            </a:pPr>
            <a:r>
              <a:rPr lang="zh-CN" altLang="en-US" dirty="0">
                <a:solidFill>
                  <a:schemeClr val="bg2"/>
                </a:solidFill>
                <a:effectLst>
                  <a:outerShdw blurRad="38100" dist="38100" dir="2700000" algn="tl">
                    <a:srgbClr val="000000">
                      <a:alpha val="43137"/>
                    </a:srgbClr>
                  </a:outerShdw>
                </a:effectLst>
                <a:latin typeface="+mn-lt"/>
              </a:rPr>
              <a:t>目录项＝文件名＋</a:t>
            </a:r>
            <a:r>
              <a:rPr lang="en-US" altLang="zh-CN" dirty="0">
                <a:solidFill>
                  <a:schemeClr val="bg2"/>
                </a:solidFill>
                <a:effectLst>
                  <a:outerShdw blurRad="38100" dist="38100" dir="2700000" algn="tl">
                    <a:srgbClr val="000000">
                      <a:alpha val="43137"/>
                    </a:srgbClr>
                  </a:outerShdw>
                </a:effectLst>
                <a:latin typeface="+mn-lt"/>
              </a:rPr>
              <a:t>FCB</a:t>
            </a:r>
            <a:r>
              <a:rPr lang="zh-CN" altLang="en-US" dirty="0">
                <a:solidFill>
                  <a:schemeClr val="bg2"/>
                </a:solidFill>
                <a:effectLst>
                  <a:outerShdw blurRad="38100" dist="38100" dir="2700000" algn="tl">
                    <a:srgbClr val="000000">
                      <a:alpha val="43137"/>
                    </a:srgbClr>
                  </a:outerShdw>
                </a:effectLst>
                <a:latin typeface="+mn-lt"/>
              </a:rPr>
              <a:t>的地址（索引号）</a:t>
            </a:r>
            <a:endParaRPr lang="en-US" altLang="zh-CN" dirty="0">
              <a:solidFill>
                <a:schemeClr val="bg2"/>
              </a:solidFill>
              <a:effectLst>
                <a:outerShdw blurRad="38100" dist="38100" dir="2700000" algn="tl">
                  <a:srgbClr val="000000">
                    <a:alpha val="43137"/>
                  </a:srgbClr>
                </a:outerShdw>
              </a:effectLst>
              <a:latin typeface="+mn-lt"/>
            </a:endParaRPr>
          </a:p>
          <a:p>
            <a:pPr marL="936625" lvl="1" indent="-457200" eaLnBrk="1" hangingPunct="1">
              <a:spcBef>
                <a:spcPts val="600"/>
              </a:spcBef>
              <a:buSzPct val="80000"/>
              <a:buFont typeface="Wingdings" panose="05000000000000000000" pitchFamily="2" charset="2"/>
              <a:buChar char="n"/>
              <a:defRPr/>
            </a:pPr>
            <a:r>
              <a:rPr lang="en-US" altLang="zh-CN" dirty="0">
                <a:solidFill>
                  <a:schemeClr val="bg2"/>
                </a:solidFill>
                <a:effectLst>
                  <a:outerShdw blurRad="38100" dist="38100" dir="2700000" algn="tl">
                    <a:srgbClr val="000000">
                      <a:alpha val="43137"/>
                    </a:srgbClr>
                  </a:outerShdw>
                </a:effectLst>
                <a:latin typeface="+mn-lt"/>
              </a:rPr>
              <a:t>Unix</a:t>
            </a:r>
            <a:r>
              <a:rPr lang="zh-CN" altLang="en-US" dirty="0">
                <a:solidFill>
                  <a:schemeClr val="bg2"/>
                </a:solidFill>
                <a:effectLst>
                  <a:outerShdw blurRad="38100" dist="38100" dir="2700000" algn="tl">
                    <a:srgbClr val="000000">
                      <a:alpha val="43137"/>
                    </a:srgbClr>
                  </a:outerShdw>
                </a:effectLst>
                <a:latin typeface="+mn-lt"/>
              </a:rPr>
              <a:t>（</a:t>
            </a:r>
            <a:r>
              <a:rPr lang="en-US" altLang="zh-CN" dirty="0">
                <a:solidFill>
                  <a:schemeClr val="bg2"/>
                </a:solidFill>
                <a:effectLst>
                  <a:outerShdw blurRad="38100" dist="38100" dir="2700000" algn="tl">
                    <a:srgbClr val="000000">
                      <a:alpha val="43137"/>
                    </a:srgbClr>
                  </a:outerShdw>
                </a:effectLst>
                <a:latin typeface="+mn-lt"/>
              </a:rPr>
              <a:t>inode</a:t>
            </a:r>
            <a:r>
              <a:rPr lang="zh-CN" altLang="en-US" dirty="0">
                <a:solidFill>
                  <a:schemeClr val="bg2"/>
                </a:solidFill>
                <a:effectLst>
                  <a:outerShdw blurRad="38100" dist="38100" dir="2700000" algn="tl">
                    <a:srgbClr val="000000">
                      <a:alpha val="43137"/>
                    </a:srgbClr>
                  </a:outerShdw>
                </a:effectLst>
                <a:latin typeface="+mn-lt"/>
              </a:rPr>
              <a:t>）、</a:t>
            </a:r>
            <a:r>
              <a:rPr lang="en-US" altLang="zh-CN" dirty="0">
                <a:solidFill>
                  <a:schemeClr val="bg2"/>
                </a:solidFill>
                <a:effectLst>
                  <a:outerShdw blurRad="38100" dist="38100" dir="2700000" algn="tl">
                    <a:srgbClr val="000000">
                      <a:alpha val="43137"/>
                    </a:srgbClr>
                  </a:outerShdw>
                </a:effectLst>
                <a:latin typeface="+mn-lt"/>
              </a:rPr>
              <a:t>Linux</a:t>
            </a:r>
            <a:endParaRPr lang="zh-CN" altLang="en-US" dirty="0">
              <a:solidFill>
                <a:schemeClr val="bg2"/>
              </a:solidFill>
              <a:effectLst>
                <a:outerShdw blurRad="38100" dist="38100" dir="2700000" algn="tl">
                  <a:srgbClr val="000000">
                    <a:alpha val="43137"/>
                  </a:srgbClr>
                </a:outerShdw>
              </a:effectLst>
              <a:latin typeface="+mn-lt"/>
            </a:endParaRPr>
          </a:p>
        </p:txBody>
      </p:sp>
      <p:sp>
        <p:nvSpPr>
          <p:cNvPr id="10"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8" name="矩形 7"/>
          <p:cNvSpPr/>
          <p:nvPr/>
        </p:nvSpPr>
        <p:spPr>
          <a:xfrm>
            <a:off x="827584" y="1988840"/>
            <a:ext cx="5184576" cy="595557"/>
          </a:xfrm>
          <a:prstGeom prst="rect">
            <a:avLst/>
          </a:prstGeom>
          <a:solidFill>
            <a:srgbClr val="FFCC00">
              <a:alpha val="52157"/>
            </a:srgbClr>
          </a:solidFill>
        </p:spPr>
        <p:txBody>
          <a:bodyPr wrap="square">
            <a:spAutoFit/>
          </a:bodyPr>
          <a:lstStyle/>
          <a:p>
            <a:pPr indent="-355600" algn="ctr" defTabSz="355600" eaLnBrk="1" hangingPunct="1">
              <a:lnSpc>
                <a:spcPct val="90000"/>
              </a:lnSpc>
              <a:buClr>
                <a:schemeClr val="bg1"/>
              </a:buClr>
              <a:buSzPct val="80000"/>
              <a:defRPr/>
            </a:pPr>
            <a:endParaRPr lang="zh-CN" altLang="en-US" sz="3600" dirty="0">
              <a:solidFill>
                <a:schemeClr val="bg2"/>
              </a:solidFill>
              <a:effectLst>
                <a:outerShdw blurRad="38100" dist="38100" dir="2700000" algn="tl">
                  <a:srgbClr val="000000"/>
                </a:outerShdw>
              </a:effectLst>
              <a:latin typeface="Times New Roman" pitchFamily="18" charset="0"/>
              <a:ea typeface="楷体_GB2312" pitchFamily="49" charset="-122"/>
            </a:endParaRPr>
          </a:p>
        </p:txBody>
      </p:sp>
      <p:sp>
        <p:nvSpPr>
          <p:cNvPr id="12" name="矩形 11"/>
          <p:cNvSpPr/>
          <p:nvPr/>
        </p:nvSpPr>
        <p:spPr>
          <a:xfrm>
            <a:off x="833203" y="3717032"/>
            <a:ext cx="7272808" cy="720080"/>
          </a:xfrm>
          <a:prstGeom prst="rect">
            <a:avLst/>
          </a:prstGeom>
          <a:solidFill>
            <a:srgbClr val="FFCC00">
              <a:alpha val="52157"/>
            </a:srgbClr>
          </a:solidFill>
        </p:spPr>
        <p:txBody>
          <a:bodyPr wrap="square">
            <a:spAutoFit/>
          </a:bodyPr>
          <a:lstStyle/>
          <a:p>
            <a:pPr indent="-355600" algn="ctr" defTabSz="355600" eaLnBrk="1" hangingPunct="1">
              <a:lnSpc>
                <a:spcPct val="90000"/>
              </a:lnSpc>
              <a:buClr>
                <a:schemeClr val="bg1"/>
              </a:buClr>
              <a:buSzPct val="80000"/>
              <a:defRPr/>
            </a:pPr>
            <a:endParaRPr lang="zh-CN" altLang="en-US" sz="3600" dirty="0">
              <a:solidFill>
                <a:schemeClr val="bg2"/>
              </a:solidFill>
              <a:effectLst>
                <a:outerShdw blurRad="38100" dist="38100" dir="2700000" algn="tl">
                  <a:srgbClr val="000000"/>
                </a:outerShdw>
              </a:effectLst>
              <a:latin typeface="Times New Roman"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dissolve">
                                      <p:cBhvr>
                                        <p:cTn id="12" dur="500"/>
                                        <p:tgtEl>
                                          <p:spTgt spid="4">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blinds(horizontal)">
                                      <p:cBhvr>
                                        <p:cTn id="31" dur="500"/>
                                        <p:tgtEl>
                                          <p:spTgt spid="4">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dissolve">
                                      <p:cBhvr>
                                        <p:cTn id="36" dur="500"/>
                                        <p:tgtEl>
                                          <p:spTgt spid="4">
                                            <p:txEl>
                                              <p:pRg st="5" end="5"/>
                                            </p:txEl>
                                          </p:spTgt>
                                        </p:tgtEl>
                                      </p:cBhvr>
                                    </p:animEffect>
                                  </p:childTnLst>
                                </p:cTn>
                              </p:par>
                            </p:childTnLst>
                          </p:cTn>
                        </p:par>
                        <p:par>
                          <p:cTn id="37" fill="hold">
                            <p:stCondLst>
                              <p:cond delay="500"/>
                            </p:stCondLst>
                            <p:childTnLst>
                              <p:par>
                                <p:cTn id="38" presetID="2" presetClass="entr" presetSubtype="6"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1+#ppt_w/2"/>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P spid="12"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8546" name="Rectangle 2"/>
          <p:cNvSpPr>
            <a:spLocks noGrp="1" noChangeArrowheads="1"/>
          </p:cNvSpPr>
          <p:nvPr>
            <p:ph type="title"/>
          </p:nvPr>
        </p:nvSpPr>
        <p:spPr>
          <a:xfrm>
            <a:off x="2317750" y="-185682"/>
            <a:ext cx="4648200" cy="899478"/>
          </a:xfrm>
          <a:noFill/>
          <a:ln w="9525">
            <a:noFill/>
            <a:miter lim="800000"/>
            <a:headEnd/>
            <a:tailEnd/>
          </a:ln>
        </p:spPr>
        <p:txBody>
          <a:bodyPr wrap="square">
            <a:spAutoFit/>
          </a:bodyPr>
          <a:lstStyle/>
          <a:p>
            <a:pPr lvl="1" algn="ctr" eaLnBrk="1" hangingPunct="1">
              <a:lnSpc>
                <a:spcPct val="150000"/>
              </a:lnSpc>
              <a:tabLst>
                <a:tab pos="803275" algn="l"/>
              </a:tabLst>
              <a:defRPr/>
            </a:pPr>
            <a:r>
              <a:rPr lang="en-US" altLang="zh-CN" sz="4000" b="1" kern="1200" dirty="0">
                <a:solidFill>
                  <a:srgbClr val="B2622C"/>
                </a:solidFill>
                <a:effectLst>
                  <a:outerShdw blurRad="38100" dist="38100" dir="2700000" algn="tl">
                    <a:srgbClr val="000000"/>
                  </a:outerShdw>
                </a:effectLst>
                <a:latin typeface="+mj-lt"/>
                <a:ea typeface="楷体_GB2312" pitchFamily="49" charset="-122"/>
                <a:cs typeface="+mn-cs"/>
              </a:rPr>
              <a:t>9.4.3 </a:t>
            </a:r>
            <a:r>
              <a:rPr lang="zh-CN" altLang="en-US" sz="4000" b="1" kern="1200" dirty="0">
                <a:solidFill>
                  <a:srgbClr val="B2622C"/>
                </a:solidFill>
                <a:effectLst>
                  <a:outerShdw blurRad="38100" dist="38100" dir="2700000" algn="tl">
                    <a:srgbClr val="000000"/>
                  </a:outerShdw>
                </a:effectLst>
                <a:latin typeface="+mj-lt"/>
                <a:ea typeface="楷体_GB2312" pitchFamily="49" charset="-122"/>
                <a:cs typeface="+mn-cs"/>
              </a:rPr>
              <a:t>目录结构</a:t>
            </a:r>
          </a:p>
        </p:txBody>
      </p:sp>
      <p:sp>
        <p:nvSpPr>
          <p:cNvPr id="748547" name="Rectangle 3"/>
          <p:cNvSpPr>
            <a:spLocks noGrp="1" noChangeArrowheads="1"/>
          </p:cNvSpPr>
          <p:nvPr>
            <p:ph type="body" sz="half" idx="1"/>
          </p:nvPr>
        </p:nvSpPr>
        <p:spPr>
          <a:xfrm>
            <a:off x="357188" y="1385888"/>
            <a:ext cx="8569325" cy="4203352"/>
          </a:xfrm>
        </p:spPr>
        <p:txBody>
          <a:bodyPr/>
          <a:lstStyle/>
          <a:p>
            <a:pPr marL="514350" lvl="1" indent="-457200" eaLnBrk="1" hangingPunct="1">
              <a:lnSpc>
                <a:spcPct val="90000"/>
              </a:lnSpc>
              <a:spcBef>
                <a:spcPct val="5000"/>
              </a:spcBef>
              <a:buClrTx/>
              <a:buSzPct val="90000"/>
              <a:buFont typeface="Wingdings" panose="05000000000000000000" pitchFamily="2" charset="2"/>
              <a:buChar char="n"/>
              <a:defRPr/>
            </a:pPr>
            <a:r>
              <a:rPr lang="zh-CN" altLang="en-US" sz="3600" b="1" kern="1200" dirty="0" smtClean="0">
                <a:solidFill>
                  <a:schemeClr val="bg2"/>
                </a:solidFill>
                <a:latin typeface="+mj-lt"/>
                <a:ea typeface="楷体" panose="02010609060101010101" pitchFamily="49" charset="-122"/>
                <a:cs typeface="+mn-cs"/>
              </a:rPr>
              <a:t>系统一张目录表，每个文件占一项。</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优点：简单</a:t>
            </a:r>
            <a:endParaRPr lang="en-US" altLang="zh-CN" sz="3600" b="1" kern="1200" dirty="0">
              <a:solidFill>
                <a:schemeClr val="bg1"/>
              </a:solidFill>
              <a:latin typeface="+mj-lt"/>
              <a:ea typeface="楷体" panose="02010609060101010101" pitchFamily="49" charset="-122"/>
              <a:cs typeface="+mn-cs"/>
            </a:endParaRP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缺点</a:t>
            </a:r>
            <a:endParaRPr lang="en-US" altLang="zh-CN" sz="3600" b="1" kern="1200" dirty="0">
              <a:solidFill>
                <a:schemeClr val="bg1"/>
              </a:solidFill>
              <a:latin typeface="+mj-lt"/>
              <a:ea typeface="楷体" panose="02010609060101010101" pitchFamily="49" charset="-122"/>
              <a:cs typeface="+mn-cs"/>
            </a:endParaRPr>
          </a:p>
          <a:p>
            <a:pPr marL="812800" lvl="3" indent="-355600" defTabSz="355600">
              <a:lnSpc>
                <a:spcPts val="4500"/>
              </a:lnSpc>
              <a:spcBef>
                <a:spcPct val="0"/>
              </a:spcBef>
              <a:buClr>
                <a:schemeClr val="bg1">
                  <a:lumMod val="75000"/>
                </a:schemeClr>
              </a:buClr>
              <a:buFont typeface="Wingdings" panose="05000000000000000000" pitchFamily="2" charset="2"/>
              <a:buChar char="n"/>
              <a:tabLst>
                <a:tab pos="990600" algn="l"/>
              </a:tabLst>
              <a:defRPr/>
            </a:pPr>
            <a:r>
              <a:rPr lang="zh-CN" altLang="en-US" sz="3200" b="1" kern="1200" dirty="0">
                <a:solidFill>
                  <a:schemeClr val="bg1"/>
                </a:solidFill>
                <a:latin typeface="+mj-lt"/>
                <a:ea typeface="楷体" panose="02010609060101010101" pitchFamily="49" charset="-122"/>
                <a:cs typeface="+mn-cs"/>
              </a:rPr>
              <a:t>不允许文件重名。</a:t>
            </a:r>
            <a:r>
              <a:rPr lang="zh-CN" altLang="en-US" sz="3200" b="1" kern="1200" dirty="0">
                <a:solidFill>
                  <a:schemeClr val="bg2"/>
                </a:solidFill>
                <a:latin typeface="+mj-lt"/>
                <a:ea typeface="楷体" panose="02010609060101010101" pitchFamily="49" charset="-122"/>
                <a:cs typeface="+mn-cs"/>
              </a:rPr>
              <a:t>只适用于单用户环境。</a:t>
            </a:r>
          </a:p>
          <a:p>
            <a:pPr marL="812800" lvl="3" indent="-355600" defTabSz="355600">
              <a:lnSpc>
                <a:spcPts val="4500"/>
              </a:lnSpc>
              <a:spcBef>
                <a:spcPct val="0"/>
              </a:spcBef>
              <a:buClr>
                <a:schemeClr val="bg1">
                  <a:lumMod val="75000"/>
                </a:schemeClr>
              </a:buClr>
              <a:buFont typeface="Wingdings" panose="05000000000000000000" pitchFamily="2" charset="2"/>
              <a:buChar char="n"/>
              <a:tabLst>
                <a:tab pos="990600" algn="l"/>
              </a:tabLst>
              <a:defRPr/>
            </a:pPr>
            <a:r>
              <a:rPr lang="zh-CN" altLang="en-US" sz="3200" b="1" kern="1200" dirty="0">
                <a:solidFill>
                  <a:schemeClr val="bg1"/>
                </a:solidFill>
                <a:latin typeface="+mj-lt"/>
                <a:ea typeface="楷体" panose="02010609060101010101" pitchFamily="49" charset="-122"/>
                <a:cs typeface="+mn-cs"/>
              </a:rPr>
              <a:t>搜索效率低</a:t>
            </a:r>
          </a:p>
          <a:p>
            <a:pPr marL="1371600" lvl="3" indent="-457200" eaLnBrk="1" hangingPunct="1">
              <a:lnSpc>
                <a:spcPct val="90000"/>
              </a:lnSpc>
              <a:spcBef>
                <a:spcPct val="5000"/>
              </a:spcBef>
              <a:buClrTx/>
              <a:buSzPct val="80000"/>
              <a:buFont typeface="Wingdings" panose="05000000000000000000" pitchFamily="2" charset="2"/>
              <a:buChar char="n"/>
              <a:defRPr/>
            </a:pPr>
            <a:r>
              <a:rPr lang="zh-CN" altLang="en-US" sz="2800" b="1" kern="1200" dirty="0">
                <a:solidFill>
                  <a:schemeClr val="bg2"/>
                </a:solidFill>
                <a:latin typeface="+mj-lt"/>
                <a:ea typeface="楷体" panose="02010609060101010101" pitchFamily="49" charset="-122"/>
                <a:cs typeface="+mn-cs"/>
              </a:rPr>
              <a:t>查找一个文件的范围是整个目录文件中的所有目录项。文件越多，速度越</a:t>
            </a:r>
            <a:r>
              <a:rPr lang="zh-CN" altLang="en-US" sz="2800" b="1" kern="1200" dirty="0" smtClean="0">
                <a:solidFill>
                  <a:schemeClr val="bg2"/>
                </a:solidFill>
                <a:latin typeface="+mj-lt"/>
                <a:ea typeface="楷体" panose="02010609060101010101" pitchFamily="49" charset="-122"/>
                <a:cs typeface="+mn-cs"/>
              </a:rPr>
              <a:t>慢</a:t>
            </a:r>
            <a:endParaRPr lang="zh-CN" altLang="en-US" sz="2800" b="1" kern="1200" dirty="0">
              <a:solidFill>
                <a:schemeClr val="bg2"/>
              </a:solidFill>
              <a:latin typeface="+mj-lt"/>
              <a:ea typeface="楷体" panose="02010609060101010101" pitchFamily="49" charset="-122"/>
              <a:cs typeface="+mn-cs"/>
            </a:endParaRPr>
          </a:p>
        </p:txBody>
      </p:sp>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7" name="Rectangle 2"/>
          <p:cNvSpPr txBox="1">
            <a:spLocks noChangeArrowheads="1"/>
          </p:cNvSpPr>
          <p:nvPr/>
        </p:nvSpPr>
        <p:spPr bwMode="auto">
          <a:xfrm>
            <a:off x="2857500" y="534640"/>
            <a:ext cx="35687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indent="-342900" algn="ctr" eaLnBrk="1" hangingPunct="1">
              <a:lnSpc>
                <a:spcPct val="90000"/>
              </a:lnSpc>
              <a:spcBef>
                <a:spcPct val="20000"/>
              </a:spcBef>
              <a:buClr>
                <a:srgbClr val="FFABFF"/>
              </a:buClr>
              <a:buSzPct val="90000"/>
              <a:defRPr/>
            </a:pPr>
            <a:r>
              <a:rPr lang="zh-CN" altLang="en-US" sz="4000" dirty="0" smtClean="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单</a:t>
            </a:r>
            <a:r>
              <a:rPr lang="zh-CN" altLang="en-US" sz="4000" b="1" kern="1200" dirty="0" smtClean="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级目录结构</a:t>
            </a:r>
            <a:endPar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8547">
                                            <p:txEl>
                                              <p:pRg st="3" end="3"/>
                                            </p:txEl>
                                          </p:spTgt>
                                        </p:tgtEl>
                                        <p:attrNameLst>
                                          <p:attrName>style.visibility</p:attrName>
                                        </p:attrNameLst>
                                      </p:cBhvr>
                                      <p:to>
                                        <p:strVal val="visible"/>
                                      </p:to>
                                    </p:set>
                                    <p:animEffect transition="in" filter="blinds(horizontal)">
                                      <p:cBhvr>
                                        <p:cTn id="7" dur="500"/>
                                        <p:tgtEl>
                                          <p:spTgt spid="74854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48547">
                                            <p:txEl>
                                              <p:pRg st="4" end="4"/>
                                            </p:txEl>
                                          </p:spTgt>
                                        </p:tgtEl>
                                        <p:attrNameLst>
                                          <p:attrName>style.visibility</p:attrName>
                                        </p:attrNameLst>
                                      </p:cBhvr>
                                      <p:to>
                                        <p:strVal val="visible"/>
                                      </p:to>
                                    </p:set>
                                    <p:animEffect transition="in" filter="blinds(horizontal)">
                                      <p:cBhvr>
                                        <p:cTn id="12" dur="500"/>
                                        <p:tgtEl>
                                          <p:spTgt spid="748547">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48547">
                                            <p:txEl>
                                              <p:pRg st="5" end="5"/>
                                            </p:txEl>
                                          </p:spTgt>
                                        </p:tgtEl>
                                        <p:attrNameLst>
                                          <p:attrName>style.visibility</p:attrName>
                                        </p:attrNameLst>
                                      </p:cBhvr>
                                      <p:to>
                                        <p:strVal val="visible"/>
                                      </p:to>
                                    </p:set>
                                    <p:animEffect transition="in" filter="blinds(horizontal)">
                                      <p:cBhvr>
                                        <p:cTn id="15" dur="500"/>
                                        <p:tgtEl>
                                          <p:spTgt spid="748547">
                                            <p:txEl>
                                              <p:pRg st="5" end="5"/>
                                            </p:txEl>
                                          </p:spTgt>
                                        </p:tgtEl>
                                      </p:cBhvr>
                                    </p:animEffect>
                                  </p:childTnLst>
                                </p:cTn>
                              </p:par>
                            </p:childTnLst>
                          </p:cTn>
                        </p:par>
                        <p:par>
                          <p:cTn id="16" fill="hold">
                            <p:stCondLst>
                              <p:cond delay="500"/>
                            </p:stCondLst>
                            <p:childTnLst>
                              <p:par>
                                <p:cTn id="17" presetID="2" presetClass="entr" presetSubtype="6"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1618" name="Rectangle 2"/>
          <p:cNvSpPr>
            <a:spLocks noGrp="1" noChangeArrowheads="1"/>
          </p:cNvSpPr>
          <p:nvPr>
            <p:ph type="title"/>
          </p:nvPr>
        </p:nvSpPr>
        <p:spPr>
          <a:xfrm>
            <a:off x="2771800" y="0"/>
            <a:ext cx="3568700" cy="892175"/>
          </a:xfrm>
        </p:spPr>
        <p:txBody>
          <a:bodyPr/>
          <a:lstStyle/>
          <a:p>
            <a:pPr marL="342900" indent="-342900" algn="ctr" eaLnBrk="1" hangingPunct="1">
              <a:lnSpc>
                <a:spcPct val="90000"/>
              </a:lnSpc>
              <a:spcBef>
                <a:spcPct val="20000"/>
              </a:spcBef>
              <a:buClr>
                <a:srgbClr val="FFABFF"/>
              </a:buClr>
              <a:buSzPct val="90000"/>
              <a:defRPr/>
            </a:pPr>
            <a:r>
              <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两级目录结构</a:t>
            </a:r>
          </a:p>
        </p:txBody>
      </p:sp>
      <p:sp>
        <p:nvSpPr>
          <p:cNvPr id="751619" name="Rectangle 3"/>
          <p:cNvSpPr>
            <a:spLocks noGrp="1" noChangeArrowheads="1"/>
          </p:cNvSpPr>
          <p:nvPr>
            <p:ph type="body" sz="half" idx="1"/>
          </p:nvPr>
        </p:nvSpPr>
        <p:spPr>
          <a:xfrm>
            <a:off x="395288" y="1196975"/>
            <a:ext cx="8497887" cy="5184775"/>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主目录表（</a:t>
            </a:r>
            <a:r>
              <a:rPr lang="en-US" altLang="zh-CN" sz="3600" b="1" kern="1200" dirty="0">
                <a:solidFill>
                  <a:schemeClr val="bg1"/>
                </a:solidFill>
                <a:latin typeface="+mj-lt"/>
                <a:ea typeface="楷体" panose="02010609060101010101" pitchFamily="49" charset="-122"/>
                <a:cs typeface="+mn-cs"/>
              </a:rPr>
              <a:t>MFD</a:t>
            </a:r>
            <a:r>
              <a:rPr lang="zh-CN" altLang="en-US" sz="3600" b="1" kern="1200" dirty="0">
                <a:solidFill>
                  <a:schemeClr val="bg1"/>
                </a:solidFill>
                <a:latin typeface="+mj-lt"/>
                <a:ea typeface="楷体" panose="02010609060101010101" pitchFamily="49" charset="-122"/>
                <a:cs typeface="+mn-cs"/>
              </a:rPr>
              <a:t>）</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整个系统一个</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给出用户名、用户子目录</a:t>
            </a:r>
            <a:r>
              <a:rPr lang="en-US" altLang="zh-CN" sz="3200" b="1" kern="1200" dirty="0">
                <a:solidFill>
                  <a:schemeClr val="bg2"/>
                </a:solidFill>
                <a:latin typeface="+mj-lt"/>
                <a:ea typeface="楷体" panose="02010609060101010101" pitchFamily="49" charset="-122"/>
                <a:cs typeface="+mn-cs"/>
              </a:rPr>
              <a:t>UFD</a:t>
            </a:r>
            <a:r>
              <a:rPr lang="zh-CN" altLang="en-US" sz="3200" b="1" kern="1200" dirty="0">
                <a:solidFill>
                  <a:schemeClr val="bg2"/>
                </a:solidFill>
                <a:latin typeface="+mj-lt"/>
                <a:ea typeface="楷体" panose="02010609060101010101" pitchFamily="49" charset="-122"/>
                <a:cs typeface="+mn-cs"/>
              </a:rPr>
              <a:t>的物理位置、存取控制信息</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起间接指示作用</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用户目录表（</a:t>
            </a:r>
            <a:r>
              <a:rPr lang="en-US" altLang="zh-CN" sz="3600" b="1" kern="1200" dirty="0">
                <a:solidFill>
                  <a:schemeClr val="bg1"/>
                </a:solidFill>
                <a:latin typeface="+mj-lt"/>
                <a:ea typeface="楷体" panose="02010609060101010101" pitchFamily="49" charset="-122"/>
                <a:cs typeface="+mn-cs"/>
              </a:rPr>
              <a:t>UFD</a:t>
            </a:r>
            <a:r>
              <a:rPr lang="zh-CN" altLang="en-US" sz="3600" b="1" kern="1200" dirty="0">
                <a:solidFill>
                  <a:schemeClr val="bg1"/>
                </a:solidFill>
                <a:latin typeface="+mj-lt"/>
                <a:ea typeface="楷体" panose="02010609060101010101" pitchFamily="49" charset="-122"/>
                <a:cs typeface="+mn-cs"/>
              </a:rPr>
              <a:t>）</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每个用户一个</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包含该用户的所有文件的</a:t>
            </a:r>
            <a:r>
              <a:rPr lang="en-US" altLang="zh-CN" sz="3200" b="1" kern="1200" dirty="0">
                <a:solidFill>
                  <a:schemeClr val="bg2"/>
                </a:solidFill>
                <a:latin typeface="+mj-lt"/>
                <a:ea typeface="楷体" panose="02010609060101010101" pitchFamily="49" charset="-122"/>
                <a:cs typeface="+mn-cs"/>
              </a:rPr>
              <a:t>FCB</a:t>
            </a:r>
            <a:r>
              <a:rPr lang="zh-CN" altLang="en-US" sz="3200" b="1" kern="1200" dirty="0">
                <a:solidFill>
                  <a:schemeClr val="bg2"/>
                </a:solidFill>
                <a:latin typeface="+mj-lt"/>
                <a:ea typeface="楷体" panose="02010609060101010101" pitchFamily="49" charset="-122"/>
                <a:cs typeface="+mn-cs"/>
              </a:rPr>
              <a:t>。</a:t>
            </a:r>
          </a:p>
        </p:txBody>
      </p:sp>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51619">
                                            <p:txEl>
                                              <p:pRg st="1" end="1"/>
                                            </p:txEl>
                                          </p:spTgt>
                                        </p:tgtEl>
                                        <p:attrNameLst>
                                          <p:attrName>style.visibility</p:attrName>
                                        </p:attrNameLst>
                                      </p:cBhvr>
                                      <p:to>
                                        <p:strVal val="visible"/>
                                      </p:to>
                                    </p:set>
                                    <p:animEffect transition="in" filter="blinds(horizontal)">
                                      <p:cBhvr>
                                        <p:cTn id="7" dur="500"/>
                                        <p:tgtEl>
                                          <p:spTgt spid="75161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51619">
                                            <p:txEl>
                                              <p:pRg st="2" end="2"/>
                                            </p:txEl>
                                          </p:spTgt>
                                        </p:tgtEl>
                                        <p:attrNameLst>
                                          <p:attrName>style.visibility</p:attrName>
                                        </p:attrNameLst>
                                      </p:cBhvr>
                                      <p:to>
                                        <p:strVal val="visible"/>
                                      </p:to>
                                    </p:set>
                                    <p:animEffect transition="in" filter="blinds(horizontal)">
                                      <p:cBhvr>
                                        <p:cTn id="10" dur="500"/>
                                        <p:tgtEl>
                                          <p:spTgt spid="75161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51619">
                                            <p:txEl>
                                              <p:pRg st="3" end="3"/>
                                            </p:txEl>
                                          </p:spTgt>
                                        </p:tgtEl>
                                        <p:attrNameLst>
                                          <p:attrName>style.visibility</p:attrName>
                                        </p:attrNameLst>
                                      </p:cBhvr>
                                      <p:to>
                                        <p:strVal val="visible"/>
                                      </p:to>
                                    </p:set>
                                    <p:animEffect transition="in" filter="blinds(horizontal)">
                                      <p:cBhvr>
                                        <p:cTn id="13" dur="500"/>
                                        <p:tgtEl>
                                          <p:spTgt spid="751619">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751619">
                                            <p:txEl>
                                              <p:pRg st="5" end="5"/>
                                            </p:txEl>
                                          </p:spTgt>
                                        </p:tgtEl>
                                        <p:attrNameLst>
                                          <p:attrName>style.visibility</p:attrName>
                                        </p:attrNameLst>
                                      </p:cBhvr>
                                      <p:to>
                                        <p:strVal val="visible"/>
                                      </p:to>
                                    </p:set>
                                    <p:animEffect transition="in" filter="blinds(horizontal)">
                                      <p:cBhvr>
                                        <p:cTn id="18" dur="500"/>
                                        <p:tgtEl>
                                          <p:spTgt spid="751619">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51619">
                                            <p:txEl>
                                              <p:pRg st="6" end="6"/>
                                            </p:txEl>
                                          </p:spTgt>
                                        </p:tgtEl>
                                        <p:attrNameLst>
                                          <p:attrName>style.visibility</p:attrName>
                                        </p:attrNameLst>
                                      </p:cBhvr>
                                      <p:to>
                                        <p:strVal val="visible"/>
                                      </p:to>
                                    </p:set>
                                    <p:animEffect transition="in" filter="blinds(horizontal)">
                                      <p:cBhvr>
                                        <p:cTn id="21" dur="500"/>
                                        <p:tgtEl>
                                          <p:spTgt spid="751619">
                                            <p:txEl>
                                              <p:pRg st="6" end="6"/>
                                            </p:txEl>
                                          </p:spTgt>
                                        </p:tgtEl>
                                      </p:cBhvr>
                                    </p:animEffect>
                                  </p:childTnLst>
                                </p:cTn>
                              </p:par>
                            </p:childTnLst>
                          </p:cTn>
                        </p:par>
                        <p:par>
                          <p:cTn id="22" fill="hold">
                            <p:stCondLst>
                              <p:cond delay="500"/>
                            </p:stCondLst>
                            <p:childTnLst>
                              <p:par>
                                <p:cTn id="23" presetID="2" presetClass="entr" presetSubtype="6"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1+#ppt_w/2"/>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8851" name="Picture 4" descr="h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557338"/>
            <a:ext cx="76327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2645" name="Rectangle 5"/>
          <p:cNvSpPr>
            <a:spLocks noChangeArrowheads="1"/>
          </p:cNvSpPr>
          <p:nvPr/>
        </p:nvSpPr>
        <p:spPr bwMode="auto">
          <a:xfrm>
            <a:off x="2555875" y="5349845"/>
            <a:ext cx="3959225" cy="400110"/>
          </a:xfrm>
          <a:prstGeom prst="rect">
            <a:avLst/>
          </a:prstGeom>
          <a:noFill/>
          <a:ln w="9525">
            <a:noFill/>
            <a:miter lim="800000"/>
            <a:headEnd/>
            <a:tailEnd/>
          </a:ln>
          <a:effectLst/>
        </p:spPr>
        <p:txBody>
          <a:bodyPr anchor="ctr">
            <a:spAutoFit/>
          </a:bodyPr>
          <a:lstStyle/>
          <a:p>
            <a:pPr algn="ctr" eaLnBrk="1" hangingPunct="1">
              <a:defRPr/>
            </a:pPr>
            <a:r>
              <a:rPr lang="zh-CN" altLang="en-US" sz="2000" dirty="0">
                <a:solidFill>
                  <a:schemeClr val="bg2"/>
                </a:solidFill>
                <a:ea typeface="楷体_GB2312" pitchFamily="49" charset="-122"/>
              </a:rPr>
              <a:t>图 </a:t>
            </a:r>
            <a:r>
              <a:rPr lang="en-US" altLang="zh-CN" sz="2000" dirty="0">
                <a:solidFill>
                  <a:schemeClr val="bg2"/>
                </a:solidFill>
                <a:ea typeface="楷体_GB2312" pitchFamily="49" charset="-122"/>
              </a:rPr>
              <a:t> </a:t>
            </a:r>
            <a:r>
              <a:rPr lang="zh-CN" altLang="en-US" sz="2000" dirty="0">
                <a:solidFill>
                  <a:schemeClr val="bg2"/>
                </a:solidFill>
                <a:ea typeface="楷体_GB2312" pitchFamily="49" charset="-122"/>
              </a:rPr>
              <a:t>二级目录结构</a:t>
            </a:r>
            <a:r>
              <a:rPr lang="zh-CN" altLang="en-US" sz="2000" dirty="0">
                <a:solidFill>
                  <a:schemeClr val="bg2"/>
                </a:solidFill>
                <a:effectLst>
                  <a:outerShdw blurRad="38100" dist="38100" dir="2700000" algn="tl">
                    <a:srgbClr val="000000"/>
                  </a:outerShdw>
                </a:effectLst>
                <a:latin typeface="Comic Sans MS" pitchFamily="66" charset="0"/>
                <a:ea typeface="方正舒体" pitchFamily="2" charset="-122"/>
              </a:rPr>
              <a:t> </a:t>
            </a:r>
          </a:p>
        </p:txBody>
      </p:sp>
      <p:sp>
        <p:nvSpPr>
          <p:cNvPr id="752647" name="Rectangle 7"/>
          <p:cNvSpPr>
            <a:spLocks noGrp="1" noChangeArrowheads="1"/>
          </p:cNvSpPr>
          <p:nvPr>
            <p:ph type="title"/>
          </p:nvPr>
        </p:nvSpPr>
        <p:spPr>
          <a:xfrm>
            <a:off x="2771775" y="0"/>
            <a:ext cx="3568700" cy="892175"/>
          </a:xfrm>
        </p:spPr>
        <p:txBody>
          <a:bodyPr/>
          <a:lstStyle/>
          <a:p>
            <a:pPr marL="342900" indent="-342900" algn="ctr" eaLnBrk="1" hangingPunct="1">
              <a:lnSpc>
                <a:spcPct val="90000"/>
              </a:lnSpc>
              <a:spcBef>
                <a:spcPct val="20000"/>
              </a:spcBef>
              <a:buClr>
                <a:srgbClr val="FFABFF"/>
              </a:buClr>
              <a:buSzPct val="90000"/>
              <a:defRPr/>
            </a:pPr>
            <a:r>
              <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两级目录结构</a:t>
            </a:r>
          </a:p>
        </p:txBody>
      </p:sp>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灯片编号占位符 5"/>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F7F05715-6521-47FB-8D51-D7471B29159D}" type="slidenum">
              <a:rPr kumimoji="0" lang="en-US" altLang="zh-CN" sz="1400" b="0" smtClean="0">
                <a:solidFill>
                  <a:schemeClr val="tx1"/>
                </a:solidFill>
                <a:ea typeface="宋体" panose="02010600030101010101" pitchFamily="2" charset="-122"/>
              </a:rPr>
              <a:pPr>
                <a:spcBef>
                  <a:spcPct val="0"/>
                </a:spcBef>
                <a:buClrTx/>
                <a:buSzTx/>
                <a:buFontTx/>
                <a:buNone/>
              </a:pPr>
              <a:t>44</a:t>
            </a:fld>
            <a:endParaRPr kumimoji="0" lang="en-US" altLang="zh-CN" sz="1400" b="0" smtClean="0">
              <a:solidFill>
                <a:schemeClr val="tx1"/>
              </a:solidFill>
              <a:ea typeface="宋体" panose="02010600030101010101" pitchFamily="2" charset="-122"/>
            </a:endParaRPr>
          </a:p>
        </p:txBody>
      </p:sp>
      <p:sp>
        <p:nvSpPr>
          <p:cNvPr id="49155" name="Rectangle 3"/>
          <p:cNvSpPr>
            <a:spLocks noGrp="1" noChangeArrowheads="1"/>
          </p:cNvSpPr>
          <p:nvPr>
            <p:ph type="body" idx="1"/>
          </p:nvPr>
        </p:nvSpPr>
        <p:spPr>
          <a:xfrm>
            <a:off x="257968" y="620688"/>
            <a:ext cx="8596313" cy="5257800"/>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优点</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解决文件重名问题</a:t>
            </a:r>
          </a:p>
          <a:p>
            <a:pPr marL="914400" lvl="3" indent="0" eaLnBrk="1" hangingPunct="1">
              <a:lnSpc>
                <a:spcPct val="90000"/>
              </a:lnSpc>
              <a:spcBef>
                <a:spcPct val="5000"/>
              </a:spcBef>
              <a:buClrTx/>
              <a:buSzPct val="80000"/>
              <a:buNone/>
              <a:defRPr/>
            </a:pPr>
            <a:r>
              <a:rPr lang="zh-CN" altLang="en-US" sz="2800" b="1" kern="1200" dirty="0">
                <a:solidFill>
                  <a:schemeClr val="bg2"/>
                </a:solidFill>
                <a:latin typeface="+mj-lt"/>
                <a:ea typeface="楷体" panose="02010609060101010101" pitchFamily="49" charset="-122"/>
                <a:cs typeface="+mn-cs"/>
              </a:rPr>
              <a:t>首先从主目录 </a:t>
            </a:r>
            <a:r>
              <a:rPr lang="en-US" altLang="zh-CN" sz="2800" b="1" kern="1200" dirty="0">
                <a:solidFill>
                  <a:schemeClr val="bg2"/>
                </a:solidFill>
                <a:latin typeface="+mj-lt"/>
                <a:ea typeface="楷体" panose="02010609060101010101" pitchFamily="49" charset="-122"/>
                <a:cs typeface="+mn-cs"/>
              </a:rPr>
              <a:t>MFD</a:t>
            </a:r>
            <a:r>
              <a:rPr lang="zh-CN" altLang="en-US" sz="2800" b="1" kern="1200" dirty="0">
                <a:solidFill>
                  <a:schemeClr val="bg2"/>
                </a:solidFill>
                <a:latin typeface="+mj-lt"/>
                <a:ea typeface="楷体" panose="02010609060101010101" pitchFamily="49" charset="-122"/>
                <a:cs typeface="+mn-cs"/>
              </a:rPr>
              <a:t>开始搜索，两个不同的</a:t>
            </a:r>
            <a:r>
              <a:rPr lang="zh-CN" altLang="en-US" sz="2800" b="1" kern="1200" dirty="0" smtClean="0">
                <a:solidFill>
                  <a:schemeClr val="bg2"/>
                </a:solidFill>
                <a:latin typeface="+mj-lt"/>
                <a:ea typeface="楷体" panose="02010609060101010101" pitchFamily="49" charset="-122"/>
                <a:cs typeface="+mn-cs"/>
              </a:rPr>
              <a:t>用户可以有同名文件。</a:t>
            </a:r>
            <a:endParaRPr lang="zh-CN" altLang="en-US" sz="2800" b="1" kern="1200" dirty="0">
              <a:solidFill>
                <a:schemeClr val="bg2"/>
              </a:solidFill>
              <a:latin typeface="+mj-lt"/>
              <a:ea typeface="楷体" panose="02010609060101010101" pitchFamily="49" charset="-122"/>
              <a:cs typeface="+mn-cs"/>
            </a:endParaRP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较高的搜索速度</a:t>
            </a:r>
          </a:p>
          <a:p>
            <a:pPr marL="1371600" lvl="3" indent="-457200" eaLnBrk="1" hangingPunct="1">
              <a:lnSpc>
                <a:spcPct val="90000"/>
              </a:lnSpc>
              <a:spcBef>
                <a:spcPct val="5000"/>
              </a:spcBef>
              <a:buClrTx/>
              <a:buSzPct val="70000"/>
              <a:buFont typeface="Wingdings" panose="05000000000000000000" pitchFamily="2" charset="2"/>
              <a:buChar char="n"/>
              <a:defRPr/>
            </a:pPr>
            <a:r>
              <a:rPr lang="zh-CN" altLang="en-US" sz="2800" b="1" kern="1200" dirty="0">
                <a:solidFill>
                  <a:schemeClr val="bg2"/>
                </a:solidFill>
                <a:latin typeface="+mj-lt"/>
                <a:ea typeface="楷体" panose="02010609060101010101" pitchFamily="49" charset="-122"/>
                <a:cs typeface="+mn-cs"/>
              </a:rPr>
              <a:t>单级目录表的长度为 </a:t>
            </a:r>
            <a:r>
              <a:rPr lang="en-US" altLang="zh-CN" sz="2800" b="1" kern="1200" dirty="0">
                <a:solidFill>
                  <a:schemeClr val="bg2"/>
                </a:solidFill>
                <a:latin typeface="+mj-lt"/>
                <a:ea typeface="楷体" panose="02010609060101010101" pitchFamily="49" charset="-122"/>
                <a:cs typeface="+mn-cs"/>
              </a:rPr>
              <a:t>n</a:t>
            </a:r>
            <a:r>
              <a:rPr lang="zh-CN" altLang="en-US" sz="2800" b="1" kern="1200" dirty="0">
                <a:solidFill>
                  <a:schemeClr val="bg2"/>
                </a:solidFill>
                <a:latin typeface="+mj-lt"/>
                <a:ea typeface="楷体" panose="02010609060101010101" pitchFamily="49" charset="-122"/>
                <a:cs typeface="+mn-cs"/>
              </a:rPr>
              <a:t>，搜索时间与 </a:t>
            </a:r>
            <a:r>
              <a:rPr lang="en-US" altLang="zh-CN" sz="2800" b="1" kern="1200" dirty="0">
                <a:solidFill>
                  <a:schemeClr val="bg2"/>
                </a:solidFill>
                <a:latin typeface="+mj-lt"/>
                <a:ea typeface="楷体" panose="02010609060101010101" pitchFamily="49" charset="-122"/>
                <a:cs typeface="+mn-cs"/>
              </a:rPr>
              <a:t>n</a:t>
            </a:r>
            <a:r>
              <a:rPr lang="zh-CN" altLang="en-US" sz="2800" b="1" kern="1200" dirty="0">
                <a:solidFill>
                  <a:schemeClr val="bg2"/>
                </a:solidFill>
                <a:latin typeface="+mj-lt"/>
                <a:ea typeface="楷体" panose="02010609060101010101" pitchFamily="49" charset="-122"/>
                <a:cs typeface="+mn-cs"/>
              </a:rPr>
              <a:t>成正比</a:t>
            </a:r>
            <a:r>
              <a:rPr lang="en-US" altLang="zh-CN" sz="2800" b="1" kern="1200" dirty="0">
                <a:solidFill>
                  <a:schemeClr val="bg2"/>
                </a:solidFill>
                <a:latin typeface="+mj-lt"/>
                <a:ea typeface="楷体" panose="02010609060101010101" pitchFamily="49" charset="-122"/>
                <a:cs typeface="+mn-cs"/>
              </a:rPr>
              <a:t>; </a:t>
            </a:r>
          </a:p>
          <a:p>
            <a:pPr marL="1371600" lvl="3" indent="-457200" eaLnBrk="1" hangingPunct="1">
              <a:lnSpc>
                <a:spcPct val="90000"/>
              </a:lnSpc>
              <a:spcBef>
                <a:spcPct val="5000"/>
              </a:spcBef>
              <a:buClrTx/>
              <a:buSzPct val="70000"/>
              <a:buFont typeface="Wingdings" panose="05000000000000000000" pitchFamily="2" charset="2"/>
              <a:buChar char="n"/>
              <a:defRPr/>
            </a:pPr>
            <a:r>
              <a:rPr lang="zh-CN" altLang="en-US" sz="2800" b="1" kern="1200" dirty="0">
                <a:solidFill>
                  <a:schemeClr val="bg2"/>
                </a:solidFill>
                <a:latin typeface="+mj-lt"/>
                <a:ea typeface="楷体" panose="02010609060101010101" pitchFamily="49" charset="-122"/>
                <a:cs typeface="+mn-cs"/>
              </a:rPr>
              <a:t>二级目录：ｍ个子集（用户个数），ｒ是每个用户的文件的个数，搜索时间与ｍ＋ｒ成正比。一般有ｍ＋ｒ≤ｎ。</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支持文件共享</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缺点</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smtClean="0">
                <a:solidFill>
                  <a:schemeClr val="bg2"/>
                </a:solidFill>
                <a:latin typeface="+mj-lt"/>
                <a:ea typeface="楷体" panose="02010609060101010101" pitchFamily="49" charset="-122"/>
                <a:cs typeface="+mn-cs"/>
              </a:rPr>
              <a:t>不适合</a:t>
            </a:r>
            <a:r>
              <a:rPr lang="zh-CN" altLang="en-US" sz="3200" b="1" kern="1200" dirty="0">
                <a:solidFill>
                  <a:schemeClr val="bg2"/>
                </a:solidFill>
                <a:latin typeface="+mj-lt"/>
                <a:ea typeface="楷体" panose="02010609060101010101" pitchFamily="49" charset="-122"/>
                <a:cs typeface="+mn-cs"/>
              </a:rPr>
              <a:t>大量用户和大量文件的大系统。</a:t>
            </a:r>
          </a:p>
        </p:txBody>
      </p:sp>
      <p:sp>
        <p:nvSpPr>
          <p:cNvPr id="806917" name="Rectangle 5"/>
          <p:cNvSpPr>
            <a:spLocks noGrp="1" noChangeArrowheads="1"/>
          </p:cNvSpPr>
          <p:nvPr>
            <p:ph type="title"/>
          </p:nvPr>
        </p:nvSpPr>
        <p:spPr>
          <a:xfrm>
            <a:off x="2771775" y="0"/>
            <a:ext cx="3568700" cy="892175"/>
          </a:xfrm>
        </p:spPr>
        <p:txBody>
          <a:bodyPr/>
          <a:lstStyle/>
          <a:p>
            <a:pPr marL="342900" indent="-342900" algn="ctr" eaLnBrk="1" hangingPunct="1">
              <a:lnSpc>
                <a:spcPct val="90000"/>
              </a:lnSpc>
              <a:spcBef>
                <a:spcPct val="20000"/>
              </a:spcBef>
              <a:buClr>
                <a:srgbClr val="FFABFF"/>
              </a:buClr>
              <a:buSzPct val="90000"/>
              <a:defRPr/>
            </a:pPr>
            <a:r>
              <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两级目录结构</a:t>
            </a:r>
          </a:p>
        </p:txBody>
      </p:sp>
      <p:sp>
        <p:nvSpPr>
          <p:cNvPr id="79878" name="矩形 5"/>
          <p:cNvSpPr>
            <a:spLocks noChangeArrowheads="1"/>
          </p:cNvSpPr>
          <p:nvPr/>
        </p:nvSpPr>
        <p:spPr bwMode="auto">
          <a:xfrm>
            <a:off x="2286000" y="6072188"/>
            <a:ext cx="4714875" cy="590931"/>
          </a:xfrm>
          <a:prstGeom prst="rect">
            <a:avLst/>
          </a:prstGeom>
          <a:solidFill>
            <a:srgbClr val="FFFF00"/>
          </a:solidFill>
          <a:ln>
            <a:noFill/>
          </a:ln>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marL="0" lvl="2" indent="0" algn="ctr" defTabSz="355600">
              <a:lnSpc>
                <a:spcPct val="90000"/>
              </a:lnSpc>
              <a:spcBef>
                <a:spcPct val="0"/>
              </a:spcBef>
              <a:buClr>
                <a:schemeClr val="bg1"/>
              </a:buClr>
              <a:buSzPct val="90000"/>
              <a:buNone/>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早期的多用户系统</a:t>
            </a:r>
          </a:p>
        </p:txBody>
      </p:sp>
      <p:sp>
        <p:nvSpPr>
          <p:cNvPr id="7"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3666" name="Rectangle 2"/>
          <p:cNvSpPr>
            <a:spLocks noGrp="1" noChangeArrowheads="1"/>
          </p:cNvSpPr>
          <p:nvPr>
            <p:ph type="title"/>
          </p:nvPr>
        </p:nvSpPr>
        <p:spPr>
          <a:xfrm>
            <a:off x="573088" y="-171400"/>
            <a:ext cx="8380412" cy="1052513"/>
          </a:xfrm>
        </p:spPr>
        <p:txBody>
          <a:bodyPr/>
          <a:lstStyle/>
          <a:p>
            <a:pPr marL="342900" indent="-342900" algn="ctr" eaLnBrk="1" hangingPunct="1">
              <a:lnSpc>
                <a:spcPct val="90000"/>
              </a:lnSpc>
              <a:spcBef>
                <a:spcPct val="20000"/>
              </a:spcBef>
              <a:buClr>
                <a:srgbClr val="FFABFF"/>
              </a:buClr>
              <a:buSzPct val="90000"/>
              <a:defRPr/>
            </a:pPr>
            <a:r>
              <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树型目录结构（多级目录）</a:t>
            </a:r>
          </a:p>
        </p:txBody>
      </p:sp>
      <p:sp>
        <p:nvSpPr>
          <p:cNvPr id="72708" name="Rectangle 3"/>
          <p:cNvSpPr>
            <a:spLocks noGrp="1" noChangeArrowheads="1"/>
          </p:cNvSpPr>
          <p:nvPr>
            <p:ph type="body" sz="half" idx="1"/>
          </p:nvPr>
        </p:nvSpPr>
        <p:spPr>
          <a:xfrm>
            <a:off x="0" y="692696"/>
            <a:ext cx="9170059" cy="2663825"/>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第一级为系统目录，根目录</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最低一级的物理块：文件信息</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其它</a:t>
            </a:r>
            <a:r>
              <a:rPr lang="zh-CN" altLang="en-US" sz="3600" b="1" kern="1200" dirty="0" smtClean="0">
                <a:solidFill>
                  <a:schemeClr val="bg1"/>
                </a:solidFill>
                <a:latin typeface="+mj-lt"/>
                <a:ea typeface="楷体" panose="02010609060101010101" pitchFamily="49" charset="-122"/>
                <a:cs typeface="+mn-cs"/>
              </a:rPr>
              <a:t>每级</a:t>
            </a:r>
            <a:r>
              <a:rPr lang="zh-CN" altLang="en-US" sz="3600" b="1" kern="1200" dirty="0">
                <a:solidFill>
                  <a:schemeClr val="bg1"/>
                </a:solidFill>
                <a:latin typeface="+mj-lt"/>
                <a:ea typeface="楷体" panose="02010609060101010101" pitchFamily="49" charset="-122"/>
                <a:cs typeface="+mn-cs"/>
              </a:rPr>
              <a:t>目录</a:t>
            </a:r>
            <a:r>
              <a:rPr lang="en-US" altLang="zh-CN" sz="3600" b="1" kern="1200" dirty="0">
                <a:solidFill>
                  <a:schemeClr val="bg1"/>
                </a:solidFill>
                <a:latin typeface="+mj-lt"/>
                <a:ea typeface="楷体" panose="02010609060101010101" pitchFamily="49" charset="-122"/>
                <a:cs typeface="+mn-cs"/>
              </a:rPr>
              <a:t>: </a:t>
            </a:r>
            <a:r>
              <a:rPr lang="zh-CN" altLang="en-US" sz="3200" b="1" kern="1200" dirty="0">
                <a:solidFill>
                  <a:schemeClr val="bg2"/>
                </a:solidFill>
                <a:latin typeface="+mj-lt"/>
                <a:ea typeface="楷体" panose="02010609060101010101" pitchFamily="49" charset="-122"/>
                <a:cs typeface="+mn-cs"/>
              </a:rPr>
              <a:t>下级目录或文件的说明信息。</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现代操作系统广泛采用</a:t>
            </a:r>
            <a:r>
              <a:rPr lang="zh-CN" altLang="en-US" sz="3200" b="1" kern="1200" dirty="0">
                <a:solidFill>
                  <a:schemeClr val="bg2"/>
                </a:solidFill>
                <a:latin typeface="+mj-lt"/>
                <a:ea typeface="楷体" panose="02010609060101010101" pitchFamily="49" charset="-122"/>
                <a:cs typeface="+mn-cs"/>
              </a:rPr>
              <a:t>。产生于</a:t>
            </a:r>
            <a:r>
              <a:rPr lang="en-US" altLang="zh-CN" sz="3200" b="1" kern="1200" dirty="0" smtClean="0">
                <a:solidFill>
                  <a:schemeClr val="bg2"/>
                </a:solidFill>
                <a:latin typeface="+mj-lt"/>
                <a:ea typeface="楷体" panose="02010609060101010101" pitchFamily="49" charset="-122"/>
                <a:cs typeface="+mn-cs"/>
              </a:rPr>
              <a:t>UNIX</a:t>
            </a:r>
            <a:r>
              <a:rPr lang="zh-CN" altLang="en-US" sz="3200" b="1" kern="1200" dirty="0" smtClean="0">
                <a:solidFill>
                  <a:schemeClr val="bg2"/>
                </a:solidFill>
                <a:latin typeface="+mj-lt"/>
                <a:ea typeface="楷体" panose="02010609060101010101" pitchFamily="49" charset="-122"/>
                <a:cs typeface="+mn-cs"/>
              </a:rPr>
              <a:t>系统</a:t>
            </a:r>
            <a:r>
              <a:rPr lang="zh-CN" altLang="en-US" sz="3200" b="1" kern="1200" dirty="0">
                <a:solidFill>
                  <a:schemeClr val="bg2"/>
                </a:solidFill>
                <a:latin typeface="+mj-lt"/>
                <a:ea typeface="楷体" panose="02010609060101010101" pitchFamily="49" charset="-122"/>
                <a:cs typeface="+mn-cs"/>
              </a:rPr>
              <a:t>。</a:t>
            </a:r>
          </a:p>
        </p:txBody>
      </p:sp>
      <p:pic>
        <p:nvPicPr>
          <p:cNvPr id="80901" name="Picture 5" descr="h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541" y="3140968"/>
            <a:ext cx="4752975"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3" name="Rectangle 3"/>
          <p:cNvSpPr>
            <a:spLocks noGrp="1" noChangeArrowheads="1"/>
          </p:cNvSpPr>
          <p:nvPr>
            <p:ph type="body" sz="half" idx="1"/>
          </p:nvPr>
        </p:nvSpPr>
        <p:spPr>
          <a:xfrm>
            <a:off x="0" y="620713"/>
            <a:ext cx="9144000" cy="5689600"/>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层次清楚</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smtClean="0">
                <a:solidFill>
                  <a:schemeClr val="bg2"/>
                </a:solidFill>
                <a:latin typeface="+mj-lt"/>
                <a:ea typeface="楷体" panose="02010609060101010101" pitchFamily="49" charset="-122"/>
                <a:cs typeface="+mn-cs"/>
              </a:rPr>
              <a:t>不同</a:t>
            </a:r>
            <a:r>
              <a:rPr lang="zh-CN" altLang="en-US" sz="3200" b="1" kern="1200" dirty="0">
                <a:solidFill>
                  <a:schemeClr val="bg2"/>
                </a:solidFill>
                <a:latin typeface="+mj-lt"/>
                <a:ea typeface="楷体" panose="02010609060101010101" pitchFamily="49" charset="-122"/>
                <a:cs typeface="+mn-cs"/>
              </a:rPr>
              <a:t>性质、不同用户的文件可以构成不同的子树，便于管理。</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不同层次、不同用户的文件可以被赋予不同的存取权限，有利于文件的保护</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解决了文件重名问题</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只要在同一子目录下的文件名不重复，就不会引起混乱。</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查找搜索速度快</a:t>
            </a:r>
          </a:p>
          <a:p>
            <a:pPr marL="914400" lvl="2" indent="-457200" eaLnBrk="1" hangingPunct="1">
              <a:lnSpc>
                <a:spcPct val="90000"/>
              </a:lnSpc>
              <a:spcBef>
                <a:spcPct val="5000"/>
              </a:spcBef>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每次只查找目录的一个子集</a:t>
            </a:r>
          </a:p>
        </p:txBody>
      </p:sp>
      <p:sp>
        <p:nvSpPr>
          <p:cNvPr id="754694" name="Rectangle 6"/>
          <p:cNvSpPr>
            <a:spLocks noChangeArrowheads="1"/>
          </p:cNvSpPr>
          <p:nvPr/>
        </p:nvSpPr>
        <p:spPr bwMode="auto">
          <a:xfrm>
            <a:off x="573088" y="-171400"/>
            <a:ext cx="8380412" cy="1052513"/>
          </a:xfrm>
          <a:prstGeom prst="rect">
            <a:avLst/>
          </a:prstGeom>
          <a:noFill/>
          <a:ln w="12700" cap="sq">
            <a:noFill/>
            <a:miter lim="800000"/>
            <a:headEnd type="none" w="sm" len="sm"/>
            <a:tailEnd type="none" w="sm" len="sm"/>
          </a:ln>
          <a:effectLst/>
        </p:spPr>
        <p:txBody>
          <a:bodyPr anchor="ctr"/>
          <a:lstStyle/>
          <a:p>
            <a:pPr marL="342900" indent="-342900" algn="ctr" eaLnBrk="1" hangingPunct="1">
              <a:lnSpc>
                <a:spcPct val="90000"/>
              </a:lnSpc>
              <a:spcBef>
                <a:spcPct val="20000"/>
              </a:spcBef>
              <a:buClr>
                <a:srgbClr val="FFABFF"/>
              </a:buClr>
              <a:buSzPct val="90000"/>
              <a:defRPr/>
            </a:pPr>
            <a:r>
              <a:rPr lang="zh-CN" altLang="en-US" sz="4000" dirty="0">
                <a:solidFill>
                  <a:srgbClr val="B2622C"/>
                </a:solidFill>
                <a:effectLst>
                  <a:outerShdw blurRad="38100" dist="38100" dir="2700000" algn="tl">
                    <a:srgbClr val="000000"/>
                  </a:outerShdw>
                </a:effectLst>
                <a:ea typeface="楷体_GB2312" pitchFamily="49" charset="-122"/>
              </a:rPr>
              <a:t>树型目录结构（多级目录）</a:t>
            </a:r>
          </a:p>
        </p:txBody>
      </p:sp>
      <p:sp>
        <p:nvSpPr>
          <p:cNvPr id="5" name="AutoShape 4">
            <a:hlinkClick r:id="rId2" action="ppaction://hlinksldjump" highlightClick="1"/>
          </p:cNvPr>
          <p:cNvSpPr>
            <a:spLocks noChangeArrowheads="1"/>
          </p:cNvSpPr>
          <p:nvPr/>
        </p:nvSpPr>
        <p:spPr bwMode="auto">
          <a:xfrm>
            <a:off x="8763000" y="6477000"/>
            <a:ext cx="381000" cy="381000"/>
          </a:xfrm>
          <a:prstGeom prst="actionButtonHome">
            <a:avLst/>
          </a:prstGeom>
          <a:solidFill>
            <a:schemeClr val="tx1">
              <a:lumMod val="65000"/>
            </a:schemeClr>
          </a:solidFill>
          <a:ln w="12700" cap="sq">
            <a:noFill/>
            <a:miter lim="800000"/>
            <a:headEnd type="none" w="sm" len="sm"/>
            <a:tailEnd type="none" w="sm" len="sm"/>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6" name="灯片编号占位符 6"/>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fld id="{CD4953D5-AA92-4E79-AF3C-D049C6A887AC}" type="slidenum">
              <a:rPr kumimoji="0" lang="en-US" altLang="zh-CN" sz="1400" b="0" smtClean="0">
                <a:solidFill>
                  <a:schemeClr val="tx1"/>
                </a:solidFill>
                <a:ea typeface="宋体" panose="02010600030101010101" pitchFamily="2" charset="-122"/>
              </a:rPr>
              <a:pPr>
                <a:spcBef>
                  <a:spcPct val="0"/>
                </a:spcBef>
                <a:buClrTx/>
                <a:buSzTx/>
                <a:buFontTx/>
                <a:buNone/>
              </a:pPr>
              <a:t>47</a:t>
            </a:fld>
            <a:endParaRPr kumimoji="0" lang="en-US" altLang="zh-CN" sz="1400" b="0" smtClean="0">
              <a:solidFill>
                <a:schemeClr val="tx1"/>
              </a:solidFill>
              <a:ea typeface="宋体" panose="02010600030101010101" pitchFamily="2" charset="-122"/>
            </a:endParaRPr>
          </a:p>
        </p:txBody>
      </p:sp>
      <p:sp>
        <p:nvSpPr>
          <p:cNvPr id="38915" name="Rectangle 2"/>
          <p:cNvSpPr>
            <a:spLocks noGrp="1" noChangeArrowheads="1"/>
          </p:cNvSpPr>
          <p:nvPr>
            <p:ph type="title"/>
          </p:nvPr>
        </p:nvSpPr>
        <p:spPr>
          <a:xfrm>
            <a:off x="1643063" y="0"/>
            <a:ext cx="6165850" cy="1000125"/>
          </a:xfrm>
        </p:spPr>
        <p:txBody>
          <a:bodyPr/>
          <a:lstStyle/>
          <a:p>
            <a:pPr marL="457200" indent="-457200" algn="ctr">
              <a:lnSpc>
                <a:spcPct val="120000"/>
              </a:lnSpc>
              <a:spcBef>
                <a:spcPts val="600"/>
              </a:spcBef>
              <a:buClr>
                <a:schemeClr val="folHlink"/>
              </a:buClr>
              <a:buSzPct val="75000"/>
              <a:defRPr/>
            </a:pPr>
            <a:r>
              <a:rPr lang="en-US" altLang="zh-CN" b="1" kern="1200" dirty="0">
                <a:solidFill>
                  <a:srgbClr val="C00000"/>
                </a:solidFill>
                <a:effectLst>
                  <a:outerShdw blurRad="38100" dist="38100" dir="2700000" algn="tl">
                    <a:srgbClr val="000000"/>
                  </a:outerShdw>
                </a:effectLst>
                <a:latin typeface="Times New Roman" pitchFamily="18" charset="0"/>
                <a:ea typeface="楷体_GB2312" pitchFamily="49" charset="-122"/>
                <a:cs typeface="+mn-cs"/>
              </a:rPr>
              <a:t>9.5 </a:t>
            </a:r>
            <a:r>
              <a:rPr lang="zh-CN" altLang="en-US" b="1" kern="1200" dirty="0">
                <a:solidFill>
                  <a:srgbClr val="C00000"/>
                </a:solidFill>
                <a:effectLst>
                  <a:outerShdw blurRad="38100" dist="38100" dir="2700000" algn="tl">
                    <a:srgbClr val="000000"/>
                  </a:outerShdw>
                </a:effectLst>
                <a:latin typeface="Times New Roman" pitchFamily="18" charset="0"/>
                <a:ea typeface="楷体_GB2312" pitchFamily="49" charset="-122"/>
                <a:cs typeface="+mn-cs"/>
              </a:rPr>
              <a:t>文件存储空间管理 </a:t>
            </a:r>
          </a:p>
        </p:txBody>
      </p:sp>
      <p:sp>
        <p:nvSpPr>
          <p:cNvPr id="82948" name="Text Box 7"/>
          <p:cNvSpPr txBox="1">
            <a:spLocks noChangeArrowheads="1"/>
          </p:cNvSpPr>
          <p:nvPr/>
        </p:nvSpPr>
        <p:spPr bwMode="auto">
          <a:xfrm>
            <a:off x="285750" y="1196975"/>
            <a:ext cx="8858250" cy="4039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marL="342900" lvl="1" indent="-342900" eaLnBrk="1" hangingPunct="1">
              <a:lnSpc>
                <a:spcPct val="90000"/>
              </a:lnSpc>
              <a:buSzPct val="100000"/>
              <a:buFont typeface="Wingdings" panose="05000000000000000000" pitchFamily="2" charset="2"/>
              <a:buChar char="n"/>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保证多个用户共享文件存储设备，实现文件的按名存取。</a:t>
            </a:r>
          </a:p>
          <a:p>
            <a:pPr marL="342900" lvl="1" indent="-342900" eaLnBrk="1" hangingPunct="1">
              <a:lnSpc>
                <a:spcPct val="90000"/>
              </a:lnSpc>
              <a:buSzPct val="100000"/>
              <a:buFont typeface="Wingdings" panose="05000000000000000000" pitchFamily="2" charset="2"/>
              <a:buChar char="n"/>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空闲块的组织、分配与回收等。</a:t>
            </a:r>
          </a:p>
          <a:p>
            <a:pPr marL="342900" lvl="1" indent="-342900" eaLnBrk="1" hangingPunct="1">
              <a:lnSpc>
                <a:spcPct val="90000"/>
              </a:lnSpc>
              <a:buSzPct val="100000"/>
              <a:buFont typeface="Wingdings" panose="05000000000000000000" pitchFamily="2" charset="2"/>
              <a:buChar char="n"/>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空闲块管理方法</a:t>
            </a:r>
          </a:p>
          <a:p>
            <a:pPr marL="812800" lvl="3" indent="-355600" defTabSz="355600">
              <a:lnSpc>
                <a:spcPts val="4500"/>
              </a:lnSpc>
              <a:spcBef>
                <a:spcPct val="0"/>
              </a:spcBef>
              <a:buClr>
                <a:schemeClr val="bg1">
                  <a:lumMod val="75000"/>
                </a:schemeClr>
              </a:buClr>
              <a:buSzPct val="80000"/>
              <a:buFont typeface="Wingdings" panose="05000000000000000000" pitchFamily="2" charset="2"/>
              <a:buChar char="n"/>
              <a:tabLst>
                <a:tab pos="990600" algn="l"/>
              </a:tabLst>
              <a:defRPr/>
            </a:pPr>
            <a:r>
              <a:rPr lang="zh-CN" altLang="en-US" sz="3200" dirty="0">
                <a:solidFill>
                  <a:schemeClr val="bg1"/>
                </a:solidFill>
                <a:effectLst>
                  <a:outerShdw blurRad="38100" dist="38100" dir="2700000" algn="tl">
                    <a:srgbClr val="000000"/>
                  </a:outerShdw>
                </a:effectLst>
                <a:latin typeface="+mj-lt"/>
                <a:ea typeface="楷体" panose="02010609060101010101" pitchFamily="49" charset="-122"/>
              </a:rPr>
              <a:t>空闲文件目录 （索引）</a:t>
            </a:r>
          </a:p>
          <a:p>
            <a:pPr marL="812800" lvl="3" indent="-355600" defTabSz="355600">
              <a:lnSpc>
                <a:spcPts val="4500"/>
              </a:lnSpc>
              <a:spcBef>
                <a:spcPct val="0"/>
              </a:spcBef>
              <a:buClr>
                <a:schemeClr val="bg1">
                  <a:lumMod val="75000"/>
                </a:schemeClr>
              </a:buClr>
              <a:buSzPct val="80000"/>
              <a:buFont typeface="Wingdings" panose="05000000000000000000" pitchFamily="2" charset="2"/>
              <a:buChar char="n"/>
              <a:tabLst>
                <a:tab pos="990600" algn="l"/>
              </a:tabLst>
              <a:defRPr/>
            </a:pPr>
            <a:r>
              <a:rPr lang="zh-CN" altLang="en-US" sz="3200" dirty="0">
                <a:solidFill>
                  <a:schemeClr val="bg1"/>
                </a:solidFill>
                <a:effectLst>
                  <a:outerShdw blurRad="38100" dist="38100" dir="2700000" algn="tl">
                    <a:srgbClr val="000000"/>
                  </a:outerShdw>
                </a:effectLst>
                <a:latin typeface="+mj-lt"/>
                <a:ea typeface="楷体" panose="02010609060101010101" pitchFamily="49" charset="-122"/>
              </a:rPr>
              <a:t>空闲块链（链）</a:t>
            </a:r>
          </a:p>
          <a:p>
            <a:pPr marL="812800" lvl="3" indent="-355600" defTabSz="355600">
              <a:lnSpc>
                <a:spcPts val="4500"/>
              </a:lnSpc>
              <a:spcBef>
                <a:spcPct val="0"/>
              </a:spcBef>
              <a:buClr>
                <a:schemeClr val="bg1">
                  <a:lumMod val="75000"/>
                </a:schemeClr>
              </a:buClr>
              <a:buSzPct val="80000"/>
              <a:buFont typeface="Wingdings" panose="05000000000000000000" pitchFamily="2" charset="2"/>
              <a:buChar char="n"/>
              <a:tabLst>
                <a:tab pos="990600" algn="l"/>
              </a:tabLst>
              <a:defRPr/>
            </a:pPr>
            <a:r>
              <a:rPr lang="zh-CN" altLang="en-US" sz="3200" dirty="0">
                <a:solidFill>
                  <a:schemeClr val="bg1"/>
                </a:solidFill>
                <a:effectLst>
                  <a:outerShdw blurRad="38100" dist="38100" dir="2700000" algn="tl">
                    <a:srgbClr val="000000"/>
                  </a:outerShdw>
                </a:effectLst>
                <a:latin typeface="+mj-lt"/>
                <a:ea typeface="楷体" panose="02010609060101010101" pitchFamily="49" charset="-122"/>
              </a:rPr>
              <a:t>位示图 （连续的矩阵）</a:t>
            </a:r>
            <a:endParaRPr lang="en-US" altLang="zh-CN" sz="3200" dirty="0">
              <a:solidFill>
                <a:schemeClr val="bg1"/>
              </a:solidFill>
              <a:effectLst>
                <a:outerShdw blurRad="38100" dist="38100" dir="2700000" algn="tl">
                  <a:srgbClr val="000000"/>
                </a:outerShdw>
              </a:effectLst>
              <a:latin typeface="+mj-lt"/>
              <a:ea typeface="楷体" panose="02010609060101010101" pitchFamily="49" charset="-122"/>
            </a:endParaRPr>
          </a:p>
        </p:txBody>
      </p:sp>
      <p:sp>
        <p:nvSpPr>
          <p:cNvPr id="743432"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43432"/>
                                        </p:tgtEl>
                                        <p:attrNameLst>
                                          <p:attrName>style.visibility</p:attrName>
                                        </p:attrNameLst>
                                      </p:cBhvr>
                                      <p:to>
                                        <p:strVal val="visible"/>
                                      </p:to>
                                    </p:set>
                                    <p:anim calcmode="lin" valueType="num">
                                      <p:cBhvr additive="base">
                                        <p:cTn id="7" dur="500" fill="hold"/>
                                        <p:tgtEl>
                                          <p:spTgt spid="743432"/>
                                        </p:tgtEl>
                                        <p:attrNameLst>
                                          <p:attrName>ppt_x</p:attrName>
                                        </p:attrNameLst>
                                      </p:cBhvr>
                                      <p:tavLst>
                                        <p:tav tm="0">
                                          <p:val>
                                            <p:strVal val="1+#ppt_w/2"/>
                                          </p:val>
                                        </p:tav>
                                        <p:tav tm="100000">
                                          <p:val>
                                            <p:strVal val="#ppt_x"/>
                                          </p:val>
                                        </p:tav>
                                      </p:tavLst>
                                    </p:anim>
                                    <p:anim calcmode="lin" valueType="num">
                                      <p:cBhvr additive="base">
                                        <p:cTn id="8" dur="500" fill="hold"/>
                                        <p:tgtEl>
                                          <p:spTgt spid="7434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3432"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9746" name="Rectangle 2"/>
          <p:cNvSpPr>
            <a:spLocks noGrp="1" noChangeArrowheads="1"/>
          </p:cNvSpPr>
          <p:nvPr>
            <p:ph type="title"/>
          </p:nvPr>
        </p:nvSpPr>
        <p:spPr>
          <a:xfrm>
            <a:off x="1087438" y="0"/>
            <a:ext cx="7359650" cy="838200"/>
          </a:xfrm>
        </p:spPr>
        <p:txBody>
          <a:bodyPr/>
          <a:lstStyle/>
          <a:p>
            <a:pPr marL="342900" indent="-342900" algn="ctr" eaLnBrk="1" hangingPunct="1">
              <a:lnSpc>
                <a:spcPct val="90000"/>
              </a:lnSpc>
              <a:spcBef>
                <a:spcPct val="20000"/>
              </a:spcBef>
              <a:buClr>
                <a:srgbClr val="FFABFF"/>
              </a:buClr>
              <a:buSzPct val="90000"/>
              <a:tabLst>
                <a:tab pos="1608138" algn="l"/>
              </a:tabLst>
              <a:defRPr/>
            </a:pPr>
            <a:r>
              <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空闲块管理</a:t>
            </a:r>
            <a:r>
              <a:rPr lang="zh-CN" altLang="en-US" sz="4000" b="1" kern="1200" dirty="0" smtClean="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方法</a:t>
            </a:r>
            <a:endPar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endParaRPr>
          </a:p>
        </p:txBody>
      </p:sp>
      <p:sp>
        <p:nvSpPr>
          <p:cNvPr id="84996" name="Rectangle 4"/>
          <p:cNvSpPr>
            <a:spLocks noGrp="1" noChangeArrowheads="1"/>
          </p:cNvSpPr>
          <p:nvPr>
            <p:ph type="body" sz="half" idx="1"/>
          </p:nvPr>
        </p:nvSpPr>
        <p:spPr>
          <a:xfrm>
            <a:off x="349052" y="1844824"/>
            <a:ext cx="8604448" cy="3528392"/>
          </a:xfrm>
          <a:noFill/>
        </p:spPr>
        <p:txBody>
          <a:bodyPr/>
          <a:lstStyle/>
          <a:p>
            <a:pPr marL="358775" lvl="1" indent="-358775" eaLnBrk="1" hangingPunct="1">
              <a:lnSpc>
                <a:spcPct val="90000"/>
              </a:lnSpc>
              <a:buClrTx/>
              <a:buSzPct val="100000"/>
              <a:buFont typeface="Wingdings" panose="05000000000000000000" pitchFamily="2" charset="2"/>
              <a:buChar char="n"/>
              <a:defRPr/>
            </a:pPr>
            <a:r>
              <a:rPr lang="zh-CN" altLang="en-US" sz="3600" b="1" kern="1200" dirty="0">
                <a:solidFill>
                  <a:schemeClr val="bg2"/>
                </a:solidFill>
                <a:latin typeface="+mj-lt"/>
                <a:ea typeface="楷体" panose="02010609060101010101" pitchFamily="49" charset="-122"/>
                <a:cs typeface="+mn-cs"/>
              </a:rPr>
              <a:t>放在一个物理块中</a:t>
            </a:r>
          </a:p>
          <a:p>
            <a:pPr marL="358775" lvl="1" indent="-358775" eaLnBrk="1" hangingPunct="1">
              <a:lnSpc>
                <a:spcPct val="90000"/>
              </a:lnSpc>
              <a:buClrTx/>
              <a:buSzPct val="100000"/>
              <a:buFont typeface="Wingdings" panose="05000000000000000000" pitchFamily="2" charset="2"/>
              <a:buChar char="n"/>
              <a:defRPr/>
            </a:pPr>
            <a:r>
              <a:rPr lang="zh-CN" altLang="en-US" sz="3600" b="1" kern="1200" dirty="0">
                <a:solidFill>
                  <a:schemeClr val="bg2"/>
                </a:solidFill>
                <a:latin typeface="+mj-lt"/>
                <a:ea typeface="楷体" panose="02010609060101010101" pitchFamily="49" charset="-122"/>
                <a:cs typeface="+mn-cs"/>
              </a:rPr>
              <a:t>表</a:t>
            </a:r>
            <a:r>
              <a:rPr lang="zh-CN" altLang="en-US" sz="3600" b="1" kern="1200" dirty="0" smtClean="0">
                <a:solidFill>
                  <a:schemeClr val="bg2"/>
                </a:solidFill>
                <a:latin typeface="+mj-lt"/>
                <a:ea typeface="楷体" panose="02010609060101010101" pitchFamily="49" charset="-122"/>
                <a:cs typeface="+mn-cs"/>
              </a:rPr>
              <a:t>项</a:t>
            </a:r>
            <a:endParaRPr lang="en-US" altLang="zh-CN" sz="3600" b="1" kern="1200" dirty="0" smtClean="0">
              <a:solidFill>
                <a:schemeClr val="bg2"/>
              </a:solidFill>
              <a:latin typeface="+mj-lt"/>
              <a:ea typeface="楷体" panose="02010609060101010101" pitchFamily="49" charset="-122"/>
              <a:cs typeface="+mn-cs"/>
            </a:endParaRPr>
          </a:p>
          <a:p>
            <a:pPr marL="758825" lvl="2" indent="-358775" eaLnBrk="1" hangingPunct="1">
              <a:lnSpc>
                <a:spcPct val="90000"/>
              </a:lnSpc>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由多个空闲块构成的空闲区</a:t>
            </a:r>
          </a:p>
          <a:p>
            <a:pPr marL="758825" lvl="2" indent="-358775" eaLnBrk="1" hangingPunct="1">
              <a:lnSpc>
                <a:spcPct val="90000"/>
              </a:lnSpc>
              <a:buClrTx/>
              <a:buSzPct val="80000"/>
              <a:buFont typeface="Wingdings" panose="05000000000000000000" pitchFamily="2" charset="2"/>
              <a:buChar char="n"/>
              <a:defRPr/>
            </a:pPr>
            <a:r>
              <a:rPr lang="zh-CN" altLang="en-US" sz="3200" b="1" kern="1200" dirty="0" smtClean="0">
                <a:solidFill>
                  <a:schemeClr val="bg2"/>
                </a:solidFill>
                <a:latin typeface="+mj-lt"/>
                <a:ea typeface="楷体" panose="02010609060101010101" pitchFamily="49" charset="-122"/>
                <a:cs typeface="+mn-cs"/>
              </a:rPr>
              <a:t>空闲</a:t>
            </a:r>
            <a:r>
              <a:rPr lang="zh-CN" altLang="en-US" sz="3200" b="1" kern="1200" dirty="0">
                <a:solidFill>
                  <a:schemeClr val="bg2"/>
                </a:solidFill>
                <a:latin typeface="+mj-lt"/>
                <a:ea typeface="楷体" panose="02010609060101010101" pitchFamily="49" charset="-122"/>
                <a:cs typeface="+mn-cs"/>
              </a:rPr>
              <a:t>块个数、第一个空闲块号等。</a:t>
            </a:r>
          </a:p>
          <a:p>
            <a:pPr marL="358775" lvl="1" indent="-358775" eaLnBrk="1" hangingPunct="1">
              <a:lnSpc>
                <a:spcPct val="90000"/>
              </a:lnSpc>
              <a:buClrTx/>
              <a:buSzPct val="100000"/>
              <a:buFont typeface="Wingdings" panose="05000000000000000000" pitchFamily="2" charset="2"/>
              <a:buChar char="n"/>
              <a:defRPr/>
            </a:pPr>
            <a:r>
              <a:rPr lang="zh-CN" altLang="en-US" sz="3600" b="1" kern="1200" dirty="0">
                <a:solidFill>
                  <a:schemeClr val="bg2"/>
                </a:solidFill>
                <a:latin typeface="+mj-lt"/>
                <a:ea typeface="楷体" panose="02010609060101010101" pitchFamily="49" charset="-122"/>
                <a:cs typeface="+mn-cs"/>
              </a:rPr>
              <a:t>动态分区的分配和释放算法，稍加修改</a:t>
            </a:r>
          </a:p>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适用于连续文件结构</a:t>
            </a: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2" name="矩形 1"/>
          <p:cNvSpPr/>
          <p:nvPr/>
        </p:nvSpPr>
        <p:spPr>
          <a:xfrm>
            <a:off x="3016853" y="849549"/>
            <a:ext cx="3268845" cy="646331"/>
          </a:xfrm>
          <a:prstGeom prst="rect">
            <a:avLst/>
          </a:prstGeom>
        </p:spPr>
        <p:txBody>
          <a:bodyPr wrap="none">
            <a:spAutoFit/>
          </a:bodyPr>
          <a:lstStyle/>
          <a:p>
            <a:pPr marL="342900" lvl="2" indent="-342900" algn="ctr" defTabSz="355600" eaLnBrk="1" hangingPunct="1">
              <a:lnSpc>
                <a:spcPct val="90000"/>
              </a:lnSpc>
              <a:buClr>
                <a:schemeClr val="bg1"/>
              </a:buClr>
              <a:buSzPct val="80000"/>
              <a:tabLst>
                <a:tab pos="1608138" algn="l"/>
              </a:tabLst>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空闲文件目录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3" name="Rectangle 3"/>
          <p:cNvSpPr>
            <a:spLocks noGrp="1" noChangeArrowheads="1"/>
          </p:cNvSpPr>
          <p:nvPr>
            <p:ph type="body" idx="1"/>
          </p:nvPr>
        </p:nvSpPr>
        <p:spPr>
          <a:xfrm>
            <a:off x="467544" y="1600626"/>
            <a:ext cx="8555483" cy="4248472"/>
          </a:xfrm>
        </p:spPr>
        <p:txBody>
          <a:bodyPr/>
          <a:lstStyle/>
          <a:p>
            <a:pPr marL="355600" lvl="2" indent="-355600" defTabSz="355600">
              <a:lnSpc>
                <a:spcPts val="4500"/>
              </a:lnSpc>
              <a:spcBef>
                <a:spcPct val="0"/>
              </a:spcBef>
              <a:buClr>
                <a:schemeClr val="bg1">
                  <a:lumMod val="75000"/>
                </a:schemeClr>
              </a:buClr>
              <a:buSzPct val="100000"/>
              <a:buFont typeface="Wingdings" panose="05000000000000000000" pitchFamily="2" charset="2"/>
              <a:buChar char="n"/>
              <a:tabLst>
                <a:tab pos="990600" algn="l"/>
              </a:tabLst>
              <a:defRPr/>
            </a:pPr>
            <a:r>
              <a:rPr lang="zh-CN" altLang="en-US" sz="3600" b="1" kern="1200" dirty="0">
                <a:solidFill>
                  <a:schemeClr val="bg1"/>
                </a:solidFill>
                <a:latin typeface="+mj-lt"/>
                <a:ea typeface="楷体" panose="02010609060101010101" pitchFamily="49" charset="-122"/>
                <a:cs typeface="+mn-cs"/>
              </a:rPr>
              <a:t>较常用</a:t>
            </a:r>
          </a:p>
          <a:p>
            <a:pPr marL="358775" lvl="1" indent="-358775" eaLnBrk="1" hangingPunct="1">
              <a:lnSpc>
                <a:spcPct val="90000"/>
              </a:lnSpc>
              <a:buClrTx/>
              <a:buSzPct val="80000"/>
              <a:buFont typeface="Wingdings" panose="05000000000000000000" pitchFamily="2" charset="2"/>
              <a:buChar char="n"/>
              <a:defRPr/>
            </a:pPr>
            <a:r>
              <a:rPr lang="zh-CN" altLang="en-US" sz="3600" b="1" kern="1200" dirty="0">
                <a:solidFill>
                  <a:schemeClr val="bg2"/>
                </a:solidFill>
                <a:latin typeface="+mj-lt"/>
                <a:ea typeface="楷体" panose="02010609060101010101" pitchFamily="49" charset="-122"/>
                <a:cs typeface="+mn-cs"/>
              </a:rPr>
              <a:t>把文件存储设备上的所有空闲块链接在一起</a:t>
            </a:r>
          </a:p>
          <a:p>
            <a:pPr marL="358775" lvl="1" indent="-358775" eaLnBrk="1" hangingPunct="1">
              <a:lnSpc>
                <a:spcPct val="90000"/>
              </a:lnSpc>
              <a:buClrTx/>
              <a:buSzPct val="80000"/>
              <a:buFont typeface="Wingdings" panose="05000000000000000000" pitchFamily="2" charset="2"/>
              <a:buChar char="n"/>
              <a:defRPr/>
            </a:pPr>
            <a:r>
              <a:rPr lang="zh-CN" altLang="en-US" sz="3600" b="1" kern="1200" dirty="0">
                <a:solidFill>
                  <a:schemeClr val="bg2"/>
                </a:solidFill>
                <a:latin typeface="+mj-lt"/>
                <a:ea typeface="楷体" panose="02010609060101010101" pitchFamily="49" charset="-122"/>
                <a:cs typeface="+mn-cs"/>
              </a:rPr>
              <a:t>常用空闲块链的链接方法</a:t>
            </a:r>
          </a:p>
          <a:p>
            <a:pPr marL="758825" lvl="2" indent="-358775" eaLnBrk="1" hangingPunct="1">
              <a:lnSpc>
                <a:spcPct val="90000"/>
              </a:lnSpc>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按空闲区大小顺序链接</a:t>
            </a:r>
          </a:p>
          <a:p>
            <a:pPr marL="758825" lvl="2" indent="-358775" eaLnBrk="1" hangingPunct="1">
              <a:lnSpc>
                <a:spcPct val="90000"/>
              </a:lnSpc>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按释放先后顺序链接</a:t>
            </a:r>
          </a:p>
          <a:p>
            <a:pPr marL="758825" lvl="2" indent="-358775" eaLnBrk="1" hangingPunct="1">
              <a:lnSpc>
                <a:spcPct val="90000"/>
              </a:lnSpc>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按成组链接法</a:t>
            </a:r>
          </a:p>
          <a:p>
            <a:pPr eaLnBrk="1" hangingPunct="1">
              <a:lnSpc>
                <a:spcPct val="130000"/>
              </a:lnSpc>
              <a:buFont typeface="Symbol" panose="05050102010706020507" pitchFamily="18" charset="2"/>
              <a:buNone/>
            </a:pPr>
            <a:endParaRPr lang="en-US" altLang="zh-CN" sz="2000" dirty="0" smtClean="0"/>
          </a:p>
        </p:txBody>
      </p:sp>
      <p:sp>
        <p:nvSpPr>
          <p:cNvPr id="801796" name="Rectangle 4"/>
          <p:cNvSpPr>
            <a:spLocks noGrp="1" noChangeArrowheads="1"/>
          </p:cNvSpPr>
          <p:nvPr>
            <p:ph type="title"/>
          </p:nvPr>
        </p:nvSpPr>
        <p:spPr>
          <a:xfrm>
            <a:off x="1187624" y="0"/>
            <a:ext cx="6767513" cy="836613"/>
          </a:xfrm>
        </p:spPr>
        <p:txBody>
          <a:bodyPr/>
          <a:lstStyle/>
          <a:p>
            <a:pPr marL="342900" indent="-342900" algn="ctr" eaLnBrk="1" hangingPunct="1">
              <a:lnSpc>
                <a:spcPct val="90000"/>
              </a:lnSpc>
              <a:spcBef>
                <a:spcPct val="20000"/>
              </a:spcBef>
              <a:buClr>
                <a:srgbClr val="FFABFF"/>
              </a:buClr>
              <a:buSzPct val="90000"/>
              <a:tabLst>
                <a:tab pos="1608138" algn="l"/>
              </a:tabLst>
              <a:defRPr/>
            </a:pPr>
            <a:r>
              <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空闲块管理</a:t>
            </a:r>
            <a:r>
              <a:rPr lang="zh-CN" altLang="en-US" sz="4000" b="1" kern="1200" dirty="0" smtClean="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方法</a:t>
            </a:r>
            <a:endPar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endParaRPr>
          </a:p>
        </p:txBody>
      </p:sp>
      <p:sp>
        <p:nvSpPr>
          <p:cNvPr id="5"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tx1">
              <a:lumMod val="65000"/>
            </a:schemeClr>
          </a:solidFill>
          <a:ln w="9525">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2" name="矩形 1"/>
          <p:cNvSpPr/>
          <p:nvPr/>
        </p:nvSpPr>
        <p:spPr>
          <a:xfrm>
            <a:off x="3452323" y="947286"/>
            <a:ext cx="2238113" cy="646331"/>
          </a:xfrm>
          <a:prstGeom prst="rect">
            <a:avLst/>
          </a:prstGeom>
        </p:spPr>
        <p:txBody>
          <a:bodyPr wrap="none">
            <a:spAutoFit/>
          </a:bodyPr>
          <a:lstStyle/>
          <a:p>
            <a:pPr marL="342900" lvl="2" indent="-342900" algn="ctr" defTabSz="355600" eaLnBrk="1" hangingPunct="1">
              <a:lnSpc>
                <a:spcPct val="90000"/>
              </a:lnSpc>
              <a:buClr>
                <a:schemeClr val="bg1"/>
              </a:buClr>
              <a:buSzPct val="80000"/>
              <a:tabLst>
                <a:tab pos="1608138" algn="l"/>
              </a:tabLst>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空闲块链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5475" name="Rectangle 3"/>
          <p:cNvSpPr>
            <a:spLocks noGrp="1" noChangeArrowheads="1"/>
          </p:cNvSpPr>
          <p:nvPr>
            <p:ph type="body" sz="half" idx="1"/>
          </p:nvPr>
        </p:nvSpPr>
        <p:spPr>
          <a:xfrm>
            <a:off x="0" y="1844824"/>
            <a:ext cx="9036496" cy="3025006"/>
          </a:xfrm>
        </p:spPr>
        <p:txBody>
          <a:bodyPr/>
          <a:lstStyle/>
          <a:p>
            <a:pPr marL="358775" lvl="1" indent="-358775" eaLnBrk="1" hangingPunct="1">
              <a:lnSpc>
                <a:spcPct val="90000"/>
              </a:lnSpc>
              <a:buClrTx/>
              <a:buSzPct val="80000"/>
              <a:buFont typeface="Wingdings" panose="05000000000000000000" pitchFamily="2" charset="2"/>
              <a:buChar char="n"/>
              <a:defRPr/>
            </a:pPr>
            <a:r>
              <a:rPr lang="zh-CN" altLang="en-US" sz="3600" b="1" kern="1200" dirty="0" smtClean="0">
                <a:solidFill>
                  <a:schemeClr val="bg2"/>
                </a:solidFill>
                <a:latin typeface="+mj-lt"/>
                <a:ea typeface="楷体" panose="02010609060101010101" pitchFamily="49" charset="-122"/>
                <a:cs typeface="+mn-cs"/>
              </a:rPr>
              <a:t>内存</a:t>
            </a:r>
            <a:r>
              <a:rPr lang="zh-CN" altLang="en-US" sz="3600" b="1" kern="1200" dirty="0">
                <a:solidFill>
                  <a:schemeClr val="bg2"/>
                </a:solidFill>
                <a:latin typeface="+mj-lt"/>
                <a:ea typeface="楷体" panose="02010609060101010101" pitchFamily="49" charset="-122"/>
                <a:cs typeface="+mn-cs"/>
              </a:rPr>
              <a:t>中为每个文件存取设备建一张位示图</a:t>
            </a:r>
          </a:p>
          <a:p>
            <a:pPr marL="358775" lvl="1" indent="-358775" eaLnBrk="1" hangingPunct="1">
              <a:lnSpc>
                <a:spcPct val="90000"/>
              </a:lnSpc>
              <a:buClrTx/>
              <a:buSzPct val="80000"/>
              <a:buFont typeface="Wingdings" panose="05000000000000000000" pitchFamily="2" charset="2"/>
              <a:buChar char="n"/>
              <a:defRPr/>
            </a:pPr>
            <a:r>
              <a:rPr lang="zh-CN" altLang="en-US" sz="3600" b="1" kern="1200" dirty="0">
                <a:solidFill>
                  <a:schemeClr val="bg2"/>
                </a:solidFill>
                <a:latin typeface="+mj-lt"/>
                <a:ea typeface="楷体" panose="02010609060101010101" pitchFamily="49" charset="-122"/>
                <a:cs typeface="+mn-cs"/>
              </a:rPr>
              <a:t>用一串二进制位反映磁盘空间中分配使用</a:t>
            </a:r>
            <a:r>
              <a:rPr lang="zh-CN" altLang="en-US" sz="3600" b="1" kern="1200" dirty="0" smtClean="0">
                <a:solidFill>
                  <a:schemeClr val="bg2"/>
                </a:solidFill>
                <a:latin typeface="+mj-lt"/>
                <a:ea typeface="楷体" panose="02010609060101010101" pitchFamily="49" charset="-122"/>
                <a:cs typeface="+mn-cs"/>
              </a:rPr>
              <a:t>情况，每个</a:t>
            </a:r>
            <a:r>
              <a:rPr lang="zh-CN" altLang="en-US" sz="3600" b="1" kern="1200" dirty="0">
                <a:solidFill>
                  <a:schemeClr val="bg2"/>
                </a:solidFill>
                <a:latin typeface="+mj-lt"/>
                <a:ea typeface="楷体" panose="02010609060101010101" pitchFamily="49" charset="-122"/>
                <a:cs typeface="+mn-cs"/>
              </a:rPr>
              <a:t>物理块对应一位</a:t>
            </a:r>
          </a:p>
          <a:p>
            <a:pPr lvl="1" eaLnBrk="1" hangingPunct="1">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a:t>
            </a:r>
            <a:r>
              <a:rPr lang="en-US" altLang="zh-CN" sz="3200" b="1" kern="1200" dirty="0">
                <a:solidFill>
                  <a:schemeClr val="bg2"/>
                </a:solidFill>
                <a:latin typeface="+mj-lt"/>
                <a:ea typeface="楷体" panose="02010609060101010101" pitchFamily="49" charset="-122"/>
                <a:cs typeface="+mn-cs"/>
              </a:rPr>
              <a:t>1”</a:t>
            </a:r>
            <a:r>
              <a:rPr lang="zh-CN" altLang="en-US" sz="3200" b="1" kern="1200" dirty="0">
                <a:solidFill>
                  <a:schemeClr val="bg2"/>
                </a:solidFill>
                <a:latin typeface="+mj-lt"/>
                <a:ea typeface="楷体" panose="02010609060101010101" pitchFamily="49" charset="-122"/>
                <a:cs typeface="+mn-cs"/>
              </a:rPr>
              <a:t>：对应的物理块已分配</a:t>
            </a:r>
          </a:p>
          <a:p>
            <a:pPr lvl="1" eaLnBrk="1" hangingPunct="1">
              <a:buClrTx/>
              <a:buSzPct val="80000"/>
              <a:buFont typeface="Wingdings" panose="05000000000000000000" pitchFamily="2" charset="2"/>
              <a:buChar char="n"/>
              <a:defRPr/>
            </a:pPr>
            <a:r>
              <a:rPr lang="zh-CN" altLang="en-US" sz="3200" b="1" kern="1200" dirty="0">
                <a:solidFill>
                  <a:schemeClr val="bg2"/>
                </a:solidFill>
                <a:latin typeface="+mj-lt"/>
                <a:ea typeface="楷体" panose="02010609060101010101" pitchFamily="49" charset="-122"/>
                <a:cs typeface="+mn-cs"/>
              </a:rPr>
              <a:t>“</a:t>
            </a:r>
            <a:r>
              <a:rPr lang="en-US" altLang="zh-CN" sz="3200" b="1" kern="1200" dirty="0">
                <a:solidFill>
                  <a:schemeClr val="bg2"/>
                </a:solidFill>
                <a:latin typeface="+mj-lt"/>
                <a:ea typeface="楷体" panose="02010609060101010101" pitchFamily="49" charset="-122"/>
                <a:cs typeface="+mn-cs"/>
              </a:rPr>
              <a:t>0”</a:t>
            </a:r>
            <a:r>
              <a:rPr lang="zh-CN" altLang="en-US" sz="3200" b="1" kern="1200" dirty="0">
                <a:solidFill>
                  <a:schemeClr val="bg2"/>
                </a:solidFill>
                <a:latin typeface="+mj-lt"/>
                <a:ea typeface="楷体" panose="02010609060101010101" pitchFamily="49" charset="-122"/>
                <a:cs typeface="+mn-cs"/>
              </a:rPr>
              <a:t>：对应的块未分配</a:t>
            </a:r>
          </a:p>
        </p:txBody>
      </p:sp>
      <p:sp>
        <p:nvSpPr>
          <p:cNvPr id="745477" name="Rectangle 5"/>
          <p:cNvSpPr>
            <a:spLocks noGrp="1" noChangeArrowheads="1"/>
          </p:cNvSpPr>
          <p:nvPr>
            <p:ph type="title"/>
          </p:nvPr>
        </p:nvSpPr>
        <p:spPr>
          <a:xfrm>
            <a:off x="1043608" y="-57873"/>
            <a:ext cx="7064375" cy="836613"/>
          </a:xfrm>
        </p:spPr>
        <p:txBody>
          <a:bodyPr/>
          <a:lstStyle/>
          <a:p>
            <a:pPr marL="342900" indent="-342900" algn="ctr" eaLnBrk="1" hangingPunct="1">
              <a:lnSpc>
                <a:spcPct val="90000"/>
              </a:lnSpc>
              <a:spcBef>
                <a:spcPct val="20000"/>
              </a:spcBef>
              <a:buClr>
                <a:srgbClr val="FFABFF"/>
              </a:buClr>
              <a:buSzPct val="90000"/>
              <a:tabLst>
                <a:tab pos="1608138" algn="l"/>
              </a:tabLst>
              <a:defRPr/>
            </a:pPr>
            <a:r>
              <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空闲块管理</a:t>
            </a:r>
            <a:r>
              <a:rPr lang="zh-CN" altLang="en-US" sz="4000" b="1" kern="1200" dirty="0" smtClean="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rPr>
              <a:t>方法</a:t>
            </a:r>
            <a:endParaRPr lang="zh-CN" altLang="en-US" sz="4000" b="1" kern="1200" dirty="0">
              <a:solidFill>
                <a:srgbClr val="B2622C"/>
              </a:solidFill>
              <a:effectLst>
                <a:outerShdw blurRad="38100" dist="38100" dir="2700000" algn="tl">
                  <a:srgbClr val="000000"/>
                </a:outerShdw>
              </a:effectLst>
              <a:latin typeface="宋体" panose="02010600030101010101" pitchFamily="2" charset="-122"/>
              <a:ea typeface="楷体_GB2312" pitchFamily="49" charset="-122"/>
              <a:cs typeface="+mn-cs"/>
            </a:endParaRPr>
          </a:p>
        </p:txBody>
      </p:sp>
      <p:sp>
        <p:nvSpPr>
          <p:cNvPr id="5" name="AutoShape 4">
            <a:hlinkClick r:id="rId3" action="ppaction://hlinksldjump" highlightClick="1"/>
          </p:cNvPr>
          <p:cNvSpPr>
            <a:spLocks noChangeArrowheads="1"/>
          </p:cNvSpPr>
          <p:nvPr/>
        </p:nvSpPr>
        <p:spPr bwMode="auto">
          <a:xfrm>
            <a:off x="8763000" y="6477000"/>
            <a:ext cx="381000" cy="381000"/>
          </a:xfrm>
          <a:prstGeom prst="actionButtonHome">
            <a:avLst/>
          </a:prstGeom>
          <a:solidFill>
            <a:schemeClr val="tx1">
              <a:lumMod val="65000"/>
            </a:schemeClr>
          </a:solidFill>
          <a:ln w="12700" cap="sq">
            <a:noFill/>
            <a:miter lim="800000"/>
            <a:headEnd type="none" w="sm" len="sm"/>
            <a:tailEnd type="none" w="sm" len="sm"/>
          </a:ln>
        </p:spPr>
        <p:txBody>
          <a:bodyPr wrap="none" anchor="ctr"/>
          <a:lstStyle>
            <a:lvl1pPr>
              <a:spcBef>
                <a:spcPct val="20000"/>
              </a:spcBef>
              <a:buClr>
                <a:srgbClr val="FFABFF"/>
              </a:buClr>
              <a:buSzPct val="90000"/>
              <a:buFont typeface="Symbol" panose="05050102010706020507" pitchFamily="18" charset="2"/>
              <a:buChar char="¨"/>
              <a:defRPr kumimoji="1" sz="3200" b="1">
                <a:solidFill>
                  <a:srgbClr val="FFCCFF"/>
                </a:solidFill>
                <a:latin typeface="Times New Roman" panose="02020603050405020304" pitchFamily="18" charset="0"/>
                <a:ea typeface="楷体_GB2312" pitchFamily="49" charset="-122"/>
              </a:defRPr>
            </a:lvl1pPr>
            <a:lvl2pPr marL="742950" indent="-285750">
              <a:spcBef>
                <a:spcPct val="20000"/>
              </a:spcBef>
              <a:buChar char="–"/>
              <a:defRPr kumimoji="1" sz="2800" b="1">
                <a:solidFill>
                  <a:srgbClr val="FFFF00"/>
                </a:solidFill>
                <a:latin typeface="Times New Roman" panose="02020603050405020304" pitchFamily="18" charset="0"/>
                <a:ea typeface="楷体_GB2312" pitchFamily="49" charset="-122"/>
              </a:defRPr>
            </a:lvl2pPr>
            <a:lvl3pPr marL="1143000" indent="-228600">
              <a:spcBef>
                <a:spcPct val="20000"/>
              </a:spcBef>
              <a:buChar char="•"/>
              <a:defRPr kumimoji="1" sz="2400" b="1">
                <a:solidFill>
                  <a:schemeClr val="tx1"/>
                </a:solidFill>
                <a:latin typeface="Times New Roman" panose="02020603050405020304" pitchFamily="18" charset="0"/>
                <a:ea typeface="楷体_GB2312" pitchFamily="49" charset="-122"/>
              </a:defRPr>
            </a:lvl3pPr>
            <a:lvl4pPr marL="1600200" indent="-228600">
              <a:spcBef>
                <a:spcPct val="20000"/>
              </a:spcBef>
              <a:buChar char="–"/>
              <a:defRPr kumimoji="1" sz="2000" b="1">
                <a:solidFill>
                  <a:schemeClr val="tx1"/>
                </a:solidFill>
                <a:latin typeface="Times New Roman" panose="02020603050405020304" pitchFamily="18" charset="0"/>
                <a:ea typeface="楷体_GB2312"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400">
              <a:solidFill>
                <a:schemeClr val="tx1"/>
              </a:solidFill>
              <a:ea typeface="宋体" panose="02010600030101010101" pitchFamily="2" charset="-122"/>
            </a:endParaRPr>
          </a:p>
        </p:txBody>
      </p:sp>
      <p:sp>
        <p:nvSpPr>
          <p:cNvPr id="2" name="矩形 1"/>
          <p:cNvSpPr/>
          <p:nvPr/>
        </p:nvSpPr>
        <p:spPr>
          <a:xfrm>
            <a:off x="3548240" y="827981"/>
            <a:ext cx="2241319" cy="646331"/>
          </a:xfrm>
          <a:prstGeom prst="rect">
            <a:avLst/>
          </a:prstGeom>
        </p:spPr>
        <p:txBody>
          <a:bodyPr wrap="none">
            <a:spAutoFit/>
          </a:bodyPr>
          <a:lstStyle/>
          <a:p>
            <a:pPr marL="342900" lvl="2" indent="-342900" algn="ctr" defTabSz="355600" eaLnBrk="1" hangingPunct="1">
              <a:lnSpc>
                <a:spcPct val="90000"/>
              </a:lnSpc>
              <a:buClr>
                <a:schemeClr val="bg1"/>
              </a:buClr>
              <a:buSzPct val="80000"/>
              <a:tabLst>
                <a:tab pos="1608138" algn="l"/>
              </a:tabLst>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位示图法</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45475">
                                            <p:txEl>
                                              <p:pRg st="0" end="0"/>
                                            </p:txEl>
                                          </p:spTgt>
                                        </p:tgtEl>
                                        <p:attrNameLst>
                                          <p:attrName>style.visibility</p:attrName>
                                        </p:attrNameLst>
                                      </p:cBhvr>
                                      <p:to>
                                        <p:strVal val="visible"/>
                                      </p:to>
                                    </p:set>
                                    <p:animEffect transition="in" filter="blinds(horizontal)">
                                      <p:cBhvr>
                                        <p:cTn id="7" dur="500"/>
                                        <p:tgtEl>
                                          <p:spTgt spid="7454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45475">
                                            <p:txEl>
                                              <p:pRg st="1" end="1"/>
                                            </p:txEl>
                                          </p:spTgt>
                                        </p:tgtEl>
                                        <p:attrNameLst>
                                          <p:attrName>style.visibility</p:attrName>
                                        </p:attrNameLst>
                                      </p:cBhvr>
                                      <p:to>
                                        <p:strVal val="visible"/>
                                      </p:to>
                                    </p:set>
                                    <p:animEffect transition="in" filter="blinds(horizontal)">
                                      <p:cBhvr>
                                        <p:cTn id="12" dur="500"/>
                                        <p:tgtEl>
                                          <p:spTgt spid="745475">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45475">
                                            <p:txEl>
                                              <p:pRg st="2" end="2"/>
                                            </p:txEl>
                                          </p:spTgt>
                                        </p:tgtEl>
                                        <p:attrNameLst>
                                          <p:attrName>style.visibility</p:attrName>
                                        </p:attrNameLst>
                                      </p:cBhvr>
                                      <p:to>
                                        <p:strVal val="visible"/>
                                      </p:to>
                                    </p:set>
                                    <p:animEffect transition="in" filter="blinds(horizontal)">
                                      <p:cBhvr>
                                        <p:cTn id="15" dur="500"/>
                                        <p:tgtEl>
                                          <p:spTgt spid="745475">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45475">
                                            <p:txEl>
                                              <p:pRg st="3" end="3"/>
                                            </p:txEl>
                                          </p:spTgt>
                                        </p:tgtEl>
                                        <p:attrNameLst>
                                          <p:attrName>style.visibility</p:attrName>
                                        </p:attrNameLst>
                                      </p:cBhvr>
                                      <p:to>
                                        <p:strVal val="visible"/>
                                      </p:to>
                                    </p:set>
                                    <p:animEffect transition="in" filter="blinds(horizontal)">
                                      <p:cBhvr>
                                        <p:cTn id="18" dur="500"/>
                                        <p:tgtEl>
                                          <p:spTgt spid="745475">
                                            <p:txEl>
                                              <p:pRg st="3" end="3"/>
                                            </p:txEl>
                                          </p:spTgt>
                                        </p:tgtEl>
                                      </p:cBhvr>
                                    </p:animEffect>
                                  </p:childTnLst>
                                </p:cTn>
                              </p:par>
                            </p:childTnLst>
                          </p:cTn>
                        </p:par>
                        <p:par>
                          <p:cTn id="19" fill="hold">
                            <p:stCondLst>
                              <p:cond delay="500"/>
                            </p:stCondLst>
                            <p:childTnLst>
                              <p:par>
                                <p:cTn id="20" presetID="2" presetClass="entr" presetSubtype="8"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0-#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Azure">
  <a:themeElements>
    <a:clrScheme name="">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FF66FF"/>
      </a:hlink>
      <a:folHlink>
        <a:srgbClr val="6699FF"/>
      </a:folHlink>
    </a:clrScheme>
    <a:fontScheme name="Azur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lnDef>
  </a:objectDefaults>
  <a:extraClrSchemeLst>
    <a:extraClrScheme>
      <a:clrScheme name="Azure 1">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6600CC"/>
        </a:hlink>
        <a:folHlink>
          <a:srgbClr val="6699FF"/>
        </a:folHlink>
      </a:clrScheme>
      <a:clrMap bg1="dk2" tx1="lt1" bg2="dk1" tx2="lt2" accent1="accent1" accent2="accent2" accent3="accent3" accent4="accent4" accent5="accent5" accent6="accent6" hlink="hlink" folHlink="folHlink"/>
    </a:extraClrScheme>
    <a:extraClrScheme>
      <a:clrScheme name="Azure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Azure 3">
        <a:dk1>
          <a:srgbClr val="000000"/>
        </a:dk1>
        <a:lt1>
          <a:srgbClr val="FFFFFF"/>
        </a:lt1>
        <a:dk2>
          <a:srgbClr val="000000"/>
        </a:dk2>
        <a:lt2>
          <a:srgbClr val="CBCBCB"/>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D:\MSOffice\Template\Presentation Designs\Azure.pot</Template>
  <TotalTime>560467</TotalTime>
  <Words>3775</Words>
  <Application>Microsoft Office PowerPoint</Application>
  <PresentationFormat>全屏显示(4:3)</PresentationFormat>
  <Paragraphs>449</Paragraphs>
  <Slides>50</Slides>
  <Notes>32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50</vt:i4>
      </vt:variant>
    </vt:vector>
  </HeadingPairs>
  <TitlesOfParts>
    <vt:vector size="64" baseType="lpstr">
      <vt:lpstr>Monotype Sorts</vt:lpstr>
      <vt:lpstr>MS PGothic</vt:lpstr>
      <vt:lpstr>方正舒体</vt:lpstr>
      <vt:lpstr>楷体</vt:lpstr>
      <vt:lpstr>楷体_GB2312</vt:lpstr>
      <vt:lpstr>隶书</vt:lpstr>
      <vt:lpstr>宋体</vt:lpstr>
      <vt:lpstr>Arial</vt:lpstr>
      <vt:lpstr>Comic Sans MS</vt:lpstr>
      <vt:lpstr>Symbol</vt:lpstr>
      <vt:lpstr>Tahoma</vt:lpstr>
      <vt:lpstr>Times New Roman</vt:lpstr>
      <vt:lpstr>Wingdings</vt:lpstr>
      <vt:lpstr>Azure</vt:lpstr>
      <vt:lpstr>PowerPoint 演示文稿</vt:lpstr>
      <vt:lpstr>文件系统</vt:lpstr>
      <vt:lpstr>文件系统模型</vt:lpstr>
      <vt:lpstr>PowerPoint 演示文稿</vt:lpstr>
      <vt:lpstr>PowerPoint 演示文稿</vt:lpstr>
      <vt:lpstr>PowerPoint 演示文稿</vt:lpstr>
      <vt:lpstr>文件分类的目的</vt:lpstr>
      <vt:lpstr>9.2 文件的逻辑结构与存取方法 </vt:lpstr>
      <vt:lpstr>PowerPoint 演示文稿</vt:lpstr>
      <vt:lpstr>文件的逻辑结构</vt:lpstr>
      <vt:lpstr>文件的逻辑结构</vt:lpstr>
      <vt:lpstr>无结构（流式）文件</vt:lpstr>
      <vt:lpstr>PowerPoint 演示文稿</vt:lpstr>
      <vt:lpstr>PowerPoint 演示文稿</vt:lpstr>
      <vt:lpstr>9.2.3  存取方法</vt:lpstr>
      <vt:lpstr>PowerPoint 演示文稿</vt:lpstr>
      <vt:lpstr>9.3 文件的物理结构与存储设备 </vt:lpstr>
      <vt:lpstr>物理块和逻辑块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9.3.2  文件存储设备</vt:lpstr>
      <vt:lpstr>直接存取设备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9.4  文件目录管理</vt:lpstr>
      <vt:lpstr>9.4.1 文件的组成</vt:lpstr>
      <vt:lpstr>PowerPoint 演示文稿</vt:lpstr>
      <vt:lpstr>9.4.3 目录结构</vt:lpstr>
      <vt:lpstr>两级目录结构</vt:lpstr>
      <vt:lpstr>两级目录结构</vt:lpstr>
      <vt:lpstr>两级目录结构</vt:lpstr>
      <vt:lpstr>树型目录结构（多级目录）</vt:lpstr>
      <vt:lpstr>PowerPoint 演示文稿</vt:lpstr>
      <vt:lpstr>9.5 文件存储空间管理 </vt:lpstr>
      <vt:lpstr>空闲块管理方法</vt:lpstr>
      <vt:lpstr>空闲块管理方法</vt:lpstr>
      <vt:lpstr>空闲块管理方法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subject>第3章</dc:subject>
  <dc:creator>史一民</dc:creator>
  <cp:keywords/>
  <cp:lastModifiedBy>Dell</cp:lastModifiedBy>
  <cp:revision>3495</cp:revision>
  <dcterms:created xsi:type="dcterms:W3CDTF">1995-06-17T23:31:02Z</dcterms:created>
  <dcterms:modified xsi:type="dcterms:W3CDTF">2024-12-04T07:23:26Z</dcterms:modified>
</cp:coreProperties>
</file>