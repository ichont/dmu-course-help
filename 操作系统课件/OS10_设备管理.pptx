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Lst>
  <p:notesMasterIdLst>
    <p:notesMasterId r:id="rId41"/>
  </p:notesMasterIdLst>
  <p:handoutMasterIdLst>
    <p:handoutMasterId r:id="rId42"/>
  </p:handoutMasterIdLst>
  <p:sldIdLst>
    <p:sldId id="256" r:id="rId2"/>
    <p:sldId id="505" r:id="rId3"/>
    <p:sldId id="646" r:id="rId4"/>
    <p:sldId id="645" r:id="rId5"/>
    <p:sldId id="708" r:id="rId6"/>
    <p:sldId id="740" r:id="rId7"/>
    <p:sldId id="647" r:id="rId8"/>
    <p:sldId id="649" r:id="rId9"/>
    <p:sldId id="662" r:id="rId10"/>
    <p:sldId id="710" r:id="rId11"/>
    <p:sldId id="664" r:id="rId12"/>
    <p:sldId id="650" r:id="rId13"/>
    <p:sldId id="651" r:id="rId14"/>
    <p:sldId id="652" r:id="rId15"/>
    <p:sldId id="719" r:id="rId16"/>
    <p:sldId id="653" r:id="rId17"/>
    <p:sldId id="654" r:id="rId18"/>
    <p:sldId id="655" r:id="rId19"/>
    <p:sldId id="711" r:id="rId20"/>
    <p:sldId id="657" r:id="rId21"/>
    <p:sldId id="666" r:id="rId22"/>
    <p:sldId id="712" r:id="rId23"/>
    <p:sldId id="677" r:id="rId24"/>
    <p:sldId id="707" r:id="rId25"/>
    <p:sldId id="678" r:id="rId26"/>
    <p:sldId id="680" r:id="rId27"/>
    <p:sldId id="720" r:id="rId28"/>
    <p:sldId id="738" r:id="rId29"/>
    <p:sldId id="734" r:id="rId30"/>
    <p:sldId id="739" r:id="rId31"/>
    <p:sldId id="721" r:id="rId32"/>
    <p:sldId id="722" r:id="rId33"/>
    <p:sldId id="723" r:id="rId34"/>
    <p:sldId id="724" r:id="rId35"/>
    <p:sldId id="725" r:id="rId36"/>
    <p:sldId id="726" r:id="rId37"/>
    <p:sldId id="727" r:id="rId38"/>
    <p:sldId id="728" r:id="rId39"/>
    <p:sldId id="729" r:id="rId40"/>
  </p:sldIdLst>
  <p:sldSz cx="9144000" cy="6858000" type="screen4x3"/>
  <p:notesSz cx="7099300" cy="10234613"/>
  <p:defaultTextStyle>
    <a:defPPr>
      <a:defRPr lang="zh-CN"/>
    </a:defPPr>
    <a:lvl1pPr algn="l" rtl="0" eaLnBrk="0" fontAlgn="base" hangingPunct="0">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00"/>
    <a:srgbClr val="C31F1B"/>
    <a:srgbClr val="EC7774"/>
    <a:srgbClr val="FA7166"/>
    <a:srgbClr val="62FECE"/>
    <a:srgbClr val="E7FFFF"/>
    <a:srgbClr val="FFCCFF"/>
    <a:srgbClr val="C7F7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218" autoAdjust="0"/>
  </p:normalViewPr>
  <p:slideViewPr>
    <p:cSldViewPr>
      <p:cViewPr varScale="1">
        <p:scale>
          <a:sx n="86" d="100"/>
          <a:sy n="86" d="100"/>
        </p:scale>
        <p:origin x="816" y="8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75" d="100"/>
        <a:sy n="75" d="100"/>
      </p:scale>
      <p:origin x="0" y="2304"/>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b="0">
                <a:ea typeface="隶书" pitchFamily="49" charset="-122"/>
              </a:defRPr>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b="0">
                <a:ea typeface="隶书" pitchFamily="49" charset="-122"/>
              </a:defRPr>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b="0">
                <a:ea typeface="隶书" pitchFamily="49" charset="-122"/>
              </a:defRPr>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b="0">
                <a:ea typeface="隶书" panose="02010509060101010101" pitchFamily="49" charset="-122"/>
              </a:defRPr>
            </a:lvl1pPr>
          </a:lstStyle>
          <a:p>
            <a:pPr>
              <a:defRPr/>
            </a:pPr>
            <a:fld id="{2C36D266-8F84-4BC6-A553-709194E433B3}" type="slidenum">
              <a:rPr lang="en-US" altLang="zh-CN"/>
              <a:pPr>
                <a:defRPr/>
              </a:pPr>
              <a:t>‹#›</a:t>
            </a:fld>
            <a:endParaRPr lang="en-US" altLang="zh-CN"/>
          </a:p>
        </p:txBody>
      </p:sp>
    </p:spTree>
    <p:extLst>
      <p:ext uri="{BB962C8B-B14F-4D97-AF65-F5344CB8AC3E}">
        <p14:creationId xmlns:p14="http://schemas.microsoft.com/office/powerpoint/2010/main" val="27426505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b="0">
                <a:ea typeface="隶书" pitchFamily="49" charset="-122"/>
              </a:defRPr>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b="0">
                <a:ea typeface="隶书" pitchFamily="49"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b="0">
                <a:ea typeface="隶书" pitchFamily="49"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b="0">
                <a:ea typeface="隶书" panose="02010509060101010101" pitchFamily="49" charset="-122"/>
              </a:defRPr>
            </a:lvl1pPr>
          </a:lstStyle>
          <a:p>
            <a:pPr>
              <a:defRPr/>
            </a:pPr>
            <a:fld id="{621A9BA6-7ADB-44DC-BF4B-EC37A01D3B7F}" type="slidenum">
              <a:rPr lang="en-US" altLang="zh-CN"/>
              <a:pPr>
                <a:defRPr/>
              </a:pPr>
              <a:t>‹#›</a:t>
            </a:fld>
            <a:endParaRPr lang="en-US" altLang="zh-CN"/>
          </a:p>
        </p:txBody>
      </p:sp>
    </p:spTree>
    <p:extLst>
      <p:ext uri="{BB962C8B-B14F-4D97-AF65-F5344CB8AC3E}">
        <p14:creationId xmlns:p14="http://schemas.microsoft.com/office/powerpoint/2010/main" val="29465091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AF26CE1-2363-4DE8-A3ED-163108F1278B}" type="slidenum">
              <a:rPr lang="en-US" altLang="zh-CN" sz="1300" smtClean="0">
                <a:ea typeface="隶书" panose="02010509060101010101" pitchFamily="49" charset="-122"/>
              </a:rPr>
              <a:pPr>
                <a:spcBef>
                  <a:spcPct val="0"/>
                </a:spcBef>
              </a:pPr>
              <a:t>1</a:t>
            </a:fld>
            <a:endParaRPr lang="en-US" altLang="zh-CN" sz="1300" smtClean="0">
              <a:ea typeface="隶书" panose="02010509060101010101" pitchFamily="49" charset="-122"/>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smtClean="0"/>
          </a:p>
        </p:txBody>
      </p:sp>
    </p:spTree>
    <p:extLst>
      <p:ext uri="{BB962C8B-B14F-4D97-AF65-F5344CB8AC3E}">
        <p14:creationId xmlns:p14="http://schemas.microsoft.com/office/powerpoint/2010/main" val="812955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4E5F9EA-8F6D-4EF5-8940-1821417EEBBB}" type="slidenum">
              <a:rPr lang="en-US" altLang="zh-CN" sz="1300" smtClean="0">
                <a:ea typeface="隶书" panose="02010509060101010101" pitchFamily="49" charset="-122"/>
              </a:rPr>
              <a:pPr>
                <a:spcBef>
                  <a:spcPct val="0"/>
                </a:spcBef>
              </a:pPr>
              <a:t>5</a:t>
            </a:fld>
            <a:endParaRPr lang="en-US" altLang="zh-CN" sz="1300" smtClean="0">
              <a:ea typeface="隶书" panose="02010509060101010101" pitchFamily="49" charset="-122"/>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b="1" smtClean="0">
                <a:solidFill>
                  <a:schemeClr val="bg2"/>
                </a:solidFill>
              </a:rPr>
              <a:t>用大容量的共享设备磁盘和软件技术来模拟独享设备的工作；</a:t>
            </a:r>
          </a:p>
          <a:p>
            <a:pPr eaLnBrk="1" hangingPunct="1"/>
            <a:r>
              <a:rPr lang="zh-CN" altLang="en-US" b="1" smtClean="0">
                <a:solidFill>
                  <a:schemeClr val="bg2"/>
                </a:solidFill>
              </a:rPr>
              <a:t>使得用户认为获得了独占的输入</a:t>
            </a:r>
            <a:r>
              <a:rPr lang="en-US" altLang="zh-CN" b="1" smtClean="0">
                <a:solidFill>
                  <a:schemeClr val="bg2"/>
                </a:solidFill>
              </a:rPr>
              <a:t>/</a:t>
            </a:r>
            <a:r>
              <a:rPr lang="zh-CN" altLang="en-US" b="1" smtClean="0">
                <a:solidFill>
                  <a:schemeClr val="bg2"/>
                </a:solidFill>
              </a:rPr>
              <a:t>输出设备，并且它们的传输速度与磁盘一样快。 </a:t>
            </a:r>
          </a:p>
          <a:p>
            <a:pPr eaLnBrk="1" hangingPunct="1"/>
            <a:endParaRPr lang="en-US" altLang="zh-CN" smtClean="0"/>
          </a:p>
        </p:txBody>
      </p:sp>
    </p:spTree>
    <p:extLst>
      <p:ext uri="{BB962C8B-B14F-4D97-AF65-F5344CB8AC3E}">
        <p14:creationId xmlns:p14="http://schemas.microsoft.com/office/powerpoint/2010/main" val="1402849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1AF2CB0-1D99-4EA5-92B4-55C10A2A476A}" type="slidenum">
              <a:rPr lang="en-US" altLang="zh-CN" sz="1300" smtClean="0">
                <a:ea typeface="隶书" panose="02010509060101010101" pitchFamily="49" charset="-122"/>
              </a:rPr>
              <a:pPr>
                <a:spcBef>
                  <a:spcPct val="0"/>
                </a:spcBef>
              </a:pPr>
              <a:t>8</a:t>
            </a:fld>
            <a:endParaRPr lang="en-US" altLang="zh-CN" sz="1300" smtClean="0">
              <a:ea typeface="隶书" panose="02010509060101010101" pitchFamily="49" charset="-122"/>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b="1" smtClean="0">
                <a:solidFill>
                  <a:srgbClr val="FFFF00"/>
                </a:solidFill>
                <a:latin typeface="楷体_GB2312" pitchFamily="49" charset="-122"/>
                <a:ea typeface="楷体_GB2312" pitchFamily="49" charset="-122"/>
              </a:rPr>
              <a:t>中断控制方式、 </a:t>
            </a:r>
            <a:r>
              <a:rPr lang="en-US" altLang="zh-CN" sz="1400" b="1" smtClean="0">
                <a:solidFill>
                  <a:srgbClr val="FFFF00"/>
                </a:solidFill>
                <a:latin typeface="楷体_GB2312" pitchFamily="49" charset="-122"/>
                <a:ea typeface="楷体_GB2312" pitchFamily="49" charset="-122"/>
              </a:rPr>
              <a:t>DMA</a:t>
            </a:r>
            <a:r>
              <a:rPr lang="zh-CN" altLang="en-US" sz="1400" b="1" smtClean="0">
                <a:solidFill>
                  <a:srgbClr val="FFFF00"/>
                </a:solidFill>
                <a:latin typeface="楷体_GB2312" pitchFamily="49" charset="-122"/>
                <a:ea typeface="楷体_GB2312" pitchFamily="49" charset="-122"/>
              </a:rPr>
              <a:t>：微机</a:t>
            </a:r>
          </a:p>
          <a:p>
            <a:pPr eaLnBrk="1" hangingPunct="1"/>
            <a:r>
              <a:rPr lang="zh-CN" altLang="en-US" sz="1400" b="1" smtClean="0">
                <a:solidFill>
                  <a:srgbClr val="FFFF00"/>
                </a:solidFill>
                <a:latin typeface="楷体_GB2312" pitchFamily="49" charset="-122"/>
                <a:ea typeface="楷体_GB2312" pitchFamily="49" charset="-122"/>
              </a:rPr>
              <a:t>通道方式：专用计算机、大型机</a:t>
            </a:r>
          </a:p>
        </p:txBody>
      </p:sp>
    </p:spTree>
    <p:extLst>
      <p:ext uri="{BB962C8B-B14F-4D97-AF65-F5344CB8AC3E}">
        <p14:creationId xmlns:p14="http://schemas.microsoft.com/office/powerpoint/2010/main" val="3096702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sz="4000" smtClean="0"/>
          </a:p>
        </p:txBody>
      </p:sp>
      <p:sp>
        <p:nvSpPr>
          <p:cNvPr id="194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8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fld id="{69AC7540-7765-4628-A8F3-CB69A1BBE000}" type="slidenum">
              <a:rPr lang="en-US" altLang="zh-CN" sz="1300" b="0" smtClean="0">
                <a:ea typeface="隶书" panose="02010509060101010101" pitchFamily="49" charset="-122"/>
              </a:rPr>
              <a:pPr/>
              <a:t>9</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1836244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2EDA35F-E518-4E4B-A0FE-92AA145C00AD}" type="slidenum">
              <a:rPr lang="en-US" altLang="zh-CN" sz="1300" smtClean="0">
                <a:ea typeface="隶书" panose="02010509060101010101" pitchFamily="49" charset="-122"/>
              </a:rPr>
              <a:pPr>
                <a:spcBef>
                  <a:spcPct val="0"/>
                </a:spcBef>
              </a:pPr>
              <a:t>15</a:t>
            </a:fld>
            <a:endParaRPr lang="en-US" altLang="zh-CN" sz="1300" smtClean="0">
              <a:ea typeface="隶书" panose="02010509060101010101" pitchFamily="49" charset="-122"/>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它以字（节）为单位进行数据传送</a:t>
            </a:r>
            <a:endParaRPr lang="en-US" altLang="zh-CN" smtClean="0"/>
          </a:p>
        </p:txBody>
      </p:sp>
    </p:spTree>
    <p:extLst>
      <p:ext uri="{BB962C8B-B14F-4D97-AF65-F5344CB8AC3E}">
        <p14:creationId xmlns:p14="http://schemas.microsoft.com/office/powerpoint/2010/main" val="3703619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smtClean="0"/>
          </a:p>
        </p:txBody>
      </p:sp>
      <p:sp>
        <p:nvSpPr>
          <p:cNvPr id="3072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8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fld id="{04159421-6936-46AB-88CF-0315C8E765CD}" type="slidenum">
              <a:rPr lang="en-US" altLang="zh-CN" sz="1300" b="0" smtClean="0">
                <a:ea typeface="隶书" panose="02010509060101010101" pitchFamily="49" charset="-122"/>
              </a:rPr>
              <a:pPr/>
              <a:t>18</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1411474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0574F09-A1A7-4EF9-934F-4DECBF4EDD0C}" type="slidenum">
              <a:rPr lang="en-US" altLang="zh-CN" sz="1300" smtClean="0">
                <a:ea typeface="隶书" panose="02010509060101010101" pitchFamily="49" charset="-122"/>
              </a:rPr>
              <a:pPr>
                <a:spcBef>
                  <a:spcPct val="0"/>
                </a:spcBef>
              </a:pPr>
              <a:t>19</a:t>
            </a:fld>
            <a:endParaRPr lang="en-US" altLang="zh-CN" sz="1300" smtClean="0">
              <a:ea typeface="隶书" panose="02010509060101010101" pitchFamily="49" charset="-122"/>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lnSpc>
                <a:spcPct val="130000"/>
              </a:lnSpc>
            </a:pPr>
            <a:endParaRPr lang="en-US" altLang="zh-CN" sz="1400" dirty="0" smtClean="0"/>
          </a:p>
          <a:p>
            <a:pPr eaLnBrk="1" hangingPunct="1"/>
            <a:r>
              <a:rPr lang="en-US" altLang="zh-CN" dirty="0" smtClean="0"/>
              <a:t>DMA</a:t>
            </a:r>
            <a:r>
              <a:rPr lang="zh-CN" altLang="en-US" dirty="0" smtClean="0"/>
              <a:t>方式起到代理</a:t>
            </a:r>
            <a:r>
              <a:rPr lang="en-US" altLang="zh-CN" dirty="0" err="1" smtClean="0"/>
              <a:t>cpu</a:t>
            </a:r>
            <a:r>
              <a:rPr lang="zh-CN" altLang="en-US" dirty="0" smtClean="0"/>
              <a:t>的功能，较之中断驱动方式，又是成百倍地减少了</a:t>
            </a:r>
            <a:r>
              <a:rPr lang="en-US" altLang="zh-CN" dirty="0" smtClean="0"/>
              <a:t>CPU</a:t>
            </a:r>
            <a:r>
              <a:rPr lang="zh-CN" altLang="en-US" dirty="0" smtClean="0"/>
              <a:t>对 </a:t>
            </a:r>
            <a:r>
              <a:rPr lang="en-US" altLang="zh-CN" dirty="0" smtClean="0"/>
              <a:t>I/O</a:t>
            </a:r>
            <a:r>
              <a:rPr lang="zh-CN" altLang="en-US" dirty="0" smtClean="0"/>
              <a:t>控制的干预，进一步提高了</a:t>
            </a:r>
            <a:r>
              <a:rPr lang="en-US" altLang="zh-CN" dirty="0" smtClean="0"/>
              <a:t>CPU</a:t>
            </a:r>
            <a:r>
              <a:rPr lang="zh-CN" altLang="en-US" dirty="0" smtClean="0"/>
              <a:t>与</a:t>
            </a:r>
            <a:r>
              <a:rPr lang="en-US" altLang="zh-CN" dirty="0" smtClean="0"/>
              <a:t>I/O</a:t>
            </a:r>
            <a:r>
              <a:rPr lang="zh-CN" altLang="en-US" dirty="0" smtClean="0"/>
              <a:t>设备的并行操作程度</a:t>
            </a:r>
            <a:endParaRPr lang="en-US" altLang="zh-CN" dirty="0" smtClean="0"/>
          </a:p>
        </p:txBody>
      </p:sp>
    </p:spTree>
    <p:extLst>
      <p:ext uri="{BB962C8B-B14F-4D97-AF65-F5344CB8AC3E}">
        <p14:creationId xmlns:p14="http://schemas.microsoft.com/office/powerpoint/2010/main" val="629682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smtClean="0"/>
              <a:t>虽然 </a:t>
            </a:r>
            <a:r>
              <a:rPr lang="en-US" altLang="zh-CN" smtClean="0"/>
              <a:t>DMA</a:t>
            </a:r>
            <a:r>
              <a:rPr lang="zh-CN" altLang="en-US" smtClean="0"/>
              <a:t>方式比中断驱动方式已显著地减少了</a:t>
            </a:r>
            <a:r>
              <a:rPr lang="en-US" altLang="zh-CN" smtClean="0"/>
              <a:t>CPU</a:t>
            </a:r>
            <a:r>
              <a:rPr lang="zh-CN" altLang="en-US" smtClean="0"/>
              <a:t>的干预，即由以字（节）为单位的干预减少到以数据块为单位的干预。但是</a:t>
            </a:r>
            <a:r>
              <a:rPr lang="en-US" altLang="zh-CN" smtClean="0"/>
              <a:t>CPU</a:t>
            </a:r>
            <a:r>
              <a:rPr lang="zh-CN" altLang="en-US" smtClean="0"/>
              <a:t>每发出一条</a:t>
            </a:r>
            <a:r>
              <a:rPr lang="en-US" altLang="zh-CN" smtClean="0"/>
              <a:t>I/O</a:t>
            </a:r>
            <a:r>
              <a:rPr lang="zh-CN" altLang="en-US" smtClean="0"/>
              <a:t>指令，也只能去读（或写）一个连续的数据块。而当我们需要一次去读多个离散的数据块且将它们分别传送到不同的内存区域，或者相反时，则需由</a:t>
            </a:r>
            <a:r>
              <a:rPr lang="en-US" altLang="zh-CN" smtClean="0"/>
              <a:t>CPU</a:t>
            </a:r>
            <a:r>
              <a:rPr lang="zh-CN" altLang="en-US" smtClean="0"/>
              <a:t>分别发出多条</a:t>
            </a:r>
            <a:r>
              <a:rPr lang="en-US" altLang="zh-CN" smtClean="0"/>
              <a:t>I/O</a:t>
            </a:r>
            <a:r>
              <a:rPr lang="zh-CN" altLang="en-US" smtClean="0"/>
              <a:t>指令及进行多次中断处理，才能完成。</a:t>
            </a:r>
          </a:p>
        </p:txBody>
      </p:sp>
      <p:sp>
        <p:nvSpPr>
          <p:cNvPr id="348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8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8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8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8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8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fld id="{2269C11E-125C-49A3-9196-BD991E57C88B}" type="slidenum">
              <a:rPr lang="en-US" altLang="zh-CN" sz="1300" b="0" smtClean="0">
                <a:ea typeface="隶书" panose="02010509060101010101" pitchFamily="49" charset="-122"/>
              </a:rPr>
              <a:pPr/>
              <a:t>20</a:t>
            </a:fld>
            <a:endParaRPr lang="en-US" altLang="zh-CN" sz="1300" b="0" smtClean="0">
              <a:ea typeface="隶书" panose="02010509060101010101" pitchFamily="49" charset="-122"/>
            </a:endParaRPr>
          </a:p>
        </p:txBody>
      </p:sp>
    </p:spTree>
    <p:extLst>
      <p:ext uri="{BB962C8B-B14F-4D97-AF65-F5344CB8AC3E}">
        <p14:creationId xmlns:p14="http://schemas.microsoft.com/office/powerpoint/2010/main" val="3644720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8BAD2EF-4F73-4494-8A04-3DC10D93A60D}" type="slidenum">
              <a:rPr lang="en-US" altLang="zh-CN" sz="1300" smtClean="0">
                <a:ea typeface="隶书" panose="02010509060101010101" pitchFamily="49" charset="-122"/>
              </a:rPr>
              <a:pPr>
                <a:spcBef>
                  <a:spcPct val="0"/>
                </a:spcBef>
              </a:pPr>
              <a:t>21</a:t>
            </a:fld>
            <a:endParaRPr lang="en-US" altLang="zh-CN" sz="1300" smtClean="0">
              <a:ea typeface="隶书" panose="02010509060101010101" pitchFamily="49" charset="-122"/>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pPr>
            <a:r>
              <a:rPr kumimoji="0" lang="zh-CN" altLang="en-US" smtClean="0"/>
              <a:t>通过缓冲，能够调节计算机系统各部分的负荷，使</a:t>
            </a:r>
            <a:r>
              <a:rPr kumimoji="0" lang="en-US" altLang="zh-CN" smtClean="0"/>
              <a:t>CPU</a:t>
            </a:r>
            <a:r>
              <a:rPr kumimoji="0" lang="zh-CN" altLang="en-US" smtClean="0"/>
              <a:t>和外部设备的工作都尽量保持在一个较为平稳的良好状态。  </a:t>
            </a:r>
          </a:p>
          <a:p>
            <a:pPr eaLnBrk="1" hangingPunct="1"/>
            <a:endParaRPr lang="en-US" altLang="zh-CN" smtClean="0"/>
          </a:p>
        </p:txBody>
      </p:sp>
    </p:spTree>
    <p:extLst>
      <p:ext uri="{BB962C8B-B14F-4D97-AF65-F5344CB8AC3E}">
        <p14:creationId xmlns:p14="http://schemas.microsoft.com/office/powerpoint/2010/main" val="91575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9FD199F-CB72-4649-BAEB-E5B10BA30379}" type="slidenum">
              <a:rPr lang="en-US" altLang="zh-CN" sz="1300" smtClean="0">
                <a:ea typeface="隶书" panose="02010509060101010101" pitchFamily="49" charset="-122"/>
              </a:rPr>
              <a:pPr>
                <a:spcBef>
                  <a:spcPct val="0"/>
                </a:spcBef>
              </a:pPr>
              <a:t>23</a:t>
            </a:fld>
            <a:endParaRPr lang="en-US" altLang="zh-CN" sz="1300" smtClean="0">
              <a:ea typeface="隶书" panose="02010509060101010101" pitchFamily="49" charset="-122"/>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buFont typeface="Wingdings" panose="05000000000000000000" pitchFamily="2" charset="2"/>
              <a:buNone/>
            </a:pPr>
            <a:r>
              <a:rPr lang="zh-CN" altLang="en-US" b="1" smtClean="0">
                <a:latin typeface="楷体_GB2312" pitchFamily="49" charset="-122"/>
                <a:ea typeface="楷体_GB2312" pitchFamily="49" charset="-122"/>
              </a:rPr>
              <a:t>包括：对设备、设备控制器、通道的分配</a:t>
            </a:r>
          </a:p>
          <a:p>
            <a:pPr eaLnBrk="1" hangingPunct="1"/>
            <a:endParaRPr lang="en-US" altLang="zh-CN" smtClean="0"/>
          </a:p>
        </p:txBody>
      </p:sp>
    </p:spTree>
    <p:extLst>
      <p:ext uri="{BB962C8B-B14F-4D97-AF65-F5344CB8AC3E}">
        <p14:creationId xmlns:p14="http://schemas.microsoft.com/office/powerpoint/2010/main" val="1597069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smtClean="0"/>
          </a:p>
        </p:txBody>
      </p:sp>
      <p:sp>
        <p:nvSpPr>
          <p:cNvPr id="5530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5898FC-DC3C-4C93-A3CA-21785317BCE7}" type="slidenum">
              <a:rPr lang="en-US" altLang="zh-CN" sz="1300" smtClean="0">
                <a:ea typeface="隶书" panose="02010509060101010101" pitchFamily="49" charset="-122"/>
              </a:rPr>
              <a:pPr>
                <a:spcBef>
                  <a:spcPct val="0"/>
                </a:spcBef>
              </a:pPr>
              <a:t>27</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69046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21A9BA6-7ADB-44DC-BF4B-EC37A01D3B7F}" type="slidenum">
              <a:rPr lang="en-US" altLang="zh-CN" smtClean="0"/>
              <a:pPr>
                <a:defRPr/>
              </a:pPr>
              <a:t>29</a:t>
            </a:fld>
            <a:endParaRPr lang="en-US" altLang="zh-CN"/>
          </a:p>
        </p:txBody>
      </p:sp>
    </p:spTree>
    <p:extLst>
      <p:ext uri="{BB962C8B-B14F-4D97-AF65-F5344CB8AC3E}">
        <p14:creationId xmlns:p14="http://schemas.microsoft.com/office/powerpoint/2010/main" val="364675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r>
              <a:rPr lang="en-US" altLang="zh-CN" smtClean="0"/>
              <a:t>B</a:t>
            </a:r>
            <a:endParaRPr lang="zh-CN" altLang="en-US" smtClean="0"/>
          </a:p>
        </p:txBody>
      </p:sp>
      <p:sp>
        <p:nvSpPr>
          <p:cNvPr id="604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1D089A8-91B1-425E-8F2E-3254957D7BE8}" type="slidenum">
              <a:rPr lang="en-US" altLang="zh-CN" sz="1300" smtClean="0">
                <a:ea typeface="隶书" panose="02010509060101010101" pitchFamily="49" charset="-122"/>
              </a:rPr>
              <a:pPr>
                <a:spcBef>
                  <a:spcPct val="0"/>
                </a:spcBef>
              </a:pPr>
              <a:t>30</a:t>
            </a:fld>
            <a:endParaRPr lang="en-US" altLang="zh-CN" sz="1300" smtClean="0">
              <a:ea typeface="隶书" panose="02010509060101010101" pitchFamily="49" charset="-122"/>
            </a:endParaRPr>
          </a:p>
        </p:txBody>
      </p:sp>
    </p:spTree>
    <p:extLst>
      <p:ext uri="{BB962C8B-B14F-4D97-AF65-F5344CB8AC3E}">
        <p14:creationId xmlns:p14="http://schemas.microsoft.com/office/powerpoint/2010/main" val="2877380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D203BF4-2F42-45C7-88A2-B991236D7AE8}" type="slidenum">
              <a:rPr lang="en-US" altLang="zh-CN" sz="1300" smtClean="0">
                <a:ea typeface="隶书" panose="02010509060101010101" pitchFamily="49" charset="-122"/>
              </a:rPr>
              <a:pPr>
                <a:spcBef>
                  <a:spcPct val="0"/>
                </a:spcBef>
              </a:pPr>
              <a:t>31</a:t>
            </a:fld>
            <a:endParaRPr lang="en-US" altLang="zh-CN" sz="1300" smtClean="0">
              <a:ea typeface="隶书" panose="02010509060101010101" pitchFamily="49" charset="-122"/>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kumimoji="0" lang="zh-CN" altLang="en-US" b="1" smtClean="0"/>
              <a:t>要提高磁盘的使用效率，只能在减少查找时间和等待时间上想办法，它们都与</a:t>
            </a:r>
            <a:r>
              <a:rPr kumimoji="0" lang="en-US" altLang="zh-CN" b="1" smtClean="0"/>
              <a:t>I/O</a:t>
            </a:r>
            <a:r>
              <a:rPr kumimoji="0" lang="zh-CN" altLang="en-US" b="1" smtClean="0"/>
              <a:t>在磁盘上的分布位置有关。</a:t>
            </a:r>
          </a:p>
        </p:txBody>
      </p:sp>
    </p:spTree>
    <p:extLst>
      <p:ext uri="{BB962C8B-B14F-4D97-AF65-F5344CB8AC3E}">
        <p14:creationId xmlns:p14="http://schemas.microsoft.com/office/powerpoint/2010/main" val="2540922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4B6B9B1-73EF-4F0E-AF2A-C31AF9BD824D}" type="slidenum">
              <a:rPr lang="en-US" altLang="zh-CN" sz="1300" smtClean="0">
                <a:ea typeface="隶书" panose="02010509060101010101" pitchFamily="49" charset="-122"/>
              </a:rPr>
              <a:pPr>
                <a:spcBef>
                  <a:spcPct val="0"/>
                </a:spcBef>
              </a:pPr>
              <a:t>34</a:t>
            </a:fld>
            <a:endParaRPr lang="en-US" altLang="zh-CN" sz="1300" smtClean="0">
              <a:ea typeface="隶书" panose="02010509060101010101" pitchFamily="49" charset="-122"/>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en-US" altLang="zh-CN" smtClean="0"/>
              <a:t>Shortest Seek First</a:t>
            </a:r>
          </a:p>
          <a:p>
            <a:pPr eaLnBrk="1" hangingPunct="1"/>
            <a:r>
              <a:rPr lang="zh-CN" altLang="en-US" smtClean="0"/>
              <a:t>如果磁盘负载过大，大部分时间都停留在磁盘中部区域，两段极端区域的请求将不得不等待。获得最小响应时间的目标和公平性之间存在着冲突。</a:t>
            </a:r>
          </a:p>
        </p:txBody>
      </p:sp>
    </p:spTree>
    <p:extLst>
      <p:ext uri="{BB962C8B-B14F-4D97-AF65-F5344CB8AC3E}">
        <p14:creationId xmlns:p14="http://schemas.microsoft.com/office/powerpoint/2010/main" val="675968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B4ECF0D-5CEB-4E97-8919-14A23174A160}" type="slidenum">
              <a:rPr lang="en-US" altLang="zh-CN" sz="1300" smtClean="0">
                <a:ea typeface="隶书" panose="02010509060101010101" pitchFamily="49" charset="-122"/>
              </a:rPr>
              <a:pPr>
                <a:spcBef>
                  <a:spcPct val="0"/>
                </a:spcBef>
              </a:pPr>
              <a:t>35</a:t>
            </a:fld>
            <a:endParaRPr lang="en-US" altLang="zh-CN" sz="1300" smtClean="0">
              <a:ea typeface="隶书" panose="02010509060101010101" pitchFamily="49" charset="-122"/>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mtClean="0"/>
              <a:t>就像电梯若往下则一直要下到最底层才会再上升一样。</a:t>
            </a:r>
          </a:p>
          <a:p>
            <a:pPr eaLnBrk="1" hangingPunct="1"/>
            <a:r>
              <a:rPr kumimoji="0" lang="zh-CN" altLang="en-US" b="1" smtClean="0">
                <a:solidFill>
                  <a:srgbClr val="FFFFFF"/>
                </a:solidFill>
              </a:rPr>
              <a:t>由于与移动臂的移动方向有关，磁臂移动的结果路线有两个答案。</a:t>
            </a:r>
            <a:r>
              <a:rPr kumimoji="0" lang="zh-CN" altLang="en-US" b="1" smtClean="0"/>
              <a:t> </a:t>
            </a:r>
          </a:p>
          <a:p>
            <a:pPr eaLnBrk="1" hangingPunct="1"/>
            <a:endParaRPr lang="en-US" altLang="zh-CN" smtClean="0"/>
          </a:p>
        </p:txBody>
      </p:sp>
    </p:spTree>
    <p:extLst>
      <p:ext uri="{BB962C8B-B14F-4D97-AF65-F5344CB8AC3E}">
        <p14:creationId xmlns:p14="http://schemas.microsoft.com/office/powerpoint/2010/main" val="1684537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04B997D-58C1-4A44-962F-E45A75E61C2B}" type="slidenum">
              <a:rPr lang="en-US" altLang="zh-CN" sz="1300" smtClean="0">
                <a:ea typeface="隶书" panose="02010509060101010101" pitchFamily="49" charset="-122"/>
              </a:rPr>
              <a:pPr>
                <a:spcBef>
                  <a:spcPct val="0"/>
                </a:spcBef>
              </a:pPr>
              <a:t>37</a:t>
            </a:fld>
            <a:endParaRPr lang="en-US" altLang="zh-CN" sz="1300" smtClean="0">
              <a:ea typeface="隶书" panose="02010509060101010101" pitchFamily="49" charset="-122"/>
            </a:endParaRPr>
          </a:p>
        </p:txBody>
      </p:sp>
      <p:sp>
        <p:nvSpPr>
          <p:cNvPr id="71683" name="Rectangle 2"/>
          <p:cNvSpPr>
            <a:spLocks noGrp="1" noRot="1" noChangeAspect="1" noChangeArrowheads="1" noTextEdit="1"/>
          </p:cNvSpPr>
          <p:nvPr>
            <p:ph type="sldImg"/>
          </p:nvPr>
        </p:nvSpPr>
        <p:spPr>
          <a:xfrm>
            <a:off x="992188" y="768350"/>
            <a:ext cx="5114925" cy="3836988"/>
          </a:xfrm>
          <a:ln/>
        </p:spPr>
      </p:sp>
      <p:sp>
        <p:nvSpPr>
          <p:cNvPr id="71684" name="Rectangle 3"/>
          <p:cNvSpPr>
            <a:spLocks noGrp="1" noChangeArrowheads="1"/>
          </p:cNvSpPr>
          <p:nvPr>
            <p:ph type="body" idx="1"/>
          </p:nvPr>
        </p:nvSpPr>
        <p:spPr>
          <a:xfrm>
            <a:off x="709613" y="4860925"/>
            <a:ext cx="5680075" cy="460533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smtClean="0"/>
          </a:p>
        </p:txBody>
      </p:sp>
    </p:spTree>
    <p:extLst>
      <p:ext uri="{BB962C8B-B14F-4D97-AF65-F5344CB8AC3E}">
        <p14:creationId xmlns:p14="http://schemas.microsoft.com/office/powerpoint/2010/main" val="41384331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1828800" cy="6856413"/>
            <a:chOff x="0" y="0"/>
            <a:chExt cx="1152" cy="4319"/>
          </a:xfrm>
        </p:grpSpPr>
        <p:sp>
          <p:nvSpPr>
            <p:cNvPr id="5" name="Rectangle 3"/>
            <p:cNvSpPr>
              <a:spLocks noChangeArrowheads="1"/>
            </p:cNvSpPr>
            <p:nvPr/>
          </p:nvSpPr>
          <p:spPr bwMode="auto">
            <a:xfrm>
              <a:off x="0" y="0"/>
              <a:ext cx="1152" cy="1026"/>
            </a:xfrm>
            <a:prstGeom prst="rect">
              <a:avLst/>
            </a:prstGeom>
            <a:gradFill rotWithShape="0">
              <a:gsLst>
                <a:gs pos="0">
                  <a:schemeClr val="bg2"/>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kumimoji="0" lang="zh-CN" altLang="zh-CN" sz="2400" b="0" smtClean="0"/>
            </a:p>
          </p:txBody>
        </p:sp>
        <p:sp>
          <p:nvSpPr>
            <p:cNvPr id="6" name="Rectangle 4"/>
            <p:cNvSpPr>
              <a:spLocks noChangeArrowheads="1"/>
            </p:cNvSpPr>
            <p:nvPr/>
          </p:nvSpPr>
          <p:spPr bwMode="auto">
            <a:xfrm>
              <a:off x="0" y="2400"/>
              <a:ext cx="1152" cy="1919"/>
            </a:xfrm>
            <a:prstGeom prst="rect">
              <a:avLst/>
            </a:prstGeom>
            <a:gradFill rotWithShape="0">
              <a:gsLst>
                <a:gs pos="0">
                  <a:schemeClr val="accent1"/>
                </a:gs>
                <a:gs pos="100000">
                  <a:schemeClr val="bg2"/>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defRPr kumimoji="1" sz="2800" b="1">
                  <a:solidFill>
                    <a:schemeClr val="tx1"/>
                  </a:solidFill>
                  <a:latin typeface="Times New Roman" panose="02020603050405020304" pitchFamily="18" charset="0"/>
                  <a:ea typeface="宋体" panose="02010600030101010101" pitchFamily="2" charset="-122"/>
                </a:defRPr>
              </a:lvl1pPr>
              <a:lvl2pPr marL="742950" indent="-285750">
                <a:defRPr kumimoji="1" sz="2800" b="1">
                  <a:solidFill>
                    <a:schemeClr val="tx1"/>
                  </a:solidFill>
                  <a:latin typeface="Times New Roman" panose="02020603050405020304" pitchFamily="18" charset="0"/>
                  <a:ea typeface="宋体" panose="02010600030101010101" pitchFamily="2" charset="-122"/>
                </a:defRPr>
              </a:lvl2pPr>
              <a:lvl3pPr marL="1143000" indent="-228600">
                <a:defRPr kumimoji="1" sz="2800" b="1">
                  <a:solidFill>
                    <a:schemeClr val="tx1"/>
                  </a:solidFill>
                  <a:latin typeface="Times New Roman" panose="02020603050405020304" pitchFamily="18" charset="0"/>
                  <a:ea typeface="宋体" panose="02010600030101010101" pitchFamily="2" charset="-122"/>
                </a:defRPr>
              </a:lvl3pPr>
              <a:lvl4pPr marL="1600200" indent="-228600">
                <a:defRPr kumimoji="1" sz="2800" b="1">
                  <a:solidFill>
                    <a:schemeClr val="tx1"/>
                  </a:solidFill>
                  <a:latin typeface="Times New Roman" panose="02020603050405020304" pitchFamily="18" charset="0"/>
                  <a:ea typeface="宋体" panose="02010600030101010101" pitchFamily="2" charset="-122"/>
                </a:defRPr>
              </a:lvl4pPr>
              <a:lvl5pPr marL="2057400" indent="-22860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spcBef>
                  <a:spcPct val="50000"/>
                </a:spcBef>
                <a:defRPr/>
              </a:pPr>
              <a:endParaRPr kumimoji="0" lang="zh-CN" altLang="zh-CN" sz="2400" b="0" smtClean="0"/>
            </a:p>
          </p:txBody>
        </p:sp>
        <p:pic>
          <p:nvPicPr>
            <p:cNvPr id="7" name="Picture 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28"/>
              <a:ext cx="1152" cy="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1318" name="Rectangle 6"/>
          <p:cNvSpPr>
            <a:spLocks noGrp="1" noChangeArrowheads="1"/>
          </p:cNvSpPr>
          <p:nvPr>
            <p:ph type="ctrTitle" sz="quarter"/>
          </p:nvPr>
        </p:nvSpPr>
        <p:spPr>
          <a:xfrm>
            <a:off x="1905000" y="1676400"/>
            <a:ext cx="6934200" cy="2116138"/>
          </a:xfrm>
        </p:spPr>
        <p:txBody>
          <a:bodyPr/>
          <a:lstStyle>
            <a:lvl1pPr>
              <a:defRPr/>
            </a:lvl1pPr>
          </a:lstStyle>
          <a:p>
            <a:r>
              <a:rPr lang="zh-CN" altLang="en-US"/>
              <a:t>单击此处编辑母版标题样式</a:t>
            </a:r>
          </a:p>
        </p:txBody>
      </p:sp>
      <p:sp>
        <p:nvSpPr>
          <p:cNvPr id="141319" name="Rectangle 7"/>
          <p:cNvSpPr>
            <a:spLocks noGrp="1" noChangeArrowheads="1"/>
          </p:cNvSpPr>
          <p:nvPr>
            <p:ph type="subTitle" sz="quarter" idx="1"/>
          </p:nvPr>
        </p:nvSpPr>
        <p:spPr>
          <a:xfrm>
            <a:off x="1911350" y="3968750"/>
            <a:ext cx="6400800" cy="1752600"/>
          </a:xfrm>
        </p:spPr>
        <p:txBody>
          <a:bodyPr/>
          <a:lstStyle>
            <a:lvl1pPr marL="0" indent="0">
              <a:buFont typeface="Symbol" pitchFamily="18" charset="2"/>
              <a:buNone/>
              <a:defRPr/>
            </a:lvl1pPr>
          </a:lstStyle>
          <a:p>
            <a:r>
              <a:rPr lang="zh-CN" altLang="en-US"/>
              <a:t>单击此处编辑母版副标题样式</a:t>
            </a:r>
          </a:p>
        </p:txBody>
      </p:sp>
      <p:sp>
        <p:nvSpPr>
          <p:cNvPr id="8" name="Rectangle 8"/>
          <p:cNvSpPr>
            <a:spLocks noGrp="1" noChangeArrowheads="1"/>
          </p:cNvSpPr>
          <p:nvPr>
            <p:ph type="dt" sz="quarter" idx="10"/>
          </p:nvPr>
        </p:nvSpPr>
        <p:spPr>
          <a:xfrm>
            <a:off x="1828800" y="6400800"/>
            <a:ext cx="1905000" cy="457200"/>
          </a:xfrm>
        </p:spPr>
        <p:txBody>
          <a:bodyPr/>
          <a:lstStyle>
            <a:lvl1pPr>
              <a:defRPr/>
            </a:lvl1pPr>
          </a:lstStyle>
          <a:p>
            <a:pPr>
              <a:defRPr/>
            </a:pPr>
            <a:endParaRPr lang="en-US" altLang="zh-CN"/>
          </a:p>
        </p:txBody>
      </p:sp>
      <p:sp>
        <p:nvSpPr>
          <p:cNvPr id="9" name="Rectangle 9"/>
          <p:cNvSpPr>
            <a:spLocks noGrp="1" noChangeArrowheads="1"/>
          </p:cNvSpPr>
          <p:nvPr>
            <p:ph type="ftr" sz="quarter" idx="11"/>
          </p:nvPr>
        </p:nvSpPr>
        <p:spPr>
          <a:xfrm>
            <a:off x="3962400" y="6400800"/>
            <a:ext cx="2895600" cy="457200"/>
          </a:xfrm>
        </p:spPr>
        <p:txBody>
          <a:bodyPr/>
          <a:lstStyle>
            <a:lvl1pPr>
              <a:defRPr/>
            </a:lvl1pPr>
          </a:lstStyle>
          <a:p>
            <a:pPr>
              <a:defRPr/>
            </a:pP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153F16BF-D6D1-453C-8408-AB68647ACEF4}" type="slidenum">
              <a:rPr lang="en-US" altLang="zh-CN"/>
              <a:pPr>
                <a:defRPr/>
              </a:pPr>
              <a:t>‹#›</a:t>
            </a:fld>
            <a:endParaRPr lang="en-US" altLang="zh-CN"/>
          </a:p>
        </p:txBody>
      </p:sp>
    </p:spTree>
    <p:extLst>
      <p:ext uri="{BB962C8B-B14F-4D97-AF65-F5344CB8AC3E}">
        <p14:creationId xmlns:p14="http://schemas.microsoft.com/office/powerpoint/2010/main" val="3416948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A8619400-288C-45A5-8383-D7E8FE5F49A0}" type="slidenum">
              <a:rPr lang="en-US" altLang="zh-CN"/>
              <a:pPr>
                <a:defRPr/>
              </a:pPr>
              <a:t>‹#›</a:t>
            </a:fld>
            <a:endParaRPr lang="en-US" altLang="zh-CN"/>
          </a:p>
        </p:txBody>
      </p:sp>
    </p:spTree>
    <p:extLst>
      <p:ext uri="{BB962C8B-B14F-4D97-AF65-F5344CB8AC3E}">
        <p14:creationId xmlns:p14="http://schemas.microsoft.com/office/powerpoint/2010/main" val="2700051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D2613AED-EDEC-49EF-A8AB-A2F13EB1BD65}" type="slidenum">
              <a:rPr lang="en-US" altLang="zh-CN"/>
              <a:pPr>
                <a:defRPr/>
              </a:pPr>
              <a:t>‹#›</a:t>
            </a:fld>
            <a:endParaRPr lang="en-US" altLang="zh-CN"/>
          </a:p>
        </p:txBody>
      </p:sp>
    </p:spTree>
    <p:extLst>
      <p:ext uri="{BB962C8B-B14F-4D97-AF65-F5344CB8AC3E}">
        <p14:creationId xmlns:p14="http://schemas.microsoft.com/office/powerpoint/2010/main" val="4222778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2192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81600" y="16002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8E5C76A9-DFC2-4786-96A1-40815E349909}" type="slidenum">
              <a:rPr lang="en-US" altLang="zh-CN"/>
              <a:pPr>
                <a:defRPr/>
              </a:pPr>
              <a:t>‹#›</a:t>
            </a:fld>
            <a:endParaRPr lang="en-US" altLang="zh-CN"/>
          </a:p>
        </p:txBody>
      </p:sp>
    </p:spTree>
    <p:extLst>
      <p:ext uri="{BB962C8B-B14F-4D97-AF65-F5344CB8AC3E}">
        <p14:creationId xmlns:p14="http://schemas.microsoft.com/office/powerpoint/2010/main" val="971154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
          <p:cNvSpPr>
            <a:spLocks noGrp="1" noChangeArrowheads="1"/>
          </p:cNvSpPr>
          <p:nvPr>
            <p:ph type="sldNum" sz="quarter" idx="12"/>
          </p:nvPr>
        </p:nvSpPr>
        <p:spPr>
          <a:ln/>
        </p:spPr>
        <p:txBody>
          <a:bodyPr/>
          <a:lstStyle>
            <a:lvl1pPr>
              <a:defRPr/>
            </a:lvl1pPr>
          </a:lstStyle>
          <a:p>
            <a:pPr>
              <a:defRPr/>
            </a:pPr>
            <a:fld id="{54991E07-703B-40DA-80DF-D27FDC3FCCD7}" type="slidenum">
              <a:rPr lang="en-US" altLang="zh-CN"/>
              <a:pPr>
                <a:defRPr/>
              </a:pPr>
              <a:t>‹#›</a:t>
            </a:fld>
            <a:endParaRPr lang="en-US" altLang="zh-CN"/>
          </a:p>
        </p:txBody>
      </p:sp>
    </p:spTree>
    <p:extLst>
      <p:ext uri="{BB962C8B-B14F-4D97-AF65-F5344CB8AC3E}">
        <p14:creationId xmlns:p14="http://schemas.microsoft.com/office/powerpoint/2010/main" val="828633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
          <p:cNvSpPr>
            <a:spLocks noGrp="1" noChangeArrowheads="1"/>
          </p:cNvSpPr>
          <p:nvPr>
            <p:ph type="sldNum" sz="quarter" idx="12"/>
          </p:nvPr>
        </p:nvSpPr>
        <p:spPr>
          <a:ln/>
        </p:spPr>
        <p:txBody>
          <a:bodyPr/>
          <a:lstStyle>
            <a:lvl1pPr>
              <a:defRPr/>
            </a:lvl1pPr>
          </a:lstStyle>
          <a:p>
            <a:pPr>
              <a:defRPr/>
            </a:pPr>
            <a:fld id="{453C543B-6648-4A67-A686-4A59659F6E77}" type="slidenum">
              <a:rPr lang="en-US" altLang="zh-CN"/>
              <a:pPr>
                <a:defRPr/>
              </a:pPr>
              <a:t>‹#›</a:t>
            </a:fld>
            <a:endParaRPr lang="en-US" altLang="zh-CN"/>
          </a:p>
        </p:txBody>
      </p:sp>
    </p:spTree>
    <p:extLst>
      <p:ext uri="{BB962C8B-B14F-4D97-AF65-F5344CB8AC3E}">
        <p14:creationId xmlns:p14="http://schemas.microsoft.com/office/powerpoint/2010/main" val="4127918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
          <p:cNvSpPr>
            <a:spLocks noGrp="1" noChangeArrowheads="1"/>
          </p:cNvSpPr>
          <p:nvPr>
            <p:ph type="sldNum" sz="quarter" idx="12"/>
          </p:nvPr>
        </p:nvSpPr>
        <p:spPr>
          <a:ln/>
        </p:spPr>
        <p:txBody>
          <a:bodyPr/>
          <a:lstStyle>
            <a:lvl1pPr>
              <a:defRPr/>
            </a:lvl1pPr>
          </a:lstStyle>
          <a:p>
            <a:pPr>
              <a:defRPr/>
            </a:pPr>
            <a:fld id="{37F47208-DDBE-48D9-B02D-E0FFA090F8DD}" type="slidenum">
              <a:rPr lang="en-US" altLang="zh-CN"/>
              <a:pPr>
                <a:defRPr/>
              </a:pPr>
              <a:t>‹#›</a:t>
            </a:fld>
            <a:endParaRPr lang="en-US" altLang="zh-CN"/>
          </a:p>
        </p:txBody>
      </p:sp>
    </p:spTree>
    <p:extLst>
      <p:ext uri="{BB962C8B-B14F-4D97-AF65-F5344CB8AC3E}">
        <p14:creationId xmlns:p14="http://schemas.microsoft.com/office/powerpoint/2010/main" val="2577132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72FFB3B9-817B-4107-B87C-E071403F53BB}" type="slidenum">
              <a:rPr lang="en-US" altLang="zh-CN"/>
              <a:pPr>
                <a:defRPr/>
              </a:pPr>
              <a:t>‹#›</a:t>
            </a:fld>
            <a:endParaRPr lang="en-US" altLang="zh-CN"/>
          </a:p>
        </p:txBody>
      </p:sp>
    </p:spTree>
    <p:extLst>
      <p:ext uri="{BB962C8B-B14F-4D97-AF65-F5344CB8AC3E}">
        <p14:creationId xmlns:p14="http://schemas.microsoft.com/office/powerpoint/2010/main" val="3161295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3CE983E4-4FBA-41A5-B709-A73B268CF5A7}" type="slidenum">
              <a:rPr lang="en-US" altLang="zh-CN"/>
              <a:pPr>
                <a:defRPr/>
              </a:pPr>
              <a:t>‹#›</a:t>
            </a:fld>
            <a:endParaRPr lang="en-US" altLang="zh-CN"/>
          </a:p>
        </p:txBody>
      </p:sp>
    </p:spTree>
    <p:extLst>
      <p:ext uri="{BB962C8B-B14F-4D97-AF65-F5344CB8AC3E}">
        <p14:creationId xmlns:p14="http://schemas.microsoft.com/office/powerpoint/2010/main" val="3694912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E87044B1-3AEB-49A4-9F99-B9BE53D447BD}" type="slidenum">
              <a:rPr lang="en-US" altLang="zh-CN"/>
              <a:pPr>
                <a:defRPr/>
              </a:pPr>
              <a:t>‹#›</a:t>
            </a:fld>
            <a:endParaRPr lang="en-US" altLang="zh-CN"/>
          </a:p>
        </p:txBody>
      </p:sp>
    </p:spTree>
    <p:extLst>
      <p:ext uri="{BB962C8B-B14F-4D97-AF65-F5344CB8AC3E}">
        <p14:creationId xmlns:p14="http://schemas.microsoft.com/office/powerpoint/2010/main" val="74426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48500" y="304800"/>
            <a:ext cx="19431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219200" y="304800"/>
            <a:ext cx="5676900" cy="57912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F570F8ED-616F-4C00-8C91-8CCC57BF5227}" type="slidenum">
              <a:rPr lang="en-US" altLang="zh-CN"/>
              <a:pPr>
                <a:defRPr/>
              </a:pPr>
              <a:t>‹#›</a:t>
            </a:fld>
            <a:endParaRPr lang="en-US" altLang="zh-CN"/>
          </a:p>
        </p:txBody>
      </p:sp>
    </p:spTree>
    <p:extLst>
      <p:ext uri="{BB962C8B-B14F-4D97-AF65-F5344CB8AC3E}">
        <p14:creationId xmlns:p14="http://schemas.microsoft.com/office/powerpoint/2010/main" val="2147116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304800"/>
            <a:ext cx="7772400" cy="12065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219200" y="1600200"/>
            <a:ext cx="38100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81600" y="1600200"/>
            <a:ext cx="38100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p:cNvSpPr>
            <a:spLocks noGrp="1" noChangeArrowheads="1"/>
          </p:cNvSpPr>
          <p:nvPr>
            <p:ph type="sldNum" sz="quarter" idx="12"/>
          </p:nvPr>
        </p:nvSpPr>
        <p:spPr>
          <a:ln/>
        </p:spPr>
        <p:txBody>
          <a:bodyPr/>
          <a:lstStyle>
            <a:lvl1pPr>
              <a:defRPr/>
            </a:lvl1pPr>
          </a:lstStyle>
          <a:p>
            <a:pPr>
              <a:defRPr/>
            </a:pPr>
            <a:fld id="{CA882106-665F-4235-A2F5-D5D4D2D072EE}" type="slidenum">
              <a:rPr lang="en-US" altLang="zh-CN"/>
              <a:pPr>
                <a:defRPr/>
              </a:pPr>
              <a:t>‹#›</a:t>
            </a:fld>
            <a:endParaRPr lang="en-US" altLang="zh-CN"/>
          </a:p>
        </p:txBody>
      </p:sp>
    </p:spTree>
    <p:extLst>
      <p:ext uri="{BB962C8B-B14F-4D97-AF65-F5344CB8AC3E}">
        <p14:creationId xmlns:p14="http://schemas.microsoft.com/office/powerpoint/2010/main" val="220322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304800"/>
            <a:ext cx="7772400" cy="12065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219200" y="1600200"/>
            <a:ext cx="38100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5181600" y="1600200"/>
            <a:ext cx="3810000" cy="2171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5181600" y="3924300"/>
            <a:ext cx="3810000" cy="2171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0"/>
          <p:cNvSpPr>
            <a:spLocks noGrp="1" noChangeArrowheads="1"/>
          </p:cNvSpPr>
          <p:nvPr>
            <p:ph type="sldNum" sz="quarter" idx="12"/>
          </p:nvPr>
        </p:nvSpPr>
        <p:spPr>
          <a:ln/>
        </p:spPr>
        <p:txBody>
          <a:bodyPr/>
          <a:lstStyle>
            <a:lvl1pPr>
              <a:defRPr/>
            </a:lvl1pPr>
          </a:lstStyle>
          <a:p>
            <a:pPr>
              <a:defRPr/>
            </a:pPr>
            <a:fld id="{9D0403F7-FA3B-4FD3-AFBC-68D7C9A3F74A}" type="slidenum">
              <a:rPr lang="en-US" altLang="zh-CN"/>
              <a:pPr>
                <a:defRPr/>
              </a:pPr>
              <a:t>‹#›</a:t>
            </a:fld>
            <a:endParaRPr lang="en-US" altLang="zh-CN"/>
          </a:p>
        </p:txBody>
      </p:sp>
    </p:spTree>
    <p:extLst>
      <p:ext uri="{BB962C8B-B14F-4D97-AF65-F5344CB8AC3E}">
        <p14:creationId xmlns:p14="http://schemas.microsoft.com/office/powerpoint/2010/main" val="7547296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219200" y="304800"/>
            <a:ext cx="7772400" cy="12065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219200" y="1600200"/>
            <a:ext cx="7772400" cy="4495800"/>
          </a:xfrm>
        </p:spPr>
        <p:txBody>
          <a:bodyPr/>
          <a:lstStyle/>
          <a:p>
            <a:pPr lvl="0"/>
            <a:endParaRPr lang="zh-CN" altLang="en-US" noProof="0" smtClean="0"/>
          </a:p>
        </p:txBody>
      </p:sp>
      <p:sp>
        <p:nvSpPr>
          <p:cNvPr id="4" name="Rectangle 8"/>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p:cNvSpPr>
            <a:spLocks noGrp="1" noChangeArrowheads="1"/>
          </p:cNvSpPr>
          <p:nvPr>
            <p:ph type="sldNum" sz="quarter" idx="12"/>
          </p:nvPr>
        </p:nvSpPr>
        <p:spPr>
          <a:ln/>
        </p:spPr>
        <p:txBody>
          <a:bodyPr/>
          <a:lstStyle>
            <a:lvl1pPr>
              <a:defRPr/>
            </a:lvl1pPr>
          </a:lstStyle>
          <a:p>
            <a:pPr>
              <a:defRPr/>
            </a:pPr>
            <a:fld id="{A7487BE5-2B67-439A-AA08-70750015A99E}" type="slidenum">
              <a:rPr lang="en-US" altLang="zh-CN"/>
              <a:pPr>
                <a:defRPr/>
              </a:pPr>
              <a:t>‹#›</a:t>
            </a:fld>
            <a:endParaRPr lang="en-US" altLang="zh-CN"/>
          </a:p>
        </p:txBody>
      </p:sp>
    </p:spTree>
    <p:extLst>
      <p:ext uri="{BB962C8B-B14F-4D97-AF65-F5344CB8AC3E}">
        <p14:creationId xmlns:p14="http://schemas.microsoft.com/office/powerpoint/2010/main" val="3995605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1219200" y="304800"/>
            <a:ext cx="77724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7"/>
          <p:cNvSpPr>
            <a:spLocks noGrp="1" noChangeArrowheads="1"/>
          </p:cNvSpPr>
          <p:nvPr>
            <p:ph type="body" idx="1"/>
          </p:nvPr>
        </p:nvSpPr>
        <p:spPr bwMode="auto">
          <a:xfrm>
            <a:off x="1219200" y="16002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0296" name="Rectangle 8"/>
          <p:cNvSpPr>
            <a:spLocks noGrp="1" noChangeArrowheads="1"/>
          </p:cNvSpPr>
          <p:nvPr>
            <p:ph type="dt" sz="half" idx="2"/>
          </p:nvPr>
        </p:nvSpPr>
        <p:spPr bwMode="auto">
          <a:xfrm>
            <a:off x="1143000" y="64008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eaLnBrk="1" hangingPunct="1">
              <a:defRPr kumimoji="0" sz="1400" b="0"/>
            </a:lvl1pPr>
          </a:lstStyle>
          <a:p>
            <a:pPr>
              <a:defRPr/>
            </a:pPr>
            <a:endParaRPr lang="en-US" altLang="zh-CN"/>
          </a:p>
        </p:txBody>
      </p:sp>
      <p:sp>
        <p:nvSpPr>
          <p:cNvPr id="140297" name="Rectangle 9"/>
          <p:cNvSpPr>
            <a:spLocks noGrp="1" noChangeArrowheads="1"/>
          </p:cNvSpPr>
          <p:nvPr>
            <p:ph type="ftr" sz="quarter" idx="3"/>
          </p:nvPr>
        </p:nvSpPr>
        <p:spPr bwMode="auto">
          <a:xfrm>
            <a:off x="3581400" y="64008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ctr" eaLnBrk="1" hangingPunct="1">
              <a:defRPr kumimoji="0" sz="1400" b="0"/>
            </a:lvl1pPr>
          </a:lstStyle>
          <a:p>
            <a:pPr>
              <a:defRPr/>
            </a:pPr>
            <a:endParaRPr lang="en-US" altLang="zh-CN"/>
          </a:p>
        </p:txBody>
      </p:sp>
      <p:sp>
        <p:nvSpPr>
          <p:cNvPr id="140298" name="Rectangle 10"/>
          <p:cNvSpPr>
            <a:spLocks noGrp="1" noChangeArrowheads="1"/>
          </p:cNvSpPr>
          <p:nvPr>
            <p:ph type="sldNum" sz="quarter" idx="4"/>
          </p:nvPr>
        </p:nvSpPr>
        <p:spPr bwMode="auto">
          <a:xfrm>
            <a:off x="7239000" y="64008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eaLnBrk="1" hangingPunct="1">
              <a:defRPr kumimoji="0" sz="1400" b="0"/>
            </a:lvl1pPr>
          </a:lstStyle>
          <a:p>
            <a:pPr>
              <a:defRPr/>
            </a:pPr>
            <a:fld id="{A52C9316-4913-4806-A4D1-A120EFAC76E1}"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3851"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90000"/>
        <a:buFont typeface="Symbol" panose="05050102010706020507"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27.xml"/><Relationship Id="rId5" Type="http://schemas.openxmlformats.org/officeDocument/2006/relationships/slide" Target="slide23.xml"/><Relationship Id="rId4" Type="http://schemas.openxmlformats.org/officeDocument/2006/relationships/slide" Target="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619250" y="0"/>
            <a:ext cx="7056438" cy="1052513"/>
          </a:xfrm>
        </p:spPr>
        <p:txBody>
          <a:bodyPr/>
          <a:lstStyle/>
          <a:p>
            <a:pPr algn="ctr" eaLnBrk="1" hangingPunct="1"/>
            <a:r>
              <a:rPr lang="zh-CN" altLang="en-US" b="1" dirty="0" smtClean="0">
                <a:solidFill>
                  <a:srgbClr val="FFFF99"/>
                </a:solidFill>
              </a:rPr>
              <a:t>第 </a:t>
            </a:r>
            <a:r>
              <a:rPr lang="en-US" altLang="zh-CN" b="1" dirty="0" smtClean="0">
                <a:solidFill>
                  <a:srgbClr val="FFFF99"/>
                </a:solidFill>
              </a:rPr>
              <a:t>10 </a:t>
            </a:r>
            <a:r>
              <a:rPr lang="zh-CN" altLang="en-US" b="1" dirty="0" smtClean="0">
                <a:solidFill>
                  <a:srgbClr val="FFFF99"/>
                </a:solidFill>
              </a:rPr>
              <a:t>章</a:t>
            </a:r>
            <a:r>
              <a:rPr lang="zh-CN" altLang="en-US" b="1" dirty="0" smtClean="0">
                <a:solidFill>
                  <a:srgbClr val="FFFF99"/>
                </a:solidFill>
                <a:latin typeface="隶书" panose="02010509060101010101" pitchFamily="49" charset="-122"/>
              </a:rPr>
              <a:t>  设备管理</a:t>
            </a:r>
          </a:p>
        </p:txBody>
      </p:sp>
      <p:sp>
        <p:nvSpPr>
          <p:cNvPr id="2069" name="Rectangle 21"/>
          <p:cNvSpPr>
            <a:spLocks noChangeArrowheads="1"/>
          </p:cNvSpPr>
          <p:nvPr/>
        </p:nvSpPr>
        <p:spPr bwMode="auto">
          <a:xfrm>
            <a:off x="3203848" y="1716632"/>
            <a:ext cx="3600450" cy="646331"/>
          </a:xfrm>
          <a:prstGeom prst="rect">
            <a:avLst/>
          </a:prstGeom>
          <a:noFill/>
          <a:ln w="12700" cap="sq">
            <a:noFill/>
            <a:miter lim="800000"/>
            <a:headEnd type="none" w="sm" len="sm"/>
            <a:tailEnd type="none" w="sm" len="sm"/>
          </a:ln>
          <a:effectLst/>
        </p:spPr>
        <p:txBody>
          <a:bodyPr>
            <a:spAutoFit/>
          </a:bodyPr>
          <a:lstStyle/>
          <a:p>
            <a:pPr eaLnBrk="1" hangingPunct="1">
              <a:defRPr/>
            </a:pPr>
            <a:r>
              <a:rPr lang="en-US" altLang="zh-CN" sz="3600" dirty="0" smtClean="0">
                <a:solidFill>
                  <a:srgbClr val="66FFFF"/>
                </a:solidFill>
                <a:latin typeface="+mj-lt"/>
                <a:ea typeface="楷体_GB2312" pitchFamily="49" charset="-122"/>
              </a:rPr>
              <a:t>10.1 </a:t>
            </a:r>
            <a:r>
              <a:rPr lang="zh-CN" altLang="en-US" sz="3600" dirty="0">
                <a:solidFill>
                  <a:srgbClr val="66FFFF"/>
                </a:solidFill>
                <a:latin typeface="+mj-lt"/>
                <a:ea typeface="楷体_GB2312" pitchFamily="49" charset="-122"/>
              </a:rPr>
              <a:t>概述</a:t>
            </a:r>
          </a:p>
        </p:txBody>
      </p:sp>
      <p:sp>
        <p:nvSpPr>
          <p:cNvPr id="2070" name="Rectangle 22">
            <a:hlinkClick r:id="rId3" action="ppaction://hlinksldjump"/>
          </p:cNvPr>
          <p:cNvSpPr>
            <a:spLocks noChangeArrowheads="1"/>
          </p:cNvSpPr>
          <p:nvPr/>
        </p:nvSpPr>
        <p:spPr bwMode="auto">
          <a:xfrm>
            <a:off x="3203848" y="2312830"/>
            <a:ext cx="5112568" cy="646331"/>
          </a:xfrm>
          <a:prstGeom prst="rect">
            <a:avLst/>
          </a:prstGeom>
          <a:noFill/>
          <a:ln w="12700" cap="sq">
            <a:noFill/>
            <a:miter lim="800000"/>
            <a:headEnd type="none" w="sm" len="sm"/>
            <a:tailEnd type="none" w="sm" len="sm"/>
          </a:ln>
          <a:effectLst/>
        </p:spPr>
        <p:txBody>
          <a:bodyPr wrap="square">
            <a:spAutoFit/>
          </a:bodyPr>
          <a:lstStyle/>
          <a:p>
            <a:pPr eaLnBrk="1" hangingPunct="1">
              <a:defRPr/>
            </a:pPr>
            <a:r>
              <a:rPr lang="en-US" altLang="zh-CN" sz="3600" dirty="0" smtClean="0">
                <a:solidFill>
                  <a:srgbClr val="66FFFF"/>
                </a:solidFill>
                <a:latin typeface="+mj-lt"/>
                <a:ea typeface="楷体_GB2312" pitchFamily="49" charset="-122"/>
              </a:rPr>
              <a:t>10.2 </a:t>
            </a:r>
            <a:r>
              <a:rPr lang="zh-CN" altLang="en-US" sz="3600" dirty="0">
                <a:solidFill>
                  <a:srgbClr val="66FFFF"/>
                </a:solidFill>
                <a:latin typeface="+mj-lt"/>
                <a:ea typeface="楷体_GB2312" pitchFamily="49" charset="-122"/>
              </a:rPr>
              <a:t>数据传送控制方式</a:t>
            </a:r>
          </a:p>
        </p:txBody>
      </p:sp>
      <p:sp>
        <p:nvSpPr>
          <p:cNvPr id="2072" name="Rectangle 24">
            <a:hlinkClick r:id="rId4" action="ppaction://hlinksldjump"/>
          </p:cNvPr>
          <p:cNvSpPr>
            <a:spLocks noChangeArrowheads="1"/>
          </p:cNvSpPr>
          <p:nvPr/>
        </p:nvSpPr>
        <p:spPr bwMode="auto">
          <a:xfrm>
            <a:off x="3203848" y="2884535"/>
            <a:ext cx="3312368" cy="646331"/>
          </a:xfrm>
          <a:prstGeom prst="rect">
            <a:avLst/>
          </a:prstGeom>
          <a:noFill/>
          <a:ln w="12700" cap="sq">
            <a:noFill/>
            <a:miter lim="800000"/>
            <a:headEnd type="none" w="sm" len="sm"/>
            <a:tailEnd type="none" w="sm" len="sm"/>
          </a:ln>
          <a:effectLst/>
        </p:spPr>
        <p:txBody>
          <a:bodyPr wrap="square">
            <a:spAutoFit/>
          </a:bodyPr>
          <a:lstStyle/>
          <a:p>
            <a:pPr eaLnBrk="1" hangingPunct="1">
              <a:defRPr/>
            </a:pPr>
            <a:r>
              <a:rPr lang="en-US" altLang="zh-CN" sz="3600" dirty="0" smtClean="0">
                <a:solidFill>
                  <a:srgbClr val="66FFFF"/>
                </a:solidFill>
                <a:latin typeface="+mj-lt"/>
                <a:ea typeface="楷体_GB2312" pitchFamily="49" charset="-122"/>
              </a:rPr>
              <a:t>10.3 </a:t>
            </a:r>
            <a:r>
              <a:rPr lang="zh-CN" altLang="en-US" sz="3600" dirty="0">
                <a:solidFill>
                  <a:srgbClr val="66FFFF"/>
                </a:solidFill>
                <a:latin typeface="+mj-lt"/>
                <a:ea typeface="楷体_GB2312" pitchFamily="49" charset="-122"/>
              </a:rPr>
              <a:t>缓冲技术</a:t>
            </a:r>
          </a:p>
        </p:txBody>
      </p:sp>
      <p:sp>
        <p:nvSpPr>
          <p:cNvPr id="2073" name="Rectangle 25">
            <a:hlinkClick r:id="rId5" action="ppaction://hlinksldjump"/>
          </p:cNvPr>
          <p:cNvSpPr>
            <a:spLocks noChangeArrowheads="1"/>
          </p:cNvSpPr>
          <p:nvPr/>
        </p:nvSpPr>
        <p:spPr bwMode="auto">
          <a:xfrm>
            <a:off x="3203848" y="3480734"/>
            <a:ext cx="3312368" cy="646331"/>
          </a:xfrm>
          <a:prstGeom prst="rect">
            <a:avLst/>
          </a:prstGeom>
          <a:noFill/>
          <a:ln w="12700" cap="sq">
            <a:noFill/>
            <a:miter lim="800000"/>
            <a:headEnd type="none" w="sm" len="sm"/>
            <a:tailEnd type="none" w="sm" len="sm"/>
          </a:ln>
          <a:effectLst/>
        </p:spPr>
        <p:txBody>
          <a:bodyPr wrap="square">
            <a:spAutoFit/>
          </a:bodyPr>
          <a:lstStyle/>
          <a:p>
            <a:pPr eaLnBrk="1" hangingPunct="1">
              <a:defRPr/>
            </a:pPr>
            <a:r>
              <a:rPr lang="en-US" altLang="zh-CN" sz="3600" dirty="0" smtClean="0">
                <a:solidFill>
                  <a:srgbClr val="66FFFF"/>
                </a:solidFill>
                <a:latin typeface="+mj-lt"/>
                <a:ea typeface="楷体_GB2312" pitchFamily="49" charset="-122"/>
              </a:rPr>
              <a:t>10.4 </a:t>
            </a:r>
            <a:r>
              <a:rPr lang="zh-CN" altLang="en-US" sz="3600" dirty="0">
                <a:solidFill>
                  <a:srgbClr val="66FFFF"/>
                </a:solidFill>
                <a:latin typeface="+mj-lt"/>
                <a:ea typeface="楷体_GB2312" pitchFamily="49" charset="-122"/>
              </a:rPr>
              <a:t>设备分配</a:t>
            </a:r>
          </a:p>
        </p:txBody>
      </p:sp>
      <p:sp>
        <p:nvSpPr>
          <p:cNvPr id="2079" name="Rectangle 31">
            <a:hlinkClick r:id="rId6" action="ppaction://hlinksldjump"/>
          </p:cNvPr>
          <p:cNvSpPr>
            <a:spLocks noChangeArrowheads="1"/>
          </p:cNvSpPr>
          <p:nvPr/>
        </p:nvSpPr>
        <p:spPr bwMode="auto">
          <a:xfrm>
            <a:off x="3203848" y="4123672"/>
            <a:ext cx="3672408" cy="646331"/>
          </a:xfrm>
          <a:prstGeom prst="rect">
            <a:avLst/>
          </a:prstGeom>
          <a:noFill/>
          <a:ln w="12700" cap="sq">
            <a:noFill/>
            <a:miter lim="800000"/>
            <a:headEnd type="none" w="sm" len="sm"/>
            <a:tailEnd type="none" w="sm" len="sm"/>
          </a:ln>
          <a:effectLst/>
        </p:spPr>
        <p:txBody>
          <a:bodyPr wrap="square">
            <a:spAutoFit/>
          </a:bodyPr>
          <a:lstStyle/>
          <a:p>
            <a:pPr eaLnBrk="1" hangingPunct="1">
              <a:defRPr/>
            </a:pPr>
            <a:r>
              <a:rPr lang="en-US" altLang="zh-CN" sz="3600" dirty="0" smtClean="0">
                <a:solidFill>
                  <a:srgbClr val="66FFFF"/>
                </a:solidFill>
                <a:latin typeface="+mj-lt"/>
                <a:ea typeface="楷体_GB2312" pitchFamily="49" charset="-122"/>
              </a:rPr>
              <a:t>10.5  </a:t>
            </a:r>
            <a:r>
              <a:rPr lang="zh-CN" altLang="en-US" sz="3600" dirty="0">
                <a:solidFill>
                  <a:srgbClr val="66FFFF"/>
                </a:solidFill>
                <a:latin typeface="+mj-lt"/>
                <a:ea typeface="楷体_GB2312" pitchFamily="49" charset="-122"/>
              </a:rPr>
              <a:t>磁盘的调度</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395288" y="2060575"/>
            <a:ext cx="8569325" cy="1655763"/>
          </a:xfrm>
        </p:spPr>
        <p:txBody>
          <a:bodyPr/>
          <a:lstStyle/>
          <a:p>
            <a:pPr eaLnBrk="1" hangingPunct="1">
              <a:spcBef>
                <a:spcPct val="50000"/>
              </a:spcBef>
              <a:buSzPct val="80000"/>
              <a:buFont typeface="Wingdings" panose="05000000000000000000" pitchFamily="2" charset="2"/>
              <a:buChar char="n"/>
            </a:pPr>
            <a:r>
              <a:rPr lang="zh-CN" altLang="en-US" b="1" dirty="0" smtClean="0">
                <a:solidFill>
                  <a:srgbClr val="FFFF00"/>
                </a:solidFill>
                <a:latin typeface="楷体_GB2312" pitchFamily="49" charset="-122"/>
                <a:ea typeface="楷体_GB2312" pitchFamily="49" charset="-122"/>
              </a:rPr>
              <a:t>设备管理是</a:t>
            </a:r>
            <a:r>
              <a:rPr lang="en-US" altLang="zh-CN" b="1" dirty="0" smtClean="0">
                <a:solidFill>
                  <a:srgbClr val="FFFF00"/>
                </a:solidFill>
                <a:latin typeface="楷体_GB2312" pitchFamily="49" charset="-122"/>
                <a:ea typeface="楷体_GB2312" pitchFamily="49" charset="-122"/>
              </a:rPr>
              <a:t>OS</a:t>
            </a:r>
            <a:r>
              <a:rPr lang="zh-CN" altLang="en-US" b="1" dirty="0" smtClean="0">
                <a:solidFill>
                  <a:srgbClr val="FFFF00"/>
                </a:solidFill>
                <a:latin typeface="楷体_GB2312" pitchFamily="49" charset="-122"/>
                <a:ea typeface="楷体_GB2312" pitchFamily="49" charset="-122"/>
              </a:rPr>
              <a:t>的重要组成部分之一。</a:t>
            </a:r>
          </a:p>
          <a:p>
            <a:pPr eaLnBrk="1" hangingPunct="1">
              <a:spcBef>
                <a:spcPct val="50000"/>
              </a:spcBef>
              <a:buSzPct val="80000"/>
              <a:buFont typeface="Wingdings" panose="05000000000000000000" pitchFamily="2" charset="2"/>
              <a:buChar char="n"/>
            </a:pPr>
            <a:r>
              <a:rPr lang="zh-CN" altLang="en-US" b="1" dirty="0" smtClean="0">
                <a:solidFill>
                  <a:srgbClr val="FFFF00"/>
                </a:solidFill>
                <a:latin typeface="楷体_GB2312" pitchFamily="49" charset="-122"/>
                <a:ea typeface="楷体_GB2312" pitchFamily="49" charset="-122"/>
              </a:rPr>
              <a:t>外部设备</a:t>
            </a:r>
            <a:r>
              <a:rPr lang="en-US" altLang="zh-CN" b="1" dirty="0" smtClean="0">
                <a:solidFill>
                  <a:srgbClr val="FFFF00"/>
                </a:solidFill>
                <a:latin typeface="楷体_GB2312" pitchFamily="49" charset="-122"/>
                <a:ea typeface="楷体_GB2312" pitchFamily="49" charset="-122"/>
              </a:rPr>
              <a:t>,</a:t>
            </a:r>
            <a:r>
              <a:rPr lang="zh-CN" altLang="en-US" b="1" dirty="0" smtClean="0">
                <a:solidFill>
                  <a:srgbClr val="FFFF00"/>
                </a:solidFill>
                <a:latin typeface="楷体_GB2312" pitchFamily="49" charset="-122"/>
                <a:ea typeface="楷体_GB2312" pitchFamily="49" charset="-122"/>
              </a:rPr>
              <a:t>即普通的硬设备。</a:t>
            </a:r>
          </a:p>
        </p:txBody>
      </p:sp>
      <p:sp>
        <p:nvSpPr>
          <p:cNvPr id="378884" name="Rectangle 4"/>
          <p:cNvSpPr>
            <a:spLocks noGrp="1" noChangeArrowheads="1"/>
          </p:cNvSpPr>
          <p:nvPr>
            <p:ph type="title"/>
          </p:nvPr>
        </p:nvSpPr>
        <p:spPr>
          <a:xfrm>
            <a:off x="1763713" y="260350"/>
            <a:ext cx="5545137" cy="739775"/>
          </a:xfrm>
          <a:solidFill>
            <a:srgbClr val="CCFFCC"/>
          </a:solidFill>
        </p:spPr>
        <p:txBody>
          <a:bodyPr/>
          <a:lstStyle/>
          <a:p>
            <a:pPr algn="ctr" eaLnBrk="1" hangingPunct="1">
              <a:defRPr/>
            </a:pPr>
            <a:r>
              <a:rPr lang="en-US" altLang="zh-CN" b="1" dirty="0" smtClean="0">
                <a:solidFill>
                  <a:srgbClr val="D60093"/>
                </a:solidFill>
                <a:effectLst>
                  <a:outerShdw blurRad="38100" dist="38100" dir="2700000" algn="tl">
                    <a:srgbClr val="000000"/>
                  </a:outerShdw>
                </a:effectLst>
                <a:ea typeface="隶书" pitchFamily="49" charset="-122"/>
              </a:rPr>
              <a:t>10.1  </a:t>
            </a:r>
            <a:r>
              <a:rPr lang="zh-CN" altLang="en-US" sz="4800" b="1" dirty="0" smtClean="0">
                <a:solidFill>
                  <a:srgbClr val="D60093"/>
                </a:solidFill>
                <a:effectLst>
                  <a:outerShdw blurRad="38100" dist="38100" dir="2700000" algn="tl">
                    <a:srgbClr val="000000"/>
                  </a:outerShdw>
                </a:effectLst>
              </a:rPr>
              <a:t>引言</a:t>
            </a:r>
          </a:p>
        </p:txBody>
      </p:sp>
      <p:sp>
        <p:nvSpPr>
          <p:cNvPr id="378887" name="AutoShape 7">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378888" name="Rectangle 8"/>
          <p:cNvSpPr>
            <a:spLocks noChangeArrowheads="1"/>
          </p:cNvSpPr>
          <p:nvPr/>
        </p:nvSpPr>
        <p:spPr bwMode="auto">
          <a:xfrm>
            <a:off x="611188" y="1341438"/>
            <a:ext cx="4968875" cy="641350"/>
          </a:xfrm>
          <a:prstGeom prst="rect">
            <a:avLst/>
          </a:prstGeom>
          <a:noFill/>
          <a:ln w="12700" cap="sq">
            <a:noFill/>
            <a:miter lim="800000"/>
            <a:headEnd type="none" w="sm" len="sm"/>
            <a:tailEnd type="none" w="sm" len="sm"/>
          </a:ln>
          <a:effectLst/>
        </p:spPr>
        <p:txBody>
          <a:bodyPr>
            <a:spAutoFit/>
          </a:bodyPr>
          <a:lstStyle/>
          <a:p>
            <a:pPr eaLnBrk="1" hangingPunct="1">
              <a:defRPr/>
            </a:pPr>
            <a:r>
              <a:rPr lang="en-US" altLang="zh-CN" sz="3600" dirty="0" smtClean="0">
                <a:solidFill>
                  <a:srgbClr val="FFFF00"/>
                </a:solidFill>
                <a:latin typeface="+mn-lt"/>
                <a:ea typeface="楷体_GB2312" pitchFamily="49" charset="-122"/>
              </a:rPr>
              <a:t>10.1.1  </a:t>
            </a:r>
            <a:r>
              <a:rPr lang="zh-CN" altLang="en-US" sz="3600" dirty="0">
                <a:solidFill>
                  <a:srgbClr val="FFFF00"/>
                </a:solidFill>
                <a:latin typeface="+mn-lt"/>
                <a:ea typeface="楷体_GB2312" pitchFamily="49" charset="-122"/>
              </a:rPr>
              <a:t>设备的类别</a:t>
            </a:r>
          </a:p>
        </p:txBody>
      </p:sp>
      <p:sp>
        <p:nvSpPr>
          <p:cNvPr id="8199" name="AutoShape 9"/>
          <p:cNvSpPr>
            <a:spLocks noChangeArrowheads="1"/>
          </p:cNvSpPr>
          <p:nvPr/>
        </p:nvSpPr>
        <p:spPr bwMode="auto">
          <a:xfrm>
            <a:off x="5867400" y="4797425"/>
            <a:ext cx="3276600" cy="488950"/>
          </a:xfrm>
          <a:prstGeom prst="wedgeRoundRectCallout">
            <a:avLst>
              <a:gd name="adj1" fmla="val -73273"/>
              <a:gd name="adj2" fmla="val -361745"/>
              <a:gd name="adj3" fmla="val 16667"/>
            </a:avLst>
          </a:prstGeom>
          <a:solidFill>
            <a:srgbClr val="FFFF00"/>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solidFill>
                  <a:srgbClr val="0000A8"/>
                </a:solidFill>
              </a:rPr>
              <a:t>除了</a:t>
            </a:r>
            <a:r>
              <a:rPr lang="en-US" altLang="zh-CN" sz="2400">
                <a:solidFill>
                  <a:srgbClr val="0000A8"/>
                </a:solidFill>
              </a:rPr>
              <a:t>CPU</a:t>
            </a:r>
            <a:r>
              <a:rPr lang="zh-CN" altLang="en-US" sz="2400">
                <a:solidFill>
                  <a:srgbClr val="0000A8"/>
                </a:solidFill>
              </a:rPr>
              <a:t>和内存之外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378887"/>
                                        </p:tgtEl>
                                        <p:attrNameLst>
                                          <p:attrName>style.visibility</p:attrName>
                                        </p:attrNameLst>
                                      </p:cBhvr>
                                      <p:to>
                                        <p:strVal val="visible"/>
                                      </p:to>
                                    </p:set>
                                    <p:anim calcmode="lin" valueType="num">
                                      <p:cBhvr additive="base">
                                        <p:cTn id="7" dur="500" fill="hold"/>
                                        <p:tgtEl>
                                          <p:spTgt spid="378887"/>
                                        </p:tgtEl>
                                        <p:attrNameLst>
                                          <p:attrName>ppt_x</p:attrName>
                                        </p:attrNameLst>
                                      </p:cBhvr>
                                      <p:tavLst>
                                        <p:tav tm="0">
                                          <p:val>
                                            <p:strVal val="1+#ppt_w/2"/>
                                          </p:val>
                                        </p:tav>
                                        <p:tav tm="100000">
                                          <p:val>
                                            <p:strVal val="#ppt_x"/>
                                          </p:val>
                                        </p:tav>
                                      </p:tavLst>
                                    </p:anim>
                                    <p:anim calcmode="lin" valueType="num">
                                      <p:cBhvr additive="base">
                                        <p:cTn id="8" dur="500" fill="hold"/>
                                        <p:tgtEl>
                                          <p:spTgt spid="3788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8" descr="图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052513"/>
            <a:ext cx="7200900" cy="525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682" name="Rectangle 2"/>
          <p:cNvSpPr>
            <a:spLocks noGrp="1" noChangeArrowheads="1"/>
          </p:cNvSpPr>
          <p:nvPr>
            <p:ph type="title"/>
          </p:nvPr>
        </p:nvSpPr>
        <p:spPr>
          <a:xfrm>
            <a:off x="755650" y="0"/>
            <a:ext cx="7200900" cy="647700"/>
          </a:xfrm>
        </p:spPr>
        <p:txBody>
          <a:bodyPr/>
          <a:lstStyle/>
          <a:p>
            <a:pPr eaLnBrk="1" hangingPunct="1">
              <a:defRPr/>
            </a:pPr>
            <a:r>
              <a:rPr lang="zh-CN" altLang="en-US" sz="3200" b="1" dirty="0" smtClean="0">
                <a:solidFill>
                  <a:srgbClr val="FFFF00"/>
                </a:solidFill>
                <a:effectLst>
                  <a:outerShdw blurRad="38100" dist="38100" dir="2700000" algn="tl">
                    <a:srgbClr val="000000"/>
                  </a:outerShdw>
                </a:effectLst>
                <a:latin typeface="楷体_GB2312" pitchFamily="49" charset="-122"/>
                <a:ea typeface="楷体_GB2312" pitchFamily="49" charset="-122"/>
              </a:rPr>
              <a:t>（</a:t>
            </a:r>
            <a:r>
              <a:rPr lang="en-US" altLang="zh-CN" sz="3200" b="1" dirty="0" smtClean="0">
                <a:solidFill>
                  <a:srgbClr val="FFFF00"/>
                </a:solidFill>
                <a:effectLst>
                  <a:outerShdw blurRad="38100" dist="38100" dir="2700000" algn="tl">
                    <a:srgbClr val="000000"/>
                  </a:outerShdw>
                </a:effectLst>
                <a:latin typeface="楷体_GB2312" pitchFamily="49" charset="-122"/>
                <a:ea typeface="楷体_GB2312" pitchFamily="49" charset="-122"/>
              </a:rPr>
              <a:t>1</a:t>
            </a:r>
            <a:r>
              <a:rPr lang="zh-CN" altLang="en-US" sz="3200" b="1" dirty="0" smtClean="0">
                <a:solidFill>
                  <a:srgbClr val="FFFF00"/>
                </a:solidFill>
                <a:effectLst>
                  <a:outerShdw blurRad="38100" dist="38100" dir="2700000" algn="tl">
                    <a:srgbClr val="000000"/>
                  </a:outerShdw>
                </a:effectLst>
                <a:latin typeface="楷体_GB2312" pitchFamily="49" charset="-122"/>
                <a:ea typeface="楷体_GB2312" pitchFamily="49" charset="-122"/>
              </a:rPr>
              <a:t>）按实用特性</a:t>
            </a:r>
          </a:p>
        </p:txBody>
      </p:sp>
      <p:sp>
        <p:nvSpPr>
          <p:cNvPr id="583684" name="AutoShape 4"/>
          <p:cNvSpPr>
            <a:spLocks noChangeArrowheads="1"/>
          </p:cNvSpPr>
          <p:nvPr/>
        </p:nvSpPr>
        <p:spPr bwMode="auto">
          <a:xfrm>
            <a:off x="7164388" y="3573463"/>
            <a:ext cx="1728787" cy="936625"/>
          </a:xfrm>
          <a:prstGeom prst="wedgeRoundRectCallout">
            <a:avLst>
              <a:gd name="adj1" fmla="val -159731"/>
              <a:gd name="adj2" fmla="val 80000"/>
              <a:gd name="adj3" fmla="val 16667"/>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solidFill>
                  <a:srgbClr val="0000A8"/>
                </a:solidFill>
              </a:rPr>
              <a:t>如：光笔</a:t>
            </a:r>
          </a:p>
          <a:p>
            <a:pPr algn="ctr" eaLnBrk="1" hangingPunct="1">
              <a:spcBef>
                <a:spcPct val="0"/>
              </a:spcBef>
              <a:buClrTx/>
              <a:buSzTx/>
              <a:buFontTx/>
              <a:buNone/>
            </a:pPr>
            <a:r>
              <a:rPr lang="zh-CN" altLang="en-US" sz="2400">
                <a:solidFill>
                  <a:srgbClr val="0000A8"/>
                </a:solidFill>
              </a:rPr>
              <a:t>语音录入</a:t>
            </a:r>
          </a:p>
        </p:txBody>
      </p:sp>
      <p:sp>
        <p:nvSpPr>
          <p:cNvPr id="583685" name="AutoShape 5"/>
          <p:cNvSpPr>
            <a:spLocks noChangeArrowheads="1"/>
          </p:cNvSpPr>
          <p:nvPr/>
        </p:nvSpPr>
        <p:spPr bwMode="auto">
          <a:xfrm>
            <a:off x="7164388" y="2276475"/>
            <a:ext cx="1979612" cy="936625"/>
          </a:xfrm>
          <a:prstGeom prst="wedgeRoundRectCallout">
            <a:avLst>
              <a:gd name="adj1" fmla="val -79593"/>
              <a:gd name="adj2" fmla="val 56102"/>
              <a:gd name="adj3" fmla="val 16667"/>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solidFill>
                  <a:srgbClr val="0000A8"/>
                </a:solidFill>
              </a:rPr>
              <a:t>还有：图像</a:t>
            </a:r>
          </a:p>
          <a:p>
            <a:pPr algn="ctr" eaLnBrk="1" hangingPunct="1">
              <a:spcBef>
                <a:spcPct val="0"/>
              </a:spcBef>
              <a:buClrTx/>
              <a:buSzTx/>
              <a:buFontTx/>
              <a:buNone/>
            </a:pPr>
            <a:r>
              <a:rPr lang="zh-CN" altLang="en-US" sz="2400">
                <a:solidFill>
                  <a:srgbClr val="0000A8"/>
                </a:solidFill>
              </a:rPr>
              <a:t>扫描仪</a:t>
            </a:r>
          </a:p>
        </p:txBody>
      </p:sp>
      <p:sp>
        <p:nvSpPr>
          <p:cNvPr id="583687" name="AutoShape 7"/>
          <p:cNvSpPr>
            <a:spLocks noChangeArrowheads="1"/>
          </p:cNvSpPr>
          <p:nvPr/>
        </p:nvSpPr>
        <p:spPr bwMode="auto">
          <a:xfrm>
            <a:off x="7235825" y="981075"/>
            <a:ext cx="1908175" cy="936625"/>
          </a:xfrm>
          <a:prstGeom prst="wedgeRoundRectCallout">
            <a:avLst>
              <a:gd name="adj1" fmla="val -65722"/>
              <a:gd name="adj2" fmla="val 43560"/>
              <a:gd name="adj3" fmla="val 16667"/>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solidFill>
                  <a:srgbClr val="0000A8"/>
                </a:solidFill>
              </a:rPr>
              <a:t>还有：</a:t>
            </a:r>
            <a:r>
              <a:rPr lang="en-US" altLang="zh-CN" sz="2400">
                <a:solidFill>
                  <a:srgbClr val="0000A8"/>
                </a:solidFill>
              </a:rPr>
              <a:t>U</a:t>
            </a:r>
            <a:r>
              <a:rPr lang="zh-CN" altLang="en-US" sz="2400">
                <a:solidFill>
                  <a:srgbClr val="0000A8"/>
                </a:solidFill>
              </a:rPr>
              <a:t>盘</a:t>
            </a:r>
          </a:p>
          <a:p>
            <a:pPr algn="ctr" eaLnBrk="1" hangingPunct="1">
              <a:spcBef>
                <a:spcPct val="0"/>
              </a:spcBef>
              <a:buClrTx/>
              <a:buSzTx/>
              <a:buFontTx/>
              <a:buNone/>
            </a:pPr>
            <a:r>
              <a:rPr lang="en-US" altLang="zh-CN" sz="2400">
                <a:solidFill>
                  <a:srgbClr val="0000A8"/>
                </a:solidFill>
              </a:rPr>
              <a:t>mp3</a:t>
            </a:r>
            <a:r>
              <a:rPr lang="zh-CN" altLang="en-US" sz="2400">
                <a:solidFill>
                  <a:srgbClr val="0000A8"/>
                </a:solidFill>
              </a:rPr>
              <a:t>、</a:t>
            </a:r>
            <a:r>
              <a:rPr lang="en-US" altLang="zh-CN" sz="2400">
                <a:solidFill>
                  <a:srgbClr val="0000A8"/>
                </a:solidFill>
              </a:rPr>
              <a:t>mp4</a:t>
            </a:r>
          </a:p>
        </p:txBody>
      </p:sp>
      <p:sp>
        <p:nvSpPr>
          <p:cNvPr id="583689" name="AutoShape 9">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3687"/>
                                        </p:tgtEl>
                                        <p:attrNameLst>
                                          <p:attrName>style.visibility</p:attrName>
                                        </p:attrNameLst>
                                      </p:cBhvr>
                                      <p:to>
                                        <p:strVal val="visible"/>
                                      </p:to>
                                    </p:set>
                                    <p:anim calcmode="lin" valueType="num">
                                      <p:cBhvr additive="base">
                                        <p:cTn id="7" dur="500" fill="hold"/>
                                        <p:tgtEl>
                                          <p:spTgt spid="583687"/>
                                        </p:tgtEl>
                                        <p:attrNameLst>
                                          <p:attrName>ppt_x</p:attrName>
                                        </p:attrNameLst>
                                      </p:cBhvr>
                                      <p:tavLst>
                                        <p:tav tm="0">
                                          <p:val>
                                            <p:strVal val="#ppt_x"/>
                                          </p:val>
                                        </p:tav>
                                        <p:tav tm="100000">
                                          <p:val>
                                            <p:strVal val="#ppt_x"/>
                                          </p:val>
                                        </p:tav>
                                      </p:tavLst>
                                    </p:anim>
                                    <p:anim calcmode="lin" valueType="num">
                                      <p:cBhvr additive="base">
                                        <p:cTn id="8" dur="500" fill="hold"/>
                                        <p:tgtEl>
                                          <p:spTgt spid="58368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3685"/>
                                        </p:tgtEl>
                                        <p:attrNameLst>
                                          <p:attrName>style.visibility</p:attrName>
                                        </p:attrNameLst>
                                      </p:cBhvr>
                                      <p:to>
                                        <p:strVal val="visible"/>
                                      </p:to>
                                    </p:set>
                                    <p:anim calcmode="lin" valueType="num">
                                      <p:cBhvr additive="base">
                                        <p:cTn id="13" dur="500" fill="hold"/>
                                        <p:tgtEl>
                                          <p:spTgt spid="583685"/>
                                        </p:tgtEl>
                                        <p:attrNameLst>
                                          <p:attrName>ppt_x</p:attrName>
                                        </p:attrNameLst>
                                      </p:cBhvr>
                                      <p:tavLst>
                                        <p:tav tm="0">
                                          <p:val>
                                            <p:strVal val="#ppt_x"/>
                                          </p:val>
                                        </p:tav>
                                        <p:tav tm="100000">
                                          <p:val>
                                            <p:strVal val="#ppt_x"/>
                                          </p:val>
                                        </p:tav>
                                      </p:tavLst>
                                    </p:anim>
                                    <p:anim calcmode="lin" valueType="num">
                                      <p:cBhvr additive="base">
                                        <p:cTn id="14" dur="500" fill="hold"/>
                                        <p:tgtEl>
                                          <p:spTgt spid="58368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83684"/>
                                        </p:tgtEl>
                                        <p:attrNameLst>
                                          <p:attrName>style.visibility</p:attrName>
                                        </p:attrNameLst>
                                      </p:cBhvr>
                                      <p:to>
                                        <p:strVal val="visible"/>
                                      </p:to>
                                    </p:set>
                                    <p:anim calcmode="lin" valueType="num">
                                      <p:cBhvr additive="base">
                                        <p:cTn id="19" dur="500" fill="hold"/>
                                        <p:tgtEl>
                                          <p:spTgt spid="583684"/>
                                        </p:tgtEl>
                                        <p:attrNameLst>
                                          <p:attrName>ppt_x</p:attrName>
                                        </p:attrNameLst>
                                      </p:cBhvr>
                                      <p:tavLst>
                                        <p:tav tm="0">
                                          <p:val>
                                            <p:strVal val="#ppt_x"/>
                                          </p:val>
                                        </p:tav>
                                        <p:tav tm="100000">
                                          <p:val>
                                            <p:strVal val="#ppt_x"/>
                                          </p:val>
                                        </p:tav>
                                      </p:tavLst>
                                    </p:anim>
                                    <p:anim calcmode="lin" valueType="num">
                                      <p:cBhvr additive="base">
                                        <p:cTn id="20" dur="500" fill="hold"/>
                                        <p:tgtEl>
                                          <p:spTgt spid="583684"/>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 presetClass="entr" presetSubtype="6" fill="hold" grpId="0" nodeType="afterEffect">
                                  <p:stCondLst>
                                    <p:cond delay="0"/>
                                  </p:stCondLst>
                                  <p:childTnLst>
                                    <p:set>
                                      <p:cBhvr>
                                        <p:cTn id="23" dur="1" fill="hold">
                                          <p:stCondLst>
                                            <p:cond delay="0"/>
                                          </p:stCondLst>
                                        </p:cTn>
                                        <p:tgtEl>
                                          <p:spTgt spid="583689"/>
                                        </p:tgtEl>
                                        <p:attrNameLst>
                                          <p:attrName>style.visibility</p:attrName>
                                        </p:attrNameLst>
                                      </p:cBhvr>
                                      <p:to>
                                        <p:strVal val="visible"/>
                                      </p:to>
                                    </p:set>
                                    <p:anim calcmode="lin" valueType="num">
                                      <p:cBhvr additive="base">
                                        <p:cTn id="24" dur="500" fill="hold"/>
                                        <p:tgtEl>
                                          <p:spTgt spid="583689"/>
                                        </p:tgtEl>
                                        <p:attrNameLst>
                                          <p:attrName>ppt_x</p:attrName>
                                        </p:attrNameLst>
                                      </p:cBhvr>
                                      <p:tavLst>
                                        <p:tav tm="0">
                                          <p:val>
                                            <p:strVal val="1+#ppt_w/2"/>
                                          </p:val>
                                        </p:tav>
                                        <p:tav tm="100000">
                                          <p:val>
                                            <p:strVal val="#ppt_x"/>
                                          </p:val>
                                        </p:tav>
                                      </p:tavLst>
                                    </p:anim>
                                    <p:anim calcmode="lin" valueType="num">
                                      <p:cBhvr additive="base">
                                        <p:cTn id="25" dur="500" fill="hold"/>
                                        <p:tgtEl>
                                          <p:spTgt spid="5836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4" grpId="0" animBg="1"/>
      <p:bldP spid="583685" grpId="0" animBg="1"/>
      <p:bldP spid="583687" grpId="0" animBg="1"/>
      <p:bldP spid="5836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358775" y="3213100"/>
            <a:ext cx="8785225" cy="1727200"/>
          </a:xfrm>
        </p:spPr>
        <p:txBody>
          <a:bodyPr/>
          <a:lstStyle/>
          <a:p>
            <a:pPr eaLnBrk="1" hangingPunct="1">
              <a:defRPr/>
            </a:pPr>
            <a:r>
              <a:rPr lang="zh-CN" altLang="en-US" sz="2800" b="1" dirty="0" smtClean="0">
                <a:solidFill>
                  <a:srgbClr val="FFFF00"/>
                </a:solidFill>
                <a:effectLst>
                  <a:outerShdw blurRad="38100" dist="38100" dir="2700000" algn="tl">
                    <a:srgbClr val="000000"/>
                  </a:outerShdw>
                </a:effectLst>
                <a:latin typeface="+mn-lt"/>
                <a:ea typeface="楷体_GB2312" pitchFamily="49" charset="-122"/>
              </a:rPr>
              <a:t>块</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：通常是存储设备</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以数据块为单位输入输出</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有结构设备</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传输速率高</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可寻址</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输入输出时采用</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DMA</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方式</a:t>
            </a:r>
            <a:br>
              <a:rPr lang="zh-CN" altLang="en-US" sz="2800" b="1" dirty="0" smtClean="0">
                <a:solidFill>
                  <a:schemeClr val="tx1"/>
                </a:solidFill>
                <a:effectLst>
                  <a:outerShdw blurRad="38100" dist="38100" dir="2700000" algn="tl">
                    <a:srgbClr val="000000"/>
                  </a:outerShdw>
                </a:effectLst>
                <a:latin typeface="+mn-lt"/>
                <a:ea typeface="楷体_GB2312" pitchFamily="49" charset="-122"/>
              </a:rPr>
            </a:br>
            <a:r>
              <a:rPr lang="zh-CN" altLang="en-US" sz="2800" b="1" dirty="0" smtClean="0">
                <a:solidFill>
                  <a:srgbClr val="FFFF00"/>
                </a:solidFill>
                <a:effectLst>
                  <a:outerShdw blurRad="38100" dist="38100" dir="2700000" algn="tl">
                    <a:srgbClr val="000000"/>
                  </a:outerShdw>
                </a:effectLst>
                <a:latin typeface="+mn-lt"/>
                <a:ea typeface="楷体_GB2312" pitchFamily="49" charset="-122"/>
              </a:rPr>
              <a:t>字符</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：传输的单位是字符</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无结构</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种类多</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不可寻址</a:t>
            </a:r>
            <a:r>
              <a:rPr lang="en-US" altLang="zh-CN" sz="2800" b="1" dirty="0" smtClean="0">
                <a:solidFill>
                  <a:schemeClr val="tx1"/>
                </a:solidFill>
                <a:effectLst>
                  <a:outerShdw blurRad="38100" dist="38100" dir="2700000" algn="tl">
                    <a:srgbClr val="000000"/>
                  </a:outerShdw>
                </a:effectLst>
                <a:latin typeface="+mn-lt"/>
                <a:ea typeface="楷体_GB2312" pitchFamily="49" charset="-122"/>
              </a:rPr>
              <a:t>;</a:t>
            </a:r>
            <a:r>
              <a:rPr lang="zh-CN" altLang="en-US" sz="2800" b="1" dirty="0" smtClean="0">
                <a:solidFill>
                  <a:schemeClr val="tx1"/>
                </a:solidFill>
                <a:effectLst>
                  <a:outerShdw blurRad="38100" dist="38100" dir="2700000" algn="tl">
                    <a:srgbClr val="000000"/>
                  </a:outerShdw>
                </a:effectLst>
                <a:latin typeface="+mn-lt"/>
                <a:ea typeface="楷体_GB2312" pitchFamily="49" charset="-122"/>
              </a:rPr>
              <a:t>输入输出时采用中断方式。如打印机、串口</a:t>
            </a:r>
            <a:endParaRPr lang="zh-CN" altLang="en-US" sz="2800" b="1" dirty="0" smtClean="0">
              <a:solidFill>
                <a:srgbClr val="FFFF00"/>
              </a:solidFill>
              <a:effectLst>
                <a:outerShdw blurRad="38100" dist="38100" dir="2700000" algn="tl">
                  <a:srgbClr val="000000"/>
                </a:outerShdw>
              </a:effectLst>
              <a:latin typeface="+mn-lt"/>
              <a:ea typeface="楷体_GB2312" pitchFamily="49" charset="-122"/>
            </a:endParaRPr>
          </a:p>
        </p:txBody>
      </p:sp>
      <p:sp>
        <p:nvSpPr>
          <p:cNvPr id="582666" name="Rectangle 10"/>
          <p:cNvSpPr>
            <a:spLocks noChangeArrowheads="1"/>
          </p:cNvSpPr>
          <p:nvPr/>
        </p:nvSpPr>
        <p:spPr bwMode="auto">
          <a:xfrm>
            <a:off x="431800" y="476250"/>
            <a:ext cx="8532813" cy="2232025"/>
          </a:xfrm>
          <a:prstGeom prst="rect">
            <a:avLst/>
          </a:prstGeom>
          <a:noFill/>
          <a:ln w="12700" cap="sq">
            <a:noFill/>
            <a:miter lim="800000"/>
            <a:headEnd type="none" w="sm" len="sm"/>
            <a:tailEnd type="none" w="sm" len="sm"/>
          </a:ln>
          <a:effectLst/>
        </p:spPr>
        <p:txBody>
          <a:bodyPr anchor="ctr"/>
          <a:lstStyle/>
          <a:p>
            <a:pPr eaLnBrk="1" hangingPunct="1">
              <a:defRPr/>
            </a:pPr>
            <a:r>
              <a:rPr lang="zh-CN" altLang="en-US">
                <a:solidFill>
                  <a:srgbClr val="FFFF00"/>
                </a:solidFill>
                <a:effectLst>
                  <a:outerShdw blurRad="38100" dist="38100" dir="2700000" algn="tl">
                    <a:srgbClr val="000000"/>
                  </a:outerShdw>
                </a:effectLst>
                <a:latin typeface="楷体_GB2312" pitchFamily="49" charset="-122"/>
                <a:ea typeface="楷体_GB2312" pitchFamily="49" charset="-122"/>
              </a:rPr>
              <a:t>系统设备</a:t>
            </a:r>
            <a:r>
              <a:rPr lang="zh-CN" altLang="en-US">
                <a:effectLst>
                  <a:outerShdw blurRad="38100" dist="38100" dir="2700000" algn="tl">
                    <a:srgbClr val="000000"/>
                  </a:outerShdw>
                </a:effectLst>
                <a:latin typeface="楷体_GB2312" pitchFamily="49" charset="-122"/>
                <a:ea typeface="楷体_GB2312" pitchFamily="49" charset="-122"/>
              </a:rPr>
              <a:t>：在操作系统生成时就已配置好的各种标准设备</a:t>
            </a:r>
            <a:br>
              <a:rPr lang="zh-CN" altLang="en-US">
                <a:effectLst>
                  <a:outerShdw blurRad="38100" dist="38100" dir="2700000" algn="tl">
                    <a:srgbClr val="000000"/>
                  </a:outerShdw>
                </a:effectLst>
                <a:latin typeface="楷体_GB2312" pitchFamily="49" charset="-122"/>
                <a:ea typeface="楷体_GB2312" pitchFamily="49" charset="-122"/>
              </a:rPr>
            </a:br>
            <a:r>
              <a:rPr lang="zh-CN" altLang="en-US">
                <a:solidFill>
                  <a:srgbClr val="FFFF00"/>
                </a:solidFill>
                <a:effectLst>
                  <a:outerShdw blurRad="38100" dist="38100" dir="2700000" algn="tl">
                    <a:srgbClr val="000000"/>
                  </a:outerShdw>
                </a:effectLst>
                <a:latin typeface="楷体_GB2312" pitchFamily="49" charset="-122"/>
                <a:ea typeface="楷体_GB2312" pitchFamily="49" charset="-122"/>
              </a:rPr>
              <a:t>用户设备</a:t>
            </a:r>
            <a:r>
              <a:rPr lang="zh-CN" altLang="en-US">
                <a:effectLst>
                  <a:outerShdw blurRad="38100" dist="38100" dir="2700000" algn="tl">
                    <a:srgbClr val="000000"/>
                  </a:outerShdw>
                </a:effectLst>
                <a:latin typeface="楷体_GB2312" pitchFamily="49" charset="-122"/>
                <a:ea typeface="楷体_GB2312" pitchFamily="49" charset="-122"/>
              </a:rPr>
              <a:t>：由用户自己安装配置后由操作系统统一管理的设备。例如，网络系统中的各种网板、实时系统中的</a:t>
            </a:r>
            <a:r>
              <a:rPr lang="en-US" altLang="zh-CN">
                <a:effectLst>
                  <a:outerShdw blurRad="38100" dist="38100" dir="2700000" algn="tl">
                    <a:srgbClr val="000000"/>
                  </a:outerShdw>
                </a:effectLst>
                <a:latin typeface="楷体_GB2312" pitchFamily="49" charset="-122"/>
                <a:ea typeface="楷体_GB2312" pitchFamily="49" charset="-122"/>
              </a:rPr>
              <a:t>A/D</a:t>
            </a:r>
          </a:p>
        </p:txBody>
      </p:sp>
      <p:sp>
        <p:nvSpPr>
          <p:cNvPr id="582667" name="Rectangle 11"/>
          <p:cNvSpPr>
            <a:spLocks noChangeArrowheads="1"/>
          </p:cNvSpPr>
          <p:nvPr/>
        </p:nvSpPr>
        <p:spPr bwMode="auto">
          <a:xfrm>
            <a:off x="611188" y="5418138"/>
            <a:ext cx="2952750" cy="1439862"/>
          </a:xfrm>
          <a:prstGeom prst="rect">
            <a:avLst/>
          </a:prstGeom>
          <a:noFill/>
          <a:ln w="12700" cap="sq">
            <a:noFill/>
            <a:miter lim="800000"/>
            <a:headEnd type="none" w="sm" len="sm"/>
            <a:tailEnd type="none" w="sm" len="sm"/>
          </a:ln>
          <a:effectLst/>
        </p:spPr>
        <p:txBody>
          <a:bodyPr anchor="ctr"/>
          <a:lstStyle/>
          <a:p>
            <a:pPr eaLnBrk="1" hangingPunct="1">
              <a:defRPr/>
            </a:pPr>
            <a:r>
              <a:rPr lang="zh-CN" altLang="en-US">
                <a:effectLst>
                  <a:outerShdw blurRad="38100" dist="38100" dir="2700000" algn="tl">
                    <a:srgbClr val="000000"/>
                  </a:outerShdw>
                </a:effectLst>
                <a:latin typeface="楷体_GB2312" pitchFamily="49" charset="-122"/>
                <a:ea typeface="楷体_GB2312" pitchFamily="49" charset="-122"/>
              </a:rPr>
              <a:t>低：键盘</a:t>
            </a:r>
            <a:br>
              <a:rPr lang="zh-CN" altLang="en-US">
                <a:effectLst>
                  <a:outerShdw blurRad="38100" dist="38100" dir="2700000" algn="tl">
                    <a:srgbClr val="000000"/>
                  </a:outerShdw>
                </a:effectLst>
                <a:latin typeface="楷体_GB2312" pitchFamily="49" charset="-122"/>
                <a:ea typeface="楷体_GB2312" pitchFamily="49" charset="-122"/>
              </a:rPr>
            </a:br>
            <a:r>
              <a:rPr lang="zh-CN" altLang="en-US">
                <a:effectLst>
                  <a:outerShdw blurRad="38100" dist="38100" dir="2700000" algn="tl">
                    <a:srgbClr val="000000"/>
                  </a:outerShdw>
                </a:effectLst>
                <a:latin typeface="楷体_GB2312" pitchFamily="49" charset="-122"/>
                <a:ea typeface="楷体_GB2312" pitchFamily="49" charset="-122"/>
              </a:rPr>
              <a:t>中：打印机</a:t>
            </a:r>
            <a:br>
              <a:rPr lang="zh-CN" altLang="en-US">
                <a:effectLst>
                  <a:outerShdw blurRad="38100" dist="38100" dir="2700000" algn="tl">
                    <a:srgbClr val="000000"/>
                  </a:outerShdw>
                </a:effectLst>
                <a:latin typeface="楷体_GB2312" pitchFamily="49" charset="-122"/>
                <a:ea typeface="楷体_GB2312" pitchFamily="49" charset="-122"/>
              </a:rPr>
            </a:br>
            <a:r>
              <a:rPr lang="zh-CN" altLang="en-US">
                <a:effectLst>
                  <a:outerShdw blurRad="38100" dist="38100" dir="2700000" algn="tl">
                    <a:srgbClr val="000000"/>
                  </a:outerShdw>
                </a:effectLst>
                <a:latin typeface="楷体_GB2312" pitchFamily="49" charset="-122"/>
                <a:ea typeface="楷体_GB2312" pitchFamily="49" charset="-122"/>
              </a:rPr>
              <a:t>高：磁盘</a:t>
            </a:r>
          </a:p>
        </p:txBody>
      </p:sp>
      <p:sp>
        <p:nvSpPr>
          <p:cNvPr id="582668" name="Rectangle 12"/>
          <p:cNvSpPr>
            <a:spLocks noChangeArrowheads="1"/>
          </p:cNvSpPr>
          <p:nvPr/>
        </p:nvSpPr>
        <p:spPr bwMode="auto">
          <a:xfrm>
            <a:off x="179388" y="4941888"/>
            <a:ext cx="3889375" cy="579437"/>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sz="3200" dirty="0">
                <a:solidFill>
                  <a:srgbClr val="FFFF00"/>
                </a:solidFill>
                <a:effectLst>
                  <a:outerShdw blurRad="38100" dist="38100" dir="2700000" algn="tl">
                    <a:srgbClr val="000000"/>
                  </a:outerShdw>
                </a:effectLst>
                <a:latin typeface="+mj-lt"/>
                <a:ea typeface="楷体_GB2312" pitchFamily="49" charset="-122"/>
              </a:rPr>
              <a:t>（</a:t>
            </a:r>
            <a:r>
              <a:rPr lang="en-US" altLang="zh-CN" sz="3200" dirty="0">
                <a:solidFill>
                  <a:srgbClr val="FFFF00"/>
                </a:solidFill>
                <a:effectLst>
                  <a:outerShdw blurRad="38100" dist="38100" dir="2700000" algn="tl">
                    <a:srgbClr val="000000"/>
                  </a:outerShdw>
                </a:effectLst>
                <a:latin typeface="+mj-lt"/>
                <a:ea typeface="楷体_GB2312" pitchFamily="49" charset="-122"/>
              </a:rPr>
              <a:t>4</a:t>
            </a:r>
            <a:r>
              <a:rPr lang="zh-CN" altLang="en-US" sz="3200" dirty="0">
                <a:solidFill>
                  <a:srgbClr val="FFFF00"/>
                </a:solidFill>
                <a:effectLst>
                  <a:outerShdw blurRad="38100" dist="38100" dir="2700000" algn="tl">
                    <a:srgbClr val="000000"/>
                  </a:outerShdw>
                </a:effectLst>
                <a:latin typeface="+mj-lt"/>
                <a:ea typeface="楷体_GB2312" pitchFamily="49" charset="-122"/>
              </a:rPr>
              <a:t>）按速度</a:t>
            </a:r>
          </a:p>
        </p:txBody>
      </p:sp>
      <p:sp>
        <p:nvSpPr>
          <p:cNvPr id="582669" name="Rectangle 13"/>
          <p:cNvSpPr>
            <a:spLocks noChangeArrowheads="1"/>
          </p:cNvSpPr>
          <p:nvPr/>
        </p:nvSpPr>
        <p:spPr bwMode="auto">
          <a:xfrm>
            <a:off x="0" y="2708275"/>
            <a:ext cx="4097338" cy="584200"/>
          </a:xfrm>
          <a:prstGeom prst="rect">
            <a:avLst/>
          </a:prstGeom>
          <a:noFill/>
          <a:ln w="12700" cap="sq">
            <a:noFill/>
            <a:miter lim="800000"/>
            <a:headEnd type="none" w="sm" len="sm"/>
            <a:tailEnd type="none" w="sm" len="sm"/>
          </a:ln>
          <a:effectLst/>
        </p:spPr>
        <p:txBody>
          <a:bodyPr wrap="none">
            <a:spAutoFit/>
          </a:bodyPr>
          <a:lstStyle/>
          <a:p>
            <a:pPr eaLnBrk="1" hangingPunct="1">
              <a:defRPr/>
            </a:pPr>
            <a:r>
              <a:rPr lang="zh-CN" altLang="en-US" sz="3200" dirty="0">
                <a:solidFill>
                  <a:srgbClr val="FFFF00"/>
                </a:solidFill>
                <a:effectLst>
                  <a:outerShdw blurRad="38100" dist="38100" dir="2700000" algn="tl">
                    <a:srgbClr val="000000"/>
                  </a:outerShdw>
                </a:effectLst>
                <a:latin typeface="+mj-lt"/>
                <a:ea typeface="楷体_GB2312" pitchFamily="49" charset="-122"/>
              </a:rPr>
              <a:t>（</a:t>
            </a:r>
            <a:r>
              <a:rPr lang="en-US" altLang="zh-CN" sz="3200" dirty="0">
                <a:solidFill>
                  <a:srgbClr val="FFFF00"/>
                </a:solidFill>
                <a:effectLst>
                  <a:outerShdw blurRad="38100" dist="38100" dir="2700000" algn="tl">
                    <a:srgbClr val="000000"/>
                  </a:outerShdw>
                </a:effectLst>
                <a:latin typeface="+mj-lt"/>
                <a:ea typeface="楷体_GB2312" pitchFamily="49" charset="-122"/>
              </a:rPr>
              <a:t>3</a:t>
            </a:r>
            <a:r>
              <a:rPr lang="zh-CN" altLang="en-US" sz="3200" dirty="0">
                <a:solidFill>
                  <a:srgbClr val="FFFF00"/>
                </a:solidFill>
                <a:effectLst>
                  <a:outerShdw blurRad="38100" dist="38100" dir="2700000" algn="tl">
                    <a:srgbClr val="000000"/>
                  </a:outerShdw>
                </a:effectLst>
                <a:latin typeface="+mj-lt"/>
                <a:ea typeface="楷体_GB2312" pitchFamily="49" charset="-122"/>
              </a:rPr>
              <a:t>）按信息组织方式</a:t>
            </a:r>
          </a:p>
        </p:txBody>
      </p:sp>
      <p:sp>
        <p:nvSpPr>
          <p:cNvPr id="582670" name="Rectangle 14"/>
          <p:cNvSpPr>
            <a:spLocks noChangeArrowheads="1"/>
          </p:cNvSpPr>
          <p:nvPr/>
        </p:nvSpPr>
        <p:spPr bwMode="auto">
          <a:xfrm>
            <a:off x="0" y="0"/>
            <a:ext cx="4510088" cy="584200"/>
          </a:xfrm>
          <a:prstGeom prst="rect">
            <a:avLst/>
          </a:prstGeom>
          <a:noFill/>
          <a:ln w="12700" cap="sq">
            <a:noFill/>
            <a:miter lim="800000"/>
            <a:headEnd type="none" w="sm" len="sm"/>
            <a:tailEnd type="none" w="sm" len="sm"/>
          </a:ln>
          <a:effectLst/>
        </p:spPr>
        <p:txBody>
          <a:bodyPr wrap="none">
            <a:spAutoFit/>
          </a:bodyPr>
          <a:lstStyle/>
          <a:p>
            <a:pPr eaLnBrk="1" hangingPunct="1">
              <a:defRPr/>
            </a:pPr>
            <a:r>
              <a:rPr lang="zh-CN" altLang="en-US" sz="3200" dirty="0">
                <a:solidFill>
                  <a:srgbClr val="FFFF00"/>
                </a:solidFill>
                <a:effectLst>
                  <a:outerShdw blurRad="38100" dist="38100" dir="2700000" algn="tl">
                    <a:srgbClr val="000000"/>
                  </a:outerShdw>
                </a:effectLst>
                <a:latin typeface="+mj-lt"/>
                <a:ea typeface="楷体_GB2312" pitchFamily="49" charset="-122"/>
              </a:rPr>
              <a:t>（</a:t>
            </a:r>
            <a:r>
              <a:rPr lang="en-US" altLang="zh-CN" sz="3200" dirty="0">
                <a:solidFill>
                  <a:srgbClr val="FFFF00"/>
                </a:solidFill>
                <a:effectLst>
                  <a:outerShdw blurRad="38100" dist="38100" dir="2700000" algn="tl">
                    <a:srgbClr val="000000"/>
                  </a:outerShdw>
                </a:effectLst>
                <a:latin typeface="+mj-lt"/>
                <a:ea typeface="楷体_GB2312" pitchFamily="49" charset="-122"/>
              </a:rPr>
              <a:t>2</a:t>
            </a:r>
            <a:r>
              <a:rPr lang="zh-CN" altLang="en-US" sz="3200" dirty="0">
                <a:solidFill>
                  <a:srgbClr val="FFFF00"/>
                </a:solidFill>
                <a:effectLst>
                  <a:outerShdw blurRad="38100" dist="38100" dir="2700000" algn="tl">
                    <a:srgbClr val="000000"/>
                  </a:outerShdw>
                </a:effectLst>
                <a:latin typeface="+mj-lt"/>
                <a:ea typeface="楷体_GB2312" pitchFamily="49" charset="-122"/>
              </a:rPr>
              <a:t>）按设备的从属关系</a:t>
            </a:r>
          </a:p>
        </p:txBody>
      </p:sp>
      <p:sp>
        <p:nvSpPr>
          <p:cNvPr id="582671" name="AutoShape 1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2666"/>
                                        </p:tgtEl>
                                        <p:attrNameLst>
                                          <p:attrName>style.visibility</p:attrName>
                                        </p:attrNameLst>
                                      </p:cBhvr>
                                      <p:to>
                                        <p:strVal val="visible"/>
                                      </p:to>
                                    </p:set>
                                    <p:animEffect transition="in" filter="blinds(horizontal)">
                                      <p:cBhvr>
                                        <p:cTn id="7" dur="500"/>
                                        <p:tgtEl>
                                          <p:spTgt spid="5826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82658"/>
                                        </p:tgtEl>
                                        <p:attrNameLst>
                                          <p:attrName>style.visibility</p:attrName>
                                        </p:attrNameLst>
                                      </p:cBhvr>
                                      <p:to>
                                        <p:strVal val="visible"/>
                                      </p:to>
                                    </p:set>
                                    <p:animEffect transition="in" filter="blinds(horizontal)">
                                      <p:cBhvr>
                                        <p:cTn id="12" dur="500"/>
                                        <p:tgtEl>
                                          <p:spTgt spid="5826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82667"/>
                                        </p:tgtEl>
                                        <p:attrNameLst>
                                          <p:attrName>style.visibility</p:attrName>
                                        </p:attrNameLst>
                                      </p:cBhvr>
                                      <p:to>
                                        <p:strVal val="visible"/>
                                      </p:to>
                                    </p:set>
                                    <p:animEffect transition="in" filter="blinds(horizontal)">
                                      <p:cBhvr>
                                        <p:cTn id="17" dur="500"/>
                                        <p:tgtEl>
                                          <p:spTgt spid="582667"/>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582671"/>
                                        </p:tgtEl>
                                        <p:attrNameLst>
                                          <p:attrName>style.visibility</p:attrName>
                                        </p:attrNameLst>
                                      </p:cBhvr>
                                      <p:to>
                                        <p:strVal val="visible"/>
                                      </p:to>
                                    </p:set>
                                    <p:anim calcmode="lin" valueType="num">
                                      <p:cBhvr additive="base">
                                        <p:cTn id="21" dur="500" fill="hold"/>
                                        <p:tgtEl>
                                          <p:spTgt spid="582671"/>
                                        </p:tgtEl>
                                        <p:attrNameLst>
                                          <p:attrName>ppt_x</p:attrName>
                                        </p:attrNameLst>
                                      </p:cBhvr>
                                      <p:tavLst>
                                        <p:tav tm="0">
                                          <p:val>
                                            <p:strVal val="1+#ppt_w/2"/>
                                          </p:val>
                                        </p:tav>
                                        <p:tav tm="100000">
                                          <p:val>
                                            <p:strVal val="#ppt_x"/>
                                          </p:val>
                                        </p:tav>
                                      </p:tavLst>
                                    </p:anim>
                                    <p:anim calcmode="lin" valueType="num">
                                      <p:cBhvr additive="base">
                                        <p:cTn id="22" dur="500" fill="hold"/>
                                        <p:tgtEl>
                                          <p:spTgt spid="5826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2658" grpId="0"/>
      <p:bldP spid="582666" grpId="0"/>
      <p:bldP spid="582667" grpId="0"/>
      <p:bldP spid="58267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Grp="1" noChangeArrowheads="1"/>
          </p:cNvSpPr>
          <p:nvPr>
            <p:ph type="title"/>
          </p:nvPr>
        </p:nvSpPr>
        <p:spPr>
          <a:xfrm>
            <a:off x="179388" y="836613"/>
            <a:ext cx="8820150" cy="1514475"/>
          </a:xfrm>
        </p:spPr>
        <p:txBody>
          <a:bodyPr/>
          <a:lstStyle/>
          <a:p>
            <a:pPr eaLnBrk="1" hangingPunct="1">
              <a:defRPr/>
            </a:pPr>
            <a:r>
              <a:rPr lang="zh-CN" altLang="en-US" sz="2800" b="1" smtClean="0">
                <a:solidFill>
                  <a:srgbClr val="FFFF00"/>
                </a:solidFill>
                <a:effectLst>
                  <a:outerShdw blurRad="38100" dist="38100" dir="2700000" algn="tl">
                    <a:srgbClr val="000000"/>
                  </a:outerShdw>
                </a:effectLst>
                <a:latin typeface="楷体_GB2312" pitchFamily="49" charset="-122"/>
                <a:ea typeface="楷体_GB2312" pitchFamily="49" charset="-122"/>
              </a:rPr>
              <a:t>独占设备</a:t>
            </a:r>
            <a:r>
              <a:rPr lang="zh-CN" altLang="en-US" sz="2800" b="1" smtClean="0">
                <a:solidFill>
                  <a:schemeClr val="tx1"/>
                </a:solidFill>
                <a:effectLst>
                  <a:outerShdw blurRad="38100" dist="38100" dir="2700000" algn="tl">
                    <a:srgbClr val="000000"/>
                  </a:outerShdw>
                </a:effectLst>
                <a:latin typeface="楷体_GB2312" pitchFamily="49" charset="-122"/>
                <a:ea typeface="楷体_GB2312" pitchFamily="49" charset="-122"/>
              </a:rPr>
              <a:t>：在一段时间内只能有一个进程使用的设备，一般为低速</a:t>
            </a:r>
            <a:r>
              <a:rPr lang="en-US" altLang="zh-CN" sz="2800" b="1" smtClean="0">
                <a:solidFill>
                  <a:schemeClr val="tx1"/>
                </a:solidFill>
                <a:effectLst>
                  <a:outerShdw blurRad="38100" dist="38100" dir="2700000" algn="tl">
                    <a:srgbClr val="000000"/>
                  </a:outerShdw>
                </a:effectLst>
                <a:latin typeface="楷体_GB2312" pitchFamily="49" charset="-122"/>
                <a:ea typeface="楷体_GB2312" pitchFamily="49" charset="-122"/>
              </a:rPr>
              <a:t>I/O</a:t>
            </a:r>
            <a:r>
              <a:rPr lang="zh-CN" altLang="en-US" sz="2800" b="1" smtClean="0">
                <a:solidFill>
                  <a:schemeClr val="tx1"/>
                </a:solidFill>
                <a:effectLst>
                  <a:outerShdw blurRad="38100" dist="38100" dir="2700000" algn="tl">
                    <a:srgbClr val="000000"/>
                  </a:outerShdw>
                </a:effectLst>
                <a:latin typeface="楷体_GB2312" pitchFamily="49" charset="-122"/>
                <a:ea typeface="楷体_GB2312" pitchFamily="49" charset="-122"/>
              </a:rPr>
              <a:t>设备。且这类设备若分配不当，可能会造成死锁。如打印机、磁带等。</a:t>
            </a:r>
          </a:p>
        </p:txBody>
      </p:sp>
      <p:sp>
        <p:nvSpPr>
          <p:cNvPr id="649219" name="Rectangle 3"/>
          <p:cNvSpPr>
            <a:spLocks noChangeArrowheads="1"/>
          </p:cNvSpPr>
          <p:nvPr/>
        </p:nvSpPr>
        <p:spPr bwMode="auto">
          <a:xfrm>
            <a:off x="395288" y="0"/>
            <a:ext cx="7200900" cy="890588"/>
          </a:xfrm>
          <a:prstGeom prst="rect">
            <a:avLst/>
          </a:prstGeom>
          <a:noFill/>
          <a:ln w="12700" cap="sq">
            <a:noFill/>
            <a:miter lim="800000"/>
            <a:headEnd type="none" w="sm" len="sm"/>
            <a:tailEnd type="none" w="sm" len="sm"/>
          </a:ln>
          <a:effectLst/>
        </p:spPr>
        <p:txBody>
          <a:bodyPr anchor="ctr"/>
          <a:lstStyle/>
          <a:p>
            <a:pPr eaLnBrk="1" hangingPunct="1">
              <a:defRPr/>
            </a:pPr>
            <a:r>
              <a:rPr lang="zh-CN" altLang="en-US" sz="3200" dirty="0">
                <a:solidFill>
                  <a:srgbClr val="FFFF00"/>
                </a:solidFill>
                <a:effectLst>
                  <a:outerShdw blurRad="38100" dist="38100" dir="2700000" algn="tl">
                    <a:srgbClr val="000000"/>
                  </a:outerShdw>
                </a:effectLst>
                <a:latin typeface="+mj-lt"/>
                <a:ea typeface="楷体_GB2312" pitchFamily="49" charset="-122"/>
              </a:rPr>
              <a:t>（</a:t>
            </a:r>
            <a:r>
              <a:rPr lang="en-US" altLang="zh-CN" sz="3200" dirty="0">
                <a:solidFill>
                  <a:srgbClr val="FFFF00"/>
                </a:solidFill>
                <a:effectLst>
                  <a:outerShdw blurRad="38100" dist="38100" dir="2700000" algn="tl">
                    <a:srgbClr val="000000"/>
                  </a:outerShdw>
                </a:effectLst>
                <a:latin typeface="+mj-lt"/>
                <a:ea typeface="楷体_GB2312" pitchFamily="49" charset="-122"/>
              </a:rPr>
              <a:t>5</a:t>
            </a:r>
            <a:r>
              <a:rPr lang="zh-CN" altLang="en-US" sz="3200" dirty="0">
                <a:solidFill>
                  <a:srgbClr val="FFFF00"/>
                </a:solidFill>
                <a:effectLst>
                  <a:outerShdw blurRad="38100" dist="38100" dir="2700000" algn="tl">
                    <a:srgbClr val="000000"/>
                  </a:outerShdw>
                </a:effectLst>
                <a:latin typeface="+mj-lt"/>
                <a:ea typeface="楷体_GB2312" pitchFamily="49" charset="-122"/>
              </a:rPr>
              <a:t>）按资源分配角度</a:t>
            </a:r>
          </a:p>
        </p:txBody>
      </p:sp>
      <p:sp>
        <p:nvSpPr>
          <p:cNvPr id="649220" name="Rectangle 4"/>
          <p:cNvSpPr>
            <a:spLocks noChangeArrowheads="1"/>
          </p:cNvSpPr>
          <p:nvPr/>
        </p:nvSpPr>
        <p:spPr bwMode="auto">
          <a:xfrm>
            <a:off x="250825" y="2492375"/>
            <a:ext cx="8569325" cy="1441450"/>
          </a:xfrm>
          <a:prstGeom prst="rect">
            <a:avLst/>
          </a:prstGeom>
          <a:noFill/>
          <a:ln w="12700" cap="sq">
            <a:noFill/>
            <a:miter lim="800000"/>
            <a:headEnd type="none" w="sm" len="sm"/>
            <a:tailEnd type="none" w="sm" len="sm"/>
          </a:ln>
          <a:effectLst/>
        </p:spPr>
        <p:txBody>
          <a:bodyPr anchor="ctr"/>
          <a:lstStyle/>
          <a:p>
            <a:pPr eaLnBrk="1" hangingPunct="1">
              <a:defRPr/>
            </a:pPr>
            <a:r>
              <a:rPr lang="zh-CN" altLang="en-US">
                <a:solidFill>
                  <a:srgbClr val="FFFF00"/>
                </a:solidFill>
                <a:effectLst>
                  <a:outerShdw blurRad="38100" dist="38100" dir="2700000" algn="tl">
                    <a:srgbClr val="000000"/>
                  </a:outerShdw>
                </a:effectLst>
                <a:latin typeface="楷体_GB2312" pitchFamily="49" charset="-122"/>
                <a:ea typeface="楷体_GB2312" pitchFamily="49" charset="-122"/>
              </a:rPr>
              <a:t>共享设备</a:t>
            </a:r>
            <a:r>
              <a:rPr lang="zh-CN" altLang="en-US">
                <a:effectLst>
                  <a:outerShdw blurRad="38100" dist="38100" dir="2700000" algn="tl">
                    <a:srgbClr val="000000"/>
                  </a:outerShdw>
                </a:effectLst>
                <a:latin typeface="楷体_GB2312" pitchFamily="49" charset="-122"/>
                <a:ea typeface="楷体_GB2312" pitchFamily="49" charset="-122"/>
              </a:rPr>
              <a:t>：在一段时间内可有多个进程共同使用的设备，多个进程以交叉的方式来使用设备，其资源利用率高。如硬盘。</a:t>
            </a:r>
          </a:p>
        </p:txBody>
      </p:sp>
      <p:sp>
        <p:nvSpPr>
          <p:cNvPr id="649221" name="Rectangle 5"/>
          <p:cNvSpPr>
            <a:spLocks noChangeArrowheads="1"/>
          </p:cNvSpPr>
          <p:nvPr/>
        </p:nvSpPr>
        <p:spPr bwMode="auto">
          <a:xfrm>
            <a:off x="179388" y="3860800"/>
            <a:ext cx="8424862" cy="2997200"/>
          </a:xfrm>
          <a:prstGeom prst="rect">
            <a:avLst/>
          </a:prstGeom>
          <a:noFill/>
          <a:ln w="12700" cap="sq">
            <a:noFill/>
            <a:miter lim="800000"/>
            <a:headEnd type="none" w="sm" len="sm"/>
            <a:tailEnd type="none" w="sm" len="sm"/>
          </a:ln>
          <a:effectLst/>
        </p:spPr>
        <p:txBody>
          <a:bodyPr anchor="ctr"/>
          <a:lstStyle/>
          <a:p>
            <a:pPr eaLnBrk="1" hangingPunct="1">
              <a:defRPr/>
            </a:pPr>
            <a:r>
              <a:rPr lang="zh-CN" altLang="en-US" dirty="0">
                <a:solidFill>
                  <a:srgbClr val="FFFF00"/>
                </a:solidFill>
                <a:latin typeface="楷体_GB2312" pitchFamily="49" charset="-122"/>
                <a:ea typeface="楷体_GB2312" pitchFamily="49" charset="-122"/>
              </a:rPr>
              <a:t>虚拟设备：</a:t>
            </a:r>
            <a:r>
              <a:rPr lang="zh-CN" altLang="en-US" dirty="0">
                <a:effectLst>
                  <a:outerShdw blurRad="38100" dist="38100" dir="2700000" algn="tl">
                    <a:srgbClr val="000000"/>
                  </a:outerShdw>
                </a:effectLst>
                <a:latin typeface="楷体_GB2312" pitchFamily="49" charset="-122"/>
                <a:ea typeface="楷体_GB2312" pitchFamily="49" charset="-122"/>
              </a:rPr>
              <a:t>在一类设备上模拟另一类设备，常用共享设备模拟独占设备，用高速设备模拟低速设备。如</a:t>
            </a:r>
            <a:r>
              <a:rPr lang="en-US" altLang="zh-CN" dirty="0" err="1">
                <a:solidFill>
                  <a:srgbClr val="FFFF00"/>
                </a:solidFill>
                <a:effectLst>
                  <a:outerShdw blurRad="38100" dist="38100" dir="2700000" algn="tl">
                    <a:srgbClr val="000000"/>
                  </a:outerShdw>
                </a:effectLst>
                <a:latin typeface="+mj-lt"/>
                <a:ea typeface="楷体_GB2312" pitchFamily="49" charset="-122"/>
              </a:rPr>
              <a:t>SPOOLing</a:t>
            </a:r>
            <a:r>
              <a:rPr lang="zh-CN" altLang="en-US" dirty="0">
                <a:effectLst>
                  <a:outerShdw blurRad="38100" dist="38100" dir="2700000" algn="tl">
                    <a:srgbClr val="000000"/>
                  </a:outerShdw>
                </a:effectLst>
                <a:latin typeface="楷体_GB2312" pitchFamily="49" charset="-122"/>
                <a:ea typeface="楷体_GB2312" pitchFamily="49" charset="-122"/>
              </a:rPr>
              <a:t>技术。</a:t>
            </a:r>
          </a:p>
        </p:txBody>
      </p:sp>
      <p:sp>
        <p:nvSpPr>
          <p:cNvPr id="649222" name="AutoShape 6">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9218"/>
                                        </p:tgtEl>
                                        <p:attrNameLst>
                                          <p:attrName>style.visibility</p:attrName>
                                        </p:attrNameLst>
                                      </p:cBhvr>
                                      <p:to>
                                        <p:strVal val="visible"/>
                                      </p:to>
                                    </p:set>
                                    <p:animEffect transition="in" filter="blinds(horizontal)">
                                      <p:cBhvr>
                                        <p:cTn id="7" dur="500"/>
                                        <p:tgtEl>
                                          <p:spTgt spid="64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9220"/>
                                        </p:tgtEl>
                                        <p:attrNameLst>
                                          <p:attrName>style.visibility</p:attrName>
                                        </p:attrNameLst>
                                      </p:cBhvr>
                                      <p:to>
                                        <p:strVal val="visible"/>
                                      </p:to>
                                    </p:set>
                                    <p:animEffect transition="in" filter="blinds(horizontal)">
                                      <p:cBhvr>
                                        <p:cTn id="12" dur="500"/>
                                        <p:tgtEl>
                                          <p:spTgt spid="6492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49221"/>
                                        </p:tgtEl>
                                        <p:attrNameLst>
                                          <p:attrName>style.visibility</p:attrName>
                                        </p:attrNameLst>
                                      </p:cBhvr>
                                      <p:to>
                                        <p:strVal val="visible"/>
                                      </p:to>
                                    </p:set>
                                    <p:animEffect transition="in" filter="blinds(horizontal)">
                                      <p:cBhvr>
                                        <p:cTn id="17" dur="500"/>
                                        <p:tgtEl>
                                          <p:spTgt spid="649221"/>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649222"/>
                                        </p:tgtEl>
                                        <p:attrNameLst>
                                          <p:attrName>style.visibility</p:attrName>
                                        </p:attrNameLst>
                                      </p:cBhvr>
                                      <p:to>
                                        <p:strVal val="visible"/>
                                      </p:to>
                                    </p:set>
                                    <p:anim calcmode="lin" valueType="num">
                                      <p:cBhvr additive="base">
                                        <p:cTn id="21" dur="500" fill="hold"/>
                                        <p:tgtEl>
                                          <p:spTgt spid="649222"/>
                                        </p:tgtEl>
                                        <p:attrNameLst>
                                          <p:attrName>ppt_x</p:attrName>
                                        </p:attrNameLst>
                                      </p:cBhvr>
                                      <p:tavLst>
                                        <p:tav tm="0">
                                          <p:val>
                                            <p:strVal val="1+#ppt_w/2"/>
                                          </p:val>
                                        </p:tav>
                                        <p:tav tm="100000">
                                          <p:val>
                                            <p:strVal val="#ppt_x"/>
                                          </p:val>
                                        </p:tav>
                                      </p:tavLst>
                                    </p:anim>
                                    <p:anim calcmode="lin" valueType="num">
                                      <p:cBhvr additive="base">
                                        <p:cTn id="22" dur="500" fill="hold"/>
                                        <p:tgtEl>
                                          <p:spTgt spid="6492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8" grpId="0"/>
      <p:bldP spid="649220" grpId="0"/>
      <p:bldP spid="649221" grpId="0"/>
      <p:bldP spid="6492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8619400-288C-45A5-8383-D7E8FE5F49A0}" type="slidenum">
              <a:rPr lang="en-US" altLang="zh-CN" smtClean="0"/>
              <a:pPr>
                <a:defRPr/>
              </a:pPr>
              <a:t>6</a:t>
            </a:fld>
            <a:endParaRPr lang="en-US" altLang="zh-CN"/>
          </a:p>
        </p:txBody>
      </p:sp>
      <p:sp>
        <p:nvSpPr>
          <p:cNvPr id="6" name="矩形 5"/>
          <p:cNvSpPr/>
          <p:nvPr/>
        </p:nvSpPr>
        <p:spPr>
          <a:xfrm>
            <a:off x="1691680" y="260648"/>
            <a:ext cx="5325497" cy="707886"/>
          </a:xfrm>
          <a:prstGeom prst="rect">
            <a:avLst/>
          </a:prstGeom>
        </p:spPr>
        <p:txBody>
          <a:bodyPr wrap="none">
            <a:spAutoFit/>
          </a:bodyPr>
          <a:lstStyle/>
          <a:p>
            <a:pPr eaLnBrk="1" hangingPunct="1">
              <a:defRPr/>
            </a:pPr>
            <a:r>
              <a:rPr lang="en-US" altLang="zh-CN" sz="4000">
                <a:solidFill>
                  <a:srgbClr val="FFFF00"/>
                </a:solidFill>
                <a:ea typeface="楷体_GB2312" pitchFamily="49" charset="-122"/>
              </a:rPr>
              <a:t>10.1.2  </a:t>
            </a:r>
            <a:r>
              <a:rPr lang="zh-CN" altLang="en-US" sz="4000">
                <a:solidFill>
                  <a:srgbClr val="FFFF00"/>
                </a:solidFill>
                <a:ea typeface="楷体_GB2312" pitchFamily="49" charset="-122"/>
              </a:rPr>
              <a:t>设备管理的任务</a:t>
            </a:r>
            <a:endParaRPr lang="zh-CN" altLang="en-US" sz="4000" dirty="0">
              <a:solidFill>
                <a:srgbClr val="FFFF00"/>
              </a:solidFill>
              <a:ea typeface="楷体_GB2312" pitchFamily="49" charset="-122"/>
            </a:endParaRPr>
          </a:p>
        </p:txBody>
      </p:sp>
      <p:sp>
        <p:nvSpPr>
          <p:cNvPr id="7" name="Rectangle 3"/>
          <p:cNvSpPr txBox="1">
            <a:spLocks noChangeArrowheads="1"/>
          </p:cNvSpPr>
          <p:nvPr/>
        </p:nvSpPr>
        <p:spPr bwMode="auto">
          <a:xfrm>
            <a:off x="467544" y="1052736"/>
            <a:ext cx="8569325"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90000"/>
              <a:buFont typeface="Symbol" panose="05050102010706020507"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spcBef>
                <a:spcPct val="50000"/>
              </a:spcBef>
              <a:buSzPct val="80000"/>
              <a:buNone/>
            </a:pPr>
            <a:r>
              <a:rPr lang="en-US" altLang="zh-CN" b="1" kern="0" smtClean="0">
                <a:solidFill>
                  <a:srgbClr val="FFFF00"/>
                </a:solidFill>
                <a:latin typeface="楷体_GB2312" pitchFamily="49" charset="-122"/>
                <a:ea typeface="楷体_GB2312" pitchFamily="49" charset="-122"/>
              </a:rPr>
              <a:t>I/O</a:t>
            </a:r>
            <a:r>
              <a:rPr lang="zh-CN" altLang="en-US" b="1" kern="0" smtClean="0">
                <a:solidFill>
                  <a:srgbClr val="FFFF00"/>
                </a:solidFill>
                <a:latin typeface="楷体_GB2312" pitchFamily="49" charset="-122"/>
                <a:ea typeface="楷体_GB2312" pitchFamily="49" charset="-122"/>
              </a:rPr>
              <a:t>设备</a:t>
            </a:r>
            <a:r>
              <a:rPr lang="en-US" altLang="zh-CN" b="1" kern="0" smtClean="0">
                <a:solidFill>
                  <a:srgbClr val="FFFF00"/>
                </a:solidFill>
                <a:latin typeface="楷体_GB2312" pitchFamily="49" charset="-122"/>
                <a:ea typeface="楷体_GB2312" pitchFamily="49" charset="-122"/>
                <a:sym typeface="Wingdings" panose="05000000000000000000" pitchFamily="2" charset="2"/>
              </a:rPr>
              <a:t></a:t>
            </a:r>
            <a:r>
              <a:rPr lang="zh-CN" altLang="en-US" b="1" kern="0" smtClean="0">
                <a:solidFill>
                  <a:srgbClr val="FFFF00"/>
                </a:solidFill>
                <a:latin typeface="楷体_GB2312" pitchFamily="49" charset="-122"/>
                <a:ea typeface="楷体_GB2312" pitchFamily="49" charset="-122"/>
                <a:sym typeface="Wingdings" panose="05000000000000000000" pitchFamily="2" charset="2"/>
              </a:rPr>
              <a:t>设备控制器</a:t>
            </a:r>
            <a:r>
              <a:rPr lang="en-US" altLang="zh-CN" b="1" kern="0" smtClean="0">
                <a:solidFill>
                  <a:srgbClr val="FFFF00"/>
                </a:solidFill>
                <a:latin typeface="楷体_GB2312" pitchFamily="49" charset="-122"/>
                <a:ea typeface="楷体_GB2312" pitchFamily="49" charset="-122"/>
                <a:sym typeface="Wingdings" panose="05000000000000000000" pitchFamily="2" charset="2"/>
              </a:rPr>
              <a:t></a:t>
            </a:r>
            <a:r>
              <a:rPr lang="zh-CN" altLang="en-US" b="1" kern="0" smtClean="0">
                <a:solidFill>
                  <a:srgbClr val="FFFF00"/>
                </a:solidFill>
                <a:latin typeface="楷体_GB2312" pitchFamily="49" charset="-122"/>
                <a:ea typeface="楷体_GB2312" pitchFamily="49" charset="-122"/>
                <a:sym typeface="Wingdings" panose="05000000000000000000" pitchFamily="2" charset="2"/>
              </a:rPr>
              <a:t>接口部件</a:t>
            </a:r>
            <a:r>
              <a:rPr lang="en-US" altLang="zh-CN" b="1" kern="0" smtClean="0">
                <a:solidFill>
                  <a:srgbClr val="FFFF00"/>
                </a:solidFill>
                <a:latin typeface="楷体_GB2312" pitchFamily="49" charset="-122"/>
                <a:ea typeface="楷体_GB2312" pitchFamily="49" charset="-122"/>
                <a:sym typeface="Wingdings" panose="05000000000000000000" pitchFamily="2" charset="2"/>
              </a:rPr>
              <a:t>CPU</a:t>
            </a:r>
            <a:r>
              <a:rPr lang="zh-CN" altLang="en-US" b="1" kern="0" smtClean="0">
                <a:solidFill>
                  <a:srgbClr val="FFFF00"/>
                </a:solidFill>
                <a:latin typeface="楷体_GB2312" pitchFamily="49" charset="-122"/>
                <a:ea typeface="楷体_GB2312" pitchFamily="49" charset="-122"/>
                <a:sym typeface="Wingdings" panose="05000000000000000000" pitchFamily="2" charset="2"/>
              </a:rPr>
              <a:t>和主存</a:t>
            </a:r>
            <a:endParaRPr lang="zh-CN" altLang="en-US" b="1" kern="0" dirty="0" smtClean="0">
              <a:solidFill>
                <a:srgbClr val="FFFF00"/>
              </a:solidFill>
              <a:latin typeface="楷体_GB2312" pitchFamily="49" charset="-122"/>
              <a:ea typeface="楷体_GB2312" pitchFamily="49" charset="-122"/>
            </a:endParaRPr>
          </a:p>
        </p:txBody>
      </p:sp>
      <p:sp>
        <p:nvSpPr>
          <p:cNvPr id="9" name="Rectangle 3"/>
          <p:cNvSpPr txBox="1">
            <a:spLocks noChangeArrowheads="1"/>
          </p:cNvSpPr>
          <p:nvPr/>
        </p:nvSpPr>
        <p:spPr bwMode="auto">
          <a:xfrm>
            <a:off x="467544" y="1755635"/>
            <a:ext cx="8569325"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90000"/>
              <a:buFont typeface="Symbol" panose="05050102010706020507"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eaLnBrk="1" hangingPunct="1">
              <a:spcBef>
                <a:spcPct val="50000"/>
              </a:spcBef>
              <a:buSzPct val="80000"/>
              <a:buNone/>
            </a:pPr>
            <a:r>
              <a:rPr lang="en-US" altLang="zh-CN" b="1" kern="0" smtClean="0">
                <a:solidFill>
                  <a:srgbClr val="FFFF00"/>
                </a:solidFill>
                <a:latin typeface="楷体_GB2312" pitchFamily="49" charset="-122"/>
                <a:ea typeface="楷体_GB2312" pitchFamily="49" charset="-122"/>
              </a:rPr>
              <a:t>I/O</a:t>
            </a:r>
            <a:r>
              <a:rPr lang="zh-CN" altLang="en-US" b="1" kern="0" smtClean="0">
                <a:solidFill>
                  <a:srgbClr val="FFFF00"/>
                </a:solidFill>
                <a:latin typeface="楷体_GB2312" pitchFamily="49" charset="-122"/>
                <a:ea typeface="楷体_GB2312" pitchFamily="49" charset="-122"/>
              </a:rPr>
              <a:t>管理示意：</a:t>
            </a:r>
            <a:endParaRPr lang="zh-CN" altLang="en-US" b="1" kern="0" dirty="0" smtClean="0">
              <a:solidFill>
                <a:srgbClr val="FFFF00"/>
              </a:solidFill>
              <a:latin typeface="楷体_GB2312" pitchFamily="49" charset="-122"/>
              <a:ea typeface="楷体_GB2312" pitchFamily="49" charset="-122"/>
            </a:endParaRPr>
          </a:p>
        </p:txBody>
      </p:sp>
      <p:grpSp>
        <p:nvGrpSpPr>
          <p:cNvPr id="57" name="组合 56"/>
          <p:cNvGrpSpPr/>
          <p:nvPr/>
        </p:nvGrpSpPr>
        <p:grpSpPr>
          <a:xfrm>
            <a:off x="647750" y="2415323"/>
            <a:ext cx="8208912" cy="4225693"/>
            <a:chOff x="647750" y="2415323"/>
            <a:chExt cx="8208912" cy="4225693"/>
          </a:xfrm>
        </p:grpSpPr>
        <p:sp>
          <p:nvSpPr>
            <p:cNvPr id="10" name="矩形 9"/>
            <p:cNvSpPr/>
            <p:nvPr/>
          </p:nvSpPr>
          <p:spPr bwMode="auto">
            <a:xfrm>
              <a:off x="647750" y="2415323"/>
              <a:ext cx="8208912" cy="4225693"/>
            </a:xfrm>
            <a:prstGeom prst="rect">
              <a:avLst/>
            </a:prstGeom>
            <a:solidFill>
              <a:schemeClr val="accent4">
                <a:lumMod val="20000"/>
                <a:lumOff val="80000"/>
              </a:schemeClr>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grpSp>
          <p:nvGrpSpPr>
            <p:cNvPr id="56" name="组合 55"/>
            <p:cNvGrpSpPr/>
            <p:nvPr/>
          </p:nvGrpSpPr>
          <p:grpSpPr>
            <a:xfrm>
              <a:off x="755576" y="2547580"/>
              <a:ext cx="7948989" cy="3712557"/>
              <a:chOff x="755576" y="2547580"/>
              <a:chExt cx="7948989" cy="3712557"/>
            </a:xfrm>
          </p:grpSpPr>
          <p:sp>
            <p:nvSpPr>
              <p:cNvPr id="11" name="文本框 10"/>
              <p:cNvSpPr txBox="1"/>
              <p:nvPr/>
            </p:nvSpPr>
            <p:spPr>
              <a:xfrm>
                <a:off x="2542084" y="2547580"/>
                <a:ext cx="1728192" cy="523220"/>
              </a:xfrm>
              <a:prstGeom prst="rect">
                <a:avLst/>
              </a:prstGeom>
              <a:noFill/>
              <a:ln>
                <a:solidFill>
                  <a:schemeClr val="bg2"/>
                </a:solidFill>
              </a:ln>
            </p:spPr>
            <p:txBody>
              <a:bodyPr wrap="square" rtlCol="0">
                <a:spAutoFit/>
              </a:bodyPr>
              <a:lstStyle/>
              <a:p>
                <a:pPr algn="ctr"/>
                <a:r>
                  <a:rPr lang="zh-CN" altLang="en-US" smtClean="0">
                    <a:solidFill>
                      <a:schemeClr val="bg2"/>
                    </a:solidFill>
                  </a:rPr>
                  <a:t>应用程序</a:t>
                </a:r>
                <a:endParaRPr lang="zh-CN" altLang="en-US">
                  <a:solidFill>
                    <a:schemeClr val="bg2"/>
                  </a:solidFill>
                </a:endParaRPr>
              </a:p>
            </p:txBody>
          </p:sp>
          <p:sp>
            <p:nvSpPr>
              <p:cNvPr id="12" name="文本框 11"/>
              <p:cNvSpPr txBox="1"/>
              <p:nvPr/>
            </p:nvSpPr>
            <p:spPr>
              <a:xfrm>
                <a:off x="827584" y="3617423"/>
                <a:ext cx="1728192" cy="523220"/>
              </a:xfrm>
              <a:prstGeom prst="rect">
                <a:avLst/>
              </a:prstGeom>
              <a:noFill/>
              <a:ln>
                <a:solidFill>
                  <a:schemeClr val="bg2"/>
                </a:solidFill>
              </a:ln>
            </p:spPr>
            <p:txBody>
              <a:bodyPr wrap="square" rtlCol="0">
                <a:spAutoFit/>
              </a:bodyPr>
              <a:lstStyle/>
              <a:p>
                <a:pPr algn="ctr"/>
                <a:r>
                  <a:rPr lang="zh-CN" altLang="en-US" smtClean="0">
                    <a:solidFill>
                      <a:schemeClr val="bg2"/>
                    </a:solidFill>
                  </a:rPr>
                  <a:t>文件管理</a:t>
                </a:r>
                <a:endParaRPr lang="zh-CN" altLang="en-US">
                  <a:solidFill>
                    <a:schemeClr val="bg2"/>
                  </a:solidFill>
                </a:endParaRPr>
              </a:p>
            </p:txBody>
          </p:sp>
          <p:sp>
            <p:nvSpPr>
              <p:cNvPr id="13" name="文本框 12"/>
              <p:cNvSpPr txBox="1"/>
              <p:nvPr/>
            </p:nvSpPr>
            <p:spPr>
              <a:xfrm>
                <a:off x="2628762" y="4515593"/>
                <a:ext cx="2231270" cy="523220"/>
              </a:xfrm>
              <a:prstGeom prst="rect">
                <a:avLst/>
              </a:prstGeom>
              <a:noFill/>
              <a:ln>
                <a:solidFill>
                  <a:schemeClr val="bg2"/>
                </a:solidFill>
              </a:ln>
            </p:spPr>
            <p:txBody>
              <a:bodyPr wrap="square" rtlCol="0">
                <a:spAutoFit/>
              </a:bodyPr>
              <a:lstStyle/>
              <a:p>
                <a:pPr algn="ctr"/>
                <a:r>
                  <a:rPr lang="en-US" altLang="zh-CN" smtClean="0">
                    <a:solidFill>
                      <a:schemeClr val="bg2"/>
                    </a:solidFill>
                  </a:rPr>
                  <a:t>I/O</a:t>
                </a:r>
                <a:r>
                  <a:rPr lang="zh-CN" altLang="en-US" smtClean="0">
                    <a:solidFill>
                      <a:schemeClr val="bg2"/>
                    </a:solidFill>
                  </a:rPr>
                  <a:t>设备管理</a:t>
                </a:r>
                <a:endParaRPr lang="zh-CN" altLang="en-US">
                  <a:solidFill>
                    <a:schemeClr val="bg2"/>
                  </a:solidFill>
                </a:endParaRPr>
              </a:p>
            </p:txBody>
          </p:sp>
          <p:cxnSp>
            <p:nvCxnSpPr>
              <p:cNvPr id="19" name="直接连接符 18"/>
              <p:cNvCxnSpPr/>
              <p:nvPr/>
            </p:nvCxnSpPr>
            <p:spPr bwMode="auto">
              <a:xfrm>
                <a:off x="755576" y="3203848"/>
                <a:ext cx="5760640" cy="9128"/>
              </a:xfrm>
              <a:prstGeom prst="line">
                <a:avLst/>
              </a:prstGeom>
              <a:ln>
                <a:prstDash val="dash"/>
                <a:headEnd type="none" w="sm" len="sm"/>
                <a:tailEnd type="none" w="sm" len="sm"/>
              </a:ln>
            </p:spPr>
            <p:style>
              <a:lnRef idx="3">
                <a:schemeClr val="dk1"/>
              </a:lnRef>
              <a:fillRef idx="0">
                <a:schemeClr val="dk1"/>
              </a:fillRef>
              <a:effectRef idx="2">
                <a:schemeClr val="dk1"/>
              </a:effectRef>
              <a:fontRef idx="minor">
                <a:schemeClr val="tx1"/>
              </a:fontRef>
            </p:style>
          </p:cxnSp>
          <p:sp>
            <p:nvSpPr>
              <p:cNvPr id="21" name="文本框 20"/>
              <p:cNvSpPr txBox="1"/>
              <p:nvPr/>
            </p:nvSpPr>
            <p:spPr>
              <a:xfrm>
                <a:off x="6735611" y="2970583"/>
                <a:ext cx="1894334" cy="400110"/>
              </a:xfrm>
              <a:prstGeom prst="rect">
                <a:avLst/>
              </a:prstGeom>
              <a:noFill/>
            </p:spPr>
            <p:txBody>
              <a:bodyPr wrap="square" rtlCol="0">
                <a:spAutoFit/>
              </a:bodyPr>
              <a:lstStyle/>
              <a:p>
                <a:r>
                  <a:rPr lang="zh-CN" altLang="en-US" sz="2000">
                    <a:solidFill>
                      <a:srgbClr val="C00000"/>
                    </a:solidFill>
                    <a:latin typeface="+mn-ea"/>
                    <a:ea typeface="+mn-ea"/>
                  </a:rPr>
                  <a:t>应用</a:t>
                </a:r>
                <a:r>
                  <a:rPr lang="zh-CN" altLang="en-US" sz="2000" smtClean="0">
                    <a:solidFill>
                      <a:srgbClr val="C00000"/>
                    </a:solidFill>
                    <a:latin typeface="+mn-ea"/>
                    <a:ea typeface="+mn-ea"/>
                  </a:rPr>
                  <a:t>编程接口</a:t>
                </a:r>
                <a:endParaRPr lang="zh-CN" altLang="en-US" sz="2000">
                  <a:solidFill>
                    <a:srgbClr val="C00000"/>
                  </a:solidFill>
                  <a:latin typeface="+mn-ea"/>
                  <a:ea typeface="+mn-ea"/>
                </a:endParaRPr>
              </a:p>
            </p:txBody>
          </p:sp>
          <p:cxnSp>
            <p:nvCxnSpPr>
              <p:cNvPr id="22" name="直接连接符 21"/>
              <p:cNvCxnSpPr/>
              <p:nvPr/>
            </p:nvCxnSpPr>
            <p:spPr bwMode="auto">
              <a:xfrm>
                <a:off x="755576" y="5256647"/>
                <a:ext cx="5760640" cy="9128"/>
              </a:xfrm>
              <a:prstGeom prst="line">
                <a:avLst/>
              </a:prstGeom>
              <a:ln>
                <a:prstDash val="dash"/>
                <a:headEnd type="none" w="sm" len="sm"/>
                <a:tailEnd type="none" w="sm" len="sm"/>
              </a:ln>
            </p:spPr>
            <p:style>
              <a:lnRef idx="3">
                <a:schemeClr val="dk1"/>
              </a:lnRef>
              <a:fillRef idx="0">
                <a:schemeClr val="dk1"/>
              </a:fillRef>
              <a:effectRef idx="2">
                <a:schemeClr val="dk1"/>
              </a:effectRef>
              <a:fontRef idx="minor">
                <a:schemeClr val="tx1"/>
              </a:fontRef>
            </p:style>
          </p:cxnSp>
          <p:sp>
            <p:nvSpPr>
              <p:cNvPr id="23" name="文本框 22"/>
              <p:cNvSpPr txBox="1"/>
              <p:nvPr/>
            </p:nvSpPr>
            <p:spPr>
              <a:xfrm>
                <a:off x="6735611" y="5023382"/>
                <a:ext cx="1894334" cy="400110"/>
              </a:xfrm>
              <a:prstGeom prst="rect">
                <a:avLst/>
              </a:prstGeom>
              <a:noFill/>
            </p:spPr>
            <p:txBody>
              <a:bodyPr wrap="square" rtlCol="0">
                <a:spAutoFit/>
              </a:bodyPr>
              <a:lstStyle/>
              <a:p>
                <a:r>
                  <a:rPr lang="zh-CN" altLang="en-US" sz="2000">
                    <a:solidFill>
                      <a:srgbClr val="C00000"/>
                    </a:solidFill>
                    <a:latin typeface="+mn-ea"/>
                    <a:ea typeface="+mn-ea"/>
                  </a:rPr>
                  <a:t>硬件</a:t>
                </a:r>
                <a:r>
                  <a:rPr lang="zh-CN" altLang="en-US" sz="2000" smtClean="0">
                    <a:solidFill>
                      <a:srgbClr val="C00000"/>
                    </a:solidFill>
                    <a:latin typeface="+mn-ea"/>
                    <a:ea typeface="+mn-ea"/>
                  </a:rPr>
                  <a:t>接口</a:t>
                </a:r>
                <a:endParaRPr lang="zh-CN" altLang="en-US" sz="2000">
                  <a:solidFill>
                    <a:srgbClr val="C00000"/>
                  </a:solidFill>
                  <a:latin typeface="+mn-ea"/>
                  <a:ea typeface="+mn-ea"/>
                </a:endParaRPr>
              </a:p>
            </p:txBody>
          </p:sp>
          <p:sp>
            <p:nvSpPr>
              <p:cNvPr id="24" name="文本框 23"/>
              <p:cNvSpPr txBox="1"/>
              <p:nvPr/>
            </p:nvSpPr>
            <p:spPr>
              <a:xfrm>
                <a:off x="878159" y="5661094"/>
                <a:ext cx="1873186" cy="461665"/>
              </a:xfrm>
              <a:prstGeom prst="rect">
                <a:avLst/>
              </a:prstGeom>
              <a:noFill/>
              <a:ln>
                <a:solidFill>
                  <a:schemeClr val="bg2"/>
                </a:solidFill>
              </a:ln>
            </p:spPr>
            <p:txBody>
              <a:bodyPr wrap="square" rtlCol="0">
                <a:spAutoFit/>
              </a:bodyPr>
              <a:lstStyle/>
              <a:p>
                <a:pPr algn="ctr"/>
                <a:r>
                  <a:rPr lang="zh-CN" altLang="en-US" sz="2400" smtClean="0">
                    <a:solidFill>
                      <a:schemeClr val="bg2"/>
                    </a:solidFill>
                  </a:rPr>
                  <a:t>控制寄存器</a:t>
                </a:r>
                <a:endParaRPr lang="zh-CN" altLang="en-US" sz="2400">
                  <a:solidFill>
                    <a:schemeClr val="bg2"/>
                  </a:solidFill>
                </a:endParaRPr>
              </a:p>
            </p:txBody>
          </p:sp>
          <p:sp>
            <p:nvSpPr>
              <p:cNvPr id="25" name="文本框 24"/>
              <p:cNvSpPr txBox="1"/>
              <p:nvPr/>
            </p:nvSpPr>
            <p:spPr>
              <a:xfrm>
                <a:off x="2914686" y="5660440"/>
                <a:ext cx="1909271" cy="461665"/>
              </a:xfrm>
              <a:prstGeom prst="rect">
                <a:avLst/>
              </a:prstGeom>
              <a:noFill/>
              <a:ln>
                <a:solidFill>
                  <a:schemeClr val="bg2"/>
                </a:solidFill>
              </a:ln>
            </p:spPr>
            <p:txBody>
              <a:bodyPr wrap="square" rtlCol="0">
                <a:spAutoFit/>
              </a:bodyPr>
              <a:lstStyle/>
              <a:p>
                <a:pPr algn="ctr"/>
                <a:r>
                  <a:rPr lang="zh-CN" altLang="en-US" sz="2400" smtClean="0">
                    <a:solidFill>
                      <a:schemeClr val="bg2"/>
                    </a:solidFill>
                  </a:rPr>
                  <a:t>状态寄存器</a:t>
                </a:r>
                <a:endParaRPr lang="zh-CN" altLang="en-US" sz="2400">
                  <a:solidFill>
                    <a:schemeClr val="bg2"/>
                  </a:solidFill>
                </a:endParaRPr>
              </a:p>
            </p:txBody>
          </p:sp>
          <p:sp>
            <p:nvSpPr>
              <p:cNvPr id="26" name="文本框 25"/>
              <p:cNvSpPr txBox="1"/>
              <p:nvPr/>
            </p:nvSpPr>
            <p:spPr>
              <a:xfrm>
                <a:off x="4933346" y="5664542"/>
                <a:ext cx="1942910" cy="461665"/>
              </a:xfrm>
              <a:prstGeom prst="rect">
                <a:avLst/>
              </a:prstGeom>
              <a:noFill/>
              <a:ln>
                <a:solidFill>
                  <a:schemeClr val="bg2"/>
                </a:solidFill>
              </a:ln>
            </p:spPr>
            <p:txBody>
              <a:bodyPr wrap="square" rtlCol="0">
                <a:spAutoFit/>
              </a:bodyPr>
              <a:lstStyle/>
              <a:p>
                <a:pPr algn="ctr"/>
                <a:r>
                  <a:rPr lang="zh-CN" altLang="en-US" sz="2400" smtClean="0">
                    <a:solidFill>
                      <a:schemeClr val="bg2"/>
                    </a:solidFill>
                  </a:rPr>
                  <a:t>数据寄存器</a:t>
                </a:r>
                <a:endParaRPr lang="zh-CN" altLang="en-US" sz="2400">
                  <a:solidFill>
                    <a:schemeClr val="bg2"/>
                  </a:solidFill>
                </a:endParaRPr>
              </a:p>
            </p:txBody>
          </p:sp>
          <p:sp>
            <p:nvSpPr>
              <p:cNvPr id="27" name="矩形 26"/>
              <p:cNvSpPr/>
              <p:nvPr/>
            </p:nvSpPr>
            <p:spPr bwMode="auto">
              <a:xfrm>
                <a:off x="755576" y="5540057"/>
                <a:ext cx="6261601" cy="720080"/>
              </a:xfrm>
              <a:prstGeom prst="rect">
                <a:avLst/>
              </a:prstGeom>
              <a:noFill/>
              <a:ln w="28575">
                <a:solidFill>
                  <a:schemeClr val="tx2">
                    <a:lumMod val="75000"/>
                  </a:schemeClr>
                </a:solidFill>
                <a:headEnd type="none" w="sm" len="sm"/>
                <a:tailEnd type="none" w="sm" len="sm"/>
              </a:ln>
            </p:spPr>
            <p:style>
              <a:lnRef idx="2">
                <a:schemeClr val="accent5"/>
              </a:lnRef>
              <a:fillRef idx="1">
                <a:schemeClr val="lt1"/>
              </a:fillRef>
              <a:effectRef idx="0">
                <a:schemeClr val="accent5"/>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28" name="文本框 27"/>
              <p:cNvSpPr txBox="1"/>
              <p:nvPr/>
            </p:nvSpPr>
            <p:spPr>
              <a:xfrm>
                <a:off x="7086903" y="5697901"/>
                <a:ext cx="1617662" cy="400110"/>
              </a:xfrm>
              <a:prstGeom prst="rect">
                <a:avLst/>
              </a:prstGeom>
              <a:noFill/>
            </p:spPr>
            <p:txBody>
              <a:bodyPr wrap="square" rtlCol="0">
                <a:spAutoFit/>
              </a:bodyPr>
              <a:lstStyle/>
              <a:p>
                <a:r>
                  <a:rPr lang="zh-CN" altLang="en-US" sz="2000">
                    <a:solidFill>
                      <a:schemeClr val="tx2">
                        <a:lumMod val="75000"/>
                      </a:schemeClr>
                    </a:solidFill>
                  </a:rPr>
                  <a:t>设备控制器</a:t>
                </a:r>
              </a:p>
            </p:txBody>
          </p:sp>
          <p:cxnSp>
            <p:nvCxnSpPr>
              <p:cNvPr id="30" name="直接箭头连接符 29"/>
              <p:cNvCxnSpPr>
                <a:endCxn id="12" idx="0"/>
              </p:cNvCxnSpPr>
              <p:nvPr/>
            </p:nvCxnSpPr>
            <p:spPr bwMode="auto">
              <a:xfrm flipH="1">
                <a:off x="1691680" y="3070800"/>
                <a:ext cx="1223006" cy="54662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p:cNvCxnSpPr>
                <a:endCxn id="13" idx="0"/>
              </p:cNvCxnSpPr>
              <p:nvPr/>
            </p:nvCxnSpPr>
            <p:spPr bwMode="auto">
              <a:xfrm>
                <a:off x="3732813" y="3070800"/>
                <a:ext cx="11584" cy="1444793"/>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4" name="直接箭头连接符 33"/>
              <p:cNvCxnSpPr/>
              <p:nvPr/>
            </p:nvCxnSpPr>
            <p:spPr bwMode="auto">
              <a:xfrm>
                <a:off x="1688550" y="4152259"/>
                <a:ext cx="1692374" cy="360858"/>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37" name="直接箭头连接符 36"/>
              <p:cNvCxnSpPr>
                <a:endCxn id="24" idx="0"/>
              </p:cNvCxnSpPr>
              <p:nvPr/>
            </p:nvCxnSpPr>
            <p:spPr bwMode="auto">
              <a:xfrm flipH="1">
                <a:off x="1814752" y="5047953"/>
                <a:ext cx="1400907" cy="613141"/>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0" name="直接箭头连接符 39"/>
              <p:cNvCxnSpPr/>
              <p:nvPr/>
            </p:nvCxnSpPr>
            <p:spPr bwMode="auto">
              <a:xfrm>
                <a:off x="3851279" y="5047953"/>
                <a:ext cx="0" cy="61248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43" name="直接箭头连接符 42"/>
              <p:cNvCxnSpPr/>
              <p:nvPr/>
            </p:nvCxnSpPr>
            <p:spPr bwMode="auto">
              <a:xfrm>
                <a:off x="4621743" y="5038813"/>
                <a:ext cx="1283058" cy="621627"/>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grpSp>
            <p:nvGrpSpPr>
              <p:cNvPr id="55" name="组合 54"/>
              <p:cNvGrpSpPr/>
              <p:nvPr/>
            </p:nvGrpSpPr>
            <p:grpSpPr>
              <a:xfrm>
                <a:off x="4857303" y="3730640"/>
                <a:ext cx="3059147" cy="1316895"/>
                <a:chOff x="4857303" y="3730640"/>
                <a:chExt cx="3059147" cy="1316895"/>
              </a:xfrm>
            </p:grpSpPr>
            <p:grpSp>
              <p:nvGrpSpPr>
                <p:cNvPr id="17" name="组合 16"/>
                <p:cNvGrpSpPr/>
                <p:nvPr/>
              </p:nvGrpSpPr>
              <p:grpSpPr>
                <a:xfrm>
                  <a:off x="5685180" y="3730640"/>
                  <a:ext cx="2231270" cy="1200330"/>
                  <a:chOff x="5796136" y="3176134"/>
                  <a:chExt cx="2231270" cy="1200330"/>
                </a:xfrm>
              </p:grpSpPr>
              <p:sp>
                <p:nvSpPr>
                  <p:cNvPr id="14" name="文本框 13"/>
                  <p:cNvSpPr txBox="1"/>
                  <p:nvPr/>
                </p:nvSpPr>
                <p:spPr>
                  <a:xfrm>
                    <a:off x="5796136" y="3176134"/>
                    <a:ext cx="2231270" cy="400110"/>
                  </a:xfrm>
                  <a:prstGeom prst="rect">
                    <a:avLst/>
                  </a:prstGeom>
                  <a:noFill/>
                  <a:ln>
                    <a:solidFill>
                      <a:srgbClr val="00B050"/>
                    </a:solidFill>
                  </a:ln>
                </p:spPr>
                <p:txBody>
                  <a:bodyPr wrap="square" rtlCol="0">
                    <a:spAutoFit/>
                  </a:bodyPr>
                  <a:lstStyle/>
                  <a:p>
                    <a:pPr algn="ctr"/>
                    <a:r>
                      <a:rPr lang="zh-CN" altLang="en-US" sz="2000" smtClean="0">
                        <a:solidFill>
                          <a:srgbClr val="00B050"/>
                        </a:solidFill>
                      </a:rPr>
                      <a:t>逻辑</a:t>
                    </a:r>
                    <a:r>
                      <a:rPr lang="en-US" altLang="zh-CN" sz="2000" smtClean="0">
                        <a:solidFill>
                          <a:srgbClr val="00B050"/>
                        </a:solidFill>
                      </a:rPr>
                      <a:t>I/O</a:t>
                    </a:r>
                    <a:endParaRPr lang="zh-CN" altLang="en-US" sz="2000">
                      <a:solidFill>
                        <a:srgbClr val="00B050"/>
                      </a:solidFill>
                    </a:endParaRPr>
                  </a:p>
                </p:txBody>
              </p:sp>
              <p:sp>
                <p:nvSpPr>
                  <p:cNvPr id="15" name="文本框 14"/>
                  <p:cNvSpPr txBox="1"/>
                  <p:nvPr/>
                </p:nvSpPr>
                <p:spPr>
                  <a:xfrm>
                    <a:off x="5796136" y="3576244"/>
                    <a:ext cx="2231270" cy="400110"/>
                  </a:xfrm>
                  <a:prstGeom prst="rect">
                    <a:avLst/>
                  </a:prstGeom>
                  <a:noFill/>
                  <a:ln>
                    <a:solidFill>
                      <a:srgbClr val="00B050"/>
                    </a:solidFill>
                  </a:ln>
                </p:spPr>
                <p:txBody>
                  <a:bodyPr wrap="square" rtlCol="0">
                    <a:spAutoFit/>
                  </a:bodyPr>
                  <a:lstStyle/>
                  <a:p>
                    <a:pPr algn="ctr"/>
                    <a:r>
                      <a:rPr lang="zh-CN" altLang="en-US" sz="2000" smtClean="0">
                        <a:solidFill>
                          <a:srgbClr val="00B050"/>
                        </a:solidFill>
                      </a:rPr>
                      <a:t>设备驱动程序</a:t>
                    </a:r>
                    <a:endParaRPr lang="zh-CN" altLang="en-US" sz="2000">
                      <a:solidFill>
                        <a:srgbClr val="00B050"/>
                      </a:solidFill>
                    </a:endParaRPr>
                  </a:p>
                </p:txBody>
              </p:sp>
              <p:sp>
                <p:nvSpPr>
                  <p:cNvPr id="16" name="文本框 15"/>
                  <p:cNvSpPr txBox="1"/>
                  <p:nvPr/>
                </p:nvSpPr>
                <p:spPr>
                  <a:xfrm>
                    <a:off x="5796136" y="3976354"/>
                    <a:ext cx="2231270" cy="400110"/>
                  </a:xfrm>
                  <a:prstGeom prst="rect">
                    <a:avLst/>
                  </a:prstGeom>
                  <a:noFill/>
                  <a:ln>
                    <a:solidFill>
                      <a:srgbClr val="00B050"/>
                    </a:solidFill>
                  </a:ln>
                </p:spPr>
                <p:txBody>
                  <a:bodyPr wrap="square" rtlCol="0">
                    <a:spAutoFit/>
                  </a:bodyPr>
                  <a:lstStyle/>
                  <a:p>
                    <a:pPr algn="ctr"/>
                    <a:r>
                      <a:rPr lang="zh-CN" altLang="en-US" sz="2000" smtClean="0">
                        <a:solidFill>
                          <a:srgbClr val="00B050"/>
                        </a:solidFill>
                      </a:rPr>
                      <a:t>中断服务程序</a:t>
                    </a:r>
                    <a:endParaRPr lang="zh-CN" altLang="en-US" sz="2000">
                      <a:solidFill>
                        <a:srgbClr val="00B050"/>
                      </a:solidFill>
                    </a:endParaRPr>
                  </a:p>
                </p:txBody>
              </p:sp>
            </p:grpSp>
            <p:cxnSp>
              <p:nvCxnSpPr>
                <p:cNvPr id="47" name="直接连接符 46"/>
                <p:cNvCxnSpPr/>
                <p:nvPr/>
              </p:nvCxnSpPr>
              <p:spPr bwMode="auto">
                <a:xfrm flipV="1">
                  <a:off x="4860032" y="3730640"/>
                  <a:ext cx="825148" cy="782477"/>
                </a:xfrm>
                <a:prstGeom prst="line">
                  <a:avLst/>
                </a:prstGeom>
                <a:ln>
                  <a:solidFill>
                    <a:srgbClr val="00B050"/>
                  </a:solidFill>
                  <a:headEnd type="none" w="sm" len="sm"/>
                  <a:tailEnd type="none" w="sm" len="sm"/>
                </a:ln>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bwMode="auto">
                <a:xfrm flipV="1">
                  <a:off x="4857303" y="4940360"/>
                  <a:ext cx="827877" cy="107175"/>
                </a:xfrm>
                <a:prstGeom prst="line">
                  <a:avLst/>
                </a:prstGeom>
                <a:ln>
                  <a:solidFill>
                    <a:srgbClr val="00B050"/>
                  </a:solidFill>
                  <a:headEnd type="none" w="sm" len="sm"/>
                  <a:tailEnd type="none" w="sm" len="sm"/>
                </a:ln>
              </p:spPr>
              <p:style>
                <a:lnRef idx="1">
                  <a:schemeClr val="dk1"/>
                </a:lnRef>
                <a:fillRef idx="0">
                  <a:schemeClr val="dk1"/>
                </a:fillRef>
                <a:effectRef idx="0">
                  <a:schemeClr val="dk1"/>
                </a:effectRef>
                <a:fontRef idx="minor">
                  <a:schemeClr val="tx1"/>
                </a:fontRef>
              </p:style>
            </p:cxnSp>
          </p:grpSp>
        </p:grpSp>
      </p:grpSp>
    </p:spTree>
    <p:extLst>
      <p:ext uri="{BB962C8B-B14F-4D97-AF65-F5344CB8AC3E}">
        <p14:creationId xmlns:p14="http://schemas.microsoft.com/office/powerpoint/2010/main" val="166995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2" presetClass="entr" presetSubtype="4" fill="hold" nodeType="withEffect">
                                  <p:stCondLst>
                                    <p:cond delay="0"/>
                                  </p:stCondLst>
                                  <p:childTnLst>
                                    <p:set>
                                      <p:cBhvr>
                                        <p:cTn id="9" dur="1" fill="hold">
                                          <p:stCondLst>
                                            <p:cond delay="0"/>
                                          </p:stCondLst>
                                        </p:cTn>
                                        <p:tgtEl>
                                          <p:spTgt spid="57"/>
                                        </p:tgtEl>
                                        <p:attrNameLst>
                                          <p:attrName>style.visibility</p:attrName>
                                        </p:attrNameLst>
                                      </p:cBhvr>
                                      <p:to>
                                        <p:strVal val="visible"/>
                                      </p:to>
                                    </p:set>
                                    <p:anim calcmode="lin" valueType="num">
                                      <p:cBhvr additive="base">
                                        <p:cTn id="10" dur="500" fill="hold"/>
                                        <p:tgtEl>
                                          <p:spTgt spid="57"/>
                                        </p:tgtEl>
                                        <p:attrNameLst>
                                          <p:attrName>ppt_x</p:attrName>
                                        </p:attrNameLst>
                                      </p:cBhvr>
                                      <p:tavLst>
                                        <p:tav tm="0">
                                          <p:val>
                                            <p:strVal val="#ppt_x"/>
                                          </p:val>
                                        </p:tav>
                                        <p:tav tm="100000">
                                          <p:val>
                                            <p:strVal val="#ppt_x"/>
                                          </p:val>
                                        </p:tav>
                                      </p:tavLst>
                                    </p:anim>
                                    <p:anim calcmode="lin" valueType="num">
                                      <p:cBhvr additive="base">
                                        <p:cTn id="11"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9" name="AutoShape 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12292" name="Rectangle 6"/>
          <p:cNvSpPr>
            <a:spLocks noChangeArrowheads="1"/>
          </p:cNvSpPr>
          <p:nvPr/>
        </p:nvSpPr>
        <p:spPr bwMode="auto">
          <a:xfrm>
            <a:off x="1692275" y="50800"/>
            <a:ext cx="6305550" cy="701675"/>
          </a:xfrm>
          <a:prstGeom prst="rect">
            <a:avLst/>
          </a:prstGeom>
          <a:noFill/>
          <a:ln w="12700" cap="sq">
            <a:noFill/>
            <a:miter lim="800000"/>
            <a:headEnd type="none" w="sm" len="sm"/>
            <a:tailEnd type="none" w="sm" len="sm"/>
          </a:ln>
        </p:spPr>
        <p:txBody>
          <a:bodyPr>
            <a:spAutoFit/>
          </a:bodyPr>
          <a:lstStyle/>
          <a:p>
            <a:pPr eaLnBrk="1" hangingPunct="1">
              <a:defRPr/>
            </a:pPr>
            <a:r>
              <a:rPr lang="en-US" altLang="zh-CN" sz="4000" dirty="0" smtClean="0">
                <a:solidFill>
                  <a:srgbClr val="FFFF00"/>
                </a:solidFill>
                <a:latin typeface="+mj-lt"/>
                <a:ea typeface="楷体_GB2312" pitchFamily="49" charset="-122"/>
              </a:rPr>
              <a:t>10.1.2  </a:t>
            </a:r>
            <a:r>
              <a:rPr lang="zh-CN" altLang="en-US" sz="4000" dirty="0">
                <a:solidFill>
                  <a:srgbClr val="FFFF00"/>
                </a:solidFill>
                <a:latin typeface="+mj-lt"/>
                <a:ea typeface="楷体_GB2312" pitchFamily="49" charset="-122"/>
              </a:rPr>
              <a:t>设备管理的任务</a:t>
            </a:r>
          </a:p>
        </p:txBody>
      </p:sp>
      <p:sp>
        <p:nvSpPr>
          <p:cNvPr id="15365" name="Rectangle 6"/>
          <p:cNvSpPr>
            <a:spLocks noChangeArrowheads="1"/>
          </p:cNvSpPr>
          <p:nvPr/>
        </p:nvSpPr>
        <p:spPr bwMode="auto">
          <a:xfrm>
            <a:off x="71438" y="1268413"/>
            <a:ext cx="8964612"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buClr>
                <a:schemeClr val="tx1"/>
              </a:buClr>
              <a:buSzPct val="80000"/>
              <a:buFont typeface="Wingdings" panose="05000000000000000000" pitchFamily="2" charset="2"/>
              <a:buChar char="n"/>
            </a:pPr>
            <a:r>
              <a:rPr lang="zh-CN" altLang="en-US" sz="3200" dirty="0">
                <a:solidFill>
                  <a:srgbClr val="FFFF00"/>
                </a:solidFill>
                <a:latin typeface="楷体_GB2312" pitchFamily="49" charset="-122"/>
                <a:ea typeface="楷体_GB2312" pitchFamily="49" charset="-122"/>
              </a:rPr>
              <a:t>选择</a:t>
            </a:r>
            <a:r>
              <a:rPr lang="zh-CN" altLang="en-US" sz="3200" dirty="0">
                <a:latin typeface="楷体_GB2312" pitchFamily="49" charset="-122"/>
                <a:ea typeface="楷体_GB2312" pitchFamily="49" charset="-122"/>
              </a:rPr>
              <a:t>和</a:t>
            </a:r>
            <a:r>
              <a:rPr lang="zh-CN" altLang="en-US" sz="3200" dirty="0">
                <a:solidFill>
                  <a:srgbClr val="FFFF00"/>
                </a:solidFill>
                <a:latin typeface="楷体_GB2312" pitchFamily="49" charset="-122"/>
                <a:ea typeface="楷体_GB2312" pitchFamily="49" charset="-122"/>
              </a:rPr>
              <a:t>分配</a:t>
            </a:r>
            <a:r>
              <a:rPr lang="zh-CN" altLang="en-US" sz="3200" dirty="0" smtClean="0">
                <a:latin typeface="楷体_GB2312" pitchFamily="49" charset="-122"/>
                <a:ea typeface="楷体_GB2312" pitchFamily="49" charset="-122"/>
              </a:rPr>
              <a:t>输入输出设备</a:t>
            </a:r>
            <a:endParaRPr lang="en-US" altLang="zh-CN" sz="3200" dirty="0">
              <a:latin typeface="楷体_GB2312" pitchFamily="49" charset="-122"/>
              <a:ea typeface="楷体_GB2312" pitchFamily="49" charset="-122"/>
            </a:endParaRPr>
          </a:p>
          <a:p>
            <a:pPr lvl="1" eaLnBrk="1" hangingPunct="1">
              <a:buClr>
                <a:schemeClr val="tx1"/>
              </a:buClr>
              <a:buSzPct val="80000"/>
              <a:buFont typeface="Wingdings" panose="05000000000000000000" pitchFamily="2" charset="2"/>
              <a:buChar char="n"/>
            </a:pPr>
            <a:r>
              <a:rPr lang="zh-CN" altLang="en-US" sz="3200" dirty="0">
                <a:solidFill>
                  <a:srgbClr val="FFFF00"/>
                </a:solidFill>
                <a:latin typeface="楷体_GB2312" pitchFamily="49" charset="-122"/>
                <a:ea typeface="楷体_GB2312" pitchFamily="49" charset="-122"/>
              </a:rPr>
              <a:t>控制</a:t>
            </a:r>
            <a:r>
              <a:rPr lang="zh-CN" altLang="en-US" sz="3200" dirty="0">
                <a:latin typeface="楷体_GB2312" pitchFamily="49" charset="-122"/>
                <a:ea typeface="楷体_GB2312" pitchFamily="49" charset="-122"/>
              </a:rPr>
              <a:t>输入输出设备和</a:t>
            </a:r>
            <a:r>
              <a:rPr lang="en-US" altLang="zh-CN" sz="3200" dirty="0">
                <a:latin typeface="楷体_GB2312" pitchFamily="49" charset="-122"/>
                <a:ea typeface="楷体_GB2312" pitchFamily="49" charset="-122"/>
              </a:rPr>
              <a:t>CPU</a:t>
            </a:r>
            <a:r>
              <a:rPr lang="zh-CN" altLang="en-US" sz="3200" dirty="0">
                <a:latin typeface="楷体_GB2312" pitchFamily="49" charset="-122"/>
                <a:ea typeface="楷体_GB2312" pitchFamily="49" charset="-122"/>
              </a:rPr>
              <a:t>及内存之间交换数据</a:t>
            </a:r>
          </a:p>
          <a:p>
            <a:pPr lvl="1" eaLnBrk="1" hangingPunct="1">
              <a:buClr>
                <a:schemeClr val="tx1"/>
              </a:buClr>
              <a:buSzPct val="80000"/>
              <a:buFont typeface="Wingdings" panose="05000000000000000000" pitchFamily="2" charset="2"/>
              <a:buChar char="n"/>
            </a:pPr>
            <a:r>
              <a:rPr lang="zh-CN" altLang="en-US" sz="3200" dirty="0">
                <a:latin typeface="楷体_GB2312" pitchFamily="49" charset="-122"/>
                <a:ea typeface="楷体_GB2312" pitchFamily="49" charset="-122"/>
              </a:rPr>
              <a:t>为用户提供一个友好</a:t>
            </a:r>
            <a:r>
              <a:rPr lang="zh-CN" altLang="en-US" sz="3200" dirty="0">
                <a:solidFill>
                  <a:srgbClr val="FFFF00"/>
                </a:solidFill>
                <a:latin typeface="楷体_GB2312" pitchFamily="49" charset="-122"/>
                <a:ea typeface="楷体_GB2312" pitchFamily="49" charset="-122"/>
              </a:rPr>
              <a:t>接口</a:t>
            </a:r>
          </a:p>
          <a:p>
            <a:pPr lvl="1" eaLnBrk="1" hangingPunct="1">
              <a:buClr>
                <a:schemeClr val="tx1"/>
              </a:buClr>
              <a:buSzPct val="80000"/>
              <a:buFont typeface="Wingdings" panose="05000000000000000000" pitchFamily="2" charset="2"/>
              <a:buChar char="n"/>
            </a:pPr>
            <a:r>
              <a:rPr lang="zh-CN" altLang="en-US" sz="3200" dirty="0">
                <a:latin typeface="楷体_GB2312" pitchFamily="49" charset="-122"/>
                <a:ea typeface="楷体_GB2312" pitchFamily="49" charset="-122"/>
              </a:rPr>
              <a:t>提高设备和设备之间、</a:t>
            </a:r>
            <a:r>
              <a:rPr lang="en-US" altLang="zh-CN" sz="3200" dirty="0">
                <a:latin typeface="楷体_GB2312" pitchFamily="49" charset="-122"/>
                <a:ea typeface="楷体_GB2312" pitchFamily="49" charset="-122"/>
              </a:rPr>
              <a:t>CPU</a:t>
            </a:r>
            <a:r>
              <a:rPr lang="zh-CN" altLang="en-US" sz="3200" dirty="0">
                <a:latin typeface="楷体_GB2312" pitchFamily="49" charset="-122"/>
                <a:ea typeface="楷体_GB2312" pitchFamily="49" charset="-122"/>
              </a:rPr>
              <a:t>和设备之间，以及进程和进程之间的</a:t>
            </a:r>
            <a:r>
              <a:rPr lang="zh-CN" altLang="en-US" sz="3200" dirty="0">
                <a:solidFill>
                  <a:srgbClr val="FFFF00"/>
                </a:solidFill>
                <a:latin typeface="楷体_GB2312" pitchFamily="49" charset="-122"/>
                <a:ea typeface="楷体_GB2312" pitchFamily="49" charset="-122"/>
              </a:rPr>
              <a:t>并行操作</a:t>
            </a:r>
            <a:r>
              <a:rPr lang="zh-CN" altLang="en-US" sz="3200" dirty="0">
                <a:latin typeface="楷体_GB2312" pitchFamily="49" charset="-122"/>
                <a:ea typeface="楷体_GB2312" pitchFamily="49" charset="-122"/>
              </a:rPr>
              <a:t>程度，以使操作系统获得最佳效率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84709"/>
                                        </p:tgtEl>
                                        <p:attrNameLst>
                                          <p:attrName>style.visibility</p:attrName>
                                        </p:attrNameLst>
                                      </p:cBhvr>
                                      <p:to>
                                        <p:strVal val="visible"/>
                                      </p:to>
                                    </p:set>
                                    <p:anim calcmode="lin" valueType="num">
                                      <p:cBhvr additive="base">
                                        <p:cTn id="7" dur="500" fill="hold"/>
                                        <p:tgtEl>
                                          <p:spTgt spid="584709"/>
                                        </p:tgtEl>
                                        <p:attrNameLst>
                                          <p:attrName>ppt_x</p:attrName>
                                        </p:attrNameLst>
                                      </p:cBhvr>
                                      <p:tavLst>
                                        <p:tav tm="0">
                                          <p:val>
                                            <p:strVal val="1+#ppt_w/2"/>
                                          </p:val>
                                        </p:tav>
                                        <p:tav tm="100000">
                                          <p:val>
                                            <p:strVal val="#ppt_x"/>
                                          </p:val>
                                        </p:tav>
                                      </p:tavLst>
                                    </p:anim>
                                    <p:anim calcmode="lin" valueType="num">
                                      <p:cBhvr additive="base">
                                        <p:cTn id="8" dur="500" fill="hold"/>
                                        <p:tgtEl>
                                          <p:spTgt spid="5847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0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9" name="Rectangle 3"/>
          <p:cNvSpPr>
            <a:spLocks noChangeArrowheads="1"/>
          </p:cNvSpPr>
          <p:nvPr/>
        </p:nvSpPr>
        <p:spPr bwMode="auto">
          <a:xfrm>
            <a:off x="1116013" y="333375"/>
            <a:ext cx="6481762" cy="892175"/>
          </a:xfrm>
          <a:prstGeom prst="rect">
            <a:avLst/>
          </a:prstGeom>
          <a:solidFill>
            <a:srgbClr val="CCFFCC"/>
          </a:solidFill>
          <a:ln w="12700" cap="sq">
            <a:noFill/>
            <a:miter lim="800000"/>
            <a:headEnd type="none" w="sm" len="sm"/>
            <a:tailEnd type="none" w="sm" len="sm"/>
          </a:ln>
          <a:effectLst/>
        </p:spPr>
        <p:txBody>
          <a:bodyPr anchor="ctr"/>
          <a:lstStyle/>
          <a:p>
            <a:pPr algn="ctr" eaLnBrk="1" hangingPunct="1">
              <a:defRPr/>
            </a:pPr>
            <a:r>
              <a:rPr lang="en-US" altLang="zh-CN" sz="4000" dirty="0" smtClean="0">
                <a:solidFill>
                  <a:srgbClr val="CC0066"/>
                </a:solidFill>
                <a:effectLst>
                  <a:outerShdw blurRad="38100" dist="38100" dir="2700000" algn="tl">
                    <a:srgbClr val="000000"/>
                  </a:outerShdw>
                </a:effectLst>
                <a:latin typeface="+mj-lt"/>
              </a:rPr>
              <a:t>10.2  </a:t>
            </a:r>
            <a:r>
              <a:rPr lang="zh-CN" altLang="en-US" sz="4000" dirty="0">
                <a:solidFill>
                  <a:srgbClr val="CC0066"/>
                </a:solidFill>
                <a:effectLst>
                  <a:outerShdw blurRad="38100" dist="38100" dir="2700000" algn="tl">
                    <a:srgbClr val="000000"/>
                  </a:outerShdw>
                </a:effectLst>
                <a:latin typeface="+mj-lt"/>
              </a:rPr>
              <a:t>数据传输控制方式</a:t>
            </a:r>
          </a:p>
        </p:txBody>
      </p:sp>
      <p:sp>
        <p:nvSpPr>
          <p:cNvPr id="587782" name="AutoShape 6">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7784" name="Rectangle 8"/>
          <p:cNvSpPr>
            <a:spLocks noGrp="1" noChangeArrowheads="1"/>
          </p:cNvSpPr>
          <p:nvPr>
            <p:ph type="body" idx="1"/>
          </p:nvPr>
        </p:nvSpPr>
        <p:spPr>
          <a:xfrm>
            <a:off x="214313" y="2349500"/>
            <a:ext cx="6215062" cy="2808288"/>
          </a:xfrm>
        </p:spPr>
        <p:txBody>
          <a:bodyPr/>
          <a:lstStyle/>
          <a:p>
            <a:pPr eaLnBrk="1" hangingPunct="1">
              <a:buClr>
                <a:srgbClr val="FFFF00"/>
              </a:buClr>
              <a:buSzPct val="80000"/>
              <a:buFont typeface="Wingdings" panose="05000000000000000000" pitchFamily="2" charset="2"/>
              <a:buChar char="n"/>
              <a:defRPr/>
            </a:pPr>
            <a:r>
              <a:rPr lang="zh-CN" altLang="en-US" sz="3600" b="1" dirty="0" smtClean="0">
                <a:solidFill>
                  <a:srgbClr val="FFFF00"/>
                </a:solidFill>
                <a:latin typeface="楷体_GB2312" pitchFamily="49" charset="-122"/>
                <a:ea typeface="楷体_GB2312" pitchFamily="49" charset="-122"/>
              </a:rPr>
              <a:t>程序直接控制方式</a:t>
            </a:r>
            <a:endParaRPr lang="zh-CN" altLang="en-US" sz="3600" b="1" dirty="0" smtClean="0">
              <a:solidFill>
                <a:srgbClr val="FFFF00"/>
              </a:solidFill>
              <a:effectLst>
                <a:outerShdw blurRad="38100" dist="38100" dir="2700000" algn="tl">
                  <a:srgbClr val="000000"/>
                </a:outerShdw>
              </a:effectLst>
            </a:endParaRPr>
          </a:p>
          <a:p>
            <a:pPr eaLnBrk="1" hangingPunct="1">
              <a:buClr>
                <a:srgbClr val="FFFF00"/>
              </a:buClr>
              <a:buSzPct val="80000"/>
              <a:buFont typeface="Wingdings" panose="05000000000000000000" pitchFamily="2" charset="2"/>
              <a:buChar char="n"/>
              <a:defRPr/>
            </a:pPr>
            <a:r>
              <a:rPr lang="zh-CN" altLang="en-US" sz="3600" b="1" dirty="0" smtClean="0">
                <a:solidFill>
                  <a:srgbClr val="FFFF00"/>
                </a:solidFill>
                <a:latin typeface="楷体_GB2312" pitchFamily="49" charset="-122"/>
                <a:ea typeface="楷体_GB2312" pitchFamily="49" charset="-122"/>
              </a:rPr>
              <a:t>中断控制方式</a:t>
            </a:r>
            <a:endParaRPr lang="zh-CN" altLang="en-US" sz="3600" b="1" dirty="0" smtClean="0">
              <a:solidFill>
                <a:srgbClr val="FFFF00"/>
              </a:solidFill>
            </a:endParaRPr>
          </a:p>
          <a:p>
            <a:pPr eaLnBrk="1" hangingPunct="1">
              <a:buClr>
                <a:srgbClr val="FFFF00"/>
              </a:buClr>
              <a:buSzPct val="80000"/>
              <a:buFont typeface="Wingdings" panose="05000000000000000000" pitchFamily="2" charset="2"/>
              <a:buChar char="n"/>
              <a:defRPr/>
            </a:pPr>
            <a:r>
              <a:rPr lang="en-US" altLang="zh-CN" sz="3600" b="1" dirty="0" smtClean="0">
                <a:solidFill>
                  <a:srgbClr val="FFFF00"/>
                </a:solidFill>
                <a:latin typeface="+mj-lt"/>
                <a:ea typeface="楷体_GB2312" pitchFamily="49" charset="-122"/>
              </a:rPr>
              <a:t>DMA</a:t>
            </a:r>
            <a:r>
              <a:rPr lang="zh-CN" altLang="en-US" sz="2400" b="1" dirty="0" smtClean="0">
                <a:latin typeface="+mj-lt"/>
                <a:ea typeface="楷体_GB2312" pitchFamily="49" charset="-122"/>
              </a:rPr>
              <a:t>（</a:t>
            </a:r>
            <a:r>
              <a:rPr lang="en-US" altLang="zh-CN" sz="2400" b="1" dirty="0" smtClean="0">
                <a:latin typeface="+mj-lt"/>
                <a:ea typeface="楷体_GB2312" pitchFamily="49" charset="-122"/>
              </a:rPr>
              <a:t>D</a:t>
            </a:r>
            <a:r>
              <a:rPr lang="en-US" altLang="zh-CN" sz="2400" b="1" dirty="0" smtClean="0">
                <a:latin typeface="+mj-lt"/>
              </a:rPr>
              <a:t>irect Memory  Access</a:t>
            </a:r>
            <a:r>
              <a:rPr lang="zh-CN" altLang="en-US" sz="2400" b="1" dirty="0" smtClean="0">
                <a:latin typeface="+mj-lt"/>
              </a:rPr>
              <a:t>）</a:t>
            </a:r>
            <a:r>
              <a:rPr lang="zh-CN" altLang="en-US" sz="3600" b="1" dirty="0" smtClean="0">
                <a:solidFill>
                  <a:srgbClr val="FFFF00"/>
                </a:solidFill>
                <a:latin typeface="+mj-lt"/>
                <a:ea typeface="楷体_GB2312" pitchFamily="49" charset="-122"/>
              </a:rPr>
              <a:t>方式</a:t>
            </a:r>
          </a:p>
          <a:p>
            <a:pPr eaLnBrk="1" hangingPunct="1">
              <a:buClr>
                <a:srgbClr val="FFFF00"/>
              </a:buClr>
              <a:buSzPct val="80000"/>
              <a:buFont typeface="Wingdings" panose="05000000000000000000" pitchFamily="2" charset="2"/>
              <a:buChar char="n"/>
              <a:defRPr/>
            </a:pPr>
            <a:r>
              <a:rPr lang="zh-CN" altLang="en-US" sz="3600" b="1" dirty="0" smtClean="0">
                <a:solidFill>
                  <a:srgbClr val="FFFF00"/>
                </a:solidFill>
                <a:latin typeface="楷体_GB2312" pitchFamily="49" charset="-122"/>
                <a:ea typeface="楷体_GB2312" pitchFamily="49" charset="-122"/>
              </a:rPr>
              <a:t>通道方式</a:t>
            </a:r>
          </a:p>
        </p:txBody>
      </p:sp>
      <p:sp>
        <p:nvSpPr>
          <p:cNvPr id="587785" name="AutoShape 9"/>
          <p:cNvSpPr>
            <a:spLocks noChangeArrowheads="1"/>
          </p:cNvSpPr>
          <p:nvPr/>
        </p:nvSpPr>
        <p:spPr bwMode="auto">
          <a:xfrm>
            <a:off x="2519363" y="5373688"/>
            <a:ext cx="6624637" cy="1009650"/>
          </a:xfrm>
          <a:prstGeom prst="wedgeEllipseCallout">
            <a:avLst>
              <a:gd name="adj1" fmla="val -34926"/>
              <a:gd name="adj2" fmla="val -142454"/>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a:solidFill>
                  <a:srgbClr val="CC0066"/>
                </a:solidFill>
              </a:rPr>
              <a:t>并行度依次提高</a:t>
            </a:r>
          </a:p>
        </p:txBody>
      </p:sp>
      <p:sp>
        <p:nvSpPr>
          <p:cNvPr id="587787" name="AutoShape 11"/>
          <p:cNvSpPr>
            <a:spLocks/>
          </p:cNvSpPr>
          <p:nvPr/>
        </p:nvSpPr>
        <p:spPr bwMode="auto">
          <a:xfrm>
            <a:off x="6300788" y="3141663"/>
            <a:ext cx="360362" cy="1008062"/>
          </a:xfrm>
          <a:prstGeom prst="rightBrace">
            <a:avLst>
              <a:gd name="adj1" fmla="val 23311"/>
              <a:gd name="adj2" fmla="val 50000"/>
            </a:avLst>
          </a:prstGeom>
          <a:noFill/>
          <a:ln w="38100" cap="sq">
            <a:solidFill>
              <a:schemeClr val="fo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7788" name="Text Box 12"/>
          <p:cNvSpPr txBox="1">
            <a:spLocks noChangeArrowheads="1"/>
          </p:cNvSpPr>
          <p:nvPr/>
        </p:nvSpPr>
        <p:spPr bwMode="auto">
          <a:xfrm>
            <a:off x="6732588" y="3357563"/>
            <a:ext cx="1511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3600">
                <a:solidFill>
                  <a:schemeClr val="folHlink"/>
                </a:solidFill>
                <a:latin typeface="楷体_GB2312" pitchFamily="49" charset="-122"/>
                <a:ea typeface="楷体_GB2312" pitchFamily="49" charset="-122"/>
              </a:rPr>
              <a:t>微机</a:t>
            </a:r>
          </a:p>
        </p:txBody>
      </p:sp>
      <p:sp>
        <p:nvSpPr>
          <p:cNvPr id="587789" name="Text Box 13"/>
          <p:cNvSpPr txBox="1">
            <a:spLocks noChangeArrowheads="1"/>
          </p:cNvSpPr>
          <p:nvPr/>
        </p:nvSpPr>
        <p:spPr bwMode="auto">
          <a:xfrm>
            <a:off x="3132138" y="4365625"/>
            <a:ext cx="54006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3600">
                <a:solidFill>
                  <a:schemeClr val="folHlink"/>
                </a:solidFill>
                <a:latin typeface="楷体_GB2312" pitchFamily="49" charset="-122"/>
                <a:ea typeface="楷体_GB2312" pitchFamily="49" charset="-122"/>
              </a:rPr>
              <a:t>专用计算机、中、大型机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7784">
                                            <p:txEl>
                                              <p:pRg st="0" end="0"/>
                                            </p:txEl>
                                          </p:spTgt>
                                        </p:tgtEl>
                                        <p:attrNameLst>
                                          <p:attrName>style.visibility</p:attrName>
                                        </p:attrNameLst>
                                      </p:cBhvr>
                                      <p:to>
                                        <p:strVal val="visible"/>
                                      </p:to>
                                    </p:set>
                                    <p:anim calcmode="lin" valueType="num">
                                      <p:cBhvr additive="base">
                                        <p:cTn id="7" dur="500" fill="hold"/>
                                        <p:tgtEl>
                                          <p:spTgt spid="5877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77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87784">
                                            <p:txEl>
                                              <p:pRg st="1" end="1"/>
                                            </p:txEl>
                                          </p:spTgt>
                                        </p:tgtEl>
                                        <p:attrNameLst>
                                          <p:attrName>style.visibility</p:attrName>
                                        </p:attrNameLst>
                                      </p:cBhvr>
                                      <p:to>
                                        <p:strVal val="visible"/>
                                      </p:to>
                                    </p:set>
                                    <p:anim calcmode="lin" valueType="num">
                                      <p:cBhvr additive="base">
                                        <p:cTn id="13" dur="500" fill="hold"/>
                                        <p:tgtEl>
                                          <p:spTgt spid="5877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877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587784">
                                            <p:txEl>
                                              <p:pRg st="2" end="2"/>
                                            </p:txEl>
                                          </p:spTgt>
                                        </p:tgtEl>
                                        <p:attrNameLst>
                                          <p:attrName>style.visibility</p:attrName>
                                        </p:attrNameLst>
                                      </p:cBhvr>
                                      <p:to>
                                        <p:strVal val="visible"/>
                                      </p:to>
                                    </p:set>
                                    <p:animEffect transition="in" filter="diamond(in)">
                                      <p:cBhvr>
                                        <p:cTn id="19" dur="2000"/>
                                        <p:tgtEl>
                                          <p:spTgt spid="587784">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587784">
                                            <p:txEl>
                                              <p:pRg st="3" end="3"/>
                                            </p:txEl>
                                          </p:spTgt>
                                        </p:tgtEl>
                                        <p:attrNameLst>
                                          <p:attrName>style.visibility</p:attrName>
                                        </p:attrNameLst>
                                      </p:cBhvr>
                                      <p:to>
                                        <p:strVal val="visible"/>
                                      </p:to>
                                    </p:set>
                                    <p:animEffect transition="in" filter="diamond(in)">
                                      <p:cBhvr>
                                        <p:cTn id="24" dur="2000"/>
                                        <p:tgtEl>
                                          <p:spTgt spid="587784">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87787"/>
                                        </p:tgtEl>
                                        <p:attrNameLst>
                                          <p:attrName>style.visibility</p:attrName>
                                        </p:attrNameLst>
                                      </p:cBhvr>
                                      <p:to>
                                        <p:strVal val="visible"/>
                                      </p:to>
                                    </p:set>
                                    <p:animEffect transition="in" filter="blinds(horizontal)">
                                      <p:cBhvr>
                                        <p:cTn id="29" dur="500"/>
                                        <p:tgtEl>
                                          <p:spTgt spid="58778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87788"/>
                                        </p:tgtEl>
                                        <p:attrNameLst>
                                          <p:attrName>style.visibility</p:attrName>
                                        </p:attrNameLst>
                                      </p:cBhvr>
                                      <p:to>
                                        <p:strVal val="visible"/>
                                      </p:to>
                                    </p:set>
                                    <p:animEffect transition="in" filter="dissolve">
                                      <p:cBhvr>
                                        <p:cTn id="34" dur="500"/>
                                        <p:tgtEl>
                                          <p:spTgt spid="58778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587789"/>
                                        </p:tgtEl>
                                        <p:attrNameLst>
                                          <p:attrName>style.visibility</p:attrName>
                                        </p:attrNameLst>
                                      </p:cBhvr>
                                      <p:to>
                                        <p:strVal val="visible"/>
                                      </p:to>
                                    </p:set>
                                    <p:animEffect transition="in" filter="dissolve">
                                      <p:cBhvr>
                                        <p:cTn id="39" dur="500"/>
                                        <p:tgtEl>
                                          <p:spTgt spid="58778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587785"/>
                                        </p:tgtEl>
                                        <p:attrNameLst>
                                          <p:attrName>style.visibility</p:attrName>
                                        </p:attrNameLst>
                                      </p:cBhvr>
                                      <p:to>
                                        <p:strVal val="visible"/>
                                      </p:to>
                                    </p:set>
                                    <p:animEffect transition="in" filter="blinds(horizontal)">
                                      <p:cBhvr>
                                        <p:cTn id="44" dur="500"/>
                                        <p:tgtEl>
                                          <p:spTgt spid="587785"/>
                                        </p:tgtEl>
                                      </p:cBhvr>
                                    </p:animEffect>
                                  </p:childTnLst>
                                </p:cTn>
                              </p:par>
                            </p:childTnLst>
                          </p:cTn>
                        </p:par>
                        <p:par>
                          <p:cTn id="45" fill="hold" nodeType="afterGroup">
                            <p:stCondLst>
                              <p:cond delay="500"/>
                            </p:stCondLst>
                            <p:childTnLst>
                              <p:par>
                                <p:cTn id="46" presetID="2" presetClass="entr" presetSubtype="6" fill="hold" grpId="0" nodeType="afterEffect">
                                  <p:stCondLst>
                                    <p:cond delay="0"/>
                                  </p:stCondLst>
                                  <p:childTnLst>
                                    <p:set>
                                      <p:cBhvr>
                                        <p:cTn id="47" dur="1" fill="hold">
                                          <p:stCondLst>
                                            <p:cond delay="0"/>
                                          </p:stCondLst>
                                        </p:cTn>
                                        <p:tgtEl>
                                          <p:spTgt spid="587782"/>
                                        </p:tgtEl>
                                        <p:attrNameLst>
                                          <p:attrName>style.visibility</p:attrName>
                                        </p:attrNameLst>
                                      </p:cBhvr>
                                      <p:to>
                                        <p:strVal val="visible"/>
                                      </p:to>
                                    </p:set>
                                    <p:anim calcmode="lin" valueType="num">
                                      <p:cBhvr additive="base">
                                        <p:cTn id="48" dur="500" fill="hold"/>
                                        <p:tgtEl>
                                          <p:spTgt spid="587782"/>
                                        </p:tgtEl>
                                        <p:attrNameLst>
                                          <p:attrName>ppt_x</p:attrName>
                                        </p:attrNameLst>
                                      </p:cBhvr>
                                      <p:tavLst>
                                        <p:tav tm="0">
                                          <p:val>
                                            <p:strVal val="1+#ppt_w/2"/>
                                          </p:val>
                                        </p:tav>
                                        <p:tav tm="100000">
                                          <p:val>
                                            <p:strVal val="#ppt_x"/>
                                          </p:val>
                                        </p:tav>
                                      </p:tavLst>
                                    </p:anim>
                                    <p:anim calcmode="lin" valueType="num">
                                      <p:cBhvr additive="base">
                                        <p:cTn id="49" dur="500" fill="hold"/>
                                        <p:tgtEl>
                                          <p:spTgt spid="5877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2" grpId="0" animBg="1"/>
      <p:bldP spid="587785" grpId="0" animBg="1"/>
      <p:bldP spid="587787" grpId="0" animBg="1"/>
      <p:bldP spid="587788" grpId="0"/>
      <p:bldP spid="5877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7C01410E-1F2B-4337-8075-6AE2E1E2F65E}" type="slidenum">
              <a:rPr kumimoji="0" lang="en-US" altLang="zh-CN" sz="1400" smtClean="0"/>
              <a:pPr>
                <a:spcBef>
                  <a:spcPct val="0"/>
                </a:spcBef>
                <a:buClrTx/>
                <a:buSzTx/>
                <a:buFontTx/>
                <a:buNone/>
              </a:pPr>
              <a:t>9</a:t>
            </a:fld>
            <a:endParaRPr kumimoji="0" lang="en-US" altLang="zh-CN" sz="1400" smtClean="0"/>
          </a:p>
        </p:txBody>
      </p:sp>
      <p:sp>
        <p:nvSpPr>
          <p:cNvPr id="18435" name="Rectangle 2"/>
          <p:cNvSpPr>
            <a:spLocks noGrp="1" noChangeArrowheads="1"/>
          </p:cNvSpPr>
          <p:nvPr>
            <p:ph type="title"/>
          </p:nvPr>
        </p:nvSpPr>
        <p:spPr>
          <a:xfrm>
            <a:off x="900113" y="0"/>
            <a:ext cx="7416800" cy="1206500"/>
          </a:xfrm>
        </p:spPr>
        <p:txBody>
          <a:bodyPr/>
          <a:lstStyle/>
          <a:p>
            <a:pPr algn="ctr" eaLnBrk="1" hangingPunct="1"/>
            <a:r>
              <a:rPr lang="en-US" altLang="zh-CN" sz="3600" b="1" dirty="0" smtClean="0">
                <a:solidFill>
                  <a:srgbClr val="FFFF00"/>
                </a:solidFill>
                <a:ea typeface="楷体_GB2312" pitchFamily="49" charset="-122"/>
              </a:rPr>
              <a:t>10.2.1  </a:t>
            </a:r>
            <a:r>
              <a:rPr lang="zh-CN" altLang="en-US" sz="3600" b="1" dirty="0" smtClean="0">
                <a:solidFill>
                  <a:srgbClr val="FFFF00"/>
                </a:solidFill>
                <a:ea typeface="楷体_GB2312" pitchFamily="49" charset="-122"/>
              </a:rPr>
              <a:t>程序直接控制方式</a:t>
            </a:r>
            <a:br>
              <a:rPr lang="zh-CN" altLang="en-US" sz="3600" b="1" dirty="0" smtClean="0">
                <a:solidFill>
                  <a:srgbClr val="FFFF00"/>
                </a:solidFill>
                <a:ea typeface="楷体_GB2312" pitchFamily="49" charset="-122"/>
              </a:rPr>
            </a:br>
            <a:r>
              <a:rPr lang="zh-CN" altLang="en-US" sz="3600" b="1" dirty="0" smtClean="0">
                <a:solidFill>
                  <a:srgbClr val="FFFF00"/>
                </a:solidFill>
                <a:ea typeface="楷体_GB2312" pitchFamily="49" charset="-122"/>
              </a:rPr>
              <a:t>      （忙</a:t>
            </a:r>
            <a:r>
              <a:rPr lang="en-US" altLang="zh-CN" sz="3600" b="1" dirty="0" smtClean="0">
                <a:solidFill>
                  <a:srgbClr val="FFFF00"/>
                </a:solidFill>
                <a:ea typeface="楷体_GB2312" pitchFamily="49" charset="-122"/>
              </a:rPr>
              <a:t>—</a:t>
            </a:r>
            <a:r>
              <a:rPr lang="zh-CN" altLang="en-US" sz="3600" b="1" dirty="0" smtClean="0">
                <a:solidFill>
                  <a:srgbClr val="FFFF00"/>
                </a:solidFill>
                <a:ea typeface="楷体_GB2312" pitchFamily="49" charset="-122"/>
              </a:rPr>
              <a:t>等待方式）</a:t>
            </a:r>
          </a:p>
        </p:txBody>
      </p:sp>
      <p:sp>
        <p:nvSpPr>
          <p:cNvPr id="601094" name="Rectangle 6"/>
          <p:cNvSpPr>
            <a:spLocks noChangeArrowheads="1"/>
          </p:cNvSpPr>
          <p:nvPr/>
        </p:nvSpPr>
        <p:spPr bwMode="auto">
          <a:xfrm>
            <a:off x="611188" y="1962150"/>
            <a:ext cx="7416800" cy="4895850"/>
          </a:xfrm>
          <a:prstGeom prst="rect">
            <a:avLst/>
          </a:prstGeom>
          <a:noFill/>
          <a:ln w="12700" cap="sq">
            <a:noFill/>
            <a:miter lim="800000"/>
            <a:headEnd type="none" w="sm" len="sm"/>
            <a:tailEnd type="none" w="sm" len="sm"/>
          </a:ln>
          <a:effectLst/>
        </p:spPr>
        <p:txBody>
          <a:bodyPr/>
          <a:lstStyle/>
          <a:p>
            <a:pPr marL="342900" indent="-342900" eaLnBrk="1" hangingPunct="1">
              <a:spcBef>
                <a:spcPct val="20000"/>
              </a:spcBef>
              <a:buClr>
                <a:schemeClr val="tx2"/>
              </a:buClr>
              <a:buSzPct val="90000"/>
              <a:buFont typeface="Symbol" pitchFamily="18" charset="2"/>
              <a:buChar char="¨"/>
              <a:defRPr/>
            </a:pPr>
            <a:endParaRPr lang="en-US" altLang="zh-CN">
              <a:effectLst>
                <a:outerShdw blurRad="38100" dist="38100" dir="2700000" algn="tl">
                  <a:srgbClr val="000000"/>
                </a:outerShdw>
              </a:effectLst>
              <a:latin typeface="楷体_GB2312" pitchFamily="49" charset="-122"/>
              <a:ea typeface="楷体_GB2312" pitchFamily="49" charset="-122"/>
            </a:endParaRPr>
          </a:p>
          <a:p>
            <a:pPr marL="742950" lvl="1" indent="-285750" eaLnBrk="1" hangingPunct="1">
              <a:spcBef>
                <a:spcPct val="20000"/>
              </a:spcBef>
              <a:buFontTx/>
              <a:buChar char="–"/>
              <a:defRPr/>
            </a:pPr>
            <a:endParaRPr lang="en-US" altLang="zh-CN" sz="2400">
              <a:effectLst>
                <a:outerShdw blurRad="38100" dist="38100" dir="2700000" algn="tl">
                  <a:srgbClr val="000000"/>
                </a:outerShdw>
              </a:effectLst>
              <a:latin typeface="楷体_GB2312" pitchFamily="49" charset="-122"/>
              <a:ea typeface="楷体_GB2312" pitchFamily="49" charset="-122"/>
            </a:endParaRPr>
          </a:p>
          <a:p>
            <a:pPr marL="742950" lvl="1" indent="-285750" eaLnBrk="1" hangingPunct="1">
              <a:spcBef>
                <a:spcPct val="20000"/>
              </a:spcBef>
              <a:buFontTx/>
              <a:buChar char="–"/>
              <a:defRPr/>
            </a:pPr>
            <a:endParaRPr lang="en-US" altLang="zh-CN" sz="2400">
              <a:effectLst>
                <a:outerShdw blurRad="38100" dist="38100" dir="2700000" algn="tl">
                  <a:srgbClr val="000000"/>
                </a:outerShdw>
              </a:effectLst>
              <a:latin typeface="楷体_GB2312" pitchFamily="49" charset="-122"/>
              <a:ea typeface="楷体_GB2312" pitchFamily="49" charset="-122"/>
            </a:endParaRPr>
          </a:p>
        </p:txBody>
      </p:sp>
      <p:pic>
        <p:nvPicPr>
          <p:cNvPr id="18437" name="Picture 7" descr="i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1054100"/>
            <a:ext cx="7416800" cy="580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8"/>
          <p:cNvSpPr>
            <a:spLocks noChangeArrowheads="1"/>
          </p:cNvSpPr>
          <p:nvPr/>
        </p:nvSpPr>
        <p:spPr bwMode="auto">
          <a:xfrm>
            <a:off x="2268538" y="6338888"/>
            <a:ext cx="5257800" cy="4619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latin typeface="楷体_GB2312" pitchFamily="49" charset="-122"/>
                <a:ea typeface="楷体_GB2312" pitchFamily="49" charset="-122"/>
              </a:rPr>
              <a:t>图</a:t>
            </a:r>
            <a:r>
              <a:rPr lang="en-US" altLang="zh-CN" sz="2400">
                <a:solidFill>
                  <a:schemeClr val="bg2"/>
                </a:solidFill>
                <a:latin typeface="楷体_GB2312" pitchFamily="49" charset="-122"/>
                <a:ea typeface="楷体_GB2312" pitchFamily="49" charset="-122"/>
              </a:rPr>
              <a:t>  </a:t>
            </a:r>
            <a:r>
              <a:rPr lang="zh-CN" altLang="en-US" sz="2400">
                <a:solidFill>
                  <a:schemeClr val="bg2"/>
                </a:solidFill>
                <a:latin typeface="楷体_GB2312" pitchFamily="49" charset="-122"/>
                <a:ea typeface="楷体_GB2312" pitchFamily="49" charset="-122"/>
              </a:rPr>
              <a:t>程序直接控制方式</a:t>
            </a:r>
            <a:endParaRPr lang="en-US" altLang="zh-CN" sz="2000" b="0">
              <a:solidFill>
                <a:schemeClr val="bg2"/>
              </a:solidFill>
            </a:endParaRPr>
          </a:p>
        </p:txBody>
      </p:sp>
      <p:sp>
        <p:nvSpPr>
          <p:cNvPr id="601097" name="Line 9"/>
          <p:cNvSpPr>
            <a:spLocks noChangeShapeType="1"/>
          </p:cNvSpPr>
          <p:nvPr/>
        </p:nvSpPr>
        <p:spPr bwMode="auto">
          <a:xfrm flipH="1">
            <a:off x="3851275" y="1889125"/>
            <a:ext cx="1800225" cy="0"/>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1098" name="Line 10"/>
          <p:cNvSpPr>
            <a:spLocks noChangeShapeType="1"/>
          </p:cNvSpPr>
          <p:nvPr/>
        </p:nvSpPr>
        <p:spPr bwMode="auto">
          <a:xfrm flipV="1">
            <a:off x="3203575" y="3402013"/>
            <a:ext cx="2160588" cy="1225550"/>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1099" name="AutoShape 11">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01100" name="Line 12"/>
          <p:cNvSpPr>
            <a:spLocks noChangeShapeType="1"/>
          </p:cNvSpPr>
          <p:nvPr/>
        </p:nvSpPr>
        <p:spPr bwMode="auto">
          <a:xfrm flipH="1">
            <a:off x="3851275" y="5705475"/>
            <a:ext cx="1800225" cy="0"/>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 name="矩形 1"/>
          <p:cNvSpPr/>
          <p:nvPr/>
        </p:nvSpPr>
        <p:spPr bwMode="auto">
          <a:xfrm>
            <a:off x="5004049" y="2276872"/>
            <a:ext cx="3239840" cy="2588716"/>
          </a:xfrm>
          <a:prstGeom prst="rect">
            <a:avLst/>
          </a:prstGeom>
          <a:solidFill>
            <a:srgbClr val="C31F1B">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
        <p:nvSpPr>
          <p:cNvPr id="13" name="矩形 12"/>
          <p:cNvSpPr/>
          <p:nvPr/>
        </p:nvSpPr>
        <p:spPr bwMode="auto">
          <a:xfrm>
            <a:off x="5502736" y="5132425"/>
            <a:ext cx="2093599" cy="1001538"/>
          </a:xfrm>
          <a:prstGeom prst="rect">
            <a:avLst/>
          </a:prstGeom>
          <a:solidFill>
            <a:srgbClr val="C31F1B">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1097"/>
                                        </p:tgtEl>
                                        <p:attrNameLst>
                                          <p:attrName>style.visibility</p:attrName>
                                        </p:attrNameLst>
                                      </p:cBhvr>
                                      <p:to>
                                        <p:strVal val="visible"/>
                                      </p:to>
                                    </p:set>
                                    <p:animEffect transition="in" filter="blinds(horizontal)">
                                      <p:cBhvr>
                                        <p:cTn id="7" dur="500"/>
                                        <p:tgtEl>
                                          <p:spTgt spid="6010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1098"/>
                                        </p:tgtEl>
                                        <p:attrNameLst>
                                          <p:attrName>style.visibility</p:attrName>
                                        </p:attrNameLst>
                                      </p:cBhvr>
                                      <p:to>
                                        <p:strVal val="visible"/>
                                      </p:to>
                                    </p:set>
                                    <p:animEffect transition="in" filter="blinds(horizontal)">
                                      <p:cBhvr>
                                        <p:cTn id="12" dur="500"/>
                                        <p:tgtEl>
                                          <p:spTgt spid="6010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1100"/>
                                        </p:tgtEl>
                                        <p:attrNameLst>
                                          <p:attrName>style.visibility</p:attrName>
                                        </p:attrNameLst>
                                      </p:cBhvr>
                                      <p:to>
                                        <p:strVal val="visible"/>
                                      </p:to>
                                    </p:set>
                                    <p:animEffect transition="in" filter="blinds(horizontal)">
                                      <p:cBhvr>
                                        <p:cTn id="17" dur="500"/>
                                        <p:tgtEl>
                                          <p:spTgt spid="6011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circle(in)">
                                      <p:cBhvr>
                                        <p:cTn id="22" dur="2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childTnLst>
                          </p:cTn>
                        </p:par>
                        <p:par>
                          <p:cTn id="28" fill="hold" nodeType="afterGroup">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601099"/>
                                        </p:tgtEl>
                                        <p:attrNameLst>
                                          <p:attrName>style.visibility</p:attrName>
                                        </p:attrNameLst>
                                      </p:cBhvr>
                                      <p:to>
                                        <p:strVal val="visible"/>
                                      </p:to>
                                    </p:set>
                                    <p:anim calcmode="lin" valueType="num">
                                      <p:cBhvr additive="base">
                                        <p:cTn id="31" dur="500" fill="hold"/>
                                        <p:tgtEl>
                                          <p:spTgt spid="601099"/>
                                        </p:tgtEl>
                                        <p:attrNameLst>
                                          <p:attrName>ppt_x</p:attrName>
                                        </p:attrNameLst>
                                      </p:cBhvr>
                                      <p:tavLst>
                                        <p:tav tm="0">
                                          <p:val>
                                            <p:strVal val="1+#ppt_w/2"/>
                                          </p:val>
                                        </p:tav>
                                        <p:tav tm="100000">
                                          <p:val>
                                            <p:strVal val="#ppt_x"/>
                                          </p:val>
                                        </p:tav>
                                      </p:tavLst>
                                    </p:anim>
                                    <p:anim calcmode="lin" valueType="num">
                                      <p:cBhvr additive="base">
                                        <p:cTn id="32" dur="500" fill="hold"/>
                                        <p:tgtEl>
                                          <p:spTgt spid="601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7" grpId="0" animBg="1"/>
      <p:bldP spid="601098" grpId="0" animBg="1"/>
      <p:bldP spid="601099" grpId="0" animBg="1"/>
      <p:bldP spid="60110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1E965C91-64FB-46D4-AFD8-C039F94357D0}" type="slidenum">
              <a:rPr kumimoji="0" lang="en-US" altLang="zh-CN" sz="1400" smtClean="0"/>
              <a:pPr>
                <a:spcBef>
                  <a:spcPct val="0"/>
                </a:spcBef>
                <a:buClrTx/>
                <a:buSzTx/>
                <a:buFontTx/>
                <a:buNone/>
              </a:pPr>
              <a:t>10</a:t>
            </a:fld>
            <a:endParaRPr kumimoji="0" lang="en-US" altLang="zh-CN" sz="1400" smtClean="0"/>
          </a:p>
        </p:txBody>
      </p:sp>
      <p:sp>
        <p:nvSpPr>
          <p:cNvPr id="22531" name="Rectangle 4"/>
          <p:cNvSpPr>
            <a:spLocks noChangeArrowheads="1"/>
          </p:cNvSpPr>
          <p:nvPr/>
        </p:nvSpPr>
        <p:spPr bwMode="auto">
          <a:xfrm>
            <a:off x="611188" y="1341438"/>
            <a:ext cx="8064500"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tx1">
                  <a:lumMod val="90000"/>
                </a:schemeClr>
              </a:buClr>
              <a:buSzPct val="80000"/>
              <a:buFont typeface="Wingdings" panose="05000000000000000000" pitchFamily="2" charset="2"/>
              <a:buChar char="n"/>
              <a:defRPr/>
            </a:pPr>
            <a:r>
              <a:rPr lang="zh-CN" altLang="en-US" dirty="0" smtClean="0">
                <a:latin typeface="+mj-lt"/>
                <a:ea typeface="楷体_GB2312" pitchFamily="49" charset="-122"/>
              </a:rPr>
              <a:t>一旦</a:t>
            </a:r>
            <a:r>
              <a:rPr lang="en-US" altLang="zh-CN" dirty="0" smtClean="0">
                <a:solidFill>
                  <a:srgbClr val="FFFF00"/>
                </a:solidFill>
                <a:latin typeface="+mj-lt"/>
                <a:ea typeface="楷体_GB2312" pitchFamily="49" charset="-122"/>
              </a:rPr>
              <a:t>CPU</a:t>
            </a:r>
            <a:r>
              <a:rPr lang="zh-CN" altLang="en-US" dirty="0" smtClean="0">
                <a:latin typeface="+mj-lt"/>
                <a:ea typeface="楷体_GB2312" pitchFamily="49" charset="-122"/>
              </a:rPr>
              <a:t>启动</a:t>
            </a:r>
            <a:r>
              <a:rPr lang="en-US" altLang="zh-CN" dirty="0" smtClean="0">
                <a:latin typeface="+mj-lt"/>
                <a:ea typeface="楷体_GB2312" pitchFamily="49" charset="-122"/>
              </a:rPr>
              <a:t>I/O</a:t>
            </a:r>
            <a:r>
              <a:rPr lang="zh-CN" altLang="en-US" dirty="0" smtClean="0">
                <a:latin typeface="+mj-lt"/>
                <a:ea typeface="楷体_GB2312" pitchFamily="49" charset="-122"/>
              </a:rPr>
              <a:t>设备，便</a:t>
            </a:r>
            <a:r>
              <a:rPr lang="zh-CN" altLang="en-US" dirty="0" smtClean="0">
                <a:solidFill>
                  <a:srgbClr val="FFFF00"/>
                </a:solidFill>
                <a:latin typeface="+mj-lt"/>
                <a:ea typeface="楷体_GB2312" pitchFamily="49" charset="-122"/>
              </a:rPr>
              <a:t>不断查询</a:t>
            </a:r>
            <a:r>
              <a:rPr lang="en-US" altLang="zh-CN" dirty="0" smtClean="0">
                <a:latin typeface="+mj-lt"/>
                <a:ea typeface="楷体_GB2312" pitchFamily="49" charset="-122"/>
              </a:rPr>
              <a:t>I/O</a:t>
            </a:r>
            <a:r>
              <a:rPr lang="zh-CN" altLang="en-US" dirty="0" smtClean="0">
                <a:latin typeface="+mj-lt"/>
                <a:ea typeface="楷体_GB2312" pitchFamily="49" charset="-122"/>
              </a:rPr>
              <a:t>设备的准备情况，</a:t>
            </a:r>
            <a:r>
              <a:rPr lang="zh-CN" altLang="en-US" dirty="0" smtClean="0">
                <a:solidFill>
                  <a:srgbClr val="FFFF00"/>
                </a:solidFill>
                <a:latin typeface="+mj-lt"/>
                <a:ea typeface="楷体_GB2312" pitchFamily="49" charset="-122"/>
              </a:rPr>
              <a:t>终止原程序的执行</a:t>
            </a:r>
            <a:r>
              <a:rPr lang="zh-CN" altLang="en-US" dirty="0" smtClean="0">
                <a:latin typeface="+mj-lt"/>
                <a:ea typeface="楷体_GB2312" pitchFamily="49" charset="-122"/>
              </a:rPr>
              <a:t>，浪费</a:t>
            </a:r>
            <a:r>
              <a:rPr lang="en-US" altLang="zh-CN" dirty="0" smtClean="0">
                <a:latin typeface="+mj-lt"/>
                <a:ea typeface="楷体_GB2312" pitchFamily="49" charset="-122"/>
              </a:rPr>
              <a:t>CPU</a:t>
            </a:r>
            <a:r>
              <a:rPr lang="zh-CN" altLang="en-US" dirty="0" smtClean="0">
                <a:latin typeface="+mj-lt"/>
                <a:ea typeface="楷体_GB2312" pitchFamily="49" charset="-122"/>
              </a:rPr>
              <a:t>时间。</a:t>
            </a:r>
          </a:p>
          <a:p>
            <a:pPr eaLnBrk="1" hangingPunct="1">
              <a:buClr>
                <a:schemeClr val="tx1">
                  <a:lumMod val="90000"/>
                </a:schemeClr>
              </a:buClr>
              <a:buSzPct val="80000"/>
              <a:buFont typeface="Wingdings" panose="05000000000000000000" pitchFamily="2" charset="2"/>
              <a:buChar char="n"/>
              <a:defRPr/>
            </a:pPr>
            <a:r>
              <a:rPr lang="en-US" altLang="zh-CN" dirty="0" smtClean="0">
                <a:latin typeface="+mj-lt"/>
                <a:ea typeface="楷体_GB2312" pitchFamily="49" charset="-122"/>
              </a:rPr>
              <a:t>I/O</a:t>
            </a:r>
            <a:r>
              <a:rPr lang="zh-CN" altLang="en-US" dirty="0" smtClean="0">
                <a:latin typeface="+mj-lt"/>
                <a:ea typeface="楷体_GB2312" pitchFamily="49" charset="-122"/>
              </a:rPr>
              <a:t>准备就绪后，</a:t>
            </a:r>
            <a:r>
              <a:rPr lang="en-US" altLang="zh-CN" dirty="0" smtClean="0">
                <a:solidFill>
                  <a:srgbClr val="FFFF00"/>
                </a:solidFill>
                <a:latin typeface="+mj-lt"/>
                <a:ea typeface="楷体_GB2312" pitchFamily="49" charset="-122"/>
              </a:rPr>
              <a:t>CPU</a:t>
            </a:r>
            <a:r>
              <a:rPr lang="zh-CN" altLang="en-US" dirty="0" smtClean="0">
                <a:solidFill>
                  <a:srgbClr val="FFFF00"/>
                </a:solidFill>
                <a:latin typeface="+mj-lt"/>
                <a:ea typeface="楷体_GB2312" pitchFamily="49" charset="-122"/>
              </a:rPr>
              <a:t>参与数据传送工作</a:t>
            </a:r>
            <a:r>
              <a:rPr lang="zh-CN" altLang="en-US" dirty="0" smtClean="0">
                <a:latin typeface="+mj-lt"/>
                <a:ea typeface="楷体_GB2312" pitchFamily="49" charset="-122"/>
              </a:rPr>
              <a:t>，而不能执行原程序。</a:t>
            </a:r>
            <a:endParaRPr lang="zh-CN" altLang="en-US" b="0" dirty="0" smtClean="0">
              <a:latin typeface="+mj-lt"/>
            </a:endParaRPr>
          </a:p>
        </p:txBody>
      </p:sp>
      <p:sp>
        <p:nvSpPr>
          <p:cNvPr id="652293" name="AutoShape 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52293"/>
                                        </p:tgtEl>
                                        <p:attrNameLst>
                                          <p:attrName>style.visibility</p:attrName>
                                        </p:attrNameLst>
                                      </p:cBhvr>
                                      <p:to>
                                        <p:strVal val="visible"/>
                                      </p:to>
                                    </p:set>
                                    <p:anim calcmode="lin" valueType="num">
                                      <p:cBhvr additive="base">
                                        <p:cTn id="7" dur="500" fill="hold"/>
                                        <p:tgtEl>
                                          <p:spTgt spid="652293"/>
                                        </p:tgtEl>
                                        <p:attrNameLst>
                                          <p:attrName>ppt_x</p:attrName>
                                        </p:attrNameLst>
                                      </p:cBhvr>
                                      <p:tavLst>
                                        <p:tav tm="0">
                                          <p:val>
                                            <p:strVal val="1+#ppt_w/2"/>
                                          </p:val>
                                        </p:tav>
                                        <p:tav tm="100000">
                                          <p:val>
                                            <p:strVal val="#ppt_x"/>
                                          </p:val>
                                        </p:tav>
                                      </p:tavLst>
                                    </p:anim>
                                    <p:anim calcmode="lin" valueType="num">
                                      <p:cBhvr additive="base">
                                        <p:cTn id="8" dur="500" fill="hold"/>
                                        <p:tgtEl>
                                          <p:spTgt spid="652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611188" y="692150"/>
            <a:ext cx="8380412" cy="5545138"/>
          </a:xfrm>
        </p:spPr>
        <p:txBody>
          <a:bodyPr/>
          <a:lstStyle/>
          <a:p>
            <a:pPr eaLnBrk="1" hangingPunct="1">
              <a:lnSpc>
                <a:spcPct val="80000"/>
              </a:lnSpc>
              <a:buClr>
                <a:srgbClr val="FFFF00"/>
              </a:buClr>
              <a:buSzPct val="80000"/>
              <a:buFont typeface="Wingdings" panose="05000000000000000000" pitchFamily="2" charset="2"/>
              <a:buChar char="n"/>
            </a:pPr>
            <a:r>
              <a:rPr lang="zh-CN" altLang="en-US" sz="3600" b="1" dirty="0" smtClean="0">
                <a:solidFill>
                  <a:srgbClr val="FFFF00"/>
                </a:solidFill>
                <a:latin typeface="楷体_GB2312" pitchFamily="49" charset="-122"/>
                <a:ea typeface="楷体_GB2312" pitchFamily="49" charset="-122"/>
              </a:rPr>
              <a:t>优点</a:t>
            </a:r>
            <a:endParaRPr lang="zh-CN" altLang="en-US" sz="3600" b="1" dirty="0" smtClean="0">
              <a:latin typeface="楷体_GB2312" pitchFamily="49" charset="-122"/>
              <a:ea typeface="楷体_GB2312" pitchFamily="49" charset="-122"/>
            </a:endParaRPr>
          </a:p>
          <a:p>
            <a:pPr lvl="1" eaLnBrk="1" hangingPunct="1">
              <a:lnSpc>
                <a:spcPct val="80000"/>
              </a:lnSpc>
              <a:buClr>
                <a:schemeClr val="tx1">
                  <a:lumMod val="90000"/>
                </a:schemeClr>
              </a:buClr>
              <a:buSzPct val="80000"/>
              <a:buFont typeface="Wingdings" panose="05000000000000000000" pitchFamily="2" charset="2"/>
              <a:buChar char="n"/>
            </a:pPr>
            <a:r>
              <a:rPr lang="zh-CN" altLang="en-US" sz="3200" b="1" dirty="0" smtClean="0">
                <a:latin typeface="楷体_GB2312" pitchFamily="49" charset="-122"/>
                <a:ea typeface="楷体_GB2312" pitchFamily="49" charset="-122"/>
              </a:rPr>
              <a:t>控制简单</a:t>
            </a:r>
          </a:p>
          <a:p>
            <a:pPr lvl="1" eaLnBrk="1" hangingPunct="1">
              <a:lnSpc>
                <a:spcPct val="80000"/>
              </a:lnSpc>
              <a:buClr>
                <a:schemeClr val="tx1">
                  <a:lumMod val="90000"/>
                </a:schemeClr>
              </a:buClr>
              <a:buSzPct val="80000"/>
              <a:buFont typeface="Wingdings" panose="05000000000000000000" pitchFamily="2" charset="2"/>
              <a:buChar char="n"/>
            </a:pPr>
            <a:r>
              <a:rPr lang="zh-CN" altLang="en-US" sz="3200" b="1" dirty="0" smtClean="0">
                <a:latin typeface="楷体_GB2312" pitchFamily="49" charset="-122"/>
                <a:ea typeface="楷体_GB2312" pitchFamily="49" charset="-122"/>
              </a:rPr>
              <a:t>不需要硬件支持</a:t>
            </a:r>
          </a:p>
          <a:p>
            <a:pPr eaLnBrk="1" hangingPunct="1">
              <a:lnSpc>
                <a:spcPct val="80000"/>
              </a:lnSpc>
            </a:pPr>
            <a:endParaRPr lang="zh-CN" altLang="en-US" b="1" dirty="0" smtClean="0">
              <a:latin typeface="楷体_GB2312" pitchFamily="49" charset="-122"/>
              <a:ea typeface="楷体_GB2312" pitchFamily="49" charset="-122"/>
            </a:endParaRPr>
          </a:p>
          <a:p>
            <a:pPr eaLnBrk="1" hangingPunct="1">
              <a:lnSpc>
                <a:spcPct val="80000"/>
              </a:lnSpc>
              <a:buClr>
                <a:srgbClr val="FFFF00"/>
              </a:buClr>
              <a:buSzPct val="80000"/>
              <a:buFont typeface="Wingdings" panose="05000000000000000000" pitchFamily="2" charset="2"/>
              <a:buChar char="n"/>
            </a:pPr>
            <a:r>
              <a:rPr lang="zh-CN" altLang="en-US" sz="3600" b="1" dirty="0">
                <a:solidFill>
                  <a:srgbClr val="FFFF00"/>
                </a:solidFill>
                <a:latin typeface="楷体_GB2312" pitchFamily="49" charset="-122"/>
                <a:ea typeface="楷体_GB2312" pitchFamily="49" charset="-122"/>
              </a:rPr>
              <a:t>缺点</a:t>
            </a:r>
          </a:p>
          <a:p>
            <a:pPr lvl="1" eaLnBrk="1" hangingPunct="1">
              <a:lnSpc>
                <a:spcPct val="80000"/>
              </a:lnSpc>
              <a:buClr>
                <a:schemeClr val="tx1">
                  <a:lumMod val="75000"/>
                </a:schemeClr>
              </a:buClr>
              <a:buSzPct val="80000"/>
              <a:buFont typeface="Wingdings" panose="05000000000000000000" pitchFamily="2" charset="2"/>
              <a:buChar char="n"/>
            </a:pPr>
            <a:r>
              <a:rPr lang="en-US" altLang="zh-CN" sz="3200" b="1" dirty="0" smtClean="0">
                <a:solidFill>
                  <a:srgbClr val="FFFF00"/>
                </a:solidFill>
                <a:latin typeface="楷体_GB2312" pitchFamily="49" charset="-122"/>
                <a:ea typeface="楷体_GB2312" pitchFamily="49" charset="-122"/>
              </a:rPr>
              <a:t>CPU</a:t>
            </a:r>
            <a:r>
              <a:rPr lang="zh-CN" altLang="en-US" sz="3200" b="1" dirty="0" smtClean="0">
                <a:solidFill>
                  <a:srgbClr val="FFFF00"/>
                </a:solidFill>
                <a:latin typeface="楷体_GB2312" pitchFamily="49" charset="-122"/>
                <a:ea typeface="楷体_GB2312" pitchFamily="49" charset="-122"/>
              </a:rPr>
              <a:t>和</a:t>
            </a:r>
            <a:r>
              <a:rPr lang="en-US" altLang="zh-CN" sz="3200" b="1" dirty="0" smtClean="0">
                <a:solidFill>
                  <a:srgbClr val="FFFF00"/>
                </a:solidFill>
                <a:latin typeface="楷体_GB2312" pitchFamily="49" charset="-122"/>
                <a:ea typeface="楷体_GB2312" pitchFamily="49" charset="-122"/>
              </a:rPr>
              <a:t>I/O</a:t>
            </a:r>
            <a:r>
              <a:rPr lang="zh-CN" altLang="en-US" sz="3200" b="1" dirty="0" smtClean="0">
                <a:solidFill>
                  <a:srgbClr val="FFFF00"/>
                </a:solidFill>
                <a:latin typeface="楷体_GB2312" pitchFamily="49" charset="-122"/>
                <a:ea typeface="楷体_GB2312" pitchFamily="49" charset="-122"/>
              </a:rPr>
              <a:t>设备串行工作</a:t>
            </a:r>
          </a:p>
          <a:p>
            <a:pPr lvl="1" eaLnBrk="1" hangingPunct="1">
              <a:lnSpc>
                <a:spcPct val="80000"/>
              </a:lnSpc>
              <a:buClr>
                <a:schemeClr val="tx1">
                  <a:lumMod val="75000"/>
                </a:schemeClr>
              </a:buClr>
              <a:buSzPct val="80000"/>
              <a:buFont typeface="Wingdings" panose="05000000000000000000" pitchFamily="2" charset="2"/>
              <a:buChar char="n"/>
            </a:pPr>
            <a:r>
              <a:rPr lang="zh-CN" altLang="en-US" sz="3200" b="1" dirty="0" smtClean="0">
                <a:solidFill>
                  <a:srgbClr val="FFFF00"/>
                </a:solidFill>
                <a:latin typeface="楷体_GB2312" pitchFamily="49" charset="-122"/>
                <a:ea typeface="楷体_GB2312" pitchFamily="49" charset="-122"/>
              </a:rPr>
              <a:t>适用于</a:t>
            </a:r>
            <a:r>
              <a:rPr lang="en-US" altLang="zh-CN" sz="3200" b="1" dirty="0" smtClean="0">
                <a:solidFill>
                  <a:srgbClr val="FFFF00"/>
                </a:solidFill>
                <a:latin typeface="楷体_GB2312" pitchFamily="49" charset="-122"/>
                <a:ea typeface="楷体_GB2312" pitchFamily="49" charset="-122"/>
              </a:rPr>
              <a:t>CPU</a:t>
            </a:r>
            <a:r>
              <a:rPr lang="zh-CN" altLang="en-US" sz="3200" b="1" dirty="0" smtClean="0">
                <a:solidFill>
                  <a:srgbClr val="FFFF00"/>
                </a:solidFill>
                <a:latin typeface="楷体_GB2312" pitchFamily="49" charset="-122"/>
                <a:ea typeface="楷体_GB2312" pitchFamily="49" charset="-122"/>
              </a:rPr>
              <a:t>执行速度较慢、且外围设备较少的系统</a:t>
            </a:r>
          </a:p>
        </p:txBody>
      </p:sp>
      <p:sp>
        <p:nvSpPr>
          <p:cNvPr id="603140" name="AutoShape 4"/>
          <p:cNvSpPr>
            <a:spLocks noChangeArrowheads="1"/>
          </p:cNvSpPr>
          <p:nvPr/>
        </p:nvSpPr>
        <p:spPr bwMode="auto">
          <a:xfrm>
            <a:off x="5003800" y="1196975"/>
            <a:ext cx="3887788" cy="576263"/>
          </a:xfrm>
          <a:prstGeom prst="wedgeRoundRectCallout">
            <a:avLst>
              <a:gd name="adj1" fmla="val -16616"/>
              <a:gd name="adj2" fmla="val -49139"/>
              <a:gd name="adj3" fmla="val 16667"/>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800">
                <a:solidFill>
                  <a:srgbClr val="0000A8"/>
                </a:solidFill>
              </a:rPr>
              <a:t>控制者：用户进程</a:t>
            </a:r>
          </a:p>
        </p:txBody>
      </p:sp>
      <p:sp>
        <p:nvSpPr>
          <p:cNvPr id="603143" name="AutoShape 7"/>
          <p:cNvSpPr>
            <a:spLocks noChangeArrowheads="1"/>
          </p:cNvSpPr>
          <p:nvPr/>
        </p:nvSpPr>
        <p:spPr bwMode="auto">
          <a:xfrm>
            <a:off x="5652120" y="1905320"/>
            <a:ext cx="3024188" cy="1584325"/>
          </a:xfrm>
          <a:prstGeom prst="wedgeRoundRectCallout">
            <a:avLst>
              <a:gd name="adj1" fmla="val -50417"/>
              <a:gd name="adj2" fmla="val -22352"/>
              <a:gd name="adj3" fmla="val 16667"/>
            </a:avLst>
          </a:prstGeom>
          <a:solidFill>
            <a:srgbClr val="FFFF00"/>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800">
                <a:solidFill>
                  <a:srgbClr val="0000A8"/>
                </a:solidFill>
              </a:rPr>
              <a:t>参与工作：</a:t>
            </a:r>
          </a:p>
          <a:p>
            <a:pPr algn="ctr" eaLnBrk="1" hangingPunct="1">
              <a:spcBef>
                <a:spcPct val="0"/>
              </a:spcBef>
              <a:buClrTx/>
              <a:buSzTx/>
              <a:buFontTx/>
              <a:buNone/>
            </a:pPr>
            <a:r>
              <a:rPr lang="zh-CN" altLang="en-US" sz="2800">
                <a:solidFill>
                  <a:srgbClr val="0000A8"/>
                </a:solidFill>
              </a:rPr>
              <a:t>控制状态寄存器数据缓冲寄存器</a:t>
            </a:r>
          </a:p>
        </p:txBody>
      </p:sp>
      <p:sp>
        <p:nvSpPr>
          <p:cNvPr id="603145" name="AutoShape 9">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3140"/>
                                        </p:tgtEl>
                                        <p:attrNameLst>
                                          <p:attrName>style.visibility</p:attrName>
                                        </p:attrNameLst>
                                      </p:cBhvr>
                                      <p:to>
                                        <p:strVal val="visible"/>
                                      </p:to>
                                    </p:set>
                                    <p:anim calcmode="lin" valueType="num">
                                      <p:cBhvr additive="base">
                                        <p:cTn id="7" dur="500" fill="hold"/>
                                        <p:tgtEl>
                                          <p:spTgt spid="603140"/>
                                        </p:tgtEl>
                                        <p:attrNameLst>
                                          <p:attrName>ppt_x</p:attrName>
                                        </p:attrNameLst>
                                      </p:cBhvr>
                                      <p:tavLst>
                                        <p:tav tm="0">
                                          <p:val>
                                            <p:strVal val="#ppt_x"/>
                                          </p:val>
                                        </p:tav>
                                        <p:tav tm="100000">
                                          <p:val>
                                            <p:strVal val="#ppt_x"/>
                                          </p:val>
                                        </p:tav>
                                      </p:tavLst>
                                    </p:anim>
                                    <p:anim calcmode="lin" valueType="num">
                                      <p:cBhvr additive="base">
                                        <p:cTn id="8" dur="500" fill="hold"/>
                                        <p:tgtEl>
                                          <p:spTgt spid="60314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603143"/>
                                        </p:tgtEl>
                                        <p:attrNameLst>
                                          <p:attrName>style.visibility</p:attrName>
                                        </p:attrNameLst>
                                      </p:cBhvr>
                                      <p:to>
                                        <p:strVal val="visible"/>
                                      </p:to>
                                    </p:set>
                                    <p:animEffect transition="in" filter="checkerboard(across)">
                                      <p:cBhvr>
                                        <p:cTn id="13" dur="500"/>
                                        <p:tgtEl>
                                          <p:spTgt spid="603143"/>
                                        </p:tgtEl>
                                      </p:cBhvr>
                                    </p:animEffect>
                                  </p:childTnLst>
                                </p:cTn>
                              </p:par>
                            </p:childTnLst>
                          </p:cTn>
                        </p:par>
                        <p:par>
                          <p:cTn id="14" fill="hold" nodeType="afterGroup">
                            <p:stCondLst>
                              <p:cond delay="500"/>
                            </p:stCondLst>
                            <p:childTnLst>
                              <p:par>
                                <p:cTn id="15" presetID="2" presetClass="entr" presetSubtype="6" fill="hold" grpId="0" nodeType="afterEffect">
                                  <p:stCondLst>
                                    <p:cond delay="0"/>
                                  </p:stCondLst>
                                  <p:childTnLst>
                                    <p:set>
                                      <p:cBhvr>
                                        <p:cTn id="16" dur="1" fill="hold">
                                          <p:stCondLst>
                                            <p:cond delay="0"/>
                                          </p:stCondLst>
                                        </p:cTn>
                                        <p:tgtEl>
                                          <p:spTgt spid="603145"/>
                                        </p:tgtEl>
                                        <p:attrNameLst>
                                          <p:attrName>style.visibility</p:attrName>
                                        </p:attrNameLst>
                                      </p:cBhvr>
                                      <p:to>
                                        <p:strVal val="visible"/>
                                      </p:to>
                                    </p:set>
                                    <p:anim calcmode="lin" valueType="num">
                                      <p:cBhvr additive="base">
                                        <p:cTn id="17" dur="500" fill="hold"/>
                                        <p:tgtEl>
                                          <p:spTgt spid="603145"/>
                                        </p:tgtEl>
                                        <p:attrNameLst>
                                          <p:attrName>ppt_x</p:attrName>
                                        </p:attrNameLst>
                                      </p:cBhvr>
                                      <p:tavLst>
                                        <p:tav tm="0">
                                          <p:val>
                                            <p:strVal val="1+#ppt_w/2"/>
                                          </p:val>
                                        </p:tav>
                                        <p:tav tm="100000">
                                          <p:val>
                                            <p:strVal val="#ppt_x"/>
                                          </p:val>
                                        </p:tav>
                                      </p:tavLst>
                                    </p:anim>
                                    <p:anim calcmode="lin" valueType="num">
                                      <p:cBhvr additive="base">
                                        <p:cTn id="18" dur="500" fill="hold"/>
                                        <p:tgtEl>
                                          <p:spTgt spid="6031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40" grpId="0" animBg="1"/>
      <p:bldP spid="603143" grpId="0" animBg="1"/>
      <p:bldP spid="60314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2195513" y="0"/>
            <a:ext cx="5584825" cy="1206500"/>
          </a:xfrm>
        </p:spPr>
        <p:txBody>
          <a:bodyPr/>
          <a:lstStyle/>
          <a:p>
            <a:pPr eaLnBrk="1" hangingPunct="1">
              <a:lnSpc>
                <a:spcPct val="120000"/>
              </a:lnSpc>
            </a:pPr>
            <a:r>
              <a:rPr lang="en-US" altLang="zh-CN" b="1" dirty="0" smtClean="0">
                <a:solidFill>
                  <a:srgbClr val="FFFF00"/>
                </a:solidFill>
                <a:ea typeface="楷体_GB2312" pitchFamily="49" charset="-122"/>
              </a:rPr>
              <a:t>10.2.2  </a:t>
            </a:r>
            <a:r>
              <a:rPr lang="zh-CN" altLang="en-US" b="1" dirty="0" smtClean="0">
                <a:solidFill>
                  <a:srgbClr val="FFFF00"/>
                </a:solidFill>
                <a:ea typeface="楷体_GB2312" pitchFamily="49" charset="-122"/>
              </a:rPr>
              <a:t>中断方式</a:t>
            </a:r>
          </a:p>
        </p:txBody>
      </p:sp>
      <p:sp>
        <p:nvSpPr>
          <p:cNvPr id="588803" name="Rectangle 3"/>
          <p:cNvSpPr>
            <a:spLocks noGrp="1" noChangeArrowheads="1"/>
          </p:cNvSpPr>
          <p:nvPr>
            <p:ph type="body" sz="half" idx="1"/>
          </p:nvPr>
        </p:nvSpPr>
        <p:spPr>
          <a:xfrm>
            <a:off x="323850" y="1557338"/>
            <a:ext cx="8820150" cy="3095625"/>
          </a:xfrm>
        </p:spPr>
        <p:txBody>
          <a:bodyPr/>
          <a:lstStyle/>
          <a:p>
            <a:pPr eaLnBrk="1" hangingPunct="1">
              <a:buClr>
                <a:schemeClr val="tx1">
                  <a:lumMod val="90000"/>
                </a:schemeClr>
              </a:buClr>
              <a:buFont typeface="Wingdings" panose="05000000000000000000" pitchFamily="2" charset="2"/>
              <a:buChar char="n"/>
              <a:defRPr/>
            </a:pPr>
            <a:r>
              <a:rPr lang="zh-CN" altLang="en-US" sz="3600" b="1" dirty="0" smtClean="0">
                <a:effectLst>
                  <a:outerShdw blurRad="38100" dist="38100" dir="2700000" algn="tl">
                    <a:srgbClr val="000000"/>
                  </a:outerShdw>
                </a:effectLst>
                <a:latin typeface="+mj-lt"/>
                <a:ea typeface="楷体_GB2312" pitchFamily="49" charset="-122"/>
              </a:rPr>
              <a:t>向</a:t>
            </a:r>
            <a:r>
              <a:rPr lang="en-US" altLang="zh-CN" sz="3600" b="1" dirty="0" smtClean="0">
                <a:effectLst>
                  <a:outerShdw blurRad="38100" dist="38100" dir="2700000" algn="tl">
                    <a:srgbClr val="000000"/>
                  </a:outerShdw>
                </a:effectLst>
                <a:latin typeface="+mj-lt"/>
                <a:ea typeface="楷体_GB2312" pitchFamily="49" charset="-122"/>
              </a:rPr>
              <a:t>I/O</a:t>
            </a:r>
            <a:r>
              <a:rPr lang="zh-CN" altLang="en-US" sz="3600" b="1" dirty="0" smtClean="0">
                <a:effectLst>
                  <a:outerShdw blurRad="38100" dist="38100" dir="2700000" algn="tl">
                    <a:srgbClr val="000000"/>
                  </a:outerShdw>
                </a:effectLst>
                <a:latin typeface="+mj-lt"/>
                <a:ea typeface="楷体_GB2312" pitchFamily="49" charset="-122"/>
              </a:rPr>
              <a:t>发命令</a:t>
            </a:r>
            <a:r>
              <a:rPr lang="en-US" altLang="zh-CN" sz="3600" b="1" dirty="0" smtClean="0">
                <a:effectLst>
                  <a:outerShdw blurRad="38100" dist="38100" dir="2700000" algn="tl">
                    <a:srgbClr val="000000"/>
                  </a:outerShdw>
                </a:effectLst>
                <a:latin typeface="+mj-lt"/>
                <a:ea typeface="楷体_GB2312" pitchFamily="49" charset="-122"/>
              </a:rPr>
              <a:t>—</a:t>
            </a:r>
            <a:r>
              <a:rPr lang="zh-CN" altLang="en-US" sz="3600" b="1" dirty="0" smtClean="0">
                <a:effectLst>
                  <a:outerShdw blurRad="38100" dist="38100" dir="2700000" algn="tl">
                    <a:srgbClr val="000000"/>
                  </a:outerShdw>
                </a:effectLst>
                <a:latin typeface="+mj-lt"/>
                <a:ea typeface="楷体_GB2312" pitchFamily="49" charset="-122"/>
              </a:rPr>
              <a:t>执行其它任务</a:t>
            </a:r>
          </a:p>
          <a:p>
            <a:pPr eaLnBrk="1" hangingPunct="1">
              <a:buClr>
                <a:schemeClr val="tx1">
                  <a:lumMod val="90000"/>
                </a:schemeClr>
              </a:buClr>
              <a:buFont typeface="Wingdings" panose="05000000000000000000" pitchFamily="2" charset="2"/>
              <a:buChar char="n"/>
              <a:defRPr/>
            </a:pPr>
            <a:r>
              <a:rPr lang="en-US" altLang="zh-CN" sz="3600" b="1" dirty="0" smtClean="0">
                <a:effectLst>
                  <a:outerShdw blurRad="38100" dist="38100" dir="2700000" algn="tl">
                    <a:srgbClr val="000000"/>
                  </a:outerShdw>
                </a:effectLst>
                <a:latin typeface="+mj-lt"/>
                <a:ea typeface="楷体_GB2312" pitchFamily="49" charset="-122"/>
              </a:rPr>
              <a:t>I/O</a:t>
            </a:r>
            <a:r>
              <a:rPr lang="zh-CN" altLang="en-US" sz="3600" b="1" dirty="0" smtClean="0">
                <a:effectLst>
                  <a:outerShdw blurRad="38100" dist="38100" dir="2700000" algn="tl">
                    <a:srgbClr val="000000"/>
                  </a:outerShdw>
                </a:effectLst>
                <a:latin typeface="+mj-lt"/>
                <a:ea typeface="楷体_GB2312" pitchFamily="49" charset="-122"/>
              </a:rPr>
              <a:t>中断产生</a:t>
            </a:r>
            <a:r>
              <a:rPr lang="en-US" altLang="zh-CN" sz="3600" b="1" dirty="0" smtClean="0">
                <a:effectLst>
                  <a:outerShdw blurRad="38100" dist="38100" dir="2700000" algn="tl">
                    <a:srgbClr val="000000"/>
                  </a:outerShdw>
                </a:effectLst>
                <a:latin typeface="+mj-lt"/>
                <a:ea typeface="楷体_GB2312" pitchFamily="49" charset="-122"/>
              </a:rPr>
              <a:t>—CPU</a:t>
            </a:r>
            <a:r>
              <a:rPr lang="zh-CN" altLang="en-US" sz="3600" b="1" dirty="0" smtClean="0">
                <a:effectLst>
                  <a:outerShdw blurRad="38100" dist="38100" dir="2700000" algn="tl">
                    <a:srgbClr val="000000"/>
                  </a:outerShdw>
                </a:effectLst>
                <a:latin typeface="+mj-lt"/>
                <a:ea typeface="楷体_GB2312" pitchFamily="49" charset="-122"/>
              </a:rPr>
              <a:t>转相应中断处理程序</a:t>
            </a:r>
          </a:p>
          <a:p>
            <a:pPr eaLnBrk="1" hangingPunct="1">
              <a:buClr>
                <a:schemeClr val="tx1">
                  <a:lumMod val="90000"/>
                </a:schemeClr>
              </a:buClr>
              <a:buFont typeface="Wingdings" panose="05000000000000000000" pitchFamily="2" charset="2"/>
              <a:buChar char="n"/>
              <a:defRPr/>
            </a:pPr>
            <a:r>
              <a:rPr lang="zh-CN" altLang="en-US" sz="3600" b="1" dirty="0" smtClean="0">
                <a:effectLst>
                  <a:outerShdw blurRad="38100" dist="38100" dir="2700000" algn="tl">
                    <a:srgbClr val="000000"/>
                  </a:outerShdw>
                </a:effectLst>
                <a:latin typeface="+mj-lt"/>
                <a:ea typeface="楷体_GB2312" pitchFamily="49" charset="-122"/>
              </a:rPr>
              <a:t>如：读数据，读完后以中断方式通知</a:t>
            </a:r>
            <a:r>
              <a:rPr lang="en-US" altLang="zh-CN" sz="3600" b="1" dirty="0" smtClean="0">
                <a:effectLst>
                  <a:outerShdw blurRad="38100" dist="38100" dir="2700000" algn="tl">
                    <a:srgbClr val="000000"/>
                  </a:outerShdw>
                </a:effectLst>
                <a:latin typeface="+mj-lt"/>
                <a:ea typeface="楷体_GB2312" pitchFamily="49" charset="-122"/>
              </a:rPr>
              <a:t>CPU</a:t>
            </a:r>
            <a:r>
              <a:rPr lang="zh-CN" altLang="en-US" sz="3600" b="1" dirty="0" smtClean="0">
                <a:effectLst>
                  <a:outerShdw blurRad="38100" dist="38100" dir="2700000" algn="tl">
                    <a:srgbClr val="000000"/>
                  </a:outerShdw>
                </a:effectLst>
                <a:latin typeface="+mj-lt"/>
                <a:ea typeface="楷体_GB2312" pitchFamily="49" charset="-122"/>
              </a:rPr>
              <a:t>，</a:t>
            </a:r>
            <a:r>
              <a:rPr lang="en-US" altLang="zh-CN" sz="3600" b="1" dirty="0" smtClean="0">
                <a:effectLst>
                  <a:outerShdw blurRad="38100" dist="38100" dir="2700000" algn="tl">
                    <a:srgbClr val="000000"/>
                  </a:outerShdw>
                </a:effectLst>
                <a:latin typeface="+mj-lt"/>
                <a:ea typeface="楷体_GB2312" pitchFamily="49" charset="-122"/>
              </a:rPr>
              <a:t>CPU</a:t>
            </a:r>
            <a:r>
              <a:rPr lang="zh-CN" altLang="en-US" sz="3600" b="1" dirty="0" smtClean="0">
                <a:effectLst>
                  <a:outerShdw blurRad="38100" dist="38100" dir="2700000" algn="tl">
                    <a:srgbClr val="000000"/>
                  </a:outerShdw>
                </a:effectLst>
                <a:latin typeface="+mj-lt"/>
                <a:ea typeface="楷体_GB2312" pitchFamily="49" charset="-122"/>
              </a:rPr>
              <a:t>完成数据从</a:t>
            </a:r>
            <a:r>
              <a:rPr lang="en-US" altLang="zh-CN" sz="3600" b="1" dirty="0" smtClean="0">
                <a:effectLst>
                  <a:outerShdw blurRad="38100" dist="38100" dir="2700000" algn="tl">
                    <a:srgbClr val="000000"/>
                  </a:outerShdw>
                </a:effectLst>
                <a:latin typeface="+mj-lt"/>
                <a:ea typeface="楷体_GB2312" pitchFamily="49" charset="-122"/>
              </a:rPr>
              <a:t>I/O—</a:t>
            </a:r>
            <a:r>
              <a:rPr lang="zh-CN" altLang="en-US" sz="3600" b="1" dirty="0" smtClean="0">
                <a:effectLst>
                  <a:outerShdw blurRad="38100" dist="38100" dir="2700000" algn="tl">
                    <a:srgbClr val="000000"/>
                  </a:outerShdw>
                </a:effectLst>
                <a:latin typeface="+mj-lt"/>
                <a:ea typeface="楷体_GB2312" pitchFamily="49" charset="-122"/>
              </a:rPr>
              <a:t>内存</a:t>
            </a:r>
          </a:p>
        </p:txBody>
      </p:sp>
      <p:sp>
        <p:nvSpPr>
          <p:cNvPr id="588806" name="AutoShape 6"/>
          <p:cNvSpPr>
            <a:spLocks noChangeArrowheads="1"/>
          </p:cNvSpPr>
          <p:nvPr/>
        </p:nvSpPr>
        <p:spPr bwMode="auto">
          <a:xfrm>
            <a:off x="611188" y="4508500"/>
            <a:ext cx="7705725" cy="720725"/>
          </a:xfrm>
          <a:prstGeom prst="wedgeRoundRectCallout">
            <a:avLst>
              <a:gd name="adj1" fmla="val -14440"/>
              <a:gd name="adj2" fmla="val 47227"/>
              <a:gd name="adj3" fmla="val 16667"/>
            </a:avLst>
          </a:prstGeom>
          <a:solidFill>
            <a:srgbClr val="CCFFCC"/>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a:solidFill>
                  <a:schemeClr val="bg2"/>
                </a:solidFill>
              </a:rPr>
              <a:t>要求：</a:t>
            </a:r>
            <a:r>
              <a:rPr lang="en-US" altLang="zh-CN">
                <a:solidFill>
                  <a:schemeClr val="bg2"/>
                </a:solidFill>
              </a:rPr>
              <a:t>CPU</a:t>
            </a:r>
            <a:r>
              <a:rPr lang="zh-CN" altLang="en-US">
                <a:solidFill>
                  <a:schemeClr val="bg2"/>
                </a:solidFill>
              </a:rPr>
              <a:t>与设备之间有相应的中断线</a:t>
            </a:r>
          </a:p>
        </p:txBody>
      </p:sp>
      <p:sp>
        <p:nvSpPr>
          <p:cNvPr id="588807" name="AutoShape 7">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88806"/>
                                        </p:tgtEl>
                                        <p:attrNameLst>
                                          <p:attrName>style.visibility</p:attrName>
                                        </p:attrNameLst>
                                      </p:cBhvr>
                                      <p:to>
                                        <p:strVal val="visible"/>
                                      </p:to>
                                    </p:set>
                                    <p:anim calcmode="lin" valueType="num">
                                      <p:cBhvr additive="base">
                                        <p:cTn id="7" dur="500" fill="hold"/>
                                        <p:tgtEl>
                                          <p:spTgt spid="588806"/>
                                        </p:tgtEl>
                                        <p:attrNameLst>
                                          <p:attrName>ppt_x</p:attrName>
                                        </p:attrNameLst>
                                      </p:cBhvr>
                                      <p:tavLst>
                                        <p:tav tm="0">
                                          <p:val>
                                            <p:strVal val="#ppt_x"/>
                                          </p:val>
                                        </p:tav>
                                        <p:tav tm="100000">
                                          <p:val>
                                            <p:strVal val="#ppt_x"/>
                                          </p:val>
                                        </p:tav>
                                      </p:tavLst>
                                    </p:anim>
                                    <p:anim calcmode="lin" valueType="num">
                                      <p:cBhvr additive="base">
                                        <p:cTn id="8" dur="500" fill="hold"/>
                                        <p:tgtEl>
                                          <p:spTgt spid="58880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6" fill="hold" grpId="0" nodeType="afterEffect">
                                  <p:stCondLst>
                                    <p:cond delay="0"/>
                                  </p:stCondLst>
                                  <p:childTnLst>
                                    <p:set>
                                      <p:cBhvr>
                                        <p:cTn id="11" dur="1" fill="hold">
                                          <p:stCondLst>
                                            <p:cond delay="0"/>
                                          </p:stCondLst>
                                        </p:cTn>
                                        <p:tgtEl>
                                          <p:spTgt spid="588807"/>
                                        </p:tgtEl>
                                        <p:attrNameLst>
                                          <p:attrName>style.visibility</p:attrName>
                                        </p:attrNameLst>
                                      </p:cBhvr>
                                      <p:to>
                                        <p:strVal val="visible"/>
                                      </p:to>
                                    </p:set>
                                    <p:anim calcmode="lin" valueType="num">
                                      <p:cBhvr additive="base">
                                        <p:cTn id="12" dur="500" fill="hold"/>
                                        <p:tgtEl>
                                          <p:spTgt spid="588807"/>
                                        </p:tgtEl>
                                        <p:attrNameLst>
                                          <p:attrName>ppt_x</p:attrName>
                                        </p:attrNameLst>
                                      </p:cBhvr>
                                      <p:tavLst>
                                        <p:tav tm="0">
                                          <p:val>
                                            <p:strVal val="1+#ppt_w/2"/>
                                          </p:val>
                                        </p:tav>
                                        <p:tav tm="100000">
                                          <p:val>
                                            <p:strVal val="#ppt_x"/>
                                          </p:val>
                                        </p:tav>
                                      </p:tavLst>
                                    </p:anim>
                                    <p:anim calcmode="lin" valueType="num">
                                      <p:cBhvr additive="base">
                                        <p:cTn id="13" dur="500" fill="hold"/>
                                        <p:tgtEl>
                                          <p:spTgt spid="5888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6" grpId="0" animBg="1"/>
      <p:bldP spid="58880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4" descr="i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333375"/>
            <a:ext cx="7632700"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5"/>
          <p:cNvSpPr>
            <a:spLocks noChangeArrowheads="1"/>
          </p:cNvSpPr>
          <p:nvPr/>
        </p:nvSpPr>
        <p:spPr bwMode="auto">
          <a:xfrm>
            <a:off x="2124075" y="6021388"/>
            <a:ext cx="4165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latin typeface="楷体_GB2312" pitchFamily="49" charset="-122"/>
                <a:ea typeface="楷体_GB2312" pitchFamily="49" charset="-122"/>
              </a:rPr>
              <a:t>图</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中断控制方式的传送结构</a:t>
            </a:r>
            <a:r>
              <a:rPr lang="zh-CN" altLang="en-US" sz="2800" b="0">
                <a:latin typeface="Tahoma" panose="020B0604030504040204" pitchFamily="34" charset="0"/>
              </a:rPr>
              <a:t> </a:t>
            </a:r>
          </a:p>
        </p:txBody>
      </p:sp>
      <p:sp>
        <p:nvSpPr>
          <p:cNvPr id="589830" name="Oval 6"/>
          <p:cNvSpPr>
            <a:spLocks noChangeArrowheads="1"/>
          </p:cNvSpPr>
          <p:nvPr/>
        </p:nvSpPr>
        <p:spPr bwMode="auto">
          <a:xfrm>
            <a:off x="5003800" y="260350"/>
            <a:ext cx="792163" cy="504825"/>
          </a:xfrm>
          <a:prstGeom prst="ellipse">
            <a:avLst/>
          </a:prstGeom>
          <a:noFill/>
          <a:ln w="38100"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9832" name="Oval 8"/>
          <p:cNvSpPr>
            <a:spLocks noChangeArrowheads="1"/>
          </p:cNvSpPr>
          <p:nvPr/>
        </p:nvSpPr>
        <p:spPr bwMode="auto">
          <a:xfrm>
            <a:off x="4067175" y="4005263"/>
            <a:ext cx="1009650" cy="576262"/>
          </a:xfrm>
          <a:prstGeom prst="ellipse">
            <a:avLst/>
          </a:prstGeom>
          <a:noFill/>
          <a:ln w="38100"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9833" name="AutoShape 9">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23560" name="AutoShape 10"/>
          <p:cNvSpPr>
            <a:spLocks noChangeArrowheads="1"/>
          </p:cNvSpPr>
          <p:nvPr/>
        </p:nvSpPr>
        <p:spPr bwMode="auto">
          <a:xfrm>
            <a:off x="900113" y="333375"/>
            <a:ext cx="3517900" cy="457200"/>
          </a:xfrm>
          <a:prstGeom prst="wedgeRectCallout">
            <a:avLst>
              <a:gd name="adj1" fmla="val 17218"/>
              <a:gd name="adj2" fmla="val 70139"/>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a:solidFill>
                  <a:srgbClr val="CC00FF"/>
                </a:solidFill>
              </a:rPr>
              <a:t>I/O -&gt;CPU -&gt; </a:t>
            </a:r>
            <a:r>
              <a:rPr lang="zh-CN" altLang="en-US" sz="2400">
                <a:solidFill>
                  <a:srgbClr val="CC00FF"/>
                </a:solidFill>
              </a:rPr>
              <a:t>内存</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89830"/>
                                        </p:tgtEl>
                                        <p:attrNameLst>
                                          <p:attrName>style.visibility</p:attrName>
                                        </p:attrNameLst>
                                      </p:cBhvr>
                                      <p:to>
                                        <p:strVal val="visible"/>
                                      </p:to>
                                    </p:set>
                                    <p:animEffect transition="in" filter="diamond(in)">
                                      <p:cBhvr>
                                        <p:cTn id="7" dur="2000"/>
                                        <p:tgtEl>
                                          <p:spTgt spid="5898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89832"/>
                                        </p:tgtEl>
                                        <p:attrNameLst>
                                          <p:attrName>style.visibility</p:attrName>
                                        </p:attrNameLst>
                                      </p:cBhvr>
                                      <p:to>
                                        <p:strVal val="visible"/>
                                      </p:to>
                                    </p:set>
                                    <p:animEffect transition="in" filter="box(in)">
                                      <p:cBhvr>
                                        <p:cTn id="12" dur="500"/>
                                        <p:tgtEl>
                                          <p:spTgt spid="589832"/>
                                        </p:tgtEl>
                                      </p:cBhvr>
                                    </p:animEffect>
                                  </p:childTnLst>
                                </p:cTn>
                              </p:par>
                            </p:childTnLst>
                          </p:cTn>
                        </p:par>
                        <p:par>
                          <p:cTn id="13" fill="hold" nodeType="afterGroup">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589833"/>
                                        </p:tgtEl>
                                        <p:attrNameLst>
                                          <p:attrName>style.visibility</p:attrName>
                                        </p:attrNameLst>
                                      </p:cBhvr>
                                      <p:to>
                                        <p:strVal val="visible"/>
                                      </p:to>
                                    </p:set>
                                    <p:anim calcmode="lin" valueType="num">
                                      <p:cBhvr additive="base">
                                        <p:cTn id="16" dur="500" fill="hold"/>
                                        <p:tgtEl>
                                          <p:spTgt spid="589833"/>
                                        </p:tgtEl>
                                        <p:attrNameLst>
                                          <p:attrName>ppt_x</p:attrName>
                                        </p:attrNameLst>
                                      </p:cBhvr>
                                      <p:tavLst>
                                        <p:tav tm="0">
                                          <p:val>
                                            <p:strVal val="1+#ppt_w/2"/>
                                          </p:val>
                                        </p:tav>
                                        <p:tav tm="100000">
                                          <p:val>
                                            <p:strVal val="#ppt_x"/>
                                          </p:val>
                                        </p:tav>
                                      </p:tavLst>
                                    </p:anim>
                                    <p:anim calcmode="lin" valueType="num">
                                      <p:cBhvr additive="base">
                                        <p:cTn id="17" dur="500" fill="hold"/>
                                        <p:tgtEl>
                                          <p:spTgt spid="5898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30" grpId="0" animBg="1"/>
      <p:bldP spid="589832" grpId="0" animBg="1"/>
      <p:bldP spid="5898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9" name="Picture 4" descr="t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3375"/>
            <a:ext cx="7921625" cy="591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5"/>
          <p:cNvSpPr>
            <a:spLocks noChangeArrowheads="1"/>
          </p:cNvSpPr>
          <p:nvPr/>
        </p:nvSpPr>
        <p:spPr bwMode="auto">
          <a:xfrm>
            <a:off x="2135188" y="6237288"/>
            <a:ext cx="459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latin typeface="楷体_GB2312" pitchFamily="49" charset="-122"/>
                <a:ea typeface="楷体_GB2312" pitchFamily="49" charset="-122"/>
              </a:rPr>
              <a:t>图</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中断控制方式的处理过程</a:t>
            </a:r>
          </a:p>
        </p:txBody>
      </p:sp>
      <p:sp>
        <p:nvSpPr>
          <p:cNvPr id="590854" name="Line 6"/>
          <p:cNvSpPr>
            <a:spLocks noChangeShapeType="1"/>
          </p:cNvSpPr>
          <p:nvPr/>
        </p:nvSpPr>
        <p:spPr bwMode="auto">
          <a:xfrm flipH="1">
            <a:off x="3071813" y="1428750"/>
            <a:ext cx="2735262" cy="0"/>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0855" name="Line 7"/>
          <p:cNvSpPr>
            <a:spLocks noChangeShapeType="1"/>
          </p:cNvSpPr>
          <p:nvPr/>
        </p:nvSpPr>
        <p:spPr bwMode="auto">
          <a:xfrm flipV="1">
            <a:off x="3132138" y="4149725"/>
            <a:ext cx="2303462" cy="144463"/>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0856"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pic>
        <p:nvPicPr>
          <p:cNvPr id="2458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2133600"/>
            <a:ext cx="17272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bwMode="auto">
          <a:xfrm>
            <a:off x="5807075" y="4653137"/>
            <a:ext cx="2216780" cy="612602"/>
          </a:xfrm>
          <a:prstGeom prst="rect">
            <a:avLst/>
          </a:prstGeom>
          <a:solidFill>
            <a:srgbClr val="C31F1B">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
        <p:nvSpPr>
          <p:cNvPr id="10" name="矩形 9"/>
          <p:cNvSpPr/>
          <p:nvPr/>
        </p:nvSpPr>
        <p:spPr bwMode="auto">
          <a:xfrm>
            <a:off x="5807075" y="2922675"/>
            <a:ext cx="2216780" cy="612602"/>
          </a:xfrm>
          <a:prstGeom prst="rect">
            <a:avLst/>
          </a:prstGeom>
          <a:solidFill>
            <a:srgbClr val="FFFF00">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0854"/>
                                        </p:tgtEl>
                                        <p:attrNameLst>
                                          <p:attrName>style.visibility</p:attrName>
                                        </p:attrNameLst>
                                      </p:cBhvr>
                                      <p:to>
                                        <p:strVal val="visible"/>
                                      </p:to>
                                    </p:set>
                                    <p:animEffect transition="in" filter="blinds(horizontal)">
                                      <p:cBhvr>
                                        <p:cTn id="7" dur="500"/>
                                        <p:tgtEl>
                                          <p:spTgt spid="5908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0855"/>
                                        </p:tgtEl>
                                        <p:attrNameLst>
                                          <p:attrName>style.visibility</p:attrName>
                                        </p:attrNameLst>
                                      </p:cBhvr>
                                      <p:to>
                                        <p:strVal val="visible"/>
                                      </p:to>
                                    </p:set>
                                    <p:animEffect transition="in" filter="blinds(horizontal)">
                                      <p:cBhvr>
                                        <p:cTn id="17" dur="500"/>
                                        <p:tgtEl>
                                          <p:spTgt spid="5908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ircle(in)">
                                      <p:cBhvr>
                                        <p:cTn id="22" dur="2000"/>
                                        <p:tgtEl>
                                          <p:spTgt spid="9"/>
                                        </p:tgtEl>
                                      </p:cBhvr>
                                    </p:animEffect>
                                  </p:childTnLst>
                                </p:cTn>
                              </p:par>
                            </p:childTnLst>
                          </p:cTn>
                        </p:par>
                        <p:par>
                          <p:cTn id="23" fill="hold" nodeType="afterGroup">
                            <p:stCondLst>
                              <p:cond delay="2000"/>
                            </p:stCondLst>
                            <p:childTnLst>
                              <p:par>
                                <p:cTn id="24" presetID="2" presetClass="entr" presetSubtype="6" fill="hold" grpId="0" nodeType="afterEffect">
                                  <p:stCondLst>
                                    <p:cond delay="0"/>
                                  </p:stCondLst>
                                  <p:childTnLst>
                                    <p:set>
                                      <p:cBhvr>
                                        <p:cTn id="25" dur="1" fill="hold">
                                          <p:stCondLst>
                                            <p:cond delay="0"/>
                                          </p:stCondLst>
                                        </p:cTn>
                                        <p:tgtEl>
                                          <p:spTgt spid="590856"/>
                                        </p:tgtEl>
                                        <p:attrNameLst>
                                          <p:attrName>style.visibility</p:attrName>
                                        </p:attrNameLst>
                                      </p:cBhvr>
                                      <p:to>
                                        <p:strVal val="visible"/>
                                      </p:to>
                                    </p:set>
                                    <p:anim calcmode="lin" valueType="num">
                                      <p:cBhvr additive="base">
                                        <p:cTn id="26" dur="500" fill="hold"/>
                                        <p:tgtEl>
                                          <p:spTgt spid="590856"/>
                                        </p:tgtEl>
                                        <p:attrNameLst>
                                          <p:attrName>ppt_x</p:attrName>
                                        </p:attrNameLst>
                                      </p:cBhvr>
                                      <p:tavLst>
                                        <p:tav tm="0">
                                          <p:val>
                                            <p:strVal val="1+#ppt_w/2"/>
                                          </p:val>
                                        </p:tav>
                                        <p:tav tm="100000">
                                          <p:val>
                                            <p:strVal val="#ppt_x"/>
                                          </p:val>
                                        </p:tav>
                                      </p:tavLst>
                                    </p:anim>
                                    <p:anim calcmode="lin" valueType="num">
                                      <p:cBhvr additive="base">
                                        <p:cTn id="27" dur="500" fill="hold"/>
                                        <p:tgtEl>
                                          <p:spTgt spid="5908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4" grpId="0" animBg="1"/>
      <p:bldP spid="590855" grpId="0" animBg="1"/>
      <p:bldP spid="59085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4"/>
          <p:cNvSpPr>
            <a:spLocks noChangeArrowheads="1"/>
          </p:cNvSpPr>
          <p:nvPr/>
        </p:nvSpPr>
        <p:spPr bwMode="auto">
          <a:xfrm>
            <a:off x="323850" y="981075"/>
            <a:ext cx="86106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 typeface="Symbol" panose="05050102010706020507" pitchFamily="18" charset="2"/>
              <a:buNone/>
            </a:pPr>
            <a:r>
              <a:rPr lang="zh-CN" altLang="en-US" sz="3600" dirty="0">
                <a:solidFill>
                  <a:srgbClr val="FFFF00"/>
                </a:solidFill>
                <a:latin typeface="楷体_GB2312" pitchFamily="49" charset="-122"/>
                <a:ea typeface="楷体_GB2312" pitchFamily="49" charset="-122"/>
              </a:rPr>
              <a:t>中断方式存在的问题</a:t>
            </a:r>
          </a:p>
          <a:p>
            <a:pPr eaLnBrk="1" hangingPunct="1">
              <a:spcBef>
                <a:spcPct val="0"/>
              </a:spcBef>
              <a:buClr>
                <a:schemeClr val="tx1">
                  <a:lumMod val="75000"/>
                </a:schemeClr>
              </a:buClr>
              <a:buSzPct val="80000"/>
              <a:buFont typeface="Wingdings" panose="05000000000000000000" pitchFamily="2" charset="2"/>
              <a:buChar char="n"/>
            </a:pPr>
            <a:r>
              <a:rPr lang="zh-CN" altLang="en-US" dirty="0">
                <a:latin typeface="楷体_GB2312" pitchFamily="49" charset="-122"/>
                <a:ea typeface="楷体_GB2312" pitchFamily="49" charset="-122"/>
              </a:rPr>
              <a:t>在一次数据传送过程中，发生中断次数较多。</a:t>
            </a:r>
            <a:r>
              <a:rPr lang="zh-CN" altLang="en-US" dirty="0">
                <a:solidFill>
                  <a:srgbClr val="FFFF00"/>
                </a:solidFill>
                <a:latin typeface="楷体_GB2312" pitchFamily="49" charset="-122"/>
                <a:ea typeface="楷体_GB2312" pitchFamily="49" charset="-122"/>
              </a:rPr>
              <a:t>耗去大量的</a:t>
            </a:r>
            <a:r>
              <a:rPr lang="en-US" altLang="zh-CN" dirty="0">
                <a:solidFill>
                  <a:srgbClr val="FFFF00"/>
                </a:solidFill>
                <a:latin typeface="楷体_GB2312" pitchFamily="49" charset="-122"/>
                <a:ea typeface="楷体_GB2312" pitchFamily="49" charset="-122"/>
              </a:rPr>
              <a:t>CPU</a:t>
            </a:r>
            <a:r>
              <a:rPr lang="zh-CN" altLang="en-US" dirty="0">
                <a:solidFill>
                  <a:srgbClr val="FFFF00"/>
                </a:solidFill>
                <a:latin typeface="楷体_GB2312" pitchFamily="49" charset="-122"/>
                <a:ea typeface="楷体_GB2312" pitchFamily="49" charset="-122"/>
              </a:rPr>
              <a:t>处理时间。</a:t>
            </a:r>
          </a:p>
          <a:p>
            <a:pPr lvl="1" eaLnBrk="1" hangingPunct="1">
              <a:spcBef>
                <a:spcPct val="0"/>
              </a:spcBef>
              <a:buClr>
                <a:schemeClr val="tx1">
                  <a:lumMod val="75000"/>
                </a:schemeClr>
              </a:buClr>
              <a:buSzPct val="80000"/>
              <a:buFont typeface="Wingdings" panose="05000000000000000000" pitchFamily="2" charset="2"/>
              <a:buChar char="n"/>
            </a:pPr>
            <a:r>
              <a:rPr lang="zh-CN" altLang="en-US" dirty="0">
                <a:ea typeface="楷体_GB2312" pitchFamily="49" charset="-122"/>
              </a:rPr>
              <a:t>数据缓冲寄存通常较小</a:t>
            </a:r>
            <a:r>
              <a:rPr lang="zh-CN" altLang="en-US" sz="3200" dirty="0">
                <a:latin typeface="楷体_GB2312" pitchFamily="49" charset="-122"/>
                <a:ea typeface="楷体_GB2312" pitchFamily="49" charset="-122"/>
              </a:rPr>
              <a:t>，</a:t>
            </a:r>
            <a:r>
              <a:rPr lang="zh-CN" altLang="en-US" dirty="0">
                <a:latin typeface="楷体_GB2312" pitchFamily="49" charset="-122"/>
                <a:ea typeface="楷体_GB2312" pitchFamily="49" charset="-122"/>
              </a:rPr>
              <a:t>装满数据发生中断。</a:t>
            </a:r>
          </a:p>
          <a:p>
            <a:pPr eaLnBrk="1" hangingPunct="1">
              <a:spcBef>
                <a:spcPct val="0"/>
              </a:spcBef>
              <a:buClr>
                <a:schemeClr val="tx1">
                  <a:lumMod val="75000"/>
                </a:schemeClr>
              </a:buClr>
              <a:buSzPct val="80000"/>
              <a:buFont typeface="Wingdings" panose="05000000000000000000" pitchFamily="2" charset="2"/>
              <a:buChar char="n"/>
            </a:pPr>
            <a:r>
              <a:rPr lang="zh-CN" altLang="en-US" dirty="0">
                <a:latin typeface="楷体_GB2312" pitchFamily="49" charset="-122"/>
                <a:ea typeface="楷体_GB2312" pitchFamily="49" charset="-122"/>
              </a:rPr>
              <a:t>由于中断次数的急剧增加而造成</a:t>
            </a:r>
            <a:r>
              <a:rPr lang="en-US" altLang="zh-CN" dirty="0">
                <a:solidFill>
                  <a:srgbClr val="FFFF00"/>
                </a:solidFill>
                <a:latin typeface="楷体_GB2312" pitchFamily="49" charset="-122"/>
                <a:ea typeface="楷体_GB2312" pitchFamily="49" charset="-122"/>
              </a:rPr>
              <a:t>CPU</a:t>
            </a:r>
            <a:r>
              <a:rPr lang="zh-CN" altLang="en-US" dirty="0">
                <a:solidFill>
                  <a:srgbClr val="FFFF00"/>
                </a:solidFill>
                <a:latin typeface="楷体_GB2312" pitchFamily="49" charset="-122"/>
                <a:ea typeface="楷体_GB2312" pitchFamily="49" charset="-122"/>
              </a:rPr>
              <a:t>无法响应中断和出现数据丢失现象。</a:t>
            </a:r>
          </a:p>
        </p:txBody>
      </p:sp>
      <p:sp>
        <p:nvSpPr>
          <p:cNvPr id="664581" name="AutoShape 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64581"/>
                                        </p:tgtEl>
                                        <p:attrNameLst>
                                          <p:attrName>style.visibility</p:attrName>
                                        </p:attrNameLst>
                                      </p:cBhvr>
                                      <p:to>
                                        <p:strVal val="visible"/>
                                      </p:to>
                                    </p:set>
                                    <p:anim calcmode="lin" valueType="num">
                                      <p:cBhvr additive="base">
                                        <p:cTn id="7" dur="500" fill="hold"/>
                                        <p:tgtEl>
                                          <p:spTgt spid="664581"/>
                                        </p:tgtEl>
                                        <p:attrNameLst>
                                          <p:attrName>ppt_x</p:attrName>
                                        </p:attrNameLst>
                                      </p:cBhvr>
                                      <p:tavLst>
                                        <p:tav tm="0">
                                          <p:val>
                                            <p:strVal val="1+#ppt_w/2"/>
                                          </p:val>
                                        </p:tav>
                                        <p:tav tm="100000">
                                          <p:val>
                                            <p:strVal val="#ppt_x"/>
                                          </p:val>
                                        </p:tav>
                                      </p:tavLst>
                                    </p:anim>
                                    <p:anim calcmode="lin" valueType="num">
                                      <p:cBhvr additive="base">
                                        <p:cTn id="8" dur="500" fill="hold"/>
                                        <p:tgtEl>
                                          <p:spTgt spid="664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8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900113" y="333375"/>
            <a:ext cx="7775575" cy="946150"/>
          </a:xfrm>
        </p:spPr>
        <p:txBody>
          <a:bodyPr/>
          <a:lstStyle/>
          <a:p>
            <a:pPr eaLnBrk="1" hangingPunct="1">
              <a:lnSpc>
                <a:spcPct val="120000"/>
              </a:lnSpc>
            </a:pPr>
            <a:r>
              <a:rPr lang="en-US" altLang="zh-CN" sz="4000" b="1" dirty="0" smtClean="0">
                <a:solidFill>
                  <a:srgbClr val="FFFF00"/>
                </a:solidFill>
                <a:ea typeface="楷体_GB2312" pitchFamily="49" charset="-122"/>
              </a:rPr>
              <a:t>10.2.3  DMA</a:t>
            </a:r>
            <a:r>
              <a:rPr lang="zh-CN" altLang="en-US" sz="4000" b="1" dirty="0" smtClean="0">
                <a:solidFill>
                  <a:srgbClr val="FFFF00"/>
                </a:solidFill>
                <a:ea typeface="楷体_GB2312" pitchFamily="49" charset="-122"/>
              </a:rPr>
              <a:t>方式</a:t>
            </a:r>
            <a:r>
              <a:rPr lang="en-US" altLang="zh-CN" sz="4000" b="1" dirty="0" smtClean="0">
                <a:solidFill>
                  <a:srgbClr val="FFFF00"/>
                </a:solidFill>
                <a:ea typeface="楷体_GB2312" pitchFamily="49" charset="-122"/>
              </a:rPr>
              <a:t>—</a:t>
            </a:r>
            <a:r>
              <a:rPr lang="zh-CN" altLang="en-US" sz="4000" b="1" dirty="0" smtClean="0">
                <a:solidFill>
                  <a:srgbClr val="FFFF00"/>
                </a:solidFill>
                <a:ea typeface="楷体_GB2312" pitchFamily="49" charset="-122"/>
              </a:rPr>
              <a:t>用于块设备中</a:t>
            </a:r>
          </a:p>
        </p:txBody>
      </p:sp>
      <p:sp>
        <p:nvSpPr>
          <p:cNvPr id="591875" name="Rectangle 3"/>
          <p:cNvSpPr>
            <a:spLocks noGrp="1" noChangeArrowheads="1"/>
          </p:cNvSpPr>
          <p:nvPr>
            <p:ph type="body" sz="half" idx="1"/>
          </p:nvPr>
        </p:nvSpPr>
        <p:spPr>
          <a:xfrm>
            <a:off x="250825" y="1484313"/>
            <a:ext cx="8893175" cy="3455987"/>
          </a:xfrm>
        </p:spPr>
        <p:txBody>
          <a:bodyPr/>
          <a:lstStyle/>
          <a:p>
            <a:pPr eaLnBrk="1" hangingPunct="1">
              <a:buClr>
                <a:srgbClr val="FFFF00"/>
              </a:buClr>
              <a:buSzPct val="80000"/>
              <a:buFont typeface="Wingdings" panose="05000000000000000000" pitchFamily="2" charset="2"/>
              <a:buChar char="n"/>
              <a:defRPr/>
            </a:pPr>
            <a:r>
              <a:rPr lang="zh-CN" altLang="en-US" sz="3600" b="1" dirty="0" smtClean="0">
                <a:solidFill>
                  <a:srgbClr val="FFFF00"/>
                </a:solidFill>
                <a:effectLst>
                  <a:outerShdw blurRad="38100" dist="38100" dir="2700000" algn="tl">
                    <a:srgbClr val="000000"/>
                  </a:outerShdw>
                </a:effectLst>
                <a:latin typeface="楷体_GB2312" pitchFamily="49" charset="-122"/>
                <a:ea typeface="楷体_GB2312" pitchFamily="49" charset="-122"/>
              </a:rPr>
              <a:t>基本思想：</a:t>
            </a:r>
            <a:r>
              <a:rPr lang="zh-CN" altLang="en-US" b="1" dirty="0" smtClean="0">
                <a:effectLst>
                  <a:outerShdw blurRad="38100" dist="38100" dir="2700000" algn="tl">
                    <a:srgbClr val="000000"/>
                  </a:outerShdw>
                </a:effectLst>
                <a:latin typeface="楷体_GB2312" pitchFamily="49" charset="-122"/>
                <a:ea typeface="楷体_GB2312" pitchFamily="49" charset="-122"/>
              </a:rPr>
              <a:t>在外围设备和内存之间开辟直接的数据交换通路。</a:t>
            </a:r>
            <a:endParaRPr lang="zh-CN" altLang="en-US" b="1" dirty="0" smtClean="0">
              <a:solidFill>
                <a:srgbClr val="FFFF00"/>
              </a:solidFill>
              <a:effectLst>
                <a:outerShdw blurRad="38100" dist="38100" dir="2700000" algn="tl">
                  <a:srgbClr val="000000"/>
                </a:outerShdw>
              </a:effectLst>
              <a:latin typeface="楷体_GB2312" pitchFamily="49" charset="-122"/>
              <a:ea typeface="楷体_GB2312" pitchFamily="49" charset="-122"/>
            </a:endParaRPr>
          </a:p>
          <a:p>
            <a:pPr eaLnBrk="1" hangingPunct="1">
              <a:buClr>
                <a:srgbClr val="FFFF00"/>
              </a:buClr>
              <a:buSzPct val="80000"/>
              <a:buFont typeface="Wingdings" panose="05000000000000000000" pitchFamily="2" charset="2"/>
              <a:buChar char="n"/>
              <a:defRPr/>
            </a:pPr>
            <a:r>
              <a:rPr lang="zh-CN" altLang="en-US" sz="3600" b="1" dirty="0" smtClean="0">
                <a:solidFill>
                  <a:srgbClr val="FFFF00"/>
                </a:solidFill>
                <a:effectLst>
                  <a:outerShdw blurRad="38100" dist="38100" dir="2700000" algn="tl">
                    <a:srgbClr val="000000"/>
                  </a:outerShdw>
                </a:effectLst>
                <a:latin typeface="楷体_GB2312" pitchFamily="49" charset="-122"/>
                <a:ea typeface="楷体_GB2312" pitchFamily="49" charset="-122"/>
              </a:rPr>
              <a:t>增加硬件</a:t>
            </a:r>
          </a:p>
          <a:p>
            <a:pPr marL="788988" lvl="1" indent="-331788" eaLnBrk="1" hangingPunct="1">
              <a:spcBef>
                <a:spcPct val="0"/>
              </a:spcBef>
              <a:defRPr/>
            </a:pPr>
            <a:r>
              <a:rPr lang="zh-CN" altLang="en-US" sz="3200" b="1" dirty="0" smtClean="0">
                <a:effectLst>
                  <a:outerShdw blurRad="38100" dist="38100" dir="2700000" algn="tl">
                    <a:srgbClr val="000000"/>
                  </a:outerShdw>
                </a:effectLst>
                <a:latin typeface="楷体_GB2312" pitchFamily="49" charset="-122"/>
                <a:ea typeface="楷体_GB2312" pitchFamily="49" charset="-122"/>
              </a:rPr>
              <a:t>传送字节计数器、内存地址寄存器等。</a:t>
            </a:r>
          </a:p>
        </p:txBody>
      </p:sp>
      <p:sp>
        <p:nvSpPr>
          <p:cNvPr id="591878" name="AutoShape 6">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91878"/>
                                        </p:tgtEl>
                                        <p:attrNameLst>
                                          <p:attrName>style.visibility</p:attrName>
                                        </p:attrNameLst>
                                      </p:cBhvr>
                                      <p:to>
                                        <p:strVal val="visible"/>
                                      </p:to>
                                    </p:set>
                                    <p:anim calcmode="lin" valueType="num">
                                      <p:cBhvr additive="base">
                                        <p:cTn id="7" dur="500" fill="hold"/>
                                        <p:tgtEl>
                                          <p:spTgt spid="591878"/>
                                        </p:tgtEl>
                                        <p:attrNameLst>
                                          <p:attrName>ppt_x</p:attrName>
                                        </p:attrNameLst>
                                      </p:cBhvr>
                                      <p:tavLst>
                                        <p:tav tm="0">
                                          <p:val>
                                            <p:strVal val="1+#ppt_w/2"/>
                                          </p:val>
                                        </p:tav>
                                        <p:tav tm="100000">
                                          <p:val>
                                            <p:strVal val="#ppt_x"/>
                                          </p:val>
                                        </p:tav>
                                      </p:tavLst>
                                    </p:anim>
                                    <p:anim calcmode="lin" valueType="num">
                                      <p:cBhvr additive="base">
                                        <p:cTn id="8" dur="500" fill="hold"/>
                                        <p:tgtEl>
                                          <p:spTgt spid="5918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187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4" descr="i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50" y="476250"/>
            <a:ext cx="7848600"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5"/>
          <p:cNvSpPr>
            <a:spLocks noChangeArrowheads="1"/>
          </p:cNvSpPr>
          <p:nvPr/>
        </p:nvSpPr>
        <p:spPr bwMode="auto">
          <a:xfrm>
            <a:off x="2771775" y="5949950"/>
            <a:ext cx="3640138" cy="523875"/>
          </a:xfrm>
          <a:prstGeom prst="rect">
            <a:avLst/>
          </a:prstGeom>
          <a:noFill/>
          <a:ln w="9525">
            <a:noFill/>
            <a:miter lim="800000"/>
            <a:headEnd/>
            <a:tailEnd/>
          </a:ln>
        </p:spPr>
        <p:txBody>
          <a:bodyPr wrap="none" anchor="ctr">
            <a:spAutoFit/>
          </a:bodyPr>
          <a:lstStyle/>
          <a:p>
            <a:pPr eaLnBrk="1" hangingPunct="1">
              <a:defRPr/>
            </a:pPr>
            <a:r>
              <a:rPr lang="zh-CN" altLang="en-US" sz="2400" dirty="0">
                <a:latin typeface="楷体_GB2312" pitchFamily="49" charset="-122"/>
                <a:ea typeface="楷体_GB2312" pitchFamily="49" charset="-122"/>
              </a:rPr>
              <a:t>图 </a:t>
            </a:r>
            <a:r>
              <a:rPr lang="en-US" altLang="zh-CN" sz="2400" dirty="0">
                <a:latin typeface="+mj-lt"/>
                <a:ea typeface="楷体_GB2312" pitchFamily="49" charset="-122"/>
              </a:rPr>
              <a:t>DMA</a:t>
            </a:r>
            <a:r>
              <a:rPr lang="zh-CN" altLang="en-US" sz="2400" dirty="0">
                <a:latin typeface="+mj-lt"/>
                <a:ea typeface="楷体_GB2312" pitchFamily="49" charset="-122"/>
              </a:rPr>
              <a:t>方式的传送结构</a:t>
            </a:r>
            <a:r>
              <a:rPr lang="zh-CN" altLang="en-US" b="0" dirty="0">
                <a:latin typeface="+mj-lt"/>
              </a:rPr>
              <a:t> </a:t>
            </a:r>
          </a:p>
        </p:txBody>
      </p:sp>
      <p:sp>
        <p:nvSpPr>
          <p:cNvPr id="592902" name="Oval 6"/>
          <p:cNvSpPr>
            <a:spLocks noChangeArrowheads="1"/>
          </p:cNvSpPr>
          <p:nvPr/>
        </p:nvSpPr>
        <p:spPr bwMode="auto">
          <a:xfrm>
            <a:off x="5435600" y="4508500"/>
            <a:ext cx="2808288" cy="720725"/>
          </a:xfrm>
          <a:prstGeom prst="ellipse">
            <a:avLst/>
          </a:prstGeom>
          <a:noFill/>
          <a:ln w="28575"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92904" name="Oval 8"/>
          <p:cNvSpPr>
            <a:spLocks noChangeArrowheads="1"/>
          </p:cNvSpPr>
          <p:nvPr/>
        </p:nvSpPr>
        <p:spPr bwMode="auto">
          <a:xfrm>
            <a:off x="5435600" y="5300663"/>
            <a:ext cx="2808288" cy="720725"/>
          </a:xfrm>
          <a:prstGeom prst="ellipse">
            <a:avLst/>
          </a:prstGeom>
          <a:noFill/>
          <a:ln w="28575" cap="sq">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92905" name="Rectangle 9"/>
          <p:cNvSpPr>
            <a:spLocks noChangeArrowheads="1"/>
          </p:cNvSpPr>
          <p:nvPr/>
        </p:nvSpPr>
        <p:spPr bwMode="auto">
          <a:xfrm>
            <a:off x="3059113" y="1700213"/>
            <a:ext cx="2305050" cy="720725"/>
          </a:xfrm>
          <a:prstGeom prst="rect">
            <a:avLst/>
          </a:prstGeom>
          <a:noFill/>
          <a:ln w="28575" cap="sq">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92906" name="AutoShape 10">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92902"/>
                                        </p:tgtEl>
                                        <p:attrNameLst>
                                          <p:attrName>style.visibility</p:attrName>
                                        </p:attrNameLst>
                                      </p:cBhvr>
                                      <p:to>
                                        <p:strVal val="visible"/>
                                      </p:to>
                                    </p:set>
                                    <p:animEffect transition="in" filter="checkerboard(across)">
                                      <p:cBhvr>
                                        <p:cTn id="7" dur="500"/>
                                        <p:tgtEl>
                                          <p:spTgt spid="5929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92904"/>
                                        </p:tgtEl>
                                        <p:attrNameLst>
                                          <p:attrName>style.visibility</p:attrName>
                                        </p:attrNameLst>
                                      </p:cBhvr>
                                      <p:to>
                                        <p:strVal val="visible"/>
                                      </p:to>
                                    </p:set>
                                    <p:animEffect transition="in" filter="checkerboard(across)">
                                      <p:cBhvr>
                                        <p:cTn id="12" dur="500"/>
                                        <p:tgtEl>
                                          <p:spTgt spid="5929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2905"/>
                                        </p:tgtEl>
                                        <p:attrNameLst>
                                          <p:attrName>style.visibility</p:attrName>
                                        </p:attrNameLst>
                                      </p:cBhvr>
                                      <p:to>
                                        <p:strVal val="visible"/>
                                      </p:to>
                                    </p:set>
                                    <p:animEffect transition="in" filter="blinds(horizontal)">
                                      <p:cBhvr>
                                        <p:cTn id="17" dur="500"/>
                                        <p:tgtEl>
                                          <p:spTgt spid="592905"/>
                                        </p:tgtEl>
                                      </p:cBhvr>
                                    </p:animEffect>
                                  </p:childTnLst>
                                </p:cTn>
                              </p:par>
                            </p:childTnLst>
                          </p:cTn>
                        </p:par>
                        <p:par>
                          <p:cTn id="18" fill="hold" nodeType="afterGroup">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592906"/>
                                        </p:tgtEl>
                                        <p:attrNameLst>
                                          <p:attrName>style.visibility</p:attrName>
                                        </p:attrNameLst>
                                      </p:cBhvr>
                                      <p:to>
                                        <p:strVal val="visible"/>
                                      </p:to>
                                    </p:set>
                                    <p:anim calcmode="lin" valueType="num">
                                      <p:cBhvr additive="base">
                                        <p:cTn id="21" dur="500" fill="hold"/>
                                        <p:tgtEl>
                                          <p:spTgt spid="592906"/>
                                        </p:tgtEl>
                                        <p:attrNameLst>
                                          <p:attrName>ppt_x</p:attrName>
                                        </p:attrNameLst>
                                      </p:cBhvr>
                                      <p:tavLst>
                                        <p:tav tm="0">
                                          <p:val>
                                            <p:strVal val="1+#ppt_w/2"/>
                                          </p:val>
                                        </p:tav>
                                        <p:tav tm="100000">
                                          <p:val>
                                            <p:strVal val="#ppt_x"/>
                                          </p:val>
                                        </p:tav>
                                      </p:tavLst>
                                    </p:anim>
                                    <p:anim calcmode="lin" valueType="num">
                                      <p:cBhvr additive="base">
                                        <p:cTn id="22" dur="500" fill="hold"/>
                                        <p:tgtEl>
                                          <p:spTgt spid="5929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02" grpId="0" animBg="1"/>
      <p:bldP spid="592904" grpId="0" animBg="1"/>
      <p:bldP spid="592905" grpId="0" animBg="1"/>
      <p:bldP spid="59290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1763713" y="5949950"/>
            <a:ext cx="5257800" cy="692150"/>
          </a:xfrm>
        </p:spPr>
        <p:txBody>
          <a:bodyPr/>
          <a:lstStyle/>
          <a:p>
            <a:pPr eaLnBrk="1" hangingPunct="1"/>
            <a:r>
              <a:rPr lang="zh-CN" altLang="en-US" sz="2400" b="1" smtClean="0">
                <a:solidFill>
                  <a:srgbClr val="FFFFFF"/>
                </a:solidFill>
                <a:latin typeface="楷体_GB2312" pitchFamily="49" charset="-122"/>
                <a:ea typeface="楷体_GB2312" pitchFamily="49" charset="-122"/>
              </a:rPr>
              <a:t>图 </a:t>
            </a:r>
            <a:r>
              <a:rPr lang="en-US" altLang="zh-CN" sz="2400" b="1" smtClean="0">
                <a:solidFill>
                  <a:srgbClr val="FFFFFF"/>
                </a:solidFill>
                <a:latin typeface="楷体_GB2312" pitchFamily="49" charset="-122"/>
                <a:ea typeface="楷体_GB2312" pitchFamily="49" charset="-122"/>
              </a:rPr>
              <a:t> </a:t>
            </a:r>
            <a:r>
              <a:rPr lang="en-US" altLang="zh-CN" sz="2400" b="1" smtClean="0">
                <a:solidFill>
                  <a:srgbClr val="FFFFFF"/>
                </a:solidFill>
                <a:ea typeface="楷体_GB2312" pitchFamily="49" charset="-122"/>
              </a:rPr>
              <a:t>DMA</a:t>
            </a:r>
            <a:r>
              <a:rPr lang="zh-CN" altLang="en-US" sz="2400" b="1" smtClean="0">
                <a:solidFill>
                  <a:srgbClr val="FFFFFF"/>
                </a:solidFill>
                <a:ea typeface="楷体_GB2312" pitchFamily="49" charset="-122"/>
              </a:rPr>
              <a:t>方式</a:t>
            </a:r>
            <a:r>
              <a:rPr lang="zh-CN" altLang="en-US" sz="2400" b="1" smtClean="0">
                <a:solidFill>
                  <a:srgbClr val="FFFFFF"/>
                </a:solidFill>
                <a:latin typeface="楷体_GB2312" pitchFamily="49" charset="-122"/>
                <a:ea typeface="楷体_GB2312" pitchFamily="49" charset="-122"/>
              </a:rPr>
              <a:t>的数据传送处理过程</a:t>
            </a:r>
            <a:r>
              <a:rPr lang="zh-CN" altLang="en-US" smtClean="0"/>
              <a:t> </a:t>
            </a:r>
          </a:p>
        </p:txBody>
      </p:sp>
      <p:pic>
        <p:nvPicPr>
          <p:cNvPr id="29700" name="Picture 4" descr="i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33375"/>
            <a:ext cx="7416800"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25" name="Line 5"/>
          <p:cNvSpPr>
            <a:spLocks noChangeShapeType="1"/>
          </p:cNvSpPr>
          <p:nvPr/>
        </p:nvSpPr>
        <p:spPr bwMode="auto">
          <a:xfrm flipH="1">
            <a:off x="3348038" y="981075"/>
            <a:ext cx="1584325" cy="0"/>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3926" name="AutoShape 6">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93927" name="Line 7"/>
          <p:cNvSpPr>
            <a:spLocks noChangeShapeType="1"/>
          </p:cNvSpPr>
          <p:nvPr/>
        </p:nvSpPr>
        <p:spPr bwMode="auto">
          <a:xfrm flipV="1">
            <a:off x="3348038" y="3644900"/>
            <a:ext cx="2087562" cy="1728788"/>
          </a:xfrm>
          <a:prstGeom prst="line">
            <a:avLst/>
          </a:prstGeom>
          <a:noFill/>
          <a:ln w="28575" cap="sq">
            <a:solidFill>
              <a:srgbClr val="CC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93928" name="Oval 8"/>
          <p:cNvSpPr>
            <a:spLocks noChangeArrowheads="1"/>
          </p:cNvSpPr>
          <p:nvPr/>
        </p:nvSpPr>
        <p:spPr bwMode="auto">
          <a:xfrm>
            <a:off x="755650" y="2636838"/>
            <a:ext cx="3024188" cy="720725"/>
          </a:xfrm>
          <a:prstGeom prst="ellipse">
            <a:avLst/>
          </a:prstGeom>
          <a:solidFill>
            <a:srgbClr val="00FF00">
              <a:alpha val="52156"/>
            </a:srgbClr>
          </a:solidFill>
          <a:ln>
            <a:noFill/>
          </a:ln>
          <a:extLst>
            <a:ext uri="{91240B29-F687-4F45-9708-019B960494DF}">
              <a14:hiddenLine xmlns:a14="http://schemas.microsoft.com/office/drawing/2010/main" w="38100" cap="sq">
                <a:solidFill>
                  <a:srgbClr val="000000"/>
                </a:solidFill>
                <a:round/>
                <a:headEnd type="none" w="sm" len="sm"/>
                <a:tailEnd type="none" w="sm" len="sm"/>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9" name="矩形 8"/>
          <p:cNvSpPr/>
          <p:nvPr/>
        </p:nvSpPr>
        <p:spPr bwMode="auto">
          <a:xfrm>
            <a:off x="5444049" y="4041155"/>
            <a:ext cx="2216780" cy="612602"/>
          </a:xfrm>
          <a:prstGeom prst="rect">
            <a:avLst/>
          </a:prstGeom>
          <a:solidFill>
            <a:srgbClr val="C31F1B">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
        <p:nvSpPr>
          <p:cNvPr id="10" name="矩形 9"/>
          <p:cNvSpPr/>
          <p:nvPr/>
        </p:nvSpPr>
        <p:spPr bwMode="auto">
          <a:xfrm>
            <a:off x="4679950" y="2620981"/>
            <a:ext cx="3546202" cy="499252"/>
          </a:xfrm>
          <a:prstGeom prst="rect">
            <a:avLst/>
          </a:prstGeom>
          <a:solidFill>
            <a:srgbClr val="FFFF00">
              <a:alpha val="58824"/>
            </a:srgbClr>
          </a:solidFill>
          <a:ln w="12700" cap="sq" cmpd="sng" algn="ctr">
            <a:solidFill>
              <a:schemeClr val="tx1"/>
            </a:solidFill>
            <a:prstDash val="solid"/>
            <a:round/>
            <a:headEnd type="none" w="sm" len="sm"/>
            <a:tailEnd type="none" w="sm" len="sm"/>
          </a:ln>
          <a:effectLst>
            <a:innerShdw blurRad="63500" dist="50800" dir="16200000">
              <a:prstClr val="black">
                <a:alpha val="50000"/>
              </a:prstClr>
            </a:innerShdw>
          </a:effectLst>
        </p:spPr>
        <p:txBody>
          <a:bodyPr wrap="none"/>
          <a:lstStyle/>
          <a:p>
            <a:pP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3925"/>
                                        </p:tgtEl>
                                        <p:attrNameLst>
                                          <p:attrName>style.visibility</p:attrName>
                                        </p:attrNameLst>
                                      </p:cBhvr>
                                      <p:to>
                                        <p:strVal val="visible"/>
                                      </p:to>
                                    </p:set>
                                    <p:animEffect transition="in" filter="blinds(horizontal)">
                                      <p:cBhvr>
                                        <p:cTn id="7" dur="500"/>
                                        <p:tgtEl>
                                          <p:spTgt spid="593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circle(in)">
                                      <p:cBhvr>
                                        <p:cTn id="12" dur="20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3928"/>
                                        </p:tgtEl>
                                        <p:attrNameLst>
                                          <p:attrName>style.visibility</p:attrName>
                                        </p:attrNameLst>
                                      </p:cBhvr>
                                      <p:to>
                                        <p:strVal val="visible"/>
                                      </p:to>
                                    </p:set>
                                    <p:animEffect transition="in" filter="blinds(horizontal)">
                                      <p:cBhvr>
                                        <p:cTn id="17" dur="500"/>
                                        <p:tgtEl>
                                          <p:spTgt spid="5939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93927"/>
                                        </p:tgtEl>
                                        <p:attrNameLst>
                                          <p:attrName>style.visibility</p:attrName>
                                        </p:attrNameLst>
                                      </p:cBhvr>
                                      <p:to>
                                        <p:strVal val="visible"/>
                                      </p:to>
                                    </p:set>
                                    <p:animEffect transition="in" filter="blinds(horizontal)">
                                      <p:cBhvr>
                                        <p:cTn id="22" dur="500"/>
                                        <p:tgtEl>
                                          <p:spTgt spid="5939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ircle(in)">
                                      <p:cBhvr>
                                        <p:cTn id="27" dur="2000"/>
                                        <p:tgtEl>
                                          <p:spTgt spid="9"/>
                                        </p:tgtEl>
                                      </p:cBhvr>
                                    </p:animEffect>
                                  </p:childTnLst>
                                </p:cTn>
                              </p:par>
                            </p:childTnLst>
                          </p:cTn>
                        </p:par>
                        <p:par>
                          <p:cTn id="28" fill="hold" nodeType="afterGroup">
                            <p:stCondLst>
                              <p:cond delay="2000"/>
                            </p:stCondLst>
                            <p:childTnLst>
                              <p:par>
                                <p:cTn id="29" presetID="2" presetClass="entr" presetSubtype="6" fill="hold" grpId="0" nodeType="afterEffect">
                                  <p:stCondLst>
                                    <p:cond delay="0"/>
                                  </p:stCondLst>
                                  <p:childTnLst>
                                    <p:set>
                                      <p:cBhvr>
                                        <p:cTn id="30" dur="1" fill="hold">
                                          <p:stCondLst>
                                            <p:cond delay="0"/>
                                          </p:stCondLst>
                                        </p:cTn>
                                        <p:tgtEl>
                                          <p:spTgt spid="593926"/>
                                        </p:tgtEl>
                                        <p:attrNameLst>
                                          <p:attrName>style.visibility</p:attrName>
                                        </p:attrNameLst>
                                      </p:cBhvr>
                                      <p:to>
                                        <p:strVal val="visible"/>
                                      </p:to>
                                    </p:set>
                                    <p:anim calcmode="lin" valueType="num">
                                      <p:cBhvr additive="base">
                                        <p:cTn id="31" dur="500" fill="hold"/>
                                        <p:tgtEl>
                                          <p:spTgt spid="593926"/>
                                        </p:tgtEl>
                                        <p:attrNameLst>
                                          <p:attrName>ppt_x</p:attrName>
                                        </p:attrNameLst>
                                      </p:cBhvr>
                                      <p:tavLst>
                                        <p:tav tm="0">
                                          <p:val>
                                            <p:strVal val="1+#ppt_w/2"/>
                                          </p:val>
                                        </p:tav>
                                        <p:tav tm="100000">
                                          <p:val>
                                            <p:strVal val="#ppt_x"/>
                                          </p:val>
                                        </p:tav>
                                      </p:tavLst>
                                    </p:anim>
                                    <p:anim calcmode="lin" valueType="num">
                                      <p:cBhvr additive="base">
                                        <p:cTn id="32" dur="500" fill="hold"/>
                                        <p:tgtEl>
                                          <p:spTgt spid="5939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25" grpId="0" animBg="1"/>
      <p:bldP spid="593926" grpId="0" animBg="1"/>
      <p:bldP spid="593927" grpId="0" animBg="1"/>
      <p:bldP spid="59392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5" name="Rectangle 3"/>
          <p:cNvSpPr>
            <a:spLocks noGrp="1" noChangeArrowheads="1"/>
          </p:cNvSpPr>
          <p:nvPr>
            <p:ph type="body" idx="1"/>
          </p:nvPr>
        </p:nvSpPr>
        <p:spPr>
          <a:xfrm>
            <a:off x="250825" y="620713"/>
            <a:ext cx="8893175" cy="5976937"/>
          </a:xfrm>
        </p:spPr>
        <p:txBody>
          <a:bodyPr/>
          <a:lstStyle/>
          <a:p>
            <a:pPr eaLnBrk="1" hangingPunct="1">
              <a:spcBef>
                <a:spcPct val="10000"/>
              </a:spcBef>
              <a:buClr>
                <a:srgbClr val="FFFF00"/>
              </a:buClr>
              <a:buSzPct val="80000"/>
              <a:buFont typeface="Wingdings" panose="05000000000000000000" pitchFamily="2" charset="2"/>
              <a:buChar char="n"/>
              <a:defRPr/>
            </a:pPr>
            <a:r>
              <a:rPr lang="zh-CN" altLang="en-US" b="1" dirty="0" smtClean="0">
                <a:solidFill>
                  <a:srgbClr val="FFFF00"/>
                </a:solidFill>
                <a:effectLst>
                  <a:outerShdw blurRad="38100" dist="38100" dir="2700000" algn="tl">
                    <a:srgbClr val="000000"/>
                  </a:outerShdw>
                </a:effectLst>
                <a:latin typeface="楷体_GB2312" pitchFamily="49" charset="-122"/>
                <a:ea typeface="楷体_GB2312" pitchFamily="49" charset="-122"/>
              </a:rPr>
              <a:t>比较</a:t>
            </a:r>
          </a:p>
          <a:p>
            <a:pPr lvl="1" eaLnBrk="1" hangingPunct="1">
              <a:spcBef>
                <a:spcPct val="10000"/>
              </a:spcBef>
              <a:buClr>
                <a:srgbClr val="FFFF00"/>
              </a:buClr>
              <a:buSzPct val="70000"/>
              <a:buFont typeface="Wingdings" panose="05000000000000000000" pitchFamily="2" charset="2"/>
              <a:buChar char="n"/>
              <a:defRPr/>
            </a:pPr>
            <a:r>
              <a:rPr lang="en-US" altLang="zh-CN" b="1" dirty="0" smtClean="0">
                <a:solidFill>
                  <a:srgbClr val="FFFF00"/>
                </a:solidFill>
                <a:effectLst>
                  <a:outerShdw blurRad="38100" dist="38100" dir="2700000" algn="tl">
                    <a:srgbClr val="000000"/>
                  </a:outerShdw>
                </a:effectLst>
                <a:latin typeface="+mj-lt"/>
                <a:ea typeface="楷体_GB2312" pitchFamily="49" charset="-122"/>
              </a:rPr>
              <a:t>CPU</a:t>
            </a:r>
            <a:r>
              <a:rPr lang="zh-CN" altLang="en-US" b="1" dirty="0" smtClean="0">
                <a:solidFill>
                  <a:srgbClr val="FFFF00"/>
                </a:solidFill>
                <a:effectLst>
                  <a:outerShdw blurRad="38100" dist="38100" dir="2700000" algn="tl">
                    <a:srgbClr val="000000"/>
                  </a:outerShdw>
                </a:effectLst>
                <a:latin typeface="+mj-lt"/>
                <a:ea typeface="楷体_GB2312" pitchFamily="49" charset="-122"/>
              </a:rPr>
              <a:t>进行中断处理的次数</a:t>
            </a:r>
          </a:p>
          <a:p>
            <a:pPr lvl="2" eaLnBrk="1" hangingPunct="1">
              <a:spcBef>
                <a:spcPct val="10000"/>
              </a:spcBef>
              <a:buSzPct val="60000"/>
              <a:buFont typeface="Wingdings" panose="05000000000000000000" pitchFamily="2" charset="2"/>
              <a:buChar char="n"/>
              <a:defRPr/>
            </a:pPr>
            <a:r>
              <a:rPr lang="zh-CN" altLang="en-US" b="1" dirty="0" smtClean="0">
                <a:effectLst>
                  <a:outerShdw blurRad="38100" dist="38100" dir="2700000" algn="tl">
                    <a:srgbClr val="000000"/>
                  </a:outerShdw>
                </a:effectLst>
                <a:latin typeface="+mj-lt"/>
                <a:ea typeface="楷体_GB2312" pitchFamily="49" charset="-122"/>
              </a:rPr>
              <a:t>中断：在数据缓冲寄存器满之后</a:t>
            </a:r>
          </a:p>
          <a:p>
            <a:pPr lvl="2" eaLnBrk="1" hangingPunct="1">
              <a:spcBef>
                <a:spcPct val="10000"/>
              </a:spcBef>
              <a:buSzPct val="60000"/>
              <a:buFont typeface="Wingdings" panose="05000000000000000000" pitchFamily="2" charset="2"/>
              <a:buChar char="n"/>
              <a:defRPr/>
            </a:pPr>
            <a:r>
              <a:rPr lang="en-US" altLang="zh-CN" b="1" dirty="0" smtClean="0">
                <a:effectLst>
                  <a:outerShdw blurRad="38100" dist="38100" dir="2700000" algn="tl">
                    <a:srgbClr val="000000"/>
                  </a:outerShdw>
                </a:effectLst>
                <a:latin typeface="+mj-lt"/>
                <a:ea typeface="楷体_GB2312" pitchFamily="49" charset="-122"/>
              </a:rPr>
              <a:t>DMA</a:t>
            </a:r>
            <a:r>
              <a:rPr lang="zh-CN" altLang="en-US" b="1" dirty="0" smtClean="0">
                <a:effectLst>
                  <a:outerShdw blurRad="38100" dist="38100" dir="2700000" algn="tl">
                    <a:srgbClr val="000000"/>
                  </a:outerShdw>
                </a:effectLst>
                <a:latin typeface="+mj-lt"/>
                <a:ea typeface="楷体_GB2312" pitchFamily="49" charset="-122"/>
              </a:rPr>
              <a:t>：在所要传送的数据块全部传送结束时</a:t>
            </a:r>
          </a:p>
          <a:p>
            <a:pPr lvl="1" eaLnBrk="1" hangingPunct="1">
              <a:spcBef>
                <a:spcPct val="10000"/>
              </a:spcBef>
              <a:buClr>
                <a:srgbClr val="FFFF00"/>
              </a:buClr>
              <a:buSzPct val="70000"/>
              <a:buFont typeface="Wingdings" panose="05000000000000000000" pitchFamily="2" charset="2"/>
              <a:buChar char="n"/>
              <a:defRPr/>
            </a:pPr>
            <a:r>
              <a:rPr lang="zh-CN" altLang="en-US" b="1" dirty="0">
                <a:solidFill>
                  <a:srgbClr val="FFFF00"/>
                </a:solidFill>
                <a:effectLst>
                  <a:outerShdw blurRad="38100" dist="38100" dir="2700000" algn="tl">
                    <a:srgbClr val="000000"/>
                  </a:outerShdw>
                </a:effectLst>
                <a:latin typeface="+mj-lt"/>
                <a:ea typeface="楷体_GB2312" pitchFamily="49" charset="-122"/>
              </a:rPr>
              <a:t>数据传送的控制</a:t>
            </a:r>
          </a:p>
          <a:p>
            <a:pPr lvl="2" eaLnBrk="1" hangingPunct="1">
              <a:spcBef>
                <a:spcPct val="10000"/>
              </a:spcBef>
              <a:buSzPct val="60000"/>
              <a:buFont typeface="Wingdings" panose="05000000000000000000" pitchFamily="2" charset="2"/>
              <a:buChar char="n"/>
              <a:defRPr/>
            </a:pPr>
            <a:r>
              <a:rPr lang="zh-CN" altLang="en-US" b="1" dirty="0">
                <a:effectLst>
                  <a:outerShdw blurRad="38100" dist="38100" dir="2700000" algn="tl">
                    <a:srgbClr val="000000"/>
                  </a:outerShdw>
                </a:effectLst>
                <a:latin typeface="+mj-lt"/>
                <a:ea typeface="楷体_GB2312" pitchFamily="49" charset="-122"/>
              </a:rPr>
              <a:t>中断：</a:t>
            </a:r>
            <a:r>
              <a:rPr lang="en-US" altLang="zh-CN" b="1" dirty="0">
                <a:effectLst>
                  <a:outerShdw blurRad="38100" dist="38100" dir="2700000" algn="tl">
                    <a:srgbClr val="000000"/>
                  </a:outerShdw>
                </a:effectLst>
                <a:latin typeface="+mj-lt"/>
                <a:ea typeface="楷体_GB2312" pitchFamily="49" charset="-122"/>
              </a:rPr>
              <a:t>CPU</a:t>
            </a:r>
          </a:p>
          <a:p>
            <a:pPr lvl="2" eaLnBrk="1" hangingPunct="1">
              <a:spcBef>
                <a:spcPct val="10000"/>
              </a:spcBef>
              <a:buSzPct val="60000"/>
              <a:buFont typeface="Wingdings" panose="05000000000000000000" pitchFamily="2" charset="2"/>
              <a:buChar char="n"/>
              <a:defRPr/>
            </a:pPr>
            <a:r>
              <a:rPr lang="en-US" altLang="zh-CN" b="1" dirty="0">
                <a:effectLst>
                  <a:outerShdw blurRad="38100" dist="38100" dir="2700000" algn="tl">
                    <a:srgbClr val="000000"/>
                  </a:outerShdw>
                </a:effectLst>
                <a:latin typeface="+mj-lt"/>
                <a:ea typeface="楷体_GB2312" pitchFamily="49" charset="-122"/>
              </a:rPr>
              <a:t>DMA</a:t>
            </a:r>
            <a:r>
              <a:rPr lang="zh-CN" altLang="en-US" b="1" dirty="0">
                <a:effectLst>
                  <a:outerShdw blurRad="38100" dist="38100" dir="2700000" algn="tl">
                    <a:srgbClr val="000000"/>
                  </a:outerShdw>
                </a:effectLst>
                <a:latin typeface="+mj-lt"/>
                <a:ea typeface="楷体_GB2312" pitchFamily="49" charset="-122"/>
              </a:rPr>
              <a:t>：</a:t>
            </a:r>
            <a:r>
              <a:rPr lang="en-US" altLang="zh-CN" b="1" dirty="0">
                <a:effectLst>
                  <a:outerShdw blurRad="38100" dist="38100" dir="2700000" algn="tl">
                    <a:srgbClr val="000000"/>
                  </a:outerShdw>
                </a:effectLst>
                <a:latin typeface="+mj-lt"/>
                <a:ea typeface="楷体_GB2312" pitchFamily="49" charset="-122"/>
              </a:rPr>
              <a:t>DMA</a:t>
            </a:r>
            <a:r>
              <a:rPr lang="zh-CN" altLang="en-US" b="1" dirty="0" smtClean="0">
                <a:effectLst>
                  <a:outerShdw blurRad="38100" dist="38100" dir="2700000" algn="tl">
                    <a:srgbClr val="000000"/>
                  </a:outerShdw>
                </a:effectLst>
                <a:latin typeface="+mj-lt"/>
                <a:ea typeface="楷体_GB2312" pitchFamily="49" charset="-122"/>
              </a:rPr>
              <a:t>控制器</a:t>
            </a:r>
            <a:endParaRPr lang="zh-CN" altLang="en-US" b="1" dirty="0">
              <a:effectLst>
                <a:outerShdw blurRad="38100" dist="38100" dir="2700000" algn="tl">
                  <a:srgbClr val="000000"/>
                </a:outerShdw>
              </a:effectLst>
              <a:latin typeface="+mj-lt"/>
              <a:ea typeface="楷体_GB2312" pitchFamily="49" charset="-122"/>
            </a:endParaRPr>
          </a:p>
          <a:p>
            <a:pPr lvl="3" eaLnBrk="1" hangingPunct="1">
              <a:spcBef>
                <a:spcPct val="10000"/>
              </a:spcBef>
              <a:defRPr/>
            </a:pPr>
            <a:r>
              <a:rPr lang="zh-CN" altLang="en-US" sz="2400" b="1" dirty="0" smtClean="0">
                <a:effectLst>
                  <a:outerShdw blurRad="38100" dist="38100" dir="2700000" algn="tl">
                    <a:srgbClr val="000000"/>
                  </a:outerShdw>
                </a:effectLst>
                <a:latin typeface="+mj-lt"/>
                <a:ea typeface="楷体_GB2312" pitchFamily="49" charset="-122"/>
              </a:rPr>
              <a:t>排除了因并行操作设备过多时</a:t>
            </a:r>
            <a:r>
              <a:rPr lang="en-US" altLang="zh-CN" sz="2400" b="1" dirty="0" smtClean="0">
                <a:effectLst>
                  <a:outerShdw blurRad="38100" dist="38100" dir="2700000" algn="tl">
                    <a:srgbClr val="000000"/>
                  </a:outerShdw>
                </a:effectLst>
                <a:latin typeface="+mj-lt"/>
                <a:ea typeface="楷体_GB2312" pitchFamily="49" charset="-122"/>
              </a:rPr>
              <a:t>CPU</a:t>
            </a:r>
            <a:r>
              <a:rPr lang="zh-CN" altLang="en-US" sz="2400" b="1" dirty="0" smtClean="0">
                <a:effectLst>
                  <a:outerShdw blurRad="38100" dist="38100" dir="2700000" algn="tl">
                    <a:srgbClr val="000000"/>
                  </a:outerShdw>
                </a:effectLst>
                <a:latin typeface="+mj-lt"/>
                <a:ea typeface="楷体_GB2312" pitchFamily="49" charset="-122"/>
              </a:rPr>
              <a:t>来不及处理或因速度不匹配而造成数据丢失等现象。</a:t>
            </a:r>
          </a:p>
          <a:p>
            <a:pPr eaLnBrk="1" hangingPunct="1">
              <a:spcBef>
                <a:spcPct val="10000"/>
              </a:spcBef>
              <a:buClr>
                <a:srgbClr val="FFFF00"/>
              </a:buClr>
              <a:buSzPct val="80000"/>
              <a:buFont typeface="Wingdings" panose="05000000000000000000" pitchFamily="2" charset="2"/>
              <a:buChar char="n"/>
              <a:defRPr/>
            </a:pPr>
            <a:r>
              <a:rPr lang="zh-CN" altLang="en-US" b="1" dirty="0">
                <a:solidFill>
                  <a:srgbClr val="FFFF00"/>
                </a:solidFill>
                <a:effectLst>
                  <a:outerShdw blurRad="38100" dist="38100" dir="2700000" algn="tl">
                    <a:srgbClr val="000000"/>
                  </a:outerShdw>
                </a:effectLst>
                <a:latin typeface="楷体_GB2312" pitchFamily="49" charset="-122"/>
                <a:ea typeface="楷体_GB2312" pitchFamily="49" charset="-122"/>
              </a:rPr>
              <a:t>局限性</a:t>
            </a:r>
          </a:p>
          <a:p>
            <a:pPr lvl="1" eaLnBrk="1" hangingPunct="1">
              <a:spcBef>
                <a:spcPct val="10000"/>
              </a:spcBef>
              <a:buClr>
                <a:schemeClr val="tx1">
                  <a:lumMod val="90000"/>
                </a:schemeClr>
              </a:buClr>
              <a:buSzPct val="70000"/>
              <a:buFont typeface="Wingdings" panose="05000000000000000000" pitchFamily="2" charset="2"/>
              <a:buChar char="n"/>
              <a:defRPr/>
            </a:pPr>
            <a:r>
              <a:rPr lang="zh-CN" altLang="en-US" b="1" dirty="0" smtClean="0">
                <a:latin typeface="+mj-lt"/>
                <a:ea typeface="楷体_GB2312" pitchFamily="49" charset="-122"/>
              </a:rPr>
              <a:t>当设备很多，</a:t>
            </a:r>
            <a:r>
              <a:rPr lang="en-US" altLang="zh-CN" b="1" dirty="0" smtClean="0">
                <a:latin typeface="+mj-lt"/>
                <a:ea typeface="楷体_GB2312" pitchFamily="49" charset="-122"/>
              </a:rPr>
              <a:t>DMA</a:t>
            </a:r>
            <a:r>
              <a:rPr lang="zh-CN" altLang="en-US" b="1" dirty="0" smtClean="0">
                <a:latin typeface="+mj-lt"/>
                <a:ea typeface="楷体_GB2312" pitchFamily="49" charset="-122"/>
              </a:rPr>
              <a:t>控制器很多引起内存地址冲突、控制过程复杂；</a:t>
            </a:r>
          </a:p>
          <a:p>
            <a:pPr lvl="1" eaLnBrk="1" hangingPunct="1">
              <a:spcBef>
                <a:spcPct val="10000"/>
              </a:spcBef>
              <a:buClr>
                <a:schemeClr val="tx1">
                  <a:lumMod val="90000"/>
                </a:schemeClr>
              </a:buClr>
              <a:buSzPct val="70000"/>
              <a:buFont typeface="Wingdings" panose="05000000000000000000" pitchFamily="2" charset="2"/>
              <a:buChar char="n"/>
              <a:defRPr/>
            </a:pPr>
            <a:r>
              <a:rPr lang="zh-CN" altLang="en-US" b="1" dirty="0" smtClean="0">
                <a:latin typeface="+mj-lt"/>
                <a:ea typeface="楷体_GB2312" pitchFamily="49" charset="-122"/>
              </a:rPr>
              <a:t>多个</a:t>
            </a:r>
            <a:r>
              <a:rPr lang="en-US" altLang="zh-CN" b="1" dirty="0" smtClean="0">
                <a:latin typeface="+mj-lt"/>
                <a:ea typeface="楷体_GB2312" pitchFamily="49" charset="-122"/>
              </a:rPr>
              <a:t>DMA</a:t>
            </a:r>
            <a:r>
              <a:rPr lang="zh-CN" altLang="en-US" b="1" dirty="0" smtClean="0">
                <a:latin typeface="+mj-lt"/>
                <a:ea typeface="楷体_GB2312" pitchFamily="49" charset="-122"/>
              </a:rPr>
              <a:t>控制器的使用不经济。</a:t>
            </a:r>
          </a:p>
        </p:txBody>
      </p:sp>
      <p:sp>
        <p:nvSpPr>
          <p:cNvPr id="653316" name="AutoShape 4">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25605" name="Rectangle 5"/>
          <p:cNvSpPr>
            <a:spLocks noChangeArrowheads="1"/>
          </p:cNvSpPr>
          <p:nvPr/>
        </p:nvSpPr>
        <p:spPr bwMode="auto">
          <a:xfrm>
            <a:off x="3708400" y="0"/>
            <a:ext cx="2519363" cy="701675"/>
          </a:xfrm>
          <a:prstGeom prst="rect">
            <a:avLst/>
          </a:prstGeom>
          <a:noFill/>
          <a:ln w="12700" cap="sq">
            <a:noFill/>
            <a:miter lim="800000"/>
            <a:headEnd type="none" w="sm" len="sm"/>
            <a:tailEnd type="none" w="sm" len="sm"/>
          </a:ln>
        </p:spPr>
        <p:txBody>
          <a:bodyPr>
            <a:spAutoFit/>
          </a:bodyPr>
          <a:lstStyle/>
          <a:p>
            <a:pPr eaLnBrk="1" hangingPunct="1">
              <a:defRPr/>
            </a:pPr>
            <a:r>
              <a:rPr lang="en-US" altLang="zh-CN" sz="4000" dirty="0">
                <a:solidFill>
                  <a:srgbClr val="FFFF00"/>
                </a:solidFill>
                <a:latin typeface="+mj-lt"/>
                <a:ea typeface="楷体_GB2312" pitchFamily="49" charset="-122"/>
              </a:rPr>
              <a:t>DMA</a:t>
            </a:r>
            <a:r>
              <a:rPr lang="zh-CN" altLang="en-US" sz="4000" dirty="0">
                <a:solidFill>
                  <a:srgbClr val="FFFF00"/>
                </a:solidFill>
                <a:latin typeface="楷体_GB2312" pitchFamily="49" charset="-122"/>
                <a:ea typeface="楷体_GB2312" pitchFamily="49" charset="-122"/>
              </a:rPr>
              <a:t>方式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3315">
                                            <p:txEl>
                                              <p:pRg st="2" end="2"/>
                                            </p:txEl>
                                          </p:spTgt>
                                        </p:tgtEl>
                                        <p:attrNameLst>
                                          <p:attrName>style.visibility</p:attrName>
                                        </p:attrNameLst>
                                      </p:cBhvr>
                                      <p:to>
                                        <p:strVal val="visible"/>
                                      </p:to>
                                    </p:set>
                                    <p:animEffect transition="in" filter="blinds(horizontal)">
                                      <p:cBhvr>
                                        <p:cTn id="7" dur="500"/>
                                        <p:tgtEl>
                                          <p:spTgt spid="65331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3315">
                                            <p:txEl>
                                              <p:pRg st="3" end="3"/>
                                            </p:txEl>
                                          </p:spTgt>
                                        </p:tgtEl>
                                        <p:attrNameLst>
                                          <p:attrName>style.visibility</p:attrName>
                                        </p:attrNameLst>
                                      </p:cBhvr>
                                      <p:to>
                                        <p:strVal val="visible"/>
                                      </p:to>
                                    </p:set>
                                    <p:animEffect transition="in" filter="blinds(horizontal)">
                                      <p:cBhvr>
                                        <p:cTn id="10" dur="500"/>
                                        <p:tgtEl>
                                          <p:spTgt spid="653315">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53315">
                                            <p:txEl>
                                              <p:pRg st="5" end="5"/>
                                            </p:txEl>
                                          </p:spTgt>
                                        </p:tgtEl>
                                        <p:attrNameLst>
                                          <p:attrName>style.visibility</p:attrName>
                                        </p:attrNameLst>
                                      </p:cBhvr>
                                      <p:to>
                                        <p:strVal val="visible"/>
                                      </p:to>
                                    </p:set>
                                    <p:animEffect transition="in" filter="blinds(horizontal)">
                                      <p:cBhvr>
                                        <p:cTn id="15" dur="500"/>
                                        <p:tgtEl>
                                          <p:spTgt spid="653315">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53315">
                                            <p:txEl>
                                              <p:pRg st="6" end="6"/>
                                            </p:txEl>
                                          </p:spTgt>
                                        </p:tgtEl>
                                        <p:attrNameLst>
                                          <p:attrName>style.visibility</p:attrName>
                                        </p:attrNameLst>
                                      </p:cBhvr>
                                      <p:to>
                                        <p:strVal val="visible"/>
                                      </p:to>
                                    </p:set>
                                    <p:animEffect transition="in" filter="blinds(horizontal)">
                                      <p:cBhvr>
                                        <p:cTn id="18" dur="500"/>
                                        <p:tgtEl>
                                          <p:spTgt spid="653315">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53315">
                                            <p:txEl>
                                              <p:pRg st="7" end="7"/>
                                            </p:txEl>
                                          </p:spTgt>
                                        </p:tgtEl>
                                        <p:attrNameLst>
                                          <p:attrName>style.visibility</p:attrName>
                                        </p:attrNameLst>
                                      </p:cBhvr>
                                      <p:to>
                                        <p:strVal val="visible"/>
                                      </p:to>
                                    </p:set>
                                    <p:animEffect transition="in" filter="blinds(horizontal)">
                                      <p:cBhvr>
                                        <p:cTn id="21" dur="500"/>
                                        <p:tgtEl>
                                          <p:spTgt spid="653315">
                                            <p:txEl>
                                              <p:pRg st="7" end="7"/>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53315">
                                            <p:txEl>
                                              <p:pRg st="9" end="9"/>
                                            </p:txEl>
                                          </p:spTgt>
                                        </p:tgtEl>
                                        <p:attrNameLst>
                                          <p:attrName>style.visibility</p:attrName>
                                        </p:attrNameLst>
                                      </p:cBhvr>
                                      <p:to>
                                        <p:strVal val="visible"/>
                                      </p:to>
                                    </p:set>
                                    <p:animEffect transition="in" filter="blinds(horizontal)">
                                      <p:cBhvr>
                                        <p:cTn id="26" dur="500"/>
                                        <p:tgtEl>
                                          <p:spTgt spid="653315">
                                            <p:txEl>
                                              <p:pRg st="9" end="9"/>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653315">
                                            <p:txEl>
                                              <p:pRg st="10" end="10"/>
                                            </p:txEl>
                                          </p:spTgt>
                                        </p:tgtEl>
                                        <p:attrNameLst>
                                          <p:attrName>style.visibility</p:attrName>
                                        </p:attrNameLst>
                                      </p:cBhvr>
                                      <p:to>
                                        <p:strVal val="visible"/>
                                      </p:to>
                                    </p:set>
                                    <p:animEffect transition="in" filter="blinds(horizontal)">
                                      <p:cBhvr>
                                        <p:cTn id="31" dur="500"/>
                                        <p:tgtEl>
                                          <p:spTgt spid="653315">
                                            <p:txEl>
                                              <p:pRg st="10" end="10"/>
                                            </p:txEl>
                                          </p:spTgt>
                                        </p:tgtEl>
                                      </p:cBhvr>
                                    </p:animEffect>
                                  </p:childTnLst>
                                </p:cTn>
                              </p:par>
                            </p:childTnLst>
                          </p:cTn>
                        </p:par>
                        <p:par>
                          <p:cTn id="32" fill="hold" nodeType="afterGroup">
                            <p:stCondLst>
                              <p:cond delay="500"/>
                            </p:stCondLst>
                            <p:childTnLst>
                              <p:par>
                                <p:cTn id="33" presetID="2" presetClass="entr" presetSubtype="6" fill="hold" grpId="0" nodeType="afterEffect">
                                  <p:stCondLst>
                                    <p:cond delay="0"/>
                                  </p:stCondLst>
                                  <p:childTnLst>
                                    <p:set>
                                      <p:cBhvr>
                                        <p:cTn id="34" dur="1" fill="hold">
                                          <p:stCondLst>
                                            <p:cond delay="0"/>
                                          </p:stCondLst>
                                        </p:cTn>
                                        <p:tgtEl>
                                          <p:spTgt spid="653316"/>
                                        </p:tgtEl>
                                        <p:attrNameLst>
                                          <p:attrName>style.visibility</p:attrName>
                                        </p:attrNameLst>
                                      </p:cBhvr>
                                      <p:to>
                                        <p:strVal val="visible"/>
                                      </p:to>
                                    </p:set>
                                    <p:anim calcmode="lin" valueType="num">
                                      <p:cBhvr additive="base">
                                        <p:cTn id="35" dur="500" fill="hold"/>
                                        <p:tgtEl>
                                          <p:spTgt spid="653316"/>
                                        </p:tgtEl>
                                        <p:attrNameLst>
                                          <p:attrName>ppt_x</p:attrName>
                                        </p:attrNameLst>
                                      </p:cBhvr>
                                      <p:tavLst>
                                        <p:tav tm="0">
                                          <p:val>
                                            <p:strVal val="1+#ppt_w/2"/>
                                          </p:val>
                                        </p:tav>
                                        <p:tav tm="100000">
                                          <p:val>
                                            <p:strVal val="#ppt_x"/>
                                          </p:val>
                                        </p:tav>
                                      </p:tavLst>
                                    </p:anim>
                                    <p:anim calcmode="lin" valueType="num">
                                      <p:cBhvr additive="base">
                                        <p:cTn id="36" dur="500" fill="hold"/>
                                        <p:tgtEl>
                                          <p:spTgt spid="653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2051074" y="156969"/>
            <a:ext cx="4968875" cy="863600"/>
          </a:xfrm>
        </p:spPr>
        <p:txBody>
          <a:bodyPr/>
          <a:lstStyle/>
          <a:p>
            <a:pPr algn="ctr" eaLnBrk="1" hangingPunct="1">
              <a:lnSpc>
                <a:spcPct val="120000"/>
              </a:lnSpc>
            </a:pPr>
            <a:r>
              <a:rPr lang="en-US" altLang="zh-CN" sz="4000" b="1" dirty="0" smtClean="0">
                <a:solidFill>
                  <a:srgbClr val="FFFF00"/>
                </a:solidFill>
                <a:ea typeface="楷体_GB2312" pitchFamily="49" charset="-122"/>
              </a:rPr>
              <a:t>10.2.4  </a:t>
            </a:r>
            <a:r>
              <a:rPr lang="zh-CN" altLang="en-US" sz="4000" b="1" dirty="0" smtClean="0">
                <a:solidFill>
                  <a:srgbClr val="FFFF00"/>
                </a:solidFill>
                <a:ea typeface="楷体_GB2312" pitchFamily="49" charset="-122"/>
              </a:rPr>
              <a:t>通道控制方式</a:t>
            </a:r>
          </a:p>
        </p:txBody>
      </p:sp>
      <p:sp>
        <p:nvSpPr>
          <p:cNvPr id="595974" name="AutoShape 6">
            <a:hlinkClick r:id="rId3" action="ppaction://hlinksldjump"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 name="Rectangle 3"/>
          <p:cNvSpPr>
            <a:spLocks noGrp="1" noChangeArrowheads="1"/>
          </p:cNvSpPr>
          <p:nvPr>
            <p:ph type="body" sz="half" idx="1"/>
          </p:nvPr>
        </p:nvSpPr>
        <p:spPr>
          <a:xfrm>
            <a:off x="467542" y="836712"/>
            <a:ext cx="8135937" cy="5640288"/>
          </a:xfrm>
        </p:spPr>
        <p:txBody>
          <a:bodyPr/>
          <a:lstStyle/>
          <a:p>
            <a:pPr eaLnBrk="1" hangingPunct="1">
              <a:buClr>
                <a:schemeClr val="tx1">
                  <a:lumMod val="90000"/>
                </a:schemeClr>
              </a:buClr>
              <a:buFont typeface="Wingdings" panose="05000000000000000000" pitchFamily="2" charset="2"/>
              <a:buChar char="n"/>
              <a:defRPr/>
            </a:pPr>
            <a:r>
              <a:rPr lang="zh-CN" altLang="en-US" sz="3600" b="1" dirty="0" smtClean="0">
                <a:effectLst>
                  <a:outerShdw blurRad="38100" dist="38100" dir="2700000" algn="tl">
                    <a:srgbClr val="000000"/>
                  </a:outerShdw>
                </a:effectLst>
                <a:latin typeface="楷体_GB2312" pitchFamily="49" charset="-122"/>
                <a:ea typeface="楷体_GB2312" pitchFamily="49" charset="-122"/>
              </a:rPr>
              <a:t>引入目的</a:t>
            </a:r>
          </a:p>
          <a:p>
            <a:pPr lvl="1" eaLnBrk="1" hangingPunct="1">
              <a:buSzPct val="70000"/>
              <a:buFont typeface="Wingdings" pitchFamily="2" charset="2"/>
              <a:buChar char="u"/>
              <a:defRPr/>
            </a:pPr>
            <a:r>
              <a:rPr lang="en-US" altLang="zh-CN" sz="3200" b="1" dirty="0" smtClean="0">
                <a:effectLst>
                  <a:outerShdw blurRad="38100" dist="38100" dir="2700000" algn="tl">
                    <a:srgbClr val="000000"/>
                  </a:outerShdw>
                </a:effectLst>
                <a:latin typeface="+mj-lt"/>
                <a:ea typeface="楷体_GB2312" pitchFamily="49" charset="-122"/>
              </a:rPr>
              <a:t>DMA</a:t>
            </a:r>
            <a:r>
              <a:rPr lang="zh-CN" altLang="en-US" sz="3200" b="1" dirty="0" smtClean="0">
                <a:effectLst>
                  <a:outerShdw blurRad="38100" dist="38100" dir="2700000" algn="tl">
                    <a:srgbClr val="000000"/>
                  </a:outerShdw>
                </a:effectLst>
                <a:latin typeface="+mj-lt"/>
                <a:ea typeface="楷体_GB2312" pitchFamily="49" charset="-122"/>
              </a:rPr>
              <a:t>方式对需多个离散块的读取仍需要多次中断。解脱</a:t>
            </a:r>
            <a:r>
              <a:rPr lang="en-US" altLang="zh-CN" sz="3200" b="1" dirty="0" smtClean="0">
                <a:effectLst>
                  <a:outerShdw blurRad="38100" dist="38100" dir="2700000" algn="tl">
                    <a:srgbClr val="000000"/>
                  </a:outerShdw>
                </a:effectLst>
                <a:latin typeface="+mj-lt"/>
                <a:ea typeface="楷体_GB2312" pitchFamily="49" charset="-122"/>
              </a:rPr>
              <a:t>CPU</a:t>
            </a:r>
            <a:r>
              <a:rPr lang="zh-CN" altLang="en-US" sz="3200" b="1" dirty="0" smtClean="0">
                <a:effectLst>
                  <a:outerShdw blurRad="38100" dist="38100" dir="2700000" algn="tl">
                    <a:srgbClr val="000000"/>
                  </a:outerShdw>
                </a:effectLst>
                <a:latin typeface="+mj-lt"/>
                <a:ea typeface="楷体_GB2312" pitchFamily="49" charset="-122"/>
              </a:rPr>
              <a:t>对</a:t>
            </a:r>
            <a:r>
              <a:rPr lang="en-US" altLang="zh-CN" sz="3200" b="1" dirty="0" smtClean="0">
                <a:effectLst>
                  <a:outerShdw blurRad="38100" dist="38100" dir="2700000" algn="tl">
                    <a:srgbClr val="000000"/>
                  </a:outerShdw>
                </a:effectLst>
                <a:latin typeface="+mj-lt"/>
                <a:ea typeface="楷体_GB2312" pitchFamily="49" charset="-122"/>
              </a:rPr>
              <a:t>I/O</a:t>
            </a:r>
            <a:r>
              <a:rPr lang="zh-CN" altLang="en-US" sz="3200" b="1" dirty="0" smtClean="0">
                <a:effectLst>
                  <a:outerShdw blurRad="38100" dist="38100" dir="2700000" algn="tl">
                    <a:srgbClr val="000000"/>
                  </a:outerShdw>
                </a:effectLst>
                <a:latin typeface="+mj-lt"/>
                <a:ea typeface="楷体_GB2312" pitchFamily="49" charset="-122"/>
              </a:rPr>
              <a:t>的组织、管理。</a:t>
            </a:r>
          </a:p>
          <a:p>
            <a:pPr eaLnBrk="1" hangingPunct="1">
              <a:buClr>
                <a:srgbClr val="FFFF00"/>
              </a:buClr>
              <a:buFont typeface="Wingdings" panose="05000000000000000000" pitchFamily="2" charset="2"/>
              <a:buChar char="n"/>
              <a:defRPr/>
            </a:pPr>
            <a:r>
              <a:rPr lang="zh-CN" altLang="en-US" sz="3600" b="1" dirty="0" smtClean="0">
                <a:solidFill>
                  <a:srgbClr val="FFFF00"/>
                </a:solidFill>
                <a:effectLst>
                  <a:outerShdw blurRad="38100" dist="38100" dir="2700000" algn="tl">
                    <a:srgbClr val="000000"/>
                  </a:outerShdw>
                </a:effectLst>
                <a:latin typeface="+mj-lt"/>
                <a:ea typeface="楷体_GB2312" pitchFamily="49" charset="-122"/>
              </a:rPr>
              <a:t>通道</a:t>
            </a:r>
          </a:p>
          <a:p>
            <a:pPr lvl="1" eaLnBrk="1" hangingPunct="1">
              <a:buClr>
                <a:schemeClr val="tx1">
                  <a:lumMod val="90000"/>
                </a:schemeClr>
              </a:buClr>
              <a:buSzPct val="80000"/>
              <a:buFont typeface="Wingdings" panose="05000000000000000000" pitchFamily="2" charset="2"/>
              <a:buChar char="n"/>
              <a:defRPr/>
            </a:pPr>
            <a:r>
              <a:rPr lang="zh-CN" altLang="en-US" sz="3200" b="1" dirty="0" smtClean="0">
                <a:solidFill>
                  <a:srgbClr val="FFFF00"/>
                </a:solidFill>
                <a:effectLst>
                  <a:outerShdw blurRad="38100" dist="38100" dir="2700000" algn="tl">
                    <a:srgbClr val="000000"/>
                  </a:outerShdw>
                </a:effectLst>
                <a:latin typeface="+mj-lt"/>
                <a:ea typeface="楷体_GB2312" pitchFamily="49" charset="-122"/>
              </a:rPr>
              <a:t>一种特殊的执行</a:t>
            </a:r>
            <a:r>
              <a:rPr lang="en-US" altLang="zh-CN" sz="3200" b="1" dirty="0" smtClean="0">
                <a:solidFill>
                  <a:srgbClr val="FFFF00"/>
                </a:solidFill>
                <a:effectLst>
                  <a:outerShdw blurRad="38100" dist="38100" dir="2700000" algn="tl">
                    <a:srgbClr val="000000"/>
                  </a:outerShdw>
                </a:effectLst>
                <a:latin typeface="+mj-lt"/>
                <a:ea typeface="楷体_GB2312" pitchFamily="49" charset="-122"/>
              </a:rPr>
              <a:t>I/O</a:t>
            </a:r>
            <a:r>
              <a:rPr lang="zh-CN" altLang="en-US" sz="3200" b="1" dirty="0" smtClean="0">
                <a:solidFill>
                  <a:srgbClr val="FFFF00"/>
                </a:solidFill>
                <a:effectLst>
                  <a:outerShdw blurRad="38100" dist="38100" dir="2700000" algn="tl">
                    <a:srgbClr val="000000"/>
                  </a:outerShdw>
                </a:effectLst>
                <a:latin typeface="+mj-lt"/>
                <a:ea typeface="楷体_GB2312" pitchFamily="49" charset="-122"/>
              </a:rPr>
              <a:t>指令的处理机</a:t>
            </a:r>
            <a:r>
              <a:rPr lang="zh-CN" altLang="en-US" sz="3200" b="1" dirty="0" smtClean="0">
                <a:effectLst>
                  <a:outerShdw blurRad="38100" dist="38100" dir="2700000" algn="tl">
                    <a:srgbClr val="000000"/>
                  </a:outerShdw>
                </a:effectLst>
                <a:latin typeface="+mj-lt"/>
                <a:ea typeface="楷体_GB2312" pitchFamily="49" charset="-122"/>
              </a:rPr>
              <a:t>，控制设备与内存直接进行数据交换。</a:t>
            </a:r>
            <a:endParaRPr lang="zh-CN" altLang="en-US" sz="3200" b="1" dirty="0" smtClean="0">
              <a:latin typeface="+mj-lt"/>
              <a:ea typeface="楷体_GB2312" pitchFamily="49" charset="-122"/>
            </a:endParaRPr>
          </a:p>
          <a:p>
            <a:pPr lvl="1" eaLnBrk="1" hangingPunct="1">
              <a:buClr>
                <a:schemeClr val="tx1">
                  <a:lumMod val="90000"/>
                </a:schemeClr>
              </a:buClr>
              <a:buSzPct val="80000"/>
              <a:buFont typeface="Wingdings" panose="05000000000000000000" pitchFamily="2" charset="2"/>
              <a:buChar char="n"/>
              <a:defRPr/>
            </a:pPr>
            <a:r>
              <a:rPr lang="en-US" altLang="zh-CN" sz="3200" b="1" dirty="0" smtClean="0">
                <a:effectLst>
                  <a:outerShdw blurRad="38100" dist="38100" dir="2700000" algn="tl">
                    <a:srgbClr val="000000"/>
                  </a:outerShdw>
                </a:effectLst>
                <a:latin typeface="+mj-lt"/>
                <a:ea typeface="楷体_GB2312" pitchFamily="49" charset="-122"/>
              </a:rPr>
              <a:t>CPU</a:t>
            </a:r>
            <a:r>
              <a:rPr lang="zh-CN" altLang="en-US" sz="3200" b="1" dirty="0" smtClean="0">
                <a:effectLst>
                  <a:outerShdw blurRad="38100" dist="38100" dir="2700000" algn="tl">
                    <a:srgbClr val="000000"/>
                  </a:outerShdw>
                </a:effectLst>
                <a:latin typeface="+mj-lt"/>
                <a:ea typeface="楷体_GB2312" pitchFamily="49" charset="-122"/>
              </a:rPr>
              <a:t>只需发送</a:t>
            </a:r>
            <a:r>
              <a:rPr lang="en-US" altLang="zh-CN" sz="3200" b="1" dirty="0" smtClean="0">
                <a:effectLst>
                  <a:outerShdw blurRad="38100" dist="38100" dir="2700000" algn="tl">
                    <a:srgbClr val="000000"/>
                  </a:outerShdw>
                </a:effectLst>
                <a:latin typeface="+mj-lt"/>
                <a:ea typeface="楷体_GB2312" pitchFamily="49" charset="-122"/>
              </a:rPr>
              <a:t>I/O</a:t>
            </a:r>
            <a:r>
              <a:rPr lang="zh-CN" altLang="en-US" sz="3200" b="1" dirty="0" smtClean="0">
                <a:effectLst>
                  <a:outerShdw blurRad="38100" dist="38100" dir="2700000" algn="tl">
                    <a:srgbClr val="000000"/>
                  </a:outerShdw>
                </a:effectLst>
                <a:latin typeface="+mj-lt"/>
                <a:ea typeface="楷体_GB2312" pitchFamily="49" charset="-122"/>
              </a:rPr>
              <a:t>命令给通道，通道调用内存中的通道程序完成任务。</a:t>
            </a:r>
            <a:endParaRPr lang="en-US" altLang="zh-CN" sz="3200" b="1" dirty="0" smtClean="0">
              <a:effectLst>
                <a:outerShdw blurRad="38100" dist="38100" dir="2700000" algn="tl">
                  <a:srgbClr val="000000"/>
                </a:outerShdw>
              </a:effectLst>
              <a:latin typeface="+mj-lt"/>
              <a:ea typeface="楷体_GB2312" pitchFamily="49" charset="-122"/>
            </a:endParaRPr>
          </a:p>
          <a:p>
            <a:pPr lvl="1" eaLnBrk="1" hangingPunct="1">
              <a:buClr>
                <a:schemeClr val="tx1">
                  <a:lumMod val="90000"/>
                </a:schemeClr>
              </a:buClr>
              <a:buSzPct val="80000"/>
              <a:buFont typeface="Wingdings" panose="05000000000000000000" pitchFamily="2" charset="2"/>
              <a:buChar char="n"/>
              <a:defRPr/>
            </a:pPr>
            <a:r>
              <a:rPr lang="en-US" altLang="zh-CN" sz="3200" b="1" dirty="0">
                <a:effectLst>
                  <a:outerShdw blurRad="38100" dist="38100" dir="2700000" algn="tl">
                    <a:srgbClr val="000000"/>
                  </a:outerShdw>
                </a:effectLst>
                <a:latin typeface="+mj-lt"/>
                <a:ea typeface="楷体_GB2312" pitchFamily="49" charset="-122"/>
              </a:rPr>
              <a:t>CPU</a:t>
            </a:r>
            <a:r>
              <a:rPr lang="zh-CN" altLang="en-US" sz="3200" b="1" dirty="0">
                <a:effectLst>
                  <a:outerShdw blurRad="38100" dist="38100" dir="2700000" algn="tl">
                    <a:srgbClr val="000000"/>
                  </a:outerShdw>
                </a:effectLst>
                <a:latin typeface="+mj-lt"/>
                <a:ea typeface="楷体_GB2312" pitchFamily="49" charset="-122"/>
              </a:rPr>
              <a:t>只需给出通道程序首址、要访问</a:t>
            </a:r>
            <a:r>
              <a:rPr lang="en-US" altLang="zh-CN" sz="3200" b="1" dirty="0">
                <a:effectLst>
                  <a:outerShdw blurRad="38100" dist="38100" dir="2700000" algn="tl">
                    <a:srgbClr val="000000"/>
                  </a:outerShdw>
                </a:effectLst>
                <a:latin typeface="+mj-lt"/>
                <a:ea typeface="楷体_GB2312" pitchFamily="49" charset="-122"/>
              </a:rPr>
              <a:t>I/O</a:t>
            </a:r>
            <a:r>
              <a:rPr lang="zh-CN" altLang="en-US" sz="3200" b="1" dirty="0" smtClean="0">
                <a:effectLst>
                  <a:outerShdw blurRad="38100" dist="38100" dir="2700000" algn="tl">
                    <a:srgbClr val="000000"/>
                  </a:outerShdw>
                </a:effectLst>
                <a:latin typeface="+mj-lt"/>
                <a:ea typeface="楷体_GB2312" pitchFamily="49" charset="-122"/>
              </a:rPr>
              <a:t>设备，就</a:t>
            </a:r>
            <a:r>
              <a:rPr lang="zh-CN" altLang="en-US" sz="3200" b="1" dirty="0">
                <a:effectLst>
                  <a:outerShdw blurRad="38100" dist="38100" dir="2700000" algn="tl">
                    <a:srgbClr val="000000"/>
                  </a:outerShdw>
                </a:effectLst>
                <a:latin typeface="+mj-lt"/>
                <a:ea typeface="楷体_GB2312" pitchFamily="49" charset="-122"/>
              </a:rPr>
              <a:t>可完成一组块</a:t>
            </a:r>
            <a:r>
              <a:rPr lang="zh-CN" altLang="en-US" sz="3200" b="1" dirty="0" smtClean="0">
                <a:effectLst>
                  <a:outerShdw blurRad="38100" dist="38100" dir="2700000" algn="tl">
                    <a:srgbClr val="000000"/>
                  </a:outerShdw>
                </a:effectLst>
                <a:latin typeface="+mj-lt"/>
                <a:ea typeface="楷体_GB2312" pitchFamily="49" charset="-122"/>
              </a:rPr>
              <a:t>操作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95974"/>
                                        </p:tgtEl>
                                        <p:attrNameLst>
                                          <p:attrName>style.visibility</p:attrName>
                                        </p:attrNameLst>
                                      </p:cBhvr>
                                      <p:to>
                                        <p:strVal val="visible"/>
                                      </p:to>
                                    </p:set>
                                    <p:anim calcmode="lin" valueType="num">
                                      <p:cBhvr additive="base">
                                        <p:cTn id="7" dur="500" fill="hold"/>
                                        <p:tgtEl>
                                          <p:spTgt spid="595974"/>
                                        </p:tgtEl>
                                        <p:attrNameLst>
                                          <p:attrName>ppt_x</p:attrName>
                                        </p:attrNameLst>
                                      </p:cBhvr>
                                      <p:tavLst>
                                        <p:tav tm="0">
                                          <p:val>
                                            <p:strVal val="1+#ppt_w/2"/>
                                          </p:val>
                                        </p:tav>
                                        <p:tav tm="100000">
                                          <p:val>
                                            <p:strVal val="#ppt_x"/>
                                          </p:val>
                                        </p:tav>
                                      </p:tavLst>
                                    </p:anim>
                                    <p:anim calcmode="lin" valueType="num">
                                      <p:cBhvr additive="base">
                                        <p:cTn id="8" dur="500" fill="hold"/>
                                        <p:tgtEl>
                                          <p:spTgt spid="5959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0" y="1341438"/>
            <a:ext cx="9324975" cy="4608512"/>
          </a:xfrm>
        </p:spPr>
        <p:txBody>
          <a:bodyPr/>
          <a:lstStyle/>
          <a:p>
            <a:pPr eaLnBrk="1" hangingPunct="1">
              <a:buClr>
                <a:srgbClr val="FFFF00"/>
              </a:buClr>
              <a:buFont typeface="Wingdings" panose="05000000000000000000" pitchFamily="2" charset="2"/>
              <a:buChar char="n"/>
            </a:pPr>
            <a:r>
              <a:rPr lang="zh-CN" altLang="en-US" sz="3600" b="1" dirty="0" smtClean="0">
                <a:solidFill>
                  <a:srgbClr val="FFFF00"/>
                </a:solidFill>
                <a:ea typeface="楷体_GB2312" pitchFamily="49" charset="-122"/>
              </a:rPr>
              <a:t>缓冲的引入</a:t>
            </a:r>
          </a:p>
          <a:p>
            <a:pPr lvl="1" eaLnBrk="1" hangingPunct="1">
              <a:buClr>
                <a:schemeClr val="tx1">
                  <a:lumMod val="75000"/>
                </a:schemeClr>
              </a:buClr>
              <a:buSzPct val="80000"/>
              <a:buFont typeface="Wingdings" panose="05000000000000000000" pitchFamily="2" charset="2"/>
              <a:buChar char="n"/>
            </a:pPr>
            <a:r>
              <a:rPr lang="zh-CN" altLang="en-US" sz="3200" b="1" dirty="0" smtClean="0">
                <a:ea typeface="楷体_GB2312" pitchFamily="49" charset="-122"/>
              </a:rPr>
              <a:t>缓和</a:t>
            </a:r>
            <a:r>
              <a:rPr lang="en-US" altLang="zh-CN" sz="3200" b="1" dirty="0">
                <a:solidFill>
                  <a:srgbClr val="FFFF00"/>
                </a:solidFill>
                <a:ea typeface="楷体_GB2312" pitchFamily="49" charset="-122"/>
              </a:rPr>
              <a:t>I/O</a:t>
            </a:r>
            <a:r>
              <a:rPr lang="zh-CN" altLang="en-US" sz="3200" b="1" dirty="0" smtClean="0">
                <a:solidFill>
                  <a:srgbClr val="FFFF00"/>
                </a:solidFill>
                <a:ea typeface="楷体_GB2312" pitchFamily="49" charset="-122"/>
              </a:rPr>
              <a:t>设备与</a:t>
            </a:r>
            <a:r>
              <a:rPr lang="en-US" altLang="zh-CN" sz="3200" b="1" dirty="0" smtClean="0">
                <a:solidFill>
                  <a:srgbClr val="FFFF00"/>
                </a:solidFill>
                <a:ea typeface="楷体_GB2312" pitchFamily="49" charset="-122"/>
              </a:rPr>
              <a:t>CPU</a:t>
            </a:r>
            <a:r>
              <a:rPr lang="zh-CN" altLang="en-US" sz="3200" b="1" dirty="0" smtClean="0">
                <a:solidFill>
                  <a:srgbClr val="FFFF00"/>
                </a:solidFill>
                <a:ea typeface="楷体_GB2312" pitchFamily="49" charset="-122"/>
              </a:rPr>
              <a:t>间速度不匹配</a:t>
            </a:r>
            <a:r>
              <a:rPr lang="zh-CN" altLang="en-US" sz="3200" b="1" dirty="0" smtClean="0">
                <a:ea typeface="楷体_GB2312" pitchFamily="49" charset="-122"/>
              </a:rPr>
              <a:t>的矛盾。</a:t>
            </a:r>
          </a:p>
          <a:p>
            <a:pPr marL="457200" lvl="1" indent="0" eaLnBrk="1" hangingPunct="1">
              <a:buClr>
                <a:schemeClr val="tx1">
                  <a:lumMod val="75000"/>
                </a:schemeClr>
              </a:buClr>
              <a:buSzPct val="80000"/>
              <a:buNone/>
            </a:pPr>
            <a:r>
              <a:rPr lang="zh-CN" altLang="en-US" b="1" dirty="0" smtClean="0">
                <a:ea typeface="楷体_GB2312" pitchFamily="49" charset="-122"/>
              </a:rPr>
              <a:t>     如：计算</a:t>
            </a:r>
            <a:r>
              <a:rPr lang="en-US" altLang="zh-CN" b="1" dirty="0" smtClean="0">
                <a:ea typeface="楷体_GB2312" pitchFamily="49" charset="-122"/>
              </a:rPr>
              <a:t>—</a:t>
            </a:r>
            <a:r>
              <a:rPr lang="zh-CN" altLang="en-US" b="1" dirty="0" smtClean="0">
                <a:ea typeface="楷体_GB2312" pitchFamily="49" charset="-122"/>
              </a:rPr>
              <a:t>打印</a:t>
            </a:r>
            <a:r>
              <a:rPr lang="en-US" altLang="zh-CN" b="1" dirty="0" smtClean="0">
                <a:ea typeface="楷体_GB2312" pitchFamily="49" charset="-122"/>
              </a:rPr>
              <a:t>buffer—</a:t>
            </a:r>
            <a:r>
              <a:rPr lang="zh-CN" altLang="en-US" b="1" dirty="0" smtClean="0">
                <a:ea typeface="楷体_GB2312" pitchFamily="49" charset="-122"/>
              </a:rPr>
              <a:t>打印</a:t>
            </a:r>
          </a:p>
          <a:p>
            <a:pPr lvl="1" eaLnBrk="1" hangingPunct="1">
              <a:buClr>
                <a:schemeClr val="tx1">
                  <a:lumMod val="75000"/>
                </a:schemeClr>
              </a:buClr>
              <a:buSzPct val="80000"/>
              <a:buFont typeface="Wingdings" panose="05000000000000000000" pitchFamily="2" charset="2"/>
              <a:buChar char="n"/>
            </a:pPr>
            <a:r>
              <a:rPr lang="zh-CN" altLang="en-US" sz="3200" b="1" dirty="0" smtClean="0">
                <a:solidFill>
                  <a:srgbClr val="FFFF00"/>
                </a:solidFill>
                <a:ea typeface="楷体_GB2312" pitchFamily="49" charset="-122"/>
              </a:rPr>
              <a:t>减少对</a:t>
            </a:r>
            <a:r>
              <a:rPr lang="en-US" altLang="zh-CN" sz="3200" b="1" dirty="0" smtClean="0">
                <a:solidFill>
                  <a:srgbClr val="FFFF00"/>
                </a:solidFill>
                <a:ea typeface="楷体_GB2312" pitchFamily="49" charset="-122"/>
              </a:rPr>
              <a:t>CPU</a:t>
            </a:r>
            <a:r>
              <a:rPr lang="zh-CN" altLang="en-US" sz="3200" b="1" dirty="0" smtClean="0">
                <a:solidFill>
                  <a:srgbClr val="FFFF00"/>
                </a:solidFill>
                <a:ea typeface="楷体_GB2312" pitchFamily="49" charset="-122"/>
              </a:rPr>
              <a:t>的中断频率</a:t>
            </a:r>
            <a:r>
              <a:rPr lang="zh-CN" altLang="en-US" sz="3200" b="1" dirty="0" smtClean="0">
                <a:ea typeface="楷体_GB2312" pitchFamily="49" charset="-122"/>
              </a:rPr>
              <a:t>，放宽</a:t>
            </a:r>
            <a:r>
              <a:rPr lang="en-US" altLang="zh-CN" sz="3200" b="1" dirty="0" smtClean="0">
                <a:ea typeface="楷体_GB2312" pitchFamily="49" charset="-122"/>
              </a:rPr>
              <a:t>CPU</a:t>
            </a:r>
            <a:r>
              <a:rPr lang="zh-CN" altLang="en-US" sz="3200" b="1" dirty="0" smtClean="0">
                <a:ea typeface="楷体_GB2312" pitchFamily="49" charset="-122"/>
              </a:rPr>
              <a:t>对中断的响应时间。</a:t>
            </a:r>
            <a:r>
              <a:rPr lang="zh-CN" altLang="en-US" b="1" dirty="0" smtClean="0">
                <a:ea typeface="楷体_GB2312" pitchFamily="49" charset="-122"/>
              </a:rPr>
              <a:t>如：</a:t>
            </a:r>
            <a:r>
              <a:rPr lang="en-US" altLang="zh-CN" b="1" dirty="0" smtClean="0">
                <a:ea typeface="楷体_GB2312" pitchFamily="49" charset="-122"/>
              </a:rPr>
              <a:t>buffer</a:t>
            </a:r>
            <a:r>
              <a:rPr lang="zh-CN" altLang="en-US" b="1" dirty="0" smtClean="0">
                <a:ea typeface="楷体_GB2312" pitchFamily="49" charset="-122"/>
              </a:rPr>
              <a:t>越大，“</a:t>
            </a:r>
            <a:r>
              <a:rPr lang="en-US" altLang="zh-CN" b="1" dirty="0" smtClean="0">
                <a:ea typeface="楷体_GB2312" pitchFamily="49" charset="-122"/>
              </a:rPr>
              <a:t>buffer</a:t>
            </a:r>
            <a:r>
              <a:rPr lang="zh-CN" altLang="en-US" b="1" dirty="0" smtClean="0">
                <a:ea typeface="楷体_GB2312" pitchFamily="49" charset="-122"/>
              </a:rPr>
              <a:t>满”信号发生频率越低。</a:t>
            </a:r>
          </a:p>
          <a:p>
            <a:pPr lvl="1" eaLnBrk="1" hangingPunct="1">
              <a:buClr>
                <a:schemeClr val="tx1">
                  <a:lumMod val="75000"/>
                </a:schemeClr>
              </a:buClr>
              <a:buSzPct val="80000"/>
              <a:buFont typeface="Wingdings" panose="05000000000000000000" pitchFamily="2" charset="2"/>
              <a:buChar char="n"/>
            </a:pPr>
            <a:r>
              <a:rPr lang="zh-CN" altLang="en-US" sz="3200" b="1" dirty="0" smtClean="0">
                <a:solidFill>
                  <a:srgbClr val="FFFF00"/>
                </a:solidFill>
                <a:ea typeface="楷体_GB2312" pitchFamily="49" charset="-122"/>
              </a:rPr>
              <a:t>提高</a:t>
            </a:r>
            <a:r>
              <a:rPr lang="en-US" altLang="zh-CN" sz="3200" b="1" dirty="0" smtClean="0">
                <a:solidFill>
                  <a:srgbClr val="FFFF00"/>
                </a:solidFill>
                <a:ea typeface="楷体_GB2312" pitchFamily="49" charset="-122"/>
              </a:rPr>
              <a:t>CPU</a:t>
            </a:r>
            <a:r>
              <a:rPr lang="zh-CN" altLang="en-US" sz="3200" b="1" dirty="0" smtClean="0">
                <a:solidFill>
                  <a:srgbClr val="FFFF00"/>
                </a:solidFill>
                <a:ea typeface="楷体_GB2312" pitchFamily="49" charset="-122"/>
              </a:rPr>
              <a:t>和</a:t>
            </a:r>
            <a:r>
              <a:rPr lang="en-US" altLang="zh-CN" sz="3200" b="1" dirty="0" smtClean="0">
                <a:solidFill>
                  <a:srgbClr val="FFFF00"/>
                </a:solidFill>
                <a:ea typeface="楷体_GB2312" pitchFamily="49" charset="-122"/>
              </a:rPr>
              <a:t>I/O</a:t>
            </a:r>
            <a:r>
              <a:rPr lang="zh-CN" altLang="en-US" sz="3200" b="1" dirty="0" smtClean="0">
                <a:solidFill>
                  <a:srgbClr val="FFFF00"/>
                </a:solidFill>
                <a:ea typeface="楷体_GB2312" pitchFamily="49" charset="-122"/>
              </a:rPr>
              <a:t>并行性 </a:t>
            </a:r>
            <a:r>
              <a:rPr lang="zh-CN" altLang="en-US" sz="3200" b="1" dirty="0" smtClean="0">
                <a:ea typeface="楷体_GB2312" pitchFamily="49" charset="-122"/>
              </a:rPr>
              <a:t>，</a:t>
            </a:r>
            <a:r>
              <a:rPr lang="zh-CN" altLang="en-US" b="1" dirty="0" smtClean="0">
                <a:ea typeface="楷体_GB2312" pitchFamily="49" charset="-122"/>
              </a:rPr>
              <a:t>即解决</a:t>
            </a:r>
            <a:r>
              <a:rPr lang="en-US" altLang="zh-CN" b="1" dirty="0" smtClean="0">
                <a:ea typeface="楷体_GB2312" pitchFamily="49" charset="-122"/>
              </a:rPr>
              <a:t>DMA</a:t>
            </a:r>
            <a:r>
              <a:rPr lang="zh-CN" altLang="en-US" b="1" dirty="0" smtClean="0">
                <a:ea typeface="楷体_GB2312" pitchFamily="49" charset="-122"/>
              </a:rPr>
              <a:t>或通道方式的瓶颈问题</a:t>
            </a:r>
          </a:p>
        </p:txBody>
      </p:sp>
      <p:sp>
        <p:nvSpPr>
          <p:cNvPr id="605188" name="Rectangle 4"/>
          <p:cNvSpPr>
            <a:spLocks noChangeArrowheads="1"/>
          </p:cNvSpPr>
          <p:nvPr/>
        </p:nvSpPr>
        <p:spPr bwMode="auto">
          <a:xfrm>
            <a:off x="1857375" y="0"/>
            <a:ext cx="5545138" cy="811213"/>
          </a:xfrm>
          <a:prstGeom prst="rect">
            <a:avLst/>
          </a:prstGeom>
          <a:solidFill>
            <a:srgbClr val="CCFFCC"/>
          </a:solidFill>
          <a:ln w="12700" cap="sq">
            <a:noFill/>
            <a:miter lim="800000"/>
            <a:headEnd type="none" w="sm" len="sm"/>
            <a:tailEnd type="none" w="sm" len="sm"/>
          </a:ln>
          <a:effectLst/>
        </p:spPr>
        <p:txBody>
          <a:bodyPr anchor="ctr"/>
          <a:lstStyle/>
          <a:p>
            <a:pPr algn="ctr" eaLnBrk="1" hangingPunct="1">
              <a:defRPr/>
            </a:pPr>
            <a:r>
              <a:rPr lang="en-US" altLang="zh-CN" sz="4400" dirty="0" smtClean="0">
                <a:solidFill>
                  <a:srgbClr val="D60093"/>
                </a:solidFill>
                <a:effectLst>
                  <a:outerShdw blurRad="38100" dist="38100" dir="2700000" algn="tl">
                    <a:srgbClr val="000000"/>
                  </a:outerShdw>
                </a:effectLst>
                <a:latin typeface="+mj-lt"/>
                <a:ea typeface="隶书" pitchFamily="49" charset="-122"/>
              </a:rPr>
              <a:t>10.3 </a:t>
            </a:r>
            <a:r>
              <a:rPr lang="en-US" altLang="zh-CN" sz="4400" dirty="0" smtClean="0">
                <a:solidFill>
                  <a:srgbClr val="D60093"/>
                </a:solidFill>
                <a:effectLst>
                  <a:outerShdw blurRad="38100" dist="38100" dir="2700000" algn="tl">
                    <a:srgbClr val="000000"/>
                  </a:outerShdw>
                </a:effectLst>
                <a:latin typeface="隶书" pitchFamily="49" charset="-122"/>
                <a:ea typeface="隶书" pitchFamily="49" charset="-122"/>
              </a:rPr>
              <a:t> </a:t>
            </a:r>
            <a:r>
              <a:rPr lang="zh-CN" altLang="en-US" sz="4800" dirty="0">
                <a:solidFill>
                  <a:srgbClr val="D60093"/>
                </a:solidFill>
                <a:effectLst>
                  <a:outerShdw blurRad="38100" dist="38100" dir="2700000" algn="tl">
                    <a:srgbClr val="000000"/>
                  </a:outerShdw>
                </a:effectLst>
                <a:latin typeface="宋体" pitchFamily="2" charset="-122"/>
              </a:rPr>
              <a:t>缓冲技术</a:t>
            </a:r>
          </a:p>
        </p:txBody>
      </p:sp>
      <p:sp>
        <p:nvSpPr>
          <p:cNvPr id="605190" name="AutoShape 6">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05190"/>
                                        </p:tgtEl>
                                        <p:attrNameLst>
                                          <p:attrName>style.visibility</p:attrName>
                                        </p:attrNameLst>
                                      </p:cBhvr>
                                      <p:to>
                                        <p:strVal val="visible"/>
                                      </p:to>
                                    </p:set>
                                    <p:anim calcmode="lin" valueType="num">
                                      <p:cBhvr additive="base">
                                        <p:cTn id="7" dur="500" fill="hold"/>
                                        <p:tgtEl>
                                          <p:spTgt spid="605190"/>
                                        </p:tgtEl>
                                        <p:attrNameLst>
                                          <p:attrName>ppt_x</p:attrName>
                                        </p:attrNameLst>
                                      </p:cBhvr>
                                      <p:tavLst>
                                        <p:tav tm="0">
                                          <p:val>
                                            <p:strVal val="1+#ppt_w/2"/>
                                          </p:val>
                                        </p:tav>
                                        <p:tav tm="100000">
                                          <p:val>
                                            <p:strVal val="#ppt_x"/>
                                          </p:val>
                                        </p:tav>
                                      </p:tavLst>
                                    </p:anim>
                                    <p:anim calcmode="lin" valueType="num">
                                      <p:cBhvr additive="base">
                                        <p:cTn id="8" dur="500" fill="hold"/>
                                        <p:tgtEl>
                                          <p:spTgt spid="605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9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a:spLocks noChangeArrowheads="1"/>
          </p:cNvSpPr>
          <p:nvPr/>
        </p:nvSpPr>
        <p:spPr bwMode="auto">
          <a:xfrm>
            <a:off x="104078" y="1052736"/>
            <a:ext cx="8893175" cy="4176713"/>
          </a:xfrm>
          <a:prstGeom prst="rect">
            <a:avLst/>
          </a:prstGeom>
          <a:noFill/>
          <a:ln w="9525">
            <a:noFill/>
            <a:miter lim="800000"/>
            <a:headEnd/>
            <a:tailEnd/>
          </a:ln>
        </p:spPr>
        <p:txBody>
          <a:bodyPr/>
          <a:lstStyle/>
          <a:p>
            <a:pPr marL="342900" indent="-342900" eaLnBrk="1" hangingPunct="1">
              <a:lnSpc>
                <a:spcPct val="120000"/>
              </a:lnSpc>
              <a:spcBef>
                <a:spcPct val="20000"/>
              </a:spcBef>
              <a:buClr>
                <a:srgbClr val="FFFF00"/>
              </a:buClr>
              <a:buSzPct val="90000"/>
              <a:buFont typeface="Wingdings" panose="05000000000000000000" pitchFamily="2" charset="2"/>
              <a:buChar char="n"/>
              <a:defRPr/>
            </a:pPr>
            <a:r>
              <a:rPr lang="zh-CN" altLang="en-US" sz="3600" dirty="0">
                <a:solidFill>
                  <a:srgbClr val="FFFF00"/>
                </a:solidFill>
                <a:latin typeface="+mn-lt"/>
                <a:ea typeface="楷体_GB2312" pitchFamily="49" charset="-122"/>
              </a:rPr>
              <a:t>根据</a:t>
            </a:r>
            <a:r>
              <a:rPr lang="en-US" altLang="zh-CN" sz="3600" dirty="0">
                <a:solidFill>
                  <a:srgbClr val="FFFF00"/>
                </a:solidFill>
                <a:latin typeface="+mn-lt"/>
                <a:ea typeface="楷体_GB2312" pitchFamily="49" charset="-122"/>
              </a:rPr>
              <a:t>I/O</a:t>
            </a:r>
            <a:r>
              <a:rPr lang="zh-CN" altLang="en-US" sz="3600" dirty="0">
                <a:solidFill>
                  <a:srgbClr val="FFFF00"/>
                </a:solidFill>
                <a:latin typeface="+mn-lt"/>
                <a:ea typeface="楷体_GB2312" pitchFamily="49" charset="-122"/>
              </a:rPr>
              <a:t>控制方式</a:t>
            </a:r>
          </a:p>
          <a:p>
            <a:pPr marL="914400" lvl="1" indent="-457200" eaLnBrk="1" hangingPunct="1">
              <a:lnSpc>
                <a:spcPct val="120000"/>
              </a:lnSpc>
              <a:spcBef>
                <a:spcPct val="20000"/>
              </a:spcBef>
              <a:buClr>
                <a:srgbClr val="FFFF00"/>
              </a:buClr>
              <a:buSzPct val="80000"/>
              <a:buFont typeface="Wingdings" panose="05000000000000000000" pitchFamily="2" charset="2"/>
              <a:buChar char="n"/>
              <a:defRPr/>
            </a:pPr>
            <a:r>
              <a:rPr lang="zh-CN" altLang="en-US" sz="3200" dirty="0">
                <a:solidFill>
                  <a:srgbClr val="FFFF00"/>
                </a:solidFill>
                <a:latin typeface="楷体_GB2312" pitchFamily="49" charset="-122"/>
                <a:ea typeface="楷体_GB2312" pitchFamily="49" charset="-122"/>
              </a:rPr>
              <a:t>专用硬件缓冲器</a:t>
            </a:r>
          </a:p>
          <a:p>
            <a:pPr lvl="2" eaLnBrk="1" hangingPunct="1">
              <a:lnSpc>
                <a:spcPct val="120000"/>
              </a:lnSpc>
              <a:spcBef>
                <a:spcPct val="20000"/>
              </a:spcBef>
              <a:buClr>
                <a:schemeClr val="tx1"/>
              </a:buClr>
              <a:buSzPct val="50000"/>
              <a:defRPr/>
            </a:pPr>
            <a:r>
              <a:rPr lang="zh-CN" altLang="en-US" dirty="0">
                <a:latin typeface="楷体_GB2312" pitchFamily="49" charset="-122"/>
                <a:ea typeface="楷体_GB2312" pitchFamily="49" charset="-122"/>
              </a:rPr>
              <a:t>如</a:t>
            </a:r>
            <a:r>
              <a:rPr lang="en-US" altLang="zh-CN" dirty="0">
                <a:latin typeface="楷体_GB2312" pitchFamily="49" charset="-122"/>
                <a:ea typeface="楷体_GB2312" pitchFamily="49" charset="-122"/>
              </a:rPr>
              <a:t>I/O</a:t>
            </a:r>
            <a:r>
              <a:rPr lang="zh-CN" altLang="en-US" dirty="0">
                <a:latin typeface="楷体_GB2312" pitchFamily="49" charset="-122"/>
                <a:ea typeface="楷体_GB2312" pitchFamily="49" charset="-122"/>
              </a:rPr>
              <a:t>控制器中的数据缓冲寄存器。</a:t>
            </a:r>
          </a:p>
          <a:p>
            <a:pPr marL="914400" lvl="1" indent="-457200" eaLnBrk="1" hangingPunct="1">
              <a:lnSpc>
                <a:spcPct val="120000"/>
              </a:lnSpc>
              <a:spcBef>
                <a:spcPct val="20000"/>
              </a:spcBef>
              <a:buClr>
                <a:srgbClr val="FFFF00"/>
              </a:buClr>
              <a:buSzPct val="80000"/>
              <a:buFont typeface="Wingdings" panose="05000000000000000000" pitchFamily="2" charset="2"/>
              <a:buChar char="n"/>
              <a:defRPr/>
            </a:pPr>
            <a:r>
              <a:rPr lang="zh-CN" altLang="en-US" sz="3200" dirty="0">
                <a:solidFill>
                  <a:srgbClr val="FFFF00"/>
                </a:solidFill>
                <a:latin typeface="楷体_GB2312" pitchFamily="49" charset="-122"/>
                <a:ea typeface="楷体_GB2312" pitchFamily="49" charset="-122"/>
              </a:rPr>
              <a:t>软件缓冲</a:t>
            </a:r>
          </a:p>
          <a:p>
            <a:pPr lvl="2" eaLnBrk="1" hangingPunct="1">
              <a:lnSpc>
                <a:spcPct val="120000"/>
              </a:lnSpc>
              <a:spcBef>
                <a:spcPct val="20000"/>
              </a:spcBef>
              <a:buClr>
                <a:schemeClr val="tx1"/>
              </a:buClr>
              <a:buSzPct val="50000"/>
              <a:defRPr/>
            </a:pPr>
            <a:r>
              <a:rPr lang="zh-CN" altLang="en-US" dirty="0">
                <a:latin typeface="楷体_GB2312" pitchFamily="49" charset="-122"/>
                <a:ea typeface="楷体_GB2312" pitchFamily="49" charset="-122"/>
              </a:rPr>
              <a:t>在</a:t>
            </a:r>
            <a:r>
              <a:rPr lang="zh-CN" altLang="en-US" dirty="0">
                <a:solidFill>
                  <a:srgbClr val="FFFF00"/>
                </a:solidFill>
                <a:latin typeface="楷体_GB2312" pitchFamily="49" charset="-122"/>
                <a:ea typeface="楷体_GB2312" pitchFamily="49" charset="-122"/>
              </a:rPr>
              <a:t>内存</a:t>
            </a:r>
            <a:r>
              <a:rPr lang="zh-CN" altLang="en-US" dirty="0">
                <a:latin typeface="楷体_GB2312" pitchFamily="49" charset="-122"/>
                <a:ea typeface="楷体_GB2312" pitchFamily="49" charset="-122"/>
              </a:rPr>
              <a:t>划出一个具有</a:t>
            </a:r>
            <a:r>
              <a:rPr lang="en-US" altLang="zh-CN" dirty="0">
                <a:latin typeface="楷体_GB2312" pitchFamily="49" charset="-122"/>
                <a:ea typeface="楷体_GB2312" pitchFamily="49" charset="-122"/>
              </a:rPr>
              <a:t>n</a:t>
            </a:r>
            <a:r>
              <a:rPr lang="zh-CN" altLang="en-US" dirty="0">
                <a:latin typeface="楷体_GB2312" pitchFamily="49" charset="-122"/>
                <a:ea typeface="楷体_GB2312" pitchFamily="49" charset="-122"/>
              </a:rPr>
              <a:t>个单元的</a:t>
            </a:r>
            <a:r>
              <a:rPr lang="zh-CN" altLang="en-US" dirty="0">
                <a:solidFill>
                  <a:srgbClr val="FFFF00"/>
                </a:solidFill>
                <a:latin typeface="楷体_GB2312" pitchFamily="49" charset="-122"/>
                <a:ea typeface="楷体_GB2312" pitchFamily="49" charset="-122"/>
              </a:rPr>
              <a:t>专用缓冲区</a:t>
            </a:r>
            <a:r>
              <a:rPr lang="zh-CN" altLang="en-US" dirty="0">
                <a:latin typeface="楷体_GB2312" pitchFamily="49" charset="-122"/>
                <a:ea typeface="楷体_GB2312" pitchFamily="49" charset="-122"/>
              </a:rPr>
              <a:t>，存放输入输出的数据。</a:t>
            </a:r>
          </a:p>
        </p:txBody>
      </p:sp>
      <p:sp>
        <p:nvSpPr>
          <p:cNvPr id="43012" name="Rectangle 5"/>
          <p:cNvSpPr>
            <a:spLocks noChangeArrowheads="1"/>
          </p:cNvSpPr>
          <p:nvPr/>
        </p:nvSpPr>
        <p:spPr bwMode="auto">
          <a:xfrm>
            <a:off x="2555776" y="116632"/>
            <a:ext cx="43926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4000" dirty="0">
                <a:solidFill>
                  <a:schemeClr val="accent1"/>
                </a:solidFill>
                <a:effectLst>
                  <a:outerShdw blurRad="38100" dist="38100" dir="2700000" algn="tl">
                    <a:srgbClr val="000000">
                      <a:alpha val="43137"/>
                    </a:srgbClr>
                  </a:outerShdw>
                </a:effectLst>
                <a:ea typeface="楷体_GB2312" pitchFamily="49" charset="-122"/>
              </a:rPr>
              <a:t>缓冲的实现方法</a:t>
            </a:r>
          </a:p>
        </p:txBody>
      </p:sp>
      <p:sp>
        <p:nvSpPr>
          <p:cNvPr id="6" name="AutoShape 6">
            <a:hlinkClick r:id="rId2" action="ppaction://hlinksldjump" highlightClick="1"/>
          </p:cNvPr>
          <p:cNvSpPr>
            <a:spLocks noChangeArrowheads="1"/>
          </p:cNvSpPr>
          <p:nvPr/>
        </p:nvSpPr>
        <p:spPr bwMode="auto">
          <a:xfrm>
            <a:off x="8763000" y="6477000"/>
            <a:ext cx="381000" cy="381000"/>
          </a:xfrm>
          <a:prstGeom prst="actionButtonHome">
            <a:avLst/>
          </a:prstGeom>
          <a:solidFill>
            <a:srgbClr val="0000A8"/>
          </a:solidFill>
          <a:ln w="12700" cap="sq">
            <a:solidFill>
              <a:srgbClr val="0099FF"/>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179388" y="1338263"/>
            <a:ext cx="8893175" cy="4827587"/>
          </a:xfrm>
        </p:spPr>
        <p:txBody>
          <a:bodyPr/>
          <a:lstStyle/>
          <a:p>
            <a:pPr eaLnBrk="1" hangingPunct="1">
              <a:buSzTx/>
              <a:buFont typeface="Wingdings" panose="05000000000000000000" pitchFamily="2" charset="2"/>
              <a:buNone/>
            </a:pPr>
            <a:r>
              <a:rPr lang="en-US" altLang="zh-CN" sz="4000" b="1" dirty="0" smtClean="0">
                <a:solidFill>
                  <a:srgbClr val="FFFF00"/>
                </a:solidFill>
                <a:ea typeface="楷体_GB2312" pitchFamily="49" charset="-122"/>
              </a:rPr>
              <a:t>10.4.1  </a:t>
            </a:r>
            <a:r>
              <a:rPr lang="zh-CN" altLang="en-US" sz="4000" b="1" dirty="0" smtClean="0">
                <a:solidFill>
                  <a:srgbClr val="FFFF00"/>
                </a:solidFill>
                <a:ea typeface="楷体_GB2312" pitchFamily="49" charset="-122"/>
              </a:rPr>
              <a:t>设备分配用的数据结构</a:t>
            </a:r>
          </a:p>
          <a:p>
            <a:pPr lvl="1" eaLnBrk="1" hangingPunct="1">
              <a:buFont typeface="Wingdings" panose="05000000000000000000" pitchFamily="2" charset="2"/>
              <a:buNone/>
            </a:pPr>
            <a:r>
              <a:rPr lang="zh-CN" altLang="en-US" sz="3200" b="1" dirty="0" smtClean="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1</a:t>
            </a:r>
            <a:r>
              <a:rPr lang="zh-CN" altLang="en-US" sz="3200" b="1" dirty="0" smtClean="0">
                <a:latin typeface="楷体_GB2312" pitchFamily="49" charset="-122"/>
                <a:ea typeface="楷体_GB2312" pitchFamily="49" charset="-122"/>
              </a:rPr>
              <a:t>）设备控制表</a:t>
            </a:r>
            <a:r>
              <a:rPr lang="en-US" altLang="zh-CN" sz="3200" b="1" dirty="0" smtClean="0">
                <a:latin typeface="楷体_GB2312" pitchFamily="49" charset="-122"/>
                <a:ea typeface="楷体_GB2312" pitchFamily="49" charset="-122"/>
              </a:rPr>
              <a:t>DCT</a:t>
            </a:r>
            <a:r>
              <a:rPr lang="zh-CN" altLang="en-US" sz="3200" b="1" dirty="0" smtClean="0">
                <a:latin typeface="楷体_GB2312" pitchFamily="49" charset="-122"/>
                <a:ea typeface="楷体_GB2312" pitchFamily="49" charset="-122"/>
              </a:rPr>
              <a:t>；</a:t>
            </a:r>
          </a:p>
          <a:p>
            <a:pPr lvl="1" eaLnBrk="1" hangingPunct="1">
              <a:buFont typeface="Wingdings" panose="05000000000000000000" pitchFamily="2" charset="2"/>
              <a:buNone/>
            </a:pPr>
            <a:r>
              <a:rPr lang="zh-CN" altLang="en-US" sz="3200" b="1" dirty="0" smtClean="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2</a:t>
            </a:r>
            <a:r>
              <a:rPr lang="zh-CN" altLang="en-US" sz="3200" b="1" dirty="0" smtClean="0">
                <a:latin typeface="楷体_GB2312" pitchFamily="49" charset="-122"/>
                <a:ea typeface="楷体_GB2312" pitchFamily="49" charset="-122"/>
              </a:rPr>
              <a:t>）控制器控制表（</a:t>
            </a:r>
            <a:r>
              <a:rPr lang="en-US" altLang="zh-CN" sz="3200" b="1" dirty="0" smtClean="0">
                <a:latin typeface="楷体_GB2312" pitchFamily="49" charset="-122"/>
                <a:ea typeface="楷体_GB2312" pitchFamily="49" charset="-122"/>
              </a:rPr>
              <a:t>COCT</a:t>
            </a:r>
            <a:r>
              <a:rPr lang="zh-CN" altLang="en-US" sz="3200" b="1" dirty="0" smtClean="0">
                <a:latin typeface="楷体_GB2312" pitchFamily="49" charset="-122"/>
                <a:ea typeface="楷体_GB2312" pitchFamily="49" charset="-122"/>
              </a:rPr>
              <a:t>）；</a:t>
            </a:r>
          </a:p>
          <a:p>
            <a:pPr lvl="1" eaLnBrk="1" hangingPunct="1">
              <a:buFont typeface="Wingdings" panose="05000000000000000000" pitchFamily="2" charset="2"/>
              <a:buNone/>
            </a:pPr>
            <a:r>
              <a:rPr lang="zh-CN" altLang="en-US" sz="3200" b="1" dirty="0" smtClean="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3</a:t>
            </a:r>
            <a:r>
              <a:rPr lang="zh-CN" altLang="en-US" sz="3200" b="1" dirty="0" smtClean="0">
                <a:latin typeface="楷体_GB2312" pitchFamily="49" charset="-122"/>
                <a:ea typeface="楷体_GB2312" pitchFamily="49" charset="-122"/>
              </a:rPr>
              <a:t>）通道表（</a:t>
            </a:r>
            <a:r>
              <a:rPr lang="en-US" altLang="zh-CN" sz="3200" b="1" dirty="0" smtClean="0">
                <a:latin typeface="楷体_GB2312" pitchFamily="49" charset="-122"/>
                <a:ea typeface="楷体_GB2312" pitchFamily="49" charset="-122"/>
              </a:rPr>
              <a:t>CHCT</a:t>
            </a:r>
            <a:r>
              <a:rPr lang="zh-CN" altLang="en-US" sz="3200" b="1" dirty="0" smtClean="0">
                <a:latin typeface="楷体_GB2312" pitchFamily="49" charset="-122"/>
                <a:ea typeface="楷体_GB2312" pitchFamily="49" charset="-122"/>
              </a:rPr>
              <a:t>）；</a:t>
            </a:r>
          </a:p>
          <a:p>
            <a:pPr lvl="1" eaLnBrk="1" hangingPunct="1">
              <a:buFont typeface="Wingdings" panose="05000000000000000000" pitchFamily="2" charset="2"/>
              <a:buNone/>
            </a:pPr>
            <a:r>
              <a:rPr lang="zh-CN" altLang="en-US" sz="3200" b="1" dirty="0" smtClean="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4</a:t>
            </a:r>
            <a:r>
              <a:rPr lang="zh-CN" altLang="en-US" sz="3200" b="1" dirty="0" smtClean="0">
                <a:latin typeface="楷体_GB2312" pitchFamily="49" charset="-122"/>
                <a:ea typeface="楷体_GB2312" pitchFamily="49" charset="-122"/>
              </a:rPr>
              <a:t>）系统设备表（</a:t>
            </a:r>
            <a:r>
              <a:rPr lang="en-US" altLang="zh-CN" sz="3200" b="1" dirty="0" smtClean="0">
                <a:latin typeface="楷体_GB2312" pitchFamily="49" charset="-122"/>
                <a:ea typeface="楷体_GB2312" pitchFamily="49" charset="-122"/>
              </a:rPr>
              <a:t>SDT</a:t>
            </a:r>
            <a:r>
              <a:rPr lang="zh-CN" altLang="en-US" sz="3200" b="1" dirty="0" smtClean="0">
                <a:latin typeface="楷体_GB2312" pitchFamily="49" charset="-122"/>
                <a:ea typeface="楷体_GB2312" pitchFamily="49" charset="-122"/>
              </a:rPr>
              <a:t>）</a:t>
            </a:r>
            <a:r>
              <a:rPr lang="en-US" altLang="zh-CN" sz="3200" b="1" dirty="0" smtClean="0">
                <a:latin typeface="楷体_GB2312" pitchFamily="49" charset="-122"/>
                <a:ea typeface="楷体_GB2312" pitchFamily="49" charset="-122"/>
              </a:rPr>
              <a:t>:</a:t>
            </a:r>
          </a:p>
          <a:p>
            <a:pPr lvl="3" eaLnBrk="1" hangingPunct="1">
              <a:buFont typeface="Wingdings" panose="05000000000000000000" pitchFamily="2" charset="2"/>
              <a:buNone/>
            </a:pPr>
            <a:r>
              <a:rPr lang="en-US" altLang="zh-CN" sz="2400" b="1" dirty="0" smtClean="0">
                <a:latin typeface="楷体_GB2312" pitchFamily="49" charset="-122"/>
                <a:ea typeface="楷体_GB2312" pitchFamily="49" charset="-122"/>
              </a:rPr>
              <a:t> </a:t>
            </a:r>
            <a:r>
              <a:rPr lang="zh-CN" altLang="en-US" sz="2800" b="1" dirty="0" smtClean="0">
                <a:latin typeface="楷体_GB2312" pitchFamily="49" charset="-122"/>
                <a:ea typeface="楷体_GB2312" pitchFamily="49" charset="-122"/>
              </a:rPr>
              <a:t>记录了系统中全部设备及其驱动程序地址</a:t>
            </a:r>
            <a:r>
              <a:rPr lang="zh-CN" altLang="en-US" sz="2400" b="1" dirty="0" smtClean="0">
                <a:latin typeface="楷体_GB2312" pitchFamily="49" charset="-122"/>
                <a:ea typeface="楷体_GB2312" pitchFamily="49" charset="-122"/>
              </a:rPr>
              <a:t>。</a:t>
            </a:r>
          </a:p>
        </p:txBody>
      </p:sp>
      <p:sp>
        <p:nvSpPr>
          <p:cNvPr id="616452" name="Rectangle 4"/>
          <p:cNvSpPr>
            <a:spLocks noChangeArrowheads="1"/>
          </p:cNvSpPr>
          <p:nvPr/>
        </p:nvSpPr>
        <p:spPr bwMode="auto">
          <a:xfrm>
            <a:off x="1187450" y="188913"/>
            <a:ext cx="6481763" cy="892175"/>
          </a:xfrm>
          <a:prstGeom prst="rect">
            <a:avLst/>
          </a:prstGeom>
          <a:solidFill>
            <a:srgbClr val="CCFFCC"/>
          </a:solidFill>
          <a:ln w="12700" cap="sq">
            <a:noFill/>
            <a:miter lim="800000"/>
            <a:headEnd type="none" w="sm" len="sm"/>
            <a:tailEnd type="none" w="sm" len="sm"/>
          </a:ln>
          <a:effectLst/>
        </p:spPr>
        <p:txBody>
          <a:bodyPr anchor="ctr"/>
          <a:lstStyle/>
          <a:p>
            <a:pPr algn="ctr" eaLnBrk="1" hangingPunct="1">
              <a:defRPr/>
            </a:pPr>
            <a:r>
              <a:rPr lang="en-US" altLang="zh-CN" sz="4000" dirty="0" smtClean="0">
                <a:solidFill>
                  <a:srgbClr val="CC0066"/>
                </a:solidFill>
                <a:effectLst>
                  <a:outerShdw blurRad="38100" dist="38100" dir="2700000" algn="tl">
                    <a:srgbClr val="000000"/>
                  </a:outerShdw>
                </a:effectLst>
              </a:rPr>
              <a:t>10.4  </a:t>
            </a:r>
            <a:r>
              <a:rPr lang="zh-CN" altLang="en-US" sz="4000" dirty="0">
                <a:solidFill>
                  <a:srgbClr val="CC0066"/>
                </a:solidFill>
                <a:effectLst>
                  <a:outerShdw blurRad="38100" dist="38100" dir="2700000" algn="tl">
                    <a:srgbClr val="000000"/>
                  </a:outerShdw>
                </a:effectLst>
              </a:rPr>
              <a:t>设备分配</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2" name="Rectangle 4"/>
          <p:cNvSpPr>
            <a:spLocks noChangeArrowheads="1"/>
          </p:cNvSpPr>
          <p:nvPr/>
        </p:nvSpPr>
        <p:spPr bwMode="auto">
          <a:xfrm>
            <a:off x="34925" y="473075"/>
            <a:ext cx="9109075" cy="641350"/>
          </a:xfrm>
          <a:prstGeom prst="rect">
            <a:avLst/>
          </a:prstGeom>
          <a:noFill/>
          <a:ln w="12700" cap="sq">
            <a:noFill/>
            <a:miter lim="800000"/>
            <a:headEnd type="none" w="sm" len="sm"/>
            <a:tailEnd type="none" w="sm" len="sm"/>
          </a:ln>
          <a:effectLst/>
        </p:spPr>
        <p:txBody>
          <a:bodyPr>
            <a:spAutoFit/>
          </a:bodyPr>
          <a:lstStyle/>
          <a:p>
            <a:pPr eaLnBrk="1" hangingPunct="1">
              <a:defRPr/>
            </a:pPr>
            <a:r>
              <a:rPr lang="zh-CN" altLang="en-US" sz="3600" dirty="0">
                <a:solidFill>
                  <a:srgbClr val="FFFF00"/>
                </a:solidFill>
              </a:rPr>
              <a:t>设备分配和管理的数据结构</a:t>
            </a:r>
            <a:endParaRPr lang="zh-CN" altLang="en-US" sz="3600" dirty="0">
              <a:solidFill>
                <a:srgbClr val="FF9900"/>
              </a:solidFill>
              <a:effectLst>
                <a:outerShdw blurRad="38100" dist="38100" dir="2700000" algn="tl">
                  <a:srgbClr val="000000"/>
                </a:outerShdw>
              </a:effectLst>
              <a:latin typeface="楷体_GB2312" pitchFamily="49" charset="-122"/>
              <a:ea typeface="楷体_GB2312" pitchFamily="49" charset="-122"/>
            </a:endParaRPr>
          </a:p>
        </p:txBody>
      </p:sp>
      <p:sp>
        <p:nvSpPr>
          <p:cNvPr id="647173" name="AutoShape 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graphicFrame>
        <p:nvGraphicFramePr>
          <p:cNvPr id="647198" name="Group 30"/>
          <p:cNvGraphicFramePr>
            <a:graphicFrameLocks noGrp="1"/>
          </p:cNvGraphicFramePr>
          <p:nvPr>
            <p:ph idx="1"/>
          </p:nvPr>
        </p:nvGraphicFramePr>
        <p:xfrm>
          <a:off x="755650" y="1700213"/>
          <a:ext cx="7772400" cy="3816352"/>
        </p:xfrm>
        <a:graphic>
          <a:graphicData uri="http://schemas.openxmlformats.org/drawingml/2006/table">
            <a:tbl>
              <a:tblPr/>
              <a:tblGrid>
                <a:gridCol w="4321175">
                  <a:extLst>
                    <a:ext uri="{9D8B030D-6E8A-4147-A177-3AD203B41FA5}">
                      <a16:colId xmlns:a16="http://schemas.microsoft.com/office/drawing/2014/main" val="20000"/>
                    </a:ext>
                  </a:extLst>
                </a:gridCol>
                <a:gridCol w="3451225">
                  <a:extLst>
                    <a:ext uri="{9D8B030D-6E8A-4147-A177-3AD203B41FA5}">
                      <a16:colId xmlns:a16="http://schemas.microsoft.com/office/drawing/2014/main" val="20001"/>
                    </a:ext>
                  </a:extLst>
                </a:gridCol>
              </a:tblGrid>
              <a:tr h="954088">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zh-CN" altLang="en-US" sz="3200" b="1" i="0" u="none" strike="noStrike" cap="none" normalizeH="0" baseline="0" dirty="0" smtClean="0">
                          <a:ln>
                            <a:noFill/>
                          </a:ln>
                          <a:solidFill>
                            <a:srgbClr val="FFFF00"/>
                          </a:solidFill>
                          <a:effectLst/>
                          <a:latin typeface="+mj-lt"/>
                          <a:ea typeface="楷体_GB2312" pitchFamily="49" charset="-122"/>
                        </a:rPr>
                        <a:t>设备控制表（</a:t>
                      </a:r>
                      <a:r>
                        <a:rPr kumimoji="1" lang="en-US" altLang="zh-CN" sz="3200" b="1" i="0" u="none" strike="noStrike" cap="none" normalizeH="0" baseline="0" dirty="0" smtClean="0">
                          <a:ln>
                            <a:noFill/>
                          </a:ln>
                          <a:solidFill>
                            <a:srgbClr val="FFFF00"/>
                          </a:solidFill>
                          <a:effectLst/>
                          <a:latin typeface="+mj-lt"/>
                          <a:ea typeface="楷体_GB2312" pitchFamily="49" charset="-122"/>
                        </a:rPr>
                        <a:t>DCT</a:t>
                      </a:r>
                      <a:r>
                        <a:rPr kumimoji="1" lang="zh-CN" altLang="en-US" sz="3200" b="1" i="0" u="none" strike="noStrike" cap="none" normalizeH="0" baseline="0" dirty="0" smtClean="0">
                          <a:ln>
                            <a:noFill/>
                          </a:ln>
                          <a:solidFill>
                            <a:srgbClr val="FFFF00"/>
                          </a:solidFill>
                          <a:effectLst/>
                          <a:latin typeface="+mj-lt"/>
                          <a:ea typeface="楷体_GB2312" pitchFamily="49" charset="-122"/>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en-US" altLang="zh-CN" sz="3200" b="1" i="0" u="none" strike="noStrike" cap="none" normalizeH="0" baseline="0" smtClean="0">
                          <a:ln>
                            <a:noFill/>
                          </a:ln>
                          <a:solidFill>
                            <a:srgbClr val="E5FEFF"/>
                          </a:solidFill>
                          <a:effectLst/>
                          <a:latin typeface="+mj-lt"/>
                          <a:ea typeface="楷体_GB2312" pitchFamily="49" charset="-122"/>
                        </a:rPr>
                        <a:t> </a:t>
                      </a:r>
                      <a:r>
                        <a:rPr kumimoji="1" lang="zh-CN" altLang="en-US" sz="3200" b="1" i="0" u="none" strike="noStrike" cap="none" normalizeH="0" baseline="0" smtClean="0">
                          <a:ln>
                            <a:noFill/>
                          </a:ln>
                          <a:solidFill>
                            <a:srgbClr val="E5FEFF"/>
                          </a:solidFill>
                          <a:effectLst/>
                          <a:latin typeface="+mj-lt"/>
                          <a:ea typeface="楷体_GB2312" pitchFamily="49" charset="-122"/>
                        </a:rPr>
                        <a:t>每个设备一个</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954088">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zh-CN" altLang="en-US" sz="3200" b="1" i="0" u="none" strike="noStrike" cap="none" normalizeH="0" baseline="0" dirty="0" smtClean="0">
                          <a:ln>
                            <a:noFill/>
                          </a:ln>
                          <a:solidFill>
                            <a:srgbClr val="FFFF00"/>
                          </a:solidFill>
                          <a:effectLst/>
                          <a:latin typeface="+mj-lt"/>
                          <a:ea typeface="楷体_GB2312" pitchFamily="49" charset="-122"/>
                        </a:rPr>
                        <a:t>系统设备表（</a:t>
                      </a:r>
                      <a:r>
                        <a:rPr kumimoji="1" lang="en-US" altLang="zh-CN" sz="3200" b="1" i="0" u="none" strike="noStrike" cap="none" normalizeH="0" baseline="0" dirty="0" smtClean="0">
                          <a:ln>
                            <a:noFill/>
                          </a:ln>
                          <a:solidFill>
                            <a:srgbClr val="FFFF00"/>
                          </a:solidFill>
                          <a:effectLst/>
                          <a:latin typeface="+mj-lt"/>
                          <a:ea typeface="楷体_GB2312" pitchFamily="49" charset="-122"/>
                        </a:rPr>
                        <a:t>SDT</a:t>
                      </a:r>
                      <a:r>
                        <a:rPr kumimoji="1" lang="zh-CN" altLang="en-US" sz="3200" b="1" i="0" u="none" strike="noStrike" cap="none" normalizeH="0" baseline="0" dirty="0" smtClean="0">
                          <a:ln>
                            <a:noFill/>
                          </a:ln>
                          <a:solidFill>
                            <a:srgbClr val="FFFF00"/>
                          </a:solidFill>
                          <a:effectLst/>
                          <a:latin typeface="+mj-lt"/>
                          <a:ea typeface="楷体_GB2312" pitchFamily="49" charset="-122"/>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en-US" altLang="zh-CN" sz="3200" b="1" i="0" u="none" strike="noStrike" cap="none" normalizeH="0" baseline="0" smtClean="0">
                          <a:ln>
                            <a:noFill/>
                          </a:ln>
                          <a:solidFill>
                            <a:srgbClr val="E5FEFF"/>
                          </a:solidFill>
                          <a:effectLst/>
                          <a:latin typeface="+mj-lt"/>
                          <a:ea typeface="楷体_GB2312" pitchFamily="49" charset="-122"/>
                        </a:rPr>
                        <a:t> </a:t>
                      </a:r>
                      <a:r>
                        <a:rPr kumimoji="1" lang="zh-CN" altLang="en-US" sz="3200" b="1" i="0" u="none" strike="noStrike" cap="none" normalizeH="0" baseline="0" smtClean="0">
                          <a:ln>
                            <a:noFill/>
                          </a:ln>
                          <a:solidFill>
                            <a:srgbClr val="E5FEFF"/>
                          </a:solidFill>
                          <a:effectLst/>
                          <a:latin typeface="+mj-lt"/>
                          <a:ea typeface="楷体_GB2312" pitchFamily="49" charset="-122"/>
                        </a:rPr>
                        <a:t>整个系统一个</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954088">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zh-CN" altLang="en-US" sz="3200" b="1" i="0" u="none" strike="noStrike" cap="none" normalizeH="0" baseline="0" dirty="0" smtClean="0">
                          <a:ln>
                            <a:noFill/>
                          </a:ln>
                          <a:solidFill>
                            <a:srgbClr val="FFFF00"/>
                          </a:solidFill>
                          <a:effectLst/>
                          <a:latin typeface="+mj-lt"/>
                          <a:ea typeface="楷体_GB2312" pitchFamily="49" charset="-122"/>
                        </a:rPr>
                        <a:t>控制器表（</a:t>
                      </a:r>
                      <a:r>
                        <a:rPr kumimoji="1" lang="en-US" altLang="zh-CN" sz="3200" b="1" i="0" u="none" strike="noStrike" cap="none" normalizeH="0" baseline="0" dirty="0" smtClean="0">
                          <a:ln>
                            <a:noFill/>
                          </a:ln>
                          <a:solidFill>
                            <a:srgbClr val="FFFF00"/>
                          </a:solidFill>
                          <a:effectLst/>
                          <a:latin typeface="+mj-lt"/>
                          <a:ea typeface="楷体_GB2312" pitchFamily="49" charset="-122"/>
                        </a:rPr>
                        <a:t>COCT</a:t>
                      </a:r>
                      <a:r>
                        <a:rPr kumimoji="1" lang="zh-CN" altLang="en-US" sz="3200" b="1" i="0" u="none" strike="noStrike" cap="none" normalizeH="0" baseline="0" dirty="0" smtClean="0">
                          <a:ln>
                            <a:noFill/>
                          </a:ln>
                          <a:solidFill>
                            <a:srgbClr val="FFFF00"/>
                          </a:solidFill>
                          <a:effectLst/>
                          <a:latin typeface="+mj-lt"/>
                          <a:ea typeface="楷体_GB2312" pitchFamily="49" charset="-122"/>
                        </a:rPr>
                        <a: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en-US" altLang="zh-CN" sz="3200" b="1" i="0" u="none" strike="noStrike" cap="none" normalizeH="0" baseline="0" dirty="0" smtClean="0">
                          <a:ln>
                            <a:noFill/>
                          </a:ln>
                          <a:solidFill>
                            <a:srgbClr val="E5FEFF"/>
                          </a:solidFill>
                          <a:effectLst/>
                          <a:latin typeface="+mj-lt"/>
                          <a:ea typeface="楷体_GB2312" pitchFamily="49" charset="-122"/>
                        </a:rPr>
                        <a:t> </a:t>
                      </a:r>
                      <a:r>
                        <a:rPr kumimoji="1" lang="zh-CN" altLang="en-US" sz="3200" b="1" i="0" u="none" strike="noStrike" cap="none" normalizeH="0" baseline="0" dirty="0" smtClean="0">
                          <a:ln>
                            <a:noFill/>
                          </a:ln>
                          <a:solidFill>
                            <a:srgbClr val="E5FEFF"/>
                          </a:solidFill>
                          <a:effectLst/>
                          <a:latin typeface="+mj-lt"/>
                          <a:ea typeface="楷体_GB2312" pitchFamily="49" charset="-122"/>
                        </a:rPr>
                        <a:t>每个控制器一个</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954088">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zh-CN" altLang="en-US" sz="3200" b="1" i="0" u="none" strike="noStrike" kern="1200" cap="none" normalizeH="0" baseline="0" dirty="0" smtClean="0">
                          <a:ln>
                            <a:noFill/>
                          </a:ln>
                          <a:solidFill>
                            <a:srgbClr val="FFFF00"/>
                          </a:solidFill>
                          <a:effectLst/>
                          <a:latin typeface="+mj-lt"/>
                          <a:ea typeface="楷体_GB2312" pitchFamily="49" charset="-122"/>
                          <a:cs typeface="+mn-cs"/>
                        </a:rPr>
                        <a:t>通道控制表</a:t>
                      </a:r>
                      <a:r>
                        <a:rPr kumimoji="1" lang="en-US" altLang="zh-CN" sz="3200" b="1" i="0" u="none" strike="noStrike" kern="1200" cap="none" normalizeH="0" baseline="0" dirty="0" smtClean="0">
                          <a:ln>
                            <a:noFill/>
                          </a:ln>
                          <a:solidFill>
                            <a:srgbClr val="FFFF00"/>
                          </a:solidFill>
                          <a:effectLst/>
                          <a:latin typeface="+mj-lt"/>
                          <a:ea typeface="楷体_GB2312" pitchFamily="49" charset="-122"/>
                          <a:cs typeface="+mn-cs"/>
                        </a:rPr>
                        <a:t>(CHCT) </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1" lang="en-US" altLang="zh-CN" sz="3200" b="1" i="0" u="none" strike="noStrike" cap="none" normalizeH="0" baseline="0" dirty="0" smtClean="0">
                          <a:ln>
                            <a:noFill/>
                          </a:ln>
                          <a:solidFill>
                            <a:srgbClr val="E5FEFF"/>
                          </a:solidFill>
                          <a:effectLst/>
                          <a:latin typeface="+mj-lt"/>
                          <a:ea typeface="楷体_GB2312" pitchFamily="49" charset="-122"/>
                        </a:rPr>
                        <a:t> </a:t>
                      </a:r>
                      <a:r>
                        <a:rPr kumimoji="1" lang="zh-CN" altLang="en-US" sz="3200" b="1" i="0" u="none" strike="noStrike" cap="none" normalizeH="0" baseline="0" dirty="0" smtClean="0">
                          <a:ln>
                            <a:noFill/>
                          </a:ln>
                          <a:solidFill>
                            <a:srgbClr val="E5FEFF"/>
                          </a:solidFill>
                          <a:effectLst/>
                          <a:latin typeface="+mj-lt"/>
                          <a:ea typeface="楷体_GB2312" pitchFamily="49" charset="-122"/>
                        </a:rPr>
                        <a:t>每个通道一个</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47173"/>
                                        </p:tgtEl>
                                        <p:attrNameLst>
                                          <p:attrName>style.visibility</p:attrName>
                                        </p:attrNameLst>
                                      </p:cBhvr>
                                      <p:to>
                                        <p:strVal val="visible"/>
                                      </p:to>
                                    </p:set>
                                    <p:anim calcmode="lin" valueType="num">
                                      <p:cBhvr additive="base">
                                        <p:cTn id="7" dur="500" fill="hold"/>
                                        <p:tgtEl>
                                          <p:spTgt spid="647173"/>
                                        </p:tgtEl>
                                        <p:attrNameLst>
                                          <p:attrName>ppt_x</p:attrName>
                                        </p:attrNameLst>
                                      </p:cBhvr>
                                      <p:tavLst>
                                        <p:tav tm="0">
                                          <p:val>
                                            <p:strVal val="1+#ppt_w/2"/>
                                          </p:val>
                                        </p:tav>
                                        <p:tav tm="100000">
                                          <p:val>
                                            <p:strVal val="#ppt_x"/>
                                          </p:val>
                                        </p:tav>
                                      </p:tavLst>
                                    </p:anim>
                                    <p:anim calcmode="lin" valueType="num">
                                      <p:cBhvr additive="base">
                                        <p:cTn id="8" dur="500" fill="hold"/>
                                        <p:tgtEl>
                                          <p:spTgt spid="6471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4" descr="i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382588"/>
            <a:ext cx="8064500" cy="592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Rectangle 5"/>
          <p:cNvSpPr>
            <a:spLocks noChangeArrowheads="1"/>
          </p:cNvSpPr>
          <p:nvPr/>
        </p:nvSpPr>
        <p:spPr bwMode="auto">
          <a:xfrm>
            <a:off x="3132138" y="6400800"/>
            <a:ext cx="2352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400">
                <a:latin typeface="楷体_GB2312" pitchFamily="49" charset="-122"/>
                <a:ea typeface="楷体_GB2312" pitchFamily="49" charset="-122"/>
              </a:rPr>
              <a:t>图</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数据结构表</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8412EA21-FFCA-4BC0-BD1B-97132D63A688}" type="slidenum">
              <a:rPr kumimoji="0" lang="en-US" altLang="zh-CN" sz="1400" smtClean="0"/>
              <a:pPr>
                <a:spcBef>
                  <a:spcPct val="0"/>
                </a:spcBef>
                <a:buClrTx/>
                <a:buSzTx/>
                <a:buFontTx/>
                <a:buNone/>
              </a:pPr>
              <a:t>26</a:t>
            </a:fld>
            <a:endParaRPr kumimoji="0" lang="en-US" altLang="zh-CN" sz="1400" smtClean="0"/>
          </a:p>
        </p:txBody>
      </p:sp>
      <p:sp>
        <p:nvSpPr>
          <p:cNvPr id="53251" name="Rectangle 3"/>
          <p:cNvSpPr>
            <a:spLocks noGrp="1" noChangeArrowheads="1"/>
          </p:cNvSpPr>
          <p:nvPr>
            <p:ph type="body" idx="1"/>
          </p:nvPr>
        </p:nvSpPr>
        <p:spPr>
          <a:xfrm>
            <a:off x="273909" y="893763"/>
            <a:ext cx="8497887" cy="5545137"/>
          </a:xfrm>
        </p:spPr>
        <p:txBody>
          <a:bodyPr/>
          <a:lstStyle/>
          <a:p>
            <a:pPr eaLnBrk="1" hangingPunct="1">
              <a:lnSpc>
                <a:spcPct val="90000"/>
              </a:lnSpc>
              <a:buClr>
                <a:srgbClr val="FFFF00"/>
              </a:buClr>
              <a:buFont typeface="Wingdings" panose="05000000000000000000" pitchFamily="2" charset="2"/>
              <a:buChar char="n"/>
              <a:defRPr/>
            </a:pPr>
            <a:r>
              <a:rPr lang="zh-CN" altLang="en-US" sz="3600" b="1" dirty="0" smtClean="0">
                <a:solidFill>
                  <a:srgbClr val="FFFF00"/>
                </a:solidFill>
                <a:latin typeface="楷体_GB2312" pitchFamily="49" charset="-122"/>
                <a:ea typeface="楷体_GB2312" pitchFamily="49" charset="-122"/>
              </a:rPr>
              <a:t>设备分配的总原则</a:t>
            </a:r>
          </a:p>
          <a:p>
            <a:pPr lvl="1" eaLnBrk="1" hangingPunct="1">
              <a:lnSpc>
                <a:spcPct val="90000"/>
              </a:lnSpc>
              <a:buClr>
                <a:schemeClr val="tx1">
                  <a:lumMod val="90000"/>
                </a:schemeClr>
              </a:buClr>
              <a:buSzPct val="70000"/>
              <a:buFont typeface="Wingdings" panose="05000000000000000000" pitchFamily="2" charset="2"/>
              <a:buChar char="n"/>
              <a:defRPr/>
            </a:pPr>
            <a:r>
              <a:rPr lang="zh-CN" altLang="en-US" sz="2400" b="1" dirty="0" smtClean="0"/>
              <a:t> </a:t>
            </a:r>
            <a:r>
              <a:rPr lang="zh-CN" altLang="en-US" b="1" dirty="0" smtClean="0">
                <a:latin typeface="楷体_GB2312" pitchFamily="49" charset="-122"/>
                <a:ea typeface="楷体_GB2312" pitchFamily="49" charset="-122"/>
              </a:rPr>
              <a:t>充分发挥设备的使用效率；</a:t>
            </a:r>
          </a:p>
          <a:p>
            <a:pPr lvl="1" eaLnBrk="1" hangingPunct="1">
              <a:lnSpc>
                <a:spcPct val="90000"/>
              </a:lnSpc>
              <a:buClr>
                <a:schemeClr val="tx1">
                  <a:lumMod val="90000"/>
                </a:schemeClr>
              </a:buClr>
              <a:buSzPct val="70000"/>
              <a:buFont typeface="Wingdings" panose="05000000000000000000" pitchFamily="2" charset="2"/>
              <a:buChar char="n"/>
              <a:defRPr/>
            </a:pPr>
            <a:r>
              <a:rPr lang="zh-CN" altLang="en-US" b="1" dirty="0" smtClean="0">
                <a:latin typeface="楷体_GB2312" pitchFamily="49" charset="-122"/>
                <a:ea typeface="楷体_GB2312" pitchFamily="49" charset="-122"/>
              </a:rPr>
              <a:t> 尽可能的让设备忙；</a:t>
            </a:r>
          </a:p>
          <a:p>
            <a:pPr lvl="1" eaLnBrk="1" hangingPunct="1">
              <a:lnSpc>
                <a:spcPct val="90000"/>
              </a:lnSpc>
              <a:buClr>
                <a:schemeClr val="tx1">
                  <a:lumMod val="90000"/>
                </a:schemeClr>
              </a:buClr>
              <a:buSzPct val="70000"/>
              <a:buFont typeface="Wingdings" panose="05000000000000000000" pitchFamily="2" charset="2"/>
              <a:buChar char="n"/>
              <a:defRPr/>
            </a:pPr>
            <a:r>
              <a:rPr lang="zh-CN" altLang="en-US" b="1" dirty="0" smtClean="0">
                <a:latin typeface="楷体_GB2312" pitchFamily="49" charset="-122"/>
                <a:ea typeface="楷体_GB2312" pitchFamily="49" charset="-122"/>
              </a:rPr>
              <a:t> 尽量避免因不合理的分配方法造成的进程死锁；</a:t>
            </a:r>
          </a:p>
          <a:p>
            <a:pPr lvl="1" eaLnBrk="1" hangingPunct="1">
              <a:lnSpc>
                <a:spcPct val="90000"/>
              </a:lnSpc>
              <a:buClr>
                <a:schemeClr val="tx1">
                  <a:lumMod val="90000"/>
                </a:schemeClr>
              </a:buClr>
              <a:buSzPct val="70000"/>
              <a:buFont typeface="Wingdings" panose="05000000000000000000" pitchFamily="2" charset="2"/>
              <a:buChar char="n"/>
              <a:defRPr/>
            </a:pPr>
            <a:r>
              <a:rPr lang="zh-CN" altLang="en-US" b="1" dirty="0" smtClean="0">
                <a:latin typeface="楷体_GB2312" pitchFamily="49" charset="-122"/>
                <a:ea typeface="楷体_GB2312" pitchFamily="49" charset="-122"/>
              </a:rPr>
              <a:t> 使用户程序面对逻辑设备。</a:t>
            </a:r>
            <a:endParaRPr lang="zh-CN" altLang="en-US" b="1" dirty="0" smtClean="0">
              <a:solidFill>
                <a:srgbClr val="FFFF00"/>
              </a:solidFill>
              <a:latin typeface="楷体_GB2312" pitchFamily="49" charset="-122"/>
              <a:ea typeface="楷体_GB2312" pitchFamily="49" charset="-122"/>
            </a:endParaRPr>
          </a:p>
          <a:p>
            <a:pPr eaLnBrk="1" hangingPunct="1">
              <a:lnSpc>
                <a:spcPct val="90000"/>
              </a:lnSpc>
              <a:buFont typeface="Symbol" panose="05050102010706020507" pitchFamily="18" charset="2"/>
              <a:buNone/>
              <a:defRPr/>
            </a:pPr>
            <a:endParaRPr lang="zh-CN" altLang="en-US" b="1" dirty="0" smtClean="0">
              <a:solidFill>
                <a:srgbClr val="FFFF00"/>
              </a:solidFill>
              <a:latin typeface="楷体_GB2312" pitchFamily="49" charset="-122"/>
              <a:ea typeface="楷体_GB2312" pitchFamily="49" charset="-122"/>
            </a:endParaRPr>
          </a:p>
          <a:p>
            <a:pPr eaLnBrk="1" hangingPunct="1">
              <a:lnSpc>
                <a:spcPct val="90000"/>
              </a:lnSpc>
              <a:buClr>
                <a:srgbClr val="FFFF00"/>
              </a:buClr>
              <a:buFont typeface="Wingdings" panose="05000000000000000000" pitchFamily="2" charset="2"/>
              <a:buChar char="n"/>
              <a:defRPr/>
            </a:pPr>
            <a:r>
              <a:rPr lang="zh-CN" altLang="en-US" sz="3600" b="1" dirty="0">
                <a:solidFill>
                  <a:srgbClr val="FFFF00"/>
                </a:solidFill>
                <a:latin typeface="楷体_GB2312" pitchFamily="49" charset="-122"/>
                <a:ea typeface="楷体_GB2312" pitchFamily="49" charset="-122"/>
              </a:rPr>
              <a:t>设备分配策略</a:t>
            </a:r>
          </a:p>
          <a:p>
            <a:pPr lvl="1" eaLnBrk="1" hangingPunct="1">
              <a:lnSpc>
                <a:spcPct val="90000"/>
              </a:lnSpc>
              <a:buFontTx/>
              <a:buNone/>
              <a:defRPr/>
            </a:pPr>
            <a:r>
              <a:rPr lang="zh-CN" altLang="en-US" sz="3200" b="1" dirty="0" smtClean="0">
                <a:latin typeface="+mj-lt"/>
                <a:ea typeface="楷体_GB2312" pitchFamily="49" charset="-122"/>
              </a:rPr>
              <a:t>（</a:t>
            </a:r>
            <a:r>
              <a:rPr lang="en-US" altLang="zh-CN" sz="3200" b="1" dirty="0" smtClean="0">
                <a:latin typeface="+mj-lt"/>
                <a:ea typeface="楷体_GB2312" pitchFamily="49" charset="-122"/>
              </a:rPr>
              <a:t>1</a:t>
            </a:r>
            <a:r>
              <a:rPr lang="zh-CN" altLang="en-US" sz="3200" b="1" dirty="0" smtClean="0">
                <a:latin typeface="+mj-lt"/>
                <a:ea typeface="楷体_GB2312" pitchFamily="49" charset="-122"/>
              </a:rPr>
              <a:t>）</a:t>
            </a:r>
            <a:r>
              <a:rPr lang="en-US" altLang="zh-CN" sz="3200" b="1" dirty="0" smtClean="0">
                <a:latin typeface="+mj-lt"/>
                <a:ea typeface="楷体_GB2312" pitchFamily="49" charset="-122"/>
              </a:rPr>
              <a:t>FIFO</a:t>
            </a:r>
          </a:p>
          <a:p>
            <a:pPr lvl="1" eaLnBrk="1" hangingPunct="1">
              <a:lnSpc>
                <a:spcPct val="90000"/>
              </a:lnSpc>
              <a:buFontTx/>
              <a:buNone/>
              <a:defRPr/>
            </a:pPr>
            <a:r>
              <a:rPr lang="zh-CN" altLang="en-US" sz="3200" b="1" dirty="0" smtClean="0">
                <a:latin typeface="+mj-lt"/>
                <a:ea typeface="楷体_GB2312" pitchFamily="49" charset="-122"/>
              </a:rPr>
              <a:t>（</a:t>
            </a:r>
            <a:r>
              <a:rPr lang="en-US" altLang="zh-CN" sz="3200" b="1" dirty="0" smtClean="0">
                <a:latin typeface="+mj-lt"/>
                <a:ea typeface="楷体_GB2312" pitchFamily="49" charset="-122"/>
              </a:rPr>
              <a:t>2</a:t>
            </a:r>
            <a:r>
              <a:rPr lang="zh-CN" altLang="en-US" sz="3200" b="1" dirty="0" smtClean="0">
                <a:latin typeface="+mj-lt"/>
                <a:ea typeface="楷体_GB2312" pitchFamily="49" charset="-122"/>
              </a:rPr>
              <a:t>）优先权</a:t>
            </a:r>
          </a:p>
        </p:txBody>
      </p:sp>
      <p:sp>
        <p:nvSpPr>
          <p:cNvPr id="619524" name="AutoShape 4">
            <a:hlinkClick r:id="rId2" action="ppaction://hlinksldjump" highlightClick="1"/>
          </p:cNvPr>
          <p:cNvSpPr>
            <a:spLocks noChangeArrowheads="1"/>
          </p:cNvSpPr>
          <p:nvPr/>
        </p:nvSpPr>
        <p:spPr bwMode="auto">
          <a:xfrm>
            <a:off x="8763000" y="6477000"/>
            <a:ext cx="381000" cy="381000"/>
          </a:xfrm>
          <a:prstGeom prst="actionButtonHome">
            <a:avLst/>
          </a:prstGeom>
          <a:solidFill>
            <a:srgbClr val="0000A8"/>
          </a:solidFill>
          <a:ln w="12700" cap="sq">
            <a:solidFill>
              <a:srgbClr val="0099FF"/>
            </a:solid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 name="Rectangle 2"/>
          <p:cNvSpPr>
            <a:spLocks noGrp="1" noChangeArrowheads="1"/>
          </p:cNvSpPr>
          <p:nvPr>
            <p:ph type="title"/>
          </p:nvPr>
        </p:nvSpPr>
        <p:spPr>
          <a:xfrm>
            <a:off x="1692275" y="0"/>
            <a:ext cx="6376988" cy="747713"/>
          </a:xfrm>
        </p:spPr>
        <p:txBody>
          <a:bodyPr/>
          <a:lstStyle/>
          <a:p>
            <a:pPr eaLnBrk="1" hangingPunct="1"/>
            <a:r>
              <a:rPr lang="en-US" altLang="zh-CN" sz="4000" b="1" dirty="0" smtClean="0">
                <a:solidFill>
                  <a:srgbClr val="FFFF00"/>
                </a:solidFill>
                <a:ea typeface="楷体_GB2312" pitchFamily="49" charset="-122"/>
              </a:rPr>
              <a:t>10.4.2  </a:t>
            </a:r>
            <a:r>
              <a:rPr lang="zh-CN" altLang="en-US" sz="4000" b="1" dirty="0" smtClean="0">
                <a:solidFill>
                  <a:srgbClr val="FFFF00"/>
                </a:solidFill>
                <a:ea typeface="楷体_GB2312" pitchFamily="49" charset="-122"/>
              </a:rPr>
              <a:t>设备分配的原则</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19524"/>
                                        </p:tgtEl>
                                        <p:attrNameLst>
                                          <p:attrName>style.visibility</p:attrName>
                                        </p:attrNameLst>
                                      </p:cBhvr>
                                      <p:to>
                                        <p:strVal val="visible"/>
                                      </p:to>
                                    </p:set>
                                    <p:anim calcmode="lin" valueType="num">
                                      <p:cBhvr additive="base">
                                        <p:cTn id="7" dur="500" fill="hold"/>
                                        <p:tgtEl>
                                          <p:spTgt spid="619524"/>
                                        </p:tgtEl>
                                        <p:attrNameLst>
                                          <p:attrName>ppt_x</p:attrName>
                                        </p:attrNameLst>
                                      </p:cBhvr>
                                      <p:tavLst>
                                        <p:tav tm="0">
                                          <p:val>
                                            <p:strVal val="0-#ppt_w/2"/>
                                          </p:val>
                                        </p:tav>
                                        <p:tav tm="100000">
                                          <p:val>
                                            <p:strVal val="#ppt_x"/>
                                          </p:val>
                                        </p:tav>
                                      </p:tavLst>
                                    </p:anim>
                                    <p:anim calcmode="lin" valueType="num">
                                      <p:cBhvr additive="base">
                                        <p:cTn id="8" dur="500" fill="hold"/>
                                        <p:tgtEl>
                                          <p:spTgt spid="6195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94" name="Rectangle 46"/>
          <p:cNvSpPr>
            <a:spLocks noChangeArrowheads="1"/>
          </p:cNvSpPr>
          <p:nvPr/>
        </p:nvSpPr>
        <p:spPr bwMode="auto">
          <a:xfrm>
            <a:off x="1908175" y="115888"/>
            <a:ext cx="4968875" cy="692150"/>
          </a:xfrm>
          <a:prstGeom prst="rect">
            <a:avLst/>
          </a:prstGeom>
          <a:solidFill>
            <a:srgbClr val="CCFFCC"/>
          </a:solidFill>
          <a:ln w="12700" cap="sq">
            <a:noFill/>
            <a:miter lim="800000"/>
            <a:headEnd type="none" w="sm" len="sm"/>
            <a:tailEnd type="none" w="sm" len="sm"/>
          </a:ln>
          <a:effectLst/>
        </p:spPr>
        <p:txBody>
          <a:bodyPr anchor="ctr"/>
          <a:lstStyle/>
          <a:p>
            <a:pPr algn="ctr" eaLnBrk="1" hangingPunct="1">
              <a:defRPr/>
            </a:pPr>
            <a:r>
              <a:rPr lang="en-US" altLang="zh-CN" sz="4000" dirty="0" smtClean="0">
                <a:solidFill>
                  <a:srgbClr val="D60093"/>
                </a:solidFill>
                <a:effectLst>
                  <a:outerShdw blurRad="38100" dist="38100" dir="2700000" algn="tl">
                    <a:srgbClr val="000000"/>
                  </a:outerShdw>
                </a:effectLst>
                <a:ea typeface="隶书" pitchFamily="49" charset="-122"/>
              </a:rPr>
              <a:t>10.5  </a:t>
            </a:r>
            <a:r>
              <a:rPr lang="zh-CN" altLang="en-US" sz="4000" dirty="0">
                <a:solidFill>
                  <a:srgbClr val="D60093"/>
                </a:solidFill>
                <a:effectLst>
                  <a:outerShdw blurRad="38100" dist="38100" dir="2700000" algn="tl">
                    <a:srgbClr val="000000"/>
                  </a:outerShdw>
                </a:effectLst>
                <a:ea typeface="隶书" pitchFamily="49" charset="-122"/>
              </a:rPr>
              <a:t>磁盘的调度</a:t>
            </a:r>
          </a:p>
        </p:txBody>
      </p:sp>
      <p:sp>
        <p:nvSpPr>
          <p:cNvPr id="667703" name="AutoShape 5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4" name="Rectangle 1026"/>
          <p:cNvSpPr>
            <a:spLocks noChangeArrowheads="1"/>
          </p:cNvSpPr>
          <p:nvPr/>
        </p:nvSpPr>
        <p:spPr bwMode="auto">
          <a:xfrm>
            <a:off x="125370" y="980728"/>
            <a:ext cx="8822184"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8925" indent="-288925">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6125" indent="-288925">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0"/>
              </a:spcBef>
              <a:buClr>
                <a:srgbClr val="FFFF66"/>
              </a:buClr>
              <a:buSzPct val="70000"/>
              <a:buFont typeface="Wingdings" panose="05000000000000000000" pitchFamily="2" charset="2"/>
              <a:buChar char="n"/>
            </a:pPr>
            <a:r>
              <a:rPr lang="zh-CN" altLang="en-US" dirty="0">
                <a:solidFill>
                  <a:srgbClr val="FFFF00"/>
                </a:solidFill>
                <a:ea typeface="黑体" panose="02010609060101010101" pitchFamily="49" charset="-122"/>
              </a:rPr>
              <a:t>磁道</a:t>
            </a:r>
            <a:r>
              <a:rPr lang="zh-CN" altLang="en-US" dirty="0"/>
              <a:t>：当传动装置固定在某个位置时，若盘面旋转一圈，磁头所能访问的圆环区域；</a:t>
            </a:r>
          </a:p>
          <a:p>
            <a:pPr eaLnBrk="1" hangingPunct="1">
              <a:spcBef>
                <a:spcPts val="0"/>
              </a:spcBef>
              <a:buClr>
                <a:srgbClr val="FFFF66"/>
              </a:buClr>
              <a:buSzPct val="70000"/>
              <a:buFont typeface="Wingdings" panose="05000000000000000000" pitchFamily="2" charset="2"/>
              <a:buChar char="n"/>
            </a:pPr>
            <a:r>
              <a:rPr lang="zh-CN" altLang="en-US" dirty="0">
                <a:solidFill>
                  <a:srgbClr val="FFFF00"/>
                </a:solidFill>
                <a:ea typeface="黑体" panose="02010609060101010101" pitchFamily="49" charset="-122"/>
              </a:rPr>
              <a:t>柱面</a:t>
            </a:r>
            <a:r>
              <a:rPr lang="zh-CN" altLang="en-US" dirty="0"/>
              <a:t>：在所有盘面上，半径相同的所有磁道即组成一个柱面；</a:t>
            </a:r>
          </a:p>
          <a:p>
            <a:pPr eaLnBrk="1" hangingPunct="1">
              <a:spcBef>
                <a:spcPts val="0"/>
              </a:spcBef>
              <a:buClr>
                <a:srgbClr val="FFFF66"/>
              </a:buClr>
              <a:buSzPct val="70000"/>
              <a:buFont typeface="Wingdings" panose="05000000000000000000" pitchFamily="2" charset="2"/>
              <a:buChar char="n"/>
            </a:pPr>
            <a:r>
              <a:rPr lang="zh-CN" altLang="en-US" dirty="0">
                <a:solidFill>
                  <a:srgbClr val="FFFF00"/>
                </a:solidFill>
                <a:ea typeface="黑体" panose="02010609060101010101" pitchFamily="49" charset="-122"/>
              </a:rPr>
              <a:t>扇区</a:t>
            </a:r>
            <a:r>
              <a:rPr lang="zh-CN" altLang="en-US" dirty="0"/>
              <a:t>：每一个磁道被划分为若干个扇区；</a:t>
            </a:r>
          </a:p>
          <a:p>
            <a:pPr eaLnBrk="1" hangingPunct="1">
              <a:spcBef>
                <a:spcPts val="0"/>
              </a:spcBef>
              <a:buClr>
                <a:srgbClr val="FFFF66"/>
              </a:buClr>
              <a:buSzPct val="70000"/>
              <a:buFont typeface="Wingdings" panose="05000000000000000000" pitchFamily="2" charset="2"/>
              <a:buChar char="n"/>
            </a:pPr>
            <a:r>
              <a:rPr lang="zh-CN" altLang="en-US" dirty="0">
                <a:solidFill>
                  <a:srgbClr val="FFFF00"/>
                </a:solidFill>
                <a:ea typeface="黑体" panose="02010609060101010101" pitchFamily="49" charset="-122"/>
              </a:rPr>
              <a:t>磁盘的访问过程</a:t>
            </a:r>
            <a:r>
              <a:rPr lang="zh-CN" altLang="en-US" dirty="0"/>
              <a:t>：以</a:t>
            </a:r>
            <a:r>
              <a:rPr lang="zh-CN" altLang="en-US" dirty="0">
                <a:solidFill>
                  <a:srgbClr val="FFFF00"/>
                </a:solidFill>
              </a:rPr>
              <a:t>扇区为最小的寻址和存取单位</a:t>
            </a:r>
            <a:r>
              <a:rPr lang="zh-CN" altLang="en-US" dirty="0"/>
              <a:t>。</a:t>
            </a:r>
            <a:endParaRPr lang="en-US" altLang="zh-CN" dirty="0"/>
          </a:p>
          <a:p>
            <a:pPr lvl="1" eaLnBrk="1" hangingPunct="1">
              <a:spcBef>
                <a:spcPts val="0"/>
              </a:spcBef>
              <a:buClr>
                <a:schemeClr val="tx1">
                  <a:lumMod val="90000"/>
                </a:schemeClr>
              </a:buClr>
              <a:buSzPct val="70000"/>
              <a:buFont typeface="Wingdings" panose="05000000000000000000" pitchFamily="2" charset="2"/>
              <a:buChar char="n"/>
            </a:pPr>
            <a:r>
              <a:rPr lang="zh-CN" altLang="en-US" dirty="0" smtClean="0"/>
              <a:t>移动磁头</a:t>
            </a:r>
            <a:r>
              <a:rPr lang="zh-CN" altLang="en-US" dirty="0"/>
              <a:t>，定位正确的</a:t>
            </a:r>
            <a:r>
              <a:rPr lang="zh-CN" altLang="en-US" dirty="0">
                <a:solidFill>
                  <a:srgbClr val="FFFF00"/>
                </a:solidFill>
              </a:rPr>
              <a:t>柱面</a:t>
            </a:r>
            <a:r>
              <a:rPr lang="zh-CN" altLang="en-US" dirty="0"/>
              <a:t>。</a:t>
            </a:r>
            <a:endParaRPr lang="en-US" altLang="zh-CN" dirty="0"/>
          </a:p>
          <a:p>
            <a:pPr lvl="1" eaLnBrk="1" hangingPunct="1">
              <a:spcBef>
                <a:spcPts val="0"/>
              </a:spcBef>
              <a:buClr>
                <a:schemeClr val="tx1">
                  <a:lumMod val="90000"/>
                </a:schemeClr>
              </a:buClr>
              <a:buSzPct val="70000"/>
              <a:buFont typeface="Wingdings" panose="05000000000000000000" pitchFamily="2" charset="2"/>
              <a:buChar char="n"/>
            </a:pPr>
            <a:r>
              <a:rPr lang="zh-CN" altLang="en-US" dirty="0"/>
              <a:t>选中相应的</a:t>
            </a:r>
            <a:r>
              <a:rPr lang="zh-CN" altLang="en-US" dirty="0">
                <a:solidFill>
                  <a:srgbClr val="FFFF00"/>
                </a:solidFill>
              </a:rPr>
              <a:t>磁头</a:t>
            </a:r>
            <a:r>
              <a:rPr lang="zh-CN" altLang="en-US" dirty="0"/>
              <a:t>，想要的扇区正好路过这个磁头正下方的时候，对它进行</a:t>
            </a:r>
            <a:r>
              <a:rPr lang="zh-CN" altLang="en-US" dirty="0">
                <a:solidFill>
                  <a:srgbClr val="FFFF00"/>
                </a:solidFill>
              </a:rPr>
              <a:t>访问</a:t>
            </a:r>
            <a:r>
              <a:rPr lang="zh-CN" altLang="en-US"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67703"/>
                                        </p:tgtEl>
                                        <p:attrNameLst>
                                          <p:attrName>style.visibility</p:attrName>
                                        </p:attrNameLst>
                                      </p:cBhvr>
                                      <p:to>
                                        <p:strVal val="visible"/>
                                      </p:to>
                                    </p:set>
                                    <p:anim calcmode="lin" valueType="num">
                                      <p:cBhvr additive="base">
                                        <p:cTn id="7" dur="500" fill="hold"/>
                                        <p:tgtEl>
                                          <p:spTgt spid="667703"/>
                                        </p:tgtEl>
                                        <p:attrNameLst>
                                          <p:attrName>ppt_x</p:attrName>
                                        </p:attrNameLst>
                                      </p:cBhvr>
                                      <p:tavLst>
                                        <p:tav tm="0">
                                          <p:val>
                                            <p:strVal val="1+#ppt_w/2"/>
                                          </p:val>
                                        </p:tav>
                                        <p:tav tm="100000">
                                          <p:val>
                                            <p:strVal val="#ppt_x"/>
                                          </p:val>
                                        </p:tav>
                                      </p:tavLst>
                                    </p:anim>
                                    <p:anim calcmode="lin" valueType="num">
                                      <p:cBhvr additive="base">
                                        <p:cTn id="8" dur="500" fill="hold"/>
                                        <p:tgtEl>
                                          <p:spTgt spid="6677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70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7" name="组合 4"/>
          <p:cNvGrpSpPr>
            <a:grpSpLocks/>
          </p:cNvGrpSpPr>
          <p:nvPr/>
        </p:nvGrpSpPr>
        <p:grpSpPr bwMode="auto">
          <a:xfrm>
            <a:off x="919163" y="333375"/>
            <a:ext cx="7405687" cy="6411913"/>
            <a:chOff x="892175" y="446088"/>
            <a:chExt cx="7405688" cy="6411912"/>
          </a:xfrm>
        </p:grpSpPr>
        <p:graphicFrame>
          <p:nvGraphicFramePr>
            <p:cNvPr id="57348" name="Object 0"/>
            <p:cNvGraphicFramePr>
              <a:graphicFrameLocks noChangeAspect="1"/>
            </p:cNvGraphicFramePr>
            <p:nvPr/>
          </p:nvGraphicFramePr>
          <p:xfrm>
            <a:off x="892175" y="446088"/>
            <a:ext cx="7405688" cy="6411912"/>
          </p:xfrm>
          <a:graphic>
            <a:graphicData uri="http://schemas.openxmlformats.org/presentationml/2006/ole">
              <mc:AlternateContent xmlns:mc="http://schemas.openxmlformats.org/markup-compatibility/2006">
                <mc:Choice xmlns:v="urn:schemas-microsoft-com:vml" Requires="v">
                  <p:oleObj spid="_x0000_s57417" name="位图图像" r:id="rId3" imgW="5571429" imgH="5582429" progId="Paint.Picture">
                    <p:embed/>
                  </p:oleObj>
                </mc:Choice>
                <mc:Fallback>
                  <p:oleObj name="位图图像" r:id="rId3" imgW="5571429" imgH="5582429" progId="Paint.Picture">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175" y="446088"/>
                          <a:ext cx="7405688" cy="641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9" name="Text Box 3"/>
            <p:cNvSpPr txBox="1">
              <a:spLocks noChangeArrowheads="1"/>
            </p:cNvSpPr>
            <p:nvPr/>
          </p:nvSpPr>
          <p:spPr bwMode="auto">
            <a:xfrm>
              <a:off x="1882775" y="8286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磁道</a:t>
              </a:r>
            </a:p>
          </p:txBody>
        </p:sp>
        <p:sp>
          <p:nvSpPr>
            <p:cNvPr id="57350" name="Text Box 4"/>
            <p:cNvSpPr txBox="1">
              <a:spLocks noChangeArrowheads="1"/>
            </p:cNvSpPr>
            <p:nvPr/>
          </p:nvSpPr>
          <p:spPr bwMode="auto">
            <a:xfrm>
              <a:off x="1042988" y="323215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扇区</a:t>
              </a:r>
            </a:p>
          </p:txBody>
        </p:sp>
        <p:sp>
          <p:nvSpPr>
            <p:cNvPr id="57351" name="Text Box 5"/>
            <p:cNvSpPr txBox="1">
              <a:spLocks noChangeArrowheads="1"/>
            </p:cNvSpPr>
            <p:nvPr/>
          </p:nvSpPr>
          <p:spPr bwMode="auto">
            <a:xfrm>
              <a:off x="1484313" y="4433888"/>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柱面</a:t>
              </a:r>
            </a:p>
          </p:txBody>
        </p:sp>
        <p:sp>
          <p:nvSpPr>
            <p:cNvPr id="57352" name="Text Box 6"/>
            <p:cNvSpPr txBox="1">
              <a:spLocks noChangeArrowheads="1"/>
            </p:cNvSpPr>
            <p:nvPr/>
          </p:nvSpPr>
          <p:spPr bwMode="auto">
            <a:xfrm>
              <a:off x="5565775" y="115728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读写磁头</a:t>
              </a:r>
            </a:p>
          </p:txBody>
        </p:sp>
        <p:sp>
          <p:nvSpPr>
            <p:cNvPr id="57353" name="Text Box 7"/>
            <p:cNvSpPr txBox="1">
              <a:spLocks noChangeArrowheads="1"/>
            </p:cNvSpPr>
            <p:nvPr/>
          </p:nvSpPr>
          <p:spPr bwMode="auto">
            <a:xfrm>
              <a:off x="6135688" y="551180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磁头臂</a:t>
              </a:r>
            </a:p>
          </p:txBody>
        </p:sp>
        <p:sp>
          <p:nvSpPr>
            <p:cNvPr id="57354" name="Text Box 8"/>
            <p:cNvSpPr txBox="1">
              <a:spLocks noChangeArrowheads="1"/>
            </p:cNvSpPr>
            <p:nvPr/>
          </p:nvSpPr>
          <p:spPr bwMode="auto">
            <a:xfrm>
              <a:off x="1636713" y="5997575"/>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盘片</a:t>
              </a:r>
            </a:p>
          </p:txBody>
        </p:sp>
        <p:sp>
          <p:nvSpPr>
            <p:cNvPr id="57355" name="Text Box 9"/>
            <p:cNvSpPr txBox="1">
              <a:spLocks noChangeArrowheads="1"/>
            </p:cNvSpPr>
            <p:nvPr/>
          </p:nvSpPr>
          <p:spPr bwMode="auto">
            <a:xfrm>
              <a:off x="5665788" y="71437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传动装置</a:t>
              </a:r>
            </a:p>
          </p:txBody>
        </p:sp>
        <p:sp>
          <p:nvSpPr>
            <p:cNvPr id="57356" name="Text Box 10"/>
            <p:cNvSpPr txBox="1">
              <a:spLocks noChangeArrowheads="1"/>
            </p:cNvSpPr>
            <p:nvPr/>
          </p:nvSpPr>
          <p:spPr bwMode="auto">
            <a:xfrm>
              <a:off x="4357688" y="628650"/>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旋转轴</a:t>
              </a:r>
            </a:p>
          </p:txBody>
        </p:sp>
        <p:sp>
          <p:nvSpPr>
            <p:cNvPr id="15" name="Line 11"/>
            <p:cNvSpPr>
              <a:spLocks noChangeShapeType="1"/>
            </p:cNvSpPr>
            <p:nvPr/>
          </p:nvSpPr>
          <p:spPr bwMode="auto">
            <a:xfrm flipV="1">
              <a:off x="5765801" y="4076700"/>
              <a:ext cx="1309687" cy="442912"/>
            </a:xfrm>
            <a:prstGeom prst="line">
              <a:avLst/>
            </a:prstGeom>
            <a:noFill/>
            <a:ln w="25400">
              <a:solidFill>
                <a:schemeClr val="tx1">
                  <a:lumMod val="10000"/>
                </a:schemeClr>
              </a:solidFill>
              <a:round/>
              <a:headEnd type="triangle" w="med" len="med"/>
              <a:tailEnd type="triangle" w="med" len="med"/>
            </a:ln>
          </p:spPr>
          <p:txBody>
            <a:bodyPr wrap="none">
              <a:spAutoFit/>
            </a:bodyPr>
            <a:lstStyle/>
            <a:p>
              <a:pPr eaLnBrk="1" hangingPunct="1">
                <a:defRPr/>
              </a:pPr>
              <a:endParaRPr lang="zh-CN" altLang="en-US">
                <a:solidFill>
                  <a:schemeClr val="bg2"/>
                </a:solidFill>
              </a:endParaRPr>
            </a:p>
          </p:txBody>
        </p:sp>
        <p:sp>
          <p:nvSpPr>
            <p:cNvPr id="57358" name="Text Box 12"/>
            <p:cNvSpPr txBox="1">
              <a:spLocks noChangeArrowheads="1"/>
            </p:cNvSpPr>
            <p:nvPr/>
          </p:nvSpPr>
          <p:spPr bwMode="auto">
            <a:xfrm rot="-900000">
              <a:off x="5551488" y="3789363"/>
              <a:ext cx="1422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移动方向</a:t>
              </a:r>
            </a:p>
          </p:txBody>
        </p:sp>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Oval 2"/>
          <p:cNvSpPr>
            <a:spLocks noChangeArrowheads="1"/>
          </p:cNvSpPr>
          <p:nvPr/>
        </p:nvSpPr>
        <p:spPr bwMode="auto">
          <a:xfrm>
            <a:off x="4992688" y="779463"/>
            <a:ext cx="3313112" cy="3168650"/>
          </a:xfrm>
          <a:prstGeom prst="ellipse">
            <a:avLst/>
          </a:prstGeom>
          <a:solidFill>
            <a:schemeClr val="accent1">
              <a:alpha val="0"/>
            </a:schemeClr>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4" name="Text Box 4"/>
          <p:cNvSpPr txBox="1">
            <a:spLocks noChangeArrowheads="1"/>
          </p:cNvSpPr>
          <p:nvPr/>
        </p:nvSpPr>
        <p:spPr bwMode="auto">
          <a:xfrm>
            <a:off x="1785938" y="0"/>
            <a:ext cx="6300787" cy="641350"/>
          </a:xfrm>
          <a:prstGeom prst="rect">
            <a:avLst/>
          </a:prstGeom>
          <a:noFill/>
          <a:ln w="9525" algn="ctr">
            <a:noFill/>
            <a:miter lim="800000"/>
            <a:headEnd/>
            <a:tailEnd/>
          </a:ln>
        </p:spPr>
        <p:txBody>
          <a:bodyPr>
            <a:spAutoFit/>
          </a:bodyPr>
          <a:lstStyle/>
          <a:p>
            <a:pPr eaLnBrk="1" hangingPunct="1">
              <a:defRPr/>
            </a:pPr>
            <a:r>
              <a:rPr kumimoji="0" lang="zh-CN" altLang="en-US" sz="3600" dirty="0">
                <a:solidFill>
                  <a:srgbClr val="FFC000"/>
                </a:solidFill>
                <a:effectLst>
                  <a:outerShdw blurRad="38100" dist="38100" dir="2700000" algn="tl">
                    <a:srgbClr val="000000">
                      <a:alpha val="43137"/>
                    </a:srgbClr>
                  </a:outerShdw>
                </a:effectLst>
                <a:latin typeface="楷体_GB2312" pitchFamily="49" charset="-122"/>
                <a:ea typeface="楷体_GB2312" pitchFamily="49" charset="-122"/>
              </a:rPr>
              <a:t>磁盘输入</a:t>
            </a:r>
            <a:r>
              <a:rPr kumimoji="0" lang="en-US" altLang="zh-CN" sz="3600" dirty="0">
                <a:solidFill>
                  <a:srgbClr val="FFC000"/>
                </a:solidFill>
                <a:effectLst>
                  <a:outerShdw blurRad="38100" dist="38100" dir="2700000" algn="tl">
                    <a:srgbClr val="000000">
                      <a:alpha val="43137"/>
                    </a:srgbClr>
                  </a:outerShdw>
                </a:effectLst>
                <a:latin typeface="楷体_GB2312" pitchFamily="49" charset="-122"/>
                <a:ea typeface="楷体_GB2312" pitchFamily="49" charset="-122"/>
              </a:rPr>
              <a:t>/</a:t>
            </a:r>
            <a:r>
              <a:rPr kumimoji="0" lang="zh-CN" altLang="en-US" sz="3600" dirty="0">
                <a:solidFill>
                  <a:srgbClr val="FFC000"/>
                </a:solidFill>
                <a:effectLst>
                  <a:outerShdw blurRad="38100" dist="38100" dir="2700000" algn="tl">
                    <a:srgbClr val="000000">
                      <a:alpha val="43137"/>
                    </a:srgbClr>
                  </a:outerShdw>
                </a:effectLst>
                <a:latin typeface="楷体_GB2312" pitchFamily="49" charset="-122"/>
                <a:ea typeface="楷体_GB2312" pitchFamily="49" charset="-122"/>
              </a:rPr>
              <a:t>输出花费的时间</a:t>
            </a:r>
          </a:p>
        </p:txBody>
      </p:sp>
      <p:sp>
        <p:nvSpPr>
          <p:cNvPr id="5" name="Text Box 5"/>
          <p:cNvSpPr txBox="1">
            <a:spLocks noChangeArrowheads="1"/>
          </p:cNvSpPr>
          <p:nvPr/>
        </p:nvSpPr>
        <p:spPr bwMode="auto">
          <a:xfrm>
            <a:off x="142875" y="1428750"/>
            <a:ext cx="4786313" cy="584200"/>
          </a:xfrm>
          <a:prstGeom prst="rect">
            <a:avLst/>
          </a:prstGeom>
          <a:noFill/>
          <a:ln w="9525" algn="ctr">
            <a:noFill/>
            <a:miter lim="800000"/>
            <a:headEnd/>
            <a:tailEnd/>
          </a:ln>
        </p:spPr>
        <p:txBody>
          <a:bodyPr>
            <a:spAutoFit/>
          </a:bodyPr>
          <a:lstStyle/>
          <a:p>
            <a:pPr eaLnBrk="1" hangingPunct="1">
              <a:defRPr/>
            </a:pPr>
            <a:r>
              <a:rPr kumimoji="0" lang="zh-CN" altLang="en-US" sz="3200" dirty="0">
                <a:solidFill>
                  <a:srgbClr val="FFFF00"/>
                </a:solidFill>
                <a:latin typeface="+mj-lt"/>
                <a:ea typeface="楷体_GB2312" pitchFamily="49" charset="-122"/>
              </a:rPr>
              <a:t>（</a:t>
            </a:r>
            <a:r>
              <a:rPr kumimoji="0" lang="en-US" altLang="zh-CN" sz="3200" dirty="0">
                <a:solidFill>
                  <a:srgbClr val="FFFF00"/>
                </a:solidFill>
                <a:latin typeface="+mj-lt"/>
                <a:ea typeface="楷体_GB2312" pitchFamily="49" charset="-122"/>
              </a:rPr>
              <a:t>1</a:t>
            </a:r>
            <a:r>
              <a:rPr kumimoji="0" lang="zh-CN" altLang="en-US" sz="3200" dirty="0">
                <a:solidFill>
                  <a:srgbClr val="FFFF00"/>
                </a:solidFill>
                <a:latin typeface="+mj-lt"/>
                <a:ea typeface="楷体_GB2312" pitchFamily="49" charset="-122"/>
              </a:rPr>
              <a:t>）查找时间</a:t>
            </a:r>
            <a:r>
              <a:rPr kumimoji="0" lang="en-US" altLang="zh-CN" sz="3200" dirty="0">
                <a:solidFill>
                  <a:srgbClr val="FFFF00"/>
                </a:solidFill>
                <a:latin typeface="+mj-lt"/>
                <a:ea typeface="楷体_GB2312" pitchFamily="49" charset="-122"/>
              </a:rPr>
              <a:t>/</a:t>
            </a:r>
            <a:r>
              <a:rPr kumimoji="0" lang="zh-CN" altLang="en-US" sz="3200" dirty="0">
                <a:solidFill>
                  <a:srgbClr val="FFFF00"/>
                </a:solidFill>
                <a:latin typeface="+mj-lt"/>
                <a:ea typeface="楷体_GB2312" pitchFamily="49" charset="-122"/>
              </a:rPr>
              <a:t>寻道时间</a:t>
            </a:r>
          </a:p>
        </p:txBody>
      </p:sp>
      <p:sp>
        <p:nvSpPr>
          <p:cNvPr id="6" name="Text Box 6"/>
          <p:cNvSpPr txBox="1">
            <a:spLocks noChangeArrowheads="1"/>
          </p:cNvSpPr>
          <p:nvPr/>
        </p:nvSpPr>
        <p:spPr bwMode="auto">
          <a:xfrm>
            <a:off x="142875" y="3286125"/>
            <a:ext cx="4960938" cy="579438"/>
          </a:xfrm>
          <a:prstGeom prst="rect">
            <a:avLst/>
          </a:prstGeom>
          <a:noFill/>
          <a:ln w="9525" algn="ctr">
            <a:noFill/>
            <a:miter lim="800000"/>
            <a:headEnd/>
            <a:tailEnd/>
          </a:ln>
        </p:spPr>
        <p:txBody>
          <a:bodyPr>
            <a:spAutoFit/>
          </a:bodyPr>
          <a:lstStyle/>
          <a:p>
            <a:pPr eaLnBrk="1" hangingPunct="1">
              <a:defRPr/>
            </a:pPr>
            <a:r>
              <a:rPr kumimoji="0" lang="zh-CN" altLang="en-US" sz="3200" dirty="0">
                <a:solidFill>
                  <a:srgbClr val="FFFF00"/>
                </a:solidFill>
                <a:latin typeface="+mj-lt"/>
                <a:ea typeface="楷体_GB2312" pitchFamily="49" charset="-122"/>
              </a:rPr>
              <a:t>（</a:t>
            </a:r>
            <a:r>
              <a:rPr kumimoji="0" lang="en-US" altLang="zh-CN" sz="3200" dirty="0">
                <a:solidFill>
                  <a:srgbClr val="FFFF00"/>
                </a:solidFill>
                <a:latin typeface="+mj-lt"/>
                <a:ea typeface="楷体_GB2312" pitchFamily="49" charset="-122"/>
              </a:rPr>
              <a:t>2</a:t>
            </a:r>
            <a:r>
              <a:rPr kumimoji="0" lang="zh-CN" altLang="en-US" sz="3200" dirty="0">
                <a:solidFill>
                  <a:srgbClr val="FFFF00"/>
                </a:solidFill>
                <a:latin typeface="+mj-lt"/>
                <a:ea typeface="楷体_GB2312" pitchFamily="49" charset="-122"/>
              </a:rPr>
              <a:t>）等待时间</a:t>
            </a:r>
            <a:r>
              <a:rPr kumimoji="0" lang="en-US" altLang="zh-CN" sz="3200" dirty="0">
                <a:solidFill>
                  <a:srgbClr val="FFFF00"/>
                </a:solidFill>
                <a:latin typeface="+mj-lt"/>
                <a:ea typeface="楷体_GB2312" pitchFamily="49" charset="-122"/>
              </a:rPr>
              <a:t>/</a:t>
            </a:r>
            <a:r>
              <a:rPr kumimoji="0" lang="zh-CN" altLang="en-US" sz="3200" dirty="0">
                <a:solidFill>
                  <a:srgbClr val="FFFF00"/>
                </a:solidFill>
                <a:latin typeface="+mj-lt"/>
                <a:ea typeface="楷体_GB2312" pitchFamily="49" charset="-122"/>
              </a:rPr>
              <a:t>延迟时间</a:t>
            </a:r>
          </a:p>
        </p:txBody>
      </p:sp>
      <p:sp>
        <p:nvSpPr>
          <p:cNvPr id="7" name="Text Box 7"/>
          <p:cNvSpPr txBox="1">
            <a:spLocks noChangeArrowheads="1"/>
          </p:cNvSpPr>
          <p:nvPr/>
        </p:nvSpPr>
        <p:spPr bwMode="auto">
          <a:xfrm>
            <a:off x="142875" y="5072063"/>
            <a:ext cx="3382963" cy="579437"/>
          </a:xfrm>
          <a:prstGeom prst="rect">
            <a:avLst/>
          </a:prstGeom>
          <a:noFill/>
          <a:ln w="9525" algn="ctr">
            <a:noFill/>
            <a:miter lim="800000"/>
            <a:headEnd/>
            <a:tailEnd/>
          </a:ln>
        </p:spPr>
        <p:txBody>
          <a:bodyPr>
            <a:spAutoFit/>
          </a:bodyPr>
          <a:lstStyle/>
          <a:p>
            <a:pPr eaLnBrk="1" hangingPunct="1">
              <a:defRPr/>
            </a:pPr>
            <a:r>
              <a:rPr kumimoji="0" lang="zh-CN" altLang="en-US" sz="3200" dirty="0">
                <a:solidFill>
                  <a:srgbClr val="FFFF00"/>
                </a:solidFill>
                <a:latin typeface="+mj-lt"/>
                <a:ea typeface="楷体_GB2312" pitchFamily="49" charset="-122"/>
              </a:rPr>
              <a:t>（</a:t>
            </a:r>
            <a:r>
              <a:rPr kumimoji="0" lang="en-US" altLang="zh-CN" sz="3200" dirty="0">
                <a:solidFill>
                  <a:srgbClr val="FFFF00"/>
                </a:solidFill>
                <a:latin typeface="+mj-lt"/>
                <a:ea typeface="楷体_GB2312" pitchFamily="49" charset="-122"/>
              </a:rPr>
              <a:t>3</a:t>
            </a:r>
            <a:r>
              <a:rPr kumimoji="0" lang="zh-CN" altLang="en-US" sz="3200" dirty="0">
                <a:solidFill>
                  <a:srgbClr val="FFFF00"/>
                </a:solidFill>
                <a:latin typeface="+mj-lt"/>
                <a:ea typeface="楷体_GB2312" pitchFamily="49" charset="-122"/>
              </a:rPr>
              <a:t>）传输时间</a:t>
            </a:r>
          </a:p>
        </p:txBody>
      </p:sp>
      <p:sp>
        <p:nvSpPr>
          <p:cNvPr id="58376" name="Oval 8"/>
          <p:cNvSpPr>
            <a:spLocks noChangeArrowheads="1"/>
          </p:cNvSpPr>
          <p:nvPr/>
        </p:nvSpPr>
        <p:spPr bwMode="auto">
          <a:xfrm>
            <a:off x="5857875" y="1571625"/>
            <a:ext cx="1584325" cy="1584325"/>
          </a:xfrm>
          <a:prstGeom prst="ellipse">
            <a:avLst/>
          </a:prstGeom>
          <a:solidFill>
            <a:schemeClr val="accent1">
              <a:alpha val="0"/>
            </a:schemeClr>
          </a:solidFill>
          <a:ln w="38100" algn="ctr">
            <a:solidFill>
              <a:srgbClr val="FF3300"/>
            </a:solidFill>
            <a:prstDash val="dash"/>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377" name="Rectangle 9"/>
          <p:cNvSpPr>
            <a:spLocks noChangeArrowheads="1"/>
          </p:cNvSpPr>
          <p:nvPr/>
        </p:nvSpPr>
        <p:spPr bwMode="auto">
          <a:xfrm>
            <a:off x="8089900" y="2365375"/>
            <a:ext cx="649288" cy="71438"/>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378" name="Rectangle 10"/>
          <p:cNvSpPr>
            <a:spLocks noChangeArrowheads="1"/>
          </p:cNvSpPr>
          <p:nvPr/>
        </p:nvSpPr>
        <p:spPr bwMode="auto">
          <a:xfrm>
            <a:off x="8089900" y="2436813"/>
            <a:ext cx="649288" cy="71437"/>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8379" name="Rectangle 11"/>
          <p:cNvSpPr>
            <a:spLocks noChangeArrowheads="1"/>
          </p:cNvSpPr>
          <p:nvPr/>
        </p:nvSpPr>
        <p:spPr bwMode="auto">
          <a:xfrm>
            <a:off x="8089900" y="2508250"/>
            <a:ext cx="649288" cy="71438"/>
          </a:xfrm>
          <a:prstGeom prst="rect">
            <a:avLst/>
          </a:prstGeom>
          <a:solidFill>
            <a:schemeClr val="accent1"/>
          </a:solidFill>
          <a:ln w="9525" algn="ctr">
            <a:solidFill>
              <a:schemeClr val="tx1"/>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12" name="Line 12"/>
          <p:cNvSpPr>
            <a:spLocks noChangeShapeType="1"/>
          </p:cNvSpPr>
          <p:nvPr/>
        </p:nvSpPr>
        <p:spPr bwMode="auto">
          <a:xfrm>
            <a:off x="7440613" y="2435225"/>
            <a:ext cx="649287" cy="0"/>
          </a:xfrm>
          <a:prstGeom prst="line">
            <a:avLst/>
          </a:prstGeom>
          <a:noFill/>
          <a:ln w="28575">
            <a:solidFill>
              <a:srgbClr val="00FFFF"/>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Arc 17"/>
          <p:cNvSpPr>
            <a:spLocks/>
          </p:cNvSpPr>
          <p:nvPr/>
        </p:nvSpPr>
        <p:spPr bwMode="auto">
          <a:xfrm rot="-6682368">
            <a:off x="5528469" y="1353344"/>
            <a:ext cx="973138" cy="1238250"/>
          </a:xfrm>
          <a:custGeom>
            <a:avLst/>
            <a:gdLst>
              <a:gd name="T0" fmla="*/ 2147483646 w 21600"/>
              <a:gd name="T1" fmla="*/ 0 h 27234"/>
              <a:gd name="T2" fmla="*/ 2147483646 w 21600"/>
              <a:gd name="T3" fmla="*/ 2147483646 h 27234"/>
              <a:gd name="T4" fmla="*/ 0 w 21600"/>
              <a:gd name="T5" fmla="*/ 2147483646 h 27234"/>
              <a:gd name="T6" fmla="*/ 0 60000 65536"/>
              <a:gd name="T7" fmla="*/ 0 60000 65536"/>
              <a:gd name="T8" fmla="*/ 0 60000 65536"/>
              <a:gd name="T9" fmla="*/ 0 w 21600"/>
              <a:gd name="T10" fmla="*/ 0 h 27234"/>
              <a:gd name="T11" fmla="*/ 21600 w 21600"/>
              <a:gd name="T12" fmla="*/ 27234 h 27234"/>
            </a:gdLst>
            <a:ahLst/>
            <a:cxnLst>
              <a:cxn ang="T6">
                <a:pos x="T0" y="T1"/>
              </a:cxn>
              <a:cxn ang="T7">
                <a:pos x="T2" y="T3"/>
              </a:cxn>
              <a:cxn ang="T8">
                <a:pos x="T4" y="T5"/>
              </a:cxn>
            </a:cxnLst>
            <a:rect l="T9" t="T10" r="T11" b="T12"/>
            <a:pathLst>
              <a:path w="21600" h="27234" fill="none" extrusionOk="0">
                <a:moveTo>
                  <a:pt x="390" y="-1"/>
                </a:moveTo>
                <a:cubicBezTo>
                  <a:pt x="12165" y="212"/>
                  <a:pt x="21600" y="9818"/>
                  <a:pt x="21600" y="21596"/>
                </a:cubicBezTo>
                <a:cubicBezTo>
                  <a:pt x="21600" y="23500"/>
                  <a:pt x="21348" y="25395"/>
                  <a:pt x="20851" y="27234"/>
                </a:cubicBezTo>
              </a:path>
              <a:path w="21600" h="27234" stroke="0" extrusionOk="0">
                <a:moveTo>
                  <a:pt x="390" y="-1"/>
                </a:moveTo>
                <a:cubicBezTo>
                  <a:pt x="12165" y="212"/>
                  <a:pt x="21600" y="9818"/>
                  <a:pt x="21600" y="21596"/>
                </a:cubicBezTo>
                <a:cubicBezTo>
                  <a:pt x="21600" y="23500"/>
                  <a:pt x="21348" y="25395"/>
                  <a:pt x="20851" y="27234"/>
                </a:cubicBezTo>
                <a:lnTo>
                  <a:pt x="0" y="21596"/>
                </a:lnTo>
                <a:lnTo>
                  <a:pt x="390" y="-1"/>
                </a:lnTo>
                <a:close/>
              </a:path>
            </a:pathLst>
          </a:custGeom>
          <a:noFill/>
          <a:ln w="38100">
            <a:solidFill>
              <a:srgbClr val="66FF33"/>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48"/>
          <p:cNvGrpSpPr>
            <a:grpSpLocks/>
          </p:cNvGrpSpPr>
          <p:nvPr/>
        </p:nvGrpSpPr>
        <p:grpSpPr bwMode="auto">
          <a:xfrm>
            <a:off x="5210175" y="1068388"/>
            <a:ext cx="917575" cy="1446212"/>
            <a:chOff x="3288" y="845"/>
            <a:chExt cx="578" cy="911"/>
          </a:xfrm>
        </p:grpSpPr>
        <p:sp>
          <p:nvSpPr>
            <p:cNvPr id="58414" name="Text Box 20"/>
            <p:cNvSpPr txBox="1">
              <a:spLocks noChangeArrowheads="1"/>
            </p:cNvSpPr>
            <p:nvPr/>
          </p:nvSpPr>
          <p:spPr bwMode="auto">
            <a:xfrm>
              <a:off x="3606" y="845"/>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66FF33"/>
                  </a:solidFill>
                  <a:latin typeface="Arial" panose="020B0604020202020204" pitchFamily="34" charset="0"/>
                </a:rPr>
                <a:t>间</a:t>
              </a:r>
            </a:p>
          </p:txBody>
        </p:sp>
        <p:sp>
          <p:nvSpPr>
            <p:cNvPr id="58415" name="Text Box 21"/>
            <p:cNvSpPr txBox="1">
              <a:spLocks noChangeArrowheads="1"/>
            </p:cNvSpPr>
            <p:nvPr/>
          </p:nvSpPr>
          <p:spPr bwMode="auto">
            <a:xfrm>
              <a:off x="3424" y="1026"/>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66FF33"/>
                  </a:solidFill>
                  <a:latin typeface="Arial" panose="020B0604020202020204" pitchFamily="34" charset="0"/>
                </a:rPr>
                <a:t>时</a:t>
              </a:r>
            </a:p>
          </p:txBody>
        </p:sp>
        <p:sp>
          <p:nvSpPr>
            <p:cNvPr id="58416" name="Text Box 22"/>
            <p:cNvSpPr txBox="1">
              <a:spLocks noChangeArrowheads="1"/>
            </p:cNvSpPr>
            <p:nvPr/>
          </p:nvSpPr>
          <p:spPr bwMode="auto">
            <a:xfrm>
              <a:off x="3288" y="1253"/>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66FF33"/>
                  </a:solidFill>
                  <a:latin typeface="Arial" panose="020B0604020202020204" pitchFamily="34" charset="0"/>
                </a:rPr>
                <a:t>输</a:t>
              </a:r>
            </a:p>
          </p:txBody>
        </p:sp>
        <p:sp>
          <p:nvSpPr>
            <p:cNvPr id="58417" name="Text Box 23"/>
            <p:cNvSpPr txBox="1">
              <a:spLocks noChangeArrowheads="1"/>
            </p:cNvSpPr>
            <p:nvPr/>
          </p:nvSpPr>
          <p:spPr bwMode="auto">
            <a:xfrm>
              <a:off x="3288" y="1525"/>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66FF33"/>
                  </a:solidFill>
                  <a:latin typeface="Arial" panose="020B0604020202020204" pitchFamily="34" charset="0"/>
                </a:rPr>
                <a:t>传</a:t>
              </a:r>
            </a:p>
          </p:txBody>
        </p:sp>
      </p:grpSp>
      <p:sp>
        <p:nvSpPr>
          <p:cNvPr id="58383" name="Text Box 24"/>
          <p:cNvSpPr txBox="1">
            <a:spLocks noChangeArrowheads="1"/>
          </p:cNvSpPr>
          <p:nvPr/>
        </p:nvSpPr>
        <p:spPr bwMode="auto">
          <a:xfrm>
            <a:off x="7081838" y="1393825"/>
            <a:ext cx="1081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000">
                <a:solidFill>
                  <a:srgbClr val="FF3300"/>
                </a:solidFill>
                <a:latin typeface="Arial" panose="020B0604020202020204" pitchFamily="34" charset="0"/>
              </a:rPr>
              <a:t>磁道</a:t>
            </a:r>
          </a:p>
        </p:txBody>
      </p:sp>
      <p:sp>
        <p:nvSpPr>
          <p:cNvPr id="20" name="Text Box 25"/>
          <p:cNvSpPr txBox="1">
            <a:spLocks noChangeArrowheads="1"/>
          </p:cNvSpPr>
          <p:nvPr/>
        </p:nvSpPr>
        <p:spPr bwMode="auto">
          <a:xfrm>
            <a:off x="7370763" y="2003425"/>
            <a:ext cx="1008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00FFFF"/>
                </a:solidFill>
                <a:latin typeface="Arial" panose="020B0604020202020204" pitchFamily="34" charset="0"/>
              </a:rPr>
              <a:t>查找时间</a:t>
            </a:r>
          </a:p>
        </p:txBody>
      </p:sp>
      <p:sp>
        <p:nvSpPr>
          <p:cNvPr id="58385" name="Text Box 26"/>
          <p:cNvSpPr txBox="1">
            <a:spLocks noChangeArrowheads="1"/>
          </p:cNvSpPr>
          <p:nvPr/>
        </p:nvSpPr>
        <p:spPr bwMode="auto">
          <a:xfrm>
            <a:off x="8450263" y="1970088"/>
            <a:ext cx="936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000">
                <a:solidFill>
                  <a:srgbClr val="FFCC00"/>
                </a:solidFill>
                <a:latin typeface="Arial" panose="020B0604020202020204" pitchFamily="34" charset="0"/>
              </a:rPr>
              <a:t>磁臂</a:t>
            </a:r>
          </a:p>
        </p:txBody>
      </p:sp>
      <p:grpSp>
        <p:nvGrpSpPr>
          <p:cNvPr id="3" name="Group 52"/>
          <p:cNvGrpSpPr>
            <a:grpSpLocks/>
          </p:cNvGrpSpPr>
          <p:nvPr/>
        </p:nvGrpSpPr>
        <p:grpSpPr bwMode="auto">
          <a:xfrm>
            <a:off x="5641975" y="2435225"/>
            <a:ext cx="2089150" cy="1150938"/>
            <a:chOff x="3560" y="1706"/>
            <a:chExt cx="1316" cy="725"/>
          </a:xfrm>
        </p:grpSpPr>
        <p:sp>
          <p:nvSpPr>
            <p:cNvPr id="58408" name="Arc 18"/>
            <p:cNvSpPr>
              <a:spLocks/>
            </p:cNvSpPr>
            <p:nvPr/>
          </p:nvSpPr>
          <p:spPr bwMode="auto">
            <a:xfrm rot="4792700">
              <a:off x="4324" y="1623"/>
              <a:ext cx="470" cy="635"/>
            </a:xfrm>
            <a:custGeom>
              <a:avLst/>
              <a:gdLst>
                <a:gd name="T0" fmla="*/ 0 w 18639"/>
                <a:gd name="T1" fmla="*/ 0 h 21553"/>
                <a:gd name="T2" fmla="*/ 0 w 18639"/>
                <a:gd name="T3" fmla="*/ 0 h 21553"/>
                <a:gd name="T4" fmla="*/ 0 w 18639"/>
                <a:gd name="T5" fmla="*/ 0 h 21553"/>
                <a:gd name="T6" fmla="*/ 0 60000 65536"/>
                <a:gd name="T7" fmla="*/ 0 60000 65536"/>
                <a:gd name="T8" fmla="*/ 0 60000 65536"/>
                <a:gd name="T9" fmla="*/ 0 w 18639"/>
                <a:gd name="T10" fmla="*/ 0 h 21553"/>
                <a:gd name="T11" fmla="*/ 18639 w 18639"/>
                <a:gd name="T12" fmla="*/ 21553 h 21553"/>
              </a:gdLst>
              <a:ahLst/>
              <a:cxnLst>
                <a:cxn ang="T6">
                  <a:pos x="T0" y="T1"/>
                </a:cxn>
                <a:cxn ang="T7">
                  <a:pos x="T2" y="T3"/>
                </a:cxn>
                <a:cxn ang="T8">
                  <a:pos x="T4" y="T5"/>
                </a:cxn>
              </a:cxnLst>
              <a:rect l="T9" t="T10" r="T11" b="T12"/>
              <a:pathLst>
                <a:path w="18639" h="21553" fill="none" extrusionOk="0">
                  <a:moveTo>
                    <a:pt x="1430" y="0"/>
                  </a:moveTo>
                  <a:cubicBezTo>
                    <a:pt x="8575" y="474"/>
                    <a:pt x="15020" y="4458"/>
                    <a:pt x="18639" y="10637"/>
                  </a:cubicBezTo>
                </a:path>
                <a:path w="18639" h="21553" stroke="0" extrusionOk="0">
                  <a:moveTo>
                    <a:pt x="1430" y="0"/>
                  </a:moveTo>
                  <a:cubicBezTo>
                    <a:pt x="8575" y="474"/>
                    <a:pt x="15020" y="4458"/>
                    <a:pt x="18639" y="10637"/>
                  </a:cubicBezTo>
                  <a:lnTo>
                    <a:pt x="0" y="21553"/>
                  </a:lnTo>
                  <a:lnTo>
                    <a:pt x="1430" y="0"/>
                  </a:lnTo>
                  <a:close/>
                </a:path>
              </a:pathLst>
            </a:custGeom>
            <a:noFill/>
            <a:ln w="38100">
              <a:solidFill>
                <a:srgbClr val="FFCCFF"/>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9" name="Arc 19"/>
            <p:cNvSpPr>
              <a:spLocks/>
            </p:cNvSpPr>
            <p:nvPr/>
          </p:nvSpPr>
          <p:spPr bwMode="auto">
            <a:xfrm rot="10283420">
              <a:off x="3560" y="1752"/>
              <a:ext cx="576" cy="498"/>
            </a:xfrm>
            <a:custGeom>
              <a:avLst/>
              <a:gdLst>
                <a:gd name="T0" fmla="*/ 0 w 21600"/>
                <a:gd name="T1" fmla="*/ 0 h 18685"/>
                <a:gd name="T2" fmla="*/ 0 w 21600"/>
                <a:gd name="T3" fmla="*/ 0 h 18685"/>
                <a:gd name="T4" fmla="*/ 0 w 21600"/>
                <a:gd name="T5" fmla="*/ 0 h 18685"/>
                <a:gd name="T6" fmla="*/ 0 60000 65536"/>
                <a:gd name="T7" fmla="*/ 0 60000 65536"/>
                <a:gd name="T8" fmla="*/ 0 60000 65536"/>
                <a:gd name="T9" fmla="*/ 0 w 21600"/>
                <a:gd name="T10" fmla="*/ 0 h 18685"/>
                <a:gd name="T11" fmla="*/ 21600 w 21600"/>
                <a:gd name="T12" fmla="*/ 18685 h 18685"/>
              </a:gdLst>
              <a:ahLst/>
              <a:cxnLst>
                <a:cxn ang="T6">
                  <a:pos x="T0" y="T1"/>
                </a:cxn>
                <a:cxn ang="T7">
                  <a:pos x="T2" y="T3"/>
                </a:cxn>
                <a:cxn ang="T8">
                  <a:pos x="T4" y="T5"/>
                </a:cxn>
              </a:cxnLst>
              <a:rect l="T9" t="T10" r="T11" b="T12"/>
              <a:pathLst>
                <a:path w="21600" h="18685" fill="none" extrusionOk="0">
                  <a:moveTo>
                    <a:pt x="10836" y="0"/>
                  </a:moveTo>
                  <a:cubicBezTo>
                    <a:pt x="17499" y="3864"/>
                    <a:pt x="21600" y="10983"/>
                    <a:pt x="21600" y="18685"/>
                  </a:cubicBezTo>
                </a:path>
                <a:path w="21600" h="18685" stroke="0" extrusionOk="0">
                  <a:moveTo>
                    <a:pt x="10836" y="0"/>
                  </a:moveTo>
                  <a:cubicBezTo>
                    <a:pt x="17499" y="3864"/>
                    <a:pt x="21600" y="10983"/>
                    <a:pt x="21600" y="18685"/>
                  </a:cubicBezTo>
                  <a:lnTo>
                    <a:pt x="0" y="18685"/>
                  </a:lnTo>
                  <a:lnTo>
                    <a:pt x="10836" y="0"/>
                  </a:lnTo>
                  <a:close/>
                </a:path>
              </a:pathLst>
            </a:custGeom>
            <a:noFill/>
            <a:ln w="38100">
              <a:solidFill>
                <a:srgbClr val="FFCCFF"/>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10" name="Text Box 27"/>
            <p:cNvSpPr txBox="1">
              <a:spLocks noChangeArrowheads="1"/>
            </p:cNvSpPr>
            <p:nvPr/>
          </p:nvSpPr>
          <p:spPr bwMode="auto">
            <a:xfrm>
              <a:off x="3877" y="2154"/>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FFCCFF"/>
                  </a:solidFill>
                  <a:latin typeface="Arial" panose="020B0604020202020204" pitchFamily="34" charset="0"/>
                </a:rPr>
                <a:t>等</a:t>
              </a:r>
            </a:p>
          </p:txBody>
        </p:sp>
        <p:sp>
          <p:nvSpPr>
            <p:cNvPr id="58411" name="Text Box 28"/>
            <p:cNvSpPr txBox="1">
              <a:spLocks noChangeArrowheads="1"/>
            </p:cNvSpPr>
            <p:nvPr/>
          </p:nvSpPr>
          <p:spPr bwMode="auto">
            <a:xfrm>
              <a:off x="4059" y="220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FFCCFF"/>
                  </a:solidFill>
                  <a:latin typeface="Arial" panose="020B0604020202020204" pitchFamily="34" charset="0"/>
                </a:rPr>
                <a:t>待</a:t>
              </a:r>
            </a:p>
          </p:txBody>
        </p:sp>
        <p:sp>
          <p:nvSpPr>
            <p:cNvPr id="58412" name="Text Box 29"/>
            <p:cNvSpPr txBox="1">
              <a:spLocks noChangeArrowheads="1"/>
            </p:cNvSpPr>
            <p:nvPr/>
          </p:nvSpPr>
          <p:spPr bwMode="auto">
            <a:xfrm>
              <a:off x="4242" y="2200"/>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FFCCFF"/>
                  </a:solidFill>
                  <a:latin typeface="Arial" panose="020B0604020202020204" pitchFamily="34" charset="0"/>
                </a:rPr>
                <a:t>时</a:t>
              </a:r>
            </a:p>
          </p:txBody>
        </p:sp>
        <p:sp>
          <p:nvSpPr>
            <p:cNvPr id="58413" name="Text Box 30"/>
            <p:cNvSpPr txBox="1">
              <a:spLocks noChangeArrowheads="1"/>
            </p:cNvSpPr>
            <p:nvPr/>
          </p:nvSpPr>
          <p:spPr bwMode="auto">
            <a:xfrm>
              <a:off x="4377" y="2109"/>
              <a:ext cx="2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solidFill>
                    <a:srgbClr val="FFCCFF"/>
                  </a:solidFill>
                  <a:latin typeface="Arial" panose="020B0604020202020204" pitchFamily="34" charset="0"/>
                </a:rPr>
                <a:t>间</a:t>
              </a:r>
            </a:p>
          </p:txBody>
        </p:sp>
      </p:grpSp>
      <p:grpSp>
        <p:nvGrpSpPr>
          <p:cNvPr id="58387" name="Group 54"/>
          <p:cNvGrpSpPr>
            <a:grpSpLocks/>
          </p:cNvGrpSpPr>
          <p:nvPr/>
        </p:nvGrpSpPr>
        <p:grpSpPr bwMode="auto">
          <a:xfrm>
            <a:off x="5570538" y="1068388"/>
            <a:ext cx="1185862" cy="1627187"/>
            <a:chOff x="2290" y="0"/>
            <a:chExt cx="747" cy="1025"/>
          </a:xfrm>
        </p:grpSpPr>
        <p:sp>
          <p:nvSpPr>
            <p:cNvPr id="58400" name="Arc 13"/>
            <p:cNvSpPr>
              <a:spLocks/>
            </p:cNvSpPr>
            <p:nvPr/>
          </p:nvSpPr>
          <p:spPr bwMode="auto">
            <a:xfrm rot="-6682368">
              <a:off x="2365" y="272"/>
              <a:ext cx="576" cy="634"/>
            </a:xfrm>
            <a:custGeom>
              <a:avLst/>
              <a:gdLst>
                <a:gd name="T0" fmla="*/ 0 w 21600"/>
                <a:gd name="T1" fmla="*/ 0 h 23792"/>
                <a:gd name="T2" fmla="*/ 0 w 21600"/>
                <a:gd name="T3" fmla="*/ 0 h 23792"/>
                <a:gd name="T4" fmla="*/ 0 w 21600"/>
                <a:gd name="T5" fmla="*/ 0 h 23792"/>
                <a:gd name="T6" fmla="*/ 0 60000 65536"/>
                <a:gd name="T7" fmla="*/ 0 60000 65536"/>
                <a:gd name="T8" fmla="*/ 0 60000 65536"/>
                <a:gd name="T9" fmla="*/ 0 w 21600"/>
                <a:gd name="T10" fmla="*/ 0 h 23792"/>
                <a:gd name="T11" fmla="*/ 21600 w 21600"/>
                <a:gd name="T12" fmla="*/ 23792 h 23792"/>
              </a:gdLst>
              <a:ahLst/>
              <a:cxnLst>
                <a:cxn ang="T6">
                  <a:pos x="T0" y="T1"/>
                </a:cxn>
                <a:cxn ang="T7">
                  <a:pos x="T2" y="T3"/>
                </a:cxn>
                <a:cxn ang="T8">
                  <a:pos x="T4" y="T5"/>
                </a:cxn>
              </a:cxnLst>
              <a:rect l="T9" t="T10" r="T11" b="T12"/>
              <a:pathLst>
                <a:path w="21600" h="23792" fill="none" extrusionOk="0">
                  <a:moveTo>
                    <a:pt x="4190" y="0"/>
                  </a:moveTo>
                  <a:cubicBezTo>
                    <a:pt x="14308" y="2001"/>
                    <a:pt x="21600" y="10876"/>
                    <a:pt x="21600" y="21190"/>
                  </a:cubicBezTo>
                  <a:cubicBezTo>
                    <a:pt x="21600" y="22059"/>
                    <a:pt x="21547" y="22928"/>
                    <a:pt x="21442" y="23791"/>
                  </a:cubicBezTo>
                </a:path>
                <a:path w="21600" h="23792" stroke="0" extrusionOk="0">
                  <a:moveTo>
                    <a:pt x="4190" y="0"/>
                  </a:moveTo>
                  <a:cubicBezTo>
                    <a:pt x="14308" y="2001"/>
                    <a:pt x="21600" y="10876"/>
                    <a:pt x="21600" y="21190"/>
                  </a:cubicBezTo>
                  <a:cubicBezTo>
                    <a:pt x="21600" y="22059"/>
                    <a:pt x="21547" y="22928"/>
                    <a:pt x="21442" y="23791"/>
                  </a:cubicBezTo>
                  <a:lnTo>
                    <a:pt x="0" y="21190"/>
                  </a:lnTo>
                  <a:lnTo>
                    <a:pt x="4190" y="0"/>
                  </a:lnTo>
                  <a:close/>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1" name="Arc 14"/>
            <p:cNvSpPr>
              <a:spLocks/>
            </p:cNvSpPr>
            <p:nvPr/>
          </p:nvSpPr>
          <p:spPr bwMode="auto">
            <a:xfrm rot="-6769107">
              <a:off x="2461" y="448"/>
              <a:ext cx="634" cy="519"/>
            </a:xfrm>
            <a:custGeom>
              <a:avLst/>
              <a:gdLst>
                <a:gd name="T0" fmla="*/ 0 w 21532"/>
                <a:gd name="T1" fmla="*/ 0 h 19469"/>
                <a:gd name="T2" fmla="*/ 0 w 21532"/>
                <a:gd name="T3" fmla="*/ 0 h 19469"/>
                <a:gd name="T4" fmla="*/ 0 w 21532"/>
                <a:gd name="T5" fmla="*/ 0 h 19469"/>
                <a:gd name="T6" fmla="*/ 0 60000 65536"/>
                <a:gd name="T7" fmla="*/ 0 60000 65536"/>
                <a:gd name="T8" fmla="*/ 0 60000 65536"/>
                <a:gd name="T9" fmla="*/ 0 w 21532"/>
                <a:gd name="T10" fmla="*/ 0 h 19469"/>
                <a:gd name="T11" fmla="*/ 21532 w 21532"/>
                <a:gd name="T12" fmla="*/ 19469 h 19469"/>
              </a:gdLst>
              <a:ahLst/>
              <a:cxnLst>
                <a:cxn ang="T6">
                  <a:pos x="T0" y="T1"/>
                </a:cxn>
                <a:cxn ang="T7">
                  <a:pos x="T2" y="T3"/>
                </a:cxn>
                <a:cxn ang="T8">
                  <a:pos x="T4" y="T5"/>
                </a:cxn>
              </a:cxnLst>
              <a:rect l="T9" t="T10" r="T11" b="T12"/>
              <a:pathLst>
                <a:path w="21532" h="19469" fill="none" extrusionOk="0">
                  <a:moveTo>
                    <a:pt x="9355" y="-1"/>
                  </a:moveTo>
                  <a:cubicBezTo>
                    <a:pt x="16286" y="3330"/>
                    <a:pt x="20924" y="10095"/>
                    <a:pt x="21532" y="17760"/>
                  </a:cubicBezTo>
                </a:path>
                <a:path w="21532" h="19469" stroke="0" extrusionOk="0">
                  <a:moveTo>
                    <a:pt x="9355" y="-1"/>
                  </a:moveTo>
                  <a:cubicBezTo>
                    <a:pt x="16286" y="3330"/>
                    <a:pt x="20924" y="10095"/>
                    <a:pt x="21532" y="17760"/>
                  </a:cubicBezTo>
                  <a:lnTo>
                    <a:pt x="0" y="19469"/>
                  </a:lnTo>
                  <a:lnTo>
                    <a:pt x="9355" y="-1"/>
                  </a:lnTo>
                  <a:close/>
                </a:path>
              </a:pathLst>
            </a:custGeom>
            <a:noFill/>
            <a:ln w="38100">
              <a:solidFill>
                <a:srgbClr val="FF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402" name="Line 16"/>
            <p:cNvSpPr>
              <a:spLocks noChangeShapeType="1"/>
            </p:cNvSpPr>
            <p:nvPr/>
          </p:nvSpPr>
          <p:spPr bwMode="auto">
            <a:xfrm>
              <a:off x="2835" y="0"/>
              <a:ext cx="0" cy="364"/>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03" name="Line 15"/>
            <p:cNvSpPr>
              <a:spLocks noChangeShapeType="1"/>
            </p:cNvSpPr>
            <p:nvPr/>
          </p:nvSpPr>
          <p:spPr bwMode="auto">
            <a:xfrm flipV="1">
              <a:off x="2290" y="800"/>
              <a:ext cx="273" cy="181"/>
            </a:xfrm>
            <a:prstGeom prst="line">
              <a:avLst/>
            </a:prstGeom>
            <a:noFill/>
            <a:ln w="381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04" name="Text Box 31"/>
            <p:cNvSpPr txBox="1">
              <a:spLocks noChangeArrowheads="1"/>
            </p:cNvSpPr>
            <p:nvPr/>
          </p:nvSpPr>
          <p:spPr bwMode="auto">
            <a:xfrm>
              <a:off x="2608" y="210"/>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FFFF00"/>
                  </a:solidFill>
                  <a:latin typeface="Arial" panose="020B0604020202020204" pitchFamily="34" charset="0"/>
                </a:rPr>
                <a:t>数</a:t>
              </a:r>
            </a:p>
          </p:txBody>
        </p:sp>
        <p:sp>
          <p:nvSpPr>
            <p:cNvPr id="58405" name="Text Box 32"/>
            <p:cNvSpPr txBox="1">
              <a:spLocks noChangeArrowheads="1"/>
            </p:cNvSpPr>
            <p:nvPr/>
          </p:nvSpPr>
          <p:spPr bwMode="auto">
            <a:xfrm>
              <a:off x="2518" y="301"/>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FFFF00"/>
                  </a:solidFill>
                  <a:latin typeface="Arial" panose="020B0604020202020204" pitchFamily="34" charset="0"/>
                </a:rPr>
                <a:t>据</a:t>
              </a:r>
            </a:p>
          </p:txBody>
        </p:sp>
        <p:sp>
          <p:nvSpPr>
            <p:cNvPr id="58406" name="Text Box 33"/>
            <p:cNvSpPr txBox="1">
              <a:spLocks noChangeArrowheads="1"/>
            </p:cNvSpPr>
            <p:nvPr/>
          </p:nvSpPr>
          <p:spPr bwMode="auto">
            <a:xfrm>
              <a:off x="2427" y="437"/>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FFFF00"/>
                  </a:solidFill>
                  <a:latin typeface="Arial" panose="020B0604020202020204" pitchFamily="34" charset="0"/>
                </a:rPr>
                <a:t>信</a:t>
              </a:r>
            </a:p>
          </p:txBody>
        </p:sp>
        <p:sp>
          <p:nvSpPr>
            <p:cNvPr id="58407" name="Text Box 34"/>
            <p:cNvSpPr txBox="1">
              <a:spLocks noChangeArrowheads="1"/>
            </p:cNvSpPr>
            <p:nvPr/>
          </p:nvSpPr>
          <p:spPr bwMode="auto">
            <a:xfrm>
              <a:off x="2381" y="618"/>
              <a:ext cx="24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FFFF00"/>
                  </a:solidFill>
                  <a:latin typeface="Arial" panose="020B0604020202020204" pitchFamily="34" charset="0"/>
                </a:rPr>
                <a:t>息</a:t>
              </a:r>
            </a:p>
          </p:txBody>
        </p:sp>
      </p:grpSp>
      <p:sp>
        <p:nvSpPr>
          <p:cNvPr id="58388" name="Arc 35"/>
          <p:cNvSpPr>
            <a:spLocks/>
          </p:cNvSpPr>
          <p:nvPr/>
        </p:nvSpPr>
        <p:spPr bwMode="auto">
          <a:xfrm rot="6213289">
            <a:off x="7072312" y="2990851"/>
            <a:ext cx="1317625" cy="1016000"/>
          </a:xfrm>
          <a:custGeom>
            <a:avLst/>
            <a:gdLst>
              <a:gd name="T0" fmla="*/ 2147483646 w 21303"/>
              <a:gd name="T1" fmla="*/ 0 h 21586"/>
              <a:gd name="T2" fmla="*/ 2147483646 w 21303"/>
              <a:gd name="T3" fmla="*/ 2147483646 h 21586"/>
              <a:gd name="T4" fmla="*/ 0 w 21303"/>
              <a:gd name="T5" fmla="*/ 2147483646 h 21586"/>
              <a:gd name="T6" fmla="*/ 0 60000 65536"/>
              <a:gd name="T7" fmla="*/ 0 60000 65536"/>
              <a:gd name="T8" fmla="*/ 0 60000 65536"/>
              <a:gd name="T9" fmla="*/ 0 w 21303"/>
              <a:gd name="T10" fmla="*/ 0 h 21586"/>
              <a:gd name="T11" fmla="*/ 21303 w 21303"/>
              <a:gd name="T12" fmla="*/ 21586 h 21586"/>
            </a:gdLst>
            <a:ahLst/>
            <a:cxnLst>
              <a:cxn ang="T6">
                <a:pos x="T0" y="T1"/>
              </a:cxn>
              <a:cxn ang="T7">
                <a:pos x="T2" y="T3"/>
              </a:cxn>
              <a:cxn ang="T8">
                <a:pos x="T4" y="T5"/>
              </a:cxn>
            </a:cxnLst>
            <a:rect l="T9" t="T10" r="T11" b="T12"/>
            <a:pathLst>
              <a:path w="21303" h="21586" fill="none" extrusionOk="0">
                <a:moveTo>
                  <a:pt x="781" y="0"/>
                </a:moveTo>
                <a:cubicBezTo>
                  <a:pt x="11033" y="371"/>
                  <a:pt x="19609" y="7901"/>
                  <a:pt x="21303" y="18018"/>
                </a:cubicBezTo>
              </a:path>
              <a:path w="21303" h="21586" stroke="0" extrusionOk="0">
                <a:moveTo>
                  <a:pt x="781" y="0"/>
                </a:moveTo>
                <a:cubicBezTo>
                  <a:pt x="11033" y="371"/>
                  <a:pt x="19609" y="7901"/>
                  <a:pt x="21303" y="18018"/>
                </a:cubicBezTo>
                <a:lnTo>
                  <a:pt x="0" y="21586"/>
                </a:lnTo>
                <a:lnTo>
                  <a:pt x="781" y="0"/>
                </a:lnTo>
                <a:close/>
              </a:path>
            </a:pathLst>
          </a:custGeom>
          <a:noFill/>
          <a:ln w="38100">
            <a:solidFill>
              <a:srgbClr val="BBE72D"/>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8389" name="Text Box 36"/>
          <p:cNvSpPr txBox="1">
            <a:spLocks noChangeArrowheads="1"/>
          </p:cNvSpPr>
          <p:nvPr/>
        </p:nvSpPr>
        <p:spPr bwMode="auto">
          <a:xfrm>
            <a:off x="7297738" y="39655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磁</a:t>
            </a:r>
          </a:p>
        </p:txBody>
      </p:sp>
      <p:sp>
        <p:nvSpPr>
          <p:cNvPr id="58390" name="Text Box 37"/>
          <p:cNvSpPr txBox="1">
            <a:spLocks noChangeArrowheads="1"/>
          </p:cNvSpPr>
          <p:nvPr/>
        </p:nvSpPr>
        <p:spPr bwMode="auto">
          <a:xfrm>
            <a:off x="7515225" y="38766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盘</a:t>
            </a:r>
          </a:p>
        </p:txBody>
      </p:sp>
      <p:sp>
        <p:nvSpPr>
          <p:cNvPr id="58391" name="Text Box 38"/>
          <p:cNvSpPr txBox="1">
            <a:spLocks noChangeArrowheads="1"/>
          </p:cNvSpPr>
          <p:nvPr/>
        </p:nvSpPr>
        <p:spPr bwMode="auto">
          <a:xfrm>
            <a:off x="7729538" y="37496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旋</a:t>
            </a:r>
          </a:p>
        </p:txBody>
      </p:sp>
      <p:sp>
        <p:nvSpPr>
          <p:cNvPr id="58392" name="Text Box 39"/>
          <p:cNvSpPr txBox="1">
            <a:spLocks noChangeArrowheads="1"/>
          </p:cNvSpPr>
          <p:nvPr/>
        </p:nvSpPr>
        <p:spPr bwMode="auto">
          <a:xfrm>
            <a:off x="8016875" y="35337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转</a:t>
            </a:r>
          </a:p>
        </p:txBody>
      </p:sp>
      <p:sp>
        <p:nvSpPr>
          <p:cNvPr id="58393" name="Text Box 40"/>
          <p:cNvSpPr txBox="1">
            <a:spLocks noChangeArrowheads="1"/>
          </p:cNvSpPr>
          <p:nvPr/>
        </p:nvSpPr>
        <p:spPr bwMode="auto">
          <a:xfrm>
            <a:off x="8161338" y="331787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方</a:t>
            </a:r>
          </a:p>
        </p:txBody>
      </p:sp>
      <p:sp>
        <p:nvSpPr>
          <p:cNvPr id="58394" name="Text Box 41"/>
          <p:cNvSpPr txBox="1">
            <a:spLocks noChangeArrowheads="1"/>
          </p:cNvSpPr>
          <p:nvPr/>
        </p:nvSpPr>
        <p:spPr bwMode="auto">
          <a:xfrm>
            <a:off x="8305800" y="302895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600">
                <a:solidFill>
                  <a:srgbClr val="BBE72D"/>
                </a:solidFill>
                <a:latin typeface="Arial" panose="020B0604020202020204" pitchFamily="34" charset="0"/>
              </a:rPr>
              <a:t>向</a:t>
            </a:r>
          </a:p>
        </p:txBody>
      </p:sp>
      <p:sp>
        <p:nvSpPr>
          <p:cNvPr id="45" name="Text Box 42"/>
          <p:cNvSpPr txBox="1">
            <a:spLocks noChangeArrowheads="1"/>
          </p:cNvSpPr>
          <p:nvPr/>
        </p:nvSpPr>
        <p:spPr bwMode="auto">
          <a:xfrm>
            <a:off x="285750" y="2071688"/>
            <a:ext cx="48974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0">
                <a:latin typeface="Arial" panose="020B0604020202020204" pitchFamily="34" charset="0"/>
              </a:rPr>
              <a:t>  </a:t>
            </a:r>
            <a:r>
              <a:rPr kumimoji="0" lang="zh-CN" altLang="en-US" sz="2800">
                <a:latin typeface="楷体_GB2312" pitchFamily="49" charset="-122"/>
                <a:ea typeface="楷体_GB2312" pitchFamily="49" charset="-122"/>
              </a:rPr>
              <a:t>在磁臂的带动下，把磁头移动到指定柱面所需要的时间。</a:t>
            </a:r>
            <a:r>
              <a:rPr kumimoji="0" lang="zh-CN" altLang="en-US" sz="2800" b="0">
                <a:latin typeface="楷体_GB2312" pitchFamily="49" charset="-122"/>
                <a:ea typeface="楷体_GB2312" pitchFamily="49" charset="-122"/>
              </a:rPr>
              <a:t> </a:t>
            </a:r>
          </a:p>
        </p:txBody>
      </p:sp>
      <p:sp>
        <p:nvSpPr>
          <p:cNvPr id="46" name="Text Box 43"/>
          <p:cNvSpPr txBox="1">
            <a:spLocks noChangeArrowheads="1"/>
          </p:cNvSpPr>
          <p:nvPr/>
        </p:nvSpPr>
        <p:spPr bwMode="auto">
          <a:xfrm>
            <a:off x="500063" y="4000500"/>
            <a:ext cx="82470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latin typeface="楷体_GB2312" pitchFamily="49" charset="-122"/>
                <a:ea typeface="楷体_GB2312" pitchFamily="49" charset="-122"/>
              </a:rPr>
              <a:t>将指定的扇区旋转到磁头下所需要的时间。</a:t>
            </a:r>
            <a:endParaRPr kumimoji="0" lang="en-US" altLang="zh-CN" sz="2800">
              <a:latin typeface="楷体_GB2312" pitchFamily="49" charset="-122"/>
              <a:ea typeface="楷体_GB2312" pitchFamily="49" charset="-122"/>
            </a:endParaRPr>
          </a:p>
          <a:p>
            <a:pPr eaLnBrk="1" hangingPunct="1">
              <a:spcBef>
                <a:spcPct val="0"/>
              </a:spcBef>
              <a:buClrTx/>
              <a:buSzTx/>
              <a:buFontTx/>
              <a:buNone/>
            </a:pPr>
            <a:r>
              <a:rPr kumimoji="0" lang="zh-CN" altLang="en-US" sz="2800">
                <a:latin typeface="楷体_GB2312" pitchFamily="49" charset="-122"/>
                <a:ea typeface="楷体_GB2312" pitchFamily="49" charset="-122"/>
              </a:rPr>
              <a:t>与磁盘转速有关</a:t>
            </a:r>
            <a:r>
              <a:rPr kumimoji="0" lang="zh-CN" altLang="en-US" sz="2800" smtClean="0">
                <a:latin typeface="楷体_GB2312" pitchFamily="49" charset="-122"/>
                <a:ea typeface="楷体_GB2312" pitchFamily="49" charset="-122"/>
              </a:rPr>
              <a:t>。</a:t>
            </a:r>
            <a:r>
              <a:rPr kumimoji="0" lang="en-US" altLang="zh-CN" sz="2800" smtClean="0">
                <a:latin typeface="楷体_GB2312" pitchFamily="49" charset="-122"/>
                <a:ea typeface="楷体_GB2312" pitchFamily="49" charset="-122"/>
              </a:rPr>
              <a:t>Tr=1/(2r),</a:t>
            </a:r>
            <a:r>
              <a:rPr kumimoji="0" lang="zh-CN" altLang="en-US" sz="2800" smtClean="0">
                <a:latin typeface="楷体_GB2312" pitchFamily="49" charset="-122"/>
                <a:ea typeface="楷体_GB2312" pitchFamily="49" charset="-122"/>
              </a:rPr>
              <a:t>其中</a:t>
            </a:r>
            <a:r>
              <a:rPr kumimoji="0" lang="en-US" altLang="zh-CN" sz="2800" smtClean="0">
                <a:latin typeface="楷体_GB2312" pitchFamily="49" charset="-122"/>
                <a:ea typeface="楷体_GB2312" pitchFamily="49" charset="-122"/>
              </a:rPr>
              <a:t>r</a:t>
            </a:r>
            <a:r>
              <a:rPr kumimoji="0" lang="zh-CN" altLang="en-US" sz="2800" smtClean="0">
                <a:latin typeface="楷体_GB2312" pitchFamily="49" charset="-122"/>
                <a:ea typeface="楷体_GB2312" pitchFamily="49" charset="-122"/>
              </a:rPr>
              <a:t>为磁盘转速。</a:t>
            </a:r>
            <a:endParaRPr kumimoji="0" lang="zh-CN" altLang="en-US" sz="2800">
              <a:latin typeface="楷体_GB2312" pitchFamily="49" charset="-122"/>
              <a:ea typeface="楷体_GB2312" pitchFamily="49" charset="-122"/>
            </a:endParaRPr>
          </a:p>
        </p:txBody>
      </p:sp>
      <p:sp>
        <p:nvSpPr>
          <p:cNvPr id="47" name="Text Box 44"/>
          <p:cNvSpPr txBox="1">
            <a:spLocks noChangeArrowheads="1"/>
          </p:cNvSpPr>
          <p:nvPr/>
        </p:nvSpPr>
        <p:spPr bwMode="auto">
          <a:xfrm>
            <a:off x="428625" y="5715000"/>
            <a:ext cx="79200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0">
                <a:latin typeface="Arial" panose="020B0604020202020204" pitchFamily="34" charset="0"/>
              </a:rPr>
              <a:t> </a:t>
            </a:r>
            <a:r>
              <a:rPr kumimoji="0" lang="zh-CN" altLang="en-US" sz="2800">
                <a:latin typeface="楷体_GB2312" pitchFamily="49" charset="-122"/>
                <a:ea typeface="楷体_GB2312" pitchFamily="49" charset="-122"/>
              </a:rPr>
              <a:t>由磁头进行读</a:t>
            </a:r>
            <a:r>
              <a:rPr kumimoji="0" lang="en-US" altLang="zh-CN" sz="2800">
                <a:latin typeface="楷体_GB2312" pitchFamily="49" charset="-122"/>
                <a:ea typeface="楷体_GB2312" pitchFamily="49" charset="-122"/>
              </a:rPr>
              <a:t>/</a:t>
            </a:r>
            <a:r>
              <a:rPr kumimoji="0" lang="zh-CN" altLang="en-US" sz="2800">
                <a:latin typeface="楷体_GB2312" pitchFamily="49" charset="-122"/>
                <a:ea typeface="楷体_GB2312" pitchFamily="49" charset="-122"/>
              </a:rPr>
              <a:t>写，完成信息传送所需要的时间。</a:t>
            </a:r>
          </a:p>
        </p:txBody>
      </p:sp>
      <p:sp>
        <p:nvSpPr>
          <p:cNvPr id="48" name="AutoShape 45"/>
          <p:cNvSpPr>
            <a:spLocks noChangeArrowheads="1"/>
          </p:cNvSpPr>
          <p:nvPr/>
        </p:nvSpPr>
        <p:spPr bwMode="auto">
          <a:xfrm>
            <a:off x="3500438" y="285750"/>
            <a:ext cx="2089150" cy="1081088"/>
          </a:xfrm>
          <a:prstGeom prst="wedgeRoundRectCallout">
            <a:avLst>
              <a:gd name="adj1" fmla="val -101917"/>
              <a:gd name="adj2" fmla="val 77625"/>
              <a:gd name="adj3" fmla="val 16667"/>
            </a:avLst>
          </a:prstGeom>
          <a:solidFill>
            <a:srgbClr val="FFFF00"/>
          </a:solidFill>
          <a:ln w="12700" cap="sq">
            <a:solidFill>
              <a:schemeClr val="tx1"/>
            </a:solidFill>
            <a:miter lim="800000"/>
            <a:headEnd type="none" w="sm" len="sm"/>
            <a:tailEnd type="none" w="sm" len="sm"/>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sz="2800">
                <a:solidFill>
                  <a:srgbClr val="FF3300"/>
                </a:solidFill>
              </a:rPr>
              <a:t>占整个时间的</a:t>
            </a:r>
            <a:r>
              <a:rPr lang="en-US" altLang="zh-CN" sz="2800">
                <a:solidFill>
                  <a:srgbClr val="FF3300"/>
                </a:solidFill>
              </a:rPr>
              <a:t>70%</a:t>
            </a:r>
          </a:p>
        </p:txBody>
      </p:sp>
      <p:sp>
        <p:nvSpPr>
          <p:cNvPr id="49" name="AutoShape 5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edge">
                                      <p:cBhvr>
                                        <p:cTn id="7" dur="2000"/>
                                        <p:tgtEl>
                                          <p:spTgt spid="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1000" fill="hold"/>
                                        <p:tgtEl>
                                          <p:spTgt spid="48"/>
                                        </p:tgtEl>
                                        <p:attrNameLst>
                                          <p:attrName>ppt_w</p:attrName>
                                        </p:attrNameLst>
                                      </p:cBhvr>
                                      <p:tavLst>
                                        <p:tav tm="0">
                                          <p:val>
                                            <p:strVal val="#ppt_w*0.70"/>
                                          </p:val>
                                        </p:tav>
                                        <p:tav tm="100000">
                                          <p:val>
                                            <p:strVal val="#ppt_w"/>
                                          </p:val>
                                        </p:tav>
                                      </p:tavLst>
                                    </p:anim>
                                    <p:anim calcmode="lin" valueType="num">
                                      <p:cBhvr>
                                        <p:cTn id="13" dur="1000" fill="hold"/>
                                        <p:tgtEl>
                                          <p:spTgt spid="48"/>
                                        </p:tgtEl>
                                        <p:attrNameLst>
                                          <p:attrName>ppt_h</p:attrName>
                                        </p:attrNameLst>
                                      </p:cBhvr>
                                      <p:tavLst>
                                        <p:tav tm="0">
                                          <p:val>
                                            <p:strVal val="#ppt_h"/>
                                          </p:val>
                                        </p:tav>
                                        <p:tav tm="100000">
                                          <p:val>
                                            <p:strVal val="#ppt_h"/>
                                          </p:val>
                                        </p:tav>
                                      </p:tavLst>
                                    </p:anim>
                                    <p:animEffect transition="in" filter="fade">
                                      <p:cBhvr>
                                        <p:cTn id="14" dur="1000"/>
                                        <p:tgtEl>
                                          <p:spTgt spid="4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strVal val="#ppt_w*0.70"/>
                                          </p:val>
                                        </p:tav>
                                        <p:tav tm="100000">
                                          <p:val>
                                            <p:strVal val="#ppt_w"/>
                                          </p:val>
                                        </p:tav>
                                      </p:tavLst>
                                    </p:anim>
                                    <p:anim calcmode="lin" valueType="num">
                                      <p:cBhvr>
                                        <p:cTn id="20" dur="1000" fill="hold"/>
                                        <p:tgtEl>
                                          <p:spTgt spid="12"/>
                                        </p:tgtEl>
                                        <p:attrNameLst>
                                          <p:attrName>ppt_h</p:attrName>
                                        </p:attrNameLst>
                                      </p:cBhvr>
                                      <p:tavLst>
                                        <p:tav tm="0">
                                          <p:val>
                                            <p:strVal val="#ppt_h"/>
                                          </p:val>
                                        </p:tav>
                                        <p:tav tm="100000">
                                          <p:val>
                                            <p:strVal val="#ppt_h"/>
                                          </p:val>
                                        </p:tav>
                                      </p:tavLst>
                                    </p:anim>
                                    <p:animEffect transition="in" filter="fade">
                                      <p:cBhvr>
                                        <p:cTn id="21" dur="1000"/>
                                        <p:tgtEl>
                                          <p:spTgt spid="1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p:cTn id="26" dur="1000" fill="hold"/>
                                        <p:tgtEl>
                                          <p:spTgt spid="20"/>
                                        </p:tgtEl>
                                        <p:attrNameLst>
                                          <p:attrName>ppt_w</p:attrName>
                                        </p:attrNameLst>
                                      </p:cBhvr>
                                      <p:tavLst>
                                        <p:tav tm="0">
                                          <p:val>
                                            <p:strVal val="#ppt_w*0.70"/>
                                          </p:val>
                                        </p:tav>
                                        <p:tav tm="100000">
                                          <p:val>
                                            <p:strVal val="#ppt_w"/>
                                          </p:val>
                                        </p:tav>
                                      </p:tavLst>
                                    </p:anim>
                                    <p:anim calcmode="lin" valueType="num">
                                      <p:cBhvr>
                                        <p:cTn id="27" dur="1000" fill="hold"/>
                                        <p:tgtEl>
                                          <p:spTgt spid="20"/>
                                        </p:tgtEl>
                                        <p:attrNameLst>
                                          <p:attrName>ppt_h</p:attrName>
                                        </p:attrNameLst>
                                      </p:cBhvr>
                                      <p:tavLst>
                                        <p:tav tm="0">
                                          <p:val>
                                            <p:strVal val="#ppt_h"/>
                                          </p:val>
                                        </p:tav>
                                        <p:tav tm="100000">
                                          <p:val>
                                            <p:strVal val="#ppt_h"/>
                                          </p:val>
                                        </p:tav>
                                      </p:tavLst>
                                    </p:anim>
                                    <p:animEffect transition="in" filter="fade">
                                      <p:cBhvr>
                                        <p:cTn id="28" dur="1000"/>
                                        <p:tgtEl>
                                          <p:spTgt spid="2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p:cTn id="33" dur="1000" fill="hold"/>
                                        <p:tgtEl>
                                          <p:spTgt spid="46"/>
                                        </p:tgtEl>
                                        <p:attrNameLst>
                                          <p:attrName>ppt_w</p:attrName>
                                        </p:attrNameLst>
                                      </p:cBhvr>
                                      <p:tavLst>
                                        <p:tav tm="0">
                                          <p:val>
                                            <p:strVal val="#ppt_w*0.70"/>
                                          </p:val>
                                        </p:tav>
                                        <p:tav tm="100000">
                                          <p:val>
                                            <p:strVal val="#ppt_w"/>
                                          </p:val>
                                        </p:tav>
                                      </p:tavLst>
                                    </p:anim>
                                    <p:anim calcmode="lin" valueType="num">
                                      <p:cBhvr>
                                        <p:cTn id="34" dur="1000" fill="hold"/>
                                        <p:tgtEl>
                                          <p:spTgt spid="46"/>
                                        </p:tgtEl>
                                        <p:attrNameLst>
                                          <p:attrName>ppt_h</p:attrName>
                                        </p:attrNameLst>
                                      </p:cBhvr>
                                      <p:tavLst>
                                        <p:tav tm="0">
                                          <p:val>
                                            <p:strVal val="#ppt_h"/>
                                          </p:val>
                                        </p:tav>
                                        <p:tav tm="100000">
                                          <p:val>
                                            <p:strVal val="#ppt_h"/>
                                          </p:val>
                                        </p:tav>
                                      </p:tavLst>
                                    </p:anim>
                                    <p:animEffect transition="in" filter="fade">
                                      <p:cBhvr>
                                        <p:cTn id="35" dur="1000"/>
                                        <p:tgtEl>
                                          <p:spTgt spid="4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0"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edge">
                                      <p:cBhvr>
                                        <p:cTn id="40" dur="2000"/>
                                        <p:tgtEl>
                                          <p:spTgt spid="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p:cTn id="45" dur="1000" fill="hold"/>
                                        <p:tgtEl>
                                          <p:spTgt spid="47"/>
                                        </p:tgtEl>
                                        <p:attrNameLst>
                                          <p:attrName>ppt_w</p:attrName>
                                        </p:attrNameLst>
                                      </p:cBhvr>
                                      <p:tavLst>
                                        <p:tav tm="0">
                                          <p:val>
                                            <p:strVal val="#ppt_w*0.70"/>
                                          </p:val>
                                        </p:tav>
                                        <p:tav tm="100000">
                                          <p:val>
                                            <p:strVal val="#ppt_w"/>
                                          </p:val>
                                        </p:tav>
                                      </p:tavLst>
                                    </p:anim>
                                    <p:anim calcmode="lin" valueType="num">
                                      <p:cBhvr>
                                        <p:cTn id="46" dur="1000" fill="hold"/>
                                        <p:tgtEl>
                                          <p:spTgt spid="47"/>
                                        </p:tgtEl>
                                        <p:attrNameLst>
                                          <p:attrName>ppt_h</p:attrName>
                                        </p:attrNameLst>
                                      </p:cBhvr>
                                      <p:tavLst>
                                        <p:tav tm="0">
                                          <p:val>
                                            <p:strVal val="#ppt_h"/>
                                          </p:val>
                                        </p:tav>
                                        <p:tav tm="100000">
                                          <p:val>
                                            <p:strVal val="#ppt_h"/>
                                          </p:val>
                                        </p:tav>
                                      </p:tavLst>
                                    </p:anim>
                                    <p:animEffect transition="in" filter="fade">
                                      <p:cBhvr>
                                        <p:cTn id="47" dur="1000"/>
                                        <p:tgtEl>
                                          <p:spTgt spid="4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edge">
                                      <p:cBhvr>
                                        <p:cTn id="52" dur="2000"/>
                                        <p:tgtEl>
                                          <p:spTgt spid="1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0" presetClass="entr" presetSubtype="0"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wedge">
                                      <p:cBhvr>
                                        <p:cTn id="57" dur="2000"/>
                                        <p:tgtEl>
                                          <p:spTgt spid="2"/>
                                        </p:tgtEl>
                                      </p:cBhvr>
                                    </p:animEffect>
                                  </p:childTnLst>
                                </p:cTn>
                              </p:par>
                            </p:childTnLst>
                          </p:cTn>
                        </p:par>
                        <p:par>
                          <p:cTn id="58" fill="hold" nodeType="afterGroup">
                            <p:stCondLst>
                              <p:cond delay="2000"/>
                            </p:stCondLst>
                            <p:childTnLst>
                              <p:par>
                                <p:cTn id="59" presetID="2" presetClass="entr" presetSubtype="6" fill="hold" grpId="0" nodeType="afterEffect">
                                  <p:stCondLst>
                                    <p:cond delay="0"/>
                                  </p:stCondLst>
                                  <p:childTnLst>
                                    <p:set>
                                      <p:cBhvr>
                                        <p:cTn id="60" dur="1" fill="hold">
                                          <p:stCondLst>
                                            <p:cond delay="0"/>
                                          </p:stCondLst>
                                        </p:cTn>
                                        <p:tgtEl>
                                          <p:spTgt spid="49"/>
                                        </p:tgtEl>
                                        <p:attrNameLst>
                                          <p:attrName>style.visibility</p:attrName>
                                        </p:attrNameLst>
                                      </p:cBhvr>
                                      <p:to>
                                        <p:strVal val="visible"/>
                                      </p:to>
                                    </p:set>
                                    <p:anim calcmode="lin" valueType="num">
                                      <p:cBhvr additive="base">
                                        <p:cTn id="61" dur="500" fill="hold"/>
                                        <p:tgtEl>
                                          <p:spTgt spid="49"/>
                                        </p:tgtEl>
                                        <p:attrNameLst>
                                          <p:attrName>ppt_x</p:attrName>
                                        </p:attrNameLst>
                                      </p:cBhvr>
                                      <p:tavLst>
                                        <p:tav tm="0">
                                          <p:val>
                                            <p:strVal val="1+#ppt_w/2"/>
                                          </p:val>
                                        </p:tav>
                                        <p:tav tm="100000">
                                          <p:val>
                                            <p:strVal val="#ppt_x"/>
                                          </p:val>
                                        </p:tav>
                                      </p:tavLst>
                                    </p:anim>
                                    <p:anim calcmode="lin" valueType="num">
                                      <p:cBhvr additive="base">
                                        <p:cTn id="6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20" grpId="0"/>
      <p:bldP spid="45" grpId="0"/>
      <p:bldP spid="46" grpId="0"/>
      <p:bldP spid="47" grpId="0"/>
      <p:bldP spid="48" grpId="0" animBg="1"/>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Box 2"/>
          <p:cNvSpPr txBox="1">
            <a:spLocks noChangeArrowheads="1"/>
          </p:cNvSpPr>
          <p:nvPr/>
        </p:nvSpPr>
        <p:spPr bwMode="auto">
          <a:xfrm>
            <a:off x="214313" y="214313"/>
            <a:ext cx="8786812" cy="18161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chemeClr val="bg2"/>
                </a:solidFill>
              </a:rPr>
              <a:t>某磁盘的转速为</a:t>
            </a:r>
            <a:r>
              <a:rPr lang="en-US" altLang="zh-CN" sz="2800" dirty="0">
                <a:solidFill>
                  <a:schemeClr val="bg2"/>
                </a:solidFill>
              </a:rPr>
              <a:t>10000</a:t>
            </a:r>
            <a:r>
              <a:rPr lang="zh-CN" altLang="en-US" sz="2800" dirty="0">
                <a:solidFill>
                  <a:schemeClr val="bg2"/>
                </a:solidFill>
              </a:rPr>
              <a:t>转</a:t>
            </a:r>
            <a:r>
              <a:rPr lang="en-US" altLang="zh-CN" sz="2800" dirty="0">
                <a:solidFill>
                  <a:schemeClr val="bg2"/>
                </a:solidFill>
              </a:rPr>
              <a:t>/</a:t>
            </a:r>
            <a:r>
              <a:rPr lang="zh-CN" altLang="en-US" sz="2800" dirty="0">
                <a:solidFill>
                  <a:schemeClr val="bg2"/>
                </a:solidFill>
              </a:rPr>
              <a:t>分，平均寻道时间是</a:t>
            </a:r>
            <a:r>
              <a:rPr lang="en-US" altLang="zh-CN" sz="2800" dirty="0">
                <a:solidFill>
                  <a:schemeClr val="bg2"/>
                </a:solidFill>
              </a:rPr>
              <a:t>6ms</a:t>
            </a:r>
            <a:r>
              <a:rPr lang="zh-CN" altLang="en-US" sz="2800" dirty="0">
                <a:solidFill>
                  <a:schemeClr val="bg2"/>
                </a:solidFill>
              </a:rPr>
              <a:t>，磁盘传输速率是</a:t>
            </a:r>
            <a:r>
              <a:rPr lang="en-US" altLang="zh-CN" sz="2800" dirty="0">
                <a:solidFill>
                  <a:schemeClr val="bg2"/>
                </a:solidFill>
              </a:rPr>
              <a:t>20MB/s</a:t>
            </a:r>
            <a:r>
              <a:rPr lang="zh-CN" altLang="en-US" sz="2800" dirty="0">
                <a:solidFill>
                  <a:schemeClr val="bg2"/>
                </a:solidFill>
              </a:rPr>
              <a:t>，磁盘控制器延迟为</a:t>
            </a:r>
            <a:r>
              <a:rPr lang="en-US" altLang="zh-CN" sz="2800" dirty="0" smtClean="0">
                <a:solidFill>
                  <a:schemeClr val="bg2"/>
                </a:solidFill>
              </a:rPr>
              <a:t>0.2ms</a:t>
            </a:r>
            <a:r>
              <a:rPr lang="zh-CN" altLang="en-US" sz="2800" dirty="0">
                <a:solidFill>
                  <a:schemeClr val="bg2"/>
                </a:solidFill>
              </a:rPr>
              <a:t>，读取一个</a:t>
            </a:r>
            <a:r>
              <a:rPr lang="en-US" altLang="zh-CN" sz="2800" dirty="0">
                <a:solidFill>
                  <a:schemeClr val="bg2"/>
                </a:solidFill>
              </a:rPr>
              <a:t>4 KB</a:t>
            </a:r>
            <a:r>
              <a:rPr lang="zh-CN" altLang="en-US" sz="2800" dirty="0">
                <a:solidFill>
                  <a:schemeClr val="bg2"/>
                </a:solidFill>
              </a:rPr>
              <a:t>的扇区所需的平均时间</a:t>
            </a:r>
            <a:r>
              <a:rPr lang="zh-CN" altLang="en-US" sz="2800" dirty="0">
                <a:solidFill>
                  <a:srgbClr val="FF0000"/>
                </a:solidFill>
              </a:rPr>
              <a:t>约</a:t>
            </a:r>
            <a:r>
              <a:rPr lang="zh-CN" altLang="en-US" sz="2800" dirty="0">
                <a:solidFill>
                  <a:schemeClr val="bg2"/>
                </a:solidFill>
              </a:rPr>
              <a:t>为 </a:t>
            </a:r>
            <a:r>
              <a:rPr lang="en-US" altLang="zh-CN" sz="2800" dirty="0">
                <a:solidFill>
                  <a:schemeClr val="bg2"/>
                </a:solidFill>
              </a:rPr>
              <a:t>(2013)</a:t>
            </a:r>
            <a:endParaRPr lang="zh-CN" altLang="en-US" sz="2800" dirty="0">
              <a:solidFill>
                <a:schemeClr val="bg2"/>
              </a:solidFill>
            </a:endParaRPr>
          </a:p>
          <a:p>
            <a:pPr eaLnBrk="1" hangingPunct="1">
              <a:spcBef>
                <a:spcPct val="0"/>
              </a:spcBef>
              <a:buClrTx/>
              <a:buSzTx/>
              <a:buFontTx/>
              <a:buNone/>
            </a:pPr>
            <a:r>
              <a:rPr lang="en-US" altLang="zh-CN" sz="2800" dirty="0">
                <a:solidFill>
                  <a:schemeClr val="bg2"/>
                </a:solidFill>
              </a:rPr>
              <a:t>A. 9 </a:t>
            </a:r>
            <a:r>
              <a:rPr lang="en-US" altLang="zh-CN" sz="2800" dirty="0" err="1">
                <a:solidFill>
                  <a:schemeClr val="bg2"/>
                </a:solidFill>
              </a:rPr>
              <a:t>ms</a:t>
            </a:r>
            <a:r>
              <a:rPr lang="en-US" altLang="zh-CN" sz="2800" dirty="0">
                <a:solidFill>
                  <a:schemeClr val="bg2"/>
                </a:solidFill>
              </a:rPr>
              <a:t>          B. 9.4 </a:t>
            </a:r>
            <a:r>
              <a:rPr lang="en-US" altLang="zh-CN" sz="2800" dirty="0" err="1">
                <a:solidFill>
                  <a:schemeClr val="bg2"/>
                </a:solidFill>
              </a:rPr>
              <a:t>ms</a:t>
            </a:r>
            <a:r>
              <a:rPr lang="en-US" altLang="zh-CN" sz="2800" dirty="0">
                <a:solidFill>
                  <a:schemeClr val="bg2"/>
                </a:solidFill>
              </a:rPr>
              <a:t>             C. 12 </a:t>
            </a:r>
            <a:r>
              <a:rPr lang="en-US" altLang="zh-CN" sz="2800" dirty="0" err="1">
                <a:solidFill>
                  <a:schemeClr val="bg2"/>
                </a:solidFill>
              </a:rPr>
              <a:t>ms</a:t>
            </a:r>
            <a:r>
              <a:rPr lang="en-US" altLang="zh-CN" sz="2800" dirty="0">
                <a:solidFill>
                  <a:schemeClr val="bg2"/>
                </a:solidFill>
              </a:rPr>
              <a:t>            D. 12.4 </a:t>
            </a:r>
            <a:r>
              <a:rPr lang="en-US" altLang="zh-CN" sz="2800" dirty="0" err="1">
                <a:solidFill>
                  <a:schemeClr val="bg2"/>
                </a:solidFill>
              </a:rPr>
              <a:t>ms</a:t>
            </a:r>
            <a:endParaRPr lang="zh-CN" altLang="en-US" sz="2800" dirty="0"/>
          </a:p>
        </p:txBody>
      </p:sp>
      <p:sp>
        <p:nvSpPr>
          <p:cNvPr id="4" name="TextBox 3"/>
          <p:cNvSpPr txBox="1">
            <a:spLocks noChangeArrowheads="1"/>
          </p:cNvSpPr>
          <p:nvPr/>
        </p:nvSpPr>
        <p:spPr bwMode="auto">
          <a:xfrm>
            <a:off x="357188" y="5429250"/>
            <a:ext cx="8001000" cy="523875"/>
          </a:xfrm>
          <a:prstGeom prst="rect">
            <a:avLst/>
          </a:prstGeom>
          <a:solidFill>
            <a:srgbClr val="BBE72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总时间：</a:t>
            </a:r>
            <a:r>
              <a:rPr lang="en-US" altLang="zh-CN" sz="2800">
                <a:solidFill>
                  <a:schemeClr val="bg2"/>
                </a:solidFill>
              </a:rPr>
              <a:t>6+3+0.2+0.2= 9.4 (ms)</a:t>
            </a:r>
            <a:endParaRPr lang="zh-CN" altLang="en-US" sz="2800">
              <a:solidFill>
                <a:schemeClr val="bg2"/>
              </a:solidFill>
            </a:endParaRPr>
          </a:p>
        </p:txBody>
      </p:sp>
      <p:sp>
        <p:nvSpPr>
          <p:cNvPr id="5" name="TextBox 4"/>
          <p:cNvSpPr txBox="1">
            <a:spLocks noChangeArrowheads="1"/>
          </p:cNvSpPr>
          <p:nvPr/>
        </p:nvSpPr>
        <p:spPr bwMode="auto">
          <a:xfrm>
            <a:off x="285750" y="2928938"/>
            <a:ext cx="8572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t>磁盘转速是</a:t>
            </a:r>
            <a:r>
              <a:rPr lang="en-US" altLang="zh-CN" sz="2800"/>
              <a:t>10000</a:t>
            </a:r>
            <a:r>
              <a:rPr lang="zh-CN" altLang="en-US" sz="2800"/>
              <a:t>转</a:t>
            </a:r>
            <a:r>
              <a:rPr lang="en-US" altLang="zh-CN" sz="2800"/>
              <a:t>/</a:t>
            </a:r>
            <a:r>
              <a:rPr lang="zh-CN" altLang="en-US" sz="2800"/>
              <a:t>分钟，平均转一圈的时间是</a:t>
            </a:r>
            <a:r>
              <a:rPr lang="en-US" altLang="zh-CN" sz="2800"/>
              <a:t>6ms</a:t>
            </a:r>
            <a:r>
              <a:rPr lang="zh-CN" altLang="en-US" sz="2800"/>
              <a:t>，</a:t>
            </a:r>
            <a:endParaRPr lang="en-US" altLang="zh-CN" sz="2800"/>
          </a:p>
          <a:p>
            <a:pPr eaLnBrk="1" hangingPunct="1">
              <a:spcBef>
                <a:spcPct val="0"/>
              </a:spcBef>
              <a:buClrTx/>
              <a:buSzTx/>
              <a:buFontTx/>
              <a:buNone/>
            </a:pPr>
            <a:r>
              <a:rPr lang="zh-CN" altLang="en-US" sz="2800">
                <a:solidFill>
                  <a:srgbClr val="FFFF00"/>
                </a:solidFill>
              </a:rPr>
              <a:t>平均等待时间是 </a:t>
            </a:r>
            <a:r>
              <a:rPr lang="en-US" altLang="zh-CN" sz="2800">
                <a:solidFill>
                  <a:srgbClr val="FFFF00"/>
                </a:solidFill>
              </a:rPr>
              <a:t>3ms</a:t>
            </a:r>
            <a:r>
              <a:rPr lang="zh-CN" altLang="en-US" sz="2800"/>
              <a:t>。</a:t>
            </a:r>
          </a:p>
        </p:txBody>
      </p:sp>
      <p:sp>
        <p:nvSpPr>
          <p:cNvPr id="6" name="TextBox 5"/>
          <p:cNvSpPr txBox="1">
            <a:spLocks noChangeArrowheads="1"/>
          </p:cNvSpPr>
          <p:nvPr/>
        </p:nvSpPr>
        <p:spPr bwMode="auto">
          <a:xfrm>
            <a:off x="285750" y="3857625"/>
            <a:ext cx="88582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t>磁盘传输速率是</a:t>
            </a:r>
            <a:r>
              <a:rPr lang="en-US" altLang="en-US" sz="2800"/>
              <a:t>20MB/s</a:t>
            </a:r>
            <a:r>
              <a:rPr lang="zh-CN" altLang="en-US" sz="2800"/>
              <a:t>，</a:t>
            </a:r>
            <a:endParaRPr lang="en-US" altLang="zh-CN" sz="2800"/>
          </a:p>
          <a:p>
            <a:pPr eaLnBrk="1" hangingPunct="1">
              <a:spcBef>
                <a:spcPct val="0"/>
              </a:spcBef>
              <a:buClrTx/>
              <a:buSzTx/>
              <a:buFontTx/>
              <a:buNone/>
            </a:pPr>
            <a:r>
              <a:rPr lang="zh-CN" altLang="en-US" sz="2800">
                <a:solidFill>
                  <a:srgbClr val="FFFF00"/>
                </a:solidFill>
              </a:rPr>
              <a:t>读取</a:t>
            </a:r>
            <a:r>
              <a:rPr lang="en-US" altLang="zh-CN" sz="2800">
                <a:solidFill>
                  <a:srgbClr val="FFFF00"/>
                </a:solidFill>
              </a:rPr>
              <a:t>4 KB</a:t>
            </a:r>
            <a:r>
              <a:rPr lang="zh-CN" altLang="en-US" sz="2800">
                <a:solidFill>
                  <a:srgbClr val="FFFF00"/>
                </a:solidFill>
              </a:rPr>
              <a:t>扇区信息的时间</a:t>
            </a:r>
            <a:r>
              <a:rPr lang="en-US" altLang="zh-CN" sz="2800">
                <a:solidFill>
                  <a:srgbClr val="FFFF00"/>
                </a:solidFill>
              </a:rPr>
              <a:t>(</a:t>
            </a:r>
            <a:r>
              <a:rPr lang="zh-CN" altLang="en-US" sz="2800">
                <a:solidFill>
                  <a:srgbClr val="FFFF00"/>
                </a:solidFill>
              </a:rPr>
              <a:t>传输时间</a:t>
            </a:r>
            <a:r>
              <a:rPr lang="en-US" altLang="zh-CN" sz="2800">
                <a:solidFill>
                  <a:srgbClr val="FFFF00"/>
                </a:solidFill>
              </a:rPr>
              <a:t>)</a:t>
            </a:r>
            <a:r>
              <a:rPr lang="zh-CN" altLang="en-US" sz="2800">
                <a:solidFill>
                  <a:srgbClr val="FFFF00"/>
                </a:solidFill>
              </a:rPr>
              <a:t>为</a:t>
            </a:r>
            <a:r>
              <a:rPr lang="en-US" altLang="zh-CN" sz="2800">
                <a:solidFill>
                  <a:srgbClr val="FFFF00"/>
                </a:solidFill>
              </a:rPr>
              <a:t>(</a:t>
            </a:r>
            <a:r>
              <a:rPr lang="zh-CN" altLang="en-US" sz="2800">
                <a:solidFill>
                  <a:srgbClr val="FFFF00"/>
                </a:solidFill>
              </a:rPr>
              <a:t>单位</a:t>
            </a:r>
            <a:r>
              <a:rPr lang="en-US" altLang="zh-CN" sz="2800">
                <a:solidFill>
                  <a:srgbClr val="FFFF00"/>
                </a:solidFill>
              </a:rPr>
              <a:t>ms)</a:t>
            </a:r>
          </a:p>
          <a:p>
            <a:pPr eaLnBrk="1" hangingPunct="1">
              <a:spcBef>
                <a:spcPct val="0"/>
              </a:spcBef>
              <a:buClrTx/>
              <a:buSzTx/>
              <a:buFontTx/>
              <a:buNone/>
            </a:pPr>
            <a:r>
              <a:rPr lang="en-US" altLang="zh-CN" sz="2800">
                <a:solidFill>
                  <a:srgbClr val="FFFF00"/>
                </a:solidFill>
              </a:rPr>
              <a:t>1000*(4</a:t>
            </a:r>
            <a:r>
              <a:rPr lang="zh-CN" altLang="en-US" sz="2800">
                <a:solidFill>
                  <a:srgbClr val="FFFF00"/>
                </a:solidFill>
              </a:rPr>
              <a:t>*</a:t>
            </a:r>
            <a:r>
              <a:rPr lang="en-US" altLang="zh-CN" sz="2800">
                <a:solidFill>
                  <a:srgbClr val="FFFF00"/>
                </a:solidFill>
              </a:rPr>
              <a:t>2</a:t>
            </a:r>
            <a:r>
              <a:rPr lang="en-US" altLang="zh-CN" sz="2800" baseline="30000">
                <a:solidFill>
                  <a:srgbClr val="FFFF00"/>
                </a:solidFill>
              </a:rPr>
              <a:t>10</a:t>
            </a:r>
            <a:r>
              <a:rPr lang="en-US" altLang="zh-CN" sz="2800">
                <a:solidFill>
                  <a:srgbClr val="FFFF00"/>
                </a:solidFill>
              </a:rPr>
              <a:t> ) /(20</a:t>
            </a:r>
            <a:r>
              <a:rPr lang="zh-CN" altLang="en-US" sz="2800">
                <a:solidFill>
                  <a:srgbClr val="FFFF00"/>
                </a:solidFill>
              </a:rPr>
              <a:t>*</a:t>
            </a:r>
            <a:r>
              <a:rPr lang="en-US" altLang="zh-CN" sz="2800">
                <a:solidFill>
                  <a:srgbClr val="FFFF00"/>
                </a:solidFill>
              </a:rPr>
              <a:t>2</a:t>
            </a:r>
            <a:r>
              <a:rPr lang="en-US" altLang="zh-CN" sz="2800" baseline="30000">
                <a:solidFill>
                  <a:srgbClr val="FFFF00"/>
                </a:solidFill>
              </a:rPr>
              <a:t>20</a:t>
            </a:r>
            <a:r>
              <a:rPr lang="en-US" altLang="zh-CN" sz="2800">
                <a:solidFill>
                  <a:srgbClr val="FFFF00"/>
                </a:solidFill>
              </a:rPr>
              <a:t>)</a:t>
            </a:r>
            <a:r>
              <a:rPr lang="zh-CN" altLang="en-US" sz="2800">
                <a:solidFill>
                  <a:srgbClr val="FFFF00"/>
                </a:solidFill>
              </a:rPr>
              <a:t>  </a:t>
            </a:r>
            <a:r>
              <a:rPr lang="en-US" altLang="zh-CN" sz="2800">
                <a:solidFill>
                  <a:srgbClr val="FFFF00"/>
                </a:solidFill>
              </a:rPr>
              <a:t>= 0.2 ms</a:t>
            </a:r>
            <a:r>
              <a:rPr lang="zh-CN" altLang="en-US" sz="2800">
                <a:solidFill>
                  <a:srgbClr val="FFFF00"/>
                </a:solidFill>
              </a:rPr>
              <a:t>，</a:t>
            </a:r>
          </a:p>
        </p:txBody>
      </p:sp>
      <p:sp>
        <p:nvSpPr>
          <p:cNvPr id="7" name="AutoShape 7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59400" name="TextBox 7"/>
          <p:cNvSpPr txBox="1">
            <a:spLocks noChangeArrowheads="1"/>
          </p:cNvSpPr>
          <p:nvPr/>
        </p:nvSpPr>
        <p:spPr bwMode="auto">
          <a:xfrm>
            <a:off x="428625" y="2286000"/>
            <a:ext cx="3643313" cy="523875"/>
          </a:xfrm>
          <a:prstGeom prst="rect">
            <a:avLst/>
          </a:prstGeom>
          <a:solidFill>
            <a:srgbClr val="C7F7F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a:solidFill>
                  <a:schemeClr val="bg2"/>
                </a:solidFill>
              </a:rPr>
              <a:t>约定：  </a:t>
            </a:r>
            <a:r>
              <a:rPr lang="en-US" altLang="zh-CN" sz="2800">
                <a:solidFill>
                  <a:schemeClr val="bg2"/>
                </a:solidFill>
              </a:rPr>
              <a:t> 2</a:t>
            </a:r>
            <a:r>
              <a:rPr lang="en-US" altLang="zh-CN" sz="2800" baseline="30000">
                <a:solidFill>
                  <a:schemeClr val="bg2"/>
                </a:solidFill>
              </a:rPr>
              <a:t>10</a:t>
            </a:r>
            <a:r>
              <a:rPr lang="en-US" altLang="zh-CN" sz="2800">
                <a:solidFill>
                  <a:schemeClr val="bg2"/>
                </a:solidFill>
              </a:rPr>
              <a:t>=10</a:t>
            </a:r>
            <a:r>
              <a:rPr lang="en-US" altLang="zh-CN" sz="2800" baseline="30000">
                <a:solidFill>
                  <a:schemeClr val="bg2"/>
                </a:solidFill>
              </a:rPr>
              <a:t>3</a:t>
            </a:r>
            <a:r>
              <a:rPr lang="en-US" altLang="zh-CN" sz="2800">
                <a:solidFill>
                  <a:schemeClr val="bg2"/>
                </a:solidFill>
              </a:rPr>
              <a:t>;       </a:t>
            </a:r>
            <a:endParaRPr lang="zh-CN" altLang="en-US" sz="2800">
              <a:solidFill>
                <a:schemeClr val="bg2"/>
              </a:solidFill>
            </a:endParaRPr>
          </a:p>
        </p:txBody>
      </p:sp>
    </p:spTree>
    <p:extLst>
      <p:ext uri="{BB962C8B-B14F-4D97-AF65-F5344CB8AC3E}">
        <p14:creationId xmlns:p14="http://schemas.microsoft.com/office/powerpoint/2010/main" val="39614583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blinds(horizontal)">
                                      <p:cBhvr>
                                        <p:cTn id="22" dur="500"/>
                                        <p:tgtEl>
                                          <p:spTgt spid="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blinds(horizontal)">
                                      <p:cBhvr>
                                        <p:cTn id="27" dur="500"/>
                                        <p:tgtEl>
                                          <p:spTgt spid="6">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circle(in)">
                                      <p:cBhvr>
                                        <p:cTn id="32" dur="2000"/>
                                        <p:tgtEl>
                                          <p:spTgt spid="4"/>
                                        </p:tgtEl>
                                      </p:cBhvr>
                                    </p:animEffect>
                                  </p:childTnLst>
                                </p:cTn>
                              </p:par>
                            </p:childTnLst>
                          </p:cTn>
                        </p:par>
                        <p:par>
                          <p:cTn id="33" fill="hold" nodeType="afterGroup">
                            <p:stCondLst>
                              <p:cond delay="2000"/>
                            </p:stCondLst>
                            <p:childTnLst>
                              <p:par>
                                <p:cTn id="34" presetID="2" presetClass="entr" presetSubtype="6" fill="hold" grpId="0"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1+#ppt_w/2"/>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6" grpId="0" build="p"/>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 Box 3"/>
          <p:cNvSpPr txBox="1">
            <a:spLocks noChangeArrowheads="1"/>
          </p:cNvSpPr>
          <p:nvPr/>
        </p:nvSpPr>
        <p:spPr bwMode="auto">
          <a:xfrm>
            <a:off x="1547813" y="260350"/>
            <a:ext cx="5832475" cy="641350"/>
          </a:xfrm>
          <a:prstGeom prst="rect">
            <a:avLst/>
          </a:prstGeom>
          <a:noFill/>
          <a:ln w="9525" algn="ctr">
            <a:noFill/>
            <a:miter lim="800000"/>
            <a:headEnd/>
            <a:tailEnd/>
          </a:ln>
        </p:spPr>
        <p:txBody>
          <a:bodyPr>
            <a:spAutoFit/>
          </a:bodyPr>
          <a:lstStyle/>
          <a:p>
            <a:pPr algn="ctr" eaLnBrk="1" hangingPunct="1">
              <a:defRPr/>
            </a:pPr>
            <a:r>
              <a:rPr kumimoji="0" lang="zh-CN" altLang="en-US" sz="3600" dirty="0">
                <a:solidFill>
                  <a:srgbClr val="FFC000"/>
                </a:solidFill>
                <a:effectLst>
                  <a:outerShdw blurRad="38100" dist="38100" dir="2700000" algn="tl">
                    <a:srgbClr val="000000">
                      <a:alpha val="43137"/>
                    </a:srgbClr>
                  </a:outerShdw>
                </a:effectLst>
                <a:latin typeface="楷体_GB2312" pitchFamily="49" charset="-122"/>
                <a:ea typeface="楷体_GB2312" pitchFamily="49" charset="-122"/>
              </a:rPr>
              <a:t>移臂调度与旋转调度</a:t>
            </a:r>
          </a:p>
        </p:txBody>
      </p:sp>
      <p:sp>
        <p:nvSpPr>
          <p:cNvPr id="61444" name="Text Box 4"/>
          <p:cNvSpPr txBox="1">
            <a:spLocks noChangeArrowheads="1"/>
          </p:cNvSpPr>
          <p:nvPr/>
        </p:nvSpPr>
        <p:spPr bwMode="auto">
          <a:xfrm>
            <a:off x="1116013" y="1268413"/>
            <a:ext cx="3743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a:solidFill>
                  <a:srgbClr val="FFFF00"/>
                </a:solidFill>
                <a:latin typeface="Arial" panose="020B0604020202020204" pitchFamily="34" charset="0"/>
              </a:rPr>
              <a:t>（</a:t>
            </a:r>
            <a:r>
              <a:rPr kumimoji="0" lang="en-US" altLang="zh-CN">
                <a:solidFill>
                  <a:srgbClr val="FFFF00"/>
                </a:solidFill>
                <a:latin typeface="Arial" panose="020B0604020202020204" pitchFamily="34" charset="0"/>
              </a:rPr>
              <a:t>1</a:t>
            </a:r>
            <a:r>
              <a:rPr kumimoji="0" lang="zh-CN" altLang="en-US">
                <a:solidFill>
                  <a:srgbClr val="FFFF00"/>
                </a:solidFill>
                <a:latin typeface="Arial" panose="020B0604020202020204" pitchFamily="34" charset="0"/>
              </a:rPr>
              <a:t>）移臂调度</a:t>
            </a:r>
          </a:p>
        </p:txBody>
      </p:sp>
      <p:sp>
        <p:nvSpPr>
          <p:cNvPr id="61445" name="Text Box 5"/>
          <p:cNvSpPr txBox="1">
            <a:spLocks noChangeArrowheads="1"/>
          </p:cNvSpPr>
          <p:nvPr/>
        </p:nvSpPr>
        <p:spPr bwMode="auto">
          <a:xfrm>
            <a:off x="1042988" y="2781300"/>
            <a:ext cx="35290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a:solidFill>
                  <a:srgbClr val="FFFF00"/>
                </a:solidFill>
                <a:latin typeface="Arial" panose="020B0604020202020204" pitchFamily="34" charset="0"/>
              </a:rPr>
              <a:t>（</a:t>
            </a:r>
            <a:r>
              <a:rPr kumimoji="0" lang="en-US" altLang="zh-CN">
                <a:solidFill>
                  <a:srgbClr val="FFFF00"/>
                </a:solidFill>
                <a:latin typeface="Arial" panose="020B0604020202020204" pitchFamily="34" charset="0"/>
              </a:rPr>
              <a:t>2</a:t>
            </a:r>
            <a:r>
              <a:rPr kumimoji="0" lang="zh-CN" altLang="en-US">
                <a:solidFill>
                  <a:srgbClr val="FFFF00"/>
                </a:solidFill>
                <a:latin typeface="Arial" panose="020B0604020202020204" pitchFamily="34" charset="0"/>
              </a:rPr>
              <a:t>）旋转调度</a:t>
            </a:r>
          </a:p>
        </p:txBody>
      </p:sp>
      <p:sp>
        <p:nvSpPr>
          <p:cNvPr id="668678" name="Text Box 6"/>
          <p:cNvSpPr txBox="1">
            <a:spLocks noChangeArrowheads="1"/>
          </p:cNvSpPr>
          <p:nvPr/>
        </p:nvSpPr>
        <p:spPr bwMode="auto">
          <a:xfrm>
            <a:off x="1835150" y="1916113"/>
            <a:ext cx="3600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latin typeface="Arial" panose="020B0604020202020204" pitchFamily="34" charset="0"/>
                <a:ea typeface="楷体_GB2312" pitchFamily="49" charset="-122"/>
              </a:rPr>
              <a:t>减少查找时间着手</a:t>
            </a:r>
          </a:p>
        </p:txBody>
      </p:sp>
      <p:sp>
        <p:nvSpPr>
          <p:cNvPr id="668679" name="Text Box 7"/>
          <p:cNvSpPr txBox="1">
            <a:spLocks noChangeArrowheads="1"/>
          </p:cNvSpPr>
          <p:nvPr/>
        </p:nvSpPr>
        <p:spPr bwMode="auto">
          <a:xfrm>
            <a:off x="1403350" y="3500438"/>
            <a:ext cx="4465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b="0">
                <a:latin typeface="Arial" panose="020B0604020202020204" pitchFamily="34" charset="0"/>
              </a:rPr>
              <a:t>   </a:t>
            </a:r>
            <a:r>
              <a:rPr kumimoji="0" lang="zh-CN" altLang="en-US" sz="2800">
                <a:latin typeface="Arial" panose="020B0604020202020204" pitchFamily="34" charset="0"/>
                <a:ea typeface="楷体_GB2312" pitchFamily="49" charset="-122"/>
              </a:rPr>
              <a:t>减少等待时间着手。</a:t>
            </a:r>
          </a:p>
        </p:txBody>
      </p:sp>
      <p:sp>
        <p:nvSpPr>
          <p:cNvPr id="668680" name="AutoShape 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68678"/>
                                        </p:tgtEl>
                                        <p:attrNameLst>
                                          <p:attrName>style.visibility</p:attrName>
                                        </p:attrNameLst>
                                      </p:cBhvr>
                                      <p:to>
                                        <p:strVal val="visible"/>
                                      </p:to>
                                    </p:set>
                                    <p:anim calcmode="lin" valueType="num">
                                      <p:cBhvr additive="base">
                                        <p:cTn id="7" dur="3000" fill="hold"/>
                                        <p:tgtEl>
                                          <p:spTgt spid="668678"/>
                                        </p:tgtEl>
                                        <p:attrNameLst>
                                          <p:attrName>ppt_x</p:attrName>
                                        </p:attrNameLst>
                                      </p:cBhvr>
                                      <p:tavLst>
                                        <p:tav tm="0">
                                          <p:val>
                                            <p:strVal val="#ppt_x"/>
                                          </p:val>
                                        </p:tav>
                                        <p:tav tm="100000">
                                          <p:val>
                                            <p:strVal val="#ppt_x"/>
                                          </p:val>
                                        </p:tav>
                                      </p:tavLst>
                                    </p:anim>
                                    <p:anim calcmode="lin" valueType="num">
                                      <p:cBhvr additive="base">
                                        <p:cTn id="8" dur="3000" fill="hold"/>
                                        <p:tgtEl>
                                          <p:spTgt spid="668678"/>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3000"/>
                            </p:stCondLst>
                            <p:childTnLst>
                              <p:par>
                                <p:cTn id="10" presetID="2" presetClass="entr" presetSubtype="4" fill="hold" grpId="0" nodeType="afterEffect">
                                  <p:stCondLst>
                                    <p:cond delay="0"/>
                                  </p:stCondLst>
                                  <p:childTnLst>
                                    <p:set>
                                      <p:cBhvr>
                                        <p:cTn id="11" dur="1" fill="hold">
                                          <p:stCondLst>
                                            <p:cond delay="0"/>
                                          </p:stCondLst>
                                        </p:cTn>
                                        <p:tgtEl>
                                          <p:spTgt spid="668679"/>
                                        </p:tgtEl>
                                        <p:attrNameLst>
                                          <p:attrName>style.visibility</p:attrName>
                                        </p:attrNameLst>
                                      </p:cBhvr>
                                      <p:to>
                                        <p:strVal val="visible"/>
                                      </p:to>
                                    </p:set>
                                    <p:anim calcmode="lin" valueType="num">
                                      <p:cBhvr additive="base">
                                        <p:cTn id="12" dur="3000" fill="hold"/>
                                        <p:tgtEl>
                                          <p:spTgt spid="668679"/>
                                        </p:tgtEl>
                                        <p:attrNameLst>
                                          <p:attrName>ppt_x</p:attrName>
                                        </p:attrNameLst>
                                      </p:cBhvr>
                                      <p:tavLst>
                                        <p:tav tm="0">
                                          <p:val>
                                            <p:strVal val="#ppt_x"/>
                                          </p:val>
                                        </p:tav>
                                        <p:tav tm="100000">
                                          <p:val>
                                            <p:strVal val="#ppt_x"/>
                                          </p:val>
                                        </p:tav>
                                      </p:tavLst>
                                    </p:anim>
                                    <p:anim calcmode="lin" valueType="num">
                                      <p:cBhvr additive="base">
                                        <p:cTn id="13" dur="3000" fill="hold"/>
                                        <p:tgtEl>
                                          <p:spTgt spid="668679"/>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6000"/>
                            </p:stCondLst>
                            <p:childTnLst>
                              <p:par>
                                <p:cTn id="15" presetID="2" presetClass="entr" presetSubtype="6" fill="hold" grpId="0" nodeType="afterEffect">
                                  <p:stCondLst>
                                    <p:cond delay="0"/>
                                  </p:stCondLst>
                                  <p:childTnLst>
                                    <p:set>
                                      <p:cBhvr>
                                        <p:cTn id="16" dur="1" fill="hold">
                                          <p:stCondLst>
                                            <p:cond delay="0"/>
                                          </p:stCondLst>
                                        </p:cTn>
                                        <p:tgtEl>
                                          <p:spTgt spid="668680"/>
                                        </p:tgtEl>
                                        <p:attrNameLst>
                                          <p:attrName>style.visibility</p:attrName>
                                        </p:attrNameLst>
                                      </p:cBhvr>
                                      <p:to>
                                        <p:strVal val="visible"/>
                                      </p:to>
                                    </p:set>
                                    <p:anim calcmode="lin" valueType="num">
                                      <p:cBhvr additive="base">
                                        <p:cTn id="17" dur="500" fill="hold"/>
                                        <p:tgtEl>
                                          <p:spTgt spid="668680"/>
                                        </p:tgtEl>
                                        <p:attrNameLst>
                                          <p:attrName>ppt_x</p:attrName>
                                        </p:attrNameLst>
                                      </p:cBhvr>
                                      <p:tavLst>
                                        <p:tav tm="0">
                                          <p:val>
                                            <p:strVal val="1+#ppt_w/2"/>
                                          </p:val>
                                        </p:tav>
                                        <p:tav tm="100000">
                                          <p:val>
                                            <p:strVal val="#ppt_x"/>
                                          </p:val>
                                        </p:tav>
                                      </p:tavLst>
                                    </p:anim>
                                    <p:anim calcmode="lin" valueType="num">
                                      <p:cBhvr additive="base">
                                        <p:cTn id="18" dur="500" fill="hold"/>
                                        <p:tgtEl>
                                          <p:spTgt spid="6686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8" grpId="0"/>
      <p:bldP spid="668679" grpId="0"/>
      <p:bldP spid="66868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108520" y="0"/>
            <a:ext cx="9252520" cy="1916113"/>
          </a:xfrm>
          <a:solidFill>
            <a:srgbClr val="FFEBFF"/>
          </a:solidFill>
        </p:spPr>
        <p:txBody>
          <a:bodyPr/>
          <a:lstStyle/>
          <a:p>
            <a:pPr eaLnBrk="1" hangingPunct="1"/>
            <a:r>
              <a:rPr lang="en-US" altLang="zh-CN" sz="2800" b="1" dirty="0" smtClean="0">
                <a:solidFill>
                  <a:srgbClr val="000000"/>
                </a:solidFill>
                <a:ea typeface="楷体_GB2312" pitchFamily="49" charset="-122"/>
              </a:rPr>
              <a:t>[</a:t>
            </a:r>
            <a:r>
              <a:rPr lang="zh-CN" altLang="en-US" sz="2800" b="1" dirty="0" smtClean="0">
                <a:solidFill>
                  <a:srgbClr val="000000"/>
                </a:solidFill>
                <a:ea typeface="楷体_GB2312" pitchFamily="49" charset="-122"/>
              </a:rPr>
              <a:t>例</a:t>
            </a:r>
            <a:r>
              <a:rPr lang="en-US" altLang="zh-CN" sz="2800" b="1" dirty="0" smtClean="0">
                <a:solidFill>
                  <a:srgbClr val="000000"/>
                </a:solidFill>
                <a:ea typeface="楷体_GB2312" pitchFamily="49" charset="-122"/>
              </a:rPr>
              <a:t>] </a:t>
            </a:r>
            <a:r>
              <a:rPr lang="zh-CN" altLang="en-US" sz="2800" b="1" dirty="0" smtClean="0">
                <a:solidFill>
                  <a:srgbClr val="000000"/>
                </a:solidFill>
                <a:ea typeface="楷体_GB2312" pitchFamily="49" charset="-122"/>
              </a:rPr>
              <a:t>假定读写磁头位于</a:t>
            </a:r>
            <a:r>
              <a:rPr lang="en-US" altLang="zh-CN" sz="2800" b="1" dirty="0" smtClean="0">
                <a:solidFill>
                  <a:srgbClr val="000000"/>
                </a:solidFill>
                <a:ea typeface="楷体_GB2312" pitchFamily="49" charset="-122"/>
              </a:rPr>
              <a:t>53</a:t>
            </a:r>
            <a:r>
              <a:rPr lang="zh-CN" altLang="en-US" sz="2800" b="1" dirty="0" smtClean="0">
                <a:solidFill>
                  <a:srgbClr val="000000"/>
                </a:solidFill>
                <a:ea typeface="楷体_GB2312" pitchFamily="49" charset="-122"/>
              </a:rPr>
              <a:t>号柱面。开始调度时，有若干个进程顺序提出了对如下柱面的</a:t>
            </a:r>
            <a:r>
              <a:rPr lang="en-US" altLang="zh-CN" sz="2800" b="1" dirty="0" smtClean="0">
                <a:solidFill>
                  <a:srgbClr val="000000"/>
                </a:solidFill>
                <a:ea typeface="楷体_GB2312" pitchFamily="49" charset="-122"/>
              </a:rPr>
              <a:t>I/O</a:t>
            </a:r>
            <a:r>
              <a:rPr lang="zh-CN" altLang="en-US" sz="2800" b="1" dirty="0" smtClean="0">
                <a:solidFill>
                  <a:srgbClr val="000000"/>
                </a:solidFill>
                <a:ea typeface="楷体_GB2312" pitchFamily="49" charset="-122"/>
              </a:rPr>
              <a:t>请求：</a:t>
            </a:r>
            <a:br>
              <a:rPr lang="zh-CN" altLang="en-US" sz="2800" b="1" dirty="0" smtClean="0">
                <a:solidFill>
                  <a:srgbClr val="000000"/>
                </a:solidFill>
                <a:ea typeface="楷体_GB2312" pitchFamily="49" charset="-122"/>
              </a:rPr>
            </a:br>
            <a:r>
              <a:rPr lang="zh-CN" altLang="en-US" sz="2800" b="1" dirty="0" smtClean="0">
                <a:solidFill>
                  <a:srgbClr val="000000"/>
                </a:solidFill>
                <a:ea typeface="楷体_GB2312" pitchFamily="49" charset="-122"/>
              </a:rPr>
              <a:t>   </a:t>
            </a:r>
            <a:r>
              <a:rPr lang="en-US" altLang="zh-CN" sz="2800" b="1" dirty="0" smtClean="0">
                <a:solidFill>
                  <a:srgbClr val="000000"/>
                </a:solidFill>
                <a:ea typeface="楷体_GB2312" pitchFamily="49" charset="-122"/>
              </a:rPr>
              <a:t>98</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183</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37</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122</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14</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124</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65</a:t>
            </a:r>
            <a:r>
              <a:rPr lang="zh-CN" altLang="en-US" sz="2800" b="1" dirty="0" smtClean="0">
                <a:solidFill>
                  <a:srgbClr val="000000"/>
                </a:solidFill>
                <a:ea typeface="楷体_GB2312" pitchFamily="49" charset="-122"/>
              </a:rPr>
              <a:t>、</a:t>
            </a:r>
            <a:r>
              <a:rPr lang="en-US" altLang="zh-CN" sz="2800" b="1" dirty="0" smtClean="0">
                <a:solidFill>
                  <a:srgbClr val="000000"/>
                </a:solidFill>
                <a:ea typeface="楷体_GB2312" pitchFamily="49" charset="-122"/>
              </a:rPr>
              <a:t>67</a:t>
            </a:r>
            <a:r>
              <a:rPr lang="zh-CN" altLang="en-US" sz="2800" b="1" dirty="0" smtClean="0">
                <a:solidFill>
                  <a:srgbClr val="000000"/>
                </a:solidFill>
                <a:ea typeface="楷体_GB2312" pitchFamily="49" charset="-122"/>
              </a:rPr>
              <a:t>。</a:t>
            </a:r>
            <a:br>
              <a:rPr lang="zh-CN" altLang="en-US" sz="2800" b="1" dirty="0" smtClean="0">
                <a:solidFill>
                  <a:srgbClr val="000000"/>
                </a:solidFill>
                <a:ea typeface="楷体_GB2312" pitchFamily="49" charset="-122"/>
              </a:rPr>
            </a:br>
            <a:r>
              <a:rPr lang="zh-CN" altLang="en-US" sz="2800" b="1" dirty="0" smtClean="0">
                <a:solidFill>
                  <a:srgbClr val="000000"/>
                </a:solidFill>
                <a:ea typeface="楷体_GB2312" pitchFamily="49" charset="-122"/>
              </a:rPr>
              <a:t>求出采用以下磁盘调度算法移动臂将移动多少个柱面。</a:t>
            </a:r>
          </a:p>
        </p:txBody>
      </p:sp>
      <p:sp>
        <p:nvSpPr>
          <p:cNvPr id="63492" name="Rectangle 3"/>
          <p:cNvSpPr>
            <a:spLocks noGrp="1" noChangeArrowheads="1"/>
          </p:cNvSpPr>
          <p:nvPr>
            <p:ph type="body" idx="1"/>
          </p:nvPr>
        </p:nvSpPr>
        <p:spPr>
          <a:xfrm>
            <a:off x="539750" y="2349500"/>
            <a:ext cx="8137525" cy="2520950"/>
          </a:xfrm>
        </p:spPr>
        <p:txBody>
          <a:bodyPr/>
          <a:lstStyle/>
          <a:p>
            <a:pPr eaLnBrk="1" hangingPunct="1">
              <a:buFont typeface="Symbol" panose="05050102010706020507" pitchFamily="18" charset="2"/>
              <a:buNone/>
            </a:pPr>
            <a:r>
              <a:rPr lang="en-US" altLang="zh-CN" b="1" smtClean="0">
                <a:ea typeface="楷体_GB2312" pitchFamily="49" charset="-122"/>
              </a:rPr>
              <a:t>1.</a:t>
            </a:r>
            <a:r>
              <a:rPr lang="zh-CN" altLang="en-US" b="1" smtClean="0">
                <a:ea typeface="楷体_GB2312" pitchFamily="49" charset="-122"/>
              </a:rPr>
              <a:t>先来先服务调度算法（</a:t>
            </a:r>
            <a:r>
              <a:rPr lang="en-US" altLang="zh-CN" b="1" smtClean="0">
                <a:ea typeface="楷体_GB2312" pitchFamily="49" charset="-122"/>
              </a:rPr>
              <a:t>FCFS</a:t>
            </a:r>
            <a:r>
              <a:rPr lang="zh-CN" altLang="en-US" b="1" smtClean="0">
                <a:ea typeface="楷体_GB2312" pitchFamily="49" charset="-122"/>
              </a:rPr>
              <a:t>）</a:t>
            </a:r>
          </a:p>
          <a:p>
            <a:pPr eaLnBrk="1" hangingPunct="1">
              <a:buFont typeface="Symbol" panose="05050102010706020507" pitchFamily="18" charset="2"/>
              <a:buNone/>
            </a:pPr>
            <a:r>
              <a:rPr lang="en-US" altLang="zh-CN" b="1" smtClean="0">
                <a:ea typeface="楷体_GB2312" pitchFamily="49" charset="-122"/>
              </a:rPr>
              <a:t>2.</a:t>
            </a:r>
            <a:r>
              <a:rPr lang="zh-CN" altLang="en-US" b="1" smtClean="0">
                <a:ea typeface="楷体_GB2312" pitchFamily="49" charset="-122"/>
              </a:rPr>
              <a:t>最短查找时间优先调度算法（</a:t>
            </a:r>
            <a:r>
              <a:rPr lang="en-US" altLang="zh-CN" b="1" smtClean="0">
                <a:ea typeface="楷体_GB2312" pitchFamily="49" charset="-122"/>
              </a:rPr>
              <a:t>SSTF</a:t>
            </a:r>
            <a:r>
              <a:rPr lang="zh-CN" altLang="en-US" b="1" smtClean="0">
                <a:ea typeface="楷体_GB2312" pitchFamily="49" charset="-122"/>
              </a:rPr>
              <a:t>）</a:t>
            </a:r>
          </a:p>
          <a:p>
            <a:pPr eaLnBrk="1" hangingPunct="1">
              <a:buFont typeface="Symbol" panose="05050102010706020507" pitchFamily="18" charset="2"/>
              <a:buNone/>
            </a:pPr>
            <a:r>
              <a:rPr lang="en-US" altLang="zh-CN" b="1" smtClean="0">
                <a:ea typeface="楷体_GB2312" pitchFamily="49" charset="-122"/>
              </a:rPr>
              <a:t>3.</a:t>
            </a:r>
            <a:r>
              <a:rPr lang="zh-CN" altLang="en-US" b="1" smtClean="0">
                <a:ea typeface="楷体_GB2312" pitchFamily="49" charset="-122"/>
              </a:rPr>
              <a:t>电梯调度算法（基本扫描）（</a:t>
            </a:r>
            <a:r>
              <a:rPr lang="en-US" altLang="zh-CN" b="1" smtClean="0">
                <a:ea typeface="楷体_GB2312" pitchFamily="49" charset="-122"/>
              </a:rPr>
              <a:t>SCAN</a:t>
            </a:r>
            <a:r>
              <a:rPr lang="zh-CN" altLang="en-US" b="1" smtClean="0">
                <a:ea typeface="楷体_GB2312" pitchFamily="49" charset="-122"/>
              </a:rPr>
              <a:t>）</a:t>
            </a:r>
          </a:p>
          <a:p>
            <a:pPr eaLnBrk="1" hangingPunct="1">
              <a:buFont typeface="Symbol" panose="05050102010706020507" pitchFamily="18" charset="2"/>
              <a:buNone/>
            </a:pPr>
            <a:r>
              <a:rPr lang="en-US" altLang="zh-CN" b="1" smtClean="0">
                <a:ea typeface="楷体_GB2312" pitchFamily="49" charset="-122"/>
              </a:rPr>
              <a:t>4.</a:t>
            </a:r>
            <a:r>
              <a:rPr lang="zh-CN" altLang="en-US" b="1" smtClean="0">
                <a:ea typeface="楷体_GB2312" pitchFamily="49" charset="-122"/>
              </a:rPr>
              <a:t>单向扫描调度算法（循环扫描）（</a:t>
            </a:r>
            <a:r>
              <a:rPr lang="en-US" altLang="zh-CN" smtClean="0">
                <a:ea typeface="楷体_GB2312" pitchFamily="49" charset="-122"/>
              </a:rPr>
              <a:t>CSCAN</a:t>
            </a:r>
            <a:r>
              <a:rPr lang="en-US" altLang="zh-CN" smtClean="0"/>
              <a:t>)</a:t>
            </a:r>
          </a:p>
        </p:txBody>
      </p:sp>
      <p:sp>
        <p:nvSpPr>
          <p:cNvPr id="669701" name="AutoShape 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69701"/>
                                        </p:tgtEl>
                                        <p:attrNameLst>
                                          <p:attrName>style.visibility</p:attrName>
                                        </p:attrNameLst>
                                      </p:cBhvr>
                                      <p:to>
                                        <p:strVal val="visible"/>
                                      </p:to>
                                    </p:set>
                                    <p:anim calcmode="lin" valueType="num">
                                      <p:cBhvr additive="base">
                                        <p:cTn id="7" dur="500" fill="hold"/>
                                        <p:tgtEl>
                                          <p:spTgt spid="669701"/>
                                        </p:tgtEl>
                                        <p:attrNameLst>
                                          <p:attrName>ppt_x</p:attrName>
                                        </p:attrNameLst>
                                      </p:cBhvr>
                                      <p:tavLst>
                                        <p:tav tm="0">
                                          <p:val>
                                            <p:strVal val="1+#ppt_w/2"/>
                                          </p:val>
                                        </p:tav>
                                        <p:tav tm="100000">
                                          <p:val>
                                            <p:strVal val="#ppt_x"/>
                                          </p:val>
                                        </p:tav>
                                      </p:tavLst>
                                    </p:anim>
                                    <p:anim calcmode="lin" valueType="num">
                                      <p:cBhvr additive="base">
                                        <p:cTn id="8" dur="500" fill="hold"/>
                                        <p:tgtEl>
                                          <p:spTgt spid="669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0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Line 68"/>
          <p:cNvSpPr>
            <a:spLocks noChangeShapeType="1"/>
          </p:cNvSpPr>
          <p:nvPr/>
        </p:nvSpPr>
        <p:spPr bwMode="auto">
          <a:xfrm>
            <a:off x="4427538" y="4221163"/>
            <a:ext cx="0" cy="17272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16" name="Line 2"/>
          <p:cNvSpPr>
            <a:spLocks noChangeShapeType="1"/>
          </p:cNvSpPr>
          <p:nvPr/>
        </p:nvSpPr>
        <p:spPr bwMode="auto">
          <a:xfrm>
            <a:off x="4211638" y="4222750"/>
            <a:ext cx="0" cy="1727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prstDash val="dash"/>
                <a:round/>
                <a:headEnd/>
                <a:tailEnd/>
              </a14:hiddenLine>
            </a:ext>
          </a:extLst>
        </p:spPr>
        <p:txBody>
          <a:bodyPr wrap="none" anchor="ctr"/>
          <a:lstStyle/>
          <a:p>
            <a:endParaRPr lang="zh-CN" altLang="en-US"/>
          </a:p>
        </p:txBody>
      </p:sp>
      <p:sp>
        <p:nvSpPr>
          <p:cNvPr id="64517" name="Text Box 3"/>
          <p:cNvSpPr txBox="1">
            <a:spLocks noChangeArrowheads="1"/>
          </p:cNvSpPr>
          <p:nvPr/>
        </p:nvSpPr>
        <p:spPr bwMode="auto">
          <a:xfrm>
            <a:off x="3348038" y="38354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53</a:t>
            </a:r>
          </a:p>
        </p:txBody>
      </p:sp>
      <p:sp>
        <p:nvSpPr>
          <p:cNvPr id="64518" name="Text Box 4"/>
          <p:cNvSpPr txBox="1">
            <a:spLocks noChangeArrowheads="1"/>
          </p:cNvSpPr>
          <p:nvPr/>
        </p:nvSpPr>
        <p:spPr bwMode="auto">
          <a:xfrm>
            <a:off x="1979613" y="549275"/>
            <a:ext cx="56165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3600">
                <a:solidFill>
                  <a:srgbClr val="FFFF00"/>
                </a:solidFill>
                <a:latin typeface="Arial" panose="020B0604020202020204" pitchFamily="34" charset="0"/>
              </a:rPr>
              <a:t>先来先服务调度算法</a:t>
            </a:r>
            <a:r>
              <a:rPr lang="zh-CN" altLang="en-US" sz="2800">
                <a:solidFill>
                  <a:srgbClr val="FFFF00"/>
                </a:solidFill>
              </a:rPr>
              <a:t>（</a:t>
            </a:r>
            <a:r>
              <a:rPr lang="en-US" altLang="zh-CN" sz="2800">
                <a:solidFill>
                  <a:srgbClr val="FFFF00"/>
                </a:solidFill>
              </a:rPr>
              <a:t>FCFS</a:t>
            </a:r>
            <a:r>
              <a:rPr lang="zh-CN" altLang="en-US" sz="2800">
                <a:solidFill>
                  <a:srgbClr val="FFFF00"/>
                </a:solidFill>
              </a:rPr>
              <a:t>）</a:t>
            </a:r>
          </a:p>
        </p:txBody>
      </p:sp>
      <p:sp>
        <p:nvSpPr>
          <p:cNvPr id="64519" name="Text Box 5"/>
          <p:cNvSpPr txBox="1">
            <a:spLocks noChangeArrowheads="1"/>
          </p:cNvSpPr>
          <p:nvPr/>
        </p:nvSpPr>
        <p:spPr bwMode="auto">
          <a:xfrm>
            <a:off x="323850" y="1196975"/>
            <a:ext cx="8532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solidFill>
                  <a:srgbClr val="FFFFFF"/>
                </a:solidFill>
                <a:latin typeface="楷体_GB2312" pitchFamily="49" charset="-122"/>
                <a:ea typeface="楷体_GB2312" pitchFamily="49" charset="-122"/>
              </a:rPr>
              <a:t>以</a:t>
            </a:r>
            <a:r>
              <a:rPr kumimoji="0" lang="en-US" altLang="zh-CN" sz="2800">
                <a:solidFill>
                  <a:srgbClr val="FFFFFF"/>
                </a:solidFill>
                <a:latin typeface="楷体_GB2312" pitchFamily="49" charset="-122"/>
                <a:ea typeface="楷体_GB2312" pitchFamily="49" charset="-122"/>
              </a:rPr>
              <a:t>I/O</a:t>
            </a:r>
            <a:r>
              <a:rPr kumimoji="0" lang="zh-CN" altLang="en-US" sz="2800">
                <a:solidFill>
                  <a:srgbClr val="FFFFFF"/>
                </a:solidFill>
                <a:latin typeface="楷体_GB2312" pitchFamily="49" charset="-122"/>
                <a:ea typeface="楷体_GB2312" pitchFamily="49" charset="-122"/>
              </a:rPr>
              <a:t>请求到达的先后次序作为磁盘调度的顺序 。</a:t>
            </a:r>
          </a:p>
        </p:txBody>
      </p:sp>
      <p:sp>
        <p:nvSpPr>
          <p:cNvPr id="64520" name="Line 6"/>
          <p:cNvSpPr>
            <a:spLocks noChangeShapeType="1"/>
          </p:cNvSpPr>
          <p:nvPr/>
        </p:nvSpPr>
        <p:spPr bwMode="auto">
          <a:xfrm>
            <a:off x="2051050" y="4221163"/>
            <a:ext cx="6769100" cy="0"/>
          </a:xfrm>
          <a:prstGeom prst="line">
            <a:avLst/>
          </a:prstGeom>
          <a:noFill/>
          <a:ln w="5715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1" name="Line 7"/>
          <p:cNvSpPr>
            <a:spLocks noChangeShapeType="1"/>
          </p:cNvSpPr>
          <p:nvPr/>
        </p:nvSpPr>
        <p:spPr bwMode="auto">
          <a:xfrm>
            <a:off x="2051050" y="4149725"/>
            <a:ext cx="0" cy="1444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2" name="Line 8"/>
          <p:cNvSpPr>
            <a:spLocks noChangeShapeType="1"/>
          </p:cNvSpPr>
          <p:nvPr/>
        </p:nvSpPr>
        <p:spPr bwMode="auto">
          <a:xfrm>
            <a:off x="2484438" y="41497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3" name="Line 9"/>
          <p:cNvSpPr>
            <a:spLocks noChangeShapeType="1"/>
          </p:cNvSpPr>
          <p:nvPr/>
        </p:nvSpPr>
        <p:spPr bwMode="auto">
          <a:xfrm>
            <a:off x="2987675" y="41497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4" name="Line 10"/>
          <p:cNvSpPr>
            <a:spLocks noChangeShapeType="1"/>
          </p:cNvSpPr>
          <p:nvPr/>
        </p:nvSpPr>
        <p:spPr bwMode="auto">
          <a:xfrm>
            <a:off x="3924300" y="41497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5" name="Line 12"/>
          <p:cNvSpPr>
            <a:spLocks noChangeShapeType="1"/>
          </p:cNvSpPr>
          <p:nvPr/>
        </p:nvSpPr>
        <p:spPr bwMode="auto">
          <a:xfrm>
            <a:off x="8604250" y="41497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6" name="Line 15"/>
          <p:cNvSpPr>
            <a:spLocks noChangeShapeType="1"/>
          </p:cNvSpPr>
          <p:nvPr/>
        </p:nvSpPr>
        <p:spPr bwMode="auto">
          <a:xfrm>
            <a:off x="5003800" y="41497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27" name="Text Box 16"/>
          <p:cNvSpPr txBox="1">
            <a:spLocks noChangeArrowheads="1"/>
          </p:cNvSpPr>
          <p:nvPr/>
        </p:nvSpPr>
        <p:spPr bwMode="auto">
          <a:xfrm>
            <a:off x="1908175" y="3835400"/>
            <a:ext cx="325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0</a:t>
            </a:r>
          </a:p>
        </p:txBody>
      </p:sp>
      <p:sp>
        <p:nvSpPr>
          <p:cNvPr id="64528" name="Text Box 17"/>
          <p:cNvSpPr txBox="1">
            <a:spLocks noChangeArrowheads="1"/>
          </p:cNvSpPr>
          <p:nvPr/>
        </p:nvSpPr>
        <p:spPr bwMode="auto">
          <a:xfrm>
            <a:off x="2339975" y="38354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14</a:t>
            </a:r>
          </a:p>
        </p:txBody>
      </p:sp>
      <p:sp>
        <p:nvSpPr>
          <p:cNvPr id="64529" name="Text Box 18"/>
          <p:cNvSpPr txBox="1">
            <a:spLocks noChangeArrowheads="1"/>
          </p:cNvSpPr>
          <p:nvPr/>
        </p:nvSpPr>
        <p:spPr bwMode="auto">
          <a:xfrm>
            <a:off x="2843213" y="38354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37</a:t>
            </a:r>
          </a:p>
        </p:txBody>
      </p:sp>
      <p:sp>
        <p:nvSpPr>
          <p:cNvPr id="64530" name="Text Box 19"/>
          <p:cNvSpPr txBox="1">
            <a:spLocks noChangeArrowheads="1"/>
          </p:cNvSpPr>
          <p:nvPr/>
        </p:nvSpPr>
        <p:spPr bwMode="auto">
          <a:xfrm>
            <a:off x="3708400" y="38608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65</a:t>
            </a:r>
          </a:p>
        </p:txBody>
      </p:sp>
      <p:sp>
        <p:nvSpPr>
          <p:cNvPr id="64531" name="Text Box 20"/>
          <p:cNvSpPr txBox="1">
            <a:spLocks noChangeArrowheads="1"/>
          </p:cNvSpPr>
          <p:nvPr/>
        </p:nvSpPr>
        <p:spPr bwMode="auto">
          <a:xfrm>
            <a:off x="4211638" y="38354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67</a:t>
            </a:r>
          </a:p>
        </p:txBody>
      </p:sp>
      <p:sp>
        <p:nvSpPr>
          <p:cNvPr id="64532" name="Text Box 21"/>
          <p:cNvSpPr txBox="1">
            <a:spLocks noChangeArrowheads="1"/>
          </p:cNvSpPr>
          <p:nvPr/>
        </p:nvSpPr>
        <p:spPr bwMode="auto">
          <a:xfrm>
            <a:off x="4859338" y="3835400"/>
            <a:ext cx="46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98</a:t>
            </a:r>
          </a:p>
        </p:txBody>
      </p:sp>
      <p:sp>
        <p:nvSpPr>
          <p:cNvPr id="64533" name="Text Box 22"/>
          <p:cNvSpPr txBox="1">
            <a:spLocks noChangeArrowheads="1"/>
          </p:cNvSpPr>
          <p:nvPr/>
        </p:nvSpPr>
        <p:spPr bwMode="auto">
          <a:xfrm>
            <a:off x="5867400" y="3860800"/>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122</a:t>
            </a:r>
          </a:p>
        </p:txBody>
      </p:sp>
      <p:sp>
        <p:nvSpPr>
          <p:cNvPr id="64534" name="Text Box 23"/>
          <p:cNvSpPr txBox="1">
            <a:spLocks noChangeArrowheads="1"/>
          </p:cNvSpPr>
          <p:nvPr/>
        </p:nvSpPr>
        <p:spPr bwMode="auto">
          <a:xfrm>
            <a:off x="6372225" y="3835400"/>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124</a:t>
            </a:r>
          </a:p>
        </p:txBody>
      </p:sp>
      <p:sp>
        <p:nvSpPr>
          <p:cNvPr id="64535" name="Text Box 24"/>
          <p:cNvSpPr txBox="1">
            <a:spLocks noChangeArrowheads="1"/>
          </p:cNvSpPr>
          <p:nvPr/>
        </p:nvSpPr>
        <p:spPr bwMode="auto">
          <a:xfrm>
            <a:off x="8388350" y="3835400"/>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latin typeface="Arial" panose="020B0604020202020204" pitchFamily="34" charset="0"/>
              </a:rPr>
              <a:t>183</a:t>
            </a:r>
          </a:p>
        </p:txBody>
      </p:sp>
      <p:sp>
        <p:nvSpPr>
          <p:cNvPr id="64536" name="Text Box 25"/>
          <p:cNvSpPr txBox="1">
            <a:spLocks noChangeArrowheads="1"/>
          </p:cNvSpPr>
          <p:nvPr/>
        </p:nvSpPr>
        <p:spPr bwMode="auto">
          <a:xfrm>
            <a:off x="611188" y="3789363"/>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000">
                <a:latin typeface="Arial" panose="020B0604020202020204" pitchFamily="34" charset="0"/>
              </a:rPr>
              <a:t>磁道号：</a:t>
            </a:r>
          </a:p>
        </p:txBody>
      </p:sp>
      <p:sp>
        <p:nvSpPr>
          <p:cNvPr id="670746" name="Line 26"/>
          <p:cNvSpPr>
            <a:spLocks noChangeShapeType="1"/>
          </p:cNvSpPr>
          <p:nvPr/>
        </p:nvSpPr>
        <p:spPr bwMode="auto">
          <a:xfrm>
            <a:off x="3563938" y="4365625"/>
            <a:ext cx="1439862" cy="73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38" name="Line 27"/>
          <p:cNvSpPr>
            <a:spLocks noChangeShapeType="1"/>
          </p:cNvSpPr>
          <p:nvPr/>
        </p:nvSpPr>
        <p:spPr bwMode="auto">
          <a:xfrm>
            <a:off x="3563938" y="4149725"/>
            <a:ext cx="0" cy="1444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70748" name="Line 28"/>
          <p:cNvSpPr>
            <a:spLocks noChangeShapeType="1"/>
          </p:cNvSpPr>
          <p:nvPr/>
        </p:nvSpPr>
        <p:spPr bwMode="auto">
          <a:xfrm>
            <a:off x="5003800" y="4438650"/>
            <a:ext cx="3600450"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0749" name="Line 29"/>
          <p:cNvSpPr>
            <a:spLocks noChangeShapeType="1"/>
          </p:cNvSpPr>
          <p:nvPr/>
        </p:nvSpPr>
        <p:spPr bwMode="auto">
          <a:xfrm flipH="1">
            <a:off x="2987675" y="4725988"/>
            <a:ext cx="56165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1"/>
          <p:cNvGrpSpPr>
            <a:grpSpLocks/>
          </p:cNvGrpSpPr>
          <p:nvPr/>
        </p:nvGrpSpPr>
        <p:grpSpPr bwMode="auto">
          <a:xfrm>
            <a:off x="4211638" y="4149725"/>
            <a:ext cx="382587" cy="366713"/>
            <a:chOff x="2653" y="2614"/>
            <a:chExt cx="241" cy="231"/>
          </a:xfrm>
        </p:grpSpPr>
        <p:sp>
          <p:nvSpPr>
            <p:cNvPr id="64583" name="Line 11"/>
            <p:cNvSpPr>
              <a:spLocks noChangeShapeType="1"/>
            </p:cNvSpPr>
            <p:nvPr/>
          </p:nvSpPr>
          <p:spPr bwMode="auto">
            <a:xfrm>
              <a:off x="2653" y="2614"/>
              <a:ext cx="0" cy="4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84" name="Oval 30"/>
            <p:cNvSpPr>
              <a:spLocks noChangeArrowheads="1"/>
            </p:cNvSpPr>
            <p:nvPr/>
          </p:nvSpPr>
          <p:spPr bwMode="auto">
            <a:xfrm>
              <a:off x="2698" y="2660"/>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85" name="Text Box 31"/>
            <p:cNvSpPr txBox="1">
              <a:spLocks noChangeArrowheads="1"/>
            </p:cNvSpPr>
            <p:nvPr/>
          </p:nvSpPr>
          <p:spPr bwMode="auto">
            <a:xfrm>
              <a:off x="2698" y="261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1</a:t>
              </a:r>
            </a:p>
          </p:txBody>
        </p:sp>
      </p:grpSp>
      <p:grpSp>
        <p:nvGrpSpPr>
          <p:cNvPr id="3" name="Group 62"/>
          <p:cNvGrpSpPr>
            <a:grpSpLocks/>
          </p:cNvGrpSpPr>
          <p:nvPr/>
        </p:nvGrpSpPr>
        <p:grpSpPr bwMode="auto">
          <a:xfrm>
            <a:off x="6083300" y="4149725"/>
            <a:ext cx="527050" cy="509588"/>
            <a:chOff x="3832" y="2614"/>
            <a:chExt cx="332" cy="321"/>
          </a:xfrm>
        </p:grpSpPr>
        <p:sp>
          <p:nvSpPr>
            <p:cNvPr id="64579" name="Line 13"/>
            <p:cNvSpPr>
              <a:spLocks noChangeShapeType="1"/>
            </p:cNvSpPr>
            <p:nvPr/>
          </p:nvSpPr>
          <p:spPr bwMode="auto">
            <a:xfrm>
              <a:off x="4150" y="2614"/>
              <a:ext cx="0" cy="4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80" name="Line 14"/>
            <p:cNvSpPr>
              <a:spLocks noChangeShapeType="1"/>
            </p:cNvSpPr>
            <p:nvPr/>
          </p:nvSpPr>
          <p:spPr bwMode="auto">
            <a:xfrm>
              <a:off x="3832" y="2614"/>
              <a:ext cx="0" cy="4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64581" name="Oval 32"/>
            <p:cNvSpPr>
              <a:spLocks noChangeArrowheads="1"/>
            </p:cNvSpPr>
            <p:nvPr/>
          </p:nvSpPr>
          <p:spPr bwMode="auto">
            <a:xfrm>
              <a:off x="3968" y="2750"/>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82" name="Text Box 33"/>
            <p:cNvSpPr txBox="1">
              <a:spLocks noChangeArrowheads="1"/>
            </p:cNvSpPr>
            <p:nvPr/>
          </p:nvSpPr>
          <p:spPr bwMode="auto">
            <a:xfrm>
              <a:off x="3968" y="270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2</a:t>
              </a:r>
            </a:p>
          </p:txBody>
        </p:sp>
      </p:grpSp>
      <p:grpSp>
        <p:nvGrpSpPr>
          <p:cNvPr id="4" name="Group 63"/>
          <p:cNvGrpSpPr>
            <a:grpSpLocks/>
          </p:cNvGrpSpPr>
          <p:nvPr/>
        </p:nvGrpSpPr>
        <p:grpSpPr bwMode="auto">
          <a:xfrm>
            <a:off x="5651500" y="4508500"/>
            <a:ext cx="311150" cy="366713"/>
            <a:chOff x="3560" y="2840"/>
            <a:chExt cx="196" cy="231"/>
          </a:xfrm>
        </p:grpSpPr>
        <p:sp>
          <p:nvSpPr>
            <p:cNvPr id="64577" name="Oval 34"/>
            <p:cNvSpPr>
              <a:spLocks noChangeArrowheads="1"/>
            </p:cNvSpPr>
            <p:nvPr/>
          </p:nvSpPr>
          <p:spPr bwMode="auto">
            <a:xfrm>
              <a:off x="3560" y="2886"/>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78" name="Text Box 35"/>
            <p:cNvSpPr txBox="1">
              <a:spLocks noChangeArrowheads="1"/>
            </p:cNvSpPr>
            <p:nvPr/>
          </p:nvSpPr>
          <p:spPr bwMode="auto">
            <a:xfrm>
              <a:off x="3560" y="284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3</a:t>
              </a:r>
            </a:p>
          </p:txBody>
        </p:sp>
      </p:grpSp>
      <p:sp>
        <p:nvSpPr>
          <p:cNvPr id="670756" name="Line 36"/>
          <p:cNvSpPr>
            <a:spLocks noChangeShapeType="1"/>
          </p:cNvSpPr>
          <p:nvPr/>
        </p:nvSpPr>
        <p:spPr bwMode="auto">
          <a:xfrm>
            <a:off x="2987675" y="4725988"/>
            <a:ext cx="3095625" cy="3603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0757" name="Line 37"/>
          <p:cNvSpPr>
            <a:spLocks noChangeShapeType="1"/>
          </p:cNvSpPr>
          <p:nvPr/>
        </p:nvSpPr>
        <p:spPr bwMode="auto">
          <a:xfrm flipH="1">
            <a:off x="2482850" y="5086350"/>
            <a:ext cx="3600450" cy="144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0758" name="Line 38"/>
          <p:cNvSpPr>
            <a:spLocks noChangeShapeType="1"/>
          </p:cNvSpPr>
          <p:nvPr/>
        </p:nvSpPr>
        <p:spPr bwMode="auto">
          <a:xfrm>
            <a:off x="2482850" y="5230813"/>
            <a:ext cx="4105275" cy="431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0759" name="Line 39"/>
          <p:cNvSpPr>
            <a:spLocks noChangeShapeType="1"/>
          </p:cNvSpPr>
          <p:nvPr/>
        </p:nvSpPr>
        <p:spPr bwMode="auto">
          <a:xfrm flipH="1">
            <a:off x="3922713" y="5662613"/>
            <a:ext cx="2665412"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48" name="Line 40"/>
          <p:cNvSpPr>
            <a:spLocks noChangeShapeType="1"/>
          </p:cNvSpPr>
          <p:nvPr/>
        </p:nvSpPr>
        <p:spPr bwMode="auto">
          <a:xfrm>
            <a:off x="3922713" y="5734050"/>
            <a:ext cx="288925" cy="2159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grpSp>
        <p:nvGrpSpPr>
          <p:cNvPr id="5" name="Group 64"/>
          <p:cNvGrpSpPr>
            <a:grpSpLocks/>
          </p:cNvGrpSpPr>
          <p:nvPr/>
        </p:nvGrpSpPr>
        <p:grpSpPr bwMode="auto">
          <a:xfrm>
            <a:off x="4643438" y="4725988"/>
            <a:ext cx="311150" cy="366712"/>
            <a:chOff x="2925" y="2977"/>
            <a:chExt cx="196" cy="231"/>
          </a:xfrm>
        </p:grpSpPr>
        <p:sp>
          <p:nvSpPr>
            <p:cNvPr id="64575" name="Oval 41"/>
            <p:cNvSpPr>
              <a:spLocks noChangeArrowheads="1"/>
            </p:cNvSpPr>
            <p:nvPr/>
          </p:nvSpPr>
          <p:spPr bwMode="auto">
            <a:xfrm>
              <a:off x="2925" y="3023"/>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76" name="Text Box 42"/>
            <p:cNvSpPr txBox="1">
              <a:spLocks noChangeArrowheads="1"/>
            </p:cNvSpPr>
            <p:nvPr/>
          </p:nvSpPr>
          <p:spPr bwMode="auto">
            <a:xfrm>
              <a:off x="2925" y="297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4</a:t>
              </a:r>
            </a:p>
          </p:txBody>
        </p:sp>
      </p:grpSp>
      <p:grpSp>
        <p:nvGrpSpPr>
          <p:cNvPr id="6" name="Group 65"/>
          <p:cNvGrpSpPr>
            <a:grpSpLocks/>
          </p:cNvGrpSpPr>
          <p:nvPr/>
        </p:nvGrpSpPr>
        <p:grpSpPr bwMode="auto">
          <a:xfrm>
            <a:off x="3995738" y="4941888"/>
            <a:ext cx="311150" cy="366712"/>
            <a:chOff x="2517" y="3113"/>
            <a:chExt cx="196" cy="231"/>
          </a:xfrm>
        </p:grpSpPr>
        <p:sp>
          <p:nvSpPr>
            <p:cNvPr id="64573" name="Oval 43"/>
            <p:cNvSpPr>
              <a:spLocks noChangeArrowheads="1"/>
            </p:cNvSpPr>
            <p:nvPr/>
          </p:nvSpPr>
          <p:spPr bwMode="auto">
            <a:xfrm>
              <a:off x="2517" y="3159"/>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74" name="Text Box 44"/>
            <p:cNvSpPr txBox="1">
              <a:spLocks noChangeArrowheads="1"/>
            </p:cNvSpPr>
            <p:nvPr/>
          </p:nvSpPr>
          <p:spPr bwMode="auto">
            <a:xfrm>
              <a:off x="2517" y="31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5</a:t>
              </a:r>
            </a:p>
          </p:txBody>
        </p:sp>
      </p:grpSp>
      <p:grpSp>
        <p:nvGrpSpPr>
          <p:cNvPr id="7" name="Group 66"/>
          <p:cNvGrpSpPr>
            <a:grpSpLocks/>
          </p:cNvGrpSpPr>
          <p:nvPr/>
        </p:nvGrpSpPr>
        <p:grpSpPr bwMode="auto">
          <a:xfrm>
            <a:off x="4354513" y="5229225"/>
            <a:ext cx="311150" cy="366713"/>
            <a:chOff x="2743" y="3294"/>
            <a:chExt cx="196" cy="231"/>
          </a:xfrm>
        </p:grpSpPr>
        <p:sp>
          <p:nvSpPr>
            <p:cNvPr id="64571" name="Oval 45"/>
            <p:cNvSpPr>
              <a:spLocks noChangeArrowheads="1"/>
            </p:cNvSpPr>
            <p:nvPr/>
          </p:nvSpPr>
          <p:spPr bwMode="auto">
            <a:xfrm>
              <a:off x="2743" y="3340"/>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72" name="Text Box 46"/>
            <p:cNvSpPr txBox="1">
              <a:spLocks noChangeArrowheads="1"/>
            </p:cNvSpPr>
            <p:nvPr/>
          </p:nvSpPr>
          <p:spPr bwMode="auto">
            <a:xfrm>
              <a:off x="2743" y="329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6</a:t>
              </a:r>
            </a:p>
          </p:txBody>
        </p:sp>
      </p:grpSp>
      <p:grpSp>
        <p:nvGrpSpPr>
          <p:cNvPr id="8" name="Group 67"/>
          <p:cNvGrpSpPr>
            <a:grpSpLocks/>
          </p:cNvGrpSpPr>
          <p:nvPr/>
        </p:nvGrpSpPr>
        <p:grpSpPr bwMode="auto">
          <a:xfrm>
            <a:off x="4859338" y="5516563"/>
            <a:ext cx="311150" cy="366712"/>
            <a:chOff x="3061" y="3475"/>
            <a:chExt cx="196" cy="231"/>
          </a:xfrm>
        </p:grpSpPr>
        <p:sp>
          <p:nvSpPr>
            <p:cNvPr id="64569" name="Oval 47"/>
            <p:cNvSpPr>
              <a:spLocks noChangeArrowheads="1"/>
            </p:cNvSpPr>
            <p:nvPr/>
          </p:nvSpPr>
          <p:spPr bwMode="auto">
            <a:xfrm>
              <a:off x="3061" y="3521"/>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70" name="Text Box 48"/>
            <p:cNvSpPr txBox="1">
              <a:spLocks noChangeArrowheads="1"/>
            </p:cNvSpPr>
            <p:nvPr/>
          </p:nvSpPr>
          <p:spPr bwMode="auto">
            <a:xfrm>
              <a:off x="3061" y="347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7</a:t>
              </a:r>
            </a:p>
          </p:txBody>
        </p:sp>
      </p:grpSp>
      <p:grpSp>
        <p:nvGrpSpPr>
          <p:cNvPr id="9" name="Group 70"/>
          <p:cNvGrpSpPr>
            <a:grpSpLocks/>
          </p:cNvGrpSpPr>
          <p:nvPr/>
        </p:nvGrpSpPr>
        <p:grpSpPr bwMode="auto">
          <a:xfrm>
            <a:off x="3924300" y="5805488"/>
            <a:ext cx="311150" cy="366712"/>
            <a:chOff x="2472" y="3748"/>
            <a:chExt cx="196" cy="231"/>
          </a:xfrm>
        </p:grpSpPr>
        <p:sp>
          <p:nvSpPr>
            <p:cNvPr id="64567" name="Oval 49"/>
            <p:cNvSpPr>
              <a:spLocks noChangeArrowheads="1"/>
            </p:cNvSpPr>
            <p:nvPr/>
          </p:nvSpPr>
          <p:spPr bwMode="auto">
            <a:xfrm>
              <a:off x="2472" y="3793"/>
              <a:ext cx="181" cy="182"/>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4568" name="Text Box 50"/>
            <p:cNvSpPr txBox="1">
              <a:spLocks noChangeArrowheads="1"/>
            </p:cNvSpPr>
            <p:nvPr/>
          </p:nvSpPr>
          <p:spPr bwMode="auto">
            <a:xfrm>
              <a:off x="2472" y="374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8</a:t>
              </a:r>
            </a:p>
          </p:txBody>
        </p:sp>
      </p:grpSp>
      <p:sp>
        <p:nvSpPr>
          <p:cNvPr id="64554" name="Line 51"/>
          <p:cNvSpPr>
            <a:spLocks noChangeShapeType="1"/>
          </p:cNvSpPr>
          <p:nvPr/>
        </p:nvSpPr>
        <p:spPr bwMode="auto">
          <a:xfrm>
            <a:off x="5003800" y="4222750"/>
            <a:ext cx="0" cy="2159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5" name="Line 52"/>
          <p:cNvSpPr>
            <a:spLocks noChangeShapeType="1"/>
          </p:cNvSpPr>
          <p:nvPr/>
        </p:nvSpPr>
        <p:spPr bwMode="auto">
          <a:xfrm>
            <a:off x="8604250" y="4222750"/>
            <a:ext cx="0" cy="50323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6" name="Line 53"/>
          <p:cNvSpPr>
            <a:spLocks noChangeShapeType="1"/>
          </p:cNvSpPr>
          <p:nvPr/>
        </p:nvSpPr>
        <p:spPr bwMode="auto">
          <a:xfrm>
            <a:off x="2987675" y="4222750"/>
            <a:ext cx="0" cy="50323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7" name="Line 54"/>
          <p:cNvSpPr>
            <a:spLocks noChangeShapeType="1"/>
          </p:cNvSpPr>
          <p:nvPr/>
        </p:nvSpPr>
        <p:spPr bwMode="auto">
          <a:xfrm>
            <a:off x="6083300" y="4222750"/>
            <a:ext cx="0" cy="863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8" name="Line 55"/>
          <p:cNvSpPr>
            <a:spLocks noChangeShapeType="1"/>
          </p:cNvSpPr>
          <p:nvPr/>
        </p:nvSpPr>
        <p:spPr bwMode="auto">
          <a:xfrm>
            <a:off x="2482850" y="4222750"/>
            <a:ext cx="0" cy="10080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59" name="Line 56"/>
          <p:cNvSpPr>
            <a:spLocks noChangeShapeType="1"/>
          </p:cNvSpPr>
          <p:nvPr/>
        </p:nvSpPr>
        <p:spPr bwMode="auto">
          <a:xfrm>
            <a:off x="6588125" y="4222750"/>
            <a:ext cx="0" cy="14398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0" name="Line 57"/>
          <p:cNvSpPr>
            <a:spLocks noChangeShapeType="1"/>
          </p:cNvSpPr>
          <p:nvPr/>
        </p:nvSpPr>
        <p:spPr bwMode="auto">
          <a:xfrm>
            <a:off x="3922713" y="4222750"/>
            <a:ext cx="0" cy="15113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1" name="Line 58"/>
          <p:cNvSpPr>
            <a:spLocks noChangeShapeType="1"/>
          </p:cNvSpPr>
          <p:nvPr/>
        </p:nvSpPr>
        <p:spPr bwMode="auto">
          <a:xfrm>
            <a:off x="3563938" y="4222750"/>
            <a:ext cx="0" cy="14287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0779" name="Text Box 59"/>
          <p:cNvSpPr txBox="1">
            <a:spLocks noChangeArrowheads="1"/>
          </p:cNvSpPr>
          <p:nvPr/>
        </p:nvSpPr>
        <p:spPr bwMode="auto">
          <a:xfrm>
            <a:off x="323850" y="1773238"/>
            <a:ext cx="8640763" cy="1631950"/>
          </a:xfrm>
          <a:prstGeom prst="rect">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solidFill>
                  <a:srgbClr val="000000"/>
                </a:solidFill>
              </a:rPr>
              <a:t>总共划过的磁道数</a:t>
            </a:r>
          </a:p>
          <a:p>
            <a:pPr eaLnBrk="1" hangingPunct="1">
              <a:spcBef>
                <a:spcPct val="0"/>
              </a:spcBef>
              <a:buClrTx/>
              <a:buSzTx/>
              <a:buFontTx/>
              <a:buNone/>
            </a:pPr>
            <a:r>
              <a:rPr kumimoji="0" lang="en-US" altLang="zh-CN" sz="2400">
                <a:solidFill>
                  <a:srgbClr val="000000"/>
                </a:solidFill>
              </a:rPr>
              <a:t>=(98-53)+(183-98)+(183-37)+(122-37) +(122-14)+(124-14)+(124-65)+(67-65)</a:t>
            </a:r>
          </a:p>
          <a:p>
            <a:pPr eaLnBrk="1" hangingPunct="1">
              <a:spcBef>
                <a:spcPct val="0"/>
              </a:spcBef>
              <a:buClrTx/>
              <a:buSzTx/>
              <a:buFontTx/>
              <a:buNone/>
            </a:pPr>
            <a:r>
              <a:rPr kumimoji="0" lang="en-US" altLang="zh-CN" sz="2400">
                <a:solidFill>
                  <a:srgbClr val="000000"/>
                </a:solidFill>
              </a:rPr>
              <a:t>=45+85+146+85+108+110+59+2= </a:t>
            </a:r>
            <a:r>
              <a:rPr kumimoji="0" lang="en-US" altLang="zh-CN" sz="2400">
                <a:solidFill>
                  <a:srgbClr val="FF0000"/>
                </a:solidFill>
              </a:rPr>
              <a:t>640</a:t>
            </a:r>
          </a:p>
        </p:txBody>
      </p:sp>
      <p:sp>
        <p:nvSpPr>
          <p:cNvPr id="64563" name="Text Box 60"/>
          <p:cNvSpPr txBox="1">
            <a:spLocks noChangeArrowheads="1"/>
          </p:cNvSpPr>
          <p:nvPr/>
        </p:nvSpPr>
        <p:spPr bwMode="auto">
          <a:xfrm>
            <a:off x="1403350" y="0"/>
            <a:ext cx="6624638" cy="519113"/>
          </a:xfrm>
          <a:prstGeom prst="rect">
            <a:avLst/>
          </a:prstGeom>
          <a:solidFill>
            <a:srgbClr val="FFEB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98</a:t>
            </a:r>
            <a:r>
              <a:rPr lang="zh-CN" altLang="en-US" sz="2800">
                <a:solidFill>
                  <a:srgbClr val="000000"/>
                </a:solidFill>
              </a:rPr>
              <a:t>、</a:t>
            </a:r>
            <a:r>
              <a:rPr lang="en-US" altLang="zh-CN" sz="2800">
                <a:solidFill>
                  <a:srgbClr val="000000"/>
                </a:solidFill>
              </a:rPr>
              <a:t>183</a:t>
            </a:r>
            <a:r>
              <a:rPr lang="zh-CN" altLang="en-US" sz="2800">
                <a:solidFill>
                  <a:srgbClr val="000000"/>
                </a:solidFill>
              </a:rPr>
              <a:t>、</a:t>
            </a:r>
            <a:r>
              <a:rPr lang="en-US" altLang="zh-CN" sz="2800">
                <a:solidFill>
                  <a:srgbClr val="000000"/>
                </a:solidFill>
              </a:rPr>
              <a:t>37</a:t>
            </a:r>
            <a:r>
              <a:rPr lang="zh-CN" altLang="en-US" sz="2800">
                <a:solidFill>
                  <a:srgbClr val="000000"/>
                </a:solidFill>
              </a:rPr>
              <a:t>、</a:t>
            </a:r>
            <a:r>
              <a:rPr lang="en-US" altLang="zh-CN" sz="2800">
                <a:solidFill>
                  <a:srgbClr val="000000"/>
                </a:solidFill>
              </a:rPr>
              <a:t>122</a:t>
            </a:r>
            <a:r>
              <a:rPr lang="zh-CN" altLang="en-US" sz="2800">
                <a:solidFill>
                  <a:srgbClr val="000000"/>
                </a:solidFill>
              </a:rPr>
              <a:t>、</a:t>
            </a:r>
            <a:r>
              <a:rPr lang="en-US" altLang="zh-CN" sz="2800">
                <a:solidFill>
                  <a:srgbClr val="000000"/>
                </a:solidFill>
              </a:rPr>
              <a:t>14</a:t>
            </a:r>
            <a:r>
              <a:rPr lang="zh-CN" altLang="en-US" sz="2800">
                <a:solidFill>
                  <a:srgbClr val="000000"/>
                </a:solidFill>
              </a:rPr>
              <a:t>、</a:t>
            </a:r>
            <a:r>
              <a:rPr lang="en-US" altLang="zh-CN" sz="2800">
                <a:solidFill>
                  <a:srgbClr val="000000"/>
                </a:solidFill>
              </a:rPr>
              <a:t>124</a:t>
            </a:r>
            <a:r>
              <a:rPr lang="zh-CN" altLang="en-US" sz="2800">
                <a:solidFill>
                  <a:srgbClr val="000000"/>
                </a:solidFill>
              </a:rPr>
              <a:t>、</a:t>
            </a:r>
            <a:r>
              <a:rPr lang="en-US" altLang="zh-CN" sz="2800">
                <a:solidFill>
                  <a:srgbClr val="000000"/>
                </a:solidFill>
              </a:rPr>
              <a:t>65</a:t>
            </a:r>
            <a:r>
              <a:rPr lang="zh-CN" altLang="en-US" sz="2800">
                <a:solidFill>
                  <a:srgbClr val="000000"/>
                </a:solidFill>
              </a:rPr>
              <a:t>、</a:t>
            </a:r>
            <a:r>
              <a:rPr lang="en-US" altLang="zh-CN" sz="2800">
                <a:solidFill>
                  <a:srgbClr val="000000"/>
                </a:solidFill>
              </a:rPr>
              <a:t>67</a:t>
            </a:r>
            <a:r>
              <a:rPr lang="zh-CN" altLang="en-US" sz="2800">
                <a:solidFill>
                  <a:srgbClr val="000000"/>
                </a:solidFill>
              </a:rPr>
              <a:t>。</a:t>
            </a:r>
          </a:p>
        </p:txBody>
      </p:sp>
      <p:sp>
        <p:nvSpPr>
          <p:cNvPr id="670789" name="Line 69"/>
          <p:cNvSpPr>
            <a:spLocks noChangeShapeType="1"/>
          </p:cNvSpPr>
          <p:nvPr/>
        </p:nvSpPr>
        <p:spPr bwMode="auto">
          <a:xfrm>
            <a:off x="3924300" y="5734050"/>
            <a:ext cx="503238"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65" name="Oval 71"/>
          <p:cNvSpPr>
            <a:spLocks noChangeArrowheads="1"/>
          </p:cNvSpPr>
          <p:nvPr/>
        </p:nvSpPr>
        <p:spPr bwMode="auto">
          <a:xfrm>
            <a:off x="3492500" y="4149725"/>
            <a:ext cx="144463" cy="144463"/>
          </a:xfrm>
          <a:prstGeom prst="ellipse">
            <a:avLst/>
          </a:prstGeom>
          <a:solidFill>
            <a:schemeClr val="hlink"/>
          </a:solidFill>
          <a:ln w="12700" cap="sq">
            <a:solidFill>
              <a:schemeClr val="tx1"/>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0792" name="AutoShape 72">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0779"/>
                                        </p:tgtEl>
                                        <p:attrNameLst>
                                          <p:attrName>style.visibility</p:attrName>
                                        </p:attrNameLst>
                                      </p:cBhvr>
                                      <p:to>
                                        <p:strVal val="visible"/>
                                      </p:to>
                                    </p:set>
                                    <p:animEffect transition="in" filter="checkerboard(across)">
                                      <p:cBhvr>
                                        <p:cTn id="7" dur="500"/>
                                        <p:tgtEl>
                                          <p:spTgt spid="670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70746"/>
                                        </p:tgtEl>
                                        <p:attrNameLst>
                                          <p:attrName>style.visibility</p:attrName>
                                        </p:attrNameLst>
                                      </p:cBhvr>
                                      <p:to>
                                        <p:strVal val="visible"/>
                                      </p:to>
                                    </p:set>
                                    <p:animEffect transition="in" filter="fade">
                                      <p:cBhvr>
                                        <p:cTn id="12" dur="2000"/>
                                        <p:tgtEl>
                                          <p:spTgt spid="6707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5"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70748"/>
                                        </p:tgtEl>
                                        <p:attrNameLst>
                                          <p:attrName>style.visibility</p:attrName>
                                        </p:attrNameLst>
                                      </p:cBhvr>
                                      <p:to>
                                        <p:strVal val="visible"/>
                                      </p:to>
                                    </p:set>
                                    <p:animEffect transition="in" filter="dissolve">
                                      <p:cBhvr>
                                        <p:cTn id="24" dur="500"/>
                                        <p:tgtEl>
                                          <p:spTgt spid="67074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5"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1000" fill="hold"/>
                                        <p:tgtEl>
                                          <p:spTgt spid="3"/>
                                        </p:tgtEl>
                                        <p:attrNameLst>
                                          <p:attrName>ppt_w</p:attrName>
                                        </p:attrNameLst>
                                      </p:cBhvr>
                                      <p:tavLst>
                                        <p:tav tm="0">
                                          <p:val>
                                            <p:strVal val="#ppt_w*0.70"/>
                                          </p:val>
                                        </p:tav>
                                        <p:tav tm="100000">
                                          <p:val>
                                            <p:strVal val="#ppt_w"/>
                                          </p:val>
                                        </p:tav>
                                      </p:tavLst>
                                    </p:anim>
                                    <p:anim calcmode="lin" valueType="num">
                                      <p:cBhvr>
                                        <p:cTn id="30" dur="1000" fill="hold"/>
                                        <p:tgtEl>
                                          <p:spTgt spid="3"/>
                                        </p:tgtEl>
                                        <p:attrNameLst>
                                          <p:attrName>ppt_h</p:attrName>
                                        </p:attrNameLst>
                                      </p:cBhvr>
                                      <p:tavLst>
                                        <p:tav tm="0">
                                          <p:val>
                                            <p:strVal val="#ppt_h"/>
                                          </p:val>
                                        </p:tav>
                                        <p:tav tm="100000">
                                          <p:val>
                                            <p:strVal val="#ppt_h"/>
                                          </p:val>
                                        </p:tav>
                                      </p:tavLst>
                                    </p:anim>
                                    <p:animEffect transition="in" filter="fade">
                                      <p:cBhvr>
                                        <p:cTn id="31" dur="10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670749"/>
                                        </p:tgtEl>
                                        <p:attrNameLst>
                                          <p:attrName>style.visibility</p:attrName>
                                        </p:attrNameLst>
                                      </p:cBhvr>
                                      <p:to>
                                        <p:strVal val="visible"/>
                                      </p:to>
                                    </p:set>
                                    <p:animEffect transition="in" filter="dissolve">
                                      <p:cBhvr>
                                        <p:cTn id="36" dur="500"/>
                                        <p:tgtEl>
                                          <p:spTgt spid="67074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5"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 calcmode="lin" valueType="num">
                                      <p:cBhvr>
                                        <p:cTn id="41" dur="1000" fill="hold"/>
                                        <p:tgtEl>
                                          <p:spTgt spid="4"/>
                                        </p:tgtEl>
                                        <p:attrNameLst>
                                          <p:attrName>ppt_w</p:attrName>
                                        </p:attrNameLst>
                                      </p:cBhvr>
                                      <p:tavLst>
                                        <p:tav tm="0">
                                          <p:val>
                                            <p:strVal val="#ppt_w*0.70"/>
                                          </p:val>
                                        </p:tav>
                                        <p:tav tm="100000">
                                          <p:val>
                                            <p:strVal val="#ppt_w"/>
                                          </p:val>
                                        </p:tav>
                                      </p:tavLst>
                                    </p:anim>
                                    <p:anim calcmode="lin" valueType="num">
                                      <p:cBhvr>
                                        <p:cTn id="42" dur="1000" fill="hold"/>
                                        <p:tgtEl>
                                          <p:spTgt spid="4"/>
                                        </p:tgtEl>
                                        <p:attrNameLst>
                                          <p:attrName>ppt_h</p:attrName>
                                        </p:attrNameLst>
                                      </p:cBhvr>
                                      <p:tavLst>
                                        <p:tav tm="0">
                                          <p:val>
                                            <p:strVal val="#ppt_h"/>
                                          </p:val>
                                        </p:tav>
                                        <p:tav tm="100000">
                                          <p:val>
                                            <p:strVal val="#ppt_h"/>
                                          </p:val>
                                        </p:tav>
                                      </p:tavLst>
                                    </p:anim>
                                    <p:animEffect transition="in" filter="fade">
                                      <p:cBhvr>
                                        <p:cTn id="43" dur="1000"/>
                                        <p:tgtEl>
                                          <p:spTgt spid="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670756"/>
                                        </p:tgtEl>
                                        <p:attrNameLst>
                                          <p:attrName>style.visibility</p:attrName>
                                        </p:attrNameLst>
                                      </p:cBhvr>
                                      <p:to>
                                        <p:strVal val="visible"/>
                                      </p:to>
                                    </p:set>
                                    <p:animEffect transition="in" filter="dissolve">
                                      <p:cBhvr>
                                        <p:cTn id="48" dur="500"/>
                                        <p:tgtEl>
                                          <p:spTgt spid="6707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5" presetClass="entr" presetSubtype="0"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p:cTn id="53" dur="1000" fill="hold"/>
                                        <p:tgtEl>
                                          <p:spTgt spid="5"/>
                                        </p:tgtEl>
                                        <p:attrNameLst>
                                          <p:attrName>ppt_w</p:attrName>
                                        </p:attrNameLst>
                                      </p:cBhvr>
                                      <p:tavLst>
                                        <p:tav tm="0">
                                          <p:val>
                                            <p:strVal val="#ppt_w*0.70"/>
                                          </p:val>
                                        </p:tav>
                                        <p:tav tm="100000">
                                          <p:val>
                                            <p:strVal val="#ppt_w"/>
                                          </p:val>
                                        </p:tav>
                                      </p:tavLst>
                                    </p:anim>
                                    <p:anim calcmode="lin" valueType="num">
                                      <p:cBhvr>
                                        <p:cTn id="54" dur="1000" fill="hold"/>
                                        <p:tgtEl>
                                          <p:spTgt spid="5"/>
                                        </p:tgtEl>
                                        <p:attrNameLst>
                                          <p:attrName>ppt_h</p:attrName>
                                        </p:attrNameLst>
                                      </p:cBhvr>
                                      <p:tavLst>
                                        <p:tav tm="0">
                                          <p:val>
                                            <p:strVal val="#ppt_h"/>
                                          </p:val>
                                        </p:tav>
                                        <p:tav tm="100000">
                                          <p:val>
                                            <p:strVal val="#ppt_h"/>
                                          </p:val>
                                        </p:tav>
                                      </p:tavLst>
                                    </p:anim>
                                    <p:animEffect transition="in" filter="fade">
                                      <p:cBhvr>
                                        <p:cTn id="55" dur="10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70757"/>
                                        </p:tgtEl>
                                        <p:attrNameLst>
                                          <p:attrName>style.visibility</p:attrName>
                                        </p:attrNameLst>
                                      </p:cBhvr>
                                      <p:to>
                                        <p:strVal val="visible"/>
                                      </p:to>
                                    </p:set>
                                    <p:animEffect transition="in" filter="dissolve">
                                      <p:cBhvr>
                                        <p:cTn id="60" dur="500"/>
                                        <p:tgtEl>
                                          <p:spTgt spid="67075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9" presetClass="entr" presetSubtype="0"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dissolve">
                                      <p:cBhvr>
                                        <p:cTn id="65" dur="500"/>
                                        <p:tgtEl>
                                          <p:spTgt spid="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670758"/>
                                        </p:tgtEl>
                                        <p:attrNameLst>
                                          <p:attrName>style.visibility</p:attrName>
                                        </p:attrNameLst>
                                      </p:cBhvr>
                                      <p:to>
                                        <p:strVal val="visible"/>
                                      </p:to>
                                    </p:set>
                                    <p:animEffect transition="in" filter="dissolve">
                                      <p:cBhvr>
                                        <p:cTn id="70" dur="500"/>
                                        <p:tgtEl>
                                          <p:spTgt spid="67075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5" presetClass="entr" presetSubtype="0" fill="hold" nodeType="clickEffect">
                                  <p:stCondLst>
                                    <p:cond delay="0"/>
                                  </p:stCondLst>
                                  <p:childTnLst>
                                    <p:set>
                                      <p:cBhvr>
                                        <p:cTn id="74" dur="1" fill="hold">
                                          <p:stCondLst>
                                            <p:cond delay="0"/>
                                          </p:stCondLst>
                                        </p:cTn>
                                        <p:tgtEl>
                                          <p:spTgt spid="7"/>
                                        </p:tgtEl>
                                        <p:attrNameLst>
                                          <p:attrName>style.visibility</p:attrName>
                                        </p:attrNameLst>
                                      </p:cBhvr>
                                      <p:to>
                                        <p:strVal val="visible"/>
                                      </p:to>
                                    </p:set>
                                    <p:anim calcmode="lin" valueType="num">
                                      <p:cBhvr>
                                        <p:cTn id="75" dur="1000" fill="hold"/>
                                        <p:tgtEl>
                                          <p:spTgt spid="7"/>
                                        </p:tgtEl>
                                        <p:attrNameLst>
                                          <p:attrName>ppt_w</p:attrName>
                                        </p:attrNameLst>
                                      </p:cBhvr>
                                      <p:tavLst>
                                        <p:tav tm="0">
                                          <p:val>
                                            <p:strVal val="#ppt_w*0.70"/>
                                          </p:val>
                                        </p:tav>
                                        <p:tav tm="100000">
                                          <p:val>
                                            <p:strVal val="#ppt_w"/>
                                          </p:val>
                                        </p:tav>
                                      </p:tavLst>
                                    </p:anim>
                                    <p:anim calcmode="lin" valueType="num">
                                      <p:cBhvr>
                                        <p:cTn id="76" dur="1000" fill="hold"/>
                                        <p:tgtEl>
                                          <p:spTgt spid="7"/>
                                        </p:tgtEl>
                                        <p:attrNameLst>
                                          <p:attrName>ppt_h</p:attrName>
                                        </p:attrNameLst>
                                      </p:cBhvr>
                                      <p:tavLst>
                                        <p:tav tm="0">
                                          <p:val>
                                            <p:strVal val="#ppt_h"/>
                                          </p:val>
                                        </p:tav>
                                        <p:tav tm="100000">
                                          <p:val>
                                            <p:strVal val="#ppt_h"/>
                                          </p:val>
                                        </p:tav>
                                      </p:tavLst>
                                    </p:anim>
                                    <p:animEffect transition="in" filter="fade">
                                      <p:cBhvr>
                                        <p:cTn id="77" dur="1000"/>
                                        <p:tgtEl>
                                          <p:spTgt spid="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670759"/>
                                        </p:tgtEl>
                                        <p:attrNameLst>
                                          <p:attrName>style.visibility</p:attrName>
                                        </p:attrNameLst>
                                      </p:cBhvr>
                                      <p:to>
                                        <p:strVal val="visible"/>
                                      </p:to>
                                    </p:set>
                                    <p:animEffect transition="in" filter="dissolve">
                                      <p:cBhvr>
                                        <p:cTn id="82" dur="500"/>
                                        <p:tgtEl>
                                          <p:spTgt spid="67075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55" presetClass="entr" presetSubtype="0" fill="hold"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1000" fill="hold"/>
                                        <p:tgtEl>
                                          <p:spTgt spid="8"/>
                                        </p:tgtEl>
                                        <p:attrNameLst>
                                          <p:attrName>ppt_w</p:attrName>
                                        </p:attrNameLst>
                                      </p:cBhvr>
                                      <p:tavLst>
                                        <p:tav tm="0">
                                          <p:val>
                                            <p:strVal val="#ppt_w*0.70"/>
                                          </p:val>
                                        </p:tav>
                                        <p:tav tm="100000">
                                          <p:val>
                                            <p:strVal val="#ppt_w"/>
                                          </p:val>
                                        </p:tav>
                                      </p:tavLst>
                                    </p:anim>
                                    <p:anim calcmode="lin" valueType="num">
                                      <p:cBhvr>
                                        <p:cTn id="88" dur="1000" fill="hold"/>
                                        <p:tgtEl>
                                          <p:spTgt spid="8"/>
                                        </p:tgtEl>
                                        <p:attrNameLst>
                                          <p:attrName>ppt_h</p:attrName>
                                        </p:attrNameLst>
                                      </p:cBhvr>
                                      <p:tavLst>
                                        <p:tav tm="0">
                                          <p:val>
                                            <p:strVal val="#ppt_h"/>
                                          </p:val>
                                        </p:tav>
                                        <p:tav tm="100000">
                                          <p:val>
                                            <p:strVal val="#ppt_h"/>
                                          </p:val>
                                        </p:tav>
                                      </p:tavLst>
                                    </p:anim>
                                    <p:animEffect transition="in" filter="fade">
                                      <p:cBhvr>
                                        <p:cTn id="89" dur="1000"/>
                                        <p:tgtEl>
                                          <p:spTgt spid="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9" presetClass="entr" presetSubtype="0" fill="hold" grpId="0" nodeType="clickEffect">
                                  <p:stCondLst>
                                    <p:cond delay="0"/>
                                  </p:stCondLst>
                                  <p:childTnLst>
                                    <p:set>
                                      <p:cBhvr>
                                        <p:cTn id="93" dur="1" fill="hold">
                                          <p:stCondLst>
                                            <p:cond delay="0"/>
                                          </p:stCondLst>
                                        </p:cTn>
                                        <p:tgtEl>
                                          <p:spTgt spid="670789"/>
                                        </p:tgtEl>
                                        <p:attrNameLst>
                                          <p:attrName>style.visibility</p:attrName>
                                        </p:attrNameLst>
                                      </p:cBhvr>
                                      <p:to>
                                        <p:strVal val="visible"/>
                                      </p:to>
                                    </p:set>
                                    <p:animEffect transition="in" filter="dissolve">
                                      <p:cBhvr>
                                        <p:cTn id="94" dur="500"/>
                                        <p:tgtEl>
                                          <p:spTgt spid="67078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55" presetClass="entr" presetSubtype="0" fill="hold" nodeType="clickEffect">
                                  <p:stCondLst>
                                    <p:cond delay="0"/>
                                  </p:stCondLst>
                                  <p:childTnLst>
                                    <p:set>
                                      <p:cBhvr>
                                        <p:cTn id="98" dur="1" fill="hold">
                                          <p:stCondLst>
                                            <p:cond delay="0"/>
                                          </p:stCondLst>
                                        </p:cTn>
                                        <p:tgtEl>
                                          <p:spTgt spid="9"/>
                                        </p:tgtEl>
                                        <p:attrNameLst>
                                          <p:attrName>style.visibility</p:attrName>
                                        </p:attrNameLst>
                                      </p:cBhvr>
                                      <p:to>
                                        <p:strVal val="visible"/>
                                      </p:to>
                                    </p:set>
                                    <p:anim calcmode="lin" valueType="num">
                                      <p:cBhvr>
                                        <p:cTn id="99" dur="1000" fill="hold"/>
                                        <p:tgtEl>
                                          <p:spTgt spid="9"/>
                                        </p:tgtEl>
                                        <p:attrNameLst>
                                          <p:attrName>ppt_w</p:attrName>
                                        </p:attrNameLst>
                                      </p:cBhvr>
                                      <p:tavLst>
                                        <p:tav tm="0">
                                          <p:val>
                                            <p:strVal val="#ppt_w*0.70"/>
                                          </p:val>
                                        </p:tav>
                                        <p:tav tm="100000">
                                          <p:val>
                                            <p:strVal val="#ppt_w"/>
                                          </p:val>
                                        </p:tav>
                                      </p:tavLst>
                                    </p:anim>
                                    <p:anim calcmode="lin" valueType="num">
                                      <p:cBhvr>
                                        <p:cTn id="100" dur="1000" fill="hold"/>
                                        <p:tgtEl>
                                          <p:spTgt spid="9"/>
                                        </p:tgtEl>
                                        <p:attrNameLst>
                                          <p:attrName>ppt_h</p:attrName>
                                        </p:attrNameLst>
                                      </p:cBhvr>
                                      <p:tavLst>
                                        <p:tav tm="0">
                                          <p:val>
                                            <p:strVal val="#ppt_h"/>
                                          </p:val>
                                        </p:tav>
                                        <p:tav tm="100000">
                                          <p:val>
                                            <p:strVal val="#ppt_h"/>
                                          </p:val>
                                        </p:tav>
                                      </p:tavLst>
                                    </p:anim>
                                    <p:animEffect transition="in" filter="fade">
                                      <p:cBhvr>
                                        <p:cTn id="101" dur="1000"/>
                                        <p:tgtEl>
                                          <p:spTgt spid="9"/>
                                        </p:tgtEl>
                                      </p:cBhvr>
                                    </p:animEffect>
                                  </p:childTnLst>
                                </p:cTn>
                              </p:par>
                            </p:childTnLst>
                          </p:cTn>
                        </p:par>
                        <p:par>
                          <p:cTn id="102" fill="hold" nodeType="afterGroup">
                            <p:stCondLst>
                              <p:cond delay="1000"/>
                            </p:stCondLst>
                            <p:childTnLst>
                              <p:par>
                                <p:cTn id="103" presetID="2" presetClass="entr" presetSubtype="6" fill="hold" grpId="0" nodeType="afterEffect">
                                  <p:stCondLst>
                                    <p:cond delay="0"/>
                                  </p:stCondLst>
                                  <p:childTnLst>
                                    <p:set>
                                      <p:cBhvr>
                                        <p:cTn id="104" dur="1" fill="hold">
                                          <p:stCondLst>
                                            <p:cond delay="0"/>
                                          </p:stCondLst>
                                        </p:cTn>
                                        <p:tgtEl>
                                          <p:spTgt spid="670792"/>
                                        </p:tgtEl>
                                        <p:attrNameLst>
                                          <p:attrName>style.visibility</p:attrName>
                                        </p:attrNameLst>
                                      </p:cBhvr>
                                      <p:to>
                                        <p:strVal val="visible"/>
                                      </p:to>
                                    </p:set>
                                    <p:anim calcmode="lin" valueType="num">
                                      <p:cBhvr additive="base">
                                        <p:cTn id="105" dur="500" fill="hold"/>
                                        <p:tgtEl>
                                          <p:spTgt spid="670792"/>
                                        </p:tgtEl>
                                        <p:attrNameLst>
                                          <p:attrName>ppt_x</p:attrName>
                                        </p:attrNameLst>
                                      </p:cBhvr>
                                      <p:tavLst>
                                        <p:tav tm="0">
                                          <p:val>
                                            <p:strVal val="1+#ppt_w/2"/>
                                          </p:val>
                                        </p:tav>
                                        <p:tav tm="100000">
                                          <p:val>
                                            <p:strVal val="#ppt_x"/>
                                          </p:val>
                                        </p:tav>
                                      </p:tavLst>
                                    </p:anim>
                                    <p:anim calcmode="lin" valueType="num">
                                      <p:cBhvr additive="base">
                                        <p:cTn id="106" dur="500" fill="hold"/>
                                        <p:tgtEl>
                                          <p:spTgt spid="6707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46" grpId="0" animBg="1"/>
      <p:bldP spid="670748" grpId="0" animBg="1"/>
      <p:bldP spid="670749" grpId="0" animBg="1"/>
      <p:bldP spid="670756" grpId="0" animBg="1"/>
      <p:bldP spid="670757" grpId="0" animBg="1"/>
      <p:bldP spid="670758" grpId="0" animBg="1"/>
      <p:bldP spid="670759" grpId="0" animBg="1"/>
      <p:bldP spid="670779" grpId="0" animBg="1"/>
      <p:bldP spid="670789" grpId="0" animBg="1"/>
      <p:bldP spid="67079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72" name="Line 28"/>
          <p:cNvSpPr>
            <a:spLocks noChangeShapeType="1"/>
          </p:cNvSpPr>
          <p:nvPr/>
        </p:nvSpPr>
        <p:spPr bwMode="auto">
          <a:xfrm>
            <a:off x="3563938" y="4005263"/>
            <a:ext cx="431800" cy="1444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0" name="Text Box 3"/>
          <p:cNvSpPr txBox="1">
            <a:spLocks noChangeArrowheads="1"/>
          </p:cNvSpPr>
          <p:nvPr/>
        </p:nvSpPr>
        <p:spPr bwMode="auto">
          <a:xfrm>
            <a:off x="1547813" y="476250"/>
            <a:ext cx="698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3600">
                <a:solidFill>
                  <a:srgbClr val="FFFF00"/>
                </a:solidFill>
                <a:latin typeface="Arial" panose="020B0604020202020204" pitchFamily="34" charset="0"/>
              </a:rPr>
              <a:t>最短查找时间优先调度算法</a:t>
            </a:r>
            <a:r>
              <a:rPr lang="en-US" altLang="zh-CN" sz="2800">
                <a:solidFill>
                  <a:srgbClr val="FFFF00"/>
                </a:solidFill>
              </a:rPr>
              <a:t>(SSTF)</a:t>
            </a:r>
          </a:p>
        </p:txBody>
      </p:sp>
      <p:sp>
        <p:nvSpPr>
          <p:cNvPr id="65541" name="Text Box 4"/>
          <p:cNvSpPr txBox="1">
            <a:spLocks noChangeArrowheads="1"/>
          </p:cNvSpPr>
          <p:nvPr/>
        </p:nvSpPr>
        <p:spPr bwMode="auto">
          <a:xfrm>
            <a:off x="179388" y="1125538"/>
            <a:ext cx="89646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solidFill>
                  <a:srgbClr val="FFFFFF"/>
                </a:solidFill>
                <a:latin typeface="楷体_GB2312" pitchFamily="49" charset="-122"/>
                <a:ea typeface="楷体_GB2312" pitchFamily="49" charset="-122"/>
              </a:rPr>
              <a:t>把距离磁头当前位置最近的请求作为下一次调度的对象。</a:t>
            </a:r>
          </a:p>
        </p:txBody>
      </p:sp>
      <p:sp>
        <p:nvSpPr>
          <p:cNvPr id="65542" name="Text Box 5"/>
          <p:cNvSpPr txBox="1">
            <a:spLocks noChangeArrowheads="1"/>
          </p:cNvSpPr>
          <p:nvPr/>
        </p:nvSpPr>
        <p:spPr bwMode="auto">
          <a:xfrm>
            <a:off x="2916238" y="34305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53</a:t>
            </a:r>
          </a:p>
        </p:txBody>
      </p:sp>
      <p:sp>
        <p:nvSpPr>
          <p:cNvPr id="65543" name="Line 6"/>
          <p:cNvSpPr>
            <a:spLocks noChangeShapeType="1"/>
          </p:cNvSpPr>
          <p:nvPr/>
        </p:nvSpPr>
        <p:spPr bwMode="auto">
          <a:xfrm>
            <a:off x="1619250" y="3789363"/>
            <a:ext cx="6769100" cy="0"/>
          </a:xfrm>
          <a:prstGeom prst="line">
            <a:avLst/>
          </a:prstGeom>
          <a:noFill/>
          <a:ln w="38100">
            <a:solidFill>
              <a:srgbClr val="FFFF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4" name="Line 7"/>
          <p:cNvSpPr>
            <a:spLocks noChangeShapeType="1"/>
          </p:cNvSpPr>
          <p:nvPr/>
        </p:nvSpPr>
        <p:spPr bwMode="auto">
          <a:xfrm>
            <a:off x="1619250" y="3717925"/>
            <a:ext cx="0"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5" name="Line 8"/>
          <p:cNvSpPr>
            <a:spLocks noChangeShapeType="1"/>
          </p:cNvSpPr>
          <p:nvPr/>
        </p:nvSpPr>
        <p:spPr bwMode="auto">
          <a:xfrm>
            <a:off x="2052638"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6" name="Line 9"/>
          <p:cNvSpPr>
            <a:spLocks noChangeShapeType="1"/>
          </p:cNvSpPr>
          <p:nvPr/>
        </p:nvSpPr>
        <p:spPr bwMode="auto">
          <a:xfrm>
            <a:off x="2555875"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7" name="Line 12"/>
          <p:cNvSpPr>
            <a:spLocks noChangeShapeType="1"/>
          </p:cNvSpPr>
          <p:nvPr/>
        </p:nvSpPr>
        <p:spPr bwMode="auto">
          <a:xfrm>
            <a:off x="8172450"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8" name="Line 13"/>
          <p:cNvSpPr>
            <a:spLocks noChangeShapeType="1"/>
          </p:cNvSpPr>
          <p:nvPr/>
        </p:nvSpPr>
        <p:spPr bwMode="auto">
          <a:xfrm>
            <a:off x="6226175" y="371951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49" name="Line 14"/>
          <p:cNvSpPr>
            <a:spLocks noChangeShapeType="1"/>
          </p:cNvSpPr>
          <p:nvPr/>
        </p:nvSpPr>
        <p:spPr bwMode="auto">
          <a:xfrm>
            <a:off x="5651500"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0" name="Line 15"/>
          <p:cNvSpPr>
            <a:spLocks noChangeShapeType="1"/>
          </p:cNvSpPr>
          <p:nvPr/>
        </p:nvSpPr>
        <p:spPr bwMode="auto">
          <a:xfrm>
            <a:off x="4572000"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51" name="Text Box 16"/>
          <p:cNvSpPr txBox="1">
            <a:spLocks noChangeArrowheads="1"/>
          </p:cNvSpPr>
          <p:nvPr/>
        </p:nvSpPr>
        <p:spPr bwMode="auto">
          <a:xfrm>
            <a:off x="1476375" y="3432175"/>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0</a:t>
            </a:r>
          </a:p>
        </p:txBody>
      </p:sp>
      <p:sp>
        <p:nvSpPr>
          <p:cNvPr id="65552" name="Text Box 17"/>
          <p:cNvSpPr txBox="1">
            <a:spLocks noChangeArrowheads="1"/>
          </p:cNvSpPr>
          <p:nvPr/>
        </p:nvSpPr>
        <p:spPr bwMode="auto">
          <a:xfrm>
            <a:off x="1908175" y="34305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14</a:t>
            </a:r>
          </a:p>
        </p:txBody>
      </p:sp>
      <p:sp>
        <p:nvSpPr>
          <p:cNvPr id="65553" name="Text Box 18"/>
          <p:cNvSpPr txBox="1">
            <a:spLocks noChangeArrowheads="1"/>
          </p:cNvSpPr>
          <p:nvPr/>
        </p:nvSpPr>
        <p:spPr bwMode="auto">
          <a:xfrm>
            <a:off x="2411413" y="34305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37</a:t>
            </a:r>
          </a:p>
        </p:txBody>
      </p:sp>
      <p:sp>
        <p:nvSpPr>
          <p:cNvPr id="65554" name="Text Box 19"/>
          <p:cNvSpPr txBox="1">
            <a:spLocks noChangeArrowheads="1"/>
          </p:cNvSpPr>
          <p:nvPr/>
        </p:nvSpPr>
        <p:spPr bwMode="auto">
          <a:xfrm>
            <a:off x="3348038" y="34305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65</a:t>
            </a:r>
          </a:p>
        </p:txBody>
      </p:sp>
      <p:sp>
        <p:nvSpPr>
          <p:cNvPr id="65555" name="Text Box 20"/>
          <p:cNvSpPr txBox="1">
            <a:spLocks noChangeArrowheads="1"/>
          </p:cNvSpPr>
          <p:nvPr/>
        </p:nvSpPr>
        <p:spPr bwMode="auto">
          <a:xfrm>
            <a:off x="3779838" y="3432175"/>
            <a:ext cx="412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67</a:t>
            </a:r>
          </a:p>
        </p:txBody>
      </p:sp>
      <p:sp>
        <p:nvSpPr>
          <p:cNvPr id="65556" name="Text Box 21"/>
          <p:cNvSpPr txBox="1">
            <a:spLocks noChangeArrowheads="1"/>
          </p:cNvSpPr>
          <p:nvPr/>
        </p:nvSpPr>
        <p:spPr bwMode="auto">
          <a:xfrm>
            <a:off x="4427538" y="3430588"/>
            <a:ext cx="41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98</a:t>
            </a:r>
          </a:p>
        </p:txBody>
      </p:sp>
      <p:sp>
        <p:nvSpPr>
          <p:cNvPr id="65557" name="Text Box 22"/>
          <p:cNvSpPr txBox="1">
            <a:spLocks noChangeArrowheads="1"/>
          </p:cNvSpPr>
          <p:nvPr/>
        </p:nvSpPr>
        <p:spPr bwMode="auto">
          <a:xfrm>
            <a:off x="5435600" y="3430588"/>
            <a:ext cx="527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122</a:t>
            </a:r>
          </a:p>
        </p:txBody>
      </p:sp>
      <p:sp>
        <p:nvSpPr>
          <p:cNvPr id="65558" name="Text Box 23"/>
          <p:cNvSpPr txBox="1">
            <a:spLocks noChangeArrowheads="1"/>
          </p:cNvSpPr>
          <p:nvPr/>
        </p:nvSpPr>
        <p:spPr bwMode="auto">
          <a:xfrm>
            <a:off x="6010275" y="3432175"/>
            <a:ext cx="527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124</a:t>
            </a:r>
          </a:p>
        </p:txBody>
      </p:sp>
      <p:sp>
        <p:nvSpPr>
          <p:cNvPr id="65559" name="Text Box 24"/>
          <p:cNvSpPr txBox="1">
            <a:spLocks noChangeArrowheads="1"/>
          </p:cNvSpPr>
          <p:nvPr/>
        </p:nvSpPr>
        <p:spPr bwMode="auto">
          <a:xfrm>
            <a:off x="7956550" y="3430588"/>
            <a:ext cx="527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t>183</a:t>
            </a:r>
          </a:p>
        </p:txBody>
      </p:sp>
      <p:sp>
        <p:nvSpPr>
          <p:cNvPr id="65560" name="Text Box 25"/>
          <p:cNvSpPr txBox="1">
            <a:spLocks noChangeArrowheads="1"/>
          </p:cNvSpPr>
          <p:nvPr/>
        </p:nvSpPr>
        <p:spPr bwMode="auto">
          <a:xfrm>
            <a:off x="179388" y="3573463"/>
            <a:ext cx="12239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latin typeface="Arial" panose="020B0604020202020204" pitchFamily="34" charset="0"/>
              </a:rPr>
              <a:t>磁道号：</a:t>
            </a:r>
          </a:p>
        </p:txBody>
      </p:sp>
      <p:sp>
        <p:nvSpPr>
          <p:cNvPr id="671771" name="Line 27"/>
          <p:cNvSpPr>
            <a:spLocks noChangeShapeType="1"/>
          </p:cNvSpPr>
          <p:nvPr/>
        </p:nvSpPr>
        <p:spPr bwMode="auto">
          <a:xfrm>
            <a:off x="8170863" y="3790950"/>
            <a:ext cx="0" cy="172878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73" name="Line 29"/>
          <p:cNvSpPr>
            <a:spLocks noChangeShapeType="1"/>
          </p:cNvSpPr>
          <p:nvPr/>
        </p:nvSpPr>
        <p:spPr bwMode="auto">
          <a:xfrm flipH="1">
            <a:off x="2554288" y="4151313"/>
            <a:ext cx="1368425"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75" name="Line 31"/>
          <p:cNvSpPr>
            <a:spLocks noChangeShapeType="1"/>
          </p:cNvSpPr>
          <p:nvPr/>
        </p:nvSpPr>
        <p:spPr bwMode="auto">
          <a:xfrm>
            <a:off x="2051050" y="4511675"/>
            <a:ext cx="2519363" cy="2873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76" name="Line 32"/>
          <p:cNvSpPr>
            <a:spLocks noChangeShapeType="1"/>
          </p:cNvSpPr>
          <p:nvPr/>
        </p:nvSpPr>
        <p:spPr bwMode="auto">
          <a:xfrm>
            <a:off x="4570413" y="4799013"/>
            <a:ext cx="1081087"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77" name="Line 33"/>
          <p:cNvSpPr>
            <a:spLocks noChangeShapeType="1"/>
          </p:cNvSpPr>
          <p:nvPr/>
        </p:nvSpPr>
        <p:spPr bwMode="auto">
          <a:xfrm>
            <a:off x="5651500" y="3790950"/>
            <a:ext cx="0" cy="12239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78" name="Line 34"/>
          <p:cNvSpPr>
            <a:spLocks noChangeShapeType="1"/>
          </p:cNvSpPr>
          <p:nvPr/>
        </p:nvSpPr>
        <p:spPr bwMode="auto">
          <a:xfrm>
            <a:off x="4570413" y="3790950"/>
            <a:ext cx="0" cy="10080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1" name="Line 37"/>
          <p:cNvSpPr>
            <a:spLocks noChangeShapeType="1"/>
          </p:cNvSpPr>
          <p:nvPr/>
        </p:nvSpPr>
        <p:spPr bwMode="auto">
          <a:xfrm>
            <a:off x="2051050" y="3790950"/>
            <a:ext cx="0" cy="7207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2" name="Line 38"/>
          <p:cNvSpPr>
            <a:spLocks noChangeShapeType="1"/>
          </p:cNvSpPr>
          <p:nvPr/>
        </p:nvSpPr>
        <p:spPr bwMode="auto">
          <a:xfrm>
            <a:off x="2554288" y="3790950"/>
            <a:ext cx="0" cy="5762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4" name="Line 40"/>
          <p:cNvSpPr>
            <a:spLocks noChangeShapeType="1"/>
          </p:cNvSpPr>
          <p:nvPr/>
        </p:nvSpPr>
        <p:spPr bwMode="auto">
          <a:xfrm>
            <a:off x="6227763" y="3790950"/>
            <a:ext cx="0" cy="13684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5" name="Line 41"/>
          <p:cNvSpPr>
            <a:spLocks noChangeShapeType="1"/>
          </p:cNvSpPr>
          <p:nvPr/>
        </p:nvSpPr>
        <p:spPr bwMode="auto">
          <a:xfrm>
            <a:off x="6227763" y="5159375"/>
            <a:ext cx="1943100" cy="3603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0"/>
          <p:cNvGrpSpPr>
            <a:grpSpLocks/>
          </p:cNvGrpSpPr>
          <p:nvPr/>
        </p:nvGrpSpPr>
        <p:grpSpPr bwMode="auto">
          <a:xfrm>
            <a:off x="3130550" y="3717925"/>
            <a:ext cx="361950" cy="366713"/>
            <a:chOff x="1972" y="2659"/>
            <a:chExt cx="228" cy="231"/>
          </a:xfrm>
        </p:grpSpPr>
        <p:sp>
          <p:nvSpPr>
            <p:cNvPr id="65600" name="Line 2"/>
            <p:cNvSpPr>
              <a:spLocks noChangeShapeType="1"/>
            </p:cNvSpPr>
            <p:nvPr/>
          </p:nvSpPr>
          <p:spPr bwMode="auto">
            <a:xfrm>
              <a:off x="1972" y="2796"/>
              <a:ext cx="227" cy="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601" name="Line 10"/>
            <p:cNvSpPr>
              <a:spLocks noChangeShapeType="1"/>
            </p:cNvSpPr>
            <p:nvPr/>
          </p:nvSpPr>
          <p:spPr bwMode="auto">
            <a:xfrm>
              <a:off x="2200" y="2659"/>
              <a:ext cx="0" cy="4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602" name="Line 26"/>
            <p:cNvSpPr>
              <a:spLocks noChangeShapeType="1"/>
            </p:cNvSpPr>
            <p:nvPr/>
          </p:nvSpPr>
          <p:spPr bwMode="auto">
            <a:xfrm>
              <a:off x="1973" y="2659"/>
              <a:ext cx="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603" name="Line 35"/>
            <p:cNvSpPr>
              <a:spLocks noChangeShapeType="1"/>
            </p:cNvSpPr>
            <p:nvPr/>
          </p:nvSpPr>
          <p:spPr bwMode="auto">
            <a:xfrm>
              <a:off x="2199" y="2705"/>
              <a:ext cx="0" cy="136"/>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604" name="Oval 42"/>
            <p:cNvSpPr>
              <a:spLocks noChangeArrowheads="1"/>
            </p:cNvSpPr>
            <p:nvPr/>
          </p:nvSpPr>
          <p:spPr bwMode="auto">
            <a:xfrm>
              <a:off x="1972" y="2705"/>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605" name="Text Box 43"/>
            <p:cNvSpPr txBox="1">
              <a:spLocks noChangeArrowheads="1"/>
            </p:cNvSpPr>
            <p:nvPr/>
          </p:nvSpPr>
          <p:spPr bwMode="auto">
            <a:xfrm>
              <a:off x="1972" y="265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1</a:t>
              </a:r>
            </a:p>
          </p:txBody>
        </p:sp>
      </p:grpSp>
      <p:grpSp>
        <p:nvGrpSpPr>
          <p:cNvPr id="3" name="Group 62"/>
          <p:cNvGrpSpPr>
            <a:grpSpLocks/>
          </p:cNvGrpSpPr>
          <p:nvPr/>
        </p:nvGrpSpPr>
        <p:grpSpPr bwMode="auto">
          <a:xfrm>
            <a:off x="2986088" y="4078288"/>
            <a:ext cx="311150" cy="366712"/>
            <a:chOff x="1881" y="2886"/>
            <a:chExt cx="196" cy="231"/>
          </a:xfrm>
        </p:grpSpPr>
        <p:sp>
          <p:nvSpPr>
            <p:cNvPr id="65598" name="Oval 46"/>
            <p:cNvSpPr>
              <a:spLocks noChangeArrowheads="1"/>
            </p:cNvSpPr>
            <p:nvPr/>
          </p:nvSpPr>
          <p:spPr bwMode="auto">
            <a:xfrm>
              <a:off x="1881" y="2932"/>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99" name="Text Box 47"/>
            <p:cNvSpPr txBox="1">
              <a:spLocks noChangeArrowheads="1"/>
            </p:cNvSpPr>
            <p:nvPr/>
          </p:nvSpPr>
          <p:spPr bwMode="auto">
            <a:xfrm>
              <a:off x="1881" y="288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3</a:t>
              </a:r>
            </a:p>
          </p:txBody>
        </p:sp>
      </p:grpSp>
      <p:grpSp>
        <p:nvGrpSpPr>
          <p:cNvPr id="4" name="Group 63"/>
          <p:cNvGrpSpPr>
            <a:grpSpLocks/>
          </p:cNvGrpSpPr>
          <p:nvPr/>
        </p:nvGrpSpPr>
        <p:grpSpPr bwMode="auto">
          <a:xfrm>
            <a:off x="2051050" y="4222750"/>
            <a:ext cx="503238" cy="366713"/>
            <a:chOff x="1292" y="2977"/>
            <a:chExt cx="317" cy="231"/>
          </a:xfrm>
        </p:grpSpPr>
        <p:sp>
          <p:nvSpPr>
            <p:cNvPr id="65595" name="Line 30"/>
            <p:cNvSpPr>
              <a:spLocks noChangeShapeType="1"/>
            </p:cNvSpPr>
            <p:nvPr/>
          </p:nvSpPr>
          <p:spPr bwMode="auto">
            <a:xfrm flipH="1">
              <a:off x="1292" y="3068"/>
              <a:ext cx="317"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96" name="Oval 48"/>
            <p:cNvSpPr>
              <a:spLocks noChangeArrowheads="1"/>
            </p:cNvSpPr>
            <p:nvPr/>
          </p:nvSpPr>
          <p:spPr bwMode="auto">
            <a:xfrm>
              <a:off x="1382" y="3023"/>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97" name="Text Box 49"/>
            <p:cNvSpPr txBox="1">
              <a:spLocks noChangeArrowheads="1"/>
            </p:cNvSpPr>
            <p:nvPr/>
          </p:nvSpPr>
          <p:spPr bwMode="auto">
            <a:xfrm>
              <a:off x="1382" y="297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4</a:t>
              </a:r>
            </a:p>
          </p:txBody>
        </p:sp>
      </p:grpSp>
      <p:grpSp>
        <p:nvGrpSpPr>
          <p:cNvPr id="5" name="Group 64"/>
          <p:cNvGrpSpPr>
            <a:grpSpLocks/>
          </p:cNvGrpSpPr>
          <p:nvPr/>
        </p:nvGrpSpPr>
        <p:grpSpPr bwMode="auto">
          <a:xfrm>
            <a:off x="3201988" y="4438650"/>
            <a:ext cx="311150" cy="366713"/>
            <a:chOff x="2017" y="3113"/>
            <a:chExt cx="196" cy="231"/>
          </a:xfrm>
        </p:grpSpPr>
        <p:sp>
          <p:nvSpPr>
            <p:cNvPr id="65593" name="Oval 50"/>
            <p:cNvSpPr>
              <a:spLocks noChangeArrowheads="1"/>
            </p:cNvSpPr>
            <p:nvPr/>
          </p:nvSpPr>
          <p:spPr bwMode="auto">
            <a:xfrm>
              <a:off x="2017" y="3159"/>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94" name="Text Box 51"/>
            <p:cNvSpPr txBox="1">
              <a:spLocks noChangeArrowheads="1"/>
            </p:cNvSpPr>
            <p:nvPr/>
          </p:nvSpPr>
          <p:spPr bwMode="auto">
            <a:xfrm>
              <a:off x="2017" y="31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5</a:t>
              </a:r>
            </a:p>
          </p:txBody>
        </p:sp>
      </p:grpSp>
      <p:grpSp>
        <p:nvGrpSpPr>
          <p:cNvPr id="6" name="Group 65"/>
          <p:cNvGrpSpPr>
            <a:grpSpLocks/>
          </p:cNvGrpSpPr>
          <p:nvPr/>
        </p:nvGrpSpPr>
        <p:grpSpPr bwMode="auto">
          <a:xfrm>
            <a:off x="4930775" y="4654550"/>
            <a:ext cx="311150" cy="366713"/>
            <a:chOff x="3106" y="3249"/>
            <a:chExt cx="196" cy="231"/>
          </a:xfrm>
        </p:grpSpPr>
        <p:sp>
          <p:nvSpPr>
            <p:cNvPr id="65591" name="Oval 52"/>
            <p:cNvSpPr>
              <a:spLocks noChangeArrowheads="1"/>
            </p:cNvSpPr>
            <p:nvPr/>
          </p:nvSpPr>
          <p:spPr bwMode="auto">
            <a:xfrm>
              <a:off x="3106" y="3295"/>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92" name="Text Box 53"/>
            <p:cNvSpPr txBox="1">
              <a:spLocks noChangeArrowheads="1"/>
            </p:cNvSpPr>
            <p:nvPr/>
          </p:nvSpPr>
          <p:spPr bwMode="auto">
            <a:xfrm>
              <a:off x="3106" y="324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6</a:t>
              </a:r>
            </a:p>
          </p:txBody>
        </p:sp>
      </p:grpSp>
      <p:grpSp>
        <p:nvGrpSpPr>
          <p:cNvPr id="7" name="Group 66"/>
          <p:cNvGrpSpPr>
            <a:grpSpLocks/>
          </p:cNvGrpSpPr>
          <p:nvPr/>
        </p:nvGrpSpPr>
        <p:grpSpPr bwMode="auto">
          <a:xfrm>
            <a:off x="5651500" y="4870450"/>
            <a:ext cx="576263" cy="366713"/>
            <a:chOff x="3560" y="3385"/>
            <a:chExt cx="363" cy="231"/>
          </a:xfrm>
        </p:grpSpPr>
        <p:sp>
          <p:nvSpPr>
            <p:cNvPr id="65588" name="Line 39"/>
            <p:cNvSpPr>
              <a:spLocks noChangeShapeType="1"/>
            </p:cNvSpPr>
            <p:nvPr/>
          </p:nvSpPr>
          <p:spPr bwMode="auto">
            <a:xfrm>
              <a:off x="3560" y="3476"/>
              <a:ext cx="363"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589" name="Oval 54"/>
            <p:cNvSpPr>
              <a:spLocks noChangeArrowheads="1"/>
            </p:cNvSpPr>
            <p:nvPr/>
          </p:nvSpPr>
          <p:spPr bwMode="auto">
            <a:xfrm>
              <a:off x="3650" y="3431"/>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90" name="Text Box 55"/>
            <p:cNvSpPr txBox="1">
              <a:spLocks noChangeArrowheads="1"/>
            </p:cNvSpPr>
            <p:nvPr/>
          </p:nvSpPr>
          <p:spPr bwMode="auto">
            <a:xfrm>
              <a:off x="3650" y="338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7</a:t>
              </a:r>
            </a:p>
          </p:txBody>
        </p:sp>
      </p:grpSp>
      <p:grpSp>
        <p:nvGrpSpPr>
          <p:cNvPr id="8" name="Group 67"/>
          <p:cNvGrpSpPr>
            <a:grpSpLocks/>
          </p:cNvGrpSpPr>
          <p:nvPr/>
        </p:nvGrpSpPr>
        <p:grpSpPr bwMode="auto">
          <a:xfrm>
            <a:off x="7091363" y="5157788"/>
            <a:ext cx="311150" cy="366712"/>
            <a:chOff x="4467" y="3566"/>
            <a:chExt cx="196" cy="231"/>
          </a:xfrm>
        </p:grpSpPr>
        <p:sp>
          <p:nvSpPr>
            <p:cNvPr id="65586" name="Oval 56"/>
            <p:cNvSpPr>
              <a:spLocks noChangeArrowheads="1"/>
            </p:cNvSpPr>
            <p:nvPr/>
          </p:nvSpPr>
          <p:spPr bwMode="auto">
            <a:xfrm>
              <a:off x="4467" y="3612"/>
              <a:ext cx="181" cy="182"/>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87" name="Text Box 57"/>
            <p:cNvSpPr txBox="1">
              <a:spLocks noChangeArrowheads="1"/>
            </p:cNvSpPr>
            <p:nvPr/>
          </p:nvSpPr>
          <p:spPr bwMode="auto">
            <a:xfrm>
              <a:off x="4467" y="356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8</a:t>
              </a:r>
            </a:p>
          </p:txBody>
        </p:sp>
      </p:grpSp>
      <p:sp>
        <p:nvSpPr>
          <p:cNvPr id="671802" name="Text Box 58"/>
          <p:cNvSpPr txBox="1">
            <a:spLocks noChangeArrowheads="1"/>
          </p:cNvSpPr>
          <p:nvPr/>
        </p:nvSpPr>
        <p:spPr bwMode="auto">
          <a:xfrm>
            <a:off x="250825" y="1844675"/>
            <a:ext cx="8712200" cy="1262063"/>
          </a:xfrm>
          <a:prstGeom prst="rect">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solidFill>
                  <a:schemeClr val="bg2"/>
                </a:solidFill>
              </a:rPr>
              <a:t>总共划过的磁道数</a:t>
            </a:r>
          </a:p>
          <a:p>
            <a:pPr eaLnBrk="1" hangingPunct="1">
              <a:spcBef>
                <a:spcPct val="0"/>
              </a:spcBef>
              <a:buClrTx/>
              <a:buSzTx/>
              <a:buFontTx/>
              <a:buNone/>
            </a:pPr>
            <a:r>
              <a:rPr kumimoji="0" lang="en-US" altLang="zh-CN" sz="2400">
                <a:solidFill>
                  <a:srgbClr val="000000"/>
                </a:solidFill>
              </a:rPr>
              <a:t>=(65-53)+(67-65)+(67-37)+(37-14) +(98-14)+(122-98)+(124-122)</a:t>
            </a:r>
          </a:p>
          <a:p>
            <a:pPr eaLnBrk="1" hangingPunct="1">
              <a:spcBef>
                <a:spcPct val="0"/>
              </a:spcBef>
              <a:buClrTx/>
              <a:buSzTx/>
              <a:buFontTx/>
              <a:buNone/>
            </a:pPr>
            <a:r>
              <a:rPr kumimoji="0" lang="en-US" altLang="zh-CN" sz="2400">
                <a:solidFill>
                  <a:srgbClr val="000000"/>
                </a:solidFill>
              </a:rPr>
              <a:t>+(183-124)=12+2+30+23+84+24+2+59= </a:t>
            </a:r>
            <a:r>
              <a:rPr kumimoji="0" lang="en-US" altLang="zh-CN" sz="2400">
                <a:solidFill>
                  <a:srgbClr val="FF0000"/>
                </a:solidFill>
              </a:rPr>
              <a:t>236</a:t>
            </a:r>
          </a:p>
        </p:txBody>
      </p:sp>
      <p:sp>
        <p:nvSpPr>
          <p:cNvPr id="65579" name="Text Box 59"/>
          <p:cNvSpPr txBox="1">
            <a:spLocks noChangeArrowheads="1"/>
          </p:cNvSpPr>
          <p:nvPr/>
        </p:nvSpPr>
        <p:spPr bwMode="auto">
          <a:xfrm>
            <a:off x="1403350" y="0"/>
            <a:ext cx="6624638" cy="519113"/>
          </a:xfrm>
          <a:prstGeom prst="rect">
            <a:avLst/>
          </a:prstGeom>
          <a:solidFill>
            <a:srgbClr val="FFEB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98</a:t>
            </a:r>
            <a:r>
              <a:rPr lang="zh-CN" altLang="en-US" sz="2800">
                <a:solidFill>
                  <a:srgbClr val="000000"/>
                </a:solidFill>
              </a:rPr>
              <a:t>、</a:t>
            </a:r>
            <a:r>
              <a:rPr lang="en-US" altLang="zh-CN" sz="2800">
                <a:solidFill>
                  <a:srgbClr val="000000"/>
                </a:solidFill>
              </a:rPr>
              <a:t>183</a:t>
            </a:r>
            <a:r>
              <a:rPr lang="zh-CN" altLang="en-US" sz="2800">
                <a:solidFill>
                  <a:srgbClr val="000000"/>
                </a:solidFill>
              </a:rPr>
              <a:t>、</a:t>
            </a:r>
            <a:r>
              <a:rPr lang="en-US" altLang="zh-CN" sz="2800">
                <a:solidFill>
                  <a:srgbClr val="000000"/>
                </a:solidFill>
              </a:rPr>
              <a:t>37</a:t>
            </a:r>
            <a:r>
              <a:rPr lang="zh-CN" altLang="en-US" sz="2800">
                <a:solidFill>
                  <a:srgbClr val="000000"/>
                </a:solidFill>
              </a:rPr>
              <a:t>、</a:t>
            </a:r>
            <a:r>
              <a:rPr lang="en-US" altLang="zh-CN" sz="2800">
                <a:solidFill>
                  <a:srgbClr val="000000"/>
                </a:solidFill>
              </a:rPr>
              <a:t>122</a:t>
            </a:r>
            <a:r>
              <a:rPr lang="zh-CN" altLang="en-US" sz="2800">
                <a:solidFill>
                  <a:srgbClr val="000000"/>
                </a:solidFill>
              </a:rPr>
              <a:t>、</a:t>
            </a:r>
            <a:r>
              <a:rPr lang="en-US" altLang="zh-CN" sz="2800">
                <a:solidFill>
                  <a:srgbClr val="000000"/>
                </a:solidFill>
              </a:rPr>
              <a:t>14</a:t>
            </a:r>
            <a:r>
              <a:rPr lang="zh-CN" altLang="en-US" sz="2800">
                <a:solidFill>
                  <a:srgbClr val="000000"/>
                </a:solidFill>
              </a:rPr>
              <a:t>、</a:t>
            </a:r>
            <a:r>
              <a:rPr lang="en-US" altLang="zh-CN" sz="2800">
                <a:solidFill>
                  <a:srgbClr val="000000"/>
                </a:solidFill>
              </a:rPr>
              <a:t>124</a:t>
            </a:r>
            <a:r>
              <a:rPr lang="zh-CN" altLang="en-US" sz="2800">
                <a:solidFill>
                  <a:srgbClr val="000000"/>
                </a:solidFill>
              </a:rPr>
              <a:t>、</a:t>
            </a:r>
            <a:r>
              <a:rPr lang="en-US" altLang="zh-CN" sz="2800">
                <a:solidFill>
                  <a:srgbClr val="000000"/>
                </a:solidFill>
              </a:rPr>
              <a:t>65</a:t>
            </a:r>
            <a:r>
              <a:rPr lang="zh-CN" altLang="en-US" sz="2800">
                <a:solidFill>
                  <a:srgbClr val="000000"/>
                </a:solidFill>
              </a:rPr>
              <a:t>、</a:t>
            </a:r>
            <a:r>
              <a:rPr lang="en-US" altLang="zh-CN" sz="2800">
                <a:solidFill>
                  <a:srgbClr val="000000"/>
                </a:solidFill>
              </a:rPr>
              <a:t>67</a:t>
            </a:r>
            <a:r>
              <a:rPr lang="zh-CN" altLang="en-US" sz="2800">
                <a:solidFill>
                  <a:srgbClr val="000000"/>
                </a:solidFill>
              </a:rPr>
              <a:t>。</a:t>
            </a:r>
          </a:p>
        </p:txBody>
      </p:sp>
      <p:sp>
        <p:nvSpPr>
          <p:cNvPr id="671788" name="Oval 44"/>
          <p:cNvSpPr>
            <a:spLocks noChangeArrowheads="1"/>
          </p:cNvSpPr>
          <p:nvPr/>
        </p:nvSpPr>
        <p:spPr bwMode="auto">
          <a:xfrm>
            <a:off x="3635375" y="3933825"/>
            <a:ext cx="287338" cy="288925"/>
          </a:xfrm>
          <a:prstGeom prst="ellipse">
            <a:avLst/>
          </a:prstGeom>
          <a:solidFill>
            <a:schemeClr val="accent1"/>
          </a:solidFill>
          <a:ln w="38100" algn="ctr">
            <a:solidFill>
              <a:schemeClr val="tx1"/>
            </a:solidFill>
            <a:round/>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81" name="Line 11"/>
          <p:cNvSpPr>
            <a:spLocks noChangeShapeType="1"/>
          </p:cNvSpPr>
          <p:nvPr/>
        </p:nvSpPr>
        <p:spPr bwMode="auto">
          <a:xfrm>
            <a:off x="3995738" y="371792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0" name="Line 36"/>
          <p:cNvSpPr>
            <a:spLocks noChangeShapeType="1"/>
          </p:cNvSpPr>
          <p:nvPr/>
        </p:nvSpPr>
        <p:spPr bwMode="auto">
          <a:xfrm>
            <a:off x="3995738" y="3789363"/>
            <a:ext cx="0" cy="360362"/>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1789" name="Text Box 45"/>
          <p:cNvSpPr txBox="1">
            <a:spLocks noChangeArrowheads="1"/>
          </p:cNvSpPr>
          <p:nvPr/>
        </p:nvSpPr>
        <p:spPr bwMode="auto">
          <a:xfrm>
            <a:off x="3635375" y="386238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rgbClr val="000000"/>
                </a:solidFill>
                <a:latin typeface="Arial" panose="020B0604020202020204" pitchFamily="34" charset="0"/>
              </a:rPr>
              <a:t>2</a:t>
            </a:r>
          </a:p>
        </p:txBody>
      </p:sp>
      <p:sp>
        <p:nvSpPr>
          <p:cNvPr id="671812" name="AutoShape 68">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5585" name="Oval 69"/>
          <p:cNvSpPr>
            <a:spLocks noChangeArrowheads="1"/>
          </p:cNvSpPr>
          <p:nvPr/>
        </p:nvSpPr>
        <p:spPr bwMode="auto">
          <a:xfrm>
            <a:off x="3059113" y="3717925"/>
            <a:ext cx="144462" cy="144463"/>
          </a:xfrm>
          <a:prstGeom prst="ellipse">
            <a:avLst/>
          </a:prstGeom>
          <a:solidFill>
            <a:schemeClr val="hlink"/>
          </a:solidFill>
          <a:ln w="12700" cap="sq">
            <a:solidFill>
              <a:schemeClr val="tx1"/>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1802"/>
                                        </p:tgtEl>
                                        <p:attrNameLst>
                                          <p:attrName>style.visibility</p:attrName>
                                        </p:attrNameLst>
                                      </p:cBhvr>
                                      <p:to>
                                        <p:strVal val="visible"/>
                                      </p:to>
                                    </p:set>
                                    <p:animEffect transition="in" filter="blinds(horizontal)">
                                      <p:cBhvr>
                                        <p:cTn id="7" dur="500"/>
                                        <p:tgtEl>
                                          <p:spTgt spid="671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71780"/>
                                        </p:tgtEl>
                                        <p:attrNameLst>
                                          <p:attrName>style.visibility</p:attrName>
                                        </p:attrNameLst>
                                      </p:cBhvr>
                                      <p:to>
                                        <p:strVal val="visible"/>
                                      </p:to>
                                    </p:set>
                                    <p:animEffect transition="in" filter="dissolve">
                                      <p:cBhvr>
                                        <p:cTn id="17" dur="500"/>
                                        <p:tgtEl>
                                          <p:spTgt spid="6717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71772"/>
                                        </p:tgtEl>
                                        <p:attrNameLst>
                                          <p:attrName>style.visibility</p:attrName>
                                        </p:attrNameLst>
                                      </p:cBhvr>
                                      <p:to>
                                        <p:strVal val="visible"/>
                                      </p:to>
                                    </p:set>
                                    <p:animEffect transition="in" filter="dissolve">
                                      <p:cBhvr>
                                        <p:cTn id="22" dur="500"/>
                                        <p:tgtEl>
                                          <p:spTgt spid="6717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71788"/>
                                        </p:tgtEl>
                                        <p:attrNameLst>
                                          <p:attrName>style.visibility</p:attrName>
                                        </p:attrNameLst>
                                      </p:cBhvr>
                                      <p:to>
                                        <p:strVal val="visible"/>
                                      </p:to>
                                    </p:set>
                                    <p:animEffect transition="in" filter="dissolve">
                                      <p:cBhvr>
                                        <p:cTn id="27" dur="500"/>
                                        <p:tgtEl>
                                          <p:spTgt spid="67178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71789">
                                            <p:txEl>
                                              <p:pRg st="0" end="0"/>
                                            </p:txEl>
                                          </p:spTgt>
                                        </p:tgtEl>
                                        <p:attrNameLst>
                                          <p:attrName>style.visibility</p:attrName>
                                        </p:attrNameLst>
                                      </p:cBhvr>
                                      <p:to>
                                        <p:strVal val="visible"/>
                                      </p:to>
                                    </p:set>
                                    <p:animEffect transition="in" filter="dissolve">
                                      <p:cBhvr>
                                        <p:cTn id="32" dur="500"/>
                                        <p:tgtEl>
                                          <p:spTgt spid="67178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71782"/>
                                        </p:tgtEl>
                                        <p:attrNameLst>
                                          <p:attrName>style.visibility</p:attrName>
                                        </p:attrNameLst>
                                      </p:cBhvr>
                                      <p:to>
                                        <p:strVal val="visible"/>
                                      </p:to>
                                    </p:set>
                                    <p:animEffect transition="in" filter="dissolve">
                                      <p:cBhvr>
                                        <p:cTn id="37" dur="500"/>
                                        <p:tgtEl>
                                          <p:spTgt spid="6717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71773"/>
                                        </p:tgtEl>
                                        <p:attrNameLst>
                                          <p:attrName>style.visibility</p:attrName>
                                        </p:attrNameLst>
                                      </p:cBhvr>
                                      <p:to>
                                        <p:strVal val="visible"/>
                                      </p:to>
                                    </p:set>
                                    <p:animEffect transition="in" filter="dissolve">
                                      <p:cBhvr>
                                        <p:cTn id="42" dur="500"/>
                                        <p:tgtEl>
                                          <p:spTgt spid="6717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dissolve">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671781"/>
                                        </p:tgtEl>
                                        <p:attrNameLst>
                                          <p:attrName>style.visibility</p:attrName>
                                        </p:attrNameLst>
                                      </p:cBhvr>
                                      <p:to>
                                        <p:strVal val="visible"/>
                                      </p:to>
                                    </p:set>
                                    <p:animEffect transition="in" filter="dissolve">
                                      <p:cBhvr>
                                        <p:cTn id="52" dur="500"/>
                                        <p:tgtEl>
                                          <p:spTgt spid="67178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dissolve">
                                      <p:cBhvr>
                                        <p:cTn id="57" dur="500"/>
                                        <p:tgtEl>
                                          <p:spTgt spid="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71778"/>
                                        </p:tgtEl>
                                        <p:attrNameLst>
                                          <p:attrName>style.visibility</p:attrName>
                                        </p:attrNameLst>
                                      </p:cBhvr>
                                      <p:to>
                                        <p:strVal val="visible"/>
                                      </p:to>
                                    </p:set>
                                    <p:animEffect transition="in" filter="dissolve">
                                      <p:cBhvr>
                                        <p:cTn id="62" dur="500"/>
                                        <p:tgtEl>
                                          <p:spTgt spid="67177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671775"/>
                                        </p:tgtEl>
                                        <p:attrNameLst>
                                          <p:attrName>style.visibility</p:attrName>
                                        </p:attrNameLst>
                                      </p:cBhvr>
                                      <p:to>
                                        <p:strVal val="visible"/>
                                      </p:to>
                                    </p:set>
                                    <p:animEffect transition="in" filter="dissolve">
                                      <p:cBhvr>
                                        <p:cTn id="67" dur="500"/>
                                        <p:tgtEl>
                                          <p:spTgt spid="67177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9" presetClass="entr" presetSubtype="0"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dissolve">
                                      <p:cBhvr>
                                        <p:cTn id="72" dur="500"/>
                                        <p:tgtEl>
                                          <p:spTgt spid="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671777"/>
                                        </p:tgtEl>
                                        <p:attrNameLst>
                                          <p:attrName>style.visibility</p:attrName>
                                        </p:attrNameLst>
                                      </p:cBhvr>
                                      <p:to>
                                        <p:strVal val="visible"/>
                                      </p:to>
                                    </p:set>
                                    <p:animEffect transition="in" filter="dissolve">
                                      <p:cBhvr>
                                        <p:cTn id="77" dur="500"/>
                                        <p:tgtEl>
                                          <p:spTgt spid="67177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671776"/>
                                        </p:tgtEl>
                                        <p:attrNameLst>
                                          <p:attrName>style.visibility</p:attrName>
                                        </p:attrNameLst>
                                      </p:cBhvr>
                                      <p:to>
                                        <p:strVal val="visible"/>
                                      </p:to>
                                    </p:set>
                                    <p:animEffect transition="in" filter="dissolve">
                                      <p:cBhvr>
                                        <p:cTn id="82" dur="500"/>
                                        <p:tgtEl>
                                          <p:spTgt spid="67177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9" presetClass="entr" presetSubtype="0" fill="hold" nodeType="clickEffect">
                                  <p:stCondLst>
                                    <p:cond delay="0"/>
                                  </p:stCondLst>
                                  <p:childTnLst>
                                    <p:set>
                                      <p:cBhvr>
                                        <p:cTn id="86" dur="1" fill="hold">
                                          <p:stCondLst>
                                            <p:cond delay="0"/>
                                          </p:stCondLst>
                                        </p:cTn>
                                        <p:tgtEl>
                                          <p:spTgt spid="6"/>
                                        </p:tgtEl>
                                        <p:attrNameLst>
                                          <p:attrName>style.visibility</p:attrName>
                                        </p:attrNameLst>
                                      </p:cBhvr>
                                      <p:to>
                                        <p:strVal val="visible"/>
                                      </p:to>
                                    </p:set>
                                    <p:animEffect transition="in" filter="dissolve">
                                      <p:cBhvr>
                                        <p:cTn id="87" dur="500"/>
                                        <p:tgtEl>
                                          <p:spTgt spid="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671784"/>
                                        </p:tgtEl>
                                        <p:attrNameLst>
                                          <p:attrName>style.visibility</p:attrName>
                                        </p:attrNameLst>
                                      </p:cBhvr>
                                      <p:to>
                                        <p:strVal val="visible"/>
                                      </p:to>
                                    </p:set>
                                    <p:animEffect transition="in" filter="dissolve">
                                      <p:cBhvr>
                                        <p:cTn id="92" dur="500"/>
                                        <p:tgtEl>
                                          <p:spTgt spid="67178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7"/>
                                        </p:tgtEl>
                                        <p:attrNameLst>
                                          <p:attrName>style.visibility</p:attrName>
                                        </p:attrNameLst>
                                      </p:cBhvr>
                                      <p:to>
                                        <p:strVal val="visible"/>
                                      </p:to>
                                    </p:set>
                                    <p:animEffect transition="in" filter="dissolve">
                                      <p:cBhvr>
                                        <p:cTn id="97" dur="500"/>
                                        <p:tgtEl>
                                          <p:spTgt spid="7"/>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671771"/>
                                        </p:tgtEl>
                                        <p:attrNameLst>
                                          <p:attrName>style.visibility</p:attrName>
                                        </p:attrNameLst>
                                      </p:cBhvr>
                                      <p:to>
                                        <p:strVal val="visible"/>
                                      </p:to>
                                    </p:set>
                                    <p:animEffect transition="in" filter="dissolve">
                                      <p:cBhvr>
                                        <p:cTn id="102" dur="500"/>
                                        <p:tgtEl>
                                          <p:spTgt spid="67177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671785"/>
                                        </p:tgtEl>
                                        <p:attrNameLst>
                                          <p:attrName>style.visibility</p:attrName>
                                        </p:attrNameLst>
                                      </p:cBhvr>
                                      <p:to>
                                        <p:strVal val="visible"/>
                                      </p:to>
                                    </p:set>
                                    <p:animEffect transition="in" filter="dissolve">
                                      <p:cBhvr>
                                        <p:cTn id="107" dur="500"/>
                                        <p:tgtEl>
                                          <p:spTgt spid="67178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9" presetClass="entr" presetSubtype="0" fill="hold"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dissolve">
                                      <p:cBhvr>
                                        <p:cTn id="112" dur="500"/>
                                        <p:tgtEl>
                                          <p:spTgt spid="8"/>
                                        </p:tgtEl>
                                      </p:cBhvr>
                                    </p:animEffect>
                                  </p:childTnLst>
                                </p:cTn>
                              </p:par>
                            </p:childTnLst>
                          </p:cTn>
                        </p:par>
                        <p:par>
                          <p:cTn id="113" fill="hold" nodeType="afterGroup">
                            <p:stCondLst>
                              <p:cond delay="500"/>
                            </p:stCondLst>
                            <p:childTnLst>
                              <p:par>
                                <p:cTn id="114" presetID="2" presetClass="entr" presetSubtype="6" fill="hold" grpId="0" nodeType="afterEffect">
                                  <p:stCondLst>
                                    <p:cond delay="0"/>
                                  </p:stCondLst>
                                  <p:childTnLst>
                                    <p:set>
                                      <p:cBhvr>
                                        <p:cTn id="115" dur="1" fill="hold">
                                          <p:stCondLst>
                                            <p:cond delay="0"/>
                                          </p:stCondLst>
                                        </p:cTn>
                                        <p:tgtEl>
                                          <p:spTgt spid="671812"/>
                                        </p:tgtEl>
                                        <p:attrNameLst>
                                          <p:attrName>style.visibility</p:attrName>
                                        </p:attrNameLst>
                                      </p:cBhvr>
                                      <p:to>
                                        <p:strVal val="visible"/>
                                      </p:to>
                                    </p:set>
                                    <p:anim calcmode="lin" valueType="num">
                                      <p:cBhvr additive="base">
                                        <p:cTn id="116" dur="500" fill="hold"/>
                                        <p:tgtEl>
                                          <p:spTgt spid="671812"/>
                                        </p:tgtEl>
                                        <p:attrNameLst>
                                          <p:attrName>ppt_x</p:attrName>
                                        </p:attrNameLst>
                                      </p:cBhvr>
                                      <p:tavLst>
                                        <p:tav tm="0">
                                          <p:val>
                                            <p:strVal val="1+#ppt_w/2"/>
                                          </p:val>
                                        </p:tav>
                                        <p:tav tm="100000">
                                          <p:val>
                                            <p:strVal val="#ppt_x"/>
                                          </p:val>
                                        </p:tav>
                                      </p:tavLst>
                                    </p:anim>
                                    <p:anim calcmode="lin" valueType="num">
                                      <p:cBhvr additive="base">
                                        <p:cTn id="117" dur="500" fill="hold"/>
                                        <p:tgtEl>
                                          <p:spTgt spid="6718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72" grpId="0" animBg="1"/>
      <p:bldP spid="671771" grpId="0" animBg="1"/>
      <p:bldP spid="671773" grpId="0" animBg="1"/>
      <p:bldP spid="671775" grpId="0" animBg="1"/>
      <p:bldP spid="671776" grpId="0" animBg="1"/>
      <p:bldP spid="671777" grpId="0" animBg="1"/>
      <p:bldP spid="671778" grpId="0" animBg="1"/>
      <p:bldP spid="671781" grpId="0" animBg="1"/>
      <p:bldP spid="671782" grpId="0" animBg="1"/>
      <p:bldP spid="671784" grpId="0" animBg="1"/>
      <p:bldP spid="671785" grpId="0" animBg="1"/>
      <p:bldP spid="671802" grpId="0" animBg="1"/>
      <p:bldP spid="671788" grpId="0" animBg="1"/>
      <p:bldP spid="671780" grpId="0" animBg="1"/>
      <p:bldP spid="6718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2"/>
          <p:cNvSpPr txBox="1">
            <a:spLocks noChangeArrowheads="1"/>
          </p:cNvSpPr>
          <p:nvPr/>
        </p:nvSpPr>
        <p:spPr bwMode="auto">
          <a:xfrm>
            <a:off x="3059113" y="404813"/>
            <a:ext cx="44656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3600">
                <a:solidFill>
                  <a:srgbClr val="FFFF00"/>
                </a:solidFill>
                <a:latin typeface="Arial" panose="020B0604020202020204" pitchFamily="34" charset="0"/>
              </a:rPr>
              <a:t>电梯调度算法</a:t>
            </a:r>
            <a:r>
              <a:rPr lang="en-US" altLang="zh-CN" sz="2800">
                <a:solidFill>
                  <a:srgbClr val="FFFF00"/>
                </a:solidFill>
              </a:rPr>
              <a:t>(SCAN)</a:t>
            </a:r>
          </a:p>
        </p:txBody>
      </p:sp>
      <p:sp>
        <p:nvSpPr>
          <p:cNvPr id="67588" name="Text Box 3"/>
          <p:cNvSpPr txBox="1">
            <a:spLocks noChangeArrowheads="1"/>
          </p:cNvSpPr>
          <p:nvPr/>
        </p:nvSpPr>
        <p:spPr bwMode="auto">
          <a:xfrm>
            <a:off x="323850" y="1052513"/>
            <a:ext cx="88201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a:solidFill>
                  <a:srgbClr val="FFFF00"/>
                </a:solidFill>
                <a:latin typeface="楷体_GB2312" pitchFamily="49" charset="-122"/>
                <a:ea typeface="楷体_GB2312" pitchFamily="49" charset="-122"/>
              </a:rPr>
              <a:t>沿着移动臂的移动方向选择距离磁头当前位置最近的</a:t>
            </a:r>
            <a:r>
              <a:rPr kumimoji="0" lang="zh-CN" altLang="en-US" sz="2800">
                <a:solidFill>
                  <a:srgbClr val="FFFFFF"/>
                </a:solidFill>
                <a:latin typeface="楷体_GB2312" pitchFamily="49" charset="-122"/>
                <a:ea typeface="楷体_GB2312" pitchFamily="49" charset="-122"/>
              </a:rPr>
              <a:t>请求作为下一次调度的对象。</a:t>
            </a:r>
          </a:p>
          <a:p>
            <a:pPr eaLnBrk="1" hangingPunct="1">
              <a:spcBef>
                <a:spcPct val="0"/>
              </a:spcBef>
              <a:buClrTx/>
              <a:buSzTx/>
              <a:buFontTx/>
              <a:buNone/>
            </a:pPr>
            <a:r>
              <a:rPr kumimoji="0" lang="zh-CN" altLang="en-US" sz="2800">
                <a:solidFill>
                  <a:srgbClr val="FFFFFF"/>
                </a:solidFill>
                <a:latin typeface="楷体_GB2312" pitchFamily="49" charset="-122"/>
                <a:ea typeface="楷体_GB2312" pitchFamily="49" charset="-122"/>
              </a:rPr>
              <a:t>如果该方向上已无</a:t>
            </a:r>
            <a:r>
              <a:rPr kumimoji="0" lang="en-US" altLang="zh-CN" sz="2800">
                <a:solidFill>
                  <a:srgbClr val="FFFFFF"/>
                </a:solidFill>
                <a:latin typeface="楷体_GB2312" pitchFamily="49" charset="-122"/>
                <a:ea typeface="楷体_GB2312" pitchFamily="49" charset="-122"/>
              </a:rPr>
              <a:t>I/O</a:t>
            </a:r>
            <a:r>
              <a:rPr kumimoji="0" lang="zh-CN" altLang="en-US" sz="2800">
                <a:solidFill>
                  <a:srgbClr val="FFFFFF"/>
                </a:solidFill>
                <a:latin typeface="楷体_GB2312" pitchFamily="49" charset="-122"/>
                <a:ea typeface="楷体_GB2312" pitchFamily="49" charset="-122"/>
              </a:rPr>
              <a:t>请求，则改变方向再做选择。</a:t>
            </a:r>
          </a:p>
        </p:txBody>
      </p:sp>
      <p:sp>
        <p:nvSpPr>
          <p:cNvPr id="67589" name="Text Box 4"/>
          <p:cNvSpPr txBox="1">
            <a:spLocks noChangeArrowheads="1"/>
          </p:cNvSpPr>
          <p:nvPr/>
        </p:nvSpPr>
        <p:spPr bwMode="auto">
          <a:xfrm>
            <a:off x="2916238" y="43894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53</a:t>
            </a:r>
          </a:p>
        </p:txBody>
      </p:sp>
      <p:sp>
        <p:nvSpPr>
          <p:cNvPr id="67590" name="Line 5"/>
          <p:cNvSpPr>
            <a:spLocks noChangeShapeType="1"/>
          </p:cNvSpPr>
          <p:nvPr/>
        </p:nvSpPr>
        <p:spPr bwMode="auto">
          <a:xfrm>
            <a:off x="1619250" y="4724400"/>
            <a:ext cx="67691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1" name="Line 6"/>
          <p:cNvSpPr>
            <a:spLocks noChangeShapeType="1"/>
          </p:cNvSpPr>
          <p:nvPr/>
        </p:nvSpPr>
        <p:spPr bwMode="auto">
          <a:xfrm>
            <a:off x="1619250" y="4652963"/>
            <a:ext cx="0" cy="1444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2" name="Line 7"/>
          <p:cNvSpPr>
            <a:spLocks noChangeShapeType="1"/>
          </p:cNvSpPr>
          <p:nvPr/>
        </p:nvSpPr>
        <p:spPr bwMode="auto">
          <a:xfrm>
            <a:off x="2052638"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3" name="Line 8"/>
          <p:cNvSpPr>
            <a:spLocks noChangeShapeType="1"/>
          </p:cNvSpPr>
          <p:nvPr/>
        </p:nvSpPr>
        <p:spPr bwMode="auto">
          <a:xfrm>
            <a:off x="2555875"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4" name="Line 9"/>
          <p:cNvSpPr>
            <a:spLocks noChangeShapeType="1"/>
          </p:cNvSpPr>
          <p:nvPr/>
        </p:nvSpPr>
        <p:spPr bwMode="auto">
          <a:xfrm>
            <a:off x="3492500"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5" name="Line 10"/>
          <p:cNvSpPr>
            <a:spLocks noChangeShapeType="1"/>
          </p:cNvSpPr>
          <p:nvPr/>
        </p:nvSpPr>
        <p:spPr bwMode="auto">
          <a:xfrm>
            <a:off x="3922713" y="4654550"/>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6" name="Line 11"/>
          <p:cNvSpPr>
            <a:spLocks noChangeShapeType="1"/>
          </p:cNvSpPr>
          <p:nvPr/>
        </p:nvSpPr>
        <p:spPr bwMode="auto">
          <a:xfrm>
            <a:off x="8172450"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7" name="Line 12"/>
          <p:cNvSpPr>
            <a:spLocks noChangeShapeType="1"/>
          </p:cNvSpPr>
          <p:nvPr/>
        </p:nvSpPr>
        <p:spPr bwMode="auto">
          <a:xfrm>
            <a:off x="6226175" y="4654550"/>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8" name="Line 13"/>
          <p:cNvSpPr>
            <a:spLocks noChangeShapeType="1"/>
          </p:cNvSpPr>
          <p:nvPr/>
        </p:nvSpPr>
        <p:spPr bwMode="auto">
          <a:xfrm>
            <a:off x="5651500"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9" name="Line 14"/>
          <p:cNvSpPr>
            <a:spLocks noChangeShapeType="1"/>
          </p:cNvSpPr>
          <p:nvPr/>
        </p:nvSpPr>
        <p:spPr bwMode="auto">
          <a:xfrm>
            <a:off x="4572000" y="46529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0" name="Text Box 15"/>
          <p:cNvSpPr txBox="1">
            <a:spLocks noChangeArrowheads="1"/>
          </p:cNvSpPr>
          <p:nvPr/>
        </p:nvSpPr>
        <p:spPr bwMode="auto">
          <a:xfrm>
            <a:off x="1476375" y="4389438"/>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0</a:t>
            </a:r>
          </a:p>
        </p:txBody>
      </p:sp>
      <p:sp>
        <p:nvSpPr>
          <p:cNvPr id="67601" name="Text Box 16"/>
          <p:cNvSpPr txBox="1">
            <a:spLocks noChangeArrowheads="1"/>
          </p:cNvSpPr>
          <p:nvPr/>
        </p:nvSpPr>
        <p:spPr bwMode="auto">
          <a:xfrm>
            <a:off x="1905000" y="43926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14</a:t>
            </a:r>
          </a:p>
        </p:txBody>
      </p:sp>
      <p:sp>
        <p:nvSpPr>
          <p:cNvPr id="67602" name="Text Box 17"/>
          <p:cNvSpPr txBox="1">
            <a:spLocks noChangeArrowheads="1"/>
          </p:cNvSpPr>
          <p:nvPr/>
        </p:nvSpPr>
        <p:spPr bwMode="auto">
          <a:xfrm>
            <a:off x="2411413" y="43894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37</a:t>
            </a:r>
          </a:p>
        </p:txBody>
      </p:sp>
      <p:sp>
        <p:nvSpPr>
          <p:cNvPr id="67603" name="Text Box 18"/>
          <p:cNvSpPr txBox="1">
            <a:spLocks noChangeArrowheads="1"/>
          </p:cNvSpPr>
          <p:nvPr/>
        </p:nvSpPr>
        <p:spPr bwMode="auto">
          <a:xfrm>
            <a:off x="3348038" y="43894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65</a:t>
            </a:r>
          </a:p>
        </p:txBody>
      </p:sp>
      <p:sp>
        <p:nvSpPr>
          <p:cNvPr id="67604" name="Text Box 19"/>
          <p:cNvSpPr txBox="1">
            <a:spLocks noChangeArrowheads="1"/>
          </p:cNvSpPr>
          <p:nvPr/>
        </p:nvSpPr>
        <p:spPr bwMode="auto">
          <a:xfrm>
            <a:off x="3778250" y="4391025"/>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67</a:t>
            </a:r>
          </a:p>
        </p:txBody>
      </p:sp>
      <p:sp>
        <p:nvSpPr>
          <p:cNvPr id="67605" name="Text Box 20"/>
          <p:cNvSpPr txBox="1">
            <a:spLocks noChangeArrowheads="1"/>
          </p:cNvSpPr>
          <p:nvPr/>
        </p:nvSpPr>
        <p:spPr bwMode="auto">
          <a:xfrm>
            <a:off x="4427538" y="4389438"/>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98</a:t>
            </a:r>
          </a:p>
        </p:txBody>
      </p:sp>
      <p:sp>
        <p:nvSpPr>
          <p:cNvPr id="67606" name="Text Box 21"/>
          <p:cNvSpPr txBox="1">
            <a:spLocks noChangeArrowheads="1"/>
          </p:cNvSpPr>
          <p:nvPr/>
        </p:nvSpPr>
        <p:spPr bwMode="auto">
          <a:xfrm>
            <a:off x="5435600" y="4389438"/>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122</a:t>
            </a:r>
          </a:p>
        </p:txBody>
      </p:sp>
      <p:sp>
        <p:nvSpPr>
          <p:cNvPr id="67607" name="Text Box 22"/>
          <p:cNvSpPr txBox="1">
            <a:spLocks noChangeArrowheads="1"/>
          </p:cNvSpPr>
          <p:nvPr/>
        </p:nvSpPr>
        <p:spPr bwMode="auto">
          <a:xfrm>
            <a:off x="6010275" y="4391025"/>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124</a:t>
            </a:r>
          </a:p>
        </p:txBody>
      </p:sp>
      <p:sp>
        <p:nvSpPr>
          <p:cNvPr id="67608" name="Text Box 23"/>
          <p:cNvSpPr txBox="1">
            <a:spLocks noChangeArrowheads="1"/>
          </p:cNvSpPr>
          <p:nvPr/>
        </p:nvSpPr>
        <p:spPr bwMode="auto">
          <a:xfrm>
            <a:off x="7956550" y="4389438"/>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183</a:t>
            </a:r>
          </a:p>
        </p:txBody>
      </p:sp>
      <p:sp>
        <p:nvSpPr>
          <p:cNvPr id="67609" name="Text Box 24"/>
          <p:cNvSpPr txBox="1">
            <a:spLocks noChangeArrowheads="1"/>
          </p:cNvSpPr>
          <p:nvPr/>
        </p:nvSpPr>
        <p:spPr bwMode="auto">
          <a:xfrm>
            <a:off x="468313" y="4384675"/>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000"/>
              <a:t>磁道号：</a:t>
            </a:r>
          </a:p>
        </p:txBody>
      </p:sp>
      <p:sp>
        <p:nvSpPr>
          <p:cNvPr id="67610" name="Line 25"/>
          <p:cNvSpPr>
            <a:spLocks noChangeShapeType="1"/>
          </p:cNvSpPr>
          <p:nvPr/>
        </p:nvSpPr>
        <p:spPr bwMode="auto">
          <a:xfrm>
            <a:off x="3132138" y="4652963"/>
            <a:ext cx="0" cy="1444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2794" name="Text Box 26"/>
          <p:cNvSpPr txBox="1">
            <a:spLocks noChangeArrowheads="1"/>
          </p:cNvSpPr>
          <p:nvPr/>
        </p:nvSpPr>
        <p:spPr bwMode="auto">
          <a:xfrm>
            <a:off x="250825" y="2492375"/>
            <a:ext cx="8893175" cy="1200150"/>
          </a:xfrm>
          <a:prstGeom prst="rect">
            <a:avLst/>
          </a:prstGeom>
          <a:solidFill>
            <a:srgbClr val="F8F8F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solidFill>
                  <a:schemeClr val="bg2"/>
                </a:solidFill>
                <a:latin typeface="Arial" panose="020B0604020202020204" pitchFamily="34" charset="0"/>
              </a:rPr>
              <a:t>总共划过的磁道数</a:t>
            </a:r>
          </a:p>
          <a:p>
            <a:pPr eaLnBrk="1" hangingPunct="1">
              <a:spcBef>
                <a:spcPct val="0"/>
              </a:spcBef>
              <a:buClrTx/>
              <a:buSzTx/>
              <a:buFontTx/>
              <a:buNone/>
            </a:pPr>
            <a:r>
              <a:rPr kumimoji="0" lang="en-US" altLang="zh-CN" sz="2400">
                <a:solidFill>
                  <a:srgbClr val="000000"/>
                </a:solidFill>
              </a:rPr>
              <a:t>=(53-37)+(37-14)+(65-14)+(67-65)+(98-67)+(122-98)+(124-122)</a:t>
            </a:r>
          </a:p>
          <a:p>
            <a:pPr eaLnBrk="1" hangingPunct="1">
              <a:spcBef>
                <a:spcPct val="0"/>
              </a:spcBef>
              <a:buClrTx/>
              <a:buSzTx/>
              <a:buFontTx/>
              <a:buNone/>
            </a:pPr>
            <a:r>
              <a:rPr kumimoji="0" lang="en-US" altLang="zh-CN" sz="2400">
                <a:solidFill>
                  <a:srgbClr val="000000"/>
                </a:solidFill>
              </a:rPr>
              <a:t>+(183-124)   =16+23+51+2+31+24+2+59= </a:t>
            </a:r>
            <a:r>
              <a:rPr kumimoji="0" lang="en-US" altLang="zh-CN" sz="2400">
                <a:solidFill>
                  <a:srgbClr val="FF0000"/>
                </a:solidFill>
              </a:rPr>
              <a:t>208</a:t>
            </a:r>
          </a:p>
        </p:txBody>
      </p:sp>
      <p:sp>
        <p:nvSpPr>
          <p:cNvPr id="67612" name="Text Box 27"/>
          <p:cNvSpPr txBox="1">
            <a:spLocks noChangeArrowheads="1"/>
          </p:cNvSpPr>
          <p:nvPr/>
        </p:nvSpPr>
        <p:spPr bwMode="auto">
          <a:xfrm>
            <a:off x="847725" y="15509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en-US" altLang="zh-CN" sz="2800">
                <a:latin typeface="Arial" panose="020B0604020202020204" pitchFamily="34" charset="0"/>
              </a:rPr>
              <a:t>.</a:t>
            </a:r>
          </a:p>
        </p:txBody>
      </p:sp>
      <p:sp>
        <p:nvSpPr>
          <p:cNvPr id="672797" name="Line 29"/>
          <p:cNvSpPr>
            <a:spLocks noChangeShapeType="1"/>
          </p:cNvSpPr>
          <p:nvPr/>
        </p:nvSpPr>
        <p:spPr bwMode="auto">
          <a:xfrm flipH="1">
            <a:off x="2554288" y="4870450"/>
            <a:ext cx="574675" cy="73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4" name="Line 30"/>
          <p:cNvSpPr>
            <a:spLocks noChangeShapeType="1"/>
          </p:cNvSpPr>
          <p:nvPr/>
        </p:nvSpPr>
        <p:spPr bwMode="auto">
          <a:xfrm>
            <a:off x="2554288" y="4727575"/>
            <a:ext cx="0" cy="2159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2799" name="Line 31"/>
          <p:cNvSpPr>
            <a:spLocks noChangeShapeType="1"/>
          </p:cNvSpPr>
          <p:nvPr/>
        </p:nvSpPr>
        <p:spPr bwMode="auto">
          <a:xfrm flipH="1">
            <a:off x="2049463" y="4943475"/>
            <a:ext cx="504825" cy="1428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6" name="Line 32"/>
          <p:cNvSpPr>
            <a:spLocks noChangeShapeType="1"/>
          </p:cNvSpPr>
          <p:nvPr/>
        </p:nvSpPr>
        <p:spPr bwMode="auto">
          <a:xfrm>
            <a:off x="2049463" y="4727575"/>
            <a:ext cx="0" cy="35877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2801" name="Line 33"/>
          <p:cNvSpPr>
            <a:spLocks noChangeShapeType="1"/>
          </p:cNvSpPr>
          <p:nvPr/>
        </p:nvSpPr>
        <p:spPr bwMode="auto">
          <a:xfrm>
            <a:off x="2049463" y="5086350"/>
            <a:ext cx="1439862"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8" name="Line 34"/>
          <p:cNvSpPr>
            <a:spLocks noChangeShapeType="1"/>
          </p:cNvSpPr>
          <p:nvPr/>
        </p:nvSpPr>
        <p:spPr bwMode="auto">
          <a:xfrm>
            <a:off x="3489325" y="4727575"/>
            <a:ext cx="0" cy="50323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9" name="Line 36"/>
          <p:cNvSpPr>
            <a:spLocks noChangeShapeType="1"/>
          </p:cNvSpPr>
          <p:nvPr/>
        </p:nvSpPr>
        <p:spPr bwMode="auto">
          <a:xfrm>
            <a:off x="3921125" y="4727575"/>
            <a:ext cx="0" cy="71913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0" name="Line 38"/>
          <p:cNvSpPr>
            <a:spLocks noChangeShapeType="1"/>
          </p:cNvSpPr>
          <p:nvPr/>
        </p:nvSpPr>
        <p:spPr bwMode="auto">
          <a:xfrm>
            <a:off x="4570413" y="4727575"/>
            <a:ext cx="0" cy="8636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1" name="Line 40"/>
          <p:cNvSpPr>
            <a:spLocks noChangeShapeType="1"/>
          </p:cNvSpPr>
          <p:nvPr/>
        </p:nvSpPr>
        <p:spPr bwMode="auto">
          <a:xfrm>
            <a:off x="5649913" y="4727575"/>
            <a:ext cx="0" cy="10795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2" name="Line 42"/>
          <p:cNvSpPr>
            <a:spLocks noChangeShapeType="1"/>
          </p:cNvSpPr>
          <p:nvPr/>
        </p:nvSpPr>
        <p:spPr bwMode="auto">
          <a:xfrm>
            <a:off x="6226175" y="4727575"/>
            <a:ext cx="0" cy="12239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3" name="Line 44"/>
          <p:cNvSpPr>
            <a:spLocks noChangeShapeType="1"/>
          </p:cNvSpPr>
          <p:nvPr/>
        </p:nvSpPr>
        <p:spPr bwMode="auto">
          <a:xfrm>
            <a:off x="8170863" y="4727575"/>
            <a:ext cx="0" cy="15843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4" name="Line 45"/>
          <p:cNvSpPr>
            <a:spLocks noChangeShapeType="1"/>
          </p:cNvSpPr>
          <p:nvPr/>
        </p:nvSpPr>
        <p:spPr bwMode="auto">
          <a:xfrm>
            <a:off x="3128963" y="4727575"/>
            <a:ext cx="0" cy="14287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7"/>
          <p:cNvGrpSpPr>
            <a:grpSpLocks/>
          </p:cNvGrpSpPr>
          <p:nvPr/>
        </p:nvGrpSpPr>
        <p:grpSpPr bwMode="auto">
          <a:xfrm>
            <a:off x="2697163" y="4679950"/>
            <a:ext cx="287337" cy="336550"/>
            <a:chOff x="1699" y="2948"/>
            <a:chExt cx="181" cy="212"/>
          </a:xfrm>
        </p:grpSpPr>
        <p:sp>
          <p:nvSpPr>
            <p:cNvPr id="67658" name="Oval 46"/>
            <p:cNvSpPr>
              <a:spLocks noChangeArrowheads="1"/>
            </p:cNvSpPr>
            <p:nvPr/>
          </p:nvSpPr>
          <p:spPr bwMode="auto">
            <a:xfrm>
              <a:off x="1699" y="2978"/>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59" name="Text Box 47"/>
            <p:cNvSpPr txBox="1">
              <a:spLocks noChangeArrowheads="1"/>
            </p:cNvSpPr>
            <p:nvPr/>
          </p:nvSpPr>
          <p:spPr bwMode="auto">
            <a:xfrm>
              <a:off x="1699" y="2948"/>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1</a:t>
              </a:r>
            </a:p>
          </p:txBody>
        </p:sp>
      </p:grpSp>
      <p:grpSp>
        <p:nvGrpSpPr>
          <p:cNvPr id="3" name="Group 68"/>
          <p:cNvGrpSpPr>
            <a:grpSpLocks/>
          </p:cNvGrpSpPr>
          <p:nvPr/>
        </p:nvGrpSpPr>
        <p:grpSpPr bwMode="auto">
          <a:xfrm>
            <a:off x="2195513" y="4797425"/>
            <a:ext cx="287337" cy="336550"/>
            <a:chOff x="1338" y="3521"/>
            <a:chExt cx="181" cy="212"/>
          </a:xfrm>
        </p:grpSpPr>
        <p:sp>
          <p:nvSpPr>
            <p:cNvPr id="67656" name="Oval 48"/>
            <p:cNvSpPr>
              <a:spLocks noChangeArrowheads="1"/>
            </p:cNvSpPr>
            <p:nvPr/>
          </p:nvSpPr>
          <p:spPr bwMode="auto">
            <a:xfrm>
              <a:off x="1338" y="3521"/>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57" name="Text Box 49"/>
            <p:cNvSpPr txBox="1">
              <a:spLocks noChangeArrowheads="1"/>
            </p:cNvSpPr>
            <p:nvPr/>
          </p:nvSpPr>
          <p:spPr bwMode="auto">
            <a:xfrm>
              <a:off x="1338" y="3521"/>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2</a:t>
              </a:r>
            </a:p>
          </p:txBody>
        </p:sp>
      </p:grpSp>
      <p:grpSp>
        <p:nvGrpSpPr>
          <p:cNvPr id="4" name="Group 69"/>
          <p:cNvGrpSpPr>
            <a:grpSpLocks/>
          </p:cNvGrpSpPr>
          <p:nvPr/>
        </p:nvGrpSpPr>
        <p:grpSpPr bwMode="auto">
          <a:xfrm>
            <a:off x="2700338" y="5013325"/>
            <a:ext cx="287337" cy="336550"/>
            <a:chOff x="1791" y="3748"/>
            <a:chExt cx="181" cy="212"/>
          </a:xfrm>
        </p:grpSpPr>
        <p:sp>
          <p:nvSpPr>
            <p:cNvPr id="67654" name="Oval 50"/>
            <p:cNvSpPr>
              <a:spLocks noChangeArrowheads="1"/>
            </p:cNvSpPr>
            <p:nvPr/>
          </p:nvSpPr>
          <p:spPr bwMode="auto">
            <a:xfrm>
              <a:off x="1791" y="3748"/>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55" name="Text Box 51"/>
            <p:cNvSpPr txBox="1">
              <a:spLocks noChangeArrowheads="1"/>
            </p:cNvSpPr>
            <p:nvPr/>
          </p:nvSpPr>
          <p:spPr bwMode="auto">
            <a:xfrm>
              <a:off x="1791" y="3748"/>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3</a:t>
              </a:r>
            </a:p>
          </p:txBody>
        </p:sp>
      </p:grpSp>
      <p:grpSp>
        <p:nvGrpSpPr>
          <p:cNvPr id="5" name="Group 70"/>
          <p:cNvGrpSpPr>
            <a:grpSpLocks/>
          </p:cNvGrpSpPr>
          <p:nvPr/>
        </p:nvGrpSpPr>
        <p:grpSpPr bwMode="auto">
          <a:xfrm>
            <a:off x="3489325" y="5110163"/>
            <a:ext cx="431800" cy="338137"/>
            <a:chOff x="2198" y="3219"/>
            <a:chExt cx="272" cy="213"/>
          </a:xfrm>
        </p:grpSpPr>
        <p:sp>
          <p:nvSpPr>
            <p:cNvPr id="67651" name="Line 35"/>
            <p:cNvSpPr>
              <a:spLocks noChangeShapeType="1"/>
            </p:cNvSpPr>
            <p:nvPr/>
          </p:nvSpPr>
          <p:spPr bwMode="auto">
            <a:xfrm>
              <a:off x="2198" y="3295"/>
              <a:ext cx="272"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2" name="Oval 52"/>
            <p:cNvSpPr>
              <a:spLocks noChangeArrowheads="1"/>
            </p:cNvSpPr>
            <p:nvPr/>
          </p:nvSpPr>
          <p:spPr bwMode="auto">
            <a:xfrm>
              <a:off x="2244" y="3250"/>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53" name="Text Box 53"/>
            <p:cNvSpPr txBox="1">
              <a:spLocks noChangeArrowheads="1"/>
            </p:cNvSpPr>
            <p:nvPr/>
          </p:nvSpPr>
          <p:spPr bwMode="auto">
            <a:xfrm>
              <a:off x="2245" y="321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4</a:t>
              </a:r>
            </a:p>
          </p:txBody>
        </p:sp>
      </p:grpSp>
      <p:grpSp>
        <p:nvGrpSpPr>
          <p:cNvPr id="6" name="Group 71"/>
          <p:cNvGrpSpPr>
            <a:grpSpLocks/>
          </p:cNvGrpSpPr>
          <p:nvPr/>
        </p:nvGrpSpPr>
        <p:grpSpPr bwMode="auto">
          <a:xfrm>
            <a:off x="3921125" y="5326063"/>
            <a:ext cx="649288" cy="338137"/>
            <a:chOff x="2470" y="3355"/>
            <a:chExt cx="409" cy="213"/>
          </a:xfrm>
        </p:grpSpPr>
        <p:sp>
          <p:nvSpPr>
            <p:cNvPr id="67648" name="Line 37"/>
            <p:cNvSpPr>
              <a:spLocks noChangeShapeType="1"/>
            </p:cNvSpPr>
            <p:nvPr/>
          </p:nvSpPr>
          <p:spPr bwMode="auto">
            <a:xfrm>
              <a:off x="2470" y="3431"/>
              <a:ext cx="409"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9" name="Oval 54"/>
            <p:cNvSpPr>
              <a:spLocks noChangeArrowheads="1"/>
            </p:cNvSpPr>
            <p:nvPr/>
          </p:nvSpPr>
          <p:spPr bwMode="auto">
            <a:xfrm>
              <a:off x="2561" y="3386"/>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50" name="Text Box 55"/>
            <p:cNvSpPr txBox="1">
              <a:spLocks noChangeArrowheads="1"/>
            </p:cNvSpPr>
            <p:nvPr/>
          </p:nvSpPr>
          <p:spPr bwMode="auto">
            <a:xfrm>
              <a:off x="2562" y="3355"/>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5</a:t>
              </a:r>
            </a:p>
          </p:txBody>
        </p:sp>
      </p:grpSp>
      <p:grpSp>
        <p:nvGrpSpPr>
          <p:cNvPr id="7" name="Group 72"/>
          <p:cNvGrpSpPr>
            <a:grpSpLocks/>
          </p:cNvGrpSpPr>
          <p:nvPr/>
        </p:nvGrpSpPr>
        <p:grpSpPr bwMode="auto">
          <a:xfrm>
            <a:off x="4570413" y="5541963"/>
            <a:ext cx="1079500" cy="338137"/>
            <a:chOff x="2879" y="3491"/>
            <a:chExt cx="680" cy="213"/>
          </a:xfrm>
        </p:grpSpPr>
        <p:sp>
          <p:nvSpPr>
            <p:cNvPr id="67645" name="Line 39"/>
            <p:cNvSpPr>
              <a:spLocks noChangeShapeType="1"/>
            </p:cNvSpPr>
            <p:nvPr/>
          </p:nvSpPr>
          <p:spPr bwMode="auto">
            <a:xfrm>
              <a:off x="2879" y="3522"/>
              <a:ext cx="680"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6" name="Oval 56"/>
            <p:cNvSpPr>
              <a:spLocks noChangeArrowheads="1"/>
            </p:cNvSpPr>
            <p:nvPr/>
          </p:nvSpPr>
          <p:spPr bwMode="auto">
            <a:xfrm>
              <a:off x="3105" y="3522"/>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47" name="Text Box 57"/>
            <p:cNvSpPr txBox="1">
              <a:spLocks noChangeArrowheads="1"/>
            </p:cNvSpPr>
            <p:nvPr/>
          </p:nvSpPr>
          <p:spPr bwMode="auto">
            <a:xfrm>
              <a:off x="3107" y="3491"/>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6</a:t>
              </a:r>
            </a:p>
          </p:txBody>
        </p:sp>
      </p:grpSp>
      <p:grpSp>
        <p:nvGrpSpPr>
          <p:cNvPr id="8" name="Group 74"/>
          <p:cNvGrpSpPr>
            <a:grpSpLocks/>
          </p:cNvGrpSpPr>
          <p:nvPr/>
        </p:nvGrpSpPr>
        <p:grpSpPr bwMode="auto">
          <a:xfrm>
            <a:off x="6226175" y="5903913"/>
            <a:ext cx="1944688" cy="407987"/>
            <a:chOff x="3922" y="3719"/>
            <a:chExt cx="1225" cy="257"/>
          </a:xfrm>
        </p:grpSpPr>
        <p:sp>
          <p:nvSpPr>
            <p:cNvPr id="67642" name="Line 43"/>
            <p:cNvSpPr>
              <a:spLocks noChangeShapeType="1"/>
            </p:cNvSpPr>
            <p:nvPr/>
          </p:nvSpPr>
          <p:spPr bwMode="auto">
            <a:xfrm>
              <a:off x="3922" y="3749"/>
              <a:ext cx="1225" cy="22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Oval 60"/>
            <p:cNvSpPr>
              <a:spLocks noChangeArrowheads="1"/>
            </p:cNvSpPr>
            <p:nvPr/>
          </p:nvSpPr>
          <p:spPr bwMode="auto">
            <a:xfrm>
              <a:off x="4466" y="3749"/>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44" name="Text Box 61"/>
            <p:cNvSpPr txBox="1">
              <a:spLocks noChangeArrowheads="1"/>
            </p:cNvSpPr>
            <p:nvPr/>
          </p:nvSpPr>
          <p:spPr bwMode="auto">
            <a:xfrm>
              <a:off x="4466" y="371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8</a:t>
              </a:r>
            </a:p>
          </p:txBody>
        </p:sp>
      </p:grpSp>
      <p:sp>
        <p:nvSpPr>
          <p:cNvPr id="67632" name="Line 62"/>
          <p:cNvSpPr>
            <a:spLocks noChangeShapeType="1"/>
          </p:cNvSpPr>
          <p:nvPr/>
        </p:nvSpPr>
        <p:spPr bwMode="auto">
          <a:xfrm>
            <a:off x="3924300" y="4292600"/>
            <a:ext cx="576263" cy="0"/>
          </a:xfrm>
          <a:prstGeom prst="line">
            <a:avLst/>
          </a:prstGeom>
          <a:noFill/>
          <a:ln w="57150">
            <a:solidFill>
              <a:srgbClr val="FFFF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3" name="Text Box 63"/>
          <p:cNvSpPr txBox="1">
            <a:spLocks noChangeArrowheads="1"/>
          </p:cNvSpPr>
          <p:nvPr/>
        </p:nvSpPr>
        <p:spPr bwMode="auto">
          <a:xfrm>
            <a:off x="4572000" y="4005263"/>
            <a:ext cx="3887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latin typeface="Arial" panose="020B0604020202020204" pitchFamily="34" charset="0"/>
              </a:rPr>
              <a:t>初始移动方向</a:t>
            </a:r>
            <a:r>
              <a:rPr kumimoji="0" lang="en-US" altLang="zh-CN" sz="2400">
                <a:latin typeface="Arial" panose="020B0604020202020204" pitchFamily="34" charset="0"/>
              </a:rPr>
              <a:t>: </a:t>
            </a:r>
            <a:r>
              <a:rPr kumimoji="0" lang="zh-CN" altLang="en-US" sz="2400">
                <a:latin typeface="Arial" panose="020B0604020202020204" pitchFamily="34" charset="0"/>
              </a:rPr>
              <a:t>由里往外</a:t>
            </a:r>
          </a:p>
        </p:txBody>
      </p:sp>
      <p:sp>
        <p:nvSpPr>
          <p:cNvPr id="67634" name="Text Box 64"/>
          <p:cNvSpPr txBox="1">
            <a:spLocks noChangeArrowheads="1"/>
          </p:cNvSpPr>
          <p:nvPr/>
        </p:nvSpPr>
        <p:spPr bwMode="auto">
          <a:xfrm>
            <a:off x="1403350" y="0"/>
            <a:ext cx="6624638" cy="519113"/>
          </a:xfrm>
          <a:prstGeom prst="rect">
            <a:avLst/>
          </a:prstGeom>
          <a:solidFill>
            <a:srgbClr val="FFEB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98</a:t>
            </a:r>
            <a:r>
              <a:rPr lang="zh-CN" altLang="en-US" sz="2800">
                <a:solidFill>
                  <a:srgbClr val="000000"/>
                </a:solidFill>
              </a:rPr>
              <a:t>、</a:t>
            </a:r>
            <a:r>
              <a:rPr lang="en-US" altLang="zh-CN" sz="2800">
                <a:solidFill>
                  <a:srgbClr val="000000"/>
                </a:solidFill>
              </a:rPr>
              <a:t>183</a:t>
            </a:r>
            <a:r>
              <a:rPr lang="zh-CN" altLang="en-US" sz="2800">
                <a:solidFill>
                  <a:srgbClr val="000000"/>
                </a:solidFill>
              </a:rPr>
              <a:t>、</a:t>
            </a:r>
            <a:r>
              <a:rPr lang="en-US" altLang="zh-CN" sz="2800">
                <a:solidFill>
                  <a:srgbClr val="000000"/>
                </a:solidFill>
              </a:rPr>
              <a:t>37</a:t>
            </a:r>
            <a:r>
              <a:rPr lang="zh-CN" altLang="en-US" sz="2800">
                <a:solidFill>
                  <a:srgbClr val="000000"/>
                </a:solidFill>
              </a:rPr>
              <a:t>、</a:t>
            </a:r>
            <a:r>
              <a:rPr lang="en-US" altLang="zh-CN" sz="2800">
                <a:solidFill>
                  <a:srgbClr val="000000"/>
                </a:solidFill>
              </a:rPr>
              <a:t>122</a:t>
            </a:r>
            <a:r>
              <a:rPr lang="zh-CN" altLang="en-US" sz="2800">
                <a:solidFill>
                  <a:srgbClr val="000000"/>
                </a:solidFill>
              </a:rPr>
              <a:t>、</a:t>
            </a:r>
            <a:r>
              <a:rPr lang="en-US" altLang="zh-CN" sz="2800">
                <a:solidFill>
                  <a:srgbClr val="000000"/>
                </a:solidFill>
              </a:rPr>
              <a:t>14</a:t>
            </a:r>
            <a:r>
              <a:rPr lang="zh-CN" altLang="en-US" sz="2800">
                <a:solidFill>
                  <a:srgbClr val="000000"/>
                </a:solidFill>
              </a:rPr>
              <a:t>、</a:t>
            </a:r>
            <a:r>
              <a:rPr lang="en-US" altLang="zh-CN" sz="2800">
                <a:solidFill>
                  <a:srgbClr val="000000"/>
                </a:solidFill>
              </a:rPr>
              <a:t>124</a:t>
            </a:r>
            <a:r>
              <a:rPr lang="zh-CN" altLang="en-US" sz="2800">
                <a:solidFill>
                  <a:srgbClr val="000000"/>
                </a:solidFill>
              </a:rPr>
              <a:t>、</a:t>
            </a:r>
            <a:r>
              <a:rPr lang="en-US" altLang="zh-CN" sz="2800">
                <a:solidFill>
                  <a:srgbClr val="000000"/>
                </a:solidFill>
              </a:rPr>
              <a:t>65</a:t>
            </a:r>
            <a:r>
              <a:rPr lang="zh-CN" altLang="en-US" sz="2800">
                <a:solidFill>
                  <a:srgbClr val="000000"/>
                </a:solidFill>
              </a:rPr>
              <a:t>、</a:t>
            </a:r>
            <a:r>
              <a:rPr lang="en-US" altLang="zh-CN" sz="2800">
                <a:solidFill>
                  <a:srgbClr val="000000"/>
                </a:solidFill>
              </a:rPr>
              <a:t>67</a:t>
            </a:r>
            <a:r>
              <a:rPr lang="zh-CN" altLang="en-US" sz="2800">
                <a:solidFill>
                  <a:srgbClr val="000000"/>
                </a:solidFill>
              </a:rPr>
              <a:t>。</a:t>
            </a:r>
          </a:p>
        </p:txBody>
      </p:sp>
      <p:grpSp>
        <p:nvGrpSpPr>
          <p:cNvPr id="9" name="Group 73"/>
          <p:cNvGrpSpPr>
            <a:grpSpLocks/>
          </p:cNvGrpSpPr>
          <p:nvPr/>
        </p:nvGrpSpPr>
        <p:grpSpPr bwMode="auto">
          <a:xfrm>
            <a:off x="5649913" y="5688013"/>
            <a:ext cx="576262" cy="336550"/>
            <a:chOff x="3559" y="3583"/>
            <a:chExt cx="363" cy="212"/>
          </a:xfrm>
        </p:grpSpPr>
        <p:sp>
          <p:nvSpPr>
            <p:cNvPr id="67638" name="Line 65"/>
            <p:cNvSpPr>
              <a:spLocks noChangeShapeType="1"/>
            </p:cNvSpPr>
            <p:nvPr/>
          </p:nvSpPr>
          <p:spPr bwMode="auto">
            <a:xfrm>
              <a:off x="3560" y="3657"/>
              <a:ext cx="361" cy="9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9" name="Line 41"/>
            <p:cNvSpPr>
              <a:spLocks noChangeShapeType="1"/>
            </p:cNvSpPr>
            <p:nvPr/>
          </p:nvSpPr>
          <p:spPr bwMode="auto">
            <a:xfrm>
              <a:off x="3559" y="3658"/>
              <a:ext cx="363" cy="91"/>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7640" name="Oval 58"/>
            <p:cNvSpPr>
              <a:spLocks noChangeArrowheads="1"/>
            </p:cNvSpPr>
            <p:nvPr/>
          </p:nvSpPr>
          <p:spPr bwMode="auto">
            <a:xfrm>
              <a:off x="3651" y="3612"/>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641" name="Text Box 59"/>
            <p:cNvSpPr txBox="1">
              <a:spLocks noChangeArrowheads="1"/>
            </p:cNvSpPr>
            <p:nvPr/>
          </p:nvSpPr>
          <p:spPr bwMode="auto">
            <a:xfrm>
              <a:off x="3650" y="3583"/>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7</a:t>
              </a:r>
            </a:p>
          </p:txBody>
        </p:sp>
      </p:grpSp>
      <p:sp>
        <p:nvSpPr>
          <p:cNvPr id="67636" name="Oval 66"/>
          <p:cNvSpPr>
            <a:spLocks noChangeArrowheads="1"/>
          </p:cNvSpPr>
          <p:nvPr/>
        </p:nvSpPr>
        <p:spPr bwMode="auto">
          <a:xfrm>
            <a:off x="3059113" y="4652963"/>
            <a:ext cx="144462" cy="144462"/>
          </a:xfrm>
          <a:prstGeom prst="ellipse">
            <a:avLst/>
          </a:prstGeom>
          <a:solidFill>
            <a:schemeClr val="hlink"/>
          </a:solidFill>
          <a:ln w="12700" cap="sq">
            <a:solidFill>
              <a:schemeClr val="tx1"/>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2843" name="AutoShape 75">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2797"/>
                                        </p:tgtEl>
                                        <p:attrNameLst>
                                          <p:attrName>style.visibility</p:attrName>
                                        </p:attrNameLst>
                                      </p:cBhvr>
                                      <p:to>
                                        <p:strVal val="visible"/>
                                      </p:to>
                                    </p:set>
                                    <p:animEffect transition="in" filter="fade">
                                      <p:cBhvr>
                                        <p:cTn id="7" dur="2000"/>
                                        <p:tgtEl>
                                          <p:spTgt spid="672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2799"/>
                                        </p:tgtEl>
                                        <p:attrNameLst>
                                          <p:attrName>style.visibility</p:attrName>
                                        </p:attrNameLst>
                                      </p:cBhvr>
                                      <p:to>
                                        <p:strVal val="visible"/>
                                      </p:to>
                                    </p:set>
                                    <p:animEffect transition="in" filter="fade">
                                      <p:cBhvr>
                                        <p:cTn id="17" dur="2000"/>
                                        <p:tgtEl>
                                          <p:spTgt spid="6727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2801"/>
                                        </p:tgtEl>
                                        <p:attrNameLst>
                                          <p:attrName>style.visibility</p:attrName>
                                        </p:attrNameLst>
                                      </p:cBhvr>
                                      <p:to>
                                        <p:strVal val="visible"/>
                                      </p:to>
                                    </p:set>
                                    <p:animEffect transition="in" filter="fade">
                                      <p:cBhvr>
                                        <p:cTn id="27" dur="2000"/>
                                        <p:tgtEl>
                                          <p:spTgt spid="6728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dissolve">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dissolve">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dissolve">
                                      <p:cBhvr>
                                        <p:cTn id="57" dur="500"/>
                                        <p:tgtEl>
                                          <p:spTgt spid="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672794"/>
                                        </p:tgtEl>
                                        <p:attrNameLst>
                                          <p:attrName>style.visibility</p:attrName>
                                        </p:attrNameLst>
                                      </p:cBhvr>
                                      <p:to>
                                        <p:strVal val="visible"/>
                                      </p:to>
                                    </p:set>
                                    <p:animEffect transition="in" filter="box(in)">
                                      <p:cBhvr>
                                        <p:cTn id="62" dur="500"/>
                                        <p:tgtEl>
                                          <p:spTgt spid="672794"/>
                                        </p:tgtEl>
                                      </p:cBhvr>
                                    </p:animEffect>
                                  </p:childTnLst>
                                </p:cTn>
                              </p:par>
                            </p:childTnLst>
                          </p:cTn>
                        </p:par>
                        <p:par>
                          <p:cTn id="63" fill="hold" nodeType="afterGroup">
                            <p:stCondLst>
                              <p:cond delay="500"/>
                            </p:stCondLst>
                            <p:childTnLst>
                              <p:par>
                                <p:cTn id="64" presetID="2" presetClass="entr" presetSubtype="6" fill="hold" grpId="0" nodeType="afterEffect">
                                  <p:stCondLst>
                                    <p:cond delay="0"/>
                                  </p:stCondLst>
                                  <p:childTnLst>
                                    <p:set>
                                      <p:cBhvr>
                                        <p:cTn id="65" dur="1" fill="hold">
                                          <p:stCondLst>
                                            <p:cond delay="0"/>
                                          </p:stCondLst>
                                        </p:cTn>
                                        <p:tgtEl>
                                          <p:spTgt spid="672843"/>
                                        </p:tgtEl>
                                        <p:attrNameLst>
                                          <p:attrName>style.visibility</p:attrName>
                                        </p:attrNameLst>
                                      </p:cBhvr>
                                      <p:to>
                                        <p:strVal val="visible"/>
                                      </p:to>
                                    </p:set>
                                    <p:anim calcmode="lin" valueType="num">
                                      <p:cBhvr additive="base">
                                        <p:cTn id="66" dur="500" fill="hold"/>
                                        <p:tgtEl>
                                          <p:spTgt spid="672843"/>
                                        </p:tgtEl>
                                        <p:attrNameLst>
                                          <p:attrName>ppt_x</p:attrName>
                                        </p:attrNameLst>
                                      </p:cBhvr>
                                      <p:tavLst>
                                        <p:tav tm="0">
                                          <p:val>
                                            <p:strVal val="1+#ppt_w/2"/>
                                          </p:val>
                                        </p:tav>
                                        <p:tav tm="100000">
                                          <p:val>
                                            <p:strVal val="#ppt_x"/>
                                          </p:val>
                                        </p:tav>
                                      </p:tavLst>
                                    </p:anim>
                                    <p:anim calcmode="lin" valueType="num">
                                      <p:cBhvr additive="base">
                                        <p:cTn id="67" dur="500" fill="hold"/>
                                        <p:tgtEl>
                                          <p:spTgt spid="6728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94" grpId="0" animBg="1"/>
      <p:bldP spid="672797" grpId="0" animBg="1"/>
      <p:bldP spid="672799" grpId="0" animBg="1"/>
      <p:bldP spid="672801" grpId="0" animBg="1"/>
      <p:bldP spid="67284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2"/>
          <p:cNvSpPr txBox="1">
            <a:spLocks noChangeArrowheads="1"/>
          </p:cNvSpPr>
          <p:nvPr/>
        </p:nvSpPr>
        <p:spPr bwMode="auto">
          <a:xfrm>
            <a:off x="3059113" y="549275"/>
            <a:ext cx="4321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3600">
                <a:solidFill>
                  <a:srgbClr val="FFFF00"/>
                </a:solidFill>
                <a:latin typeface="Arial" panose="020B0604020202020204" pitchFamily="34" charset="0"/>
              </a:rPr>
              <a:t>电梯调度算法（序）</a:t>
            </a:r>
          </a:p>
        </p:txBody>
      </p:sp>
      <p:sp>
        <p:nvSpPr>
          <p:cNvPr id="673795" name="Text Box 3"/>
          <p:cNvSpPr txBox="1">
            <a:spLocks noChangeArrowheads="1"/>
          </p:cNvSpPr>
          <p:nvPr/>
        </p:nvSpPr>
        <p:spPr bwMode="auto">
          <a:xfrm>
            <a:off x="323850" y="1557338"/>
            <a:ext cx="8424863" cy="1200150"/>
          </a:xfrm>
          <a:prstGeom prst="rect">
            <a:avLst/>
          </a:prstGeom>
          <a:solidFill>
            <a:srgbClr val="F8F8F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solidFill>
                  <a:schemeClr val="bg2"/>
                </a:solidFill>
              </a:rPr>
              <a:t>总共划过的磁道数</a:t>
            </a:r>
          </a:p>
          <a:p>
            <a:pPr eaLnBrk="1" hangingPunct="1">
              <a:spcBef>
                <a:spcPct val="0"/>
              </a:spcBef>
              <a:buClrTx/>
              <a:buSzTx/>
              <a:buFontTx/>
              <a:buNone/>
            </a:pPr>
            <a:r>
              <a:rPr kumimoji="0" lang="en-US" altLang="zh-CN" sz="2400">
                <a:solidFill>
                  <a:srgbClr val="000000"/>
                </a:solidFill>
              </a:rPr>
              <a:t>=(65-53)+(67-65)+(98-67)+(122-98)+(124-122) +(183-124)</a:t>
            </a:r>
          </a:p>
          <a:p>
            <a:pPr eaLnBrk="1" hangingPunct="1">
              <a:spcBef>
                <a:spcPct val="0"/>
              </a:spcBef>
              <a:buClrTx/>
              <a:buSzTx/>
              <a:buFontTx/>
              <a:buNone/>
            </a:pPr>
            <a:r>
              <a:rPr kumimoji="0" lang="en-US" altLang="zh-CN" sz="2400">
                <a:solidFill>
                  <a:srgbClr val="000000"/>
                </a:solidFill>
              </a:rPr>
              <a:t>+(183-37)+(37-14)    =12+2+31+24+2+59+146+23= </a:t>
            </a:r>
            <a:r>
              <a:rPr kumimoji="0" lang="en-US" altLang="zh-CN" sz="2400">
                <a:solidFill>
                  <a:srgbClr val="FF0000"/>
                </a:solidFill>
              </a:rPr>
              <a:t>299</a:t>
            </a:r>
          </a:p>
        </p:txBody>
      </p:sp>
      <p:sp>
        <p:nvSpPr>
          <p:cNvPr id="69637" name="Line 6"/>
          <p:cNvSpPr>
            <a:spLocks noChangeShapeType="1"/>
          </p:cNvSpPr>
          <p:nvPr/>
        </p:nvSpPr>
        <p:spPr bwMode="auto">
          <a:xfrm flipH="1">
            <a:off x="3635375" y="3789363"/>
            <a:ext cx="646113" cy="0"/>
          </a:xfrm>
          <a:prstGeom prst="line">
            <a:avLst/>
          </a:prstGeom>
          <a:noFill/>
          <a:ln w="57150">
            <a:solidFill>
              <a:srgbClr val="FFFF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8" name="Text Box 7"/>
          <p:cNvSpPr txBox="1">
            <a:spLocks noChangeArrowheads="1"/>
          </p:cNvSpPr>
          <p:nvPr/>
        </p:nvSpPr>
        <p:spPr bwMode="auto">
          <a:xfrm>
            <a:off x="3206750" y="40751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53</a:t>
            </a:r>
          </a:p>
        </p:txBody>
      </p:sp>
      <p:sp>
        <p:nvSpPr>
          <p:cNvPr id="69639" name="Line 8"/>
          <p:cNvSpPr>
            <a:spLocks noChangeShapeType="1"/>
          </p:cNvSpPr>
          <p:nvPr/>
        </p:nvSpPr>
        <p:spPr bwMode="auto">
          <a:xfrm>
            <a:off x="1857375" y="4408488"/>
            <a:ext cx="67691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0" name="Line 9"/>
          <p:cNvSpPr>
            <a:spLocks noChangeShapeType="1"/>
          </p:cNvSpPr>
          <p:nvPr/>
        </p:nvSpPr>
        <p:spPr bwMode="auto">
          <a:xfrm>
            <a:off x="1909763" y="4338638"/>
            <a:ext cx="0" cy="1444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69641" name="Line 10"/>
          <p:cNvSpPr>
            <a:spLocks noChangeShapeType="1"/>
          </p:cNvSpPr>
          <p:nvPr/>
        </p:nvSpPr>
        <p:spPr bwMode="auto">
          <a:xfrm>
            <a:off x="2343150" y="4338638"/>
            <a:ext cx="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2" name="Line 11"/>
          <p:cNvSpPr>
            <a:spLocks noChangeShapeType="1"/>
          </p:cNvSpPr>
          <p:nvPr/>
        </p:nvSpPr>
        <p:spPr bwMode="auto">
          <a:xfrm>
            <a:off x="2846388" y="4338638"/>
            <a:ext cx="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3" name="Line 12"/>
          <p:cNvSpPr>
            <a:spLocks noChangeShapeType="1"/>
          </p:cNvSpPr>
          <p:nvPr/>
        </p:nvSpPr>
        <p:spPr bwMode="auto">
          <a:xfrm>
            <a:off x="3783013" y="4338638"/>
            <a:ext cx="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4" name="Line 13"/>
          <p:cNvSpPr>
            <a:spLocks noChangeShapeType="1"/>
          </p:cNvSpPr>
          <p:nvPr/>
        </p:nvSpPr>
        <p:spPr bwMode="auto">
          <a:xfrm>
            <a:off x="4213225" y="43402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5" name="Line 14"/>
          <p:cNvSpPr>
            <a:spLocks noChangeShapeType="1"/>
          </p:cNvSpPr>
          <p:nvPr/>
        </p:nvSpPr>
        <p:spPr bwMode="auto">
          <a:xfrm>
            <a:off x="8462963" y="4338638"/>
            <a:ext cx="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6" name="Line 15"/>
          <p:cNvSpPr>
            <a:spLocks noChangeShapeType="1"/>
          </p:cNvSpPr>
          <p:nvPr/>
        </p:nvSpPr>
        <p:spPr bwMode="auto">
          <a:xfrm>
            <a:off x="6516688" y="4340225"/>
            <a:ext cx="0" cy="71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7" name="Line 16"/>
          <p:cNvSpPr>
            <a:spLocks noChangeShapeType="1"/>
          </p:cNvSpPr>
          <p:nvPr/>
        </p:nvSpPr>
        <p:spPr bwMode="auto">
          <a:xfrm>
            <a:off x="5942013" y="4338638"/>
            <a:ext cx="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8" name="Line 17"/>
          <p:cNvSpPr>
            <a:spLocks noChangeShapeType="1"/>
          </p:cNvSpPr>
          <p:nvPr/>
        </p:nvSpPr>
        <p:spPr bwMode="auto">
          <a:xfrm>
            <a:off x="4862513" y="4338638"/>
            <a:ext cx="0" cy="71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49" name="Text Box 18"/>
          <p:cNvSpPr txBox="1">
            <a:spLocks noChangeArrowheads="1"/>
          </p:cNvSpPr>
          <p:nvPr/>
        </p:nvSpPr>
        <p:spPr bwMode="auto">
          <a:xfrm>
            <a:off x="1766888" y="4075113"/>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0</a:t>
            </a:r>
          </a:p>
        </p:txBody>
      </p:sp>
      <p:sp>
        <p:nvSpPr>
          <p:cNvPr id="69650" name="Text Box 19"/>
          <p:cNvSpPr txBox="1">
            <a:spLocks noChangeArrowheads="1"/>
          </p:cNvSpPr>
          <p:nvPr/>
        </p:nvSpPr>
        <p:spPr bwMode="auto">
          <a:xfrm>
            <a:off x="2198688" y="40751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14</a:t>
            </a:r>
          </a:p>
        </p:txBody>
      </p:sp>
      <p:sp>
        <p:nvSpPr>
          <p:cNvPr id="69651" name="Text Box 20"/>
          <p:cNvSpPr txBox="1">
            <a:spLocks noChangeArrowheads="1"/>
          </p:cNvSpPr>
          <p:nvPr/>
        </p:nvSpPr>
        <p:spPr bwMode="auto">
          <a:xfrm>
            <a:off x="2701925" y="40751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37</a:t>
            </a:r>
          </a:p>
        </p:txBody>
      </p:sp>
      <p:sp>
        <p:nvSpPr>
          <p:cNvPr id="69652" name="Text Box 21"/>
          <p:cNvSpPr txBox="1">
            <a:spLocks noChangeArrowheads="1"/>
          </p:cNvSpPr>
          <p:nvPr/>
        </p:nvSpPr>
        <p:spPr bwMode="auto">
          <a:xfrm>
            <a:off x="3635375" y="407670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65</a:t>
            </a:r>
          </a:p>
        </p:txBody>
      </p:sp>
      <p:sp>
        <p:nvSpPr>
          <p:cNvPr id="69653" name="Text Box 22"/>
          <p:cNvSpPr txBox="1">
            <a:spLocks noChangeArrowheads="1"/>
          </p:cNvSpPr>
          <p:nvPr/>
        </p:nvSpPr>
        <p:spPr bwMode="auto">
          <a:xfrm>
            <a:off x="4068763" y="4076700"/>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67</a:t>
            </a:r>
          </a:p>
        </p:txBody>
      </p:sp>
      <p:sp>
        <p:nvSpPr>
          <p:cNvPr id="69654" name="Text Box 23"/>
          <p:cNvSpPr txBox="1">
            <a:spLocks noChangeArrowheads="1"/>
          </p:cNvSpPr>
          <p:nvPr/>
        </p:nvSpPr>
        <p:spPr bwMode="auto">
          <a:xfrm>
            <a:off x="4718050" y="4075113"/>
            <a:ext cx="387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98</a:t>
            </a:r>
          </a:p>
        </p:txBody>
      </p:sp>
      <p:sp>
        <p:nvSpPr>
          <p:cNvPr id="69655" name="Text Box 24"/>
          <p:cNvSpPr txBox="1">
            <a:spLocks noChangeArrowheads="1"/>
          </p:cNvSpPr>
          <p:nvPr/>
        </p:nvSpPr>
        <p:spPr bwMode="auto">
          <a:xfrm>
            <a:off x="5726113" y="4075113"/>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122</a:t>
            </a:r>
          </a:p>
        </p:txBody>
      </p:sp>
      <p:sp>
        <p:nvSpPr>
          <p:cNvPr id="69656" name="Text Box 25"/>
          <p:cNvSpPr txBox="1">
            <a:spLocks noChangeArrowheads="1"/>
          </p:cNvSpPr>
          <p:nvPr/>
        </p:nvSpPr>
        <p:spPr bwMode="auto">
          <a:xfrm>
            <a:off x="6300788" y="4076700"/>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124</a:t>
            </a:r>
          </a:p>
        </p:txBody>
      </p:sp>
      <p:sp>
        <p:nvSpPr>
          <p:cNvPr id="69657" name="Text Box 26"/>
          <p:cNvSpPr txBox="1">
            <a:spLocks noChangeArrowheads="1"/>
          </p:cNvSpPr>
          <p:nvPr/>
        </p:nvSpPr>
        <p:spPr bwMode="auto">
          <a:xfrm>
            <a:off x="8247063" y="4075113"/>
            <a:ext cx="488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t>183</a:t>
            </a:r>
          </a:p>
        </p:txBody>
      </p:sp>
      <p:sp>
        <p:nvSpPr>
          <p:cNvPr id="69658" name="Text Box 27"/>
          <p:cNvSpPr txBox="1">
            <a:spLocks noChangeArrowheads="1"/>
          </p:cNvSpPr>
          <p:nvPr/>
        </p:nvSpPr>
        <p:spPr bwMode="auto">
          <a:xfrm>
            <a:off x="684213" y="4221163"/>
            <a:ext cx="1098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a:latin typeface="Arial" panose="020B0604020202020204" pitchFamily="34" charset="0"/>
              </a:rPr>
              <a:t>磁道号：</a:t>
            </a:r>
          </a:p>
        </p:txBody>
      </p:sp>
      <p:sp>
        <p:nvSpPr>
          <p:cNvPr id="69659" name="Line 28"/>
          <p:cNvSpPr>
            <a:spLocks noChangeShapeType="1"/>
          </p:cNvSpPr>
          <p:nvPr/>
        </p:nvSpPr>
        <p:spPr bwMode="auto">
          <a:xfrm>
            <a:off x="3422650" y="4338638"/>
            <a:ext cx="0" cy="1444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wrap="none" anchor="ctr"/>
          <a:lstStyle/>
          <a:p>
            <a:endParaRPr lang="zh-CN" altLang="en-US"/>
          </a:p>
        </p:txBody>
      </p:sp>
      <p:sp>
        <p:nvSpPr>
          <p:cNvPr id="69660" name="Line 29"/>
          <p:cNvSpPr>
            <a:spLocks noChangeShapeType="1"/>
          </p:cNvSpPr>
          <p:nvPr/>
        </p:nvSpPr>
        <p:spPr bwMode="auto">
          <a:xfrm>
            <a:off x="8512175" y="4441825"/>
            <a:ext cx="0" cy="10795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1" name="Text Box 30"/>
          <p:cNvSpPr txBox="1">
            <a:spLocks noChangeArrowheads="1"/>
          </p:cNvSpPr>
          <p:nvPr/>
        </p:nvSpPr>
        <p:spPr bwMode="auto">
          <a:xfrm>
            <a:off x="179388" y="3597275"/>
            <a:ext cx="3494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latin typeface="Arial" panose="020B0604020202020204" pitchFamily="34" charset="0"/>
              </a:rPr>
              <a:t>初始移动方向</a:t>
            </a:r>
            <a:r>
              <a:rPr kumimoji="0" lang="en-US" altLang="zh-CN" sz="2400">
                <a:latin typeface="Arial" panose="020B0604020202020204" pitchFamily="34" charset="0"/>
              </a:rPr>
              <a:t>:</a:t>
            </a:r>
            <a:r>
              <a:rPr kumimoji="0" lang="zh-CN" altLang="en-US" sz="2400">
                <a:latin typeface="Arial" panose="020B0604020202020204" pitchFamily="34" charset="0"/>
              </a:rPr>
              <a:t>由外往里</a:t>
            </a:r>
          </a:p>
        </p:txBody>
      </p:sp>
      <p:sp>
        <p:nvSpPr>
          <p:cNvPr id="673823" name="Line 31"/>
          <p:cNvSpPr>
            <a:spLocks noChangeShapeType="1"/>
          </p:cNvSpPr>
          <p:nvPr/>
        </p:nvSpPr>
        <p:spPr bwMode="auto">
          <a:xfrm>
            <a:off x="3421063" y="4484688"/>
            <a:ext cx="358775" cy="1428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3" name="Line 32"/>
          <p:cNvSpPr>
            <a:spLocks noChangeShapeType="1"/>
          </p:cNvSpPr>
          <p:nvPr/>
        </p:nvSpPr>
        <p:spPr bwMode="auto">
          <a:xfrm>
            <a:off x="3779838" y="4411663"/>
            <a:ext cx="0" cy="2159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3825" name="Line 33"/>
          <p:cNvSpPr>
            <a:spLocks noChangeShapeType="1"/>
          </p:cNvSpPr>
          <p:nvPr/>
        </p:nvSpPr>
        <p:spPr bwMode="auto">
          <a:xfrm>
            <a:off x="3830638" y="4656138"/>
            <a:ext cx="433387" cy="73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5" name="Line 34"/>
          <p:cNvSpPr>
            <a:spLocks noChangeShapeType="1"/>
          </p:cNvSpPr>
          <p:nvPr/>
        </p:nvSpPr>
        <p:spPr bwMode="auto">
          <a:xfrm>
            <a:off x="4264025" y="4440238"/>
            <a:ext cx="0" cy="2889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3827" name="Line 35"/>
          <p:cNvSpPr>
            <a:spLocks noChangeShapeType="1"/>
          </p:cNvSpPr>
          <p:nvPr/>
        </p:nvSpPr>
        <p:spPr bwMode="auto">
          <a:xfrm>
            <a:off x="4264025" y="4729163"/>
            <a:ext cx="64770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7" name="Line 36"/>
          <p:cNvSpPr>
            <a:spLocks noChangeShapeType="1"/>
          </p:cNvSpPr>
          <p:nvPr/>
        </p:nvSpPr>
        <p:spPr bwMode="auto">
          <a:xfrm>
            <a:off x="4911725" y="4440238"/>
            <a:ext cx="0" cy="5048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3829" name="Line 37"/>
          <p:cNvSpPr>
            <a:spLocks noChangeShapeType="1"/>
          </p:cNvSpPr>
          <p:nvPr/>
        </p:nvSpPr>
        <p:spPr bwMode="auto">
          <a:xfrm>
            <a:off x="4911725" y="4945063"/>
            <a:ext cx="1079500" cy="1444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9" name="Line 38"/>
          <p:cNvSpPr>
            <a:spLocks noChangeShapeType="1"/>
          </p:cNvSpPr>
          <p:nvPr/>
        </p:nvSpPr>
        <p:spPr bwMode="auto">
          <a:xfrm>
            <a:off x="5991225" y="4440238"/>
            <a:ext cx="0" cy="64928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0" name="Line 40"/>
          <p:cNvSpPr>
            <a:spLocks noChangeShapeType="1"/>
          </p:cNvSpPr>
          <p:nvPr/>
        </p:nvSpPr>
        <p:spPr bwMode="auto">
          <a:xfrm>
            <a:off x="6567488" y="4440238"/>
            <a:ext cx="0" cy="865187"/>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1" name="Line 43"/>
          <p:cNvSpPr>
            <a:spLocks noChangeShapeType="1"/>
          </p:cNvSpPr>
          <p:nvPr/>
        </p:nvSpPr>
        <p:spPr bwMode="auto">
          <a:xfrm>
            <a:off x="2895600" y="4440238"/>
            <a:ext cx="0" cy="122555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2" name="Line 45"/>
          <p:cNvSpPr>
            <a:spLocks noChangeShapeType="1"/>
          </p:cNvSpPr>
          <p:nvPr/>
        </p:nvSpPr>
        <p:spPr bwMode="auto">
          <a:xfrm>
            <a:off x="2390775" y="4440238"/>
            <a:ext cx="0" cy="13684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5"/>
          <p:cNvGrpSpPr>
            <a:grpSpLocks/>
          </p:cNvGrpSpPr>
          <p:nvPr/>
        </p:nvGrpSpPr>
        <p:grpSpPr bwMode="auto">
          <a:xfrm>
            <a:off x="3419475" y="4437063"/>
            <a:ext cx="287338" cy="336550"/>
            <a:chOff x="2064" y="3158"/>
            <a:chExt cx="181" cy="212"/>
          </a:xfrm>
        </p:grpSpPr>
        <p:sp>
          <p:nvSpPr>
            <p:cNvPr id="69702" name="Oval 46"/>
            <p:cNvSpPr>
              <a:spLocks noChangeArrowheads="1"/>
            </p:cNvSpPr>
            <p:nvPr/>
          </p:nvSpPr>
          <p:spPr bwMode="auto">
            <a:xfrm>
              <a:off x="2064" y="3158"/>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703" name="Text Box 47"/>
            <p:cNvSpPr txBox="1">
              <a:spLocks noChangeArrowheads="1"/>
            </p:cNvSpPr>
            <p:nvPr/>
          </p:nvSpPr>
          <p:spPr bwMode="auto">
            <a:xfrm>
              <a:off x="2064" y="3158"/>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1</a:t>
              </a:r>
            </a:p>
          </p:txBody>
        </p:sp>
      </p:grpSp>
      <p:grpSp>
        <p:nvGrpSpPr>
          <p:cNvPr id="3" name="Group 66"/>
          <p:cNvGrpSpPr>
            <a:grpSpLocks/>
          </p:cNvGrpSpPr>
          <p:nvPr/>
        </p:nvGrpSpPr>
        <p:grpSpPr bwMode="auto">
          <a:xfrm>
            <a:off x="3851275" y="4508500"/>
            <a:ext cx="287338" cy="336550"/>
            <a:chOff x="2381" y="3294"/>
            <a:chExt cx="181" cy="212"/>
          </a:xfrm>
        </p:grpSpPr>
        <p:sp>
          <p:nvSpPr>
            <p:cNvPr id="69700" name="Oval 48"/>
            <p:cNvSpPr>
              <a:spLocks noChangeArrowheads="1"/>
            </p:cNvSpPr>
            <p:nvPr/>
          </p:nvSpPr>
          <p:spPr bwMode="auto">
            <a:xfrm>
              <a:off x="2381" y="3294"/>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701" name="Text Box 49"/>
            <p:cNvSpPr txBox="1">
              <a:spLocks noChangeArrowheads="1"/>
            </p:cNvSpPr>
            <p:nvPr/>
          </p:nvSpPr>
          <p:spPr bwMode="auto">
            <a:xfrm>
              <a:off x="2381" y="3294"/>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2</a:t>
              </a:r>
            </a:p>
          </p:txBody>
        </p:sp>
      </p:grpSp>
      <p:grpSp>
        <p:nvGrpSpPr>
          <p:cNvPr id="4" name="Group 67"/>
          <p:cNvGrpSpPr>
            <a:grpSpLocks/>
          </p:cNvGrpSpPr>
          <p:nvPr/>
        </p:nvGrpSpPr>
        <p:grpSpPr bwMode="auto">
          <a:xfrm>
            <a:off x="4427538" y="4652963"/>
            <a:ext cx="287337" cy="336550"/>
            <a:chOff x="2426" y="3113"/>
            <a:chExt cx="181" cy="212"/>
          </a:xfrm>
        </p:grpSpPr>
        <p:sp>
          <p:nvSpPr>
            <p:cNvPr id="69698" name="Oval 50"/>
            <p:cNvSpPr>
              <a:spLocks noChangeArrowheads="1"/>
            </p:cNvSpPr>
            <p:nvPr/>
          </p:nvSpPr>
          <p:spPr bwMode="auto">
            <a:xfrm>
              <a:off x="2426" y="3113"/>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99" name="Text Box 51"/>
            <p:cNvSpPr txBox="1">
              <a:spLocks noChangeArrowheads="1"/>
            </p:cNvSpPr>
            <p:nvPr/>
          </p:nvSpPr>
          <p:spPr bwMode="auto">
            <a:xfrm>
              <a:off x="2426" y="3113"/>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3</a:t>
              </a:r>
            </a:p>
          </p:txBody>
        </p:sp>
      </p:grpSp>
      <p:grpSp>
        <p:nvGrpSpPr>
          <p:cNvPr id="5" name="Group 68"/>
          <p:cNvGrpSpPr>
            <a:grpSpLocks/>
          </p:cNvGrpSpPr>
          <p:nvPr/>
        </p:nvGrpSpPr>
        <p:grpSpPr bwMode="auto">
          <a:xfrm>
            <a:off x="5272088" y="4797425"/>
            <a:ext cx="306387" cy="365125"/>
            <a:chOff x="3321" y="3022"/>
            <a:chExt cx="193" cy="230"/>
          </a:xfrm>
        </p:grpSpPr>
        <p:sp>
          <p:nvSpPr>
            <p:cNvPr id="69696" name="Oval 52"/>
            <p:cNvSpPr>
              <a:spLocks noChangeArrowheads="1"/>
            </p:cNvSpPr>
            <p:nvPr/>
          </p:nvSpPr>
          <p:spPr bwMode="auto">
            <a:xfrm>
              <a:off x="3321" y="3070"/>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97" name="Text Box 53"/>
            <p:cNvSpPr txBox="1">
              <a:spLocks noChangeArrowheads="1"/>
            </p:cNvSpPr>
            <p:nvPr/>
          </p:nvSpPr>
          <p:spPr bwMode="auto">
            <a:xfrm>
              <a:off x="3334" y="3022"/>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4</a:t>
              </a:r>
            </a:p>
          </p:txBody>
        </p:sp>
      </p:grpSp>
      <p:grpSp>
        <p:nvGrpSpPr>
          <p:cNvPr id="6" name="Group 69"/>
          <p:cNvGrpSpPr>
            <a:grpSpLocks/>
          </p:cNvGrpSpPr>
          <p:nvPr/>
        </p:nvGrpSpPr>
        <p:grpSpPr bwMode="auto">
          <a:xfrm>
            <a:off x="5991225" y="4964113"/>
            <a:ext cx="576263" cy="341312"/>
            <a:chOff x="3774" y="3127"/>
            <a:chExt cx="363" cy="215"/>
          </a:xfrm>
        </p:grpSpPr>
        <p:sp>
          <p:nvSpPr>
            <p:cNvPr id="69693" name="Line 39"/>
            <p:cNvSpPr>
              <a:spLocks noChangeShapeType="1"/>
            </p:cNvSpPr>
            <p:nvPr/>
          </p:nvSpPr>
          <p:spPr bwMode="auto">
            <a:xfrm>
              <a:off x="3774" y="3206"/>
              <a:ext cx="363"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94" name="Oval 54"/>
            <p:cNvSpPr>
              <a:spLocks noChangeArrowheads="1"/>
            </p:cNvSpPr>
            <p:nvPr/>
          </p:nvSpPr>
          <p:spPr bwMode="auto">
            <a:xfrm>
              <a:off x="3820" y="3160"/>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95" name="Text Box 55"/>
            <p:cNvSpPr txBox="1">
              <a:spLocks noChangeArrowheads="1"/>
            </p:cNvSpPr>
            <p:nvPr/>
          </p:nvSpPr>
          <p:spPr bwMode="auto">
            <a:xfrm>
              <a:off x="3833" y="3127"/>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5</a:t>
              </a:r>
            </a:p>
          </p:txBody>
        </p:sp>
      </p:grpSp>
      <p:grpSp>
        <p:nvGrpSpPr>
          <p:cNvPr id="7" name="Group 70"/>
          <p:cNvGrpSpPr>
            <a:grpSpLocks/>
          </p:cNvGrpSpPr>
          <p:nvPr/>
        </p:nvGrpSpPr>
        <p:grpSpPr bwMode="auto">
          <a:xfrm>
            <a:off x="6567488" y="5157788"/>
            <a:ext cx="1944687" cy="363537"/>
            <a:chOff x="4137" y="3249"/>
            <a:chExt cx="1225" cy="229"/>
          </a:xfrm>
        </p:grpSpPr>
        <p:sp>
          <p:nvSpPr>
            <p:cNvPr id="69690" name="Line 41"/>
            <p:cNvSpPr>
              <a:spLocks noChangeShapeType="1"/>
            </p:cNvSpPr>
            <p:nvPr/>
          </p:nvSpPr>
          <p:spPr bwMode="auto">
            <a:xfrm>
              <a:off x="4137" y="3342"/>
              <a:ext cx="1225"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91" name="Oval 56"/>
            <p:cNvSpPr>
              <a:spLocks noChangeArrowheads="1"/>
            </p:cNvSpPr>
            <p:nvPr/>
          </p:nvSpPr>
          <p:spPr bwMode="auto">
            <a:xfrm>
              <a:off x="4455" y="3296"/>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92" name="Text Box 57"/>
            <p:cNvSpPr txBox="1">
              <a:spLocks noChangeArrowheads="1"/>
            </p:cNvSpPr>
            <p:nvPr/>
          </p:nvSpPr>
          <p:spPr bwMode="auto">
            <a:xfrm>
              <a:off x="4468" y="3249"/>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6</a:t>
              </a:r>
            </a:p>
          </p:txBody>
        </p:sp>
      </p:grpSp>
      <p:grpSp>
        <p:nvGrpSpPr>
          <p:cNvPr id="8" name="Group 71"/>
          <p:cNvGrpSpPr>
            <a:grpSpLocks/>
          </p:cNvGrpSpPr>
          <p:nvPr/>
        </p:nvGrpSpPr>
        <p:grpSpPr bwMode="auto">
          <a:xfrm>
            <a:off x="2895600" y="5445125"/>
            <a:ext cx="5616575" cy="336550"/>
            <a:chOff x="1824" y="3430"/>
            <a:chExt cx="3538" cy="212"/>
          </a:xfrm>
        </p:grpSpPr>
        <p:sp>
          <p:nvSpPr>
            <p:cNvPr id="69687" name="Line 42"/>
            <p:cNvSpPr>
              <a:spLocks noChangeShapeType="1"/>
            </p:cNvSpPr>
            <p:nvPr/>
          </p:nvSpPr>
          <p:spPr bwMode="auto">
            <a:xfrm flipH="1">
              <a:off x="1824" y="3478"/>
              <a:ext cx="3538"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88" name="Oval 58"/>
            <p:cNvSpPr>
              <a:spLocks noChangeArrowheads="1"/>
            </p:cNvSpPr>
            <p:nvPr/>
          </p:nvSpPr>
          <p:spPr bwMode="auto">
            <a:xfrm>
              <a:off x="3185" y="3432"/>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89" name="Text Box 59"/>
            <p:cNvSpPr txBox="1">
              <a:spLocks noChangeArrowheads="1"/>
            </p:cNvSpPr>
            <p:nvPr/>
          </p:nvSpPr>
          <p:spPr bwMode="auto">
            <a:xfrm>
              <a:off x="3198" y="3430"/>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7</a:t>
              </a:r>
            </a:p>
          </p:txBody>
        </p:sp>
      </p:grpSp>
      <p:grpSp>
        <p:nvGrpSpPr>
          <p:cNvPr id="9" name="Group 72"/>
          <p:cNvGrpSpPr>
            <a:grpSpLocks/>
          </p:cNvGrpSpPr>
          <p:nvPr/>
        </p:nvGrpSpPr>
        <p:grpSpPr bwMode="auto">
          <a:xfrm>
            <a:off x="2390775" y="5545138"/>
            <a:ext cx="504825" cy="336550"/>
            <a:chOff x="1506" y="3493"/>
            <a:chExt cx="318" cy="212"/>
          </a:xfrm>
        </p:grpSpPr>
        <p:sp>
          <p:nvSpPr>
            <p:cNvPr id="69684" name="Line 44"/>
            <p:cNvSpPr>
              <a:spLocks noChangeShapeType="1"/>
            </p:cNvSpPr>
            <p:nvPr/>
          </p:nvSpPr>
          <p:spPr bwMode="auto">
            <a:xfrm flipH="1">
              <a:off x="1506" y="3569"/>
              <a:ext cx="318" cy="9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85" name="Oval 60"/>
            <p:cNvSpPr>
              <a:spLocks noChangeArrowheads="1"/>
            </p:cNvSpPr>
            <p:nvPr/>
          </p:nvSpPr>
          <p:spPr bwMode="auto">
            <a:xfrm>
              <a:off x="1552" y="3523"/>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9686" name="Text Box 61"/>
            <p:cNvSpPr txBox="1">
              <a:spLocks noChangeArrowheads="1"/>
            </p:cNvSpPr>
            <p:nvPr/>
          </p:nvSpPr>
          <p:spPr bwMode="auto">
            <a:xfrm>
              <a:off x="1552" y="3493"/>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8</a:t>
              </a:r>
            </a:p>
          </p:txBody>
        </p:sp>
      </p:grpSp>
      <p:sp>
        <p:nvSpPr>
          <p:cNvPr id="69681" name="Text Box 63"/>
          <p:cNvSpPr txBox="1">
            <a:spLocks noChangeArrowheads="1"/>
          </p:cNvSpPr>
          <p:nvPr/>
        </p:nvSpPr>
        <p:spPr bwMode="auto">
          <a:xfrm>
            <a:off x="1331913" y="0"/>
            <a:ext cx="6624637" cy="519113"/>
          </a:xfrm>
          <a:prstGeom prst="rect">
            <a:avLst/>
          </a:prstGeom>
          <a:solidFill>
            <a:srgbClr val="FFEB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98</a:t>
            </a:r>
            <a:r>
              <a:rPr lang="zh-CN" altLang="en-US" sz="2800">
                <a:solidFill>
                  <a:srgbClr val="000000"/>
                </a:solidFill>
              </a:rPr>
              <a:t>、</a:t>
            </a:r>
            <a:r>
              <a:rPr lang="en-US" altLang="zh-CN" sz="2800">
                <a:solidFill>
                  <a:srgbClr val="000000"/>
                </a:solidFill>
              </a:rPr>
              <a:t>183</a:t>
            </a:r>
            <a:r>
              <a:rPr lang="zh-CN" altLang="en-US" sz="2800">
                <a:solidFill>
                  <a:srgbClr val="000000"/>
                </a:solidFill>
              </a:rPr>
              <a:t>、</a:t>
            </a:r>
            <a:r>
              <a:rPr lang="en-US" altLang="zh-CN" sz="2800">
                <a:solidFill>
                  <a:srgbClr val="000000"/>
                </a:solidFill>
              </a:rPr>
              <a:t>37</a:t>
            </a:r>
            <a:r>
              <a:rPr lang="zh-CN" altLang="en-US" sz="2800">
                <a:solidFill>
                  <a:srgbClr val="000000"/>
                </a:solidFill>
              </a:rPr>
              <a:t>、</a:t>
            </a:r>
            <a:r>
              <a:rPr lang="en-US" altLang="zh-CN" sz="2800">
                <a:solidFill>
                  <a:srgbClr val="000000"/>
                </a:solidFill>
              </a:rPr>
              <a:t>122</a:t>
            </a:r>
            <a:r>
              <a:rPr lang="zh-CN" altLang="en-US" sz="2800">
                <a:solidFill>
                  <a:srgbClr val="000000"/>
                </a:solidFill>
              </a:rPr>
              <a:t>、</a:t>
            </a:r>
            <a:r>
              <a:rPr lang="en-US" altLang="zh-CN" sz="2800">
                <a:solidFill>
                  <a:srgbClr val="000000"/>
                </a:solidFill>
              </a:rPr>
              <a:t>14</a:t>
            </a:r>
            <a:r>
              <a:rPr lang="zh-CN" altLang="en-US" sz="2800">
                <a:solidFill>
                  <a:srgbClr val="000000"/>
                </a:solidFill>
              </a:rPr>
              <a:t>、</a:t>
            </a:r>
            <a:r>
              <a:rPr lang="en-US" altLang="zh-CN" sz="2800">
                <a:solidFill>
                  <a:srgbClr val="000000"/>
                </a:solidFill>
              </a:rPr>
              <a:t>124</a:t>
            </a:r>
            <a:r>
              <a:rPr lang="zh-CN" altLang="en-US" sz="2800">
                <a:solidFill>
                  <a:srgbClr val="000000"/>
                </a:solidFill>
              </a:rPr>
              <a:t>、</a:t>
            </a:r>
            <a:r>
              <a:rPr lang="en-US" altLang="zh-CN" sz="2800">
                <a:solidFill>
                  <a:srgbClr val="000000"/>
                </a:solidFill>
              </a:rPr>
              <a:t>65</a:t>
            </a:r>
            <a:r>
              <a:rPr lang="zh-CN" altLang="en-US" sz="2800">
                <a:solidFill>
                  <a:srgbClr val="000000"/>
                </a:solidFill>
              </a:rPr>
              <a:t>、</a:t>
            </a:r>
            <a:r>
              <a:rPr lang="en-US" altLang="zh-CN" sz="2800">
                <a:solidFill>
                  <a:srgbClr val="000000"/>
                </a:solidFill>
              </a:rPr>
              <a:t>67</a:t>
            </a:r>
            <a:r>
              <a:rPr lang="zh-CN" altLang="en-US" sz="2800">
                <a:solidFill>
                  <a:srgbClr val="000000"/>
                </a:solidFill>
              </a:rPr>
              <a:t>。</a:t>
            </a:r>
          </a:p>
        </p:txBody>
      </p:sp>
      <p:sp>
        <p:nvSpPr>
          <p:cNvPr id="69682" name="Oval 64"/>
          <p:cNvSpPr>
            <a:spLocks noChangeArrowheads="1"/>
          </p:cNvSpPr>
          <p:nvPr/>
        </p:nvSpPr>
        <p:spPr bwMode="auto">
          <a:xfrm>
            <a:off x="3348038" y="4365625"/>
            <a:ext cx="144462" cy="144463"/>
          </a:xfrm>
          <a:prstGeom prst="ellipse">
            <a:avLst/>
          </a:prstGeom>
          <a:solidFill>
            <a:schemeClr val="hlink"/>
          </a:solidFill>
          <a:ln w="12700" cap="sq">
            <a:solidFill>
              <a:schemeClr val="tx1"/>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673865" name="AutoShape 73">
            <a:hlinkClick r:id="" action="ppaction://hlinkshowjump?jump=nextslide" highlightClick="1"/>
          </p:cNvPr>
          <p:cNvSpPr>
            <a:spLocks noChangeArrowheads="1"/>
          </p:cNvSpPr>
          <p:nvPr/>
        </p:nvSpPr>
        <p:spPr bwMode="auto">
          <a:xfrm>
            <a:off x="8763000" y="6477000"/>
            <a:ext cx="381000" cy="381000"/>
          </a:xfrm>
          <a:prstGeom prst="actionButtonForwardNext">
            <a:avLst/>
          </a:prstGeom>
          <a:solidFill>
            <a:schemeClr val="bg1"/>
          </a:solidFill>
          <a:ln w="9525">
            <a:solidFill>
              <a:srgbClr val="000099"/>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3823"/>
                                        </p:tgtEl>
                                        <p:attrNameLst>
                                          <p:attrName>style.visibility</p:attrName>
                                        </p:attrNameLst>
                                      </p:cBhvr>
                                      <p:to>
                                        <p:strVal val="visible"/>
                                      </p:to>
                                    </p:set>
                                    <p:animEffect transition="in" filter="fade">
                                      <p:cBhvr>
                                        <p:cTn id="7" dur="2000"/>
                                        <p:tgtEl>
                                          <p:spTgt spid="6738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3825"/>
                                        </p:tgtEl>
                                        <p:attrNameLst>
                                          <p:attrName>style.visibility</p:attrName>
                                        </p:attrNameLst>
                                      </p:cBhvr>
                                      <p:to>
                                        <p:strVal val="visible"/>
                                      </p:to>
                                    </p:set>
                                    <p:animEffect transition="in" filter="fade">
                                      <p:cBhvr>
                                        <p:cTn id="17" dur="2000"/>
                                        <p:tgtEl>
                                          <p:spTgt spid="6738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3827"/>
                                        </p:tgtEl>
                                        <p:attrNameLst>
                                          <p:attrName>style.visibility</p:attrName>
                                        </p:attrNameLst>
                                      </p:cBhvr>
                                      <p:to>
                                        <p:strVal val="visible"/>
                                      </p:to>
                                    </p:set>
                                    <p:animEffect transition="in" filter="fade">
                                      <p:cBhvr>
                                        <p:cTn id="27" dur="2000"/>
                                        <p:tgtEl>
                                          <p:spTgt spid="6738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73829"/>
                                        </p:tgtEl>
                                        <p:attrNameLst>
                                          <p:attrName>style.visibility</p:attrName>
                                        </p:attrNameLst>
                                      </p:cBhvr>
                                      <p:to>
                                        <p:strVal val="visible"/>
                                      </p:to>
                                    </p:set>
                                    <p:animEffect transition="in" filter="fade">
                                      <p:cBhvr>
                                        <p:cTn id="37" dur="2000"/>
                                        <p:tgtEl>
                                          <p:spTgt spid="6738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2000"/>
                                        <p:tgtEl>
                                          <p:spTgt spid="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20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2000"/>
                                        <p:tgtEl>
                                          <p:spTgt spid="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2000"/>
                                        <p:tgtEl>
                                          <p:spTgt spid="9"/>
                                        </p:tgtEl>
                                      </p:cBhvr>
                                    </p:animEffect>
                                  </p:childTnLst>
                                </p:cTn>
                              </p:par>
                            </p:childTnLst>
                          </p:cTn>
                        </p:par>
                        <p:par>
                          <p:cTn id="63" fill="hold" nodeType="afterGroup">
                            <p:stCondLst>
                              <p:cond delay="2000"/>
                            </p:stCondLst>
                            <p:childTnLst>
                              <p:par>
                                <p:cTn id="64" presetID="2" presetClass="entr" presetSubtype="4" fill="hold" grpId="0" nodeType="afterEffect">
                                  <p:stCondLst>
                                    <p:cond delay="0"/>
                                  </p:stCondLst>
                                  <p:childTnLst>
                                    <p:set>
                                      <p:cBhvr>
                                        <p:cTn id="65" dur="1" fill="hold">
                                          <p:stCondLst>
                                            <p:cond delay="0"/>
                                          </p:stCondLst>
                                        </p:cTn>
                                        <p:tgtEl>
                                          <p:spTgt spid="673795"/>
                                        </p:tgtEl>
                                        <p:attrNameLst>
                                          <p:attrName>style.visibility</p:attrName>
                                        </p:attrNameLst>
                                      </p:cBhvr>
                                      <p:to>
                                        <p:strVal val="visible"/>
                                      </p:to>
                                    </p:set>
                                    <p:anim calcmode="lin" valueType="num">
                                      <p:cBhvr additive="base">
                                        <p:cTn id="66" dur="3000" fill="hold"/>
                                        <p:tgtEl>
                                          <p:spTgt spid="673795"/>
                                        </p:tgtEl>
                                        <p:attrNameLst>
                                          <p:attrName>ppt_x</p:attrName>
                                        </p:attrNameLst>
                                      </p:cBhvr>
                                      <p:tavLst>
                                        <p:tav tm="0">
                                          <p:val>
                                            <p:strVal val="#ppt_x"/>
                                          </p:val>
                                        </p:tav>
                                        <p:tav tm="100000">
                                          <p:val>
                                            <p:strVal val="#ppt_x"/>
                                          </p:val>
                                        </p:tav>
                                      </p:tavLst>
                                    </p:anim>
                                    <p:anim calcmode="lin" valueType="num">
                                      <p:cBhvr additive="base">
                                        <p:cTn id="67" dur="3000" fill="hold"/>
                                        <p:tgtEl>
                                          <p:spTgt spid="673795"/>
                                        </p:tgtEl>
                                        <p:attrNameLst>
                                          <p:attrName>ppt_y</p:attrName>
                                        </p:attrNameLst>
                                      </p:cBhvr>
                                      <p:tavLst>
                                        <p:tav tm="0">
                                          <p:val>
                                            <p:strVal val="1+#ppt_h/2"/>
                                          </p:val>
                                        </p:tav>
                                        <p:tav tm="100000">
                                          <p:val>
                                            <p:strVal val="#ppt_y"/>
                                          </p:val>
                                        </p:tav>
                                      </p:tavLst>
                                    </p:anim>
                                  </p:childTnLst>
                                </p:cTn>
                              </p:par>
                            </p:childTnLst>
                          </p:cTn>
                        </p:par>
                        <p:par>
                          <p:cTn id="68" fill="hold" nodeType="afterGroup">
                            <p:stCondLst>
                              <p:cond delay="5000"/>
                            </p:stCondLst>
                            <p:childTnLst>
                              <p:par>
                                <p:cTn id="69" presetID="2" presetClass="entr" presetSubtype="6" fill="hold" grpId="0" nodeType="afterEffect">
                                  <p:stCondLst>
                                    <p:cond delay="0"/>
                                  </p:stCondLst>
                                  <p:childTnLst>
                                    <p:set>
                                      <p:cBhvr>
                                        <p:cTn id="70" dur="1" fill="hold">
                                          <p:stCondLst>
                                            <p:cond delay="0"/>
                                          </p:stCondLst>
                                        </p:cTn>
                                        <p:tgtEl>
                                          <p:spTgt spid="673865"/>
                                        </p:tgtEl>
                                        <p:attrNameLst>
                                          <p:attrName>style.visibility</p:attrName>
                                        </p:attrNameLst>
                                      </p:cBhvr>
                                      <p:to>
                                        <p:strVal val="visible"/>
                                      </p:to>
                                    </p:set>
                                    <p:anim calcmode="lin" valueType="num">
                                      <p:cBhvr additive="base">
                                        <p:cTn id="71" dur="500" fill="hold"/>
                                        <p:tgtEl>
                                          <p:spTgt spid="673865"/>
                                        </p:tgtEl>
                                        <p:attrNameLst>
                                          <p:attrName>ppt_x</p:attrName>
                                        </p:attrNameLst>
                                      </p:cBhvr>
                                      <p:tavLst>
                                        <p:tav tm="0">
                                          <p:val>
                                            <p:strVal val="1+#ppt_w/2"/>
                                          </p:val>
                                        </p:tav>
                                        <p:tav tm="100000">
                                          <p:val>
                                            <p:strVal val="#ppt_x"/>
                                          </p:val>
                                        </p:tav>
                                      </p:tavLst>
                                    </p:anim>
                                    <p:anim calcmode="lin" valueType="num">
                                      <p:cBhvr additive="base">
                                        <p:cTn id="72" dur="500" fill="hold"/>
                                        <p:tgtEl>
                                          <p:spTgt spid="6738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5" grpId="0" animBg="1"/>
      <p:bldP spid="673823" grpId="0" animBg="1"/>
      <p:bldP spid="673825" grpId="0" animBg="1"/>
      <p:bldP spid="673827" grpId="0" animBg="1"/>
      <p:bldP spid="673829" grpId="0" animBg="1"/>
      <p:bldP spid="67386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2"/>
          <p:cNvSpPr txBox="1">
            <a:spLocks noChangeArrowheads="1"/>
          </p:cNvSpPr>
          <p:nvPr/>
        </p:nvSpPr>
        <p:spPr bwMode="auto">
          <a:xfrm>
            <a:off x="1000125" y="500063"/>
            <a:ext cx="74549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3600">
                <a:solidFill>
                  <a:srgbClr val="FFFF00"/>
                </a:solidFill>
                <a:latin typeface="Arial" panose="020B0604020202020204" pitchFamily="34" charset="0"/>
              </a:rPr>
              <a:t>循环（单向）扫描调度算法</a:t>
            </a:r>
            <a:r>
              <a:rPr lang="en-US" altLang="zh-CN" sz="2800">
                <a:solidFill>
                  <a:srgbClr val="FFFF00"/>
                </a:solidFill>
              </a:rPr>
              <a:t>(CSCAN)</a:t>
            </a:r>
          </a:p>
        </p:txBody>
      </p:sp>
      <p:sp>
        <p:nvSpPr>
          <p:cNvPr id="70660" name="Text Box 3"/>
          <p:cNvSpPr txBox="1">
            <a:spLocks noChangeArrowheads="1"/>
          </p:cNvSpPr>
          <p:nvPr/>
        </p:nvSpPr>
        <p:spPr bwMode="auto">
          <a:xfrm>
            <a:off x="0" y="1196975"/>
            <a:ext cx="9144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800" dirty="0">
                <a:solidFill>
                  <a:srgbClr val="FFFF00"/>
                </a:solidFill>
                <a:latin typeface="楷体_GB2312" pitchFamily="49" charset="-122"/>
                <a:ea typeface="楷体_GB2312" pitchFamily="49" charset="-122"/>
              </a:rPr>
              <a:t>从</a:t>
            </a:r>
            <a:r>
              <a:rPr kumimoji="0" lang="en-US" altLang="zh-CN" sz="2800" dirty="0">
                <a:solidFill>
                  <a:srgbClr val="FFFF00"/>
                </a:solidFill>
                <a:latin typeface="楷体_GB2312" pitchFamily="49" charset="-122"/>
                <a:ea typeface="楷体_GB2312" pitchFamily="49" charset="-122"/>
              </a:rPr>
              <a:t>0</a:t>
            </a:r>
            <a:r>
              <a:rPr kumimoji="0" lang="zh-CN" altLang="en-US" sz="2800" dirty="0">
                <a:solidFill>
                  <a:srgbClr val="FFFF00"/>
                </a:solidFill>
                <a:latin typeface="楷体_GB2312" pitchFamily="49" charset="-122"/>
                <a:ea typeface="楷体_GB2312" pitchFamily="49" charset="-122"/>
              </a:rPr>
              <a:t>号柱面开始</a:t>
            </a:r>
            <a:r>
              <a:rPr kumimoji="0" lang="zh-CN" altLang="en-US" sz="2800" dirty="0">
                <a:solidFill>
                  <a:srgbClr val="FF0000"/>
                </a:solidFill>
                <a:latin typeface="楷体_GB2312" pitchFamily="49" charset="-122"/>
                <a:ea typeface="楷体_GB2312" pitchFamily="49" charset="-122"/>
              </a:rPr>
              <a:t>往里</a:t>
            </a:r>
            <a:r>
              <a:rPr kumimoji="0" lang="zh-CN" altLang="en-US" sz="2800" dirty="0">
                <a:solidFill>
                  <a:srgbClr val="FFFF00"/>
                </a:solidFill>
                <a:latin typeface="楷体_GB2312" pitchFamily="49" charset="-122"/>
                <a:ea typeface="楷体_GB2312" pitchFamily="49" charset="-122"/>
              </a:rPr>
              <a:t>移动磁臂，遇到有请求就进行处理，</a:t>
            </a:r>
            <a:r>
              <a:rPr kumimoji="0" lang="zh-CN" altLang="en-US" sz="2800" dirty="0">
                <a:latin typeface="楷体_GB2312" pitchFamily="49" charset="-122"/>
                <a:ea typeface="楷体_GB2312" pitchFamily="49" charset="-122"/>
              </a:rPr>
              <a:t>直到到达最后一个请求柱面。</a:t>
            </a:r>
          </a:p>
          <a:p>
            <a:pPr eaLnBrk="1" hangingPunct="1">
              <a:spcBef>
                <a:spcPct val="0"/>
              </a:spcBef>
              <a:buClrTx/>
              <a:buSzTx/>
              <a:buFontTx/>
              <a:buNone/>
            </a:pPr>
            <a:r>
              <a:rPr kumimoji="0" lang="zh-CN" altLang="en-US" sz="2800" dirty="0">
                <a:latin typeface="楷体_GB2312" pitchFamily="49" charset="-122"/>
                <a:ea typeface="楷体_GB2312" pitchFamily="49" charset="-122"/>
              </a:rPr>
              <a:t>移动臂立即带动磁头不做任何服务地快速</a:t>
            </a:r>
            <a:r>
              <a:rPr kumimoji="0" lang="zh-CN" altLang="en-US" sz="2800" dirty="0">
                <a:solidFill>
                  <a:srgbClr val="FFFF00"/>
                </a:solidFill>
                <a:latin typeface="楷体_GB2312" pitchFamily="49" charset="-122"/>
                <a:ea typeface="楷体_GB2312" pitchFamily="49" charset="-122"/>
              </a:rPr>
              <a:t>返回到</a:t>
            </a:r>
            <a:r>
              <a:rPr kumimoji="0" lang="en-US" altLang="zh-CN" sz="2800" dirty="0">
                <a:solidFill>
                  <a:srgbClr val="FFFF00"/>
                </a:solidFill>
                <a:latin typeface="楷体_GB2312" pitchFamily="49" charset="-122"/>
                <a:ea typeface="楷体_GB2312" pitchFamily="49" charset="-122"/>
              </a:rPr>
              <a:t>0</a:t>
            </a:r>
            <a:r>
              <a:rPr kumimoji="0" lang="zh-CN" altLang="en-US" sz="2800" dirty="0">
                <a:solidFill>
                  <a:srgbClr val="FFFF00"/>
                </a:solidFill>
                <a:latin typeface="楷体_GB2312" pitchFamily="49" charset="-122"/>
                <a:ea typeface="楷体_GB2312" pitchFamily="49" charset="-122"/>
              </a:rPr>
              <a:t>号柱面</a:t>
            </a:r>
            <a:r>
              <a:rPr kumimoji="0" lang="zh-CN" altLang="en-US" sz="2800" dirty="0">
                <a:latin typeface="楷体_GB2312" pitchFamily="49" charset="-122"/>
                <a:ea typeface="楷体_GB2312" pitchFamily="49" charset="-122"/>
              </a:rPr>
              <a:t>， 开始下一次扫描。 </a:t>
            </a:r>
          </a:p>
        </p:txBody>
      </p:sp>
      <p:sp>
        <p:nvSpPr>
          <p:cNvPr id="70661" name="Text Box 4"/>
          <p:cNvSpPr txBox="1">
            <a:spLocks noChangeArrowheads="1"/>
          </p:cNvSpPr>
          <p:nvPr/>
        </p:nvSpPr>
        <p:spPr bwMode="auto">
          <a:xfrm>
            <a:off x="2773363" y="41497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53</a:t>
            </a:r>
          </a:p>
        </p:txBody>
      </p:sp>
      <p:sp>
        <p:nvSpPr>
          <p:cNvPr id="70662" name="Line 5"/>
          <p:cNvSpPr>
            <a:spLocks noChangeShapeType="1"/>
          </p:cNvSpPr>
          <p:nvPr/>
        </p:nvSpPr>
        <p:spPr bwMode="auto">
          <a:xfrm>
            <a:off x="1476375" y="4532313"/>
            <a:ext cx="67691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3" name="Line 6"/>
          <p:cNvSpPr>
            <a:spLocks noChangeShapeType="1"/>
          </p:cNvSpPr>
          <p:nvPr/>
        </p:nvSpPr>
        <p:spPr bwMode="auto">
          <a:xfrm>
            <a:off x="1476375" y="4460875"/>
            <a:ext cx="0"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4" name="Line 7"/>
          <p:cNvSpPr>
            <a:spLocks noChangeShapeType="1"/>
          </p:cNvSpPr>
          <p:nvPr/>
        </p:nvSpPr>
        <p:spPr bwMode="auto">
          <a:xfrm>
            <a:off x="1909763"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5" name="Line 8"/>
          <p:cNvSpPr>
            <a:spLocks noChangeShapeType="1"/>
          </p:cNvSpPr>
          <p:nvPr/>
        </p:nvSpPr>
        <p:spPr bwMode="auto">
          <a:xfrm>
            <a:off x="2413000"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6" name="Line 9"/>
          <p:cNvSpPr>
            <a:spLocks noChangeShapeType="1"/>
          </p:cNvSpPr>
          <p:nvPr/>
        </p:nvSpPr>
        <p:spPr bwMode="auto">
          <a:xfrm>
            <a:off x="3349625"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7" name="Line 10"/>
          <p:cNvSpPr>
            <a:spLocks noChangeShapeType="1"/>
          </p:cNvSpPr>
          <p:nvPr/>
        </p:nvSpPr>
        <p:spPr bwMode="auto">
          <a:xfrm>
            <a:off x="3779838" y="44624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8" name="Line 11"/>
          <p:cNvSpPr>
            <a:spLocks noChangeShapeType="1"/>
          </p:cNvSpPr>
          <p:nvPr/>
        </p:nvSpPr>
        <p:spPr bwMode="auto">
          <a:xfrm>
            <a:off x="8029575"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9" name="Line 12"/>
          <p:cNvSpPr>
            <a:spLocks noChangeShapeType="1"/>
          </p:cNvSpPr>
          <p:nvPr/>
        </p:nvSpPr>
        <p:spPr bwMode="auto">
          <a:xfrm>
            <a:off x="6083300" y="4462463"/>
            <a:ext cx="0" cy="71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0" name="Line 13"/>
          <p:cNvSpPr>
            <a:spLocks noChangeShapeType="1"/>
          </p:cNvSpPr>
          <p:nvPr/>
        </p:nvSpPr>
        <p:spPr bwMode="auto">
          <a:xfrm>
            <a:off x="5508625"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1" name="Line 14"/>
          <p:cNvSpPr>
            <a:spLocks noChangeShapeType="1"/>
          </p:cNvSpPr>
          <p:nvPr/>
        </p:nvSpPr>
        <p:spPr bwMode="auto">
          <a:xfrm>
            <a:off x="4429125" y="4460875"/>
            <a:ext cx="0" cy="714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2" name="Text Box 15"/>
          <p:cNvSpPr txBox="1">
            <a:spLocks noChangeArrowheads="1"/>
          </p:cNvSpPr>
          <p:nvPr/>
        </p:nvSpPr>
        <p:spPr bwMode="auto">
          <a:xfrm>
            <a:off x="1333500" y="4149725"/>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0</a:t>
            </a:r>
          </a:p>
        </p:txBody>
      </p:sp>
      <p:sp>
        <p:nvSpPr>
          <p:cNvPr id="70673" name="Text Box 16"/>
          <p:cNvSpPr txBox="1">
            <a:spLocks noChangeArrowheads="1"/>
          </p:cNvSpPr>
          <p:nvPr/>
        </p:nvSpPr>
        <p:spPr bwMode="auto">
          <a:xfrm>
            <a:off x="1765300" y="41497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14</a:t>
            </a:r>
          </a:p>
        </p:txBody>
      </p:sp>
      <p:sp>
        <p:nvSpPr>
          <p:cNvPr id="70674" name="Text Box 17"/>
          <p:cNvSpPr txBox="1">
            <a:spLocks noChangeArrowheads="1"/>
          </p:cNvSpPr>
          <p:nvPr/>
        </p:nvSpPr>
        <p:spPr bwMode="auto">
          <a:xfrm>
            <a:off x="2268538" y="4171950"/>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37</a:t>
            </a:r>
          </a:p>
        </p:txBody>
      </p:sp>
      <p:sp>
        <p:nvSpPr>
          <p:cNvPr id="70675" name="Text Box 18"/>
          <p:cNvSpPr txBox="1">
            <a:spLocks noChangeArrowheads="1"/>
          </p:cNvSpPr>
          <p:nvPr/>
        </p:nvSpPr>
        <p:spPr bwMode="auto">
          <a:xfrm>
            <a:off x="3205163" y="41497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65</a:t>
            </a:r>
          </a:p>
        </p:txBody>
      </p:sp>
      <p:sp>
        <p:nvSpPr>
          <p:cNvPr id="70676" name="Text Box 19"/>
          <p:cNvSpPr txBox="1">
            <a:spLocks noChangeArrowheads="1"/>
          </p:cNvSpPr>
          <p:nvPr/>
        </p:nvSpPr>
        <p:spPr bwMode="auto">
          <a:xfrm>
            <a:off x="3635375" y="415131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67</a:t>
            </a:r>
          </a:p>
        </p:txBody>
      </p:sp>
      <p:sp>
        <p:nvSpPr>
          <p:cNvPr id="70677" name="Text Box 20"/>
          <p:cNvSpPr txBox="1">
            <a:spLocks noChangeArrowheads="1"/>
          </p:cNvSpPr>
          <p:nvPr/>
        </p:nvSpPr>
        <p:spPr bwMode="auto">
          <a:xfrm>
            <a:off x="4284663" y="4149725"/>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98</a:t>
            </a:r>
          </a:p>
        </p:txBody>
      </p:sp>
      <p:sp>
        <p:nvSpPr>
          <p:cNvPr id="70678" name="Text Box 21"/>
          <p:cNvSpPr txBox="1">
            <a:spLocks noChangeArrowheads="1"/>
          </p:cNvSpPr>
          <p:nvPr/>
        </p:nvSpPr>
        <p:spPr bwMode="auto">
          <a:xfrm>
            <a:off x="5292725" y="4149725"/>
            <a:ext cx="56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122</a:t>
            </a:r>
          </a:p>
        </p:txBody>
      </p:sp>
      <p:sp>
        <p:nvSpPr>
          <p:cNvPr id="70679" name="Text Box 22"/>
          <p:cNvSpPr txBox="1">
            <a:spLocks noChangeArrowheads="1"/>
          </p:cNvSpPr>
          <p:nvPr/>
        </p:nvSpPr>
        <p:spPr bwMode="auto">
          <a:xfrm>
            <a:off x="5867400" y="4151313"/>
            <a:ext cx="56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124</a:t>
            </a:r>
          </a:p>
        </p:txBody>
      </p:sp>
      <p:sp>
        <p:nvSpPr>
          <p:cNvPr id="70680" name="Text Box 23"/>
          <p:cNvSpPr txBox="1">
            <a:spLocks noChangeArrowheads="1"/>
          </p:cNvSpPr>
          <p:nvPr/>
        </p:nvSpPr>
        <p:spPr bwMode="auto">
          <a:xfrm>
            <a:off x="7813675" y="4149725"/>
            <a:ext cx="56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000"/>
              <a:t>183</a:t>
            </a:r>
          </a:p>
        </p:txBody>
      </p:sp>
      <p:sp>
        <p:nvSpPr>
          <p:cNvPr id="70681" name="Text Box 24"/>
          <p:cNvSpPr txBox="1">
            <a:spLocks noChangeArrowheads="1"/>
          </p:cNvSpPr>
          <p:nvPr/>
        </p:nvSpPr>
        <p:spPr bwMode="auto">
          <a:xfrm>
            <a:off x="179388" y="4171950"/>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t>磁道号：</a:t>
            </a:r>
          </a:p>
        </p:txBody>
      </p:sp>
      <p:sp>
        <p:nvSpPr>
          <p:cNvPr id="70682" name="Line 25"/>
          <p:cNvSpPr>
            <a:spLocks noChangeShapeType="1"/>
          </p:cNvSpPr>
          <p:nvPr/>
        </p:nvSpPr>
        <p:spPr bwMode="auto">
          <a:xfrm>
            <a:off x="2989263" y="4460875"/>
            <a:ext cx="0" cy="1444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3" name="Line 26"/>
          <p:cNvSpPr>
            <a:spLocks noChangeShapeType="1"/>
          </p:cNvSpPr>
          <p:nvPr/>
        </p:nvSpPr>
        <p:spPr bwMode="auto">
          <a:xfrm>
            <a:off x="8027988" y="4535488"/>
            <a:ext cx="0" cy="10795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4843" name="Line 27"/>
          <p:cNvSpPr>
            <a:spLocks noChangeShapeType="1"/>
          </p:cNvSpPr>
          <p:nvPr/>
        </p:nvSpPr>
        <p:spPr bwMode="auto">
          <a:xfrm>
            <a:off x="2987675" y="4606925"/>
            <a:ext cx="358775" cy="1428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5" name="Line 28"/>
          <p:cNvSpPr>
            <a:spLocks noChangeShapeType="1"/>
          </p:cNvSpPr>
          <p:nvPr/>
        </p:nvSpPr>
        <p:spPr bwMode="auto">
          <a:xfrm>
            <a:off x="3346450" y="4533900"/>
            <a:ext cx="0" cy="2159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4845" name="Line 29"/>
          <p:cNvSpPr>
            <a:spLocks noChangeShapeType="1"/>
          </p:cNvSpPr>
          <p:nvPr/>
        </p:nvSpPr>
        <p:spPr bwMode="auto">
          <a:xfrm>
            <a:off x="3346450" y="4749800"/>
            <a:ext cx="433388" cy="73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7" name="Line 30"/>
          <p:cNvSpPr>
            <a:spLocks noChangeShapeType="1"/>
          </p:cNvSpPr>
          <p:nvPr/>
        </p:nvSpPr>
        <p:spPr bwMode="auto">
          <a:xfrm>
            <a:off x="3779838" y="4533900"/>
            <a:ext cx="0" cy="2889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4847" name="Line 31"/>
          <p:cNvSpPr>
            <a:spLocks noChangeShapeType="1"/>
          </p:cNvSpPr>
          <p:nvPr/>
        </p:nvSpPr>
        <p:spPr bwMode="auto">
          <a:xfrm>
            <a:off x="3779838" y="4822825"/>
            <a:ext cx="64770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89" name="Line 32"/>
          <p:cNvSpPr>
            <a:spLocks noChangeShapeType="1"/>
          </p:cNvSpPr>
          <p:nvPr/>
        </p:nvSpPr>
        <p:spPr bwMode="auto">
          <a:xfrm>
            <a:off x="4427538" y="4533900"/>
            <a:ext cx="0" cy="504825"/>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0" name="Line 34"/>
          <p:cNvSpPr>
            <a:spLocks noChangeShapeType="1"/>
          </p:cNvSpPr>
          <p:nvPr/>
        </p:nvSpPr>
        <p:spPr bwMode="auto">
          <a:xfrm>
            <a:off x="5507038" y="4533900"/>
            <a:ext cx="0" cy="64928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1" name="Line 36"/>
          <p:cNvSpPr>
            <a:spLocks noChangeShapeType="1"/>
          </p:cNvSpPr>
          <p:nvPr/>
        </p:nvSpPr>
        <p:spPr bwMode="auto">
          <a:xfrm>
            <a:off x="6083300" y="4533900"/>
            <a:ext cx="0" cy="86518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2" name="Line 38"/>
          <p:cNvSpPr>
            <a:spLocks noChangeShapeType="1"/>
          </p:cNvSpPr>
          <p:nvPr/>
        </p:nvSpPr>
        <p:spPr bwMode="auto">
          <a:xfrm>
            <a:off x="2411413" y="4533900"/>
            <a:ext cx="1587" cy="1439863"/>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93" name="Line 39"/>
          <p:cNvSpPr>
            <a:spLocks noChangeShapeType="1"/>
          </p:cNvSpPr>
          <p:nvPr/>
        </p:nvSpPr>
        <p:spPr bwMode="auto">
          <a:xfrm>
            <a:off x="1906588" y="4533900"/>
            <a:ext cx="3175" cy="129540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65"/>
          <p:cNvGrpSpPr>
            <a:grpSpLocks/>
          </p:cNvGrpSpPr>
          <p:nvPr/>
        </p:nvGrpSpPr>
        <p:grpSpPr bwMode="auto">
          <a:xfrm>
            <a:off x="2987675" y="4532313"/>
            <a:ext cx="287338" cy="336550"/>
            <a:chOff x="1927" y="2750"/>
            <a:chExt cx="181" cy="212"/>
          </a:xfrm>
        </p:grpSpPr>
        <p:sp>
          <p:nvSpPr>
            <p:cNvPr id="70728" name="Oval 40"/>
            <p:cNvSpPr>
              <a:spLocks noChangeArrowheads="1"/>
            </p:cNvSpPr>
            <p:nvPr/>
          </p:nvSpPr>
          <p:spPr bwMode="auto">
            <a:xfrm>
              <a:off x="1927" y="2750"/>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29" name="Text Box 41"/>
            <p:cNvSpPr txBox="1">
              <a:spLocks noChangeArrowheads="1"/>
            </p:cNvSpPr>
            <p:nvPr/>
          </p:nvSpPr>
          <p:spPr bwMode="auto">
            <a:xfrm>
              <a:off x="1927" y="2750"/>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1</a:t>
              </a:r>
            </a:p>
          </p:txBody>
        </p:sp>
      </p:grpSp>
      <p:grpSp>
        <p:nvGrpSpPr>
          <p:cNvPr id="3" name="Group 66"/>
          <p:cNvGrpSpPr>
            <a:grpSpLocks/>
          </p:cNvGrpSpPr>
          <p:nvPr/>
        </p:nvGrpSpPr>
        <p:grpSpPr bwMode="auto">
          <a:xfrm>
            <a:off x="3421063" y="4605338"/>
            <a:ext cx="287337" cy="336550"/>
            <a:chOff x="2245" y="2840"/>
            <a:chExt cx="181" cy="212"/>
          </a:xfrm>
        </p:grpSpPr>
        <p:sp>
          <p:nvSpPr>
            <p:cNvPr id="70726" name="Oval 42"/>
            <p:cNvSpPr>
              <a:spLocks noChangeArrowheads="1"/>
            </p:cNvSpPr>
            <p:nvPr/>
          </p:nvSpPr>
          <p:spPr bwMode="auto">
            <a:xfrm>
              <a:off x="2245" y="2840"/>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27" name="Text Box 43"/>
            <p:cNvSpPr txBox="1">
              <a:spLocks noChangeArrowheads="1"/>
            </p:cNvSpPr>
            <p:nvPr/>
          </p:nvSpPr>
          <p:spPr bwMode="auto">
            <a:xfrm>
              <a:off x="2245" y="2840"/>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2</a:t>
              </a:r>
            </a:p>
          </p:txBody>
        </p:sp>
      </p:grpSp>
      <p:grpSp>
        <p:nvGrpSpPr>
          <p:cNvPr id="4" name="Group 67"/>
          <p:cNvGrpSpPr>
            <a:grpSpLocks/>
          </p:cNvGrpSpPr>
          <p:nvPr/>
        </p:nvGrpSpPr>
        <p:grpSpPr bwMode="auto">
          <a:xfrm>
            <a:off x="3852863" y="4748213"/>
            <a:ext cx="287337" cy="336550"/>
            <a:chOff x="2517" y="2931"/>
            <a:chExt cx="181" cy="212"/>
          </a:xfrm>
        </p:grpSpPr>
        <p:sp>
          <p:nvSpPr>
            <p:cNvPr id="70724" name="Oval 44"/>
            <p:cNvSpPr>
              <a:spLocks noChangeArrowheads="1"/>
            </p:cNvSpPr>
            <p:nvPr/>
          </p:nvSpPr>
          <p:spPr bwMode="auto">
            <a:xfrm>
              <a:off x="2517" y="2931"/>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25" name="Text Box 45"/>
            <p:cNvSpPr txBox="1">
              <a:spLocks noChangeArrowheads="1"/>
            </p:cNvSpPr>
            <p:nvPr/>
          </p:nvSpPr>
          <p:spPr bwMode="auto">
            <a:xfrm>
              <a:off x="2517" y="2931"/>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3</a:t>
              </a:r>
            </a:p>
          </p:txBody>
        </p:sp>
      </p:grpSp>
      <p:grpSp>
        <p:nvGrpSpPr>
          <p:cNvPr id="5" name="Group 68"/>
          <p:cNvGrpSpPr>
            <a:grpSpLocks/>
          </p:cNvGrpSpPr>
          <p:nvPr/>
        </p:nvGrpSpPr>
        <p:grpSpPr bwMode="auto">
          <a:xfrm>
            <a:off x="4427538" y="4919663"/>
            <a:ext cx="1079500" cy="336550"/>
            <a:chOff x="2834" y="2676"/>
            <a:chExt cx="680" cy="212"/>
          </a:xfrm>
        </p:grpSpPr>
        <p:sp>
          <p:nvSpPr>
            <p:cNvPr id="70721" name="Line 33"/>
            <p:cNvSpPr>
              <a:spLocks noChangeShapeType="1"/>
            </p:cNvSpPr>
            <p:nvPr/>
          </p:nvSpPr>
          <p:spPr bwMode="auto">
            <a:xfrm>
              <a:off x="2834" y="2751"/>
              <a:ext cx="680"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22" name="Oval 46"/>
            <p:cNvSpPr>
              <a:spLocks noChangeArrowheads="1"/>
            </p:cNvSpPr>
            <p:nvPr/>
          </p:nvSpPr>
          <p:spPr bwMode="auto">
            <a:xfrm>
              <a:off x="3061" y="2706"/>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23" name="Text Box 47"/>
            <p:cNvSpPr txBox="1">
              <a:spLocks noChangeArrowheads="1"/>
            </p:cNvSpPr>
            <p:nvPr/>
          </p:nvSpPr>
          <p:spPr bwMode="auto">
            <a:xfrm>
              <a:off x="3061" y="2676"/>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4</a:t>
              </a:r>
            </a:p>
          </p:txBody>
        </p:sp>
      </p:grpSp>
      <p:grpSp>
        <p:nvGrpSpPr>
          <p:cNvPr id="6" name="Group 69"/>
          <p:cNvGrpSpPr>
            <a:grpSpLocks/>
          </p:cNvGrpSpPr>
          <p:nvPr/>
        </p:nvGrpSpPr>
        <p:grpSpPr bwMode="auto">
          <a:xfrm>
            <a:off x="5507038" y="5062538"/>
            <a:ext cx="576262" cy="336550"/>
            <a:chOff x="3514" y="2766"/>
            <a:chExt cx="363" cy="212"/>
          </a:xfrm>
        </p:grpSpPr>
        <p:sp>
          <p:nvSpPr>
            <p:cNvPr id="70718" name="Line 35"/>
            <p:cNvSpPr>
              <a:spLocks noChangeShapeType="1"/>
            </p:cNvSpPr>
            <p:nvPr/>
          </p:nvSpPr>
          <p:spPr bwMode="auto">
            <a:xfrm>
              <a:off x="3514" y="2842"/>
              <a:ext cx="363"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9" name="Oval 48"/>
            <p:cNvSpPr>
              <a:spLocks noChangeArrowheads="1"/>
            </p:cNvSpPr>
            <p:nvPr/>
          </p:nvSpPr>
          <p:spPr bwMode="auto">
            <a:xfrm>
              <a:off x="3560" y="2796"/>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20" name="Text Box 49"/>
            <p:cNvSpPr txBox="1">
              <a:spLocks noChangeArrowheads="1"/>
            </p:cNvSpPr>
            <p:nvPr/>
          </p:nvSpPr>
          <p:spPr bwMode="auto">
            <a:xfrm>
              <a:off x="3560" y="2766"/>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5</a:t>
              </a:r>
            </a:p>
          </p:txBody>
        </p:sp>
      </p:grpSp>
      <p:grpSp>
        <p:nvGrpSpPr>
          <p:cNvPr id="7" name="Group 70"/>
          <p:cNvGrpSpPr>
            <a:grpSpLocks/>
          </p:cNvGrpSpPr>
          <p:nvPr/>
        </p:nvGrpSpPr>
        <p:grpSpPr bwMode="auto">
          <a:xfrm>
            <a:off x="6083300" y="5278438"/>
            <a:ext cx="1944688" cy="336550"/>
            <a:chOff x="3877" y="2902"/>
            <a:chExt cx="1225" cy="212"/>
          </a:xfrm>
        </p:grpSpPr>
        <p:sp>
          <p:nvSpPr>
            <p:cNvPr id="70715" name="Line 37"/>
            <p:cNvSpPr>
              <a:spLocks noChangeShapeType="1"/>
            </p:cNvSpPr>
            <p:nvPr/>
          </p:nvSpPr>
          <p:spPr bwMode="auto">
            <a:xfrm>
              <a:off x="3877" y="2978"/>
              <a:ext cx="1225"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6" name="Oval 50"/>
            <p:cNvSpPr>
              <a:spLocks noChangeArrowheads="1"/>
            </p:cNvSpPr>
            <p:nvPr/>
          </p:nvSpPr>
          <p:spPr bwMode="auto">
            <a:xfrm>
              <a:off x="4195" y="2932"/>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17" name="Text Box 51"/>
            <p:cNvSpPr txBox="1">
              <a:spLocks noChangeArrowheads="1"/>
            </p:cNvSpPr>
            <p:nvPr/>
          </p:nvSpPr>
          <p:spPr bwMode="auto">
            <a:xfrm>
              <a:off x="4195" y="2902"/>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6</a:t>
              </a:r>
            </a:p>
          </p:txBody>
        </p:sp>
      </p:grpSp>
      <p:sp>
        <p:nvSpPr>
          <p:cNvPr id="674868" name="Line 52"/>
          <p:cNvSpPr>
            <a:spLocks noChangeShapeType="1"/>
          </p:cNvSpPr>
          <p:nvPr/>
        </p:nvSpPr>
        <p:spPr bwMode="auto">
          <a:xfrm flipH="1">
            <a:off x="1477963" y="5613400"/>
            <a:ext cx="6551612" cy="0"/>
          </a:xfrm>
          <a:prstGeom prst="line">
            <a:avLst/>
          </a:prstGeom>
          <a:noFill/>
          <a:ln w="38100">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Group 71"/>
          <p:cNvGrpSpPr>
            <a:grpSpLocks/>
          </p:cNvGrpSpPr>
          <p:nvPr/>
        </p:nvGrpSpPr>
        <p:grpSpPr bwMode="auto">
          <a:xfrm>
            <a:off x="1477963" y="5565775"/>
            <a:ext cx="431800" cy="336550"/>
            <a:chOff x="976" y="3083"/>
            <a:chExt cx="272" cy="212"/>
          </a:xfrm>
        </p:grpSpPr>
        <p:sp>
          <p:nvSpPr>
            <p:cNvPr id="70712" name="Line 53"/>
            <p:cNvSpPr>
              <a:spLocks noChangeShapeType="1"/>
            </p:cNvSpPr>
            <p:nvPr/>
          </p:nvSpPr>
          <p:spPr bwMode="auto">
            <a:xfrm>
              <a:off x="976" y="3113"/>
              <a:ext cx="272" cy="13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3" name="Oval 55"/>
            <p:cNvSpPr>
              <a:spLocks noChangeArrowheads="1"/>
            </p:cNvSpPr>
            <p:nvPr/>
          </p:nvSpPr>
          <p:spPr bwMode="auto">
            <a:xfrm>
              <a:off x="1021" y="3113"/>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14" name="Text Box 56"/>
            <p:cNvSpPr txBox="1">
              <a:spLocks noChangeArrowheads="1"/>
            </p:cNvSpPr>
            <p:nvPr/>
          </p:nvSpPr>
          <p:spPr bwMode="auto">
            <a:xfrm>
              <a:off x="1021" y="3083"/>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7</a:t>
              </a:r>
            </a:p>
          </p:txBody>
        </p:sp>
      </p:grpSp>
      <p:grpSp>
        <p:nvGrpSpPr>
          <p:cNvPr id="9" name="Group 72"/>
          <p:cNvGrpSpPr>
            <a:grpSpLocks/>
          </p:cNvGrpSpPr>
          <p:nvPr/>
        </p:nvGrpSpPr>
        <p:grpSpPr bwMode="auto">
          <a:xfrm>
            <a:off x="1909763" y="5710238"/>
            <a:ext cx="503237" cy="336550"/>
            <a:chOff x="1248" y="3174"/>
            <a:chExt cx="317" cy="212"/>
          </a:xfrm>
        </p:grpSpPr>
        <p:sp>
          <p:nvSpPr>
            <p:cNvPr id="70709" name="Line 54"/>
            <p:cNvSpPr>
              <a:spLocks noChangeShapeType="1"/>
            </p:cNvSpPr>
            <p:nvPr/>
          </p:nvSpPr>
          <p:spPr bwMode="auto">
            <a:xfrm>
              <a:off x="1248" y="3249"/>
              <a:ext cx="317" cy="9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10" name="Oval 57"/>
            <p:cNvSpPr>
              <a:spLocks noChangeArrowheads="1"/>
            </p:cNvSpPr>
            <p:nvPr/>
          </p:nvSpPr>
          <p:spPr bwMode="auto">
            <a:xfrm>
              <a:off x="1293" y="3204"/>
              <a:ext cx="181" cy="182"/>
            </a:xfrm>
            <a:prstGeom prst="ellipse">
              <a:avLst/>
            </a:prstGeom>
            <a:solidFill>
              <a:schemeClr val="accent1"/>
            </a:solidFill>
            <a:ln>
              <a:noFill/>
            </a:ln>
            <a:extLst>
              <a:ext uri="{91240B29-F687-4F45-9708-019B960494DF}">
                <a14:hiddenLine xmlns:a14="http://schemas.microsoft.com/office/drawing/2010/main" w="38100" algn="ctr">
                  <a:solidFill>
                    <a:srgbClr val="000000"/>
                  </a:solidFill>
                  <a:round/>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
          <p:nvSpPr>
            <p:cNvPr id="70711" name="Text Box 58"/>
            <p:cNvSpPr txBox="1">
              <a:spLocks noChangeArrowheads="1"/>
            </p:cNvSpPr>
            <p:nvPr/>
          </p:nvSpPr>
          <p:spPr bwMode="auto">
            <a:xfrm>
              <a:off x="1293" y="3174"/>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600">
                  <a:solidFill>
                    <a:srgbClr val="000000"/>
                  </a:solidFill>
                </a:rPr>
                <a:t>8</a:t>
              </a:r>
            </a:p>
          </p:txBody>
        </p:sp>
      </p:grpSp>
      <p:grpSp>
        <p:nvGrpSpPr>
          <p:cNvPr id="10" name="Group 73"/>
          <p:cNvGrpSpPr>
            <a:grpSpLocks/>
          </p:cNvGrpSpPr>
          <p:nvPr/>
        </p:nvGrpSpPr>
        <p:grpSpPr bwMode="auto">
          <a:xfrm>
            <a:off x="3205163" y="5899150"/>
            <a:ext cx="3582987" cy="457200"/>
            <a:chOff x="2064" y="3293"/>
            <a:chExt cx="2085" cy="288"/>
          </a:xfrm>
        </p:grpSpPr>
        <p:sp>
          <p:nvSpPr>
            <p:cNvPr id="70707" name="Line 59"/>
            <p:cNvSpPr>
              <a:spLocks noChangeShapeType="1"/>
            </p:cNvSpPr>
            <p:nvPr/>
          </p:nvSpPr>
          <p:spPr bwMode="auto">
            <a:xfrm flipH="1" flipV="1">
              <a:off x="2064" y="3475"/>
              <a:ext cx="452"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708" name="Text Box 60"/>
            <p:cNvSpPr txBox="1">
              <a:spLocks noChangeArrowheads="1"/>
            </p:cNvSpPr>
            <p:nvPr/>
          </p:nvSpPr>
          <p:spPr bwMode="auto">
            <a:xfrm>
              <a:off x="2517" y="3293"/>
              <a:ext cx="16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2400">
                  <a:latin typeface="Arial" panose="020B0604020202020204" pitchFamily="34" charset="0"/>
                </a:rPr>
                <a:t>快速返回到</a:t>
              </a:r>
              <a:r>
                <a:rPr kumimoji="0" lang="en-US" altLang="zh-CN" sz="2400">
                  <a:latin typeface="Arial" panose="020B0604020202020204" pitchFamily="34" charset="0"/>
                </a:rPr>
                <a:t>0</a:t>
              </a:r>
              <a:r>
                <a:rPr kumimoji="0" lang="zh-CN" altLang="en-US" sz="2400">
                  <a:latin typeface="Arial" panose="020B0604020202020204" pitchFamily="34" charset="0"/>
                </a:rPr>
                <a:t>号柱面</a:t>
              </a:r>
            </a:p>
          </p:txBody>
        </p:sp>
      </p:grpSp>
      <p:sp>
        <p:nvSpPr>
          <p:cNvPr id="70704" name="Text Box 62"/>
          <p:cNvSpPr txBox="1">
            <a:spLocks noChangeArrowheads="1"/>
          </p:cNvSpPr>
          <p:nvPr/>
        </p:nvSpPr>
        <p:spPr bwMode="auto">
          <a:xfrm>
            <a:off x="1403350" y="0"/>
            <a:ext cx="6624638" cy="519113"/>
          </a:xfrm>
          <a:prstGeom prst="rect">
            <a:avLst/>
          </a:prstGeom>
          <a:solidFill>
            <a:srgbClr val="FFEB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98</a:t>
            </a:r>
            <a:r>
              <a:rPr lang="zh-CN" altLang="en-US" sz="2800">
                <a:solidFill>
                  <a:srgbClr val="000000"/>
                </a:solidFill>
              </a:rPr>
              <a:t>、</a:t>
            </a:r>
            <a:r>
              <a:rPr lang="en-US" altLang="zh-CN" sz="2800">
                <a:solidFill>
                  <a:srgbClr val="000000"/>
                </a:solidFill>
              </a:rPr>
              <a:t>183</a:t>
            </a:r>
            <a:r>
              <a:rPr lang="zh-CN" altLang="en-US" sz="2800">
                <a:solidFill>
                  <a:srgbClr val="000000"/>
                </a:solidFill>
              </a:rPr>
              <a:t>、</a:t>
            </a:r>
            <a:r>
              <a:rPr lang="en-US" altLang="zh-CN" sz="2800">
                <a:solidFill>
                  <a:srgbClr val="000000"/>
                </a:solidFill>
              </a:rPr>
              <a:t>37</a:t>
            </a:r>
            <a:r>
              <a:rPr lang="zh-CN" altLang="en-US" sz="2800">
                <a:solidFill>
                  <a:srgbClr val="000000"/>
                </a:solidFill>
              </a:rPr>
              <a:t>、</a:t>
            </a:r>
            <a:r>
              <a:rPr lang="en-US" altLang="zh-CN" sz="2800">
                <a:solidFill>
                  <a:srgbClr val="000000"/>
                </a:solidFill>
              </a:rPr>
              <a:t>122</a:t>
            </a:r>
            <a:r>
              <a:rPr lang="zh-CN" altLang="en-US" sz="2800">
                <a:solidFill>
                  <a:srgbClr val="000000"/>
                </a:solidFill>
              </a:rPr>
              <a:t>、</a:t>
            </a:r>
            <a:r>
              <a:rPr lang="en-US" altLang="zh-CN" sz="2800">
                <a:solidFill>
                  <a:srgbClr val="000000"/>
                </a:solidFill>
              </a:rPr>
              <a:t>14</a:t>
            </a:r>
            <a:r>
              <a:rPr lang="zh-CN" altLang="en-US" sz="2800">
                <a:solidFill>
                  <a:srgbClr val="000000"/>
                </a:solidFill>
              </a:rPr>
              <a:t>、</a:t>
            </a:r>
            <a:r>
              <a:rPr lang="en-US" altLang="zh-CN" sz="2800">
                <a:solidFill>
                  <a:srgbClr val="000000"/>
                </a:solidFill>
              </a:rPr>
              <a:t>124</a:t>
            </a:r>
            <a:r>
              <a:rPr lang="zh-CN" altLang="en-US" sz="2800">
                <a:solidFill>
                  <a:srgbClr val="000000"/>
                </a:solidFill>
              </a:rPr>
              <a:t>、</a:t>
            </a:r>
            <a:r>
              <a:rPr lang="en-US" altLang="zh-CN" sz="2800">
                <a:solidFill>
                  <a:srgbClr val="000000"/>
                </a:solidFill>
              </a:rPr>
              <a:t>65</a:t>
            </a:r>
            <a:r>
              <a:rPr lang="zh-CN" altLang="en-US" sz="2800">
                <a:solidFill>
                  <a:srgbClr val="000000"/>
                </a:solidFill>
              </a:rPr>
              <a:t>、</a:t>
            </a:r>
            <a:r>
              <a:rPr lang="en-US" altLang="zh-CN" sz="2800">
                <a:solidFill>
                  <a:srgbClr val="000000"/>
                </a:solidFill>
              </a:rPr>
              <a:t>67</a:t>
            </a:r>
            <a:r>
              <a:rPr lang="zh-CN" altLang="en-US" sz="2800">
                <a:solidFill>
                  <a:srgbClr val="000000"/>
                </a:solidFill>
              </a:rPr>
              <a:t>。</a:t>
            </a:r>
          </a:p>
        </p:txBody>
      </p:sp>
      <p:sp>
        <p:nvSpPr>
          <p:cNvPr id="674879" name="Text Box 63"/>
          <p:cNvSpPr txBox="1">
            <a:spLocks noChangeArrowheads="1"/>
          </p:cNvSpPr>
          <p:nvPr/>
        </p:nvSpPr>
        <p:spPr bwMode="auto">
          <a:xfrm>
            <a:off x="2627313" y="3141663"/>
            <a:ext cx="4075112" cy="457200"/>
          </a:xfrm>
          <a:prstGeom prst="rect">
            <a:avLst/>
          </a:prstGeom>
          <a:solidFill>
            <a:srgbClr val="F8F8F8"/>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2400">
                <a:solidFill>
                  <a:schemeClr val="bg2"/>
                </a:solidFill>
              </a:rPr>
              <a:t>总共划过的磁道数</a:t>
            </a:r>
            <a:r>
              <a:rPr kumimoji="0" lang="en-US" altLang="zh-CN" sz="2400">
                <a:solidFill>
                  <a:schemeClr val="bg2"/>
                </a:solidFill>
              </a:rPr>
              <a:t>=</a:t>
            </a:r>
            <a:r>
              <a:rPr kumimoji="0" lang="en-US" altLang="zh-CN" sz="2400">
                <a:solidFill>
                  <a:srgbClr val="FF0000"/>
                </a:solidFill>
              </a:rPr>
              <a:t>350</a:t>
            </a:r>
          </a:p>
        </p:txBody>
      </p:sp>
      <p:sp>
        <p:nvSpPr>
          <p:cNvPr id="70706" name="Oval 64"/>
          <p:cNvSpPr>
            <a:spLocks noChangeArrowheads="1"/>
          </p:cNvSpPr>
          <p:nvPr/>
        </p:nvSpPr>
        <p:spPr bwMode="auto">
          <a:xfrm>
            <a:off x="2916238" y="4460875"/>
            <a:ext cx="144462" cy="144463"/>
          </a:xfrm>
          <a:prstGeom prst="ellipse">
            <a:avLst/>
          </a:prstGeom>
          <a:solidFill>
            <a:schemeClr val="hlink"/>
          </a:solidFill>
          <a:ln w="12700" cap="sq">
            <a:solidFill>
              <a:schemeClr val="tx1"/>
            </a:solidFill>
            <a:round/>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4843"/>
                                        </p:tgtEl>
                                        <p:attrNameLst>
                                          <p:attrName>style.visibility</p:attrName>
                                        </p:attrNameLst>
                                      </p:cBhvr>
                                      <p:to>
                                        <p:strVal val="visible"/>
                                      </p:to>
                                    </p:set>
                                    <p:animEffect transition="in" filter="fade">
                                      <p:cBhvr>
                                        <p:cTn id="7" dur="2000"/>
                                        <p:tgtEl>
                                          <p:spTgt spid="6748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4845"/>
                                        </p:tgtEl>
                                        <p:attrNameLst>
                                          <p:attrName>style.visibility</p:attrName>
                                        </p:attrNameLst>
                                      </p:cBhvr>
                                      <p:to>
                                        <p:strVal val="visible"/>
                                      </p:to>
                                    </p:set>
                                    <p:animEffect transition="in" filter="fade">
                                      <p:cBhvr>
                                        <p:cTn id="17" dur="2000"/>
                                        <p:tgtEl>
                                          <p:spTgt spid="6748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4847"/>
                                        </p:tgtEl>
                                        <p:attrNameLst>
                                          <p:attrName>style.visibility</p:attrName>
                                        </p:attrNameLst>
                                      </p:cBhvr>
                                      <p:to>
                                        <p:strVal val="visible"/>
                                      </p:to>
                                    </p:set>
                                    <p:animEffect transition="in" filter="fade">
                                      <p:cBhvr>
                                        <p:cTn id="27" dur="2000"/>
                                        <p:tgtEl>
                                          <p:spTgt spid="6748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20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20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2000"/>
                                        <p:tgtEl>
                                          <p:spTgt spid="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5" presetClass="entr" presetSubtype="0" fill="hold" grpId="0" nodeType="clickEffect">
                                  <p:stCondLst>
                                    <p:cond delay="0"/>
                                  </p:stCondLst>
                                  <p:childTnLst>
                                    <p:set>
                                      <p:cBhvr>
                                        <p:cTn id="51" dur="1" fill="hold">
                                          <p:stCondLst>
                                            <p:cond delay="0"/>
                                          </p:stCondLst>
                                        </p:cTn>
                                        <p:tgtEl>
                                          <p:spTgt spid="674868"/>
                                        </p:tgtEl>
                                        <p:attrNameLst>
                                          <p:attrName>style.visibility</p:attrName>
                                        </p:attrNameLst>
                                      </p:cBhvr>
                                      <p:to>
                                        <p:strVal val="visible"/>
                                      </p:to>
                                    </p:set>
                                    <p:anim calcmode="lin" valueType="num">
                                      <p:cBhvr>
                                        <p:cTn id="52" dur="1000" fill="hold"/>
                                        <p:tgtEl>
                                          <p:spTgt spid="674868"/>
                                        </p:tgtEl>
                                        <p:attrNameLst>
                                          <p:attrName>ppt_w</p:attrName>
                                        </p:attrNameLst>
                                      </p:cBhvr>
                                      <p:tavLst>
                                        <p:tav tm="0">
                                          <p:val>
                                            <p:strVal val="#ppt_w*0.70"/>
                                          </p:val>
                                        </p:tav>
                                        <p:tav tm="100000">
                                          <p:val>
                                            <p:strVal val="#ppt_w"/>
                                          </p:val>
                                        </p:tav>
                                      </p:tavLst>
                                    </p:anim>
                                    <p:anim calcmode="lin" valueType="num">
                                      <p:cBhvr>
                                        <p:cTn id="53" dur="1000" fill="hold"/>
                                        <p:tgtEl>
                                          <p:spTgt spid="674868"/>
                                        </p:tgtEl>
                                        <p:attrNameLst>
                                          <p:attrName>ppt_h</p:attrName>
                                        </p:attrNameLst>
                                      </p:cBhvr>
                                      <p:tavLst>
                                        <p:tav tm="0">
                                          <p:val>
                                            <p:strVal val="#ppt_h"/>
                                          </p:val>
                                        </p:tav>
                                        <p:tav tm="100000">
                                          <p:val>
                                            <p:strVal val="#ppt_h"/>
                                          </p:val>
                                        </p:tav>
                                      </p:tavLst>
                                    </p:anim>
                                    <p:animEffect transition="in" filter="fade">
                                      <p:cBhvr>
                                        <p:cTn id="54" dur="1000"/>
                                        <p:tgtEl>
                                          <p:spTgt spid="674868"/>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dissolve">
                                      <p:cBhvr>
                                        <p:cTn id="59" dur="500"/>
                                        <p:tgtEl>
                                          <p:spTgt spid="1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0" presetClass="entr" presetSubtype="0" fill="hold" nodeType="click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2000"/>
                                        <p:tgtEl>
                                          <p:spTgt spid="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2000"/>
                                        <p:tgtEl>
                                          <p:spTgt spid="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674879"/>
                                        </p:tgtEl>
                                        <p:attrNameLst>
                                          <p:attrName>style.visibility</p:attrName>
                                        </p:attrNameLst>
                                      </p:cBhvr>
                                      <p:to>
                                        <p:strVal val="visible"/>
                                      </p:to>
                                    </p:set>
                                    <p:animEffect transition="in" filter="blinds(horizontal)">
                                      <p:cBhvr>
                                        <p:cTn id="74" dur="500"/>
                                        <p:tgtEl>
                                          <p:spTgt spid="674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43" grpId="0" animBg="1"/>
      <p:bldP spid="674845" grpId="0" animBg="1"/>
      <p:bldP spid="674847" grpId="0" animBg="1"/>
      <p:bldP spid="674868" grpId="0" animBg="1"/>
      <p:bldP spid="67487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a:xfrm>
            <a:off x="250825" y="188913"/>
            <a:ext cx="8424863" cy="549275"/>
          </a:xfrm>
        </p:spPr>
        <p:txBody>
          <a:bodyPr/>
          <a:lstStyle/>
          <a:p>
            <a:pPr eaLnBrk="1" hangingPunct="1"/>
            <a:r>
              <a:rPr lang="en-US" altLang="zh-CN" sz="3600" b="1" smtClean="0">
                <a:solidFill>
                  <a:srgbClr val="FFFF00"/>
                </a:solidFill>
              </a:rPr>
              <a:t>     FCFS</a:t>
            </a:r>
            <a:r>
              <a:rPr lang="zh-CN" altLang="en-US" sz="3600" b="1" smtClean="0">
                <a:solidFill>
                  <a:srgbClr val="FFFF00"/>
                </a:solidFill>
              </a:rPr>
              <a:t>调度算法           </a:t>
            </a:r>
            <a:r>
              <a:rPr lang="en-US" altLang="zh-CN" sz="3600" b="1" smtClean="0">
                <a:solidFill>
                  <a:srgbClr val="FFFF00"/>
                </a:solidFill>
              </a:rPr>
              <a:t>SSTF</a:t>
            </a:r>
            <a:r>
              <a:rPr lang="zh-CN" altLang="en-US" sz="3600" b="1" smtClean="0">
                <a:solidFill>
                  <a:srgbClr val="FFFF00"/>
                </a:solidFill>
              </a:rPr>
              <a:t>调度算法</a:t>
            </a:r>
          </a:p>
        </p:txBody>
      </p:sp>
      <p:graphicFrame>
        <p:nvGraphicFramePr>
          <p:cNvPr id="676963" name="Group 99"/>
          <p:cNvGraphicFramePr>
            <a:graphicFrameLocks noGrp="1"/>
          </p:cNvGraphicFramePr>
          <p:nvPr>
            <p:ph sz="half" idx="1"/>
          </p:nvPr>
        </p:nvGraphicFramePr>
        <p:xfrm>
          <a:off x="755650" y="765175"/>
          <a:ext cx="3313113" cy="4937352"/>
        </p:xfrm>
        <a:graphic>
          <a:graphicData uri="http://schemas.openxmlformats.org/drawingml/2006/table">
            <a:tbl>
              <a:tblPr/>
              <a:tblGrid>
                <a:gridCol w="1584325">
                  <a:extLst>
                    <a:ext uri="{9D8B030D-6E8A-4147-A177-3AD203B41FA5}">
                      <a16:colId xmlns:a16="http://schemas.microsoft.com/office/drawing/2014/main" val="20000"/>
                    </a:ext>
                  </a:extLst>
                </a:gridCol>
                <a:gridCol w="1728788">
                  <a:extLst>
                    <a:ext uri="{9D8B030D-6E8A-4147-A177-3AD203B41FA5}">
                      <a16:colId xmlns:a16="http://schemas.microsoft.com/office/drawing/2014/main" val="20001"/>
                    </a:ext>
                  </a:extLst>
                </a:gridCol>
              </a:tblGrid>
              <a:tr h="457144">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100</a:t>
                      </a:r>
                      <a:r>
                        <a:rPr kumimoji="1" lang="zh-CN" altLang="en-US"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道开始</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10000"/>
                  </a:ext>
                </a:extLst>
              </a:tr>
              <a:tr h="457144">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磁道</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移动距离</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45</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19</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21</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72</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70</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112</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184</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146</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7144">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平均寻道长度：</a:t>
                      </a:r>
                      <a:r>
                        <a:rPr kumimoji="1" lang="en-US" altLang="zh-CN" sz="24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rPr>
                        <a:t>55.3</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graphicFrame>
        <p:nvGraphicFramePr>
          <p:cNvPr id="676964" name="Group 100"/>
          <p:cNvGraphicFramePr>
            <a:graphicFrameLocks noGrp="1"/>
          </p:cNvGraphicFramePr>
          <p:nvPr>
            <p:ph sz="half" idx="2"/>
          </p:nvPr>
        </p:nvGraphicFramePr>
        <p:xfrm>
          <a:off x="5076825" y="765175"/>
          <a:ext cx="3095625" cy="4937352"/>
        </p:xfrm>
        <a:graphic>
          <a:graphicData uri="http://schemas.openxmlformats.org/drawingml/2006/table">
            <a:tbl>
              <a:tblPr/>
              <a:tblGrid>
                <a:gridCol w="1511300">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tblGrid>
              <a:tr h="457144">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100</a:t>
                      </a:r>
                      <a:r>
                        <a:rPr kumimoji="1" lang="zh-CN" altLang="en-US"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道开始</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hMerge="1">
                  <a:txBody>
                    <a:bodyPr/>
                    <a:lstStyle/>
                    <a:p>
                      <a:endParaRPr lang="zh-CN" altLang="en-US"/>
                    </a:p>
                  </a:txBody>
                  <a:tcPr/>
                </a:tc>
                <a:extLst>
                  <a:ext uri="{0D108BD9-81ED-4DB2-BD59-A6C34878D82A}">
                    <a16:rowId xmlns:a16="http://schemas.microsoft.com/office/drawing/2014/main" val="10000"/>
                  </a:ext>
                </a:extLst>
              </a:tr>
              <a:tr h="457144">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磁道</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移动距离</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32</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132</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160</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618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184</a:t>
                      </a:r>
                    </a:p>
                  </a:txBody>
                  <a:tcPr marT="45703" marB="45703"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p>
                  </a:txBody>
                  <a:tcPr marT="45703" marB="45703"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57144">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平均寻道长度：</a:t>
                      </a:r>
                      <a:r>
                        <a:rPr kumimoji="1" lang="en-US" altLang="zh-CN" sz="24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rPr>
                        <a:t>27.5</a:t>
                      </a: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
        <p:nvSpPr>
          <p:cNvPr id="72786" name="Text Box 101"/>
          <p:cNvSpPr txBox="1">
            <a:spLocks noChangeArrowheads="1"/>
          </p:cNvSpPr>
          <p:nvPr/>
        </p:nvSpPr>
        <p:spPr bwMode="auto">
          <a:xfrm>
            <a:off x="2051050" y="5949950"/>
            <a:ext cx="4679950" cy="519113"/>
          </a:xfrm>
          <a:prstGeom prst="rect">
            <a:avLst/>
          </a:prstGeom>
          <a:solidFill>
            <a:srgbClr val="FFE1F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55,58,39,18,90,160,150,38,184</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76964"/>
                                        </p:tgtEl>
                                        <p:attrNameLst>
                                          <p:attrName>style.visibility</p:attrName>
                                        </p:attrNameLst>
                                      </p:cBhvr>
                                      <p:to>
                                        <p:strVal val="visible"/>
                                      </p:to>
                                    </p:set>
                                    <p:animEffect transition="in" filter="blinds(horizontal)">
                                      <p:cBhvr>
                                        <p:cTn id="7" dur="500"/>
                                        <p:tgtEl>
                                          <p:spTgt spid="676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a:xfrm>
            <a:off x="755650" y="260350"/>
            <a:ext cx="8027988" cy="549275"/>
          </a:xfrm>
        </p:spPr>
        <p:txBody>
          <a:bodyPr/>
          <a:lstStyle/>
          <a:p>
            <a:pPr eaLnBrk="1" hangingPunct="1"/>
            <a:r>
              <a:rPr lang="en-US" altLang="zh-CN" sz="3600" b="1" smtClean="0">
                <a:solidFill>
                  <a:srgbClr val="FFFF00"/>
                </a:solidFill>
              </a:rPr>
              <a:t>SCAN</a:t>
            </a:r>
            <a:r>
              <a:rPr lang="zh-CN" altLang="en-US" sz="3600" b="1" smtClean="0">
                <a:solidFill>
                  <a:srgbClr val="FFFF00"/>
                </a:solidFill>
              </a:rPr>
              <a:t>调度算法</a:t>
            </a:r>
            <a:r>
              <a:rPr lang="zh-CN" altLang="en-US" sz="3600" smtClean="0"/>
              <a:t>           </a:t>
            </a:r>
            <a:r>
              <a:rPr lang="en-US" altLang="zh-CN" sz="3600" b="1" smtClean="0">
                <a:solidFill>
                  <a:srgbClr val="FFFF00"/>
                </a:solidFill>
              </a:rPr>
              <a:t>CSCAN</a:t>
            </a:r>
            <a:r>
              <a:rPr lang="zh-CN" altLang="en-US" sz="3600" b="1" smtClean="0">
                <a:solidFill>
                  <a:srgbClr val="FFFF00"/>
                </a:solidFill>
              </a:rPr>
              <a:t>调度算法</a:t>
            </a:r>
          </a:p>
        </p:txBody>
      </p:sp>
      <p:graphicFrame>
        <p:nvGraphicFramePr>
          <p:cNvPr id="677982" name="Group 94"/>
          <p:cNvGraphicFramePr>
            <a:graphicFrameLocks noGrp="1"/>
          </p:cNvGraphicFramePr>
          <p:nvPr>
            <p:ph sz="half" idx="1"/>
          </p:nvPr>
        </p:nvGraphicFramePr>
        <p:xfrm>
          <a:off x="755650" y="765175"/>
          <a:ext cx="3240088" cy="4876800"/>
        </p:xfrm>
        <a:graphic>
          <a:graphicData uri="http://schemas.openxmlformats.org/drawingml/2006/table">
            <a:tbl>
              <a:tblPr/>
              <a:tblGrid>
                <a:gridCol w="1573213">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tblGrid>
              <a:tr h="312738">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100</a:t>
                      </a:r>
                      <a:r>
                        <a:rPr kumimoji="1" lang="zh-CN" altLang="en-US"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道开始，增加方向</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tc hMerge="1">
                  <a:txBody>
                    <a:bodyPr/>
                    <a:lstStyle/>
                    <a:p>
                      <a:endParaRPr lang="zh-CN" altLang="en-US"/>
                    </a:p>
                  </a:txBody>
                  <a:tcPr/>
                </a:tc>
                <a:extLst>
                  <a:ext uri="{0D108BD9-81ED-4DB2-BD59-A6C34878D82A}">
                    <a16:rowId xmlns:a16="http://schemas.microsoft.com/office/drawing/2014/main" val="10000"/>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0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磁道</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0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移动距离</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extLst>
                  <a:ext uri="{0D108BD9-81ED-4DB2-BD59-A6C34878D82A}">
                    <a16:rowId xmlns:a16="http://schemas.microsoft.com/office/drawing/2014/main" val="10001"/>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150">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平均寻道长度：</a:t>
                      </a:r>
                      <a:r>
                        <a:rPr kumimoji="1" lang="en-US" altLang="zh-CN" sz="2400" b="1" i="0" u="none" strike="noStrike" cap="none" normalizeH="0" baseline="0" dirty="0" smtClean="0">
                          <a:ln>
                            <a:noFill/>
                          </a:ln>
                          <a:solidFill>
                            <a:srgbClr val="FFFF00"/>
                          </a:solidFill>
                          <a:effectLst/>
                          <a:latin typeface="Times New Roman" panose="02020603050405020304" pitchFamily="18" charset="0"/>
                          <a:ea typeface="宋体" panose="02010600030101010101" pitchFamily="2" charset="-122"/>
                        </a:rPr>
                        <a:t>27.8</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graphicFrame>
        <p:nvGraphicFramePr>
          <p:cNvPr id="677985" name="Group 97"/>
          <p:cNvGraphicFramePr>
            <a:graphicFrameLocks noGrp="1"/>
          </p:cNvGraphicFramePr>
          <p:nvPr>
            <p:ph sz="half" idx="2"/>
          </p:nvPr>
        </p:nvGraphicFramePr>
        <p:xfrm>
          <a:off x="4859338" y="765175"/>
          <a:ext cx="3673475" cy="4876800"/>
        </p:xfrm>
        <a:graphic>
          <a:graphicData uri="http://schemas.openxmlformats.org/drawingml/2006/table">
            <a:tbl>
              <a:tblPr/>
              <a:tblGrid>
                <a:gridCol w="1566862">
                  <a:extLst>
                    <a:ext uri="{9D8B030D-6E8A-4147-A177-3AD203B41FA5}">
                      <a16:colId xmlns:a16="http://schemas.microsoft.com/office/drawing/2014/main" val="20000"/>
                    </a:ext>
                  </a:extLst>
                </a:gridCol>
                <a:gridCol w="2106613">
                  <a:extLst>
                    <a:ext uri="{9D8B030D-6E8A-4147-A177-3AD203B41FA5}">
                      <a16:colId xmlns:a16="http://schemas.microsoft.com/office/drawing/2014/main" val="20001"/>
                    </a:ext>
                  </a:extLst>
                </a:gridCol>
              </a:tblGrid>
              <a:tr h="312738">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100</a:t>
                      </a:r>
                      <a:r>
                        <a:rPr kumimoji="1" lang="zh-CN" altLang="en-US" sz="2400" b="1" i="0" u="none" strike="noStrike" cap="none" normalizeH="0" baseline="0" dirty="0" smtClean="0">
                          <a:ln>
                            <a:noFill/>
                          </a:ln>
                          <a:solidFill>
                            <a:srgbClr val="000000"/>
                          </a:solidFill>
                          <a:effectLst/>
                          <a:latin typeface="Times New Roman" panose="02020603050405020304" pitchFamily="18" charset="0"/>
                          <a:ea typeface="宋体" panose="02010600030101010101" pitchFamily="2" charset="-122"/>
                        </a:rPr>
                        <a:t>道开始，增加方向</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tc hMerge="1">
                  <a:txBody>
                    <a:bodyPr/>
                    <a:lstStyle/>
                    <a:p>
                      <a:endParaRPr lang="zh-CN" altLang="en-US"/>
                    </a:p>
                  </a:txBody>
                  <a:tcPr/>
                </a:tc>
                <a:extLst>
                  <a:ext uri="{0D108BD9-81ED-4DB2-BD59-A6C34878D82A}">
                    <a16:rowId xmlns:a16="http://schemas.microsoft.com/office/drawing/2014/main" val="10000"/>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0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磁道</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000" b="1"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rPr>
                        <a:t>移动距离</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DF4DB"/>
                    </a:solidFill>
                  </a:tcPr>
                </a:tc>
                <a:extLst>
                  <a:ext uri="{0D108BD9-81ED-4DB2-BD59-A6C34878D82A}">
                    <a16:rowId xmlns:a16="http://schemas.microsoft.com/office/drawing/2014/main" val="10001"/>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150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24</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rPr>
                        <a:t>184+18</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1150">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39</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55</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58</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90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32</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gridSpan="2">
                  <a:txBody>
                    <a:bodyPr/>
                    <a:lstStyle>
                      <a:lvl1pPr eaLnBrk="0" hangingPunct="0">
                        <a:spcBef>
                          <a:spcPct val="20000"/>
                        </a:spcBef>
                        <a:buClr>
                          <a:schemeClr val="tx2"/>
                        </a:buClr>
                        <a:buSzPct val="90000"/>
                        <a:buFont typeface="Symbol" panose="05050102010706020507" pitchFamily="18"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平均寻道长度：</a:t>
                      </a:r>
                      <a:r>
                        <a:rPr kumimoji="1"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35.7</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11"/>
                  </a:ext>
                </a:extLst>
              </a:tr>
            </a:tbl>
          </a:graphicData>
        </a:graphic>
      </p:graphicFrame>
      <p:sp>
        <p:nvSpPr>
          <p:cNvPr id="73810" name="Text Box 93"/>
          <p:cNvSpPr txBox="1">
            <a:spLocks noChangeArrowheads="1"/>
          </p:cNvSpPr>
          <p:nvPr/>
        </p:nvSpPr>
        <p:spPr bwMode="auto">
          <a:xfrm>
            <a:off x="2124075" y="5949950"/>
            <a:ext cx="4751388" cy="519113"/>
          </a:xfrm>
          <a:prstGeom prst="rect">
            <a:avLst/>
          </a:prstGeom>
          <a:solidFill>
            <a:srgbClr val="FFE1F0"/>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en-US" altLang="zh-CN" sz="2800">
                <a:solidFill>
                  <a:srgbClr val="000000"/>
                </a:solidFill>
              </a:rPr>
              <a:t>55,58,39,18,90,160,150,38,184</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Lock And Key">
  <a:themeElements>
    <a:clrScheme name="Lock And Key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fontScheme name="Lock And Key">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Lock And Key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Lock And Key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Lock And Key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Lock And Key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Lock And Key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Lock And Key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Designs\Lock And Key.pot</Template>
  <TotalTime>8301</TotalTime>
  <Words>2537</Words>
  <Application>Microsoft Office PowerPoint</Application>
  <PresentationFormat>全屏显示(4:3)</PresentationFormat>
  <Paragraphs>469</Paragraphs>
  <Slides>39</Slides>
  <Notes>17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0" baseType="lpstr">
      <vt:lpstr>黑体</vt:lpstr>
      <vt:lpstr>楷体_GB2312</vt:lpstr>
      <vt:lpstr>隶书</vt:lpstr>
      <vt:lpstr>宋体</vt:lpstr>
      <vt:lpstr>Arial</vt:lpstr>
      <vt:lpstr>Symbol</vt:lpstr>
      <vt:lpstr>Tahoma</vt:lpstr>
      <vt:lpstr>Times New Roman</vt:lpstr>
      <vt:lpstr>Wingdings</vt:lpstr>
      <vt:lpstr>Lock And Key</vt:lpstr>
      <vt:lpstr>位图图像</vt:lpstr>
      <vt:lpstr>第 10 章  设备管理</vt:lpstr>
      <vt:lpstr>10.1  引言</vt:lpstr>
      <vt:lpstr>（1）按实用特性</vt:lpstr>
      <vt:lpstr>块：通常是存储设备;以数据块为单位输入输出,有结构设备;传输速率高;可寻址;输入输出时采用DMA方式 字符：传输的单位是字符;无结构;种类多;不可寻址;输入输出时采用中断方式。如打印机、串口</vt:lpstr>
      <vt:lpstr>独占设备：在一段时间内只能有一个进程使用的设备，一般为低速I/O设备。且这类设备若分配不当，可能会造成死锁。如打印机、磁带等。</vt:lpstr>
      <vt:lpstr>PowerPoint 演示文稿</vt:lpstr>
      <vt:lpstr>PowerPoint 演示文稿</vt:lpstr>
      <vt:lpstr>PowerPoint 演示文稿</vt:lpstr>
      <vt:lpstr>10.2.1  程序直接控制方式       （忙—等待方式）</vt:lpstr>
      <vt:lpstr>PowerPoint 演示文稿</vt:lpstr>
      <vt:lpstr>PowerPoint 演示文稿</vt:lpstr>
      <vt:lpstr>10.2.2  中断方式</vt:lpstr>
      <vt:lpstr>PowerPoint 演示文稿</vt:lpstr>
      <vt:lpstr>PowerPoint 演示文稿</vt:lpstr>
      <vt:lpstr>PowerPoint 演示文稿</vt:lpstr>
      <vt:lpstr>10.2.3  DMA方式—用于块设备中</vt:lpstr>
      <vt:lpstr>PowerPoint 演示文稿</vt:lpstr>
      <vt:lpstr>图  DMA方式的数据传送处理过程 </vt:lpstr>
      <vt:lpstr>PowerPoint 演示文稿</vt:lpstr>
      <vt:lpstr>10.2.4  通道控制方式</vt:lpstr>
      <vt:lpstr>PowerPoint 演示文稿</vt:lpstr>
      <vt:lpstr>PowerPoint 演示文稿</vt:lpstr>
      <vt:lpstr>PowerPoint 演示文稿</vt:lpstr>
      <vt:lpstr>PowerPoint 演示文稿</vt:lpstr>
      <vt:lpstr>PowerPoint 演示文稿</vt:lpstr>
      <vt:lpstr>10.4.2  设备分配的原则</vt:lpstr>
      <vt:lpstr>PowerPoint 演示文稿</vt:lpstr>
      <vt:lpstr>PowerPoint 演示文稿</vt:lpstr>
      <vt:lpstr>PowerPoint 演示文稿</vt:lpstr>
      <vt:lpstr>PowerPoint 演示文稿</vt:lpstr>
      <vt:lpstr>PowerPoint 演示文稿</vt:lpstr>
      <vt:lpstr>[例] 假定读写磁头位于53号柱面。开始调度时，有若干个进程顺序提出了对如下柱面的I/O请求：    98、183、37、122、14、124、65、67。 求出采用以下磁盘调度算法移动臂将移动多少个柱面。</vt:lpstr>
      <vt:lpstr>PowerPoint 演示文稿</vt:lpstr>
      <vt:lpstr>PowerPoint 演示文稿</vt:lpstr>
      <vt:lpstr>PowerPoint 演示文稿</vt:lpstr>
      <vt:lpstr>PowerPoint 演示文稿</vt:lpstr>
      <vt:lpstr>PowerPoint 演示文稿</vt:lpstr>
      <vt:lpstr>     FCFS调度算法           SSTF调度算法</vt:lpstr>
      <vt:lpstr>SCAN调度算法           CSCAN调度算法</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Shiyimin</dc:creator>
  <cp:lastModifiedBy>Dell</cp:lastModifiedBy>
  <cp:revision>1913</cp:revision>
  <dcterms:created xsi:type="dcterms:W3CDTF">1999-09-10T13:37:22Z</dcterms:created>
  <dcterms:modified xsi:type="dcterms:W3CDTF">2024-12-08T07:03:44Z</dcterms:modified>
</cp:coreProperties>
</file>