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handoutMasterIdLst>
    <p:handoutMasterId r:id="rId57"/>
  </p:handoutMasterIdLst>
  <p:sldIdLst>
    <p:sldId id="1004" r:id="rId2"/>
    <p:sldId id="1179" r:id="rId3"/>
    <p:sldId id="1180" r:id="rId4"/>
    <p:sldId id="1137" r:id="rId5"/>
    <p:sldId id="1183" r:id="rId6"/>
    <p:sldId id="1185" r:id="rId7"/>
    <p:sldId id="1249" r:id="rId8"/>
    <p:sldId id="1187" r:id="rId9"/>
    <p:sldId id="1188" r:id="rId10"/>
    <p:sldId id="1248" r:id="rId11"/>
    <p:sldId id="1189" r:id="rId12"/>
    <p:sldId id="1268" r:id="rId13"/>
    <p:sldId id="1269" r:id="rId14"/>
    <p:sldId id="1250" r:id="rId15"/>
    <p:sldId id="1190" r:id="rId16"/>
    <p:sldId id="1259" r:id="rId17"/>
    <p:sldId id="1262" r:id="rId18"/>
    <p:sldId id="1261" r:id="rId19"/>
    <p:sldId id="1191" r:id="rId20"/>
    <p:sldId id="1196" r:id="rId21"/>
    <p:sldId id="1255" r:id="rId22"/>
    <p:sldId id="1192" r:id="rId23"/>
    <p:sldId id="1199" r:id="rId24"/>
    <p:sldId id="1230" r:id="rId25"/>
    <p:sldId id="1263" r:id="rId26"/>
    <p:sldId id="1271" r:id="rId27"/>
    <p:sldId id="1264" r:id="rId28"/>
    <p:sldId id="1258" r:id="rId29"/>
    <p:sldId id="1197" r:id="rId30"/>
    <p:sldId id="1200" r:id="rId31"/>
    <p:sldId id="1201" r:id="rId32"/>
    <p:sldId id="1202" r:id="rId33"/>
    <p:sldId id="1203" r:id="rId34"/>
    <p:sldId id="1208" r:id="rId35"/>
    <p:sldId id="1204" r:id="rId36"/>
    <p:sldId id="1219" r:id="rId37"/>
    <p:sldId id="1207" r:id="rId38"/>
    <p:sldId id="1209" r:id="rId39"/>
    <p:sldId id="1251" r:id="rId40"/>
    <p:sldId id="1210" r:id="rId41"/>
    <p:sldId id="1211" r:id="rId42"/>
    <p:sldId id="1212" r:id="rId43"/>
    <p:sldId id="1213" r:id="rId44"/>
    <p:sldId id="1214" r:id="rId45"/>
    <p:sldId id="1215" r:id="rId46"/>
    <p:sldId id="1216" r:id="rId47"/>
    <p:sldId id="1217" r:id="rId48"/>
    <p:sldId id="1205" r:id="rId49"/>
    <p:sldId id="1220" r:id="rId50"/>
    <p:sldId id="1254" r:id="rId51"/>
    <p:sldId id="1270" r:id="rId52"/>
    <p:sldId id="1265" r:id="rId53"/>
    <p:sldId id="1266" r:id="rId54"/>
    <p:sldId id="1267" r:id="rId55"/>
  </p:sldIdLst>
  <p:sldSz cx="9144000" cy="6858000" type="screen4x3"/>
  <p:notesSz cx="6858000" cy="9144000"/>
  <p:defaultTextStyle>
    <a:defPPr>
      <a:defRPr lang="zh-CN"/>
    </a:defPPr>
    <a:lvl1pPr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BED70"/>
    <a:srgbClr val="0EB250"/>
    <a:srgbClr val="FCD4F9"/>
    <a:srgbClr val="99CCFF"/>
    <a:srgbClr val="E7F3FF"/>
    <a:srgbClr val="E1F0FF"/>
    <a:srgbClr val="CDE6FF"/>
    <a:srgbClr val="FBCBF8"/>
    <a:srgbClr val="990033"/>
    <a:srgbClr val="66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9" autoAdjust="0"/>
    <p:restoredTop sz="85660" autoAdjust="0"/>
  </p:normalViewPr>
  <p:slideViewPr>
    <p:cSldViewPr>
      <p:cViewPr varScale="1">
        <p:scale>
          <a:sx n="90" d="100"/>
          <a:sy n="90" d="100"/>
        </p:scale>
        <p:origin x="1056" y="1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308"/>
    </p:cViewPr>
  </p:sorterViewPr>
  <p:notesViewPr>
    <p:cSldViewPr>
      <p:cViewPr varScale="1">
        <p:scale>
          <a:sx n="58" d="100"/>
          <a:sy n="58" d="100"/>
        </p:scale>
        <p:origin x="-1764"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2147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nSpc>
                <a:spcPct val="100000"/>
              </a:lnSpc>
              <a:spcBef>
                <a:spcPct val="0"/>
              </a:spcBef>
              <a:buClrTx/>
              <a:buSzTx/>
              <a:buFontTx/>
              <a:buNone/>
              <a:defRPr sz="1000" b="0" i="1">
                <a:solidFill>
                  <a:schemeClr val="tx1"/>
                </a:solidFill>
                <a:effectLst/>
                <a:latin typeface="Times New Roman" pitchFamily="18"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a:lnSpc>
                <a:spcPct val="100000"/>
              </a:lnSpc>
              <a:spcBef>
                <a:spcPct val="0"/>
              </a:spcBef>
              <a:buClrTx/>
              <a:buSzTx/>
              <a:buFontTx/>
              <a:buNone/>
              <a:defRPr sz="1000" b="0" i="1">
                <a:solidFill>
                  <a:schemeClr val="tx1"/>
                </a:solidFill>
                <a:effectLst/>
                <a:latin typeface="Times New Roman" pitchFamily="18" charset="0"/>
              </a:defRPr>
            </a:lvl1pPr>
          </a:lstStyle>
          <a:p>
            <a:pPr>
              <a:defRPr/>
            </a:pPr>
            <a:endParaRPr lang="en-US" altLang="zh-CN"/>
          </a:p>
        </p:txBody>
      </p:sp>
      <p:sp>
        <p:nvSpPr>
          <p:cNvPr id="15364" name="Rectangle 4"/>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nSpc>
                <a:spcPct val="100000"/>
              </a:lnSpc>
              <a:spcBef>
                <a:spcPct val="0"/>
              </a:spcBef>
              <a:buClrTx/>
              <a:buSzTx/>
              <a:buFontTx/>
              <a:buNone/>
              <a:defRPr sz="1000" b="0" i="1">
                <a:solidFill>
                  <a:schemeClr val="tx1"/>
                </a:solidFill>
                <a:effectLst/>
                <a:latin typeface="Times New Roman" pitchFamily="18" charset="0"/>
              </a:defRPr>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a:lnSpc>
                <a:spcPct val="100000"/>
              </a:lnSpc>
              <a:spcBef>
                <a:spcPct val="0"/>
              </a:spcBef>
              <a:buClrTx/>
              <a:buSzTx/>
              <a:buFontTx/>
              <a:buNone/>
              <a:defRPr sz="1000" b="0" i="1">
                <a:solidFill>
                  <a:schemeClr val="tx1"/>
                </a:solidFill>
                <a:latin typeface="Times New Roman" panose="02020603050405020304" pitchFamily="18" charset="0"/>
              </a:defRPr>
            </a:lvl1pPr>
          </a:lstStyle>
          <a:p>
            <a:pPr>
              <a:defRPr/>
            </a:pPr>
            <a:fld id="{B4AD9251-16E8-4FE0-8FFB-FFF0533BDB86}" type="slidenum">
              <a:rPr lang="en-US" altLang="zh-CN"/>
              <a:pPr>
                <a:defRPr/>
              </a:pPr>
              <a:t>‹#›</a:t>
            </a:fld>
            <a:endParaRPr lang="en-US" altLang="zh-CN"/>
          </a:p>
        </p:txBody>
      </p:sp>
    </p:spTree>
    <p:extLst>
      <p:ext uri="{BB962C8B-B14F-4D97-AF65-F5344CB8AC3E}">
        <p14:creationId xmlns:p14="http://schemas.microsoft.com/office/powerpoint/2010/main" val="274915413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en-US" altLang="zh-CN" dirty="0" err="1">
                <a:sym typeface="Symbol" panose="05050102010706020507" pitchFamily="18" charset="2"/>
              </a:rPr>
              <a:t>Pererson</a:t>
            </a:r>
            <a:r>
              <a:rPr lang="zh-CN" altLang="en-US" dirty="0">
                <a:sym typeface="Symbol" panose="05050102010706020507" pitchFamily="18" charset="2"/>
              </a:rPr>
              <a:t>方案：结合了标记和轮转</a:t>
            </a:r>
            <a:endParaRPr lang="en-US" altLang="zh-CN" dirty="0">
              <a:sym typeface="Symbol" panose="05050102010706020507" pitchFamily="18" charset="2"/>
            </a:endParaRPr>
          </a:p>
          <a:p>
            <a:r>
              <a:rPr kumimoji="1" lang="zh-CN" altLang="zh-CN" sz="1200" kern="1200" dirty="0">
                <a:solidFill>
                  <a:schemeClr val="tx1"/>
                </a:solidFill>
                <a:effectLst/>
                <a:latin typeface="Times New Roman" pitchFamily="18" charset="0"/>
                <a:ea typeface="宋体" pitchFamily="2" charset="-122"/>
                <a:cs typeface="+mn-cs"/>
              </a:rPr>
              <a:t>服务于同一应用的多个线程，总是会有或多或少的联系，</a:t>
            </a:r>
            <a:endParaRPr kumimoji="1" lang="en-US" altLang="zh-CN" sz="1200" kern="1200" dirty="0">
              <a:solidFill>
                <a:schemeClr val="tx1"/>
              </a:solidFill>
              <a:effectLst/>
              <a:latin typeface="Times New Roman" pitchFamily="18" charset="0"/>
              <a:ea typeface="宋体" pitchFamily="2" charset="-122"/>
              <a:cs typeface="+mn-cs"/>
            </a:endParaRPr>
          </a:p>
          <a:p>
            <a:r>
              <a:rPr kumimoji="1" lang="zh-CN" altLang="zh-CN" sz="1200" kern="1200" dirty="0">
                <a:solidFill>
                  <a:schemeClr val="tx1"/>
                </a:solidFill>
                <a:effectLst/>
                <a:latin typeface="Times New Roman" pitchFamily="18" charset="0"/>
                <a:ea typeface="宋体" pitchFamily="2" charset="-122"/>
                <a:cs typeface="+mn-cs"/>
              </a:rPr>
              <a:t>在程序表现上，就是不同的线程会时不时地访问或更新相同的共享数据，</a:t>
            </a:r>
            <a:endParaRPr kumimoji="1" lang="en-US" altLang="zh-CN" sz="1200" kern="1200" dirty="0">
              <a:solidFill>
                <a:schemeClr val="tx1"/>
              </a:solidFill>
              <a:effectLst/>
              <a:latin typeface="Times New Roman" pitchFamily="18" charset="0"/>
              <a:ea typeface="宋体" pitchFamily="2" charset="-122"/>
              <a:cs typeface="+mn-cs"/>
            </a:endParaRPr>
          </a:p>
          <a:p>
            <a:r>
              <a:rPr kumimoji="1" lang="zh-CN" altLang="zh-CN" sz="1200" kern="1200" dirty="0">
                <a:solidFill>
                  <a:schemeClr val="tx1"/>
                </a:solidFill>
                <a:effectLst/>
                <a:latin typeface="Times New Roman" pitchFamily="18" charset="0"/>
                <a:ea typeface="宋体" pitchFamily="2" charset="-122"/>
                <a:cs typeface="+mn-cs"/>
              </a:rPr>
              <a:t>或者在某些特定的时间点上需要保证特定的线程执行顺序。这就要</a:t>
            </a:r>
            <a:r>
              <a:rPr kumimoji="1" lang="zh-CN" altLang="zh-CN" sz="1200" b="1" kern="1200" dirty="0">
                <a:solidFill>
                  <a:schemeClr val="tx1"/>
                </a:solidFill>
                <a:effectLst/>
                <a:latin typeface="Times New Roman" pitchFamily="18" charset="0"/>
                <a:ea typeface="宋体" pitchFamily="2" charset="-122"/>
                <a:cs typeface="+mn-cs"/>
              </a:rPr>
              <a:t>通过线程同步技术来实现</a:t>
            </a:r>
            <a:r>
              <a:rPr kumimoji="1" lang="zh-CN" altLang="zh-CN" sz="1200" kern="1200" dirty="0">
                <a:solidFill>
                  <a:schemeClr val="tx1"/>
                </a:solidFill>
                <a:effectLst/>
                <a:latin typeface="Times New Roman" pitchFamily="18" charset="0"/>
                <a:ea typeface="宋体" pitchFamily="2" charset="-122"/>
                <a:cs typeface="+mn-cs"/>
              </a:rPr>
              <a:t>。</a:t>
            </a: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a:t>
            </a:fld>
            <a:endParaRPr lang="en-US" altLang="zh-CN"/>
          </a:p>
        </p:txBody>
      </p:sp>
    </p:spTree>
    <p:extLst>
      <p:ext uri="{BB962C8B-B14F-4D97-AF65-F5344CB8AC3E}">
        <p14:creationId xmlns:p14="http://schemas.microsoft.com/office/powerpoint/2010/main" val="4157727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kern="1200" dirty="0">
                <a:solidFill>
                  <a:schemeClr val="bg1"/>
                </a:solidFill>
                <a:effectLst/>
                <a:latin typeface="Times New Roman" pitchFamily="18" charset="0"/>
                <a:ea typeface="楷体" panose="02010609060101010101" pitchFamily="49" charset="-122"/>
                <a:cs typeface="+mn-cs"/>
              </a:rPr>
              <a:t>并发或并行执行如何影响数据的完整性</a:t>
            </a:r>
            <a:endParaRPr kumimoji="1" lang="en-US" altLang="zh-CN" sz="1200" kern="1200" dirty="0">
              <a:solidFill>
                <a:schemeClr val="bg1"/>
              </a:solidFill>
              <a:effectLst/>
              <a:latin typeface="Times New Roman" pitchFamily="18" charset="0"/>
              <a:ea typeface="楷体" panose="02010609060101010101" pitchFamily="49" charset="-122"/>
              <a:cs typeface="+mn-cs"/>
            </a:endParaRPr>
          </a:p>
          <a:p>
            <a:endParaRPr lang="en-US" altLang="zh-CN" sz="1200" dirty="0">
              <a:solidFill>
                <a:schemeClr val="bg2"/>
              </a:solidFill>
              <a:latin typeface="Times New Roman" panose="02020603050405020304" pitchFamily="18" charset="0"/>
              <a:cs typeface="Times New Roman" panose="02020603050405020304" pitchFamily="18" charset="0"/>
            </a:endParaRPr>
          </a:p>
          <a:p>
            <a:r>
              <a:rPr lang="zh-CN" altLang="en-US" sz="1200" dirty="0">
                <a:solidFill>
                  <a:schemeClr val="bg2"/>
                </a:solidFill>
                <a:latin typeface="Times New Roman" panose="02020603050405020304" pitchFamily="18" charset="0"/>
                <a:cs typeface="Times New Roman" panose="02020603050405020304" pitchFamily="18" charset="0"/>
              </a:rPr>
              <a:t>图</a:t>
            </a:r>
            <a:r>
              <a:rPr lang="en-US" altLang="zh-CN" sz="1200" dirty="0">
                <a:solidFill>
                  <a:schemeClr val="bg2"/>
                </a:solidFill>
                <a:latin typeface="Times New Roman" panose="02020603050405020304" pitchFamily="18" charset="0"/>
                <a:cs typeface="Times New Roman" panose="02020603050405020304" pitchFamily="18" charset="0"/>
              </a:rPr>
              <a:t>3-13</a:t>
            </a:r>
            <a:r>
              <a:rPr lang="zh-CN" altLang="en-US" sz="1200" dirty="0">
                <a:solidFill>
                  <a:schemeClr val="bg2"/>
                </a:solidFill>
                <a:latin typeface="Times New Roman" panose="02020603050405020304" pitchFamily="18" charset="0"/>
                <a:cs typeface="Times New Roman" panose="02020603050405020304" pitchFamily="18" charset="0"/>
              </a:rPr>
              <a:t>和图</a:t>
            </a:r>
            <a:r>
              <a:rPr lang="en-US" altLang="zh-CN" sz="1200" dirty="0">
                <a:solidFill>
                  <a:schemeClr val="bg2"/>
                </a:solidFill>
                <a:latin typeface="Times New Roman" panose="02020603050405020304" pitchFamily="18" charset="0"/>
                <a:cs typeface="Times New Roman" panose="02020603050405020304" pitchFamily="18" charset="0"/>
              </a:rPr>
              <a:t>3-14</a:t>
            </a:r>
            <a:r>
              <a:rPr lang="zh-CN" altLang="en-US" sz="1200" dirty="0">
                <a:solidFill>
                  <a:schemeClr val="bg2"/>
                </a:solidFill>
                <a:latin typeface="Times New Roman" panose="02020603050405020304" pitchFamily="18" charset="0"/>
                <a:cs typeface="Times New Roman" panose="02020603050405020304" pitchFamily="18" charset="0"/>
              </a:rPr>
              <a:t>中，缓冲区最多</a:t>
            </a:r>
            <a:r>
              <a:rPr lang="en-US" altLang="zh-CN" sz="1200" dirty="0">
                <a:solidFill>
                  <a:schemeClr val="bg2"/>
                </a:solidFill>
                <a:latin typeface="Times New Roman" panose="02020603050405020304" pitchFamily="18" charset="0"/>
                <a:cs typeface="Times New Roman" panose="02020603050405020304" pitchFamily="18" charset="0"/>
              </a:rPr>
              <a:t>BUFFER_SIZE-1</a:t>
            </a:r>
            <a:r>
              <a:rPr lang="zh-CN" altLang="en-US" sz="1200" dirty="0">
                <a:solidFill>
                  <a:schemeClr val="bg2"/>
                </a:solidFill>
                <a:latin typeface="Times New Roman" panose="02020603050405020304" pitchFamily="18" charset="0"/>
                <a:cs typeface="Times New Roman" panose="02020603050405020304" pitchFamily="18" charset="0"/>
              </a:rPr>
              <a:t>项</a:t>
            </a:r>
            <a:endParaRPr lang="en-US" altLang="zh-CN" sz="1200" dirty="0">
              <a:solidFill>
                <a:schemeClr val="bg2"/>
              </a:solidFill>
              <a:latin typeface="Times New Roman" panose="02020603050405020304" pitchFamily="18" charset="0"/>
              <a:cs typeface="Times New Roman" panose="02020603050405020304" pitchFamily="18" charset="0"/>
            </a:endParaRPr>
          </a:p>
          <a:p>
            <a:r>
              <a:rPr lang="zh-CN" altLang="en-US" sz="1200" dirty="0">
                <a:solidFill>
                  <a:schemeClr val="bg2"/>
                </a:solidFill>
                <a:latin typeface="Times New Roman" panose="02020603050405020304" pitchFamily="18" charset="0"/>
                <a:cs typeface="Times New Roman" panose="02020603050405020304" pitchFamily="18" charset="0"/>
              </a:rPr>
              <a:t>增加一个变量</a:t>
            </a:r>
            <a:r>
              <a:rPr lang="en-US" altLang="zh-CN" sz="1200" dirty="0">
                <a:solidFill>
                  <a:schemeClr val="bg2"/>
                </a:solidFill>
                <a:latin typeface="Times New Roman" panose="02020603050405020304" pitchFamily="18" charset="0"/>
                <a:cs typeface="Times New Roman" panose="02020603050405020304" pitchFamily="18" charset="0"/>
              </a:rPr>
              <a:t>counter, </a:t>
            </a:r>
            <a:r>
              <a:rPr lang="zh-CN" altLang="en-US" sz="1200" dirty="0">
                <a:solidFill>
                  <a:schemeClr val="bg2"/>
                </a:solidFill>
                <a:latin typeface="Times New Roman" panose="02020603050405020304" pitchFamily="18" charset="0"/>
                <a:cs typeface="Times New Roman" panose="02020603050405020304" pitchFamily="18" charset="0"/>
              </a:rPr>
              <a:t>初值为</a:t>
            </a:r>
            <a:r>
              <a:rPr lang="en-US" altLang="zh-CN" sz="1200" dirty="0">
                <a:solidFill>
                  <a:schemeClr val="bg2"/>
                </a:solidFill>
                <a:latin typeface="Times New Roman" panose="02020603050405020304" pitchFamily="18" charset="0"/>
                <a:cs typeface="Times New Roman" panose="02020603050405020304" pitchFamily="18" charset="0"/>
              </a:rPr>
              <a:t>0</a:t>
            </a:r>
            <a:br>
              <a:rPr lang="en-US" altLang="zh-CN" sz="1200" dirty="0">
                <a:solidFill>
                  <a:schemeClr val="bg2"/>
                </a:solidFill>
                <a:latin typeface="Times New Roman" panose="02020603050405020304" pitchFamily="18" charset="0"/>
                <a:cs typeface="Times New Roman" panose="02020603050405020304" pitchFamily="18" charset="0"/>
              </a:rPr>
            </a:b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a:t>
            </a:fld>
            <a:endParaRPr lang="en-US" altLang="zh-CN"/>
          </a:p>
        </p:txBody>
      </p:sp>
    </p:spTree>
    <p:extLst>
      <p:ext uri="{BB962C8B-B14F-4D97-AF65-F5344CB8AC3E}">
        <p14:creationId xmlns:p14="http://schemas.microsoft.com/office/powerpoint/2010/main" val="2038873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3</a:t>
            </a:fld>
            <a:endParaRPr lang="en-US" altLang="zh-CN"/>
          </a:p>
        </p:txBody>
      </p:sp>
    </p:spTree>
    <p:extLst>
      <p:ext uri="{BB962C8B-B14F-4D97-AF65-F5344CB8AC3E}">
        <p14:creationId xmlns:p14="http://schemas.microsoft.com/office/powerpoint/2010/main" val="19022606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solidFill>
                  <a:schemeClr val="bg2"/>
                </a:solidFill>
              </a:rPr>
              <a:t>硬件：</a:t>
            </a:r>
            <a:r>
              <a:rPr lang="zh-CN" altLang="zh-CN" dirty="0">
                <a:solidFill>
                  <a:schemeClr val="bg2"/>
                </a:solidFill>
              </a:rPr>
              <a:t>打印机、磁带机</a:t>
            </a:r>
            <a:r>
              <a:rPr lang="zh-CN" altLang="en-US" dirty="0">
                <a:solidFill>
                  <a:schemeClr val="bg2"/>
                </a:solidFill>
              </a:rPr>
              <a:t>、屏幕</a:t>
            </a:r>
            <a:r>
              <a:rPr lang="zh-CN" altLang="zh-CN" dirty="0">
                <a:solidFill>
                  <a:schemeClr val="bg2"/>
                </a:solidFill>
              </a:rPr>
              <a:t>等</a:t>
            </a:r>
            <a:endParaRPr lang="en-US" altLang="zh-CN" dirty="0">
              <a:solidFill>
                <a:schemeClr val="bg2"/>
              </a:solidFill>
            </a:endParaRPr>
          </a:p>
          <a:p>
            <a:r>
              <a:rPr lang="zh-CN" altLang="zh-CN" dirty="0">
                <a:solidFill>
                  <a:schemeClr val="bg2"/>
                </a:solidFill>
              </a:rPr>
              <a:t>软件</a:t>
            </a:r>
            <a:r>
              <a:rPr lang="zh-CN" altLang="en-US" dirty="0">
                <a:solidFill>
                  <a:schemeClr val="bg2"/>
                </a:solidFill>
              </a:rPr>
              <a:t>：</a:t>
            </a:r>
            <a:r>
              <a:rPr lang="zh-CN" altLang="zh-CN" dirty="0">
                <a:solidFill>
                  <a:schemeClr val="bg2"/>
                </a:solidFill>
              </a:rPr>
              <a:t>消息缓冲队列、变量、数组、缓冲区等。</a:t>
            </a:r>
            <a:r>
              <a:rPr lang="en-US" altLang="zh-CN" dirty="0">
                <a:solidFill>
                  <a:schemeClr val="bg2"/>
                </a:solidFill>
              </a:rPr>
              <a:t>  </a:t>
            </a:r>
          </a:p>
          <a:p>
            <a:endParaRPr kumimoji="1" lang="en-US" altLang="zh-CN" sz="1200" i="0" kern="1200" dirty="0">
              <a:solidFill>
                <a:schemeClr val="tx1"/>
              </a:solidFill>
              <a:effectLst/>
              <a:latin typeface="Times New Roman" pitchFamily="18" charset="0"/>
              <a:ea typeface="宋体" pitchFamily="2" charset="-122"/>
              <a:cs typeface="+mn-cs"/>
            </a:endParaRPr>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4</a:t>
            </a:fld>
            <a:endParaRPr lang="en-US" altLang="zh-CN"/>
          </a:p>
        </p:txBody>
      </p:sp>
    </p:spTree>
    <p:extLst>
      <p:ext uri="{BB962C8B-B14F-4D97-AF65-F5344CB8AC3E}">
        <p14:creationId xmlns:p14="http://schemas.microsoft.com/office/powerpoint/2010/main" val="5431009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en-US" altLang="zh-CN" sz="1200" b="0" i="0" kern="1200" dirty="0">
                <a:solidFill>
                  <a:schemeClr val="tx1"/>
                </a:solidFill>
                <a:effectLst/>
                <a:latin typeface="Times New Roman" pitchFamily="18" charset="0"/>
                <a:ea typeface="宋体" pitchFamily="2" charset="-122"/>
                <a:cs typeface="+mn-cs"/>
              </a:rPr>
              <a:t> </a:t>
            </a:r>
            <a:r>
              <a:rPr kumimoji="1" lang="zh-CN" altLang="en-US" sz="1200" b="0" i="0" kern="1200" dirty="0">
                <a:solidFill>
                  <a:schemeClr val="tx1"/>
                </a:solidFill>
                <a:effectLst/>
                <a:latin typeface="Times New Roman" pitchFamily="18" charset="0"/>
                <a:ea typeface="宋体" pitchFamily="2" charset="-122"/>
                <a:cs typeface="+mn-cs"/>
              </a:rPr>
              <a:t>以前：单标志法：违背空闲让进；双标识法：违背忙则等待</a:t>
            </a:r>
            <a:endParaRPr kumimoji="1" lang="en-US" altLang="zh-CN" sz="1200" b="0" i="0" kern="1200" dirty="0">
              <a:solidFill>
                <a:schemeClr val="tx1"/>
              </a:solidFill>
              <a:effectLst/>
              <a:latin typeface="Times New Roman" pitchFamily="18" charset="0"/>
              <a:ea typeface="宋体" pitchFamily="2" charset="-122"/>
              <a:cs typeface="+mn-cs"/>
            </a:endParaRPr>
          </a:p>
          <a:p>
            <a:r>
              <a:rPr kumimoji="1" lang="en-US" altLang="zh-CN" sz="1200" b="0" i="0" kern="1200" dirty="0">
                <a:solidFill>
                  <a:schemeClr val="tx1"/>
                </a:solidFill>
                <a:effectLst/>
                <a:latin typeface="Times New Roman" pitchFamily="18" charset="0"/>
                <a:ea typeface="宋体" pitchFamily="2" charset="-122"/>
                <a:cs typeface="+mn-cs"/>
              </a:rPr>
              <a:t>Peterson</a:t>
            </a:r>
            <a:r>
              <a:rPr kumimoji="1" lang="zh-CN" altLang="en-US" sz="1200" b="0" i="0" kern="1200" dirty="0">
                <a:solidFill>
                  <a:schemeClr val="tx1"/>
                </a:solidFill>
                <a:effectLst/>
                <a:latin typeface="Times New Roman" pitchFamily="18" charset="0"/>
                <a:ea typeface="宋体" pitchFamily="2" charset="-122"/>
                <a:cs typeface="+mn-cs"/>
              </a:rPr>
              <a:t>于</a:t>
            </a:r>
            <a:r>
              <a:rPr kumimoji="1" lang="en-US" altLang="zh-CN" sz="1200" b="0" i="0" kern="1200" dirty="0">
                <a:solidFill>
                  <a:schemeClr val="tx1"/>
                </a:solidFill>
                <a:effectLst/>
                <a:latin typeface="Times New Roman" pitchFamily="18" charset="0"/>
                <a:ea typeface="宋体" pitchFamily="2" charset="-122"/>
                <a:cs typeface="+mn-cs"/>
              </a:rPr>
              <a:t>1981</a:t>
            </a:r>
            <a:r>
              <a:rPr kumimoji="1" lang="zh-CN" altLang="en-US" sz="1200" b="0" i="0" kern="1200" dirty="0">
                <a:solidFill>
                  <a:schemeClr val="tx1"/>
                </a:solidFill>
                <a:effectLst/>
                <a:latin typeface="Times New Roman" pitchFamily="18" charset="0"/>
                <a:ea typeface="宋体" pitchFamily="2" charset="-122"/>
                <a:cs typeface="+mn-cs"/>
              </a:rPr>
              <a:t>年提出此算法</a:t>
            </a:r>
            <a:endParaRPr kumimoji="1" lang="en-US" altLang="zh-CN" sz="1200" b="0" i="0" kern="1200" dirty="0">
              <a:solidFill>
                <a:schemeClr val="tx1"/>
              </a:solidFill>
              <a:effectLst/>
              <a:latin typeface="Times New Roman" pitchFamily="18" charset="0"/>
              <a:ea typeface="宋体" pitchFamily="2" charset="-122"/>
              <a:cs typeface="+mn-cs"/>
            </a:endParaRPr>
          </a:p>
          <a:p>
            <a:r>
              <a:rPr kumimoji="1" lang="en-US" altLang="zh-CN" sz="1200" b="0" i="0" kern="1200" dirty="0">
                <a:solidFill>
                  <a:schemeClr val="tx1"/>
                </a:solidFill>
                <a:effectLst/>
                <a:latin typeface="Times New Roman" pitchFamily="18" charset="0"/>
                <a:ea typeface="宋体" pitchFamily="2" charset="-122"/>
                <a:cs typeface="+mn-cs"/>
              </a:rPr>
              <a:t>.Peterson </a:t>
            </a:r>
            <a:r>
              <a:rPr kumimoji="1" lang="zh-CN" altLang="en-US" sz="1200" b="0" i="0" kern="1200" dirty="0">
                <a:solidFill>
                  <a:schemeClr val="tx1"/>
                </a:solidFill>
                <a:effectLst/>
                <a:latin typeface="Times New Roman" pitchFamily="18" charset="0"/>
                <a:ea typeface="宋体" pitchFamily="2" charset="-122"/>
                <a:cs typeface="+mn-cs"/>
              </a:rPr>
              <a:t>想到了一种方法，如果对方都争着想进入临界区，那可以让进程尝试 “孔融让梨”，主动让对方先使用临界区</a:t>
            </a:r>
            <a:endParaRPr kumimoji="1" lang="en-US" altLang="zh-CN" sz="1200" b="0" i="0" kern="1200" dirty="0">
              <a:solidFill>
                <a:schemeClr val="tx1"/>
              </a:solidFill>
              <a:effectLst/>
              <a:latin typeface="Times New Roman" pitchFamily="18" charset="0"/>
              <a:ea typeface="宋体" pitchFamily="2" charset="-122"/>
              <a:cs typeface="+mn-cs"/>
            </a:endParaRPr>
          </a:p>
          <a:p>
            <a:r>
              <a:rPr lang="zh-CN" altLang="en-US" b="0" dirty="0">
                <a:solidFill>
                  <a:schemeClr val="bg2"/>
                </a:solidFill>
              </a:rPr>
              <a:t>先礼让其他进程，主动把</a:t>
            </a:r>
            <a:r>
              <a:rPr lang="en-US" altLang="zh-CN" b="0" dirty="0">
                <a:solidFill>
                  <a:schemeClr val="bg2"/>
                </a:solidFill>
              </a:rPr>
              <a:t>turn</a:t>
            </a:r>
            <a:r>
              <a:rPr lang="zh-CN" altLang="en-US" b="0" dirty="0">
                <a:solidFill>
                  <a:schemeClr val="bg2"/>
                </a:solidFill>
              </a:rPr>
              <a:t>让给其他人</a:t>
            </a:r>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7</a:t>
            </a:fld>
            <a:endParaRPr lang="en-US" altLang="zh-CN"/>
          </a:p>
        </p:txBody>
      </p:sp>
    </p:spTree>
    <p:extLst>
      <p:ext uri="{BB962C8B-B14F-4D97-AF65-F5344CB8AC3E}">
        <p14:creationId xmlns:p14="http://schemas.microsoft.com/office/powerpoint/2010/main" val="1975396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itchFamily="18" charset="0"/>
                <a:ea typeface="宋体" pitchFamily="2" charset="-122"/>
                <a:cs typeface="+mn-cs"/>
              </a:rPr>
              <a:t>硬件方法优点：无论单处理机还是多处理机都适用</a:t>
            </a:r>
            <a:r>
              <a:rPr kumimoji="1" lang="en-US" altLang="zh-CN" sz="1200" b="0"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简单，容易验证其正确性</a:t>
            </a:r>
          </a:p>
          <a:p>
            <a:r>
              <a:rPr kumimoji="1" lang="zh-CN" altLang="en-US" sz="1200" b="0" i="0" kern="1200" dirty="0">
                <a:solidFill>
                  <a:schemeClr val="tx1"/>
                </a:solidFill>
                <a:effectLst/>
                <a:latin typeface="Times New Roman" pitchFamily="18" charset="0"/>
                <a:ea typeface="宋体" pitchFamily="2" charset="-122"/>
                <a:cs typeface="+mn-cs"/>
              </a:rPr>
              <a:t>缺点：违背了 “让权等待”，会产生 “饥饿” 现象</a:t>
            </a:r>
          </a:p>
          <a:p>
            <a:r>
              <a:rPr kumimoji="1" lang="zh-CN" altLang="en-US" sz="1200" b="0" i="0" kern="1200">
                <a:solidFill>
                  <a:schemeClr val="tx1"/>
                </a:solidFill>
                <a:effectLst/>
                <a:latin typeface="Times New Roman" pitchFamily="18" charset="0"/>
                <a:ea typeface="宋体" pitchFamily="2" charset="-122"/>
                <a:cs typeface="+mn-cs"/>
              </a:rPr>
              <a:t>无论硬件还是软件实现方法，只需理解执行过程，关键是软件实现方法</a:t>
            </a:r>
          </a:p>
          <a:p>
            <a:endParaRPr lang="zh-CN" altLang="en-US"/>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8</a:t>
            </a:fld>
            <a:endParaRPr lang="en-US" altLang="zh-CN"/>
          </a:p>
        </p:txBody>
      </p:sp>
    </p:spTree>
    <p:extLst>
      <p:ext uri="{BB962C8B-B14F-4D97-AF65-F5344CB8AC3E}">
        <p14:creationId xmlns:p14="http://schemas.microsoft.com/office/powerpoint/2010/main" val="3081254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0" i="0" kern="1200" dirty="0">
                <a:solidFill>
                  <a:schemeClr val="tx1"/>
                </a:solidFill>
                <a:effectLst/>
                <a:latin typeface="Times New Roman" pitchFamily="18" charset="0"/>
                <a:ea typeface="宋体" pitchFamily="2" charset="-122"/>
                <a:cs typeface="+mn-cs"/>
              </a:rPr>
              <a:t>屏蔽中断对</a:t>
            </a:r>
            <a:r>
              <a:rPr kumimoji="1" lang="en-US" altLang="zh-CN" sz="1200" b="0" i="0" kern="1200" dirty="0">
                <a:solidFill>
                  <a:schemeClr val="tx1"/>
                </a:solidFill>
                <a:effectLst/>
                <a:latin typeface="Times New Roman" pitchFamily="18" charset="0"/>
                <a:ea typeface="宋体" pitchFamily="2" charset="-122"/>
                <a:cs typeface="+mn-cs"/>
              </a:rPr>
              <a:t>OS</a:t>
            </a:r>
            <a:r>
              <a:rPr kumimoji="1" lang="zh-CN" altLang="en-US" sz="1200" b="0" i="0" kern="1200" dirty="0">
                <a:solidFill>
                  <a:schemeClr val="tx1"/>
                </a:solidFill>
                <a:effectLst/>
                <a:latin typeface="Times New Roman" pitchFamily="18" charset="0"/>
                <a:ea typeface="宋体" pitchFamily="2" charset="-122"/>
                <a:cs typeface="+mn-cs"/>
              </a:rPr>
              <a:t>本身来说是一项很有用的技术，而对于用户进程不是一种合适的机制</a:t>
            </a:r>
            <a:endParaRPr kumimoji="1"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zh-CN" sz="1200" kern="1200" dirty="0">
                <a:solidFill>
                  <a:schemeClr val="tx1"/>
                </a:solidFill>
                <a:effectLst/>
                <a:latin typeface="Times New Roman" pitchFamily="18" charset="0"/>
                <a:ea typeface="宋体" pitchFamily="2" charset="-122"/>
                <a:cs typeface="+mn-cs"/>
              </a:rPr>
              <a:t>进程调度也要使用系统时钟</a:t>
            </a:r>
            <a:endParaRPr kumimoji="1"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FF0000"/>
                </a:solidFill>
                <a:sym typeface="Symbol" panose="05050102010706020507" pitchFamily="18" charset="2"/>
              </a:rPr>
              <a:t>用户控制中断，可能会死机。</a:t>
            </a:r>
            <a:endParaRPr lang="en-US" altLang="zh-CN" sz="1200" dirty="0">
              <a:solidFill>
                <a:srgbClr val="FF0000"/>
              </a:solidFill>
              <a:sym typeface="Symbol" panose="05050102010706020507" pitchFamily="18" charset="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kern="1200" dirty="0">
                <a:solidFill>
                  <a:schemeClr val="bg2"/>
                </a:solidFill>
                <a:effectLst/>
                <a:latin typeface="Times New Roman" pitchFamily="18" charset="0"/>
                <a:ea typeface="楷体" panose="02010609060101010101" pitchFamily="49" charset="-122"/>
                <a:cs typeface="+mn-cs"/>
              </a:rPr>
              <a:t>耗时：中断禁止消息要传递到所有处理器（</a:t>
            </a:r>
            <a:r>
              <a:rPr lang="zh-CN" altLang="en-US" sz="1200" b="0" dirty="0">
                <a:solidFill>
                  <a:schemeClr val="bg2"/>
                </a:solidFill>
                <a:effectLst/>
                <a:latin typeface="华文新魏" panose="02010800040101010101" pitchFamily="2" charset="-122"/>
                <a:ea typeface="华文新魏" panose="02010800040101010101" pitchFamily="2" charset="-122"/>
              </a:rPr>
              <a:t>教材</a:t>
            </a:r>
            <a:r>
              <a:rPr kumimoji="1" lang="zh-CN" altLang="en-US" sz="1200" kern="1200" dirty="0">
                <a:solidFill>
                  <a:schemeClr val="bg2"/>
                </a:solidFill>
                <a:effectLst/>
                <a:latin typeface="Times New Roman" pitchFamily="18" charset="0"/>
                <a:ea typeface="楷体" panose="02010609060101010101" pitchFamily="49" charset="-122"/>
                <a:cs typeface="+mn-cs"/>
              </a:rPr>
              <a:t>）？</a:t>
            </a:r>
            <a:endParaRPr kumimoji="1" lang="en-US" altLang="zh-CN" sz="1200" kern="1200" dirty="0">
              <a:solidFill>
                <a:schemeClr val="bg2"/>
              </a:solidFill>
              <a:effectLst/>
              <a:latin typeface="Times New Roman" pitchFamily="18" charset="0"/>
              <a:ea typeface="楷体" panose="02010609060101010101" pitchFamily="49"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kern="1200" dirty="0">
                <a:solidFill>
                  <a:schemeClr val="bg2"/>
                </a:solidFill>
                <a:effectLst/>
                <a:latin typeface="Times New Roman" pitchFamily="18" charset="0"/>
                <a:ea typeface="楷体" panose="02010609060101010101" pitchFamily="49" charset="-122"/>
                <a:cs typeface="+mn-cs"/>
              </a:rPr>
              <a:t>屏蔽中断仅仅对执行</a:t>
            </a:r>
            <a:r>
              <a:rPr kumimoji="1" lang="en-US" altLang="zh-CN" sz="1200" kern="1200" dirty="0">
                <a:solidFill>
                  <a:schemeClr val="bg2"/>
                </a:solidFill>
                <a:effectLst/>
                <a:latin typeface="Times New Roman" pitchFamily="18" charset="0"/>
                <a:ea typeface="楷体" panose="02010609060101010101" pitchFamily="49" charset="-122"/>
                <a:cs typeface="+mn-cs"/>
              </a:rPr>
              <a:t>disable</a:t>
            </a:r>
            <a:r>
              <a:rPr kumimoji="1" lang="zh-CN" altLang="en-US" sz="1200" kern="1200" dirty="0">
                <a:solidFill>
                  <a:schemeClr val="bg2"/>
                </a:solidFill>
                <a:effectLst/>
                <a:latin typeface="Times New Roman" pitchFamily="18" charset="0"/>
                <a:ea typeface="楷体" panose="02010609060101010101" pitchFamily="49" charset="-122"/>
                <a:cs typeface="+mn-cs"/>
              </a:rPr>
              <a:t>指令的那个</a:t>
            </a:r>
            <a:r>
              <a:rPr kumimoji="1" lang="en-US" altLang="zh-CN" sz="1200" kern="1200" dirty="0">
                <a:solidFill>
                  <a:schemeClr val="bg2"/>
                </a:solidFill>
                <a:effectLst/>
                <a:latin typeface="Times New Roman" pitchFamily="18" charset="0"/>
                <a:ea typeface="楷体" panose="02010609060101010101" pitchFamily="49" charset="-122"/>
                <a:cs typeface="+mn-cs"/>
              </a:rPr>
              <a:t>CPU</a:t>
            </a:r>
            <a:r>
              <a:rPr kumimoji="1" lang="zh-CN" altLang="en-US" sz="1200" kern="1200" dirty="0">
                <a:solidFill>
                  <a:schemeClr val="bg2"/>
                </a:solidFill>
                <a:effectLst/>
                <a:latin typeface="Times New Roman" pitchFamily="18" charset="0"/>
                <a:ea typeface="楷体" panose="02010609060101010101" pitchFamily="49" charset="-122"/>
                <a:cs typeface="+mn-cs"/>
              </a:rPr>
              <a:t>有效（</a:t>
            </a:r>
            <a:r>
              <a:rPr lang="zh-CN" altLang="en-US" sz="1200" b="0" dirty="0">
                <a:solidFill>
                  <a:schemeClr val="bg2"/>
                </a:solidFill>
                <a:effectLst/>
                <a:latin typeface="华文新魏" panose="02010800040101010101" pitchFamily="2" charset="-122"/>
                <a:ea typeface="华文新魏" panose="02010800040101010101" pitchFamily="2" charset="-122"/>
              </a:rPr>
              <a:t>现代操作系统</a:t>
            </a:r>
            <a:r>
              <a:rPr kumimoji="1" lang="zh-CN" altLang="en-US" sz="1200" kern="1200" dirty="0">
                <a:solidFill>
                  <a:schemeClr val="bg2"/>
                </a:solidFill>
                <a:effectLst/>
                <a:latin typeface="Times New Roman" pitchFamily="18" charset="0"/>
                <a:ea typeface="楷体" panose="02010609060101010101" pitchFamily="49" charset="-122"/>
                <a:cs typeface="+mn-cs"/>
              </a:rPr>
              <a:t>）</a:t>
            </a:r>
            <a:endParaRPr kumimoji="1" lang="en-US" altLang="zh-CN" sz="1200" kern="1200" dirty="0">
              <a:solidFill>
                <a:schemeClr val="bg2"/>
              </a:solidFill>
              <a:effectLst/>
              <a:latin typeface="Times New Roman" pitchFamily="18" charset="0"/>
              <a:ea typeface="楷体" panose="02010609060101010101" pitchFamily="49"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zh-CN" sz="1200" dirty="0">
              <a:solidFill>
                <a:srgbClr val="FF0000"/>
              </a:solidFill>
              <a:sym typeface="Symbol" panose="05050102010706020507" pitchFamily="18" charset="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0" i="0" kern="1200" dirty="0">
                <a:solidFill>
                  <a:schemeClr val="tx1"/>
                </a:solidFill>
                <a:effectLst/>
                <a:latin typeface="Times New Roman" pitchFamily="18" charset="0"/>
                <a:ea typeface="宋体" pitchFamily="2" charset="-122"/>
                <a:cs typeface="+mn-cs"/>
              </a:rPr>
              <a:t>进程在临界区执行期间，计算机系统不响应中断，从而不会引发调度。</a:t>
            </a:r>
            <a:endParaRPr lang="en-US" altLang="zh-CN" sz="1200" dirty="0">
              <a:solidFill>
                <a:schemeClr val="bg1"/>
              </a:solidFill>
              <a:effectLst>
                <a:outerShdw blurRad="38100" dist="38100" dir="2700000" algn="tl">
                  <a:srgbClr val="000000">
                    <a:alpha val="43137"/>
                  </a:srgbClr>
                </a:outerShdw>
              </a:effectLst>
              <a:latin typeface="+mj-lt"/>
              <a:ea typeface="楷体" panose="02010609060101010101" pitchFamily="49"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b="0" i="0" kern="1200" dirty="0">
                <a:solidFill>
                  <a:schemeClr val="tx1"/>
                </a:solidFill>
                <a:effectLst/>
                <a:latin typeface="Times New Roman" pitchFamily="18" charset="0"/>
                <a:ea typeface="宋体" pitchFamily="2" charset="-122"/>
                <a:cs typeface="+mn-cs"/>
              </a:rPr>
              <a:t>2. </a:t>
            </a:r>
            <a:r>
              <a:rPr kumimoji="1" lang="zh-CN" altLang="en-US" sz="1200" b="0" i="0" kern="1200" dirty="0">
                <a:solidFill>
                  <a:schemeClr val="tx1"/>
                </a:solidFill>
                <a:effectLst/>
                <a:latin typeface="Times New Roman" pitchFamily="18" charset="0"/>
                <a:ea typeface="宋体" pitchFamily="2" charset="-122"/>
                <a:cs typeface="+mn-cs"/>
              </a:rPr>
              <a:t>关中断时间过长，会影响系统效率，限制处理器交叉执行程序的能力</a:t>
            </a:r>
            <a:endParaRPr lang="zh-CN" altLang="en-US" sz="1200" dirty="0">
              <a:solidFill>
                <a:schemeClr val="bg1"/>
              </a:solidFill>
              <a:effectLst>
                <a:outerShdw blurRad="38100" dist="38100" dir="2700000" algn="tl">
                  <a:srgbClr val="000000">
                    <a:alpha val="43137"/>
                  </a:srgbClr>
                </a:outerShdw>
              </a:effectLst>
              <a:latin typeface="+mj-lt"/>
              <a:ea typeface="楷体" panose="02010609060101010101" pitchFamily="49" charset="-122"/>
            </a:endParaRPr>
          </a:p>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9</a:t>
            </a:fld>
            <a:endParaRPr lang="en-US" altLang="zh-CN"/>
          </a:p>
        </p:txBody>
      </p:sp>
    </p:spTree>
    <p:extLst>
      <p:ext uri="{BB962C8B-B14F-4D97-AF65-F5344CB8AC3E}">
        <p14:creationId xmlns:p14="http://schemas.microsoft.com/office/powerpoint/2010/main" val="635691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dirty="0">
                <a:solidFill>
                  <a:schemeClr val="bg2"/>
                </a:solidFill>
                <a:ea typeface="楷体_GB2312" pitchFamily="49" charset="-122"/>
              </a:rPr>
              <a:t>被高层软件调用，完成系统功能</a:t>
            </a:r>
            <a:r>
              <a:rPr lang="zh-CN" altLang="zh-CN" dirty="0">
                <a:solidFill>
                  <a:schemeClr val="bg2"/>
                </a:solidFill>
              </a:rPr>
              <a:t>。</a:t>
            </a:r>
            <a:endParaRPr lang="en-US" altLang="zh-CN" dirty="0">
              <a:solidFill>
                <a:schemeClr val="bg2"/>
              </a:solidFill>
            </a:endParaRPr>
          </a:p>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10</a:t>
            </a:fld>
            <a:endParaRPr lang="en-US" altLang="zh-CN"/>
          </a:p>
        </p:txBody>
      </p:sp>
    </p:spTree>
    <p:extLst>
      <p:ext uri="{BB962C8B-B14F-4D97-AF65-F5344CB8AC3E}">
        <p14:creationId xmlns:p14="http://schemas.microsoft.com/office/powerpoint/2010/main" val="1580370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solidFill>
                  <a:srgbClr val="FF0000"/>
                </a:solidFill>
              </a:rPr>
              <a:t>许多现代系统、特别是多处理器系统都有</a:t>
            </a:r>
            <a:endParaRPr lang="en-US" altLang="zh-CN" dirty="0">
              <a:solidFill>
                <a:srgbClr val="FF0000"/>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solidFill>
                  <a:srgbClr val="FF0000"/>
                </a:solidFill>
              </a:rPr>
              <a:t>硬件方法复杂，不能为程序员直接使用</a:t>
            </a:r>
            <a:endParaRPr lang="en-US" altLang="zh-CN" dirty="0">
              <a:solidFill>
                <a:srgbClr val="FF0000"/>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800" kern="1200" dirty="0">
                <a:solidFill>
                  <a:schemeClr val="bg2"/>
                </a:solidFill>
                <a:latin typeface="Times New Roman" pitchFamily="18" charset="0"/>
                <a:ea typeface="楷体" panose="02010609060101010101" pitchFamily="49" charset="-122"/>
                <a:cs typeface="+mn-cs"/>
              </a:rPr>
              <a:t>适合单处理器或共享内存多处理器上的任何数目的进程</a:t>
            </a:r>
            <a:endParaRPr kumimoji="1" lang="en-US" altLang="zh-CN" sz="800" kern="1200" dirty="0">
              <a:solidFill>
                <a:schemeClr val="bg2"/>
              </a:solidFill>
              <a:latin typeface="Times New Roman" pitchFamily="18" charset="0"/>
              <a:ea typeface="楷体" panose="02010609060101010101" pitchFamily="49" charset="-122"/>
              <a:cs typeface="+mn-cs"/>
              <a:sym typeface="Symbol" panose="05050102010706020507" pitchFamily="18" charset="2"/>
            </a:endParaRPr>
          </a:p>
          <a:p>
            <a:endParaRPr lang="en-US" altLang="zh-CN" dirty="0">
              <a:solidFill>
                <a:schemeClr val="bg2"/>
              </a:solidFill>
              <a:sym typeface="Symbol" panose="05050102010706020507" pitchFamily="18" charset="2"/>
            </a:endParaRPr>
          </a:p>
          <a:p>
            <a:r>
              <a:rPr lang="zh-CN" altLang="en-US" dirty="0">
                <a:solidFill>
                  <a:schemeClr val="bg2"/>
                </a:solidFill>
                <a:sym typeface="Symbol" panose="05050102010706020507" pitchFamily="18" charset="2"/>
              </a:rPr>
              <a:t>抽象指令。不讨论特定机器的特定指令。</a:t>
            </a:r>
            <a:endParaRPr lang="en-US" altLang="zh-CN" dirty="0">
              <a:solidFill>
                <a:schemeClr val="bg2"/>
              </a:solidFill>
              <a:sym typeface="Symbol" panose="05050102010706020507" pitchFamily="18" charset="2"/>
            </a:endParaRPr>
          </a:p>
          <a:p>
            <a:r>
              <a:rPr lang="zh-CN" altLang="en-US" dirty="0">
                <a:solidFill>
                  <a:schemeClr val="bg2"/>
                </a:solidFill>
                <a:sym typeface="Symbol" panose="05050102010706020507" pitchFamily="18" charset="2"/>
              </a:rPr>
              <a:t>原子指令的实现细节，参见计算机体系结构方面的书籍</a:t>
            </a: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11</a:t>
            </a:fld>
            <a:endParaRPr lang="en-US" altLang="zh-CN"/>
          </a:p>
        </p:txBody>
      </p:sp>
    </p:spTree>
    <p:extLst>
      <p:ext uri="{BB962C8B-B14F-4D97-AF65-F5344CB8AC3E}">
        <p14:creationId xmlns:p14="http://schemas.microsoft.com/office/powerpoint/2010/main" val="36112465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12</a:t>
            </a:fld>
            <a:endParaRPr lang="en-US" altLang="zh-CN"/>
          </a:p>
        </p:txBody>
      </p:sp>
    </p:spTree>
    <p:extLst>
      <p:ext uri="{BB962C8B-B14F-4D97-AF65-F5344CB8AC3E}">
        <p14:creationId xmlns:p14="http://schemas.microsoft.com/office/powerpoint/2010/main" val="39411943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solidFill>
                  <a:srgbClr val="FF0000"/>
                </a:solidFill>
                <a:sym typeface="Symbol" panose="05050102010706020507" pitchFamily="18" charset="2"/>
              </a:rPr>
              <a:t>当然由系统承担这个复杂而易错的工作</a:t>
            </a:r>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14</a:t>
            </a:fld>
            <a:endParaRPr lang="en-US" altLang="zh-CN"/>
          </a:p>
        </p:txBody>
      </p:sp>
    </p:spTree>
    <p:extLst>
      <p:ext uri="{BB962C8B-B14F-4D97-AF65-F5344CB8AC3E}">
        <p14:creationId xmlns:p14="http://schemas.microsoft.com/office/powerpoint/2010/main" val="21834766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solidFill>
                  <a:srgbClr val="FF0000"/>
                </a:solidFill>
              </a:rPr>
              <a:t>硬件方法复杂，不能为程序员直接使用</a:t>
            </a:r>
            <a:endParaRPr lang="en-US" altLang="zh-CN" dirty="0">
              <a:solidFill>
                <a:srgbClr val="FF0000"/>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0" i="0" kern="1200" dirty="0">
                <a:solidFill>
                  <a:schemeClr val="tx1"/>
                </a:solidFill>
                <a:effectLst/>
                <a:latin typeface="Times New Roman" pitchFamily="18" charset="0"/>
                <a:ea typeface="宋体" pitchFamily="2" charset="-122"/>
                <a:cs typeface="+mn-cs"/>
              </a:rPr>
              <a:t>互斥锁的起始原始开销要高于自旋锁，但是基本是一劳永逸，临界区持锁时间的大小并不会对互斥锁的开销造成影响</a:t>
            </a:r>
            <a:endParaRPr kumimoji="1"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0" i="0" kern="1200" dirty="0">
                <a:solidFill>
                  <a:schemeClr val="tx1"/>
                </a:solidFill>
                <a:effectLst/>
                <a:latin typeface="Times New Roman" pitchFamily="18" charset="0"/>
                <a:ea typeface="宋体" pitchFamily="2" charset="-122"/>
                <a:cs typeface="+mn-cs"/>
              </a:rPr>
              <a:t>而自旋锁是死循环检测，加锁全程消耗</a:t>
            </a:r>
            <a:r>
              <a:rPr kumimoji="1" lang="en-US" altLang="zh-CN" sz="1200" b="0" i="0" kern="1200" dirty="0" err="1">
                <a:solidFill>
                  <a:schemeClr val="tx1"/>
                </a:solidFill>
                <a:effectLst/>
                <a:latin typeface="Times New Roman" pitchFamily="18" charset="0"/>
                <a:ea typeface="宋体" pitchFamily="2" charset="-122"/>
                <a:cs typeface="+mn-cs"/>
              </a:rPr>
              <a:t>cpu</a:t>
            </a:r>
            <a:r>
              <a:rPr kumimoji="1" lang="zh-CN" altLang="en-US" sz="1200" b="0" i="0" kern="1200" dirty="0">
                <a:solidFill>
                  <a:schemeClr val="tx1"/>
                </a:solidFill>
                <a:effectLst/>
                <a:latin typeface="Times New Roman" pitchFamily="18" charset="0"/>
                <a:ea typeface="宋体" pitchFamily="2" charset="-122"/>
                <a:cs typeface="+mn-cs"/>
              </a:rPr>
              <a:t>，起始开销虽然低于互斥锁，但是随着持锁时间，加锁的开销是线性增长</a:t>
            </a:r>
            <a:endParaRPr kumimoji="1" lang="en-US" altLang="zh-CN" sz="1200" b="0" i="0" kern="1200" dirty="0">
              <a:solidFill>
                <a:schemeClr val="tx1"/>
              </a:solidFill>
              <a:effectLst/>
              <a:latin typeface="Times New Roman" pitchFamily="18" charset="0"/>
              <a:ea typeface="宋体" pitchFamily="2" charset="-122"/>
              <a:cs typeface="+mn-cs"/>
            </a:endParaRPr>
          </a:p>
          <a:p>
            <a:r>
              <a:rPr kumimoji="1" lang="zh-CN" altLang="en-US" sz="1200" b="1" i="0" kern="1200" dirty="0">
                <a:solidFill>
                  <a:schemeClr val="tx1"/>
                </a:solidFill>
                <a:effectLst/>
                <a:latin typeface="Times New Roman" pitchFamily="18" charset="0"/>
                <a:ea typeface="宋体" pitchFamily="2" charset="-122"/>
                <a:cs typeface="+mn-cs"/>
              </a:rPr>
              <a:t>两种锁的应用</a:t>
            </a:r>
            <a:endParaRPr kumimoji="1" lang="zh-CN" altLang="en-US" sz="1200" b="0" i="0" kern="1200" dirty="0">
              <a:solidFill>
                <a:schemeClr val="tx1"/>
              </a:solidFill>
              <a:effectLst/>
              <a:latin typeface="Times New Roman" pitchFamily="18" charset="0"/>
              <a:ea typeface="宋体" pitchFamily="2" charset="-122"/>
              <a:cs typeface="+mn-cs"/>
            </a:endParaRPr>
          </a:p>
          <a:p>
            <a:r>
              <a:rPr kumimoji="1" lang="zh-CN" altLang="en-US" sz="1200" b="0" i="0" kern="1200" dirty="0">
                <a:solidFill>
                  <a:schemeClr val="tx1"/>
                </a:solidFill>
                <a:effectLst/>
                <a:latin typeface="Times New Roman" pitchFamily="18" charset="0"/>
                <a:ea typeface="宋体" pitchFamily="2" charset="-122"/>
                <a:cs typeface="+mn-cs"/>
              </a:rPr>
              <a:t>互斥锁用于临界区持锁时间比较长的操作，比如下面这些情况都可以考虑</a:t>
            </a:r>
          </a:p>
          <a:p>
            <a:r>
              <a:rPr kumimoji="1" lang="en-US" altLang="zh-CN" sz="1200" b="0" i="0" kern="1200" dirty="0">
                <a:solidFill>
                  <a:schemeClr val="tx1"/>
                </a:solidFill>
                <a:effectLst/>
                <a:latin typeface="Times New Roman" pitchFamily="18" charset="0"/>
                <a:ea typeface="宋体" pitchFamily="2" charset="-122"/>
                <a:cs typeface="+mn-cs"/>
              </a:rPr>
              <a:t>1 </a:t>
            </a:r>
            <a:r>
              <a:rPr kumimoji="1" lang="zh-CN" altLang="en-US" sz="1200" b="0" i="0" kern="1200" dirty="0">
                <a:solidFill>
                  <a:schemeClr val="tx1"/>
                </a:solidFill>
                <a:effectLst/>
                <a:latin typeface="Times New Roman" pitchFamily="18" charset="0"/>
                <a:ea typeface="宋体" pitchFamily="2" charset="-122"/>
                <a:cs typeface="+mn-cs"/>
              </a:rPr>
              <a:t>临界区有</a:t>
            </a:r>
            <a:r>
              <a:rPr kumimoji="1" lang="en-US" altLang="zh-CN" sz="1200" b="0" i="0" kern="1200" dirty="0">
                <a:solidFill>
                  <a:schemeClr val="tx1"/>
                </a:solidFill>
                <a:effectLst/>
                <a:latin typeface="Times New Roman" pitchFamily="18" charset="0"/>
                <a:ea typeface="宋体" pitchFamily="2" charset="-122"/>
                <a:cs typeface="+mn-cs"/>
              </a:rPr>
              <a:t>IO</a:t>
            </a:r>
            <a:r>
              <a:rPr kumimoji="1" lang="zh-CN" altLang="en-US" sz="1200" b="0" i="0" kern="1200" dirty="0">
                <a:solidFill>
                  <a:schemeClr val="tx1"/>
                </a:solidFill>
                <a:effectLst/>
                <a:latin typeface="Times New Roman" pitchFamily="18" charset="0"/>
                <a:ea typeface="宋体" pitchFamily="2" charset="-122"/>
                <a:cs typeface="+mn-cs"/>
              </a:rPr>
              <a:t>操作</a:t>
            </a:r>
          </a:p>
          <a:p>
            <a:r>
              <a:rPr kumimoji="1" lang="en-US" altLang="zh-CN" sz="1200" b="0" i="0" kern="1200" dirty="0">
                <a:solidFill>
                  <a:schemeClr val="tx1"/>
                </a:solidFill>
                <a:effectLst/>
                <a:latin typeface="Times New Roman" pitchFamily="18" charset="0"/>
                <a:ea typeface="宋体" pitchFamily="2" charset="-122"/>
                <a:cs typeface="+mn-cs"/>
              </a:rPr>
              <a:t>2 </a:t>
            </a:r>
            <a:r>
              <a:rPr kumimoji="1" lang="zh-CN" altLang="en-US" sz="1200" b="0" i="0" kern="1200" dirty="0">
                <a:solidFill>
                  <a:schemeClr val="tx1"/>
                </a:solidFill>
                <a:effectLst/>
                <a:latin typeface="Times New Roman" pitchFamily="18" charset="0"/>
                <a:ea typeface="宋体" pitchFamily="2" charset="-122"/>
                <a:cs typeface="+mn-cs"/>
              </a:rPr>
              <a:t>临界区代码复杂或者循环量大</a:t>
            </a:r>
          </a:p>
          <a:p>
            <a:r>
              <a:rPr kumimoji="1" lang="en-US" altLang="zh-CN" sz="1200" b="0" i="0" kern="1200" dirty="0">
                <a:solidFill>
                  <a:schemeClr val="tx1"/>
                </a:solidFill>
                <a:effectLst/>
                <a:latin typeface="Times New Roman" pitchFamily="18" charset="0"/>
                <a:ea typeface="宋体" pitchFamily="2" charset="-122"/>
                <a:cs typeface="+mn-cs"/>
              </a:rPr>
              <a:t>3 </a:t>
            </a:r>
            <a:r>
              <a:rPr kumimoji="1" lang="zh-CN" altLang="en-US" sz="1200" b="0" i="0" kern="1200" dirty="0">
                <a:solidFill>
                  <a:schemeClr val="tx1"/>
                </a:solidFill>
                <a:effectLst/>
                <a:latin typeface="Times New Roman" pitchFamily="18" charset="0"/>
                <a:ea typeface="宋体" pitchFamily="2" charset="-122"/>
                <a:cs typeface="+mn-cs"/>
              </a:rPr>
              <a:t>临界区竞争非常激烈</a:t>
            </a:r>
          </a:p>
          <a:p>
            <a:r>
              <a:rPr kumimoji="1" lang="en-US" altLang="zh-CN" sz="1200" b="0" i="0" kern="1200" dirty="0">
                <a:solidFill>
                  <a:schemeClr val="tx1"/>
                </a:solidFill>
                <a:effectLst/>
                <a:latin typeface="Times New Roman" pitchFamily="18" charset="0"/>
                <a:ea typeface="宋体" pitchFamily="2" charset="-122"/>
                <a:cs typeface="+mn-cs"/>
              </a:rPr>
              <a:t>4 </a:t>
            </a:r>
            <a:r>
              <a:rPr kumimoji="1" lang="zh-CN" altLang="en-US" sz="1200" b="0" i="0" kern="1200" dirty="0">
                <a:solidFill>
                  <a:schemeClr val="tx1"/>
                </a:solidFill>
                <a:effectLst/>
                <a:latin typeface="Times New Roman" pitchFamily="18" charset="0"/>
                <a:ea typeface="宋体" pitchFamily="2" charset="-122"/>
                <a:cs typeface="+mn-cs"/>
              </a:rPr>
              <a:t>单核处理器</a:t>
            </a:r>
          </a:p>
          <a:p>
            <a:r>
              <a:rPr kumimoji="1" lang="zh-CN" altLang="en-US" sz="1200" b="0" i="0" kern="1200" dirty="0">
                <a:solidFill>
                  <a:schemeClr val="tx1"/>
                </a:solidFill>
                <a:effectLst/>
                <a:latin typeface="Times New Roman" pitchFamily="18" charset="0"/>
                <a:ea typeface="宋体" pitchFamily="2" charset="-122"/>
                <a:cs typeface="+mn-cs"/>
              </a:rPr>
              <a:t>至于自旋锁就主要用在临界区持锁时间非常短且</a:t>
            </a:r>
            <a:r>
              <a:rPr kumimoji="1" lang="en-US" altLang="zh-CN" sz="1200" b="0" i="0" kern="1200" dirty="0">
                <a:solidFill>
                  <a:schemeClr val="tx1"/>
                </a:solidFill>
                <a:effectLst/>
                <a:latin typeface="Times New Roman" pitchFamily="18" charset="0"/>
                <a:ea typeface="宋体" pitchFamily="2" charset="-122"/>
                <a:cs typeface="+mn-cs"/>
              </a:rPr>
              <a:t>CPU</a:t>
            </a:r>
            <a:r>
              <a:rPr kumimoji="1" lang="zh-CN" altLang="en-US" sz="1200" b="0" i="0" kern="1200" dirty="0">
                <a:solidFill>
                  <a:schemeClr val="tx1"/>
                </a:solidFill>
                <a:effectLst/>
                <a:latin typeface="Times New Roman" pitchFamily="18" charset="0"/>
                <a:ea typeface="宋体" pitchFamily="2" charset="-122"/>
                <a:cs typeface="+mn-cs"/>
              </a:rPr>
              <a:t>资源不紧张的情况下，自旋锁一般用于多核的服务器。一个线程在处理器上旋转，其它线程在其它处理器上访问临界区。</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solidFill>
                <a:srgbClr val="FF0000"/>
              </a:solidFill>
            </a:endParaRP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15</a:t>
            </a:fld>
            <a:endParaRPr lang="en-US" altLang="zh-CN"/>
          </a:p>
        </p:txBody>
      </p:sp>
    </p:spTree>
    <p:extLst>
      <p:ext uri="{BB962C8B-B14F-4D97-AF65-F5344CB8AC3E}">
        <p14:creationId xmlns:p14="http://schemas.microsoft.com/office/powerpoint/2010/main" val="1128928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en-US" altLang="zh-CN" sz="1200" b="0" i="0" kern="1200" dirty="0">
                <a:solidFill>
                  <a:schemeClr val="tx1"/>
                </a:solidFill>
                <a:effectLst/>
                <a:latin typeface="Times New Roman" pitchFamily="18" charset="0"/>
                <a:ea typeface="宋体" pitchFamily="2" charset="-122"/>
                <a:cs typeface="+mn-cs"/>
              </a:rPr>
              <a:t>Spinlock</a:t>
            </a:r>
            <a:r>
              <a:rPr lang="zh-CN" altLang="en-US" dirty="0"/>
              <a:t/>
            </a:r>
            <a:br>
              <a:rPr lang="zh-CN" altLang="en-US" dirty="0"/>
            </a:br>
            <a:r>
              <a:rPr kumimoji="1" lang="en-US" altLang="zh-CN" sz="1200" b="0" i="0" kern="1200" dirty="0">
                <a:solidFill>
                  <a:schemeClr val="tx1"/>
                </a:solidFill>
                <a:effectLst/>
                <a:latin typeface="Times New Roman" pitchFamily="18" charset="0"/>
                <a:ea typeface="宋体" pitchFamily="2" charset="-122"/>
                <a:cs typeface="+mn-cs"/>
              </a:rPr>
              <a:t>1. </a:t>
            </a:r>
            <a:r>
              <a:rPr kumimoji="1" lang="zh-CN" altLang="en-US" sz="1200" b="0" i="0" kern="1200" dirty="0">
                <a:solidFill>
                  <a:schemeClr val="tx1"/>
                </a:solidFill>
                <a:effectLst/>
                <a:latin typeface="Times New Roman" pitchFamily="18" charset="0"/>
                <a:ea typeface="宋体" pitchFamily="2" charset="-122"/>
                <a:cs typeface="+mn-cs"/>
              </a:rPr>
              <a:t>在短时间内进行轻量级加锁</a:t>
            </a:r>
            <a:r>
              <a:rPr kumimoji="1" lang="en-US" altLang="zh-CN" sz="1200" b="0" i="0" kern="1200" dirty="0">
                <a:solidFill>
                  <a:schemeClr val="tx1"/>
                </a:solidFill>
                <a:effectLst/>
                <a:latin typeface="Times New Roman" pitchFamily="18" charset="0"/>
                <a:ea typeface="宋体" pitchFamily="2" charset="-122"/>
                <a:cs typeface="+mn-cs"/>
              </a:rPr>
              <a:t>;</a:t>
            </a:r>
            <a:r>
              <a:rPr lang="zh-CN" altLang="en-US" dirty="0"/>
              <a:t/>
            </a:r>
            <a:br>
              <a:rPr lang="zh-CN" altLang="en-US" dirty="0"/>
            </a:br>
            <a:r>
              <a:rPr kumimoji="1" lang="en-US" altLang="zh-CN" sz="1200" b="0" i="0" kern="1200" dirty="0">
                <a:solidFill>
                  <a:schemeClr val="tx1"/>
                </a:solidFill>
                <a:effectLst/>
                <a:latin typeface="Times New Roman" pitchFamily="18" charset="0"/>
                <a:ea typeface="宋体" pitchFamily="2" charset="-122"/>
                <a:cs typeface="+mn-cs"/>
              </a:rPr>
              <a:t>2. </a:t>
            </a:r>
            <a:r>
              <a:rPr kumimoji="1" lang="zh-CN" altLang="en-US" sz="1200" b="0" i="0" kern="1200" dirty="0">
                <a:solidFill>
                  <a:schemeClr val="tx1"/>
                </a:solidFill>
                <a:effectLst/>
                <a:latin typeface="Times New Roman" pitchFamily="18" charset="0"/>
                <a:ea typeface="宋体" pitchFamily="2" charset="-122"/>
                <a:cs typeface="+mn-cs"/>
              </a:rPr>
              <a:t>获取过程一直进行忙循环</a:t>
            </a:r>
            <a:r>
              <a:rPr kumimoji="1" lang="en-US" altLang="zh-CN" sz="1200" b="0"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旋转</a:t>
            </a:r>
            <a:r>
              <a:rPr kumimoji="1" lang="en-US" altLang="zh-CN" sz="1200" b="0"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等待锁重新可用（占用</a:t>
            </a:r>
            <a:r>
              <a:rPr kumimoji="1" lang="en-US" altLang="zh-CN" sz="1200" b="0" i="0" kern="1200" dirty="0">
                <a:solidFill>
                  <a:schemeClr val="tx1"/>
                </a:solidFill>
                <a:effectLst/>
                <a:latin typeface="Times New Roman" pitchFamily="18" charset="0"/>
                <a:ea typeface="宋体" pitchFamily="2" charset="-122"/>
                <a:cs typeface="+mn-cs"/>
              </a:rPr>
              <a:t>CPU</a:t>
            </a:r>
            <a:r>
              <a:rPr kumimoji="1" lang="zh-CN" altLang="en-US" sz="1200" b="0" i="0" kern="1200" dirty="0">
                <a:solidFill>
                  <a:schemeClr val="tx1"/>
                </a:solidFill>
                <a:effectLst/>
                <a:latin typeface="Times New Roman" pitchFamily="18" charset="0"/>
                <a:ea typeface="宋体" pitchFamily="2" charset="-122"/>
                <a:cs typeface="+mn-cs"/>
              </a:rPr>
              <a:t>时间长）；</a:t>
            </a:r>
            <a:r>
              <a:rPr lang="zh-CN" altLang="en-US" dirty="0"/>
              <a:t/>
            </a:r>
            <a:br>
              <a:rPr lang="zh-CN" altLang="en-US" dirty="0"/>
            </a:br>
            <a:r>
              <a:rPr kumimoji="1" lang="en-US" altLang="zh-CN" sz="1200" b="0" i="0" kern="1200" dirty="0">
                <a:solidFill>
                  <a:schemeClr val="tx1"/>
                </a:solidFill>
                <a:effectLst/>
                <a:latin typeface="Times New Roman" pitchFamily="18" charset="0"/>
                <a:ea typeface="宋体" pitchFamily="2" charset="-122"/>
                <a:cs typeface="+mn-cs"/>
              </a:rPr>
              <a:t>3. xv6</a:t>
            </a:r>
            <a:r>
              <a:rPr kumimoji="1" lang="zh-CN" altLang="en-US" sz="1200" b="0" i="0" kern="1200" dirty="0">
                <a:solidFill>
                  <a:schemeClr val="tx1"/>
                </a:solidFill>
                <a:effectLst/>
                <a:latin typeface="Times New Roman" pitchFamily="18" charset="0"/>
                <a:ea typeface="宋体" pitchFamily="2" charset="-122"/>
                <a:cs typeface="+mn-cs"/>
              </a:rPr>
              <a:t>要求在持有</a:t>
            </a:r>
            <a:r>
              <a:rPr kumimoji="1" lang="en-US" altLang="zh-CN" sz="1200" b="0" i="0" kern="1200" dirty="0">
                <a:solidFill>
                  <a:schemeClr val="tx1"/>
                </a:solidFill>
                <a:effectLst/>
                <a:latin typeface="Times New Roman" pitchFamily="18" charset="0"/>
                <a:ea typeface="宋体" pitchFamily="2" charset="-122"/>
                <a:cs typeface="+mn-cs"/>
              </a:rPr>
              <a:t>spinlock</a:t>
            </a:r>
            <a:r>
              <a:rPr kumimoji="1" lang="zh-CN" altLang="en-US" sz="1200" b="0" i="0" kern="1200" dirty="0">
                <a:solidFill>
                  <a:schemeClr val="tx1"/>
                </a:solidFill>
                <a:effectLst/>
                <a:latin typeface="Times New Roman" pitchFamily="18" charset="0"/>
                <a:ea typeface="宋体" pitchFamily="2" charset="-122"/>
                <a:cs typeface="+mn-cs"/>
              </a:rPr>
              <a:t>期间，中断不允许发生</a:t>
            </a: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16</a:t>
            </a:fld>
            <a:endParaRPr lang="en-US" altLang="zh-CN"/>
          </a:p>
        </p:txBody>
      </p:sp>
    </p:spTree>
    <p:extLst>
      <p:ext uri="{BB962C8B-B14F-4D97-AF65-F5344CB8AC3E}">
        <p14:creationId xmlns:p14="http://schemas.microsoft.com/office/powerpoint/2010/main" val="37223713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17</a:t>
            </a:fld>
            <a:endParaRPr lang="en-US" altLang="zh-CN"/>
          </a:p>
        </p:txBody>
      </p:sp>
    </p:spTree>
    <p:extLst>
      <p:ext uri="{BB962C8B-B14F-4D97-AF65-F5344CB8AC3E}">
        <p14:creationId xmlns:p14="http://schemas.microsoft.com/office/powerpoint/2010/main" val="3799884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18</a:t>
            </a:fld>
            <a:endParaRPr lang="en-US" altLang="zh-CN"/>
          </a:p>
        </p:txBody>
      </p:sp>
    </p:spTree>
    <p:extLst>
      <p:ext uri="{BB962C8B-B14F-4D97-AF65-F5344CB8AC3E}">
        <p14:creationId xmlns:p14="http://schemas.microsoft.com/office/powerpoint/2010/main" val="29347119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21</a:t>
            </a:fld>
            <a:endParaRPr lang="en-US" altLang="zh-CN"/>
          </a:p>
        </p:txBody>
      </p:sp>
    </p:spTree>
    <p:extLst>
      <p:ext uri="{BB962C8B-B14F-4D97-AF65-F5344CB8AC3E}">
        <p14:creationId xmlns:p14="http://schemas.microsoft.com/office/powerpoint/2010/main" val="30716066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P</a:t>
            </a:r>
            <a:r>
              <a:rPr lang="zh-CN" altLang="en-US" dirty="0"/>
              <a:t>的名称来源于荷兰语的</a:t>
            </a:r>
            <a:r>
              <a:rPr lang="en-US" altLang="zh-CN" dirty="0" err="1"/>
              <a:t>proberen</a:t>
            </a:r>
            <a:r>
              <a:rPr lang="zh-CN" altLang="en-US" dirty="0"/>
              <a:t>，即</a:t>
            </a:r>
            <a:r>
              <a:rPr lang="en-US" altLang="zh-CN" dirty="0"/>
              <a:t>test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V</a:t>
            </a:r>
            <a:r>
              <a:rPr lang="zh-CN" altLang="en-US" dirty="0"/>
              <a:t>的名称也来源于荷兰语</a:t>
            </a:r>
            <a:r>
              <a:rPr lang="en-US" altLang="zh-CN" dirty="0" err="1"/>
              <a:t>verhogen</a:t>
            </a:r>
            <a:r>
              <a:rPr lang="en-US" altLang="zh-CN" dirty="0"/>
              <a:t>(increment)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solidFill>
                <a:srgbClr val="FF0000"/>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solidFill>
                  <a:srgbClr val="FF0000"/>
                </a:solidFill>
              </a:rPr>
              <a:t>信号量和自旋锁的主要区别就是要睡眠</a:t>
            </a:r>
            <a:r>
              <a:rPr lang="en-US" altLang="zh-CN" dirty="0">
                <a:solidFill>
                  <a:srgbClr val="FF0000"/>
                </a:solidFill>
              </a:rPr>
              <a:t>!</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22</a:t>
            </a:fld>
            <a:endParaRPr lang="en-US" altLang="zh-CN"/>
          </a:p>
        </p:txBody>
      </p:sp>
    </p:spTree>
    <p:extLst>
      <p:ext uri="{BB962C8B-B14F-4D97-AF65-F5344CB8AC3E}">
        <p14:creationId xmlns:p14="http://schemas.microsoft.com/office/powerpoint/2010/main" val="39702909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23</a:t>
            </a:fld>
            <a:endParaRPr lang="en-US" altLang="zh-CN"/>
          </a:p>
        </p:txBody>
      </p:sp>
    </p:spTree>
    <p:extLst>
      <p:ext uri="{BB962C8B-B14F-4D97-AF65-F5344CB8AC3E}">
        <p14:creationId xmlns:p14="http://schemas.microsoft.com/office/powerpoint/2010/main" val="11690850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solidFill>
                  <a:schemeClr val="bg2"/>
                </a:solidFill>
                <a:latin typeface="+mn-lt"/>
                <a:ea typeface="楷体" panose="02010609060101010101" pitchFamily="49" charset="-122"/>
              </a:rPr>
              <a:t>与二元信号量的区别：为互斥量加锁和解锁的必须为同一进程。</a:t>
            </a:r>
            <a:endParaRPr lang="en-US" altLang="zh-CN" dirty="0">
              <a:solidFill>
                <a:schemeClr val="bg2"/>
              </a:solidFill>
              <a:latin typeface="+mn-lt"/>
              <a:ea typeface="楷体" panose="02010609060101010101" pitchFamily="49"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0" i="0" kern="1200" dirty="0">
                <a:solidFill>
                  <a:schemeClr val="tx1"/>
                </a:solidFill>
                <a:effectLst/>
                <a:latin typeface="Times New Roman" pitchFamily="18" charset="0"/>
                <a:ea typeface="宋体" pitchFamily="2" charset="-122"/>
                <a:cs typeface="+mn-cs"/>
              </a:rPr>
              <a:t>在</a:t>
            </a:r>
            <a:r>
              <a:rPr kumimoji="1" lang="en-US" altLang="zh-CN" sz="1200" b="0" i="0" kern="1200" dirty="0">
                <a:solidFill>
                  <a:schemeClr val="tx1"/>
                </a:solidFill>
                <a:effectLst/>
                <a:latin typeface="Times New Roman" pitchFamily="18" charset="0"/>
                <a:ea typeface="宋体" pitchFamily="2" charset="-122"/>
                <a:cs typeface="+mn-cs"/>
              </a:rPr>
              <a:t>xv6</a:t>
            </a:r>
            <a:r>
              <a:rPr kumimoji="1" lang="zh-CN" altLang="en-US" sz="1200" b="0" i="0" kern="1200" dirty="0">
                <a:solidFill>
                  <a:schemeClr val="tx1"/>
                </a:solidFill>
                <a:effectLst/>
                <a:latin typeface="Times New Roman" pitchFamily="18" charset="0"/>
                <a:ea typeface="宋体" pitchFamily="2" charset="-122"/>
                <a:cs typeface="+mn-cs"/>
              </a:rPr>
              <a:t>中实现了两种锁，第一种就是自旋锁，如果没获得锁就一直死循环。还有一种是</a:t>
            </a:r>
            <a:r>
              <a:rPr kumimoji="1" lang="en-US" altLang="zh-CN" sz="1200" b="0" i="0" kern="1200" dirty="0">
                <a:solidFill>
                  <a:schemeClr val="tx1"/>
                </a:solidFill>
                <a:effectLst/>
                <a:latin typeface="Times New Roman" pitchFamily="18" charset="0"/>
                <a:ea typeface="宋体" pitchFamily="2" charset="-122"/>
                <a:cs typeface="+mn-cs"/>
              </a:rPr>
              <a:t>sleep</a:t>
            </a:r>
            <a:r>
              <a:rPr kumimoji="1" lang="zh-CN" altLang="en-US" sz="1200" b="0" i="0" kern="1200" dirty="0">
                <a:solidFill>
                  <a:schemeClr val="tx1"/>
                </a:solidFill>
                <a:effectLst/>
                <a:latin typeface="Times New Roman" pitchFamily="18" charset="0"/>
                <a:ea typeface="宋体" pitchFamily="2" charset="-122"/>
                <a:cs typeface="+mn-cs"/>
              </a:rPr>
              <a:t>锁，也就是没有获取到锁的话，就会使用</a:t>
            </a:r>
            <a:r>
              <a:rPr kumimoji="1" lang="en-US" altLang="zh-CN" sz="1200" b="0" i="0" kern="1200" dirty="0">
                <a:solidFill>
                  <a:schemeClr val="tx1"/>
                </a:solidFill>
                <a:effectLst/>
                <a:latin typeface="Times New Roman" pitchFamily="18" charset="0"/>
                <a:ea typeface="宋体" pitchFamily="2" charset="-122"/>
                <a:cs typeface="+mn-cs"/>
              </a:rPr>
              <a:t>sleep</a:t>
            </a:r>
            <a:r>
              <a:rPr kumimoji="1" lang="zh-CN" altLang="en-US" sz="1200" b="0" i="0" kern="1200" dirty="0">
                <a:solidFill>
                  <a:schemeClr val="tx1"/>
                </a:solidFill>
                <a:effectLst/>
                <a:latin typeface="Times New Roman" pitchFamily="18" charset="0"/>
                <a:ea typeface="宋体" pitchFamily="2" charset="-122"/>
                <a:cs typeface="+mn-cs"/>
              </a:rPr>
              <a:t>，</a:t>
            </a:r>
            <a:endParaRPr lang="zh-CN" altLang="en-US" dirty="0">
              <a:solidFill>
                <a:schemeClr val="bg2"/>
              </a:solidFill>
            </a:endParaRP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24</a:t>
            </a:fld>
            <a:endParaRPr lang="en-US" altLang="zh-CN"/>
          </a:p>
        </p:txBody>
      </p:sp>
    </p:spTree>
    <p:extLst>
      <p:ext uri="{BB962C8B-B14F-4D97-AF65-F5344CB8AC3E}">
        <p14:creationId xmlns:p14="http://schemas.microsoft.com/office/powerpoint/2010/main" val="28771076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itchFamily="18" charset="0"/>
                <a:ea typeface="宋体" pitchFamily="2" charset="-122"/>
                <a:cs typeface="+mn-cs"/>
              </a:rPr>
              <a:t>疑问：为什么对</a:t>
            </a:r>
            <a:r>
              <a:rPr kumimoji="1" lang="en-US" altLang="zh-CN" sz="1200" b="0" i="0" kern="1200" dirty="0" err="1">
                <a:solidFill>
                  <a:schemeClr val="tx1"/>
                </a:solidFill>
                <a:effectLst/>
                <a:latin typeface="Times New Roman" pitchFamily="18" charset="0"/>
                <a:ea typeface="宋体" pitchFamily="2" charset="-122"/>
                <a:cs typeface="+mn-cs"/>
              </a:rPr>
              <a:t>sleeplock</a:t>
            </a:r>
            <a:r>
              <a:rPr kumimoji="1" lang="zh-CN" altLang="en-US" sz="1200" b="0" i="0" kern="1200" dirty="0">
                <a:solidFill>
                  <a:schemeClr val="tx1"/>
                </a:solidFill>
                <a:effectLst/>
                <a:latin typeface="Times New Roman" pitchFamily="18" charset="0"/>
                <a:ea typeface="宋体" pitchFamily="2" charset="-122"/>
                <a:cs typeface="+mn-cs"/>
              </a:rPr>
              <a:t>还要加上</a:t>
            </a:r>
            <a:r>
              <a:rPr kumimoji="1" lang="en-US" altLang="zh-CN" sz="1200" b="0" i="0" kern="1200" dirty="0">
                <a:solidFill>
                  <a:schemeClr val="tx1"/>
                </a:solidFill>
                <a:effectLst/>
                <a:latin typeface="Times New Roman" pitchFamily="18" charset="0"/>
                <a:ea typeface="宋体" pitchFamily="2" charset="-122"/>
                <a:cs typeface="+mn-cs"/>
              </a:rPr>
              <a:t>spinlock</a:t>
            </a:r>
            <a:r>
              <a:rPr kumimoji="1" lang="zh-CN" altLang="en-US" sz="1200" b="0" i="0" kern="1200" dirty="0">
                <a:solidFill>
                  <a:schemeClr val="tx1"/>
                </a:solidFill>
                <a:effectLst/>
                <a:latin typeface="Times New Roman" pitchFamily="18" charset="0"/>
                <a:ea typeface="宋体" pitchFamily="2" charset="-122"/>
                <a:cs typeface="+mn-cs"/>
              </a:rPr>
              <a:t>的保护？</a:t>
            </a:r>
            <a:endParaRPr kumimoji="1" lang="en-US" altLang="zh-CN" sz="1200" b="0" i="0" kern="1200" dirty="0">
              <a:solidFill>
                <a:schemeClr val="tx1"/>
              </a:solidFill>
              <a:effectLst/>
              <a:latin typeface="Times New Roman" pitchFamily="18" charset="0"/>
              <a:ea typeface="宋体" pitchFamily="2" charset="-122"/>
              <a:cs typeface="+mn-cs"/>
            </a:endParaRPr>
          </a:p>
          <a:p>
            <a:endParaRPr kumimoji="1" lang="en-US" altLang="zh-CN" sz="1200" b="0" i="0" kern="1200" dirty="0">
              <a:solidFill>
                <a:schemeClr val="tx1"/>
              </a:solidFill>
              <a:effectLst/>
              <a:latin typeface="Times New Roman" pitchFamily="18" charset="0"/>
              <a:ea typeface="宋体" pitchFamily="2" charset="-122"/>
              <a:cs typeface="+mn-cs"/>
            </a:endParaRPr>
          </a:p>
          <a:p>
            <a:r>
              <a:rPr kumimoji="1" lang="en-US" altLang="zh-CN" sz="1200" b="0" i="0" kern="1200" dirty="0">
                <a:solidFill>
                  <a:schemeClr val="tx1"/>
                </a:solidFill>
                <a:effectLst/>
                <a:latin typeface="Times New Roman" pitchFamily="18" charset="0"/>
                <a:ea typeface="宋体" pitchFamily="2" charset="-122"/>
                <a:cs typeface="+mn-cs"/>
              </a:rPr>
              <a:t>// Atomically release lock and sleep on chan.</a:t>
            </a:r>
          </a:p>
          <a:p>
            <a:r>
              <a:rPr kumimoji="1" lang="en-US" altLang="zh-CN" sz="1200" b="0" i="0" kern="1200" dirty="0">
                <a:solidFill>
                  <a:schemeClr val="tx1"/>
                </a:solidFill>
                <a:effectLst/>
                <a:latin typeface="Times New Roman" pitchFamily="18" charset="0"/>
                <a:ea typeface="宋体" pitchFamily="2" charset="-122"/>
                <a:cs typeface="+mn-cs"/>
              </a:rPr>
              <a:t>// Reacquires lock when awakened.</a:t>
            </a:r>
          </a:p>
          <a:p>
            <a:r>
              <a:rPr kumimoji="1" lang="en-US" altLang="zh-CN" sz="1200" b="0" i="0" kern="1200" dirty="0">
                <a:solidFill>
                  <a:schemeClr val="tx1"/>
                </a:solidFill>
                <a:effectLst/>
                <a:latin typeface="Times New Roman" pitchFamily="18" charset="0"/>
                <a:ea typeface="宋体" pitchFamily="2" charset="-122"/>
                <a:cs typeface="+mn-cs"/>
              </a:rPr>
              <a:t>void sleep(void *</a:t>
            </a:r>
            <a:r>
              <a:rPr kumimoji="1" lang="en-US" altLang="zh-CN" sz="1200" b="0" i="0" kern="1200" dirty="0" err="1">
                <a:solidFill>
                  <a:schemeClr val="tx1"/>
                </a:solidFill>
                <a:effectLst/>
                <a:latin typeface="Times New Roman" pitchFamily="18" charset="0"/>
                <a:ea typeface="宋体" pitchFamily="2" charset="-122"/>
                <a:cs typeface="+mn-cs"/>
              </a:rPr>
              <a:t>chan</a:t>
            </a:r>
            <a:r>
              <a:rPr kumimoji="1" lang="en-US" altLang="zh-CN" sz="1200" b="0" i="0" kern="1200" dirty="0">
                <a:solidFill>
                  <a:schemeClr val="tx1"/>
                </a:solidFill>
                <a:effectLst/>
                <a:latin typeface="Times New Roman" pitchFamily="18" charset="0"/>
                <a:ea typeface="宋体" pitchFamily="2" charset="-122"/>
                <a:cs typeface="+mn-cs"/>
              </a:rPr>
              <a:t>, struct spinlock *</a:t>
            </a:r>
            <a:r>
              <a:rPr kumimoji="1" lang="en-US" altLang="zh-CN" sz="1200" b="0" i="0" kern="1200" dirty="0" err="1">
                <a:solidFill>
                  <a:schemeClr val="tx1"/>
                </a:solidFill>
                <a:effectLst/>
                <a:latin typeface="Times New Roman" pitchFamily="18" charset="0"/>
                <a:ea typeface="宋体" pitchFamily="2" charset="-122"/>
                <a:cs typeface="+mn-cs"/>
              </a:rPr>
              <a:t>lk</a:t>
            </a:r>
            <a:r>
              <a:rPr kumimoji="1" lang="en-US" altLang="zh-CN" sz="1200" b="0" i="0" kern="1200" dirty="0">
                <a:solidFill>
                  <a:schemeClr val="tx1"/>
                </a:solidFill>
                <a:effectLst/>
                <a:latin typeface="Times New Roman" pitchFamily="18" charset="0"/>
                <a:ea typeface="宋体" pitchFamily="2" charset="-122"/>
                <a:cs typeface="+mn-cs"/>
              </a:rPr>
              <a:t>)</a:t>
            </a:r>
          </a:p>
          <a:p>
            <a:r>
              <a:rPr kumimoji="1" lang="en-US" altLang="zh-CN" sz="1200" b="0" i="0" kern="1200" dirty="0">
                <a:solidFill>
                  <a:schemeClr val="tx1"/>
                </a:solidFill>
                <a:effectLst/>
                <a:latin typeface="Times New Roman" pitchFamily="18" charset="0"/>
                <a:ea typeface="宋体" pitchFamily="2" charset="-122"/>
                <a:cs typeface="+mn-cs"/>
              </a:rPr>
              <a:t>{</a:t>
            </a:r>
          </a:p>
          <a:p>
            <a:r>
              <a:rPr kumimoji="1" lang="en-US" altLang="zh-CN" sz="1200" b="0" i="0" kern="1200" dirty="0">
                <a:solidFill>
                  <a:schemeClr val="tx1"/>
                </a:solidFill>
                <a:effectLst/>
                <a:latin typeface="Times New Roman" pitchFamily="18" charset="0"/>
                <a:ea typeface="宋体" pitchFamily="2" charset="-122"/>
                <a:cs typeface="+mn-cs"/>
              </a:rPr>
              <a:t>  struct proc *p = </a:t>
            </a:r>
            <a:r>
              <a:rPr kumimoji="1" lang="en-US" altLang="zh-CN" sz="1200" b="0" i="0" kern="1200" dirty="0" err="1">
                <a:solidFill>
                  <a:schemeClr val="tx1"/>
                </a:solidFill>
                <a:effectLst/>
                <a:latin typeface="Times New Roman" pitchFamily="18" charset="0"/>
                <a:ea typeface="宋体" pitchFamily="2" charset="-122"/>
                <a:cs typeface="+mn-cs"/>
              </a:rPr>
              <a:t>myproc</a:t>
            </a:r>
            <a:r>
              <a:rPr kumimoji="1" lang="en-US" altLang="zh-CN" sz="1200" b="0" i="0" kern="1200" dirty="0">
                <a:solidFill>
                  <a:schemeClr val="tx1"/>
                </a:solidFill>
                <a:effectLst/>
                <a:latin typeface="Times New Roman" pitchFamily="18" charset="0"/>
                <a:ea typeface="宋体" pitchFamily="2" charset="-122"/>
                <a:cs typeface="+mn-cs"/>
              </a:rPr>
              <a:t>();</a:t>
            </a:r>
          </a:p>
          <a:p>
            <a:r>
              <a:rPr kumimoji="1" lang="en-US" altLang="zh-CN" sz="1200" b="0" i="0" kern="1200" dirty="0">
                <a:solidFill>
                  <a:schemeClr val="tx1"/>
                </a:solidFill>
                <a:effectLst/>
                <a:latin typeface="Times New Roman" pitchFamily="18" charset="0"/>
                <a:ea typeface="宋体" pitchFamily="2" charset="-122"/>
                <a:cs typeface="+mn-cs"/>
              </a:rPr>
              <a:t>  </a:t>
            </a:r>
          </a:p>
          <a:p>
            <a:r>
              <a:rPr kumimoji="1" lang="en-US" altLang="zh-CN" sz="1200" b="0" i="0" kern="1200" dirty="0">
                <a:solidFill>
                  <a:schemeClr val="tx1"/>
                </a:solidFill>
                <a:effectLst/>
                <a:latin typeface="Times New Roman" pitchFamily="18" charset="0"/>
                <a:ea typeface="宋体" pitchFamily="2" charset="-122"/>
                <a:cs typeface="+mn-cs"/>
              </a:rPr>
              <a:t>  // Must acquire p-&gt;lock in order to</a:t>
            </a:r>
          </a:p>
          <a:p>
            <a:r>
              <a:rPr kumimoji="1" lang="en-US" altLang="zh-CN" sz="1200" b="0" i="0" kern="1200" dirty="0">
                <a:solidFill>
                  <a:schemeClr val="tx1"/>
                </a:solidFill>
                <a:effectLst/>
                <a:latin typeface="Times New Roman" pitchFamily="18" charset="0"/>
                <a:ea typeface="宋体" pitchFamily="2" charset="-122"/>
                <a:cs typeface="+mn-cs"/>
              </a:rPr>
              <a:t>  // change p-&gt;state and then call sched.</a:t>
            </a:r>
          </a:p>
          <a:p>
            <a:r>
              <a:rPr kumimoji="1" lang="en-US" altLang="zh-CN" sz="1200" b="0" i="0" kern="1200" dirty="0">
                <a:solidFill>
                  <a:schemeClr val="tx1"/>
                </a:solidFill>
                <a:effectLst/>
                <a:latin typeface="Times New Roman" pitchFamily="18" charset="0"/>
                <a:ea typeface="宋体" pitchFamily="2" charset="-122"/>
                <a:cs typeface="+mn-cs"/>
              </a:rPr>
              <a:t>  // Once we hold p-&gt;lock, we can be</a:t>
            </a:r>
          </a:p>
          <a:p>
            <a:r>
              <a:rPr kumimoji="1" lang="en-US" altLang="zh-CN" sz="1200" b="0" i="0" kern="1200" dirty="0">
                <a:solidFill>
                  <a:schemeClr val="tx1"/>
                </a:solidFill>
                <a:effectLst/>
                <a:latin typeface="Times New Roman" pitchFamily="18" charset="0"/>
                <a:ea typeface="宋体" pitchFamily="2" charset="-122"/>
                <a:cs typeface="+mn-cs"/>
              </a:rPr>
              <a:t>  // guaranteed that we won't miss any wakeup</a:t>
            </a:r>
          </a:p>
          <a:p>
            <a:r>
              <a:rPr kumimoji="1" lang="en-US" altLang="zh-CN" sz="1200" b="0" i="0" kern="1200" dirty="0">
                <a:solidFill>
                  <a:schemeClr val="tx1"/>
                </a:solidFill>
                <a:effectLst/>
                <a:latin typeface="Times New Roman" pitchFamily="18" charset="0"/>
                <a:ea typeface="宋体" pitchFamily="2" charset="-122"/>
                <a:cs typeface="+mn-cs"/>
              </a:rPr>
              <a:t>  // (wakeup locks p-&gt;lock),</a:t>
            </a:r>
          </a:p>
          <a:p>
            <a:r>
              <a:rPr kumimoji="1" lang="en-US" altLang="zh-CN" sz="1200" b="0" i="0" kern="1200" dirty="0">
                <a:solidFill>
                  <a:schemeClr val="tx1"/>
                </a:solidFill>
                <a:effectLst/>
                <a:latin typeface="Times New Roman" pitchFamily="18" charset="0"/>
                <a:ea typeface="宋体" pitchFamily="2" charset="-122"/>
                <a:cs typeface="+mn-cs"/>
              </a:rPr>
              <a:t>  // so it's okay to release </a:t>
            </a:r>
            <a:r>
              <a:rPr kumimoji="1" lang="en-US" altLang="zh-CN" sz="1200" b="0" i="0" kern="1200" dirty="0" err="1">
                <a:solidFill>
                  <a:schemeClr val="tx1"/>
                </a:solidFill>
                <a:effectLst/>
                <a:latin typeface="Times New Roman" pitchFamily="18" charset="0"/>
                <a:ea typeface="宋体" pitchFamily="2" charset="-122"/>
                <a:cs typeface="+mn-cs"/>
              </a:rPr>
              <a:t>lk</a:t>
            </a:r>
            <a:r>
              <a:rPr kumimoji="1" lang="en-US" altLang="zh-CN" sz="1200" b="0" i="0" kern="1200" dirty="0">
                <a:solidFill>
                  <a:schemeClr val="tx1"/>
                </a:solidFill>
                <a:effectLst/>
                <a:latin typeface="Times New Roman" pitchFamily="18" charset="0"/>
                <a:ea typeface="宋体" pitchFamily="2" charset="-122"/>
                <a:cs typeface="+mn-cs"/>
              </a:rPr>
              <a:t>.</a:t>
            </a:r>
          </a:p>
          <a:p>
            <a:endParaRPr kumimoji="1" lang="en-US" altLang="zh-CN" sz="1200" b="0" i="0" kern="1200" dirty="0">
              <a:solidFill>
                <a:schemeClr val="tx1"/>
              </a:solidFill>
              <a:effectLst/>
              <a:latin typeface="Times New Roman" pitchFamily="18" charset="0"/>
              <a:ea typeface="宋体" pitchFamily="2" charset="-122"/>
              <a:cs typeface="+mn-cs"/>
            </a:endParaRPr>
          </a:p>
          <a:p>
            <a:r>
              <a:rPr kumimoji="1" lang="en-US" altLang="zh-CN" sz="1200" b="0" i="0" kern="1200" dirty="0">
                <a:solidFill>
                  <a:schemeClr val="tx1"/>
                </a:solidFill>
                <a:effectLst/>
                <a:latin typeface="Times New Roman" pitchFamily="18" charset="0"/>
                <a:ea typeface="宋体" pitchFamily="2" charset="-122"/>
                <a:cs typeface="+mn-cs"/>
              </a:rPr>
              <a:t>sleep-lock</a:t>
            </a:r>
            <a:r>
              <a:rPr lang="zh-CN" altLang="en-US" dirty="0"/>
              <a:t/>
            </a:r>
            <a:br>
              <a:rPr lang="zh-CN" altLang="en-US" dirty="0"/>
            </a:br>
            <a:r>
              <a:rPr kumimoji="1" lang="en-US" altLang="zh-CN" sz="1200" b="0" i="0" kern="1200" dirty="0">
                <a:solidFill>
                  <a:schemeClr val="tx1"/>
                </a:solidFill>
                <a:effectLst/>
                <a:latin typeface="Times New Roman" pitchFamily="18" charset="0"/>
                <a:ea typeface="宋体" pitchFamily="2" charset="-122"/>
                <a:cs typeface="+mn-cs"/>
              </a:rPr>
              <a:t>1. </a:t>
            </a:r>
            <a:r>
              <a:rPr kumimoji="1" lang="zh-CN" altLang="en-US" sz="1200" b="0" i="0" kern="1200" dirty="0">
                <a:solidFill>
                  <a:schemeClr val="tx1"/>
                </a:solidFill>
                <a:effectLst/>
                <a:latin typeface="Times New Roman" pitchFamily="18" charset="0"/>
                <a:ea typeface="宋体" pitchFamily="2" charset="-122"/>
                <a:cs typeface="+mn-cs"/>
              </a:rPr>
              <a:t>适合长时间持有；</a:t>
            </a:r>
            <a:r>
              <a:rPr lang="zh-CN" altLang="en-US" dirty="0"/>
              <a:t/>
            </a:r>
            <a:br>
              <a:rPr lang="zh-CN" altLang="en-US" dirty="0"/>
            </a:br>
            <a:r>
              <a:rPr kumimoji="1" lang="en-US" altLang="zh-CN" sz="1200" b="0" i="0" kern="1200" dirty="0">
                <a:solidFill>
                  <a:schemeClr val="tx1"/>
                </a:solidFill>
                <a:effectLst/>
                <a:latin typeface="Times New Roman" pitchFamily="18" charset="0"/>
                <a:ea typeface="宋体" pitchFamily="2" charset="-122"/>
                <a:cs typeface="+mn-cs"/>
              </a:rPr>
              <a:t>2. </a:t>
            </a:r>
            <a:r>
              <a:rPr kumimoji="1" lang="zh-CN" altLang="en-US" sz="1200" b="0" i="0" kern="1200" dirty="0">
                <a:solidFill>
                  <a:schemeClr val="tx1"/>
                </a:solidFill>
                <a:effectLst/>
                <a:latin typeface="Times New Roman" pitchFamily="18" charset="0"/>
                <a:ea typeface="宋体" pitchFamily="2" charset="-122"/>
                <a:cs typeface="+mn-cs"/>
              </a:rPr>
              <a:t>获取锁期间可以让出</a:t>
            </a:r>
            <a:r>
              <a:rPr kumimoji="1" lang="en-US" altLang="zh-CN" sz="1200" b="0" i="0" kern="1200" dirty="0">
                <a:solidFill>
                  <a:schemeClr val="tx1"/>
                </a:solidFill>
                <a:effectLst/>
                <a:latin typeface="Times New Roman" pitchFamily="18" charset="0"/>
                <a:ea typeface="宋体" pitchFamily="2" charset="-122"/>
                <a:cs typeface="+mn-cs"/>
              </a:rPr>
              <a:t>CPU</a:t>
            </a:r>
            <a:r>
              <a:rPr kumimoji="1" lang="zh-CN" altLang="en-US" sz="1200" b="0" i="0" kern="1200" dirty="0">
                <a:solidFill>
                  <a:schemeClr val="tx1"/>
                </a:solidFill>
                <a:effectLst/>
                <a:latin typeface="Times New Roman" pitchFamily="18" charset="0"/>
                <a:ea typeface="宋体" pitchFamily="2" charset="-122"/>
                <a:cs typeface="+mn-cs"/>
              </a:rPr>
              <a:t>；</a:t>
            </a:r>
            <a:r>
              <a:rPr lang="zh-CN" altLang="en-US" dirty="0"/>
              <a:t/>
            </a:r>
            <a:br>
              <a:rPr lang="zh-CN" altLang="en-US" dirty="0"/>
            </a:br>
            <a:r>
              <a:rPr kumimoji="1" lang="en-US" altLang="zh-CN" sz="1200" b="0" i="0" kern="1200" dirty="0">
                <a:solidFill>
                  <a:schemeClr val="tx1"/>
                </a:solidFill>
                <a:effectLst/>
                <a:latin typeface="Times New Roman" pitchFamily="18" charset="0"/>
                <a:ea typeface="宋体" pitchFamily="2" charset="-122"/>
                <a:cs typeface="+mn-cs"/>
              </a:rPr>
              <a:t>3. </a:t>
            </a:r>
            <a:r>
              <a:rPr kumimoji="1" lang="zh-CN" altLang="en-US" sz="1200" b="0" i="0" kern="1200" dirty="0">
                <a:solidFill>
                  <a:schemeClr val="tx1"/>
                </a:solidFill>
                <a:effectLst/>
                <a:latin typeface="Times New Roman" pitchFamily="18" charset="0"/>
                <a:ea typeface="宋体" pitchFamily="2" charset="-122"/>
                <a:cs typeface="+mn-cs"/>
              </a:rPr>
              <a:t>持有</a:t>
            </a:r>
            <a:r>
              <a:rPr kumimoji="1" lang="en-US" altLang="zh-CN" sz="1200" b="0" i="0" kern="1200" dirty="0">
                <a:solidFill>
                  <a:schemeClr val="tx1"/>
                </a:solidFill>
                <a:effectLst/>
                <a:latin typeface="Times New Roman" pitchFamily="18" charset="0"/>
                <a:ea typeface="宋体" pitchFamily="2" charset="-122"/>
                <a:cs typeface="+mn-cs"/>
              </a:rPr>
              <a:t>Sleep-lock</a:t>
            </a:r>
            <a:r>
              <a:rPr kumimoji="1" lang="zh-CN" altLang="en-US" sz="1200" b="0" i="0" kern="1200" dirty="0">
                <a:solidFill>
                  <a:schemeClr val="tx1"/>
                </a:solidFill>
                <a:effectLst/>
                <a:latin typeface="Times New Roman" pitchFamily="18" charset="0"/>
                <a:ea typeface="宋体" pitchFamily="2" charset="-122"/>
                <a:cs typeface="+mn-cs"/>
              </a:rPr>
              <a:t>期间允许中断发生，但不允许在中断程序中使用。</a:t>
            </a:r>
            <a:endParaRPr kumimoji="1"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b="0" dirty="0">
              <a:solidFill>
                <a:schemeClr val="bg2"/>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dirty="0">
                <a:solidFill>
                  <a:schemeClr val="bg2"/>
                </a:solidFill>
              </a:rPr>
              <a:t>是对</a:t>
            </a:r>
            <a:r>
              <a:rPr lang="en-US" altLang="zh-CN" b="0" dirty="0">
                <a:solidFill>
                  <a:schemeClr val="bg2"/>
                </a:solidFill>
              </a:rPr>
              <a:t>xv6</a:t>
            </a:r>
            <a:r>
              <a:rPr lang="zh-CN" altLang="en-US" b="0" dirty="0">
                <a:solidFill>
                  <a:schemeClr val="bg2"/>
                </a:solidFill>
              </a:rPr>
              <a:t>中的</a:t>
            </a:r>
            <a:r>
              <a:rPr lang="en-US" altLang="zh-CN" b="0" dirty="0">
                <a:solidFill>
                  <a:schemeClr val="bg2"/>
                </a:solidFill>
              </a:rPr>
              <a:t>sleep</a:t>
            </a:r>
            <a:r>
              <a:rPr lang="zh-CN" altLang="en-US" b="0" dirty="0">
                <a:solidFill>
                  <a:schemeClr val="bg2"/>
                </a:solidFill>
              </a:rPr>
              <a:t>和</a:t>
            </a:r>
            <a:r>
              <a:rPr lang="en-US" altLang="zh-CN" b="0" dirty="0">
                <a:solidFill>
                  <a:schemeClr val="bg2"/>
                </a:solidFill>
              </a:rPr>
              <a:t>wakeup</a:t>
            </a:r>
            <a:r>
              <a:rPr lang="zh-CN" altLang="en-US" b="0" dirty="0">
                <a:solidFill>
                  <a:schemeClr val="bg2"/>
                </a:solidFill>
              </a:rPr>
              <a:t>机制的进一步封装使用。</a:t>
            </a:r>
            <a:endParaRPr lang="en-US" altLang="zh-CN" b="0" dirty="0">
              <a:solidFill>
                <a:schemeClr val="bg2"/>
              </a:solidFill>
            </a:endParaRPr>
          </a:p>
          <a:p>
            <a:endParaRPr kumimoji="1" lang="en-US" altLang="zh-CN" sz="1200" b="0" i="0" kern="1200" dirty="0">
              <a:solidFill>
                <a:schemeClr val="tx1"/>
              </a:solidFill>
              <a:effectLst/>
              <a:latin typeface="Times New Roman" pitchFamily="18" charset="0"/>
              <a:ea typeface="宋体" pitchFamily="2" charset="-122"/>
              <a:cs typeface="+mn-cs"/>
            </a:endParaRPr>
          </a:p>
          <a:p>
            <a:r>
              <a:rPr lang="zh-CN" altLang="en-US" b="0" dirty="0">
                <a:solidFill>
                  <a:schemeClr val="bg2"/>
                </a:solidFill>
              </a:rPr>
              <a:t>使用：磁盘读写数据可能需要数</a:t>
            </a:r>
            <a:r>
              <a:rPr lang="en-US" altLang="zh-CN" b="0" dirty="0" err="1">
                <a:solidFill>
                  <a:schemeClr val="bg2"/>
                </a:solidFill>
              </a:rPr>
              <a:t>ms</a:t>
            </a:r>
            <a:r>
              <a:rPr lang="zh-CN" altLang="en-US" b="0" dirty="0">
                <a:solidFill>
                  <a:schemeClr val="bg2"/>
                </a:solidFill>
              </a:rPr>
              <a:t>的时间</a:t>
            </a:r>
            <a:endParaRPr lang="en-US" altLang="zh-CN" b="0" dirty="0">
              <a:solidFill>
                <a:schemeClr val="bg2"/>
              </a:solidFill>
            </a:endParaRPr>
          </a:p>
          <a:p>
            <a:endParaRPr kumimoji="1" lang="en-US" altLang="zh-CN" sz="1200" b="0" i="0" kern="1200" dirty="0">
              <a:solidFill>
                <a:schemeClr val="tx1"/>
              </a:solidFill>
              <a:effectLst/>
              <a:latin typeface="Times New Roman" pitchFamily="18" charset="0"/>
              <a:ea typeface="宋体"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25</a:t>
            </a:fld>
            <a:endParaRPr lang="en-US" altLang="zh-CN"/>
          </a:p>
        </p:txBody>
      </p:sp>
    </p:spTree>
    <p:extLst>
      <p:ext uri="{BB962C8B-B14F-4D97-AF65-F5344CB8AC3E}">
        <p14:creationId xmlns:p14="http://schemas.microsoft.com/office/powerpoint/2010/main" val="26471311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en-US" altLang="zh-CN" dirty="0" err="1"/>
              <a:t>acquiresleep</a:t>
            </a:r>
            <a:r>
              <a:rPr lang="zh-CN" altLang="en-US" dirty="0"/>
              <a:t>中为什么要用循环</a:t>
            </a:r>
            <a:r>
              <a:rPr lang="en-US" altLang="zh-CN" dirty="0"/>
              <a:t>while</a:t>
            </a:r>
            <a:r>
              <a:rPr lang="zh-CN" altLang="en-US" dirty="0"/>
              <a:t>，而不用</a:t>
            </a:r>
            <a:r>
              <a:rPr lang="en-US" altLang="zh-CN" dirty="0"/>
              <a:t>if</a:t>
            </a:r>
            <a:r>
              <a:rPr lang="zh-CN" altLang="en-US" dirty="0"/>
              <a:t>？</a:t>
            </a:r>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26</a:t>
            </a:fld>
            <a:endParaRPr lang="en-US" altLang="zh-CN"/>
          </a:p>
        </p:txBody>
      </p:sp>
    </p:spTree>
    <p:extLst>
      <p:ext uri="{BB962C8B-B14F-4D97-AF65-F5344CB8AC3E}">
        <p14:creationId xmlns:p14="http://schemas.microsoft.com/office/powerpoint/2010/main" val="8597366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err="1">
                <a:solidFill>
                  <a:schemeClr val="bg2"/>
                </a:solidFill>
              </a:rPr>
              <a:t>buf</a:t>
            </a:r>
            <a:r>
              <a:rPr lang="en-US" altLang="zh-CN" dirty="0">
                <a:solidFill>
                  <a:schemeClr val="bg2"/>
                </a:solidFill>
              </a:rPr>
              <a:t>: </a:t>
            </a:r>
            <a:r>
              <a:rPr lang="zh-CN" altLang="en-US" dirty="0">
                <a:solidFill>
                  <a:schemeClr val="bg2"/>
                </a:solidFill>
              </a:rPr>
              <a:t>一个缓存块</a:t>
            </a:r>
            <a:endParaRPr lang="en-US" altLang="zh-CN" dirty="0">
              <a:solidFill>
                <a:schemeClr val="bg2"/>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solidFill>
                  <a:schemeClr val="bg2"/>
                </a:solidFill>
              </a:rPr>
              <a:t>data: </a:t>
            </a:r>
            <a:r>
              <a:rPr lang="zh-CN" altLang="en-US" dirty="0">
                <a:solidFill>
                  <a:schemeClr val="bg2"/>
                </a:solidFill>
              </a:rPr>
              <a:t>跟一个盘块相对应</a:t>
            </a:r>
            <a:endParaRPr lang="en-US" altLang="zh-CN" dirty="0">
              <a:solidFill>
                <a:schemeClr val="bg2"/>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err="1">
                <a:solidFill>
                  <a:schemeClr val="bg2"/>
                </a:solidFill>
              </a:rPr>
              <a:t>fs.h</a:t>
            </a:r>
            <a:r>
              <a:rPr lang="en-US" altLang="zh-CN" dirty="0">
                <a:solidFill>
                  <a:schemeClr val="bg2"/>
                </a:solidFill>
              </a:rPr>
              <a:t>: #define BSIZE 1024  // block size</a:t>
            </a:r>
            <a:endParaRPr lang="zh-CN" altLang="en-US" dirty="0">
              <a:solidFill>
                <a:schemeClr val="bg2"/>
              </a:solidFill>
            </a:endParaRP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27</a:t>
            </a:fld>
            <a:endParaRPr lang="en-US" altLang="zh-CN"/>
          </a:p>
        </p:txBody>
      </p:sp>
    </p:spTree>
    <p:extLst>
      <p:ext uri="{BB962C8B-B14F-4D97-AF65-F5344CB8AC3E}">
        <p14:creationId xmlns:p14="http://schemas.microsoft.com/office/powerpoint/2010/main" val="26475016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28</a:t>
            </a:fld>
            <a:endParaRPr lang="en-US" altLang="zh-CN"/>
          </a:p>
        </p:txBody>
      </p:sp>
    </p:spTree>
    <p:extLst>
      <p:ext uri="{BB962C8B-B14F-4D97-AF65-F5344CB8AC3E}">
        <p14:creationId xmlns:p14="http://schemas.microsoft.com/office/powerpoint/2010/main" val="496266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29</a:t>
            </a:fld>
            <a:endParaRPr lang="en-US" altLang="zh-CN"/>
          </a:p>
        </p:txBody>
      </p:sp>
    </p:spTree>
    <p:extLst>
      <p:ext uri="{BB962C8B-B14F-4D97-AF65-F5344CB8AC3E}">
        <p14:creationId xmlns:p14="http://schemas.microsoft.com/office/powerpoint/2010/main" val="41323000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32</a:t>
            </a:fld>
            <a:endParaRPr lang="en-US" altLang="zh-CN"/>
          </a:p>
        </p:txBody>
      </p:sp>
    </p:spTree>
    <p:extLst>
      <p:ext uri="{BB962C8B-B14F-4D97-AF65-F5344CB8AC3E}">
        <p14:creationId xmlns:p14="http://schemas.microsoft.com/office/powerpoint/2010/main" val="1146832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36</a:t>
            </a:fld>
            <a:endParaRPr lang="en-US" altLang="zh-CN"/>
          </a:p>
        </p:txBody>
      </p:sp>
    </p:spTree>
    <p:extLst>
      <p:ext uri="{BB962C8B-B14F-4D97-AF65-F5344CB8AC3E}">
        <p14:creationId xmlns:p14="http://schemas.microsoft.com/office/powerpoint/2010/main" val="4755442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37</a:t>
            </a:fld>
            <a:endParaRPr lang="en-US" altLang="zh-CN"/>
          </a:p>
        </p:txBody>
      </p:sp>
    </p:spTree>
    <p:extLst>
      <p:ext uri="{BB962C8B-B14F-4D97-AF65-F5344CB8AC3E}">
        <p14:creationId xmlns:p14="http://schemas.microsoft.com/office/powerpoint/2010/main" val="26548258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38</a:t>
            </a:fld>
            <a:endParaRPr lang="en-US" altLang="zh-CN"/>
          </a:p>
        </p:txBody>
      </p:sp>
    </p:spTree>
    <p:extLst>
      <p:ext uri="{BB962C8B-B14F-4D97-AF65-F5344CB8AC3E}">
        <p14:creationId xmlns:p14="http://schemas.microsoft.com/office/powerpoint/2010/main" val="2621187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40</a:t>
            </a:fld>
            <a:endParaRPr lang="en-US" altLang="zh-CN"/>
          </a:p>
        </p:txBody>
      </p:sp>
    </p:spTree>
    <p:extLst>
      <p:ext uri="{BB962C8B-B14F-4D97-AF65-F5344CB8AC3E}">
        <p14:creationId xmlns:p14="http://schemas.microsoft.com/office/powerpoint/2010/main" val="16289411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41</a:t>
            </a:fld>
            <a:endParaRPr lang="en-US" altLang="zh-CN"/>
          </a:p>
        </p:txBody>
      </p:sp>
    </p:spTree>
    <p:extLst>
      <p:ext uri="{BB962C8B-B14F-4D97-AF65-F5344CB8AC3E}">
        <p14:creationId xmlns:p14="http://schemas.microsoft.com/office/powerpoint/2010/main" val="17148527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kumimoji="1" lang="zh-CN" altLang="en-US" sz="2800" b="1" kern="1200" dirty="0">
              <a:solidFill>
                <a:schemeClr val="bg2"/>
              </a:solidFill>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42</a:t>
            </a:fld>
            <a:endParaRPr lang="en-US" altLang="zh-CN"/>
          </a:p>
        </p:txBody>
      </p:sp>
    </p:spTree>
    <p:extLst>
      <p:ext uri="{BB962C8B-B14F-4D97-AF65-F5344CB8AC3E}">
        <p14:creationId xmlns:p14="http://schemas.microsoft.com/office/powerpoint/2010/main" val="12221040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一个数据库为多个并发进程所共享。有的进程读数据库，而其它进程可能更新数据库。</a:t>
            </a:r>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43</a:t>
            </a:fld>
            <a:endParaRPr lang="en-US" altLang="zh-CN"/>
          </a:p>
        </p:txBody>
      </p:sp>
    </p:spTree>
    <p:extLst>
      <p:ext uri="{BB962C8B-B14F-4D97-AF65-F5344CB8AC3E}">
        <p14:creationId xmlns:p14="http://schemas.microsoft.com/office/powerpoint/2010/main" val="21265356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45</a:t>
            </a:fld>
            <a:endParaRPr lang="en-US" altLang="zh-CN"/>
          </a:p>
        </p:txBody>
      </p:sp>
    </p:spTree>
    <p:extLst>
      <p:ext uri="{BB962C8B-B14F-4D97-AF65-F5344CB8AC3E}">
        <p14:creationId xmlns:p14="http://schemas.microsoft.com/office/powerpoint/2010/main" val="26184955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问题：如果一直有读者在读，会造成写者没有机会写</a:t>
            </a:r>
            <a:endParaRPr lang="en-US" altLang="zh-CN" dirty="0"/>
          </a:p>
          <a:p>
            <a:r>
              <a:rPr lang="zh-CN" altLang="en-US" dirty="0"/>
              <a:t>把系统中写者的权力弱化</a:t>
            </a:r>
            <a:endParaRPr lang="en-US" altLang="zh-CN" dirty="0"/>
          </a:p>
          <a:p>
            <a:r>
              <a:rPr lang="zh-CN" altLang="en-US" dirty="0"/>
              <a:t>系统无法更新</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46</a:t>
            </a:fld>
            <a:endParaRPr lang="en-US" altLang="zh-CN"/>
          </a:p>
        </p:txBody>
      </p:sp>
    </p:spTree>
    <p:extLst>
      <p:ext uri="{BB962C8B-B14F-4D97-AF65-F5344CB8AC3E}">
        <p14:creationId xmlns:p14="http://schemas.microsoft.com/office/powerpoint/2010/main" val="24523181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关于</a:t>
            </a:r>
            <a:r>
              <a:rPr lang="en-US" altLang="zh-CN" dirty="0"/>
              <a:t>Reader</a:t>
            </a:r>
            <a:r>
              <a:rPr lang="zh-CN" altLang="en-US" dirty="0"/>
              <a:t>中</a:t>
            </a:r>
            <a:r>
              <a:rPr lang="en-US" altLang="zh-CN" dirty="0"/>
              <a:t>V(W)</a:t>
            </a:r>
            <a:r>
              <a:rPr lang="zh-CN" altLang="en-US" dirty="0"/>
              <a:t>的位置：必须放在前面；如果放在最后，就不允许第二个读者进来了。</a:t>
            </a: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47</a:t>
            </a:fld>
            <a:endParaRPr lang="en-US" altLang="zh-CN"/>
          </a:p>
        </p:txBody>
      </p:sp>
    </p:spTree>
    <p:extLst>
      <p:ext uri="{BB962C8B-B14F-4D97-AF65-F5344CB8AC3E}">
        <p14:creationId xmlns:p14="http://schemas.microsoft.com/office/powerpoint/2010/main" val="1221560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48</a:t>
            </a:fld>
            <a:endParaRPr lang="en-US" altLang="zh-CN"/>
          </a:p>
        </p:txBody>
      </p:sp>
    </p:spTree>
    <p:extLst>
      <p:ext uri="{BB962C8B-B14F-4D97-AF65-F5344CB8AC3E}">
        <p14:creationId xmlns:p14="http://schemas.microsoft.com/office/powerpoint/2010/main" val="23083992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itchFamily="18" charset="0"/>
                <a:ea typeface="宋体" pitchFamily="2" charset="-122"/>
                <a:cs typeface="+mn-cs"/>
              </a:rPr>
              <a:t>引入管程的目的就是要方便的实现进程互斥和同步</a:t>
            </a:r>
            <a:endParaRPr lang="en-US" altLang="zh-CN" dirty="0"/>
          </a:p>
          <a:p>
            <a:r>
              <a:rPr lang="zh-CN" altLang="en-US" dirty="0"/>
              <a:t>程序员必须小心使用</a:t>
            </a:r>
            <a:r>
              <a:rPr lang="en-US" altLang="zh-CN" dirty="0"/>
              <a:t>PV</a:t>
            </a:r>
            <a:r>
              <a:rPr lang="zh-CN" altLang="en-US" dirty="0"/>
              <a:t>操作以免引起死锁。</a:t>
            </a:r>
            <a:endParaRPr lang="en-US" altLang="zh-CN" dirty="0"/>
          </a:p>
          <a:p>
            <a:r>
              <a:rPr lang="zh-CN" altLang="en-US" dirty="0"/>
              <a:t>管程比信号量更能保证并行编程的正确性，</a:t>
            </a:r>
            <a:r>
              <a:rPr lang="en-US" altLang="zh-CN" dirty="0"/>
              <a:t>C</a:t>
            </a:r>
            <a:r>
              <a:rPr lang="zh-CN" altLang="en-US" dirty="0"/>
              <a:t>及其它多数语言都没有管程</a:t>
            </a:r>
            <a:endParaRPr lang="en-US" altLang="zh-CN" dirty="0"/>
          </a:p>
          <a:p>
            <a:r>
              <a:rPr lang="zh-CN" altLang="en-US" dirty="0"/>
              <a:t>类</a:t>
            </a:r>
            <a:r>
              <a:rPr lang="en-US" altLang="zh-CN" dirty="0" err="1"/>
              <a:t>our_monitor</a:t>
            </a:r>
            <a:r>
              <a:rPr lang="zh-CN" altLang="en-US" dirty="0"/>
              <a:t>是管程，操作系统个本身并不支持管程机制，属于编程语言范畴</a:t>
            </a:r>
            <a:endParaRPr lang="en-US" altLang="zh-CN" dirty="0"/>
          </a:p>
          <a:p>
            <a:r>
              <a:rPr kumimoji="1" lang="en-US" altLang="zh-CN" sz="1200" b="0" i="0" kern="1200">
                <a:solidFill>
                  <a:schemeClr val="tx1"/>
                </a:solidFill>
                <a:effectLst/>
                <a:latin typeface="Times New Roman" pitchFamily="18" charset="0"/>
                <a:ea typeface="宋体" pitchFamily="2" charset="-122"/>
                <a:cs typeface="+mn-cs"/>
              </a:rPr>
              <a:t>Java</a:t>
            </a:r>
            <a:r>
              <a:rPr kumimoji="1" lang="zh-CN" altLang="en-US" sz="1200" b="0" i="0" kern="1200">
                <a:solidFill>
                  <a:schemeClr val="tx1"/>
                </a:solidFill>
                <a:effectLst/>
                <a:latin typeface="Times New Roman" pitchFamily="18" charset="0"/>
                <a:ea typeface="宋体" pitchFamily="2" charset="-122"/>
                <a:cs typeface="+mn-cs"/>
              </a:rPr>
              <a:t>语言</a:t>
            </a:r>
            <a:r>
              <a:rPr kumimoji="1" lang="zh-CN" altLang="en-US" sz="1200" b="0" i="0" kern="1200" dirty="0">
                <a:solidFill>
                  <a:schemeClr val="tx1"/>
                </a:solidFill>
                <a:effectLst/>
                <a:latin typeface="Times New Roman" pitchFamily="18" charset="0"/>
                <a:ea typeface="宋体" pitchFamily="2" charset="-122"/>
                <a:cs typeface="+mn-cs"/>
              </a:rPr>
              <a:t>中的 </a:t>
            </a:r>
            <a:r>
              <a:rPr kumimoji="1" lang="en-US" altLang="zh-CN" sz="1200" b="0" i="0" kern="1200" dirty="0">
                <a:solidFill>
                  <a:schemeClr val="tx1"/>
                </a:solidFill>
                <a:effectLst/>
                <a:latin typeface="Times New Roman" pitchFamily="18" charset="0"/>
                <a:ea typeface="宋体" pitchFamily="2" charset="-122"/>
                <a:cs typeface="+mn-cs"/>
              </a:rPr>
              <a:t>synchronized </a:t>
            </a:r>
            <a:r>
              <a:rPr kumimoji="1" lang="zh-CN" altLang="en-US" sz="1200" b="0" i="0" kern="1200" dirty="0">
                <a:solidFill>
                  <a:schemeClr val="tx1"/>
                </a:solidFill>
                <a:effectLst/>
                <a:latin typeface="Times New Roman" pitchFamily="18" charset="0"/>
                <a:ea typeface="宋体" pitchFamily="2" charset="-122"/>
                <a:cs typeface="+mn-cs"/>
              </a:rPr>
              <a:t>对象都是很好的管程的例</a:t>
            </a: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49</a:t>
            </a:fld>
            <a:endParaRPr lang="en-US" altLang="zh-CN"/>
          </a:p>
        </p:txBody>
      </p:sp>
    </p:spTree>
    <p:extLst>
      <p:ext uri="{BB962C8B-B14F-4D97-AF65-F5344CB8AC3E}">
        <p14:creationId xmlns:p14="http://schemas.microsoft.com/office/powerpoint/2010/main" val="4261317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33"/>
          <p:cNvGrpSpPr>
            <a:grpSpLocks/>
          </p:cNvGrpSpPr>
          <p:nvPr/>
        </p:nvGrpSpPr>
        <p:grpSpPr bwMode="auto">
          <a:xfrm>
            <a:off x="0" y="0"/>
            <a:ext cx="1085850" cy="6854825"/>
            <a:chOff x="0" y="0"/>
            <a:chExt cx="684" cy="4318"/>
          </a:xfrm>
        </p:grpSpPr>
        <p:sp>
          <p:nvSpPr>
            <p:cNvPr id="5" name="Rectangle 2"/>
            <p:cNvSpPr>
              <a:spLocks noChangeArrowheads="1"/>
            </p:cNvSpPr>
            <p:nvPr/>
          </p:nvSpPr>
          <p:spPr bwMode="invGray">
            <a:xfrm>
              <a:off x="0" y="0"/>
              <a:ext cx="684" cy="4318"/>
            </a:xfrm>
            <a:prstGeom prst="rect">
              <a:avLst/>
            </a:prstGeom>
            <a:gradFill rotWithShape="0">
              <a:gsLst>
                <a:gs pos="0">
                  <a:schemeClr val="bg1"/>
                </a:gs>
                <a:gs pos="50000">
                  <a:schemeClr val="bg2"/>
                </a:gs>
                <a:gs pos="100000">
                  <a:schemeClr val="bg1"/>
                </a:gs>
              </a:gsLst>
              <a:lin ang="5400000" scaled="1"/>
            </a:gra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nvGrpSpPr>
            <p:cNvPr id="6" name="Group 32"/>
            <p:cNvGrpSpPr>
              <a:grpSpLocks/>
            </p:cNvGrpSpPr>
            <p:nvPr/>
          </p:nvGrpSpPr>
          <p:grpSpPr bwMode="auto">
            <a:xfrm>
              <a:off x="48" y="103"/>
              <a:ext cx="96" cy="4126"/>
              <a:chOff x="48" y="103"/>
              <a:chExt cx="96" cy="4126"/>
            </a:xfrm>
          </p:grpSpPr>
          <p:sp>
            <p:nvSpPr>
              <p:cNvPr id="7" name="Rectangle 3"/>
              <p:cNvSpPr>
                <a:spLocks noChangeArrowheads="1"/>
              </p:cNvSpPr>
              <p:nvPr/>
            </p:nvSpPr>
            <p:spPr bwMode="auto">
              <a:xfrm>
                <a:off x="48" y="110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8" name="Rectangle 4"/>
              <p:cNvSpPr>
                <a:spLocks noChangeArrowheads="1"/>
              </p:cNvSpPr>
              <p:nvPr/>
            </p:nvSpPr>
            <p:spPr bwMode="auto">
              <a:xfrm>
                <a:off x="48" y="1250"/>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9" name="Rectangle 5"/>
              <p:cNvSpPr>
                <a:spLocks noChangeArrowheads="1"/>
              </p:cNvSpPr>
              <p:nvPr/>
            </p:nvSpPr>
            <p:spPr bwMode="auto">
              <a:xfrm>
                <a:off x="48" y="139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 name="Rectangle 6"/>
              <p:cNvSpPr>
                <a:spLocks noChangeArrowheads="1"/>
              </p:cNvSpPr>
              <p:nvPr/>
            </p:nvSpPr>
            <p:spPr bwMode="auto">
              <a:xfrm>
                <a:off x="48" y="1538"/>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 name="Rectangle 7"/>
              <p:cNvSpPr>
                <a:spLocks noChangeArrowheads="1"/>
              </p:cNvSpPr>
              <p:nvPr/>
            </p:nvSpPr>
            <p:spPr bwMode="auto">
              <a:xfrm>
                <a:off x="48" y="1683"/>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2" name="Rectangle 8"/>
              <p:cNvSpPr>
                <a:spLocks noChangeArrowheads="1"/>
              </p:cNvSpPr>
              <p:nvPr/>
            </p:nvSpPr>
            <p:spPr bwMode="auto">
              <a:xfrm>
                <a:off x="48" y="1826"/>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3" name="Rectangle 9"/>
              <p:cNvSpPr>
                <a:spLocks noChangeArrowheads="1"/>
              </p:cNvSpPr>
              <p:nvPr/>
            </p:nvSpPr>
            <p:spPr bwMode="auto">
              <a:xfrm>
                <a:off x="48" y="197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4" name="Rectangle 10"/>
              <p:cNvSpPr>
                <a:spLocks noChangeArrowheads="1"/>
              </p:cNvSpPr>
              <p:nvPr/>
            </p:nvSpPr>
            <p:spPr bwMode="auto">
              <a:xfrm>
                <a:off x="48" y="2116"/>
                <a:ext cx="96" cy="94"/>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5" name="Rectangle 11"/>
              <p:cNvSpPr>
                <a:spLocks noChangeArrowheads="1"/>
              </p:cNvSpPr>
              <p:nvPr/>
            </p:nvSpPr>
            <p:spPr bwMode="auto">
              <a:xfrm>
                <a:off x="48" y="2259"/>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6" name="Rectangle 12"/>
              <p:cNvSpPr>
                <a:spLocks noChangeArrowheads="1"/>
              </p:cNvSpPr>
              <p:nvPr/>
            </p:nvSpPr>
            <p:spPr bwMode="auto">
              <a:xfrm>
                <a:off x="48" y="2404"/>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7" name="Rectangle 13"/>
              <p:cNvSpPr>
                <a:spLocks noChangeArrowheads="1"/>
              </p:cNvSpPr>
              <p:nvPr/>
            </p:nvSpPr>
            <p:spPr bwMode="auto">
              <a:xfrm>
                <a:off x="48" y="2549"/>
                <a:ext cx="96" cy="94"/>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8" name="Rectangle 14"/>
              <p:cNvSpPr>
                <a:spLocks noChangeArrowheads="1"/>
              </p:cNvSpPr>
              <p:nvPr/>
            </p:nvSpPr>
            <p:spPr bwMode="auto">
              <a:xfrm>
                <a:off x="48" y="2691"/>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9" name="Rectangle 15"/>
              <p:cNvSpPr>
                <a:spLocks noChangeArrowheads="1"/>
              </p:cNvSpPr>
              <p:nvPr/>
            </p:nvSpPr>
            <p:spPr bwMode="auto">
              <a:xfrm>
                <a:off x="48" y="2836"/>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0" name="Rectangle 16"/>
              <p:cNvSpPr>
                <a:spLocks noChangeArrowheads="1"/>
              </p:cNvSpPr>
              <p:nvPr/>
            </p:nvSpPr>
            <p:spPr bwMode="auto">
              <a:xfrm>
                <a:off x="48" y="2979"/>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1" name="Rectangle 17"/>
              <p:cNvSpPr>
                <a:spLocks noChangeArrowheads="1"/>
              </p:cNvSpPr>
              <p:nvPr/>
            </p:nvSpPr>
            <p:spPr bwMode="auto">
              <a:xfrm>
                <a:off x="48" y="3124"/>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2" name="Rectangle 18"/>
              <p:cNvSpPr>
                <a:spLocks noChangeArrowheads="1"/>
              </p:cNvSpPr>
              <p:nvPr/>
            </p:nvSpPr>
            <p:spPr bwMode="auto">
              <a:xfrm>
                <a:off x="48" y="3269"/>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3" name="Rectangle 19"/>
              <p:cNvSpPr>
                <a:spLocks noChangeArrowheads="1"/>
              </p:cNvSpPr>
              <p:nvPr/>
            </p:nvSpPr>
            <p:spPr bwMode="auto">
              <a:xfrm>
                <a:off x="48" y="3412"/>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4" name="Rectangle 20"/>
              <p:cNvSpPr>
                <a:spLocks noChangeArrowheads="1"/>
              </p:cNvSpPr>
              <p:nvPr/>
            </p:nvSpPr>
            <p:spPr bwMode="auto">
              <a:xfrm>
                <a:off x="48" y="3557"/>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5" name="Rectangle 21"/>
              <p:cNvSpPr>
                <a:spLocks noChangeArrowheads="1"/>
              </p:cNvSpPr>
              <p:nvPr/>
            </p:nvSpPr>
            <p:spPr bwMode="auto">
              <a:xfrm>
                <a:off x="48" y="3702"/>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6" name="Rectangle 22"/>
              <p:cNvSpPr>
                <a:spLocks noChangeArrowheads="1"/>
              </p:cNvSpPr>
              <p:nvPr/>
            </p:nvSpPr>
            <p:spPr bwMode="auto">
              <a:xfrm>
                <a:off x="48" y="384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7" name="Rectangle 23"/>
              <p:cNvSpPr>
                <a:spLocks noChangeArrowheads="1"/>
              </p:cNvSpPr>
              <p:nvPr/>
            </p:nvSpPr>
            <p:spPr bwMode="auto">
              <a:xfrm>
                <a:off x="48" y="399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8" name="Rectangle 24"/>
              <p:cNvSpPr>
                <a:spLocks noChangeArrowheads="1"/>
              </p:cNvSpPr>
              <p:nvPr/>
            </p:nvSpPr>
            <p:spPr bwMode="auto">
              <a:xfrm>
                <a:off x="48" y="4134"/>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9" name="Rectangle 25"/>
              <p:cNvSpPr>
                <a:spLocks noChangeArrowheads="1"/>
              </p:cNvSpPr>
              <p:nvPr/>
            </p:nvSpPr>
            <p:spPr bwMode="auto">
              <a:xfrm>
                <a:off x="48" y="103"/>
                <a:ext cx="96" cy="94"/>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0" name="Rectangle 26"/>
              <p:cNvSpPr>
                <a:spLocks noChangeArrowheads="1"/>
              </p:cNvSpPr>
              <p:nvPr/>
            </p:nvSpPr>
            <p:spPr bwMode="auto">
              <a:xfrm>
                <a:off x="48" y="246"/>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1" name="Rectangle 27"/>
              <p:cNvSpPr>
                <a:spLocks noChangeArrowheads="1"/>
              </p:cNvSpPr>
              <p:nvPr/>
            </p:nvSpPr>
            <p:spPr bwMode="auto">
              <a:xfrm>
                <a:off x="48" y="39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2" name="Rectangle 28"/>
              <p:cNvSpPr>
                <a:spLocks noChangeArrowheads="1"/>
              </p:cNvSpPr>
              <p:nvPr/>
            </p:nvSpPr>
            <p:spPr bwMode="auto">
              <a:xfrm>
                <a:off x="48" y="535"/>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3" name="Rectangle 29"/>
              <p:cNvSpPr>
                <a:spLocks noChangeArrowheads="1"/>
              </p:cNvSpPr>
              <p:nvPr/>
            </p:nvSpPr>
            <p:spPr bwMode="auto">
              <a:xfrm>
                <a:off x="48" y="678"/>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4" name="Rectangle 30"/>
              <p:cNvSpPr>
                <a:spLocks noChangeArrowheads="1"/>
              </p:cNvSpPr>
              <p:nvPr/>
            </p:nvSpPr>
            <p:spPr bwMode="auto">
              <a:xfrm>
                <a:off x="48" y="82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5" name="Rectangle 31"/>
              <p:cNvSpPr>
                <a:spLocks noChangeArrowheads="1"/>
              </p:cNvSpPr>
              <p:nvPr/>
            </p:nvSpPr>
            <p:spPr bwMode="auto">
              <a:xfrm>
                <a:off x="48" y="968"/>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grpSp>
      <p:sp>
        <p:nvSpPr>
          <p:cNvPr id="3106" name="Rectangle 34"/>
          <p:cNvSpPr>
            <a:spLocks noGrp="1" noChangeArrowheads="1"/>
          </p:cNvSpPr>
          <p:nvPr>
            <p:ph type="ctrTitle" sz="quarter"/>
          </p:nvPr>
        </p:nvSpPr>
        <p:spPr>
          <a:xfrm>
            <a:off x="1143000" y="2286000"/>
            <a:ext cx="7772400" cy="1143000"/>
          </a:xfrm>
        </p:spPr>
        <p:txBody>
          <a:bodyPr/>
          <a:lstStyle>
            <a:lvl1pPr>
              <a:defRPr/>
            </a:lvl1pPr>
          </a:lstStyle>
          <a:p>
            <a:r>
              <a:rPr lang="en-US" altLang="zh-CN"/>
              <a:t>Click to edit Master title style</a:t>
            </a:r>
          </a:p>
        </p:txBody>
      </p:sp>
      <p:sp>
        <p:nvSpPr>
          <p:cNvPr id="3107" name="Rectangle 35"/>
          <p:cNvSpPr>
            <a:spLocks noGrp="1" noChangeArrowheads="1"/>
          </p:cNvSpPr>
          <p:nvPr>
            <p:ph type="subTitle" sz="quarter" idx="1"/>
          </p:nvPr>
        </p:nvSpPr>
        <p:spPr>
          <a:xfrm>
            <a:off x="1828800" y="3886200"/>
            <a:ext cx="6400800" cy="1752600"/>
          </a:xfrm>
        </p:spPr>
        <p:txBody>
          <a:bodyPr/>
          <a:lstStyle>
            <a:lvl1pPr marL="0" indent="0" algn="ctr">
              <a:buFont typeface="Monotype Sorts" pitchFamily="2" charset="2"/>
              <a:buNone/>
              <a:defRPr/>
            </a:lvl1pPr>
          </a:lstStyle>
          <a:p>
            <a:r>
              <a:rPr lang="en-US" altLang="zh-CN"/>
              <a:t>Click to edit Master subtitle style</a:t>
            </a:r>
          </a:p>
        </p:txBody>
      </p:sp>
      <p:sp>
        <p:nvSpPr>
          <p:cNvPr id="36" name="Rectangle 36"/>
          <p:cNvSpPr>
            <a:spLocks noGrp="1" noChangeArrowheads="1"/>
          </p:cNvSpPr>
          <p:nvPr>
            <p:ph type="dt" sz="quarter" idx="10"/>
          </p:nvPr>
        </p:nvSpPr>
        <p:spPr>
          <a:xfrm>
            <a:off x="1143000" y="6248400"/>
            <a:ext cx="1905000" cy="457200"/>
          </a:xfrm>
        </p:spPr>
        <p:txBody>
          <a:bodyPr/>
          <a:lstStyle>
            <a:lvl1pPr>
              <a:defRPr/>
            </a:lvl1pPr>
          </a:lstStyle>
          <a:p>
            <a:pPr>
              <a:defRPr/>
            </a:pPr>
            <a:fld id="{394AAAF5-532F-4286-8087-1EE77342A63D}" type="datetime1">
              <a:rPr lang="zh-CN" altLang="en-US"/>
              <a:pPr>
                <a:defRPr/>
              </a:pPr>
              <a:t>2024/10/9</a:t>
            </a:fld>
            <a:endParaRPr lang="en-US" altLang="zh-CN"/>
          </a:p>
        </p:txBody>
      </p:sp>
      <p:sp>
        <p:nvSpPr>
          <p:cNvPr id="37" name="Rectangle 37"/>
          <p:cNvSpPr>
            <a:spLocks noGrp="1" noChangeArrowheads="1"/>
          </p:cNvSpPr>
          <p:nvPr>
            <p:ph type="ftr" sz="quarter" idx="11"/>
          </p:nvPr>
        </p:nvSpPr>
        <p:spPr>
          <a:xfrm>
            <a:off x="3581400" y="6248400"/>
            <a:ext cx="2895600" cy="457200"/>
          </a:xfrm>
        </p:spPr>
        <p:txBody>
          <a:bodyPr/>
          <a:lstStyle>
            <a:lvl1pPr>
              <a:defRPr/>
            </a:lvl1pPr>
          </a:lstStyle>
          <a:p>
            <a:pPr>
              <a:defRPr/>
            </a:pPr>
            <a:endParaRPr lang="en-US" altLang="zh-CN"/>
          </a:p>
        </p:txBody>
      </p:sp>
      <p:sp>
        <p:nvSpPr>
          <p:cNvPr id="38" name="Rectangle 38"/>
          <p:cNvSpPr>
            <a:spLocks noGrp="1" noChangeArrowheads="1"/>
          </p:cNvSpPr>
          <p:nvPr>
            <p:ph type="sldNum" sz="quarter" idx="12"/>
          </p:nvPr>
        </p:nvSpPr>
        <p:spPr>
          <a:xfrm>
            <a:off x="7010400" y="6248400"/>
            <a:ext cx="1905000" cy="457200"/>
          </a:xfrm>
        </p:spPr>
        <p:txBody>
          <a:bodyPr/>
          <a:lstStyle>
            <a:lvl1pPr>
              <a:defRPr/>
            </a:lvl1pPr>
          </a:lstStyle>
          <a:p>
            <a:pPr>
              <a:defRPr/>
            </a:pPr>
            <a:fld id="{0C2BFFE8-88A0-45CD-BD99-653CADDCD4AD}" type="slidenum">
              <a:rPr lang="en-US" altLang="zh-CN"/>
              <a:pPr>
                <a:defRPr/>
              </a:pPr>
              <a:t>‹#›</a:t>
            </a:fld>
            <a:endParaRPr lang="en-US" altLang="zh-CN"/>
          </a:p>
        </p:txBody>
      </p:sp>
    </p:spTree>
    <p:extLst>
      <p:ext uri="{BB962C8B-B14F-4D97-AF65-F5344CB8AC3E}">
        <p14:creationId xmlns:p14="http://schemas.microsoft.com/office/powerpoint/2010/main" val="4015723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6"/>
          <p:cNvSpPr>
            <a:spLocks noGrp="1" noChangeArrowheads="1"/>
          </p:cNvSpPr>
          <p:nvPr>
            <p:ph type="dt" sz="half" idx="10"/>
          </p:nvPr>
        </p:nvSpPr>
        <p:spPr/>
        <p:txBody>
          <a:bodyPr/>
          <a:lstStyle>
            <a:lvl1pPr>
              <a:defRPr/>
            </a:lvl1pPr>
          </a:lstStyle>
          <a:p>
            <a:pPr>
              <a:defRPr/>
            </a:pPr>
            <a:fld id="{7FCA0350-E2C7-4C3F-B45E-5ED928986F04}" type="datetime1">
              <a:rPr lang="zh-CN" altLang="en-US"/>
              <a:pPr>
                <a:defRPr/>
              </a:pPr>
              <a:t>2024/10/9</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4D18CCF0-A072-4DBD-9DA3-362055088704}" type="slidenum">
              <a:rPr lang="zh-CN" altLang="en-US"/>
              <a:pPr>
                <a:defRPr/>
              </a:pPr>
              <a:t>‹#›</a:t>
            </a:fld>
            <a:r>
              <a:rPr lang="zh-CN" altLang="en-US"/>
              <a:t> 页</a:t>
            </a:r>
          </a:p>
        </p:txBody>
      </p:sp>
    </p:spTree>
    <p:extLst>
      <p:ext uri="{BB962C8B-B14F-4D97-AF65-F5344CB8AC3E}">
        <p14:creationId xmlns:p14="http://schemas.microsoft.com/office/powerpoint/2010/main" val="1975652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36"/>
          <p:cNvSpPr>
            <a:spLocks noGrp="1" noChangeArrowheads="1"/>
          </p:cNvSpPr>
          <p:nvPr>
            <p:ph type="dt" sz="half" idx="10"/>
          </p:nvPr>
        </p:nvSpPr>
        <p:spPr/>
        <p:txBody>
          <a:bodyPr/>
          <a:lstStyle>
            <a:lvl1pPr>
              <a:defRPr/>
            </a:lvl1pPr>
          </a:lstStyle>
          <a:p>
            <a:pPr>
              <a:defRPr/>
            </a:pPr>
            <a:fld id="{0B6D1341-F78E-49F0-9610-F78ED1CD133B}" type="datetime1">
              <a:rPr lang="zh-CN" altLang="en-US"/>
              <a:pPr>
                <a:defRPr/>
              </a:pPr>
              <a:t>2024/10/9</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8519D63C-5EA9-49E2-8385-F834B696D880}" type="slidenum">
              <a:rPr lang="zh-CN" altLang="en-US"/>
              <a:pPr>
                <a:defRPr/>
              </a:pPr>
              <a:t>‹#›</a:t>
            </a:fld>
            <a:r>
              <a:rPr lang="zh-CN" altLang="en-US"/>
              <a:t> 页</a:t>
            </a:r>
          </a:p>
        </p:txBody>
      </p:sp>
    </p:spTree>
    <p:extLst>
      <p:ext uri="{BB962C8B-B14F-4D97-AF65-F5344CB8AC3E}">
        <p14:creationId xmlns:p14="http://schemas.microsoft.com/office/powerpoint/2010/main" val="407332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430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054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6"/>
          <p:cNvSpPr>
            <a:spLocks noGrp="1" noChangeArrowheads="1"/>
          </p:cNvSpPr>
          <p:nvPr>
            <p:ph type="dt" sz="half" idx="10"/>
          </p:nvPr>
        </p:nvSpPr>
        <p:spPr/>
        <p:txBody>
          <a:bodyPr/>
          <a:lstStyle>
            <a:lvl1pPr>
              <a:defRPr/>
            </a:lvl1pPr>
          </a:lstStyle>
          <a:p>
            <a:pPr>
              <a:defRPr/>
            </a:pPr>
            <a:fld id="{7AE98789-F8A9-4B5F-BEE4-6250E5425CAE}" type="datetime1">
              <a:rPr lang="zh-CN" altLang="en-US"/>
              <a:pPr>
                <a:defRPr/>
              </a:pPr>
              <a:t>2024/10/9</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7409795D-40E7-4A5D-BA3F-90C01BB69497}" type="slidenum">
              <a:rPr lang="zh-CN" altLang="en-US"/>
              <a:pPr>
                <a:defRPr/>
              </a:pPr>
              <a:t>‹#›</a:t>
            </a:fld>
            <a:r>
              <a:rPr lang="zh-CN" altLang="en-US"/>
              <a:t> 页</a:t>
            </a:r>
          </a:p>
        </p:txBody>
      </p:sp>
    </p:spTree>
    <p:extLst>
      <p:ext uri="{BB962C8B-B14F-4D97-AF65-F5344CB8AC3E}">
        <p14:creationId xmlns:p14="http://schemas.microsoft.com/office/powerpoint/2010/main" val="251579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36"/>
          <p:cNvSpPr>
            <a:spLocks noGrp="1" noChangeArrowheads="1"/>
          </p:cNvSpPr>
          <p:nvPr>
            <p:ph type="dt" sz="half" idx="10"/>
          </p:nvPr>
        </p:nvSpPr>
        <p:spPr/>
        <p:txBody>
          <a:bodyPr/>
          <a:lstStyle>
            <a:lvl1pPr>
              <a:defRPr/>
            </a:lvl1pPr>
          </a:lstStyle>
          <a:p>
            <a:pPr>
              <a:defRPr/>
            </a:pPr>
            <a:fld id="{BBD87684-F0D2-4E98-8235-739B1F111B16}" type="datetime1">
              <a:rPr lang="zh-CN" altLang="en-US"/>
              <a:pPr>
                <a:defRPr/>
              </a:pPr>
              <a:t>2024/10/9</a:t>
            </a:fld>
            <a:endParaRPr lang="en-US" altLang="zh-CN"/>
          </a:p>
        </p:txBody>
      </p:sp>
      <p:sp>
        <p:nvSpPr>
          <p:cNvPr id="8" name="Rectangle 37"/>
          <p:cNvSpPr>
            <a:spLocks noGrp="1" noChangeArrowheads="1"/>
          </p:cNvSpPr>
          <p:nvPr>
            <p:ph type="ftr" sz="quarter" idx="11"/>
          </p:nvPr>
        </p:nvSpPr>
        <p:spPr/>
        <p:txBody>
          <a:bodyPr/>
          <a:lstStyle>
            <a:lvl1pPr>
              <a:defRPr/>
            </a:lvl1pPr>
          </a:lstStyle>
          <a:p>
            <a:pPr>
              <a:defRPr/>
            </a:pPr>
            <a:endParaRPr lang="en-US" altLang="zh-CN"/>
          </a:p>
        </p:txBody>
      </p:sp>
      <p:sp>
        <p:nvSpPr>
          <p:cNvPr id="9" name="Rectangle 38"/>
          <p:cNvSpPr>
            <a:spLocks noGrp="1" noChangeArrowheads="1"/>
          </p:cNvSpPr>
          <p:nvPr>
            <p:ph type="sldNum" sz="quarter" idx="12"/>
          </p:nvPr>
        </p:nvSpPr>
        <p:spPr/>
        <p:txBody>
          <a:bodyPr/>
          <a:lstStyle>
            <a:lvl1pPr>
              <a:defRPr/>
            </a:lvl1pPr>
          </a:lstStyle>
          <a:p>
            <a:pPr>
              <a:defRPr/>
            </a:pPr>
            <a:r>
              <a:rPr lang="zh-CN" altLang="en-US"/>
              <a:t>第 </a:t>
            </a:r>
            <a:fld id="{D2059273-7D80-4E3B-8BCE-583D5260105C}" type="slidenum">
              <a:rPr lang="zh-CN" altLang="en-US"/>
              <a:pPr>
                <a:defRPr/>
              </a:pPr>
              <a:t>‹#›</a:t>
            </a:fld>
            <a:r>
              <a:rPr lang="zh-CN" altLang="en-US"/>
              <a:t> 页</a:t>
            </a:r>
          </a:p>
        </p:txBody>
      </p:sp>
    </p:spTree>
    <p:extLst>
      <p:ext uri="{BB962C8B-B14F-4D97-AF65-F5344CB8AC3E}">
        <p14:creationId xmlns:p14="http://schemas.microsoft.com/office/powerpoint/2010/main" val="1085483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36"/>
          <p:cNvSpPr>
            <a:spLocks noGrp="1" noChangeArrowheads="1"/>
          </p:cNvSpPr>
          <p:nvPr>
            <p:ph type="dt" sz="half" idx="10"/>
          </p:nvPr>
        </p:nvSpPr>
        <p:spPr/>
        <p:txBody>
          <a:bodyPr/>
          <a:lstStyle>
            <a:lvl1pPr>
              <a:defRPr/>
            </a:lvl1pPr>
          </a:lstStyle>
          <a:p>
            <a:pPr>
              <a:defRPr/>
            </a:pPr>
            <a:fld id="{2F832044-E465-4215-A18A-293C1E55801A}" type="datetime1">
              <a:rPr lang="zh-CN" altLang="en-US"/>
              <a:pPr>
                <a:defRPr/>
              </a:pPr>
              <a:t>2024/10/9</a:t>
            </a:fld>
            <a:endParaRPr lang="en-US" altLang="zh-CN"/>
          </a:p>
        </p:txBody>
      </p:sp>
      <p:sp>
        <p:nvSpPr>
          <p:cNvPr id="4" name="Rectangle 37"/>
          <p:cNvSpPr>
            <a:spLocks noGrp="1" noChangeArrowheads="1"/>
          </p:cNvSpPr>
          <p:nvPr>
            <p:ph type="ftr" sz="quarter" idx="11"/>
          </p:nvPr>
        </p:nvSpPr>
        <p:spPr/>
        <p:txBody>
          <a:bodyPr/>
          <a:lstStyle>
            <a:lvl1pPr>
              <a:defRPr/>
            </a:lvl1pPr>
          </a:lstStyle>
          <a:p>
            <a:pPr>
              <a:defRPr/>
            </a:pPr>
            <a:endParaRPr lang="en-US" altLang="zh-CN"/>
          </a:p>
        </p:txBody>
      </p:sp>
      <p:sp>
        <p:nvSpPr>
          <p:cNvPr id="5" name="Rectangle 38"/>
          <p:cNvSpPr>
            <a:spLocks noGrp="1" noChangeArrowheads="1"/>
          </p:cNvSpPr>
          <p:nvPr>
            <p:ph type="sldNum" sz="quarter" idx="12"/>
          </p:nvPr>
        </p:nvSpPr>
        <p:spPr/>
        <p:txBody>
          <a:bodyPr/>
          <a:lstStyle>
            <a:lvl1pPr>
              <a:defRPr/>
            </a:lvl1pPr>
          </a:lstStyle>
          <a:p>
            <a:pPr>
              <a:defRPr/>
            </a:pPr>
            <a:r>
              <a:rPr lang="zh-CN" altLang="en-US"/>
              <a:t>第 </a:t>
            </a:r>
            <a:fld id="{97A9B27E-F6AD-429A-B769-769820E19C6F}" type="slidenum">
              <a:rPr lang="zh-CN" altLang="en-US"/>
              <a:pPr>
                <a:defRPr/>
              </a:pPr>
              <a:t>‹#›</a:t>
            </a:fld>
            <a:r>
              <a:rPr lang="zh-CN" altLang="en-US"/>
              <a:t> 页</a:t>
            </a:r>
          </a:p>
        </p:txBody>
      </p:sp>
    </p:spTree>
    <p:extLst>
      <p:ext uri="{BB962C8B-B14F-4D97-AF65-F5344CB8AC3E}">
        <p14:creationId xmlns:p14="http://schemas.microsoft.com/office/powerpoint/2010/main" val="294273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36"/>
          <p:cNvSpPr>
            <a:spLocks noGrp="1" noChangeArrowheads="1"/>
          </p:cNvSpPr>
          <p:nvPr>
            <p:ph type="dt" sz="half" idx="10"/>
          </p:nvPr>
        </p:nvSpPr>
        <p:spPr/>
        <p:txBody>
          <a:bodyPr/>
          <a:lstStyle>
            <a:lvl1pPr>
              <a:defRPr/>
            </a:lvl1pPr>
          </a:lstStyle>
          <a:p>
            <a:pPr>
              <a:defRPr/>
            </a:pPr>
            <a:fld id="{0F3703A3-1889-4D5A-B002-82B1611E7DF6}" type="datetime1">
              <a:rPr lang="zh-CN" altLang="en-US"/>
              <a:pPr>
                <a:defRPr/>
              </a:pPr>
              <a:t>2024/10/9</a:t>
            </a:fld>
            <a:endParaRPr lang="en-US" altLang="zh-CN"/>
          </a:p>
        </p:txBody>
      </p:sp>
      <p:sp>
        <p:nvSpPr>
          <p:cNvPr id="3" name="Rectangle 37"/>
          <p:cNvSpPr>
            <a:spLocks noGrp="1" noChangeArrowheads="1"/>
          </p:cNvSpPr>
          <p:nvPr>
            <p:ph type="ftr" sz="quarter" idx="11"/>
          </p:nvPr>
        </p:nvSpPr>
        <p:spPr/>
        <p:txBody>
          <a:bodyPr/>
          <a:lstStyle>
            <a:lvl1pPr>
              <a:defRPr/>
            </a:lvl1pPr>
          </a:lstStyle>
          <a:p>
            <a:pPr>
              <a:defRPr/>
            </a:pPr>
            <a:endParaRPr lang="en-US" altLang="zh-CN"/>
          </a:p>
        </p:txBody>
      </p:sp>
      <p:sp>
        <p:nvSpPr>
          <p:cNvPr id="4" name="Rectangle 38"/>
          <p:cNvSpPr>
            <a:spLocks noGrp="1" noChangeArrowheads="1"/>
          </p:cNvSpPr>
          <p:nvPr>
            <p:ph type="sldNum" sz="quarter" idx="12"/>
          </p:nvPr>
        </p:nvSpPr>
        <p:spPr/>
        <p:txBody>
          <a:bodyPr/>
          <a:lstStyle>
            <a:lvl1pPr>
              <a:defRPr/>
            </a:lvl1pPr>
          </a:lstStyle>
          <a:p>
            <a:pPr>
              <a:defRPr/>
            </a:pPr>
            <a:r>
              <a:rPr lang="zh-CN" altLang="en-US"/>
              <a:t>第 </a:t>
            </a:r>
            <a:fld id="{AA9BF305-28BD-41C0-8AA3-BF5601F9D25F}" type="slidenum">
              <a:rPr lang="zh-CN" altLang="en-US"/>
              <a:pPr>
                <a:defRPr/>
              </a:pPr>
              <a:t>‹#›</a:t>
            </a:fld>
            <a:r>
              <a:rPr lang="zh-CN" altLang="en-US"/>
              <a:t> 页</a:t>
            </a:r>
          </a:p>
        </p:txBody>
      </p:sp>
    </p:spTree>
    <p:extLst>
      <p:ext uri="{BB962C8B-B14F-4D97-AF65-F5344CB8AC3E}">
        <p14:creationId xmlns:p14="http://schemas.microsoft.com/office/powerpoint/2010/main" val="4083804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6"/>
          <p:cNvSpPr>
            <a:spLocks noGrp="1" noChangeArrowheads="1"/>
          </p:cNvSpPr>
          <p:nvPr>
            <p:ph type="dt" sz="half" idx="10"/>
          </p:nvPr>
        </p:nvSpPr>
        <p:spPr/>
        <p:txBody>
          <a:bodyPr/>
          <a:lstStyle>
            <a:lvl1pPr>
              <a:defRPr/>
            </a:lvl1pPr>
          </a:lstStyle>
          <a:p>
            <a:pPr>
              <a:defRPr/>
            </a:pPr>
            <a:fld id="{DC6E5853-D849-460E-9F4F-6003FF06D3DA}" type="datetime1">
              <a:rPr lang="zh-CN" altLang="en-US"/>
              <a:pPr>
                <a:defRPr/>
              </a:pPr>
              <a:t>2024/10/9</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B03169C1-45E3-47B7-AD5D-8FF29948B46E}" type="slidenum">
              <a:rPr lang="zh-CN" altLang="en-US"/>
              <a:pPr>
                <a:defRPr/>
              </a:pPr>
              <a:t>‹#›</a:t>
            </a:fld>
            <a:r>
              <a:rPr lang="zh-CN" altLang="en-US"/>
              <a:t> 页</a:t>
            </a:r>
          </a:p>
        </p:txBody>
      </p:sp>
    </p:spTree>
    <p:extLst>
      <p:ext uri="{BB962C8B-B14F-4D97-AF65-F5344CB8AC3E}">
        <p14:creationId xmlns:p14="http://schemas.microsoft.com/office/powerpoint/2010/main" val="3414277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6"/>
          <p:cNvSpPr>
            <a:spLocks noGrp="1" noChangeArrowheads="1"/>
          </p:cNvSpPr>
          <p:nvPr>
            <p:ph type="dt" sz="half" idx="10"/>
          </p:nvPr>
        </p:nvSpPr>
        <p:spPr/>
        <p:txBody>
          <a:bodyPr/>
          <a:lstStyle>
            <a:lvl1pPr>
              <a:defRPr/>
            </a:lvl1pPr>
          </a:lstStyle>
          <a:p>
            <a:pPr>
              <a:defRPr/>
            </a:pPr>
            <a:fld id="{1549D3A2-BCD0-4CFB-ABCB-27401639CB2C}" type="datetime1">
              <a:rPr lang="zh-CN" altLang="en-US"/>
              <a:pPr>
                <a:defRPr/>
              </a:pPr>
              <a:t>2024/10/9</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98695DA6-D3C0-4362-B9C6-2058F88EAA16}" type="slidenum">
              <a:rPr lang="zh-CN" altLang="en-US"/>
              <a:pPr>
                <a:defRPr/>
              </a:pPr>
              <a:t>‹#›</a:t>
            </a:fld>
            <a:r>
              <a:rPr lang="zh-CN" altLang="en-US"/>
              <a:t> 页</a:t>
            </a:r>
          </a:p>
        </p:txBody>
      </p:sp>
    </p:spTree>
    <p:extLst>
      <p:ext uri="{BB962C8B-B14F-4D97-AF65-F5344CB8AC3E}">
        <p14:creationId xmlns:p14="http://schemas.microsoft.com/office/powerpoint/2010/main" val="2061160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6"/>
          <p:cNvSpPr>
            <a:spLocks noGrp="1" noChangeArrowheads="1"/>
          </p:cNvSpPr>
          <p:nvPr>
            <p:ph type="dt" sz="half" idx="10"/>
          </p:nvPr>
        </p:nvSpPr>
        <p:spPr/>
        <p:txBody>
          <a:bodyPr/>
          <a:lstStyle>
            <a:lvl1pPr>
              <a:defRPr/>
            </a:lvl1pPr>
          </a:lstStyle>
          <a:p>
            <a:pPr>
              <a:defRPr/>
            </a:pPr>
            <a:fld id="{0A0937CE-14AC-4FDC-8791-A5C3FABEA371}" type="datetime1">
              <a:rPr lang="zh-CN" altLang="en-US"/>
              <a:pPr>
                <a:defRPr/>
              </a:pPr>
              <a:t>2024/10/9</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CF9CE347-85B5-4E19-9840-3BD30714E280}" type="slidenum">
              <a:rPr lang="zh-CN" altLang="en-US"/>
              <a:pPr>
                <a:defRPr/>
              </a:pPr>
              <a:t>‹#›</a:t>
            </a:fld>
            <a:r>
              <a:rPr lang="zh-CN" altLang="en-US"/>
              <a:t> 页</a:t>
            </a:r>
          </a:p>
        </p:txBody>
      </p:sp>
    </p:spTree>
    <p:extLst>
      <p:ext uri="{BB962C8B-B14F-4D97-AF65-F5344CB8AC3E}">
        <p14:creationId xmlns:p14="http://schemas.microsoft.com/office/powerpoint/2010/main" val="359183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723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430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6"/>
          <p:cNvSpPr>
            <a:spLocks noGrp="1" noChangeArrowheads="1"/>
          </p:cNvSpPr>
          <p:nvPr>
            <p:ph type="dt" sz="half" idx="10"/>
          </p:nvPr>
        </p:nvSpPr>
        <p:spPr/>
        <p:txBody>
          <a:bodyPr/>
          <a:lstStyle>
            <a:lvl1pPr>
              <a:defRPr/>
            </a:lvl1pPr>
          </a:lstStyle>
          <a:p>
            <a:pPr>
              <a:defRPr/>
            </a:pPr>
            <a:fld id="{18CB66FB-F865-4CCD-9088-832BE60B9DC4}" type="datetime1">
              <a:rPr lang="zh-CN" altLang="en-US"/>
              <a:pPr>
                <a:defRPr/>
              </a:pPr>
              <a:t>2024/10/9</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CDF596D4-5A36-4042-A11D-CAC24AB8477E}" type="slidenum">
              <a:rPr lang="zh-CN" altLang="en-US"/>
              <a:pPr>
                <a:defRPr/>
              </a:pPr>
              <a:t>‹#›</a:t>
            </a:fld>
            <a:r>
              <a:rPr lang="zh-CN" altLang="en-US"/>
              <a:t> 页</a:t>
            </a:r>
          </a:p>
        </p:txBody>
      </p:sp>
    </p:spTree>
    <p:extLst>
      <p:ext uri="{BB962C8B-B14F-4D97-AF65-F5344CB8AC3E}">
        <p14:creationId xmlns:p14="http://schemas.microsoft.com/office/powerpoint/2010/main" val="2770059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430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36"/>
          <p:cNvSpPr>
            <a:spLocks noGrp="1" noChangeArrowheads="1"/>
          </p:cNvSpPr>
          <p:nvPr>
            <p:ph type="dt" sz="half" idx="10"/>
          </p:nvPr>
        </p:nvSpPr>
        <p:spPr/>
        <p:txBody>
          <a:bodyPr/>
          <a:lstStyle>
            <a:lvl1pPr>
              <a:defRPr/>
            </a:lvl1pPr>
          </a:lstStyle>
          <a:p>
            <a:pPr>
              <a:defRPr/>
            </a:pPr>
            <a:fld id="{0B1C1D82-E8E2-48B3-AD85-615A84ADA2AC}" type="datetime1">
              <a:rPr lang="zh-CN" altLang="en-US"/>
              <a:pPr>
                <a:defRPr/>
              </a:pPr>
              <a:t>2024/10/9</a:t>
            </a:fld>
            <a:endParaRPr lang="en-US" altLang="zh-CN"/>
          </a:p>
        </p:txBody>
      </p:sp>
      <p:sp>
        <p:nvSpPr>
          <p:cNvPr id="4" name="Rectangle 37"/>
          <p:cNvSpPr>
            <a:spLocks noGrp="1" noChangeArrowheads="1"/>
          </p:cNvSpPr>
          <p:nvPr>
            <p:ph type="ftr" sz="quarter" idx="11"/>
          </p:nvPr>
        </p:nvSpPr>
        <p:spPr/>
        <p:txBody>
          <a:bodyPr/>
          <a:lstStyle>
            <a:lvl1pPr>
              <a:defRPr/>
            </a:lvl1pPr>
          </a:lstStyle>
          <a:p>
            <a:pPr>
              <a:defRPr/>
            </a:pPr>
            <a:endParaRPr lang="en-US" altLang="zh-CN"/>
          </a:p>
        </p:txBody>
      </p:sp>
      <p:sp>
        <p:nvSpPr>
          <p:cNvPr id="5" name="Rectangle 38"/>
          <p:cNvSpPr>
            <a:spLocks noGrp="1" noChangeArrowheads="1"/>
          </p:cNvSpPr>
          <p:nvPr>
            <p:ph type="sldNum" sz="quarter" idx="12"/>
          </p:nvPr>
        </p:nvSpPr>
        <p:spPr/>
        <p:txBody>
          <a:bodyPr/>
          <a:lstStyle>
            <a:lvl1pPr>
              <a:defRPr/>
            </a:lvl1pPr>
          </a:lstStyle>
          <a:p>
            <a:pPr>
              <a:defRPr/>
            </a:pPr>
            <a:r>
              <a:rPr lang="zh-CN" altLang="en-US"/>
              <a:t>第 </a:t>
            </a:r>
            <a:fld id="{78AD3EBF-7634-4DB3-B027-7EE6659BDEF6}" type="slidenum">
              <a:rPr lang="zh-CN" altLang="en-US"/>
              <a:pPr>
                <a:defRPr/>
              </a:pPr>
              <a:t>‹#›</a:t>
            </a:fld>
            <a:r>
              <a:rPr lang="zh-CN" altLang="en-US"/>
              <a:t> 页</a:t>
            </a:r>
          </a:p>
        </p:txBody>
      </p:sp>
    </p:spTree>
    <p:extLst>
      <p:ext uri="{BB962C8B-B14F-4D97-AF65-F5344CB8AC3E}">
        <p14:creationId xmlns:p14="http://schemas.microsoft.com/office/powerpoint/2010/main" val="14938833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43000" y="6096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1430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054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6"/>
          <p:cNvSpPr>
            <a:spLocks noGrp="1" noChangeArrowheads="1"/>
          </p:cNvSpPr>
          <p:nvPr>
            <p:ph type="dt" sz="half" idx="10"/>
          </p:nvPr>
        </p:nvSpPr>
        <p:spPr/>
        <p:txBody>
          <a:bodyPr/>
          <a:lstStyle>
            <a:lvl1pPr>
              <a:defRPr/>
            </a:lvl1pPr>
          </a:lstStyle>
          <a:p>
            <a:pPr>
              <a:defRPr/>
            </a:pPr>
            <a:fld id="{A103EBAB-9D8B-4C7B-B0E2-D4E34748BDBD}" type="datetime1">
              <a:rPr lang="zh-CN" altLang="en-US"/>
              <a:pPr>
                <a:defRPr/>
              </a:pPr>
              <a:t>2024/10/9</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DC39A68F-2843-49D1-BA2D-56A2F9C7C602}" type="slidenum">
              <a:rPr lang="zh-CN" altLang="en-US"/>
              <a:pPr>
                <a:defRPr/>
              </a:pPr>
              <a:t>‹#›</a:t>
            </a:fld>
            <a:r>
              <a:rPr lang="zh-CN" altLang="en-US"/>
              <a:t> 页</a:t>
            </a:r>
          </a:p>
        </p:txBody>
      </p:sp>
    </p:spTree>
    <p:extLst>
      <p:ext uri="{BB962C8B-B14F-4D97-AF65-F5344CB8AC3E}">
        <p14:creationId xmlns:p14="http://schemas.microsoft.com/office/powerpoint/2010/main" val="2137411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026" name="Group 33"/>
          <p:cNvGrpSpPr>
            <a:grpSpLocks/>
          </p:cNvGrpSpPr>
          <p:nvPr/>
        </p:nvGrpSpPr>
        <p:grpSpPr bwMode="auto">
          <a:xfrm>
            <a:off x="0" y="0"/>
            <a:ext cx="1085850" cy="6854825"/>
            <a:chOff x="0" y="0"/>
            <a:chExt cx="684" cy="4318"/>
          </a:xfrm>
        </p:grpSpPr>
        <p:sp>
          <p:nvSpPr>
            <p:cNvPr id="2" name="Rectangle 2"/>
            <p:cNvSpPr>
              <a:spLocks noChangeArrowheads="1"/>
            </p:cNvSpPr>
            <p:nvPr/>
          </p:nvSpPr>
          <p:spPr bwMode="invGray">
            <a:xfrm>
              <a:off x="0" y="0"/>
              <a:ext cx="684" cy="4318"/>
            </a:xfrm>
            <a:prstGeom prst="rect">
              <a:avLst/>
            </a:prstGeom>
            <a:gradFill rotWithShape="0">
              <a:gsLst>
                <a:gs pos="0">
                  <a:schemeClr val="bg1"/>
                </a:gs>
                <a:gs pos="50000">
                  <a:schemeClr val="bg2"/>
                </a:gs>
                <a:gs pos="100000">
                  <a:schemeClr val="bg1"/>
                </a:gs>
              </a:gsLst>
              <a:lin ang="5400000" scaled="1"/>
            </a:gra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nvGrpSpPr>
            <p:cNvPr id="1033" name="Group 32"/>
            <p:cNvGrpSpPr>
              <a:grpSpLocks/>
            </p:cNvGrpSpPr>
            <p:nvPr/>
          </p:nvGrpSpPr>
          <p:grpSpPr bwMode="auto">
            <a:xfrm>
              <a:off x="48" y="102"/>
              <a:ext cx="96" cy="4128"/>
              <a:chOff x="48" y="102"/>
              <a:chExt cx="96" cy="4128"/>
            </a:xfrm>
          </p:grpSpPr>
          <p:sp>
            <p:nvSpPr>
              <p:cNvPr id="3" name="Rectangle 3"/>
              <p:cNvSpPr>
                <a:spLocks noChangeArrowheads="1"/>
              </p:cNvSpPr>
              <p:nvPr/>
            </p:nvSpPr>
            <p:spPr bwMode="auto">
              <a:xfrm>
                <a:off x="48" y="110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28" name="Rectangle 4"/>
              <p:cNvSpPr>
                <a:spLocks noChangeArrowheads="1"/>
              </p:cNvSpPr>
              <p:nvPr/>
            </p:nvSpPr>
            <p:spPr bwMode="auto">
              <a:xfrm>
                <a:off x="48" y="125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29" name="Rectangle 5"/>
              <p:cNvSpPr>
                <a:spLocks noChangeArrowheads="1"/>
              </p:cNvSpPr>
              <p:nvPr/>
            </p:nvSpPr>
            <p:spPr bwMode="auto">
              <a:xfrm>
                <a:off x="48" y="139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0" name="Rectangle 6"/>
              <p:cNvSpPr>
                <a:spLocks noChangeArrowheads="1"/>
              </p:cNvSpPr>
              <p:nvPr/>
            </p:nvSpPr>
            <p:spPr bwMode="auto">
              <a:xfrm>
                <a:off x="48" y="1538"/>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1" name="Rectangle 7"/>
              <p:cNvSpPr>
                <a:spLocks noChangeArrowheads="1"/>
              </p:cNvSpPr>
              <p:nvPr/>
            </p:nvSpPr>
            <p:spPr bwMode="auto">
              <a:xfrm>
                <a:off x="48" y="1683"/>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2" name="Rectangle 8"/>
              <p:cNvSpPr>
                <a:spLocks noChangeArrowheads="1"/>
              </p:cNvSpPr>
              <p:nvPr/>
            </p:nvSpPr>
            <p:spPr bwMode="auto">
              <a:xfrm>
                <a:off x="48" y="1826"/>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4" name="Rectangle 9"/>
              <p:cNvSpPr>
                <a:spLocks noChangeArrowheads="1"/>
              </p:cNvSpPr>
              <p:nvPr/>
            </p:nvSpPr>
            <p:spPr bwMode="auto">
              <a:xfrm>
                <a:off x="48" y="197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4" name="Rectangle 10"/>
              <p:cNvSpPr>
                <a:spLocks noChangeArrowheads="1"/>
              </p:cNvSpPr>
              <p:nvPr/>
            </p:nvSpPr>
            <p:spPr bwMode="auto">
              <a:xfrm>
                <a:off x="48" y="2115"/>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5" name="Rectangle 11"/>
              <p:cNvSpPr>
                <a:spLocks noChangeArrowheads="1"/>
              </p:cNvSpPr>
              <p:nvPr/>
            </p:nvSpPr>
            <p:spPr bwMode="auto">
              <a:xfrm>
                <a:off x="48" y="2259"/>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6" name="Rectangle 12"/>
              <p:cNvSpPr>
                <a:spLocks noChangeArrowheads="1"/>
              </p:cNvSpPr>
              <p:nvPr/>
            </p:nvSpPr>
            <p:spPr bwMode="auto">
              <a:xfrm>
                <a:off x="48" y="240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7" name="Rectangle 13"/>
              <p:cNvSpPr>
                <a:spLocks noChangeArrowheads="1"/>
              </p:cNvSpPr>
              <p:nvPr/>
            </p:nvSpPr>
            <p:spPr bwMode="auto">
              <a:xfrm>
                <a:off x="48" y="2548"/>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8" name="Rectangle 14"/>
              <p:cNvSpPr>
                <a:spLocks noChangeArrowheads="1"/>
              </p:cNvSpPr>
              <p:nvPr/>
            </p:nvSpPr>
            <p:spPr bwMode="auto">
              <a:xfrm>
                <a:off x="48" y="2692"/>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9" name="Rectangle 15"/>
              <p:cNvSpPr>
                <a:spLocks noChangeArrowheads="1"/>
              </p:cNvSpPr>
              <p:nvPr/>
            </p:nvSpPr>
            <p:spPr bwMode="auto">
              <a:xfrm>
                <a:off x="48" y="2836"/>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0" name="Rectangle 16"/>
              <p:cNvSpPr>
                <a:spLocks noChangeArrowheads="1"/>
              </p:cNvSpPr>
              <p:nvPr/>
            </p:nvSpPr>
            <p:spPr bwMode="auto">
              <a:xfrm>
                <a:off x="48" y="298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1" name="Rectangle 17"/>
              <p:cNvSpPr>
                <a:spLocks noChangeArrowheads="1"/>
              </p:cNvSpPr>
              <p:nvPr/>
            </p:nvSpPr>
            <p:spPr bwMode="auto">
              <a:xfrm>
                <a:off x="48" y="3124"/>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2" name="Rectangle 18"/>
              <p:cNvSpPr>
                <a:spLocks noChangeArrowheads="1"/>
              </p:cNvSpPr>
              <p:nvPr/>
            </p:nvSpPr>
            <p:spPr bwMode="auto">
              <a:xfrm>
                <a:off x="48" y="3269"/>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3" name="Rectangle 19"/>
              <p:cNvSpPr>
                <a:spLocks noChangeArrowheads="1"/>
              </p:cNvSpPr>
              <p:nvPr/>
            </p:nvSpPr>
            <p:spPr bwMode="auto">
              <a:xfrm>
                <a:off x="48" y="3412"/>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4" name="Rectangle 20"/>
              <p:cNvSpPr>
                <a:spLocks noChangeArrowheads="1"/>
              </p:cNvSpPr>
              <p:nvPr/>
            </p:nvSpPr>
            <p:spPr bwMode="auto">
              <a:xfrm>
                <a:off x="48" y="3557"/>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5" name="Rectangle 21"/>
              <p:cNvSpPr>
                <a:spLocks noChangeArrowheads="1"/>
              </p:cNvSpPr>
              <p:nvPr/>
            </p:nvSpPr>
            <p:spPr bwMode="auto">
              <a:xfrm>
                <a:off x="48" y="3702"/>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6" name="Rectangle 22"/>
              <p:cNvSpPr>
                <a:spLocks noChangeArrowheads="1"/>
              </p:cNvSpPr>
              <p:nvPr/>
            </p:nvSpPr>
            <p:spPr bwMode="auto">
              <a:xfrm>
                <a:off x="48" y="384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7" name="Rectangle 23"/>
              <p:cNvSpPr>
                <a:spLocks noChangeArrowheads="1"/>
              </p:cNvSpPr>
              <p:nvPr/>
            </p:nvSpPr>
            <p:spPr bwMode="auto">
              <a:xfrm>
                <a:off x="48" y="399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8" name="Rectangle 24"/>
              <p:cNvSpPr>
                <a:spLocks noChangeArrowheads="1"/>
              </p:cNvSpPr>
              <p:nvPr/>
            </p:nvSpPr>
            <p:spPr bwMode="auto">
              <a:xfrm>
                <a:off x="48" y="413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9" name="Rectangle 25"/>
              <p:cNvSpPr>
                <a:spLocks noChangeArrowheads="1"/>
              </p:cNvSpPr>
              <p:nvPr/>
            </p:nvSpPr>
            <p:spPr bwMode="auto">
              <a:xfrm>
                <a:off x="48" y="102"/>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0" name="Rectangle 26"/>
              <p:cNvSpPr>
                <a:spLocks noChangeArrowheads="1"/>
              </p:cNvSpPr>
              <p:nvPr/>
            </p:nvSpPr>
            <p:spPr bwMode="auto">
              <a:xfrm>
                <a:off x="48" y="246"/>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1" name="Rectangle 27"/>
              <p:cNvSpPr>
                <a:spLocks noChangeArrowheads="1"/>
              </p:cNvSpPr>
              <p:nvPr/>
            </p:nvSpPr>
            <p:spPr bwMode="auto">
              <a:xfrm>
                <a:off x="48" y="39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2" name="Rectangle 28"/>
              <p:cNvSpPr>
                <a:spLocks noChangeArrowheads="1"/>
              </p:cNvSpPr>
              <p:nvPr/>
            </p:nvSpPr>
            <p:spPr bwMode="auto">
              <a:xfrm>
                <a:off x="48" y="535"/>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3" name="Rectangle 29"/>
              <p:cNvSpPr>
                <a:spLocks noChangeArrowheads="1"/>
              </p:cNvSpPr>
              <p:nvPr/>
            </p:nvSpPr>
            <p:spPr bwMode="auto">
              <a:xfrm>
                <a:off x="48" y="679"/>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4" name="Rectangle 30"/>
              <p:cNvSpPr>
                <a:spLocks noChangeArrowheads="1"/>
              </p:cNvSpPr>
              <p:nvPr/>
            </p:nvSpPr>
            <p:spPr bwMode="auto">
              <a:xfrm>
                <a:off x="48" y="82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5" name="Rectangle 31"/>
              <p:cNvSpPr>
                <a:spLocks noChangeArrowheads="1"/>
              </p:cNvSpPr>
              <p:nvPr/>
            </p:nvSpPr>
            <p:spPr bwMode="auto">
              <a:xfrm>
                <a:off x="48" y="968"/>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grpSp>
      <p:sp>
        <p:nvSpPr>
          <p:cNvPr id="1027" name="Rectangle 34"/>
          <p:cNvSpPr>
            <a:spLocks noGrp="1" noChangeArrowheads="1"/>
          </p:cNvSpPr>
          <p:nvPr>
            <p:ph type="title"/>
          </p:nvPr>
        </p:nvSpPr>
        <p:spPr bwMode="auto">
          <a:xfrm>
            <a:off x="11430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zh-CN"/>
              <a:t>Click to edit Master title style</a:t>
            </a:r>
          </a:p>
        </p:txBody>
      </p:sp>
      <p:sp>
        <p:nvSpPr>
          <p:cNvPr id="1059" name="Rectangle 35"/>
          <p:cNvSpPr>
            <a:spLocks noGrp="1" noChangeArrowheads="1"/>
          </p:cNvSpPr>
          <p:nvPr>
            <p:ph type="body" idx="1"/>
          </p:nvPr>
        </p:nvSpPr>
        <p:spPr bwMode="auto">
          <a:xfrm>
            <a:off x="1143000" y="1981200"/>
            <a:ext cx="77724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60" name="Rectangle 36"/>
          <p:cNvSpPr>
            <a:spLocks noGrp="1" noChangeArrowheads="1"/>
          </p:cNvSpPr>
          <p:nvPr>
            <p:ph type="dt" sz="half" idx="2"/>
          </p:nvPr>
        </p:nvSpPr>
        <p:spPr bwMode="auto">
          <a:xfrm>
            <a:off x="0" y="64008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nSpc>
                <a:spcPct val="100000"/>
              </a:lnSpc>
              <a:spcBef>
                <a:spcPct val="0"/>
              </a:spcBef>
              <a:buClrTx/>
              <a:buSzTx/>
              <a:buFontTx/>
              <a:buNone/>
              <a:defRPr sz="1400" b="0">
                <a:solidFill>
                  <a:schemeClr val="tx1"/>
                </a:solidFill>
                <a:effectLst/>
                <a:latin typeface="+mn-lt"/>
              </a:defRPr>
            </a:lvl1pPr>
          </a:lstStyle>
          <a:p>
            <a:pPr>
              <a:defRPr/>
            </a:pPr>
            <a:fld id="{FAB4141E-F527-482F-9800-1834449B9BF3}" type="datetime1">
              <a:rPr lang="zh-CN" altLang="en-US"/>
              <a:pPr>
                <a:defRPr/>
              </a:pPr>
              <a:t>2024/10/9</a:t>
            </a:fld>
            <a:endParaRPr lang="en-US" altLang="zh-CN"/>
          </a:p>
        </p:txBody>
      </p:sp>
      <p:sp>
        <p:nvSpPr>
          <p:cNvPr id="1061" name="Rectangle 37"/>
          <p:cNvSpPr>
            <a:spLocks noGrp="1" noChangeArrowheads="1"/>
          </p:cNvSpPr>
          <p:nvPr>
            <p:ph type="ftr" sz="quarter" idx="3"/>
          </p:nvPr>
        </p:nvSpPr>
        <p:spPr bwMode="auto">
          <a:xfrm>
            <a:off x="3581400" y="63246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lnSpc>
                <a:spcPct val="100000"/>
              </a:lnSpc>
              <a:spcBef>
                <a:spcPct val="0"/>
              </a:spcBef>
              <a:buClrTx/>
              <a:buSzTx/>
              <a:buFontTx/>
              <a:buNone/>
              <a:defRPr sz="1400" b="0">
                <a:solidFill>
                  <a:schemeClr val="tx1"/>
                </a:solidFill>
                <a:effectLst/>
                <a:latin typeface="+mn-lt"/>
              </a:defRPr>
            </a:lvl1pPr>
          </a:lstStyle>
          <a:p>
            <a:pPr>
              <a:defRPr/>
            </a:pPr>
            <a:endParaRPr lang="en-US" altLang="zh-CN"/>
          </a:p>
        </p:txBody>
      </p:sp>
      <p:sp>
        <p:nvSpPr>
          <p:cNvPr id="1062" name="Rectangle 38"/>
          <p:cNvSpPr>
            <a:spLocks noGrp="1" noChangeArrowheads="1"/>
          </p:cNvSpPr>
          <p:nvPr>
            <p:ph type="sldNum" sz="quarter" idx="4"/>
          </p:nvPr>
        </p:nvSpPr>
        <p:spPr bwMode="auto">
          <a:xfrm>
            <a:off x="6732588" y="6661150"/>
            <a:ext cx="1905000" cy="19685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lnSpc>
                <a:spcPct val="100000"/>
              </a:lnSpc>
              <a:spcBef>
                <a:spcPct val="0"/>
              </a:spcBef>
              <a:buClrTx/>
              <a:buSzTx/>
              <a:buFontTx/>
              <a:buNone/>
              <a:defRPr sz="1400" b="0">
                <a:solidFill>
                  <a:schemeClr val="tx1"/>
                </a:solidFill>
                <a:latin typeface="Times New Roman" panose="02020603050405020304" pitchFamily="18" charset="0"/>
              </a:defRPr>
            </a:lvl1pPr>
          </a:lstStyle>
          <a:p>
            <a:pPr>
              <a:defRPr/>
            </a:pPr>
            <a:r>
              <a:rPr lang="zh-CN" altLang="en-US"/>
              <a:t>第 </a:t>
            </a:r>
            <a:fld id="{CE3EE724-3080-4457-B503-924982FD04EC}" type="slidenum">
              <a:rPr lang="zh-CN" altLang="en-US"/>
              <a:pPr>
                <a:defRPr/>
              </a:pPr>
              <a:t>‹#›</a:t>
            </a:fld>
            <a:r>
              <a:rPr lang="zh-CN" altLang="en-US"/>
              <a:t> 页</a:t>
            </a:r>
          </a:p>
        </p:txBody>
      </p:sp>
    </p:spTree>
  </p:cSld>
  <p:clrMap bg1="dk2" tx1="lt1" bg2="dk1" tx2="lt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 id="2147484116" r:id="rId12"/>
    <p:sldLayoutId id="2147484117" r:id="rId13"/>
  </p:sldLayoutIdLst>
  <p:hf hdr="0" ftr="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29.xml"/><Relationship Id="rId3" Type="http://schemas.openxmlformats.org/officeDocument/2006/relationships/slide" Target="slide4.xml"/><Relationship Id="rId7" Type="http://schemas.openxmlformats.org/officeDocument/2006/relationships/slide" Target="slide19.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slide" Target="slide15.xml"/><Relationship Id="rId5" Type="http://schemas.openxmlformats.org/officeDocument/2006/relationships/slide" Target="slide8.xml"/><Relationship Id="rId4" Type="http://schemas.openxmlformats.org/officeDocument/2006/relationships/slide" Target="slide7.xml"/><Relationship Id="rId9" Type="http://schemas.openxmlformats.org/officeDocument/2006/relationships/slide" Target="slide4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slide" Target="slide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slide" Target="slide1.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DF475825-8149-4993-8459-4FBACFB6926E}"/>
              </a:ext>
            </a:extLst>
          </p:cNvPr>
          <p:cNvSpPr>
            <a:spLocks noGrp="1"/>
          </p:cNvSpPr>
          <p:nvPr>
            <p:ph type="title"/>
          </p:nvPr>
        </p:nvSpPr>
        <p:spPr>
          <a:xfrm>
            <a:off x="454409" y="-31677"/>
            <a:ext cx="8001000" cy="727166"/>
          </a:xfrm>
        </p:spPr>
        <p:txBody>
          <a:bodyPr lIns="0" tIns="0" rIns="0" bIns="0"/>
          <a:lstStyle/>
          <a:p>
            <a:pPr algn="ctr" eaLnBrk="0" fontAlgn="base" hangingPunct="0">
              <a:spcAft>
                <a:spcPct val="0"/>
              </a:spcAft>
              <a:defRPr/>
            </a:pPr>
            <a:r>
              <a:rPr kumimoji="1" lang="zh-CN" altLang="en-US" sz="4800" b="1" dirty="0">
                <a:solidFill>
                  <a:srgbClr val="C00000"/>
                </a:solidFill>
                <a:effectLst>
                  <a:outerShdw blurRad="38100" dist="38100" dir="2700000" algn="tl">
                    <a:srgbClr val="000000"/>
                  </a:outerShdw>
                </a:effectLst>
                <a:ea typeface="楷体_GB2312" pitchFamily="49" charset="-122"/>
                <a:cs typeface="+mn-cs"/>
              </a:rPr>
              <a:t>第 </a:t>
            </a:r>
            <a:r>
              <a:rPr kumimoji="1" lang="en-US" altLang="zh-CN" sz="4800" b="1" dirty="0">
                <a:solidFill>
                  <a:srgbClr val="C00000"/>
                </a:solidFill>
                <a:effectLst>
                  <a:outerShdw blurRad="38100" dist="38100" dir="2700000" algn="tl">
                    <a:srgbClr val="000000"/>
                  </a:outerShdw>
                </a:effectLst>
                <a:ea typeface="楷体_GB2312" pitchFamily="49" charset="-122"/>
                <a:cs typeface="+mn-cs"/>
              </a:rPr>
              <a:t>5 </a:t>
            </a:r>
            <a:r>
              <a:rPr kumimoji="1" lang="zh-CN" altLang="en-US" sz="4800" b="1" dirty="0">
                <a:solidFill>
                  <a:srgbClr val="C00000"/>
                </a:solidFill>
                <a:effectLst>
                  <a:outerShdw blurRad="38100" dist="38100" dir="2700000" algn="tl">
                    <a:srgbClr val="000000"/>
                  </a:outerShdw>
                </a:effectLst>
                <a:ea typeface="楷体_GB2312" pitchFamily="49" charset="-122"/>
                <a:cs typeface="+mn-cs"/>
              </a:rPr>
              <a:t>章  同  步</a:t>
            </a:r>
          </a:p>
        </p:txBody>
      </p:sp>
      <p:sp>
        <p:nvSpPr>
          <p:cNvPr id="2" name="矩形 1">
            <a:extLst>
              <a:ext uri="{FF2B5EF4-FFF2-40B4-BE49-F238E27FC236}">
                <a16:creationId xmlns:a16="http://schemas.microsoft.com/office/drawing/2014/main" id="{006F2389-9443-49AA-9593-876FA3512032}"/>
              </a:ext>
            </a:extLst>
          </p:cNvPr>
          <p:cNvSpPr/>
          <p:nvPr/>
        </p:nvSpPr>
        <p:spPr>
          <a:xfrm>
            <a:off x="2448000" y="578640"/>
            <a:ext cx="2752677" cy="738664"/>
          </a:xfrm>
          <a:prstGeom prst="rect">
            <a:avLst/>
          </a:prstGeom>
        </p:spPr>
        <p:txBody>
          <a:bodyPr wrap="none" tIns="0" bIns="0">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5.1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背   景  </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3" name="矩形 2">
            <a:hlinkClick r:id="rId3" action="ppaction://hlinksldjump"/>
            <a:extLst>
              <a:ext uri="{FF2B5EF4-FFF2-40B4-BE49-F238E27FC236}">
                <a16:creationId xmlns:a16="http://schemas.microsoft.com/office/drawing/2014/main" id="{3A1E538E-4FC1-495B-B8E8-C9E5758C6680}"/>
              </a:ext>
            </a:extLst>
          </p:cNvPr>
          <p:cNvSpPr/>
          <p:nvPr/>
        </p:nvSpPr>
        <p:spPr>
          <a:xfrm>
            <a:off x="2448000" y="1119578"/>
            <a:ext cx="4168129" cy="738664"/>
          </a:xfrm>
          <a:prstGeom prst="rect">
            <a:avLst/>
          </a:prstGeom>
        </p:spPr>
        <p:txBody>
          <a:bodyPr wrap="none" tIns="0" bIns="0">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5.2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临 界 区 问 题</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8" name="矩形 7">
            <a:hlinkClick r:id="rId4" action="ppaction://hlinksldjump"/>
            <a:extLst>
              <a:ext uri="{FF2B5EF4-FFF2-40B4-BE49-F238E27FC236}">
                <a16:creationId xmlns:a16="http://schemas.microsoft.com/office/drawing/2014/main" id="{3B13801B-E251-4A49-8E4D-FF454E8ED73E}"/>
              </a:ext>
            </a:extLst>
          </p:cNvPr>
          <p:cNvSpPr/>
          <p:nvPr/>
        </p:nvSpPr>
        <p:spPr>
          <a:xfrm>
            <a:off x="2448000" y="1735376"/>
            <a:ext cx="4184800" cy="738664"/>
          </a:xfrm>
          <a:prstGeom prst="rect">
            <a:avLst/>
          </a:prstGeom>
        </p:spPr>
        <p:txBody>
          <a:bodyPr wrap="none" tIns="0" rIns="0" bIns="0">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5.3  Peterson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方 案</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9" name="矩形 8">
            <a:hlinkClick r:id="rId5" action="ppaction://hlinksldjump"/>
            <a:extLst>
              <a:ext uri="{FF2B5EF4-FFF2-40B4-BE49-F238E27FC236}">
                <a16:creationId xmlns:a16="http://schemas.microsoft.com/office/drawing/2014/main" id="{CAB53D24-D1A8-4642-9C5A-5632175D6ADF}"/>
              </a:ext>
            </a:extLst>
          </p:cNvPr>
          <p:cNvSpPr/>
          <p:nvPr/>
        </p:nvSpPr>
        <p:spPr>
          <a:xfrm>
            <a:off x="2448000" y="2343848"/>
            <a:ext cx="3888145" cy="738664"/>
          </a:xfrm>
          <a:prstGeom prst="rect">
            <a:avLst/>
          </a:prstGeom>
        </p:spPr>
        <p:txBody>
          <a:bodyPr wrap="square" tIns="0" bIns="0">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5.4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硬 件 互 斥</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0" name="矩形 9">
            <a:hlinkClick r:id="rId6" action="ppaction://hlinksldjump"/>
            <a:extLst>
              <a:ext uri="{FF2B5EF4-FFF2-40B4-BE49-F238E27FC236}">
                <a16:creationId xmlns:a16="http://schemas.microsoft.com/office/drawing/2014/main" id="{B492DFE0-8D9F-4CA3-AFFE-2F5918279158}"/>
              </a:ext>
            </a:extLst>
          </p:cNvPr>
          <p:cNvSpPr/>
          <p:nvPr/>
        </p:nvSpPr>
        <p:spPr>
          <a:xfrm>
            <a:off x="2448000" y="2924944"/>
            <a:ext cx="2882520" cy="738664"/>
          </a:xfrm>
          <a:prstGeom prst="rect">
            <a:avLst/>
          </a:prstGeom>
        </p:spPr>
        <p:txBody>
          <a:bodyPr wrap="none" tIns="0" bIns="0">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5.5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自 旋 锁</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2" name="矩形 11">
            <a:hlinkClick r:id="rId7" action="ppaction://hlinksldjump"/>
            <a:extLst>
              <a:ext uri="{FF2B5EF4-FFF2-40B4-BE49-F238E27FC236}">
                <a16:creationId xmlns:a16="http://schemas.microsoft.com/office/drawing/2014/main" id="{86FC40A3-4B33-4940-9774-7791D1845806}"/>
              </a:ext>
            </a:extLst>
          </p:cNvPr>
          <p:cNvSpPr/>
          <p:nvPr/>
        </p:nvSpPr>
        <p:spPr>
          <a:xfrm>
            <a:off x="2448000" y="3573016"/>
            <a:ext cx="2882520" cy="738664"/>
          </a:xfrm>
          <a:prstGeom prst="rect">
            <a:avLst/>
          </a:prstGeom>
        </p:spPr>
        <p:txBody>
          <a:bodyPr wrap="none" tIns="0" rIns="36000" bIns="0">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5.6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信 号 量</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3" name="矩形 12">
            <a:hlinkClick r:id="rId8" action="ppaction://hlinksldjump"/>
            <a:extLst>
              <a:ext uri="{FF2B5EF4-FFF2-40B4-BE49-F238E27FC236}">
                <a16:creationId xmlns:a16="http://schemas.microsoft.com/office/drawing/2014/main" id="{D61C181B-19C6-4912-A395-128CBF164290}"/>
              </a:ext>
            </a:extLst>
          </p:cNvPr>
          <p:cNvSpPr/>
          <p:nvPr/>
        </p:nvSpPr>
        <p:spPr>
          <a:xfrm>
            <a:off x="2448000" y="4221088"/>
            <a:ext cx="6227987" cy="738664"/>
          </a:xfrm>
          <a:prstGeom prst="rect">
            <a:avLst/>
          </a:prstGeom>
        </p:spPr>
        <p:txBody>
          <a:bodyPr wrap="none" tIns="0" bIns="0">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5.7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用信号量解决同步问题</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5" name="矩形 14">
            <a:hlinkClick r:id="" action="ppaction://noaction"/>
            <a:extLst>
              <a:ext uri="{FF2B5EF4-FFF2-40B4-BE49-F238E27FC236}">
                <a16:creationId xmlns:a16="http://schemas.microsoft.com/office/drawing/2014/main" id="{C89853AB-39C0-48FF-99D0-CE402EDD083A}"/>
              </a:ext>
            </a:extLst>
          </p:cNvPr>
          <p:cNvSpPr/>
          <p:nvPr/>
        </p:nvSpPr>
        <p:spPr>
          <a:xfrm>
            <a:off x="2448000" y="5498648"/>
            <a:ext cx="6880056" cy="738664"/>
          </a:xfrm>
          <a:prstGeom prst="rect">
            <a:avLst/>
          </a:prstGeom>
        </p:spPr>
        <p:txBody>
          <a:bodyPr wrap="square" tIns="0" bIns="0">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5.9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实际操作系统同步工具</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1" name="矩形 10">
            <a:hlinkClick r:id="rId9" action="ppaction://hlinksldjump"/>
            <a:extLst>
              <a:ext uri="{FF2B5EF4-FFF2-40B4-BE49-F238E27FC236}">
                <a16:creationId xmlns:a16="http://schemas.microsoft.com/office/drawing/2014/main" id="{815264F5-5C3B-47AC-BFB5-8BEFB9441544}"/>
              </a:ext>
            </a:extLst>
          </p:cNvPr>
          <p:cNvSpPr/>
          <p:nvPr/>
        </p:nvSpPr>
        <p:spPr>
          <a:xfrm>
            <a:off x="2447999" y="4877812"/>
            <a:ext cx="4048015" cy="738664"/>
          </a:xfrm>
          <a:prstGeom prst="rect">
            <a:avLst/>
          </a:prstGeom>
        </p:spPr>
        <p:txBody>
          <a:bodyPr wrap="square" tIns="0" bIns="0">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5.8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管程</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4"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2507497"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计算机科学与技术系</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
        <p:nvSpPr>
          <p:cNvPr id="16" name="矩形 15">
            <a:hlinkClick r:id="" action="ppaction://noaction"/>
            <a:extLst>
              <a:ext uri="{FF2B5EF4-FFF2-40B4-BE49-F238E27FC236}">
                <a16:creationId xmlns:a16="http://schemas.microsoft.com/office/drawing/2014/main" id="{815264F5-5C3B-47AC-BFB5-8BEFB9441544}"/>
              </a:ext>
            </a:extLst>
          </p:cNvPr>
          <p:cNvSpPr/>
          <p:nvPr/>
        </p:nvSpPr>
        <p:spPr>
          <a:xfrm>
            <a:off x="2448000" y="6130087"/>
            <a:ext cx="4048015" cy="738664"/>
          </a:xfrm>
          <a:prstGeom prst="rect">
            <a:avLst/>
          </a:prstGeom>
        </p:spPr>
        <p:txBody>
          <a:bodyPr wrap="square" tIns="0" bIns="0">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5.10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死 锁</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Tree>
    <p:extLst>
      <p:ext uri="{BB962C8B-B14F-4D97-AF65-F5344CB8AC3E}">
        <p14:creationId xmlns:p14="http://schemas.microsoft.com/office/powerpoint/2010/main" val="153871781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FC15AA8-25F1-4EFB-9DD6-E6835663E3B4}"/>
              </a:ext>
            </a:extLst>
          </p:cNvPr>
          <p:cNvSpPr/>
          <p:nvPr/>
        </p:nvSpPr>
        <p:spPr>
          <a:xfrm>
            <a:off x="1115616" y="773472"/>
            <a:ext cx="7344816" cy="707886"/>
          </a:xfrm>
          <a:prstGeom prst="rect">
            <a:avLst/>
          </a:prstGeom>
        </p:spPr>
        <p:txBody>
          <a:bodyPr wrap="square">
            <a:spAutoFit/>
          </a:bodyPr>
          <a:lstStyle/>
          <a:p>
            <a:pPr marL="0" lvl="1" indent="-274638"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线程通过有界缓冲区共享内存</a:t>
            </a:r>
          </a:p>
        </p:txBody>
      </p:sp>
      <p:sp>
        <p:nvSpPr>
          <p:cNvPr id="6" name="Text Box 7">
            <a:extLst>
              <a:ext uri="{FF2B5EF4-FFF2-40B4-BE49-F238E27FC236}">
                <a16:creationId xmlns:a16="http://schemas.microsoft.com/office/drawing/2014/main" id="{B196A1EF-5DF5-4D07-A2F9-A909D35A7D39}"/>
              </a:ext>
            </a:extLst>
          </p:cNvPr>
          <p:cNvSpPr txBox="1">
            <a:spLocks noChangeArrowheads="1"/>
          </p:cNvSpPr>
          <p:nvPr/>
        </p:nvSpPr>
        <p:spPr bwMode="auto">
          <a:xfrm>
            <a:off x="0" y="2207124"/>
            <a:ext cx="4419600" cy="2308324"/>
          </a:xfrm>
          <a:prstGeom prst="rect">
            <a:avLst/>
          </a:prstGeom>
          <a:solidFill>
            <a:schemeClr val="tx1">
              <a:lumMod val="85000"/>
            </a:schemeClr>
          </a:solidFill>
          <a:ln>
            <a:noFill/>
          </a:ln>
          <a:effectLst/>
        </p:spPr>
        <p:txBody>
          <a:bodyPr wrap="square">
            <a:spAutoFit/>
          </a:bodyPr>
          <a:lstStyle/>
          <a:p>
            <a:r>
              <a:rPr lang="en-US" altLang="zh-CN" sz="2000" dirty="0">
                <a:solidFill>
                  <a:schemeClr val="bg2"/>
                </a:solidFill>
                <a:latin typeface="Times New Roman" panose="02020603050405020304" pitchFamily="18" charset="0"/>
                <a:cs typeface="Times New Roman" panose="02020603050405020304" pitchFamily="18" charset="0"/>
              </a:rPr>
              <a:t>while (true) {</a:t>
            </a:r>
          </a:p>
          <a:p>
            <a:r>
              <a:rPr lang="en-US" altLang="zh-CN" sz="2000" dirty="0">
                <a:solidFill>
                  <a:schemeClr val="bg2"/>
                </a:solidFill>
                <a:latin typeface="Times New Roman" panose="02020603050405020304" pitchFamily="18" charset="0"/>
                <a:cs typeface="Times New Roman" panose="02020603050405020304" pitchFamily="18" charset="0"/>
              </a:rPr>
              <a:t>      while(counter== BUFFER_SIZE) </a:t>
            </a:r>
          </a:p>
          <a:p>
            <a:r>
              <a:rPr lang="en-US" altLang="zh-CN" sz="2000" dirty="0">
                <a:solidFill>
                  <a:schemeClr val="bg2"/>
                </a:solidFill>
                <a:latin typeface="Times New Roman" panose="02020603050405020304" pitchFamily="18" charset="0"/>
                <a:cs typeface="Times New Roman" panose="02020603050405020304" pitchFamily="18" charset="0"/>
              </a:rPr>
              <a:t>	     ;   </a:t>
            </a:r>
          </a:p>
          <a:p>
            <a:r>
              <a:rPr lang="en-US" altLang="zh-CN" sz="2000" dirty="0">
                <a:solidFill>
                  <a:schemeClr val="bg2"/>
                </a:solidFill>
                <a:latin typeface="Times New Roman" panose="02020603050405020304" pitchFamily="18" charset="0"/>
                <a:cs typeface="Times New Roman" panose="02020603050405020304" pitchFamily="18" charset="0"/>
              </a:rPr>
              <a:t>      buffer[in] = next produced;</a:t>
            </a:r>
            <a:br>
              <a:rPr lang="en-US" altLang="zh-CN" sz="2000" dirty="0">
                <a:solidFill>
                  <a:schemeClr val="bg2"/>
                </a:solidFill>
                <a:latin typeface="Times New Roman" panose="02020603050405020304" pitchFamily="18" charset="0"/>
                <a:cs typeface="Times New Roman" panose="02020603050405020304" pitchFamily="18" charset="0"/>
              </a:rPr>
            </a:br>
            <a:r>
              <a:rPr lang="en-US" altLang="zh-CN" sz="2000" dirty="0">
                <a:solidFill>
                  <a:schemeClr val="bg2"/>
                </a:solidFill>
                <a:latin typeface="Times New Roman" panose="02020603050405020304" pitchFamily="18" charset="0"/>
                <a:cs typeface="Times New Roman" panose="02020603050405020304" pitchFamily="18" charset="0"/>
              </a:rPr>
              <a:t>      in = (in + 1</a:t>
            </a:r>
            <a:r>
              <a:rPr lang="en-US" altLang="zh-CN" sz="2000">
                <a:solidFill>
                  <a:schemeClr val="bg2"/>
                </a:solidFill>
                <a:latin typeface="Times New Roman" panose="02020603050405020304" pitchFamily="18" charset="0"/>
                <a:cs typeface="Times New Roman" panose="02020603050405020304" pitchFamily="18" charset="0"/>
              </a:rPr>
              <a:t>) </a:t>
            </a:r>
            <a:r>
              <a:rPr lang="en-US" altLang="zh-CN" sz="2000">
                <a:solidFill>
                  <a:schemeClr val="bg2"/>
                </a:solidFill>
                <a:latin typeface="Times New Roman" panose="02020603050405020304" pitchFamily="18" charset="0"/>
                <a:cs typeface="Times New Roman" panose="02020603050405020304" pitchFamily="18" charset="0"/>
              </a:rPr>
              <a:t>% BUFFER_SIZE;</a:t>
            </a:r>
            <a:endParaRPr lang="en-US" altLang="zh-CN" sz="2000" dirty="0">
              <a:solidFill>
                <a:schemeClr val="bg2"/>
              </a:solidFill>
              <a:latin typeface="Times New Roman" panose="02020603050405020304" pitchFamily="18" charset="0"/>
              <a:cs typeface="Times New Roman" panose="02020603050405020304" pitchFamily="18" charset="0"/>
            </a:endParaRPr>
          </a:p>
          <a:p>
            <a:r>
              <a:rPr lang="en-US" altLang="zh-CN" sz="2400" dirty="0">
                <a:solidFill>
                  <a:srgbClr val="990099"/>
                </a:solidFill>
                <a:latin typeface="Times New Roman" panose="02020603050405020304" pitchFamily="18" charset="0"/>
                <a:cs typeface="Times New Roman" panose="02020603050405020304" pitchFamily="18" charset="0"/>
              </a:rPr>
              <a:t>      counter++;</a:t>
            </a:r>
          </a:p>
          <a:p>
            <a:r>
              <a:rPr lang="en-US" altLang="zh-CN" sz="2000" dirty="0">
                <a:solidFill>
                  <a:schemeClr val="bg2"/>
                </a:solidFill>
                <a:latin typeface="Times New Roman" panose="02020603050405020304" pitchFamily="18" charset="0"/>
                <a:cs typeface="Times New Roman" panose="02020603050405020304" pitchFamily="18" charset="0"/>
              </a:rPr>
              <a:t>   }</a:t>
            </a:r>
          </a:p>
        </p:txBody>
      </p:sp>
      <p:sp>
        <p:nvSpPr>
          <p:cNvPr id="7" name="Rectangle 8">
            <a:extLst>
              <a:ext uri="{FF2B5EF4-FFF2-40B4-BE49-F238E27FC236}">
                <a16:creationId xmlns:a16="http://schemas.microsoft.com/office/drawing/2014/main" id="{BBD372DB-25F1-4BCB-AE45-F4BAFA129AA5}"/>
              </a:ext>
            </a:extLst>
          </p:cNvPr>
          <p:cNvSpPr>
            <a:spLocks noChangeArrowheads="1"/>
          </p:cNvSpPr>
          <p:nvPr/>
        </p:nvSpPr>
        <p:spPr bwMode="auto">
          <a:xfrm>
            <a:off x="705533" y="1606430"/>
            <a:ext cx="259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400" b="1" dirty="0">
                <a:solidFill>
                  <a:srgbClr val="000066"/>
                </a:solidFill>
              </a:rPr>
              <a:t>生产者线程</a:t>
            </a:r>
          </a:p>
        </p:txBody>
      </p:sp>
      <p:sp>
        <p:nvSpPr>
          <p:cNvPr id="9" name="Text Box 10">
            <a:extLst>
              <a:ext uri="{FF2B5EF4-FFF2-40B4-BE49-F238E27FC236}">
                <a16:creationId xmlns:a16="http://schemas.microsoft.com/office/drawing/2014/main" id="{F9605D43-4A9B-448C-8289-2D16EA28F149}"/>
              </a:ext>
            </a:extLst>
          </p:cNvPr>
          <p:cNvSpPr txBox="1">
            <a:spLocks noChangeArrowheads="1"/>
          </p:cNvSpPr>
          <p:nvPr/>
        </p:nvSpPr>
        <p:spPr bwMode="auto">
          <a:xfrm>
            <a:off x="4444672" y="2207124"/>
            <a:ext cx="4567456" cy="2308324"/>
          </a:xfrm>
          <a:prstGeom prst="rect">
            <a:avLst/>
          </a:prstGeom>
          <a:solidFill>
            <a:schemeClr val="tx1">
              <a:lumMod val="85000"/>
            </a:schemeClr>
          </a:solidFill>
          <a:ln>
            <a:noFill/>
          </a:ln>
          <a:effectLst/>
        </p:spPr>
        <p:txBody>
          <a:bodyPr wrap="square">
            <a:spAutoFit/>
          </a:bodyPr>
          <a:lstStyle/>
          <a:p>
            <a:r>
              <a:rPr lang="en-US" altLang="zh-CN" sz="2000" dirty="0">
                <a:solidFill>
                  <a:schemeClr val="bg2"/>
                </a:solidFill>
                <a:latin typeface="Times New Roman" panose="02020603050405020304" pitchFamily="18" charset="0"/>
                <a:cs typeface="Times New Roman" panose="02020603050405020304" pitchFamily="18" charset="0"/>
              </a:rPr>
              <a:t>while (true) {</a:t>
            </a:r>
          </a:p>
          <a:p>
            <a:r>
              <a:rPr lang="en-US" altLang="zh-CN" sz="2000" dirty="0">
                <a:solidFill>
                  <a:schemeClr val="bg2"/>
                </a:solidFill>
                <a:latin typeface="Times New Roman" panose="02020603050405020304" pitchFamily="18" charset="0"/>
                <a:cs typeface="Times New Roman" panose="02020603050405020304" pitchFamily="18" charset="0"/>
              </a:rPr>
              <a:t>      while(counter== 0) </a:t>
            </a:r>
          </a:p>
          <a:p>
            <a:r>
              <a:rPr lang="en-US" altLang="zh-CN" sz="2000" dirty="0">
                <a:solidFill>
                  <a:schemeClr val="bg2"/>
                </a:solidFill>
                <a:latin typeface="Times New Roman" panose="02020603050405020304" pitchFamily="18" charset="0"/>
                <a:cs typeface="Times New Roman" panose="02020603050405020304" pitchFamily="18" charset="0"/>
              </a:rPr>
              <a:t>	     ;   </a:t>
            </a:r>
          </a:p>
          <a:p>
            <a:r>
              <a:rPr lang="en-US" altLang="zh-CN" sz="2000" dirty="0">
                <a:solidFill>
                  <a:schemeClr val="bg2"/>
                </a:solidFill>
                <a:latin typeface="Times New Roman" panose="02020603050405020304" pitchFamily="18" charset="0"/>
                <a:cs typeface="Times New Roman" panose="02020603050405020304" pitchFamily="18" charset="0"/>
              </a:rPr>
              <a:t>      next consumed = buffer[out];</a:t>
            </a:r>
          </a:p>
          <a:p>
            <a:r>
              <a:rPr lang="en-US" altLang="zh-CN" sz="2000" dirty="0">
                <a:solidFill>
                  <a:schemeClr val="bg2"/>
                </a:solidFill>
                <a:latin typeface="Times New Roman" panose="02020603050405020304" pitchFamily="18" charset="0"/>
                <a:cs typeface="Times New Roman" panose="02020603050405020304" pitchFamily="18" charset="0"/>
              </a:rPr>
              <a:t>      out = (out + 1) % BUFFER_SIZE;</a:t>
            </a:r>
          </a:p>
          <a:p>
            <a:r>
              <a:rPr lang="en-US" altLang="zh-CN" sz="2000" dirty="0">
                <a:solidFill>
                  <a:schemeClr val="bg2"/>
                </a:solidFill>
                <a:latin typeface="Times New Roman" panose="02020603050405020304" pitchFamily="18" charset="0"/>
                <a:cs typeface="Times New Roman" panose="02020603050405020304" pitchFamily="18" charset="0"/>
              </a:rPr>
              <a:t>      </a:t>
            </a:r>
            <a:r>
              <a:rPr lang="en-US" altLang="zh-CN" sz="2400" dirty="0">
                <a:solidFill>
                  <a:srgbClr val="990099"/>
                </a:solidFill>
                <a:latin typeface="Times New Roman" panose="02020603050405020304" pitchFamily="18" charset="0"/>
                <a:cs typeface="Times New Roman" panose="02020603050405020304" pitchFamily="18" charset="0"/>
              </a:rPr>
              <a:t>counter--;</a:t>
            </a:r>
          </a:p>
          <a:p>
            <a:r>
              <a:rPr lang="en-US" altLang="zh-CN" sz="2000" dirty="0">
                <a:solidFill>
                  <a:schemeClr val="bg2"/>
                </a:solidFill>
                <a:latin typeface="Times New Roman" panose="02020603050405020304" pitchFamily="18" charset="0"/>
                <a:cs typeface="Times New Roman" panose="02020603050405020304" pitchFamily="18" charset="0"/>
              </a:rPr>
              <a:t>   }</a:t>
            </a:r>
          </a:p>
        </p:txBody>
      </p:sp>
      <p:sp>
        <p:nvSpPr>
          <p:cNvPr id="10" name="Rectangle 11">
            <a:extLst>
              <a:ext uri="{FF2B5EF4-FFF2-40B4-BE49-F238E27FC236}">
                <a16:creationId xmlns:a16="http://schemas.microsoft.com/office/drawing/2014/main" id="{2E6F5E40-FD1E-40AF-BB6A-3F1E0672C3E9}"/>
              </a:ext>
            </a:extLst>
          </p:cNvPr>
          <p:cNvSpPr>
            <a:spLocks noChangeArrowheads="1"/>
          </p:cNvSpPr>
          <p:nvPr/>
        </p:nvSpPr>
        <p:spPr bwMode="auto">
          <a:xfrm>
            <a:off x="5952296" y="1570355"/>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dirty="0">
                <a:solidFill>
                  <a:srgbClr val="000066"/>
                </a:solidFill>
              </a:rPr>
              <a:t>消费者线程</a:t>
            </a:r>
          </a:p>
        </p:txBody>
      </p:sp>
      <p:sp>
        <p:nvSpPr>
          <p:cNvPr id="11" name="文本框 10">
            <a:extLst>
              <a:ext uri="{FF2B5EF4-FFF2-40B4-BE49-F238E27FC236}">
                <a16:creationId xmlns:a16="http://schemas.microsoft.com/office/drawing/2014/main" id="{3F7EE3C6-CA03-439C-B3A7-C0A234B6B463}"/>
              </a:ext>
            </a:extLst>
          </p:cNvPr>
          <p:cNvSpPr txBox="1"/>
          <p:nvPr/>
        </p:nvSpPr>
        <p:spPr>
          <a:xfrm>
            <a:off x="149636" y="4583388"/>
            <a:ext cx="8862492" cy="1077218"/>
          </a:xfrm>
          <a:prstGeom prst="rect">
            <a:avLst/>
          </a:prstGeom>
          <a:solidFill>
            <a:srgbClr val="9CB3F2"/>
          </a:solidFill>
        </p:spPr>
        <p:txBody>
          <a:bodyPr wrap="square" rtlCol="0">
            <a:spAutoFit/>
          </a:bodyPr>
          <a:lstStyle/>
          <a:p>
            <a:pPr>
              <a:tabLst>
                <a:tab pos="4121150" algn="l"/>
              </a:tabLst>
            </a:pPr>
            <a:r>
              <a:rPr lang="zh-CN" altLang="en-US" dirty="0">
                <a:solidFill>
                  <a:schemeClr val="bg2"/>
                </a:solidFill>
                <a:latin typeface="Times New Roman" panose="02020603050405020304" pitchFamily="18" charset="0"/>
                <a:cs typeface="Times New Roman" panose="02020603050405020304" pitchFamily="18" charset="0"/>
              </a:rPr>
              <a:t>假设</a:t>
            </a:r>
            <a:r>
              <a:rPr lang="en-US" altLang="zh-CN" dirty="0">
                <a:solidFill>
                  <a:schemeClr val="bg2"/>
                </a:solidFill>
                <a:latin typeface="Times New Roman" panose="02020603050405020304" pitchFamily="18" charset="0"/>
                <a:cs typeface="Times New Roman" panose="02020603050405020304" pitchFamily="18" charset="0"/>
              </a:rPr>
              <a:t>counter</a:t>
            </a:r>
            <a:r>
              <a:rPr lang="zh-CN" altLang="en-US" dirty="0">
                <a:solidFill>
                  <a:schemeClr val="bg2"/>
                </a:solidFill>
                <a:latin typeface="Times New Roman" panose="02020603050405020304" pitchFamily="18" charset="0"/>
                <a:cs typeface="Times New Roman" panose="02020603050405020304" pitchFamily="18" charset="0"/>
              </a:rPr>
              <a:t>的值为</a:t>
            </a:r>
            <a:r>
              <a:rPr lang="en-US" altLang="zh-CN" dirty="0">
                <a:solidFill>
                  <a:schemeClr val="bg2"/>
                </a:solidFill>
                <a:latin typeface="Times New Roman" panose="02020603050405020304" pitchFamily="18" charset="0"/>
                <a:cs typeface="Times New Roman" panose="02020603050405020304" pitchFamily="18" charset="0"/>
              </a:rPr>
              <a:t>5:</a:t>
            </a:r>
          </a:p>
          <a:p>
            <a:pPr>
              <a:tabLst>
                <a:tab pos="4121150" algn="l"/>
              </a:tabLst>
            </a:pPr>
            <a:r>
              <a:rPr lang="zh-CN" altLang="en-US" dirty="0">
                <a:solidFill>
                  <a:schemeClr val="bg2"/>
                </a:solidFill>
                <a:latin typeface="Times New Roman" panose="02020603050405020304" pitchFamily="18" charset="0"/>
                <a:cs typeface="Times New Roman" panose="02020603050405020304" pitchFamily="18" charset="0"/>
              </a:rPr>
              <a:t>生产者消费者各执行一次，</a:t>
            </a:r>
            <a:r>
              <a:rPr lang="en-US" altLang="zh-CN" dirty="0">
                <a:solidFill>
                  <a:schemeClr val="bg2"/>
                </a:solidFill>
                <a:latin typeface="Times New Roman" panose="02020603050405020304" pitchFamily="18" charset="0"/>
                <a:cs typeface="Times New Roman" panose="02020603050405020304" pitchFamily="18" charset="0"/>
              </a:rPr>
              <a:t>counter</a:t>
            </a:r>
            <a:r>
              <a:rPr lang="zh-CN" altLang="en-US" dirty="0">
                <a:solidFill>
                  <a:schemeClr val="bg2"/>
                </a:solidFill>
                <a:latin typeface="Times New Roman" panose="02020603050405020304" pitchFamily="18" charset="0"/>
                <a:cs typeface="Times New Roman" panose="02020603050405020304" pitchFamily="18" charset="0"/>
              </a:rPr>
              <a:t>的值是多少？</a:t>
            </a:r>
          </a:p>
        </p:txBody>
      </p:sp>
      <p:sp>
        <p:nvSpPr>
          <p:cNvPr id="12" name="文本框 11"/>
          <p:cNvSpPr txBox="1"/>
          <p:nvPr/>
        </p:nvSpPr>
        <p:spPr>
          <a:xfrm>
            <a:off x="7632340" y="0"/>
            <a:ext cx="1656184" cy="400110"/>
          </a:xfrm>
          <a:prstGeom prst="rect">
            <a:avLst/>
          </a:prstGeom>
          <a:noFill/>
        </p:spPr>
        <p:txBody>
          <a:bodyPr wrap="square" rtlCol="0">
            <a:spAutoFit/>
          </a:bodyPr>
          <a:lstStyle/>
          <a:p>
            <a:pPr algn="ctr"/>
            <a:r>
              <a:rPr lang="zh-CN" altLang="en-US" sz="2000" dirty="0">
                <a:solidFill>
                  <a:schemeClr val="bg2"/>
                </a:solidFill>
                <a:latin typeface="+mn-lt"/>
              </a:rPr>
              <a:t>教材</a:t>
            </a:r>
            <a:r>
              <a:rPr lang="en-US" altLang="zh-CN" sz="2000" dirty="0">
                <a:solidFill>
                  <a:schemeClr val="bg2"/>
                </a:solidFill>
                <a:latin typeface="+mn-lt"/>
              </a:rPr>
              <a:t>P139 </a:t>
            </a:r>
            <a:endParaRPr lang="zh-CN" altLang="en-US" sz="2000" dirty="0">
              <a:solidFill>
                <a:schemeClr val="bg2"/>
              </a:solidFill>
              <a:latin typeface="+mn-lt"/>
            </a:endParaRPr>
          </a:p>
        </p:txBody>
      </p:sp>
      <p:sp>
        <p:nvSpPr>
          <p:cNvPr id="13" name="矩形 12">
            <a:extLst>
              <a:ext uri="{FF2B5EF4-FFF2-40B4-BE49-F238E27FC236}">
                <a16:creationId xmlns:a16="http://schemas.microsoft.com/office/drawing/2014/main" id="{33479D63-3866-4115-B92E-A2DD667D072F}"/>
              </a:ext>
            </a:extLst>
          </p:cNvPr>
          <p:cNvSpPr/>
          <p:nvPr/>
        </p:nvSpPr>
        <p:spPr>
          <a:xfrm>
            <a:off x="3296333" y="-118670"/>
            <a:ext cx="2582758" cy="835613"/>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5.1</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 背   景</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4" name="Rectangle 4">
            <a:extLst>
              <a:ext uri="{FF2B5EF4-FFF2-40B4-BE49-F238E27FC236}">
                <a16:creationId xmlns:a16="http://schemas.microsoft.com/office/drawing/2014/main" id="{5FF5BD24-41A6-4CA4-A2E2-D93308688108}"/>
              </a:ext>
            </a:extLst>
          </p:cNvPr>
          <p:cNvSpPr txBox="1">
            <a:spLocks noChangeArrowheads="1"/>
          </p:cNvSpPr>
          <p:nvPr/>
        </p:nvSpPr>
        <p:spPr>
          <a:xfrm>
            <a:off x="287524" y="1487517"/>
            <a:ext cx="8424936" cy="695027"/>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lvl="2" indent="0" defTabSz="355600">
              <a:lnSpc>
                <a:spcPct val="90000"/>
              </a:lnSpc>
              <a:spcBef>
                <a:spcPct val="0"/>
              </a:spcBef>
              <a:buClr>
                <a:schemeClr val="bg1"/>
              </a:buClr>
              <a:buSzPct val="80000"/>
              <a:buNone/>
              <a:defRPr/>
            </a:pPr>
            <a:endParaRPr lang="en-US" altLang="zh-CN" sz="3600" dirty="0">
              <a:solidFill>
                <a:schemeClr val="bg1"/>
              </a:solidFill>
              <a:effectLst/>
              <a:latin typeface="+mj-lt"/>
              <a:ea typeface="楷体" panose="02010609060101010101" pitchFamily="49" charset="-122"/>
            </a:endParaRPr>
          </a:p>
        </p:txBody>
      </p:sp>
      <p:sp>
        <p:nvSpPr>
          <p:cNvPr id="1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294158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8" presetClass="entr" presetSubtype="16" fill="hold" nodeType="clickEffect" nodePh="1">
                                  <p:stCondLst>
                                    <p:cond delay="0"/>
                                  </p:stCondLst>
                                  <p:endCondLst>
                                    <p:cond evt="begin" delay="0">
                                      <p:tn val="12"/>
                                    </p:cond>
                                  </p:endCondLst>
                                  <p:childTnLst>
                                    <p:set>
                                      <p:cBhvr>
                                        <p:cTn id="13" dur="1" fill="hold">
                                          <p:stCondLst>
                                            <p:cond delay="0"/>
                                          </p:stCondLst>
                                        </p:cTn>
                                        <p:tgtEl>
                                          <p:spTgt spid="14">
                                            <p:txEl>
                                              <p:pRg st="0" end="0"/>
                                            </p:txEl>
                                          </p:spTgt>
                                        </p:tgtEl>
                                        <p:attrNameLst>
                                          <p:attrName>style.visibility</p:attrName>
                                        </p:attrNameLst>
                                      </p:cBhvr>
                                      <p:to>
                                        <p:strVal val="visible"/>
                                      </p:to>
                                    </p:set>
                                    <p:animEffect transition="in" filter="diamond(in)">
                                      <p:cBhvr>
                                        <p:cTn id="14" dur="2000"/>
                                        <p:tgtEl>
                                          <p:spTgt spid="14">
                                            <p:txEl>
                                              <p:pRg st="0" end="0"/>
                                            </p:txEl>
                                          </p:spTgt>
                                        </p:tgtEl>
                                      </p:cBhvr>
                                    </p:animEffect>
                                  </p:childTnLst>
                                </p:cTn>
                              </p:par>
                            </p:childTnLst>
                          </p:cTn>
                        </p:par>
                        <p:par>
                          <p:cTn id="15" fill="hold">
                            <p:stCondLst>
                              <p:cond delay="2000"/>
                            </p:stCondLst>
                            <p:childTnLst>
                              <p:par>
                                <p:cTn id="16" presetID="2" presetClass="entr" presetSubtype="6"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1+#ppt_w/2"/>
                                          </p:val>
                                        </p:tav>
                                        <p:tav tm="100000">
                                          <p:val>
                                            <p:strVal val="#ppt_x"/>
                                          </p:val>
                                        </p:tav>
                                      </p:tavLst>
                                    </p:anim>
                                    <p:anim calcmode="lin" valueType="num">
                                      <p:cBhvr additive="base">
                                        <p:cTn id="1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4">
            <a:extLst>
              <a:ext uri="{FF2B5EF4-FFF2-40B4-BE49-F238E27FC236}">
                <a16:creationId xmlns:a16="http://schemas.microsoft.com/office/drawing/2014/main" id="{D88A0020-6141-4995-827C-BB63E1FB3BC3}"/>
              </a:ext>
            </a:extLst>
          </p:cNvPr>
          <p:cNvSpPr txBox="1">
            <a:spLocks noChangeArrowheads="1"/>
          </p:cNvSpPr>
          <p:nvPr/>
        </p:nvSpPr>
        <p:spPr bwMode="auto">
          <a:xfrm>
            <a:off x="2401854" y="917380"/>
            <a:ext cx="3325601" cy="1200329"/>
          </a:xfrm>
          <a:prstGeom prst="rect">
            <a:avLst/>
          </a:prstGeom>
          <a:solidFill>
            <a:schemeClr val="tx1">
              <a:lumMod val="85000"/>
            </a:schemeClr>
          </a:solidFill>
          <a:ln>
            <a:noFill/>
          </a:ln>
          <a:effectLst/>
        </p:spPr>
        <p:txBody>
          <a:bodyPr wrap="square">
            <a:spAutoFit/>
          </a:bodyPr>
          <a:lstStyle/>
          <a:p>
            <a:r>
              <a:rPr lang="en-US" altLang="zh-CN" sz="2400" dirty="0">
                <a:solidFill>
                  <a:srgbClr val="006600"/>
                </a:solidFill>
                <a:latin typeface="+mj-lt"/>
              </a:rPr>
              <a:t>register</a:t>
            </a:r>
            <a:r>
              <a:rPr lang="en-US" altLang="zh-CN" sz="2400" baseline="-25000" dirty="0">
                <a:solidFill>
                  <a:srgbClr val="006600"/>
                </a:solidFill>
                <a:latin typeface="+mj-lt"/>
              </a:rPr>
              <a:t>1 </a:t>
            </a:r>
            <a:r>
              <a:rPr lang="en-US" altLang="zh-CN" sz="2400" dirty="0">
                <a:solidFill>
                  <a:srgbClr val="006600"/>
                </a:solidFill>
                <a:latin typeface="+mj-lt"/>
              </a:rPr>
              <a:t>= counter; </a:t>
            </a:r>
          </a:p>
          <a:p>
            <a:r>
              <a:rPr lang="en-US" altLang="zh-CN" sz="2400" dirty="0">
                <a:solidFill>
                  <a:srgbClr val="006600"/>
                </a:solidFill>
                <a:latin typeface="+mj-lt"/>
              </a:rPr>
              <a:t>register</a:t>
            </a:r>
            <a:r>
              <a:rPr lang="en-US" altLang="zh-CN" sz="2400" baseline="-25000" dirty="0">
                <a:solidFill>
                  <a:srgbClr val="006600"/>
                </a:solidFill>
                <a:latin typeface="+mj-lt"/>
              </a:rPr>
              <a:t>1 </a:t>
            </a:r>
            <a:r>
              <a:rPr lang="en-US" altLang="zh-CN" sz="2400" dirty="0">
                <a:solidFill>
                  <a:srgbClr val="006600"/>
                </a:solidFill>
                <a:latin typeface="+mj-lt"/>
              </a:rPr>
              <a:t>= register</a:t>
            </a:r>
            <a:r>
              <a:rPr lang="en-US" altLang="zh-CN" sz="2400" baseline="-25000" dirty="0">
                <a:solidFill>
                  <a:srgbClr val="006600"/>
                </a:solidFill>
                <a:latin typeface="+mj-lt"/>
              </a:rPr>
              <a:t>1</a:t>
            </a:r>
            <a:r>
              <a:rPr lang="en-US" altLang="zh-CN" sz="2400" dirty="0">
                <a:solidFill>
                  <a:srgbClr val="006600"/>
                </a:solidFill>
                <a:latin typeface="+mj-lt"/>
              </a:rPr>
              <a:t> +1;</a:t>
            </a:r>
          </a:p>
          <a:p>
            <a:r>
              <a:rPr lang="en-US" altLang="zh-CN" sz="2400" dirty="0">
                <a:solidFill>
                  <a:srgbClr val="006600"/>
                </a:solidFill>
                <a:latin typeface="+mj-lt"/>
              </a:rPr>
              <a:t>counter = register</a:t>
            </a:r>
            <a:r>
              <a:rPr lang="en-US" altLang="zh-CN" sz="2400" baseline="-25000" dirty="0">
                <a:solidFill>
                  <a:srgbClr val="006600"/>
                </a:solidFill>
                <a:latin typeface="+mj-lt"/>
              </a:rPr>
              <a:t>1</a:t>
            </a:r>
            <a:r>
              <a:rPr lang="en-US" altLang="zh-CN" sz="2400" dirty="0">
                <a:solidFill>
                  <a:srgbClr val="006600"/>
                </a:solidFill>
                <a:latin typeface="+mj-lt"/>
              </a:rPr>
              <a:t>;</a:t>
            </a:r>
          </a:p>
        </p:txBody>
      </p:sp>
      <p:sp>
        <p:nvSpPr>
          <p:cNvPr id="10" name="Text Box 30">
            <a:extLst>
              <a:ext uri="{FF2B5EF4-FFF2-40B4-BE49-F238E27FC236}">
                <a16:creationId xmlns:a16="http://schemas.microsoft.com/office/drawing/2014/main" id="{3B12D8A5-24E5-47F7-B66D-E5BE9DCEA363}"/>
              </a:ext>
            </a:extLst>
          </p:cNvPr>
          <p:cNvSpPr txBox="1">
            <a:spLocks noChangeArrowheads="1"/>
          </p:cNvSpPr>
          <p:nvPr/>
        </p:nvSpPr>
        <p:spPr bwMode="auto">
          <a:xfrm>
            <a:off x="5914574" y="926096"/>
            <a:ext cx="3219520" cy="1200329"/>
          </a:xfrm>
          <a:prstGeom prst="rect">
            <a:avLst/>
          </a:prstGeom>
          <a:solidFill>
            <a:schemeClr val="tx1">
              <a:lumMod val="85000"/>
            </a:schemeClr>
          </a:solidFill>
          <a:ln>
            <a:noFill/>
          </a:ln>
          <a:effectLst/>
        </p:spPr>
        <p:txBody>
          <a:bodyPr wrap="square">
            <a:spAutoFit/>
          </a:bodyPr>
          <a:lstStyle/>
          <a:p>
            <a:r>
              <a:rPr lang="en-US" altLang="zh-CN" sz="2400" dirty="0">
                <a:solidFill>
                  <a:srgbClr val="990099"/>
                </a:solidFill>
                <a:latin typeface="+mj-lt"/>
              </a:rPr>
              <a:t>register</a:t>
            </a:r>
            <a:r>
              <a:rPr lang="en-US" altLang="zh-CN" sz="2400" baseline="-25000" dirty="0">
                <a:solidFill>
                  <a:srgbClr val="990099"/>
                </a:solidFill>
                <a:latin typeface="+mj-lt"/>
              </a:rPr>
              <a:t>2</a:t>
            </a:r>
            <a:r>
              <a:rPr lang="en-US" altLang="zh-CN" sz="2400" dirty="0">
                <a:solidFill>
                  <a:srgbClr val="990099"/>
                </a:solidFill>
                <a:latin typeface="+mj-lt"/>
              </a:rPr>
              <a:t> = counter; </a:t>
            </a:r>
          </a:p>
          <a:p>
            <a:r>
              <a:rPr lang="en-US" altLang="zh-CN" sz="2400" dirty="0">
                <a:solidFill>
                  <a:srgbClr val="990099"/>
                </a:solidFill>
                <a:latin typeface="+mj-lt"/>
              </a:rPr>
              <a:t>register</a:t>
            </a:r>
            <a:r>
              <a:rPr lang="en-US" altLang="zh-CN" sz="2400" baseline="-25000" dirty="0">
                <a:solidFill>
                  <a:srgbClr val="990099"/>
                </a:solidFill>
                <a:latin typeface="+mj-lt"/>
              </a:rPr>
              <a:t>2</a:t>
            </a:r>
            <a:r>
              <a:rPr lang="en-US" altLang="zh-CN" sz="2400" dirty="0">
                <a:solidFill>
                  <a:srgbClr val="990099"/>
                </a:solidFill>
                <a:latin typeface="+mj-lt"/>
              </a:rPr>
              <a:t> = register</a:t>
            </a:r>
            <a:r>
              <a:rPr lang="en-US" altLang="zh-CN" sz="2400" baseline="-25000" dirty="0">
                <a:solidFill>
                  <a:srgbClr val="990099"/>
                </a:solidFill>
                <a:latin typeface="+mj-lt"/>
              </a:rPr>
              <a:t>2</a:t>
            </a:r>
            <a:r>
              <a:rPr lang="en-US" altLang="zh-CN" sz="2400" dirty="0">
                <a:solidFill>
                  <a:srgbClr val="990099"/>
                </a:solidFill>
                <a:latin typeface="+mj-lt"/>
              </a:rPr>
              <a:t> - 1;</a:t>
            </a:r>
          </a:p>
          <a:p>
            <a:r>
              <a:rPr lang="en-US" altLang="zh-CN" sz="2400" dirty="0">
                <a:solidFill>
                  <a:srgbClr val="990099"/>
                </a:solidFill>
                <a:latin typeface="+mj-lt"/>
              </a:rPr>
              <a:t>counter = register</a:t>
            </a:r>
            <a:r>
              <a:rPr lang="en-US" altLang="zh-CN" sz="2400" baseline="-25000" dirty="0">
                <a:solidFill>
                  <a:srgbClr val="990099"/>
                </a:solidFill>
                <a:latin typeface="+mj-lt"/>
              </a:rPr>
              <a:t>2</a:t>
            </a:r>
            <a:endParaRPr lang="en-US" altLang="zh-CN" sz="2400" dirty="0">
              <a:solidFill>
                <a:srgbClr val="990099"/>
              </a:solidFill>
              <a:latin typeface="+mj-lt"/>
            </a:endParaRPr>
          </a:p>
        </p:txBody>
      </p:sp>
      <p:grpSp>
        <p:nvGrpSpPr>
          <p:cNvPr id="26" name="组合 25">
            <a:extLst>
              <a:ext uri="{FF2B5EF4-FFF2-40B4-BE49-F238E27FC236}">
                <a16:creationId xmlns:a16="http://schemas.microsoft.com/office/drawing/2014/main" id="{ABB52F09-E28C-4AD3-8E4F-0F443452F406}"/>
              </a:ext>
            </a:extLst>
          </p:cNvPr>
          <p:cNvGrpSpPr/>
          <p:nvPr/>
        </p:nvGrpSpPr>
        <p:grpSpPr>
          <a:xfrm>
            <a:off x="656617" y="2014971"/>
            <a:ext cx="3451604" cy="3113378"/>
            <a:chOff x="503940" y="2803734"/>
            <a:chExt cx="3505200" cy="3113378"/>
          </a:xfrm>
        </p:grpSpPr>
        <p:sp>
          <p:nvSpPr>
            <p:cNvPr id="13" name="Text Box 34">
              <a:extLst>
                <a:ext uri="{FF2B5EF4-FFF2-40B4-BE49-F238E27FC236}">
                  <a16:creationId xmlns:a16="http://schemas.microsoft.com/office/drawing/2014/main" id="{25129E36-91D5-4C53-9C78-57342CA77834}"/>
                </a:ext>
              </a:extLst>
            </p:cNvPr>
            <p:cNvSpPr txBox="1">
              <a:spLocks noChangeArrowheads="1"/>
            </p:cNvSpPr>
            <p:nvPr/>
          </p:nvSpPr>
          <p:spPr bwMode="auto">
            <a:xfrm>
              <a:off x="503940" y="3239456"/>
              <a:ext cx="3505200" cy="2677656"/>
            </a:xfrm>
            <a:prstGeom prst="rect">
              <a:avLst/>
            </a:prstGeom>
            <a:solidFill>
              <a:schemeClr val="tx1">
                <a:lumMod val="85000"/>
              </a:schemeClr>
            </a:solidFill>
            <a:ln>
              <a:noFill/>
            </a:ln>
            <a:effectLst/>
          </p:spPr>
          <p:txBody>
            <a:bodyPr>
              <a:spAutoFit/>
            </a:bodyPr>
            <a:lstStyle/>
            <a:p>
              <a:pPr>
                <a:spcBef>
                  <a:spcPct val="20000"/>
                </a:spcBef>
              </a:pPr>
              <a:r>
                <a:rPr lang="en-US" altLang="zh-CN" sz="2400" dirty="0">
                  <a:solidFill>
                    <a:srgbClr val="006600"/>
                  </a:solidFill>
                  <a:latin typeface="+mj-lt"/>
                </a:rPr>
                <a:t>register</a:t>
              </a:r>
              <a:r>
                <a:rPr lang="en-US" altLang="zh-CN" sz="2400" baseline="-25000" dirty="0">
                  <a:solidFill>
                    <a:srgbClr val="006600"/>
                  </a:solidFill>
                  <a:latin typeface="+mj-lt"/>
                </a:rPr>
                <a:t>1 </a:t>
              </a:r>
              <a:r>
                <a:rPr lang="en-US" altLang="zh-CN" sz="2400" dirty="0">
                  <a:solidFill>
                    <a:srgbClr val="006600"/>
                  </a:solidFill>
                  <a:latin typeface="+mj-lt"/>
                </a:rPr>
                <a:t>= counter; </a:t>
              </a:r>
            </a:p>
            <a:p>
              <a:pPr>
                <a:spcBef>
                  <a:spcPct val="20000"/>
                </a:spcBef>
              </a:pPr>
              <a:r>
                <a:rPr lang="en-US" altLang="zh-CN" sz="2400" dirty="0">
                  <a:solidFill>
                    <a:srgbClr val="006600"/>
                  </a:solidFill>
                  <a:latin typeface="+mj-lt"/>
                </a:rPr>
                <a:t>register</a:t>
              </a:r>
              <a:r>
                <a:rPr lang="en-US" altLang="zh-CN" sz="2400" baseline="-25000" dirty="0">
                  <a:solidFill>
                    <a:srgbClr val="006600"/>
                  </a:solidFill>
                  <a:latin typeface="+mj-lt"/>
                </a:rPr>
                <a:t>1 </a:t>
              </a:r>
              <a:r>
                <a:rPr lang="en-US" altLang="zh-CN" sz="2400" dirty="0">
                  <a:solidFill>
                    <a:srgbClr val="006600"/>
                  </a:solidFill>
                  <a:latin typeface="+mj-lt"/>
                </a:rPr>
                <a:t>= register</a:t>
              </a:r>
              <a:r>
                <a:rPr lang="en-US" altLang="zh-CN" sz="2400" baseline="-25000" dirty="0">
                  <a:solidFill>
                    <a:srgbClr val="006600"/>
                  </a:solidFill>
                  <a:latin typeface="+mj-lt"/>
                </a:rPr>
                <a:t>1 </a:t>
              </a:r>
              <a:r>
                <a:rPr lang="en-US" altLang="zh-CN" sz="2400" dirty="0">
                  <a:solidFill>
                    <a:srgbClr val="006600"/>
                  </a:solidFill>
                  <a:latin typeface="+mj-lt"/>
                </a:rPr>
                <a:t>+ 1;</a:t>
              </a:r>
            </a:p>
            <a:p>
              <a:pPr>
                <a:spcBef>
                  <a:spcPct val="20000"/>
                </a:spcBef>
              </a:pPr>
              <a:r>
                <a:rPr lang="en-US" altLang="zh-CN" sz="2400" dirty="0">
                  <a:solidFill>
                    <a:srgbClr val="7A007A"/>
                  </a:solidFill>
                  <a:latin typeface="+mj-lt"/>
                </a:rPr>
                <a:t>register</a:t>
              </a:r>
              <a:r>
                <a:rPr lang="en-US" altLang="zh-CN" sz="2400" baseline="-25000" dirty="0">
                  <a:solidFill>
                    <a:srgbClr val="7A007A"/>
                  </a:solidFill>
                  <a:latin typeface="+mj-lt"/>
                </a:rPr>
                <a:t>2</a:t>
              </a:r>
              <a:r>
                <a:rPr lang="en-US" altLang="zh-CN" sz="2400" dirty="0">
                  <a:solidFill>
                    <a:srgbClr val="7A007A"/>
                  </a:solidFill>
                  <a:latin typeface="+mj-lt"/>
                </a:rPr>
                <a:t> = counter; </a:t>
              </a:r>
            </a:p>
            <a:p>
              <a:pPr>
                <a:spcBef>
                  <a:spcPct val="20000"/>
                </a:spcBef>
              </a:pPr>
              <a:r>
                <a:rPr lang="en-US" altLang="zh-CN" sz="2400" dirty="0">
                  <a:solidFill>
                    <a:srgbClr val="7A007A"/>
                  </a:solidFill>
                  <a:latin typeface="+mj-lt"/>
                </a:rPr>
                <a:t>register</a:t>
              </a:r>
              <a:r>
                <a:rPr lang="en-US" altLang="zh-CN" sz="2400" baseline="-25000" dirty="0">
                  <a:solidFill>
                    <a:srgbClr val="7A007A"/>
                  </a:solidFill>
                  <a:latin typeface="+mj-lt"/>
                </a:rPr>
                <a:t>2</a:t>
              </a:r>
              <a:r>
                <a:rPr lang="en-US" altLang="zh-CN" sz="2400" dirty="0">
                  <a:solidFill>
                    <a:srgbClr val="7A007A"/>
                  </a:solidFill>
                  <a:latin typeface="+mj-lt"/>
                </a:rPr>
                <a:t> = register</a:t>
              </a:r>
              <a:r>
                <a:rPr lang="en-US" altLang="zh-CN" sz="2400" baseline="-25000" dirty="0">
                  <a:solidFill>
                    <a:srgbClr val="7A007A"/>
                  </a:solidFill>
                  <a:latin typeface="+mj-lt"/>
                </a:rPr>
                <a:t>2</a:t>
              </a:r>
              <a:r>
                <a:rPr lang="en-US" altLang="zh-CN" sz="2400" dirty="0">
                  <a:solidFill>
                    <a:srgbClr val="7A007A"/>
                  </a:solidFill>
                  <a:latin typeface="+mj-lt"/>
                </a:rPr>
                <a:t> - 1;</a:t>
              </a:r>
            </a:p>
            <a:p>
              <a:pPr>
                <a:spcBef>
                  <a:spcPct val="20000"/>
                </a:spcBef>
              </a:pPr>
              <a:r>
                <a:rPr lang="en-US" altLang="zh-CN" sz="2400" dirty="0">
                  <a:solidFill>
                    <a:srgbClr val="006600"/>
                  </a:solidFill>
                  <a:latin typeface="+mj-lt"/>
                </a:rPr>
                <a:t>counter = register</a:t>
              </a:r>
              <a:r>
                <a:rPr lang="en-US" altLang="zh-CN" sz="2400" baseline="-25000" dirty="0">
                  <a:solidFill>
                    <a:srgbClr val="006600"/>
                  </a:solidFill>
                  <a:latin typeface="+mj-lt"/>
                </a:rPr>
                <a:t>1 </a:t>
              </a:r>
              <a:r>
                <a:rPr lang="en-US" altLang="zh-CN" sz="2400" dirty="0">
                  <a:solidFill>
                    <a:srgbClr val="006600"/>
                  </a:solidFill>
                  <a:latin typeface="+mj-lt"/>
                </a:rPr>
                <a:t>; </a:t>
              </a:r>
            </a:p>
            <a:p>
              <a:pPr>
                <a:spcBef>
                  <a:spcPct val="20000"/>
                </a:spcBef>
              </a:pPr>
              <a:r>
                <a:rPr lang="en-US" altLang="zh-CN" sz="2400" dirty="0">
                  <a:solidFill>
                    <a:srgbClr val="7A007A"/>
                  </a:solidFill>
                  <a:latin typeface="+mj-lt"/>
                </a:rPr>
                <a:t>counter = register</a:t>
              </a:r>
              <a:r>
                <a:rPr lang="en-US" altLang="zh-CN" sz="2400" baseline="-25000" dirty="0">
                  <a:solidFill>
                    <a:srgbClr val="7A007A"/>
                  </a:solidFill>
                  <a:latin typeface="+mj-lt"/>
                </a:rPr>
                <a:t>2</a:t>
              </a:r>
              <a:r>
                <a:rPr lang="en-US" altLang="zh-CN" sz="2400" dirty="0">
                  <a:solidFill>
                    <a:srgbClr val="7A007A"/>
                  </a:solidFill>
                  <a:latin typeface="+mj-lt"/>
                </a:rPr>
                <a:t> ;</a:t>
              </a:r>
            </a:p>
          </p:txBody>
        </p:sp>
        <p:sp>
          <p:nvSpPr>
            <p:cNvPr id="14" name="Rectangle 35">
              <a:extLst>
                <a:ext uri="{FF2B5EF4-FFF2-40B4-BE49-F238E27FC236}">
                  <a16:creationId xmlns:a16="http://schemas.microsoft.com/office/drawing/2014/main" id="{081533B6-0436-4243-A0D1-E8F1F6E0BC8B}"/>
                </a:ext>
              </a:extLst>
            </p:cNvPr>
            <p:cNvSpPr>
              <a:spLocks noChangeArrowheads="1"/>
            </p:cNvSpPr>
            <p:nvPr/>
          </p:nvSpPr>
          <p:spPr bwMode="auto">
            <a:xfrm>
              <a:off x="900836" y="2803734"/>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dirty="0">
                  <a:solidFill>
                    <a:schemeClr val="bg2"/>
                  </a:solidFill>
                  <a:latin typeface="+mj-lt"/>
                </a:rPr>
                <a:t>可能的执行序列 </a:t>
              </a:r>
              <a:r>
                <a:rPr lang="en-US" altLang="zh-CN" sz="2400" b="1" dirty="0">
                  <a:solidFill>
                    <a:schemeClr val="bg2"/>
                  </a:solidFill>
                  <a:latin typeface="+mj-lt"/>
                </a:rPr>
                <a:t>1</a:t>
              </a:r>
              <a:endParaRPr lang="zh-CN" altLang="en-US" sz="2400" b="1" dirty="0">
                <a:solidFill>
                  <a:schemeClr val="bg2"/>
                </a:solidFill>
                <a:latin typeface="+mj-lt"/>
              </a:endParaRPr>
            </a:p>
          </p:txBody>
        </p:sp>
      </p:grpSp>
      <p:sp>
        <p:nvSpPr>
          <p:cNvPr id="17" name="Rectangle 16">
            <a:extLst>
              <a:ext uri="{FF2B5EF4-FFF2-40B4-BE49-F238E27FC236}">
                <a16:creationId xmlns:a16="http://schemas.microsoft.com/office/drawing/2014/main" id="{CD57D0B4-7795-425D-981D-A3CECBFBB342}"/>
              </a:ext>
            </a:extLst>
          </p:cNvPr>
          <p:cNvSpPr>
            <a:spLocks noChangeArrowheads="1"/>
          </p:cNvSpPr>
          <p:nvPr/>
        </p:nvSpPr>
        <p:spPr bwMode="auto">
          <a:xfrm>
            <a:off x="497065" y="501220"/>
            <a:ext cx="143307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chemeClr val="bg2"/>
                </a:solidFill>
                <a:latin typeface="+mj-lt"/>
              </a:rPr>
              <a:t>初始情况</a:t>
            </a:r>
          </a:p>
        </p:txBody>
      </p:sp>
      <p:sp>
        <p:nvSpPr>
          <p:cNvPr id="18" name="Text Box 40">
            <a:extLst>
              <a:ext uri="{FF2B5EF4-FFF2-40B4-BE49-F238E27FC236}">
                <a16:creationId xmlns:a16="http://schemas.microsoft.com/office/drawing/2014/main" id="{CD9367BB-5155-4B8D-BF74-AA7CD924F26C}"/>
              </a:ext>
            </a:extLst>
          </p:cNvPr>
          <p:cNvSpPr txBox="1">
            <a:spLocks noChangeArrowheads="1"/>
          </p:cNvSpPr>
          <p:nvPr/>
        </p:nvSpPr>
        <p:spPr bwMode="auto">
          <a:xfrm>
            <a:off x="358558" y="926096"/>
            <a:ext cx="1945349" cy="461665"/>
          </a:xfrm>
          <a:prstGeom prst="rect">
            <a:avLst/>
          </a:prstGeom>
          <a:solidFill>
            <a:srgbClr val="9CB3F2"/>
          </a:solidFill>
          <a:ln>
            <a:noFill/>
          </a:ln>
          <a:effectLst/>
        </p:spPr>
        <p:txBody>
          <a:bodyPr wrap="square">
            <a:spAutoFit/>
          </a:bodyPr>
          <a:lstStyle/>
          <a:p>
            <a:pPr>
              <a:spcBef>
                <a:spcPct val="50000"/>
              </a:spcBef>
            </a:pPr>
            <a:r>
              <a:rPr lang="en-US" altLang="zh-CN" sz="2400" dirty="0">
                <a:solidFill>
                  <a:schemeClr val="bg2"/>
                </a:solidFill>
                <a:latin typeface="+mj-lt"/>
              </a:rPr>
              <a:t>counter = 5;</a:t>
            </a:r>
          </a:p>
        </p:txBody>
      </p:sp>
      <p:sp>
        <p:nvSpPr>
          <p:cNvPr id="19" name="Rectangle 8">
            <a:extLst>
              <a:ext uri="{FF2B5EF4-FFF2-40B4-BE49-F238E27FC236}">
                <a16:creationId xmlns:a16="http://schemas.microsoft.com/office/drawing/2014/main" id="{8DD26300-1BB1-45C7-9102-FE41251930C2}"/>
              </a:ext>
            </a:extLst>
          </p:cNvPr>
          <p:cNvSpPr>
            <a:spLocks noChangeArrowheads="1"/>
          </p:cNvSpPr>
          <p:nvPr/>
        </p:nvSpPr>
        <p:spPr bwMode="auto">
          <a:xfrm>
            <a:off x="3081089" y="514018"/>
            <a:ext cx="255118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66"/>
                </a:solidFill>
              </a:rPr>
              <a:t>生产者线程</a:t>
            </a:r>
          </a:p>
        </p:txBody>
      </p:sp>
      <p:sp>
        <p:nvSpPr>
          <p:cNvPr id="20" name="Rectangle 11">
            <a:extLst>
              <a:ext uri="{FF2B5EF4-FFF2-40B4-BE49-F238E27FC236}">
                <a16:creationId xmlns:a16="http://schemas.microsoft.com/office/drawing/2014/main" id="{20A9C798-C8E6-4E78-8EEE-40A22DDF97E7}"/>
              </a:ext>
            </a:extLst>
          </p:cNvPr>
          <p:cNvSpPr>
            <a:spLocks noChangeArrowheads="1"/>
          </p:cNvSpPr>
          <p:nvPr/>
        </p:nvSpPr>
        <p:spPr bwMode="auto">
          <a:xfrm>
            <a:off x="6636660" y="529480"/>
            <a:ext cx="202594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400" b="1" dirty="0">
                <a:solidFill>
                  <a:srgbClr val="000066"/>
                </a:solidFill>
              </a:rPr>
              <a:t>消费者线程</a:t>
            </a:r>
          </a:p>
        </p:txBody>
      </p:sp>
      <p:sp>
        <p:nvSpPr>
          <p:cNvPr id="21" name="Text Box 40">
            <a:extLst>
              <a:ext uri="{FF2B5EF4-FFF2-40B4-BE49-F238E27FC236}">
                <a16:creationId xmlns:a16="http://schemas.microsoft.com/office/drawing/2014/main" id="{C647004D-CCCE-403F-BFA2-A34EAC86A341}"/>
              </a:ext>
            </a:extLst>
          </p:cNvPr>
          <p:cNvSpPr txBox="1">
            <a:spLocks noChangeArrowheads="1"/>
          </p:cNvSpPr>
          <p:nvPr/>
        </p:nvSpPr>
        <p:spPr bwMode="auto">
          <a:xfrm>
            <a:off x="1309149" y="5131557"/>
            <a:ext cx="1975556" cy="461665"/>
          </a:xfrm>
          <a:prstGeom prst="rect">
            <a:avLst/>
          </a:prstGeom>
          <a:solidFill>
            <a:srgbClr val="9CB3F2"/>
          </a:solidFill>
          <a:ln>
            <a:noFill/>
          </a:ln>
          <a:effectLst/>
        </p:spPr>
        <p:txBody>
          <a:bodyPr>
            <a:spAutoFit/>
          </a:bodyPr>
          <a:lstStyle/>
          <a:p>
            <a:pPr>
              <a:spcBef>
                <a:spcPct val="50000"/>
              </a:spcBef>
            </a:pPr>
            <a:r>
              <a:rPr lang="en-US" altLang="zh-CN" sz="2400" dirty="0">
                <a:solidFill>
                  <a:schemeClr val="bg2"/>
                </a:solidFill>
                <a:latin typeface="+mj-lt"/>
              </a:rPr>
              <a:t>counter = 4;</a:t>
            </a:r>
          </a:p>
        </p:txBody>
      </p:sp>
      <p:sp>
        <p:nvSpPr>
          <p:cNvPr id="22" name="日期占位符 1">
            <a:extLst>
              <a:ext uri="{FF2B5EF4-FFF2-40B4-BE49-F238E27FC236}">
                <a16:creationId xmlns:a16="http://schemas.microsoft.com/office/drawing/2014/main" id="{EACD00E9-229E-421F-A750-75F253B75498}"/>
              </a:ext>
            </a:extLst>
          </p:cNvPr>
          <p:cNvSpPr txBox="1">
            <a:spLocks/>
          </p:cNvSpPr>
          <p:nvPr/>
        </p:nvSpPr>
        <p:spPr bwMode="auto">
          <a:xfrm>
            <a:off x="4491447" y="6403848"/>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a:defRPr/>
            </a:pPr>
            <a:fld id="{0F3703A3-1889-4D5A-B002-82B1611E7DF6}" type="datetime1">
              <a:rPr lang="zh-CN" altLang="en-US" smtClean="0"/>
              <a:pPr>
                <a:defRPr/>
              </a:pPr>
              <a:t>2024/10/9</a:t>
            </a:fld>
            <a:endParaRPr lang="en-US" altLang="zh-CN"/>
          </a:p>
        </p:txBody>
      </p:sp>
      <p:grpSp>
        <p:nvGrpSpPr>
          <p:cNvPr id="27" name="组合 26">
            <a:extLst>
              <a:ext uri="{FF2B5EF4-FFF2-40B4-BE49-F238E27FC236}">
                <a16:creationId xmlns:a16="http://schemas.microsoft.com/office/drawing/2014/main" id="{3DFAA19F-679F-4371-A61F-E1F9AD99DC1D}"/>
              </a:ext>
            </a:extLst>
          </p:cNvPr>
          <p:cNvGrpSpPr/>
          <p:nvPr/>
        </p:nvGrpSpPr>
        <p:grpSpPr>
          <a:xfrm>
            <a:off x="5148064" y="2073124"/>
            <a:ext cx="3451604" cy="3058273"/>
            <a:chOff x="4995387" y="2861887"/>
            <a:chExt cx="3505200" cy="3058273"/>
          </a:xfrm>
        </p:grpSpPr>
        <p:sp>
          <p:nvSpPr>
            <p:cNvPr id="23" name="Text Box 34">
              <a:extLst>
                <a:ext uri="{FF2B5EF4-FFF2-40B4-BE49-F238E27FC236}">
                  <a16:creationId xmlns:a16="http://schemas.microsoft.com/office/drawing/2014/main" id="{81F8C14D-DF8D-4FEC-9AC6-A056BC62821D}"/>
                </a:ext>
              </a:extLst>
            </p:cNvPr>
            <p:cNvSpPr txBox="1">
              <a:spLocks noChangeArrowheads="1"/>
            </p:cNvSpPr>
            <p:nvPr/>
          </p:nvSpPr>
          <p:spPr bwMode="auto">
            <a:xfrm>
              <a:off x="4995387" y="3242504"/>
              <a:ext cx="3505200" cy="2677656"/>
            </a:xfrm>
            <a:prstGeom prst="rect">
              <a:avLst/>
            </a:prstGeom>
            <a:solidFill>
              <a:schemeClr val="tx1">
                <a:lumMod val="85000"/>
              </a:schemeClr>
            </a:solidFill>
            <a:ln>
              <a:noFill/>
            </a:ln>
            <a:effectLst/>
          </p:spPr>
          <p:txBody>
            <a:bodyPr>
              <a:spAutoFit/>
            </a:bodyPr>
            <a:lstStyle/>
            <a:p>
              <a:pPr>
                <a:spcBef>
                  <a:spcPct val="20000"/>
                </a:spcBef>
              </a:pPr>
              <a:r>
                <a:rPr lang="en-US" altLang="zh-CN" sz="2400" dirty="0">
                  <a:solidFill>
                    <a:srgbClr val="006600"/>
                  </a:solidFill>
                  <a:latin typeface="+mj-lt"/>
                </a:rPr>
                <a:t>register</a:t>
              </a:r>
              <a:r>
                <a:rPr lang="en-US" altLang="zh-CN" sz="2400" baseline="-25000" dirty="0">
                  <a:solidFill>
                    <a:srgbClr val="006600"/>
                  </a:solidFill>
                  <a:latin typeface="+mj-lt"/>
                </a:rPr>
                <a:t>1 </a:t>
              </a:r>
              <a:r>
                <a:rPr lang="en-US" altLang="zh-CN" sz="2400" dirty="0">
                  <a:solidFill>
                    <a:srgbClr val="006600"/>
                  </a:solidFill>
                  <a:latin typeface="+mj-lt"/>
                </a:rPr>
                <a:t>= counter; </a:t>
              </a:r>
            </a:p>
            <a:p>
              <a:pPr>
                <a:spcBef>
                  <a:spcPct val="20000"/>
                </a:spcBef>
              </a:pPr>
              <a:r>
                <a:rPr lang="en-US" altLang="zh-CN" sz="2400" dirty="0">
                  <a:solidFill>
                    <a:srgbClr val="006600"/>
                  </a:solidFill>
                  <a:latin typeface="+mj-lt"/>
                </a:rPr>
                <a:t>register</a:t>
              </a:r>
              <a:r>
                <a:rPr lang="en-US" altLang="zh-CN" sz="2400" baseline="-25000" dirty="0">
                  <a:solidFill>
                    <a:srgbClr val="006600"/>
                  </a:solidFill>
                  <a:latin typeface="+mj-lt"/>
                </a:rPr>
                <a:t>1 </a:t>
              </a:r>
              <a:r>
                <a:rPr lang="en-US" altLang="zh-CN" sz="2400" dirty="0">
                  <a:solidFill>
                    <a:srgbClr val="006600"/>
                  </a:solidFill>
                  <a:latin typeface="+mj-lt"/>
                </a:rPr>
                <a:t>= register</a:t>
              </a:r>
              <a:r>
                <a:rPr lang="en-US" altLang="zh-CN" sz="2400" baseline="-25000" dirty="0">
                  <a:solidFill>
                    <a:srgbClr val="006600"/>
                  </a:solidFill>
                  <a:latin typeface="+mj-lt"/>
                </a:rPr>
                <a:t>1 </a:t>
              </a:r>
              <a:r>
                <a:rPr lang="en-US" altLang="zh-CN" sz="2400" dirty="0">
                  <a:solidFill>
                    <a:srgbClr val="006600"/>
                  </a:solidFill>
                  <a:latin typeface="+mj-lt"/>
                </a:rPr>
                <a:t>+ 1;</a:t>
              </a:r>
            </a:p>
            <a:p>
              <a:pPr>
                <a:spcBef>
                  <a:spcPct val="20000"/>
                </a:spcBef>
              </a:pPr>
              <a:r>
                <a:rPr lang="en-US" altLang="zh-CN" sz="2400" dirty="0">
                  <a:solidFill>
                    <a:srgbClr val="7A007A"/>
                  </a:solidFill>
                  <a:latin typeface="+mj-lt"/>
                </a:rPr>
                <a:t>register</a:t>
              </a:r>
              <a:r>
                <a:rPr lang="en-US" altLang="zh-CN" sz="2400" baseline="-25000" dirty="0">
                  <a:solidFill>
                    <a:srgbClr val="7A007A"/>
                  </a:solidFill>
                  <a:latin typeface="+mj-lt"/>
                </a:rPr>
                <a:t>2</a:t>
              </a:r>
              <a:r>
                <a:rPr lang="en-US" altLang="zh-CN" sz="2400" dirty="0">
                  <a:solidFill>
                    <a:srgbClr val="7A007A"/>
                  </a:solidFill>
                  <a:latin typeface="+mj-lt"/>
                </a:rPr>
                <a:t> = counter; </a:t>
              </a:r>
            </a:p>
            <a:p>
              <a:pPr>
                <a:spcBef>
                  <a:spcPct val="20000"/>
                </a:spcBef>
              </a:pPr>
              <a:r>
                <a:rPr lang="en-US" altLang="zh-CN" sz="2400" dirty="0">
                  <a:solidFill>
                    <a:srgbClr val="7A007A"/>
                  </a:solidFill>
                  <a:latin typeface="+mj-lt"/>
                </a:rPr>
                <a:t>register</a:t>
              </a:r>
              <a:r>
                <a:rPr lang="en-US" altLang="zh-CN" sz="2400" baseline="-25000" dirty="0">
                  <a:solidFill>
                    <a:srgbClr val="7A007A"/>
                  </a:solidFill>
                  <a:latin typeface="+mj-lt"/>
                </a:rPr>
                <a:t>2</a:t>
              </a:r>
              <a:r>
                <a:rPr lang="en-US" altLang="zh-CN" sz="2400" dirty="0">
                  <a:solidFill>
                    <a:srgbClr val="7A007A"/>
                  </a:solidFill>
                  <a:latin typeface="+mj-lt"/>
                </a:rPr>
                <a:t> = register</a:t>
              </a:r>
              <a:r>
                <a:rPr lang="en-US" altLang="zh-CN" sz="2400" baseline="-25000" dirty="0">
                  <a:solidFill>
                    <a:srgbClr val="7A007A"/>
                  </a:solidFill>
                  <a:latin typeface="+mj-lt"/>
                </a:rPr>
                <a:t>2</a:t>
              </a:r>
              <a:r>
                <a:rPr lang="en-US" altLang="zh-CN" sz="2400" dirty="0">
                  <a:solidFill>
                    <a:srgbClr val="7A007A"/>
                  </a:solidFill>
                  <a:latin typeface="+mj-lt"/>
                </a:rPr>
                <a:t> - 1;</a:t>
              </a:r>
            </a:p>
            <a:p>
              <a:pPr>
                <a:spcBef>
                  <a:spcPct val="20000"/>
                </a:spcBef>
              </a:pPr>
              <a:r>
                <a:rPr lang="en-US" altLang="zh-CN" sz="2400" dirty="0">
                  <a:solidFill>
                    <a:srgbClr val="7A007A"/>
                  </a:solidFill>
                  <a:latin typeface="+mj-lt"/>
                </a:rPr>
                <a:t>counter = register</a:t>
              </a:r>
              <a:r>
                <a:rPr lang="en-US" altLang="zh-CN" sz="2400" baseline="-25000" dirty="0">
                  <a:solidFill>
                    <a:srgbClr val="7A007A"/>
                  </a:solidFill>
                  <a:latin typeface="+mj-lt"/>
                </a:rPr>
                <a:t>2</a:t>
              </a:r>
              <a:r>
                <a:rPr lang="en-US" altLang="zh-CN" sz="2400" dirty="0">
                  <a:solidFill>
                    <a:srgbClr val="7A007A"/>
                  </a:solidFill>
                  <a:latin typeface="+mj-lt"/>
                </a:rPr>
                <a:t> ;</a:t>
              </a:r>
            </a:p>
            <a:p>
              <a:pPr>
                <a:spcBef>
                  <a:spcPct val="20000"/>
                </a:spcBef>
              </a:pPr>
              <a:r>
                <a:rPr lang="en-US" altLang="zh-CN" sz="2400" dirty="0">
                  <a:solidFill>
                    <a:srgbClr val="006600"/>
                  </a:solidFill>
                  <a:latin typeface="Times New Roman" panose="02020603050405020304" pitchFamily="18" charset="0"/>
                  <a:cs typeface="Times New Roman" panose="02020603050405020304" pitchFamily="18" charset="0"/>
                </a:rPr>
                <a:t>counter = register</a:t>
              </a:r>
              <a:r>
                <a:rPr lang="en-US" altLang="zh-CN" sz="2400" baseline="-25000" dirty="0">
                  <a:solidFill>
                    <a:srgbClr val="006600"/>
                  </a:solidFill>
                  <a:latin typeface="Times New Roman" panose="02020603050405020304" pitchFamily="18" charset="0"/>
                  <a:cs typeface="Times New Roman" panose="02020603050405020304" pitchFamily="18" charset="0"/>
                </a:rPr>
                <a:t>1 </a:t>
              </a:r>
              <a:r>
                <a:rPr lang="en-US" altLang="zh-CN" sz="2400" dirty="0">
                  <a:solidFill>
                    <a:srgbClr val="006600"/>
                  </a:solidFill>
                  <a:latin typeface="Times New Roman" panose="02020603050405020304" pitchFamily="18" charset="0"/>
                  <a:cs typeface="Times New Roman" panose="02020603050405020304" pitchFamily="18" charset="0"/>
                </a:rPr>
                <a:t>;</a:t>
              </a:r>
            </a:p>
          </p:txBody>
        </p:sp>
        <p:sp>
          <p:nvSpPr>
            <p:cNvPr id="24" name="Rectangle 35">
              <a:extLst>
                <a:ext uri="{FF2B5EF4-FFF2-40B4-BE49-F238E27FC236}">
                  <a16:creationId xmlns:a16="http://schemas.microsoft.com/office/drawing/2014/main" id="{EC0737B0-EC35-4A3F-9A11-1AE4FE124F88}"/>
                </a:ext>
              </a:extLst>
            </p:cNvPr>
            <p:cNvSpPr>
              <a:spLocks noChangeArrowheads="1"/>
            </p:cNvSpPr>
            <p:nvPr/>
          </p:nvSpPr>
          <p:spPr bwMode="auto">
            <a:xfrm>
              <a:off x="5442349" y="2861887"/>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dirty="0">
                  <a:solidFill>
                    <a:schemeClr val="bg2"/>
                  </a:solidFill>
                  <a:latin typeface="+mj-lt"/>
                </a:rPr>
                <a:t>可能的执行序列 </a:t>
              </a:r>
              <a:r>
                <a:rPr lang="en-US" altLang="zh-CN" sz="2400" b="1" dirty="0">
                  <a:solidFill>
                    <a:schemeClr val="bg2"/>
                  </a:solidFill>
                  <a:latin typeface="+mj-lt"/>
                </a:rPr>
                <a:t>2</a:t>
              </a:r>
              <a:endParaRPr lang="zh-CN" altLang="en-US" sz="2400" b="1" dirty="0">
                <a:solidFill>
                  <a:schemeClr val="bg2"/>
                </a:solidFill>
                <a:latin typeface="+mj-lt"/>
              </a:endParaRPr>
            </a:p>
          </p:txBody>
        </p:sp>
      </p:grpSp>
      <p:sp>
        <p:nvSpPr>
          <p:cNvPr id="25" name="Text Box 40">
            <a:extLst>
              <a:ext uri="{FF2B5EF4-FFF2-40B4-BE49-F238E27FC236}">
                <a16:creationId xmlns:a16="http://schemas.microsoft.com/office/drawing/2014/main" id="{036E3E5E-B057-4AE7-8823-4937D1F12A52}"/>
              </a:ext>
            </a:extLst>
          </p:cNvPr>
          <p:cNvSpPr txBox="1">
            <a:spLocks noChangeArrowheads="1"/>
          </p:cNvSpPr>
          <p:nvPr/>
        </p:nvSpPr>
        <p:spPr bwMode="auto">
          <a:xfrm>
            <a:off x="5802513" y="5132893"/>
            <a:ext cx="1975556" cy="461665"/>
          </a:xfrm>
          <a:prstGeom prst="rect">
            <a:avLst/>
          </a:prstGeom>
          <a:solidFill>
            <a:srgbClr val="9CB3F2"/>
          </a:solidFill>
          <a:ln>
            <a:noFill/>
          </a:ln>
          <a:effectLst/>
        </p:spPr>
        <p:txBody>
          <a:bodyPr>
            <a:spAutoFit/>
          </a:bodyPr>
          <a:lstStyle/>
          <a:p>
            <a:pPr>
              <a:spcBef>
                <a:spcPct val="50000"/>
              </a:spcBef>
            </a:pPr>
            <a:r>
              <a:rPr lang="en-US" altLang="zh-CN" sz="2400" dirty="0">
                <a:solidFill>
                  <a:schemeClr val="bg2"/>
                </a:solidFill>
                <a:latin typeface="+mj-lt"/>
              </a:rPr>
              <a:t>counter = 6;</a:t>
            </a:r>
          </a:p>
        </p:txBody>
      </p:sp>
      <p:sp>
        <p:nvSpPr>
          <p:cNvPr id="28" name="文本框 4">
            <a:extLst>
              <a:ext uri="{FF2B5EF4-FFF2-40B4-BE49-F238E27FC236}">
                <a16:creationId xmlns:a16="http://schemas.microsoft.com/office/drawing/2014/main" id="{1ECE8BDF-B49E-44DD-A214-9561E93FC8FF}"/>
              </a:ext>
            </a:extLst>
          </p:cNvPr>
          <p:cNvSpPr txBox="1">
            <a:spLocks noChangeArrowheads="1"/>
          </p:cNvSpPr>
          <p:nvPr/>
        </p:nvSpPr>
        <p:spPr bwMode="auto">
          <a:xfrm>
            <a:off x="639178" y="5780782"/>
            <a:ext cx="7908869" cy="1077218"/>
          </a:xfrm>
          <a:prstGeom prst="rect">
            <a:avLst/>
          </a:prstGeom>
          <a:solidFill>
            <a:srgbClr val="FFFF00"/>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b="1" dirty="0">
                <a:solidFill>
                  <a:schemeClr val="bg2"/>
                </a:solidFill>
                <a:effectLst>
                  <a:outerShdw blurRad="38100" dist="38100" dir="2700000" algn="tl">
                    <a:srgbClr val="000000">
                      <a:alpha val="43137"/>
                    </a:srgbClr>
                  </a:outerShdw>
                </a:effectLst>
              </a:rPr>
              <a:t>并发编程，只要有共享的数据被访问，</a:t>
            </a:r>
            <a:endParaRPr lang="en-US" altLang="zh-CN" b="1" dirty="0">
              <a:solidFill>
                <a:schemeClr val="bg2"/>
              </a:solidFill>
              <a:effectLst>
                <a:outerShdw blurRad="38100" dist="38100" dir="2700000" algn="tl">
                  <a:srgbClr val="000000">
                    <a:alpha val="43137"/>
                  </a:srgbClr>
                </a:outerShdw>
              </a:effectLst>
            </a:endParaRPr>
          </a:p>
          <a:p>
            <a:pPr algn="ctr">
              <a:spcBef>
                <a:spcPct val="0"/>
              </a:spcBef>
              <a:buClrTx/>
              <a:buSzTx/>
              <a:buFontTx/>
              <a:buNone/>
            </a:pPr>
            <a:r>
              <a:rPr lang="zh-CN" altLang="en-US" b="1" dirty="0">
                <a:solidFill>
                  <a:schemeClr val="bg2"/>
                </a:solidFill>
                <a:effectLst>
                  <a:outerShdw blurRad="38100" dist="38100" dir="2700000" algn="tl">
                    <a:srgbClr val="000000">
                      <a:alpha val="43137"/>
                    </a:srgbClr>
                  </a:outerShdw>
                </a:effectLst>
              </a:rPr>
              <a:t>就有可能发生数据的破坏，加以防范。</a:t>
            </a:r>
            <a:endParaRPr lang="en-US" altLang="zh-CN" b="1" dirty="0">
              <a:solidFill>
                <a:schemeClr val="bg2"/>
              </a:solidFill>
              <a:effectLst>
                <a:outerShdw blurRad="38100" dist="38100" dir="2700000" algn="tl">
                  <a:srgbClr val="000000">
                    <a:alpha val="43137"/>
                  </a:srgbClr>
                </a:outerShdw>
              </a:effectLst>
            </a:endParaRPr>
          </a:p>
        </p:txBody>
      </p:sp>
      <p:sp>
        <p:nvSpPr>
          <p:cNvPr id="29" name="矩形 28">
            <a:extLst>
              <a:ext uri="{FF2B5EF4-FFF2-40B4-BE49-F238E27FC236}">
                <a16:creationId xmlns:a16="http://schemas.microsoft.com/office/drawing/2014/main" id="{1FC15AA8-25F1-4EFB-9DD6-E6835663E3B4}"/>
              </a:ext>
            </a:extLst>
          </p:cNvPr>
          <p:cNvSpPr/>
          <p:nvPr/>
        </p:nvSpPr>
        <p:spPr>
          <a:xfrm>
            <a:off x="899592" y="-87198"/>
            <a:ext cx="7344816" cy="707886"/>
          </a:xfrm>
          <a:prstGeom prst="rect">
            <a:avLst/>
          </a:prstGeom>
        </p:spPr>
        <p:txBody>
          <a:bodyPr wrap="square">
            <a:spAutoFit/>
          </a:bodyPr>
          <a:lstStyle/>
          <a:p>
            <a:pPr marL="0" lvl="1" indent="-274638"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线程通过有界缓冲区共享内存</a:t>
            </a:r>
          </a:p>
        </p:txBody>
      </p:sp>
      <p:sp>
        <p:nvSpPr>
          <p:cNvPr id="31" name="AutoShape 7">
            <a:hlinkClick r:id="rId3" action="ppaction://hlinksldjump" highlightClick="1"/>
            <a:extLst>
              <a:ext uri="{FF2B5EF4-FFF2-40B4-BE49-F238E27FC236}">
                <a16:creationId xmlns:a16="http://schemas.microsoft.com/office/drawing/2014/main" id="{FC9C3690-7A52-47BF-AF8A-820048CA20CF}"/>
              </a:ext>
            </a:extLst>
          </p:cNvPr>
          <p:cNvSpPr>
            <a:spLocks noChangeArrowheads="1"/>
          </p:cNvSpPr>
          <p:nvPr/>
        </p:nvSpPr>
        <p:spPr bwMode="auto">
          <a:xfrm>
            <a:off x="8753094" y="6441948"/>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637380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 calcmode="lin" valueType="num">
                                      <p:cBhvr>
                                        <p:cTn id="14" dur="500" fill="hold"/>
                                        <p:tgtEl>
                                          <p:spTgt spid="21"/>
                                        </p:tgtEl>
                                        <p:attrNameLst>
                                          <p:attrName>ppt_w</p:attrName>
                                        </p:attrNameLst>
                                      </p:cBhvr>
                                      <p:tavLst>
                                        <p:tav tm="0">
                                          <p:val>
                                            <p:fltVal val="0"/>
                                          </p:val>
                                        </p:tav>
                                        <p:tav tm="100000">
                                          <p:val>
                                            <p:strVal val="#ppt_w"/>
                                          </p:val>
                                        </p:tav>
                                      </p:tavLst>
                                    </p:anim>
                                    <p:anim calcmode="lin" valueType="num">
                                      <p:cBhvr>
                                        <p:cTn id="15" dur="500" fill="hold"/>
                                        <p:tgtEl>
                                          <p:spTgt spid="21"/>
                                        </p:tgtEl>
                                        <p:attrNameLst>
                                          <p:attrName>ppt_h</p:attrName>
                                        </p:attrNameLst>
                                      </p:cBhvr>
                                      <p:tavLst>
                                        <p:tav tm="0">
                                          <p:val>
                                            <p:fltVal val="0"/>
                                          </p:val>
                                        </p:tav>
                                        <p:tav tm="100000">
                                          <p:val>
                                            <p:strVal val="#ppt_h"/>
                                          </p:val>
                                        </p:tav>
                                      </p:tavLst>
                                    </p:anim>
                                    <p:animEffect transition="in" filter="fade">
                                      <p:cBhvr>
                                        <p:cTn id="16" dur="500"/>
                                        <p:tgtEl>
                                          <p:spTgt spid="21"/>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1000"/>
                                        <p:tgtEl>
                                          <p:spTgt spid="27"/>
                                        </p:tgtEl>
                                      </p:cBhvr>
                                    </p:animEffect>
                                    <p:anim calcmode="lin" valueType="num">
                                      <p:cBhvr>
                                        <p:cTn id="22" dur="1000" fill="hold"/>
                                        <p:tgtEl>
                                          <p:spTgt spid="27"/>
                                        </p:tgtEl>
                                        <p:attrNameLst>
                                          <p:attrName>ppt_x</p:attrName>
                                        </p:attrNameLst>
                                      </p:cBhvr>
                                      <p:tavLst>
                                        <p:tav tm="0">
                                          <p:val>
                                            <p:strVal val="#ppt_x"/>
                                          </p:val>
                                        </p:tav>
                                        <p:tav tm="100000">
                                          <p:val>
                                            <p:strVal val="#ppt_x"/>
                                          </p:val>
                                        </p:tav>
                                      </p:tavLst>
                                    </p:anim>
                                    <p:anim calcmode="lin" valueType="num">
                                      <p:cBhvr>
                                        <p:cTn id="23"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anim calcmode="lin" valueType="num">
                                      <p:cBhvr>
                                        <p:cTn id="28" dur="500" fill="hold"/>
                                        <p:tgtEl>
                                          <p:spTgt spid="25"/>
                                        </p:tgtEl>
                                        <p:attrNameLst>
                                          <p:attrName>ppt_w</p:attrName>
                                        </p:attrNameLst>
                                      </p:cBhvr>
                                      <p:tavLst>
                                        <p:tav tm="0">
                                          <p:val>
                                            <p:fltVal val="0"/>
                                          </p:val>
                                        </p:tav>
                                        <p:tav tm="100000">
                                          <p:val>
                                            <p:strVal val="#ppt_w"/>
                                          </p:val>
                                        </p:tav>
                                      </p:tavLst>
                                    </p:anim>
                                    <p:anim calcmode="lin" valueType="num">
                                      <p:cBhvr>
                                        <p:cTn id="29" dur="500" fill="hold"/>
                                        <p:tgtEl>
                                          <p:spTgt spid="25"/>
                                        </p:tgtEl>
                                        <p:attrNameLst>
                                          <p:attrName>ppt_h</p:attrName>
                                        </p:attrNameLst>
                                      </p:cBhvr>
                                      <p:tavLst>
                                        <p:tav tm="0">
                                          <p:val>
                                            <p:fltVal val="0"/>
                                          </p:val>
                                        </p:tav>
                                        <p:tav tm="100000">
                                          <p:val>
                                            <p:strVal val="#ppt_h"/>
                                          </p:val>
                                        </p:tav>
                                      </p:tavLst>
                                    </p:anim>
                                    <p:animEffect transition="in" filter="fade">
                                      <p:cBhvr>
                                        <p:cTn id="30" dur="500"/>
                                        <p:tgtEl>
                                          <p:spTgt spid="25"/>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1000"/>
                                        <p:tgtEl>
                                          <p:spTgt spid="28"/>
                                        </p:tgtEl>
                                      </p:cBhvr>
                                    </p:animEffect>
                                    <p:anim calcmode="lin" valueType="num">
                                      <p:cBhvr>
                                        <p:cTn id="36" dur="1000" fill="hold"/>
                                        <p:tgtEl>
                                          <p:spTgt spid="28"/>
                                        </p:tgtEl>
                                        <p:attrNameLst>
                                          <p:attrName>ppt_x</p:attrName>
                                        </p:attrNameLst>
                                      </p:cBhvr>
                                      <p:tavLst>
                                        <p:tav tm="0">
                                          <p:val>
                                            <p:strVal val="#ppt_x"/>
                                          </p:val>
                                        </p:tav>
                                        <p:tav tm="100000">
                                          <p:val>
                                            <p:strVal val="#ppt_x"/>
                                          </p:val>
                                        </p:tav>
                                      </p:tavLst>
                                    </p:anim>
                                    <p:anim calcmode="lin" valueType="num">
                                      <p:cBhvr>
                                        <p:cTn id="37" dur="1000" fill="hold"/>
                                        <p:tgtEl>
                                          <p:spTgt spid="28"/>
                                        </p:tgtEl>
                                        <p:attrNameLst>
                                          <p:attrName>ppt_y</p:attrName>
                                        </p:attrNameLst>
                                      </p:cBhvr>
                                      <p:tavLst>
                                        <p:tav tm="0">
                                          <p:val>
                                            <p:strVal val="#ppt_y+.1"/>
                                          </p:val>
                                        </p:tav>
                                        <p:tav tm="100000">
                                          <p:val>
                                            <p:strVal val="#ppt_y"/>
                                          </p:val>
                                        </p:tav>
                                      </p:tavLst>
                                    </p:anim>
                                  </p:childTnLst>
                                </p:cTn>
                              </p:par>
                            </p:childTnLst>
                          </p:cTn>
                        </p:par>
                        <p:par>
                          <p:cTn id="38" fill="hold">
                            <p:stCondLst>
                              <p:cond delay="1000"/>
                            </p:stCondLst>
                            <p:childTnLst>
                              <p:par>
                                <p:cTn id="39" presetID="2" presetClass="entr" presetSubtype="8" fill="hold" grpId="0" nodeType="afterEffect">
                                  <p:stCondLst>
                                    <p:cond delay="0"/>
                                  </p:stCondLst>
                                  <p:childTnLst>
                                    <p:set>
                                      <p:cBhvr>
                                        <p:cTn id="40" dur="1" fill="hold">
                                          <p:stCondLst>
                                            <p:cond delay="0"/>
                                          </p:stCondLst>
                                        </p:cTn>
                                        <p:tgtEl>
                                          <p:spTgt spid="31"/>
                                        </p:tgtEl>
                                        <p:attrNameLst>
                                          <p:attrName>style.visibility</p:attrName>
                                        </p:attrNameLst>
                                      </p:cBhvr>
                                      <p:to>
                                        <p:strVal val="visible"/>
                                      </p:to>
                                    </p:set>
                                    <p:anim calcmode="lin" valueType="num">
                                      <p:cBhvr additive="base">
                                        <p:cTn id="41" dur="500" fill="hold"/>
                                        <p:tgtEl>
                                          <p:spTgt spid="31"/>
                                        </p:tgtEl>
                                        <p:attrNameLst>
                                          <p:attrName>ppt_x</p:attrName>
                                        </p:attrNameLst>
                                      </p:cBhvr>
                                      <p:tavLst>
                                        <p:tav tm="0">
                                          <p:val>
                                            <p:strVal val="0-#ppt_w/2"/>
                                          </p:val>
                                        </p:tav>
                                        <p:tav tm="100000">
                                          <p:val>
                                            <p:strVal val="#ppt_x"/>
                                          </p:val>
                                        </p:tav>
                                      </p:tavLst>
                                    </p:anim>
                                    <p:anim calcmode="lin" valueType="num">
                                      <p:cBhvr additive="base">
                                        <p:cTn id="42"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8" grpId="0" animBg="1"/>
      <p:bldP spid="3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8BA5CB8-475A-4BCC-829E-54D88800CC7E}"/>
              </a:ext>
            </a:extLst>
          </p:cNvPr>
          <p:cNvSpPr/>
          <p:nvPr/>
        </p:nvSpPr>
        <p:spPr>
          <a:xfrm>
            <a:off x="2699790" y="-40046"/>
            <a:ext cx="4392489" cy="768031"/>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5.2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临 界 区 问 题</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2" name="文本框 1">
            <a:extLst>
              <a:ext uri="{FF2B5EF4-FFF2-40B4-BE49-F238E27FC236}">
                <a16:creationId xmlns:a16="http://schemas.microsoft.com/office/drawing/2014/main" id="{BD68552C-14AE-45F8-9A77-C13124BFDF0B}"/>
              </a:ext>
            </a:extLst>
          </p:cNvPr>
          <p:cNvSpPr txBox="1"/>
          <p:nvPr/>
        </p:nvSpPr>
        <p:spPr>
          <a:xfrm>
            <a:off x="-2192" y="776906"/>
            <a:ext cx="9145016" cy="1200329"/>
          </a:xfrm>
          <a:prstGeom prst="rect">
            <a:avLst/>
          </a:prstGeom>
          <a:solidFill>
            <a:srgbClr val="30D204"/>
          </a:solidFill>
        </p:spPr>
        <p:txBody>
          <a:bodyPr wrap="square" rtlCol="0">
            <a:spAutoFit/>
          </a:bodyPr>
          <a:lstStyle/>
          <a:p>
            <a:pPr algn="ctr"/>
            <a:r>
              <a:rPr lang="zh-CN" altLang="zh-CN" sz="3600" dirty="0">
                <a:solidFill>
                  <a:schemeClr val="bg2"/>
                </a:solidFill>
                <a:effectLst>
                  <a:outerShdw blurRad="38100" dist="38100" dir="2700000" algn="tl">
                    <a:srgbClr val="000000">
                      <a:alpha val="43137"/>
                    </a:srgbClr>
                  </a:outerShdw>
                </a:effectLst>
              </a:rPr>
              <a:t>临界资源</a:t>
            </a:r>
            <a:endParaRPr lang="en-US" altLang="zh-CN" sz="3600" dirty="0">
              <a:solidFill>
                <a:schemeClr val="bg2"/>
              </a:solidFill>
              <a:effectLst>
                <a:outerShdw blurRad="38100" dist="38100" dir="2700000" algn="tl">
                  <a:srgbClr val="000000">
                    <a:alpha val="43137"/>
                  </a:srgbClr>
                </a:outerShdw>
              </a:effectLst>
            </a:endParaRPr>
          </a:p>
          <a:p>
            <a:pPr algn="ctr"/>
            <a:r>
              <a:rPr lang="zh-CN" altLang="en-US" sz="3600" dirty="0">
                <a:solidFill>
                  <a:schemeClr val="bg2"/>
                </a:solidFill>
                <a:effectLst>
                  <a:outerShdw blurRad="38100" dist="38100" dir="2700000" algn="tl">
                    <a:srgbClr val="000000">
                      <a:alpha val="43137"/>
                    </a:srgbClr>
                  </a:outerShdw>
                </a:effectLst>
              </a:rPr>
              <a:t>一</a:t>
            </a:r>
            <a:r>
              <a:rPr lang="zh-CN" altLang="zh-CN" sz="3600" dirty="0">
                <a:solidFill>
                  <a:schemeClr val="bg2"/>
                </a:solidFill>
                <a:effectLst>
                  <a:outerShdw blurRad="38100" dist="38100" dir="2700000" algn="tl">
                    <a:srgbClr val="000000">
                      <a:alpha val="43137"/>
                    </a:srgbClr>
                  </a:outerShdw>
                </a:effectLst>
              </a:rPr>
              <a:t>次仅允许一个进程访问的资源。</a:t>
            </a:r>
            <a:endParaRPr lang="zh-CN" altLang="en-US" sz="3600" dirty="0">
              <a:effectLst>
                <a:outerShdw blurRad="38100" dist="38100" dir="2700000" algn="tl">
                  <a:srgbClr val="000000">
                    <a:alpha val="43137"/>
                  </a:srgbClr>
                </a:outerShdw>
              </a:effectLst>
            </a:endParaRPr>
          </a:p>
        </p:txBody>
      </p:sp>
      <p:sp>
        <p:nvSpPr>
          <p:cNvPr id="26" name="文本框 25">
            <a:extLst>
              <a:ext uri="{FF2B5EF4-FFF2-40B4-BE49-F238E27FC236}">
                <a16:creationId xmlns:a16="http://schemas.microsoft.com/office/drawing/2014/main" id="{EFBBF6DD-2181-48DE-BDD5-4BD6E5E50135}"/>
              </a:ext>
            </a:extLst>
          </p:cNvPr>
          <p:cNvSpPr txBox="1"/>
          <p:nvPr/>
        </p:nvSpPr>
        <p:spPr>
          <a:xfrm>
            <a:off x="0" y="2228671"/>
            <a:ext cx="9145016" cy="1200329"/>
          </a:xfrm>
          <a:prstGeom prst="rect">
            <a:avLst/>
          </a:prstGeom>
          <a:solidFill>
            <a:srgbClr val="30D204"/>
          </a:solidFill>
        </p:spPr>
        <p:txBody>
          <a:bodyPr wrap="square" rtlCol="0">
            <a:spAutoFit/>
          </a:bodyPr>
          <a:lstStyle/>
          <a:p>
            <a:pPr algn="ctr"/>
            <a:r>
              <a:rPr lang="zh-CN" altLang="zh-CN" sz="3600" dirty="0">
                <a:solidFill>
                  <a:schemeClr val="bg2"/>
                </a:solidFill>
                <a:effectLst>
                  <a:outerShdw blurRad="38100" dist="38100" dir="2700000" algn="tl">
                    <a:srgbClr val="000000">
                      <a:alpha val="43137"/>
                    </a:srgbClr>
                  </a:outerShdw>
                </a:effectLst>
              </a:rPr>
              <a:t>临界</a:t>
            </a:r>
            <a:r>
              <a:rPr lang="zh-CN" altLang="en-US" sz="3600" dirty="0">
                <a:solidFill>
                  <a:schemeClr val="bg2"/>
                </a:solidFill>
                <a:effectLst>
                  <a:outerShdw blurRad="38100" dist="38100" dir="2700000" algn="tl">
                    <a:srgbClr val="000000">
                      <a:alpha val="43137"/>
                    </a:srgbClr>
                  </a:outerShdw>
                </a:effectLst>
              </a:rPr>
              <a:t>区</a:t>
            </a:r>
            <a:endParaRPr lang="en-US" altLang="zh-CN" sz="3600" dirty="0">
              <a:solidFill>
                <a:schemeClr val="bg2"/>
              </a:solidFill>
              <a:effectLst>
                <a:outerShdw blurRad="38100" dist="38100" dir="2700000" algn="tl">
                  <a:srgbClr val="000000">
                    <a:alpha val="43137"/>
                  </a:srgbClr>
                </a:outerShdw>
              </a:effectLst>
            </a:endParaRPr>
          </a:p>
          <a:p>
            <a:pPr algn="ctr"/>
            <a:r>
              <a:rPr lang="zh-CN" altLang="zh-CN" sz="3600" dirty="0">
                <a:solidFill>
                  <a:schemeClr val="bg2"/>
                </a:solidFill>
                <a:effectLst>
                  <a:outerShdw blurRad="38100" dist="38100" dir="2700000" algn="tl">
                    <a:srgbClr val="000000">
                      <a:alpha val="43137"/>
                    </a:srgbClr>
                  </a:outerShdw>
                </a:effectLst>
              </a:rPr>
              <a:t>进程中访问临界资源的那段代码。</a:t>
            </a:r>
            <a:endParaRPr lang="zh-CN" altLang="en-US" sz="3600" dirty="0">
              <a:effectLst>
                <a:outerShdw blurRad="38100" dist="38100" dir="2700000" algn="tl">
                  <a:srgbClr val="000000">
                    <a:alpha val="43137"/>
                  </a:srgbClr>
                </a:outerShdw>
              </a:effectLst>
            </a:endParaRPr>
          </a:p>
        </p:txBody>
      </p:sp>
      <p:sp>
        <p:nvSpPr>
          <p:cNvPr id="28" name="Text Box 8">
            <a:extLst>
              <a:ext uri="{FF2B5EF4-FFF2-40B4-BE49-F238E27FC236}">
                <a16:creationId xmlns:a16="http://schemas.microsoft.com/office/drawing/2014/main" id="{DB59B52F-989A-4844-A295-CB2BE0481ACB}"/>
              </a:ext>
            </a:extLst>
          </p:cNvPr>
          <p:cNvSpPr txBox="1">
            <a:spLocks noChangeArrowheads="1"/>
          </p:cNvSpPr>
          <p:nvPr/>
        </p:nvSpPr>
        <p:spPr bwMode="auto">
          <a:xfrm>
            <a:off x="5004793" y="4440475"/>
            <a:ext cx="1925861" cy="523220"/>
          </a:xfrm>
          <a:prstGeom prst="rect">
            <a:avLst/>
          </a:prstGeom>
          <a:solidFill>
            <a:schemeClr val="tx1">
              <a:lumMod val="8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dirty="0">
                <a:solidFill>
                  <a:schemeClr val="bg2"/>
                </a:solidFill>
                <a:latin typeface="Times New Roman" panose="02020603050405020304" pitchFamily="18" charset="0"/>
                <a:cs typeface="Times New Roman" panose="02020603050405020304" pitchFamily="18" charset="0"/>
              </a:rPr>
              <a:t>counter--;</a:t>
            </a:r>
          </a:p>
        </p:txBody>
      </p:sp>
      <p:sp>
        <p:nvSpPr>
          <p:cNvPr id="29" name="Rectangle 9">
            <a:extLst>
              <a:ext uri="{FF2B5EF4-FFF2-40B4-BE49-F238E27FC236}">
                <a16:creationId xmlns:a16="http://schemas.microsoft.com/office/drawing/2014/main" id="{832B094D-410D-4ABF-90B4-167C55B14B11}"/>
              </a:ext>
            </a:extLst>
          </p:cNvPr>
          <p:cNvSpPr>
            <a:spLocks noChangeArrowheads="1"/>
          </p:cNvSpPr>
          <p:nvPr/>
        </p:nvSpPr>
        <p:spPr bwMode="auto">
          <a:xfrm>
            <a:off x="5275059" y="3906099"/>
            <a:ext cx="1295555" cy="46166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66"/>
                </a:solidFill>
              </a:rPr>
              <a:t>消费者</a:t>
            </a:r>
          </a:p>
        </p:txBody>
      </p:sp>
      <p:sp>
        <p:nvSpPr>
          <p:cNvPr id="30" name="Text Box 11">
            <a:extLst>
              <a:ext uri="{FF2B5EF4-FFF2-40B4-BE49-F238E27FC236}">
                <a16:creationId xmlns:a16="http://schemas.microsoft.com/office/drawing/2014/main" id="{F7362B67-219B-4E2F-BDDA-4E460D07A308}"/>
              </a:ext>
            </a:extLst>
          </p:cNvPr>
          <p:cNvSpPr txBox="1">
            <a:spLocks noChangeArrowheads="1"/>
          </p:cNvSpPr>
          <p:nvPr/>
        </p:nvSpPr>
        <p:spPr bwMode="auto">
          <a:xfrm>
            <a:off x="1728193" y="4440476"/>
            <a:ext cx="2123727" cy="523220"/>
          </a:xfrm>
          <a:prstGeom prst="rect">
            <a:avLst/>
          </a:prstGeom>
          <a:solidFill>
            <a:schemeClr val="tx1">
              <a:lumMod val="8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dirty="0">
                <a:solidFill>
                  <a:schemeClr val="bg2"/>
                </a:solidFill>
                <a:latin typeface="Times New Roman" panose="02020603050405020304" pitchFamily="18" charset="0"/>
                <a:cs typeface="Times New Roman" panose="02020603050405020304" pitchFamily="18" charset="0"/>
              </a:rPr>
              <a:t>counter++;</a:t>
            </a:r>
          </a:p>
        </p:txBody>
      </p:sp>
      <p:sp>
        <p:nvSpPr>
          <p:cNvPr id="31" name="Rectangle 12">
            <a:extLst>
              <a:ext uri="{FF2B5EF4-FFF2-40B4-BE49-F238E27FC236}">
                <a16:creationId xmlns:a16="http://schemas.microsoft.com/office/drawing/2014/main" id="{B287B0ED-1B43-4408-A03C-ABD0D7BC173A}"/>
              </a:ext>
            </a:extLst>
          </p:cNvPr>
          <p:cNvSpPr>
            <a:spLocks noChangeArrowheads="1"/>
          </p:cNvSpPr>
          <p:nvPr/>
        </p:nvSpPr>
        <p:spPr bwMode="auto">
          <a:xfrm>
            <a:off x="2004688" y="3829899"/>
            <a:ext cx="1181550" cy="45720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66"/>
                </a:solidFill>
              </a:rPr>
              <a:t>生产者</a:t>
            </a:r>
          </a:p>
        </p:txBody>
      </p:sp>
      <p:sp>
        <p:nvSpPr>
          <p:cNvPr id="32" name="Line 13">
            <a:extLst>
              <a:ext uri="{FF2B5EF4-FFF2-40B4-BE49-F238E27FC236}">
                <a16:creationId xmlns:a16="http://schemas.microsoft.com/office/drawing/2014/main" id="{2902804A-D61E-49A9-AB29-A68D60A90B39}"/>
              </a:ext>
            </a:extLst>
          </p:cNvPr>
          <p:cNvSpPr>
            <a:spLocks noChangeShapeType="1"/>
          </p:cNvSpPr>
          <p:nvPr/>
        </p:nvSpPr>
        <p:spPr bwMode="auto">
          <a:xfrm flipH="1" flipV="1">
            <a:off x="2381751" y="5117072"/>
            <a:ext cx="2209800" cy="685800"/>
          </a:xfrm>
          <a:prstGeom prst="line">
            <a:avLst/>
          </a:prstGeom>
          <a:noFill/>
          <a:ln w="57150">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14">
            <a:extLst>
              <a:ext uri="{FF2B5EF4-FFF2-40B4-BE49-F238E27FC236}">
                <a16:creationId xmlns:a16="http://schemas.microsoft.com/office/drawing/2014/main" id="{99FA316B-A803-42D3-9041-CB509D32A390}"/>
              </a:ext>
            </a:extLst>
          </p:cNvPr>
          <p:cNvSpPr>
            <a:spLocks noChangeShapeType="1"/>
          </p:cNvSpPr>
          <p:nvPr/>
        </p:nvSpPr>
        <p:spPr bwMode="auto">
          <a:xfrm flipV="1">
            <a:off x="4698406" y="5036406"/>
            <a:ext cx="1258915" cy="766466"/>
          </a:xfrm>
          <a:prstGeom prst="line">
            <a:avLst/>
          </a:prstGeom>
          <a:noFill/>
          <a:ln w="57150">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Rectangle 15">
            <a:extLst>
              <a:ext uri="{FF2B5EF4-FFF2-40B4-BE49-F238E27FC236}">
                <a16:creationId xmlns:a16="http://schemas.microsoft.com/office/drawing/2014/main" id="{97B0C9D1-33BE-469F-91B7-3C5559E4867E}"/>
              </a:ext>
            </a:extLst>
          </p:cNvPr>
          <p:cNvSpPr>
            <a:spLocks noChangeArrowheads="1"/>
          </p:cNvSpPr>
          <p:nvPr/>
        </p:nvSpPr>
        <p:spPr bwMode="auto">
          <a:xfrm>
            <a:off x="3851920" y="5877272"/>
            <a:ext cx="169297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800" b="1" dirty="0">
                <a:solidFill>
                  <a:srgbClr val="FF0000"/>
                </a:solidFill>
              </a:rPr>
              <a:t>临界区</a:t>
            </a:r>
          </a:p>
        </p:txBody>
      </p:sp>
      <p:sp>
        <p:nvSpPr>
          <p:cNvPr id="13"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4"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2507497"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计算机科学与技术系</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1814577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1000"/>
                                        <p:tgtEl>
                                          <p:spTgt spid="28"/>
                                        </p:tgtEl>
                                      </p:cBhvr>
                                    </p:animEffect>
                                    <p:anim calcmode="lin" valueType="num">
                                      <p:cBhvr>
                                        <p:cTn id="15" dur="1000" fill="hold"/>
                                        <p:tgtEl>
                                          <p:spTgt spid="28"/>
                                        </p:tgtEl>
                                        <p:attrNameLst>
                                          <p:attrName>ppt_x</p:attrName>
                                        </p:attrNameLst>
                                      </p:cBhvr>
                                      <p:tavLst>
                                        <p:tav tm="0">
                                          <p:val>
                                            <p:strVal val="#ppt_x"/>
                                          </p:val>
                                        </p:tav>
                                        <p:tav tm="100000">
                                          <p:val>
                                            <p:strVal val="#ppt_x"/>
                                          </p:val>
                                        </p:tav>
                                      </p:tavLst>
                                    </p:anim>
                                    <p:anim calcmode="lin" valueType="num">
                                      <p:cBhvr>
                                        <p:cTn id="16" dur="1000" fill="hold"/>
                                        <p:tgtEl>
                                          <p:spTgt spid="28"/>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1000"/>
                                        <p:tgtEl>
                                          <p:spTgt spid="29"/>
                                        </p:tgtEl>
                                      </p:cBhvr>
                                    </p:animEffect>
                                    <p:anim calcmode="lin" valueType="num">
                                      <p:cBhvr>
                                        <p:cTn id="20" dur="1000" fill="hold"/>
                                        <p:tgtEl>
                                          <p:spTgt spid="29"/>
                                        </p:tgtEl>
                                        <p:attrNameLst>
                                          <p:attrName>ppt_x</p:attrName>
                                        </p:attrNameLst>
                                      </p:cBhvr>
                                      <p:tavLst>
                                        <p:tav tm="0">
                                          <p:val>
                                            <p:strVal val="#ppt_x"/>
                                          </p:val>
                                        </p:tav>
                                        <p:tav tm="100000">
                                          <p:val>
                                            <p:strVal val="#ppt_x"/>
                                          </p:val>
                                        </p:tav>
                                      </p:tavLst>
                                    </p:anim>
                                    <p:anim calcmode="lin" valueType="num">
                                      <p:cBhvr>
                                        <p:cTn id="21" dur="1000" fill="hold"/>
                                        <p:tgtEl>
                                          <p:spTgt spid="2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1000"/>
                                        <p:tgtEl>
                                          <p:spTgt spid="30"/>
                                        </p:tgtEl>
                                      </p:cBhvr>
                                    </p:animEffect>
                                    <p:anim calcmode="lin" valueType="num">
                                      <p:cBhvr>
                                        <p:cTn id="25" dur="1000" fill="hold"/>
                                        <p:tgtEl>
                                          <p:spTgt spid="30"/>
                                        </p:tgtEl>
                                        <p:attrNameLst>
                                          <p:attrName>ppt_x</p:attrName>
                                        </p:attrNameLst>
                                      </p:cBhvr>
                                      <p:tavLst>
                                        <p:tav tm="0">
                                          <p:val>
                                            <p:strVal val="#ppt_x"/>
                                          </p:val>
                                        </p:tav>
                                        <p:tav tm="100000">
                                          <p:val>
                                            <p:strVal val="#ppt_x"/>
                                          </p:val>
                                        </p:tav>
                                      </p:tavLst>
                                    </p:anim>
                                    <p:anim calcmode="lin" valueType="num">
                                      <p:cBhvr>
                                        <p:cTn id="26" dur="1000" fill="hold"/>
                                        <p:tgtEl>
                                          <p:spTgt spid="30"/>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1000"/>
                                        <p:tgtEl>
                                          <p:spTgt spid="32"/>
                                        </p:tgtEl>
                                      </p:cBhvr>
                                    </p:animEffect>
                                    <p:anim calcmode="lin" valueType="num">
                                      <p:cBhvr>
                                        <p:cTn id="35" dur="1000" fill="hold"/>
                                        <p:tgtEl>
                                          <p:spTgt spid="32"/>
                                        </p:tgtEl>
                                        <p:attrNameLst>
                                          <p:attrName>ppt_x</p:attrName>
                                        </p:attrNameLst>
                                      </p:cBhvr>
                                      <p:tavLst>
                                        <p:tav tm="0">
                                          <p:val>
                                            <p:strVal val="#ppt_x"/>
                                          </p:val>
                                        </p:tav>
                                        <p:tav tm="100000">
                                          <p:val>
                                            <p:strVal val="#ppt_x"/>
                                          </p:val>
                                        </p:tav>
                                      </p:tavLst>
                                    </p:anim>
                                    <p:anim calcmode="lin" valueType="num">
                                      <p:cBhvr>
                                        <p:cTn id="36" dur="1000" fill="hold"/>
                                        <p:tgtEl>
                                          <p:spTgt spid="32"/>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1000"/>
                                        <p:tgtEl>
                                          <p:spTgt spid="33"/>
                                        </p:tgtEl>
                                      </p:cBhvr>
                                    </p:animEffect>
                                    <p:anim calcmode="lin" valueType="num">
                                      <p:cBhvr>
                                        <p:cTn id="40" dur="1000" fill="hold"/>
                                        <p:tgtEl>
                                          <p:spTgt spid="33"/>
                                        </p:tgtEl>
                                        <p:attrNameLst>
                                          <p:attrName>ppt_x</p:attrName>
                                        </p:attrNameLst>
                                      </p:cBhvr>
                                      <p:tavLst>
                                        <p:tav tm="0">
                                          <p:val>
                                            <p:strVal val="#ppt_x"/>
                                          </p:val>
                                        </p:tav>
                                        <p:tav tm="100000">
                                          <p:val>
                                            <p:strVal val="#ppt_x"/>
                                          </p:val>
                                        </p:tav>
                                      </p:tavLst>
                                    </p:anim>
                                    <p:anim calcmode="lin" valueType="num">
                                      <p:cBhvr>
                                        <p:cTn id="41" dur="1000" fill="hold"/>
                                        <p:tgtEl>
                                          <p:spTgt spid="33"/>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1000"/>
                                        <p:tgtEl>
                                          <p:spTgt spid="34"/>
                                        </p:tgtEl>
                                      </p:cBhvr>
                                    </p:animEffect>
                                    <p:anim calcmode="lin" valueType="num">
                                      <p:cBhvr>
                                        <p:cTn id="45" dur="1000" fill="hold"/>
                                        <p:tgtEl>
                                          <p:spTgt spid="34"/>
                                        </p:tgtEl>
                                        <p:attrNameLst>
                                          <p:attrName>ppt_x</p:attrName>
                                        </p:attrNameLst>
                                      </p:cBhvr>
                                      <p:tavLst>
                                        <p:tav tm="0">
                                          <p:val>
                                            <p:strVal val="#ppt_x"/>
                                          </p:val>
                                        </p:tav>
                                        <p:tav tm="100000">
                                          <p:val>
                                            <p:strVal val="#ppt_x"/>
                                          </p:val>
                                        </p:tav>
                                      </p:tavLst>
                                    </p:anim>
                                    <p:anim calcmode="lin" valueType="num">
                                      <p:cBhvr>
                                        <p:cTn id="46" dur="1000" fill="hold"/>
                                        <p:tgtEl>
                                          <p:spTgt spid="34"/>
                                        </p:tgtEl>
                                        <p:attrNameLst>
                                          <p:attrName>ppt_y</p:attrName>
                                        </p:attrNameLst>
                                      </p:cBhvr>
                                      <p:tavLst>
                                        <p:tav tm="0">
                                          <p:val>
                                            <p:strVal val="#ppt_y+.1"/>
                                          </p:val>
                                        </p:tav>
                                        <p:tav tm="100000">
                                          <p:val>
                                            <p:strVal val="#ppt_y"/>
                                          </p:val>
                                        </p:tav>
                                      </p:tavLst>
                                    </p:anim>
                                  </p:childTnLst>
                                </p:cTn>
                              </p:par>
                            </p:childTnLst>
                          </p:cTn>
                        </p:par>
                        <p:par>
                          <p:cTn id="47" fill="hold">
                            <p:stCondLst>
                              <p:cond delay="1000"/>
                            </p:stCondLst>
                            <p:childTnLst>
                              <p:par>
                                <p:cTn id="48" presetID="2" presetClass="entr" presetSubtype="6" fill="hold" grpId="0" nodeType="after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500" fill="hold"/>
                                        <p:tgtEl>
                                          <p:spTgt spid="13"/>
                                        </p:tgtEl>
                                        <p:attrNameLst>
                                          <p:attrName>ppt_x</p:attrName>
                                        </p:attrNameLst>
                                      </p:cBhvr>
                                      <p:tavLst>
                                        <p:tav tm="0">
                                          <p:val>
                                            <p:strVal val="1+#ppt_w/2"/>
                                          </p:val>
                                        </p:tav>
                                        <p:tav tm="100000">
                                          <p:val>
                                            <p:strVal val="#ppt_x"/>
                                          </p:val>
                                        </p:tav>
                                      </p:tavLst>
                                    </p:anim>
                                    <p:anim calcmode="lin" valueType="num">
                                      <p:cBhvr additive="base">
                                        <p:cTn id="5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P spid="29" grpId="0"/>
      <p:bldP spid="30" grpId="0" animBg="1"/>
      <p:bldP spid="31" grpId="0"/>
      <p:bldP spid="32" grpId="0" animBg="1"/>
      <p:bldP spid="33" grpId="0" animBg="1"/>
      <p:bldP spid="34" grpId="0"/>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
            <a:extLst>
              <a:ext uri="{FF2B5EF4-FFF2-40B4-BE49-F238E27FC236}">
                <a16:creationId xmlns:a16="http://schemas.microsoft.com/office/drawing/2014/main" id="{3A711E1E-1F0F-4EC1-97F4-04C92FD986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18860" y="1196752"/>
            <a:ext cx="5314700" cy="3672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文本框 20">
            <a:extLst>
              <a:ext uri="{FF2B5EF4-FFF2-40B4-BE49-F238E27FC236}">
                <a16:creationId xmlns:a16="http://schemas.microsoft.com/office/drawing/2014/main" id="{190760D8-B3D7-43CA-A885-CFC9B9E2595A}"/>
              </a:ext>
            </a:extLst>
          </p:cNvPr>
          <p:cNvSpPr txBox="1"/>
          <p:nvPr/>
        </p:nvSpPr>
        <p:spPr>
          <a:xfrm>
            <a:off x="2228434" y="5365045"/>
            <a:ext cx="4513692" cy="400110"/>
          </a:xfrm>
          <a:prstGeom prst="rect">
            <a:avLst/>
          </a:prstGeom>
          <a:noFill/>
        </p:spPr>
        <p:txBody>
          <a:bodyPr wrap="square" rtlCol="0">
            <a:spAutoFit/>
          </a:bodyPr>
          <a:lstStyle/>
          <a:p>
            <a:pPr algn="ctr"/>
            <a:r>
              <a:rPr lang="zh-CN" altLang="en-US" sz="2000" dirty="0">
                <a:solidFill>
                  <a:schemeClr val="bg2"/>
                </a:solidFill>
              </a:rPr>
              <a:t>图 </a:t>
            </a:r>
            <a:r>
              <a:rPr lang="en-US" altLang="zh-CN" sz="2000" dirty="0">
                <a:solidFill>
                  <a:schemeClr val="bg2"/>
                </a:solidFill>
              </a:rPr>
              <a:t>5-1 </a:t>
            </a:r>
            <a:r>
              <a:rPr lang="zh-CN" altLang="en-US" sz="2000" dirty="0">
                <a:solidFill>
                  <a:schemeClr val="bg2"/>
                </a:solidFill>
              </a:rPr>
              <a:t>访问临界区的程序结构</a:t>
            </a:r>
          </a:p>
        </p:txBody>
      </p:sp>
      <p:sp>
        <p:nvSpPr>
          <p:cNvPr id="4" name="矩形 3">
            <a:extLst>
              <a:ext uri="{FF2B5EF4-FFF2-40B4-BE49-F238E27FC236}">
                <a16:creationId xmlns:a16="http://schemas.microsoft.com/office/drawing/2014/main" id="{E2169174-F863-417A-90DF-986C8810A703}"/>
              </a:ext>
            </a:extLst>
          </p:cNvPr>
          <p:cNvSpPr/>
          <p:nvPr/>
        </p:nvSpPr>
        <p:spPr>
          <a:xfrm>
            <a:off x="1398494" y="-22374"/>
            <a:ext cx="6555432" cy="707886"/>
          </a:xfrm>
          <a:prstGeom prst="rect">
            <a:avLst/>
          </a:prstGeom>
        </p:spPr>
        <p:txBody>
          <a:bodyPr wrap="square">
            <a:spAutoFit/>
          </a:bodyPr>
          <a:lstStyle/>
          <a:p>
            <a:pPr marL="0" lvl="1" algn="ctr" eaLnBrk="1" hangingPunct="1">
              <a:defRPr/>
            </a:pPr>
            <a:r>
              <a:rPr lang="zh-CN" altLang="en-US" sz="4000">
                <a:solidFill>
                  <a:srgbClr val="006699"/>
                </a:solidFill>
                <a:effectLst>
                  <a:outerShdw blurRad="38100" dist="38100" dir="2700000" algn="tl">
                    <a:srgbClr val="000000">
                      <a:alpha val="43137"/>
                    </a:srgbClr>
                  </a:outerShdw>
                </a:effectLst>
                <a:latin typeface="+mj-lt"/>
                <a:ea typeface="MS PGothic" pitchFamily="34" charset="-128"/>
                <a:cs typeface="+mj-cs"/>
              </a:rPr>
              <a:t>临界区</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的程序结构</a:t>
            </a:r>
          </a:p>
        </p:txBody>
      </p:sp>
      <p:sp>
        <p:nvSpPr>
          <p:cNvPr id="5" name="Text Box 18">
            <a:extLst>
              <a:ext uri="{FF2B5EF4-FFF2-40B4-BE49-F238E27FC236}">
                <a16:creationId xmlns:a16="http://schemas.microsoft.com/office/drawing/2014/main" id="{A2C0892B-9A6B-4E31-AB3C-DC804ACC3E4D}"/>
              </a:ext>
            </a:extLst>
          </p:cNvPr>
          <p:cNvSpPr txBox="1">
            <a:spLocks noChangeArrowheads="1"/>
          </p:cNvSpPr>
          <p:nvPr/>
        </p:nvSpPr>
        <p:spPr bwMode="auto">
          <a:xfrm>
            <a:off x="4067944" y="2492896"/>
            <a:ext cx="2339994" cy="457200"/>
          </a:xfrm>
          <a:prstGeom prst="rect">
            <a:avLst/>
          </a:prstGeom>
          <a:solidFill>
            <a:srgbClr val="FF00FF">
              <a:alpha val="40000"/>
            </a:srgbClr>
          </a:solidFill>
          <a:ln>
            <a:noFill/>
          </a:ln>
          <a:effectLs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en-US" sz="2400" b="1" dirty="0">
              <a:solidFill>
                <a:schemeClr val="bg2"/>
              </a:solidFill>
            </a:endParaRP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863824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54C5DD9-F717-49C8-A713-32B90E00F8C7}"/>
              </a:ext>
            </a:extLst>
          </p:cNvPr>
          <p:cNvSpPr txBox="1">
            <a:spLocks noChangeArrowheads="1"/>
          </p:cNvSpPr>
          <p:nvPr/>
        </p:nvSpPr>
        <p:spPr>
          <a:xfrm>
            <a:off x="2285814" y="116632"/>
            <a:ext cx="4572372" cy="79579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a:r>
              <a:rPr lang="zh-CN" altLang="en-US" sz="4000" dirty="0">
                <a:solidFill>
                  <a:srgbClr val="006699"/>
                </a:solidFill>
                <a:effectLst>
                  <a:outerShdw blurRad="38100" dist="38100" dir="2700000" algn="tl">
                    <a:srgbClr val="000000">
                      <a:alpha val="43137"/>
                    </a:srgbClr>
                  </a:outerShdw>
                </a:effectLst>
                <a:ea typeface="MS PGothic" pitchFamily="34" charset="-128"/>
              </a:rPr>
              <a:t>临界区</a:t>
            </a:r>
            <a:r>
              <a:rPr lang="zh-CN" altLang="en-US" sz="4000" dirty="0">
                <a:solidFill>
                  <a:srgbClr val="006699"/>
                </a:solidFill>
                <a:effectLst>
                  <a:outerShdw blurRad="38100" dist="38100" dir="2700000" algn="tl">
                    <a:srgbClr val="000000">
                      <a:alpha val="43137"/>
                    </a:srgbClr>
                  </a:outerShdw>
                </a:effectLst>
                <a:ea typeface="MS PGothic" pitchFamily="34" charset="-128"/>
                <a:sym typeface="Symbol" panose="05050102010706020507" pitchFamily="18" charset="2"/>
              </a:rPr>
              <a:t>进入原则</a:t>
            </a:r>
          </a:p>
        </p:txBody>
      </p:sp>
      <p:sp>
        <p:nvSpPr>
          <p:cNvPr id="6" name="Rectangle 3">
            <a:extLst>
              <a:ext uri="{FF2B5EF4-FFF2-40B4-BE49-F238E27FC236}">
                <a16:creationId xmlns:a16="http://schemas.microsoft.com/office/drawing/2014/main" id="{1F5430EE-C175-4CD3-9952-BC609F137F73}"/>
              </a:ext>
            </a:extLst>
          </p:cNvPr>
          <p:cNvSpPr>
            <a:spLocks noChangeArrowheads="1"/>
          </p:cNvSpPr>
          <p:nvPr/>
        </p:nvSpPr>
        <p:spPr bwMode="auto">
          <a:xfrm>
            <a:off x="0" y="1124744"/>
            <a:ext cx="9145016" cy="4388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55600" lvl="2" indent="-355600" defTabSz="355600">
              <a:lnSpc>
                <a:spcPct val="90000"/>
              </a:lnSpc>
              <a:spcBef>
                <a:spcPct val="0"/>
              </a:spcBef>
              <a:buClr>
                <a:schemeClr val="bg1">
                  <a:lumMod val="75000"/>
                </a:schemeClr>
              </a:buClr>
              <a:buSzPct val="8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互斥</a:t>
            </a:r>
            <a:r>
              <a:rPr lang="en-US" altLang="zh-CN" sz="2800" dirty="0">
                <a:solidFill>
                  <a:schemeClr val="bg1">
                    <a:lumMod val="75000"/>
                  </a:schemeClr>
                </a:solidFill>
                <a:latin typeface="+mj-lt"/>
                <a:ea typeface="楷体" panose="02010609060101010101" pitchFamily="49" charset="-122"/>
              </a:rPr>
              <a:t>(mutual exclusion)</a:t>
            </a:r>
            <a:r>
              <a:rPr lang="zh-CN" altLang="en-US" sz="2800" dirty="0">
                <a:solidFill>
                  <a:schemeClr val="bg1">
                    <a:lumMod val="75000"/>
                  </a:schemeClr>
                </a:solidFill>
                <a:latin typeface="+mj-lt"/>
                <a:ea typeface="楷体" panose="02010609060101010101" pitchFamily="49" charset="-122"/>
              </a:rPr>
              <a:t> </a:t>
            </a:r>
            <a:endParaRPr lang="en-US" altLang="zh-CN" sz="2800" dirty="0">
              <a:solidFill>
                <a:schemeClr val="bg1">
                  <a:lumMod val="75000"/>
                </a:schemeClr>
              </a:solidFill>
              <a:latin typeface="+mj-lt"/>
              <a:ea typeface="楷体" panose="02010609060101010101" pitchFamily="49" charset="-122"/>
            </a:endParaRPr>
          </a:p>
          <a:p>
            <a:pPr marL="457200" lvl="3" indent="0" defTabSz="355600">
              <a:lnSpc>
                <a:spcPct val="90000"/>
              </a:lnSpc>
              <a:spcBef>
                <a:spcPct val="0"/>
              </a:spcBef>
              <a:buClr>
                <a:schemeClr val="bg2"/>
              </a:buClr>
              <a:buSzPct val="70000"/>
              <a:buNone/>
              <a:defRPr/>
            </a:pPr>
            <a:r>
              <a:rPr lang="zh-CN" altLang="en-US" dirty="0">
                <a:solidFill>
                  <a:schemeClr val="bg2"/>
                </a:solidFill>
                <a:latin typeface="+mj-lt"/>
                <a:ea typeface="楷体" panose="02010609060101010101" pitchFamily="49" charset="-122"/>
              </a:rPr>
              <a:t>       如果一个线程在临界区中执行，则其它线程不允许进入</a:t>
            </a:r>
            <a:endParaRPr lang="en-US" altLang="zh-CN" dirty="0">
              <a:solidFill>
                <a:schemeClr val="bg2"/>
              </a:solidFill>
              <a:latin typeface="+mj-lt"/>
              <a:ea typeface="楷体" panose="02010609060101010101" pitchFamily="49" charset="-122"/>
            </a:endParaRPr>
          </a:p>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有空让进</a:t>
            </a:r>
            <a:r>
              <a:rPr lang="en-US" altLang="zh-CN" sz="2800" dirty="0">
                <a:solidFill>
                  <a:schemeClr val="bg1">
                    <a:lumMod val="75000"/>
                  </a:schemeClr>
                </a:solidFill>
                <a:latin typeface="+mj-lt"/>
                <a:ea typeface="楷体" panose="02010609060101010101" pitchFamily="49" charset="-122"/>
              </a:rPr>
              <a:t>(progress)</a:t>
            </a:r>
          </a:p>
          <a:p>
            <a:pPr marL="457200" lvl="3" indent="0" defTabSz="355600">
              <a:lnSpc>
                <a:spcPct val="90000"/>
              </a:lnSpc>
              <a:spcBef>
                <a:spcPct val="0"/>
              </a:spcBef>
              <a:buClr>
                <a:schemeClr val="bg2"/>
              </a:buClr>
              <a:buSzPct val="70000"/>
              <a:buNone/>
              <a:defRPr/>
            </a:pPr>
            <a:r>
              <a:rPr lang="zh-CN" altLang="en-US" dirty="0">
                <a:solidFill>
                  <a:schemeClr val="bg2"/>
                </a:solidFill>
                <a:latin typeface="+mj-lt"/>
                <a:ea typeface="楷体" panose="02010609060101010101" pitchFamily="49" charset="-122"/>
              </a:rPr>
              <a:t>       若干线程要求进入空闲临界区时，应尽快使一个线程进入</a:t>
            </a:r>
            <a:endParaRPr lang="en-US" altLang="zh-CN" dirty="0">
              <a:solidFill>
                <a:schemeClr val="bg2"/>
              </a:solidFill>
              <a:latin typeface="+mj-lt"/>
              <a:ea typeface="楷体" panose="02010609060101010101" pitchFamily="49" charset="-122"/>
            </a:endParaRPr>
          </a:p>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有限等待</a:t>
            </a:r>
            <a:r>
              <a:rPr lang="en-US" altLang="zh-CN" sz="2800" dirty="0">
                <a:solidFill>
                  <a:schemeClr val="bg1">
                    <a:lumMod val="75000"/>
                  </a:schemeClr>
                </a:solidFill>
                <a:latin typeface="+mj-lt"/>
                <a:ea typeface="楷体" panose="02010609060101010101" pitchFamily="49" charset="-122"/>
              </a:rPr>
              <a:t>(bounded waiting)</a:t>
            </a:r>
          </a:p>
          <a:p>
            <a:pPr marL="457200" lvl="3" indent="0" defTabSz="355600">
              <a:lnSpc>
                <a:spcPct val="90000"/>
              </a:lnSpc>
              <a:spcBef>
                <a:spcPct val="0"/>
              </a:spcBef>
              <a:buClr>
                <a:schemeClr val="bg2"/>
              </a:buClr>
              <a:buSzPct val="70000"/>
              <a:buNone/>
              <a:defRPr/>
            </a:pPr>
            <a:r>
              <a:rPr lang="en-US" altLang="zh-CN" dirty="0">
                <a:solidFill>
                  <a:schemeClr val="bg2"/>
                </a:solidFill>
              </a:rPr>
              <a:t>      </a:t>
            </a:r>
            <a:r>
              <a:rPr lang="zh-CN" altLang="en-US" dirty="0">
                <a:solidFill>
                  <a:schemeClr val="bg2"/>
                </a:solidFill>
                <a:latin typeface="+mj-lt"/>
                <a:ea typeface="楷体" panose="02010609060101010101" pitchFamily="49" charset="-122"/>
              </a:rPr>
              <a:t>从线程发出请求到允许进入，不能无限等待</a:t>
            </a:r>
          </a:p>
        </p:txBody>
      </p:sp>
      <p:sp>
        <p:nvSpPr>
          <p:cNvPr id="7" name="AutoShape 7">
            <a:hlinkClick r:id="rId2" action="ppaction://hlinksldjump" highlightClick="1"/>
            <a:extLst>
              <a:ext uri="{FF2B5EF4-FFF2-40B4-BE49-F238E27FC236}">
                <a16:creationId xmlns:a16="http://schemas.microsoft.com/office/drawing/2014/main" id="{22B25C6C-A5D6-4C38-9478-91B7A87A7BE6}"/>
              </a:ext>
            </a:extLst>
          </p:cNvPr>
          <p:cNvSpPr>
            <a:spLocks noChangeArrowheads="1"/>
          </p:cNvSpPr>
          <p:nvPr/>
        </p:nvSpPr>
        <p:spPr bwMode="auto">
          <a:xfrm>
            <a:off x="8763000" y="6517912"/>
            <a:ext cx="381000" cy="340087"/>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03450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fade">
                                      <p:cBhvr>
                                        <p:cTn id="19" dur="1000"/>
                                        <p:tgtEl>
                                          <p:spTgt spid="6">
                                            <p:txEl>
                                              <p:pRg st="2" end="2"/>
                                            </p:txEl>
                                          </p:spTgt>
                                        </p:tgtEl>
                                      </p:cBhvr>
                                    </p:animEffect>
                                    <p:anim calcmode="lin" valueType="num">
                                      <p:cBhvr>
                                        <p:cTn id="2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xEl>
                                              <p:pRg st="3" end="3"/>
                                            </p:txEl>
                                          </p:spTgt>
                                        </p:tgtEl>
                                        <p:attrNameLst>
                                          <p:attrName>style.visibility</p:attrName>
                                        </p:attrNameLst>
                                      </p:cBhvr>
                                      <p:to>
                                        <p:strVal val="visible"/>
                                      </p:to>
                                    </p:set>
                                    <p:animEffect transition="in" filter="fade">
                                      <p:cBhvr>
                                        <p:cTn id="24" dur="1000"/>
                                        <p:tgtEl>
                                          <p:spTgt spid="6">
                                            <p:txEl>
                                              <p:pRg st="3" end="3"/>
                                            </p:txEl>
                                          </p:spTgt>
                                        </p:tgtEl>
                                      </p:cBhvr>
                                    </p:animEffect>
                                    <p:anim calcmode="lin" valueType="num">
                                      <p:cBhvr>
                                        <p:cTn id="25"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Effect transition="in" filter="fade">
                                      <p:cBhvr>
                                        <p:cTn id="31" dur="1000"/>
                                        <p:tgtEl>
                                          <p:spTgt spid="6">
                                            <p:txEl>
                                              <p:pRg st="4" end="4"/>
                                            </p:txEl>
                                          </p:spTgt>
                                        </p:tgtEl>
                                      </p:cBhvr>
                                    </p:animEffect>
                                    <p:anim calcmode="lin" valueType="num">
                                      <p:cBhvr>
                                        <p:cTn id="32"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6">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6">
                                            <p:txEl>
                                              <p:pRg st="5" end="5"/>
                                            </p:txEl>
                                          </p:spTgt>
                                        </p:tgtEl>
                                        <p:attrNameLst>
                                          <p:attrName>style.visibility</p:attrName>
                                        </p:attrNameLst>
                                      </p:cBhvr>
                                      <p:to>
                                        <p:strVal val="visible"/>
                                      </p:to>
                                    </p:set>
                                    <p:animEffect transition="in" filter="fade">
                                      <p:cBhvr>
                                        <p:cTn id="36" dur="1000"/>
                                        <p:tgtEl>
                                          <p:spTgt spid="6">
                                            <p:txEl>
                                              <p:pRg st="5" end="5"/>
                                            </p:txEl>
                                          </p:spTgt>
                                        </p:tgtEl>
                                      </p:cBhvr>
                                    </p:animEffect>
                                    <p:anim calcmode="lin" valueType="num">
                                      <p:cBhvr>
                                        <p:cTn id="37"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par>
                          <p:cTn id="39" fill="hold">
                            <p:stCondLst>
                              <p:cond delay="1000"/>
                            </p:stCondLst>
                            <p:childTnLst>
                              <p:par>
                                <p:cTn id="40" presetID="2" presetClass="entr" presetSubtype="8" fill="hold" grpId="0" nodeType="afterEffect">
                                  <p:stCondLst>
                                    <p:cond delay="0"/>
                                  </p:stCondLst>
                                  <p:childTnLst>
                                    <p:set>
                                      <p:cBhvr>
                                        <p:cTn id="41" dur="1" fill="hold">
                                          <p:stCondLst>
                                            <p:cond delay="0"/>
                                          </p:stCondLst>
                                        </p:cTn>
                                        <p:tgtEl>
                                          <p:spTgt spid="7"/>
                                        </p:tgtEl>
                                        <p:attrNameLst>
                                          <p:attrName>style.visibility</p:attrName>
                                        </p:attrNameLst>
                                      </p:cBhvr>
                                      <p:to>
                                        <p:strVal val="visible"/>
                                      </p:to>
                                    </p:set>
                                    <p:anim calcmode="lin" valueType="num">
                                      <p:cBhvr additive="base">
                                        <p:cTn id="42" dur="500" fill="hold"/>
                                        <p:tgtEl>
                                          <p:spTgt spid="7"/>
                                        </p:tgtEl>
                                        <p:attrNameLst>
                                          <p:attrName>ppt_x</p:attrName>
                                        </p:attrNameLst>
                                      </p:cBhvr>
                                      <p:tavLst>
                                        <p:tav tm="0">
                                          <p:val>
                                            <p:strVal val="0-#ppt_w/2"/>
                                          </p:val>
                                        </p:tav>
                                        <p:tav tm="100000">
                                          <p:val>
                                            <p:strVal val="#ppt_x"/>
                                          </p:val>
                                        </p:tav>
                                      </p:tavLst>
                                    </p:anim>
                                    <p:anim calcmode="lin" valueType="num">
                                      <p:cBhvr additive="base">
                                        <p:cTn id="4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hlinkClick r:id="rId3" action="ppaction://hlinksldjump"/>
            <a:extLst>
              <a:ext uri="{FF2B5EF4-FFF2-40B4-BE49-F238E27FC236}">
                <a16:creationId xmlns:a16="http://schemas.microsoft.com/office/drawing/2014/main" id="{3B13801B-E251-4A49-8E4D-FF454E8ED73E}"/>
              </a:ext>
            </a:extLst>
          </p:cNvPr>
          <p:cNvSpPr/>
          <p:nvPr/>
        </p:nvSpPr>
        <p:spPr>
          <a:xfrm>
            <a:off x="2525630" y="-112920"/>
            <a:ext cx="4092467" cy="738664"/>
          </a:xfrm>
          <a:prstGeom prst="rect">
            <a:avLst/>
          </a:prstGeom>
        </p:spPr>
        <p:txBody>
          <a:bodyPr wrap="none" lIns="0" tIns="0" rIns="0" bIns="0">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5.3  Peterson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方 案</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5" name="文本框 4"/>
          <p:cNvSpPr txBox="1"/>
          <p:nvPr/>
        </p:nvSpPr>
        <p:spPr>
          <a:xfrm>
            <a:off x="718053" y="557830"/>
            <a:ext cx="8064896" cy="1077218"/>
          </a:xfrm>
          <a:prstGeom prst="rect">
            <a:avLst/>
          </a:prstGeom>
          <a:solidFill>
            <a:srgbClr val="00FFFF"/>
          </a:solidFill>
        </p:spPr>
        <p:txBody>
          <a:bodyPr wrap="square" rtlCol="0">
            <a:spAutoFit/>
          </a:bodyPr>
          <a:lstStyle/>
          <a:p>
            <a:pPr algn="ctr"/>
            <a:r>
              <a:rPr lang="zh-CN" altLang="en-US" dirty="0">
                <a:solidFill>
                  <a:srgbClr val="C00000"/>
                </a:solidFill>
                <a:effectLst>
                  <a:outerShdw blurRad="38100" dist="38100" dir="2700000" algn="tl">
                    <a:srgbClr val="000000">
                      <a:alpha val="43137"/>
                    </a:srgbClr>
                  </a:outerShdw>
                </a:effectLst>
              </a:rPr>
              <a:t>两个线程</a:t>
            </a:r>
            <a:r>
              <a:rPr lang="zh-CN" altLang="en-US" dirty="0">
                <a:solidFill>
                  <a:schemeClr val="bg2"/>
                </a:solidFill>
                <a:effectLst>
                  <a:outerShdw blurRad="38100" dist="38100" dir="2700000" algn="tl">
                    <a:srgbClr val="000000">
                      <a:alpha val="43137"/>
                    </a:srgbClr>
                  </a:outerShdw>
                </a:effectLst>
              </a:rPr>
              <a:t>交替访问临界区的软件方法，</a:t>
            </a:r>
            <a:endParaRPr lang="en-US" altLang="zh-CN" dirty="0">
              <a:solidFill>
                <a:schemeClr val="bg2"/>
              </a:solidFill>
              <a:effectLst>
                <a:outerShdw blurRad="38100" dist="38100" dir="2700000" algn="tl">
                  <a:srgbClr val="000000">
                    <a:alpha val="43137"/>
                  </a:srgbClr>
                </a:outerShdw>
              </a:effectLst>
            </a:endParaRPr>
          </a:p>
          <a:p>
            <a:pPr algn="ctr"/>
            <a:r>
              <a:rPr lang="zh-CN" altLang="en-US" dirty="0">
                <a:solidFill>
                  <a:schemeClr val="bg2"/>
                </a:solidFill>
                <a:effectLst>
                  <a:outerShdw blurRad="38100" dist="38100" dir="2700000" algn="tl">
                    <a:srgbClr val="000000">
                      <a:alpha val="43137"/>
                    </a:srgbClr>
                  </a:outerShdw>
                </a:effectLst>
                <a:sym typeface="Symbol" panose="05050102010706020507" pitchFamily="18" charset="2"/>
              </a:rPr>
              <a:t>结合了标记法和轮转法</a:t>
            </a:r>
            <a:endParaRPr lang="zh-CN" altLang="en-US" dirty="0">
              <a:solidFill>
                <a:schemeClr val="bg2"/>
              </a:solidFill>
              <a:effectLst>
                <a:outerShdw blurRad="38100" dist="38100" dir="2700000" algn="tl">
                  <a:srgbClr val="000000">
                    <a:alpha val="43137"/>
                  </a:srgbClr>
                </a:outerShdw>
              </a:effectLst>
            </a:endParaRPr>
          </a:p>
        </p:txBody>
      </p:sp>
      <p:grpSp>
        <p:nvGrpSpPr>
          <p:cNvPr id="23" name="组合 22"/>
          <p:cNvGrpSpPr/>
          <p:nvPr/>
        </p:nvGrpSpPr>
        <p:grpSpPr>
          <a:xfrm>
            <a:off x="128860" y="3377259"/>
            <a:ext cx="4228752" cy="2796115"/>
            <a:chOff x="249249" y="4075475"/>
            <a:chExt cx="4228752" cy="2796115"/>
          </a:xfrm>
        </p:grpSpPr>
        <p:sp>
          <p:nvSpPr>
            <p:cNvPr id="7" name="Rectangle 28">
              <a:extLst>
                <a:ext uri="{FF2B5EF4-FFF2-40B4-BE49-F238E27FC236}">
                  <a16:creationId xmlns:a16="http://schemas.microsoft.com/office/drawing/2014/main" id="{BEF080DD-F5F6-4BB0-968C-859CEC7EFA6B}"/>
                </a:ext>
              </a:extLst>
            </p:cNvPr>
            <p:cNvSpPr>
              <a:spLocks noChangeArrowheads="1"/>
            </p:cNvSpPr>
            <p:nvPr/>
          </p:nvSpPr>
          <p:spPr bwMode="auto">
            <a:xfrm>
              <a:off x="251520" y="4112333"/>
              <a:ext cx="4198939" cy="231321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rgbClr val="FF0000"/>
                  </a:solidFill>
                </a:rPr>
                <a:t> </a:t>
              </a:r>
            </a:p>
          </p:txBody>
        </p:sp>
        <p:sp>
          <p:nvSpPr>
            <p:cNvPr id="8" name="Text Box 29">
              <a:extLst>
                <a:ext uri="{FF2B5EF4-FFF2-40B4-BE49-F238E27FC236}">
                  <a16:creationId xmlns:a16="http://schemas.microsoft.com/office/drawing/2014/main" id="{3B9CE865-7AA0-4114-97CA-373C4E3AB375}"/>
                </a:ext>
              </a:extLst>
            </p:cNvPr>
            <p:cNvSpPr txBox="1">
              <a:spLocks noChangeArrowheads="1"/>
            </p:cNvSpPr>
            <p:nvPr/>
          </p:nvSpPr>
          <p:spPr bwMode="auto">
            <a:xfrm>
              <a:off x="279063" y="4075475"/>
              <a:ext cx="4198938" cy="1200329"/>
            </a:xfrm>
            <a:prstGeom prst="rect">
              <a:avLst/>
            </a:prstGeom>
            <a:solidFill>
              <a:schemeClr val="tx1">
                <a:lumMod val="85000"/>
              </a:schemeClr>
            </a:solidFill>
            <a:ln w="9525">
              <a:noFill/>
              <a:miter lim="800000"/>
              <a:headEnd/>
              <a:tailEnd/>
            </a:ln>
            <a:effectLst/>
            <a:extLst/>
          </p:spPr>
          <p:txBody>
            <a:bodyPr>
              <a:spAutoFit/>
            </a:bodyPr>
            <a:lstStyle/>
            <a:p>
              <a:pPr>
                <a:spcBef>
                  <a:spcPts val="0"/>
                </a:spcBef>
              </a:pPr>
              <a:r>
                <a:rPr lang="en-US" altLang="zh-CN" sz="2400" b="1" dirty="0">
                  <a:solidFill>
                    <a:schemeClr val="bg2"/>
                  </a:solidFill>
                  <a:latin typeface="+mn-lt"/>
                </a:rPr>
                <a:t>flag[0] = true;</a:t>
              </a:r>
            </a:p>
            <a:p>
              <a:pPr>
                <a:spcBef>
                  <a:spcPts val="0"/>
                </a:spcBef>
              </a:pPr>
              <a:r>
                <a:rPr lang="en-US" altLang="zh-CN" sz="2400" b="1" dirty="0">
                  <a:solidFill>
                    <a:schemeClr val="bg2"/>
                  </a:solidFill>
                  <a:latin typeface="+mn-lt"/>
                </a:rPr>
                <a:t>turn = 1;</a:t>
              </a:r>
            </a:p>
            <a:p>
              <a:pPr>
                <a:spcBef>
                  <a:spcPts val="0"/>
                </a:spcBef>
              </a:pPr>
              <a:r>
                <a:rPr lang="en-US" altLang="zh-CN" sz="2400" b="1" dirty="0">
                  <a:solidFill>
                    <a:schemeClr val="bg2"/>
                  </a:solidFill>
                  <a:latin typeface="+mn-lt"/>
                </a:rPr>
                <a:t>while (flag[1] &amp;&amp; turn == 1) ;</a:t>
              </a:r>
            </a:p>
          </p:txBody>
        </p:sp>
        <p:sp>
          <p:nvSpPr>
            <p:cNvPr id="9" name="Text Box 30">
              <a:extLst>
                <a:ext uri="{FF2B5EF4-FFF2-40B4-BE49-F238E27FC236}">
                  <a16:creationId xmlns:a16="http://schemas.microsoft.com/office/drawing/2014/main" id="{5D62647B-F595-4D33-B895-46EEB3400867}"/>
                </a:ext>
              </a:extLst>
            </p:cNvPr>
            <p:cNvSpPr txBox="1">
              <a:spLocks noChangeArrowheads="1"/>
            </p:cNvSpPr>
            <p:nvPr/>
          </p:nvSpPr>
          <p:spPr bwMode="auto">
            <a:xfrm>
              <a:off x="249249" y="5290984"/>
              <a:ext cx="2171898" cy="369332"/>
            </a:xfrm>
            <a:prstGeom prst="rect">
              <a:avLst/>
            </a:prstGeom>
            <a:solidFill>
              <a:srgbClr val="FF00FF"/>
            </a:solidFill>
            <a:ln>
              <a:noFill/>
            </a:ln>
            <a:effectLst/>
            <a:extLst/>
          </p:spPr>
          <p:txBody>
            <a:bodyPr wrap="square" lIns="0" tIns="0" rIns="0" bIns="0">
              <a:spAutoFit/>
            </a:bodyPr>
            <a:lstStyle/>
            <a:p>
              <a:pPr algn="ctr">
                <a:spcBef>
                  <a:spcPct val="50000"/>
                </a:spcBef>
              </a:pPr>
              <a:r>
                <a:rPr lang="zh-CN" altLang="en-US" sz="2400" dirty="0">
                  <a:solidFill>
                    <a:schemeClr val="bg2"/>
                  </a:solidFill>
                </a:rPr>
                <a:t>临界区</a:t>
              </a:r>
            </a:p>
          </p:txBody>
        </p:sp>
        <p:sp>
          <p:nvSpPr>
            <p:cNvPr id="10" name="Text Box 31">
              <a:extLst>
                <a:ext uri="{FF2B5EF4-FFF2-40B4-BE49-F238E27FC236}">
                  <a16:creationId xmlns:a16="http://schemas.microsoft.com/office/drawing/2014/main" id="{5B728801-C564-43DC-AE7D-37CF01CA0338}"/>
                </a:ext>
              </a:extLst>
            </p:cNvPr>
            <p:cNvSpPr txBox="1">
              <a:spLocks noChangeArrowheads="1"/>
            </p:cNvSpPr>
            <p:nvPr/>
          </p:nvSpPr>
          <p:spPr bwMode="auto">
            <a:xfrm>
              <a:off x="260203" y="5653636"/>
              <a:ext cx="2171898" cy="369332"/>
            </a:xfrm>
            <a:prstGeom prst="rect">
              <a:avLst/>
            </a:prstGeom>
            <a:solidFill>
              <a:schemeClr val="tx1">
                <a:lumMod val="85000"/>
              </a:schemeClr>
            </a:solidFill>
            <a:ln w="9525">
              <a:noFill/>
              <a:miter lim="800000"/>
              <a:headEnd/>
              <a:tailEnd/>
            </a:ln>
            <a:effectLst/>
            <a:extLst/>
          </p:spPr>
          <p:txBody>
            <a:bodyPr wrap="square" lIns="0" tIns="0" rIns="0" bIns="0">
              <a:spAutoFit/>
            </a:bodyPr>
            <a:lstStyle/>
            <a:p>
              <a:pPr>
                <a:spcBef>
                  <a:spcPct val="50000"/>
                </a:spcBef>
              </a:pPr>
              <a:r>
                <a:rPr lang="en-US" altLang="zh-CN" sz="2400" dirty="0">
                  <a:solidFill>
                    <a:schemeClr val="bg2"/>
                  </a:solidFill>
                  <a:latin typeface="+mn-lt"/>
                </a:rPr>
                <a:t>flag[0] = false;</a:t>
              </a:r>
            </a:p>
          </p:txBody>
        </p:sp>
        <p:sp>
          <p:nvSpPr>
            <p:cNvPr id="11" name="Text Box 32">
              <a:extLst>
                <a:ext uri="{FF2B5EF4-FFF2-40B4-BE49-F238E27FC236}">
                  <a16:creationId xmlns:a16="http://schemas.microsoft.com/office/drawing/2014/main" id="{E9842811-6BE5-4873-BB99-EEDDC5743FFB}"/>
                </a:ext>
              </a:extLst>
            </p:cNvPr>
            <p:cNvSpPr txBox="1">
              <a:spLocks noChangeArrowheads="1"/>
            </p:cNvSpPr>
            <p:nvPr/>
          </p:nvSpPr>
          <p:spPr bwMode="auto">
            <a:xfrm>
              <a:off x="264389" y="5971546"/>
              <a:ext cx="2170800" cy="478629"/>
            </a:xfrm>
            <a:prstGeom prst="rect">
              <a:avLst/>
            </a:prstGeom>
            <a:solidFill>
              <a:schemeClr val="tx1">
                <a:lumMod val="8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400" dirty="0">
                  <a:solidFill>
                    <a:srgbClr val="7A007A"/>
                  </a:solidFill>
                </a:rPr>
                <a:t>剩余区</a:t>
              </a:r>
            </a:p>
          </p:txBody>
        </p:sp>
        <p:sp>
          <p:nvSpPr>
            <p:cNvPr id="12" name="Rectangle 33">
              <a:extLst>
                <a:ext uri="{FF2B5EF4-FFF2-40B4-BE49-F238E27FC236}">
                  <a16:creationId xmlns:a16="http://schemas.microsoft.com/office/drawing/2014/main" id="{367C2FE0-CFE8-4073-9AB0-8CB8BDF628BF}"/>
                </a:ext>
              </a:extLst>
            </p:cNvPr>
            <p:cNvSpPr>
              <a:spLocks noChangeArrowheads="1"/>
            </p:cNvSpPr>
            <p:nvPr/>
          </p:nvSpPr>
          <p:spPr bwMode="auto">
            <a:xfrm>
              <a:off x="445689" y="6414390"/>
              <a:ext cx="1989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400" b="1" dirty="0">
                  <a:solidFill>
                    <a:schemeClr val="bg2"/>
                  </a:solidFill>
                </a:rPr>
                <a:t>线程</a:t>
              </a:r>
              <a:r>
                <a:rPr lang="en-US" altLang="zh-CN" sz="2400" b="1" dirty="0">
                  <a:solidFill>
                    <a:schemeClr val="bg2"/>
                  </a:solidFill>
                </a:rPr>
                <a:t>P</a:t>
              </a:r>
              <a:r>
                <a:rPr lang="en-US" altLang="zh-CN" sz="2400" b="1" baseline="-25000" dirty="0">
                  <a:solidFill>
                    <a:schemeClr val="bg2"/>
                  </a:solidFill>
                </a:rPr>
                <a:t>0</a:t>
              </a:r>
            </a:p>
          </p:txBody>
        </p:sp>
      </p:grpSp>
      <p:sp>
        <p:nvSpPr>
          <p:cNvPr id="25" name="矩形 24"/>
          <p:cNvSpPr/>
          <p:nvPr/>
        </p:nvSpPr>
        <p:spPr bwMode="auto">
          <a:xfrm>
            <a:off x="5615478" y="1995384"/>
            <a:ext cx="3361054" cy="1722936"/>
          </a:xfrm>
          <a:prstGeom prst="rect">
            <a:avLst/>
          </a:prstGeom>
          <a:no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grpSp>
        <p:nvGrpSpPr>
          <p:cNvPr id="2" name="组合 1">
            <a:extLst>
              <a:ext uri="{FF2B5EF4-FFF2-40B4-BE49-F238E27FC236}">
                <a16:creationId xmlns:a16="http://schemas.microsoft.com/office/drawing/2014/main" id="{D2660AA0-9E57-4A4C-A819-F7F99313CC7F}"/>
              </a:ext>
            </a:extLst>
          </p:cNvPr>
          <p:cNvGrpSpPr/>
          <p:nvPr/>
        </p:nvGrpSpPr>
        <p:grpSpPr>
          <a:xfrm>
            <a:off x="4035822" y="3338245"/>
            <a:ext cx="4940710" cy="1951831"/>
            <a:chOff x="4033536" y="3394328"/>
            <a:chExt cx="4940710" cy="1951831"/>
          </a:xfrm>
        </p:grpSpPr>
        <p:sp>
          <p:nvSpPr>
            <p:cNvPr id="20" name="文本框 19"/>
            <p:cNvSpPr txBox="1"/>
            <p:nvPr/>
          </p:nvSpPr>
          <p:spPr>
            <a:xfrm>
              <a:off x="4301036" y="3809902"/>
              <a:ext cx="4174484" cy="461665"/>
            </a:xfrm>
            <a:prstGeom prst="rect">
              <a:avLst/>
            </a:prstGeom>
            <a:noFill/>
          </p:spPr>
          <p:txBody>
            <a:bodyPr wrap="square" rtlCol="0">
              <a:spAutoFit/>
            </a:bodyPr>
            <a:lstStyle/>
            <a:p>
              <a:r>
                <a:rPr lang="en-US" altLang="zh-CN" sz="2400" dirty="0">
                  <a:solidFill>
                    <a:srgbClr val="006600"/>
                  </a:solidFill>
                </a:rPr>
                <a:t>//</a:t>
              </a:r>
              <a:r>
                <a:rPr lang="zh-CN" altLang="en-US" sz="2400" dirty="0">
                  <a:solidFill>
                    <a:srgbClr val="006600"/>
                  </a:solidFill>
                </a:rPr>
                <a:t>可以优先让对方进入临界区</a:t>
              </a:r>
            </a:p>
          </p:txBody>
        </p:sp>
        <p:sp>
          <p:nvSpPr>
            <p:cNvPr id="19" name="文本框 18"/>
            <p:cNvSpPr txBox="1"/>
            <p:nvPr/>
          </p:nvSpPr>
          <p:spPr>
            <a:xfrm>
              <a:off x="4350159" y="3394328"/>
              <a:ext cx="4021154" cy="461665"/>
            </a:xfrm>
            <a:prstGeom prst="rect">
              <a:avLst/>
            </a:prstGeom>
            <a:noFill/>
          </p:spPr>
          <p:txBody>
            <a:bodyPr wrap="square" rtlCol="0">
              <a:spAutoFit/>
            </a:bodyPr>
            <a:lstStyle/>
            <a:p>
              <a:r>
                <a:rPr lang="en-US" altLang="zh-CN" sz="2400" dirty="0">
                  <a:solidFill>
                    <a:srgbClr val="006600"/>
                  </a:solidFill>
                </a:rPr>
                <a:t>//</a:t>
              </a:r>
              <a:r>
                <a:rPr lang="zh-CN" altLang="en-US" sz="2400" dirty="0">
                  <a:solidFill>
                    <a:srgbClr val="006600"/>
                  </a:solidFill>
                </a:rPr>
                <a:t>表示自己想进入临界区</a:t>
              </a:r>
            </a:p>
          </p:txBody>
        </p:sp>
        <p:sp>
          <p:nvSpPr>
            <p:cNvPr id="21" name="文本框 20"/>
            <p:cNvSpPr txBox="1"/>
            <p:nvPr/>
          </p:nvSpPr>
          <p:spPr>
            <a:xfrm>
              <a:off x="4273493" y="4200102"/>
              <a:ext cx="4700753" cy="523220"/>
            </a:xfrm>
            <a:prstGeom prst="rect">
              <a:avLst/>
            </a:prstGeom>
            <a:noFill/>
          </p:spPr>
          <p:txBody>
            <a:bodyPr wrap="square" rtlCol="0">
              <a:spAutoFit/>
            </a:bodyPr>
            <a:lstStyle/>
            <a:p>
              <a:r>
                <a:rPr lang="en-US" altLang="zh-CN" sz="2400" dirty="0">
                  <a:solidFill>
                    <a:srgbClr val="006600"/>
                  </a:solidFill>
                </a:rPr>
                <a:t>//</a:t>
              </a:r>
              <a:r>
                <a:rPr lang="zh-CN" altLang="en-US" sz="2400" dirty="0">
                  <a:solidFill>
                    <a:srgbClr val="006600"/>
                  </a:solidFill>
                </a:rPr>
                <a:t>对方想进，自己就</a:t>
              </a:r>
              <a:r>
                <a:rPr lang="zh-CN" altLang="en-US" sz="2800" dirty="0">
                  <a:solidFill>
                    <a:schemeClr val="accent3">
                      <a:lumMod val="50000"/>
                    </a:schemeClr>
                  </a:solidFill>
                  <a:effectLst>
                    <a:outerShdw blurRad="38100" dist="38100" dir="2700000" algn="tl">
                      <a:srgbClr val="000000">
                        <a:alpha val="43137"/>
                      </a:srgbClr>
                    </a:outerShdw>
                  </a:effectLst>
                </a:rPr>
                <a:t>循环等待</a:t>
              </a:r>
            </a:p>
          </p:txBody>
        </p:sp>
        <p:sp>
          <p:nvSpPr>
            <p:cNvPr id="22" name="文本框 21"/>
            <p:cNvSpPr txBox="1"/>
            <p:nvPr/>
          </p:nvSpPr>
          <p:spPr>
            <a:xfrm>
              <a:off x="4033536" y="4884494"/>
              <a:ext cx="4940709" cy="461665"/>
            </a:xfrm>
            <a:prstGeom prst="rect">
              <a:avLst/>
            </a:prstGeom>
            <a:noFill/>
          </p:spPr>
          <p:txBody>
            <a:bodyPr wrap="square" rtlCol="0">
              <a:spAutoFit/>
            </a:bodyPr>
            <a:lstStyle/>
            <a:p>
              <a:r>
                <a:rPr lang="en-US" altLang="zh-CN" sz="2400" dirty="0">
                  <a:solidFill>
                    <a:srgbClr val="006600"/>
                  </a:solidFill>
                </a:rPr>
                <a:t> //</a:t>
              </a:r>
              <a:r>
                <a:rPr lang="zh-CN" altLang="en-US" sz="2400" dirty="0">
                  <a:solidFill>
                    <a:srgbClr val="006600"/>
                  </a:solidFill>
                </a:rPr>
                <a:t>表示自己已经不想访问临界区了</a:t>
              </a:r>
            </a:p>
          </p:txBody>
        </p:sp>
      </p:grpSp>
      <p:sp>
        <p:nvSpPr>
          <p:cNvPr id="27" name="矩形 26">
            <a:extLst>
              <a:ext uri="{FF2B5EF4-FFF2-40B4-BE49-F238E27FC236}">
                <a16:creationId xmlns:a16="http://schemas.microsoft.com/office/drawing/2014/main" id="{F5C3A762-C4AD-4F7B-AF25-D7AA2120B603}"/>
              </a:ext>
            </a:extLst>
          </p:cNvPr>
          <p:cNvSpPr/>
          <p:nvPr/>
        </p:nvSpPr>
        <p:spPr>
          <a:xfrm>
            <a:off x="158674" y="1950346"/>
            <a:ext cx="2658213" cy="867930"/>
          </a:xfrm>
          <a:prstGeom prst="rect">
            <a:avLst/>
          </a:prstGeom>
          <a:solidFill>
            <a:schemeClr val="tx1">
              <a:lumMod val="85000"/>
            </a:schemeClr>
          </a:solidFill>
        </p:spPr>
        <p:txBody>
          <a:bodyPr wrap="square">
            <a:spAutoFit/>
          </a:bodyPr>
          <a:lstStyle/>
          <a:p>
            <a:pPr lvl="1" indent="-457200">
              <a:lnSpc>
                <a:spcPct val="90000"/>
              </a:lnSpc>
              <a:tabLst>
                <a:tab pos="739775" algn="l"/>
                <a:tab pos="1020763" algn="l"/>
                <a:tab pos="1257300" algn="l"/>
              </a:tabLst>
            </a:pPr>
            <a:r>
              <a:rPr lang="en-US" altLang="en-US" sz="2800" dirty="0">
                <a:solidFill>
                  <a:schemeClr val="bg2"/>
                </a:solidFill>
                <a:latin typeface="+mn-lt"/>
              </a:rPr>
              <a:t>int turn; </a:t>
            </a:r>
          </a:p>
          <a:p>
            <a:pPr lvl="1" indent="-457200">
              <a:lnSpc>
                <a:spcPct val="90000"/>
              </a:lnSpc>
              <a:tabLst>
                <a:tab pos="739775" algn="l"/>
                <a:tab pos="1020763" algn="l"/>
                <a:tab pos="1257300" algn="l"/>
              </a:tabLst>
            </a:pPr>
            <a:r>
              <a:rPr lang="en-US" altLang="en-US" sz="2800" dirty="0" err="1">
                <a:solidFill>
                  <a:schemeClr val="bg2"/>
                </a:solidFill>
                <a:latin typeface="+mn-lt"/>
              </a:rPr>
              <a:t>boolean</a:t>
            </a:r>
            <a:r>
              <a:rPr lang="en-US" altLang="en-US" sz="2800" dirty="0">
                <a:solidFill>
                  <a:schemeClr val="bg2"/>
                </a:solidFill>
                <a:latin typeface="+mn-lt"/>
              </a:rPr>
              <a:t> flag[2];</a:t>
            </a:r>
          </a:p>
        </p:txBody>
      </p:sp>
      <p:sp>
        <p:nvSpPr>
          <p:cNvPr id="28" name="线形标注 1 13">
            <a:extLst>
              <a:ext uri="{FF2B5EF4-FFF2-40B4-BE49-F238E27FC236}">
                <a16:creationId xmlns:a16="http://schemas.microsoft.com/office/drawing/2014/main" id="{C136262E-B1B1-4009-B8B8-051EF0DC68C5}"/>
              </a:ext>
            </a:extLst>
          </p:cNvPr>
          <p:cNvSpPr>
            <a:spLocks/>
          </p:cNvSpPr>
          <p:nvPr/>
        </p:nvSpPr>
        <p:spPr bwMode="auto">
          <a:xfrm>
            <a:off x="1777763" y="1634829"/>
            <a:ext cx="3509105" cy="360510"/>
          </a:xfrm>
          <a:prstGeom prst="borderCallout1">
            <a:avLst>
              <a:gd name="adj1" fmla="val 71792"/>
              <a:gd name="adj2" fmla="val -2057"/>
              <a:gd name="adj3" fmla="val 124684"/>
              <a:gd name="adj4" fmla="val -20743"/>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400" dirty="0">
                <a:solidFill>
                  <a:schemeClr val="bg2"/>
                </a:solidFill>
              </a:rPr>
              <a:t>轮到哪个线程进入临界区</a:t>
            </a:r>
            <a:endParaRPr lang="zh-CN" altLang="en-US" sz="2400" b="1" dirty="0">
              <a:solidFill>
                <a:schemeClr val="bg2"/>
              </a:solidFill>
            </a:endParaRPr>
          </a:p>
        </p:txBody>
      </p:sp>
      <p:sp>
        <p:nvSpPr>
          <p:cNvPr id="29" name="线形标注 1 13">
            <a:extLst>
              <a:ext uri="{FF2B5EF4-FFF2-40B4-BE49-F238E27FC236}">
                <a16:creationId xmlns:a16="http://schemas.microsoft.com/office/drawing/2014/main" id="{17209740-86F8-41AB-8668-1036C5A4F033}"/>
              </a:ext>
            </a:extLst>
          </p:cNvPr>
          <p:cNvSpPr>
            <a:spLocks/>
          </p:cNvSpPr>
          <p:nvPr/>
        </p:nvSpPr>
        <p:spPr bwMode="auto">
          <a:xfrm>
            <a:off x="3312711" y="2310492"/>
            <a:ext cx="3536656" cy="421848"/>
          </a:xfrm>
          <a:prstGeom prst="borderCallout1">
            <a:avLst>
              <a:gd name="adj1" fmla="val 63004"/>
              <a:gd name="adj2" fmla="val -1358"/>
              <a:gd name="adj3" fmla="val 61292"/>
              <a:gd name="adj4" fmla="val -18800"/>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en-US" altLang="zh-CN" sz="2400" dirty="0">
                <a:solidFill>
                  <a:schemeClr val="bg2"/>
                </a:solidFill>
              </a:rPr>
              <a:t>true:</a:t>
            </a:r>
            <a:r>
              <a:rPr lang="zh-CN" altLang="en-US" sz="2400" dirty="0">
                <a:solidFill>
                  <a:schemeClr val="bg2"/>
                </a:solidFill>
              </a:rPr>
              <a:t>线程准备进入临界区</a:t>
            </a:r>
            <a:endParaRPr lang="zh-CN" altLang="en-US" sz="2400" b="1" dirty="0">
              <a:solidFill>
                <a:schemeClr val="bg2"/>
              </a:solidFill>
            </a:endParaRPr>
          </a:p>
        </p:txBody>
      </p:sp>
      <p:sp>
        <p:nvSpPr>
          <p:cNvPr id="3" name="文本框 2"/>
          <p:cNvSpPr txBox="1"/>
          <p:nvPr/>
        </p:nvSpPr>
        <p:spPr>
          <a:xfrm>
            <a:off x="165910" y="6173374"/>
            <a:ext cx="8984172" cy="535531"/>
          </a:xfrm>
          <a:prstGeom prst="rect">
            <a:avLst/>
          </a:prstGeom>
          <a:noFill/>
        </p:spPr>
        <p:txBody>
          <a:bodyPr wrap="square" rtlCol="0">
            <a:spAutoFit/>
          </a:bodyPr>
          <a:lstStyle/>
          <a:p>
            <a:pPr marL="0" lvl="2" algn="ctr" defTabSz="355600">
              <a:lnSpc>
                <a:spcPct val="90000"/>
              </a:lnSpc>
              <a:buClr>
                <a:schemeClr val="bg1"/>
              </a:buClr>
              <a:buSzPct val="80000"/>
              <a:defRPr/>
            </a:pPr>
            <a:r>
              <a:rPr lang="zh-CN" altLang="en-US" dirty="0">
                <a:solidFill>
                  <a:schemeClr val="accent3">
                    <a:lumMod val="50000"/>
                  </a:schemeClr>
                </a:solidFill>
                <a:effectLst>
                  <a:outerShdw blurRad="38100" dist="38100" dir="2700000" algn="tl">
                    <a:srgbClr val="000000">
                      <a:alpha val="43137"/>
                    </a:srgbClr>
                  </a:outerShdw>
                </a:effectLst>
                <a:latin typeface="+mj-lt"/>
                <a:ea typeface="楷体" panose="02010609060101010101" pitchFamily="49" charset="-122"/>
              </a:rPr>
              <a:t>满足“互斥”、“有空让进”、“有限等待”</a:t>
            </a:r>
            <a:endParaRPr lang="en-US" altLang="zh-CN" dirty="0">
              <a:solidFill>
                <a:schemeClr val="accent3">
                  <a:lumMod val="50000"/>
                </a:schemeClr>
              </a:solidFill>
              <a:effectLst>
                <a:outerShdw blurRad="38100" dist="38100" dir="2700000" algn="tl">
                  <a:srgbClr val="000000">
                    <a:alpha val="43137"/>
                  </a:srgbClr>
                </a:outerShdw>
              </a:effectLst>
              <a:latin typeface="+mj-lt"/>
              <a:ea typeface="楷体" panose="02010609060101010101" pitchFamily="49" charset="-122"/>
            </a:endParaRPr>
          </a:p>
        </p:txBody>
      </p:sp>
      <p:sp>
        <p:nvSpPr>
          <p:cNvPr id="32" name="AutoShape 7">
            <a:hlinkClick r:id="rId4" action="ppaction://hlinksldjump" highlightClick="1"/>
            <a:extLst>
              <a:ext uri="{FF2B5EF4-FFF2-40B4-BE49-F238E27FC236}">
                <a16:creationId xmlns:a16="http://schemas.microsoft.com/office/drawing/2014/main" id="{FC9C3690-7A52-47BF-AF8A-820048CA20CF}"/>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6" name="矩形 25"/>
          <p:cNvSpPr/>
          <p:nvPr/>
        </p:nvSpPr>
        <p:spPr bwMode="auto">
          <a:xfrm>
            <a:off x="4303322" y="2843424"/>
            <a:ext cx="4673209" cy="2940052"/>
          </a:xfrm>
          <a:prstGeom prst="rect">
            <a:avLst/>
          </a:prstGeom>
          <a:solidFill>
            <a:schemeClr val="tx1"/>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grpSp>
        <p:nvGrpSpPr>
          <p:cNvPr id="24" name="组合 23"/>
          <p:cNvGrpSpPr/>
          <p:nvPr/>
        </p:nvGrpSpPr>
        <p:grpSpPr>
          <a:xfrm>
            <a:off x="4487942" y="3377259"/>
            <a:ext cx="4213192" cy="2862884"/>
            <a:chOff x="4704492" y="4051946"/>
            <a:chExt cx="4213192" cy="2862884"/>
          </a:xfrm>
        </p:grpSpPr>
        <p:sp>
          <p:nvSpPr>
            <p:cNvPr id="13" name="Rectangle 34">
              <a:extLst>
                <a:ext uri="{FF2B5EF4-FFF2-40B4-BE49-F238E27FC236}">
                  <a16:creationId xmlns:a16="http://schemas.microsoft.com/office/drawing/2014/main" id="{B0A02771-4048-4CAA-BFE4-C69203228BE0}"/>
                </a:ext>
              </a:extLst>
            </p:cNvPr>
            <p:cNvSpPr>
              <a:spLocks noChangeArrowheads="1"/>
            </p:cNvSpPr>
            <p:nvPr/>
          </p:nvSpPr>
          <p:spPr bwMode="auto">
            <a:xfrm>
              <a:off x="4718746" y="4075475"/>
              <a:ext cx="4198938" cy="227314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rgbClr val="FF0000"/>
                  </a:solidFill>
                </a:rPr>
                <a:t> </a:t>
              </a:r>
            </a:p>
          </p:txBody>
        </p:sp>
        <p:sp>
          <p:nvSpPr>
            <p:cNvPr id="14" name="Text Box 35">
              <a:extLst>
                <a:ext uri="{FF2B5EF4-FFF2-40B4-BE49-F238E27FC236}">
                  <a16:creationId xmlns:a16="http://schemas.microsoft.com/office/drawing/2014/main" id="{B6B868E2-9E3F-425E-BA78-0EAA1A57101C}"/>
                </a:ext>
              </a:extLst>
            </p:cNvPr>
            <p:cNvSpPr txBox="1">
              <a:spLocks noChangeArrowheads="1"/>
            </p:cNvSpPr>
            <p:nvPr/>
          </p:nvSpPr>
          <p:spPr bwMode="auto">
            <a:xfrm>
              <a:off x="4718746" y="4051946"/>
              <a:ext cx="4198938" cy="1200329"/>
            </a:xfrm>
            <a:prstGeom prst="rect">
              <a:avLst/>
            </a:prstGeom>
            <a:solidFill>
              <a:schemeClr val="tx1">
                <a:lumMod val="85000"/>
              </a:schemeClr>
            </a:solidFill>
            <a:ln w="9525">
              <a:noFill/>
              <a:miter lim="800000"/>
              <a:headEnd/>
              <a:tailEnd/>
            </a:ln>
            <a:effectLst/>
            <a:extLst/>
          </p:spPr>
          <p:txBody>
            <a:bodyPr>
              <a:spAutoFit/>
            </a:bodyPr>
            <a:lstStyle/>
            <a:p>
              <a:pPr>
                <a:spcBef>
                  <a:spcPts val="0"/>
                </a:spcBef>
              </a:pPr>
              <a:r>
                <a:rPr lang="en-US" altLang="zh-CN" sz="2400" dirty="0">
                  <a:solidFill>
                    <a:schemeClr val="bg2"/>
                  </a:solidFill>
                  <a:latin typeface="+mn-lt"/>
                </a:rPr>
                <a:t>flag[1] = true;</a:t>
              </a:r>
            </a:p>
            <a:p>
              <a:pPr>
                <a:spcBef>
                  <a:spcPts val="0"/>
                </a:spcBef>
              </a:pPr>
              <a:r>
                <a:rPr lang="en-US" altLang="zh-CN" sz="2400" dirty="0">
                  <a:solidFill>
                    <a:schemeClr val="bg2"/>
                  </a:solidFill>
                  <a:latin typeface="+mn-lt"/>
                </a:rPr>
                <a:t>turn = 0;</a:t>
              </a:r>
            </a:p>
            <a:p>
              <a:pPr>
                <a:spcBef>
                  <a:spcPts val="0"/>
                </a:spcBef>
              </a:pPr>
              <a:r>
                <a:rPr lang="en-US" altLang="zh-CN" sz="2400" dirty="0">
                  <a:solidFill>
                    <a:schemeClr val="bg2"/>
                  </a:solidFill>
                  <a:latin typeface="+mn-lt"/>
                </a:rPr>
                <a:t>while (flag[0] &amp;&amp; turn == 0) ;</a:t>
              </a:r>
            </a:p>
          </p:txBody>
        </p:sp>
        <p:sp>
          <p:nvSpPr>
            <p:cNvPr id="15" name="Text Box 36">
              <a:extLst>
                <a:ext uri="{FF2B5EF4-FFF2-40B4-BE49-F238E27FC236}">
                  <a16:creationId xmlns:a16="http://schemas.microsoft.com/office/drawing/2014/main" id="{96B8FCFE-625E-455C-AB1C-2D9F2DF3711B}"/>
                </a:ext>
              </a:extLst>
            </p:cNvPr>
            <p:cNvSpPr txBox="1">
              <a:spLocks noChangeArrowheads="1"/>
            </p:cNvSpPr>
            <p:nvPr/>
          </p:nvSpPr>
          <p:spPr bwMode="auto">
            <a:xfrm>
              <a:off x="4737769" y="5261478"/>
              <a:ext cx="2142589" cy="369332"/>
            </a:xfrm>
            <a:prstGeom prst="rect">
              <a:avLst/>
            </a:prstGeom>
            <a:solidFill>
              <a:srgbClr val="FF00FF"/>
            </a:solidFill>
            <a:ln>
              <a:noFill/>
            </a:ln>
            <a:effectLst/>
            <a:extLst/>
          </p:spPr>
          <p:txBody>
            <a:bodyPr wrap="square" lIns="0" tIns="0" rIns="0" bIns="0">
              <a:spAutoFit/>
            </a:bodyPr>
            <a:lstStyle/>
            <a:p>
              <a:pPr algn="ctr">
                <a:spcBef>
                  <a:spcPct val="50000"/>
                </a:spcBef>
              </a:pPr>
              <a:r>
                <a:rPr lang="zh-CN" altLang="en-US" sz="2400" b="1" dirty="0">
                  <a:solidFill>
                    <a:schemeClr val="bg2"/>
                  </a:solidFill>
                </a:rPr>
                <a:t>临界区</a:t>
              </a:r>
            </a:p>
          </p:txBody>
        </p:sp>
        <p:sp>
          <p:nvSpPr>
            <p:cNvPr id="16" name="Text Box 37">
              <a:extLst>
                <a:ext uri="{FF2B5EF4-FFF2-40B4-BE49-F238E27FC236}">
                  <a16:creationId xmlns:a16="http://schemas.microsoft.com/office/drawing/2014/main" id="{BD331511-6E94-4A55-B42E-64E064CAC027}"/>
                </a:ext>
              </a:extLst>
            </p:cNvPr>
            <p:cNvSpPr txBox="1">
              <a:spLocks noChangeArrowheads="1"/>
            </p:cNvSpPr>
            <p:nvPr/>
          </p:nvSpPr>
          <p:spPr bwMode="auto">
            <a:xfrm>
              <a:off x="4704492" y="5653636"/>
              <a:ext cx="2160000" cy="369332"/>
            </a:xfrm>
            <a:prstGeom prst="rect">
              <a:avLst/>
            </a:prstGeom>
            <a:solidFill>
              <a:schemeClr val="tx1">
                <a:lumMod val="85000"/>
              </a:schemeClr>
            </a:solidFill>
            <a:ln w="9525">
              <a:noFill/>
              <a:miter lim="800000"/>
              <a:headEnd/>
              <a:tailEnd/>
            </a:ln>
            <a:effectLst/>
            <a:extLst/>
          </p:spPr>
          <p:txBody>
            <a:bodyPr wrap="square" lIns="0" tIns="0" rIns="0" bIns="0">
              <a:spAutoFit/>
            </a:bodyPr>
            <a:lstStyle/>
            <a:p>
              <a:pPr>
                <a:spcBef>
                  <a:spcPct val="50000"/>
                </a:spcBef>
              </a:pPr>
              <a:r>
                <a:rPr lang="en-US" altLang="zh-CN" sz="2400" dirty="0">
                  <a:solidFill>
                    <a:schemeClr val="bg2"/>
                  </a:solidFill>
                  <a:latin typeface="+mn-lt"/>
                </a:rPr>
                <a:t>flag[1] = false;</a:t>
              </a:r>
            </a:p>
          </p:txBody>
        </p:sp>
        <p:sp>
          <p:nvSpPr>
            <p:cNvPr id="17" name="Text Box 38">
              <a:extLst>
                <a:ext uri="{FF2B5EF4-FFF2-40B4-BE49-F238E27FC236}">
                  <a16:creationId xmlns:a16="http://schemas.microsoft.com/office/drawing/2014/main" id="{312DBCFB-5C72-4FE7-839D-BD93572B862F}"/>
                </a:ext>
              </a:extLst>
            </p:cNvPr>
            <p:cNvSpPr txBox="1">
              <a:spLocks noChangeArrowheads="1"/>
            </p:cNvSpPr>
            <p:nvPr/>
          </p:nvSpPr>
          <p:spPr bwMode="auto">
            <a:xfrm>
              <a:off x="4704492" y="5974185"/>
              <a:ext cx="2160000" cy="461665"/>
            </a:xfrm>
            <a:prstGeom prst="rect">
              <a:avLst/>
            </a:prstGeom>
            <a:solidFill>
              <a:schemeClr val="tx1">
                <a:lumMod val="8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400" dirty="0">
                  <a:solidFill>
                    <a:srgbClr val="7A007A"/>
                  </a:solidFill>
                </a:rPr>
                <a:t>剩余区</a:t>
              </a:r>
            </a:p>
          </p:txBody>
        </p:sp>
        <p:sp>
          <p:nvSpPr>
            <p:cNvPr id="18" name="Rectangle 39">
              <a:extLst>
                <a:ext uri="{FF2B5EF4-FFF2-40B4-BE49-F238E27FC236}">
                  <a16:creationId xmlns:a16="http://schemas.microsoft.com/office/drawing/2014/main" id="{BF82650E-FA21-4340-AB6F-DE9D6AB005A1}"/>
                </a:ext>
              </a:extLst>
            </p:cNvPr>
            <p:cNvSpPr>
              <a:spLocks noChangeArrowheads="1"/>
            </p:cNvSpPr>
            <p:nvPr/>
          </p:nvSpPr>
          <p:spPr bwMode="auto">
            <a:xfrm>
              <a:off x="4978536" y="6457630"/>
              <a:ext cx="1989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400" b="1" dirty="0">
                  <a:solidFill>
                    <a:schemeClr val="bg2"/>
                  </a:solidFill>
                </a:rPr>
                <a:t>线程</a:t>
              </a:r>
              <a:r>
                <a:rPr lang="en-US" altLang="zh-CN" sz="2400" b="1" dirty="0">
                  <a:solidFill>
                    <a:schemeClr val="bg2"/>
                  </a:solidFill>
                </a:rPr>
                <a:t>P</a:t>
              </a:r>
              <a:r>
                <a:rPr lang="en-US" altLang="zh-CN" sz="2400" b="1" baseline="-25000" dirty="0">
                  <a:solidFill>
                    <a:schemeClr val="bg2"/>
                  </a:solidFill>
                </a:rPr>
                <a:t>1</a:t>
              </a:r>
            </a:p>
          </p:txBody>
        </p:sp>
      </p:grpSp>
    </p:spTree>
    <p:extLst>
      <p:ext uri="{BB962C8B-B14F-4D97-AF65-F5344CB8AC3E}">
        <p14:creationId xmlns:p14="http://schemas.microsoft.com/office/powerpoint/2010/main" val="3676556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1000"/>
                                        <p:tgtEl>
                                          <p:spTgt spid="28"/>
                                        </p:tgtEl>
                                      </p:cBhvr>
                                    </p:animEffect>
                                    <p:anim calcmode="lin" valueType="num">
                                      <p:cBhvr>
                                        <p:cTn id="13" dur="1000" fill="hold"/>
                                        <p:tgtEl>
                                          <p:spTgt spid="28"/>
                                        </p:tgtEl>
                                        <p:attrNameLst>
                                          <p:attrName>ppt_x</p:attrName>
                                        </p:attrNameLst>
                                      </p:cBhvr>
                                      <p:tavLst>
                                        <p:tav tm="0">
                                          <p:val>
                                            <p:strVal val="#ppt_x"/>
                                          </p:val>
                                        </p:tav>
                                        <p:tav tm="100000">
                                          <p:val>
                                            <p:strVal val="#ppt_x"/>
                                          </p:val>
                                        </p:tav>
                                      </p:tavLst>
                                    </p:anim>
                                    <p:anim calcmode="lin" valueType="num">
                                      <p:cBhvr>
                                        <p:cTn id="1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1000"/>
                                        <p:tgtEl>
                                          <p:spTgt spid="29"/>
                                        </p:tgtEl>
                                      </p:cBhvr>
                                    </p:animEffect>
                                    <p:anim calcmode="lin" valueType="num">
                                      <p:cBhvr>
                                        <p:cTn id="20" dur="1000" fill="hold"/>
                                        <p:tgtEl>
                                          <p:spTgt spid="29"/>
                                        </p:tgtEl>
                                        <p:attrNameLst>
                                          <p:attrName>ppt_x</p:attrName>
                                        </p:attrNameLst>
                                      </p:cBhvr>
                                      <p:tavLst>
                                        <p:tav tm="0">
                                          <p:val>
                                            <p:strVal val="#ppt_x"/>
                                          </p:val>
                                        </p:tav>
                                        <p:tav tm="100000">
                                          <p:val>
                                            <p:strVal val="#ppt_x"/>
                                          </p:val>
                                        </p:tav>
                                      </p:tavLst>
                                    </p:anim>
                                    <p:anim calcmode="lin" valueType="num">
                                      <p:cBhvr>
                                        <p:cTn id="2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1000"/>
                                        <p:tgtEl>
                                          <p:spTgt spid="23"/>
                                        </p:tgtEl>
                                      </p:cBhvr>
                                    </p:animEffect>
                                    <p:anim calcmode="lin" valueType="num">
                                      <p:cBhvr>
                                        <p:cTn id="27" dur="1000" fill="hold"/>
                                        <p:tgtEl>
                                          <p:spTgt spid="23"/>
                                        </p:tgtEl>
                                        <p:attrNameLst>
                                          <p:attrName>ppt_x</p:attrName>
                                        </p:attrNameLst>
                                      </p:cBhvr>
                                      <p:tavLst>
                                        <p:tav tm="0">
                                          <p:val>
                                            <p:strVal val="#ppt_x"/>
                                          </p:val>
                                        </p:tav>
                                        <p:tav tm="100000">
                                          <p:val>
                                            <p:strVal val="#ppt_x"/>
                                          </p:val>
                                        </p:tav>
                                      </p:tavLst>
                                    </p:anim>
                                    <p:anim calcmode="lin" valueType="num">
                                      <p:cBhvr>
                                        <p:cTn id="28"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1000"/>
                                        <p:tgtEl>
                                          <p:spTgt spid="24"/>
                                        </p:tgtEl>
                                      </p:cBhvr>
                                    </p:animEffect>
                                    <p:anim calcmode="lin" valueType="num">
                                      <p:cBhvr>
                                        <p:cTn id="44" dur="1000" fill="hold"/>
                                        <p:tgtEl>
                                          <p:spTgt spid="24"/>
                                        </p:tgtEl>
                                        <p:attrNameLst>
                                          <p:attrName>ppt_x</p:attrName>
                                        </p:attrNameLst>
                                      </p:cBhvr>
                                      <p:tavLst>
                                        <p:tav tm="0">
                                          <p:val>
                                            <p:strVal val="#ppt_x"/>
                                          </p:val>
                                        </p:tav>
                                        <p:tav tm="100000">
                                          <p:val>
                                            <p:strVal val="#ppt_x"/>
                                          </p:val>
                                        </p:tav>
                                      </p:tavLst>
                                    </p:anim>
                                    <p:anim calcmode="lin" valueType="num">
                                      <p:cBhvr>
                                        <p:cTn id="45"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fade">
                                      <p:cBhvr>
                                        <p:cTn id="50" dur="500"/>
                                        <p:tgtEl>
                                          <p:spTgt spid="3"/>
                                        </p:tgtEl>
                                      </p:cBhvr>
                                    </p:animEffect>
                                  </p:childTnLst>
                                </p:cTn>
                              </p:par>
                            </p:childTnLst>
                          </p:cTn>
                        </p:par>
                        <p:par>
                          <p:cTn id="51" fill="hold">
                            <p:stCondLst>
                              <p:cond delay="500"/>
                            </p:stCondLst>
                            <p:childTnLst>
                              <p:par>
                                <p:cTn id="52" presetID="2" presetClass="entr" presetSubtype="8" fill="hold" grpId="0" nodeType="afterEffect">
                                  <p:stCondLst>
                                    <p:cond delay="0"/>
                                  </p:stCondLst>
                                  <p:childTnLst>
                                    <p:set>
                                      <p:cBhvr>
                                        <p:cTn id="53" dur="1" fill="hold">
                                          <p:stCondLst>
                                            <p:cond delay="0"/>
                                          </p:stCondLst>
                                        </p:cTn>
                                        <p:tgtEl>
                                          <p:spTgt spid="32"/>
                                        </p:tgtEl>
                                        <p:attrNameLst>
                                          <p:attrName>style.visibility</p:attrName>
                                        </p:attrNameLst>
                                      </p:cBhvr>
                                      <p:to>
                                        <p:strVal val="visible"/>
                                      </p:to>
                                    </p:set>
                                    <p:anim calcmode="lin" valueType="num">
                                      <p:cBhvr additive="base">
                                        <p:cTn id="54" dur="500" fill="hold"/>
                                        <p:tgtEl>
                                          <p:spTgt spid="32"/>
                                        </p:tgtEl>
                                        <p:attrNameLst>
                                          <p:attrName>ppt_x</p:attrName>
                                        </p:attrNameLst>
                                      </p:cBhvr>
                                      <p:tavLst>
                                        <p:tav tm="0">
                                          <p:val>
                                            <p:strVal val="0-#ppt_w/2"/>
                                          </p:val>
                                        </p:tav>
                                        <p:tav tm="100000">
                                          <p:val>
                                            <p:strVal val="#ppt_x"/>
                                          </p:val>
                                        </p:tav>
                                      </p:tavLst>
                                    </p:anim>
                                    <p:anim calcmode="lin" valueType="num">
                                      <p:cBhvr additive="base">
                                        <p:cTn id="55" dur="5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 grpId="0"/>
      <p:bldP spid="32" grpId="0" animBg="1"/>
      <p:bldP spid="2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F596DDF-1D38-44E2-B4E6-A725020AC635}"/>
              </a:ext>
            </a:extLst>
          </p:cNvPr>
          <p:cNvSpPr/>
          <p:nvPr/>
        </p:nvSpPr>
        <p:spPr>
          <a:xfrm>
            <a:off x="2630123" y="-106765"/>
            <a:ext cx="3717684" cy="904863"/>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5.4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硬 件 互 斥</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5" name="矩形 4">
            <a:extLst>
              <a:ext uri="{FF2B5EF4-FFF2-40B4-BE49-F238E27FC236}">
                <a16:creationId xmlns:a16="http://schemas.microsoft.com/office/drawing/2014/main" id="{6843F66B-96E4-45F2-BF35-5D834080DB9E}"/>
              </a:ext>
            </a:extLst>
          </p:cNvPr>
          <p:cNvSpPr/>
          <p:nvPr/>
        </p:nvSpPr>
        <p:spPr>
          <a:xfrm>
            <a:off x="2699792" y="1621715"/>
            <a:ext cx="4680520" cy="707886"/>
          </a:xfrm>
          <a:prstGeom prst="rect">
            <a:avLst/>
          </a:prstGeom>
        </p:spPr>
        <p:txBody>
          <a:bodyPr wrap="square">
            <a:spAutoFit/>
          </a:bodyPr>
          <a:lstStyle/>
          <a:p>
            <a:pPr marL="0" lvl="1" indent="-274638"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禁 止 中 断</a:t>
            </a:r>
          </a:p>
        </p:txBody>
      </p:sp>
      <p:sp>
        <p:nvSpPr>
          <p:cNvPr id="6" name="文本框 5">
            <a:extLst>
              <a:ext uri="{FF2B5EF4-FFF2-40B4-BE49-F238E27FC236}">
                <a16:creationId xmlns:a16="http://schemas.microsoft.com/office/drawing/2014/main" id="{D7F43D0D-3CDF-4E54-89BA-9B3E24CD90AA}"/>
              </a:ext>
            </a:extLst>
          </p:cNvPr>
          <p:cNvSpPr txBox="1"/>
          <p:nvPr/>
        </p:nvSpPr>
        <p:spPr>
          <a:xfrm>
            <a:off x="2699792" y="2636912"/>
            <a:ext cx="4476754" cy="707886"/>
          </a:xfrm>
          <a:prstGeom prst="rect">
            <a:avLst/>
          </a:prstGeom>
          <a:noFill/>
        </p:spPr>
        <p:txBody>
          <a:bodyPr wrap="square" rtlCol="0">
            <a:spAutoFit/>
          </a:bodyPr>
          <a:lstStyle/>
          <a:p>
            <a:pPr marL="0" lvl="1" indent="-274638"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硬 件 原 子 指 令</a:t>
            </a:r>
          </a:p>
        </p:txBody>
      </p:sp>
      <p:sp>
        <p:nvSpPr>
          <p:cNvPr id="8"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2507497"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计算机科学与技术系</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264325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1670AF4-4C65-4606-A8D0-9B0AEC2E03AC}"/>
              </a:ext>
            </a:extLst>
          </p:cNvPr>
          <p:cNvSpPr/>
          <p:nvPr/>
        </p:nvSpPr>
        <p:spPr>
          <a:xfrm>
            <a:off x="2987824" y="10061"/>
            <a:ext cx="3168352" cy="707886"/>
          </a:xfrm>
          <a:prstGeom prst="rect">
            <a:avLst/>
          </a:prstGeom>
        </p:spPr>
        <p:txBody>
          <a:bodyPr wrap="square">
            <a:spAutoFit/>
          </a:bodyPr>
          <a:lstStyle/>
          <a:p>
            <a:pPr marL="0" lvl="1" indent="-274638"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禁 止 中 断</a:t>
            </a:r>
          </a:p>
        </p:txBody>
      </p:sp>
      <p:sp>
        <p:nvSpPr>
          <p:cNvPr id="9" name="Rectangle 3">
            <a:extLst>
              <a:ext uri="{FF2B5EF4-FFF2-40B4-BE49-F238E27FC236}">
                <a16:creationId xmlns:a16="http://schemas.microsoft.com/office/drawing/2014/main" id="{2D9C22E2-A132-49D8-A8F8-AB602991AABD}"/>
              </a:ext>
            </a:extLst>
          </p:cNvPr>
          <p:cNvSpPr txBox="1">
            <a:spLocks noChangeArrowheads="1"/>
          </p:cNvSpPr>
          <p:nvPr/>
        </p:nvSpPr>
        <p:spPr>
          <a:xfrm>
            <a:off x="0" y="3789040"/>
            <a:ext cx="9252520" cy="2554288"/>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Tx/>
              <a:buSzPct val="8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屏蔽中断后时钟中断也被屏蔽、不会引发调度</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812800" lvl="3" indent="-355600" defTabSz="355600">
              <a:lnSpc>
                <a:spcPct val="90000"/>
              </a:lnSpc>
              <a:spcBef>
                <a:spcPct val="0"/>
              </a:spcBef>
              <a:buClrTx/>
              <a:buSzPct val="80000"/>
              <a:buFont typeface="Wingdings" panose="05000000000000000000" pitchFamily="2" charset="2"/>
              <a:buChar char="n"/>
              <a:defRPr/>
            </a:pP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同一</a:t>
            </a:r>
            <a:r>
              <a:rPr lang="en-US" altLang="zh-CN"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CPU</a:t>
            </a: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上不可能调度其它线程</a:t>
            </a:r>
            <a:endParaRPr lang="en-US" altLang="zh-CN" sz="3200"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355600" lvl="2" indent="-355600" defTabSz="355600">
              <a:lnSpc>
                <a:spcPct val="90000"/>
              </a:lnSpc>
              <a:spcBef>
                <a:spcPct val="0"/>
              </a:spcBef>
              <a:buClrTx/>
              <a:buSzPct val="8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用于单处理器系统</a:t>
            </a:r>
            <a:endParaRPr lang="en-US" altLang="zh-CN" sz="3600"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812800" lvl="3" indent="-355600" defTabSz="355600">
              <a:lnSpc>
                <a:spcPct val="90000"/>
              </a:lnSpc>
              <a:spcBef>
                <a:spcPct val="0"/>
              </a:spcBef>
              <a:buClrTx/>
              <a:buSzPct val="80000"/>
              <a:buFont typeface="Wingdings" panose="05000000000000000000" pitchFamily="2" charset="2"/>
              <a:buChar char="n"/>
              <a:defRPr/>
            </a:pP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屏蔽中断仅对执行关中断指令的那个</a:t>
            </a:r>
            <a:r>
              <a:rPr lang="en-US" altLang="zh-CN"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CPU</a:t>
            </a: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有效</a:t>
            </a:r>
            <a:endParaRPr lang="en-US" altLang="zh-CN" sz="3200"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355600" lvl="2" indent="-355600" defTabSz="355600">
              <a:lnSpc>
                <a:spcPct val="90000"/>
              </a:lnSpc>
              <a:spcBef>
                <a:spcPct val="0"/>
              </a:spcBef>
              <a:buClrTx/>
              <a:buSzPct val="8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缺点：用户控制系统中断非常危险</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p:txBody>
      </p:sp>
      <p:sp>
        <p:nvSpPr>
          <p:cNvPr id="11" name="Text Box 5">
            <a:extLst>
              <a:ext uri="{FF2B5EF4-FFF2-40B4-BE49-F238E27FC236}">
                <a16:creationId xmlns:a16="http://schemas.microsoft.com/office/drawing/2014/main" id="{00ECBC1F-26D1-47B7-BF82-1C500715E850}"/>
              </a:ext>
            </a:extLst>
          </p:cNvPr>
          <p:cNvSpPr txBox="1">
            <a:spLocks noChangeArrowheads="1"/>
          </p:cNvSpPr>
          <p:nvPr/>
        </p:nvSpPr>
        <p:spPr bwMode="auto">
          <a:xfrm>
            <a:off x="1068260" y="740309"/>
            <a:ext cx="2952378" cy="2554545"/>
          </a:xfrm>
          <a:prstGeom prst="rect">
            <a:avLst/>
          </a:prstGeom>
          <a:solidFill>
            <a:schemeClr val="tx1">
              <a:lumMod val="95000"/>
            </a:schemeClr>
          </a:solidFill>
          <a:ln w="9525">
            <a:solidFill>
              <a:srgbClr val="9C4E00"/>
            </a:solidFill>
            <a:miter lim="800000"/>
            <a:headEnd/>
            <a:tailEnd/>
          </a:ln>
          <a:effectLst/>
        </p:spPr>
        <p:txBody>
          <a:bodyPr wrap="square">
            <a:spAutoFit/>
          </a:bodyPr>
          <a:lstStyle/>
          <a:p>
            <a:pPr algn="ctr">
              <a:spcBef>
                <a:spcPct val="50000"/>
              </a:spcBef>
            </a:pPr>
            <a:r>
              <a:rPr lang="zh-CN" altLang="en-US" sz="2800" dirty="0">
                <a:solidFill>
                  <a:srgbClr val="9C4E00"/>
                </a:solidFill>
                <a:effectLst>
                  <a:outerShdw blurRad="38100" dist="38100" dir="2700000" algn="tl">
                    <a:srgbClr val="C0C0C0"/>
                  </a:outerShdw>
                </a:effectLst>
                <a:latin typeface="+mn-lt"/>
              </a:rPr>
              <a:t>线</a:t>
            </a:r>
            <a:r>
              <a:rPr lang="zh-CN" altLang="en-US" sz="2800" b="1" dirty="0">
                <a:solidFill>
                  <a:srgbClr val="9C4E00"/>
                </a:solidFill>
                <a:effectLst>
                  <a:outerShdw blurRad="38100" dist="38100" dir="2700000" algn="tl">
                    <a:srgbClr val="C0C0C0"/>
                  </a:outerShdw>
                </a:effectLst>
                <a:latin typeface="+mn-lt"/>
              </a:rPr>
              <a:t>程</a:t>
            </a:r>
            <a:r>
              <a:rPr lang="en-US" altLang="zh-CN" sz="2800" b="1" dirty="0">
                <a:solidFill>
                  <a:srgbClr val="9C4E00"/>
                </a:solidFill>
                <a:effectLst>
                  <a:outerShdw blurRad="38100" dist="38100" dir="2700000" algn="tl">
                    <a:srgbClr val="C0C0C0"/>
                  </a:outerShdw>
                </a:effectLst>
                <a:latin typeface="+mn-lt"/>
              </a:rPr>
              <a:t>A</a:t>
            </a:r>
          </a:p>
          <a:p>
            <a:pPr>
              <a:spcBef>
                <a:spcPct val="50000"/>
              </a:spcBef>
            </a:pPr>
            <a:r>
              <a:rPr lang="en-US" altLang="zh-CN" sz="2800" b="1" dirty="0" err="1">
                <a:solidFill>
                  <a:srgbClr val="FF0000"/>
                </a:solidFill>
                <a:effectLst>
                  <a:outerShdw blurRad="38100" dist="38100" dir="2700000" algn="tl">
                    <a:srgbClr val="C0C0C0"/>
                  </a:outerShdw>
                </a:effectLst>
                <a:latin typeface="+mn-lt"/>
              </a:rPr>
              <a:t>Close_INT</a:t>
            </a:r>
            <a:r>
              <a:rPr lang="en-US" altLang="zh-CN" sz="2800" b="1" dirty="0">
                <a:solidFill>
                  <a:srgbClr val="FF0000"/>
                </a:solidFill>
                <a:effectLst>
                  <a:outerShdw blurRad="38100" dist="38100" dir="2700000" algn="tl">
                    <a:srgbClr val="C0C0C0"/>
                  </a:outerShdw>
                </a:effectLst>
                <a:latin typeface="+mn-lt"/>
              </a:rPr>
              <a:t>;</a:t>
            </a:r>
          </a:p>
          <a:p>
            <a:pPr>
              <a:spcBef>
                <a:spcPct val="50000"/>
              </a:spcBef>
            </a:pPr>
            <a:r>
              <a:rPr lang="en-US" altLang="zh-CN" sz="2800" b="1" dirty="0" err="1">
                <a:solidFill>
                  <a:srgbClr val="9C4E00"/>
                </a:solidFill>
                <a:effectLst>
                  <a:outerShdw blurRad="38100" dist="38100" dir="2700000" algn="tl">
                    <a:srgbClr val="C0C0C0"/>
                  </a:outerShdw>
                </a:effectLst>
                <a:latin typeface="+mn-lt"/>
              </a:rPr>
              <a:t>Critical_region</a:t>
            </a:r>
            <a:r>
              <a:rPr lang="en-US" altLang="zh-CN" sz="2800" b="1" dirty="0">
                <a:solidFill>
                  <a:srgbClr val="9C4E00"/>
                </a:solidFill>
                <a:effectLst>
                  <a:outerShdw blurRad="38100" dist="38100" dir="2700000" algn="tl">
                    <a:srgbClr val="C0C0C0"/>
                  </a:outerShdw>
                </a:effectLst>
                <a:latin typeface="+mn-lt"/>
              </a:rPr>
              <a:t>();</a:t>
            </a:r>
          </a:p>
          <a:p>
            <a:pPr>
              <a:spcBef>
                <a:spcPct val="50000"/>
              </a:spcBef>
            </a:pPr>
            <a:r>
              <a:rPr lang="en-US" altLang="zh-CN" sz="2800" b="1" dirty="0" err="1">
                <a:solidFill>
                  <a:srgbClr val="FF0000"/>
                </a:solidFill>
                <a:effectLst>
                  <a:outerShdw blurRad="38100" dist="38100" dir="2700000" algn="tl">
                    <a:srgbClr val="C0C0C0"/>
                  </a:outerShdw>
                </a:effectLst>
                <a:latin typeface="+mn-lt"/>
              </a:rPr>
              <a:t>Open_INT</a:t>
            </a:r>
            <a:r>
              <a:rPr lang="en-US" altLang="zh-CN" sz="2800" b="1" dirty="0">
                <a:solidFill>
                  <a:srgbClr val="FF0000"/>
                </a:solidFill>
                <a:effectLst>
                  <a:outerShdw blurRad="38100" dist="38100" dir="2700000" algn="tl">
                    <a:srgbClr val="C0C0C0"/>
                  </a:outerShdw>
                </a:effectLst>
                <a:latin typeface="+mn-lt"/>
              </a:rPr>
              <a:t>;</a:t>
            </a:r>
            <a:r>
              <a:rPr lang="en-US" altLang="zh-CN" b="1" dirty="0">
                <a:solidFill>
                  <a:srgbClr val="9C4E00"/>
                </a:solidFill>
                <a:effectLst>
                  <a:outerShdw blurRad="38100" dist="38100" dir="2700000" algn="tl">
                    <a:srgbClr val="C0C0C0"/>
                  </a:outerShdw>
                </a:effectLst>
              </a:rPr>
              <a:t>	</a:t>
            </a:r>
          </a:p>
        </p:txBody>
      </p:sp>
      <p:sp>
        <p:nvSpPr>
          <p:cNvPr id="12" name="Text Box 6">
            <a:extLst>
              <a:ext uri="{FF2B5EF4-FFF2-40B4-BE49-F238E27FC236}">
                <a16:creationId xmlns:a16="http://schemas.microsoft.com/office/drawing/2014/main" id="{1A53D717-E71B-4A8C-9642-D2CE1437DC36}"/>
              </a:ext>
            </a:extLst>
          </p:cNvPr>
          <p:cNvSpPr txBox="1">
            <a:spLocks noChangeArrowheads="1"/>
          </p:cNvSpPr>
          <p:nvPr/>
        </p:nvSpPr>
        <p:spPr bwMode="auto">
          <a:xfrm>
            <a:off x="5119410" y="740309"/>
            <a:ext cx="3052990" cy="2554545"/>
          </a:xfrm>
          <a:prstGeom prst="rect">
            <a:avLst/>
          </a:prstGeom>
          <a:solidFill>
            <a:schemeClr val="tx1">
              <a:lumMod val="95000"/>
            </a:schemeClr>
          </a:solidFill>
          <a:ln w="9525">
            <a:solidFill>
              <a:srgbClr val="9C4E00"/>
            </a:solidFill>
            <a:miter lim="800000"/>
            <a:headEnd/>
            <a:tailEnd/>
          </a:ln>
          <a:effectLst/>
        </p:spPr>
        <p:txBody>
          <a:bodyPr wrap="square">
            <a:spAutoFit/>
          </a:bodyPr>
          <a:lstStyle/>
          <a:p>
            <a:pPr algn="ctr">
              <a:spcBef>
                <a:spcPct val="50000"/>
              </a:spcBef>
            </a:pPr>
            <a:r>
              <a:rPr lang="zh-CN" altLang="en-US" sz="2800" dirty="0">
                <a:solidFill>
                  <a:srgbClr val="9C4E00"/>
                </a:solidFill>
                <a:effectLst>
                  <a:outerShdw blurRad="38100" dist="38100" dir="2700000" algn="tl">
                    <a:srgbClr val="C0C0C0"/>
                  </a:outerShdw>
                </a:effectLst>
                <a:latin typeface="+mn-lt"/>
              </a:rPr>
              <a:t>线程</a:t>
            </a:r>
            <a:r>
              <a:rPr lang="en-US" altLang="zh-CN" sz="2800" dirty="0">
                <a:solidFill>
                  <a:srgbClr val="9C4E00"/>
                </a:solidFill>
                <a:effectLst>
                  <a:outerShdw blurRad="38100" dist="38100" dir="2700000" algn="tl">
                    <a:srgbClr val="C0C0C0"/>
                  </a:outerShdw>
                </a:effectLst>
                <a:latin typeface="+mn-lt"/>
              </a:rPr>
              <a:t>B</a:t>
            </a:r>
          </a:p>
          <a:p>
            <a:pPr>
              <a:spcBef>
                <a:spcPct val="50000"/>
              </a:spcBef>
            </a:pPr>
            <a:r>
              <a:rPr lang="en-US" altLang="zh-CN" sz="2800" dirty="0" err="1">
                <a:solidFill>
                  <a:srgbClr val="FF0000"/>
                </a:solidFill>
                <a:effectLst>
                  <a:outerShdw blurRad="38100" dist="38100" dir="2700000" algn="tl">
                    <a:srgbClr val="C0C0C0"/>
                  </a:outerShdw>
                </a:effectLst>
                <a:latin typeface="+mn-lt"/>
              </a:rPr>
              <a:t>Close_INT</a:t>
            </a:r>
            <a:r>
              <a:rPr lang="en-US" altLang="zh-CN" sz="2800" dirty="0">
                <a:solidFill>
                  <a:srgbClr val="FF0000"/>
                </a:solidFill>
                <a:effectLst>
                  <a:outerShdw blurRad="38100" dist="38100" dir="2700000" algn="tl">
                    <a:srgbClr val="C0C0C0"/>
                  </a:outerShdw>
                </a:effectLst>
                <a:latin typeface="+mn-lt"/>
              </a:rPr>
              <a:t>;</a:t>
            </a:r>
          </a:p>
          <a:p>
            <a:pPr>
              <a:spcBef>
                <a:spcPct val="50000"/>
              </a:spcBef>
            </a:pPr>
            <a:r>
              <a:rPr lang="en-US" altLang="zh-CN" sz="2800" dirty="0" err="1">
                <a:solidFill>
                  <a:srgbClr val="9C4E00"/>
                </a:solidFill>
                <a:effectLst>
                  <a:outerShdw blurRad="38100" dist="38100" dir="2700000" algn="tl">
                    <a:srgbClr val="C0C0C0"/>
                  </a:outerShdw>
                </a:effectLst>
                <a:latin typeface="+mn-lt"/>
              </a:rPr>
              <a:t>Critical_region</a:t>
            </a:r>
            <a:r>
              <a:rPr lang="en-US" altLang="zh-CN" sz="2800" dirty="0">
                <a:solidFill>
                  <a:srgbClr val="9C4E00"/>
                </a:solidFill>
                <a:effectLst>
                  <a:outerShdw blurRad="38100" dist="38100" dir="2700000" algn="tl">
                    <a:srgbClr val="C0C0C0"/>
                  </a:outerShdw>
                </a:effectLst>
                <a:latin typeface="+mn-lt"/>
              </a:rPr>
              <a:t>();</a:t>
            </a:r>
          </a:p>
          <a:p>
            <a:pPr>
              <a:spcBef>
                <a:spcPct val="50000"/>
              </a:spcBef>
            </a:pPr>
            <a:r>
              <a:rPr lang="en-US" altLang="zh-CN" sz="2800" dirty="0" err="1">
                <a:solidFill>
                  <a:srgbClr val="FF0000"/>
                </a:solidFill>
                <a:effectLst>
                  <a:outerShdw blurRad="38100" dist="38100" dir="2700000" algn="tl">
                    <a:srgbClr val="C0C0C0"/>
                  </a:outerShdw>
                </a:effectLst>
                <a:latin typeface="+mn-lt"/>
              </a:rPr>
              <a:t>Open_INT</a:t>
            </a:r>
            <a:r>
              <a:rPr lang="en-US" altLang="zh-CN" sz="2800" dirty="0">
                <a:solidFill>
                  <a:srgbClr val="FF0000"/>
                </a:solidFill>
                <a:effectLst>
                  <a:outerShdw blurRad="38100" dist="38100" dir="2700000" algn="tl">
                    <a:srgbClr val="C0C0C0"/>
                  </a:outerShdw>
                </a:effectLst>
                <a:latin typeface="+mn-lt"/>
              </a:rPr>
              <a:t>;</a:t>
            </a:r>
            <a:r>
              <a:rPr lang="en-US" altLang="zh-CN" b="1" dirty="0">
                <a:solidFill>
                  <a:srgbClr val="9C4E00"/>
                </a:solidFill>
                <a:effectLst>
                  <a:outerShdw blurRad="38100" dist="38100" dir="2700000" algn="tl">
                    <a:srgbClr val="C0C0C0"/>
                  </a:outerShdw>
                </a:effectLst>
              </a:rPr>
              <a:t>	</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7" name="文本框 6"/>
          <p:cNvSpPr txBox="1"/>
          <p:nvPr/>
        </p:nvSpPr>
        <p:spPr>
          <a:xfrm>
            <a:off x="5652120" y="6477000"/>
            <a:ext cx="3085232" cy="381000"/>
          </a:xfrm>
          <a:prstGeom prst="rect">
            <a:avLst/>
          </a:prstGeom>
          <a:solidFill>
            <a:srgbClr val="9CA7F6"/>
          </a:solidFill>
        </p:spPr>
        <p:txBody>
          <a:bodyPr wrap="square" tIns="0" bIns="0" rtlCol="0">
            <a:spAutoFit/>
          </a:bodyPr>
          <a:lstStyle/>
          <a:p>
            <a:r>
              <a:rPr lang="zh-CN" altLang="en-US" sz="2400" dirty="0">
                <a:solidFill>
                  <a:schemeClr val="bg2"/>
                </a:solidFill>
                <a:latin typeface="+mn-lt"/>
              </a:rPr>
              <a:t>教材习题   </a:t>
            </a:r>
            <a:r>
              <a:rPr lang="en-US" altLang="zh-CN" sz="2400" dirty="0">
                <a:solidFill>
                  <a:schemeClr val="bg2"/>
                </a:solidFill>
                <a:latin typeface="+mn-lt"/>
              </a:rPr>
              <a:t>5.12   5.13</a:t>
            </a:r>
            <a:endParaRPr lang="zh-CN" altLang="en-US" sz="2400" dirty="0">
              <a:solidFill>
                <a:schemeClr val="bg2"/>
              </a:solidFill>
              <a:latin typeface="+mn-lt"/>
            </a:endParaRPr>
          </a:p>
        </p:txBody>
      </p:sp>
    </p:spTree>
    <p:extLst>
      <p:ext uri="{BB962C8B-B14F-4D97-AF65-F5344CB8AC3E}">
        <p14:creationId xmlns:p14="http://schemas.microsoft.com/office/powerpoint/2010/main" val="108746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xEl>
                                              <p:pRg st="2" end="2"/>
                                            </p:txEl>
                                          </p:spTgt>
                                        </p:tgtEl>
                                        <p:attrNameLst>
                                          <p:attrName>style.visibility</p:attrName>
                                        </p:attrNameLst>
                                      </p:cBhvr>
                                      <p:to>
                                        <p:strVal val="visible"/>
                                      </p:to>
                                    </p:set>
                                    <p:animEffect transition="in" filter="fade">
                                      <p:cBhvr>
                                        <p:cTn id="21" dur="1000"/>
                                        <p:tgtEl>
                                          <p:spTgt spid="9">
                                            <p:txEl>
                                              <p:pRg st="2" end="2"/>
                                            </p:txEl>
                                          </p:spTgt>
                                        </p:tgtEl>
                                      </p:cBhvr>
                                    </p:animEffect>
                                    <p:anim calcmode="lin" valueType="num">
                                      <p:cBhvr>
                                        <p:cTn id="22"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9">
                                            <p:txEl>
                                              <p:pRg st="3" end="3"/>
                                            </p:txEl>
                                          </p:spTgt>
                                        </p:tgtEl>
                                        <p:attrNameLst>
                                          <p:attrName>style.visibility</p:attrName>
                                        </p:attrNameLst>
                                      </p:cBhvr>
                                      <p:to>
                                        <p:strVal val="visible"/>
                                      </p:to>
                                    </p:set>
                                    <p:animEffect transition="in" filter="fade">
                                      <p:cBhvr>
                                        <p:cTn id="26" dur="1000"/>
                                        <p:tgtEl>
                                          <p:spTgt spid="9">
                                            <p:txEl>
                                              <p:pRg st="3" end="3"/>
                                            </p:txEl>
                                          </p:spTgt>
                                        </p:tgtEl>
                                      </p:cBhvr>
                                    </p:animEffect>
                                    <p:anim calcmode="lin" valueType="num">
                                      <p:cBhvr>
                                        <p:cTn id="27"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9">
                                            <p:txEl>
                                              <p:pRg st="4" end="4"/>
                                            </p:txEl>
                                          </p:spTgt>
                                        </p:tgtEl>
                                        <p:attrNameLst>
                                          <p:attrName>style.visibility</p:attrName>
                                        </p:attrNameLst>
                                      </p:cBhvr>
                                      <p:to>
                                        <p:strVal val="visible"/>
                                      </p:to>
                                    </p:set>
                                    <p:animEffect transition="in" filter="fade">
                                      <p:cBhvr>
                                        <p:cTn id="33" dur="1000"/>
                                        <p:tgtEl>
                                          <p:spTgt spid="9">
                                            <p:txEl>
                                              <p:pRg st="4" end="4"/>
                                            </p:txEl>
                                          </p:spTgt>
                                        </p:tgtEl>
                                      </p:cBhvr>
                                    </p:animEffect>
                                    <p:anim calcmode="lin" valueType="num">
                                      <p:cBhvr>
                                        <p:cTn id="34"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1000"/>
                                        <p:tgtEl>
                                          <p:spTgt spid="7"/>
                                        </p:tgtEl>
                                      </p:cBhvr>
                                    </p:animEffect>
                                    <p:anim calcmode="lin" valueType="num">
                                      <p:cBhvr>
                                        <p:cTn id="41" dur="1000" fill="hold"/>
                                        <p:tgtEl>
                                          <p:spTgt spid="7"/>
                                        </p:tgtEl>
                                        <p:attrNameLst>
                                          <p:attrName>ppt_x</p:attrName>
                                        </p:attrNameLst>
                                      </p:cBhvr>
                                      <p:tavLst>
                                        <p:tav tm="0">
                                          <p:val>
                                            <p:strVal val="#ppt_x"/>
                                          </p:val>
                                        </p:tav>
                                        <p:tav tm="100000">
                                          <p:val>
                                            <p:strVal val="#ppt_x"/>
                                          </p:val>
                                        </p:tav>
                                      </p:tavLst>
                                    </p:anim>
                                    <p:anim calcmode="lin" valueType="num">
                                      <p:cBhvr>
                                        <p:cTn id="42" dur="1000" fill="hold"/>
                                        <p:tgtEl>
                                          <p:spTgt spid="7"/>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2" presetClass="entr" presetSubtype="6" fill="hold" grpId="0" nodeType="afterEffect">
                                  <p:stCondLst>
                                    <p:cond delay="0"/>
                                  </p:stCondLst>
                                  <p:childTnLst>
                                    <p:set>
                                      <p:cBhvr>
                                        <p:cTn id="45" dur="1" fill="hold">
                                          <p:stCondLst>
                                            <p:cond delay="0"/>
                                          </p:stCondLst>
                                        </p:cTn>
                                        <p:tgtEl>
                                          <p:spTgt spid="6"/>
                                        </p:tgtEl>
                                        <p:attrNameLst>
                                          <p:attrName>style.visibility</p:attrName>
                                        </p:attrNameLst>
                                      </p:cBhvr>
                                      <p:to>
                                        <p:strVal val="visible"/>
                                      </p:to>
                                    </p:set>
                                    <p:anim calcmode="lin" valueType="num">
                                      <p:cBhvr additive="base">
                                        <p:cTn id="46" dur="500" fill="hold"/>
                                        <p:tgtEl>
                                          <p:spTgt spid="6"/>
                                        </p:tgtEl>
                                        <p:attrNameLst>
                                          <p:attrName>ppt_x</p:attrName>
                                        </p:attrNameLst>
                                      </p:cBhvr>
                                      <p:tavLst>
                                        <p:tav tm="0">
                                          <p:val>
                                            <p:strVal val="1+#ppt_w/2"/>
                                          </p:val>
                                        </p:tav>
                                        <p:tav tm="100000">
                                          <p:val>
                                            <p:strVal val="#ppt_x"/>
                                          </p:val>
                                        </p:tav>
                                      </p:tavLst>
                                    </p:anim>
                                    <p:anim calcmode="lin" valueType="num">
                                      <p:cBhvr additive="base">
                                        <p:cTn id="4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1"/>
          <p:cNvSpPr txBox="1">
            <a:spLocks noChangeArrowheads="1"/>
          </p:cNvSpPr>
          <p:nvPr/>
        </p:nvSpPr>
        <p:spPr bwMode="auto">
          <a:xfrm>
            <a:off x="161256" y="4914517"/>
            <a:ext cx="9073008" cy="1532727"/>
          </a:xfrm>
          <a:prstGeom prst="rect">
            <a:avLst/>
          </a:prstGeom>
          <a:noFill/>
          <a:ln w="12700" cap="sq">
            <a:noFill/>
            <a:miter lim="800000"/>
            <a:headEnd type="none" w="sm" len="sm"/>
            <a:tailEnd type="none" w="sm" len="sm"/>
          </a:ln>
          <a:effectLst/>
        </p:spPr>
        <p:txBody>
          <a:bodyPr wrap="square">
            <a:spAutoFit/>
          </a:bodyPr>
          <a:lstStyle/>
          <a:p>
            <a:pPr marL="0" lvl="1" algn="ctr" eaLnBrk="1" hangingPunct="1">
              <a:spcBef>
                <a:spcPct val="20000"/>
              </a:spcBef>
              <a:buSzPct val="80000"/>
              <a:defRPr/>
            </a:pPr>
            <a:r>
              <a:rPr lang="zh-CN" altLang="en-US" sz="3600" dirty="0">
                <a:solidFill>
                  <a:schemeClr val="bg2"/>
                </a:solidFill>
                <a:effectLst>
                  <a:outerShdw blurRad="38100" dist="38100" dir="2700000" algn="tl">
                    <a:srgbClr val="000000"/>
                  </a:outerShdw>
                </a:effectLst>
                <a:latin typeface="+mn-ea"/>
                <a:ea typeface="+mn-ea"/>
              </a:rPr>
              <a:t>常用的原语</a:t>
            </a:r>
          </a:p>
          <a:p>
            <a:pPr marL="355600" lvl="2" indent="-355600" defTabSz="355600">
              <a:lnSpc>
                <a:spcPct val="90000"/>
              </a:lnSpc>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alpha val="43137"/>
                    </a:srgbClr>
                  </a:outerShdw>
                </a:effectLst>
                <a:latin typeface="+mj-lt"/>
                <a:ea typeface="楷体" panose="02010609060101010101" pitchFamily="49" charset="-122"/>
              </a:rPr>
              <a:t>进程的创建、 撤销、阻塞、唤醒、挂起、激活</a:t>
            </a:r>
            <a:endParaRPr lang="en-US" altLang="zh-CN"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355600" lvl="2" indent="-355600" defTabSz="355600">
              <a:lnSpc>
                <a:spcPct val="90000"/>
              </a:lnSpc>
              <a:buSzPct val="80000"/>
              <a:buFont typeface="Wingdings" panose="05000000000000000000" pitchFamily="2" charset="2"/>
              <a:buChar char="n"/>
              <a:defRPr/>
            </a:pPr>
            <a:r>
              <a:rPr lang="en-US" altLang="zh-CN" dirty="0">
                <a:solidFill>
                  <a:schemeClr val="bg2"/>
                </a:solidFill>
                <a:effectLst>
                  <a:outerShdw blurRad="38100" dist="38100" dir="2700000" algn="tl">
                    <a:srgbClr val="000000">
                      <a:alpha val="43137"/>
                    </a:srgbClr>
                  </a:outerShdw>
                </a:effectLst>
                <a:latin typeface="+mj-lt"/>
                <a:ea typeface="楷体" panose="02010609060101010101" pitchFamily="49" charset="-122"/>
              </a:rPr>
              <a:t>P</a:t>
            </a:r>
            <a:r>
              <a:rPr lang="zh-CN" altLang="en-US" dirty="0">
                <a:solidFill>
                  <a:schemeClr val="bg2"/>
                </a:solidFill>
                <a:effectLst>
                  <a:outerShdw blurRad="38100" dist="38100" dir="2700000" algn="tl">
                    <a:srgbClr val="000000">
                      <a:alpha val="43137"/>
                    </a:srgbClr>
                  </a:outerShdw>
                </a:effectLst>
                <a:latin typeface="+mj-lt"/>
                <a:ea typeface="楷体" panose="02010609060101010101" pitchFamily="49" charset="-122"/>
              </a:rPr>
              <a:t>操作</a:t>
            </a:r>
            <a:r>
              <a:rPr lang="en-US" altLang="zh-CN" dirty="0">
                <a:solidFill>
                  <a:schemeClr val="bg2"/>
                </a:solidFill>
                <a:effectLst>
                  <a:outerShdw blurRad="38100" dist="38100" dir="2700000" algn="tl">
                    <a:srgbClr val="000000">
                      <a:alpha val="43137"/>
                    </a:srgbClr>
                  </a:outerShdw>
                </a:effectLst>
                <a:latin typeface="+mj-lt"/>
                <a:ea typeface="楷体" panose="02010609060101010101" pitchFamily="49" charset="-122"/>
              </a:rPr>
              <a:t>   V</a:t>
            </a:r>
            <a:r>
              <a:rPr lang="zh-CN" altLang="en-US" dirty="0">
                <a:solidFill>
                  <a:schemeClr val="bg2"/>
                </a:solidFill>
                <a:effectLst>
                  <a:outerShdw blurRad="38100" dist="38100" dir="2700000" algn="tl">
                    <a:srgbClr val="000000">
                      <a:alpha val="43137"/>
                    </a:srgbClr>
                  </a:outerShdw>
                </a:effectLst>
                <a:latin typeface="+mj-lt"/>
                <a:ea typeface="楷体" panose="02010609060101010101" pitchFamily="49" charset="-122"/>
              </a:rPr>
              <a:t>操作</a:t>
            </a:r>
            <a:endParaRPr lang="en-US" altLang="zh-CN"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p:txBody>
      </p:sp>
      <p:sp>
        <p:nvSpPr>
          <p:cNvPr id="6" name="矩形 5"/>
          <p:cNvSpPr/>
          <p:nvPr/>
        </p:nvSpPr>
        <p:spPr>
          <a:xfrm>
            <a:off x="3347864" y="29756"/>
            <a:ext cx="2094459" cy="707886"/>
          </a:xfrm>
          <a:prstGeom prst="rect">
            <a:avLst/>
          </a:prstGeom>
        </p:spPr>
        <p:txBody>
          <a:bodyPr wrap="square">
            <a:spAutoFit/>
          </a:bodyPr>
          <a:lstStyle/>
          <a:p>
            <a:pPr algn="ct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原    语</a:t>
            </a:r>
          </a:p>
        </p:txBody>
      </p:sp>
      <p:sp>
        <p:nvSpPr>
          <p:cNvPr id="7" name="矩形 6"/>
          <p:cNvSpPr/>
          <p:nvPr/>
        </p:nvSpPr>
        <p:spPr>
          <a:xfrm>
            <a:off x="44264" y="908720"/>
            <a:ext cx="8892480" cy="3539430"/>
          </a:xfrm>
          <a:prstGeom prst="rect">
            <a:avLst/>
          </a:prstGeom>
          <a:solidFill>
            <a:schemeClr val="tx1">
              <a:lumMod val="95000"/>
            </a:schemeClr>
          </a:solidFill>
        </p:spPr>
        <p:txBody>
          <a:bodyPr wrap="square">
            <a:spAutoFit/>
          </a:bodyPr>
          <a:lstStyle/>
          <a:p>
            <a:pPr algn="ctr" eaLnBrk="1" hangingPunct="1">
              <a:spcBef>
                <a:spcPct val="20000"/>
              </a:spcBef>
              <a:defRPr/>
            </a:pPr>
            <a:r>
              <a:rPr lang="zh-CN" altLang="en-US" dirty="0">
                <a:solidFill>
                  <a:schemeClr val="bg1">
                    <a:lumMod val="75000"/>
                  </a:schemeClr>
                </a:solidFill>
                <a:effectLst>
                  <a:outerShdw blurRad="38100" dist="38100" dir="2700000" algn="tl">
                    <a:srgbClr val="000000"/>
                  </a:outerShdw>
                </a:effectLst>
                <a:latin typeface="+mn-ea"/>
                <a:ea typeface="+mn-ea"/>
              </a:rPr>
              <a:t>系统态</a:t>
            </a:r>
            <a:r>
              <a:rPr lang="zh-CN" altLang="en-US" dirty="0">
                <a:solidFill>
                  <a:schemeClr val="bg2"/>
                </a:solidFill>
                <a:latin typeface="+mn-ea"/>
                <a:ea typeface="+mn-ea"/>
              </a:rPr>
              <a:t>下执行的</a:t>
            </a:r>
            <a:r>
              <a:rPr lang="zh-CN" altLang="en-US" dirty="0">
                <a:solidFill>
                  <a:schemeClr val="bg2"/>
                </a:solidFill>
                <a:effectLst>
                  <a:outerShdw blurRad="38100" dist="38100" dir="2700000" algn="tl">
                    <a:srgbClr val="000000">
                      <a:alpha val="43137"/>
                    </a:srgbClr>
                  </a:outerShdw>
                </a:effectLst>
                <a:latin typeface="+mn-ea"/>
                <a:ea typeface="+mn-ea"/>
              </a:rPr>
              <a:t>具有特定功能的程序段。</a:t>
            </a:r>
            <a:endParaRPr lang="en-US" altLang="zh-CN" dirty="0">
              <a:solidFill>
                <a:schemeClr val="bg2"/>
              </a:solidFill>
              <a:effectLst>
                <a:outerShdw blurRad="38100" dist="38100" dir="2700000" algn="tl">
                  <a:srgbClr val="000000">
                    <a:alpha val="43137"/>
                  </a:srgbClr>
                </a:outerShdw>
              </a:effectLst>
              <a:latin typeface="+mn-ea"/>
              <a:ea typeface="+mn-ea"/>
            </a:endParaRPr>
          </a:p>
          <a:p>
            <a:pPr algn="ctr" eaLnBrk="1" hangingPunct="1">
              <a:spcBef>
                <a:spcPct val="20000"/>
              </a:spcBef>
              <a:defRPr/>
            </a:pPr>
            <a:r>
              <a:rPr lang="zh-CN" altLang="en-US" dirty="0">
                <a:solidFill>
                  <a:schemeClr val="bg2"/>
                </a:solidFill>
                <a:ea typeface="楷体_GB2312" pitchFamily="49" charset="-122"/>
              </a:rPr>
              <a:t>目的：保证进程控制和通信的可靠性。</a:t>
            </a:r>
            <a:endParaRPr lang="zh-CN" altLang="en-US" dirty="0">
              <a:solidFill>
                <a:schemeClr val="bg2"/>
              </a:solidFill>
              <a:latin typeface="+mn-ea"/>
              <a:ea typeface="+mn-ea"/>
            </a:endParaRPr>
          </a:p>
          <a:p>
            <a:pPr lvl="1" indent="-457200" eaLnBrk="1" hangingPunct="1">
              <a:spcBef>
                <a:spcPct val="20000"/>
              </a:spcBef>
              <a:buSzPct val="80000"/>
              <a:buFont typeface="Wingdings" panose="05000000000000000000" pitchFamily="2" charset="2"/>
              <a:buChar char="n"/>
              <a:defRPr/>
            </a:pPr>
            <a:r>
              <a:rPr lang="zh-CN" altLang="en-US" dirty="0">
                <a:solidFill>
                  <a:srgbClr val="C00000"/>
                </a:solidFill>
                <a:effectLst>
                  <a:outerShdw blurRad="38100" dist="38100" dir="2700000" algn="tl">
                    <a:srgbClr val="000000"/>
                  </a:outerShdw>
                </a:effectLst>
                <a:latin typeface="+mn-ea"/>
                <a:ea typeface="+mn-ea"/>
              </a:rPr>
              <a:t>机器指令级的（硬件原子指令）</a:t>
            </a:r>
            <a:r>
              <a:rPr lang="zh-CN" altLang="en-US" dirty="0">
                <a:solidFill>
                  <a:srgbClr val="C00000"/>
                </a:solidFill>
                <a:latin typeface="+mn-ea"/>
                <a:ea typeface="+mn-ea"/>
              </a:rPr>
              <a:t>：不允许中断。</a:t>
            </a:r>
            <a:endParaRPr lang="en-US" altLang="zh-CN" dirty="0">
              <a:solidFill>
                <a:srgbClr val="C00000"/>
              </a:solidFill>
              <a:latin typeface="+mn-ea"/>
              <a:ea typeface="+mn-ea"/>
            </a:endParaRPr>
          </a:p>
          <a:p>
            <a:pPr lvl="2" indent="-457200" eaLnBrk="1" hangingPunct="1">
              <a:spcBef>
                <a:spcPct val="20000"/>
              </a:spcBef>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alpha val="43137"/>
                    </a:srgbClr>
                  </a:outerShdw>
                </a:effectLst>
                <a:sym typeface="Symbol" panose="05050102010706020507" pitchFamily="18" charset="2"/>
              </a:rPr>
              <a:t>检测和修改字的内容</a:t>
            </a:r>
            <a:endParaRPr lang="en-US" altLang="zh-CN" dirty="0">
              <a:solidFill>
                <a:schemeClr val="bg2"/>
              </a:solidFill>
              <a:effectLst>
                <a:outerShdw blurRad="38100" dist="38100" dir="2700000" algn="tl">
                  <a:srgbClr val="000000">
                    <a:alpha val="43137"/>
                  </a:srgbClr>
                </a:outerShdw>
              </a:effectLst>
              <a:sym typeface="Symbol" panose="05050102010706020507" pitchFamily="18" charset="2"/>
            </a:endParaRPr>
          </a:p>
          <a:p>
            <a:pPr lvl="2" indent="-457200" eaLnBrk="1" hangingPunct="1">
              <a:spcBef>
                <a:spcPct val="20000"/>
              </a:spcBef>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alpha val="43137"/>
                    </a:srgbClr>
                  </a:outerShdw>
                </a:effectLst>
                <a:sym typeface="Symbol" panose="05050102010706020507" pitchFamily="18" charset="2"/>
              </a:rPr>
              <a:t>交换两个字</a:t>
            </a:r>
            <a:endParaRPr lang="en-US" altLang="zh-CN" dirty="0">
              <a:solidFill>
                <a:schemeClr val="bg2"/>
              </a:solidFill>
              <a:effectLst>
                <a:outerShdw blurRad="38100" dist="38100" dir="2700000" algn="tl">
                  <a:srgbClr val="000000">
                    <a:alpha val="43137"/>
                  </a:srgbClr>
                </a:outerShdw>
              </a:effectLst>
              <a:sym typeface="Symbol" panose="05050102010706020507" pitchFamily="18" charset="2"/>
            </a:endParaRPr>
          </a:p>
          <a:p>
            <a:pPr lvl="1" indent="-457200" eaLnBrk="1" hangingPunct="1">
              <a:spcBef>
                <a:spcPct val="20000"/>
              </a:spcBef>
              <a:buSzPct val="80000"/>
              <a:buFont typeface="Wingdings" panose="05000000000000000000" pitchFamily="2" charset="2"/>
              <a:buChar char="n"/>
              <a:defRPr/>
            </a:pPr>
            <a:r>
              <a:rPr lang="zh-CN" altLang="en-US" dirty="0">
                <a:solidFill>
                  <a:srgbClr val="C00000"/>
                </a:solidFill>
                <a:effectLst>
                  <a:outerShdw blurRad="38100" dist="38100" dir="2700000" algn="tl">
                    <a:srgbClr val="000000"/>
                  </a:outerShdw>
                </a:effectLst>
                <a:latin typeface="+mn-ea"/>
                <a:ea typeface="+mn-ea"/>
              </a:rPr>
              <a:t>功能级的</a:t>
            </a:r>
            <a:r>
              <a:rPr lang="zh-CN" altLang="en-US" dirty="0">
                <a:solidFill>
                  <a:srgbClr val="C00000"/>
                </a:solidFill>
                <a:latin typeface="+mn-ea"/>
                <a:ea typeface="+mn-ea"/>
              </a:rPr>
              <a:t>：不允许并发执行。</a:t>
            </a:r>
            <a:endParaRPr lang="en-US" altLang="zh-CN" dirty="0">
              <a:solidFill>
                <a:srgbClr val="C00000"/>
              </a:solidFill>
              <a:latin typeface="+mn-ea"/>
              <a:ea typeface="+mn-ea"/>
            </a:endParaRPr>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4163052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1000"/>
                                        <p:tgtEl>
                                          <p:spTgt spid="7">
                                            <p:txEl>
                                              <p:pRg st="3" end="3"/>
                                            </p:txEl>
                                          </p:spTgt>
                                        </p:tgtEl>
                                      </p:cBhvr>
                                    </p:animEffect>
                                    <p:anim calcmode="lin" valueType="num">
                                      <p:cBhvr>
                                        <p:cTn id="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4" end="4"/>
                                            </p:txEl>
                                          </p:spTgt>
                                        </p:tgtEl>
                                        <p:attrNameLst>
                                          <p:attrName>style.visibility</p:attrName>
                                        </p:attrNameLst>
                                      </p:cBhvr>
                                      <p:to>
                                        <p:strVal val="visible"/>
                                      </p:to>
                                    </p:set>
                                    <p:animEffect transition="in" filter="fade">
                                      <p:cBhvr>
                                        <p:cTn id="12" dur="1000"/>
                                        <p:tgtEl>
                                          <p:spTgt spid="7">
                                            <p:txEl>
                                              <p:pRg st="4" end="4"/>
                                            </p:txEl>
                                          </p:spTgt>
                                        </p:tgtEl>
                                      </p:cBhvr>
                                    </p:animEffect>
                                    <p:anim calcmode="lin" valueType="num">
                                      <p:cBhvr>
                                        <p:cTn id="1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2000"/>
                                        <p:tgtEl>
                                          <p:spTgt spid="5"/>
                                        </p:tgtEl>
                                      </p:cBhvr>
                                    </p:animEffect>
                                  </p:childTnLst>
                                </p:cTn>
                              </p:par>
                            </p:childTnLst>
                          </p:cTn>
                        </p:par>
                        <p:par>
                          <p:cTn id="20" fill="hold">
                            <p:stCondLst>
                              <p:cond delay="2000"/>
                            </p:stCondLst>
                            <p:childTnLst>
                              <p:par>
                                <p:cTn id="21" presetID="2" presetClass="entr" presetSubtype="6"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1+#ppt_w/2"/>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EDA8251-FB2A-46E7-A1B8-C3E9C41BE0C1}"/>
              </a:ext>
            </a:extLst>
          </p:cNvPr>
          <p:cNvSpPr txBox="1"/>
          <p:nvPr/>
        </p:nvSpPr>
        <p:spPr>
          <a:xfrm>
            <a:off x="1203218" y="84660"/>
            <a:ext cx="6737564" cy="707886"/>
          </a:xfrm>
          <a:prstGeom prst="rect">
            <a:avLst/>
          </a:prstGeom>
          <a:noFill/>
        </p:spPr>
        <p:txBody>
          <a:bodyPr wrap="square" rtlCol="0">
            <a:spAutoFit/>
          </a:bodyPr>
          <a:lstStyle/>
          <a:p>
            <a:pPr marL="0" lvl="1" indent="-274638"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硬 件 原 子 指 令</a:t>
            </a:r>
            <a:r>
              <a:rPr lang="en-US" altLang="zh-CN" sz="36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a:t>
            </a:r>
            <a:r>
              <a:rPr lang="zh-CN" altLang="en-US" sz="36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检测和修改</a:t>
            </a:r>
            <a:r>
              <a:rPr lang="en-US" altLang="zh-CN" sz="36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a:t>
            </a:r>
            <a:endParaRPr lang="zh-CN" altLang="en-US" sz="36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6" name="Rectangle 7">
            <a:extLst>
              <a:ext uri="{FF2B5EF4-FFF2-40B4-BE49-F238E27FC236}">
                <a16:creationId xmlns:a16="http://schemas.microsoft.com/office/drawing/2014/main" id="{811A1226-CC21-4F72-834B-2253B6315E85}"/>
              </a:ext>
            </a:extLst>
          </p:cNvPr>
          <p:cNvSpPr>
            <a:spLocks noChangeArrowheads="1"/>
          </p:cNvSpPr>
          <p:nvPr/>
        </p:nvSpPr>
        <p:spPr bwMode="auto">
          <a:xfrm>
            <a:off x="333385" y="2482381"/>
            <a:ext cx="5105400" cy="2716212"/>
          </a:xfrm>
          <a:prstGeom prst="rect">
            <a:avLst/>
          </a:prstGeom>
          <a:solidFill>
            <a:schemeClr val="tx1">
              <a:lumMod val="85000"/>
            </a:schemeClr>
          </a:solidFill>
          <a:ln w="12700">
            <a:noFill/>
            <a:miter lim="800000"/>
            <a:headEnd/>
            <a:tailEnd/>
          </a:ln>
          <a:effectLst/>
        </p:spPr>
        <p:txBody>
          <a:bodyPr lIns="90478" tIns="44445" rIns="90478" bIns="44445"/>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buFont typeface="Wingdings" panose="05000000000000000000" pitchFamily="2" charset="2"/>
              <a:buNone/>
            </a:pPr>
            <a:r>
              <a:rPr lang="en-US" altLang="zh-CN" sz="2400" dirty="0" err="1">
                <a:solidFill>
                  <a:schemeClr val="bg2"/>
                </a:solidFill>
                <a:latin typeface="+mn-lt"/>
              </a:rPr>
              <a:t>boolean</a:t>
            </a:r>
            <a:r>
              <a:rPr lang="en-US" altLang="zh-CN" sz="2400" dirty="0">
                <a:solidFill>
                  <a:schemeClr val="bg2"/>
                </a:solidFill>
                <a:latin typeface="+mn-lt"/>
              </a:rPr>
              <a:t> </a:t>
            </a:r>
            <a:r>
              <a:rPr lang="en-US" altLang="zh-CN" sz="2400" dirty="0" err="1">
                <a:solidFill>
                  <a:schemeClr val="bg1"/>
                </a:solidFill>
                <a:effectLst>
                  <a:outerShdw blurRad="38100" dist="38100" dir="2700000" algn="tl">
                    <a:srgbClr val="000000">
                      <a:alpha val="43137"/>
                    </a:srgbClr>
                  </a:outerShdw>
                </a:effectLst>
                <a:latin typeface="+mn-lt"/>
              </a:rPr>
              <a:t>TestAndSet</a:t>
            </a:r>
            <a:r>
              <a:rPr lang="en-US" altLang="zh-CN" sz="2400" dirty="0">
                <a:solidFill>
                  <a:schemeClr val="bg2"/>
                </a:solidFill>
                <a:latin typeface="+mn-lt"/>
              </a:rPr>
              <a:t>(</a:t>
            </a:r>
            <a:r>
              <a:rPr lang="en-US" altLang="zh-CN" sz="2400" dirty="0" err="1">
                <a:solidFill>
                  <a:schemeClr val="bg2"/>
                </a:solidFill>
                <a:latin typeface="+mn-lt"/>
              </a:rPr>
              <a:t>boolean</a:t>
            </a:r>
            <a:r>
              <a:rPr lang="en-US" altLang="zh-CN" sz="2400" dirty="0">
                <a:solidFill>
                  <a:schemeClr val="bg2"/>
                </a:solidFill>
                <a:latin typeface="+mn-lt"/>
              </a:rPr>
              <a:t> &amp;target)</a:t>
            </a:r>
          </a:p>
          <a:p>
            <a:pPr eaLnBrk="1" hangingPunct="1">
              <a:lnSpc>
                <a:spcPct val="90000"/>
              </a:lnSpc>
              <a:buFont typeface="Wingdings" panose="05000000000000000000" pitchFamily="2" charset="2"/>
              <a:buNone/>
            </a:pPr>
            <a:r>
              <a:rPr lang="en-US" altLang="zh-CN" sz="2400" dirty="0">
                <a:solidFill>
                  <a:schemeClr val="bg2"/>
                </a:solidFill>
                <a:latin typeface="+mn-lt"/>
              </a:rPr>
              <a:t>{</a:t>
            </a:r>
          </a:p>
          <a:p>
            <a:pPr eaLnBrk="1" hangingPunct="1">
              <a:lnSpc>
                <a:spcPct val="90000"/>
              </a:lnSpc>
              <a:buFont typeface="Wingdings" panose="05000000000000000000" pitchFamily="2" charset="2"/>
              <a:buNone/>
            </a:pPr>
            <a:r>
              <a:rPr lang="en-US" altLang="zh-CN" sz="2400" dirty="0">
                <a:solidFill>
                  <a:schemeClr val="bg2"/>
                </a:solidFill>
                <a:latin typeface="+mn-lt"/>
              </a:rPr>
              <a:t>   </a:t>
            </a:r>
            <a:r>
              <a:rPr lang="en-US" altLang="zh-CN" sz="2400" dirty="0" err="1">
                <a:solidFill>
                  <a:schemeClr val="bg2"/>
                </a:solidFill>
                <a:latin typeface="+mn-lt"/>
              </a:rPr>
              <a:t>boolean</a:t>
            </a:r>
            <a:r>
              <a:rPr lang="en-US" altLang="zh-CN" sz="2400" dirty="0">
                <a:solidFill>
                  <a:schemeClr val="bg2"/>
                </a:solidFill>
                <a:latin typeface="+mn-lt"/>
              </a:rPr>
              <a:t> </a:t>
            </a:r>
            <a:r>
              <a:rPr lang="en-US" altLang="zh-CN" sz="2400" dirty="0" err="1">
                <a:solidFill>
                  <a:schemeClr val="bg2"/>
                </a:solidFill>
                <a:latin typeface="+mn-lt"/>
              </a:rPr>
              <a:t>rv</a:t>
            </a:r>
            <a:r>
              <a:rPr lang="en-US" altLang="zh-CN" sz="2400" dirty="0">
                <a:solidFill>
                  <a:schemeClr val="bg2"/>
                </a:solidFill>
                <a:latin typeface="+mn-lt"/>
              </a:rPr>
              <a:t> = target;</a:t>
            </a:r>
          </a:p>
          <a:p>
            <a:pPr eaLnBrk="1" hangingPunct="1">
              <a:lnSpc>
                <a:spcPct val="90000"/>
              </a:lnSpc>
              <a:buFont typeface="Wingdings" panose="05000000000000000000" pitchFamily="2" charset="2"/>
              <a:buNone/>
            </a:pPr>
            <a:r>
              <a:rPr lang="en-US" altLang="zh-CN" sz="2400" dirty="0">
                <a:solidFill>
                  <a:schemeClr val="bg2"/>
                </a:solidFill>
                <a:latin typeface="+mn-lt"/>
              </a:rPr>
              <a:t>   target = true;</a:t>
            </a:r>
          </a:p>
          <a:p>
            <a:pPr eaLnBrk="1" hangingPunct="1">
              <a:lnSpc>
                <a:spcPct val="90000"/>
              </a:lnSpc>
              <a:buFont typeface="Wingdings" panose="05000000000000000000" pitchFamily="2" charset="2"/>
              <a:buNone/>
            </a:pPr>
            <a:r>
              <a:rPr lang="en-US" altLang="zh-CN" sz="2400" dirty="0">
                <a:solidFill>
                  <a:schemeClr val="bg2"/>
                </a:solidFill>
                <a:latin typeface="+mn-lt"/>
              </a:rPr>
              <a:t>   return </a:t>
            </a:r>
            <a:r>
              <a:rPr lang="en-US" altLang="zh-CN" sz="2400" dirty="0" err="1">
                <a:solidFill>
                  <a:schemeClr val="bg2"/>
                </a:solidFill>
                <a:latin typeface="+mn-lt"/>
              </a:rPr>
              <a:t>rv</a:t>
            </a:r>
            <a:r>
              <a:rPr lang="en-US" altLang="zh-CN" sz="2400" dirty="0">
                <a:solidFill>
                  <a:schemeClr val="bg2"/>
                </a:solidFill>
                <a:latin typeface="+mn-lt"/>
              </a:rPr>
              <a:t>;</a:t>
            </a:r>
          </a:p>
          <a:p>
            <a:pPr eaLnBrk="1" hangingPunct="1">
              <a:lnSpc>
                <a:spcPct val="90000"/>
              </a:lnSpc>
              <a:buFont typeface="Wingdings" panose="05000000000000000000" pitchFamily="2" charset="2"/>
              <a:buNone/>
            </a:pPr>
            <a:r>
              <a:rPr lang="en-US" altLang="zh-CN" sz="2400" dirty="0">
                <a:solidFill>
                  <a:schemeClr val="bg2"/>
                </a:solidFill>
                <a:latin typeface="+mn-lt"/>
              </a:rPr>
              <a:t>}</a:t>
            </a:r>
          </a:p>
        </p:txBody>
      </p:sp>
      <p:grpSp>
        <p:nvGrpSpPr>
          <p:cNvPr id="2" name="组合 1"/>
          <p:cNvGrpSpPr/>
          <p:nvPr/>
        </p:nvGrpSpPr>
        <p:grpSpPr>
          <a:xfrm>
            <a:off x="5473313" y="2499759"/>
            <a:ext cx="3606231" cy="2577906"/>
            <a:chOff x="5171957" y="2723301"/>
            <a:chExt cx="3606231" cy="2577906"/>
          </a:xfrm>
        </p:grpSpPr>
        <p:sp>
          <p:nvSpPr>
            <p:cNvPr id="13" name="Text Box 17">
              <a:extLst>
                <a:ext uri="{FF2B5EF4-FFF2-40B4-BE49-F238E27FC236}">
                  <a16:creationId xmlns:a16="http://schemas.microsoft.com/office/drawing/2014/main" id="{EB22361B-0857-404C-9D75-0DE9D7873986}"/>
                </a:ext>
              </a:extLst>
            </p:cNvPr>
            <p:cNvSpPr txBox="1">
              <a:spLocks noChangeArrowheads="1"/>
            </p:cNvSpPr>
            <p:nvPr/>
          </p:nvSpPr>
          <p:spPr bwMode="auto">
            <a:xfrm>
              <a:off x="5180989" y="2723301"/>
              <a:ext cx="3597199" cy="954107"/>
            </a:xfrm>
            <a:prstGeom prst="rect">
              <a:avLst/>
            </a:prstGeom>
            <a:solidFill>
              <a:schemeClr val="tx1">
                <a:lumMod val="85000"/>
              </a:schemeClr>
            </a:solidFill>
            <a:ln w="9525">
              <a:noFill/>
              <a:miter lim="800000"/>
              <a:headEnd/>
              <a:tailEnd/>
            </a:ln>
            <a:effectLst/>
            <a:extLst/>
          </p:spPr>
          <p:txBody>
            <a:bodyPr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bg2"/>
                  </a:solidFill>
                  <a:latin typeface="+mn-lt"/>
                </a:rPr>
                <a:t>while(</a:t>
              </a:r>
              <a:r>
                <a:rPr lang="en-US" altLang="zh-CN" sz="2400" b="1" dirty="0" err="1">
                  <a:solidFill>
                    <a:schemeClr val="bg1"/>
                  </a:solidFill>
                  <a:effectLst>
                    <a:outerShdw blurRad="38100" dist="38100" dir="2700000" algn="tl">
                      <a:srgbClr val="000000">
                        <a:alpha val="43137"/>
                      </a:srgbClr>
                    </a:outerShdw>
                  </a:effectLst>
                  <a:latin typeface="+mn-lt"/>
                </a:rPr>
                <a:t>TestAndSet</a:t>
              </a:r>
              <a:r>
                <a:rPr lang="en-US" altLang="zh-CN" sz="2400" b="1" dirty="0">
                  <a:solidFill>
                    <a:schemeClr val="bg2"/>
                  </a:solidFill>
                  <a:latin typeface="+mn-lt"/>
                </a:rPr>
                <a:t>(&amp;</a:t>
              </a:r>
              <a:r>
                <a:rPr lang="en-US" altLang="zh-CN" sz="2400" b="1" dirty="0">
                  <a:solidFill>
                    <a:srgbClr val="FF0000"/>
                  </a:solidFill>
                  <a:latin typeface="+mn-lt"/>
                </a:rPr>
                <a:t>lock</a:t>
              </a:r>
              <a:r>
                <a:rPr lang="en-US" altLang="zh-CN" sz="2400" b="1" dirty="0">
                  <a:solidFill>
                    <a:schemeClr val="bg2"/>
                  </a:solidFill>
                  <a:latin typeface="+mn-lt"/>
                </a:rPr>
                <a:t>)) </a:t>
              </a:r>
            </a:p>
            <a:p>
              <a:pPr eaLnBrk="1" hangingPunct="1">
                <a:spcBef>
                  <a:spcPts val="1200"/>
                </a:spcBef>
              </a:pPr>
              <a:r>
                <a:rPr lang="en-US" altLang="zh-CN" sz="2400" dirty="0">
                  <a:solidFill>
                    <a:schemeClr val="bg2"/>
                  </a:solidFill>
                  <a:latin typeface="+mn-lt"/>
                </a:rPr>
                <a:t>	</a:t>
              </a:r>
              <a:r>
                <a:rPr lang="en-US" altLang="zh-CN" sz="2800" b="1" dirty="0">
                  <a:solidFill>
                    <a:srgbClr val="FF0000"/>
                  </a:solidFill>
                  <a:latin typeface="+mn-lt"/>
                </a:rPr>
                <a:t>;</a:t>
              </a:r>
            </a:p>
          </p:txBody>
        </p:sp>
        <p:sp>
          <p:nvSpPr>
            <p:cNvPr id="14" name="Text Box 18">
              <a:extLst>
                <a:ext uri="{FF2B5EF4-FFF2-40B4-BE49-F238E27FC236}">
                  <a16:creationId xmlns:a16="http://schemas.microsoft.com/office/drawing/2014/main" id="{A2C0892B-9A6B-4E31-AB3C-DC804ACC3E4D}"/>
                </a:ext>
              </a:extLst>
            </p:cNvPr>
            <p:cNvSpPr txBox="1">
              <a:spLocks noChangeArrowheads="1"/>
            </p:cNvSpPr>
            <p:nvPr/>
          </p:nvSpPr>
          <p:spPr bwMode="auto">
            <a:xfrm>
              <a:off x="5171957" y="3677408"/>
              <a:ext cx="2342534" cy="369888"/>
            </a:xfrm>
            <a:prstGeom prst="rect">
              <a:avLst/>
            </a:prstGeom>
            <a:solidFill>
              <a:srgbClr val="FF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chemeClr val="bg2"/>
                  </a:solidFill>
                </a:rPr>
                <a:t>临界区</a:t>
              </a:r>
            </a:p>
          </p:txBody>
        </p:sp>
        <p:sp>
          <p:nvSpPr>
            <p:cNvPr id="15" name="Text Box 19">
              <a:extLst>
                <a:ext uri="{FF2B5EF4-FFF2-40B4-BE49-F238E27FC236}">
                  <a16:creationId xmlns:a16="http://schemas.microsoft.com/office/drawing/2014/main" id="{B49461D5-DB15-47BF-88EC-8D58608CFF52}"/>
                </a:ext>
              </a:extLst>
            </p:cNvPr>
            <p:cNvSpPr txBox="1">
              <a:spLocks noChangeArrowheads="1"/>
            </p:cNvSpPr>
            <p:nvPr/>
          </p:nvSpPr>
          <p:spPr bwMode="auto">
            <a:xfrm>
              <a:off x="5180988" y="4030666"/>
              <a:ext cx="2342535" cy="369332"/>
            </a:xfrm>
            <a:prstGeom prst="rect">
              <a:avLst/>
            </a:prstGeom>
            <a:solidFill>
              <a:schemeClr val="tx1">
                <a:lumMod val="85000"/>
              </a:schemeClr>
            </a:solidFill>
            <a:ln w="9525">
              <a:noFill/>
              <a:miter lim="800000"/>
              <a:headEnd/>
              <a:tailEnd/>
            </a:ln>
            <a:effectLst/>
            <a:extLst/>
          </p:spPr>
          <p:txBody>
            <a:bodyPr wrap="square"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bg2"/>
                  </a:solidFill>
                  <a:latin typeface="+mn-lt"/>
                </a:rPr>
                <a:t>lock = false;</a:t>
              </a:r>
            </a:p>
          </p:txBody>
        </p:sp>
        <p:sp>
          <p:nvSpPr>
            <p:cNvPr id="16" name="Text Box 20">
              <a:extLst>
                <a:ext uri="{FF2B5EF4-FFF2-40B4-BE49-F238E27FC236}">
                  <a16:creationId xmlns:a16="http://schemas.microsoft.com/office/drawing/2014/main" id="{C6D97BA5-3AE7-43AF-9E18-A91B8ABB7920}"/>
                </a:ext>
              </a:extLst>
            </p:cNvPr>
            <p:cNvSpPr txBox="1">
              <a:spLocks noChangeArrowheads="1"/>
            </p:cNvSpPr>
            <p:nvPr/>
          </p:nvSpPr>
          <p:spPr bwMode="auto">
            <a:xfrm>
              <a:off x="5180988" y="4396100"/>
              <a:ext cx="2342535" cy="369332"/>
            </a:xfrm>
            <a:prstGeom prst="rect">
              <a:avLst/>
            </a:prstGeom>
            <a:solidFill>
              <a:schemeClr val="tx1">
                <a:lumMod val="85000"/>
              </a:schemeClr>
            </a:solidFill>
            <a:ln>
              <a:noFill/>
            </a:ln>
            <a:effectLst/>
            <a:extLst/>
          </p:spPr>
          <p:txBody>
            <a:bodyPr wrap="square"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chemeClr val="bg2"/>
                  </a:solidFill>
                </a:rPr>
                <a:t>剩余区</a:t>
              </a:r>
            </a:p>
          </p:txBody>
        </p:sp>
        <p:sp>
          <p:nvSpPr>
            <p:cNvPr id="17" name="Rectangle 21">
              <a:extLst>
                <a:ext uri="{FF2B5EF4-FFF2-40B4-BE49-F238E27FC236}">
                  <a16:creationId xmlns:a16="http://schemas.microsoft.com/office/drawing/2014/main" id="{0CF51831-F624-4E6E-8475-3A9114D74C27}"/>
                </a:ext>
              </a:extLst>
            </p:cNvPr>
            <p:cNvSpPr>
              <a:spLocks noChangeArrowheads="1"/>
            </p:cNvSpPr>
            <p:nvPr/>
          </p:nvSpPr>
          <p:spPr bwMode="auto">
            <a:xfrm>
              <a:off x="5765160" y="4931875"/>
              <a:ext cx="16988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dirty="0">
                  <a:solidFill>
                    <a:schemeClr val="bg2"/>
                  </a:solidFill>
                </a:rPr>
                <a:t>线</a:t>
              </a:r>
              <a:r>
                <a:rPr lang="zh-CN" altLang="en-US" sz="2400" b="1" dirty="0">
                  <a:solidFill>
                    <a:schemeClr val="bg2"/>
                  </a:solidFill>
                </a:rPr>
                <a:t>程</a:t>
              </a:r>
              <a:r>
                <a:rPr lang="en-US" altLang="zh-CN" sz="2400" b="1" dirty="0">
                  <a:solidFill>
                    <a:schemeClr val="bg2"/>
                  </a:solidFill>
                </a:rPr>
                <a:t>P</a:t>
              </a:r>
              <a:r>
                <a:rPr lang="en-US" altLang="zh-CN" sz="2400" b="1" baseline="-25000" dirty="0">
                  <a:solidFill>
                    <a:schemeClr val="bg2"/>
                  </a:solidFill>
                </a:rPr>
                <a:t>i</a:t>
              </a:r>
            </a:p>
          </p:txBody>
        </p:sp>
      </p:grpSp>
      <p:sp>
        <p:nvSpPr>
          <p:cNvPr id="18" name="Rectangle 24">
            <a:extLst>
              <a:ext uri="{FF2B5EF4-FFF2-40B4-BE49-F238E27FC236}">
                <a16:creationId xmlns:a16="http://schemas.microsoft.com/office/drawing/2014/main" id="{37B39690-33FE-429D-88B5-61F37563302D}"/>
              </a:ext>
            </a:extLst>
          </p:cNvPr>
          <p:cNvSpPr>
            <a:spLocks noChangeArrowheads="1"/>
          </p:cNvSpPr>
          <p:nvPr/>
        </p:nvSpPr>
        <p:spPr bwMode="auto">
          <a:xfrm>
            <a:off x="107504" y="5379256"/>
            <a:ext cx="9122615" cy="901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ts val="0"/>
              </a:spcBef>
              <a:buClrTx/>
              <a:buSzPct val="70000"/>
            </a:pPr>
            <a:r>
              <a:rPr lang="zh-CN" altLang="en-US" dirty="0">
                <a:solidFill>
                  <a:schemeClr val="bg1"/>
                </a:solidFill>
                <a:effectLst>
                  <a:outerShdw blurRad="38100" dist="38100" dir="2700000" algn="tl">
                    <a:srgbClr val="000000">
                      <a:alpha val="43137"/>
                    </a:srgbClr>
                  </a:outerShdw>
                </a:effectLst>
                <a:latin typeface="+mj-lt"/>
                <a:ea typeface="楷体" panose="02010609060101010101" pitchFamily="49" charset="-122"/>
                <a:sym typeface="Symbol" panose="05050102010706020507" pitchFamily="18" charset="2"/>
              </a:rPr>
              <a:t>循环测试</a:t>
            </a:r>
            <a:r>
              <a:rPr lang="en-US" altLang="zh-CN" dirty="0">
                <a:solidFill>
                  <a:schemeClr val="bg2"/>
                </a:solidFill>
                <a:latin typeface="+mj-lt"/>
                <a:ea typeface="楷体" panose="02010609060101010101" pitchFamily="49" charset="-122"/>
                <a:sym typeface="Symbol" panose="05050102010706020507" pitchFamily="18" charset="2"/>
              </a:rPr>
              <a:t>; </a:t>
            </a:r>
            <a:r>
              <a:rPr lang="zh-CN" altLang="en-US" dirty="0">
                <a:solidFill>
                  <a:schemeClr val="bg2"/>
                </a:solidFill>
                <a:latin typeface="+mj-lt"/>
                <a:ea typeface="楷体" panose="02010609060101010101" pitchFamily="49" charset="-122"/>
                <a:sym typeface="Symbol" panose="05050102010706020507" pitchFamily="18" charset="2"/>
              </a:rPr>
              <a:t>可能饥饿、死锁</a:t>
            </a:r>
            <a:endParaRPr lang="en-US" altLang="zh-CN" dirty="0">
              <a:solidFill>
                <a:schemeClr val="bg2"/>
              </a:solidFill>
              <a:latin typeface="+mj-lt"/>
              <a:ea typeface="楷体" panose="02010609060101010101" pitchFamily="49" charset="-122"/>
              <a:sym typeface="Symbol" panose="05050102010706020507" pitchFamily="18" charset="2"/>
            </a:endParaRPr>
          </a:p>
          <a:p>
            <a:pPr eaLnBrk="1" hangingPunct="1">
              <a:spcBef>
                <a:spcPts val="0"/>
              </a:spcBef>
              <a:buClrTx/>
              <a:buSzPct val="70000"/>
            </a:pPr>
            <a:r>
              <a:rPr lang="zh-CN" altLang="en-US" dirty="0">
                <a:solidFill>
                  <a:schemeClr val="bg2"/>
                </a:solidFill>
                <a:latin typeface="+mj-lt"/>
                <a:ea typeface="楷体" panose="02010609060101010101" pitchFamily="49" charset="-122"/>
                <a:sym typeface="Symbol" panose="05050102010706020507" pitchFamily="18" charset="2"/>
              </a:rPr>
              <a:t>复杂、用户需要了解特定机器指令的使用细节</a:t>
            </a:r>
            <a:endParaRPr lang="en-US" altLang="zh-CN" dirty="0">
              <a:solidFill>
                <a:schemeClr val="bg2"/>
              </a:solidFill>
              <a:latin typeface="+mj-lt"/>
              <a:ea typeface="楷体" panose="02010609060101010101" pitchFamily="49" charset="-122"/>
              <a:sym typeface="Symbol" panose="05050102010706020507" pitchFamily="18" charset="2"/>
            </a:endParaRPr>
          </a:p>
        </p:txBody>
      </p:sp>
      <p:sp>
        <p:nvSpPr>
          <p:cNvPr id="20" name="线形标注 1 13">
            <a:extLst>
              <a:ext uri="{FF2B5EF4-FFF2-40B4-BE49-F238E27FC236}">
                <a16:creationId xmlns:a16="http://schemas.microsoft.com/office/drawing/2014/main" id="{C136262E-B1B1-4009-B8B8-051EF0DC68C5}"/>
              </a:ext>
            </a:extLst>
          </p:cNvPr>
          <p:cNvSpPr>
            <a:spLocks/>
          </p:cNvSpPr>
          <p:nvPr/>
        </p:nvSpPr>
        <p:spPr bwMode="auto">
          <a:xfrm>
            <a:off x="5193417" y="1852946"/>
            <a:ext cx="3509105" cy="360510"/>
          </a:xfrm>
          <a:prstGeom prst="borderCallout1">
            <a:avLst>
              <a:gd name="adj1" fmla="val 112923"/>
              <a:gd name="adj2" fmla="val 73300"/>
              <a:gd name="adj3" fmla="val 213801"/>
              <a:gd name="adj4" fmla="val 95461"/>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400" dirty="0">
                <a:solidFill>
                  <a:schemeClr val="bg2"/>
                </a:solidFill>
              </a:rPr>
              <a:t>初值为</a:t>
            </a:r>
            <a:r>
              <a:rPr lang="en-US" altLang="zh-CN" sz="2400" dirty="0">
                <a:solidFill>
                  <a:schemeClr val="bg2"/>
                </a:solidFill>
              </a:rPr>
              <a:t>false</a:t>
            </a:r>
            <a:r>
              <a:rPr lang="zh-CN" altLang="en-US" sz="2400" dirty="0">
                <a:solidFill>
                  <a:schemeClr val="bg2"/>
                </a:solidFill>
              </a:rPr>
              <a:t>，表示空闲</a:t>
            </a:r>
          </a:p>
        </p:txBody>
      </p:sp>
      <p:grpSp>
        <p:nvGrpSpPr>
          <p:cNvPr id="8" name="组合 7"/>
          <p:cNvGrpSpPr/>
          <p:nvPr/>
        </p:nvGrpSpPr>
        <p:grpSpPr>
          <a:xfrm>
            <a:off x="2479742" y="3438007"/>
            <a:ext cx="2946823" cy="1722651"/>
            <a:chOff x="2403674" y="3497350"/>
            <a:chExt cx="3013380" cy="1700034"/>
          </a:xfrm>
        </p:grpSpPr>
        <p:sp>
          <p:nvSpPr>
            <p:cNvPr id="21" name="线形标注 1 13">
              <a:extLst>
                <a:ext uri="{FF2B5EF4-FFF2-40B4-BE49-F238E27FC236}">
                  <a16:creationId xmlns:a16="http://schemas.microsoft.com/office/drawing/2014/main" id="{C136262E-B1B1-4009-B8B8-051EF0DC68C5}"/>
                </a:ext>
              </a:extLst>
            </p:cNvPr>
            <p:cNvSpPr>
              <a:spLocks/>
            </p:cNvSpPr>
            <p:nvPr/>
          </p:nvSpPr>
          <p:spPr bwMode="auto">
            <a:xfrm>
              <a:off x="2403674" y="4790387"/>
              <a:ext cx="3013380" cy="406997"/>
            </a:xfrm>
            <a:prstGeom prst="borderCallout1">
              <a:avLst>
                <a:gd name="adj1" fmla="val -11201"/>
                <a:gd name="adj2" fmla="val 65732"/>
                <a:gd name="adj3" fmla="val -151830"/>
                <a:gd name="adj4" fmla="val 43511"/>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400" dirty="0">
                  <a:solidFill>
                    <a:schemeClr val="bg2"/>
                  </a:solidFill>
                </a:rPr>
                <a:t>一次执行完、不中断</a:t>
              </a:r>
            </a:p>
          </p:txBody>
        </p:sp>
        <p:sp>
          <p:nvSpPr>
            <p:cNvPr id="3" name="右大括号 2"/>
            <p:cNvSpPr/>
            <p:nvPr/>
          </p:nvSpPr>
          <p:spPr bwMode="auto">
            <a:xfrm>
              <a:off x="3099604" y="3497350"/>
              <a:ext cx="576064" cy="1167286"/>
            </a:xfrm>
            <a:prstGeom prst="rightBrace">
              <a:avLst/>
            </a:prstGeom>
            <a:noFill/>
            <a:ln w="57150" cap="flat" cmpd="sng" algn="ctr">
              <a:solidFill>
                <a:srgbClr val="00B0F0"/>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chemeClr val="bg2"/>
                </a:solidFill>
                <a:effectLst>
                  <a:outerShdw blurRad="38100" dist="38100" dir="2700000" algn="tl">
                    <a:srgbClr val="000000">
                      <a:alpha val="43137"/>
                    </a:srgbClr>
                  </a:outerShdw>
                </a:effectLst>
                <a:latin typeface="宋体" pitchFamily="2" charset="-122"/>
                <a:ea typeface="宋体" pitchFamily="2" charset="-122"/>
              </a:endParaRPr>
            </a:p>
          </p:txBody>
        </p:sp>
      </p:grpSp>
      <p:sp>
        <p:nvSpPr>
          <p:cNvPr id="22" name="文本框 21">
            <a:extLst>
              <a:ext uri="{FF2B5EF4-FFF2-40B4-BE49-F238E27FC236}">
                <a16:creationId xmlns:a16="http://schemas.microsoft.com/office/drawing/2014/main" id="{F49A6571-D2C5-4219-AAAF-5A2F17630BD0}"/>
              </a:ext>
            </a:extLst>
          </p:cNvPr>
          <p:cNvSpPr txBox="1"/>
          <p:nvPr/>
        </p:nvSpPr>
        <p:spPr>
          <a:xfrm>
            <a:off x="333385" y="6475113"/>
            <a:ext cx="8151136" cy="400110"/>
          </a:xfrm>
          <a:prstGeom prst="rect">
            <a:avLst/>
          </a:prstGeom>
          <a:noFill/>
        </p:spPr>
        <p:txBody>
          <a:bodyPr wrap="square" rtlCol="0">
            <a:spAutoFit/>
          </a:bodyPr>
          <a:lstStyle/>
          <a:p>
            <a:pPr algn="ctr"/>
            <a:r>
              <a:rPr lang="en-US" altLang="zh-CN" sz="2000" dirty="0">
                <a:solidFill>
                  <a:schemeClr val="bg2"/>
                </a:solidFill>
              </a:rPr>
              <a:t>William Stallings </a:t>
            </a:r>
            <a:r>
              <a:rPr lang="zh-CN" altLang="zh-CN" sz="2000" dirty="0">
                <a:solidFill>
                  <a:schemeClr val="bg2"/>
                </a:solidFill>
              </a:rPr>
              <a:t>著</a:t>
            </a:r>
            <a:r>
              <a:rPr lang="en-US" altLang="zh-CN" sz="2000" dirty="0">
                <a:solidFill>
                  <a:schemeClr val="bg2"/>
                </a:solidFill>
              </a:rPr>
              <a:t>. </a:t>
            </a:r>
            <a:r>
              <a:rPr lang="zh-CN" altLang="zh-CN" sz="2000" dirty="0">
                <a:solidFill>
                  <a:schemeClr val="bg2"/>
                </a:solidFill>
              </a:rPr>
              <a:t>陈向群等译</a:t>
            </a:r>
            <a:r>
              <a:rPr lang="en-US" altLang="zh-CN" sz="2000" dirty="0">
                <a:solidFill>
                  <a:schemeClr val="bg2"/>
                </a:solidFill>
              </a:rPr>
              <a:t>. </a:t>
            </a:r>
            <a:r>
              <a:rPr lang="zh-CN" altLang="zh-CN" sz="2000" dirty="0">
                <a:solidFill>
                  <a:schemeClr val="bg2"/>
                </a:solidFill>
              </a:rPr>
              <a:t>操作系统：精髓与设计原理</a:t>
            </a:r>
            <a:r>
              <a:rPr lang="en-US" altLang="zh-CN" sz="2000" dirty="0">
                <a:solidFill>
                  <a:schemeClr val="bg2"/>
                </a:solidFill>
              </a:rPr>
              <a:t>. </a:t>
            </a:r>
            <a:endParaRPr lang="zh-CN" altLang="en-US" sz="2000" dirty="0">
              <a:solidFill>
                <a:schemeClr val="bg2"/>
              </a:solidFill>
            </a:endParaRPr>
          </a:p>
        </p:txBody>
      </p:sp>
      <p:sp>
        <p:nvSpPr>
          <p:cNvPr id="19" name="线形标注 1 13">
            <a:extLst>
              <a:ext uri="{FF2B5EF4-FFF2-40B4-BE49-F238E27FC236}">
                <a16:creationId xmlns:a16="http://schemas.microsoft.com/office/drawing/2014/main" id="{C136262E-B1B1-4009-B8B8-051EF0DC68C5}"/>
              </a:ext>
            </a:extLst>
          </p:cNvPr>
          <p:cNvSpPr>
            <a:spLocks/>
          </p:cNvSpPr>
          <p:nvPr/>
        </p:nvSpPr>
        <p:spPr bwMode="auto">
          <a:xfrm>
            <a:off x="827584" y="1829277"/>
            <a:ext cx="1436242" cy="372609"/>
          </a:xfrm>
          <a:prstGeom prst="borderCallout1">
            <a:avLst>
              <a:gd name="adj1" fmla="val 112923"/>
              <a:gd name="adj2" fmla="val 73300"/>
              <a:gd name="adj3" fmla="val 200091"/>
              <a:gd name="adj4" fmla="val 78206"/>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400" dirty="0">
                <a:solidFill>
                  <a:schemeClr val="bg2"/>
                </a:solidFill>
              </a:rPr>
              <a:t>抽象指令</a:t>
            </a:r>
          </a:p>
        </p:txBody>
      </p:sp>
      <p:sp>
        <p:nvSpPr>
          <p:cNvPr id="23"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469126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1000"/>
                                        <p:tgtEl>
                                          <p:spTgt spid="2"/>
                                        </p:tgtEl>
                                      </p:cBhvr>
                                    </p:animEffect>
                                    <p:anim calcmode="lin" valueType="num">
                                      <p:cBhvr>
                                        <p:cTn id="27" dur="1000" fill="hold"/>
                                        <p:tgtEl>
                                          <p:spTgt spid="2"/>
                                        </p:tgtEl>
                                        <p:attrNameLst>
                                          <p:attrName>ppt_x</p:attrName>
                                        </p:attrNameLst>
                                      </p:cBhvr>
                                      <p:tavLst>
                                        <p:tav tm="0">
                                          <p:val>
                                            <p:strVal val="#ppt_x"/>
                                          </p:val>
                                        </p:tav>
                                        <p:tav tm="100000">
                                          <p:val>
                                            <p:strVal val="#ppt_x"/>
                                          </p:val>
                                        </p:tav>
                                      </p:tavLst>
                                    </p:anim>
                                    <p:anim calcmode="lin" valueType="num">
                                      <p:cBhvr>
                                        <p:cTn id="2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1000"/>
                                        <p:tgtEl>
                                          <p:spTgt spid="20"/>
                                        </p:tgtEl>
                                      </p:cBhvr>
                                    </p:animEffect>
                                    <p:anim calcmode="lin" valueType="num">
                                      <p:cBhvr>
                                        <p:cTn id="34" dur="1000" fill="hold"/>
                                        <p:tgtEl>
                                          <p:spTgt spid="20"/>
                                        </p:tgtEl>
                                        <p:attrNameLst>
                                          <p:attrName>ppt_x</p:attrName>
                                        </p:attrNameLst>
                                      </p:cBhvr>
                                      <p:tavLst>
                                        <p:tav tm="0">
                                          <p:val>
                                            <p:strVal val="#ppt_x"/>
                                          </p:val>
                                        </p:tav>
                                        <p:tav tm="100000">
                                          <p:val>
                                            <p:strVal val="#ppt_x"/>
                                          </p:val>
                                        </p:tav>
                                      </p:tavLst>
                                    </p:anim>
                                    <p:anim calcmode="lin" valueType="num">
                                      <p:cBhvr>
                                        <p:cTn id="35"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1000"/>
                                        <p:tgtEl>
                                          <p:spTgt spid="18"/>
                                        </p:tgtEl>
                                      </p:cBhvr>
                                    </p:animEffect>
                                    <p:anim calcmode="lin" valueType="num">
                                      <p:cBhvr>
                                        <p:cTn id="41" dur="1000" fill="hold"/>
                                        <p:tgtEl>
                                          <p:spTgt spid="18"/>
                                        </p:tgtEl>
                                        <p:attrNameLst>
                                          <p:attrName>ppt_x</p:attrName>
                                        </p:attrNameLst>
                                      </p:cBhvr>
                                      <p:tavLst>
                                        <p:tav tm="0">
                                          <p:val>
                                            <p:strVal val="#ppt_x"/>
                                          </p:val>
                                        </p:tav>
                                        <p:tav tm="100000">
                                          <p:val>
                                            <p:strVal val="#ppt_x"/>
                                          </p:val>
                                        </p:tav>
                                      </p:tavLst>
                                    </p:anim>
                                    <p:anim calcmode="lin" valueType="num">
                                      <p:cBhvr>
                                        <p:cTn id="42" dur="1000" fill="hold"/>
                                        <p:tgtEl>
                                          <p:spTgt spid="18"/>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10" presetClass="entr" presetSubtype="0" fill="hold" grpId="0" nodeType="after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par>
                          <p:cTn id="47" fill="hold">
                            <p:stCondLst>
                              <p:cond delay="1500"/>
                            </p:stCondLst>
                            <p:childTnLst>
                              <p:par>
                                <p:cTn id="48" presetID="2" presetClass="entr" presetSubtype="6" fill="hold" grpId="0" nodeType="afterEffect">
                                  <p:stCondLst>
                                    <p:cond delay="0"/>
                                  </p:stCondLst>
                                  <p:childTnLst>
                                    <p:set>
                                      <p:cBhvr>
                                        <p:cTn id="49" dur="1" fill="hold">
                                          <p:stCondLst>
                                            <p:cond delay="0"/>
                                          </p:stCondLst>
                                        </p:cTn>
                                        <p:tgtEl>
                                          <p:spTgt spid="23"/>
                                        </p:tgtEl>
                                        <p:attrNameLst>
                                          <p:attrName>style.visibility</p:attrName>
                                        </p:attrNameLst>
                                      </p:cBhvr>
                                      <p:to>
                                        <p:strVal val="visible"/>
                                      </p:to>
                                    </p:set>
                                    <p:anim calcmode="lin" valueType="num">
                                      <p:cBhvr additive="base">
                                        <p:cTn id="50" dur="500" fill="hold"/>
                                        <p:tgtEl>
                                          <p:spTgt spid="23"/>
                                        </p:tgtEl>
                                        <p:attrNameLst>
                                          <p:attrName>ppt_x</p:attrName>
                                        </p:attrNameLst>
                                      </p:cBhvr>
                                      <p:tavLst>
                                        <p:tav tm="0">
                                          <p:val>
                                            <p:strVal val="1+#ppt_w/2"/>
                                          </p:val>
                                        </p:tav>
                                        <p:tav tm="100000">
                                          <p:val>
                                            <p:strVal val="#ppt_x"/>
                                          </p:val>
                                        </p:tav>
                                      </p:tavLst>
                                    </p:anim>
                                    <p:anim calcmode="lin" valueType="num">
                                      <p:cBhvr additive="base">
                                        <p:cTn id="51"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8" grpId="0"/>
      <p:bldP spid="20" grpId="0" animBg="1"/>
      <p:bldP spid="22" grpId="0"/>
      <p:bldP spid="19" grpId="0" animBg="1"/>
      <p:bldP spid="2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6EBD146-F7AB-48C2-AA31-1A66CFED78D8}"/>
              </a:ext>
            </a:extLst>
          </p:cNvPr>
          <p:cNvSpPr>
            <a:spLocks noGrp="1"/>
          </p:cNvSpPr>
          <p:nvPr>
            <p:ph type="dt" sz="half" idx="10"/>
          </p:nvPr>
        </p:nvSpPr>
        <p:spPr/>
        <p:txBody>
          <a:bodyPr/>
          <a:lstStyle/>
          <a:p>
            <a:pPr>
              <a:defRPr/>
            </a:pPr>
            <a:fld id="{0F3703A3-1889-4D5A-B002-82B1611E7DF6}" type="datetime1">
              <a:rPr lang="zh-CN" altLang="en-US" smtClean="0"/>
              <a:pPr>
                <a:defRPr/>
              </a:pPr>
              <a:t>2024/10/9</a:t>
            </a:fld>
            <a:endParaRPr lang="en-US" altLang="zh-CN"/>
          </a:p>
        </p:txBody>
      </p:sp>
      <p:sp>
        <p:nvSpPr>
          <p:cNvPr id="4" name="文本框 3">
            <a:extLst>
              <a:ext uri="{FF2B5EF4-FFF2-40B4-BE49-F238E27FC236}">
                <a16:creationId xmlns:a16="http://schemas.microsoft.com/office/drawing/2014/main" id="{05C76E4C-EF2B-4DE9-A08C-0C5864A42E66}"/>
              </a:ext>
            </a:extLst>
          </p:cNvPr>
          <p:cNvSpPr txBox="1"/>
          <p:nvPr/>
        </p:nvSpPr>
        <p:spPr>
          <a:xfrm>
            <a:off x="-10228" y="0"/>
            <a:ext cx="9137472" cy="2246769"/>
          </a:xfrm>
          <a:prstGeom prst="rect">
            <a:avLst/>
          </a:prstGeom>
          <a:solidFill>
            <a:schemeClr val="accent6">
              <a:lumMod val="20000"/>
              <a:lumOff val="80000"/>
            </a:schemeClr>
          </a:solidFill>
        </p:spPr>
        <p:txBody>
          <a:bodyPr wrap="square" rtlCol="0">
            <a:spAutoFit/>
          </a:bodyPr>
          <a:lstStyle/>
          <a:p>
            <a:r>
              <a:rPr lang="zh-CN" altLang="zh-CN" sz="2800" dirty="0">
                <a:solidFill>
                  <a:schemeClr val="bg2"/>
                </a:solidFill>
              </a:rPr>
              <a:t>（</a:t>
            </a:r>
            <a:r>
              <a:rPr lang="en-US" altLang="zh-CN" sz="2800" dirty="0">
                <a:solidFill>
                  <a:schemeClr val="bg2"/>
                </a:solidFill>
              </a:rPr>
              <a:t>2023</a:t>
            </a:r>
            <a:r>
              <a:rPr lang="zh-CN" altLang="en-US" sz="2800" dirty="0">
                <a:solidFill>
                  <a:schemeClr val="bg2"/>
                </a:solidFill>
              </a:rPr>
              <a:t>，</a:t>
            </a:r>
            <a:r>
              <a:rPr lang="en-US" altLang="zh-CN" sz="2800" dirty="0">
                <a:solidFill>
                  <a:schemeClr val="bg2"/>
                </a:solidFill>
              </a:rPr>
              <a:t>7</a:t>
            </a:r>
            <a:r>
              <a:rPr lang="zh-CN" altLang="zh-CN" sz="2800" dirty="0">
                <a:solidFill>
                  <a:schemeClr val="bg2"/>
                </a:solidFill>
              </a:rPr>
              <a:t>分）现要求使用</a:t>
            </a:r>
            <a:r>
              <a:rPr lang="en-US" altLang="zh-CN" sz="2800" dirty="0">
                <a:solidFill>
                  <a:schemeClr val="bg2"/>
                </a:solidFill>
              </a:rPr>
              <a:t> </a:t>
            </a:r>
            <a:r>
              <a:rPr lang="en-US" altLang="zh-CN" sz="2800" dirty="0">
                <a:solidFill>
                  <a:srgbClr val="C00000"/>
                </a:solidFill>
                <a:latin typeface="+mn-lt"/>
              </a:rPr>
              <a:t>swap </a:t>
            </a:r>
            <a:r>
              <a:rPr lang="zh-CN" altLang="zh-CN" sz="2800" dirty="0">
                <a:solidFill>
                  <a:srgbClr val="C00000"/>
                </a:solidFill>
                <a:latin typeface="+mn-lt"/>
              </a:rPr>
              <a:t>指令</a:t>
            </a:r>
            <a:r>
              <a:rPr lang="en-US" altLang="zh-CN" sz="2800" dirty="0">
                <a:solidFill>
                  <a:srgbClr val="C00000"/>
                </a:solidFill>
                <a:latin typeface="+mn-lt"/>
              </a:rPr>
              <a:t>(</a:t>
            </a:r>
            <a:r>
              <a:rPr lang="zh-CN" altLang="en-US" sz="2800" dirty="0">
                <a:solidFill>
                  <a:srgbClr val="C00000"/>
                </a:solidFill>
                <a:latin typeface="+mn-lt"/>
              </a:rPr>
              <a:t>硬件原子指令</a:t>
            </a:r>
            <a:r>
              <a:rPr lang="en-US" altLang="zh-CN" sz="2800" dirty="0">
                <a:solidFill>
                  <a:srgbClr val="C00000"/>
                </a:solidFill>
                <a:latin typeface="+mn-lt"/>
              </a:rPr>
              <a:t>)</a:t>
            </a:r>
            <a:r>
              <a:rPr lang="zh-CN" altLang="zh-CN" sz="2800" dirty="0">
                <a:solidFill>
                  <a:schemeClr val="bg2"/>
                </a:solidFill>
                <a:latin typeface="+mn-lt"/>
              </a:rPr>
              <a:t>和布尔型变量</a:t>
            </a:r>
            <a:r>
              <a:rPr lang="en-US" altLang="zh-CN" sz="2800" dirty="0">
                <a:solidFill>
                  <a:schemeClr val="bg2"/>
                </a:solidFill>
                <a:latin typeface="+mn-lt"/>
              </a:rPr>
              <a:t> lock</a:t>
            </a:r>
            <a:r>
              <a:rPr lang="zh-CN" altLang="zh-CN" sz="2800" dirty="0">
                <a:solidFill>
                  <a:schemeClr val="bg2"/>
                </a:solidFill>
                <a:latin typeface="+mn-lt"/>
              </a:rPr>
              <a:t>，实现临界区互斥。</a:t>
            </a:r>
            <a:r>
              <a:rPr lang="en-US" altLang="zh-CN" sz="2800" dirty="0">
                <a:solidFill>
                  <a:schemeClr val="bg2"/>
                </a:solidFill>
                <a:latin typeface="+mn-lt"/>
              </a:rPr>
              <a:t>lock </a:t>
            </a:r>
            <a:r>
              <a:rPr lang="zh-CN" altLang="zh-CN" sz="2800" dirty="0">
                <a:solidFill>
                  <a:schemeClr val="bg2"/>
                </a:solidFill>
                <a:latin typeface="+mn-lt"/>
              </a:rPr>
              <a:t>为</a:t>
            </a:r>
            <a:r>
              <a:rPr lang="zh-CN" altLang="zh-CN" sz="2800" dirty="0">
                <a:solidFill>
                  <a:schemeClr val="bg2"/>
                </a:solidFill>
              </a:rPr>
              <a:t>线程间共</a:t>
            </a:r>
            <a:r>
              <a:rPr lang="zh-CN" altLang="en-US" sz="2800" dirty="0">
                <a:solidFill>
                  <a:schemeClr val="bg2"/>
                </a:solidFill>
              </a:rPr>
              <a:t>享</a:t>
            </a:r>
            <a:r>
              <a:rPr lang="zh-CN" altLang="zh-CN" sz="2800" dirty="0">
                <a:solidFill>
                  <a:schemeClr val="bg2"/>
                </a:solidFill>
              </a:rPr>
              <a:t>的变量。</a:t>
            </a:r>
            <a:r>
              <a:rPr lang="en-US" altLang="zh-CN" sz="2800" dirty="0">
                <a:solidFill>
                  <a:schemeClr val="bg2"/>
                </a:solidFill>
                <a:latin typeface="+mn-lt"/>
              </a:rPr>
              <a:t>lock </a:t>
            </a:r>
            <a:r>
              <a:rPr lang="zh-CN" altLang="zh-CN" sz="2800" dirty="0">
                <a:solidFill>
                  <a:schemeClr val="bg2"/>
                </a:solidFill>
              </a:rPr>
              <a:t>的值为</a:t>
            </a:r>
            <a:r>
              <a:rPr lang="en-US" altLang="zh-CN" sz="2800" dirty="0">
                <a:solidFill>
                  <a:schemeClr val="bg2"/>
                </a:solidFill>
              </a:rPr>
              <a:t> TRUE </a:t>
            </a:r>
            <a:r>
              <a:rPr lang="zh-CN" altLang="zh-CN" sz="2800" dirty="0">
                <a:solidFill>
                  <a:schemeClr val="bg2"/>
                </a:solidFill>
              </a:rPr>
              <a:t>时线程不能进入临界</a:t>
            </a:r>
            <a:r>
              <a:rPr lang="zh-CN" altLang="en-US" sz="2800" dirty="0">
                <a:solidFill>
                  <a:schemeClr val="bg2"/>
                </a:solidFill>
              </a:rPr>
              <a:t>区；</a:t>
            </a:r>
            <a:r>
              <a:rPr lang="zh-CN" altLang="zh-CN" sz="2800" dirty="0">
                <a:solidFill>
                  <a:schemeClr val="bg2"/>
                </a:solidFill>
              </a:rPr>
              <a:t>为</a:t>
            </a:r>
            <a:r>
              <a:rPr lang="en-US" altLang="zh-CN" sz="2800" dirty="0">
                <a:solidFill>
                  <a:schemeClr val="bg2"/>
                </a:solidFill>
              </a:rPr>
              <a:t> FALSE </a:t>
            </a:r>
            <a:r>
              <a:rPr lang="zh-CN" altLang="zh-CN" sz="2800" dirty="0">
                <a:solidFill>
                  <a:schemeClr val="bg2"/>
                </a:solidFill>
              </a:rPr>
              <a:t>时线程能进入临界区。某同学编写的实现临界区互斥的伪代码如（</a:t>
            </a:r>
            <a:r>
              <a:rPr lang="en-US" altLang="zh-CN" sz="2800" dirty="0">
                <a:solidFill>
                  <a:schemeClr val="bg2"/>
                </a:solidFill>
              </a:rPr>
              <a:t>a</a:t>
            </a:r>
            <a:r>
              <a:rPr lang="zh-CN" altLang="zh-CN" sz="2800" dirty="0">
                <a:solidFill>
                  <a:schemeClr val="bg2"/>
                </a:solidFill>
              </a:rPr>
              <a:t>）所示</a:t>
            </a:r>
            <a:r>
              <a:rPr lang="zh-CN" altLang="en-US" sz="2800" dirty="0">
                <a:solidFill>
                  <a:schemeClr val="bg2"/>
                </a:solidFill>
              </a:rPr>
              <a:t>：</a:t>
            </a:r>
            <a:endParaRPr lang="zh-CN" altLang="en-US" dirty="0"/>
          </a:p>
        </p:txBody>
      </p:sp>
      <p:sp>
        <p:nvSpPr>
          <p:cNvPr id="5" name="文本框 4">
            <a:extLst>
              <a:ext uri="{FF2B5EF4-FFF2-40B4-BE49-F238E27FC236}">
                <a16:creationId xmlns:a16="http://schemas.microsoft.com/office/drawing/2014/main" id="{8F6C2597-9BA1-4214-8979-2253306E6C1C}"/>
              </a:ext>
            </a:extLst>
          </p:cNvPr>
          <p:cNvSpPr txBox="1"/>
          <p:nvPr/>
        </p:nvSpPr>
        <p:spPr>
          <a:xfrm>
            <a:off x="45720" y="2314072"/>
            <a:ext cx="5184577" cy="2985433"/>
          </a:xfrm>
          <a:prstGeom prst="rect">
            <a:avLst/>
          </a:prstGeom>
          <a:solidFill>
            <a:schemeClr val="tx1">
              <a:lumMod val="85000"/>
            </a:schemeClr>
          </a:solidFill>
        </p:spPr>
        <p:txBody>
          <a:bodyPr wrap="square" rtlCol="0">
            <a:spAutoFit/>
          </a:bodyPr>
          <a:lstStyle/>
          <a:p>
            <a:r>
              <a:rPr lang="en-US" altLang="zh-CN" sz="2400" i="1" dirty="0">
                <a:solidFill>
                  <a:schemeClr val="bg2"/>
                </a:solidFill>
                <a:effectLst>
                  <a:outerShdw blurRad="38100" dist="38100" dir="2700000" algn="tl">
                    <a:srgbClr val="000000">
                      <a:alpha val="43137"/>
                    </a:srgbClr>
                  </a:outerShdw>
                </a:effectLst>
                <a:latin typeface="+mn-lt"/>
              </a:rPr>
              <a:t>bool lock=FALSE;//</a:t>
            </a:r>
            <a:r>
              <a:rPr lang="zh-CN" altLang="en-US" sz="2400" i="1" dirty="0">
                <a:solidFill>
                  <a:schemeClr val="bg2"/>
                </a:solidFill>
                <a:effectLst>
                  <a:outerShdw blurRad="38100" dist="38100" dir="2700000" algn="tl">
                    <a:srgbClr val="000000">
                      <a:alpha val="43137"/>
                    </a:srgbClr>
                  </a:outerShdw>
                </a:effectLst>
                <a:latin typeface="+mn-lt"/>
              </a:rPr>
              <a:t>初始化</a:t>
            </a:r>
            <a:endParaRPr lang="en-US" altLang="zh-CN" sz="2400" i="1" dirty="0">
              <a:solidFill>
                <a:schemeClr val="bg2"/>
              </a:solidFill>
              <a:effectLst>
                <a:outerShdw blurRad="38100" dist="38100" dir="2700000" algn="tl">
                  <a:srgbClr val="000000">
                    <a:alpha val="43137"/>
                  </a:srgbClr>
                </a:outerShdw>
              </a:effectLst>
              <a:latin typeface="+mn-lt"/>
            </a:endParaRPr>
          </a:p>
          <a:p>
            <a:r>
              <a:rPr lang="en-US" altLang="zh-CN" sz="2400" dirty="0">
                <a:solidFill>
                  <a:schemeClr val="bg2"/>
                </a:solidFill>
                <a:latin typeface="+mn-lt"/>
              </a:rPr>
              <a:t>//</a:t>
            </a:r>
            <a:r>
              <a:rPr lang="zh-CN" altLang="en-US" sz="2400" dirty="0">
                <a:solidFill>
                  <a:schemeClr val="bg2"/>
                </a:solidFill>
                <a:latin typeface="+mn-lt"/>
              </a:rPr>
              <a:t>进入区</a:t>
            </a:r>
            <a:endParaRPr lang="en-US" altLang="zh-CN" sz="2400" dirty="0">
              <a:solidFill>
                <a:schemeClr val="bg2"/>
              </a:solidFill>
              <a:latin typeface="+mn-lt"/>
            </a:endParaRPr>
          </a:p>
          <a:p>
            <a:r>
              <a:rPr lang="en-US" altLang="zh-CN" sz="2400" dirty="0">
                <a:solidFill>
                  <a:schemeClr val="bg2"/>
                </a:solidFill>
                <a:latin typeface="+mn-lt"/>
              </a:rPr>
              <a:t>bool key=TRUE;</a:t>
            </a:r>
          </a:p>
          <a:p>
            <a:r>
              <a:rPr lang="en-US" altLang="zh-CN" sz="2400" dirty="0">
                <a:solidFill>
                  <a:schemeClr val="bg2"/>
                </a:solidFill>
                <a:latin typeface="+mn-lt"/>
              </a:rPr>
              <a:t>if(key==TRUE)</a:t>
            </a:r>
          </a:p>
          <a:p>
            <a:r>
              <a:rPr lang="en-US" altLang="zh-CN" sz="2400" dirty="0">
                <a:solidFill>
                  <a:schemeClr val="bg2"/>
                </a:solidFill>
                <a:latin typeface="+mn-lt"/>
              </a:rPr>
              <a:t>    </a:t>
            </a:r>
            <a:r>
              <a:rPr lang="en-US" altLang="zh-CN" sz="2400" dirty="0">
                <a:solidFill>
                  <a:schemeClr val="bg1"/>
                </a:solidFill>
                <a:latin typeface="+mn-lt"/>
              </a:rPr>
              <a:t>swap key, lock</a:t>
            </a:r>
            <a:r>
              <a:rPr lang="en-US" altLang="zh-CN" sz="2400" dirty="0">
                <a:solidFill>
                  <a:schemeClr val="bg2"/>
                </a:solidFill>
                <a:latin typeface="+mn-lt"/>
              </a:rPr>
              <a:t>//</a:t>
            </a:r>
            <a:r>
              <a:rPr lang="zh-CN" altLang="en-US" sz="2400" dirty="0">
                <a:solidFill>
                  <a:schemeClr val="bg2"/>
                </a:solidFill>
                <a:latin typeface="+mn-lt"/>
              </a:rPr>
              <a:t>交换</a:t>
            </a:r>
            <a:r>
              <a:rPr lang="en-US" altLang="zh-CN" sz="2400" dirty="0">
                <a:solidFill>
                  <a:schemeClr val="bg2"/>
                </a:solidFill>
                <a:latin typeface="+mn-lt"/>
              </a:rPr>
              <a:t>key</a:t>
            </a:r>
            <a:r>
              <a:rPr lang="zh-CN" altLang="en-US" sz="2400" dirty="0">
                <a:solidFill>
                  <a:schemeClr val="bg2"/>
                </a:solidFill>
                <a:latin typeface="+mn-lt"/>
              </a:rPr>
              <a:t>和</a:t>
            </a:r>
            <a:r>
              <a:rPr lang="en-US" altLang="zh-CN" sz="2400" dirty="0">
                <a:solidFill>
                  <a:schemeClr val="bg2"/>
                </a:solidFill>
                <a:latin typeface="+mn-lt"/>
              </a:rPr>
              <a:t>lock</a:t>
            </a:r>
            <a:r>
              <a:rPr lang="zh-CN" altLang="en-US" sz="2400" dirty="0">
                <a:solidFill>
                  <a:schemeClr val="bg2"/>
                </a:solidFill>
                <a:latin typeface="+mn-lt"/>
              </a:rPr>
              <a:t>的值</a:t>
            </a:r>
            <a:endParaRPr lang="en-US" altLang="zh-CN" sz="2400" dirty="0">
              <a:solidFill>
                <a:schemeClr val="bg2"/>
              </a:solidFill>
              <a:latin typeface="+mn-lt"/>
            </a:endParaRPr>
          </a:p>
          <a:p>
            <a:pPr>
              <a:spcBef>
                <a:spcPts val="1200"/>
              </a:spcBef>
            </a:pPr>
            <a:r>
              <a:rPr lang="en-US" altLang="zh-CN" sz="2400" dirty="0">
                <a:solidFill>
                  <a:schemeClr val="bg2"/>
                </a:solidFill>
                <a:latin typeface="+mn-lt"/>
              </a:rPr>
              <a:t>//</a:t>
            </a:r>
            <a:r>
              <a:rPr lang="zh-CN" altLang="en-US" sz="2400" dirty="0">
                <a:solidFill>
                  <a:schemeClr val="bg2"/>
                </a:solidFill>
                <a:latin typeface="+mn-lt"/>
              </a:rPr>
              <a:t>临界区</a:t>
            </a:r>
            <a:endParaRPr lang="en-US" altLang="zh-CN" sz="2400" dirty="0">
              <a:solidFill>
                <a:schemeClr val="bg2"/>
              </a:solidFill>
              <a:latin typeface="+mn-lt"/>
            </a:endParaRPr>
          </a:p>
          <a:p>
            <a:pPr>
              <a:spcBef>
                <a:spcPts val="1200"/>
              </a:spcBef>
            </a:pPr>
            <a:r>
              <a:rPr lang="en-US" altLang="zh-CN" sz="2400" dirty="0">
                <a:solidFill>
                  <a:schemeClr val="bg2"/>
                </a:solidFill>
                <a:latin typeface="+mn-lt"/>
              </a:rPr>
              <a:t>lock=	TRUE;  //</a:t>
            </a:r>
            <a:r>
              <a:rPr lang="zh-CN" altLang="en-US" sz="2400" dirty="0">
                <a:solidFill>
                  <a:schemeClr val="bg2"/>
                </a:solidFill>
                <a:latin typeface="+mn-lt"/>
              </a:rPr>
              <a:t>退出区</a:t>
            </a:r>
            <a:r>
              <a:rPr lang="en-US" altLang="zh-CN" sz="2400" dirty="0">
                <a:solidFill>
                  <a:schemeClr val="bg2"/>
                </a:solidFill>
                <a:latin typeface="+mn-lt"/>
              </a:rPr>
              <a:t> </a:t>
            </a:r>
            <a:endParaRPr lang="zh-CN" altLang="en-US" dirty="0">
              <a:solidFill>
                <a:schemeClr val="bg2"/>
              </a:solidFill>
            </a:endParaRPr>
          </a:p>
        </p:txBody>
      </p:sp>
      <p:sp>
        <p:nvSpPr>
          <p:cNvPr id="6" name="文本框 5">
            <a:extLst>
              <a:ext uri="{FF2B5EF4-FFF2-40B4-BE49-F238E27FC236}">
                <a16:creationId xmlns:a16="http://schemas.microsoft.com/office/drawing/2014/main" id="{CC340BE6-A686-4948-A329-3E6B13FD3FA0}"/>
              </a:ext>
            </a:extLst>
          </p:cNvPr>
          <p:cNvSpPr txBox="1"/>
          <p:nvPr/>
        </p:nvSpPr>
        <p:spPr>
          <a:xfrm>
            <a:off x="-16756" y="5622878"/>
            <a:ext cx="9144000" cy="1077218"/>
          </a:xfrm>
          <a:prstGeom prst="rect">
            <a:avLst/>
          </a:prstGeom>
          <a:solidFill>
            <a:srgbClr val="99CCFF"/>
          </a:solidFill>
        </p:spPr>
        <p:txBody>
          <a:bodyPr wrap="square" rtlCol="0">
            <a:spAutoFit/>
          </a:bodyPr>
          <a:lstStyle/>
          <a:p>
            <a:r>
              <a:rPr lang="en-US" altLang="zh-CN" dirty="0">
                <a:solidFill>
                  <a:schemeClr val="bg2"/>
                </a:solidFill>
                <a:latin typeface="+mn-lt"/>
              </a:rPr>
              <a:t>(1)</a:t>
            </a:r>
            <a:r>
              <a:rPr lang="zh-CN" altLang="zh-CN" dirty="0">
                <a:solidFill>
                  <a:schemeClr val="bg2"/>
                </a:solidFill>
              </a:rPr>
              <a:t>伪代码中哪些语句存在错误，进行改正，不增加语句条数。</a:t>
            </a:r>
            <a:endParaRPr lang="zh-CN" altLang="en-US" dirty="0">
              <a:solidFill>
                <a:schemeClr val="bg2"/>
              </a:solidFill>
            </a:endParaRPr>
          </a:p>
        </p:txBody>
      </p:sp>
      <p:sp>
        <p:nvSpPr>
          <p:cNvPr id="7" name="文本框 6">
            <a:extLst>
              <a:ext uri="{FF2B5EF4-FFF2-40B4-BE49-F238E27FC236}">
                <a16:creationId xmlns:a16="http://schemas.microsoft.com/office/drawing/2014/main" id="{9190D932-53B9-443F-96F3-C08E57C3FB20}"/>
              </a:ext>
            </a:extLst>
          </p:cNvPr>
          <p:cNvSpPr txBox="1"/>
          <p:nvPr/>
        </p:nvSpPr>
        <p:spPr>
          <a:xfrm>
            <a:off x="1767913" y="5222400"/>
            <a:ext cx="1675284" cy="461665"/>
          </a:xfrm>
          <a:prstGeom prst="rect">
            <a:avLst/>
          </a:prstGeom>
          <a:noFill/>
        </p:spPr>
        <p:txBody>
          <a:bodyPr wrap="square" rtlCol="0">
            <a:spAutoFit/>
          </a:bodyPr>
          <a:lstStyle/>
          <a:p>
            <a:pPr algn="ctr"/>
            <a:r>
              <a:rPr lang="zh-CN" altLang="en-US" sz="2400" dirty="0">
                <a:solidFill>
                  <a:schemeClr val="bg2"/>
                </a:solidFill>
                <a:latin typeface="+mn-lt"/>
              </a:rPr>
              <a:t>（</a:t>
            </a:r>
            <a:r>
              <a:rPr lang="en-US" altLang="zh-CN" sz="2400" dirty="0">
                <a:solidFill>
                  <a:schemeClr val="bg2"/>
                </a:solidFill>
                <a:latin typeface="+mn-lt"/>
              </a:rPr>
              <a:t>a</a:t>
            </a:r>
            <a:r>
              <a:rPr lang="zh-CN" altLang="en-US" sz="2400" dirty="0">
                <a:solidFill>
                  <a:schemeClr val="bg2"/>
                </a:solidFill>
                <a:latin typeface="+mn-lt"/>
              </a:rPr>
              <a:t>）</a:t>
            </a:r>
          </a:p>
        </p:txBody>
      </p:sp>
      <p:sp>
        <p:nvSpPr>
          <p:cNvPr id="8" name="矩形 7">
            <a:extLst>
              <a:ext uri="{FF2B5EF4-FFF2-40B4-BE49-F238E27FC236}">
                <a16:creationId xmlns:a16="http://schemas.microsoft.com/office/drawing/2014/main" id="{D445998F-DE63-4DA4-9534-BBDC53CA05BA}"/>
              </a:ext>
            </a:extLst>
          </p:cNvPr>
          <p:cNvSpPr/>
          <p:nvPr/>
        </p:nvSpPr>
        <p:spPr bwMode="auto">
          <a:xfrm>
            <a:off x="49271" y="3503669"/>
            <a:ext cx="5112568" cy="743779"/>
          </a:xfrm>
          <a:prstGeom prst="rect">
            <a:avLst/>
          </a:prstGeom>
          <a:noFill/>
          <a:ln w="38100" cap="flat" cmpd="sng" algn="ctr">
            <a:solidFill>
              <a:srgbClr val="C00000"/>
            </a:solidFill>
            <a:prstDash val="dash"/>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grpSp>
        <p:nvGrpSpPr>
          <p:cNvPr id="11" name="组合 10">
            <a:extLst>
              <a:ext uri="{FF2B5EF4-FFF2-40B4-BE49-F238E27FC236}">
                <a16:creationId xmlns:a16="http://schemas.microsoft.com/office/drawing/2014/main" id="{E0FDAE81-D911-4E8E-9313-DED9B8BF981A}"/>
              </a:ext>
            </a:extLst>
          </p:cNvPr>
          <p:cNvGrpSpPr/>
          <p:nvPr/>
        </p:nvGrpSpPr>
        <p:grpSpPr>
          <a:xfrm>
            <a:off x="5472947" y="3469961"/>
            <a:ext cx="3621782" cy="1012667"/>
            <a:chOff x="4732759" y="3240737"/>
            <a:chExt cx="2992273" cy="433841"/>
          </a:xfrm>
        </p:grpSpPr>
        <p:sp>
          <p:nvSpPr>
            <p:cNvPr id="9" name="文本框 8">
              <a:extLst>
                <a:ext uri="{FF2B5EF4-FFF2-40B4-BE49-F238E27FC236}">
                  <a16:creationId xmlns:a16="http://schemas.microsoft.com/office/drawing/2014/main" id="{C83E8278-BA6D-4F22-B328-5E0C44967E95}"/>
                </a:ext>
              </a:extLst>
            </p:cNvPr>
            <p:cNvSpPr txBox="1"/>
            <p:nvPr/>
          </p:nvSpPr>
          <p:spPr>
            <a:xfrm>
              <a:off x="4772704" y="3247929"/>
              <a:ext cx="2952328" cy="405100"/>
            </a:xfrm>
            <a:prstGeom prst="rect">
              <a:avLst/>
            </a:prstGeom>
            <a:solidFill>
              <a:schemeClr val="tx1">
                <a:lumMod val="85000"/>
              </a:schemeClr>
            </a:solidFill>
          </p:spPr>
          <p:txBody>
            <a:bodyPr wrap="square" rtlCol="0">
              <a:spAutoFit/>
            </a:bodyPr>
            <a:lstStyle/>
            <a:p>
              <a:r>
                <a:rPr lang="en-US" altLang="zh-CN" sz="2400" dirty="0">
                  <a:solidFill>
                    <a:schemeClr val="bg2"/>
                  </a:solidFill>
                  <a:latin typeface="+mn-lt"/>
                </a:rPr>
                <a:t>while(key==TRUE)</a:t>
              </a:r>
            </a:p>
            <a:p>
              <a:pPr>
                <a:lnSpc>
                  <a:spcPct val="150000"/>
                </a:lnSpc>
                <a:spcAft>
                  <a:spcPts val="600"/>
                </a:spcAft>
              </a:pPr>
              <a:r>
                <a:rPr lang="en-US" altLang="zh-CN" sz="2400" dirty="0">
                  <a:solidFill>
                    <a:schemeClr val="bg2"/>
                  </a:solidFill>
                  <a:latin typeface="+mn-lt"/>
                </a:rPr>
                <a:t>	</a:t>
              </a:r>
              <a:r>
                <a:rPr lang="en-US" altLang="zh-CN" sz="2400" dirty="0">
                  <a:solidFill>
                    <a:schemeClr val="bg2"/>
                  </a:solidFill>
                </a:rPr>
                <a:t> </a:t>
              </a:r>
              <a:r>
                <a:rPr lang="en-US" altLang="zh-CN" sz="2400" dirty="0">
                  <a:solidFill>
                    <a:schemeClr val="bg1"/>
                  </a:solidFill>
                  <a:latin typeface="+mn-lt"/>
                </a:rPr>
                <a:t>swap key, lock</a:t>
              </a:r>
            </a:p>
          </p:txBody>
        </p:sp>
        <p:sp>
          <p:nvSpPr>
            <p:cNvPr id="10" name="矩形 9">
              <a:extLst>
                <a:ext uri="{FF2B5EF4-FFF2-40B4-BE49-F238E27FC236}">
                  <a16:creationId xmlns:a16="http://schemas.microsoft.com/office/drawing/2014/main" id="{9014B754-35B8-4DA9-B0A3-1E36A11C6713}"/>
                </a:ext>
              </a:extLst>
            </p:cNvPr>
            <p:cNvSpPr/>
            <p:nvPr/>
          </p:nvSpPr>
          <p:spPr bwMode="auto">
            <a:xfrm>
              <a:off x="4732759" y="3240737"/>
              <a:ext cx="2952328" cy="433841"/>
            </a:xfrm>
            <a:prstGeom prst="rect">
              <a:avLst/>
            </a:prstGeom>
            <a:noFill/>
            <a:ln w="38100" cap="flat" cmpd="sng" algn="ctr">
              <a:solidFill>
                <a:srgbClr val="C00000"/>
              </a:solidFill>
              <a:prstDash val="dash"/>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grpSp>
      <p:sp>
        <p:nvSpPr>
          <p:cNvPr id="12" name="矩形 11">
            <a:extLst>
              <a:ext uri="{FF2B5EF4-FFF2-40B4-BE49-F238E27FC236}">
                <a16:creationId xmlns:a16="http://schemas.microsoft.com/office/drawing/2014/main" id="{F10390B8-A979-4FF5-A586-4B00C9E430A3}"/>
              </a:ext>
            </a:extLst>
          </p:cNvPr>
          <p:cNvSpPr/>
          <p:nvPr/>
        </p:nvSpPr>
        <p:spPr bwMode="auto">
          <a:xfrm>
            <a:off x="111287" y="4837781"/>
            <a:ext cx="1926735" cy="405110"/>
          </a:xfrm>
          <a:prstGeom prst="rect">
            <a:avLst/>
          </a:prstGeom>
          <a:noFill/>
          <a:ln w="38100" cap="flat" cmpd="sng" algn="ctr">
            <a:solidFill>
              <a:srgbClr val="C00000"/>
            </a:solidFill>
            <a:prstDash val="dash"/>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grpSp>
        <p:nvGrpSpPr>
          <p:cNvPr id="13" name="组合 12">
            <a:extLst>
              <a:ext uri="{FF2B5EF4-FFF2-40B4-BE49-F238E27FC236}">
                <a16:creationId xmlns:a16="http://schemas.microsoft.com/office/drawing/2014/main" id="{F9BD9DB9-D7BF-4B80-A2D4-7CA809556521}"/>
              </a:ext>
            </a:extLst>
          </p:cNvPr>
          <p:cNvGrpSpPr/>
          <p:nvPr/>
        </p:nvGrpSpPr>
        <p:grpSpPr>
          <a:xfrm>
            <a:off x="5540650" y="4821921"/>
            <a:ext cx="2220572" cy="472946"/>
            <a:chOff x="4527455" y="3535556"/>
            <a:chExt cx="2978988" cy="472946"/>
          </a:xfrm>
        </p:grpSpPr>
        <p:sp>
          <p:nvSpPr>
            <p:cNvPr id="14" name="文本框 13">
              <a:extLst>
                <a:ext uri="{FF2B5EF4-FFF2-40B4-BE49-F238E27FC236}">
                  <a16:creationId xmlns:a16="http://schemas.microsoft.com/office/drawing/2014/main" id="{A96DB01C-D43E-4280-ADD3-F8E5525180E3}"/>
                </a:ext>
              </a:extLst>
            </p:cNvPr>
            <p:cNvSpPr txBox="1"/>
            <p:nvPr/>
          </p:nvSpPr>
          <p:spPr>
            <a:xfrm>
              <a:off x="4554115" y="3535556"/>
              <a:ext cx="2952328" cy="461665"/>
            </a:xfrm>
            <a:prstGeom prst="rect">
              <a:avLst/>
            </a:prstGeom>
            <a:solidFill>
              <a:schemeClr val="tx1">
                <a:lumMod val="85000"/>
              </a:schemeClr>
            </a:solidFill>
            <a:ln>
              <a:solidFill>
                <a:srgbClr val="C00000"/>
              </a:solidFill>
            </a:ln>
          </p:spPr>
          <p:txBody>
            <a:bodyPr wrap="square" rtlCol="0">
              <a:spAutoFit/>
            </a:bodyPr>
            <a:lstStyle/>
            <a:p>
              <a:r>
                <a:rPr lang="en-US" altLang="zh-CN" sz="2400" dirty="0">
                  <a:solidFill>
                    <a:schemeClr val="bg2"/>
                  </a:solidFill>
                  <a:latin typeface="+mn-lt"/>
                </a:rPr>
                <a:t>lock=FALSE;</a:t>
              </a:r>
            </a:p>
          </p:txBody>
        </p:sp>
        <p:sp>
          <p:nvSpPr>
            <p:cNvPr id="15" name="矩形 14">
              <a:extLst>
                <a:ext uri="{FF2B5EF4-FFF2-40B4-BE49-F238E27FC236}">
                  <a16:creationId xmlns:a16="http://schemas.microsoft.com/office/drawing/2014/main" id="{EF5D6FFD-7C0F-453D-B833-89453D18BD69}"/>
                </a:ext>
              </a:extLst>
            </p:cNvPr>
            <p:cNvSpPr/>
            <p:nvPr/>
          </p:nvSpPr>
          <p:spPr bwMode="auto">
            <a:xfrm>
              <a:off x="4527455" y="3546837"/>
              <a:ext cx="2952328" cy="461665"/>
            </a:xfrm>
            <a:prstGeom prst="rect">
              <a:avLst/>
            </a:prstGeom>
            <a:noFill/>
            <a:ln w="38100" cap="flat" cmpd="sng" algn="ctr">
              <a:solidFill>
                <a:srgbClr val="C00000"/>
              </a:solidFill>
              <a:prstDash val="dash"/>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grpSp>
      <p:sp>
        <p:nvSpPr>
          <p:cNvPr id="16" name="AutoShape 27">
            <a:hlinkClick r:id="" action="ppaction://hlinkshowjump?jump=nextslide" highlightClick="1"/>
            <a:extLst>
              <a:ext uri="{FF2B5EF4-FFF2-40B4-BE49-F238E27FC236}">
                <a16:creationId xmlns:a16="http://schemas.microsoft.com/office/drawing/2014/main" id="{46792DF7-1987-4E56-92C8-034157C3A71B}"/>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7" name="矩形 16">
            <a:extLst>
              <a:ext uri="{FF2B5EF4-FFF2-40B4-BE49-F238E27FC236}">
                <a16:creationId xmlns:a16="http://schemas.microsoft.com/office/drawing/2014/main" id="{C843C621-818A-43E1-B275-DB2510B07DD0}"/>
              </a:ext>
            </a:extLst>
          </p:cNvPr>
          <p:cNvSpPr/>
          <p:nvPr/>
        </p:nvSpPr>
        <p:spPr>
          <a:xfrm>
            <a:off x="111287" y="4368692"/>
            <a:ext cx="1436378" cy="331985"/>
          </a:xfrm>
          <a:prstGeom prst="rect">
            <a:avLst/>
          </a:prstGeom>
          <a:solidFill>
            <a:srgbClr val="1BED7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Tree>
    <p:extLst>
      <p:ext uri="{BB962C8B-B14F-4D97-AF65-F5344CB8AC3E}">
        <p14:creationId xmlns:p14="http://schemas.microsoft.com/office/powerpoint/2010/main" val="2593291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par>
                          <p:cTn id="27" fill="hold">
                            <p:stCondLst>
                              <p:cond delay="1000"/>
                            </p:stCondLst>
                            <p:childTnLst>
                              <p:par>
                                <p:cTn id="28" presetID="2" presetClass="entr" presetSubtype="6"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additive="base">
                                        <p:cTn id="30" dur="500" fill="hold"/>
                                        <p:tgtEl>
                                          <p:spTgt spid="16"/>
                                        </p:tgtEl>
                                        <p:attrNameLst>
                                          <p:attrName>ppt_x</p:attrName>
                                        </p:attrNameLst>
                                      </p:cBhvr>
                                      <p:tavLst>
                                        <p:tav tm="0">
                                          <p:val>
                                            <p:strVal val="1+#ppt_w/2"/>
                                          </p:val>
                                        </p:tav>
                                        <p:tav tm="100000">
                                          <p:val>
                                            <p:strVal val="#ppt_x"/>
                                          </p:val>
                                        </p:tav>
                                      </p:tavLst>
                                    </p:anim>
                                    <p:anim calcmode="lin" valueType="num">
                                      <p:cBhvr additive="base">
                                        <p:cTn id="31"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3A5C107-CD6F-434C-B38B-D54B5A1F0065}"/>
              </a:ext>
            </a:extLst>
          </p:cNvPr>
          <p:cNvSpPr>
            <a:spLocks noGrp="1"/>
          </p:cNvSpPr>
          <p:nvPr>
            <p:ph type="dt" sz="half" idx="10"/>
          </p:nvPr>
        </p:nvSpPr>
        <p:spPr/>
        <p:txBody>
          <a:bodyPr/>
          <a:lstStyle/>
          <a:p>
            <a:pPr>
              <a:defRPr/>
            </a:pPr>
            <a:fld id="{0F3703A3-1889-4D5A-B002-82B1611E7DF6}" type="datetime1">
              <a:rPr lang="zh-CN" altLang="en-US" smtClean="0"/>
              <a:pPr>
                <a:defRPr/>
              </a:pPr>
              <a:t>2024/10/9</a:t>
            </a:fld>
            <a:endParaRPr lang="en-US" altLang="zh-CN"/>
          </a:p>
        </p:txBody>
      </p:sp>
      <p:sp>
        <p:nvSpPr>
          <p:cNvPr id="4" name="文本框 3">
            <a:extLst>
              <a:ext uri="{FF2B5EF4-FFF2-40B4-BE49-F238E27FC236}">
                <a16:creationId xmlns:a16="http://schemas.microsoft.com/office/drawing/2014/main" id="{E8FF6EC2-191C-46A9-AD33-391F39783CEF}"/>
              </a:ext>
            </a:extLst>
          </p:cNvPr>
          <p:cNvSpPr txBox="1"/>
          <p:nvPr/>
        </p:nvSpPr>
        <p:spPr>
          <a:xfrm>
            <a:off x="-29313" y="0"/>
            <a:ext cx="9173314" cy="1815882"/>
          </a:xfrm>
          <a:prstGeom prst="rect">
            <a:avLst/>
          </a:prstGeom>
          <a:solidFill>
            <a:srgbClr val="99CCFF"/>
          </a:solidFill>
        </p:spPr>
        <p:txBody>
          <a:bodyPr wrap="square" rtlCol="0">
            <a:spAutoFit/>
          </a:bodyPr>
          <a:lstStyle/>
          <a:p>
            <a:r>
              <a:rPr lang="en-US" altLang="zh-CN" sz="2800" dirty="0">
                <a:solidFill>
                  <a:schemeClr val="bg2"/>
                </a:solidFill>
                <a:latin typeface="+mn-lt"/>
              </a:rPr>
              <a:t>(2) </a:t>
            </a:r>
            <a:r>
              <a:rPr lang="zh-CN" altLang="zh-CN" sz="2800" dirty="0">
                <a:solidFill>
                  <a:schemeClr val="bg2"/>
                </a:solidFill>
              </a:rPr>
              <a:t>（</a:t>
            </a:r>
            <a:r>
              <a:rPr lang="en-US" altLang="zh-CN" sz="2800" dirty="0">
                <a:solidFill>
                  <a:schemeClr val="bg2"/>
                </a:solidFill>
              </a:rPr>
              <a:t>b</a:t>
            </a:r>
            <a:r>
              <a:rPr lang="zh-CN" altLang="zh-CN" sz="2800" dirty="0">
                <a:solidFill>
                  <a:schemeClr val="bg2"/>
                </a:solidFill>
              </a:rPr>
              <a:t>）图中给出交换两个变量值的函数</a:t>
            </a:r>
            <a:r>
              <a:rPr lang="en-US" altLang="zh-CN" sz="2800" dirty="0">
                <a:solidFill>
                  <a:schemeClr val="bg2"/>
                </a:solidFill>
              </a:rPr>
              <a:t> </a:t>
            </a:r>
            <a:r>
              <a:rPr lang="en-US" altLang="zh-CN" sz="2800" dirty="0" err="1">
                <a:solidFill>
                  <a:schemeClr val="bg2"/>
                </a:solidFill>
                <a:latin typeface="+mn-lt"/>
              </a:rPr>
              <a:t>newswap</a:t>
            </a:r>
            <a:r>
              <a:rPr lang="zh-CN" altLang="zh-CN" sz="2800" dirty="0">
                <a:solidFill>
                  <a:schemeClr val="bg2"/>
                </a:solidFill>
                <a:latin typeface="+mn-lt"/>
              </a:rPr>
              <a:t>（）</a:t>
            </a:r>
            <a:r>
              <a:rPr lang="zh-CN" altLang="zh-CN" sz="2800" dirty="0">
                <a:solidFill>
                  <a:schemeClr val="bg2"/>
                </a:solidFill>
              </a:rPr>
              <a:t>的代码</a:t>
            </a:r>
            <a:r>
              <a:rPr lang="zh-CN" altLang="en-US" sz="2800" dirty="0">
                <a:solidFill>
                  <a:schemeClr val="bg2"/>
                </a:solidFill>
              </a:rPr>
              <a:t>。</a:t>
            </a:r>
            <a:r>
              <a:rPr lang="zh-CN" altLang="zh-CN" sz="2800" dirty="0">
                <a:solidFill>
                  <a:schemeClr val="bg2"/>
                </a:solidFill>
              </a:rPr>
              <a:t>是否可以用函数调用语句</a:t>
            </a:r>
            <a:r>
              <a:rPr lang="zh-CN" altLang="zh-CN" sz="2800" dirty="0">
                <a:solidFill>
                  <a:schemeClr val="bg2"/>
                </a:solidFill>
                <a:latin typeface="+mn-lt"/>
              </a:rPr>
              <a:t>“</a:t>
            </a:r>
            <a:r>
              <a:rPr lang="en-US" altLang="zh-CN" sz="2800" dirty="0" err="1">
                <a:solidFill>
                  <a:schemeClr val="bg2"/>
                </a:solidFill>
                <a:latin typeface="+mn-lt"/>
              </a:rPr>
              <a:t>newswap</a:t>
            </a:r>
            <a:r>
              <a:rPr lang="en-US" altLang="zh-CN" sz="2800" dirty="0">
                <a:solidFill>
                  <a:schemeClr val="bg2"/>
                </a:solidFill>
                <a:latin typeface="+mn-lt"/>
              </a:rPr>
              <a:t>(&amp;</a:t>
            </a:r>
            <a:r>
              <a:rPr lang="en-US" altLang="zh-CN" sz="2800" dirty="0" err="1">
                <a:solidFill>
                  <a:schemeClr val="bg2"/>
                </a:solidFill>
                <a:latin typeface="+mn-lt"/>
              </a:rPr>
              <a:t>key,&amp;lock</a:t>
            </a:r>
            <a:r>
              <a:rPr lang="en-US" altLang="zh-CN" sz="2800" dirty="0">
                <a:solidFill>
                  <a:schemeClr val="bg2"/>
                </a:solidFill>
                <a:latin typeface="+mn-lt"/>
              </a:rPr>
              <a:t>)</a:t>
            </a:r>
            <a:r>
              <a:rPr lang="zh-CN" altLang="zh-CN" sz="2800" dirty="0">
                <a:solidFill>
                  <a:schemeClr val="bg2"/>
                </a:solidFill>
                <a:latin typeface="+mn-lt"/>
              </a:rPr>
              <a:t>”</a:t>
            </a:r>
            <a:r>
              <a:rPr lang="en-US" altLang="zh-CN" sz="2800" dirty="0">
                <a:solidFill>
                  <a:schemeClr val="bg2"/>
                </a:solidFill>
                <a:latin typeface="+mn-lt"/>
              </a:rPr>
              <a:t>, </a:t>
            </a:r>
            <a:r>
              <a:rPr lang="zh-CN" altLang="zh-CN" sz="2800" dirty="0">
                <a:solidFill>
                  <a:schemeClr val="bg2"/>
                </a:solidFill>
                <a:latin typeface="+mn-lt"/>
              </a:rPr>
              <a:t>代替指令“</a:t>
            </a:r>
            <a:r>
              <a:rPr lang="en-US" altLang="zh-CN" sz="2800" dirty="0">
                <a:solidFill>
                  <a:schemeClr val="bg2"/>
                </a:solidFill>
                <a:latin typeface="+mn-lt"/>
              </a:rPr>
              <a:t>swap key</a:t>
            </a:r>
            <a:r>
              <a:rPr lang="zh-CN" altLang="zh-CN" sz="2800" dirty="0">
                <a:solidFill>
                  <a:schemeClr val="bg2"/>
                </a:solidFill>
                <a:latin typeface="+mn-lt"/>
              </a:rPr>
              <a:t>，</a:t>
            </a:r>
            <a:r>
              <a:rPr lang="en-US" altLang="zh-CN" sz="2800" dirty="0">
                <a:solidFill>
                  <a:schemeClr val="bg2"/>
                </a:solidFill>
                <a:latin typeface="+mn-lt"/>
              </a:rPr>
              <a:t>lock</a:t>
            </a:r>
            <a:r>
              <a:rPr lang="zh-CN" altLang="zh-CN" sz="2800" dirty="0">
                <a:solidFill>
                  <a:schemeClr val="bg2"/>
                </a:solidFill>
                <a:latin typeface="+mn-lt"/>
              </a:rPr>
              <a:t>”</a:t>
            </a:r>
            <a:r>
              <a:rPr lang="zh-CN" altLang="en-US" sz="2800" dirty="0">
                <a:solidFill>
                  <a:schemeClr val="bg2"/>
                </a:solidFill>
              </a:rPr>
              <a:t> </a:t>
            </a:r>
            <a:r>
              <a:rPr lang="zh-CN" altLang="zh-CN" sz="2800" dirty="0">
                <a:solidFill>
                  <a:schemeClr val="bg2"/>
                </a:solidFill>
              </a:rPr>
              <a:t>实现临界区的互斥？为什么？</a:t>
            </a:r>
            <a:endParaRPr lang="zh-CN" altLang="en-US" sz="2800" dirty="0">
              <a:solidFill>
                <a:schemeClr val="bg2"/>
              </a:solidFill>
            </a:endParaRPr>
          </a:p>
        </p:txBody>
      </p:sp>
      <p:sp>
        <p:nvSpPr>
          <p:cNvPr id="6" name="文本框 5">
            <a:extLst>
              <a:ext uri="{FF2B5EF4-FFF2-40B4-BE49-F238E27FC236}">
                <a16:creationId xmlns:a16="http://schemas.microsoft.com/office/drawing/2014/main" id="{72DDB0C0-FD10-48F1-AFEA-930765E04B37}"/>
              </a:ext>
            </a:extLst>
          </p:cNvPr>
          <p:cNvSpPr txBox="1"/>
          <p:nvPr/>
        </p:nvSpPr>
        <p:spPr>
          <a:xfrm>
            <a:off x="4572000" y="2952371"/>
            <a:ext cx="4464496" cy="2308324"/>
          </a:xfrm>
          <a:prstGeom prst="rect">
            <a:avLst/>
          </a:prstGeom>
          <a:solidFill>
            <a:schemeClr val="tx1">
              <a:lumMod val="85000"/>
            </a:schemeClr>
          </a:solidFill>
        </p:spPr>
        <p:txBody>
          <a:bodyPr wrap="square" rtlCol="0">
            <a:spAutoFit/>
          </a:bodyPr>
          <a:lstStyle/>
          <a:p>
            <a:r>
              <a:rPr lang="en-US" altLang="zh-CN" sz="2400" dirty="0">
                <a:solidFill>
                  <a:schemeClr val="bg2"/>
                </a:solidFill>
                <a:latin typeface="+mn-lt"/>
              </a:rPr>
              <a:t>void </a:t>
            </a:r>
            <a:r>
              <a:rPr lang="en-US" altLang="zh-CN" sz="2400" dirty="0" err="1">
                <a:solidFill>
                  <a:schemeClr val="bg2"/>
                </a:solidFill>
                <a:latin typeface="+mn-lt"/>
              </a:rPr>
              <a:t>newswap</a:t>
            </a:r>
            <a:r>
              <a:rPr lang="en-US" altLang="zh-CN" sz="2400" dirty="0">
                <a:solidFill>
                  <a:schemeClr val="bg2"/>
                </a:solidFill>
                <a:latin typeface="+mn-lt"/>
              </a:rPr>
              <a:t>(bool *a, bool *b)</a:t>
            </a:r>
          </a:p>
          <a:p>
            <a:r>
              <a:rPr lang="en-US" altLang="zh-CN" sz="2400" dirty="0">
                <a:solidFill>
                  <a:schemeClr val="bg2"/>
                </a:solidFill>
                <a:latin typeface="+mn-lt"/>
              </a:rPr>
              <a:t>{</a:t>
            </a:r>
          </a:p>
          <a:p>
            <a:r>
              <a:rPr lang="en-US" altLang="zh-CN" sz="2400" dirty="0">
                <a:solidFill>
                  <a:schemeClr val="bg2"/>
                </a:solidFill>
                <a:latin typeface="+mn-lt"/>
              </a:rPr>
              <a:t>bool temp=*a;</a:t>
            </a:r>
          </a:p>
          <a:p>
            <a:r>
              <a:rPr lang="en-US" altLang="zh-CN" sz="2400" dirty="0">
                <a:solidFill>
                  <a:schemeClr val="bg2"/>
                </a:solidFill>
                <a:latin typeface="+mn-lt"/>
              </a:rPr>
              <a:t>*a=*b;</a:t>
            </a:r>
          </a:p>
          <a:p>
            <a:r>
              <a:rPr lang="en-US" altLang="zh-CN" sz="2400" dirty="0">
                <a:solidFill>
                  <a:schemeClr val="bg2"/>
                </a:solidFill>
                <a:latin typeface="+mn-lt"/>
              </a:rPr>
              <a:t>*b=temp;</a:t>
            </a:r>
          </a:p>
          <a:p>
            <a:r>
              <a:rPr lang="en-US" altLang="zh-CN" sz="2400" dirty="0">
                <a:solidFill>
                  <a:schemeClr val="bg2"/>
                </a:solidFill>
                <a:latin typeface="+mn-lt"/>
              </a:rPr>
              <a:t>}</a:t>
            </a:r>
          </a:p>
        </p:txBody>
      </p:sp>
      <p:sp>
        <p:nvSpPr>
          <p:cNvPr id="7" name="文本框 6">
            <a:extLst>
              <a:ext uri="{FF2B5EF4-FFF2-40B4-BE49-F238E27FC236}">
                <a16:creationId xmlns:a16="http://schemas.microsoft.com/office/drawing/2014/main" id="{549D9B7C-CC58-4644-A71E-30BCC9660DA4}"/>
              </a:ext>
            </a:extLst>
          </p:cNvPr>
          <p:cNvSpPr txBox="1"/>
          <p:nvPr/>
        </p:nvSpPr>
        <p:spPr>
          <a:xfrm>
            <a:off x="1058838" y="5260695"/>
            <a:ext cx="1675284" cy="461665"/>
          </a:xfrm>
          <a:prstGeom prst="rect">
            <a:avLst/>
          </a:prstGeom>
          <a:noFill/>
        </p:spPr>
        <p:txBody>
          <a:bodyPr wrap="square" rtlCol="0">
            <a:spAutoFit/>
          </a:bodyPr>
          <a:lstStyle/>
          <a:p>
            <a:pPr algn="ctr"/>
            <a:r>
              <a:rPr lang="zh-CN" altLang="en-US" sz="2400" dirty="0">
                <a:solidFill>
                  <a:schemeClr val="bg2"/>
                </a:solidFill>
                <a:latin typeface="+mn-lt"/>
              </a:rPr>
              <a:t>（</a:t>
            </a:r>
            <a:r>
              <a:rPr lang="en-US" altLang="zh-CN" sz="2400" dirty="0">
                <a:solidFill>
                  <a:schemeClr val="bg2"/>
                </a:solidFill>
                <a:latin typeface="+mn-lt"/>
              </a:rPr>
              <a:t>a</a:t>
            </a:r>
            <a:r>
              <a:rPr lang="zh-CN" altLang="en-US" sz="2400" dirty="0">
                <a:solidFill>
                  <a:schemeClr val="bg2"/>
                </a:solidFill>
                <a:latin typeface="+mn-lt"/>
              </a:rPr>
              <a:t>）</a:t>
            </a:r>
          </a:p>
        </p:txBody>
      </p:sp>
      <p:sp>
        <p:nvSpPr>
          <p:cNvPr id="8" name="文本框 7">
            <a:extLst>
              <a:ext uri="{FF2B5EF4-FFF2-40B4-BE49-F238E27FC236}">
                <a16:creationId xmlns:a16="http://schemas.microsoft.com/office/drawing/2014/main" id="{CBBEE194-80D0-40F4-863B-A434A9BBA581}"/>
              </a:ext>
            </a:extLst>
          </p:cNvPr>
          <p:cNvSpPr txBox="1"/>
          <p:nvPr/>
        </p:nvSpPr>
        <p:spPr>
          <a:xfrm>
            <a:off x="5796136" y="5224921"/>
            <a:ext cx="1675284" cy="461665"/>
          </a:xfrm>
          <a:prstGeom prst="rect">
            <a:avLst/>
          </a:prstGeom>
          <a:noFill/>
        </p:spPr>
        <p:txBody>
          <a:bodyPr wrap="square" rtlCol="0">
            <a:spAutoFit/>
          </a:bodyPr>
          <a:lstStyle/>
          <a:p>
            <a:pPr algn="ctr"/>
            <a:r>
              <a:rPr lang="zh-CN" altLang="en-US" sz="2400" dirty="0">
                <a:solidFill>
                  <a:schemeClr val="bg2"/>
                </a:solidFill>
                <a:latin typeface="+mn-lt"/>
              </a:rPr>
              <a:t>（</a:t>
            </a:r>
            <a:r>
              <a:rPr lang="en-US" altLang="zh-CN" sz="2400" dirty="0">
                <a:solidFill>
                  <a:schemeClr val="bg2"/>
                </a:solidFill>
                <a:latin typeface="+mn-lt"/>
              </a:rPr>
              <a:t>b</a:t>
            </a:r>
            <a:r>
              <a:rPr lang="zh-CN" altLang="en-US" sz="2400" dirty="0">
                <a:solidFill>
                  <a:schemeClr val="bg2"/>
                </a:solidFill>
                <a:latin typeface="+mn-lt"/>
              </a:rPr>
              <a:t>）</a:t>
            </a:r>
          </a:p>
        </p:txBody>
      </p:sp>
      <p:sp>
        <p:nvSpPr>
          <p:cNvPr id="9" name="文本框 8">
            <a:extLst>
              <a:ext uri="{FF2B5EF4-FFF2-40B4-BE49-F238E27FC236}">
                <a16:creationId xmlns:a16="http://schemas.microsoft.com/office/drawing/2014/main" id="{EE4CC7D7-FE86-4009-B986-A54A75DA0F8F}"/>
              </a:ext>
            </a:extLst>
          </p:cNvPr>
          <p:cNvSpPr txBox="1"/>
          <p:nvPr/>
        </p:nvSpPr>
        <p:spPr>
          <a:xfrm>
            <a:off x="1619672" y="5848604"/>
            <a:ext cx="6480720" cy="584775"/>
          </a:xfrm>
          <a:prstGeom prst="rect">
            <a:avLst/>
          </a:prstGeom>
          <a:noFill/>
        </p:spPr>
        <p:txBody>
          <a:bodyPr wrap="square" rtlCol="0">
            <a:spAutoFit/>
          </a:bodyPr>
          <a:lstStyle/>
          <a:p>
            <a:pPr algn="ctr"/>
            <a:r>
              <a:rPr lang="zh-CN" altLang="en-US" dirty="0">
                <a:solidFill>
                  <a:schemeClr val="bg1">
                    <a:lumMod val="75000"/>
                  </a:schemeClr>
                </a:solidFill>
              </a:rPr>
              <a:t>不可以，没有原子性</a:t>
            </a:r>
          </a:p>
        </p:txBody>
      </p:sp>
      <p:sp>
        <p:nvSpPr>
          <p:cNvPr id="10" name="文本框 9">
            <a:extLst>
              <a:ext uri="{FF2B5EF4-FFF2-40B4-BE49-F238E27FC236}">
                <a16:creationId xmlns:a16="http://schemas.microsoft.com/office/drawing/2014/main" id="{E726529F-EF1F-40B5-91D9-F4C701144D49}"/>
              </a:ext>
            </a:extLst>
          </p:cNvPr>
          <p:cNvSpPr txBox="1"/>
          <p:nvPr/>
        </p:nvSpPr>
        <p:spPr>
          <a:xfrm>
            <a:off x="365821" y="2954917"/>
            <a:ext cx="3563313" cy="2308324"/>
          </a:xfrm>
          <a:prstGeom prst="rect">
            <a:avLst/>
          </a:prstGeom>
          <a:solidFill>
            <a:schemeClr val="tx1">
              <a:lumMod val="85000"/>
            </a:schemeClr>
          </a:solidFill>
        </p:spPr>
        <p:txBody>
          <a:bodyPr wrap="square" rtlCol="0">
            <a:spAutoFit/>
          </a:bodyPr>
          <a:lstStyle/>
          <a:p>
            <a:r>
              <a:rPr lang="en-US" altLang="zh-CN" sz="2400" dirty="0">
                <a:solidFill>
                  <a:schemeClr val="bg2"/>
                </a:solidFill>
                <a:latin typeface="+mn-lt"/>
              </a:rPr>
              <a:t>bool lock=FALSE;</a:t>
            </a:r>
          </a:p>
          <a:p>
            <a:r>
              <a:rPr lang="en-US" altLang="zh-CN" sz="2400" dirty="0">
                <a:solidFill>
                  <a:schemeClr val="bg2"/>
                </a:solidFill>
                <a:latin typeface="+mn-lt"/>
              </a:rPr>
              <a:t>//</a:t>
            </a:r>
            <a:r>
              <a:rPr lang="zh-CN" altLang="en-US" sz="2400" dirty="0">
                <a:solidFill>
                  <a:schemeClr val="bg2"/>
                </a:solidFill>
                <a:latin typeface="+mn-lt"/>
              </a:rPr>
              <a:t>进入区</a:t>
            </a:r>
            <a:endParaRPr lang="en-US" altLang="zh-CN" sz="2400" dirty="0">
              <a:solidFill>
                <a:schemeClr val="bg2"/>
              </a:solidFill>
              <a:latin typeface="+mn-lt"/>
            </a:endParaRPr>
          </a:p>
          <a:p>
            <a:r>
              <a:rPr lang="en-US" altLang="zh-CN" sz="2400" dirty="0">
                <a:solidFill>
                  <a:schemeClr val="bg2"/>
                </a:solidFill>
                <a:latin typeface="+mn-lt"/>
              </a:rPr>
              <a:t>bool key=TRUE</a:t>
            </a:r>
          </a:p>
          <a:p>
            <a:r>
              <a:rPr lang="en-US" altLang="zh-CN" sz="2400" dirty="0">
                <a:solidFill>
                  <a:schemeClr val="bg2"/>
                </a:solidFill>
                <a:latin typeface="+mn-lt"/>
              </a:rPr>
              <a:t>while(key==TRUE)</a:t>
            </a:r>
          </a:p>
          <a:p>
            <a:r>
              <a:rPr lang="en-US" altLang="zh-CN" sz="2400" dirty="0">
                <a:solidFill>
                  <a:schemeClr val="bg2"/>
                </a:solidFill>
                <a:latin typeface="+mn-lt"/>
              </a:rPr>
              <a:t>     </a:t>
            </a:r>
            <a:r>
              <a:rPr lang="en-US" altLang="zh-CN" sz="2400" dirty="0">
                <a:solidFill>
                  <a:schemeClr val="bg1">
                    <a:lumMod val="75000"/>
                  </a:schemeClr>
                </a:solidFill>
                <a:latin typeface="+mn-lt"/>
              </a:rPr>
              <a:t>swap key, lock</a:t>
            </a:r>
            <a:r>
              <a:rPr lang="en-US" altLang="zh-CN" sz="2400" dirty="0">
                <a:solidFill>
                  <a:schemeClr val="bg2"/>
                </a:solidFill>
                <a:latin typeface="+mn-lt"/>
              </a:rPr>
              <a:t>//</a:t>
            </a:r>
            <a:r>
              <a:rPr lang="zh-CN" altLang="en-US" sz="2400" dirty="0">
                <a:solidFill>
                  <a:schemeClr val="bg2"/>
                </a:solidFill>
                <a:latin typeface="+mn-lt"/>
              </a:rPr>
              <a:t>临界区</a:t>
            </a:r>
            <a:endParaRPr lang="en-US" altLang="zh-CN" sz="2400" dirty="0">
              <a:solidFill>
                <a:schemeClr val="bg2"/>
              </a:solidFill>
              <a:latin typeface="+mn-lt"/>
            </a:endParaRPr>
          </a:p>
          <a:p>
            <a:r>
              <a:rPr lang="en-US" altLang="zh-CN" sz="2400" dirty="0">
                <a:solidFill>
                  <a:schemeClr val="bg2"/>
                </a:solidFill>
                <a:latin typeface="+mn-lt"/>
              </a:rPr>
              <a:t>lock=	FALSE  //</a:t>
            </a:r>
            <a:r>
              <a:rPr lang="zh-CN" altLang="en-US" sz="2400" dirty="0">
                <a:solidFill>
                  <a:schemeClr val="bg2"/>
                </a:solidFill>
                <a:latin typeface="+mn-lt"/>
              </a:rPr>
              <a:t>退出区</a:t>
            </a:r>
            <a:r>
              <a:rPr lang="en-US" altLang="zh-CN" sz="2400" dirty="0">
                <a:solidFill>
                  <a:schemeClr val="bg2"/>
                </a:solidFill>
                <a:latin typeface="+mn-lt"/>
              </a:rPr>
              <a:t> </a:t>
            </a:r>
            <a:endParaRPr lang="zh-CN" altLang="en-US" dirty="0">
              <a:solidFill>
                <a:schemeClr val="bg2"/>
              </a:solidFill>
            </a:endParaRPr>
          </a:p>
        </p:txBody>
      </p:sp>
      <p:sp>
        <p:nvSpPr>
          <p:cNvPr id="11" name="AutoShape 27">
            <a:hlinkClick r:id="" action="ppaction://hlinkshowjump?jump=nextslide" highlightClick="1"/>
            <a:extLst>
              <a:ext uri="{FF2B5EF4-FFF2-40B4-BE49-F238E27FC236}">
                <a16:creationId xmlns:a16="http://schemas.microsoft.com/office/drawing/2014/main" id="{719BA3EA-9200-45E7-BD58-A3D8D0BF9C57}"/>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062994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1+#ppt_w/2"/>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F3703A3-1889-4D5A-B002-82B1611E7DF6}" type="datetime1">
              <a:rPr lang="zh-CN" altLang="en-US" smtClean="0"/>
              <a:pPr>
                <a:defRPr/>
              </a:pPr>
              <a:t>2024/10/9</a:t>
            </a:fld>
            <a:endParaRPr lang="en-US" altLang="zh-CN"/>
          </a:p>
        </p:txBody>
      </p:sp>
      <p:sp>
        <p:nvSpPr>
          <p:cNvPr id="4" name="Rectangle 2"/>
          <p:cNvSpPr txBox="1">
            <a:spLocks noChangeArrowheads="1"/>
          </p:cNvSpPr>
          <p:nvPr/>
        </p:nvSpPr>
        <p:spPr>
          <a:xfrm>
            <a:off x="419100" y="60945"/>
            <a:ext cx="8534400" cy="676275"/>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r>
              <a:rPr lang="zh-CN" altLang="en-US" sz="4000" dirty="0">
                <a:solidFill>
                  <a:srgbClr val="006699"/>
                </a:solidFill>
                <a:effectLst>
                  <a:outerShdw blurRad="38100" dist="38100" dir="2700000" algn="tl">
                    <a:srgbClr val="000000">
                      <a:alpha val="43137"/>
                    </a:srgbClr>
                  </a:outerShdw>
                </a:effectLst>
                <a:ea typeface="MS PGothic" pitchFamily="34" charset="-128"/>
              </a:rPr>
              <a:t>程序中直接使用的临界区互斥方法</a:t>
            </a:r>
            <a:endParaRPr lang="en-US" altLang="zh-CN" sz="4000" dirty="0">
              <a:solidFill>
                <a:srgbClr val="006699"/>
              </a:solidFill>
              <a:effectLst>
                <a:outerShdw blurRad="38100" dist="38100" dir="2700000" algn="tl">
                  <a:srgbClr val="000000">
                    <a:alpha val="43137"/>
                  </a:srgbClr>
                </a:outerShdw>
              </a:effectLst>
              <a:ea typeface="MS PGothic" pitchFamily="34" charset="-128"/>
            </a:endParaRPr>
          </a:p>
        </p:txBody>
      </p:sp>
      <p:grpSp>
        <p:nvGrpSpPr>
          <p:cNvPr id="20" name="组合 19"/>
          <p:cNvGrpSpPr/>
          <p:nvPr/>
        </p:nvGrpSpPr>
        <p:grpSpPr>
          <a:xfrm>
            <a:off x="5759703" y="1732415"/>
            <a:ext cx="3111689" cy="1398818"/>
            <a:chOff x="5739346" y="1526125"/>
            <a:chExt cx="3111689" cy="1398818"/>
          </a:xfrm>
        </p:grpSpPr>
        <p:sp>
          <p:nvSpPr>
            <p:cNvPr id="16" name="AutoShape 14"/>
            <p:cNvSpPr>
              <a:spLocks/>
            </p:cNvSpPr>
            <p:nvPr/>
          </p:nvSpPr>
          <p:spPr bwMode="auto">
            <a:xfrm>
              <a:off x="5739346" y="1526125"/>
              <a:ext cx="224489" cy="1398818"/>
            </a:xfrm>
            <a:prstGeom prst="rightBrace">
              <a:avLst>
                <a:gd name="adj1" fmla="val 55556"/>
                <a:gd name="adj2" fmla="val 50000"/>
              </a:avLst>
            </a:prstGeom>
            <a:noFill/>
            <a:ln w="57150">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2"/>
                </a:solidFill>
              </a:endParaRPr>
            </a:p>
          </p:txBody>
        </p:sp>
        <p:sp>
          <p:nvSpPr>
            <p:cNvPr id="17" name="Text Box 15"/>
            <p:cNvSpPr txBox="1">
              <a:spLocks noChangeArrowheads="1"/>
            </p:cNvSpPr>
            <p:nvPr/>
          </p:nvSpPr>
          <p:spPr bwMode="auto">
            <a:xfrm>
              <a:off x="6107870" y="1696672"/>
              <a:ext cx="2743165" cy="954107"/>
            </a:xfrm>
            <a:prstGeom prst="rect">
              <a:avLst/>
            </a:prstGeom>
            <a:solidFill>
              <a:srgbClr val="FF00FF"/>
            </a:solidFill>
            <a:ln w="9525">
              <a:solidFill>
                <a:srgbClr val="FF0000"/>
              </a:solidFill>
              <a:miter lim="800000"/>
              <a:headEnd/>
              <a:tailEnd/>
            </a:ln>
            <a:effectLst/>
            <a:extLst/>
          </p:spPr>
          <p:txBody>
            <a:bodyPr wrap="square">
              <a:spAutoFit/>
            </a:bodyPr>
            <a:lstStyle/>
            <a:p>
              <a:pPr>
                <a:spcBef>
                  <a:spcPts val="0"/>
                </a:spcBef>
              </a:pPr>
              <a:r>
                <a:rPr lang="zh-CN" altLang="en-US" sz="2800" b="1" dirty="0">
                  <a:solidFill>
                    <a:schemeClr val="bg2"/>
                  </a:solidFill>
                  <a:effectLst>
                    <a:outerShdw blurRad="38100" dist="38100" dir="2700000" algn="tl">
                      <a:srgbClr val="000000">
                        <a:alpha val="43137"/>
                      </a:srgbClr>
                    </a:outerShdw>
                  </a:effectLst>
                </a:rPr>
                <a:t>不适合</a:t>
              </a:r>
              <a:endParaRPr lang="en-US" altLang="zh-CN" sz="2800" b="1" dirty="0">
                <a:solidFill>
                  <a:schemeClr val="bg2"/>
                </a:solidFill>
                <a:effectLst>
                  <a:outerShdw blurRad="38100" dist="38100" dir="2700000" algn="tl">
                    <a:srgbClr val="000000">
                      <a:alpha val="43137"/>
                    </a:srgbClr>
                  </a:outerShdw>
                </a:effectLst>
              </a:endParaRPr>
            </a:p>
            <a:p>
              <a:pPr>
                <a:spcBef>
                  <a:spcPts val="0"/>
                </a:spcBef>
              </a:pPr>
              <a:r>
                <a:rPr lang="zh-CN" altLang="en-US" sz="2800" b="1" dirty="0">
                  <a:solidFill>
                    <a:schemeClr val="bg2"/>
                  </a:solidFill>
                  <a:effectLst>
                    <a:outerShdw blurRad="38100" dist="38100" dir="2700000" algn="tl">
                      <a:srgbClr val="000000">
                        <a:alpha val="43137"/>
                      </a:srgbClr>
                    </a:outerShdw>
                  </a:effectLst>
                </a:rPr>
                <a:t>由普通用户实现</a:t>
              </a:r>
            </a:p>
          </p:txBody>
        </p:sp>
      </p:grpSp>
      <p:sp>
        <p:nvSpPr>
          <p:cNvPr id="18" name="Rectangle 17"/>
          <p:cNvSpPr>
            <a:spLocks noChangeArrowheads="1"/>
          </p:cNvSpPr>
          <p:nvPr/>
        </p:nvSpPr>
        <p:spPr bwMode="auto">
          <a:xfrm>
            <a:off x="1331640" y="4581128"/>
            <a:ext cx="5847556" cy="712787"/>
          </a:xfrm>
          <a:prstGeom prst="rect">
            <a:avLst/>
          </a:prstGeom>
          <a:solidFill>
            <a:srgbClr val="FFFF00"/>
          </a:solidFill>
          <a:ln>
            <a:noFill/>
          </a:ln>
          <a:effectLs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0" indent="0" algn="ctr">
              <a:lnSpc>
                <a:spcPct val="130000"/>
              </a:lnSpc>
              <a:buNone/>
            </a:pPr>
            <a:r>
              <a:rPr lang="en-US" altLang="zh-CN" sz="3600" dirty="0">
                <a:solidFill>
                  <a:schemeClr val="bg2"/>
                </a:solidFill>
                <a:effectLst>
                  <a:outerShdw blurRad="38100" dist="38100" dir="2700000" algn="tl">
                    <a:srgbClr val="000000">
                      <a:alpha val="43137"/>
                    </a:srgbClr>
                  </a:outerShdw>
                </a:effectLst>
                <a:latin typeface="+mn-lt"/>
                <a:sym typeface="Symbol" panose="05050102010706020507" pitchFamily="18" charset="2"/>
              </a:rPr>
              <a:t>OS</a:t>
            </a:r>
            <a:r>
              <a:rPr lang="zh-CN" altLang="en-US" sz="3600" dirty="0">
                <a:solidFill>
                  <a:schemeClr val="bg2"/>
                </a:solidFill>
                <a:effectLst>
                  <a:outerShdw blurRad="38100" dist="38100" dir="2700000" algn="tl">
                    <a:srgbClr val="000000">
                      <a:alpha val="43137"/>
                    </a:srgbClr>
                  </a:outerShdw>
                </a:effectLst>
                <a:latin typeface="+mn-lt"/>
                <a:sym typeface="Symbol" panose="05050102010706020507" pitchFamily="18" charset="2"/>
              </a:rPr>
              <a:t>提供临界区互斥机制</a:t>
            </a:r>
            <a:endParaRPr lang="zh-CN" altLang="zh-CN" sz="3600" dirty="0">
              <a:solidFill>
                <a:schemeClr val="bg2"/>
              </a:solidFill>
              <a:effectLst>
                <a:outerShdw blurRad="38100" dist="38100" dir="2700000" algn="tl">
                  <a:srgbClr val="000000">
                    <a:alpha val="43137"/>
                  </a:srgbClr>
                </a:outerShdw>
              </a:effectLst>
              <a:latin typeface="+mn-lt"/>
              <a:sym typeface="Symbol" panose="05050102010706020507" pitchFamily="18" charset="2"/>
            </a:endParaRPr>
          </a:p>
        </p:txBody>
      </p:sp>
      <p:sp>
        <p:nvSpPr>
          <p:cNvPr id="19" name="Rectangle 3">
            <a:extLst>
              <a:ext uri="{FF2B5EF4-FFF2-40B4-BE49-F238E27FC236}">
                <a16:creationId xmlns:a16="http://schemas.microsoft.com/office/drawing/2014/main" id="{1F5430EE-C175-4CD3-9952-BC609F137F73}"/>
              </a:ext>
            </a:extLst>
          </p:cNvPr>
          <p:cNvSpPr>
            <a:spLocks noChangeArrowheads="1"/>
          </p:cNvSpPr>
          <p:nvPr/>
        </p:nvSpPr>
        <p:spPr bwMode="auto">
          <a:xfrm>
            <a:off x="345235" y="1628800"/>
            <a:ext cx="5414468" cy="1502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55600" lvl="2" indent="-355600" defTabSz="355600">
              <a:lnSpc>
                <a:spcPct val="90000"/>
              </a:lnSpc>
              <a:spcBef>
                <a:spcPct val="0"/>
              </a:spcBef>
              <a:buClrTx/>
              <a:buSzPct val="80000"/>
              <a:buFont typeface="Wingdings" panose="05000000000000000000" pitchFamily="2" charset="2"/>
              <a:buChar char="n"/>
              <a:defRPr/>
            </a:pPr>
            <a:r>
              <a:rPr lang="zh-CN" altLang="en-US" sz="3600" dirty="0">
                <a:solidFill>
                  <a:schemeClr val="bg2"/>
                </a:solidFill>
                <a:latin typeface="+mj-lt"/>
                <a:ea typeface="楷体" panose="02010609060101010101" pitchFamily="49" charset="-122"/>
              </a:rPr>
              <a:t>软件：</a:t>
            </a:r>
            <a:r>
              <a:rPr lang="en-US" altLang="zh-CN" sz="3600" dirty="0">
                <a:solidFill>
                  <a:srgbClr val="C00000"/>
                </a:solidFill>
                <a:effectLst>
                  <a:outerShdw blurRad="38100" dist="38100" dir="2700000" algn="tl">
                    <a:srgbClr val="000000"/>
                  </a:outerShdw>
                </a:effectLst>
                <a:latin typeface="Times New Roman" pitchFamily="18" charset="0"/>
                <a:ea typeface="楷体_GB2312" pitchFamily="49" charset="-122"/>
              </a:rPr>
              <a:t> </a:t>
            </a:r>
            <a:r>
              <a:rPr lang="en-US" altLang="zh-CN" sz="3600" dirty="0">
                <a:solidFill>
                  <a:schemeClr val="bg2"/>
                </a:solidFill>
                <a:latin typeface="+mj-lt"/>
                <a:ea typeface="楷体" panose="02010609060101010101" pitchFamily="49" charset="-122"/>
              </a:rPr>
              <a:t>Peterson </a:t>
            </a:r>
          </a:p>
          <a:p>
            <a:pPr marL="355600" lvl="2" indent="-355600" defTabSz="355600">
              <a:lnSpc>
                <a:spcPct val="90000"/>
              </a:lnSpc>
              <a:spcBef>
                <a:spcPct val="0"/>
              </a:spcBef>
              <a:buClrTx/>
              <a:buSzPct val="80000"/>
              <a:buFont typeface="Wingdings" panose="05000000000000000000" pitchFamily="2" charset="2"/>
              <a:buChar char="n"/>
              <a:defRPr/>
            </a:pPr>
            <a:r>
              <a:rPr lang="zh-CN" altLang="en-US" sz="3600" dirty="0">
                <a:solidFill>
                  <a:schemeClr val="bg2"/>
                </a:solidFill>
                <a:latin typeface="+mj-lt"/>
                <a:ea typeface="楷体" panose="02010609060101010101" pitchFamily="49" charset="-122"/>
              </a:rPr>
              <a:t>关中断</a:t>
            </a:r>
            <a:endParaRPr lang="en-US" altLang="zh-CN" sz="3600" dirty="0">
              <a:solidFill>
                <a:schemeClr val="bg2"/>
              </a:solidFill>
              <a:latin typeface="+mj-lt"/>
              <a:ea typeface="楷体" panose="02010609060101010101" pitchFamily="49" charset="-122"/>
            </a:endParaRPr>
          </a:p>
          <a:p>
            <a:pPr marL="355600" lvl="2" indent="-355600" defTabSz="355600">
              <a:lnSpc>
                <a:spcPct val="90000"/>
              </a:lnSpc>
              <a:spcBef>
                <a:spcPct val="0"/>
              </a:spcBef>
              <a:buClrTx/>
              <a:buSzPct val="80000"/>
              <a:buFont typeface="Wingdings" panose="05000000000000000000" pitchFamily="2" charset="2"/>
              <a:buChar char="n"/>
              <a:defRPr/>
            </a:pPr>
            <a:r>
              <a:rPr lang="zh-CN" altLang="en-US" sz="3600" dirty="0">
                <a:solidFill>
                  <a:schemeClr val="bg2"/>
                </a:solidFill>
                <a:latin typeface="+mj-lt"/>
                <a:ea typeface="楷体" panose="02010609060101010101" pitchFamily="49" charset="-122"/>
              </a:rPr>
              <a:t>硬件原子指令</a:t>
            </a:r>
            <a:r>
              <a:rPr lang="en-US" altLang="zh-CN" sz="2800" dirty="0">
                <a:solidFill>
                  <a:schemeClr val="bg2"/>
                </a:solidFill>
                <a:latin typeface="+mj-lt"/>
                <a:ea typeface="楷体" panose="02010609060101010101" pitchFamily="49" charset="-122"/>
              </a:rPr>
              <a:t>(</a:t>
            </a:r>
            <a:r>
              <a:rPr lang="en-US" altLang="zh-CN" sz="2800" dirty="0" err="1">
                <a:solidFill>
                  <a:schemeClr val="bg2"/>
                </a:solidFill>
                <a:latin typeface="+mj-lt"/>
                <a:ea typeface="楷体" panose="02010609060101010101" pitchFamily="49" charset="-122"/>
              </a:rPr>
              <a:t>TestAndSet</a:t>
            </a:r>
            <a:r>
              <a:rPr lang="en-US" altLang="zh-CN" sz="2800" dirty="0">
                <a:solidFill>
                  <a:schemeClr val="bg2"/>
                </a:solidFill>
                <a:latin typeface="+mj-lt"/>
                <a:ea typeface="楷体" panose="02010609060101010101" pitchFamily="49" charset="-122"/>
              </a:rPr>
              <a:t>)</a:t>
            </a:r>
            <a:endParaRPr lang="zh-CN" altLang="en-US" sz="2800" dirty="0">
              <a:solidFill>
                <a:schemeClr val="bg2"/>
              </a:solidFill>
              <a:latin typeface="+mj-lt"/>
              <a:ea typeface="楷体" panose="02010609060101010101" pitchFamily="49" charset="-122"/>
            </a:endParaRPr>
          </a:p>
        </p:txBody>
      </p:sp>
      <p:sp>
        <p:nvSpPr>
          <p:cNvPr id="10" name="AutoShape 7">
            <a:hlinkClick r:id="rId3" action="ppaction://hlinksldjump" highlightClick="1"/>
            <a:extLst>
              <a:ext uri="{FF2B5EF4-FFF2-40B4-BE49-F238E27FC236}">
                <a16:creationId xmlns:a16="http://schemas.microsoft.com/office/drawing/2014/main" id="{FC9C3690-7A52-47BF-AF8A-820048CA20CF}"/>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89673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childTnLst>
                                </p:cTn>
                              </p:par>
                            </p:childTnLst>
                          </p:cTn>
                        </p:par>
                        <p:par>
                          <p:cTn id="14" fill="hold">
                            <p:stCondLst>
                              <p:cond delay="500"/>
                            </p:stCondLst>
                            <p:childTnLst>
                              <p:par>
                                <p:cTn id="15" presetID="2" presetClass="entr" presetSubtype="8"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0-#ppt_w/2"/>
                                          </p:val>
                                        </p:tav>
                                        <p:tav tm="100000">
                                          <p:val>
                                            <p:strVal val="#ppt_x"/>
                                          </p:val>
                                        </p:tav>
                                      </p:tavLst>
                                    </p:anim>
                                    <p:anim calcmode="lin" valueType="num">
                                      <p:cBhvr additive="base">
                                        <p:cTn id="1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733FF648-A5AF-489F-BDE3-B3A5ADE0896F}"/>
              </a:ext>
            </a:extLst>
          </p:cNvPr>
          <p:cNvSpPr/>
          <p:nvPr/>
        </p:nvSpPr>
        <p:spPr>
          <a:xfrm>
            <a:off x="1978648" y="1370"/>
            <a:ext cx="5173908" cy="827150"/>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5.5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自 旋 锁</a:t>
            </a:r>
            <a:r>
              <a:rPr lang="zh-CN" altLang="en-US" sz="2800" dirty="0">
                <a:solidFill>
                  <a:srgbClr val="C00000"/>
                </a:solidFill>
                <a:effectLst>
                  <a:outerShdw blurRad="38100" dist="38100" dir="2700000" algn="tl">
                    <a:srgbClr val="000000"/>
                  </a:outerShdw>
                </a:effectLst>
                <a:latin typeface="Times New Roman" pitchFamily="18" charset="0"/>
                <a:ea typeface="楷体_GB2312" pitchFamily="49" charset="-122"/>
              </a:rPr>
              <a:t>（</a:t>
            </a:r>
            <a:r>
              <a:rPr lang="en-US" altLang="zh-CN" sz="2800" dirty="0">
                <a:solidFill>
                  <a:srgbClr val="C00000"/>
                </a:solidFill>
                <a:effectLst>
                  <a:outerShdw blurRad="38100" dist="38100" dir="2700000" algn="tl">
                    <a:srgbClr val="000000"/>
                  </a:outerShdw>
                </a:effectLst>
                <a:latin typeface="Times New Roman" pitchFamily="18" charset="0"/>
                <a:ea typeface="楷体_GB2312" pitchFamily="49" charset="-122"/>
              </a:rPr>
              <a:t>spinlock</a:t>
            </a:r>
            <a:r>
              <a:rPr lang="zh-CN" altLang="en-US" sz="2800" dirty="0">
                <a:solidFill>
                  <a:srgbClr val="C00000"/>
                </a:solidFill>
                <a:effectLst>
                  <a:outerShdw blurRad="38100" dist="38100" dir="2700000" algn="tl">
                    <a:srgbClr val="000000"/>
                  </a:outerShdw>
                </a:effectLst>
                <a:latin typeface="Times New Roman" pitchFamily="18" charset="0"/>
                <a:ea typeface="楷体_GB2312" pitchFamily="49" charset="-122"/>
              </a:rPr>
              <a:t>）</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7" name="Content Placeholder 2">
            <a:extLst>
              <a:ext uri="{FF2B5EF4-FFF2-40B4-BE49-F238E27FC236}">
                <a16:creationId xmlns:a16="http://schemas.microsoft.com/office/drawing/2014/main" id="{0705AB4C-54EA-4F9E-BB04-37A167EE19F1}"/>
              </a:ext>
            </a:extLst>
          </p:cNvPr>
          <p:cNvSpPr txBox="1">
            <a:spLocks/>
          </p:cNvSpPr>
          <p:nvPr/>
        </p:nvSpPr>
        <p:spPr>
          <a:xfrm>
            <a:off x="290622" y="1522479"/>
            <a:ext cx="2952328" cy="3424866"/>
          </a:xfrm>
          <a:prstGeom prst="rect">
            <a:avLst/>
          </a:prstGeom>
          <a:solidFill>
            <a:schemeClr val="tx1">
              <a:lumMod val="85000"/>
            </a:schemeClr>
          </a:solid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indent="0">
              <a:buNone/>
            </a:pPr>
            <a:r>
              <a:rPr lang="en-US" altLang="zh-CN" sz="2000" b="1" kern="0" dirty="0">
                <a:solidFill>
                  <a:schemeClr val="bg1"/>
                </a:solidFill>
                <a:effectLst/>
                <a:cs typeface="Courier New" panose="02070309020205020404" pitchFamily="49" charset="0"/>
              </a:rPr>
              <a:t>   </a:t>
            </a:r>
            <a:r>
              <a:rPr lang="en-US" altLang="zh-CN" sz="2400" b="1" kern="0" dirty="0">
                <a:solidFill>
                  <a:srgbClr val="FF00FF"/>
                </a:solidFill>
                <a:effectLst/>
                <a:cs typeface="Courier New" panose="02070309020205020404" pitchFamily="49" charset="0"/>
              </a:rPr>
              <a:t>acquire</a:t>
            </a:r>
            <a:r>
              <a:rPr lang="en-US" altLang="zh-CN" sz="2000" b="1" kern="0" dirty="0">
                <a:solidFill>
                  <a:schemeClr val="bg2"/>
                </a:solidFill>
                <a:effectLst/>
                <a:cs typeface="Courier New" panose="02070309020205020404" pitchFamily="49" charset="0"/>
              </a:rPr>
              <a:t>() {</a:t>
            </a:r>
            <a:br>
              <a:rPr lang="en-US" altLang="zh-CN" sz="2000" b="1" kern="0" dirty="0">
                <a:solidFill>
                  <a:schemeClr val="bg2"/>
                </a:solidFill>
                <a:effectLst/>
                <a:cs typeface="Courier New" panose="02070309020205020404" pitchFamily="49" charset="0"/>
              </a:rPr>
            </a:br>
            <a:r>
              <a:rPr lang="en-US" altLang="zh-CN" sz="2000" b="1" kern="0" dirty="0">
                <a:solidFill>
                  <a:schemeClr val="bg2"/>
                </a:solidFill>
                <a:effectLst/>
                <a:cs typeface="Courier New" panose="02070309020205020404" pitchFamily="49" charset="0"/>
              </a:rPr>
              <a:t>       while (!</a:t>
            </a:r>
            <a:r>
              <a:rPr lang="en-US" altLang="zh-CN" sz="2400" b="1" kern="0" dirty="0">
                <a:solidFill>
                  <a:srgbClr val="FF0000"/>
                </a:solidFill>
                <a:effectLst/>
                <a:cs typeface="Courier New" panose="02070309020205020404" pitchFamily="49" charset="0"/>
              </a:rPr>
              <a:t>available</a:t>
            </a:r>
            <a:r>
              <a:rPr lang="en-US" altLang="zh-CN" sz="2000" b="1" kern="0" dirty="0">
                <a:solidFill>
                  <a:schemeClr val="bg2"/>
                </a:solidFill>
                <a:effectLst/>
                <a:cs typeface="Courier New" panose="02070309020205020404" pitchFamily="49" charset="0"/>
              </a:rPr>
              <a:t>) </a:t>
            </a:r>
          </a:p>
          <a:p>
            <a:pPr marL="0" indent="0">
              <a:buNone/>
            </a:pPr>
            <a:r>
              <a:rPr lang="en-US" altLang="zh-CN" sz="2800" b="1" kern="0" dirty="0">
                <a:solidFill>
                  <a:srgbClr val="FF0000"/>
                </a:solidFill>
                <a:effectLst/>
                <a:cs typeface="Courier New" panose="02070309020205020404" pitchFamily="49" charset="0"/>
              </a:rPr>
              <a:t>          ;</a:t>
            </a:r>
            <a:r>
              <a:rPr lang="en-US" altLang="zh-CN" sz="2000" b="1" kern="0" dirty="0">
                <a:solidFill>
                  <a:schemeClr val="bg2"/>
                </a:solidFill>
                <a:effectLst/>
                <a:cs typeface="Courier New" panose="02070309020205020404" pitchFamily="49" charset="0"/>
              </a:rPr>
              <a:t> /* busy wait */ </a:t>
            </a:r>
          </a:p>
          <a:p>
            <a:pPr marL="0" indent="0">
              <a:buNone/>
            </a:pPr>
            <a:r>
              <a:rPr lang="en-US" altLang="zh-CN" sz="2000" b="1" kern="0" dirty="0">
                <a:solidFill>
                  <a:schemeClr val="bg2"/>
                </a:solidFill>
                <a:effectLst/>
                <a:cs typeface="Courier New" panose="02070309020205020404" pitchFamily="49" charset="0"/>
              </a:rPr>
              <a:t>       available = false; </a:t>
            </a:r>
          </a:p>
          <a:p>
            <a:pPr marL="0" indent="0">
              <a:buNone/>
            </a:pPr>
            <a:r>
              <a:rPr lang="en-US" altLang="zh-CN" sz="2000" b="1" kern="0" dirty="0">
                <a:solidFill>
                  <a:schemeClr val="bg2"/>
                </a:solidFill>
                <a:effectLst/>
                <a:cs typeface="Courier New" panose="02070309020205020404" pitchFamily="49" charset="0"/>
              </a:rPr>
              <a:t>    } </a:t>
            </a:r>
          </a:p>
          <a:p>
            <a:pPr marL="0" indent="0">
              <a:buNone/>
            </a:pPr>
            <a:r>
              <a:rPr lang="en-US" altLang="zh-CN" sz="2000" kern="0" dirty="0">
                <a:solidFill>
                  <a:srgbClr val="FF00FF"/>
                </a:solidFill>
                <a:effectLst/>
                <a:cs typeface="Courier New" panose="02070309020205020404" pitchFamily="49" charset="0"/>
              </a:rPr>
              <a:t>   </a:t>
            </a:r>
            <a:r>
              <a:rPr lang="en-US" altLang="zh-CN" sz="2400" kern="0" dirty="0">
                <a:solidFill>
                  <a:srgbClr val="FF00FF"/>
                </a:solidFill>
                <a:effectLst/>
                <a:cs typeface="Courier New" panose="02070309020205020404" pitchFamily="49" charset="0"/>
              </a:rPr>
              <a:t>release</a:t>
            </a:r>
            <a:r>
              <a:rPr lang="en-US" altLang="zh-CN" sz="2000" b="1" kern="0" dirty="0">
                <a:solidFill>
                  <a:schemeClr val="bg2"/>
                </a:solidFill>
                <a:effectLst/>
                <a:cs typeface="Courier New" panose="02070309020205020404" pitchFamily="49" charset="0"/>
              </a:rPr>
              <a:t>() { </a:t>
            </a:r>
          </a:p>
          <a:p>
            <a:pPr marL="0" indent="0">
              <a:buNone/>
            </a:pPr>
            <a:r>
              <a:rPr lang="en-US" altLang="zh-CN" sz="2000" b="1" kern="0" dirty="0">
                <a:solidFill>
                  <a:schemeClr val="bg2"/>
                </a:solidFill>
                <a:effectLst/>
                <a:cs typeface="Courier New" panose="02070309020205020404" pitchFamily="49" charset="0"/>
              </a:rPr>
              <a:t>       available = true; </a:t>
            </a:r>
          </a:p>
          <a:p>
            <a:pPr marL="0" indent="0">
              <a:buNone/>
            </a:pPr>
            <a:r>
              <a:rPr lang="en-US" altLang="zh-CN" sz="2000" b="1" kern="0" dirty="0">
                <a:solidFill>
                  <a:schemeClr val="bg2"/>
                </a:solidFill>
                <a:effectLst/>
                <a:cs typeface="Courier New" panose="02070309020205020404" pitchFamily="49" charset="0"/>
              </a:rPr>
              <a:t>    } </a:t>
            </a:r>
          </a:p>
          <a:p>
            <a:pPr marL="0" indent="0">
              <a:buNone/>
            </a:pPr>
            <a:r>
              <a:rPr lang="en-US" altLang="zh-CN" sz="2000" b="1" kern="0" dirty="0">
                <a:solidFill>
                  <a:schemeClr val="bg2"/>
                </a:solidFill>
                <a:effectLst/>
                <a:cs typeface="Courier New" panose="02070309020205020404" pitchFamily="49" charset="0"/>
              </a:rPr>
              <a:t>  </a:t>
            </a:r>
          </a:p>
          <a:p>
            <a:pPr marL="0" indent="0">
              <a:buNone/>
            </a:pPr>
            <a:r>
              <a:rPr lang="en-US" altLang="zh-CN" sz="2000" b="1" kern="0" dirty="0">
                <a:solidFill>
                  <a:schemeClr val="bg2"/>
                </a:solidFill>
                <a:effectLst/>
                <a:cs typeface="Courier New" panose="02070309020205020404" pitchFamily="49" charset="0"/>
              </a:rPr>
              <a:t> </a:t>
            </a:r>
            <a:endParaRPr lang="en-US" altLang="zh-CN" b="0" kern="0" dirty="0"/>
          </a:p>
        </p:txBody>
      </p:sp>
      <p:sp>
        <p:nvSpPr>
          <p:cNvPr id="12" name="线形标注 1 13">
            <a:extLst>
              <a:ext uri="{FF2B5EF4-FFF2-40B4-BE49-F238E27FC236}">
                <a16:creationId xmlns:a16="http://schemas.microsoft.com/office/drawing/2014/main" id="{270C0017-EAC9-429C-8806-27014A3F8D5F}"/>
              </a:ext>
            </a:extLst>
          </p:cNvPr>
          <p:cNvSpPr>
            <a:spLocks/>
          </p:cNvSpPr>
          <p:nvPr/>
        </p:nvSpPr>
        <p:spPr bwMode="auto">
          <a:xfrm>
            <a:off x="172237" y="1082458"/>
            <a:ext cx="2162944" cy="413212"/>
          </a:xfrm>
          <a:prstGeom prst="borderCallout1">
            <a:avLst>
              <a:gd name="adj1" fmla="val 106393"/>
              <a:gd name="adj2" fmla="val 83403"/>
              <a:gd name="adj3" fmla="val 219729"/>
              <a:gd name="adj4" fmla="val 99389"/>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en-US" altLang="zh-CN" sz="2800" dirty="0">
                <a:solidFill>
                  <a:schemeClr val="bg2"/>
                </a:solidFill>
              </a:rPr>
              <a:t>true:  </a:t>
            </a:r>
            <a:r>
              <a:rPr lang="zh-CN" altLang="en-US" sz="2800" dirty="0">
                <a:solidFill>
                  <a:schemeClr val="bg2"/>
                </a:solidFill>
              </a:rPr>
              <a:t>锁可用</a:t>
            </a:r>
            <a:endParaRPr lang="zh-CN" altLang="en-US" sz="2800" b="1" dirty="0">
              <a:solidFill>
                <a:schemeClr val="bg2"/>
              </a:solidFill>
            </a:endParaRPr>
          </a:p>
        </p:txBody>
      </p:sp>
      <p:sp>
        <p:nvSpPr>
          <p:cNvPr id="13" name="矩形 12">
            <a:extLst>
              <a:ext uri="{FF2B5EF4-FFF2-40B4-BE49-F238E27FC236}">
                <a16:creationId xmlns:a16="http://schemas.microsoft.com/office/drawing/2014/main" id="{19BAEA01-6137-4B72-A97B-7314C121731D}"/>
              </a:ext>
            </a:extLst>
          </p:cNvPr>
          <p:cNvSpPr/>
          <p:nvPr/>
        </p:nvSpPr>
        <p:spPr bwMode="auto">
          <a:xfrm>
            <a:off x="417988" y="1954527"/>
            <a:ext cx="2697596" cy="882932"/>
          </a:xfrm>
          <a:prstGeom prst="rect">
            <a:avLst/>
          </a:prstGeom>
          <a:solidFill>
            <a:srgbClr val="30D204">
              <a:alpha val="23137"/>
            </a:srgb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14" name="文本框 13">
            <a:extLst>
              <a:ext uri="{FF2B5EF4-FFF2-40B4-BE49-F238E27FC236}">
                <a16:creationId xmlns:a16="http://schemas.microsoft.com/office/drawing/2014/main" id="{5AA59B4B-1714-4397-87C4-BE72545CAC00}"/>
              </a:ext>
            </a:extLst>
          </p:cNvPr>
          <p:cNvSpPr txBox="1"/>
          <p:nvPr/>
        </p:nvSpPr>
        <p:spPr>
          <a:xfrm>
            <a:off x="263655" y="4930340"/>
            <a:ext cx="8772181" cy="1421928"/>
          </a:xfrm>
          <a:prstGeom prst="rect">
            <a:avLst/>
          </a:prstGeom>
          <a:solidFill>
            <a:srgbClr val="E5E5FF"/>
          </a:solidFill>
        </p:spPr>
        <p:txBody>
          <a:bodyPr wrap="square" rtlCol="0">
            <a:spAutoFit/>
          </a:bodyPr>
          <a:lstStyle/>
          <a:p>
            <a:pPr marL="355600" lvl="2" indent="-355600" defTabSz="355600">
              <a:lnSpc>
                <a:spcPct val="90000"/>
              </a:lnSpc>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alpha val="43137"/>
                    </a:srgbClr>
                  </a:outerShdw>
                </a:effectLst>
                <a:latin typeface="+mj-lt"/>
                <a:ea typeface="楷体" panose="02010609060101010101" pitchFamily="49" charset="-122"/>
              </a:rPr>
              <a:t>缺点：“忙等待”，占用</a:t>
            </a:r>
            <a:r>
              <a:rPr lang="en-US" altLang="zh-CN" dirty="0">
                <a:solidFill>
                  <a:schemeClr val="bg2"/>
                </a:solidFill>
                <a:effectLst>
                  <a:outerShdw blurRad="38100" dist="38100" dir="2700000" algn="tl">
                    <a:srgbClr val="000000">
                      <a:alpha val="43137"/>
                    </a:srgbClr>
                  </a:outerShdw>
                </a:effectLst>
                <a:latin typeface="+mj-lt"/>
                <a:ea typeface="楷体" panose="02010609060101010101" pitchFamily="49" charset="-122"/>
              </a:rPr>
              <a:t>CPU</a:t>
            </a:r>
            <a:r>
              <a:rPr lang="zh-CN" altLang="en-US" dirty="0">
                <a:solidFill>
                  <a:schemeClr val="bg2"/>
                </a:solidFill>
                <a:effectLst>
                  <a:outerShdw blurRad="38100" dist="38100" dir="2700000" algn="tl">
                    <a:srgbClr val="000000">
                      <a:alpha val="43137"/>
                    </a:srgbClr>
                  </a:outerShdw>
                </a:effectLst>
                <a:latin typeface="+mj-lt"/>
                <a:ea typeface="楷体" panose="02010609060101010101" pitchFamily="49" charset="-122"/>
              </a:rPr>
              <a:t>时间。</a:t>
            </a:r>
            <a:endParaRPr lang="en-US" altLang="zh-CN"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355600" lvl="2" indent="-355600" defTabSz="355600">
              <a:lnSpc>
                <a:spcPct val="90000"/>
              </a:lnSpc>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alpha val="43137"/>
                    </a:srgbClr>
                  </a:outerShdw>
                </a:effectLst>
                <a:latin typeface="+mj-lt"/>
                <a:ea typeface="楷体" panose="02010609060101010101" pitchFamily="49" charset="-122"/>
              </a:rPr>
              <a:t>优点：等待锁时没有上下文切换。</a:t>
            </a:r>
          </a:p>
          <a:p>
            <a:pPr marL="355600" lvl="2" indent="-355600" defTabSz="355600">
              <a:lnSpc>
                <a:spcPct val="90000"/>
              </a:lnSpc>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alpha val="43137"/>
                    </a:srgbClr>
                  </a:outerShdw>
                </a:effectLst>
                <a:latin typeface="+mj-lt"/>
                <a:ea typeface="楷体" panose="02010609060101010101" pitchFamily="49" charset="-122"/>
              </a:rPr>
              <a:t>适用：临界区持锁时间较短、多处理器系统。</a:t>
            </a:r>
            <a:r>
              <a:rPr lang="zh-CN" altLang="en-US"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 </a:t>
            </a:r>
            <a:endParaRPr lang="en-US" altLang="zh-CN"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p:txBody>
      </p:sp>
      <p:sp>
        <p:nvSpPr>
          <p:cNvPr id="15" name="对话气泡: 圆角矩形 14">
            <a:extLst>
              <a:ext uri="{FF2B5EF4-FFF2-40B4-BE49-F238E27FC236}">
                <a16:creationId xmlns:a16="http://schemas.microsoft.com/office/drawing/2014/main" id="{0A847873-71B2-464A-A94A-337F5C724167}"/>
              </a:ext>
            </a:extLst>
          </p:cNvPr>
          <p:cNvSpPr/>
          <p:nvPr/>
        </p:nvSpPr>
        <p:spPr bwMode="auto">
          <a:xfrm>
            <a:off x="2860467" y="665461"/>
            <a:ext cx="2136842" cy="820593"/>
          </a:xfrm>
          <a:prstGeom prst="wedgeRoundRectCallout">
            <a:avLst>
              <a:gd name="adj1" fmla="val -75989"/>
              <a:gd name="adj2" fmla="val 132951"/>
              <a:gd name="adj3" fmla="val 16667"/>
            </a:avLst>
          </a:prstGeom>
          <a:solidFill>
            <a:srgbClr val="30D204"/>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92075" indent="-92075" algn="ctr">
              <a:lnSpc>
                <a:spcPct val="110000"/>
              </a:lnSpc>
              <a:spcBef>
                <a:spcPct val="20000"/>
              </a:spcBef>
              <a:buClr>
                <a:schemeClr val="folHlink"/>
              </a:buClr>
              <a:buSzPct val="75000"/>
            </a:pPr>
            <a:r>
              <a:rPr lang="zh-CN" altLang="en-US" sz="2400" dirty="0">
                <a:solidFill>
                  <a:schemeClr val="bg2"/>
                </a:solidFill>
              </a:rPr>
              <a:t>不断循环测试等待锁可用</a:t>
            </a:r>
            <a:endParaRPr lang="en-US" altLang="zh-CN" sz="2400" dirty="0">
              <a:solidFill>
                <a:schemeClr val="bg2"/>
              </a:solidFill>
            </a:endParaRPr>
          </a:p>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dirty="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grpSp>
        <p:nvGrpSpPr>
          <p:cNvPr id="2" name="组合 1"/>
          <p:cNvGrpSpPr/>
          <p:nvPr/>
        </p:nvGrpSpPr>
        <p:grpSpPr>
          <a:xfrm>
            <a:off x="6240846" y="1537942"/>
            <a:ext cx="2683650" cy="3409404"/>
            <a:chOff x="5899596" y="867990"/>
            <a:chExt cx="2683650" cy="3458657"/>
          </a:xfrm>
        </p:grpSpPr>
        <p:sp>
          <p:nvSpPr>
            <p:cNvPr id="11" name="Content Placeholder 2">
              <a:extLst>
                <a:ext uri="{FF2B5EF4-FFF2-40B4-BE49-F238E27FC236}">
                  <a16:creationId xmlns:a16="http://schemas.microsoft.com/office/drawing/2014/main" id="{48AAB3DB-6E7E-4DEC-BB6E-373FFEBFFE09}"/>
                </a:ext>
              </a:extLst>
            </p:cNvPr>
            <p:cNvSpPr txBox="1">
              <a:spLocks/>
            </p:cNvSpPr>
            <p:nvPr/>
          </p:nvSpPr>
          <p:spPr>
            <a:xfrm>
              <a:off x="5899596" y="867990"/>
              <a:ext cx="2683650" cy="3458657"/>
            </a:xfrm>
            <a:prstGeom prst="rect">
              <a:avLst/>
            </a:prstGeom>
            <a:solidFill>
              <a:schemeClr val="tx1">
                <a:lumMod val="85000"/>
              </a:schemeClr>
            </a:solid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indent="0">
                <a:buNone/>
              </a:pPr>
              <a:endParaRPr lang="en-US" altLang="zh-CN" sz="2000" b="1" kern="0" dirty="0">
                <a:solidFill>
                  <a:schemeClr val="bg2"/>
                </a:solidFill>
                <a:effectLst/>
                <a:cs typeface="Courier New" panose="02070309020205020404" pitchFamily="49" charset="0"/>
              </a:endParaRPr>
            </a:p>
            <a:p>
              <a:pPr marL="0" indent="0">
                <a:buNone/>
              </a:pPr>
              <a:r>
                <a:rPr lang="en-US" altLang="zh-CN" sz="2000" b="1" kern="0" dirty="0">
                  <a:solidFill>
                    <a:schemeClr val="bg2"/>
                  </a:solidFill>
                  <a:effectLst/>
                  <a:cs typeface="Courier New" panose="02070309020205020404" pitchFamily="49" charset="0"/>
                </a:rPr>
                <a:t> do { </a:t>
              </a:r>
            </a:p>
            <a:p>
              <a:pPr marL="0" indent="0">
                <a:buNone/>
              </a:pPr>
              <a:r>
                <a:rPr lang="en-US" altLang="zh-CN" sz="2400" b="1" i="1" kern="0" dirty="0">
                  <a:solidFill>
                    <a:schemeClr val="bg2"/>
                  </a:solidFill>
                  <a:effectLst/>
                  <a:cs typeface="Courier New" panose="02070309020205020404" pitchFamily="49" charset="0"/>
                </a:rPr>
                <a:t>    </a:t>
              </a:r>
              <a:r>
                <a:rPr lang="en-US" altLang="zh-CN" sz="2400" b="1" i="1" kern="0" dirty="0">
                  <a:solidFill>
                    <a:srgbClr val="FF00FF"/>
                  </a:solidFill>
                  <a:effectLst/>
                  <a:cs typeface="Courier New" panose="02070309020205020404" pitchFamily="49" charset="0"/>
                </a:rPr>
                <a:t>acquire</a:t>
              </a:r>
              <a:r>
                <a:rPr lang="en-US" altLang="zh-CN" sz="2400" b="1" i="1" kern="0" dirty="0">
                  <a:solidFill>
                    <a:schemeClr val="bg2"/>
                  </a:solidFill>
                  <a:effectLst/>
                  <a:cs typeface="Courier New" panose="02070309020205020404" pitchFamily="49" charset="0"/>
                </a:rPr>
                <a:t> </a:t>
              </a:r>
              <a:r>
                <a:rPr lang="en-US" altLang="zh-CN" sz="2000" b="1" i="1" kern="0" dirty="0">
                  <a:solidFill>
                    <a:schemeClr val="bg2"/>
                  </a:solidFill>
                  <a:effectLst/>
                  <a:cs typeface="Courier New" panose="02070309020205020404" pitchFamily="49" charset="0"/>
                </a:rPr>
                <a:t>lock</a:t>
              </a:r>
            </a:p>
            <a:p>
              <a:pPr marL="0" indent="0">
                <a:buNone/>
              </a:pPr>
              <a:endParaRPr lang="en-US" altLang="zh-CN" sz="2000" b="1" kern="0" dirty="0">
                <a:solidFill>
                  <a:schemeClr val="bg2"/>
                </a:solidFill>
                <a:effectLst/>
                <a:cs typeface="Courier New" panose="02070309020205020404" pitchFamily="49" charset="0"/>
              </a:endParaRPr>
            </a:p>
            <a:p>
              <a:pPr marL="0" indent="0">
                <a:buNone/>
              </a:pPr>
              <a:r>
                <a:rPr lang="en-US" altLang="zh-CN" sz="2400" b="1" i="1" kern="0" dirty="0">
                  <a:solidFill>
                    <a:srgbClr val="FF00FF"/>
                  </a:solidFill>
                  <a:effectLst/>
                  <a:cs typeface="Courier New" panose="02070309020205020404" pitchFamily="49" charset="0"/>
                </a:rPr>
                <a:t>    release </a:t>
              </a:r>
              <a:r>
                <a:rPr lang="en-US" altLang="zh-CN" sz="2000" b="1" i="1" kern="0" dirty="0">
                  <a:solidFill>
                    <a:schemeClr val="bg2"/>
                  </a:solidFill>
                  <a:effectLst/>
                  <a:cs typeface="Courier New" panose="02070309020205020404" pitchFamily="49" charset="0"/>
                </a:rPr>
                <a:t>lock </a:t>
              </a:r>
            </a:p>
            <a:p>
              <a:pPr marL="0" indent="0">
                <a:buNone/>
              </a:pPr>
              <a:r>
                <a:rPr lang="en-US" altLang="zh-CN" sz="2000" b="1" kern="0" dirty="0">
                  <a:solidFill>
                    <a:schemeClr val="bg2"/>
                  </a:solidFill>
                  <a:effectLst/>
                  <a:cs typeface="Courier New" panose="02070309020205020404" pitchFamily="49" charset="0"/>
                </a:rPr>
                <a:t>      </a:t>
              </a:r>
              <a:r>
                <a:rPr lang="en-US" altLang="zh-CN" sz="2000" b="1" kern="0" dirty="0">
                  <a:solidFill>
                    <a:srgbClr val="7A007A"/>
                  </a:solidFill>
                  <a:effectLst/>
                  <a:cs typeface="Courier New" panose="02070309020205020404" pitchFamily="49" charset="0"/>
                </a:rPr>
                <a:t>remainder section </a:t>
              </a:r>
            </a:p>
            <a:p>
              <a:pPr marL="0" indent="0">
                <a:buNone/>
              </a:pPr>
              <a:r>
                <a:rPr lang="en-US" altLang="zh-CN" sz="2000" b="1" kern="0" dirty="0">
                  <a:solidFill>
                    <a:schemeClr val="bg2"/>
                  </a:solidFill>
                  <a:effectLst/>
                  <a:cs typeface="Courier New" panose="02070309020205020404" pitchFamily="49" charset="0"/>
                </a:rPr>
                <a:t> } while (true); </a:t>
              </a:r>
            </a:p>
            <a:p>
              <a:pPr marL="0" indent="0">
                <a:buFont typeface="Monotype Sorts" pitchFamily="2" charset="2"/>
                <a:buNone/>
              </a:pPr>
              <a:endParaRPr lang="en-US" altLang="zh-CN" b="0" kern="0" dirty="0"/>
            </a:p>
          </p:txBody>
        </p:sp>
        <p:sp>
          <p:nvSpPr>
            <p:cNvPr id="10" name="Text Box 18">
              <a:extLst>
                <a:ext uri="{FF2B5EF4-FFF2-40B4-BE49-F238E27FC236}">
                  <a16:creationId xmlns:a16="http://schemas.microsoft.com/office/drawing/2014/main" id="{A2C0892B-9A6B-4E31-AB3C-DC804ACC3E4D}"/>
                </a:ext>
              </a:extLst>
            </p:cNvPr>
            <p:cNvSpPr txBox="1">
              <a:spLocks noChangeArrowheads="1"/>
            </p:cNvSpPr>
            <p:nvPr/>
          </p:nvSpPr>
          <p:spPr bwMode="auto">
            <a:xfrm>
              <a:off x="6260378" y="2094009"/>
              <a:ext cx="1962085" cy="396000"/>
            </a:xfrm>
            <a:prstGeom prst="rect">
              <a:avLst/>
            </a:prstGeom>
            <a:solidFill>
              <a:srgbClr val="FF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400" kern="0" dirty="0">
                  <a:solidFill>
                    <a:schemeClr val="bg2"/>
                  </a:solidFill>
                  <a:latin typeface="+mn-lt"/>
                  <a:cs typeface="Courier New" panose="02070309020205020404" pitchFamily="49" charset="0"/>
                </a:rPr>
                <a:t>critical section</a:t>
              </a:r>
              <a:endParaRPr lang="zh-CN" altLang="en-US" sz="2400" b="1" dirty="0">
                <a:solidFill>
                  <a:schemeClr val="bg2"/>
                </a:solidFill>
                <a:latin typeface="+mn-lt"/>
              </a:endParaRPr>
            </a:p>
          </p:txBody>
        </p:sp>
      </p:grpSp>
      <p:grpSp>
        <p:nvGrpSpPr>
          <p:cNvPr id="6" name="组合 5">
            <a:extLst>
              <a:ext uri="{FF2B5EF4-FFF2-40B4-BE49-F238E27FC236}">
                <a16:creationId xmlns:a16="http://schemas.microsoft.com/office/drawing/2014/main" id="{9C8D3AFE-A8AC-4296-8775-DCC9A22BF635}"/>
              </a:ext>
            </a:extLst>
          </p:cNvPr>
          <p:cNvGrpSpPr/>
          <p:nvPr/>
        </p:nvGrpSpPr>
        <p:grpSpPr>
          <a:xfrm>
            <a:off x="3370316" y="1762260"/>
            <a:ext cx="1746398" cy="3084571"/>
            <a:chOff x="3370316" y="1762260"/>
            <a:chExt cx="1746398" cy="3084571"/>
          </a:xfrm>
        </p:grpSpPr>
        <p:sp>
          <p:nvSpPr>
            <p:cNvPr id="17" name="AutoShape 14"/>
            <p:cNvSpPr>
              <a:spLocks/>
            </p:cNvSpPr>
            <p:nvPr/>
          </p:nvSpPr>
          <p:spPr bwMode="auto">
            <a:xfrm>
              <a:off x="3370316" y="1762260"/>
              <a:ext cx="360782" cy="1647037"/>
            </a:xfrm>
            <a:prstGeom prst="rightBrace">
              <a:avLst>
                <a:gd name="adj1" fmla="val 55556"/>
                <a:gd name="adj2" fmla="val 50000"/>
              </a:avLst>
            </a:prstGeom>
            <a:noFill/>
            <a:ln w="57150">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2"/>
                </a:solidFill>
              </a:endParaRPr>
            </a:p>
          </p:txBody>
        </p:sp>
        <p:sp>
          <p:nvSpPr>
            <p:cNvPr id="19" name="AutoShape 14"/>
            <p:cNvSpPr>
              <a:spLocks/>
            </p:cNvSpPr>
            <p:nvPr/>
          </p:nvSpPr>
          <p:spPr bwMode="auto">
            <a:xfrm>
              <a:off x="3406818" y="3690113"/>
              <a:ext cx="358202" cy="1156718"/>
            </a:xfrm>
            <a:prstGeom prst="rightBrace">
              <a:avLst>
                <a:gd name="adj1" fmla="val 55556"/>
                <a:gd name="adj2" fmla="val 52136"/>
              </a:avLst>
            </a:prstGeom>
            <a:noFill/>
            <a:ln w="57150">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2"/>
                </a:solidFill>
              </a:endParaRPr>
            </a:p>
          </p:txBody>
        </p:sp>
        <p:sp>
          <p:nvSpPr>
            <p:cNvPr id="3" name="文本框 2"/>
            <p:cNvSpPr txBox="1"/>
            <p:nvPr/>
          </p:nvSpPr>
          <p:spPr>
            <a:xfrm>
              <a:off x="3928888" y="1954527"/>
              <a:ext cx="1187826" cy="2762586"/>
            </a:xfrm>
            <a:prstGeom prst="rect">
              <a:avLst/>
            </a:prstGeom>
            <a:solidFill>
              <a:srgbClr val="FF00FF"/>
            </a:solidFill>
          </p:spPr>
          <p:txBody>
            <a:bodyPr vert="eaVert" wrap="square" rtlCol="0">
              <a:spAutoFit/>
            </a:bodyPr>
            <a:lstStyle/>
            <a:p>
              <a:pPr algn="ctr">
                <a:lnSpc>
                  <a:spcPts val="4200"/>
                </a:lnSpc>
                <a:spcBef>
                  <a:spcPts val="0"/>
                </a:spcBef>
              </a:pPr>
              <a:r>
                <a:rPr lang="en-US" altLang="zh-CN" sz="2800" dirty="0">
                  <a:solidFill>
                    <a:schemeClr val="bg2"/>
                  </a:solidFill>
                  <a:effectLst>
                    <a:outerShdw blurRad="38100" dist="38100" dir="2700000" algn="tl">
                      <a:srgbClr val="000000">
                        <a:alpha val="43137"/>
                      </a:srgbClr>
                    </a:outerShdw>
                  </a:effectLst>
                  <a:latin typeface="+mn-lt"/>
                </a:rPr>
                <a:t>OS </a:t>
              </a:r>
              <a:r>
                <a:rPr lang="zh-CN" altLang="en-US" sz="2800" dirty="0">
                  <a:solidFill>
                    <a:schemeClr val="bg2"/>
                  </a:solidFill>
                  <a:effectLst>
                    <a:outerShdw blurRad="38100" dist="38100" dir="2700000" algn="tl">
                      <a:srgbClr val="000000">
                        <a:alpha val="43137"/>
                      </a:srgbClr>
                    </a:outerShdw>
                  </a:effectLst>
                </a:rPr>
                <a:t>采 用</a:t>
              </a:r>
              <a:endParaRPr lang="en-US" altLang="zh-CN" sz="2800" dirty="0">
                <a:solidFill>
                  <a:schemeClr val="bg2"/>
                </a:solidFill>
                <a:effectLst>
                  <a:outerShdw blurRad="38100" dist="38100" dir="2700000" algn="tl">
                    <a:srgbClr val="000000">
                      <a:alpha val="43137"/>
                    </a:srgbClr>
                  </a:outerShdw>
                </a:effectLst>
              </a:endParaRPr>
            </a:p>
            <a:p>
              <a:pPr algn="ctr">
                <a:lnSpc>
                  <a:spcPts val="4200"/>
                </a:lnSpc>
                <a:spcBef>
                  <a:spcPts val="0"/>
                </a:spcBef>
              </a:pPr>
              <a:r>
                <a:rPr lang="zh-CN" altLang="en-US" sz="2800" dirty="0">
                  <a:solidFill>
                    <a:schemeClr val="bg2"/>
                  </a:solidFill>
                  <a:effectLst>
                    <a:outerShdw blurRad="38100" dist="38100" dir="2700000" algn="tl">
                      <a:srgbClr val="000000">
                        <a:alpha val="43137"/>
                      </a:srgbClr>
                    </a:outerShdw>
                  </a:effectLst>
                </a:rPr>
                <a:t>硬件原子指令</a:t>
              </a:r>
              <a:endParaRPr lang="en-US" altLang="zh-CN" sz="2800" dirty="0">
                <a:solidFill>
                  <a:schemeClr val="bg2"/>
                </a:solidFill>
                <a:effectLst>
                  <a:outerShdw blurRad="38100" dist="38100" dir="2700000" algn="tl">
                    <a:srgbClr val="000000">
                      <a:alpha val="43137"/>
                    </a:srgbClr>
                  </a:outerShdw>
                </a:effectLst>
              </a:endParaRPr>
            </a:p>
          </p:txBody>
        </p:sp>
      </p:grpSp>
      <p:sp>
        <p:nvSpPr>
          <p:cNvPr id="20" name="文本框 19"/>
          <p:cNvSpPr txBox="1"/>
          <p:nvPr/>
        </p:nvSpPr>
        <p:spPr>
          <a:xfrm>
            <a:off x="6854912" y="6477957"/>
            <a:ext cx="1891332" cy="369332"/>
          </a:xfrm>
          <a:prstGeom prst="rect">
            <a:avLst/>
          </a:prstGeom>
          <a:solidFill>
            <a:srgbClr val="9CA7F6"/>
          </a:solidFill>
        </p:spPr>
        <p:txBody>
          <a:bodyPr wrap="square" tIns="0" bIns="0" rtlCol="0">
            <a:spAutoFit/>
          </a:bodyPr>
          <a:lstStyle/>
          <a:p>
            <a:r>
              <a:rPr lang="zh-CN" altLang="en-US" sz="2400" dirty="0">
                <a:solidFill>
                  <a:schemeClr val="bg2"/>
                </a:solidFill>
                <a:latin typeface="+mn-lt"/>
              </a:rPr>
              <a:t>教材习题 </a:t>
            </a:r>
            <a:r>
              <a:rPr lang="en-US" altLang="zh-CN" sz="2400" dirty="0">
                <a:solidFill>
                  <a:schemeClr val="bg2"/>
                </a:solidFill>
                <a:latin typeface="+mn-lt"/>
              </a:rPr>
              <a:t>5.4  </a:t>
            </a:r>
            <a:endParaRPr lang="zh-CN" altLang="en-US" sz="2400" dirty="0">
              <a:solidFill>
                <a:schemeClr val="bg2"/>
              </a:solidFill>
              <a:latin typeface="+mn-lt"/>
            </a:endParaRPr>
          </a:p>
        </p:txBody>
      </p:sp>
      <p:sp>
        <p:nvSpPr>
          <p:cNvPr id="18"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2507497"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计算机科学与技术系</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
        <p:nvSpPr>
          <p:cNvPr id="22"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328376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dissolve">
                                      <p:cBhvr>
                                        <p:cTn id="14" dur="50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dissolve">
                                      <p:cBhvr>
                                        <p:cTn id="19"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4">
                                            <p:bg/>
                                          </p:spTgt>
                                        </p:tgtEl>
                                        <p:attrNameLst>
                                          <p:attrName>style.visibility</p:attrName>
                                        </p:attrNameLst>
                                      </p:cBhvr>
                                      <p:to>
                                        <p:strVal val="visible"/>
                                      </p:to>
                                    </p:set>
                                    <p:animEffect transition="in" filter="fade">
                                      <p:cBhvr>
                                        <p:cTn id="36" dur="1000"/>
                                        <p:tgtEl>
                                          <p:spTgt spid="14">
                                            <p:bg/>
                                          </p:spTgt>
                                        </p:tgtEl>
                                      </p:cBhvr>
                                    </p:animEffect>
                                    <p:anim calcmode="lin" valueType="num">
                                      <p:cBhvr>
                                        <p:cTn id="37" dur="1000" fill="hold"/>
                                        <p:tgtEl>
                                          <p:spTgt spid="14">
                                            <p:bg/>
                                          </p:spTgt>
                                        </p:tgtEl>
                                        <p:attrNameLst>
                                          <p:attrName>ppt_x</p:attrName>
                                        </p:attrNameLst>
                                      </p:cBhvr>
                                      <p:tavLst>
                                        <p:tav tm="0">
                                          <p:val>
                                            <p:strVal val="#ppt_x"/>
                                          </p:val>
                                        </p:tav>
                                        <p:tav tm="100000">
                                          <p:val>
                                            <p:strVal val="#ppt_x"/>
                                          </p:val>
                                        </p:tav>
                                      </p:tavLst>
                                    </p:anim>
                                    <p:anim calcmode="lin" valueType="num">
                                      <p:cBhvr>
                                        <p:cTn id="38" dur="1000" fill="hold"/>
                                        <p:tgtEl>
                                          <p:spTgt spid="14">
                                            <p:bg/>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4">
                                            <p:txEl>
                                              <p:pRg st="0" end="0"/>
                                            </p:txEl>
                                          </p:spTgt>
                                        </p:tgtEl>
                                        <p:attrNameLst>
                                          <p:attrName>style.visibility</p:attrName>
                                        </p:attrNameLst>
                                      </p:cBhvr>
                                      <p:to>
                                        <p:strVal val="visible"/>
                                      </p:to>
                                    </p:set>
                                    <p:animEffect transition="in" filter="fade">
                                      <p:cBhvr>
                                        <p:cTn id="41" dur="1000"/>
                                        <p:tgtEl>
                                          <p:spTgt spid="14">
                                            <p:txEl>
                                              <p:pRg st="0" end="0"/>
                                            </p:txEl>
                                          </p:spTgt>
                                        </p:tgtEl>
                                      </p:cBhvr>
                                    </p:animEffect>
                                    <p:anim calcmode="lin" valueType="num">
                                      <p:cBhvr>
                                        <p:cTn id="42"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43" dur="1000" fill="hold"/>
                                        <p:tgtEl>
                                          <p:spTgt spid="14">
                                            <p:txEl>
                                              <p:pRg st="0" end="0"/>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4">
                                            <p:txEl>
                                              <p:pRg st="1" end="1"/>
                                            </p:txEl>
                                          </p:spTgt>
                                        </p:tgtEl>
                                        <p:attrNameLst>
                                          <p:attrName>style.visibility</p:attrName>
                                        </p:attrNameLst>
                                      </p:cBhvr>
                                      <p:to>
                                        <p:strVal val="visible"/>
                                      </p:to>
                                    </p:set>
                                    <p:animEffect transition="in" filter="fade">
                                      <p:cBhvr>
                                        <p:cTn id="46" dur="1000"/>
                                        <p:tgtEl>
                                          <p:spTgt spid="14">
                                            <p:txEl>
                                              <p:pRg st="1" end="1"/>
                                            </p:txEl>
                                          </p:spTgt>
                                        </p:tgtEl>
                                      </p:cBhvr>
                                    </p:animEffect>
                                    <p:anim calcmode="lin" valueType="num">
                                      <p:cBhvr>
                                        <p:cTn id="47"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48" dur="1000" fill="hold"/>
                                        <p:tgtEl>
                                          <p:spTgt spid="14">
                                            <p:txEl>
                                              <p:pRg st="1" end="1"/>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4">
                                            <p:txEl>
                                              <p:pRg st="2" end="2"/>
                                            </p:txEl>
                                          </p:spTgt>
                                        </p:tgtEl>
                                        <p:attrNameLst>
                                          <p:attrName>style.visibility</p:attrName>
                                        </p:attrNameLst>
                                      </p:cBhvr>
                                      <p:to>
                                        <p:strVal val="visible"/>
                                      </p:to>
                                    </p:set>
                                    <p:animEffect transition="in" filter="fade">
                                      <p:cBhvr>
                                        <p:cTn id="51" dur="1000"/>
                                        <p:tgtEl>
                                          <p:spTgt spid="14">
                                            <p:txEl>
                                              <p:pRg st="2" end="2"/>
                                            </p:txEl>
                                          </p:spTgt>
                                        </p:tgtEl>
                                      </p:cBhvr>
                                    </p:animEffect>
                                    <p:anim calcmode="lin" valueType="num">
                                      <p:cBhvr>
                                        <p:cTn id="5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5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1000"/>
                                        <p:tgtEl>
                                          <p:spTgt spid="20"/>
                                        </p:tgtEl>
                                      </p:cBhvr>
                                    </p:animEffect>
                                    <p:anim calcmode="lin" valueType="num">
                                      <p:cBhvr>
                                        <p:cTn id="59" dur="1000" fill="hold"/>
                                        <p:tgtEl>
                                          <p:spTgt spid="20"/>
                                        </p:tgtEl>
                                        <p:attrNameLst>
                                          <p:attrName>ppt_x</p:attrName>
                                        </p:attrNameLst>
                                      </p:cBhvr>
                                      <p:tavLst>
                                        <p:tav tm="0">
                                          <p:val>
                                            <p:strVal val="#ppt_x"/>
                                          </p:val>
                                        </p:tav>
                                        <p:tav tm="100000">
                                          <p:val>
                                            <p:strVal val="#ppt_x"/>
                                          </p:val>
                                        </p:tav>
                                      </p:tavLst>
                                    </p:anim>
                                    <p:anim calcmode="lin" valueType="num">
                                      <p:cBhvr>
                                        <p:cTn id="60" dur="1000" fill="hold"/>
                                        <p:tgtEl>
                                          <p:spTgt spid="20"/>
                                        </p:tgtEl>
                                        <p:attrNameLst>
                                          <p:attrName>ppt_y</p:attrName>
                                        </p:attrNameLst>
                                      </p:cBhvr>
                                      <p:tavLst>
                                        <p:tav tm="0">
                                          <p:val>
                                            <p:strVal val="#ppt_y+.1"/>
                                          </p:val>
                                        </p:tav>
                                        <p:tav tm="100000">
                                          <p:val>
                                            <p:strVal val="#ppt_y"/>
                                          </p:val>
                                        </p:tav>
                                      </p:tavLst>
                                    </p:anim>
                                  </p:childTnLst>
                                </p:cTn>
                              </p:par>
                            </p:childTnLst>
                          </p:cTn>
                        </p:par>
                        <p:par>
                          <p:cTn id="61" fill="hold">
                            <p:stCondLst>
                              <p:cond delay="1000"/>
                            </p:stCondLst>
                            <p:childTnLst>
                              <p:par>
                                <p:cTn id="62" presetID="2" presetClass="entr" presetSubtype="6" fill="hold" grpId="0" nodeType="afterEffect">
                                  <p:stCondLst>
                                    <p:cond delay="0"/>
                                  </p:stCondLst>
                                  <p:childTnLst>
                                    <p:set>
                                      <p:cBhvr>
                                        <p:cTn id="63" dur="1" fill="hold">
                                          <p:stCondLst>
                                            <p:cond delay="0"/>
                                          </p:stCondLst>
                                        </p:cTn>
                                        <p:tgtEl>
                                          <p:spTgt spid="22"/>
                                        </p:tgtEl>
                                        <p:attrNameLst>
                                          <p:attrName>style.visibility</p:attrName>
                                        </p:attrNameLst>
                                      </p:cBhvr>
                                      <p:to>
                                        <p:strVal val="visible"/>
                                      </p:to>
                                    </p:set>
                                    <p:anim calcmode="lin" valueType="num">
                                      <p:cBhvr additive="base">
                                        <p:cTn id="64" dur="500" fill="hold"/>
                                        <p:tgtEl>
                                          <p:spTgt spid="22"/>
                                        </p:tgtEl>
                                        <p:attrNameLst>
                                          <p:attrName>ppt_x</p:attrName>
                                        </p:attrNameLst>
                                      </p:cBhvr>
                                      <p:tavLst>
                                        <p:tav tm="0">
                                          <p:val>
                                            <p:strVal val="1+#ppt_w/2"/>
                                          </p:val>
                                        </p:tav>
                                        <p:tav tm="100000">
                                          <p:val>
                                            <p:strVal val="#ppt_x"/>
                                          </p:val>
                                        </p:tav>
                                      </p:tavLst>
                                    </p:anim>
                                    <p:anim calcmode="lin" valueType="num">
                                      <p:cBhvr additive="base">
                                        <p:cTn id="65"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uiExpand="1" build="p" animBg="1"/>
      <p:bldP spid="15" grpId="0" animBg="1"/>
      <p:bldP spid="20" grpId="0" animBg="1"/>
      <p:bldP spid="2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A825613A-F7C9-4CBA-BFE2-56B2B2CE3B2E}"/>
              </a:ext>
            </a:extLst>
          </p:cNvPr>
          <p:cNvGrpSpPr/>
          <p:nvPr/>
        </p:nvGrpSpPr>
        <p:grpSpPr>
          <a:xfrm>
            <a:off x="73292" y="5112980"/>
            <a:ext cx="8968070" cy="830997"/>
            <a:chOff x="73292" y="5112980"/>
            <a:chExt cx="8968070" cy="830997"/>
          </a:xfrm>
        </p:grpSpPr>
        <p:sp>
          <p:nvSpPr>
            <p:cNvPr id="7" name="文本框 6"/>
            <p:cNvSpPr txBox="1"/>
            <p:nvPr/>
          </p:nvSpPr>
          <p:spPr>
            <a:xfrm>
              <a:off x="73292" y="5112980"/>
              <a:ext cx="8968070" cy="830997"/>
            </a:xfrm>
            <a:prstGeom prst="rect">
              <a:avLst/>
            </a:prstGeom>
            <a:noFill/>
          </p:spPr>
          <p:txBody>
            <a:bodyPr wrap="square" rtlCol="0">
              <a:spAutoFit/>
            </a:bodyPr>
            <a:lstStyle/>
            <a:p>
              <a:r>
                <a:rPr lang="zh-CN" altLang="en-US" sz="2400" dirty="0">
                  <a:solidFill>
                    <a:schemeClr val="bg2"/>
                  </a:solidFill>
                </a:rPr>
                <a:t>当</a:t>
              </a:r>
              <a:r>
                <a:rPr lang="en-US" altLang="zh-CN" sz="2400" dirty="0" err="1">
                  <a:solidFill>
                    <a:schemeClr val="bg2"/>
                  </a:solidFill>
                </a:rPr>
                <a:t>lk</a:t>
              </a:r>
              <a:r>
                <a:rPr lang="en-US" altLang="zh-CN" sz="2400" dirty="0">
                  <a:solidFill>
                    <a:schemeClr val="bg2"/>
                  </a:solidFill>
                </a:rPr>
                <a:t>-&gt;locked==0</a:t>
              </a:r>
              <a:r>
                <a:rPr lang="zh-CN" altLang="en-US" sz="2400" dirty="0">
                  <a:solidFill>
                    <a:schemeClr val="bg2"/>
                  </a:solidFill>
                </a:rPr>
                <a:t>，即锁空闲时：</a:t>
              </a:r>
              <a:r>
                <a:rPr lang="en-US" altLang="zh-CN" sz="2400" dirty="0">
                  <a:solidFill>
                    <a:schemeClr val="bg2"/>
                  </a:solidFill>
                </a:rPr>
                <a:t>1    </a:t>
              </a:r>
              <a:r>
                <a:rPr lang="en-US" altLang="zh-CN" sz="2400" dirty="0" err="1">
                  <a:solidFill>
                    <a:schemeClr val="bg2"/>
                  </a:solidFill>
                </a:rPr>
                <a:t>lk</a:t>
              </a:r>
              <a:r>
                <a:rPr lang="en-US" altLang="zh-CN" sz="2400" dirty="0">
                  <a:solidFill>
                    <a:schemeClr val="bg2"/>
                  </a:solidFill>
                </a:rPr>
                <a:t>-&gt;locked</a:t>
              </a:r>
              <a:r>
                <a:rPr lang="zh-CN" altLang="en-US" sz="2400" dirty="0">
                  <a:solidFill>
                    <a:schemeClr val="bg2"/>
                  </a:solidFill>
                </a:rPr>
                <a:t>，即上锁；</a:t>
              </a:r>
              <a:endParaRPr lang="en-US" altLang="zh-CN" sz="2400" dirty="0">
                <a:solidFill>
                  <a:schemeClr val="bg2"/>
                </a:solidFill>
              </a:endParaRPr>
            </a:p>
            <a:p>
              <a:r>
                <a:rPr lang="en-US" altLang="zh-CN" sz="2400" dirty="0">
                  <a:solidFill>
                    <a:schemeClr val="bg2"/>
                  </a:solidFill>
                </a:rPr>
                <a:t>                              </a:t>
              </a:r>
              <a:r>
                <a:rPr lang="zh-CN" altLang="en-US" sz="2400" dirty="0">
                  <a:solidFill>
                    <a:schemeClr val="bg2"/>
                  </a:solidFill>
                </a:rPr>
                <a:t>返回</a:t>
              </a:r>
              <a:r>
                <a:rPr lang="en-US" altLang="zh-CN" sz="2400" dirty="0">
                  <a:solidFill>
                    <a:schemeClr val="bg2"/>
                  </a:solidFill>
                </a:rPr>
                <a:t>0</a:t>
              </a:r>
              <a:r>
                <a:rPr lang="zh-CN" altLang="en-US" sz="2400" dirty="0">
                  <a:solidFill>
                    <a:schemeClr val="bg2"/>
                  </a:solidFill>
                </a:rPr>
                <a:t>，退出循环</a:t>
              </a:r>
              <a:endParaRPr lang="en-US" altLang="zh-CN" sz="2400" dirty="0">
                <a:solidFill>
                  <a:schemeClr val="bg2"/>
                </a:solidFill>
              </a:endParaRPr>
            </a:p>
          </p:txBody>
        </p:sp>
        <p:sp>
          <p:nvSpPr>
            <p:cNvPr id="18" name="右箭头 17"/>
            <p:cNvSpPr/>
            <p:nvPr/>
          </p:nvSpPr>
          <p:spPr bwMode="auto">
            <a:xfrm>
              <a:off x="4916074" y="5272248"/>
              <a:ext cx="432048" cy="216024"/>
            </a:xfrm>
            <a:prstGeom prst="rightArrow">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grpSp>
      <p:sp>
        <p:nvSpPr>
          <p:cNvPr id="8" name="文本框 7">
            <a:extLst>
              <a:ext uri="{FF2B5EF4-FFF2-40B4-BE49-F238E27FC236}">
                <a16:creationId xmlns:a16="http://schemas.microsoft.com/office/drawing/2014/main" id="{EEDA8251-FB2A-46E7-A1B8-C3E9C41BE0C1}"/>
              </a:ext>
            </a:extLst>
          </p:cNvPr>
          <p:cNvSpPr txBox="1"/>
          <p:nvPr/>
        </p:nvSpPr>
        <p:spPr>
          <a:xfrm>
            <a:off x="2353163" y="-127587"/>
            <a:ext cx="4476754" cy="707886"/>
          </a:xfrm>
          <a:prstGeom prst="rect">
            <a:avLst/>
          </a:prstGeom>
          <a:noFill/>
        </p:spPr>
        <p:txBody>
          <a:bodyPr wrap="square" rtlCol="0">
            <a:spAutoFit/>
          </a:bodyPr>
          <a:lstStyle/>
          <a:p>
            <a:pPr marL="0" lvl="1" indent="-274638" algn="ctr"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xv6 </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自旋锁（</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1</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a:t>
            </a:r>
          </a:p>
        </p:txBody>
      </p:sp>
      <p:pic>
        <p:nvPicPr>
          <p:cNvPr id="4" name="图片 3"/>
          <p:cNvPicPr>
            <a:picLocks noChangeAspect="1"/>
          </p:cNvPicPr>
          <p:nvPr/>
        </p:nvPicPr>
        <p:blipFill>
          <a:blip r:embed="rId3"/>
          <a:stretch>
            <a:fillRect/>
          </a:stretch>
        </p:blipFill>
        <p:spPr>
          <a:xfrm>
            <a:off x="107504" y="659933"/>
            <a:ext cx="4346515" cy="1676202"/>
          </a:xfrm>
          <a:prstGeom prst="rect">
            <a:avLst/>
          </a:prstGeom>
        </p:spPr>
      </p:pic>
      <p:sp>
        <p:nvSpPr>
          <p:cNvPr id="5" name="文本框 4"/>
          <p:cNvSpPr txBox="1"/>
          <p:nvPr/>
        </p:nvSpPr>
        <p:spPr>
          <a:xfrm>
            <a:off x="217221" y="2319317"/>
            <a:ext cx="7992888" cy="2739211"/>
          </a:xfrm>
          <a:prstGeom prst="rect">
            <a:avLst/>
          </a:prstGeom>
          <a:solidFill>
            <a:schemeClr val="tx1">
              <a:lumMod val="95000"/>
            </a:schemeClr>
          </a:solidFill>
        </p:spPr>
        <p:txBody>
          <a:bodyPr wrap="square" rtlCol="0">
            <a:spAutoFit/>
          </a:bodyPr>
          <a:lstStyle/>
          <a:p>
            <a:r>
              <a:rPr lang="en-US" altLang="zh-CN" sz="2400" dirty="0">
                <a:solidFill>
                  <a:schemeClr val="bg2"/>
                </a:solidFill>
                <a:latin typeface="+mn-lt"/>
              </a:rPr>
              <a:t>void </a:t>
            </a:r>
            <a:r>
              <a:rPr lang="en-US" altLang="zh-CN" sz="2800" dirty="0">
                <a:solidFill>
                  <a:schemeClr val="bg1">
                    <a:lumMod val="75000"/>
                  </a:schemeClr>
                </a:solidFill>
                <a:effectLst>
                  <a:outerShdw blurRad="38100" dist="38100" dir="2700000" algn="tl">
                    <a:srgbClr val="000000">
                      <a:alpha val="43137"/>
                    </a:srgbClr>
                  </a:outerShdw>
                </a:effectLst>
                <a:latin typeface="+mn-lt"/>
              </a:rPr>
              <a:t>acquire</a:t>
            </a:r>
            <a:r>
              <a:rPr lang="en-US" altLang="zh-CN" sz="2400" dirty="0">
                <a:solidFill>
                  <a:schemeClr val="bg2"/>
                </a:solidFill>
                <a:latin typeface="+mn-lt"/>
              </a:rPr>
              <a:t>(</a:t>
            </a:r>
            <a:r>
              <a:rPr lang="en-US" altLang="zh-CN" sz="2400" dirty="0" err="1">
                <a:solidFill>
                  <a:schemeClr val="bg2"/>
                </a:solidFill>
                <a:latin typeface="+mn-lt"/>
              </a:rPr>
              <a:t>struct</a:t>
            </a:r>
            <a:r>
              <a:rPr lang="en-US" altLang="zh-CN" sz="2400" dirty="0">
                <a:solidFill>
                  <a:schemeClr val="bg2"/>
                </a:solidFill>
                <a:latin typeface="+mn-lt"/>
              </a:rPr>
              <a:t> spinlock *</a:t>
            </a:r>
            <a:r>
              <a:rPr lang="en-US" altLang="zh-CN" sz="2400" dirty="0" err="1">
                <a:solidFill>
                  <a:schemeClr val="bg2"/>
                </a:solidFill>
                <a:latin typeface="+mn-lt"/>
              </a:rPr>
              <a:t>lk</a:t>
            </a:r>
            <a:r>
              <a:rPr lang="en-US" altLang="zh-CN" sz="2400" dirty="0">
                <a:solidFill>
                  <a:schemeClr val="bg2"/>
                </a:solidFill>
                <a:latin typeface="+mn-lt"/>
              </a:rPr>
              <a:t>)</a:t>
            </a:r>
          </a:p>
          <a:p>
            <a:r>
              <a:rPr lang="en-US" altLang="zh-CN" sz="2400" dirty="0">
                <a:solidFill>
                  <a:schemeClr val="bg2"/>
                </a:solidFill>
                <a:latin typeface="+mn-lt"/>
              </a:rPr>
              <a:t>{  </a:t>
            </a:r>
            <a:r>
              <a:rPr lang="en-US" altLang="zh-CN" sz="2400" dirty="0" err="1">
                <a:solidFill>
                  <a:schemeClr val="bg2"/>
                </a:solidFill>
                <a:latin typeface="+mn-lt"/>
              </a:rPr>
              <a:t>push_off</a:t>
            </a:r>
            <a:r>
              <a:rPr lang="en-US" altLang="zh-CN" sz="2400" dirty="0">
                <a:solidFill>
                  <a:schemeClr val="bg2"/>
                </a:solidFill>
                <a:latin typeface="+mn-lt"/>
              </a:rPr>
              <a:t>(); // disable interrupts to avoid deadlock.</a:t>
            </a:r>
          </a:p>
          <a:p>
            <a:r>
              <a:rPr lang="en-US" altLang="zh-CN" sz="2400" dirty="0">
                <a:solidFill>
                  <a:srgbClr val="00B050"/>
                </a:solidFill>
                <a:latin typeface="+mn-lt"/>
              </a:rPr>
              <a:t>// On RISC-V, </a:t>
            </a:r>
            <a:r>
              <a:rPr lang="zh-CN" altLang="en-US" sz="2400" dirty="0">
                <a:solidFill>
                  <a:srgbClr val="00B050"/>
                </a:solidFill>
                <a:latin typeface="+mn-lt"/>
              </a:rPr>
              <a:t>转换成汇编原子交换指令</a:t>
            </a:r>
            <a:r>
              <a:rPr lang="en-US" altLang="zh-CN" sz="2400" dirty="0" err="1">
                <a:solidFill>
                  <a:srgbClr val="00B050"/>
                </a:solidFill>
                <a:latin typeface="+mn-lt"/>
              </a:rPr>
              <a:t>atmoswap</a:t>
            </a:r>
            <a:endParaRPr lang="en-US" altLang="zh-CN" sz="2400" dirty="0">
              <a:solidFill>
                <a:srgbClr val="00B050"/>
              </a:solidFill>
              <a:latin typeface="+mn-lt"/>
            </a:endParaRPr>
          </a:p>
          <a:p>
            <a:r>
              <a:rPr lang="en-US" altLang="zh-CN" sz="2400" dirty="0">
                <a:solidFill>
                  <a:schemeClr val="bg2"/>
                </a:solidFill>
                <a:latin typeface="+mn-lt"/>
              </a:rPr>
              <a:t> while( </a:t>
            </a:r>
            <a:r>
              <a:rPr lang="en-US" altLang="zh-CN" sz="2400" dirty="0">
                <a:solidFill>
                  <a:schemeClr val="bg1">
                    <a:lumMod val="75000"/>
                  </a:schemeClr>
                </a:solidFill>
                <a:effectLst>
                  <a:outerShdw blurRad="38100" dist="38100" dir="2700000" algn="tl">
                    <a:srgbClr val="000000">
                      <a:alpha val="43137"/>
                    </a:srgbClr>
                  </a:outerShdw>
                </a:effectLst>
                <a:latin typeface="+mn-lt"/>
              </a:rPr>
              <a:t>__</a:t>
            </a:r>
            <a:r>
              <a:rPr lang="en-US" altLang="zh-CN" sz="2400" dirty="0" err="1">
                <a:solidFill>
                  <a:schemeClr val="bg1">
                    <a:lumMod val="75000"/>
                  </a:schemeClr>
                </a:solidFill>
                <a:effectLst>
                  <a:outerShdw blurRad="38100" dist="38100" dir="2700000" algn="tl">
                    <a:srgbClr val="000000">
                      <a:alpha val="43137"/>
                    </a:srgbClr>
                  </a:outerShdw>
                </a:effectLst>
                <a:latin typeface="+mn-lt"/>
              </a:rPr>
              <a:t>sync_lock_test_and_set</a:t>
            </a:r>
            <a:r>
              <a:rPr lang="en-US" altLang="zh-CN" sz="2400" dirty="0">
                <a:solidFill>
                  <a:schemeClr val="bg2"/>
                </a:solidFill>
                <a:latin typeface="+mn-lt"/>
              </a:rPr>
              <a:t>( &amp;</a:t>
            </a:r>
            <a:r>
              <a:rPr lang="en-US" altLang="zh-CN" sz="2400" dirty="0" err="1">
                <a:solidFill>
                  <a:schemeClr val="bg2"/>
                </a:solidFill>
                <a:latin typeface="+mn-lt"/>
              </a:rPr>
              <a:t>lk</a:t>
            </a:r>
            <a:r>
              <a:rPr lang="en-US" altLang="zh-CN" sz="2400" dirty="0">
                <a:solidFill>
                  <a:schemeClr val="bg2"/>
                </a:solidFill>
                <a:latin typeface="+mn-lt"/>
              </a:rPr>
              <a:t>-&gt;locked, 1 ) != 0)</a:t>
            </a:r>
          </a:p>
          <a:p>
            <a:r>
              <a:rPr lang="en-US" altLang="zh-CN" sz="2400" dirty="0">
                <a:solidFill>
                  <a:schemeClr val="bg2"/>
                </a:solidFill>
                <a:latin typeface="+mn-lt"/>
              </a:rPr>
              <a:t>    ;</a:t>
            </a:r>
          </a:p>
          <a:p>
            <a:r>
              <a:rPr lang="en-US" altLang="zh-CN" sz="2400" dirty="0">
                <a:solidFill>
                  <a:schemeClr val="bg2"/>
                </a:solidFill>
                <a:latin typeface="+mn-lt"/>
              </a:rPr>
              <a:t>……</a:t>
            </a:r>
          </a:p>
          <a:p>
            <a:r>
              <a:rPr lang="en-US" altLang="zh-CN" sz="2400" dirty="0">
                <a:solidFill>
                  <a:schemeClr val="bg2"/>
                </a:solidFill>
                <a:latin typeface="+mn-lt"/>
              </a:rPr>
              <a:t> </a:t>
            </a:r>
            <a:r>
              <a:rPr lang="en-US" altLang="zh-CN" sz="2400" dirty="0" err="1">
                <a:solidFill>
                  <a:schemeClr val="bg2"/>
                </a:solidFill>
                <a:latin typeface="+mn-lt"/>
              </a:rPr>
              <a:t>lk</a:t>
            </a:r>
            <a:r>
              <a:rPr lang="en-US" altLang="zh-CN" sz="2400" dirty="0">
                <a:solidFill>
                  <a:schemeClr val="bg2"/>
                </a:solidFill>
                <a:latin typeface="+mn-lt"/>
              </a:rPr>
              <a:t>-&gt;</a:t>
            </a:r>
            <a:r>
              <a:rPr lang="en-US" altLang="zh-CN" sz="2400" dirty="0" err="1">
                <a:solidFill>
                  <a:schemeClr val="bg2"/>
                </a:solidFill>
                <a:latin typeface="+mn-lt"/>
              </a:rPr>
              <a:t>cpu</a:t>
            </a:r>
            <a:r>
              <a:rPr lang="en-US" altLang="zh-CN" sz="2400" dirty="0">
                <a:solidFill>
                  <a:schemeClr val="bg2"/>
                </a:solidFill>
                <a:latin typeface="+mn-lt"/>
              </a:rPr>
              <a:t> = </a:t>
            </a:r>
            <a:r>
              <a:rPr lang="en-US" altLang="zh-CN" sz="2400" dirty="0" err="1">
                <a:solidFill>
                  <a:schemeClr val="bg2"/>
                </a:solidFill>
                <a:latin typeface="+mn-lt"/>
              </a:rPr>
              <a:t>mycpu</a:t>
            </a:r>
            <a:r>
              <a:rPr lang="en-US" altLang="zh-CN" sz="2400" dirty="0">
                <a:solidFill>
                  <a:schemeClr val="bg2"/>
                </a:solidFill>
                <a:latin typeface="+mn-lt"/>
              </a:rPr>
              <a:t>(); }</a:t>
            </a:r>
          </a:p>
        </p:txBody>
      </p:sp>
      <p:sp>
        <p:nvSpPr>
          <p:cNvPr id="14" name="线形标注 1 13">
            <a:extLst>
              <a:ext uri="{FF2B5EF4-FFF2-40B4-BE49-F238E27FC236}">
                <a16:creationId xmlns:a16="http://schemas.microsoft.com/office/drawing/2014/main" id="{F7360669-AC5C-47DD-A8FA-9D9E30903CE4}"/>
              </a:ext>
            </a:extLst>
          </p:cNvPr>
          <p:cNvSpPr>
            <a:spLocks/>
          </p:cNvSpPr>
          <p:nvPr/>
        </p:nvSpPr>
        <p:spPr bwMode="auto">
          <a:xfrm>
            <a:off x="6915190" y="4263534"/>
            <a:ext cx="1742070" cy="325879"/>
          </a:xfrm>
          <a:prstGeom prst="borderCallout1">
            <a:avLst>
              <a:gd name="adj1" fmla="val -6324"/>
              <a:gd name="adj2" fmla="val 9433"/>
              <a:gd name="adj3" fmla="val -135357"/>
              <a:gd name="adj4" fmla="val -15876"/>
            </a:avLst>
          </a:prstGeom>
          <a:solidFill>
            <a:srgbClr val="99CCFF"/>
          </a:solidFill>
          <a:ln w="38100" cap="sq" algn="ctr">
            <a:solidFill>
              <a:srgbClr val="99CCFF"/>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None/>
            </a:pPr>
            <a:r>
              <a:rPr lang="zh-CN" altLang="en-US" sz="2400" dirty="0">
                <a:solidFill>
                  <a:schemeClr val="bg2"/>
                </a:solidFill>
              </a:rPr>
              <a:t>要写入的值</a:t>
            </a:r>
            <a:r>
              <a:rPr lang="en-US" altLang="zh-CN" sz="2400" dirty="0"/>
              <a:t/>
            </a:r>
            <a:br>
              <a:rPr lang="en-US" altLang="zh-CN" sz="2400" dirty="0"/>
            </a:br>
            <a:endParaRPr lang="zh-CN" altLang="en-US" sz="2400" b="1" dirty="0">
              <a:solidFill>
                <a:schemeClr val="bg2"/>
              </a:solidFill>
            </a:endParaRPr>
          </a:p>
        </p:txBody>
      </p:sp>
      <p:sp>
        <p:nvSpPr>
          <p:cNvPr id="15" name="线形标注 1 14">
            <a:extLst>
              <a:ext uri="{FF2B5EF4-FFF2-40B4-BE49-F238E27FC236}">
                <a16:creationId xmlns:a16="http://schemas.microsoft.com/office/drawing/2014/main" id="{F7360669-AC5C-47DD-A8FA-9D9E30903CE4}"/>
              </a:ext>
            </a:extLst>
          </p:cNvPr>
          <p:cNvSpPr>
            <a:spLocks/>
          </p:cNvSpPr>
          <p:nvPr/>
        </p:nvSpPr>
        <p:spPr bwMode="auto">
          <a:xfrm>
            <a:off x="188385" y="4254055"/>
            <a:ext cx="4130491" cy="384852"/>
          </a:xfrm>
          <a:prstGeom prst="borderCallout1">
            <a:avLst>
              <a:gd name="adj1" fmla="val -714"/>
              <a:gd name="adj2" fmla="val 57898"/>
              <a:gd name="adj3" fmla="val -103970"/>
              <a:gd name="adj4" fmla="val 72308"/>
            </a:avLst>
          </a:prstGeom>
          <a:solidFill>
            <a:srgbClr val="99CCFF"/>
          </a:solidFill>
          <a:ln w="38100" cap="sq" algn="ctr">
            <a:solidFill>
              <a:srgbClr val="99CCFF"/>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None/>
            </a:pPr>
            <a:r>
              <a:rPr lang="zh-CN" altLang="en-US" sz="2400" dirty="0">
                <a:solidFill>
                  <a:schemeClr val="bg2"/>
                </a:solidFill>
              </a:rPr>
              <a:t>返回值：</a:t>
            </a:r>
            <a:r>
              <a:rPr lang="en-US" altLang="zh-CN" sz="2400" dirty="0">
                <a:solidFill>
                  <a:schemeClr val="bg2"/>
                </a:solidFill>
              </a:rPr>
              <a:t> </a:t>
            </a:r>
            <a:r>
              <a:rPr lang="en-US" altLang="zh-CN" sz="2400" dirty="0" err="1">
                <a:solidFill>
                  <a:schemeClr val="bg2"/>
                </a:solidFill>
              </a:rPr>
              <a:t>lk</a:t>
            </a:r>
            <a:r>
              <a:rPr lang="en-US" altLang="zh-CN" sz="2400" dirty="0">
                <a:solidFill>
                  <a:schemeClr val="bg2"/>
                </a:solidFill>
              </a:rPr>
              <a:t>-&gt;locked</a:t>
            </a:r>
            <a:r>
              <a:rPr lang="zh-CN" altLang="en-US" sz="2400" dirty="0">
                <a:solidFill>
                  <a:schemeClr val="bg2"/>
                </a:solidFill>
              </a:rPr>
              <a:t>原来的值</a:t>
            </a:r>
            <a:endParaRPr lang="zh-CN" altLang="en-US" sz="2400" b="1" dirty="0">
              <a:solidFill>
                <a:schemeClr val="bg2"/>
              </a:solidFill>
            </a:endParaRPr>
          </a:p>
        </p:txBody>
      </p:sp>
      <p:sp>
        <p:nvSpPr>
          <p:cNvPr id="16" name="线形标注 1 15">
            <a:extLst>
              <a:ext uri="{FF2B5EF4-FFF2-40B4-BE49-F238E27FC236}">
                <a16:creationId xmlns:a16="http://schemas.microsoft.com/office/drawing/2014/main" id="{F7360669-AC5C-47DD-A8FA-9D9E30903CE4}"/>
              </a:ext>
            </a:extLst>
          </p:cNvPr>
          <p:cNvSpPr>
            <a:spLocks/>
          </p:cNvSpPr>
          <p:nvPr/>
        </p:nvSpPr>
        <p:spPr bwMode="auto">
          <a:xfrm>
            <a:off x="4617434" y="4254055"/>
            <a:ext cx="1999198" cy="384852"/>
          </a:xfrm>
          <a:prstGeom prst="borderCallout1">
            <a:avLst>
              <a:gd name="adj1" fmla="val -3760"/>
              <a:gd name="adj2" fmla="val 82874"/>
              <a:gd name="adj3" fmla="val -105725"/>
              <a:gd name="adj4" fmla="val 62167"/>
            </a:avLst>
          </a:prstGeom>
          <a:solidFill>
            <a:srgbClr val="99CCFF"/>
          </a:solidFill>
          <a:ln w="38100" cap="sq" algn="ctr">
            <a:solidFill>
              <a:srgbClr val="99CCFF"/>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None/>
            </a:pPr>
            <a:r>
              <a:rPr lang="zh-CN" altLang="en-US" sz="2400" dirty="0">
                <a:solidFill>
                  <a:schemeClr val="bg2"/>
                </a:solidFill>
              </a:rPr>
              <a:t>要写入的地址</a:t>
            </a:r>
            <a:r>
              <a:rPr lang="en-US" altLang="zh-CN" dirty="0"/>
              <a:t/>
            </a:r>
            <a:br>
              <a:rPr lang="en-US" altLang="zh-CN" dirty="0"/>
            </a:br>
            <a:endParaRPr lang="zh-CN" altLang="en-US" sz="2800" b="1" dirty="0">
              <a:solidFill>
                <a:schemeClr val="bg2"/>
              </a:solidFill>
            </a:endParaRPr>
          </a:p>
        </p:txBody>
      </p:sp>
      <p:sp>
        <p:nvSpPr>
          <p:cNvPr id="17" name="AutoShape 27">
            <a:hlinkClick r:id="" action="ppaction://hlinkshowjump?jump=nextslide" highlightClick="1"/>
            <a:extLst>
              <a:ext uri="{FF2B5EF4-FFF2-40B4-BE49-F238E27FC236}">
                <a16:creationId xmlns:a16="http://schemas.microsoft.com/office/drawing/2014/main" id="{5097C87C-29F5-4ACA-8633-62E464BAF38A}"/>
              </a:ext>
            </a:extLst>
          </p:cNvPr>
          <p:cNvSpPr>
            <a:spLocks noChangeArrowheads="1"/>
          </p:cNvSpPr>
          <p:nvPr/>
        </p:nvSpPr>
        <p:spPr bwMode="auto">
          <a:xfrm>
            <a:off x="8778643" y="6428563"/>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pic>
        <p:nvPicPr>
          <p:cNvPr id="21" name="图片 20">
            <a:extLst>
              <a:ext uri="{FF2B5EF4-FFF2-40B4-BE49-F238E27FC236}">
                <a16:creationId xmlns:a16="http://schemas.microsoft.com/office/drawing/2014/main" id="{78CDD894-100F-43D6-ADE3-DF7D63331A81}"/>
              </a:ext>
            </a:extLst>
          </p:cNvPr>
          <p:cNvPicPr>
            <a:picLocks noChangeAspect="1"/>
          </p:cNvPicPr>
          <p:nvPr/>
        </p:nvPicPr>
        <p:blipFill>
          <a:blip r:embed="rId4"/>
          <a:stretch>
            <a:fillRect/>
          </a:stretch>
        </p:blipFill>
        <p:spPr>
          <a:xfrm>
            <a:off x="4791360" y="477700"/>
            <a:ext cx="4368283" cy="1944217"/>
          </a:xfrm>
          <a:prstGeom prst="rect">
            <a:avLst/>
          </a:prstGeom>
        </p:spPr>
      </p:pic>
      <p:grpSp>
        <p:nvGrpSpPr>
          <p:cNvPr id="9" name="组合 8">
            <a:extLst>
              <a:ext uri="{FF2B5EF4-FFF2-40B4-BE49-F238E27FC236}">
                <a16:creationId xmlns:a16="http://schemas.microsoft.com/office/drawing/2014/main" id="{8C12E144-8D70-41AB-8A1B-F7807E2A8844}"/>
              </a:ext>
            </a:extLst>
          </p:cNvPr>
          <p:cNvGrpSpPr/>
          <p:nvPr/>
        </p:nvGrpSpPr>
        <p:grpSpPr>
          <a:xfrm>
            <a:off x="73292" y="6027003"/>
            <a:ext cx="7858996" cy="830997"/>
            <a:chOff x="73292" y="6027003"/>
            <a:chExt cx="7858996" cy="830997"/>
          </a:xfrm>
        </p:grpSpPr>
        <p:sp>
          <p:nvSpPr>
            <p:cNvPr id="19" name="右箭头 18"/>
            <p:cNvSpPr/>
            <p:nvPr/>
          </p:nvSpPr>
          <p:spPr bwMode="auto">
            <a:xfrm>
              <a:off x="4867364" y="6156354"/>
              <a:ext cx="432048" cy="216024"/>
            </a:xfrm>
            <a:prstGeom prst="rightArrow">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2" name="文本框 1">
              <a:extLst>
                <a:ext uri="{FF2B5EF4-FFF2-40B4-BE49-F238E27FC236}">
                  <a16:creationId xmlns:a16="http://schemas.microsoft.com/office/drawing/2014/main" id="{C76D44D5-D490-4483-9A38-59B82A28A433}"/>
                </a:ext>
              </a:extLst>
            </p:cNvPr>
            <p:cNvSpPr txBox="1"/>
            <p:nvPr/>
          </p:nvSpPr>
          <p:spPr>
            <a:xfrm>
              <a:off x="73292" y="6027003"/>
              <a:ext cx="7858996" cy="830997"/>
            </a:xfrm>
            <a:prstGeom prst="rect">
              <a:avLst/>
            </a:prstGeom>
            <a:noFill/>
          </p:spPr>
          <p:txBody>
            <a:bodyPr wrap="square" rtlCol="0">
              <a:spAutoFit/>
            </a:bodyPr>
            <a:lstStyle/>
            <a:p>
              <a:r>
                <a:rPr lang="zh-CN" altLang="en-US" sz="2400" dirty="0">
                  <a:solidFill>
                    <a:schemeClr val="bg2"/>
                  </a:solidFill>
                </a:rPr>
                <a:t>当</a:t>
              </a:r>
              <a:r>
                <a:rPr lang="en-US" altLang="zh-CN" sz="2400" dirty="0" err="1">
                  <a:solidFill>
                    <a:schemeClr val="bg2"/>
                  </a:solidFill>
                </a:rPr>
                <a:t>lk</a:t>
              </a:r>
              <a:r>
                <a:rPr lang="en-US" altLang="zh-CN" sz="2400" dirty="0">
                  <a:solidFill>
                    <a:schemeClr val="bg2"/>
                  </a:solidFill>
                </a:rPr>
                <a:t>-&gt;locked==1</a:t>
              </a:r>
              <a:r>
                <a:rPr lang="zh-CN" altLang="en-US" sz="2400" dirty="0">
                  <a:solidFill>
                    <a:schemeClr val="bg2"/>
                  </a:solidFill>
                </a:rPr>
                <a:t>，锁被锁定时：</a:t>
              </a:r>
              <a:r>
                <a:rPr lang="en-US" altLang="zh-CN" sz="2400" dirty="0">
                  <a:solidFill>
                    <a:schemeClr val="bg2"/>
                  </a:solidFill>
                </a:rPr>
                <a:t>1</a:t>
              </a:r>
              <a:r>
                <a:rPr lang="zh-CN" altLang="en-US" sz="2400" dirty="0">
                  <a:solidFill>
                    <a:schemeClr val="bg2"/>
                  </a:solidFill>
                </a:rPr>
                <a:t>    </a:t>
              </a:r>
              <a:r>
                <a:rPr lang="en-US" altLang="zh-CN" sz="2400" dirty="0" err="1">
                  <a:solidFill>
                    <a:schemeClr val="bg2"/>
                  </a:solidFill>
                </a:rPr>
                <a:t>lk</a:t>
              </a:r>
              <a:r>
                <a:rPr lang="en-US" altLang="zh-CN" sz="2400" dirty="0">
                  <a:solidFill>
                    <a:schemeClr val="bg2"/>
                  </a:solidFill>
                </a:rPr>
                <a:t>-&gt;locked</a:t>
              </a:r>
              <a:r>
                <a:rPr lang="zh-CN" altLang="en-US" sz="2400" dirty="0">
                  <a:solidFill>
                    <a:schemeClr val="bg2"/>
                  </a:solidFill>
                </a:rPr>
                <a:t>；</a:t>
              </a:r>
              <a:endParaRPr lang="en-US" altLang="zh-CN" sz="2400" dirty="0">
                <a:solidFill>
                  <a:schemeClr val="bg2"/>
                </a:solidFill>
              </a:endParaRPr>
            </a:p>
            <a:p>
              <a:r>
                <a:rPr lang="en-US" altLang="zh-CN" sz="2400" dirty="0">
                  <a:solidFill>
                    <a:schemeClr val="bg2"/>
                  </a:solidFill>
                </a:rPr>
                <a:t>	                        </a:t>
              </a:r>
              <a:r>
                <a:rPr lang="zh-CN" altLang="en-US" sz="2400" dirty="0">
                  <a:solidFill>
                    <a:schemeClr val="bg2"/>
                  </a:solidFill>
                </a:rPr>
                <a:t>返回</a:t>
              </a:r>
              <a:r>
                <a:rPr lang="en-US" altLang="zh-CN" sz="2400" dirty="0">
                  <a:solidFill>
                    <a:schemeClr val="bg2"/>
                  </a:solidFill>
                </a:rPr>
                <a:t>1</a:t>
              </a:r>
              <a:r>
                <a:rPr lang="zh-CN" altLang="en-US" sz="2400" dirty="0">
                  <a:solidFill>
                    <a:schemeClr val="bg2"/>
                  </a:solidFill>
                </a:rPr>
                <a:t>，继续循环。</a:t>
              </a:r>
              <a:endParaRPr lang="zh-CN" altLang="en-US" dirty="0"/>
            </a:p>
          </p:txBody>
        </p:sp>
      </p:grpSp>
      <p:sp>
        <p:nvSpPr>
          <p:cNvPr id="20" name="矩形 19">
            <a:extLst>
              <a:ext uri="{FF2B5EF4-FFF2-40B4-BE49-F238E27FC236}">
                <a16:creationId xmlns:a16="http://schemas.microsoft.com/office/drawing/2014/main" id="{911DC6EE-E140-4793-8959-61D36B89F080}"/>
              </a:ext>
            </a:extLst>
          </p:cNvPr>
          <p:cNvSpPr/>
          <p:nvPr/>
        </p:nvSpPr>
        <p:spPr>
          <a:xfrm>
            <a:off x="72601" y="890010"/>
            <a:ext cx="1331047" cy="306741"/>
          </a:xfrm>
          <a:prstGeom prst="rect">
            <a:avLst/>
          </a:prstGeom>
          <a:solidFill>
            <a:srgbClr val="FF99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22" name="矩形 21">
            <a:extLst>
              <a:ext uri="{FF2B5EF4-FFF2-40B4-BE49-F238E27FC236}">
                <a16:creationId xmlns:a16="http://schemas.microsoft.com/office/drawing/2014/main" id="{B0271FB7-7C42-4D58-9735-B98D5C50239E}"/>
              </a:ext>
            </a:extLst>
          </p:cNvPr>
          <p:cNvSpPr/>
          <p:nvPr/>
        </p:nvSpPr>
        <p:spPr>
          <a:xfrm>
            <a:off x="4951509" y="1592956"/>
            <a:ext cx="1665123" cy="240740"/>
          </a:xfrm>
          <a:prstGeom prst="rect">
            <a:avLst/>
          </a:prstGeom>
          <a:solidFill>
            <a:srgbClr val="FF99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Tree>
    <p:extLst>
      <p:ext uri="{BB962C8B-B14F-4D97-AF65-F5344CB8AC3E}">
        <p14:creationId xmlns:p14="http://schemas.microsoft.com/office/powerpoint/2010/main" val="952889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dissolv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000"/>
                                        <p:tgtEl>
                                          <p:spTgt spid="14"/>
                                        </p:tgtEl>
                                      </p:cBhvr>
                                    </p:animEffect>
                                    <p:anim calcmode="lin" valueType="num">
                                      <p:cBhvr>
                                        <p:cTn id="32" dur="1000" fill="hold"/>
                                        <p:tgtEl>
                                          <p:spTgt spid="14"/>
                                        </p:tgtEl>
                                        <p:attrNameLst>
                                          <p:attrName>ppt_x</p:attrName>
                                        </p:attrNameLst>
                                      </p:cBhvr>
                                      <p:tavLst>
                                        <p:tav tm="0">
                                          <p:val>
                                            <p:strVal val="#ppt_x"/>
                                          </p:val>
                                        </p:tav>
                                        <p:tav tm="100000">
                                          <p:val>
                                            <p:strVal val="#ppt_x"/>
                                          </p:val>
                                        </p:tav>
                                      </p:tavLst>
                                    </p:anim>
                                    <p:anim calcmode="lin" valueType="num">
                                      <p:cBhvr>
                                        <p:cTn id="3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1000"/>
                                        <p:tgtEl>
                                          <p:spTgt spid="15"/>
                                        </p:tgtEl>
                                      </p:cBhvr>
                                    </p:animEffect>
                                    <p:anim calcmode="lin" valueType="num">
                                      <p:cBhvr>
                                        <p:cTn id="39" dur="1000" fill="hold"/>
                                        <p:tgtEl>
                                          <p:spTgt spid="15"/>
                                        </p:tgtEl>
                                        <p:attrNameLst>
                                          <p:attrName>ppt_x</p:attrName>
                                        </p:attrNameLst>
                                      </p:cBhvr>
                                      <p:tavLst>
                                        <p:tav tm="0">
                                          <p:val>
                                            <p:strVal val="#ppt_x"/>
                                          </p:val>
                                        </p:tav>
                                        <p:tav tm="100000">
                                          <p:val>
                                            <p:strVal val="#ppt_x"/>
                                          </p:val>
                                        </p:tav>
                                      </p:tavLst>
                                    </p:anim>
                                    <p:anim calcmode="lin" valueType="num">
                                      <p:cBhvr>
                                        <p:cTn id="4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1000"/>
                                        <p:tgtEl>
                                          <p:spTgt spid="10"/>
                                        </p:tgtEl>
                                      </p:cBhvr>
                                    </p:animEffect>
                                    <p:anim calcmode="lin" valueType="num">
                                      <p:cBhvr>
                                        <p:cTn id="46" dur="1000" fill="hold"/>
                                        <p:tgtEl>
                                          <p:spTgt spid="10"/>
                                        </p:tgtEl>
                                        <p:attrNameLst>
                                          <p:attrName>ppt_x</p:attrName>
                                        </p:attrNameLst>
                                      </p:cBhvr>
                                      <p:tavLst>
                                        <p:tav tm="0">
                                          <p:val>
                                            <p:strVal val="#ppt_x"/>
                                          </p:val>
                                        </p:tav>
                                        <p:tav tm="100000">
                                          <p:val>
                                            <p:strVal val="#ppt_x"/>
                                          </p:val>
                                        </p:tav>
                                      </p:tavLst>
                                    </p:anim>
                                    <p:anim calcmode="lin" valueType="num">
                                      <p:cBhvr>
                                        <p:cTn id="4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1000"/>
                                        <p:tgtEl>
                                          <p:spTgt spid="9"/>
                                        </p:tgtEl>
                                      </p:cBhvr>
                                    </p:animEffect>
                                    <p:anim calcmode="lin" valueType="num">
                                      <p:cBhvr>
                                        <p:cTn id="53" dur="1000" fill="hold"/>
                                        <p:tgtEl>
                                          <p:spTgt spid="9"/>
                                        </p:tgtEl>
                                        <p:attrNameLst>
                                          <p:attrName>ppt_x</p:attrName>
                                        </p:attrNameLst>
                                      </p:cBhvr>
                                      <p:tavLst>
                                        <p:tav tm="0">
                                          <p:val>
                                            <p:strVal val="#ppt_x"/>
                                          </p:val>
                                        </p:tav>
                                        <p:tav tm="100000">
                                          <p:val>
                                            <p:strVal val="#ppt_x"/>
                                          </p:val>
                                        </p:tav>
                                      </p:tavLst>
                                    </p:anim>
                                    <p:anim calcmode="lin" valueType="num">
                                      <p:cBhvr>
                                        <p:cTn id="54" dur="1000" fill="hold"/>
                                        <p:tgtEl>
                                          <p:spTgt spid="9"/>
                                        </p:tgtEl>
                                        <p:attrNameLst>
                                          <p:attrName>ppt_y</p:attrName>
                                        </p:attrNameLst>
                                      </p:cBhvr>
                                      <p:tavLst>
                                        <p:tav tm="0">
                                          <p:val>
                                            <p:strVal val="#ppt_y+.1"/>
                                          </p:val>
                                        </p:tav>
                                        <p:tav tm="100000">
                                          <p:val>
                                            <p:strVal val="#ppt_y"/>
                                          </p:val>
                                        </p:tav>
                                      </p:tavLst>
                                    </p:anim>
                                  </p:childTnLst>
                                </p:cTn>
                              </p:par>
                            </p:childTnLst>
                          </p:cTn>
                        </p:par>
                        <p:par>
                          <p:cTn id="55" fill="hold">
                            <p:stCondLst>
                              <p:cond delay="1000"/>
                            </p:stCondLst>
                            <p:childTnLst>
                              <p:par>
                                <p:cTn id="56" presetID="2" presetClass="entr" presetSubtype="6"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 calcmode="lin" valueType="num">
                                      <p:cBhvr additive="base">
                                        <p:cTn id="58" dur="500" fill="hold"/>
                                        <p:tgtEl>
                                          <p:spTgt spid="17"/>
                                        </p:tgtEl>
                                        <p:attrNameLst>
                                          <p:attrName>ppt_x</p:attrName>
                                        </p:attrNameLst>
                                      </p:cBhvr>
                                      <p:tavLst>
                                        <p:tav tm="0">
                                          <p:val>
                                            <p:strVal val="1+#ppt_w/2"/>
                                          </p:val>
                                        </p:tav>
                                        <p:tav tm="100000">
                                          <p:val>
                                            <p:strVal val="#ppt_x"/>
                                          </p:val>
                                        </p:tav>
                                      </p:tavLst>
                                    </p:anim>
                                    <p:anim calcmode="lin" valueType="num">
                                      <p:cBhvr additive="base">
                                        <p:cTn id="5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animBg="1"/>
      <p:bldP spid="15" grpId="0" animBg="1"/>
      <p:bldP spid="16" grpId="0" animBg="1"/>
      <p:bldP spid="17" grpId="0" animBg="1"/>
      <p:bldP spid="20" grpId="0" animBg="1"/>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91CEB161-DCF1-4431-AE20-F7840E546C03}"/>
              </a:ext>
            </a:extLst>
          </p:cNvPr>
          <p:cNvPicPr>
            <a:picLocks noChangeAspect="1"/>
          </p:cNvPicPr>
          <p:nvPr/>
        </p:nvPicPr>
        <p:blipFill>
          <a:blip r:embed="rId3"/>
          <a:stretch>
            <a:fillRect/>
          </a:stretch>
        </p:blipFill>
        <p:spPr>
          <a:xfrm>
            <a:off x="44669" y="1027238"/>
            <a:ext cx="6924294" cy="3744416"/>
          </a:xfrm>
          <a:prstGeom prst="rect">
            <a:avLst/>
          </a:prstGeom>
        </p:spPr>
      </p:pic>
      <p:sp>
        <p:nvSpPr>
          <p:cNvPr id="3" name="灯片编号占位符 2">
            <a:extLst>
              <a:ext uri="{FF2B5EF4-FFF2-40B4-BE49-F238E27FC236}">
                <a16:creationId xmlns:a16="http://schemas.microsoft.com/office/drawing/2014/main" id="{9A2A9DA6-C091-455E-B669-B8E33BC21207}"/>
              </a:ext>
            </a:extLst>
          </p:cNvPr>
          <p:cNvSpPr>
            <a:spLocks noGrp="1"/>
          </p:cNvSpPr>
          <p:nvPr>
            <p:ph type="sldNum" sz="quarter" idx="12"/>
          </p:nvPr>
        </p:nvSpPr>
        <p:spPr>
          <a:xfrm>
            <a:off x="6663278" y="6328688"/>
            <a:ext cx="1905000" cy="196850"/>
          </a:xfrm>
        </p:spPr>
        <p:txBody>
          <a:bodyPr/>
          <a:lstStyle/>
          <a:p>
            <a:pPr>
              <a:defRPr/>
            </a:pPr>
            <a:r>
              <a:rPr lang="zh-CN" altLang="en-US"/>
              <a:t>第 </a:t>
            </a:r>
            <a:fld id="{AA9BF305-28BD-41C0-8AA3-BF5601F9D25F}" type="slidenum">
              <a:rPr lang="zh-CN" altLang="en-US" smtClean="0"/>
              <a:pPr>
                <a:defRPr/>
              </a:pPr>
              <a:t>17</a:t>
            </a:fld>
            <a:r>
              <a:rPr lang="zh-CN" altLang="en-US"/>
              <a:t> 页</a:t>
            </a:r>
          </a:p>
        </p:txBody>
      </p:sp>
      <p:sp>
        <p:nvSpPr>
          <p:cNvPr id="4" name="文本框 3">
            <a:extLst>
              <a:ext uri="{FF2B5EF4-FFF2-40B4-BE49-F238E27FC236}">
                <a16:creationId xmlns:a16="http://schemas.microsoft.com/office/drawing/2014/main" id="{4F1978CB-DAE6-41F6-B96F-CADFF94E6A9C}"/>
              </a:ext>
            </a:extLst>
          </p:cNvPr>
          <p:cNvSpPr txBox="1"/>
          <p:nvPr/>
        </p:nvSpPr>
        <p:spPr>
          <a:xfrm>
            <a:off x="3955485" y="550684"/>
            <a:ext cx="4932040" cy="6247864"/>
          </a:xfrm>
          <a:prstGeom prst="rect">
            <a:avLst/>
          </a:prstGeom>
          <a:solidFill>
            <a:schemeClr val="tx1">
              <a:lumMod val="85000"/>
            </a:schemeClr>
          </a:solidFill>
        </p:spPr>
        <p:txBody>
          <a:bodyPr wrap="square" rtlCol="0">
            <a:spAutoFit/>
          </a:bodyPr>
          <a:lstStyle/>
          <a:p>
            <a:r>
              <a:rPr lang="en-US" altLang="zh-CN" sz="2000" dirty="0">
                <a:solidFill>
                  <a:schemeClr val="bg2"/>
                </a:solidFill>
                <a:latin typeface="+mn-lt"/>
                <a:ea typeface="方正姚体" panose="02010601030101010101" pitchFamily="2" charset="-122"/>
              </a:rPr>
              <a:t>int </a:t>
            </a:r>
            <a:r>
              <a:rPr lang="en-US" altLang="zh-CN" sz="2400" dirty="0">
                <a:solidFill>
                  <a:schemeClr val="bg1">
                    <a:lumMod val="75000"/>
                  </a:schemeClr>
                </a:solidFill>
                <a:latin typeface="+mn-lt"/>
                <a:ea typeface="方正姚体" panose="02010601030101010101" pitchFamily="2" charset="-122"/>
              </a:rPr>
              <a:t>fork</a:t>
            </a:r>
            <a:r>
              <a:rPr lang="en-US" altLang="zh-CN" sz="2000" dirty="0">
                <a:solidFill>
                  <a:schemeClr val="bg2"/>
                </a:solidFill>
                <a:latin typeface="+mn-lt"/>
                <a:ea typeface="方正姚体" panose="02010601030101010101" pitchFamily="2" charset="-122"/>
              </a:rPr>
              <a:t>(void){</a:t>
            </a:r>
          </a:p>
          <a:p>
            <a:r>
              <a:rPr lang="en-US" altLang="zh-CN" sz="2000" dirty="0">
                <a:solidFill>
                  <a:schemeClr val="bg2"/>
                </a:solidFill>
                <a:latin typeface="+mn-lt"/>
                <a:ea typeface="方正姚体" panose="02010601030101010101" pitchFamily="2" charset="-122"/>
              </a:rPr>
              <a:t>  int </a:t>
            </a:r>
            <a:r>
              <a:rPr lang="en-US" altLang="zh-CN" sz="2000" dirty="0" err="1">
                <a:solidFill>
                  <a:schemeClr val="bg2"/>
                </a:solidFill>
                <a:latin typeface="+mn-lt"/>
                <a:ea typeface="方正姚体" panose="02010601030101010101" pitchFamily="2" charset="-122"/>
              </a:rPr>
              <a:t>i</a:t>
            </a:r>
            <a:r>
              <a:rPr lang="en-US" altLang="zh-CN" sz="2000" dirty="0">
                <a:solidFill>
                  <a:schemeClr val="bg2"/>
                </a:solidFill>
                <a:latin typeface="+mn-lt"/>
                <a:ea typeface="方正姚体" panose="02010601030101010101" pitchFamily="2" charset="-122"/>
              </a:rPr>
              <a:t>, </a:t>
            </a:r>
            <a:r>
              <a:rPr lang="en-US" altLang="zh-CN" sz="2000" dirty="0" err="1">
                <a:solidFill>
                  <a:schemeClr val="bg2"/>
                </a:solidFill>
                <a:latin typeface="+mn-lt"/>
                <a:ea typeface="方正姚体" panose="02010601030101010101" pitchFamily="2" charset="-122"/>
              </a:rPr>
              <a:t>pid</a:t>
            </a:r>
            <a:r>
              <a:rPr lang="en-US" altLang="zh-CN" sz="2000" dirty="0">
                <a:solidFill>
                  <a:schemeClr val="bg2"/>
                </a:solidFill>
                <a:latin typeface="+mn-lt"/>
                <a:ea typeface="方正姚体" panose="02010601030101010101" pitchFamily="2" charset="-122"/>
              </a:rPr>
              <a:t>;    struct proc *np;</a:t>
            </a:r>
          </a:p>
          <a:p>
            <a:r>
              <a:rPr lang="en-US" altLang="zh-CN" sz="2000" dirty="0">
                <a:solidFill>
                  <a:schemeClr val="bg2"/>
                </a:solidFill>
                <a:latin typeface="+mn-lt"/>
                <a:ea typeface="方正姚体" panose="02010601030101010101" pitchFamily="2" charset="-122"/>
              </a:rPr>
              <a:t>  struct proc *p = </a:t>
            </a:r>
            <a:r>
              <a:rPr lang="en-US" altLang="zh-CN" sz="2000" dirty="0" err="1">
                <a:solidFill>
                  <a:schemeClr val="bg2"/>
                </a:solidFill>
                <a:latin typeface="+mn-lt"/>
                <a:ea typeface="方正姚体" panose="02010601030101010101" pitchFamily="2" charset="-122"/>
              </a:rPr>
              <a:t>myproc</a:t>
            </a:r>
            <a:r>
              <a:rPr lang="en-US" altLang="zh-CN" sz="2000" dirty="0">
                <a:solidFill>
                  <a:schemeClr val="bg2"/>
                </a:solidFill>
                <a:latin typeface="+mn-lt"/>
                <a:ea typeface="方正姚体" panose="02010601030101010101" pitchFamily="2" charset="-122"/>
              </a:rPr>
              <a:t>();</a:t>
            </a:r>
          </a:p>
          <a:p>
            <a:r>
              <a:rPr lang="en-US" altLang="zh-CN" sz="2000" dirty="0">
                <a:solidFill>
                  <a:schemeClr val="bg2"/>
                </a:solidFill>
                <a:latin typeface="+mn-lt"/>
                <a:ea typeface="方正姚体" panose="02010601030101010101" pitchFamily="2" charset="-122"/>
              </a:rPr>
              <a:t> // Allocate process.</a:t>
            </a:r>
          </a:p>
          <a:p>
            <a:r>
              <a:rPr lang="en-US" altLang="zh-CN" sz="2000" dirty="0">
                <a:solidFill>
                  <a:schemeClr val="bg2"/>
                </a:solidFill>
                <a:latin typeface="+mn-lt"/>
                <a:ea typeface="方正姚体" panose="02010601030101010101" pitchFamily="2" charset="-122"/>
              </a:rPr>
              <a:t>  np = </a:t>
            </a:r>
            <a:r>
              <a:rPr lang="en-US" altLang="zh-CN" sz="2000" dirty="0" err="1">
                <a:solidFill>
                  <a:schemeClr val="bg2"/>
                </a:solidFill>
                <a:latin typeface="+mn-lt"/>
                <a:ea typeface="方正姚体" panose="02010601030101010101" pitchFamily="2" charset="-122"/>
              </a:rPr>
              <a:t>allocproc</a:t>
            </a:r>
            <a:r>
              <a:rPr lang="en-US" altLang="zh-CN" sz="2000" dirty="0">
                <a:solidFill>
                  <a:schemeClr val="bg2"/>
                </a:solidFill>
                <a:latin typeface="+mn-lt"/>
                <a:ea typeface="方正姚体" panose="02010601030101010101" pitchFamily="2" charset="-122"/>
              </a:rPr>
              <a:t>();</a:t>
            </a:r>
          </a:p>
          <a:p>
            <a:r>
              <a:rPr lang="en-US" altLang="zh-CN" sz="2000" dirty="0">
                <a:solidFill>
                  <a:schemeClr val="bg2"/>
                </a:solidFill>
                <a:latin typeface="+mn-lt"/>
                <a:ea typeface="方正姚体" panose="02010601030101010101" pitchFamily="2" charset="-122"/>
              </a:rPr>
              <a:t>……</a:t>
            </a:r>
          </a:p>
          <a:p>
            <a:r>
              <a:rPr lang="en-US" altLang="zh-CN" sz="2000" dirty="0">
                <a:solidFill>
                  <a:schemeClr val="bg2"/>
                </a:solidFill>
                <a:latin typeface="+mn-lt"/>
                <a:ea typeface="方正姚体" panose="02010601030101010101" pitchFamily="2" charset="-122"/>
              </a:rPr>
              <a:t> // Copy user memory from parent to child.</a:t>
            </a:r>
          </a:p>
          <a:p>
            <a:r>
              <a:rPr lang="en-US" altLang="zh-CN" sz="2000" dirty="0">
                <a:solidFill>
                  <a:schemeClr val="bg2"/>
                </a:solidFill>
                <a:latin typeface="+mn-lt"/>
                <a:ea typeface="方正姚体" panose="02010601030101010101" pitchFamily="2" charset="-122"/>
              </a:rPr>
              <a:t>  ……</a:t>
            </a:r>
          </a:p>
          <a:p>
            <a:r>
              <a:rPr lang="en-US" altLang="zh-CN" sz="2000" dirty="0">
                <a:solidFill>
                  <a:schemeClr val="bg2"/>
                </a:solidFill>
                <a:latin typeface="+mn-lt"/>
                <a:ea typeface="方正姚体" panose="02010601030101010101" pitchFamily="2" charset="-122"/>
              </a:rPr>
              <a:t>// copy saved user registers.</a:t>
            </a:r>
          </a:p>
          <a:p>
            <a:r>
              <a:rPr lang="en-US" altLang="zh-CN" sz="2000" dirty="0">
                <a:solidFill>
                  <a:schemeClr val="bg2"/>
                </a:solidFill>
                <a:latin typeface="+mn-lt"/>
                <a:ea typeface="方正姚体" panose="02010601030101010101" pitchFamily="2" charset="-122"/>
              </a:rPr>
              <a:t> ……</a:t>
            </a:r>
          </a:p>
          <a:p>
            <a:r>
              <a:rPr lang="en-US" altLang="zh-CN" sz="2000" dirty="0">
                <a:solidFill>
                  <a:schemeClr val="bg2"/>
                </a:solidFill>
                <a:latin typeface="+mn-lt"/>
                <a:ea typeface="方正姚体" panose="02010601030101010101" pitchFamily="2" charset="-122"/>
              </a:rPr>
              <a:t>// Cause fork to return 0 in the child.</a:t>
            </a:r>
          </a:p>
          <a:p>
            <a:r>
              <a:rPr lang="en-US" altLang="zh-CN" sz="2000" dirty="0">
                <a:solidFill>
                  <a:schemeClr val="bg2"/>
                </a:solidFill>
                <a:latin typeface="+mn-lt"/>
                <a:ea typeface="方正姚体" panose="02010601030101010101" pitchFamily="2" charset="-122"/>
              </a:rPr>
              <a:t>  np-&gt;</a:t>
            </a:r>
            <a:r>
              <a:rPr lang="en-US" altLang="zh-CN" sz="2000" dirty="0" err="1">
                <a:solidFill>
                  <a:schemeClr val="bg2"/>
                </a:solidFill>
                <a:latin typeface="+mn-lt"/>
                <a:ea typeface="方正姚体" panose="02010601030101010101" pitchFamily="2" charset="-122"/>
              </a:rPr>
              <a:t>trapframe</a:t>
            </a:r>
            <a:r>
              <a:rPr lang="en-US" altLang="zh-CN" sz="2000" dirty="0">
                <a:solidFill>
                  <a:schemeClr val="bg2"/>
                </a:solidFill>
                <a:latin typeface="+mn-lt"/>
                <a:ea typeface="方正姚体" panose="02010601030101010101" pitchFamily="2" charset="-122"/>
              </a:rPr>
              <a:t>-&gt;a0 = 0;</a:t>
            </a:r>
          </a:p>
          <a:p>
            <a:r>
              <a:rPr lang="en-US" altLang="zh-CN" sz="2000" dirty="0">
                <a:solidFill>
                  <a:schemeClr val="bg2"/>
                </a:solidFill>
                <a:latin typeface="+mn-lt"/>
                <a:ea typeface="方正姚体" panose="02010601030101010101" pitchFamily="2" charset="-122"/>
              </a:rPr>
              <a:t>……</a:t>
            </a:r>
          </a:p>
          <a:p>
            <a:r>
              <a:rPr lang="en-US" altLang="zh-CN" sz="2000" dirty="0">
                <a:solidFill>
                  <a:schemeClr val="bg2"/>
                </a:solidFill>
                <a:latin typeface="+mn-lt"/>
                <a:ea typeface="方正姚体" panose="02010601030101010101" pitchFamily="2" charset="-122"/>
              </a:rPr>
              <a:t>  </a:t>
            </a:r>
            <a:r>
              <a:rPr lang="en-US" altLang="zh-CN" sz="2400" dirty="0">
                <a:solidFill>
                  <a:schemeClr val="bg2"/>
                </a:solidFill>
                <a:latin typeface="+mn-lt"/>
                <a:ea typeface="方正姚体" panose="02010601030101010101" pitchFamily="2" charset="-122"/>
              </a:rPr>
              <a:t>acquire(&amp;np-&gt;lock);</a:t>
            </a:r>
          </a:p>
          <a:p>
            <a:pPr>
              <a:lnSpc>
                <a:spcPct val="150000"/>
              </a:lnSpc>
            </a:pPr>
            <a:r>
              <a:rPr lang="en-US" altLang="zh-CN" sz="2400" dirty="0">
                <a:solidFill>
                  <a:schemeClr val="bg2"/>
                </a:solidFill>
                <a:latin typeface="+mn-lt"/>
                <a:ea typeface="方正姚体" panose="02010601030101010101" pitchFamily="2" charset="-122"/>
              </a:rPr>
              <a:t>  np-&gt;state = RUNNABLE;</a:t>
            </a:r>
          </a:p>
          <a:p>
            <a:pPr>
              <a:lnSpc>
                <a:spcPct val="150000"/>
              </a:lnSpc>
            </a:pPr>
            <a:r>
              <a:rPr lang="en-US" altLang="zh-CN" sz="2400" dirty="0">
                <a:solidFill>
                  <a:schemeClr val="bg2"/>
                </a:solidFill>
                <a:latin typeface="+mn-lt"/>
                <a:ea typeface="方正姚体" panose="02010601030101010101" pitchFamily="2" charset="-122"/>
              </a:rPr>
              <a:t>  release(&amp;np-&gt;lock);</a:t>
            </a:r>
          </a:p>
          <a:p>
            <a:r>
              <a:rPr lang="en-US" altLang="zh-CN" sz="2000" dirty="0">
                <a:solidFill>
                  <a:schemeClr val="bg2"/>
                </a:solidFill>
                <a:latin typeface="+mn-lt"/>
                <a:ea typeface="方正姚体" panose="02010601030101010101" pitchFamily="2" charset="-122"/>
              </a:rPr>
              <a:t>  return </a:t>
            </a:r>
            <a:r>
              <a:rPr lang="en-US" altLang="zh-CN" sz="2000" dirty="0" err="1">
                <a:solidFill>
                  <a:schemeClr val="bg2"/>
                </a:solidFill>
                <a:latin typeface="+mn-lt"/>
                <a:ea typeface="方正姚体" panose="02010601030101010101" pitchFamily="2" charset="-122"/>
              </a:rPr>
              <a:t>pid</a:t>
            </a:r>
            <a:r>
              <a:rPr lang="en-US" altLang="zh-CN" sz="2000" dirty="0">
                <a:solidFill>
                  <a:schemeClr val="bg2"/>
                </a:solidFill>
                <a:latin typeface="+mn-lt"/>
                <a:ea typeface="方正姚体" panose="02010601030101010101" pitchFamily="2" charset="-122"/>
              </a:rPr>
              <a:t>;</a:t>
            </a:r>
          </a:p>
          <a:p>
            <a:r>
              <a:rPr lang="en-US" altLang="zh-CN" sz="2000" dirty="0">
                <a:solidFill>
                  <a:schemeClr val="bg2"/>
                </a:solidFill>
                <a:latin typeface="+mn-lt"/>
                <a:ea typeface="方正姚体" panose="02010601030101010101" pitchFamily="2" charset="-122"/>
              </a:rPr>
              <a:t>}</a:t>
            </a:r>
            <a:endParaRPr lang="zh-CN" altLang="en-US" sz="2000" dirty="0">
              <a:solidFill>
                <a:schemeClr val="bg2"/>
              </a:solidFill>
              <a:latin typeface="+mn-lt"/>
              <a:ea typeface="方正姚体" panose="02010601030101010101" pitchFamily="2" charset="-122"/>
            </a:endParaRPr>
          </a:p>
        </p:txBody>
      </p:sp>
      <p:sp>
        <p:nvSpPr>
          <p:cNvPr id="6" name="文本框 5">
            <a:extLst>
              <a:ext uri="{FF2B5EF4-FFF2-40B4-BE49-F238E27FC236}">
                <a16:creationId xmlns:a16="http://schemas.microsoft.com/office/drawing/2014/main" id="{CE2E3E86-EA01-4B92-8FE1-E346F34C6D40}"/>
              </a:ext>
            </a:extLst>
          </p:cNvPr>
          <p:cNvSpPr txBox="1"/>
          <p:nvPr/>
        </p:nvSpPr>
        <p:spPr>
          <a:xfrm>
            <a:off x="2483288" y="-61914"/>
            <a:ext cx="4476754" cy="707886"/>
          </a:xfrm>
          <a:prstGeom prst="rect">
            <a:avLst/>
          </a:prstGeom>
          <a:noFill/>
        </p:spPr>
        <p:txBody>
          <a:bodyPr wrap="square" rtlCol="0">
            <a:spAutoFit/>
          </a:bodyPr>
          <a:lstStyle/>
          <a:p>
            <a:pPr marL="0" lvl="1" indent="-274638" algn="ctr"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xv6 </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自旋锁（</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2</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a:t>
            </a:r>
          </a:p>
        </p:txBody>
      </p:sp>
      <p:sp>
        <p:nvSpPr>
          <p:cNvPr id="7" name="矩形 6">
            <a:extLst>
              <a:ext uri="{FF2B5EF4-FFF2-40B4-BE49-F238E27FC236}">
                <a16:creationId xmlns:a16="http://schemas.microsoft.com/office/drawing/2014/main" id="{98AE0E53-AD4C-432E-BC8E-855C03B64A44}"/>
              </a:ext>
            </a:extLst>
          </p:cNvPr>
          <p:cNvSpPr/>
          <p:nvPr/>
        </p:nvSpPr>
        <p:spPr>
          <a:xfrm>
            <a:off x="827584" y="1484784"/>
            <a:ext cx="2088232" cy="360040"/>
          </a:xfrm>
          <a:prstGeom prst="rect">
            <a:avLst/>
          </a:prstGeom>
          <a:solidFill>
            <a:srgbClr val="FF99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8" name="矩形 7">
            <a:extLst>
              <a:ext uri="{FF2B5EF4-FFF2-40B4-BE49-F238E27FC236}">
                <a16:creationId xmlns:a16="http://schemas.microsoft.com/office/drawing/2014/main" id="{3C833028-589C-40EF-A9F6-34C90D419F1C}"/>
              </a:ext>
            </a:extLst>
          </p:cNvPr>
          <p:cNvSpPr/>
          <p:nvPr/>
        </p:nvSpPr>
        <p:spPr>
          <a:xfrm>
            <a:off x="4192771" y="4612885"/>
            <a:ext cx="2757003" cy="413360"/>
          </a:xfrm>
          <a:prstGeom prst="rect">
            <a:avLst/>
          </a:prstGeom>
          <a:solidFill>
            <a:srgbClr val="FF99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9" name="矩形 8">
            <a:extLst>
              <a:ext uri="{FF2B5EF4-FFF2-40B4-BE49-F238E27FC236}">
                <a16:creationId xmlns:a16="http://schemas.microsoft.com/office/drawing/2014/main" id="{27535B34-2B58-4CCE-8232-364CF05EED05}"/>
              </a:ext>
            </a:extLst>
          </p:cNvPr>
          <p:cNvSpPr/>
          <p:nvPr/>
        </p:nvSpPr>
        <p:spPr>
          <a:xfrm>
            <a:off x="4171783" y="5642318"/>
            <a:ext cx="2757003" cy="413360"/>
          </a:xfrm>
          <a:prstGeom prst="rect">
            <a:avLst/>
          </a:prstGeom>
          <a:solidFill>
            <a:srgbClr val="FF99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0" name="矩形 9">
            <a:extLst>
              <a:ext uri="{FF2B5EF4-FFF2-40B4-BE49-F238E27FC236}">
                <a16:creationId xmlns:a16="http://schemas.microsoft.com/office/drawing/2014/main" id="{F5EB03BA-025A-422B-AA5E-F0AE32C588AF}"/>
              </a:ext>
            </a:extLst>
          </p:cNvPr>
          <p:cNvSpPr/>
          <p:nvPr/>
        </p:nvSpPr>
        <p:spPr>
          <a:xfrm>
            <a:off x="796535" y="2169532"/>
            <a:ext cx="2335305" cy="360040"/>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1" name="矩形 10">
            <a:extLst>
              <a:ext uri="{FF2B5EF4-FFF2-40B4-BE49-F238E27FC236}">
                <a16:creationId xmlns:a16="http://schemas.microsoft.com/office/drawing/2014/main" id="{02277A74-0CA1-427C-8267-16736592EDFC}"/>
              </a:ext>
            </a:extLst>
          </p:cNvPr>
          <p:cNvSpPr/>
          <p:nvPr/>
        </p:nvSpPr>
        <p:spPr>
          <a:xfrm>
            <a:off x="4087386" y="5092453"/>
            <a:ext cx="3528392" cy="413360"/>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2" name="AutoShape 27">
            <a:hlinkClick r:id="" action="ppaction://hlinkshowjump?jump=nextslide" highlightClick="1"/>
            <a:extLst>
              <a:ext uri="{FF2B5EF4-FFF2-40B4-BE49-F238E27FC236}">
                <a16:creationId xmlns:a16="http://schemas.microsoft.com/office/drawing/2014/main" id="{560A9024-E45C-4E67-B3DB-2BE39802FA8E}"/>
              </a:ext>
            </a:extLst>
          </p:cNvPr>
          <p:cNvSpPr>
            <a:spLocks noChangeArrowheads="1"/>
          </p:cNvSpPr>
          <p:nvPr/>
        </p:nvSpPr>
        <p:spPr bwMode="auto">
          <a:xfrm>
            <a:off x="8778643" y="6428563"/>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43813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dissolv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dissolv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dissolve">
                                      <p:cBhvr>
                                        <p:cTn id="34" dur="500"/>
                                        <p:tgtEl>
                                          <p:spTgt spid="9"/>
                                        </p:tgtEl>
                                      </p:cBhvr>
                                    </p:animEffect>
                                  </p:childTnLst>
                                </p:cTn>
                              </p:par>
                            </p:childTnLst>
                          </p:cTn>
                        </p:par>
                        <p:par>
                          <p:cTn id="35" fill="hold">
                            <p:stCondLst>
                              <p:cond delay="500"/>
                            </p:stCondLst>
                            <p:childTnLst>
                              <p:par>
                                <p:cTn id="36" presetID="2" presetClass="entr" presetSubtype="6" fill="hold" grpId="0" nodeType="after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fill="hold"/>
                                        <p:tgtEl>
                                          <p:spTgt spid="12"/>
                                        </p:tgtEl>
                                        <p:attrNameLst>
                                          <p:attrName>ppt_x</p:attrName>
                                        </p:attrNameLst>
                                      </p:cBhvr>
                                      <p:tavLst>
                                        <p:tav tm="0">
                                          <p:val>
                                            <p:strVal val="1+#ppt_w/2"/>
                                          </p:val>
                                        </p:tav>
                                        <p:tav tm="100000">
                                          <p:val>
                                            <p:strVal val="#ppt_x"/>
                                          </p:val>
                                        </p:tav>
                                      </p:tavLst>
                                    </p:anim>
                                    <p:anim calcmode="lin" valueType="num">
                                      <p:cBhvr additive="base">
                                        <p:cTn id="3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11"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BFFDAD99-8EE6-46E5-BB6D-F0F34FA00EB0}"/>
              </a:ext>
            </a:extLst>
          </p:cNvPr>
          <p:cNvPicPr>
            <a:picLocks noChangeAspect="1"/>
          </p:cNvPicPr>
          <p:nvPr/>
        </p:nvPicPr>
        <p:blipFill>
          <a:blip r:embed="rId3"/>
          <a:stretch>
            <a:fillRect/>
          </a:stretch>
        </p:blipFill>
        <p:spPr>
          <a:xfrm>
            <a:off x="233965" y="544333"/>
            <a:ext cx="4368283" cy="1944217"/>
          </a:xfrm>
          <a:prstGeom prst="rect">
            <a:avLst/>
          </a:prstGeom>
        </p:spPr>
      </p:pic>
      <p:sp>
        <p:nvSpPr>
          <p:cNvPr id="3" name="灯片编号占位符 2"/>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18</a:t>
            </a:fld>
            <a:r>
              <a:rPr lang="zh-CN" altLang="en-US"/>
              <a:t> 页</a:t>
            </a:r>
          </a:p>
        </p:txBody>
      </p:sp>
      <p:pic>
        <p:nvPicPr>
          <p:cNvPr id="5" name="图片 4"/>
          <p:cNvPicPr>
            <a:picLocks noChangeAspect="1"/>
          </p:cNvPicPr>
          <p:nvPr/>
        </p:nvPicPr>
        <p:blipFill>
          <a:blip r:embed="rId4"/>
          <a:stretch>
            <a:fillRect/>
          </a:stretch>
        </p:blipFill>
        <p:spPr>
          <a:xfrm>
            <a:off x="4373360" y="1516089"/>
            <a:ext cx="4770640" cy="3716827"/>
          </a:xfrm>
          <a:prstGeom prst="rect">
            <a:avLst/>
          </a:prstGeom>
        </p:spPr>
      </p:pic>
      <p:sp>
        <p:nvSpPr>
          <p:cNvPr id="6" name="文本框 5">
            <a:extLst>
              <a:ext uri="{FF2B5EF4-FFF2-40B4-BE49-F238E27FC236}">
                <a16:creationId xmlns:a16="http://schemas.microsoft.com/office/drawing/2014/main" id="{EEDA8251-FB2A-46E7-A1B8-C3E9C41BE0C1}"/>
              </a:ext>
            </a:extLst>
          </p:cNvPr>
          <p:cNvSpPr txBox="1"/>
          <p:nvPr/>
        </p:nvSpPr>
        <p:spPr>
          <a:xfrm>
            <a:off x="2353163" y="-127587"/>
            <a:ext cx="4476754" cy="707886"/>
          </a:xfrm>
          <a:prstGeom prst="rect">
            <a:avLst/>
          </a:prstGeom>
          <a:noFill/>
        </p:spPr>
        <p:txBody>
          <a:bodyPr wrap="square" rtlCol="0">
            <a:spAutoFit/>
          </a:bodyPr>
          <a:lstStyle/>
          <a:p>
            <a:pPr marL="0" lvl="1" indent="-274638" algn="ctr"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xv6 </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自旋锁（</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3</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a:t>
            </a:r>
          </a:p>
        </p:txBody>
      </p:sp>
      <p:sp>
        <p:nvSpPr>
          <p:cNvPr id="7" name="文本框 6">
            <a:extLst>
              <a:ext uri="{FF2B5EF4-FFF2-40B4-BE49-F238E27FC236}">
                <a16:creationId xmlns:a16="http://schemas.microsoft.com/office/drawing/2014/main" id="{6B1CD288-1F12-47BC-A760-2FEE46B04658}"/>
              </a:ext>
            </a:extLst>
          </p:cNvPr>
          <p:cNvSpPr txBox="1"/>
          <p:nvPr/>
        </p:nvSpPr>
        <p:spPr>
          <a:xfrm>
            <a:off x="218716" y="2924944"/>
            <a:ext cx="4683473" cy="2308324"/>
          </a:xfrm>
          <a:prstGeom prst="rect">
            <a:avLst/>
          </a:prstGeom>
          <a:noFill/>
        </p:spPr>
        <p:txBody>
          <a:bodyPr wrap="square" rtlCol="0">
            <a:spAutoFit/>
          </a:bodyPr>
          <a:lstStyle/>
          <a:p>
            <a:r>
              <a:rPr lang="en-US" altLang="zh-CN" sz="2400" dirty="0">
                <a:solidFill>
                  <a:schemeClr val="bg2"/>
                </a:solidFill>
                <a:latin typeface="+mn-lt"/>
              </a:rPr>
              <a:t>//</a:t>
            </a:r>
            <a:r>
              <a:rPr lang="en-US" altLang="zh-CN" sz="2400" dirty="0" err="1">
                <a:solidFill>
                  <a:schemeClr val="bg2"/>
                </a:solidFill>
                <a:latin typeface="+mn-lt"/>
              </a:rPr>
              <a:t>proc.c</a:t>
            </a:r>
            <a:endParaRPr lang="en-US" altLang="zh-CN" sz="2400" dirty="0">
              <a:solidFill>
                <a:schemeClr val="bg2"/>
              </a:solidFill>
              <a:latin typeface="+mn-lt"/>
            </a:endParaRPr>
          </a:p>
          <a:p>
            <a:r>
              <a:rPr lang="en-US" altLang="zh-CN" sz="2400" dirty="0">
                <a:solidFill>
                  <a:schemeClr val="bg2"/>
                </a:solidFill>
                <a:latin typeface="+mn-lt"/>
              </a:rPr>
              <a:t>int </a:t>
            </a:r>
            <a:r>
              <a:rPr lang="en-US" altLang="zh-CN" sz="2400" dirty="0" err="1">
                <a:solidFill>
                  <a:srgbClr val="FF0000"/>
                </a:solidFill>
                <a:latin typeface="+mn-lt"/>
              </a:rPr>
              <a:t>nextpid</a:t>
            </a:r>
            <a:r>
              <a:rPr lang="en-US" altLang="zh-CN" sz="2400" dirty="0">
                <a:solidFill>
                  <a:schemeClr val="bg2"/>
                </a:solidFill>
                <a:latin typeface="+mn-lt"/>
              </a:rPr>
              <a:t> = 1;</a:t>
            </a:r>
          </a:p>
          <a:p>
            <a:r>
              <a:rPr lang="en-US" altLang="zh-CN" sz="2400" dirty="0">
                <a:solidFill>
                  <a:schemeClr val="bg2"/>
                </a:solidFill>
                <a:latin typeface="+mn-lt"/>
              </a:rPr>
              <a:t>struct spinlock </a:t>
            </a:r>
            <a:r>
              <a:rPr lang="en-US" altLang="zh-CN" sz="2400" dirty="0" err="1">
                <a:solidFill>
                  <a:schemeClr val="bg2"/>
                </a:solidFill>
                <a:latin typeface="+mn-lt"/>
              </a:rPr>
              <a:t>pid_lock</a:t>
            </a:r>
            <a:r>
              <a:rPr lang="en-US" altLang="zh-CN" sz="2400" dirty="0">
                <a:solidFill>
                  <a:schemeClr val="bg2"/>
                </a:solidFill>
                <a:latin typeface="+mn-lt"/>
              </a:rPr>
              <a:t>;</a:t>
            </a:r>
          </a:p>
          <a:p>
            <a:r>
              <a:rPr lang="en-US" altLang="zh-CN" sz="2400" dirty="0">
                <a:solidFill>
                  <a:schemeClr val="bg2"/>
                </a:solidFill>
                <a:latin typeface="+mn-lt"/>
              </a:rPr>
              <a:t>……</a:t>
            </a:r>
          </a:p>
          <a:p>
            <a:r>
              <a:rPr lang="en-US" altLang="zh-CN" sz="2400" dirty="0" err="1">
                <a:solidFill>
                  <a:schemeClr val="bg2"/>
                </a:solidFill>
                <a:latin typeface="+mn-lt"/>
              </a:rPr>
              <a:t>initlock</a:t>
            </a:r>
            <a:r>
              <a:rPr lang="en-US" altLang="zh-CN" sz="2400" dirty="0">
                <a:solidFill>
                  <a:schemeClr val="bg2"/>
                </a:solidFill>
                <a:latin typeface="+mn-lt"/>
              </a:rPr>
              <a:t>(&amp;</a:t>
            </a:r>
            <a:r>
              <a:rPr lang="en-US" altLang="zh-CN" sz="2400" dirty="0" err="1">
                <a:solidFill>
                  <a:schemeClr val="bg2"/>
                </a:solidFill>
                <a:latin typeface="+mn-lt"/>
              </a:rPr>
              <a:t>pid_lock</a:t>
            </a:r>
            <a:r>
              <a:rPr lang="en-US" altLang="zh-CN" sz="2400" dirty="0">
                <a:solidFill>
                  <a:schemeClr val="bg2"/>
                </a:solidFill>
                <a:latin typeface="+mn-lt"/>
              </a:rPr>
              <a:t>, "</a:t>
            </a:r>
            <a:r>
              <a:rPr lang="en-US" altLang="zh-CN" sz="2400" dirty="0" err="1">
                <a:solidFill>
                  <a:schemeClr val="bg2"/>
                </a:solidFill>
                <a:latin typeface="+mn-lt"/>
              </a:rPr>
              <a:t>nextpid</a:t>
            </a:r>
            <a:r>
              <a:rPr lang="en-US" altLang="zh-CN" sz="2400" dirty="0">
                <a:solidFill>
                  <a:schemeClr val="bg2"/>
                </a:solidFill>
                <a:latin typeface="+mn-lt"/>
              </a:rPr>
              <a:t>");</a:t>
            </a:r>
          </a:p>
          <a:p>
            <a:r>
              <a:rPr lang="en-US" altLang="zh-CN" sz="2400" dirty="0">
                <a:solidFill>
                  <a:schemeClr val="bg2"/>
                </a:solidFill>
                <a:latin typeface="+mn-lt"/>
              </a:rPr>
              <a:t>……</a:t>
            </a:r>
            <a:endParaRPr lang="zh-CN" altLang="en-US" sz="2400" dirty="0">
              <a:solidFill>
                <a:schemeClr val="bg2"/>
              </a:solidFill>
              <a:latin typeface="+mn-lt"/>
            </a:endParaRPr>
          </a:p>
        </p:txBody>
      </p:sp>
      <p:sp>
        <p:nvSpPr>
          <p:cNvPr id="11" name="矩形 10">
            <a:extLst>
              <a:ext uri="{FF2B5EF4-FFF2-40B4-BE49-F238E27FC236}">
                <a16:creationId xmlns:a16="http://schemas.microsoft.com/office/drawing/2014/main" id="{EE3E994B-0B89-40DE-8668-33035F2F93DF}"/>
              </a:ext>
            </a:extLst>
          </p:cNvPr>
          <p:cNvSpPr/>
          <p:nvPr/>
        </p:nvSpPr>
        <p:spPr>
          <a:xfrm>
            <a:off x="233965" y="3374854"/>
            <a:ext cx="2335305" cy="360040"/>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2" name="矩形 11">
            <a:extLst>
              <a:ext uri="{FF2B5EF4-FFF2-40B4-BE49-F238E27FC236}">
                <a16:creationId xmlns:a16="http://schemas.microsoft.com/office/drawing/2014/main" id="{5160D7B1-F33F-4E50-8836-26F36948F2C9}"/>
              </a:ext>
            </a:extLst>
          </p:cNvPr>
          <p:cNvSpPr/>
          <p:nvPr/>
        </p:nvSpPr>
        <p:spPr>
          <a:xfrm>
            <a:off x="5662264" y="3506044"/>
            <a:ext cx="3066523" cy="35500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3" name="矩形 12">
            <a:extLst>
              <a:ext uri="{FF2B5EF4-FFF2-40B4-BE49-F238E27FC236}">
                <a16:creationId xmlns:a16="http://schemas.microsoft.com/office/drawing/2014/main" id="{64956031-1C89-4537-8D5F-1F9F6D69C9F7}"/>
              </a:ext>
            </a:extLst>
          </p:cNvPr>
          <p:cNvSpPr/>
          <p:nvPr/>
        </p:nvSpPr>
        <p:spPr>
          <a:xfrm>
            <a:off x="332658" y="1336421"/>
            <a:ext cx="2236611" cy="288311"/>
          </a:xfrm>
          <a:prstGeom prst="rect">
            <a:avLst/>
          </a:prstGeom>
          <a:solidFill>
            <a:srgbClr val="FF99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4" name="矩形 13">
            <a:extLst>
              <a:ext uri="{FF2B5EF4-FFF2-40B4-BE49-F238E27FC236}">
                <a16:creationId xmlns:a16="http://schemas.microsoft.com/office/drawing/2014/main" id="{9A5B282A-1FBE-4AEA-AF5E-883B04EDAB50}"/>
              </a:ext>
            </a:extLst>
          </p:cNvPr>
          <p:cNvSpPr/>
          <p:nvPr/>
        </p:nvSpPr>
        <p:spPr>
          <a:xfrm>
            <a:off x="316894" y="1651779"/>
            <a:ext cx="2236611" cy="288311"/>
          </a:xfrm>
          <a:prstGeom prst="rect">
            <a:avLst/>
          </a:prstGeom>
          <a:solidFill>
            <a:srgbClr val="FF99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5" name="矩形 14">
            <a:extLst>
              <a:ext uri="{FF2B5EF4-FFF2-40B4-BE49-F238E27FC236}">
                <a16:creationId xmlns:a16="http://schemas.microsoft.com/office/drawing/2014/main" id="{02940F91-2F22-47E4-8DF8-97C67E07EA2F}"/>
              </a:ext>
            </a:extLst>
          </p:cNvPr>
          <p:cNvSpPr/>
          <p:nvPr/>
        </p:nvSpPr>
        <p:spPr>
          <a:xfrm>
            <a:off x="252604" y="4401600"/>
            <a:ext cx="4114663" cy="412166"/>
          </a:xfrm>
          <a:prstGeom prst="rect">
            <a:avLst/>
          </a:prstGeom>
          <a:solidFill>
            <a:srgbClr val="FF99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6" name="矩形 15">
            <a:extLst>
              <a:ext uri="{FF2B5EF4-FFF2-40B4-BE49-F238E27FC236}">
                <a16:creationId xmlns:a16="http://schemas.microsoft.com/office/drawing/2014/main" id="{D8CE3C11-3F52-414B-B594-636B46045EBF}"/>
              </a:ext>
            </a:extLst>
          </p:cNvPr>
          <p:cNvSpPr/>
          <p:nvPr/>
        </p:nvSpPr>
        <p:spPr>
          <a:xfrm>
            <a:off x="5624710" y="2848721"/>
            <a:ext cx="3104077" cy="355004"/>
          </a:xfrm>
          <a:prstGeom prst="rect">
            <a:avLst/>
          </a:prstGeom>
          <a:solidFill>
            <a:srgbClr val="FF99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7" name="矩形 16">
            <a:extLst>
              <a:ext uri="{FF2B5EF4-FFF2-40B4-BE49-F238E27FC236}">
                <a16:creationId xmlns:a16="http://schemas.microsoft.com/office/drawing/2014/main" id="{397F4CE5-F101-419B-BF31-9FC7C037F8AF}"/>
              </a:ext>
            </a:extLst>
          </p:cNvPr>
          <p:cNvSpPr/>
          <p:nvPr/>
        </p:nvSpPr>
        <p:spPr>
          <a:xfrm>
            <a:off x="5624709" y="3892227"/>
            <a:ext cx="3104077" cy="355004"/>
          </a:xfrm>
          <a:prstGeom prst="rect">
            <a:avLst/>
          </a:prstGeom>
          <a:solidFill>
            <a:srgbClr val="FF99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8" name="矩形 17">
            <a:extLst>
              <a:ext uri="{FF2B5EF4-FFF2-40B4-BE49-F238E27FC236}">
                <a16:creationId xmlns:a16="http://schemas.microsoft.com/office/drawing/2014/main" id="{55C15042-9862-4F40-9E1C-5E9D75319536}"/>
              </a:ext>
            </a:extLst>
          </p:cNvPr>
          <p:cNvSpPr/>
          <p:nvPr/>
        </p:nvSpPr>
        <p:spPr>
          <a:xfrm>
            <a:off x="246511" y="3759123"/>
            <a:ext cx="4120756" cy="412166"/>
          </a:xfrm>
          <a:prstGeom prst="rect">
            <a:avLst/>
          </a:prstGeom>
          <a:solidFill>
            <a:srgbClr val="FF99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9" name="AutoShape 7">
            <a:hlinkClick r:id="rId5" action="ppaction://hlinksldjump" highlightClick="1"/>
            <a:extLst>
              <a:ext uri="{FF2B5EF4-FFF2-40B4-BE49-F238E27FC236}">
                <a16:creationId xmlns:a16="http://schemas.microsoft.com/office/drawing/2014/main" id="{52346459-82B8-4D33-9469-7504FA564A4D}"/>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 name="矩形 1">
            <a:extLst>
              <a:ext uri="{FF2B5EF4-FFF2-40B4-BE49-F238E27FC236}">
                <a16:creationId xmlns:a16="http://schemas.microsoft.com/office/drawing/2014/main" id="{71A18262-1A6B-49E8-8157-A06386EC6664}"/>
              </a:ext>
            </a:extLst>
          </p:cNvPr>
          <p:cNvSpPr/>
          <p:nvPr/>
        </p:nvSpPr>
        <p:spPr>
          <a:xfrm>
            <a:off x="5850247" y="728915"/>
            <a:ext cx="184731" cy="584775"/>
          </a:xfrm>
          <a:prstGeom prst="rect">
            <a:avLst/>
          </a:prstGeom>
        </p:spPr>
        <p:txBody>
          <a:bodyPr wrap="none">
            <a:spAutoFit/>
          </a:bodyPr>
          <a:lstStyle/>
          <a:p>
            <a:endParaRPr lang="zh-CN" altLang="en-US" dirty="0"/>
          </a:p>
        </p:txBody>
      </p:sp>
      <p:sp>
        <p:nvSpPr>
          <p:cNvPr id="20" name="线形标注 1 13">
            <a:extLst>
              <a:ext uri="{FF2B5EF4-FFF2-40B4-BE49-F238E27FC236}">
                <a16:creationId xmlns:a16="http://schemas.microsoft.com/office/drawing/2014/main" id="{6D8E23B7-42C6-4AB8-892D-92CBBA942218}"/>
              </a:ext>
            </a:extLst>
          </p:cNvPr>
          <p:cNvSpPr>
            <a:spLocks/>
          </p:cNvSpPr>
          <p:nvPr/>
        </p:nvSpPr>
        <p:spPr bwMode="auto">
          <a:xfrm>
            <a:off x="6034979" y="1087310"/>
            <a:ext cx="2209430" cy="288515"/>
          </a:xfrm>
          <a:prstGeom prst="borderCallout1">
            <a:avLst>
              <a:gd name="adj1" fmla="val 108924"/>
              <a:gd name="adj2" fmla="val 43039"/>
              <a:gd name="adj3" fmla="val 312054"/>
              <a:gd name="adj4" fmla="val 2118"/>
            </a:avLst>
          </a:prstGeom>
          <a:solidFill>
            <a:srgbClr val="99CCFF"/>
          </a:solidFill>
          <a:ln w="38100" cap="sq" algn="ctr">
            <a:solidFill>
              <a:srgbClr val="99CCFF"/>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None/>
            </a:pPr>
            <a:r>
              <a:rPr lang="zh-CN" altLang="en-US" sz="2000" dirty="0">
                <a:solidFill>
                  <a:schemeClr val="bg2"/>
                </a:solidFill>
              </a:rPr>
              <a:t>被</a:t>
            </a:r>
            <a:r>
              <a:rPr lang="en-US" altLang="zh-CN" sz="2000" dirty="0" err="1">
                <a:solidFill>
                  <a:schemeClr val="bg2"/>
                </a:solidFill>
              </a:rPr>
              <a:t>allocproc</a:t>
            </a:r>
            <a:r>
              <a:rPr lang="en-US" altLang="zh-CN" sz="2000" dirty="0">
                <a:solidFill>
                  <a:schemeClr val="bg2"/>
                </a:solidFill>
              </a:rPr>
              <a:t>()</a:t>
            </a:r>
            <a:r>
              <a:rPr lang="zh-CN" altLang="en-US" sz="2000" dirty="0">
                <a:solidFill>
                  <a:schemeClr val="bg2"/>
                </a:solidFill>
              </a:rPr>
              <a:t>调用</a:t>
            </a:r>
          </a:p>
        </p:txBody>
      </p:sp>
    </p:spTree>
    <p:extLst>
      <p:ext uri="{BB962C8B-B14F-4D97-AF65-F5344CB8AC3E}">
        <p14:creationId xmlns:p14="http://schemas.microsoft.com/office/powerpoint/2010/main" val="3698458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dissolv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dissolve">
                                      <p:cBhvr>
                                        <p:cTn id="29" dur="5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dissolve">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1000"/>
                                        <p:tgtEl>
                                          <p:spTgt spid="5"/>
                                        </p:tgtEl>
                                      </p:cBhvr>
                                    </p:animEffect>
                                    <p:anim calcmode="lin" valueType="num">
                                      <p:cBhvr>
                                        <p:cTn id="40" dur="1000" fill="hold"/>
                                        <p:tgtEl>
                                          <p:spTgt spid="5"/>
                                        </p:tgtEl>
                                        <p:attrNameLst>
                                          <p:attrName>ppt_x</p:attrName>
                                        </p:attrNameLst>
                                      </p:cBhvr>
                                      <p:tavLst>
                                        <p:tav tm="0">
                                          <p:val>
                                            <p:strVal val="#ppt_x"/>
                                          </p:val>
                                        </p:tav>
                                        <p:tav tm="100000">
                                          <p:val>
                                            <p:strVal val="#ppt_x"/>
                                          </p:val>
                                        </p:tav>
                                      </p:tavLst>
                                    </p:anim>
                                    <p:anim calcmode="lin" valueType="num">
                                      <p:cBhvr>
                                        <p:cTn id="4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dissolve">
                                      <p:cBhvr>
                                        <p:cTn id="46" dur="5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dissolve">
                                      <p:cBhvr>
                                        <p:cTn id="51" dur="500"/>
                                        <p:tgtEl>
                                          <p:spTgt spid="16"/>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dissolve">
                                      <p:cBhvr>
                                        <p:cTn id="56" dur="500"/>
                                        <p:tgtEl>
                                          <p:spTgt spid="17"/>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1000"/>
                                        <p:tgtEl>
                                          <p:spTgt spid="20"/>
                                        </p:tgtEl>
                                      </p:cBhvr>
                                    </p:animEffect>
                                    <p:anim calcmode="lin" valueType="num">
                                      <p:cBhvr>
                                        <p:cTn id="62" dur="1000" fill="hold"/>
                                        <p:tgtEl>
                                          <p:spTgt spid="20"/>
                                        </p:tgtEl>
                                        <p:attrNameLst>
                                          <p:attrName>ppt_x</p:attrName>
                                        </p:attrNameLst>
                                      </p:cBhvr>
                                      <p:tavLst>
                                        <p:tav tm="0">
                                          <p:val>
                                            <p:strVal val="#ppt_x"/>
                                          </p:val>
                                        </p:tav>
                                        <p:tav tm="100000">
                                          <p:val>
                                            <p:strVal val="#ppt_x"/>
                                          </p:val>
                                        </p:tav>
                                      </p:tavLst>
                                    </p:anim>
                                    <p:anim calcmode="lin" valueType="num">
                                      <p:cBhvr>
                                        <p:cTn id="63" dur="1000" fill="hold"/>
                                        <p:tgtEl>
                                          <p:spTgt spid="20"/>
                                        </p:tgtEl>
                                        <p:attrNameLst>
                                          <p:attrName>ppt_y</p:attrName>
                                        </p:attrNameLst>
                                      </p:cBhvr>
                                      <p:tavLst>
                                        <p:tav tm="0">
                                          <p:val>
                                            <p:strVal val="#ppt_y+.1"/>
                                          </p:val>
                                        </p:tav>
                                        <p:tav tm="100000">
                                          <p:val>
                                            <p:strVal val="#ppt_y"/>
                                          </p:val>
                                        </p:tav>
                                      </p:tavLst>
                                    </p:anim>
                                  </p:childTnLst>
                                </p:cTn>
                              </p:par>
                            </p:childTnLst>
                          </p:cTn>
                        </p:par>
                        <p:par>
                          <p:cTn id="64" fill="hold">
                            <p:stCondLst>
                              <p:cond delay="1000"/>
                            </p:stCondLst>
                            <p:childTnLst>
                              <p:par>
                                <p:cTn id="65" presetID="2" presetClass="entr" presetSubtype="8" fill="hold" grpId="0" nodeType="after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500" fill="hold"/>
                                        <p:tgtEl>
                                          <p:spTgt spid="19"/>
                                        </p:tgtEl>
                                        <p:attrNameLst>
                                          <p:attrName>ppt_x</p:attrName>
                                        </p:attrNameLst>
                                      </p:cBhvr>
                                      <p:tavLst>
                                        <p:tav tm="0">
                                          <p:val>
                                            <p:strVal val="0-#ppt_w/2"/>
                                          </p:val>
                                        </p:tav>
                                        <p:tav tm="100000">
                                          <p:val>
                                            <p:strVal val="#ppt_x"/>
                                          </p:val>
                                        </p:tav>
                                      </p:tavLst>
                                    </p:anim>
                                    <p:anim calcmode="lin" valueType="num">
                                      <p:cBhvr additive="base">
                                        <p:cTn id="68"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D1B8FF0-651E-4004-961F-11AC00391796}"/>
              </a:ext>
            </a:extLst>
          </p:cNvPr>
          <p:cNvSpPr/>
          <p:nvPr/>
        </p:nvSpPr>
        <p:spPr>
          <a:xfrm>
            <a:off x="2998492" y="1186"/>
            <a:ext cx="3147015" cy="835613"/>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5.6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信 号 量</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2" name="矩形 1"/>
          <p:cNvSpPr/>
          <p:nvPr/>
        </p:nvSpPr>
        <p:spPr>
          <a:xfrm>
            <a:off x="2283091" y="1351884"/>
            <a:ext cx="4801314" cy="707886"/>
          </a:xfrm>
          <a:prstGeom prst="rect">
            <a:avLst/>
          </a:prstGeom>
        </p:spPr>
        <p:txBody>
          <a:bodyPr wrap="none">
            <a:spAutoFit/>
          </a:bodyPr>
          <a:lstStyle/>
          <a:p>
            <a:pPr marL="0" lvl="1" indent="-274638"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并发线程的制约关系</a:t>
            </a:r>
          </a:p>
        </p:txBody>
      </p:sp>
      <p:sp>
        <p:nvSpPr>
          <p:cNvPr id="3" name="矩形 2"/>
          <p:cNvSpPr/>
          <p:nvPr/>
        </p:nvSpPr>
        <p:spPr>
          <a:xfrm>
            <a:off x="2283091" y="2333103"/>
            <a:ext cx="4429418" cy="830997"/>
          </a:xfrm>
          <a:prstGeom prst="rect">
            <a:avLst/>
          </a:prstGeom>
        </p:spPr>
        <p:txBody>
          <a:bodyPr wrap="none">
            <a:spAutoFit/>
          </a:bodyPr>
          <a:lstStyle/>
          <a:p>
            <a:pPr marL="0" lvl="1" indent="-274638" eaLnBrk="1" hangingPunct="1">
              <a:lnSpc>
                <a:spcPct val="120000"/>
              </a:lnSpc>
              <a:buClr>
                <a:schemeClr val="folHlink"/>
              </a:buClr>
              <a:buSzPct val="75000"/>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信号量的物理意义</a:t>
            </a:r>
            <a:endPar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10" name="矩形 9"/>
          <p:cNvSpPr/>
          <p:nvPr/>
        </p:nvSpPr>
        <p:spPr>
          <a:xfrm>
            <a:off x="2287188" y="3404790"/>
            <a:ext cx="5844870" cy="760336"/>
          </a:xfrm>
          <a:prstGeom prst="rect">
            <a:avLst/>
          </a:prstGeom>
        </p:spPr>
        <p:txBody>
          <a:bodyPr wrap="none">
            <a:spAutoFit/>
          </a:bodyPr>
          <a:lstStyle/>
          <a:p>
            <a:pPr marL="0" lvl="1" indent="-274638" eaLnBrk="1" hangingPunct="1">
              <a:lnSpc>
                <a:spcPct val="120000"/>
              </a:lnSpc>
              <a:buClr>
                <a:schemeClr val="folHlink"/>
              </a:buClr>
              <a:buSzPct val="75000"/>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公用信号量和私用信号量</a:t>
            </a:r>
            <a:endPar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11" name="矩形 10"/>
          <p:cNvSpPr/>
          <p:nvPr/>
        </p:nvSpPr>
        <p:spPr>
          <a:xfrm>
            <a:off x="2195736" y="4509120"/>
            <a:ext cx="3400290" cy="707886"/>
          </a:xfrm>
          <a:prstGeom prst="rect">
            <a:avLst/>
          </a:prstGeom>
        </p:spPr>
        <p:txBody>
          <a:bodyPr wrap="none">
            <a:spAutoFit/>
          </a:bodyPr>
          <a:lstStyle/>
          <a:p>
            <a:pPr marL="0" lvl="1" indent="-274638"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信号量的实现</a:t>
            </a:r>
          </a:p>
        </p:txBody>
      </p:sp>
    </p:spTree>
    <p:extLst>
      <p:ext uri="{BB962C8B-B14F-4D97-AF65-F5344CB8AC3E}">
        <p14:creationId xmlns:p14="http://schemas.microsoft.com/office/powerpoint/2010/main" val="28682871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FC392A52-B5FC-4047-A4A8-CB9258BD05E7}"/>
              </a:ext>
            </a:extLst>
          </p:cNvPr>
          <p:cNvSpPr txBox="1">
            <a:spLocks noChangeArrowheads="1"/>
          </p:cNvSpPr>
          <p:nvPr/>
        </p:nvSpPr>
        <p:spPr>
          <a:xfrm>
            <a:off x="1" y="980728"/>
            <a:ext cx="9127244" cy="5328592"/>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lumMod val="75000"/>
                </a:schemeClr>
              </a:buClr>
              <a:buSzPct val="11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间接制约（互斥）</a:t>
            </a:r>
          </a:p>
          <a:p>
            <a:pPr marL="812800" lvl="3" indent="-355600" defTabSz="355600">
              <a:lnSpc>
                <a:spcPts val="4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竞争</a:t>
            </a:r>
            <a:r>
              <a:rPr lang="zh-CN" altLang="en-US" sz="3200" dirty="0">
                <a:solidFill>
                  <a:srgbClr val="FF00FF"/>
                </a:solidFill>
                <a:effectLst/>
                <a:latin typeface="+mj-lt"/>
                <a:ea typeface="楷体" panose="02010609060101010101" pitchFamily="49" charset="-122"/>
              </a:rPr>
              <a:t>公有资源</a:t>
            </a:r>
            <a:r>
              <a:rPr lang="zh-CN" altLang="en-US" sz="3200" dirty="0">
                <a:solidFill>
                  <a:schemeClr val="bg2"/>
                </a:solidFill>
                <a:effectLst/>
                <a:latin typeface="+mj-lt"/>
                <a:ea typeface="楷体" panose="02010609060101010101" pitchFamily="49" charset="-122"/>
              </a:rPr>
              <a:t>，临界区互斥；</a:t>
            </a:r>
            <a:endParaRPr lang="en-US" altLang="zh-CN" sz="3200" dirty="0">
              <a:solidFill>
                <a:schemeClr val="bg2"/>
              </a:solidFill>
              <a:effectLst/>
              <a:latin typeface="+mj-lt"/>
              <a:ea typeface="楷体" panose="02010609060101010101" pitchFamily="49" charset="-122"/>
            </a:endParaRPr>
          </a:p>
          <a:p>
            <a:pPr marL="812800" lvl="3" indent="-355600" defTabSz="355600">
              <a:lnSpc>
                <a:spcPts val="4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竞争没有固定的必然联系，如：</a:t>
            </a:r>
            <a:r>
              <a:rPr lang="en-US" altLang="zh-CN" sz="3200" dirty="0">
                <a:solidFill>
                  <a:schemeClr val="bg2"/>
                </a:solidFill>
                <a:effectLst/>
                <a:latin typeface="+mj-lt"/>
                <a:ea typeface="楷体" panose="02010609060101010101" pitchFamily="49" charset="-122"/>
              </a:rPr>
              <a:t>A</a:t>
            </a:r>
            <a:r>
              <a:rPr lang="zh-CN" altLang="en-US" sz="3200" dirty="0">
                <a:solidFill>
                  <a:schemeClr val="bg2"/>
                </a:solidFill>
                <a:effectLst/>
                <a:latin typeface="+mj-lt"/>
                <a:ea typeface="楷体" panose="02010609060101010101" pitchFamily="49" charset="-122"/>
              </a:rPr>
              <a:t>、</a:t>
            </a:r>
            <a:r>
              <a:rPr lang="en-US" altLang="zh-CN" sz="3200" dirty="0">
                <a:solidFill>
                  <a:schemeClr val="bg2"/>
                </a:solidFill>
                <a:effectLst/>
                <a:latin typeface="+mj-lt"/>
                <a:ea typeface="楷体" panose="02010609060101010101" pitchFamily="49" charset="-122"/>
              </a:rPr>
              <a:t>B</a:t>
            </a:r>
            <a:r>
              <a:rPr lang="zh-CN" altLang="en-US" sz="3200" dirty="0">
                <a:solidFill>
                  <a:schemeClr val="bg2"/>
                </a:solidFill>
                <a:effectLst/>
                <a:latin typeface="+mj-lt"/>
                <a:ea typeface="楷体" panose="02010609060101010101" pitchFamily="49" charset="-122"/>
              </a:rPr>
              <a:t>两线程都要向屏幕输出。</a:t>
            </a:r>
          </a:p>
          <a:p>
            <a:pPr marL="355600" lvl="2" indent="-355600" defTabSz="355600">
              <a:lnSpc>
                <a:spcPct val="90000"/>
              </a:lnSpc>
              <a:spcBef>
                <a:spcPct val="0"/>
              </a:spcBef>
              <a:buClr>
                <a:schemeClr val="bg1">
                  <a:lumMod val="75000"/>
                </a:schemeClr>
              </a:buClr>
              <a:buSzPct val="11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直接制约（同步）</a:t>
            </a:r>
          </a:p>
          <a:p>
            <a:pPr marL="812800" lvl="3" indent="-355600" defTabSz="355600">
              <a:lnSpc>
                <a:spcPts val="4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一组并发线程，互相合作、各线程按一定的顺序和速度执行的过程。</a:t>
            </a:r>
          </a:p>
          <a:p>
            <a:pPr marL="812800" lvl="3" indent="-355600" defTabSz="355600">
              <a:lnSpc>
                <a:spcPts val="4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共享对方的</a:t>
            </a:r>
            <a:r>
              <a:rPr lang="zh-CN" altLang="en-US" sz="3200" dirty="0">
                <a:solidFill>
                  <a:srgbClr val="FF00FF"/>
                </a:solidFill>
                <a:effectLst/>
                <a:latin typeface="+mj-lt"/>
                <a:ea typeface="楷体" panose="02010609060101010101" pitchFamily="49" charset="-122"/>
              </a:rPr>
              <a:t>私有资源</a:t>
            </a:r>
            <a:r>
              <a:rPr lang="zh-CN" altLang="en-US" sz="3200" dirty="0">
                <a:solidFill>
                  <a:schemeClr val="bg2"/>
                </a:solidFill>
                <a:effectLst/>
                <a:latin typeface="+mj-lt"/>
                <a:ea typeface="楷体" panose="02010609060101010101" pitchFamily="49" charset="-122"/>
              </a:rPr>
              <a:t>；</a:t>
            </a:r>
            <a:endParaRPr lang="en-US" altLang="zh-CN" sz="3200" dirty="0">
              <a:solidFill>
                <a:schemeClr val="bg2"/>
              </a:solidFill>
              <a:effectLst/>
              <a:latin typeface="+mj-lt"/>
              <a:ea typeface="楷体" panose="02010609060101010101" pitchFamily="49" charset="-122"/>
            </a:endParaRPr>
          </a:p>
          <a:p>
            <a:pPr marL="812800" lvl="3" indent="-355600" defTabSz="355600">
              <a:lnSpc>
                <a:spcPts val="4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线程间有必然的联系、合作关系，如：输入线程、计算</a:t>
            </a:r>
            <a:r>
              <a:rPr lang="zh-CN" altLang="en-US" sz="3200" dirty="0">
                <a:solidFill>
                  <a:schemeClr val="bg2"/>
                </a:solidFill>
                <a:effectLst/>
                <a:ea typeface="楷体" panose="02010609060101010101" pitchFamily="49" charset="-122"/>
              </a:rPr>
              <a:t>线程</a:t>
            </a:r>
            <a:r>
              <a:rPr lang="zh-CN" altLang="en-US" sz="3200" dirty="0">
                <a:solidFill>
                  <a:schemeClr val="bg2"/>
                </a:solidFill>
                <a:effectLst/>
                <a:latin typeface="+mj-lt"/>
                <a:ea typeface="楷体" panose="02010609060101010101" pitchFamily="49" charset="-122"/>
              </a:rPr>
              <a:t>和打印</a:t>
            </a:r>
            <a:r>
              <a:rPr lang="zh-CN" altLang="en-US" sz="3200" dirty="0">
                <a:solidFill>
                  <a:schemeClr val="bg2"/>
                </a:solidFill>
                <a:effectLst/>
                <a:ea typeface="楷体" panose="02010609060101010101" pitchFamily="49" charset="-122"/>
              </a:rPr>
              <a:t>线程</a:t>
            </a:r>
            <a:r>
              <a:rPr lang="zh-CN" altLang="en-US" sz="3200" dirty="0">
                <a:solidFill>
                  <a:schemeClr val="bg2"/>
                </a:solidFill>
                <a:effectLst/>
                <a:latin typeface="+mj-lt"/>
                <a:ea typeface="楷体" panose="02010609060101010101" pitchFamily="49" charset="-122"/>
              </a:rPr>
              <a:t>。</a:t>
            </a:r>
          </a:p>
        </p:txBody>
      </p:sp>
      <p:sp>
        <p:nvSpPr>
          <p:cNvPr id="5" name="矩形 4">
            <a:extLst>
              <a:ext uri="{FF2B5EF4-FFF2-40B4-BE49-F238E27FC236}">
                <a16:creationId xmlns:a16="http://schemas.microsoft.com/office/drawing/2014/main" id="{EC6F383C-843F-403D-B34A-41317BCB5E25}"/>
              </a:ext>
            </a:extLst>
          </p:cNvPr>
          <p:cNvSpPr/>
          <p:nvPr/>
        </p:nvSpPr>
        <p:spPr>
          <a:xfrm>
            <a:off x="2166535" y="22294"/>
            <a:ext cx="4815742" cy="707886"/>
          </a:xfrm>
          <a:prstGeom prst="rect">
            <a:avLst/>
          </a:prstGeom>
        </p:spPr>
        <p:txBody>
          <a:bodyPr wrap="none">
            <a:spAutoFit/>
          </a:bodyPr>
          <a:lstStyle/>
          <a:p>
            <a:pPr marL="0" lvl="1" indent="-274638"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并发线程的制约关系</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627521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5" end="5"/>
                                            </p:txEl>
                                          </p:spTgt>
                                        </p:tgtEl>
                                        <p:attrNameLst>
                                          <p:attrName>style.visibility</p:attrName>
                                        </p:attrNameLst>
                                      </p:cBhvr>
                                      <p:to>
                                        <p:strVal val="visible"/>
                                      </p:to>
                                    </p:set>
                                    <p:animEffect transition="in" filter="fade">
                                      <p:cBhvr>
                                        <p:cTn id="14" dur="1000"/>
                                        <p:tgtEl>
                                          <p:spTgt spid="4">
                                            <p:txEl>
                                              <p:pRg st="5" end="5"/>
                                            </p:txEl>
                                          </p:spTgt>
                                        </p:tgtEl>
                                      </p:cBhvr>
                                    </p:animEffect>
                                    <p:anim calcmode="lin" valueType="num">
                                      <p:cBhvr>
                                        <p:cTn id="1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1000"/>
                                        <p:tgtEl>
                                          <p:spTgt spid="4">
                                            <p:txEl>
                                              <p:pRg st="6" end="6"/>
                                            </p:txEl>
                                          </p:spTgt>
                                        </p:tgtEl>
                                      </p:cBhvr>
                                    </p:animEffect>
                                    <p:anim calcmode="lin" valueType="num">
                                      <p:cBhvr>
                                        <p:cTn id="29"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par>
                          <p:cTn id="31" fill="hold">
                            <p:stCondLst>
                              <p:cond delay="1000"/>
                            </p:stCondLst>
                            <p:childTnLst>
                              <p:par>
                                <p:cTn id="32" presetID="2" presetClass="entr" presetSubtype="6"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500" fill="hold"/>
                                        <p:tgtEl>
                                          <p:spTgt spid="6"/>
                                        </p:tgtEl>
                                        <p:attrNameLst>
                                          <p:attrName>ppt_x</p:attrName>
                                        </p:attrNameLst>
                                      </p:cBhvr>
                                      <p:tavLst>
                                        <p:tav tm="0">
                                          <p:val>
                                            <p:strVal val="1+#ppt_w/2"/>
                                          </p:val>
                                        </p:tav>
                                        <p:tav tm="100000">
                                          <p:val>
                                            <p:strVal val="#ppt_x"/>
                                          </p:val>
                                        </p:tav>
                                      </p:tavLst>
                                    </p:anim>
                                    <p:anim calcmode="lin" valueType="num">
                                      <p:cBhvr additive="base">
                                        <p:cTn id="3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F3703A3-1889-4D5A-B002-82B1611E7DF6}" type="datetime1">
              <a:rPr lang="zh-CN" altLang="en-US" smtClean="0"/>
              <a:pPr>
                <a:defRPr/>
              </a:pPr>
              <a:t>2024/10/9</a:t>
            </a:fld>
            <a:endParaRPr lang="en-US" altLang="zh-CN"/>
          </a:p>
        </p:txBody>
      </p:sp>
      <p:sp>
        <p:nvSpPr>
          <p:cNvPr id="3" name="灯片编号占位符 2"/>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21</a:t>
            </a:fld>
            <a:r>
              <a:rPr lang="zh-CN" altLang="en-US"/>
              <a:t> 页</a:t>
            </a:r>
          </a:p>
        </p:txBody>
      </p:sp>
      <p:sp>
        <p:nvSpPr>
          <p:cNvPr id="4" name="矩形 3">
            <a:extLst>
              <a:ext uri="{FF2B5EF4-FFF2-40B4-BE49-F238E27FC236}">
                <a16:creationId xmlns:a16="http://schemas.microsoft.com/office/drawing/2014/main" id="{BD1B8FF0-651E-4004-961F-11AC00391796}"/>
              </a:ext>
            </a:extLst>
          </p:cNvPr>
          <p:cNvSpPr/>
          <p:nvPr/>
        </p:nvSpPr>
        <p:spPr>
          <a:xfrm>
            <a:off x="2267744" y="0"/>
            <a:ext cx="4301177" cy="760336"/>
          </a:xfrm>
          <a:prstGeom prst="rect">
            <a:avLst/>
          </a:prstGeom>
        </p:spPr>
        <p:txBody>
          <a:bodyPr wrap="none">
            <a:spAutoFit/>
          </a:bodyPr>
          <a:lstStyle/>
          <a:p>
            <a:pPr marL="0" lvl="1" indent="-274638" eaLnBrk="1" hangingPunct="1">
              <a:lnSpc>
                <a:spcPct val="120000"/>
              </a:lnSpc>
              <a:buClr>
                <a:schemeClr val="folHlink"/>
              </a:buClr>
              <a:buSzPct val="75000"/>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信号量的物理意义</a:t>
            </a:r>
            <a:endPar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5" name="Rectangle 3">
            <a:extLst>
              <a:ext uri="{FF2B5EF4-FFF2-40B4-BE49-F238E27FC236}">
                <a16:creationId xmlns:a16="http://schemas.microsoft.com/office/drawing/2014/main" id="{562F62A1-C061-4136-9C24-F3E0C24A66D0}"/>
              </a:ext>
            </a:extLst>
          </p:cNvPr>
          <p:cNvSpPr txBox="1">
            <a:spLocks noChangeArrowheads="1"/>
          </p:cNvSpPr>
          <p:nvPr/>
        </p:nvSpPr>
        <p:spPr>
          <a:xfrm>
            <a:off x="160899" y="2550880"/>
            <a:ext cx="8964612" cy="3608420"/>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信号量</a:t>
            </a: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S</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物理含义</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en-US" altLang="zh-CN" sz="3200" dirty="0">
                <a:solidFill>
                  <a:schemeClr val="bg2"/>
                </a:solidFill>
                <a:effectLst/>
                <a:latin typeface="+mj-lt"/>
                <a:ea typeface="楷体" panose="02010609060101010101" pitchFamily="49" charset="-122"/>
              </a:rPr>
              <a:t>S&gt;0</a:t>
            </a:r>
            <a:r>
              <a:rPr lang="zh-CN" altLang="en-US" sz="3200" dirty="0">
                <a:solidFill>
                  <a:schemeClr val="bg2"/>
                </a:solidFill>
                <a:effectLst/>
                <a:latin typeface="+mj-lt"/>
                <a:ea typeface="楷体" panose="02010609060101010101" pitchFamily="49" charset="-122"/>
              </a:rPr>
              <a:t>：有</a:t>
            </a:r>
            <a:r>
              <a:rPr lang="en-US" altLang="zh-CN" sz="3200" dirty="0">
                <a:solidFill>
                  <a:schemeClr val="bg2"/>
                </a:solidFill>
                <a:effectLst/>
                <a:latin typeface="+mj-lt"/>
                <a:ea typeface="楷体" panose="02010609060101010101" pitchFamily="49" charset="-122"/>
              </a:rPr>
              <a:t>S</a:t>
            </a:r>
            <a:r>
              <a:rPr lang="zh-CN" altLang="en-US" sz="3200" dirty="0">
                <a:solidFill>
                  <a:schemeClr val="bg2"/>
                </a:solidFill>
                <a:effectLst/>
                <a:latin typeface="+mj-lt"/>
                <a:ea typeface="楷体" panose="02010609060101010101" pitchFamily="49" charset="-122"/>
              </a:rPr>
              <a:t>个资源可用</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en-US" altLang="zh-CN" sz="3200" dirty="0">
                <a:solidFill>
                  <a:schemeClr val="bg2"/>
                </a:solidFill>
                <a:effectLst/>
                <a:latin typeface="+mj-lt"/>
                <a:ea typeface="楷体" panose="02010609060101010101" pitchFamily="49" charset="-122"/>
              </a:rPr>
              <a:t>S==0</a:t>
            </a:r>
            <a:r>
              <a:rPr lang="zh-CN" altLang="en-US" sz="3200" dirty="0">
                <a:solidFill>
                  <a:schemeClr val="bg2"/>
                </a:solidFill>
                <a:effectLst/>
                <a:latin typeface="+mj-lt"/>
                <a:ea typeface="楷体" panose="02010609060101010101" pitchFamily="49" charset="-122"/>
              </a:rPr>
              <a:t>：无资源可用</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en-US" altLang="zh-CN" sz="3200" dirty="0">
                <a:solidFill>
                  <a:schemeClr val="bg2"/>
                </a:solidFill>
                <a:effectLst/>
                <a:latin typeface="+mj-lt"/>
                <a:ea typeface="楷体" panose="02010609060101010101" pitchFamily="49" charset="-122"/>
              </a:rPr>
              <a:t>S&lt;0</a:t>
            </a:r>
            <a:r>
              <a:rPr lang="zh-CN" altLang="en-US" sz="3200" dirty="0">
                <a:solidFill>
                  <a:schemeClr val="bg2"/>
                </a:solidFill>
                <a:effectLst/>
                <a:latin typeface="+mj-lt"/>
                <a:ea typeface="楷体" panose="02010609060101010101" pitchFamily="49" charset="-122"/>
              </a:rPr>
              <a:t>：</a:t>
            </a:r>
            <a:r>
              <a:rPr lang="en-US" altLang="zh-CN" sz="3200" dirty="0">
                <a:solidFill>
                  <a:schemeClr val="bg2"/>
                </a:solidFill>
                <a:effectLst/>
                <a:latin typeface="+mj-lt"/>
                <a:ea typeface="楷体" panose="02010609060101010101" pitchFamily="49" charset="-122"/>
              </a:rPr>
              <a:t>|S|</a:t>
            </a:r>
            <a:r>
              <a:rPr lang="zh-CN" altLang="en-US" sz="3200" dirty="0">
                <a:solidFill>
                  <a:schemeClr val="bg2"/>
                </a:solidFill>
                <a:effectLst/>
                <a:latin typeface="+mj-lt"/>
                <a:ea typeface="楷体" panose="02010609060101010101" pitchFamily="49" charset="-122"/>
              </a:rPr>
              <a:t>表示</a:t>
            </a:r>
            <a:r>
              <a:rPr lang="en-US" altLang="zh-CN" sz="3200" dirty="0">
                <a:solidFill>
                  <a:schemeClr val="bg2"/>
                </a:solidFill>
                <a:effectLst/>
                <a:latin typeface="+mj-lt"/>
                <a:ea typeface="楷体" panose="02010609060101010101" pitchFamily="49" charset="-122"/>
              </a:rPr>
              <a:t>S</a:t>
            </a:r>
            <a:r>
              <a:rPr lang="zh-CN" altLang="en-US" sz="3200" dirty="0">
                <a:solidFill>
                  <a:schemeClr val="bg2"/>
                </a:solidFill>
                <a:effectLst/>
                <a:latin typeface="+mj-lt"/>
                <a:ea typeface="楷体" panose="02010609060101010101" pitchFamily="49" charset="-122"/>
              </a:rPr>
              <a:t>等待队列中的进程个数</a:t>
            </a:r>
          </a:p>
          <a:p>
            <a:pPr marL="355600" lvl="2" indent="-355600" defTabSz="355600">
              <a:lnSpc>
                <a:spcPct val="90000"/>
              </a:lnSpc>
              <a:spcBef>
                <a:spcPct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除初始化外，只能通过</a:t>
            </a:r>
            <a:r>
              <a:rPr lang="zh-CN" altLang="en-US" sz="3600" dirty="0">
                <a:solidFill>
                  <a:srgbClr val="FF0000"/>
                </a:solidFill>
                <a:effectLst>
                  <a:outerShdw blurRad="38100" dist="38100" dir="2700000" algn="tl">
                    <a:srgbClr val="000000">
                      <a:alpha val="43137"/>
                    </a:srgbClr>
                  </a:outerShdw>
                </a:effectLst>
                <a:latin typeface="+mj-lt"/>
                <a:ea typeface="楷体" panose="02010609060101010101" pitchFamily="49" charset="-122"/>
              </a:rPr>
              <a:t>标准原子操作</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访问</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en-US" altLang="zh-CN" sz="3200" dirty="0">
                <a:solidFill>
                  <a:schemeClr val="bg2"/>
                </a:solidFill>
                <a:effectLst/>
                <a:latin typeface="+mj-lt"/>
                <a:ea typeface="楷体" panose="02010609060101010101" pitchFamily="49" charset="-122"/>
              </a:rPr>
              <a:t>wait() </a:t>
            </a:r>
            <a:r>
              <a:rPr lang="zh-CN" altLang="en-US" sz="3200" dirty="0">
                <a:solidFill>
                  <a:schemeClr val="bg2"/>
                </a:solidFill>
                <a:effectLst/>
                <a:latin typeface="+mj-lt"/>
                <a:ea typeface="楷体" panose="02010609060101010101" pitchFamily="49" charset="-122"/>
              </a:rPr>
              <a:t>（</a:t>
            </a:r>
            <a:r>
              <a:rPr lang="en-US" altLang="zh-CN" sz="3200" dirty="0">
                <a:solidFill>
                  <a:schemeClr val="bg2"/>
                </a:solidFill>
                <a:effectLst/>
                <a:latin typeface="+mj-lt"/>
                <a:ea typeface="楷体" panose="02010609060101010101" pitchFamily="49" charset="-122"/>
              </a:rPr>
              <a:t>P</a:t>
            </a:r>
            <a:r>
              <a:rPr lang="zh-CN" altLang="en-US" sz="3200" dirty="0">
                <a:solidFill>
                  <a:schemeClr val="bg2"/>
                </a:solidFill>
                <a:effectLst/>
                <a:latin typeface="+mj-lt"/>
                <a:ea typeface="楷体" panose="02010609060101010101" pitchFamily="49" charset="-122"/>
              </a:rPr>
              <a:t>）</a:t>
            </a:r>
            <a:endParaRPr lang="en-US" altLang="zh-CN" sz="3200" dirty="0">
              <a:solidFill>
                <a:schemeClr val="bg2"/>
              </a:solidFill>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en-US" altLang="zh-CN" sz="3200" dirty="0">
                <a:solidFill>
                  <a:schemeClr val="bg2"/>
                </a:solidFill>
                <a:effectLst/>
                <a:latin typeface="+mj-lt"/>
                <a:ea typeface="楷体" panose="02010609060101010101" pitchFamily="49" charset="-122"/>
              </a:rPr>
              <a:t>signal() </a:t>
            </a:r>
            <a:r>
              <a:rPr lang="zh-CN" altLang="en-US" sz="3200" dirty="0">
                <a:solidFill>
                  <a:schemeClr val="bg2"/>
                </a:solidFill>
                <a:effectLst/>
                <a:latin typeface="+mj-lt"/>
                <a:ea typeface="楷体" panose="02010609060101010101" pitchFamily="49" charset="-122"/>
              </a:rPr>
              <a:t>（</a:t>
            </a:r>
            <a:r>
              <a:rPr lang="en-US" altLang="zh-CN" sz="3200" dirty="0">
                <a:solidFill>
                  <a:schemeClr val="bg2"/>
                </a:solidFill>
                <a:effectLst/>
                <a:latin typeface="+mj-lt"/>
                <a:ea typeface="楷体" panose="02010609060101010101" pitchFamily="49" charset="-122"/>
              </a:rPr>
              <a:t>V</a:t>
            </a:r>
            <a:r>
              <a:rPr lang="zh-CN" altLang="en-US" sz="3200" dirty="0">
                <a:solidFill>
                  <a:schemeClr val="bg2"/>
                </a:solidFill>
                <a:effectLst/>
                <a:latin typeface="+mj-lt"/>
                <a:ea typeface="楷体" panose="02010609060101010101" pitchFamily="49" charset="-122"/>
              </a:rPr>
              <a:t>）</a:t>
            </a:r>
            <a:endParaRPr lang="en-US" altLang="zh-CN" sz="3200" dirty="0">
              <a:solidFill>
                <a:schemeClr val="bg2"/>
              </a:solidFill>
              <a:effectLst/>
              <a:latin typeface="+mj-lt"/>
              <a:ea typeface="楷体" panose="02010609060101010101" pitchFamily="49" charset="-122"/>
            </a:endParaRPr>
          </a:p>
        </p:txBody>
      </p:sp>
      <p:sp>
        <p:nvSpPr>
          <p:cNvPr id="6" name="矩形 5">
            <a:extLst>
              <a:ext uri="{FF2B5EF4-FFF2-40B4-BE49-F238E27FC236}">
                <a16:creationId xmlns:a16="http://schemas.microsoft.com/office/drawing/2014/main" id="{2FE3E7FC-004A-4169-BF8A-EF9D7F759846}"/>
              </a:ext>
            </a:extLst>
          </p:cNvPr>
          <p:cNvSpPr/>
          <p:nvPr/>
        </p:nvSpPr>
        <p:spPr>
          <a:xfrm>
            <a:off x="610694" y="964709"/>
            <a:ext cx="8514817" cy="590931"/>
          </a:xfrm>
          <a:prstGeom prst="rect">
            <a:avLst/>
          </a:prstGeom>
        </p:spPr>
        <p:txBody>
          <a:bodyPr wrap="square">
            <a:spAutoFit/>
          </a:bodyPr>
          <a:lstStyle/>
          <a:p>
            <a:pPr marL="0" lvl="2" algn="ctr" defTabSz="355600">
              <a:lnSpc>
                <a:spcPct val="90000"/>
              </a:lnSpc>
              <a:buClr>
                <a:schemeClr val="bg1"/>
              </a:buClr>
              <a:buSzPct val="80000"/>
              <a:defRPr/>
            </a:pPr>
            <a:r>
              <a:rPr lang="zh-CN" altLang="en-US" sz="3600" dirty="0">
                <a:solidFill>
                  <a:schemeClr val="bg2"/>
                </a:solidFill>
                <a:latin typeface="+mn-lt"/>
                <a:ea typeface="+mn-ea"/>
              </a:rPr>
              <a:t>1965</a:t>
            </a:r>
            <a:r>
              <a:rPr lang="zh-CN" altLang="en-US" sz="3600" dirty="0">
                <a:solidFill>
                  <a:schemeClr val="bg2"/>
                </a:solidFill>
                <a:latin typeface="+mn-ea"/>
                <a:ea typeface="+mn-ea"/>
              </a:rPr>
              <a:t>年荷兰科学家 </a:t>
            </a:r>
            <a:r>
              <a:rPr lang="en-US" altLang="zh-CN" sz="3600" dirty="0">
                <a:solidFill>
                  <a:srgbClr val="996600"/>
                </a:solidFill>
                <a:latin typeface="+mn-lt"/>
                <a:ea typeface="+mn-ea"/>
              </a:rPr>
              <a:t>E.W.Dijkstra</a:t>
            </a:r>
            <a:r>
              <a:rPr lang="zh-CN" altLang="en-US" sz="3600" dirty="0">
                <a:solidFill>
                  <a:schemeClr val="bg2"/>
                </a:solidFill>
                <a:latin typeface="+mn-ea"/>
                <a:ea typeface="+mn-ea"/>
              </a:rPr>
              <a:t>提出。</a:t>
            </a:r>
          </a:p>
        </p:txBody>
      </p:sp>
      <p:sp>
        <p:nvSpPr>
          <p:cNvPr id="7" name="矩形 6">
            <a:extLst>
              <a:ext uri="{FF2B5EF4-FFF2-40B4-BE49-F238E27FC236}">
                <a16:creationId xmlns:a16="http://schemas.microsoft.com/office/drawing/2014/main" id="{5C03CD13-D897-43C4-AEDF-B39723E7D30D}"/>
              </a:ext>
            </a:extLst>
          </p:cNvPr>
          <p:cNvSpPr/>
          <p:nvPr/>
        </p:nvSpPr>
        <p:spPr>
          <a:xfrm>
            <a:off x="160899" y="1791216"/>
            <a:ext cx="7920880" cy="590931"/>
          </a:xfrm>
          <a:prstGeom prst="rect">
            <a:avLst/>
          </a:prstGeom>
        </p:spPr>
        <p:txBody>
          <a:bodyPr wrap="square">
            <a:spAutoFit/>
          </a:bodyPr>
          <a:lstStyle/>
          <a:p>
            <a:pPr marL="355600" lvl="2" indent="-355600" defTabSz="355600">
              <a:lnSpc>
                <a:spcPct val="90000"/>
              </a:lnSpc>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一个整数值</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p:txBody>
      </p:sp>
      <p:sp>
        <p:nvSpPr>
          <p:cNvPr id="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0"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2507497"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计算机科学与技术系</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1688860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heckerboard(across)">
                                      <p:cBhvr>
                                        <p:cTn id="7" dur="500"/>
                                        <p:tgtEl>
                                          <p:spTgt spid="5">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checkerboard(across)">
                                      <p:cBhvr>
                                        <p:cTn id="10" dur="500"/>
                                        <p:tgtEl>
                                          <p:spTgt spid="5">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checkerboard(across)">
                                      <p:cBhvr>
                                        <p:cTn id="13" dur="500"/>
                                        <p:tgtEl>
                                          <p:spTgt spid="5">
                                            <p:txEl>
                                              <p:pRg st="2" end="2"/>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checkerboard(across)">
                                      <p:cBhvr>
                                        <p:cTn id="16" dur="500"/>
                                        <p:tgtEl>
                                          <p:spTgt spid="5">
                                            <p:txEl>
                                              <p:pRg st="3" end="3"/>
                                            </p:txEl>
                                          </p:spTgt>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checkerboard(across)">
                                      <p:cBhvr>
                                        <p:cTn id="19" dur="500"/>
                                        <p:tgtEl>
                                          <p:spTgt spid="5">
                                            <p:txEl>
                                              <p:pRg st="4" end="4"/>
                                            </p:txEl>
                                          </p:spTgt>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checkerboard(across)">
                                      <p:cBhvr>
                                        <p:cTn id="22" dur="500"/>
                                        <p:tgtEl>
                                          <p:spTgt spid="5">
                                            <p:txEl>
                                              <p:pRg st="5" end="5"/>
                                            </p:txEl>
                                          </p:spTgt>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Effect transition="in" filter="checkerboard(across)">
                                      <p:cBhvr>
                                        <p:cTn id="25" dur="500"/>
                                        <p:tgtEl>
                                          <p:spTgt spid="5">
                                            <p:txEl>
                                              <p:pRg st="6" end="6"/>
                                            </p:txEl>
                                          </p:spTgt>
                                        </p:tgtEl>
                                      </p:cBhvr>
                                    </p:animEffect>
                                  </p:childTnLst>
                                </p:cTn>
                              </p:par>
                            </p:childTnLst>
                          </p:cTn>
                        </p:par>
                        <p:par>
                          <p:cTn id="26" fill="hold">
                            <p:stCondLst>
                              <p:cond delay="500"/>
                            </p:stCondLst>
                            <p:childTnLst>
                              <p:par>
                                <p:cTn id="27" presetID="2" presetClass="entr" presetSubtype="6" fill="hold" grpId="0" nodeType="after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1+#ppt_w/2"/>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2"/>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1FB1362-9D48-4E62-8469-EBD2A654DEE1}"/>
              </a:ext>
            </a:extLst>
          </p:cNvPr>
          <p:cNvSpPr txBox="1"/>
          <p:nvPr/>
        </p:nvSpPr>
        <p:spPr>
          <a:xfrm>
            <a:off x="2333623" y="11480"/>
            <a:ext cx="4476754" cy="707886"/>
          </a:xfrm>
          <a:prstGeom prst="rect">
            <a:avLst/>
          </a:prstGeom>
          <a:noFill/>
        </p:spPr>
        <p:txBody>
          <a:bodyPr wrap="square" rtlCol="0">
            <a:spAutoFit/>
          </a:bodyPr>
          <a:lstStyle/>
          <a:p>
            <a:pPr marL="0" lvl="1" indent="-274638"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信 号 量 的 实 现</a:t>
            </a:r>
          </a:p>
        </p:txBody>
      </p:sp>
      <p:sp>
        <p:nvSpPr>
          <p:cNvPr id="6" name="Content Placeholder 2">
            <a:extLst>
              <a:ext uri="{FF2B5EF4-FFF2-40B4-BE49-F238E27FC236}">
                <a16:creationId xmlns:a16="http://schemas.microsoft.com/office/drawing/2014/main" id="{11A5E0B8-A281-478D-B746-C49E753F499C}"/>
              </a:ext>
            </a:extLst>
          </p:cNvPr>
          <p:cNvSpPr txBox="1">
            <a:spLocks/>
          </p:cNvSpPr>
          <p:nvPr/>
        </p:nvSpPr>
        <p:spPr>
          <a:xfrm>
            <a:off x="428836" y="908720"/>
            <a:ext cx="3351076" cy="1656184"/>
          </a:xfrm>
          <a:prstGeom prst="rect">
            <a:avLst/>
          </a:prstGeom>
          <a:solidFill>
            <a:srgbClr val="D9D9FF"/>
          </a:solid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indent="0">
              <a:spcBef>
                <a:spcPts val="0"/>
              </a:spcBef>
              <a:buNone/>
            </a:pPr>
            <a:r>
              <a:rPr lang="en-US" altLang="zh-CN" sz="2400" dirty="0">
                <a:solidFill>
                  <a:schemeClr val="bg2"/>
                </a:solidFill>
                <a:effectLst/>
                <a:cs typeface="Courier New" panose="02070309020205020404" pitchFamily="49" charset="0"/>
              </a:rPr>
              <a:t>typedef struct{ </a:t>
            </a:r>
          </a:p>
          <a:p>
            <a:pPr>
              <a:spcBef>
                <a:spcPts val="0"/>
              </a:spcBef>
              <a:buNone/>
            </a:pPr>
            <a:r>
              <a:rPr lang="en-US" altLang="zh-CN" sz="2400" dirty="0">
                <a:solidFill>
                  <a:schemeClr val="bg2"/>
                </a:solidFill>
                <a:effectLst/>
                <a:cs typeface="Courier New" panose="02070309020205020404" pitchFamily="49" charset="0"/>
              </a:rPr>
              <a:t>   int value; </a:t>
            </a:r>
          </a:p>
          <a:p>
            <a:pPr>
              <a:spcBef>
                <a:spcPts val="0"/>
              </a:spcBef>
              <a:buNone/>
            </a:pPr>
            <a:r>
              <a:rPr lang="en-US" altLang="zh-CN" sz="2400" dirty="0">
                <a:solidFill>
                  <a:schemeClr val="bg2"/>
                </a:solidFill>
                <a:effectLst/>
                <a:cs typeface="Courier New" panose="02070309020205020404" pitchFamily="49" charset="0"/>
              </a:rPr>
              <a:t>   struct process  *list; </a:t>
            </a:r>
          </a:p>
          <a:p>
            <a:pPr>
              <a:spcBef>
                <a:spcPts val="0"/>
              </a:spcBef>
              <a:buNone/>
            </a:pPr>
            <a:r>
              <a:rPr lang="en-US" altLang="zh-CN" sz="2400" dirty="0">
                <a:solidFill>
                  <a:schemeClr val="bg2"/>
                </a:solidFill>
                <a:effectLst/>
                <a:cs typeface="Courier New" panose="02070309020205020404" pitchFamily="49" charset="0"/>
              </a:rPr>
              <a:t>} </a:t>
            </a:r>
            <a:r>
              <a:rPr lang="en-US" altLang="zh-CN" sz="2400" dirty="0">
                <a:solidFill>
                  <a:srgbClr val="FF0000"/>
                </a:solidFill>
                <a:effectLst/>
                <a:cs typeface="Courier New" panose="02070309020205020404" pitchFamily="49" charset="0"/>
              </a:rPr>
              <a:t>semaphore</a:t>
            </a:r>
            <a:r>
              <a:rPr lang="en-US" altLang="zh-CN" sz="2400" dirty="0">
                <a:solidFill>
                  <a:schemeClr val="bg2"/>
                </a:solidFill>
                <a:effectLst/>
                <a:cs typeface="Courier New" panose="02070309020205020404" pitchFamily="49" charset="0"/>
              </a:rPr>
              <a:t>; </a:t>
            </a:r>
          </a:p>
          <a:p>
            <a:endParaRPr lang="en-US" altLang="zh-CN" sz="2000" dirty="0"/>
          </a:p>
          <a:p>
            <a:pPr marL="0" indent="0">
              <a:buNone/>
            </a:pPr>
            <a:r>
              <a:rPr lang="en-US" altLang="zh-CN" sz="2000" b="1" kern="0" dirty="0">
                <a:solidFill>
                  <a:schemeClr val="bg2"/>
                </a:solidFill>
                <a:effectLst/>
                <a:cs typeface="Courier New" panose="02070309020205020404" pitchFamily="49" charset="0"/>
              </a:rPr>
              <a:t>  </a:t>
            </a:r>
          </a:p>
          <a:p>
            <a:pPr marL="0" indent="0">
              <a:buNone/>
            </a:pPr>
            <a:r>
              <a:rPr lang="en-US" altLang="zh-CN" sz="2000" b="1" kern="0" dirty="0">
                <a:solidFill>
                  <a:schemeClr val="bg2"/>
                </a:solidFill>
                <a:effectLst/>
                <a:cs typeface="Courier New" panose="02070309020205020404" pitchFamily="49" charset="0"/>
              </a:rPr>
              <a:t> </a:t>
            </a:r>
            <a:endParaRPr lang="en-US" altLang="zh-CN" b="0" kern="0" dirty="0"/>
          </a:p>
        </p:txBody>
      </p:sp>
      <p:sp>
        <p:nvSpPr>
          <p:cNvPr id="8" name="Content Placeholder 2">
            <a:extLst>
              <a:ext uri="{FF2B5EF4-FFF2-40B4-BE49-F238E27FC236}">
                <a16:creationId xmlns:a16="http://schemas.microsoft.com/office/drawing/2014/main" id="{8B7DC040-A040-48F2-A9E3-3B681237B47F}"/>
              </a:ext>
            </a:extLst>
          </p:cNvPr>
          <p:cNvSpPr txBox="1">
            <a:spLocks/>
          </p:cNvSpPr>
          <p:nvPr/>
        </p:nvSpPr>
        <p:spPr>
          <a:xfrm>
            <a:off x="95246" y="2804587"/>
            <a:ext cx="4143164" cy="2928669"/>
          </a:xfrm>
          <a:prstGeom prst="rect">
            <a:avLst/>
          </a:prstGeom>
          <a:solidFill>
            <a:schemeClr val="tx1">
              <a:lumMod val="85000"/>
            </a:schemeClr>
          </a:solid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indent="0">
              <a:spcBef>
                <a:spcPts val="0"/>
              </a:spcBef>
              <a:buNone/>
            </a:pPr>
            <a:r>
              <a:rPr lang="en-US" altLang="zh-CN" sz="2400" dirty="0">
                <a:solidFill>
                  <a:schemeClr val="bg1"/>
                </a:solidFill>
                <a:effectLst/>
                <a:cs typeface="Courier New" panose="02070309020205020404" pitchFamily="49" charset="0"/>
              </a:rPr>
              <a:t>wait</a:t>
            </a:r>
            <a:r>
              <a:rPr lang="en-US" altLang="zh-CN" sz="2400" dirty="0">
                <a:solidFill>
                  <a:schemeClr val="bg2"/>
                </a:solidFill>
                <a:effectLst/>
                <a:cs typeface="Courier New" panose="02070309020205020404" pitchFamily="49" charset="0"/>
              </a:rPr>
              <a:t>(</a:t>
            </a:r>
            <a:r>
              <a:rPr lang="en-US" altLang="zh-CN" sz="2400" dirty="0">
                <a:solidFill>
                  <a:srgbClr val="FF0000"/>
                </a:solidFill>
                <a:effectLst/>
                <a:cs typeface="Courier New" panose="02070309020205020404" pitchFamily="49" charset="0"/>
              </a:rPr>
              <a:t>semaphore</a:t>
            </a:r>
            <a:r>
              <a:rPr lang="en-US" altLang="zh-CN" sz="2400" dirty="0">
                <a:solidFill>
                  <a:schemeClr val="bg2"/>
                </a:solidFill>
                <a:effectLst/>
                <a:cs typeface="Courier New" panose="02070309020205020404" pitchFamily="49" charset="0"/>
              </a:rPr>
              <a:t> *S) { </a:t>
            </a:r>
          </a:p>
          <a:p>
            <a:pPr marL="0" indent="0">
              <a:spcBef>
                <a:spcPts val="0"/>
              </a:spcBef>
              <a:buNone/>
            </a:pPr>
            <a:r>
              <a:rPr lang="en-US" altLang="zh-CN" sz="2400" dirty="0">
                <a:solidFill>
                  <a:schemeClr val="bg2"/>
                </a:solidFill>
                <a:effectLst/>
                <a:cs typeface="Courier New" panose="02070309020205020404" pitchFamily="49" charset="0"/>
              </a:rPr>
              <a:t>   S-&gt;value--; </a:t>
            </a:r>
          </a:p>
          <a:p>
            <a:pPr marL="0" indent="0">
              <a:spcBef>
                <a:spcPts val="0"/>
              </a:spcBef>
              <a:buNone/>
            </a:pPr>
            <a:r>
              <a:rPr lang="en-US" altLang="zh-CN" sz="2400" dirty="0">
                <a:solidFill>
                  <a:schemeClr val="bg2"/>
                </a:solidFill>
                <a:effectLst/>
                <a:cs typeface="Courier New" panose="02070309020205020404" pitchFamily="49" charset="0"/>
              </a:rPr>
              <a:t>   if (S-&gt;value &lt; 0) {</a:t>
            </a:r>
            <a:br>
              <a:rPr lang="en-US" altLang="zh-CN" sz="2400" dirty="0">
                <a:solidFill>
                  <a:schemeClr val="bg2"/>
                </a:solidFill>
                <a:effectLst/>
                <a:cs typeface="Courier New" panose="02070309020205020404" pitchFamily="49" charset="0"/>
              </a:rPr>
            </a:br>
            <a:r>
              <a:rPr lang="en-US" altLang="zh-CN" sz="2400" dirty="0">
                <a:solidFill>
                  <a:schemeClr val="bg2"/>
                </a:solidFill>
                <a:effectLst/>
                <a:cs typeface="Courier New" panose="02070309020205020404" pitchFamily="49" charset="0"/>
              </a:rPr>
              <a:t>      add this process to S-&gt;list; </a:t>
            </a:r>
          </a:p>
          <a:p>
            <a:pPr marL="0" indent="0">
              <a:spcBef>
                <a:spcPts val="0"/>
              </a:spcBef>
              <a:buNone/>
            </a:pPr>
            <a:r>
              <a:rPr lang="en-US" altLang="zh-CN" sz="2400" dirty="0">
                <a:solidFill>
                  <a:schemeClr val="bg2"/>
                </a:solidFill>
                <a:effectLst/>
                <a:cs typeface="Courier New" panose="02070309020205020404" pitchFamily="49" charset="0"/>
              </a:rPr>
              <a:t>      block(); </a:t>
            </a:r>
          </a:p>
          <a:p>
            <a:pPr marL="0" indent="0">
              <a:spcBef>
                <a:spcPts val="0"/>
              </a:spcBef>
              <a:buNone/>
            </a:pPr>
            <a:r>
              <a:rPr lang="en-US" altLang="zh-CN" sz="2400" dirty="0">
                <a:solidFill>
                  <a:schemeClr val="bg2"/>
                </a:solidFill>
                <a:effectLst/>
                <a:cs typeface="Courier New" panose="02070309020205020404" pitchFamily="49" charset="0"/>
              </a:rPr>
              <a:t>   } </a:t>
            </a:r>
          </a:p>
          <a:p>
            <a:pPr marL="0" indent="0">
              <a:spcBef>
                <a:spcPts val="0"/>
              </a:spcBef>
              <a:buNone/>
            </a:pPr>
            <a:r>
              <a:rPr lang="en-US" altLang="zh-CN" sz="2400" dirty="0">
                <a:solidFill>
                  <a:schemeClr val="bg2"/>
                </a:solidFill>
                <a:effectLst/>
                <a:cs typeface="Courier New" panose="02070309020205020404" pitchFamily="49" charset="0"/>
              </a:rPr>
              <a:t>}</a:t>
            </a:r>
            <a:r>
              <a:rPr lang="en-US" altLang="zh-CN" sz="2000" b="1" kern="0" dirty="0">
                <a:solidFill>
                  <a:schemeClr val="bg2"/>
                </a:solidFill>
                <a:effectLst/>
                <a:cs typeface="Courier New" panose="02070309020205020404" pitchFamily="49" charset="0"/>
              </a:rPr>
              <a:t> </a:t>
            </a:r>
            <a:endParaRPr lang="en-US" altLang="zh-CN" b="0" kern="0" dirty="0"/>
          </a:p>
        </p:txBody>
      </p:sp>
      <p:sp>
        <p:nvSpPr>
          <p:cNvPr id="9" name="Content Placeholder 2">
            <a:extLst>
              <a:ext uri="{FF2B5EF4-FFF2-40B4-BE49-F238E27FC236}">
                <a16:creationId xmlns:a16="http://schemas.microsoft.com/office/drawing/2014/main" id="{811BC441-0DE9-4ACB-8661-F27FD11596CA}"/>
              </a:ext>
            </a:extLst>
          </p:cNvPr>
          <p:cNvSpPr txBox="1">
            <a:spLocks/>
          </p:cNvSpPr>
          <p:nvPr/>
        </p:nvSpPr>
        <p:spPr>
          <a:xfrm>
            <a:off x="4806411" y="2804586"/>
            <a:ext cx="4242343" cy="2712646"/>
          </a:xfrm>
          <a:prstGeom prst="rect">
            <a:avLst/>
          </a:prstGeom>
          <a:solidFill>
            <a:schemeClr val="tx1">
              <a:lumMod val="85000"/>
            </a:schemeClr>
          </a:solid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indent="0">
              <a:spcBef>
                <a:spcPts val="0"/>
              </a:spcBef>
              <a:buNone/>
            </a:pPr>
            <a:r>
              <a:rPr lang="en-US" altLang="zh-CN" sz="2400" dirty="0">
                <a:solidFill>
                  <a:schemeClr val="bg1"/>
                </a:solidFill>
                <a:effectLst/>
                <a:cs typeface="Courier New" panose="02070309020205020404" pitchFamily="49" charset="0"/>
              </a:rPr>
              <a:t>signal</a:t>
            </a:r>
            <a:r>
              <a:rPr lang="en-US" altLang="zh-CN" sz="2400" dirty="0">
                <a:solidFill>
                  <a:schemeClr val="bg2"/>
                </a:solidFill>
                <a:effectLst/>
                <a:cs typeface="Courier New" panose="02070309020205020404" pitchFamily="49" charset="0"/>
              </a:rPr>
              <a:t>(</a:t>
            </a:r>
            <a:r>
              <a:rPr lang="en-US" altLang="zh-CN" sz="2400" dirty="0">
                <a:solidFill>
                  <a:srgbClr val="FF0000"/>
                </a:solidFill>
                <a:effectLst/>
                <a:cs typeface="Courier New" panose="02070309020205020404" pitchFamily="49" charset="0"/>
              </a:rPr>
              <a:t>semaphore</a:t>
            </a:r>
            <a:r>
              <a:rPr lang="en-US" altLang="zh-CN" sz="2400" dirty="0">
                <a:solidFill>
                  <a:schemeClr val="bg2"/>
                </a:solidFill>
                <a:effectLst/>
                <a:cs typeface="Courier New" panose="02070309020205020404" pitchFamily="49" charset="0"/>
              </a:rPr>
              <a:t> *S) { </a:t>
            </a:r>
          </a:p>
          <a:p>
            <a:pPr marL="0" indent="0">
              <a:spcBef>
                <a:spcPts val="0"/>
              </a:spcBef>
              <a:buNone/>
            </a:pPr>
            <a:r>
              <a:rPr lang="en-US" altLang="zh-CN" sz="2400" dirty="0">
                <a:solidFill>
                  <a:schemeClr val="bg2"/>
                </a:solidFill>
                <a:effectLst/>
                <a:cs typeface="Courier New" panose="02070309020205020404" pitchFamily="49" charset="0"/>
              </a:rPr>
              <a:t>   S-&gt;value++; </a:t>
            </a:r>
          </a:p>
          <a:p>
            <a:pPr marL="0" indent="0">
              <a:spcBef>
                <a:spcPts val="0"/>
              </a:spcBef>
              <a:buNone/>
            </a:pPr>
            <a:r>
              <a:rPr lang="en-US" altLang="zh-CN" sz="2400" dirty="0">
                <a:solidFill>
                  <a:schemeClr val="bg2"/>
                </a:solidFill>
                <a:effectLst/>
                <a:cs typeface="Courier New" panose="02070309020205020404" pitchFamily="49" charset="0"/>
              </a:rPr>
              <a:t>   if (S-&gt;value &lt;= 0) {</a:t>
            </a:r>
            <a:br>
              <a:rPr lang="en-US" altLang="zh-CN" sz="2400" dirty="0">
                <a:solidFill>
                  <a:schemeClr val="bg2"/>
                </a:solidFill>
                <a:effectLst/>
                <a:cs typeface="Courier New" panose="02070309020205020404" pitchFamily="49" charset="0"/>
              </a:rPr>
            </a:br>
            <a:r>
              <a:rPr lang="en-US" altLang="zh-CN" sz="2400" dirty="0">
                <a:solidFill>
                  <a:schemeClr val="bg2"/>
                </a:solidFill>
                <a:effectLst/>
                <a:cs typeface="Courier New" panose="02070309020205020404" pitchFamily="49" charset="0"/>
              </a:rPr>
              <a:t>      </a:t>
            </a:r>
            <a:r>
              <a:rPr lang="en-US" altLang="zh-CN" sz="2000" dirty="0">
                <a:solidFill>
                  <a:schemeClr val="bg2"/>
                </a:solidFill>
                <a:effectLst/>
                <a:cs typeface="Courier New" panose="02070309020205020404" pitchFamily="49" charset="0"/>
              </a:rPr>
              <a:t>remove a process P from S-&gt;list; </a:t>
            </a:r>
          </a:p>
          <a:p>
            <a:pPr marL="0" indent="0">
              <a:spcBef>
                <a:spcPts val="0"/>
              </a:spcBef>
              <a:buNone/>
            </a:pPr>
            <a:r>
              <a:rPr lang="en-US" altLang="zh-CN" sz="2400" dirty="0">
                <a:solidFill>
                  <a:schemeClr val="bg2"/>
                </a:solidFill>
                <a:effectLst/>
                <a:cs typeface="Courier New" panose="02070309020205020404" pitchFamily="49" charset="0"/>
              </a:rPr>
              <a:t>      wakeup(P); </a:t>
            </a:r>
          </a:p>
          <a:p>
            <a:pPr marL="0" indent="0">
              <a:spcBef>
                <a:spcPts val="0"/>
              </a:spcBef>
              <a:buNone/>
            </a:pPr>
            <a:r>
              <a:rPr lang="en-US" altLang="zh-CN" sz="2400" dirty="0">
                <a:solidFill>
                  <a:schemeClr val="bg2"/>
                </a:solidFill>
                <a:effectLst/>
                <a:cs typeface="Courier New" panose="02070309020205020404" pitchFamily="49" charset="0"/>
              </a:rPr>
              <a:t>   } </a:t>
            </a:r>
          </a:p>
          <a:p>
            <a:pPr marL="0" indent="0">
              <a:spcBef>
                <a:spcPts val="0"/>
              </a:spcBef>
              <a:buNone/>
            </a:pPr>
            <a:r>
              <a:rPr lang="en-US" altLang="zh-CN" sz="2400" dirty="0">
                <a:solidFill>
                  <a:schemeClr val="bg2"/>
                </a:solidFill>
                <a:effectLst/>
                <a:cs typeface="Courier New" panose="02070309020205020404" pitchFamily="49" charset="0"/>
              </a:rPr>
              <a:t>}</a:t>
            </a:r>
            <a:endParaRPr lang="en-US" altLang="zh-CN" b="0" kern="0" dirty="0"/>
          </a:p>
        </p:txBody>
      </p:sp>
      <p:sp>
        <p:nvSpPr>
          <p:cNvPr id="10" name="矩形 9">
            <a:extLst>
              <a:ext uri="{FF2B5EF4-FFF2-40B4-BE49-F238E27FC236}">
                <a16:creationId xmlns:a16="http://schemas.microsoft.com/office/drawing/2014/main" id="{B646A8DC-748E-4B81-9CA1-74200EA8FA98}"/>
              </a:ext>
            </a:extLst>
          </p:cNvPr>
          <p:cNvSpPr/>
          <p:nvPr/>
        </p:nvSpPr>
        <p:spPr bwMode="auto">
          <a:xfrm>
            <a:off x="414615" y="4293097"/>
            <a:ext cx="1490386" cy="463410"/>
          </a:xfrm>
          <a:prstGeom prst="rect">
            <a:avLst/>
          </a:prstGeom>
          <a:solidFill>
            <a:srgbClr val="30D204">
              <a:alpha val="23137"/>
            </a:srgb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11" name="对话气泡: 圆角矩形 10">
            <a:extLst>
              <a:ext uri="{FF2B5EF4-FFF2-40B4-BE49-F238E27FC236}">
                <a16:creationId xmlns:a16="http://schemas.microsoft.com/office/drawing/2014/main" id="{BB035BE3-F839-449F-A436-52F79CE63D71}"/>
              </a:ext>
            </a:extLst>
          </p:cNvPr>
          <p:cNvSpPr/>
          <p:nvPr/>
        </p:nvSpPr>
        <p:spPr bwMode="auto">
          <a:xfrm>
            <a:off x="1266319" y="5250765"/>
            <a:ext cx="2482217" cy="482491"/>
          </a:xfrm>
          <a:prstGeom prst="wedgeRoundRectCallout">
            <a:avLst>
              <a:gd name="adj1" fmla="val -37716"/>
              <a:gd name="adj2" fmla="val -150636"/>
              <a:gd name="adj3" fmla="val 16667"/>
            </a:avLst>
          </a:prstGeom>
          <a:solidFill>
            <a:srgbClr val="30D204"/>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92075" indent="-92075">
              <a:lnSpc>
                <a:spcPct val="110000"/>
              </a:lnSpc>
              <a:spcBef>
                <a:spcPct val="20000"/>
              </a:spcBef>
              <a:buClr>
                <a:schemeClr val="folHlink"/>
              </a:buClr>
              <a:buSzPct val="75000"/>
            </a:pPr>
            <a:r>
              <a:rPr lang="zh-CN" altLang="en-US" sz="2400" dirty="0">
                <a:solidFill>
                  <a:schemeClr val="bg2"/>
                </a:solidFill>
              </a:rPr>
              <a:t>进程将自身阻塞</a:t>
            </a:r>
            <a:endParaRPr lang="en-US" altLang="zh-CN" sz="2400" dirty="0">
              <a:solidFill>
                <a:schemeClr val="bg2"/>
              </a:solidFill>
            </a:endParaRPr>
          </a:p>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dirty="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12" name="矩形 11">
            <a:extLst>
              <a:ext uri="{FF2B5EF4-FFF2-40B4-BE49-F238E27FC236}">
                <a16:creationId xmlns:a16="http://schemas.microsoft.com/office/drawing/2014/main" id="{E1C71A58-7219-4776-990E-412B5A02DEA6}"/>
              </a:ext>
            </a:extLst>
          </p:cNvPr>
          <p:cNvSpPr/>
          <p:nvPr/>
        </p:nvSpPr>
        <p:spPr bwMode="auto">
          <a:xfrm>
            <a:off x="5220072" y="4262352"/>
            <a:ext cx="1944216" cy="494156"/>
          </a:xfrm>
          <a:prstGeom prst="rect">
            <a:avLst/>
          </a:prstGeom>
          <a:solidFill>
            <a:srgbClr val="30D204">
              <a:alpha val="23137"/>
            </a:srgb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13" name="对话气泡: 圆角矩形 12">
            <a:extLst>
              <a:ext uri="{FF2B5EF4-FFF2-40B4-BE49-F238E27FC236}">
                <a16:creationId xmlns:a16="http://schemas.microsoft.com/office/drawing/2014/main" id="{1CF1A91C-C72F-4CEE-ABF2-4E0213E84846}"/>
              </a:ext>
            </a:extLst>
          </p:cNvPr>
          <p:cNvSpPr/>
          <p:nvPr/>
        </p:nvSpPr>
        <p:spPr bwMode="auto">
          <a:xfrm>
            <a:off x="5040072" y="5022401"/>
            <a:ext cx="4015451" cy="494831"/>
          </a:xfrm>
          <a:prstGeom prst="wedgeRoundRectCallout">
            <a:avLst>
              <a:gd name="adj1" fmla="val -17906"/>
              <a:gd name="adj2" fmla="val -112979"/>
              <a:gd name="adj3" fmla="val 16667"/>
            </a:avLst>
          </a:prstGeom>
          <a:solidFill>
            <a:srgbClr val="30D204"/>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92075" indent="-92075">
              <a:lnSpc>
                <a:spcPct val="110000"/>
              </a:lnSpc>
              <a:spcBef>
                <a:spcPts val="0"/>
              </a:spcBef>
              <a:buClr>
                <a:schemeClr val="folHlink"/>
              </a:buClr>
              <a:buSzPct val="75000"/>
            </a:pPr>
            <a:r>
              <a:rPr lang="zh-CN" altLang="en-US" sz="2400" dirty="0">
                <a:solidFill>
                  <a:schemeClr val="bg2"/>
                </a:solidFill>
              </a:rPr>
              <a:t>将进程</a:t>
            </a:r>
            <a:r>
              <a:rPr lang="en-US" altLang="zh-CN" sz="2400" dirty="0">
                <a:solidFill>
                  <a:schemeClr val="bg2"/>
                </a:solidFill>
                <a:latin typeface="+mn-lt"/>
              </a:rPr>
              <a:t>P</a:t>
            </a:r>
            <a:r>
              <a:rPr lang="zh-CN" altLang="en-US" sz="2400" dirty="0">
                <a:solidFill>
                  <a:schemeClr val="bg2"/>
                </a:solidFill>
                <a:latin typeface="+mn-lt"/>
              </a:rPr>
              <a:t>从</a:t>
            </a:r>
            <a:r>
              <a:rPr lang="en-US" altLang="zh-CN" sz="2400" dirty="0">
                <a:solidFill>
                  <a:schemeClr val="bg2"/>
                </a:solidFill>
                <a:latin typeface="+mn-lt"/>
              </a:rPr>
              <a:t>S</a:t>
            </a:r>
            <a:r>
              <a:rPr lang="zh-CN" altLang="en-US" sz="2400" dirty="0">
                <a:solidFill>
                  <a:schemeClr val="bg2"/>
                </a:solidFill>
                <a:latin typeface="+mn-lt"/>
              </a:rPr>
              <a:t>的等</a:t>
            </a:r>
            <a:r>
              <a:rPr lang="zh-CN" altLang="en-US" sz="2400" dirty="0">
                <a:solidFill>
                  <a:schemeClr val="bg2"/>
                </a:solidFill>
              </a:rPr>
              <a:t>待队列唤醒</a:t>
            </a:r>
            <a:endParaRPr kumimoji="1" lang="zh-CN" altLang="en-US" sz="2400" b="1" i="0" u="none" strike="noStrike" cap="none" normalizeH="0" baseline="0" dirty="0">
              <a:ln>
                <a:noFill/>
              </a:ln>
              <a:solidFill>
                <a:srgbClr val="FFFF00"/>
              </a:solidFill>
              <a:effectLst>
                <a:outerShdw blurRad="38100" dist="38100" dir="2700000" algn="tl">
                  <a:srgbClr val="000000">
                    <a:alpha val="43137"/>
                  </a:srgbClr>
                </a:outerShdw>
              </a:effectLst>
            </a:endParaRPr>
          </a:p>
        </p:txBody>
      </p:sp>
      <p:sp>
        <p:nvSpPr>
          <p:cNvPr id="14" name="文本框 13"/>
          <p:cNvSpPr txBox="1"/>
          <p:nvPr/>
        </p:nvSpPr>
        <p:spPr>
          <a:xfrm>
            <a:off x="7465115" y="11480"/>
            <a:ext cx="1656184" cy="400110"/>
          </a:xfrm>
          <a:prstGeom prst="rect">
            <a:avLst/>
          </a:prstGeom>
          <a:noFill/>
        </p:spPr>
        <p:txBody>
          <a:bodyPr wrap="square" rtlCol="0">
            <a:spAutoFit/>
          </a:bodyPr>
          <a:lstStyle/>
          <a:p>
            <a:pPr algn="ctr"/>
            <a:r>
              <a:rPr lang="zh-CN" altLang="en-US" sz="2000" dirty="0">
                <a:solidFill>
                  <a:schemeClr val="bg2"/>
                </a:solidFill>
                <a:latin typeface="+mn-lt"/>
              </a:rPr>
              <a:t>教材 </a:t>
            </a:r>
            <a:r>
              <a:rPr lang="en-US" altLang="zh-CN" sz="2000" dirty="0">
                <a:solidFill>
                  <a:schemeClr val="bg2"/>
                </a:solidFill>
                <a:latin typeface="+mn-lt"/>
              </a:rPr>
              <a:t>P146</a:t>
            </a:r>
            <a:endParaRPr lang="zh-CN" altLang="en-US" sz="2000" dirty="0">
              <a:solidFill>
                <a:schemeClr val="bg2"/>
              </a:solidFill>
              <a:latin typeface="+mn-lt"/>
            </a:endParaRPr>
          </a:p>
        </p:txBody>
      </p:sp>
      <p:sp>
        <p:nvSpPr>
          <p:cNvPr id="16" name="对话气泡: 圆角矩形 10">
            <a:extLst>
              <a:ext uri="{FF2B5EF4-FFF2-40B4-BE49-F238E27FC236}">
                <a16:creationId xmlns:a16="http://schemas.microsoft.com/office/drawing/2014/main" id="{BB035BE3-F839-449F-A436-52F79CE63D71}"/>
              </a:ext>
            </a:extLst>
          </p:cNvPr>
          <p:cNvSpPr/>
          <p:nvPr/>
        </p:nvSpPr>
        <p:spPr bwMode="auto">
          <a:xfrm>
            <a:off x="3054235" y="928648"/>
            <a:ext cx="1894801" cy="518553"/>
          </a:xfrm>
          <a:prstGeom prst="wedgeRoundRectCallout">
            <a:avLst>
              <a:gd name="adj1" fmla="val -59692"/>
              <a:gd name="adj2" fmla="val 121996"/>
              <a:gd name="adj3" fmla="val 16667"/>
            </a:avLst>
          </a:prstGeom>
          <a:solidFill>
            <a:srgbClr val="30D204"/>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457200" algn="ctr"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r>
              <a:rPr lang="zh-CN" altLang="en-US" sz="2800" dirty="0">
                <a:solidFill>
                  <a:schemeClr val="bg2"/>
                </a:solidFill>
              </a:rPr>
              <a:t>等待队列</a:t>
            </a:r>
          </a:p>
        </p:txBody>
      </p:sp>
      <p:sp>
        <p:nvSpPr>
          <p:cNvPr id="17" name="文本框 16"/>
          <p:cNvSpPr txBox="1"/>
          <p:nvPr/>
        </p:nvSpPr>
        <p:spPr>
          <a:xfrm>
            <a:off x="6431640" y="6488668"/>
            <a:ext cx="2270667" cy="369332"/>
          </a:xfrm>
          <a:prstGeom prst="rect">
            <a:avLst/>
          </a:prstGeom>
          <a:solidFill>
            <a:srgbClr val="9CA7F6"/>
          </a:solidFill>
        </p:spPr>
        <p:txBody>
          <a:bodyPr wrap="square" tIns="0" bIns="0" rtlCol="0">
            <a:spAutoFit/>
          </a:bodyPr>
          <a:lstStyle/>
          <a:p>
            <a:r>
              <a:rPr lang="zh-CN" altLang="en-US" sz="2400" dirty="0">
                <a:solidFill>
                  <a:schemeClr val="bg2"/>
                </a:solidFill>
                <a:latin typeface="+mn-lt"/>
              </a:rPr>
              <a:t>教材习题   </a:t>
            </a:r>
            <a:r>
              <a:rPr lang="en-US" altLang="zh-CN" sz="2400" dirty="0">
                <a:solidFill>
                  <a:schemeClr val="bg2"/>
                </a:solidFill>
                <a:latin typeface="+mn-lt"/>
              </a:rPr>
              <a:t>5.3</a:t>
            </a:r>
            <a:endParaRPr lang="zh-CN" altLang="en-US" sz="2400" dirty="0">
              <a:solidFill>
                <a:schemeClr val="bg2"/>
              </a:solidFill>
              <a:latin typeface="+mn-lt"/>
            </a:endParaRPr>
          </a:p>
        </p:txBody>
      </p:sp>
      <p:sp>
        <p:nvSpPr>
          <p:cNvPr id="2" name="文本框 1"/>
          <p:cNvSpPr txBox="1"/>
          <p:nvPr/>
        </p:nvSpPr>
        <p:spPr>
          <a:xfrm>
            <a:off x="0" y="5862475"/>
            <a:ext cx="9119699" cy="646331"/>
          </a:xfrm>
          <a:prstGeom prst="rect">
            <a:avLst/>
          </a:prstGeom>
          <a:solidFill>
            <a:srgbClr val="FFFF00"/>
          </a:solidFill>
          <a:ln>
            <a:solidFill>
              <a:srgbClr val="FFFF00"/>
            </a:solidFill>
          </a:ln>
        </p:spPr>
        <p:txBody>
          <a:bodyPr wrap="square" rtlCol="0">
            <a:spAutoFit/>
          </a:bodyPr>
          <a:lstStyle/>
          <a:p>
            <a:pPr algn="ctr"/>
            <a:r>
              <a:rPr lang="zh-CN" altLang="en-US" sz="3600" dirty="0">
                <a:solidFill>
                  <a:schemeClr val="bg2"/>
                </a:solidFill>
              </a:rPr>
              <a:t>出让</a:t>
            </a:r>
            <a:r>
              <a:rPr lang="en-US" altLang="zh-CN" sz="3600" dirty="0">
                <a:solidFill>
                  <a:schemeClr val="bg2"/>
                </a:solidFill>
              </a:rPr>
              <a:t>CPU, </a:t>
            </a:r>
            <a:r>
              <a:rPr lang="zh-CN" altLang="en-US" sz="3600" dirty="0">
                <a:solidFill>
                  <a:schemeClr val="bg2"/>
                </a:solidFill>
              </a:rPr>
              <a:t>进程切换</a:t>
            </a:r>
          </a:p>
        </p:txBody>
      </p:sp>
      <p:sp>
        <p:nvSpPr>
          <p:cNvPr id="15" name="AutoShape 27">
            <a:hlinkClick r:id="" action="ppaction://hlinkshowjump?jump=nextslide" highlightClick="1"/>
            <a:extLst>
              <a:ext uri="{FF2B5EF4-FFF2-40B4-BE49-F238E27FC236}">
                <a16:creationId xmlns:a16="http://schemas.microsoft.com/office/drawing/2014/main" id="{83F3D01E-FBBA-4018-AB78-92287B43C3F1}"/>
              </a:ext>
            </a:extLst>
          </p:cNvPr>
          <p:cNvSpPr>
            <a:spLocks noChangeArrowheads="1"/>
          </p:cNvSpPr>
          <p:nvPr/>
        </p:nvSpPr>
        <p:spPr bwMode="auto">
          <a:xfrm>
            <a:off x="8738699" y="6518739"/>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321512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dissolv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dissolve">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dissolv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dissolve">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fade">
                                      <p:cBhvr>
                                        <p:cTn id="46" dur="500"/>
                                        <p:tgtEl>
                                          <p:spTgt spid="2"/>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1000"/>
                                        <p:tgtEl>
                                          <p:spTgt spid="17"/>
                                        </p:tgtEl>
                                      </p:cBhvr>
                                    </p:animEffect>
                                    <p:anim calcmode="lin" valueType="num">
                                      <p:cBhvr>
                                        <p:cTn id="52" dur="1000" fill="hold"/>
                                        <p:tgtEl>
                                          <p:spTgt spid="17"/>
                                        </p:tgtEl>
                                        <p:attrNameLst>
                                          <p:attrName>ppt_x</p:attrName>
                                        </p:attrNameLst>
                                      </p:cBhvr>
                                      <p:tavLst>
                                        <p:tav tm="0">
                                          <p:val>
                                            <p:strVal val="#ppt_x"/>
                                          </p:val>
                                        </p:tav>
                                        <p:tav tm="100000">
                                          <p:val>
                                            <p:strVal val="#ppt_x"/>
                                          </p:val>
                                        </p:tav>
                                      </p:tavLst>
                                    </p:anim>
                                    <p:anim calcmode="lin" valueType="num">
                                      <p:cBhvr>
                                        <p:cTn id="53" dur="1000" fill="hold"/>
                                        <p:tgtEl>
                                          <p:spTgt spid="17"/>
                                        </p:tgtEl>
                                        <p:attrNameLst>
                                          <p:attrName>ppt_y</p:attrName>
                                        </p:attrNameLst>
                                      </p:cBhvr>
                                      <p:tavLst>
                                        <p:tav tm="0">
                                          <p:val>
                                            <p:strVal val="#ppt_y+.1"/>
                                          </p:val>
                                        </p:tav>
                                        <p:tav tm="100000">
                                          <p:val>
                                            <p:strVal val="#ppt_y"/>
                                          </p:val>
                                        </p:tav>
                                      </p:tavLst>
                                    </p:anim>
                                  </p:childTnLst>
                                </p:cTn>
                              </p:par>
                            </p:childTnLst>
                          </p:cTn>
                        </p:par>
                        <p:par>
                          <p:cTn id="54" fill="hold">
                            <p:stCondLst>
                              <p:cond delay="1000"/>
                            </p:stCondLst>
                            <p:childTnLst>
                              <p:par>
                                <p:cTn id="55" presetID="2" presetClass="entr" presetSubtype="6" fill="hold" grpId="0" nodeType="after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500" fill="hold"/>
                                        <p:tgtEl>
                                          <p:spTgt spid="15"/>
                                        </p:tgtEl>
                                        <p:attrNameLst>
                                          <p:attrName>ppt_x</p:attrName>
                                        </p:attrNameLst>
                                      </p:cBhvr>
                                      <p:tavLst>
                                        <p:tav tm="0">
                                          <p:val>
                                            <p:strVal val="1+#ppt_w/2"/>
                                          </p:val>
                                        </p:tav>
                                        <p:tav tm="100000">
                                          <p:val>
                                            <p:strVal val="#ppt_x"/>
                                          </p:val>
                                        </p:tav>
                                      </p:tavLst>
                                    </p:anim>
                                    <p:anim calcmode="lin" valueType="num">
                                      <p:cBhvr additive="base">
                                        <p:cTn id="5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6" grpId="0" animBg="1"/>
      <p:bldP spid="17" grpId="0" animBg="1"/>
      <p:bldP spid="2" grpId="0" animBg="1"/>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66F7832-FF1D-4CC6-A2E5-9B4A718D6417}"/>
              </a:ext>
            </a:extLst>
          </p:cNvPr>
          <p:cNvSpPr>
            <a:spLocks noGrp="1"/>
          </p:cNvSpPr>
          <p:nvPr>
            <p:ph type="dt" sz="half" idx="10"/>
          </p:nvPr>
        </p:nvSpPr>
        <p:spPr/>
        <p:txBody>
          <a:bodyPr/>
          <a:lstStyle/>
          <a:p>
            <a:pPr>
              <a:defRPr/>
            </a:pPr>
            <a:fld id="{0F3703A3-1889-4D5A-B002-82B1611E7DF6}" type="datetime1">
              <a:rPr lang="zh-CN" altLang="en-US" smtClean="0"/>
              <a:pPr>
                <a:defRPr/>
              </a:pPr>
              <a:t>2024/10/9</a:t>
            </a:fld>
            <a:endParaRPr lang="en-US" altLang="zh-CN"/>
          </a:p>
        </p:txBody>
      </p:sp>
      <p:sp>
        <p:nvSpPr>
          <p:cNvPr id="3" name="灯片编号占位符 2">
            <a:extLst>
              <a:ext uri="{FF2B5EF4-FFF2-40B4-BE49-F238E27FC236}">
                <a16:creationId xmlns:a16="http://schemas.microsoft.com/office/drawing/2014/main" id="{B62B57E0-6845-429D-A6EB-2E85BB7D5B27}"/>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23</a:t>
            </a:fld>
            <a:r>
              <a:rPr lang="zh-CN" altLang="en-US"/>
              <a:t> 页</a:t>
            </a:r>
          </a:p>
        </p:txBody>
      </p:sp>
      <p:sp>
        <p:nvSpPr>
          <p:cNvPr id="4" name="矩形 3">
            <a:extLst>
              <a:ext uri="{FF2B5EF4-FFF2-40B4-BE49-F238E27FC236}">
                <a16:creationId xmlns:a16="http://schemas.microsoft.com/office/drawing/2014/main" id="{E4286D7B-35D6-41E3-8123-17A7005634C2}"/>
              </a:ext>
            </a:extLst>
          </p:cNvPr>
          <p:cNvSpPr/>
          <p:nvPr/>
        </p:nvSpPr>
        <p:spPr>
          <a:xfrm>
            <a:off x="1649565" y="0"/>
            <a:ext cx="5844870" cy="760336"/>
          </a:xfrm>
          <a:prstGeom prst="rect">
            <a:avLst/>
          </a:prstGeom>
        </p:spPr>
        <p:txBody>
          <a:bodyPr wrap="none">
            <a:spAutoFit/>
          </a:bodyPr>
          <a:lstStyle/>
          <a:p>
            <a:pPr marL="0" lvl="1" indent="-274638" eaLnBrk="1" hangingPunct="1">
              <a:lnSpc>
                <a:spcPct val="120000"/>
              </a:lnSpc>
              <a:buClr>
                <a:schemeClr val="folHlink"/>
              </a:buClr>
              <a:buSzPct val="75000"/>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公用信号量和私用信号量</a:t>
            </a:r>
            <a:endPar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5" name="Rectangle 3">
            <a:extLst>
              <a:ext uri="{FF2B5EF4-FFF2-40B4-BE49-F238E27FC236}">
                <a16:creationId xmlns:a16="http://schemas.microsoft.com/office/drawing/2014/main" id="{EAD00587-A9FF-4EE2-9428-651E618C701E}"/>
              </a:ext>
            </a:extLst>
          </p:cNvPr>
          <p:cNvSpPr txBox="1">
            <a:spLocks noChangeArrowheads="1"/>
          </p:cNvSpPr>
          <p:nvPr/>
        </p:nvSpPr>
        <p:spPr>
          <a:xfrm>
            <a:off x="1" y="908050"/>
            <a:ext cx="9144000" cy="4177134"/>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公用信号量</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rgbClr val="996633"/>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mj-cs"/>
              </a:rPr>
              <a:t>互斥信号量（互斥锁、互斥量）</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effectLst/>
                <a:ea typeface="楷体" panose="02010609060101010101" pitchFamily="49" charset="-122"/>
              </a:rPr>
              <a:t>联系着一组并发线程，初值为</a:t>
            </a:r>
            <a:r>
              <a:rPr lang="en-US" altLang="zh-CN" sz="3200" dirty="0">
                <a:solidFill>
                  <a:schemeClr val="bg2"/>
                </a:solidFill>
                <a:effectLst/>
                <a:ea typeface="楷体" panose="02010609060101010101" pitchFamily="49" charset="-122"/>
              </a:rPr>
              <a:t>1</a:t>
            </a:r>
            <a:r>
              <a:rPr lang="zh-CN" altLang="en-US" sz="3200" dirty="0">
                <a:solidFill>
                  <a:schemeClr val="bg2"/>
                </a:solidFill>
                <a:effectLst/>
                <a:ea typeface="楷体" panose="02010609060101010101" pitchFamily="49" charset="-122"/>
              </a:rPr>
              <a:t>，每个线程均可施加</a:t>
            </a:r>
            <a:r>
              <a:rPr lang="en-US" altLang="zh-CN" sz="3200" dirty="0">
                <a:solidFill>
                  <a:schemeClr val="bg2"/>
                </a:solidFill>
                <a:effectLst/>
                <a:ea typeface="楷体" panose="02010609060101010101" pitchFamily="49" charset="-122"/>
              </a:rPr>
              <a:t>P</a:t>
            </a:r>
            <a:r>
              <a:rPr lang="zh-CN" altLang="en-US" sz="3200" dirty="0">
                <a:solidFill>
                  <a:schemeClr val="bg2"/>
                </a:solidFill>
                <a:effectLst/>
                <a:ea typeface="楷体" panose="02010609060101010101" pitchFamily="49" charset="-122"/>
              </a:rPr>
              <a:t>、</a:t>
            </a:r>
            <a:r>
              <a:rPr lang="en-US" altLang="zh-CN" sz="3200" dirty="0">
                <a:solidFill>
                  <a:schemeClr val="bg2"/>
                </a:solidFill>
                <a:effectLst/>
                <a:ea typeface="楷体" panose="02010609060101010101" pitchFamily="49" charset="-122"/>
              </a:rPr>
              <a:t>V</a:t>
            </a:r>
            <a:r>
              <a:rPr lang="zh-CN" altLang="en-US" sz="3200" dirty="0">
                <a:solidFill>
                  <a:schemeClr val="bg2"/>
                </a:solidFill>
                <a:effectLst/>
                <a:ea typeface="楷体" panose="02010609060101010101" pitchFamily="49" charset="-122"/>
              </a:rPr>
              <a:t>操作。</a:t>
            </a:r>
            <a:endParaRPr lang="en-US" altLang="zh-CN" sz="3200" dirty="0">
              <a:solidFill>
                <a:schemeClr val="bg2"/>
              </a:solidFill>
              <a:effectLst/>
              <a:ea typeface="楷体" panose="02010609060101010101" pitchFamily="49" charset="-122"/>
            </a:endParaRPr>
          </a:p>
          <a:p>
            <a:pPr marL="355600" lvl="2" indent="-355600" defTabSz="355600">
              <a:lnSpc>
                <a:spcPct val="90000"/>
              </a:lnSpc>
              <a:spcBef>
                <a:spcPct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私用信号量</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effectLst/>
                <a:ea typeface="楷体" panose="02010609060101010101" pitchFamily="49" charset="-122"/>
              </a:rPr>
              <a:t>用于</a:t>
            </a:r>
            <a:r>
              <a:rPr lang="zh-CN" altLang="en-US" sz="3200" dirty="0">
                <a:solidFill>
                  <a:srgbClr val="996633"/>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mj-cs"/>
              </a:rPr>
              <a:t>线程同步</a:t>
            </a:r>
            <a:r>
              <a:rPr lang="zh-CN" altLang="en-US" sz="3200" dirty="0">
                <a:solidFill>
                  <a:schemeClr val="bg2"/>
                </a:solidFill>
                <a:effectLst/>
                <a:ea typeface="楷体" panose="02010609060101010101" pitchFamily="49" charset="-122"/>
              </a:rPr>
              <a:t>，在制约和被制约线程之间。</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effectLst/>
                <a:ea typeface="楷体" panose="02010609060101010101" pitchFamily="49" charset="-122"/>
              </a:rPr>
              <a:t>初值：</a:t>
            </a:r>
            <a:r>
              <a:rPr lang="en-US" altLang="zh-CN" sz="3200" dirty="0">
                <a:solidFill>
                  <a:schemeClr val="bg2"/>
                </a:solidFill>
                <a:effectLst/>
                <a:ea typeface="楷体" panose="02010609060101010101" pitchFamily="49" charset="-122"/>
              </a:rPr>
              <a:t>0</a:t>
            </a:r>
            <a:r>
              <a:rPr lang="zh-CN" altLang="en-US" sz="3200" dirty="0">
                <a:solidFill>
                  <a:schemeClr val="bg2"/>
                </a:solidFill>
                <a:effectLst/>
                <a:ea typeface="楷体" panose="02010609060101010101" pitchFamily="49" charset="-122"/>
              </a:rPr>
              <a:t>或某个正整数 </a:t>
            </a:r>
            <a:r>
              <a:rPr lang="en-US" altLang="zh-CN" sz="3200" dirty="0">
                <a:solidFill>
                  <a:schemeClr val="bg2"/>
                </a:solidFill>
                <a:effectLst/>
                <a:ea typeface="楷体" panose="02010609060101010101" pitchFamily="49" charset="-122"/>
              </a:rPr>
              <a:t>n</a:t>
            </a:r>
            <a:r>
              <a:rPr lang="zh-CN" altLang="en-US" sz="3200" dirty="0">
                <a:solidFill>
                  <a:schemeClr val="bg2"/>
                </a:solidFill>
                <a:effectLst/>
                <a:ea typeface="楷体" panose="02010609060101010101" pitchFamily="49" charset="-122"/>
              </a:rPr>
              <a:t>，表示资源的数目。只允许拥有它的线程施加</a:t>
            </a:r>
            <a:r>
              <a:rPr lang="en-US" altLang="zh-CN" sz="3200" dirty="0">
                <a:solidFill>
                  <a:schemeClr val="bg2"/>
                </a:solidFill>
                <a:effectLst/>
                <a:ea typeface="楷体" panose="02010609060101010101" pitchFamily="49" charset="-122"/>
              </a:rPr>
              <a:t>P</a:t>
            </a:r>
            <a:r>
              <a:rPr lang="zh-CN" altLang="en-US" sz="3200" dirty="0">
                <a:solidFill>
                  <a:schemeClr val="bg2"/>
                </a:solidFill>
                <a:effectLst/>
                <a:ea typeface="楷体" panose="02010609060101010101" pitchFamily="49" charset="-122"/>
              </a:rPr>
              <a:t>操作</a:t>
            </a:r>
          </a:p>
          <a:p>
            <a:pPr lvl="1" eaLnBrk="1" hangingPunct="1">
              <a:defRPr/>
            </a:pPr>
            <a:endParaRPr lang="zh-CN" altLang="en-US" b="1" kern="0" dirty="0">
              <a:ea typeface="楷体_GB2312" pitchFamily="49" charset="-122"/>
            </a:endParaRP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938988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heckerboard(across)">
                                      <p:cBhvr>
                                        <p:cTn id="7" dur="500"/>
                                        <p:tgtEl>
                                          <p:spTgt spid="5">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checkerboard(across)">
                                      <p:cBhvr>
                                        <p:cTn id="10" dur="500"/>
                                        <p:tgtEl>
                                          <p:spTgt spid="5">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checkerboard(across)">
                                      <p:cBhvr>
                                        <p:cTn id="13" dur="500"/>
                                        <p:tgtEl>
                                          <p:spTgt spid="5">
                                            <p:txEl>
                                              <p:pRg st="2" end="2"/>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checkerboard(across)">
                                      <p:cBhvr>
                                        <p:cTn id="16" dur="500"/>
                                        <p:tgtEl>
                                          <p:spTgt spid="5">
                                            <p:txEl>
                                              <p:pRg st="3" end="3"/>
                                            </p:txEl>
                                          </p:spTgt>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checkerboard(across)">
                                      <p:cBhvr>
                                        <p:cTn id="19" dur="500"/>
                                        <p:tgtEl>
                                          <p:spTgt spid="5">
                                            <p:txEl>
                                              <p:pRg st="4" end="4"/>
                                            </p:txEl>
                                          </p:spTgt>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checkerboard(across)">
                                      <p:cBhvr>
                                        <p:cTn id="22" dur="500"/>
                                        <p:tgtEl>
                                          <p:spTgt spid="5">
                                            <p:txEl>
                                              <p:pRg st="5" end="5"/>
                                            </p:txEl>
                                          </p:spTgt>
                                        </p:tgtEl>
                                      </p:cBhvr>
                                    </p:animEffect>
                                  </p:childTnLst>
                                </p:cTn>
                              </p:par>
                            </p:childTnLst>
                          </p:cTn>
                        </p:par>
                        <p:par>
                          <p:cTn id="23" fill="hold">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1+#ppt_w/2"/>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2"/>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33978" y="1030168"/>
            <a:ext cx="9010022" cy="2343259"/>
            <a:chOff x="133978" y="1158757"/>
            <a:chExt cx="9010022" cy="2343259"/>
          </a:xfrm>
        </p:grpSpPr>
        <p:sp>
          <p:nvSpPr>
            <p:cNvPr id="5" name="文本框 4">
              <a:extLst>
                <a:ext uri="{FF2B5EF4-FFF2-40B4-BE49-F238E27FC236}">
                  <a16:creationId xmlns:a16="http://schemas.microsoft.com/office/drawing/2014/main" id="{ED6373EC-40DB-4FED-B8AE-3FDB36B4DEDC}"/>
                </a:ext>
              </a:extLst>
            </p:cNvPr>
            <p:cNvSpPr txBox="1"/>
            <p:nvPr/>
          </p:nvSpPr>
          <p:spPr>
            <a:xfrm>
              <a:off x="133978" y="3101906"/>
              <a:ext cx="8694712" cy="400110"/>
            </a:xfrm>
            <a:prstGeom prst="rect">
              <a:avLst/>
            </a:prstGeom>
            <a:noFill/>
          </p:spPr>
          <p:txBody>
            <a:bodyPr wrap="square" rtlCol="0">
              <a:spAutoFit/>
            </a:bodyPr>
            <a:lstStyle/>
            <a:p>
              <a:pPr algn="ctr"/>
              <a:r>
                <a:rPr lang="zh-CN" altLang="en-US" sz="2000" dirty="0">
                  <a:solidFill>
                    <a:schemeClr val="bg2"/>
                  </a:solidFill>
                </a:rPr>
                <a:t>操作系统精髓与设计原理 （第</a:t>
              </a:r>
              <a:r>
                <a:rPr lang="en-US" altLang="zh-CN" sz="2000" dirty="0">
                  <a:solidFill>
                    <a:schemeClr val="bg2"/>
                  </a:solidFill>
                </a:rPr>
                <a:t>8</a:t>
              </a:r>
              <a:r>
                <a:rPr lang="zh-CN" altLang="en-US" sz="2000" dirty="0">
                  <a:solidFill>
                    <a:schemeClr val="bg2"/>
                  </a:solidFill>
                </a:rPr>
                <a:t>版 中译版） </a:t>
              </a:r>
              <a:r>
                <a:rPr lang="en-US" altLang="zh-CN" sz="2000" dirty="0">
                  <a:solidFill>
                    <a:schemeClr val="bg2"/>
                  </a:solidFill>
                </a:rPr>
                <a:t>P138</a:t>
              </a:r>
              <a:endParaRPr lang="zh-CN" altLang="en-US" sz="2000" dirty="0">
                <a:solidFill>
                  <a:schemeClr val="bg2"/>
                </a:solidFill>
              </a:endParaRPr>
            </a:p>
          </p:txBody>
        </p:sp>
        <p:sp>
          <p:nvSpPr>
            <p:cNvPr id="7" name="文本框 6">
              <a:extLst>
                <a:ext uri="{FF2B5EF4-FFF2-40B4-BE49-F238E27FC236}">
                  <a16:creationId xmlns:a16="http://schemas.microsoft.com/office/drawing/2014/main" id="{C05799DD-EC8B-4222-8C7D-408AE841443A}"/>
                </a:ext>
              </a:extLst>
            </p:cNvPr>
            <p:cNvSpPr txBox="1"/>
            <p:nvPr/>
          </p:nvSpPr>
          <p:spPr>
            <a:xfrm>
              <a:off x="251520" y="1158757"/>
              <a:ext cx="8892480" cy="1865126"/>
            </a:xfrm>
            <a:prstGeom prst="rect">
              <a:avLst/>
            </a:prstGeom>
            <a:noFill/>
          </p:spPr>
          <p:txBody>
            <a:bodyPr wrap="square" rtlCol="0">
              <a:spAutoFit/>
            </a:bodyPr>
            <a:lstStyle/>
            <a:p>
              <a:pPr marL="355600" lvl="2"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n-lt"/>
                  <a:ea typeface="楷体" panose="02010609060101010101" pitchFamily="49" charset="-122"/>
                </a:rPr>
                <a:t>一个编程标志，用来获取或释放一个对象。</a:t>
              </a:r>
              <a:endParaRPr lang="en-US" altLang="zh-CN" dirty="0">
                <a:solidFill>
                  <a:schemeClr val="bg2"/>
                </a:solidFill>
                <a:latin typeface="+mn-lt"/>
                <a:ea typeface="楷体" panose="02010609060101010101" pitchFamily="49" charset="-122"/>
              </a:endParaRPr>
            </a:p>
            <a:p>
              <a:pPr marL="355600" lvl="2"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n-lt"/>
                  <a:ea typeface="楷体" panose="02010609060101010101" pitchFamily="49" charset="-122"/>
                </a:rPr>
                <a:t>当需要的资源不能被分享，被设定为锁定（</a:t>
              </a:r>
              <a:r>
                <a:rPr lang="zh-CN" altLang="en-US" dirty="0">
                  <a:solidFill>
                    <a:schemeClr val="bg2"/>
                  </a:solidFill>
                  <a:ea typeface="楷体" panose="02010609060101010101" pitchFamily="49" charset="-122"/>
                </a:rPr>
                <a:t>值为</a:t>
              </a:r>
              <a:r>
                <a:rPr lang="en-US" altLang="zh-CN" dirty="0">
                  <a:solidFill>
                    <a:schemeClr val="bg2"/>
                  </a:solidFill>
                  <a:latin typeface="+mn-lt"/>
                  <a:ea typeface="楷体" panose="02010609060101010101" pitchFamily="49" charset="-122"/>
                </a:rPr>
                <a:t>0</a:t>
              </a:r>
              <a:r>
                <a:rPr lang="zh-CN" altLang="en-US" dirty="0">
                  <a:solidFill>
                    <a:schemeClr val="bg2"/>
                  </a:solidFill>
                  <a:latin typeface="+mn-lt"/>
                  <a:ea typeface="楷体" panose="02010609060101010101" pitchFamily="49" charset="-122"/>
                </a:rPr>
                <a:t>），用来阻塞其它进程</a:t>
              </a:r>
              <a:r>
                <a:rPr lang="en-US" altLang="zh-CN" dirty="0">
                  <a:solidFill>
                    <a:schemeClr val="bg2"/>
                  </a:solidFill>
                  <a:latin typeface="+mn-lt"/>
                  <a:ea typeface="楷体" panose="02010609060101010101" pitchFamily="49" charset="-122"/>
                </a:rPr>
                <a:t>/</a:t>
              </a:r>
              <a:r>
                <a:rPr lang="zh-CN" altLang="en-US" dirty="0">
                  <a:solidFill>
                    <a:schemeClr val="bg2"/>
                  </a:solidFill>
                  <a:latin typeface="+mn-lt"/>
                  <a:ea typeface="楷体" panose="02010609060101010101" pitchFamily="49" charset="-122"/>
                </a:rPr>
                <a:t>线程。</a:t>
              </a:r>
              <a:endParaRPr lang="en-US" altLang="zh-CN" dirty="0">
                <a:solidFill>
                  <a:schemeClr val="bg2"/>
                </a:solidFill>
                <a:latin typeface="+mn-lt"/>
                <a:ea typeface="楷体" panose="02010609060101010101" pitchFamily="49" charset="-122"/>
              </a:endParaRPr>
            </a:p>
            <a:p>
              <a:pPr marL="355600" lvl="2"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n-lt"/>
                  <a:ea typeface="楷体" panose="02010609060101010101" pitchFamily="49" charset="-122"/>
                </a:rPr>
                <a:t>当资源释放时</a:t>
              </a:r>
              <a:r>
                <a:rPr lang="en-US" altLang="zh-CN" dirty="0">
                  <a:solidFill>
                    <a:schemeClr val="bg2"/>
                  </a:solidFill>
                  <a:latin typeface="+mn-lt"/>
                  <a:ea typeface="楷体" panose="02010609060101010101" pitchFamily="49" charset="-122"/>
                </a:rPr>
                <a:t>:  </a:t>
              </a:r>
              <a:r>
                <a:rPr lang="zh-CN" altLang="en-US" dirty="0">
                  <a:solidFill>
                    <a:schemeClr val="bg2"/>
                  </a:solidFill>
                  <a:latin typeface="+mn-lt"/>
                  <a:ea typeface="楷体" panose="02010609060101010101" pitchFamily="49" charset="-122"/>
                </a:rPr>
                <a:t>非锁定（值为</a:t>
              </a:r>
              <a:r>
                <a:rPr lang="en-US" altLang="zh-CN" dirty="0">
                  <a:solidFill>
                    <a:schemeClr val="bg2"/>
                  </a:solidFill>
                  <a:latin typeface="+mn-lt"/>
                  <a:ea typeface="楷体" panose="02010609060101010101" pitchFamily="49" charset="-122"/>
                </a:rPr>
                <a:t>1</a:t>
              </a:r>
              <a:r>
                <a:rPr lang="zh-CN" altLang="en-US" dirty="0">
                  <a:solidFill>
                    <a:schemeClr val="bg2"/>
                  </a:solidFill>
                  <a:latin typeface="+mn-lt"/>
                  <a:ea typeface="楷体" panose="02010609060101010101" pitchFamily="49" charset="-122"/>
                </a:rPr>
                <a:t>）。</a:t>
              </a:r>
              <a:endParaRPr lang="en-US" altLang="zh-CN" dirty="0">
                <a:solidFill>
                  <a:schemeClr val="bg2"/>
                </a:solidFill>
                <a:latin typeface="+mn-lt"/>
                <a:ea typeface="楷体" panose="02010609060101010101" pitchFamily="49" charset="-122"/>
              </a:endParaRPr>
            </a:p>
          </p:txBody>
        </p:sp>
      </p:grpSp>
      <p:sp>
        <p:nvSpPr>
          <p:cNvPr id="8" name="矩形 7">
            <a:extLst>
              <a:ext uri="{FF2B5EF4-FFF2-40B4-BE49-F238E27FC236}">
                <a16:creationId xmlns:a16="http://schemas.microsoft.com/office/drawing/2014/main" id="{B9340363-CAE8-416B-BA53-E95B75303A46}"/>
              </a:ext>
            </a:extLst>
          </p:cNvPr>
          <p:cNvSpPr/>
          <p:nvPr/>
        </p:nvSpPr>
        <p:spPr>
          <a:xfrm>
            <a:off x="3489717" y="132338"/>
            <a:ext cx="1983235" cy="707886"/>
          </a:xfrm>
          <a:prstGeom prst="rect">
            <a:avLst/>
          </a:prstGeom>
        </p:spPr>
        <p:txBody>
          <a:bodyPr wrap="none">
            <a:spAutoFit/>
          </a:bodyPr>
          <a:lstStyle/>
          <a:p>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互 斥 锁</a:t>
            </a:r>
          </a:p>
        </p:txBody>
      </p:sp>
      <p:grpSp>
        <p:nvGrpSpPr>
          <p:cNvPr id="3" name="组合 2"/>
          <p:cNvGrpSpPr/>
          <p:nvPr/>
        </p:nvGrpSpPr>
        <p:grpSpPr>
          <a:xfrm>
            <a:off x="251520" y="4653136"/>
            <a:ext cx="8420399" cy="1611392"/>
            <a:chOff x="259324" y="4891900"/>
            <a:chExt cx="9144000" cy="1611392"/>
          </a:xfrm>
        </p:grpSpPr>
        <p:sp>
          <p:nvSpPr>
            <p:cNvPr id="9" name="文本框 8">
              <a:extLst>
                <a:ext uri="{FF2B5EF4-FFF2-40B4-BE49-F238E27FC236}">
                  <a16:creationId xmlns:a16="http://schemas.microsoft.com/office/drawing/2014/main" id="{DEF150A1-80D5-47ED-A0B2-CFA5DB6A51D4}"/>
                </a:ext>
              </a:extLst>
            </p:cNvPr>
            <p:cNvSpPr txBox="1"/>
            <p:nvPr/>
          </p:nvSpPr>
          <p:spPr>
            <a:xfrm>
              <a:off x="1818316" y="6103182"/>
              <a:ext cx="5328592" cy="400110"/>
            </a:xfrm>
            <a:prstGeom prst="rect">
              <a:avLst/>
            </a:prstGeom>
            <a:noFill/>
          </p:spPr>
          <p:txBody>
            <a:bodyPr wrap="square" rtlCol="0">
              <a:spAutoFit/>
            </a:bodyPr>
            <a:lstStyle/>
            <a:p>
              <a:pPr algn="ctr"/>
              <a:r>
                <a:rPr lang="zh-CN" altLang="en-US" sz="2000" dirty="0">
                  <a:solidFill>
                    <a:schemeClr val="bg2"/>
                  </a:solidFill>
                </a:rPr>
                <a:t>现代操作系统 </a:t>
              </a:r>
              <a:r>
                <a:rPr lang="en-US" altLang="zh-CN" sz="2000" dirty="0">
                  <a:solidFill>
                    <a:schemeClr val="bg2"/>
                  </a:solidFill>
                </a:rPr>
                <a:t>(</a:t>
              </a:r>
              <a:r>
                <a:rPr lang="zh-CN" altLang="en-US" sz="2000" dirty="0">
                  <a:solidFill>
                    <a:schemeClr val="bg2"/>
                  </a:solidFill>
                </a:rPr>
                <a:t>第</a:t>
              </a:r>
              <a:r>
                <a:rPr lang="en-US" altLang="zh-CN" sz="2000" dirty="0">
                  <a:solidFill>
                    <a:schemeClr val="bg2"/>
                  </a:solidFill>
                </a:rPr>
                <a:t>3</a:t>
              </a:r>
              <a:r>
                <a:rPr lang="zh-CN" altLang="en-US" sz="2000" dirty="0">
                  <a:solidFill>
                    <a:schemeClr val="bg2"/>
                  </a:solidFill>
                </a:rPr>
                <a:t>版 中译本</a:t>
              </a:r>
              <a:r>
                <a:rPr lang="en-US" altLang="zh-CN" sz="2000" dirty="0">
                  <a:solidFill>
                    <a:schemeClr val="bg2"/>
                  </a:solidFill>
                </a:rPr>
                <a:t>)</a:t>
              </a:r>
              <a:r>
                <a:rPr lang="zh-CN" altLang="en-US" sz="2000" dirty="0">
                  <a:solidFill>
                    <a:schemeClr val="bg2"/>
                  </a:solidFill>
                </a:rPr>
                <a:t>，</a:t>
              </a:r>
              <a:r>
                <a:rPr lang="en-US" altLang="zh-CN" sz="2000" dirty="0">
                  <a:solidFill>
                    <a:schemeClr val="bg2"/>
                  </a:solidFill>
                </a:rPr>
                <a:t>P74</a:t>
              </a:r>
              <a:endParaRPr lang="zh-CN" altLang="en-US" sz="2000" dirty="0">
                <a:solidFill>
                  <a:schemeClr val="bg2"/>
                </a:solidFill>
              </a:endParaRPr>
            </a:p>
          </p:txBody>
        </p:sp>
        <p:sp>
          <p:nvSpPr>
            <p:cNvPr id="10" name="文本框 9">
              <a:extLst>
                <a:ext uri="{FF2B5EF4-FFF2-40B4-BE49-F238E27FC236}">
                  <a16:creationId xmlns:a16="http://schemas.microsoft.com/office/drawing/2014/main" id="{36A7F904-51CC-40FA-989C-A6CB4F53C5CC}"/>
                </a:ext>
              </a:extLst>
            </p:cNvPr>
            <p:cNvSpPr txBox="1"/>
            <p:nvPr/>
          </p:nvSpPr>
          <p:spPr>
            <a:xfrm>
              <a:off x="259324" y="4891900"/>
              <a:ext cx="9144000" cy="1118255"/>
            </a:xfrm>
            <a:prstGeom prst="rect">
              <a:avLst/>
            </a:prstGeom>
            <a:noFill/>
          </p:spPr>
          <p:txBody>
            <a:bodyPr wrap="square" rtlCol="0">
              <a:spAutoFit/>
            </a:bodyPr>
            <a:lstStyle/>
            <a:p>
              <a:pPr marL="355600" lvl="2" indent="-355600" defTabSz="355600">
                <a:lnSpc>
                  <a:spcPts val="4000"/>
                </a:lnSpc>
                <a:buClr>
                  <a:schemeClr val="bg2"/>
                </a:buClr>
                <a:buSzPct val="70000"/>
                <a:buFont typeface="Wingdings" panose="05000000000000000000" pitchFamily="2" charset="2"/>
                <a:buChar char="n"/>
                <a:defRPr/>
              </a:pPr>
              <a:r>
                <a:rPr lang="zh-CN" altLang="en-US" dirty="0">
                  <a:solidFill>
                    <a:schemeClr val="bg2"/>
                  </a:solidFill>
                  <a:latin typeface="+mn-lt"/>
                  <a:ea typeface="楷体" panose="02010609060101010101" pitchFamily="49" charset="-122"/>
                </a:rPr>
                <a:t>信号量的简化版本，不需要计数能力。</a:t>
              </a:r>
              <a:endParaRPr lang="en-US" altLang="zh-CN" dirty="0">
                <a:solidFill>
                  <a:schemeClr val="bg2"/>
                </a:solidFill>
                <a:latin typeface="+mn-lt"/>
                <a:ea typeface="楷体" panose="02010609060101010101" pitchFamily="49" charset="-122"/>
              </a:endParaRPr>
            </a:p>
            <a:p>
              <a:pPr marL="355600" lvl="2" indent="-355600" defTabSz="355600">
                <a:lnSpc>
                  <a:spcPts val="4000"/>
                </a:lnSpc>
                <a:buClr>
                  <a:schemeClr val="bg2"/>
                </a:buClr>
                <a:buSzPct val="70000"/>
                <a:buFont typeface="Wingdings" panose="05000000000000000000" pitchFamily="2" charset="2"/>
                <a:buChar char="n"/>
                <a:defRPr/>
              </a:pPr>
              <a:r>
                <a:rPr lang="zh-CN" altLang="en-US" dirty="0">
                  <a:solidFill>
                    <a:schemeClr val="bg2"/>
                  </a:solidFill>
                  <a:latin typeface="+mn-lt"/>
                  <a:ea typeface="楷体" panose="02010609060101010101" pitchFamily="49" charset="-122"/>
                </a:rPr>
                <a:t>两种状态：加锁和解锁。</a:t>
              </a:r>
            </a:p>
          </p:txBody>
        </p:sp>
      </p:grpSp>
      <p:sp>
        <p:nvSpPr>
          <p:cNvPr id="11" name="矩形 10">
            <a:extLst>
              <a:ext uri="{FF2B5EF4-FFF2-40B4-BE49-F238E27FC236}">
                <a16:creationId xmlns:a16="http://schemas.microsoft.com/office/drawing/2014/main" id="{61FC9F96-ED0E-49FC-AE58-DB2FB2062671}"/>
              </a:ext>
            </a:extLst>
          </p:cNvPr>
          <p:cNvSpPr/>
          <p:nvPr/>
        </p:nvSpPr>
        <p:spPr>
          <a:xfrm>
            <a:off x="3484846" y="3712362"/>
            <a:ext cx="1984839" cy="707886"/>
          </a:xfrm>
          <a:prstGeom prst="rect">
            <a:avLst/>
          </a:prstGeom>
        </p:spPr>
        <p:txBody>
          <a:bodyPr wrap="none">
            <a:spAutoFit/>
          </a:bodyPr>
          <a:lstStyle/>
          <a:p>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互 斥 量</a:t>
            </a:r>
          </a:p>
        </p:txBody>
      </p:sp>
      <p:sp>
        <p:nvSpPr>
          <p:cNvPr id="1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63000"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282453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2" presetClass="entr" presetSubtype="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additive="base">
                                        <p:cTn id="20" dur="500" fill="hold"/>
                                        <p:tgtEl>
                                          <p:spTgt spid="14"/>
                                        </p:tgtEl>
                                        <p:attrNameLst>
                                          <p:attrName>ppt_x</p:attrName>
                                        </p:attrNameLst>
                                      </p:cBhvr>
                                      <p:tavLst>
                                        <p:tav tm="0">
                                          <p:val>
                                            <p:strVal val="1+#ppt_w/2"/>
                                          </p:val>
                                        </p:tav>
                                        <p:tav tm="100000">
                                          <p:val>
                                            <p:strVal val="#ppt_x"/>
                                          </p:val>
                                        </p:tav>
                                      </p:tavLst>
                                    </p:anim>
                                    <p:anim calcmode="lin" valueType="num">
                                      <p:cBhvr additive="base">
                                        <p:cTn id="2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1C21BC93-E0B2-4591-AA75-FA6798773275}"/>
              </a:ext>
            </a:extLst>
          </p:cNvPr>
          <p:cNvPicPr>
            <a:picLocks noChangeAspect="1"/>
          </p:cNvPicPr>
          <p:nvPr/>
        </p:nvPicPr>
        <p:blipFill>
          <a:blip r:embed="rId3"/>
          <a:stretch>
            <a:fillRect/>
          </a:stretch>
        </p:blipFill>
        <p:spPr>
          <a:xfrm>
            <a:off x="287527" y="700413"/>
            <a:ext cx="7128790" cy="2197230"/>
          </a:xfrm>
          <a:prstGeom prst="rect">
            <a:avLst/>
          </a:prstGeom>
        </p:spPr>
      </p:pic>
      <p:sp>
        <p:nvSpPr>
          <p:cNvPr id="5" name="日期占位符 4">
            <a:extLst>
              <a:ext uri="{FF2B5EF4-FFF2-40B4-BE49-F238E27FC236}">
                <a16:creationId xmlns:a16="http://schemas.microsoft.com/office/drawing/2014/main" id="{C91C26D3-D42A-4D57-91FB-A9983861FA60}"/>
              </a:ext>
            </a:extLst>
          </p:cNvPr>
          <p:cNvSpPr>
            <a:spLocks noGrp="1"/>
          </p:cNvSpPr>
          <p:nvPr>
            <p:ph type="dt" sz="half" idx="10"/>
          </p:nvPr>
        </p:nvSpPr>
        <p:spPr/>
        <p:txBody>
          <a:bodyPr/>
          <a:lstStyle/>
          <a:p>
            <a:pPr>
              <a:defRPr/>
            </a:pPr>
            <a:fld id="{7AE98789-F8A9-4B5F-BEE4-6250E5425CAE}" type="datetime1">
              <a:rPr lang="zh-CN" altLang="en-US" smtClean="0"/>
              <a:pPr>
                <a:defRPr/>
              </a:pPr>
              <a:t>2024/10/9</a:t>
            </a:fld>
            <a:endParaRPr lang="en-US" altLang="zh-CN"/>
          </a:p>
        </p:txBody>
      </p:sp>
      <p:sp>
        <p:nvSpPr>
          <p:cNvPr id="7" name="文本框 6">
            <a:extLst>
              <a:ext uri="{FF2B5EF4-FFF2-40B4-BE49-F238E27FC236}">
                <a16:creationId xmlns:a16="http://schemas.microsoft.com/office/drawing/2014/main" id="{EDC90642-BEB7-4780-965B-DE836BEDD813}"/>
              </a:ext>
            </a:extLst>
          </p:cNvPr>
          <p:cNvSpPr txBox="1"/>
          <p:nvPr/>
        </p:nvSpPr>
        <p:spPr>
          <a:xfrm>
            <a:off x="952500" y="-70175"/>
            <a:ext cx="7128791" cy="707886"/>
          </a:xfrm>
          <a:prstGeom prst="rect">
            <a:avLst/>
          </a:prstGeom>
          <a:noFill/>
        </p:spPr>
        <p:txBody>
          <a:bodyPr wrap="square" rtlCol="0">
            <a:spAutoFit/>
          </a:bodyPr>
          <a:lstStyle/>
          <a:p>
            <a:pPr marL="0" lvl="1" indent="-274638" algn="ctr"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xv6</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的</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sleeping lock</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rPr>
              <a:t>1</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a:t>
            </a:r>
            <a:endPar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9" name="矩形 8">
            <a:extLst>
              <a:ext uri="{FF2B5EF4-FFF2-40B4-BE49-F238E27FC236}">
                <a16:creationId xmlns:a16="http://schemas.microsoft.com/office/drawing/2014/main" id="{28430ACC-AC6C-48CF-A609-3EA371B55CCE}"/>
              </a:ext>
            </a:extLst>
          </p:cNvPr>
          <p:cNvSpPr/>
          <p:nvPr/>
        </p:nvSpPr>
        <p:spPr>
          <a:xfrm>
            <a:off x="287527" y="939268"/>
            <a:ext cx="2048608" cy="250762"/>
          </a:xfrm>
          <a:prstGeom prst="rect">
            <a:avLst/>
          </a:prstGeom>
          <a:solidFill>
            <a:srgbClr val="FF99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0" name="矩形 9">
            <a:extLst>
              <a:ext uri="{FF2B5EF4-FFF2-40B4-BE49-F238E27FC236}">
                <a16:creationId xmlns:a16="http://schemas.microsoft.com/office/drawing/2014/main" id="{F2DAB286-71E1-407F-8F56-1DCD21B753A6}"/>
              </a:ext>
            </a:extLst>
          </p:cNvPr>
          <p:cNvSpPr/>
          <p:nvPr/>
        </p:nvSpPr>
        <p:spPr>
          <a:xfrm>
            <a:off x="1076573" y="1196268"/>
            <a:ext cx="971195" cy="188060"/>
          </a:xfrm>
          <a:prstGeom prst="rect">
            <a:avLst/>
          </a:prstGeom>
          <a:solidFill>
            <a:srgbClr val="99CC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1" name="AutoShape 27">
            <a:hlinkClick r:id="" action="ppaction://hlinkshowjump?jump=nextslide" highlightClick="1"/>
            <a:extLst>
              <a:ext uri="{FF2B5EF4-FFF2-40B4-BE49-F238E27FC236}">
                <a16:creationId xmlns:a16="http://schemas.microsoft.com/office/drawing/2014/main" id="{66F77F8D-B5A2-49DB-9C5E-C4519E09BFE5}"/>
              </a:ext>
            </a:extLst>
          </p:cNvPr>
          <p:cNvSpPr>
            <a:spLocks noChangeArrowheads="1"/>
          </p:cNvSpPr>
          <p:nvPr/>
        </p:nvSpPr>
        <p:spPr bwMode="auto">
          <a:xfrm>
            <a:off x="8763000"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2" name="线形标注 1 14">
            <a:extLst>
              <a:ext uri="{FF2B5EF4-FFF2-40B4-BE49-F238E27FC236}">
                <a16:creationId xmlns:a16="http://schemas.microsoft.com/office/drawing/2014/main" id="{6818BDC6-7D28-4C7F-A560-5E78152C5D9D}"/>
              </a:ext>
            </a:extLst>
          </p:cNvPr>
          <p:cNvSpPr>
            <a:spLocks/>
          </p:cNvSpPr>
          <p:nvPr/>
        </p:nvSpPr>
        <p:spPr bwMode="auto">
          <a:xfrm>
            <a:off x="4445906" y="637711"/>
            <a:ext cx="1868592" cy="707887"/>
          </a:xfrm>
          <a:prstGeom prst="borderCallout1">
            <a:avLst>
              <a:gd name="adj1" fmla="val 57039"/>
              <a:gd name="adj2" fmla="val -1204"/>
              <a:gd name="adj3" fmla="val 102200"/>
              <a:gd name="adj4" fmla="val -126709"/>
            </a:avLst>
          </a:prstGeom>
          <a:solidFill>
            <a:srgbClr val="99CCFF"/>
          </a:solidFill>
          <a:ln w="38100" cap="sq" algn="ctr">
            <a:solidFill>
              <a:srgbClr val="99CCFF"/>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en-US" altLang="zh-CN" sz="2400" dirty="0">
                <a:solidFill>
                  <a:schemeClr val="bg2"/>
                </a:solidFill>
              </a:rPr>
              <a:t>1</a:t>
            </a:r>
            <a:r>
              <a:rPr lang="zh-CN" altLang="en-US" sz="2400" dirty="0">
                <a:solidFill>
                  <a:schemeClr val="bg2"/>
                </a:solidFill>
              </a:rPr>
              <a:t>：被锁；</a:t>
            </a:r>
            <a:endParaRPr lang="en-US" altLang="zh-CN" sz="2400" dirty="0">
              <a:solidFill>
                <a:schemeClr val="bg2"/>
              </a:solidFill>
            </a:endParaRPr>
          </a:p>
          <a:p>
            <a:pPr eaLnBrk="1" hangingPunct="1">
              <a:spcBef>
                <a:spcPct val="0"/>
              </a:spcBef>
              <a:buClrTx/>
              <a:buSzTx/>
              <a:buNone/>
            </a:pPr>
            <a:r>
              <a:rPr lang="en-US" altLang="zh-CN" sz="2400" dirty="0">
                <a:solidFill>
                  <a:schemeClr val="bg2"/>
                </a:solidFill>
              </a:rPr>
              <a:t>0</a:t>
            </a:r>
            <a:r>
              <a:rPr lang="zh-CN" altLang="en-US" sz="2400" dirty="0">
                <a:solidFill>
                  <a:schemeClr val="bg2"/>
                </a:solidFill>
              </a:rPr>
              <a:t>：锁可用。</a:t>
            </a:r>
          </a:p>
        </p:txBody>
      </p:sp>
      <p:pic>
        <p:nvPicPr>
          <p:cNvPr id="3" name="图片 2">
            <a:extLst>
              <a:ext uri="{FF2B5EF4-FFF2-40B4-BE49-F238E27FC236}">
                <a16:creationId xmlns:a16="http://schemas.microsoft.com/office/drawing/2014/main" id="{0ADBFE70-EC10-4F6B-93A8-B840C2F96754}"/>
              </a:ext>
            </a:extLst>
          </p:cNvPr>
          <p:cNvPicPr>
            <a:picLocks noChangeAspect="1"/>
          </p:cNvPicPr>
          <p:nvPr/>
        </p:nvPicPr>
        <p:blipFill>
          <a:blip r:embed="rId4"/>
          <a:stretch>
            <a:fillRect/>
          </a:stretch>
        </p:blipFill>
        <p:spPr>
          <a:xfrm>
            <a:off x="173403" y="2896129"/>
            <a:ext cx="5436601" cy="1883267"/>
          </a:xfrm>
          <a:prstGeom prst="rect">
            <a:avLst/>
          </a:prstGeom>
        </p:spPr>
      </p:pic>
      <p:sp>
        <p:nvSpPr>
          <p:cNvPr id="13" name="矩形 12">
            <a:extLst>
              <a:ext uri="{FF2B5EF4-FFF2-40B4-BE49-F238E27FC236}">
                <a16:creationId xmlns:a16="http://schemas.microsoft.com/office/drawing/2014/main" id="{3C806D66-8632-4BBD-9A24-9F18FA264B41}"/>
              </a:ext>
            </a:extLst>
          </p:cNvPr>
          <p:cNvSpPr/>
          <p:nvPr/>
        </p:nvSpPr>
        <p:spPr>
          <a:xfrm>
            <a:off x="161149" y="3123324"/>
            <a:ext cx="1530531" cy="305676"/>
          </a:xfrm>
          <a:prstGeom prst="rect">
            <a:avLst/>
          </a:prstGeom>
          <a:solidFill>
            <a:srgbClr val="FF99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4" name="矩形 13">
            <a:extLst>
              <a:ext uri="{FF2B5EF4-FFF2-40B4-BE49-F238E27FC236}">
                <a16:creationId xmlns:a16="http://schemas.microsoft.com/office/drawing/2014/main" id="{73EF9F1F-C168-412D-A3AC-D0D4CAB6524F}"/>
              </a:ext>
            </a:extLst>
          </p:cNvPr>
          <p:cNvSpPr/>
          <p:nvPr/>
        </p:nvSpPr>
        <p:spPr>
          <a:xfrm>
            <a:off x="389866" y="4045831"/>
            <a:ext cx="1661854" cy="188060"/>
          </a:xfrm>
          <a:prstGeom prst="rect">
            <a:avLst/>
          </a:prstGeom>
          <a:solidFill>
            <a:srgbClr val="99CC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pic>
        <p:nvPicPr>
          <p:cNvPr id="15" name="图片 14">
            <a:extLst>
              <a:ext uri="{FF2B5EF4-FFF2-40B4-BE49-F238E27FC236}">
                <a16:creationId xmlns:a16="http://schemas.microsoft.com/office/drawing/2014/main" id="{584A6229-81F3-4567-80BE-61303D8458F7}"/>
              </a:ext>
            </a:extLst>
          </p:cNvPr>
          <p:cNvPicPr>
            <a:picLocks noChangeAspect="1"/>
          </p:cNvPicPr>
          <p:nvPr/>
        </p:nvPicPr>
        <p:blipFill>
          <a:blip r:embed="rId5"/>
          <a:stretch>
            <a:fillRect/>
          </a:stretch>
        </p:blipFill>
        <p:spPr>
          <a:xfrm>
            <a:off x="107308" y="4671218"/>
            <a:ext cx="5256779" cy="2197230"/>
          </a:xfrm>
          <a:prstGeom prst="rect">
            <a:avLst/>
          </a:prstGeom>
        </p:spPr>
      </p:pic>
      <p:sp>
        <p:nvSpPr>
          <p:cNvPr id="16" name="矩形 15">
            <a:extLst>
              <a:ext uri="{FF2B5EF4-FFF2-40B4-BE49-F238E27FC236}">
                <a16:creationId xmlns:a16="http://schemas.microsoft.com/office/drawing/2014/main" id="{339D171D-389F-4CBE-B459-AADCFF93CD54}"/>
              </a:ext>
            </a:extLst>
          </p:cNvPr>
          <p:cNvSpPr/>
          <p:nvPr/>
        </p:nvSpPr>
        <p:spPr>
          <a:xfrm>
            <a:off x="107308" y="4895850"/>
            <a:ext cx="1445469" cy="280012"/>
          </a:xfrm>
          <a:prstGeom prst="rect">
            <a:avLst/>
          </a:prstGeom>
          <a:solidFill>
            <a:srgbClr val="FF99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7" name="线形标注 1 14">
            <a:extLst>
              <a:ext uri="{FF2B5EF4-FFF2-40B4-BE49-F238E27FC236}">
                <a16:creationId xmlns:a16="http://schemas.microsoft.com/office/drawing/2014/main" id="{319525CC-ABAF-4776-BA5E-125432B8A52E}"/>
              </a:ext>
            </a:extLst>
          </p:cNvPr>
          <p:cNvSpPr>
            <a:spLocks/>
          </p:cNvSpPr>
          <p:nvPr/>
        </p:nvSpPr>
        <p:spPr bwMode="auto">
          <a:xfrm>
            <a:off x="3637704" y="4173216"/>
            <a:ext cx="3094884" cy="380500"/>
          </a:xfrm>
          <a:prstGeom prst="borderCallout1">
            <a:avLst>
              <a:gd name="adj1" fmla="val 57039"/>
              <a:gd name="adj2" fmla="val -1204"/>
              <a:gd name="adj3" fmla="val 182417"/>
              <a:gd name="adj4" fmla="val -80345"/>
            </a:avLst>
          </a:prstGeom>
          <a:solidFill>
            <a:srgbClr val="FBCBF8"/>
          </a:solidFill>
          <a:ln w="38100" cap="sq" algn="ctr">
            <a:solidFill>
              <a:srgbClr val="FBCBF8"/>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400" dirty="0">
                <a:solidFill>
                  <a:schemeClr val="bg2"/>
                </a:solidFill>
              </a:rPr>
              <a:t>当前进程是否持有锁</a:t>
            </a:r>
          </a:p>
        </p:txBody>
      </p:sp>
      <p:sp>
        <p:nvSpPr>
          <p:cNvPr id="19" name="矩形 18">
            <a:extLst>
              <a:ext uri="{FF2B5EF4-FFF2-40B4-BE49-F238E27FC236}">
                <a16:creationId xmlns:a16="http://schemas.microsoft.com/office/drawing/2014/main" id="{6699CE4D-1236-4CFA-93EE-B6566EDB98A1}"/>
              </a:ext>
            </a:extLst>
          </p:cNvPr>
          <p:cNvSpPr/>
          <p:nvPr/>
        </p:nvSpPr>
        <p:spPr>
          <a:xfrm>
            <a:off x="480904" y="2365038"/>
            <a:ext cx="1210776" cy="188060"/>
          </a:xfrm>
          <a:prstGeom prst="rect">
            <a:avLst/>
          </a:prstGeom>
          <a:solidFill>
            <a:srgbClr val="99CC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20" name="矩形 19">
            <a:extLst>
              <a:ext uri="{FF2B5EF4-FFF2-40B4-BE49-F238E27FC236}">
                <a16:creationId xmlns:a16="http://schemas.microsoft.com/office/drawing/2014/main" id="{24956B11-06BC-48B3-AC9C-7FDA651EDBAA}"/>
              </a:ext>
            </a:extLst>
          </p:cNvPr>
          <p:cNvSpPr/>
          <p:nvPr/>
        </p:nvSpPr>
        <p:spPr>
          <a:xfrm>
            <a:off x="411886" y="4259197"/>
            <a:ext cx="1493114" cy="195036"/>
          </a:xfrm>
          <a:prstGeom prst="rect">
            <a:avLst/>
          </a:prstGeom>
          <a:solidFill>
            <a:srgbClr val="99CC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21" name="矩形 20">
            <a:extLst>
              <a:ext uri="{FF2B5EF4-FFF2-40B4-BE49-F238E27FC236}">
                <a16:creationId xmlns:a16="http://schemas.microsoft.com/office/drawing/2014/main" id="{A2ABA72A-8EB7-4F11-B7C8-E2659198F698}"/>
              </a:ext>
            </a:extLst>
          </p:cNvPr>
          <p:cNvSpPr/>
          <p:nvPr/>
        </p:nvSpPr>
        <p:spPr>
          <a:xfrm>
            <a:off x="320114" y="5981606"/>
            <a:ext cx="4971966" cy="193513"/>
          </a:xfrm>
          <a:prstGeom prst="rect">
            <a:avLst/>
          </a:prstGeom>
          <a:solidFill>
            <a:srgbClr val="99CC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Tree>
    <p:extLst>
      <p:ext uri="{BB962C8B-B14F-4D97-AF65-F5344CB8AC3E}">
        <p14:creationId xmlns:p14="http://schemas.microsoft.com/office/powerpoint/2010/main" val="3889467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dissolve">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dissolve">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dissolve">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dissolve">
                                      <p:cBhvr>
                                        <p:cTn id="39" dur="500"/>
                                        <p:tgtEl>
                                          <p:spTgt spid="20"/>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dissolv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1000"/>
                                        <p:tgtEl>
                                          <p:spTgt spid="17"/>
                                        </p:tgtEl>
                                      </p:cBhvr>
                                    </p:animEffect>
                                    <p:anim calcmode="lin" valueType="num">
                                      <p:cBhvr>
                                        <p:cTn id="50" dur="1000" fill="hold"/>
                                        <p:tgtEl>
                                          <p:spTgt spid="17"/>
                                        </p:tgtEl>
                                        <p:attrNameLst>
                                          <p:attrName>ppt_x</p:attrName>
                                        </p:attrNameLst>
                                      </p:cBhvr>
                                      <p:tavLst>
                                        <p:tav tm="0">
                                          <p:val>
                                            <p:strVal val="#ppt_x"/>
                                          </p:val>
                                        </p:tav>
                                        <p:tav tm="100000">
                                          <p:val>
                                            <p:strVal val="#ppt_x"/>
                                          </p:val>
                                        </p:tav>
                                      </p:tavLst>
                                    </p:anim>
                                    <p:anim calcmode="lin" valueType="num">
                                      <p:cBhvr>
                                        <p:cTn id="5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dissolve">
                                      <p:cBhvr>
                                        <p:cTn id="56" dur="500"/>
                                        <p:tgtEl>
                                          <p:spTgt spid="21"/>
                                        </p:tgtEl>
                                      </p:cBhvr>
                                    </p:animEffect>
                                  </p:childTnLst>
                                </p:cTn>
                              </p:par>
                            </p:childTnLst>
                          </p:cTn>
                        </p:par>
                        <p:par>
                          <p:cTn id="57" fill="hold">
                            <p:stCondLst>
                              <p:cond delay="500"/>
                            </p:stCondLst>
                            <p:childTnLst>
                              <p:par>
                                <p:cTn id="58" presetID="2" presetClass="entr" presetSubtype="6" fill="hold" grpId="0" nodeType="afterEffect">
                                  <p:stCondLst>
                                    <p:cond delay="0"/>
                                  </p:stCondLst>
                                  <p:childTnLst>
                                    <p:set>
                                      <p:cBhvr>
                                        <p:cTn id="59" dur="1" fill="hold">
                                          <p:stCondLst>
                                            <p:cond delay="0"/>
                                          </p:stCondLst>
                                        </p:cTn>
                                        <p:tgtEl>
                                          <p:spTgt spid="11"/>
                                        </p:tgtEl>
                                        <p:attrNameLst>
                                          <p:attrName>style.visibility</p:attrName>
                                        </p:attrNameLst>
                                      </p:cBhvr>
                                      <p:to>
                                        <p:strVal val="visible"/>
                                      </p:to>
                                    </p:set>
                                    <p:anim calcmode="lin" valueType="num">
                                      <p:cBhvr additive="base">
                                        <p:cTn id="60" dur="500" fill="hold"/>
                                        <p:tgtEl>
                                          <p:spTgt spid="11"/>
                                        </p:tgtEl>
                                        <p:attrNameLst>
                                          <p:attrName>ppt_x</p:attrName>
                                        </p:attrNameLst>
                                      </p:cBhvr>
                                      <p:tavLst>
                                        <p:tav tm="0">
                                          <p:val>
                                            <p:strVal val="1+#ppt_w/2"/>
                                          </p:val>
                                        </p:tav>
                                        <p:tav tm="100000">
                                          <p:val>
                                            <p:strVal val="#ppt_x"/>
                                          </p:val>
                                        </p:tav>
                                      </p:tavLst>
                                    </p:anim>
                                    <p:anim calcmode="lin" valueType="num">
                                      <p:cBhvr additive="base">
                                        <p:cTn id="6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6" grpId="0" animBg="1"/>
      <p:bldP spid="17" grpId="0" animBg="1"/>
      <p:bldP spid="19" grpId="0" animBg="1"/>
      <p:bldP spid="20" grpId="0" animBg="1"/>
      <p:bldP spid="2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a:extLst>
              <a:ext uri="{FF2B5EF4-FFF2-40B4-BE49-F238E27FC236}">
                <a16:creationId xmlns:a16="http://schemas.microsoft.com/office/drawing/2014/main" id="{C4678AB9-37EF-40B2-B65E-536D559780BF}"/>
              </a:ext>
            </a:extLst>
          </p:cNvPr>
          <p:cNvSpPr>
            <a:spLocks noGrp="1"/>
          </p:cNvSpPr>
          <p:nvPr>
            <p:ph type="dt" sz="half" idx="10"/>
          </p:nvPr>
        </p:nvSpPr>
        <p:spPr>
          <a:xfrm>
            <a:off x="140071" y="6340410"/>
            <a:ext cx="1905000" cy="457200"/>
          </a:xfrm>
        </p:spPr>
        <p:txBody>
          <a:bodyPr/>
          <a:lstStyle/>
          <a:p>
            <a:pPr>
              <a:defRPr/>
            </a:pPr>
            <a:fld id="{7AE98789-F8A9-4B5F-BEE4-6250E5425CAE}" type="datetime1">
              <a:rPr lang="zh-CN" altLang="en-US" smtClean="0"/>
              <a:pPr>
                <a:defRPr/>
              </a:pPr>
              <a:t>2024/10/9</a:t>
            </a:fld>
            <a:endParaRPr lang="en-US" altLang="zh-CN"/>
          </a:p>
        </p:txBody>
      </p:sp>
      <p:pic>
        <p:nvPicPr>
          <p:cNvPr id="7" name="图片 6">
            <a:extLst>
              <a:ext uri="{FF2B5EF4-FFF2-40B4-BE49-F238E27FC236}">
                <a16:creationId xmlns:a16="http://schemas.microsoft.com/office/drawing/2014/main" id="{7A777247-473A-400D-BEC8-1137841EA475}"/>
              </a:ext>
            </a:extLst>
          </p:cNvPr>
          <p:cNvPicPr>
            <a:picLocks noChangeAspect="1"/>
          </p:cNvPicPr>
          <p:nvPr/>
        </p:nvPicPr>
        <p:blipFill>
          <a:blip r:embed="rId3"/>
          <a:stretch>
            <a:fillRect/>
          </a:stretch>
        </p:blipFill>
        <p:spPr>
          <a:xfrm>
            <a:off x="603861" y="970085"/>
            <a:ext cx="4684274" cy="2797553"/>
          </a:xfrm>
          <a:prstGeom prst="rect">
            <a:avLst/>
          </a:prstGeom>
        </p:spPr>
      </p:pic>
      <p:pic>
        <p:nvPicPr>
          <p:cNvPr id="8" name="图片 7">
            <a:extLst>
              <a:ext uri="{FF2B5EF4-FFF2-40B4-BE49-F238E27FC236}">
                <a16:creationId xmlns:a16="http://schemas.microsoft.com/office/drawing/2014/main" id="{1A682C4E-6737-45D4-9C78-4528BB13B76B}"/>
              </a:ext>
            </a:extLst>
          </p:cNvPr>
          <p:cNvPicPr>
            <a:picLocks noChangeAspect="1"/>
          </p:cNvPicPr>
          <p:nvPr/>
        </p:nvPicPr>
        <p:blipFill>
          <a:blip r:embed="rId4"/>
          <a:stretch>
            <a:fillRect/>
          </a:stretch>
        </p:blipFill>
        <p:spPr>
          <a:xfrm>
            <a:off x="598125" y="4088690"/>
            <a:ext cx="4545994" cy="2394044"/>
          </a:xfrm>
          <a:prstGeom prst="rect">
            <a:avLst/>
          </a:prstGeom>
        </p:spPr>
      </p:pic>
      <p:sp>
        <p:nvSpPr>
          <p:cNvPr id="11" name="文本框 10">
            <a:extLst>
              <a:ext uri="{FF2B5EF4-FFF2-40B4-BE49-F238E27FC236}">
                <a16:creationId xmlns:a16="http://schemas.microsoft.com/office/drawing/2014/main" id="{96D79FAC-ACCF-4B94-A25A-12B70F644244}"/>
              </a:ext>
            </a:extLst>
          </p:cNvPr>
          <p:cNvSpPr txBox="1"/>
          <p:nvPr/>
        </p:nvSpPr>
        <p:spPr>
          <a:xfrm>
            <a:off x="1007604" y="43280"/>
            <a:ext cx="7128791" cy="707886"/>
          </a:xfrm>
          <a:prstGeom prst="rect">
            <a:avLst/>
          </a:prstGeom>
          <a:noFill/>
        </p:spPr>
        <p:txBody>
          <a:bodyPr wrap="square" rtlCol="0">
            <a:spAutoFit/>
          </a:bodyPr>
          <a:lstStyle/>
          <a:p>
            <a:pPr marL="0" lvl="1" indent="-274638" algn="ctr"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xv6</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的</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sleeping lock</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rPr>
              <a:t>2</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a:t>
            </a:r>
            <a:endPar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12" name="矩形 11">
            <a:extLst>
              <a:ext uri="{FF2B5EF4-FFF2-40B4-BE49-F238E27FC236}">
                <a16:creationId xmlns:a16="http://schemas.microsoft.com/office/drawing/2014/main" id="{0BA4B184-4574-4D96-9C83-2738754D057B}"/>
              </a:ext>
            </a:extLst>
          </p:cNvPr>
          <p:cNvSpPr/>
          <p:nvPr/>
        </p:nvSpPr>
        <p:spPr>
          <a:xfrm>
            <a:off x="545907" y="1208369"/>
            <a:ext cx="1645884" cy="288033"/>
          </a:xfrm>
          <a:prstGeom prst="rect">
            <a:avLst/>
          </a:prstGeom>
          <a:solidFill>
            <a:srgbClr val="FF99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grpSp>
        <p:nvGrpSpPr>
          <p:cNvPr id="22" name="组合 21">
            <a:extLst>
              <a:ext uri="{FF2B5EF4-FFF2-40B4-BE49-F238E27FC236}">
                <a16:creationId xmlns:a16="http://schemas.microsoft.com/office/drawing/2014/main" id="{7D557CD0-3191-43F2-8D9E-64CE98D2E82A}"/>
              </a:ext>
            </a:extLst>
          </p:cNvPr>
          <p:cNvGrpSpPr/>
          <p:nvPr/>
        </p:nvGrpSpPr>
        <p:grpSpPr>
          <a:xfrm>
            <a:off x="1057042" y="697515"/>
            <a:ext cx="7922291" cy="3231654"/>
            <a:chOff x="1057042" y="697515"/>
            <a:chExt cx="7922291" cy="3231654"/>
          </a:xfrm>
        </p:grpSpPr>
        <p:sp>
          <p:nvSpPr>
            <p:cNvPr id="14" name="矩形 13">
              <a:extLst>
                <a:ext uri="{FF2B5EF4-FFF2-40B4-BE49-F238E27FC236}">
                  <a16:creationId xmlns:a16="http://schemas.microsoft.com/office/drawing/2014/main" id="{8AF95C1E-C724-41D4-B4DE-A0C70FCDAC3D}"/>
                </a:ext>
              </a:extLst>
            </p:cNvPr>
            <p:cNvSpPr/>
            <p:nvPr/>
          </p:nvSpPr>
          <p:spPr>
            <a:xfrm>
              <a:off x="1057042" y="2237517"/>
              <a:ext cx="764398" cy="288032"/>
            </a:xfrm>
            <a:prstGeom prst="rect">
              <a:avLst/>
            </a:prstGeom>
            <a:solidFill>
              <a:srgbClr val="99CC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6" name="文本框 15">
              <a:extLst>
                <a:ext uri="{FF2B5EF4-FFF2-40B4-BE49-F238E27FC236}">
                  <a16:creationId xmlns:a16="http://schemas.microsoft.com/office/drawing/2014/main" id="{E6EF442E-DB45-4102-9A9D-B3DD494F5A5D}"/>
                </a:ext>
              </a:extLst>
            </p:cNvPr>
            <p:cNvSpPr txBox="1"/>
            <p:nvPr/>
          </p:nvSpPr>
          <p:spPr>
            <a:xfrm>
              <a:off x="5062002" y="697515"/>
              <a:ext cx="3917331" cy="3231654"/>
            </a:xfrm>
            <a:prstGeom prst="rect">
              <a:avLst/>
            </a:prstGeom>
            <a:solidFill>
              <a:schemeClr val="tx1">
                <a:lumMod val="85000"/>
              </a:schemeClr>
            </a:solidFill>
          </p:spPr>
          <p:txBody>
            <a:bodyPr wrap="square" rtlCol="0">
              <a:spAutoFit/>
            </a:bodyPr>
            <a:lstStyle/>
            <a:p>
              <a:r>
                <a:rPr lang="en-US" altLang="zh-CN" sz="1600" b="0" dirty="0">
                  <a:solidFill>
                    <a:schemeClr val="bg2">
                      <a:lumMod val="95000"/>
                      <a:lumOff val="5000"/>
                    </a:schemeClr>
                  </a:solidFill>
                  <a:latin typeface="Times New Roman" pitchFamily="18" charset="0"/>
                </a:rPr>
                <a:t>void </a:t>
              </a:r>
              <a:r>
                <a:rPr lang="en-US" altLang="zh-CN" sz="2000" dirty="0">
                  <a:solidFill>
                    <a:schemeClr val="bg2">
                      <a:lumMod val="95000"/>
                      <a:lumOff val="5000"/>
                    </a:schemeClr>
                  </a:solidFill>
                  <a:latin typeface="Times New Roman" pitchFamily="18" charset="0"/>
                </a:rPr>
                <a:t>sleep</a:t>
              </a:r>
              <a:r>
                <a:rPr lang="en-US" altLang="zh-CN" sz="1600" b="0" dirty="0">
                  <a:solidFill>
                    <a:schemeClr val="bg2">
                      <a:lumMod val="95000"/>
                      <a:lumOff val="5000"/>
                    </a:schemeClr>
                  </a:solidFill>
                  <a:latin typeface="Times New Roman" pitchFamily="18" charset="0"/>
                </a:rPr>
                <a:t>(void *</a:t>
              </a:r>
              <a:r>
                <a:rPr lang="en-US" altLang="zh-CN" sz="1600" b="0" dirty="0" err="1">
                  <a:solidFill>
                    <a:schemeClr val="bg2">
                      <a:lumMod val="95000"/>
                      <a:lumOff val="5000"/>
                    </a:schemeClr>
                  </a:solidFill>
                  <a:latin typeface="Times New Roman" pitchFamily="18" charset="0"/>
                </a:rPr>
                <a:t>chan</a:t>
              </a:r>
              <a:r>
                <a:rPr lang="en-US" altLang="zh-CN" sz="1600" b="0" dirty="0">
                  <a:solidFill>
                    <a:schemeClr val="bg2">
                      <a:lumMod val="95000"/>
                      <a:lumOff val="5000"/>
                    </a:schemeClr>
                  </a:solidFill>
                  <a:latin typeface="Times New Roman" pitchFamily="18" charset="0"/>
                </a:rPr>
                <a:t>, struct spinlock *</a:t>
              </a:r>
              <a:r>
                <a:rPr lang="en-US" altLang="zh-CN" sz="1600" b="0" dirty="0" err="1">
                  <a:solidFill>
                    <a:schemeClr val="bg2">
                      <a:lumMod val="95000"/>
                      <a:lumOff val="5000"/>
                    </a:schemeClr>
                  </a:solidFill>
                  <a:latin typeface="Times New Roman" pitchFamily="18" charset="0"/>
                </a:rPr>
                <a:t>lk</a:t>
              </a:r>
              <a:r>
                <a:rPr lang="en-US" altLang="zh-CN" sz="1600" b="0" dirty="0">
                  <a:solidFill>
                    <a:schemeClr val="bg2">
                      <a:lumMod val="95000"/>
                      <a:lumOff val="5000"/>
                    </a:schemeClr>
                  </a:solidFill>
                  <a:latin typeface="Times New Roman" pitchFamily="18" charset="0"/>
                </a:rPr>
                <a:t>)</a:t>
              </a:r>
            </a:p>
            <a:p>
              <a:r>
                <a:rPr lang="en-US" altLang="zh-CN" sz="1600" b="0" dirty="0">
                  <a:solidFill>
                    <a:schemeClr val="bg2">
                      <a:lumMod val="95000"/>
                      <a:lumOff val="5000"/>
                    </a:schemeClr>
                  </a:solidFill>
                  <a:latin typeface="Times New Roman" pitchFamily="18" charset="0"/>
                </a:rPr>
                <a:t>{</a:t>
              </a:r>
            </a:p>
            <a:p>
              <a:r>
                <a:rPr lang="en-US" altLang="zh-CN" sz="1600" b="0" dirty="0">
                  <a:solidFill>
                    <a:schemeClr val="bg2">
                      <a:lumMod val="95000"/>
                      <a:lumOff val="5000"/>
                    </a:schemeClr>
                  </a:solidFill>
                  <a:latin typeface="Times New Roman" pitchFamily="18" charset="0"/>
                </a:rPr>
                <a:t> struct proc *p = </a:t>
              </a:r>
              <a:r>
                <a:rPr lang="en-US" altLang="zh-CN" sz="1600" b="0" dirty="0" err="1">
                  <a:solidFill>
                    <a:schemeClr val="bg2">
                      <a:lumMod val="95000"/>
                      <a:lumOff val="5000"/>
                    </a:schemeClr>
                  </a:solidFill>
                  <a:latin typeface="Times New Roman" pitchFamily="18" charset="0"/>
                </a:rPr>
                <a:t>myproc</a:t>
              </a:r>
              <a:r>
                <a:rPr lang="en-US" altLang="zh-CN" sz="1600" b="0" dirty="0">
                  <a:solidFill>
                    <a:schemeClr val="bg2">
                      <a:lumMod val="95000"/>
                      <a:lumOff val="5000"/>
                    </a:schemeClr>
                  </a:solidFill>
                  <a:latin typeface="Times New Roman" pitchFamily="18" charset="0"/>
                </a:rPr>
                <a:t>();</a:t>
              </a:r>
            </a:p>
            <a:p>
              <a:r>
                <a:rPr lang="en-US" altLang="zh-CN" sz="1600" b="0" dirty="0">
                  <a:solidFill>
                    <a:schemeClr val="bg2">
                      <a:lumMod val="95000"/>
                      <a:lumOff val="5000"/>
                    </a:schemeClr>
                  </a:solidFill>
                  <a:latin typeface="Times New Roman" pitchFamily="18" charset="0"/>
                </a:rPr>
                <a:t> acquire(&amp;p-&gt;lock);  </a:t>
              </a:r>
            </a:p>
            <a:p>
              <a:r>
                <a:rPr lang="en-US" altLang="zh-CN" sz="1600" b="0" dirty="0">
                  <a:solidFill>
                    <a:schemeClr val="bg2">
                      <a:lumMod val="95000"/>
                      <a:lumOff val="5000"/>
                    </a:schemeClr>
                  </a:solidFill>
                  <a:latin typeface="Times New Roman" pitchFamily="18" charset="0"/>
                </a:rPr>
                <a:t> release(</a:t>
              </a:r>
              <a:r>
                <a:rPr lang="en-US" altLang="zh-CN" sz="1600" b="0" dirty="0" err="1">
                  <a:solidFill>
                    <a:schemeClr val="bg2">
                      <a:lumMod val="95000"/>
                      <a:lumOff val="5000"/>
                    </a:schemeClr>
                  </a:solidFill>
                  <a:latin typeface="Times New Roman" pitchFamily="18" charset="0"/>
                </a:rPr>
                <a:t>lk</a:t>
              </a:r>
              <a:r>
                <a:rPr lang="en-US" altLang="zh-CN" sz="1600" b="0" dirty="0">
                  <a:solidFill>
                    <a:schemeClr val="bg2">
                      <a:lumMod val="95000"/>
                      <a:lumOff val="5000"/>
                    </a:schemeClr>
                  </a:solidFill>
                  <a:latin typeface="Times New Roman" pitchFamily="18" charset="0"/>
                </a:rPr>
                <a:t>);</a:t>
              </a:r>
            </a:p>
            <a:p>
              <a:r>
                <a:rPr lang="en-US" altLang="zh-CN" sz="1600" b="0" dirty="0">
                  <a:solidFill>
                    <a:schemeClr val="bg2">
                      <a:lumMod val="95000"/>
                      <a:lumOff val="5000"/>
                    </a:schemeClr>
                  </a:solidFill>
                  <a:latin typeface="Times New Roman" pitchFamily="18" charset="0"/>
                </a:rPr>
                <a:t>p-&gt;</a:t>
              </a:r>
              <a:r>
                <a:rPr lang="en-US" altLang="zh-CN" sz="1600" b="0" dirty="0" err="1">
                  <a:solidFill>
                    <a:schemeClr val="bg2">
                      <a:lumMod val="95000"/>
                      <a:lumOff val="5000"/>
                    </a:schemeClr>
                  </a:solidFill>
                  <a:latin typeface="Times New Roman" pitchFamily="18" charset="0"/>
                </a:rPr>
                <a:t>chan</a:t>
              </a:r>
              <a:r>
                <a:rPr lang="en-US" altLang="zh-CN" sz="1600" b="0" dirty="0">
                  <a:solidFill>
                    <a:schemeClr val="bg2">
                      <a:lumMod val="95000"/>
                      <a:lumOff val="5000"/>
                    </a:schemeClr>
                  </a:solidFill>
                  <a:latin typeface="Times New Roman" pitchFamily="18" charset="0"/>
                </a:rPr>
                <a:t> = </a:t>
              </a:r>
              <a:r>
                <a:rPr lang="en-US" altLang="zh-CN" sz="1600" b="0" dirty="0" err="1">
                  <a:solidFill>
                    <a:schemeClr val="bg2">
                      <a:lumMod val="95000"/>
                      <a:lumOff val="5000"/>
                    </a:schemeClr>
                  </a:solidFill>
                  <a:latin typeface="Times New Roman" pitchFamily="18" charset="0"/>
                </a:rPr>
                <a:t>chan</a:t>
              </a:r>
              <a:r>
                <a:rPr lang="en-US" altLang="zh-CN" sz="1600" b="0" dirty="0">
                  <a:solidFill>
                    <a:schemeClr val="bg2">
                      <a:lumMod val="95000"/>
                      <a:lumOff val="5000"/>
                    </a:schemeClr>
                  </a:solidFill>
                  <a:latin typeface="Times New Roman" pitchFamily="18" charset="0"/>
                </a:rPr>
                <a:t>;</a:t>
              </a:r>
            </a:p>
            <a:p>
              <a:r>
                <a:rPr lang="en-US" altLang="zh-CN" sz="1600" b="0" dirty="0">
                  <a:solidFill>
                    <a:schemeClr val="bg2">
                      <a:lumMod val="95000"/>
                      <a:lumOff val="5000"/>
                    </a:schemeClr>
                  </a:solidFill>
                  <a:latin typeface="Times New Roman" pitchFamily="18" charset="0"/>
                </a:rPr>
                <a:t> </a:t>
              </a:r>
              <a:r>
                <a:rPr lang="en-US" altLang="zh-CN" sz="2000" dirty="0">
                  <a:solidFill>
                    <a:schemeClr val="bg2">
                      <a:lumMod val="95000"/>
                      <a:lumOff val="5000"/>
                    </a:schemeClr>
                  </a:solidFill>
                  <a:latin typeface="Times New Roman" pitchFamily="18" charset="0"/>
                </a:rPr>
                <a:t>p-&gt;state = SLEEPING;</a:t>
              </a:r>
            </a:p>
            <a:p>
              <a:r>
                <a:rPr lang="en-US" altLang="zh-CN" sz="2000" dirty="0">
                  <a:solidFill>
                    <a:schemeClr val="bg2">
                      <a:lumMod val="95000"/>
                      <a:lumOff val="5000"/>
                    </a:schemeClr>
                  </a:solidFill>
                  <a:latin typeface="Times New Roman" pitchFamily="18" charset="0"/>
                </a:rPr>
                <a:t> sched();</a:t>
              </a:r>
            </a:p>
            <a:p>
              <a:r>
                <a:rPr lang="en-US" altLang="zh-CN" sz="1600" b="0" dirty="0">
                  <a:solidFill>
                    <a:schemeClr val="bg2">
                      <a:lumMod val="95000"/>
                      <a:lumOff val="5000"/>
                    </a:schemeClr>
                  </a:solidFill>
                  <a:latin typeface="Times New Roman" pitchFamily="18" charset="0"/>
                </a:rPr>
                <a:t>p-&gt;</a:t>
              </a:r>
              <a:r>
                <a:rPr lang="en-US" altLang="zh-CN" sz="1600" b="0" dirty="0" err="1">
                  <a:solidFill>
                    <a:schemeClr val="bg2">
                      <a:lumMod val="95000"/>
                      <a:lumOff val="5000"/>
                    </a:schemeClr>
                  </a:solidFill>
                  <a:latin typeface="Times New Roman" pitchFamily="18" charset="0"/>
                </a:rPr>
                <a:t>chan</a:t>
              </a:r>
              <a:r>
                <a:rPr lang="en-US" altLang="zh-CN" sz="1600" b="0" dirty="0">
                  <a:solidFill>
                    <a:schemeClr val="bg2">
                      <a:lumMod val="95000"/>
                      <a:lumOff val="5000"/>
                    </a:schemeClr>
                  </a:solidFill>
                  <a:latin typeface="Times New Roman" pitchFamily="18" charset="0"/>
                </a:rPr>
                <a:t> = 0;</a:t>
              </a:r>
            </a:p>
            <a:p>
              <a:r>
                <a:rPr lang="en-US" altLang="zh-CN" sz="1600" b="0" dirty="0">
                  <a:solidFill>
                    <a:schemeClr val="bg2">
                      <a:lumMod val="95000"/>
                      <a:lumOff val="5000"/>
                    </a:schemeClr>
                  </a:solidFill>
                  <a:latin typeface="Times New Roman" pitchFamily="18" charset="0"/>
                </a:rPr>
                <a:t>release(&amp;p-&gt;lock);</a:t>
              </a:r>
            </a:p>
            <a:p>
              <a:r>
                <a:rPr lang="en-US" altLang="zh-CN" sz="1600" b="0" dirty="0">
                  <a:solidFill>
                    <a:schemeClr val="bg2">
                      <a:lumMod val="95000"/>
                      <a:lumOff val="5000"/>
                    </a:schemeClr>
                  </a:solidFill>
                  <a:latin typeface="Times New Roman" pitchFamily="18" charset="0"/>
                </a:rPr>
                <a:t>acquire(</a:t>
              </a:r>
              <a:r>
                <a:rPr lang="en-US" altLang="zh-CN" sz="1600" b="0" dirty="0" err="1">
                  <a:solidFill>
                    <a:schemeClr val="bg2">
                      <a:lumMod val="95000"/>
                      <a:lumOff val="5000"/>
                    </a:schemeClr>
                  </a:solidFill>
                  <a:latin typeface="Times New Roman" pitchFamily="18" charset="0"/>
                </a:rPr>
                <a:t>lk</a:t>
              </a:r>
              <a:r>
                <a:rPr lang="en-US" altLang="zh-CN" sz="1600" b="0" dirty="0">
                  <a:solidFill>
                    <a:schemeClr val="bg2">
                      <a:lumMod val="95000"/>
                      <a:lumOff val="5000"/>
                    </a:schemeClr>
                  </a:solidFill>
                  <a:latin typeface="Times New Roman" pitchFamily="18" charset="0"/>
                </a:rPr>
                <a:t>);</a:t>
              </a:r>
            </a:p>
            <a:p>
              <a:r>
                <a:rPr lang="en-US" altLang="zh-CN" sz="1600" b="0" dirty="0">
                  <a:solidFill>
                    <a:schemeClr val="bg2">
                      <a:lumMod val="95000"/>
                      <a:lumOff val="5000"/>
                    </a:schemeClr>
                  </a:solidFill>
                  <a:latin typeface="Times New Roman" pitchFamily="18" charset="0"/>
                </a:rPr>
                <a:t>}</a:t>
              </a:r>
              <a:endParaRPr lang="zh-CN" altLang="en-US" dirty="0"/>
            </a:p>
          </p:txBody>
        </p:sp>
        <p:sp>
          <p:nvSpPr>
            <p:cNvPr id="17" name="矩形 16">
              <a:extLst>
                <a:ext uri="{FF2B5EF4-FFF2-40B4-BE49-F238E27FC236}">
                  <a16:creationId xmlns:a16="http://schemas.microsoft.com/office/drawing/2014/main" id="{805E8D97-928D-456C-887D-2A9E12095F0C}"/>
                </a:ext>
              </a:extLst>
            </p:cNvPr>
            <p:cNvSpPr/>
            <p:nvPr/>
          </p:nvSpPr>
          <p:spPr>
            <a:xfrm>
              <a:off x="5130439" y="2296720"/>
              <a:ext cx="2613566" cy="288033"/>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cxnSp>
          <p:nvCxnSpPr>
            <p:cNvPr id="20" name="直接箭头连接符 19">
              <a:extLst>
                <a:ext uri="{FF2B5EF4-FFF2-40B4-BE49-F238E27FC236}">
                  <a16:creationId xmlns:a16="http://schemas.microsoft.com/office/drawing/2014/main" id="{B9FB56CB-9A0C-4A23-8E0F-15F56A8337B4}"/>
                </a:ext>
              </a:extLst>
            </p:cNvPr>
            <p:cNvCxnSpPr>
              <a:cxnSpLocks/>
            </p:cNvCxnSpPr>
            <p:nvPr/>
          </p:nvCxnSpPr>
          <p:spPr bwMode="auto">
            <a:xfrm flipV="1">
              <a:off x="1696616" y="1650477"/>
              <a:ext cx="3365386" cy="703570"/>
            </a:xfrm>
            <a:prstGeom prst="straightConnector1">
              <a:avLst/>
            </a:prstGeom>
            <a:noFill/>
            <a:ln w="38100" cap="flat" cmpd="sng" algn="ctr">
              <a:solidFill>
                <a:srgbClr val="99CCFF"/>
              </a:solidFill>
              <a:prstDash val="solid"/>
              <a:round/>
              <a:headEnd type="triangle" w="med" len="med"/>
              <a:tailEnd type="none" w="med" len="med"/>
            </a:ln>
            <a:effectLst/>
          </p:spPr>
        </p:cxnSp>
      </p:grpSp>
      <p:sp>
        <p:nvSpPr>
          <p:cNvPr id="23" name="矩形 22">
            <a:extLst>
              <a:ext uri="{FF2B5EF4-FFF2-40B4-BE49-F238E27FC236}">
                <a16:creationId xmlns:a16="http://schemas.microsoft.com/office/drawing/2014/main" id="{4BA76E0C-B938-4973-8B21-ADCD7BAD8B0A}"/>
              </a:ext>
            </a:extLst>
          </p:cNvPr>
          <p:cNvSpPr/>
          <p:nvPr/>
        </p:nvSpPr>
        <p:spPr>
          <a:xfrm>
            <a:off x="534901" y="4360612"/>
            <a:ext cx="1656890" cy="288032"/>
          </a:xfrm>
          <a:prstGeom prst="rect">
            <a:avLst/>
          </a:prstGeom>
          <a:solidFill>
            <a:srgbClr val="FF99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25" name="矩形 24">
            <a:extLst>
              <a:ext uri="{FF2B5EF4-FFF2-40B4-BE49-F238E27FC236}">
                <a16:creationId xmlns:a16="http://schemas.microsoft.com/office/drawing/2014/main" id="{5228C479-76A7-4093-95E1-157DA6BE83CC}"/>
              </a:ext>
            </a:extLst>
          </p:cNvPr>
          <p:cNvSpPr/>
          <p:nvPr/>
        </p:nvSpPr>
        <p:spPr>
          <a:xfrm>
            <a:off x="859583" y="5126692"/>
            <a:ext cx="1905000" cy="288031"/>
          </a:xfrm>
          <a:prstGeom prst="rect">
            <a:avLst/>
          </a:prstGeom>
          <a:solidFill>
            <a:srgbClr val="99CC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26" name="矩形 25">
            <a:extLst>
              <a:ext uri="{FF2B5EF4-FFF2-40B4-BE49-F238E27FC236}">
                <a16:creationId xmlns:a16="http://schemas.microsoft.com/office/drawing/2014/main" id="{9DBBEB45-490E-4094-A674-44644F0EE37C}"/>
              </a:ext>
            </a:extLst>
          </p:cNvPr>
          <p:cNvSpPr/>
          <p:nvPr/>
        </p:nvSpPr>
        <p:spPr>
          <a:xfrm>
            <a:off x="859583" y="5604740"/>
            <a:ext cx="1905000" cy="288031"/>
          </a:xfrm>
          <a:prstGeom prst="rect">
            <a:avLst/>
          </a:prstGeom>
          <a:solidFill>
            <a:srgbClr val="99CC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grpSp>
        <p:nvGrpSpPr>
          <p:cNvPr id="32" name="组合 31">
            <a:extLst>
              <a:ext uri="{FF2B5EF4-FFF2-40B4-BE49-F238E27FC236}">
                <a16:creationId xmlns:a16="http://schemas.microsoft.com/office/drawing/2014/main" id="{A7C430F4-3621-4AED-9095-D19CEDB55591}"/>
              </a:ext>
            </a:extLst>
          </p:cNvPr>
          <p:cNvGrpSpPr/>
          <p:nvPr/>
        </p:nvGrpSpPr>
        <p:grpSpPr>
          <a:xfrm>
            <a:off x="2764583" y="4065531"/>
            <a:ext cx="6260712" cy="2677656"/>
            <a:chOff x="2764583" y="4065531"/>
            <a:chExt cx="6260712" cy="2677656"/>
          </a:xfrm>
        </p:grpSpPr>
        <p:sp>
          <p:nvSpPr>
            <p:cNvPr id="27" name="文本框 26">
              <a:extLst>
                <a:ext uri="{FF2B5EF4-FFF2-40B4-BE49-F238E27FC236}">
                  <a16:creationId xmlns:a16="http://schemas.microsoft.com/office/drawing/2014/main" id="{21883F69-C011-4C66-AE58-13930CFF625E}"/>
                </a:ext>
              </a:extLst>
            </p:cNvPr>
            <p:cNvSpPr txBox="1"/>
            <p:nvPr/>
          </p:nvSpPr>
          <p:spPr>
            <a:xfrm>
              <a:off x="5016038" y="4065531"/>
              <a:ext cx="4009257" cy="2677656"/>
            </a:xfrm>
            <a:prstGeom prst="rect">
              <a:avLst/>
            </a:prstGeom>
            <a:solidFill>
              <a:schemeClr val="tx1">
                <a:lumMod val="85000"/>
              </a:schemeClr>
            </a:solidFill>
          </p:spPr>
          <p:txBody>
            <a:bodyPr wrap="square" rtlCol="0">
              <a:spAutoFit/>
            </a:bodyPr>
            <a:lstStyle/>
            <a:p>
              <a:r>
                <a:rPr lang="en-US" altLang="zh-CN" sz="1600" b="0" dirty="0">
                  <a:solidFill>
                    <a:schemeClr val="bg2">
                      <a:lumMod val="95000"/>
                      <a:lumOff val="5000"/>
                    </a:schemeClr>
                  </a:solidFill>
                  <a:latin typeface="Times New Roman" pitchFamily="18" charset="0"/>
                </a:rPr>
                <a:t>void </a:t>
              </a:r>
              <a:r>
                <a:rPr lang="en-US" altLang="zh-CN" sz="2000" dirty="0">
                  <a:solidFill>
                    <a:schemeClr val="bg2">
                      <a:lumMod val="95000"/>
                      <a:lumOff val="5000"/>
                    </a:schemeClr>
                  </a:solidFill>
                  <a:latin typeface="Times New Roman" pitchFamily="18" charset="0"/>
                </a:rPr>
                <a:t>wakeup</a:t>
              </a:r>
              <a:r>
                <a:rPr lang="en-US" altLang="zh-CN" sz="1600" b="0" dirty="0">
                  <a:solidFill>
                    <a:schemeClr val="bg2">
                      <a:lumMod val="95000"/>
                      <a:lumOff val="5000"/>
                    </a:schemeClr>
                  </a:solidFill>
                  <a:latin typeface="Times New Roman" pitchFamily="18" charset="0"/>
                </a:rPr>
                <a:t>(void *</a:t>
              </a:r>
              <a:r>
                <a:rPr lang="en-US" altLang="zh-CN" sz="1600" b="0" dirty="0" err="1">
                  <a:solidFill>
                    <a:schemeClr val="bg2">
                      <a:lumMod val="95000"/>
                      <a:lumOff val="5000"/>
                    </a:schemeClr>
                  </a:solidFill>
                  <a:latin typeface="Times New Roman" pitchFamily="18" charset="0"/>
                </a:rPr>
                <a:t>chan</a:t>
              </a:r>
              <a:r>
                <a:rPr lang="en-US" altLang="zh-CN" sz="1600" b="0" dirty="0">
                  <a:solidFill>
                    <a:schemeClr val="bg2">
                      <a:lumMod val="95000"/>
                      <a:lumOff val="5000"/>
                    </a:schemeClr>
                  </a:solidFill>
                  <a:latin typeface="Times New Roman" pitchFamily="18" charset="0"/>
                </a:rPr>
                <a:t>)</a:t>
              </a:r>
            </a:p>
            <a:p>
              <a:r>
                <a:rPr lang="en-US" altLang="zh-CN" sz="1600" b="0" dirty="0">
                  <a:solidFill>
                    <a:schemeClr val="bg2">
                      <a:lumMod val="95000"/>
                      <a:lumOff val="5000"/>
                    </a:schemeClr>
                  </a:solidFill>
                  <a:latin typeface="Times New Roman" pitchFamily="18" charset="0"/>
                </a:rPr>
                <a:t>{ struct proc *p;</a:t>
              </a:r>
            </a:p>
            <a:p>
              <a:r>
                <a:rPr lang="en-US" altLang="zh-CN" sz="1600" b="0" dirty="0">
                  <a:solidFill>
                    <a:schemeClr val="bg2">
                      <a:lumMod val="95000"/>
                      <a:lumOff val="5000"/>
                    </a:schemeClr>
                  </a:solidFill>
                  <a:latin typeface="Times New Roman" pitchFamily="18" charset="0"/>
                </a:rPr>
                <a:t>  for(p = proc; p &lt; &amp;proc[</a:t>
              </a:r>
              <a:r>
                <a:rPr lang="en-US" altLang="zh-CN" sz="1600" b="0" dirty="0" err="1">
                  <a:solidFill>
                    <a:schemeClr val="bg2">
                      <a:lumMod val="95000"/>
                      <a:lumOff val="5000"/>
                    </a:schemeClr>
                  </a:solidFill>
                  <a:latin typeface="Times New Roman" pitchFamily="18" charset="0"/>
                </a:rPr>
                <a:t>NPROC</a:t>
              </a:r>
              <a:r>
                <a:rPr lang="en-US" altLang="zh-CN" sz="1600" b="0" dirty="0">
                  <a:solidFill>
                    <a:schemeClr val="bg2">
                      <a:lumMod val="95000"/>
                      <a:lumOff val="5000"/>
                    </a:schemeClr>
                  </a:solidFill>
                  <a:latin typeface="Times New Roman" pitchFamily="18" charset="0"/>
                </a:rPr>
                <a:t>]; p++) {</a:t>
              </a:r>
            </a:p>
            <a:p>
              <a:r>
                <a:rPr lang="en-US" altLang="zh-CN" sz="1600" b="0" dirty="0">
                  <a:solidFill>
                    <a:schemeClr val="bg2">
                      <a:lumMod val="95000"/>
                      <a:lumOff val="5000"/>
                    </a:schemeClr>
                  </a:solidFill>
                  <a:latin typeface="Times New Roman" pitchFamily="18" charset="0"/>
                </a:rPr>
                <a:t>    if(p != </a:t>
              </a:r>
              <a:r>
                <a:rPr lang="en-US" altLang="zh-CN" sz="1600" b="0" dirty="0" err="1">
                  <a:solidFill>
                    <a:schemeClr val="bg2">
                      <a:lumMod val="95000"/>
                      <a:lumOff val="5000"/>
                    </a:schemeClr>
                  </a:solidFill>
                  <a:latin typeface="Times New Roman" pitchFamily="18" charset="0"/>
                </a:rPr>
                <a:t>myproc</a:t>
              </a:r>
              <a:r>
                <a:rPr lang="en-US" altLang="zh-CN" sz="1600" b="0" dirty="0">
                  <a:solidFill>
                    <a:schemeClr val="bg2">
                      <a:lumMod val="95000"/>
                      <a:lumOff val="5000"/>
                    </a:schemeClr>
                  </a:solidFill>
                  <a:latin typeface="Times New Roman" pitchFamily="18" charset="0"/>
                </a:rPr>
                <a:t>()){</a:t>
              </a:r>
            </a:p>
            <a:p>
              <a:r>
                <a:rPr lang="en-US" altLang="zh-CN" sz="1600" b="0" dirty="0">
                  <a:solidFill>
                    <a:schemeClr val="bg2">
                      <a:lumMod val="95000"/>
                      <a:lumOff val="5000"/>
                    </a:schemeClr>
                  </a:solidFill>
                  <a:latin typeface="Times New Roman" pitchFamily="18" charset="0"/>
                </a:rPr>
                <a:t>      acquire(&amp;p-&gt;lock);</a:t>
              </a:r>
            </a:p>
            <a:p>
              <a:r>
                <a:rPr lang="en-US" altLang="zh-CN" sz="1600" b="0" dirty="0">
                  <a:solidFill>
                    <a:schemeClr val="bg2">
                      <a:lumMod val="95000"/>
                      <a:lumOff val="5000"/>
                    </a:schemeClr>
                  </a:solidFill>
                  <a:latin typeface="Times New Roman" pitchFamily="18" charset="0"/>
                </a:rPr>
                <a:t>      if(p-&gt;state == SLEEPING &amp;&amp; p-&gt;</a:t>
              </a:r>
              <a:r>
                <a:rPr lang="en-US" altLang="zh-CN" sz="1600" b="0" dirty="0" err="1">
                  <a:solidFill>
                    <a:schemeClr val="bg2">
                      <a:lumMod val="95000"/>
                      <a:lumOff val="5000"/>
                    </a:schemeClr>
                  </a:solidFill>
                  <a:latin typeface="Times New Roman" pitchFamily="18" charset="0"/>
                </a:rPr>
                <a:t>chan</a:t>
              </a:r>
              <a:r>
                <a:rPr lang="en-US" altLang="zh-CN" sz="1600" b="0" dirty="0">
                  <a:solidFill>
                    <a:schemeClr val="bg2">
                      <a:lumMod val="95000"/>
                      <a:lumOff val="5000"/>
                    </a:schemeClr>
                  </a:solidFill>
                  <a:latin typeface="Times New Roman" pitchFamily="18" charset="0"/>
                </a:rPr>
                <a:t> == </a:t>
              </a:r>
              <a:r>
                <a:rPr lang="en-US" altLang="zh-CN" sz="1600" b="0" dirty="0" err="1">
                  <a:solidFill>
                    <a:schemeClr val="bg2">
                      <a:lumMod val="95000"/>
                      <a:lumOff val="5000"/>
                    </a:schemeClr>
                  </a:solidFill>
                  <a:latin typeface="Times New Roman" pitchFamily="18" charset="0"/>
                </a:rPr>
                <a:t>chan</a:t>
              </a:r>
              <a:r>
                <a:rPr lang="en-US" altLang="zh-CN" sz="1600" b="0" dirty="0">
                  <a:solidFill>
                    <a:schemeClr val="bg2">
                      <a:lumMod val="95000"/>
                      <a:lumOff val="5000"/>
                    </a:schemeClr>
                  </a:solidFill>
                  <a:latin typeface="Times New Roman" pitchFamily="18" charset="0"/>
                </a:rPr>
                <a:t>) </a:t>
              </a:r>
            </a:p>
            <a:p>
              <a:r>
                <a:rPr lang="en-US" altLang="zh-CN" sz="2000" dirty="0">
                  <a:solidFill>
                    <a:schemeClr val="bg2">
                      <a:lumMod val="95000"/>
                      <a:lumOff val="5000"/>
                    </a:schemeClr>
                  </a:solidFill>
                  <a:latin typeface="Times New Roman" pitchFamily="18" charset="0"/>
                </a:rPr>
                <a:t>               p-&gt;state = RUNNABLE</a:t>
              </a:r>
              <a:r>
                <a:rPr lang="en-US" altLang="zh-CN" sz="1600" b="0" dirty="0">
                  <a:solidFill>
                    <a:schemeClr val="bg2">
                      <a:lumMod val="95000"/>
                      <a:lumOff val="5000"/>
                    </a:schemeClr>
                  </a:solidFill>
                  <a:latin typeface="Times New Roman" pitchFamily="18" charset="0"/>
                </a:rPr>
                <a:t>;</a:t>
              </a:r>
            </a:p>
            <a:p>
              <a:r>
                <a:rPr lang="en-US" altLang="zh-CN" sz="1600" b="0" dirty="0">
                  <a:solidFill>
                    <a:schemeClr val="bg2">
                      <a:lumMod val="95000"/>
                      <a:lumOff val="5000"/>
                    </a:schemeClr>
                  </a:solidFill>
                  <a:latin typeface="Times New Roman" pitchFamily="18" charset="0"/>
                </a:rPr>
                <a:t>            release(&amp;p-&gt;lock);</a:t>
              </a:r>
            </a:p>
            <a:p>
              <a:r>
                <a:rPr lang="en-US" altLang="zh-CN" sz="1600" b="0" dirty="0">
                  <a:solidFill>
                    <a:schemeClr val="bg2">
                      <a:lumMod val="95000"/>
                      <a:lumOff val="5000"/>
                    </a:schemeClr>
                  </a:solidFill>
                  <a:latin typeface="Times New Roman" pitchFamily="18" charset="0"/>
                </a:rPr>
                <a:t>    }  }}</a:t>
              </a:r>
              <a:endParaRPr lang="zh-CN" altLang="en-US" dirty="0"/>
            </a:p>
          </p:txBody>
        </p:sp>
        <p:cxnSp>
          <p:nvCxnSpPr>
            <p:cNvPr id="28" name="直接箭头连接符 27">
              <a:extLst>
                <a:ext uri="{FF2B5EF4-FFF2-40B4-BE49-F238E27FC236}">
                  <a16:creationId xmlns:a16="http://schemas.microsoft.com/office/drawing/2014/main" id="{8C59C63D-8FF3-4038-8DF1-213512B74C0B}"/>
                </a:ext>
              </a:extLst>
            </p:cNvPr>
            <p:cNvCxnSpPr>
              <a:cxnSpLocks/>
              <a:stCxn id="26" idx="3"/>
            </p:cNvCxnSpPr>
            <p:nvPr/>
          </p:nvCxnSpPr>
          <p:spPr bwMode="auto">
            <a:xfrm flipV="1">
              <a:off x="2764583" y="5033884"/>
              <a:ext cx="2379536" cy="714872"/>
            </a:xfrm>
            <a:prstGeom prst="straightConnector1">
              <a:avLst/>
            </a:prstGeom>
            <a:noFill/>
            <a:ln w="38100" cap="flat" cmpd="sng" algn="ctr">
              <a:solidFill>
                <a:srgbClr val="99CCFF"/>
              </a:solidFill>
              <a:prstDash val="solid"/>
              <a:round/>
              <a:headEnd type="triangle" w="med" len="med"/>
              <a:tailEnd type="none" w="med" len="med"/>
            </a:ln>
            <a:effectLst/>
          </p:spPr>
        </p:cxnSp>
        <p:sp>
          <p:nvSpPr>
            <p:cNvPr id="31" name="矩形 30">
              <a:extLst>
                <a:ext uri="{FF2B5EF4-FFF2-40B4-BE49-F238E27FC236}">
                  <a16:creationId xmlns:a16="http://schemas.microsoft.com/office/drawing/2014/main" id="{3D1ACEBF-1BEF-4097-9286-831DA6BF9D13}"/>
                </a:ext>
              </a:extLst>
            </p:cNvPr>
            <p:cNvSpPr/>
            <p:nvPr/>
          </p:nvSpPr>
          <p:spPr>
            <a:xfrm>
              <a:off x="6024022" y="5872452"/>
              <a:ext cx="2661924" cy="288033"/>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grpSp>
      <p:grpSp>
        <p:nvGrpSpPr>
          <p:cNvPr id="35" name="组合 34">
            <a:extLst>
              <a:ext uri="{FF2B5EF4-FFF2-40B4-BE49-F238E27FC236}">
                <a16:creationId xmlns:a16="http://schemas.microsoft.com/office/drawing/2014/main" id="{42EF66D4-63F4-443C-B972-C62303957770}"/>
              </a:ext>
            </a:extLst>
          </p:cNvPr>
          <p:cNvGrpSpPr/>
          <p:nvPr/>
        </p:nvGrpSpPr>
        <p:grpSpPr>
          <a:xfrm>
            <a:off x="859581" y="2678020"/>
            <a:ext cx="3060402" cy="559954"/>
            <a:chOff x="719510" y="2738410"/>
            <a:chExt cx="3060402" cy="559954"/>
          </a:xfrm>
        </p:grpSpPr>
        <p:sp>
          <p:nvSpPr>
            <p:cNvPr id="33" name="矩形 32">
              <a:extLst>
                <a:ext uri="{FF2B5EF4-FFF2-40B4-BE49-F238E27FC236}">
                  <a16:creationId xmlns:a16="http://schemas.microsoft.com/office/drawing/2014/main" id="{9F4BF0E1-4398-4D84-B80B-235AD8F41B6A}"/>
                </a:ext>
              </a:extLst>
            </p:cNvPr>
            <p:cNvSpPr/>
            <p:nvPr/>
          </p:nvSpPr>
          <p:spPr>
            <a:xfrm>
              <a:off x="719511" y="2738410"/>
              <a:ext cx="1746549" cy="288032"/>
            </a:xfrm>
            <a:prstGeom prst="rect">
              <a:avLst/>
            </a:prstGeom>
            <a:solidFill>
              <a:srgbClr val="99CC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34" name="矩形 33">
              <a:extLst>
                <a:ext uri="{FF2B5EF4-FFF2-40B4-BE49-F238E27FC236}">
                  <a16:creationId xmlns:a16="http://schemas.microsoft.com/office/drawing/2014/main" id="{A015147C-43C2-4C0F-83DE-6CD972CA714C}"/>
                </a:ext>
              </a:extLst>
            </p:cNvPr>
            <p:cNvSpPr/>
            <p:nvPr/>
          </p:nvSpPr>
          <p:spPr>
            <a:xfrm>
              <a:off x="719510" y="3058246"/>
              <a:ext cx="3060402" cy="240118"/>
            </a:xfrm>
            <a:prstGeom prst="rect">
              <a:avLst/>
            </a:prstGeom>
            <a:solidFill>
              <a:srgbClr val="99CC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grpSp>
      <p:grpSp>
        <p:nvGrpSpPr>
          <p:cNvPr id="39" name="组合 38">
            <a:extLst>
              <a:ext uri="{FF2B5EF4-FFF2-40B4-BE49-F238E27FC236}">
                <a16:creationId xmlns:a16="http://schemas.microsoft.com/office/drawing/2014/main" id="{BDA5B436-7B0E-4632-AC3E-665311F06669}"/>
              </a:ext>
            </a:extLst>
          </p:cNvPr>
          <p:cNvGrpSpPr/>
          <p:nvPr/>
        </p:nvGrpSpPr>
        <p:grpSpPr>
          <a:xfrm>
            <a:off x="5092795" y="2601263"/>
            <a:ext cx="3043600" cy="288032"/>
            <a:chOff x="5092795" y="2601263"/>
            <a:chExt cx="3043600" cy="288032"/>
          </a:xfrm>
        </p:grpSpPr>
        <p:sp>
          <p:nvSpPr>
            <p:cNvPr id="36" name="矩形 35">
              <a:extLst>
                <a:ext uri="{FF2B5EF4-FFF2-40B4-BE49-F238E27FC236}">
                  <a16:creationId xmlns:a16="http://schemas.microsoft.com/office/drawing/2014/main" id="{742BD686-25EF-4673-A107-B9642C0BFBEA}"/>
                </a:ext>
              </a:extLst>
            </p:cNvPr>
            <p:cNvSpPr/>
            <p:nvPr/>
          </p:nvSpPr>
          <p:spPr>
            <a:xfrm>
              <a:off x="5092795" y="2601263"/>
              <a:ext cx="1207398" cy="288032"/>
            </a:xfrm>
            <a:prstGeom prst="rect">
              <a:avLst/>
            </a:prstGeom>
            <a:solidFill>
              <a:srgbClr val="FCD4F9">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38" name="线形标注 1 14">
              <a:extLst>
                <a:ext uri="{FF2B5EF4-FFF2-40B4-BE49-F238E27FC236}">
                  <a16:creationId xmlns:a16="http://schemas.microsoft.com/office/drawing/2014/main" id="{53B1C96D-18BD-4C7D-8F9A-3B6EAC13073A}"/>
                </a:ext>
              </a:extLst>
            </p:cNvPr>
            <p:cNvSpPr>
              <a:spLocks/>
            </p:cNvSpPr>
            <p:nvPr/>
          </p:nvSpPr>
          <p:spPr bwMode="auto">
            <a:xfrm>
              <a:off x="6928997" y="2601263"/>
              <a:ext cx="1207398" cy="288032"/>
            </a:xfrm>
            <a:prstGeom prst="borderCallout1">
              <a:avLst>
                <a:gd name="adj1" fmla="val 57039"/>
                <a:gd name="adj2" fmla="val -1204"/>
                <a:gd name="adj3" fmla="val 53580"/>
                <a:gd name="adj4" fmla="val -50923"/>
              </a:avLst>
            </a:prstGeom>
            <a:solidFill>
              <a:srgbClr val="FCD4F9"/>
            </a:solidFill>
            <a:ln w="38100" cap="sq" algn="ctr">
              <a:solidFill>
                <a:srgbClr val="FBCBF8"/>
              </a:solidFill>
              <a:round/>
              <a:headEnd type="none" w="med" len="med"/>
              <a:tailEnd type="triangle" w="med" len="med"/>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000" dirty="0">
                  <a:solidFill>
                    <a:schemeClr val="bg2"/>
                  </a:solidFill>
                </a:rPr>
                <a:t>进程切换</a:t>
              </a:r>
            </a:p>
          </p:txBody>
        </p:sp>
      </p:grpSp>
    </p:spTree>
    <p:extLst>
      <p:ext uri="{BB962C8B-B14F-4D97-AF65-F5344CB8AC3E}">
        <p14:creationId xmlns:p14="http://schemas.microsoft.com/office/powerpoint/2010/main" val="3995427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1000"/>
                                        <p:tgtEl>
                                          <p:spTgt spid="35"/>
                                        </p:tgtEl>
                                      </p:cBhvr>
                                    </p:animEffect>
                                    <p:anim calcmode="lin" valueType="num">
                                      <p:cBhvr>
                                        <p:cTn id="13" dur="1000" fill="hold"/>
                                        <p:tgtEl>
                                          <p:spTgt spid="35"/>
                                        </p:tgtEl>
                                        <p:attrNameLst>
                                          <p:attrName>ppt_x</p:attrName>
                                        </p:attrNameLst>
                                      </p:cBhvr>
                                      <p:tavLst>
                                        <p:tav tm="0">
                                          <p:val>
                                            <p:strVal val="#ppt_x"/>
                                          </p:val>
                                        </p:tav>
                                        <p:tav tm="100000">
                                          <p:val>
                                            <p:strVal val="#ppt_x"/>
                                          </p:val>
                                        </p:tav>
                                      </p:tavLst>
                                    </p:anim>
                                    <p:anim calcmode="lin" valueType="num">
                                      <p:cBhvr>
                                        <p:cTn id="14"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1000"/>
                                        <p:tgtEl>
                                          <p:spTgt spid="22"/>
                                        </p:tgtEl>
                                      </p:cBhvr>
                                    </p:animEffect>
                                    <p:anim calcmode="lin" valueType="num">
                                      <p:cBhvr>
                                        <p:cTn id="20" dur="1000" fill="hold"/>
                                        <p:tgtEl>
                                          <p:spTgt spid="22"/>
                                        </p:tgtEl>
                                        <p:attrNameLst>
                                          <p:attrName>ppt_x</p:attrName>
                                        </p:attrNameLst>
                                      </p:cBhvr>
                                      <p:tavLst>
                                        <p:tav tm="0">
                                          <p:val>
                                            <p:strVal val="#ppt_x"/>
                                          </p:val>
                                        </p:tav>
                                        <p:tav tm="100000">
                                          <p:val>
                                            <p:strVal val="#ppt_x"/>
                                          </p:val>
                                        </p:tav>
                                      </p:tavLst>
                                    </p:anim>
                                    <p:anim calcmode="lin" valueType="num">
                                      <p:cBhvr>
                                        <p:cTn id="2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1000"/>
                                        <p:tgtEl>
                                          <p:spTgt spid="39"/>
                                        </p:tgtEl>
                                      </p:cBhvr>
                                    </p:animEffect>
                                    <p:anim calcmode="lin" valueType="num">
                                      <p:cBhvr>
                                        <p:cTn id="27" dur="1000" fill="hold"/>
                                        <p:tgtEl>
                                          <p:spTgt spid="39"/>
                                        </p:tgtEl>
                                        <p:attrNameLst>
                                          <p:attrName>ppt_x</p:attrName>
                                        </p:attrNameLst>
                                      </p:cBhvr>
                                      <p:tavLst>
                                        <p:tav tm="0">
                                          <p:val>
                                            <p:strVal val="#ppt_x"/>
                                          </p:val>
                                        </p:tav>
                                        <p:tav tm="100000">
                                          <p:val>
                                            <p:strVal val="#ppt_x"/>
                                          </p:val>
                                        </p:tav>
                                      </p:tavLst>
                                    </p:anim>
                                    <p:anim calcmode="lin" valueType="num">
                                      <p:cBhvr>
                                        <p:cTn id="28"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dissolve">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dissolve">
                                      <p:cBhvr>
                                        <p:cTn id="38" dur="500"/>
                                        <p:tgtEl>
                                          <p:spTgt spid="25"/>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dissolve">
                                      <p:cBhvr>
                                        <p:cTn id="43" dur="500"/>
                                        <p:tgtEl>
                                          <p:spTgt spid="26"/>
                                        </p:tgtEl>
                                      </p:cBhvr>
                                    </p:animEffect>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1000"/>
                                        <p:tgtEl>
                                          <p:spTgt spid="32"/>
                                        </p:tgtEl>
                                      </p:cBhvr>
                                    </p:animEffect>
                                    <p:anim calcmode="lin" valueType="num">
                                      <p:cBhvr>
                                        <p:cTn id="49" dur="1000" fill="hold"/>
                                        <p:tgtEl>
                                          <p:spTgt spid="32"/>
                                        </p:tgtEl>
                                        <p:attrNameLst>
                                          <p:attrName>ppt_x</p:attrName>
                                        </p:attrNameLst>
                                      </p:cBhvr>
                                      <p:tavLst>
                                        <p:tav tm="0">
                                          <p:val>
                                            <p:strVal val="#ppt_x"/>
                                          </p:val>
                                        </p:tav>
                                        <p:tav tm="100000">
                                          <p:val>
                                            <p:strVal val="#ppt_x"/>
                                          </p:val>
                                        </p:tav>
                                      </p:tavLst>
                                    </p:anim>
                                    <p:anim calcmode="lin" valueType="num">
                                      <p:cBhvr>
                                        <p:cTn id="50"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3" grpId="0" animBg="1"/>
      <p:bldP spid="25" grpId="0" animBg="1"/>
      <p:bldP spid="2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2E2C7BDB-9F4E-4198-ADCD-1502DC0DA97D}"/>
              </a:ext>
            </a:extLst>
          </p:cNvPr>
          <p:cNvSpPr txBox="1"/>
          <p:nvPr/>
        </p:nvSpPr>
        <p:spPr>
          <a:xfrm>
            <a:off x="122040" y="3932590"/>
            <a:ext cx="8640960" cy="2585323"/>
          </a:xfrm>
          <a:prstGeom prst="rect">
            <a:avLst/>
          </a:prstGeom>
          <a:noFill/>
        </p:spPr>
        <p:txBody>
          <a:bodyPr wrap="square" rtlCol="0">
            <a:spAutoFit/>
          </a:bodyPr>
          <a:lstStyle/>
          <a:p>
            <a:pPr marL="342900" indent="-342900">
              <a:buFont typeface="Wingdings" panose="05000000000000000000" pitchFamily="2" charset="2"/>
              <a:buChar char="n"/>
            </a:pPr>
            <a:r>
              <a:rPr lang="en-US" altLang="zh-CN" sz="2400" dirty="0" err="1">
                <a:solidFill>
                  <a:schemeClr val="bg2"/>
                </a:solidFill>
                <a:latin typeface="+mn-lt"/>
              </a:rPr>
              <a:t>bget</a:t>
            </a:r>
            <a:r>
              <a:rPr lang="en-US" altLang="zh-CN" sz="2400" dirty="0">
                <a:solidFill>
                  <a:schemeClr val="bg2"/>
                </a:solidFill>
                <a:latin typeface="+mn-lt"/>
              </a:rPr>
              <a:t>()</a:t>
            </a:r>
            <a:r>
              <a:rPr lang="zh-CN" altLang="en-US" sz="2400" dirty="0">
                <a:solidFill>
                  <a:schemeClr val="bg2"/>
                </a:solidFill>
                <a:latin typeface="+mn-lt"/>
              </a:rPr>
              <a:t>在获取到缓存块后，调用</a:t>
            </a:r>
            <a:r>
              <a:rPr lang="en-US" altLang="zh-CN" sz="2400" dirty="0" err="1">
                <a:solidFill>
                  <a:schemeClr val="bg2"/>
                </a:solidFill>
                <a:latin typeface="+mn-lt"/>
              </a:rPr>
              <a:t>acquiresleep</a:t>
            </a:r>
            <a:r>
              <a:rPr lang="en-US" altLang="zh-CN" sz="2400" dirty="0">
                <a:solidFill>
                  <a:schemeClr val="bg2"/>
                </a:solidFill>
                <a:latin typeface="+mn-lt"/>
              </a:rPr>
              <a:t>()</a:t>
            </a:r>
            <a:r>
              <a:rPr lang="zh-CN" altLang="en-US" sz="2400" dirty="0">
                <a:solidFill>
                  <a:schemeClr val="bg2"/>
                </a:solidFill>
                <a:latin typeface="+mn-lt"/>
              </a:rPr>
              <a:t>获取睡眠锁。</a:t>
            </a:r>
          </a:p>
          <a:p>
            <a:pPr marL="342900" indent="-342900">
              <a:spcBef>
                <a:spcPts val="600"/>
              </a:spcBef>
              <a:buFont typeface="Wingdings" panose="05000000000000000000" pitchFamily="2" charset="2"/>
              <a:buChar char="n"/>
            </a:pPr>
            <a:r>
              <a:rPr lang="en-US" altLang="zh-CN" sz="2400" dirty="0" err="1">
                <a:solidFill>
                  <a:schemeClr val="bg2"/>
                </a:solidFill>
                <a:latin typeface="+mn-lt"/>
              </a:rPr>
              <a:t>bwrite</a:t>
            </a:r>
            <a:r>
              <a:rPr lang="en-US" altLang="zh-CN" sz="2400" dirty="0">
                <a:solidFill>
                  <a:schemeClr val="bg2"/>
                </a:solidFill>
                <a:latin typeface="+mn-lt"/>
              </a:rPr>
              <a:t>()</a:t>
            </a:r>
            <a:r>
              <a:rPr lang="zh-CN" altLang="en-US" sz="2400" dirty="0">
                <a:solidFill>
                  <a:schemeClr val="bg2"/>
                </a:solidFill>
                <a:latin typeface="+mn-lt"/>
              </a:rPr>
              <a:t>在写入到磁盘之前，先调用</a:t>
            </a:r>
            <a:r>
              <a:rPr lang="en-US" altLang="zh-CN" sz="2400" dirty="0" err="1">
                <a:solidFill>
                  <a:schemeClr val="bg2"/>
                </a:solidFill>
                <a:latin typeface="+mn-lt"/>
              </a:rPr>
              <a:t>holdingsleep</a:t>
            </a:r>
            <a:r>
              <a:rPr lang="en-US" altLang="zh-CN" sz="2400" dirty="0">
                <a:solidFill>
                  <a:schemeClr val="bg2"/>
                </a:solidFill>
                <a:latin typeface="+mn-lt"/>
              </a:rPr>
              <a:t>()</a:t>
            </a:r>
            <a:r>
              <a:rPr lang="zh-CN" altLang="en-US" sz="2400" dirty="0">
                <a:solidFill>
                  <a:schemeClr val="bg2"/>
                </a:solidFill>
                <a:latin typeface="+mn-lt"/>
              </a:rPr>
              <a:t>查询是否已经获取到该睡眠锁，确保带锁而入。</a:t>
            </a:r>
          </a:p>
          <a:p>
            <a:pPr marL="342900" indent="-342900">
              <a:spcBef>
                <a:spcPts val="600"/>
              </a:spcBef>
              <a:buFont typeface="Wingdings" panose="05000000000000000000" pitchFamily="2" charset="2"/>
              <a:buChar char="n"/>
            </a:pPr>
            <a:r>
              <a:rPr lang="en-US" altLang="zh-CN" sz="2400" dirty="0" err="1">
                <a:solidFill>
                  <a:schemeClr val="bg2"/>
                </a:solidFill>
                <a:latin typeface="+mn-lt"/>
              </a:rPr>
              <a:t>brelse</a:t>
            </a:r>
            <a:r>
              <a:rPr lang="en-US" altLang="zh-CN" sz="2400" dirty="0">
                <a:solidFill>
                  <a:schemeClr val="bg2"/>
                </a:solidFill>
                <a:latin typeface="+mn-lt"/>
              </a:rPr>
              <a:t>()</a:t>
            </a:r>
            <a:r>
              <a:rPr lang="zh-CN" altLang="en-US" sz="2400" dirty="0">
                <a:solidFill>
                  <a:schemeClr val="bg2"/>
                </a:solidFill>
                <a:latin typeface="+mn-lt"/>
              </a:rPr>
              <a:t>先调用</a:t>
            </a:r>
            <a:r>
              <a:rPr lang="en-US" altLang="zh-CN" sz="2400" dirty="0" err="1">
                <a:solidFill>
                  <a:schemeClr val="bg2"/>
                </a:solidFill>
                <a:latin typeface="+mn-lt"/>
              </a:rPr>
              <a:t>holdingsleep</a:t>
            </a:r>
            <a:r>
              <a:rPr lang="en-US" altLang="zh-CN" sz="2400" dirty="0">
                <a:solidFill>
                  <a:schemeClr val="bg2"/>
                </a:solidFill>
                <a:latin typeface="+mn-lt"/>
              </a:rPr>
              <a:t>()</a:t>
            </a:r>
            <a:r>
              <a:rPr lang="zh-CN" altLang="en-US" sz="2400" dirty="0">
                <a:solidFill>
                  <a:schemeClr val="bg2"/>
                </a:solidFill>
                <a:latin typeface="+mn-lt"/>
              </a:rPr>
              <a:t>查询是否已经获取到该睡眠锁，确保有带锁后，调用</a:t>
            </a:r>
            <a:r>
              <a:rPr lang="en-US" altLang="zh-CN" sz="2400" dirty="0" err="1">
                <a:solidFill>
                  <a:schemeClr val="bg2"/>
                </a:solidFill>
                <a:latin typeface="+mn-lt"/>
              </a:rPr>
              <a:t>releasesleep</a:t>
            </a:r>
            <a:r>
              <a:rPr lang="en-US" altLang="zh-CN" sz="2400" dirty="0">
                <a:solidFill>
                  <a:schemeClr val="bg2"/>
                </a:solidFill>
                <a:latin typeface="+mn-lt"/>
              </a:rPr>
              <a:t>()</a:t>
            </a:r>
            <a:r>
              <a:rPr lang="zh-CN" altLang="en-US" sz="2400" dirty="0">
                <a:solidFill>
                  <a:schemeClr val="bg2"/>
                </a:solidFill>
                <a:latin typeface="+mn-lt"/>
              </a:rPr>
              <a:t>释放该锁。</a:t>
            </a:r>
          </a:p>
          <a:p>
            <a:endParaRPr lang="zh-CN" altLang="en-US" dirty="0"/>
          </a:p>
        </p:txBody>
      </p:sp>
      <p:pic>
        <p:nvPicPr>
          <p:cNvPr id="3" name="图片 2">
            <a:extLst>
              <a:ext uri="{FF2B5EF4-FFF2-40B4-BE49-F238E27FC236}">
                <a16:creationId xmlns:a16="http://schemas.microsoft.com/office/drawing/2014/main" id="{712FDB57-AD2D-4BB4-B6A2-B95AA60A3B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3768" y="764704"/>
            <a:ext cx="4176464" cy="2507220"/>
          </a:xfrm>
          <a:prstGeom prst="rect">
            <a:avLst/>
          </a:prstGeom>
        </p:spPr>
      </p:pic>
      <p:sp>
        <p:nvSpPr>
          <p:cNvPr id="7" name="文本框 6">
            <a:extLst>
              <a:ext uri="{FF2B5EF4-FFF2-40B4-BE49-F238E27FC236}">
                <a16:creationId xmlns:a16="http://schemas.microsoft.com/office/drawing/2014/main" id="{6BC2FB6D-E56D-41B1-AEA5-D78BC3136B03}"/>
              </a:ext>
            </a:extLst>
          </p:cNvPr>
          <p:cNvSpPr txBox="1"/>
          <p:nvPr/>
        </p:nvSpPr>
        <p:spPr>
          <a:xfrm>
            <a:off x="1007604" y="0"/>
            <a:ext cx="7128791" cy="707886"/>
          </a:xfrm>
          <a:prstGeom prst="rect">
            <a:avLst/>
          </a:prstGeom>
          <a:noFill/>
        </p:spPr>
        <p:txBody>
          <a:bodyPr wrap="square" rtlCol="0">
            <a:spAutoFit/>
          </a:bodyPr>
          <a:lstStyle/>
          <a:p>
            <a:pPr marL="0" lvl="1" indent="-274638" algn="ctr"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xv6</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的</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sleeping lock</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rPr>
              <a:t>3</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a:t>
            </a:r>
            <a:endPar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9" name="矩形 8">
            <a:extLst>
              <a:ext uri="{FF2B5EF4-FFF2-40B4-BE49-F238E27FC236}">
                <a16:creationId xmlns:a16="http://schemas.microsoft.com/office/drawing/2014/main" id="{943A25EC-72B4-4D9F-9A42-1A73A1E702FB}"/>
              </a:ext>
            </a:extLst>
          </p:cNvPr>
          <p:cNvSpPr/>
          <p:nvPr/>
        </p:nvSpPr>
        <p:spPr>
          <a:xfrm>
            <a:off x="2555776" y="1809991"/>
            <a:ext cx="1868591" cy="290818"/>
          </a:xfrm>
          <a:prstGeom prst="rect">
            <a:avLst/>
          </a:prstGeom>
          <a:solidFill>
            <a:srgbClr val="99CC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0" name="线形标注 1 14">
            <a:extLst>
              <a:ext uri="{FF2B5EF4-FFF2-40B4-BE49-F238E27FC236}">
                <a16:creationId xmlns:a16="http://schemas.microsoft.com/office/drawing/2014/main" id="{878D05B1-8D84-4EE5-AF5D-B9E7DDC09D21}"/>
              </a:ext>
            </a:extLst>
          </p:cNvPr>
          <p:cNvSpPr>
            <a:spLocks/>
          </p:cNvSpPr>
          <p:nvPr/>
        </p:nvSpPr>
        <p:spPr bwMode="auto">
          <a:xfrm>
            <a:off x="5004048" y="1368552"/>
            <a:ext cx="2391995" cy="359626"/>
          </a:xfrm>
          <a:prstGeom prst="borderCallout1">
            <a:avLst>
              <a:gd name="adj1" fmla="val -714"/>
              <a:gd name="adj2" fmla="val 57898"/>
              <a:gd name="adj3" fmla="val 158834"/>
              <a:gd name="adj4" fmla="val -22175"/>
            </a:avLst>
          </a:prstGeom>
          <a:solidFill>
            <a:srgbClr val="99CCFF"/>
          </a:solidFill>
          <a:ln w="38100" cap="sq" algn="ctr">
            <a:solidFill>
              <a:srgbClr val="99CCFF"/>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None/>
            </a:pPr>
            <a:r>
              <a:rPr lang="zh-CN" altLang="en-US" sz="2400" b="1" dirty="0">
                <a:solidFill>
                  <a:schemeClr val="bg2"/>
                </a:solidFill>
              </a:rPr>
              <a:t>缓存块是否被锁</a:t>
            </a:r>
          </a:p>
        </p:txBody>
      </p:sp>
      <p:sp>
        <p:nvSpPr>
          <p:cNvPr id="11" name="矩形 10">
            <a:extLst>
              <a:ext uri="{FF2B5EF4-FFF2-40B4-BE49-F238E27FC236}">
                <a16:creationId xmlns:a16="http://schemas.microsoft.com/office/drawing/2014/main" id="{0408FFA6-11C4-4A8F-AB9B-5EC729174196}"/>
              </a:ext>
            </a:extLst>
          </p:cNvPr>
          <p:cNvSpPr/>
          <p:nvPr/>
        </p:nvSpPr>
        <p:spPr>
          <a:xfrm>
            <a:off x="2463963" y="708577"/>
            <a:ext cx="1183177" cy="329642"/>
          </a:xfrm>
          <a:prstGeom prst="rect">
            <a:avLst/>
          </a:prstGeom>
          <a:solidFill>
            <a:srgbClr val="FCD4F9">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2" name="线形标注 1 14">
            <a:extLst>
              <a:ext uri="{FF2B5EF4-FFF2-40B4-BE49-F238E27FC236}">
                <a16:creationId xmlns:a16="http://schemas.microsoft.com/office/drawing/2014/main" id="{8BD6F466-07AB-4148-898D-32E6A390001D}"/>
              </a:ext>
            </a:extLst>
          </p:cNvPr>
          <p:cNvSpPr>
            <a:spLocks/>
          </p:cNvSpPr>
          <p:nvPr/>
        </p:nvSpPr>
        <p:spPr bwMode="auto">
          <a:xfrm>
            <a:off x="624587" y="626465"/>
            <a:ext cx="1280413" cy="359626"/>
          </a:xfrm>
          <a:prstGeom prst="borderCallout1">
            <a:avLst>
              <a:gd name="adj1" fmla="val -714"/>
              <a:gd name="adj2" fmla="val 57898"/>
              <a:gd name="adj3" fmla="val 56046"/>
              <a:gd name="adj4" fmla="val 144773"/>
            </a:avLst>
          </a:prstGeom>
          <a:solidFill>
            <a:srgbClr val="FCD4F9"/>
          </a:solidFill>
          <a:ln w="38100" cap="sq" algn="ctr">
            <a:solidFill>
              <a:srgbClr val="FCD4F9"/>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None/>
            </a:pPr>
            <a:r>
              <a:rPr lang="zh-CN" altLang="en-US" sz="2400" b="1" dirty="0">
                <a:solidFill>
                  <a:schemeClr val="bg2"/>
                </a:solidFill>
              </a:rPr>
              <a:t>缓存块</a:t>
            </a:r>
          </a:p>
        </p:txBody>
      </p:sp>
      <p:sp>
        <p:nvSpPr>
          <p:cNvPr id="14" name="AutoShape 27">
            <a:hlinkClick r:id="" action="ppaction://hlinkshowjump?jump=nextslide" highlightClick="1"/>
            <a:extLst>
              <a:ext uri="{FF2B5EF4-FFF2-40B4-BE49-F238E27FC236}">
                <a16:creationId xmlns:a16="http://schemas.microsoft.com/office/drawing/2014/main" id="{AB1797E6-359A-4CC9-BECC-550E77290F09}"/>
              </a:ext>
            </a:extLst>
          </p:cNvPr>
          <p:cNvSpPr>
            <a:spLocks noChangeArrowheads="1"/>
          </p:cNvSpPr>
          <p:nvPr/>
        </p:nvSpPr>
        <p:spPr bwMode="auto">
          <a:xfrm>
            <a:off x="8763000" y="6517913"/>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459742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dissolve">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dissolv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childTnLst>
                          </p:cTn>
                        </p:par>
                        <p:par>
                          <p:cTn id="34" fill="hold">
                            <p:stCondLst>
                              <p:cond delay="1000"/>
                            </p:stCondLst>
                            <p:childTnLst>
                              <p:par>
                                <p:cTn id="35" presetID="2" presetClass="entr" presetSubtype="6"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1+#ppt_w/2"/>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1" grpId="0" animBg="1"/>
      <p:bldP spid="12" grpId="0"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F3703A3-1889-4D5A-B002-82B1611E7DF6}" type="datetime1">
              <a:rPr lang="zh-CN" altLang="en-US" smtClean="0"/>
              <a:pPr>
                <a:defRPr/>
              </a:pPr>
              <a:t>2024/10/9</a:t>
            </a:fld>
            <a:endParaRPr lang="en-US" altLang="zh-CN"/>
          </a:p>
        </p:txBody>
      </p:sp>
      <p:sp>
        <p:nvSpPr>
          <p:cNvPr id="3" name="灯片编号占位符 2"/>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28</a:t>
            </a:fld>
            <a:r>
              <a:rPr lang="zh-CN" altLang="en-US"/>
              <a:t> 页</a:t>
            </a:r>
          </a:p>
        </p:txBody>
      </p:sp>
      <p:sp>
        <p:nvSpPr>
          <p:cNvPr id="6" name="文本框 5"/>
          <p:cNvSpPr txBox="1"/>
          <p:nvPr/>
        </p:nvSpPr>
        <p:spPr>
          <a:xfrm>
            <a:off x="0" y="0"/>
            <a:ext cx="9144000" cy="3231654"/>
          </a:xfrm>
          <a:prstGeom prst="rect">
            <a:avLst/>
          </a:prstGeom>
          <a:solidFill>
            <a:srgbClr val="FCD4F9"/>
          </a:solidFill>
        </p:spPr>
        <p:txBody>
          <a:bodyPr wrap="square" rtlCol="0">
            <a:spAutoFit/>
          </a:bodyPr>
          <a:lstStyle/>
          <a:p>
            <a:r>
              <a:rPr lang="zh-CN" altLang="en-US" dirty="0">
                <a:solidFill>
                  <a:schemeClr val="bg2"/>
                </a:solidFill>
              </a:rPr>
              <a:t>下列准则中实现临界区互斥机制必须遵循的是：（</a:t>
            </a:r>
            <a:r>
              <a:rPr lang="en-US" altLang="zh-CN" dirty="0">
                <a:solidFill>
                  <a:schemeClr val="bg2"/>
                </a:solidFill>
                <a:latin typeface="Times New Roman" panose="02020603050405020304" pitchFamily="18" charset="0"/>
                <a:cs typeface="Times New Roman" panose="02020603050405020304" pitchFamily="18" charset="0"/>
              </a:rPr>
              <a:t>2020</a:t>
            </a:r>
            <a:r>
              <a:rPr lang="zh-CN" altLang="en-US" dirty="0">
                <a:solidFill>
                  <a:schemeClr val="bg2"/>
                </a:solidFill>
                <a:latin typeface="Times New Roman" panose="02020603050405020304" pitchFamily="18" charset="0"/>
                <a:cs typeface="Times New Roman" panose="02020603050405020304" pitchFamily="18" charset="0"/>
              </a:rPr>
              <a:t>）</a:t>
            </a:r>
          </a:p>
          <a:p>
            <a:r>
              <a:rPr lang="en-US" altLang="zh-CN" sz="2800" dirty="0">
                <a:solidFill>
                  <a:schemeClr val="bg2"/>
                </a:solidFill>
                <a:latin typeface="Times New Roman" panose="02020603050405020304" pitchFamily="18" charset="0"/>
                <a:cs typeface="Times New Roman" panose="02020603050405020304" pitchFamily="18" charset="0"/>
              </a:rPr>
              <a:t>Ⅰ.  </a:t>
            </a:r>
            <a:r>
              <a:rPr lang="zh-CN" altLang="en-US" sz="2800" dirty="0">
                <a:solidFill>
                  <a:schemeClr val="bg2"/>
                </a:solidFill>
                <a:latin typeface="Times New Roman" panose="02020603050405020304" pitchFamily="18" charset="0"/>
                <a:cs typeface="Times New Roman" panose="02020603050405020304" pitchFamily="18" charset="0"/>
              </a:rPr>
              <a:t>两个进程不能同时进入临界区</a:t>
            </a:r>
            <a:endParaRPr lang="en-US" altLang="zh-CN" sz="2800" dirty="0">
              <a:solidFill>
                <a:schemeClr val="bg2"/>
              </a:solidFill>
              <a:latin typeface="Times New Roman" panose="02020603050405020304" pitchFamily="18" charset="0"/>
              <a:cs typeface="Times New Roman" panose="02020603050405020304" pitchFamily="18" charset="0"/>
            </a:endParaRPr>
          </a:p>
          <a:p>
            <a:r>
              <a:rPr lang="en-US" altLang="zh-CN" sz="2800" dirty="0">
                <a:solidFill>
                  <a:schemeClr val="bg2"/>
                </a:solidFill>
                <a:latin typeface="Times New Roman" panose="02020603050405020304" pitchFamily="18" charset="0"/>
                <a:cs typeface="Times New Roman" panose="02020603050405020304" pitchFamily="18" charset="0"/>
              </a:rPr>
              <a:t>Ⅱ. </a:t>
            </a:r>
            <a:r>
              <a:rPr lang="zh-CN" altLang="en-US" sz="2800" dirty="0">
                <a:solidFill>
                  <a:schemeClr val="bg2"/>
                </a:solidFill>
                <a:latin typeface="Times New Roman" panose="02020603050405020304" pitchFamily="18" charset="0"/>
                <a:cs typeface="Times New Roman" panose="02020603050405020304" pitchFamily="18" charset="0"/>
              </a:rPr>
              <a:t>允许进程访问空闲的临界资源</a:t>
            </a:r>
            <a:endParaRPr lang="en-US" altLang="zh-CN" sz="2800" dirty="0">
              <a:solidFill>
                <a:schemeClr val="bg2"/>
              </a:solidFill>
              <a:latin typeface="Times New Roman" panose="02020603050405020304" pitchFamily="18" charset="0"/>
              <a:cs typeface="Times New Roman" panose="02020603050405020304" pitchFamily="18" charset="0"/>
            </a:endParaRPr>
          </a:p>
          <a:p>
            <a:r>
              <a:rPr lang="en-US" altLang="zh-CN" sz="2800" dirty="0">
                <a:solidFill>
                  <a:schemeClr val="bg2"/>
                </a:solidFill>
                <a:latin typeface="Times New Roman" panose="02020603050405020304" pitchFamily="18" charset="0"/>
                <a:cs typeface="Times New Roman" panose="02020603050405020304" pitchFamily="18" charset="0"/>
              </a:rPr>
              <a:t>Ⅲ. </a:t>
            </a:r>
            <a:r>
              <a:rPr lang="zh-CN" altLang="en-US" sz="2800" dirty="0">
                <a:solidFill>
                  <a:schemeClr val="bg2"/>
                </a:solidFill>
                <a:latin typeface="Times New Roman" panose="02020603050405020304" pitchFamily="18" charset="0"/>
                <a:cs typeface="Times New Roman" panose="02020603050405020304" pitchFamily="18" charset="0"/>
              </a:rPr>
              <a:t>进程等待进入临界区的时间是有限的</a:t>
            </a:r>
            <a:endParaRPr lang="en-US" altLang="zh-CN" sz="2800" dirty="0">
              <a:solidFill>
                <a:schemeClr val="bg2"/>
              </a:solidFill>
              <a:latin typeface="Times New Roman" panose="02020603050405020304" pitchFamily="18" charset="0"/>
              <a:cs typeface="Times New Roman" panose="02020603050405020304" pitchFamily="18" charset="0"/>
            </a:endParaRPr>
          </a:p>
          <a:p>
            <a:r>
              <a:rPr lang="en-US" altLang="zh-CN" sz="2800" dirty="0">
                <a:solidFill>
                  <a:schemeClr val="bg2"/>
                </a:solidFill>
                <a:latin typeface="Times New Roman" panose="02020603050405020304" pitchFamily="18" charset="0"/>
                <a:cs typeface="Times New Roman" panose="02020603050405020304" pitchFamily="18" charset="0"/>
              </a:rPr>
              <a:t>Ⅳ. </a:t>
            </a:r>
            <a:r>
              <a:rPr lang="zh-CN" altLang="en-US" sz="2800" dirty="0">
                <a:solidFill>
                  <a:schemeClr val="bg2"/>
                </a:solidFill>
                <a:latin typeface="Times New Roman" panose="02020603050405020304" pitchFamily="18" charset="0"/>
                <a:cs typeface="Times New Roman" panose="02020603050405020304" pitchFamily="18" charset="0"/>
              </a:rPr>
              <a:t>不能进入临界区的执行态进程立即放弃</a:t>
            </a:r>
            <a:r>
              <a:rPr lang="en-US" altLang="zh-CN" sz="2800" dirty="0">
                <a:solidFill>
                  <a:schemeClr val="bg2"/>
                </a:solidFill>
                <a:latin typeface="Times New Roman" panose="02020603050405020304" pitchFamily="18" charset="0"/>
                <a:cs typeface="Times New Roman" panose="02020603050405020304" pitchFamily="18" charset="0"/>
              </a:rPr>
              <a:t>CPU </a:t>
            </a:r>
          </a:p>
          <a:p>
            <a:r>
              <a:rPr lang="en-US" altLang="zh-CN" sz="2800" dirty="0">
                <a:solidFill>
                  <a:schemeClr val="bg2"/>
                </a:solidFill>
                <a:latin typeface="Times New Roman" panose="02020603050405020304" pitchFamily="18" charset="0"/>
                <a:cs typeface="Times New Roman" panose="02020603050405020304" pitchFamily="18" charset="0"/>
              </a:rPr>
              <a:t>A. Ⅰ, Ⅳ        B. Ⅱ, Ⅲ          C. Ⅰ, Ⅱ, Ⅲ         D. Ⅰ, Ⅲ</a:t>
            </a:r>
            <a:r>
              <a:rPr lang="zh-CN" altLang="en-US" sz="2800" dirty="0">
                <a:solidFill>
                  <a:schemeClr val="bg2"/>
                </a:solidFill>
                <a:latin typeface="Times New Roman" panose="02020603050405020304" pitchFamily="18" charset="0"/>
                <a:cs typeface="Times New Roman" panose="02020603050405020304" pitchFamily="18" charset="0"/>
              </a:rPr>
              <a:t>，</a:t>
            </a:r>
            <a:r>
              <a:rPr lang="en-US" altLang="zh-CN" sz="2800" dirty="0">
                <a:solidFill>
                  <a:schemeClr val="bg2"/>
                </a:solidFill>
                <a:latin typeface="Times New Roman" panose="02020603050405020304" pitchFamily="18" charset="0"/>
                <a:cs typeface="Times New Roman" panose="02020603050405020304" pitchFamily="18" charset="0"/>
              </a:rPr>
              <a:t>Ⅳ    </a:t>
            </a:r>
            <a:endParaRPr lang="zh-CN" altLang="en-US" sz="2800" dirty="0">
              <a:solidFill>
                <a:schemeClr val="bg2"/>
              </a:solidFill>
              <a:latin typeface="Times New Roman" panose="02020603050405020304" pitchFamily="18" charset="0"/>
              <a:cs typeface="Times New Roman" panose="02020603050405020304" pitchFamily="18" charset="0"/>
            </a:endParaRPr>
          </a:p>
        </p:txBody>
      </p:sp>
      <p:sp>
        <p:nvSpPr>
          <p:cNvPr id="5" name="AutoShape 7">
            <a:hlinkClick r:id="rId3" action="ppaction://hlinksldjump" highlightClick="1"/>
            <a:extLst>
              <a:ext uri="{FF2B5EF4-FFF2-40B4-BE49-F238E27FC236}">
                <a16:creationId xmlns:a16="http://schemas.microsoft.com/office/drawing/2014/main" id="{FC9C3690-7A52-47BF-AF8A-820048CA20CF}"/>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686336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C702C5E-558A-4991-8592-C591D1BFFB96}"/>
              </a:ext>
            </a:extLst>
          </p:cNvPr>
          <p:cNvSpPr/>
          <p:nvPr/>
        </p:nvSpPr>
        <p:spPr>
          <a:xfrm>
            <a:off x="1235189" y="-37578"/>
            <a:ext cx="6673622" cy="835613"/>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5.7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用信号量解决同步问题</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6" name="Text Box 6">
            <a:extLst>
              <a:ext uri="{FF2B5EF4-FFF2-40B4-BE49-F238E27FC236}">
                <a16:creationId xmlns:a16="http://schemas.microsoft.com/office/drawing/2014/main" id="{4C49AE80-8D2E-4411-BA70-7C9332B323DA}"/>
              </a:ext>
            </a:extLst>
          </p:cNvPr>
          <p:cNvSpPr txBox="1">
            <a:spLocks noChangeArrowheads="1"/>
          </p:cNvSpPr>
          <p:nvPr/>
        </p:nvSpPr>
        <p:spPr bwMode="auto">
          <a:xfrm>
            <a:off x="64870" y="771338"/>
            <a:ext cx="9014259" cy="2369880"/>
          </a:xfrm>
          <a:prstGeom prst="rect">
            <a:avLst/>
          </a:prstGeom>
          <a:solidFill>
            <a:schemeClr val="tx1">
              <a:lumMod val="85000"/>
            </a:schemeClr>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800" b="1" dirty="0">
                <a:solidFill>
                  <a:schemeClr val="bg2"/>
                </a:solidFill>
              </a:rPr>
              <a:t>[</a:t>
            </a:r>
            <a:r>
              <a:rPr lang="zh-CN" altLang="en-US" sz="2800" b="1" dirty="0">
                <a:solidFill>
                  <a:schemeClr val="bg2"/>
                </a:solidFill>
              </a:rPr>
              <a:t>例</a:t>
            </a:r>
            <a:r>
              <a:rPr lang="en-US" altLang="zh-CN" sz="2800" b="1" dirty="0">
                <a:solidFill>
                  <a:schemeClr val="bg2"/>
                </a:solidFill>
              </a:rPr>
              <a:t>5.1]</a:t>
            </a:r>
            <a:r>
              <a:rPr lang="zh-CN" altLang="en-US" sz="2400" b="1" dirty="0">
                <a:solidFill>
                  <a:schemeClr val="bg2"/>
                </a:solidFill>
              </a:rPr>
              <a:t>有三个进程</a:t>
            </a:r>
            <a:r>
              <a:rPr lang="en-US" altLang="zh-CN" sz="2400" b="1" dirty="0">
                <a:solidFill>
                  <a:schemeClr val="bg2"/>
                </a:solidFill>
              </a:rPr>
              <a:t>P</a:t>
            </a:r>
            <a:r>
              <a:rPr lang="en-US" altLang="zh-CN" sz="2400" b="1" baseline="-25000" dirty="0">
                <a:solidFill>
                  <a:schemeClr val="bg2"/>
                </a:solidFill>
              </a:rPr>
              <a:t>A</a:t>
            </a:r>
            <a:r>
              <a:rPr lang="zh-CN" altLang="en-US" sz="2400" b="1" dirty="0">
                <a:solidFill>
                  <a:schemeClr val="bg2"/>
                </a:solidFill>
              </a:rPr>
              <a:t>、</a:t>
            </a:r>
            <a:r>
              <a:rPr lang="en-US" altLang="zh-CN" sz="2400" b="1" dirty="0">
                <a:solidFill>
                  <a:schemeClr val="bg2"/>
                </a:solidFill>
              </a:rPr>
              <a:t>P</a:t>
            </a:r>
            <a:r>
              <a:rPr lang="en-US" altLang="zh-CN" sz="2400" b="1" baseline="-25000" dirty="0">
                <a:solidFill>
                  <a:schemeClr val="bg2"/>
                </a:solidFill>
              </a:rPr>
              <a:t>B</a:t>
            </a:r>
            <a:r>
              <a:rPr lang="zh-CN" altLang="en-US" sz="2400" b="1" dirty="0">
                <a:solidFill>
                  <a:schemeClr val="bg2"/>
                </a:solidFill>
              </a:rPr>
              <a:t>和</a:t>
            </a:r>
            <a:r>
              <a:rPr lang="en-US" altLang="zh-CN" sz="2400" b="1" dirty="0">
                <a:solidFill>
                  <a:schemeClr val="bg2"/>
                </a:solidFill>
              </a:rPr>
              <a:t>P</a:t>
            </a:r>
            <a:r>
              <a:rPr lang="en-US" altLang="zh-CN" sz="2400" b="1" baseline="-25000" dirty="0">
                <a:solidFill>
                  <a:schemeClr val="bg2"/>
                </a:solidFill>
              </a:rPr>
              <a:t>C</a:t>
            </a:r>
            <a:r>
              <a:rPr lang="zh-CN" altLang="en-US" sz="2400" b="1" dirty="0">
                <a:solidFill>
                  <a:schemeClr val="bg2"/>
                </a:solidFill>
              </a:rPr>
              <a:t>协助解决打印问题：</a:t>
            </a:r>
          </a:p>
          <a:p>
            <a:pPr eaLnBrk="1" hangingPunct="1">
              <a:spcBef>
                <a:spcPct val="0"/>
              </a:spcBef>
              <a:buClrTx/>
              <a:buSzTx/>
              <a:buFontTx/>
              <a:buNone/>
            </a:pPr>
            <a:r>
              <a:rPr lang="en-US" altLang="zh-CN" sz="2400" b="1" dirty="0">
                <a:solidFill>
                  <a:schemeClr val="bg2"/>
                </a:solidFill>
              </a:rPr>
              <a:t>P</a:t>
            </a:r>
            <a:r>
              <a:rPr lang="en-US" altLang="zh-CN" sz="2400" b="1" baseline="-25000" dirty="0">
                <a:solidFill>
                  <a:schemeClr val="bg2"/>
                </a:solidFill>
              </a:rPr>
              <a:t>A </a:t>
            </a:r>
            <a:r>
              <a:rPr lang="en-US" altLang="zh-CN" sz="2400" b="1" dirty="0">
                <a:solidFill>
                  <a:schemeClr val="bg2"/>
                </a:solidFill>
              </a:rPr>
              <a:t>:</a:t>
            </a:r>
            <a:r>
              <a:rPr lang="zh-CN" altLang="en-US" sz="2400" b="1" dirty="0">
                <a:solidFill>
                  <a:schemeClr val="bg2"/>
                </a:solidFill>
              </a:rPr>
              <a:t>将文件记录从磁盘读入主存的缓冲区</a:t>
            </a:r>
            <a:r>
              <a:rPr lang="en-US" altLang="zh-CN" sz="2400" b="1" dirty="0">
                <a:solidFill>
                  <a:schemeClr val="bg2"/>
                </a:solidFill>
              </a:rPr>
              <a:t>1</a:t>
            </a:r>
            <a:r>
              <a:rPr lang="zh-CN" altLang="en-US" sz="2400" b="1" dirty="0">
                <a:solidFill>
                  <a:schemeClr val="bg2"/>
                </a:solidFill>
              </a:rPr>
              <a:t>，每次读一个记录；</a:t>
            </a:r>
          </a:p>
          <a:p>
            <a:pPr eaLnBrk="1" hangingPunct="1">
              <a:spcBef>
                <a:spcPct val="0"/>
              </a:spcBef>
              <a:buClrTx/>
              <a:buSzTx/>
              <a:buFontTx/>
              <a:buNone/>
            </a:pPr>
            <a:r>
              <a:rPr lang="en-US" altLang="zh-CN" sz="2400" b="1" dirty="0">
                <a:solidFill>
                  <a:schemeClr val="bg2"/>
                </a:solidFill>
              </a:rPr>
              <a:t>P</a:t>
            </a:r>
            <a:r>
              <a:rPr lang="en-US" altLang="zh-CN" sz="2400" b="1" baseline="-25000" dirty="0">
                <a:solidFill>
                  <a:schemeClr val="bg2"/>
                </a:solidFill>
              </a:rPr>
              <a:t>B </a:t>
            </a:r>
            <a:r>
              <a:rPr lang="en-US" altLang="zh-CN" sz="2400" b="1" dirty="0">
                <a:solidFill>
                  <a:schemeClr val="bg2"/>
                </a:solidFill>
              </a:rPr>
              <a:t>:</a:t>
            </a:r>
            <a:r>
              <a:rPr lang="zh-CN" altLang="en-US" sz="2400" b="1" dirty="0">
                <a:solidFill>
                  <a:schemeClr val="bg2"/>
                </a:solidFill>
              </a:rPr>
              <a:t>将缓冲区</a:t>
            </a:r>
            <a:r>
              <a:rPr lang="en-US" altLang="zh-CN" sz="2400" b="1" dirty="0">
                <a:solidFill>
                  <a:schemeClr val="bg2"/>
                </a:solidFill>
              </a:rPr>
              <a:t>1</a:t>
            </a:r>
            <a:r>
              <a:rPr lang="zh-CN" altLang="en-US" sz="2400" b="1" dirty="0">
                <a:solidFill>
                  <a:schemeClr val="bg2"/>
                </a:solidFill>
              </a:rPr>
              <a:t>的内容复制到缓冲区</a:t>
            </a:r>
            <a:r>
              <a:rPr lang="en-US" altLang="zh-CN" sz="2400" b="1" dirty="0">
                <a:solidFill>
                  <a:schemeClr val="bg2"/>
                </a:solidFill>
              </a:rPr>
              <a:t>2</a:t>
            </a:r>
            <a:r>
              <a:rPr lang="zh-CN" altLang="en-US" sz="2400" b="1" dirty="0">
                <a:solidFill>
                  <a:schemeClr val="bg2"/>
                </a:solidFill>
              </a:rPr>
              <a:t>，每次复制一个记录；</a:t>
            </a:r>
          </a:p>
          <a:p>
            <a:pPr eaLnBrk="1" hangingPunct="1">
              <a:spcBef>
                <a:spcPct val="0"/>
              </a:spcBef>
              <a:buClrTx/>
              <a:buSzTx/>
              <a:buFontTx/>
              <a:buNone/>
            </a:pPr>
            <a:r>
              <a:rPr lang="en-US" altLang="zh-CN" sz="2400" b="1" dirty="0">
                <a:solidFill>
                  <a:schemeClr val="bg2"/>
                </a:solidFill>
              </a:rPr>
              <a:t>P</a:t>
            </a:r>
            <a:r>
              <a:rPr lang="en-US" altLang="zh-CN" sz="2400" b="1" baseline="-25000" dirty="0">
                <a:solidFill>
                  <a:schemeClr val="bg2"/>
                </a:solidFill>
              </a:rPr>
              <a:t>C </a:t>
            </a:r>
            <a:r>
              <a:rPr lang="en-US" altLang="zh-CN" sz="2400" b="1" dirty="0">
                <a:solidFill>
                  <a:schemeClr val="bg2"/>
                </a:solidFill>
              </a:rPr>
              <a:t>:</a:t>
            </a:r>
            <a:r>
              <a:rPr lang="zh-CN" altLang="en-US" sz="2400" b="1" dirty="0">
                <a:solidFill>
                  <a:schemeClr val="bg2"/>
                </a:solidFill>
              </a:rPr>
              <a:t>将缓冲区</a:t>
            </a:r>
            <a:r>
              <a:rPr lang="en-US" altLang="zh-CN" sz="2400" b="1" dirty="0">
                <a:solidFill>
                  <a:schemeClr val="bg2"/>
                </a:solidFill>
              </a:rPr>
              <a:t>2</a:t>
            </a:r>
            <a:r>
              <a:rPr lang="zh-CN" altLang="en-US" sz="2400" b="1" dirty="0">
                <a:solidFill>
                  <a:schemeClr val="bg2"/>
                </a:solidFill>
              </a:rPr>
              <a:t>的内容打印出来，每次打印一个记录。</a:t>
            </a:r>
          </a:p>
          <a:p>
            <a:pPr eaLnBrk="1" hangingPunct="1">
              <a:spcBef>
                <a:spcPct val="0"/>
              </a:spcBef>
              <a:buClrTx/>
              <a:buSzTx/>
              <a:buFontTx/>
              <a:buNone/>
            </a:pPr>
            <a:r>
              <a:rPr lang="zh-CN" altLang="en-US" sz="2400" b="1" dirty="0">
                <a:solidFill>
                  <a:schemeClr val="bg2"/>
                </a:solidFill>
              </a:rPr>
              <a:t>缓冲区的大小和一个记录一样。</a:t>
            </a:r>
          </a:p>
          <a:p>
            <a:pPr eaLnBrk="1" hangingPunct="1">
              <a:spcBef>
                <a:spcPct val="0"/>
              </a:spcBef>
              <a:buClrTx/>
              <a:buSzTx/>
              <a:buFontTx/>
              <a:buNone/>
            </a:pPr>
            <a:r>
              <a:rPr lang="zh-CN" altLang="en-US" sz="2400" b="1" dirty="0">
                <a:solidFill>
                  <a:schemeClr val="bg2"/>
                </a:solidFill>
              </a:rPr>
              <a:t>请用</a:t>
            </a:r>
            <a:r>
              <a:rPr lang="en-US" altLang="zh-CN" sz="2400" b="1" dirty="0">
                <a:solidFill>
                  <a:schemeClr val="bg2"/>
                </a:solidFill>
              </a:rPr>
              <a:t>P</a:t>
            </a:r>
            <a:r>
              <a:rPr lang="zh-CN" altLang="en-US" sz="2400" b="1" dirty="0">
                <a:solidFill>
                  <a:schemeClr val="bg2"/>
                </a:solidFill>
              </a:rPr>
              <a:t>、</a:t>
            </a:r>
            <a:r>
              <a:rPr lang="en-US" altLang="zh-CN" sz="2400" b="1" dirty="0">
                <a:solidFill>
                  <a:schemeClr val="bg2"/>
                </a:solidFill>
              </a:rPr>
              <a:t>V</a:t>
            </a:r>
            <a:r>
              <a:rPr lang="zh-CN" altLang="en-US" sz="2400" b="1" dirty="0">
                <a:solidFill>
                  <a:schemeClr val="bg2"/>
                </a:solidFill>
              </a:rPr>
              <a:t>操作来保证文件的正确打印。</a:t>
            </a:r>
            <a:r>
              <a:rPr lang="en-US" altLang="zh-CN" sz="2400" b="1" dirty="0">
                <a:solidFill>
                  <a:schemeClr val="bg2"/>
                </a:solidFill>
              </a:rPr>
              <a:t>(</a:t>
            </a:r>
            <a:r>
              <a:rPr lang="zh-CN" altLang="en-US" sz="2400" b="1" dirty="0">
                <a:solidFill>
                  <a:srgbClr val="996600"/>
                </a:solidFill>
                <a:effectLst>
                  <a:outerShdw blurRad="38100" dist="38100" dir="2700000" algn="tl">
                    <a:srgbClr val="000000">
                      <a:alpha val="43137"/>
                    </a:srgbClr>
                  </a:outerShdw>
                </a:effectLst>
              </a:rPr>
              <a:t>忽略进程互斥</a:t>
            </a:r>
            <a:r>
              <a:rPr lang="en-US" altLang="zh-CN" sz="2400" b="1" dirty="0">
                <a:solidFill>
                  <a:schemeClr val="bg2"/>
                </a:solidFill>
              </a:rPr>
              <a:t>)</a:t>
            </a:r>
            <a:endParaRPr lang="zh-CN" altLang="en-US" sz="2400" b="1" dirty="0">
              <a:solidFill>
                <a:schemeClr val="bg2"/>
              </a:solidFill>
            </a:endParaRPr>
          </a:p>
        </p:txBody>
      </p:sp>
      <p:sp>
        <p:nvSpPr>
          <p:cNvPr id="7" name="Text Box 7">
            <a:extLst>
              <a:ext uri="{FF2B5EF4-FFF2-40B4-BE49-F238E27FC236}">
                <a16:creationId xmlns:a16="http://schemas.microsoft.com/office/drawing/2014/main" id="{E4478FDE-69A6-455C-8D8B-C9B9E5FEF7A6}"/>
              </a:ext>
            </a:extLst>
          </p:cNvPr>
          <p:cNvSpPr txBox="1">
            <a:spLocks noChangeArrowheads="1"/>
          </p:cNvSpPr>
          <p:nvPr/>
        </p:nvSpPr>
        <p:spPr bwMode="auto">
          <a:xfrm>
            <a:off x="1425587" y="4442935"/>
            <a:ext cx="6048375"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buClrTx/>
              <a:buSzTx/>
              <a:buFont typeface="Wingdings" panose="05000000000000000000" pitchFamily="2" charset="2"/>
              <a:buChar char="n"/>
            </a:pPr>
            <a:r>
              <a:rPr lang="zh-CN" altLang="en-US" sz="2800" b="1" dirty="0">
                <a:solidFill>
                  <a:schemeClr val="bg2"/>
                </a:solidFill>
              </a:rPr>
              <a:t>私用信号量</a:t>
            </a:r>
          </a:p>
          <a:p>
            <a:pPr marL="800100" lvl="1" indent="-342900" eaLnBrk="1" hangingPunct="1">
              <a:spcBef>
                <a:spcPct val="0"/>
              </a:spcBef>
              <a:buFont typeface="Wingdings" panose="05000000000000000000" pitchFamily="2" charset="2"/>
              <a:buChar char="n"/>
            </a:pPr>
            <a:r>
              <a:rPr lang="en-US" altLang="zh-CN" sz="2400" b="1" dirty="0">
                <a:solidFill>
                  <a:schemeClr val="bg2"/>
                </a:solidFill>
              </a:rPr>
              <a:t>P</a:t>
            </a:r>
            <a:r>
              <a:rPr lang="en-US" altLang="zh-CN" sz="2400" b="1" baseline="-25000" dirty="0">
                <a:solidFill>
                  <a:schemeClr val="bg2"/>
                </a:solidFill>
              </a:rPr>
              <a:t>A</a:t>
            </a:r>
            <a:r>
              <a:rPr lang="zh-CN" altLang="en-US" sz="2400" b="1" dirty="0">
                <a:solidFill>
                  <a:schemeClr val="bg2"/>
                </a:solidFill>
              </a:rPr>
              <a:t>：</a:t>
            </a:r>
            <a:r>
              <a:rPr lang="en-US" altLang="zh-CN" sz="2400" b="1" dirty="0">
                <a:solidFill>
                  <a:schemeClr val="bg2"/>
                </a:solidFill>
              </a:rPr>
              <a:t>empty1=1; </a:t>
            </a:r>
          </a:p>
          <a:p>
            <a:pPr marL="800100" lvl="1" indent="-342900" eaLnBrk="1" hangingPunct="1">
              <a:spcBef>
                <a:spcPct val="0"/>
              </a:spcBef>
              <a:buFont typeface="Wingdings" panose="05000000000000000000" pitchFamily="2" charset="2"/>
              <a:buChar char="n"/>
            </a:pPr>
            <a:r>
              <a:rPr lang="en-US" altLang="zh-CN" sz="2400" b="1" dirty="0">
                <a:solidFill>
                  <a:schemeClr val="bg2"/>
                </a:solidFill>
              </a:rPr>
              <a:t>P</a:t>
            </a:r>
            <a:r>
              <a:rPr lang="en-US" altLang="zh-CN" sz="2400" b="1" baseline="-25000" dirty="0">
                <a:solidFill>
                  <a:schemeClr val="bg2"/>
                </a:solidFill>
              </a:rPr>
              <a:t>B</a:t>
            </a:r>
            <a:r>
              <a:rPr lang="zh-CN" altLang="en-US" sz="2400" b="1" dirty="0">
                <a:solidFill>
                  <a:schemeClr val="bg2"/>
                </a:solidFill>
              </a:rPr>
              <a:t>：</a:t>
            </a:r>
            <a:r>
              <a:rPr lang="en-US" altLang="zh-CN" sz="2400" b="1" dirty="0">
                <a:solidFill>
                  <a:schemeClr val="bg2"/>
                </a:solidFill>
              </a:rPr>
              <a:t>empty2=1; full1=0 </a:t>
            </a:r>
          </a:p>
          <a:p>
            <a:pPr marL="800100" lvl="1" indent="-342900" eaLnBrk="1" hangingPunct="1">
              <a:spcBef>
                <a:spcPct val="0"/>
              </a:spcBef>
              <a:buFont typeface="Wingdings" panose="05000000000000000000" pitchFamily="2" charset="2"/>
              <a:buChar char="n"/>
            </a:pPr>
            <a:r>
              <a:rPr lang="en-US" altLang="zh-CN" sz="2400" b="1" dirty="0">
                <a:solidFill>
                  <a:schemeClr val="bg2"/>
                </a:solidFill>
              </a:rPr>
              <a:t>P</a:t>
            </a:r>
            <a:r>
              <a:rPr lang="en-US" altLang="zh-CN" sz="2400" b="1" baseline="-25000" dirty="0">
                <a:solidFill>
                  <a:schemeClr val="bg2"/>
                </a:solidFill>
              </a:rPr>
              <a:t>C</a:t>
            </a:r>
            <a:r>
              <a:rPr lang="zh-CN" altLang="en-US" sz="2400" b="1" dirty="0">
                <a:solidFill>
                  <a:schemeClr val="bg2"/>
                </a:solidFill>
              </a:rPr>
              <a:t>：</a:t>
            </a:r>
            <a:r>
              <a:rPr lang="en-US" altLang="zh-CN" sz="2400" b="1" dirty="0">
                <a:solidFill>
                  <a:schemeClr val="bg2"/>
                </a:solidFill>
              </a:rPr>
              <a:t>full2=0;</a:t>
            </a:r>
          </a:p>
        </p:txBody>
      </p:sp>
      <p:grpSp>
        <p:nvGrpSpPr>
          <p:cNvPr id="8" name="Group 8">
            <a:extLst>
              <a:ext uri="{FF2B5EF4-FFF2-40B4-BE49-F238E27FC236}">
                <a16:creationId xmlns:a16="http://schemas.microsoft.com/office/drawing/2014/main" id="{0823A838-3218-4E48-B121-DA34341C9155}"/>
              </a:ext>
            </a:extLst>
          </p:cNvPr>
          <p:cNvGrpSpPr>
            <a:grpSpLocks/>
          </p:cNvGrpSpPr>
          <p:nvPr/>
        </p:nvGrpSpPr>
        <p:grpSpPr bwMode="auto">
          <a:xfrm>
            <a:off x="346087" y="3363435"/>
            <a:ext cx="8208963" cy="863600"/>
            <a:chOff x="249" y="2024"/>
            <a:chExt cx="5171" cy="544"/>
          </a:xfrm>
        </p:grpSpPr>
        <p:sp>
          <p:nvSpPr>
            <p:cNvPr id="9" name="Rectangle 9">
              <a:extLst>
                <a:ext uri="{FF2B5EF4-FFF2-40B4-BE49-F238E27FC236}">
                  <a16:creationId xmlns:a16="http://schemas.microsoft.com/office/drawing/2014/main" id="{98ACE093-B38D-4C0C-91A3-248ADCAD8F7D}"/>
                </a:ext>
              </a:extLst>
            </p:cNvPr>
            <p:cNvSpPr>
              <a:spLocks noChangeArrowheads="1"/>
            </p:cNvSpPr>
            <p:nvPr/>
          </p:nvSpPr>
          <p:spPr bwMode="auto">
            <a:xfrm>
              <a:off x="1247" y="2115"/>
              <a:ext cx="862" cy="408"/>
            </a:xfrm>
            <a:prstGeom prst="rect">
              <a:avLst/>
            </a:prstGeom>
            <a:solidFill>
              <a:srgbClr val="CCFFFF"/>
            </a:solidFill>
            <a:ln w="12700" cap="sq">
              <a:solidFill>
                <a:schemeClr val="tx1"/>
              </a:solid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b="1">
                  <a:solidFill>
                    <a:schemeClr val="bg2"/>
                  </a:solidFill>
                </a:rPr>
                <a:t>缓冲区</a:t>
              </a:r>
              <a:r>
                <a:rPr lang="en-US" altLang="zh-CN" sz="2400" b="1">
                  <a:solidFill>
                    <a:schemeClr val="bg2"/>
                  </a:solidFill>
                </a:rPr>
                <a:t>1</a:t>
              </a:r>
            </a:p>
          </p:txBody>
        </p:sp>
        <p:sp>
          <p:nvSpPr>
            <p:cNvPr id="10" name="Rectangle 10">
              <a:extLst>
                <a:ext uri="{FF2B5EF4-FFF2-40B4-BE49-F238E27FC236}">
                  <a16:creationId xmlns:a16="http://schemas.microsoft.com/office/drawing/2014/main" id="{CE640F82-4040-4901-B261-28754F71F674}"/>
                </a:ext>
              </a:extLst>
            </p:cNvPr>
            <p:cNvSpPr>
              <a:spLocks noChangeArrowheads="1"/>
            </p:cNvSpPr>
            <p:nvPr/>
          </p:nvSpPr>
          <p:spPr bwMode="auto">
            <a:xfrm>
              <a:off x="3560" y="2070"/>
              <a:ext cx="862" cy="408"/>
            </a:xfrm>
            <a:prstGeom prst="rect">
              <a:avLst/>
            </a:prstGeom>
            <a:solidFill>
              <a:srgbClr val="CCFFFF"/>
            </a:solidFill>
            <a:ln w="12700" cap="sq">
              <a:solidFill>
                <a:schemeClr val="tx1"/>
              </a:solid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b="1">
                  <a:solidFill>
                    <a:schemeClr val="bg2"/>
                  </a:solidFill>
                </a:rPr>
                <a:t>缓冲区</a:t>
              </a:r>
              <a:r>
                <a:rPr lang="en-US" altLang="zh-CN" sz="2400" b="1">
                  <a:solidFill>
                    <a:schemeClr val="bg2"/>
                  </a:solidFill>
                </a:rPr>
                <a:t>2</a:t>
              </a:r>
            </a:p>
          </p:txBody>
        </p:sp>
        <p:sp>
          <p:nvSpPr>
            <p:cNvPr id="11" name="Oval 11">
              <a:extLst>
                <a:ext uri="{FF2B5EF4-FFF2-40B4-BE49-F238E27FC236}">
                  <a16:creationId xmlns:a16="http://schemas.microsoft.com/office/drawing/2014/main" id="{B54CD6F8-AD10-43EC-AB0F-89BF7E47E6F4}"/>
                </a:ext>
              </a:extLst>
            </p:cNvPr>
            <p:cNvSpPr>
              <a:spLocks noChangeArrowheads="1"/>
            </p:cNvSpPr>
            <p:nvPr/>
          </p:nvSpPr>
          <p:spPr bwMode="auto">
            <a:xfrm>
              <a:off x="249" y="2069"/>
              <a:ext cx="544" cy="499"/>
            </a:xfrm>
            <a:prstGeom prst="ellipse">
              <a:avLst/>
            </a:prstGeom>
            <a:solidFill>
              <a:srgbClr val="FFCCFF"/>
            </a:solidFill>
            <a:ln w="12700" cap="sq">
              <a:solidFill>
                <a:srgbClr val="FFCCFF"/>
              </a:solidFill>
              <a:round/>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1">
                  <a:solidFill>
                    <a:schemeClr val="bg2"/>
                  </a:solidFill>
                </a:rPr>
                <a:t>P</a:t>
              </a:r>
              <a:r>
                <a:rPr lang="en-US" altLang="zh-CN" sz="2400" b="1" baseline="-25000">
                  <a:solidFill>
                    <a:schemeClr val="bg2"/>
                  </a:solidFill>
                </a:rPr>
                <a:t>A</a:t>
              </a:r>
            </a:p>
          </p:txBody>
        </p:sp>
        <p:sp>
          <p:nvSpPr>
            <p:cNvPr id="12" name="Oval 12">
              <a:extLst>
                <a:ext uri="{FF2B5EF4-FFF2-40B4-BE49-F238E27FC236}">
                  <a16:creationId xmlns:a16="http://schemas.microsoft.com/office/drawing/2014/main" id="{FFCFF514-5790-4755-8C81-BA26DA93F66A}"/>
                </a:ext>
              </a:extLst>
            </p:cNvPr>
            <p:cNvSpPr>
              <a:spLocks noChangeArrowheads="1"/>
            </p:cNvSpPr>
            <p:nvPr/>
          </p:nvSpPr>
          <p:spPr bwMode="auto">
            <a:xfrm>
              <a:off x="2562" y="2024"/>
              <a:ext cx="544" cy="499"/>
            </a:xfrm>
            <a:prstGeom prst="ellipse">
              <a:avLst/>
            </a:prstGeom>
            <a:solidFill>
              <a:srgbClr val="FFCCFF"/>
            </a:solidFill>
            <a:ln w="12700" cap="sq">
              <a:solidFill>
                <a:srgbClr val="FFCCFF"/>
              </a:solidFill>
              <a:round/>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1">
                  <a:solidFill>
                    <a:schemeClr val="bg2"/>
                  </a:solidFill>
                </a:rPr>
                <a:t>P</a:t>
              </a:r>
              <a:r>
                <a:rPr lang="en-US" altLang="zh-CN" sz="2400" b="1" baseline="-25000">
                  <a:solidFill>
                    <a:schemeClr val="bg2"/>
                  </a:solidFill>
                </a:rPr>
                <a:t>B</a:t>
              </a:r>
            </a:p>
          </p:txBody>
        </p:sp>
        <p:sp>
          <p:nvSpPr>
            <p:cNvPr id="13" name="Oval 13">
              <a:extLst>
                <a:ext uri="{FF2B5EF4-FFF2-40B4-BE49-F238E27FC236}">
                  <a16:creationId xmlns:a16="http://schemas.microsoft.com/office/drawing/2014/main" id="{B663E04B-43DF-43F0-882D-2CF41F647F74}"/>
                </a:ext>
              </a:extLst>
            </p:cNvPr>
            <p:cNvSpPr>
              <a:spLocks noChangeArrowheads="1"/>
            </p:cNvSpPr>
            <p:nvPr/>
          </p:nvSpPr>
          <p:spPr bwMode="auto">
            <a:xfrm>
              <a:off x="4876" y="2024"/>
              <a:ext cx="544" cy="499"/>
            </a:xfrm>
            <a:prstGeom prst="ellipse">
              <a:avLst/>
            </a:prstGeom>
            <a:solidFill>
              <a:srgbClr val="FFCCFF"/>
            </a:solidFill>
            <a:ln w="12700" cap="sq">
              <a:solidFill>
                <a:srgbClr val="FFCCFF"/>
              </a:solidFill>
              <a:round/>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1">
                  <a:solidFill>
                    <a:schemeClr val="bg2"/>
                  </a:solidFill>
                </a:rPr>
                <a:t>P</a:t>
              </a:r>
              <a:r>
                <a:rPr lang="en-US" altLang="zh-CN" sz="2400" b="1" baseline="-25000">
                  <a:solidFill>
                    <a:schemeClr val="bg2"/>
                  </a:solidFill>
                </a:rPr>
                <a:t>C</a:t>
              </a:r>
            </a:p>
          </p:txBody>
        </p:sp>
        <p:sp>
          <p:nvSpPr>
            <p:cNvPr id="14" name="Line 14">
              <a:extLst>
                <a:ext uri="{FF2B5EF4-FFF2-40B4-BE49-F238E27FC236}">
                  <a16:creationId xmlns:a16="http://schemas.microsoft.com/office/drawing/2014/main" id="{1F9D3D6C-F203-4580-81FB-45C2C20EA9F1}"/>
                </a:ext>
              </a:extLst>
            </p:cNvPr>
            <p:cNvSpPr>
              <a:spLocks noChangeShapeType="1"/>
            </p:cNvSpPr>
            <p:nvPr/>
          </p:nvSpPr>
          <p:spPr bwMode="auto">
            <a:xfrm>
              <a:off x="793" y="2296"/>
              <a:ext cx="454" cy="0"/>
            </a:xfrm>
            <a:prstGeom prst="line">
              <a:avLst/>
            </a:prstGeom>
            <a:noFill/>
            <a:ln w="38100" cap="sq">
              <a:solidFill>
                <a:schemeClr val="bg2"/>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15" name="Line 15">
              <a:extLst>
                <a:ext uri="{FF2B5EF4-FFF2-40B4-BE49-F238E27FC236}">
                  <a16:creationId xmlns:a16="http://schemas.microsoft.com/office/drawing/2014/main" id="{CD20CAA5-11B8-473B-BD3D-B795991A9B4B}"/>
                </a:ext>
              </a:extLst>
            </p:cNvPr>
            <p:cNvSpPr>
              <a:spLocks noChangeShapeType="1"/>
            </p:cNvSpPr>
            <p:nvPr/>
          </p:nvSpPr>
          <p:spPr bwMode="auto">
            <a:xfrm>
              <a:off x="2109" y="2296"/>
              <a:ext cx="453" cy="0"/>
            </a:xfrm>
            <a:prstGeom prst="line">
              <a:avLst/>
            </a:prstGeom>
            <a:noFill/>
            <a:ln w="38100" cap="sq">
              <a:solidFill>
                <a:schemeClr val="bg2"/>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16" name="Line 16">
              <a:extLst>
                <a:ext uri="{FF2B5EF4-FFF2-40B4-BE49-F238E27FC236}">
                  <a16:creationId xmlns:a16="http://schemas.microsoft.com/office/drawing/2014/main" id="{CD58EC03-146F-4574-8B80-67DD5F890FBB}"/>
                </a:ext>
              </a:extLst>
            </p:cNvPr>
            <p:cNvSpPr>
              <a:spLocks noChangeShapeType="1"/>
            </p:cNvSpPr>
            <p:nvPr/>
          </p:nvSpPr>
          <p:spPr bwMode="auto">
            <a:xfrm>
              <a:off x="3107" y="2296"/>
              <a:ext cx="453" cy="0"/>
            </a:xfrm>
            <a:prstGeom prst="line">
              <a:avLst/>
            </a:prstGeom>
            <a:noFill/>
            <a:ln w="38100" cap="sq">
              <a:solidFill>
                <a:schemeClr val="bg2"/>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17" name="Line 17">
              <a:extLst>
                <a:ext uri="{FF2B5EF4-FFF2-40B4-BE49-F238E27FC236}">
                  <a16:creationId xmlns:a16="http://schemas.microsoft.com/office/drawing/2014/main" id="{2120426B-E4FC-4014-A7F8-C29A1EB9596A}"/>
                </a:ext>
              </a:extLst>
            </p:cNvPr>
            <p:cNvSpPr>
              <a:spLocks noChangeShapeType="1"/>
            </p:cNvSpPr>
            <p:nvPr/>
          </p:nvSpPr>
          <p:spPr bwMode="auto">
            <a:xfrm>
              <a:off x="4422" y="2296"/>
              <a:ext cx="453" cy="0"/>
            </a:xfrm>
            <a:prstGeom prst="line">
              <a:avLst/>
            </a:prstGeom>
            <a:noFill/>
            <a:ln w="38100" cap="sq">
              <a:solidFill>
                <a:schemeClr val="bg2"/>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grpSp>
      <p:sp>
        <p:nvSpPr>
          <p:cNvPr id="1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0"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2507497"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计算机科学与技术系</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2543321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ox(i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ox(i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ox(in)">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box(in)">
                                      <p:cBhvr>
                                        <p:cTn id="22" dur="500"/>
                                        <p:tgtEl>
                                          <p:spTgt spid="7">
                                            <p:txEl>
                                              <p:pRg st="3" end="3"/>
                                            </p:txEl>
                                          </p:spTgt>
                                        </p:tgtEl>
                                      </p:cBhvr>
                                    </p:animEffect>
                                  </p:childTnLst>
                                </p:cTn>
                              </p:par>
                            </p:childTnLst>
                          </p:cTn>
                        </p:par>
                        <p:par>
                          <p:cTn id="23" fill="hold">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19"/>
                                        </p:tgtEl>
                                        <p:attrNameLst>
                                          <p:attrName>style.visibility</p:attrName>
                                        </p:attrNameLst>
                                      </p:cBhvr>
                                      <p:to>
                                        <p:strVal val="visible"/>
                                      </p:to>
                                    </p:set>
                                    <p:anim calcmode="lin" valueType="num">
                                      <p:cBhvr additive="base">
                                        <p:cTn id="26" dur="500" fill="hold"/>
                                        <p:tgtEl>
                                          <p:spTgt spid="19"/>
                                        </p:tgtEl>
                                        <p:attrNameLst>
                                          <p:attrName>ppt_x</p:attrName>
                                        </p:attrNameLst>
                                      </p:cBhvr>
                                      <p:tavLst>
                                        <p:tav tm="0">
                                          <p:val>
                                            <p:strVal val="1+#ppt_w/2"/>
                                          </p:val>
                                        </p:tav>
                                        <p:tav tm="100000">
                                          <p:val>
                                            <p:strVal val="#ppt_x"/>
                                          </p:val>
                                        </p:tav>
                                      </p:tavLst>
                                    </p:anim>
                                    <p:anim calcmode="lin" valueType="num">
                                      <p:cBhvr additive="base">
                                        <p:cTn id="27"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2"/>
      <p:bldP spid="1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7328D7D2-E51C-4D14-92A4-1AF83749264A}"/>
              </a:ext>
            </a:extLst>
          </p:cNvPr>
          <p:cNvSpPr txBox="1">
            <a:spLocks noChangeArrowheads="1"/>
          </p:cNvSpPr>
          <p:nvPr/>
        </p:nvSpPr>
        <p:spPr>
          <a:xfrm>
            <a:off x="0" y="1571625"/>
            <a:ext cx="2663825" cy="3671888"/>
          </a:xfrm>
          <a:prstGeom prst="rect">
            <a:avLst/>
          </a:prstGeom>
          <a:solidFill>
            <a:schemeClr val="tx1">
              <a:lumMod val="85000"/>
            </a:schemeClr>
          </a:solidFill>
          <a:ln>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eaLnBrk="1" hangingPunct="1">
              <a:buFont typeface="Symbol" panose="05050102010706020507" pitchFamily="18" charset="2"/>
              <a:buNone/>
            </a:pPr>
            <a:r>
              <a:rPr lang="en-US" altLang="zh-CN" sz="3600" b="1" kern="0" dirty="0">
                <a:solidFill>
                  <a:schemeClr val="bg2"/>
                </a:solidFill>
                <a:effectLst/>
              </a:rPr>
              <a:t>P</a:t>
            </a:r>
            <a:r>
              <a:rPr lang="en-US" altLang="zh-CN" sz="3600" b="1" kern="0" baseline="-25000" dirty="0">
                <a:solidFill>
                  <a:schemeClr val="bg2"/>
                </a:solidFill>
                <a:effectLst/>
              </a:rPr>
              <a:t>A</a:t>
            </a:r>
            <a:r>
              <a:rPr lang="zh-CN" altLang="en-US" sz="3600" b="1" kern="0" dirty="0">
                <a:solidFill>
                  <a:schemeClr val="bg2"/>
                </a:solidFill>
                <a:effectLst/>
              </a:rPr>
              <a:t>：</a:t>
            </a:r>
          </a:p>
          <a:p>
            <a:pPr eaLnBrk="1" hangingPunct="1">
              <a:spcBef>
                <a:spcPct val="10000"/>
              </a:spcBef>
              <a:buFont typeface="Symbol" panose="05050102010706020507" pitchFamily="18" charset="2"/>
              <a:buNone/>
            </a:pPr>
            <a:r>
              <a:rPr lang="en-US" altLang="zh-CN" sz="2400" b="1" kern="0" dirty="0">
                <a:solidFill>
                  <a:schemeClr val="bg2"/>
                </a:solidFill>
                <a:effectLst/>
              </a:rPr>
              <a:t>BEGIN</a:t>
            </a:r>
          </a:p>
          <a:p>
            <a:pPr eaLnBrk="1" hangingPunct="1">
              <a:spcBef>
                <a:spcPct val="10000"/>
              </a:spcBef>
              <a:buFont typeface="Symbol" panose="05050102010706020507" pitchFamily="18" charset="2"/>
              <a:buNone/>
            </a:pPr>
            <a:r>
              <a:rPr lang="en-US" altLang="zh-CN" sz="2400" b="1" kern="0" dirty="0">
                <a:solidFill>
                  <a:schemeClr val="bg2"/>
                </a:solidFill>
                <a:effectLst/>
              </a:rPr>
              <a:t> L1:read from disk;</a:t>
            </a:r>
          </a:p>
          <a:p>
            <a:pPr lvl="1" eaLnBrk="1" hangingPunct="1">
              <a:spcBef>
                <a:spcPct val="10000"/>
              </a:spcBef>
              <a:buFontTx/>
              <a:buNone/>
            </a:pPr>
            <a:r>
              <a:rPr lang="en-US" altLang="zh-CN" sz="2400" b="1" kern="0" dirty="0">
                <a:solidFill>
                  <a:srgbClr val="CB41C1"/>
                </a:solidFill>
                <a:effectLst/>
              </a:rPr>
              <a:t>P(empty1);</a:t>
            </a:r>
            <a:r>
              <a:rPr lang="en-US" altLang="zh-CN" sz="2400" b="1" kern="0" dirty="0">
                <a:solidFill>
                  <a:schemeClr val="bg2"/>
                </a:solidFill>
                <a:effectLst/>
              </a:rPr>
              <a:t> </a:t>
            </a:r>
          </a:p>
          <a:p>
            <a:pPr lvl="1" eaLnBrk="1" hangingPunct="1">
              <a:spcBef>
                <a:spcPct val="10000"/>
              </a:spcBef>
              <a:buFontTx/>
              <a:buNone/>
            </a:pPr>
            <a:r>
              <a:rPr lang="en-US" altLang="zh-CN" sz="2400" b="1" kern="0" dirty="0">
                <a:solidFill>
                  <a:schemeClr val="bg2"/>
                </a:solidFill>
                <a:effectLst/>
              </a:rPr>
              <a:t>Put to buffer 1;</a:t>
            </a:r>
          </a:p>
          <a:p>
            <a:pPr lvl="1" eaLnBrk="1" hangingPunct="1">
              <a:spcBef>
                <a:spcPct val="10000"/>
              </a:spcBef>
              <a:buFontTx/>
              <a:buNone/>
            </a:pPr>
            <a:r>
              <a:rPr lang="en-US" altLang="zh-CN" sz="2400" b="1" kern="0" dirty="0">
                <a:solidFill>
                  <a:srgbClr val="CB41C1"/>
                </a:solidFill>
                <a:effectLst/>
              </a:rPr>
              <a:t>V(full1);</a:t>
            </a:r>
          </a:p>
          <a:p>
            <a:pPr lvl="1" eaLnBrk="1" hangingPunct="1">
              <a:spcBef>
                <a:spcPct val="10000"/>
              </a:spcBef>
              <a:buFontTx/>
              <a:buNone/>
            </a:pPr>
            <a:r>
              <a:rPr lang="en-US" altLang="zh-CN" sz="2400" b="1" kern="0" dirty="0" err="1">
                <a:solidFill>
                  <a:schemeClr val="bg2"/>
                </a:solidFill>
                <a:effectLst/>
              </a:rPr>
              <a:t>Goto</a:t>
            </a:r>
            <a:r>
              <a:rPr lang="en-US" altLang="zh-CN" sz="2400" b="1" kern="0" dirty="0">
                <a:solidFill>
                  <a:schemeClr val="bg2"/>
                </a:solidFill>
                <a:effectLst/>
              </a:rPr>
              <a:t> L1;</a:t>
            </a:r>
          </a:p>
          <a:p>
            <a:pPr eaLnBrk="1" hangingPunct="1">
              <a:spcBef>
                <a:spcPct val="10000"/>
              </a:spcBef>
              <a:buFont typeface="Symbol" panose="05050102010706020507" pitchFamily="18" charset="2"/>
              <a:buNone/>
            </a:pPr>
            <a:r>
              <a:rPr lang="en-US" altLang="zh-CN" sz="2400" b="1" kern="0" dirty="0">
                <a:solidFill>
                  <a:schemeClr val="bg2"/>
                </a:solidFill>
                <a:effectLst/>
              </a:rPr>
              <a:t>END</a:t>
            </a:r>
          </a:p>
        </p:txBody>
      </p:sp>
      <p:sp>
        <p:nvSpPr>
          <p:cNvPr id="6" name="Text Box 4">
            <a:extLst>
              <a:ext uri="{FF2B5EF4-FFF2-40B4-BE49-F238E27FC236}">
                <a16:creationId xmlns:a16="http://schemas.microsoft.com/office/drawing/2014/main" id="{438FD5A7-7EA2-4512-9B4B-C3D3EC699F47}"/>
              </a:ext>
            </a:extLst>
          </p:cNvPr>
          <p:cNvSpPr txBox="1">
            <a:spLocks noChangeArrowheads="1"/>
          </p:cNvSpPr>
          <p:nvPr/>
        </p:nvSpPr>
        <p:spPr bwMode="auto">
          <a:xfrm>
            <a:off x="6143625" y="1571625"/>
            <a:ext cx="3000375" cy="3711575"/>
          </a:xfrm>
          <a:prstGeom prst="rect">
            <a:avLst/>
          </a:prstGeom>
          <a:solidFill>
            <a:schemeClr val="tx1">
              <a:lumMod val="85000"/>
            </a:schemeClr>
          </a:solidFill>
          <a:ln>
            <a:noFill/>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b="1" dirty="0">
                <a:solidFill>
                  <a:schemeClr val="bg2"/>
                </a:solidFill>
              </a:rPr>
              <a:t>P</a:t>
            </a:r>
            <a:r>
              <a:rPr lang="en-US" altLang="zh-CN" sz="2400" b="1" baseline="-25000" dirty="0">
                <a:solidFill>
                  <a:schemeClr val="bg2"/>
                </a:solidFill>
              </a:rPr>
              <a:t>C</a:t>
            </a:r>
            <a:r>
              <a:rPr lang="en-US" altLang="zh-CN" sz="2400" b="1" dirty="0">
                <a:solidFill>
                  <a:schemeClr val="bg2"/>
                </a:solidFill>
              </a:rPr>
              <a:t>:</a:t>
            </a:r>
          </a:p>
          <a:p>
            <a:pPr eaLnBrk="1" hangingPunct="1">
              <a:spcBef>
                <a:spcPct val="10000"/>
              </a:spcBef>
              <a:buClrTx/>
              <a:buSzTx/>
              <a:buFontTx/>
              <a:buNone/>
            </a:pPr>
            <a:r>
              <a:rPr lang="en-US" altLang="zh-CN" sz="2400" b="1" dirty="0">
                <a:solidFill>
                  <a:schemeClr val="bg2"/>
                </a:solidFill>
              </a:rPr>
              <a:t>BEGIN</a:t>
            </a:r>
          </a:p>
          <a:p>
            <a:pPr eaLnBrk="1" hangingPunct="1">
              <a:spcBef>
                <a:spcPct val="10000"/>
              </a:spcBef>
              <a:buClrTx/>
              <a:buSzTx/>
              <a:buFontTx/>
              <a:buNone/>
            </a:pPr>
            <a:r>
              <a:rPr lang="en-US" altLang="zh-CN" sz="2400" b="1" dirty="0">
                <a:solidFill>
                  <a:schemeClr val="bg2"/>
                </a:solidFill>
              </a:rPr>
              <a:t>L3: </a:t>
            </a:r>
          </a:p>
          <a:p>
            <a:pPr eaLnBrk="1" hangingPunct="1">
              <a:spcBef>
                <a:spcPct val="10000"/>
              </a:spcBef>
              <a:buClrTx/>
              <a:buSzTx/>
              <a:buFontTx/>
              <a:buNone/>
            </a:pPr>
            <a:r>
              <a:rPr lang="en-US" altLang="zh-CN" sz="2400" b="1" dirty="0">
                <a:solidFill>
                  <a:schemeClr val="bg2"/>
                </a:solidFill>
              </a:rPr>
              <a:t>       </a:t>
            </a:r>
            <a:r>
              <a:rPr lang="en-US" altLang="zh-CN" sz="2400" b="1" dirty="0">
                <a:solidFill>
                  <a:srgbClr val="CB41C1"/>
                </a:solidFill>
              </a:rPr>
              <a:t>P(full2);</a:t>
            </a:r>
          </a:p>
          <a:p>
            <a:pPr lvl="1" eaLnBrk="1" hangingPunct="1">
              <a:spcBef>
                <a:spcPct val="10000"/>
              </a:spcBef>
              <a:buFontTx/>
              <a:buNone/>
            </a:pPr>
            <a:r>
              <a:rPr lang="en-US" altLang="zh-CN" sz="2400" b="1" dirty="0">
                <a:solidFill>
                  <a:schemeClr val="bg2"/>
                </a:solidFill>
              </a:rPr>
              <a:t>Get from buffer 2;</a:t>
            </a:r>
          </a:p>
          <a:p>
            <a:pPr lvl="1" eaLnBrk="1" hangingPunct="1">
              <a:spcBef>
                <a:spcPct val="10000"/>
              </a:spcBef>
              <a:buFontTx/>
              <a:buNone/>
            </a:pPr>
            <a:r>
              <a:rPr lang="en-US" altLang="zh-CN" sz="2400" b="1" dirty="0">
                <a:solidFill>
                  <a:schemeClr val="bg2"/>
                </a:solidFill>
              </a:rPr>
              <a:t>Print</a:t>
            </a:r>
          </a:p>
          <a:p>
            <a:pPr lvl="1" eaLnBrk="1" hangingPunct="1">
              <a:spcBef>
                <a:spcPct val="10000"/>
              </a:spcBef>
              <a:buFontTx/>
              <a:buNone/>
            </a:pPr>
            <a:r>
              <a:rPr lang="en-US" altLang="zh-CN" sz="2400" b="1" dirty="0">
                <a:solidFill>
                  <a:srgbClr val="CB41C1"/>
                </a:solidFill>
              </a:rPr>
              <a:t>V(empty2);</a:t>
            </a:r>
          </a:p>
          <a:p>
            <a:pPr lvl="1" eaLnBrk="1" hangingPunct="1">
              <a:spcBef>
                <a:spcPct val="10000"/>
              </a:spcBef>
              <a:buFontTx/>
              <a:buNone/>
            </a:pPr>
            <a:r>
              <a:rPr lang="en-US" altLang="zh-CN" sz="2400" b="1" dirty="0" err="1">
                <a:solidFill>
                  <a:schemeClr val="bg2"/>
                </a:solidFill>
              </a:rPr>
              <a:t>Goto</a:t>
            </a:r>
            <a:r>
              <a:rPr lang="en-US" altLang="zh-CN" sz="2400" b="1" dirty="0">
                <a:solidFill>
                  <a:schemeClr val="bg2"/>
                </a:solidFill>
              </a:rPr>
              <a:t> L3;</a:t>
            </a:r>
          </a:p>
          <a:p>
            <a:pPr eaLnBrk="1" hangingPunct="1">
              <a:spcBef>
                <a:spcPct val="10000"/>
              </a:spcBef>
              <a:buClrTx/>
              <a:buSzTx/>
              <a:buFontTx/>
              <a:buNone/>
            </a:pPr>
            <a:r>
              <a:rPr lang="en-US" altLang="zh-CN" sz="2400" b="1" dirty="0">
                <a:solidFill>
                  <a:schemeClr val="bg2"/>
                </a:solidFill>
              </a:rPr>
              <a:t>END</a:t>
            </a:r>
          </a:p>
        </p:txBody>
      </p:sp>
      <p:grpSp>
        <p:nvGrpSpPr>
          <p:cNvPr id="7" name="Group 5">
            <a:extLst>
              <a:ext uri="{FF2B5EF4-FFF2-40B4-BE49-F238E27FC236}">
                <a16:creationId xmlns:a16="http://schemas.microsoft.com/office/drawing/2014/main" id="{22E41C0B-60BB-4D0D-8FB5-BD2728EBFB1A}"/>
              </a:ext>
            </a:extLst>
          </p:cNvPr>
          <p:cNvGrpSpPr>
            <a:grpSpLocks/>
          </p:cNvGrpSpPr>
          <p:nvPr/>
        </p:nvGrpSpPr>
        <p:grpSpPr bwMode="auto">
          <a:xfrm>
            <a:off x="419914" y="129382"/>
            <a:ext cx="8208962" cy="863600"/>
            <a:chOff x="249" y="2024"/>
            <a:chExt cx="5171" cy="544"/>
          </a:xfrm>
        </p:grpSpPr>
        <p:sp>
          <p:nvSpPr>
            <p:cNvPr id="8" name="Rectangle 6">
              <a:extLst>
                <a:ext uri="{FF2B5EF4-FFF2-40B4-BE49-F238E27FC236}">
                  <a16:creationId xmlns:a16="http://schemas.microsoft.com/office/drawing/2014/main" id="{54A78F4E-89EE-4FE4-BDFA-62907EFA6AE1}"/>
                </a:ext>
              </a:extLst>
            </p:cNvPr>
            <p:cNvSpPr>
              <a:spLocks noChangeArrowheads="1"/>
            </p:cNvSpPr>
            <p:nvPr/>
          </p:nvSpPr>
          <p:spPr bwMode="auto">
            <a:xfrm>
              <a:off x="1247" y="2115"/>
              <a:ext cx="862" cy="408"/>
            </a:xfrm>
            <a:prstGeom prst="rect">
              <a:avLst/>
            </a:prstGeom>
            <a:solidFill>
              <a:srgbClr val="CCFFFF"/>
            </a:solidFill>
            <a:ln w="12700" cap="sq">
              <a:solidFill>
                <a:schemeClr val="tx1"/>
              </a:solid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b="1">
                  <a:solidFill>
                    <a:schemeClr val="bg2"/>
                  </a:solidFill>
                </a:rPr>
                <a:t>缓冲区</a:t>
              </a:r>
              <a:r>
                <a:rPr lang="en-US" altLang="zh-CN" sz="2400" b="1">
                  <a:solidFill>
                    <a:schemeClr val="bg2"/>
                  </a:solidFill>
                </a:rPr>
                <a:t>1</a:t>
              </a:r>
            </a:p>
          </p:txBody>
        </p:sp>
        <p:sp>
          <p:nvSpPr>
            <p:cNvPr id="9" name="Rectangle 7">
              <a:extLst>
                <a:ext uri="{FF2B5EF4-FFF2-40B4-BE49-F238E27FC236}">
                  <a16:creationId xmlns:a16="http://schemas.microsoft.com/office/drawing/2014/main" id="{BEAE0D1C-E2EE-4BB8-8D48-455AA1FBA3F9}"/>
                </a:ext>
              </a:extLst>
            </p:cNvPr>
            <p:cNvSpPr>
              <a:spLocks noChangeArrowheads="1"/>
            </p:cNvSpPr>
            <p:nvPr/>
          </p:nvSpPr>
          <p:spPr bwMode="auto">
            <a:xfrm>
              <a:off x="3560" y="2070"/>
              <a:ext cx="862" cy="408"/>
            </a:xfrm>
            <a:prstGeom prst="rect">
              <a:avLst/>
            </a:prstGeom>
            <a:solidFill>
              <a:srgbClr val="CCFFFF"/>
            </a:solidFill>
            <a:ln w="12700" cap="sq">
              <a:solidFill>
                <a:schemeClr val="tx1"/>
              </a:solid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b="1">
                  <a:solidFill>
                    <a:schemeClr val="bg2"/>
                  </a:solidFill>
                </a:rPr>
                <a:t>缓冲区</a:t>
              </a:r>
              <a:r>
                <a:rPr lang="en-US" altLang="zh-CN" sz="2400" b="1">
                  <a:solidFill>
                    <a:schemeClr val="bg2"/>
                  </a:solidFill>
                </a:rPr>
                <a:t>2</a:t>
              </a:r>
            </a:p>
          </p:txBody>
        </p:sp>
        <p:sp>
          <p:nvSpPr>
            <p:cNvPr id="10" name="Oval 8">
              <a:extLst>
                <a:ext uri="{FF2B5EF4-FFF2-40B4-BE49-F238E27FC236}">
                  <a16:creationId xmlns:a16="http://schemas.microsoft.com/office/drawing/2014/main" id="{6945F0C6-2694-42CC-9433-4724757EA978}"/>
                </a:ext>
              </a:extLst>
            </p:cNvPr>
            <p:cNvSpPr>
              <a:spLocks noChangeArrowheads="1"/>
            </p:cNvSpPr>
            <p:nvPr/>
          </p:nvSpPr>
          <p:spPr bwMode="auto">
            <a:xfrm>
              <a:off x="249" y="2069"/>
              <a:ext cx="544" cy="499"/>
            </a:xfrm>
            <a:prstGeom prst="ellipse">
              <a:avLst/>
            </a:prstGeom>
            <a:solidFill>
              <a:srgbClr val="FFCCFF"/>
            </a:solidFill>
            <a:ln w="12700" cap="sq">
              <a:solidFill>
                <a:srgbClr val="FFCCFF"/>
              </a:solidFill>
              <a:round/>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1">
                  <a:solidFill>
                    <a:schemeClr val="bg2"/>
                  </a:solidFill>
                </a:rPr>
                <a:t>P</a:t>
              </a:r>
              <a:r>
                <a:rPr lang="en-US" altLang="zh-CN" sz="2400" b="1" baseline="-25000">
                  <a:solidFill>
                    <a:schemeClr val="bg2"/>
                  </a:solidFill>
                </a:rPr>
                <a:t>A</a:t>
              </a:r>
            </a:p>
          </p:txBody>
        </p:sp>
        <p:sp>
          <p:nvSpPr>
            <p:cNvPr id="11" name="Oval 9">
              <a:extLst>
                <a:ext uri="{FF2B5EF4-FFF2-40B4-BE49-F238E27FC236}">
                  <a16:creationId xmlns:a16="http://schemas.microsoft.com/office/drawing/2014/main" id="{79734B63-E27F-4847-B9FD-5F278531CAD8}"/>
                </a:ext>
              </a:extLst>
            </p:cNvPr>
            <p:cNvSpPr>
              <a:spLocks noChangeArrowheads="1"/>
            </p:cNvSpPr>
            <p:nvPr/>
          </p:nvSpPr>
          <p:spPr bwMode="auto">
            <a:xfrm>
              <a:off x="2562" y="2024"/>
              <a:ext cx="544" cy="499"/>
            </a:xfrm>
            <a:prstGeom prst="ellipse">
              <a:avLst/>
            </a:prstGeom>
            <a:solidFill>
              <a:srgbClr val="FFCCFF"/>
            </a:solidFill>
            <a:ln w="12700" cap="sq">
              <a:solidFill>
                <a:srgbClr val="FFCCFF"/>
              </a:solidFill>
              <a:round/>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1">
                  <a:solidFill>
                    <a:schemeClr val="bg2"/>
                  </a:solidFill>
                </a:rPr>
                <a:t>P</a:t>
              </a:r>
              <a:r>
                <a:rPr lang="en-US" altLang="zh-CN" sz="2400" b="1" baseline="-25000">
                  <a:solidFill>
                    <a:schemeClr val="bg2"/>
                  </a:solidFill>
                </a:rPr>
                <a:t>B</a:t>
              </a:r>
            </a:p>
          </p:txBody>
        </p:sp>
        <p:sp>
          <p:nvSpPr>
            <p:cNvPr id="12" name="Oval 10">
              <a:extLst>
                <a:ext uri="{FF2B5EF4-FFF2-40B4-BE49-F238E27FC236}">
                  <a16:creationId xmlns:a16="http://schemas.microsoft.com/office/drawing/2014/main" id="{F4D63984-BC42-406B-A7AF-E139ED7D2ACE}"/>
                </a:ext>
              </a:extLst>
            </p:cNvPr>
            <p:cNvSpPr>
              <a:spLocks noChangeArrowheads="1"/>
            </p:cNvSpPr>
            <p:nvPr/>
          </p:nvSpPr>
          <p:spPr bwMode="auto">
            <a:xfrm>
              <a:off x="4876" y="2024"/>
              <a:ext cx="544" cy="499"/>
            </a:xfrm>
            <a:prstGeom prst="ellipse">
              <a:avLst/>
            </a:prstGeom>
            <a:solidFill>
              <a:srgbClr val="FFCCFF"/>
            </a:solidFill>
            <a:ln w="12700" cap="sq">
              <a:solidFill>
                <a:srgbClr val="FFCCFF"/>
              </a:solidFill>
              <a:round/>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1">
                  <a:solidFill>
                    <a:schemeClr val="bg2"/>
                  </a:solidFill>
                </a:rPr>
                <a:t>P</a:t>
              </a:r>
              <a:r>
                <a:rPr lang="en-US" altLang="zh-CN" sz="2400" b="1" baseline="-25000">
                  <a:solidFill>
                    <a:schemeClr val="bg2"/>
                  </a:solidFill>
                </a:rPr>
                <a:t>C</a:t>
              </a:r>
            </a:p>
          </p:txBody>
        </p:sp>
        <p:sp>
          <p:nvSpPr>
            <p:cNvPr id="13" name="Line 11">
              <a:extLst>
                <a:ext uri="{FF2B5EF4-FFF2-40B4-BE49-F238E27FC236}">
                  <a16:creationId xmlns:a16="http://schemas.microsoft.com/office/drawing/2014/main" id="{969DDC36-092B-4E6C-B7FC-F4E89B650769}"/>
                </a:ext>
              </a:extLst>
            </p:cNvPr>
            <p:cNvSpPr>
              <a:spLocks noChangeShapeType="1"/>
            </p:cNvSpPr>
            <p:nvPr/>
          </p:nvSpPr>
          <p:spPr bwMode="auto">
            <a:xfrm>
              <a:off x="793" y="2296"/>
              <a:ext cx="454" cy="0"/>
            </a:xfrm>
            <a:prstGeom prst="line">
              <a:avLst/>
            </a:prstGeom>
            <a:noFill/>
            <a:ln w="38100" cap="sq">
              <a:solidFill>
                <a:schemeClr val="bg2"/>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 name="Line 12">
              <a:extLst>
                <a:ext uri="{FF2B5EF4-FFF2-40B4-BE49-F238E27FC236}">
                  <a16:creationId xmlns:a16="http://schemas.microsoft.com/office/drawing/2014/main" id="{24EB1E26-73B1-411C-AA41-8DF94AFD9288}"/>
                </a:ext>
              </a:extLst>
            </p:cNvPr>
            <p:cNvSpPr>
              <a:spLocks noChangeShapeType="1"/>
            </p:cNvSpPr>
            <p:nvPr/>
          </p:nvSpPr>
          <p:spPr bwMode="auto">
            <a:xfrm>
              <a:off x="2109" y="2296"/>
              <a:ext cx="453" cy="0"/>
            </a:xfrm>
            <a:prstGeom prst="line">
              <a:avLst/>
            </a:prstGeom>
            <a:noFill/>
            <a:ln w="38100" cap="sq">
              <a:solidFill>
                <a:schemeClr val="bg2"/>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 name="Line 13">
              <a:extLst>
                <a:ext uri="{FF2B5EF4-FFF2-40B4-BE49-F238E27FC236}">
                  <a16:creationId xmlns:a16="http://schemas.microsoft.com/office/drawing/2014/main" id="{A7C3E80C-66A9-4D82-8D5E-5EBA9A229AD1}"/>
                </a:ext>
              </a:extLst>
            </p:cNvPr>
            <p:cNvSpPr>
              <a:spLocks noChangeShapeType="1"/>
            </p:cNvSpPr>
            <p:nvPr/>
          </p:nvSpPr>
          <p:spPr bwMode="auto">
            <a:xfrm>
              <a:off x="3107" y="2296"/>
              <a:ext cx="453" cy="0"/>
            </a:xfrm>
            <a:prstGeom prst="line">
              <a:avLst/>
            </a:prstGeom>
            <a:noFill/>
            <a:ln w="38100" cap="sq">
              <a:solidFill>
                <a:schemeClr val="bg2"/>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 name="Line 14">
              <a:extLst>
                <a:ext uri="{FF2B5EF4-FFF2-40B4-BE49-F238E27FC236}">
                  <a16:creationId xmlns:a16="http://schemas.microsoft.com/office/drawing/2014/main" id="{3D751753-4EB5-44F6-B221-43F77CD8B741}"/>
                </a:ext>
              </a:extLst>
            </p:cNvPr>
            <p:cNvSpPr>
              <a:spLocks noChangeShapeType="1"/>
            </p:cNvSpPr>
            <p:nvPr/>
          </p:nvSpPr>
          <p:spPr bwMode="auto">
            <a:xfrm>
              <a:off x="4422" y="2296"/>
              <a:ext cx="453" cy="0"/>
            </a:xfrm>
            <a:prstGeom prst="line">
              <a:avLst/>
            </a:prstGeom>
            <a:noFill/>
            <a:ln w="38100" cap="sq">
              <a:solidFill>
                <a:schemeClr val="bg2"/>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7" name="Text Box 15">
            <a:extLst>
              <a:ext uri="{FF2B5EF4-FFF2-40B4-BE49-F238E27FC236}">
                <a16:creationId xmlns:a16="http://schemas.microsoft.com/office/drawing/2014/main" id="{743D6D5B-BACB-4256-A9FA-B79A828EFB2F}"/>
              </a:ext>
            </a:extLst>
          </p:cNvPr>
          <p:cNvSpPr txBox="1">
            <a:spLocks noChangeArrowheads="1"/>
          </p:cNvSpPr>
          <p:nvPr/>
        </p:nvSpPr>
        <p:spPr bwMode="auto">
          <a:xfrm>
            <a:off x="2857500" y="1571625"/>
            <a:ext cx="3097213" cy="3627438"/>
          </a:xfrm>
          <a:prstGeom prst="rect">
            <a:avLst/>
          </a:prstGeom>
          <a:solidFill>
            <a:srgbClr val="F9FFC5"/>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b="1" dirty="0">
                <a:solidFill>
                  <a:schemeClr val="bg2"/>
                </a:solidFill>
              </a:rPr>
              <a:t>P</a:t>
            </a:r>
            <a:r>
              <a:rPr lang="en-US" altLang="zh-CN" b="1" baseline="-25000" dirty="0">
                <a:solidFill>
                  <a:schemeClr val="bg2"/>
                </a:solidFill>
              </a:rPr>
              <a:t>B</a:t>
            </a:r>
            <a:r>
              <a:rPr lang="en-US" altLang="zh-CN" b="1" dirty="0">
                <a:solidFill>
                  <a:schemeClr val="bg2"/>
                </a:solidFill>
              </a:rPr>
              <a:t>:</a:t>
            </a:r>
          </a:p>
          <a:p>
            <a:pPr eaLnBrk="1" hangingPunct="1">
              <a:spcBef>
                <a:spcPct val="0"/>
              </a:spcBef>
              <a:buClrTx/>
              <a:buSzTx/>
              <a:buFontTx/>
              <a:buNone/>
            </a:pPr>
            <a:r>
              <a:rPr lang="en-US" altLang="zh-CN" sz="2000" b="1" dirty="0">
                <a:solidFill>
                  <a:schemeClr val="bg2"/>
                </a:solidFill>
              </a:rPr>
              <a:t>BIGIN</a:t>
            </a:r>
          </a:p>
          <a:p>
            <a:pPr eaLnBrk="1" hangingPunct="1">
              <a:spcBef>
                <a:spcPct val="0"/>
              </a:spcBef>
              <a:buClrTx/>
              <a:buSzTx/>
              <a:buFontTx/>
              <a:buNone/>
            </a:pPr>
            <a:r>
              <a:rPr lang="en-US" altLang="zh-CN" sz="2000" b="1" dirty="0">
                <a:solidFill>
                  <a:schemeClr val="bg2"/>
                </a:solidFill>
              </a:rPr>
              <a:t> </a:t>
            </a:r>
            <a:r>
              <a:rPr lang="en-US" altLang="zh-CN" sz="2000" b="1" dirty="0">
                <a:solidFill>
                  <a:srgbClr val="0000A8"/>
                </a:solidFill>
              </a:rPr>
              <a:t>L2:</a:t>
            </a:r>
          </a:p>
          <a:p>
            <a:pPr eaLnBrk="1" hangingPunct="1">
              <a:spcBef>
                <a:spcPct val="0"/>
              </a:spcBef>
              <a:buClrTx/>
              <a:buSzTx/>
              <a:buFontTx/>
              <a:buNone/>
            </a:pPr>
            <a:r>
              <a:rPr lang="en-US" altLang="zh-CN" sz="2000" b="1" dirty="0">
                <a:solidFill>
                  <a:srgbClr val="0000A8"/>
                </a:solidFill>
              </a:rPr>
              <a:t>       </a:t>
            </a:r>
            <a:r>
              <a:rPr lang="en-US" altLang="zh-CN" sz="2000" b="1" dirty="0">
                <a:solidFill>
                  <a:srgbClr val="CB41C1"/>
                </a:solidFill>
              </a:rPr>
              <a:t>P(full1);</a:t>
            </a:r>
          </a:p>
          <a:p>
            <a:pPr lvl="1" eaLnBrk="1" hangingPunct="1">
              <a:spcBef>
                <a:spcPct val="0"/>
              </a:spcBef>
              <a:buFontTx/>
              <a:buNone/>
            </a:pPr>
            <a:r>
              <a:rPr lang="en-US" altLang="zh-CN" sz="2000" b="1" dirty="0">
                <a:solidFill>
                  <a:srgbClr val="0000A8"/>
                </a:solidFill>
              </a:rPr>
              <a:t>Get from buffer 1;</a:t>
            </a:r>
          </a:p>
          <a:p>
            <a:pPr lvl="1" eaLnBrk="1" hangingPunct="1">
              <a:spcBef>
                <a:spcPct val="0"/>
              </a:spcBef>
              <a:buFontTx/>
              <a:buNone/>
            </a:pPr>
            <a:r>
              <a:rPr lang="en-US" altLang="zh-CN" sz="2000" b="1" dirty="0">
                <a:solidFill>
                  <a:srgbClr val="CB41C1"/>
                </a:solidFill>
              </a:rPr>
              <a:t>V(empty1);</a:t>
            </a:r>
          </a:p>
          <a:p>
            <a:pPr lvl="1" eaLnBrk="1" hangingPunct="1">
              <a:spcBef>
                <a:spcPct val="0"/>
              </a:spcBef>
              <a:buFontTx/>
              <a:buNone/>
            </a:pPr>
            <a:r>
              <a:rPr lang="en-US" altLang="zh-CN" sz="2000" b="1" dirty="0">
                <a:solidFill>
                  <a:srgbClr val="CB41C1"/>
                </a:solidFill>
              </a:rPr>
              <a:t>P(empty2);</a:t>
            </a:r>
          </a:p>
          <a:p>
            <a:pPr lvl="1" eaLnBrk="1" hangingPunct="1">
              <a:spcBef>
                <a:spcPct val="0"/>
              </a:spcBef>
              <a:buFontTx/>
              <a:buNone/>
            </a:pPr>
            <a:r>
              <a:rPr lang="en-US" altLang="zh-CN" sz="2000" b="1" dirty="0">
                <a:solidFill>
                  <a:schemeClr val="bg2"/>
                </a:solidFill>
              </a:rPr>
              <a:t>Put to buffer 2;</a:t>
            </a:r>
          </a:p>
          <a:p>
            <a:pPr lvl="1" eaLnBrk="1" hangingPunct="1">
              <a:spcBef>
                <a:spcPct val="0"/>
              </a:spcBef>
              <a:buFontTx/>
              <a:buNone/>
            </a:pPr>
            <a:r>
              <a:rPr lang="en-US" altLang="zh-CN" sz="2000" b="1" dirty="0">
                <a:solidFill>
                  <a:srgbClr val="CB41C1"/>
                </a:solidFill>
              </a:rPr>
              <a:t>V(full2);</a:t>
            </a:r>
          </a:p>
          <a:p>
            <a:pPr lvl="1" eaLnBrk="1" hangingPunct="1">
              <a:spcBef>
                <a:spcPct val="0"/>
              </a:spcBef>
              <a:buFontTx/>
              <a:buNone/>
            </a:pPr>
            <a:r>
              <a:rPr lang="en-US" altLang="zh-CN" sz="2000" b="1" dirty="0" err="1">
                <a:solidFill>
                  <a:schemeClr val="bg2"/>
                </a:solidFill>
              </a:rPr>
              <a:t>Goto</a:t>
            </a:r>
            <a:r>
              <a:rPr lang="en-US" altLang="zh-CN" sz="2000" b="1" dirty="0">
                <a:solidFill>
                  <a:schemeClr val="bg2"/>
                </a:solidFill>
              </a:rPr>
              <a:t> L2;</a:t>
            </a:r>
          </a:p>
          <a:p>
            <a:pPr eaLnBrk="1" hangingPunct="1">
              <a:spcBef>
                <a:spcPct val="0"/>
              </a:spcBef>
              <a:buClrTx/>
              <a:buSzTx/>
              <a:buFontTx/>
              <a:buNone/>
            </a:pPr>
            <a:r>
              <a:rPr lang="en-US" altLang="zh-CN" sz="2000" b="1" dirty="0">
                <a:solidFill>
                  <a:schemeClr val="bg2"/>
                </a:solidFill>
              </a:rPr>
              <a:t>END</a:t>
            </a:r>
          </a:p>
        </p:txBody>
      </p:sp>
      <p:sp>
        <p:nvSpPr>
          <p:cNvPr id="1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298186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fade">
                                      <p:cBhvr>
                                        <p:cTn id="7" dur="2000"/>
                                        <p:tgtEl>
                                          <p:spTgt spid="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
                                            <p:txEl>
                                              <p:pRg st="5" end="5"/>
                                            </p:txEl>
                                          </p:spTgt>
                                        </p:tgtEl>
                                        <p:attrNameLst>
                                          <p:attrName>style.visibility</p:attrName>
                                        </p:attrNameLst>
                                      </p:cBhvr>
                                      <p:to>
                                        <p:strVal val="visible"/>
                                      </p:to>
                                    </p:set>
                                    <p:animEffect transition="in" filter="checkerboard(across)">
                                      <p:cBhvr>
                                        <p:cTn id="12" dur="500"/>
                                        <p:tgtEl>
                                          <p:spTgt spid="5">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20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fade">
                                      <p:cBhvr>
                                        <p:cTn id="22" dur="2000"/>
                                        <p:tgtEl>
                                          <p:spTgt spid="6">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xEl>
                                              <p:pRg st="3" end="3"/>
                                            </p:txEl>
                                          </p:spTgt>
                                        </p:tgtEl>
                                        <p:attrNameLst>
                                          <p:attrName>style.visibility</p:attrName>
                                        </p:attrNameLst>
                                      </p:cBhvr>
                                      <p:to>
                                        <p:strVal val="visible"/>
                                      </p:to>
                                    </p:set>
                                    <p:animEffect transition="in" filter="fade">
                                      <p:cBhvr>
                                        <p:cTn id="27" dur="2000"/>
                                        <p:tgtEl>
                                          <p:spTgt spid="1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xEl>
                                              <p:pRg st="5" end="5"/>
                                            </p:txEl>
                                          </p:spTgt>
                                        </p:tgtEl>
                                        <p:attrNameLst>
                                          <p:attrName>style.visibility</p:attrName>
                                        </p:attrNameLst>
                                      </p:cBhvr>
                                      <p:to>
                                        <p:strVal val="visible"/>
                                      </p:to>
                                    </p:set>
                                    <p:animEffect transition="in" filter="fade">
                                      <p:cBhvr>
                                        <p:cTn id="32" dur="2000"/>
                                        <p:tgtEl>
                                          <p:spTgt spid="1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
                                            <p:txEl>
                                              <p:pRg st="6" end="6"/>
                                            </p:txEl>
                                          </p:spTgt>
                                        </p:tgtEl>
                                        <p:attrNameLst>
                                          <p:attrName>style.visibility</p:attrName>
                                        </p:attrNameLst>
                                      </p:cBhvr>
                                      <p:to>
                                        <p:strVal val="visible"/>
                                      </p:to>
                                    </p:set>
                                    <p:animEffect transition="in" filter="fade">
                                      <p:cBhvr>
                                        <p:cTn id="37" dur="2000"/>
                                        <p:tgtEl>
                                          <p:spTgt spid="1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
                                            <p:txEl>
                                              <p:pRg st="8" end="8"/>
                                            </p:txEl>
                                          </p:spTgt>
                                        </p:tgtEl>
                                        <p:attrNameLst>
                                          <p:attrName>style.visibility</p:attrName>
                                        </p:attrNameLst>
                                      </p:cBhvr>
                                      <p:to>
                                        <p:strVal val="visible"/>
                                      </p:to>
                                    </p:set>
                                    <p:animEffect transition="in" filter="fade">
                                      <p:cBhvr>
                                        <p:cTn id="42" dur="2000"/>
                                        <p:tgtEl>
                                          <p:spTgt spid="17">
                                            <p:txEl>
                                              <p:pRg st="8" end="8"/>
                                            </p:txEl>
                                          </p:spTgt>
                                        </p:tgtEl>
                                      </p:cBhvr>
                                    </p:animEffect>
                                  </p:childTnLst>
                                </p:cTn>
                              </p:par>
                            </p:childTnLst>
                          </p:cTn>
                        </p:par>
                        <p:par>
                          <p:cTn id="43" fill="hold">
                            <p:stCondLst>
                              <p:cond delay="2000"/>
                            </p:stCondLst>
                            <p:childTnLst>
                              <p:par>
                                <p:cTn id="44" presetID="2" presetClass="entr" presetSubtype="6"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 calcmode="lin" valueType="num">
                                      <p:cBhvr additive="base">
                                        <p:cTn id="46" dur="500" fill="hold"/>
                                        <p:tgtEl>
                                          <p:spTgt spid="18"/>
                                        </p:tgtEl>
                                        <p:attrNameLst>
                                          <p:attrName>ppt_x</p:attrName>
                                        </p:attrNameLst>
                                      </p:cBhvr>
                                      <p:tavLst>
                                        <p:tav tm="0">
                                          <p:val>
                                            <p:strVal val="1+#ppt_w/2"/>
                                          </p:val>
                                        </p:tav>
                                        <p:tav tm="100000">
                                          <p:val>
                                            <p:strVal val="#ppt_x"/>
                                          </p:val>
                                        </p:tav>
                                      </p:tavLst>
                                    </p:anim>
                                    <p:anim calcmode="lin" valueType="num">
                                      <p:cBhvr additive="base">
                                        <p:cTn id="47"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55BA1C9A-B530-4E98-BF0D-6F990138F009}"/>
              </a:ext>
            </a:extLst>
          </p:cNvPr>
          <p:cNvSpPr>
            <a:spLocks noGrp="1"/>
          </p:cNvSpPr>
          <p:nvPr>
            <p:ph type="sldNum" sz="quarter" idx="12"/>
          </p:nvPr>
        </p:nvSpPr>
        <p:spPr/>
        <p:txBody>
          <a:bodyPr/>
          <a:lstStyle/>
          <a:p>
            <a:pPr>
              <a:defRPr/>
            </a:pPr>
            <a:r>
              <a:rPr lang="zh-CN" altLang="en-US" dirty="0"/>
              <a:t>第 </a:t>
            </a:r>
            <a:fld id="{AA9BF305-28BD-41C0-8AA3-BF5601F9D25F}" type="slidenum">
              <a:rPr lang="zh-CN" altLang="en-US" smtClean="0"/>
              <a:pPr>
                <a:defRPr/>
              </a:pPr>
              <a:t>31</a:t>
            </a:fld>
            <a:r>
              <a:rPr lang="zh-CN" altLang="en-US" dirty="0"/>
              <a:t>页</a:t>
            </a:r>
          </a:p>
        </p:txBody>
      </p:sp>
      <p:sp>
        <p:nvSpPr>
          <p:cNvPr id="5" name="Rectangle 3">
            <a:extLst>
              <a:ext uri="{FF2B5EF4-FFF2-40B4-BE49-F238E27FC236}">
                <a16:creationId xmlns:a16="http://schemas.microsoft.com/office/drawing/2014/main" id="{C2F44186-7017-47CF-BE0E-ADCFC6951BCB}"/>
              </a:ext>
            </a:extLst>
          </p:cNvPr>
          <p:cNvSpPr txBox="1">
            <a:spLocks noChangeArrowheads="1"/>
          </p:cNvSpPr>
          <p:nvPr/>
        </p:nvSpPr>
        <p:spPr>
          <a:xfrm>
            <a:off x="0" y="0"/>
            <a:ext cx="9144000" cy="1484313"/>
          </a:xfrm>
          <a:prstGeom prst="rect">
            <a:avLst/>
          </a:prstGeom>
          <a:solidFill>
            <a:schemeClr val="tx1">
              <a:lumMod val="85000"/>
            </a:schemeClr>
          </a:solid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indent="0" eaLnBrk="1" hangingPunct="1">
              <a:buFont typeface="Symbol" panose="05050102010706020507" pitchFamily="18" charset="2"/>
              <a:buNone/>
            </a:pPr>
            <a:r>
              <a:rPr lang="en-US" altLang="zh-CN" sz="2800" b="1" kern="0" dirty="0">
                <a:solidFill>
                  <a:schemeClr val="bg2"/>
                </a:solidFill>
              </a:rPr>
              <a:t> </a:t>
            </a:r>
            <a:r>
              <a:rPr lang="en-US" altLang="zh-CN" sz="2800" b="1" kern="0" dirty="0">
                <a:solidFill>
                  <a:schemeClr val="bg2"/>
                </a:solidFill>
                <a:effectLst/>
              </a:rPr>
              <a:t>[</a:t>
            </a:r>
            <a:r>
              <a:rPr lang="zh-CN" altLang="en-US" sz="2800" b="1" kern="0" dirty="0">
                <a:solidFill>
                  <a:schemeClr val="bg2"/>
                </a:solidFill>
                <a:effectLst/>
              </a:rPr>
              <a:t>例</a:t>
            </a:r>
            <a:r>
              <a:rPr lang="en-US" altLang="zh-CN" sz="2800" b="1" kern="0" dirty="0">
                <a:solidFill>
                  <a:schemeClr val="bg2"/>
                </a:solidFill>
                <a:effectLst/>
              </a:rPr>
              <a:t>5.2]</a:t>
            </a:r>
            <a:r>
              <a:rPr lang="zh-CN" altLang="en-US" sz="2400" b="1" kern="0" dirty="0">
                <a:solidFill>
                  <a:schemeClr val="bg2"/>
                </a:solidFill>
                <a:effectLst/>
              </a:rPr>
              <a:t>设有一个具有</a:t>
            </a:r>
            <a:r>
              <a:rPr lang="en-US" altLang="zh-CN" sz="2400" b="1" kern="0" dirty="0">
                <a:solidFill>
                  <a:schemeClr val="bg2"/>
                </a:solidFill>
                <a:effectLst/>
              </a:rPr>
              <a:t>N</a:t>
            </a:r>
            <a:r>
              <a:rPr lang="zh-CN" altLang="en-US" sz="2400" b="1" kern="0" dirty="0">
                <a:solidFill>
                  <a:schemeClr val="bg2"/>
                </a:solidFill>
                <a:effectLst/>
              </a:rPr>
              <a:t>个信息元素的环形缓冲区，</a:t>
            </a:r>
            <a:r>
              <a:rPr lang="en-US" altLang="zh-CN" sz="2400" b="1" kern="0" dirty="0">
                <a:solidFill>
                  <a:schemeClr val="bg2"/>
                </a:solidFill>
                <a:effectLst/>
              </a:rPr>
              <a:t>A</a:t>
            </a:r>
            <a:r>
              <a:rPr lang="zh-CN" altLang="en-US" sz="2400" b="1" kern="0" dirty="0">
                <a:solidFill>
                  <a:schemeClr val="bg2"/>
                </a:solidFill>
                <a:effectLst/>
              </a:rPr>
              <a:t>进程顺序地把信息写入缓冲区，</a:t>
            </a:r>
            <a:r>
              <a:rPr lang="en-US" altLang="zh-CN" sz="2400" b="1" kern="0" dirty="0">
                <a:solidFill>
                  <a:schemeClr val="bg2"/>
                </a:solidFill>
                <a:effectLst/>
              </a:rPr>
              <a:t>B</a:t>
            </a:r>
            <a:r>
              <a:rPr lang="zh-CN" altLang="en-US" sz="2400" b="1" kern="0" dirty="0">
                <a:solidFill>
                  <a:schemeClr val="bg2"/>
                </a:solidFill>
                <a:effectLst/>
              </a:rPr>
              <a:t>进程依次从缓冲区读出信息。</a:t>
            </a:r>
            <a:r>
              <a:rPr lang="en-US" altLang="zh-CN" sz="2400" b="1" kern="0" dirty="0">
                <a:solidFill>
                  <a:schemeClr val="bg2"/>
                </a:solidFill>
                <a:effectLst/>
              </a:rPr>
              <a:t> (</a:t>
            </a:r>
            <a:r>
              <a:rPr lang="zh-CN" altLang="en-US" sz="2400" b="1" kern="0" dirty="0">
                <a:solidFill>
                  <a:srgbClr val="996633"/>
                </a:solidFill>
                <a:effectLst>
                  <a:outerShdw blurRad="38100" dist="38100" dir="2700000" algn="tl">
                    <a:srgbClr val="000000">
                      <a:alpha val="43137"/>
                    </a:srgbClr>
                  </a:outerShdw>
                </a:effectLst>
              </a:rPr>
              <a:t>忽略互斥</a:t>
            </a:r>
            <a:r>
              <a:rPr lang="en-US" altLang="zh-CN" sz="2400" b="1" kern="0" dirty="0">
                <a:solidFill>
                  <a:schemeClr val="bg2"/>
                </a:solidFill>
                <a:effectLst/>
              </a:rPr>
              <a:t>)</a:t>
            </a:r>
            <a:endParaRPr lang="zh-CN" altLang="en-US" sz="2400" b="1" kern="0" dirty="0">
              <a:solidFill>
                <a:schemeClr val="bg2"/>
              </a:solidFill>
              <a:effectLst/>
            </a:endParaRPr>
          </a:p>
          <a:p>
            <a:pPr marL="0" indent="0" eaLnBrk="1" hangingPunct="1">
              <a:buFont typeface="Symbol" panose="05050102010706020507" pitchFamily="18" charset="2"/>
              <a:buNone/>
            </a:pPr>
            <a:r>
              <a:rPr lang="zh-CN" altLang="en-US" sz="2400" b="1" kern="0" dirty="0">
                <a:solidFill>
                  <a:schemeClr val="bg2"/>
                </a:solidFill>
                <a:effectLst/>
              </a:rPr>
              <a:t>判别下列同步算法是否正确？如不正确，说明理由，并修改。</a:t>
            </a:r>
          </a:p>
        </p:txBody>
      </p:sp>
      <p:sp>
        <p:nvSpPr>
          <p:cNvPr id="6" name="Text Box 4">
            <a:extLst>
              <a:ext uri="{FF2B5EF4-FFF2-40B4-BE49-F238E27FC236}">
                <a16:creationId xmlns:a16="http://schemas.microsoft.com/office/drawing/2014/main" id="{361F7EE2-1695-4E97-B8AF-428309481A12}"/>
              </a:ext>
            </a:extLst>
          </p:cNvPr>
          <p:cNvSpPr txBox="1">
            <a:spLocks noChangeArrowheads="1"/>
          </p:cNvSpPr>
          <p:nvPr/>
        </p:nvSpPr>
        <p:spPr bwMode="auto">
          <a:xfrm>
            <a:off x="179388" y="1557338"/>
            <a:ext cx="87852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b="1" dirty="0">
                <a:solidFill>
                  <a:schemeClr val="bg2"/>
                </a:solidFill>
              </a:rPr>
              <a:t>VAR buffer :</a:t>
            </a:r>
            <a:r>
              <a:rPr lang="en-US" altLang="zh-CN" sz="2000" b="1" dirty="0">
                <a:solidFill>
                  <a:schemeClr val="bg2"/>
                </a:solidFill>
              </a:rPr>
              <a:t> ARRAY </a:t>
            </a:r>
            <a:r>
              <a:rPr lang="en-US" altLang="zh-CN" sz="2400" b="1" dirty="0">
                <a:solidFill>
                  <a:schemeClr val="bg2"/>
                </a:solidFill>
              </a:rPr>
              <a:t> 0..N-1 of </a:t>
            </a:r>
            <a:r>
              <a:rPr lang="en-US" altLang="zh-CN" sz="2000" b="1" dirty="0" err="1">
                <a:solidFill>
                  <a:schemeClr val="bg2"/>
                </a:solidFill>
              </a:rPr>
              <a:t>TypeElement</a:t>
            </a:r>
            <a:r>
              <a:rPr lang="en-US" altLang="zh-CN" sz="2400" b="1" dirty="0">
                <a:solidFill>
                  <a:schemeClr val="bg2"/>
                </a:solidFill>
              </a:rPr>
              <a:t>;  in, out</a:t>
            </a:r>
            <a:r>
              <a:rPr lang="zh-CN" altLang="en-US" sz="2400" b="1" dirty="0">
                <a:solidFill>
                  <a:schemeClr val="bg2"/>
                </a:solidFill>
              </a:rPr>
              <a:t>：</a:t>
            </a:r>
            <a:r>
              <a:rPr lang="en-US" altLang="zh-CN" sz="2400" b="1" dirty="0">
                <a:solidFill>
                  <a:schemeClr val="bg2"/>
                </a:solidFill>
              </a:rPr>
              <a:t>0…N-1;</a:t>
            </a:r>
          </a:p>
          <a:p>
            <a:pPr eaLnBrk="1" hangingPunct="1">
              <a:spcBef>
                <a:spcPct val="0"/>
              </a:spcBef>
              <a:buClrTx/>
              <a:buSzTx/>
              <a:buFontTx/>
              <a:buNone/>
            </a:pPr>
            <a:r>
              <a:rPr lang="en-US" altLang="zh-CN" sz="2400" b="1" dirty="0">
                <a:solidFill>
                  <a:schemeClr val="bg2"/>
                </a:solidFill>
              </a:rPr>
              <a:t>VAR </a:t>
            </a:r>
            <a:r>
              <a:rPr lang="en-US" altLang="zh-CN" sz="2400" b="1" dirty="0" err="1">
                <a:solidFill>
                  <a:schemeClr val="bg2"/>
                </a:solidFill>
              </a:rPr>
              <a:t>full,empty</a:t>
            </a:r>
            <a:r>
              <a:rPr lang="zh-CN" altLang="en-US" sz="2400" b="1" dirty="0">
                <a:solidFill>
                  <a:schemeClr val="bg2"/>
                </a:solidFill>
              </a:rPr>
              <a:t>：</a:t>
            </a:r>
            <a:r>
              <a:rPr lang="en-US" altLang="zh-CN" sz="2400" b="1" dirty="0">
                <a:solidFill>
                  <a:schemeClr val="bg2"/>
                </a:solidFill>
              </a:rPr>
              <a:t>Semaphore;  </a:t>
            </a:r>
          </a:p>
          <a:p>
            <a:pPr eaLnBrk="1" hangingPunct="1">
              <a:spcBef>
                <a:spcPct val="0"/>
              </a:spcBef>
              <a:buClrTx/>
              <a:buSzTx/>
              <a:buFontTx/>
              <a:buNone/>
            </a:pPr>
            <a:r>
              <a:rPr lang="en-US" altLang="zh-CN" sz="2400" b="1" dirty="0">
                <a:solidFill>
                  <a:schemeClr val="bg2"/>
                </a:solidFill>
              </a:rPr>
              <a:t>        full:=0; empty:=N-1</a:t>
            </a:r>
            <a:r>
              <a:rPr lang="zh-CN" altLang="en-US" sz="2400" b="1" dirty="0">
                <a:solidFill>
                  <a:schemeClr val="bg2"/>
                </a:solidFill>
              </a:rPr>
              <a:t>； 	 </a:t>
            </a:r>
            <a:r>
              <a:rPr lang="en-US" altLang="zh-CN" sz="2400" b="1" dirty="0">
                <a:solidFill>
                  <a:schemeClr val="bg2"/>
                </a:solidFill>
              </a:rPr>
              <a:t>in:=out:=0</a:t>
            </a:r>
            <a:r>
              <a:rPr lang="zh-CN" altLang="en-US" sz="2400" b="1" dirty="0">
                <a:solidFill>
                  <a:schemeClr val="bg2"/>
                </a:solidFill>
              </a:rPr>
              <a:t>； </a:t>
            </a:r>
          </a:p>
        </p:txBody>
      </p:sp>
      <p:sp>
        <p:nvSpPr>
          <p:cNvPr id="7" name="Text Box 5">
            <a:extLst>
              <a:ext uri="{FF2B5EF4-FFF2-40B4-BE49-F238E27FC236}">
                <a16:creationId xmlns:a16="http://schemas.microsoft.com/office/drawing/2014/main" id="{A40532B1-DA58-429C-8CAF-1AAF85BFDB52}"/>
              </a:ext>
            </a:extLst>
          </p:cNvPr>
          <p:cNvSpPr txBox="1">
            <a:spLocks noChangeArrowheads="1"/>
          </p:cNvSpPr>
          <p:nvPr/>
        </p:nvSpPr>
        <p:spPr bwMode="auto">
          <a:xfrm>
            <a:off x="107950" y="2781300"/>
            <a:ext cx="3455988" cy="3859518"/>
          </a:xfrm>
          <a:prstGeom prst="rect">
            <a:avLst/>
          </a:prstGeom>
          <a:solidFill>
            <a:schemeClr val="tx1">
              <a:lumMod val="85000"/>
            </a:schemeClr>
          </a:solidFill>
          <a:ln>
            <a:noFill/>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r>
              <a:rPr lang="en-US" altLang="zh-CN" sz="2400" b="1" dirty="0">
                <a:solidFill>
                  <a:schemeClr val="bg2"/>
                </a:solidFill>
              </a:rPr>
              <a:t>PROCEDURE A</a:t>
            </a:r>
            <a:r>
              <a:rPr lang="zh-CN" altLang="en-US" sz="2400" dirty="0">
                <a:solidFill>
                  <a:schemeClr val="bg2"/>
                </a:solidFill>
              </a:rPr>
              <a:t>：</a:t>
            </a:r>
          </a:p>
          <a:p>
            <a:pPr eaLnBrk="1" hangingPunct="1">
              <a:buClrTx/>
              <a:buSzTx/>
              <a:buFontTx/>
              <a:buNone/>
            </a:pPr>
            <a:r>
              <a:rPr lang="en-US" altLang="zh-CN" sz="2400" b="1" dirty="0">
                <a:solidFill>
                  <a:schemeClr val="bg2"/>
                </a:solidFill>
              </a:rPr>
              <a:t>BEGIN</a:t>
            </a:r>
          </a:p>
          <a:p>
            <a:pPr eaLnBrk="1" hangingPunct="1">
              <a:buClrTx/>
              <a:buSzTx/>
              <a:buFontTx/>
              <a:buNone/>
            </a:pPr>
            <a:r>
              <a:rPr lang="en-US" altLang="zh-CN" sz="2000" b="1" dirty="0">
                <a:solidFill>
                  <a:schemeClr val="bg2"/>
                </a:solidFill>
              </a:rPr>
              <a:t>       REPEAT</a:t>
            </a:r>
          </a:p>
          <a:p>
            <a:pPr lvl="2" eaLnBrk="1" hangingPunct="1">
              <a:buFontTx/>
              <a:buNone/>
            </a:pPr>
            <a:r>
              <a:rPr lang="zh-CN" altLang="en-US" sz="2000" b="1" dirty="0">
                <a:solidFill>
                  <a:schemeClr val="bg2"/>
                </a:solidFill>
              </a:rPr>
              <a:t>生产数据</a:t>
            </a:r>
            <a:r>
              <a:rPr lang="en-US" altLang="zh-CN" sz="2000" b="1" dirty="0">
                <a:solidFill>
                  <a:schemeClr val="bg2"/>
                </a:solidFill>
              </a:rPr>
              <a:t>m</a:t>
            </a:r>
            <a:r>
              <a:rPr lang="zh-CN" altLang="en-US" sz="2000" b="1" dirty="0">
                <a:solidFill>
                  <a:schemeClr val="bg2"/>
                </a:solidFill>
              </a:rPr>
              <a:t>；</a:t>
            </a:r>
          </a:p>
          <a:p>
            <a:pPr lvl="2" eaLnBrk="1" hangingPunct="1">
              <a:buFontTx/>
              <a:buNone/>
            </a:pPr>
            <a:r>
              <a:rPr lang="en-US" altLang="zh-CN" sz="2000" b="1" dirty="0">
                <a:solidFill>
                  <a:schemeClr val="bg2"/>
                </a:solidFill>
              </a:rPr>
              <a:t>P(empty)</a:t>
            </a:r>
            <a:r>
              <a:rPr lang="zh-CN" altLang="en-US" sz="2000" b="1" dirty="0">
                <a:solidFill>
                  <a:schemeClr val="bg2"/>
                </a:solidFill>
              </a:rPr>
              <a:t>；</a:t>
            </a:r>
          </a:p>
          <a:p>
            <a:pPr lvl="2" eaLnBrk="1" hangingPunct="1">
              <a:buFontTx/>
              <a:buNone/>
            </a:pPr>
            <a:r>
              <a:rPr lang="en-US" altLang="zh-CN" sz="2000" b="1" dirty="0">
                <a:solidFill>
                  <a:schemeClr val="bg2"/>
                </a:solidFill>
              </a:rPr>
              <a:t>Buffer(in):=m</a:t>
            </a:r>
            <a:r>
              <a:rPr lang="zh-CN" altLang="en-US" sz="2000" b="1" dirty="0">
                <a:solidFill>
                  <a:schemeClr val="bg2"/>
                </a:solidFill>
              </a:rPr>
              <a:t>；</a:t>
            </a:r>
          </a:p>
          <a:p>
            <a:pPr lvl="2" eaLnBrk="1" hangingPunct="1">
              <a:buFontTx/>
              <a:buNone/>
            </a:pPr>
            <a:r>
              <a:rPr lang="en-US" altLang="zh-CN" sz="2000" b="1" dirty="0">
                <a:solidFill>
                  <a:schemeClr val="bg2"/>
                </a:solidFill>
              </a:rPr>
              <a:t>in:=(in+1) MOD N</a:t>
            </a:r>
            <a:r>
              <a:rPr lang="zh-CN" altLang="en-US" sz="2000" b="1" dirty="0">
                <a:solidFill>
                  <a:schemeClr val="bg2"/>
                </a:solidFill>
              </a:rPr>
              <a:t>；</a:t>
            </a:r>
          </a:p>
          <a:p>
            <a:pPr lvl="2" eaLnBrk="1" hangingPunct="1">
              <a:buFontTx/>
              <a:buNone/>
            </a:pPr>
            <a:r>
              <a:rPr lang="en-US" altLang="zh-CN" sz="2000" b="1" dirty="0">
                <a:solidFill>
                  <a:schemeClr val="bg2"/>
                </a:solidFill>
              </a:rPr>
              <a:t>V(full)</a:t>
            </a:r>
            <a:r>
              <a:rPr lang="zh-CN" altLang="en-US" sz="2000" b="1" dirty="0">
                <a:solidFill>
                  <a:schemeClr val="bg2"/>
                </a:solidFill>
              </a:rPr>
              <a:t>；</a:t>
            </a:r>
          </a:p>
          <a:p>
            <a:pPr lvl="1" eaLnBrk="1" hangingPunct="1">
              <a:buFontTx/>
              <a:buNone/>
            </a:pPr>
            <a:r>
              <a:rPr lang="en-US" altLang="zh-CN" sz="2000" b="1" dirty="0">
                <a:solidFill>
                  <a:schemeClr val="bg2"/>
                </a:solidFill>
              </a:rPr>
              <a:t>UNTIL  </a:t>
            </a:r>
            <a:r>
              <a:rPr lang="zh-CN" altLang="en-US" sz="2000" b="1" dirty="0">
                <a:solidFill>
                  <a:schemeClr val="bg2"/>
                </a:solidFill>
              </a:rPr>
              <a:t>中止</a:t>
            </a:r>
          </a:p>
          <a:p>
            <a:pPr eaLnBrk="1" hangingPunct="1">
              <a:buClrTx/>
              <a:buSzTx/>
              <a:buFontTx/>
              <a:buNone/>
            </a:pPr>
            <a:r>
              <a:rPr lang="en-US" altLang="zh-CN" sz="2000" b="1" dirty="0">
                <a:solidFill>
                  <a:schemeClr val="bg2"/>
                </a:solidFill>
              </a:rPr>
              <a:t>END</a:t>
            </a:r>
          </a:p>
        </p:txBody>
      </p:sp>
      <p:sp>
        <p:nvSpPr>
          <p:cNvPr id="8" name="Text Box 6">
            <a:extLst>
              <a:ext uri="{FF2B5EF4-FFF2-40B4-BE49-F238E27FC236}">
                <a16:creationId xmlns:a16="http://schemas.microsoft.com/office/drawing/2014/main" id="{9FD676A6-849E-4FE9-94E9-0F0A9CF2DEB0}"/>
              </a:ext>
            </a:extLst>
          </p:cNvPr>
          <p:cNvSpPr txBox="1">
            <a:spLocks noChangeArrowheads="1"/>
          </p:cNvSpPr>
          <p:nvPr/>
        </p:nvSpPr>
        <p:spPr bwMode="auto">
          <a:xfrm>
            <a:off x="5435600" y="2852738"/>
            <a:ext cx="3600450" cy="3785652"/>
          </a:xfrm>
          <a:prstGeom prst="rect">
            <a:avLst/>
          </a:prstGeom>
          <a:solidFill>
            <a:schemeClr val="tx1">
              <a:lumMod val="85000"/>
            </a:schemeClr>
          </a:solidFill>
          <a:ln>
            <a:noFill/>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r>
              <a:rPr lang="en-US" altLang="zh-CN" sz="2400" b="1" dirty="0">
                <a:solidFill>
                  <a:schemeClr val="bg2"/>
                </a:solidFill>
              </a:rPr>
              <a:t>PROCEDURE B</a:t>
            </a:r>
            <a:r>
              <a:rPr lang="zh-CN" altLang="en-US" sz="2400" b="1" dirty="0">
                <a:solidFill>
                  <a:schemeClr val="bg2"/>
                </a:solidFill>
              </a:rPr>
              <a:t>：</a:t>
            </a:r>
          </a:p>
          <a:p>
            <a:pPr eaLnBrk="1" hangingPunct="1">
              <a:buClrTx/>
              <a:buSzTx/>
              <a:buFontTx/>
              <a:buNone/>
            </a:pPr>
            <a:r>
              <a:rPr lang="en-US" altLang="zh-CN" sz="2000" b="1" dirty="0">
                <a:solidFill>
                  <a:schemeClr val="bg2"/>
                </a:solidFill>
              </a:rPr>
              <a:t>BEGIN</a:t>
            </a:r>
          </a:p>
          <a:p>
            <a:pPr lvl="1" eaLnBrk="1" hangingPunct="1">
              <a:buFontTx/>
              <a:buNone/>
            </a:pPr>
            <a:r>
              <a:rPr lang="en-US" altLang="zh-CN" sz="2000" b="1" dirty="0">
                <a:solidFill>
                  <a:schemeClr val="bg2"/>
                </a:solidFill>
              </a:rPr>
              <a:t>REPEAT</a:t>
            </a:r>
          </a:p>
          <a:p>
            <a:pPr lvl="2" eaLnBrk="1" hangingPunct="1">
              <a:buFontTx/>
              <a:buNone/>
            </a:pPr>
            <a:r>
              <a:rPr lang="en-US" altLang="zh-CN" sz="2000" b="1" dirty="0">
                <a:solidFill>
                  <a:schemeClr val="bg2"/>
                </a:solidFill>
              </a:rPr>
              <a:t>V(empty);</a:t>
            </a:r>
          </a:p>
          <a:p>
            <a:pPr lvl="2" eaLnBrk="1" hangingPunct="1">
              <a:buFontTx/>
              <a:buNone/>
            </a:pPr>
            <a:r>
              <a:rPr lang="en-US" altLang="zh-CN" sz="2000" b="1" dirty="0">
                <a:solidFill>
                  <a:schemeClr val="bg2"/>
                </a:solidFill>
              </a:rPr>
              <a:t>m:=buffer(out);</a:t>
            </a:r>
          </a:p>
          <a:p>
            <a:pPr lvl="2" eaLnBrk="1" hangingPunct="1">
              <a:buFontTx/>
              <a:buNone/>
            </a:pPr>
            <a:r>
              <a:rPr lang="zh-CN" altLang="en-US" sz="2000" b="1" dirty="0">
                <a:solidFill>
                  <a:schemeClr val="bg2"/>
                </a:solidFill>
              </a:rPr>
              <a:t>消费</a:t>
            </a:r>
            <a:r>
              <a:rPr lang="en-US" altLang="zh-CN" sz="2000" b="1" dirty="0">
                <a:solidFill>
                  <a:schemeClr val="bg2"/>
                </a:solidFill>
              </a:rPr>
              <a:t>m;</a:t>
            </a:r>
          </a:p>
          <a:p>
            <a:pPr lvl="2" eaLnBrk="1" hangingPunct="1">
              <a:buFontTx/>
              <a:buNone/>
            </a:pPr>
            <a:r>
              <a:rPr lang="en-US" altLang="zh-CN" sz="2000" b="1" dirty="0">
                <a:solidFill>
                  <a:schemeClr val="bg2"/>
                </a:solidFill>
              </a:rPr>
              <a:t>out :=(out+1)MOD N;</a:t>
            </a:r>
          </a:p>
          <a:p>
            <a:pPr lvl="2" eaLnBrk="1" hangingPunct="1">
              <a:buFontTx/>
              <a:buNone/>
            </a:pPr>
            <a:r>
              <a:rPr lang="en-US" altLang="zh-CN" sz="2000" b="1" dirty="0">
                <a:solidFill>
                  <a:schemeClr val="bg2"/>
                </a:solidFill>
              </a:rPr>
              <a:t>P(full);</a:t>
            </a:r>
          </a:p>
          <a:p>
            <a:pPr lvl="1" eaLnBrk="1" hangingPunct="1">
              <a:buFontTx/>
              <a:buNone/>
            </a:pPr>
            <a:r>
              <a:rPr lang="en-US" altLang="zh-CN" sz="2000" b="1" dirty="0">
                <a:solidFill>
                  <a:schemeClr val="bg2"/>
                </a:solidFill>
              </a:rPr>
              <a:t>UNTIL  </a:t>
            </a:r>
            <a:r>
              <a:rPr lang="zh-CN" altLang="en-US" sz="2000" b="1" dirty="0">
                <a:solidFill>
                  <a:schemeClr val="bg2"/>
                </a:solidFill>
              </a:rPr>
              <a:t>中止</a:t>
            </a:r>
          </a:p>
          <a:p>
            <a:pPr eaLnBrk="1" hangingPunct="1">
              <a:buClrTx/>
              <a:buSzTx/>
              <a:buFontTx/>
              <a:buNone/>
            </a:pPr>
            <a:r>
              <a:rPr lang="en-US" altLang="zh-CN" sz="2000" b="1" dirty="0">
                <a:solidFill>
                  <a:schemeClr val="bg2"/>
                </a:solidFill>
              </a:rPr>
              <a:t>END</a:t>
            </a:r>
          </a:p>
        </p:txBody>
      </p:sp>
      <p:sp>
        <p:nvSpPr>
          <p:cNvPr id="9" name="Rectangle 8">
            <a:extLst>
              <a:ext uri="{FF2B5EF4-FFF2-40B4-BE49-F238E27FC236}">
                <a16:creationId xmlns:a16="http://schemas.microsoft.com/office/drawing/2014/main" id="{A39C4CEA-4E06-46FB-947A-F617FDF5AA77}"/>
              </a:ext>
            </a:extLst>
          </p:cNvPr>
          <p:cNvSpPr>
            <a:spLocks noChangeArrowheads="1"/>
          </p:cNvSpPr>
          <p:nvPr/>
        </p:nvSpPr>
        <p:spPr bwMode="auto">
          <a:xfrm>
            <a:off x="6443663" y="4005263"/>
            <a:ext cx="1223962" cy="396875"/>
          </a:xfrm>
          <a:prstGeom prst="rect">
            <a:avLst/>
          </a:prstGeom>
          <a:solidFill>
            <a:srgbClr val="CC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r>
              <a:rPr lang="en-US" altLang="zh-CN" sz="2000" b="1">
                <a:solidFill>
                  <a:schemeClr val="bg2"/>
                </a:solidFill>
              </a:rPr>
              <a:t>P(full);</a:t>
            </a:r>
          </a:p>
        </p:txBody>
      </p:sp>
      <p:sp>
        <p:nvSpPr>
          <p:cNvPr id="10" name="Rectangle 9">
            <a:extLst>
              <a:ext uri="{FF2B5EF4-FFF2-40B4-BE49-F238E27FC236}">
                <a16:creationId xmlns:a16="http://schemas.microsoft.com/office/drawing/2014/main" id="{D12140F5-2B15-46DA-9D3A-B2CC6C762461}"/>
              </a:ext>
            </a:extLst>
          </p:cNvPr>
          <p:cNvSpPr>
            <a:spLocks noChangeArrowheads="1"/>
          </p:cNvSpPr>
          <p:nvPr/>
        </p:nvSpPr>
        <p:spPr bwMode="auto">
          <a:xfrm>
            <a:off x="6300788" y="5516563"/>
            <a:ext cx="1296987" cy="396875"/>
          </a:xfrm>
          <a:prstGeom prst="rect">
            <a:avLst/>
          </a:prstGeom>
          <a:solidFill>
            <a:srgbClr val="CC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a:solidFill>
                  <a:schemeClr val="bg2"/>
                </a:solidFill>
              </a:rPr>
              <a:t>V(empty);</a:t>
            </a:r>
          </a:p>
        </p:txBody>
      </p:sp>
      <p:sp>
        <p:nvSpPr>
          <p:cNvPr id="11"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395143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plus(in)">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plus(in)">
                                      <p:cBhvr>
                                        <p:cTn id="12" dur="2000"/>
                                        <p:tgtEl>
                                          <p:spTgt spid="10"/>
                                        </p:tgtEl>
                                      </p:cBhvr>
                                    </p:animEffect>
                                  </p:childTnLst>
                                </p:cTn>
                              </p:par>
                            </p:childTnLst>
                          </p:cTn>
                        </p:par>
                        <p:par>
                          <p:cTn id="13" fill="hold">
                            <p:stCondLst>
                              <p:cond delay="2000"/>
                            </p:stCondLst>
                            <p:childTnLst>
                              <p:par>
                                <p:cTn id="14" presetID="2" presetClass="entr" presetSubtype="6"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1+#ppt_w/2"/>
                                          </p:val>
                                        </p:tav>
                                        <p:tav tm="100000">
                                          <p:val>
                                            <p:strVal val="#ppt_x"/>
                                          </p:val>
                                        </p:tav>
                                      </p:tavLst>
                                    </p:anim>
                                    <p:anim calcmode="lin" valueType="num">
                                      <p:cBhvr additive="base">
                                        <p:cTn id="1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82BF156D-A164-4C35-A8CA-2D40423243C8}"/>
              </a:ext>
            </a:extLst>
          </p:cNvPr>
          <p:cNvSpPr txBox="1">
            <a:spLocks noChangeArrowheads="1"/>
          </p:cNvSpPr>
          <p:nvPr/>
        </p:nvSpPr>
        <p:spPr>
          <a:xfrm>
            <a:off x="1835150" y="0"/>
            <a:ext cx="5729288" cy="820738"/>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0" lvl="1" indent="-274638" algn="ctr" eaLnBrk="1" hangingPunct="1">
              <a:defRPr/>
            </a:pPr>
            <a:r>
              <a:rPr lang="zh-CN" altLang="en-US" sz="4000" dirty="0">
                <a:solidFill>
                  <a:srgbClr val="B2622C"/>
                </a:solidFill>
                <a:effectLst>
                  <a:outerShdw blurRad="38100" dist="38100" dir="2700000" algn="tl">
                    <a:srgbClr val="000000"/>
                  </a:outerShdw>
                </a:effectLst>
                <a:ea typeface="楷体_GB2312" pitchFamily="49" charset="-122"/>
                <a:cs typeface="+mj-cs"/>
              </a:rPr>
              <a:t>生产者</a:t>
            </a:r>
            <a:r>
              <a:rPr lang="en-US" altLang="zh-CN" sz="4000" dirty="0">
                <a:solidFill>
                  <a:srgbClr val="B2622C"/>
                </a:solidFill>
                <a:effectLst>
                  <a:outerShdw blurRad="38100" dist="38100" dir="2700000" algn="tl">
                    <a:srgbClr val="000000"/>
                  </a:outerShdw>
                </a:effectLst>
                <a:ea typeface="楷体_GB2312" pitchFamily="49" charset="-122"/>
                <a:cs typeface="+mj-cs"/>
              </a:rPr>
              <a:t>-</a:t>
            </a:r>
            <a:r>
              <a:rPr lang="zh-CN" altLang="en-US" sz="4000" dirty="0">
                <a:solidFill>
                  <a:srgbClr val="B2622C"/>
                </a:solidFill>
                <a:effectLst>
                  <a:outerShdw blurRad="38100" dist="38100" dir="2700000" algn="tl">
                    <a:srgbClr val="000000"/>
                  </a:outerShdw>
                </a:effectLst>
                <a:ea typeface="楷体_GB2312" pitchFamily="49" charset="-122"/>
                <a:cs typeface="+mj-cs"/>
              </a:rPr>
              <a:t>消费者问题 </a:t>
            </a:r>
          </a:p>
        </p:txBody>
      </p:sp>
      <p:sp>
        <p:nvSpPr>
          <p:cNvPr id="7" name="Text Box 5">
            <a:extLst>
              <a:ext uri="{FF2B5EF4-FFF2-40B4-BE49-F238E27FC236}">
                <a16:creationId xmlns:a16="http://schemas.microsoft.com/office/drawing/2014/main" id="{087563B6-4475-4793-BA90-4E185F5A7703}"/>
              </a:ext>
            </a:extLst>
          </p:cNvPr>
          <p:cNvSpPr txBox="1">
            <a:spLocks noChangeArrowheads="1"/>
          </p:cNvSpPr>
          <p:nvPr/>
        </p:nvSpPr>
        <p:spPr bwMode="auto">
          <a:xfrm>
            <a:off x="899592" y="1243111"/>
            <a:ext cx="8640762"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2800" dirty="0">
                <a:solidFill>
                  <a:schemeClr val="bg2"/>
                </a:solidFill>
                <a:latin typeface="+mn-ea"/>
                <a:ea typeface="+mn-ea"/>
              </a:rPr>
              <a:t>消费者</a:t>
            </a:r>
            <a:r>
              <a:rPr lang="en-US" altLang="zh-CN" sz="2800" dirty="0">
                <a:solidFill>
                  <a:schemeClr val="bg2"/>
                </a:solidFill>
                <a:latin typeface="+mn-ea"/>
                <a:ea typeface="+mn-ea"/>
              </a:rPr>
              <a:t>: </a:t>
            </a:r>
            <a:r>
              <a:rPr lang="zh-CN" altLang="en-US" sz="2800" dirty="0">
                <a:solidFill>
                  <a:schemeClr val="bg2"/>
                </a:solidFill>
                <a:latin typeface="+mn-ea"/>
                <a:ea typeface="+mn-ea"/>
              </a:rPr>
              <a:t>申请某一类资源的进程。</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2800" dirty="0">
                <a:solidFill>
                  <a:schemeClr val="bg2"/>
                </a:solidFill>
                <a:latin typeface="+mn-ea"/>
                <a:ea typeface="+mn-ea"/>
              </a:rPr>
              <a:t>生产者</a:t>
            </a:r>
            <a:r>
              <a:rPr lang="en-US" altLang="zh-CN" sz="2800" dirty="0">
                <a:solidFill>
                  <a:schemeClr val="bg2"/>
                </a:solidFill>
                <a:latin typeface="+mn-ea"/>
                <a:ea typeface="+mn-ea"/>
              </a:rPr>
              <a:t>: </a:t>
            </a:r>
            <a:r>
              <a:rPr lang="zh-CN" altLang="en-US" sz="2800" dirty="0">
                <a:solidFill>
                  <a:schemeClr val="bg2"/>
                </a:solidFill>
                <a:latin typeface="+mn-ea"/>
                <a:ea typeface="+mn-ea"/>
              </a:rPr>
              <a:t>释放某一类资源的进程。</a:t>
            </a:r>
          </a:p>
        </p:txBody>
      </p:sp>
      <p:sp>
        <p:nvSpPr>
          <p:cNvPr id="8" name="Rectangle 6">
            <a:extLst>
              <a:ext uri="{FF2B5EF4-FFF2-40B4-BE49-F238E27FC236}">
                <a16:creationId xmlns:a16="http://schemas.microsoft.com/office/drawing/2014/main" id="{832A53E4-FA24-4E34-831E-D67AB82889EC}"/>
              </a:ext>
            </a:extLst>
          </p:cNvPr>
          <p:cNvSpPr>
            <a:spLocks noChangeArrowheads="1"/>
          </p:cNvSpPr>
          <p:nvPr/>
        </p:nvSpPr>
        <p:spPr bwMode="auto">
          <a:xfrm>
            <a:off x="179512" y="621506"/>
            <a:ext cx="8640762"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2" indent="0" defTabSz="355600">
              <a:lnSpc>
                <a:spcPct val="90000"/>
              </a:lnSpc>
              <a:spcBef>
                <a:spcPct val="0"/>
              </a:spcBef>
              <a:buClr>
                <a:schemeClr val="bg1"/>
              </a:buClr>
              <a:buSzPct val="80000"/>
              <a:buNone/>
              <a:defRPr/>
            </a:pPr>
            <a:r>
              <a:rPr lang="zh-CN" altLang="en-US" sz="3600" dirty="0">
                <a:solidFill>
                  <a:srgbClr val="FF00FF"/>
                </a:solidFill>
                <a:effectLst>
                  <a:outerShdw blurRad="38100" dist="38100" dir="2700000" algn="tl">
                    <a:srgbClr val="000000">
                      <a:alpha val="43137"/>
                    </a:srgbClr>
                  </a:outerShdw>
                </a:effectLst>
                <a:latin typeface="+mn-ea"/>
                <a:ea typeface="+mn-ea"/>
              </a:rPr>
              <a:t>把并发进程的“同步”和互斥问题一般化</a:t>
            </a:r>
          </a:p>
        </p:txBody>
      </p:sp>
      <p:sp>
        <p:nvSpPr>
          <p:cNvPr id="9" name="Text Box 8">
            <a:extLst>
              <a:ext uri="{FF2B5EF4-FFF2-40B4-BE49-F238E27FC236}">
                <a16:creationId xmlns:a16="http://schemas.microsoft.com/office/drawing/2014/main" id="{0FB883D0-F1DE-4068-912C-CBC1D7D711B0}"/>
              </a:ext>
            </a:extLst>
          </p:cNvPr>
          <p:cNvSpPr txBox="1">
            <a:spLocks noChangeArrowheads="1"/>
          </p:cNvSpPr>
          <p:nvPr/>
        </p:nvSpPr>
        <p:spPr bwMode="auto">
          <a:xfrm>
            <a:off x="179512" y="1988022"/>
            <a:ext cx="8640762" cy="1951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同步</a:t>
            </a:r>
          </a:p>
          <a:p>
            <a:pPr marL="914400" lvl="1" indent="-457200" eaLnBrk="1" hangingPunct="1">
              <a:spcBef>
                <a:spcPts val="0"/>
              </a:spcBef>
              <a:buSzPct val="70000"/>
              <a:buFont typeface="Wingdings" panose="05000000000000000000" pitchFamily="2" charset="2"/>
              <a:buChar char="n"/>
            </a:pPr>
            <a:r>
              <a:rPr lang="zh-CN" altLang="en-US" dirty="0">
                <a:solidFill>
                  <a:schemeClr val="bg2"/>
                </a:solidFill>
                <a:latin typeface="+mn-lt"/>
                <a:ea typeface="楷体" panose="02010609060101010101" pitchFamily="49" charset="-122"/>
              </a:rPr>
              <a:t>消费者想接收数据，至少有一个缓冲区是满的；</a:t>
            </a:r>
          </a:p>
          <a:p>
            <a:pPr marL="914400" lvl="1" indent="-457200" eaLnBrk="1" hangingPunct="1">
              <a:spcBef>
                <a:spcPts val="0"/>
              </a:spcBef>
              <a:buSzPct val="70000"/>
              <a:buFont typeface="Wingdings" panose="05000000000000000000" pitchFamily="2" charset="2"/>
              <a:buChar char="n"/>
            </a:pPr>
            <a:r>
              <a:rPr lang="zh-CN" altLang="en-US" dirty="0">
                <a:solidFill>
                  <a:schemeClr val="bg2"/>
                </a:solidFill>
                <a:latin typeface="+mn-lt"/>
                <a:ea typeface="楷体" panose="02010609060101010101" pitchFamily="49" charset="-122"/>
              </a:rPr>
              <a:t>生产者想发送数据，至少有一个缓冲区是空的。</a:t>
            </a:r>
          </a:p>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互斥</a:t>
            </a:r>
            <a:r>
              <a:rPr lang="zh-CN" altLang="en-US" sz="3600" dirty="0">
                <a:solidFill>
                  <a:schemeClr val="bg1"/>
                </a:solidFill>
                <a:latin typeface="+mj-lt"/>
                <a:ea typeface="楷体" panose="02010609060101010101" pitchFamily="49" charset="-122"/>
              </a:rPr>
              <a:t>：</a:t>
            </a:r>
            <a:r>
              <a:rPr lang="zh-CN" altLang="en-US" sz="3200" dirty="0">
                <a:solidFill>
                  <a:schemeClr val="bg2"/>
                </a:solidFill>
                <a:latin typeface="+mn-lt"/>
                <a:ea typeface="楷体" panose="02010609060101010101" pitchFamily="49" charset="-122"/>
              </a:rPr>
              <a:t>每个缓冲区是临界资源</a:t>
            </a:r>
          </a:p>
        </p:txBody>
      </p:sp>
      <p:sp>
        <p:nvSpPr>
          <p:cNvPr id="35" name="文本框 1">
            <a:extLst>
              <a:ext uri="{FF2B5EF4-FFF2-40B4-BE49-F238E27FC236}">
                <a16:creationId xmlns:a16="http://schemas.microsoft.com/office/drawing/2014/main" id="{342622A7-0DB8-46B0-9785-073583849B06}"/>
              </a:ext>
            </a:extLst>
          </p:cNvPr>
          <p:cNvSpPr txBox="1">
            <a:spLocks noChangeArrowheads="1"/>
          </p:cNvSpPr>
          <p:nvPr/>
        </p:nvSpPr>
        <p:spPr bwMode="auto">
          <a:xfrm>
            <a:off x="417513" y="5938838"/>
            <a:ext cx="83232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None/>
            </a:pPr>
            <a:r>
              <a:rPr lang="zh-CN" altLang="en-US" sz="2800" b="1" dirty="0">
                <a:solidFill>
                  <a:schemeClr val="bg2"/>
                </a:solidFill>
              </a:rPr>
              <a:t>多进程同步中非常广泛，信号量的典型应用。</a:t>
            </a:r>
            <a:endParaRPr lang="en-US" altLang="zh-CN" sz="2800" b="1" dirty="0">
              <a:solidFill>
                <a:schemeClr val="bg2"/>
              </a:solidFill>
            </a:endParaRPr>
          </a:p>
        </p:txBody>
      </p:sp>
      <p:sp>
        <p:nvSpPr>
          <p:cNvPr id="3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grpSp>
        <p:nvGrpSpPr>
          <p:cNvPr id="37" name="组合 36"/>
          <p:cNvGrpSpPr/>
          <p:nvPr/>
        </p:nvGrpSpPr>
        <p:grpSpPr>
          <a:xfrm>
            <a:off x="1067718" y="3939325"/>
            <a:ext cx="6864350" cy="1905000"/>
            <a:chOff x="973138" y="3786188"/>
            <a:chExt cx="6864350" cy="1905000"/>
          </a:xfrm>
        </p:grpSpPr>
        <p:sp>
          <p:nvSpPr>
            <p:cNvPr id="38" name="Rectangle 4">
              <a:extLst>
                <a:ext uri="{FF2B5EF4-FFF2-40B4-BE49-F238E27FC236}">
                  <a16:creationId xmlns:a16="http://schemas.microsoft.com/office/drawing/2014/main" id="{F52927F4-3320-4E91-85FB-8315B3ACF309}"/>
                </a:ext>
              </a:extLst>
            </p:cNvPr>
            <p:cNvSpPr>
              <a:spLocks noChangeArrowheads="1"/>
            </p:cNvSpPr>
            <p:nvPr/>
          </p:nvSpPr>
          <p:spPr bwMode="auto">
            <a:xfrm>
              <a:off x="2889250" y="5233988"/>
              <a:ext cx="3055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b="1">
                  <a:solidFill>
                    <a:schemeClr val="bg2"/>
                  </a:solidFill>
                  <a:latin typeface="楷体_GB2312" pitchFamily="49" charset="-122"/>
                  <a:ea typeface="楷体_GB2312" pitchFamily="49" charset="-122"/>
                </a:rPr>
                <a:t>生产者</a:t>
              </a:r>
              <a:r>
                <a:rPr lang="en-US" altLang="zh-CN" sz="2400" b="1">
                  <a:solidFill>
                    <a:schemeClr val="bg2"/>
                  </a:solidFill>
                  <a:latin typeface="楷体_GB2312" pitchFamily="49" charset="-122"/>
                  <a:ea typeface="楷体_GB2312" pitchFamily="49" charset="-122"/>
                </a:rPr>
                <a:t>-</a:t>
              </a:r>
              <a:r>
                <a:rPr lang="zh-CN" altLang="en-US" sz="2400" b="1">
                  <a:solidFill>
                    <a:schemeClr val="bg2"/>
                  </a:solidFill>
                  <a:latin typeface="楷体_GB2312" pitchFamily="49" charset="-122"/>
                  <a:ea typeface="楷体_GB2312" pitchFamily="49" charset="-122"/>
                </a:rPr>
                <a:t>消费者问题</a:t>
              </a:r>
            </a:p>
          </p:txBody>
        </p:sp>
        <p:sp>
          <p:nvSpPr>
            <p:cNvPr id="39" name="Rectangle 13">
              <a:extLst>
                <a:ext uri="{FF2B5EF4-FFF2-40B4-BE49-F238E27FC236}">
                  <a16:creationId xmlns:a16="http://schemas.microsoft.com/office/drawing/2014/main" id="{CE793A38-3EA7-4C30-ABEB-087DA0175CBC}"/>
                </a:ext>
              </a:extLst>
            </p:cNvPr>
            <p:cNvSpPr>
              <a:spLocks noChangeArrowheads="1"/>
            </p:cNvSpPr>
            <p:nvPr/>
          </p:nvSpPr>
          <p:spPr bwMode="auto">
            <a:xfrm>
              <a:off x="2700338" y="4505325"/>
              <a:ext cx="3240087" cy="576263"/>
            </a:xfrm>
            <a:prstGeom prst="rect">
              <a:avLst/>
            </a:prstGeom>
            <a:solidFill>
              <a:srgbClr val="9CB3F2"/>
            </a:solidFill>
            <a:ln w="28575">
              <a:solidFill>
                <a:schemeClr val="bg2"/>
              </a:solidFill>
              <a:miter lim="800000"/>
              <a:headEnd/>
              <a:tailEnd/>
            </a:ln>
          </p:spPr>
          <p:txBody>
            <a:bodyPr wrap="none" anchor="ct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ClrTx/>
                <a:buFontTx/>
                <a:buNone/>
              </a:pPr>
              <a:r>
                <a:rPr lang="en-US" altLang="zh-CN" b="1" dirty="0">
                  <a:solidFill>
                    <a:schemeClr val="bg2"/>
                  </a:solidFill>
                  <a:latin typeface="Tahoma" panose="020B0604030504040204" pitchFamily="34" charset="0"/>
                </a:rPr>
                <a:t>                </a:t>
              </a:r>
              <a:r>
                <a:rPr lang="en-US" altLang="zh-CN" b="1" dirty="0">
                  <a:solidFill>
                    <a:schemeClr val="bg2"/>
                  </a:solidFill>
                </a:rPr>
                <a:t>…</a:t>
              </a:r>
              <a:endParaRPr lang="en-US" altLang="zh-CN" b="1" dirty="0">
                <a:solidFill>
                  <a:schemeClr val="bg2"/>
                </a:solidFill>
                <a:latin typeface="Tahoma" panose="020B0604030504040204" pitchFamily="34" charset="0"/>
              </a:endParaRPr>
            </a:p>
          </p:txBody>
        </p:sp>
        <p:grpSp>
          <p:nvGrpSpPr>
            <p:cNvPr id="40" name="Group 14">
              <a:extLst>
                <a:ext uri="{FF2B5EF4-FFF2-40B4-BE49-F238E27FC236}">
                  <a16:creationId xmlns:a16="http://schemas.microsoft.com/office/drawing/2014/main" id="{4EB7EDC0-CFAE-4356-B971-AD83C94E59C0}"/>
                </a:ext>
              </a:extLst>
            </p:cNvPr>
            <p:cNvGrpSpPr>
              <a:grpSpLocks/>
            </p:cNvGrpSpPr>
            <p:nvPr/>
          </p:nvGrpSpPr>
          <p:grpSpPr bwMode="auto">
            <a:xfrm>
              <a:off x="2989263" y="4505325"/>
              <a:ext cx="2663825" cy="576263"/>
              <a:chOff x="1973" y="2840"/>
              <a:chExt cx="1678" cy="363"/>
            </a:xfrm>
          </p:grpSpPr>
          <p:sp>
            <p:nvSpPr>
              <p:cNvPr id="61" name="Line 15">
                <a:extLst>
                  <a:ext uri="{FF2B5EF4-FFF2-40B4-BE49-F238E27FC236}">
                    <a16:creationId xmlns:a16="http://schemas.microsoft.com/office/drawing/2014/main" id="{9E2BEB29-47A6-4980-8F95-31FF5005E13F}"/>
                  </a:ext>
                </a:extLst>
              </p:cNvPr>
              <p:cNvSpPr>
                <a:spLocks noChangeShapeType="1"/>
              </p:cNvSpPr>
              <p:nvPr/>
            </p:nvSpPr>
            <p:spPr bwMode="auto">
              <a:xfrm>
                <a:off x="1973" y="2840"/>
                <a:ext cx="0" cy="363"/>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bg2"/>
                  </a:solidFill>
                </a:endParaRPr>
              </a:p>
            </p:txBody>
          </p:sp>
          <p:sp>
            <p:nvSpPr>
              <p:cNvPr id="62" name="Line 16">
                <a:extLst>
                  <a:ext uri="{FF2B5EF4-FFF2-40B4-BE49-F238E27FC236}">
                    <a16:creationId xmlns:a16="http://schemas.microsoft.com/office/drawing/2014/main" id="{B7EEF9CD-14E6-4D4B-8B41-C0345DB7B088}"/>
                  </a:ext>
                </a:extLst>
              </p:cNvPr>
              <p:cNvSpPr>
                <a:spLocks noChangeShapeType="1"/>
              </p:cNvSpPr>
              <p:nvPr/>
            </p:nvSpPr>
            <p:spPr bwMode="auto">
              <a:xfrm>
                <a:off x="2154" y="2840"/>
                <a:ext cx="0" cy="363"/>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bg2"/>
                  </a:solidFill>
                </a:endParaRPr>
              </a:p>
            </p:txBody>
          </p:sp>
          <p:sp>
            <p:nvSpPr>
              <p:cNvPr id="63" name="Line 17">
                <a:extLst>
                  <a:ext uri="{FF2B5EF4-FFF2-40B4-BE49-F238E27FC236}">
                    <a16:creationId xmlns:a16="http://schemas.microsoft.com/office/drawing/2014/main" id="{42EEF4E7-1C52-49CB-B0A5-E6015E0C0007}"/>
                  </a:ext>
                </a:extLst>
              </p:cNvPr>
              <p:cNvSpPr>
                <a:spLocks noChangeShapeType="1"/>
              </p:cNvSpPr>
              <p:nvPr/>
            </p:nvSpPr>
            <p:spPr bwMode="auto">
              <a:xfrm>
                <a:off x="2336" y="2840"/>
                <a:ext cx="0" cy="363"/>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bg2"/>
                  </a:solidFill>
                </a:endParaRPr>
              </a:p>
            </p:txBody>
          </p:sp>
          <p:sp>
            <p:nvSpPr>
              <p:cNvPr id="64" name="Line 18">
                <a:extLst>
                  <a:ext uri="{FF2B5EF4-FFF2-40B4-BE49-F238E27FC236}">
                    <a16:creationId xmlns:a16="http://schemas.microsoft.com/office/drawing/2014/main" id="{876BF50F-5393-4017-95F8-94640D9B8DCB}"/>
                  </a:ext>
                </a:extLst>
              </p:cNvPr>
              <p:cNvSpPr>
                <a:spLocks noChangeShapeType="1"/>
              </p:cNvSpPr>
              <p:nvPr/>
            </p:nvSpPr>
            <p:spPr bwMode="auto">
              <a:xfrm>
                <a:off x="2517" y="2840"/>
                <a:ext cx="0" cy="363"/>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bg2"/>
                  </a:solidFill>
                </a:endParaRPr>
              </a:p>
            </p:txBody>
          </p:sp>
          <p:sp>
            <p:nvSpPr>
              <p:cNvPr id="65" name="Line 19">
                <a:extLst>
                  <a:ext uri="{FF2B5EF4-FFF2-40B4-BE49-F238E27FC236}">
                    <a16:creationId xmlns:a16="http://schemas.microsoft.com/office/drawing/2014/main" id="{A7C4FA5B-F4D6-4157-95AF-6BEFBF4A03BD}"/>
                  </a:ext>
                </a:extLst>
              </p:cNvPr>
              <p:cNvSpPr>
                <a:spLocks noChangeShapeType="1"/>
              </p:cNvSpPr>
              <p:nvPr/>
            </p:nvSpPr>
            <p:spPr bwMode="auto">
              <a:xfrm>
                <a:off x="3651" y="2840"/>
                <a:ext cx="0" cy="363"/>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bg2"/>
                  </a:solidFill>
                </a:endParaRPr>
              </a:p>
            </p:txBody>
          </p:sp>
          <p:sp>
            <p:nvSpPr>
              <p:cNvPr id="66" name="Line 20">
                <a:extLst>
                  <a:ext uri="{FF2B5EF4-FFF2-40B4-BE49-F238E27FC236}">
                    <a16:creationId xmlns:a16="http://schemas.microsoft.com/office/drawing/2014/main" id="{3A650DDC-AB1F-47DA-824B-F3B8FE68A3BB}"/>
                  </a:ext>
                </a:extLst>
              </p:cNvPr>
              <p:cNvSpPr>
                <a:spLocks noChangeShapeType="1"/>
              </p:cNvSpPr>
              <p:nvPr/>
            </p:nvSpPr>
            <p:spPr bwMode="auto">
              <a:xfrm>
                <a:off x="3061" y="2840"/>
                <a:ext cx="0" cy="363"/>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bg2"/>
                  </a:solidFill>
                </a:endParaRPr>
              </a:p>
            </p:txBody>
          </p:sp>
          <p:sp>
            <p:nvSpPr>
              <p:cNvPr id="67" name="Line 21">
                <a:extLst>
                  <a:ext uri="{FF2B5EF4-FFF2-40B4-BE49-F238E27FC236}">
                    <a16:creationId xmlns:a16="http://schemas.microsoft.com/office/drawing/2014/main" id="{81DB687E-7F6C-4F67-9CF0-9F7A2A2EE820}"/>
                  </a:ext>
                </a:extLst>
              </p:cNvPr>
              <p:cNvSpPr>
                <a:spLocks noChangeShapeType="1"/>
              </p:cNvSpPr>
              <p:nvPr/>
            </p:nvSpPr>
            <p:spPr bwMode="auto">
              <a:xfrm>
                <a:off x="2699" y="2840"/>
                <a:ext cx="0" cy="363"/>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bg2"/>
                  </a:solidFill>
                </a:endParaRPr>
              </a:p>
            </p:txBody>
          </p:sp>
          <p:sp>
            <p:nvSpPr>
              <p:cNvPr id="68" name="Line 22">
                <a:extLst>
                  <a:ext uri="{FF2B5EF4-FFF2-40B4-BE49-F238E27FC236}">
                    <a16:creationId xmlns:a16="http://schemas.microsoft.com/office/drawing/2014/main" id="{5CF41DD7-0083-42F1-88C7-31C710F14FE4}"/>
                  </a:ext>
                </a:extLst>
              </p:cNvPr>
              <p:cNvSpPr>
                <a:spLocks noChangeShapeType="1"/>
              </p:cNvSpPr>
              <p:nvPr/>
            </p:nvSpPr>
            <p:spPr bwMode="auto">
              <a:xfrm>
                <a:off x="2880" y="2840"/>
                <a:ext cx="0" cy="363"/>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bg2"/>
                  </a:solidFill>
                </a:endParaRPr>
              </a:p>
            </p:txBody>
          </p:sp>
        </p:grpSp>
        <p:sp>
          <p:nvSpPr>
            <p:cNvPr id="41" name="Text Box 23">
              <a:extLst>
                <a:ext uri="{FF2B5EF4-FFF2-40B4-BE49-F238E27FC236}">
                  <a16:creationId xmlns:a16="http://schemas.microsoft.com/office/drawing/2014/main" id="{BA018B8D-3E6F-4793-95DD-271725208216}"/>
                </a:ext>
              </a:extLst>
            </p:cNvPr>
            <p:cNvSpPr txBox="1">
              <a:spLocks noChangeArrowheads="1"/>
            </p:cNvSpPr>
            <p:nvPr/>
          </p:nvSpPr>
          <p:spPr bwMode="auto">
            <a:xfrm>
              <a:off x="973138" y="3786188"/>
              <a:ext cx="576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FontTx/>
                <a:buNone/>
              </a:pPr>
              <a:r>
                <a:rPr lang="en-US" altLang="zh-CN" sz="2000" b="1">
                  <a:solidFill>
                    <a:schemeClr val="bg2"/>
                  </a:solidFill>
                </a:rPr>
                <a:t>P1</a:t>
              </a:r>
            </a:p>
          </p:txBody>
        </p:sp>
        <p:sp>
          <p:nvSpPr>
            <p:cNvPr id="42" name="Text Box 24">
              <a:extLst>
                <a:ext uri="{FF2B5EF4-FFF2-40B4-BE49-F238E27FC236}">
                  <a16:creationId xmlns:a16="http://schemas.microsoft.com/office/drawing/2014/main" id="{B17B8C5B-FBF2-414C-9156-E917AC87EBA1}"/>
                </a:ext>
              </a:extLst>
            </p:cNvPr>
            <p:cNvSpPr txBox="1">
              <a:spLocks noChangeArrowheads="1"/>
            </p:cNvSpPr>
            <p:nvPr/>
          </p:nvSpPr>
          <p:spPr bwMode="auto">
            <a:xfrm>
              <a:off x="973138" y="4217988"/>
              <a:ext cx="576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FontTx/>
                <a:buNone/>
              </a:pPr>
              <a:r>
                <a:rPr lang="en-US" altLang="zh-CN" sz="2000" b="1">
                  <a:solidFill>
                    <a:schemeClr val="bg2"/>
                  </a:solidFill>
                </a:rPr>
                <a:t>P2</a:t>
              </a:r>
            </a:p>
          </p:txBody>
        </p:sp>
        <p:sp>
          <p:nvSpPr>
            <p:cNvPr id="43" name="Text Box 25">
              <a:extLst>
                <a:ext uri="{FF2B5EF4-FFF2-40B4-BE49-F238E27FC236}">
                  <a16:creationId xmlns:a16="http://schemas.microsoft.com/office/drawing/2014/main" id="{404E401A-FF76-4C91-B0B7-18BBE2DE1E5A}"/>
                </a:ext>
              </a:extLst>
            </p:cNvPr>
            <p:cNvSpPr txBox="1">
              <a:spLocks noChangeArrowheads="1"/>
            </p:cNvSpPr>
            <p:nvPr/>
          </p:nvSpPr>
          <p:spPr bwMode="auto">
            <a:xfrm>
              <a:off x="973138" y="5154613"/>
              <a:ext cx="576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FontTx/>
                <a:buNone/>
              </a:pPr>
              <a:r>
                <a:rPr lang="en-US" altLang="zh-CN" sz="2000" b="1">
                  <a:solidFill>
                    <a:schemeClr val="bg2"/>
                  </a:solidFill>
                </a:rPr>
                <a:t>Pn</a:t>
              </a:r>
            </a:p>
          </p:txBody>
        </p:sp>
        <p:sp>
          <p:nvSpPr>
            <p:cNvPr id="44" name="Line 26">
              <a:extLst>
                <a:ext uri="{FF2B5EF4-FFF2-40B4-BE49-F238E27FC236}">
                  <a16:creationId xmlns:a16="http://schemas.microsoft.com/office/drawing/2014/main" id="{A29558F8-D9F5-4E24-910D-A54281FEA91C}"/>
                </a:ext>
              </a:extLst>
            </p:cNvPr>
            <p:cNvSpPr>
              <a:spLocks noChangeShapeType="1"/>
            </p:cNvSpPr>
            <p:nvPr/>
          </p:nvSpPr>
          <p:spPr bwMode="auto">
            <a:xfrm>
              <a:off x="1549400" y="4146550"/>
              <a:ext cx="1008063" cy="431800"/>
            </a:xfrm>
            <a:prstGeom prst="line">
              <a:avLst/>
            </a:prstGeom>
            <a:noFill/>
            <a:ln w="22225">
              <a:solidFill>
                <a:schemeClr val="bg2"/>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schemeClr val="bg2"/>
                </a:solidFill>
              </a:endParaRPr>
            </a:p>
          </p:txBody>
        </p:sp>
        <p:sp>
          <p:nvSpPr>
            <p:cNvPr id="45" name="Line 27">
              <a:extLst>
                <a:ext uri="{FF2B5EF4-FFF2-40B4-BE49-F238E27FC236}">
                  <a16:creationId xmlns:a16="http://schemas.microsoft.com/office/drawing/2014/main" id="{D108B4C1-3103-40A0-AD8A-3C3CB0B66997}"/>
                </a:ext>
              </a:extLst>
            </p:cNvPr>
            <p:cNvSpPr>
              <a:spLocks noChangeShapeType="1"/>
            </p:cNvSpPr>
            <p:nvPr/>
          </p:nvSpPr>
          <p:spPr bwMode="auto">
            <a:xfrm>
              <a:off x="1476375" y="4578350"/>
              <a:ext cx="1081088" cy="142875"/>
            </a:xfrm>
            <a:prstGeom prst="line">
              <a:avLst/>
            </a:prstGeom>
            <a:noFill/>
            <a:ln w="22225">
              <a:solidFill>
                <a:schemeClr val="bg2"/>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schemeClr val="bg2"/>
                </a:solidFill>
              </a:endParaRPr>
            </a:p>
          </p:txBody>
        </p:sp>
        <p:sp>
          <p:nvSpPr>
            <p:cNvPr id="46" name="Line 28">
              <a:extLst>
                <a:ext uri="{FF2B5EF4-FFF2-40B4-BE49-F238E27FC236}">
                  <a16:creationId xmlns:a16="http://schemas.microsoft.com/office/drawing/2014/main" id="{EBA0D69D-2221-47B8-908D-9D4317931662}"/>
                </a:ext>
              </a:extLst>
            </p:cNvPr>
            <p:cNvSpPr>
              <a:spLocks noChangeShapeType="1"/>
            </p:cNvSpPr>
            <p:nvPr/>
          </p:nvSpPr>
          <p:spPr bwMode="auto">
            <a:xfrm flipV="1">
              <a:off x="1476375" y="4938713"/>
              <a:ext cx="1079500" cy="358775"/>
            </a:xfrm>
            <a:prstGeom prst="line">
              <a:avLst/>
            </a:prstGeom>
            <a:noFill/>
            <a:ln w="22225">
              <a:solidFill>
                <a:schemeClr val="bg2"/>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schemeClr val="bg2"/>
                </a:solidFill>
              </a:endParaRPr>
            </a:p>
          </p:txBody>
        </p:sp>
        <p:sp>
          <p:nvSpPr>
            <p:cNvPr id="47" name="Text Box 29">
              <a:extLst>
                <a:ext uri="{FF2B5EF4-FFF2-40B4-BE49-F238E27FC236}">
                  <a16:creationId xmlns:a16="http://schemas.microsoft.com/office/drawing/2014/main" id="{F8940AF2-D294-4C1F-8813-FDB4EB7D77B1}"/>
                </a:ext>
              </a:extLst>
            </p:cNvPr>
            <p:cNvSpPr txBox="1">
              <a:spLocks noChangeArrowheads="1"/>
            </p:cNvSpPr>
            <p:nvPr/>
          </p:nvSpPr>
          <p:spPr bwMode="auto">
            <a:xfrm>
              <a:off x="1038980" y="4649788"/>
              <a:ext cx="677108"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b="1">
                  <a:solidFill>
                    <a:schemeClr val="bg2"/>
                  </a:solidFill>
                </a:rPr>
                <a:t>…</a:t>
              </a:r>
            </a:p>
          </p:txBody>
        </p:sp>
        <p:sp>
          <p:nvSpPr>
            <p:cNvPr id="48" name="Text Box 30">
              <a:extLst>
                <a:ext uri="{FF2B5EF4-FFF2-40B4-BE49-F238E27FC236}">
                  <a16:creationId xmlns:a16="http://schemas.microsoft.com/office/drawing/2014/main" id="{46C2F8D3-0BED-4B6A-9737-4C77B09F9A2B}"/>
                </a:ext>
              </a:extLst>
            </p:cNvPr>
            <p:cNvSpPr txBox="1">
              <a:spLocks noChangeArrowheads="1"/>
            </p:cNvSpPr>
            <p:nvPr/>
          </p:nvSpPr>
          <p:spPr bwMode="auto">
            <a:xfrm>
              <a:off x="7092950" y="3786188"/>
              <a:ext cx="576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FontTx/>
                <a:buNone/>
              </a:pPr>
              <a:r>
                <a:rPr lang="en-US" altLang="zh-CN" sz="2000" b="1">
                  <a:solidFill>
                    <a:schemeClr val="bg2"/>
                  </a:solidFill>
                </a:rPr>
                <a:t>C1</a:t>
              </a:r>
            </a:p>
          </p:txBody>
        </p:sp>
        <p:sp>
          <p:nvSpPr>
            <p:cNvPr id="49" name="Text Box 31">
              <a:extLst>
                <a:ext uri="{FF2B5EF4-FFF2-40B4-BE49-F238E27FC236}">
                  <a16:creationId xmlns:a16="http://schemas.microsoft.com/office/drawing/2014/main" id="{F8F6206B-37D0-4FF2-969F-11C671A0C16D}"/>
                </a:ext>
              </a:extLst>
            </p:cNvPr>
            <p:cNvSpPr txBox="1">
              <a:spLocks noChangeArrowheads="1"/>
            </p:cNvSpPr>
            <p:nvPr/>
          </p:nvSpPr>
          <p:spPr bwMode="auto">
            <a:xfrm>
              <a:off x="7092950" y="4217988"/>
              <a:ext cx="576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FontTx/>
                <a:buNone/>
              </a:pPr>
              <a:r>
                <a:rPr lang="en-US" altLang="zh-CN" sz="2000" b="1">
                  <a:solidFill>
                    <a:schemeClr val="bg2"/>
                  </a:solidFill>
                </a:rPr>
                <a:t>C2</a:t>
              </a:r>
            </a:p>
          </p:txBody>
        </p:sp>
        <p:sp>
          <p:nvSpPr>
            <p:cNvPr id="50" name="Text Box 32">
              <a:extLst>
                <a:ext uri="{FF2B5EF4-FFF2-40B4-BE49-F238E27FC236}">
                  <a16:creationId xmlns:a16="http://schemas.microsoft.com/office/drawing/2014/main" id="{C8F90EC9-B2F8-40EB-A63F-3090FC31FABC}"/>
                </a:ext>
              </a:extLst>
            </p:cNvPr>
            <p:cNvSpPr txBox="1">
              <a:spLocks noChangeArrowheads="1"/>
            </p:cNvSpPr>
            <p:nvPr/>
          </p:nvSpPr>
          <p:spPr bwMode="auto">
            <a:xfrm>
              <a:off x="7092950" y="5154613"/>
              <a:ext cx="576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FontTx/>
                <a:buNone/>
              </a:pPr>
              <a:r>
                <a:rPr lang="en-US" altLang="zh-CN" sz="2000" b="1">
                  <a:solidFill>
                    <a:schemeClr val="bg2"/>
                  </a:solidFill>
                </a:rPr>
                <a:t>Ck</a:t>
              </a:r>
            </a:p>
          </p:txBody>
        </p:sp>
        <p:sp>
          <p:nvSpPr>
            <p:cNvPr id="51" name="Text Box 33">
              <a:extLst>
                <a:ext uri="{FF2B5EF4-FFF2-40B4-BE49-F238E27FC236}">
                  <a16:creationId xmlns:a16="http://schemas.microsoft.com/office/drawing/2014/main" id="{A35EB146-2664-45B4-AF98-429F07A46AC8}"/>
                </a:ext>
              </a:extLst>
            </p:cNvPr>
            <p:cNvSpPr txBox="1">
              <a:spLocks noChangeArrowheads="1"/>
            </p:cNvSpPr>
            <p:nvPr/>
          </p:nvSpPr>
          <p:spPr bwMode="auto">
            <a:xfrm>
              <a:off x="7160380" y="4649788"/>
              <a:ext cx="677108"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b="1">
                  <a:solidFill>
                    <a:schemeClr val="bg2"/>
                  </a:solidFill>
                </a:rPr>
                <a:t>…</a:t>
              </a:r>
            </a:p>
          </p:txBody>
        </p:sp>
        <p:sp>
          <p:nvSpPr>
            <p:cNvPr id="52" name="Line 34">
              <a:extLst>
                <a:ext uri="{FF2B5EF4-FFF2-40B4-BE49-F238E27FC236}">
                  <a16:creationId xmlns:a16="http://schemas.microsoft.com/office/drawing/2014/main" id="{01C9609C-F36C-4DEC-84F9-E1CD7223247B}"/>
                </a:ext>
              </a:extLst>
            </p:cNvPr>
            <p:cNvSpPr>
              <a:spLocks noChangeShapeType="1"/>
            </p:cNvSpPr>
            <p:nvPr/>
          </p:nvSpPr>
          <p:spPr bwMode="auto">
            <a:xfrm flipH="1">
              <a:off x="6013450" y="4073525"/>
              <a:ext cx="1008063" cy="504825"/>
            </a:xfrm>
            <a:prstGeom prst="line">
              <a:avLst/>
            </a:prstGeom>
            <a:noFill/>
            <a:ln w="28575">
              <a:solidFill>
                <a:schemeClr val="bg2"/>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a:solidFill>
                  <a:schemeClr val="bg2"/>
                </a:solidFill>
              </a:endParaRPr>
            </a:p>
          </p:txBody>
        </p:sp>
        <p:sp>
          <p:nvSpPr>
            <p:cNvPr id="53" name="Line 35">
              <a:extLst>
                <a:ext uri="{FF2B5EF4-FFF2-40B4-BE49-F238E27FC236}">
                  <a16:creationId xmlns:a16="http://schemas.microsoft.com/office/drawing/2014/main" id="{A0F7DC23-5DA7-434A-89DA-7FB4C95F40F8}"/>
                </a:ext>
              </a:extLst>
            </p:cNvPr>
            <p:cNvSpPr>
              <a:spLocks noChangeShapeType="1"/>
            </p:cNvSpPr>
            <p:nvPr/>
          </p:nvSpPr>
          <p:spPr bwMode="auto">
            <a:xfrm flipH="1">
              <a:off x="6013450" y="4433888"/>
              <a:ext cx="1079500" cy="288925"/>
            </a:xfrm>
            <a:prstGeom prst="line">
              <a:avLst/>
            </a:prstGeom>
            <a:noFill/>
            <a:ln w="28575">
              <a:solidFill>
                <a:schemeClr val="bg2"/>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a:solidFill>
                  <a:schemeClr val="bg2"/>
                </a:solidFill>
              </a:endParaRPr>
            </a:p>
          </p:txBody>
        </p:sp>
        <p:sp>
          <p:nvSpPr>
            <p:cNvPr id="54" name="Line 36">
              <a:extLst>
                <a:ext uri="{FF2B5EF4-FFF2-40B4-BE49-F238E27FC236}">
                  <a16:creationId xmlns:a16="http://schemas.microsoft.com/office/drawing/2014/main" id="{CAB17E43-EAF0-42E4-BAFE-C81238E59B85}"/>
                </a:ext>
              </a:extLst>
            </p:cNvPr>
            <p:cNvSpPr>
              <a:spLocks noChangeShapeType="1"/>
            </p:cNvSpPr>
            <p:nvPr/>
          </p:nvSpPr>
          <p:spPr bwMode="auto">
            <a:xfrm flipH="1" flipV="1">
              <a:off x="6013450" y="4938713"/>
              <a:ext cx="1152525" cy="358775"/>
            </a:xfrm>
            <a:prstGeom prst="line">
              <a:avLst/>
            </a:prstGeom>
            <a:noFill/>
            <a:ln w="28575">
              <a:solidFill>
                <a:schemeClr val="bg2"/>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a:solidFill>
                  <a:schemeClr val="bg2"/>
                </a:solidFill>
              </a:endParaRPr>
            </a:p>
          </p:txBody>
        </p:sp>
        <p:sp>
          <p:nvSpPr>
            <p:cNvPr id="55" name="文本框 54"/>
            <p:cNvSpPr txBox="1"/>
            <p:nvPr/>
          </p:nvSpPr>
          <p:spPr>
            <a:xfrm>
              <a:off x="2721238" y="4609880"/>
              <a:ext cx="217486" cy="369332"/>
            </a:xfrm>
            <a:prstGeom prst="rect">
              <a:avLst/>
            </a:prstGeom>
            <a:noFill/>
          </p:spPr>
          <p:txBody>
            <a:bodyPr wrap="square" rtlCol="0">
              <a:spAutoFit/>
            </a:bodyPr>
            <a:lstStyle/>
            <a:p>
              <a:pPr algn="ctr"/>
              <a:r>
                <a:rPr lang="en-US" altLang="zh-CN" sz="1800" dirty="0">
                  <a:solidFill>
                    <a:schemeClr val="bg2"/>
                  </a:solidFill>
                </a:rPr>
                <a:t>1</a:t>
              </a:r>
              <a:endParaRPr lang="zh-CN" altLang="en-US" sz="1800" dirty="0">
                <a:solidFill>
                  <a:schemeClr val="bg2"/>
                </a:solidFill>
              </a:endParaRPr>
            </a:p>
          </p:txBody>
        </p:sp>
        <p:sp>
          <p:nvSpPr>
            <p:cNvPr id="56" name="矩形 55"/>
            <p:cNvSpPr/>
            <p:nvPr/>
          </p:nvSpPr>
          <p:spPr>
            <a:xfrm>
              <a:off x="3015228" y="4627612"/>
              <a:ext cx="301685" cy="369332"/>
            </a:xfrm>
            <a:prstGeom prst="rect">
              <a:avLst/>
            </a:prstGeom>
          </p:spPr>
          <p:txBody>
            <a:bodyPr wrap="none">
              <a:spAutoFit/>
            </a:bodyPr>
            <a:lstStyle/>
            <a:p>
              <a:pPr algn="ctr"/>
              <a:r>
                <a:rPr lang="en-US" altLang="zh-CN" sz="1800" dirty="0">
                  <a:solidFill>
                    <a:schemeClr val="bg2"/>
                  </a:solidFill>
                  <a:latin typeface="+mn-lt"/>
                </a:rPr>
                <a:t>2</a:t>
              </a:r>
              <a:endParaRPr lang="zh-CN" altLang="en-US" sz="1800" dirty="0">
                <a:solidFill>
                  <a:schemeClr val="bg2"/>
                </a:solidFill>
                <a:latin typeface="+mn-lt"/>
              </a:endParaRPr>
            </a:p>
          </p:txBody>
        </p:sp>
        <p:sp>
          <p:nvSpPr>
            <p:cNvPr id="57" name="矩形 56"/>
            <p:cNvSpPr/>
            <p:nvPr/>
          </p:nvSpPr>
          <p:spPr>
            <a:xfrm>
              <a:off x="5621987" y="4629211"/>
              <a:ext cx="312907" cy="369332"/>
            </a:xfrm>
            <a:prstGeom prst="rect">
              <a:avLst/>
            </a:prstGeom>
          </p:spPr>
          <p:txBody>
            <a:bodyPr wrap="none">
              <a:spAutoFit/>
            </a:bodyPr>
            <a:lstStyle/>
            <a:p>
              <a:pPr algn="ctr"/>
              <a:r>
                <a:rPr lang="en-US" altLang="zh-CN" sz="1800" dirty="0">
                  <a:solidFill>
                    <a:schemeClr val="bg2"/>
                  </a:solidFill>
                  <a:latin typeface="+mn-lt"/>
                </a:rPr>
                <a:t>n</a:t>
              </a:r>
              <a:endParaRPr lang="zh-CN" altLang="en-US" sz="1800" dirty="0">
                <a:solidFill>
                  <a:schemeClr val="bg2"/>
                </a:solidFill>
                <a:latin typeface="+mn-lt"/>
              </a:endParaRPr>
            </a:p>
          </p:txBody>
        </p:sp>
        <p:cxnSp>
          <p:nvCxnSpPr>
            <p:cNvPr id="58" name="直接箭头连接符 57"/>
            <p:cNvCxnSpPr/>
            <p:nvPr/>
          </p:nvCxnSpPr>
          <p:spPr bwMode="auto">
            <a:xfrm flipV="1">
              <a:off x="3421061" y="3934042"/>
              <a:ext cx="1506533" cy="50583"/>
            </a:xfrm>
            <a:prstGeom prst="straightConnector1">
              <a:avLst/>
            </a:prstGeom>
            <a:noFill/>
            <a:ln w="9525" cap="flat" cmpd="sng" algn="ctr">
              <a:noFill/>
              <a:prstDash val="solid"/>
              <a:round/>
              <a:headEnd type="none" w="med" len="med"/>
              <a:tailEnd type="triangle"/>
            </a:ln>
            <a:effectLst/>
          </p:spPr>
        </p:cxnSp>
        <p:cxnSp>
          <p:nvCxnSpPr>
            <p:cNvPr id="59" name="直接箭头连接符 58"/>
            <p:cNvCxnSpPr/>
            <p:nvPr/>
          </p:nvCxnSpPr>
          <p:spPr bwMode="auto">
            <a:xfrm flipV="1">
              <a:off x="3618309" y="4812278"/>
              <a:ext cx="1309285" cy="283"/>
            </a:xfrm>
            <a:prstGeom prst="straightConnector1">
              <a:avLst/>
            </a:prstGeom>
            <a:noFill/>
            <a:ln w="57150" cap="flat" cmpd="sng" algn="ctr">
              <a:solidFill>
                <a:schemeClr val="bg2"/>
              </a:solidFill>
              <a:prstDash val="solid"/>
              <a:round/>
              <a:headEnd type="none" w="med" len="med"/>
              <a:tailEnd type="triangle" w="med" len="med"/>
            </a:ln>
            <a:effectLst/>
          </p:spPr>
        </p:cxnSp>
        <p:sp>
          <p:nvSpPr>
            <p:cNvPr id="60" name="文本框 59"/>
            <p:cNvSpPr txBox="1"/>
            <p:nvPr/>
          </p:nvSpPr>
          <p:spPr>
            <a:xfrm>
              <a:off x="3174063" y="3995956"/>
              <a:ext cx="2447924" cy="461665"/>
            </a:xfrm>
            <a:prstGeom prst="rect">
              <a:avLst/>
            </a:prstGeom>
            <a:noFill/>
          </p:spPr>
          <p:txBody>
            <a:bodyPr wrap="square" rtlCol="0">
              <a:spAutoFit/>
            </a:bodyPr>
            <a:lstStyle/>
            <a:p>
              <a:pPr algn="ctr"/>
              <a:r>
                <a:rPr lang="zh-CN" altLang="en-US" sz="2400" dirty="0">
                  <a:solidFill>
                    <a:schemeClr val="bg2"/>
                  </a:solidFill>
                </a:rPr>
                <a:t>有界缓冲区</a:t>
              </a:r>
            </a:p>
          </p:txBody>
        </p:sp>
      </p:grpSp>
    </p:spTree>
    <p:extLst>
      <p:ext uri="{BB962C8B-B14F-4D97-AF65-F5344CB8AC3E}">
        <p14:creationId xmlns:p14="http://schemas.microsoft.com/office/powerpoint/2010/main" val="3263058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par>
                          <p:cTn id="13" fill="hold">
                            <p:stCondLst>
                              <p:cond delay="500"/>
                            </p:stCondLst>
                            <p:childTnLst>
                              <p:par>
                                <p:cTn id="14" presetID="2" presetClass="entr" presetSubtype="6" fill="hold" grpId="0" nodeType="afterEffect">
                                  <p:stCondLst>
                                    <p:cond delay="0"/>
                                  </p:stCondLst>
                                  <p:childTnLst>
                                    <p:set>
                                      <p:cBhvr>
                                        <p:cTn id="15" dur="1" fill="hold">
                                          <p:stCondLst>
                                            <p:cond delay="0"/>
                                          </p:stCondLst>
                                        </p:cTn>
                                        <p:tgtEl>
                                          <p:spTgt spid="36"/>
                                        </p:tgtEl>
                                        <p:attrNameLst>
                                          <p:attrName>style.visibility</p:attrName>
                                        </p:attrNameLst>
                                      </p:cBhvr>
                                      <p:to>
                                        <p:strVal val="visible"/>
                                      </p:to>
                                    </p:set>
                                    <p:anim calcmode="lin" valueType="num">
                                      <p:cBhvr additive="base">
                                        <p:cTn id="16" dur="500" fill="hold"/>
                                        <p:tgtEl>
                                          <p:spTgt spid="36"/>
                                        </p:tgtEl>
                                        <p:attrNameLst>
                                          <p:attrName>ppt_x</p:attrName>
                                        </p:attrNameLst>
                                      </p:cBhvr>
                                      <p:tavLst>
                                        <p:tav tm="0">
                                          <p:val>
                                            <p:strVal val="1+#ppt_w/2"/>
                                          </p:val>
                                        </p:tav>
                                        <p:tav tm="100000">
                                          <p:val>
                                            <p:strVal val="#ppt_x"/>
                                          </p:val>
                                        </p:tav>
                                      </p:tavLst>
                                    </p:anim>
                                    <p:anim calcmode="lin" valueType="num">
                                      <p:cBhvr additive="base">
                                        <p:cTn id="17"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3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82C55B1-4461-4EA2-BB0C-A098E19F978A}"/>
              </a:ext>
            </a:extLst>
          </p:cNvPr>
          <p:cNvSpPr>
            <a:spLocks noGrp="1"/>
          </p:cNvSpPr>
          <p:nvPr>
            <p:ph type="sldNum" sz="quarter" idx="12"/>
          </p:nvPr>
        </p:nvSpPr>
        <p:spPr>
          <a:xfrm>
            <a:off x="6876852" y="6084714"/>
            <a:ext cx="1905000" cy="196850"/>
          </a:xfrm>
        </p:spPr>
        <p:txBody>
          <a:bodyPr/>
          <a:lstStyle/>
          <a:p>
            <a:pPr>
              <a:defRPr/>
            </a:pPr>
            <a:r>
              <a:rPr lang="zh-CN" altLang="en-US"/>
              <a:t>第 </a:t>
            </a:r>
            <a:fld id="{AA9BF305-28BD-41C0-8AA3-BF5601F9D25F}" type="slidenum">
              <a:rPr lang="zh-CN" altLang="en-US" smtClean="0"/>
              <a:pPr>
                <a:defRPr/>
              </a:pPr>
              <a:t>33</a:t>
            </a:fld>
            <a:r>
              <a:rPr lang="zh-CN" altLang="en-US"/>
              <a:t> 页</a:t>
            </a:r>
          </a:p>
        </p:txBody>
      </p:sp>
      <p:sp>
        <p:nvSpPr>
          <p:cNvPr id="5" name="Text Box 2">
            <a:extLst>
              <a:ext uri="{FF2B5EF4-FFF2-40B4-BE49-F238E27FC236}">
                <a16:creationId xmlns:a16="http://schemas.microsoft.com/office/drawing/2014/main" id="{44DEAA0C-E5B9-4BDE-A331-9AB03922104A}"/>
              </a:ext>
            </a:extLst>
          </p:cNvPr>
          <p:cNvSpPr txBox="1">
            <a:spLocks noChangeArrowheads="1"/>
          </p:cNvSpPr>
          <p:nvPr/>
        </p:nvSpPr>
        <p:spPr bwMode="auto">
          <a:xfrm>
            <a:off x="0" y="937001"/>
            <a:ext cx="9144000" cy="1348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Char char="•"/>
            </a:pPr>
            <a:r>
              <a:rPr lang="en-US" altLang="zh-CN" sz="2400" b="1" dirty="0">
                <a:solidFill>
                  <a:srgbClr val="FF0000"/>
                </a:solidFill>
                <a:ea typeface="楷体_GB2312" pitchFamily="49" charset="-122"/>
              </a:rPr>
              <a:t>mutex[</a:t>
            </a:r>
            <a:r>
              <a:rPr lang="en-US" altLang="zh-CN" sz="2400" b="1" dirty="0" err="1">
                <a:solidFill>
                  <a:srgbClr val="FF0000"/>
                </a:solidFill>
                <a:ea typeface="楷体_GB2312" pitchFamily="49" charset="-122"/>
              </a:rPr>
              <a:t>i</a:t>
            </a:r>
            <a:r>
              <a:rPr lang="en-US" altLang="zh-CN" sz="2400" b="1" dirty="0">
                <a:solidFill>
                  <a:srgbClr val="FF0000"/>
                </a:solidFill>
                <a:ea typeface="楷体_GB2312" pitchFamily="49" charset="-122"/>
              </a:rPr>
              <a:t>]</a:t>
            </a:r>
            <a:r>
              <a:rPr lang="zh-CN" altLang="en-US" sz="2400" b="1" dirty="0">
                <a:solidFill>
                  <a:schemeClr val="bg2"/>
                </a:solidFill>
                <a:ea typeface="楷体_GB2312" pitchFamily="49" charset="-122"/>
              </a:rPr>
              <a:t>：</a:t>
            </a:r>
            <a:r>
              <a:rPr lang="zh-CN" altLang="en-US" sz="2400" dirty="0">
                <a:solidFill>
                  <a:schemeClr val="bg2"/>
                </a:solidFill>
              </a:rPr>
              <a:t>第</a:t>
            </a:r>
            <a:r>
              <a:rPr lang="en-US" altLang="zh-CN" sz="2400" dirty="0" err="1">
                <a:solidFill>
                  <a:schemeClr val="bg2"/>
                </a:solidFill>
              </a:rPr>
              <a:t>i</a:t>
            </a:r>
            <a:r>
              <a:rPr lang="zh-CN" altLang="en-US" sz="2400" dirty="0">
                <a:solidFill>
                  <a:schemeClr val="bg2"/>
                </a:solidFill>
              </a:rPr>
              <a:t>个缓冲区的公用信号量</a:t>
            </a:r>
            <a:r>
              <a:rPr lang="en-US" altLang="zh-CN" sz="2400" dirty="0">
                <a:solidFill>
                  <a:schemeClr val="bg2"/>
                </a:solidFill>
              </a:rPr>
              <a:t>(</a:t>
            </a:r>
            <a:r>
              <a:rPr lang="zh-CN" altLang="en-US" sz="2400" dirty="0">
                <a:solidFill>
                  <a:schemeClr val="bg2"/>
                </a:solidFill>
              </a:rPr>
              <a:t>互斥</a:t>
            </a:r>
            <a:r>
              <a:rPr lang="en-US" altLang="zh-CN" sz="2400" dirty="0">
                <a:solidFill>
                  <a:schemeClr val="bg2"/>
                </a:solidFill>
              </a:rPr>
              <a:t>)</a:t>
            </a:r>
            <a:r>
              <a:rPr lang="zh-CN" altLang="en-US" sz="2400" dirty="0">
                <a:solidFill>
                  <a:schemeClr val="bg2"/>
                </a:solidFill>
              </a:rPr>
              <a:t>，初值为</a:t>
            </a:r>
            <a:r>
              <a:rPr lang="en-US" altLang="zh-CN" sz="2400" dirty="0">
                <a:solidFill>
                  <a:schemeClr val="bg2"/>
                </a:solidFill>
              </a:rPr>
              <a:t>1</a:t>
            </a:r>
            <a:r>
              <a:rPr lang="zh-CN" altLang="en-US" sz="2400" dirty="0">
                <a:solidFill>
                  <a:schemeClr val="bg2"/>
                </a:solidFill>
              </a:rPr>
              <a:t>。</a:t>
            </a:r>
          </a:p>
          <a:p>
            <a:pPr marL="87313" indent="-87313" eaLnBrk="1" hangingPunct="1">
              <a:buClrTx/>
              <a:buSzTx/>
              <a:buFontTx/>
              <a:buChar char="•"/>
            </a:pPr>
            <a:r>
              <a:rPr lang="en-US" altLang="zh-CN" sz="2400" b="1" dirty="0">
                <a:solidFill>
                  <a:srgbClr val="FF0000"/>
                </a:solidFill>
                <a:ea typeface="楷体_GB2312" pitchFamily="49" charset="-122"/>
              </a:rPr>
              <a:t>avail</a:t>
            </a:r>
            <a:r>
              <a:rPr lang="zh-CN" altLang="en-US" sz="2400" b="1" dirty="0">
                <a:solidFill>
                  <a:schemeClr val="bg2"/>
                </a:solidFill>
                <a:ea typeface="楷体_GB2312" pitchFamily="49" charset="-122"/>
              </a:rPr>
              <a:t>：</a:t>
            </a:r>
            <a:r>
              <a:rPr lang="zh-CN" altLang="en-US" sz="2400" dirty="0">
                <a:solidFill>
                  <a:schemeClr val="bg2"/>
                </a:solidFill>
              </a:rPr>
              <a:t>生产者的私用信号量，空有界缓冲区的个数，初值为</a:t>
            </a:r>
            <a:r>
              <a:rPr lang="en-US" altLang="zh-CN" sz="2400" dirty="0">
                <a:solidFill>
                  <a:schemeClr val="bg2"/>
                </a:solidFill>
              </a:rPr>
              <a:t>m;</a:t>
            </a:r>
          </a:p>
          <a:p>
            <a:pPr eaLnBrk="1" hangingPunct="1">
              <a:buClrTx/>
              <a:buSzTx/>
              <a:buFontTx/>
              <a:buChar char="•"/>
            </a:pPr>
            <a:r>
              <a:rPr lang="en-US" altLang="zh-CN" sz="2400" b="1" dirty="0">
                <a:solidFill>
                  <a:srgbClr val="FF0000"/>
                </a:solidFill>
                <a:ea typeface="楷体_GB2312" pitchFamily="49" charset="-122"/>
              </a:rPr>
              <a:t>full</a:t>
            </a:r>
            <a:r>
              <a:rPr lang="zh-CN" altLang="en-US" sz="2400" b="1" dirty="0">
                <a:solidFill>
                  <a:schemeClr val="bg2"/>
                </a:solidFill>
                <a:ea typeface="楷体_GB2312" pitchFamily="49" charset="-122"/>
              </a:rPr>
              <a:t>：</a:t>
            </a:r>
            <a:r>
              <a:rPr lang="zh-CN" altLang="en-US" sz="2400" dirty="0">
                <a:solidFill>
                  <a:schemeClr val="bg2"/>
                </a:solidFill>
              </a:rPr>
              <a:t>消费者的私用信号量，满有界缓冲区的个数，初值为</a:t>
            </a:r>
            <a:r>
              <a:rPr lang="en-US" altLang="zh-CN" sz="2400" dirty="0">
                <a:solidFill>
                  <a:schemeClr val="bg2"/>
                </a:solidFill>
              </a:rPr>
              <a:t>0</a:t>
            </a:r>
            <a:r>
              <a:rPr lang="zh-CN" altLang="en-US" sz="2400" dirty="0">
                <a:solidFill>
                  <a:schemeClr val="bg2"/>
                </a:solidFill>
              </a:rPr>
              <a:t>。</a:t>
            </a:r>
          </a:p>
        </p:txBody>
      </p:sp>
      <p:sp>
        <p:nvSpPr>
          <p:cNvPr id="6" name="Text Box 3">
            <a:extLst>
              <a:ext uri="{FF2B5EF4-FFF2-40B4-BE49-F238E27FC236}">
                <a16:creationId xmlns:a16="http://schemas.microsoft.com/office/drawing/2014/main" id="{76A7EFC3-0EC6-4530-BB57-8F6BB9EA78C3}"/>
              </a:ext>
            </a:extLst>
          </p:cNvPr>
          <p:cNvSpPr txBox="1">
            <a:spLocks noChangeArrowheads="1"/>
          </p:cNvSpPr>
          <p:nvPr/>
        </p:nvSpPr>
        <p:spPr bwMode="auto">
          <a:xfrm>
            <a:off x="467792" y="2262700"/>
            <a:ext cx="3600450" cy="3406775"/>
          </a:xfrm>
          <a:prstGeom prst="rect">
            <a:avLst/>
          </a:prstGeom>
          <a:solidFill>
            <a:schemeClr val="tx1">
              <a:lumMod val="85000"/>
            </a:schemeClr>
          </a:solidFill>
          <a:ln w="28575">
            <a:noFill/>
            <a:prstDash val="dash"/>
            <a:miter lim="800000"/>
            <a:headEnd type="none" w="sm" len="sm"/>
            <a:tailEnd type="none" w="sm" len="sm"/>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b="1" dirty="0">
                <a:solidFill>
                  <a:schemeClr val="bg2"/>
                </a:solidFill>
              </a:rPr>
              <a:t>deposit(data):</a:t>
            </a:r>
          </a:p>
          <a:p>
            <a:pPr eaLnBrk="1" hangingPunct="1">
              <a:spcBef>
                <a:spcPct val="0"/>
              </a:spcBef>
              <a:buClrTx/>
              <a:buSzTx/>
              <a:buFontTx/>
              <a:buNone/>
            </a:pPr>
            <a:r>
              <a:rPr lang="en-US" altLang="zh-CN" sz="2400" b="1" dirty="0">
                <a:solidFill>
                  <a:schemeClr val="bg2"/>
                </a:solidFill>
              </a:rPr>
              <a:t>begin</a:t>
            </a:r>
          </a:p>
          <a:p>
            <a:pPr eaLnBrk="1" hangingPunct="1">
              <a:spcBef>
                <a:spcPct val="0"/>
              </a:spcBef>
              <a:buClrTx/>
              <a:buSzTx/>
              <a:buFontTx/>
              <a:buNone/>
            </a:pPr>
            <a:r>
              <a:rPr lang="zh-CN" altLang="en-US" sz="2400" b="1" dirty="0">
                <a:solidFill>
                  <a:schemeClr val="bg2"/>
                </a:solidFill>
              </a:rPr>
              <a:t>　　</a:t>
            </a:r>
            <a:r>
              <a:rPr lang="en-US" altLang="zh-CN" sz="2400" b="1" dirty="0">
                <a:solidFill>
                  <a:schemeClr val="bg2"/>
                </a:solidFill>
              </a:rPr>
              <a:t>P(avail)</a:t>
            </a:r>
          </a:p>
          <a:p>
            <a:pPr eaLnBrk="1" hangingPunct="1">
              <a:spcBef>
                <a:spcPct val="0"/>
              </a:spcBef>
              <a:buClrTx/>
              <a:buSzTx/>
              <a:buFontTx/>
              <a:buNone/>
            </a:pPr>
            <a:r>
              <a:rPr lang="zh-CN" altLang="en-US" sz="2400" b="1" dirty="0">
                <a:solidFill>
                  <a:schemeClr val="bg2"/>
                </a:solidFill>
              </a:rPr>
              <a:t>　　选择一个空缓冲区 </a:t>
            </a:r>
            <a:r>
              <a:rPr lang="en-US" altLang="zh-CN" sz="2400" b="1" dirty="0" err="1">
                <a:solidFill>
                  <a:schemeClr val="bg2"/>
                </a:solidFill>
              </a:rPr>
              <a:t>i</a:t>
            </a:r>
            <a:endParaRPr lang="en-US" altLang="zh-CN" sz="2400" b="1" dirty="0">
              <a:solidFill>
                <a:schemeClr val="bg2"/>
              </a:solidFill>
            </a:endParaRPr>
          </a:p>
          <a:p>
            <a:pPr eaLnBrk="1" hangingPunct="1">
              <a:spcBef>
                <a:spcPct val="0"/>
              </a:spcBef>
              <a:buClrTx/>
              <a:buSzTx/>
              <a:buFontTx/>
              <a:buNone/>
            </a:pPr>
            <a:r>
              <a:rPr lang="en-US" altLang="zh-CN" sz="2400" b="1" dirty="0">
                <a:solidFill>
                  <a:schemeClr val="bg2"/>
                </a:solidFill>
              </a:rPr>
              <a:t>        P(mutex[</a:t>
            </a:r>
            <a:r>
              <a:rPr lang="en-US" altLang="zh-CN" sz="2400" b="1" dirty="0" err="1">
                <a:solidFill>
                  <a:schemeClr val="bg2"/>
                </a:solidFill>
              </a:rPr>
              <a:t>i</a:t>
            </a:r>
            <a:r>
              <a:rPr lang="en-US" altLang="zh-CN" sz="2400" b="1" dirty="0">
                <a:solidFill>
                  <a:schemeClr val="bg2"/>
                </a:solidFill>
              </a:rPr>
              <a:t>])</a:t>
            </a:r>
          </a:p>
          <a:p>
            <a:pPr eaLnBrk="1" hangingPunct="1">
              <a:spcBef>
                <a:spcPct val="0"/>
              </a:spcBef>
              <a:buClrTx/>
              <a:buSzTx/>
              <a:buFontTx/>
              <a:buNone/>
            </a:pPr>
            <a:r>
              <a:rPr lang="zh-CN" altLang="en-US" sz="2400" b="1" dirty="0">
                <a:solidFill>
                  <a:schemeClr val="bg2"/>
                </a:solidFill>
              </a:rPr>
              <a:t>　　</a:t>
            </a:r>
            <a:r>
              <a:rPr lang="zh-CN" altLang="en-US" sz="2000" b="1" dirty="0">
                <a:solidFill>
                  <a:schemeClr val="bg2"/>
                </a:solidFill>
              </a:rPr>
              <a:t>送数据入缓冲区 </a:t>
            </a:r>
            <a:r>
              <a:rPr lang="en-US" altLang="zh-CN" sz="2000" b="1" dirty="0" err="1">
                <a:solidFill>
                  <a:schemeClr val="bg2"/>
                </a:solidFill>
              </a:rPr>
              <a:t>i</a:t>
            </a:r>
            <a:endParaRPr lang="en-US" altLang="zh-CN" sz="2000" b="1" dirty="0">
              <a:solidFill>
                <a:schemeClr val="bg2"/>
              </a:solidFill>
            </a:endParaRPr>
          </a:p>
          <a:p>
            <a:pPr eaLnBrk="1" hangingPunct="1">
              <a:spcBef>
                <a:spcPct val="0"/>
              </a:spcBef>
              <a:buClrTx/>
              <a:buSzTx/>
              <a:buFontTx/>
              <a:buNone/>
            </a:pPr>
            <a:r>
              <a:rPr lang="zh-CN" altLang="en-US" sz="2400" b="1" dirty="0">
                <a:solidFill>
                  <a:schemeClr val="bg2"/>
                </a:solidFill>
              </a:rPr>
              <a:t>　　</a:t>
            </a:r>
            <a:r>
              <a:rPr lang="en-US" altLang="zh-CN" sz="2400" b="1" dirty="0">
                <a:solidFill>
                  <a:schemeClr val="bg2"/>
                </a:solidFill>
              </a:rPr>
              <a:t>V(full)</a:t>
            </a:r>
          </a:p>
          <a:p>
            <a:pPr eaLnBrk="1" hangingPunct="1">
              <a:spcBef>
                <a:spcPct val="0"/>
              </a:spcBef>
              <a:buClrTx/>
              <a:buSzTx/>
              <a:buFontTx/>
              <a:buNone/>
            </a:pPr>
            <a:r>
              <a:rPr lang="zh-CN" altLang="en-US" sz="2400" b="1" dirty="0">
                <a:solidFill>
                  <a:schemeClr val="bg2"/>
                </a:solidFill>
              </a:rPr>
              <a:t>　　</a:t>
            </a:r>
            <a:r>
              <a:rPr lang="en-US" altLang="zh-CN" sz="2400" b="1" dirty="0">
                <a:solidFill>
                  <a:schemeClr val="bg2"/>
                </a:solidFill>
              </a:rPr>
              <a:t>V(mutex[</a:t>
            </a:r>
            <a:r>
              <a:rPr lang="en-US" altLang="zh-CN" sz="2400" b="1" dirty="0" err="1">
                <a:solidFill>
                  <a:schemeClr val="bg2"/>
                </a:solidFill>
              </a:rPr>
              <a:t>i</a:t>
            </a:r>
            <a:r>
              <a:rPr lang="en-US" altLang="zh-CN" sz="2400" b="1" dirty="0">
                <a:solidFill>
                  <a:schemeClr val="bg2"/>
                </a:solidFill>
              </a:rPr>
              <a:t>])</a:t>
            </a:r>
          </a:p>
          <a:p>
            <a:pPr eaLnBrk="1" hangingPunct="1">
              <a:spcBef>
                <a:spcPct val="0"/>
              </a:spcBef>
              <a:buClrTx/>
              <a:buSzTx/>
              <a:buFontTx/>
              <a:buNone/>
            </a:pPr>
            <a:r>
              <a:rPr lang="en-US" altLang="zh-CN" sz="2400" b="1" dirty="0">
                <a:solidFill>
                  <a:schemeClr val="bg2"/>
                </a:solidFill>
              </a:rPr>
              <a:t>end</a:t>
            </a:r>
            <a:endParaRPr lang="en-US" altLang="zh-CN" sz="2400" dirty="0">
              <a:solidFill>
                <a:schemeClr val="bg2"/>
              </a:solidFill>
            </a:endParaRPr>
          </a:p>
        </p:txBody>
      </p:sp>
      <p:sp>
        <p:nvSpPr>
          <p:cNvPr id="7" name="Text Box 4">
            <a:extLst>
              <a:ext uri="{FF2B5EF4-FFF2-40B4-BE49-F238E27FC236}">
                <a16:creationId xmlns:a16="http://schemas.microsoft.com/office/drawing/2014/main" id="{927FD5AA-6181-4B27-AA50-95294AAD2437}"/>
              </a:ext>
            </a:extLst>
          </p:cNvPr>
          <p:cNvSpPr txBox="1">
            <a:spLocks noChangeArrowheads="1"/>
          </p:cNvSpPr>
          <p:nvPr/>
        </p:nvSpPr>
        <p:spPr bwMode="auto">
          <a:xfrm>
            <a:off x="5148064" y="2204864"/>
            <a:ext cx="3671888" cy="3346450"/>
          </a:xfrm>
          <a:prstGeom prst="rect">
            <a:avLst/>
          </a:prstGeom>
          <a:solidFill>
            <a:schemeClr val="tx1">
              <a:lumMod val="85000"/>
            </a:schemeClr>
          </a:solidFill>
          <a:ln w="28575">
            <a:noFill/>
            <a:prstDash val="dash"/>
            <a:miter lim="800000"/>
            <a:headEnd type="none" w="sm" len="sm"/>
            <a:tailEnd type="none" w="sm" len="sm"/>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b="1" dirty="0">
                <a:solidFill>
                  <a:schemeClr val="bg2"/>
                </a:solidFill>
              </a:rPr>
              <a:t>remove(data):</a:t>
            </a:r>
          </a:p>
          <a:p>
            <a:pPr eaLnBrk="1" hangingPunct="1">
              <a:spcBef>
                <a:spcPct val="0"/>
              </a:spcBef>
              <a:buClrTx/>
              <a:buSzTx/>
              <a:buFontTx/>
              <a:buNone/>
            </a:pPr>
            <a:r>
              <a:rPr lang="en-US" altLang="zh-CN" sz="2400" b="1" dirty="0">
                <a:solidFill>
                  <a:schemeClr val="bg2"/>
                </a:solidFill>
              </a:rPr>
              <a:t>begin</a:t>
            </a:r>
          </a:p>
          <a:p>
            <a:pPr eaLnBrk="1" hangingPunct="1">
              <a:spcBef>
                <a:spcPct val="0"/>
              </a:spcBef>
              <a:buClrTx/>
              <a:buSzTx/>
              <a:buFontTx/>
              <a:buNone/>
            </a:pPr>
            <a:r>
              <a:rPr lang="zh-CN" altLang="en-US" sz="2400" b="1" dirty="0">
                <a:solidFill>
                  <a:schemeClr val="bg2"/>
                </a:solidFill>
              </a:rPr>
              <a:t>　　</a:t>
            </a:r>
            <a:r>
              <a:rPr lang="en-US" altLang="zh-CN" sz="2400" b="1" dirty="0">
                <a:solidFill>
                  <a:schemeClr val="bg2"/>
                </a:solidFill>
              </a:rPr>
              <a:t>P(full)</a:t>
            </a:r>
          </a:p>
          <a:p>
            <a:pPr eaLnBrk="1" hangingPunct="1">
              <a:spcBef>
                <a:spcPct val="0"/>
              </a:spcBef>
              <a:buClrTx/>
              <a:buSzTx/>
              <a:buFontTx/>
              <a:buNone/>
            </a:pPr>
            <a:r>
              <a:rPr lang="en-US" altLang="zh-CN" sz="2400" b="1" dirty="0">
                <a:solidFill>
                  <a:schemeClr val="bg2"/>
                </a:solidFill>
              </a:rPr>
              <a:t>       </a:t>
            </a:r>
            <a:r>
              <a:rPr lang="zh-CN" altLang="en-US" sz="2400" b="1" dirty="0">
                <a:solidFill>
                  <a:schemeClr val="bg2"/>
                </a:solidFill>
              </a:rPr>
              <a:t>选择一个满缓冲区 </a:t>
            </a:r>
            <a:r>
              <a:rPr lang="en-US" altLang="zh-CN" sz="2400" b="1" dirty="0" err="1">
                <a:solidFill>
                  <a:schemeClr val="bg2"/>
                </a:solidFill>
              </a:rPr>
              <a:t>i</a:t>
            </a:r>
            <a:endParaRPr lang="en-US" altLang="zh-CN" sz="2400" b="1" dirty="0">
              <a:solidFill>
                <a:schemeClr val="bg2"/>
              </a:solidFill>
            </a:endParaRPr>
          </a:p>
          <a:p>
            <a:pPr eaLnBrk="1" hangingPunct="1">
              <a:spcBef>
                <a:spcPct val="0"/>
              </a:spcBef>
              <a:buClrTx/>
              <a:buSzTx/>
              <a:buFontTx/>
              <a:buNone/>
            </a:pPr>
            <a:r>
              <a:rPr lang="zh-CN" altLang="en-US" sz="2400" b="1" dirty="0">
                <a:solidFill>
                  <a:schemeClr val="bg2"/>
                </a:solidFill>
              </a:rPr>
              <a:t>　　</a:t>
            </a:r>
            <a:r>
              <a:rPr lang="en-US" altLang="zh-CN" sz="2400" b="1" dirty="0">
                <a:solidFill>
                  <a:schemeClr val="bg2"/>
                </a:solidFill>
              </a:rPr>
              <a:t>P(mutex[</a:t>
            </a:r>
            <a:r>
              <a:rPr lang="en-US" altLang="zh-CN" sz="2400" b="1" dirty="0" err="1">
                <a:solidFill>
                  <a:schemeClr val="bg2"/>
                </a:solidFill>
              </a:rPr>
              <a:t>i</a:t>
            </a:r>
            <a:r>
              <a:rPr lang="en-US" altLang="zh-CN" sz="2400" b="1" dirty="0">
                <a:solidFill>
                  <a:schemeClr val="bg2"/>
                </a:solidFill>
              </a:rPr>
              <a:t>])</a:t>
            </a:r>
          </a:p>
          <a:p>
            <a:pPr eaLnBrk="1" hangingPunct="1">
              <a:spcBef>
                <a:spcPct val="0"/>
              </a:spcBef>
              <a:buClrTx/>
              <a:buSzTx/>
              <a:buFontTx/>
              <a:buNone/>
            </a:pPr>
            <a:r>
              <a:rPr lang="zh-CN" altLang="en-US" sz="2000" b="1" dirty="0">
                <a:solidFill>
                  <a:schemeClr val="bg2"/>
                </a:solidFill>
              </a:rPr>
              <a:t>　　  取缓冲区 </a:t>
            </a:r>
            <a:r>
              <a:rPr lang="en-US" altLang="zh-CN" sz="2000" b="1" dirty="0" err="1">
                <a:solidFill>
                  <a:schemeClr val="bg2"/>
                </a:solidFill>
              </a:rPr>
              <a:t>i</a:t>
            </a:r>
            <a:r>
              <a:rPr lang="en-US" altLang="zh-CN" sz="2000" b="1" dirty="0">
                <a:solidFill>
                  <a:schemeClr val="bg2"/>
                </a:solidFill>
              </a:rPr>
              <a:t> </a:t>
            </a:r>
            <a:r>
              <a:rPr lang="zh-CN" altLang="en-US" sz="2000" b="1" dirty="0">
                <a:solidFill>
                  <a:schemeClr val="bg2"/>
                </a:solidFill>
              </a:rPr>
              <a:t>中的数据</a:t>
            </a:r>
          </a:p>
          <a:p>
            <a:pPr eaLnBrk="1" hangingPunct="1">
              <a:spcBef>
                <a:spcPct val="0"/>
              </a:spcBef>
              <a:buClrTx/>
              <a:buSzTx/>
              <a:buFontTx/>
              <a:buNone/>
            </a:pPr>
            <a:r>
              <a:rPr lang="zh-CN" altLang="en-US" sz="2400" b="1" dirty="0">
                <a:solidFill>
                  <a:schemeClr val="bg2"/>
                </a:solidFill>
              </a:rPr>
              <a:t>　　</a:t>
            </a:r>
            <a:r>
              <a:rPr lang="en-US" altLang="zh-CN" sz="2400" b="1" dirty="0">
                <a:solidFill>
                  <a:schemeClr val="bg2"/>
                </a:solidFill>
              </a:rPr>
              <a:t>V(avail)</a:t>
            </a:r>
          </a:p>
          <a:p>
            <a:pPr eaLnBrk="1" hangingPunct="1">
              <a:spcBef>
                <a:spcPct val="0"/>
              </a:spcBef>
              <a:buClrTx/>
              <a:buSzTx/>
              <a:buFontTx/>
              <a:buNone/>
            </a:pPr>
            <a:r>
              <a:rPr lang="zh-CN" altLang="en-US" sz="2400" b="1" dirty="0">
                <a:solidFill>
                  <a:schemeClr val="bg2"/>
                </a:solidFill>
              </a:rPr>
              <a:t>　　</a:t>
            </a:r>
            <a:r>
              <a:rPr lang="en-US" altLang="zh-CN" sz="2400" b="1" dirty="0">
                <a:solidFill>
                  <a:schemeClr val="bg2"/>
                </a:solidFill>
              </a:rPr>
              <a:t>V(mutex[</a:t>
            </a:r>
            <a:r>
              <a:rPr lang="en-US" altLang="zh-CN" sz="2400" b="1" dirty="0" err="1">
                <a:solidFill>
                  <a:schemeClr val="bg2"/>
                </a:solidFill>
              </a:rPr>
              <a:t>i</a:t>
            </a:r>
            <a:r>
              <a:rPr lang="en-US" altLang="zh-CN" sz="2400" b="1" dirty="0">
                <a:solidFill>
                  <a:schemeClr val="bg2"/>
                </a:solidFill>
              </a:rPr>
              <a:t>])</a:t>
            </a:r>
          </a:p>
          <a:p>
            <a:pPr eaLnBrk="1" hangingPunct="1">
              <a:spcBef>
                <a:spcPct val="0"/>
              </a:spcBef>
              <a:buClrTx/>
              <a:buSzTx/>
              <a:buFontTx/>
              <a:buNone/>
            </a:pPr>
            <a:r>
              <a:rPr lang="en-US" altLang="zh-CN" sz="2400" b="1" dirty="0">
                <a:solidFill>
                  <a:schemeClr val="bg2"/>
                </a:solidFill>
              </a:rPr>
              <a:t>end</a:t>
            </a:r>
          </a:p>
        </p:txBody>
      </p:sp>
      <p:sp>
        <p:nvSpPr>
          <p:cNvPr id="8" name="Text Box 5">
            <a:extLst>
              <a:ext uri="{FF2B5EF4-FFF2-40B4-BE49-F238E27FC236}">
                <a16:creationId xmlns:a16="http://schemas.microsoft.com/office/drawing/2014/main" id="{F0CA0D44-EBB3-428B-A1E0-380A2B385D60}"/>
              </a:ext>
            </a:extLst>
          </p:cNvPr>
          <p:cNvSpPr txBox="1">
            <a:spLocks noChangeArrowheads="1"/>
          </p:cNvSpPr>
          <p:nvPr/>
        </p:nvSpPr>
        <p:spPr bwMode="auto">
          <a:xfrm>
            <a:off x="0" y="0"/>
            <a:ext cx="9144000" cy="892552"/>
          </a:xfrm>
          <a:prstGeom prst="rect">
            <a:avLst/>
          </a:prstGeom>
          <a:solidFill>
            <a:schemeClr val="tx1">
              <a:lumMod val="85000"/>
            </a:schemeClr>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800" kern="0" dirty="0">
                <a:solidFill>
                  <a:schemeClr val="bg2"/>
                </a:solidFill>
              </a:rPr>
              <a:t> [</a:t>
            </a:r>
            <a:r>
              <a:rPr lang="zh-CN" altLang="en-US" sz="2800" kern="0" dirty="0">
                <a:solidFill>
                  <a:schemeClr val="bg2"/>
                </a:solidFill>
              </a:rPr>
              <a:t>例</a:t>
            </a:r>
            <a:r>
              <a:rPr lang="en-US" altLang="zh-CN" sz="2800" kern="0" dirty="0">
                <a:solidFill>
                  <a:schemeClr val="bg2"/>
                </a:solidFill>
              </a:rPr>
              <a:t>5.3]</a:t>
            </a:r>
            <a:r>
              <a:rPr lang="zh-CN" altLang="en-US" sz="2400" b="1" dirty="0">
                <a:solidFill>
                  <a:schemeClr val="bg2"/>
                </a:solidFill>
              </a:rPr>
              <a:t>有</a:t>
            </a:r>
            <a:r>
              <a:rPr lang="en-US" altLang="zh-CN" sz="2400" b="1" dirty="0">
                <a:solidFill>
                  <a:schemeClr val="bg2"/>
                </a:solidFill>
              </a:rPr>
              <a:t>m</a:t>
            </a:r>
            <a:r>
              <a:rPr lang="zh-CN" altLang="en-US" sz="2400" b="1" dirty="0">
                <a:solidFill>
                  <a:schemeClr val="bg2"/>
                </a:solidFill>
              </a:rPr>
              <a:t>个长度相等的有界缓冲区</a:t>
            </a:r>
            <a:r>
              <a:rPr lang="en-US" altLang="zh-CN" sz="2400" b="1" dirty="0">
                <a:solidFill>
                  <a:schemeClr val="bg2"/>
                </a:solidFill>
              </a:rPr>
              <a:t>,</a:t>
            </a:r>
            <a:r>
              <a:rPr lang="zh-CN" altLang="en-US" sz="2400" b="1" dirty="0">
                <a:solidFill>
                  <a:schemeClr val="bg2"/>
                </a:solidFill>
              </a:rPr>
              <a:t>每次传送数据长度等于缓冲区长度。描述</a:t>
            </a:r>
            <a:r>
              <a:rPr lang="en-US" altLang="zh-CN" sz="2400" b="1" dirty="0">
                <a:solidFill>
                  <a:schemeClr val="bg2"/>
                </a:solidFill>
              </a:rPr>
              <a:t>deposit(data)         remove(data)</a:t>
            </a:r>
          </a:p>
        </p:txBody>
      </p:sp>
      <p:sp>
        <p:nvSpPr>
          <p:cNvPr id="9" name="Text Box 6">
            <a:extLst>
              <a:ext uri="{FF2B5EF4-FFF2-40B4-BE49-F238E27FC236}">
                <a16:creationId xmlns:a16="http://schemas.microsoft.com/office/drawing/2014/main" id="{CD5516CB-8992-4827-B69D-7934FFD84928}"/>
              </a:ext>
            </a:extLst>
          </p:cNvPr>
          <p:cNvSpPr txBox="1">
            <a:spLocks noChangeArrowheads="1"/>
          </p:cNvSpPr>
          <p:nvPr/>
        </p:nvSpPr>
        <p:spPr bwMode="auto">
          <a:xfrm>
            <a:off x="467792" y="5591537"/>
            <a:ext cx="8280400" cy="1031875"/>
          </a:xfrm>
          <a:prstGeom prst="rect">
            <a:avLst/>
          </a:prstGeom>
          <a:solidFill>
            <a:srgbClr val="FFFF00"/>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ClrTx/>
              <a:buSzTx/>
              <a:buFontTx/>
              <a:buNone/>
            </a:pPr>
            <a:r>
              <a:rPr lang="zh-CN" altLang="en-US" sz="2800" b="1" dirty="0">
                <a:solidFill>
                  <a:schemeClr val="bg2"/>
                </a:solidFill>
                <a:effectLst>
                  <a:outerShdw blurRad="38100" dist="38100" dir="2700000" algn="tl">
                    <a:srgbClr val="000000">
                      <a:alpha val="43137"/>
                    </a:srgbClr>
                  </a:outerShdw>
                </a:effectLst>
                <a:ea typeface="楷体_GB2312" pitchFamily="49" charset="-122"/>
              </a:rPr>
              <a:t>同步</a:t>
            </a:r>
            <a:r>
              <a:rPr lang="en-US" altLang="zh-CN" sz="2800" b="1" dirty="0">
                <a:solidFill>
                  <a:schemeClr val="bg2"/>
                </a:solidFill>
                <a:effectLst>
                  <a:outerShdw blurRad="38100" dist="38100" dir="2700000" algn="tl">
                    <a:srgbClr val="000000">
                      <a:alpha val="43137"/>
                    </a:srgbClr>
                  </a:outerShdw>
                </a:effectLst>
                <a:ea typeface="楷体_GB2312" pitchFamily="49" charset="-122"/>
              </a:rPr>
              <a:t>P</a:t>
            </a:r>
            <a:r>
              <a:rPr lang="zh-CN" altLang="en-US" sz="2800" b="1" dirty="0">
                <a:solidFill>
                  <a:schemeClr val="bg2"/>
                </a:solidFill>
                <a:effectLst>
                  <a:outerShdw blurRad="38100" dist="38100" dir="2700000" algn="tl">
                    <a:srgbClr val="000000">
                      <a:alpha val="43137"/>
                    </a:srgbClr>
                  </a:outerShdw>
                </a:effectLst>
                <a:ea typeface="楷体_GB2312" pitchFamily="49" charset="-122"/>
              </a:rPr>
              <a:t>操作与互斥</a:t>
            </a:r>
            <a:r>
              <a:rPr lang="en-US" altLang="zh-CN" sz="2800" b="1" dirty="0">
                <a:solidFill>
                  <a:schemeClr val="bg2"/>
                </a:solidFill>
                <a:effectLst>
                  <a:outerShdw blurRad="38100" dist="38100" dir="2700000" algn="tl">
                    <a:srgbClr val="000000">
                      <a:alpha val="43137"/>
                    </a:srgbClr>
                  </a:outerShdw>
                </a:effectLst>
                <a:ea typeface="楷体_GB2312" pitchFamily="49" charset="-122"/>
              </a:rPr>
              <a:t>P</a:t>
            </a:r>
            <a:r>
              <a:rPr lang="zh-CN" altLang="en-US" sz="2800" b="1" dirty="0">
                <a:solidFill>
                  <a:schemeClr val="bg2"/>
                </a:solidFill>
                <a:effectLst>
                  <a:outerShdw blurRad="38100" dist="38100" dir="2700000" algn="tl">
                    <a:srgbClr val="000000">
                      <a:alpha val="43137"/>
                    </a:srgbClr>
                  </a:outerShdw>
                </a:effectLst>
                <a:ea typeface="楷体_GB2312" pitchFamily="49" charset="-122"/>
              </a:rPr>
              <a:t>操作在一起：同步</a:t>
            </a:r>
            <a:r>
              <a:rPr lang="en-US" altLang="zh-CN" sz="2800" b="1" dirty="0">
                <a:solidFill>
                  <a:schemeClr val="bg2"/>
                </a:solidFill>
                <a:effectLst>
                  <a:outerShdw blurRad="38100" dist="38100" dir="2700000" algn="tl">
                    <a:srgbClr val="000000">
                      <a:alpha val="43137"/>
                    </a:srgbClr>
                  </a:outerShdw>
                </a:effectLst>
                <a:ea typeface="楷体_GB2312" pitchFamily="49" charset="-122"/>
              </a:rPr>
              <a:t>P</a:t>
            </a:r>
            <a:r>
              <a:rPr lang="zh-CN" altLang="en-US" sz="2800" b="1" dirty="0">
                <a:solidFill>
                  <a:schemeClr val="bg2"/>
                </a:solidFill>
                <a:effectLst>
                  <a:outerShdw blurRad="38100" dist="38100" dir="2700000" algn="tl">
                    <a:srgbClr val="000000">
                      <a:alpha val="43137"/>
                    </a:srgbClr>
                  </a:outerShdw>
                </a:effectLst>
                <a:ea typeface="楷体_GB2312" pitchFamily="49" charset="-122"/>
              </a:rPr>
              <a:t>操作在前。</a:t>
            </a:r>
          </a:p>
          <a:p>
            <a:pPr algn="ctr" eaLnBrk="1" hangingPunct="1">
              <a:buClrTx/>
              <a:buSzTx/>
              <a:buFontTx/>
              <a:buNone/>
            </a:pPr>
            <a:r>
              <a:rPr lang="en-US" altLang="zh-CN" sz="2800" b="1" dirty="0">
                <a:solidFill>
                  <a:schemeClr val="bg2"/>
                </a:solidFill>
                <a:effectLst>
                  <a:outerShdw blurRad="38100" dist="38100" dir="2700000" algn="tl">
                    <a:srgbClr val="000000">
                      <a:alpha val="43137"/>
                    </a:srgbClr>
                  </a:outerShdw>
                </a:effectLst>
                <a:ea typeface="楷体_GB2312" pitchFamily="49" charset="-122"/>
              </a:rPr>
              <a:t>P</a:t>
            </a:r>
            <a:r>
              <a:rPr lang="zh-CN" altLang="en-US" sz="2800" b="1" dirty="0">
                <a:solidFill>
                  <a:schemeClr val="bg2"/>
                </a:solidFill>
                <a:effectLst>
                  <a:outerShdw blurRad="38100" dist="38100" dir="2700000" algn="tl">
                    <a:srgbClr val="000000">
                      <a:alpha val="43137"/>
                    </a:srgbClr>
                  </a:outerShdw>
                </a:effectLst>
                <a:ea typeface="楷体_GB2312" pitchFamily="49" charset="-122"/>
              </a:rPr>
              <a:t>原语次序混乱，将会造成进程死锁。</a:t>
            </a:r>
          </a:p>
        </p:txBody>
      </p:sp>
      <p:sp>
        <p:nvSpPr>
          <p:cNvPr id="10"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8000" y="6480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259205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2000"/>
                                        <p:tgtEl>
                                          <p:spTgt spid="9"/>
                                        </p:tgtEl>
                                      </p:cBhvr>
                                    </p:animEffect>
                                  </p:childTnLst>
                                </p:cTn>
                              </p:par>
                            </p:childTnLst>
                          </p:cTn>
                        </p:par>
                        <p:par>
                          <p:cTn id="33" fill="hold">
                            <p:stCondLst>
                              <p:cond delay="2000"/>
                            </p:stCondLst>
                            <p:childTnLst>
                              <p:par>
                                <p:cTn id="34" presetID="2" presetClass="entr" presetSubtype="6" fill="hold" grpId="0" nodeType="after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1+#ppt_w/2"/>
                                          </p:val>
                                        </p:tav>
                                        <p:tav tm="100000">
                                          <p:val>
                                            <p:strVal val="#ppt_x"/>
                                          </p:val>
                                        </p:tav>
                                      </p:tavLst>
                                    </p:anim>
                                    <p:anim calcmode="lin" valueType="num">
                                      <p:cBhvr additive="base">
                                        <p:cTn id="3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P spid="7" grpId="0" animBg="1"/>
      <p:bldP spid="9" grpId="0" animBg="1"/>
      <p:bldP spid="1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978EF9E3-B6E9-4383-94A3-BF40ED8418E3}"/>
              </a:ext>
            </a:extLst>
          </p:cNvPr>
          <p:cNvSpPr txBox="1">
            <a:spLocks noChangeArrowheads="1"/>
          </p:cNvSpPr>
          <p:nvPr/>
        </p:nvSpPr>
        <p:spPr bwMode="auto">
          <a:xfrm>
            <a:off x="323850" y="747712"/>
            <a:ext cx="8820150" cy="2160588"/>
          </a:xfrm>
          <a:prstGeom prst="rect">
            <a:avLst/>
          </a:prstGeom>
          <a:noFill/>
          <a:ln w="12700" cap="sq">
            <a:noFill/>
            <a:miter lim="800000"/>
            <a:headEnd type="none" w="sm" len="sm"/>
            <a:tailEnd type="none" w="sm" len="sm"/>
          </a:ln>
        </p:spPr>
        <p:txBody>
          <a:bodyPr/>
          <a:lstStyle/>
          <a:p>
            <a:pPr marL="263525" lvl="3" indent="-263525" defTabSz="355600">
              <a:lnSpc>
                <a:spcPct val="90000"/>
              </a:lnSpc>
              <a:buClr>
                <a:schemeClr val="bg2"/>
              </a:buClr>
              <a:buSzPct val="70000"/>
              <a:buFont typeface="Wingdings" panose="05000000000000000000" pitchFamily="2" charset="2"/>
              <a:buChar char="n"/>
              <a:defRPr/>
            </a:pPr>
            <a:r>
              <a:rPr lang="zh-CN" altLang="en-US" sz="3600" dirty="0">
                <a:solidFill>
                  <a:schemeClr val="bg2"/>
                </a:solidFill>
                <a:latin typeface="+mn-lt"/>
                <a:ea typeface="楷体" panose="02010609060101010101" pitchFamily="49" charset="-122"/>
              </a:rPr>
              <a:t>将生产者进程的两个</a:t>
            </a:r>
            <a:r>
              <a:rPr lang="en-US" altLang="zh-CN" sz="3600" dirty="0">
                <a:solidFill>
                  <a:schemeClr val="bg2"/>
                </a:solidFill>
                <a:latin typeface="+mn-lt"/>
                <a:ea typeface="楷体" panose="02010609060101010101" pitchFamily="49" charset="-122"/>
              </a:rPr>
              <a:t>P</a:t>
            </a:r>
            <a:r>
              <a:rPr lang="zh-CN" altLang="en-US" sz="3600" dirty="0">
                <a:solidFill>
                  <a:schemeClr val="bg2"/>
                </a:solidFill>
                <a:latin typeface="+mn-lt"/>
                <a:ea typeface="楷体" panose="02010609060101010101" pitchFamily="49" charset="-122"/>
              </a:rPr>
              <a:t>操作颠倒</a:t>
            </a:r>
          </a:p>
          <a:p>
            <a:pPr marL="720725" lvl="4" indent="-263525"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n-lt"/>
                <a:ea typeface="楷体" panose="02010609060101010101" pitchFamily="49" charset="-122"/>
              </a:rPr>
              <a:t>缓冲区满时：发生死锁</a:t>
            </a:r>
          </a:p>
          <a:p>
            <a:pPr marL="263525" lvl="3" indent="-263525" defTabSz="355600">
              <a:lnSpc>
                <a:spcPct val="90000"/>
              </a:lnSpc>
              <a:buClr>
                <a:schemeClr val="bg2"/>
              </a:buClr>
              <a:buSzPct val="70000"/>
              <a:buFont typeface="Wingdings" panose="05000000000000000000" pitchFamily="2" charset="2"/>
              <a:buChar char="n"/>
              <a:defRPr/>
            </a:pPr>
            <a:r>
              <a:rPr lang="zh-CN" altLang="en-US" sz="3600" dirty="0">
                <a:solidFill>
                  <a:schemeClr val="bg2"/>
                </a:solidFill>
                <a:latin typeface="+mn-lt"/>
                <a:ea typeface="楷体" panose="02010609060101010101" pitchFamily="49" charset="-122"/>
              </a:rPr>
              <a:t>将消费者进程的两个</a:t>
            </a:r>
            <a:r>
              <a:rPr lang="en-US" altLang="zh-CN" sz="3600" dirty="0">
                <a:solidFill>
                  <a:schemeClr val="bg2"/>
                </a:solidFill>
                <a:latin typeface="+mn-lt"/>
                <a:ea typeface="楷体" panose="02010609060101010101" pitchFamily="49" charset="-122"/>
              </a:rPr>
              <a:t>P</a:t>
            </a:r>
            <a:r>
              <a:rPr lang="zh-CN" altLang="en-US" sz="3600" dirty="0">
                <a:solidFill>
                  <a:schemeClr val="bg2"/>
                </a:solidFill>
                <a:latin typeface="+mn-lt"/>
                <a:ea typeface="楷体" panose="02010609060101010101" pitchFamily="49" charset="-122"/>
              </a:rPr>
              <a:t>操作颠倒</a:t>
            </a:r>
          </a:p>
          <a:p>
            <a:pPr marL="720725" lvl="4" indent="-263525" defTabSz="355600">
              <a:lnSpc>
                <a:spcPct val="90000"/>
              </a:lnSpc>
              <a:buClr>
                <a:schemeClr val="bg2"/>
              </a:buClr>
              <a:buSzPct val="70000"/>
              <a:buFont typeface="Wingdings" panose="05000000000000000000" pitchFamily="2" charset="2"/>
              <a:buChar char="n"/>
              <a:defRPr/>
            </a:pPr>
            <a:r>
              <a:rPr lang="zh-CN" altLang="en-US" dirty="0">
                <a:solidFill>
                  <a:schemeClr val="bg2"/>
                </a:solidFill>
                <a:latin typeface="+mn-lt"/>
                <a:ea typeface="楷体" panose="02010609060101010101" pitchFamily="49" charset="-122"/>
              </a:rPr>
              <a:t>缓冲区空时：发生死锁</a:t>
            </a:r>
          </a:p>
        </p:txBody>
      </p:sp>
      <p:sp>
        <p:nvSpPr>
          <p:cNvPr id="7" name="Rectangle 4">
            <a:extLst>
              <a:ext uri="{FF2B5EF4-FFF2-40B4-BE49-F238E27FC236}">
                <a16:creationId xmlns:a16="http://schemas.microsoft.com/office/drawing/2014/main" id="{1BD4F0CE-6492-4626-88D1-49256341C664}"/>
              </a:ext>
            </a:extLst>
          </p:cNvPr>
          <p:cNvSpPr txBox="1">
            <a:spLocks noChangeArrowheads="1"/>
          </p:cNvSpPr>
          <p:nvPr/>
        </p:nvSpPr>
        <p:spPr>
          <a:xfrm>
            <a:off x="1214438" y="0"/>
            <a:ext cx="6696075" cy="820738"/>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en-US" altLang="zh-CN" sz="4000" dirty="0">
                <a:solidFill>
                  <a:srgbClr val="006699"/>
                </a:solidFill>
                <a:effectLst>
                  <a:outerShdw blurRad="38100" dist="38100" dir="2700000" algn="tl">
                    <a:srgbClr val="000000">
                      <a:alpha val="43137"/>
                    </a:srgbClr>
                  </a:outerShdw>
                </a:effectLst>
                <a:ea typeface="MS PGothic" pitchFamily="34" charset="-128"/>
              </a:rPr>
              <a:t>P</a:t>
            </a:r>
            <a:r>
              <a:rPr lang="zh-CN" altLang="en-US" sz="4000" dirty="0">
                <a:solidFill>
                  <a:srgbClr val="006699"/>
                </a:solidFill>
                <a:effectLst>
                  <a:outerShdw blurRad="38100" dist="38100" dir="2700000" algn="tl">
                    <a:srgbClr val="000000">
                      <a:alpha val="43137"/>
                    </a:srgbClr>
                  </a:outerShdw>
                </a:effectLst>
                <a:ea typeface="MS PGothic" pitchFamily="34" charset="-128"/>
              </a:rPr>
              <a:t>原语的次序</a:t>
            </a:r>
          </a:p>
        </p:txBody>
      </p:sp>
      <p:sp>
        <p:nvSpPr>
          <p:cNvPr id="8" name="Text Box 5">
            <a:extLst>
              <a:ext uri="{FF2B5EF4-FFF2-40B4-BE49-F238E27FC236}">
                <a16:creationId xmlns:a16="http://schemas.microsoft.com/office/drawing/2014/main" id="{B83FDD4A-4E9B-4C73-8EE0-361515121BE4}"/>
              </a:ext>
            </a:extLst>
          </p:cNvPr>
          <p:cNvSpPr txBox="1">
            <a:spLocks noChangeArrowheads="1"/>
          </p:cNvSpPr>
          <p:nvPr/>
        </p:nvSpPr>
        <p:spPr bwMode="auto">
          <a:xfrm>
            <a:off x="399308" y="3358539"/>
            <a:ext cx="3600450" cy="3041650"/>
          </a:xfrm>
          <a:prstGeom prst="rect">
            <a:avLst/>
          </a:prstGeom>
          <a:noFill/>
          <a:ln w="28575">
            <a:solidFill>
              <a:schemeClr val="hlink"/>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b="1" dirty="0">
                <a:solidFill>
                  <a:schemeClr val="bg2"/>
                </a:solidFill>
              </a:rPr>
              <a:t>deposit(data):</a:t>
            </a:r>
          </a:p>
          <a:p>
            <a:pPr eaLnBrk="1" hangingPunct="1">
              <a:spcBef>
                <a:spcPct val="0"/>
              </a:spcBef>
              <a:buClrTx/>
              <a:buSzTx/>
              <a:buFontTx/>
              <a:buNone/>
            </a:pPr>
            <a:r>
              <a:rPr lang="en-US" altLang="zh-CN" sz="2400" b="1" dirty="0">
                <a:solidFill>
                  <a:schemeClr val="bg2"/>
                </a:solidFill>
              </a:rPr>
              <a:t>begin</a:t>
            </a:r>
          </a:p>
          <a:p>
            <a:pPr eaLnBrk="1" hangingPunct="1">
              <a:spcBef>
                <a:spcPct val="0"/>
              </a:spcBef>
              <a:buClrTx/>
              <a:buSzTx/>
              <a:buFontTx/>
              <a:buNone/>
            </a:pPr>
            <a:r>
              <a:rPr lang="zh-CN" altLang="en-US" sz="2400" b="1" dirty="0">
                <a:solidFill>
                  <a:schemeClr val="bg2"/>
                </a:solidFill>
              </a:rPr>
              <a:t>　　</a:t>
            </a:r>
            <a:r>
              <a:rPr lang="en-US" altLang="zh-CN" sz="2400" b="1" dirty="0">
                <a:solidFill>
                  <a:schemeClr val="bg2"/>
                </a:solidFill>
              </a:rPr>
              <a:t>P(empty)</a:t>
            </a:r>
          </a:p>
          <a:p>
            <a:pPr eaLnBrk="1" hangingPunct="1">
              <a:spcBef>
                <a:spcPct val="0"/>
              </a:spcBef>
              <a:buClrTx/>
              <a:buSzTx/>
              <a:buFontTx/>
              <a:buNone/>
            </a:pPr>
            <a:r>
              <a:rPr lang="zh-CN" altLang="en-US" sz="2400" b="1" dirty="0">
                <a:solidFill>
                  <a:schemeClr val="bg2"/>
                </a:solidFill>
              </a:rPr>
              <a:t>　　</a:t>
            </a:r>
            <a:r>
              <a:rPr lang="en-US" altLang="zh-CN" sz="2400" b="1" dirty="0">
                <a:solidFill>
                  <a:schemeClr val="bg2"/>
                </a:solidFill>
              </a:rPr>
              <a:t>P(</a:t>
            </a:r>
            <a:r>
              <a:rPr lang="en-US" altLang="zh-CN" sz="2400" b="1" dirty="0" err="1">
                <a:solidFill>
                  <a:schemeClr val="bg2"/>
                </a:solidFill>
              </a:rPr>
              <a:t>mutex</a:t>
            </a:r>
            <a:r>
              <a:rPr lang="en-US" altLang="zh-CN" sz="2400" b="1" dirty="0">
                <a:solidFill>
                  <a:schemeClr val="bg2"/>
                </a:solidFill>
              </a:rPr>
              <a:t>)</a:t>
            </a:r>
          </a:p>
          <a:p>
            <a:pPr eaLnBrk="1" hangingPunct="1">
              <a:spcBef>
                <a:spcPct val="0"/>
              </a:spcBef>
              <a:buClrTx/>
              <a:buSzTx/>
              <a:buFontTx/>
              <a:buNone/>
            </a:pPr>
            <a:r>
              <a:rPr lang="zh-CN" altLang="en-US" sz="2400" b="1" dirty="0">
                <a:solidFill>
                  <a:schemeClr val="bg2"/>
                </a:solidFill>
              </a:rPr>
              <a:t>　　</a:t>
            </a:r>
            <a:r>
              <a:rPr lang="zh-CN" altLang="en-US" sz="2000" b="1" dirty="0">
                <a:solidFill>
                  <a:schemeClr val="bg2"/>
                </a:solidFill>
              </a:rPr>
              <a:t>送数据入缓冲区某单元</a:t>
            </a:r>
          </a:p>
          <a:p>
            <a:pPr eaLnBrk="1" hangingPunct="1">
              <a:spcBef>
                <a:spcPct val="0"/>
              </a:spcBef>
              <a:buClrTx/>
              <a:buSzTx/>
              <a:buFontTx/>
              <a:buNone/>
            </a:pPr>
            <a:r>
              <a:rPr lang="zh-CN" altLang="en-US" sz="2400" b="1" dirty="0">
                <a:solidFill>
                  <a:schemeClr val="bg2"/>
                </a:solidFill>
              </a:rPr>
              <a:t>　　</a:t>
            </a:r>
            <a:r>
              <a:rPr lang="en-US" altLang="zh-CN" sz="2400" b="1" dirty="0">
                <a:solidFill>
                  <a:schemeClr val="bg2"/>
                </a:solidFill>
              </a:rPr>
              <a:t>V(full)</a:t>
            </a:r>
          </a:p>
          <a:p>
            <a:pPr eaLnBrk="1" hangingPunct="1">
              <a:spcBef>
                <a:spcPct val="0"/>
              </a:spcBef>
              <a:buClrTx/>
              <a:buSzTx/>
              <a:buFontTx/>
              <a:buNone/>
            </a:pPr>
            <a:r>
              <a:rPr lang="zh-CN" altLang="en-US" sz="2400" b="1" dirty="0">
                <a:solidFill>
                  <a:schemeClr val="bg2"/>
                </a:solidFill>
              </a:rPr>
              <a:t>　　</a:t>
            </a:r>
            <a:r>
              <a:rPr lang="en-US" altLang="zh-CN" sz="2400" b="1" dirty="0">
                <a:solidFill>
                  <a:schemeClr val="bg2"/>
                </a:solidFill>
              </a:rPr>
              <a:t>V(</a:t>
            </a:r>
            <a:r>
              <a:rPr lang="en-US" altLang="zh-CN" sz="2400" b="1" dirty="0" err="1">
                <a:solidFill>
                  <a:schemeClr val="bg2"/>
                </a:solidFill>
              </a:rPr>
              <a:t>mutex</a:t>
            </a:r>
            <a:r>
              <a:rPr lang="en-US" altLang="zh-CN" sz="2400" b="1" dirty="0">
                <a:solidFill>
                  <a:schemeClr val="bg2"/>
                </a:solidFill>
              </a:rPr>
              <a:t>)</a:t>
            </a:r>
          </a:p>
          <a:p>
            <a:pPr eaLnBrk="1" hangingPunct="1">
              <a:spcBef>
                <a:spcPct val="0"/>
              </a:spcBef>
              <a:buClrTx/>
              <a:buSzTx/>
              <a:buFontTx/>
              <a:buNone/>
            </a:pPr>
            <a:r>
              <a:rPr lang="en-US" altLang="zh-CN" sz="2400" b="1" dirty="0">
                <a:solidFill>
                  <a:schemeClr val="bg2"/>
                </a:solidFill>
              </a:rPr>
              <a:t>end</a:t>
            </a:r>
            <a:endParaRPr lang="en-US" altLang="zh-CN" sz="2400" dirty="0">
              <a:solidFill>
                <a:schemeClr val="bg2"/>
              </a:solidFill>
            </a:endParaRPr>
          </a:p>
        </p:txBody>
      </p:sp>
      <p:sp>
        <p:nvSpPr>
          <p:cNvPr id="9" name="Text Box 6">
            <a:extLst>
              <a:ext uri="{FF2B5EF4-FFF2-40B4-BE49-F238E27FC236}">
                <a16:creationId xmlns:a16="http://schemas.microsoft.com/office/drawing/2014/main" id="{1CC51229-936A-41FE-8FAA-ED76215CD076}"/>
              </a:ext>
            </a:extLst>
          </p:cNvPr>
          <p:cNvSpPr txBox="1">
            <a:spLocks noChangeArrowheads="1"/>
          </p:cNvSpPr>
          <p:nvPr/>
        </p:nvSpPr>
        <p:spPr bwMode="auto">
          <a:xfrm>
            <a:off x="4860925" y="3357563"/>
            <a:ext cx="3671888" cy="2981325"/>
          </a:xfrm>
          <a:prstGeom prst="rect">
            <a:avLst/>
          </a:prstGeom>
          <a:noFill/>
          <a:ln w="28575">
            <a:solidFill>
              <a:schemeClr val="hlink"/>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b="1" dirty="0">
                <a:solidFill>
                  <a:schemeClr val="bg2"/>
                </a:solidFill>
              </a:rPr>
              <a:t>remove(data):</a:t>
            </a:r>
          </a:p>
          <a:p>
            <a:pPr eaLnBrk="1" hangingPunct="1">
              <a:spcBef>
                <a:spcPct val="0"/>
              </a:spcBef>
              <a:buClrTx/>
              <a:buSzTx/>
              <a:buFontTx/>
              <a:buNone/>
            </a:pPr>
            <a:r>
              <a:rPr lang="en-US" altLang="zh-CN" sz="2400" b="1" dirty="0">
                <a:solidFill>
                  <a:schemeClr val="bg2"/>
                </a:solidFill>
              </a:rPr>
              <a:t>begin</a:t>
            </a:r>
          </a:p>
          <a:p>
            <a:pPr eaLnBrk="1" hangingPunct="1">
              <a:spcBef>
                <a:spcPct val="0"/>
              </a:spcBef>
              <a:buClrTx/>
              <a:buSzTx/>
              <a:buFontTx/>
              <a:buNone/>
            </a:pPr>
            <a:r>
              <a:rPr lang="zh-CN" altLang="en-US" sz="2400" b="1" dirty="0">
                <a:solidFill>
                  <a:schemeClr val="bg2"/>
                </a:solidFill>
              </a:rPr>
              <a:t>　　</a:t>
            </a:r>
            <a:r>
              <a:rPr lang="en-US" altLang="zh-CN" sz="2400" b="1" dirty="0">
                <a:solidFill>
                  <a:schemeClr val="bg2"/>
                </a:solidFill>
              </a:rPr>
              <a:t>P(full)</a:t>
            </a:r>
          </a:p>
          <a:p>
            <a:pPr eaLnBrk="1" hangingPunct="1">
              <a:spcBef>
                <a:spcPct val="0"/>
              </a:spcBef>
              <a:buClrTx/>
              <a:buSzTx/>
              <a:buFontTx/>
              <a:buNone/>
            </a:pPr>
            <a:r>
              <a:rPr lang="zh-CN" altLang="en-US" sz="2400" b="1" dirty="0">
                <a:solidFill>
                  <a:schemeClr val="bg2"/>
                </a:solidFill>
              </a:rPr>
              <a:t>　　</a:t>
            </a:r>
            <a:r>
              <a:rPr lang="en-US" altLang="zh-CN" sz="2400" b="1" dirty="0">
                <a:solidFill>
                  <a:schemeClr val="bg2"/>
                </a:solidFill>
              </a:rPr>
              <a:t>P(</a:t>
            </a:r>
            <a:r>
              <a:rPr lang="en-US" altLang="zh-CN" sz="2400" b="1" dirty="0" err="1">
                <a:solidFill>
                  <a:schemeClr val="bg2"/>
                </a:solidFill>
              </a:rPr>
              <a:t>mutex</a:t>
            </a:r>
            <a:r>
              <a:rPr lang="en-US" altLang="zh-CN" sz="2400" b="1" dirty="0">
                <a:solidFill>
                  <a:schemeClr val="bg2"/>
                </a:solidFill>
              </a:rPr>
              <a:t>)</a:t>
            </a:r>
          </a:p>
          <a:p>
            <a:pPr eaLnBrk="1" hangingPunct="1">
              <a:spcBef>
                <a:spcPct val="0"/>
              </a:spcBef>
              <a:buClrTx/>
              <a:buSzTx/>
              <a:buFontTx/>
              <a:buNone/>
            </a:pPr>
            <a:r>
              <a:rPr lang="zh-CN" altLang="en-US" sz="2000" b="1" dirty="0">
                <a:solidFill>
                  <a:schemeClr val="bg2"/>
                </a:solidFill>
              </a:rPr>
              <a:t>　　  取缓冲区中某单元数据</a:t>
            </a:r>
          </a:p>
          <a:p>
            <a:pPr eaLnBrk="1" hangingPunct="1">
              <a:spcBef>
                <a:spcPct val="0"/>
              </a:spcBef>
              <a:buClrTx/>
              <a:buSzTx/>
              <a:buFontTx/>
              <a:buNone/>
            </a:pPr>
            <a:r>
              <a:rPr lang="zh-CN" altLang="en-US" sz="2400" b="1" dirty="0">
                <a:solidFill>
                  <a:schemeClr val="bg2"/>
                </a:solidFill>
              </a:rPr>
              <a:t>　　</a:t>
            </a:r>
            <a:r>
              <a:rPr lang="en-US" altLang="zh-CN" sz="2400" b="1" dirty="0">
                <a:solidFill>
                  <a:schemeClr val="bg2"/>
                </a:solidFill>
              </a:rPr>
              <a:t>V(empty)</a:t>
            </a:r>
          </a:p>
          <a:p>
            <a:pPr eaLnBrk="1" hangingPunct="1">
              <a:spcBef>
                <a:spcPct val="0"/>
              </a:spcBef>
              <a:buClrTx/>
              <a:buSzTx/>
              <a:buFontTx/>
              <a:buNone/>
            </a:pPr>
            <a:r>
              <a:rPr lang="zh-CN" altLang="en-US" sz="2400" b="1" dirty="0">
                <a:solidFill>
                  <a:schemeClr val="bg2"/>
                </a:solidFill>
              </a:rPr>
              <a:t>　　</a:t>
            </a:r>
            <a:r>
              <a:rPr lang="en-US" altLang="zh-CN" sz="2400" b="1" dirty="0">
                <a:solidFill>
                  <a:schemeClr val="bg2"/>
                </a:solidFill>
              </a:rPr>
              <a:t>V(</a:t>
            </a:r>
            <a:r>
              <a:rPr lang="en-US" altLang="zh-CN" sz="2400" b="1" dirty="0" err="1">
                <a:solidFill>
                  <a:schemeClr val="bg2"/>
                </a:solidFill>
              </a:rPr>
              <a:t>mutex</a:t>
            </a:r>
            <a:r>
              <a:rPr lang="en-US" altLang="zh-CN" sz="2400" b="1" dirty="0">
                <a:solidFill>
                  <a:schemeClr val="bg2"/>
                </a:solidFill>
              </a:rPr>
              <a:t>)</a:t>
            </a:r>
          </a:p>
          <a:p>
            <a:pPr eaLnBrk="1" hangingPunct="1">
              <a:spcBef>
                <a:spcPct val="0"/>
              </a:spcBef>
              <a:buClrTx/>
              <a:buSzTx/>
              <a:buFontTx/>
              <a:buNone/>
            </a:pPr>
            <a:r>
              <a:rPr lang="en-US" altLang="zh-CN" sz="2400" b="1" dirty="0">
                <a:solidFill>
                  <a:schemeClr val="bg2"/>
                </a:solidFill>
              </a:rPr>
              <a:t>end</a:t>
            </a:r>
          </a:p>
        </p:txBody>
      </p:sp>
      <p:sp>
        <p:nvSpPr>
          <p:cNvPr id="10" name="Text Box 8">
            <a:extLst>
              <a:ext uri="{FF2B5EF4-FFF2-40B4-BE49-F238E27FC236}">
                <a16:creationId xmlns:a16="http://schemas.microsoft.com/office/drawing/2014/main" id="{8B0FEFF8-8E0F-4B0C-8D1F-E00E91F1BB6F}"/>
              </a:ext>
            </a:extLst>
          </p:cNvPr>
          <p:cNvSpPr txBox="1">
            <a:spLocks noChangeArrowheads="1"/>
          </p:cNvSpPr>
          <p:nvPr/>
        </p:nvSpPr>
        <p:spPr bwMode="auto">
          <a:xfrm>
            <a:off x="1043608" y="4047391"/>
            <a:ext cx="1656804" cy="830997"/>
          </a:xfrm>
          <a:prstGeom prst="rect">
            <a:avLst/>
          </a:prstGeom>
          <a:solidFill>
            <a:schemeClr val="accent2"/>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b="1" dirty="0">
                <a:solidFill>
                  <a:schemeClr val="bg2"/>
                </a:solidFill>
              </a:rPr>
              <a:t>P(</a:t>
            </a:r>
            <a:r>
              <a:rPr lang="en-US" altLang="zh-CN" sz="2400" b="1" dirty="0" err="1">
                <a:solidFill>
                  <a:schemeClr val="bg2"/>
                </a:solidFill>
              </a:rPr>
              <a:t>mutex</a:t>
            </a:r>
            <a:r>
              <a:rPr lang="en-US" altLang="zh-CN" sz="2400" b="1" dirty="0">
                <a:solidFill>
                  <a:schemeClr val="bg2"/>
                </a:solidFill>
              </a:rPr>
              <a:t>)</a:t>
            </a:r>
          </a:p>
          <a:p>
            <a:pPr eaLnBrk="1" hangingPunct="1">
              <a:spcBef>
                <a:spcPct val="0"/>
              </a:spcBef>
              <a:buClrTx/>
              <a:buSzTx/>
              <a:buFontTx/>
              <a:buNone/>
            </a:pPr>
            <a:r>
              <a:rPr lang="en-US" altLang="zh-CN" sz="2400" b="1" dirty="0">
                <a:solidFill>
                  <a:schemeClr val="bg2"/>
                </a:solidFill>
              </a:rPr>
              <a:t>P(empty)</a:t>
            </a:r>
          </a:p>
        </p:txBody>
      </p:sp>
      <p:sp>
        <p:nvSpPr>
          <p:cNvPr id="11" name="Text Box 9">
            <a:extLst>
              <a:ext uri="{FF2B5EF4-FFF2-40B4-BE49-F238E27FC236}">
                <a16:creationId xmlns:a16="http://schemas.microsoft.com/office/drawing/2014/main" id="{FBBC897A-E1EE-4B67-95FD-8D833A73D71B}"/>
              </a:ext>
            </a:extLst>
          </p:cNvPr>
          <p:cNvSpPr txBox="1">
            <a:spLocks noChangeArrowheads="1"/>
          </p:cNvSpPr>
          <p:nvPr/>
        </p:nvSpPr>
        <p:spPr bwMode="auto">
          <a:xfrm>
            <a:off x="5508104" y="4047391"/>
            <a:ext cx="1512887" cy="830997"/>
          </a:xfrm>
          <a:prstGeom prst="rect">
            <a:avLst/>
          </a:prstGeom>
          <a:solidFill>
            <a:schemeClr val="accent2"/>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b="1" dirty="0">
                <a:solidFill>
                  <a:schemeClr val="bg2"/>
                </a:solidFill>
              </a:rPr>
              <a:t>P(</a:t>
            </a:r>
            <a:r>
              <a:rPr lang="en-US" altLang="zh-CN" sz="2400" b="1" dirty="0" err="1">
                <a:solidFill>
                  <a:schemeClr val="bg2"/>
                </a:solidFill>
              </a:rPr>
              <a:t>mutex</a:t>
            </a:r>
            <a:r>
              <a:rPr lang="en-US" altLang="zh-CN" sz="2400" b="1" dirty="0">
                <a:solidFill>
                  <a:schemeClr val="bg2"/>
                </a:solidFill>
              </a:rPr>
              <a:t>)</a:t>
            </a:r>
          </a:p>
          <a:p>
            <a:pPr eaLnBrk="1" hangingPunct="1">
              <a:spcBef>
                <a:spcPct val="0"/>
              </a:spcBef>
              <a:buClrTx/>
              <a:buSzTx/>
              <a:buFontTx/>
              <a:buNone/>
            </a:pPr>
            <a:r>
              <a:rPr lang="en-US" altLang="zh-CN" sz="2400" b="1" dirty="0">
                <a:solidFill>
                  <a:schemeClr val="bg2"/>
                </a:solidFill>
              </a:rPr>
              <a:t>P(full)</a:t>
            </a:r>
          </a:p>
        </p:txBody>
      </p:sp>
      <p:sp>
        <p:nvSpPr>
          <p:cNvPr id="12"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088571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checkerboard(across)">
                                      <p:cBhvr>
                                        <p:cTn id="12"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checkerboard(across)">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diamond(in)">
                                      <p:cBhvr>
                                        <p:cTn id="22" dur="20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checkerboard(across)">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nodeType="clickEffect">
                                  <p:stCondLst>
                                    <p:cond delay="0"/>
                                  </p:stCondLst>
                                  <p:childTnLst>
                                    <p:set>
                                      <p:cBhvr>
                                        <p:cTn id="31" dur="1" fill="hold">
                                          <p:stCondLst>
                                            <p:cond delay="0"/>
                                          </p:stCondLst>
                                        </p:cTn>
                                        <p:tgtEl>
                                          <p:spTgt spid="6">
                                            <p:txEl>
                                              <p:pRg st="3" end="3"/>
                                            </p:txEl>
                                          </p:spTgt>
                                        </p:tgtEl>
                                        <p:attrNameLst>
                                          <p:attrName>style.visibility</p:attrName>
                                        </p:attrNameLst>
                                      </p:cBhvr>
                                      <p:to>
                                        <p:strVal val="visible"/>
                                      </p:to>
                                    </p:set>
                                    <p:animEffect transition="in" filter="diamond(in)">
                                      <p:cBhvr>
                                        <p:cTn id="32" dur="2000"/>
                                        <p:tgtEl>
                                          <p:spTgt spid="6">
                                            <p:txEl>
                                              <p:pRg st="3" end="3"/>
                                            </p:txEl>
                                          </p:spTgt>
                                        </p:tgtEl>
                                      </p:cBhvr>
                                    </p:animEffect>
                                  </p:childTnLst>
                                </p:cTn>
                              </p:par>
                            </p:childTnLst>
                          </p:cTn>
                        </p:par>
                        <p:par>
                          <p:cTn id="33" fill="hold">
                            <p:stCondLst>
                              <p:cond delay="2000"/>
                            </p:stCondLst>
                            <p:childTnLst>
                              <p:par>
                                <p:cTn id="34" presetID="2" presetClass="entr" presetSubtype="6"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500" fill="hold"/>
                                        <p:tgtEl>
                                          <p:spTgt spid="12"/>
                                        </p:tgtEl>
                                        <p:attrNameLst>
                                          <p:attrName>ppt_x</p:attrName>
                                        </p:attrNameLst>
                                      </p:cBhvr>
                                      <p:tavLst>
                                        <p:tav tm="0">
                                          <p:val>
                                            <p:strVal val="1+#ppt_w/2"/>
                                          </p:val>
                                        </p:tav>
                                        <p:tav tm="100000">
                                          <p:val>
                                            <p:strVal val="#ppt_x"/>
                                          </p:val>
                                        </p:tav>
                                      </p:tavLst>
                                    </p:anim>
                                    <p:anim calcmode="lin" valueType="num">
                                      <p:cBhvr additive="base">
                                        <p:cTn id="3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11C81CE-371A-44FD-9048-C8C20750025D}"/>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35</a:t>
            </a:fld>
            <a:r>
              <a:rPr lang="zh-CN" altLang="en-US"/>
              <a:t> 页</a:t>
            </a:r>
          </a:p>
        </p:txBody>
      </p:sp>
      <p:sp>
        <p:nvSpPr>
          <p:cNvPr id="5" name="Rectangle 2">
            <a:extLst>
              <a:ext uri="{FF2B5EF4-FFF2-40B4-BE49-F238E27FC236}">
                <a16:creationId xmlns:a16="http://schemas.microsoft.com/office/drawing/2014/main" id="{3D7195B0-EDB8-4B33-9F15-F10449131CC9}"/>
              </a:ext>
            </a:extLst>
          </p:cNvPr>
          <p:cNvSpPr txBox="1">
            <a:spLocks noChangeArrowheads="1"/>
          </p:cNvSpPr>
          <p:nvPr/>
        </p:nvSpPr>
        <p:spPr>
          <a:xfrm>
            <a:off x="2484438" y="0"/>
            <a:ext cx="3671887" cy="765175"/>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en-US" altLang="zh-CN" sz="4000" dirty="0">
                <a:solidFill>
                  <a:srgbClr val="006699"/>
                </a:solidFill>
                <a:effectLst>
                  <a:outerShdw blurRad="38100" dist="38100" dir="2700000" algn="tl">
                    <a:srgbClr val="000000">
                      <a:alpha val="43137"/>
                    </a:srgbClr>
                  </a:outerShdw>
                </a:effectLst>
                <a:ea typeface="MS PGothic" pitchFamily="34" charset="-128"/>
              </a:rPr>
              <a:t>P</a:t>
            </a:r>
            <a:r>
              <a:rPr lang="zh-CN" altLang="en-US" sz="4000" dirty="0">
                <a:solidFill>
                  <a:srgbClr val="006699"/>
                </a:solidFill>
                <a:effectLst>
                  <a:outerShdw blurRad="38100" dist="38100" dir="2700000" algn="tl">
                    <a:srgbClr val="000000">
                      <a:alpha val="43137"/>
                    </a:srgbClr>
                  </a:outerShdw>
                </a:effectLst>
                <a:ea typeface="MS PGothic" pitchFamily="34" charset="-128"/>
              </a:rPr>
              <a:t>、</a:t>
            </a:r>
            <a:r>
              <a:rPr lang="en-US" altLang="zh-CN" sz="4000" dirty="0">
                <a:solidFill>
                  <a:srgbClr val="006699"/>
                </a:solidFill>
                <a:effectLst>
                  <a:outerShdw blurRad="38100" dist="38100" dir="2700000" algn="tl">
                    <a:srgbClr val="000000">
                      <a:alpha val="43137"/>
                    </a:srgbClr>
                  </a:outerShdw>
                </a:effectLst>
                <a:ea typeface="MS PGothic" pitchFamily="34" charset="-128"/>
              </a:rPr>
              <a:t>V </a:t>
            </a:r>
            <a:r>
              <a:rPr lang="zh-CN" altLang="en-US" sz="4000" dirty="0">
                <a:solidFill>
                  <a:srgbClr val="006699"/>
                </a:solidFill>
                <a:effectLst>
                  <a:outerShdw blurRad="38100" dist="38100" dir="2700000" algn="tl">
                    <a:srgbClr val="000000">
                      <a:alpha val="43137"/>
                    </a:srgbClr>
                  </a:outerShdw>
                </a:effectLst>
                <a:ea typeface="MS PGothic" pitchFamily="34" charset="-128"/>
              </a:rPr>
              <a:t>操作讨论</a:t>
            </a:r>
          </a:p>
        </p:txBody>
      </p:sp>
      <p:sp>
        <p:nvSpPr>
          <p:cNvPr id="6" name="Rectangle 4">
            <a:extLst>
              <a:ext uri="{FF2B5EF4-FFF2-40B4-BE49-F238E27FC236}">
                <a16:creationId xmlns:a16="http://schemas.microsoft.com/office/drawing/2014/main" id="{7FD00001-A085-44DB-9AF2-EEDB60C1414C}"/>
              </a:ext>
            </a:extLst>
          </p:cNvPr>
          <p:cNvSpPr txBox="1">
            <a:spLocks noChangeArrowheads="1"/>
          </p:cNvSpPr>
          <p:nvPr/>
        </p:nvSpPr>
        <p:spPr>
          <a:xfrm>
            <a:off x="251520" y="1181100"/>
            <a:ext cx="8695884" cy="4495800"/>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lumMod val="75000"/>
                </a:schemeClr>
              </a:buClr>
              <a:buSzPct val="110000"/>
              <a:buFont typeface="Wingdings" panose="05000000000000000000" pitchFamily="2" charset="2"/>
              <a:buChar char="n"/>
              <a:defRPr/>
            </a:pP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P</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 </a:t>
            </a: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V</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操作必须成对出现</a:t>
            </a:r>
          </a:p>
          <a:p>
            <a:pPr marL="355600" lvl="2" indent="-355600" defTabSz="355600">
              <a:lnSpc>
                <a:spcPct val="90000"/>
              </a:lnSpc>
              <a:spcBef>
                <a:spcPct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互斥操作：处于同一进程</a:t>
            </a:r>
          </a:p>
          <a:p>
            <a:pPr marL="355600" lvl="2" indent="-355600" defTabSz="355600">
              <a:lnSpc>
                <a:spcPct val="90000"/>
              </a:lnSpc>
              <a:spcBef>
                <a:spcPct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同步操作：不在同一进程中</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355600" lvl="2" indent="-355600" defTabSz="355600">
              <a:lnSpc>
                <a:spcPct val="90000"/>
              </a:lnSpc>
              <a:spcBef>
                <a:spcPct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两个</a:t>
            </a: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P</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操作在一起，顺序至关重要</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effectLst/>
                <a:ea typeface="楷体" panose="02010609060101010101" pitchFamily="49" charset="-122"/>
              </a:rPr>
              <a:t>一个同步</a:t>
            </a:r>
            <a:r>
              <a:rPr lang="en-US" altLang="zh-CN" sz="3200" dirty="0">
                <a:solidFill>
                  <a:schemeClr val="bg2"/>
                </a:solidFill>
                <a:effectLst/>
                <a:ea typeface="楷体" panose="02010609060101010101" pitchFamily="49" charset="-122"/>
              </a:rPr>
              <a:t>P</a:t>
            </a:r>
            <a:r>
              <a:rPr lang="zh-CN" altLang="en-US" sz="3200" dirty="0">
                <a:solidFill>
                  <a:schemeClr val="bg2"/>
                </a:solidFill>
                <a:effectLst/>
                <a:ea typeface="楷体" panose="02010609060101010101" pitchFamily="49" charset="-122"/>
              </a:rPr>
              <a:t>操作与一个互斥</a:t>
            </a:r>
            <a:r>
              <a:rPr lang="en-US" altLang="zh-CN" sz="3200" dirty="0">
                <a:solidFill>
                  <a:schemeClr val="bg2"/>
                </a:solidFill>
                <a:effectLst/>
                <a:ea typeface="楷体" panose="02010609060101010101" pitchFamily="49" charset="-122"/>
              </a:rPr>
              <a:t>P</a:t>
            </a:r>
            <a:r>
              <a:rPr lang="zh-CN" altLang="en-US" sz="3200" dirty="0">
                <a:solidFill>
                  <a:schemeClr val="bg2"/>
                </a:solidFill>
                <a:effectLst/>
                <a:ea typeface="楷体" panose="02010609060101010101" pitchFamily="49" charset="-122"/>
              </a:rPr>
              <a:t>操作在一起：</a:t>
            </a:r>
            <a:r>
              <a:rPr lang="en-US" altLang="zh-CN" sz="3200" dirty="0">
                <a:solidFill>
                  <a:schemeClr val="bg2"/>
                </a:solidFill>
                <a:effectLst/>
                <a:ea typeface="楷体" panose="02010609060101010101" pitchFamily="49" charset="-122"/>
              </a:rPr>
              <a:t>   </a:t>
            </a:r>
            <a:r>
              <a:rPr lang="zh-CN" altLang="en-US" sz="3200" dirty="0">
                <a:solidFill>
                  <a:schemeClr val="bg2"/>
                </a:solidFill>
                <a:effectLst/>
                <a:ea typeface="楷体" panose="02010609060101010101" pitchFamily="49" charset="-122"/>
              </a:rPr>
              <a:t>同步</a:t>
            </a:r>
            <a:r>
              <a:rPr lang="en-US" altLang="zh-CN" sz="3200" dirty="0">
                <a:solidFill>
                  <a:schemeClr val="bg2"/>
                </a:solidFill>
                <a:effectLst/>
                <a:ea typeface="楷体" panose="02010609060101010101" pitchFamily="49" charset="-122"/>
              </a:rPr>
              <a:t>P</a:t>
            </a:r>
            <a:r>
              <a:rPr lang="zh-CN" altLang="en-US" sz="3200" dirty="0">
                <a:solidFill>
                  <a:schemeClr val="bg2"/>
                </a:solidFill>
                <a:effectLst/>
                <a:ea typeface="楷体" panose="02010609060101010101" pitchFamily="49" charset="-122"/>
              </a:rPr>
              <a:t>操作在前</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effectLst/>
                <a:ea typeface="楷体" panose="02010609060101010101" pitchFamily="49" charset="-122"/>
              </a:rPr>
              <a:t>两个</a:t>
            </a:r>
            <a:r>
              <a:rPr lang="en-US" altLang="zh-CN" sz="3200" dirty="0">
                <a:solidFill>
                  <a:schemeClr val="bg2"/>
                </a:solidFill>
                <a:effectLst/>
                <a:ea typeface="楷体" panose="02010609060101010101" pitchFamily="49" charset="-122"/>
              </a:rPr>
              <a:t>V</a:t>
            </a:r>
            <a:r>
              <a:rPr lang="zh-CN" altLang="en-US" sz="3200" dirty="0">
                <a:solidFill>
                  <a:schemeClr val="bg2"/>
                </a:solidFill>
                <a:effectLst/>
                <a:ea typeface="楷体" panose="02010609060101010101" pitchFamily="49" charset="-122"/>
              </a:rPr>
              <a:t>操作顺序无关紧要</a:t>
            </a: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208236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a:extLst>
              <a:ext uri="{FF2B5EF4-FFF2-40B4-BE49-F238E27FC236}">
                <a16:creationId xmlns:a16="http://schemas.microsoft.com/office/drawing/2014/main" id="{0D019F23-7673-42DA-8757-FE10668B2100}"/>
              </a:ext>
            </a:extLst>
          </p:cNvPr>
          <p:cNvSpPr txBox="1">
            <a:spLocks noChangeArrowheads="1"/>
          </p:cNvSpPr>
          <p:nvPr/>
        </p:nvSpPr>
        <p:spPr bwMode="auto">
          <a:xfrm>
            <a:off x="0" y="0"/>
            <a:ext cx="9144000" cy="1631216"/>
          </a:xfrm>
          <a:prstGeom prst="rect">
            <a:avLst/>
          </a:prstGeom>
          <a:solidFill>
            <a:schemeClr val="tx1">
              <a:lumMod val="85000"/>
            </a:schemeClr>
          </a:solidFill>
          <a:ln>
            <a:noFill/>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800" kern="0" dirty="0">
                <a:solidFill>
                  <a:schemeClr val="bg2"/>
                </a:solidFill>
              </a:rPr>
              <a:t> [</a:t>
            </a:r>
            <a:r>
              <a:rPr lang="zh-CN" altLang="en-US" sz="2800" kern="0" dirty="0">
                <a:solidFill>
                  <a:schemeClr val="bg2"/>
                </a:solidFill>
              </a:rPr>
              <a:t>例</a:t>
            </a:r>
            <a:r>
              <a:rPr lang="en-US" altLang="zh-CN" sz="2800" kern="0" dirty="0">
                <a:solidFill>
                  <a:schemeClr val="bg2"/>
                </a:solidFill>
              </a:rPr>
              <a:t>5.4]</a:t>
            </a:r>
            <a:r>
              <a:rPr lang="en-US" altLang="zh-CN" sz="2400" b="1" dirty="0">
                <a:solidFill>
                  <a:schemeClr val="bg2"/>
                </a:solidFill>
              </a:rPr>
              <a:t>A</a:t>
            </a:r>
            <a:r>
              <a:rPr lang="zh-CN" altLang="en-US" sz="2400" b="1" dirty="0">
                <a:solidFill>
                  <a:schemeClr val="bg2"/>
                </a:solidFill>
              </a:rPr>
              <a:t>、</a:t>
            </a:r>
            <a:r>
              <a:rPr lang="en-US" altLang="zh-CN" sz="2400" b="1" dirty="0">
                <a:solidFill>
                  <a:schemeClr val="bg2"/>
                </a:solidFill>
              </a:rPr>
              <a:t>B </a:t>
            </a:r>
            <a:r>
              <a:rPr lang="zh-CN" altLang="en-US" sz="2400" b="1" dirty="0">
                <a:solidFill>
                  <a:schemeClr val="bg2"/>
                </a:solidFill>
              </a:rPr>
              <a:t>两人通过信箱进行辩论，每人都从自己的信箱中取得对方的问题。将答案和向对方提出的新问题组成一个邮件放入对方的邮箱中。设</a:t>
            </a:r>
            <a:r>
              <a:rPr lang="en-US" altLang="zh-CN" sz="2400" b="1" dirty="0">
                <a:solidFill>
                  <a:schemeClr val="bg2"/>
                </a:solidFill>
              </a:rPr>
              <a:t> A </a:t>
            </a:r>
            <a:r>
              <a:rPr lang="zh-CN" altLang="en-US" sz="2400" b="1" dirty="0">
                <a:solidFill>
                  <a:schemeClr val="bg2"/>
                </a:solidFill>
              </a:rPr>
              <a:t>的信箱最多放</a:t>
            </a:r>
            <a:r>
              <a:rPr lang="en-US" altLang="zh-CN" sz="2400" b="1" dirty="0">
                <a:solidFill>
                  <a:schemeClr val="bg2"/>
                </a:solidFill>
              </a:rPr>
              <a:t>M </a:t>
            </a:r>
            <a:r>
              <a:rPr lang="zh-CN" altLang="en-US" sz="2400" b="1" dirty="0">
                <a:solidFill>
                  <a:schemeClr val="bg2"/>
                </a:solidFill>
              </a:rPr>
              <a:t>个邮件，</a:t>
            </a:r>
            <a:r>
              <a:rPr lang="en-US" altLang="zh-CN" sz="2400" b="1" dirty="0">
                <a:solidFill>
                  <a:schemeClr val="bg2"/>
                </a:solidFill>
              </a:rPr>
              <a:t>B </a:t>
            </a:r>
            <a:r>
              <a:rPr lang="zh-CN" altLang="en-US" sz="2400" b="1" dirty="0">
                <a:solidFill>
                  <a:schemeClr val="bg2"/>
                </a:solidFill>
              </a:rPr>
              <a:t>的信箱最多放</a:t>
            </a:r>
            <a:r>
              <a:rPr lang="en-US" altLang="zh-CN" sz="2400" b="1" dirty="0">
                <a:solidFill>
                  <a:schemeClr val="bg2"/>
                </a:solidFill>
              </a:rPr>
              <a:t> N </a:t>
            </a:r>
            <a:r>
              <a:rPr lang="zh-CN" altLang="en-US" sz="2400" b="1" dirty="0">
                <a:solidFill>
                  <a:schemeClr val="bg2"/>
                </a:solidFill>
              </a:rPr>
              <a:t>个邮件。初始时</a:t>
            </a:r>
            <a:r>
              <a:rPr lang="en-US" altLang="zh-CN" sz="2400" b="1" dirty="0">
                <a:solidFill>
                  <a:schemeClr val="bg2"/>
                </a:solidFill>
              </a:rPr>
              <a:t> A </a:t>
            </a:r>
            <a:r>
              <a:rPr lang="zh-CN" altLang="en-US" sz="2400" b="1" dirty="0">
                <a:solidFill>
                  <a:schemeClr val="bg2"/>
                </a:solidFill>
              </a:rPr>
              <a:t>的信箱中有</a:t>
            </a:r>
            <a:r>
              <a:rPr lang="en-US" altLang="zh-CN" sz="2400" b="1" dirty="0">
                <a:solidFill>
                  <a:schemeClr val="bg2"/>
                </a:solidFill>
              </a:rPr>
              <a:t> x </a:t>
            </a:r>
            <a:r>
              <a:rPr lang="zh-CN" altLang="en-US" sz="2400" b="1" dirty="0">
                <a:solidFill>
                  <a:schemeClr val="bg2"/>
                </a:solidFill>
              </a:rPr>
              <a:t>个邮件</a:t>
            </a:r>
            <a:r>
              <a:rPr lang="en-US" altLang="zh-CN" sz="2400" b="1" dirty="0">
                <a:solidFill>
                  <a:schemeClr val="bg2"/>
                </a:solidFill>
              </a:rPr>
              <a:t>, B </a:t>
            </a:r>
            <a:r>
              <a:rPr lang="zh-CN" altLang="en-US" sz="2400" b="1" dirty="0">
                <a:solidFill>
                  <a:schemeClr val="bg2"/>
                </a:solidFill>
              </a:rPr>
              <a:t>的信箱没有邮件。</a:t>
            </a:r>
            <a:r>
              <a:rPr lang="en-US" altLang="zh-CN" sz="2400" b="1" dirty="0">
                <a:solidFill>
                  <a:schemeClr val="bg2"/>
                </a:solidFill>
              </a:rPr>
              <a:t>(2015)</a:t>
            </a:r>
            <a:endParaRPr lang="zh-CN" altLang="en-US" sz="2400" b="1" dirty="0">
              <a:solidFill>
                <a:schemeClr val="bg2"/>
              </a:solidFill>
            </a:endParaRPr>
          </a:p>
        </p:txBody>
      </p:sp>
      <p:sp>
        <p:nvSpPr>
          <p:cNvPr id="6" name="TextBox 6">
            <a:extLst>
              <a:ext uri="{FF2B5EF4-FFF2-40B4-BE49-F238E27FC236}">
                <a16:creationId xmlns:a16="http://schemas.microsoft.com/office/drawing/2014/main" id="{0A81BAEF-BD19-437C-BDD4-BFBA8662DDA2}"/>
              </a:ext>
            </a:extLst>
          </p:cNvPr>
          <p:cNvSpPr txBox="1">
            <a:spLocks noChangeArrowheads="1"/>
          </p:cNvSpPr>
          <p:nvPr/>
        </p:nvSpPr>
        <p:spPr bwMode="auto">
          <a:xfrm>
            <a:off x="0" y="1857375"/>
            <a:ext cx="4429125" cy="3046413"/>
          </a:xfrm>
          <a:prstGeom prst="rect">
            <a:avLst/>
          </a:prstGeom>
          <a:solidFill>
            <a:srgbClr val="DDDAF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b="1">
                <a:solidFill>
                  <a:schemeClr val="bg2"/>
                </a:solidFill>
              </a:rPr>
              <a:t>Code Begin</a:t>
            </a:r>
            <a:endParaRPr lang="zh-CN" altLang="en-US" sz="2400" b="1">
              <a:solidFill>
                <a:schemeClr val="bg2"/>
              </a:solidFill>
            </a:endParaRPr>
          </a:p>
          <a:p>
            <a:pPr eaLnBrk="1" hangingPunct="1">
              <a:spcBef>
                <a:spcPct val="0"/>
              </a:spcBef>
              <a:buClrTx/>
              <a:buSzTx/>
              <a:buFontTx/>
              <a:buNone/>
            </a:pPr>
            <a:r>
              <a:rPr lang="en-US" altLang="zh-CN" sz="2400" b="1">
                <a:solidFill>
                  <a:schemeClr val="bg2"/>
                </a:solidFill>
              </a:rPr>
              <a:t>A{</a:t>
            </a:r>
            <a:endParaRPr lang="zh-CN" altLang="en-US" sz="2400" b="1">
              <a:solidFill>
                <a:schemeClr val="bg2"/>
              </a:solidFill>
            </a:endParaRPr>
          </a:p>
          <a:p>
            <a:pPr eaLnBrk="1" hangingPunct="1">
              <a:spcBef>
                <a:spcPct val="0"/>
              </a:spcBef>
              <a:buClrTx/>
              <a:buSzTx/>
              <a:buFontTx/>
              <a:buNone/>
            </a:pPr>
            <a:r>
              <a:rPr lang="en-US" altLang="zh-CN" sz="2400" b="1">
                <a:solidFill>
                  <a:schemeClr val="bg2"/>
                </a:solidFill>
              </a:rPr>
              <a:t>while(TRUE){</a:t>
            </a:r>
            <a:endParaRPr lang="zh-CN" altLang="en-US" sz="2400" b="1">
              <a:solidFill>
                <a:schemeClr val="bg2"/>
              </a:solidFill>
            </a:endParaRPr>
          </a:p>
          <a:p>
            <a:pPr eaLnBrk="1" hangingPunct="1">
              <a:spcBef>
                <a:spcPct val="0"/>
              </a:spcBef>
              <a:buClrTx/>
              <a:buSzTx/>
              <a:buFontTx/>
              <a:buNone/>
            </a:pPr>
            <a:r>
              <a:rPr lang="en-US" altLang="zh-CN" sz="2400" b="1">
                <a:solidFill>
                  <a:schemeClr val="bg2"/>
                </a:solidFill>
              </a:rPr>
              <a:t>      </a:t>
            </a:r>
            <a:r>
              <a:rPr lang="zh-CN" altLang="en-US" sz="2400" b="1">
                <a:solidFill>
                  <a:schemeClr val="bg2"/>
                </a:solidFill>
              </a:rPr>
              <a:t>从</a:t>
            </a:r>
            <a:r>
              <a:rPr lang="en-US" altLang="zh-CN" sz="2400" b="1">
                <a:solidFill>
                  <a:schemeClr val="bg2"/>
                </a:solidFill>
              </a:rPr>
              <a:t>A </a:t>
            </a:r>
            <a:r>
              <a:rPr lang="zh-CN" altLang="en-US" sz="2400" b="1">
                <a:solidFill>
                  <a:schemeClr val="bg2"/>
                </a:solidFill>
              </a:rPr>
              <a:t>的信箱中取出一个邮件；</a:t>
            </a:r>
          </a:p>
          <a:p>
            <a:pPr eaLnBrk="1" hangingPunct="1">
              <a:spcBef>
                <a:spcPct val="0"/>
              </a:spcBef>
              <a:buClrTx/>
              <a:buSzTx/>
              <a:buFontTx/>
              <a:buNone/>
            </a:pPr>
            <a:r>
              <a:rPr lang="zh-CN" altLang="en-US" sz="2400" b="1">
                <a:solidFill>
                  <a:schemeClr val="bg2"/>
                </a:solidFill>
              </a:rPr>
              <a:t>      回答问题并提出一个新问题；</a:t>
            </a:r>
          </a:p>
          <a:p>
            <a:pPr eaLnBrk="1" hangingPunct="1">
              <a:spcBef>
                <a:spcPct val="0"/>
              </a:spcBef>
              <a:buClrTx/>
              <a:buSzTx/>
              <a:buFontTx/>
              <a:buNone/>
            </a:pPr>
            <a:r>
              <a:rPr lang="en-US" altLang="zh-CN" sz="2400" b="1">
                <a:solidFill>
                  <a:schemeClr val="bg2"/>
                </a:solidFill>
              </a:rPr>
              <a:t>      </a:t>
            </a:r>
            <a:r>
              <a:rPr lang="zh-CN" altLang="en-US" sz="2400" b="1">
                <a:solidFill>
                  <a:schemeClr val="bg2"/>
                </a:solidFill>
              </a:rPr>
              <a:t>将新邮件放入</a:t>
            </a:r>
            <a:r>
              <a:rPr lang="en-US" altLang="zh-CN" sz="2400" b="1">
                <a:solidFill>
                  <a:schemeClr val="bg2"/>
                </a:solidFill>
              </a:rPr>
              <a:t>B </a:t>
            </a:r>
            <a:r>
              <a:rPr lang="zh-CN" altLang="en-US" sz="2400" b="1">
                <a:solidFill>
                  <a:schemeClr val="bg2"/>
                </a:solidFill>
              </a:rPr>
              <a:t>的信箱；</a:t>
            </a:r>
          </a:p>
          <a:p>
            <a:pPr eaLnBrk="1" hangingPunct="1">
              <a:spcBef>
                <a:spcPct val="0"/>
              </a:spcBef>
              <a:buClrTx/>
              <a:buSzTx/>
              <a:buFontTx/>
              <a:buNone/>
            </a:pPr>
            <a:r>
              <a:rPr lang="en-US" altLang="zh-CN" sz="2400" b="1">
                <a:solidFill>
                  <a:schemeClr val="bg2"/>
                </a:solidFill>
              </a:rPr>
              <a:t>       }</a:t>
            </a:r>
            <a:endParaRPr lang="zh-CN" altLang="en-US" sz="2400" b="1">
              <a:solidFill>
                <a:schemeClr val="bg2"/>
              </a:solidFill>
            </a:endParaRPr>
          </a:p>
          <a:p>
            <a:pPr eaLnBrk="1" hangingPunct="1">
              <a:spcBef>
                <a:spcPct val="0"/>
              </a:spcBef>
              <a:buClrTx/>
              <a:buSzTx/>
              <a:buFontTx/>
              <a:buNone/>
            </a:pPr>
            <a:r>
              <a:rPr lang="en-US" altLang="zh-CN" sz="2400" b="1">
                <a:solidFill>
                  <a:schemeClr val="bg2"/>
                </a:solidFill>
              </a:rPr>
              <a:t>}</a:t>
            </a:r>
            <a:endParaRPr lang="zh-CN" altLang="en-US" sz="2400" b="1">
              <a:solidFill>
                <a:schemeClr val="bg2"/>
              </a:solidFill>
            </a:endParaRPr>
          </a:p>
        </p:txBody>
      </p:sp>
      <p:sp>
        <p:nvSpPr>
          <p:cNvPr id="7" name="TextBox 7">
            <a:extLst>
              <a:ext uri="{FF2B5EF4-FFF2-40B4-BE49-F238E27FC236}">
                <a16:creationId xmlns:a16="http://schemas.microsoft.com/office/drawing/2014/main" id="{D7ACE6FA-152F-4B36-80AB-E3BA1FD3F475}"/>
              </a:ext>
            </a:extLst>
          </p:cNvPr>
          <p:cNvSpPr txBox="1">
            <a:spLocks noChangeArrowheads="1"/>
          </p:cNvSpPr>
          <p:nvPr/>
        </p:nvSpPr>
        <p:spPr bwMode="auto">
          <a:xfrm>
            <a:off x="4714875" y="1857375"/>
            <a:ext cx="4429125" cy="3046413"/>
          </a:xfrm>
          <a:prstGeom prst="rect">
            <a:avLst/>
          </a:prstGeom>
          <a:solidFill>
            <a:srgbClr val="DDDAF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b="1">
                <a:solidFill>
                  <a:schemeClr val="bg2"/>
                </a:solidFill>
              </a:rPr>
              <a:t>B{</a:t>
            </a:r>
            <a:endParaRPr lang="zh-CN" altLang="en-US" sz="2400" b="1">
              <a:solidFill>
                <a:schemeClr val="bg2"/>
              </a:solidFill>
            </a:endParaRPr>
          </a:p>
          <a:p>
            <a:pPr eaLnBrk="1" hangingPunct="1">
              <a:spcBef>
                <a:spcPct val="0"/>
              </a:spcBef>
              <a:buClrTx/>
              <a:buSzTx/>
              <a:buFontTx/>
              <a:buNone/>
            </a:pPr>
            <a:r>
              <a:rPr lang="en-US" altLang="zh-CN" sz="2400" b="1">
                <a:solidFill>
                  <a:schemeClr val="bg2"/>
                </a:solidFill>
              </a:rPr>
              <a:t>while(TRUE){</a:t>
            </a:r>
            <a:endParaRPr lang="zh-CN" altLang="en-US" sz="2400" b="1">
              <a:solidFill>
                <a:schemeClr val="bg2"/>
              </a:solidFill>
            </a:endParaRPr>
          </a:p>
          <a:p>
            <a:pPr eaLnBrk="1" hangingPunct="1">
              <a:spcBef>
                <a:spcPct val="0"/>
              </a:spcBef>
              <a:buClrTx/>
              <a:buSzTx/>
              <a:buFontTx/>
              <a:buNone/>
            </a:pPr>
            <a:r>
              <a:rPr lang="zh-CN" altLang="en-US" sz="2400" b="1">
                <a:solidFill>
                  <a:schemeClr val="bg2"/>
                </a:solidFill>
              </a:rPr>
              <a:t>    从</a:t>
            </a:r>
            <a:r>
              <a:rPr lang="en-US" altLang="zh-CN" sz="2400" b="1">
                <a:solidFill>
                  <a:schemeClr val="bg2"/>
                </a:solidFill>
              </a:rPr>
              <a:t>B </a:t>
            </a:r>
            <a:r>
              <a:rPr lang="zh-CN" altLang="en-US" sz="2400" b="1">
                <a:solidFill>
                  <a:schemeClr val="bg2"/>
                </a:solidFill>
              </a:rPr>
              <a:t>的信箱中取出一个邮件；</a:t>
            </a:r>
          </a:p>
          <a:p>
            <a:pPr eaLnBrk="1" hangingPunct="1">
              <a:spcBef>
                <a:spcPct val="0"/>
              </a:spcBef>
              <a:buClrTx/>
              <a:buSzTx/>
              <a:buFontTx/>
              <a:buNone/>
            </a:pPr>
            <a:r>
              <a:rPr lang="zh-CN" altLang="en-US" sz="2400" b="1">
                <a:solidFill>
                  <a:schemeClr val="bg2"/>
                </a:solidFill>
              </a:rPr>
              <a:t>    回答问题并提出一个新问题；</a:t>
            </a:r>
          </a:p>
          <a:p>
            <a:pPr eaLnBrk="1" hangingPunct="1">
              <a:spcBef>
                <a:spcPct val="0"/>
              </a:spcBef>
              <a:buClrTx/>
              <a:buSzTx/>
              <a:buFontTx/>
              <a:buNone/>
            </a:pPr>
            <a:r>
              <a:rPr lang="zh-CN" altLang="en-US" sz="2400" b="1">
                <a:solidFill>
                  <a:schemeClr val="bg2"/>
                </a:solidFill>
              </a:rPr>
              <a:t>   将新邮件放入</a:t>
            </a:r>
            <a:r>
              <a:rPr lang="en-US" altLang="zh-CN" sz="2400" b="1">
                <a:solidFill>
                  <a:schemeClr val="bg2"/>
                </a:solidFill>
              </a:rPr>
              <a:t>A </a:t>
            </a:r>
            <a:r>
              <a:rPr lang="zh-CN" altLang="en-US" sz="2400" b="1">
                <a:solidFill>
                  <a:schemeClr val="bg2"/>
                </a:solidFill>
              </a:rPr>
              <a:t>的信箱；</a:t>
            </a:r>
          </a:p>
          <a:p>
            <a:pPr eaLnBrk="1" hangingPunct="1">
              <a:spcBef>
                <a:spcPct val="0"/>
              </a:spcBef>
              <a:buClrTx/>
              <a:buSzTx/>
              <a:buFontTx/>
              <a:buNone/>
            </a:pPr>
            <a:r>
              <a:rPr lang="en-US" altLang="zh-CN" sz="2400" b="1">
                <a:solidFill>
                  <a:schemeClr val="bg2"/>
                </a:solidFill>
              </a:rPr>
              <a:t>   }</a:t>
            </a:r>
            <a:endParaRPr lang="zh-CN" altLang="en-US" sz="2400" b="1">
              <a:solidFill>
                <a:schemeClr val="bg2"/>
              </a:solidFill>
            </a:endParaRPr>
          </a:p>
          <a:p>
            <a:pPr eaLnBrk="1" hangingPunct="1">
              <a:spcBef>
                <a:spcPct val="0"/>
              </a:spcBef>
              <a:buClrTx/>
              <a:buSzTx/>
              <a:buFontTx/>
              <a:buNone/>
            </a:pPr>
            <a:r>
              <a:rPr lang="en-US" altLang="zh-CN" sz="2400" b="1">
                <a:solidFill>
                  <a:schemeClr val="bg2"/>
                </a:solidFill>
              </a:rPr>
              <a:t>}</a:t>
            </a:r>
            <a:endParaRPr lang="zh-CN" altLang="en-US" sz="2400" b="1">
              <a:solidFill>
                <a:schemeClr val="bg2"/>
              </a:solidFill>
            </a:endParaRPr>
          </a:p>
          <a:p>
            <a:pPr eaLnBrk="1" hangingPunct="1">
              <a:spcBef>
                <a:spcPct val="0"/>
              </a:spcBef>
              <a:buClrTx/>
              <a:buSzTx/>
              <a:buFontTx/>
              <a:buNone/>
            </a:pPr>
            <a:r>
              <a:rPr lang="en-US" altLang="zh-CN" sz="2400" b="1">
                <a:solidFill>
                  <a:schemeClr val="bg2"/>
                </a:solidFill>
              </a:rPr>
              <a:t>Code End</a:t>
            </a:r>
            <a:endParaRPr lang="zh-CN" altLang="en-US" sz="2400" b="1">
              <a:solidFill>
                <a:schemeClr val="bg2"/>
              </a:solidFill>
            </a:endParaRPr>
          </a:p>
        </p:txBody>
      </p:sp>
      <p:sp>
        <p:nvSpPr>
          <p:cNvPr id="8" name="TextBox 8">
            <a:extLst>
              <a:ext uri="{FF2B5EF4-FFF2-40B4-BE49-F238E27FC236}">
                <a16:creationId xmlns:a16="http://schemas.microsoft.com/office/drawing/2014/main" id="{A646B5D8-D105-4ACB-8CB8-29C94D89194C}"/>
              </a:ext>
            </a:extLst>
          </p:cNvPr>
          <p:cNvSpPr txBox="1">
            <a:spLocks noChangeArrowheads="1"/>
          </p:cNvSpPr>
          <p:nvPr/>
        </p:nvSpPr>
        <p:spPr bwMode="auto">
          <a:xfrm>
            <a:off x="0" y="4919663"/>
            <a:ext cx="892968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b="1" dirty="0">
                <a:solidFill>
                  <a:schemeClr val="bg2"/>
                </a:solidFill>
              </a:rPr>
              <a:t>当信箱不为空时，才能从信箱中取邮件，否则等待。</a:t>
            </a:r>
          </a:p>
          <a:p>
            <a:pPr eaLnBrk="1" hangingPunct="1">
              <a:spcBef>
                <a:spcPct val="0"/>
              </a:spcBef>
              <a:buClrTx/>
              <a:buSzTx/>
              <a:buFontTx/>
              <a:buNone/>
            </a:pPr>
            <a:r>
              <a:rPr lang="zh-CN" altLang="en-US" sz="2400" b="1" dirty="0">
                <a:solidFill>
                  <a:schemeClr val="bg2"/>
                </a:solidFill>
              </a:rPr>
              <a:t>当信箱不满时，才能将新邮件放入信箱，否则等待。</a:t>
            </a:r>
          </a:p>
          <a:p>
            <a:pPr eaLnBrk="1" hangingPunct="1">
              <a:spcBef>
                <a:spcPct val="0"/>
              </a:spcBef>
              <a:buClrTx/>
              <a:buSzTx/>
              <a:buFontTx/>
              <a:buNone/>
            </a:pPr>
            <a:r>
              <a:rPr lang="zh-CN" altLang="en-US" sz="2400" b="1" dirty="0">
                <a:solidFill>
                  <a:schemeClr val="bg2"/>
                </a:solidFill>
              </a:rPr>
              <a:t>请添加必要的信号量和</a:t>
            </a:r>
            <a:r>
              <a:rPr lang="en-US" altLang="zh-CN" sz="2400" b="1" dirty="0">
                <a:solidFill>
                  <a:schemeClr val="bg2"/>
                </a:solidFill>
              </a:rPr>
              <a:t>P</a:t>
            </a:r>
            <a:r>
              <a:rPr lang="zh-CN" altLang="en-US" sz="2400" b="1" dirty="0">
                <a:solidFill>
                  <a:schemeClr val="bg2"/>
                </a:solidFill>
              </a:rPr>
              <a:t>、</a:t>
            </a:r>
            <a:r>
              <a:rPr lang="en-US" altLang="zh-CN" sz="2400" b="1" dirty="0">
                <a:solidFill>
                  <a:schemeClr val="bg2"/>
                </a:solidFill>
              </a:rPr>
              <a:t>V</a:t>
            </a:r>
            <a:r>
              <a:rPr lang="zh-CN" altLang="en-US" sz="2400" b="1" dirty="0">
                <a:solidFill>
                  <a:schemeClr val="bg2"/>
                </a:solidFill>
              </a:rPr>
              <a:t>操作，以实现过程的同步，要求写出完整过程，并说明信号量的含义和初值。</a:t>
            </a:r>
            <a:endParaRPr lang="zh-CN" altLang="en-US" sz="2400" dirty="0">
              <a:solidFill>
                <a:schemeClr val="bg2"/>
              </a:solidFill>
            </a:endParaRPr>
          </a:p>
        </p:txBody>
      </p:sp>
      <p:sp>
        <p:nvSpPr>
          <p:cNvPr id="10"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820788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
            <a:extLst>
              <a:ext uri="{FF2B5EF4-FFF2-40B4-BE49-F238E27FC236}">
                <a16:creationId xmlns:a16="http://schemas.microsoft.com/office/drawing/2014/main" id="{137CFE73-3B16-43F2-ADD1-9F554ACC5653}"/>
              </a:ext>
            </a:extLst>
          </p:cNvPr>
          <p:cNvSpPr txBox="1">
            <a:spLocks noChangeArrowheads="1"/>
          </p:cNvSpPr>
          <p:nvPr/>
        </p:nvSpPr>
        <p:spPr bwMode="auto">
          <a:xfrm>
            <a:off x="612442" y="88079"/>
            <a:ext cx="8072437" cy="1200150"/>
          </a:xfrm>
          <a:prstGeom prst="rect">
            <a:avLst/>
          </a:prstGeom>
          <a:solidFill>
            <a:srgbClr val="DDDAF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a:solidFill>
                  <a:schemeClr val="bg2"/>
                </a:solidFill>
              </a:rPr>
              <a:t>Semaphore </a:t>
            </a:r>
            <a:r>
              <a:rPr lang="en-US" altLang="zh-CN" sz="2400" dirty="0" err="1">
                <a:solidFill>
                  <a:schemeClr val="bg2"/>
                </a:solidFill>
              </a:rPr>
              <a:t>mutexA</a:t>
            </a:r>
            <a:r>
              <a:rPr lang="en-US" altLang="zh-CN" sz="2400" dirty="0">
                <a:solidFill>
                  <a:schemeClr val="bg2"/>
                </a:solidFill>
              </a:rPr>
              <a:t>=1;         Semaphore </a:t>
            </a:r>
            <a:r>
              <a:rPr lang="en-US" altLang="zh-CN" sz="2400" dirty="0" err="1">
                <a:solidFill>
                  <a:schemeClr val="bg2"/>
                </a:solidFill>
              </a:rPr>
              <a:t>mutexB</a:t>
            </a:r>
            <a:r>
              <a:rPr lang="en-US" altLang="zh-CN" sz="2400" dirty="0">
                <a:solidFill>
                  <a:schemeClr val="bg2"/>
                </a:solidFill>
              </a:rPr>
              <a:t>=1;</a:t>
            </a:r>
            <a:endParaRPr lang="zh-CN" altLang="en-US" sz="2400" dirty="0">
              <a:solidFill>
                <a:schemeClr val="bg2"/>
              </a:solidFill>
            </a:endParaRPr>
          </a:p>
          <a:p>
            <a:pPr eaLnBrk="1" hangingPunct="1">
              <a:spcBef>
                <a:spcPct val="0"/>
              </a:spcBef>
              <a:buClrTx/>
              <a:buSzTx/>
              <a:buFontTx/>
              <a:buNone/>
            </a:pPr>
            <a:r>
              <a:rPr lang="en-US" altLang="zh-CN" sz="2400" dirty="0">
                <a:solidFill>
                  <a:schemeClr val="bg2"/>
                </a:solidFill>
              </a:rPr>
              <a:t>Semaphore </a:t>
            </a:r>
            <a:r>
              <a:rPr lang="en-US" altLang="zh-CN" sz="2400" dirty="0" err="1">
                <a:solidFill>
                  <a:schemeClr val="bg2"/>
                </a:solidFill>
              </a:rPr>
              <a:t>emptyA</a:t>
            </a:r>
            <a:r>
              <a:rPr lang="en-US" altLang="zh-CN" sz="2400" dirty="0">
                <a:solidFill>
                  <a:schemeClr val="bg2"/>
                </a:solidFill>
              </a:rPr>
              <a:t>=M-x;    Semaphore </a:t>
            </a:r>
            <a:r>
              <a:rPr lang="en-US" altLang="zh-CN" sz="2400" dirty="0" err="1">
                <a:solidFill>
                  <a:schemeClr val="bg2"/>
                </a:solidFill>
              </a:rPr>
              <a:t>emptyB</a:t>
            </a:r>
            <a:r>
              <a:rPr lang="en-US" altLang="zh-CN" sz="2400" dirty="0">
                <a:solidFill>
                  <a:schemeClr val="bg2"/>
                </a:solidFill>
              </a:rPr>
              <a:t>=N;</a:t>
            </a:r>
            <a:endParaRPr lang="zh-CN" altLang="en-US" sz="2400" dirty="0">
              <a:solidFill>
                <a:schemeClr val="bg2"/>
              </a:solidFill>
            </a:endParaRPr>
          </a:p>
          <a:p>
            <a:pPr eaLnBrk="1" hangingPunct="1">
              <a:spcBef>
                <a:spcPct val="0"/>
              </a:spcBef>
              <a:buClrTx/>
              <a:buSzTx/>
              <a:buFontTx/>
              <a:buNone/>
            </a:pPr>
            <a:r>
              <a:rPr lang="en-US" altLang="zh-CN" sz="2400" dirty="0">
                <a:solidFill>
                  <a:schemeClr val="bg2"/>
                </a:solidFill>
              </a:rPr>
              <a:t>Semaphore </a:t>
            </a:r>
            <a:r>
              <a:rPr lang="en-US" altLang="zh-CN" sz="2400" dirty="0" err="1">
                <a:solidFill>
                  <a:schemeClr val="bg2"/>
                </a:solidFill>
              </a:rPr>
              <a:t>fullA</a:t>
            </a:r>
            <a:r>
              <a:rPr lang="en-US" altLang="zh-CN" sz="2400" dirty="0">
                <a:solidFill>
                  <a:schemeClr val="bg2"/>
                </a:solidFill>
              </a:rPr>
              <a:t>=x;              Semaphore </a:t>
            </a:r>
            <a:r>
              <a:rPr lang="en-US" altLang="zh-CN" sz="2400" dirty="0" err="1">
                <a:solidFill>
                  <a:schemeClr val="bg2"/>
                </a:solidFill>
              </a:rPr>
              <a:t>fullB</a:t>
            </a:r>
            <a:r>
              <a:rPr lang="en-US" altLang="zh-CN" sz="2400" dirty="0">
                <a:solidFill>
                  <a:schemeClr val="bg2"/>
                </a:solidFill>
              </a:rPr>
              <a:t>=0;</a:t>
            </a:r>
            <a:endParaRPr lang="zh-CN" altLang="en-US" sz="2400" dirty="0">
              <a:solidFill>
                <a:schemeClr val="bg2"/>
              </a:solidFill>
            </a:endParaRPr>
          </a:p>
        </p:txBody>
      </p:sp>
      <p:sp>
        <p:nvSpPr>
          <p:cNvPr id="6" name="TextBox 3">
            <a:extLst>
              <a:ext uri="{FF2B5EF4-FFF2-40B4-BE49-F238E27FC236}">
                <a16:creationId xmlns:a16="http://schemas.microsoft.com/office/drawing/2014/main" id="{E181D9DE-0011-4D71-9C52-858F24EBF32F}"/>
              </a:ext>
            </a:extLst>
          </p:cNvPr>
          <p:cNvSpPr txBox="1"/>
          <p:nvPr/>
        </p:nvSpPr>
        <p:spPr>
          <a:xfrm>
            <a:off x="90890" y="1328691"/>
            <a:ext cx="4426595" cy="5324535"/>
          </a:xfrm>
          <a:prstGeom prst="rect">
            <a:avLst/>
          </a:prstGeom>
          <a:solidFill>
            <a:schemeClr val="tx1">
              <a:lumMod val="85000"/>
            </a:schemeClr>
          </a:solidFill>
        </p:spPr>
        <p:txBody>
          <a:bodyPr wrap="square">
            <a:spAutoFit/>
          </a:bodyPr>
          <a:lstStyle/>
          <a:p>
            <a:pPr eaLnBrk="1" hangingPunct="1">
              <a:lnSpc>
                <a:spcPts val="2800"/>
              </a:lnSpc>
              <a:defRPr/>
            </a:pPr>
            <a:r>
              <a:rPr lang="en-US" sz="2000" b="1" dirty="0">
                <a:solidFill>
                  <a:schemeClr val="accent3">
                    <a:lumMod val="75000"/>
                  </a:schemeClr>
                </a:solidFill>
              </a:rPr>
              <a:t>A</a:t>
            </a:r>
            <a:r>
              <a:rPr lang="en-US" sz="2000" b="1" dirty="0">
                <a:solidFill>
                  <a:schemeClr val="bg2"/>
                </a:solidFill>
              </a:rPr>
              <a:t>{While(TRUE){</a:t>
            </a:r>
            <a:endParaRPr lang="zh-CN" altLang="en-US" sz="2000" b="1" dirty="0">
              <a:solidFill>
                <a:schemeClr val="bg2"/>
              </a:solidFill>
            </a:endParaRPr>
          </a:p>
          <a:p>
            <a:pPr eaLnBrk="1" hangingPunct="1">
              <a:lnSpc>
                <a:spcPts val="2800"/>
              </a:lnSpc>
              <a:defRPr/>
            </a:pPr>
            <a:r>
              <a:rPr lang="en-US" sz="2000" b="1" dirty="0">
                <a:solidFill>
                  <a:schemeClr val="bg2"/>
                </a:solidFill>
              </a:rPr>
              <a:t>	</a:t>
            </a:r>
            <a:endParaRPr lang="zh-CN" altLang="en-US" sz="2000" b="1" dirty="0">
              <a:solidFill>
                <a:schemeClr val="bg2"/>
              </a:solidFill>
            </a:endParaRPr>
          </a:p>
          <a:p>
            <a:pPr eaLnBrk="1" hangingPunct="1">
              <a:lnSpc>
                <a:spcPts val="2800"/>
              </a:lnSpc>
              <a:defRPr/>
            </a:pPr>
            <a:r>
              <a:rPr lang="en-US" sz="2000" b="1" dirty="0">
                <a:solidFill>
                  <a:schemeClr val="bg2"/>
                </a:solidFill>
              </a:rPr>
              <a:t>	</a:t>
            </a:r>
            <a:endParaRPr lang="zh-CN" altLang="en-US" sz="2000" b="1" dirty="0">
              <a:solidFill>
                <a:schemeClr val="bg2"/>
              </a:solidFill>
            </a:endParaRPr>
          </a:p>
          <a:p>
            <a:pPr eaLnBrk="1" hangingPunct="1">
              <a:lnSpc>
                <a:spcPts val="2800"/>
              </a:lnSpc>
              <a:defRPr/>
            </a:pPr>
            <a:r>
              <a:rPr lang="en-US" sz="2000" b="1" dirty="0">
                <a:solidFill>
                  <a:schemeClr val="bg2"/>
                </a:solidFill>
              </a:rPr>
              <a:t>       Get a mail from A_mailbox</a:t>
            </a:r>
            <a:r>
              <a:rPr lang="zh-CN" altLang="en-US" sz="2000" b="1" dirty="0">
                <a:solidFill>
                  <a:schemeClr val="bg2"/>
                </a:solidFill>
              </a:rPr>
              <a:t>；</a:t>
            </a:r>
          </a:p>
          <a:p>
            <a:pPr eaLnBrk="1" hangingPunct="1">
              <a:lnSpc>
                <a:spcPts val="2800"/>
              </a:lnSpc>
              <a:defRPr/>
            </a:pPr>
            <a:r>
              <a:rPr lang="en-US" sz="2000" b="1" dirty="0">
                <a:solidFill>
                  <a:schemeClr val="bg2"/>
                </a:solidFill>
              </a:rPr>
              <a:t>	</a:t>
            </a:r>
            <a:endParaRPr lang="zh-CN" altLang="en-US" sz="2000" b="1" dirty="0">
              <a:solidFill>
                <a:schemeClr val="bg2"/>
              </a:solidFill>
            </a:endParaRPr>
          </a:p>
          <a:p>
            <a:pPr eaLnBrk="1" hangingPunct="1">
              <a:lnSpc>
                <a:spcPts val="2800"/>
              </a:lnSpc>
              <a:defRPr/>
            </a:pPr>
            <a:r>
              <a:rPr lang="en-US" sz="2000" b="1" dirty="0">
                <a:solidFill>
                  <a:schemeClr val="bg2"/>
                </a:solidFill>
              </a:rPr>
              <a:t>	</a:t>
            </a:r>
            <a:endParaRPr lang="zh-CN" altLang="en-US" sz="2000" b="1" dirty="0">
              <a:solidFill>
                <a:schemeClr val="bg2"/>
              </a:solidFill>
            </a:endParaRPr>
          </a:p>
          <a:p>
            <a:pPr eaLnBrk="1" hangingPunct="1">
              <a:lnSpc>
                <a:spcPts val="2400"/>
              </a:lnSpc>
              <a:defRPr/>
            </a:pPr>
            <a:r>
              <a:rPr lang="en-US" sz="2000" b="1" dirty="0">
                <a:solidFill>
                  <a:schemeClr val="bg2"/>
                </a:solidFill>
              </a:rPr>
              <a:t>	Answer the question and 	raise a question;</a:t>
            </a:r>
            <a:endParaRPr lang="zh-CN" altLang="en-US" sz="2000" b="1" dirty="0">
              <a:solidFill>
                <a:schemeClr val="bg2"/>
              </a:solidFill>
            </a:endParaRPr>
          </a:p>
          <a:p>
            <a:pPr eaLnBrk="1" hangingPunct="1">
              <a:lnSpc>
                <a:spcPts val="2800"/>
              </a:lnSpc>
              <a:defRPr/>
            </a:pPr>
            <a:r>
              <a:rPr lang="en-US" sz="2000" b="1" dirty="0">
                <a:solidFill>
                  <a:schemeClr val="bg2"/>
                </a:solidFill>
              </a:rPr>
              <a:t>	</a:t>
            </a:r>
            <a:endParaRPr lang="zh-CN" altLang="en-US" sz="2000" b="1" dirty="0">
              <a:solidFill>
                <a:schemeClr val="bg2"/>
              </a:solidFill>
            </a:endParaRPr>
          </a:p>
          <a:p>
            <a:pPr eaLnBrk="1" hangingPunct="1">
              <a:lnSpc>
                <a:spcPts val="2800"/>
              </a:lnSpc>
              <a:defRPr/>
            </a:pPr>
            <a:r>
              <a:rPr lang="en-US" sz="2000" b="1" dirty="0">
                <a:solidFill>
                  <a:schemeClr val="bg2"/>
                </a:solidFill>
              </a:rPr>
              <a:t>	</a:t>
            </a:r>
            <a:endParaRPr lang="zh-CN" altLang="en-US" sz="2000" b="1" dirty="0">
              <a:solidFill>
                <a:schemeClr val="bg2"/>
              </a:solidFill>
            </a:endParaRPr>
          </a:p>
          <a:p>
            <a:pPr eaLnBrk="1" hangingPunct="1">
              <a:lnSpc>
                <a:spcPts val="2800"/>
              </a:lnSpc>
              <a:defRPr/>
            </a:pPr>
            <a:r>
              <a:rPr lang="en-US" sz="2000" b="1" dirty="0">
                <a:solidFill>
                  <a:schemeClr val="bg2"/>
                </a:solidFill>
              </a:rPr>
              <a:t>	send the mail to B</a:t>
            </a:r>
            <a:r>
              <a:rPr lang="zh-CN" altLang="en-US" sz="2000" b="1" dirty="0">
                <a:solidFill>
                  <a:schemeClr val="bg2"/>
                </a:solidFill>
              </a:rPr>
              <a:t>；</a:t>
            </a:r>
          </a:p>
          <a:p>
            <a:pPr eaLnBrk="1" hangingPunct="1">
              <a:lnSpc>
                <a:spcPts val="2800"/>
              </a:lnSpc>
              <a:defRPr/>
            </a:pPr>
            <a:r>
              <a:rPr lang="en-US" sz="2000" b="1" dirty="0">
                <a:solidFill>
                  <a:schemeClr val="bg2"/>
                </a:solidFill>
              </a:rPr>
              <a:t>	</a:t>
            </a:r>
            <a:endParaRPr lang="zh-CN" altLang="en-US" sz="2000" b="1" dirty="0">
              <a:solidFill>
                <a:schemeClr val="bg2"/>
              </a:solidFill>
            </a:endParaRPr>
          </a:p>
          <a:p>
            <a:pPr eaLnBrk="1" hangingPunct="1">
              <a:lnSpc>
                <a:spcPts val="2800"/>
              </a:lnSpc>
              <a:defRPr/>
            </a:pPr>
            <a:r>
              <a:rPr lang="en-US" sz="2000" b="1" dirty="0">
                <a:solidFill>
                  <a:schemeClr val="bg2"/>
                </a:solidFill>
              </a:rPr>
              <a:t>	</a:t>
            </a:r>
            <a:endParaRPr lang="zh-CN" altLang="en-US" sz="2000" b="1" dirty="0">
              <a:solidFill>
                <a:schemeClr val="bg2"/>
              </a:solidFill>
            </a:endParaRPr>
          </a:p>
          <a:p>
            <a:pPr eaLnBrk="1" hangingPunct="1">
              <a:lnSpc>
                <a:spcPts val="2800"/>
              </a:lnSpc>
              <a:defRPr/>
            </a:pPr>
            <a:r>
              <a:rPr lang="en-US" sz="2000" b="1" dirty="0">
                <a:solidFill>
                  <a:schemeClr val="bg2"/>
                </a:solidFill>
              </a:rPr>
              <a:t>	}</a:t>
            </a:r>
            <a:endParaRPr lang="zh-CN" altLang="en-US" sz="2000" b="1" dirty="0">
              <a:solidFill>
                <a:schemeClr val="bg2"/>
              </a:solidFill>
            </a:endParaRPr>
          </a:p>
          <a:p>
            <a:pPr eaLnBrk="1" hangingPunct="1">
              <a:lnSpc>
                <a:spcPts val="2400"/>
              </a:lnSpc>
              <a:defRPr/>
            </a:pPr>
            <a:r>
              <a:rPr lang="en-US" sz="2000" b="1" dirty="0">
                <a:solidFill>
                  <a:schemeClr val="bg2"/>
                </a:solidFill>
              </a:rPr>
              <a:t>}</a:t>
            </a:r>
            <a:endParaRPr lang="zh-CN" altLang="en-US" sz="2000" b="1" dirty="0">
              <a:solidFill>
                <a:schemeClr val="bg2"/>
              </a:solidFill>
            </a:endParaRPr>
          </a:p>
        </p:txBody>
      </p:sp>
      <p:sp>
        <p:nvSpPr>
          <p:cNvPr id="7" name="矩形 6">
            <a:extLst>
              <a:ext uri="{FF2B5EF4-FFF2-40B4-BE49-F238E27FC236}">
                <a16:creationId xmlns:a16="http://schemas.microsoft.com/office/drawing/2014/main" id="{CBBB0F2B-2837-44ED-B943-36BD2E802398}"/>
              </a:ext>
            </a:extLst>
          </p:cNvPr>
          <p:cNvSpPr>
            <a:spLocks noChangeArrowheads="1"/>
          </p:cNvSpPr>
          <p:nvPr/>
        </p:nvSpPr>
        <p:spPr bwMode="auto">
          <a:xfrm>
            <a:off x="1019579" y="1738226"/>
            <a:ext cx="11509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a:solidFill>
                  <a:srgbClr val="FF0000"/>
                </a:solidFill>
              </a:rPr>
              <a:t>P(fullA);</a:t>
            </a:r>
            <a:endParaRPr lang="zh-CN" altLang="en-US" sz="2400" b="1">
              <a:solidFill>
                <a:srgbClr val="FF0000"/>
              </a:solidFill>
            </a:endParaRPr>
          </a:p>
        </p:txBody>
      </p:sp>
      <p:sp>
        <p:nvSpPr>
          <p:cNvPr id="8" name="矩形 7">
            <a:extLst>
              <a:ext uri="{FF2B5EF4-FFF2-40B4-BE49-F238E27FC236}">
                <a16:creationId xmlns:a16="http://schemas.microsoft.com/office/drawing/2014/main" id="{866E049B-E00A-43C0-99D9-22D2077C59AA}"/>
              </a:ext>
            </a:extLst>
          </p:cNvPr>
          <p:cNvSpPr>
            <a:spLocks noChangeArrowheads="1"/>
          </p:cNvSpPr>
          <p:nvPr/>
        </p:nvSpPr>
        <p:spPr bwMode="auto">
          <a:xfrm>
            <a:off x="1019579" y="2095413"/>
            <a:ext cx="1381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a:solidFill>
                  <a:srgbClr val="FF0000"/>
                </a:solidFill>
              </a:rPr>
              <a:t>P(mutexA)</a:t>
            </a:r>
            <a:endParaRPr lang="zh-CN" altLang="en-US" sz="2400" b="1">
              <a:solidFill>
                <a:srgbClr val="FF0000"/>
              </a:solidFill>
            </a:endParaRPr>
          </a:p>
        </p:txBody>
      </p:sp>
      <p:sp>
        <p:nvSpPr>
          <p:cNvPr id="9" name="矩形 8">
            <a:extLst>
              <a:ext uri="{FF2B5EF4-FFF2-40B4-BE49-F238E27FC236}">
                <a16:creationId xmlns:a16="http://schemas.microsoft.com/office/drawing/2014/main" id="{DCC4E66C-219A-4EB5-A058-45B16097B7F7}"/>
              </a:ext>
            </a:extLst>
          </p:cNvPr>
          <p:cNvSpPr>
            <a:spLocks noChangeArrowheads="1"/>
          </p:cNvSpPr>
          <p:nvPr/>
        </p:nvSpPr>
        <p:spPr bwMode="auto">
          <a:xfrm>
            <a:off x="1019579" y="2809788"/>
            <a:ext cx="1493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a:solidFill>
                  <a:srgbClr val="FF0000"/>
                </a:solidFill>
              </a:rPr>
              <a:t>V(mutexA);</a:t>
            </a:r>
            <a:endParaRPr lang="zh-CN" altLang="en-US" sz="2400">
              <a:solidFill>
                <a:srgbClr val="FF0000"/>
              </a:solidFill>
            </a:endParaRPr>
          </a:p>
        </p:txBody>
      </p:sp>
      <p:sp>
        <p:nvSpPr>
          <p:cNvPr id="10" name="矩形 9">
            <a:extLst>
              <a:ext uri="{FF2B5EF4-FFF2-40B4-BE49-F238E27FC236}">
                <a16:creationId xmlns:a16="http://schemas.microsoft.com/office/drawing/2014/main" id="{CCB5926C-24E1-431E-BDE5-DE7AFE5BD4C2}"/>
              </a:ext>
            </a:extLst>
          </p:cNvPr>
          <p:cNvSpPr>
            <a:spLocks noChangeArrowheads="1"/>
          </p:cNvSpPr>
          <p:nvPr/>
        </p:nvSpPr>
        <p:spPr bwMode="auto">
          <a:xfrm>
            <a:off x="1019579" y="3166976"/>
            <a:ext cx="1493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a:solidFill>
                  <a:srgbClr val="FF0000"/>
                </a:solidFill>
              </a:rPr>
              <a:t>V(emptyA);</a:t>
            </a:r>
            <a:endParaRPr lang="zh-CN" altLang="en-US" sz="2400">
              <a:solidFill>
                <a:srgbClr val="FF0000"/>
              </a:solidFill>
            </a:endParaRPr>
          </a:p>
        </p:txBody>
      </p:sp>
      <p:sp>
        <p:nvSpPr>
          <p:cNvPr id="11" name="矩形 10">
            <a:extLst>
              <a:ext uri="{FF2B5EF4-FFF2-40B4-BE49-F238E27FC236}">
                <a16:creationId xmlns:a16="http://schemas.microsoft.com/office/drawing/2014/main" id="{E19EEAD9-4AB4-4D4B-A132-433CE913FD10}"/>
              </a:ext>
            </a:extLst>
          </p:cNvPr>
          <p:cNvSpPr>
            <a:spLocks noChangeArrowheads="1"/>
          </p:cNvSpPr>
          <p:nvPr/>
        </p:nvSpPr>
        <p:spPr bwMode="auto">
          <a:xfrm>
            <a:off x="1019579" y="4238538"/>
            <a:ext cx="14509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a:solidFill>
                  <a:srgbClr val="FF0000"/>
                </a:solidFill>
              </a:rPr>
              <a:t>P(emptyB);</a:t>
            </a:r>
            <a:endParaRPr lang="zh-CN" altLang="en-US" sz="2400">
              <a:solidFill>
                <a:srgbClr val="FF0000"/>
              </a:solidFill>
            </a:endParaRPr>
          </a:p>
        </p:txBody>
      </p:sp>
      <p:sp>
        <p:nvSpPr>
          <p:cNvPr id="12" name="矩形 11">
            <a:extLst>
              <a:ext uri="{FF2B5EF4-FFF2-40B4-BE49-F238E27FC236}">
                <a16:creationId xmlns:a16="http://schemas.microsoft.com/office/drawing/2014/main" id="{410505BE-9A68-4885-9416-6BB122E31B14}"/>
              </a:ext>
            </a:extLst>
          </p:cNvPr>
          <p:cNvSpPr>
            <a:spLocks noChangeArrowheads="1"/>
          </p:cNvSpPr>
          <p:nvPr/>
        </p:nvSpPr>
        <p:spPr bwMode="auto">
          <a:xfrm>
            <a:off x="1019579" y="4595726"/>
            <a:ext cx="1366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a:solidFill>
                  <a:srgbClr val="FF0000"/>
                </a:solidFill>
              </a:rPr>
              <a:t>P(mutexB)</a:t>
            </a:r>
            <a:endParaRPr lang="zh-CN" altLang="en-US" sz="2400">
              <a:solidFill>
                <a:srgbClr val="FF0000"/>
              </a:solidFill>
            </a:endParaRPr>
          </a:p>
        </p:txBody>
      </p:sp>
      <p:sp>
        <p:nvSpPr>
          <p:cNvPr id="13" name="矩形 12">
            <a:extLst>
              <a:ext uri="{FF2B5EF4-FFF2-40B4-BE49-F238E27FC236}">
                <a16:creationId xmlns:a16="http://schemas.microsoft.com/office/drawing/2014/main" id="{075D45DB-B6C4-48DB-AD37-49558744DB27}"/>
              </a:ext>
            </a:extLst>
          </p:cNvPr>
          <p:cNvSpPr>
            <a:spLocks noChangeArrowheads="1"/>
          </p:cNvSpPr>
          <p:nvPr/>
        </p:nvSpPr>
        <p:spPr bwMode="auto">
          <a:xfrm>
            <a:off x="1019579" y="5238663"/>
            <a:ext cx="1479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a:solidFill>
                  <a:srgbClr val="FF0000"/>
                </a:solidFill>
              </a:rPr>
              <a:t>V(mutexB);</a:t>
            </a:r>
            <a:endParaRPr lang="zh-CN" altLang="en-US" sz="2400">
              <a:solidFill>
                <a:srgbClr val="FF0000"/>
              </a:solidFill>
            </a:endParaRPr>
          </a:p>
        </p:txBody>
      </p:sp>
      <p:sp>
        <p:nvSpPr>
          <p:cNvPr id="14" name="矩形 13">
            <a:extLst>
              <a:ext uri="{FF2B5EF4-FFF2-40B4-BE49-F238E27FC236}">
                <a16:creationId xmlns:a16="http://schemas.microsoft.com/office/drawing/2014/main" id="{59DF7921-6F00-466B-AC80-247FD5D7ED65}"/>
              </a:ext>
            </a:extLst>
          </p:cNvPr>
          <p:cNvSpPr>
            <a:spLocks noChangeArrowheads="1"/>
          </p:cNvSpPr>
          <p:nvPr/>
        </p:nvSpPr>
        <p:spPr bwMode="auto">
          <a:xfrm>
            <a:off x="1019579" y="5667288"/>
            <a:ext cx="1165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a:solidFill>
                  <a:srgbClr val="FF0000"/>
                </a:solidFill>
              </a:rPr>
              <a:t>V(fullB);</a:t>
            </a:r>
            <a:endParaRPr lang="zh-CN" altLang="en-US" sz="2400">
              <a:solidFill>
                <a:srgbClr val="FF0000"/>
              </a:solidFill>
            </a:endParaRPr>
          </a:p>
        </p:txBody>
      </p:sp>
      <p:sp>
        <p:nvSpPr>
          <p:cNvPr id="15" name="TextBox 12">
            <a:extLst>
              <a:ext uri="{FF2B5EF4-FFF2-40B4-BE49-F238E27FC236}">
                <a16:creationId xmlns:a16="http://schemas.microsoft.com/office/drawing/2014/main" id="{94DDFCB2-C7BE-4607-8F17-8DB6E63F6F0C}"/>
              </a:ext>
            </a:extLst>
          </p:cNvPr>
          <p:cNvSpPr txBox="1"/>
          <p:nvPr/>
        </p:nvSpPr>
        <p:spPr>
          <a:xfrm>
            <a:off x="4747674" y="1328690"/>
            <a:ext cx="4286250" cy="5324535"/>
          </a:xfrm>
          <a:prstGeom prst="rect">
            <a:avLst/>
          </a:prstGeom>
          <a:solidFill>
            <a:schemeClr val="tx1">
              <a:lumMod val="85000"/>
            </a:schemeClr>
          </a:solidFill>
        </p:spPr>
        <p:txBody>
          <a:bodyPr>
            <a:spAutoFit/>
          </a:bodyPr>
          <a:lstStyle/>
          <a:p>
            <a:pPr eaLnBrk="1" hangingPunct="1">
              <a:lnSpc>
                <a:spcPts val="2800"/>
              </a:lnSpc>
              <a:defRPr/>
            </a:pPr>
            <a:r>
              <a:rPr lang="en-US" sz="2000" b="1" dirty="0">
                <a:solidFill>
                  <a:schemeClr val="accent3">
                    <a:lumMod val="75000"/>
                  </a:schemeClr>
                </a:solidFill>
              </a:rPr>
              <a:t>B</a:t>
            </a:r>
            <a:r>
              <a:rPr lang="en-US" sz="2000" b="1" dirty="0">
                <a:solidFill>
                  <a:schemeClr val="bg2"/>
                </a:solidFill>
              </a:rPr>
              <a:t>{While(TRUE){</a:t>
            </a:r>
            <a:endParaRPr lang="zh-CN" altLang="en-US" sz="2000" b="1" dirty="0">
              <a:solidFill>
                <a:schemeClr val="bg2"/>
              </a:solidFill>
            </a:endParaRPr>
          </a:p>
          <a:p>
            <a:pPr eaLnBrk="1" hangingPunct="1">
              <a:lnSpc>
                <a:spcPts val="2800"/>
              </a:lnSpc>
              <a:defRPr/>
            </a:pPr>
            <a:r>
              <a:rPr lang="en-US" sz="2000" b="1" dirty="0">
                <a:solidFill>
                  <a:schemeClr val="bg2"/>
                </a:solidFill>
              </a:rPr>
              <a:t>		</a:t>
            </a:r>
            <a:endParaRPr lang="zh-CN" altLang="en-US" sz="2000" b="1" dirty="0">
              <a:solidFill>
                <a:schemeClr val="bg2"/>
              </a:solidFill>
            </a:endParaRPr>
          </a:p>
          <a:p>
            <a:pPr eaLnBrk="1" hangingPunct="1">
              <a:lnSpc>
                <a:spcPts val="2800"/>
              </a:lnSpc>
              <a:defRPr/>
            </a:pPr>
            <a:r>
              <a:rPr lang="en-US" sz="2000" b="1" dirty="0">
                <a:solidFill>
                  <a:schemeClr val="bg2"/>
                </a:solidFill>
              </a:rPr>
              <a:t>	</a:t>
            </a:r>
          </a:p>
          <a:p>
            <a:pPr eaLnBrk="1" hangingPunct="1">
              <a:lnSpc>
                <a:spcPts val="2800"/>
              </a:lnSpc>
              <a:defRPr/>
            </a:pPr>
            <a:r>
              <a:rPr lang="en-US" sz="2000" b="1" dirty="0">
                <a:solidFill>
                  <a:schemeClr val="bg2"/>
                </a:solidFill>
              </a:rPr>
              <a:t>    Get a mail from </a:t>
            </a:r>
            <a:r>
              <a:rPr lang="en-US" sz="2000" b="1" dirty="0" err="1">
                <a:solidFill>
                  <a:schemeClr val="bg2"/>
                </a:solidFill>
              </a:rPr>
              <a:t>B_mailbox</a:t>
            </a:r>
            <a:r>
              <a:rPr lang="zh-CN" altLang="en-US" sz="2000" b="1" dirty="0">
                <a:solidFill>
                  <a:schemeClr val="bg2"/>
                </a:solidFill>
              </a:rPr>
              <a:t>；</a:t>
            </a:r>
          </a:p>
          <a:p>
            <a:pPr eaLnBrk="1" hangingPunct="1">
              <a:lnSpc>
                <a:spcPts val="2800"/>
              </a:lnSpc>
              <a:defRPr/>
            </a:pPr>
            <a:r>
              <a:rPr lang="en-US" sz="2000" b="1" dirty="0">
                <a:solidFill>
                  <a:schemeClr val="bg2"/>
                </a:solidFill>
              </a:rPr>
              <a:t>	</a:t>
            </a:r>
            <a:endParaRPr lang="zh-CN" altLang="en-US" sz="2000" b="1" dirty="0">
              <a:solidFill>
                <a:schemeClr val="bg2"/>
              </a:solidFill>
            </a:endParaRPr>
          </a:p>
          <a:p>
            <a:pPr eaLnBrk="1" hangingPunct="1">
              <a:lnSpc>
                <a:spcPts val="2800"/>
              </a:lnSpc>
              <a:defRPr/>
            </a:pPr>
            <a:r>
              <a:rPr lang="en-US" sz="2000" b="1" dirty="0">
                <a:solidFill>
                  <a:schemeClr val="bg2"/>
                </a:solidFill>
              </a:rPr>
              <a:t>	</a:t>
            </a:r>
            <a:endParaRPr lang="zh-CN" altLang="en-US" sz="2000" b="1" dirty="0">
              <a:solidFill>
                <a:schemeClr val="bg2"/>
              </a:solidFill>
            </a:endParaRPr>
          </a:p>
          <a:p>
            <a:pPr marL="446088" eaLnBrk="1" hangingPunct="1">
              <a:lnSpc>
                <a:spcPts val="2400"/>
              </a:lnSpc>
              <a:defRPr/>
            </a:pPr>
            <a:r>
              <a:rPr lang="en-US" sz="2000" dirty="0">
                <a:solidFill>
                  <a:schemeClr val="bg2"/>
                </a:solidFill>
              </a:rPr>
              <a:t>Answer the question and        raise a question;</a:t>
            </a:r>
            <a:endParaRPr lang="zh-CN" altLang="en-US" sz="2000" dirty="0">
              <a:solidFill>
                <a:schemeClr val="bg2"/>
              </a:solidFill>
            </a:endParaRPr>
          </a:p>
          <a:p>
            <a:pPr eaLnBrk="1" hangingPunct="1">
              <a:lnSpc>
                <a:spcPts val="2400"/>
              </a:lnSpc>
              <a:defRPr/>
            </a:pPr>
            <a:r>
              <a:rPr lang="en-US" sz="2000" dirty="0">
                <a:solidFill>
                  <a:schemeClr val="bg2"/>
                </a:solidFill>
              </a:rPr>
              <a:t>	</a:t>
            </a:r>
            <a:endParaRPr lang="zh-CN" altLang="en-US" sz="2000" dirty="0">
              <a:solidFill>
                <a:schemeClr val="bg2"/>
              </a:solidFill>
            </a:endParaRPr>
          </a:p>
          <a:p>
            <a:pPr eaLnBrk="1" hangingPunct="1">
              <a:lnSpc>
                <a:spcPts val="2800"/>
              </a:lnSpc>
              <a:defRPr/>
            </a:pPr>
            <a:r>
              <a:rPr lang="en-US" sz="2000" b="1" dirty="0">
                <a:solidFill>
                  <a:schemeClr val="bg2"/>
                </a:solidFill>
              </a:rPr>
              <a:t>	</a:t>
            </a:r>
            <a:endParaRPr lang="zh-CN" altLang="en-US" sz="2000" b="1" dirty="0">
              <a:solidFill>
                <a:schemeClr val="bg2"/>
              </a:solidFill>
            </a:endParaRPr>
          </a:p>
          <a:p>
            <a:pPr eaLnBrk="1" hangingPunct="1">
              <a:lnSpc>
                <a:spcPts val="2800"/>
              </a:lnSpc>
              <a:defRPr/>
            </a:pPr>
            <a:r>
              <a:rPr lang="en-US" sz="2000" b="1" dirty="0">
                <a:solidFill>
                  <a:schemeClr val="bg2"/>
                </a:solidFill>
              </a:rPr>
              <a:t>	send the mail to A</a:t>
            </a:r>
            <a:r>
              <a:rPr lang="zh-CN" altLang="en-US" sz="2000" b="1" dirty="0">
                <a:solidFill>
                  <a:schemeClr val="bg2"/>
                </a:solidFill>
              </a:rPr>
              <a:t>；</a:t>
            </a:r>
          </a:p>
          <a:p>
            <a:pPr eaLnBrk="1" hangingPunct="1">
              <a:lnSpc>
                <a:spcPts val="2800"/>
              </a:lnSpc>
              <a:defRPr/>
            </a:pPr>
            <a:r>
              <a:rPr lang="en-US" sz="2000" b="1" dirty="0">
                <a:solidFill>
                  <a:schemeClr val="bg2"/>
                </a:solidFill>
              </a:rPr>
              <a:t>	</a:t>
            </a:r>
            <a:endParaRPr lang="zh-CN" altLang="en-US" sz="2000" b="1" dirty="0">
              <a:solidFill>
                <a:schemeClr val="bg2"/>
              </a:solidFill>
            </a:endParaRPr>
          </a:p>
          <a:p>
            <a:pPr eaLnBrk="1" hangingPunct="1">
              <a:lnSpc>
                <a:spcPts val="2800"/>
              </a:lnSpc>
              <a:defRPr/>
            </a:pPr>
            <a:r>
              <a:rPr lang="en-US" sz="2000" b="1" dirty="0">
                <a:solidFill>
                  <a:schemeClr val="bg2"/>
                </a:solidFill>
              </a:rPr>
              <a:t>	</a:t>
            </a:r>
            <a:endParaRPr lang="zh-CN" altLang="en-US" sz="2000" b="1" dirty="0">
              <a:solidFill>
                <a:schemeClr val="bg2"/>
              </a:solidFill>
            </a:endParaRPr>
          </a:p>
          <a:p>
            <a:pPr eaLnBrk="1" hangingPunct="1">
              <a:lnSpc>
                <a:spcPts val="2800"/>
              </a:lnSpc>
              <a:defRPr/>
            </a:pPr>
            <a:r>
              <a:rPr lang="en-US" sz="2000" dirty="0">
                <a:solidFill>
                  <a:schemeClr val="bg2"/>
                </a:solidFill>
              </a:rPr>
              <a:t>    </a:t>
            </a:r>
            <a:r>
              <a:rPr lang="en-US" sz="2000" b="1" dirty="0">
                <a:solidFill>
                  <a:schemeClr val="bg2"/>
                </a:solidFill>
              </a:rPr>
              <a:t>}</a:t>
            </a:r>
            <a:endParaRPr lang="zh-CN" altLang="en-US" sz="2000" b="1" dirty="0">
              <a:solidFill>
                <a:schemeClr val="bg2"/>
              </a:solidFill>
            </a:endParaRPr>
          </a:p>
          <a:p>
            <a:pPr eaLnBrk="1" hangingPunct="1">
              <a:lnSpc>
                <a:spcPts val="2400"/>
              </a:lnSpc>
              <a:defRPr/>
            </a:pPr>
            <a:r>
              <a:rPr lang="en-US" sz="2000" b="1" dirty="0">
                <a:solidFill>
                  <a:schemeClr val="bg2"/>
                </a:solidFill>
              </a:rPr>
              <a:t>}</a:t>
            </a:r>
          </a:p>
        </p:txBody>
      </p:sp>
      <p:sp>
        <p:nvSpPr>
          <p:cNvPr id="16" name="矩形 15">
            <a:extLst>
              <a:ext uri="{FF2B5EF4-FFF2-40B4-BE49-F238E27FC236}">
                <a16:creationId xmlns:a16="http://schemas.microsoft.com/office/drawing/2014/main" id="{EC710520-0DE7-4EED-ADE1-2B707A52879F}"/>
              </a:ext>
            </a:extLst>
          </p:cNvPr>
          <p:cNvSpPr>
            <a:spLocks noChangeArrowheads="1"/>
          </p:cNvSpPr>
          <p:nvPr/>
        </p:nvSpPr>
        <p:spPr bwMode="auto">
          <a:xfrm>
            <a:off x="5262818" y="1700165"/>
            <a:ext cx="11509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a:solidFill>
                  <a:srgbClr val="FF0000"/>
                </a:solidFill>
              </a:rPr>
              <a:t>P(fullB);</a:t>
            </a:r>
            <a:endParaRPr lang="zh-CN" altLang="en-US" sz="2400" b="1">
              <a:solidFill>
                <a:srgbClr val="FF0000"/>
              </a:solidFill>
            </a:endParaRPr>
          </a:p>
        </p:txBody>
      </p:sp>
      <p:sp>
        <p:nvSpPr>
          <p:cNvPr id="17" name="矩形 16">
            <a:extLst>
              <a:ext uri="{FF2B5EF4-FFF2-40B4-BE49-F238E27FC236}">
                <a16:creationId xmlns:a16="http://schemas.microsoft.com/office/drawing/2014/main" id="{83EDEC27-DF41-442A-BC81-201B9850E818}"/>
              </a:ext>
            </a:extLst>
          </p:cNvPr>
          <p:cNvSpPr>
            <a:spLocks noChangeArrowheads="1"/>
          </p:cNvSpPr>
          <p:nvPr/>
        </p:nvSpPr>
        <p:spPr bwMode="auto">
          <a:xfrm>
            <a:off x="5262818" y="2057353"/>
            <a:ext cx="1381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a:solidFill>
                  <a:srgbClr val="FF0000"/>
                </a:solidFill>
              </a:rPr>
              <a:t>P(mutexB)</a:t>
            </a:r>
            <a:endParaRPr lang="zh-CN" altLang="en-US" sz="2400" b="1">
              <a:solidFill>
                <a:srgbClr val="FF0000"/>
              </a:solidFill>
            </a:endParaRPr>
          </a:p>
        </p:txBody>
      </p:sp>
      <p:sp>
        <p:nvSpPr>
          <p:cNvPr id="18" name="矩形 17">
            <a:extLst>
              <a:ext uri="{FF2B5EF4-FFF2-40B4-BE49-F238E27FC236}">
                <a16:creationId xmlns:a16="http://schemas.microsoft.com/office/drawing/2014/main" id="{DB9D3D93-1200-4123-907B-246A4A052517}"/>
              </a:ext>
            </a:extLst>
          </p:cNvPr>
          <p:cNvSpPr>
            <a:spLocks noChangeArrowheads="1"/>
          </p:cNvSpPr>
          <p:nvPr/>
        </p:nvSpPr>
        <p:spPr bwMode="auto">
          <a:xfrm>
            <a:off x="5262818" y="2771728"/>
            <a:ext cx="1493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a:solidFill>
                  <a:srgbClr val="FF0000"/>
                </a:solidFill>
              </a:rPr>
              <a:t>V(mutexB);</a:t>
            </a:r>
            <a:endParaRPr lang="zh-CN" altLang="en-US" sz="2400">
              <a:solidFill>
                <a:srgbClr val="FF0000"/>
              </a:solidFill>
            </a:endParaRPr>
          </a:p>
        </p:txBody>
      </p:sp>
      <p:sp>
        <p:nvSpPr>
          <p:cNvPr id="19" name="矩形 18">
            <a:extLst>
              <a:ext uri="{FF2B5EF4-FFF2-40B4-BE49-F238E27FC236}">
                <a16:creationId xmlns:a16="http://schemas.microsoft.com/office/drawing/2014/main" id="{32F8903B-4FE9-4543-8A6F-FBFC0F0A3BA4}"/>
              </a:ext>
            </a:extLst>
          </p:cNvPr>
          <p:cNvSpPr>
            <a:spLocks noChangeArrowheads="1"/>
          </p:cNvSpPr>
          <p:nvPr/>
        </p:nvSpPr>
        <p:spPr bwMode="auto">
          <a:xfrm>
            <a:off x="5262818" y="3128915"/>
            <a:ext cx="1493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a:solidFill>
                  <a:srgbClr val="FF0000"/>
                </a:solidFill>
              </a:rPr>
              <a:t>V(emptyB);</a:t>
            </a:r>
            <a:endParaRPr lang="zh-CN" altLang="en-US" sz="2400">
              <a:solidFill>
                <a:srgbClr val="FF0000"/>
              </a:solidFill>
            </a:endParaRPr>
          </a:p>
        </p:txBody>
      </p:sp>
      <p:sp>
        <p:nvSpPr>
          <p:cNvPr id="20" name="矩形 19">
            <a:extLst>
              <a:ext uri="{FF2B5EF4-FFF2-40B4-BE49-F238E27FC236}">
                <a16:creationId xmlns:a16="http://schemas.microsoft.com/office/drawing/2014/main" id="{846CF065-9101-4046-9FB4-47480B2C9934}"/>
              </a:ext>
            </a:extLst>
          </p:cNvPr>
          <p:cNvSpPr>
            <a:spLocks noChangeArrowheads="1"/>
          </p:cNvSpPr>
          <p:nvPr/>
        </p:nvSpPr>
        <p:spPr bwMode="auto">
          <a:xfrm>
            <a:off x="5262818" y="4200478"/>
            <a:ext cx="1465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a:solidFill>
                  <a:srgbClr val="FF0000"/>
                </a:solidFill>
              </a:rPr>
              <a:t>P(emptyA);</a:t>
            </a:r>
            <a:endParaRPr lang="zh-CN" altLang="en-US" sz="2400">
              <a:solidFill>
                <a:srgbClr val="FF0000"/>
              </a:solidFill>
            </a:endParaRPr>
          </a:p>
        </p:txBody>
      </p:sp>
      <p:sp>
        <p:nvSpPr>
          <p:cNvPr id="21" name="矩形 20">
            <a:extLst>
              <a:ext uri="{FF2B5EF4-FFF2-40B4-BE49-F238E27FC236}">
                <a16:creationId xmlns:a16="http://schemas.microsoft.com/office/drawing/2014/main" id="{4EA47D01-2D40-420B-A079-B0E423C141B6}"/>
              </a:ext>
            </a:extLst>
          </p:cNvPr>
          <p:cNvSpPr>
            <a:spLocks noChangeArrowheads="1"/>
          </p:cNvSpPr>
          <p:nvPr/>
        </p:nvSpPr>
        <p:spPr bwMode="auto">
          <a:xfrm>
            <a:off x="5262818" y="4557665"/>
            <a:ext cx="1381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a:solidFill>
                  <a:srgbClr val="FF0000"/>
                </a:solidFill>
              </a:rPr>
              <a:t>P(mutexA)</a:t>
            </a:r>
            <a:endParaRPr lang="zh-CN" altLang="en-US" sz="2400">
              <a:solidFill>
                <a:srgbClr val="FF0000"/>
              </a:solidFill>
            </a:endParaRPr>
          </a:p>
        </p:txBody>
      </p:sp>
      <p:sp>
        <p:nvSpPr>
          <p:cNvPr id="22" name="矩形 21">
            <a:extLst>
              <a:ext uri="{FF2B5EF4-FFF2-40B4-BE49-F238E27FC236}">
                <a16:creationId xmlns:a16="http://schemas.microsoft.com/office/drawing/2014/main" id="{F8CAD06C-21B6-4E31-AD55-9AAB9E627F19}"/>
              </a:ext>
            </a:extLst>
          </p:cNvPr>
          <p:cNvSpPr>
            <a:spLocks noChangeArrowheads="1"/>
          </p:cNvSpPr>
          <p:nvPr/>
        </p:nvSpPr>
        <p:spPr bwMode="auto">
          <a:xfrm>
            <a:off x="5262818" y="5200603"/>
            <a:ext cx="1493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a:solidFill>
                  <a:srgbClr val="FF0000"/>
                </a:solidFill>
              </a:rPr>
              <a:t>V(mutexA);</a:t>
            </a:r>
            <a:endParaRPr lang="zh-CN" altLang="en-US" sz="2400">
              <a:solidFill>
                <a:srgbClr val="FF0000"/>
              </a:solidFill>
            </a:endParaRPr>
          </a:p>
        </p:txBody>
      </p:sp>
      <p:sp>
        <p:nvSpPr>
          <p:cNvPr id="23" name="矩形 22">
            <a:extLst>
              <a:ext uri="{FF2B5EF4-FFF2-40B4-BE49-F238E27FC236}">
                <a16:creationId xmlns:a16="http://schemas.microsoft.com/office/drawing/2014/main" id="{E1707091-C404-4532-8598-1F4CC022565C}"/>
              </a:ext>
            </a:extLst>
          </p:cNvPr>
          <p:cNvSpPr>
            <a:spLocks noChangeArrowheads="1"/>
          </p:cNvSpPr>
          <p:nvPr/>
        </p:nvSpPr>
        <p:spPr bwMode="auto">
          <a:xfrm>
            <a:off x="5262818" y="5629228"/>
            <a:ext cx="11795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a:solidFill>
                  <a:srgbClr val="FF0000"/>
                </a:solidFill>
              </a:rPr>
              <a:t>V(fullA);</a:t>
            </a:r>
            <a:endParaRPr lang="zh-CN" altLang="en-US" sz="2400">
              <a:solidFill>
                <a:srgbClr val="FF0000"/>
              </a:solidFill>
            </a:endParaRPr>
          </a:p>
        </p:txBody>
      </p:sp>
      <p:sp>
        <p:nvSpPr>
          <p:cNvPr id="2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828895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dissolv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dissolv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dissolv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dissolve">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dissolve">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dissolve">
                                      <p:cBhvr>
                                        <p:cTn id="52" dur="5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dissolve">
                                      <p:cBhvr>
                                        <p:cTn id="57" dur="5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dissolve">
                                      <p:cBhvr>
                                        <p:cTn id="62" dur="500"/>
                                        <p:tgtEl>
                                          <p:spTgt spid="19"/>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dissolve">
                                      <p:cBhvr>
                                        <p:cTn id="67" dur="500"/>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dissolve">
                                      <p:cBhvr>
                                        <p:cTn id="72" dur="500"/>
                                        <p:tgtEl>
                                          <p:spTgt spid="21"/>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dissolve">
                                      <p:cBhvr>
                                        <p:cTn id="77" dur="500"/>
                                        <p:tgtEl>
                                          <p:spTgt spid="22"/>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dissolve">
                                      <p:cBhvr>
                                        <p:cTn id="82" dur="500"/>
                                        <p:tgtEl>
                                          <p:spTgt spid="23"/>
                                        </p:tgtEl>
                                      </p:cBhvr>
                                    </p:animEffect>
                                  </p:childTnLst>
                                </p:cTn>
                              </p:par>
                            </p:childTnLst>
                          </p:cTn>
                        </p:par>
                        <p:par>
                          <p:cTn id="83" fill="hold">
                            <p:stCondLst>
                              <p:cond delay="500"/>
                            </p:stCondLst>
                            <p:childTnLst>
                              <p:par>
                                <p:cTn id="84" presetID="2" presetClass="entr" presetSubtype="6" fill="hold" grpId="0" nodeType="afterEffect">
                                  <p:stCondLst>
                                    <p:cond delay="0"/>
                                  </p:stCondLst>
                                  <p:childTnLst>
                                    <p:set>
                                      <p:cBhvr>
                                        <p:cTn id="85" dur="1" fill="hold">
                                          <p:stCondLst>
                                            <p:cond delay="0"/>
                                          </p:stCondLst>
                                        </p:cTn>
                                        <p:tgtEl>
                                          <p:spTgt spid="24"/>
                                        </p:tgtEl>
                                        <p:attrNameLst>
                                          <p:attrName>style.visibility</p:attrName>
                                        </p:attrNameLst>
                                      </p:cBhvr>
                                      <p:to>
                                        <p:strVal val="visible"/>
                                      </p:to>
                                    </p:set>
                                    <p:anim calcmode="lin" valueType="num">
                                      <p:cBhvr additive="base">
                                        <p:cTn id="86" dur="500" fill="hold"/>
                                        <p:tgtEl>
                                          <p:spTgt spid="24"/>
                                        </p:tgtEl>
                                        <p:attrNameLst>
                                          <p:attrName>ppt_x</p:attrName>
                                        </p:attrNameLst>
                                      </p:cBhvr>
                                      <p:tavLst>
                                        <p:tav tm="0">
                                          <p:val>
                                            <p:strVal val="1+#ppt_w/2"/>
                                          </p:val>
                                        </p:tav>
                                        <p:tav tm="100000">
                                          <p:val>
                                            <p:strVal val="#ppt_x"/>
                                          </p:val>
                                        </p:tav>
                                      </p:tavLst>
                                    </p:anim>
                                    <p:anim calcmode="lin" valueType="num">
                                      <p:cBhvr additive="base">
                                        <p:cTn id="87"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6" grpId="0"/>
      <p:bldP spid="17" grpId="0"/>
      <p:bldP spid="18" grpId="0"/>
      <p:bldP spid="19" grpId="0"/>
      <p:bldP spid="20" grpId="0"/>
      <p:bldP spid="21" grpId="0"/>
      <p:bldP spid="22" grpId="0"/>
      <p:bldP spid="23" grpId="0"/>
      <p:bldP spid="2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39D7EA9-FE94-4A3E-806E-EFC2098B6938}"/>
              </a:ext>
            </a:extLst>
          </p:cNvPr>
          <p:cNvSpPr txBox="1">
            <a:spLocks noChangeArrowheads="1"/>
          </p:cNvSpPr>
          <p:nvPr/>
        </p:nvSpPr>
        <p:spPr>
          <a:xfrm>
            <a:off x="107951" y="4379802"/>
            <a:ext cx="8964612" cy="1786880"/>
          </a:xfrm>
          <a:prstGeom prst="rect">
            <a:avLst/>
          </a:prstGeom>
          <a:no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indent="0" eaLnBrk="1" hangingPunct="1">
              <a:spcBef>
                <a:spcPct val="0"/>
              </a:spcBef>
              <a:buClrTx/>
              <a:buSzTx/>
              <a:buNone/>
            </a:pPr>
            <a:r>
              <a:rPr lang="en-US" altLang="zh-CN" sz="2800" dirty="0">
                <a:solidFill>
                  <a:schemeClr val="bg2"/>
                </a:solidFill>
                <a:effectLst/>
                <a:latin typeface="Times New Roman" panose="02020603050405020304" pitchFamily="18" charset="0"/>
                <a:ea typeface="宋体" panose="02010600030101010101" pitchFamily="2" charset="-122"/>
              </a:rPr>
              <a:t>Dijkstra</a:t>
            </a:r>
            <a:r>
              <a:rPr lang="zh-CN" altLang="en-US" sz="2800" dirty="0">
                <a:solidFill>
                  <a:schemeClr val="bg2"/>
                </a:solidFill>
                <a:effectLst/>
                <a:latin typeface="Times New Roman" panose="02020603050405020304" pitchFamily="18" charset="0"/>
                <a:ea typeface="宋体" panose="02010600030101010101" pitchFamily="2" charset="-122"/>
              </a:rPr>
              <a:t>提出的经典问题之一，信号量机制问题的应用，在操作系统文化史上具有重要的地位。</a:t>
            </a:r>
            <a:endParaRPr lang="en-US" altLang="zh-CN" sz="2800" dirty="0">
              <a:solidFill>
                <a:schemeClr val="bg2"/>
              </a:solidFill>
              <a:effectLst/>
              <a:latin typeface="Times New Roman" panose="02020603050405020304" pitchFamily="18" charset="0"/>
              <a:ea typeface="宋体" panose="02010600030101010101" pitchFamily="2" charset="-122"/>
            </a:endParaRPr>
          </a:p>
          <a:p>
            <a:pPr marL="0" indent="0" eaLnBrk="1" hangingPunct="1">
              <a:spcBef>
                <a:spcPct val="0"/>
              </a:spcBef>
              <a:buClrTx/>
              <a:buSzTx/>
              <a:buNone/>
            </a:pPr>
            <a:r>
              <a:rPr lang="zh-CN" altLang="en-US" sz="2800" dirty="0">
                <a:solidFill>
                  <a:schemeClr val="bg2"/>
                </a:solidFill>
                <a:effectLst/>
                <a:latin typeface="Times New Roman" panose="02020603050405020304" pitchFamily="18" charset="0"/>
                <a:ea typeface="宋体" panose="02010600030101010101" pitchFamily="2" charset="-122"/>
              </a:rPr>
              <a:t>有助于理解资源共享、进程同步、死锁等问题，并能熟练地应用信号量来解决生活中的控制流程。</a:t>
            </a:r>
          </a:p>
        </p:txBody>
      </p:sp>
      <p:sp>
        <p:nvSpPr>
          <p:cNvPr id="6" name="Text Box 5">
            <a:extLst>
              <a:ext uri="{FF2B5EF4-FFF2-40B4-BE49-F238E27FC236}">
                <a16:creationId xmlns:a16="http://schemas.microsoft.com/office/drawing/2014/main" id="{03D53028-9E1F-4942-895E-168FF74B73B2}"/>
              </a:ext>
            </a:extLst>
          </p:cNvPr>
          <p:cNvSpPr txBox="1">
            <a:spLocks noChangeArrowheads="1"/>
          </p:cNvSpPr>
          <p:nvPr/>
        </p:nvSpPr>
        <p:spPr bwMode="auto">
          <a:xfrm>
            <a:off x="0" y="0"/>
            <a:ext cx="9072563" cy="1262063"/>
          </a:xfrm>
          <a:prstGeom prst="rect">
            <a:avLst/>
          </a:prstGeom>
          <a:solidFill>
            <a:schemeClr val="tx1">
              <a:lumMod val="85000"/>
            </a:schemeClr>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800" kern="0" dirty="0">
                <a:solidFill>
                  <a:schemeClr val="bg2"/>
                </a:solidFill>
              </a:rPr>
              <a:t> [</a:t>
            </a:r>
            <a:r>
              <a:rPr lang="zh-CN" altLang="en-US" sz="2800" kern="0" dirty="0">
                <a:solidFill>
                  <a:schemeClr val="bg2"/>
                </a:solidFill>
              </a:rPr>
              <a:t>例</a:t>
            </a:r>
            <a:r>
              <a:rPr lang="en-US" altLang="zh-CN" sz="2800" kern="0" dirty="0">
                <a:solidFill>
                  <a:schemeClr val="bg2"/>
                </a:solidFill>
              </a:rPr>
              <a:t>5.5]  </a:t>
            </a:r>
            <a:r>
              <a:rPr kumimoji="0" lang="en-US" altLang="zh-CN" sz="2400" b="1" dirty="0">
                <a:solidFill>
                  <a:schemeClr val="bg2"/>
                </a:solidFill>
              </a:rPr>
              <a:t>“</a:t>
            </a:r>
            <a:r>
              <a:rPr lang="zh-CN" altLang="en-US" sz="2800" b="1" dirty="0">
                <a:solidFill>
                  <a:schemeClr val="bg2"/>
                </a:solidFill>
              </a:rPr>
              <a:t>哲学家进餐”问题。</a:t>
            </a:r>
          </a:p>
          <a:p>
            <a:pPr eaLnBrk="1" hangingPunct="1">
              <a:spcBef>
                <a:spcPct val="0"/>
              </a:spcBef>
              <a:buClrTx/>
              <a:buSzTx/>
              <a:buFontTx/>
              <a:buNone/>
            </a:pPr>
            <a:r>
              <a:rPr lang="en-US" altLang="zh-CN" sz="2400" b="1" dirty="0">
                <a:solidFill>
                  <a:schemeClr val="bg2"/>
                </a:solidFill>
              </a:rPr>
              <a:t>5</a:t>
            </a:r>
            <a:r>
              <a:rPr lang="zh-CN" altLang="en-US" sz="2400" b="1" dirty="0">
                <a:solidFill>
                  <a:schemeClr val="bg2"/>
                </a:solidFill>
              </a:rPr>
              <a:t>个哲学家围坐在圆桌旁，每人面前有一只盘子，盘子两边各放一只筷子。哲学家的生活是：思考，就餐，再思考，循环往复。</a:t>
            </a:r>
          </a:p>
        </p:txBody>
      </p:sp>
      <p:grpSp>
        <p:nvGrpSpPr>
          <p:cNvPr id="40" name="Group 6">
            <a:extLst>
              <a:ext uri="{FF2B5EF4-FFF2-40B4-BE49-F238E27FC236}">
                <a16:creationId xmlns:a16="http://schemas.microsoft.com/office/drawing/2014/main" id="{3B8EDE5B-E66C-4585-8658-FEF77B9E77D0}"/>
              </a:ext>
            </a:extLst>
          </p:cNvPr>
          <p:cNvGrpSpPr>
            <a:grpSpLocks/>
          </p:cNvGrpSpPr>
          <p:nvPr/>
        </p:nvGrpSpPr>
        <p:grpSpPr bwMode="auto">
          <a:xfrm>
            <a:off x="5867400" y="1258888"/>
            <a:ext cx="2882900" cy="2474912"/>
            <a:chOff x="3832" y="793"/>
            <a:chExt cx="1816" cy="1559"/>
          </a:xfrm>
        </p:grpSpPr>
        <p:sp>
          <p:nvSpPr>
            <p:cNvPr id="41" name="Oval 7">
              <a:extLst>
                <a:ext uri="{FF2B5EF4-FFF2-40B4-BE49-F238E27FC236}">
                  <a16:creationId xmlns:a16="http://schemas.microsoft.com/office/drawing/2014/main" id="{E26B1180-B1C6-4BC9-81D7-649940A908B1}"/>
                </a:ext>
              </a:extLst>
            </p:cNvPr>
            <p:cNvSpPr>
              <a:spLocks noChangeArrowheads="1"/>
            </p:cNvSpPr>
            <p:nvPr/>
          </p:nvSpPr>
          <p:spPr bwMode="auto">
            <a:xfrm>
              <a:off x="4059" y="1026"/>
              <a:ext cx="1179" cy="1134"/>
            </a:xfrm>
            <a:prstGeom prst="ellipse">
              <a:avLst/>
            </a:prstGeom>
            <a:solidFill>
              <a:schemeClr val="accent1">
                <a:alpha val="0"/>
              </a:schemeClr>
            </a:solidFill>
            <a:ln w="2857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42" name="Oval 8">
              <a:extLst>
                <a:ext uri="{FF2B5EF4-FFF2-40B4-BE49-F238E27FC236}">
                  <a16:creationId xmlns:a16="http://schemas.microsoft.com/office/drawing/2014/main" id="{F0797D11-A8AF-4444-A980-DC2A788FD6E9}"/>
                </a:ext>
              </a:extLst>
            </p:cNvPr>
            <p:cNvSpPr>
              <a:spLocks noChangeArrowheads="1"/>
            </p:cNvSpPr>
            <p:nvPr/>
          </p:nvSpPr>
          <p:spPr bwMode="auto">
            <a:xfrm>
              <a:off x="4558" y="1117"/>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43" name="Oval 9">
              <a:extLst>
                <a:ext uri="{FF2B5EF4-FFF2-40B4-BE49-F238E27FC236}">
                  <a16:creationId xmlns:a16="http://schemas.microsoft.com/office/drawing/2014/main" id="{9EEEE1CB-1E6D-4FB5-B9A1-C8406AA72C36}"/>
                </a:ext>
              </a:extLst>
            </p:cNvPr>
            <p:cNvSpPr>
              <a:spLocks noChangeArrowheads="1"/>
            </p:cNvSpPr>
            <p:nvPr/>
          </p:nvSpPr>
          <p:spPr bwMode="auto">
            <a:xfrm>
              <a:off x="4513" y="1072"/>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80" name="Oval 10">
              <a:extLst>
                <a:ext uri="{FF2B5EF4-FFF2-40B4-BE49-F238E27FC236}">
                  <a16:creationId xmlns:a16="http://schemas.microsoft.com/office/drawing/2014/main" id="{A6790016-FC02-4DB3-9198-400CE955E5CC}"/>
                </a:ext>
              </a:extLst>
            </p:cNvPr>
            <p:cNvSpPr>
              <a:spLocks noChangeArrowheads="1"/>
            </p:cNvSpPr>
            <p:nvPr/>
          </p:nvSpPr>
          <p:spPr bwMode="auto">
            <a:xfrm>
              <a:off x="4195" y="1389"/>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81" name="Oval 11">
              <a:extLst>
                <a:ext uri="{FF2B5EF4-FFF2-40B4-BE49-F238E27FC236}">
                  <a16:creationId xmlns:a16="http://schemas.microsoft.com/office/drawing/2014/main" id="{15658355-13B0-4D18-9A83-44AB76666A64}"/>
                </a:ext>
              </a:extLst>
            </p:cNvPr>
            <p:cNvSpPr>
              <a:spLocks noChangeArrowheads="1"/>
            </p:cNvSpPr>
            <p:nvPr/>
          </p:nvSpPr>
          <p:spPr bwMode="auto">
            <a:xfrm>
              <a:off x="4150" y="1344"/>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82" name="Oval 12">
              <a:extLst>
                <a:ext uri="{FF2B5EF4-FFF2-40B4-BE49-F238E27FC236}">
                  <a16:creationId xmlns:a16="http://schemas.microsoft.com/office/drawing/2014/main" id="{1390C3CF-ADB3-444F-AFA8-A31C4EDF0E0E}"/>
                </a:ext>
              </a:extLst>
            </p:cNvPr>
            <p:cNvSpPr>
              <a:spLocks noChangeArrowheads="1"/>
            </p:cNvSpPr>
            <p:nvPr/>
          </p:nvSpPr>
          <p:spPr bwMode="auto">
            <a:xfrm>
              <a:off x="4966" y="1389"/>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83" name="Oval 13">
              <a:extLst>
                <a:ext uri="{FF2B5EF4-FFF2-40B4-BE49-F238E27FC236}">
                  <a16:creationId xmlns:a16="http://schemas.microsoft.com/office/drawing/2014/main" id="{A3EAB249-D894-40E0-8178-591D90374E11}"/>
                </a:ext>
              </a:extLst>
            </p:cNvPr>
            <p:cNvSpPr>
              <a:spLocks noChangeArrowheads="1"/>
            </p:cNvSpPr>
            <p:nvPr/>
          </p:nvSpPr>
          <p:spPr bwMode="auto">
            <a:xfrm>
              <a:off x="4921" y="1344"/>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84" name="Oval 14">
              <a:extLst>
                <a:ext uri="{FF2B5EF4-FFF2-40B4-BE49-F238E27FC236}">
                  <a16:creationId xmlns:a16="http://schemas.microsoft.com/office/drawing/2014/main" id="{7DB85CBA-DBEE-47C6-A8FC-6EA0C3FBFC52}"/>
                </a:ext>
              </a:extLst>
            </p:cNvPr>
            <p:cNvSpPr>
              <a:spLocks noChangeArrowheads="1"/>
            </p:cNvSpPr>
            <p:nvPr/>
          </p:nvSpPr>
          <p:spPr bwMode="auto">
            <a:xfrm>
              <a:off x="4331" y="1842"/>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85" name="Oval 15">
              <a:extLst>
                <a:ext uri="{FF2B5EF4-FFF2-40B4-BE49-F238E27FC236}">
                  <a16:creationId xmlns:a16="http://schemas.microsoft.com/office/drawing/2014/main" id="{641E519D-1133-49E2-BF93-D4EA712DF53A}"/>
                </a:ext>
              </a:extLst>
            </p:cNvPr>
            <p:cNvSpPr>
              <a:spLocks noChangeArrowheads="1"/>
            </p:cNvSpPr>
            <p:nvPr/>
          </p:nvSpPr>
          <p:spPr bwMode="auto">
            <a:xfrm>
              <a:off x="4286" y="1797"/>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86" name="Oval 16">
              <a:extLst>
                <a:ext uri="{FF2B5EF4-FFF2-40B4-BE49-F238E27FC236}">
                  <a16:creationId xmlns:a16="http://schemas.microsoft.com/office/drawing/2014/main" id="{F085C0AA-2305-4ED1-B3B1-86DD665C0E7E}"/>
                </a:ext>
              </a:extLst>
            </p:cNvPr>
            <p:cNvSpPr>
              <a:spLocks noChangeArrowheads="1"/>
            </p:cNvSpPr>
            <p:nvPr/>
          </p:nvSpPr>
          <p:spPr bwMode="auto">
            <a:xfrm>
              <a:off x="4830" y="1842"/>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87" name="Oval 17">
              <a:extLst>
                <a:ext uri="{FF2B5EF4-FFF2-40B4-BE49-F238E27FC236}">
                  <a16:creationId xmlns:a16="http://schemas.microsoft.com/office/drawing/2014/main" id="{E9E9F2FC-FE66-441F-A3F7-850ADA831877}"/>
                </a:ext>
              </a:extLst>
            </p:cNvPr>
            <p:cNvSpPr>
              <a:spLocks noChangeArrowheads="1"/>
            </p:cNvSpPr>
            <p:nvPr/>
          </p:nvSpPr>
          <p:spPr bwMode="auto">
            <a:xfrm>
              <a:off x="4785" y="1797"/>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88" name="Line 18">
              <a:extLst>
                <a:ext uri="{FF2B5EF4-FFF2-40B4-BE49-F238E27FC236}">
                  <a16:creationId xmlns:a16="http://schemas.microsoft.com/office/drawing/2014/main" id="{75537653-2492-4C7D-96E3-4DD12C096A21}"/>
                </a:ext>
              </a:extLst>
            </p:cNvPr>
            <p:cNvSpPr>
              <a:spLocks noChangeShapeType="1"/>
            </p:cNvSpPr>
            <p:nvPr/>
          </p:nvSpPr>
          <p:spPr bwMode="auto">
            <a:xfrm>
              <a:off x="4331" y="1208"/>
              <a:ext cx="137" cy="13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89" name="Line 19">
              <a:extLst>
                <a:ext uri="{FF2B5EF4-FFF2-40B4-BE49-F238E27FC236}">
                  <a16:creationId xmlns:a16="http://schemas.microsoft.com/office/drawing/2014/main" id="{461F4BD5-0B98-4D5F-9361-A8F6681EE733}"/>
                </a:ext>
              </a:extLst>
            </p:cNvPr>
            <p:cNvSpPr>
              <a:spLocks noChangeShapeType="1"/>
            </p:cNvSpPr>
            <p:nvPr/>
          </p:nvSpPr>
          <p:spPr bwMode="auto">
            <a:xfrm flipV="1">
              <a:off x="4195" y="1661"/>
              <a:ext cx="181" cy="91"/>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90" name="Line 20">
              <a:extLst>
                <a:ext uri="{FF2B5EF4-FFF2-40B4-BE49-F238E27FC236}">
                  <a16:creationId xmlns:a16="http://schemas.microsoft.com/office/drawing/2014/main" id="{F5C85175-230F-47A8-BDB9-9207A214E5E1}"/>
                </a:ext>
              </a:extLst>
            </p:cNvPr>
            <p:cNvSpPr>
              <a:spLocks noChangeShapeType="1"/>
            </p:cNvSpPr>
            <p:nvPr/>
          </p:nvSpPr>
          <p:spPr bwMode="auto">
            <a:xfrm>
              <a:off x="4649" y="1843"/>
              <a:ext cx="0" cy="227"/>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91" name="Line 21">
              <a:extLst>
                <a:ext uri="{FF2B5EF4-FFF2-40B4-BE49-F238E27FC236}">
                  <a16:creationId xmlns:a16="http://schemas.microsoft.com/office/drawing/2014/main" id="{922BAFD9-D8CE-4DBF-B5AB-B9BB431C9B6C}"/>
                </a:ext>
              </a:extLst>
            </p:cNvPr>
            <p:cNvSpPr>
              <a:spLocks noChangeShapeType="1"/>
            </p:cNvSpPr>
            <p:nvPr/>
          </p:nvSpPr>
          <p:spPr bwMode="auto">
            <a:xfrm>
              <a:off x="4875" y="1661"/>
              <a:ext cx="182" cy="91"/>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92" name="Line 22">
              <a:extLst>
                <a:ext uri="{FF2B5EF4-FFF2-40B4-BE49-F238E27FC236}">
                  <a16:creationId xmlns:a16="http://schemas.microsoft.com/office/drawing/2014/main" id="{1F35C36E-C5E1-44AB-AD54-C978C53130F0}"/>
                </a:ext>
              </a:extLst>
            </p:cNvPr>
            <p:cNvSpPr>
              <a:spLocks noChangeShapeType="1"/>
            </p:cNvSpPr>
            <p:nvPr/>
          </p:nvSpPr>
          <p:spPr bwMode="auto">
            <a:xfrm flipH="1">
              <a:off x="4830" y="1208"/>
              <a:ext cx="91" cy="181"/>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93" name="Rectangle 23">
              <a:extLst>
                <a:ext uri="{FF2B5EF4-FFF2-40B4-BE49-F238E27FC236}">
                  <a16:creationId xmlns:a16="http://schemas.microsoft.com/office/drawing/2014/main" id="{2FFC7047-E2BD-49CA-A3EC-81B4AAE02D4D}"/>
                </a:ext>
              </a:extLst>
            </p:cNvPr>
            <p:cNvSpPr>
              <a:spLocks noChangeArrowheads="1"/>
            </p:cNvSpPr>
            <p:nvPr/>
          </p:nvSpPr>
          <p:spPr bwMode="auto">
            <a:xfrm>
              <a:off x="4558" y="799"/>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94" name="Text Box 24">
              <a:extLst>
                <a:ext uri="{FF2B5EF4-FFF2-40B4-BE49-F238E27FC236}">
                  <a16:creationId xmlns:a16="http://schemas.microsoft.com/office/drawing/2014/main" id="{916A06F3-7D7D-477B-87AF-D1BE73FB0F2D}"/>
                </a:ext>
              </a:extLst>
            </p:cNvPr>
            <p:cNvSpPr txBox="1">
              <a:spLocks noChangeArrowheads="1"/>
            </p:cNvSpPr>
            <p:nvPr/>
          </p:nvSpPr>
          <p:spPr bwMode="auto">
            <a:xfrm>
              <a:off x="4562" y="793"/>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0</a:t>
              </a:r>
            </a:p>
          </p:txBody>
        </p:sp>
        <p:sp>
          <p:nvSpPr>
            <p:cNvPr id="95" name="Rectangle 25">
              <a:extLst>
                <a:ext uri="{FF2B5EF4-FFF2-40B4-BE49-F238E27FC236}">
                  <a16:creationId xmlns:a16="http://schemas.microsoft.com/office/drawing/2014/main" id="{48A7A6DE-36DA-4E96-87D0-8A7FF5A38C49}"/>
                </a:ext>
              </a:extLst>
            </p:cNvPr>
            <p:cNvSpPr>
              <a:spLocks noChangeArrowheads="1"/>
            </p:cNvSpPr>
            <p:nvPr/>
          </p:nvSpPr>
          <p:spPr bwMode="auto">
            <a:xfrm>
              <a:off x="5284" y="1208"/>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96" name="Text Box 26">
              <a:extLst>
                <a:ext uri="{FF2B5EF4-FFF2-40B4-BE49-F238E27FC236}">
                  <a16:creationId xmlns:a16="http://schemas.microsoft.com/office/drawing/2014/main" id="{D6FFDCDA-0878-4746-A25C-87C2334821BF}"/>
                </a:ext>
              </a:extLst>
            </p:cNvPr>
            <p:cNvSpPr txBox="1">
              <a:spLocks noChangeArrowheads="1"/>
            </p:cNvSpPr>
            <p:nvPr/>
          </p:nvSpPr>
          <p:spPr bwMode="auto">
            <a:xfrm>
              <a:off x="5284" y="1202"/>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dirty="0">
                  <a:solidFill>
                    <a:schemeClr val="bg2"/>
                  </a:solidFill>
                </a:rPr>
                <a:t>4</a:t>
              </a:r>
            </a:p>
          </p:txBody>
        </p:sp>
        <p:sp>
          <p:nvSpPr>
            <p:cNvPr id="97" name="Rectangle 27">
              <a:extLst>
                <a:ext uri="{FF2B5EF4-FFF2-40B4-BE49-F238E27FC236}">
                  <a16:creationId xmlns:a16="http://schemas.microsoft.com/office/drawing/2014/main" id="{77943BC8-162C-4236-95F9-3D0D558C0D0A}"/>
                </a:ext>
              </a:extLst>
            </p:cNvPr>
            <p:cNvSpPr>
              <a:spLocks noChangeArrowheads="1"/>
            </p:cNvSpPr>
            <p:nvPr/>
          </p:nvSpPr>
          <p:spPr bwMode="auto">
            <a:xfrm>
              <a:off x="5102" y="2069"/>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98" name="Text Box 28">
              <a:extLst>
                <a:ext uri="{FF2B5EF4-FFF2-40B4-BE49-F238E27FC236}">
                  <a16:creationId xmlns:a16="http://schemas.microsoft.com/office/drawing/2014/main" id="{A4346F49-B6A0-44B9-B145-C018965EBCCB}"/>
                </a:ext>
              </a:extLst>
            </p:cNvPr>
            <p:cNvSpPr txBox="1">
              <a:spLocks noChangeArrowheads="1"/>
            </p:cNvSpPr>
            <p:nvPr/>
          </p:nvSpPr>
          <p:spPr bwMode="auto">
            <a:xfrm>
              <a:off x="5103" y="2069"/>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dirty="0">
                  <a:solidFill>
                    <a:schemeClr val="bg2"/>
                  </a:solidFill>
                </a:rPr>
                <a:t>3</a:t>
              </a:r>
            </a:p>
          </p:txBody>
        </p:sp>
        <p:sp>
          <p:nvSpPr>
            <p:cNvPr id="99" name="Rectangle 29">
              <a:extLst>
                <a:ext uri="{FF2B5EF4-FFF2-40B4-BE49-F238E27FC236}">
                  <a16:creationId xmlns:a16="http://schemas.microsoft.com/office/drawing/2014/main" id="{ABC37941-DEF6-4A2F-9536-0A463B71017E}"/>
                </a:ext>
              </a:extLst>
            </p:cNvPr>
            <p:cNvSpPr>
              <a:spLocks noChangeArrowheads="1"/>
            </p:cNvSpPr>
            <p:nvPr/>
          </p:nvSpPr>
          <p:spPr bwMode="auto">
            <a:xfrm>
              <a:off x="4150" y="2160"/>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100" name="Text Box 30">
              <a:extLst>
                <a:ext uri="{FF2B5EF4-FFF2-40B4-BE49-F238E27FC236}">
                  <a16:creationId xmlns:a16="http://schemas.microsoft.com/office/drawing/2014/main" id="{FFE12F17-0A3B-4952-B229-9B11C91E6420}"/>
                </a:ext>
              </a:extLst>
            </p:cNvPr>
            <p:cNvSpPr txBox="1">
              <a:spLocks noChangeArrowheads="1"/>
            </p:cNvSpPr>
            <p:nvPr/>
          </p:nvSpPr>
          <p:spPr bwMode="auto">
            <a:xfrm>
              <a:off x="4155" y="2156"/>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2</a:t>
              </a:r>
            </a:p>
          </p:txBody>
        </p:sp>
        <p:sp>
          <p:nvSpPr>
            <p:cNvPr id="101" name="Rectangle 31">
              <a:extLst>
                <a:ext uri="{FF2B5EF4-FFF2-40B4-BE49-F238E27FC236}">
                  <a16:creationId xmlns:a16="http://schemas.microsoft.com/office/drawing/2014/main" id="{2E8DF5AF-0C29-44D6-8E3F-D104E4175C8F}"/>
                </a:ext>
              </a:extLst>
            </p:cNvPr>
            <p:cNvSpPr>
              <a:spLocks noChangeArrowheads="1"/>
            </p:cNvSpPr>
            <p:nvPr/>
          </p:nvSpPr>
          <p:spPr bwMode="auto">
            <a:xfrm>
              <a:off x="3832" y="1253"/>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102" name="Text Box 32">
              <a:extLst>
                <a:ext uri="{FF2B5EF4-FFF2-40B4-BE49-F238E27FC236}">
                  <a16:creationId xmlns:a16="http://schemas.microsoft.com/office/drawing/2014/main" id="{A8E0DCFB-53FA-4300-8893-B755507DAE98}"/>
                </a:ext>
              </a:extLst>
            </p:cNvPr>
            <p:cNvSpPr txBox="1">
              <a:spLocks noChangeArrowheads="1"/>
            </p:cNvSpPr>
            <p:nvPr/>
          </p:nvSpPr>
          <p:spPr bwMode="auto">
            <a:xfrm>
              <a:off x="3838" y="1247"/>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1</a:t>
              </a:r>
            </a:p>
          </p:txBody>
        </p:sp>
        <p:sp>
          <p:nvSpPr>
            <p:cNvPr id="103" name="Text Box 33">
              <a:extLst>
                <a:ext uri="{FF2B5EF4-FFF2-40B4-BE49-F238E27FC236}">
                  <a16:creationId xmlns:a16="http://schemas.microsoft.com/office/drawing/2014/main" id="{D0283AF2-903B-4915-AF58-C6B7D2219BE3}"/>
                </a:ext>
              </a:extLst>
            </p:cNvPr>
            <p:cNvSpPr txBox="1">
              <a:spLocks noChangeArrowheads="1"/>
            </p:cNvSpPr>
            <p:nvPr/>
          </p:nvSpPr>
          <p:spPr bwMode="auto">
            <a:xfrm>
              <a:off x="5193" y="1707"/>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4</a:t>
              </a:r>
            </a:p>
          </p:txBody>
        </p:sp>
        <p:sp>
          <p:nvSpPr>
            <p:cNvPr id="104" name="Text Box 34">
              <a:extLst>
                <a:ext uri="{FF2B5EF4-FFF2-40B4-BE49-F238E27FC236}">
                  <a16:creationId xmlns:a16="http://schemas.microsoft.com/office/drawing/2014/main" id="{C47B1806-E843-479A-B27A-EC682FBC0D3F}"/>
                </a:ext>
              </a:extLst>
            </p:cNvPr>
            <p:cNvSpPr txBox="1">
              <a:spLocks noChangeArrowheads="1"/>
            </p:cNvSpPr>
            <p:nvPr/>
          </p:nvSpPr>
          <p:spPr bwMode="auto">
            <a:xfrm>
              <a:off x="4558" y="2160"/>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3</a:t>
              </a:r>
            </a:p>
          </p:txBody>
        </p:sp>
        <p:sp>
          <p:nvSpPr>
            <p:cNvPr id="105" name="Text Box 35">
              <a:extLst>
                <a:ext uri="{FF2B5EF4-FFF2-40B4-BE49-F238E27FC236}">
                  <a16:creationId xmlns:a16="http://schemas.microsoft.com/office/drawing/2014/main" id="{F32667B7-C37B-4536-B4AB-AD19A7D8074B}"/>
                </a:ext>
              </a:extLst>
            </p:cNvPr>
            <p:cNvSpPr txBox="1">
              <a:spLocks noChangeArrowheads="1"/>
            </p:cNvSpPr>
            <p:nvPr/>
          </p:nvSpPr>
          <p:spPr bwMode="auto">
            <a:xfrm>
              <a:off x="3923" y="1752"/>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2</a:t>
              </a:r>
            </a:p>
          </p:txBody>
        </p:sp>
        <p:sp>
          <p:nvSpPr>
            <p:cNvPr id="106" name="Text Box 36">
              <a:extLst>
                <a:ext uri="{FF2B5EF4-FFF2-40B4-BE49-F238E27FC236}">
                  <a16:creationId xmlns:a16="http://schemas.microsoft.com/office/drawing/2014/main" id="{FC478D25-85D2-4E5B-AB22-90DFEB7689ED}"/>
                </a:ext>
              </a:extLst>
            </p:cNvPr>
            <p:cNvSpPr txBox="1">
              <a:spLocks noChangeArrowheads="1"/>
            </p:cNvSpPr>
            <p:nvPr/>
          </p:nvSpPr>
          <p:spPr bwMode="auto">
            <a:xfrm>
              <a:off x="4150" y="981"/>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1</a:t>
              </a:r>
            </a:p>
          </p:txBody>
        </p:sp>
        <p:sp>
          <p:nvSpPr>
            <p:cNvPr id="107" name="Text Box 37">
              <a:extLst>
                <a:ext uri="{FF2B5EF4-FFF2-40B4-BE49-F238E27FC236}">
                  <a16:creationId xmlns:a16="http://schemas.microsoft.com/office/drawing/2014/main" id="{4357D65D-DFF8-490C-A565-691E7E110C7C}"/>
                </a:ext>
              </a:extLst>
            </p:cNvPr>
            <p:cNvSpPr txBox="1">
              <a:spLocks noChangeArrowheads="1"/>
            </p:cNvSpPr>
            <p:nvPr/>
          </p:nvSpPr>
          <p:spPr bwMode="auto">
            <a:xfrm>
              <a:off x="4966" y="935"/>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0</a:t>
              </a:r>
            </a:p>
          </p:txBody>
        </p:sp>
        <p:sp>
          <p:nvSpPr>
            <p:cNvPr id="108" name="Line 38">
              <a:extLst>
                <a:ext uri="{FF2B5EF4-FFF2-40B4-BE49-F238E27FC236}">
                  <a16:creationId xmlns:a16="http://schemas.microsoft.com/office/drawing/2014/main" id="{D6F1F0BD-02BC-4B85-87DA-6B32F9AFFEDE}"/>
                </a:ext>
              </a:extLst>
            </p:cNvPr>
            <p:cNvSpPr>
              <a:spLocks noChangeShapeType="1"/>
            </p:cNvSpPr>
            <p:nvPr/>
          </p:nvSpPr>
          <p:spPr bwMode="auto">
            <a:xfrm flipH="1">
              <a:off x="4739" y="890"/>
              <a:ext cx="91" cy="0"/>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109" name="Line 39">
              <a:extLst>
                <a:ext uri="{FF2B5EF4-FFF2-40B4-BE49-F238E27FC236}">
                  <a16:creationId xmlns:a16="http://schemas.microsoft.com/office/drawing/2014/main" id="{DDAFD1D5-1490-4F0F-8F29-B346D1BA9B27}"/>
                </a:ext>
              </a:extLst>
            </p:cNvPr>
            <p:cNvSpPr>
              <a:spLocks noChangeShapeType="1"/>
            </p:cNvSpPr>
            <p:nvPr/>
          </p:nvSpPr>
          <p:spPr bwMode="auto">
            <a:xfrm flipH="1">
              <a:off x="5102" y="1026"/>
              <a:ext cx="91" cy="0"/>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110" name="Text Box 40">
              <a:extLst>
                <a:ext uri="{FF2B5EF4-FFF2-40B4-BE49-F238E27FC236}">
                  <a16:creationId xmlns:a16="http://schemas.microsoft.com/office/drawing/2014/main" id="{AB6DC04F-8258-4A77-A49F-87E5F40D503E}"/>
                </a:ext>
              </a:extLst>
            </p:cNvPr>
            <p:cNvSpPr txBox="1">
              <a:spLocks noChangeArrowheads="1"/>
            </p:cNvSpPr>
            <p:nvPr/>
          </p:nvSpPr>
          <p:spPr bwMode="auto">
            <a:xfrm>
              <a:off x="4785" y="799"/>
              <a:ext cx="596" cy="173"/>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200">
                  <a:solidFill>
                    <a:schemeClr val="bg2"/>
                  </a:solidFill>
                  <a:latin typeface="Arial" panose="020B0604020202020204" pitchFamily="34" charset="0"/>
                </a:rPr>
                <a:t>哲学家编号</a:t>
              </a:r>
            </a:p>
          </p:txBody>
        </p:sp>
        <p:sp>
          <p:nvSpPr>
            <p:cNvPr id="111" name="Text Box 41">
              <a:extLst>
                <a:ext uri="{FF2B5EF4-FFF2-40B4-BE49-F238E27FC236}">
                  <a16:creationId xmlns:a16="http://schemas.microsoft.com/office/drawing/2014/main" id="{7C3F67A4-C610-4DFB-B5BB-4CB819F85232}"/>
                </a:ext>
              </a:extLst>
            </p:cNvPr>
            <p:cNvSpPr txBox="1">
              <a:spLocks noChangeArrowheads="1"/>
            </p:cNvSpPr>
            <p:nvPr/>
          </p:nvSpPr>
          <p:spPr bwMode="auto">
            <a:xfrm>
              <a:off x="5148" y="935"/>
              <a:ext cx="500" cy="173"/>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200" dirty="0">
                  <a:solidFill>
                    <a:schemeClr val="bg2"/>
                  </a:solidFill>
                  <a:latin typeface="Arial" panose="020B0604020202020204" pitchFamily="34" charset="0"/>
                </a:rPr>
                <a:t>筷子编号</a:t>
              </a:r>
            </a:p>
          </p:txBody>
        </p:sp>
      </p:grpSp>
      <p:sp>
        <p:nvSpPr>
          <p:cNvPr id="4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750296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1+#ppt_w/2"/>
                                          </p:val>
                                        </p:tav>
                                        <p:tav tm="100000">
                                          <p:val>
                                            <p:strVal val="#ppt_x"/>
                                          </p:val>
                                        </p:tav>
                                      </p:tavLst>
                                    </p:anim>
                                    <p:anim calcmode="lin" valueType="num">
                                      <p:cBhvr additive="base">
                                        <p:cTn id="8"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F3703A3-1889-4D5A-B002-82B1611E7DF6}" type="datetime1">
              <a:rPr lang="zh-CN" altLang="en-US" smtClean="0"/>
              <a:pPr>
                <a:defRPr/>
              </a:pPr>
              <a:t>2024/10/9</a:t>
            </a:fld>
            <a:endParaRPr lang="en-US" altLang="zh-CN"/>
          </a:p>
        </p:txBody>
      </p:sp>
      <p:sp>
        <p:nvSpPr>
          <p:cNvPr id="3" name="灯片编号占位符 2"/>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39</a:t>
            </a:fld>
            <a:r>
              <a:rPr lang="zh-CN" altLang="en-US"/>
              <a:t> 页</a:t>
            </a:r>
          </a:p>
        </p:txBody>
      </p:sp>
      <p:sp>
        <p:nvSpPr>
          <p:cNvPr id="4" name="Text Box 4"/>
          <p:cNvSpPr txBox="1">
            <a:spLocks noChangeArrowheads="1"/>
          </p:cNvSpPr>
          <p:nvPr/>
        </p:nvSpPr>
        <p:spPr bwMode="auto">
          <a:xfrm>
            <a:off x="107950" y="0"/>
            <a:ext cx="8964613" cy="1262063"/>
          </a:xfrm>
          <a:prstGeom prst="rect">
            <a:avLst/>
          </a:prstGeom>
          <a:solidFill>
            <a:schemeClr val="tx1">
              <a:lumMod val="85000"/>
            </a:schemeClr>
          </a:solidFill>
          <a:ln>
            <a:noFill/>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kumimoji="0" lang="en-US" altLang="zh-CN" sz="2400" b="1" dirty="0">
                <a:solidFill>
                  <a:schemeClr val="bg2"/>
                </a:solidFill>
              </a:rPr>
              <a:t>“</a:t>
            </a:r>
            <a:r>
              <a:rPr lang="zh-CN" altLang="en-US" sz="2800" b="1" dirty="0">
                <a:solidFill>
                  <a:schemeClr val="bg2"/>
                </a:solidFill>
              </a:rPr>
              <a:t>哲学家进餐”问题。</a:t>
            </a:r>
          </a:p>
          <a:p>
            <a:pPr eaLnBrk="1" hangingPunct="1">
              <a:spcBef>
                <a:spcPct val="0"/>
              </a:spcBef>
              <a:buClrTx/>
              <a:buSzTx/>
              <a:buFontTx/>
              <a:buNone/>
            </a:pPr>
            <a:r>
              <a:rPr lang="en-US" altLang="zh-CN" sz="2400" b="1" dirty="0">
                <a:solidFill>
                  <a:schemeClr val="bg2"/>
                </a:solidFill>
              </a:rPr>
              <a:t>5</a:t>
            </a:r>
            <a:r>
              <a:rPr lang="zh-CN" altLang="en-US" sz="2400" b="1" dirty="0">
                <a:solidFill>
                  <a:schemeClr val="bg2"/>
                </a:solidFill>
              </a:rPr>
              <a:t>个哲学家围坐在圆桌旁，每人面前有一只盘子，盘子两边各放一只筷子。哲学家的生活是：思考，就餐，再思考，循环往复。</a:t>
            </a:r>
          </a:p>
        </p:txBody>
      </p:sp>
      <p:sp>
        <p:nvSpPr>
          <p:cNvPr id="5" name="Text Box 5"/>
          <p:cNvSpPr txBox="1">
            <a:spLocks noChangeArrowheads="1"/>
          </p:cNvSpPr>
          <p:nvPr/>
        </p:nvSpPr>
        <p:spPr bwMode="auto">
          <a:xfrm>
            <a:off x="144463" y="1675835"/>
            <a:ext cx="5673725" cy="1938992"/>
          </a:xfrm>
          <a:prstGeom prst="rect">
            <a:avLst/>
          </a:prstGeom>
          <a:solidFill>
            <a:schemeClr val="tx1">
              <a:lumMod val="85000"/>
            </a:schemeClr>
          </a:solidFill>
          <a:ln>
            <a:noFill/>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85725" indent="-85725" eaLnBrk="1" hangingPunct="1">
              <a:spcBef>
                <a:spcPct val="0"/>
              </a:spcBef>
              <a:buClrTx/>
              <a:buFont typeface="Wingdings" panose="05000000000000000000" pitchFamily="2" charset="2"/>
              <a:buChar char="n"/>
            </a:pPr>
            <a:r>
              <a:rPr kumimoji="0" lang="zh-CN" altLang="en-US" sz="2400" b="1" dirty="0">
                <a:solidFill>
                  <a:schemeClr val="bg2"/>
                </a:solidFill>
                <a:latin typeface="Arial" panose="020B0604020202020204" pitchFamily="34" charset="0"/>
              </a:rPr>
              <a:t>只有在拿到左右两只筷子后，才能就餐；</a:t>
            </a:r>
          </a:p>
          <a:p>
            <a:pPr marL="85725" indent="-85725" eaLnBrk="1" hangingPunct="1">
              <a:spcBef>
                <a:spcPct val="0"/>
              </a:spcBef>
              <a:buClrTx/>
              <a:buFont typeface="Wingdings" panose="05000000000000000000" pitchFamily="2" charset="2"/>
              <a:buChar char="n"/>
            </a:pPr>
            <a:r>
              <a:rPr kumimoji="0" lang="zh-CN" altLang="en-US" sz="2400" b="1" dirty="0">
                <a:solidFill>
                  <a:schemeClr val="bg2"/>
                </a:solidFill>
                <a:latin typeface="Arial" panose="020B0604020202020204" pitchFamily="34" charset="0"/>
              </a:rPr>
              <a:t>不能同时抓旁边的两只筷子；</a:t>
            </a:r>
          </a:p>
          <a:p>
            <a:pPr marL="85725" indent="-85725" eaLnBrk="1" hangingPunct="1">
              <a:spcBef>
                <a:spcPct val="0"/>
              </a:spcBef>
              <a:buClrTx/>
              <a:buFont typeface="Wingdings" panose="05000000000000000000" pitchFamily="2" charset="2"/>
              <a:buChar char="n"/>
            </a:pPr>
            <a:r>
              <a:rPr kumimoji="0" lang="zh-CN" altLang="en-US" sz="2400" b="1" dirty="0">
                <a:solidFill>
                  <a:schemeClr val="bg2"/>
                </a:solidFill>
                <a:latin typeface="Arial" panose="020B0604020202020204" pitchFamily="34" charset="0"/>
              </a:rPr>
              <a:t>如果筷子在他人手里，必须等待他人吃完后，才能拿到筷子；</a:t>
            </a:r>
          </a:p>
          <a:p>
            <a:pPr marL="85725" indent="-85725" eaLnBrk="1" hangingPunct="1">
              <a:spcBef>
                <a:spcPct val="0"/>
              </a:spcBef>
              <a:buClrTx/>
              <a:buFont typeface="Wingdings" panose="05000000000000000000" pitchFamily="2" charset="2"/>
              <a:buChar char="n"/>
            </a:pPr>
            <a:r>
              <a:rPr kumimoji="0" lang="zh-CN" altLang="en-US" sz="2400" b="1" dirty="0">
                <a:solidFill>
                  <a:schemeClr val="bg2"/>
                </a:solidFill>
                <a:latin typeface="Arial" panose="020B0604020202020204" pitchFamily="34" charset="0"/>
              </a:rPr>
              <a:t>就餐后必须放下手中的筷子思考。</a:t>
            </a:r>
          </a:p>
        </p:txBody>
      </p:sp>
      <p:sp>
        <p:nvSpPr>
          <p:cNvPr id="42" name="Text Box 42"/>
          <p:cNvSpPr txBox="1">
            <a:spLocks noChangeArrowheads="1"/>
          </p:cNvSpPr>
          <p:nvPr/>
        </p:nvSpPr>
        <p:spPr bwMode="auto">
          <a:xfrm>
            <a:off x="1" y="4941888"/>
            <a:ext cx="9072562" cy="954107"/>
          </a:xfrm>
          <a:prstGeom prst="rect">
            <a:avLst/>
          </a:prstGeom>
          <a:solidFill>
            <a:srgbClr val="BDCDFF"/>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b="1" dirty="0">
                <a:solidFill>
                  <a:schemeClr val="bg2"/>
                </a:solidFill>
              </a:rPr>
              <a:t>用信号量上的</a:t>
            </a:r>
            <a:r>
              <a:rPr lang="en-US" altLang="zh-CN" sz="2800" b="1" dirty="0">
                <a:solidFill>
                  <a:schemeClr val="bg2"/>
                </a:solidFill>
              </a:rPr>
              <a:t>P</a:t>
            </a:r>
            <a:r>
              <a:rPr lang="zh-CN" altLang="en-US" sz="2800" b="1" dirty="0">
                <a:solidFill>
                  <a:schemeClr val="bg2"/>
                </a:solidFill>
              </a:rPr>
              <a:t>、</a:t>
            </a:r>
            <a:r>
              <a:rPr lang="en-US" altLang="zh-CN" sz="2800" b="1" dirty="0">
                <a:solidFill>
                  <a:schemeClr val="bg2"/>
                </a:solidFill>
              </a:rPr>
              <a:t>V</a:t>
            </a:r>
            <a:r>
              <a:rPr lang="zh-CN" altLang="en-US" sz="2800" b="1" dirty="0">
                <a:solidFill>
                  <a:schemeClr val="bg2"/>
                </a:solidFill>
              </a:rPr>
              <a:t>操作，模拟“思考</a:t>
            </a:r>
            <a:r>
              <a:rPr lang="en-US" altLang="zh-CN" sz="2800" b="1" dirty="0">
                <a:solidFill>
                  <a:schemeClr val="bg2"/>
                </a:solidFill>
              </a:rPr>
              <a:t>-</a:t>
            </a:r>
            <a:r>
              <a:rPr lang="zh-CN" altLang="en-US" sz="2800" b="1" dirty="0">
                <a:solidFill>
                  <a:schemeClr val="bg2"/>
                </a:solidFill>
              </a:rPr>
              <a:t>就餐</a:t>
            </a:r>
            <a:r>
              <a:rPr lang="en-US" altLang="zh-CN" sz="2800" b="1" dirty="0">
                <a:solidFill>
                  <a:schemeClr val="bg2"/>
                </a:solidFill>
              </a:rPr>
              <a:t>-</a:t>
            </a:r>
            <a:r>
              <a:rPr lang="zh-CN" altLang="en-US" sz="2800" b="1" dirty="0">
                <a:solidFill>
                  <a:schemeClr val="bg2"/>
                </a:solidFill>
              </a:rPr>
              <a:t>思考”过程。</a:t>
            </a:r>
          </a:p>
          <a:p>
            <a:pPr eaLnBrk="1" hangingPunct="1">
              <a:spcBef>
                <a:spcPct val="0"/>
              </a:spcBef>
              <a:buClrTx/>
              <a:buSzTx/>
              <a:buFontTx/>
              <a:buNone/>
            </a:pPr>
            <a:r>
              <a:rPr lang="zh-CN" altLang="en-US" sz="2800" b="1" dirty="0">
                <a:solidFill>
                  <a:schemeClr val="bg2"/>
                </a:solidFill>
              </a:rPr>
              <a:t>（</a:t>
            </a:r>
            <a:r>
              <a:rPr lang="en-US" altLang="zh-CN" sz="2800" b="1" dirty="0">
                <a:solidFill>
                  <a:schemeClr val="bg2"/>
                </a:solidFill>
              </a:rPr>
              <a:t>1</a:t>
            </a:r>
            <a:r>
              <a:rPr lang="zh-CN" altLang="en-US" sz="2800" b="1" dirty="0">
                <a:solidFill>
                  <a:schemeClr val="bg2"/>
                </a:solidFill>
              </a:rPr>
              <a:t>）保证不会出现两个邻座同时拿同一根筷子</a:t>
            </a:r>
          </a:p>
        </p:txBody>
      </p:sp>
      <p:grpSp>
        <p:nvGrpSpPr>
          <p:cNvPr id="44" name="Group 6">
            <a:extLst>
              <a:ext uri="{FF2B5EF4-FFF2-40B4-BE49-F238E27FC236}">
                <a16:creationId xmlns:a16="http://schemas.microsoft.com/office/drawing/2014/main" id="{3B8EDE5B-E66C-4585-8658-FEF77B9E77D0}"/>
              </a:ext>
            </a:extLst>
          </p:cNvPr>
          <p:cNvGrpSpPr>
            <a:grpSpLocks/>
          </p:cNvGrpSpPr>
          <p:nvPr/>
        </p:nvGrpSpPr>
        <p:grpSpPr bwMode="auto">
          <a:xfrm>
            <a:off x="5867400" y="1258888"/>
            <a:ext cx="2882900" cy="2474912"/>
            <a:chOff x="3832" y="793"/>
            <a:chExt cx="1816" cy="1559"/>
          </a:xfrm>
        </p:grpSpPr>
        <p:sp>
          <p:nvSpPr>
            <p:cNvPr id="45" name="Oval 7">
              <a:extLst>
                <a:ext uri="{FF2B5EF4-FFF2-40B4-BE49-F238E27FC236}">
                  <a16:creationId xmlns:a16="http://schemas.microsoft.com/office/drawing/2014/main" id="{E26B1180-B1C6-4BC9-81D7-649940A908B1}"/>
                </a:ext>
              </a:extLst>
            </p:cNvPr>
            <p:cNvSpPr>
              <a:spLocks noChangeArrowheads="1"/>
            </p:cNvSpPr>
            <p:nvPr/>
          </p:nvSpPr>
          <p:spPr bwMode="auto">
            <a:xfrm>
              <a:off x="4059" y="1026"/>
              <a:ext cx="1179" cy="1134"/>
            </a:xfrm>
            <a:prstGeom prst="ellipse">
              <a:avLst/>
            </a:prstGeom>
            <a:solidFill>
              <a:schemeClr val="accent1">
                <a:alpha val="0"/>
              </a:schemeClr>
            </a:solidFill>
            <a:ln w="2857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46" name="Oval 8">
              <a:extLst>
                <a:ext uri="{FF2B5EF4-FFF2-40B4-BE49-F238E27FC236}">
                  <a16:creationId xmlns:a16="http://schemas.microsoft.com/office/drawing/2014/main" id="{F0797D11-A8AF-4444-A980-DC2A788FD6E9}"/>
                </a:ext>
              </a:extLst>
            </p:cNvPr>
            <p:cNvSpPr>
              <a:spLocks noChangeArrowheads="1"/>
            </p:cNvSpPr>
            <p:nvPr/>
          </p:nvSpPr>
          <p:spPr bwMode="auto">
            <a:xfrm>
              <a:off x="4558" y="1117"/>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47" name="Oval 9">
              <a:extLst>
                <a:ext uri="{FF2B5EF4-FFF2-40B4-BE49-F238E27FC236}">
                  <a16:creationId xmlns:a16="http://schemas.microsoft.com/office/drawing/2014/main" id="{9EEEE1CB-1E6D-4FB5-B9A1-C8406AA72C36}"/>
                </a:ext>
              </a:extLst>
            </p:cNvPr>
            <p:cNvSpPr>
              <a:spLocks noChangeArrowheads="1"/>
            </p:cNvSpPr>
            <p:nvPr/>
          </p:nvSpPr>
          <p:spPr bwMode="auto">
            <a:xfrm>
              <a:off x="4513" y="1072"/>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48" name="Oval 10">
              <a:extLst>
                <a:ext uri="{FF2B5EF4-FFF2-40B4-BE49-F238E27FC236}">
                  <a16:creationId xmlns:a16="http://schemas.microsoft.com/office/drawing/2014/main" id="{A6790016-FC02-4DB3-9198-400CE955E5CC}"/>
                </a:ext>
              </a:extLst>
            </p:cNvPr>
            <p:cNvSpPr>
              <a:spLocks noChangeArrowheads="1"/>
            </p:cNvSpPr>
            <p:nvPr/>
          </p:nvSpPr>
          <p:spPr bwMode="auto">
            <a:xfrm>
              <a:off x="4195" y="1389"/>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49" name="Oval 11">
              <a:extLst>
                <a:ext uri="{FF2B5EF4-FFF2-40B4-BE49-F238E27FC236}">
                  <a16:creationId xmlns:a16="http://schemas.microsoft.com/office/drawing/2014/main" id="{15658355-13B0-4D18-9A83-44AB76666A64}"/>
                </a:ext>
              </a:extLst>
            </p:cNvPr>
            <p:cNvSpPr>
              <a:spLocks noChangeArrowheads="1"/>
            </p:cNvSpPr>
            <p:nvPr/>
          </p:nvSpPr>
          <p:spPr bwMode="auto">
            <a:xfrm>
              <a:off x="4150" y="1344"/>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0" name="Oval 12">
              <a:extLst>
                <a:ext uri="{FF2B5EF4-FFF2-40B4-BE49-F238E27FC236}">
                  <a16:creationId xmlns:a16="http://schemas.microsoft.com/office/drawing/2014/main" id="{1390C3CF-ADB3-444F-AFA8-A31C4EDF0E0E}"/>
                </a:ext>
              </a:extLst>
            </p:cNvPr>
            <p:cNvSpPr>
              <a:spLocks noChangeArrowheads="1"/>
            </p:cNvSpPr>
            <p:nvPr/>
          </p:nvSpPr>
          <p:spPr bwMode="auto">
            <a:xfrm>
              <a:off x="4966" y="1389"/>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1" name="Oval 13">
              <a:extLst>
                <a:ext uri="{FF2B5EF4-FFF2-40B4-BE49-F238E27FC236}">
                  <a16:creationId xmlns:a16="http://schemas.microsoft.com/office/drawing/2014/main" id="{A3EAB249-D894-40E0-8178-591D90374E11}"/>
                </a:ext>
              </a:extLst>
            </p:cNvPr>
            <p:cNvSpPr>
              <a:spLocks noChangeArrowheads="1"/>
            </p:cNvSpPr>
            <p:nvPr/>
          </p:nvSpPr>
          <p:spPr bwMode="auto">
            <a:xfrm>
              <a:off x="4921" y="1344"/>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2" name="Oval 14">
              <a:extLst>
                <a:ext uri="{FF2B5EF4-FFF2-40B4-BE49-F238E27FC236}">
                  <a16:creationId xmlns:a16="http://schemas.microsoft.com/office/drawing/2014/main" id="{7DB85CBA-DBEE-47C6-A8FC-6EA0C3FBFC52}"/>
                </a:ext>
              </a:extLst>
            </p:cNvPr>
            <p:cNvSpPr>
              <a:spLocks noChangeArrowheads="1"/>
            </p:cNvSpPr>
            <p:nvPr/>
          </p:nvSpPr>
          <p:spPr bwMode="auto">
            <a:xfrm>
              <a:off x="4331" y="1842"/>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3" name="Oval 15">
              <a:extLst>
                <a:ext uri="{FF2B5EF4-FFF2-40B4-BE49-F238E27FC236}">
                  <a16:creationId xmlns:a16="http://schemas.microsoft.com/office/drawing/2014/main" id="{641E519D-1133-49E2-BF93-D4EA712DF53A}"/>
                </a:ext>
              </a:extLst>
            </p:cNvPr>
            <p:cNvSpPr>
              <a:spLocks noChangeArrowheads="1"/>
            </p:cNvSpPr>
            <p:nvPr/>
          </p:nvSpPr>
          <p:spPr bwMode="auto">
            <a:xfrm>
              <a:off x="4286" y="1797"/>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4" name="Oval 16">
              <a:extLst>
                <a:ext uri="{FF2B5EF4-FFF2-40B4-BE49-F238E27FC236}">
                  <a16:creationId xmlns:a16="http://schemas.microsoft.com/office/drawing/2014/main" id="{F085C0AA-2305-4ED1-B3B1-86DD665C0E7E}"/>
                </a:ext>
              </a:extLst>
            </p:cNvPr>
            <p:cNvSpPr>
              <a:spLocks noChangeArrowheads="1"/>
            </p:cNvSpPr>
            <p:nvPr/>
          </p:nvSpPr>
          <p:spPr bwMode="auto">
            <a:xfrm>
              <a:off x="4830" y="1842"/>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5" name="Oval 17">
              <a:extLst>
                <a:ext uri="{FF2B5EF4-FFF2-40B4-BE49-F238E27FC236}">
                  <a16:creationId xmlns:a16="http://schemas.microsoft.com/office/drawing/2014/main" id="{E9E9F2FC-FE66-441F-A3F7-850ADA831877}"/>
                </a:ext>
              </a:extLst>
            </p:cNvPr>
            <p:cNvSpPr>
              <a:spLocks noChangeArrowheads="1"/>
            </p:cNvSpPr>
            <p:nvPr/>
          </p:nvSpPr>
          <p:spPr bwMode="auto">
            <a:xfrm>
              <a:off x="4785" y="1797"/>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6" name="Line 18">
              <a:extLst>
                <a:ext uri="{FF2B5EF4-FFF2-40B4-BE49-F238E27FC236}">
                  <a16:creationId xmlns:a16="http://schemas.microsoft.com/office/drawing/2014/main" id="{75537653-2492-4C7D-96E3-4DD12C096A21}"/>
                </a:ext>
              </a:extLst>
            </p:cNvPr>
            <p:cNvSpPr>
              <a:spLocks noChangeShapeType="1"/>
            </p:cNvSpPr>
            <p:nvPr/>
          </p:nvSpPr>
          <p:spPr bwMode="auto">
            <a:xfrm>
              <a:off x="4331" y="1208"/>
              <a:ext cx="137" cy="13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57" name="Line 19">
              <a:extLst>
                <a:ext uri="{FF2B5EF4-FFF2-40B4-BE49-F238E27FC236}">
                  <a16:creationId xmlns:a16="http://schemas.microsoft.com/office/drawing/2014/main" id="{461F4BD5-0B98-4D5F-9361-A8F6681EE733}"/>
                </a:ext>
              </a:extLst>
            </p:cNvPr>
            <p:cNvSpPr>
              <a:spLocks noChangeShapeType="1"/>
            </p:cNvSpPr>
            <p:nvPr/>
          </p:nvSpPr>
          <p:spPr bwMode="auto">
            <a:xfrm flipV="1">
              <a:off x="4195" y="1661"/>
              <a:ext cx="181" cy="91"/>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58" name="Line 20">
              <a:extLst>
                <a:ext uri="{FF2B5EF4-FFF2-40B4-BE49-F238E27FC236}">
                  <a16:creationId xmlns:a16="http://schemas.microsoft.com/office/drawing/2014/main" id="{F5C85175-230F-47A8-BDB9-9207A214E5E1}"/>
                </a:ext>
              </a:extLst>
            </p:cNvPr>
            <p:cNvSpPr>
              <a:spLocks noChangeShapeType="1"/>
            </p:cNvSpPr>
            <p:nvPr/>
          </p:nvSpPr>
          <p:spPr bwMode="auto">
            <a:xfrm>
              <a:off x="4649" y="1843"/>
              <a:ext cx="0" cy="227"/>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59" name="Line 21">
              <a:extLst>
                <a:ext uri="{FF2B5EF4-FFF2-40B4-BE49-F238E27FC236}">
                  <a16:creationId xmlns:a16="http://schemas.microsoft.com/office/drawing/2014/main" id="{922BAFD9-D8CE-4DBF-B5AB-B9BB431C9B6C}"/>
                </a:ext>
              </a:extLst>
            </p:cNvPr>
            <p:cNvSpPr>
              <a:spLocks noChangeShapeType="1"/>
            </p:cNvSpPr>
            <p:nvPr/>
          </p:nvSpPr>
          <p:spPr bwMode="auto">
            <a:xfrm>
              <a:off x="4875" y="1661"/>
              <a:ext cx="182" cy="91"/>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60" name="Line 22">
              <a:extLst>
                <a:ext uri="{FF2B5EF4-FFF2-40B4-BE49-F238E27FC236}">
                  <a16:creationId xmlns:a16="http://schemas.microsoft.com/office/drawing/2014/main" id="{1F35C36E-C5E1-44AB-AD54-C978C53130F0}"/>
                </a:ext>
              </a:extLst>
            </p:cNvPr>
            <p:cNvSpPr>
              <a:spLocks noChangeShapeType="1"/>
            </p:cNvSpPr>
            <p:nvPr/>
          </p:nvSpPr>
          <p:spPr bwMode="auto">
            <a:xfrm flipH="1">
              <a:off x="4830" y="1208"/>
              <a:ext cx="91" cy="181"/>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61" name="Rectangle 23">
              <a:extLst>
                <a:ext uri="{FF2B5EF4-FFF2-40B4-BE49-F238E27FC236}">
                  <a16:creationId xmlns:a16="http://schemas.microsoft.com/office/drawing/2014/main" id="{2FFC7047-E2BD-49CA-A3EC-81B4AAE02D4D}"/>
                </a:ext>
              </a:extLst>
            </p:cNvPr>
            <p:cNvSpPr>
              <a:spLocks noChangeArrowheads="1"/>
            </p:cNvSpPr>
            <p:nvPr/>
          </p:nvSpPr>
          <p:spPr bwMode="auto">
            <a:xfrm>
              <a:off x="4558" y="799"/>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62" name="Text Box 24">
              <a:extLst>
                <a:ext uri="{FF2B5EF4-FFF2-40B4-BE49-F238E27FC236}">
                  <a16:creationId xmlns:a16="http://schemas.microsoft.com/office/drawing/2014/main" id="{916A06F3-7D7D-477B-87AF-D1BE73FB0F2D}"/>
                </a:ext>
              </a:extLst>
            </p:cNvPr>
            <p:cNvSpPr txBox="1">
              <a:spLocks noChangeArrowheads="1"/>
            </p:cNvSpPr>
            <p:nvPr/>
          </p:nvSpPr>
          <p:spPr bwMode="auto">
            <a:xfrm>
              <a:off x="4562" y="793"/>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0</a:t>
              </a:r>
            </a:p>
          </p:txBody>
        </p:sp>
        <p:sp>
          <p:nvSpPr>
            <p:cNvPr id="63" name="Rectangle 25">
              <a:extLst>
                <a:ext uri="{FF2B5EF4-FFF2-40B4-BE49-F238E27FC236}">
                  <a16:creationId xmlns:a16="http://schemas.microsoft.com/office/drawing/2014/main" id="{48A7A6DE-36DA-4E96-87D0-8A7FF5A38C49}"/>
                </a:ext>
              </a:extLst>
            </p:cNvPr>
            <p:cNvSpPr>
              <a:spLocks noChangeArrowheads="1"/>
            </p:cNvSpPr>
            <p:nvPr/>
          </p:nvSpPr>
          <p:spPr bwMode="auto">
            <a:xfrm>
              <a:off x="5284" y="1208"/>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64" name="Text Box 26">
              <a:extLst>
                <a:ext uri="{FF2B5EF4-FFF2-40B4-BE49-F238E27FC236}">
                  <a16:creationId xmlns:a16="http://schemas.microsoft.com/office/drawing/2014/main" id="{D6FFDCDA-0878-4746-A25C-87C2334821BF}"/>
                </a:ext>
              </a:extLst>
            </p:cNvPr>
            <p:cNvSpPr txBox="1">
              <a:spLocks noChangeArrowheads="1"/>
            </p:cNvSpPr>
            <p:nvPr/>
          </p:nvSpPr>
          <p:spPr bwMode="auto">
            <a:xfrm>
              <a:off x="5284" y="1202"/>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dirty="0">
                  <a:solidFill>
                    <a:schemeClr val="bg2"/>
                  </a:solidFill>
                </a:rPr>
                <a:t>4</a:t>
              </a:r>
            </a:p>
          </p:txBody>
        </p:sp>
        <p:sp>
          <p:nvSpPr>
            <p:cNvPr id="65" name="Rectangle 27">
              <a:extLst>
                <a:ext uri="{FF2B5EF4-FFF2-40B4-BE49-F238E27FC236}">
                  <a16:creationId xmlns:a16="http://schemas.microsoft.com/office/drawing/2014/main" id="{77943BC8-162C-4236-95F9-3D0D558C0D0A}"/>
                </a:ext>
              </a:extLst>
            </p:cNvPr>
            <p:cNvSpPr>
              <a:spLocks noChangeArrowheads="1"/>
            </p:cNvSpPr>
            <p:nvPr/>
          </p:nvSpPr>
          <p:spPr bwMode="auto">
            <a:xfrm>
              <a:off x="5102" y="2069"/>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66" name="Text Box 28">
              <a:extLst>
                <a:ext uri="{FF2B5EF4-FFF2-40B4-BE49-F238E27FC236}">
                  <a16:creationId xmlns:a16="http://schemas.microsoft.com/office/drawing/2014/main" id="{A4346F49-B6A0-44B9-B145-C018965EBCCB}"/>
                </a:ext>
              </a:extLst>
            </p:cNvPr>
            <p:cNvSpPr txBox="1">
              <a:spLocks noChangeArrowheads="1"/>
            </p:cNvSpPr>
            <p:nvPr/>
          </p:nvSpPr>
          <p:spPr bwMode="auto">
            <a:xfrm>
              <a:off x="5103" y="2069"/>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dirty="0">
                  <a:solidFill>
                    <a:schemeClr val="bg2"/>
                  </a:solidFill>
                </a:rPr>
                <a:t>3</a:t>
              </a:r>
            </a:p>
          </p:txBody>
        </p:sp>
        <p:sp>
          <p:nvSpPr>
            <p:cNvPr id="67" name="Rectangle 29">
              <a:extLst>
                <a:ext uri="{FF2B5EF4-FFF2-40B4-BE49-F238E27FC236}">
                  <a16:creationId xmlns:a16="http://schemas.microsoft.com/office/drawing/2014/main" id="{ABC37941-DEF6-4A2F-9536-0A463B71017E}"/>
                </a:ext>
              </a:extLst>
            </p:cNvPr>
            <p:cNvSpPr>
              <a:spLocks noChangeArrowheads="1"/>
            </p:cNvSpPr>
            <p:nvPr/>
          </p:nvSpPr>
          <p:spPr bwMode="auto">
            <a:xfrm>
              <a:off x="4150" y="2160"/>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68" name="Text Box 30">
              <a:extLst>
                <a:ext uri="{FF2B5EF4-FFF2-40B4-BE49-F238E27FC236}">
                  <a16:creationId xmlns:a16="http://schemas.microsoft.com/office/drawing/2014/main" id="{FFE12F17-0A3B-4952-B229-9B11C91E6420}"/>
                </a:ext>
              </a:extLst>
            </p:cNvPr>
            <p:cNvSpPr txBox="1">
              <a:spLocks noChangeArrowheads="1"/>
            </p:cNvSpPr>
            <p:nvPr/>
          </p:nvSpPr>
          <p:spPr bwMode="auto">
            <a:xfrm>
              <a:off x="4155" y="2156"/>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2</a:t>
              </a:r>
            </a:p>
          </p:txBody>
        </p:sp>
        <p:sp>
          <p:nvSpPr>
            <p:cNvPr id="69" name="Rectangle 31">
              <a:extLst>
                <a:ext uri="{FF2B5EF4-FFF2-40B4-BE49-F238E27FC236}">
                  <a16:creationId xmlns:a16="http://schemas.microsoft.com/office/drawing/2014/main" id="{2E8DF5AF-0C29-44D6-8E3F-D104E4175C8F}"/>
                </a:ext>
              </a:extLst>
            </p:cNvPr>
            <p:cNvSpPr>
              <a:spLocks noChangeArrowheads="1"/>
            </p:cNvSpPr>
            <p:nvPr/>
          </p:nvSpPr>
          <p:spPr bwMode="auto">
            <a:xfrm>
              <a:off x="3832" y="1253"/>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70" name="Text Box 32">
              <a:extLst>
                <a:ext uri="{FF2B5EF4-FFF2-40B4-BE49-F238E27FC236}">
                  <a16:creationId xmlns:a16="http://schemas.microsoft.com/office/drawing/2014/main" id="{A8E0DCFB-53FA-4300-8893-B755507DAE98}"/>
                </a:ext>
              </a:extLst>
            </p:cNvPr>
            <p:cNvSpPr txBox="1">
              <a:spLocks noChangeArrowheads="1"/>
            </p:cNvSpPr>
            <p:nvPr/>
          </p:nvSpPr>
          <p:spPr bwMode="auto">
            <a:xfrm>
              <a:off x="3838" y="1247"/>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1</a:t>
              </a:r>
            </a:p>
          </p:txBody>
        </p:sp>
        <p:sp>
          <p:nvSpPr>
            <p:cNvPr id="71" name="Text Box 33">
              <a:extLst>
                <a:ext uri="{FF2B5EF4-FFF2-40B4-BE49-F238E27FC236}">
                  <a16:creationId xmlns:a16="http://schemas.microsoft.com/office/drawing/2014/main" id="{D0283AF2-903B-4915-AF58-C6B7D2219BE3}"/>
                </a:ext>
              </a:extLst>
            </p:cNvPr>
            <p:cNvSpPr txBox="1">
              <a:spLocks noChangeArrowheads="1"/>
            </p:cNvSpPr>
            <p:nvPr/>
          </p:nvSpPr>
          <p:spPr bwMode="auto">
            <a:xfrm>
              <a:off x="5193" y="1707"/>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4</a:t>
              </a:r>
            </a:p>
          </p:txBody>
        </p:sp>
        <p:sp>
          <p:nvSpPr>
            <p:cNvPr id="72" name="Text Box 34">
              <a:extLst>
                <a:ext uri="{FF2B5EF4-FFF2-40B4-BE49-F238E27FC236}">
                  <a16:creationId xmlns:a16="http://schemas.microsoft.com/office/drawing/2014/main" id="{C47B1806-E843-479A-B27A-EC682FBC0D3F}"/>
                </a:ext>
              </a:extLst>
            </p:cNvPr>
            <p:cNvSpPr txBox="1">
              <a:spLocks noChangeArrowheads="1"/>
            </p:cNvSpPr>
            <p:nvPr/>
          </p:nvSpPr>
          <p:spPr bwMode="auto">
            <a:xfrm>
              <a:off x="4558" y="2160"/>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3</a:t>
              </a:r>
            </a:p>
          </p:txBody>
        </p:sp>
        <p:sp>
          <p:nvSpPr>
            <p:cNvPr id="73" name="Text Box 35">
              <a:extLst>
                <a:ext uri="{FF2B5EF4-FFF2-40B4-BE49-F238E27FC236}">
                  <a16:creationId xmlns:a16="http://schemas.microsoft.com/office/drawing/2014/main" id="{F32667B7-C37B-4536-B4AB-AD19A7D8074B}"/>
                </a:ext>
              </a:extLst>
            </p:cNvPr>
            <p:cNvSpPr txBox="1">
              <a:spLocks noChangeArrowheads="1"/>
            </p:cNvSpPr>
            <p:nvPr/>
          </p:nvSpPr>
          <p:spPr bwMode="auto">
            <a:xfrm>
              <a:off x="3923" y="1752"/>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2</a:t>
              </a:r>
            </a:p>
          </p:txBody>
        </p:sp>
        <p:sp>
          <p:nvSpPr>
            <p:cNvPr id="74" name="Text Box 36">
              <a:extLst>
                <a:ext uri="{FF2B5EF4-FFF2-40B4-BE49-F238E27FC236}">
                  <a16:creationId xmlns:a16="http://schemas.microsoft.com/office/drawing/2014/main" id="{FC478D25-85D2-4E5B-AB22-90DFEB7689ED}"/>
                </a:ext>
              </a:extLst>
            </p:cNvPr>
            <p:cNvSpPr txBox="1">
              <a:spLocks noChangeArrowheads="1"/>
            </p:cNvSpPr>
            <p:nvPr/>
          </p:nvSpPr>
          <p:spPr bwMode="auto">
            <a:xfrm>
              <a:off x="4150" y="981"/>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1</a:t>
              </a:r>
            </a:p>
          </p:txBody>
        </p:sp>
        <p:sp>
          <p:nvSpPr>
            <p:cNvPr id="75" name="Text Box 37">
              <a:extLst>
                <a:ext uri="{FF2B5EF4-FFF2-40B4-BE49-F238E27FC236}">
                  <a16:creationId xmlns:a16="http://schemas.microsoft.com/office/drawing/2014/main" id="{4357D65D-DFF8-490C-A565-691E7E110C7C}"/>
                </a:ext>
              </a:extLst>
            </p:cNvPr>
            <p:cNvSpPr txBox="1">
              <a:spLocks noChangeArrowheads="1"/>
            </p:cNvSpPr>
            <p:nvPr/>
          </p:nvSpPr>
          <p:spPr bwMode="auto">
            <a:xfrm>
              <a:off x="4966" y="935"/>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0</a:t>
              </a:r>
            </a:p>
          </p:txBody>
        </p:sp>
        <p:sp>
          <p:nvSpPr>
            <p:cNvPr id="76" name="Line 38">
              <a:extLst>
                <a:ext uri="{FF2B5EF4-FFF2-40B4-BE49-F238E27FC236}">
                  <a16:creationId xmlns:a16="http://schemas.microsoft.com/office/drawing/2014/main" id="{D6F1F0BD-02BC-4B85-87DA-6B32F9AFFEDE}"/>
                </a:ext>
              </a:extLst>
            </p:cNvPr>
            <p:cNvSpPr>
              <a:spLocks noChangeShapeType="1"/>
            </p:cNvSpPr>
            <p:nvPr/>
          </p:nvSpPr>
          <p:spPr bwMode="auto">
            <a:xfrm flipH="1">
              <a:off x="4739" y="890"/>
              <a:ext cx="91" cy="0"/>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77" name="Line 39">
              <a:extLst>
                <a:ext uri="{FF2B5EF4-FFF2-40B4-BE49-F238E27FC236}">
                  <a16:creationId xmlns:a16="http://schemas.microsoft.com/office/drawing/2014/main" id="{DDAFD1D5-1490-4F0F-8F29-B346D1BA9B27}"/>
                </a:ext>
              </a:extLst>
            </p:cNvPr>
            <p:cNvSpPr>
              <a:spLocks noChangeShapeType="1"/>
            </p:cNvSpPr>
            <p:nvPr/>
          </p:nvSpPr>
          <p:spPr bwMode="auto">
            <a:xfrm flipH="1">
              <a:off x="5102" y="1026"/>
              <a:ext cx="91" cy="0"/>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78" name="Text Box 40">
              <a:extLst>
                <a:ext uri="{FF2B5EF4-FFF2-40B4-BE49-F238E27FC236}">
                  <a16:creationId xmlns:a16="http://schemas.microsoft.com/office/drawing/2014/main" id="{AB6DC04F-8258-4A77-A49F-87E5F40D503E}"/>
                </a:ext>
              </a:extLst>
            </p:cNvPr>
            <p:cNvSpPr txBox="1">
              <a:spLocks noChangeArrowheads="1"/>
            </p:cNvSpPr>
            <p:nvPr/>
          </p:nvSpPr>
          <p:spPr bwMode="auto">
            <a:xfrm>
              <a:off x="4785" y="799"/>
              <a:ext cx="596" cy="173"/>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200">
                  <a:solidFill>
                    <a:schemeClr val="bg2"/>
                  </a:solidFill>
                  <a:latin typeface="Arial" panose="020B0604020202020204" pitchFamily="34" charset="0"/>
                </a:rPr>
                <a:t>哲学家编号</a:t>
              </a:r>
            </a:p>
          </p:txBody>
        </p:sp>
        <p:sp>
          <p:nvSpPr>
            <p:cNvPr id="79" name="Text Box 41">
              <a:extLst>
                <a:ext uri="{FF2B5EF4-FFF2-40B4-BE49-F238E27FC236}">
                  <a16:creationId xmlns:a16="http://schemas.microsoft.com/office/drawing/2014/main" id="{7C3F67A4-C610-4DFB-B5BB-4CB819F85232}"/>
                </a:ext>
              </a:extLst>
            </p:cNvPr>
            <p:cNvSpPr txBox="1">
              <a:spLocks noChangeArrowheads="1"/>
            </p:cNvSpPr>
            <p:nvPr/>
          </p:nvSpPr>
          <p:spPr bwMode="auto">
            <a:xfrm>
              <a:off x="5148" y="935"/>
              <a:ext cx="500" cy="173"/>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200" dirty="0">
                  <a:solidFill>
                    <a:schemeClr val="bg2"/>
                  </a:solidFill>
                  <a:latin typeface="Arial" panose="020B0604020202020204" pitchFamily="34" charset="0"/>
                </a:rPr>
                <a:t>筷子编号</a:t>
              </a:r>
            </a:p>
          </p:txBody>
        </p:sp>
      </p:grpSp>
      <p:sp>
        <p:nvSpPr>
          <p:cNvPr id="43"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380568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 calcmode="lin" valueType="num">
                                      <p:cBhvr additive="base">
                                        <p:cTn id="7" dur="3000" fill="hold"/>
                                        <p:tgtEl>
                                          <p:spTgt spid="5">
                                            <p:bg/>
                                          </p:spTgt>
                                        </p:tgtEl>
                                        <p:attrNameLst>
                                          <p:attrName>ppt_x</p:attrName>
                                        </p:attrNameLst>
                                      </p:cBhvr>
                                      <p:tavLst>
                                        <p:tav tm="0">
                                          <p:val>
                                            <p:strVal val="#ppt_x"/>
                                          </p:val>
                                        </p:tav>
                                        <p:tav tm="100000">
                                          <p:val>
                                            <p:strVal val="#ppt_x"/>
                                          </p:val>
                                        </p:tav>
                                      </p:tavLst>
                                    </p:anim>
                                    <p:anim calcmode="lin" valueType="num">
                                      <p:cBhvr additive="base">
                                        <p:cTn id="8" dur="3000" fill="hold"/>
                                        <p:tgtEl>
                                          <p:spTgt spid="5">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30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30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30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30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 calcmode="lin" valueType="num">
                                      <p:cBhvr additive="base">
                                        <p:cTn id="25" dur="30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6" dur="30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anim calcmode="lin" valueType="num">
                                      <p:cBhvr additive="base">
                                        <p:cTn id="31" dur="30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2" dur="30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checkerboard(across)">
                                      <p:cBhvr>
                                        <p:cTn id="37" dur="500"/>
                                        <p:tgtEl>
                                          <p:spTgt spid="42"/>
                                        </p:tgtEl>
                                      </p:cBhvr>
                                    </p:animEffect>
                                  </p:childTnLst>
                                </p:cTn>
                              </p:par>
                            </p:childTnLst>
                          </p:cTn>
                        </p:par>
                        <p:par>
                          <p:cTn id="38" fill="hold">
                            <p:stCondLst>
                              <p:cond delay="500"/>
                            </p:stCondLst>
                            <p:childTnLst>
                              <p:par>
                                <p:cTn id="39" presetID="2" presetClass="entr" presetSubtype="6" fill="hold" grpId="0" nodeType="afterEffect">
                                  <p:stCondLst>
                                    <p:cond delay="0"/>
                                  </p:stCondLst>
                                  <p:childTnLst>
                                    <p:set>
                                      <p:cBhvr>
                                        <p:cTn id="40" dur="1" fill="hold">
                                          <p:stCondLst>
                                            <p:cond delay="0"/>
                                          </p:stCondLst>
                                        </p:cTn>
                                        <p:tgtEl>
                                          <p:spTgt spid="43"/>
                                        </p:tgtEl>
                                        <p:attrNameLst>
                                          <p:attrName>style.visibility</p:attrName>
                                        </p:attrNameLst>
                                      </p:cBhvr>
                                      <p:to>
                                        <p:strVal val="visible"/>
                                      </p:to>
                                    </p:set>
                                    <p:anim calcmode="lin" valueType="num">
                                      <p:cBhvr additive="base">
                                        <p:cTn id="41" dur="500" fill="hold"/>
                                        <p:tgtEl>
                                          <p:spTgt spid="43"/>
                                        </p:tgtEl>
                                        <p:attrNameLst>
                                          <p:attrName>ppt_x</p:attrName>
                                        </p:attrNameLst>
                                      </p:cBhvr>
                                      <p:tavLst>
                                        <p:tav tm="0">
                                          <p:val>
                                            <p:strVal val="1+#ppt_w/2"/>
                                          </p:val>
                                        </p:tav>
                                        <p:tav tm="100000">
                                          <p:val>
                                            <p:strVal val="#ppt_x"/>
                                          </p:val>
                                        </p:tav>
                                      </p:tavLst>
                                    </p:anim>
                                    <p:anim calcmode="lin" valueType="num">
                                      <p:cBhvr additive="base">
                                        <p:cTn id="42"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42" grpId="0" animBg="1"/>
      <p:bldP spid="4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8">
            <a:extLst>
              <a:ext uri="{FF2B5EF4-FFF2-40B4-BE49-F238E27FC236}">
                <a16:creationId xmlns:a16="http://schemas.microsoft.com/office/drawing/2014/main" id="{CC43C3EE-3097-49D4-A2B2-5E17F5D3B5A1}"/>
              </a:ext>
            </a:extLst>
          </p:cNvPr>
          <p:cNvSpPr txBox="1">
            <a:spLocks noChangeArrowheads="1"/>
          </p:cNvSpPr>
          <p:nvPr/>
        </p:nvSpPr>
        <p:spPr bwMode="auto">
          <a:xfrm>
            <a:off x="1187450" y="-184150"/>
            <a:ext cx="8912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kumimoji="0" lang="zh-CN" altLang="zh-CN" sz="1800">
              <a:latin typeface="Arial" panose="020B0604020202020204" pitchFamily="34" charset="0"/>
            </a:endParaRPr>
          </a:p>
        </p:txBody>
      </p:sp>
      <p:sp>
        <p:nvSpPr>
          <p:cNvPr id="5" name="Text Box 45">
            <a:extLst>
              <a:ext uri="{FF2B5EF4-FFF2-40B4-BE49-F238E27FC236}">
                <a16:creationId xmlns:a16="http://schemas.microsoft.com/office/drawing/2014/main" id="{4179E955-5DD7-48E1-B804-84EF21C3B71C}"/>
              </a:ext>
            </a:extLst>
          </p:cNvPr>
          <p:cNvSpPr txBox="1">
            <a:spLocks noChangeArrowheads="1"/>
          </p:cNvSpPr>
          <p:nvPr/>
        </p:nvSpPr>
        <p:spPr bwMode="auto">
          <a:xfrm>
            <a:off x="323850" y="549275"/>
            <a:ext cx="3743325" cy="3743325"/>
          </a:xfrm>
          <a:prstGeom prst="rect">
            <a:avLst/>
          </a:prstGeom>
          <a:solidFill>
            <a:schemeClr val="tx1">
              <a:lumMod val="95000"/>
            </a:schemeClr>
          </a:solidFill>
          <a:ln w="9525" algn="ctr">
            <a:noFill/>
            <a:miter lim="800000"/>
            <a:headEnd/>
            <a:tailEnd/>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400" b="1" dirty="0">
                <a:solidFill>
                  <a:srgbClr val="000000"/>
                </a:solidFill>
              </a:rPr>
              <a:t>philosopher(</a:t>
            </a:r>
            <a:r>
              <a:rPr kumimoji="0" lang="en-US" altLang="zh-CN" sz="2400" b="1" dirty="0" err="1">
                <a:solidFill>
                  <a:srgbClr val="000000"/>
                </a:solidFill>
              </a:rPr>
              <a:t>i</a:t>
            </a:r>
            <a:r>
              <a:rPr kumimoji="0" lang="en-US" altLang="zh-CN" sz="2400" b="1" dirty="0">
                <a:solidFill>
                  <a:srgbClr val="000000"/>
                </a:solidFill>
              </a:rPr>
              <a:t>) {</a:t>
            </a:r>
          </a:p>
          <a:p>
            <a:pPr eaLnBrk="1" hangingPunct="1">
              <a:spcBef>
                <a:spcPct val="0"/>
              </a:spcBef>
              <a:buClrTx/>
              <a:buSzTx/>
              <a:buFontTx/>
              <a:buNone/>
            </a:pPr>
            <a:r>
              <a:rPr kumimoji="0" lang="en-US" altLang="zh-CN" sz="2400" b="1" dirty="0">
                <a:solidFill>
                  <a:srgbClr val="000000"/>
                </a:solidFill>
              </a:rPr>
              <a:t>  while(TRUE)</a:t>
            </a:r>
          </a:p>
          <a:p>
            <a:pPr eaLnBrk="1" hangingPunct="1">
              <a:spcBef>
                <a:spcPct val="0"/>
              </a:spcBef>
              <a:buClrTx/>
              <a:buSzTx/>
              <a:buFontTx/>
              <a:buNone/>
            </a:pPr>
            <a:r>
              <a:rPr kumimoji="0" lang="en-US" altLang="zh-CN" sz="2400" b="1" dirty="0">
                <a:solidFill>
                  <a:srgbClr val="000000"/>
                </a:solidFill>
              </a:rPr>
              <a:t>  {think( );</a:t>
            </a:r>
          </a:p>
          <a:p>
            <a:pPr eaLnBrk="1" hangingPunct="1">
              <a:spcBef>
                <a:spcPct val="0"/>
              </a:spcBef>
              <a:buClrTx/>
              <a:buSzTx/>
              <a:buFontTx/>
              <a:buNone/>
            </a:pPr>
            <a:endParaRPr kumimoji="0" lang="en-US" altLang="zh-CN" sz="2400" b="1" dirty="0">
              <a:solidFill>
                <a:srgbClr val="000000"/>
              </a:solidFill>
            </a:endParaRPr>
          </a:p>
          <a:p>
            <a:pPr eaLnBrk="1" hangingPunct="1">
              <a:spcBef>
                <a:spcPct val="0"/>
              </a:spcBef>
              <a:buClrTx/>
              <a:buSzTx/>
              <a:buFontTx/>
              <a:buNone/>
            </a:pPr>
            <a:endParaRPr kumimoji="0" lang="en-US" altLang="zh-CN" sz="2400" b="1" dirty="0">
              <a:solidFill>
                <a:srgbClr val="000000"/>
              </a:solidFill>
            </a:endParaRPr>
          </a:p>
          <a:p>
            <a:pPr eaLnBrk="1" hangingPunct="1">
              <a:spcBef>
                <a:spcPct val="0"/>
              </a:spcBef>
              <a:buClrTx/>
              <a:buSzTx/>
              <a:buFontTx/>
              <a:buNone/>
            </a:pPr>
            <a:r>
              <a:rPr kumimoji="0" lang="en-US" altLang="zh-CN" sz="2400" b="1" dirty="0">
                <a:solidFill>
                  <a:srgbClr val="000000"/>
                </a:solidFill>
              </a:rPr>
              <a:t>   eat( );</a:t>
            </a:r>
          </a:p>
          <a:p>
            <a:pPr eaLnBrk="1" hangingPunct="1">
              <a:spcBef>
                <a:spcPct val="0"/>
              </a:spcBef>
              <a:buClrTx/>
              <a:buSzTx/>
              <a:buFontTx/>
              <a:buNone/>
            </a:pPr>
            <a:endParaRPr kumimoji="0" lang="en-US" altLang="zh-CN" sz="2400" b="1" dirty="0">
              <a:solidFill>
                <a:srgbClr val="000000"/>
              </a:solidFill>
            </a:endParaRPr>
          </a:p>
          <a:p>
            <a:pPr eaLnBrk="1" hangingPunct="1">
              <a:spcBef>
                <a:spcPct val="0"/>
              </a:spcBef>
              <a:buClrTx/>
              <a:buSzTx/>
              <a:buFontTx/>
              <a:buNone/>
            </a:pPr>
            <a:endParaRPr kumimoji="0" lang="en-US" altLang="zh-CN" sz="2400" b="1" dirty="0">
              <a:solidFill>
                <a:srgbClr val="000000"/>
              </a:solidFill>
            </a:endParaRPr>
          </a:p>
          <a:p>
            <a:pPr eaLnBrk="1" hangingPunct="1">
              <a:spcBef>
                <a:spcPct val="0"/>
              </a:spcBef>
              <a:buClrTx/>
              <a:buSzTx/>
              <a:buFontTx/>
              <a:buNone/>
            </a:pPr>
            <a:r>
              <a:rPr kumimoji="0" lang="en-US" altLang="zh-CN" sz="2400" b="1" dirty="0">
                <a:solidFill>
                  <a:srgbClr val="000000"/>
                </a:solidFill>
              </a:rPr>
              <a:t>  }</a:t>
            </a:r>
          </a:p>
          <a:p>
            <a:pPr eaLnBrk="1" hangingPunct="1">
              <a:spcBef>
                <a:spcPct val="0"/>
              </a:spcBef>
              <a:buClrTx/>
              <a:buSzTx/>
              <a:buFontTx/>
              <a:buNone/>
            </a:pPr>
            <a:r>
              <a:rPr kumimoji="0" lang="en-US" altLang="zh-CN" sz="2400" b="1" dirty="0">
                <a:solidFill>
                  <a:srgbClr val="000000"/>
                </a:solidFill>
              </a:rPr>
              <a:t>}</a:t>
            </a:r>
          </a:p>
        </p:txBody>
      </p:sp>
      <p:sp>
        <p:nvSpPr>
          <p:cNvPr id="6" name="Text Box 50">
            <a:extLst>
              <a:ext uri="{FF2B5EF4-FFF2-40B4-BE49-F238E27FC236}">
                <a16:creationId xmlns:a16="http://schemas.microsoft.com/office/drawing/2014/main" id="{571EA541-1C83-4C93-8305-0BBC91992FBE}"/>
              </a:ext>
            </a:extLst>
          </p:cNvPr>
          <p:cNvSpPr txBox="1">
            <a:spLocks noChangeArrowheads="1"/>
          </p:cNvSpPr>
          <p:nvPr/>
        </p:nvSpPr>
        <p:spPr bwMode="auto">
          <a:xfrm>
            <a:off x="52388" y="0"/>
            <a:ext cx="9091612" cy="519113"/>
          </a:xfrm>
          <a:prstGeom prst="rect">
            <a:avLst/>
          </a:prstGeom>
          <a:solidFill>
            <a:srgbClr val="BDCDFF"/>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b="1" dirty="0">
                <a:solidFill>
                  <a:schemeClr val="bg2"/>
                </a:solidFill>
              </a:rPr>
              <a:t>（</a:t>
            </a:r>
            <a:r>
              <a:rPr lang="en-US" altLang="zh-CN" sz="2800" b="1" dirty="0">
                <a:solidFill>
                  <a:schemeClr val="bg2"/>
                </a:solidFill>
              </a:rPr>
              <a:t>1</a:t>
            </a:r>
            <a:r>
              <a:rPr lang="zh-CN" altLang="en-US" sz="2800" b="1" dirty="0">
                <a:solidFill>
                  <a:schemeClr val="bg2"/>
                </a:solidFill>
              </a:rPr>
              <a:t>）保证两个相邻哲学家不会同时拿同一根筷子。</a:t>
            </a:r>
          </a:p>
        </p:txBody>
      </p:sp>
      <p:sp>
        <p:nvSpPr>
          <p:cNvPr id="7" name="Text Box 51">
            <a:extLst>
              <a:ext uri="{FF2B5EF4-FFF2-40B4-BE49-F238E27FC236}">
                <a16:creationId xmlns:a16="http://schemas.microsoft.com/office/drawing/2014/main" id="{098AA620-94A6-467E-8529-30FBA11C0DDB}"/>
              </a:ext>
            </a:extLst>
          </p:cNvPr>
          <p:cNvSpPr txBox="1">
            <a:spLocks noChangeArrowheads="1"/>
          </p:cNvSpPr>
          <p:nvPr/>
        </p:nvSpPr>
        <p:spPr bwMode="auto">
          <a:xfrm>
            <a:off x="179388" y="4221163"/>
            <a:ext cx="8785225"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400" b="1" dirty="0">
                <a:latin typeface="楷体_GB2312" pitchFamily="49" charset="-122"/>
                <a:ea typeface="楷体_GB2312" pitchFamily="49" charset="-122"/>
              </a:rPr>
              <a:t>将</a:t>
            </a:r>
            <a:r>
              <a:rPr lang="zh-CN" altLang="en-US" sz="2800" dirty="0">
                <a:solidFill>
                  <a:schemeClr val="bg2"/>
                </a:solidFill>
              </a:rPr>
              <a:t>筷子编号为</a:t>
            </a:r>
            <a:r>
              <a:rPr lang="en-US" altLang="zh-CN" sz="2800" dirty="0">
                <a:solidFill>
                  <a:schemeClr val="bg2"/>
                </a:solidFill>
              </a:rPr>
              <a:t>0-4</a:t>
            </a:r>
            <a:r>
              <a:rPr lang="zh-CN" altLang="en-US" sz="2800" dirty="0">
                <a:solidFill>
                  <a:schemeClr val="bg2"/>
                </a:solidFill>
              </a:rPr>
              <a:t>，设</a:t>
            </a:r>
            <a:r>
              <a:rPr lang="en-US" altLang="zh-CN" sz="2800" dirty="0">
                <a:solidFill>
                  <a:schemeClr val="bg2"/>
                </a:solidFill>
              </a:rPr>
              <a:t>5</a:t>
            </a:r>
            <a:r>
              <a:rPr lang="zh-CN" altLang="en-US" sz="2800" dirty="0">
                <a:solidFill>
                  <a:schemeClr val="bg2"/>
                </a:solidFill>
              </a:rPr>
              <a:t>个初值为</a:t>
            </a:r>
            <a:r>
              <a:rPr lang="en-US" altLang="zh-CN" sz="2800" dirty="0">
                <a:solidFill>
                  <a:schemeClr val="bg2"/>
                </a:solidFill>
              </a:rPr>
              <a:t>1</a:t>
            </a:r>
            <a:r>
              <a:rPr lang="zh-CN" altLang="en-US" sz="2800" dirty="0">
                <a:solidFill>
                  <a:schemeClr val="bg2"/>
                </a:solidFill>
              </a:rPr>
              <a:t>的互斥信号量：</a:t>
            </a:r>
          </a:p>
          <a:p>
            <a:pPr eaLnBrk="1" hangingPunct="1">
              <a:spcBef>
                <a:spcPct val="0"/>
              </a:spcBef>
              <a:buClrTx/>
              <a:buSzTx/>
              <a:buFontTx/>
              <a:buNone/>
            </a:pPr>
            <a:r>
              <a:rPr kumimoji="0" lang="zh-CN" altLang="en-US" sz="2400" b="1" dirty="0"/>
              <a:t>                </a:t>
            </a:r>
            <a:r>
              <a:rPr kumimoji="0" lang="en-US" altLang="zh-CN" sz="2400" b="1" dirty="0">
                <a:solidFill>
                  <a:schemeClr val="bg2"/>
                </a:solidFill>
              </a:rPr>
              <a:t>chopstick[</a:t>
            </a:r>
            <a:r>
              <a:rPr kumimoji="0" lang="en-US" altLang="zh-CN" sz="2400" b="1" dirty="0" err="1">
                <a:solidFill>
                  <a:schemeClr val="bg2"/>
                </a:solidFill>
              </a:rPr>
              <a:t>i</a:t>
            </a:r>
            <a:r>
              <a:rPr kumimoji="0" lang="en-US" altLang="zh-CN" sz="2400" b="1" dirty="0">
                <a:solidFill>
                  <a:schemeClr val="bg2"/>
                </a:solidFill>
              </a:rPr>
              <a:t>]  (0≤i≤4)</a:t>
            </a:r>
            <a:endParaRPr lang="en-US" altLang="zh-CN" sz="2400" dirty="0">
              <a:solidFill>
                <a:schemeClr val="bg2"/>
              </a:solidFill>
            </a:endParaRPr>
          </a:p>
        </p:txBody>
      </p:sp>
      <p:sp>
        <p:nvSpPr>
          <p:cNvPr id="8" name="Text Box 52">
            <a:extLst>
              <a:ext uri="{FF2B5EF4-FFF2-40B4-BE49-F238E27FC236}">
                <a16:creationId xmlns:a16="http://schemas.microsoft.com/office/drawing/2014/main" id="{CC92545D-CA8A-4BE4-B03E-ABF19BE72ED4}"/>
              </a:ext>
            </a:extLst>
          </p:cNvPr>
          <p:cNvSpPr txBox="1">
            <a:spLocks noChangeArrowheads="1"/>
          </p:cNvSpPr>
          <p:nvPr/>
        </p:nvSpPr>
        <p:spPr bwMode="auto">
          <a:xfrm>
            <a:off x="52388" y="5040422"/>
            <a:ext cx="9091612" cy="1815882"/>
          </a:xfrm>
          <a:prstGeom prst="rect">
            <a:avLst/>
          </a:prstGeom>
          <a:solidFill>
            <a:srgbClr val="BDCDFF"/>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800" dirty="0">
                <a:solidFill>
                  <a:schemeClr val="bg2"/>
                </a:solidFill>
              </a:rPr>
              <a:t>无法防止</a:t>
            </a:r>
            <a:r>
              <a:rPr lang="en-US" altLang="zh-CN" sz="2800" dirty="0">
                <a:solidFill>
                  <a:schemeClr val="bg2"/>
                </a:solidFill>
              </a:rPr>
              <a:t>5</a:t>
            </a:r>
            <a:r>
              <a:rPr lang="zh-CN" altLang="en-US" sz="2800" dirty="0">
                <a:solidFill>
                  <a:schemeClr val="bg2"/>
                </a:solidFill>
              </a:rPr>
              <a:t>位哲学家同时拿起各自左（右）边的筷子、又试图去拿右（左）边的筷子。</a:t>
            </a:r>
          </a:p>
          <a:p>
            <a:pPr eaLnBrk="1" hangingPunct="1">
              <a:spcBef>
                <a:spcPct val="0"/>
              </a:spcBef>
              <a:buClrTx/>
              <a:buSzTx/>
              <a:buNone/>
            </a:pPr>
            <a:r>
              <a:rPr lang="zh-CN" altLang="en-US" sz="2800" dirty="0">
                <a:solidFill>
                  <a:schemeClr val="bg2"/>
                </a:solidFill>
              </a:rPr>
              <a:t>每个哲学家都拿到了一只筷子，而无休止地等待旁边的哲学家放下另一只筷子，结果都不能进餐。 </a:t>
            </a:r>
            <a:r>
              <a:rPr lang="en-US" altLang="zh-CN" sz="2800" dirty="0">
                <a:solidFill>
                  <a:schemeClr val="bg2"/>
                </a:solidFill>
              </a:rPr>
              <a:t>--</a:t>
            </a:r>
            <a:r>
              <a:rPr lang="zh-CN" altLang="en-US" sz="2800" dirty="0">
                <a:solidFill>
                  <a:schemeClr val="bg2"/>
                </a:solidFill>
              </a:rPr>
              <a:t>死锁！</a:t>
            </a:r>
          </a:p>
        </p:txBody>
      </p:sp>
      <p:sp>
        <p:nvSpPr>
          <p:cNvPr id="9" name="Rectangle 53">
            <a:extLst>
              <a:ext uri="{FF2B5EF4-FFF2-40B4-BE49-F238E27FC236}">
                <a16:creationId xmlns:a16="http://schemas.microsoft.com/office/drawing/2014/main" id="{0112513C-83E3-4F4E-9E0F-7F1F35FB75E0}"/>
              </a:ext>
            </a:extLst>
          </p:cNvPr>
          <p:cNvSpPr>
            <a:spLocks noChangeArrowheads="1"/>
          </p:cNvSpPr>
          <p:nvPr/>
        </p:nvSpPr>
        <p:spPr bwMode="auto">
          <a:xfrm>
            <a:off x="539750" y="1700213"/>
            <a:ext cx="2198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400" b="1" dirty="0">
                <a:solidFill>
                  <a:schemeClr val="accent2">
                    <a:lumMod val="50000"/>
                  </a:schemeClr>
                </a:solidFill>
              </a:rPr>
              <a:t>P(chopstick[</a:t>
            </a:r>
            <a:r>
              <a:rPr kumimoji="0" lang="en-US" altLang="zh-CN" sz="2400" b="1" dirty="0" err="1">
                <a:solidFill>
                  <a:schemeClr val="accent2">
                    <a:lumMod val="50000"/>
                  </a:schemeClr>
                </a:solidFill>
              </a:rPr>
              <a:t>i</a:t>
            </a:r>
            <a:r>
              <a:rPr kumimoji="0" lang="en-US" altLang="zh-CN" sz="2400" b="1" dirty="0">
                <a:solidFill>
                  <a:schemeClr val="accent2">
                    <a:lumMod val="50000"/>
                  </a:schemeClr>
                </a:solidFill>
              </a:rPr>
              <a:t>]);</a:t>
            </a:r>
          </a:p>
        </p:txBody>
      </p:sp>
      <p:sp>
        <p:nvSpPr>
          <p:cNvPr id="10" name="Rectangle 54">
            <a:extLst>
              <a:ext uri="{FF2B5EF4-FFF2-40B4-BE49-F238E27FC236}">
                <a16:creationId xmlns:a16="http://schemas.microsoft.com/office/drawing/2014/main" id="{3121E579-612E-40C1-B058-5725738216FF}"/>
              </a:ext>
            </a:extLst>
          </p:cNvPr>
          <p:cNvSpPr>
            <a:spLocks noChangeArrowheads="1"/>
          </p:cNvSpPr>
          <p:nvPr/>
        </p:nvSpPr>
        <p:spPr bwMode="auto">
          <a:xfrm>
            <a:off x="468313" y="2060575"/>
            <a:ext cx="3608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400" b="1">
                <a:solidFill>
                  <a:schemeClr val="accent2">
                    <a:lumMod val="50000"/>
                  </a:schemeClr>
                </a:solidFill>
              </a:rPr>
              <a:t>P(chopstick[(i+1) mod 5)];</a:t>
            </a:r>
          </a:p>
        </p:txBody>
      </p:sp>
      <p:sp>
        <p:nvSpPr>
          <p:cNvPr id="11" name="Rectangle 55">
            <a:extLst>
              <a:ext uri="{FF2B5EF4-FFF2-40B4-BE49-F238E27FC236}">
                <a16:creationId xmlns:a16="http://schemas.microsoft.com/office/drawing/2014/main" id="{52601C67-5AF3-4ACC-A760-A7B53D35242F}"/>
              </a:ext>
            </a:extLst>
          </p:cNvPr>
          <p:cNvSpPr>
            <a:spLocks noChangeArrowheads="1"/>
          </p:cNvSpPr>
          <p:nvPr/>
        </p:nvSpPr>
        <p:spPr bwMode="auto">
          <a:xfrm>
            <a:off x="468313" y="2852738"/>
            <a:ext cx="2233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400" b="1">
                <a:solidFill>
                  <a:schemeClr val="accent2">
                    <a:lumMod val="50000"/>
                  </a:schemeClr>
                </a:solidFill>
              </a:rPr>
              <a:t>V(chopstick[i]);</a:t>
            </a:r>
          </a:p>
        </p:txBody>
      </p:sp>
      <p:sp>
        <p:nvSpPr>
          <p:cNvPr id="12" name="Rectangle 56">
            <a:extLst>
              <a:ext uri="{FF2B5EF4-FFF2-40B4-BE49-F238E27FC236}">
                <a16:creationId xmlns:a16="http://schemas.microsoft.com/office/drawing/2014/main" id="{7E6E01C3-DFAA-49E0-AB34-9B97D529E068}"/>
              </a:ext>
            </a:extLst>
          </p:cNvPr>
          <p:cNvSpPr>
            <a:spLocks noChangeArrowheads="1"/>
          </p:cNvSpPr>
          <p:nvPr/>
        </p:nvSpPr>
        <p:spPr bwMode="auto">
          <a:xfrm>
            <a:off x="395288" y="3284538"/>
            <a:ext cx="3643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400" b="1">
                <a:solidFill>
                  <a:schemeClr val="accent2">
                    <a:lumMod val="50000"/>
                  </a:schemeClr>
                </a:solidFill>
              </a:rPr>
              <a:t>V(chopstick[(i+1) mod 5)];</a:t>
            </a:r>
          </a:p>
        </p:txBody>
      </p:sp>
      <p:grpSp>
        <p:nvGrpSpPr>
          <p:cNvPr id="86" name="Group 6">
            <a:extLst>
              <a:ext uri="{FF2B5EF4-FFF2-40B4-BE49-F238E27FC236}">
                <a16:creationId xmlns:a16="http://schemas.microsoft.com/office/drawing/2014/main" id="{3B8EDE5B-E66C-4585-8658-FEF77B9E77D0}"/>
              </a:ext>
            </a:extLst>
          </p:cNvPr>
          <p:cNvGrpSpPr>
            <a:grpSpLocks/>
          </p:cNvGrpSpPr>
          <p:nvPr/>
        </p:nvGrpSpPr>
        <p:grpSpPr bwMode="auto">
          <a:xfrm>
            <a:off x="5867400" y="1258888"/>
            <a:ext cx="2882900" cy="2474912"/>
            <a:chOff x="3832" y="793"/>
            <a:chExt cx="1816" cy="1559"/>
          </a:xfrm>
        </p:grpSpPr>
        <p:sp>
          <p:nvSpPr>
            <p:cNvPr id="87" name="Oval 7">
              <a:extLst>
                <a:ext uri="{FF2B5EF4-FFF2-40B4-BE49-F238E27FC236}">
                  <a16:creationId xmlns:a16="http://schemas.microsoft.com/office/drawing/2014/main" id="{E26B1180-B1C6-4BC9-81D7-649940A908B1}"/>
                </a:ext>
              </a:extLst>
            </p:cNvPr>
            <p:cNvSpPr>
              <a:spLocks noChangeArrowheads="1"/>
            </p:cNvSpPr>
            <p:nvPr/>
          </p:nvSpPr>
          <p:spPr bwMode="auto">
            <a:xfrm>
              <a:off x="4059" y="1026"/>
              <a:ext cx="1179" cy="1134"/>
            </a:xfrm>
            <a:prstGeom prst="ellipse">
              <a:avLst/>
            </a:prstGeom>
            <a:solidFill>
              <a:schemeClr val="accent1">
                <a:alpha val="0"/>
              </a:schemeClr>
            </a:solidFill>
            <a:ln w="2857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88" name="Oval 8">
              <a:extLst>
                <a:ext uri="{FF2B5EF4-FFF2-40B4-BE49-F238E27FC236}">
                  <a16:creationId xmlns:a16="http://schemas.microsoft.com/office/drawing/2014/main" id="{F0797D11-A8AF-4444-A980-DC2A788FD6E9}"/>
                </a:ext>
              </a:extLst>
            </p:cNvPr>
            <p:cNvSpPr>
              <a:spLocks noChangeArrowheads="1"/>
            </p:cNvSpPr>
            <p:nvPr/>
          </p:nvSpPr>
          <p:spPr bwMode="auto">
            <a:xfrm>
              <a:off x="4558" y="1117"/>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89" name="Oval 9">
              <a:extLst>
                <a:ext uri="{FF2B5EF4-FFF2-40B4-BE49-F238E27FC236}">
                  <a16:creationId xmlns:a16="http://schemas.microsoft.com/office/drawing/2014/main" id="{9EEEE1CB-1E6D-4FB5-B9A1-C8406AA72C36}"/>
                </a:ext>
              </a:extLst>
            </p:cNvPr>
            <p:cNvSpPr>
              <a:spLocks noChangeArrowheads="1"/>
            </p:cNvSpPr>
            <p:nvPr/>
          </p:nvSpPr>
          <p:spPr bwMode="auto">
            <a:xfrm>
              <a:off x="4513" y="1072"/>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90" name="Oval 10">
              <a:extLst>
                <a:ext uri="{FF2B5EF4-FFF2-40B4-BE49-F238E27FC236}">
                  <a16:creationId xmlns:a16="http://schemas.microsoft.com/office/drawing/2014/main" id="{A6790016-FC02-4DB3-9198-400CE955E5CC}"/>
                </a:ext>
              </a:extLst>
            </p:cNvPr>
            <p:cNvSpPr>
              <a:spLocks noChangeArrowheads="1"/>
            </p:cNvSpPr>
            <p:nvPr/>
          </p:nvSpPr>
          <p:spPr bwMode="auto">
            <a:xfrm>
              <a:off x="4195" y="1389"/>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91" name="Oval 11">
              <a:extLst>
                <a:ext uri="{FF2B5EF4-FFF2-40B4-BE49-F238E27FC236}">
                  <a16:creationId xmlns:a16="http://schemas.microsoft.com/office/drawing/2014/main" id="{15658355-13B0-4D18-9A83-44AB76666A64}"/>
                </a:ext>
              </a:extLst>
            </p:cNvPr>
            <p:cNvSpPr>
              <a:spLocks noChangeArrowheads="1"/>
            </p:cNvSpPr>
            <p:nvPr/>
          </p:nvSpPr>
          <p:spPr bwMode="auto">
            <a:xfrm>
              <a:off x="4150" y="1344"/>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92" name="Oval 12">
              <a:extLst>
                <a:ext uri="{FF2B5EF4-FFF2-40B4-BE49-F238E27FC236}">
                  <a16:creationId xmlns:a16="http://schemas.microsoft.com/office/drawing/2014/main" id="{1390C3CF-ADB3-444F-AFA8-A31C4EDF0E0E}"/>
                </a:ext>
              </a:extLst>
            </p:cNvPr>
            <p:cNvSpPr>
              <a:spLocks noChangeArrowheads="1"/>
            </p:cNvSpPr>
            <p:nvPr/>
          </p:nvSpPr>
          <p:spPr bwMode="auto">
            <a:xfrm>
              <a:off x="4966" y="1389"/>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93" name="Oval 13">
              <a:extLst>
                <a:ext uri="{FF2B5EF4-FFF2-40B4-BE49-F238E27FC236}">
                  <a16:creationId xmlns:a16="http://schemas.microsoft.com/office/drawing/2014/main" id="{A3EAB249-D894-40E0-8178-591D90374E11}"/>
                </a:ext>
              </a:extLst>
            </p:cNvPr>
            <p:cNvSpPr>
              <a:spLocks noChangeArrowheads="1"/>
            </p:cNvSpPr>
            <p:nvPr/>
          </p:nvSpPr>
          <p:spPr bwMode="auto">
            <a:xfrm>
              <a:off x="4921" y="1344"/>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94" name="Oval 14">
              <a:extLst>
                <a:ext uri="{FF2B5EF4-FFF2-40B4-BE49-F238E27FC236}">
                  <a16:creationId xmlns:a16="http://schemas.microsoft.com/office/drawing/2014/main" id="{7DB85CBA-DBEE-47C6-A8FC-6EA0C3FBFC52}"/>
                </a:ext>
              </a:extLst>
            </p:cNvPr>
            <p:cNvSpPr>
              <a:spLocks noChangeArrowheads="1"/>
            </p:cNvSpPr>
            <p:nvPr/>
          </p:nvSpPr>
          <p:spPr bwMode="auto">
            <a:xfrm>
              <a:off x="4331" y="1842"/>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95" name="Oval 15">
              <a:extLst>
                <a:ext uri="{FF2B5EF4-FFF2-40B4-BE49-F238E27FC236}">
                  <a16:creationId xmlns:a16="http://schemas.microsoft.com/office/drawing/2014/main" id="{641E519D-1133-49E2-BF93-D4EA712DF53A}"/>
                </a:ext>
              </a:extLst>
            </p:cNvPr>
            <p:cNvSpPr>
              <a:spLocks noChangeArrowheads="1"/>
            </p:cNvSpPr>
            <p:nvPr/>
          </p:nvSpPr>
          <p:spPr bwMode="auto">
            <a:xfrm>
              <a:off x="4286" y="1797"/>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96" name="Oval 16">
              <a:extLst>
                <a:ext uri="{FF2B5EF4-FFF2-40B4-BE49-F238E27FC236}">
                  <a16:creationId xmlns:a16="http://schemas.microsoft.com/office/drawing/2014/main" id="{F085C0AA-2305-4ED1-B3B1-86DD665C0E7E}"/>
                </a:ext>
              </a:extLst>
            </p:cNvPr>
            <p:cNvSpPr>
              <a:spLocks noChangeArrowheads="1"/>
            </p:cNvSpPr>
            <p:nvPr/>
          </p:nvSpPr>
          <p:spPr bwMode="auto">
            <a:xfrm>
              <a:off x="4830" y="1842"/>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97" name="Oval 17">
              <a:extLst>
                <a:ext uri="{FF2B5EF4-FFF2-40B4-BE49-F238E27FC236}">
                  <a16:creationId xmlns:a16="http://schemas.microsoft.com/office/drawing/2014/main" id="{E9E9F2FC-FE66-441F-A3F7-850ADA831877}"/>
                </a:ext>
              </a:extLst>
            </p:cNvPr>
            <p:cNvSpPr>
              <a:spLocks noChangeArrowheads="1"/>
            </p:cNvSpPr>
            <p:nvPr/>
          </p:nvSpPr>
          <p:spPr bwMode="auto">
            <a:xfrm>
              <a:off x="4785" y="1797"/>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98" name="Line 18">
              <a:extLst>
                <a:ext uri="{FF2B5EF4-FFF2-40B4-BE49-F238E27FC236}">
                  <a16:creationId xmlns:a16="http://schemas.microsoft.com/office/drawing/2014/main" id="{75537653-2492-4C7D-96E3-4DD12C096A21}"/>
                </a:ext>
              </a:extLst>
            </p:cNvPr>
            <p:cNvSpPr>
              <a:spLocks noChangeShapeType="1"/>
            </p:cNvSpPr>
            <p:nvPr/>
          </p:nvSpPr>
          <p:spPr bwMode="auto">
            <a:xfrm>
              <a:off x="4331" y="1208"/>
              <a:ext cx="137" cy="13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99" name="Line 19">
              <a:extLst>
                <a:ext uri="{FF2B5EF4-FFF2-40B4-BE49-F238E27FC236}">
                  <a16:creationId xmlns:a16="http://schemas.microsoft.com/office/drawing/2014/main" id="{461F4BD5-0B98-4D5F-9361-A8F6681EE733}"/>
                </a:ext>
              </a:extLst>
            </p:cNvPr>
            <p:cNvSpPr>
              <a:spLocks noChangeShapeType="1"/>
            </p:cNvSpPr>
            <p:nvPr/>
          </p:nvSpPr>
          <p:spPr bwMode="auto">
            <a:xfrm flipV="1">
              <a:off x="4195" y="1661"/>
              <a:ext cx="181" cy="91"/>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100" name="Line 20">
              <a:extLst>
                <a:ext uri="{FF2B5EF4-FFF2-40B4-BE49-F238E27FC236}">
                  <a16:creationId xmlns:a16="http://schemas.microsoft.com/office/drawing/2014/main" id="{F5C85175-230F-47A8-BDB9-9207A214E5E1}"/>
                </a:ext>
              </a:extLst>
            </p:cNvPr>
            <p:cNvSpPr>
              <a:spLocks noChangeShapeType="1"/>
            </p:cNvSpPr>
            <p:nvPr/>
          </p:nvSpPr>
          <p:spPr bwMode="auto">
            <a:xfrm>
              <a:off x="4649" y="1843"/>
              <a:ext cx="0" cy="227"/>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101" name="Line 21">
              <a:extLst>
                <a:ext uri="{FF2B5EF4-FFF2-40B4-BE49-F238E27FC236}">
                  <a16:creationId xmlns:a16="http://schemas.microsoft.com/office/drawing/2014/main" id="{922BAFD9-D8CE-4DBF-B5AB-B9BB431C9B6C}"/>
                </a:ext>
              </a:extLst>
            </p:cNvPr>
            <p:cNvSpPr>
              <a:spLocks noChangeShapeType="1"/>
            </p:cNvSpPr>
            <p:nvPr/>
          </p:nvSpPr>
          <p:spPr bwMode="auto">
            <a:xfrm>
              <a:off x="4875" y="1661"/>
              <a:ext cx="182" cy="91"/>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102" name="Line 22">
              <a:extLst>
                <a:ext uri="{FF2B5EF4-FFF2-40B4-BE49-F238E27FC236}">
                  <a16:creationId xmlns:a16="http://schemas.microsoft.com/office/drawing/2014/main" id="{1F35C36E-C5E1-44AB-AD54-C978C53130F0}"/>
                </a:ext>
              </a:extLst>
            </p:cNvPr>
            <p:cNvSpPr>
              <a:spLocks noChangeShapeType="1"/>
            </p:cNvSpPr>
            <p:nvPr/>
          </p:nvSpPr>
          <p:spPr bwMode="auto">
            <a:xfrm flipH="1">
              <a:off x="4830" y="1208"/>
              <a:ext cx="91" cy="181"/>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103" name="Rectangle 23">
              <a:extLst>
                <a:ext uri="{FF2B5EF4-FFF2-40B4-BE49-F238E27FC236}">
                  <a16:creationId xmlns:a16="http://schemas.microsoft.com/office/drawing/2014/main" id="{2FFC7047-E2BD-49CA-A3EC-81B4AAE02D4D}"/>
                </a:ext>
              </a:extLst>
            </p:cNvPr>
            <p:cNvSpPr>
              <a:spLocks noChangeArrowheads="1"/>
            </p:cNvSpPr>
            <p:nvPr/>
          </p:nvSpPr>
          <p:spPr bwMode="auto">
            <a:xfrm>
              <a:off x="4558" y="799"/>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104" name="Text Box 24">
              <a:extLst>
                <a:ext uri="{FF2B5EF4-FFF2-40B4-BE49-F238E27FC236}">
                  <a16:creationId xmlns:a16="http://schemas.microsoft.com/office/drawing/2014/main" id="{916A06F3-7D7D-477B-87AF-D1BE73FB0F2D}"/>
                </a:ext>
              </a:extLst>
            </p:cNvPr>
            <p:cNvSpPr txBox="1">
              <a:spLocks noChangeArrowheads="1"/>
            </p:cNvSpPr>
            <p:nvPr/>
          </p:nvSpPr>
          <p:spPr bwMode="auto">
            <a:xfrm>
              <a:off x="4562" y="793"/>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0</a:t>
              </a:r>
            </a:p>
          </p:txBody>
        </p:sp>
        <p:sp>
          <p:nvSpPr>
            <p:cNvPr id="105" name="Rectangle 25">
              <a:extLst>
                <a:ext uri="{FF2B5EF4-FFF2-40B4-BE49-F238E27FC236}">
                  <a16:creationId xmlns:a16="http://schemas.microsoft.com/office/drawing/2014/main" id="{48A7A6DE-36DA-4E96-87D0-8A7FF5A38C49}"/>
                </a:ext>
              </a:extLst>
            </p:cNvPr>
            <p:cNvSpPr>
              <a:spLocks noChangeArrowheads="1"/>
            </p:cNvSpPr>
            <p:nvPr/>
          </p:nvSpPr>
          <p:spPr bwMode="auto">
            <a:xfrm>
              <a:off x="5284" y="1208"/>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106" name="Text Box 26">
              <a:extLst>
                <a:ext uri="{FF2B5EF4-FFF2-40B4-BE49-F238E27FC236}">
                  <a16:creationId xmlns:a16="http://schemas.microsoft.com/office/drawing/2014/main" id="{D6FFDCDA-0878-4746-A25C-87C2334821BF}"/>
                </a:ext>
              </a:extLst>
            </p:cNvPr>
            <p:cNvSpPr txBox="1">
              <a:spLocks noChangeArrowheads="1"/>
            </p:cNvSpPr>
            <p:nvPr/>
          </p:nvSpPr>
          <p:spPr bwMode="auto">
            <a:xfrm>
              <a:off x="5284" y="1202"/>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dirty="0">
                  <a:solidFill>
                    <a:schemeClr val="bg2"/>
                  </a:solidFill>
                </a:rPr>
                <a:t>4</a:t>
              </a:r>
            </a:p>
          </p:txBody>
        </p:sp>
        <p:sp>
          <p:nvSpPr>
            <p:cNvPr id="107" name="Rectangle 27">
              <a:extLst>
                <a:ext uri="{FF2B5EF4-FFF2-40B4-BE49-F238E27FC236}">
                  <a16:creationId xmlns:a16="http://schemas.microsoft.com/office/drawing/2014/main" id="{77943BC8-162C-4236-95F9-3D0D558C0D0A}"/>
                </a:ext>
              </a:extLst>
            </p:cNvPr>
            <p:cNvSpPr>
              <a:spLocks noChangeArrowheads="1"/>
            </p:cNvSpPr>
            <p:nvPr/>
          </p:nvSpPr>
          <p:spPr bwMode="auto">
            <a:xfrm>
              <a:off x="5102" y="2069"/>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108" name="Text Box 28">
              <a:extLst>
                <a:ext uri="{FF2B5EF4-FFF2-40B4-BE49-F238E27FC236}">
                  <a16:creationId xmlns:a16="http://schemas.microsoft.com/office/drawing/2014/main" id="{A4346F49-B6A0-44B9-B145-C018965EBCCB}"/>
                </a:ext>
              </a:extLst>
            </p:cNvPr>
            <p:cNvSpPr txBox="1">
              <a:spLocks noChangeArrowheads="1"/>
            </p:cNvSpPr>
            <p:nvPr/>
          </p:nvSpPr>
          <p:spPr bwMode="auto">
            <a:xfrm>
              <a:off x="5103" y="2069"/>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dirty="0">
                  <a:solidFill>
                    <a:schemeClr val="bg2"/>
                  </a:solidFill>
                </a:rPr>
                <a:t>3</a:t>
              </a:r>
            </a:p>
          </p:txBody>
        </p:sp>
        <p:sp>
          <p:nvSpPr>
            <p:cNvPr id="109" name="Rectangle 29">
              <a:extLst>
                <a:ext uri="{FF2B5EF4-FFF2-40B4-BE49-F238E27FC236}">
                  <a16:creationId xmlns:a16="http://schemas.microsoft.com/office/drawing/2014/main" id="{ABC37941-DEF6-4A2F-9536-0A463B71017E}"/>
                </a:ext>
              </a:extLst>
            </p:cNvPr>
            <p:cNvSpPr>
              <a:spLocks noChangeArrowheads="1"/>
            </p:cNvSpPr>
            <p:nvPr/>
          </p:nvSpPr>
          <p:spPr bwMode="auto">
            <a:xfrm>
              <a:off x="4150" y="2160"/>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110" name="Text Box 30">
              <a:extLst>
                <a:ext uri="{FF2B5EF4-FFF2-40B4-BE49-F238E27FC236}">
                  <a16:creationId xmlns:a16="http://schemas.microsoft.com/office/drawing/2014/main" id="{FFE12F17-0A3B-4952-B229-9B11C91E6420}"/>
                </a:ext>
              </a:extLst>
            </p:cNvPr>
            <p:cNvSpPr txBox="1">
              <a:spLocks noChangeArrowheads="1"/>
            </p:cNvSpPr>
            <p:nvPr/>
          </p:nvSpPr>
          <p:spPr bwMode="auto">
            <a:xfrm>
              <a:off x="4155" y="2156"/>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2</a:t>
              </a:r>
            </a:p>
          </p:txBody>
        </p:sp>
        <p:sp>
          <p:nvSpPr>
            <p:cNvPr id="111" name="Rectangle 31">
              <a:extLst>
                <a:ext uri="{FF2B5EF4-FFF2-40B4-BE49-F238E27FC236}">
                  <a16:creationId xmlns:a16="http://schemas.microsoft.com/office/drawing/2014/main" id="{2E8DF5AF-0C29-44D6-8E3F-D104E4175C8F}"/>
                </a:ext>
              </a:extLst>
            </p:cNvPr>
            <p:cNvSpPr>
              <a:spLocks noChangeArrowheads="1"/>
            </p:cNvSpPr>
            <p:nvPr/>
          </p:nvSpPr>
          <p:spPr bwMode="auto">
            <a:xfrm>
              <a:off x="3832" y="1253"/>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112" name="Text Box 32">
              <a:extLst>
                <a:ext uri="{FF2B5EF4-FFF2-40B4-BE49-F238E27FC236}">
                  <a16:creationId xmlns:a16="http://schemas.microsoft.com/office/drawing/2014/main" id="{A8E0DCFB-53FA-4300-8893-B755507DAE98}"/>
                </a:ext>
              </a:extLst>
            </p:cNvPr>
            <p:cNvSpPr txBox="1">
              <a:spLocks noChangeArrowheads="1"/>
            </p:cNvSpPr>
            <p:nvPr/>
          </p:nvSpPr>
          <p:spPr bwMode="auto">
            <a:xfrm>
              <a:off x="3838" y="1247"/>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1</a:t>
              </a:r>
            </a:p>
          </p:txBody>
        </p:sp>
        <p:sp>
          <p:nvSpPr>
            <p:cNvPr id="113" name="Text Box 33">
              <a:extLst>
                <a:ext uri="{FF2B5EF4-FFF2-40B4-BE49-F238E27FC236}">
                  <a16:creationId xmlns:a16="http://schemas.microsoft.com/office/drawing/2014/main" id="{D0283AF2-903B-4915-AF58-C6B7D2219BE3}"/>
                </a:ext>
              </a:extLst>
            </p:cNvPr>
            <p:cNvSpPr txBox="1">
              <a:spLocks noChangeArrowheads="1"/>
            </p:cNvSpPr>
            <p:nvPr/>
          </p:nvSpPr>
          <p:spPr bwMode="auto">
            <a:xfrm>
              <a:off x="5193" y="1707"/>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4</a:t>
              </a:r>
            </a:p>
          </p:txBody>
        </p:sp>
        <p:sp>
          <p:nvSpPr>
            <p:cNvPr id="114" name="Text Box 34">
              <a:extLst>
                <a:ext uri="{FF2B5EF4-FFF2-40B4-BE49-F238E27FC236}">
                  <a16:creationId xmlns:a16="http://schemas.microsoft.com/office/drawing/2014/main" id="{C47B1806-E843-479A-B27A-EC682FBC0D3F}"/>
                </a:ext>
              </a:extLst>
            </p:cNvPr>
            <p:cNvSpPr txBox="1">
              <a:spLocks noChangeArrowheads="1"/>
            </p:cNvSpPr>
            <p:nvPr/>
          </p:nvSpPr>
          <p:spPr bwMode="auto">
            <a:xfrm>
              <a:off x="4558" y="2160"/>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3</a:t>
              </a:r>
            </a:p>
          </p:txBody>
        </p:sp>
        <p:sp>
          <p:nvSpPr>
            <p:cNvPr id="115" name="Text Box 35">
              <a:extLst>
                <a:ext uri="{FF2B5EF4-FFF2-40B4-BE49-F238E27FC236}">
                  <a16:creationId xmlns:a16="http://schemas.microsoft.com/office/drawing/2014/main" id="{F32667B7-C37B-4536-B4AB-AD19A7D8074B}"/>
                </a:ext>
              </a:extLst>
            </p:cNvPr>
            <p:cNvSpPr txBox="1">
              <a:spLocks noChangeArrowheads="1"/>
            </p:cNvSpPr>
            <p:nvPr/>
          </p:nvSpPr>
          <p:spPr bwMode="auto">
            <a:xfrm>
              <a:off x="3923" y="1752"/>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2</a:t>
              </a:r>
            </a:p>
          </p:txBody>
        </p:sp>
        <p:sp>
          <p:nvSpPr>
            <p:cNvPr id="116" name="Text Box 36">
              <a:extLst>
                <a:ext uri="{FF2B5EF4-FFF2-40B4-BE49-F238E27FC236}">
                  <a16:creationId xmlns:a16="http://schemas.microsoft.com/office/drawing/2014/main" id="{FC478D25-85D2-4E5B-AB22-90DFEB7689ED}"/>
                </a:ext>
              </a:extLst>
            </p:cNvPr>
            <p:cNvSpPr txBox="1">
              <a:spLocks noChangeArrowheads="1"/>
            </p:cNvSpPr>
            <p:nvPr/>
          </p:nvSpPr>
          <p:spPr bwMode="auto">
            <a:xfrm>
              <a:off x="4150" y="981"/>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1</a:t>
              </a:r>
            </a:p>
          </p:txBody>
        </p:sp>
        <p:sp>
          <p:nvSpPr>
            <p:cNvPr id="117" name="Text Box 37">
              <a:extLst>
                <a:ext uri="{FF2B5EF4-FFF2-40B4-BE49-F238E27FC236}">
                  <a16:creationId xmlns:a16="http://schemas.microsoft.com/office/drawing/2014/main" id="{4357D65D-DFF8-490C-A565-691E7E110C7C}"/>
                </a:ext>
              </a:extLst>
            </p:cNvPr>
            <p:cNvSpPr txBox="1">
              <a:spLocks noChangeArrowheads="1"/>
            </p:cNvSpPr>
            <p:nvPr/>
          </p:nvSpPr>
          <p:spPr bwMode="auto">
            <a:xfrm>
              <a:off x="4966" y="935"/>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0</a:t>
              </a:r>
            </a:p>
          </p:txBody>
        </p:sp>
        <p:sp>
          <p:nvSpPr>
            <p:cNvPr id="118" name="Line 38">
              <a:extLst>
                <a:ext uri="{FF2B5EF4-FFF2-40B4-BE49-F238E27FC236}">
                  <a16:creationId xmlns:a16="http://schemas.microsoft.com/office/drawing/2014/main" id="{D6F1F0BD-02BC-4B85-87DA-6B32F9AFFEDE}"/>
                </a:ext>
              </a:extLst>
            </p:cNvPr>
            <p:cNvSpPr>
              <a:spLocks noChangeShapeType="1"/>
            </p:cNvSpPr>
            <p:nvPr/>
          </p:nvSpPr>
          <p:spPr bwMode="auto">
            <a:xfrm flipH="1">
              <a:off x="4739" y="890"/>
              <a:ext cx="91" cy="0"/>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119" name="Line 39">
              <a:extLst>
                <a:ext uri="{FF2B5EF4-FFF2-40B4-BE49-F238E27FC236}">
                  <a16:creationId xmlns:a16="http://schemas.microsoft.com/office/drawing/2014/main" id="{DDAFD1D5-1490-4F0F-8F29-B346D1BA9B27}"/>
                </a:ext>
              </a:extLst>
            </p:cNvPr>
            <p:cNvSpPr>
              <a:spLocks noChangeShapeType="1"/>
            </p:cNvSpPr>
            <p:nvPr/>
          </p:nvSpPr>
          <p:spPr bwMode="auto">
            <a:xfrm flipH="1">
              <a:off x="5102" y="1026"/>
              <a:ext cx="91" cy="0"/>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120" name="Text Box 40">
              <a:extLst>
                <a:ext uri="{FF2B5EF4-FFF2-40B4-BE49-F238E27FC236}">
                  <a16:creationId xmlns:a16="http://schemas.microsoft.com/office/drawing/2014/main" id="{AB6DC04F-8258-4A77-A49F-87E5F40D503E}"/>
                </a:ext>
              </a:extLst>
            </p:cNvPr>
            <p:cNvSpPr txBox="1">
              <a:spLocks noChangeArrowheads="1"/>
            </p:cNvSpPr>
            <p:nvPr/>
          </p:nvSpPr>
          <p:spPr bwMode="auto">
            <a:xfrm>
              <a:off x="4785" y="799"/>
              <a:ext cx="596" cy="173"/>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200">
                  <a:solidFill>
                    <a:schemeClr val="bg2"/>
                  </a:solidFill>
                  <a:latin typeface="Arial" panose="020B0604020202020204" pitchFamily="34" charset="0"/>
                </a:rPr>
                <a:t>哲学家编号</a:t>
              </a:r>
            </a:p>
          </p:txBody>
        </p:sp>
        <p:sp>
          <p:nvSpPr>
            <p:cNvPr id="121" name="Text Box 41">
              <a:extLst>
                <a:ext uri="{FF2B5EF4-FFF2-40B4-BE49-F238E27FC236}">
                  <a16:creationId xmlns:a16="http://schemas.microsoft.com/office/drawing/2014/main" id="{7C3F67A4-C610-4DFB-B5BB-4CB819F85232}"/>
                </a:ext>
              </a:extLst>
            </p:cNvPr>
            <p:cNvSpPr txBox="1">
              <a:spLocks noChangeArrowheads="1"/>
            </p:cNvSpPr>
            <p:nvPr/>
          </p:nvSpPr>
          <p:spPr bwMode="auto">
            <a:xfrm>
              <a:off x="5148" y="935"/>
              <a:ext cx="500" cy="173"/>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200" dirty="0">
                  <a:solidFill>
                    <a:schemeClr val="bg2"/>
                  </a:solidFill>
                  <a:latin typeface="Arial" panose="020B0604020202020204" pitchFamily="34" charset="0"/>
                </a:rPr>
                <a:t>筷子编号</a:t>
              </a:r>
            </a:p>
          </p:txBody>
        </p:sp>
      </p:grpSp>
    </p:spTree>
    <p:extLst>
      <p:ext uri="{BB962C8B-B14F-4D97-AF65-F5344CB8AC3E}">
        <p14:creationId xmlns:p14="http://schemas.microsoft.com/office/powerpoint/2010/main" val="1354387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amond(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nodePh="1">
                                  <p:stCondLst>
                                    <p:cond delay="0"/>
                                  </p:stCondLst>
                                  <p:endCondLst>
                                    <p:cond evt="begin" delay="0">
                                      <p:tn val="10"/>
                                    </p:cond>
                                  </p:end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3000" fill="hold"/>
                                        <p:tgtEl>
                                          <p:spTgt spid="4"/>
                                        </p:tgtEl>
                                        <p:attrNameLst>
                                          <p:attrName>ppt_x</p:attrName>
                                        </p:attrNameLst>
                                      </p:cBhvr>
                                      <p:tavLst>
                                        <p:tav tm="0">
                                          <p:val>
                                            <p:strVal val="#ppt_x"/>
                                          </p:val>
                                        </p:tav>
                                        <p:tav tm="100000">
                                          <p:val>
                                            <p:strVal val="#ppt_x"/>
                                          </p:val>
                                        </p:tav>
                                      </p:tavLst>
                                    </p:anim>
                                    <p:anim calcmode="lin" valueType="num">
                                      <p:cBhvr additive="base">
                                        <p:cTn id="13" dur="3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20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animEffect transition="in" filter="fade">
                                      <p:cBhvr>
                                        <p:cTn id="23" dur="2000"/>
                                        <p:tgtEl>
                                          <p:spTgt spid="1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1">
                                            <p:txEl>
                                              <p:pRg st="0" end="0"/>
                                            </p:txEl>
                                          </p:spTgt>
                                        </p:tgtEl>
                                        <p:attrNameLst>
                                          <p:attrName>style.visibility</p:attrName>
                                        </p:attrNameLst>
                                      </p:cBhvr>
                                      <p:to>
                                        <p:strVal val="visible"/>
                                      </p:to>
                                    </p:set>
                                    <p:animEffect transition="in" filter="fade">
                                      <p:cBhvr>
                                        <p:cTn id="28" dur="2000"/>
                                        <p:tgtEl>
                                          <p:spTgt spid="11">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20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animBg="1"/>
      <p:bldP spid="9" grpId="0"/>
      <p:bldP spid="1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20B1270-D023-4C57-8E83-C89F583965E4}"/>
              </a:ext>
            </a:extLst>
          </p:cNvPr>
          <p:cNvSpPr>
            <a:spLocks noGrp="1"/>
          </p:cNvSpPr>
          <p:nvPr>
            <p:ph type="dt" sz="half" idx="10"/>
          </p:nvPr>
        </p:nvSpPr>
        <p:spPr/>
        <p:txBody>
          <a:bodyPr/>
          <a:lstStyle/>
          <a:p>
            <a:pPr>
              <a:defRPr/>
            </a:pPr>
            <a:fld id="{0F3703A3-1889-4D5A-B002-82B1611E7DF6}" type="datetime1">
              <a:rPr lang="zh-CN" altLang="en-US" smtClean="0"/>
              <a:pPr>
                <a:defRPr/>
              </a:pPr>
              <a:t>2024/10/9</a:t>
            </a:fld>
            <a:endParaRPr lang="en-US" altLang="zh-CN"/>
          </a:p>
        </p:txBody>
      </p:sp>
      <p:sp>
        <p:nvSpPr>
          <p:cNvPr id="4" name="Text Box 5">
            <a:extLst>
              <a:ext uri="{FF2B5EF4-FFF2-40B4-BE49-F238E27FC236}">
                <a16:creationId xmlns:a16="http://schemas.microsoft.com/office/drawing/2014/main" id="{A130ADCF-4082-4F49-84E9-B1CE9E81C3ED}"/>
              </a:ext>
            </a:extLst>
          </p:cNvPr>
          <p:cNvSpPr txBox="1">
            <a:spLocks noChangeArrowheads="1"/>
          </p:cNvSpPr>
          <p:nvPr/>
        </p:nvSpPr>
        <p:spPr bwMode="auto">
          <a:xfrm>
            <a:off x="0" y="0"/>
            <a:ext cx="9144000" cy="954088"/>
          </a:xfrm>
          <a:prstGeom prst="rect">
            <a:avLst/>
          </a:prstGeom>
          <a:solidFill>
            <a:schemeClr val="tx1">
              <a:lumMod val="85000"/>
            </a:schemeClr>
          </a:solidFill>
          <a:ln>
            <a:noFill/>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800" b="1" dirty="0">
                <a:solidFill>
                  <a:schemeClr val="bg2"/>
                </a:solidFill>
              </a:rPr>
              <a:t>(2)</a:t>
            </a:r>
            <a:r>
              <a:rPr lang="zh-CN" altLang="en-US" sz="2800" b="1" dirty="0">
                <a:solidFill>
                  <a:schemeClr val="bg2"/>
                </a:solidFill>
              </a:rPr>
              <a:t>保证两个相邻哲学家不会同时拿同一根筷子；</a:t>
            </a:r>
            <a:r>
              <a:rPr lang="zh-CN" altLang="en-US" sz="2800" b="1" dirty="0">
                <a:solidFill>
                  <a:srgbClr val="C00000"/>
                </a:solidFill>
              </a:rPr>
              <a:t>并且没有人饿死。</a:t>
            </a:r>
          </a:p>
        </p:txBody>
      </p:sp>
      <p:sp>
        <p:nvSpPr>
          <p:cNvPr id="5" name="Text Box 6">
            <a:extLst>
              <a:ext uri="{FF2B5EF4-FFF2-40B4-BE49-F238E27FC236}">
                <a16:creationId xmlns:a16="http://schemas.microsoft.com/office/drawing/2014/main" id="{E787939E-6E73-46EC-BB81-7777173D55EC}"/>
              </a:ext>
            </a:extLst>
          </p:cNvPr>
          <p:cNvSpPr txBox="1">
            <a:spLocks noChangeArrowheads="1"/>
          </p:cNvSpPr>
          <p:nvPr/>
        </p:nvSpPr>
        <p:spPr bwMode="auto">
          <a:xfrm>
            <a:off x="0" y="865981"/>
            <a:ext cx="8675687"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
              </a:spcBef>
              <a:buClrTx/>
              <a:buSzTx/>
              <a:buFontTx/>
              <a:buNone/>
            </a:pPr>
            <a:r>
              <a:rPr lang="zh-CN" altLang="en-US" sz="2800" dirty="0">
                <a:solidFill>
                  <a:srgbClr val="FF00FF"/>
                </a:solidFill>
              </a:rPr>
              <a:t>方法</a:t>
            </a:r>
            <a:r>
              <a:rPr lang="en-US" altLang="zh-CN" sz="2800" dirty="0">
                <a:solidFill>
                  <a:srgbClr val="FF00FF"/>
                </a:solidFill>
              </a:rPr>
              <a:t>1</a:t>
            </a:r>
            <a:r>
              <a:rPr lang="zh-CN" altLang="en-US" sz="2800" dirty="0">
                <a:solidFill>
                  <a:srgbClr val="FF00FF"/>
                </a:solidFill>
              </a:rPr>
              <a:t>：奇数号的哲学家先取右手边的筷子，</a:t>
            </a:r>
          </a:p>
          <a:p>
            <a:pPr eaLnBrk="1" hangingPunct="1">
              <a:spcBef>
                <a:spcPct val="5000"/>
              </a:spcBef>
              <a:buClrTx/>
              <a:buSzTx/>
              <a:buFontTx/>
              <a:buNone/>
            </a:pPr>
            <a:r>
              <a:rPr lang="zh-CN" altLang="en-US" sz="2800" dirty="0">
                <a:solidFill>
                  <a:srgbClr val="FF00FF"/>
                </a:solidFill>
              </a:rPr>
              <a:t>              偶数号的哲学家先取左手边的筷子。</a:t>
            </a:r>
          </a:p>
        </p:txBody>
      </p:sp>
      <p:sp>
        <p:nvSpPr>
          <p:cNvPr id="6" name="Text Box 44">
            <a:extLst>
              <a:ext uri="{FF2B5EF4-FFF2-40B4-BE49-F238E27FC236}">
                <a16:creationId xmlns:a16="http://schemas.microsoft.com/office/drawing/2014/main" id="{0FA9BA9C-8EBC-4159-A58D-A645A1334532}"/>
              </a:ext>
            </a:extLst>
          </p:cNvPr>
          <p:cNvSpPr txBox="1">
            <a:spLocks noChangeArrowheads="1"/>
          </p:cNvSpPr>
          <p:nvPr/>
        </p:nvSpPr>
        <p:spPr bwMode="auto">
          <a:xfrm>
            <a:off x="1" y="1785938"/>
            <a:ext cx="4133850" cy="5262979"/>
          </a:xfrm>
          <a:prstGeom prst="rect">
            <a:avLst/>
          </a:prstGeom>
          <a:solidFill>
            <a:schemeClr val="tx1">
              <a:lumMod val="85000"/>
            </a:schemeClr>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400" b="1" dirty="0">
                <a:solidFill>
                  <a:srgbClr val="000000"/>
                </a:solidFill>
              </a:rPr>
              <a:t>philosopher(</a:t>
            </a:r>
            <a:r>
              <a:rPr kumimoji="0" lang="en-US" altLang="zh-CN" sz="2400" b="1" dirty="0" err="1">
                <a:solidFill>
                  <a:srgbClr val="000000"/>
                </a:solidFill>
              </a:rPr>
              <a:t>i</a:t>
            </a:r>
            <a:r>
              <a:rPr kumimoji="0" lang="en-US" altLang="zh-CN" sz="2400" b="1" dirty="0">
                <a:solidFill>
                  <a:srgbClr val="000000"/>
                </a:solidFill>
              </a:rPr>
              <a:t>) {</a:t>
            </a:r>
          </a:p>
          <a:p>
            <a:pPr eaLnBrk="1" hangingPunct="1">
              <a:spcBef>
                <a:spcPct val="0"/>
              </a:spcBef>
              <a:buClrTx/>
              <a:buSzTx/>
              <a:buFontTx/>
              <a:buNone/>
            </a:pPr>
            <a:r>
              <a:rPr kumimoji="0" lang="en-US" altLang="zh-CN" sz="2400" b="1" dirty="0">
                <a:solidFill>
                  <a:srgbClr val="000000"/>
                </a:solidFill>
              </a:rPr>
              <a:t>  while(TRUE)</a:t>
            </a:r>
          </a:p>
          <a:p>
            <a:pPr eaLnBrk="1" hangingPunct="1">
              <a:spcBef>
                <a:spcPct val="0"/>
              </a:spcBef>
              <a:buClrTx/>
              <a:buSzTx/>
              <a:buFontTx/>
              <a:buNone/>
            </a:pPr>
            <a:r>
              <a:rPr kumimoji="0" lang="en-US" altLang="zh-CN" sz="2400" b="1" dirty="0">
                <a:solidFill>
                  <a:srgbClr val="000000"/>
                </a:solidFill>
              </a:rPr>
              <a:t>  {</a:t>
            </a:r>
            <a:r>
              <a:rPr kumimoji="0" lang="en-US" altLang="zh-CN" sz="2000" b="1" dirty="0">
                <a:solidFill>
                  <a:srgbClr val="000000"/>
                </a:solidFill>
              </a:rPr>
              <a:t>think( );</a:t>
            </a:r>
          </a:p>
          <a:p>
            <a:pPr eaLnBrk="1" hangingPunct="1">
              <a:spcBef>
                <a:spcPct val="0"/>
              </a:spcBef>
              <a:buClrTx/>
              <a:buSzTx/>
              <a:buFontTx/>
              <a:buNone/>
            </a:pPr>
            <a:r>
              <a:rPr kumimoji="0" lang="en-US" altLang="zh-CN" sz="2000" b="1" dirty="0">
                <a:solidFill>
                  <a:srgbClr val="000000"/>
                </a:solidFill>
              </a:rPr>
              <a:t>    if(</a:t>
            </a:r>
            <a:r>
              <a:rPr kumimoji="0" lang="en-US" altLang="zh-CN" sz="2000" b="1" dirty="0" err="1">
                <a:solidFill>
                  <a:srgbClr val="000000"/>
                </a:solidFill>
              </a:rPr>
              <a:t>i</a:t>
            </a:r>
            <a:r>
              <a:rPr kumimoji="0" lang="en-US" altLang="zh-CN" sz="2000" b="1" dirty="0">
                <a:solidFill>
                  <a:srgbClr val="000000"/>
                </a:solidFill>
              </a:rPr>
              <a:t> mod 2==0) then       </a:t>
            </a:r>
          </a:p>
          <a:p>
            <a:pPr eaLnBrk="1" hangingPunct="1">
              <a:spcBef>
                <a:spcPct val="0"/>
              </a:spcBef>
              <a:buClrTx/>
              <a:buSzTx/>
              <a:buFontTx/>
              <a:buNone/>
            </a:pPr>
            <a:r>
              <a:rPr kumimoji="0" lang="en-US" altLang="zh-CN" sz="2000" b="1" dirty="0">
                <a:solidFill>
                  <a:srgbClr val="000000"/>
                </a:solidFill>
              </a:rPr>
              <a:t>    	</a:t>
            </a:r>
            <a:r>
              <a:rPr kumimoji="0" lang="en-US" altLang="zh-CN" sz="2000" dirty="0">
                <a:solidFill>
                  <a:schemeClr val="accent2">
                    <a:lumMod val="50000"/>
                  </a:schemeClr>
                </a:solidFill>
              </a:rPr>
              <a:t>{</a:t>
            </a:r>
          </a:p>
          <a:p>
            <a:pPr eaLnBrk="1" hangingPunct="1">
              <a:spcBef>
                <a:spcPct val="0"/>
              </a:spcBef>
              <a:buClrTx/>
              <a:buSzTx/>
              <a:buFontTx/>
              <a:buNone/>
            </a:pPr>
            <a:r>
              <a:rPr kumimoji="0" lang="en-US" altLang="zh-CN" sz="2000" b="1" dirty="0">
                <a:solidFill>
                  <a:srgbClr val="000000"/>
                </a:solidFill>
              </a:rPr>
              <a:t>	</a:t>
            </a:r>
            <a:r>
              <a:rPr kumimoji="0" lang="en-US" altLang="zh-CN" sz="2000" b="1" dirty="0">
                <a:solidFill>
                  <a:schemeClr val="accent2">
                    <a:lumMod val="50000"/>
                  </a:schemeClr>
                </a:solidFill>
              </a:rPr>
              <a:t> P(chopstick[</a:t>
            </a:r>
            <a:r>
              <a:rPr kumimoji="0" lang="en-US" altLang="zh-CN" sz="2000" b="1" dirty="0" err="1">
                <a:solidFill>
                  <a:schemeClr val="accent2">
                    <a:lumMod val="50000"/>
                  </a:schemeClr>
                </a:solidFill>
              </a:rPr>
              <a:t>i</a:t>
            </a:r>
            <a:r>
              <a:rPr kumimoji="0" lang="en-US" altLang="zh-CN" sz="2000" b="1" dirty="0">
                <a:solidFill>
                  <a:schemeClr val="accent2">
                    <a:lumMod val="50000"/>
                  </a:schemeClr>
                </a:solidFill>
              </a:rPr>
              <a:t>]);</a:t>
            </a:r>
          </a:p>
          <a:p>
            <a:pPr eaLnBrk="1" hangingPunct="1">
              <a:spcBef>
                <a:spcPct val="0"/>
              </a:spcBef>
              <a:buClrTx/>
              <a:buSzTx/>
              <a:buFontTx/>
              <a:buNone/>
            </a:pPr>
            <a:r>
              <a:rPr kumimoji="0" lang="en-US" altLang="zh-CN" sz="2000" b="1" dirty="0">
                <a:solidFill>
                  <a:schemeClr val="accent2">
                    <a:lumMod val="50000"/>
                  </a:schemeClr>
                </a:solidFill>
              </a:rPr>
              <a:t>    	 P(chopstick[(i+1) mod 5)];}  </a:t>
            </a:r>
          </a:p>
          <a:p>
            <a:pPr eaLnBrk="1" hangingPunct="1">
              <a:spcBef>
                <a:spcPct val="0"/>
              </a:spcBef>
              <a:buClrTx/>
              <a:buSzTx/>
              <a:buFontTx/>
              <a:buNone/>
            </a:pPr>
            <a:r>
              <a:rPr kumimoji="0" lang="en-US" altLang="zh-CN" sz="2000" b="1" dirty="0">
                <a:solidFill>
                  <a:srgbClr val="000000"/>
                </a:solidFill>
              </a:rPr>
              <a:t>    else</a:t>
            </a:r>
          </a:p>
          <a:p>
            <a:pPr eaLnBrk="1" hangingPunct="1">
              <a:spcBef>
                <a:spcPct val="0"/>
              </a:spcBef>
              <a:buClrTx/>
              <a:buSzTx/>
              <a:buFontTx/>
              <a:buNone/>
            </a:pPr>
            <a:r>
              <a:rPr kumimoji="0" lang="en-US" altLang="zh-CN" sz="2000" b="1" dirty="0">
                <a:solidFill>
                  <a:srgbClr val="000000"/>
                </a:solidFill>
              </a:rPr>
              <a:t>	</a:t>
            </a:r>
            <a:r>
              <a:rPr kumimoji="0" lang="en-US" altLang="zh-CN" sz="2000" dirty="0">
                <a:solidFill>
                  <a:schemeClr val="accent2">
                    <a:lumMod val="50000"/>
                  </a:schemeClr>
                </a:solidFill>
              </a:rPr>
              <a:t>{</a:t>
            </a:r>
          </a:p>
          <a:p>
            <a:pPr eaLnBrk="1" hangingPunct="1">
              <a:spcBef>
                <a:spcPct val="0"/>
              </a:spcBef>
              <a:buClrTx/>
              <a:buSzTx/>
              <a:buFontTx/>
              <a:buNone/>
            </a:pPr>
            <a:r>
              <a:rPr kumimoji="0" lang="en-US" altLang="zh-CN" sz="2000" b="1" dirty="0">
                <a:solidFill>
                  <a:schemeClr val="accent2">
                    <a:lumMod val="50000"/>
                  </a:schemeClr>
                </a:solidFill>
              </a:rPr>
              <a:t>               P(chopstick[(i+1) mod 5)]; </a:t>
            </a:r>
          </a:p>
          <a:p>
            <a:pPr eaLnBrk="1" hangingPunct="1">
              <a:spcBef>
                <a:spcPct val="0"/>
              </a:spcBef>
              <a:buClrTx/>
              <a:buSzTx/>
              <a:buFontTx/>
              <a:buNone/>
            </a:pPr>
            <a:r>
              <a:rPr kumimoji="0" lang="en-US" altLang="zh-CN" sz="2000" b="1" dirty="0">
                <a:solidFill>
                  <a:schemeClr val="accent2">
                    <a:lumMod val="50000"/>
                  </a:schemeClr>
                </a:solidFill>
              </a:rPr>
              <a:t>	 P(chopstick[</a:t>
            </a:r>
            <a:r>
              <a:rPr kumimoji="0" lang="en-US" altLang="zh-CN" sz="2000" b="1" dirty="0" err="1">
                <a:solidFill>
                  <a:schemeClr val="accent2">
                    <a:lumMod val="50000"/>
                  </a:schemeClr>
                </a:solidFill>
              </a:rPr>
              <a:t>i</a:t>
            </a:r>
            <a:r>
              <a:rPr kumimoji="0" lang="en-US" altLang="zh-CN" sz="2000" b="1" dirty="0">
                <a:solidFill>
                  <a:schemeClr val="accent2">
                    <a:lumMod val="50000"/>
                  </a:schemeClr>
                </a:solidFill>
              </a:rPr>
              <a:t>]); }</a:t>
            </a:r>
          </a:p>
          <a:p>
            <a:pPr eaLnBrk="1" hangingPunct="1">
              <a:spcBef>
                <a:spcPct val="0"/>
              </a:spcBef>
              <a:buClrTx/>
              <a:buSzTx/>
              <a:buFontTx/>
              <a:buNone/>
            </a:pPr>
            <a:r>
              <a:rPr kumimoji="0" lang="en-US" altLang="zh-CN" sz="2000" b="1" dirty="0">
                <a:solidFill>
                  <a:srgbClr val="000000"/>
                </a:solidFill>
              </a:rPr>
              <a:t>    eat( );</a:t>
            </a:r>
          </a:p>
          <a:p>
            <a:pPr eaLnBrk="1" hangingPunct="1">
              <a:spcBef>
                <a:spcPct val="0"/>
              </a:spcBef>
              <a:buClrTx/>
              <a:buSzTx/>
              <a:buFontTx/>
              <a:buNone/>
            </a:pPr>
            <a:r>
              <a:rPr kumimoji="0" lang="en-US" altLang="zh-CN" sz="2000" b="1" dirty="0">
                <a:solidFill>
                  <a:schemeClr val="accent2">
                    <a:lumMod val="50000"/>
                  </a:schemeClr>
                </a:solidFill>
              </a:rPr>
              <a:t>    V(chopstick[</a:t>
            </a:r>
            <a:r>
              <a:rPr kumimoji="0" lang="en-US" altLang="zh-CN" sz="2000" b="1" dirty="0" err="1">
                <a:solidFill>
                  <a:schemeClr val="accent2">
                    <a:lumMod val="50000"/>
                  </a:schemeClr>
                </a:solidFill>
              </a:rPr>
              <a:t>i</a:t>
            </a:r>
            <a:r>
              <a:rPr kumimoji="0" lang="en-US" altLang="zh-CN" sz="2000" b="1" dirty="0">
                <a:solidFill>
                  <a:schemeClr val="accent2">
                    <a:lumMod val="50000"/>
                  </a:schemeClr>
                </a:solidFill>
              </a:rPr>
              <a:t>]);</a:t>
            </a:r>
          </a:p>
          <a:p>
            <a:pPr eaLnBrk="1" hangingPunct="1">
              <a:spcBef>
                <a:spcPct val="0"/>
              </a:spcBef>
              <a:buClrTx/>
              <a:buSzTx/>
              <a:buFontTx/>
              <a:buNone/>
            </a:pPr>
            <a:r>
              <a:rPr kumimoji="0" lang="en-US" altLang="zh-CN" sz="2000" b="1" dirty="0">
                <a:solidFill>
                  <a:schemeClr val="accent2">
                    <a:lumMod val="50000"/>
                  </a:schemeClr>
                </a:solidFill>
              </a:rPr>
              <a:t>    V(chopstick[(i+1) mod 5)];</a:t>
            </a:r>
          </a:p>
          <a:p>
            <a:pPr eaLnBrk="1" hangingPunct="1">
              <a:spcBef>
                <a:spcPct val="0"/>
              </a:spcBef>
              <a:buClrTx/>
              <a:buSzTx/>
              <a:buFontTx/>
              <a:buNone/>
            </a:pPr>
            <a:r>
              <a:rPr kumimoji="0" lang="en-US" altLang="zh-CN" sz="2000" b="1" dirty="0">
                <a:solidFill>
                  <a:srgbClr val="000000"/>
                </a:solidFill>
              </a:rPr>
              <a:t>  }</a:t>
            </a:r>
          </a:p>
          <a:p>
            <a:pPr eaLnBrk="1" hangingPunct="1">
              <a:spcBef>
                <a:spcPct val="0"/>
              </a:spcBef>
              <a:buClrTx/>
              <a:buSzTx/>
              <a:buFontTx/>
              <a:buNone/>
            </a:pPr>
            <a:r>
              <a:rPr kumimoji="0" lang="en-US" altLang="zh-CN" sz="2400" b="1" dirty="0">
                <a:solidFill>
                  <a:srgbClr val="000000"/>
                </a:solidFill>
              </a:rPr>
              <a:t>}</a:t>
            </a:r>
          </a:p>
        </p:txBody>
      </p:sp>
      <p:sp>
        <p:nvSpPr>
          <p:cNvPr id="43" name="Text Box 81">
            <a:extLst>
              <a:ext uri="{FF2B5EF4-FFF2-40B4-BE49-F238E27FC236}">
                <a16:creationId xmlns:a16="http://schemas.microsoft.com/office/drawing/2014/main" id="{3AA11BB9-C676-4C2E-BE8A-5585EEC648DF}"/>
              </a:ext>
            </a:extLst>
          </p:cNvPr>
          <p:cNvSpPr txBox="1">
            <a:spLocks noChangeArrowheads="1"/>
          </p:cNvSpPr>
          <p:nvPr/>
        </p:nvSpPr>
        <p:spPr bwMode="auto">
          <a:xfrm>
            <a:off x="4132610" y="4880769"/>
            <a:ext cx="5041205" cy="830997"/>
          </a:xfrm>
          <a:prstGeom prst="rect">
            <a:avLst/>
          </a:prstGeom>
          <a:solidFill>
            <a:srgbClr val="C8D2FC"/>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b="1" dirty="0">
                <a:solidFill>
                  <a:schemeClr val="bg2"/>
                </a:solidFill>
              </a:rPr>
              <a:t>任一哲学家拿到一支筷子，邻座的</a:t>
            </a:r>
            <a:r>
              <a:rPr lang="zh-CN" altLang="en-US" sz="2400" b="1" dirty="0">
                <a:solidFill>
                  <a:srgbClr val="7A007A"/>
                </a:solidFill>
              </a:rPr>
              <a:t>一个</a:t>
            </a:r>
            <a:r>
              <a:rPr lang="zh-CN" altLang="en-US" sz="2400" b="1" dirty="0">
                <a:solidFill>
                  <a:schemeClr val="bg2"/>
                </a:solidFill>
              </a:rPr>
              <a:t>哲学家就一支筷子也拿不到。</a:t>
            </a:r>
            <a:endParaRPr lang="zh-CN" altLang="en-US" sz="2400" dirty="0">
              <a:solidFill>
                <a:schemeClr val="bg2"/>
              </a:solidFill>
            </a:endParaRPr>
          </a:p>
        </p:txBody>
      </p:sp>
      <p:grpSp>
        <p:nvGrpSpPr>
          <p:cNvPr id="45" name="Group 6">
            <a:extLst>
              <a:ext uri="{FF2B5EF4-FFF2-40B4-BE49-F238E27FC236}">
                <a16:creationId xmlns:a16="http://schemas.microsoft.com/office/drawing/2014/main" id="{158D638B-E131-4256-88AD-BB6F22C92568}"/>
              </a:ext>
            </a:extLst>
          </p:cNvPr>
          <p:cNvGrpSpPr>
            <a:grpSpLocks/>
          </p:cNvGrpSpPr>
          <p:nvPr/>
        </p:nvGrpSpPr>
        <p:grpSpPr bwMode="auto">
          <a:xfrm>
            <a:off x="5867400" y="1258888"/>
            <a:ext cx="2882900" cy="2474912"/>
            <a:chOff x="3832" y="793"/>
            <a:chExt cx="1816" cy="1559"/>
          </a:xfrm>
        </p:grpSpPr>
        <p:sp>
          <p:nvSpPr>
            <p:cNvPr id="46" name="Oval 7">
              <a:extLst>
                <a:ext uri="{FF2B5EF4-FFF2-40B4-BE49-F238E27FC236}">
                  <a16:creationId xmlns:a16="http://schemas.microsoft.com/office/drawing/2014/main" id="{D4114C2A-BDD5-46E0-A7B4-FD2DCCC7987D}"/>
                </a:ext>
              </a:extLst>
            </p:cNvPr>
            <p:cNvSpPr>
              <a:spLocks noChangeArrowheads="1"/>
            </p:cNvSpPr>
            <p:nvPr/>
          </p:nvSpPr>
          <p:spPr bwMode="auto">
            <a:xfrm>
              <a:off x="4059" y="1026"/>
              <a:ext cx="1179" cy="1134"/>
            </a:xfrm>
            <a:prstGeom prst="ellipse">
              <a:avLst/>
            </a:prstGeom>
            <a:solidFill>
              <a:schemeClr val="accent1">
                <a:alpha val="0"/>
              </a:schemeClr>
            </a:solidFill>
            <a:ln w="2857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47" name="Oval 8">
              <a:extLst>
                <a:ext uri="{FF2B5EF4-FFF2-40B4-BE49-F238E27FC236}">
                  <a16:creationId xmlns:a16="http://schemas.microsoft.com/office/drawing/2014/main" id="{EB541C67-E470-41CB-9D55-95CED3B1664C}"/>
                </a:ext>
              </a:extLst>
            </p:cNvPr>
            <p:cNvSpPr>
              <a:spLocks noChangeArrowheads="1"/>
            </p:cNvSpPr>
            <p:nvPr/>
          </p:nvSpPr>
          <p:spPr bwMode="auto">
            <a:xfrm>
              <a:off x="4558" y="1117"/>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48" name="Oval 9">
              <a:extLst>
                <a:ext uri="{FF2B5EF4-FFF2-40B4-BE49-F238E27FC236}">
                  <a16:creationId xmlns:a16="http://schemas.microsoft.com/office/drawing/2014/main" id="{5971653D-6D47-44B3-A4AE-550FDEC82C44}"/>
                </a:ext>
              </a:extLst>
            </p:cNvPr>
            <p:cNvSpPr>
              <a:spLocks noChangeArrowheads="1"/>
            </p:cNvSpPr>
            <p:nvPr/>
          </p:nvSpPr>
          <p:spPr bwMode="auto">
            <a:xfrm>
              <a:off x="4513" y="1072"/>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49" name="Oval 10">
              <a:extLst>
                <a:ext uri="{FF2B5EF4-FFF2-40B4-BE49-F238E27FC236}">
                  <a16:creationId xmlns:a16="http://schemas.microsoft.com/office/drawing/2014/main" id="{3AB6CA32-CD3A-4C2D-B55E-EE4ABA45D869}"/>
                </a:ext>
              </a:extLst>
            </p:cNvPr>
            <p:cNvSpPr>
              <a:spLocks noChangeArrowheads="1"/>
            </p:cNvSpPr>
            <p:nvPr/>
          </p:nvSpPr>
          <p:spPr bwMode="auto">
            <a:xfrm>
              <a:off x="4195" y="1389"/>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0" name="Oval 11">
              <a:extLst>
                <a:ext uri="{FF2B5EF4-FFF2-40B4-BE49-F238E27FC236}">
                  <a16:creationId xmlns:a16="http://schemas.microsoft.com/office/drawing/2014/main" id="{472C0653-CA34-4162-81BB-489FB4FE56A2}"/>
                </a:ext>
              </a:extLst>
            </p:cNvPr>
            <p:cNvSpPr>
              <a:spLocks noChangeArrowheads="1"/>
            </p:cNvSpPr>
            <p:nvPr/>
          </p:nvSpPr>
          <p:spPr bwMode="auto">
            <a:xfrm>
              <a:off x="4150" y="1344"/>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1" name="Oval 12">
              <a:extLst>
                <a:ext uri="{FF2B5EF4-FFF2-40B4-BE49-F238E27FC236}">
                  <a16:creationId xmlns:a16="http://schemas.microsoft.com/office/drawing/2014/main" id="{1EB63578-26E8-4AF1-BE91-4687E0285BC7}"/>
                </a:ext>
              </a:extLst>
            </p:cNvPr>
            <p:cNvSpPr>
              <a:spLocks noChangeArrowheads="1"/>
            </p:cNvSpPr>
            <p:nvPr/>
          </p:nvSpPr>
          <p:spPr bwMode="auto">
            <a:xfrm>
              <a:off x="4966" y="1389"/>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2" name="Oval 13">
              <a:extLst>
                <a:ext uri="{FF2B5EF4-FFF2-40B4-BE49-F238E27FC236}">
                  <a16:creationId xmlns:a16="http://schemas.microsoft.com/office/drawing/2014/main" id="{E4EC4DCD-8680-47C1-ADAB-3DF76DB74BB4}"/>
                </a:ext>
              </a:extLst>
            </p:cNvPr>
            <p:cNvSpPr>
              <a:spLocks noChangeArrowheads="1"/>
            </p:cNvSpPr>
            <p:nvPr/>
          </p:nvSpPr>
          <p:spPr bwMode="auto">
            <a:xfrm>
              <a:off x="4921" y="1344"/>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3" name="Oval 14">
              <a:extLst>
                <a:ext uri="{FF2B5EF4-FFF2-40B4-BE49-F238E27FC236}">
                  <a16:creationId xmlns:a16="http://schemas.microsoft.com/office/drawing/2014/main" id="{2917CDD1-6D2E-4911-82DA-F89F487E90BD}"/>
                </a:ext>
              </a:extLst>
            </p:cNvPr>
            <p:cNvSpPr>
              <a:spLocks noChangeArrowheads="1"/>
            </p:cNvSpPr>
            <p:nvPr/>
          </p:nvSpPr>
          <p:spPr bwMode="auto">
            <a:xfrm>
              <a:off x="4331" y="1842"/>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4" name="Oval 15">
              <a:extLst>
                <a:ext uri="{FF2B5EF4-FFF2-40B4-BE49-F238E27FC236}">
                  <a16:creationId xmlns:a16="http://schemas.microsoft.com/office/drawing/2014/main" id="{437BFFA7-AB17-4D40-B8B3-4D6C873F61E3}"/>
                </a:ext>
              </a:extLst>
            </p:cNvPr>
            <p:cNvSpPr>
              <a:spLocks noChangeArrowheads="1"/>
            </p:cNvSpPr>
            <p:nvPr/>
          </p:nvSpPr>
          <p:spPr bwMode="auto">
            <a:xfrm>
              <a:off x="4286" y="1797"/>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5" name="Oval 16">
              <a:extLst>
                <a:ext uri="{FF2B5EF4-FFF2-40B4-BE49-F238E27FC236}">
                  <a16:creationId xmlns:a16="http://schemas.microsoft.com/office/drawing/2014/main" id="{54577BA6-48DA-4A9B-ACE0-80DA4DD324BD}"/>
                </a:ext>
              </a:extLst>
            </p:cNvPr>
            <p:cNvSpPr>
              <a:spLocks noChangeArrowheads="1"/>
            </p:cNvSpPr>
            <p:nvPr/>
          </p:nvSpPr>
          <p:spPr bwMode="auto">
            <a:xfrm>
              <a:off x="4830" y="1842"/>
              <a:ext cx="136" cy="136"/>
            </a:xfrm>
            <a:prstGeom prst="ellipse">
              <a:avLst/>
            </a:prstGeom>
            <a:solidFill>
              <a:schemeClr val="accent1"/>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6" name="Oval 17">
              <a:extLst>
                <a:ext uri="{FF2B5EF4-FFF2-40B4-BE49-F238E27FC236}">
                  <a16:creationId xmlns:a16="http://schemas.microsoft.com/office/drawing/2014/main" id="{D93A0DC2-EC69-4E6F-B207-011415E4459C}"/>
                </a:ext>
              </a:extLst>
            </p:cNvPr>
            <p:cNvSpPr>
              <a:spLocks noChangeArrowheads="1"/>
            </p:cNvSpPr>
            <p:nvPr/>
          </p:nvSpPr>
          <p:spPr bwMode="auto">
            <a:xfrm>
              <a:off x="4785" y="1797"/>
              <a:ext cx="227" cy="227"/>
            </a:xfrm>
            <a:prstGeom prst="ellipse">
              <a:avLst/>
            </a:prstGeom>
            <a:solidFill>
              <a:schemeClr val="accent1">
                <a:alpha val="0"/>
              </a:schemeClr>
            </a:solidFill>
            <a:ln w="9525" algn="ctr">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7" name="Line 18">
              <a:extLst>
                <a:ext uri="{FF2B5EF4-FFF2-40B4-BE49-F238E27FC236}">
                  <a16:creationId xmlns:a16="http://schemas.microsoft.com/office/drawing/2014/main" id="{58425C26-701A-43AE-8C15-1AA3B5A201CE}"/>
                </a:ext>
              </a:extLst>
            </p:cNvPr>
            <p:cNvSpPr>
              <a:spLocks noChangeShapeType="1"/>
            </p:cNvSpPr>
            <p:nvPr/>
          </p:nvSpPr>
          <p:spPr bwMode="auto">
            <a:xfrm>
              <a:off x="4331" y="1208"/>
              <a:ext cx="137" cy="13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58" name="Line 19">
              <a:extLst>
                <a:ext uri="{FF2B5EF4-FFF2-40B4-BE49-F238E27FC236}">
                  <a16:creationId xmlns:a16="http://schemas.microsoft.com/office/drawing/2014/main" id="{D19AD067-AF3E-4BCB-9FF0-98C7830A3BB4}"/>
                </a:ext>
              </a:extLst>
            </p:cNvPr>
            <p:cNvSpPr>
              <a:spLocks noChangeShapeType="1"/>
            </p:cNvSpPr>
            <p:nvPr/>
          </p:nvSpPr>
          <p:spPr bwMode="auto">
            <a:xfrm flipV="1">
              <a:off x="4195" y="1661"/>
              <a:ext cx="181" cy="91"/>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59" name="Line 20">
              <a:extLst>
                <a:ext uri="{FF2B5EF4-FFF2-40B4-BE49-F238E27FC236}">
                  <a16:creationId xmlns:a16="http://schemas.microsoft.com/office/drawing/2014/main" id="{EB097238-E052-4D0F-96E8-2E9FDD812F27}"/>
                </a:ext>
              </a:extLst>
            </p:cNvPr>
            <p:cNvSpPr>
              <a:spLocks noChangeShapeType="1"/>
            </p:cNvSpPr>
            <p:nvPr/>
          </p:nvSpPr>
          <p:spPr bwMode="auto">
            <a:xfrm>
              <a:off x="4649" y="1843"/>
              <a:ext cx="0" cy="227"/>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60" name="Line 21">
              <a:extLst>
                <a:ext uri="{FF2B5EF4-FFF2-40B4-BE49-F238E27FC236}">
                  <a16:creationId xmlns:a16="http://schemas.microsoft.com/office/drawing/2014/main" id="{B1BDA290-627D-4889-918E-D60E848A9500}"/>
                </a:ext>
              </a:extLst>
            </p:cNvPr>
            <p:cNvSpPr>
              <a:spLocks noChangeShapeType="1"/>
            </p:cNvSpPr>
            <p:nvPr/>
          </p:nvSpPr>
          <p:spPr bwMode="auto">
            <a:xfrm>
              <a:off x="4875" y="1661"/>
              <a:ext cx="182" cy="91"/>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61" name="Line 22">
              <a:extLst>
                <a:ext uri="{FF2B5EF4-FFF2-40B4-BE49-F238E27FC236}">
                  <a16:creationId xmlns:a16="http://schemas.microsoft.com/office/drawing/2014/main" id="{45B293F6-8EAF-469F-8535-B700A4546655}"/>
                </a:ext>
              </a:extLst>
            </p:cNvPr>
            <p:cNvSpPr>
              <a:spLocks noChangeShapeType="1"/>
            </p:cNvSpPr>
            <p:nvPr/>
          </p:nvSpPr>
          <p:spPr bwMode="auto">
            <a:xfrm flipH="1">
              <a:off x="4830" y="1208"/>
              <a:ext cx="91" cy="181"/>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62" name="Rectangle 23">
              <a:extLst>
                <a:ext uri="{FF2B5EF4-FFF2-40B4-BE49-F238E27FC236}">
                  <a16:creationId xmlns:a16="http://schemas.microsoft.com/office/drawing/2014/main" id="{3B5AAC1D-DC40-4708-8444-773F23D27699}"/>
                </a:ext>
              </a:extLst>
            </p:cNvPr>
            <p:cNvSpPr>
              <a:spLocks noChangeArrowheads="1"/>
            </p:cNvSpPr>
            <p:nvPr/>
          </p:nvSpPr>
          <p:spPr bwMode="auto">
            <a:xfrm>
              <a:off x="4558" y="799"/>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63" name="Text Box 24">
              <a:extLst>
                <a:ext uri="{FF2B5EF4-FFF2-40B4-BE49-F238E27FC236}">
                  <a16:creationId xmlns:a16="http://schemas.microsoft.com/office/drawing/2014/main" id="{FDDBDC03-F8D1-4932-8F08-DFEE6BAD5D7B}"/>
                </a:ext>
              </a:extLst>
            </p:cNvPr>
            <p:cNvSpPr txBox="1">
              <a:spLocks noChangeArrowheads="1"/>
            </p:cNvSpPr>
            <p:nvPr/>
          </p:nvSpPr>
          <p:spPr bwMode="auto">
            <a:xfrm>
              <a:off x="4562" y="793"/>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0</a:t>
              </a:r>
            </a:p>
          </p:txBody>
        </p:sp>
        <p:sp>
          <p:nvSpPr>
            <p:cNvPr id="64" name="Rectangle 25">
              <a:extLst>
                <a:ext uri="{FF2B5EF4-FFF2-40B4-BE49-F238E27FC236}">
                  <a16:creationId xmlns:a16="http://schemas.microsoft.com/office/drawing/2014/main" id="{4DE5D176-77F4-48A2-8F81-8A3241965510}"/>
                </a:ext>
              </a:extLst>
            </p:cNvPr>
            <p:cNvSpPr>
              <a:spLocks noChangeArrowheads="1"/>
            </p:cNvSpPr>
            <p:nvPr/>
          </p:nvSpPr>
          <p:spPr bwMode="auto">
            <a:xfrm>
              <a:off x="5284" y="1208"/>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65" name="Text Box 26">
              <a:extLst>
                <a:ext uri="{FF2B5EF4-FFF2-40B4-BE49-F238E27FC236}">
                  <a16:creationId xmlns:a16="http://schemas.microsoft.com/office/drawing/2014/main" id="{0E1727A8-67D9-4D8B-8DBF-F92AAC5F1976}"/>
                </a:ext>
              </a:extLst>
            </p:cNvPr>
            <p:cNvSpPr txBox="1">
              <a:spLocks noChangeArrowheads="1"/>
            </p:cNvSpPr>
            <p:nvPr/>
          </p:nvSpPr>
          <p:spPr bwMode="auto">
            <a:xfrm>
              <a:off x="5284" y="1202"/>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dirty="0">
                  <a:solidFill>
                    <a:schemeClr val="bg2"/>
                  </a:solidFill>
                </a:rPr>
                <a:t>4</a:t>
              </a:r>
            </a:p>
          </p:txBody>
        </p:sp>
        <p:sp>
          <p:nvSpPr>
            <p:cNvPr id="66" name="Rectangle 27">
              <a:extLst>
                <a:ext uri="{FF2B5EF4-FFF2-40B4-BE49-F238E27FC236}">
                  <a16:creationId xmlns:a16="http://schemas.microsoft.com/office/drawing/2014/main" id="{9DC89EBF-E852-45D0-B9D5-1FAF06BE8757}"/>
                </a:ext>
              </a:extLst>
            </p:cNvPr>
            <p:cNvSpPr>
              <a:spLocks noChangeArrowheads="1"/>
            </p:cNvSpPr>
            <p:nvPr/>
          </p:nvSpPr>
          <p:spPr bwMode="auto">
            <a:xfrm>
              <a:off x="5102" y="2069"/>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67" name="Text Box 28">
              <a:extLst>
                <a:ext uri="{FF2B5EF4-FFF2-40B4-BE49-F238E27FC236}">
                  <a16:creationId xmlns:a16="http://schemas.microsoft.com/office/drawing/2014/main" id="{E8D83BF5-ADE9-48AD-9E01-3A2451E1C4A7}"/>
                </a:ext>
              </a:extLst>
            </p:cNvPr>
            <p:cNvSpPr txBox="1">
              <a:spLocks noChangeArrowheads="1"/>
            </p:cNvSpPr>
            <p:nvPr/>
          </p:nvSpPr>
          <p:spPr bwMode="auto">
            <a:xfrm>
              <a:off x="5103" y="2069"/>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dirty="0">
                  <a:solidFill>
                    <a:schemeClr val="bg2"/>
                  </a:solidFill>
                </a:rPr>
                <a:t>3</a:t>
              </a:r>
            </a:p>
          </p:txBody>
        </p:sp>
        <p:sp>
          <p:nvSpPr>
            <p:cNvPr id="68" name="Rectangle 29">
              <a:extLst>
                <a:ext uri="{FF2B5EF4-FFF2-40B4-BE49-F238E27FC236}">
                  <a16:creationId xmlns:a16="http://schemas.microsoft.com/office/drawing/2014/main" id="{683C86E9-6B08-439C-A05C-78150E3D591A}"/>
                </a:ext>
              </a:extLst>
            </p:cNvPr>
            <p:cNvSpPr>
              <a:spLocks noChangeArrowheads="1"/>
            </p:cNvSpPr>
            <p:nvPr/>
          </p:nvSpPr>
          <p:spPr bwMode="auto">
            <a:xfrm>
              <a:off x="4150" y="2160"/>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69" name="Text Box 30">
              <a:extLst>
                <a:ext uri="{FF2B5EF4-FFF2-40B4-BE49-F238E27FC236}">
                  <a16:creationId xmlns:a16="http://schemas.microsoft.com/office/drawing/2014/main" id="{482AE14C-506B-4563-ACD5-01D7E245538F}"/>
                </a:ext>
              </a:extLst>
            </p:cNvPr>
            <p:cNvSpPr txBox="1">
              <a:spLocks noChangeArrowheads="1"/>
            </p:cNvSpPr>
            <p:nvPr/>
          </p:nvSpPr>
          <p:spPr bwMode="auto">
            <a:xfrm>
              <a:off x="4155" y="2156"/>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2</a:t>
              </a:r>
            </a:p>
          </p:txBody>
        </p:sp>
        <p:sp>
          <p:nvSpPr>
            <p:cNvPr id="70" name="Rectangle 31">
              <a:extLst>
                <a:ext uri="{FF2B5EF4-FFF2-40B4-BE49-F238E27FC236}">
                  <a16:creationId xmlns:a16="http://schemas.microsoft.com/office/drawing/2014/main" id="{D7389430-0848-4FEC-BDB5-06F80BBDAEAE}"/>
                </a:ext>
              </a:extLst>
            </p:cNvPr>
            <p:cNvSpPr>
              <a:spLocks noChangeArrowheads="1"/>
            </p:cNvSpPr>
            <p:nvPr/>
          </p:nvSpPr>
          <p:spPr bwMode="auto">
            <a:xfrm>
              <a:off x="3832" y="1253"/>
              <a:ext cx="181" cy="181"/>
            </a:xfrm>
            <a:prstGeom prst="rect">
              <a:avLst/>
            </a:prstGeom>
            <a:solidFill>
              <a:schemeClr val="accent1">
                <a:alpha val="0"/>
              </a:schemeClr>
            </a:solidFill>
            <a:ln w="9525" algn="ctr">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71" name="Text Box 32">
              <a:extLst>
                <a:ext uri="{FF2B5EF4-FFF2-40B4-BE49-F238E27FC236}">
                  <a16:creationId xmlns:a16="http://schemas.microsoft.com/office/drawing/2014/main" id="{32DA978A-B938-4272-B4D1-469FC794FDED}"/>
                </a:ext>
              </a:extLst>
            </p:cNvPr>
            <p:cNvSpPr txBox="1">
              <a:spLocks noChangeArrowheads="1"/>
            </p:cNvSpPr>
            <p:nvPr/>
          </p:nvSpPr>
          <p:spPr bwMode="auto">
            <a:xfrm>
              <a:off x="3838" y="1247"/>
              <a:ext cx="172" cy="192"/>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1</a:t>
              </a:r>
            </a:p>
          </p:txBody>
        </p:sp>
        <p:sp>
          <p:nvSpPr>
            <p:cNvPr id="72" name="Text Box 33">
              <a:extLst>
                <a:ext uri="{FF2B5EF4-FFF2-40B4-BE49-F238E27FC236}">
                  <a16:creationId xmlns:a16="http://schemas.microsoft.com/office/drawing/2014/main" id="{8A8ED534-86E5-4A6B-80C5-ED6B39F7DA3A}"/>
                </a:ext>
              </a:extLst>
            </p:cNvPr>
            <p:cNvSpPr txBox="1">
              <a:spLocks noChangeArrowheads="1"/>
            </p:cNvSpPr>
            <p:nvPr/>
          </p:nvSpPr>
          <p:spPr bwMode="auto">
            <a:xfrm>
              <a:off x="5193" y="1707"/>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4</a:t>
              </a:r>
            </a:p>
          </p:txBody>
        </p:sp>
        <p:sp>
          <p:nvSpPr>
            <p:cNvPr id="73" name="Text Box 34">
              <a:extLst>
                <a:ext uri="{FF2B5EF4-FFF2-40B4-BE49-F238E27FC236}">
                  <a16:creationId xmlns:a16="http://schemas.microsoft.com/office/drawing/2014/main" id="{947489B8-306D-44DF-8D15-5FAA41E40CF4}"/>
                </a:ext>
              </a:extLst>
            </p:cNvPr>
            <p:cNvSpPr txBox="1">
              <a:spLocks noChangeArrowheads="1"/>
            </p:cNvSpPr>
            <p:nvPr/>
          </p:nvSpPr>
          <p:spPr bwMode="auto">
            <a:xfrm>
              <a:off x="4558" y="2160"/>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3</a:t>
              </a:r>
            </a:p>
          </p:txBody>
        </p:sp>
        <p:sp>
          <p:nvSpPr>
            <p:cNvPr id="74" name="Text Box 35">
              <a:extLst>
                <a:ext uri="{FF2B5EF4-FFF2-40B4-BE49-F238E27FC236}">
                  <a16:creationId xmlns:a16="http://schemas.microsoft.com/office/drawing/2014/main" id="{A9A84316-9DBC-4A55-9B97-6AD155C16460}"/>
                </a:ext>
              </a:extLst>
            </p:cNvPr>
            <p:cNvSpPr txBox="1">
              <a:spLocks noChangeArrowheads="1"/>
            </p:cNvSpPr>
            <p:nvPr/>
          </p:nvSpPr>
          <p:spPr bwMode="auto">
            <a:xfrm>
              <a:off x="3923" y="1752"/>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2</a:t>
              </a:r>
            </a:p>
          </p:txBody>
        </p:sp>
        <p:sp>
          <p:nvSpPr>
            <p:cNvPr id="75" name="Text Box 36">
              <a:extLst>
                <a:ext uri="{FF2B5EF4-FFF2-40B4-BE49-F238E27FC236}">
                  <a16:creationId xmlns:a16="http://schemas.microsoft.com/office/drawing/2014/main" id="{0F1A6182-5D66-403E-9A16-787E1D33C95A}"/>
                </a:ext>
              </a:extLst>
            </p:cNvPr>
            <p:cNvSpPr txBox="1">
              <a:spLocks noChangeArrowheads="1"/>
            </p:cNvSpPr>
            <p:nvPr/>
          </p:nvSpPr>
          <p:spPr bwMode="auto">
            <a:xfrm>
              <a:off x="4150" y="981"/>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1</a:t>
              </a:r>
            </a:p>
          </p:txBody>
        </p:sp>
        <p:sp>
          <p:nvSpPr>
            <p:cNvPr id="76" name="Text Box 37">
              <a:extLst>
                <a:ext uri="{FF2B5EF4-FFF2-40B4-BE49-F238E27FC236}">
                  <a16:creationId xmlns:a16="http://schemas.microsoft.com/office/drawing/2014/main" id="{4E7E7E0A-FE0C-4D34-99D1-3924F3B2BC1A}"/>
                </a:ext>
              </a:extLst>
            </p:cNvPr>
            <p:cNvSpPr txBox="1">
              <a:spLocks noChangeArrowheads="1"/>
            </p:cNvSpPr>
            <p:nvPr/>
          </p:nvSpPr>
          <p:spPr bwMode="auto">
            <a:xfrm>
              <a:off x="4966" y="935"/>
              <a:ext cx="172" cy="192"/>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400" b="1">
                  <a:solidFill>
                    <a:schemeClr val="bg2"/>
                  </a:solidFill>
                </a:rPr>
                <a:t>0</a:t>
              </a:r>
            </a:p>
          </p:txBody>
        </p:sp>
        <p:sp>
          <p:nvSpPr>
            <p:cNvPr id="77" name="Line 38">
              <a:extLst>
                <a:ext uri="{FF2B5EF4-FFF2-40B4-BE49-F238E27FC236}">
                  <a16:creationId xmlns:a16="http://schemas.microsoft.com/office/drawing/2014/main" id="{4E2E48F8-8087-456C-B277-B2B8B460ED82}"/>
                </a:ext>
              </a:extLst>
            </p:cNvPr>
            <p:cNvSpPr>
              <a:spLocks noChangeShapeType="1"/>
            </p:cNvSpPr>
            <p:nvPr/>
          </p:nvSpPr>
          <p:spPr bwMode="auto">
            <a:xfrm flipH="1">
              <a:off x="4739" y="890"/>
              <a:ext cx="91" cy="0"/>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78" name="Line 39">
              <a:extLst>
                <a:ext uri="{FF2B5EF4-FFF2-40B4-BE49-F238E27FC236}">
                  <a16:creationId xmlns:a16="http://schemas.microsoft.com/office/drawing/2014/main" id="{2F41CDCE-95DB-4051-AD5F-C7D09D125306}"/>
                </a:ext>
              </a:extLst>
            </p:cNvPr>
            <p:cNvSpPr>
              <a:spLocks noChangeShapeType="1"/>
            </p:cNvSpPr>
            <p:nvPr/>
          </p:nvSpPr>
          <p:spPr bwMode="auto">
            <a:xfrm flipH="1">
              <a:off x="5102" y="1026"/>
              <a:ext cx="91" cy="0"/>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79" name="Text Box 40">
              <a:extLst>
                <a:ext uri="{FF2B5EF4-FFF2-40B4-BE49-F238E27FC236}">
                  <a16:creationId xmlns:a16="http://schemas.microsoft.com/office/drawing/2014/main" id="{895C17F9-F29E-47ED-9F07-AFEE5E6FC729}"/>
                </a:ext>
              </a:extLst>
            </p:cNvPr>
            <p:cNvSpPr txBox="1">
              <a:spLocks noChangeArrowheads="1"/>
            </p:cNvSpPr>
            <p:nvPr/>
          </p:nvSpPr>
          <p:spPr bwMode="auto">
            <a:xfrm>
              <a:off x="4785" y="799"/>
              <a:ext cx="596" cy="173"/>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200">
                  <a:solidFill>
                    <a:schemeClr val="bg2"/>
                  </a:solidFill>
                  <a:latin typeface="Arial" panose="020B0604020202020204" pitchFamily="34" charset="0"/>
                </a:rPr>
                <a:t>哲学家编号</a:t>
              </a:r>
            </a:p>
          </p:txBody>
        </p:sp>
        <p:sp>
          <p:nvSpPr>
            <p:cNvPr id="80" name="Text Box 41">
              <a:extLst>
                <a:ext uri="{FF2B5EF4-FFF2-40B4-BE49-F238E27FC236}">
                  <a16:creationId xmlns:a16="http://schemas.microsoft.com/office/drawing/2014/main" id="{DB2B1C3F-0FEA-4C89-9D65-59FB2EE2B94C}"/>
                </a:ext>
              </a:extLst>
            </p:cNvPr>
            <p:cNvSpPr txBox="1">
              <a:spLocks noChangeArrowheads="1"/>
            </p:cNvSpPr>
            <p:nvPr/>
          </p:nvSpPr>
          <p:spPr bwMode="auto">
            <a:xfrm>
              <a:off x="5148" y="935"/>
              <a:ext cx="500" cy="173"/>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200" dirty="0">
                  <a:solidFill>
                    <a:schemeClr val="bg2"/>
                  </a:solidFill>
                  <a:latin typeface="Arial" panose="020B0604020202020204" pitchFamily="34" charset="0"/>
                </a:rPr>
                <a:t>筷子编号</a:t>
              </a:r>
            </a:p>
          </p:txBody>
        </p:sp>
      </p:grpSp>
      <p:sp>
        <p:nvSpPr>
          <p:cNvPr id="4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507134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5" end="5"/>
                                            </p:txEl>
                                          </p:spTgt>
                                        </p:tgtEl>
                                        <p:attrNameLst>
                                          <p:attrName>style.visibility</p:attrName>
                                        </p:attrNameLst>
                                      </p:cBhvr>
                                      <p:to>
                                        <p:strVal val="visible"/>
                                      </p:to>
                                    </p:set>
                                    <p:animEffect transition="in" filter="fade">
                                      <p:cBhvr>
                                        <p:cTn id="12" dur="2000"/>
                                        <p:tgtEl>
                                          <p:spTgt spid="6">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animEffect transition="in" filter="fade">
                                      <p:cBhvr>
                                        <p:cTn id="17" dur="2000"/>
                                        <p:tgtEl>
                                          <p:spTgt spid="6">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9" end="9"/>
                                            </p:txEl>
                                          </p:spTgt>
                                        </p:tgtEl>
                                        <p:attrNameLst>
                                          <p:attrName>style.visibility</p:attrName>
                                        </p:attrNameLst>
                                      </p:cBhvr>
                                      <p:to>
                                        <p:strVal val="visible"/>
                                      </p:to>
                                    </p:set>
                                    <p:animEffect transition="in" filter="fade">
                                      <p:cBhvr>
                                        <p:cTn id="22" dur="2000"/>
                                        <p:tgtEl>
                                          <p:spTgt spid="6">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animEffect transition="in" filter="fade">
                                      <p:cBhvr>
                                        <p:cTn id="27" dur="2000"/>
                                        <p:tgtEl>
                                          <p:spTgt spid="6">
                                            <p:txEl>
                                              <p:pRg st="10" end="10"/>
                                            </p:txEl>
                                          </p:spTgt>
                                        </p:tgtEl>
                                      </p:cBhvr>
                                    </p:animEffect>
                                  </p:childTnLst>
                                </p:cTn>
                              </p:par>
                            </p:childTnLst>
                          </p:cTn>
                        </p:par>
                        <p:par>
                          <p:cTn id="28" fill="hold">
                            <p:stCondLst>
                              <p:cond delay="2000"/>
                            </p:stCondLst>
                            <p:childTnLst>
                              <p:par>
                                <p:cTn id="29" presetID="2" presetClass="entr" presetSubtype="6" fill="hold" grpId="0" nodeType="afterEffect">
                                  <p:stCondLst>
                                    <p:cond delay="0"/>
                                  </p:stCondLst>
                                  <p:childTnLst>
                                    <p:set>
                                      <p:cBhvr>
                                        <p:cTn id="30" dur="1" fill="hold">
                                          <p:stCondLst>
                                            <p:cond delay="0"/>
                                          </p:stCondLst>
                                        </p:cTn>
                                        <p:tgtEl>
                                          <p:spTgt spid="44"/>
                                        </p:tgtEl>
                                        <p:attrNameLst>
                                          <p:attrName>style.visibility</p:attrName>
                                        </p:attrNameLst>
                                      </p:cBhvr>
                                      <p:to>
                                        <p:strVal val="visible"/>
                                      </p:to>
                                    </p:set>
                                    <p:anim calcmode="lin" valueType="num">
                                      <p:cBhvr additive="base">
                                        <p:cTn id="31" dur="500" fill="hold"/>
                                        <p:tgtEl>
                                          <p:spTgt spid="44"/>
                                        </p:tgtEl>
                                        <p:attrNameLst>
                                          <p:attrName>ppt_x</p:attrName>
                                        </p:attrNameLst>
                                      </p:cBhvr>
                                      <p:tavLst>
                                        <p:tav tm="0">
                                          <p:val>
                                            <p:strVal val="1+#ppt_w/2"/>
                                          </p:val>
                                        </p:tav>
                                        <p:tav tm="100000">
                                          <p:val>
                                            <p:strVal val="#ppt_x"/>
                                          </p:val>
                                        </p:tav>
                                      </p:tavLst>
                                    </p:anim>
                                    <p:anim calcmode="lin" valueType="num">
                                      <p:cBhvr additive="base">
                                        <p:cTn id="32"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4">
            <a:extLst>
              <a:ext uri="{FF2B5EF4-FFF2-40B4-BE49-F238E27FC236}">
                <a16:creationId xmlns:a16="http://schemas.microsoft.com/office/drawing/2014/main" id="{B314C665-F80E-439E-AAD4-EC8E5757E7B9}"/>
              </a:ext>
            </a:extLst>
          </p:cNvPr>
          <p:cNvSpPr txBox="1">
            <a:spLocks noChangeArrowheads="1"/>
          </p:cNvSpPr>
          <p:nvPr/>
        </p:nvSpPr>
        <p:spPr bwMode="auto">
          <a:xfrm>
            <a:off x="0" y="1916113"/>
            <a:ext cx="529272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265113" indent="-265113" eaLnBrk="1" hangingPunct="1">
              <a:spcBef>
                <a:spcPct val="0"/>
              </a:spcBef>
              <a:buClrTx/>
              <a:buSzPct val="70000"/>
              <a:buFont typeface="Wingdings" panose="05000000000000000000" pitchFamily="2" charset="2"/>
              <a:buChar char="n"/>
            </a:pPr>
            <a:r>
              <a:rPr lang="zh-CN" altLang="en-US" sz="2800" dirty="0">
                <a:solidFill>
                  <a:schemeClr val="bg2"/>
                </a:solidFill>
              </a:rPr>
              <a:t>设置初值为</a:t>
            </a:r>
            <a:r>
              <a:rPr lang="en-US" altLang="zh-CN" sz="2800" dirty="0">
                <a:solidFill>
                  <a:schemeClr val="bg2"/>
                </a:solidFill>
              </a:rPr>
              <a:t>4</a:t>
            </a:r>
            <a:r>
              <a:rPr lang="zh-CN" altLang="en-US" sz="2800" dirty="0">
                <a:solidFill>
                  <a:schemeClr val="bg2"/>
                </a:solidFill>
              </a:rPr>
              <a:t>的信息量</a:t>
            </a:r>
            <a:r>
              <a:rPr lang="en-US" altLang="zh-CN" sz="2800" dirty="0">
                <a:solidFill>
                  <a:schemeClr val="bg2"/>
                </a:solidFill>
              </a:rPr>
              <a:t>seat</a:t>
            </a:r>
            <a:r>
              <a:rPr lang="zh-CN" altLang="en-US" sz="2800" dirty="0">
                <a:solidFill>
                  <a:schemeClr val="bg2"/>
                </a:solidFill>
              </a:rPr>
              <a:t>来管理</a:t>
            </a:r>
            <a:r>
              <a:rPr lang="en-US" altLang="zh-CN" sz="2800" dirty="0">
                <a:solidFill>
                  <a:schemeClr val="bg2"/>
                </a:solidFill>
              </a:rPr>
              <a:t>4</a:t>
            </a:r>
            <a:r>
              <a:rPr lang="zh-CN" altLang="en-US" sz="2800" dirty="0">
                <a:solidFill>
                  <a:schemeClr val="bg2"/>
                </a:solidFill>
              </a:rPr>
              <a:t>个座位。</a:t>
            </a:r>
          </a:p>
          <a:p>
            <a:pPr marL="265113" indent="-265113" eaLnBrk="1" hangingPunct="1">
              <a:spcBef>
                <a:spcPct val="0"/>
              </a:spcBef>
              <a:buClrTx/>
              <a:buSzPct val="70000"/>
              <a:buFont typeface="Wingdings" panose="05000000000000000000" pitchFamily="2" charset="2"/>
              <a:buChar char="n"/>
            </a:pPr>
            <a:r>
              <a:rPr lang="zh-CN" altLang="en-US" sz="2800" dirty="0">
                <a:solidFill>
                  <a:schemeClr val="bg2"/>
                </a:solidFill>
              </a:rPr>
              <a:t>进入餐厅时，必须先申请到一个座位，才能够去拿筷子；</a:t>
            </a:r>
          </a:p>
          <a:p>
            <a:pPr marL="265113" indent="-265113" eaLnBrk="1" hangingPunct="1">
              <a:spcBef>
                <a:spcPct val="0"/>
              </a:spcBef>
              <a:buClrTx/>
              <a:buSzPct val="70000"/>
              <a:buFont typeface="Wingdings" panose="05000000000000000000" pitchFamily="2" charset="2"/>
              <a:buChar char="n"/>
            </a:pPr>
            <a:r>
              <a:rPr lang="zh-CN" altLang="en-US" sz="2800" dirty="0">
                <a:solidFill>
                  <a:schemeClr val="bg2"/>
                </a:solidFill>
              </a:rPr>
              <a:t>退出餐厅时，必须先归还筷子，然后做</a:t>
            </a:r>
            <a:r>
              <a:rPr lang="en-US" altLang="zh-CN" sz="2800" dirty="0">
                <a:solidFill>
                  <a:schemeClr val="bg2"/>
                </a:solidFill>
              </a:rPr>
              <a:t>V(seat)</a:t>
            </a:r>
            <a:r>
              <a:rPr lang="zh-CN" altLang="en-US" sz="2800" dirty="0">
                <a:solidFill>
                  <a:schemeClr val="bg2"/>
                </a:solidFill>
              </a:rPr>
              <a:t>退席。 </a:t>
            </a:r>
          </a:p>
        </p:txBody>
      </p:sp>
      <p:sp>
        <p:nvSpPr>
          <p:cNvPr id="5" name="Text Box 15">
            <a:extLst>
              <a:ext uri="{FF2B5EF4-FFF2-40B4-BE49-F238E27FC236}">
                <a16:creationId xmlns:a16="http://schemas.microsoft.com/office/drawing/2014/main" id="{0497D1CC-300D-4D26-A67C-F331DD32D87A}"/>
              </a:ext>
            </a:extLst>
          </p:cNvPr>
          <p:cNvSpPr txBox="1">
            <a:spLocks noChangeArrowheads="1"/>
          </p:cNvSpPr>
          <p:nvPr/>
        </p:nvSpPr>
        <p:spPr bwMode="auto">
          <a:xfrm>
            <a:off x="1258" y="-25400"/>
            <a:ext cx="9142742" cy="954088"/>
          </a:xfrm>
          <a:prstGeom prst="rect">
            <a:avLst/>
          </a:prstGeom>
          <a:solidFill>
            <a:srgbClr val="BDCDFF"/>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800" b="1" dirty="0">
                <a:solidFill>
                  <a:schemeClr val="bg2"/>
                </a:solidFill>
              </a:rPr>
              <a:t>(2)</a:t>
            </a:r>
            <a:r>
              <a:rPr lang="zh-CN" altLang="en-US" sz="2800" b="1" dirty="0">
                <a:solidFill>
                  <a:schemeClr val="bg2"/>
                </a:solidFill>
              </a:rPr>
              <a:t>保证两个相邻哲学家不会同时拿同一根筷子；并且没有人饿死。</a:t>
            </a:r>
          </a:p>
        </p:txBody>
      </p:sp>
      <p:sp>
        <p:nvSpPr>
          <p:cNvPr id="6" name="Text Box 16">
            <a:extLst>
              <a:ext uri="{FF2B5EF4-FFF2-40B4-BE49-F238E27FC236}">
                <a16:creationId xmlns:a16="http://schemas.microsoft.com/office/drawing/2014/main" id="{52376FF0-A34B-4D2A-A5B1-F5200D0A2D11}"/>
              </a:ext>
            </a:extLst>
          </p:cNvPr>
          <p:cNvSpPr txBox="1">
            <a:spLocks noChangeArrowheads="1"/>
          </p:cNvSpPr>
          <p:nvPr/>
        </p:nvSpPr>
        <p:spPr bwMode="auto">
          <a:xfrm>
            <a:off x="179388" y="928688"/>
            <a:ext cx="87820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r>
              <a:rPr lang="zh-CN" altLang="en-US" sz="2800" dirty="0">
                <a:solidFill>
                  <a:srgbClr val="FF00FF"/>
                </a:solidFill>
              </a:rPr>
              <a:t>方法</a:t>
            </a:r>
            <a:r>
              <a:rPr lang="en-US" altLang="zh-CN" sz="2800" dirty="0">
                <a:solidFill>
                  <a:srgbClr val="FF00FF"/>
                </a:solidFill>
              </a:rPr>
              <a:t>2</a:t>
            </a:r>
            <a:r>
              <a:rPr lang="zh-CN" altLang="en-US" sz="2800" dirty="0">
                <a:solidFill>
                  <a:srgbClr val="FF00FF"/>
                </a:solidFill>
              </a:rPr>
              <a:t>：规定只允许 </a:t>
            </a:r>
            <a:r>
              <a:rPr lang="en-US" altLang="zh-CN" sz="2800" dirty="0">
                <a:solidFill>
                  <a:srgbClr val="FF00FF"/>
                </a:solidFill>
              </a:rPr>
              <a:t>4 </a:t>
            </a:r>
            <a:r>
              <a:rPr lang="zh-CN" altLang="en-US" sz="2800" dirty="0">
                <a:solidFill>
                  <a:srgbClr val="FF00FF"/>
                </a:solidFill>
              </a:rPr>
              <a:t>位哲学家进入餐厅，第</a:t>
            </a:r>
            <a:r>
              <a:rPr lang="en-US" altLang="zh-CN" sz="2800" dirty="0">
                <a:solidFill>
                  <a:srgbClr val="FF00FF"/>
                </a:solidFill>
              </a:rPr>
              <a:t>5</a:t>
            </a:r>
            <a:r>
              <a:rPr lang="zh-CN" altLang="en-US" sz="2800" dirty="0">
                <a:solidFill>
                  <a:srgbClr val="FF00FF"/>
                </a:solidFill>
              </a:rPr>
              <a:t>位只有在已进入就餐的一位哲学家退席后，才能去就餐。</a:t>
            </a:r>
          </a:p>
        </p:txBody>
      </p:sp>
      <p:sp>
        <p:nvSpPr>
          <p:cNvPr id="7" name="Text Box 17">
            <a:extLst>
              <a:ext uri="{FF2B5EF4-FFF2-40B4-BE49-F238E27FC236}">
                <a16:creationId xmlns:a16="http://schemas.microsoft.com/office/drawing/2014/main" id="{739F57B1-D3B1-456F-AF90-27DE7E5DEC0A}"/>
              </a:ext>
            </a:extLst>
          </p:cNvPr>
          <p:cNvSpPr txBox="1">
            <a:spLocks noChangeArrowheads="1"/>
          </p:cNvSpPr>
          <p:nvPr/>
        </p:nvSpPr>
        <p:spPr bwMode="auto">
          <a:xfrm>
            <a:off x="5552194" y="1882776"/>
            <a:ext cx="3384550" cy="4359275"/>
          </a:xfrm>
          <a:prstGeom prst="rect">
            <a:avLst/>
          </a:prstGeom>
          <a:solidFill>
            <a:schemeClr val="tx1">
              <a:lumMod val="85000"/>
            </a:schemeClr>
          </a:solidFill>
          <a:ln>
            <a:noFill/>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b="1" dirty="0">
                <a:solidFill>
                  <a:schemeClr val="bg2"/>
                </a:solidFill>
              </a:rPr>
              <a:t>philosopher(</a:t>
            </a:r>
            <a:r>
              <a:rPr kumimoji="0" lang="en-US" altLang="zh-CN" sz="2000" b="1" dirty="0" err="1">
                <a:solidFill>
                  <a:schemeClr val="bg2"/>
                </a:solidFill>
              </a:rPr>
              <a:t>i</a:t>
            </a:r>
            <a:r>
              <a:rPr kumimoji="0" lang="en-US" altLang="zh-CN" sz="2000" b="1" dirty="0">
                <a:solidFill>
                  <a:schemeClr val="bg2"/>
                </a:solidFill>
              </a:rPr>
              <a:t>)</a:t>
            </a:r>
          </a:p>
          <a:p>
            <a:pPr eaLnBrk="1" hangingPunct="1">
              <a:spcBef>
                <a:spcPct val="0"/>
              </a:spcBef>
              <a:buClrTx/>
              <a:buSzTx/>
              <a:buFontTx/>
              <a:buNone/>
            </a:pPr>
            <a:r>
              <a:rPr kumimoji="0" lang="en-US" altLang="zh-CN" sz="2000" b="1" dirty="0">
                <a:solidFill>
                  <a:schemeClr val="bg2"/>
                </a:solidFill>
              </a:rPr>
              <a:t>{</a:t>
            </a:r>
          </a:p>
          <a:p>
            <a:pPr eaLnBrk="1" hangingPunct="1">
              <a:spcBef>
                <a:spcPct val="0"/>
              </a:spcBef>
              <a:buClrTx/>
              <a:buSzTx/>
              <a:buFontTx/>
              <a:buNone/>
            </a:pPr>
            <a:r>
              <a:rPr kumimoji="0" lang="en-US" altLang="zh-CN" sz="2000" b="1" dirty="0">
                <a:solidFill>
                  <a:schemeClr val="bg2"/>
                </a:solidFill>
              </a:rPr>
              <a:t>  while(TRUE)</a:t>
            </a:r>
          </a:p>
          <a:p>
            <a:pPr eaLnBrk="1" hangingPunct="1">
              <a:spcBef>
                <a:spcPct val="0"/>
              </a:spcBef>
              <a:buClrTx/>
              <a:buSzTx/>
              <a:buFontTx/>
              <a:buNone/>
            </a:pPr>
            <a:r>
              <a:rPr kumimoji="0" lang="en-US" altLang="zh-CN" sz="2000" b="1" dirty="0">
                <a:solidFill>
                  <a:schemeClr val="bg2"/>
                </a:solidFill>
              </a:rPr>
              <a:t>  {</a:t>
            </a:r>
          </a:p>
          <a:p>
            <a:pPr eaLnBrk="1" hangingPunct="1">
              <a:spcBef>
                <a:spcPct val="0"/>
              </a:spcBef>
              <a:buClrTx/>
              <a:buSzTx/>
              <a:buFontTx/>
              <a:buNone/>
            </a:pPr>
            <a:r>
              <a:rPr kumimoji="0" lang="en-US" altLang="zh-CN" sz="2000" b="1" dirty="0">
                <a:solidFill>
                  <a:schemeClr val="bg2"/>
                </a:solidFill>
              </a:rPr>
              <a:t>    think( );</a:t>
            </a:r>
          </a:p>
          <a:p>
            <a:pPr eaLnBrk="1" hangingPunct="1">
              <a:spcBef>
                <a:spcPct val="0"/>
              </a:spcBef>
              <a:buClrTx/>
              <a:buSzTx/>
              <a:buFontTx/>
              <a:buNone/>
            </a:pPr>
            <a:r>
              <a:rPr kumimoji="0" lang="en-US" altLang="zh-CN" sz="2000" b="1" dirty="0">
                <a:solidFill>
                  <a:srgbClr val="7A007A"/>
                </a:solidFill>
              </a:rPr>
              <a:t>    </a:t>
            </a:r>
            <a:r>
              <a:rPr kumimoji="0" lang="en-US" altLang="zh-CN" sz="2000" b="1" dirty="0">
                <a:solidFill>
                  <a:srgbClr val="FF00FF"/>
                </a:solidFill>
              </a:rPr>
              <a:t>P(seat);</a:t>
            </a:r>
          </a:p>
          <a:p>
            <a:pPr eaLnBrk="1" hangingPunct="1">
              <a:spcBef>
                <a:spcPct val="0"/>
              </a:spcBef>
              <a:buClrTx/>
              <a:buSzTx/>
              <a:buFontTx/>
              <a:buNone/>
            </a:pPr>
            <a:r>
              <a:rPr kumimoji="0" lang="en-US" altLang="zh-CN" sz="2000" b="1" dirty="0">
                <a:solidFill>
                  <a:schemeClr val="bg2"/>
                </a:solidFill>
              </a:rPr>
              <a:t>    P(chopstick[</a:t>
            </a:r>
            <a:r>
              <a:rPr kumimoji="0" lang="en-US" altLang="zh-CN" sz="2000" b="1" dirty="0" err="1">
                <a:solidFill>
                  <a:schemeClr val="bg2"/>
                </a:solidFill>
              </a:rPr>
              <a:t>i</a:t>
            </a:r>
            <a:r>
              <a:rPr kumimoji="0" lang="en-US" altLang="zh-CN" sz="2000" b="1" dirty="0">
                <a:solidFill>
                  <a:schemeClr val="bg2"/>
                </a:solidFill>
              </a:rPr>
              <a:t>]);</a:t>
            </a:r>
          </a:p>
          <a:p>
            <a:pPr eaLnBrk="1" hangingPunct="1">
              <a:spcBef>
                <a:spcPct val="0"/>
              </a:spcBef>
              <a:buClrTx/>
              <a:buSzTx/>
              <a:buFontTx/>
              <a:buNone/>
            </a:pPr>
            <a:r>
              <a:rPr kumimoji="0" lang="en-US" altLang="zh-CN" sz="2000" b="1" dirty="0">
                <a:solidFill>
                  <a:schemeClr val="bg2"/>
                </a:solidFill>
              </a:rPr>
              <a:t>    P(chopstick[(i+1) mod 5)];</a:t>
            </a:r>
          </a:p>
          <a:p>
            <a:pPr eaLnBrk="1" hangingPunct="1">
              <a:spcBef>
                <a:spcPct val="0"/>
              </a:spcBef>
              <a:buClrTx/>
              <a:buSzTx/>
              <a:buFontTx/>
              <a:buNone/>
            </a:pPr>
            <a:r>
              <a:rPr kumimoji="0" lang="en-US" altLang="zh-CN" sz="2000" b="1" dirty="0">
                <a:solidFill>
                  <a:schemeClr val="bg2"/>
                </a:solidFill>
              </a:rPr>
              <a:t>    eat( );</a:t>
            </a:r>
          </a:p>
          <a:p>
            <a:pPr eaLnBrk="1" hangingPunct="1">
              <a:spcBef>
                <a:spcPct val="0"/>
              </a:spcBef>
              <a:buClrTx/>
              <a:buSzTx/>
              <a:buFontTx/>
              <a:buNone/>
            </a:pPr>
            <a:r>
              <a:rPr kumimoji="0" lang="en-US" altLang="zh-CN" sz="2000" b="1" dirty="0">
                <a:solidFill>
                  <a:schemeClr val="bg2"/>
                </a:solidFill>
              </a:rPr>
              <a:t>    V(chopstick[</a:t>
            </a:r>
            <a:r>
              <a:rPr kumimoji="0" lang="en-US" altLang="zh-CN" sz="2000" b="1" dirty="0" err="1">
                <a:solidFill>
                  <a:schemeClr val="bg2"/>
                </a:solidFill>
              </a:rPr>
              <a:t>i</a:t>
            </a:r>
            <a:r>
              <a:rPr kumimoji="0" lang="en-US" altLang="zh-CN" sz="2000" b="1" dirty="0">
                <a:solidFill>
                  <a:schemeClr val="bg2"/>
                </a:solidFill>
              </a:rPr>
              <a:t>]);</a:t>
            </a:r>
          </a:p>
          <a:p>
            <a:pPr eaLnBrk="1" hangingPunct="1">
              <a:spcBef>
                <a:spcPct val="0"/>
              </a:spcBef>
              <a:buClrTx/>
              <a:buSzTx/>
              <a:buFontTx/>
              <a:buNone/>
            </a:pPr>
            <a:r>
              <a:rPr kumimoji="0" lang="en-US" altLang="zh-CN" sz="2000" b="1" dirty="0">
                <a:solidFill>
                  <a:schemeClr val="bg2"/>
                </a:solidFill>
              </a:rPr>
              <a:t>    V(chopstick[(i+1) mod 5)];</a:t>
            </a:r>
          </a:p>
          <a:p>
            <a:pPr eaLnBrk="1" hangingPunct="1">
              <a:spcBef>
                <a:spcPct val="0"/>
              </a:spcBef>
              <a:buClrTx/>
              <a:buSzTx/>
              <a:buFontTx/>
              <a:buNone/>
            </a:pPr>
            <a:r>
              <a:rPr kumimoji="0" lang="en-US" altLang="zh-CN" sz="2000" b="1" dirty="0">
                <a:solidFill>
                  <a:schemeClr val="bg2"/>
                </a:solidFill>
              </a:rPr>
              <a:t>    </a:t>
            </a:r>
            <a:r>
              <a:rPr kumimoji="0" lang="en-US" altLang="zh-CN" sz="2000" b="1" dirty="0">
                <a:solidFill>
                  <a:srgbClr val="FF00FF"/>
                </a:solidFill>
              </a:rPr>
              <a:t>V(seat);</a:t>
            </a:r>
          </a:p>
          <a:p>
            <a:pPr eaLnBrk="1" hangingPunct="1">
              <a:spcBef>
                <a:spcPct val="0"/>
              </a:spcBef>
              <a:buClrTx/>
              <a:buSzTx/>
              <a:buFontTx/>
              <a:buNone/>
            </a:pPr>
            <a:r>
              <a:rPr kumimoji="0" lang="en-US" altLang="zh-CN" sz="2000" b="1" dirty="0">
                <a:solidFill>
                  <a:schemeClr val="bg2"/>
                </a:solidFill>
              </a:rPr>
              <a:t>  }</a:t>
            </a:r>
          </a:p>
          <a:p>
            <a:pPr eaLnBrk="1" hangingPunct="1">
              <a:spcBef>
                <a:spcPct val="0"/>
              </a:spcBef>
              <a:buClrTx/>
              <a:buSzTx/>
              <a:buFontTx/>
              <a:buNone/>
            </a:pPr>
            <a:r>
              <a:rPr kumimoji="0" lang="en-US" altLang="zh-CN" sz="2000" b="1" dirty="0">
                <a:solidFill>
                  <a:schemeClr val="bg2"/>
                </a:solidFill>
              </a:rPr>
              <a:t>}</a:t>
            </a:r>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545127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Effect transition="in" filter="fade">
                                      <p:cBhvr>
                                        <p:cTn id="7" dur="2000"/>
                                        <p:tgtEl>
                                          <p:spTgt spid="7">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6" end="6"/>
                                            </p:txEl>
                                          </p:spTgt>
                                        </p:tgtEl>
                                        <p:attrNameLst>
                                          <p:attrName>style.visibility</p:attrName>
                                        </p:attrNameLst>
                                      </p:cBhvr>
                                      <p:to>
                                        <p:strVal val="visible"/>
                                      </p:to>
                                    </p:set>
                                    <p:animEffect transition="in" filter="fade">
                                      <p:cBhvr>
                                        <p:cTn id="12" dur="2000"/>
                                        <p:tgtEl>
                                          <p:spTgt spid="7">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7" end="7"/>
                                            </p:txEl>
                                          </p:spTgt>
                                        </p:tgtEl>
                                        <p:attrNameLst>
                                          <p:attrName>style.visibility</p:attrName>
                                        </p:attrNameLst>
                                      </p:cBhvr>
                                      <p:to>
                                        <p:strVal val="visible"/>
                                      </p:to>
                                    </p:set>
                                    <p:animEffect transition="in" filter="fade">
                                      <p:cBhvr>
                                        <p:cTn id="17" dur="2000"/>
                                        <p:tgtEl>
                                          <p:spTgt spid="7">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9" end="9"/>
                                            </p:txEl>
                                          </p:spTgt>
                                        </p:tgtEl>
                                        <p:attrNameLst>
                                          <p:attrName>style.visibility</p:attrName>
                                        </p:attrNameLst>
                                      </p:cBhvr>
                                      <p:to>
                                        <p:strVal val="visible"/>
                                      </p:to>
                                    </p:set>
                                    <p:animEffect transition="in" filter="fade">
                                      <p:cBhvr>
                                        <p:cTn id="22" dur="2000"/>
                                        <p:tgtEl>
                                          <p:spTgt spid="7">
                                            <p:txEl>
                                              <p:pRg st="9" end="9"/>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7">
                                            <p:txEl>
                                              <p:pRg st="10" end="10"/>
                                            </p:txEl>
                                          </p:spTgt>
                                        </p:tgtEl>
                                        <p:attrNameLst>
                                          <p:attrName>style.visibility</p:attrName>
                                        </p:attrNameLst>
                                      </p:cBhvr>
                                      <p:to>
                                        <p:strVal val="visible"/>
                                      </p:to>
                                    </p:set>
                                    <p:animEffect transition="in" filter="fade">
                                      <p:cBhvr>
                                        <p:cTn id="25" dur="2000"/>
                                        <p:tgtEl>
                                          <p:spTgt spid="7">
                                            <p:txEl>
                                              <p:pRg st="10" end="10"/>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7">
                                            <p:txEl>
                                              <p:pRg st="11" end="11"/>
                                            </p:txEl>
                                          </p:spTgt>
                                        </p:tgtEl>
                                        <p:attrNameLst>
                                          <p:attrName>style.visibility</p:attrName>
                                        </p:attrNameLst>
                                      </p:cBhvr>
                                      <p:to>
                                        <p:strVal val="visible"/>
                                      </p:to>
                                    </p:set>
                                    <p:animEffect transition="in" filter="fade">
                                      <p:cBhvr>
                                        <p:cTn id="28" dur="2000"/>
                                        <p:tgtEl>
                                          <p:spTgt spid="7">
                                            <p:txEl>
                                              <p:pRg st="11" end="11"/>
                                            </p:txEl>
                                          </p:spTgt>
                                        </p:tgtEl>
                                      </p:cBhvr>
                                    </p:animEffect>
                                  </p:childTnLst>
                                </p:cTn>
                              </p:par>
                            </p:childTnLst>
                          </p:cTn>
                        </p:par>
                        <p:par>
                          <p:cTn id="29" fill="hold">
                            <p:stCondLst>
                              <p:cond delay="2000"/>
                            </p:stCondLst>
                            <p:childTnLst>
                              <p:par>
                                <p:cTn id="30" presetID="2" presetClass="entr" presetSubtype="6" fill="hold" grpId="0" nodeType="after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1+#ppt_w/2"/>
                                          </p:val>
                                        </p:tav>
                                        <p:tav tm="100000">
                                          <p:val>
                                            <p:strVal val="#ppt_x"/>
                                          </p:val>
                                        </p:tav>
                                      </p:tavLst>
                                    </p:anim>
                                    <p:anim calcmode="lin" valueType="num">
                                      <p:cBhvr additive="base">
                                        <p:cTn id="3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7EDCA936-C81F-4296-88B2-7703B9E5789C}"/>
              </a:ext>
            </a:extLst>
          </p:cNvPr>
          <p:cNvSpPr txBox="1">
            <a:spLocks noChangeArrowheads="1"/>
          </p:cNvSpPr>
          <p:nvPr/>
        </p:nvSpPr>
        <p:spPr bwMode="auto">
          <a:xfrm>
            <a:off x="1692275" y="1916113"/>
            <a:ext cx="1871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endParaRPr lang="zh-CN" altLang="zh-CN" sz="2400">
              <a:solidFill>
                <a:schemeClr val="bg2"/>
              </a:solidFill>
            </a:endParaRPr>
          </a:p>
        </p:txBody>
      </p:sp>
      <p:sp>
        <p:nvSpPr>
          <p:cNvPr id="5" name="Text Box 5">
            <a:extLst>
              <a:ext uri="{FF2B5EF4-FFF2-40B4-BE49-F238E27FC236}">
                <a16:creationId xmlns:a16="http://schemas.microsoft.com/office/drawing/2014/main" id="{40539CC4-C015-41DD-9CE9-4CCCCAAD3960}"/>
              </a:ext>
            </a:extLst>
          </p:cNvPr>
          <p:cNvSpPr txBox="1">
            <a:spLocks noChangeArrowheads="1"/>
          </p:cNvSpPr>
          <p:nvPr/>
        </p:nvSpPr>
        <p:spPr bwMode="auto">
          <a:xfrm>
            <a:off x="0" y="0"/>
            <a:ext cx="9144000" cy="2000250"/>
          </a:xfrm>
          <a:prstGeom prst="rect">
            <a:avLst/>
          </a:prstGeom>
          <a:solidFill>
            <a:schemeClr val="tx1">
              <a:lumMod val="85000"/>
            </a:schemeClr>
          </a:solidFill>
          <a:ln>
            <a:noFill/>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800" kern="0" dirty="0">
                <a:solidFill>
                  <a:schemeClr val="bg2"/>
                </a:solidFill>
              </a:rPr>
              <a:t> [</a:t>
            </a:r>
            <a:r>
              <a:rPr lang="zh-CN" altLang="en-US" sz="2800" kern="0" dirty="0">
                <a:solidFill>
                  <a:schemeClr val="bg2"/>
                </a:solidFill>
              </a:rPr>
              <a:t>例</a:t>
            </a:r>
            <a:r>
              <a:rPr lang="en-US" altLang="zh-CN" sz="2800" kern="0" dirty="0">
                <a:solidFill>
                  <a:schemeClr val="bg2"/>
                </a:solidFill>
              </a:rPr>
              <a:t>5.6] </a:t>
            </a:r>
            <a:r>
              <a:rPr lang="en-US" altLang="zh-CN" sz="2800" b="1" dirty="0">
                <a:solidFill>
                  <a:schemeClr val="bg2"/>
                </a:solidFill>
              </a:rPr>
              <a:t>“</a:t>
            </a:r>
            <a:r>
              <a:rPr lang="zh-CN" altLang="en-US" sz="2800" b="1" dirty="0">
                <a:solidFill>
                  <a:schemeClr val="bg2"/>
                </a:solidFill>
              </a:rPr>
              <a:t>读者写者问题</a:t>
            </a:r>
            <a:r>
              <a:rPr lang="en-US" altLang="zh-CN" sz="2800" b="1" dirty="0">
                <a:solidFill>
                  <a:schemeClr val="bg2"/>
                </a:solidFill>
              </a:rPr>
              <a:t>”</a:t>
            </a:r>
            <a:r>
              <a:rPr lang="zh-CN" altLang="en-US" sz="2400" b="1" dirty="0">
                <a:solidFill>
                  <a:schemeClr val="bg2"/>
                </a:solidFill>
              </a:rPr>
              <a:t>多个进程共享一个文件，只读文件的称为</a:t>
            </a:r>
            <a:r>
              <a:rPr lang="zh-CN" altLang="en-US" sz="2400" dirty="0">
                <a:solidFill>
                  <a:schemeClr val="bg2"/>
                </a:solidFill>
              </a:rPr>
              <a:t>“</a:t>
            </a:r>
            <a:r>
              <a:rPr lang="zh-CN" altLang="en-US" sz="2400" b="1" dirty="0">
                <a:solidFill>
                  <a:schemeClr val="bg2"/>
                </a:solidFill>
              </a:rPr>
              <a:t>读者”，只修改文件的称为“写者”。读者可以同时读，但写者只能独立的写。读者和写者不能同时操作。</a:t>
            </a:r>
          </a:p>
          <a:p>
            <a:pPr eaLnBrk="1" hangingPunct="1">
              <a:spcBef>
                <a:spcPct val="0"/>
              </a:spcBef>
              <a:buClrTx/>
              <a:buSzTx/>
              <a:buFontTx/>
              <a:buNone/>
            </a:pPr>
            <a:r>
              <a:rPr lang="en-US" altLang="zh-CN" sz="2400" b="1" dirty="0">
                <a:solidFill>
                  <a:schemeClr val="bg2"/>
                </a:solidFill>
              </a:rPr>
              <a:t>1. </a:t>
            </a:r>
            <a:r>
              <a:rPr lang="zh-CN" altLang="en-US" sz="2400" b="1" dirty="0">
                <a:solidFill>
                  <a:schemeClr val="bg2"/>
                </a:solidFill>
              </a:rPr>
              <a:t>说明进程间的相互制约关系，应设那些信号量？</a:t>
            </a:r>
          </a:p>
          <a:p>
            <a:pPr eaLnBrk="1" hangingPunct="1">
              <a:spcBef>
                <a:spcPct val="0"/>
              </a:spcBef>
              <a:buClrTx/>
              <a:buSzTx/>
              <a:buFontTx/>
              <a:buNone/>
            </a:pPr>
            <a:r>
              <a:rPr lang="en-US" altLang="zh-CN" sz="2400" b="1" dirty="0">
                <a:solidFill>
                  <a:schemeClr val="bg2"/>
                </a:solidFill>
              </a:rPr>
              <a:t>2. </a:t>
            </a:r>
            <a:r>
              <a:rPr lang="zh-CN" altLang="en-US" sz="2400" b="1" dirty="0">
                <a:solidFill>
                  <a:schemeClr val="bg2"/>
                </a:solidFill>
              </a:rPr>
              <a:t>用</a:t>
            </a:r>
            <a:r>
              <a:rPr lang="en-US" altLang="zh-CN" sz="2400" b="1" dirty="0">
                <a:solidFill>
                  <a:schemeClr val="bg2"/>
                </a:solidFill>
              </a:rPr>
              <a:t>P</a:t>
            </a:r>
            <a:r>
              <a:rPr lang="zh-CN" altLang="en-US" sz="2400" b="1" dirty="0">
                <a:solidFill>
                  <a:schemeClr val="bg2"/>
                </a:solidFill>
              </a:rPr>
              <a:t>、</a:t>
            </a:r>
            <a:r>
              <a:rPr lang="en-US" altLang="zh-CN" sz="2400" b="1" dirty="0">
                <a:solidFill>
                  <a:schemeClr val="bg2"/>
                </a:solidFill>
              </a:rPr>
              <a:t>V</a:t>
            </a:r>
            <a:r>
              <a:rPr lang="zh-CN" altLang="en-US" sz="2400" b="1" dirty="0">
                <a:solidFill>
                  <a:schemeClr val="bg2"/>
                </a:solidFill>
              </a:rPr>
              <a:t>操作写出其同步算法。</a:t>
            </a:r>
          </a:p>
        </p:txBody>
      </p:sp>
      <p:pic>
        <p:nvPicPr>
          <p:cNvPr id="6" name="Picture 9">
            <a:extLst>
              <a:ext uri="{FF2B5EF4-FFF2-40B4-BE49-F238E27FC236}">
                <a16:creationId xmlns:a16="http://schemas.microsoft.com/office/drawing/2014/main" id="{A6B7FAFE-806B-493C-BEB7-0C0798E81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1989138"/>
            <a:ext cx="4176712" cy="330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10">
            <a:extLst>
              <a:ext uri="{FF2B5EF4-FFF2-40B4-BE49-F238E27FC236}">
                <a16:creationId xmlns:a16="http://schemas.microsoft.com/office/drawing/2014/main" id="{FD60BBDD-82C2-457C-BDBA-C3F93294E911}"/>
              </a:ext>
            </a:extLst>
          </p:cNvPr>
          <p:cNvSpPr txBox="1">
            <a:spLocks noChangeArrowheads="1"/>
          </p:cNvSpPr>
          <p:nvPr/>
        </p:nvSpPr>
        <p:spPr bwMode="auto">
          <a:xfrm>
            <a:off x="179388" y="2133600"/>
            <a:ext cx="4752975" cy="2724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r>
              <a:rPr lang="zh-CN" altLang="en-US" dirty="0">
                <a:solidFill>
                  <a:schemeClr val="bg2"/>
                </a:solidFill>
              </a:rPr>
              <a:t>问题描述</a:t>
            </a:r>
          </a:p>
          <a:p>
            <a:pPr marL="180975" indent="-180975" eaLnBrk="1" hangingPunct="1">
              <a:spcBef>
                <a:spcPct val="0"/>
              </a:spcBef>
              <a:buClrTx/>
              <a:buSzPct val="70000"/>
              <a:buFont typeface="Wingdings" panose="05000000000000000000" pitchFamily="2" charset="2"/>
              <a:buChar char="n"/>
            </a:pPr>
            <a:r>
              <a:rPr lang="zh-CN" altLang="en-US" sz="2800" dirty="0">
                <a:solidFill>
                  <a:schemeClr val="bg2"/>
                </a:solidFill>
              </a:rPr>
              <a:t>写者向数据区放数据，读者从数据区获取数据</a:t>
            </a:r>
          </a:p>
          <a:p>
            <a:pPr marL="180975" indent="-180975" eaLnBrk="1" hangingPunct="1">
              <a:spcBef>
                <a:spcPct val="0"/>
              </a:spcBef>
              <a:buClrTx/>
              <a:buSzPct val="70000"/>
              <a:buFont typeface="Wingdings" panose="05000000000000000000" pitchFamily="2" charset="2"/>
              <a:buChar char="n"/>
            </a:pPr>
            <a:r>
              <a:rPr lang="zh-CN" altLang="en-US" sz="2800" dirty="0">
                <a:solidFill>
                  <a:schemeClr val="bg2"/>
                </a:solidFill>
              </a:rPr>
              <a:t>多个读者可同时读取数据</a:t>
            </a:r>
          </a:p>
          <a:p>
            <a:pPr marL="180975" indent="-180975" eaLnBrk="1" hangingPunct="1">
              <a:spcBef>
                <a:spcPct val="0"/>
              </a:spcBef>
              <a:buClrTx/>
              <a:buSzPct val="70000"/>
              <a:buFont typeface="Wingdings" panose="05000000000000000000" pitchFamily="2" charset="2"/>
              <a:buChar char="n"/>
            </a:pPr>
            <a:r>
              <a:rPr lang="zh-CN" altLang="en-US" sz="2800" dirty="0">
                <a:solidFill>
                  <a:schemeClr val="bg2"/>
                </a:solidFill>
              </a:rPr>
              <a:t>多个写者不能同时写数据</a:t>
            </a:r>
          </a:p>
          <a:p>
            <a:pPr marL="180975" indent="-180975" eaLnBrk="1" hangingPunct="1">
              <a:spcBef>
                <a:spcPct val="0"/>
              </a:spcBef>
              <a:buClrTx/>
              <a:buSzPct val="70000"/>
              <a:buFont typeface="Wingdings" panose="05000000000000000000" pitchFamily="2" charset="2"/>
              <a:buChar char="n"/>
            </a:pPr>
            <a:r>
              <a:rPr lang="zh-CN" altLang="en-US" sz="2800" dirty="0">
                <a:solidFill>
                  <a:schemeClr val="bg2"/>
                </a:solidFill>
              </a:rPr>
              <a:t>读者和写者不能同时操作</a:t>
            </a:r>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275596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a:extLst>
              <a:ext uri="{FF2B5EF4-FFF2-40B4-BE49-F238E27FC236}">
                <a16:creationId xmlns:a16="http://schemas.microsoft.com/office/drawing/2014/main" id="{86B541E4-71D4-46D3-9F59-E962D5023D2D}"/>
              </a:ext>
            </a:extLst>
          </p:cNvPr>
          <p:cNvSpPr txBox="1">
            <a:spLocks noChangeArrowheads="1"/>
          </p:cNvSpPr>
          <p:nvPr/>
        </p:nvSpPr>
        <p:spPr bwMode="auto">
          <a:xfrm>
            <a:off x="0" y="2133600"/>
            <a:ext cx="9144000" cy="366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buClrTx/>
              <a:buSzPct val="80000"/>
              <a:buFont typeface="Wingdings" panose="05000000000000000000" pitchFamily="2" charset="2"/>
              <a:buChar char="n"/>
            </a:pPr>
            <a:r>
              <a:rPr lang="zh-CN" altLang="en-US" dirty="0">
                <a:solidFill>
                  <a:schemeClr val="bg2"/>
                </a:solidFill>
                <a:effectLst>
                  <a:outerShdw blurRad="38100" dist="38100" dir="2700000" algn="tl">
                    <a:srgbClr val="000000">
                      <a:alpha val="43137"/>
                    </a:srgbClr>
                  </a:outerShdw>
                </a:effectLst>
              </a:rPr>
              <a:t>如果读者来</a:t>
            </a:r>
          </a:p>
          <a:p>
            <a:pPr eaLnBrk="1" hangingPunct="1">
              <a:spcBef>
                <a:spcPct val="0"/>
              </a:spcBef>
              <a:buClrTx/>
              <a:buSzTx/>
              <a:buNone/>
            </a:pPr>
            <a:r>
              <a:rPr lang="en-US" altLang="zh-CN" sz="2800" dirty="0">
                <a:solidFill>
                  <a:schemeClr val="bg2"/>
                </a:solidFill>
              </a:rPr>
              <a:t>1</a:t>
            </a:r>
            <a:r>
              <a:rPr lang="zh-CN" altLang="en-US" sz="2800" dirty="0">
                <a:solidFill>
                  <a:schemeClr val="bg2"/>
                </a:solidFill>
              </a:rPr>
              <a:t>）无读者、写者</a:t>
            </a:r>
            <a:r>
              <a:rPr lang="en-US" altLang="zh-CN" sz="2800" dirty="0">
                <a:solidFill>
                  <a:schemeClr val="bg2"/>
                </a:solidFill>
              </a:rPr>
              <a:t>: </a:t>
            </a:r>
            <a:r>
              <a:rPr lang="zh-CN" altLang="en-US" sz="2800" dirty="0">
                <a:solidFill>
                  <a:schemeClr val="bg2"/>
                </a:solidFill>
              </a:rPr>
              <a:t>新读者可以读</a:t>
            </a:r>
          </a:p>
          <a:p>
            <a:pPr eaLnBrk="1" hangingPunct="1">
              <a:spcBef>
                <a:spcPct val="0"/>
              </a:spcBef>
              <a:buClrTx/>
              <a:buSzTx/>
              <a:buNone/>
            </a:pPr>
            <a:r>
              <a:rPr lang="en-US" altLang="zh-CN" sz="2800" dirty="0">
                <a:solidFill>
                  <a:schemeClr val="bg2"/>
                </a:solidFill>
              </a:rPr>
              <a:t>2</a:t>
            </a:r>
            <a:r>
              <a:rPr lang="zh-CN" altLang="en-US" sz="2800" dirty="0">
                <a:solidFill>
                  <a:schemeClr val="bg2"/>
                </a:solidFill>
              </a:rPr>
              <a:t>）有其它读者：新读者也可以读</a:t>
            </a:r>
          </a:p>
          <a:p>
            <a:pPr eaLnBrk="1" hangingPunct="1">
              <a:spcBef>
                <a:spcPct val="0"/>
              </a:spcBef>
              <a:buClrTx/>
              <a:buSzTx/>
              <a:buNone/>
            </a:pPr>
            <a:r>
              <a:rPr lang="en-US" altLang="zh-CN" sz="2800" dirty="0">
                <a:solidFill>
                  <a:schemeClr val="bg2"/>
                </a:solidFill>
              </a:rPr>
              <a:t>3</a:t>
            </a:r>
            <a:r>
              <a:rPr lang="zh-CN" altLang="en-US" sz="2800" dirty="0">
                <a:solidFill>
                  <a:schemeClr val="bg2"/>
                </a:solidFill>
              </a:rPr>
              <a:t>）有写者写：新读者等</a:t>
            </a:r>
          </a:p>
          <a:p>
            <a:pPr marL="457200" indent="-457200" eaLnBrk="1" hangingPunct="1">
              <a:spcBef>
                <a:spcPct val="0"/>
              </a:spcBef>
              <a:buClrTx/>
              <a:buSzPct val="80000"/>
              <a:buFont typeface="Wingdings" panose="05000000000000000000" pitchFamily="2" charset="2"/>
              <a:buChar char="n"/>
            </a:pPr>
            <a:r>
              <a:rPr lang="zh-CN" altLang="en-US" dirty="0">
                <a:solidFill>
                  <a:schemeClr val="bg2"/>
                </a:solidFill>
                <a:effectLst>
                  <a:outerShdw blurRad="38100" dist="38100" dir="2700000" algn="tl">
                    <a:srgbClr val="000000">
                      <a:alpha val="43137"/>
                    </a:srgbClr>
                  </a:outerShdw>
                </a:effectLst>
              </a:rPr>
              <a:t>如果写者来</a:t>
            </a:r>
          </a:p>
          <a:p>
            <a:pPr eaLnBrk="1" hangingPunct="1">
              <a:spcBef>
                <a:spcPct val="0"/>
              </a:spcBef>
              <a:buClrTx/>
              <a:buSzTx/>
              <a:buNone/>
            </a:pPr>
            <a:r>
              <a:rPr lang="en-US" altLang="zh-CN" sz="2800" dirty="0">
                <a:solidFill>
                  <a:schemeClr val="bg2"/>
                </a:solidFill>
              </a:rPr>
              <a:t>1</a:t>
            </a:r>
            <a:r>
              <a:rPr lang="zh-CN" altLang="en-US" sz="2800" dirty="0">
                <a:solidFill>
                  <a:schemeClr val="bg2"/>
                </a:solidFill>
              </a:rPr>
              <a:t>）无读者、写者</a:t>
            </a:r>
            <a:r>
              <a:rPr lang="en-US" altLang="zh-CN" sz="2800" dirty="0">
                <a:solidFill>
                  <a:schemeClr val="bg2"/>
                </a:solidFill>
              </a:rPr>
              <a:t>: </a:t>
            </a:r>
            <a:r>
              <a:rPr lang="zh-CN" altLang="en-US" sz="2800" dirty="0">
                <a:solidFill>
                  <a:schemeClr val="bg2"/>
                </a:solidFill>
              </a:rPr>
              <a:t>新写者可以写</a:t>
            </a:r>
          </a:p>
          <a:p>
            <a:pPr eaLnBrk="1" hangingPunct="1">
              <a:spcBef>
                <a:spcPct val="0"/>
              </a:spcBef>
              <a:buClrTx/>
              <a:buSzTx/>
              <a:buNone/>
            </a:pPr>
            <a:r>
              <a:rPr lang="en-US" altLang="zh-CN" sz="2800" dirty="0">
                <a:solidFill>
                  <a:schemeClr val="bg2"/>
                </a:solidFill>
              </a:rPr>
              <a:t>2</a:t>
            </a:r>
            <a:r>
              <a:rPr lang="zh-CN" altLang="en-US" sz="2800" dirty="0">
                <a:solidFill>
                  <a:schemeClr val="bg2"/>
                </a:solidFill>
              </a:rPr>
              <a:t>）有读者</a:t>
            </a:r>
            <a:r>
              <a:rPr lang="en-US" altLang="zh-CN" sz="2800" dirty="0">
                <a:solidFill>
                  <a:schemeClr val="bg2"/>
                </a:solidFill>
              </a:rPr>
              <a:t>: </a:t>
            </a:r>
            <a:r>
              <a:rPr lang="zh-CN" altLang="en-US" sz="2800" dirty="0">
                <a:solidFill>
                  <a:schemeClr val="bg2"/>
                </a:solidFill>
              </a:rPr>
              <a:t>新写者等待</a:t>
            </a:r>
          </a:p>
          <a:p>
            <a:pPr eaLnBrk="1" hangingPunct="1">
              <a:spcBef>
                <a:spcPct val="0"/>
              </a:spcBef>
              <a:buClrTx/>
              <a:buSzTx/>
              <a:buNone/>
            </a:pPr>
            <a:r>
              <a:rPr lang="en-US" altLang="zh-CN" sz="2800" dirty="0">
                <a:solidFill>
                  <a:schemeClr val="bg2"/>
                </a:solidFill>
              </a:rPr>
              <a:t>3</a:t>
            </a:r>
            <a:r>
              <a:rPr lang="zh-CN" altLang="en-US" sz="2800" dirty="0">
                <a:solidFill>
                  <a:schemeClr val="bg2"/>
                </a:solidFill>
              </a:rPr>
              <a:t>）有其它写者</a:t>
            </a:r>
            <a:r>
              <a:rPr lang="en-US" altLang="zh-CN" sz="2800" dirty="0">
                <a:solidFill>
                  <a:schemeClr val="bg2"/>
                </a:solidFill>
              </a:rPr>
              <a:t>: </a:t>
            </a:r>
            <a:r>
              <a:rPr lang="zh-CN" altLang="en-US" sz="2800" dirty="0">
                <a:solidFill>
                  <a:schemeClr val="bg2"/>
                </a:solidFill>
              </a:rPr>
              <a:t>新写者等待</a:t>
            </a:r>
          </a:p>
        </p:txBody>
      </p:sp>
      <p:sp>
        <p:nvSpPr>
          <p:cNvPr id="5" name="Text Box 6">
            <a:extLst>
              <a:ext uri="{FF2B5EF4-FFF2-40B4-BE49-F238E27FC236}">
                <a16:creationId xmlns:a16="http://schemas.microsoft.com/office/drawing/2014/main" id="{785A64D0-E154-49D6-9014-C20028357BB8}"/>
              </a:ext>
            </a:extLst>
          </p:cNvPr>
          <p:cNvSpPr txBox="1">
            <a:spLocks noChangeArrowheads="1"/>
          </p:cNvSpPr>
          <p:nvPr/>
        </p:nvSpPr>
        <p:spPr bwMode="auto">
          <a:xfrm>
            <a:off x="0" y="0"/>
            <a:ext cx="9144000" cy="2000250"/>
          </a:xfrm>
          <a:prstGeom prst="rect">
            <a:avLst/>
          </a:prstGeom>
          <a:solidFill>
            <a:schemeClr val="tx1">
              <a:lumMod val="85000"/>
            </a:schemeClr>
          </a:solidFill>
          <a:ln>
            <a:noFill/>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b="1" dirty="0">
                <a:solidFill>
                  <a:schemeClr val="bg2"/>
                </a:solidFill>
              </a:rPr>
              <a:t>“</a:t>
            </a:r>
            <a:r>
              <a:rPr lang="zh-CN" altLang="en-US" sz="2800" b="1" dirty="0">
                <a:solidFill>
                  <a:schemeClr val="bg2"/>
                </a:solidFill>
              </a:rPr>
              <a:t>读者写者问题</a:t>
            </a:r>
            <a:r>
              <a:rPr lang="en-US" altLang="zh-CN" sz="2800" b="1" dirty="0">
                <a:solidFill>
                  <a:schemeClr val="bg2"/>
                </a:solidFill>
              </a:rPr>
              <a:t>”</a:t>
            </a:r>
            <a:r>
              <a:rPr lang="zh-CN" altLang="en-US" sz="2400" b="1" dirty="0">
                <a:solidFill>
                  <a:schemeClr val="bg2"/>
                </a:solidFill>
              </a:rPr>
              <a:t>多个进程共享一个文件，只读文件的称为读者，只修改文件的称为写者。读者可以同时读，但写者只能独立的写，读者和写者</a:t>
            </a:r>
            <a:r>
              <a:rPr lang="zh-CN" altLang="en-US" sz="2400" b="1">
                <a:solidFill>
                  <a:schemeClr val="bg2"/>
                </a:solidFill>
              </a:rPr>
              <a:t>不能同时操作</a:t>
            </a:r>
            <a:r>
              <a:rPr lang="zh-CN" altLang="en-US" sz="2400">
                <a:solidFill>
                  <a:schemeClr val="bg2"/>
                </a:solidFill>
              </a:rPr>
              <a:t>。</a:t>
            </a:r>
            <a:endParaRPr lang="en-US" altLang="zh-CN" sz="2400" b="1" dirty="0">
              <a:solidFill>
                <a:schemeClr val="bg2"/>
              </a:solidFill>
            </a:endParaRPr>
          </a:p>
          <a:p>
            <a:pPr eaLnBrk="1" hangingPunct="1">
              <a:spcBef>
                <a:spcPct val="0"/>
              </a:spcBef>
              <a:buClrTx/>
              <a:buSzTx/>
              <a:buFontTx/>
              <a:buNone/>
            </a:pPr>
            <a:r>
              <a:rPr lang="en-US" altLang="zh-CN" sz="2400" b="1" dirty="0">
                <a:solidFill>
                  <a:schemeClr val="bg2"/>
                </a:solidFill>
              </a:rPr>
              <a:t>1. </a:t>
            </a:r>
            <a:r>
              <a:rPr lang="zh-CN" altLang="en-US" sz="2400" b="1" dirty="0">
                <a:solidFill>
                  <a:schemeClr val="bg2"/>
                </a:solidFill>
              </a:rPr>
              <a:t>说明进程间的相互制约关系，应设那些信号量？</a:t>
            </a:r>
          </a:p>
          <a:p>
            <a:pPr eaLnBrk="1" hangingPunct="1">
              <a:spcBef>
                <a:spcPct val="0"/>
              </a:spcBef>
              <a:buClrTx/>
              <a:buSzTx/>
              <a:buFontTx/>
              <a:buNone/>
            </a:pPr>
            <a:r>
              <a:rPr lang="en-US" altLang="zh-CN" sz="2400" b="1" dirty="0">
                <a:solidFill>
                  <a:schemeClr val="bg2"/>
                </a:solidFill>
              </a:rPr>
              <a:t>2. </a:t>
            </a:r>
            <a:r>
              <a:rPr lang="zh-CN" altLang="en-US" sz="2400" b="1" dirty="0">
                <a:solidFill>
                  <a:schemeClr val="bg2"/>
                </a:solidFill>
              </a:rPr>
              <a:t>用</a:t>
            </a:r>
            <a:r>
              <a:rPr lang="en-US" altLang="zh-CN" sz="2400" b="1" dirty="0">
                <a:solidFill>
                  <a:schemeClr val="bg2"/>
                </a:solidFill>
              </a:rPr>
              <a:t>P</a:t>
            </a:r>
            <a:r>
              <a:rPr lang="zh-CN" altLang="en-US" sz="2400" b="1" dirty="0">
                <a:solidFill>
                  <a:schemeClr val="bg2"/>
                </a:solidFill>
              </a:rPr>
              <a:t>、</a:t>
            </a:r>
            <a:r>
              <a:rPr lang="en-US" altLang="zh-CN" sz="2400" b="1" dirty="0">
                <a:solidFill>
                  <a:schemeClr val="bg2"/>
                </a:solidFill>
              </a:rPr>
              <a:t>V</a:t>
            </a:r>
            <a:r>
              <a:rPr lang="zh-CN" altLang="en-US" sz="2400" b="1" dirty="0">
                <a:solidFill>
                  <a:schemeClr val="bg2"/>
                </a:solidFill>
              </a:rPr>
              <a:t>操作写出其同步算法。</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311316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linds(horizont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linds(horizontal)">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blinds(horizontal)">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blinds(horizontal)">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blinds(horizontal)">
                                      <p:cBhvr>
                                        <p:cTn id="42" dur="500"/>
                                        <p:tgtEl>
                                          <p:spTgt spid="4">
                                            <p:txEl>
                                              <p:pRg st="7" end="7"/>
                                            </p:txEl>
                                          </p:spTgt>
                                        </p:tgtEl>
                                      </p:cBhvr>
                                    </p:animEffect>
                                  </p:childTnLst>
                                </p:cTn>
                              </p:par>
                            </p:childTnLst>
                          </p:cTn>
                        </p:par>
                        <p:par>
                          <p:cTn id="43" fill="hold">
                            <p:stCondLst>
                              <p:cond delay="500"/>
                            </p:stCondLst>
                            <p:childTnLst>
                              <p:par>
                                <p:cTn id="44" presetID="2" presetClass="entr" presetSubtype="6" fill="hold" grpId="0" nodeType="afterEffect">
                                  <p:stCondLst>
                                    <p:cond delay="0"/>
                                  </p:stCondLst>
                                  <p:childTnLst>
                                    <p:set>
                                      <p:cBhvr>
                                        <p:cTn id="45" dur="1" fill="hold">
                                          <p:stCondLst>
                                            <p:cond delay="0"/>
                                          </p:stCondLst>
                                        </p:cTn>
                                        <p:tgtEl>
                                          <p:spTgt spid="6"/>
                                        </p:tgtEl>
                                        <p:attrNameLst>
                                          <p:attrName>style.visibility</p:attrName>
                                        </p:attrNameLst>
                                      </p:cBhvr>
                                      <p:to>
                                        <p:strVal val="visible"/>
                                      </p:to>
                                    </p:set>
                                    <p:anim calcmode="lin" valueType="num">
                                      <p:cBhvr additive="base">
                                        <p:cTn id="46" dur="500" fill="hold"/>
                                        <p:tgtEl>
                                          <p:spTgt spid="6"/>
                                        </p:tgtEl>
                                        <p:attrNameLst>
                                          <p:attrName>ppt_x</p:attrName>
                                        </p:attrNameLst>
                                      </p:cBhvr>
                                      <p:tavLst>
                                        <p:tav tm="0">
                                          <p:val>
                                            <p:strVal val="1+#ppt_w/2"/>
                                          </p:val>
                                        </p:tav>
                                        <p:tav tm="100000">
                                          <p:val>
                                            <p:strVal val="#ppt_x"/>
                                          </p:val>
                                        </p:tav>
                                      </p:tavLst>
                                    </p:anim>
                                    <p:anim calcmode="lin" valueType="num">
                                      <p:cBhvr additive="base">
                                        <p:cTn id="4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AE89E845-5140-46E8-A145-7DA200AC9831}"/>
              </a:ext>
            </a:extLst>
          </p:cNvPr>
          <p:cNvSpPr txBox="1">
            <a:spLocks noChangeArrowheads="1"/>
          </p:cNvSpPr>
          <p:nvPr/>
        </p:nvSpPr>
        <p:spPr bwMode="auto">
          <a:xfrm>
            <a:off x="1692275" y="1826062"/>
            <a:ext cx="1871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endParaRPr lang="zh-CN" altLang="zh-CN" sz="2400">
              <a:solidFill>
                <a:schemeClr val="bg2"/>
              </a:solidFill>
            </a:endParaRPr>
          </a:p>
        </p:txBody>
      </p:sp>
      <p:sp>
        <p:nvSpPr>
          <p:cNvPr id="5" name="Text Box 7">
            <a:extLst>
              <a:ext uri="{FF2B5EF4-FFF2-40B4-BE49-F238E27FC236}">
                <a16:creationId xmlns:a16="http://schemas.microsoft.com/office/drawing/2014/main" id="{8643C234-140E-416C-A743-14FC95F4D2F7}"/>
              </a:ext>
            </a:extLst>
          </p:cNvPr>
          <p:cNvSpPr txBox="1">
            <a:spLocks noChangeArrowheads="1"/>
          </p:cNvSpPr>
          <p:nvPr/>
        </p:nvSpPr>
        <p:spPr bwMode="auto">
          <a:xfrm>
            <a:off x="0" y="636750"/>
            <a:ext cx="9144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buClrTx/>
              <a:buSzTx/>
              <a:buFont typeface="Wingdings" panose="05000000000000000000" pitchFamily="2" charset="2"/>
              <a:buChar char="n"/>
            </a:pPr>
            <a:r>
              <a:rPr lang="zh-CN" altLang="en-US" dirty="0">
                <a:solidFill>
                  <a:schemeClr val="bg1">
                    <a:lumMod val="75000"/>
                  </a:schemeClr>
                </a:solidFill>
                <a:effectLst>
                  <a:outerShdw blurRad="38100" dist="38100" dir="2700000" algn="tl">
                    <a:srgbClr val="000000">
                      <a:alpha val="43137"/>
                    </a:srgbClr>
                  </a:outerShdw>
                </a:effectLst>
              </a:rPr>
              <a:t>互斥写</a:t>
            </a:r>
          </a:p>
          <a:p>
            <a:pPr lvl="1" eaLnBrk="1" hangingPunct="1">
              <a:spcBef>
                <a:spcPct val="0"/>
              </a:spcBef>
              <a:buNone/>
            </a:pPr>
            <a:r>
              <a:rPr lang="zh-CN" altLang="en-US" dirty="0">
                <a:solidFill>
                  <a:schemeClr val="bg2"/>
                </a:solidFill>
              </a:rPr>
              <a:t>读者写者之间、写者写者之间</a:t>
            </a:r>
            <a:r>
              <a:rPr lang="en-US" altLang="zh-CN" dirty="0">
                <a:solidFill>
                  <a:schemeClr val="bg2"/>
                </a:solidFill>
              </a:rPr>
              <a:t>: </a:t>
            </a:r>
            <a:r>
              <a:rPr lang="zh-CN" altLang="en-US" dirty="0">
                <a:solidFill>
                  <a:schemeClr val="bg2"/>
                </a:solidFill>
              </a:rPr>
              <a:t> </a:t>
            </a:r>
            <a:r>
              <a:rPr lang="en-US" altLang="zh-CN" dirty="0" err="1">
                <a:solidFill>
                  <a:srgbClr val="FF00FF"/>
                </a:solidFill>
              </a:rPr>
              <a:t>mutexW</a:t>
            </a:r>
            <a:r>
              <a:rPr lang="en-US" altLang="zh-CN" dirty="0">
                <a:solidFill>
                  <a:srgbClr val="FF00FF"/>
                </a:solidFill>
              </a:rPr>
              <a:t>:=1</a:t>
            </a:r>
          </a:p>
        </p:txBody>
      </p:sp>
      <p:sp>
        <p:nvSpPr>
          <p:cNvPr id="6" name="Rectangle 8">
            <a:extLst>
              <a:ext uri="{FF2B5EF4-FFF2-40B4-BE49-F238E27FC236}">
                <a16:creationId xmlns:a16="http://schemas.microsoft.com/office/drawing/2014/main" id="{B423883E-859C-45CB-9EF6-0BEF51A54F16}"/>
              </a:ext>
            </a:extLst>
          </p:cNvPr>
          <p:cNvSpPr>
            <a:spLocks noChangeArrowheads="1"/>
          </p:cNvSpPr>
          <p:nvPr/>
        </p:nvSpPr>
        <p:spPr bwMode="auto">
          <a:xfrm>
            <a:off x="2279351" y="0"/>
            <a:ext cx="49536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读者</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写者问题的解法</a:t>
            </a:r>
          </a:p>
        </p:txBody>
      </p:sp>
      <p:sp>
        <p:nvSpPr>
          <p:cNvPr id="7" name="Text Box 6">
            <a:extLst>
              <a:ext uri="{FF2B5EF4-FFF2-40B4-BE49-F238E27FC236}">
                <a16:creationId xmlns:a16="http://schemas.microsoft.com/office/drawing/2014/main" id="{F05716A3-257D-4DB9-8D32-0ADEF5517059}"/>
              </a:ext>
            </a:extLst>
          </p:cNvPr>
          <p:cNvSpPr txBox="1">
            <a:spLocks noChangeArrowheads="1"/>
          </p:cNvSpPr>
          <p:nvPr/>
        </p:nvSpPr>
        <p:spPr bwMode="auto">
          <a:xfrm>
            <a:off x="-16789" y="1957895"/>
            <a:ext cx="9144000"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buClrTx/>
              <a:buSzTx/>
              <a:buFont typeface="Wingdings" panose="05000000000000000000" pitchFamily="2" charset="2"/>
              <a:buChar char="n"/>
            </a:pPr>
            <a:r>
              <a:rPr lang="zh-CN" altLang="en-US" dirty="0">
                <a:solidFill>
                  <a:schemeClr val="bg1">
                    <a:lumMod val="75000"/>
                  </a:schemeClr>
                </a:solidFill>
                <a:effectLst>
                  <a:outerShdw blurRad="38100" dist="38100" dir="2700000" algn="tl">
                    <a:srgbClr val="000000">
                      <a:alpha val="43137"/>
                    </a:srgbClr>
                  </a:outerShdw>
                </a:effectLst>
              </a:rPr>
              <a:t>读者之间允许同时读</a:t>
            </a:r>
          </a:p>
          <a:p>
            <a:pPr eaLnBrk="1" hangingPunct="1">
              <a:spcBef>
                <a:spcPct val="0"/>
              </a:spcBef>
              <a:buClrTx/>
              <a:buSzTx/>
              <a:buNone/>
            </a:pPr>
            <a:r>
              <a:rPr lang="zh-CN" altLang="en-US" sz="2800" dirty="0">
                <a:solidFill>
                  <a:schemeClr val="bg2"/>
                </a:solidFill>
              </a:rPr>
              <a:t>变量 </a:t>
            </a:r>
            <a:r>
              <a:rPr lang="en-US" altLang="zh-CN" sz="2800" dirty="0" err="1">
                <a:solidFill>
                  <a:srgbClr val="006600"/>
                </a:solidFill>
              </a:rPr>
              <a:t>readCount</a:t>
            </a:r>
            <a:r>
              <a:rPr lang="en-US" altLang="zh-CN" sz="2800" dirty="0">
                <a:solidFill>
                  <a:schemeClr val="bg2"/>
                </a:solidFill>
              </a:rPr>
              <a:t> </a:t>
            </a:r>
            <a:r>
              <a:rPr lang="zh-CN" altLang="en-US" sz="2800" dirty="0">
                <a:solidFill>
                  <a:schemeClr val="bg2"/>
                </a:solidFill>
              </a:rPr>
              <a:t>：当前在读的读者个数，所有读者共享，    </a:t>
            </a:r>
            <a:r>
              <a:rPr lang="en-US" altLang="zh-CN" sz="2800" dirty="0">
                <a:solidFill>
                  <a:schemeClr val="bg2"/>
                </a:solidFill>
              </a:rPr>
              <a:t>	                      </a:t>
            </a:r>
            <a:r>
              <a:rPr lang="zh-CN" altLang="en-US" sz="2800" dirty="0">
                <a:solidFill>
                  <a:schemeClr val="bg2"/>
                </a:solidFill>
              </a:rPr>
              <a:t>互斥信号量</a:t>
            </a:r>
            <a:r>
              <a:rPr lang="zh-CN" altLang="en-US" sz="2800" dirty="0">
                <a:solidFill>
                  <a:srgbClr val="006600"/>
                </a:solidFill>
              </a:rPr>
              <a:t>： </a:t>
            </a:r>
            <a:r>
              <a:rPr lang="en-US" altLang="zh-CN" sz="2800" dirty="0" err="1">
                <a:solidFill>
                  <a:srgbClr val="006600"/>
                </a:solidFill>
              </a:rPr>
              <a:t>mutexCount</a:t>
            </a:r>
            <a:r>
              <a:rPr lang="en-US" altLang="zh-CN" sz="2800" dirty="0">
                <a:solidFill>
                  <a:srgbClr val="006600"/>
                </a:solidFill>
              </a:rPr>
              <a:t>:=1</a:t>
            </a:r>
          </a:p>
          <a:p>
            <a:pPr marL="800100" lvl="1" indent="-342900" eaLnBrk="1" hangingPunct="1">
              <a:buSzPct val="70000"/>
              <a:buFont typeface="Wingdings" panose="05000000000000000000" pitchFamily="2" charset="2"/>
              <a:buChar char="n"/>
            </a:pPr>
            <a:r>
              <a:rPr lang="zh-CN" altLang="en-US" dirty="0">
                <a:solidFill>
                  <a:schemeClr val="bg2"/>
                </a:solidFill>
              </a:rPr>
              <a:t>读者进程进入：</a:t>
            </a:r>
            <a:r>
              <a:rPr lang="en-US" altLang="zh-CN" dirty="0">
                <a:solidFill>
                  <a:schemeClr val="bg2"/>
                </a:solidFill>
              </a:rPr>
              <a:t> </a:t>
            </a:r>
            <a:r>
              <a:rPr lang="en-US" altLang="zh-CN" b="1" dirty="0" err="1">
                <a:solidFill>
                  <a:srgbClr val="006600"/>
                </a:solidFill>
                <a:ea typeface="楷体_GB2312" pitchFamily="49" charset="-122"/>
              </a:rPr>
              <a:t>readCount</a:t>
            </a:r>
            <a:r>
              <a:rPr lang="en-US" altLang="zh-CN" b="1" dirty="0">
                <a:solidFill>
                  <a:srgbClr val="006600"/>
                </a:solidFill>
                <a:ea typeface="楷体_GB2312" pitchFamily="49" charset="-122"/>
              </a:rPr>
              <a:t> = readCount+1</a:t>
            </a:r>
          </a:p>
          <a:p>
            <a:pPr marL="1257300" lvl="2" indent="-342900" eaLnBrk="1" hangingPunct="1">
              <a:buSzPct val="60000"/>
              <a:buFont typeface="Wingdings" panose="05000000000000000000" pitchFamily="2" charset="2"/>
              <a:buChar char="n"/>
            </a:pPr>
            <a:r>
              <a:rPr lang="en-US" altLang="zh-CN" sz="2800" dirty="0">
                <a:solidFill>
                  <a:schemeClr val="bg2"/>
                </a:solidFill>
              </a:rPr>
              <a:t>== </a:t>
            </a:r>
            <a:r>
              <a:rPr lang="en-US" altLang="zh-CN" sz="2800" b="1" dirty="0">
                <a:solidFill>
                  <a:schemeClr val="bg2"/>
                </a:solidFill>
                <a:ea typeface="楷体_GB2312" pitchFamily="49" charset="-122"/>
              </a:rPr>
              <a:t>1</a:t>
            </a:r>
            <a:r>
              <a:rPr lang="zh-CN" altLang="en-US" sz="2800" dirty="0">
                <a:solidFill>
                  <a:schemeClr val="bg2"/>
                </a:solidFill>
                <a:ea typeface="楷体_GB2312" pitchFamily="49" charset="-122"/>
              </a:rPr>
              <a:t>：</a:t>
            </a:r>
            <a:r>
              <a:rPr lang="zh-CN" altLang="en-US" sz="2800" dirty="0">
                <a:solidFill>
                  <a:schemeClr val="bg2"/>
                </a:solidFill>
              </a:rPr>
              <a:t>第一个读者进程进入</a:t>
            </a:r>
            <a:r>
              <a:rPr lang="zh-CN" altLang="en-US" sz="2800" b="1" dirty="0">
                <a:solidFill>
                  <a:schemeClr val="bg2"/>
                </a:solidFill>
                <a:ea typeface="楷体_GB2312" pitchFamily="49" charset="-122"/>
              </a:rPr>
              <a:t>，  </a:t>
            </a:r>
            <a:r>
              <a:rPr lang="en-US" altLang="zh-CN" sz="2800" b="1" dirty="0">
                <a:solidFill>
                  <a:srgbClr val="FF00FF"/>
                </a:solidFill>
                <a:ea typeface="楷体_GB2312" pitchFamily="49" charset="-122"/>
              </a:rPr>
              <a:t>P(</a:t>
            </a:r>
            <a:r>
              <a:rPr lang="en-US" altLang="zh-CN" sz="2800" b="1" dirty="0" err="1">
                <a:solidFill>
                  <a:srgbClr val="FF00FF"/>
                </a:solidFill>
                <a:ea typeface="楷体_GB2312" pitchFamily="49" charset="-122"/>
              </a:rPr>
              <a:t>mutexW</a:t>
            </a:r>
            <a:r>
              <a:rPr lang="en-US" altLang="zh-CN" sz="2800" b="1" dirty="0">
                <a:solidFill>
                  <a:srgbClr val="FF00FF"/>
                </a:solidFill>
                <a:ea typeface="楷体_GB2312" pitchFamily="49" charset="-122"/>
              </a:rPr>
              <a:t>)</a:t>
            </a:r>
            <a:r>
              <a:rPr lang="en-US" altLang="zh-CN" sz="2800" b="1" dirty="0">
                <a:solidFill>
                  <a:schemeClr val="bg2"/>
                </a:solidFill>
                <a:ea typeface="楷体_GB2312" pitchFamily="49" charset="-122"/>
              </a:rPr>
              <a:t> </a:t>
            </a:r>
            <a:r>
              <a:rPr lang="zh-CN" altLang="en-US" sz="2800" b="1" dirty="0">
                <a:solidFill>
                  <a:schemeClr val="bg2"/>
                </a:solidFill>
                <a:ea typeface="楷体_GB2312" pitchFamily="49" charset="-122"/>
              </a:rPr>
              <a:t>；</a:t>
            </a:r>
          </a:p>
          <a:p>
            <a:pPr marL="1257300" lvl="2" indent="-342900" eaLnBrk="1" hangingPunct="1">
              <a:buSzPct val="60000"/>
              <a:buFont typeface="Wingdings" panose="05000000000000000000" pitchFamily="2" charset="2"/>
              <a:buChar char="n"/>
            </a:pPr>
            <a:r>
              <a:rPr lang="zh-CN" altLang="en-US" sz="2800" dirty="0">
                <a:solidFill>
                  <a:schemeClr val="bg2"/>
                </a:solidFill>
              </a:rPr>
              <a:t>非</a:t>
            </a:r>
            <a:r>
              <a:rPr lang="en-US" altLang="zh-CN" sz="2800" dirty="0">
                <a:solidFill>
                  <a:schemeClr val="bg2"/>
                </a:solidFill>
              </a:rPr>
              <a:t>0</a:t>
            </a:r>
            <a:r>
              <a:rPr lang="zh-CN" altLang="en-US" sz="2800" dirty="0">
                <a:solidFill>
                  <a:schemeClr val="bg2"/>
                </a:solidFill>
              </a:rPr>
              <a:t>值增加：不需要 </a:t>
            </a:r>
            <a:r>
              <a:rPr lang="en-US" altLang="zh-CN" sz="2800" dirty="0">
                <a:solidFill>
                  <a:schemeClr val="bg2"/>
                </a:solidFill>
              </a:rPr>
              <a:t>P</a:t>
            </a:r>
            <a:r>
              <a:rPr lang="zh-CN" altLang="en-US" sz="2800" dirty="0">
                <a:solidFill>
                  <a:schemeClr val="bg2"/>
                </a:solidFill>
              </a:rPr>
              <a:t>操作。</a:t>
            </a:r>
          </a:p>
          <a:p>
            <a:pPr marL="800100" lvl="1" indent="-342900" eaLnBrk="1" hangingPunct="1">
              <a:buSzPct val="70000"/>
              <a:buFont typeface="Wingdings" panose="05000000000000000000" pitchFamily="2" charset="2"/>
              <a:buChar char="n"/>
            </a:pPr>
            <a:r>
              <a:rPr lang="zh-CN" altLang="en-US" dirty="0">
                <a:solidFill>
                  <a:schemeClr val="bg2"/>
                </a:solidFill>
              </a:rPr>
              <a:t>读者进程退出： </a:t>
            </a:r>
            <a:r>
              <a:rPr lang="en-US" altLang="zh-CN" dirty="0" err="1">
                <a:solidFill>
                  <a:srgbClr val="006600"/>
                </a:solidFill>
              </a:rPr>
              <a:t>readCount</a:t>
            </a:r>
            <a:r>
              <a:rPr lang="en-US" altLang="zh-CN" dirty="0">
                <a:solidFill>
                  <a:srgbClr val="006600"/>
                </a:solidFill>
              </a:rPr>
              <a:t> = readCount-1</a:t>
            </a:r>
            <a:endParaRPr lang="zh-CN" altLang="en-US" dirty="0">
              <a:solidFill>
                <a:srgbClr val="006600"/>
              </a:solidFill>
            </a:endParaRPr>
          </a:p>
          <a:p>
            <a:pPr lvl="2" eaLnBrk="1" hangingPunct="1">
              <a:buFontTx/>
              <a:buNone/>
            </a:pPr>
            <a:r>
              <a:rPr lang="en-US" altLang="zh-CN" sz="2800" dirty="0">
                <a:solidFill>
                  <a:schemeClr val="bg2"/>
                </a:solidFill>
              </a:rPr>
              <a:t>==0</a:t>
            </a:r>
            <a:r>
              <a:rPr lang="zh-CN" altLang="en-US" sz="2800" dirty="0">
                <a:solidFill>
                  <a:schemeClr val="bg2"/>
                </a:solidFill>
              </a:rPr>
              <a:t>：最后一个读者进程退出，</a:t>
            </a:r>
            <a:r>
              <a:rPr lang="en-US" altLang="zh-CN" sz="2800" b="1" dirty="0">
                <a:solidFill>
                  <a:srgbClr val="FF00FF"/>
                </a:solidFill>
                <a:ea typeface="楷体_GB2312" pitchFamily="49" charset="-122"/>
              </a:rPr>
              <a:t>V (</a:t>
            </a:r>
            <a:r>
              <a:rPr lang="en-US" altLang="zh-CN" sz="2800" b="1" dirty="0" err="1">
                <a:solidFill>
                  <a:srgbClr val="FF00FF"/>
                </a:solidFill>
                <a:ea typeface="楷体_GB2312" pitchFamily="49" charset="-122"/>
              </a:rPr>
              <a:t>mutexW</a:t>
            </a:r>
            <a:r>
              <a:rPr lang="en-US" altLang="zh-CN" sz="2800" b="1" dirty="0">
                <a:solidFill>
                  <a:srgbClr val="FF00FF"/>
                </a:solidFill>
                <a:ea typeface="楷体_GB2312" pitchFamily="49" charset="-122"/>
              </a:rPr>
              <a:t>)</a:t>
            </a:r>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415314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checkerboard(across)">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checkerboard(across)">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checkerboard(across)">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checkerboard(across)">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checkerboard(across)">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checkerboard(across)">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checkerboard(across)">
                                      <p:cBhvr>
                                        <p:cTn id="37" dur="500"/>
                                        <p:tgtEl>
                                          <p:spTgt spid="7">
                                            <p:txEl>
                                              <p:pRg st="6" end="6"/>
                                            </p:txEl>
                                          </p:spTgt>
                                        </p:tgtEl>
                                      </p:cBhvr>
                                    </p:animEffect>
                                  </p:childTnLst>
                                </p:cTn>
                              </p:par>
                            </p:childTnLst>
                          </p:cTn>
                        </p:par>
                        <p:par>
                          <p:cTn id="38" fill="hold">
                            <p:stCondLst>
                              <p:cond delay="500"/>
                            </p:stCondLst>
                            <p:childTnLst>
                              <p:par>
                                <p:cTn id="39" presetID="2" presetClass="entr" presetSubtype="6" fill="hold" grpId="0" nodeType="after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additive="base">
                                        <p:cTn id="41" dur="500" fill="hold"/>
                                        <p:tgtEl>
                                          <p:spTgt spid="8"/>
                                        </p:tgtEl>
                                        <p:attrNameLst>
                                          <p:attrName>ppt_x</p:attrName>
                                        </p:attrNameLst>
                                      </p:cBhvr>
                                      <p:tavLst>
                                        <p:tav tm="0">
                                          <p:val>
                                            <p:strVal val="1+#ppt_w/2"/>
                                          </p:val>
                                        </p:tav>
                                        <p:tav tm="100000">
                                          <p:val>
                                            <p:strVal val="#ppt_x"/>
                                          </p:val>
                                        </p:tav>
                                      </p:tavLst>
                                    </p:anim>
                                    <p:anim calcmode="lin" valueType="num">
                                      <p:cBhvr additive="base">
                                        <p:cTn id="4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3"/>
      <p:bldP spid="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
            <a:extLst>
              <a:ext uri="{FF2B5EF4-FFF2-40B4-BE49-F238E27FC236}">
                <a16:creationId xmlns:a16="http://schemas.microsoft.com/office/drawing/2014/main" id="{91652B82-6021-4F4A-8D23-818A5E29BC65}"/>
              </a:ext>
            </a:extLst>
          </p:cNvPr>
          <p:cNvSpPr txBox="1">
            <a:spLocks noChangeArrowheads="1"/>
          </p:cNvSpPr>
          <p:nvPr/>
        </p:nvSpPr>
        <p:spPr>
          <a:xfrm>
            <a:off x="250825" y="792567"/>
            <a:ext cx="5184775" cy="4868681"/>
          </a:xfrm>
          <a:prstGeom prst="rect">
            <a:avLst/>
          </a:prstGeom>
          <a:solidFill>
            <a:schemeClr val="tx1">
              <a:lumMod val="85000"/>
            </a:schemeClr>
          </a:solid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eaLnBrk="1" hangingPunct="1">
              <a:buFont typeface="Symbol" panose="05050102010706020507" pitchFamily="18" charset="2"/>
              <a:buNone/>
            </a:pPr>
            <a:r>
              <a:rPr lang="en-US" altLang="zh-CN" sz="2800" b="1" kern="0" dirty="0">
                <a:solidFill>
                  <a:schemeClr val="bg2"/>
                </a:solidFill>
                <a:effectLst/>
              </a:rPr>
              <a:t>Reader:</a:t>
            </a:r>
          </a:p>
          <a:p>
            <a:pPr eaLnBrk="1" hangingPunct="1">
              <a:buFont typeface="Symbol" panose="05050102010706020507" pitchFamily="18" charset="2"/>
              <a:buNone/>
            </a:pPr>
            <a:r>
              <a:rPr lang="en-US" altLang="zh-CN" sz="2800" b="0" kern="0" dirty="0">
                <a:solidFill>
                  <a:schemeClr val="bg2"/>
                </a:solidFill>
                <a:effectLst/>
              </a:rPr>
              <a:t>BEGIN</a:t>
            </a:r>
          </a:p>
          <a:p>
            <a:pPr marL="866775" lvl="1" indent="-344488" eaLnBrk="1" hangingPunct="1">
              <a:buFontTx/>
              <a:buNone/>
            </a:pPr>
            <a:r>
              <a:rPr lang="en-US" altLang="zh-CN" sz="2000" kern="0" dirty="0">
                <a:solidFill>
                  <a:srgbClr val="FF00FF"/>
                </a:solidFill>
                <a:effectLst/>
              </a:rPr>
              <a:t>P </a:t>
            </a:r>
            <a:r>
              <a:rPr lang="en-US" altLang="zh-CN" sz="2000" b="0" kern="0" dirty="0">
                <a:solidFill>
                  <a:srgbClr val="FF00FF"/>
                </a:solidFill>
                <a:effectLst/>
              </a:rPr>
              <a:t>(</a:t>
            </a:r>
            <a:r>
              <a:rPr lang="en-US" altLang="zh-CN" sz="2000" b="1" kern="0" dirty="0" err="1">
                <a:solidFill>
                  <a:srgbClr val="FF00FF"/>
                </a:solidFill>
                <a:effectLst/>
              </a:rPr>
              <a:t>mutexCount</a:t>
            </a:r>
            <a:r>
              <a:rPr lang="en-US" altLang="zh-CN" sz="2000" b="0" kern="0" dirty="0">
                <a:solidFill>
                  <a:srgbClr val="FF00FF"/>
                </a:solidFill>
                <a:effectLst/>
              </a:rPr>
              <a:t>);</a:t>
            </a:r>
          </a:p>
          <a:p>
            <a:pPr marL="866775" lvl="1" indent="-344488" eaLnBrk="1" hangingPunct="1">
              <a:buFontTx/>
              <a:buNone/>
            </a:pPr>
            <a:r>
              <a:rPr lang="en-US" altLang="zh-CN" sz="2000" b="0" kern="0" dirty="0" err="1">
                <a:solidFill>
                  <a:schemeClr val="bg2"/>
                </a:solidFill>
                <a:effectLst/>
              </a:rPr>
              <a:t>readCount</a:t>
            </a:r>
            <a:r>
              <a:rPr lang="en-US" altLang="zh-CN" sz="2000" b="0" kern="0" dirty="0">
                <a:solidFill>
                  <a:schemeClr val="bg2"/>
                </a:solidFill>
                <a:effectLst/>
              </a:rPr>
              <a:t>:= </a:t>
            </a:r>
            <a:r>
              <a:rPr lang="en-US" altLang="zh-CN" sz="2000" b="0" kern="0" dirty="0" err="1">
                <a:solidFill>
                  <a:schemeClr val="bg2"/>
                </a:solidFill>
                <a:effectLst/>
              </a:rPr>
              <a:t>readCount</a:t>
            </a:r>
            <a:r>
              <a:rPr lang="en-US" altLang="zh-CN" sz="2000" b="0" kern="0" dirty="0">
                <a:solidFill>
                  <a:schemeClr val="bg2"/>
                </a:solidFill>
                <a:effectLst/>
              </a:rPr>
              <a:t> +1;</a:t>
            </a:r>
          </a:p>
          <a:p>
            <a:pPr marL="866775" lvl="1" indent="-344488" eaLnBrk="1" hangingPunct="1">
              <a:buFontTx/>
              <a:buNone/>
            </a:pPr>
            <a:r>
              <a:rPr lang="en-US" altLang="zh-CN" sz="2000" b="0" kern="0" dirty="0">
                <a:solidFill>
                  <a:schemeClr val="bg2"/>
                </a:solidFill>
                <a:effectLst/>
              </a:rPr>
              <a:t>IF </a:t>
            </a:r>
            <a:r>
              <a:rPr lang="en-US" altLang="zh-CN" sz="2000" b="0" kern="0" dirty="0" err="1">
                <a:solidFill>
                  <a:schemeClr val="bg2"/>
                </a:solidFill>
                <a:effectLst/>
              </a:rPr>
              <a:t>readCount</a:t>
            </a:r>
            <a:r>
              <a:rPr lang="en-US" altLang="zh-CN" sz="2000" b="0" kern="0" dirty="0">
                <a:solidFill>
                  <a:schemeClr val="bg2"/>
                </a:solidFill>
                <a:effectLst/>
              </a:rPr>
              <a:t>= =1 THEN</a:t>
            </a:r>
            <a:r>
              <a:rPr lang="en-US" altLang="zh-CN" sz="2400" b="0" kern="0" dirty="0">
                <a:solidFill>
                  <a:schemeClr val="bg2"/>
                </a:solidFill>
                <a:effectLst/>
              </a:rPr>
              <a:t>   </a:t>
            </a:r>
            <a:r>
              <a:rPr lang="en-US" altLang="zh-CN" sz="2000" b="1" kern="0" dirty="0">
                <a:solidFill>
                  <a:srgbClr val="FF0000"/>
                </a:solidFill>
                <a:effectLst/>
              </a:rPr>
              <a:t>P(</a:t>
            </a:r>
            <a:r>
              <a:rPr lang="en-US" altLang="zh-CN" sz="2000" b="1" kern="0" dirty="0" err="1">
                <a:solidFill>
                  <a:srgbClr val="FF0000"/>
                </a:solidFill>
                <a:effectLst/>
              </a:rPr>
              <a:t>mutexW</a:t>
            </a:r>
            <a:r>
              <a:rPr lang="en-US" altLang="zh-CN" sz="2000" b="1" kern="0" dirty="0">
                <a:solidFill>
                  <a:srgbClr val="FF0000"/>
                </a:solidFill>
                <a:effectLst/>
              </a:rPr>
              <a:t>);</a:t>
            </a:r>
          </a:p>
          <a:p>
            <a:pPr marL="866775" lvl="1" indent="-344488" eaLnBrk="1" hangingPunct="1">
              <a:buFontTx/>
              <a:buNone/>
            </a:pPr>
            <a:r>
              <a:rPr lang="en-US" altLang="zh-CN" sz="2000" b="0" kern="0" dirty="0">
                <a:solidFill>
                  <a:srgbClr val="FF00FF"/>
                </a:solidFill>
                <a:effectLst/>
              </a:rPr>
              <a:t>V(</a:t>
            </a:r>
            <a:r>
              <a:rPr lang="en-US" altLang="zh-CN" sz="2000" b="1" kern="0" dirty="0" err="1">
                <a:solidFill>
                  <a:srgbClr val="FF00FF"/>
                </a:solidFill>
                <a:effectLst/>
              </a:rPr>
              <a:t>mutexCount</a:t>
            </a:r>
            <a:r>
              <a:rPr lang="en-US" altLang="zh-CN" sz="2000" b="0" kern="0" dirty="0">
                <a:solidFill>
                  <a:srgbClr val="FF00FF"/>
                </a:solidFill>
                <a:effectLst/>
              </a:rPr>
              <a:t> );</a:t>
            </a:r>
          </a:p>
          <a:p>
            <a:pPr marL="866775" lvl="1" indent="-344488" eaLnBrk="1" hangingPunct="1">
              <a:buFontTx/>
              <a:buNone/>
            </a:pPr>
            <a:r>
              <a:rPr lang="en-US" altLang="zh-CN" sz="2400" b="1" kern="0" dirty="0">
                <a:solidFill>
                  <a:schemeClr val="accent6">
                    <a:lumMod val="50000"/>
                  </a:schemeClr>
                </a:solidFill>
                <a:effectLst/>
                <a:latin typeface="Arial Narrow" panose="020B0606020202030204" pitchFamily="34" charset="0"/>
              </a:rPr>
              <a:t>Read the file;</a:t>
            </a:r>
          </a:p>
          <a:p>
            <a:pPr marL="866775" lvl="1" indent="-344488" eaLnBrk="1" hangingPunct="1">
              <a:buFontTx/>
              <a:buNone/>
            </a:pPr>
            <a:r>
              <a:rPr lang="en-US" altLang="zh-CN" sz="2000" kern="0" dirty="0">
                <a:solidFill>
                  <a:srgbClr val="FF00FF"/>
                </a:solidFill>
                <a:effectLst/>
              </a:rPr>
              <a:t>P(</a:t>
            </a:r>
            <a:r>
              <a:rPr lang="en-US" altLang="zh-CN" sz="2000" b="1" kern="0" dirty="0" err="1">
                <a:solidFill>
                  <a:srgbClr val="FF00FF"/>
                </a:solidFill>
                <a:effectLst/>
              </a:rPr>
              <a:t>mutexCount</a:t>
            </a:r>
            <a:r>
              <a:rPr lang="en-US" altLang="zh-CN" sz="2000" b="0" kern="0" dirty="0">
                <a:solidFill>
                  <a:srgbClr val="FF00FF"/>
                </a:solidFill>
                <a:effectLst/>
              </a:rPr>
              <a:t>);</a:t>
            </a:r>
          </a:p>
          <a:p>
            <a:pPr marL="866775" lvl="1" indent="-344488" eaLnBrk="1" hangingPunct="1">
              <a:buFontTx/>
              <a:buNone/>
            </a:pPr>
            <a:r>
              <a:rPr lang="en-US" altLang="zh-CN" sz="2000" b="0" kern="0" dirty="0" err="1">
                <a:solidFill>
                  <a:schemeClr val="bg2"/>
                </a:solidFill>
                <a:effectLst/>
              </a:rPr>
              <a:t>readCount</a:t>
            </a:r>
            <a:r>
              <a:rPr lang="en-US" altLang="zh-CN" sz="2000" b="0" kern="0" dirty="0">
                <a:solidFill>
                  <a:schemeClr val="bg2"/>
                </a:solidFill>
                <a:effectLst/>
              </a:rPr>
              <a:t>:= </a:t>
            </a:r>
            <a:r>
              <a:rPr lang="en-US" altLang="zh-CN" sz="2000" b="0" kern="0" dirty="0" err="1">
                <a:solidFill>
                  <a:schemeClr val="bg2"/>
                </a:solidFill>
                <a:effectLst/>
              </a:rPr>
              <a:t>readCount</a:t>
            </a:r>
            <a:r>
              <a:rPr lang="en-US" altLang="zh-CN" sz="2000" b="0" kern="0" dirty="0">
                <a:solidFill>
                  <a:schemeClr val="bg2"/>
                </a:solidFill>
                <a:effectLst/>
              </a:rPr>
              <a:t> -1;</a:t>
            </a:r>
          </a:p>
          <a:p>
            <a:pPr marL="866775" lvl="1" indent="-344488" eaLnBrk="1" hangingPunct="1">
              <a:buFontTx/>
              <a:buNone/>
            </a:pPr>
            <a:r>
              <a:rPr lang="en-US" altLang="zh-CN" sz="2000" b="0" kern="0" dirty="0">
                <a:solidFill>
                  <a:schemeClr val="bg2"/>
                </a:solidFill>
                <a:effectLst/>
              </a:rPr>
              <a:t>IF </a:t>
            </a:r>
            <a:r>
              <a:rPr lang="en-US" altLang="zh-CN" sz="2000" b="0" kern="0" dirty="0" err="1">
                <a:solidFill>
                  <a:schemeClr val="bg2"/>
                </a:solidFill>
                <a:effectLst/>
              </a:rPr>
              <a:t>readCount</a:t>
            </a:r>
            <a:r>
              <a:rPr lang="en-US" altLang="zh-CN" sz="2000" b="0" kern="0" dirty="0">
                <a:solidFill>
                  <a:schemeClr val="bg2"/>
                </a:solidFill>
                <a:effectLst/>
              </a:rPr>
              <a:t>= =0 THEN </a:t>
            </a:r>
            <a:r>
              <a:rPr lang="en-US" altLang="zh-CN" sz="2000" b="1" kern="0" dirty="0">
                <a:solidFill>
                  <a:srgbClr val="FF0000"/>
                </a:solidFill>
                <a:effectLst/>
              </a:rPr>
              <a:t>V(</a:t>
            </a:r>
            <a:r>
              <a:rPr lang="en-US" altLang="zh-CN" sz="2000" b="1" kern="0" dirty="0" err="1">
                <a:solidFill>
                  <a:srgbClr val="FF0000"/>
                </a:solidFill>
                <a:effectLst/>
              </a:rPr>
              <a:t>mutexW</a:t>
            </a:r>
            <a:r>
              <a:rPr lang="en-US" altLang="zh-CN" sz="2000" b="1" kern="0" dirty="0">
                <a:solidFill>
                  <a:srgbClr val="FF0000"/>
                </a:solidFill>
                <a:effectLst/>
              </a:rPr>
              <a:t>);</a:t>
            </a:r>
          </a:p>
          <a:p>
            <a:pPr marL="866775" lvl="1" indent="-344488" eaLnBrk="1" hangingPunct="1">
              <a:buFontTx/>
              <a:buNone/>
            </a:pPr>
            <a:r>
              <a:rPr lang="en-US" altLang="zh-CN" sz="2000" b="1" kern="0" dirty="0">
                <a:solidFill>
                  <a:srgbClr val="FF00FF"/>
                </a:solidFill>
                <a:effectLst/>
              </a:rPr>
              <a:t>V</a:t>
            </a:r>
            <a:r>
              <a:rPr lang="en-US" altLang="zh-CN" sz="2000" b="0" kern="0" dirty="0">
                <a:solidFill>
                  <a:srgbClr val="FF00FF"/>
                </a:solidFill>
                <a:effectLst/>
              </a:rPr>
              <a:t>(</a:t>
            </a:r>
            <a:r>
              <a:rPr lang="en-US" altLang="zh-CN" sz="2000" b="1" kern="0" dirty="0" err="1">
                <a:solidFill>
                  <a:srgbClr val="FF00FF"/>
                </a:solidFill>
                <a:effectLst/>
              </a:rPr>
              <a:t>mutexCount</a:t>
            </a:r>
            <a:r>
              <a:rPr lang="en-US" altLang="zh-CN" sz="2000" b="0" kern="0" dirty="0">
                <a:solidFill>
                  <a:srgbClr val="FF00FF"/>
                </a:solidFill>
                <a:effectLst/>
              </a:rPr>
              <a:t>);</a:t>
            </a:r>
          </a:p>
          <a:p>
            <a:pPr eaLnBrk="1" hangingPunct="1">
              <a:buFont typeface="Symbol" panose="05050102010706020507" pitchFamily="18" charset="2"/>
              <a:buNone/>
            </a:pPr>
            <a:r>
              <a:rPr lang="en-US" altLang="zh-CN" sz="2800" b="0" kern="0" dirty="0">
                <a:solidFill>
                  <a:schemeClr val="bg2"/>
                </a:solidFill>
                <a:effectLst/>
              </a:rPr>
              <a:t>ENG</a:t>
            </a:r>
          </a:p>
        </p:txBody>
      </p:sp>
      <p:sp>
        <p:nvSpPr>
          <p:cNvPr id="10" name="Text Box 11">
            <a:extLst>
              <a:ext uri="{FF2B5EF4-FFF2-40B4-BE49-F238E27FC236}">
                <a16:creationId xmlns:a16="http://schemas.microsoft.com/office/drawing/2014/main" id="{0672016C-1C2B-4E07-96D8-AF6CA942B7D3}"/>
              </a:ext>
            </a:extLst>
          </p:cNvPr>
          <p:cNvSpPr txBox="1">
            <a:spLocks noChangeArrowheads="1"/>
          </p:cNvSpPr>
          <p:nvPr/>
        </p:nvSpPr>
        <p:spPr bwMode="auto">
          <a:xfrm>
            <a:off x="988744" y="-74655"/>
            <a:ext cx="770413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b="1" dirty="0">
                <a:solidFill>
                  <a:schemeClr val="bg2"/>
                </a:solidFill>
              </a:rPr>
              <a:t>Integer </a:t>
            </a:r>
            <a:r>
              <a:rPr lang="en-US" altLang="zh-CN" sz="2400" b="1" dirty="0" err="1">
                <a:solidFill>
                  <a:schemeClr val="bg2"/>
                </a:solidFill>
              </a:rPr>
              <a:t>mutexW</a:t>
            </a:r>
            <a:r>
              <a:rPr lang="en-US" altLang="zh-CN" sz="2400" b="1" dirty="0">
                <a:solidFill>
                  <a:schemeClr val="bg2"/>
                </a:solidFill>
              </a:rPr>
              <a:t>, </a:t>
            </a:r>
            <a:r>
              <a:rPr lang="en-US" altLang="zh-CN" sz="2400" b="1" dirty="0" err="1">
                <a:solidFill>
                  <a:schemeClr val="bg2"/>
                </a:solidFill>
              </a:rPr>
              <a:t>readCount</a:t>
            </a:r>
            <a:r>
              <a:rPr lang="en-US" altLang="zh-CN" sz="2400" b="1" dirty="0">
                <a:solidFill>
                  <a:schemeClr val="bg2"/>
                </a:solidFill>
              </a:rPr>
              <a:t>,  </a:t>
            </a:r>
            <a:r>
              <a:rPr lang="en-US" altLang="zh-CN" sz="2400" b="1" dirty="0" err="1">
                <a:solidFill>
                  <a:schemeClr val="bg2"/>
                </a:solidFill>
              </a:rPr>
              <a:t>mutexCount</a:t>
            </a:r>
            <a:r>
              <a:rPr lang="en-US" altLang="zh-CN" sz="2400" b="1" dirty="0">
                <a:solidFill>
                  <a:schemeClr val="bg2"/>
                </a:solidFill>
              </a:rPr>
              <a:t>;</a:t>
            </a:r>
          </a:p>
          <a:p>
            <a:pPr eaLnBrk="1" hangingPunct="1">
              <a:spcBef>
                <a:spcPct val="0"/>
              </a:spcBef>
              <a:buClrTx/>
              <a:buSzTx/>
              <a:buFontTx/>
              <a:buNone/>
            </a:pPr>
            <a:r>
              <a:rPr lang="en-US" altLang="zh-CN" sz="2400" b="1" dirty="0" err="1">
                <a:solidFill>
                  <a:schemeClr val="bg2"/>
                </a:solidFill>
              </a:rPr>
              <a:t>mutexW</a:t>
            </a:r>
            <a:r>
              <a:rPr lang="en-US" altLang="zh-CN" sz="2400" b="1" dirty="0">
                <a:solidFill>
                  <a:schemeClr val="bg2"/>
                </a:solidFill>
              </a:rPr>
              <a:t> :=1; </a:t>
            </a:r>
            <a:r>
              <a:rPr lang="en-US" altLang="zh-CN" sz="2400" b="1" dirty="0" err="1">
                <a:solidFill>
                  <a:schemeClr val="bg2"/>
                </a:solidFill>
              </a:rPr>
              <a:t>readCount</a:t>
            </a:r>
            <a:r>
              <a:rPr lang="en-US" altLang="zh-CN" sz="2400" b="1" dirty="0">
                <a:solidFill>
                  <a:schemeClr val="bg2"/>
                </a:solidFill>
              </a:rPr>
              <a:t>:=0; </a:t>
            </a:r>
            <a:r>
              <a:rPr lang="en-US" altLang="zh-CN" sz="2400" b="1" dirty="0" err="1">
                <a:solidFill>
                  <a:schemeClr val="bg2"/>
                </a:solidFill>
              </a:rPr>
              <a:t>mutexCount</a:t>
            </a:r>
            <a:r>
              <a:rPr lang="en-US" altLang="zh-CN" sz="2400" b="1" dirty="0">
                <a:solidFill>
                  <a:schemeClr val="bg2"/>
                </a:solidFill>
              </a:rPr>
              <a:t> :=1;  </a:t>
            </a:r>
          </a:p>
        </p:txBody>
      </p:sp>
      <p:sp>
        <p:nvSpPr>
          <p:cNvPr id="11" name="Text Box 12">
            <a:extLst>
              <a:ext uri="{FF2B5EF4-FFF2-40B4-BE49-F238E27FC236}">
                <a16:creationId xmlns:a16="http://schemas.microsoft.com/office/drawing/2014/main" id="{59E1C0EB-218D-4203-94EF-89C2C56D86D5}"/>
              </a:ext>
            </a:extLst>
          </p:cNvPr>
          <p:cNvSpPr txBox="1">
            <a:spLocks noChangeArrowheads="1"/>
          </p:cNvSpPr>
          <p:nvPr/>
        </p:nvSpPr>
        <p:spPr bwMode="auto">
          <a:xfrm>
            <a:off x="5653088" y="788864"/>
            <a:ext cx="3058231" cy="2185214"/>
          </a:xfrm>
          <a:prstGeom prst="rect">
            <a:avLst/>
          </a:prstGeom>
          <a:solidFill>
            <a:schemeClr val="tx1">
              <a:lumMod val="85000"/>
            </a:schemeClr>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b="1" dirty="0">
                <a:solidFill>
                  <a:schemeClr val="bg2"/>
                </a:solidFill>
              </a:rPr>
              <a:t>Writer:</a:t>
            </a:r>
          </a:p>
          <a:p>
            <a:pPr lvl="1" eaLnBrk="1" hangingPunct="1">
              <a:spcBef>
                <a:spcPct val="0"/>
              </a:spcBef>
              <a:buFontTx/>
              <a:buNone/>
            </a:pPr>
            <a:r>
              <a:rPr lang="en-US" altLang="zh-CN" sz="2400" dirty="0">
                <a:solidFill>
                  <a:schemeClr val="bg2"/>
                </a:solidFill>
              </a:rPr>
              <a:t>BEGIN</a:t>
            </a:r>
          </a:p>
          <a:p>
            <a:pPr lvl="2" eaLnBrk="1" hangingPunct="1">
              <a:spcBef>
                <a:spcPct val="0"/>
              </a:spcBef>
              <a:buFontTx/>
              <a:buNone/>
            </a:pPr>
            <a:r>
              <a:rPr lang="en-US" altLang="zh-CN" sz="2000" b="1" dirty="0">
                <a:solidFill>
                  <a:srgbClr val="FF0000"/>
                </a:solidFill>
              </a:rPr>
              <a:t>P(</a:t>
            </a:r>
            <a:r>
              <a:rPr lang="en-US" altLang="zh-CN" sz="2000" b="1" dirty="0" err="1">
                <a:solidFill>
                  <a:srgbClr val="FF0000"/>
                </a:solidFill>
              </a:rPr>
              <a:t>mutexW</a:t>
            </a:r>
            <a:r>
              <a:rPr lang="en-US" altLang="zh-CN" sz="2000" b="1" dirty="0">
                <a:solidFill>
                  <a:srgbClr val="FF0000"/>
                </a:solidFill>
              </a:rPr>
              <a:t>);</a:t>
            </a:r>
          </a:p>
          <a:p>
            <a:pPr lvl="2" eaLnBrk="1" hangingPunct="1">
              <a:spcBef>
                <a:spcPct val="0"/>
              </a:spcBef>
              <a:buFontTx/>
              <a:buNone/>
            </a:pPr>
            <a:r>
              <a:rPr lang="en-US" altLang="zh-CN" b="1" dirty="0">
                <a:solidFill>
                  <a:schemeClr val="accent6">
                    <a:lumMod val="50000"/>
                  </a:schemeClr>
                </a:solidFill>
                <a:latin typeface="Arial Narrow" panose="020B0606020202030204" pitchFamily="34" charset="0"/>
              </a:rPr>
              <a:t>Write  the file;</a:t>
            </a:r>
          </a:p>
          <a:p>
            <a:pPr lvl="2" eaLnBrk="1" hangingPunct="1">
              <a:spcBef>
                <a:spcPct val="0"/>
              </a:spcBef>
              <a:buFontTx/>
              <a:buNone/>
            </a:pPr>
            <a:r>
              <a:rPr lang="en-US" altLang="zh-CN" sz="2000" b="1" dirty="0">
                <a:solidFill>
                  <a:srgbClr val="FF0000"/>
                </a:solidFill>
              </a:rPr>
              <a:t>V(</a:t>
            </a:r>
            <a:r>
              <a:rPr lang="en-US" altLang="zh-CN" sz="2000" b="1" dirty="0" err="1">
                <a:solidFill>
                  <a:srgbClr val="FF0000"/>
                </a:solidFill>
              </a:rPr>
              <a:t>mutexW</a:t>
            </a:r>
            <a:r>
              <a:rPr lang="en-US" altLang="zh-CN" sz="2000" b="1" dirty="0">
                <a:solidFill>
                  <a:srgbClr val="FF0000"/>
                </a:solidFill>
              </a:rPr>
              <a:t>);</a:t>
            </a:r>
          </a:p>
          <a:p>
            <a:pPr lvl="1" eaLnBrk="1" hangingPunct="1">
              <a:spcBef>
                <a:spcPct val="0"/>
              </a:spcBef>
              <a:buFontTx/>
              <a:buNone/>
            </a:pPr>
            <a:r>
              <a:rPr lang="en-US" altLang="zh-CN" sz="2400" dirty="0">
                <a:solidFill>
                  <a:schemeClr val="bg2"/>
                </a:solidFill>
              </a:rPr>
              <a:t>END </a:t>
            </a:r>
          </a:p>
        </p:txBody>
      </p:sp>
      <p:sp>
        <p:nvSpPr>
          <p:cNvPr id="12" name="AutoShape 13">
            <a:extLst>
              <a:ext uri="{FF2B5EF4-FFF2-40B4-BE49-F238E27FC236}">
                <a16:creationId xmlns:a16="http://schemas.microsoft.com/office/drawing/2014/main" id="{3F52102B-7DAD-447B-BFE1-8194071EDD03}"/>
              </a:ext>
            </a:extLst>
          </p:cNvPr>
          <p:cNvSpPr>
            <a:spLocks noChangeArrowheads="1"/>
          </p:cNvSpPr>
          <p:nvPr/>
        </p:nvSpPr>
        <p:spPr bwMode="auto">
          <a:xfrm>
            <a:off x="2916238" y="1079904"/>
            <a:ext cx="2447925" cy="576262"/>
          </a:xfrm>
          <a:prstGeom prst="wedgeRoundRectCallout">
            <a:avLst>
              <a:gd name="adj1" fmla="val -71792"/>
              <a:gd name="adj2" fmla="val 233194"/>
              <a:gd name="adj3" fmla="val 16667"/>
            </a:avLst>
          </a:prstGeom>
          <a:solidFill>
            <a:srgbClr val="D6FDFE"/>
          </a:solidFill>
          <a:ln w="12700" cap="sq">
            <a:noFill/>
            <a:miter lim="800000"/>
            <a:headEnd type="none" w="sm" len="sm"/>
            <a:tailEnd type="none" w="sm" len="sm"/>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b="1" dirty="0">
                <a:solidFill>
                  <a:schemeClr val="bg2"/>
                </a:solidFill>
                <a:latin typeface="楷体_GB2312" pitchFamily="49" charset="-122"/>
                <a:ea typeface="楷体_GB2312" pitchFamily="49" charset="-122"/>
              </a:rPr>
              <a:t>第</a:t>
            </a:r>
            <a:r>
              <a:rPr lang="en-US" altLang="zh-CN" sz="2400" b="1" dirty="0">
                <a:solidFill>
                  <a:schemeClr val="bg2"/>
                </a:solidFill>
                <a:latin typeface="楷体_GB2312" pitchFamily="49" charset="-122"/>
                <a:ea typeface="楷体_GB2312" pitchFamily="49" charset="-122"/>
              </a:rPr>
              <a:t>1</a:t>
            </a:r>
            <a:r>
              <a:rPr lang="zh-CN" altLang="en-US" sz="2400" b="1" dirty="0">
                <a:solidFill>
                  <a:schemeClr val="bg2"/>
                </a:solidFill>
                <a:latin typeface="楷体_GB2312" pitchFamily="49" charset="-122"/>
                <a:ea typeface="楷体_GB2312" pitchFamily="49" charset="-122"/>
              </a:rPr>
              <a:t>个读者进入</a:t>
            </a:r>
          </a:p>
        </p:txBody>
      </p:sp>
      <p:sp>
        <p:nvSpPr>
          <p:cNvPr id="13" name="AutoShape 14">
            <a:extLst>
              <a:ext uri="{FF2B5EF4-FFF2-40B4-BE49-F238E27FC236}">
                <a16:creationId xmlns:a16="http://schemas.microsoft.com/office/drawing/2014/main" id="{D399D114-6156-4CAD-930A-ED11CE05286C}"/>
              </a:ext>
            </a:extLst>
          </p:cNvPr>
          <p:cNvSpPr>
            <a:spLocks noChangeArrowheads="1"/>
          </p:cNvSpPr>
          <p:nvPr/>
        </p:nvSpPr>
        <p:spPr bwMode="auto">
          <a:xfrm>
            <a:off x="2679556" y="5138359"/>
            <a:ext cx="2736379" cy="522889"/>
          </a:xfrm>
          <a:prstGeom prst="wedgeRoundRectCallout">
            <a:avLst>
              <a:gd name="adj1" fmla="val -60347"/>
              <a:gd name="adj2" fmla="val -127775"/>
              <a:gd name="adj3" fmla="val 16667"/>
            </a:avLst>
          </a:prstGeom>
          <a:solidFill>
            <a:srgbClr val="D6FDFE"/>
          </a:solidFill>
          <a:ln w="12700" cap="sq">
            <a:noFill/>
            <a:miter lim="800000"/>
            <a:headEnd type="none" w="sm" len="sm"/>
            <a:tailEnd type="none" w="sm" len="sm"/>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b="1" dirty="0">
                <a:solidFill>
                  <a:schemeClr val="bg2"/>
                </a:solidFill>
                <a:ea typeface="楷体_GB2312" pitchFamily="49" charset="-122"/>
              </a:rPr>
              <a:t>最后一个读者退出</a:t>
            </a:r>
          </a:p>
        </p:txBody>
      </p:sp>
      <p:sp>
        <p:nvSpPr>
          <p:cNvPr id="15" name="文本框 14">
            <a:extLst>
              <a:ext uri="{FF2B5EF4-FFF2-40B4-BE49-F238E27FC236}">
                <a16:creationId xmlns:a16="http://schemas.microsoft.com/office/drawing/2014/main" id="{AE15DF3D-7234-4438-84B4-24B84E478834}"/>
              </a:ext>
            </a:extLst>
          </p:cNvPr>
          <p:cNvSpPr txBox="1"/>
          <p:nvPr/>
        </p:nvSpPr>
        <p:spPr>
          <a:xfrm>
            <a:off x="554088" y="6158028"/>
            <a:ext cx="8208912" cy="584775"/>
          </a:xfrm>
          <a:prstGeom prst="rect">
            <a:avLst/>
          </a:prstGeom>
          <a:solidFill>
            <a:srgbClr val="CCFF33"/>
          </a:solidFill>
        </p:spPr>
        <p:txBody>
          <a:bodyPr wrap="square" rtlCol="0">
            <a:spAutoFit/>
          </a:bodyPr>
          <a:lstStyle/>
          <a:p>
            <a:pPr algn="ctr"/>
            <a:r>
              <a:rPr lang="zh-CN" altLang="en-US" sz="3200" b="1" dirty="0">
                <a:solidFill>
                  <a:schemeClr val="bg2"/>
                </a:solidFill>
                <a:effectLst>
                  <a:outerShdw blurRad="38100" dist="38100" dir="2700000" algn="tl">
                    <a:srgbClr val="000000">
                      <a:alpha val="43137"/>
                    </a:srgbClr>
                  </a:outerShdw>
                </a:effectLst>
              </a:rPr>
              <a:t>如果一直有读者在读，写者没有机会写</a:t>
            </a:r>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471052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dissolv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dissolve">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dissolve">
                                      <p:cBhvr>
                                        <p:cTn id="22" dur="500"/>
                                        <p:tgtEl>
                                          <p:spTgt spid="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dissolve">
                                      <p:cBhvr>
                                        <p:cTn id="27" dur="500"/>
                                        <p:tgtEl>
                                          <p:spTgt spid="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9">
                                            <p:txEl>
                                              <p:pRg st="6" end="6"/>
                                            </p:txEl>
                                          </p:spTgt>
                                        </p:tgtEl>
                                        <p:attrNameLst>
                                          <p:attrName>style.visibility</p:attrName>
                                        </p:attrNameLst>
                                      </p:cBhvr>
                                      <p:to>
                                        <p:strVal val="visible"/>
                                      </p:to>
                                    </p:set>
                                    <p:animEffect transition="in" filter="dissolve">
                                      <p:cBhvr>
                                        <p:cTn id="32" dur="500"/>
                                        <p:tgtEl>
                                          <p:spTgt spid="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9">
                                            <p:txEl>
                                              <p:pRg st="7" end="7"/>
                                            </p:txEl>
                                          </p:spTgt>
                                        </p:tgtEl>
                                        <p:attrNameLst>
                                          <p:attrName>style.visibility</p:attrName>
                                        </p:attrNameLst>
                                      </p:cBhvr>
                                      <p:to>
                                        <p:strVal val="visible"/>
                                      </p:to>
                                    </p:set>
                                    <p:animEffect transition="in" filter="dissolve">
                                      <p:cBhvr>
                                        <p:cTn id="37" dur="500"/>
                                        <p:tgtEl>
                                          <p:spTgt spid="9">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9">
                                            <p:txEl>
                                              <p:pRg st="8" end="8"/>
                                            </p:txEl>
                                          </p:spTgt>
                                        </p:tgtEl>
                                        <p:attrNameLst>
                                          <p:attrName>style.visibility</p:attrName>
                                        </p:attrNameLst>
                                      </p:cBhvr>
                                      <p:to>
                                        <p:strVal val="visible"/>
                                      </p:to>
                                    </p:set>
                                    <p:animEffect transition="in" filter="dissolve">
                                      <p:cBhvr>
                                        <p:cTn id="42" dur="500"/>
                                        <p:tgtEl>
                                          <p:spTgt spid="9">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9">
                                            <p:txEl>
                                              <p:pRg st="9" end="9"/>
                                            </p:txEl>
                                          </p:spTgt>
                                        </p:tgtEl>
                                        <p:attrNameLst>
                                          <p:attrName>style.visibility</p:attrName>
                                        </p:attrNameLst>
                                      </p:cBhvr>
                                      <p:to>
                                        <p:strVal val="visible"/>
                                      </p:to>
                                    </p:set>
                                    <p:animEffect transition="in" filter="dissolve">
                                      <p:cBhvr>
                                        <p:cTn id="47" dur="500"/>
                                        <p:tgtEl>
                                          <p:spTgt spid="9">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9">
                                            <p:txEl>
                                              <p:pRg st="10" end="10"/>
                                            </p:txEl>
                                          </p:spTgt>
                                        </p:tgtEl>
                                        <p:attrNameLst>
                                          <p:attrName>style.visibility</p:attrName>
                                        </p:attrNameLst>
                                      </p:cBhvr>
                                      <p:to>
                                        <p:strVal val="visible"/>
                                      </p:to>
                                    </p:set>
                                    <p:animEffect transition="in" filter="dissolve">
                                      <p:cBhvr>
                                        <p:cTn id="52" dur="500"/>
                                        <p:tgtEl>
                                          <p:spTgt spid="9">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200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20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dissolve">
                                      <p:cBhvr>
                                        <p:cTn id="67" dur="500"/>
                                        <p:tgtEl>
                                          <p:spTgt spid="15"/>
                                        </p:tgtEl>
                                      </p:cBhvr>
                                    </p:animEffect>
                                  </p:childTnLst>
                                </p:cTn>
                              </p:par>
                            </p:childTnLst>
                          </p:cTn>
                        </p:par>
                        <p:par>
                          <p:cTn id="68" fill="hold">
                            <p:stCondLst>
                              <p:cond delay="500"/>
                            </p:stCondLst>
                            <p:childTnLst>
                              <p:par>
                                <p:cTn id="69" presetID="2" presetClass="entr" presetSubtype="6" fill="hold" grpId="0" nodeType="afterEffect">
                                  <p:stCondLst>
                                    <p:cond delay="0"/>
                                  </p:stCondLst>
                                  <p:childTnLst>
                                    <p:set>
                                      <p:cBhvr>
                                        <p:cTn id="70" dur="1" fill="hold">
                                          <p:stCondLst>
                                            <p:cond delay="0"/>
                                          </p:stCondLst>
                                        </p:cTn>
                                        <p:tgtEl>
                                          <p:spTgt spid="8"/>
                                        </p:tgtEl>
                                        <p:attrNameLst>
                                          <p:attrName>style.visibility</p:attrName>
                                        </p:attrNameLst>
                                      </p:cBhvr>
                                      <p:to>
                                        <p:strVal val="visible"/>
                                      </p:to>
                                    </p:set>
                                    <p:anim calcmode="lin" valueType="num">
                                      <p:cBhvr additive="base">
                                        <p:cTn id="71" dur="500" fill="hold"/>
                                        <p:tgtEl>
                                          <p:spTgt spid="8"/>
                                        </p:tgtEl>
                                        <p:attrNameLst>
                                          <p:attrName>ppt_x</p:attrName>
                                        </p:attrNameLst>
                                      </p:cBhvr>
                                      <p:tavLst>
                                        <p:tav tm="0">
                                          <p:val>
                                            <p:strVal val="1+#ppt_w/2"/>
                                          </p:val>
                                        </p:tav>
                                        <p:tav tm="100000">
                                          <p:val>
                                            <p:strVal val="#ppt_x"/>
                                          </p:val>
                                        </p:tav>
                                      </p:tavLst>
                                    </p:anim>
                                    <p:anim calcmode="lin" valueType="num">
                                      <p:cBhvr additive="base">
                                        <p:cTn id="7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5" grpId="0" animBg="1"/>
      <p:bldP spid="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728A193F-9E9B-4F12-ACCD-C15CE7BE6A9A}"/>
              </a:ext>
            </a:extLst>
          </p:cNvPr>
          <p:cNvSpPr txBox="1">
            <a:spLocks noChangeArrowheads="1"/>
          </p:cNvSpPr>
          <p:nvPr/>
        </p:nvSpPr>
        <p:spPr>
          <a:xfrm>
            <a:off x="6096" y="814102"/>
            <a:ext cx="6006064" cy="936625"/>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indent="0" eaLnBrk="1" hangingPunct="1">
              <a:spcBef>
                <a:spcPct val="0"/>
              </a:spcBef>
              <a:buFont typeface="Symbol" panose="05050102010706020507" pitchFamily="18" charset="2"/>
              <a:buNone/>
              <a:defRPr/>
            </a:pPr>
            <a:r>
              <a:rPr lang="zh-CN" altLang="en-US" sz="2800" dirty="0">
                <a:solidFill>
                  <a:schemeClr val="bg2"/>
                </a:solidFill>
                <a:effectLst/>
                <a:latin typeface="Times New Roman" panose="02020603050405020304" pitchFamily="18" charset="0"/>
                <a:ea typeface="宋体" panose="02010600030101010101" pitchFamily="2" charset="-122"/>
              </a:rPr>
              <a:t>为提高写者的优先级，增加信号量 </a:t>
            </a:r>
            <a:r>
              <a:rPr lang="en-US" altLang="zh-CN" sz="2800" dirty="0">
                <a:solidFill>
                  <a:srgbClr val="6600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W</a:t>
            </a:r>
            <a:r>
              <a:rPr lang="zh-CN" altLang="en-US" sz="2800" dirty="0">
                <a:solidFill>
                  <a:schemeClr val="bg2"/>
                </a:solidFill>
                <a:effectLst/>
                <a:latin typeface="Times New Roman" panose="02020603050405020304" pitchFamily="18" charset="0"/>
                <a:ea typeface="宋体" panose="02010600030101010101" pitchFamily="2" charset="-122"/>
              </a:rPr>
              <a:t>，</a:t>
            </a:r>
          </a:p>
          <a:p>
            <a:pPr marL="0" indent="0" eaLnBrk="1" hangingPunct="1">
              <a:spcBef>
                <a:spcPct val="0"/>
              </a:spcBef>
              <a:buFont typeface="Symbol" panose="05050102010706020507" pitchFamily="18" charset="2"/>
              <a:buNone/>
              <a:defRPr/>
            </a:pPr>
            <a:r>
              <a:rPr lang="zh-CN" altLang="en-US" sz="2800" dirty="0">
                <a:solidFill>
                  <a:srgbClr val="6600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在写进程到达时封锁后续的读进程。 </a:t>
            </a:r>
          </a:p>
        </p:txBody>
      </p:sp>
      <p:sp>
        <p:nvSpPr>
          <p:cNvPr id="5" name="Rectangle 5">
            <a:extLst>
              <a:ext uri="{FF2B5EF4-FFF2-40B4-BE49-F238E27FC236}">
                <a16:creationId xmlns:a16="http://schemas.microsoft.com/office/drawing/2014/main" id="{EC08F393-ABFB-42DB-BED5-8F5B745909BF}"/>
              </a:ext>
            </a:extLst>
          </p:cNvPr>
          <p:cNvSpPr>
            <a:spLocks noChangeArrowheads="1"/>
          </p:cNvSpPr>
          <p:nvPr/>
        </p:nvSpPr>
        <p:spPr bwMode="auto">
          <a:xfrm>
            <a:off x="6096" y="-53975"/>
            <a:ext cx="9144000" cy="865188"/>
          </a:xfrm>
          <a:prstGeom prst="rect">
            <a:avLst/>
          </a:prstGeom>
          <a:solidFill>
            <a:srgbClr val="BDCDFF"/>
          </a:solidFill>
          <a:ln>
            <a:noFill/>
          </a:ln>
          <a:extLst/>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b="1" dirty="0">
                <a:solidFill>
                  <a:schemeClr val="bg2"/>
                </a:solidFill>
              </a:rPr>
              <a:t>修改算法：对写者优先，即</a:t>
            </a:r>
            <a:r>
              <a:rPr lang="zh-CN" altLang="en-US" sz="2800" b="1" dirty="0">
                <a:solidFill>
                  <a:schemeClr val="bg2"/>
                </a:solidFill>
                <a:effectLst>
                  <a:outerShdw blurRad="38100" dist="38100" dir="2700000" algn="tl">
                    <a:srgbClr val="000000">
                      <a:alpha val="43137"/>
                    </a:srgbClr>
                  </a:outerShdw>
                </a:effectLst>
              </a:rPr>
              <a:t>一旦有写者到达，后续的读者都必须等待</a:t>
            </a:r>
            <a:r>
              <a:rPr lang="zh-CN" altLang="en-US" sz="2800" b="1" dirty="0">
                <a:solidFill>
                  <a:schemeClr val="bg2"/>
                </a:solidFill>
              </a:rPr>
              <a:t>，而无论是否有读者在读文件。</a:t>
            </a:r>
          </a:p>
        </p:txBody>
      </p:sp>
      <p:sp>
        <p:nvSpPr>
          <p:cNvPr id="6" name="Rectangle 6">
            <a:extLst>
              <a:ext uri="{FF2B5EF4-FFF2-40B4-BE49-F238E27FC236}">
                <a16:creationId xmlns:a16="http://schemas.microsoft.com/office/drawing/2014/main" id="{338EFCE0-F09C-42CD-A351-DEE6954FFA05}"/>
              </a:ext>
            </a:extLst>
          </p:cNvPr>
          <p:cNvSpPr>
            <a:spLocks noChangeArrowheads="1"/>
          </p:cNvSpPr>
          <p:nvPr/>
        </p:nvSpPr>
        <p:spPr bwMode="auto">
          <a:xfrm>
            <a:off x="6096" y="1943894"/>
            <a:ext cx="5184775" cy="4941887"/>
          </a:xfrm>
          <a:prstGeom prst="rect">
            <a:avLst/>
          </a:prstGeom>
          <a:solidFill>
            <a:schemeClr val="tx1">
              <a:lumMod val="85000"/>
            </a:schemeClr>
          </a:solidFill>
          <a:ln>
            <a:noFill/>
          </a:ln>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866775" indent="-344488">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buFont typeface="Symbol" panose="05050102010706020507" pitchFamily="18" charset="2"/>
              <a:buNone/>
            </a:pPr>
            <a:r>
              <a:rPr lang="en-US" altLang="zh-CN" sz="2400" b="1" dirty="0">
                <a:solidFill>
                  <a:schemeClr val="bg2"/>
                </a:solidFill>
              </a:rPr>
              <a:t>Reader:</a:t>
            </a:r>
          </a:p>
          <a:p>
            <a:pPr eaLnBrk="1" hangingPunct="1">
              <a:spcBef>
                <a:spcPct val="25000"/>
              </a:spcBef>
              <a:buFont typeface="Symbol" panose="05050102010706020507" pitchFamily="18" charset="2"/>
              <a:buNone/>
            </a:pPr>
            <a:r>
              <a:rPr lang="en-US" altLang="zh-CN" sz="1800" dirty="0">
                <a:solidFill>
                  <a:schemeClr val="bg2"/>
                </a:solidFill>
              </a:rPr>
              <a:t>BEGIN</a:t>
            </a:r>
          </a:p>
          <a:p>
            <a:pPr lvl="1" eaLnBrk="1" hangingPunct="1">
              <a:spcBef>
                <a:spcPts val="1800"/>
              </a:spcBef>
              <a:buFontTx/>
              <a:buNone/>
            </a:pPr>
            <a:r>
              <a:rPr lang="en-US" altLang="zh-CN" sz="1800" dirty="0">
                <a:solidFill>
                  <a:schemeClr val="bg2"/>
                </a:solidFill>
              </a:rPr>
              <a:t>P(</a:t>
            </a:r>
            <a:r>
              <a:rPr lang="en-US" altLang="zh-CN" sz="1800" b="1" dirty="0" err="1">
                <a:solidFill>
                  <a:schemeClr val="bg2"/>
                </a:solidFill>
              </a:rPr>
              <a:t>mutexCount</a:t>
            </a:r>
            <a:r>
              <a:rPr lang="en-US" altLang="zh-CN" sz="1800" dirty="0">
                <a:solidFill>
                  <a:schemeClr val="bg2"/>
                </a:solidFill>
              </a:rPr>
              <a:t>);</a:t>
            </a:r>
          </a:p>
          <a:p>
            <a:pPr lvl="1" eaLnBrk="1" hangingPunct="1">
              <a:spcBef>
                <a:spcPct val="50000"/>
              </a:spcBef>
              <a:buFontTx/>
              <a:buNone/>
            </a:pPr>
            <a:r>
              <a:rPr lang="en-US" altLang="zh-CN" sz="1800" dirty="0" err="1">
                <a:solidFill>
                  <a:schemeClr val="bg2"/>
                </a:solidFill>
              </a:rPr>
              <a:t>readCount</a:t>
            </a:r>
            <a:r>
              <a:rPr lang="en-US" altLang="zh-CN" sz="1800" dirty="0">
                <a:solidFill>
                  <a:schemeClr val="bg2"/>
                </a:solidFill>
              </a:rPr>
              <a:t>:= </a:t>
            </a:r>
            <a:r>
              <a:rPr lang="en-US" altLang="zh-CN" sz="1800" dirty="0" err="1">
                <a:solidFill>
                  <a:schemeClr val="bg2"/>
                </a:solidFill>
              </a:rPr>
              <a:t>readCount</a:t>
            </a:r>
            <a:r>
              <a:rPr lang="en-US" altLang="zh-CN" sz="1800" dirty="0">
                <a:solidFill>
                  <a:schemeClr val="bg2"/>
                </a:solidFill>
              </a:rPr>
              <a:t> +1;</a:t>
            </a:r>
          </a:p>
          <a:p>
            <a:pPr marL="914400" lvl="2" indent="0" eaLnBrk="1" hangingPunct="1">
              <a:spcBef>
                <a:spcPct val="30000"/>
              </a:spcBef>
              <a:buNone/>
            </a:pPr>
            <a:r>
              <a:rPr lang="en-US" altLang="zh-CN" sz="1800" dirty="0">
                <a:solidFill>
                  <a:schemeClr val="bg2"/>
                </a:solidFill>
              </a:rPr>
              <a:t>IF </a:t>
            </a:r>
            <a:r>
              <a:rPr lang="en-US" altLang="zh-CN" sz="1800" dirty="0" err="1">
                <a:solidFill>
                  <a:schemeClr val="bg2"/>
                </a:solidFill>
              </a:rPr>
              <a:t>readCount</a:t>
            </a:r>
            <a:r>
              <a:rPr lang="en-US" altLang="zh-CN" sz="1800" dirty="0">
                <a:solidFill>
                  <a:schemeClr val="bg2"/>
                </a:solidFill>
              </a:rPr>
              <a:t>= =1 THEN   </a:t>
            </a:r>
            <a:r>
              <a:rPr lang="en-US" altLang="zh-CN" sz="2000" dirty="0">
                <a:solidFill>
                  <a:srgbClr val="FF0000"/>
                </a:solidFill>
              </a:rPr>
              <a:t>P(</a:t>
            </a:r>
            <a:r>
              <a:rPr lang="en-US" altLang="zh-CN" sz="2000" dirty="0" err="1">
                <a:solidFill>
                  <a:srgbClr val="FF0000"/>
                </a:solidFill>
              </a:rPr>
              <a:t>mutexW</a:t>
            </a:r>
            <a:r>
              <a:rPr lang="en-US" altLang="zh-CN" sz="2000" dirty="0">
                <a:solidFill>
                  <a:srgbClr val="FF0000"/>
                </a:solidFill>
              </a:rPr>
              <a:t>);</a:t>
            </a:r>
          </a:p>
          <a:p>
            <a:pPr lvl="1" eaLnBrk="1" hangingPunct="1">
              <a:spcBef>
                <a:spcPct val="50000"/>
              </a:spcBef>
              <a:buFontTx/>
              <a:buNone/>
            </a:pPr>
            <a:r>
              <a:rPr lang="en-US" altLang="zh-CN" sz="1800" dirty="0">
                <a:solidFill>
                  <a:schemeClr val="bg2"/>
                </a:solidFill>
              </a:rPr>
              <a:t>V(</a:t>
            </a:r>
            <a:r>
              <a:rPr lang="en-US" altLang="zh-CN" sz="1800" b="1" dirty="0" err="1">
                <a:solidFill>
                  <a:schemeClr val="bg2"/>
                </a:solidFill>
              </a:rPr>
              <a:t>mutexCount</a:t>
            </a:r>
            <a:r>
              <a:rPr lang="en-US" altLang="zh-CN" sz="1800" dirty="0">
                <a:solidFill>
                  <a:schemeClr val="bg2"/>
                </a:solidFill>
              </a:rPr>
              <a:t> );</a:t>
            </a:r>
          </a:p>
          <a:p>
            <a:pPr lvl="1" eaLnBrk="1" hangingPunct="1">
              <a:spcBef>
                <a:spcPts val="2400"/>
              </a:spcBef>
              <a:buFontTx/>
              <a:buNone/>
            </a:pPr>
            <a:r>
              <a:rPr lang="en-US" altLang="zh-CN" sz="2400" b="1" dirty="0">
                <a:solidFill>
                  <a:schemeClr val="bg2"/>
                </a:solidFill>
                <a:latin typeface="Arial Narrow" panose="020B0606020202030204" pitchFamily="34" charset="0"/>
              </a:rPr>
              <a:t>Reading the file;</a:t>
            </a:r>
          </a:p>
          <a:p>
            <a:pPr lvl="1" eaLnBrk="1" hangingPunct="1">
              <a:spcBef>
                <a:spcPct val="50000"/>
              </a:spcBef>
              <a:buFontTx/>
              <a:buNone/>
            </a:pPr>
            <a:r>
              <a:rPr lang="en-US" altLang="zh-CN" sz="1800" dirty="0">
                <a:solidFill>
                  <a:schemeClr val="bg2"/>
                </a:solidFill>
              </a:rPr>
              <a:t>P(</a:t>
            </a:r>
            <a:r>
              <a:rPr lang="en-US" altLang="zh-CN" sz="1800" b="1" dirty="0" err="1">
                <a:solidFill>
                  <a:schemeClr val="bg2"/>
                </a:solidFill>
              </a:rPr>
              <a:t>mutexCount</a:t>
            </a:r>
            <a:r>
              <a:rPr lang="en-US" altLang="zh-CN" sz="1800" dirty="0">
                <a:solidFill>
                  <a:schemeClr val="bg2"/>
                </a:solidFill>
              </a:rPr>
              <a:t>);</a:t>
            </a:r>
          </a:p>
          <a:p>
            <a:pPr lvl="1" eaLnBrk="1" hangingPunct="1">
              <a:spcBef>
                <a:spcPct val="50000"/>
              </a:spcBef>
              <a:buFontTx/>
              <a:buNone/>
            </a:pPr>
            <a:r>
              <a:rPr lang="en-US" altLang="zh-CN" sz="1800" dirty="0" err="1">
                <a:solidFill>
                  <a:schemeClr val="bg2"/>
                </a:solidFill>
              </a:rPr>
              <a:t>readCount</a:t>
            </a:r>
            <a:r>
              <a:rPr lang="en-US" altLang="zh-CN" sz="1800" dirty="0">
                <a:solidFill>
                  <a:schemeClr val="bg2"/>
                </a:solidFill>
              </a:rPr>
              <a:t>:= </a:t>
            </a:r>
            <a:r>
              <a:rPr lang="en-US" altLang="zh-CN" sz="1800" dirty="0" err="1">
                <a:solidFill>
                  <a:schemeClr val="bg2"/>
                </a:solidFill>
              </a:rPr>
              <a:t>readCount</a:t>
            </a:r>
            <a:r>
              <a:rPr lang="en-US" altLang="zh-CN" sz="1800" dirty="0">
                <a:solidFill>
                  <a:schemeClr val="bg2"/>
                </a:solidFill>
              </a:rPr>
              <a:t> -1;</a:t>
            </a:r>
          </a:p>
          <a:p>
            <a:pPr marL="914400" lvl="2" indent="0" eaLnBrk="1" hangingPunct="1">
              <a:spcBef>
                <a:spcPct val="30000"/>
              </a:spcBef>
              <a:buNone/>
            </a:pPr>
            <a:r>
              <a:rPr lang="en-US" altLang="zh-CN" sz="1800" dirty="0">
                <a:solidFill>
                  <a:schemeClr val="bg2"/>
                </a:solidFill>
              </a:rPr>
              <a:t>IF </a:t>
            </a:r>
            <a:r>
              <a:rPr lang="en-US" altLang="zh-CN" sz="1800" dirty="0" err="1">
                <a:solidFill>
                  <a:schemeClr val="bg2"/>
                </a:solidFill>
              </a:rPr>
              <a:t>readCount</a:t>
            </a:r>
            <a:r>
              <a:rPr lang="en-US" altLang="zh-CN" sz="1800" dirty="0">
                <a:solidFill>
                  <a:schemeClr val="bg2"/>
                </a:solidFill>
              </a:rPr>
              <a:t>= =0 THEN </a:t>
            </a:r>
            <a:r>
              <a:rPr lang="en-US" altLang="zh-CN" sz="2000" dirty="0">
                <a:solidFill>
                  <a:srgbClr val="FF0000"/>
                </a:solidFill>
              </a:rPr>
              <a:t>V(</a:t>
            </a:r>
            <a:r>
              <a:rPr lang="en-US" altLang="zh-CN" sz="2000" dirty="0" err="1">
                <a:solidFill>
                  <a:srgbClr val="FF0000"/>
                </a:solidFill>
              </a:rPr>
              <a:t>mutexW</a:t>
            </a:r>
            <a:r>
              <a:rPr lang="en-US" altLang="zh-CN" sz="2000" dirty="0">
                <a:solidFill>
                  <a:srgbClr val="FF0000"/>
                </a:solidFill>
              </a:rPr>
              <a:t>);</a:t>
            </a:r>
          </a:p>
          <a:p>
            <a:pPr lvl="1" eaLnBrk="1" hangingPunct="1">
              <a:spcBef>
                <a:spcPct val="50000"/>
              </a:spcBef>
              <a:buFontTx/>
              <a:buNone/>
            </a:pPr>
            <a:r>
              <a:rPr lang="en-US" altLang="zh-CN" sz="1800" dirty="0">
                <a:solidFill>
                  <a:schemeClr val="bg2"/>
                </a:solidFill>
              </a:rPr>
              <a:t>V(</a:t>
            </a:r>
            <a:r>
              <a:rPr lang="en-US" altLang="zh-CN" sz="1800" b="1" dirty="0" err="1">
                <a:solidFill>
                  <a:schemeClr val="bg2"/>
                </a:solidFill>
              </a:rPr>
              <a:t>mutexCount</a:t>
            </a:r>
            <a:r>
              <a:rPr lang="en-US" altLang="zh-CN" sz="1800" dirty="0">
                <a:solidFill>
                  <a:schemeClr val="bg2"/>
                </a:solidFill>
              </a:rPr>
              <a:t>);</a:t>
            </a:r>
          </a:p>
          <a:p>
            <a:pPr eaLnBrk="1" hangingPunct="1">
              <a:spcBef>
                <a:spcPts val="0"/>
              </a:spcBef>
              <a:buFont typeface="Symbol" panose="05050102010706020507" pitchFamily="18" charset="2"/>
              <a:buNone/>
            </a:pPr>
            <a:r>
              <a:rPr lang="en-US" altLang="zh-CN" sz="1800" dirty="0">
                <a:solidFill>
                  <a:schemeClr val="bg2"/>
                </a:solidFill>
              </a:rPr>
              <a:t>END</a:t>
            </a:r>
          </a:p>
        </p:txBody>
      </p:sp>
      <p:sp>
        <p:nvSpPr>
          <p:cNvPr id="7" name="Rectangle 7">
            <a:extLst>
              <a:ext uri="{FF2B5EF4-FFF2-40B4-BE49-F238E27FC236}">
                <a16:creationId xmlns:a16="http://schemas.microsoft.com/office/drawing/2014/main" id="{7EC0AD8A-DC49-4568-A3D3-F5BA6E83AFAE}"/>
              </a:ext>
            </a:extLst>
          </p:cNvPr>
          <p:cNvSpPr>
            <a:spLocks noChangeArrowheads="1"/>
          </p:cNvSpPr>
          <p:nvPr/>
        </p:nvSpPr>
        <p:spPr bwMode="auto">
          <a:xfrm>
            <a:off x="568126" y="2545892"/>
            <a:ext cx="846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Symbol" panose="05050102010706020507" pitchFamily="18" charset="2"/>
              <a:buNone/>
            </a:pPr>
            <a:r>
              <a:rPr lang="en-US" altLang="zh-CN" sz="2000" b="1" dirty="0">
                <a:solidFill>
                  <a:srgbClr val="6600CC"/>
                </a:solidFill>
              </a:rPr>
              <a:t>P(W);</a:t>
            </a:r>
          </a:p>
        </p:txBody>
      </p:sp>
      <p:sp>
        <p:nvSpPr>
          <p:cNvPr id="8" name="Rectangle 8">
            <a:extLst>
              <a:ext uri="{FF2B5EF4-FFF2-40B4-BE49-F238E27FC236}">
                <a16:creationId xmlns:a16="http://schemas.microsoft.com/office/drawing/2014/main" id="{51D7B15B-9DFE-41CB-9668-054CEA06AABB}"/>
              </a:ext>
            </a:extLst>
          </p:cNvPr>
          <p:cNvSpPr>
            <a:spLocks noChangeArrowheads="1"/>
          </p:cNvSpPr>
          <p:nvPr/>
        </p:nvSpPr>
        <p:spPr bwMode="auto">
          <a:xfrm>
            <a:off x="539552" y="4355702"/>
            <a:ext cx="8747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en-US" altLang="zh-CN" sz="2000" dirty="0">
                <a:solidFill>
                  <a:srgbClr val="6600CC"/>
                </a:solidFill>
              </a:rPr>
              <a:t>V(W);</a:t>
            </a:r>
          </a:p>
        </p:txBody>
      </p:sp>
      <p:sp>
        <p:nvSpPr>
          <p:cNvPr id="9" name="Text Box 9">
            <a:extLst>
              <a:ext uri="{FF2B5EF4-FFF2-40B4-BE49-F238E27FC236}">
                <a16:creationId xmlns:a16="http://schemas.microsoft.com/office/drawing/2014/main" id="{849956C8-E14E-4B9D-96E9-8622AF669BB1}"/>
              </a:ext>
            </a:extLst>
          </p:cNvPr>
          <p:cNvSpPr txBox="1">
            <a:spLocks noChangeArrowheads="1"/>
          </p:cNvSpPr>
          <p:nvPr/>
        </p:nvSpPr>
        <p:spPr bwMode="auto">
          <a:xfrm>
            <a:off x="6141817" y="838996"/>
            <a:ext cx="2878621" cy="2954655"/>
          </a:xfrm>
          <a:prstGeom prst="rect">
            <a:avLst/>
          </a:prstGeom>
          <a:solidFill>
            <a:schemeClr val="tx1">
              <a:lumMod val="85000"/>
            </a:schemeClr>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b="1" dirty="0">
                <a:solidFill>
                  <a:schemeClr val="bg2"/>
                </a:solidFill>
              </a:rPr>
              <a:t>Writer:</a:t>
            </a:r>
          </a:p>
          <a:p>
            <a:pPr lvl="1" eaLnBrk="1" hangingPunct="1">
              <a:spcBef>
                <a:spcPct val="0"/>
              </a:spcBef>
              <a:buFontTx/>
              <a:buNone/>
            </a:pPr>
            <a:r>
              <a:rPr lang="en-US" altLang="zh-CN" sz="2400" dirty="0">
                <a:solidFill>
                  <a:schemeClr val="bg2"/>
                </a:solidFill>
              </a:rPr>
              <a:t>BEGIN</a:t>
            </a:r>
          </a:p>
          <a:p>
            <a:pPr lvl="2" eaLnBrk="1" hangingPunct="1">
              <a:spcBef>
                <a:spcPct val="0"/>
              </a:spcBef>
              <a:buFontTx/>
              <a:buNone/>
            </a:pPr>
            <a:endParaRPr lang="en-US" altLang="zh-CN" sz="2000" dirty="0">
              <a:solidFill>
                <a:schemeClr val="bg2"/>
              </a:solidFill>
            </a:endParaRPr>
          </a:p>
          <a:p>
            <a:pPr lvl="2" eaLnBrk="1" hangingPunct="1">
              <a:spcBef>
                <a:spcPct val="30000"/>
              </a:spcBef>
              <a:buFontTx/>
              <a:buNone/>
            </a:pPr>
            <a:r>
              <a:rPr lang="en-US" altLang="zh-CN" sz="2000" b="1" dirty="0">
                <a:solidFill>
                  <a:srgbClr val="FF0000"/>
                </a:solidFill>
              </a:rPr>
              <a:t>P(</a:t>
            </a:r>
            <a:r>
              <a:rPr lang="en-US" altLang="zh-CN" sz="2000" b="1" dirty="0" err="1">
                <a:solidFill>
                  <a:srgbClr val="FF0000"/>
                </a:solidFill>
              </a:rPr>
              <a:t>mutexW</a:t>
            </a:r>
            <a:r>
              <a:rPr lang="en-US" altLang="zh-CN" sz="2000" b="1" dirty="0">
                <a:solidFill>
                  <a:srgbClr val="FF0000"/>
                </a:solidFill>
              </a:rPr>
              <a:t>);</a:t>
            </a:r>
          </a:p>
          <a:p>
            <a:pPr lvl="2" eaLnBrk="1" hangingPunct="1">
              <a:spcBef>
                <a:spcPct val="0"/>
              </a:spcBef>
              <a:buFontTx/>
              <a:buNone/>
            </a:pPr>
            <a:r>
              <a:rPr lang="en-US" altLang="zh-CN" b="1" dirty="0" err="1">
                <a:solidFill>
                  <a:schemeClr val="bg2"/>
                </a:solidFill>
                <a:latin typeface="Arial Narrow" panose="020B0606020202030204" pitchFamily="34" charset="0"/>
              </a:rPr>
              <a:t>Wrinter</a:t>
            </a:r>
            <a:r>
              <a:rPr lang="en-US" altLang="zh-CN" b="1" dirty="0">
                <a:solidFill>
                  <a:schemeClr val="bg2"/>
                </a:solidFill>
                <a:latin typeface="Arial Narrow" panose="020B0606020202030204" pitchFamily="34" charset="0"/>
              </a:rPr>
              <a:t> the file;</a:t>
            </a:r>
          </a:p>
          <a:p>
            <a:pPr lvl="2" eaLnBrk="1" hangingPunct="1">
              <a:spcBef>
                <a:spcPts val="0"/>
              </a:spcBef>
              <a:buNone/>
            </a:pPr>
            <a:r>
              <a:rPr lang="en-US" altLang="zh-CN" sz="2000" dirty="0">
                <a:solidFill>
                  <a:srgbClr val="FF0000"/>
                </a:solidFill>
              </a:rPr>
              <a:t>V(</a:t>
            </a:r>
            <a:r>
              <a:rPr lang="en-US" altLang="zh-CN" sz="2000" dirty="0" err="1">
                <a:solidFill>
                  <a:srgbClr val="FF0000"/>
                </a:solidFill>
              </a:rPr>
              <a:t>mutexW</a:t>
            </a:r>
            <a:r>
              <a:rPr lang="en-US" altLang="zh-CN" sz="2000" dirty="0">
                <a:solidFill>
                  <a:srgbClr val="FF0000"/>
                </a:solidFill>
              </a:rPr>
              <a:t>);</a:t>
            </a:r>
          </a:p>
          <a:p>
            <a:pPr lvl="1" eaLnBrk="1" hangingPunct="1">
              <a:spcBef>
                <a:spcPct val="0"/>
              </a:spcBef>
              <a:buFontTx/>
              <a:buNone/>
            </a:pPr>
            <a:endParaRPr lang="en-US" altLang="zh-CN" sz="2400" b="1" dirty="0">
              <a:solidFill>
                <a:schemeClr val="bg2"/>
              </a:solidFill>
            </a:endParaRPr>
          </a:p>
          <a:p>
            <a:pPr lvl="1" eaLnBrk="1" hangingPunct="1">
              <a:spcBef>
                <a:spcPct val="0"/>
              </a:spcBef>
              <a:buFontTx/>
              <a:buNone/>
            </a:pPr>
            <a:r>
              <a:rPr lang="en-US" altLang="zh-CN" sz="2400" dirty="0">
                <a:solidFill>
                  <a:schemeClr val="bg2"/>
                </a:solidFill>
              </a:rPr>
              <a:t>END </a:t>
            </a:r>
          </a:p>
        </p:txBody>
      </p:sp>
      <p:sp>
        <p:nvSpPr>
          <p:cNvPr id="10" name="Rectangle 10">
            <a:extLst>
              <a:ext uri="{FF2B5EF4-FFF2-40B4-BE49-F238E27FC236}">
                <a16:creationId xmlns:a16="http://schemas.microsoft.com/office/drawing/2014/main" id="{38A08E62-4C39-426E-99F9-E87D3BBBDD8E}"/>
              </a:ext>
            </a:extLst>
          </p:cNvPr>
          <p:cNvSpPr>
            <a:spLocks noChangeArrowheads="1"/>
          </p:cNvSpPr>
          <p:nvPr/>
        </p:nvSpPr>
        <p:spPr bwMode="auto">
          <a:xfrm>
            <a:off x="7097439" y="1580313"/>
            <a:ext cx="846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dirty="0">
                <a:solidFill>
                  <a:srgbClr val="6600CC"/>
                </a:solidFill>
              </a:rPr>
              <a:t>P(W);</a:t>
            </a:r>
          </a:p>
        </p:txBody>
      </p:sp>
      <p:sp>
        <p:nvSpPr>
          <p:cNvPr id="11" name="Rectangle 11">
            <a:extLst>
              <a:ext uri="{FF2B5EF4-FFF2-40B4-BE49-F238E27FC236}">
                <a16:creationId xmlns:a16="http://schemas.microsoft.com/office/drawing/2014/main" id="{FDF3BDDD-821B-492C-89CF-844F4DE9A8A9}"/>
              </a:ext>
            </a:extLst>
          </p:cNvPr>
          <p:cNvSpPr>
            <a:spLocks noChangeArrowheads="1"/>
          </p:cNvSpPr>
          <p:nvPr/>
        </p:nvSpPr>
        <p:spPr bwMode="auto">
          <a:xfrm>
            <a:off x="7112535" y="2942767"/>
            <a:ext cx="8747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dirty="0">
                <a:solidFill>
                  <a:srgbClr val="6600CC"/>
                </a:solidFill>
              </a:rPr>
              <a:t>V(W);</a:t>
            </a:r>
          </a:p>
        </p:txBody>
      </p:sp>
      <p:sp>
        <p:nvSpPr>
          <p:cNvPr id="12"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008966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box(in)">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ox(i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heckerboard(across)">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blinds(horizontal)">
                                      <p:cBhvr>
                                        <p:cTn id="27" dur="500"/>
                                        <p:tgtEl>
                                          <p:spTgt spid="8">
                                            <p:txEl>
                                              <p:pRg st="0" end="0"/>
                                            </p:txEl>
                                          </p:spTgt>
                                        </p:tgtEl>
                                      </p:cBhvr>
                                    </p:animEffect>
                                  </p:childTnLst>
                                </p:cTn>
                              </p:par>
                            </p:childTnLst>
                          </p:cTn>
                        </p:par>
                        <p:par>
                          <p:cTn id="28" fill="hold">
                            <p:stCondLst>
                              <p:cond delay="500"/>
                            </p:stCondLst>
                            <p:childTnLst>
                              <p:par>
                                <p:cTn id="29" presetID="2" presetClass="entr" presetSubtype="6"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1+#ppt_w/2"/>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1" grpId="0"/>
      <p:bldP spid="1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F1280ECC-3E8D-4332-BD76-043C8B8BF0AD}"/>
              </a:ext>
            </a:extLst>
          </p:cNvPr>
          <p:cNvSpPr txBox="1">
            <a:spLocks noChangeArrowheads="1"/>
          </p:cNvSpPr>
          <p:nvPr/>
        </p:nvSpPr>
        <p:spPr>
          <a:xfrm>
            <a:off x="2391792" y="30062"/>
            <a:ext cx="4648200" cy="676275"/>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信号量的优缺点</a:t>
            </a:r>
          </a:p>
        </p:txBody>
      </p:sp>
      <p:sp>
        <p:nvSpPr>
          <p:cNvPr id="6" name="Rectangle 3">
            <a:extLst>
              <a:ext uri="{FF2B5EF4-FFF2-40B4-BE49-F238E27FC236}">
                <a16:creationId xmlns:a16="http://schemas.microsoft.com/office/drawing/2014/main" id="{EA69E8F9-2DE2-4030-B76F-511CD81ACBE0}"/>
              </a:ext>
            </a:extLst>
          </p:cNvPr>
          <p:cNvSpPr txBox="1">
            <a:spLocks noChangeArrowheads="1"/>
          </p:cNvSpPr>
          <p:nvPr/>
        </p:nvSpPr>
        <p:spPr>
          <a:xfrm>
            <a:off x="241833" y="908720"/>
            <a:ext cx="8641208" cy="3384376"/>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优点</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ea typeface="楷体" panose="02010609060101010101" pitchFamily="49" charset="-122"/>
              </a:rPr>
              <a:t>简单</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ea typeface="楷体" panose="02010609060101010101" pitchFamily="49" charset="-122"/>
              </a:rPr>
              <a:t>表达能力强</a:t>
            </a:r>
            <a:r>
              <a:rPr lang="en-US" altLang="zh-CN" sz="3200" dirty="0">
                <a:solidFill>
                  <a:schemeClr val="bg2"/>
                </a:solidFill>
                <a:effectLst/>
                <a:ea typeface="楷体" panose="02010609060101010101" pitchFamily="49" charset="-122"/>
              </a:rPr>
              <a:t>: </a:t>
            </a:r>
            <a:r>
              <a:rPr lang="zh-CN" altLang="en-US" sz="3200" dirty="0">
                <a:solidFill>
                  <a:schemeClr val="bg2"/>
                </a:solidFill>
                <a:effectLst/>
                <a:ea typeface="楷体" panose="02010609060101010101" pitchFamily="49" charset="-122"/>
              </a:rPr>
              <a:t>用</a:t>
            </a:r>
            <a:r>
              <a:rPr lang="en-US" altLang="zh-CN" sz="3200" dirty="0">
                <a:solidFill>
                  <a:schemeClr val="bg2"/>
                </a:solidFill>
                <a:effectLst/>
                <a:ea typeface="楷体" panose="02010609060101010101" pitchFamily="49" charset="-122"/>
              </a:rPr>
              <a:t>P</a:t>
            </a:r>
            <a:r>
              <a:rPr lang="zh-CN" altLang="en-US" sz="3200" dirty="0">
                <a:solidFill>
                  <a:schemeClr val="bg2"/>
                </a:solidFill>
                <a:effectLst/>
                <a:ea typeface="楷体" panose="02010609060101010101" pitchFamily="49" charset="-122"/>
              </a:rPr>
              <a:t>、</a:t>
            </a:r>
            <a:r>
              <a:rPr lang="en-US" altLang="zh-CN" sz="3200" dirty="0">
                <a:solidFill>
                  <a:schemeClr val="bg2"/>
                </a:solidFill>
                <a:effectLst/>
                <a:ea typeface="楷体" panose="02010609060101010101" pitchFamily="49" charset="-122"/>
              </a:rPr>
              <a:t>V</a:t>
            </a:r>
            <a:r>
              <a:rPr lang="zh-CN" altLang="en-US" sz="3200" dirty="0">
                <a:solidFill>
                  <a:schemeClr val="bg2"/>
                </a:solidFill>
                <a:effectLst/>
                <a:ea typeface="楷体" panose="02010609060101010101" pitchFamily="49" charset="-122"/>
              </a:rPr>
              <a:t>操作可解决任何同步互斥问题</a:t>
            </a:r>
          </a:p>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缺点</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ea typeface="楷体" panose="02010609060101010101" pitchFamily="49" charset="-122"/>
              </a:rPr>
              <a:t>不够安全。</a:t>
            </a:r>
            <a:r>
              <a:rPr lang="en-US" altLang="zh-CN" sz="3200" dirty="0">
                <a:solidFill>
                  <a:schemeClr val="bg2"/>
                </a:solidFill>
                <a:effectLst/>
                <a:ea typeface="楷体" panose="02010609060101010101" pitchFamily="49" charset="-122"/>
              </a:rPr>
              <a:t>P</a:t>
            </a:r>
            <a:r>
              <a:rPr lang="zh-CN" altLang="en-US" sz="3200" dirty="0">
                <a:solidFill>
                  <a:schemeClr val="bg2"/>
                </a:solidFill>
                <a:effectLst/>
                <a:ea typeface="楷体" panose="02010609060101010101" pitchFamily="49" charset="-122"/>
              </a:rPr>
              <a:t>、</a:t>
            </a:r>
            <a:r>
              <a:rPr lang="en-US" altLang="zh-CN" sz="3200" dirty="0">
                <a:solidFill>
                  <a:schemeClr val="bg2"/>
                </a:solidFill>
                <a:effectLst/>
                <a:ea typeface="楷体" panose="02010609060101010101" pitchFamily="49" charset="-122"/>
              </a:rPr>
              <a:t>V</a:t>
            </a:r>
            <a:r>
              <a:rPr lang="zh-CN" altLang="en-US" sz="3200" dirty="0">
                <a:solidFill>
                  <a:schemeClr val="bg2"/>
                </a:solidFill>
                <a:effectLst/>
                <a:ea typeface="楷体" panose="02010609060101010101" pitchFamily="49" charset="-122"/>
              </a:rPr>
              <a:t>操作使用不当会出现死锁</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ea typeface="楷体" panose="02010609060101010101" pitchFamily="49" charset="-122"/>
              </a:rPr>
              <a:t>遇到复杂同步互斥问题时实现复杂</a:t>
            </a:r>
          </a:p>
        </p:txBody>
      </p:sp>
      <p:sp>
        <p:nvSpPr>
          <p:cNvPr id="8" name="文本框 7">
            <a:extLst>
              <a:ext uri="{FF2B5EF4-FFF2-40B4-BE49-F238E27FC236}">
                <a16:creationId xmlns:a16="http://schemas.microsoft.com/office/drawing/2014/main" id="{3854F9BC-6472-4F87-8655-50CB1C581236}"/>
              </a:ext>
            </a:extLst>
          </p:cNvPr>
          <p:cNvSpPr txBox="1"/>
          <p:nvPr/>
        </p:nvSpPr>
        <p:spPr>
          <a:xfrm>
            <a:off x="241832" y="4788932"/>
            <a:ext cx="8434623" cy="978729"/>
          </a:xfrm>
          <a:prstGeom prst="rect">
            <a:avLst/>
          </a:prstGeom>
          <a:solidFill>
            <a:srgbClr val="DBDBDB"/>
          </a:solidFill>
        </p:spPr>
        <p:txBody>
          <a:bodyPr wrap="square" rtlCol="0">
            <a:spAutoFit/>
          </a:bodyPr>
          <a:lstStyle/>
          <a:p>
            <a:pPr marL="457200" lvl="3" defTabSz="355600">
              <a:lnSpc>
                <a:spcPct val="90000"/>
              </a:lnSpc>
              <a:buClr>
                <a:schemeClr val="bg2"/>
              </a:buClr>
              <a:buSzPct val="70000"/>
              <a:defRPr/>
            </a:pPr>
            <a:r>
              <a:rPr lang="zh-CN" altLang="en-US" dirty="0">
                <a:solidFill>
                  <a:schemeClr val="bg2"/>
                </a:solidFill>
                <a:latin typeface="+mn-lt"/>
                <a:ea typeface="楷体" panose="02010609060101010101" pitchFamily="49" charset="-122"/>
              </a:rPr>
              <a:t>将共享数据、同步互斥操作集中隐藏起来，由辅助工具负责展开</a:t>
            </a:r>
            <a:r>
              <a:rPr lang="en-US" altLang="zh-CN" dirty="0">
                <a:solidFill>
                  <a:schemeClr val="bg2"/>
                </a:solidFill>
                <a:latin typeface="+mn-lt"/>
                <a:ea typeface="楷体" panose="02010609060101010101" pitchFamily="49" charset="-122"/>
              </a:rPr>
              <a:t>—</a:t>
            </a:r>
            <a:r>
              <a:rPr lang="zh-CN" altLang="en-US" dirty="0">
                <a:solidFill>
                  <a:srgbClr val="FF0000"/>
                </a:solidFill>
                <a:effectLst>
                  <a:outerShdw blurRad="38100" dist="38100" dir="2700000" algn="tl">
                    <a:srgbClr val="000000">
                      <a:alpha val="43137"/>
                    </a:srgbClr>
                  </a:outerShdw>
                </a:effectLst>
                <a:latin typeface="+mn-lt"/>
                <a:ea typeface="楷体" panose="02010609060101010101" pitchFamily="49" charset="-122"/>
              </a:rPr>
              <a:t>管程</a:t>
            </a:r>
          </a:p>
        </p:txBody>
      </p:sp>
      <p:sp>
        <p:nvSpPr>
          <p:cNvPr id="9" name="AutoShape 7">
            <a:hlinkClick r:id="rId3" action="ppaction://hlinksldjump" highlightClick="1"/>
            <a:extLst>
              <a:ext uri="{FF2B5EF4-FFF2-40B4-BE49-F238E27FC236}">
                <a16:creationId xmlns:a16="http://schemas.microsoft.com/office/drawing/2014/main" id="{FC9C3690-7A52-47BF-AF8A-820048CA20CF}"/>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429279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3601B3C5-1748-409E-817A-4BDA1956531F}"/>
              </a:ext>
            </a:extLst>
          </p:cNvPr>
          <p:cNvSpPr>
            <a:spLocks noChangeArrowheads="1"/>
          </p:cNvSpPr>
          <p:nvPr/>
        </p:nvSpPr>
        <p:spPr bwMode="auto">
          <a:xfrm>
            <a:off x="568052" y="498979"/>
            <a:ext cx="7921625" cy="697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0" lvl="2" indent="0" algn="ctr" defTabSz="355600">
              <a:lnSpc>
                <a:spcPct val="90000"/>
              </a:lnSpc>
              <a:spcBef>
                <a:spcPct val="0"/>
              </a:spcBef>
              <a:buClr>
                <a:schemeClr val="bg1"/>
              </a:buClr>
              <a:buSzPct val="80000"/>
              <a:buNone/>
              <a:defRPr/>
            </a:pPr>
            <a:r>
              <a:rPr lang="zh-CN" altLang="en-US" sz="3600" dirty="0">
                <a:solidFill>
                  <a:schemeClr val="bg1">
                    <a:lumMod val="75000"/>
                  </a:schemeClr>
                </a:solidFill>
                <a:effectLst>
                  <a:outerShdw blurRad="38100" dist="38100" dir="2700000" algn="tl">
                    <a:srgbClr val="000000">
                      <a:alpha val="43137"/>
                    </a:srgbClr>
                  </a:outerShdw>
                </a:effectLst>
                <a:latin typeface="+mn-ea"/>
                <a:ea typeface="+mn-ea"/>
              </a:rPr>
              <a:t>将共享数据、同步互斥等封装起来</a:t>
            </a:r>
          </a:p>
        </p:txBody>
      </p:sp>
      <p:sp>
        <p:nvSpPr>
          <p:cNvPr id="7" name="Rectangle 5">
            <a:extLst>
              <a:ext uri="{FF2B5EF4-FFF2-40B4-BE49-F238E27FC236}">
                <a16:creationId xmlns:a16="http://schemas.microsoft.com/office/drawing/2014/main" id="{7204A34D-6A47-4441-BC1F-2BF30CC7CF62}"/>
              </a:ext>
            </a:extLst>
          </p:cNvPr>
          <p:cNvSpPr>
            <a:spLocks noChangeArrowheads="1"/>
          </p:cNvSpPr>
          <p:nvPr/>
        </p:nvSpPr>
        <p:spPr bwMode="auto">
          <a:xfrm>
            <a:off x="633804" y="1297493"/>
            <a:ext cx="3819524"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55600" lvl="3" indent="-355600" defTabSz="355600">
              <a:lnSpc>
                <a:spcPct val="90000"/>
              </a:lnSpc>
              <a:buClr>
                <a:schemeClr val="bg2"/>
              </a:buClr>
              <a:buSzPct val="70000"/>
              <a:buFont typeface="Wingdings" panose="05000000000000000000" pitchFamily="2" charset="2"/>
              <a:buChar char="n"/>
              <a:defRPr/>
            </a:pPr>
            <a:r>
              <a:rPr lang="zh-CN" altLang="en-US" sz="2800" dirty="0">
                <a:solidFill>
                  <a:schemeClr val="bg2"/>
                </a:solidFill>
                <a:latin typeface="+mn-lt"/>
                <a:ea typeface="楷体" panose="02010609060101010101" pitchFamily="49" charset="-122"/>
              </a:rPr>
              <a:t>数据只能通过其中的操作访问</a:t>
            </a:r>
            <a:endParaRPr lang="zh-CN" altLang="en-US" sz="2800" dirty="0">
              <a:solidFill>
                <a:schemeClr val="bg2"/>
              </a:solidFill>
              <a:latin typeface="+mn-lt"/>
              <a:ea typeface="楷体" panose="02010609060101010101" pitchFamily="49" charset="-122"/>
              <a:sym typeface="Symbol" panose="05050102010706020507" pitchFamily="18" charset="2"/>
            </a:endParaRPr>
          </a:p>
        </p:txBody>
      </p:sp>
      <p:sp>
        <p:nvSpPr>
          <p:cNvPr id="21" name="Rectangle 19">
            <a:extLst>
              <a:ext uri="{FF2B5EF4-FFF2-40B4-BE49-F238E27FC236}">
                <a16:creationId xmlns:a16="http://schemas.microsoft.com/office/drawing/2014/main" id="{14A4A3B3-DFE0-46B7-B041-7DF3FDEE747D}"/>
              </a:ext>
            </a:extLst>
          </p:cNvPr>
          <p:cNvSpPr>
            <a:spLocks noChangeArrowheads="1"/>
          </p:cNvSpPr>
          <p:nvPr/>
        </p:nvSpPr>
        <p:spPr bwMode="auto">
          <a:xfrm>
            <a:off x="663604" y="2413742"/>
            <a:ext cx="4010347"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55600" lvl="3" indent="-355600" defTabSz="355600">
              <a:lnSpc>
                <a:spcPct val="90000"/>
              </a:lnSpc>
              <a:buClr>
                <a:schemeClr val="bg2"/>
              </a:buClr>
              <a:buSzPct val="70000"/>
              <a:buFont typeface="Wingdings" panose="05000000000000000000" pitchFamily="2" charset="2"/>
              <a:buChar char="n"/>
              <a:defRPr/>
            </a:pPr>
            <a:r>
              <a:rPr lang="zh-CN" altLang="en-US" sz="2800" dirty="0">
                <a:solidFill>
                  <a:schemeClr val="bg2"/>
                </a:solidFill>
                <a:latin typeface="+mn-lt"/>
                <a:ea typeface="楷体" panose="02010609060101010101" pitchFamily="49" charset="-122"/>
              </a:rPr>
              <a:t>操作一次只允许一个线程调用 </a:t>
            </a:r>
            <a:r>
              <a:rPr lang="en-US" altLang="zh-CN" sz="2800" dirty="0">
                <a:solidFill>
                  <a:schemeClr val="bg2"/>
                </a:solidFill>
                <a:latin typeface="+mn-lt"/>
                <a:ea typeface="楷体" panose="02010609060101010101" pitchFamily="49" charset="-122"/>
              </a:rPr>
              <a:t>(</a:t>
            </a:r>
            <a:r>
              <a:rPr lang="zh-CN" altLang="en-US" sz="2800" dirty="0">
                <a:solidFill>
                  <a:schemeClr val="bg2"/>
                </a:solidFill>
                <a:latin typeface="+mn-lt"/>
                <a:ea typeface="楷体" panose="02010609060101010101" pitchFamily="49" charset="-122"/>
              </a:rPr>
              <a:t>互斥</a:t>
            </a:r>
            <a:r>
              <a:rPr lang="en-US" altLang="zh-CN" sz="2800" dirty="0">
                <a:solidFill>
                  <a:schemeClr val="bg2"/>
                </a:solidFill>
                <a:latin typeface="+mn-lt"/>
                <a:ea typeface="楷体" panose="02010609060101010101" pitchFamily="49" charset="-122"/>
              </a:rPr>
              <a:t>)</a:t>
            </a:r>
            <a:endParaRPr lang="en-US" altLang="zh-CN" sz="2800" dirty="0">
              <a:solidFill>
                <a:schemeClr val="bg2"/>
              </a:solidFill>
              <a:latin typeface="+mn-lt"/>
              <a:ea typeface="楷体" panose="02010609060101010101" pitchFamily="49" charset="-122"/>
              <a:sym typeface="Symbol" panose="05050102010706020507" pitchFamily="18" charset="2"/>
            </a:endParaRPr>
          </a:p>
        </p:txBody>
      </p:sp>
      <p:sp>
        <p:nvSpPr>
          <p:cNvPr id="24" name="Rectangle 22">
            <a:extLst>
              <a:ext uri="{FF2B5EF4-FFF2-40B4-BE49-F238E27FC236}">
                <a16:creationId xmlns:a16="http://schemas.microsoft.com/office/drawing/2014/main" id="{52B5331A-BFBA-4E70-B77F-49A298E5259F}"/>
              </a:ext>
            </a:extLst>
          </p:cNvPr>
          <p:cNvSpPr>
            <a:spLocks noChangeArrowheads="1"/>
          </p:cNvSpPr>
          <p:nvPr/>
        </p:nvSpPr>
        <p:spPr bwMode="auto">
          <a:xfrm>
            <a:off x="633804" y="3733678"/>
            <a:ext cx="4101830"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55600" lvl="3" indent="-355600" defTabSz="355600">
              <a:lnSpc>
                <a:spcPct val="90000"/>
              </a:lnSpc>
              <a:buClr>
                <a:schemeClr val="bg2"/>
              </a:buClr>
              <a:buSzPct val="70000"/>
              <a:buFont typeface="Wingdings" panose="05000000000000000000" pitchFamily="2" charset="2"/>
              <a:buChar char="n"/>
              <a:defRPr/>
            </a:pPr>
            <a:r>
              <a:rPr lang="zh-CN" altLang="en-US" sz="2800" dirty="0">
                <a:solidFill>
                  <a:schemeClr val="bg2"/>
                </a:solidFill>
                <a:latin typeface="+mn-lt"/>
                <a:ea typeface="楷体" panose="02010609060101010101" pitchFamily="49" charset="-122"/>
              </a:rPr>
              <a:t>条件变量</a:t>
            </a:r>
            <a:r>
              <a:rPr lang="en-US" altLang="zh-CN" sz="2800" dirty="0">
                <a:solidFill>
                  <a:schemeClr val="bg2"/>
                </a:solidFill>
                <a:latin typeface="+mn-lt"/>
                <a:ea typeface="楷体" panose="02010609060101010101" pitchFamily="49" charset="-122"/>
              </a:rPr>
              <a:t>(condition)</a:t>
            </a:r>
            <a:r>
              <a:rPr lang="zh-CN" altLang="en-US" sz="2800" dirty="0">
                <a:solidFill>
                  <a:schemeClr val="bg2"/>
                </a:solidFill>
                <a:latin typeface="+mn-lt"/>
                <a:ea typeface="楷体" panose="02010609060101010101" pitchFamily="49" charset="-122"/>
              </a:rPr>
              <a:t>关联一个队列（同步）</a:t>
            </a:r>
          </a:p>
        </p:txBody>
      </p:sp>
      <p:grpSp>
        <p:nvGrpSpPr>
          <p:cNvPr id="55" name="组合 54">
            <a:extLst>
              <a:ext uri="{FF2B5EF4-FFF2-40B4-BE49-F238E27FC236}">
                <a16:creationId xmlns:a16="http://schemas.microsoft.com/office/drawing/2014/main" id="{67680B05-3328-401F-AE57-994BAEBFBFCD}"/>
              </a:ext>
            </a:extLst>
          </p:cNvPr>
          <p:cNvGrpSpPr/>
          <p:nvPr/>
        </p:nvGrpSpPr>
        <p:grpSpPr>
          <a:xfrm>
            <a:off x="-62759" y="1193521"/>
            <a:ext cx="930409" cy="2268376"/>
            <a:chOff x="41142" y="1418377"/>
            <a:chExt cx="930409" cy="2268376"/>
          </a:xfrm>
        </p:grpSpPr>
        <p:sp>
          <p:nvSpPr>
            <p:cNvPr id="27" name="AutoShape 25">
              <a:extLst>
                <a:ext uri="{FF2B5EF4-FFF2-40B4-BE49-F238E27FC236}">
                  <a16:creationId xmlns:a16="http://schemas.microsoft.com/office/drawing/2014/main" id="{A12BFBEA-9B0D-49EF-818C-B54BC7A12D63}"/>
                </a:ext>
              </a:extLst>
            </p:cNvPr>
            <p:cNvSpPr>
              <a:spLocks/>
            </p:cNvSpPr>
            <p:nvPr/>
          </p:nvSpPr>
          <p:spPr bwMode="auto">
            <a:xfrm>
              <a:off x="533401" y="1534100"/>
              <a:ext cx="438150" cy="2062160"/>
            </a:xfrm>
            <a:prstGeom prst="leftBrace">
              <a:avLst>
                <a:gd name="adj1" fmla="val 55556"/>
                <a:gd name="adj2" fmla="val 50000"/>
              </a:avLst>
            </a:prstGeom>
            <a:ln>
              <a:solidFill>
                <a:schemeClr val="accent6">
                  <a:lumMod val="75000"/>
                </a:schemeClr>
              </a:solidFill>
              <a:headEnd/>
              <a:tailEnd/>
            </a:ln>
          </p:spPr>
          <p:style>
            <a:lnRef idx="3">
              <a:schemeClr val="dk1"/>
            </a:lnRef>
            <a:fillRef idx="0">
              <a:schemeClr val="dk1"/>
            </a:fillRef>
            <a:effectRef idx="2">
              <a:schemeClr val="dk1"/>
            </a:effectRef>
            <a:fontRef idx="minor">
              <a:schemeClr val="tx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bg2"/>
                </a:solidFill>
              </a:endParaRPr>
            </a:p>
          </p:txBody>
        </p:sp>
        <p:sp>
          <p:nvSpPr>
            <p:cNvPr id="28" name="Text Box 26">
              <a:extLst>
                <a:ext uri="{FF2B5EF4-FFF2-40B4-BE49-F238E27FC236}">
                  <a16:creationId xmlns:a16="http://schemas.microsoft.com/office/drawing/2014/main" id="{187EA65D-CA10-4EF3-AC11-5B2E4D590CC8}"/>
                </a:ext>
              </a:extLst>
            </p:cNvPr>
            <p:cNvSpPr txBox="1">
              <a:spLocks noChangeArrowheads="1"/>
            </p:cNvSpPr>
            <p:nvPr/>
          </p:nvSpPr>
          <p:spPr bwMode="auto">
            <a:xfrm>
              <a:off x="41142" y="1418377"/>
              <a:ext cx="553998" cy="22683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dirty="0">
                  <a:solidFill>
                    <a:schemeClr val="accent2">
                      <a:lumMod val="50000"/>
                    </a:schemeClr>
                  </a:solidFill>
                  <a:latin typeface="+mn-lt"/>
                  <a:ea typeface="楷体" panose="02010609060101010101" pitchFamily="49" charset="-122"/>
                </a:rPr>
                <a:t>隐式实现互斥</a:t>
              </a:r>
            </a:p>
          </p:txBody>
        </p:sp>
      </p:grpSp>
      <p:sp>
        <p:nvSpPr>
          <p:cNvPr id="30" name="Rectangle 28">
            <a:extLst>
              <a:ext uri="{FF2B5EF4-FFF2-40B4-BE49-F238E27FC236}">
                <a16:creationId xmlns:a16="http://schemas.microsoft.com/office/drawing/2014/main" id="{6ECDFFEC-9E89-480E-93E5-4D6F40F4B5EE}"/>
              </a:ext>
            </a:extLst>
          </p:cNvPr>
          <p:cNvSpPr>
            <a:spLocks noChangeArrowheads="1"/>
          </p:cNvSpPr>
          <p:nvPr/>
        </p:nvSpPr>
        <p:spPr bwMode="auto">
          <a:xfrm>
            <a:off x="656823" y="4775143"/>
            <a:ext cx="4233969"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5600" lvl="3" indent="-355600" defTabSz="355600">
              <a:lnSpc>
                <a:spcPct val="90000"/>
              </a:lnSpc>
              <a:buClr>
                <a:schemeClr val="bg2"/>
              </a:buClr>
              <a:buSzPct val="70000"/>
              <a:buFont typeface="Wingdings" panose="05000000000000000000" pitchFamily="2" charset="2"/>
              <a:buChar char="n"/>
              <a:defRPr/>
            </a:pPr>
            <a:r>
              <a:rPr lang="zh-CN" altLang="en-US" sz="2800" dirty="0">
                <a:solidFill>
                  <a:schemeClr val="bg2"/>
                </a:solidFill>
                <a:latin typeface="+mn-lt"/>
                <a:ea typeface="楷体" panose="02010609060101010101" pitchFamily="49" charset="-122"/>
              </a:rPr>
              <a:t>操作只有</a:t>
            </a:r>
            <a:r>
              <a:rPr lang="en-US" altLang="zh-CN" sz="2800" dirty="0">
                <a:solidFill>
                  <a:schemeClr val="bg2"/>
                </a:solidFill>
                <a:latin typeface="+mn-lt"/>
                <a:ea typeface="楷体" panose="02010609060101010101" pitchFamily="49" charset="-122"/>
              </a:rPr>
              <a:t>wait(</a:t>
            </a:r>
            <a:r>
              <a:rPr lang="zh-CN" altLang="en-US" sz="2800" dirty="0">
                <a:solidFill>
                  <a:schemeClr val="bg2"/>
                </a:solidFill>
                <a:latin typeface="+mn-lt"/>
                <a:ea typeface="楷体" panose="02010609060101010101" pitchFamily="49" charset="-122"/>
              </a:rPr>
              <a:t>即</a:t>
            </a:r>
            <a:r>
              <a:rPr lang="en-US" altLang="zh-CN" sz="2800" dirty="0">
                <a:solidFill>
                  <a:schemeClr val="bg2"/>
                </a:solidFill>
                <a:latin typeface="+mn-lt"/>
                <a:ea typeface="楷体" panose="02010609060101010101" pitchFamily="49" charset="-122"/>
              </a:rPr>
              <a:t>P)</a:t>
            </a:r>
            <a:r>
              <a:rPr lang="zh-CN" altLang="en-US" sz="2800" dirty="0">
                <a:solidFill>
                  <a:schemeClr val="bg2"/>
                </a:solidFill>
                <a:latin typeface="+mn-lt"/>
                <a:ea typeface="楷体" panose="02010609060101010101" pitchFamily="49" charset="-122"/>
              </a:rPr>
              <a:t>和</a:t>
            </a:r>
            <a:r>
              <a:rPr lang="en-US" altLang="zh-CN" sz="2800" dirty="0">
                <a:solidFill>
                  <a:schemeClr val="bg2"/>
                </a:solidFill>
                <a:latin typeface="+mn-lt"/>
                <a:ea typeface="楷体" panose="02010609060101010101" pitchFamily="49" charset="-122"/>
              </a:rPr>
              <a:t>signal(</a:t>
            </a:r>
            <a:r>
              <a:rPr lang="zh-CN" altLang="en-US" sz="2800" dirty="0">
                <a:solidFill>
                  <a:schemeClr val="bg2"/>
                </a:solidFill>
                <a:latin typeface="+mn-lt"/>
                <a:ea typeface="楷体" panose="02010609060101010101" pitchFamily="49" charset="-122"/>
              </a:rPr>
              <a:t>即</a:t>
            </a:r>
            <a:r>
              <a:rPr lang="en-US" altLang="zh-CN" sz="2800" dirty="0">
                <a:solidFill>
                  <a:schemeClr val="bg2"/>
                </a:solidFill>
                <a:latin typeface="+mn-lt"/>
                <a:ea typeface="楷体" panose="02010609060101010101" pitchFamily="49" charset="-122"/>
              </a:rPr>
              <a:t>V)</a:t>
            </a:r>
            <a:endParaRPr lang="en-US" altLang="zh-CN" sz="2800" dirty="0">
              <a:solidFill>
                <a:schemeClr val="bg2"/>
              </a:solidFill>
              <a:latin typeface="+mn-lt"/>
              <a:ea typeface="楷体" panose="02010609060101010101" pitchFamily="49" charset="-122"/>
              <a:sym typeface="Symbol" panose="05050102010706020507" pitchFamily="18" charset="2"/>
            </a:endParaRPr>
          </a:p>
        </p:txBody>
      </p:sp>
      <p:grpSp>
        <p:nvGrpSpPr>
          <p:cNvPr id="56" name="组合 55">
            <a:extLst>
              <a:ext uri="{FF2B5EF4-FFF2-40B4-BE49-F238E27FC236}">
                <a16:creationId xmlns:a16="http://schemas.microsoft.com/office/drawing/2014/main" id="{485B36F4-3BEA-4766-9A73-063963503D6E}"/>
              </a:ext>
            </a:extLst>
          </p:cNvPr>
          <p:cNvGrpSpPr/>
          <p:nvPr/>
        </p:nvGrpSpPr>
        <p:grpSpPr>
          <a:xfrm>
            <a:off x="-77530" y="3519709"/>
            <a:ext cx="930409" cy="2268376"/>
            <a:chOff x="41142" y="1418377"/>
            <a:chExt cx="930409" cy="2268376"/>
          </a:xfrm>
        </p:grpSpPr>
        <p:sp>
          <p:nvSpPr>
            <p:cNvPr id="57" name="AutoShape 25">
              <a:extLst>
                <a:ext uri="{FF2B5EF4-FFF2-40B4-BE49-F238E27FC236}">
                  <a16:creationId xmlns:a16="http://schemas.microsoft.com/office/drawing/2014/main" id="{68E394CC-DBB5-408D-8E6C-0F01A07A21CB}"/>
                </a:ext>
              </a:extLst>
            </p:cNvPr>
            <p:cNvSpPr>
              <a:spLocks/>
            </p:cNvSpPr>
            <p:nvPr/>
          </p:nvSpPr>
          <p:spPr bwMode="auto">
            <a:xfrm>
              <a:off x="533401" y="1534100"/>
              <a:ext cx="438150" cy="2062160"/>
            </a:xfrm>
            <a:prstGeom prst="leftBrace">
              <a:avLst>
                <a:gd name="adj1" fmla="val 55556"/>
                <a:gd name="adj2" fmla="val 50000"/>
              </a:avLst>
            </a:prstGeom>
            <a:ln>
              <a:solidFill>
                <a:schemeClr val="accent6">
                  <a:lumMod val="75000"/>
                </a:schemeClr>
              </a:solidFill>
              <a:headEnd/>
              <a:tailEnd/>
            </a:ln>
          </p:spPr>
          <p:style>
            <a:lnRef idx="3">
              <a:schemeClr val="dk1"/>
            </a:lnRef>
            <a:fillRef idx="0">
              <a:schemeClr val="dk1"/>
            </a:fillRef>
            <a:effectRef idx="2">
              <a:schemeClr val="dk1"/>
            </a:effectRef>
            <a:fontRef idx="minor">
              <a:schemeClr val="tx1"/>
            </a:fontRef>
          </p:style>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bg2"/>
                </a:solidFill>
              </a:endParaRPr>
            </a:p>
          </p:txBody>
        </p:sp>
        <p:sp>
          <p:nvSpPr>
            <p:cNvPr id="58" name="Text Box 26">
              <a:extLst>
                <a:ext uri="{FF2B5EF4-FFF2-40B4-BE49-F238E27FC236}">
                  <a16:creationId xmlns:a16="http://schemas.microsoft.com/office/drawing/2014/main" id="{D92FF951-117B-4C6D-95BA-21E0227CD1C7}"/>
                </a:ext>
              </a:extLst>
            </p:cNvPr>
            <p:cNvSpPr txBox="1">
              <a:spLocks noChangeArrowheads="1"/>
            </p:cNvSpPr>
            <p:nvPr/>
          </p:nvSpPr>
          <p:spPr bwMode="auto">
            <a:xfrm>
              <a:off x="41142" y="1418377"/>
              <a:ext cx="553998" cy="22683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dirty="0">
                  <a:solidFill>
                    <a:schemeClr val="accent2">
                      <a:lumMod val="50000"/>
                    </a:schemeClr>
                  </a:solidFill>
                  <a:latin typeface="+mn-lt"/>
                  <a:ea typeface="楷体" panose="02010609060101010101" pitchFamily="49" charset="-122"/>
                </a:rPr>
                <a:t>隐式实现同步</a:t>
              </a:r>
            </a:p>
          </p:txBody>
        </p:sp>
      </p:grpSp>
      <p:pic>
        <p:nvPicPr>
          <p:cNvPr id="59" name="Picture 4" descr="6">
            <a:extLst>
              <a:ext uri="{FF2B5EF4-FFF2-40B4-BE49-F238E27FC236}">
                <a16:creationId xmlns:a16="http://schemas.microsoft.com/office/drawing/2014/main" id="{6DB701B2-CCFF-4A6B-A0BB-12F4874829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2510" y="1138681"/>
            <a:ext cx="4321490" cy="298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文本框 59">
            <a:extLst>
              <a:ext uri="{FF2B5EF4-FFF2-40B4-BE49-F238E27FC236}">
                <a16:creationId xmlns:a16="http://schemas.microsoft.com/office/drawing/2014/main" id="{C4BEEBB1-FBF9-4EB8-B57D-5628A98C23CA}"/>
              </a:ext>
            </a:extLst>
          </p:cNvPr>
          <p:cNvSpPr txBox="1"/>
          <p:nvPr/>
        </p:nvSpPr>
        <p:spPr>
          <a:xfrm>
            <a:off x="5095811" y="4326348"/>
            <a:ext cx="3658099" cy="400110"/>
          </a:xfrm>
          <a:prstGeom prst="rect">
            <a:avLst/>
          </a:prstGeom>
          <a:noFill/>
        </p:spPr>
        <p:txBody>
          <a:bodyPr wrap="square" rtlCol="0">
            <a:spAutoFit/>
          </a:bodyPr>
          <a:lstStyle/>
          <a:p>
            <a:pPr algn="ctr"/>
            <a:r>
              <a:rPr lang="zh-CN" altLang="en-US" sz="2000" dirty="0">
                <a:solidFill>
                  <a:schemeClr val="bg2"/>
                </a:solidFill>
              </a:rPr>
              <a:t>图 </a:t>
            </a:r>
            <a:r>
              <a:rPr lang="en-US" altLang="zh-CN" sz="2000" dirty="0">
                <a:solidFill>
                  <a:schemeClr val="bg2"/>
                </a:solidFill>
              </a:rPr>
              <a:t>5-17 </a:t>
            </a:r>
            <a:r>
              <a:rPr lang="zh-CN" altLang="en-US" sz="2000" dirty="0">
                <a:solidFill>
                  <a:schemeClr val="bg2"/>
                </a:solidFill>
              </a:rPr>
              <a:t>具有条件变量的管程</a:t>
            </a:r>
          </a:p>
        </p:txBody>
      </p:sp>
      <p:sp>
        <p:nvSpPr>
          <p:cNvPr id="61" name="文本框 60">
            <a:extLst>
              <a:ext uri="{FF2B5EF4-FFF2-40B4-BE49-F238E27FC236}">
                <a16:creationId xmlns:a16="http://schemas.microsoft.com/office/drawing/2014/main" id="{6F73F66E-5AE6-4E33-8F47-D3B82DA63E69}"/>
              </a:ext>
            </a:extLst>
          </p:cNvPr>
          <p:cNvSpPr txBox="1"/>
          <p:nvPr/>
        </p:nvSpPr>
        <p:spPr>
          <a:xfrm>
            <a:off x="0" y="5639926"/>
            <a:ext cx="9144000" cy="1200329"/>
          </a:xfrm>
          <a:prstGeom prst="rect">
            <a:avLst/>
          </a:prstGeom>
          <a:solidFill>
            <a:srgbClr val="FFFF00"/>
          </a:solidFill>
        </p:spPr>
        <p:txBody>
          <a:bodyPr wrap="square" rtlCol="0">
            <a:spAutoFit/>
          </a:bodyPr>
          <a:lstStyle/>
          <a:p>
            <a:pPr algn="ctr"/>
            <a:r>
              <a:rPr lang="zh-CN" altLang="en-US" sz="3600" dirty="0">
                <a:solidFill>
                  <a:schemeClr val="bg2"/>
                </a:solidFill>
                <a:effectLst>
                  <a:outerShdw blurRad="38100" dist="38100" dir="2700000" algn="tl">
                    <a:srgbClr val="000000">
                      <a:alpha val="43137"/>
                    </a:srgbClr>
                  </a:outerShdw>
                </a:effectLst>
                <a:latin typeface="+mj-lt"/>
                <a:ea typeface="楷体" panose="02010609060101010101" pitchFamily="49" charset="-122"/>
              </a:rPr>
              <a:t>操作系统本身并不支持，是编译器的工作</a:t>
            </a:r>
            <a:endParaRPr lang="en-US" altLang="zh-CN" sz="3600"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algn="ctr"/>
            <a:r>
              <a:rPr lang="en-US" altLang="zh-CN" sz="3600" dirty="0">
                <a:solidFill>
                  <a:schemeClr val="bg2"/>
                </a:solidFill>
                <a:effectLst>
                  <a:outerShdw blurRad="38100" dist="38100" dir="2700000" algn="tl">
                    <a:srgbClr val="000000">
                      <a:alpha val="43137"/>
                    </a:srgbClr>
                  </a:outerShdw>
                </a:effectLst>
                <a:latin typeface="+mj-lt"/>
                <a:ea typeface="楷体" panose="02010609060101010101" pitchFamily="49" charset="-122"/>
              </a:rPr>
              <a:t>Java</a:t>
            </a:r>
            <a:r>
              <a:rPr lang="zh-CN" altLang="en-US" sz="3600" dirty="0">
                <a:solidFill>
                  <a:schemeClr val="bg2"/>
                </a:solidFill>
                <a:effectLst>
                  <a:outerShdw blurRad="38100" dist="38100" dir="2700000" algn="tl">
                    <a:srgbClr val="000000">
                      <a:alpha val="43137"/>
                    </a:srgbClr>
                  </a:outerShdw>
                </a:effectLst>
                <a:latin typeface="+mj-lt"/>
                <a:ea typeface="楷体" panose="02010609060101010101" pitchFamily="49" charset="-122"/>
              </a:rPr>
              <a:t>、</a:t>
            </a:r>
            <a:r>
              <a:rPr lang="en-US" altLang="zh-CN" sz="3600" dirty="0">
                <a:solidFill>
                  <a:schemeClr val="bg2"/>
                </a:solidFill>
                <a:effectLst>
                  <a:outerShdw blurRad="38100" dist="38100" dir="2700000" algn="tl">
                    <a:srgbClr val="000000">
                      <a:alpha val="43137"/>
                    </a:srgbClr>
                  </a:outerShdw>
                </a:effectLst>
                <a:latin typeface="+mj-lt"/>
                <a:ea typeface="楷体" panose="02010609060101010101" pitchFamily="49" charset="-122"/>
              </a:rPr>
              <a:t>C#</a:t>
            </a:r>
            <a:r>
              <a:rPr lang="zh-CN" altLang="en-US" sz="3600" dirty="0">
                <a:solidFill>
                  <a:schemeClr val="bg2"/>
                </a:solidFill>
                <a:effectLst>
                  <a:outerShdw blurRad="38100" dist="38100" dir="2700000" algn="tl">
                    <a:srgbClr val="000000">
                      <a:alpha val="43137"/>
                    </a:srgbClr>
                  </a:outerShdw>
                </a:effectLst>
                <a:latin typeface="+mj-lt"/>
                <a:ea typeface="楷体" panose="02010609060101010101" pitchFamily="49" charset="-122"/>
              </a:rPr>
              <a:t>采用管程的思想</a:t>
            </a:r>
          </a:p>
        </p:txBody>
      </p:sp>
      <p:sp>
        <p:nvSpPr>
          <p:cNvPr id="1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8" name="矩形 17">
            <a:extLst>
              <a:ext uri="{FF2B5EF4-FFF2-40B4-BE49-F238E27FC236}">
                <a16:creationId xmlns:a16="http://schemas.microsoft.com/office/drawing/2014/main" id="{815264F5-5C3B-47AC-BFB5-8BEFB9441544}"/>
              </a:ext>
            </a:extLst>
          </p:cNvPr>
          <p:cNvSpPr/>
          <p:nvPr/>
        </p:nvSpPr>
        <p:spPr>
          <a:xfrm>
            <a:off x="2522836" y="-51576"/>
            <a:ext cx="4048015" cy="812530"/>
          </a:xfrm>
          <a:prstGeom prst="rect">
            <a:avLst/>
          </a:prstGeom>
        </p:spPr>
        <p:txBody>
          <a:bodyPr wrap="square" tIns="0" bIns="0">
            <a:spAutoFit/>
          </a:bodyPr>
          <a:lstStyle/>
          <a:p>
            <a:pPr marL="457200" indent="-457200" algn="ctr">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5.8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管   程</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Tree>
    <p:extLst>
      <p:ext uri="{BB962C8B-B14F-4D97-AF65-F5344CB8AC3E}">
        <p14:creationId xmlns:p14="http://schemas.microsoft.com/office/powerpoint/2010/main" val="231130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1">
                                            <p:txEl>
                                              <p:pRg st="0" end="0"/>
                                            </p:txEl>
                                          </p:spTgt>
                                        </p:tgtEl>
                                        <p:attrNameLst>
                                          <p:attrName>style.visibility</p:attrName>
                                        </p:attrNameLst>
                                      </p:cBhvr>
                                      <p:to>
                                        <p:strVal val="visible"/>
                                      </p:to>
                                    </p:set>
                                    <p:animEffect transition="in" filter="fade">
                                      <p:cBhvr>
                                        <p:cTn id="14" dur="1000"/>
                                        <p:tgtEl>
                                          <p:spTgt spid="21">
                                            <p:txEl>
                                              <p:pRg st="0" end="0"/>
                                            </p:txEl>
                                          </p:spTgt>
                                        </p:tgtEl>
                                      </p:cBhvr>
                                    </p:animEffect>
                                    <p:anim calcmode="lin" valueType="num">
                                      <p:cBhvr>
                                        <p:cTn id="15"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nodeType="click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wedge">
                                      <p:cBhvr>
                                        <p:cTn id="21" dur="2000"/>
                                        <p:tgtEl>
                                          <p:spTgt spid="55"/>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1000"/>
                                        <p:tgtEl>
                                          <p:spTgt spid="24"/>
                                        </p:tgtEl>
                                      </p:cBhvr>
                                    </p:animEffect>
                                    <p:anim calcmode="lin" valueType="num">
                                      <p:cBhvr>
                                        <p:cTn id="27" dur="1000" fill="hold"/>
                                        <p:tgtEl>
                                          <p:spTgt spid="24"/>
                                        </p:tgtEl>
                                        <p:attrNameLst>
                                          <p:attrName>ppt_x</p:attrName>
                                        </p:attrNameLst>
                                      </p:cBhvr>
                                      <p:tavLst>
                                        <p:tav tm="0">
                                          <p:val>
                                            <p:strVal val="#ppt_x"/>
                                          </p:val>
                                        </p:tav>
                                        <p:tav tm="100000">
                                          <p:val>
                                            <p:strVal val="#ppt_x"/>
                                          </p:val>
                                        </p:tav>
                                      </p:tavLst>
                                    </p:anim>
                                    <p:anim calcmode="lin" valueType="num">
                                      <p:cBhvr>
                                        <p:cTn id="28"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1000"/>
                                        <p:tgtEl>
                                          <p:spTgt spid="30"/>
                                        </p:tgtEl>
                                      </p:cBhvr>
                                    </p:animEffect>
                                    <p:anim calcmode="lin" valueType="num">
                                      <p:cBhvr>
                                        <p:cTn id="34" dur="1000" fill="hold"/>
                                        <p:tgtEl>
                                          <p:spTgt spid="30"/>
                                        </p:tgtEl>
                                        <p:attrNameLst>
                                          <p:attrName>ppt_x</p:attrName>
                                        </p:attrNameLst>
                                      </p:cBhvr>
                                      <p:tavLst>
                                        <p:tav tm="0">
                                          <p:val>
                                            <p:strVal val="#ppt_x"/>
                                          </p:val>
                                        </p:tav>
                                        <p:tav tm="100000">
                                          <p:val>
                                            <p:strVal val="#ppt_x"/>
                                          </p:val>
                                        </p:tav>
                                      </p:tavLst>
                                    </p:anim>
                                    <p:anim calcmode="lin" valueType="num">
                                      <p:cBhvr>
                                        <p:cTn id="35"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0" presetClass="entr" presetSubtype="0" fill="hold" nodeType="clickEffect">
                                  <p:stCondLst>
                                    <p:cond delay="0"/>
                                  </p:stCondLst>
                                  <p:childTnLst>
                                    <p:set>
                                      <p:cBhvr>
                                        <p:cTn id="39" dur="1" fill="hold">
                                          <p:stCondLst>
                                            <p:cond delay="0"/>
                                          </p:stCondLst>
                                        </p:cTn>
                                        <p:tgtEl>
                                          <p:spTgt spid="56"/>
                                        </p:tgtEl>
                                        <p:attrNameLst>
                                          <p:attrName>style.visibility</p:attrName>
                                        </p:attrNameLst>
                                      </p:cBhvr>
                                      <p:to>
                                        <p:strVal val="visible"/>
                                      </p:to>
                                    </p:set>
                                    <p:animEffect transition="in" filter="wedge">
                                      <p:cBhvr>
                                        <p:cTn id="40" dur="2000"/>
                                        <p:tgtEl>
                                          <p:spTgt spid="56"/>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61"/>
                                        </p:tgtEl>
                                        <p:attrNameLst>
                                          <p:attrName>style.visibility</p:attrName>
                                        </p:attrNameLst>
                                      </p:cBhvr>
                                      <p:to>
                                        <p:strVal val="visible"/>
                                      </p:to>
                                    </p:set>
                                    <p:animEffect transition="in" filter="dissolve">
                                      <p:cBhvr>
                                        <p:cTn id="45" dur="500"/>
                                        <p:tgtEl>
                                          <p:spTgt spid="61"/>
                                        </p:tgtEl>
                                      </p:cBhvr>
                                    </p:animEffect>
                                  </p:childTnLst>
                                </p:cTn>
                              </p:par>
                            </p:childTnLst>
                          </p:cTn>
                        </p:par>
                        <p:par>
                          <p:cTn id="46" fill="hold">
                            <p:stCondLst>
                              <p:cond delay="500"/>
                            </p:stCondLst>
                            <p:childTnLst>
                              <p:par>
                                <p:cTn id="47" presetID="2" presetClass="entr" presetSubtype="6"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1+#ppt_w/2"/>
                                          </p:val>
                                        </p:tav>
                                        <p:tav tm="100000">
                                          <p:val>
                                            <p:strVal val="#ppt_x"/>
                                          </p:val>
                                        </p:tav>
                                      </p:tavLst>
                                    </p:anim>
                                    <p:anim calcmode="lin" valueType="num">
                                      <p:cBhvr additive="base">
                                        <p:cTn id="5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4" grpId="0"/>
      <p:bldP spid="30" grpId="0"/>
      <p:bldP spid="61" grpId="0" animBg="1"/>
      <p:bldP spid="1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F3703A3-1889-4D5A-B002-82B1611E7DF6}" type="datetime1">
              <a:rPr lang="zh-CN" altLang="en-US" smtClean="0"/>
              <a:pPr>
                <a:defRPr/>
              </a:pPr>
              <a:t>2024/10/9</a:t>
            </a:fld>
            <a:endParaRPr lang="en-US" altLang="zh-CN"/>
          </a:p>
        </p:txBody>
      </p:sp>
      <p:sp>
        <p:nvSpPr>
          <p:cNvPr id="3" name="灯片编号占位符 2"/>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50</a:t>
            </a:fld>
            <a:r>
              <a:rPr lang="zh-CN" altLang="en-US"/>
              <a:t> 页</a:t>
            </a:r>
          </a:p>
        </p:txBody>
      </p:sp>
      <p:graphicFrame>
        <p:nvGraphicFramePr>
          <p:cNvPr id="19" name="表格 18"/>
          <p:cNvGraphicFramePr>
            <a:graphicFrameLocks noGrp="1"/>
          </p:cNvGraphicFramePr>
          <p:nvPr>
            <p:extLst>
              <p:ext uri="{D42A27DB-BD31-4B8C-83A1-F6EECF244321}">
                <p14:modId xmlns:p14="http://schemas.microsoft.com/office/powerpoint/2010/main" val="283462768"/>
              </p:ext>
            </p:extLst>
          </p:nvPr>
        </p:nvGraphicFramePr>
        <p:xfrm>
          <a:off x="1589088" y="1628800"/>
          <a:ext cx="6096000" cy="4004697"/>
        </p:xfrm>
        <a:graphic>
          <a:graphicData uri="http://schemas.openxmlformats.org/drawingml/2006/table">
            <a:tbl>
              <a:tblPr firstRow="1" bandRow="1">
                <a:tableStyleId>{5C22544A-7EE6-4342-B048-85BDC9FD1C3A}</a:tableStyleId>
              </a:tblPr>
              <a:tblGrid>
                <a:gridCol w="1690442">
                  <a:extLst>
                    <a:ext uri="{9D8B030D-6E8A-4147-A177-3AD203B41FA5}">
                      <a16:colId xmlns:a16="http://schemas.microsoft.com/office/drawing/2014/main" val="20000"/>
                    </a:ext>
                  </a:extLst>
                </a:gridCol>
                <a:gridCol w="4405558">
                  <a:extLst>
                    <a:ext uri="{9D8B030D-6E8A-4147-A177-3AD203B41FA5}">
                      <a16:colId xmlns:a16="http://schemas.microsoft.com/office/drawing/2014/main" val="20001"/>
                    </a:ext>
                  </a:extLst>
                </a:gridCol>
              </a:tblGrid>
              <a:tr h="783377">
                <a:tc>
                  <a:txBody>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sz="3200" b="1" kern="1200" dirty="0">
                          <a:solidFill>
                            <a:schemeClr val="bg2"/>
                          </a:solidFill>
                          <a:latin typeface="+mn-lt"/>
                          <a:ea typeface="+mn-ea"/>
                          <a:cs typeface="+mn-cs"/>
                        </a:rPr>
                        <a:t>编译器</a:t>
                      </a:r>
                    </a:p>
                  </a:txBody>
                  <a:tcPr anchor="ctr">
                    <a:solidFill>
                      <a:schemeClr val="tx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3200" b="1" dirty="0">
                          <a:solidFill>
                            <a:schemeClr val="bg2"/>
                          </a:solidFill>
                        </a:rPr>
                        <a:t>管程</a:t>
                      </a:r>
                      <a:r>
                        <a:rPr lang="en-US" altLang="zh-CN" sz="3200" b="1" dirty="0">
                          <a:solidFill>
                            <a:schemeClr val="bg2"/>
                          </a:solidFill>
                        </a:rPr>
                        <a:t>(monitors)</a:t>
                      </a:r>
                      <a:endParaRPr lang="zh-CN" altLang="en-US" sz="3200" dirty="0"/>
                    </a:p>
                  </a:txBody>
                  <a:tcPr anchor="ctr">
                    <a:solidFill>
                      <a:schemeClr val="tx1">
                        <a:lumMod val="85000"/>
                      </a:schemeClr>
                    </a:solidFill>
                  </a:tcPr>
                </a:tc>
                <a:extLst>
                  <a:ext uri="{0D108BD9-81ED-4DB2-BD59-A6C34878D82A}">
                    <a16:rowId xmlns:a16="http://schemas.microsoft.com/office/drawing/2014/main" val="10000"/>
                  </a:ext>
                </a:extLst>
              </a:tr>
              <a:tr h="1575400">
                <a:tc>
                  <a:txBody>
                    <a:bodyPr/>
                    <a:lstStyle/>
                    <a:p>
                      <a:pPr algn="ctr" eaLnBrk="1" hangingPunct="1">
                        <a:buFont typeface="Wingdings" panose="05000000000000000000" pitchFamily="2" charset="2"/>
                        <a:buNone/>
                      </a:pPr>
                      <a:r>
                        <a:rPr lang="en-US" altLang="zh-CN" sz="3200" b="1" dirty="0">
                          <a:solidFill>
                            <a:schemeClr val="bg2"/>
                          </a:solidFill>
                        </a:rPr>
                        <a:t>OS</a:t>
                      </a:r>
                      <a:endParaRPr lang="zh-CN" altLang="en-US" sz="3200" b="1" dirty="0"/>
                    </a:p>
                  </a:txBody>
                  <a:tcPr anchor="ctr">
                    <a:solidFill>
                      <a:srgbClr val="B7B7FF"/>
                    </a:solidFill>
                  </a:tcPr>
                </a:tc>
                <a:tc>
                  <a:txBody>
                    <a:bodyPr/>
                    <a:lstStyle/>
                    <a:p>
                      <a:pPr algn="ctr" eaLnBrk="1" hangingPunct="1">
                        <a:buFont typeface="Wingdings" panose="05000000000000000000" pitchFamily="2" charset="2"/>
                        <a:buNone/>
                      </a:pPr>
                      <a:r>
                        <a:rPr lang="zh-CN" altLang="en-US" sz="3200" b="1" dirty="0">
                          <a:solidFill>
                            <a:schemeClr val="bg2"/>
                          </a:solidFill>
                        </a:rPr>
                        <a:t>信号量</a:t>
                      </a:r>
                      <a:r>
                        <a:rPr lang="en-US" altLang="zh-CN" sz="3200" b="1" dirty="0">
                          <a:solidFill>
                            <a:schemeClr val="bg2"/>
                          </a:solidFill>
                        </a:rPr>
                        <a:t>(semaphores)  </a:t>
                      </a:r>
                    </a:p>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sz="3200" b="1" dirty="0">
                          <a:solidFill>
                            <a:schemeClr val="bg2"/>
                          </a:solidFill>
                        </a:rPr>
                        <a:t>锁</a:t>
                      </a:r>
                      <a:r>
                        <a:rPr lang="en-US" altLang="zh-CN" sz="3200" b="1" dirty="0">
                          <a:solidFill>
                            <a:schemeClr val="bg2"/>
                          </a:solidFill>
                        </a:rPr>
                        <a:t>(locks)</a:t>
                      </a:r>
                    </a:p>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zh-CN" sz="3200" b="1" dirty="0">
                          <a:solidFill>
                            <a:schemeClr val="bg2"/>
                          </a:solidFill>
                        </a:rPr>
                        <a:t>……</a:t>
                      </a:r>
                      <a:endParaRPr lang="zh-CN" altLang="en-US" sz="3200" b="1" dirty="0"/>
                    </a:p>
                  </a:txBody>
                  <a:tcPr anchor="ctr">
                    <a:solidFill>
                      <a:srgbClr val="B7B7FF"/>
                    </a:solidFill>
                  </a:tcPr>
                </a:tc>
                <a:extLst>
                  <a:ext uri="{0D108BD9-81ED-4DB2-BD59-A6C34878D82A}">
                    <a16:rowId xmlns:a16="http://schemas.microsoft.com/office/drawing/2014/main" val="10001"/>
                  </a:ext>
                </a:extLst>
              </a:tr>
              <a:tr h="64598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3200" b="1" dirty="0">
                          <a:solidFill>
                            <a:schemeClr val="bg2"/>
                          </a:solidFill>
                        </a:rPr>
                        <a:t>硬件</a:t>
                      </a:r>
                      <a:endParaRPr lang="zh-CN" altLang="en-US" sz="3200" b="1" dirty="0"/>
                    </a:p>
                  </a:txBody>
                  <a:tcPr anchor="ctr">
                    <a:solidFill>
                      <a:srgbClr val="CDE6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3200" b="1" dirty="0">
                          <a:solidFill>
                            <a:schemeClr val="bg2"/>
                          </a:solidFill>
                        </a:rPr>
                        <a:t>Disable </a:t>
                      </a:r>
                      <a:r>
                        <a:rPr lang="en-US" altLang="zh-CN" sz="3200" b="1" dirty="0" err="1">
                          <a:solidFill>
                            <a:schemeClr val="bg2"/>
                          </a:solidFill>
                        </a:rPr>
                        <a:t>Ints</a:t>
                      </a:r>
                      <a:r>
                        <a:rPr lang="en-US" altLang="zh-CN" sz="3200" b="1" dirty="0">
                          <a:solidFill>
                            <a:schemeClr val="bg2"/>
                          </a:solidFill>
                        </a:rPr>
                        <a:t>   </a:t>
                      </a:r>
                      <a:r>
                        <a:rPr lang="en-US" altLang="zh-CN" sz="3200" b="1" dirty="0" err="1">
                          <a:solidFill>
                            <a:schemeClr val="bg2"/>
                          </a:solidFill>
                        </a:rPr>
                        <a:t>TestAndSet</a:t>
                      </a:r>
                      <a:r>
                        <a:rPr lang="en-US" altLang="zh-CN" sz="3200" b="1" dirty="0">
                          <a:solidFill>
                            <a:schemeClr val="bg2"/>
                          </a:solidFill>
                        </a:rPr>
                        <a:t>   Swap</a:t>
                      </a:r>
                      <a:endParaRPr lang="zh-CN" altLang="en-US" sz="3200" b="1" dirty="0"/>
                    </a:p>
                  </a:txBody>
                  <a:tcPr anchor="ctr">
                    <a:solidFill>
                      <a:srgbClr val="CDE6FF"/>
                    </a:solidFill>
                  </a:tcPr>
                </a:tc>
                <a:extLst>
                  <a:ext uri="{0D108BD9-81ED-4DB2-BD59-A6C34878D82A}">
                    <a16:rowId xmlns:a16="http://schemas.microsoft.com/office/drawing/2014/main" val="10002"/>
                  </a:ext>
                </a:extLst>
              </a:tr>
              <a:tr h="506145">
                <a:tc>
                  <a:txBody>
                    <a:bodyPr/>
                    <a:lstStyle/>
                    <a:p>
                      <a:pPr algn="ctr"/>
                      <a:r>
                        <a:rPr lang="zh-CN" altLang="en-US" sz="3200" b="1" dirty="0"/>
                        <a:t>软件</a:t>
                      </a:r>
                    </a:p>
                  </a:txBody>
                  <a:tcPr anchor="ctr">
                    <a:solidFill>
                      <a:schemeClr val="tx1">
                        <a:lumMod val="85000"/>
                      </a:schemeClr>
                    </a:solidFill>
                  </a:tcPr>
                </a:tc>
                <a:tc>
                  <a:txBody>
                    <a:bodyPr/>
                    <a:lstStyle/>
                    <a:p>
                      <a:pPr algn="ctr"/>
                      <a:r>
                        <a:rPr lang="en-US" altLang="zh-CN" sz="3200" b="1" dirty="0"/>
                        <a:t>Peterson</a:t>
                      </a:r>
                      <a:endParaRPr lang="zh-CN" altLang="en-US" sz="3200" b="1" dirty="0"/>
                    </a:p>
                  </a:txBody>
                  <a:tcPr anchor="ctr">
                    <a:solidFill>
                      <a:schemeClr val="tx1">
                        <a:lumMod val="85000"/>
                      </a:schemeClr>
                    </a:solidFill>
                  </a:tcPr>
                </a:tc>
                <a:extLst>
                  <a:ext uri="{0D108BD9-81ED-4DB2-BD59-A6C34878D82A}">
                    <a16:rowId xmlns:a16="http://schemas.microsoft.com/office/drawing/2014/main" val="10003"/>
                  </a:ext>
                </a:extLst>
              </a:tr>
            </a:tbl>
          </a:graphicData>
        </a:graphic>
      </p:graphicFrame>
      <p:sp>
        <p:nvSpPr>
          <p:cNvPr id="20" name="矩形 19">
            <a:extLst>
              <a:ext uri="{FF2B5EF4-FFF2-40B4-BE49-F238E27FC236}">
                <a16:creationId xmlns:a16="http://schemas.microsoft.com/office/drawing/2014/main" id="{29841C31-350C-4373-99AD-4945C669D946}"/>
              </a:ext>
            </a:extLst>
          </p:cNvPr>
          <p:cNvSpPr/>
          <p:nvPr/>
        </p:nvSpPr>
        <p:spPr>
          <a:xfrm>
            <a:off x="3515627" y="0"/>
            <a:ext cx="2242922" cy="707886"/>
          </a:xfrm>
          <a:prstGeom prst="rect">
            <a:avLst/>
          </a:prstGeom>
        </p:spPr>
        <p:txBody>
          <a:bodyPr wrap="none">
            <a:spAutoFit/>
          </a:bodyPr>
          <a:lstStyle/>
          <a:p>
            <a:pPr algn="ctr">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同步工具</a:t>
            </a:r>
          </a:p>
        </p:txBody>
      </p:sp>
      <p:sp>
        <p:nvSpPr>
          <p:cNvPr id="21" name="AutoShape 7">
            <a:hlinkClick r:id="rId2" action="ppaction://hlinksldjump" highlightClick="1"/>
            <a:extLst>
              <a:ext uri="{FF2B5EF4-FFF2-40B4-BE49-F238E27FC236}">
                <a16:creationId xmlns:a16="http://schemas.microsoft.com/office/drawing/2014/main" id="{FC9C3690-7A52-47BF-AF8A-820048CA20CF}"/>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963746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2D6FA19-AC9A-4ADF-B8A0-F043E133E18A}"/>
              </a:ext>
            </a:extLst>
          </p:cNvPr>
          <p:cNvSpPr>
            <a:spLocks noGrp="1"/>
          </p:cNvSpPr>
          <p:nvPr>
            <p:ph type="dt" sz="half" idx="10"/>
          </p:nvPr>
        </p:nvSpPr>
        <p:spPr/>
        <p:txBody>
          <a:bodyPr/>
          <a:lstStyle/>
          <a:p>
            <a:pPr>
              <a:defRPr/>
            </a:pPr>
            <a:fld id="{0F3703A3-1889-4D5A-B002-82B1611E7DF6}" type="datetime1">
              <a:rPr lang="zh-CN" altLang="en-US" smtClean="0"/>
              <a:pPr>
                <a:defRPr/>
              </a:pPr>
              <a:t>2024/10/9</a:t>
            </a:fld>
            <a:endParaRPr lang="en-US" altLang="zh-CN"/>
          </a:p>
        </p:txBody>
      </p:sp>
      <p:sp>
        <p:nvSpPr>
          <p:cNvPr id="3" name="灯片编号占位符 2">
            <a:extLst>
              <a:ext uri="{FF2B5EF4-FFF2-40B4-BE49-F238E27FC236}">
                <a16:creationId xmlns:a16="http://schemas.microsoft.com/office/drawing/2014/main" id="{01FC459C-9956-46B2-9E06-D74E6E0E3B9C}"/>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51</a:t>
            </a:fld>
            <a:r>
              <a:rPr lang="zh-CN" altLang="en-US"/>
              <a:t> 页</a:t>
            </a:r>
          </a:p>
        </p:txBody>
      </p:sp>
      <p:sp>
        <p:nvSpPr>
          <p:cNvPr id="4" name="文本框 3">
            <a:extLst>
              <a:ext uri="{FF2B5EF4-FFF2-40B4-BE49-F238E27FC236}">
                <a16:creationId xmlns:a16="http://schemas.microsoft.com/office/drawing/2014/main" id="{5A5EE036-8F4D-4952-9E58-11B713BD1CFF}"/>
              </a:ext>
            </a:extLst>
          </p:cNvPr>
          <p:cNvSpPr txBox="1"/>
          <p:nvPr/>
        </p:nvSpPr>
        <p:spPr>
          <a:xfrm>
            <a:off x="321938" y="114283"/>
            <a:ext cx="8500124" cy="1569660"/>
          </a:xfrm>
          <a:prstGeom prst="rect">
            <a:avLst/>
          </a:prstGeom>
          <a:noFill/>
        </p:spPr>
        <p:txBody>
          <a:bodyPr wrap="square" rtlCol="0">
            <a:spAutoFit/>
          </a:bodyPr>
          <a:lstStyle/>
          <a:p>
            <a:r>
              <a:rPr lang="en-US" altLang="zh-CN" dirty="0">
                <a:solidFill>
                  <a:schemeClr val="bg1"/>
                </a:solidFill>
                <a:effectLst>
                  <a:outerShdw blurRad="38100" dist="38100" dir="2700000" algn="tl">
                    <a:srgbClr val="000000">
                      <a:alpha val="43137"/>
                    </a:srgbClr>
                  </a:outerShdw>
                </a:effectLst>
              </a:rPr>
              <a:t>5.3 </a:t>
            </a:r>
            <a:r>
              <a:rPr lang="zh-CN" altLang="zh-CN" dirty="0">
                <a:solidFill>
                  <a:schemeClr val="bg1"/>
                </a:solidFill>
                <a:effectLst>
                  <a:outerShdw blurRad="38100" dist="38100" dir="2700000" algn="tl">
                    <a:srgbClr val="000000">
                      <a:alpha val="43137"/>
                    </a:srgbClr>
                  </a:outerShdw>
                </a:effectLst>
              </a:rPr>
              <a:t>忙等待的意思是什么</a:t>
            </a:r>
            <a:r>
              <a:rPr lang="en-US" altLang="zh-CN" dirty="0">
                <a:solidFill>
                  <a:schemeClr val="bg1"/>
                </a:solidFill>
                <a:effectLst>
                  <a:outerShdw blurRad="38100" dist="38100" dir="2700000" algn="tl">
                    <a:srgbClr val="000000">
                      <a:alpha val="43137"/>
                    </a:srgbClr>
                  </a:outerShdw>
                </a:effectLst>
              </a:rPr>
              <a:t>?</a:t>
            </a:r>
            <a:r>
              <a:rPr lang="zh-CN" altLang="zh-CN" dirty="0">
                <a:solidFill>
                  <a:schemeClr val="bg1"/>
                </a:solidFill>
                <a:effectLst>
                  <a:outerShdw blurRad="38100" dist="38100" dir="2700000" algn="tl">
                    <a:srgbClr val="000000">
                      <a:alpha val="43137"/>
                    </a:srgbClr>
                  </a:outerShdw>
                </a:effectLst>
              </a:rPr>
              <a:t>操作系统还有什么其他等待吗</a:t>
            </a:r>
            <a:r>
              <a:rPr lang="en-US" altLang="zh-CN" dirty="0">
                <a:solidFill>
                  <a:schemeClr val="bg1"/>
                </a:solidFill>
                <a:effectLst>
                  <a:outerShdw blurRad="38100" dist="38100" dir="2700000" algn="tl">
                    <a:srgbClr val="000000">
                      <a:alpha val="43137"/>
                    </a:srgbClr>
                  </a:outerShdw>
                </a:effectLst>
              </a:rPr>
              <a:t>?</a:t>
            </a:r>
            <a:r>
              <a:rPr lang="zh-CN" altLang="zh-CN" dirty="0">
                <a:solidFill>
                  <a:schemeClr val="bg1"/>
                </a:solidFill>
                <a:effectLst>
                  <a:outerShdw blurRad="38100" dist="38100" dir="2700000" algn="tl">
                    <a:srgbClr val="000000">
                      <a:alpha val="43137"/>
                    </a:srgbClr>
                  </a:outerShdw>
                </a:effectLst>
              </a:rPr>
              <a:t>忙等待可以完全避免吗</a:t>
            </a:r>
            <a:r>
              <a:rPr lang="en-US" altLang="zh-CN" dirty="0">
                <a:solidFill>
                  <a:schemeClr val="bg1"/>
                </a:solidFill>
                <a:effectLst>
                  <a:outerShdw blurRad="38100" dist="38100" dir="2700000" algn="tl">
                    <a:srgbClr val="000000">
                      <a:alpha val="43137"/>
                    </a:srgbClr>
                  </a:outerShdw>
                </a:effectLst>
              </a:rPr>
              <a:t>?</a:t>
            </a:r>
            <a:r>
              <a:rPr lang="zh-CN" altLang="zh-CN" dirty="0">
                <a:solidFill>
                  <a:schemeClr val="bg1"/>
                </a:solidFill>
                <a:effectLst>
                  <a:outerShdw blurRad="38100" dist="38100" dir="2700000" algn="tl">
                    <a:srgbClr val="000000">
                      <a:alpha val="43137"/>
                    </a:srgbClr>
                  </a:outerShdw>
                </a:effectLst>
              </a:rPr>
              <a:t>解释你的答案。</a:t>
            </a:r>
            <a:endParaRPr lang="zh-CN" altLang="en-US" dirty="0"/>
          </a:p>
        </p:txBody>
      </p:sp>
      <p:sp>
        <p:nvSpPr>
          <p:cNvPr id="5" name="文本框 4">
            <a:extLst>
              <a:ext uri="{FF2B5EF4-FFF2-40B4-BE49-F238E27FC236}">
                <a16:creationId xmlns:a16="http://schemas.microsoft.com/office/drawing/2014/main" id="{94ED48F4-8051-45E3-A8F6-D933354BE932}"/>
              </a:ext>
            </a:extLst>
          </p:cNvPr>
          <p:cNvSpPr txBox="1"/>
          <p:nvPr/>
        </p:nvSpPr>
        <p:spPr>
          <a:xfrm>
            <a:off x="-108520" y="2026436"/>
            <a:ext cx="9252520" cy="3200876"/>
          </a:xfrm>
          <a:prstGeom prst="rect">
            <a:avLst/>
          </a:prstGeom>
          <a:noFill/>
        </p:spPr>
        <p:txBody>
          <a:bodyPr wrap="square" rtlCol="0">
            <a:spAutoFit/>
          </a:bodyPr>
          <a:lstStyle/>
          <a:p>
            <a:pPr>
              <a:spcBef>
                <a:spcPts val="600"/>
              </a:spcBef>
            </a:pPr>
            <a:r>
              <a:rPr lang="zh-CN" altLang="en-US" dirty="0">
                <a:solidFill>
                  <a:schemeClr val="bg2"/>
                </a:solidFill>
              </a:rPr>
              <a:t>进</a:t>
            </a:r>
            <a:r>
              <a:rPr lang="zh-CN" altLang="zh-CN" dirty="0">
                <a:solidFill>
                  <a:schemeClr val="bg2"/>
                </a:solidFill>
              </a:rPr>
              <a:t>程在循环中等待某个条件满足而不放弃处理器。</a:t>
            </a:r>
          </a:p>
          <a:p>
            <a:pPr>
              <a:spcBef>
                <a:spcPts val="600"/>
              </a:spcBef>
            </a:pPr>
            <a:r>
              <a:rPr lang="en-US" altLang="zh-CN" dirty="0">
                <a:solidFill>
                  <a:schemeClr val="bg2"/>
                </a:solidFill>
              </a:rPr>
              <a:t>    </a:t>
            </a:r>
          </a:p>
          <a:p>
            <a:pPr>
              <a:spcBef>
                <a:spcPts val="600"/>
              </a:spcBef>
            </a:pPr>
            <a:r>
              <a:rPr lang="en-US" altLang="zh-CN" dirty="0">
                <a:solidFill>
                  <a:schemeClr val="bg2"/>
                </a:solidFill>
              </a:rPr>
              <a:t>	</a:t>
            </a:r>
            <a:r>
              <a:rPr lang="zh-CN" altLang="zh-CN" dirty="0">
                <a:solidFill>
                  <a:schemeClr val="bg2"/>
                </a:solidFill>
              </a:rPr>
              <a:t>其它方式：放弃处理机</a:t>
            </a:r>
            <a:r>
              <a:rPr lang="en-US" altLang="zh-CN" dirty="0">
                <a:solidFill>
                  <a:schemeClr val="bg2"/>
                </a:solidFill>
              </a:rPr>
              <a:t>---</a:t>
            </a:r>
            <a:r>
              <a:rPr lang="zh-CN" altLang="zh-CN" dirty="0">
                <a:solidFill>
                  <a:schemeClr val="bg2"/>
                </a:solidFill>
              </a:rPr>
              <a:t>进入阻塞状态</a:t>
            </a:r>
            <a:r>
              <a:rPr lang="en-US" altLang="zh-CN" dirty="0">
                <a:solidFill>
                  <a:schemeClr val="bg2"/>
                </a:solidFill>
              </a:rPr>
              <a:t>--</a:t>
            </a:r>
            <a:r>
              <a:rPr lang="zh-CN" altLang="zh-CN" dirty="0">
                <a:solidFill>
                  <a:schemeClr val="bg2"/>
                </a:solidFill>
              </a:rPr>
              <a:t>等待被唤醒</a:t>
            </a:r>
            <a:r>
              <a:rPr lang="zh-CN" altLang="en-US" dirty="0">
                <a:solidFill>
                  <a:schemeClr val="bg2"/>
                </a:solidFill>
              </a:rPr>
              <a:t>，</a:t>
            </a:r>
            <a:r>
              <a:rPr lang="zh-CN" altLang="zh-CN" dirty="0">
                <a:solidFill>
                  <a:schemeClr val="bg2"/>
                </a:solidFill>
              </a:rPr>
              <a:t>可以避免“忙</a:t>
            </a:r>
            <a:r>
              <a:rPr lang="en-US" altLang="zh-CN" dirty="0">
                <a:solidFill>
                  <a:schemeClr val="bg2"/>
                </a:solidFill>
              </a:rPr>
              <a:t>-</a:t>
            </a:r>
            <a:r>
              <a:rPr lang="zh-CN" altLang="zh-CN" dirty="0">
                <a:solidFill>
                  <a:schemeClr val="bg2"/>
                </a:solidFill>
              </a:rPr>
              <a:t>等待”，但会产生进程切换</a:t>
            </a:r>
            <a:r>
              <a:rPr lang="zh-CN" altLang="en-US" dirty="0">
                <a:solidFill>
                  <a:schemeClr val="bg2"/>
                </a:solidFill>
              </a:rPr>
              <a:t>的</a:t>
            </a:r>
            <a:r>
              <a:rPr lang="zh-CN" altLang="zh-CN" dirty="0">
                <a:solidFill>
                  <a:schemeClr val="bg2"/>
                </a:solidFill>
              </a:rPr>
              <a:t>开销。</a:t>
            </a:r>
          </a:p>
          <a:p>
            <a:endParaRPr lang="zh-CN" altLang="en-US" dirty="0"/>
          </a:p>
        </p:txBody>
      </p:sp>
    </p:spTree>
    <p:extLst>
      <p:ext uri="{BB962C8B-B14F-4D97-AF65-F5344CB8AC3E}">
        <p14:creationId xmlns:p14="http://schemas.microsoft.com/office/powerpoint/2010/main" val="3215819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614E25D-0569-4083-8A60-20BC784B8104}"/>
              </a:ext>
            </a:extLst>
          </p:cNvPr>
          <p:cNvSpPr>
            <a:spLocks noGrp="1"/>
          </p:cNvSpPr>
          <p:nvPr>
            <p:ph type="dt" sz="half" idx="10"/>
          </p:nvPr>
        </p:nvSpPr>
        <p:spPr/>
        <p:txBody>
          <a:bodyPr/>
          <a:lstStyle/>
          <a:p>
            <a:pPr>
              <a:defRPr/>
            </a:pPr>
            <a:fld id="{0F3703A3-1889-4D5A-B002-82B1611E7DF6}" type="datetime1">
              <a:rPr lang="zh-CN" altLang="en-US" smtClean="0"/>
              <a:pPr>
                <a:defRPr/>
              </a:pPr>
              <a:t>2024/10/9</a:t>
            </a:fld>
            <a:endParaRPr lang="en-US" altLang="zh-CN"/>
          </a:p>
        </p:txBody>
      </p:sp>
      <p:sp>
        <p:nvSpPr>
          <p:cNvPr id="3" name="灯片编号占位符 2">
            <a:extLst>
              <a:ext uri="{FF2B5EF4-FFF2-40B4-BE49-F238E27FC236}">
                <a16:creationId xmlns:a16="http://schemas.microsoft.com/office/drawing/2014/main" id="{5BB7EA60-A9EB-4500-9A40-96FDAC04D09E}"/>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52</a:t>
            </a:fld>
            <a:r>
              <a:rPr lang="zh-CN" altLang="en-US"/>
              <a:t> 页</a:t>
            </a:r>
          </a:p>
        </p:txBody>
      </p:sp>
      <p:sp>
        <p:nvSpPr>
          <p:cNvPr id="5" name="文本框 4">
            <a:extLst>
              <a:ext uri="{FF2B5EF4-FFF2-40B4-BE49-F238E27FC236}">
                <a16:creationId xmlns:a16="http://schemas.microsoft.com/office/drawing/2014/main" id="{FEE06698-AF5F-4BEC-A666-4248BD312999}"/>
              </a:ext>
            </a:extLst>
          </p:cNvPr>
          <p:cNvSpPr txBox="1"/>
          <p:nvPr/>
        </p:nvSpPr>
        <p:spPr>
          <a:xfrm>
            <a:off x="321938" y="114283"/>
            <a:ext cx="8500124" cy="1569660"/>
          </a:xfrm>
          <a:prstGeom prst="rect">
            <a:avLst/>
          </a:prstGeom>
          <a:noFill/>
        </p:spPr>
        <p:txBody>
          <a:bodyPr wrap="square" rtlCol="0">
            <a:spAutoFit/>
          </a:bodyPr>
          <a:lstStyle/>
          <a:p>
            <a:r>
              <a:rPr lang="en-US" altLang="zh-CN" dirty="0">
                <a:solidFill>
                  <a:schemeClr val="bg1"/>
                </a:solidFill>
                <a:effectLst>
                  <a:outerShdw blurRad="38100" dist="38100" dir="2700000" algn="tl">
                    <a:srgbClr val="000000">
                      <a:alpha val="43137"/>
                    </a:srgbClr>
                  </a:outerShdw>
                </a:effectLst>
              </a:rPr>
              <a:t>5.4 </a:t>
            </a:r>
            <a:r>
              <a:rPr lang="zh-CN" altLang="zh-CN" dirty="0">
                <a:solidFill>
                  <a:schemeClr val="bg1"/>
                </a:solidFill>
                <a:effectLst>
                  <a:outerShdw blurRad="38100" dist="38100" dir="2700000" algn="tl">
                    <a:srgbClr val="000000">
                      <a:alpha val="43137"/>
                    </a:srgbClr>
                  </a:outerShdw>
                </a:effectLst>
              </a:rPr>
              <a:t>解释为何自旋锁不适用于单处理器系统</a:t>
            </a:r>
            <a:r>
              <a:rPr lang="en-US" altLang="zh-CN" dirty="0">
                <a:solidFill>
                  <a:schemeClr val="bg1"/>
                </a:solidFill>
                <a:effectLst>
                  <a:outerShdw blurRad="38100" dist="38100" dir="2700000" algn="tl">
                    <a:srgbClr val="000000">
                      <a:alpha val="43137"/>
                    </a:srgbClr>
                  </a:outerShdw>
                </a:effectLst>
              </a:rPr>
              <a:t>,</a:t>
            </a:r>
            <a:r>
              <a:rPr lang="zh-CN" altLang="zh-CN" dirty="0">
                <a:solidFill>
                  <a:schemeClr val="bg1"/>
                </a:solidFill>
                <a:effectLst>
                  <a:outerShdw blurRad="38100" dist="38100" dir="2700000" algn="tl">
                    <a:srgbClr val="000000">
                      <a:alpha val="43137"/>
                    </a:srgbClr>
                  </a:outerShdw>
                </a:effectLst>
              </a:rPr>
              <a:t>但是经常用于多处理器系统。</a:t>
            </a:r>
          </a:p>
          <a:p>
            <a:endParaRPr lang="zh-CN" altLang="en-US" dirty="0"/>
          </a:p>
        </p:txBody>
      </p:sp>
      <p:sp>
        <p:nvSpPr>
          <p:cNvPr id="6" name="文本框 5">
            <a:extLst>
              <a:ext uri="{FF2B5EF4-FFF2-40B4-BE49-F238E27FC236}">
                <a16:creationId xmlns:a16="http://schemas.microsoft.com/office/drawing/2014/main" id="{30B43059-A7EE-45EB-8C17-E6C6CE7CDC7A}"/>
              </a:ext>
            </a:extLst>
          </p:cNvPr>
          <p:cNvSpPr txBox="1"/>
          <p:nvPr/>
        </p:nvSpPr>
        <p:spPr>
          <a:xfrm>
            <a:off x="323528" y="2265834"/>
            <a:ext cx="8500124" cy="3539430"/>
          </a:xfrm>
          <a:prstGeom prst="rect">
            <a:avLst/>
          </a:prstGeom>
          <a:noFill/>
        </p:spPr>
        <p:txBody>
          <a:bodyPr wrap="square" rtlCol="0">
            <a:spAutoFit/>
          </a:bodyPr>
          <a:lstStyle/>
          <a:p>
            <a:r>
              <a:rPr lang="zh-CN" altLang="zh-CN" dirty="0">
                <a:solidFill>
                  <a:schemeClr val="bg2"/>
                </a:solidFill>
              </a:rPr>
              <a:t>在单处理器系统，如果等待临界资源的进程一直占用</a:t>
            </a:r>
            <a:r>
              <a:rPr lang="en-US" altLang="zh-CN" dirty="0">
                <a:solidFill>
                  <a:schemeClr val="bg2"/>
                </a:solidFill>
              </a:rPr>
              <a:t>CPU</a:t>
            </a:r>
            <a:r>
              <a:rPr lang="zh-CN" altLang="zh-CN" dirty="0">
                <a:solidFill>
                  <a:schemeClr val="bg2"/>
                </a:solidFill>
              </a:rPr>
              <a:t>进行循环等待测试，则其</a:t>
            </a:r>
            <a:r>
              <a:rPr lang="zh-CN" altLang="en-US" dirty="0">
                <a:solidFill>
                  <a:schemeClr val="bg2"/>
                </a:solidFill>
              </a:rPr>
              <a:t>它</a:t>
            </a:r>
            <a:r>
              <a:rPr lang="zh-CN" altLang="zh-CN" dirty="0">
                <a:solidFill>
                  <a:schemeClr val="bg2"/>
                </a:solidFill>
              </a:rPr>
              <a:t>进程无法执行完并释放临界资源。</a:t>
            </a:r>
          </a:p>
          <a:p>
            <a:r>
              <a:rPr lang="zh-CN" altLang="zh-CN" dirty="0">
                <a:solidFill>
                  <a:schemeClr val="bg2"/>
                </a:solidFill>
              </a:rPr>
              <a:t>在多处理器系统中，其它进程在其它处理器上执行，因而能够修改锁的状态，以便从自旋锁中释放第一个进程。</a:t>
            </a:r>
          </a:p>
          <a:p>
            <a:endParaRPr lang="zh-CN" altLang="en-US" dirty="0"/>
          </a:p>
        </p:txBody>
      </p:sp>
    </p:spTree>
    <p:extLst>
      <p:ext uri="{BB962C8B-B14F-4D97-AF65-F5344CB8AC3E}">
        <p14:creationId xmlns:p14="http://schemas.microsoft.com/office/powerpoint/2010/main" val="3647280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11CDC93-567B-4444-952C-3670C2F10616}"/>
              </a:ext>
            </a:extLst>
          </p:cNvPr>
          <p:cNvSpPr>
            <a:spLocks noGrp="1"/>
          </p:cNvSpPr>
          <p:nvPr>
            <p:ph type="dt" sz="half" idx="10"/>
          </p:nvPr>
        </p:nvSpPr>
        <p:spPr/>
        <p:txBody>
          <a:bodyPr/>
          <a:lstStyle/>
          <a:p>
            <a:pPr>
              <a:defRPr/>
            </a:pPr>
            <a:fld id="{0F3703A3-1889-4D5A-B002-82B1611E7DF6}" type="datetime1">
              <a:rPr lang="zh-CN" altLang="en-US" smtClean="0"/>
              <a:pPr>
                <a:defRPr/>
              </a:pPr>
              <a:t>2024/10/9</a:t>
            </a:fld>
            <a:endParaRPr lang="en-US" altLang="zh-CN"/>
          </a:p>
        </p:txBody>
      </p:sp>
      <p:sp>
        <p:nvSpPr>
          <p:cNvPr id="3" name="灯片编号占位符 2">
            <a:extLst>
              <a:ext uri="{FF2B5EF4-FFF2-40B4-BE49-F238E27FC236}">
                <a16:creationId xmlns:a16="http://schemas.microsoft.com/office/drawing/2014/main" id="{BB6D2B08-3E26-42B6-9B1C-369A1A35E7A2}"/>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53</a:t>
            </a:fld>
            <a:r>
              <a:rPr lang="zh-CN" altLang="en-US"/>
              <a:t> 页</a:t>
            </a:r>
          </a:p>
        </p:txBody>
      </p:sp>
      <p:sp>
        <p:nvSpPr>
          <p:cNvPr id="4" name="文本框 3">
            <a:extLst>
              <a:ext uri="{FF2B5EF4-FFF2-40B4-BE49-F238E27FC236}">
                <a16:creationId xmlns:a16="http://schemas.microsoft.com/office/drawing/2014/main" id="{F1BA0A15-CED6-4846-82D0-26F87FF862E7}"/>
              </a:ext>
            </a:extLst>
          </p:cNvPr>
          <p:cNvSpPr txBox="1"/>
          <p:nvPr/>
        </p:nvSpPr>
        <p:spPr>
          <a:xfrm>
            <a:off x="0" y="0"/>
            <a:ext cx="9324528" cy="1569660"/>
          </a:xfrm>
          <a:prstGeom prst="rect">
            <a:avLst/>
          </a:prstGeom>
          <a:noFill/>
        </p:spPr>
        <p:txBody>
          <a:bodyPr wrap="square" rtlCol="0">
            <a:spAutoFit/>
          </a:bodyPr>
          <a:lstStyle/>
          <a:p>
            <a:r>
              <a:rPr lang="en-US" altLang="zh-CN" dirty="0">
                <a:solidFill>
                  <a:schemeClr val="bg1"/>
                </a:solidFill>
                <a:effectLst>
                  <a:outerShdw blurRad="38100" dist="38100" dir="2700000" algn="tl">
                    <a:srgbClr val="000000">
                      <a:alpha val="43137"/>
                    </a:srgbClr>
                  </a:outerShdw>
                </a:effectLst>
              </a:rPr>
              <a:t>5.12 </a:t>
            </a:r>
            <a:r>
              <a:rPr lang="zh-CN" altLang="zh-CN" dirty="0">
                <a:solidFill>
                  <a:schemeClr val="bg1"/>
                </a:solidFill>
                <a:effectLst>
                  <a:outerShdw blurRad="38100" dist="38100" dir="2700000" algn="tl">
                    <a:srgbClr val="000000">
                      <a:alpha val="43137"/>
                    </a:srgbClr>
                  </a:outerShdw>
                </a:effectLst>
              </a:rPr>
              <a:t>请解释：为什么在单处理器系统上通过禁止中断来实现同步原语的方法不适用于用户级程序。</a:t>
            </a:r>
          </a:p>
          <a:p>
            <a:endParaRPr lang="zh-CN" altLang="en-US" dirty="0"/>
          </a:p>
        </p:txBody>
      </p:sp>
      <p:sp>
        <p:nvSpPr>
          <p:cNvPr id="5" name="文本框 4">
            <a:extLst>
              <a:ext uri="{FF2B5EF4-FFF2-40B4-BE49-F238E27FC236}">
                <a16:creationId xmlns:a16="http://schemas.microsoft.com/office/drawing/2014/main" id="{6F7345BB-9956-42EB-8B71-5148DC0B9AD9}"/>
              </a:ext>
            </a:extLst>
          </p:cNvPr>
          <p:cNvSpPr txBox="1"/>
          <p:nvPr/>
        </p:nvSpPr>
        <p:spPr>
          <a:xfrm>
            <a:off x="0" y="2053301"/>
            <a:ext cx="8755016" cy="2062103"/>
          </a:xfrm>
          <a:prstGeom prst="rect">
            <a:avLst/>
          </a:prstGeom>
          <a:noFill/>
        </p:spPr>
        <p:txBody>
          <a:bodyPr wrap="square" rtlCol="0">
            <a:spAutoFit/>
          </a:bodyPr>
          <a:lstStyle/>
          <a:p>
            <a:r>
              <a:rPr lang="zh-CN" altLang="zh-CN" dirty="0">
                <a:solidFill>
                  <a:schemeClr val="bg2"/>
                </a:solidFill>
              </a:rPr>
              <a:t>如果允许一个用户程序关中断，它就可以禁止时钟中断，阻止进程调度，一直使用</a:t>
            </a:r>
            <a:r>
              <a:rPr lang="en-US" altLang="zh-CN" dirty="0">
                <a:solidFill>
                  <a:schemeClr val="bg2"/>
                </a:solidFill>
              </a:rPr>
              <a:t>CPU</a:t>
            </a:r>
            <a:r>
              <a:rPr lang="zh-CN" altLang="zh-CN" dirty="0">
                <a:solidFill>
                  <a:schemeClr val="bg2"/>
                </a:solidFill>
              </a:rPr>
              <a:t>，而使得其它进程无法执行。</a:t>
            </a:r>
          </a:p>
          <a:p>
            <a:endParaRPr lang="zh-CN" altLang="en-US" dirty="0"/>
          </a:p>
        </p:txBody>
      </p:sp>
    </p:spTree>
    <p:extLst>
      <p:ext uri="{BB962C8B-B14F-4D97-AF65-F5344CB8AC3E}">
        <p14:creationId xmlns:p14="http://schemas.microsoft.com/office/powerpoint/2010/main" val="1294075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1B74394-D99F-421B-ABB4-3702D3C5ED68}"/>
              </a:ext>
            </a:extLst>
          </p:cNvPr>
          <p:cNvSpPr>
            <a:spLocks noGrp="1"/>
          </p:cNvSpPr>
          <p:nvPr>
            <p:ph type="dt" sz="half" idx="10"/>
          </p:nvPr>
        </p:nvSpPr>
        <p:spPr/>
        <p:txBody>
          <a:bodyPr/>
          <a:lstStyle/>
          <a:p>
            <a:pPr>
              <a:defRPr/>
            </a:pPr>
            <a:fld id="{0F3703A3-1889-4D5A-B002-82B1611E7DF6}" type="datetime1">
              <a:rPr lang="zh-CN" altLang="en-US" smtClean="0"/>
              <a:pPr>
                <a:defRPr/>
              </a:pPr>
              <a:t>2024/10/9</a:t>
            </a:fld>
            <a:endParaRPr lang="en-US" altLang="zh-CN"/>
          </a:p>
        </p:txBody>
      </p:sp>
      <p:sp>
        <p:nvSpPr>
          <p:cNvPr id="3" name="灯片编号占位符 2">
            <a:extLst>
              <a:ext uri="{FF2B5EF4-FFF2-40B4-BE49-F238E27FC236}">
                <a16:creationId xmlns:a16="http://schemas.microsoft.com/office/drawing/2014/main" id="{BAF2B6B0-44A7-42D9-9E92-3DD2E5417DE5}"/>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54</a:t>
            </a:fld>
            <a:r>
              <a:rPr lang="zh-CN" altLang="en-US"/>
              <a:t> 页</a:t>
            </a:r>
          </a:p>
        </p:txBody>
      </p:sp>
      <p:sp>
        <p:nvSpPr>
          <p:cNvPr id="4" name="文本框 3">
            <a:extLst>
              <a:ext uri="{FF2B5EF4-FFF2-40B4-BE49-F238E27FC236}">
                <a16:creationId xmlns:a16="http://schemas.microsoft.com/office/drawing/2014/main" id="{5D0639FF-1500-44DA-8843-F5A9057DC31D}"/>
              </a:ext>
            </a:extLst>
          </p:cNvPr>
          <p:cNvSpPr txBox="1"/>
          <p:nvPr/>
        </p:nvSpPr>
        <p:spPr>
          <a:xfrm>
            <a:off x="165708" y="32345"/>
            <a:ext cx="8500124" cy="1077218"/>
          </a:xfrm>
          <a:prstGeom prst="rect">
            <a:avLst/>
          </a:prstGeom>
          <a:noFill/>
        </p:spPr>
        <p:txBody>
          <a:bodyPr wrap="square" rtlCol="0">
            <a:spAutoFit/>
          </a:bodyPr>
          <a:lstStyle/>
          <a:p>
            <a:r>
              <a:rPr lang="en-US" altLang="zh-CN" dirty="0">
                <a:solidFill>
                  <a:schemeClr val="bg1"/>
                </a:solidFill>
              </a:rPr>
              <a:t>5.13 </a:t>
            </a:r>
            <a:r>
              <a:rPr lang="zh-CN" altLang="zh-CN" dirty="0">
                <a:solidFill>
                  <a:schemeClr val="bg1"/>
                </a:solidFill>
              </a:rPr>
              <a:t>请解释：为什么通过禁止中断同步原语不适合于多处理器系统。</a:t>
            </a:r>
            <a:endParaRPr lang="zh-CN" altLang="en-US" dirty="0"/>
          </a:p>
        </p:txBody>
      </p:sp>
      <p:sp>
        <p:nvSpPr>
          <p:cNvPr id="5" name="文本框 4">
            <a:extLst>
              <a:ext uri="{FF2B5EF4-FFF2-40B4-BE49-F238E27FC236}">
                <a16:creationId xmlns:a16="http://schemas.microsoft.com/office/drawing/2014/main" id="{0EAB89F8-E575-47BC-A2AE-6F7DE1EA54B9}"/>
              </a:ext>
            </a:extLst>
          </p:cNvPr>
          <p:cNvSpPr txBox="1"/>
          <p:nvPr/>
        </p:nvSpPr>
        <p:spPr>
          <a:xfrm>
            <a:off x="0" y="2092558"/>
            <a:ext cx="9144000" cy="3046988"/>
          </a:xfrm>
          <a:prstGeom prst="rect">
            <a:avLst/>
          </a:prstGeom>
          <a:noFill/>
        </p:spPr>
        <p:txBody>
          <a:bodyPr wrap="square" rtlCol="0">
            <a:spAutoFit/>
          </a:bodyPr>
          <a:lstStyle/>
          <a:p>
            <a:r>
              <a:rPr lang="zh-CN" altLang="zh-CN" dirty="0">
                <a:solidFill>
                  <a:schemeClr val="bg2"/>
                </a:solidFill>
              </a:rPr>
              <a:t>因为禁用中断只会阻止其他进程在禁用中断的处理器上执行</a:t>
            </a:r>
            <a:r>
              <a:rPr lang="en-US" altLang="zh-CN" dirty="0">
                <a:solidFill>
                  <a:schemeClr val="bg2"/>
                </a:solidFill>
              </a:rPr>
              <a:t>; </a:t>
            </a:r>
            <a:r>
              <a:rPr lang="zh-CN" altLang="zh-CN" dirty="0">
                <a:solidFill>
                  <a:schemeClr val="bg2"/>
                </a:solidFill>
              </a:rPr>
              <a:t>对于哪些进程可以在其他处理器上执行，没有限制。</a:t>
            </a:r>
            <a:endParaRPr lang="en-US" altLang="zh-CN" dirty="0">
              <a:solidFill>
                <a:schemeClr val="bg2"/>
              </a:solidFill>
            </a:endParaRPr>
          </a:p>
          <a:p>
            <a:r>
              <a:rPr lang="zh-CN" altLang="zh-CN" dirty="0">
                <a:solidFill>
                  <a:schemeClr val="bg2"/>
                </a:solidFill>
              </a:rPr>
              <a:t>因此禁用中断不能保证对临界资源的互斥访问。</a:t>
            </a:r>
          </a:p>
          <a:p>
            <a:r>
              <a:rPr lang="en-US" altLang="zh-CN" dirty="0">
                <a:solidFill>
                  <a:schemeClr val="bg2"/>
                </a:solidFill>
              </a:rPr>
              <a:t> </a:t>
            </a:r>
            <a:endParaRPr lang="zh-CN" altLang="zh-CN" dirty="0">
              <a:solidFill>
                <a:schemeClr val="bg2"/>
              </a:solidFill>
            </a:endParaRPr>
          </a:p>
          <a:p>
            <a:endParaRPr lang="zh-CN" altLang="en-US" dirty="0"/>
          </a:p>
        </p:txBody>
      </p:sp>
    </p:spTree>
    <p:extLst>
      <p:ext uri="{BB962C8B-B14F-4D97-AF65-F5344CB8AC3E}">
        <p14:creationId xmlns:p14="http://schemas.microsoft.com/office/powerpoint/2010/main" val="2882858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Azure">
  <a:themeElements>
    <a:clrScheme name="">
      <a:dk1>
        <a:srgbClr val="000000"/>
      </a:dk1>
      <a:lt1>
        <a:srgbClr val="FFFFFF"/>
      </a:lt1>
      <a:dk2>
        <a:srgbClr val="3333FF"/>
      </a:dk2>
      <a:lt2>
        <a:srgbClr val="00FFFF"/>
      </a:lt2>
      <a:accent1>
        <a:srgbClr val="00CCCC"/>
      </a:accent1>
      <a:accent2>
        <a:srgbClr val="CC99FF"/>
      </a:accent2>
      <a:accent3>
        <a:srgbClr val="ADADFF"/>
      </a:accent3>
      <a:accent4>
        <a:srgbClr val="DADADA"/>
      </a:accent4>
      <a:accent5>
        <a:srgbClr val="AAE2E2"/>
      </a:accent5>
      <a:accent6>
        <a:srgbClr val="B98AE7"/>
      </a:accent6>
      <a:hlink>
        <a:srgbClr val="FF66FF"/>
      </a:hlink>
      <a:folHlink>
        <a:srgbClr val="6699FF"/>
      </a:folHlink>
    </a:clrScheme>
    <a:fontScheme name="Azur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t" anchorCtr="0" compatLnSpc="1">
        <a:prstTxWarp prst="textNoShape">
          <a:avLst/>
        </a:prstTxWarp>
      </a:bodyPr>
      <a:lstStyle>
        <a:def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def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t" anchorCtr="0" compatLnSpc="1">
        <a:prstTxWarp prst="textNoShape">
          <a:avLst/>
        </a:prstTxWarp>
      </a:bodyPr>
      <a:lstStyle>
        <a:def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def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defRPr>
        </a:defPPr>
      </a:lstStyle>
    </a:lnDef>
  </a:objectDefaults>
  <a:extraClrSchemeLst>
    <a:extraClrScheme>
      <a:clrScheme name="Azure 1">
        <a:dk1>
          <a:srgbClr val="000000"/>
        </a:dk1>
        <a:lt1>
          <a:srgbClr val="FFFFFF"/>
        </a:lt1>
        <a:dk2>
          <a:srgbClr val="3333FF"/>
        </a:dk2>
        <a:lt2>
          <a:srgbClr val="00FFFF"/>
        </a:lt2>
        <a:accent1>
          <a:srgbClr val="00CCCC"/>
        </a:accent1>
        <a:accent2>
          <a:srgbClr val="CC99FF"/>
        </a:accent2>
        <a:accent3>
          <a:srgbClr val="ADADFF"/>
        </a:accent3>
        <a:accent4>
          <a:srgbClr val="DADADA"/>
        </a:accent4>
        <a:accent5>
          <a:srgbClr val="AAE2E2"/>
        </a:accent5>
        <a:accent6>
          <a:srgbClr val="B98AE7"/>
        </a:accent6>
        <a:hlink>
          <a:srgbClr val="6600CC"/>
        </a:hlink>
        <a:folHlink>
          <a:srgbClr val="6699FF"/>
        </a:folHlink>
      </a:clrScheme>
      <a:clrMap bg1="dk2" tx1="lt1" bg2="dk1" tx2="lt2" accent1="accent1" accent2="accent2" accent3="accent3" accent4="accent4" accent5="accent5" accent6="accent6" hlink="hlink" folHlink="folHlink"/>
    </a:extraClrScheme>
    <a:extraClrScheme>
      <a:clrScheme name="Azure 2">
        <a:dk1>
          <a:srgbClr val="000000"/>
        </a:dk1>
        <a:lt1>
          <a:srgbClr val="CCECFF"/>
        </a:lt1>
        <a:dk2>
          <a:srgbClr val="330099"/>
        </a:dk2>
        <a:lt2>
          <a:srgbClr val="0099CC"/>
        </a:lt2>
        <a:accent1>
          <a:srgbClr val="009999"/>
        </a:accent1>
        <a:accent2>
          <a:srgbClr val="FF99CC"/>
        </a:accent2>
        <a:accent3>
          <a:srgbClr val="E2F4FF"/>
        </a:accent3>
        <a:accent4>
          <a:srgbClr val="000000"/>
        </a:accent4>
        <a:accent5>
          <a:srgbClr val="AACACA"/>
        </a:accent5>
        <a:accent6>
          <a:srgbClr val="E78AB9"/>
        </a:accent6>
        <a:hlink>
          <a:srgbClr val="6600CC"/>
        </a:hlink>
        <a:folHlink>
          <a:srgbClr val="3366FF"/>
        </a:folHlink>
      </a:clrScheme>
      <a:clrMap bg1="lt1" tx1="dk1" bg2="lt2" tx2="dk2" accent1="accent1" accent2="accent2" accent3="accent3" accent4="accent4" accent5="accent5" accent6="accent6" hlink="hlink" folHlink="folHlink"/>
    </a:extraClrScheme>
    <a:extraClrScheme>
      <a:clrScheme name="Azure 3">
        <a:dk1>
          <a:srgbClr val="000000"/>
        </a:dk1>
        <a:lt1>
          <a:srgbClr val="FFFFFF"/>
        </a:lt1>
        <a:dk2>
          <a:srgbClr val="000000"/>
        </a:dk2>
        <a:lt2>
          <a:srgbClr val="CBCBCB"/>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D:\MSOffice\Template\Presentation Designs\Azure.pot</Template>
  <TotalTime>553879</TotalTime>
  <Words>5491</Words>
  <Application>Microsoft Office PowerPoint</Application>
  <PresentationFormat>全屏显示(4:3)</PresentationFormat>
  <Paragraphs>982</Paragraphs>
  <Slides>54</Slides>
  <Notes>37</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54</vt:i4>
      </vt:variant>
    </vt:vector>
  </HeadingPairs>
  <TitlesOfParts>
    <vt:vector size="73" baseType="lpstr">
      <vt:lpstr>Monotype Sorts</vt:lpstr>
      <vt:lpstr>MS PGothic</vt:lpstr>
      <vt:lpstr>方正姚体</vt:lpstr>
      <vt:lpstr>华文楷体</vt:lpstr>
      <vt:lpstr>华文新魏</vt:lpstr>
      <vt:lpstr>楷体</vt:lpstr>
      <vt:lpstr>楷体_GB2312</vt:lpstr>
      <vt:lpstr>隶书</vt:lpstr>
      <vt:lpstr>宋体</vt:lpstr>
      <vt:lpstr>Arial</vt:lpstr>
      <vt:lpstr>Arial Narrow</vt:lpstr>
      <vt:lpstr>Calibri</vt:lpstr>
      <vt:lpstr>Courier New</vt:lpstr>
      <vt:lpstr>Symbol</vt:lpstr>
      <vt:lpstr>Tahoma</vt:lpstr>
      <vt:lpstr>Times New Roman</vt:lpstr>
      <vt:lpstr>Webdings</vt:lpstr>
      <vt:lpstr>Wingdings</vt:lpstr>
      <vt:lpstr>Azure</vt:lpstr>
      <vt:lpstr>第 5 章  同  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操作系统</dc:title>
  <dc:subject>第5章</dc:subject>
  <dc:creator>史一民</dc:creator>
  <cp:keywords/>
  <cp:lastModifiedBy>Zetian Mi</cp:lastModifiedBy>
  <cp:revision>3017</cp:revision>
  <dcterms:created xsi:type="dcterms:W3CDTF">1995-06-17T23:31:02Z</dcterms:created>
  <dcterms:modified xsi:type="dcterms:W3CDTF">2024-10-09T05:39:56Z</dcterms:modified>
</cp:coreProperties>
</file>