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handoutMasterIdLst>
    <p:handoutMasterId r:id="rId53"/>
  </p:handoutMasterIdLst>
  <p:sldIdLst>
    <p:sldId id="1004" r:id="rId2"/>
    <p:sldId id="1005" r:id="rId3"/>
    <p:sldId id="1179" r:id="rId4"/>
    <p:sldId id="1180" r:id="rId5"/>
    <p:sldId id="1183" r:id="rId6"/>
    <p:sldId id="1181" r:id="rId7"/>
    <p:sldId id="1226" r:id="rId8"/>
    <p:sldId id="1228" r:id="rId9"/>
    <p:sldId id="1227" r:id="rId10"/>
    <p:sldId id="1182" r:id="rId11"/>
    <p:sldId id="1184" r:id="rId12"/>
    <p:sldId id="1129" r:id="rId13"/>
    <p:sldId id="1185" r:id="rId14"/>
    <p:sldId id="1186" r:id="rId15"/>
    <p:sldId id="1187" r:id="rId16"/>
    <p:sldId id="1190" r:id="rId17"/>
    <p:sldId id="1191" r:id="rId18"/>
    <p:sldId id="1192" r:id="rId19"/>
    <p:sldId id="1188" r:id="rId20"/>
    <p:sldId id="1195" r:id="rId21"/>
    <p:sldId id="1189" r:id="rId22"/>
    <p:sldId id="1196" r:id="rId23"/>
    <p:sldId id="1197" r:id="rId24"/>
    <p:sldId id="1198" r:id="rId25"/>
    <p:sldId id="1201" r:id="rId26"/>
    <p:sldId id="1202" r:id="rId27"/>
    <p:sldId id="1199" r:id="rId28"/>
    <p:sldId id="1200" r:id="rId29"/>
    <p:sldId id="1203" r:id="rId30"/>
    <p:sldId id="1204" r:id="rId31"/>
    <p:sldId id="1205" r:id="rId32"/>
    <p:sldId id="1206" r:id="rId33"/>
    <p:sldId id="1229" r:id="rId34"/>
    <p:sldId id="1207" r:id="rId35"/>
    <p:sldId id="1208" r:id="rId36"/>
    <p:sldId id="1209" r:id="rId37"/>
    <p:sldId id="1210" r:id="rId38"/>
    <p:sldId id="1211" r:id="rId39"/>
    <p:sldId id="1212" r:id="rId40"/>
    <p:sldId id="1213" r:id="rId41"/>
    <p:sldId id="1214" r:id="rId42"/>
    <p:sldId id="1215" r:id="rId43"/>
    <p:sldId id="1216" r:id="rId44"/>
    <p:sldId id="1218" r:id="rId45"/>
    <p:sldId id="1225" r:id="rId46"/>
    <p:sldId id="1223" r:id="rId47"/>
    <p:sldId id="1224" r:id="rId48"/>
    <p:sldId id="1219" r:id="rId49"/>
    <p:sldId id="1221" r:id="rId50"/>
    <p:sldId id="1222" r:id="rId51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3200" b="1" kern="1200">
        <a:solidFill>
          <a:srgbClr val="FFFF00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3200" b="1" kern="1200">
        <a:solidFill>
          <a:srgbClr val="FFFF00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3200" b="1" kern="1200">
        <a:solidFill>
          <a:srgbClr val="FFFF00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3200" b="1" kern="1200">
        <a:solidFill>
          <a:srgbClr val="FFFF00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3200" b="1" kern="1200">
        <a:solidFill>
          <a:srgbClr val="FFFF00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3200" b="1" kern="1200">
        <a:solidFill>
          <a:srgbClr val="FFFF00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3200" b="1" kern="1200">
        <a:solidFill>
          <a:srgbClr val="FFFF00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3200" b="1" kern="1200">
        <a:solidFill>
          <a:srgbClr val="FFFF00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3200" b="1" kern="1200">
        <a:solidFill>
          <a:srgbClr val="FFFF00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0D204"/>
    <a:srgbClr val="FF00FF"/>
    <a:srgbClr val="CDD9FF"/>
    <a:srgbClr val="DDDDDD"/>
    <a:srgbClr val="37670F"/>
    <a:srgbClr val="1A7402"/>
    <a:srgbClr val="229303"/>
    <a:srgbClr val="0000CC"/>
    <a:srgbClr val="006600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9" autoAdjust="0"/>
    <p:restoredTop sz="89451" autoAdjust="0"/>
  </p:normalViewPr>
  <p:slideViewPr>
    <p:cSldViewPr>
      <p:cViewPr varScale="1">
        <p:scale>
          <a:sx n="94" d="100"/>
          <a:sy n="94" d="100"/>
        </p:scale>
        <p:origin x="666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1764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2147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000" b="0" i="1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000" b="0" i="1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000" b="0" i="1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000" b="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B4AD9251-16E8-4FE0-8FFB-FFF0533BDB8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91541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45922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 　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8279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交换调度：早期的、内存容量不大的小型机上分时系统多数采用</a:t>
            </a:r>
          </a:p>
          <a:p>
            <a:pPr eaLnBrk="1" hangingPunct="1"/>
            <a:r>
              <a:rPr lang="zh-CN" altLang="en-US" dirty="0" smtClean="0"/>
              <a:t>在</a:t>
            </a:r>
            <a:r>
              <a:rPr lang="zh-CN" altLang="en-US" dirty="0"/>
              <a:t>分时系统和实时系统中，为了缩短响应时间或为了满足用户需求的截止时间，作业不是建立在外存，而是直接建立在内存中。</a:t>
            </a:r>
          </a:p>
          <a:p>
            <a:pPr eaLnBrk="1" hangingPunct="1"/>
            <a:r>
              <a:rPr lang="zh-CN" altLang="en-US" dirty="0"/>
              <a:t>没有作业提交状态和后备状态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23821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就绪队列不必是先进先出队列。可以是</a:t>
            </a:r>
            <a:r>
              <a:rPr lang="en-US" altLang="zh-CN" dirty="0"/>
              <a:t>FIFO</a:t>
            </a:r>
            <a:r>
              <a:rPr lang="zh-CN" altLang="en-US" dirty="0"/>
              <a:t>队列、优先队列、树或者简单的无序链表。</a:t>
            </a:r>
            <a:endParaRPr lang="en-US" altLang="zh-CN" dirty="0"/>
          </a:p>
          <a:p>
            <a:r>
              <a:rPr lang="zh-CN" altLang="en-US" dirty="0"/>
              <a:t>在概念上就绪队列内的所有进程都要排队以便等待在</a:t>
            </a:r>
            <a:r>
              <a:rPr lang="en-US" altLang="zh-CN" dirty="0"/>
              <a:t>CPU </a:t>
            </a:r>
            <a:r>
              <a:rPr lang="zh-CN" altLang="en-US" dirty="0"/>
              <a:t>上运行。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实时调度必须是抢占式调度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28513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 smtClean="0">
                <a:solidFill>
                  <a:schemeClr val="bg2"/>
                </a:solidFill>
              </a:rPr>
              <a:t>Kernel/</a:t>
            </a:r>
            <a:r>
              <a:rPr lang="en-US" altLang="zh-CN" sz="1200" dirty="0" err="1" smtClean="0">
                <a:solidFill>
                  <a:schemeClr val="bg2"/>
                </a:solidFill>
              </a:rPr>
              <a:t>proc.c</a:t>
            </a:r>
            <a:endParaRPr lang="en-US" altLang="zh-CN" sz="1200" dirty="0" smtClean="0">
              <a:solidFill>
                <a:schemeClr val="bg2"/>
              </a:solidFill>
            </a:endParaRPr>
          </a:p>
          <a:p>
            <a:r>
              <a:rPr lang="en-US" altLang="zh-CN" sz="1200" dirty="0" smtClean="0">
                <a:solidFill>
                  <a:schemeClr val="bg2"/>
                </a:solidFill>
              </a:rPr>
              <a:t>// Per-CPU () process scheduler.</a:t>
            </a:r>
          </a:p>
          <a:p>
            <a:r>
              <a:rPr lang="en-US" altLang="zh-CN" sz="1200" dirty="0" smtClean="0">
                <a:solidFill>
                  <a:schemeClr val="bg2"/>
                </a:solidFill>
              </a:rPr>
              <a:t>// Each CPU calls scheduler after setting itself up.</a:t>
            </a:r>
          </a:p>
          <a:p>
            <a:r>
              <a:rPr lang="en-US" altLang="zh-CN" sz="1200" dirty="0" smtClean="0">
                <a:solidFill>
                  <a:schemeClr val="bg2"/>
                </a:solidFill>
              </a:rPr>
              <a:t>// Scheduler never returns.  It loops, doing:</a:t>
            </a:r>
          </a:p>
          <a:p>
            <a:r>
              <a:rPr lang="en-US" altLang="zh-CN" sz="1200" dirty="0" smtClean="0">
                <a:solidFill>
                  <a:schemeClr val="bg2"/>
                </a:solidFill>
              </a:rPr>
              <a:t>//  - choose a process to run.</a:t>
            </a:r>
          </a:p>
          <a:p>
            <a:r>
              <a:rPr lang="en-US" altLang="zh-CN" sz="1200" dirty="0" smtClean="0">
                <a:solidFill>
                  <a:schemeClr val="bg2"/>
                </a:solidFill>
              </a:rPr>
              <a:t>//  - </a:t>
            </a:r>
            <a:r>
              <a:rPr lang="en-US" altLang="zh-CN" sz="1200" dirty="0" err="1" smtClean="0">
                <a:solidFill>
                  <a:schemeClr val="bg2"/>
                </a:solidFill>
              </a:rPr>
              <a:t>swtch</a:t>
            </a:r>
            <a:r>
              <a:rPr lang="en-US" altLang="zh-CN" sz="1200" dirty="0" smtClean="0">
                <a:solidFill>
                  <a:schemeClr val="bg2"/>
                </a:solidFill>
              </a:rPr>
              <a:t> to start running that process.</a:t>
            </a:r>
          </a:p>
          <a:p>
            <a:r>
              <a:rPr lang="en-US" altLang="zh-CN" sz="1200" dirty="0" smtClean="0">
                <a:solidFill>
                  <a:schemeClr val="bg2"/>
                </a:solidFill>
              </a:rPr>
              <a:t>//  - eventually that process transfers control</a:t>
            </a:r>
          </a:p>
          <a:p>
            <a:r>
              <a:rPr lang="en-US" altLang="zh-CN" sz="1200" dirty="0" smtClean="0">
                <a:solidFill>
                  <a:schemeClr val="bg2"/>
                </a:solidFill>
              </a:rPr>
              <a:t>//    via </a:t>
            </a:r>
            <a:r>
              <a:rPr lang="en-US" altLang="zh-CN" sz="1200" dirty="0" err="1" smtClean="0">
                <a:solidFill>
                  <a:schemeClr val="bg2"/>
                </a:solidFill>
              </a:rPr>
              <a:t>swtch</a:t>
            </a:r>
            <a:r>
              <a:rPr lang="en-US" altLang="zh-CN" sz="1200" dirty="0" smtClean="0">
                <a:solidFill>
                  <a:schemeClr val="bg2"/>
                </a:solidFill>
              </a:rPr>
              <a:t> back to the scheduler.</a:t>
            </a:r>
            <a:endParaRPr lang="en-US" altLang="zh-CN" sz="1200" dirty="0">
              <a:solidFill>
                <a:schemeClr val="bg2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22846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200" kern="1200" dirty="0" err="1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chan</a:t>
            </a:r>
            <a:r>
              <a:rPr kumimoji="1" lang="zh-CN" altLang="zh-CN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不为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NULL</a:t>
            </a:r>
            <a:r>
              <a:rPr kumimoji="1" lang="zh-CN" altLang="zh-CN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时，是进程睡眠时所挂的睡眠队列</a:t>
            </a:r>
            <a:endParaRPr kumimoji="1" lang="en-US" altLang="zh-CN" sz="1200" kern="1200" dirty="0" smtClean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killed</a:t>
            </a:r>
            <a:r>
              <a:rPr kumimoji="1" lang="zh-CN" altLang="zh-CN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不为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0</a:t>
            </a:r>
            <a:r>
              <a:rPr kumimoji="1" lang="zh-CN" altLang="zh-CN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时，表示进程被杀死了；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5512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bg2"/>
                </a:solidFill>
                <a:latin typeface="宋体" panose="02010600030101010101" pitchFamily="2" charset="-122"/>
              </a:rPr>
              <a:t>兼顾许多特点会造成复杂的调度算法</a:t>
            </a:r>
            <a:r>
              <a:rPr lang="en-US" altLang="zh-CN" sz="1200" dirty="0">
                <a:solidFill>
                  <a:schemeClr val="bg2"/>
                </a:solidFill>
                <a:latin typeface="宋体" panose="02010600030101010101" pitchFamily="2" charset="-122"/>
              </a:rPr>
              <a:t>, </a:t>
            </a:r>
            <a:r>
              <a:rPr lang="zh-CN" altLang="en-US" dirty="0"/>
              <a:t>其结果是系统开销增加，资源利用率下降。</a:t>
            </a:r>
            <a:endParaRPr lang="en-US" altLang="zh-CN" dirty="0">
              <a:solidFill>
                <a:schemeClr val="bg2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bg2"/>
                </a:solidFill>
                <a:latin typeface="宋体" panose="02010600030101010101" pitchFamily="2" charset="-122"/>
              </a:rPr>
              <a:t>这是操作系统等复杂系统的设计精髓</a:t>
            </a:r>
            <a:r>
              <a:rPr lang="en-US" altLang="zh-CN" sz="1200" dirty="0">
                <a:solidFill>
                  <a:schemeClr val="bg2"/>
                </a:solidFill>
                <a:latin typeface="宋体" panose="02010600030101010101" pitchFamily="2" charset="-122"/>
              </a:rPr>
              <a:t>!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40063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94729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65624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83957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19201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SJF:</a:t>
            </a:r>
            <a:r>
              <a:rPr lang="zh-CN" altLang="en-US" dirty="0" smtClean="0"/>
              <a:t>优先级为下次（预测的）</a:t>
            </a:r>
            <a:r>
              <a:rPr lang="en-US" altLang="zh-CN" dirty="0" smtClean="0"/>
              <a:t>CPU</a:t>
            </a:r>
            <a:r>
              <a:rPr lang="zh-CN" altLang="en-US" dirty="0" smtClean="0"/>
              <a:t>执行时间的倒数</a:t>
            </a:r>
            <a:endParaRPr lang="en-US" altLang="zh-CN" dirty="0" smtClean="0"/>
          </a:p>
          <a:p>
            <a:r>
              <a:rPr lang="zh-CN" altLang="en-US" dirty="0" smtClean="0"/>
              <a:t>内部优先级：采用一些测量数据计算优先级：时限、内存要求、打开文件数量、平均</a:t>
            </a:r>
            <a:r>
              <a:rPr lang="en-US" altLang="zh-CN" dirty="0" smtClean="0"/>
              <a:t>I/O</a:t>
            </a:r>
            <a:r>
              <a:rPr lang="zh-CN" altLang="en-US" dirty="0" smtClean="0"/>
              <a:t>执行时间与平均</a:t>
            </a:r>
            <a:r>
              <a:rPr lang="en-US" altLang="zh-CN" dirty="0" smtClean="0"/>
              <a:t>CPU</a:t>
            </a:r>
            <a:r>
              <a:rPr lang="zh-CN" altLang="en-US" baseline="0" dirty="0" smtClean="0"/>
              <a:t>执行时间之比</a:t>
            </a:r>
            <a:endParaRPr lang="en-US" altLang="zh-CN" baseline="0" dirty="0" smtClean="0"/>
          </a:p>
          <a:p>
            <a:r>
              <a:rPr lang="zh-CN" altLang="en-US" baseline="0" dirty="0" smtClean="0"/>
              <a:t>外部定义的优先级：采用</a:t>
            </a:r>
            <a:r>
              <a:rPr lang="en-US" altLang="zh-CN" baseline="0" dirty="0" smtClean="0"/>
              <a:t>OS</a:t>
            </a:r>
            <a:r>
              <a:rPr lang="zh-CN" altLang="en-US" baseline="0" dirty="0" smtClean="0"/>
              <a:t>之外的一些准则，如进程重要性等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9237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93022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3600" b="1" kern="1200" dirty="0">
              <a:solidFill>
                <a:schemeClr val="bg1"/>
              </a:solidFill>
              <a:effectLst/>
              <a:latin typeface="+mj-lt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0987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97520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/>
              <a:t>C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68484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支持线程的</a:t>
            </a:r>
            <a:r>
              <a:rPr lang="en-US" altLang="zh-CN" sz="1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OS</a:t>
            </a:r>
            <a:r>
              <a:rPr lang="zh-CN" altLang="en-US" sz="1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，实际调度的是内核级线程</a:t>
            </a:r>
            <a:endParaRPr lang="en-US" altLang="zh-CN" sz="1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kern="1200" dirty="0" smtClean="0">
                <a:solidFill>
                  <a:schemeClr val="bg2"/>
                </a:solidFill>
                <a:effectLst/>
                <a:latin typeface="Times New Roman" pitchFamily="18" charset="0"/>
                <a:ea typeface="楷体" panose="02010609060101010101" pitchFamily="49" charset="-122"/>
                <a:cs typeface="+mn-cs"/>
              </a:rPr>
              <a:t>线程库调度用户级线程到</a:t>
            </a:r>
            <a:r>
              <a:rPr kumimoji="1" lang="en-US" altLang="zh-CN" sz="1200" kern="1200" dirty="0" smtClean="0">
                <a:solidFill>
                  <a:schemeClr val="bg2"/>
                </a:solidFill>
                <a:effectLst/>
                <a:latin typeface="Times New Roman" pitchFamily="18" charset="0"/>
                <a:ea typeface="楷体" panose="02010609060101010101" pitchFamily="49" charset="-122"/>
                <a:cs typeface="+mn-cs"/>
              </a:rPr>
              <a:t>LWP</a:t>
            </a:r>
            <a:r>
              <a:rPr kumimoji="1" lang="zh-CN" altLang="en-US" sz="1200" kern="1200" dirty="0" smtClean="0">
                <a:solidFill>
                  <a:schemeClr val="bg2"/>
                </a:solidFill>
                <a:effectLst/>
                <a:latin typeface="Times New Roman" pitchFamily="18" charset="0"/>
                <a:ea typeface="楷体" panose="02010609060101010101" pitchFamily="49" charset="-122"/>
                <a:cs typeface="+mn-cs"/>
              </a:rPr>
              <a:t>上，并不意味着线程真实运行在一个</a:t>
            </a:r>
            <a:r>
              <a:rPr kumimoji="1" lang="en-US" altLang="zh-CN" sz="1200" kern="1200" dirty="0" smtClean="0">
                <a:solidFill>
                  <a:schemeClr val="bg2"/>
                </a:solidFill>
                <a:effectLst/>
                <a:latin typeface="Times New Roman" pitchFamily="18" charset="0"/>
                <a:ea typeface="楷体" panose="02010609060101010101" pitchFamily="49" charset="-122"/>
                <a:cs typeface="+mn-cs"/>
              </a:rPr>
              <a:t>CPU</a:t>
            </a:r>
            <a:r>
              <a:rPr kumimoji="1" lang="zh-CN" altLang="en-US" sz="1200" kern="1200" dirty="0" smtClean="0">
                <a:solidFill>
                  <a:schemeClr val="bg2"/>
                </a:solidFill>
                <a:effectLst/>
                <a:latin typeface="Times New Roman" pitchFamily="18" charset="0"/>
                <a:ea typeface="楷体" panose="02010609060101010101" pitchFamily="49" charset="-122"/>
                <a:cs typeface="+mn-cs"/>
              </a:rPr>
              <a:t>上，需要</a:t>
            </a:r>
            <a:r>
              <a:rPr kumimoji="1" lang="en-US" altLang="zh-CN" sz="1200" kern="1200" dirty="0" smtClean="0">
                <a:solidFill>
                  <a:schemeClr val="bg2"/>
                </a:solidFill>
                <a:effectLst/>
                <a:latin typeface="Times New Roman" pitchFamily="18" charset="0"/>
                <a:ea typeface="楷体" panose="02010609060101010101" pitchFamily="49" charset="-122"/>
                <a:cs typeface="+mn-cs"/>
              </a:rPr>
              <a:t>OS</a:t>
            </a:r>
            <a:r>
              <a:rPr kumimoji="1" lang="zh-CN" altLang="en-US" sz="1200" kern="1200" dirty="0" smtClean="0">
                <a:solidFill>
                  <a:schemeClr val="bg2"/>
                </a:solidFill>
                <a:effectLst/>
                <a:latin typeface="Times New Roman" pitchFamily="18" charset="0"/>
                <a:ea typeface="楷体" panose="02010609060101010101" pitchFamily="49" charset="-122"/>
                <a:cs typeface="+mn-cs"/>
              </a:rPr>
              <a:t>调度内核线程到物理</a:t>
            </a:r>
            <a:r>
              <a:rPr kumimoji="1" lang="en-US" altLang="zh-CN" sz="1200" kern="1200" dirty="0" smtClean="0">
                <a:solidFill>
                  <a:schemeClr val="bg2"/>
                </a:solidFill>
                <a:effectLst/>
                <a:latin typeface="Times New Roman" pitchFamily="18" charset="0"/>
                <a:ea typeface="楷体" panose="02010609060101010101" pitchFamily="49" charset="-122"/>
                <a:cs typeface="+mn-cs"/>
              </a:rPr>
              <a:t>CPU</a:t>
            </a:r>
            <a:r>
              <a:rPr kumimoji="1" lang="zh-CN" altLang="en-US" sz="1200" kern="1200" dirty="0" smtClean="0">
                <a:solidFill>
                  <a:schemeClr val="bg2"/>
                </a:solidFill>
                <a:effectLst/>
                <a:latin typeface="Times New Roman" pitchFamily="18" charset="0"/>
                <a:ea typeface="楷体" panose="02010609060101010101" pitchFamily="49" charset="-122"/>
                <a:cs typeface="+mn-cs"/>
              </a:rPr>
              <a:t>上。</a:t>
            </a:r>
            <a:endParaRPr lang="en-US" altLang="zh-CN" sz="1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4447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kern="0" dirty="0" smtClean="0">
                <a:solidFill>
                  <a:srgbClr val="FF9933"/>
                </a:solidFill>
                <a:ea typeface="楷体" panose="02010609060101010101" pitchFamily="49" charset="-122"/>
              </a:rPr>
              <a:t>多核：</a:t>
            </a:r>
            <a:r>
              <a:rPr lang="zh-CN" altLang="en-US" sz="1200" b="1" dirty="0" smtClean="0">
                <a:solidFill>
                  <a:srgbClr val="FF9933"/>
                </a:solidFill>
                <a:ea typeface="楷体" panose="02010609060101010101" pitchFamily="49" charset="-122"/>
              </a:rPr>
              <a:t>更复杂的</a:t>
            </a:r>
            <a:r>
              <a:rPr lang="en-US" altLang="zh-CN" sz="1200" b="1" dirty="0" smtClean="0">
                <a:solidFill>
                  <a:srgbClr val="FF9933"/>
                </a:solidFill>
                <a:ea typeface="楷体" panose="02010609060101010101" pitchFamily="49" charset="-122"/>
              </a:rPr>
              <a:t>CPU</a:t>
            </a:r>
            <a:r>
              <a:rPr lang="zh-CN" altLang="en-US" sz="1200" b="1" dirty="0" smtClean="0">
                <a:solidFill>
                  <a:srgbClr val="FF9933"/>
                </a:solidFill>
                <a:ea typeface="楷体" panose="02010609060101010101" pitchFamily="49" charset="-122"/>
              </a:rPr>
              <a:t>调度</a:t>
            </a:r>
            <a:endParaRPr lang="zh-CN" altLang="en-US" sz="1200" b="1" kern="0" dirty="0" smtClean="0">
              <a:solidFill>
                <a:srgbClr val="FF9933"/>
              </a:solidFill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200" kern="1200" dirty="0" smtClean="0">
              <a:solidFill>
                <a:schemeClr val="bg1"/>
              </a:solidFill>
              <a:effectLst/>
              <a:latin typeface="Times New Roman" pitchFamily="18" charset="0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kern="1200" dirty="0" smtClean="0">
                <a:solidFill>
                  <a:schemeClr val="bg1"/>
                </a:solidFill>
                <a:effectLst/>
                <a:latin typeface="Times New Roman" pitchFamily="18" charset="0"/>
                <a:ea typeface="楷体" panose="02010609060101010101" pitchFamily="49" charset="-122"/>
                <a:cs typeface="+mn-cs"/>
              </a:rPr>
              <a:t>本</a:t>
            </a:r>
            <a:r>
              <a:rPr kumimoji="1" lang="zh-CN" altLang="en-US" sz="1200" kern="1200" dirty="0">
                <a:solidFill>
                  <a:schemeClr val="bg1"/>
                </a:solidFill>
                <a:effectLst/>
                <a:latin typeface="Times New Roman" pitchFamily="18" charset="0"/>
                <a:ea typeface="楷体" panose="02010609060101010101" pitchFamily="49" charset="-122"/>
                <a:cs typeface="+mn-cs"/>
              </a:rPr>
              <a:t>节只考虑同构系统：各处理器功能上相同</a:t>
            </a:r>
            <a:endParaRPr kumimoji="1" lang="en-US" altLang="en-US" sz="1200" kern="1200" dirty="0">
              <a:solidFill>
                <a:schemeClr val="bg1"/>
              </a:solidFill>
              <a:effectLst/>
              <a:latin typeface="Times New Roman" pitchFamily="18" charset="0"/>
              <a:ea typeface="楷体" panose="02010609060101010101" pitchFamily="49" charset="-122"/>
              <a:cs typeface="+mn-cs"/>
            </a:endParaRPr>
          </a:p>
          <a:p>
            <a:endParaRPr kumimoji="1" lang="en-US" altLang="zh-CN" sz="1200" b="0" i="0" kern="1200" dirty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在对称多处理系统还没完全发展好之前，它曾被视为是一种软件的权宜之计，可以用来让多个处理器同时运作。在对称多处理系统开发好之后，现今它仍然被视为是一个较简单廉价的软件选项。</a:t>
            </a:r>
            <a:r>
              <a:rPr kumimoji="1" lang="zh-CN" altLang="en-US" sz="1200" b="0" i="0" kern="1200" baseline="300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 </a:t>
            </a:r>
            <a:r>
              <a:rPr kumimoji="1" lang="en-US" altLang="zh-CN" sz="1200" b="0" i="0" kern="1200" baseline="300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[1]</a:t>
            </a:r>
            <a:r>
              <a:rPr kumimoji="1" lang="zh-CN" altLang="en-US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 </a:t>
            </a:r>
            <a:endParaRPr lang="en-US" altLang="zh-CN" dirty="0"/>
          </a:p>
          <a:p>
            <a:r>
              <a:rPr lang="zh-CN" altLang="en-US" dirty="0"/>
              <a:t>多个处理器试图访问或更新一个共同的数据结构，</a:t>
            </a:r>
            <a:endParaRPr lang="en-US" altLang="zh-CN" dirty="0"/>
          </a:p>
          <a:p>
            <a:r>
              <a:rPr lang="zh-CN" altLang="en-US" dirty="0"/>
              <a:t>每个处理器必须仔细编程，确保两个处理器不会选择同一进程，而且进程不会从队列中丢失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19748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kern="1200" dirty="0" smtClean="0">
                <a:solidFill>
                  <a:schemeClr val="bg2"/>
                </a:solidFill>
                <a:effectLst/>
                <a:latin typeface="Times New Roman" pitchFamily="18" charset="0"/>
                <a:ea typeface="楷体" panose="02010609060101010101" pitchFamily="49" charset="-122"/>
                <a:cs typeface="+mn-cs"/>
              </a:rPr>
              <a:t>每个</a:t>
            </a:r>
            <a:r>
              <a:rPr kumimoji="1" lang="en-US" altLang="zh-CN" sz="1200" kern="1200" dirty="0" smtClean="0">
                <a:solidFill>
                  <a:schemeClr val="bg2"/>
                </a:solidFill>
                <a:effectLst/>
                <a:latin typeface="Times New Roman" pitchFamily="18" charset="0"/>
                <a:ea typeface="楷体" panose="02010609060101010101" pitchFamily="49" charset="-122"/>
                <a:cs typeface="+mn-cs"/>
              </a:rPr>
              <a:t>CPU</a:t>
            </a:r>
            <a:r>
              <a:rPr kumimoji="1" lang="zh-CN" altLang="en-US" sz="1200" kern="1200" dirty="0" smtClean="0">
                <a:solidFill>
                  <a:schemeClr val="bg2"/>
                </a:solidFill>
                <a:effectLst/>
                <a:latin typeface="Times New Roman" pitchFamily="18" charset="0"/>
                <a:ea typeface="楷体" panose="02010609060101010101" pitchFamily="49" charset="-122"/>
                <a:cs typeface="+mn-cs"/>
              </a:rPr>
              <a:t>有</a:t>
            </a:r>
            <a:r>
              <a:rPr lang="en-US" altLang="zh-CN" sz="1200" dirty="0" smtClean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cache </a:t>
            </a:r>
            <a:r>
              <a:rPr kumimoji="1" lang="zh-CN" altLang="en-US" sz="1200" kern="1200" dirty="0" smtClean="0">
                <a:solidFill>
                  <a:schemeClr val="bg2"/>
                </a:solidFill>
                <a:effectLst/>
                <a:latin typeface="Times New Roman" pitchFamily="18" charset="0"/>
                <a:ea typeface="楷体" panose="02010609060101010101" pitchFamily="49" charset="-122"/>
                <a:cs typeface="+mn-cs"/>
              </a:rPr>
              <a:t>，缓存着进程最近访问的数据。进程被</a:t>
            </a:r>
            <a:r>
              <a:rPr kumimoji="1" lang="en-US" altLang="zh-CN" sz="1200" kern="1200" dirty="0" smtClean="0">
                <a:solidFill>
                  <a:schemeClr val="bg2"/>
                </a:solidFill>
                <a:effectLst/>
                <a:latin typeface="Times New Roman" pitchFamily="18" charset="0"/>
                <a:ea typeface="楷体" panose="02010609060101010101" pitchFamily="49" charset="-122"/>
                <a:cs typeface="+mn-cs"/>
              </a:rPr>
              <a:t>OS</a:t>
            </a:r>
            <a:r>
              <a:rPr kumimoji="1" lang="zh-CN" altLang="en-US" sz="1200" kern="1200" dirty="0" smtClean="0">
                <a:solidFill>
                  <a:schemeClr val="bg2"/>
                </a:solidFill>
                <a:effectLst/>
                <a:latin typeface="Times New Roman" pitchFamily="18" charset="0"/>
                <a:ea typeface="楷体" panose="02010609060101010101" pitchFamily="49" charset="-122"/>
                <a:cs typeface="+mn-cs"/>
              </a:rPr>
              <a:t>调度到其它</a:t>
            </a:r>
            <a:r>
              <a:rPr kumimoji="1" lang="en-US" altLang="zh-CN" sz="1200" kern="1200" dirty="0" smtClean="0">
                <a:solidFill>
                  <a:schemeClr val="bg2"/>
                </a:solidFill>
                <a:effectLst/>
                <a:latin typeface="Times New Roman" pitchFamily="18" charset="0"/>
                <a:ea typeface="楷体" panose="02010609060101010101" pitchFamily="49" charset="-122"/>
                <a:cs typeface="+mn-cs"/>
              </a:rPr>
              <a:t>CPU</a:t>
            </a:r>
            <a:r>
              <a:rPr kumimoji="1" lang="zh-CN" altLang="en-US" sz="1200" kern="1200" dirty="0" smtClean="0">
                <a:solidFill>
                  <a:schemeClr val="bg2"/>
                </a:solidFill>
                <a:effectLst/>
                <a:latin typeface="Times New Roman" pitchFamily="18" charset="0"/>
                <a:ea typeface="楷体" panose="02010609060101010101" pitchFamily="49" charset="-122"/>
                <a:cs typeface="+mn-cs"/>
              </a:rPr>
              <a:t>上，，数据必须从内存加载到处理器</a:t>
            </a:r>
            <a:r>
              <a:rPr kumimoji="1" lang="en-US" altLang="zh-CN" sz="1200" kern="1200" dirty="0" smtClean="0">
                <a:solidFill>
                  <a:schemeClr val="bg2"/>
                </a:solidFill>
                <a:effectLst/>
                <a:latin typeface="Times New Roman" pitchFamily="18" charset="0"/>
                <a:ea typeface="楷体" panose="02010609060101010101" pitchFamily="49" charset="-122"/>
                <a:cs typeface="+mn-cs"/>
              </a:rPr>
              <a:t>cache</a:t>
            </a:r>
            <a:r>
              <a:rPr kumimoji="1" lang="zh-CN" altLang="en-US" sz="1200" kern="1200" dirty="0" smtClean="0">
                <a:solidFill>
                  <a:schemeClr val="bg2"/>
                </a:solidFill>
                <a:effectLst/>
                <a:latin typeface="Times New Roman" pitchFamily="18" charset="0"/>
                <a:ea typeface="楷体" panose="02010609060101010101" pitchFamily="49" charset="-122"/>
                <a:cs typeface="+mn-cs"/>
              </a:rPr>
              <a:t>中，</a:t>
            </a:r>
            <a:r>
              <a:rPr kumimoji="1" lang="en-US" altLang="zh-CN" sz="1200" kern="1200" dirty="0" smtClean="0">
                <a:solidFill>
                  <a:schemeClr val="bg2"/>
                </a:solidFill>
                <a:effectLst/>
                <a:latin typeface="Times New Roman" pitchFamily="18" charset="0"/>
                <a:ea typeface="楷体" panose="02010609060101010101" pitchFamily="49" charset="-122"/>
                <a:cs typeface="+mn-cs"/>
              </a:rPr>
              <a:t>cache</a:t>
            </a:r>
            <a:r>
              <a:rPr kumimoji="1" lang="zh-CN" altLang="en-US" sz="1200" kern="1200" dirty="0" smtClean="0">
                <a:solidFill>
                  <a:schemeClr val="bg2"/>
                </a:solidFill>
                <a:effectLst/>
                <a:latin typeface="Times New Roman" pitchFamily="18" charset="0"/>
                <a:ea typeface="楷体" panose="02010609060101010101" pitchFamily="49" charset="-122"/>
                <a:cs typeface="+mn-cs"/>
              </a:rPr>
              <a:t>命中率就低了</a:t>
            </a:r>
            <a:endParaRPr kumimoji="1" lang="en-US" altLang="zh-CN" sz="1200" kern="1200" dirty="0" smtClean="0">
              <a:solidFill>
                <a:schemeClr val="bg2"/>
              </a:solidFill>
              <a:effectLst/>
              <a:latin typeface="Times New Roman" pitchFamily="18" charset="0"/>
              <a:ea typeface="楷体" panose="02010609060101010101" pitchFamily="49" charset="-122"/>
              <a:cs typeface="+mn-cs"/>
            </a:endParaRPr>
          </a:p>
          <a:p>
            <a:endParaRPr kumimoji="1" lang="en-US" altLang="zh-CN" sz="1200" b="0" i="0" kern="1200" dirty="0" smtClean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Linux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内核进程调度器天生就具有被称为 </a:t>
            </a:r>
            <a:r>
              <a:rPr kumimoji="1" lang="zh-CN" altLang="en-US" sz="1200" b="0" i="1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软 </a:t>
            </a:r>
            <a:r>
              <a:rPr kumimoji="1" lang="en-US" altLang="zh-CN" sz="1200" b="0" i="1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CPU </a:t>
            </a:r>
            <a:r>
              <a:rPr kumimoji="1" lang="zh-CN" altLang="en-US" sz="1200" b="0" i="1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亲和性（</a:t>
            </a:r>
            <a:r>
              <a:rPr kumimoji="1" lang="en-US" altLang="zh-CN" sz="1200" b="0" i="1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affinity</a:t>
            </a:r>
            <a:r>
              <a:rPr kumimoji="1" lang="zh-CN" altLang="en-US" sz="1200" b="0" i="1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）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 的特性，</a:t>
            </a:r>
            <a:endParaRPr kumimoji="1" lang="en-US" altLang="zh-CN" sz="1200" b="0" i="0" kern="1200" dirty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进程通常不会在处理器之间频繁迁移。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95347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2.6.20</a:t>
            </a:r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版</a:t>
            </a:r>
            <a:r>
              <a:rPr kumimoji="1" lang="en-US" altLang="zh-CN" sz="1200" b="0" i="0" kern="1200" dirty="0" err="1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linux</a:t>
            </a:r>
            <a:r>
              <a:rPr kumimoji="1" lang="en-US" altLang="zh-CN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 kernel</a:t>
            </a:r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的确使用软中断来定时调整多</a:t>
            </a:r>
            <a:r>
              <a:rPr kumimoji="1" lang="en-US" altLang="zh-CN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CPU</a:t>
            </a:r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上的压力（调用函数</a:t>
            </a:r>
            <a:r>
              <a:rPr kumimoji="1" lang="en-US" altLang="zh-CN" sz="1200" b="0" i="0" kern="1200" dirty="0" err="1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run_rebalance_domains</a:t>
            </a:r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），每秒</a:t>
            </a:r>
            <a:r>
              <a:rPr kumimoji="1" lang="en-US" altLang="zh-CN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1</a:t>
            </a:r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次。</a:t>
            </a:r>
            <a:endParaRPr kumimoji="1" lang="en-US" altLang="zh-CN" sz="1200" b="0" i="0" kern="1200" dirty="0" smtClean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在进程睡眠和醒来这两个时间点检查</a:t>
            </a:r>
            <a:r>
              <a:rPr kumimoji="1" lang="en-US" altLang="zh-CN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CPU</a:t>
            </a:r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们的负载。</a:t>
            </a:r>
            <a:endParaRPr kumimoji="1" lang="en-US" altLang="zh-CN" sz="1200" b="0" i="0" kern="1200" dirty="0" smtClean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  <a:p>
            <a:endParaRPr kumimoji="1" lang="en-US" altLang="zh-CN" sz="1200" b="0" i="0" kern="1200" dirty="0" smtClean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FreeBSD</a:t>
            </a:r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采用这种推拉机制（精髓与设计原理</a:t>
            </a:r>
            <a:r>
              <a:rPr kumimoji="1" lang="en-US" altLang="zh-CN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10.5.2</a:t>
            </a:r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）</a:t>
            </a:r>
            <a:endParaRPr kumimoji="1" lang="en-US" altLang="zh-CN" sz="1200" b="0" i="0" kern="1200" dirty="0" smtClean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类</a:t>
            </a:r>
            <a:r>
              <a:rPr kumimoji="1" lang="en-US" altLang="zh-CN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UNIX</a:t>
            </a:r>
            <a:r>
              <a:rPr kumimoji="1" lang="zh-CN" altLang="en-US" sz="1200" b="0" i="0" kern="120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操作系统</a:t>
            </a:r>
            <a:endParaRPr kumimoji="1" lang="en-US" altLang="zh-CN" sz="1200" b="0" i="1" kern="1200" smtClean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b="0" i="1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FreeBSD</a:t>
            </a:r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 十分适合作为互联网或者局域网服务器，</a:t>
            </a:r>
            <a:r>
              <a:rPr kumimoji="1" lang="en-US" altLang="zh-CN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 </a:t>
            </a:r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提供先进的网络、性能、安全以及兼容性，</a:t>
            </a:r>
            <a:endParaRPr kumimoji="1" lang="en-US" altLang="zh-CN" sz="1200" b="0" i="0" kern="1200" dirty="0" smtClean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04682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O(1)</a:t>
            </a:r>
            <a:r>
              <a:rPr lang="zh-CN" altLang="en-US" dirty="0"/>
              <a:t>：运行时间为常量，与系统内任务数无关。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78429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谁的</a:t>
            </a:r>
            <a:r>
              <a:rPr kumimoji="1" lang="en-US" altLang="zh-CN" sz="1200" b="0" i="0" kern="1200" dirty="0" err="1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vruntime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值较小就说明它以前占用</a:t>
            </a:r>
            <a:r>
              <a:rPr kumimoji="1" lang="en-US" altLang="zh-CN" sz="1200" b="0" i="0" kern="1200" dirty="0" err="1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cpu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的时间较短，</a:t>
            </a:r>
            <a:endParaRPr kumimoji="1" lang="en-US" altLang="zh-CN" sz="1200" b="0" i="0" kern="1200" dirty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调度周期：所处于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TASK_RUNNING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态进程都调度一遍的时间</a:t>
            </a:r>
            <a:endParaRPr kumimoji="1" lang="en-US" altLang="zh-CN" sz="1200" b="0" i="0" kern="1200" dirty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这种绝对的公平有时也是一种不公平，因为有些进程的工作比其他进程更重要，希望能按照权重来分配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CPU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资源。</a:t>
            </a:r>
            <a:endParaRPr kumimoji="1" lang="en-US" altLang="zh-CN" sz="1200" b="0" i="0" kern="1200" dirty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。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CFS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调度器没有传统的静态时间片的概念，她的时间片是动态的，</a:t>
            </a:r>
            <a:endParaRPr kumimoji="1" lang="en-US" altLang="zh-CN" sz="1200" b="0" i="0" kern="1200" dirty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nice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值越小，进程的权重越大</a:t>
            </a:r>
            <a:endParaRPr kumimoji="1" lang="en-US" altLang="zh-CN" sz="1200" b="0" i="0" kern="1200" dirty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67196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黑树又称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R-B Tree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，全称是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Red-Black Tree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，</a:t>
            </a:r>
            <a:endParaRPr kumimoji="1" lang="en-US" altLang="zh-CN" sz="1200" b="0" i="0" kern="1200" dirty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lang="zh-CN" altLang="en-US" dirty="0"/>
              <a:t>它的统计性能要好于平衡二叉树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53940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Windows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的没有单独的调度模块或程序，调度的代码是在内核中实现的</a:t>
            </a:r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，</a:t>
            </a:r>
            <a:endParaRPr kumimoji="1" lang="en-US" altLang="zh-CN" sz="1200" b="0" i="0" kern="1200" dirty="0" smtClean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广泛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分布在内核中那些与调度相关的事件发生的地方。这些负责调度的程序被总称为“内核的调度器”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40826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2218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0" y="0"/>
            <a:ext cx="1085850" cy="6854825"/>
            <a:chOff x="0" y="0"/>
            <a:chExt cx="684" cy="4318"/>
          </a:xfrm>
        </p:grpSpPr>
        <p:sp>
          <p:nvSpPr>
            <p:cNvPr id="5" name="Rectangle 2"/>
            <p:cNvSpPr>
              <a:spLocks noChangeArrowheads="1"/>
            </p:cNvSpPr>
            <p:nvPr/>
          </p:nvSpPr>
          <p:spPr bwMode="invGray">
            <a:xfrm>
              <a:off x="0" y="0"/>
              <a:ext cx="684" cy="4318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6" name="Group 32"/>
            <p:cNvGrpSpPr>
              <a:grpSpLocks/>
            </p:cNvGrpSpPr>
            <p:nvPr/>
          </p:nvGrpSpPr>
          <p:grpSpPr bwMode="auto">
            <a:xfrm>
              <a:off x="48" y="103"/>
              <a:ext cx="96" cy="4126"/>
              <a:chOff x="48" y="103"/>
              <a:chExt cx="96" cy="4126"/>
            </a:xfrm>
          </p:grpSpPr>
          <p:sp>
            <p:nvSpPr>
              <p:cNvPr id="7" name="Rectangle 3"/>
              <p:cNvSpPr>
                <a:spLocks noChangeArrowheads="1"/>
              </p:cNvSpPr>
              <p:nvPr/>
            </p:nvSpPr>
            <p:spPr bwMode="auto">
              <a:xfrm>
                <a:off x="48" y="1105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8" name="Rectangle 4"/>
              <p:cNvSpPr>
                <a:spLocks noChangeArrowheads="1"/>
              </p:cNvSpPr>
              <p:nvPr/>
            </p:nvSpPr>
            <p:spPr bwMode="auto">
              <a:xfrm>
                <a:off x="48" y="1250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9" name="Rectangle 5"/>
              <p:cNvSpPr>
                <a:spLocks noChangeArrowheads="1"/>
              </p:cNvSpPr>
              <p:nvPr/>
            </p:nvSpPr>
            <p:spPr bwMode="auto">
              <a:xfrm>
                <a:off x="48" y="1393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" name="Rectangle 6"/>
              <p:cNvSpPr>
                <a:spLocks noChangeArrowheads="1"/>
              </p:cNvSpPr>
              <p:nvPr/>
            </p:nvSpPr>
            <p:spPr bwMode="auto">
              <a:xfrm>
                <a:off x="48" y="1538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1" name="Rectangle 7"/>
              <p:cNvSpPr>
                <a:spLocks noChangeArrowheads="1"/>
              </p:cNvSpPr>
              <p:nvPr/>
            </p:nvSpPr>
            <p:spPr bwMode="auto">
              <a:xfrm>
                <a:off x="48" y="1683"/>
                <a:ext cx="96" cy="9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2" name="Rectangle 8"/>
              <p:cNvSpPr>
                <a:spLocks noChangeArrowheads="1"/>
              </p:cNvSpPr>
              <p:nvPr/>
            </p:nvSpPr>
            <p:spPr bwMode="auto">
              <a:xfrm>
                <a:off x="48" y="1826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" name="Rectangle 9"/>
              <p:cNvSpPr>
                <a:spLocks noChangeArrowheads="1"/>
              </p:cNvSpPr>
              <p:nvPr/>
            </p:nvSpPr>
            <p:spPr bwMode="auto">
              <a:xfrm>
                <a:off x="48" y="1971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4" name="Rectangle 10"/>
              <p:cNvSpPr>
                <a:spLocks noChangeArrowheads="1"/>
              </p:cNvSpPr>
              <p:nvPr/>
            </p:nvSpPr>
            <p:spPr bwMode="auto">
              <a:xfrm>
                <a:off x="48" y="2116"/>
                <a:ext cx="96" cy="94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5" name="Rectangle 11"/>
              <p:cNvSpPr>
                <a:spLocks noChangeArrowheads="1"/>
              </p:cNvSpPr>
              <p:nvPr/>
            </p:nvSpPr>
            <p:spPr bwMode="auto">
              <a:xfrm>
                <a:off x="48" y="2259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6" name="Rectangle 12"/>
              <p:cNvSpPr>
                <a:spLocks noChangeArrowheads="1"/>
              </p:cNvSpPr>
              <p:nvPr/>
            </p:nvSpPr>
            <p:spPr bwMode="auto">
              <a:xfrm>
                <a:off x="48" y="2404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7" name="Rectangle 13"/>
              <p:cNvSpPr>
                <a:spLocks noChangeArrowheads="1"/>
              </p:cNvSpPr>
              <p:nvPr/>
            </p:nvSpPr>
            <p:spPr bwMode="auto">
              <a:xfrm>
                <a:off x="48" y="2549"/>
                <a:ext cx="96" cy="94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8" name="Rectangle 14"/>
              <p:cNvSpPr>
                <a:spLocks noChangeArrowheads="1"/>
              </p:cNvSpPr>
              <p:nvPr/>
            </p:nvSpPr>
            <p:spPr bwMode="auto">
              <a:xfrm>
                <a:off x="48" y="2691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9" name="Rectangle 15"/>
              <p:cNvSpPr>
                <a:spLocks noChangeArrowheads="1"/>
              </p:cNvSpPr>
              <p:nvPr/>
            </p:nvSpPr>
            <p:spPr bwMode="auto">
              <a:xfrm>
                <a:off x="48" y="2836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0" name="Rectangle 16"/>
              <p:cNvSpPr>
                <a:spLocks noChangeArrowheads="1"/>
              </p:cNvSpPr>
              <p:nvPr/>
            </p:nvSpPr>
            <p:spPr bwMode="auto">
              <a:xfrm>
                <a:off x="48" y="2979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1" name="Rectangle 17"/>
              <p:cNvSpPr>
                <a:spLocks noChangeArrowheads="1"/>
              </p:cNvSpPr>
              <p:nvPr/>
            </p:nvSpPr>
            <p:spPr bwMode="auto">
              <a:xfrm>
                <a:off x="48" y="3124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2" name="Rectangle 18"/>
              <p:cNvSpPr>
                <a:spLocks noChangeArrowheads="1"/>
              </p:cNvSpPr>
              <p:nvPr/>
            </p:nvSpPr>
            <p:spPr bwMode="auto">
              <a:xfrm>
                <a:off x="48" y="3269"/>
                <a:ext cx="96" cy="9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3" name="Rectangle 19"/>
              <p:cNvSpPr>
                <a:spLocks noChangeArrowheads="1"/>
              </p:cNvSpPr>
              <p:nvPr/>
            </p:nvSpPr>
            <p:spPr bwMode="auto">
              <a:xfrm>
                <a:off x="48" y="3412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" name="Rectangle 20"/>
              <p:cNvSpPr>
                <a:spLocks noChangeArrowheads="1"/>
              </p:cNvSpPr>
              <p:nvPr/>
            </p:nvSpPr>
            <p:spPr bwMode="auto">
              <a:xfrm>
                <a:off x="48" y="3557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5" name="Rectangle 21"/>
              <p:cNvSpPr>
                <a:spLocks noChangeArrowheads="1"/>
              </p:cNvSpPr>
              <p:nvPr/>
            </p:nvSpPr>
            <p:spPr bwMode="auto">
              <a:xfrm>
                <a:off x="48" y="3702"/>
                <a:ext cx="96" cy="9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6" name="Rectangle 22"/>
              <p:cNvSpPr>
                <a:spLocks noChangeArrowheads="1"/>
              </p:cNvSpPr>
              <p:nvPr/>
            </p:nvSpPr>
            <p:spPr bwMode="auto">
              <a:xfrm>
                <a:off x="48" y="3845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7" name="Rectangle 23"/>
              <p:cNvSpPr>
                <a:spLocks noChangeArrowheads="1"/>
              </p:cNvSpPr>
              <p:nvPr/>
            </p:nvSpPr>
            <p:spPr bwMode="auto">
              <a:xfrm>
                <a:off x="48" y="3990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8" name="Rectangle 24"/>
              <p:cNvSpPr>
                <a:spLocks noChangeArrowheads="1"/>
              </p:cNvSpPr>
              <p:nvPr/>
            </p:nvSpPr>
            <p:spPr bwMode="auto">
              <a:xfrm>
                <a:off x="48" y="4134"/>
                <a:ext cx="96" cy="9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9" name="Rectangle 25"/>
              <p:cNvSpPr>
                <a:spLocks noChangeArrowheads="1"/>
              </p:cNvSpPr>
              <p:nvPr/>
            </p:nvSpPr>
            <p:spPr bwMode="auto">
              <a:xfrm>
                <a:off x="48" y="103"/>
                <a:ext cx="96" cy="94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0" name="Rectangle 26"/>
              <p:cNvSpPr>
                <a:spLocks noChangeArrowheads="1"/>
              </p:cNvSpPr>
              <p:nvPr/>
            </p:nvSpPr>
            <p:spPr bwMode="auto">
              <a:xfrm>
                <a:off x="48" y="246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1" name="Rectangle 27"/>
              <p:cNvSpPr>
                <a:spLocks noChangeArrowheads="1"/>
              </p:cNvSpPr>
              <p:nvPr/>
            </p:nvSpPr>
            <p:spPr bwMode="auto">
              <a:xfrm>
                <a:off x="48" y="391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2" name="Rectangle 28"/>
              <p:cNvSpPr>
                <a:spLocks noChangeArrowheads="1"/>
              </p:cNvSpPr>
              <p:nvPr/>
            </p:nvSpPr>
            <p:spPr bwMode="auto">
              <a:xfrm>
                <a:off x="48" y="535"/>
                <a:ext cx="96" cy="9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3" name="Rectangle 29"/>
              <p:cNvSpPr>
                <a:spLocks noChangeArrowheads="1"/>
              </p:cNvSpPr>
              <p:nvPr/>
            </p:nvSpPr>
            <p:spPr bwMode="auto">
              <a:xfrm>
                <a:off x="48" y="678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4" name="Rectangle 30"/>
              <p:cNvSpPr>
                <a:spLocks noChangeArrowheads="1"/>
              </p:cNvSpPr>
              <p:nvPr/>
            </p:nvSpPr>
            <p:spPr bwMode="auto">
              <a:xfrm>
                <a:off x="48" y="823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5" name="Rectangle 31"/>
              <p:cNvSpPr>
                <a:spLocks noChangeArrowheads="1"/>
              </p:cNvSpPr>
              <p:nvPr/>
            </p:nvSpPr>
            <p:spPr bwMode="auto">
              <a:xfrm>
                <a:off x="48" y="968"/>
                <a:ext cx="96" cy="9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3106" name="Rectangle 34"/>
          <p:cNvSpPr>
            <a:spLocks noGrp="1" noChangeArrowheads="1"/>
          </p:cNvSpPr>
          <p:nvPr>
            <p:ph type="ctrTitle" sz="quarter"/>
          </p:nvPr>
        </p:nvSpPr>
        <p:spPr>
          <a:xfrm>
            <a:off x="11430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3107" name="Rectangle 3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36" name="Rectangle 36"/>
          <p:cNvSpPr>
            <a:spLocks noGrp="1" noChangeArrowheads="1"/>
          </p:cNvSpPr>
          <p:nvPr>
            <p:ph type="dt" sz="quarter" idx="10"/>
          </p:nvPr>
        </p:nvSpPr>
        <p:spPr>
          <a:xfrm>
            <a:off x="11430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4AAAF5-532F-4286-8087-1EE77342A63D}" type="datetime1">
              <a:rPr lang="zh-CN" altLang="en-US"/>
              <a:pPr>
                <a:defRPr/>
              </a:pPr>
              <a:t>2024/11/6</a:t>
            </a:fld>
            <a:endParaRPr lang="en-US" altLang="zh-CN"/>
          </a:p>
        </p:txBody>
      </p:sp>
      <p:sp>
        <p:nvSpPr>
          <p:cNvPr id="37" name="Rectangle 37"/>
          <p:cNvSpPr>
            <a:spLocks noGrp="1" noChangeArrowheads="1"/>
          </p:cNvSpPr>
          <p:nvPr>
            <p:ph type="ftr" sz="quarter" idx="11"/>
          </p:nvPr>
        </p:nvSpPr>
        <p:spPr>
          <a:xfrm>
            <a:off x="35814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" name="Rectangle 3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2BFFE8-88A0-45CD-BD99-653CADDCD4A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5723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CA0350-E2C7-4C3F-B45E-5ED928986F04}" type="datetime1">
              <a:rPr lang="zh-CN" altLang="en-US"/>
              <a:pPr>
                <a:defRPr/>
              </a:pPr>
              <a:t>2024/11/6</a:t>
            </a:fld>
            <a:endParaRPr lang="en-US" altLang="zh-CN"/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 </a:t>
            </a:r>
            <a:fld id="{4D18CCF0-A072-4DBD-9DA3-362055088704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 页</a:t>
            </a:r>
          </a:p>
        </p:txBody>
      </p:sp>
    </p:spTree>
    <p:extLst>
      <p:ext uri="{BB962C8B-B14F-4D97-AF65-F5344CB8AC3E}">
        <p14:creationId xmlns:p14="http://schemas.microsoft.com/office/powerpoint/2010/main" val="1975652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6D1341-F78E-49F0-9610-F78ED1CD133B}" type="datetime1">
              <a:rPr lang="zh-CN" altLang="en-US"/>
              <a:pPr>
                <a:defRPr/>
              </a:pPr>
              <a:t>2024/11/6</a:t>
            </a:fld>
            <a:endParaRPr lang="en-US" altLang="zh-CN"/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 </a:t>
            </a:r>
            <a:fld id="{8519D63C-5EA9-49E2-8385-F834B696D880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 页</a:t>
            </a:r>
          </a:p>
        </p:txBody>
      </p:sp>
    </p:spTree>
    <p:extLst>
      <p:ext uri="{BB962C8B-B14F-4D97-AF65-F5344CB8AC3E}">
        <p14:creationId xmlns:p14="http://schemas.microsoft.com/office/powerpoint/2010/main" val="407332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430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54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E98789-F8A9-4B5F-BEE4-6250E5425CAE}" type="datetime1">
              <a:rPr lang="zh-CN" altLang="en-US"/>
              <a:pPr>
                <a:defRPr/>
              </a:pPr>
              <a:t>2024/11/6</a:t>
            </a:fld>
            <a:endParaRPr lang="en-US" altLang="zh-CN"/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 </a:t>
            </a:r>
            <a:fld id="{7409795D-40E7-4A5D-BA3F-90C01BB69497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 页</a:t>
            </a:r>
          </a:p>
        </p:txBody>
      </p:sp>
    </p:spTree>
    <p:extLst>
      <p:ext uri="{BB962C8B-B14F-4D97-AF65-F5344CB8AC3E}">
        <p14:creationId xmlns:p14="http://schemas.microsoft.com/office/powerpoint/2010/main" val="251579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87684-F0D2-4E98-8235-739B1F111B16}" type="datetime1">
              <a:rPr lang="zh-CN" altLang="en-US"/>
              <a:pPr>
                <a:defRPr/>
              </a:pPr>
              <a:t>2024/11/6</a:t>
            </a:fld>
            <a:endParaRPr lang="en-US" altLang="zh-CN"/>
          </a:p>
        </p:txBody>
      </p:sp>
      <p:sp>
        <p:nvSpPr>
          <p:cNvPr id="8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 </a:t>
            </a:r>
            <a:fld id="{D2059273-7D80-4E3B-8BCE-583D5260105C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 页</a:t>
            </a:r>
          </a:p>
        </p:txBody>
      </p:sp>
    </p:spTree>
    <p:extLst>
      <p:ext uri="{BB962C8B-B14F-4D97-AF65-F5344CB8AC3E}">
        <p14:creationId xmlns:p14="http://schemas.microsoft.com/office/powerpoint/2010/main" val="1085483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832044-E465-4215-A18A-293C1E55801A}" type="datetime1">
              <a:rPr lang="zh-CN" altLang="en-US"/>
              <a:pPr>
                <a:defRPr/>
              </a:pPr>
              <a:t>2024/11/6</a:t>
            </a:fld>
            <a:endParaRPr lang="en-US" altLang="zh-CN"/>
          </a:p>
        </p:txBody>
      </p:sp>
      <p:sp>
        <p:nvSpPr>
          <p:cNvPr id="4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 </a:t>
            </a:r>
            <a:fld id="{97A9B27E-F6AD-429A-B769-769820E19C6F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 页</a:t>
            </a:r>
          </a:p>
        </p:txBody>
      </p:sp>
    </p:spTree>
    <p:extLst>
      <p:ext uri="{BB962C8B-B14F-4D97-AF65-F5344CB8AC3E}">
        <p14:creationId xmlns:p14="http://schemas.microsoft.com/office/powerpoint/2010/main" val="294273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3703A3-1889-4D5A-B002-82B1611E7DF6}" type="datetime1">
              <a:rPr lang="zh-CN" altLang="en-US"/>
              <a:pPr>
                <a:defRPr/>
              </a:pPr>
              <a:t>2024/11/6</a:t>
            </a:fld>
            <a:endParaRPr lang="en-US" altLang="zh-CN"/>
          </a:p>
        </p:txBody>
      </p:sp>
      <p:sp>
        <p:nvSpPr>
          <p:cNvPr id="3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 </a:t>
            </a:r>
            <a:fld id="{AA9BF305-28BD-41C0-8AA3-BF5601F9D25F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 页</a:t>
            </a:r>
          </a:p>
        </p:txBody>
      </p:sp>
    </p:spTree>
    <p:extLst>
      <p:ext uri="{BB962C8B-B14F-4D97-AF65-F5344CB8AC3E}">
        <p14:creationId xmlns:p14="http://schemas.microsoft.com/office/powerpoint/2010/main" val="4083804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6E5853-D849-460E-9F4F-6003FF06D3DA}" type="datetime1">
              <a:rPr lang="zh-CN" altLang="en-US"/>
              <a:pPr>
                <a:defRPr/>
              </a:pPr>
              <a:t>2024/11/6</a:t>
            </a:fld>
            <a:endParaRPr lang="en-US" altLang="zh-CN"/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 </a:t>
            </a:r>
            <a:fld id="{B03169C1-45E3-47B7-AD5D-8FF29948B46E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 页</a:t>
            </a:r>
          </a:p>
        </p:txBody>
      </p:sp>
    </p:spTree>
    <p:extLst>
      <p:ext uri="{BB962C8B-B14F-4D97-AF65-F5344CB8AC3E}">
        <p14:creationId xmlns:p14="http://schemas.microsoft.com/office/powerpoint/2010/main" val="3414277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9D3A2-BCD0-4CFB-ABCB-27401639CB2C}" type="datetime1">
              <a:rPr lang="zh-CN" altLang="en-US"/>
              <a:pPr>
                <a:defRPr/>
              </a:pPr>
              <a:t>2024/11/6</a:t>
            </a:fld>
            <a:endParaRPr lang="en-US" altLang="zh-CN"/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 </a:t>
            </a:r>
            <a:fld id="{98695DA6-D3C0-4362-B9C6-2058F88EAA16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 页</a:t>
            </a:r>
          </a:p>
        </p:txBody>
      </p:sp>
    </p:spTree>
    <p:extLst>
      <p:ext uri="{BB962C8B-B14F-4D97-AF65-F5344CB8AC3E}">
        <p14:creationId xmlns:p14="http://schemas.microsoft.com/office/powerpoint/2010/main" val="2061160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0937CE-14AC-4FDC-8791-A5C3FABEA371}" type="datetime1">
              <a:rPr lang="zh-CN" altLang="en-US"/>
              <a:pPr>
                <a:defRPr/>
              </a:pPr>
              <a:t>2024/11/6</a:t>
            </a:fld>
            <a:endParaRPr lang="en-US" altLang="zh-CN"/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 </a:t>
            </a:r>
            <a:fld id="{CF9CE347-85B5-4E19-9840-3BD30714E280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 页</a:t>
            </a:r>
          </a:p>
        </p:txBody>
      </p:sp>
    </p:spTree>
    <p:extLst>
      <p:ext uri="{BB962C8B-B14F-4D97-AF65-F5344CB8AC3E}">
        <p14:creationId xmlns:p14="http://schemas.microsoft.com/office/powerpoint/2010/main" val="359183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723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430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CB66FB-F865-4CCD-9088-832BE60B9DC4}" type="datetime1">
              <a:rPr lang="zh-CN" altLang="en-US"/>
              <a:pPr>
                <a:defRPr/>
              </a:pPr>
              <a:t>2024/11/6</a:t>
            </a:fld>
            <a:endParaRPr lang="en-US" altLang="zh-CN"/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 </a:t>
            </a:r>
            <a:fld id="{CDF596D4-5A36-4042-A11D-CAC24AB8477E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 页</a:t>
            </a:r>
          </a:p>
        </p:txBody>
      </p:sp>
    </p:spTree>
    <p:extLst>
      <p:ext uri="{BB962C8B-B14F-4D97-AF65-F5344CB8AC3E}">
        <p14:creationId xmlns:p14="http://schemas.microsoft.com/office/powerpoint/2010/main" val="27700593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143000" y="609600"/>
            <a:ext cx="77724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1C1D82-E8E2-48B3-AD85-615A84ADA2AC}" type="datetime1">
              <a:rPr lang="zh-CN" altLang="en-US"/>
              <a:pPr>
                <a:defRPr/>
              </a:pPr>
              <a:t>2024/11/6</a:t>
            </a:fld>
            <a:endParaRPr lang="en-US" altLang="zh-CN"/>
          </a:p>
        </p:txBody>
      </p:sp>
      <p:sp>
        <p:nvSpPr>
          <p:cNvPr id="4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 </a:t>
            </a:r>
            <a:fld id="{78AD3EBF-7634-4DB3-B027-7EE6659BDEF6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 页</a:t>
            </a:r>
          </a:p>
        </p:txBody>
      </p:sp>
    </p:spTree>
    <p:extLst>
      <p:ext uri="{BB962C8B-B14F-4D97-AF65-F5344CB8AC3E}">
        <p14:creationId xmlns:p14="http://schemas.microsoft.com/office/powerpoint/2010/main" val="14938833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430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54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03EBAB-9D8B-4C7B-B0E2-D4E34748BDBD}" type="datetime1">
              <a:rPr lang="zh-CN" altLang="en-US"/>
              <a:pPr>
                <a:defRPr/>
              </a:pPr>
              <a:t>2024/11/6</a:t>
            </a:fld>
            <a:endParaRPr lang="en-US" altLang="zh-CN"/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 </a:t>
            </a:r>
            <a:fld id="{DC39A68F-2843-49D1-BA2D-56A2F9C7C602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 页</a:t>
            </a:r>
          </a:p>
        </p:txBody>
      </p:sp>
    </p:spTree>
    <p:extLst>
      <p:ext uri="{BB962C8B-B14F-4D97-AF65-F5344CB8AC3E}">
        <p14:creationId xmlns:p14="http://schemas.microsoft.com/office/powerpoint/2010/main" val="2137411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33"/>
          <p:cNvGrpSpPr>
            <a:grpSpLocks/>
          </p:cNvGrpSpPr>
          <p:nvPr/>
        </p:nvGrpSpPr>
        <p:grpSpPr bwMode="auto">
          <a:xfrm>
            <a:off x="0" y="0"/>
            <a:ext cx="1085850" cy="6854825"/>
            <a:chOff x="0" y="0"/>
            <a:chExt cx="684" cy="4318"/>
          </a:xfrm>
        </p:grpSpPr>
        <p:sp>
          <p:nvSpPr>
            <p:cNvPr id="2" name="Rectangle 2"/>
            <p:cNvSpPr>
              <a:spLocks noChangeArrowheads="1"/>
            </p:cNvSpPr>
            <p:nvPr/>
          </p:nvSpPr>
          <p:spPr bwMode="invGray">
            <a:xfrm>
              <a:off x="0" y="0"/>
              <a:ext cx="684" cy="4318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1033" name="Group 32"/>
            <p:cNvGrpSpPr>
              <a:grpSpLocks/>
            </p:cNvGrpSpPr>
            <p:nvPr/>
          </p:nvGrpSpPr>
          <p:grpSpPr bwMode="auto">
            <a:xfrm>
              <a:off x="48" y="102"/>
              <a:ext cx="96" cy="4128"/>
              <a:chOff x="48" y="102"/>
              <a:chExt cx="96" cy="4128"/>
            </a:xfrm>
          </p:grpSpPr>
          <p:sp>
            <p:nvSpPr>
              <p:cNvPr id="3" name="Rectangle 3"/>
              <p:cNvSpPr>
                <a:spLocks noChangeArrowheads="1"/>
              </p:cNvSpPr>
              <p:nvPr/>
            </p:nvSpPr>
            <p:spPr bwMode="auto">
              <a:xfrm>
                <a:off x="48" y="1105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28" name="Rectangle 4"/>
              <p:cNvSpPr>
                <a:spLocks noChangeArrowheads="1"/>
              </p:cNvSpPr>
              <p:nvPr/>
            </p:nvSpPr>
            <p:spPr bwMode="auto">
              <a:xfrm>
                <a:off x="48" y="1250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29" name="Rectangle 5"/>
              <p:cNvSpPr>
                <a:spLocks noChangeArrowheads="1"/>
              </p:cNvSpPr>
              <p:nvPr/>
            </p:nvSpPr>
            <p:spPr bwMode="auto">
              <a:xfrm>
                <a:off x="48" y="1393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30" name="Rectangle 6"/>
              <p:cNvSpPr>
                <a:spLocks noChangeArrowheads="1"/>
              </p:cNvSpPr>
              <p:nvPr/>
            </p:nvSpPr>
            <p:spPr bwMode="auto">
              <a:xfrm>
                <a:off x="48" y="1538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31" name="Rectangle 7"/>
              <p:cNvSpPr>
                <a:spLocks noChangeArrowheads="1"/>
              </p:cNvSpPr>
              <p:nvPr/>
            </p:nvSpPr>
            <p:spPr bwMode="auto">
              <a:xfrm>
                <a:off x="48" y="1683"/>
                <a:ext cx="96" cy="9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32" name="Rectangle 8"/>
              <p:cNvSpPr>
                <a:spLocks noChangeArrowheads="1"/>
              </p:cNvSpPr>
              <p:nvPr/>
            </p:nvSpPr>
            <p:spPr bwMode="auto">
              <a:xfrm>
                <a:off x="48" y="1826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" name="Rectangle 9"/>
              <p:cNvSpPr>
                <a:spLocks noChangeArrowheads="1"/>
              </p:cNvSpPr>
              <p:nvPr/>
            </p:nvSpPr>
            <p:spPr bwMode="auto">
              <a:xfrm>
                <a:off x="48" y="1971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34" name="Rectangle 10"/>
              <p:cNvSpPr>
                <a:spLocks noChangeArrowheads="1"/>
              </p:cNvSpPr>
              <p:nvPr/>
            </p:nvSpPr>
            <p:spPr bwMode="auto">
              <a:xfrm>
                <a:off x="48" y="2115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35" name="Rectangle 11"/>
              <p:cNvSpPr>
                <a:spLocks noChangeArrowheads="1"/>
              </p:cNvSpPr>
              <p:nvPr/>
            </p:nvSpPr>
            <p:spPr bwMode="auto">
              <a:xfrm>
                <a:off x="48" y="2259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36" name="Rectangle 12"/>
              <p:cNvSpPr>
                <a:spLocks noChangeArrowheads="1"/>
              </p:cNvSpPr>
              <p:nvPr/>
            </p:nvSpPr>
            <p:spPr bwMode="auto">
              <a:xfrm>
                <a:off x="48" y="2403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37" name="Rectangle 13"/>
              <p:cNvSpPr>
                <a:spLocks noChangeArrowheads="1"/>
              </p:cNvSpPr>
              <p:nvPr/>
            </p:nvSpPr>
            <p:spPr bwMode="auto">
              <a:xfrm>
                <a:off x="48" y="2548"/>
                <a:ext cx="96" cy="9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38" name="Rectangle 14"/>
              <p:cNvSpPr>
                <a:spLocks noChangeArrowheads="1"/>
              </p:cNvSpPr>
              <p:nvPr/>
            </p:nvSpPr>
            <p:spPr bwMode="auto">
              <a:xfrm>
                <a:off x="48" y="2692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39" name="Rectangle 15"/>
              <p:cNvSpPr>
                <a:spLocks noChangeArrowheads="1"/>
              </p:cNvSpPr>
              <p:nvPr/>
            </p:nvSpPr>
            <p:spPr bwMode="auto">
              <a:xfrm>
                <a:off x="48" y="2836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40" name="Rectangle 16"/>
              <p:cNvSpPr>
                <a:spLocks noChangeArrowheads="1"/>
              </p:cNvSpPr>
              <p:nvPr/>
            </p:nvSpPr>
            <p:spPr bwMode="auto">
              <a:xfrm>
                <a:off x="48" y="2980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41" name="Rectangle 17"/>
              <p:cNvSpPr>
                <a:spLocks noChangeArrowheads="1"/>
              </p:cNvSpPr>
              <p:nvPr/>
            </p:nvSpPr>
            <p:spPr bwMode="auto">
              <a:xfrm>
                <a:off x="48" y="3124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42" name="Rectangle 18"/>
              <p:cNvSpPr>
                <a:spLocks noChangeArrowheads="1"/>
              </p:cNvSpPr>
              <p:nvPr/>
            </p:nvSpPr>
            <p:spPr bwMode="auto">
              <a:xfrm>
                <a:off x="48" y="3269"/>
                <a:ext cx="96" cy="9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43" name="Rectangle 19"/>
              <p:cNvSpPr>
                <a:spLocks noChangeArrowheads="1"/>
              </p:cNvSpPr>
              <p:nvPr/>
            </p:nvSpPr>
            <p:spPr bwMode="auto">
              <a:xfrm>
                <a:off x="48" y="3412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44" name="Rectangle 20"/>
              <p:cNvSpPr>
                <a:spLocks noChangeArrowheads="1"/>
              </p:cNvSpPr>
              <p:nvPr/>
            </p:nvSpPr>
            <p:spPr bwMode="auto">
              <a:xfrm>
                <a:off x="48" y="3557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45" name="Rectangle 21"/>
              <p:cNvSpPr>
                <a:spLocks noChangeArrowheads="1"/>
              </p:cNvSpPr>
              <p:nvPr/>
            </p:nvSpPr>
            <p:spPr bwMode="auto">
              <a:xfrm>
                <a:off x="48" y="3702"/>
                <a:ext cx="96" cy="9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46" name="Rectangle 22"/>
              <p:cNvSpPr>
                <a:spLocks noChangeArrowheads="1"/>
              </p:cNvSpPr>
              <p:nvPr/>
            </p:nvSpPr>
            <p:spPr bwMode="auto">
              <a:xfrm>
                <a:off x="48" y="3845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47" name="Rectangle 23"/>
              <p:cNvSpPr>
                <a:spLocks noChangeArrowheads="1"/>
              </p:cNvSpPr>
              <p:nvPr/>
            </p:nvSpPr>
            <p:spPr bwMode="auto">
              <a:xfrm>
                <a:off x="48" y="3990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48" name="Rectangle 24"/>
              <p:cNvSpPr>
                <a:spLocks noChangeArrowheads="1"/>
              </p:cNvSpPr>
              <p:nvPr/>
            </p:nvSpPr>
            <p:spPr bwMode="auto">
              <a:xfrm>
                <a:off x="48" y="4133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49" name="Rectangle 25"/>
              <p:cNvSpPr>
                <a:spLocks noChangeArrowheads="1"/>
              </p:cNvSpPr>
              <p:nvPr/>
            </p:nvSpPr>
            <p:spPr bwMode="auto">
              <a:xfrm>
                <a:off x="48" y="102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50" name="Rectangle 26"/>
              <p:cNvSpPr>
                <a:spLocks noChangeArrowheads="1"/>
              </p:cNvSpPr>
              <p:nvPr/>
            </p:nvSpPr>
            <p:spPr bwMode="auto">
              <a:xfrm>
                <a:off x="48" y="246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51" name="Rectangle 27"/>
              <p:cNvSpPr>
                <a:spLocks noChangeArrowheads="1"/>
              </p:cNvSpPr>
              <p:nvPr/>
            </p:nvSpPr>
            <p:spPr bwMode="auto">
              <a:xfrm>
                <a:off x="48" y="391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52" name="Rectangle 28"/>
              <p:cNvSpPr>
                <a:spLocks noChangeArrowheads="1"/>
              </p:cNvSpPr>
              <p:nvPr/>
            </p:nvSpPr>
            <p:spPr bwMode="auto">
              <a:xfrm>
                <a:off x="48" y="535"/>
                <a:ext cx="96" cy="9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53" name="Rectangle 29"/>
              <p:cNvSpPr>
                <a:spLocks noChangeArrowheads="1"/>
              </p:cNvSpPr>
              <p:nvPr/>
            </p:nvSpPr>
            <p:spPr bwMode="auto">
              <a:xfrm>
                <a:off x="48" y="679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54" name="Rectangle 30"/>
              <p:cNvSpPr>
                <a:spLocks noChangeArrowheads="1"/>
              </p:cNvSpPr>
              <p:nvPr/>
            </p:nvSpPr>
            <p:spPr bwMode="auto">
              <a:xfrm>
                <a:off x="48" y="823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55" name="Rectangle 31"/>
              <p:cNvSpPr>
                <a:spLocks noChangeArrowheads="1"/>
              </p:cNvSpPr>
              <p:nvPr/>
            </p:nvSpPr>
            <p:spPr bwMode="auto">
              <a:xfrm>
                <a:off x="48" y="968"/>
                <a:ext cx="96" cy="9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1027" name="Rectangle 34"/>
          <p:cNvSpPr>
            <a:spLocks noGrp="1" noChangeArrowheads="1"/>
          </p:cNvSpPr>
          <p:nvPr>
            <p:ph type="title"/>
          </p:nvPr>
        </p:nvSpPr>
        <p:spPr bwMode="auto">
          <a:xfrm>
            <a:off x="11430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59" name="Rectangle 3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430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60" name="Rectangle 3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 b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FAB4141E-F527-482F-9800-1834449B9BF3}" type="datetime1">
              <a:rPr lang="zh-CN" altLang="en-US"/>
              <a:pPr>
                <a:defRPr/>
              </a:pPr>
              <a:t>2024/11/6</a:t>
            </a:fld>
            <a:endParaRPr lang="en-US" altLang="zh-CN"/>
          </a:p>
        </p:txBody>
      </p:sp>
      <p:sp>
        <p:nvSpPr>
          <p:cNvPr id="1061" name="Rectangle 3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 b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62" name="Rectangle 3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32588" y="6661150"/>
            <a:ext cx="190500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zh-CN" altLang="en-US"/>
              <a:t>第 </a:t>
            </a:r>
            <a:fld id="{CE3EE724-3080-4457-B503-924982FD04EC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 页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105" r:id="rId1"/>
    <p:sldLayoutId id="2147484106" r:id="rId2"/>
    <p:sldLayoutId id="2147484107" r:id="rId3"/>
    <p:sldLayoutId id="2147484108" r:id="rId4"/>
    <p:sldLayoutId id="2147484109" r:id="rId5"/>
    <p:sldLayoutId id="2147484110" r:id="rId6"/>
    <p:sldLayoutId id="2147484111" r:id="rId7"/>
    <p:sldLayoutId id="2147484112" r:id="rId8"/>
    <p:sldLayoutId id="2147484113" r:id="rId9"/>
    <p:sldLayoutId id="2147484114" r:id="rId10"/>
    <p:sldLayoutId id="2147484115" r:id="rId11"/>
    <p:sldLayoutId id="2147484116" r:id="rId12"/>
    <p:sldLayoutId id="2147484117" r:id="rId13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pitchFamily="2" charset="2"/>
        <a:buChar char="n"/>
        <a:defRPr kumimoji="1"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Monotype Sorts" pitchFamily="2" charset="2"/>
        <a:buChar char="u"/>
        <a:defRPr kumimoji="1"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Monotype Sorts" pitchFamily="2" charset="2"/>
        <a:buChar char="F"/>
        <a:defRPr kumimoji="1"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7" Type="http://schemas.openxmlformats.org/officeDocument/2006/relationships/slide" Target="slide4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9.xml"/><Relationship Id="rId5" Type="http://schemas.openxmlformats.org/officeDocument/2006/relationships/slide" Target="slide36.xml"/><Relationship Id="rId4" Type="http://schemas.openxmlformats.org/officeDocument/2006/relationships/slide" Target="slide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slide" Target="slid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DF475825-8149-4993-8459-4FBACFB69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30678"/>
            <a:ext cx="8001000" cy="1325563"/>
          </a:xfrm>
        </p:spPr>
        <p:txBody>
          <a:bodyPr/>
          <a:lstStyle/>
          <a:p>
            <a:pPr algn="ctr">
              <a:defRPr/>
            </a:pPr>
            <a:r>
              <a:rPr kumimoji="1" lang="zh-CN" altLang="en-US" sz="4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</a:rPr>
              <a:t>第 </a:t>
            </a:r>
            <a:r>
              <a:rPr kumimoji="1" lang="en-US" altLang="zh-CN" sz="4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</a:rPr>
              <a:t>6 </a:t>
            </a:r>
            <a:r>
              <a:rPr kumimoji="1" lang="zh-CN" altLang="en-US" sz="4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</a:rPr>
              <a:t>章  </a:t>
            </a:r>
            <a:r>
              <a:rPr lang="en-US" altLang="zh-CN" sz="4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</a:rPr>
              <a:t>CPU</a:t>
            </a:r>
            <a:r>
              <a:rPr lang="zh-CN" altLang="en-US" sz="4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</a:rPr>
              <a:t>调度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06F2389-9443-49AA-9593-876FA3512032}"/>
              </a:ext>
            </a:extLst>
          </p:cNvPr>
          <p:cNvSpPr/>
          <p:nvPr/>
        </p:nvSpPr>
        <p:spPr>
          <a:xfrm>
            <a:off x="2608644" y="1310561"/>
            <a:ext cx="3390672" cy="768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lnSpc>
                <a:spcPct val="120000"/>
              </a:lnSpc>
              <a:spcBef>
                <a:spcPts val="600"/>
              </a:spcBef>
              <a:buClr>
                <a:schemeClr val="folHlink"/>
              </a:buClr>
              <a:buSzPct val="75000"/>
              <a:defRPr/>
            </a:pPr>
            <a:r>
              <a:rPr lang="en-US" altLang="zh-CN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6.1 </a:t>
            </a:r>
            <a:r>
              <a:rPr lang="zh-CN" altLang="en-US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基 本 概 念</a:t>
            </a:r>
            <a:endParaRPr lang="en-US" altLang="zh-CN" sz="4000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3" name="矩形 2">
            <a:hlinkClick r:id="rId3" action="ppaction://hlinksldjump"/>
            <a:extLst>
              <a:ext uri="{FF2B5EF4-FFF2-40B4-BE49-F238E27FC236}">
                <a16:creationId xmlns:a16="http://schemas.microsoft.com/office/drawing/2014/main" id="{3A1E538E-4FC1-495B-B8E8-C9E5758C6680}"/>
              </a:ext>
            </a:extLst>
          </p:cNvPr>
          <p:cNvSpPr/>
          <p:nvPr/>
        </p:nvSpPr>
        <p:spPr>
          <a:xfrm>
            <a:off x="2617486" y="2035746"/>
            <a:ext cx="3390672" cy="768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lnSpc>
                <a:spcPct val="120000"/>
              </a:lnSpc>
              <a:spcBef>
                <a:spcPts val="600"/>
              </a:spcBef>
              <a:buClr>
                <a:schemeClr val="folHlink"/>
              </a:buClr>
              <a:buSzPct val="75000"/>
              <a:defRPr/>
            </a:pPr>
            <a:r>
              <a:rPr lang="en-US" altLang="zh-CN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6.2 </a:t>
            </a:r>
            <a:r>
              <a:rPr lang="zh-CN" altLang="en-US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调 度 准 则</a:t>
            </a:r>
            <a:endParaRPr lang="en-US" altLang="zh-CN" sz="4000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8" name="矩形 7">
            <a:hlinkClick r:id="rId4" action="ppaction://hlinksldjump"/>
            <a:extLst>
              <a:ext uri="{FF2B5EF4-FFF2-40B4-BE49-F238E27FC236}">
                <a16:creationId xmlns:a16="http://schemas.microsoft.com/office/drawing/2014/main" id="{3B13801B-E251-4A49-8E4D-FF454E8ED73E}"/>
              </a:ext>
            </a:extLst>
          </p:cNvPr>
          <p:cNvSpPr/>
          <p:nvPr/>
        </p:nvSpPr>
        <p:spPr>
          <a:xfrm>
            <a:off x="2627637" y="2810886"/>
            <a:ext cx="3390672" cy="768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lnSpc>
                <a:spcPct val="120000"/>
              </a:lnSpc>
              <a:spcBef>
                <a:spcPts val="600"/>
              </a:spcBef>
              <a:buClr>
                <a:schemeClr val="folHlink"/>
              </a:buClr>
              <a:buSzPct val="75000"/>
              <a:defRPr/>
            </a:pPr>
            <a:r>
              <a:rPr lang="en-US" altLang="zh-CN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6.3 </a:t>
            </a:r>
            <a:r>
              <a:rPr lang="zh-CN" altLang="en-US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调 度 算 法</a:t>
            </a:r>
            <a:endParaRPr lang="en-US" altLang="zh-CN" sz="4000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9" name="矩形 8">
            <a:hlinkClick r:id="rId5" action="ppaction://hlinksldjump"/>
            <a:extLst>
              <a:ext uri="{FF2B5EF4-FFF2-40B4-BE49-F238E27FC236}">
                <a16:creationId xmlns:a16="http://schemas.microsoft.com/office/drawing/2014/main" id="{CAB53D24-D1A8-4642-9C5A-5632175D6ADF}"/>
              </a:ext>
            </a:extLst>
          </p:cNvPr>
          <p:cNvSpPr/>
          <p:nvPr/>
        </p:nvSpPr>
        <p:spPr>
          <a:xfrm>
            <a:off x="2608644" y="3495184"/>
            <a:ext cx="4123944" cy="7680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Bef>
                <a:spcPts val="600"/>
              </a:spcBef>
              <a:buClr>
                <a:schemeClr val="folHlink"/>
              </a:buClr>
              <a:buSzPct val="75000"/>
              <a:defRPr/>
            </a:pPr>
            <a:r>
              <a:rPr lang="en-US" altLang="zh-CN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6.4 </a:t>
            </a:r>
            <a:r>
              <a:rPr lang="zh-CN" altLang="en-US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线 程 调 度</a:t>
            </a:r>
            <a:endParaRPr lang="en-US" altLang="zh-CN" sz="4000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0" name="矩形 9">
            <a:hlinkClick r:id="rId6" action="ppaction://hlinksldjump"/>
            <a:extLst>
              <a:ext uri="{FF2B5EF4-FFF2-40B4-BE49-F238E27FC236}">
                <a16:creationId xmlns:a16="http://schemas.microsoft.com/office/drawing/2014/main" id="{B492DFE0-8D9F-4CA3-AFFE-2F5918279158}"/>
              </a:ext>
            </a:extLst>
          </p:cNvPr>
          <p:cNvSpPr/>
          <p:nvPr/>
        </p:nvSpPr>
        <p:spPr>
          <a:xfrm>
            <a:off x="2608644" y="4192238"/>
            <a:ext cx="4673074" cy="768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lnSpc>
                <a:spcPct val="120000"/>
              </a:lnSpc>
              <a:spcBef>
                <a:spcPts val="600"/>
              </a:spcBef>
              <a:buClr>
                <a:schemeClr val="folHlink"/>
              </a:buClr>
              <a:buSzPct val="75000"/>
              <a:defRPr/>
            </a:pPr>
            <a:r>
              <a:rPr lang="en-US" altLang="zh-CN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6.5 </a:t>
            </a:r>
            <a:r>
              <a:rPr lang="zh-CN" altLang="en-US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多 处 理 器 调 度</a:t>
            </a:r>
            <a:endParaRPr lang="en-US" altLang="zh-CN" sz="4000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1" name="矩形 10">
            <a:hlinkClick r:id="rId7" action="ppaction://hlinksldjump"/>
            <a:extLst>
              <a:ext uri="{FF2B5EF4-FFF2-40B4-BE49-F238E27FC236}">
                <a16:creationId xmlns:a16="http://schemas.microsoft.com/office/drawing/2014/main" id="{96183631-DE25-4B19-A994-31851CCA6F9D}"/>
              </a:ext>
            </a:extLst>
          </p:cNvPr>
          <p:cNvSpPr/>
          <p:nvPr/>
        </p:nvSpPr>
        <p:spPr>
          <a:xfrm>
            <a:off x="2608644" y="4869778"/>
            <a:ext cx="4801314" cy="7680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Bef>
                <a:spcPts val="600"/>
              </a:spcBef>
              <a:buClr>
                <a:schemeClr val="folHlink"/>
              </a:buClr>
              <a:buSzPct val="75000"/>
              <a:defRPr/>
            </a:pPr>
            <a:r>
              <a:rPr lang="en-US" altLang="zh-CN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6.6 </a:t>
            </a:r>
            <a:r>
              <a:rPr lang="zh-CN" altLang="en-US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操 作 系 统 例 子 </a:t>
            </a:r>
            <a:endParaRPr lang="en-US" altLang="zh-CN" sz="4000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A3D73B32-9CCC-4CD3-A2AE-5F466CAA8231}"/>
              </a:ext>
            </a:extLst>
          </p:cNvPr>
          <p:cNvSpPr txBox="1">
            <a:spLocks/>
          </p:cNvSpPr>
          <p:nvPr/>
        </p:nvSpPr>
        <p:spPr bwMode="auto">
          <a:xfrm>
            <a:off x="0" y="6400800"/>
            <a:ext cx="37799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sz="1400" b="0" kern="1200">
                <a:solidFill>
                  <a:schemeClr val="tx1"/>
                </a:solidFill>
                <a:effectLst/>
                <a:latin typeface="+mn-lt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defRPr/>
            </a:pPr>
            <a:r>
              <a:rPr lang="zh-CN" altLang="en-US" sz="1800" b="1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大连海事大学  计算机系  史一民</a:t>
            </a:r>
            <a:endParaRPr lang="en-US" altLang="zh-CN" sz="18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8717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33479D63-3866-4115-B92E-A2DD667D072F}"/>
              </a:ext>
            </a:extLst>
          </p:cNvPr>
          <p:cNvSpPr/>
          <p:nvPr/>
        </p:nvSpPr>
        <p:spPr>
          <a:xfrm>
            <a:off x="2608208" y="0"/>
            <a:ext cx="4142591" cy="8356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Bef>
                <a:spcPts val="600"/>
              </a:spcBef>
              <a:buClr>
                <a:schemeClr val="folHlink"/>
              </a:buClr>
              <a:buSzPct val="75000"/>
              <a:defRPr/>
            </a:pPr>
            <a:r>
              <a:rPr lang="en-US" altLang="zh-CN" sz="44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6.1 </a:t>
            </a:r>
            <a:r>
              <a:rPr lang="zh-CN" altLang="en-US" sz="44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基 本 概 念</a:t>
            </a:r>
            <a:endParaRPr lang="en-US" altLang="zh-CN" sz="4400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009538-62CF-49EE-88BB-5DE156B8B930}"/>
              </a:ext>
            </a:extLst>
          </p:cNvPr>
          <p:cNvSpPr/>
          <p:nvPr/>
        </p:nvSpPr>
        <p:spPr>
          <a:xfrm>
            <a:off x="3275856" y="1412776"/>
            <a:ext cx="316835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274638" eaLnBrk="1" hangingPunct="1">
              <a:defRPr/>
            </a:pP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多 级 调 度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883F28A-5903-405C-9090-E66D22C11545}"/>
              </a:ext>
            </a:extLst>
          </p:cNvPr>
          <p:cNvSpPr txBox="1"/>
          <p:nvPr/>
        </p:nvSpPr>
        <p:spPr>
          <a:xfrm>
            <a:off x="3283951" y="3449716"/>
            <a:ext cx="33080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-274638" eaLnBrk="1" hangingPunct="1">
              <a:defRPr/>
            </a:pP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调 度 程 序</a:t>
            </a:r>
            <a:endParaRPr lang="zh-CN" altLang="en-US" sz="4000" dirty="0">
              <a:solidFill>
                <a:srgbClr val="B2622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  <a:cs typeface="+mj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4E5F747-A295-439E-BC32-6F7C1535C496}"/>
              </a:ext>
            </a:extLst>
          </p:cNvPr>
          <p:cNvSpPr txBox="1"/>
          <p:nvPr/>
        </p:nvSpPr>
        <p:spPr>
          <a:xfrm>
            <a:off x="3275856" y="2456547"/>
            <a:ext cx="48965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-274638" eaLnBrk="1" hangingPunct="1">
              <a:defRPr/>
            </a:pPr>
            <a:r>
              <a:rPr lang="en-US" altLang="zh-CN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CPU</a:t>
            </a: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调度的时机</a:t>
            </a:r>
            <a:endParaRPr lang="zh-CN" altLang="en-US" sz="4000" dirty="0">
              <a:solidFill>
                <a:srgbClr val="B2622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49714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A747ED1-DE6A-409C-BB6A-F267E06E4A57}"/>
              </a:ext>
            </a:extLst>
          </p:cNvPr>
          <p:cNvSpPr/>
          <p:nvPr/>
        </p:nvSpPr>
        <p:spPr>
          <a:xfrm>
            <a:off x="2987823" y="22385"/>
            <a:ext cx="316835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274638" algn="ctr" eaLnBrk="1" hangingPunct="1">
              <a:defRPr/>
            </a:pP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多 级 调 度</a:t>
            </a:r>
          </a:p>
        </p:txBody>
      </p:sp>
      <p:pic>
        <p:nvPicPr>
          <p:cNvPr id="5" name="Picture 5" descr="d1">
            <a:extLst>
              <a:ext uri="{FF2B5EF4-FFF2-40B4-BE49-F238E27FC236}">
                <a16:creationId xmlns:a16="http://schemas.microsoft.com/office/drawing/2014/main" id="{14D4BC65-8C51-4FCF-AC8A-534C1D80D7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1989138"/>
            <a:ext cx="6264275" cy="40465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10">
            <a:extLst>
              <a:ext uri="{FF2B5EF4-FFF2-40B4-BE49-F238E27FC236}">
                <a16:creationId xmlns:a16="http://schemas.microsoft.com/office/drawing/2014/main" id="{8D6DB66E-F3CB-4EB9-AA98-F3848F054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654050"/>
            <a:ext cx="5081588" cy="1079500"/>
          </a:xfrm>
          <a:prstGeom prst="wedgeEllipseCallout">
            <a:avLst>
              <a:gd name="adj1" fmla="val -8981"/>
              <a:gd name="adj2" fmla="val 174880"/>
            </a:avLst>
          </a:prstGeom>
          <a:solidFill>
            <a:schemeClr val="tx1">
              <a:lumMod val="85000"/>
            </a:schemeClr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accent2">
                    <a:lumMod val="50000"/>
                  </a:schemeClr>
                </a:solidFill>
                <a:latin typeface="+mn-ea"/>
                <a:ea typeface="+mn-ea"/>
              </a:rPr>
              <a:t>把一部分内存中在短时期内得不到执行的进程、作业换出内存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77B8F63-D386-4504-84A2-31DE55411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25" y="5429250"/>
            <a:ext cx="1428750" cy="571500"/>
          </a:xfrm>
          <a:prstGeom prst="ellipse">
            <a:avLst/>
          </a:prstGeom>
          <a:solidFill>
            <a:srgbClr val="09E11E">
              <a:alpha val="41176"/>
            </a:srgbClr>
          </a:solidFill>
          <a:ln w="12700" cap="sq" algn="ctr">
            <a:noFill/>
            <a:round/>
            <a:headEnd type="none" w="sm" len="sm"/>
            <a:tailEnd type="none" w="sm" len="sm"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54DFF599-A072-4B59-92DC-BBF4BBD60C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3563" y="3000375"/>
            <a:ext cx="1500187" cy="571500"/>
          </a:xfrm>
          <a:prstGeom prst="ellipse">
            <a:avLst/>
          </a:prstGeom>
          <a:solidFill>
            <a:srgbClr val="09E11E">
              <a:alpha val="41176"/>
            </a:srgbClr>
          </a:solidFill>
          <a:ln w="12700" cap="sq" algn="ctr">
            <a:solidFill>
              <a:schemeClr val="accent2">
                <a:lumMod val="50000"/>
              </a:schemeClr>
            </a:solidFill>
            <a:round/>
            <a:headEnd type="none" w="sm" len="sm"/>
            <a:tailEnd type="none" w="sm" len="sm"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2B00B448-83AA-4142-BA69-405685866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0313" y="5429250"/>
            <a:ext cx="1643062" cy="571500"/>
          </a:xfrm>
          <a:prstGeom prst="ellipse">
            <a:avLst/>
          </a:prstGeom>
          <a:solidFill>
            <a:srgbClr val="09E11E">
              <a:alpha val="41176"/>
            </a:srgbClr>
          </a:solidFill>
          <a:ln w="12700" cap="sq" algn="ctr">
            <a:noFill/>
            <a:round/>
            <a:headEnd type="none" w="sm" len="sm"/>
            <a:tailEnd type="none" w="sm" len="sm"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387DB92-0C3F-4665-A559-BDB3FDDEA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5063" y="4572000"/>
            <a:ext cx="1643062" cy="571500"/>
          </a:xfrm>
          <a:prstGeom prst="ellipse">
            <a:avLst/>
          </a:prstGeom>
          <a:solidFill>
            <a:srgbClr val="09E11E">
              <a:alpha val="41176"/>
            </a:srgbClr>
          </a:solidFill>
          <a:ln w="12700" cap="sq" algn="ctr">
            <a:noFill/>
            <a:round/>
            <a:headEnd type="none" w="sm" len="sm"/>
            <a:tailEnd type="none" w="sm" len="sm"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0C68DDB4-2B84-418F-A943-DF4265119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6265833"/>
            <a:ext cx="406876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 eaLnBrk="1" hangingPunct="1">
              <a:defRPr/>
            </a:pPr>
            <a:r>
              <a:rPr lang="zh-CN" altLang="en-US" sz="2000" b="1" dirty="0">
                <a:solidFill>
                  <a:schemeClr val="bg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图</a:t>
            </a:r>
            <a:r>
              <a:rPr lang="en-US" altLang="zh-CN" sz="2000" b="1" dirty="0">
                <a:solidFill>
                  <a:schemeClr val="bg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</a:t>
            </a:r>
            <a:r>
              <a:rPr lang="zh-CN" altLang="en-US" sz="2000" b="1" dirty="0">
                <a:solidFill>
                  <a:schemeClr val="bg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四级调度关系</a:t>
            </a:r>
          </a:p>
        </p:txBody>
      </p:sp>
      <p:sp>
        <p:nvSpPr>
          <p:cNvPr id="13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77850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99C277B6-6A62-40EA-A92D-9C33B11360DF}"/>
              </a:ext>
            </a:extLst>
          </p:cNvPr>
          <p:cNvSpPr txBox="1">
            <a:spLocks noChangeArrowheads="1"/>
          </p:cNvSpPr>
          <p:nvPr/>
        </p:nvSpPr>
        <p:spPr>
          <a:xfrm>
            <a:off x="141981" y="590171"/>
            <a:ext cx="8820150" cy="190272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55600" lvl="2" indent="-355600" defTabSz="355600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作业调度</a:t>
            </a:r>
            <a:r>
              <a:rPr lang="zh-CN" altLang="en-US" sz="3600" dirty="0">
                <a:solidFill>
                  <a:schemeClr val="bg1"/>
                </a:solidFill>
                <a:effectLst/>
                <a:latin typeface="+mj-lt"/>
                <a:ea typeface="楷体" panose="02010609060101010101" pitchFamily="49" charset="-122"/>
              </a:rPr>
              <a:t>（高级调度、宏观调度</a:t>
            </a:r>
            <a:r>
              <a:rPr lang="en-US" altLang="zh-CN" sz="3600" dirty="0">
                <a:solidFill>
                  <a:schemeClr val="bg1"/>
                </a:solidFill>
                <a:effectLst/>
                <a:latin typeface="+mj-lt"/>
                <a:ea typeface="楷体" panose="02010609060101010101" pitchFamily="49" charset="-122"/>
              </a:rPr>
              <a:t>)</a:t>
            </a:r>
          </a:p>
          <a:p>
            <a:pPr marL="812800" lvl="3" indent="-355600" defTabSz="355600"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将外存作业调入内存，创建</a:t>
            </a:r>
            <a:r>
              <a:rPr lang="en-US" altLang="zh-CN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PCB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等，插入就绪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队列</a:t>
            </a:r>
            <a:endParaRPr lang="zh-CN" altLang="en-US" sz="3200" dirty="0">
              <a:solidFill>
                <a:schemeClr val="bg2"/>
              </a:solidFill>
              <a:effectLst/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批处理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系统</a:t>
            </a:r>
            <a:endParaRPr lang="zh-CN" altLang="en-US" b="1" kern="0" dirty="0"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6D30BD-55B2-4EE4-AD9A-E9D715CB7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905" y="-3128"/>
            <a:ext cx="3595688" cy="7016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zh-CN" altLang="en-US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调度的层次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BC9333A9-62BC-4A69-9F24-0DA3A87A36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981" y="2403805"/>
            <a:ext cx="8999537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55600" lvl="2" indent="-355600" defTabSz="355600">
              <a:lnSpc>
                <a:spcPct val="90000"/>
              </a:lnSpc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交换调度</a:t>
            </a:r>
            <a:r>
              <a:rPr lang="zh-CN" altLang="en-US" sz="3600" dirty="0">
                <a:solidFill>
                  <a:schemeClr val="bg1"/>
                </a:solidFill>
                <a:latin typeface="+mj-lt"/>
                <a:ea typeface="楷体" panose="02010609060101010101" pitchFamily="49" charset="-122"/>
              </a:rPr>
              <a:t>（中级调度、中程调度）</a:t>
            </a:r>
          </a:p>
          <a:p>
            <a:pPr marL="812800" lvl="3" indent="-355600" defTabSz="355600">
              <a:lnSpc>
                <a:spcPct val="90000"/>
              </a:lnSpc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为提高系统吞吐量和内存利用率而引入</a:t>
            </a:r>
          </a:p>
          <a:p>
            <a:pPr marL="812800" lvl="3" indent="-355600" defTabSz="355600">
              <a:lnSpc>
                <a:spcPct val="90000"/>
              </a:lnSpc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内外存对换功能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8104B080-33B5-4D40-B916-CB6A3A6EF244}"/>
              </a:ext>
            </a:extLst>
          </p:cNvPr>
          <p:cNvSpPr txBox="1">
            <a:spLocks noChangeArrowheads="1"/>
          </p:cNvSpPr>
          <p:nvPr/>
        </p:nvSpPr>
        <p:spPr>
          <a:xfrm>
            <a:off x="114746" y="3862345"/>
            <a:ext cx="8964612" cy="253845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55600" lvl="2" indent="-355600" defTabSz="355600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进程调度</a:t>
            </a:r>
            <a:r>
              <a:rPr lang="zh-CN" altLang="en-US" sz="3600" dirty="0">
                <a:solidFill>
                  <a:schemeClr val="bg1"/>
                </a:solidFill>
                <a:effectLst/>
                <a:latin typeface="+mj-lt"/>
                <a:ea typeface="楷体" panose="02010609060101010101" pitchFamily="49" charset="-122"/>
              </a:rPr>
              <a:t>（低级</a:t>
            </a:r>
            <a:r>
              <a:rPr lang="zh-CN" altLang="en-US" sz="3600" dirty="0" smtClean="0">
                <a:solidFill>
                  <a:schemeClr val="bg1"/>
                </a:solidFill>
                <a:effectLst/>
                <a:latin typeface="+mj-lt"/>
                <a:ea typeface="楷体" panose="02010609060101010101" pitchFamily="49" charset="-122"/>
              </a:rPr>
              <a:t>调度</a:t>
            </a:r>
            <a:r>
              <a:rPr lang="zh-CN" altLang="en-US" sz="3600" dirty="0">
                <a:solidFill>
                  <a:schemeClr val="bg1"/>
                </a:solidFill>
                <a:effectLst/>
                <a:latin typeface="+mj-lt"/>
                <a:ea typeface="楷体" panose="02010609060101010101" pitchFamily="49" charset="-122"/>
              </a:rPr>
              <a:t>）</a:t>
            </a:r>
          </a:p>
          <a:p>
            <a:pPr marL="812800" lvl="3" indent="-355600" defTabSz="355600"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从就绪队列选择某一个进程占用</a:t>
            </a:r>
            <a:r>
              <a:rPr lang="en-US" altLang="zh-CN" sz="3200" dirty="0" smtClean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CPU</a:t>
            </a:r>
            <a:endParaRPr lang="zh-CN" altLang="en-US" sz="3200" dirty="0">
              <a:solidFill>
                <a:schemeClr val="bg2"/>
              </a:solidFill>
              <a:latin typeface="+mj-lt"/>
              <a:ea typeface="楷体" panose="02010609060101010101" pitchFamily="49" charset="-122"/>
            </a:endParaRPr>
          </a:p>
          <a:p>
            <a:pPr marL="355600" lvl="2" indent="-355600" defTabSz="355600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线程调度</a:t>
            </a:r>
            <a:endParaRPr lang="en-US" altLang="zh-CN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与进程调度的算法基本一样</a:t>
            </a:r>
            <a:endParaRPr lang="en-US" altLang="zh-CN" sz="3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支持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线程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的</a:t>
            </a:r>
            <a:r>
              <a:rPr lang="en-US" altLang="zh-CN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OS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中，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实际调度的是内核级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线程</a:t>
            </a:r>
            <a:endParaRPr lang="zh-CN" altLang="en-US" b="1" kern="0" dirty="0">
              <a:solidFill>
                <a:srgbClr val="FFCC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996808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307BAE8-2A3F-4E20-810E-264DD0A34AD5}"/>
              </a:ext>
            </a:extLst>
          </p:cNvPr>
          <p:cNvSpPr txBox="1"/>
          <p:nvPr/>
        </p:nvSpPr>
        <p:spPr>
          <a:xfrm>
            <a:off x="2051670" y="68371"/>
            <a:ext cx="5040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-274638" algn="ctr" eaLnBrk="1" hangingPunct="1">
              <a:defRPr/>
            </a:pPr>
            <a:r>
              <a:rPr lang="en-US" altLang="zh-CN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CPU</a:t>
            </a: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调度的时机</a:t>
            </a:r>
            <a:endParaRPr lang="zh-CN" altLang="en-US" sz="4000" dirty="0">
              <a:solidFill>
                <a:srgbClr val="B2622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  <a:cs typeface="+mj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0F5330C-7C78-458C-BF47-0F6606530E1F}"/>
              </a:ext>
            </a:extLst>
          </p:cNvPr>
          <p:cNvSpPr txBox="1">
            <a:spLocks noChangeArrowheads="1"/>
          </p:cNvSpPr>
          <p:nvPr/>
        </p:nvSpPr>
        <p:spPr>
          <a:xfrm>
            <a:off x="70992" y="1037979"/>
            <a:ext cx="5472608" cy="232774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55600" lvl="2" indent="-355600" defTabSz="355600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进程中止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355600" lvl="2" indent="-355600" defTabSz="355600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进程从运行到等待</a:t>
            </a:r>
          </a:p>
          <a:p>
            <a:pPr marL="355600" lvl="2" indent="-355600" defTabSz="355600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进程从运行到就绪状态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355600" lvl="2" indent="-355600" defTabSz="355600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进程</a:t>
            </a:r>
            <a:r>
              <a:rPr lang="zh-CN" altLang="en-US" sz="3600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从</a:t>
            </a: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等待转到就绪</a:t>
            </a:r>
            <a:endParaRPr lang="zh-CN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/>
            </a:pPr>
            <a:endParaRPr lang="zh-CN" altLang="en-US" b="1" kern="0" dirty="0"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14089AE-81D3-48AA-95B2-6FCF32F7019B}"/>
              </a:ext>
            </a:extLst>
          </p:cNvPr>
          <p:cNvSpPr txBox="1">
            <a:spLocks noChangeArrowheads="1"/>
          </p:cNvSpPr>
          <p:nvPr/>
        </p:nvSpPr>
        <p:spPr>
          <a:xfrm>
            <a:off x="2555875" y="707886"/>
            <a:ext cx="4176713" cy="747713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4000" dirty="0">
              <a:solidFill>
                <a:srgbClr val="0066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MS PGothic" pitchFamily="34" charset="-128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D6569F8-DDB4-459C-A4EA-A5CE6AF7DBD9}"/>
              </a:ext>
            </a:extLst>
          </p:cNvPr>
          <p:cNvSpPr/>
          <p:nvPr/>
        </p:nvSpPr>
        <p:spPr>
          <a:xfrm>
            <a:off x="1611412" y="4453195"/>
            <a:ext cx="4868344" cy="8079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lnSpc>
                <a:spcPct val="130000"/>
              </a:lnSpc>
              <a:defRPr/>
            </a:pPr>
            <a:r>
              <a:rPr lang="zh-CN" altLang="en-US" sz="36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非抢占调度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3000782-AEF4-41A2-BCB9-32CC3976D4BA}"/>
              </a:ext>
            </a:extLst>
          </p:cNvPr>
          <p:cNvSpPr/>
          <p:nvPr/>
        </p:nvSpPr>
        <p:spPr>
          <a:xfrm>
            <a:off x="251743" y="5485260"/>
            <a:ext cx="8784976" cy="978729"/>
          </a:xfrm>
          <a:prstGeom prst="rect">
            <a:avLst/>
          </a:prstGeom>
          <a:solidFill>
            <a:srgbClr val="CDD9FF"/>
          </a:solidFill>
        </p:spPr>
        <p:txBody>
          <a:bodyPr wrap="square">
            <a:spAutoFit/>
          </a:bodyPr>
          <a:lstStyle/>
          <a:p>
            <a:pPr marL="0" lvl="2" algn="ctr" defTabSz="355600">
              <a:lnSpc>
                <a:spcPct val="90000"/>
              </a:lnSpc>
              <a:buClr>
                <a:schemeClr val="bg1"/>
              </a:buClr>
              <a:buSzPct val="80000"/>
              <a:defRPr/>
            </a:pP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</a:rPr>
              <a:t>一旦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进程分配到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CPU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，就会一直占用，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  <a:p>
            <a:pPr marL="0" lvl="2" algn="ctr" defTabSz="355600">
              <a:lnSpc>
                <a:spcPct val="90000"/>
              </a:lnSpc>
              <a:buClr>
                <a:schemeClr val="bg1"/>
              </a:buClr>
              <a:buSzPct val="80000"/>
              <a:defRPr/>
            </a:pP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</a:rPr>
              <a:t>直到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它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</a:rPr>
              <a:t>中止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或切换到等待状态。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9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48221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grpSp>
        <p:nvGrpSpPr>
          <p:cNvPr id="10" name="组合 9"/>
          <p:cNvGrpSpPr/>
          <p:nvPr/>
        </p:nvGrpSpPr>
        <p:grpSpPr>
          <a:xfrm>
            <a:off x="4211638" y="797364"/>
            <a:ext cx="4932362" cy="4465638"/>
            <a:chOff x="4211638" y="1844675"/>
            <a:chExt cx="4932362" cy="4465638"/>
          </a:xfrm>
        </p:grpSpPr>
        <p:sp>
          <p:nvSpPr>
            <p:cNvPr id="11" name="Oval 35">
              <a:extLst>
                <a:ext uri="{FF2B5EF4-FFF2-40B4-BE49-F238E27FC236}">
                  <a16:creationId xmlns:a16="http://schemas.microsoft.com/office/drawing/2014/main" id="{BB51016A-3AF4-40A2-9A71-80649ED773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6788" y="2420938"/>
              <a:ext cx="1477962" cy="7921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xtLst/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Char char="¨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anose="020B0604030504040204" pitchFamily="34" charset="0"/>
                </a:rPr>
                <a:t>就绪</a:t>
              </a:r>
            </a:p>
          </p:txBody>
        </p:sp>
        <p:sp>
          <p:nvSpPr>
            <p:cNvPr id="12" name="Oval 36">
              <a:extLst>
                <a:ext uri="{FF2B5EF4-FFF2-40B4-BE49-F238E27FC236}">
                  <a16:creationId xmlns:a16="http://schemas.microsoft.com/office/drawing/2014/main" id="{2362909F-FECC-4F7A-B04C-BCF121697E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638" y="4508500"/>
              <a:ext cx="1296987" cy="7921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xtLst/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Char char="¨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anose="020B0604030504040204" pitchFamily="34" charset="0"/>
                </a:rPr>
                <a:t>等待</a:t>
              </a:r>
            </a:p>
          </p:txBody>
        </p:sp>
        <p:sp>
          <p:nvSpPr>
            <p:cNvPr id="13" name="Oval 37">
              <a:extLst>
                <a:ext uri="{FF2B5EF4-FFF2-40B4-BE49-F238E27FC236}">
                  <a16:creationId xmlns:a16="http://schemas.microsoft.com/office/drawing/2014/main" id="{1EB7ACE2-7ED4-450B-9688-EA9599FCCF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15213" y="4508500"/>
              <a:ext cx="1404937" cy="7921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xtLst/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Char char="¨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anose="020B0604030504040204" pitchFamily="34" charset="0"/>
                </a:rPr>
                <a:t>运行</a:t>
              </a:r>
            </a:p>
          </p:txBody>
        </p:sp>
        <p:sp>
          <p:nvSpPr>
            <p:cNvPr id="14" name="Freeform 38">
              <a:extLst>
                <a:ext uri="{FF2B5EF4-FFF2-40B4-BE49-F238E27FC236}">
                  <a16:creationId xmlns:a16="http://schemas.microsoft.com/office/drawing/2014/main" id="{24A4F527-CA9C-49D3-A137-2877713C8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0163" y="3140075"/>
              <a:ext cx="1081087" cy="1368425"/>
            </a:xfrm>
            <a:custGeom>
              <a:avLst/>
              <a:gdLst>
                <a:gd name="T0" fmla="*/ 0 w 681"/>
                <a:gd name="T1" fmla="*/ 2147483646 h 862"/>
                <a:gd name="T2" fmla="*/ 2147483646 w 681"/>
                <a:gd name="T3" fmla="*/ 2147483646 h 862"/>
                <a:gd name="T4" fmla="*/ 2147483646 w 681"/>
                <a:gd name="T5" fmla="*/ 0 h 862"/>
                <a:gd name="T6" fmla="*/ 0 60000 65536"/>
                <a:gd name="T7" fmla="*/ 0 60000 65536"/>
                <a:gd name="T8" fmla="*/ 0 60000 65536"/>
                <a:gd name="T9" fmla="*/ 0 w 681"/>
                <a:gd name="T10" fmla="*/ 0 h 862"/>
                <a:gd name="T11" fmla="*/ 681 w 681"/>
                <a:gd name="T12" fmla="*/ 862 h 8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1" h="862">
                  <a:moveTo>
                    <a:pt x="0" y="862"/>
                  </a:moveTo>
                  <a:cubicBezTo>
                    <a:pt x="57" y="662"/>
                    <a:pt x="114" y="462"/>
                    <a:pt x="227" y="318"/>
                  </a:cubicBezTo>
                  <a:cubicBezTo>
                    <a:pt x="340" y="174"/>
                    <a:pt x="606" y="53"/>
                    <a:pt x="681" y="0"/>
                  </a:cubicBezTo>
                </a:path>
              </a:pathLst>
            </a:custGeom>
            <a:noFill/>
            <a:ln w="38100">
              <a:solidFill>
                <a:schemeClr val="bg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chemeClr val="bg2"/>
                </a:solidFill>
              </a:endParaRPr>
            </a:p>
          </p:txBody>
        </p:sp>
        <p:sp>
          <p:nvSpPr>
            <p:cNvPr id="15" name="Freeform 39">
              <a:extLst>
                <a:ext uri="{FF2B5EF4-FFF2-40B4-BE49-F238E27FC236}">
                  <a16:creationId xmlns:a16="http://schemas.microsoft.com/office/drawing/2014/main" id="{D93CEF66-9FC0-4C7B-AC5D-1E8D170168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9088" y="5013325"/>
              <a:ext cx="2016125" cy="300038"/>
            </a:xfrm>
            <a:custGeom>
              <a:avLst/>
              <a:gdLst>
                <a:gd name="T0" fmla="*/ 2147483646 w 1270"/>
                <a:gd name="T1" fmla="*/ 0 h 189"/>
                <a:gd name="T2" fmla="*/ 2147483646 w 1270"/>
                <a:gd name="T3" fmla="*/ 2147483646 h 189"/>
                <a:gd name="T4" fmla="*/ 0 w 1270"/>
                <a:gd name="T5" fmla="*/ 2147483646 h 189"/>
                <a:gd name="T6" fmla="*/ 0 60000 65536"/>
                <a:gd name="T7" fmla="*/ 0 60000 65536"/>
                <a:gd name="T8" fmla="*/ 0 60000 65536"/>
                <a:gd name="T9" fmla="*/ 0 w 1270"/>
                <a:gd name="T10" fmla="*/ 0 h 189"/>
                <a:gd name="T11" fmla="*/ 1270 w 1270"/>
                <a:gd name="T12" fmla="*/ 189 h 1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70" h="189">
                  <a:moveTo>
                    <a:pt x="1270" y="0"/>
                  </a:moveTo>
                  <a:cubicBezTo>
                    <a:pt x="1104" y="86"/>
                    <a:pt x="938" y="173"/>
                    <a:pt x="726" y="181"/>
                  </a:cubicBezTo>
                  <a:cubicBezTo>
                    <a:pt x="514" y="189"/>
                    <a:pt x="121" y="68"/>
                    <a:pt x="0" y="45"/>
                  </a:cubicBezTo>
                </a:path>
              </a:pathLst>
            </a:custGeom>
            <a:noFill/>
            <a:ln w="38100">
              <a:solidFill>
                <a:schemeClr val="bg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chemeClr val="bg2"/>
                </a:solidFill>
              </a:endParaRPr>
            </a:p>
          </p:txBody>
        </p:sp>
        <p:sp>
          <p:nvSpPr>
            <p:cNvPr id="16" name="Freeform 40">
              <a:extLst>
                <a:ext uri="{FF2B5EF4-FFF2-40B4-BE49-F238E27FC236}">
                  <a16:creationId xmlns:a16="http://schemas.microsoft.com/office/drawing/2014/main" id="{D18E684B-B266-4555-A66B-223B878B5F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7513" y="3213100"/>
              <a:ext cx="792162" cy="1366838"/>
            </a:xfrm>
            <a:custGeom>
              <a:avLst/>
              <a:gdLst>
                <a:gd name="T0" fmla="*/ 0 w 499"/>
                <a:gd name="T1" fmla="*/ 0 h 861"/>
                <a:gd name="T2" fmla="*/ 2147483646 w 499"/>
                <a:gd name="T3" fmla="*/ 2147483646 h 861"/>
                <a:gd name="T4" fmla="*/ 2147483646 w 499"/>
                <a:gd name="T5" fmla="*/ 2147483646 h 861"/>
                <a:gd name="T6" fmla="*/ 0 60000 65536"/>
                <a:gd name="T7" fmla="*/ 0 60000 65536"/>
                <a:gd name="T8" fmla="*/ 0 60000 65536"/>
                <a:gd name="T9" fmla="*/ 0 w 499"/>
                <a:gd name="T10" fmla="*/ 0 h 861"/>
                <a:gd name="T11" fmla="*/ 499 w 499"/>
                <a:gd name="T12" fmla="*/ 861 h 8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99" h="861">
                  <a:moveTo>
                    <a:pt x="0" y="0"/>
                  </a:moveTo>
                  <a:cubicBezTo>
                    <a:pt x="3" y="222"/>
                    <a:pt x="7" y="445"/>
                    <a:pt x="90" y="589"/>
                  </a:cubicBezTo>
                  <a:cubicBezTo>
                    <a:pt x="173" y="733"/>
                    <a:pt x="431" y="816"/>
                    <a:pt x="499" y="861"/>
                  </a:cubicBezTo>
                </a:path>
              </a:pathLst>
            </a:custGeom>
            <a:noFill/>
            <a:ln w="76200">
              <a:solidFill>
                <a:srgbClr val="FF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chemeClr val="bg2"/>
                </a:solidFill>
              </a:endParaRPr>
            </a:p>
          </p:txBody>
        </p:sp>
        <p:sp>
          <p:nvSpPr>
            <p:cNvPr id="17" name="Freeform 41">
              <a:extLst>
                <a:ext uri="{FF2B5EF4-FFF2-40B4-BE49-F238E27FC236}">
                  <a16:creationId xmlns:a16="http://schemas.microsoft.com/office/drawing/2014/main" id="{B59BF9BD-E5EB-44E2-AE15-AEAED0AF76D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8850" y="2997200"/>
              <a:ext cx="814388" cy="1511300"/>
            </a:xfrm>
            <a:custGeom>
              <a:avLst/>
              <a:gdLst>
                <a:gd name="T0" fmla="*/ 2147483646 w 582"/>
                <a:gd name="T1" fmla="*/ 2147483646 h 998"/>
                <a:gd name="T2" fmla="*/ 2147483646 w 582"/>
                <a:gd name="T3" fmla="*/ 2147483646 h 998"/>
                <a:gd name="T4" fmla="*/ 0 w 582"/>
                <a:gd name="T5" fmla="*/ 0 h 998"/>
                <a:gd name="T6" fmla="*/ 0 60000 65536"/>
                <a:gd name="T7" fmla="*/ 0 60000 65536"/>
                <a:gd name="T8" fmla="*/ 0 60000 65536"/>
                <a:gd name="T9" fmla="*/ 0 w 582"/>
                <a:gd name="T10" fmla="*/ 0 h 998"/>
                <a:gd name="T11" fmla="*/ 582 w 582"/>
                <a:gd name="T12" fmla="*/ 998 h 9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2" h="998">
                  <a:moveTo>
                    <a:pt x="499" y="998"/>
                  </a:moveTo>
                  <a:cubicBezTo>
                    <a:pt x="540" y="786"/>
                    <a:pt x="582" y="574"/>
                    <a:pt x="499" y="408"/>
                  </a:cubicBezTo>
                  <a:cubicBezTo>
                    <a:pt x="416" y="242"/>
                    <a:pt x="83" y="68"/>
                    <a:pt x="0" y="0"/>
                  </a:cubicBezTo>
                </a:path>
              </a:pathLst>
            </a:custGeom>
            <a:noFill/>
            <a:ln w="38100">
              <a:solidFill>
                <a:schemeClr val="bg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chemeClr val="bg2"/>
                </a:solidFill>
              </a:endParaRPr>
            </a:p>
          </p:txBody>
        </p:sp>
        <p:sp>
          <p:nvSpPr>
            <p:cNvPr id="19" name="Text Box 43">
              <a:extLst>
                <a:ext uri="{FF2B5EF4-FFF2-40B4-BE49-F238E27FC236}">
                  <a16:creationId xmlns:a16="http://schemas.microsoft.com/office/drawing/2014/main" id="{1BBC1011-19F8-4DD2-ACB3-9E3976AD88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18225" y="3498850"/>
              <a:ext cx="7921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Char char="¨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bg2"/>
                  </a:solidFill>
                  <a:latin typeface="Tahoma" panose="020B0604030504040204" pitchFamily="34" charset="0"/>
                </a:rPr>
                <a:t>调度</a:t>
              </a:r>
            </a:p>
          </p:txBody>
        </p:sp>
        <p:sp>
          <p:nvSpPr>
            <p:cNvPr id="20" name="Text Box 44">
              <a:extLst>
                <a:ext uri="{FF2B5EF4-FFF2-40B4-BE49-F238E27FC236}">
                  <a16:creationId xmlns:a16="http://schemas.microsoft.com/office/drawing/2014/main" id="{247799DD-0961-4156-8A88-40D8107812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6424" y="5229225"/>
              <a:ext cx="1439863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Char char="¨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bg2"/>
                  </a:solidFill>
                  <a:latin typeface="Tahoma" panose="020B0604030504040204" pitchFamily="34" charset="0"/>
                </a:rPr>
                <a:t>I/O</a:t>
              </a:r>
              <a:r>
                <a:rPr lang="zh-CN" altLang="en-US" sz="1800" b="1" dirty="0">
                  <a:solidFill>
                    <a:schemeClr val="bg2"/>
                  </a:solidFill>
                  <a:latin typeface="Tahoma" panose="020B0604030504040204" pitchFamily="34" charset="0"/>
                </a:rPr>
                <a:t>或</a:t>
              </a:r>
              <a:endParaRPr lang="en-US" altLang="zh-CN" sz="1800" b="1" dirty="0">
                <a:solidFill>
                  <a:schemeClr val="bg2"/>
                </a:solidFill>
                <a:latin typeface="Tahoma" panose="020B060403050404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bg2"/>
                  </a:solidFill>
                  <a:latin typeface="Tahoma" panose="020B0604030504040204" pitchFamily="34" charset="0"/>
                </a:rPr>
                <a:t>事件的等待</a:t>
              </a:r>
            </a:p>
          </p:txBody>
        </p:sp>
        <p:sp>
          <p:nvSpPr>
            <p:cNvPr id="22" name="Oval 47">
              <a:extLst>
                <a:ext uri="{FF2B5EF4-FFF2-40B4-BE49-F238E27FC236}">
                  <a16:creationId xmlns:a16="http://schemas.microsoft.com/office/drawing/2014/main" id="{342DC7E5-27AE-4AED-8EB4-E9E908E0EA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2725" y="1844675"/>
              <a:ext cx="792163" cy="576263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Char char="¨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bg2"/>
                  </a:solidFill>
                  <a:latin typeface="Tahoma" panose="020B0604030504040204" pitchFamily="34" charset="0"/>
                </a:rPr>
                <a:t>新的</a:t>
              </a:r>
            </a:p>
          </p:txBody>
        </p:sp>
        <p:sp>
          <p:nvSpPr>
            <p:cNvPr id="23" name="Freeform 48">
              <a:extLst>
                <a:ext uri="{FF2B5EF4-FFF2-40B4-BE49-F238E27FC236}">
                  <a16:creationId xmlns:a16="http://schemas.microsoft.com/office/drawing/2014/main" id="{213D364B-5207-408E-AA04-427D0B8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2938" y="2420938"/>
              <a:ext cx="323850" cy="503237"/>
            </a:xfrm>
            <a:custGeom>
              <a:avLst/>
              <a:gdLst>
                <a:gd name="T0" fmla="*/ 0 w 499"/>
                <a:gd name="T1" fmla="*/ 0 h 861"/>
                <a:gd name="T2" fmla="*/ 2147483646 w 499"/>
                <a:gd name="T3" fmla="*/ 2147483646 h 861"/>
                <a:gd name="T4" fmla="*/ 2147483646 w 499"/>
                <a:gd name="T5" fmla="*/ 2147483646 h 861"/>
                <a:gd name="T6" fmla="*/ 0 60000 65536"/>
                <a:gd name="T7" fmla="*/ 0 60000 65536"/>
                <a:gd name="T8" fmla="*/ 0 60000 65536"/>
                <a:gd name="T9" fmla="*/ 0 w 499"/>
                <a:gd name="T10" fmla="*/ 0 h 861"/>
                <a:gd name="T11" fmla="*/ 499 w 499"/>
                <a:gd name="T12" fmla="*/ 861 h 8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99" h="861">
                  <a:moveTo>
                    <a:pt x="0" y="0"/>
                  </a:moveTo>
                  <a:cubicBezTo>
                    <a:pt x="3" y="222"/>
                    <a:pt x="7" y="445"/>
                    <a:pt x="90" y="589"/>
                  </a:cubicBezTo>
                  <a:cubicBezTo>
                    <a:pt x="173" y="733"/>
                    <a:pt x="431" y="816"/>
                    <a:pt x="499" y="861"/>
                  </a:cubicBezTo>
                </a:path>
              </a:pathLst>
            </a:custGeom>
            <a:noFill/>
            <a:ln w="25400">
              <a:solidFill>
                <a:schemeClr val="bg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chemeClr val="bg2"/>
                </a:solidFill>
              </a:endParaRPr>
            </a:p>
          </p:txBody>
        </p:sp>
        <p:sp>
          <p:nvSpPr>
            <p:cNvPr id="24" name="Oval 49">
              <a:extLst>
                <a:ext uri="{FF2B5EF4-FFF2-40B4-BE49-F238E27FC236}">
                  <a16:creationId xmlns:a16="http://schemas.microsoft.com/office/drawing/2014/main" id="{0C031404-F644-4ED1-BF52-6B72A367BE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3888" y="5734050"/>
              <a:ext cx="900112" cy="576263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xtLst/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Char char="¨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>
                  <a:solidFill>
                    <a:schemeClr val="bg2"/>
                  </a:solidFill>
                  <a:latin typeface="Tahoma" panose="020B0604030504040204" pitchFamily="34" charset="0"/>
                </a:rPr>
                <a:t>终止</a:t>
              </a:r>
            </a:p>
          </p:txBody>
        </p:sp>
        <p:sp>
          <p:nvSpPr>
            <p:cNvPr id="25" name="Freeform 50">
              <a:extLst>
                <a:ext uri="{FF2B5EF4-FFF2-40B4-BE49-F238E27FC236}">
                  <a16:creationId xmlns:a16="http://schemas.microsoft.com/office/drawing/2014/main" id="{5D81502D-5A8E-4248-B45F-54949246396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47013" y="5300663"/>
              <a:ext cx="576262" cy="719137"/>
            </a:xfrm>
            <a:custGeom>
              <a:avLst/>
              <a:gdLst>
                <a:gd name="T0" fmla="*/ 0 w 499"/>
                <a:gd name="T1" fmla="*/ 0 h 861"/>
                <a:gd name="T2" fmla="*/ 2147483646 w 499"/>
                <a:gd name="T3" fmla="*/ 2147483646 h 861"/>
                <a:gd name="T4" fmla="*/ 2147483646 w 499"/>
                <a:gd name="T5" fmla="*/ 2147483646 h 861"/>
                <a:gd name="T6" fmla="*/ 0 60000 65536"/>
                <a:gd name="T7" fmla="*/ 0 60000 65536"/>
                <a:gd name="T8" fmla="*/ 0 60000 65536"/>
                <a:gd name="T9" fmla="*/ 0 w 499"/>
                <a:gd name="T10" fmla="*/ 0 h 861"/>
                <a:gd name="T11" fmla="*/ 499 w 499"/>
                <a:gd name="T12" fmla="*/ 861 h 8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99" h="861">
                  <a:moveTo>
                    <a:pt x="0" y="0"/>
                  </a:moveTo>
                  <a:cubicBezTo>
                    <a:pt x="3" y="222"/>
                    <a:pt x="7" y="445"/>
                    <a:pt x="90" y="589"/>
                  </a:cubicBezTo>
                  <a:cubicBezTo>
                    <a:pt x="173" y="733"/>
                    <a:pt x="431" y="816"/>
                    <a:pt x="499" y="861"/>
                  </a:cubicBezTo>
                </a:path>
              </a:pathLst>
            </a:custGeom>
            <a:noFill/>
            <a:ln w="25400">
              <a:solidFill>
                <a:schemeClr val="bg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chemeClr val="bg2"/>
                </a:solidFill>
              </a:endParaRPr>
            </a:p>
          </p:txBody>
        </p:sp>
        <p:sp>
          <p:nvSpPr>
            <p:cNvPr id="26" name="Text Box 51">
              <a:extLst>
                <a:ext uri="{FF2B5EF4-FFF2-40B4-BE49-F238E27FC236}">
                  <a16:creationId xmlns:a16="http://schemas.microsoft.com/office/drawing/2014/main" id="{DA303ACA-DBE6-4FC0-A139-87000CAD99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7013" y="5300663"/>
              <a:ext cx="1296987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Char char="¨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>
                  <a:solidFill>
                    <a:schemeClr val="bg2"/>
                  </a:solidFill>
                  <a:latin typeface="Tahoma" panose="020B0604030504040204" pitchFamily="34" charset="0"/>
                </a:rPr>
                <a:t>完成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0736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25A334B-FA2A-4834-B029-F3C3986D69A0}"/>
              </a:ext>
            </a:extLst>
          </p:cNvPr>
          <p:cNvSpPr txBox="1"/>
          <p:nvPr/>
        </p:nvSpPr>
        <p:spPr>
          <a:xfrm>
            <a:off x="1403648" y="39117"/>
            <a:ext cx="65527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-274638" algn="ctr" eaLnBrk="1" hangingPunct="1">
              <a:defRPr/>
            </a:pP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调 度 程 序</a:t>
            </a:r>
            <a:r>
              <a:rPr lang="en-US" altLang="zh-CN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(Dispatcher)</a:t>
            </a:r>
            <a:endParaRPr lang="zh-CN" altLang="en-US" dirty="0">
              <a:solidFill>
                <a:srgbClr val="B2622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12417EF-CF86-41F9-ADD8-D9C5C49BD036}"/>
              </a:ext>
            </a:extLst>
          </p:cNvPr>
          <p:cNvSpPr txBox="1">
            <a:spLocks noChangeArrowheads="1"/>
          </p:cNvSpPr>
          <p:nvPr/>
        </p:nvSpPr>
        <p:spPr>
          <a:xfrm>
            <a:off x="467544" y="4281698"/>
            <a:ext cx="7992888" cy="1235534"/>
          </a:xfrm>
          <a:prstGeom prst="rect">
            <a:avLst/>
          </a:prstGeom>
          <a:solidFill>
            <a:srgbClr val="CDD9FF"/>
          </a:solidFill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0" indent="0" algn="ctr">
              <a:buNone/>
            </a:pPr>
            <a:r>
              <a:rPr lang="zh-CN" altLang="zh-CN" sz="2800" b="1" kern="0" dirty="0">
                <a:solidFill>
                  <a:schemeClr val="bg2"/>
                </a:solidFill>
                <a:effectLst/>
              </a:rPr>
              <a:t> </a:t>
            </a:r>
            <a:r>
              <a:rPr lang="zh-CN" altLang="en-US" dirty="0">
                <a:solidFill>
                  <a:schemeClr val="bg2"/>
                </a:solidFill>
                <a:effectLst/>
                <a:latin typeface="+mn-ea"/>
              </a:rPr>
              <a:t>调度程序终止一个进程的运行</a:t>
            </a:r>
            <a:endParaRPr lang="en-US" altLang="zh-CN" dirty="0">
              <a:solidFill>
                <a:schemeClr val="bg2"/>
              </a:solidFill>
              <a:effectLst/>
              <a:latin typeface="+mn-ea"/>
            </a:endParaRPr>
          </a:p>
          <a:p>
            <a:pPr marL="0" indent="0" algn="ctr">
              <a:buNone/>
            </a:pPr>
            <a:r>
              <a:rPr lang="zh-CN" altLang="en-US" dirty="0">
                <a:solidFill>
                  <a:schemeClr val="bg2"/>
                </a:solidFill>
                <a:effectLst/>
                <a:latin typeface="+mn-ea"/>
              </a:rPr>
              <a:t>并启动另一个进程运行所花的时间</a:t>
            </a:r>
            <a:endParaRPr lang="zh-CN" altLang="zh-CN" dirty="0">
              <a:solidFill>
                <a:schemeClr val="bg2"/>
              </a:solidFill>
              <a:effectLst/>
              <a:latin typeface="+mn-ea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47AE9D5-2794-49E4-9189-171FD9D2C088}"/>
              </a:ext>
            </a:extLst>
          </p:cNvPr>
          <p:cNvSpPr txBox="1">
            <a:spLocks noChangeArrowheads="1"/>
          </p:cNvSpPr>
          <p:nvPr/>
        </p:nvSpPr>
        <p:spPr>
          <a:xfrm>
            <a:off x="609752" y="1035452"/>
            <a:ext cx="8534248" cy="213611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0" lvl="2" indent="0" defTabSz="355600">
              <a:lnSpc>
                <a:spcPct val="90000"/>
              </a:lnSpc>
              <a:spcBef>
                <a:spcPct val="0"/>
              </a:spcBef>
              <a:buClr>
                <a:schemeClr val="bg1"/>
              </a:buClr>
              <a:buSzPct val="80000"/>
              <a:buNone/>
              <a:defRPr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将</a:t>
            </a:r>
            <a:r>
              <a:rPr lang="en-US" altLang="zh-CN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CPU</a:t>
            </a: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的控制权转交给</a:t>
            </a:r>
            <a:r>
              <a:rPr lang="zh-CN" altLang="en-US" sz="3600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选中的</a:t>
            </a: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进程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切换上下文</a:t>
            </a:r>
          </a:p>
          <a:p>
            <a:pPr marL="812800" lvl="3" indent="-355600" defTabSz="355600"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切换到用户态</a:t>
            </a:r>
          </a:p>
          <a:p>
            <a:pPr marL="812800" lvl="3" indent="-355600" defTabSz="355600"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跳转到用户程序的适当位置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并恢复运行</a:t>
            </a:r>
            <a:endParaRPr lang="zh-CN" altLang="en-US" sz="3200" dirty="0">
              <a:solidFill>
                <a:schemeClr val="bg2"/>
              </a:solidFill>
              <a:effectLst/>
              <a:latin typeface="+mj-lt"/>
              <a:ea typeface="楷体" panose="02010609060101010101" pitchFamily="49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15F5A38-E3AC-4F35-AC84-2439AF8191A2}"/>
              </a:ext>
            </a:extLst>
          </p:cNvPr>
          <p:cNvSpPr/>
          <p:nvPr/>
        </p:nvSpPr>
        <p:spPr>
          <a:xfrm>
            <a:off x="3246875" y="3239723"/>
            <a:ext cx="2034531" cy="8125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 eaLnBrk="1" hangingPunct="1">
              <a:lnSpc>
                <a:spcPct val="130000"/>
              </a:lnSpc>
              <a:buNone/>
              <a:defRPr/>
            </a:pPr>
            <a:r>
              <a:rPr lang="zh-CN" altLang="en-US" sz="36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调度延迟</a:t>
            </a:r>
            <a:endParaRPr lang="en-US" altLang="zh-CN" sz="3600" dirty="0">
              <a:solidFill>
                <a:srgbClr val="0066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MS PGothic" pitchFamily="34" charset="-128"/>
              <a:cs typeface="+mj-cs"/>
            </a:endParaRPr>
          </a:p>
        </p:txBody>
      </p:sp>
      <p:sp>
        <p:nvSpPr>
          <p:cNvPr id="8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081072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613103"/>
            <a:ext cx="7344816" cy="6048047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 bwMode="auto">
          <a:xfrm>
            <a:off x="2267744" y="4437112"/>
            <a:ext cx="3240360" cy="504056"/>
          </a:xfrm>
          <a:prstGeom prst="ellipse">
            <a:avLst/>
          </a:prstGeom>
          <a:noFill/>
          <a:ln w="38100" cap="flat" cmpd="sng" algn="ctr">
            <a:solidFill>
              <a:srgbClr val="30D2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</a:bodyPr>
          <a:lstStyle/>
          <a:p>
            <a:pPr marL="457200" marR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None/>
              <a:tabLst/>
            </a:pPr>
            <a:endParaRPr kumimoji="1" lang="zh-CN" altLang="en-US" sz="3200" b="1" i="0" u="none" strike="noStrike" cap="none" normalizeH="0" baseline="0" smtClean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79946" y="28950"/>
            <a:ext cx="70899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-274638" algn="ctr" eaLnBrk="1" hangingPunct="1">
              <a:defRPr/>
            </a:pPr>
            <a:r>
              <a:rPr lang="en-US" altLang="zh-CN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xv6</a:t>
            </a: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进程调度程序</a:t>
            </a:r>
          </a:p>
        </p:txBody>
      </p:sp>
      <p:sp>
        <p:nvSpPr>
          <p:cNvPr id="7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471951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7417" y="1327042"/>
            <a:ext cx="5169166" cy="4203916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79946" y="28950"/>
            <a:ext cx="70899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-274638" algn="ctr" eaLnBrk="1" hangingPunct="1">
              <a:defRPr/>
            </a:pPr>
            <a:r>
              <a:rPr lang="en-US" altLang="zh-CN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xv6</a:t>
            </a:r>
            <a:r>
              <a:rPr lang="zh-CN" altLang="en-US" sz="4000" dirty="0" smtClean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进程上下文</a:t>
            </a:r>
            <a:endParaRPr lang="zh-CN" altLang="en-US" sz="4000" dirty="0">
              <a:solidFill>
                <a:srgbClr val="B2622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6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849393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836712"/>
            <a:ext cx="8076335" cy="5467057"/>
          </a:xfrm>
          <a:prstGeom prst="rect">
            <a:avLst/>
          </a:prstGeom>
        </p:spPr>
      </p:pic>
      <p:sp>
        <p:nvSpPr>
          <p:cNvPr id="4" name="椭圆 3"/>
          <p:cNvSpPr/>
          <p:nvPr/>
        </p:nvSpPr>
        <p:spPr bwMode="auto">
          <a:xfrm>
            <a:off x="971600" y="5085184"/>
            <a:ext cx="3024336" cy="288032"/>
          </a:xfrm>
          <a:prstGeom prst="ellipse">
            <a:avLst/>
          </a:prstGeom>
          <a:noFill/>
          <a:ln w="38100" cap="flat" cmpd="sng" algn="ctr">
            <a:solidFill>
              <a:srgbClr val="30D2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</a:bodyPr>
          <a:lstStyle/>
          <a:p>
            <a:pPr marL="457200" marR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None/>
              <a:tabLst/>
            </a:pPr>
            <a:endParaRPr kumimoji="1" lang="zh-CN" altLang="en-US" sz="3200" b="1" i="0" u="none" strike="noStrike" cap="none" normalizeH="0" baseline="0" smtClean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79946" y="28950"/>
            <a:ext cx="70899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-274638" algn="ctr" eaLnBrk="1" hangingPunct="1">
              <a:defRPr/>
            </a:pPr>
            <a:r>
              <a:rPr lang="en-US" altLang="zh-CN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xv6</a:t>
            </a:r>
            <a:r>
              <a:rPr lang="zh-CN" altLang="en-US" sz="4000" dirty="0" smtClean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进程</a:t>
            </a: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控制块</a:t>
            </a:r>
          </a:p>
        </p:txBody>
      </p:sp>
      <p:sp>
        <p:nvSpPr>
          <p:cNvPr id="9" name="AutoShape 7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19106CFB-C216-495B-8713-72BB401EF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477000"/>
            <a:ext cx="381000" cy="381000"/>
          </a:xfrm>
          <a:prstGeom prst="actionButtonHome">
            <a:avLst/>
          </a:prstGeom>
          <a:solidFill>
            <a:schemeClr val="tx1">
              <a:lumMod val="85000"/>
            </a:schemeClr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999130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hlinkClick r:id="" action="ppaction://noaction"/>
            <a:extLst>
              <a:ext uri="{FF2B5EF4-FFF2-40B4-BE49-F238E27FC236}">
                <a16:creationId xmlns:a16="http://schemas.microsoft.com/office/drawing/2014/main" id="{7E070729-19EC-4FA4-818A-88F535D8E660}"/>
              </a:ext>
            </a:extLst>
          </p:cNvPr>
          <p:cNvSpPr/>
          <p:nvPr/>
        </p:nvSpPr>
        <p:spPr>
          <a:xfrm>
            <a:off x="2843808" y="-99392"/>
            <a:ext cx="3717684" cy="8271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lnSpc>
                <a:spcPct val="120000"/>
              </a:lnSpc>
              <a:spcBef>
                <a:spcPts val="600"/>
              </a:spcBef>
              <a:buClr>
                <a:schemeClr val="folHlink"/>
              </a:buClr>
              <a:buSzPct val="75000"/>
              <a:defRPr/>
            </a:pPr>
            <a:r>
              <a:rPr lang="en-US" altLang="zh-CN" sz="44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6.2 </a:t>
            </a:r>
            <a:r>
              <a:rPr lang="zh-CN" altLang="en-US" sz="44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调 度 准 则</a:t>
            </a:r>
            <a:endParaRPr lang="en-US" altLang="zh-CN" sz="4400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275F202-FEF6-4EFC-9125-C23A43968DF6}"/>
              </a:ext>
            </a:extLst>
          </p:cNvPr>
          <p:cNvSpPr txBox="1">
            <a:spLocks noChangeArrowheads="1"/>
          </p:cNvSpPr>
          <p:nvPr/>
        </p:nvSpPr>
        <p:spPr>
          <a:xfrm>
            <a:off x="-3615" y="836712"/>
            <a:ext cx="9324528" cy="5291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55600" lvl="2" indent="-355600" defTabSz="355600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公平性：“合理”的分配</a:t>
            </a:r>
            <a:r>
              <a:rPr lang="en-US" altLang="zh-CN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CPU</a:t>
            </a:r>
          </a:p>
          <a:p>
            <a:pPr marL="355600" lvl="2" indent="-355600" defTabSz="355600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en-US" altLang="zh-CN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CPU</a:t>
            </a: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利用率高</a:t>
            </a:r>
          </a:p>
          <a:p>
            <a:pPr marL="355600" lvl="2" indent="-355600" defTabSz="355600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吞吐量大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吞吐量</a:t>
            </a:r>
            <a:r>
              <a:rPr lang="en-US" altLang="zh-CN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: 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单位时间完成的任务数量</a:t>
            </a:r>
          </a:p>
          <a:p>
            <a:pPr marL="812800" lvl="3" indent="-355600" defTabSz="355600"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吞吐量大 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  <a:sym typeface="Symbol" panose="05050102010706020507" pitchFamily="18" charset="2"/>
              </a:rPr>
              <a:t> </a:t>
            </a:r>
            <a:r>
              <a:rPr lang="en-US" altLang="zh-CN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  <a:sym typeface="Symbol" panose="05050102010706020507" pitchFamily="18" charset="2"/>
              </a:rPr>
              <a:t>CPU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  <a:sym typeface="Symbol" panose="05050102010706020507" pitchFamily="18" charset="2"/>
              </a:rPr>
              <a:t>使用率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  <a:sym typeface="Symbol" panose="05050102010706020507" pitchFamily="18" charset="2"/>
              </a:rPr>
              <a:t>高</a:t>
            </a:r>
            <a:r>
              <a:rPr lang="en-US" altLang="zh-CN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  <a:sym typeface="Symbol" panose="05050102010706020507" pitchFamily="18" charset="2"/>
              </a:rPr>
              <a:t>+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  <a:sym typeface="Symbol" panose="05050102010706020507" pitchFamily="18" charset="2"/>
              </a:rPr>
              <a:t>上下文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  <a:sym typeface="Symbol" panose="05050102010706020507" pitchFamily="18" charset="2"/>
              </a:rPr>
              <a:t>切换代价小</a:t>
            </a:r>
          </a:p>
          <a:p>
            <a:pPr marL="355600" lvl="2" indent="-355600" defTabSz="355600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响应时间短</a:t>
            </a:r>
            <a:r>
              <a:rPr lang="en-US" altLang="zh-CN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(</a:t>
            </a: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交互式</a:t>
            </a:r>
            <a:r>
              <a:rPr lang="en-US" altLang="zh-CN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)</a:t>
            </a:r>
          </a:p>
          <a:p>
            <a:pPr marL="812800" lvl="3" indent="-355600" defTabSz="355600"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响应时间</a:t>
            </a:r>
            <a:r>
              <a:rPr lang="en-US" altLang="zh-CN" sz="3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: 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从用户输入到产生反应的时间</a:t>
            </a:r>
          </a:p>
          <a:p>
            <a:pPr marL="355600" lvl="2" indent="-355600" defTabSz="355600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周转时间短</a:t>
            </a:r>
            <a:r>
              <a:rPr lang="en-US" altLang="zh-CN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(</a:t>
            </a: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批处理</a:t>
            </a:r>
            <a:r>
              <a:rPr lang="en-US" altLang="zh-CN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)</a:t>
            </a:r>
          </a:p>
          <a:p>
            <a:pPr marL="812800" lvl="3" indent="-355600" defTabSz="355600"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周转时间</a:t>
            </a:r>
            <a:r>
              <a:rPr lang="en-US" altLang="zh-CN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: 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从任务开始到任务结束的时间</a:t>
            </a:r>
          </a:p>
          <a:p>
            <a:pPr marL="812800" lvl="3" indent="-355600" defTabSz="355600"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周转</a:t>
            </a:r>
            <a:r>
              <a:rPr lang="en-US" altLang="zh-CN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(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响应</a:t>
            </a:r>
            <a:r>
              <a:rPr lang="en-US" altLang="zh-CN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)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时间短 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  <a:sym typeface="Symbol" panose="05050102010706020507" pitchFamily="18" charset="2"/>
              </a:rPr>
              <a:t> 等待时间</a:t>
            </a:r>
            <a:r>
              <a:rPr lang="en-US" altLang="zh-CN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  <a:sym typeface="Symbol" panose="05050102010706020507" pitchFamily="18" charset="2"/>
              </a:rPr>
              <a:t>(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  <a:sym typeface="Symbol" panose="05050102010706020507" pitchFamily="18" charset="2"/>
              </a:rPr>
              <a:t>在就绪队列中的时间</a:t>
            </a:r>
            <a:r>
              <a:rPr lang="en-US" altLang="zh-CN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  <a:sym typeface="Symbol" panose="05050102010706020507" pitchFamily="18" charset="2"/>
              </a:rPr>
              <a:t>)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  <a:sym typeface="Symbol" panose="05050102010706020507" pitchFamily="18" charset="2"/>
              </a:rPr>
              <a:t>短</a:t>
            </a:r>
            <a:endParaRPr lang="zh-CN" altLang="en-US" b="1" kern="0" dirty="0">
              <a:solidFill>
                <a:schemeClr val="bg2"/>
              </a:solidFill>
              <a:effectLst/>
            </a:endParaRPr>
          </a:p>
        </p:txBody>
      </p:sp>
      <p:sp>
        <p:nvSpPr>
          <p:cNvPr id="6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7" name="日期占位符 1">
            <a:extLst>
              <a:ext uri="{FF2B5EF4-FFF2-40B4-BE49-F238E27FC236}">
                <a16:creationId xmlns:a16="http://schemas.microsoft.com/office/drawing/2014/main" id="{A3D73B32-9CCC-4CD3-A2AE-5F466CAA8231}"/>
              </a:ext>
            </a:extLst>
          </p:cNvPr>
          <p:cNvSpPr txBox="1">
            <a:spLocks/>
          </p:cNvSpPr>
          <p:nvPr/>
        </p:nvSpPr>
        <p:spPr bwMode="auto">
          <a:xfrm>
            <a:off x="0" y="6400800"/>
            <a:ext cx="37799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sz="1400" b="0" kern="1200">
                <a:solidFill>
                  <a:schemeClr val="tx1"/>
                </a:solidFill>
                <a:effectLst/>
                <a:latin typeface="+mn-lt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defRPr/>
            </a:pPr>
            <a:r>
              <a:rPr lang="zh-CN" altLang="en-US" sz="1800" b="1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大连海事大学  计算机系  史一民</a:t>
            </a:r>
            <a:endParaRPr lang="en-US" altLang="zh-CN" sz="18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7510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AD3DC9A-E345-407A-A538-C761D5C2AE6B}"/>
              </a:ext>
            </a:extLst>
          </p:cNvPr>
          <p:cNvSpPr txBox="1"/>
          <p:nvPr/>
        </p:nvSpPr>
        <p:spPr>
          <a:xfrm>
            <a:off x="568029" y="6318028"/>
            <a:ext cx="800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2"/>
                </a:solidFill>
                <a:latin typeface="+mn-ea"/>
                <a:ea typeface="+mn-ea"/>
              </a:rPr>
              <a:t>李治</a:t>
            </a:r>
            <a:r>
              <a:rPr lang="zh-CN" altLang="en-US" sz="2000" dirty="0">
                <a:solidFill>
                  <a:schemeClr val="bg2"/>
                </a:solidFill>
                <a:latin typeface="+mn-ea"/>
                <a:ea typeface="+mn-ea"/>
              </a:rPr>
              <a:t>军 操作系统课件 哈尔滨工业大学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20E72BE-EC56-43F6-AB02-61BC03235A4B}"/>
              </a:ext>
            </a:extLst>
          </p:cNvPr>
          <p:cNvSpPr txBox="1">
            <a:spLocks noChangeArrowheads="1"/>
          </p:cNvSpPr>
          <p:nvPr/>
        </p:nvSpPr>
        <p:spPr>
          <a:xfrm>
            <a:off x="487708" y="27782"/>
            <a:ext cx="8077200" cy="6762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pitchFamily="34" charset="-128"/>
              </a:rPr>
              <a:t>调度准则之间的矛盾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946F-F10B-48C3-85AA-D9E647364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29349"/>
            <a:ext cx="9303270" cy="1550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55600" lvl="2" indent="-355600" defTabSz="355600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响应时间与</a:t>
            </a: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公平性之间的矛盾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响应时间短 </a:t>
            </a: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  <a:sym typeface="Symbol" panose="05050102010706020507" pitchFamily="18" charset="2"/>
              </a:rPr>
              <a:t> 前台任务的优先级高</a:t>
            </a:r>
            <a:endParaRPr lang="en-US" altLang="zh-CN" dirty="0">
              <a:solidFill>
                <a:schemeClr val="bg2"/>
              </a:solidFill>
              <a:latin typeface="+mj-lt"/>
              <a:ea typeface="楷体" panose="02010609060101010101" pitchFamily="49" charset="-122"/>
              <a:sym typeface="Symbol" panose="05050102010706020507" pitchFamily="18" charset="2"/>
            </a:endParaRPr>
          </a:p>
          <a:p>
            <a:pPr marL="812800" lvl="3" indent="-355600" defTabSz="355600"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  <a:sym typeface="Symbol" panose="05050102010706020507" pitchFamily="18" charset="2"/>
              </a:rPr>
              <a:t>前台任务总优先调度  后台任务得不到</a:t>
            </a:r>
            <a:r>
              <a:rPr lang="en-US" altLang="zh-CN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  <a:sym typeface="Symbol" panose="05050102010706020507" pitchFamily="18" charset="2"/>
              </a:rPr>
              <a:t>CPU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ED23548B-8B56-4ADF-A4A0-32600E9AC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195" y="2446102"/>
            <a:ext cx="9036496" cy="14976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55600" lvl="2" indent="-355600" defTabSz="355600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响应时间与吞吐量之间的矛盾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吞吐量大 </a:t>
            </a: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  <a:sym typeface="Symbol" panose="05050102010706020507" pitchFamily="18" charset="2"/>
              </a:rPr>
              <a:t> 上下文切换代价小  时间片大</a:t>
            </a:r>
            <a:endParaRPr lang="en-US" altLang="zh-CN" dirty="0">
              <a:solidFill>
                <a:schemeClr val="bg2"/>
              </a:solidFill>
              <a:latin typeface="+mj-lt"/>
              <a:ea typeface="楷体" panose="02010609060101010101" pitchFamily="49" charset="-122"/>
              <a:sym typeface="Symbol" panose="05050102010706020507" pitchFamily="18" charset="2"/>
            </a:endParaRPr>
          </a:p>
          <a:p>
            <a:pPr marL="812800" lvl="3" indent="-355600" defTabSz="355600"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  <a:sym typeface="Symbol" panose="05050102010706020507" pitchFamily="18" charset="2"/>
              </a:rPr>
              <a:t>时间片大  </a:t>
            </a:r>
            <a:r>
              <a:rPr lang="zh-CN" altLang="en-US" dirty="0" smtClean="0">
                <a:solidFill>
                  <a:schemeClr val="bg2"/>
                </a:solidFill>
                <a:latin typeface="+mj-lt"/>
                <a:ea typeface="楷体" panose="02010609060101010101" pitchFamily="49" charset="-122"/>
                <a:sym typeface="Symbol" panose="05050102010706020507" pitchFamily="18" charset="2"/>
              </a:rPr>
              <a:t>响应时间长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4" name="Text Box 4">
            <a:extLst>
              <a:ext uri="{FF2B5EF4-FFF2-40B4-BE49-F238E27FC236}">
                <a16:creationId xmlns:a16="http://schemas.microsoft.com/office/drawing/2014/main" id="{346B2339-FBFE-45A1-B0A8-ACB8C795AE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963" y="4298097"/>
            <a:ext cx="8604250" cy="1471172"/>
          </a:xfrm>
          <a:prstGeom prst="rect">
            <a:avLst/>
          </a:prstGeom>
          <a:solidFill>
            <a:srgbClr val="CDD9FF"/>
          </a:solidFill>
          <a:ln>
            <a:noFill/>
          </a:ln>
          <a:ex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None/>
            </a:pPr>
            <a:r>
              <a:rPr lang="zh-CN" altLang="en-US" sz="2800" dirty="0">
                <a:solidFill>
                  <a:schemeClr val="bg2"/>
                </a:solidFill>
              </a:rPr>
              <a:t>任一调度算法要想同时满足是不可能的。</a:t>
            </a:r>
          </a:p>
          <a:p>
            <a:pPr algn="ctr" eaLnBrk="1" hangingPunct="1">
              <a:buClrTx/>
              <a:buSzTx/>
              <a:buNone/>
            </a:pPr>
            <a:r>
              <a:rPr lang="zh-CN" altLang="en-US" sz="2800" dirty="0">
                <a:solidFill>
                  <a:schemeClr val="bg2"/>
                </a:solidFill>
                <a:latin typeface="宋体" panose="02010600030101010101" pitchFamily="2" charset="-122"/>
              </a:rPr>
              <a:t>根据应用的特征</a:t>
            </a:r>
            <a:r>
              <a:rPr lang="en-US" altLang="zh-CN" sz="2800" dirty="0">
                <a:solidFill>
                  <a:schemeClr val="bg2"/>
                </a:solidFill>
                <a:latin typeface="宋体" panose="02010600030101010101" pitchFamily="2" charset="-122"/>
              </a:rPr>
              <a:t>,</a:t>
            </a:r>
            <a:r>
              <a:rPr lang="zh-CN" altLang="en-US" sz="2800" dirty="0">
                <a:solidFill>
                  <a:schemeClr val="bg2"/>
                </a:solidFill>
                <a:latin typeface="宋体" panose="02010600030101010101" pitchFamily="2" charset="-122"/>
              </a:rPr>
              <a:t>采用兼顾某些准则的简单调度算法（</a:t>
            </a:r>
            <a:r>
              <a:rPr lang="zh-CN" altLang="en-US" sz="2800" dirty="0">
                <a:solidFill>
                  <a:schemeClr val="bg2"/>
                </a:solidFill>
              </a:rPr>
              <a:t>调度程序执行时间应尽量短</a:t>
            </a:r>
            <a:r>
              <a:rPr lang="zh-CN" altLang="en-US" sz="2800" dirty="0">
                <a:solidFill>
                  <a:schemeClr val="bg2"/>
                </a:solidFill>
                <a:latin typeface="宋体" panose="02010600030101010101" pitchFamily="2" charset="-122"/>
              </a:rPr>
              <a:t>）</a:t>
            </a:r>
            <a:endParaRPr lang="zh-CN" altLang="en-US" sz="2800" b="1" dirty="0">
              <a:solidFill>
                <a:schemeClr val="bg2"/>
              </a:solidFill>
              <a:latin typeface="宋体" panose="02010600030101010101" pitchFamily="2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DCD4251-FBEF-407F-84F0-A10F96D28CEF}"/>
              </a:ext>
            </a:extLst>
          </p:cNvPr>
          <p:cNvSpPr/>
          <p:nvPr/>
        </p:nvSpPr>
        <p:spPr>
          <a:xfrm>
            <a:off x="511343" y="4107616"/>
            <a:ext cx="789778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ClrTx/>
              <a:buSzTx/>
              <a:buFontTx/>
              <a:buNone/>
            </a:pP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9" name="AutoShape 7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19106CFB-C216-495B-8713-72BB401EF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477000"/>
            <a:ext cx="381000" cy="381000"/>
          </a:xfrm>
          <a:prstGeom prst="actionButtonHome">
            <a:avLst/>
          </a:prstGeom>
          <a:solidFill>
            <a:schemeClr val="tx1">
              <a:lumMod val="85000"/>
            </a:schemeClr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798673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uiExpand="1" build="p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3CB71F7-FA7A-4D8B-A5FF-3EFB528A93AE}"/>
              </a:ext>
            </a:extLst>
          </p:cNvPr>
          <p:cNvSpPr/>
          <p:nvPr/>
        </p:nvSpPr>
        <p:spPr>
          <a:xfrm>
            <a:off x="2987824" y="2426147"/>
            <a:ext cx="408270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274638" eaLnBrk="1" hangingPunct="1">
              <a:defRPr/>
            </a:pP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优先级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F0B8A5B-21EC-41EC-A104-E63E8D6AFFD1}"/>
              </a:ext>
            </a:extLst>
          </p:cNvPr>
          <p:cNvSpPr/>
          <p:nvPr/>
        </p:nvSpPr>
        <p:spPr>
          <a:xfrm>
            <a:off x="2987824" y="3189391"/>
            <a:ext cx="408270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274638" eaLnBrk="1" hangingPunct="1">
              <a:defRPr/>
            </a:pP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时间片轮转算法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7A92533-0104-4BE5-A6F7-CB4E91BCD799}"/>
              </a:ext>
            </a:extLst>
          </p:cNvPr>
          <p:cNvSpPr/>
          <p:nvPr/>
        </p:nvSpPr>
        <p:spPr>
          <a:xfrm>
            <a:off x="2987824" y="935762"/>
            <a:ext cx="462077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274638" eaLnBrk="1" hangingPunct="1">
              <a:defRPr/>
            </a:pP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先来先服务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6720C5A-67A5-4504-B47D-0D25F1EB6417}"/>
              </a:ext>
            </a:extLst>
          </p:cNvPr>
          <p:cNvSpPr txBox="1"/>
          <p:nvPr/>
        </p:nvSpPr>
        <p:spPr>
          <a:xfrm>
            <a:off x="2987824" y="1726660"/>
            <a:ext cx="31048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-274638" eaLnBrk="1" hangingPunct="1">
              <a:defRPr/>
            </a:pP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短作业优先</a:t>
            </a:r>
          </a:p>
        </p:txBody>
      </p:sp>
      <p:sp>
        <p:nvSpPr>
          <p:cNvPr id="9" name="矩形 8">
            <a:hlinkClick r:id="" action="ppaction://noaction"/>
            <a:extLst>
              <a:ext uri="{FF2B5EF4-FFF2-40B4-BE49-F238E27FC236}">
                <a16:creationId xmlns:a16="http://schemas.microsoft.com/office/drawing/2014/main" id="{95ED0A72-8AF3-4EE6-BFD6-3DF17F143EB2}"/>
              </a:ext>
            </a:extLst>
          </p:cNvPr>
          <p:cNvSpPr/>
          <p:nvPr/>
        </p:nvSpPr>
        <p:spPr>
          <a:xfrm>
            <a:off x="2891002" y="0"/>
            <a:ext cx="3717684" cy="9048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lnSpc>
                <a:spcPct val="120000"/>
              </a:lnSpc>
              <a:spcBef>
                <a:spcPts val="600"/>
              </a:spcBef>
              <a:buClr>
                <a:schemeClr val="folHlink"/>
              </a:buClr>
              <a:buSzPct val="75000"/>
              <a:defRPr/>
            </a:pPr>
            <a:r>
              <a:rPr lang="en-US" altLang="zh-CN" sz="44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6.3 </a:t>
            </a:r>
            <a:r>
              <a:rPr lang="zh-CN" altLang="en-US" sz="44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调 度 算 法</a:t>
            </a:r>
            <a:endParaRPr lang="en-US" altLang="zh-CN" sz="4400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3C79E70-1B13-4317-91FF-46FA6F37D76B}"/>
              </a:ext>
            </a:extLst>
          </p:cNvPr>
          <p:cNvSpPr/>
          <p:nvPr/>
        </p:nvSpPr>
        <p:spPr>
          <a:xfrm>
            <a:off x="2987824" y="3920662"/>
            <a:ext cx="408270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274638" eaLnBrk="1" hangingPunct="1">
              <a:defRPr/>
            </a:pP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多级队列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B7AE460-E912-461C-BFB2-402EA53D49AD}"/>
              </a:ext>
            </a:extLst>
          </p:cNvPr>
          <p:cNvSpPr/>
          <p:nvPr/>
        </p:nvSpPr>
        <p:spPr>
          <a:xfrm>
            <a:off x="2988000" y="4671750"/>
            <a:ext cx="408270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274638" eaLnBrk="1" hangingPunct="1">
              <a:defRPr/>
            </a:pP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多级反馈队列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7C2FB3-B356-49BB-A2C6-72A358D7981A}"/>
              </a:ext>
            </a:extLst>
          </p:cNvPr>
          <p:cNvSpPr/>
          <p:nvPr/>
        </p:nvSpPr>
        <p:spPr>
          <a:xfrm>
            <a:off x="2987824" y="5364000"/>
            <a:ext cx="326243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高响应比优先</a:t>
            </a:r>
          </a:p>
        </p:txBody>
      </p:sp>
      <p:sp>
        <p:nvSpPr>
          <p:cNvPr id="13" name="日期占位符 1">
            <a:extLst>
              <a:ext uri="{FF2B5EF4-FFF2-40B4-BE49-F238E27FC236}">
                <a16:creationId xmlns:a16="http://schemas.microsoft.com/office/drawing/2014/main" id="{A3D73B32-9CCC-4CD3-A2AE-5F466CAA8231}"/>
              </a:ext>
            </a:extLst>
          </p:cNvPr>
          <p:cNvSpPr txBox="1">
            <a:spLocks/>
          </p:cNvSpPr>
          <p:nvPr/>
        </p:nvSpPr>
        <p:spPr bwMode="auto">
          <a:xfrm>
            <a:off x="0" y="6400800"/>
            <a:ext cx="37799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sz="1400" b="0" kern="1200">
                <a:solidFill>
                  <a:schemeClr val="tx1"/>
                </a:solidFill>
                <a:effectLst/>
                <a:latin typeface="+mn-lt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defRPr/>
            </a:pPr>
            <a:r>
              <a:rPr lang="zh-CN" altLang="en-US" sz="1800" b="1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大连海事大学  计算机系  史一民</a:t>
            </a:r>
            <a:endParaRPr lang="en-US" altLang="zh-CN" sz="18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38730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2BCEDE0-301D-4173-AF43-84E47010DCB9}"/>
              </a:ext>
            </a:extLst>
          </p:cNvPr>
          <p:cNvSpPr/>
          <p:nvPr/>
        </p:nvSpPr>
        <p:spPr>
          <a:xfrm>
            <a:off x="2261615" y="21515"/>
            <a:ext cx="462077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274638" algn="ctr" eaLnBrk="1" hangingPunct="1">
              <a:defRPr/>
            </a:pP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先来先服务</a:t>
            </a:r>
            <a:r>
              <a:rPr lang="zh-CN" altLang="en-US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（</a:t>
            </a:r>
            <a:r>
              <a:rPr lang="en-US" altLang="zh-CN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FCFS</a:t>
            </a:r>
            <a:r>
              <a:rPr lang="zh-CN" altLang="en-US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）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C39234F-8475-4F2C-B1B7-3AF651586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3" y="1268760"/>
            <a:ext cx="9073008" cy="453650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355600" lvl="2" indent="-355600" defTabSz="355600">
              <a:lnSpc>
                <a:spcPct val="90000"/>
              </a:lnSpc>
              <a:buClr>
                <a:schemeClr val="bg1">
                  <a:lumMod val="75000"/>
                </a:schemeClr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调度的顺序</a:t>
            </a:r>
          </a:p>
          <a:p>
            <a:pPr marL="812800" lvl="3" indent="-355600" defTabSz="355600">
              <a:lnSpc>
                <a:spcPct val="90000"/>
              </a:lnSpc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dirty="0" smtClean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任务到达</a:t>
            </a: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就绪队列的顺序</a:t>
            </a:r>
          </a:p>
          <a:p>
            <a:pPr marL="812800" lvl="3" indent="-355600" defTabSz="355600">
              <a:lnSpc>
                <a:spcPct val="90000"/>
              </a:lnSpc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zh-CN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占用CPU，直到执行完或</a:t>
            </a:r>
            <a:r>
              <a:rPr lang="zh-CN" altLang="zh-CN" dirty="0" smtClean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阻塞</a:t>
            </a:r>
            <a:endParaRPr lang="zh-CN" altLang="en-US" dirty="0" smtClean="0">
              <a:solidFill>
                <a:schemeClr val="bg2"/>
              </a:solidFill>
              <a:latin typeface="+mj-lt"/>
              <a:ea typeface="楷体" panose="02010609060101010101" pitchFamily="49" charset="-122"/>
            </a:endParaRPr>
          </a:p>
          <a:p>
            <a:pPr marL="355600" lvl="2" indent="-355600" defTabSz="355600">
              <a:lnSpc>
                <a:spcPct val="90000"/>
              </a:lnSpc>
              <a:buClr>
                <a:schemeClr val="bg1">
                  <a:lumMod val="75000"/>
                </a:schemeClr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特点</a:t>
            </a:r>
          </a:p>
          <a:p>
            <a:pPr marL="812800" lvl="3" indent="-355600" defTabSz="355600">
              <a:lnSpc>
                <a:spcPct val="90000"/>
              </a:lnSpc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非抢占</a:t>
            </a:r>
            <a:endParaRPr lang="en-US" altLang="zh-CN" dirty="0">
              <a:solidFill>
                <a:schemeClr val="bg2"/>
              </a:solidFill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lnSpc>
                <a:spcPct val="90000"/>
              </a:lnSpc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有利于长作业，而不利于短作业。</a:t>
            </a:r>
            <a:endParaRPr lang="en-US" altLang="zh-CN" dirty="0">
              <a:solidFill>
                <a:schemeClr val="bg2"/>
              </a:solidFill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lnSpc>
                <a:spcPct val="90000"/>
              </a:lnSpc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平均等待时间长、没考虑任务特性</a:t>
            </a:r>
            <a:endParaRPr lang="en-US" altLang="zh-CN" dirty="0">
              <a:solidFill>
                <a:schemeClr val="bg2"/>
              </a:solidFill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lnSpc>
                <a:spcPct val="90000"/>
              </a:lnSpc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很少单独使用，</a:t>
            </a:r>
            <a:r>
              <a:rPr lang="zh-CN" altLang="en-US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常和其它算法配合</a:t>
            </a:r>
          </a:p>
        </p:txBody>
      </p:sp>
      <p:sp>
        <p:nvSpPr>
          <p:cNvPr id="6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596329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2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557974F-93DE-4748-8BEC-7BF62CDD4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F3703A3-1889-4D5A-B002-82B1611E7DF6}" type="datetime1">
              <a:rPr lang="zh-CN" altLang="en-US" smtClean="0"/>
              <a:pPr>
                <a:defRPr/>
              </a:pPr>
              <a:t>2024/11/6</a:t>
            </a:fld>
            <a:endParaRPr lang="en-US" alt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9117102-26F9-4500-BC16-89DC08A95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359" y="1063008"/>
            <a:ext cx="4064841" cy="1822726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090900F1-1DFA-4490-8494-BADBFC003C09}"/>
              </a:ext>
            </a:extLst>
          </p:cNvPr>
          <p:cNvSpPr txBox="1">
            <a:spLocks noChangeArrowheads="1"/>
          </p:cNvSpPr>
          <p:nvPr/>
        </p:nvSpPr>
        <p:spPr>
          <a:xfrm>
            <a:off x="1015314" y="588662"/>
            <a:ext cx="6162080" cy="457200"/>
          </a:xfrm>
          <a:prstGeom prst="rect">
            <a:avLst/>
          </a:prstGeom>
          <a:noFill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>
              <a:buFontTx/>
              <a:buNone/>
              <a:tabLst>
                <a:tab pos="3651250" algn="ctr"/>
              </a:tabLst>
            </a:pPr>
            <a:r>
              <a:rPr lang="zh-CN" altLang="en-US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假定进程到达顺序</a:t>
            </a:r>
            <a:r>
              <a:rPr lang="zh-CN" altLang="en-US" sz="2800" b="1" kern="0" dirty="0">
                <a:solidFill>
                  <a:schemeClr val="bg2"/>
                </a:solidFill>
                <a:effectLst/>
              </a:rPr>
              <a:t>：</a:t>
            </a:r>
            <a:r>
              <a:rPr lang="zh-CN" altLang="zh-CN" sz="2800" b="0" kern="0" dirty="0">
                <a:solidFill>
                  <a:schemeClr val="bg2"/>
                </a:solidFill>
                <a:effectLst/>
              </a:rPr>
              <a:t> </a:t>
            </a:r>
            <a:r>
              <a:rPr lang="en-US" altLang="zh-CN" sz="2800" i="1" dirty="0">
                <a:solidFill>
                  <a:srgbClr val="FF0000"/>
                </a:solidFill>
                <a:effectLst/>
              </a:rPr>
              <a:t>P</a:t>
            </a:r>
            <a:r>
              <a:rPr lang="en-US" altLang="zh-CN" sz="2800" i="1" baseline="-25000" dirty="0">
                <a:solidFill>
                  <a:srgbClr val="FF0000"/>
                </a:solidFill>
                <a:effectLst/>
              </a:rPr>
              <a:t>1</a:t>
            </a:r>
            <a:r>
              <a:rPr lang="en-US" altLang="zh-CN" sz="2800" dirty="0">
                <a:solidFill>
                  <a:srgbClr val="FF0000"/>
                </a:solidFill>
                <a:effectLst/>
              </a:rPr>
              <a:t> </a:t>
            </a:r>
            <a:r>
              <a:rPr lang="zh-CN" altLang="en-US" sz="2800" dirty="0" smtClean="0">
                <a:solidFill>
                  <a:srgbClr val="FF0000"/>
                </a:solidFill>
                <a:effectLst/>
              </a:rPr>
              <a:t>、</a:t>
            </a:r>
            <a:r>
              <a:rPr lang="en-US" altLang="zh-CN" sz="2800" i="1" dirty="0" smtClean="0">
                <a:solidFill>
                  <a:srgbClr val="FF0000"/>
                </a:solidFill>
                <a:effectLst/>
              </a:rPr>
              <a:t>P</a:t>
            </a:r>
            <a:r>
              <a:rPr lang="en-US" altLang="zh-CN" sz="2800" i="1" baseline="-25000" dirty="0" smtClean="0">
                <a:solidFill>
                  <a:srgbClr val="FF0000"/>
                </a:solidFill>
                <a:effectLst/>
              </a:rPr>
              <a:t>2</a:t>
            </a:r>
            <a:r>
              <a:rPr lang="en-US" altLang="zh-CN" sz="2800" dirty="0" smtClean="0">
                <a:solidFill>
                  <a:srgbClr val="FF0000"/>
                </a:solidFill>
                <a:effectLst/>
              </a:rPr>
              <a:t> </a:t>
            </a:r>
            <a:r>
              <a:rPr lang="zh-CN" altLang="en-US" sz="2800" dirty="0" smtClean="0">
                <a:solidFill>
                  <a:srgbClr val="FF0000"/>
                </a:solidFill>
                <a:effectLst/>
              </a:rPr>
              <a:t>、</a:t>
            </a:r>
            <a:r>
              <a:rPr lang="en-US" altLang="zh-CN" sz="2800" i="1" dirty="0" smtClean="0">
                <a:solidFill>
                  <a:srgbClr val="FF0000"/>
                </a:solidFill>
                <a:effectLst/>
              </a:rPr>
              <a:t>P</a:t>
            </a:r>
            <a:r>
              <a:rPr lang="en-US" altLang="zh-CN" sz="2800" i="1" baseline="-25000" dirty="0" smtClean="0">
                <a:solidFill>
                  <a:srgbClr val="FF0000"/>
                </a:solidFill>
                <a:effectLst/>
              </a:rPr>
              <a:t>3 </a:t>
            </a:r>
            <a:endParaRPr lang="zh-CN" altLang="zh-CN" sz="2800" b="0" kern="0" dirty="0">
              <a:solidFill>
                <a:srgbClr val="FF0000"/>
              </a:solidFill>
              <a:effectLst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1E475CA-A61B-4EB5-8F05-585F618C3F32}"/>
              </a:ext>
            </a:extLst>
          </p:cNvPr>
          <p:cNvSpPr txBox="1">
            <a:spLocks noChangeArrowheads="1"/>
          </p:cNvSpPr>
          <p:nvPr/>
        </p:nvSpPr>
        <p:spPr>
          <a:xfrm>
            <a:off x="1258446" y="2885811"/>
            <a:ext cx="3074158" cy="66283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0" indent="0">
              <a:buNone/>
              <a:tabLst>
                <a:tab pos="3651250" algn="ctr"/>
              </a:tabLst>
            </a:pPr>
            <a:r>
              <a:rPr lang="zh-CN" altLang="en-US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调度的</a:t>
            </a:r>
            <a:r>
              <a:rPr lang="en-US" altLang="zh-CN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Gantt</a:t>
            </a:r>
            <a:r>
              <a:rPr lang="zh-CN" altLang="en-US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图</a:t>
            </a:r>
            <a:r>
              <a:rPr lang="zh-CN" altLang="zh-CN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 </a:t>
            </a:r>
          </a:p>
        </p:txBody>
      </p:sp>
      <p:grpSp>
        <p:nvGrpSpPr>
          <p:cNvPr id="23" name="Group 18">
            <a:extLst>
              <a:ext uri="{FF2B5EF4-FFF2-40B4-BE49-F238E27FC236}">
                <a16:creationId xmlns:a16="http://schemas.microsoft.com/office/drawing/2014/main" id="{453DFDC4-D101-4CA3-A8A2-001FAF305096}"/>
              </a:ext>
            </a:extLst>
          </p:cNvPr>
          <p:cNvGrpSpPr>
            <a:grpSpLocks/>
          </p:cNvGrpSpPr>
          <p:nvPr/>
        </p:nvGrpSpPr>
        <p:grpSpPr bwMode="auto">
          <a:xfrm>
            <a:off x="1894582" y="3505334"/>
            <a:ext cx="5645150" cy="1176338"/>
            <a:chOff x="856" y="2688"/>
            <a:chExt cx="3556" cy="741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E48E0286-4CD5-4D4B-B578-718D36F43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688"/>
              <a:ext cx="3312" cy="38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381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400">
                <a:solidFill>
                  <a:schemeClr val="bg2"/>
                </a:solidFill>
              </a:endParaRPr>
            </a:p>
          </p:txBody>
        </p:sp>
        <p:sp>
          <p:nvSpPr>
            <p:cNvPr id="25" name="Text Box 5">
              <a:extLst>
                <a:ext uri="{FF2B5EF4-FFF2-40B4-BE49-F238E27FC236}">
                  <a16:creationId xmlns:a16="http://schemas.microsoft.com/office/drawing/2014/main" id="{8DBE9538-4FB5-4B11-8215-158745F3F1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2706"/>
              <a:ext cx="317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bg2"/>
                  </a:solidFill>
                </a:rPr>
                <a:t>P</a:t>
              </a:r>
              <a:r>
                <a:rPr lang="en-US" altLang="zh-CN" sz="2400" baseline="-25000">
                  <a:solidFill>
                    <a:schemeClr val="bg2"/>
                  </a:solidFill>
                </a:rPr>
                <a:t>1</a:t>
              </a:r>
              <a:endParaRPr lang="en-US" altLang="zh-CN" sz="2400">
                <a:solidFill>
                  <a:schemeClr val="bg2"/>
                </a:solidFill>
              </a:endParaRPr>
            </a:p>
          </p:txBody>
        </p:sp>
        <p:sp>
          <p:nvSpPr>
            <p:cNvPr id="26" name="Text Box 6">
              <a:extLst>
                <a:ext uri="{FF2B5EF4-FFF2-40B4-BE49-F238E27FC236}">
                  <a16:creationId xmlns:a16="http://schemas.microsoft.com/office/drawing/2014/main" id="{78D96EF4-5238-4C37-92B2-7EBE840279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2706"/>
              <a:ext cx="317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bg2"/>
                  </a:solidFill>
                </a:rPr>
                <a:t>P</a:t>
              </a:r>
              <a:r>
                <a:rPr lang="en-US" altLang="zh-CN" sz="2400" baseline="-25000" dirty="0">
                  <a:solidFill>
                    <a:schemeClr val="bg2"/>
                  </a:solidFill>
                </a:rPr>
                <a:t>2</a:t>
              </a:r>
              <a:endParaRPr lang="en-US" altLang="zh-CN" sz="2400" dirty="0">
                <a:solidFill>
                  <a:schemeClr val="bg2"/>
                </a:solidFill>
              </a:endParaRPr>
            </a:p>
          </p:txBody>
        </p:sp>
        <p:sp>
          <p:nvSpPr>
            <p:cNvPr id="27" name="Text Box 7">
              <a:extLst>
                <a:ext uri="{FF2B5EF4-FFF2-40B4-BE49-F238E27FC236}">
                  <a16:creationId xmlns:a16="http://schemas.microsoft.com/office/drawing/2014/main" id="{3A44DBD8-9BB7-4C84-80CE-086FF475AE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706"/>
              <a:ext cx="317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bg2"/>
                  </a:solidFill>
                </a:rPr>
                <a:t>P</a:t>
              </a:r>
              <a:r>
                <a:rPr lang="en-US" altLang="zh-CN" sz="2400" baseline="-25000" dirty="0">
                  <a:solidFill>
                    <a:schemeClr val="bg2"/>
                  </a:solidFill>
                </a:rPr>
                <a:t>3</a:t>
              </a:r>
              <a:endParaRPr lang="en-US" altLang="zh-CN" sz="2400" dirty="0">
                <a:solidFill>
                  <a:schemeClr val="bg2"/>
                </a:solidFill>
              </a:endParaRPr>
            </a:p>
          </p:txBody>
        </p:sp>
        <p:sp>
          <p:nvSpPr>
            <p:cNvPr id="28" name="Line 8">
              <a:extLst>
                <a:ext uri="{FF2B5EF4-FFF2-40B4-BE49-F238E27FC236}">
                  <a16:creationId xmlns:a16="http://schemas.microsoft.com/office/drawing/2014/main" id="{1B79B054-7E04-44E4-A7EA-6D1B1014B4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072"/>
              <a:ext cx="0" cy="14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schemeClr val="bg2"/>
                </a:solidFill>
              </a:endParaRPr>
            </a:p>
          </p:txBody>
        </p:sp>
        <p:sp>
          <p:nvSpPr>
            <p:cNvPr id="29" name="Line 9">
              <a:extLst>
                <a:ext uri="{FF2B5EF4-FFF2-40B4-BE49-F238E27FC236}">
                  <a16:creationId xmlns:a16="http://schemas.microsoft.com/office/drawing/2014/main" id="{11B9AD47-FC8A-439A-8617-BC2CE9C63C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3072"/>
              <a:ext cx="0" cy="14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schemeClr val="bg2"/>
                </a:solidFill>
              </a:endParaRPr>
            </a:p>
          </p:txBody>
        </p:sp>
        <p:sp>
          <p:nvSpPr>
            <p:cNvPr id="30" name="Line 10">
              <a:extLst>
                <a:ext uri="{FF2B5EF4-FFF2-40B4-BE49-F238E27FC236}">
                  <a16:creationId xmlns:a16="http://schemas.microsoft.com/office/drawing/2014/main" id="{8598AC67-C2FF-47A9-813C-4FF384826D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2688"/>
              <a:ext cx="0" cy="38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schemeClr val="bg2"/>
                </a:solidFill>
              </a:endParaRPr>
            </a:p>
          </p:txBody>
        </p:sp>
        <p:sp>
          <p:nvSpPr>
            <p:cNvPr id="31" name="Line 11">
              <a:extLst>
                <a:ext uri="{FF2B5EF4-FFF2-40B4-BE49-F238E27FC236}">
                  <a16:creationId xmlns:a16="http://schemas.microsoft.com/office/drawing/2014/main" id="{3195D976-3EEA-4E08-87FF-672FA4645E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688"/>
              <a:ext cx="0" cy="38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schemeClr val="bg2"/>
                </a:solidFill>
              </a:endParaRPr>
            </a:p>
          </p:txBody>
        </p:sp>
        <p:sp>
          <p:nvSpPr>
            <p:cNvPr id="32" name="Line 12">
              <a:extLst>
                <a:ext uri="{FF2B5EF4-FFF2-40B4-BE49-F238E27FC236}">
                  <a16:creationId xmlns:a16="http://schemas.microsoft.com/office/drawing/2014/main" id="{57121AC6-7AF4-4EEB-815C-C219CCA31E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3072"/>
              <a:ext cx="0" cy="14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schemeClr val="bg2"/>
                </a:solidFill>
              </a:endParaRPr>
            </a:p>
          </p:txBody>
        </p:sp>
        <p:sp>
          <p:nvSpPr>
            <p:cNvPr id="33" name="Line 13">
              <a:extLst>
                <a:ext uri="{FF2B5EF4-FFF2-40B4-BE49-F238E27FC236}">
                  <a16:creationId xmlns:a16="http://schemas.microsoft.com/office/drawing/2014/main" id="{F676AEA8-CAAE-480F-A981-452F3A405A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3072"/>
              <a:ext cx="0" cy="14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schemeClr val="bg2"/>
                </a:solidFill>
              </a:endParaRPr>
            </a:p>
          </p:txBody>
        </p:sp>
        <p:sp>
          <p:nvSpPr>
            <p:cNvPr id="34" name="Text Box 14">
              <a:extLst>
                <a:ext uri="{FF2B5EF4-FFF2-40B4-BE49-F238E27FC236}">
                  <a16:creationId xmlns:a16="http://schemas.microsoft.com/office/drawing/2014/main" id="{33946C62-5A53-47BB-959D-7B3BBAEA0B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3138"/>
              <a:ext cx="332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bg2"/>
                  </a:solidFill>
                </a:rPr>
                <a:t>24</a:t>
              </a:r>
            </a:p>
          </p:txBody>
        </p:sp>
        <p:sp>
          <p:nvSpPr>
            <p:cNvPr id="35" name="Text Box 15">
              <a:extLst>
                <a:ext uri="{FF2B5EF4-FFF2-40B4-BE49-F238E27FC236}">
                  <a16:creationId xmlns:a16="http://schemas.microsoft.com/office/drawing/2014/main" id="{527084B3-5C13-4458-BB36-5A057D97BE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3138"/>
              <a:ext cx="332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bg2"/>
                  </a:solidFill>
                </a:rPr>
                <a:t>27</a:t>
              </a:r>
            </a:p>
          </p:txBody>
        </p:sp>
        <p:sp>
          <p:nvSpPr>
            <p:cNvPr id="36" name="Text Box 16">
              <a:extLst>
                <a:ext uri="{FF2B5EF4-FFF2-40B4-BE49-F238E27FC236}">
                  <a16:creationId xmlns:a16="http://schemas.microsoft.com/office/drawing/2014/main" id="{61CEEFD7-842A-4BD8-81AC-EB11DC9908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3138"/>
              <a:ext cx="332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bg2"/>
                  </a:solidFill>
                </a:rPr>
                <a:t>30</a:t>
              </a:r>
            </a:p>
          </p:txBody>
        </p:sp>
        <p:sp>
          <p:nvSpPr>
            <p:cNvPr id="37" name="Text Box 17">
              <a:extLst>
                <a:ext uri="{FF2B5EF4-FFF2-40B4-BE49-F238E27FC236}">
                  <a16:creationId xmlns:a16="http://schemas.microsoft.com/office/drawing/2014/main" id="{5B1A704F-C002-4D32-A2B5-1C56A3DB3E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6" y="3138"/>
              <a:ext cx="224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bg2"/>
                  </a:solidFill>
                </a:rPr>
                <a:t>0</a:t>
              </a: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632DF7CA-3395-4D37-9F79-1F1039B8F2C7}"/>
              </a:ext>
            </a:extLst>
          </p:cNvPr>
          <p:cNvSpPr/>
          <p:nvPr/>
        </p:nvSpPr>
        <p:spPr>
          <a:xfrm>
            <a:off x="2525536" y="28821"/>
            <a:ext cx="409713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n-US" altLang="zh-CN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FCFS</a:t>
            </a:r>
            <a:r>
              <a:rPr lang="zh-CN" altLang="en-US" sz="4000" dirty="0" smtClean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pitchFamily="34" charset="-128"/>
                <a:sym typeface="Symbol" panose="05050102010706020507" pitchFamily="18" charset="2"/>
              </a:rPr>
              <a:t>实例</a:t>
            </a:r>
            <a:r>
              <a:rPr lang="en-US" altLang="zh-CN" sz="4000" dirty="0" smtClean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MS PGothic" pitchFamily="34" charset="-128"/>
                <a:sym typeface="Symbol" panose="05050102010706020507" pitchFamily="18" charset="2"/>
              </a:rPr>
              <a:t>(1)</a:t>
            </a:r>
            <a:endParaRPr lang="zh-CN" altLang="en-US" sz="4000" dirty="0">
              <a:solidFill>
                <a:srgbClr val="0066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MS PGothic" pitchFamily="34" charset="-128"/>
              <a:cs typeface="+mj-cs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828509" y="28821"/>
            <a:ext cx="13353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bg2"/>
                </a:solidFill>
                <a:latin typeface="+mn-lt"/>
              </a:rPr>
              <a:t>教材</a:t>
            </a:r>
            <a:r>
              <a:rPr lang="en-US" altLang="zh-CN" sz="2000" dirty="0" smtClean="0">
                <a:solidFill>
                  <a:schemeClr val="bg2"/>
                </a:solidFill>
                <a:latin typeface="+mn-lt"/>
              </a:rPr>
              <a:t>P183 </a:t>
            </a:r>
            <a:endParaRPr lang="zh-CN" altLang="en-US" sz="20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40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41" name="Rectangle 3">
            <a:extLst>
              <a:ext uri="{FF2B5EF4-FFF2-40B4-BE49-F238E27FC236}">
                <a16:creationId xmlns:a16="http://schemas.microsoft.com/office/drawing/2014/main" id="{560E3245-E1D1-4CF3-9551-423379E2DA66}"/>
              </a:ext>
            </a:extLst>
          </p:cNvPr>
          <p:cNvSpPr txBox="1">
            <a:spLocks noChangeArrowheads="1"/>
          </p:cNvSpPr>
          <p:nvPr/>
        </p:nvSpPr>
        <p:spPr>
          <a:xfrm>
            <a:off x="1015314" y="4792029"/>
            <a:ext cx="7566910" cy="1764912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0" lvl="3" indent="457200" defTabSz="355600">
              <a:lnSpc>
                <a:spcPct val="150000"/>
              </a:lnSpc>
              <a:spcBef>
                <a:spcPct val="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tabLst>
                <a:tab pos="3032125" algn="ctr"/>
                <a:tab pos="4635500" algn="ctr"/>
              </a:tabLst>
              <a:defRPr/>
            </a:pPr>
            <a:r>
              <a:rPr lang="zh-CN" altLang="en-US" sz="3200" dirty="0">
                <a:solidFill>
                  <a:schemeClr val="bg2"/>
                </a:solidFill>
                <a:effectLst/>
              </a:rPr>
              <a:t>等待时间</a:t>
            </a:r>
            <a:r>
              <a:rPr lang="zh-CN" altLang="en-US" sz="3200" kern="0" dirty="0">
                <a:solidFill>
                  <a:schemeClr val="bg2"/>
                </a:solidFill>
                <a:effectLst/>
              </a:rPr>
              <a:t>：</a:t>
            </a:r>
            <a:r>
              <a:rPr lang="en-US" altLang="zh-CN" sz="2800" i="1" kern="0" dirty="0">
                <a:solidFill>
                  <a:schemeClr val="bg2"/>
                </a:solidFill>
                <a:effectLst/>
              </a:rPr>
              <a:t>P</a:t>
            </a:r>
            <a:r>
              <a:rPr lang="en-US" altLang="zh-CN" sz="2800" i="1" kern="0" baseline="-25000" dirty="0">
                <a:solidFill>
                  <a:schemeClr val="bg2"/>
                </a:solidFill>
                <a:effectLst/>
              </a:rPr>
              <a:t>1</a:t>
            </a:r>
            <a:r>
              <a:rPr lang="en-US" altLang="zh-CN" sz="2800" kern="0" dirty="0">
                <a:solidFill>
                  <a:schemeClr val="bg2"/>
                </a:solidFill>
                <a:effectLst/>
              </a:rPr>
              <a:t>  = </a:t>
            </a:r>
            <a:r>
              <a:rPr lang="en-US" altLang="zh-CN" sz="2800" kern="0" dirty="0" smtClean="0">
                <a:solidFill>
                  <a:schemeClr val="bg2"/>
                </a:solidFill>
                <a:effectLst/>
              </a:rPr>
              <a:t>      </a:t>
            </a:r>
            <a:r>
              <a:rPr lang="en-US" altLang="zh-CN" sz="2800" i="1" kern="0" dirty="0" smtClean="0">
                <a:solidFill>
                  <a:schemeClr val="bg2"/>
                </a:solidFill>
                <a:effectLst/>
              </a:rPr>
              <a:t>P</a:t>
            </a:r>
            <a:r>
              <a:rPr lang="en-US" altLang="zh-CN" sz="2800" i="1" kern="0" baseline="-25000" dirty="0" smtClean="0">
                <a:solidFill>
                  <a:schemeClr val="bg2"/>
                </a:solidFill>
                <a:effectLst/>
              </a:rPr>
              <a:t>2</a:t>
            </a:r>
            <a:r>
              <a:rPr lang="en-US" altLang="zh-CN" sz="2800" kern="0" dirty="0" smtClean="0">
                <a:solidFill>
                  <a:schemeClr val="bg2"/>
                </a:solidFill>
                <a:effectLst/>
              </a:rPr>
              <a:t>  </a:t>
            </a:r>
            <a:r>
              <a:rPr lang="en-US" altLang="zh-CN" sz="2800" kern="0" dirty="0">
                <a:solidFill>
                  <a:schemeClr val="bg2"/>
                </a:solidFill>
                <a:effectLst/>
              </a:rPr>
              <a:t>= </a:t>
            </a:r>
            <a:r>
              <a:rPr lang="en-US" altLang="zh-CN" sz="2800" kern="0" dirty="0" smtClean="0">
                <a:solidFill>
                  <a:schemeClr val="bg2"/>
                </a:solidFill>
                <a:effectLst/>
              </a:rPr>
              <a:t>         </a:t>
            </a:r>
            <a:r>
              <a:rPr lang="en-US" altLang="zh-CN" sz="2800" i="1" kern="0" dirty="0" smtClean="0">
                <a:solidFill>
                  <a:schemeClr val="bg2"/>
                </a:solidFill>
                <a:effectLst/>
              </a:rPr>
              <a:t>P</a:t>
            </a:r>
            <a:r>
              <a:rPr lang="en-US" altLang="zh-CN" sz="2800" i="1" kern="0" baseline="-25000" dirty="0" smtClean="0">
                <a:solidFill>
                  <a:schemeClr val="bg2"/>
                </a:solidFill>
                <a:effectLst/>
              </a:rPr>
              <a:t>3 </a:t>
            </a:r>
            <a:r>
              <a:rPr lang="en-US" altLang="zh-CN" sz="2800" kern="0" dirty="0">
                <a:solidFill>
                  <a:schemeClr val="bg2"/>
                </a:solidFill>
                <a:effectLst/>
              </a:rPr>
              <a:t>= </a:t>
            </a:r>
            <a:r>
              <a:rPr lang="en-US" altLang="zh-CN" sz="2800" kern="0" dirty="0" smtClean="0">
                <a:solidFill>
                  <a:schemeClr val="bg2"/>
                </a:solidFill>
                <a:effectLst/>
              </a:rPr>
              <a:t>  </a:t>
            </a:r>
          </a:p>
          <a:p>
            <a:pPr marL="0" lvl="3" indent="457200" defTabSz="355600">
              <a:lnSpc>
                <a:spcPct val="150000"/>
              </a:lnSpc>
              <a:spcBef>
                <a:spcPct val="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tabLst>
                <a:tab pos="3032125" algn="ctr"/>
                <a:tab pos="4635500" algn="ctr"/>
              </a:tabLst>
              <a:defRPr/>
            </a:pPr>
            <a:r>
              <a:rPr lang="zh-CN" altLang="en-US" sz="3200" dirty="0" smtClean="0">
                <a:solidFill>
                  <a:schemeClr val="bg2"/>
                </a:solidFill>
                <a:effectLst/>
              </a:rPr>
              <a:t>平均</a:t>
            </a:r>
            <a:r>
              <a:rPr lang="zh-CN" altLang="en-US" sz="3200" dirty="0">
                <a:solidFill>
                  <a:schemeClr val="bg2"/>
                </a:solidFill>
                <a:effectLst/>
              </a:rPr>
              <a:t>等待时间</a:t>
            </a:r>
            <a:r>
              <a:rPr lang="zh-CN" altLang="en-US" sz="2800" dirty="0" smtClean="0">
                <a:solidFill>
                  <a:schemeClr val="bg2"/>
                </a:solidFill>
                <a:effectLst/>
              </a:rPr>
              <a:t>：</a:t>
            </a:r>
            <a:endParaRPr lang="zh-CN" altLang="zh-CN" sz="3200" dirty="0">
              <a:solidFill>
                <a:schemeClr val="bg2"/>
              </a:solidFill>
              <a:latin typeface="+mj-lt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332604" y="5001988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kern="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800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702190" y="5020629"/>
            <a:ext cx="5437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kern="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endParaRPr lang="zh-CN" altLang="en-US" sz="2800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317482" y="4855626"/>
            <a:ext cx="543739" cy="6612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3" defTabSz="355600">
              <a:lnSpc>
                <a:spcPct val="150000"/>
              </a:lnSpc>
              <a:buClr>
                <a:schemeClr val="bg2"/>
              </a:buClr>
              <a:buSzPct val="70000"/>
              <a:tabLst>
                <a:tab pos="3032125" algn="ctr"/>
                <a:tab pos="4635500" algn="ctr"/>
              </a:tabLst>
              <a:defRPr/>
            </a:pPr>
            <a:r>
              <a:rPr lang="en-US" altLang="zh-CN" sz="2800" kern="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</a:p>
        </p:txBody>
      </p:sp>
      <p:sp>
        <p:nvSpPr>
          <p:cNvPr id="10" name="矩形 9"/>
          <p:cNvSpPr/>
          <p:nvPr/>
        </p:nvSpPr>
        <p:spPr>
          <a:xfrm>
            <a:off x="3960284" y="5573530"/>
            <a:ext cx="391701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3" defTabSz="355600">
              <a:lnSpc>
                <a:spcPct val="150000"/>
              </a:lnSpc>
              <a:buClr>
                <a:schemeClr val="bg2"/>
              </a:buClr>
              <a:buSzPct val="70000"/>
              <a:tabLst>
                <a:tab pos="3032125" algn="ctr"/>
                <a:tab pos="4635500" algn="ctr"/>
              </a:tabLst>
              <a:defRPr/>
            </a:pPr>
            <a:r>
              <a:rPr lang="zh-CN" altLang="zh-CN" sz="2800" dirty="0" smtClean="0">
                <a:solidFill>
                  <a:schemeClr val="bg2"/>
                </a:solidFill>
              </a:rPr>
              <a:t>  </a:t>
            </a:r>
            <a:r>
              <a:rPr lang="zh-CN" altLang="zh-CN" sz="2800" dirty="0">
                <a:solidFill>
                  <a:srgbClr val="FF00FF"/>
                </a:solidFill>
                <a:latin typeface="+mn-lt"/>
                <a:ea typeface="+mn-ea"/>
              </a:rPr>
              <a:t>(0 + 24 + 27)/3 = 17</a:t>
            </a:r>
            <a:endParaRPr lang="zh-CN" altLang="zh-CN" dirty="0">
              <a:solidFill>
                <a:srgbClr val="FF00FF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13394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  <p:bldP spid="3" grpId="0"/>
      <p:bldP spid="8" grpId="0"/>
      <p:bldP spid="9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829B43-3844-43E5-8524-BEBB40DE00DD}"/>
              </a:ext>
            </a:extLst>
          </p:cNvPr>
          <p:cNvSpPr txBox="1">
            <a:spLocks noChangeArrowheads="1"/>
          </p:cNvSpPr>
          <p:nvPr/>
        </p:nvSpPr>
        <p:spPr>
          <a:xfrm>
            <a:off x="1037280" y="4962297"/>
            <a:ext cx="7045475" cy="1520451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452438" lvl="3" indent="-452438" defTabSz="355600">
              <a:lnSpc>
                <a:spcPct val="150000"/>
              </a:lnSpc>
              <a:spcBef>
                <a:spcPct val="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tabLst>
                <a:tab pos="3032125" algn="ctr"/>
                <a:tab pos="4635500" algn="ctr"/>
              </a:tabLst>
              <a:defRPr/>
            </a:pPr>
            <a:r>
              <a:rPr lang="zh-CN" altLang="en-US" sz="3200" dirty="0" smtClean="0">
                <a:solidFill>
                  <a:schemeClr val="bg2"/>
                </a:solidFill>
                <a:effectLst/>
              </a:rPr>
              <a:t>等待时间</a:t>
            </a:r>
            <a:r>
              <a:rPr lang="zh-CN" altLang="en-US" sz="3200" kern="0" dirty="0">
                <a:solidFill>
                  <a:schemeClr val="bg2"/>
                </a:solidFill>
                <a:effectLst/>
              </a:rPr>
              <a:t>：</a:t>
            </a:r>
            <a:r>
              <a:rPr lang="en-US" altLang="zh-CN" sz="2800" i="1" kern="0" dirty="0">
                <a:solidFill>
                  <a:schemeClr val="bg2"/>
                </a:solidFill>
                <a:effectLst/>
              </a:rPr>
              <a:t>P</a:t>
            </a:r>
            <a:r>
              <a:rPr lang="en-US" altLang="zh-CN" sz="2800" i="1" kern="0" baseline="-25000" dirty="0">
                <a:solidFill>
                  <a:schemeClr val="bg2"/>
                </a:solidFill>
                <a:effectLst/>
              </a:rPr>
              <a:t>1 </a:t>
            </a:r>
            <a:r>
              <a:rPr lang="en-US" altLang="zh-CN" sz="2800" i="1" kern="0" dirty="0">
                <a:solidFill>
                  <a:schemeClr val="bg2"/>
                </a:solidFill>
                <a:effectLst/>
              </a:rPr>
              <a:t>=</a:t>
            </a:r>
            <a:r>
              <a:rPr lang="en-US" altLang="zh-CN" sz="2800" kern="0" dirty="0">
                <a:solidFill>
                  <a:schemeClr val="bg2"/>
                </a:solidFill>
                <a:effectLst/>
              </a:rPr>
              <a:t> </a:t>
            </a:r>
            <a:r>
              <a:rPr lang="en-US" altLang="zh-CN" sz="2800" i="1" kern="0" baseline="-25000" dirty="0" smtClean="0">
                <a:solidFill>
                  <a:schemeClr val="bg2"/>
                </a:solidFill>
                <a:effectLst/>
              </a:rPr>
              <a:t>           </a:t>
            </a:r>
            <a:r>
              <a:rPr lang="en-US" altLang="zh-CN" sz="2800" i="1" kern="0" dirty="0" smtClean="0">
                <a:solidFill>
                  <a:schemeClr val="bg2"/>
                </a:solidFill>
                <a:effectLst/>
              </a:rPr>
              <a:t>P</a:t>
            </a:r>
            <a:r>
              <a:rPr lang="en-US" altLang="zh-CN" sz="2800" i="1" kern="0" baseline="-25000" dirty="0" smtClean="0">
                <a:solidFill>
                  <a:schemeClr val="bg2"/>
                </a:solidFill>
                <a:effectLst/>
              </a:rPr>
              <a:t>2</a:t>
            </a:r>
            <a:r>
              <a:rPr lang="en-US" altLang="zh-CN" sz="2800" kern="0" dirty="0" smtClean="0">
                <a:solidFill>
                  <a:schemeClr val="bg2"/>
                </a:solidFill>
                <a:effectLst/>
              </a:rPr>
              <a:t> </a:t>
            </a:r>
            <a:r>
              <a:rPr lang="en-US" altLang="zh-CN" sz="2800" kern="0" dirty="0">
                <a:solidFill>
                  <a:schemeClr val="bg2"/>
                </a:solidFill>
                <a:effectLst/>
              </a:rPr>
              <a:t>= </a:t>
            </a:r>
            <a:r>
              <a:rPr lang="en-US" altLang="zh-CN" sz="2800" i="1" kern="0" baseline="-25000" dirty="0" smtClean="0">
                <a:solidFill>
                  <a:schemeClr val="bg2"/>
                </a:solidFill>
                <a:effectLst/>
              </a:rPr>
              <a:t>          </a:t>
            </a:r>
            <a:r>
              <a:rPr lang="en-US" altLang="zh-CN" sz="2800" i="1" kern="0" dirty="0" smtClean="0">
                <a:solidFill>
                  <a:schemeClr val="bg2"/>
                </a:solidFill>
                <a:effectLst/>
              </a:rPr>
              <a:t>P</a:t>
            </a:r>
            <a:r>
              <a:rPr lang="en-US" altLang="zh-CN" sz="2800" i="1" kern="0" baseline="-25000" dirty="0" smtClean="0">
                <a:solidFill>
                  <a:schemeClr val="bg2"/>
                </a:solidFill>
                <a:effectLst/>
              </a:rPr>
              <a:t>3 </a:t>
            </a:r>
            <a:r>
              <a:rPr lang="en-US" altLang="zh-CN" sz="2800" i="1" kern="0" dirty="0">
                <a:solidFill>
                  <a:schemeClr val="bg2"/>
                </a:solidFill>
                <a:effectLst/>
              </a:rPr>
              <a:t>= </a:t>
            </a:r>
          </a:p>
          <a:p>
            <a:pPr marL="355600" lvl="2" indent="-355600" defTabSz="355600">
              <a:lnSpc>
                <a:spcPct val="150000"/>
              </a:lnSpc>
              <a:spcBef>
                <a:spcPct val="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tabLst>
                <a:tab pos="3032125" algn="ctr"/>
                <a:tab pos="4635500" algn="ctr"/>
              </a:tabLst>
              <a:defRPr/>
            </a:pPr>
            <a:r>
              <a:rPr lang="zh-CN" altLang="en-US" sz="3200" dirty="0">
                <a:solidFill>
                  <a:schemeClr val="bg2"/>
                </a:solidFill>
                <a:effectLst/>
              </a:rPr>
              <a:t>平均等待时间 </a:t>
            </a:r>
            <a:r>
              <a:rPr lang="zh-CN" altLang="en-US" sz="3200" dirty="0" smtClean="0">
                <a:solidFill>
                  <a:schemeClr val="bg2"/>
                </a:solidFill>
                <a:effectLst/>
              </a:rPr>
              <a:t>：</a:t>
            </a:r>
            <a:endParaRPr lang="zh-CN" altLang="en-US" sz="3200" dirty="0">
              <a:solidFill>
                <a:schemeClr val="bg2"/>
              </a:solidFill>
              <a:effectLst/>
              <a:ea typeface="楷体" panose="02010609060101010101" pitchFamily="49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8E40678-AB62-4C3B-A760-02947CF18EFF}"/>
              </a:ext>
            </a:extLst>
          </p:cNvPr>
          <p:cNvGrpSpPr/>
          <p:nvPr/>
        </p:nvGrpSpPr>
        <p:grpSpPr>
          <a:xfrm>
            <a:off x="2134506" y="3467745"/>
            <a:ext cx="5664859" cy="1176189"/>
            <a:chOff x="990600" y="3124200"/>
            <a:chExt cx="5664859" cy="1176189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22354C50-2A80-4E97-B18B-94D7CB421CE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143000" y="3124200"/>
              <a:ext cx="5257800" cy="6096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381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400">
                <a:solidFill>
                  <a:schemeClr val="bg2"/>
                </a:solidFill>
              </a:endParaRPr>
            </a:p>
          </p:txBody>
        </p:sp>
        <p:sp>
          <p:nvSpPr>
            <p:cNvPr id="7" name="Text Box 7">
              <a:extLst>
                <a:ext uri="{FF2B5EF4-FFF2-40B4-BE49-F238E27FC236}">
                  <a16:creationId xmlns:a16="http://schemas.microsoft.com/office/drawing/2014/main" id="{25E358B4-4CDB-44E0-9731-F4C10B23DB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684713" y="3152924"/>
              <a:ext cx="503664" cy="46166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bg2"/>
                  </a:solidFill>
                </a:rPr>
                <a:t>P</a:t>
              </a:r>
              <a:r>
                <a:rPr lang="en-US" altLang="zh-CN" sz="2400" baseline="-25000" dirty="0">
                  <a:solidFill>
                    <a:schemeClr val="bg2"/>
                  </a:solidFill>
                </a:rPr>
                <a:t>1</a:t>
              </a:r>
              <a:endParaRPr lang="en-US" altLang="zh-CN" sz="2400" dirty="0">
                <a:solidFill>
                  <a:schemeClr val="bg2"/>
                </a:solidFill>
              </a:endParaRPr>
            </a:p>
          </p:txBody>
        </p:sp>
        <p:sp>
          <p:nvSpPr>
            <p:cNvPr id="8" name="Text Box 8">
              <a:extLst>
                <a:ext uri="{FF2B5EF4-FFF2-40B4-BE49-F238E27FC236}">
                  <a16:creationId xmlns:a16="http://schemas.microsoft.com/office/drawing/2014/main" id="{43FB8D73-A4B3-4C30-940C-DC9270B776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2322513" y="3152924"/>
              <a:ext cx="503664" cy="46166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bg2"/>
                  </a:solidFill>
                </a:rPr>
                <a:t>P</a:t>
              </a:r>
              <a:r>
                <a:rPr lang="en-US" altLang="zh-CN" sz="2400" baseline="-25000">
                  <a:solidFill>
                    <a:schemeClr val="bg2"/>
                  </a:solidFill>
                </a:rPr>
                <a:t>3</a:t>
              </a:r>
              <a:endParaRPr lang="en-US" altLang="zh-CN" sz="2400">
                <a:solidFill>
                  <a:schemeClr val="bg2"/>
                </a:solidFill>
              </a:endParaRPr>
            </a:p>
          </p:txBody>
        </p:sp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1EA9BC39-DBAE-41AC-AA71-A7593F1DA7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408113" y="3152924"/>
              <a:ext cx="503664" cy="46166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bg2"/>
                  </a:solidFill>
                </a:rPr>
                <a:t>P</a:t>
              </a:r>
              <a:r>
                <a:rPr lang="en-US" altLang="zh-CN" sz="2400" baseline="-25000">
                  <a:solidFill>
                    <a:schemeClr val="bg2"/>
                  </a:solidFill>
                </a:rPr>
                <a:t>2</a:t>
              </a:r>
              <a:endParaRPr lang="en-US" altLang="zh-CN" sz="2400">
                <a:solidFill>
                  <a:schemeClr val="bg2"/>
                </a:solidFill>
              </a:endParaRPr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6FBCAB76-2883-469F-834A-BDAE40DF01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00800" y="3733800"/>
              <a:ext cx="0" cy="22860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schemeClr val="bg2"/>
                </a:solidFill>
              </a:endParaRPr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52E5454A-EB8E-4768-8DA3-D95D024889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43000" y="3733800"/>
              <a:ext cx="0" cy="22860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schemeClr val="bg2"/>
                </a:solidFill>
              </a:endParaRPr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BB1F082D-F14A-4AA0-A12D-A0B6B8C22D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48000" y="3124200"/>
              <a:ext cx="0" cy="60960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schemeClr val="bg2"/>
                </a:solidFill>
              </a:endParaRPr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AD85219A-FF27-42F9-8DB2-FE73731384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33600" y="3124200"/>
              <a:ext cx="0" cy="60960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schemeClr val="bg2"/>
                </a:solidFill>
              </a:endParaRPr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A0BA539E-2A6A-4DFC-8BE9-119F2AEF0D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48000" y="3733800"/>
              <a:ext cx="0" cy="22860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schemeClr val="bg2"/>
                </a:solidFill>
              </a:endParaRPr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B37749D2-49D3-4261-A1F6-E61A25DFAD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33600" y="3733800"/>
              <a:ext cx="0" cy="22860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schemeClr val="bg2"/>
                </a:solidFill>
              </a:endParaRPr>
            </a:p>
          </p:txBody>
        </p:sp>
        <p:sp>
          <p:nvSpPr>
            <p:cNvPr id="16" name="Text Box 16">
              <a:extLst>
                <a:ext uri="{FF2B5EF4-FFF2-40B4-BE49-F238E27FC236}">
                  <a16:creationId xmlns:a16="http://schemas.microsoft.com/office/drawing/2014/main" id="{8AB9D251-4891-4B46-AD07-B1930AC3E5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2901950" y="3838724"/>
              <a:ext cx="356188" cy="46166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bg2"/>
                  </a:solidFill>
                </a:rPr>
                <a:t>6</a:t>
              </a:r>
            </a:p>
          </p:txBody>
        </p:sp>
        <p:sp>
          <p:nvSpPr>
            <p:cNvPr id="17" name="Text Box 17">
              <a:extLst>
                <a:ext uri="{FF2B5EF4-FFF2-40B4-BE49-F238E27FC236}">
                  <a16:creationId xmlns:a16="http://schemas.microsoft.com/office/drawing/2014/main" id="{DE724FEA-6B87-4DFE-92A3-DACC4FF1EC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987550" y="3838724"/>
              <a:ext cx="356188" cy="46166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bg2"/>
                  </a:solidFill>
                </a:rPr>
                <a:t>3</a:t>
              </a:r>
            </a:p>
          </p:txBody>
        </p:sp>
        <p:sp>
          <p:nvSpPr>
            <p:cNvPr id="18" name="Text Box 18">
              <a:extLst>
                <a:ext uri="{FF2B5EF4-FFF2-40B4-BE49-F238E27FC236}">
                  <a16:creationId xmlns:a16="http://schemas.microsoft.com/office/drawing/2014/main" id="{C4F3CA73-07DB-4BBD-A17C-2D598112A7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6127750" y="3838724"/>
              <a:ext cx="527709" cy="46166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bg2"/>
                  </a:solidFill>
                </a:rPr>
                <a:t>30</a:t>
              </a:r>
            </a:p>
          </p:txBody>
        </p:sp>
        <p:sp>
          <p:nvSpPr>
            <p:cNvPr id="19" name="Text Box 19">
              <a:extLst>
                <a:ext uri="{FF2B5EF4-FFF2-40B4-BE49-F238E27FC236}">
                  <a16:creationId xmlns:a16="http://schemas.microsoft.com/office/drawing/2014/main" id="{44A7CC7C-22D4-4C7B-A4DA-799F72F7EB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990600" y="3838724"/>
              <a:ext cx="356188" cy="46166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bg2"/>
                  </a:solidFill>
                </a:rPr>
                <a:t>0</a:t>
              </a:r>
            </a:p>
          </p:txBody>
        </p:sp>
      </p:grpSp>
      <p:sp>
        <p:nvSpPr>
          <p:cNvPr id="20" name="Rectangle 3">
            <a:extLst>
              <a:ext uri="{FF2B5EF4-FFF2-40B4-BE49-F238E27FC236}">
                <a16:creationId xmlns:a16="http://schemas.microsoft.com/office/drawing/2014/main" id="{60748F3D-988A-4F73-93ED-EAC086CC2F6F}"/>
              </a:ext>
            </a:extLst>
          </p:cNvPr>
          <p:cNvSpPr txBox="1">
            <a:spLocks noChangeArrowheads="1"/>
          </p:cNvSpPr>
          <p:nvPr/>
        </p:nvSpPr>
        <p:spPr>
          <a:xfrm>
            <a:off x="1700064" y="593406"/>
            <a:ext cx="6382691" cy="461664"/>
          </a:xfrm>
          <a:prstGeom prst="rect">
            <a:avLst/>
          </a:prstGeom>
          <a:noFill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>
              <a:buFontTx/>
              <a:buNone/>
              <a:tabLst>
                <a:tab pos="3651250" algn="ctr"/>
              </a:tabLst>
            </a:pPr>
            <a:r>
              <a:rPr lang="zh-CN" altLang="en-US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假定进程到达顺序</a:t>
            </a:r>
            <a:r>
              <a:rPr lang="zh-CN" altLang="en-US" sz="2800" b="1" kern="0" dirty="0">
                <a:solidFill>
                  <a:schemeClr val="bg2"/>
                </a:solidFill>
                <a:effectLst/>
              </a:rPr>
              <a:t>：</a:t>
            </a:r>
            <a:r>
              <a:rPr lang="zh-CN" altLang="zh-CN" sz="2800" b="0" kern="0" dirty="0">
                <a:solidFill>
                  <a:schemeClr val="bg2"/>
                </a:solidFill>
                <a:effectLst/>
              </a:rPr>
              <a:t> </a:t>
            </a:r>
            <a:r>
              <a:rPr lang="en-US" altLang="zh-CN" sz="2800" i="1" kern="0" dirty="0">
                <a:solidFill>
                  <a:srgbClr val="FF0000"/>
                </a:solidFill>
                <a:effectLst/>
              </a:rPr>
              <a:t>P</a:t>
            </a:r>
            <a:r>
              <a:rPr lang="en-US" altLang="zh-CN" sz="2800" i="1" kern="0" baseline="-25000" dirty="0">
                <a:solidFill>
                  <a:srgbClr val="FF0000"/>
                </a:solidFill>
                <a:effectLst/>
              </a:rPr>
              <a:t>2</a:t>
            </a:r>
            <a:r>
              <a:rPr lang="en-US" altLang="zh-CN" sz="2800" kern="0" dirty="0">
                <a:solidFill>
                  <a:srgbClr val="FF0000"/>
                </a:solidFill>
                <a:effectLst/>
              </a:rPr>
              <a:t> </a:t>
            </a:r>
            <a:r>
              <a:rPr lang="zh-CN" altLang="en-US" sz="2800" kern="0" dirty="0" smtClean="0">
                <a:solidFill>
                  <a:srgbClr val="FF0000"/>
                </a:solidFill>
                <a:effectLst/>
              </a:rPr>
              <a:t>、</a:t>
            </a:r>
            <a:r>
              <a:rPr lang="en-US" altLang="zh-CN" sz="2800" kern="0" dirty="0" smtClean="0">
                <a:solidFill>
                  <a:srgbClr val="FF0000"/>
                </a:solidFill>
                <a:effectLst/>
              </a:rPr>
              <a:t> </a:t>
            </a:r>
            <a:r>
              <a:rPr lang="en-US" altLang="zh-CN" sz="2800" i="1" kern="0" dirty="0">
                <a:solidFill>
                  <a:srgbClr val="FF0000"/>
                </a:solidFill>
                <a:effectLst/>
              </a:rPr>
              <a:t>P</a:t>
            </a:r>
            <a:r>
              <a:rPr lang="en-US" altLang="zh-CN" sz="2800" i="1" kern="0" baseline="-25000" dirty="0">
                <a:solidFill>
                  <a:srgbClr val="FF0000"/>
                </a:solidFill>
                <a:effectLst/>
              </a:rPr>
              <a:t>3</a:t>
            </a:r>
            <a:r>
              <a:rPr lang="en-US" altLang="zh-CN" sz="2800" kern="0" dirty="0">
                <a:solidFill>
                  <a:srgbClr val="FF0000"/>
                </a:solidFill>
                <a:effectLst/>
              </a:rPr>
              <a:t> </a:t>
            </a:r>
            <a:r>
              <a:rPr lang="zh-CN" altLang="en-US" sz="2800" kern="0" dirty="0" smtClean="0">
                <a:solidFill>
                  <a:srgbClr val="FF0000"/>
                </a:solidFill>
                <a:effectLst/>
              </a:rPr>
              <a:t>、</a:t>
            </a:r>
            <a:r>
              <a:rPr lang="en-US" altLang="zh-CN" sz="2800" i="1" kern="0" dirty="0" smtClean="0">
                <a:solidFill>
                  <a:srgbClr val="FF0000"/>
                </a:solidFill>
                <a:effectLst/>
              </a:rPr>
              <a:t>P</a:t>
            </a:r>
            <a:r>
              <a:rPr lang="en-US" altLang="zh-CN" sz="2800" i="1" kern="0" baseline="-25000" dirty="0" smtClean="0">
                <a:solidFill>
                  <a:srgbClr val="FF0000"/>
                </a:solidFill>
                <a:effectLst/>
              </a:rPr>
              <a:t>1</a:t>
            </a:r>
            <a:endParaRPr lang="zh-CN" altLang="zh-CN" sz="2800" kern="0" dirty="0">
              <a:solidFill>
                <a:srgbClr val="FF0000"/>
              </a:solidFill>
              <a:effectLst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A250A0BA-9D63-482D-984C-DADC8C132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402" y="1134759"/>
            <a:ext cx="3949106" cy="1770829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1EB795AB-FB84-47B8-B26A-E4B345D29A99}"/>
              </a:ext>
            </a:extLst>
          </p:cNvPr>
          <p:cNvSpPr/>
          <p:nvPr/>
        </p:nvSpPr>
        <p:spPr>
          <a:xfrm>
            <a:off x="2347557" y="28821"/>
            <a:ext cx="444799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n-US" altLang="zh-CN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FCFS</a:t>
            </a:r>
            <a:r>
              <a:rPr lang="zh-CN" altLang="en-US" sz="4000" dirty="0" smtClean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pitchFamily="34" charset="-128"/>
                <a:sym typeface="Symbol" panose="05050102010706020507" pitchFamily="18" charset="2"/>
              </a:rPr>
              <a:t>实例</a:t>
            </a:r>
            <a:r>
              <a:rPr lang="en-US" altLang="zh-CN" sz="4000" dirty="0" smtClean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MS PGothic" pitchFamily="34" charset="-128"/>
                <a:sym typeface="Symbol" panose="05050102010706020507" pitchFamily="18" charset="2"/>
              </a:rPr>
              <a:t>(2)</a:t>
            </a:r>
            <a:endParaRPr lang="zh-CN" altLang="en-US" sz="4000" dirty="0">
              <a:solidFill>
                <a:srgbClr val="0066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MS PGothic" pitchFamily="34" charset="-128"/>
              <a:cs typeface="+mj-cs"/>
            </a:endParaRP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89A1A3CE-3ED1-4234-BD32-87B548613C4B}"/>
              </a:ext>
            </a:extLst>
          </p:cNvPr>
          <p:cNvSpPr txBox="1">
            <a:spLocks noChangeArrowheads="1"/>
          </p:cNvSpPr>
          <p:nvPr/>
        </p:nvSpPr>
        <p:spPr>
          <a:xfrm>
            <a:off x="1327886" y="2937094"/>
            <a:ext cx="3074158" cy="66283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0" indent="0">
              <a:buNone/>
              <a:tabLst>
                <a:tab pos="3651250" algn="ctr"/>
              </a:tabLst>
            </a:pPr>
            <a:r>
              <a:rPr lang="zh-CN" altLang="en-US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调度的</a:t>
            </a:r>
            <a:r>
              <a:rPr lang="en-US" altLang="zh-CN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Gantt</a:t>
            </a:r>
            <a:r>
              <a:rPr lang="zh-CN" altLang="en-US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图</a:t>
            </a:r>
            <a:r>
              <a:rPr lang="zh-CN" altLang="zh-CN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7828509" y="28821"/>
            <a:ext cx="13353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bg2"/>
                </a:solidFill>
                <a:latin typeface="+mn-lt"/>
              </a:rPr>
              <a:t>教材</a:t>
            </a:r>
            <a:r>
              <a:rPr lang="en-US" altLang="zh-CN" sz="2000" dirty="0" smtClean="0">
                <a:solidFill>
                  <a:schemeClr val="bg2"/>
                </a:solidFill>
                <a:latin typeface="+mn-lt"/>
              </a:rPr>
              <a:t>P184 </a:t>
            </a:r>
            <a:endParaRPr lang="zh-CN" altLang="en-US" sz="20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25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2" name="矩形 1"/>
          <p:cNvSpPr/>
          <p:nvPr/>
        </p:nvSpPr>
        <p:spPr>
          <a:xfrm>
            <a:off x="4284772" y="5178105"/>
            <a:ext cx="3658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kern="0" dirty="0">
                <a:solidFill>
                  <a:srgbClr val="FF00FF"/>
                </a:solidFill>
                <a:latin typeface="+mn-lt"/>
              </a:rPr>
              <a:t>6</a:t>
            </a:r>
            <a:endParaRPr lang="zh-CN" altLang="en-US" sz="2800" dirty="0">
              <a:solidFill>
                <a:srgbClr val="FF00FF"/>
              </a:solidFill>
              <a:latin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562538" y="5210421"/>
            <a:ext cx="3658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kern="0" dirty="0">
                <a:solidFill>
                  <a:srgbClr val="FF00FF"/>
                </a:solidFill>
                <a:latin typeface="+mn-lt"/>
              </a:rPr>
              <a:t>0</a:t>
            </a:r>
            <a:endParaRPr lang="zh-CN" altLang="en-US" sz="2800" dirty="0">
              <a:solidFill>
                <a:srgbClr val="FF00FF"/>
              </a:solidFill>
              <a:latin typeface="+mn-lt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846717" y="5178105"/>
            <a:ext cx="3658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kern="0" dirty="0">
                <a:solidFill>
                  <a:srgbClr val="FF00FF"/>
                </a:solidFill>
                <a:latin typeface="+mn-lt"/>
              </a:rPr>
              <a:t>3</a:t>
            </a:r>
            <a:endParaRPr lang="zh-CN" altLang="en-US" sz="2800" dirty="0">
              <a:solidFill>
                <a:srgbClr val="FF00FF"/>
              </a:solidFill>
              <a:latin typeface="+mn-lt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401068" y="5721025"/>
            <a:ext cx="2576346" cy="6612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2" defTabSz="355600">
              <a:lnSpc>
                <a:spcPct val="150000"/>
              </a:lnSpc>
              <a:buClr>
                <a:schemeClr val="bg2"/>
              </a:buClr>
              <a:buSzPct val="70000"/>
              <a:tabLst>
                <a:tab pos="3032125" algn="ctr"/>
                <a:tab pos="4635500" algn="ctr"/>
              </a:tabLst>
              <a:defRPr/>
            </a:pPr>
            <a:r>
              <a:rPr lang="zh-CN" altLang="zh-CN" sz="2800" dirty="0">
                <a:solidFill>
                  <a:srgbClr val="FF00FF"/>
                </a:solidFill>
                <a:latin typeface="+mn-lt"/>
              </a:rPr>
              <a:t>(6 + 0 + 3)/3 = 3</a:t>
            </a:r>
            <a:endParaRPr lang="zh-CN" altLang="en-US" dirty="0">
              <a:solidFill>
                <a:srgbClr val="FF00FF"/>
              </a:solidFill>
              <a:latin typeface="+mn-lt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5873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5" grpId="0" animBg="1"/>
      <p:bldP spid="2" grpId="0"/>
      <p:bldP spid="3" grpId="0"/>
      <p:bldP spid="26" grpId="0"/>
      <p:bldP spid="2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A458915-6A31-407E-A74F-EC5060CD9799}"/>
              </a:ext>
            </a:extLst>
          </p:cNvPr>
          <p:cNvSpPr txBox="1"/>
          <p:nvPr/>
        </p:nvSpPr>
        <p:spPr>
          <a:xfrm>
            <a:off x="755576" y="64337"/>
            <a:ext cx="76355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-274638" algn="ctr" eaLnBrk="1" hangingPunct="1">
              <a:defRPr/>
            </a:pP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短作业</a:t>
            </a:r>
            <a:r>
              <a:rPr lang="zh-CN" altLang="en-US" sz="4000" dirty="0" smtClean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优先</a:t>
            </a:r>
            <a:endParaRPr lang="en-US" altLang="zh-CN" sz="4000" dirty="0" smtClean="0">
              <a:solidFill>
                <a:srgbClr val="B2622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  <a:cs typeface="+mj-cs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B55743E-55E4-42DD-BB50-48B4B85C700C}"/>
              </a:ext>
            </a:extLst>
          </p:cNvPr>
          <p:cNvSpPr txBox="1">
            <a:spLocks noChangeArrowheads="1"/>
          </p:cNvSpPr>
          <p:nvPr/>
        </p:nvSpPr>
        <p:spPr>
          <a:xfrm>
            <a:off x="104514" y="980728"/>
            <a:ext cx="8856984" cy="513882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55600" lvl="2" indent="-355600" defTabSz="355600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en-US" altLang="zh-CN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SJF</a:t>
            </a:r>
            <a:r>
              <a:rPr lang="zh-CN" altLang="en-US" sz="3200" dirty="0" smtClean="0">
                <a:solidFill>
                  <a:schemeClr val="bg2"/>
                </a:solidFill>
                <a:latin typeface="Times New Roman" pitchFamily="18" charset="0"/>
                <a:ea typeface="楷体_GB2312" pitchFamily="49" charset="-122"/>
                <a:cs typeface="+mj-cs"/>
              </a:rPr>
              <a:t>（</a:t>
            </a:r>
            <a:r>
              <a:rPr lang="en-US" altLang="zh-CN" sz="3200" dirty="0">
                <a:solidFill>
                  <a:schemeClr val="bg1">
                    <a:lumMod val="75000"/>
                  </a:schemeClr>
                </a:solidFill>
                <a:latin typeface="Times New Roman" pitchFamily="18" charset="0"/>
                <a:ea typeface="楷体_GB2312" pitchFamily="49" charset="-122"/>
                <a:cs typeface="+mj-cs"/>
              </a:rPr>
              <a:t>S</a:t>
            </a:r>
            <a:r>
              <a:rPr lang="en-US" altLang="zh-CN" sz="3200" dirty="0">
                <a:solidFill>
                  <a:schemeClr val="bg2"/>
                </a:solidFill>
                <a:latin typeface="Times New Roman" pitchFamily="18" charset="0"/>
                <a:ea typeface="楷体_GB2312" pitchFamily="49" charset="-122"/>
                <a:cs typeface="+mj-cs"/>
              </a:rPr>
              <a:t>hortest </a:t>
            </a:r>
            <a:r>
              <a:rPr lang="en-US" altLang="zh-CN" sz="3200" dirty="0">
                <a:solidFill>
                  <a:schemeClr val="bg1">
                    <a:lumMod val="75000"/>
                  </a:schemeClr>
                </a:solidFill>
                <a:latin typeface="Times New Roman" pitchFamily="18" charset="0"/>
                <a:ea typeface="楷体_GB2312" pitchFamily="49" charset="-122"/>
                <a:cs typeface="+mj-cs"/>
              </a:rPr>
              <a:t>J</a:t>
            </a:r>
            <a:r>
              <a:rPr lang="en-US" altLang="zh-CN" sz="3200" dirty="0">
                <a:solidFill>
                  <a:schemeClr val="bg2"/>
                </a:solidFill>
                <a:latin typeface="Times New Roman" pitchFamily="18" charset="0"/>
                <a:ea typeface="楷体_GB2312" pitchFamily="49" charset="-122"/>
                <a:cs typeface="+mj-cs"/>
              </a:rPr>
              <a:t>ob </a:t>
            </a:r>
            <a:r>
              <a:rPr lang="en-US" altLang="zh-CN" sz="3200" dirty="0" smtClean="0">
                <a:solidFill>
                  <a:schemeClr val="bg1">
                    <a:lumMod val="75000"/>
                  </a:schemeClr>
                </a:solidFill>
                <a:latin typeface="Times New Roman" pitchFamily="18" charset="0"/>
                <a:ea typeface="楷体_GB2312" pitchFamily="49" charset="-122"/>
                <a:cs typeface="+mj-cs"/>
              </a:rPr>
              <a:t>F</a:t>
            </a:r>
            <a:r>
              <a:rPr lang="en-US" altLang="zh-CN" sz="3200" dirty="0" smtClean="0">
                <a:solidFill>
                  <a:schemeClr val="bg2"/>
                </a:solidFill>
                <a:latin typeface="Times New Roman" pitchFamily="18" charset="0"/>
                <a:ea typeface="楷体_GB2312" pitchFamily="49" charset="-122"/>
                <a:cs typeface="+mj-cs"/>
              </a:rPr>
              <a:t>irst</a:t>
            </a:r>
            <a:r>
              <a:rPr lang="zh-CN" altLang="en-US" sz="3200" dirty="0" smtClean="0">
                <a:solidFill>
                  <a:schemeClr val="bg2"/>
                </a:solidFill>
                <a:latin typeface="Times New Roman" pitchFamily="18" charset="0"/>
                <a:ea typeface="楷体_GB2312" pitchFamily="49" charset="-122"/>
                <a:cs typeface="+mj-cs"/>
              </a:rPr>
              <a:t>）</a:t>
            </a:r>
            <a:endParaRPr lang="en-US" altLang="zh-CN" sz="3200" dirty="0" smtClean="0">
              <a:solidFill>
                <a:schemeClr val="bg2"/>
              </a:solidFill>
              <a:latin typeface="Times New Roman" pitchFamily="18" charset="0"/>
              <a:ea typeface="楷体_GB2312" pitchFamily="49" charset="-122"/>
              <a:cs typeface="+mj-cs"/>
            </a:endParaRPr>
          </a:p>
          <a:p>
            <a:pPr marL="812800" lvl="3" indent="-355600" defTabSz="355600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非</a:t>
            </a:r>
            <a:r>
              <a:rPr lang="zh-CN" altLang="en-US" sz="32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抢占式</a:t>
            </a:r>
            <a:endParaRPr lang="en-US" altLang="zh-CN" sz="3200" dirty="0" smtClean="0">
              <a:solidFill>
                <a:schemeClr val="bg1">
                  <a:lumMod val="75000"/>
                </a:schemeClr>
              </a:solidFill>
              <a:latin typeface="Times New Roman" pitchFamily="18" charset="0"/>
              <a:ea typeface="楷体_GB2312" pitchFamily="49" charset="-122"/>
              <a:cs typeface="+mj-cs"/>
            </a:endParaRPr>
          </a:p>
          <a:p>
            <a:pPr marL="355600" lvl="2" indent="-355600" defTabSz="355600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en-US" altLang="zh-CN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SRTF</a:t>
            </a: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 </a:t>
            </a:r>
            <a:r>
              <a:rPr lang="zh-CN" alt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 </a:t>
            </a:r>
            <a:r>
              <a:rPr lang="en-US" altLang="zh-CN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(the </a:t>
            </a:r>
            <a:r>
              <a:rPr lang="en-US" altLang="zh-CN" sz="3200" dirty="0" smtClean="0">
                <a:solidFill>
                  <a:schemeClr val="bg1">
                    <a:lumMod val="75000"/>
                  </a:schemeClr>
                </a:solidFill>
                <a:effectLst/>
                <a:latin typeface="+mj-lt"/>
                <a:ea typeface="楷体" panose="02010609060101010101" pitchFamily="49" charset="-122"/>
              </a:rPr>
              <a:t>S</a:t>
            </a:r>
            <a:r>
              <a:rPr lang="en-US" altLang="zh-CN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hortest-</a:t>
            </a:r>
            <a:r>
              <a:rPr lang="en-US" altLang="zh-CN" sz="3200" dirty="0" smtClean="0">
                <a:solidFill>
                  <a:schemeClr val="bg1">
                    <a:lumMod val="75000"/>
                  </a:schemeClr>
                </a:solidFill>
                <a:effectLst/>
                <a:latin typeface="+mj-lt"/>
                <a:ea typeface="楷体" panose="02010609060101010101" pitchFamily="49" charset="-122"/>
              </a:rPr>
              <a:t>R</a:t>
            </a:r>
            <a:r>
              <a:rPr lang="en-US" altLang="zh-CN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emaining-</a:t>
            </a:r>
            <a:r>
              <a:rPr lang="en-US" altLang="zh-CN" sz="3200" dirty="0" smtClean="0">
                <a:solidFill>
                  <a:schemeClr val="bg1">
                    <a:lumMod val="75000"/>
                  </a:schemeClr>
                </a:solidFill>
                <a:effectLst/>
                <a:latin typeface="+mj-lt"/>
                <a:ea typeface="楷体" panose="02010609060101010101" pitchFamily="49" charset="-122"/>
              </a:rPr>
              <a:t>T</a:t>
            </a:r>
            <a:r>
              <a:rPr lang="en-US" altLang="zh-CN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ime-</a:t>
            </a:r>
            <a:r>
              <a:rPr lang="en-US" altLang="zh-CN" sz="3200" dirty="0">
                <a:solidFill>
                  <a:schemeClr val="bg1">
                    <a:lumMod val="75000"/>
                  </a:schemeClr>
                </a:solidFill>
                <a:effectLst/>
                <a:latin typeface="+mj-lt"/>
                <a:ea typeface="楷体" panose="02010609060101010101" pitchFamily="49" charset="-122"/>
              </a:rPr>
              <a:t>F</a:t>
            </a:r>
            <a:r>
              <a:rPr lang="en-US" altLang="zh-CN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irst)</a:t>
            </a:r>
          </a:p>
          <a:p>
            <a:pPr marL="812800" lvl="3" indent="-355600" defTabSz="355600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抢占式</a:t>
            </a:r>
            <a:endParaRPr lang="en-US" altLang="zh-CN" sz="32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优先</a:t>
            </a:r>
            <a:r>
              <a:rPr lang="zh-CN" altLang="en-US" sz="32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调度剩余时间</a:t>
            </a:r>
            <a:r>
              <a:rPr lang="zh-CN" altLang="en-US" sz="3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最</a:t>
            </a:r>
            <a:r>
              <a:rPr lang="zh-CN" altLang="en-US" sz="32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短的</a:t>
            </a:r>
            <a:endParaRPr lang="en-US" altLang="zh-CN" sz="3200" dirty="0" smtClean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比</a:t>
            </a:r>
            <a:r>
              <a:rPr lang="zh-CN" altLang="en-US" sz="3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当前任务剩余</a:t>
            </a:r>
            <a:r>
              <a:rPr lang="zh-CN" altLang="en-US" sz="32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时间更</a:t>
            </a:r>
            <a:r>
              <a:rPr lang="zh-CN" altLang="en-US" sz="3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短的任务到达时</a:t>
            </a:r>
            <a:endParaRPr lang="en-US" altLang="zh-CN" sz="3200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" panose="02010609060101010101" pitchFamily="49" charset="-122"/>
            </a:endParaRPr>
          </a:p>
          <a:p>
            <a:pPr marL="355600" lvl="2" indent="-355600" defTabSz="355600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保证最小的平均等待时间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355600" lvl="2" indent="-355600" defTabSz="355600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  <a:sym typeface="Symbol" panose="05050102010706020507" pitchFamily="18" charset="2"/>
              </a:rPr>
              <a:t>困难</a:t>
            </a:r>
            <a:r>
              <a:rPr lang="zh-CN" altLang="en-US" sz="3600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  <a:sym typeface="Symbol" panose="05050102010706020507" pitchFamily="18" charset="2"/>
              </a:rPr>
              <a:t>：</a:t>
            </a:r>
            <a:r>
              <a:rPr lang="zh-CN" altLang="en-US" sz="3600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  <a:sym typeface="Symbol" panose="05050102010706020507" pitchFamily="18" charset="2"/>
              </a:rPr>
              <a:t>下</a:t>
            </a: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  <a:sym typeface="Symbol" panose="05050102010706020507" pitchFamily="18" charset="2"/>
              </a:rPr>
              <a:t>一</a:t>
            </a:r>
            <a:r>
              <a:rPr lang="en-US" altLang="zh-CN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  <a:sym typeface="Symbol" panose="05050102010706020507" pitchFamily="18" charset="2"/>
              </a:rPr>
              <a:t>CPU</a:t>
            </a:r>
            <a:r>
              <a:rPr lang="zh-CN" altLang="en-US" sz="360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  <a:sym typeface="Symbol" panose="05050102010706020507" pitchFamily="18" charset="2"/>
              </a:rPr>
              <a:t>执行时间的</a:t>
            </a: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  <a:sym typeface="Symbol" panose="05050102010706020507" pitchFamily="18" charset="2"/>
              </a:rPr>
              <a:t>预测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" panose="02010609060101010101" pitchFamily="49" charset="-122"/>
              <a:sym typeface="Symbol" panose="05050102010706020507" pitchFamily="18" charset="2"/>
            </a:endParaRPr>
          </a:p>
          <a:p>
            <a:pPr marL="812800" lvl="3" indent="-355600" defTabSz="355600"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  <a:sym typeface="Symbol" panose="05050102010706020507" pitchFamily="18" charset="2"/>
              </a:rPr>
              <a:t>指数平均法：以前</a:t>
            </a:r>
            <a:r>
              <a:rPr lang="en-US" altLang="zh-CN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  <a:sym typeface="Symbol" panose="05050102010706020507" pitchFamily="18" charset="2"/>
              </a:rPr>
              <a:t>CPU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  <a:sym typeface="Symbol" panose="05050102010706020507" pitchFamily="18" charset="2"/>
              </a:rPr>
              <a:t>运行的测量长度的指数平均</a:t>
            </a:r>
            <a:endParaRPr lang="en-US" altLang="zh-CN" sz="3600" dirty="0">
              <a:solidFill>
                <a:schemeClr val="bg1"/>
              </a:solidFill>
              <a:effectLst/>
              <a:latin typeface="+mj-lt"/>
              <a:ea typeface="楷体" panose="02010609060101010101" pitchFamily="49" charset="-122"/>
            </a:endParaRPr>
          </a:p>
        </p:txBody>
      </p:sp>
      <p:sp>
        <p:nvSpPr>
          <p:cNvPr id="7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951131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4A8E870-18B5-4B3E-8655-EDD6C0D22075}"/>
              </a:ext>
            </a:extLst>
          </p:cNvPr>
          <p:cNvSpPr txBox="1">
            <a:spLocks noChangeArrowheads="1"/>
          </p:cNvSpPr>
          <p:nvPr/>
        </p:nvSpPr>
        <p:spPr>
          <a:xfrm>
            <a:off x="1025166" y="5636455"/>
            <a:ext cx="7474633" cy="696919"/>
          </a:xfrm>
          <a:prstGeom prst="rect">
            <a:avLst/>
          </a:prstGeom>
          <a:solidFill>
            <a:srgbClr val="DDDDDD"/>
          </a:solidFill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0" indent="0">
              <a:buFontTx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zh-CN" altLang="en-US" dirty="0" smtClean="0">
                <a:solidFill>
                  <a:schemeClr val="bg2"/>
                </a:solidFill>
                <a:effectLst/>
              </a:rPr>
              <a:t>平均</a:t>
            </a:r>
            <a:r>
              <a:rPr lang="zh-CN" altLang="en-US" dirty="0">
                <a:solidFill>
                  <a:schemeClr val="bg2"/>
                </a:solidFill>
                <a:effectLst/>
              </a:rPr>
              <a:t>等待时间 </a:t>
            </a:r>
            <a:r>
              <a:rPr lang="en-US" altLang="zh-CN" dirty="0">
                <a:solidFill>
                  <a:schemeClr val="bg2"/>
                </a:solidFill>
                <a:effectLst/>
              </a:rPr>
              <a:t>= 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0C1710A-37C1-46DF-8F19-A1E5B6F60F31}"/>
              </a:ext>
            </a:extLst>
          </p:cNvPr>
          <p:cNvSpPr txBox="1">
            <a:spLocks noChangeArrowheads="1"/>
          </p:cNvSpPr>
          <p:nvPr/>
        </p:nvSpPr>
        <p:spPr>
          <a:xfrm>
            <a:off x="2275778" y="947768"/>
            <a:ext cx="4824536" cy="2941239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0" indent="0">
              <a:buFontTx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400" u="sng" kern="0" dirty="0">
                <a:solidFill>
                  <a:schemeClr val="bg2"/>
                </a:solidFill>
                <a:effectLst/>
              </a:rPr>
              <a:t>Process	  </a:t>
            </a:r>
            <a:r>
              <a:rPr lang="en-US" altLang="zh-CN" sz="2400" kern="0" dirty="0">
                <a:solidFill>
                  <a:schemeClr val="bg2"/>
                </a:solidFill>
                <a:effectLst/>
              </a:rPr>
              <a:t> </a:t>
            </a:r>
            <a:r>
              <a:rPr lang="en-US" altLang="zh-CN" sz="2400" u="sng" kern="0" dirty="0">
                <a:solidFill>
                  <a:schemeClr val="bg2"/>
                </a:solidFill>
                <a:effectLst/>
              </a:rPr>
              <a:t>Arrival Time</a:t>
            </a:r>
            <a:r>
              <a:rPr lang="en-US" altLang="zh-CN" sz="2400" kern="0" dirty="0">
                <a:solidFill>
                  <a:schemeClr val="bg2"/>
                </a:solidFill>
                <a:effectLst/>
              </a:rPr>
              <a:t>	  </a:t>
            </a:r>
            <a:r>
              <a:rPr lang="en-US" altLang="zh-CN" sz="2400" u="sng" kern="0" dirty="0">
                <a:solidFill>
                  <a:schemeClr val="bg2"/>
                </a:solidFill>
                <a:effectLst/>
              </a:rPr>
              <a:t>Burst Time</a:t>
            </a:r>
            <a:endParaRPr lang="en-US" altLang="zh-CN" sz="2400" kern="0" dirty="0">
              <a:solidFill>
                <a:schemeClr val="bg2"/>
              </a:solidFill>
              <a:effectLst/>
            </a:endParaRPr>
          </a:p>
          <a:p>
            <a:pPr>
              <a:buFontTx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kern="0" dirty="0">
                <a:solidFill>
                  <a:schemeClr val="bg2"/>
                </a:solidFill>
                <a:effectLst/>
              </a:rPr>
              <a:t>	</a:t>
            </a:r>
            <a:r>
              <a:rPr lang="en-US" altLang="zh-CN" i="1" kern="0" dirty="0">
                <a:solidFill>
                  <a:schemeClr val="bg2"/>
                </a:solidFill>
                <a:effectLst/>
              </a:rPr>
              <a:t>P</a:t>
            </a:r>
            <a:r>
              <a:rPr lang="en-US" altLang="zh-CN" i="1" kern="0" baseline="-25000" dirty="0">
                <a:solidFill>
                  <a:schemeClr val="bg2"/>
                </a:solidFill>
                <a:effectLst/>
              </a:rPr>
              <a:t>1</a:t>
            </a:r>
            <a:r>
              <a:rPr lang="en-US" altLang="zh-CN" kern="0" dirty="0">
                <a:solidFill>
                  <a:schemeClr val="bg2"/>
                </a:solidFill>
                <a:effectLst/>
              </a:rPr>
              <a:t>	      0.0	    7</a:t>
            </a:r>
          </a:p>
          <a:p>
            <a:pPr>
              <a:buFontTx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kern="0" dirty="0">
                <a:solidFill>
                  <a:schemeClr val="bg2"/>
                </a:solidFill>
                <a:effectLst/>
              </a:rPr>
              <a:t>	</a:t>
            </a:r>
            <a:r>
              <a:rPr lang="en-US" altLang="zh-CN" i="1" kern="0" dirty="0">
                <a:solidFill>
                  <a:schemeClr val="bg2"/>
                </a:solidFill>
                <a:effectLst/>
              </a:rPr>
              <a:t>P</a:t>
            </a:r>
            <a:r>
              <a:rPr lang="en-US" altLang="zh-CN" i="1" kern="0" baseline="-25000" dirty="0">
                <a:solidFill>
                  <a:schemeClr val="bg2"/>
                </a:solidFill>
                <a:effectLst/>
              </a:rPr>
              <a:t>2	        </a:t>
            </a:r>
            <a:r>
              <a:rPr lang="en-US" altLang="zh-CN" kern="0" dirty="0">
                <a:solidFill>
                  <a:schemeClr val="bg2"/>
                </a:solidFill>
                <a:effectLst/>
              </a:rPr>
              <a:t>2.0	    4</a:t>
            </a:r>
          </a:p>
          <a:p>
            <a:pPr>
              <a:buFontTx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kern="0" dirty="0">
                <a:solidFill>
                  <a:schemeClr val="bg2"/>
                </a:solidFill>
                <a:effectLst/>
              </a:rPr>
              <a:t>   </a:t>
            </a:r>
            <a:r>
              <a:rPr lang="en-US" altLang="zh-CN" i="1" kern="0" dirty="0">
                <a:solidFill>
                  <a:schemeClr val="bg2"/>
                </a:solidFill>
                <a:effectLst/>
              </a:rPr>
              <a:t>P</a:t>
            </a:r>
            <a:r>
              <a:rPr lang="en-US" altLang="zh-CN" i="1" kern="0" baseline="-25000" dirty="0">
                <a:solidFill>
                  <a:schemeClr val="bg2"/>
                </a:solidFill>
                <a:effectLst/>
              </a:rPr>
              <a:t>3</a:t>
            </a:r>
            <a:r>
              <a:rPr lang="en-US" altLang="zh-CN" kern="0" dirty="0">
                <a:solidFill>
                  <a:schemeClr val="bg2"/>
                </a:solidFill>
                <a:effectLst/>
              </a:rPr>
              <a:t>	      4.0	     1</a:t>
            </a:r>
          </a:p>
          <a:p>
            <a:pPr>
              <a:buFontTx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kern="0" dirty="0">
                <a:solidFill>
                  <a:schemeClr val="bg2"/>
                </a:solidFill>
                <a:effectLst/>
              </a:rPr>
              <a:t>	</a:t>
            </a:r>
            <a:r>
              <a:rPr lang="en-US" altLang="zh-CN" i="1" kern="0" dirty="0">
                <a:solidFill>
                  <a:schemeClr val="bg2"/>
                </a:solidFill>
                <a:effectLst/>
              </a:rPr>
              <a:t>P</a:t>
            </a:r>
            <a:r>
              <a:rPr lang="en-US" altLang="zh-CN" i="1" kern="0" baseline="-25000" dirty="0">
                <a:solidFill>
                  <a:schemeClr val="bg2"/>
                </a:solidFill>
                <a:effectLst/>
              </a:rPr>
              <a:t>4</a:t>
            </a:r>
            <a:r>
              <a:rPr lang="en-US" altLang="zh-CN" kern="0" dirty="0">
                <a:solidFill>
                  <a:schemeClr val="bg2"/>
                </a:solidFill>
                <a:effectLst/>
              </a:rPr>
              <a:t>	      5.0	     4</a:t>
            </a: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2D4C999C-84E8-4574-AE5A-45FA14A978FD}"/>
              </a:ext>
            </a:extLst>
          </p:cNvPr>
          <p:cNvGrpSpPr/>
          <p:nvPr/>
        </p:nvGrpSpPr>
        <p:grpSpPr>
          <a:xfrm>
            <a:off x="1826762" y="4353289"/>
            <a:ext cx="5722567" cy="1209020"/>
            <a:chOff x="1371600" y="4355634"/>
            <a:chExt cx="5722567" cy="1209020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EFED18DF-4B76-4234-9914-4C892AE1E59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524000" y="4357688"/>
              <a:ext cx="5257800" cy="6096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381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800">
                <a:solidFill>
                  <a:schemeClr val="bg2"/>
                </a:solidFill>
              </a:endParaRPr>
            </a:p>
          </p:txBody>
        </p:sp>
        <p:sp>
          <p:nvSpPr>
            <p:cNvPr id="9" name="Text Box 6">
              <a:extLst>
                <a:ext uri="{FF2B5EF4-FFF2-40B4-BE49-F238E27FC236}">
                  <a16:creationId xmlns:a16="http://schemas.microsoft.com/office/drawing/2014/main" id="{B924F269-4B8C-448C-811D-274D430F03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2209800" y="4355634"/>
              <a:ext cx="556563" cy="52322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bg2"/>
                  </a:solidFill>
                </a:rPr>
                <a:t>P</a:t>
              </a:r>
              <a:r>
                <a:rPr lang="en-US" altLang="zh-CN" sz="2800" baseline="-25000">
                  <a:solidFill>
                    <a:schemeClr val="bg2"/>
                  </a:solidFill>
                </a:rPr>
                <a:t>1</a:t>
              </a:r>
              <a:endParaRPr lang="en-US" altLang="zh-CN" sz="2800">
                <a:solidFill>
                  <a:schemeClr val="bg2"/>
                </a:solidFill>
              </a:endParaRPr>
            </a:p>
          </p:txBody>
        </p:sp>
        <p:sp>
          <p:nvSpPr>
            <p:cNvPr id="10" name="Text Box 7">
              <a:extLst>
                <a:ext uri="{FF2B5EF4-FFF2-40B4-BE49-F238E27FC236}">
                  <a16:creationId xmlns:a16="http://schemas.microsoft.com/office/drawing/2014/main" id="{E0D414DC-21F5-4AC3-BA1B-0FBDD1C3F6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810000" y="4355634"/>
              <a:ext cx="556563" cy="52322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bg2"/>
                  </a:solidFill>
                </a:rPr>
                <a:t>P</a:t>
              </a:r>
              <a:r>
                <a:rPr lang="en-US" altLang="zh-CN" sz="2800" baseline="-25000">
                  <a:solidFill>
                    <a:schemeClr val="bg2"/>
                  </a:solidFill>
                </a:rPr>
                <a:t>3</a:t>
              </a:r>
              <a:endParaRPr lang="en-US" altLang="zh-CN" sz="2800">
                <a:solidFill>
                  <a:schemeClr val="bg2"/>
                </a:solidFill>
              </a:endParaRPr>
            </a:p>
          </p:txBody>
        </p:sp>
        <p:sp>
          <p:nvSpPr>
            <p:cNvPr id="11" name="Text Box 8">
              <a:extLst>
                <a:ext uri="{FF2B5EF4-FFF2-40B4-BE49-F238E27FC236}">
                  <a16:creationId xmlns:a16="http://schemas.microsoft.com/office/drawing/2014/main" id="{AF892E90-DDD2-4B0D-B655-4D0C428D57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724400" y="4355634"/>
              <a:ext cx="556563" cy="52322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bg2"/>
                  </a:solidFill>
                </a:rPr>
                <a:t>P</a:t>
              </a:r>
              <a:r>
                <a:rPr lang="en-US" altLang="zh-CN" sz="2800" baseline="-25000">
                  <a:solidFill>
                    <a:schemeClr val="bg2"/>
                  </a:solidFill>
                </a:rPr>
                <a:t>2</a:t>
              </a:r>
              <a:endParaRPr lang="en-US" altLang="zh-CN" sz="2800">
                <a:solidFill>
                  <a:schemeClr val="bg2"/>
                </a:solidFill>
              </a:endParaRPr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BEB5ADCF-4E82-4533-871A-A6D443DCA4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81800" y="4967288"/>
              <a:ext cx="0" cy="22860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>
                <a:solidFill>
                  <a:schemeClr val="bg2"/>
                </a:solidFill>
              </a:endParaRPr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5F8711DE-5BC0-4759-B8EF-7CAB6F353C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24000" y="4967288"/>
              <a:ext cx="0" cy="22860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>
                <a:solidFill>
                  <a:schemeClr val="bg2"/>
                </a:solidFill>
              </a:endParaRPr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6D7F39FC-8225-4955-8C88-39C4C3A3B1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67200" y="4357688"/>
              <a:ext cx="0" cy="60960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>
                <a:solidFill>
                  <a:schemeClr val="bg2"/>
                </a:solidFill>
              </a:endParaRPr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02FC8A79-454B-4AE2-971C-C51E664213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10000" y="4357688"/>
              <a:ext cx="0" cy="60960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>
                <a:solidFill>
                  <a:schemeClr val="bg2"/>
                </a:solidFill>
              </a:endParaRPr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40C322DC-E9EF-4CCA-BCD7-EA74F32DF8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10000" y="4967288"/>
              <a:ext cx="0" cy="22860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>
                <a:solidFill>
                  <a:schemeClr val="bg2"/>
                </a:solidFill>
              </a:endParaRPr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3908448C-AE4B-421C-8357-3318AFAA8D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09800" y="4854575"/>
              <a:ext cx="0" cy="22860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>
                <a:solidFill>
                  <a:schemeClr val="bg2"/>
                </a:solidFill>
              </a:endParaRPr>
            </a:p>
          </p:txBody>
        </p:sp>
        <p:sp>
          <p:nvSpPr>
            <p:cNvPr id="18" name="Text Box 15">
              <a:extLst>
                <a:ext uri="{FF2B5EF4-FFF2-40B4-BE49-F238E27FC236}">
                  <a16:creationId xmlns:a16="http://schemas.microsoft.com/office/drawing/2014/main" id="{73ED1DD2-341D-434A-A396-DD35738FF7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657600" y="5041434"/>
              <a:ext cx="38504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bg2"/>
                  </a:solidFill>
                </a:rPr>
                <a:t>7</a:t>
              </a:r>
            </a:p>
          </p:txBody>
        </p:sp>
        <p:sp>
          <p:nvSpPr>
            <p:cNvPr id="19" name="Text Box 16">
              <a:extLst>
                <a:ext uri="{FF2B5EF4-FFF2-40B4-BE49-F238E27FC236}">
                  <a16:creationId xmlns:a16="http://schemas.microsoft.com/office/drawing/2014/main" id="{1E4D0DD6-30D6-4FD3-B235-367EC015AE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2368550" y="5041434"/>
              <a:ext cx="38504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bg2"/>
                  </a:solidFill>
                </a:rPr>
                <a:t>3</a:t>
              </a:r>
            </a:p>
          </p:txBody>
        </p:sp>
        <p:sp>
          <p:nvSpPr>
            <p:cNvPr id="20" name="Text Box 17">
              <a:extLst>
                <a:ext uri="{FF2B5EF4-FFF2-40B4-BE49-F238E27FC236}">
                  <a16:creationId xmlns:a16="http://schemas.microsoft.com/office/drawing/2014/main" id="{0F58540C-C3D3-4E1F-93EC-2FD42D52BA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6508750" y="5041434"/>
              <a:ext cx="58541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bg2"/>
                  </a:solidFill>
                </a:rPr>
                <a:t>16</a:t>
              </a:r>
            </a:p>
          </p:txBody>
        </p:sp>
        <p:sp>
          <p:nvSpPr>
            <p:cNvPr id="21" name="Text Box 18">
              <a:extLst>
                <a:ext uri="{FF2B5EF4-FFF2-40B4-BE49-F238E27FC236}">
                  <a16:creationId xmlns:a16="http://schemas.microsoft.com/office/drawing/2014/main" id="{7597255D-F1C0-4765-A83E-86DF93D32A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371600" y="5041434"/>
              <a:ext cx="38504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bg2"/>
                  </a:solidFill>
                </a:rPr>
                <a:t>0</a:t>
              </a:r>
            </a:p>
          </p:txBody>
        </p:sp>
        <p:sp>
          <p:nvSpPr>
            <p:cNvPr id="22" name="Text Box 20">
              <a:extLst>
                <a:ext uri="{FF2B5EF4-FFF2-40B4-BE49-F238E27FC236}">
                  <a16:creationId xmlns:a16="http://schemas.microsoft.com/office/drawing/2014/main" id="{BDC3572B-566B-4C77-ADB6-7AA4BB387A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867400" y="4355634"/>
              <a:ext cx="556563" cy="52322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 dirty="0">
                  <a:solidFill>
                    <a:schemeClr val="bg2"/>
                  </a:solidFill>
                </a:rPr>
                <a:t>P</a:t>
              </a:r>
              <a:r>
                <a:rPr lang="en-US" altLang="zh-CN" sz="2800" baseline="-25000" dirty="0">
                  <a:solidFill>
                    <a:schemeClr val="bg2"/>
                  </a:solidFill>
                </a:rPr>
                <a:t>4</a:t>
              </a:r>
              <a:endParaRPr lang="en-US" altLang="zh-CN" sz="2800" dirty="0">
                <a:solidFill>
                  <a:schemeClr val="bg2"/>
                </a:solidFill>
              </a:endParaRPr>
            </a:p>
          </p:txBody>
        </p:sp>
        <p:sp>
          <p:nvSpPr>
            <p:cNvPr id="23" name="Line 21">
              <a:extLst>
                <a:ext uri="{FF2B5EF4-FFF2-40B4-BE49-F238E27FC236}">
                  <a16:creationId xmlns:a16="http://schemas.microsoft.com/office/drawing/2014/main" id="{160E9314-1283-4612-AF7A-B75B9AAF55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86400" y="4357688"/>
              <a:ext cx="0" cy="60960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>
                <a:solidFill>
                  <a:schemeClr val="bg2"/>
                </a:solidFill>
              </a:endParaRPr>
            </a:p>
          </p:txBody>
        </p:sp>
        <p:sp>
          <p:nvSpPr>
            <p:cNvPr id="24" name="Line 22">
              <a:extLst>
                <a:ext uri="{FF2B5EF4-FFF2-40B4-BE49-F238E27FC236}">
                  <a16:creationId xmlns:a16="http://schemas.microsoft.com/office/drawing/2014/main" id="{230C5347-B3FF-4D38-B5EA-C7ACEE946A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28800" y="4854575"/>
              <a:ext cx="0" cy="22860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>
                <a:solidFill>
                  <a:schemeClr val="bg2"/>
                </a:solidFill>
              </a:endParaRPr>
            </a:p>
          </p:txBody>
        </p:sp>
        <p:sp>
          <p:nvSpPr>
            <p:cNvPr id="25" name="Line 23">
              <a:extLst>
                <a:ext uri="{FF2B5EF4-FFF2-40B4-BE49-F238E27FC236}">
                  <a16:creationId xmlns:a16="http://schemas.microsoft.com/office/drawing/2014/main" id="{FF1CD6EB-53F2-4FA2-8E7F-A4A17CBDE9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90800" y="4854575"/>
              <a:ext cx="0" cy="22860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>
                <a:solidFill>
                  <a:schemeClr val="bg2"/>
                </a:solidFill>
              </a:endParaRPr>
            </a:p>
          </p:txBody>
        </p:sp>
        <p:sp>
          <p:nvSpPr>
            <p:cNvPr id="26" name="Line 24">
              <a:extLst>
                <a:ext uri="{FF2B5EF4-FFF2-40B4-BE49-F238E27FC236}">
                  <a16:creationId xmlns:a16="http://schemas.microsoft.com/office/drawing/2014/main" id="{35C496D5-145B-4C66-922A-CF099F1A73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71800" y="4854575"/>
              <a:ext cx="0" cy="22860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>
                <a:solidFill>
                  <a:schemeClr val="bg2"/>
                </a:solidFill>
              </a:endParaRPr>
            </a:p>
          </p:txBody>
        </p:sp>
        <p:sp>
          <p:nvSpPr>
            <p:cNvPr id="27" name="Line 25">
              <a:extLst>
                <a:ext uri="{FF2B5EF4-FFF2-40B4-BE49-F238E27FC236}">
                  <a16:creationId xmlns:a16="http://schemas.microsoft.com/office/drawing/2014/main" id="{7519B511-CD66-48BE-AD07-FC9AE12683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76600" y="4854575"/>
              <a:ext cx="0" cy="22860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>
                <a:solidFill>
                  <a:schemeClr val="bg2"/>
                </a:solidFill>
              </a:endParaRPr>
            </a:p>
          </p:txBody>
        </p:sp>
        <p:sp>
          <p:nvSpPr>
            <p:cNvPr id="28" name="Line 26">
              <a:extLst>
                <a:ext uri="{FF2B5EF4-FFF2-40B4-BE49-F238E27FC236}">
                  <a16:creationId xmlns:a16="http://schemas.microsoft.com/office/drawing/2014/main" id="{618A1671-D39E-44A4-8007-AF40E52B3C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81400" y="4854575"/>
              <a:ext cx="0" cy="22860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>
                <a:solidFill>
                  <a:schemeClr val="bg2"/>
                </a:solidFill>
              </a:endParaRPr>
            </a:p>
          </p:txBody>
        </p:sp>
        <p:sp>
          <p:nvSpPr>
            <p:cNvPr id="29" name="Line 27">
              <a:extLst>
                <a:ext uri="{FF2B5EF4-FFF2-40B4-BE49-F238E27FC236}">
                  <a16:creationId xmlns:a16="http://schemas.microsoft.com/office/drawing/2014/main" id="{C8E38E1A-C57B-40E6-A245-8FE011E19F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67200" y="4967288"/>
              <a:ext cx="0" cy="22860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>
                <a:solidFill>
                  <a:schemeClr val="bg2"/>
                </a:solidFill>
              </a:endParaRPr>
            </a:p>
          </p:txBody>
        </p:sp>
        <p:sp>
          <p:nvSpPr>
            <p:cNvPr id="30" name="Text Box 28">
              <a:extLst>
                <a:ext uri="{FF2B5EF4-FFF2-40B4-BE49-F238E27FC236}">
                  <a16:creationId xmlns:a16="http://schemas.microsoft.com/office/drawing/2014/main" id="{9E89A2D2-599C-424E-975E-72B89AF019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114800" y="5041434"/>
              <a:ext cx="38504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bg2"/>
                  </a:solidFill>
                </a:rPr>
                <a:t>8</a:t>
              </a:r>
            </a:p>
          </p:txBody>
        </p:sp>
        <p:sp>
          <p:nvSpPr>
            <p:cNvPr id="31" name="Line 29">
              <a:extLst>
                <a:ext uri="{FF2B5EF4-FFF2-40B4-BE49-F238E27FC236}">
                  <a16:creationId xmlns:a16="http://schemas.microsoft.com/office/drawing/2014/main" id="{F45C9527-A4A3-4711-9FF2-1EE9421227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48200" y="4854575"/>
              <a:ext cx="0" cy="22860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>
                <a:solidFill>
                  <a:schemeClr val="bg2"/>
                </a:solidFill>
              </a:endParaRPr>
            </a:p>
          </p:txBody>
        </p:sp>
        <p:sp>
          <p:nvSpPr>
            <p:cNvPr id="32" name="Line 30">
              <a:extLst>
                <a:ext uri="{FF2B5EF4-FFF2-40B4-BE49-F238E27FC236}">
                  <a16:creationId xmlns:a16="http://schemas.microsoft.com/office/drawing/2014/main" id="{2874C2C5-E004-47CA-B5A3-99059FBCBD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53000" y="4854575"/>
              <a:ext cx="0" cy="22860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>
                <a:solidFill>
                  <a:schemeClr val="bg2"/>
                </a:solidFill>
              </a:endParaRPr>
            </a:p>
          </p:txBody>
        </p:sp>
        <p:sp>
          <p:nvSpPr>
            <p:cNvPr id="33" name="Line 31">
              <a:extLst>
                <a:ext uri="{FF2B5EF4-FFF2-40B4-BE49-F238E27FC236}">
                  <a16:creationId xmlns:a16="http://schemas.microsoft.com/office/drawing/2014/main" id="{CFC0DA04-A4C0-42B1-B2F8-A001889521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57800" y="4854575"/>
              <a:ext cx="0" cy="22860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>
                <a:solidFill>
                  <a:schemeClr val="bg2"/>
                </a:solidFill>
              </a:endParaRPr>
            </a:p>
          </p:txBody>
        </p:sp>
        <p:sp>
          <p:nvSpPr>
            <p:cNvPr id="34" name="Line 32">
              <a:extLst>
                <a:ext uri="{FF2B5EF4-FFF2-40B4-BE49-F238E27FC236}">
                  <a16:creationId xmlns:a16="http://schemas.microsoft.com/office/drawing/2014/main" id="{EC0A54C9-1003-47BF-9F60-F6F5C9710D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86400" y="4967288"/>
              <a:ext cx="0" cy="22860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>
                <a:solidFill>
                  <a:schemeClr val="bg2"/>
                </a:solidFill>
              </a:endParaRPr>
            </a:p>
          </p:txBody>
        </p:sp>
        <p:sp>
          <p:nvSpPr>
            <p:cNvPr id="35" name="Text Box 33">
              <a:extLst>
                <a:ext uri="{FF2B5EF4-FFF2-40B4-BE49-F238E27FC236}">
                  <a16:creationId xmlns:a16="http://schemas.microsoft.com/office/drawing/2014/main" id="{2DE4C0A7-798E-4A56-9EEA-2EE74F2251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257800" y="5041434"/>
              <a:ext cx="58541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bg2"/>
                  </a:solidFill>
                </a:rPr>
                <a:t>12</a:t>
              </a:r>
            </a:p>
          </p:txBody>
        </p:sp>
        <p:sp>
          <p:nvSpPr>
            <p:cNvPr id="36" name="Line 34">
              <a:extLst>
                <a:ext uri="{FF2B5EF4-FFF2-40B4-BE49-F238E27FC236}">
                  <a16:creationId xmlns:a16="http://schemas.microsoft.com/office/drawing/2014/main" id="{607FE279-055D-40A2-B6DB-74187869FC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67400" y="4854575"/>
              <a:ext cx="0" cy="22860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>
                <a:solidFill>
                  <a:schemeClr val="bg2"/>
                </a:solidFill>
              </a:endParaRPr>
            </a:p>
          </p:txBody>
        </p:sp>
        <p:sp>
          <p:nvSpPr>
            <p:cNvPr id="37" name="Line 35">
              <a:extLst>
                <a:ext uri="{FF2B5EF4-FFF2-40B4-BE49-F238E27FC236}">
                  <a16:creationId xmlns:a16="http://schemas.microsoft.com/office/drawing/2014/main" id="{D6CEC289-74AF-4433-833B-EC8B1BB495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72200" y="4854575"/>
              <a:ext cx="0" cy="22860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>
                <a:solidFill>
                  <a:schemeClr val="bg2"/>
                </a:solidFill>
              </a:endParaRPr>
            </a:p>
          </p:txBody>
        </p:sp>
        <p:sp>
          <p:nvSpPr>
            <p:cNvPr id="38" name="Line 36">
              <a:extLst>
                <a:ext uri="{FF2B5EF4-FFF2-40B4-BE49-F238E27FC236}">
                  <a16:creationId xmlns:a16="http://schemas.microsoft.com/office/drawing/2014/main" id="{59256798-5527-487E-843B-A2AC57C3CA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77000" y="4854575"/>
              <a:ext cx="0" cy="22860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>
                <a:solidFill>
                  <a:schemeClr val="bg2"/>
                </a:solidFill>
              </a:endParaRPr>
            </a:p>
          </p:txBody>
        </p:sp>
      </p:grpSp>
      <p:sp>
        <p:nvSpPr>
          <p:cNvPr id="40" name="矩形 39">
            <a:extLst>
              <a:ext uri="{FF2B5EF4-FFF2-40B4-BE49-F238E27FC236}">
                <a16:creationId xmlns:a16="http://schemas.microsoft.com/office/drawing/2014/main" id="{DB39C974-B7DF-4CA1-9BE2-8EA5D0575009}"/>
              </a:ext>
            </a:extLst>
          </p:cNvPr>
          <p:cNvSpPr/>
          <p:nvPr/>
        </p:nvSpPr>
        <p:spPr>
          <a:xfrm>
            <a:off x="3521999" y="-17435"/>
            <a:ext cx="206819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SJF</a:t>
            </a:r>
            <a:r>
              <a:rPr lang="zh-CN" altLang="en-US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pitchFamily="34" charset="-128"/>
                <a:sym typeface="Symbol" panose="05050102010706020507" pitchFamily="18" charset="2"/>
              </a:rPr>
              <a:t>实例</a:t>
            </a:r>
            <a:endParaRPr lang="zh-CN" altLang="en-US" sz="4000" dirty="0">
              <a:solidFill>
                <a:srgbClr val="0066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MS PGothic" pitchFamily="34" charset="-128"/>
              <a:cs typeface="+mj-cs"/>
            </a:endParaRPr>
          </a:p>
        </p:txBody>
      </p:sp>
      <p:sp>
        <p:nvSpPr>
          <p:cNvPr id="41" name="Rectangle 3">
            <a:extLst>
              <a:ext uri="{FF2B5EF4-FFF2-40B4-BE49-F238E27FC236}">
                <a16:creationId xmlns:a16="http://schemas.microsoft.com/office/drawing/2014/main" id="{DB55ABAD-896B-47DE-993F-2CD344BCEAAD}"/>
              </a:ext>
            </a:extLst>
          </p:cNvPr>
          <p:cNvSpPr txBox="1">
            <a:spLocks noChangeArrowheads="1"/>
          </p:cNvSpPr>
          <p:nvPr/>
        </p:nvSpPr>
        <p:spPr>
          <a:xfrm>
            <a:off x="1366567" y="3761769"/>
            <a:ext cx="3074158" cy="66283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0" indent="0">
              <a:buNone/>
              <a:tabLst>
                <a:tab pos="3651250" algn="ctr"/>
              </a:tabLst>
            </a:pPr>
            <a:r>
              <a:rPr lang="zh-CN" altLang="en-US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调度的</a:t>
            </a:r>
            <a:r>
              <a:rPr lang="en-US" altLang="zh-CN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Gantt</a:t>
            </a:r>
            <a:r>
              <a:rPr lang="zh-CN" altLang="en-US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图</a:t>
            </a:r>
            <a:r>
              <a:rPr lang="zh-CN" altLang="zh-CN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42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2" name="矩形 1"/>
          <p:cNvSpPr/>
          <p:nvPr/>
        </p:nvSpPr>
        <p:spPr>
          <a:xfrm>
            <a:off x="4335329" y="5653576"/>
            <a:ext cx="355898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FontTx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dirty="0">
                <a:solidFill>
                  <a:srgbClr val="FF00FF"/>
                </a:solidFill>
                <a:latin typeface="+mn-lt"/>
              </a:rPr>
              <a:t>(0 + 6 + 3 + 7)/4 = 4</a:t>
            </a:r>
          </a:p>
        </p:txBody>
      </p:sp>
    </p:spTree>
    <p:extLst>
      <p:ext uri="{BB962C8B-B14F-4D97-AF65-F5344CB8AC3E}">
        <p14:creationId xmlns:p14="http://schemas.microsoft.com/office/powerpoint/2010/main" val="2600594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60E0BC15-632E-4897-B6CA-ED0E88671AEB}"/>
              </a:ext>
            </a:extLst>
          </p:cNvPr>
          <p:cNvSpPr txBox="1">
            <a:spLocks noChangeArrowheads="1"/>
          </p:cNvSpPr>
          <p:nvPr/>
        </p:nvSpPr>
        <p:spPr>
          <a:xfrm>
            <a:off x="2275778" y="947768"/>
            <a:ext cx="4824536" cy="2941239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0" indent="0">
              <a:buFontTx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400" u="sng" kern="0" dirty="0">
                <a:solidFill>
                  <a:schemeClr val="bg2"/>
                </a:solidFill>
                <a:effectLst/>
              </a:rPr>
              <a:t>Process	  </a:t>
            </a:r>
            <a:r>
              <a:rPr lang="en-US" altLang="zh-CN" sz="2400" kern="0" dirty="0">
                <a:solidFill>
                  <a:schemeClr val="bg2"/>
                </a:solidFill>
                <a:effectLst/>
              </a:rPr>
              <a:t> </a:t>
            </a:r>
            <a:r>
              <a:rPr lang="en-US" altLang="zh-CN" sz="2400" u="sng" kern="0" dirty="0">
                <a:solidFill>
                  <a:schemeClr val="bg2"/>
                </a:solidFill>
                <a:effectLst/>
              </a:rPr>
              <a:t>Arrival Time</a:t>
            </a:r>
            <a:r>
              <a:rPr lang="en-US" altLang="zh-CN" sz="2400" kern="0" dirty="0">
                <a:solidFill>
                  <a:schemeClr val="bg2"/>
                </a:solidFill>
                <a:effectLst/>
              </a:rPr>
              <a:t>	  </a:t>
            </a:r>
            <a:r>
              <a:rPr lang="en-US" altLang="zh-CN" sz="2400" u="sng" kern="0" dirty="0">
                <a:solidFill>
                  <a:schemeClr val="bg2"/>
                </a:solidFill>
                <a:effectLst/>
              </a:rPr>
              <a:t>Burst Time</a:t>
            </a:r>
            <a:endParaRPr lang="en-US" altLang="zh-CN" sz="2400" kern="0" dirty="0">
              <a:solidFill>
                <a:schemeClr val="bg2"/>
              </a:solidFill>
              <a:effectLst/>
            </a:endParaRPr>
          </a:p>
          <a:p>
            <a:pPr>
              <a:buFontTx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kern="0" dirty="0">
                <a:solidFill>
                  <a:schemeClr val="bg2"/>
                </a:solidFill>
                <a:effectLst/>
              </a:rPr>
              <a:t>	</a:t>
            </a:r>
            <a:r>
              <a:rPr lang="en-US" altLang="zh-CN" i="1" kern="0" dirty="0">
                <a:solidFill>
                  <a:schemeClr val="bg2"/>
                </a:solidFill>
                <a:effectLst/>
              </a:rPr>
              <a:t>P</a:t>
            </a:r>
            <a:r>
              <a:rPr lang="en-US" altLang="zh-CN" i="1" kern="0" baseline="-25000" dirty="0">
                <a:solidFill>
                  <a:schemeClr val="bg2"/>
                </a:solidFill>
                <a:effectLst/>
              </a:rPr>
              <a:t>1</a:t>
            </a:r>
            <a:r>
              <a:rPr lang="en-US" altLang="zh-CN" kern="0" dirty="0">
                <a:solidFill>
                  <a:schemeClr val="bg2"/>
                </a:solidFill>
                <a:effectLst/>
              </a:rPr>
              <a:t>	      0.0	    7</a:t>
            </a:r>
          </a:p>
          <a:p>
            <a:pPr>
              <a:buFontTx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kern="0" dirty="0">
                <a:solidFill>
                  <a:schemeClr val="bg2"/>
                </a:solidFill>
                <a:effectLst/>
              </a:rPr>
              <a:t>	</a:t>
            </a:r>
            <a:r>
              <a:rPr lang="en-US" altLang="zh-CN" i="1" kern="0" dirty="0">
                <a:solidFill>
                  <a:schemeClr val="bg2"/>
                </a:solidFill>
                <a:effectLst/>
              </a:rPr>
              <a:t>P</a:t>
            </a:r>
            <a:r>
              <a:rPr lang="en-US" altLang="zh-CN" i="1" kern="0" baseline="-25000" dirty="0">
                <a:solidFill>
                  <a:schemeClr val="bg2"/>
                </a:solidFill>
                <a:effectLst/>
              </a:rPr>
              <a:t>2	        </a:t>
            </a:r>
            <a:r>
              <a:rPr lang="en-US" altLang="zh-CN" kern="0" dirty="0">
                <a:solidFill>
                  <a:schemeClr val="bg2"/>
                </a:solidFill>
                <a:effectLst/>
              </a:rPr>
              <a:t>2.0	    4</a:t>
            </a:r>
          </a:p>
          <a:p>
            <a:pPr>
              <a:buFontTx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kern="0" dirty="0">
                <a:solidFill>
                  <a:schemeClr val="bg2"/>
                </a:solidFill>
                <a:effectLst/>
              </a:rPr>
              <a:t>   </a:t>
            </a:r>
            <a:r>
              <a:rPr lang="en-US" altLang="zh-CN" i="1" kern="0" dirty="0">
                <a:solidFill>
                  <a:schemeClr val="bg2"/>
                </a:solidFill>
                <a:effectLst/>
              </a:rPr>
              <a:t>P</a:t>
            </a:r>
            <a:r>
              <a:rPr lang="en-US" altLang="zh-CN" i="1" kern="0" baseline="-25000" dirty="0">
                <a:solidFill>
                  <a:schemeClr val="bg2"/>
                </a:solidFill>
                <a:effectLst/>
              </a:rPr>
              <a:t>3</a:t>
            </a:r>
            <a:r>
              <a:rPr lang="en-US" altLang="zh-CN" kern="0" dirty="0">
                <a:solidFill>
                  <a:schemeClr val="bg2"/>
                </a:solidFill>
                <a:effectLst/>
              </a:rPr>
              <a:t>	      4.0	     1</a:t>
            </a:r>
          </a:p>
          <a:p>
            <a:pPr>
              <a:buFontTx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kern="0" dirty="0">
                <a:solidFill>
                  <a:schemeClr val="bg2"/>
                </a:solidFill>
                <a:effectLst/>
              </a:rPr>
              <a:t>	</a:t>
            </a:r>
            <a:r>
              <a:rPr lang="en-US" altLang="zh-CN" i="1" kern="0" dirty="0">
                <a:solidFill>
                  <a:schemeClr val="bg2"/>
                </a:solidFill>
                <a:effectLst/>
              </a:rPr>
              <a:t>P</a:t>
            </a:r>
            <a:r>
              <a:rPr lang="en-US" altLang="zh-CN" i="1" kern="0" baseline="-25000" dirty="0">
                <a:solidFill>
                  <a:schemeClr val="bg2"/>
                </a:solidFill>
                <a:effectLst/>
              </a:rPr>
              <a:t>4</a:t>
            </a:r>
            <a:r>
              <a:rPr lang="en-US" altLang="zh-CN" kern="0" dirty="0">
                <a:solidFill>
                  <a:schemeClr val="bg2"/>
                </a:solidFill>
                <a:effectLst/>
              </a:rPr>
              <a:t>	      5.0	     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4B7F585-291B-476C-AD71-1DD54941A8C7}"/>
              </a:ext>
            </a:extLst>
          </p:cNvPr>
          <p:cNvSpPr/>
          <p:nvPr/>
        </p:nvSpPr>
        <p:spPr>
          <a:xfrm>
            <a:off x="473514" y="5514454"/>
            <a:ext cx="7848862" cy="584775"/>
          </a:xfrm>
          <a:prstGeom prst="rect">
            <a:avLst/>
          </a:prstGeom>
          <a:solidFill>
            <a:srgbClr val="DDDDDD"/>
          </a:solidFill>
        </p:spPr>
        <p:txBody>
          <a:bodyPr wrap="square">
            <a:spAutoFit/>
          </a:bodyPr>
          <a:lstStyle/>
          <a:p>
            <a:pPr marL="174625" indent="-174625">
              <a:spcBef>
                <a:spcPct val="20000"/>
              </a:spcBef>
              <a:buClr>
                <a:schemeClr val="tx2"/>
              </a:buClr>
              <a:buSzPct val="75000"/>
              <a:tabLst>
                <a:tab pos="1603375" algn="ctr"/>
                <a:tab pos="3254375" algn="ctr"/>
                <a:tab pos="5143500" algn="ctr"/>
              </a:tabLst>
            </a:pPr>
            <a:r>
              <a:rPr lang="zh-CN" altLang="en-US" dirty="0" smtClean="0">
                <a:solidFill>
                  <a:schemeClr val="bg2"/>
                </a:solidFill>
                <a:latin typeface="+mn-lt"/>
                <a:ea typeface="+mn-ea"/>
              </a:rPr>
              <a:t>        平均</a:t>
            </a:r>
            <a:r>
              <a:rPr lang="zh-CN" altLang="en-US" dirty="0">
                <a:solidFill>
                  <a:schemeClr val="bg2"/>
                </a:solidFill>
                <a:latin typeface="+mn-lt"/>
                <a:ea typeface="+mn-ea"/>
              </a:rPr>
              <a:t>等待时间 </a:t>
            </a:r>
            <a:r>
              <a:rPr lang="en-US" altLang="zh-CN" dirty="0">
                <a:solidFill>
                  <a:schemeClr val="bg2"/>
                </a:solidFill>
                <a:latin typeface="+mn-lt"/>
                <a:ea typeface="+mn-ea"/>
              </a:rPr>
              <a:t>= </a:t>
            </a: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7DF5A650-2E5D-4BF7-A8C9-705EF95CE0F5}"/>
              </a:ext>
            </a:extLst>
          </p:cNvPr>
          <p:cNvGrpSpPr/>
          <p:nvPr/>
        </p:nvGrpSpPr>
        <p:grpSpPr>
          <a:xfrm>
            <a:off x="1668141" y="4146324"/>
            <a:ext cx="6039810" cy="1283166"/>
            <a:chOff x="1381639" y="4343400"/>
            <a:chExt cx="6039810" cy="1283166"/>
          </a:xfrm>
        </p:grpSpPr>
        <p:sp>
          <p:nvSpPr>
            <p:cNvPr id="17" name="Text Box 47">
              <a:extLst>
                <a:ext uri="{FF2B5EF4-FFF2-40B4-BE49-F238E27FC236}">
                  <a16:creationId xmlns:a16="http://schemas.microsoft.com/office/drawing/2014/main" id="{B9E5655D-B8FC-4A05-8B4B-2887218784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2743200" y="5103346"/>
              <a:ext cx="385042" cy="52322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bg2"/>
                  </a:solidFill>
                </a:rPr>
                <a:t>4</a:t>
              </a:r>
            </a:p>
          </p:txBody>
        </p:sp>
        <p:sp>
          <p:nvSpPr>
            <p:cNvPr id="18" name="Text Box 48">
              <a:extLst>
                <a:ext uri="{FF2B5EF4-FFF2-40B4-BE49-F238E27FC236}">
                  <a16:creationId xmlns:a16="http://schemas.microsoft.com/office/drawing/2014/main" id="{F27299F0-5002-4915-9E98-608A545B77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981200" y="5103346"/>
              <a:ext cx="385042" cy="52322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bg2"/>
                  </a:solidFill>
                </a:rPr>
                <a:t>2</a:t>
              </a:r>
            </a:p>
          </p:txBody>
        </p:sp>
        <p:sp>
          <p:nvSpPr>
            <p:cNvPr id="20" name="Text Box 50">
              <a:extLst>
                <a:ext uri="{FF2B5EF4-FFF2-40B4-BE49-F238E27FC236}">
                  <a16:creationId xmlns:a16="http://schemas.microsoft.com/office/drawing/2014/main" id="{157F90DD-3399-4E4A-ADD3-E385C4B52A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381639" y="5103346"/>
              <a:ext cx="385042" cy="52322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bg2"/>
                  </a:solidFill>
                </a:rPr>
                <a:t>0</a:t>
              </a:r>
            </a:p>
          </p:txBody>
        </p:sp>
        <p:sp>
          <p:nvSpPr>
            <p:cNvPr id="26" name="Text Box 59">
              <a:extLst>
                <a:ext uri="{FF2B5EF4-FFF2-40B4-BE49-F238E27FC236}">
                  <a16:creationId xmlns:a16="http://schemas.microsoft.com/office/drawing/2014/main" id="{DD5BBC17-45E1-4429-AFDC-BF47136775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276600" y="5103346"/>
              <a:ext cx="385042" cy="52322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bg2"/>
                  </a:solidFill>
                </a:rPr>
                <a:t>5</a:t>
              </a:r>
            </a:p>
          </p:txBody>
        </p:sp>
        <p:sp>
          <p:nvSpPr>
            <p:cNvPr id="31" name="Text Box 64">
              <a:extLst>
                <a:ext uri="{FF2B5EF4-FFF2-40B4-BE49-F238E27FC236}">
                  <a16:creationId xmlns:a16="http://schemas.microsoft.com/office/drawing/2014/main" id="{11C19FF0-5D1D-46F3-BA62-2D9FA81C4F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114800" y="5103346"/>
              <a:ext cx="385042" cy="52322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bg2"/>
                  </a:solidFill>
                </a:rPr>
                <a:t>7</a:t>
              </a:r>
            </a:p>
          </p:txBody>
        </p: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0FD53EEC-59FD-4BAA-84D8-F605B7A8F4E1}"/>
                </a:ext>
              </a:extLst>
            </p:cNvPr>
            <p:cNvGrpSpPr/>
            <p:nvPr/>
          </p:nvGrpSpPr>
          <p:grpSpPr>
            <a:xfrm>
              <a:off x="1524000" y="4343400"/>
              <a:ext cx="5897449" cy="1245066"/>
              <a:chOff x="1524000" y="4343400"/>
              <a:chExt cx="5897449" cy="1245066"/>
            </a:xfrm>
          </p:grpSpPr>
          <p:sp>
            <p:nvSpPr>
              <p:cNvPr id="8" name="Rectangle 37">
                <a:extLst>
                  <a:ext uri="{FF2B5EF4-FFF2-40B4-BE49-F238E27FC236}">
                    <a16:creationId xmlns:a16="http://schemas.microsoft.com/office/drawing/2014/main" id="{EF2833F4-7C83-4122-840A-FAD8092AF7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524000" y="4357688"/>
                <a:ext cx="5562600" cy="60960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38100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2800">
                  <a:solidFill>
                    <a:schemeClr val="bg2"/>
                  </a:solidFill>
                </a:endParaRPr>
              </a:p>
            </p:txBody>
          </p:sp>
          <p:sp>
            <p:nvSpPr>
              <p:cNvPr id="9" name="Text Box 38">
                <a:extLst>
                  <a:ext uri="{FF2B5EF4-FFF2-40B4-BE49-F238E27FC236}">
                    <a16:creationId xmlns:a16="http://schemas.microsoft.com/office/drawing/2014/main" id="{9C5BC925-290F-4E03-9FA2-78C0EE19A8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1600200" y="4406434"/>
                <a:ext cx="556563" cy="52322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38100">
                <a:noFill/>
              </a:ln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2800" dirty="0">
                    <a:solidFill>
                      <a:schemeClr val="bg2"/>
                    </a:solidFill>
                  </a:rPr>
                  <a:t>P</a:t>
                </a:r>
                <a:r>
                  <a:rPr lang="en-US" altLang="zh-CN" sz="2800" baseline="-25000" dirty="0">
                    <a:solidFill>
                      <a:schemeClr val="bg2"/>
                    </a:solidFill>
                  </a:rPr>
                  <a:t>1</a:t>
                </a:r>
                <a:endParaRPr lang="en-US" altLang="zh-CN" sz="2800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0" name="Text Box 39">
                <a:extLst>
                  <a:ext uri="{FF2B5EF4-FFF2-40B4-BE49-F238E27FC236}">
                    <a16:creationId xmlns:a16="http://schemas.microsoft.com/office/drawing/2014/main" id="{535C35C5-DA67-4976-88DA-F2692E4DC5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2907181" y="4388792"/>
                <a:ext cx="556563" cy="52322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38100">
                <a:noFill/>
              </a:ln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2800" dirty="0">
                    <a:solidFill>
                      <a:schemeClr val="bg2"/>
                    </a:solidFill>
                  </a:rPr>
                  <a:t>P</a:t>
                </a:r>
                <a:r>
                  <a:rPr lang="en-US" altLang="zh-CN" sz="2800" baseline="-25000" dirty="0">
                    <a:solidFill>
                      <a:schemeClr val="bg2"/>
                    </a:solidFill>
                  </a:rPr>
                  <a:t>3</a:t>
                </a:r>
                <a:endParaRPr lang="en-US" altLang="zh-CN" sz="2800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1" name="Text Box 40">
                <a:extLst>
                  <a:ext uri="{FF2B5EF4-FFF2-40B4-BE49-F238E27FC236}">
                    <a16:creationId xmlns:a16="http://schemas.microsoft.com/office/drawing/2014/main" id="{46C98329-29E5-43A6-A0CC-D2322123D6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2324100" y="4388792"/>
                <a:ext cx="556563" cy="52322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38100">
                <a:noFill/>
              </a:ln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2800" dirty="0">
                    <a:solidFill>
                      <a:schemeClr val="bg2"/>
                    </a:solidFill>
                  </a:rPr>
                  <a:t>P</a:t>
                </a:r>
                <a:r>
                  <a:rPr lang="en-US" altLang="zh-CN" sz="2800" baseline="-25000" dirty="0">
                    <a:solidFill>
                      <a:schemeClr val="bg2"/>
                    </a:solidFill>
                  </a:rPr>
                  <a:t>2</a:t>
                </a:r>
                <a:endParaRPr lang="en-US" altLang="zh-CN" sz="2800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2" name="Line 41">
                <a:extLst>
                  <a:ext uri="{FF2B5EF4-FFF2-40B4-BE49-F238E27FC236}">
                    <a16:creationId xmlns:a16="http://schemas.microsoft.com/office/drawing/2014/main" id="{940A5631-89A7-4C60-99F5-52ABFB9A2D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067550" y="4953000"/>
                <a:ext cx="0" cy="22860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solidFill>
                    <a:schemeClr val="bg2"/>
                  </a:solidFill>
                </a:endParaRPr>
              </a:p>
            </p:txBody>
          </p:sp>
          <p:sp>
            <p:nvSpPr>
              <p:cNvPr id="13" name="Line 42">
                <a:extLst>
                  <a:ext uri="{FF2B5EF4-FFF2-40B4-BE49-F238E27FC236}">
                    <a16:creationId xmlns:a16="http://schemas.microsoft.com/office/drawing/2014/main" id="{1F0D65F3-17DF-4592-8B4D-FDFA1BCB9F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24000" y="4967288"/>
                <a:ext cx="0" cy="22860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solidFill>
                    <a:schemeClr val="bg2"/>
                  </a:solidFill>
                </a:endParaRPr>
              </a:p>
            </p:txBody>
          </p:sp>
          <p:sp>
            <p:nvSpPr>
              <p:cNvPr id="14" name="Line 43">
                <a:extLst>
                  <a:ext uri="{FF2B5EF4-FFF2-40B4-BE49-F238E27FC236}">
                    <a16:creationId xmlns:a16="http://schemas.microsoft.com/office/drawing/2014/main" id="{B2BC3D29-532E-480C-B189-A3E8103F97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67200" y="4357688"/>
                <a:ext cx="0" cy="60960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solidFill>
                    <a:schemeClr val="bg2"/>
                  </a:solidFill>
                </a:endParaRPr>
              </a:p>
            </p:txBody>
          </p:sp>
          <p:sp>
            <p:nvSpPr>
              <p:cNvPr id="15" name="Line 44">
                <a:extLst>
                  <a:ext uri="{FF2B5EF4-FFF2-40B4-BE49-F238E27FC236}">
                    <a16:creationId xmlns:a16="http://schemas.microsoft.com/office/drawing/2014/main" id="{470645F8-E400-4C7F-8A21-6C544BF5E3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33600" y="4343400"/>
                <a:ext cx="0" cy="91440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solidFill>
                    <a:schemeClr val="bg2"/>
                  </a:solidFill>
                </a:endParaRPr>
              </a:p>
            </p:txBody>
          </p:sp>
          <p:sp>
            <p:nvSpPr>
              <p:cNvPr id="16" name="Line 45">
                <a:extLst>
                  <a:ext uri="{FF2B5EF4-FFF2-40B4-BE49-F238E27FC236}">
                    <a16:creationId xmlns:a16="http://schemas.microsoft.com/office/drawing/2014/main" id="{B9EA721E-EE78-4F28-A1D5-9249F099D2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10000" y="4967288"/>
                <a:ext cx="0" cy="22860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solidFill>
                    <a:schemeClr val="bg2"/>
                  </a:solidFill>
                </a:endParaRPr>
              </a:p>
            </p:txBody>
          </p:sp>
          <p:sp>
            <p:nvSpPr>
              <p:cNvPr id="19" name="Text Box 49">
                <a:extLst>
                  <a:ext uri="{FF2B5EF4-FFF2-40B4-BE49-F238E27FC236}">
                    <a16:creationId xmlns:a16="http://schemas.microsoft.com/office/drawing/2014/main" id="{4D021860-CE58-420C-A49A-0297751CE1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5231791" y="5053668"/>
                <a:ext cx="565604" cy="52322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2800">
                    <a:solidFill>
                      <a:schemeClr val="bg2"/>
                    </a:solidFill>
                  </a:rPr>
                  <a:t>11</a:t>
                </a:r>
              </a:p>
            </p:txBody>
          </p:sp>
          <p:sp>
            <p:nvSpPr>
              <p:cNvPr id="21" name="Text Box 51">
                <a:extLst>
                  <a:ext uri="{FF2B5EF4-FFF2-40B4-BE49-F238E27FC236}">
                    <a16:creationId xmlns:a16="http://schemas.microsoft.com/office/drawing/2014/main" id="{284DA4E9-9259-4854-B217-6434D17E1E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4663137" y="4385894"/>
                <a:ext cx="556563" cy="52322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38100">
                <a:noFill/>
              </a:ln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2800" dirty="0">
                    <a:solidFill>
                      <a:schemeClr val="bg2"/>
                    </a:solidFill>
                  </a:rPr>
                  <a:t>P</a:t>
                </a:r>
                <a:r>
                  <a:rPr lang="en-US" altLang="zh-CN" sz="2800" baseline="-25000" dirty="0">
                    <a:solidFill>
                      <a:schemeClr val="bg2"/>
                    </a:solidFill>
                  </a:rPr>
                  <a:t>4</a:t>
                </a:r>
                <a:endParaRPr lang="en-US" altLang="zh-CN" sz="2800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22" name="Line 52">
                <a:extLst>
                  <a:ext uri="{FF2B5EF4-FFF2-40B4-BE49-F238E27FC236}">
                    <a16:creationId xmlns:a16="http://schemas.microsoft.com/office/drawing/2014/main" id="{7DE79A83-ADA3-48B8-B165-C1117BDB48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486400" y="4357688"/>
                <a:ext cx="0" cy="60960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solidFill>
                    <a:schemeClr val="bg2"/>
                  </a:solidFill>
                </a:endParaRPr>
              </a:p>
            </p:txBody>
          </p:sp>
          <p:sp>
            <p:nvSpPr>
              <p:cNvPr id="23" name="Line 53">
                <a:extLst>
                  <a:ext uri="{FF2B5EF4-FFF2-40B4-BE49-F238E27FC236}">
                    <a16:creationId xmlns:a16="http://schemas.microsoft.com/office/drawing/2014/main" id="{57AF1F21-45E4-46E5-B33F-8B3E4EA4F1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28800" y="4854575"/>
                <a:ext cx="0" cy="22860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solidFill>
                    <a:schemeClr val="bg2"/>
                  </a:solidFill>
                </a:endParaRPr>
              </a:p>
            </p:txBody>
          </p:sp>
          <p:sp>
            <p:nvSpPr>
              <p:cNvPr id="24" name="Line 54">
                <a:extLst>
                  <a:ext uri="{FF2B5EF4-FFF2-40B4-BE49-F238E27FC236}">
                    <a16:creationId xmlns:a16="http://schemas.microsoft.com/office/drawing/2014/main" id="{B9EBC1A6-23B0-4607-931A-E23D96B128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90800" y="4854575"/>
                <a:ext cx="0" cy="22860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solidFill>
                    <a:schemeClr val="bg2"/>
                  </a:solidFill>
                </a:endParaRPr>
              </a:p>
            </p:txBody>
          </p:sp>
          <p:sp>
            <p:nvSpPr>
              <p:cNvPr id="25" name="Line 58">
                <a:extLst>
                  <a:ext uri="{FF2B5EF4-FFF2-40B4-BE49-F238E27FC236}">
                    <a16:creationId xmlns:a16="http://schemas.microsoft.com/office/drawing/2014/main" id="{E8A2652E-A442-429F-BC71-1179E71815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67200" y="4967288"/>
                <a:ext cx="0" cy="22860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solidFill>
                    <a:schemeClr val="bg2"/>
                  </a:solidFill>
                </a:endParaRPr>
              </a:p>
            </p:txBody>
          </p:sp>
          <p:sp>
            <p:nvSpPr>
              <p:cNvPr id="27" name="Line 60">
                <a:extLst>
                  <a:ext uri="{FF2B5EF4-FFF2-40B4-BE49-F238E27FC236}">
                    <a16:creationId xmlns:a16="http://schemas.microsoft.com/office/drawing/2014/main" id="{8C5BB4A1-5B41-4AA3-8F5D-3B200A4DC2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48200" y="4854575"/>
                <a:ext cx="0" cy="22860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solidFill>
                    <a:schemeClr val="bg2"/>
                  </a:solidFill>
                </a:endParaRPr>
              </a:p>
            </p:txBody>
          </p:sp>
          <p:sp>
            <p:nvSpPr>
              <p:cNvPr id="28" name="Line 61">
                <a:extLst>
                  <a:ext uri="{FF2B5EF4-FFF2-40B4-BE49-F238E27FC236}">
                    <a16:creationId xmlns:a16="http://schemas.microsoft.com/office/drawing/2014/main" id="{885F6846-C6DB-4BB4-8871-6E31B3E63C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53000" y="4854575"/>
                <a:ext cx="0" cy="22860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solidFill>
                    <a:schemeClr val="bg2"/>
                  </a:solidFill>
                </a:endParaRPr>
              </a:p>
            </p:txBody>
          </p:sp>
          <p:sp>
            <p:nvSpPr>
              <p:cNvPr id="29" name="Line 62">
                <a:extLst>
                  <a:ext uri="{FF2B5EF4-FFF2-40B4-BE49-F238E27FC236}">
                    <a16:creationId xmlns:a16="http://schemas.microsoft.com/office/drawing/2014/main" id="{76865285-4E61-4E8B-8129-8428407E08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257800" y="4854575"/>
                <a:ext cx="0" cy="22860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solidFill>
                    <a:schemeClr val="bg2"/>
                  </a:solidFill>
                </a:endParaRPr>
              </a:p>
            </p:txBody>
          </p:sp>
          <p:sp>
            <p:nvSpPr>
              <p:cNvPr id="30" name="Line 63">
                <a:extLst>
                  <a:ext uri="{FF2B5EF4-FFF2-40B4-BE49-F238E27FC236}">
                    <a16:creationId xmlns:a16="http://schemas.microsoft.com/office/drawing/2014/main" id="{5436AB1E-8291-437E-A917-C28648A9A6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486400" y="4967288"/>
                <a:ext cx="0" cy="22860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solidFill>
                    <a:schemeClr val="bg2"/>
                  </a:solidFill>
                </a:endParaRPr>
              </a:p>
            </p:txBody>
          </p:sp>
          <p:sp>
            <p:nvSpPr>
              <p:cNvPr id="32" name="Line 65">
                <a:extLst>
                  <a:ext uri="{FF2B5EF4-FFF2-40B4-BE49-F238E27FC236}">
                    <a16:creationId xmlns:a16="http://schemas.microsoft.com/office/drawing/2014/main" id="{3BE7ABB8-8669-4527-BB2F-84A234019E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867400" y="4854575"/>
                <a:ext cx="0" cy="22860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solidFill>
                    <a:schemeClr val="bg2"/>
                  </a:solidFill>
                </a:endParaRPr>
              </a:p>
            </p:txBody>
          </p:sp>
          <p:sp>
            <p:nvSpPr>
              <p:cNvPr id="33" name="Line 66">
                <a:extLst>
                  <a:ext uri="{FF2B5EF4-FFF2-40B4-BE49-F238E27FC236}">
                    <a16:creationId xmlns:a16="http://schemas.microsoft.com/office/drawing/2014/main" id="{E1BBC11F-A2CC-4B1E-94C8-7BCC5A7C09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172200" y="4854575"/>
                <a:ext cx="0" cy="22860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solidFill>
                    <a:schemeClr val="bg2"/>
                  </a:solidFill>
                </a:endParaRPr>
              </a:p>
            </p:txBody>
          </p:sp>
          <p:sp>
            <p:nvSpPr>
              <p:cNvPr id="34" name="Line 67">
                <a:extLst>
                  <a:ext uri="{FF2B5EF4-FFF2-40B4-BE49-F238E27FC236}">
                    <a16:creationId xmlns:a16="http://schemas.microsoft.com/office/drawing/2014/main" id="{7DC0FA47-AB01-44C0-B5B1-AE4C6D5C51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477000" y="4854575"/>
                <a:ext cx="0" cy="22860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solidFill>
                    <a:schemeClr val="bg2"/>
                  </a:solidFill>
                </a:endParaRPr>
              </a:p>
            </p:txBody>
          </p:sp>
          <p:sp>
            <p:nvSpPr>
              <p:cNvPr id="35" name="Line 68">
                <a:extLst>
                  <a:ext uri="{FF2B5EF4-FFF2-40B4-BE49-F238E27FC236}">
                    <a16:creationId xmlns:a16="http://schemas.microsoft.com/office/drawing/2014/main" id="{44ADCFC5-735F-4A05-81A6-6AF7CC4FC2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95600" y="4343400"/>
                <a:ext cx="0" cy="91440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solidFill>
                    <a:schemeClr val="bg2"/>
                  </a:solidFill>
                </a:endParaRPr>
              </a:p>
            </p:txBody>
          </p:sp>
          <p:sp>
            <p:nvSpPr>
              <p:cNvPr id="36" name="Line 69">
                <a:extLst>
                  <a:ext uri="{FF2B5EF4-FFF2-40B4-BE49-F238E27FC236}">
                    <a16:creationId xmlns:a16="http://schemas.microsoft.com/office/drawing/2014/main" id="{D9505DD4-64A7-433A-B524-D04372AC5A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29000" y="4343400"/>
                <a:ext cx="0" cy="91440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solidFill>
                    <a:schemeClr val="bg2"/>
                  </a:solidFill>
                </a:endParaRPr>
              </a:p>
            </p:txBody>
          </p:sp>
          <p:sp>
            <p:nvSpPr>
              <p:cNvPr id="37" name="Text Box 70">
                <a:extLst>
                  <a:ext uri="{FF2B5EF4-FFF2-40B4-BE49-F238E27FC236}">
                    <a16:creationId xmlns:a16="http://schemas.microsoft.com/office/drawing/2014/main" id="{54BDD0E7-9F16-4949-9C6A-7809AD9E7C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3554880" y="4389766"/>
                <a:ext cx="556563" cy="52322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38100">
                <a:noFill/>
              </a:ln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2800" dirty="0">
                    <a:solidFill>
                      <a:schemeClr val="bg2"/>
                    </a:solidFill>
                  </a:rPr>
                  <a:t>P</a:t>
                </a:r>
                <a:r>
                  <a:rPr lang="en-US" altLang="zh-CN" sz="2800" baseline="-25000" dirty="0">
                    <a:solidFill>
                      <a:schemeClr val="bg2"/>
                    </a:solidFill>
                  </a:rPr>
                  <a:t>2</a:t>
                </a:r>
                <a:endParaRPr lang="en-US" altLang="zh-CN" sz="2800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38" name="Text Box 71">
                <a:extLst>
                  <a:ext uri="{FF2B5EF4-FFF2-40B4-BE49-F238E27FC236}">
                    <a16:creationId xmlns:a16="http://schemas.microsoft.com/office/drawing/2014/main" id="{D3CF0313-0A5A-4322-A325-59A403B998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6026103" y="4387482"/>
                <a:ext cx="556563" cy="52322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38100">
                <a:noFill/>
              </a:ln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2800" dirty="0">
                    <a:solidFill>
                      <a:schemeClr val="bg2"/>
                    </a:solidFill>
                  </a:rPr>
                  <a:t>P</a:t>
                </a:r>
                <a:r>
                  <a:rPr lang="en-US" altLang="zh-CN" sz="2800" baseline="-25000" dirty="0">
                    <a:solidFill>
                      <a:schemeClr val="bg2"/>
                    </a:solidFill>
                  </a:rPr>
                  <a:t>1</a:t>
                </a:r>
                <a:endParaRPr lang="en-US" altLang="zh-CN" sz="2800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39" name="Line 72">
                <a:extLst>
                  <a:ext uri="{FF2B5EF4-FFF2-40B4-BE49-F238E27FC236}">
                    <a16:creationId xmlns:a16="http://schemas.microsoft.com/office/drawing/2014/main" id="{AAA823AC-2591-421B-B1C8-5F4CF7C0E5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781800" y="4854575"/>
                <a:ext cx="0" cy="22860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solidFill>
                    <a:schemeClr val="bg2"/>
                  </a:solidFill>
                </a:endParaRPr>
              </a:p>
            </p:txBody>
          </p:sp>
          <p:sp>
            <p:nvSpPr>
              <p:cNvPr id="40" name="Text Box 73">
                <a:extLst>
                  <a:ext uri="{FF2B5EF4-FFF2-40B4-BE49-F238E27FC236}">
                    <a16:creationId xmlns:a16="http://schemas.microsoft.com/office/drawing/2014/main" id="{605006E3-5BF6-4A4F-B626-1BAB5B4948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6836032" y="5065246"/>
                <a:ext cx="585417" cy="52322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2800">
                    <a:solidFill>
                      <a:schemeClr val="bg2"/>
                    </a:solidFill>
                  </a:rPr>
                  <a:t>16</a:t>
                </a:r>
              </a:p>
            </p:txBody>
          </p:sp>
        </p:grpSp>
      </p:grpSp>
      <p:sp>
        <p:nvSpPr>
          <p:cNvPr id="43" name="矩形 42">
            <a:extLst>
              <a:ext uri="{FF2B5EF4-FFF2-40B4-BE49-F238E27FC236}">
                <a16:creationId xmlns:a16="http://schemas.microsoft.com/office/drawing/2014/main" id="{C56C8FA8-8E29-4040-96AA-D7CACC302284}"/>
              </a:ext>
            </a:extLst>
          </p:cNvPr>
          <p:cNvSpPr/>
          <p:nvPr/>
        </p:nvSpPr>
        <p:spPr>
          <a:xfrm>
            <a:off x="3303382" y="-17435"/>
            <a:ext cx="25054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SRTF</a:t>
            </a:r>
            <a:r>
              <a:rPr lang="zh-CN" altLang="en-US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pitchFamily="34" charset="-128"/>
                <a:sym typeface="Symbol" panose="05050102010706020507" pitchFamily="18" charset="2"/>
              </a:rPr>
              <a:t>实例</a:t>
            </a:r>
            <a:endParaRPr lang="zh-CN" altLang="en-US" sz="4000" dirty="0">
              <a:solidFill>
                <a:srgbClr val="0066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MS PGothic" pitchFamily="34" charset="-128"/>
              <a:cs typeface="+mj-cs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0405ED8-65E7-40DA-A29E-1FF587CC778C}"/>
              </a:ext>
            </a:extLst>
          </p:cNvPr>
          <p:cNvSpPr/>
          <p:nvPr/>
        </p:nvSpPr>
        <p:spPr>
          <a:xfrm>
            <a:off x="2813482" y="6008614"/>
            <a:ext cx="3480440" cy="6417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zh-CN" altLang="en-US" dirty="0">
                <a:solidFill>
                  <a:schemeClr val="bg2"/>
                </a:solidFill>
                <a:ea typeface="楷体" panose="02010609060101010101" pitchFamily="49" charset="-122"/>
              </a:rPr>
              <a:t>抢占显然具有优点</a:t>
            </a:r>
          </a:p>
        </p:txBody>
      </p:sp>
      <p:sp>
        <p:nvSpPr>
          <p:cNvPr id="46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2" name="矩形 1"/>
          <p:cNvSpPr/>
          <p:nvPr/>
        </p:nvSpPr>
        <p:spPr>
          <a:xfrm>
            <a:off x="4397945" y="5539279"/>
            <a:ext cx="34563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4625" indent="-174625" algn="ctr">
              <a:spcBef>
                <a:spcPct val="20000"/>
              </a:spcBef>
              <a:buClr>
                <a:schemeClr val="tx2"/>
              </a:buClr>
              <a:buSzPct val="75000"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dirty="0">
                <a:solidFill>
                  <a:srgbClr val="FF00FF"/>
                </a:solidFill>
                <a:latin typeface="+mn-lt"/>
                <a:ea typeface="+mn-ea"/>
              </a:rPr>
              <a:t>(9 + 1 + 0 +2)/4 = 3</a:t>
            </a:r>
          </a:p>
        </p:txBody>
      </p:sp>
    </p:spTree>
    <p:extLst>
      <p:ext uri="{BB962C8B-B14F-4D97-AF65-F5344CB8AC3E}">
        <p14:creationId xmlns:p14="http://schemas.microsoft.com/office/powerpoint/2010/main" val="3950839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5" grpId="0"/>
      <p:bldP spid="46" grpId="0" animBg="1"/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74272A4-21CB-422F-BE19-35E6060A1E70}"/>
              </a:ext>
            </a:extLst>
          </p:cNvPr>
          <p:cNvSpPr/>
          <p:nvPr/>
        </p:nvSpPr>
        <p:spPr>
          <a:xfrm>
            <a:off x="2483768" y="-88980"/>
            <a:ext cx="408270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274638" algn="ctr" eaLnBrk="1" hangingPunct="1">
              <a:defRPr/>
            </a:pP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优 先 级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D4C5771-E1CA-414C-BF2E-A65B0F5AA816}"/>
              </a:ext>
            </a:extLst>
          </p:cNvPr>
          <p:cNvSpPr txBox="1">
            <a:spLocks noChangeArrowheads="1"/>
          </p:cNvSpPr>
          <p:nvPr/>
        </p:nvSpPr>
        <p:spPr>
          <a:xfrm>
            <a:off x="-104677" y="660869"/>
            <a:ext cx="9268556" cy="590643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55600" lvl="2" indent="-355600" defTabSz="355600">
              <a:lnSpc>
                <a:spcPct val="12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每个任务关联一个优先权</a:t>
            </a:r>
          </a:p>
          <a:p>
            <a:pPr marL="812800" lvl="3" indent="-355600" defTabSz="355600"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内部定义的优先级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，</a:t>
            </a:r>
            <a:r>
              <a:rPr lang="zh-CN" altLang="en-US" sz="2800" dirty="0" smtClean="0">
                <a:solidFill>
                  <a:schemeClr val="bg2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采用一些测量数据：时限、内存要求、打开文件数量、</a:t>
            </a:r>
            <a:r>
              <a:rPr lang="zh-CN" altLang="en-US" sz="2800" dirty="0" smtClean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平均</a:t>
            </a:r>
            <a:r>
              <a:rPr lang="en-US" altLang="zh-CN" sz="2800" dirty="0" smtClean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I/O</a:t>
            </a:r>
            <a:r>
              <a:rPr lang="zh-CN" altLang="en-US" sz="2800" dirty="0" smtClean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时间与平均</a:t>
            </a:r>
            <a:r>
              <a:rPr lang="en-US" altLang="zh-CN" sz="2800" dirty="0" smtClean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CPU</a:t>
            </a:r>
            <a:r>
              <a:rPr lang="zh-CN" altLang="en-US" sz="2800" dirty="0" smtClean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时间之比等</a:t>
            </a:r>
            <a:endParaRPr lang="en-US" altLang="zh-CN" sz="2800" dirty="0" smtClean="0">
              <a:solidFill>
                <a:schemeClr val="bg2"/>
              </a:solidFill>
              <a:effectLst/>
              <a:ea typeface="楷体" panose="02010609060101010101" pitchFamily="49" charset="-122"/>
            </a:endParaRPr>
          </a:p>
          <a:p>
            <a:pPr marL="812800" lvl="3" indent="-355600" defTabSz="355600"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外部定义的优先级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：</a:t>
            </a:r>
            <a:r>
              <a:rPr lang="zh-CN" altLang="en-US" sz="2800" dirty="0">
                <a:solidFill>
                  <a:schemeClr val="bg2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采用</a:t>
            </a:r>
            <a:r>
              <a:rPr lang="en-US" altLang="zh-CN" sz="28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OS</a:t>
            </a:r>
            <a:r>
              <a:rPr lang="zh-CN" altLang="en-US" sz="2800" dirty="0">
                <a:solidFill>
                  <a:schemeClr val="bg2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之外的一些准则，如进程重要性等</a:t>
            </a:r>
          </a:p>
          <a:p>
            <a:pPr marL="812800" lvl="3" indent="-355600" defTabSz="355600"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抢占式、非</a:t>
            </a:r>
            <a:r>
              <a:rPr lang="zh-CN" altLang="en-US" sz="3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抢占式</a:t>
            </a:r>
            <a:endParaRPr lang="zh-CN" altLang="en-US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355600" lvl="2" indent="-355600" defTabSz="355600">
              <a:lnSpc>
                <a:spcPct val="12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en-US" altLang="zh-CN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SJF</a:t>
            </a: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是优先权调度的特例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355600" lvl="2" indent="-355600" defTabSz="355600">
              <a:lnSpc>
                <a:spcPct val="12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  <a:sym typeface="Symbol" panose="05050102010706020507" pitchFamily="18" charset="2"/>
              </a:rPr>
              <a:t>问题 ：饥饿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  <a:sym typeface="Symbol" panose="05050102010706020507" pitchFamily="18" charset="2"/>
            </a:endParaRPr>
          </a:p>
          <a:p>
            <a:pPr marL="812800" lvl="3" indent="-355600" defTabSz="355600"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  <a:sym typeface="Symbol" panose="05050102010706020507" pitchFamily="18" charset="2"/>
              </a:rPr>
              <a:t>低优先级的任务可能永远得不到运行</a:t>
            </a:r>
            <a:endParaRPr lang="en-US" altLang="zh-CN" sz="3200" dirty="0">
              <a:solidFill>
                <a:schemeClr val="bg2"/>
              </a:solidFill>
              <a:effectLst/>
              <a:latin typeface="+mj-lt"/>
              <a:ea typeface="楷体" panose="02010609060101010101" pitchFamily="49" charset="-122"/>
              <a:sym typeface="Symbol" panose="05050102010706020507" pitchFamily="18" charset="2"/>
            </a:endParaRPr>
          </a:p>
          <a:p>
            <a:pPr marL="812800" lvl="3" indent="-355600" defTabSz="355600"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  <a:sym typeface="Symbol" panose="05050102010706020507" pitchFamily="18" charset="2"/>
              </a:rPr>
              <a:t>解决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  <a:sym typeface="Symbol" panose="05050102010706020507" pitchFamily="18" charset="2"/>
              </a:rPr>
              <a:t>方法 </a:t>
            </a:r>
            <a:r>
              <a:rPr lang="en-US" altLang="zh-CN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  <a:sym typeface="Symbol" panose="05050102010706020507" pitchFamily="18" charset="2"/>
              </a:rPr>
              <a:t>: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  <a:sym typeface="Symbol" panose="05050102010706020507" pitchFamily="18" charset="2"/>
              </a:rPr>
              <a:t>随着任务等待时间的增长提高其优先数</a:t>
            </a:r>
            <a:r>
              <a:rPr lang="zh-CN" altLang="zh-CN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  <a:sym typeface="Symbol" panose="05050102010706020507" pitchFamily="18" charset="2"/>
              </a:rPr>
              <a:t>（老化</a:t>
            </a:r>
            <a:r>
              <a:rPr lang="en-US" altLang="zh-CN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  <a:sym typeface="Symbol" panose="05050102010706020507" pitchFamily="18" charset="2"/>
              </a:rPr>
              <a:t>Aging 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  <a:sym typeface="Symbol" panose="05050102010706020507" pitchFamily="18" charset="2"/>
              </a:rPr>
              <a:t>）</a:t>
            </a:r>
            <a:endParaRPr lang="en-US" altLang="zh-CN" sz="3200" dirty="0">
              <a:solidFill>
                <a:schemeClr val="bg2"/>
              </a:solidFill>
              <a:effectLst/>
              <a:latin typeface="+mj-lt"/>
              <a:ea typeface="楷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6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7" name="文本框 6"/>
          <p:cNvSpPr txBox="1"/>
          <p:nvPr/>
        </p:nvSpPr>
        <p:spPr>
          <a:xfrm>
            <a:off x="7828509" y="28821"/>
            <a:ext cx="13353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bg2"/>
                </a:solidFill>
                <a:latin typeface="+mn-lt"/>
              </a:rPr>
              <a:t>教材</a:t>
            </a:r>
            <a:r>
              <a:rPr lang="en-US" altLang="zh-CN" sz="2000" dirty="0" smtClean="0">
                <a:solidFill>
                  <a:schemeClr val="bg2"/>
                </a:solidFill>
                <a:latin typeface="+mn-lt"/>
              </a:rPr>
              <a:t>P187 </a:t>
            </a:r>
            <a:endParaRPr lang="zh-CN" altLang="en-US" sz="2000" dirty="0">
              <a:solidFill>
                <a:schemeClr val="bg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1471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">
            <a:extLst>
              <a:ext uri="{FF2B5EF4-FFF2-40B4-BE49-F238E27FC236}">
                <a16:creationId xmlns:a16="http://schemas.microsoft.com/office/drawing/2014/main" id="{6263479B-CA37-4788-9F3C-0D3B60661F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36712"/>
            <a:ext cx="9144000" cy="4770537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chemeClr val="bg2"/>
                </a:solidFill>
              </a:rPr>
              <a:t>[</a:t>
            </a:r>
            <a:r>
              <a:rPr lang="zh-CN" altLang="en-US" b="1" dirty="0">
                <a:solidFill>
                  <a:schemeClr val="bg2"/>
                </a:solidFill>
              </a:rPr>
              <a:t>例</a:t>
            </a:r>
            <a:r>
              <a:rPr lang="en-US" altLang="zh-CN" b="1" dirty="0">
                <a:solidFill>
                  <a:schemeClr val="bg2"/>
                </a:solidFill>
              </a:rPr>
              <a:t>]</a:t>
            </a:r>
            <a:r>
              <a:rPr lang="zh-CN" altLang="en-US" b="1" dirty="0">
                <a:solidFill>
                  <a:schemeClr val="bg2"/>
                </a:solidFill>
              </a:rPr>
              <a:t>已知：</a:t>
            </a:r>
            <a:r>
              <a:rPr lang="en-US" altLang="zh-CN" b="1" dirty="0">
                <a:solidFill>
                  <a:schemeClr val="bg2"/>
                </a:solidFill>
              </a:rPr>
              <a:t>X , Y , Z </a:t>
            </a:r>
            <a:r>
              <a:rPr lang="zh-CN" altLang="en-US" b="1" dirty="0">
                <a:solidFill>
                  <a:schemeClr val="bg2"/>
                </a:solidFill>
              </a:rPr>
              <a:t>三程序中，</a:t>
            </a:r>
            <a:r>
              <a:rPr lang="en-US" altLang="zh-CN" b="1" dirty="0">
                <a:solidFill>
                  <a:schemeClr val="bg2"/>
                </a:solidFill>
              </a:rPr>
              <a:t>X</a:t>
            </a:r>
            <a:r>
              <a:rPr lang="zh-CN" altLang="en-US" b="1" dirty="0">
                <a:solidFill>
                  <a:schemeClr val="bg2"/>
                </a:solidFill>
              </a:rPr>
              <a:t>程序的优先级最高；</a:t>
            </a:r>
            <a:r>
              <a:rPr lang="en-US" altLang="zh-CN" b="1" dirty="0">
                <a:solidFill>
                  <a:schemeClr val="bg2"/>
                </a:solidFill>
              </a:rPr>
              <a:t>Y</a:t>
            </a:r>
            <a:r>
              <a:rPr lang="zh-CN" altLang="en-US" b="1" dirty="0">
                <a:solidFill>
                  <a:schemeClr val="bg2"/>
                </a:solidFill>
              </a:rPr>
              <a:t>程序的优先级次高；</a:t>
            </a:r>
            <a:r>
              <a:rPr lang="en-US" altLang="zh-CN" b="1" dirty="0">
                <a:solidFill>
                  <a:schemeClr val="bg2"/>
                </a:solidFill>
              </a:rPr>
              <a:t>Z</a:t>
            </a:r>
            <a:r>
              <a:rPr lang="zh-CN" altLang="en-US" b="1" dirty="0">
                <a:solidFill>
                  <a:schemeClr val="bg2"/>
                </a:solidFill>
              </a:rPr>
              <a:t>程序的优先级最低。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</a:rPr>
              <a:t> </a:t>
            </a:r>
            <a:r>
              <a:rPr lang="en-US" altLang="zh-CN" b="1" dirty="0">
                <a:solidFill>
                  <a:schemeClr val="bg2"/>
                </a:solidFill>
              </a:rPr>
              <a:t>CPU</a:t>
            </a:r>
            <a:r>
              <a:rPr lang="zh-CN" altLang="en-US" b="1" dirty="0">
                <a:solidFill>
                  <a:schemeClr val="bg2"/>
                </a:solidFill>
              </a:rPr>
              <a:t>是可抢占的资源，</a:t>
            </a:r>
            <a:r>
              <a:rPr lang="en-US" altLang="zh-CN" b="1" dirty="0">
                <a:solidFill>
                  <a:schemeClr val="bg2"/>
                </a:solidFill>
              </a:rPr>
              <a:t>IO</a:t>
            </a:r>
            <a:r>
              <a:rPr lang="zh-CN" altLang="en-US" b="1" dirty="0">
                <a:solidFill>
                  <a:schemeClr val="bg2"/>
                </a:solidFill>
              </a:rPr>
              <a:t>设备是不可抢占的。</a:t>
            </a:r>
            <a:endParaRPr lang="en-US" altLang="zh-CN" b="1" dirty="0">
              <a:solidFill>
                <a:schemeClr val="bg2"/>
              </a:solidFill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chemeClr val="bg2"/>
                </a:solidFill>
              </a:rPr>
              <a:t>问：三道程序，哪个最先结束？哪个最后结束</a:t>
            </a:r>
            <a:r>
              <a:rPr lang="zh-CN" altLang="en-US" sz="2400" dirty="0">
                <a:solidFill>
                  <a:schemeClr val="bg2"/>
                </a:solidFill>
              </a:rPr>
              <a:t> </a:t>
            </a:r>
            <a:r>
              <a:rPr lang="zh-CN" altLang="en-US" dirty="0">
                <a:solidFill>
                  <a:schemeClr val="bg2"/>
                </a:solidFill>
              </a:rPr>
              <a:t>？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chemeClr val="bg2"/>
                </a:solidFill>
              </a:rPr>
              <a:t>         它们的结束时间分别是多少？</a:t>
            </a:r>
            <a:endParaRPr lang="en-US" altLang="zh-CN" dirty="0">
              <a:solidFill>
                <a:schemeClr val="bg2"/>
              </a:solidFill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dirty="0">
                <a:solidFill>
                  <a:schemeClr val="bg2"/>
                </a:solidFill>
              </a:rPr>
              <a:t>         </a:t>
            </a:r>
            <a:r>
              <a:rPr lang="zh-CN" altLang="en-US" dirty="0" smtClean="0">
                <a:solidFill>
                  <a:schemeClr val="bg2"/>
                </a:solidFill>
              </a:rPr>
              <a:t>多道程序设计</a:t>
            </a:r>
            <a:r>
              <a:rPr lang="zh-CN" altLang="en-US" dirty="0">
                <a:solidFill>
                  <a:schemeClr val="bg2"/>
                </a:solidFill>
              </a:rPr>
              <a:t>环境下的</a:t>
            </a:r>
            <a:r>
              <a:rPr lang="en-US" altLang="zh-CN" dirty="0">
                <a:solidFill>
                  <a:schemeClr val="bg2"/>
                </a:solidFill>
              </a:rPr>
              <a:t>CPU </a:t>
            </a:r>
            <a:r>
              <a:rPr lang="zh-CN" altLang="en-US" dirty="0">
                <a:solidFill>
                  <a:schemeClr val="bg2"/>
                </a:solidFill>
              </a:rPr>
              <a:t>的利用率？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chemeClr val="bg2"/>
                </a:solidFill>
              </a:rPr>
              <a:t>         两种设备分别的利用率呢？</a:t>
            </a:r>
            <a:endParaRPr lang="en-US" altLang="zh-CN" b="1" dirty="0">
              <a:solidFill>
                <a:schemeClr val="bg2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3E2C4CC-3619-472F-B87B-F47D4C7ABDB9}"/>
              </a:ext>
            </a:extLst>
          </p:cNvPr>
          <p:cNvSpPr/>
          <p:nvPr/>
        </p:nvSpPr>
        <p:spPr>
          <a:xfrm>
            <a:off x="1655676" y="0"/>
            <a:ext cx="583264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zh-CN" altLang="en-US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pitchFamily="34" charset="-128"/>
              </a:rPr>
              <a:t>优先级调度</a:t>
            </a:r>
            <a:r>
              <a:rPr lang="zh-CN" altLang="en-US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pitchFamily="34" charset="-128"/>
                <a:sym typeface="Symbol" panose="05050102010706020507" pitchFamily="18" charset="2"/>
              </a:rPr>
              <a:t>实例 </a:t>
            </a:r>
            <a:r>
              <a:rPr lang="en-US" altLang="zh-CN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pitchFamily="34" charset="-128"/>
                <a:sym typeface="Symbol" panose="05050102010706020507" pitchFamily="18" charset="2"/>
              </a:rPr>
              <a:t>1</a:t>
            </a:r>
            <a:endParaRPr lang="zh-CN" altLang="en-US" sz="4000" dirty="0">
              <a:solidFill>
                <a:srgbClr val="0066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48463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BCEFE4F-888E-4205-8FFA-BAF4EE965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 </a:t>
            </a:r>
            <a:fld id="{AA9BF305-28BD-41C0-8AA3-BF5601F9D25F}" type="slidenum">
              <a:rPr lang="zh-CN" altLang="en-US" smtClean="0"/>
              <a:pPr>
                <a:defRPr/>
              </a:pPr>
              <a:t>21</a:t>
            </a:fld>
            <a:r>
              <a:rPr lang="zh-CN" altLang="en-US"/>
              <a:t> 页</a:t>
            </a:r>
          </a:p>
        </p:txBody>
      </p:sp>
      <p:graphicFrame>
        <p:nvGraphicFramePr>
          <p:cNvPr id="5" name="Group 2">
            <a:extLst>
              <a:ext uri="{FF2B5EF4-FFF2-40B4-BE49-F238E27FC236}">
                <a16:creationId xmlns:a16="http://schemas.microsoft.com/office/drawing/2014/main" id="{7CD3AC58-5447-4571-AC5B-F477921877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4344921"/>
              </p:ext>
            </p:extLst>
          </p:nvPr>
        </p:nvGraphicFramePr>
        <p:xfrm>
          <a:off x="323850" y="404812"/>
          <a:ext cx="7600950" cy="2287588"/>
        </p:xfrm>
        <a:graphic>
          <a:graphicData uri="http://schemas.openxmlformats.org/drawingml/2006/table">
            <a:tbl>
              <a:tblPr/>
              <a:tblGrid>
                <a:gridCol w="1085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程序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IO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60ms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CPU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20ms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IO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30ms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CPU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10ms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IO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40ms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CPU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20ms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程序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IO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30ms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CPU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40ms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IO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70ms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CPU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30ms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IO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30ms</a:t>
                      </a: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程序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Z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CPU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40ms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IO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60ms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CPU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30ms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IO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70ms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Box 40">
            <a:extLst>
              <a:ext uri="{FF2B5EF4-FFF2-40B4-BE49-F238E27FC236}">
                <a16:creationId xmlns:a16="http://schemas.microsoft.com/office/drawing/2014/main" id="{09E3104E-6692-4A0C-ADD7-00D72DFE68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852738"/>
            <a:ext cx="914400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chemeClr val="bg2"/>
                </a:solidFill>
              </a:rPr>
              <a:t>时间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chemeClr val="bg2"/>
                </a:solidFill>
              </a:rPr>
              <a:t>（</a:t>
            </a:r>
            <a:r>
              <a:rPr lang="en-US" altLang="zh-CN" sz="1800" b="1">
                <a:solidFill>
                  <a:schemeClr val="bg2"/>
                </a:solidFill>
              </a:rPr>
              <a:t>ms</a:t>
            </a:r>
            <a:r>
              <a:rPr lang="zh-CN" altLang="en-US" sz="1800" b="1">
                <a:solidFill>
                  <a:schemeClr val="bg2"/>
                </a:solidFill>
              </a:rPr>
              <a:t>）</a:t>
            </a:r>
          </a:p>
        </p:txBody>
      </p:sp>
      <p:sp>
        <p:nvSpPr>
          <p:cNvPr id="7" name="Text Box 41">
            <a:extLst>
              <a:ext uri="{FF2B5EF4-FFF2-40B4-BE49-F238E27FC236}">
                <a16:creationId xmlns:a16="http://schemas.microsoft.com/office/drawing/2014/main" id="{AAFA73B4-4BAD-42E7-BFBC-2A4E7AE19F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200400"/>
            <a:ext cx="838200" cy="78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</a:rPr>
              <a:t>CPU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</a:rPr>
              <a:t>   IO</a:t>
            </a:r>
          </a:p>
        </p:txBody>
      </p:sp>
      <p:sp>
        <p:nvSpPr>
          <p:cNvPr id="8" name="Line 42">
            <a:extLst>
              <a:ext uri="{FF2B5EF4-FFF2-40B4-BE49-F238E27FC236}">
                <a16:creationId xmlns:a16="http://schemas.microsoft.com/office/drawing/2014/main" id="{A68C3D09-17AF-4526-A954-D2B18128773F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2819400"/>
            <a:ext cx="0" cy="3884613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43">
            <a:extLst>
              <a:ext uri="{FF2B5EF4-FFF2-40B4-BE49-F238E27FC236}">
                <a16:creationId xmlns:a16="http://schemas.microsoft.com/office/drawing/2014/main" id="{27761426-792D-484C-9917-443214A0A7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0" y="4038600"/>
            <a:ext cx="12192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10" name="Line 44">
            <a:extLst>
              <a:ext uri="{FF2B5EF4-FFF2-40B4-BE49-F238E27FC236}">
                <a16:creationId xmlns:a16="http://schemas.microsoft.com/office/drawing/2014/main" id="{AFEBC8F6-EC12-4827-807F-68BEB4DC972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52400" y="2971800"/>
            <a:ext cx="1066800" cy="10668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11" name="Line 45">
            <a:extLst>
              <a:ext uri="{FF2B5EF4-FFF2-40B4-BE49-F238E27FC236}">
                <a16:creationId xmlns:a16="http://schemas.microsoft.com/office/drawing/2014/main" id="{3A147BD2-C1D8-4036-8602-660F646307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0" y="4038600"/>
            <a:ext cx="12954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12" name="Line 46">
            <a:extLst>
              <a:ext uri="{FF2B5EF4-FFF2-40B4-BE49-F238E27FC236}">
                <a16:creationId xmlns:a16="http://schemas.microsoft.com/office/drawing/2014/main" id="{590117ED-4AAC-4907-B4C0-B355C8742A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72200" y="4038600"/>
            <a:ext cx="12954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13" name="Line 47">
            <a:extLst>
              <a:ext uri="{FF2B5EF4-FFF2-40B4-BE49-F238E27FC236}">
                <a16:creationId xmlns:a16="http://schemas.microsoft.com/office/drawing/2014/main" id="{0A8AA1D4-AC25-4CDC-A2D6-46AC308B25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5400" y="4038600"/>
            <a:ext cx="12954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14" name="Line 48">
            <a:extLst>
              <a:ext uri="{FF2B5EF4-FFF2-40B4-BE49-F238E27FC236}">
                <a16:creationId xmlns:a16="http://schemas.microsoft.com/office/drawing/2014/main" id="{A0A86D32-796F-4A82-8B82-FD522B7F6A0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10000" y="4038600"/>
            <a:ext cx="12954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15" name="Line 49">
            <a:extLst>
              <a:ext uri="{FF2B5EF4-FFF2-40B4-BE49-F238E27FC236}">
                <a16:creationId xmlns:a16="http://schemas.microsoft.com/office/drawing/2014/main" id="{3EC84A3C-196E-4736-9441-79CE989B95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14600" y="4038600"/>
            <a:ext cx="12954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16" name="Line 50">
            <a:extLst>
              <a:ext uri="{FF2B5EF4-FFF2-40B4-BE49-F238E27FC236}">
                <a16:creationId xmlns:a16="http://schemas.microsoft.com/office/drawing/2014/main" id="{BC918A64-BEEB-4CE2-963B-D8D982EF19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19200" y="4038600"/>
            <a:ext cx="12954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17" name="Line 51">
            <a:extLst>
              <a:ext uri="{FF2B5EF4-FFF2-40B4-BE49-F238E27FC236}">
                <a16:creationId xmlns:a16="http://schemas.microsoft.com/office/drawing/2014/main" id="{D6185ED1-FF39-4494-89B7-EF91231E21E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3810000"/>
            <a:ext cx="0" cy="2286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18" name="Line 52">
            <a:extLst>
              <a:ext uri="{FF2B5EF4-FFF2-40B4-BE49-F238E27FC236}">
                <a16:creationId xmlns:a16="http://schemas.microsoft.com/office/drawing/2014/main" id="{0178EC1E-740B-4C1E-93E6-7E13B0A283B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3810000"/>
            <a:ext cx="0" cy="2286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19" name="Line 53">
            <a:extLst>
              <a:ext uri="{FF2B5EF4-FFF2-40B4-BE49-F238E27FC236}">
                <a16:creationId xmlns:a16="http://schemas.microsoft.com/office/drawing/2014/main" id="{6671CF96-646C-438F-8E98-30E1114789D4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3810000"/>
            <a:ext cx="0" cy="2286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20" name="Line 54">
            <a:extLst>
              <a:ext uri="{FF2B5EF4-FFF2-40B4-BE49-F238E27FC236}">
                <a16:creationId xmlns:a16="http://schemas.microsoft.com/office/drawing/2014/main" id="{336A4D9C-9A36-48CF-AD4C-DAB57F333751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3810000"/>
            <a:ext cx="0" cy="2286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21" name="Line 55">
            <a:extLst>
              <a:ext uri="{FF2B5EF4-FFF2-40B4-BE49-F238E27FC236}">
                <a16:creationId xmlns:a16="http://schemas.microsoft.com/office/drawing/2014/main" id="{2EBD007D-7D5F-411E-8BD1-AE75355B06D6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0" y="4038600"/>
            <a:ext cx="6858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22" name="Text Box 61">
            <a:extLst>
              <a:ext uri="{FF2B5EF4-FFF2-40B4-BE49-F238E27FC236}">
                <a16:creationId xmlns:a16="http://schemas.microsoft.com/office/drawing/2014/main" id="{9241B2ED-9270-4E34-9ABD-C2E9973190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3429000"/>
            <a:ext cx="685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chemeClr val="accent2">
                    <a:lumMod val="25000"/>
                  </a:schemeClr>
                </a:solidFill>
              </a:rPr>
              <a:t>300</a:t>
            </a:r>
          </a:p>
        </p:txBody>
      </p:sp>
      <p:sp>
        <p:nvSpPr>
          <p:cNvPr id="23" name="Text Box 69">
            <a:extLst>
              <a:ext uri="{FF2B5EF4-FFF2-40B4-BE49-F238E27FC236}">
                <a16:creationId xmlns:a16="http://schemas.microsoft.com/office/drawing/2014/main" id="{C9AAF5A7-50D9-4F15-BDE7-47730A560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733800"/>
            <a:ext cx="457200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chemeClr val="bg2"/>
                </a:solidFill>
              </a:rPr>
              <a:t>30</a:t>
            </a:r>
          </a:p>
        </p:txBody>
      </p:sp>
      <p:sp>
        <p:nvSpPr>
          <p:cNvPr id="24" name="Text Box 70">
            <a:extLst>
              <a:ext uri="{FF2B5EF4-FFF2-40B4-BE49-F238E27FC236}">
                <a16:creationId xmlns:a16="http://schemas.microsoft.com/office/drawing/2014/main" id="{8EAF2873-C952-422E-BD9F-D6326EA1B8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3733800"/>
            <a:ext cx="457200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chemeClr val="bg2"/>
                </a:solidFill>
              </a:rPr>
              <a:t>60</a:t>
            </a:r>
          </a:p>
        </p:txBody>
      </p:sp>
      <p:sp>
        <p:nvSpPr>
          <p:cNvPr id="25" name="Text Box 71">
            <a:extLst>
              <a:ext uri="{FF2B5EF4-FFF2-40B4-BE49-F238E27FC236}">
                <a16:creationId xmlns:a16="http://schemas.microsoft.com/office/drawing/2014/main" id="{DA70C9D1-5EE8-4E35-8D54-89C648D42F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3733800"/>
            <a:ext cx="457200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chemeClr val="bg2"/>
                </a:solidFill>
              </a:rPr>
              <a:t>80</a:t>
            </a:r>
          </a:p>
        </p:txBody>
      </p:sp>
      <p:sp>
        <p:nvSpPr>
          <p:cNvPr id="26" name="Text Box 72">
            <a:extLst>
              <a:ext uri="{FF2B5EF4-FFF2-40B4-BE49-F238E27FC236}">
                <a16:creationId xmlns:a16="http://schemas.microsoft.com/office/drawing/2014/main" id="{E59C4A2E-3CDC-4471-9739-2524FF683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3733800"/>
            <a:ext cx="457200" cy="3460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chemeClr val="bg2"/>
                </a:solidFill>
              </a:rPr>
              <a:t>90</a:t>
            </a:r>
          </a:p>
        </p:txBody>
      </p:sp>
      <p:sp>
        <p:nvSpPr>
          <p:cNvPr id="27" name="Text Box 77">
            <a:extLst>
              <a:ext uri="{FF2B5EF4-FFF2-40B4-BE49-F238E27FC236}">
                <a16:creationId xmlns:a16="http://schemas.microsoft.com/office/drawing/2014/main" id="{85C81E3F-C084-41C8-B3AD-F0630860A1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365625"/>
            <a:ext cx="10668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chemeClr val="bg2"/>
                </a:solidFill>
              </a:rPr>
              <a:t>CPU</a:t>
            </a:r>
          </a:p>
        </p:txBody>
      </p:sp>
      <p:sp>
        <p:nvSpPr>
          <p:cNvPr id="28" name="Rectangle 78">
            <a:extLst>
              <a:ext uri="{FF2B5EF4-FFF2-40B4-BE49-F238E27FC236}">
                <a16:creationId xmlns:a16="http://schemas.microsoft.com/office/drawing/2014/main" id="{B1605D88-4EB6-4112-B760-F7D7B13CA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5181600"/>
            <a:ext cx="57785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chemeClr val="bg2"/>
                </a:solidFill>
              </a:rPr>
              <a:t>IO</a:t>
            </a:r>
            <a:r>
              <a:rPr lang="en-US" altLang="zh-CN" sz="1400" b="1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29" name="Rectangle 79">
            <a:extLst>
              <a:ext uri="{FF2B5EF4-FFF2-40B4-BE49-F238E27FC236}">
                <a16:creationId xmlns:a16="http://schemas.microsoft.com/office/drawing/2014/main" id="{6B49C573-C4D6-43C9-8EA3-2C9C048CA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6019800"/>
            <a:ext cx="57785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chemeClr val="bg2"/>
                </a:solidFill>
              </a:rPr>
              <a:t>IO</a:t>
            </a:r>
            <a:r>
              <a:rPr lang="en-US" altLang="zh-CN" sz="1400" b="1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30" name="Line 80">
            <a:extLst>
              <a:ext uri="{FF2B5EF4-FFF2-40B4-BE49-F238E27FC236}">
                <a16:creationId xmlns:a16="http://schemas.microsoft.com/office/drawing/2014/main" id="{84A392C1-80FE-442A-82E2-62030B1350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43800" y="4038600"/>
            <a:ext cx="12954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31" name="Line 81">
            <a:extLst>
              <a:ext uri="{FF2B5EF4-FFF2-40B4-BE49-F238E27FC236}">
                <a16:creationId xmlns:a16="http://schemas.microsoft.com/office/drawing/2014/main" id="{FDAD6555-B5DA-4B17-BA0A-01DE2EE8BE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43600" y="4038600"/>
            <a:ext cx="12954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32" name="Line 82">
            <a:extLst>
              <a:ext uri="{FF2B5EF4-FFF2-40B4-BE49-F238E27FC236}">
                <a16:creationId xmlns:a16="http://schemas.microsoft.com/office/drawing/2014/main" id="{258E411A-EDE8-433F-BEA0-42755488626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5400" y="4038600"/>
            <a:ext cx="12954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33" name="Line 83">
            <a:extLst>
              <a:ext uri="{FF2B5EF4-FFF2-40B4-BE49-F238E27FC236}">
                <a16:creationId xmlns:a16="http://schemas.microsoft.com/office/drawing/2014/main" id="{895C9DB4-02F5-4C58-80D8-B3355F1EBBC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10000" y="4038600"/>
            <a:ext cx="12954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34" name="Line 84">
            <a:extLst>
              <a:ext uri="{FF2B5EF4-FFF2-40B4-BE49-F238E27FC236}">
                <a16:creationId xmlns:a16="http://schemas.microsoft.com/office/drawing/2014/main" id="{CF91F867-BB7C-4736-8913-FA45D3F0D9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14600" y="4038600"/>
            <a:ext cx="12954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35" name="Line 85">
            <a:extLst>
              <a:ext uri="{FF2B5EF4-FFF2-40B4-BE49-F238E27FC236}">
                <a16:creationId xmlns:a16="http://schemas.microsoft.com/office/drawing/2014/main" id="{448DA45F-AD02-4F70-9701-DC5C0AD233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19200" y="4038600"/>
            <a:ext cx="12954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36" name="Line 86">
            <a:extLst>
              <a:ext uri="{FF2B5EF4-FFF2-40B4-BE49-F238E27FC236}">
                <a16:creationId xmlns:a16="http://schemas.microsoft.com/office/drawing/2014/main" id="{7B16457E-42BE-4F4A-999E-8D283795FE8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3810000"/>
            <a:ext cx="0" cy="2286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37" name="Line 87">
            <a:extLst>
              <a:ext uri="{FF2B5EF4-FFF2-40B4-BE49-F238E27FC236}">
                <a16:creationId xmlns:a16="http://schemas.microsoft.com/office/drawing/2014/main" id="{248AE8E9-7F97-496D-B634-80F9ED6E723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3810000"/>
            <a:ext cx="0" cy="2286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38" name="Line 88">
            <a:extLst>
              <a:ext uri="{FF2B5EF4-FFF2-40B4-BE49-F238E27FC236}">
                <a16:creationId xmlns:a16="http://schemas.microsoft.com/office/drawing/2014/main" id="{53FBA87A-AEBF-46C3-B870-C8F0E837C94C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3810000"/>
            <a:ext cx="0" cy="2286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39" name="Line 89">
            <a:extLst>
              <a:ext uri="{FF2B5EF4-FFF2-40B4-BE49-F238E27FC236}">
                <a16:creationId xmlns:a16="http://schemas.microsoft.com/office/drawing/2014/main" id="{C55003C1-C173-4AC2-8B94-B39794206CE9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3810000"/>
            <a:ext cx="0" cy="2286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40" name="Line 90">
            <a:extLst>
              <a:ext uri="{FF2B5EF4-FFF2-40B4-BE49-F238E27FC236}">
                <a16:creationId xmlns:a16="http://schemas.microsoft.com/office/drawing/2014/main" id="{AE71473E-FDAF-41F0-854E-C7235EE26BB2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3810000"/>
            <a:ext cx="0" cy="2286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41" name="Line 91">
            <a:extLst>
              <a:ext uri="{FF2B5EF4-FFF2-40B4-BE49-F238E27FC236}">
                <a16:creationId xmlns:a16="http://schemas.microsoft.com/office/drawing/2014/main" id="{8F2B4503-0609-497A-969C-BB67BABB1B57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9200" y="3810000"/>
            <a:ext cx="0" cy="2286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42" name="Line 92">
            <a:extLst>
              <a:ext uri="{FF2B5EF4-FFF2-40B4-BE49-F238E27FC236}">
                <a16:creationId xmlns:a16="http://schemas.microsoft.com/office/drawing/2014/main" id="{92592601-D03D-4E36-8C39-1D5E88B9E286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0" y="4038600"/>
            <a:ext cx="6858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43" name="Text Box 93">
            <a:extLst>
              <a:ext uri="{FF2B5EF4-FFF2-40B4-BE49-F238E27FC236}">
                <a16:creationId xmlns:a16="http://schemas.microsoft.com/office/drawing/2014/main" id="{C925D545-D2C2-485A-A639-3C4C87BC32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3429000"/>
            <a:ext cx="571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chemeClr val="accent2">
                    <a:lumMod val="25000"/>
                  </a:schemeClr>
                </a:solidFill>
              </a:rPr>
              <a:t>50</a:t>
            </a:r>
          </a:p>
        </p:txBody>
      </p:sp>
      <p:sp>
        <p:nvSpPr>
          <p:cNvPr id="44" name="Text Box 94">
            <a:extLst>
              <a:ext uri="{FF2B5EF4-FFF2-40B4-BE49-F238E27FC236}">
                <a16:creationId xmlns:a16="http://schemas.microsoft.com/office/drawing/2014/main" id="{EF05125E-4993-4D45-B1BE-0A212E9AE8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0438" y="3429000"/>
            <a:ext cx="7143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chemeClr val="accent2">
                    <a:lumMod val="25000"/>
                  </a:schemeClr>
                </a:solidFill>
              </a:rPr>
              <a:t>100</a:t>
            </a:r>
          </a:p>
        </p:txBody>
      </p:sp>
      <p:sp>
        <p:nvSpPr>
          <p:cNvPr id="45" name="Text Box 95">
            <a:extLst>
              <a:ext uri="{FF2B5EF4-FFF2-40B4-BE49-F238E27FC236}">
                <a16:creationId xmlns:a16="http://schemas.microsoft.com/office/drawing/2014/main" id="{C5C260C2-737D-49A4-8723-B6129E40B4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6313" y="3429000"/>
            <a:ext cx="6429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chemeClr val="accent2">
                    <a:lumMod val="25000"/>
                  </a:schemeClr>
                </a:solidFill>
              </a:rPr>
              <a:t>150</a:t>
            </a:r>
          </a:p>
        </p:txBody>
      </p:sp>
      <p:sp>
        <p:nvSpPr>
          <p:cNvPr id="46" name="Text Box 96">
            <a:extLst>
              <a:ext uri="{FF2B5EF4-FFF2-40B4-BE49-F238E27FC236}">
                <a16:creationId xmlns:a16="http://schemas.microsoft.com/office/drawing/2014/main" id="{A4BDA7C0-4BF8-4297-A75F-0065F26B58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0750" y="3429000"/>
            <a:ext cx="7143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chemeClr val="accent2">
                    <a:lumMod val="25000"/>
                  </a:schemeClr>
                </a:solidFill>
              </a:rPr>
              <a:t>200</a:t>
            </a:r>
          </a:p>
        </p:txBody>
      </p:sp>
      <p:sp>
        <p:nvSpPr>
          <p:cNvPr id="47" name="Text Box 97">
            <a:extLst>
              <a:ext uri="{FF2B5EF4-FFF2-40B4-BE49-F238E27FC236}">
                <a16:creationId xmlns:a16="http://schemas.microsoft.com/office/drawing/2014/main" id="{A93C30A7-5344-41BC-BE9D-A16FC9E02B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5188" y="3429000"/>
            <a:ext cx="6429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chemeClr val="accent2">
                    <a:lumMod val="25000"/>
                  </a:schemeClr>
                </a:solidFill>
              </a:rPr>
              <a:t>250</a:t>
            </a:r>
          </a:p>
        </p:txBody>
      </p:sp>
      <p:sp>
        <p:nvSpPr>
          <p:cNvPr id="48" name="Text Box 98">
            <a:extLst>
              <a:ext uri="{FF2B5EF4-FFF2-40B4-BE49-F238E27FC236}">
                <a16:creationId xmlns:a16="http://schemas.microsoft.com/office/drawing/2014/main" id="{B3F21D30-713F-48BC-8C69-56B34A688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2063" y="3714750"/>
            <a:ext cx="533400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chemeClr val="bg2"/>
                </a:solidFill>
              </a:rPr>
              <a:t>160</a:t>
            </a:r>
          </a:p>
        </p:txBody>
      </p:sp>
      <p:sp>
        <p:nvSpPr>
          <p:cNvPr id="49" name="Text Box 100">
            <a:extLst>
              <a:ext uri="{FF2B5EF4-FFF2-40B4-BE49-F238E27FC236}">
                <a16:creationId xmlns:a16="http://schemas.microsoft.com/office/drawing/2014/main" id="{62121175-6D83-407E-AF94-90BA7C77D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0" y="3714750"/>
            <a:ext cx="533400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chemeClr val="bg2"/>
                </a:solidFill>
              </a:rPr>
              <a:t>170</a:t>
            </a:r>
          </a:p>
        </p:txBody>
      </p:sp>
      <p:sp>
        <p:nvSpPr>
          <p:cNvPr id="50" name="Text Box 101">
            <a:extLst>
              <a:ext uri="{FF2B5EF4-FFF2-40B4-BE49-F238E27FC236}">
                <a16:creationId xmlns:a16="http://schemas.microsoft.com/office/drawing/2014/main" id="{B17F9146-7210-4DB4-9B51-367FB53FB7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3714750"/>
            <a:ext cx="533400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chemeClr val="bg2"/>
                </a:solidFill>
              </a:rPr>
              <a:t>110</a:t>
            </a:r>
          </a:p>
        </p:txBody>
      </p:sp>
      <p:sp>
        <p:nvSpPr>
          <p:cNvPr id="51" name="Text Box 105">
            <a:extLst>
              <a:ext uri="{FF2B5EF4-FFF2-40B4-BE49-F238E27FC236}">
                <a16:creationId xmlns:a16="http://schemas.microsoft.com/office/drawing/2014/main" id="{86C231B3-659C-4CF2-8271-80B35AE4F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2250" y="3714750"/>
            <a:ext cx="533400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chemeClr val="bg2"/>
                </a:solidFill>
              </a:rPr>
              <a:t>220</a:t>
            </a:r>
          </a:p>
        </p:txBody>
      </p:sp>
      <p:sp>
        <p:nvSpPr>
          <p:cNvPr id="52" name="Rectangle 108">
            <a:extLst>
              <a:ext uri="{FF2B5EF4-FFF2-40B4-BE49-F238E27FC236}">
                <a16:creationId xmlns:a16="http://schemas.microsoft.com/office/drawing/2014/main" id="{FE1710F6-9949-45E5-A735-4E8CC67F34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4419600"/>
            <a:ext cx="762000" cy="304800"/>
          </a:xfrm>
          <a:prstGeom prst="rect">
            <a:avLst/>
          </a:prstGeom>
          <a:solidFill>
            <a:srgbClr val="F7C0F8"/>
          </a:solidFill>
          <a:ln w="19050">
            <a:solidFill>
              <a:srgbClr val="11111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</a:rPr>
              <a:t>Z</a:t>
            </a:r>
          </a:p>
        </p:txBody>
      </p:sp>
      <p:sp>
        <p:nvSpPr>
          <p:cNvPr id="53" name="Rectangle 109">
            <a:extLst>
              <a:ext uri="{FF2B5EF4-FFF2-40B4-BE49-F238E27FC236}">
                <a16:creationId xmlns:a16="http://schemas.microsoft.com/office/drawing/2014/main" id="{B551DB3B-0433-482A-BC7A-254DE069B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419600"/>
            <a:ext cx="762000" cy="304800"/>
          </a:xfrm>
          <a:prstGeom prst="rect">
            <a:avLst/>
          </a:prstGeom>
          <a:solidFill>
            <a:srgbClr val="F7C0F8"/>
          </a:solidFill>
          <a:ln w="19050">
            <a:solidFill>
              <a:srgbClr val="11111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</a:rPr>
              <a:t>Y</a:t>
            </a:r>
          </a:p>
        </p:txBody>
      </p:sp>
      <p:sp>
        <p:nvSpPr>
          <p:cNvPr id="54" name="Rectangle 110">
            <a:extLst>
              <a:ext uri="{FF2B5EF4-FFF2-40B4-BE49-F238E27FC236}">
                <a16:creationId xmlns:a16="http://schemas.microsoft.com/office/drawing/2014/main" id="{18847CC0-1BFC-4F8C-9866-7DC620EA3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419600"/>
            <a:ext cx="457200" cy="304800"/>
          </a:xfrm>
          <a:prstGeom prst="rect">
            <a:avLst/>
          </a:prstGeom>
          <a:solidFill>
            <a:srgbClr val="F7C0F8"/>
          </a:solidFill>
          <a:ln w="19050">
            <a:solidFill>
              <a:srgbClr val="11111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</a:rPr>
              <a:t>X</a:t>
            </a:r>
          </a:p>
        </p:txBody>
      </p:sp>
      <p:sp>
        <p:nvSpPr>
          <p:cNvPr id="55" name="Rectangle 111">
            <a:extLst>
              <a:ext uri="{FF2B5EF4-FFF2-40B4-BE49-F238E27FC236}">
                <a16:creationId xmlns:a16="http://schemas.microsoft.com/office/drawing/2014/main" id="{E109D3FD-F5A6-4FD7-9E20-58A1B17BB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419600"/>
            <a:ext cx="304800" cy="304800"/>
          </a:xfrm>
          <a:prstGeom prst="rect">
            <a:avLst/>
          </a:prstGeom>
          <a:solidFill>
            <a:srgbClr val="F7C0F8"/>
          </a:solidFill>
          <a:ln w="19050">
            <a:solidFill>
              <a:srgbClr val="11111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</a:rPr>
              <a:t>Y</a:t>
            </a:r>
          </a:p>
        </p:txBody>
      </p:sp>
      <p:sp>
        <p:nvSpPr>
          <p:cNvPr id="56" name="Rectangle 112">
            <a:extLst>
              <a:ext uri="{FF2B5EF4-FFF2-40B4-BE49-F238E27FC236}">
                <a16:creationId xmlns:a16="http://schemas.microsoft.com/office/drawing/2014/main" id="{C0107DDA-7990-48C6-ACE0-1BCDA774A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4419600"/>
            <a:ext cx="304800" cy="304800"/>
          </a:xfrm>
          <a:prstGeom prst="rect">
            <a:avLst/>
          </a:prstGeom>
          <a:solidFill>
            <a:srgbClr val="F7C0F8"/>
          </a:solidFill>
          <a:ln w="19050">
            <a:solidFill>
              <a:srgbClr val="11111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</a:rPr>
              <a:t>Z</a:t>
            </a:r>
          </a:p>
        </p:txBody>
      </p:sp>
      <p:sp>
        <p:nvSpPr>
          <p:cNvPr id="57" name="Rectangle 113">
            <a:extLst>
              <a:ext uri="{FF2B5EF4-FFF2-40B4-BE49-F238E27FC236}">
                <a16:creationId xmlns:a16="http://schemas.microsoft.com/office/drawing/2014/main" id="{09887B47-0C49-4931-B5EE-9E39883C0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4419600"/>
            <a:ext cx="304800" cy="304800"/>
          </a:xfrm>
          <a:prstGeom prst="rect">
            <a:avLst/>
          </a:prstGeom>
          <a:solidFill>
            <a:srgbClr val="F7C0F8"/>
          </a:solidFill>
          <a:ln w="19050">
            <a:solidFill>
              <a:srgbClr val="11111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</a:rPr>
              <a:t>X</a:t>
            </a:r>
          </a:p>
        </p:txBody>
      </p:sp>
      <p:sp>
        <p:nvSpPr>
          <p:cNvPr id="58" name="Rectangle 114">
            <a:extLst>
              <a:ext uri="{FF2B5EF4-FFF2-40B4-BE49-F238E27FC236}">
                <a16:creationId xmlns:a16="http://schemas.microsoft.com/office/drawing/2014/main" id="{6136045C-E14B-4BA2-BA1F-7FA6F24A55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419600"/>
            <a:ext cx="762000" cy="304800"/>
          </a:xfrm>
          <a:prstGeom prst="rect">
            <a:avLst/>
          </a:prstGeom>
          <a:solidFill>
            <a:srgbClr val="F7C0F8"/>
          </a:solidFill>
          <a:ln w="19050">
            <a:solidFill>
              <a:srgbClr val="11111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</a:rPr>
              <a:t>Y</a:t>
            </a:r>
          </a:p>
        </p:txBody>
      </p:sp>
      <p:sp>
        <p:nvSpPr>
          <p:cNvPr id="59" name="Rectangle 115">
            <a:extLst>
              <a:ext uri="{FF2B5EF4-FFF2-40B4-BE49-F238E27FC236}">
                <a16:creationId xmlns:a16="http://schemas.microsoft.com/office/drawing/2014/main" id="{4F3D5CCD-AA2A-4A2A-A0F7-B1C740DAF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419600"/>
            <a:ext cx="457200" cy="304800"/>
          </a:xfrm>
          <a:prstGeom prst="rect">
            <a:avLst/>
          </a:prstGeom>
          <a:solidFill>
            <a:srgbClr val="F7C0F8"/>
          </a:solidFill>
          <a:ln w="19050">
            <a:solidFill>
              <a:srgbClr val="11111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</a:rPr>
              <a:t>Z</a:t>
            </a:r>
          </a:p>
        </p:txBody>
      </p:sp>
      <p:sp>
        <p:nvSpPr>
          <p:cNvPr id="60" name="Rectangle 116">
            <a:extLst>
              <a:ext uri="{FF2B5EF4-FFF2-40B4-BE49-F238E27FC236}">
                <a16:creationId xmlns:a16="http://schemas.microsoft.com/office/drawing/2014/main" id="{5F2FC4AF-7B9B-4CF5-902F-268FB9186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419600"/>
            <a:ext cx="457200" cy="304800"/>
          </a:xfrm>
          <a:prstGeom prst="rect">
            <a:avLst/>
          </a:prstGeom>
          <a:solidFill>
            <a:srgbClr val="F7C0F8"/>
          </a:solidFill>
          <a:ln w="19050">
            <a:solidFill>
              <a:srgbClr val="11111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</a:rPr>
              <a:t>X</a:t>
            </a:r>
          </a:p>
        </p:txBody>
      </p:sp>
      <p:sp>
        <p:nvSpPr>
          <p:cNvPr id="61" name="Rectangle 117">
            <a:extLst>
              <a:ext uri="{FF2B5EF4-FFF2-40B4-BE49-F238E27FC236}">
                <a16:creationId xmlns:a16="http://schemas.microsoft.com/office/drawing/2014/main" id="{66AF440C-8ACC-4986-8789-938CA4A52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419600"/>
            <a:ext cx="304800" cy="304800"/>
          </a:xfrm>
          <a:prstGeom prst="rect">
            <a:avLst/>
          </a:prstGeom>
          <a:solidFill>
            <a:srgbClr val="F7C0F8"/>
          </a:solidFill>
          <a:ln w="19050">
            <a:solidFill>
              <a:srgbClr val="11111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</a:rPr>
              <a:t>Z</a:t>
            </a:r>
          </a:p>
        </p:txBody>
      </p:sp>
      <p:sp>
        <p:nvSpPr>
          <p:cNvPr id="62" name="Rectangle 119">
            <a:extLst>
              <a:ext uri="{FF2B5EF4-FFF2-40B4-BE49-F238E27FC236}">
                <a16:creationId xmlns:a16="http://schemas.microsoft.com/office/drawing/2014/main" id="{74BED99B-B980-44A2-8A42-0ACCE9501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5257800"/>
            <a:ext cx="914400" cy="304800"/>
          </a:xfrm>
          <a:prstGeom prst="rect">
            <a:avLst/>
          </a:prstGeom>
          <a:solidFill>
            <a:srgbClr val="FFCC00"/>
          </a:solidFill>
          <a:ln w="19050">
            <a:solidFill>
              <a:srgbClr val="11111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</a:rPr>
              <a:t>X</a:t>
            </a:r>
          </a:p>
        </p:txBody>
      </p:sp>
      <p:sp>
        <p:nvSpPr>
          <p:cNvPr id="63" name="Rectangle 120">
            <a:extLst>
              <a:ext uri="{FF2B5EF4-FFF2-40B4-BE49-F238E27FC236}">
                <a16:creationId xmlns:a16="http://schemas.microsoft.com/office/drawing/2014/main" id="{BA083D4C-7C13-470E-80E0-893446208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5257800"/>
            <a:ext cx="1600200" cy="304800"/>
          </a:xfrm>
          <a:prstGeom prst="rect">
            <a:avLst/>
          </a:prstGeom>
          <a:solidFill>
            <a:srgbClr val="FFCC00"/>
          </a:solidFill>
          <a:ln w="19050">
            <a:solidFill>
              <a:srgbClr val="11111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</a:rPr>
              <a:t>Z</a:t>
            </a:r>
          </a:p>
        </p:txBody>
      </p:sp>
      <p:sp>
        <p:nvSpPr>
          <p:cNvPr id="64" name="Rectangle 121">
            <a:extLst>
              <a:ext uri="{FF2B5EF4-FFF2-40B4-BE49-F238E27FC236}">
                <a16:creationId xmlns:a16="http://schemas.microsoft.com/office/drawing/2014/main" id="{D8FE020A-016F-4A41-A791-570F67584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5257800"/>
            <a:ext cx="838200" cy="304800"/>
          </a:xfrm>
          <a:prstGeom prst="rect">
            <a:avLst/>
          </a:prstGeom>
          <a:solidFill>
            <a:srgbClr val="FFCC00"/>
          </a:solidFill>
          <a:ln w="19050">
            <a:solidFill>
              <a:srgbClr val="11111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</a:rPr>
              <a:t>X</a:t>
            </a:r>
          </a:p>
        </p:txBody>
      </p:sp>
      <p:sp>
        <p:nvSpPr>
          <p:cNvPr id="65" name="Rectangle 122">
            <a:extLst>
              <a:ext uri="{FF2B5EF4-FFF2-40B4-BE49-F238E27FC236}">
                <a16:creationId xmlns:a16="http://schemas.microsoft.com/office/drawing/2014/main" id="{BE0AECF3-80E8-4FD3-BB3A-5629D08877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5257800"/>
            <a:ext cx="762000" cy="304800"/>
          </a:xfrm>
          <a:prstGeom prst="rect">
            <a:avLst/>
          </a:prstGeom>
          <a:solidFill>
            <a:srgbClr val="FFCC00"/>
          </a:solidFill>
          <a:ln w="19050">
            <a:solidFill>
              <a:srgbClr val="11111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</a:rPr>
              <a:t>Y</a:t>
            </a:r>
          </a:p>
        </p:txBody>
      </p:sp>
      <p:sp>
        <p:nvSpPr>
          <p:cNvPr id="66" name="Rectangle 123">
            <a:extLst>
              <a:ext uri="{FF2B5EF4-FFF2-40B4-BE49-F238E27FC236}">
                <a16:creationId xmlns:a16="http://schemas.microsoft.com/office/drawing/2014/main" id="{1C34FC28-3CE4-4460-ACB5-61956D8DE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6096000"/>
            <a:ext cx="1524000" cy="304800"/>
          </a:xfrm>
          <a:prstGeom prst="rect">
            <a:avLst/>
          </a:prstGeom>
          <a:solidFill>
            <a:srgbClr val="CCFF33"/>
          </a:solidFill>
          <a:ln w="19050">
            <a:solidFill>
              <a:srgbClr val="FECEEE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</a:rPr>
              <a:t>X</a:t>
            </a:r>
          </a:p>
        </p:txBody>
      </p:sp>
      <p:sp>
        <p:nvSpPr>
          <p:cNvPr id="67" name="Rectangle 124">
            <a:extLst>
              <a:ext uri="{FF2B5EF4-FFF2-40B4-BE49-F238E27FC236}">
                <a16:creationId xmlns:a16="http://schemas.microsoft.com/office/drawing/2014/main" id="{FB585EAD-DF2E-491B-ABF9-8A48E1E9E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6096000"/>
            <a:ext cx="1828800" cy="304800"/>
          </a:xfrm>
          <a:prstGeom prst="rect">
            <a:avLst/>
          </a:prstGeom>
          <a:solidFill>
            <a:srgbClr val="CCFF33"/>
          </a:solidFill>
          <a:ln w="19050">
            <a:solidFill>
              <a:srgbClr val="FECEEE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</a:rPr>
              <a:t>Y</a:t>
            </a:r>
          </a:p>
        </p:txBody>
      </p:sp>
      <p:sp>
        <p:nvSpPr>
          <p:cNvPr id="68" name="Rectangle 125">
            <a:extLst>
              <a:ext uri="{FF2B5EF4-FFF2-40B4-BE49-F238E27FC236}">
                <a16:creationId xmlns:a16="http://schemas.microsoft.com/office/drawing/2014/main" id="{39784C94-D853-49E3-8FE3-D3B9CABE3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6096000"/>
            <a:ext cx="685800" cy="304800"/>
          </a:xfrm>
          <a:prstGeom prst="rect">
            <a:avLst/>
          </a:prstGeom>
          <a:solidFill>
            <a:srgbClr val="CCFF33"/>
          </a:solidFill>
          <a:ln w="19050">
            <a:solidFill>
              <a:srgbClr val="FECEEE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</a:rPr>
              <a:t>Y</a:t>
            </a:r>
          </a:p>
        </p:txBody>
      </p:sp>
      <p:sp>
        <p:nvSpPr>
          <p:cNvPr id="69" name="Rectangle 126">
            <a:extLst>
              <a:ext uri="{FF2B5EF4-FFF2-40B4-BE49-F238E27FC236}">
                <a16:creationId xmlns:a16="http://schemas.microsoft.com/office/drawing/2014/main" id="{A234B042-6380-49F4-A94F-72396C4EC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6096000"/>
            <a:ext cx="1828800" cy="304800"/>
          </a:xfrm>
          <a:prstGeom prst="rect">
            <a:avLst/>
          </a:prstGeom>
          <a:solidFill>
            <a:srgbClr val="CCFF33"/>
          </a:solidFill>
          <a:ln w="19050">
            <a:solidFill>
              <a:srgbClr val="FECEEE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</a:rPr>
              <a:t>Z</a:t>
            </a:r>
          </a:p>
        </p:txBody>
      </p:sp>
      <p:sp>
        <p:nvSpPr>
          <p:cNvPr id="70" name="Line 127">
            <a:extLst>
              <a:ext uri="{FF2B5EF4-FFF2-40B4-BE49-F238E27FC236}">
                <a16:creationId xmlns:a16="http://schemas.microsoft.com/office/drawing/2014/main" id="{470EEC60-955A-4FF0-860F-CE96985F09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1200" y="4724400"/>
            <a:ext cx="0" cy="5334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Line 129">
            <a:extLst>
              <a:ext uri="{FF2B5EF4-FFF2-40B4-BE49-F238E27FC236}">
                <a16:creationId xmlns:a16="http://schemas.microsoft.com/office/drawing/2014/main" id="{0DB52FB8-D57F-495B-BF1F-FB15B5E64B2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3200" y="4724400"/>
            <a:ext cx="0" cy="5334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Line 130">
            <a:extLst>
              <a:ext uri="{FF2B5EF4-FFF2-40B4-BE49-F238E27FC236}">
                <a16:creationId xmlns:a16="http://schemas.microsoft.com/office/drawing/2014/main" id="{F364387F-C2CE-40D1-802B-D846B95A0C0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4724400"/>
            <a:ext cx="0" cy="5334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Line 131">
            <a:extLst>
              <a:ext uri="{FF2B5EF4-FFF2-40B4-BE49-F238E27FC236}">
                <a16:creationId xmlns:a16="http://schemas.microsoft.com/office/drawing/2014/main" id="{112AE0F6-D54D-4093-A8EB-739478D8FC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8600" y="4724400"/>
            <a:ext cx="0" cy="5334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Line 134">
            <a:extLst>
              <a:ext uri="{FF2B5EF4-FFF2-40B4-BE49-F238E27FC236}">
                <a16:creationId xmlns:a16="http://schemas.microsoft.com/office/drawing/2014/main" id="{7880EBAA-F434-45C1-9B2E-D41F0DC0C006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4724400"/>
            <a:ext cx="0" cy="1368425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5" name="组合 107">
            <a:extLst>
              <a:ext uri="{FF2B5EF4-FFF2-40B4-BE49-F238E27FC236}">
                <a16:creationId xmlns:a16="http://schemas.microsoft.com/office/drawing/2014/main" id="{772A7558-D2AC-4C04-9D6B-3B838E2D745F}"/>
              </a:ext>
            </a:extLst>
          </p:cNvPr>
          <p:cNvGrpSpPr>
            <a:grpSpLocks/>
          </p:cNvGrpSpPr>
          <p:nvPr/>
        </p:nvGrpSpPr>
        <p:grpSpPr bwMode="auto">
          <a:xfrm>
            <a:off x="6084888" y="4724400"/>
            <a:ext cx="11112" cy="1398588"/>
            <a:chOff x="6084888" y="4724400"/>
            <a:chExt cx="11112" cy="1398588"/>
          </a:xfrm>
        </p:grpSpPr>
        <p:sp>
          <p:nvSpPr>
            <p:cNvPr id="76" name="Line 132">
              <a:extLst>
                <a:ext uri="{FF2B5EF4-FFF2-40B4-BE49-F238E27FC236}">
                  <a16:creationId xmlns:a16="http://schemas.microsoft.com/office/drawing/2014/main" id="{32DF1303-BBB3-451C-B9BD-CE134CBB07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96000" y="4724400"/>
              <a:ext cx="0" cy="53340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Line 135">
              <a:extLst>
                <a:ext uri="{FF2B5EF4-FFF2-40B4-BE49-F238E27FC236}">
                  <a16:creationId xmlns:a16="http://schemas.microsoft.com/office/drawing/2014/main" id="{61569736-D76E-4C45-BE2B-B5314AD0ED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84888" y="5589588"/>
              <a:ext cx="0" cy="53340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8" name="Line 138">
            <a:extLst>
              <a:ext uri="{FF2B5EF4-FFF2-40B4-BE49-F238E27FC236}">
                <a16:creationId xmlns:a16="http://schemas.microsoft.com/office/drawing/2014/main" id="{B284BE02-6C0C-4FF9-8B8B-C2FD918DD5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43200" y="4724400"/>
            <a:ext cx="0" cy="13716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9" name="组合 106">
            <a:extLst>
              <a:ext uri="{FF2B5EF4-FFF2-40B4-BE49-F238E27FC236}">
                <a16:creationId xmlns:a16="http://schemas.microsoft.com/office/drawing/2014/main" id="{0C663817-33B3-47FD-AF73-27E6F42355EA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4724400"/>
            <a:ext cx="0" cy="1371600"/>
            <a:chOff x="5334000" y="4724400"/>
            <a:chExt cx="0" cy="1371600"/>
          </a:xfrm>
        </p:grpSpPr>
        <p:sp>
          <p:nvSpPr>
            <p:cNvPr id="80" name="Line 128">
              <a:extLst>
                <a:ext uri="{FF2B5EF4-FFF2-40B4-BE49-F238E27FC236}">
                  <a16:creationId xmlns:a16="http://schemas.microsoft.com/office/drawing/2014/main" id="{450B11CC-FB89-4390-BD03-378F49D220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34000" y="4724400"/>
              <a:ext cx="0" cy="53340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Line 139">
              <a:extLst>
                <a:ext uri="{FF2B5EF4-FFF2-40B4-BE49-F238E27FC236}">
                  <a16:creationId xmlns:a16="http://schemas.microsoft.com/office/drawing/2014/main" id="{D9FB30C6-8DE2-4D9D-853D-E992992241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34000" y="5562600"/>
              <a:ext cx="0" cy="53340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2" name="组合 105">
            <a:extLst>
              <a:ext uri="{FF2B5EF4-FFF2-40B4-BE49-F238E27FC236}">
                <a16:creationId xmlns:a16="http://schemas.microsoft.com/office/drawing/2014/main" id="{85693E56-647A-43A6-B379-2CFA63C4A624}"/>
              </a:ext>
            </a:extLst>
          </p:cNvPr>
          <p:cNvGrpSpPr>
            <a:grpSpLocks/>
          </p:cNvGrpSpPr>
          <p:nvPr/>
        </p:nvGrpSpPr>
        <p:grpSpPr bwMode="auto">
          <a:xfrm>
            <a:off x="3492500" y="4724400"/>
            <a:ext cx="12700" cy="1371600"/>
            <a:chOff x="3492500" y="4724400"/>
            <a:chExt cx="12700" cy="1371600"/>
          </a:xfrm>
        </p:grpSpPr>
        <p:sp>
          <p:nvSpPr>
            <p:cNvPr id="83" name="Line 137">
              <a:extLst>
                <a:ext uri="{FF2B5EF4-FFF2-40B4-BE49-F238E27FC236}">
                  <a16:creationId xmlns:a16="http://schemas.microsoft.com/office/drawing/2014/main" id="{BFCE2759-A813-4B96-96C1-4325A0C12C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5200" y="5562600"/>
              <a:ext cx="0" cy="53340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140">
              <a:extLst>
                <a:ext uri="{FF2B5EF4-FFF2-40B4-BE49-F238E27FC236}">
                  <a16:creationId xmlns:a16="http://schemas.microsoft.com/office/drawing/2014/main" id="{710C3E8B-9E7F-4134-AB13-CBDE5A9898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2500" y="4724400"/>
              <a:ext cx="0" cy="53340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5" name="Line 141">
            <a:extLst>
              <a:ext uri="{FF2B5EF4-FFF2-40B4-BE49-F238E27FC236}">
                <a16:creationId xmlns:a16="http://schemas.microsoft.com/office/drawing/2014/main" id="{B3FAB26C-5173-4E1E-8D43-30A0D77DE543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4038600"/>
            <a:ext cx="3810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86" name="Text Box 105">
            <a:extLst>
              <a:ext uri="{FF2B5EF4-FFF2-40B4-BE49-F238E27FC236}">
                <a16:creationId xmlns:a16="http://schemas.microsoft.com/office/drawing/2014/main" id="{259924AB-0038-4B0E-A915-2BEFA7FC0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1428750"/>
            <a:ext cx="533400" cy="346075"/>
          </a:xfrm>
          <a:prstGeom prst="rect">
            <a:avLst/>
          </a:prstGeom>
          <a:solidFill>
            <a:srgbClr val="F8F8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</a:rPr>
              <a:t>220</a:t>
            </a:r>
          </a:p>
        </p:txBody>
      </p:sp>
      <p:sp>
        <p:nvSpPr>
          <p:cNvPr id="87" name="Text Box 105">
            <a:extLst>
              <a:ext uri="{FF2B5EF4-FFF2-40B4-BE49-F238E27FC236}">
                <a16:creationId xmlns:a16="http://schemas.microsoft.com/office/drawing/2014/main" id="{35802659-6AFE-46A6-ACDE-AAAB9563F3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714375"/>
            <a:ext cx="533400" cy="346075"/>
          </a:xfrm>
          <a:prstGeom prst="rect">
            <a:avLst/>
          </a:prstGeom>
          <a:solidFill>
            <a:srgbClr val="F8F8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</a:rPr>
              <a:t>230</a:t>
            </a:r>
          </a:p>
        </p:txBody>
      </p:sp>
      <p:sp>
        <p:nvSpPr>
          <p:cNvPr id="88" name="Text Box 100">
            <a:extLst>
              <a:ext uri="{FF2B5EF4-FFF2-40B4-BE49-F238E27FC236}">
                <a16:creationId xmlns:a16="http://schemas.microsoft.com/office/drawing/2014/main" id="{03174994-B86E-44DB-A94B-DB749816F6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7875" y="3714750"/>
            <a:ext cx="533400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chemeClr val="bg2"/>
                </a:solidFill>
              </a:rPr>
              <a:t>190</a:t>
            </a:r>
          </a:p>
        </p:txBody>
      </p:sp>
      <p:sp>
        <p:nvSpPr>
          <p:cNvPr id="89" name="Text Box 105">
            <a:extLst>
              <a:ext uri="{FF2B5EF4-FFF2-40B4-BE49-F238E27FC236}">
                <a16:creationId xmlns:a16="http://schemas.microsoft.com/office/drawing/2014/main" id="{AA2333FE-11A9-4C6D-BDA8-9E45CA51B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0875" y="3714750"/>
            <a:ext cx="533400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chemeClr val="bg2"/>
                </a:solidFill>
              </a:rPr>
              <a:t>240</a:t>
            </a:r>
          </a:p>
        </p:txBody>
      </p:sp>
      <p:sp>
        <p:nvSpPr>
          <p:cNvPr id="90" name="Text Box 105">
            <a:extLst>
              <a:ext uri="{FF2B5EF4-FFF2-40B4-BE49-F238E27FC236}">
                <a16:creationId xmlns:a16="http://schemas.microsoft.com/office/drawing/2014/main" id="{1E76CA93-1F1B-4815-BED8-14EF4B4009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2143125"/>
            <a:ext cx="533400" cy="346075"/>
          </a:xfrm>
          <a:prstGeom prst="rect">
            <a:avLst/>
          </a:prstGeom>
          <a:solidFill>
            <a:srgbClr val="F8F8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</a:rPr>
              <a:t>310</a:t>
            </a:r>
          </a:p>
        </p:txBody>
      </p:sp>
      <p:sp>
        <p:nvSpPr>
          <p:cNvPr id="91" name="Text Box 105">
            <a:extLst>
              <a:ext uri="{FF2B5EF4-FFF2-40B4-BE49-F238E27FC236}">
                <a16:creationId xmlns:a16="http://schemas.microsoft.com/office/drawing/2014/main" id="{6ADE67D5-81DB-4C99-BF76-2870A9E21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7988" y="3994150"/>
            <a:ext cx="533400" cy="3460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chemeClr val="bg2"/>
                </a:solidFill>
              </a:rPr>
              <a:t>230</a:t>
            </a:r>
          </a:p>
        </p:txBody>
      </p:sp>
      <p:sp>
        <p:nvSpPr>
          <p:cNvPr id="92" name="Text Box 105">
            <a:extLst>
              <a:ext uri="{FF2B5EF4-FFF2-40B4-BE49-F238E27FC236}">
                <a16:creationId xmlns:a16="http://schemas.microsoft.com/office/drawing/2014/main" id="{A9D4E5E9-77CF-49F5-B46B-766891885B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9838" y="3986213"/>
            <a:ext cx="533400" cy="3460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chemeClr val="bg2"/>
                </a:solidFill>
              </a:rPr>
              <a:t>210</a:t>
            </a:r>
          </a:p>
        </p:txBody>
      </p:sp>
      <p:sp>
        <p:nvSpPr>
          <p:cNvPr id="93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538920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2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2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2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2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2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2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2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2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2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24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7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48" grpId="0"/>
      <p:bldP spid="49" grpId="0"/>
      <p:bldP spid="50" grpId="0"/>
      <p:bldP spid="51" grpId="0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8" grpId="0" animBg="1"/>
      <p:bldP spid="86" grpId="0" animBg="1"/>
      <p:bldP spid="87" grpId="0" animBg="1"/>
      <p:bldP spid="88" grpId="0"/>
      <p:bldP spid="89" grpId="0"/>
      <p:bldP spid="89" grpId="1"/>
      <p:bldP spid="90" grpId="0" animBg="1"/>
      <p:bldP spid="91" grpId="0"/>
      <p:bldP spid="91" grpId="1"/>
      <p:bldP spid="92" grpId="0"/>
      <p:bldP spid="9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E1011D0-2B5A-4359-9F28-DD7ED0BB0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19057" y="7155434"/>
            <a:ext cx="1905000" cy="196850"/>
          </a:xfrm>
        </p:spPr>
        <p:txBody>
          <a:bodyPr/>
          <a:lstStyle/>
          <a:p>
            <a:pPr>
              <a:defRPr/>
            </a:pPr>
            <a:r>
              <a:rPr lang="zh-CN" altLang="en-US"/>
              <a:t>第 </a:t>
            </a:r>
            <a:fld id="{AA9BF305-28BD-41C0-8AA3-BF5601F9D25F}" type="slidenum">
              <a:rPr lang="zh-CN" altLang="en-US" smtClean="0"/>
              <a:pPr>
                <a:defRPr/>
              </a:pPr>
              <a:t>22</a:t>
            </a:fld>
            <a:r>
              <a:rPr lang="zh-CN" altLang="en-US"/>
              <a:t> 页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542D9CE-749A-4D94-B3C0-6789D21118B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705922"/>
            <a:ext cx="9025073" cy="2274406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100" b="1" kern="0" dirty="0">
                <a:solidFill>
                  <a:srgbClr val="000000"/>
                </a:solidFill>
              </a:rPr>
              <a:t>       </a:t>
            </a:r>
            <a:r>
              <a:rPr lang="zh-CN" altLang="en-US" sz="2100" b="1" kern="0" dirty="0" smtClean="0">
                <a:solidFill>
                  <a:srgbClr val="000000"/>
                </a:solidFill>
              </a:rPr>
              <a:t>     </a:t>
            </a:r>
            <a:r>
              <a:rPr lang="zh-CN" altLang="en-US" dirty="0" smtClean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一</a:t>
            </a:r>
            <a:r>
              <a:rPr lang="zh-CN" altLang="en-US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个</a:t>
            </a:r>
            <a:r>
              <a:rPr lang="zh-CN" altLang="en-US" dirty="0">
                <a:solidFill>
                  <a:srgbClr val="FF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内存只能装入两道作业</a:t>
            </a:r>
            <a:r>
              <a:rPr lang="zh-CN" altLang="en-US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的批处理系统，</a:t>
            </a:r>
            <a:r>
              <a:rPr lang="zh-CN" altLang="en-US" dirty="0" smtClean="0">
                <a:solidFill>
                  <a:srgbClr val="FF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作业调度：短</a:t>
            </a:r>
            <a:r>
              <a:rPr lang="zh-CN" altLang="en-US" dirty="0">
                <a:solidFill>
                  <a:srgbClr val="FF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作业</a:t>
            </a:r>
            <a:r>
              <a:rPr lang="zh-CN" altLang="en-US" dirty="0" smtClean="0">
                <a:solidFill>
                  <a:srgbClr val="FF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优先</a:t>
            </a:r>
            <a:r>
              <a:rPr lang="zh-CN" altLang="en-US" dirty="0" smtClean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r>
              <a:rPr lang="zh-CN" altLang="en-US" dirty="0">
                <a:solidFill>
                  <a:srgbClr val="FF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进程调度：抢占式优先</a:t>
            </a:r>
            <a:r>
              <a:rPr lang="zh-CN" altLang="en-US" dirty="0" smtClean="0">
                <a:solidFill>
                  <a:srgbClr val="FF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数调度</a:t>
            </a:r>
            <a:r>
              <a:rPr lang="zh-CN" altLang="en-US" dirty="0" smtClean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en-US" altLang="zh-CN" dirty="0" smtClean="0">
              <a:solidFill>
                <a:schemeClr val="bg2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dirty="0" smtClean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作业</a:t>
            </a:r>
            <a:r>
              <a:rPr lang="zh-CN" altLang="en-US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到达序列如下</a:t>
            </a:r>
            <a:r>
              <a:rPr lang="zh-CN" altLang="en-US" dirty="0" smtClean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表。</a:t>
            </a:r>
            <a:r>
              <a:rPr lang="zh-CN" altLang="en-US" dirty="0" smtClean="0">
                <a:solidFill>
                  <a:srgbClr val="FF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优先</a:t>
            </a:r>
            <a:r>
              <a:rPr lang="zh-CN" altLang="en-US" dirty="0">
                <a:solidFill>
                  <a:srgbClr val="FF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数越小优先级越高</a:t>
            </a:r>
            <a:r>
              <a:rPr lang="zh-CN" altLang="en-US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grpSp>
        <p:nvGrpSpPr>
          <p:cNvPr id="5" name="Group 3">
            <a:extLst>
              <a:ext uri="{FF2B5EF4-FFF2-40B4-BE49-F238E27FC236}">
                <a16:creationId xmlns:a16="http://schemas.microsoft.com/office/drawing/2014/main" id="{460B500A-30EB-4069-8073-782A68A4F33C}"/>
              </a:ext>
            </a:extLst>
          </p:cNvPr>
          <p:cNvGrpSpPr>
            <a:grpSpLocks/>
          </p:cNvGrpSpPr>
          <p:nvPr/>
        </p:nvGrpSpPr>
        <p:grpSpPr bwMode="auto">
          <a:xfrm>
            <a:off x="904813" y="3501008"/>
            <a:ext cx="7129462" cy="1944688"/>
            <a:chOff x="657" y="1661"/>
            <a:chExt cx="4491" cy="1225"/>
          </a:xfrm>
        </p:grpSpPr>
        <p:sp>
          <p:nvSpPr>
            <p:cNvPr id="6" name="Text Box 4">
              <a:extLst>
                <a:ext uri="{FF2B5EF4-FFF2-40B4-BE49-F238E27FC236}">
                  <a16:creationId xmlns:a16="http://schemas.microsoft.com/office/drawing/2014/main" id="{2468E05B-8612-4F6E-AFF8-2C036194DB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" y="1661"/>
              <a:ext cx="44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Char char="¨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rgbClr val="000000"/>
                  </a:solidFill>
                </a:rPr>
                <a:t>作业名         作业到达时间          估计运行时间         </a:t>
              </a:r>
              <a:r>
                <a:rPr lang="zh-CN" altLang="en-US" sz="2000" dirty="0">
                  <a:solidFill>
                    <a:srgbClr val="000000"/>
                  </a:solidFill>
                </a:rPr>
                <a:t>进程</a:t>
              </a:r>
              <a:r>
                <a:rPr lang="zh-CN" altLang="en-US" sz="2000" b="1" dirty="0">
                  <a:solidFill>
                    <a:srgbClr val="000000"/>
                  </a:solidFill>
                </a:rPr>
                <a:t>优先数</a:t>
              </a:r>
            </a:p>
          </p:txBody>
        </p:sp>
        <p:sp>
          <p:nvSpPr>
            <p:cNvPr id="7" name="Text Box 5">
              <a:extLst>
                <a:ext uri="{FF2B5EF4-FFF2-40B4-BE49-F238E27FC236}">
                  <a16:creationId xmlns:a16="http://schemas.microsoft.com/office/drawing/2014/main" id="{08FD5BE9-1ABD-4D99-8426-299B803B5C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" y="1933"/>
              <a:ext cx="44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Char char="¨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solidFill>
                    <a:srgbClr val="000000"/>
                  </a:solidFill>
                </a:rPr>
                <a:t>   A                        10:00                       40</a:t>
              </a:r>
              <a:r>
                <a:rPr lang="zh-CN" altLang="en-US" sz="2000" b="1">
                  <a:solidFill>
                    <a:srgbClr val="000000"/>
                  </a:solidFill>
                </a:rPr>
                <a:t>分                      </a:t>
              </a:r>
              <a:r>
                <a:rPr lang="en-US" altLang="zh-CN" sz="2000" b="1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8" name="Text Box 6">
              <a:extLst>
                <a:ext uri="{FF2B5EF4-FFF2-40B4-BE49-F238E27FC236}">
                  <a16:creationId xmlns:a16="http://schemas.microsoft.com/office/drawing/2014/main" id="{96DC4023-C497-40F7-853E-6FAD1DB54B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" y="2160"/>
              <a:ext cx="44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Char char="¨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solidFill>
                    <a:srgbClr val="000000"/>
                  </a:solidFill>
                </a:rPr>
                <a:t>   B                        10:20                       30</a:t>
              </a:r>
              <a:r>
                <a:rPr lang="zh-CN" altLang="en-US" sz="2000" b="1">
                  <a:solidFill>
                    <a:srgbClr val="000000"/>
                  </a:solidFill>
                </a:rPr>
                <a:t>分                      </a:t>
              </a:r>
              <a:r>
                <a:rPr lang="en-US" altLang="zh-CN" sz="2000" b="1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4B451ED4-DC50-4E95-A96A-E8ACD32DEF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" y="2387"/>
              <a:ext cx="44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Char char="¨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solidFill>
                    <a:srgbClr val="000000"/>
                  </a:solidFill>
                </a:rPr>
                <a:t>   C                        10:30                       50</a:t>
              </a:r>
              <a:r>
                <a:rPr lang="zh-CN" altLang="en-US" sz="2000" b="1">
                  <a:solidFill>
                    <a:srgbClr val="000000"/>
                  </a:solidFill>
                </a:rPr>
                <a:t>分                      </a:t>
              </a:r>
              <a:r>
                <a:rPr lang="en-US" altLang="zh-CN" sz="2000" b="1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0" name="Text Box 8">
              <a:extLst>
                <a:ext uri="{FF2B5EF4-FFF2-40B4-BE49-F238E27FC236}">
                  <a16:creationId xmlns:a16="http://schemas.microsoft.com/office/drawing/2014/main" id="{9F1155E2-1E72-4189-A87E-8CACC497E7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" y="2590"/>
              <a:ext cx="44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Char char="¨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solidFill>
                    <a:srgbClr val="000000"/>
                  </a:solidFill>
                </a:rPr>
                <a:t>   D                        10:50                       20</a:t>
              </a:r>
              <a:r>
                <a:rPr lang="zh-CN" altLang="en-US" sz="2000" b="1">
                  <a:solidFill>
                    <a:srgbClr val="000000"/>
                  </a:solidFill>
                </a:rPr>
                <a:t>分                      </a:t>
              </a:r>
              <a:r>
                <a:rPr lang="en-US" altLang="zh-CN" sz="2000" b="1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631EFF92-31A1-4157-9286-19D50A39F7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1933"/>
              <a:ext cx="4127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F606C0D6-AC73-4EDA-90B5-EDF2571A94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2886"/>
              <a:ext cx="4127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3" name="Text Box 11">
            <a:extLst>
              <a:ext uri="{FF2B5EF4-FFF2-40B4-BE49-F238E27FC236}">
                <a16:creationId xmlns:a16="http://schemas.microsoft.com/office/drawing/2014/main" id="{8DB74D09-4577-4A18-9431-CBB8AD280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5680646"/>
            <a:ext cx="8022741" cy="954107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noFill/>
          </a:ln>
          <a:extLst/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0"/>
              </a:spcBef>
              <a:buClrTx/>
              <a:buSzTx/>
              <a:buFontTx/>
              <a:buAutoNum type="arabicParenBoth"/>
            </a:pPr>
            <a:r>
              <a:rPr lang="zh-CN" altLang="en-US" sz="2800" b="1" dirty="0">
                <a:solidFill>
                  <a:srgbClr val="000000"/>
                </a:solidFill>
              </a:rPr>
              <a:t>列出所有作业进入内存的时刻以及结束的时刻</a:t>
            </a:r>
          </a:p>
          <a:p>
            <a:pPr>
              <a:spcBef>
                <a:spcPts val="0"/>
              </a:spcBef>
              <a:buClrTx/>
              <a:buSzTx/>
              <a:buFontTx/>
              <a:buAutoNum type="arabicParenBoth"/>
            </a:pPr>
            <a:r>
              <a:rPr lang="zh-CN" altLang="en-US" sz="2800" b="1" dirty="0">
                <a:solidFill>
                  <a:srgbClr val="000000"/>
                </a:solidFill>
              </a:rPr>
              <a:t>计算作业的平均周转时间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544F7EC-ED2C-4752-93AD-913AF4D099C3}"/>
              </a:ext>
            </a:extLst>
          </p:cNvPr>
          <p:cNvSpPr/>
          <p:nvPr/>
        </p:nvSpPr>
        <p:spPr>
          <a:xfrm>
            <a:off x="1655676" y="0"/>
            <a:ext cx="583264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zh-CN" altLang="en-US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pitchFamily="34" charset="-128"/>
              </a:rPr>
              <a:t>优先级调度</a:t>
            </a:r>
            <a:r>
              <a:rPr lang="zh-CN" altLang="en-US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pitchFamily="34" charset="-128"/>
                <a:sym typeface="Symbol" panose="05050102010706020507" pitchFamily="18" charset="2"/>
              </a:rPr>
              <a:t>实例 </a:t>
            </a:r>
            <a:r>
              <a:rPr lang="en-US" altLang="zh-CN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pitchFamily="34" charset="-128"/>
                <a:sym typeface="Symbol" panose="05050102010706020507" pitchFamily="18" charset="2"/>
              </a:rPr>
              <a:t>2</a:t>
            </a:r>
            <a:endParaRPr lang="zh-CN" altLang="en-US" sz="4000" dirty="0">
              <a:solidFill>
                <a:srgbClr val="0066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MS PGothic" pitchFamily="34" charset="-128"/>
            </a:endParaRPr>
          </a:p>
        </p:txBody>
      </p:sp>
      <p:sp>
        <p:nvSpPr>
          <p:cNvPr id="15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395462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9168E7D0-5B38-497D-8AA0-5625882C916A}"/>
              </a:ext>
            </a:extLst>
          </p:cNvPr>
          <p:cNvSpPr txBox="1">
            <a:spLocks noChangeArrowheads="1"/>
          </p:cNvSpPr>
          <p:nvPr/>
        </p:nvSpPr>
        <p:spPr>
          <a:xfrm>
            <a:off x="323850" y="2708275"/>
            <a:ext cx="8540750" cy="50482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kern="0" dirty="0">
                <a:solidFill>
                  <a:srgbClr val="000000"/>
                </a:solidFill>
                <a:effectLst/>
              </a:rPr>
              <a:t>解：根据题意，作业的调度和运行情况如下图所示。</a:t>
            </a:r>
          </a:p>
        </p:txBody>
      </p:sp>
      <p:grpSp>
        <p:nvGrpSpPr>
          <p:cNvPr id="5" name="Group 3">
            <a:extLst>
              <a:ext uri="{FF2B5EF4-FFF2-40B4-BE49-F238E27FC236}">
                <a16:creationId xmlns:a16="http://schemas.microsoft.com/office/drawing/2014/main" id="{EC17A060-0E70-49D7-A31A-38E410920418}"/>
              </a:ext>
            </a:extLst>
          </p:cNvPr>
          <p:cNvGrpSpPr>
            <a:grpSpLocks/>
          </p:cNvGrpSpPr>
          <p:nvPr/>
        </p:nvGrpSpPr>
        <p:grpSpPr bwMode="auto">
          <a:xfrm>
            <a:off x="1187450" y="549275"/>
            <a:ext cx="7129463" cy="1944688"/>
            <a:chOff x="657" y="1661"/>
            <a:chExt cx="4491" cy="1225"/>
          </a:xfrm>
        </p:grpSpPr>
        <p:sp>
          <p:nvSpPr>
            <p:cNvPr id="6" name="Text Box 4">
              <a:extLst>
                <a:ext uri="{FF2B5EF4-FFF2-40B4-BE49-F238E27FC236}">
                  <a16:creationId xmlns:a16="http://schemas.microsoft.com/office/drawing/2014/main" id="{7A1CA592-3C64-4B91-9BA2-0D85A78040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" y="1661"/>
              <a:ext cx="44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Char char="¨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rgbClr val="000000"/>
                  </a:solidFill>
                </a:rPr>
                <a:t>作业名         </a:t>
              </a:r>
              <a:r>
                <a:rPr lang="zh-CN" altLang="en-US" sz="2000" b="1" dirty="0">
                  <a:solidFill>
                    <a:srgbClr val="FF00FF"/>
                  </a:solidFill>
                </a:rPr>
                <a:t>作业到达时间          </a:t>
              </a:r>
              <a:r>
                <a:rPr lang="zh-CN" altLang="en-US" sz="2000" b="1" dirty="0">
                  <a:solidFill>
                    <a:srgbClr val="000000"/>
                  </a:solidFill>
                </a:rPr>
                <a:t>估计运行时间         优先数</a:t>
              </a:r>
            </a:p>
          </p:txBody>
        </p:sp>
        <p:sp>
          <p:nvSpPr>
            <p:cNvPr id="7" name="Text Box 5">
              <a:extLst>
                <a:ext uri="{FF2B5EF4-FFF2-40B4-BE49-F238E27FC236}">
                  <a16:creationId xmlns:a16="http://schemas.microsoft.com/office/drawing/2014/main" id="{70C39AB0-31B4-4753-BBE0-045F3DFE09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" y="1933"/>
              <a:ext cx="44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Char char="¨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solidFill>
                    <a:srgbClr val="000000"/>
                  </a:solidFill>
                </a:rPr>
                <a:t>   A                        10:00                       40</a:t>
              </a:r>
              <a:r>
                <a:rPr lang="zh-CN" altLang="en-US" sz="2000" b="1">
                  <a:solidFill>
                    <a:srgbClr val="000000"/>
                  </a:solidFill>
                </a:rPr>
                <a:t>分                      </a:t>
              </a:r>
              <a:r>
                <a:rPr lang="en-US" altLang="zh-CN" sz="2000" b="1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8" name="Text Box 6">
              <a:extLst>
                <a:ext uri="{FF2B5EF4-FFF2-40B4-BE49-F238E27FC236}">
                  <a16:creationId xmlns:a16="http://schemas.microsoft.com/office/drawing/2014/main" id="{4B799241-B566-46BB-BC17-DA9DE95674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" y="2160"/>
              <a:ext cx="44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Char char="¨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solidFill>
                    <a:srgbClr val="000000"/>
                  </a:solidFill>
                </a:rPr>
                <a:t>   B                        10:20                       30</a:t>
              </a:r>
              <a:r>
                <a:rPr lang="zh-CN" altLang="en-US" sz="2000" b="1">
                  <a:solidFill>
                    <a:srgbClr val="000000"/>
                  </a:solidFill>
                </a:rPr>
                <a:t>分                      </a:t>
              </a:r>
              <a:r>
                <a:rPr lang="en-US" altLang="zh-CN" sz="2000" b="1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6D8F106F-0BD9-4C07-8CD0-C2C62DCFBF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" y="2387"/>
              <a:ext cx="44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Char char="¨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solidFill>
                    <a:srgbClr val="000000"/>
                  </a:solidFill>
                </a:rPr>
                <a:t>   C                        10:30                       50</a:t>
              </a:r>
              <a:r>
                <a:rPr lang="zh-CN" altLang="en-US" sz="2000" b="1">
                  <a:solidFill>
                    <a:srgbClr val="000000"/>
                  </a:solidFill>
                </a:rPr>
                <a:t>分                      </a:t>
              </a:r>
              <a:r>
                <a:rPr lang="en-US" altLang="zh-CN" sz="2000" b="1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0" name="Text Box 8">
              <a:extLst>
                <a:ext uri="{FF2B5EF4-FFF2-40B4-BE49-F238E27FC236}">
                  <a16:creationId xmlns:a16="http://schemas.microsoft.com/office/drawing/2014/main" id="{7EFF9E27-025E-4F7C-B37C-3C893C6E72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" y="2590"/>
              <a:ext cx="44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Char char="¨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solidFill>
                    <a:srgbClr val="000000"/>
                  </a:solidFill>
                </a:rPr>
                <a:t>   D                        10:50                       20</a:t>
              </a:r>
              <a:r>
                <a:rPr lang="zh-CN" altLang="en-US" sz="2000" b="1">
                  <a:solidFill>
                    <a:srgbClr val="000000"/>
                  </a:solidFill>
                </a:rPr>
                <a:t>分                      </a:t>
              </a:r>
              <a:r>
                <a:rPr lang="en-US" altLang="zh-CN" sz="2000" b="1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E9E159C4-A374-4FF4-A2EB-83656458F9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1933"/>
              <a:ext cx="4127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A88F232B-C962-4CE9-ABAD-B697898F55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2886"/>
              <a:ext cx="4127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3" name="Line 12">
            <a:extLst>
              <a:ext uri="{FF2B5EF4-FFF2-40B4-BE49-F238E27FC236}">
                <a16:creationId xmlns:a16="http://schemas.microsoft.com/office/drawing/2014/main" id="{DF24DE10-8B7F-47CB-8036-0475B404EA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03350" y="3213100"/>
            <a:ext cx="0" cy="2303463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0B32B295-EA7F-4AEB-A860-355C38FAC651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350" y="5516563"/>
            <a:ext cx="6624638" cy="0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" name="Text Box 15">
            <a:extLst>
              <a:ext uri="{FF2B5EF4-FFF2-40B4-BE49-F238E27FC236}">
                <a16:creationId xmlns:a16="http://schemas.microsoft.com/office/drawing/2014/main" id="{88ED5725-F93B-4D0B-934F-1BFA54C92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4832350"/>
            <a:ext cx="431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16" name="Text Box 16">
            <a:extLst>
              <a:ext uri="{FF2B5EF4-FFF2-40B4-BE49-F238E27FC236}">
                <a16:creationId xmlns:a16="http://schemas.microsoft.com/office/drawing/2014/main" id="{A7B68869-5A17-4FE8-8900-E7BF714A5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4365625"/>
            <a:ext cx="431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17" name="Text Box 17">
            <a:extLst>
              <a:ext uri="{FF2B5EF4-FFF2-40B4-BE49-F238E27FC236}">
                <a16:creationId xmlns:a16="http://schemas.microsoft.com/office/drawing/2014/main" id="{BB60ED68-17A6-40BD-8761-BF8EC0C16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3895725"/>
            <a:ext cx="431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18" name="Text Box 18">
            <a:extLst>
              <a:ext uri="{FF2B5EF4-FFF2-40B4-BE49-F238E27FC236}">
                <a16:creationId xmlns:a16="http://schemas.microsoft.com/office/drawing/2014/main" id="{CB19F29A-00CC-447E-8A27-ACD827E29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3429000"/>
            <a:ext cx="431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0000"/>
                </a:solidFill>
              </a:rPr>
              <a:t>D</a:t>
            </a:r>
          </a:p>
        </p:txBody>
      </p:sp>
      <p:sp>
        <p:nvSpPr>
          <p:cNvPr id="19" name="Text Box 19">
            <a:extLst>
              <a:ext uri="{FF2B5EF4-FFF2-40B4-BE49-F238E27FC236}">
                <a16:creationId xmlns:a16="http://schemas.microsoft.com/office/drawing/2014/main" id="{08F0A993-D472-4B06-9B93-441B63E04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5553075"/>
            <a:ext cx="7921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0000"/>
                </a:solidFill>
              </a:rPr>
              <a:t>10:00</a:t>
            </a:r>
          </a:p>
        </p:txBody>
      </p:sp>
      <p:sp>
        <p:nvSpPr>
          <p:cNvPr id="20" name="Line 20">
            <a:extLst>
              <a:ext uri="{FF2B5EF4-FFF2-40B4-BE49-F238E27FC236}">
                <a16:creationId xmlns:a16="http://schemas.microsoft.com/office/drawing/2014/main" id="{D7AEABEE-A32D-46DE-94F1-BDD3CD801330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350" y="5084763"/>
            <a:ext cx="720725" cy="0"/>
          </a:xfrm>
          <a:prstGeom prst="line">
            <a:avLst/>
          </a:prstGeom>
          <a:noFill/>
          <a:ln w="57150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" name="Text Box 21">
            <a:extLst>
              <a:ext uri="{FF2B5EF4-FFF2-40B4-BE49-F238E27FC236}">
                <a16:creationId xmlns:a16="http://schemas.microsoft.com/office/drawing/2014/main" id="{0CF74D2C-93BB-4D8D-941D-70003D3A44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5589588"/>
            <a:ext cx="7921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0000"/>
                </a:solidFill>
              </a:rPr>
              <a:t>10:30</a:t>
            </a:r>
          </a:p>
        </p:txBody>
      </p:sp>
      <p:sp>
        <p:nvSpPr>
          <p:cNvPr id="22" name="Line 22">
            <a:extLst>
              <a:ext uri="{FF2B5EF4-FFF2-40B4-BE49-F238E27FC236}">
                <a16:creationId xmlns:a16="http://schemas.microsoft.com/office/drawing/2014/main" id="{6E933023-8A67-4128-A5D3-702AD0F1A50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5445125"/>
            <a:ext cx="0" cy="144463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" name="Line 23">
            <a:extLst>
              <a:ext uri="{FF2B5EF4-FFF2-40B4-BE49-F238E27FC236}">
                <a16:creationId xmlns:a16="http://schemas.microsoft.com/office/drawing/2014/main" id="{6AE10E05-EBE5-4FD1-8393-892B0F8DB71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24075" y="5445125"/>
            <a:ext cx="0" cy="144463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4" name="Line 24">
            <a:extLst>
              <a:ext uri="{FF2B5EF4-FFF2-40B4-BE49-F238E27FC236}">
                <a16:creationId xmlns:a16="http://schemas.microsoft.com/office/drawing/2014/main" id="{6FE44F0F-1CFB-47E8-8F96-1B0AF92EF2F2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5445125"/>
            <a:ext cx="0" cy="144463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" name="Line 25">
            <a:extLst>
              <a:ext uri="{FF2B5EF4-FFF2-40B4-BE49-F238E27FC236}">
                <a16:creationId xmlns:a16="http://schemas.microsoft.com/office/drawing/2014/main" id="{F36BE320-9A6E-4520-9794-3BFA3155089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24075" y="4652963"/>
            <a:ext cx="0" cy="863600"/>
          </a:xfrm>
          <a:prstGeom prst="line">
            <a:avLst/>
          </a:prstGeom>
          <a:noFill/>
          <a:ln w="22225">
            <a:solidFill>
              <a:schemeClr val="tx1">
                <a:lumMod val="10000"/>
              </a:schemeClr>
            </a:solidFill>
            <a:prstDash val="dash"/>
            <a:miter lim="800000"/>
            <a:headEnd/>
            <a:tailEnd/>
          </a:ln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26" name="Line 26">
            <a:extLst>
              <a:ext uri="{FF2B5EF4-FFF2-40B4-BE49-F238E27FC236}">
                <a16:creationId xmlns:a16="http://schemas.microsoft.com/office/drawing/2014/main" id="{202C8193-2AAD-4C67-8D5F-6D4000B74D3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24075" y="4652963"/>
            <a:ext cx="1079500" cy="0"/>
          </a:xfrm>
          <a:prstGeom prst="line">
            <a:avLst/>
          </a:prstGeom>
          <a:noFill/>
          <a:ln w="57150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7" name="Line 27">
            <a:extLst>
              <a:ext uri="{FF2B5EF4-FFF2-40B4-BE49-F238E27FC236}">
                <a16:creationId xmlns:a16="http://schemas.microsoft.com/office/drawing/2014/main" id="{1A120972-C109-47CE-B6BF-66E541826A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4800" y="5445125"/>
            <a:ext cx="0" cy="144463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8" name="Line 28">
            <a:extLst>
              <a:ext uri="{FF2B5EF4-FFF2-40B4-BE49-F238E27FC236}">
                <a16:creationId xmlns:a16="http://schemas.microsoft.com/office/drawing/2014/main" id="{8E902404-0071-4A0C-9855-ABDAD135C66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3575" y="5445125"/>
            <a:ext cx="0" cy="144463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9" name="Line 29">
            <a:extLst>
              <a:ext uri="{FF2B5EF4-FFF2-40B4-BE49-F238E27FC236}">
                <a16:creationId xmlns:a16="http://schemas.microsoft.com/office/drawing/2014/main" id="{7DCBB49C-7955-4C7F-94C8-092E619B0E46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3938" y="5445125"/>
            <a:ext cx="0" cy="144463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0" name="Text Box 30">
            <a:extLst>
              <a:ext uri="{FF2B5EF4-FFF2-40B4-BE49-F238E27FC236}">
                <a16:creationId xmlns:a16="http://schemas.microsoft.com/office/drawing/2014/main" id="{E7FC0BF9-FEBA-4ABE-91FE-B33FBAE5B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575" y="5589588"/>
            <a:ext cx="7921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0000"/>
                </a:solidFill>
              </a:rPr>
              <a:t>11:00</a:t>
            </a:r>
          </a:p>
        </p:txBody>
      </p:sp>
      <p:sp>
        <p:nvSpPr>
          <p:cNvPr id="31" name="Line 31">
            <a:extLst>
              <a:ext uri="{FF2B5EF4-FFF2-40B4-BE49-F238E27FC236}">
                <a16:creationId xmlns:a16="http://schemas.microsoft.com/office/drawing/2014/main" id="{B5F845E9-C57D-401A-B825-A05D16C91985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4300" y="5445125"/>
            <a:ext cx="0" cy="144463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" name="Line 32">
            <a:extLst>
              <a:ext uri="{FF2B5EF4-FFF2-40B4-BE49-F238E27FC236}">
                <a16:creationId xmlns:a16="http://schemas.microsoft.com/office/drawing/2014/main" id="{A710EF2C-590D-43DA-9435-D813F7FBDD1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4663" y="5445125"/>
            <a:ext cx="0" cy="144463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" name="Line 33">
            <a:extLst>
              <a:ext uri="{FF2B5EF4-FFF2-40B4-BE49-F238E27FC236}">
                <a16:creationId xmlns:a16="http://schemas.microsoft.com/office/drawing/2014/main" id="{DC8E263C-1B85-4A56-ADEE-F5092777D84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3575" y="4608513"/>
            <a:ext cx="0" cy="900112"/>
          </a:xfrm>
          <a:prstGeom prst="line">
            <a:avLst/>
          </a:prstGeom>
          <a:noFill/>
          <a:ln w="22225">
            <a:solidFill>
              <a:schemeClr val="tx1">
                <a:lumMod val="10000"/>
              </a:schemeClr>
            </a:solidFill>
            <a:prstDash val="dash"/>
            <a:miter lim="800000"/>
            <a:headEnd/>
            <a:tailEnd/>
          </a:ln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34" name="Line 34">
            <a:extLst>
              <a:ext uri="{FF2B5EF4-FFF2-40B4-BE49-F238E27FC236}">
                <a16:creationId xmlns:a16="http://schemas.microsoft.com/office/drawing/2014/main" id="{9674DF4F-64F5-4A90-8872-854C3841C82C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4300" y="4076700"/>
            <a:ext cx="1800225" cy="0"/>
          </a:xfrm>
          <a:prstGeom prst="line">
            <a:avLst/>
          </a:prstGeom>
          <a:noFill/>
          <a:ln w="57150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" name="Line 35">
            <a:extLst>
              <a:ext uri="{FF2B5EF4-FFF2-40B4-BE49-F238E27FC236}">
                <a16:creationId xmlns:a16="http://schemas.microsoft.com/office/drawing/2014/main" id="{3387E191-8D36-4784-B934-F79ABF0CB5C3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5025" y="5445125"/>
            <a:ext cx="0" cy="144463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6" name="Line 36">
            <a:extLst>
              <a:ext uri="{FF2B5EF4-FFF2-40B4-BE49-F238E27FC236}">
                <a16:creationId xmlns:a16="http://schemas.microsoft.com/office/drawing/2014/main" id="{A931ECEB-EAE6-470C-967C-134D38E7CB3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3800" y="5445125"/>
            <a:ext cx="0" cy="144463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7" name="Line 37">
            <a:extLst>
              <a:ext uri="{FF2B5EF4-FFF2-40B4-BE49-F238E27FC236}">
                <a16:creationId xmlns:a16="http://schemas.microsoft.com/office/drawing/2014/main" id="{989F65C5-3777-4CA2-A5BA-A0AFC4206C28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4163" y="5445125"/>
            <a:ext cx="0" cy="144463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8" name="Line 38">
            <a:extLst>
              <a:ext uri="{FF2B5EF4-FFF2-40B4-BE49-F238E27FC236}">
                <a16:creationId xmlns:a16="http://schemas.microsoft.com/office/drawing/2014/main" id="{8CD931D6-5CE5-40E5-A8C9-4B0AE6BC6DD4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4300" y="4076700"/>
            <a:ext cx="0" cy="1439863"/>
          </a:xfrm>
          <a:prstGeom prst="line">
            <a:avLst/>
          </a:prstGeom>
          <a:noFill/>
          <a:ln w="22225">
            <a:solidFill>
              <a:schemeClr val="tx1">
                <a:lumMod val="10000"/>
              </a:schemeClr>
            </a:solidFill>
            <a:prstDash val="dash"/>
            <a:miter lim="800000"/>
            <a:headEnd/>
            <a:tailEnd/>
          </a:ln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39" name="Text Box 39">
            <a:extLst>
              <a:ext uri="{FF2B5EF4-FFF2-40B4-BE49-F238E27FC236}">
                <a16:creationId xmlns:a16="http://schemas.microsoft.com/office/drawing/2014/main" id="{2EC3C905-5EC0-4574-9B43-5237CB1849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5589588"/>
            <a:ext cx="792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0000"/>
                </a:solidFill>
              </a:rPr>
              <a:t>11:30</a:t>
            </a:r>
          </a:p>
        </p:txBody>
      </p:sp>
      <p:sp>
        <p:nvSpPr>
          <p:cNvPr id="40" name="Line 40">
            <a:extLst>
              <a:ext uri="{FF2B5EF4-FFF2-40B4-BE49-F238E27FC236}">
                <a16:creationId xmlns:a16="http://schemas.microsoft.com/office/drawing/2014/main" id="{22EC86EE-A75D-4B28-9AD1-9B7CEF215E0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3575" y="5013325"/>
            <a:ext cx="720725" cy="0"/>
          </a:xfrm>
          <a:prstGeom prst="line">
            <a:avLst/>
          </a:prstGeom>
          <a:noFill/>
          <a:ln w="57150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1" name="Line 41">
            <a:extLst>
              <a:ext uri="{FF2B5EF4-FFF2-40B4-BE49-F238E27FC236}">
                <a16:creationId xmlns:a16="http://schemas.microsoft.com/office/drawing/2014/main" id="{857C5D5D-F56C-4044-9E27-4A4ACCD2AD89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4525" y="5445125"/>
            <a:ext cx="0" cy="144463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2" name="Line 42">
            <a:extLst>
              <a:ext uri="{FF2B5EF4-FFF2-40B4-BE49-F238E27FC236}">
                <a16:creationId xmlns:a16="http://schemas.microsoft.com/office/drawing/2014/main" id="{0BE6793F-B413-401B-9CDE-ADCE439BC3C5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4525" y="3573463"/>
            <a:ext cx="0" cy="1943100"/>
          </a:xfrm>
          <a:prstGeom prst="line">
            <a:avLst/>
          </a:prstGeom>
          <a:noFill/>
          <a:ln w="22225">
            <a:solidFill>
              <a:schemeClr val="tx1">
                <a:lumMod val="10000"/>
              </a:schemeClr>
            </a:solidFill>
            <a:prstDash val="dash"/>
            <a:miter lim="800000"/>
            <a:headEnd/>
            <a:tailEnd/>
          </a:ln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43" name="Text Box 43">
            <a:extLst>
              <a:ext uri="{FF2B5EF4-FFF2-40B4-BE49-F238E27FC236}">
                <a16:creationId xmlns:a16="http://schemas.microsoft.com/office/drawing/2014/main" id="{05D34B3F-C18E-4219-A8B5-9CE75D4D8F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725" y="5589588"/>
            <a:ext cx="7921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0000"/>
                </a:solidFill>
              </a:rPr>
              <a:t>12:00</a:t>
            </a:r>
          </a:p>
        </p:txBody>
      </p:sp>
      <p:sp>
        <p:nvSpPr>
          <p:cNvPr id="44" name="Line 44">
            <a:extLst>
              <a:ext uri="{FF2B5EF4-FFF2-40B4-BE49-F238E27FC236}">
                <a16:creationId xmlns:a16="http://schemas.microsoft.com/office/drawing/2014/main" id="{5560F1BF-9D9E-40D2-A61F-48EF8E8BAB15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4525" y="3573463"/>
            <a:ext cx="720725" cy="0"/>
          </a:xfrm>
          <a:prstGeom prst="line">
            <a:avLst/>
          </a:prstGeom>
          <a:noFill/>
          <a:ln w="57150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5" name="Line 45">
            <a:extLst>
              <a:ext uri="{FF2B5EF4-FFF2-40B4-BE49-F238E27FC236}">
                <a16:creationId xmlns:a16="http://schemas.microsoft.com/office/drawing/2014/main" id="{CF15FCC0-B25C-49B1-91F1-4CC0419B4F5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5250" y="3573463"/>
            <a:ext cx="0" cy="1943100"/>
          </a:xfrm>
          <a:prstGeom prst="line">
            <a:avLst/>
          </a:prstGeom>
          <a:noFill/>
          <a:ln w="22225">
            <a:solidFill>
              <a:schemeClr val="tx1">
                <a:lumMod val="10000"/>
              </a:schemeClr>
            </a:solidFill>
            <a:prstDash val="dash"/>
            <a:miter lim="800000"/>
            <a:headEnd/>
            <a:tailEnd/>
          </a:ln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46" name="Line 46">
            <a:extLst>
              <a:ext uri="{FF2B5EF4-FFF2-40B4-BE49-F238E27FC236}">
                <a16:creationId xmlns:a16="http://schemas.microsoft.com/office/drawing/2014/main" id="{9966F5DE-5DEA-485D-95FF-A8F3BC561A21}"/>
              </a:ext>
            </a:extLst>
          </p:cNvPr>
          <p:cNvSpPr>
            <a:spLocks noChangeShapeType="1"/>
          </p:cNvSpPr>
          <p:nvPr/>
        </p:nvSpPr>
        <p:spPr bwMode="auto">
          <a:xfrm>
            <a:off x="6084888" y="5445125"/>
            <a:ext cx="0" cy="144463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7" name="Line 47">
            <a:extLst>
              <a:ext uri="{FF2B5EF4-FFF2-40B4-BE49-F238E27FC236}">
                <a16:creationId xmlns:a16="http://schemas.microsoft.com/office/drawing/2014/main" id="{D865D94F-A17F-481D-B26B-436C488DE1D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5250" y="5445125"/>
            <a:ext cx="0" cy="144463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8" name="Line 48">
            <a:extLst>
              <a:ext uri="{FF2B5EF4-FFF2-40B4-BE49-F238E27FC236}">
                <a16:creationId xmlns:a16="http://schemas.microsoft.com/office/drawing/2014/main" id="{911A15D1-742F-403A-8665-8C596986CB3E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4025" y="5445125"/>
            <a:ext cx="0" cy="144463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9" name="Text Box 49">
            <a:extLst>
              <a:ext uri="{FF2B5EF4-FFF2-40B4-BE49-F238E27FC236}">
                <a16:creationId xmlns:a16="http://schemas.microsoft.com/office/drawing/2014/main" id="{011C938D-F86E-4C8F-826A-F8C0A921EA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25" y="5553075"/>
            <a:ext cx="7921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0000"/>
                </a:solidFill>
              </a:rPr>
              <a:t>12:30</a:t>
            </a:r>
          </a:p>
        </p:txBody>
      </p:sp>
      <p:sp>
        <p:nvSpPr>
          <p:cNvPr id="50" name="AutoShape 51">
            <a:extLst>
              <a:ext uri="{FF2B5EF4-FFF2-40B4-BE49-F238E27FC236}">
                <a16:creationId xmlns:a16="http://schemas.microsoft.com/office/drawing/2014/main" id="{80A73FF3-BD3F-49ED-A9A5-42C3F66357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250" y="6286500"/>
            <a:ext cx="1357313" cy="361950"/>
          </a:xfrm>
          <a:prstGeom prst="wedgeRoundRectCallout">
            <a:avLst>
              <a:gd name="adj1" fmla="val 42736"/>
              <a:gd name="adj2" fmla="val -274231"/>
              <a:gd name="adj3" fmla="val 16667"/>
            </a:avLst>
          </a:pr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chemeClr val="bg2"/>
                </a:solidFill>
              </a:rPr>
              <a:t>D</a:t>
            </a:r>
            <a:r>
              <a:rPr lang="zh-CN" altLang="en-US" sz="2000" b="1">
                <a:solidFill>
                  <a:schemeClr val="bg2"/>
                </a:solidFill>
              </a:rPr>
              <a:t>进内存</a:t>
            </a:r>
          </a:p>
        </p:txBody>
      </p:sp>
      <p:sp>
        <p:nvSpPr>
          <p:cNvPr id="51" name="AutoShape 51">
            <a:extLst>
              <a:ext uri="{FF2B5EF4-FFF2-40B4-BE49-F238E27FC236}">
                <a16:creationId xmlns:a16="http://schemas.microsoft.com/office/drawing/2014/main" id="{A1CA020A-2F5D-4CD6-9634-E42429FAFB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1938" y="6286500"/>
            <a:ext cx="1214437" cy="361950"/>
          </a:xfrm>
          <a:prstGeom prst="wedgeRoundRectCallout">
            <a:avLst>
              <a:gd name="adj1" fmla="val -61389"/>
              <a:gd name="adj2" fmla="val -268968"/>
              <a:gd name="adj3" fmla="val 16667"/>
            </a:avLst>
          </a:pr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chemeClr val="bg2"/>
                </a:solidFill>
              </a:rPr>
              <a:t>C</a:t>
            </a:r>
            <a:r>
              <a:rPr lang="zh-CN" altLang="en-US" sz="2000" b="1">
                <a:solidFill>
                  <a:schemeClr val="bg2"/>
                </a:solidFill>
              </a:rPr>
              <a:t>进内存</a:t>
            </a:r>
          </a:p>
        </p:txBody>
      </p:sp>
      <p:sp>
        <p:nvSpPr>
          <p:cNvPr id="52" name="AutoShape 51">
            <a:extLst>
              <a:ext uri="{FF2B5EF4-FFF2-40B4-BE49-F238E27FC236}">
                <a16:creationId xmlns:a16="http://schemas.microsoft.com/office/drawing/2014/main" id="{BC96401C-BE36-495C-920F-2B6E8CE52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" y="6286500"/>
            <a:ext cx="1214438" cy="361950"/>
          </a:xfrm>
          <a:prstGeom prst="wedgeRoundRectCallout">
            <a:avLst>
              <a:gd name="adj1" fmla="val 98722"/>
              <a:gd name="adj2" fmla="val -258444"/>
              <a:gd name="adj3" fmla="val 16667"/>
            </a:avLst>
          </a:pr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chemeClr val="bg2"/>
                </a:solidFill>
              </a:rPr>
              <a:t>B</a:t>
            </a:r>
            <a:r>
              <a:rPr lang="zh-CN" altLang="en-US" sz="2000" b="1">
                <a:solidFill>
                  <a:schemeClr val="bg2"/>
                </a:solidFill>
              </a:rPr>
              <a:t>进内存</a:t>
            </a:r>
          </a:p>
        </p:txBody>
      </p:sp>
      <p:sp>
        <p:nvSpPr>
          <p:cNvPr id="53" name="矩形 54">
            <a:extLst>
              <a:ext uri="{FF2B5EF4-FFF2-40B4-BE49-F238E27FC236}">
                <a16:creationId xmlns:a16="http://schemas.microsoft.com/office/drawing/2014/main" id="{5290FAE0-EAD3-4B73-9B7B-2BC72646A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523875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</a:rPr>
              <a:t>内存</a:t>
            </a:r>
            <a:r>
              <a:rPr lang="zh-CN" altLang="en-US" sz="2800" b="1" dirty="0">
                <a:solidFill>
                  <a:srgbClr val="111111"/>
                </a:solidFill>
              </a:rPr>
              <a:t>只能装入</a:t>
            </a:r>
            <a:r>
              <a:rPr lang="zh-CN" altLang="en-US" sz="2800" b="1" i="1" dirty="0">
                <a:solidFill>
                  <a:srgbClr val="FF00FF"/>
                </a:solidFill>
              </a:rPr>
              <a:t>两道</a:t>
            </a:r>
            <a:r>
              <a:rPr lang="zh-CN" altLang="en-US" sz="2800" b="1" dirty="0">
                <a:solidFill>
                  <a:srgbClr val="111111"/>
                </a:solidFill>
              </a:rPr>
              <a:t>作业</a:t>
            </a:r>
            <a:r>
              <a:rPr lang="en-US" altLang="zh-CN" sz="2800" b="1" dirty="0">
                <a:solidFill>
                  <a:srgbClr val="111111"/>
                </a:solidFill>
              </a:rPr>
              <a:t>,</a:t>
            </a:r>
            <a:r>
              <a:rPr lang="zh-CN" altLang="en-US" sz="2800" b="1" dirty="0">
                <a:solidFill>
                  <a:srgbClr val="111111"/>
                </a:solidFill>
              </a:rPr>
              <a:t>短作业优先</a:t>
            </a:r>
            <a:r>
              <a:rPr lang="en-US" altLang="zh-CN" sz="2800" b="1" dirty="0">
                <a:solidFill>
                  <a:srgbClr val="111111"/>
                </a:solidFill>
              </a:rPr>
              <a:t>;   </a:t>
            </a:r>
            <a:r>
              <a:rPr lang="zh-CN" altLang="en-US" sz="2800" b="1" dirty="0">
                <a:solidFill>
                  <a:srgbClr val="111111"/>
                </a:solidFill>
              </a:rPr>
              <a:t>数越小优先级越高</a:t>
            </a:r>
            <a:endParaRPr lang="zh-CN" altLang="en-US" sz="2800" dirty="0">
              <a:solidFill>
                <a:srgbClr val="111111"/>
              </a:solidFill>
            </a:endParaRPr>
          </a:p>
        </p:txBody>
      </p:sp>
      <p:sp>
        <p:nvSpPr>
          <p:cNvPr id="54" name="椭圆形标注 55">
            <a:extLst>
              <a:ext uri="{FF2B5EF4-FFF2-40B4-BE49-F238E27FC236}">
                <a16:creationId xmlns:a16="http://schemas.microsoft.com/office/drawing/2014/main" id="{33EEF443-D2C3-4371-9E2F-A31451694FC8}"/>
              </a:ext>
            </a:extLst>
          </p:cNvPr>
          <p:cNvSpPr/>
          <p:nvPr/>
        </p:nvSpPr>
        <p:spPr>
          <a:xfrm>
            <a:off x="2928938" y="3500438"/>
            <a:ext cx="1285875" cy="428625"/>
          </a:xfrm>
          <a:prstGeom prst="wedgeEllipseCallout">
            <a:avLst>
              <a:gd name="adj1" fmla="val -29735"/>
              <a:gd name="adj2" fmla="val 233610"/>
            </a:avLst>
          </a:prstGeom>
          <a:solidFill>
            <a:srgbClr val="9FF4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sz="2000" b="1" dirty="0">
                <a:solidFill>
                  <a:schemeClr val="bg2"/>
                </a:solidFill>
                <a:cs typeface="Times New Roman" pitchFamily="18" charset="0"/>
              </a:rPr>
              <a:t>B</a:t>
            </a:r>
            <a:r>
              <a:rPr lang="zh-CN" altLang="en-US" sz="2000" b="1" dirty="0">
                <a:solidFill>
                  <a:schemeClr val="bg2"/>
                </a:solidFill>
                <a:cs typeface="Times New Roman" pitchFamily="18" charset="0"/>
              </a:rPr>
              <a:t>结束</a:t>
            </a:r>
          </a:p>
        </p:txBody>
      </p:sp>
      <p:sp>
        <p:nvSpPr>
          <p:cNvPr id="55" name="椭圆形标注 56">
            <a:extLst>
              <a:ext uri="{FF2B5EF4-FFF2-40B4-BE49-F238E27FC236}">
                <a16:creationId xmlns:a16="http://schemas.microsoft.com/office/drawing/2014/main" id="{A38387B8-910B-4FB9-99C2-D44E2DE1E4E5}"/>
              </a:ext>
            </a:extLst>
          </p:cNvPr>
          <p:cNvSpPr/>
          <p:nvPr/>
        </p:nvSpPr>
        <p:spPr>
          <a:xfrm>
            <a:off x="4214813" y="4357688"/>
            <a:ext cx="1285875" cy="428625"/>
          </a:xfrm>
          <a:prstGeom prst="wedgeEllipseCallout">
            <a:avLst>
              <a:gd name="adj1" fmla="val -72698"/>
              <a:gd name="adj2" fmla="val 95833"/>
            </a:avLst>
          </a:prstGeom>
          <a:solidFill>
            <a:srgbClr val="9FF4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sz="2000" b="1" dirty="0">
                <a:solidFill>
                  <a:srgbClr val="111111"/>
                </a:solidFill>
                <a:cs typeface="Times New Roman" pitchFamily="18" charset="0"/>
              </a:rPr>
              <a:t>A</a:t>
            </a:r>
            <a:r>
              <a:rPr lang="zh-CN" altLang="en-US" sz="2000" b="1" dirty="0">
                <a:solidFill>
                  <a:srgbClr val="111111"/>
                </a:solidFill>
                <a:cs typeface="Times New Roman" pitchFamily="18" charset="0"/>
              </a:rPr>
              <a:t>结束</a:t>
            </a:r>
          </a:p>
        </p:txBody>
      </p:sp>
      <p:sp>
        <p:nvSpPr>
          <p:cNvPr id="56" name="椭圆形标注 57">
            <a:extLst>
              <a:ext uri="{FF2B5EF4-FFF2-40B4-BE49-F238E27FC236}">
                <a16:creationId xmlns:a16="http://schemas.microsoft.com/office/drawing/2014/main" id="{9452A5D0-7B41-43D0-A889-821BC6EF9926}"/>
              </a:ext>
            </a:extLst>
          </p:cNvPr>
          <p:cNvSpPr/>
          <p:nvPr/>
        </p:nvSpPr>
        <p:spPr>
          <a:xfrm>
            <a:off x="4429125" y="3071813"/>
            <a:ext cx="1285875" cy="428625"/>
          </a:xfrm>
          <a:prstGeom prst="wedgeEllipseCallout">
            <a:avLst>
              <a:gd name="adj1" fmla="val 51005"/>
              <a:gd name="adj2" fmla="val 171388"/>
            </a:avLst>
          </a:prstGeom>
          <a:solidFill>
            <a:srgbClr val="9FF4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sz="2000" b="1" dirty="0">
                <a:solidFill>
                  <a:schemeClr val="bg2"/>
                </a:solidFill>
                <a:cs typeface="Times New Roman" pitchFamily="18" charset="0"/>
              </a:rPr>
              <a:t>C</a:t>
            </a:r>
            <a:r>
              <a:rPr lang="zh-CN" altLang="en-US" sz="2000" b="1" dirty="0">
                <a:solidFill>
                  <a:schemeClr val="bg2"/>
                </a:solidFill>
                <a:cs typeface="Times New Roman" pitchFamily="18" charset="0"/>
              </a:rPr>
              <a:t>结束</a:t>
            </a:r>
          </a:p>
        </p:txBody>
      </p:sp>
      <p:sp>
        <p:nvSpPr>
          <p:cNvPr id="57" name="椭圆形标注 58">
            <a:extLst>
              <a:ext uri="{FF2B5EF4-FFF2-40B4-BE49-F238E27FC236}">
                <a16:creationId xmlns:a16="http://schemas.microsoft.com/office/drawing/2014/main" id="{A96D44B6-4752-40A5-9C17-6A0E4F4BDA67}"/>
              </a:ext>
            </a:extLst>
          </p:cNvPr>
          <p:cNvSpPr/>
          <p:nvPr/>
        </p:nvSpPr>
        <p:spPr>
          <a:xfrm>
            <a:off x="6786563" y="3000375"/>
            <a:ext cx="1285875" cy="428625"/>
          </a:xfrm>
          <a:prstGeom prst="wedgeEllipseCallout">
            <a:avLst>
              <a:gd name="adj1" fmla="val -81587"/>
              <a:gd name="adj2" fmla="val 91389"/>
            </a:avLst>
          </a:prstGeom>
          <a:solidFill>
            <a:srgbClr val="9FF4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sz="2000" b="1" dirty="0">
                <a:solidFill>
                  <a:schemeClr val="bg2"/>
                </a:solidFill>
                <a:cs typeface="Times New Roman" pitchFamily="18" charset="0"/>
              </a:rPr>
              <a:t>D</a:t>
            </a:r>
            <a:r>
              <a:rPr lang="zh-CN" altLang="en-US" sz="2000" b="1" dirty="0">
                <a:solidFill>
                  <a:schemeClr val="bg2"/>
                </a:solidFill>
                <a:cs typeface="Times New Roman" pitchFamily="18" charset="0"/>
              </a:rPr>
              <a:t>结束</a:t>
            </a:r>
          </a:p>
        </p:txBody>
      </p:sp>
      <p:sp>
        <p:nvSpPr>
          <p:cNvPr id="58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554896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000"/>
                            </p:stCondLst>
                            <p:childTnLst>
                              <p:par>
                                <p:cTn id="89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6" grpId="0" animBg="1"/>
      <p:bldP spid="34" grpId="0" animBg="1"/>
      <p:bldP spid="40" grpId="0" animBg="1"/>
      <p:bldP spid="44" grpId="0" animBg="1"/>
      <p:bldP spid="50" grpId="0" animBg="1"/>
      <p:bldP spid="51" grpId="0" animBg="1"/>
      <p:bldP spid="52" grpId="0" animBg="1"/>
      <p:bldP spid="54" grpId="0" animBg="1"/>
      <p:bldP spid="55" grpId="0" animBg="1"/>
      <p:bldP spid="56" grpId="0" animBg="1"/>
      <p:bldP spid="57" grpId="0" animBg="1"/>
      <p:bldP spid="5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3FFB4B1-3D1B-418D-8DB8-DDAC8E7CED0D}"/>
              </a:ext>
            </a:extLst>
          </p:cNvPr>
          <p:cNvSpPr/>
          <p:nvPr/>
        </p:nvSpPr>
        <p:spPr>
          <a:xfrm>
            <a:off x="1083406" y="25400"/>
            <a:ext cx="69771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274638" algn="ctr" eaLnBrk="1" hangingPunct="1">
              <a:defRPr/>
            </a:pP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时间片轮转 </a:t>
            </a:r>
            <a:r>
              <a:rPr lang="en-US" altLang="zh-CN" sz="28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  <a:sym typeface="Symbol" panose="05050102010706020507" pitchFamily="18" charset="2"/>
              </a:rPr>
              <a:t>(Round-Robin RR)</a:t>
            </a:r>
            <a:endParaRPr lang="zh-CN" altLang="en-US" sz="2800" dirty="0">
              <a:solidFill>
                <a:srgbClr val="B2622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  <a:cs typeface="+mj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B6DC1EC-1511-4701-9296-8B061F798874}"/>
              </a:ext>
            </a:extLst>
          </p:cNvPr>
          <p:cNvSpPr txBox="1">
            <a:spLocks noChangeArrowheads="1"/>
          </p:cNvSpPr>
          <p:nvPr/>
        </p:nvSpPr>
        <p:spPr>
          <a:xfrm>
            <a:off x="125760" y="1071492"/>
            <a:ext cx="9126760" cy="458975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55600" lvl="2" indent="-355600" defTabSz="355600">
              <a:lnSpc>
                <a:spcPct val="12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分时系统</a:t>
            </a:r>
            <a:endParaRPr lang="en-US" altLang="zh-CN" sz="3600" dirty="0" smtClean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355600" lvl="2" indent="-355600" defTabSz="355600">
              <a:lnSpc>
                <a:spcPct val="12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按时间片来轮转调度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lnSpc>
                <a:spcPct val="110000"/>
              </a:lnSpc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把</a:t>
            </a:r>
            <a:r>
              <a:rPr lang="en-US" altLang="zh-CN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CPU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划分成若干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时间片；</a:t>
            </a:r>
            <a:endParaRPr lang="zh-CN" altLang="en-US" sz="3200" dirty="0">
              <a:solidFill>
                <a:schemeClr val="bg2"/>
              </a:solidFill>
              <a:effectLst/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lnSpc>
                <a:spcPct val="110000"/>
              </a:lnSpc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将所有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就绪进程按照</a:t>
            </a:r>
            <a:r>
              <a:rPr lang="en-US" altLang="zh-CN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FCFS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排队；</a:t>
            </a:r>
            <a:endParaRPr lang="zh-CN" altLang="en-US" sz="3200" dirty="0">
              <a:solidFill>
                <a:schemeClr val="bg2"/>
              </a:solidFill>
              <a:effectLst/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lnSpc>
                <a:spcPct val="110000"/>
              </a:lnSpc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将</a:t>
            </a:r>
            <a:r>
              <a:rPr lang="en-US" altLang="zh-CN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CPU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分派给队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首进程，执行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一个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时间片；</a:t>
            </a:r>
            <a:endParaRPr lang="en-US" altLang="zh-CN" sz="3200" dirty="0">
              <a:solidFill>
                <a:schemeClr val="bg2"/>
              </a:solidFill>
              <a:effectLst/>
              <a:latin typeface="+mj-lt"/>
              <a:ea typeface="楷体" panose="02010609060101010101" pitchFamily="49" charset="-122"/>
            </a:endParaRPr>
          </a:p>
          <a:p>
            <a:pPr marL="1270000" lvl="4" indent="-355600" defTabSz="355600">
              <a:lnSpc>
                <a:spcPct val="110000"/>
              </a:lnSpc>
              <a:spcBef>
                <a:spcPct val="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时间片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结束，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暂停，送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到就绪队列的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末尾</a:t>
            </a:r>
            <a:endParaRPr lang="en-US" altLang="zh-CN" sz="3200" dirty="0" smtClean="0">
              <a:solidFill>
                <a:schemeClr val="bg2"/>
              </a:solidFill>
              <a:effectLst/>
              <a:latin typeface="+mj-lt"/>
              <a:ea typeface="楷体" panose="02010609060101010101" pitchFamily="49" charset="-122"/>
            </a:endParaRPr>
          </a:p>
        </p:txBody>
      </p:sp>
      <p:sp>
        <p:nvSpPr>
          <p:cNvPr id="6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478102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3D64D67-3A9F-4DB4-9E3B-AC67903D6186}"/>
              </a:ext>
            </a:extLst>
          </p:cNvPr>
          <p:cNvSpPr txBox="1">
            <a:spLocks noChangeArrowheads="1"/>
          </p:cNvSpPr>
          <p:nvPr/>
        </p:nvSpPr>
        <p:spPr>
          <a:xfrm>
            <a:off x="1426952" y="10244"/>
            <a:ext cx="6279232" cy="6762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pitchFamily="34" charset="-128"/>
                <a:sym typeface="Symbol" panose="05050102010706020507" pitchFamily="18" charset="2"/>
              </a:rPr>
              <a:t>时间片</a:t>
            </a:r>
            <a:r>
              <a:rPr lang="zh-CN" altLang="en-US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pitchFamily="34" charset="-128"/>
              </a:rPr>
              <a:t>轮转</a:t>
            </a:r>
            <a:r>
              <a:rPr lang="zh-CN" altLang="en-US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pitchFamily="34" charset="-128"/>
                <a:sym typeface="Symbol" panose="05050102010706020507" pitchFamily="18" charset="2"/>
              </a:rPr>
              <a:t>实例</a:t>
            </a:r>
            <a:endParaRPr lang="en-US" altLang="zh-CN" sz="4000" dirty="0">
              <a:solidFill>
                <a:srgbClr val="0066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MS PGothic" pitchFamily="34" charset="-128"/>
              <a:sym typeface="Symbol" panose="05050102010706020507" pitchFamily="18" charset="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79AF9DD-5AC4-4AA9-B106-53815E08170D}"/>
              </a:ext>
            </a:extLst>
          </p:cNvPr>
          <p:cNvSpPr txBox="1">
            <a:spLocks noChangeArrowheads="1"/>
          </p:cNvSpPr>
          <p:nvPr/>
        </p:nvSpPr>
        <p:spPr>
          <a:xfrm>
            <a:off x="4566568" y="967581"/>
            <a:ext cx="3793232" cy="2629272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>
              <a:buFontTx/>
              <a:buNone/>
              <a:tabLst>
                <a:tab pos="2222500" algn="ctr"/>
                <a:tab pos="3997325" algn="ctr"/>
              </a:tabLst>
            </a:pPr>
            <a:r>
              <a:rPr lang="zh-CN" altLang="en-US" b="0" kern="0" dirty="0"/>
              <a:t>	</a:t>
            </a:r>
            <a:r>
              <a:rPr lang="en-US" altLang="zh-CN" sz="2800" u="sng" kern="0" dirty="0">
                <a:solidFill>
                  <a:schemeClr val="bg2"/>
                </a:solidFill>
                <a:effectLst/>
              </a:rPr>
              <a:t>Process</a:t>
            </a:r>
            <a:r>
              <a:rPr lang="en-US" altLang="zh-CN" sz="2800" kern="0" dirty="0">
                <a:solidFill>
                  <a:schemeClr val="bg2"/>
                </a:solidFill>
                <a:effectLst/>
              </a:rPr>
              <a:t>	      </a:t>
            </a:r>
            <a:r>
              <a:rPr lang="en-US" altLang="zh-CN" sz="2800" u="sng" kern="0" dirty="0">
                <a:solidFill>
                  <a:schemeClr val="bg2"/>
                </a:solidFill>
                <a:effectLst/>
              </a:rPr>
              <a:t>CPU</a:t>
            </a:r>
            <a:r>
              <a:rPr lang="zh-CN" altLang="en-US" sz="2800" u="sng" kern="0" dirty="0">
                <a:solidFill>
                  <a:schemeClr val="bg2"/>
                </a:solidFill>
                <a:effectLst/>
              </a:rPr>
              <a:t>时间</a:t>
            </a:r>
            <a:endParaRPr lang="en-US" altLang="zh-CN" sz="2800" u="sng" kern="0" dirty="0">
              <a:solidFill>
                <a:schemeClr val="bg2"/>
              </a:solidFill>
              <a:effectLst/>
            </a:endParaRPr>
          </a:p>
          <a:p>
            <a:pPr>
              <a:buFontTx/>
              <a:buNone/>
              <a:tabLst>
                <a:tab pos="2222500" algn="ctr"/>
                <a:tab pos="3997325" algn="ctr"/>
              </a:tabLst>
            </a:pPr>
            <a:r>
              <a:rPr lang="en-US" altLang="zh-CN" sz="2800" i="1" kern="0" dirty="0">
                <a:solidFill>
                  <a:schemeClr val="bg2"/>
                </a:solidFill>
                <a:effectLst/>
              </a:rPr>
              <a:t>	P</a:t>
            </a:r>
            <a:r>
              <a:rPr lang="en-US" altLang="zh-CN" sz="2800" i="1" kern="0" baseline="-25000" dirty="0">
                <a:solidFill>
                  <a:schemeClr val="bg2"/>
                </a:solidFill>
                <a:effectLst/>
              </a:rPr>
              <a:t>1	      </a:t>
            </a:r>
            <a:r>
              <a:rPr lang="en-US" altLang="zh-CN" sz="2800" kern="0" dirty="0">
                <a:solidFill>
                  <a:schemeClr val="bg2"/>
                </a:solidFill>
                <a:effectLst/>
              </a:rPr>
              <a:t>53</a:t>
            </a:r>
          </a:p>
          <a:p>
            <a:pPr>
              <a:buFontTx/>
              <a:buNone/>
              <a:tabLst>
                <a:tab pos="2222500" algn="ctr"/>
                <a:tab pos="3997325" algn="ctr"/>
              </a:tabLst>
            </a:pPr>
            <a:r>
              <a:rPr lang="en-US" altLang="zh-CN" sz="2800" kern="0" dirty="0">
                <a:solidFill>
                  <a:schemeClr val="bg2"/>
                </a:solidFill>
                <a:effectLst/>
              </a:rPr>
              <a:t>	</a:t>
            </a:r>
            <a:r>
              <a:rPr lang="en-US" altLang="zh-CN" sz="2800" i="1" kern="0" dirty="0">
                <a:solidFill>
                  <a:schemeClr val="bg2"/>
                </a:solidFill>
                <a:effectLst/>
              </a:rPr>
              <a:t>P</a:t>
            </a:r>
            <a:r>
              <a:rPr lang="en-US" altLang="zh-CN" sz="2800" i="1" kern="0" baseline="-25000" dirty="0">
                <a:solidFill>
                  <a:schemeClr val="bg2"/>
                </a:solidFill>
                <a:effectLst/>
              </a:rPr>
              <a:t>2	    </a:t>
            </a:r>
            <a:r>
              <a:rPr lang="en-US" altLang="zh-CN" sz="2800" kern="0" dirty="0">
                <a:solidFill>
                  <a:schemeClr val="bg2"/>
                </a:solidFill>
                <a:effectLst/>
              </a:rPr>
              <a:t>17</a:t>
            </a:r>
          </a:p>
          <a:p>
            <a:pPr>
              <a:buFontTx/>
              <a:buNone/>
              <a:tabLst>
                <a:tab pos="2222500" algn="ctr"/>
                <a:tab pos="3997325" algn="ctr"/>
              </a:tabLst>
            </a:pPr>
            <a:r>
              <a:rPr lang="en-US" altLang="zh-CN" sz="2800" kern="0" dirty="0">
                <a:solidFill>
                  <a:schemeClr val="bg2"/>
                </a:solidFill>
                <a:effectLst/>
              </a:rPr>
              <a:t>	</a:t>
            </a:r>
            <a:r>
              <a:rPr lang="en-US" altLang="zh-CN" sz="2800" i="1" kern="0" dirty="0">
                <a:solidFill>
                  <a:schemeClr val="bg2"/>
                </a:solidFill>
                <a:effectLst/>
              </a:rPr>
              <a:t>P</a:t>
            </a:r>
            <a:r>
              <a:rPr lang="en-US" altLang="zh-CN" sz="2800" i="1" kern="0" baseline="-25000" dirty="0">
                <a:solidFill>
                  <a:schemeClr val="bg2"/>
                </a:solidFill>
                <a:effectLst/>
              </a:rPr>
              <a:t>3	   </a:t>
            </a:r>
            <a:r>
              <a:rPr lang="en-US" altLang="zh-CN" sz="2800" kern="0" dirty="0">
                <a:solidFill>
                  <a:schemeClr val="bg2"/>
                </a:solidFill>
                <a:effectLst/>
              </a:rPr>
              <a:t>68</a:t>
            </a:r>
          </a:p>
          <a:p>
            <a:pPr>
              <a:buFontTx/>
              <a:buNone/>
              <a:tabLst>
                <a:tab pos="2222500" algn="ctr"/>
                <a:tab pos="3997325" algn="ctr"/>
              </a:tabLst>
            </a:pPr>
            <a:r>
              <a:rPr lang="en-US" altLang="zh-CN" sz="2800" kern="0" dirty="0">
                <a:solidFill>
                  <a:schemeClr val="bg2"/>
                </a:solidFill>
                <a:effectLst/>
              </a:rPr>
              <a:t>	</a:t>
            </a:r>
            <a:r>
              <a:rPr lang="en-US" altLang="zh-CN" sz="2800" i="1" kern="0" dirty="0">
                <a:solidFill>
                  <a:schemeClr val="bg2"/>
                </a:solidFill>
                <a:effectLst/>
              </a:rPr>
              <a:t>P</a:t>
            </a:r>
            <a:r>
              <a:rPr lang="en-US" altLang="zh-CN" sz="2800" i="1" kern="0" baseline="-25000" dirty="0">
                <a:solidFill>
                  <a:schemeClr val="bg2"/>
                </a:solidFill>
                <a:effectLst/>
              </a:rPr>
              <a:t>4	   </a:t>
            </a:r>
            <a:r>
              <a:rPr lang="en-US" altLang="zh-CN" sz="2800" kern="0" dirty="0">
                <a:solidFill>
                  <a:schemeClr val="bg2"/>
                </a:solidFill>
                <a:effectLst/>
              </a:rPr>
              <a:t>24</a:t>
            </a:r>
            <a:br>
              <a:rPr lang="en-US" altLang="zh-CN" sz="2800" kern="0" dirty="0">
                <a:solidFill>
                  <a:schemeClr val="bg2"/>
                </a:solidFill>
                <a:effectLst/>
              </a:rPr>
            </a:br>
            <a:r>
              <a:rPr lang="en-US" altLang="zh-CN" b="0" kern="0" dirty="0"/>
              <a:t/>
            </a:r>
            <a:br>
              <a:rPr lang="en-US" altLang="zh-CN" b="0" kern="0" dirty="0"/>
            </a:br>
            <a:r>
              <a:rPr lang="en-US" altLang="zh-CN" b="0" kern="0" dirty="0"/>
              <a:t/>
            </a:r>
            <a:br>
              <a:rPr lang="en-US" altLang="zh-CN" b="0" kern="0" dirty="0"/>
            </a:br>
            <a:endParaRPr lang="en-US" altLang="zh-CN" b="0" kern="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1C614BB-9589-444C-9034-525FB172C076}"/>
              </a:ext>
            </a:extLst>
          </p:cNvPr>
          <p:cNvSpPr txBox="1">
            <a:spLocks noChangeArrowheads="1"/>
          </p:cNvSpPr>
          <p:nvPr/>
        </p:nvSpPr>
        <p:spPr>
          <a:xfrm>
            <a:off x="784200" y="967581"/>
            <a:ext cx="3502023" cy="457200"/>
          </a:xfrm>
          <a:prstGeom prst="rect">
            <a:avLst/>
          </a:prstGeom>
          <a:noFill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>
              <a:buFontTx/>
              <a:buNone/>
              <a:tabLst>
                <a:tab pos="3651250" algn="ctr"/>
              </a:tabLst>
            </a:pPr>
            <a:r>
              <a:rPr lang="zh-CN" altLang="en-US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假定时间片</a:t>
            </a:r>
            <a:r>
              <a:rPr lang="en-US" altLang="zh-CN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20ms</a:t>
            </a:r>
            <a:endParaRPr lang="zh-CN" altLang="zh-CN" sz="2800" kern="0" dirty="0">
              <a:solidFill>
                <a:schemeClr val="bg2"/>
              </a:solidFill>
              <a:effectLst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6D7D856-22F7-4D0A-B4D1-97551F32213E}"/>
              </a:ext>
            </a:extLst>
          </p:cNvPr>
          <p:cNvSpPr txBox="1">
            <a:spLocks noChangeArrowheads="1"/>
          </p:cNvSpPr>
          <p:nvPr/>
        </p:nvSpPr>
        <p:spPr>
          <a:xfrm>
            <a:off x="998132" y="3596853"/>
            <a:ext cx="3074158" cy="66283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0" indent="0">
              <a:buNone/>
              <a:tabLst>
                <a:tab pos="3651250" algn="ctr"/>
              </a:tabLst>
            </a:pPr>
            <a:r>
              <a:rPr lang="zh-CN" altLang="en-US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调度的</a:t>
            </a:r>
            <a:r>
              <a:rPr lang="en-US" altLang="zh-CN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Gantt</a:t>
            </a:r>
            <a:r>
              <a:rPr lang="zh-CN" altLang="en-US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图</a:t>
            </a:r>
            <a:r>
              <a:rPr lang="zh-CN" altLang="zh-CN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 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CFD6AE2A-8AD3-4BBE-88B0-6491534F4975}"/>
              </a:ext>
            </a:extLst>
          </p:cNvPr>
          <p:cNvGrpSpPr/>
          <p:nvPr/>
        </p:nvGrpSpPr>
        <p:grpSpPr>
          <a:xfrm>
            <a:off x="1594768" y="4397759"/>
            <a:ext cx="6099068" cy="993011"/>
            <a:chOff x="1594768" y="4397759"/>
            <a:chExt cx="6099068" cy="993011"/>
          </a:xfrm>
        </p:grpSpPr>
        <p:grpSp>
          <p:nvGrpSpPr>
            <p:cNvPr id="8" name="Group 14">
              <a:extLst>
                <a:ext uri="{FF2B5EF4-FFF2-40B4-BE49-F238E27FC236}">
                  <a16:creationId xmlns:a16="http://schemas.microsoft.com/office/drawing/2014/main" id="{20625D1E-D946-4C85-8A77-6D91A09E09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47168" y="4397759"/>
              <a:ext cx="5638800" cy="609600"/>
              <a:chOff x="1152" y="2736"/>
              <a:chExt cx="2880" cy="28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9" name="Rectangle 4">
                <a:extLst>
                  <a:ext uri="{FF2B5EF4-FFF2-40B4-BE49-F238E27FC236}">
                    <a16:creationId xmlns:a16="http://schemas.microsoft.com/office/drawing/2014/main" id="{7DE21D69-2649-4115-9A54-3829365816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736"/>
                <a:ext cx="288" cy="288"/>
              </a:xfrm>
              <a:prstGeom prst="rect">
                <a:avLst/>
              </a:prstGeom>
              <a:grpFill/>
              <a:ln w="9525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000">
                    <a:solidFill>
                      <a:schemeClr val="bg2"/>
                    </a:solidFill>
                  </a:rPr>
                  <a:t>P</a:t>
                </a:r>
                <a:r>
                  <a:rPr lang="en-US" altLang="zh-CN" sz="2000" baseline="-25000">
                    <a:solidFill>
                      <a:schemeClr val="bg2"/>
                    </a:solidFill>
                  </a:rPr>
                  <a:t>1</a:t>
                </a:r>
                <a:endParaRPr lang="en-US" altLang="zh-CN" sz="2000">
                  <a:solidFill>
                    <a:schemeClr val="bg2"/>
                  </a:solidFill>
                </a:endParaRPr>
              </a:p>
            </p:txBody>
          </p:sp>
          <p:sp>
            <p:nvSpPr>
              <p:cNvPr id="10" name="Rectangle 5">
                <a:extLst>
                  <a:ext uri="{FF2B5EF4-FFF2-40B4-BE49-F238E27FC236}">
                    <a16:creationId xmlns:a16="http://schemas.microsoft.com/office/drawing/2014/main" id="{E50F3AA2-54A1-4DB9-B023-B61525EDD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2736"/>
                <a:ext cx="288" cy="288"/>
              </a:xfrm>
              <a:prstGeom prst="rect">
                <a:avLst/>
              </a:prstGeom>
              <a:grpFill/>
              <a:ln w="9525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000">
                    <a:solidFill>
                      <a:schemeClr val="bg2"/>
                    </a:solidFill>
                  </a:rPr>
                  <a:t>P</a:t>
                </a:r>
                <a:r>
                  <a:rPr lang="en-US" altLang="zh-CN" sz="2000" baseline="-25000">
                    <a:solidFill>
                      <a:schemeClr val="bg2"/>
                    </a:solidFill>
                  </a:rPr>
                  <a:t>2</a:t>
                </a:r>
              </a:p>
            </p:txBody>
          </p:sp>
          <p:sp>
            <p:nvSpPr>
              <p:cNvPr id="11" name="Rectangle 6">
                <a:extLst>
                  <a:ext uri="{FF2B5EF4-FFF2-40B4-BE49-F238E27FC236}">
                    <a16:creationId xmlns:a16="http://schemas.microsoft.com/office/drawing/2014/main" id="{A1C25B11-ED9D-4485-86B4-A833995936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2736"/>
                <a:ext cx="288" cy="288"/>
              </a:xfrm>
              <a:prstGeom prst="rect">
                <a:avLst/>
              </a:prstGeom>
              <a:grpFill/>
              <a:ln w="9525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000">
                    <a:solidFill>
                      <a:schemeClr val="bg2"/>
                    </a:solidFill>
                  </a:rPr>
                  <a:t>P</a:t>
                </a:r>
                <a:r>
                  <a:rPr lang="en-US" altLang="zh-CN" sz="2000" baseline="-25000">
                    <a:solidFill>
                      <a:schemeClr val="bg2"/>
                    </a:solidFill>
                  </a:rPr>
                  <a:t>3</a:t>
                </a:r>
              </a:p>
            </p:txBody>
          </p:sp>
          <p:sp>
            <p:nvSpPr>
              <p:cNvPr id="12" name="Rectangle 7">
                <a:extLst>
                  <a:ext uri="{FF2B5EF4-FFF2-40B4-BE49-F238E27FC236}">
                    <a16:creationId xmlns:a16="http://schemas.microsoft.com/office/drawing/2014/main" id="{FD344BB1-C90A-4CE3-97C4-D4AE040CD3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2736"/>
                <a:ext cx="288" cy="288"/>
              </a:xfrm>
              <a:prstGeom prst="rect">
                <a:avLst/>
              </a:prstGeom>
              <a:grpFill/>
              <a:ln w="9525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000">
                    <a:solidFill>
                      <a:schemeClr val="bg2"/>
                    </a:solidFill>
                  </a:rPr>
                  <a:t>P</a:t>
                </a:r>
                <a:r>
                  <a:rPr lang="en-US" altLang="zh-CN" sz="2000" baseline="-25000">
                    <a:solidFill>
                      <a:schemeClr val="bg2"/>
                    </a:solidFill>
                  </a:rPr>
                  <a:t>4</a:t>
                </a:r>
              </a:p>
            </p:txBody>
          </p:sp>
          <p:sp>
            <p:nvSpPr>
              <p:cNvPr id="13" name="Rectangle 8">
                <a:extLst>
                  <a:ext uri="{FF2B5EF4-FFF2-40B4-BE49-F238E27FC236}">
                    <a16:creationId xmlns:a16="http://schemas.microsoft.com/office/drawing/2014/main" id="{DE729F19-BDE4-4B48-AB31-44E044537B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736"/>
                <a:ext cx="288" cy="288"/>
              </a:xfrm>
              <a:prstGeom prst="rect">
                <a:avLst/>
              </a:prstGeom>
              <a:grpFill/>
              <a:ln w="9525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000">
                    <a:solidFill>
                      <a:schemeClr val="bg2"/>
                    </a:solidFill>
                  </a:rPr>
                  <a:t>P</a:t>
                </a:r>
                <a:r>
                  <a:rPr lang="en-US" altLang="zh-CN" sz="2000" baseline="-25000">
                    <a:solidFill>
                      <a:schemeClr val="bg2"/>
                    </a:solidFill>
                  </a:rPr>
                  <a:t>1</a:t>
                </a:r>
              </a:p>
            </p:txBody>
          </p:sp>
          <p:sp>
            <p:nvSpPr>
              <p:cNvPr id="14" name="Rectangle 9">
                <a:extLst>
                  <a:ext uri="{FF2B5EF4-FFF2-40B4-BE49-F238E27FC236}">
                    <a16:creationId xmlns:a16="http://schemas.microsoft.com/office/drawing/2014/main" id="{19ACBE86-C5E4-43FF-BA16-5AC1761CCA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2736"/>
                <a:ext cx="288" cy="288"/>
              </a:xfrm>
              <a:prstGeom prst="rect">
                <a:avLst/>
              </a:prstGeom>
              <a:grpFill/>
              <a:ln w="9525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000">
                    <a:solidFill>
                      <a:schemeClr val="bg2"/>
                    </a:solidFill>
                  </a:rPr>
                  <a:t>P</a:t>
                </a:r>
                <a:r>
                  <a:rPr lang="en-US" altLang="zh-CN" sz="2000" baseline="-25000">
                    <a:solidFill>
                      <a:schemeClr val="bg2"/>
                    </a:solidFill>
                  </a:rPr>
                  <a:t>3</a:t>
                </a:r>
              </a:p>
            </p:txBody>
          </p:sp>
          <p:sp>
            <p:nvSpPr>
              <p:cNvPr id="15" name="Rectangle 10">
                <a:extLst>
                  <a:ext uri="{FF2B5EF4-FFF2-40B4-BE49-F238E27FC236}">
                    <a16:creationId xmlns:a16="http://schemas.microsoft.com/office/drawing/2014/main" id="{16C9DD46-9346-4232-A5E6-92CDCE44F3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2736"/>
                <a:ext cx="288" cy="288"/>
              </a:xfrm>
              <a:prstGeom prst="rect">
                <a:avLst/>
              </a:prstGeom>
              <a:grpFill/>
              <a:ln w="9525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000">
                    <a:solidFill>
                      <a:schemeClr val="bg2"/>
                    </a:solidFill>
                  </a:rPr>
                  <a:t>P</a:t>
                </a:r>
                <a:r>
                  <a:rPr lang="en-US" altLang="zh-CN" sz="2000" baseline="-25000">
                    <a:solidFill>
                      <a:schemeClr val="bg2"/>
                    </a:solidFill>
                  </a:rPr>
                  <a:t>4</a:t>
                </a:r>
              </a:p>
            </p:txBody>
          </p:sp>
          <p:sp>
            <p:nvSpPr>
              <p:cNvPr id="16" name="Rectangle 11">
                <a:extLst>
                  <a:ext uri="{FF2B5EF4-FFF2-40B4-BE49-F238E27FC236}">
                    <a16:creationId xmlns:a16="http://schemas.microsoft.com/office/drawing/2014/main" id="{1E35A94A-145B-486D-BA7C-8BB2CA0152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736"/>
                <a:ext cx="288" cy="288"/>
              </a:xfrm>
              <a:prstGeom prst="rect">
                <a:avLst/>
              </a:prstGeom>
              <a:grpFill/>
              <a:ln w="9525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000">
                    <a:solidFill>
                      <a:schemeClr val="bg2"/>
                    </a:solidFill>
                  </a:rPr>
                  <a:t>P</a:t>
                </a:r>
                <a:r>
                  <a:rPr lang="en-US" altLang="zh-CN" sz="2000" baseline="-25000">
                    <a:solidFill>
                      <a:schemeClr val="bg2"/>
                    </a:solidFill>
                  </a:rPr>
                  <a:t>1</a:t>
                </a:r>
              </a:p>
            </p:txBody>
          </p:sp>
          <p:sp>
            <p:nvSpPr>
              <p:cNvPr id="17" name="Rectangle 12">
                <a:extLst>
                  <a:ext uri="{FF2B5EF4-FFF2-40B4-BE49-F238E27FC236}">
                    <a16:creationId xmlns:a16="http://schemas.microsoft.com/office/drawing/2014/main" id="{669F973B-6F94-4AB1-86B1-0243E3CBDC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2736"/>
                <a:ext cx="288" cy="288"/>
              </a:xfrm>
              <a:prstGeom prst="rect">
                <a:avLst/>
              </a:prstGeom>
              <a:grpFill/>
              <a:ln w="9525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000">
                    <a:solidFill>
                      <a:schemeClr val="bg2"/>
                    </a:solidFill>
                  </a:rPr>
                  <a:t>P</a:t>
                </a:r>
                <a:r>
                  <a:rPr lang="en-US" altLang="zh-CN" sz="2000" baseline="-25000">
                    <a:solidFill>
                      <a:schemeClr val="bg2"/>
                    </a:solidFill>
                  </a:rPr>
                  <a:t>3</a:t>
                </a:r>
              </a:p>
            </p:txBody>
          </p:sp>
          <p:sp>
            <p:nvSpPr>
              <p:cNvPr id="18" name="Rectangle 13">
                <a:extLst>
                  <a:ext uri="{FF2B5EF4-FFF2-40B4-BE49-F238E27FC236}">
                    <a16:creationId xmlns:a16="http://schemas.microsoft.com/office/drawing/2014/main" id="{0D84B3FC-1947-492D-A8F7-C0E2DDAFB2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2736"/>
                <a:ext cx="288" cy="288"/>
              </a:xfrm>
              <a:prstGeom prst="rect">
                <a:avLst/>
              </a:prstGeom>
              <a:grpFill/>
              <a:ln w="9525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Helvetica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000">
                    <a:solidFill>
                      <a:schemeClr val="bg2"/>
                    </a:solidFill>
                  </a:rPr>
                  <a:t>P</a:t>
                </a:r>
                <a:r>
                  <a:rPr lang="en-US" altLang="zh-CN" sz="2000" baseline="-25000">
                    <a:solidFill>
                      <a:schemeClr val="bg2"/>
                    </a:solidFill>
                  </a:rPr>
                  <a:t>3</a:t>
                </a:r>
              </a:p>
            </p:txBody>
          </p:sp>
        </p:grpSp>
        <p:sp>
          <p:nvSpPr>
            <p:cNvPr id="19" name="Text Box 15">
              <a:extLst>
                <a:ext uri="{FF2B5EF4-FFF2-40B4-BE49-F238E27FC236}">
                  <a16:creationId xmlns:a16="http://schemas.microsoft.com/office/drawing/2014/main" id="{0EA0062C-D035-4662-A75C-8D5C19EB74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4768" y="4990660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dirty="0">
                  <a:solidFill>
                    <a:schemeClr val="bg2"/>
                  </a:solidFill>
                </a:rPr>
                <a:t>0</a:t>
              </a:r>
            </a:p>
          </p:txBody>
        </p:sp>
        <p:sp>
          <p:nvSpPr>
            <p:cNvPr id="20" name="Text Box 16">
              <a:extLst>
                <a:ext uri="{FF2B5EF4-FFF2-40B4-BE49-F238E27FC236}">
                  <a16:creationId xmlns:a16="http://schemas.microsoft.com/office/drawing/2014/main" id="{FF0B3F26-F3A4-4B0F-A0BF-8F738AE877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668" y="4990660"/>
              <a:ext cx="4700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bg2"/>
                  </a:solidFill>
                </a:rPr>
                <a:t>20</a:t>
              </a:r>
            </a:p>
          </p:txBody>
        </p:sp>
        <p:sp>
          <p:nvSpPr>
            <p:cNvPr id="21" name="Text Box 17">
              <a:extLst>
                <a:ext uri="{FF2B5EF4-FFF2-40B4-BE49-F238E27FC236}">
                  <a16:creationId xmlns:a16="http://schemas.microsoft.com/office/drawing/2014/main" id="{0CA9C888-CF9C-49EC-B0AB-FC62347247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8068" y="4990660"/>
              <a:ext cx="4700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bg2"/>
                  </a:solidFill>
                </a:rPr>
                <a:t>37</a:t>
              </a:r>
            </a:p>
          </p:txBody>
        </p:sp>
        <p:sp>
          <p:nvSpPr>
            <p:cNvPr id="22" name="Text Box 18">
              <a:extLst>
                <a:ext uri="{FF2B5EF4-FFF2-40B4-BE49-F238E27FC236}">
                  <a16:creationId xmlns:a16="http://schemas.microsoft.com/office/drawing/2014/main" id="{28125F8B-2500-4E03-BB80-D5984DDA98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1318" y="4990660"/>
              <a:ext cx="4700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bg2"/>
                  </a:solidFill>
                </a:rPr>
                <a:t>57</a:t>
              </a:r>
            </a:p>
          </p:txBody>
        </p:sp>
        <p:sp>
          <p:nvSpPr>
            <p:cNvPr id="23" name="Text Box 19">
              <a:extLst>
                <a:ext uri="{FF2B5EF4-FFF2-40B4-BE49-F238E27FC236}">
                  <a16:creationId xmlns:a16="http://schemas.microsoft.com/office/drawing/2014/main" id="{B77E670F-E883-4D15-938E-4AD006EB22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7268" y="4990660"/>
              <a:ext cx="4700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dirty="0">
                  <a:solidFill>
                    <a:schemeClr val="bg2"/>
                  </a:solidFill>
                </a:rPr>
                <a:t>77</a:t>
              </a:r>
            </a:p>
          </p:txBody>
        </p:sp>
        <p:sp>
          <p:nvSpPr>
            <p:cNvPr id="24" name="Text Box 20">
              <a:extLst>
                <a:ext uri="{FF2B5EF4-FFF2-40B4-BE49-F238E27FC236}">
                  <a16:creationId xmlns:a16="http://schemas.microsoft.com/office/drawing/2014/main" id="{AE080DE3-369B-4881-B469-27BEF47EF9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0668" y="4990660"/>
              <a:ext cx="4700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bg2"/>
                  </a:solidFill>
                </a:rPr>
                <a:t>97</a:t>
              </a:r>
            </a:p>
          </p:txBody>
        </p:sp>
        <p:sp>
          <p:nvSpPr>
            <p:cNvPr id="25" name="Text Box 21">
              <a:extLst>
                <a:ext uri="{FF2B5EF4-FFF2-40B4-BE49-F238E27FC236}">
                  <a16:creationId xmlns:a16="http://schemas.microsoft.com/office/drawing/2014/main" id="{0E72FA57-9901-4A73-95BD-36D26FEA88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20568" y="4990660"/>
              <a:ext cx="59849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bg2"/>
                  </a:solidFill>
                </a:rPr>
                <a:t>117</a:t>
              </a:r>
            </a:p>
          </p:txBody>
        </p:sp>
        <p:sp>
          <p:nvSpPr>
            <p:cNvPr id="26" name="Text Box 22">
              <a:extLst>
                <a:ext uri="{FF2B5EF4-FFF2-40B4-BE49-F238E27FC236}">
                  <a16:creationId xmlns:a16="http://schemas.microsoft.com/office/drawing/2014/main" id="{C31C37E8-7144-4770-8750-B83532AAFD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0168" y="4990660"/>
              <a:ext cx="61266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bg2"/>
                  </a:solidFill>
                </a:rPr>
                <a:t>121</a:t>
              </a:r>
            </a:p>
          </p:txBody>
        </p:sp>
        <p:sp>
          <p:nvSpPr>
            <p:cNvPr id="27" name="Text Box 24">
              <a:extLst>
                <a:ext uri="{FF2B5EF4-FFF2-40B4-BE49-F238E27FC236}">
                  <a16:creationId xmlns:a16="http://schemas.microsoft.com/office/drawing/2014/main" id="{5DB96D37-32A2-4DF1-BDDF-5B85F4962D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63568" y="4990660"/>
              <a:ext cx="61266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bg2"/>
                  </a:solidFill>
                </a:rPr>
                <a:t>134</a:t>
              </a:r>
            </a:p>
          </p:txBody>
        </p:sp>
        <p:sp>
          <p:nvSpPr>
            <p:cNvPr id="28" name="Text Box 25">
              <a:extLst>
                <a:ext uri="{FF2B5EF4-FFF2-40B4-BE49-F238E27FC236}">
                  <a16:creationId xmlns:a16="http://schemas.microsoft.com/office/drawing/2014/main" id="{5DCD87F5-4746-4487-AA98-82B96BE34E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7768" y="4990660"/>
              <a:ext cx="61266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bg2"/>
                  </a:solidFill>
                </a:rPr>
                <a:t>154</a:t>
              </a:r>
            </a:p>
          </p:txBody>
        </p:sp>
        <p:sp>
          <p:nvSpPr>
            <p:cNvPr id="29" name="Text Box 26">
              <a:extLst>
                <a:ext uri="{FF2B5EF4-FFF2-40B4-BE49-F238E27FC236}">
                  <a16:creationId xmlns:a16="http://schemas.microsoft.com/office/drawing/2014/main" id="{0DCE2013-885E-4457-BD26-6F22E11A65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1168" y="4990660"/>
              <a:ext cx="61266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dirty="0">
                  <a:solidFill>
                    <a:schemeClr val="bg2"/>
                  </a:solidFill>
                </a:rPr>
                <a:t>162</a:t>
              </a:r>
            </a:p>
          </p:txBody>
        </p:sp>
      </p:grpSp>
      <p:sp>
        <p:nvSpPr>
          <p:cNvPr id="31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121205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>
            <a:extLst>
              <a:ext uri="{FF2B5EF4-FFF2-40B4-BE49-F238E27FC236}">
                <a16:creationId xmlns:a16="http://schemas.microsoft.com/office/drawing/2014/main" id="{F954641F-69EC-47BE-BA65-8929F49C5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92" t="23140" r="28781" b="55464"/>
          <a:stretch>
            <a:fillRect/>
          </a:stretch>
        </p:blipFill>
        <p:spPr bwMode="auto">
          <a:xfrm>
            <a:off x="905437" y="1483020"/>
            <a:ext cx="7333126" cy="330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D96C518-5F44-4559-A87F-DE446541A18F}"/>
              </a:ext>
            </a:extLst>
          </p:cNvPr>
          <p:cNvSpPr txBox="1"/>
          <p:nvPr/>
        </p:nvSpPr>
        <p:spPr>
          <a:xfrm>
            <a:off x="2123728" y="4869160"/>
            <a:ext cx="48965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2"/>
                </a:solidFill>
              </a:rPr>
              <a:t>图 </a:t>
            </a:r>
            <a:r>
              <a:rPr lang="en-US" altLang="zh-CN" sz="2000" dirty="0">
                <a:solidFill>
                  <a:schemeClr val="bg2"/>
                </a:solidFill>
              </a:rPr>
              <a:t>6-4</a:t>
            </a:r>
            <a:r>
              <a:rPr lang="zh-CN" altLang="en-US" sz="2000" dirty="0">
                <a:solidFill>
                  <a:schemeClr val="bg2"/>
                </a:solidFill>
              </a:rPr>
              <a:t> 更小时间片如何增加上下文切换</a:t>
            </a:r>
            <a:r>
              <a:rPr lang="en-US" altLang="zh-CN" sz="2000" dirty="0">
                <a:solidFill>
                  <a:schemeClr val="bg2"/>
                </a:solidFill>
              </a:rPr>
              <a:t>  </a:t>
            </a:r>
            <a:endParaRPr lang="zh-CN" altLang="en-US" sz="2000" dirty="0">
              <a:solidFill>
                <a:schemeClr val="bg2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254295D-7CA8-4C0B-B5DD-6A747F60948B}"/>
              </a:ext>
            </a:extLst>
          </p:cNvPr>
          <p:cNvSpPr txBox="1">
            <a:spLocks noChangeArrowheads="1"/>
          </p:cNvSpPr>
          <p:nvPr/>
        </p:nvSpPr>
        <p:spPr>
          <a:xfrm>
            <a:off x="522982" y="161926"/>
            <a:ext cx="8098036" cy="6762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pitchFamily="34" charset="-128"/>
                <a:sym typeface="Symbol" panose="05050102010706020507" pitchFamily="18" charset="2"/>
              </a:rPr>
              <a:t>更小的时间片增加上下文切换次数</a:t>
            </a:r>
            <a:endParaRPr lang="en-US" altLang="zh-CN" sz="4000" dirty="0">
              <a:solidFill>
                <a:srgbClr val="0066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MS PGothic" pitchFamily="34" charset="-128"/>
              <a:sym typeface="Symbol" panose="05050102010706020507" pitchFamily="18" charset="2"/>
            </a:endParaRPr>
          </a:p>
        </p:txBody>
      </p:sp>
      <p:sp>
        <p:nvSpPr>
          <p:cNvPr id="7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034113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30667E2-5DCD-4CA1-BDEC-EFC50D44E8F6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276516"/>
            <a:ext cx="9144000" cy="350146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55600" lvl="2" indent="-355600" defTabSz="355600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优点</a:t>
            </a:r>
            <a:r>
              <a:rPr lang="en-US" altLang="zh-CN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: </a:t>
            </a: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定时有</a:t>
            </a:r>
            <a:r>
              <a:rPr lang="zh-CN" altLang="en-US" sz="3600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响应、等待时间</a:t>
            </a: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较短</a:t>
            </a:r>
          </a:p>
          <a:p>
            <a:pPr marL="812800" lvl="3" indent="-355600" defTabSz="355600"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假定就绪队列中有</a:t>
            </a:r>
            <a:r>
              <a:rPr lang="en-US" altLang="zh-CN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n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个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进程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、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时间片为</a:t>
            </a:r>
            <a:r>
              <a:rPr lang="en-US" altLang="zh-CN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q, 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则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每个进程每次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得到</a:t>
            </a:r>
            <a:r>
              <a:rPr lang="en-US" altLang="zh-CN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q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单位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的</a:t>
            </a:r>
            <a:r>
              <a:rPr lang="en-US" altLang="zh-CN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CPU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时间</a:t>
            </a:r>
            <a:endParaRPr lang="en-US" altLang="zh-CN" sz="3200" dirty="0">
              <a:solidFill>
                <a:schemeClr val="bg2"/>
              </a:solidFill>
              <a:effectLst/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任何进程的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等待时间不会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超过             单位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。</a:t>
            </a:r>
            <a:endParaRPr lang="zh-CN" altLang="zh-CN" sz="3200" dirty="0">
              <a:solidFill>
                <a:schemeClr val="bg2"/>
              </a:solidFill>
              <a:effectLst/>
              <a:latin typeface="+mj-lt"/>
              <a:ea typeface="楷体" panose="02010609060101010101" pitchFamily="49" charset="-122"/>
            </a:endParaRPr>
          </a:p>
          <a:p>
            <a:pPr marL="355600" lvl="2" indent="-355600" defTabSz="355600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缺点</a:t>
            </a:r>
            <a:r>
              <a:rPr lang="en-US" altLang="zh-CN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: </a:t>
            </a: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上下文切换次数较多</a:t>
            </a:r>
          </a:p>
          <a:p>
            <a:pPr marL="812800" lvl="3" indent="-355600" defTabSz="355600"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  <a:sym typeface="Symbol" panose="05050102010706020507" pitchFamily="18" charset="2"/>
              </a:rPr>
              <a:t>时间片相对于上下文切换的间应该足够长，否则将导致系统开销过大。</a:t>
            </a:r>
            <a:endParaRPr lang="zh-CN" altLang="zh-CN" sz="3200" dirty="0">
              <a:solidFill>
                <a:schemeClr val="bg2"/>
              </a:solidFill>
              <a:effectLst/>
              <a:latin typeface="+mj-lt"/>
              <a:ea typeface="楷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04F0DA1-009E-40B5-A619-1C679EC77003}"/>
              </a:ext>
            </a:extLst>
          </p:cNvPr>
          <p:cNvSpPr txBox="1">
            <a:spLocks noChangeArrowheads="1"/>
          </p:cNvSpPr>
          <p:nvPr/>
        </p:nvSpPr>
        <p:spPr>
          <a:xfrm>
            <a:off x="1486644" y="116632"/>
            <a:ext cx="6279232" cy="6762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pitchFamily="34" charset="-128"/>
                <a:sym typeface="Symbol" panose="05050102010706020507" pitchFamily="18" charset="2"/>
              </a:rPr>
              <a:t>RR</a:t>
            </a:r>
            <a:r>
              <a:rPr lang="zh-CN" altLang="en-US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pitchFamily="34" charset="-128"/>
                <a:sym typeface="Symbol" panose="05050102010706020507" pitchFamily="18" charset="2"/>
              </a:rPr>
              <a:t>调度算法的特性</a:t>
            </a:r>
            <a:endParaRPr lang="en-US" altLang="zh-CN" sz="4000" dirty="0">
              <a:solidFill>
                <a:srgbClr val="0066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MS PGothic" pitchFamily="34" charset="-128"/>
              <a:sym typeface="Symbol" panose="05050102010706020507" pitchFamily="18" charset="2"/>
            </a:endParaRPr>
          </a:p>
        </p:txBody>
      </p:sp>
      <p:sp>
        <p:nvSpPr>
          <p:cNvPr id="6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2" name="矩形 1"/>
          <p:cNvSpPr/>
          <p:nvPr/>
        </p:nvSpPr>
        <p:spPr>
          <a:xfrm>
            <a:off x="6228184" y="2564904"/>
            <a:ext cx="13564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>
                <a:solidFill>
                  <a:srgbClr val="FF00FF"/>
                </a:solidFill>
                <a:latin typeface="+mj-lt"/>
                <a:ea typeface="楷体" panose="02010609060101010101" pitchFamily="49" charset="-122"/>
              </a:rPr>
              <a:t>(</a:t>
            </a:r>
            <a:r>
              <a:rPr lang="en-US" altLang="zh-CN" dirty="0">
                <a:solidFill>
                  <a:srgbClr val="FF00FF"/>
                </a:solidFill>
                <a:latin typeface="+mj-lt"/>
                <a:ea typeface="楷体" panose="02010609060101010101" pitchFamily="49" charset="-122"/>
              </a:rPr>
              <a:t>n-1) q</a:t>
            </a:r>
            <a:endParaRPr lang="zh-CN" altLang="en-US" dirty="0">
              <a:solidFill>
                <a:srgbClr val="FF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9199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6BD1E0A0-5EDB-478F-818D-BFC222D75038}"/>
              </a:ext>
            </a:extLst>
          </p:cNvPr>
          <p:cNvSpPr txBox="1">
            <a:spLocks noChangeArrowheads="1"/>
          </p:cNvSpPr>
          <p:nvPr/>
        </p:nvSpPr>
        <p:spPr>
          <a:xfrm>
            <a:off x="1486644" y="116632"/>
            <a:ext cx="6279232" cy="6762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pitchFamily="34" charset="-128"/>
                <a:sym typeface="Symbol" panose="05050102010706020507" pitchFamily="18" charset="2"/>
              </a:rPr>
              <a:t>RR</a:t>
            </a:r>
            <a:r>
              <a:rPr lang="zh-CN" altLang="en-US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pitchFamily="34" charset="-128"/>
                <a:sym typeface="Symbol" panose="05050102010706020507" pitchFamily="18" charset="2"/>
              </a:rPr>
              <a:t>中的时间片</a:t>
            </a:r>
            <a:endParaRPr lang="en-US" altLang="zh-CN" sz="4000" dirty="0">
              <a:solidFill>
                <a:srgbClr val="0066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MS PGothic" pitchFamily="34" charset="-128"/>
              <a:sym typeface="Symbol" panose="05050102010706020507" pitchFamily="18" charset="2"/>
            </a:endParaRP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8F02DFE5-2048-4BA1-86D3-20ABC105688C}"/>
              </a:ext>
            </a:extLst>
          </p:cNvPr>
          <p:cNvSpPr txBox="1">
            <a:spLocks noChangeArrowheads="1"/>
          </p:cNvSpPr>
          <p:nvPr/>
        </p:nvSpPr>
        <p:spPr>
          <a:xfrm>
            <a:off x="-108520" y="1346635"/>
            <a:ext cx="9361040" cy="439248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55600" lvl="2" indent="-355600" defTabSz="355600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太大：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/>
            </a:pPr>
            <a:endParaRPr lang="zh-CN" altLang="en-US" sz="3200" dirty="0">
              <a:solidFill>
                <a:schemeClr val="bg2"/>
              </a:solidFill>
              <a:effectLst/>
              <a:latin typeface="+mj-lt"/>
              <a:ea typeface="楷体" panose="02010609060101010101" pitchFamily="49" charset="-122"/>
              <a:sym typeface="Symbol" panose="05050102010706020507" pitchFamily="18" charset="2"/>
            </a:endParaRPr>
          </a:p>
          <a:p>
            <a:pPr marL="355600" lvl="2" indent="-355600" defTabSz="355600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太小：  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如时间片</a:t>
            </a:r>
            <a:r>
              <a:rPr lang="en-US" altLang="zh-CN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20ms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，上下文切换</a:t>
            </a:r>
            <a:r>
              <a:rPr lang="en-US" altLang="zh-CN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  <a:sym typeface="Symbol" panose="05050102010706020507" pitchFamily="18" charset="2"/>
              </a:rPr>
              <a:t>5ms:  </a:t>
            </a:r>
          </a:p>
          <a:p>
            <a:pPr marL="457200" lvl="3" indent="0" defTabSz="355600"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80000"/>
              <a:buNone/>
              <a:defRPr/>
            </a:pPr>
            <a:r>
              <a:rPr lang="en-US" altLang="zh-CN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  <a:sym typeface="Symbol" panose="05050102010706020507" pitchFamily="18" charset="2"/>
              </a:rPr>
              <a:t>     20</a:t>
            </a:r>
            <a:r>
              <a:rPr lang="en-US" altLang="zh-CN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  <a:sym typeface="Symbol" panose="05050102010706020507" pitchFamily="18" charset="2"/>
              </a:rPr>
              <a:t>%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  <a:sym typeface="Symbol" panose="05050102010706020507" pitchFamily="18" charset="2"/>
              </a:rPr>
              <a:t>的切换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  <a:sym typeface="Symbol" panose="05050102010706020507" pitchFamily="18" charset="2"/>
              </a:rPr>
              <a:t>代价</a:t>
            </a:r>
            <a:endParaRPr lang="en-US" altLang="zh-CN" sz="3200" dirty="0" smtClean="0">
              <a:solidFill>
                <a:schemeClr val="bg2"/>
              </a:solidFill>
              <a:effectLst/>
              <a:latin typeface="+mj-lt"/>
              <a:ea typeface="楷体" panose="02010609060101010101" pitchFamily="49" charset="-122"/>
              <a:sym typeface="Symbol" panose="05050102010706020507" pitchFamily="18" charset="2"/>
            </a:endParaRPr>
          </a:p>
          <a:p>
            <a:pPr marL="457200" lvl="3" indent="0" defTabSz="355600"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80000"/>
              <a:buNone/>
              <a:defRPr/>
            </a:pPr>
            <a:endParaRPr lang="en-US" altLang="zh-CN" sz="3200" dirty="0">
              <a:solidFill>
                <a:schemeClr val="bg2"/>
              </a:solidFill>
              <a:effectLst/>
              <a:latin typeface="+mj-lt"/>
              <a:ea typeface="楷体" panose="02010609060101010101" pitchFamily="49" charset="-122"/>
              <a:sym typeface="Symbol" panose="05050102010706020507" pitchFamily="18" charset="2"/>
            </a:endParaRPr>
          </a:p>
          <a:p>
            <a:pPr marL="355600" lvl="2" indent="-355600" defTabSz="355600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最佳：使分时用户得到好的响应时间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折衷</a:t>
            </a:r>
            <a:r>
              <a:rPr lang="en-US" altLang="zh-CN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: 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时间片</a:t>
            </a:r>
            <a:r>
              <a:rPr lang="en-US" altLang="zh-CN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10-100ms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，切换时间</a:t>
            </a:r>
            <a:r>
              <a:rPr lang="en-US" altLang="zh-CN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0.1-1ms(1%)</a:t>
            </a:r>
            <a:endParaRPr lang="zh-CN" altLang="en-US" sz="3200" dirty="0">
              <a:solidFill>
                <a:schemeClr val="bg2"/>
              </a:solidFill>
              <a:effectLst/>
              <a:latin typeface="+mj-lt"/>
              <a:ea typeface="楷体" panose="02010609060101010101" pitchFamily="49" charset="-122"/>
            </a:endParaRPr>
          </a:p>
        </p:txBody>
      </p:sp>
      <p:sp>
        <p:nvSpPr>
          <p:cNvPr id="5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2" name="矩形 1"/>
          <p:cNvSpPr/>
          <p:nvPr/>
        </p:nvSpPr>
        <p:spPr>
          <a:xfrm>
            <a:off x="1619672" y="1346635"/>
            <a:ext cx="6471245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defTabSz="355600">
              <a:lnSpc>
                <a:spcPct val="90000"/>
              </a:lnSpc>
              <a:buClr>
                <a:schemeClr val="bg1"/>
              </a:buClr>
              <a:buSzPct val="80000"/>
              <a:defRPr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响应时间长、退化为</a:t>
            </a:r>
            <a:r>
              <a:rPr lang="en-US" altLang="zh-CN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FCFS</a:t>
            </a: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。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493912" y="2276872"/>
            <a:ext cx="62646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上下文切换次数多，系统开销大</a:t>
            </a:r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9551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uiExpand="1" build="p"/>
      <p:bldP spid="5" grpId="0" animBg="1"/>
      <p:bldP spid="2" grpId="0"/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EFC049E-0C85-4D93-B2E6-037C8C694020}"/>
              </a:ext>
            </a:extLst>
          </p:cNvPr>
          <p:cNvSpPr/>
          <p:nvPr/>
        </p:nvSpPr>
        <p:spPr>
          <a:xfrm>
            <a:off x="2649881" y="44624"/>
            <a:ext cx="408270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274638" algn="ctr" eaLnBrk="1" hangingPunct="1">
              <a:defRPr/>
            </a:pP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多 级 队 列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321DB14-7A52-4DD7-A50D-AA3E16D24188}"/>
              </a:ext>
            </a:extLst>
          </p:cNvPr>
          <p:cNvSpPr txBox="1">
            <a:spLocks noChangeArrowheads="1"/>
          </p:cNvSpPr>
          <p:nvPr/>
        </p:nvSpPr>
        <p:spPr>
          <a:xfrm>
            <a:off x="462134" y="752510"/>
            <a:ext cx="8458200" cy="5700826"/>
          </a:xfrm>
          <a:prstGeom prst="rect">
            <a:avLst/>
          </a:prstGeom>
          <a:noFill/>
          <a:ln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55600" lvl="2" indent="-355600" defTabSz="355600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多个就绪队列，不同的队列采用不同的调度方法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355600" lvl="2" indent="-355600" defTabSz="355600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队列内调度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前台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（交互式）</a:t>
            </a:r>
            <a:r>
              <a:rPr lang="en-US" altLang="zh-CN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:</a:t>
            </a:r>
            <a:r>
              <a:rPr lang="en-US" altLang="zh-CN" sz="3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RR</a:t>
            </a:r>
          </a:p>
          <a:p>
            <a:pPr marL="812800" lvl="3" indent="-355600" defTabSz="355600"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后台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（批处理）</a:t>
            </a:r>
            <a:r>
              <a:rPr lang="en-US" altLang="zh-CN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: </a:t>
            </a:r>
            <a:r>
              <a:rPr lang="en-US" altLang="zh-CN" sz="3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FCFS</a:t>
            </a:r>
          </a:p>
          <a:p>
            <a:pPr marL="355600" lvl="2" indent="-355600" defTabSz="355600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队列间调度</a:t>
            </a:r>
            <a:endParaRPr lang="zh-CN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固定优先级</a:t>
            </a:r>
            <a:r>
              <a:rPr lang="zh-CN" altLang="en-US" sz="32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调度</a:t>
            </a:r>
            <a:r>
              <a:rPr lang="en-US" altLang="zh-CN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: 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前台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运行完后再运行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后台</a:t>
            </a:r>
            <a:r>
              <a:rPr lang="en-US" altLang="zh-CN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, 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有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可能产生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饥饿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。</a:t>
            </a:r>
            <a:endParaRPr lang="zh-CN" altLang="zh-CN" sz="3200" dirty="0">
              <a:solidFill>
                <a:schemeClr val="bg2"/>
              </a:solidFill>
              <a:effectLst/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给定时间片调度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：每个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队列得到一定的</a:t>
            </a:r>
            <a:r>
              <a:rPr lang="en-US" altLang="zh-CN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CPU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时间，任务在给定时间内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执行。</a:t>
            </a:r>
            <a:endParaRPr lang="en-US" altLang="zh-CN" sz="3200" dirty="0">
              <a:solidFill>
                <a:schemeClr val="bg2"/>
              </a:solidFill>
              <a:effectLst/>
              <a:latin typeface="+mj-lt"/>
              <a:ea typeface="楷体" panose="02010609060101010101" pitchFamily="49" charset="-122"/>
            </a:endParaRPr>
          </a:p>
          <a:p>
            <a:pPr marL="1270000" lvl="4" indent="-355600" defTabSz="355600"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lang="zh-CN" altLang="en-US" sz="28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如：前台</a:t>
            </a:r>
            <a:r>
              <a:rPr lang="zh-CN" altLang="zh-CN" sz="28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80</a:t>
            </a:r>
            <a:r>
              <a:rPr lang="zh-CN" altLang="zh-CN" sz="28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%</a:t>
            </a:r>
            <a:r>
              <a:rPr lang="zh-CN" altLang="en-US" sz="28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的时间；</a:t>
            </a:r>
            <a:r>
              <a:rPr lang="zh-CN" altLang="en-US" sz="28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后台</a:t>
            </a:r>
            <a:r>
              <a:rPr lang="zh-CN" altLang="zh-CN" sz="28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20</a:t>
            </a:r>
            <a:r>
              <a:rPr lang="zh-CN" altLang="zh-CN" sz="28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%</a:t>
            </a:r>
            <a:r>
              <a:rPr lang="zh-CN" altLang="en-US" sz="28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的</a:t>
            </a:r>
            <a:r>
              <a:rPr lang="zh-CN" altLang="en-US" sz="28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时间</a:t>
            </a:r>
            <a:endParaRPr lang="zh-CN" altLang="en-US" sz="2800" dirty="0">
              <a:solidFill>
                <a:schemeClr val="bg1"/>
              </a:solidFill>
              <a:effectLst/>
              <a:latin typeface="+mj-lt"/>
              <a:ea typeface="楷体" panose="02010609060101010101" pitchFamily="49" charset="-122"/>
            </a:endParaRPr>
          </a:p>
        </p:txBody>
      </p:sp>
      <p:sp>
        <p:nvSpPr>
          <p:cNvPr id="5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4160211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5">
            <a:extLst>
              <a:ext uri="{FF2B5EF4-FFF2-40B4-BE49-F238E27FC236}">
                <a16:creationId xmlns:a16="http://schemas.microsoft.com/office/drawing/2014/main" id="{453BD217-7156-4F60-BE55-490267AFC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725" y="1124744"/>
            <a:ext cx="6686550" cy="442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2BE0D1F-F128-45CB-BE8D-0DBD061D8A6D}"/>
              </a:ext>
            </a:extLst>
          </p:cNvPr>
          <p:cNvSpPr txBox="1"/>
          <p:nvPr/>
        </p:nvSpPr>
        <p:spPr>
          <a:xfrm>
            <a:off x="2555776" y="5680840"/>
            <a:ext cx="40324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2"/>
                </a:solidFill>
              </a:rPr>
              <a:t>图 </a:t>
            </a:r>
            <a:r>
              <a:rPr lang="en-US" altLang="zh-CN" sz="2000" dirty="0">
                <a:solidFill>
                  <a:schemeClr val="bg2"/>
                </a:solidFill>
              </a:rPr>
              <a:t>6-6</a:t>
            </a:r>
            <a:r>
              <a:rPr lang="zh-CN" altLang="en-US" sz="2000" dirty="0">
                <a:solidFill>
                  <a:schemeClr val="bg2"/>
                </a:solidFill>
              </a:rPr>
              <a:t>  多队列调度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45DF5FB-4B35-4170-9E36-71B826476A12}"/>
              </a:ext>
            </a:extLst>
          </p:cNvPr>
          <p:cNvSpPr txBox="1">
            <a:spLocks noChangeArrowheads="1"/>
          </p:cNvSpPr>
          <p:nvPr/>
        </p:nvSpPr>
        <p:spPr>
          <a:xfrm>
            <a:off x="1432384" y="118268"/>
            <a:ext cx="6279232" cy="6762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pitchFamily="34" charset="-128"/>
              </a:rPr>
              <a:t>多级队列</a:t>
            </a:r>
            <a:r>
              <a:rPr lang="zh-CN" altLang="en-US" sz="400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pitchFamily="34" charset="-128"/>
              </a:rPr>
              <a:t>调度</a:t>
            </a:r>
            <a:r>
              <a:rPr lang="zh-CN" altLang="en-US" sz="4000" smtClean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pitchFamily="34" charset="-128"/>
                <a:sym typeface="Symbol" panose="05050102010706020507" pitchFamily="18" charset="2"/>
              </a:rPr>
              <a:t>实例</a:t>
            </a:r>
            <a:endParaRPr lang="en-US" altLang="zh-CN" sz="4000" dirty="0">
              <a:solidFill>
                <a:srgbClr val="0066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MS PGothic" pitchFamily="34" charset="-128"/>
              <a:sym typeface="Symbol" panose="05050102010706020507" pitchFamily="18" charset="2"/>
            </a:endParaRPr>
          </a:p>
        </p:txBody>
      </p:sp>
      <p:sp>
        <p:nvSpPr>
          <p:cNvPr id="7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547489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35C62EB-AD78-45BE-9F97-7E0D134AB1D4}"/>
              </a:ext>
            </a:extLst>
          </p:cNvPr>
          <p:cNvSpPr/>
          <p:nvPr/>
        </p:nvSpPr>
        <p:spPr>
          <a:xfrm>
            <a:off x="2530646" y="0"/>
            <a:ext cx="408270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274638" algn="ctr" eaLnBrk="1" hangingPunct="1">
              <a:defRPr/>
            </a:pP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多级反馈队列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9AF1E99-0489-47CB-ACC0-DA8BEBB43489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737254"/>
            <a:ext cx="8807896" cy="3627850"/>
          </a:xfrm>
          <a:prstGeom prst="rect">
            <a:avLst/>
          </a:prstGeom>
          <a:noFill/>
          <a:ln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55600" lvl="2" indent="-355600" defTabSz="355600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任务在队列之间移动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355600" lvl="2" indent="-355600" defTabSz="355600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调度参数</a:t>
            </a:r>
            <a:endParaRPr lang="zh-CN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队列数</a:t>
            </a:r>
          </a:p>
          <a:p>
            <a:pPr marL="812800" lvl="3" indent="-355600" defTabSz="355600"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每一队列的调度算法</a:t>
            </a:r>
          </a:p>
          <a:p>
            <a:pPr marL="812800" lvl="3" indent="-355600" defTabSz="355600"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决定任务升降级的方法</a:t>
            </a:r>
          </a:p>
          <a:p>
            <a:pPr marL="812800" lvl="3" indent="-355600" defTabSz="355600"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决定进程</a:t>
            </a:r>
            <a:r>
              <a:rPr lang="zh-CN" altLang="en-US" sz="3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将进入哪个队列的方法</a:t>
            </a:r>
          </a:p>
        </p:txBody>
      </p:sp>
      <p:sp>
        <p:nvSpPr>
          <p:cNvPr id="7" name="Rectangle 52">
            <a:extLst>
              <a:ext uri="{FF2B5EF4-FFF2-40B4-BE49-F238E27FC236}">
                <a16:creationId xmlns:a16="http://schemas.microsoft.com/office/drawing/2014/main" id="{4D00D6AE-B49D-4A57-B344-19FE5C7EF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4904550"/>
            <a:ext cx="8208912" cy="1216196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3200" dirty="0">
                <a:solidFill>
                  <a:srgbClr val="1111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最通用，多数</a:t>
            </a:r>
            <a:r>
              <a:rPr lang="en-US" altLang="zh-CN" sz="3200" dirty="0">
                <a:solidFill>
                  <a:srgbClr val="1111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OS</a:t>
            </a:r>
            <a:r>
              <a:rPr lang="zh-CN" altLang="en-US" sz="3200" dirty="0">
                <a:solidFill>
                  <a:srgbClr val="1111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都使用该方法或其变形。</a:t>
            </a:r>
            <a:endParaRPr lang="en-US" altLang="zh-CN" sz="3200" dirty="0">
              <a:solidFill>
                <a:srgbClr val="11111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3200" dirty="0">
                <a:solidFill>
                  <a:srgbClr val="1111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如</a:t>
            </a:r>
            <a:r>
              <a:rPr lang="en-US" altLang="zh-CN" sz="3200" dirty="0">
                <a:solidFill>
                  <a:srgbClr val="1111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UNIX</a:t>
            </a:r>
            <a:r>
              <a:rPr lang="zh-CN" altLang="en-US" sz="3200" dirty="0">
                <a:solidFill>
                  <a:srgbClr val="1111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、</a:t>
            </a:r>
            <a:r>
              <a:rPr lang="en-US" altLang="zh-CN" sz="3200" dirty="0">
                <a:solidFill>
                  <a:srgbClr val="1111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Windows</a:t>
            </a:r>
            <a:r>
              <a:rPr lang="zh-CN" altLang="en-US" sz="3200" dirty="0">
                <a:solidFill>
                  <a:srgbClr val="1111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等。</a:t>
            </a:r>
          </a:p>
        </p:txBody>
      </p:sp>
      <p:sp>
        <p:nvSpPr>
          <p:cNvPr id="5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273647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build="p" animBg="1"/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5">
            <a:extLst>
              <a:ext uri="{FF2B5EF4-FFF2-40B4-BE49-F238E27FC236}">
                <a16:creationId xmlns:a16="http://schemas.microsoft.com/office/drawing/2014/main" id="{4381EA33-DBCA-4EC2-B297-981487872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4810" y="1056105"/>
            <a:ext cx="3862388" cy="257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6D76F76-1D78-4400-9E91-1F878782EE8F}"/>
              </a:ext>
            </a:extLst>
          </p:cNvPr>
          <p:cNvSpPr txBox="1"/>
          <p:nvPr/>
        </p:nvSpPr>
        <p:spPr>
          <a:xfrm>
            <a:off x="4356381" y="3742655"/>
            <a:ext cx="40324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2"/>
                </a:solidFill>
              </a:rPr>
              <a:t>图 </a:t>
            </a:r>
            <a:r>
              <a:rPr lang="en-US" altLang="zh-CN" sz="1400" dirty="0">
                <a:solidFill>
                  <a:schemeClr val="bg2"/>
                </a:solidFill>
              </a:rPr>
              <a:t>6-7</a:t>
            </a:r>
            <a:r>
              <a:rPr lang="zh-CN" altLang="en-US" sz="1400" dirty="0">
                <a:solidFill>
                  <a:schemeClr val="bg2"/>
                </a:solidFill>
              </a:rPr>
              <a:t>  多级反馈队列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F83FD9B-79C4-4AC3-A1CD-A375E9849D16}"/>
              </a:ext>
            </a:extLst>
          </p:cNvPr>
          <p:cNvSpPr/>
          <p:nvPr/>
        </p:nvSpPr>
        <p:spPr>
          <a:xfrm>
            <a:off x="2345848" y="8395"/>
            <a:ext cx="456163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274638" algn="ctr" eaLnBrk="1" hangingPunct="1">
              <a:defRPr/>
            </a:pPr>
            <a:r>
              <a:rPr lang="zh-CN" altLang="en-US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多级反馈</a:t>
            </a:r>
            <a:r>
              <a:rPr lang="zh-CN" altLang="en-US" sz="400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队列</a:t>
            </a:r>
            <a:r>
              <a:rPr lang="zh-CN" altLang="en-US" sz="4000" smtClean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实例</a:t>
            </a:r>
            <a:r>
              <a:rPr lang="en-US" altLang="zh-CN" sz="4000" smtClean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1</a:t>
            </a:r>
            <a:endParaRPr lang="zh-CN" altLang="en-US" sz="4000" dirty="0">
              <a:solidFill>
                <a:srgbClr val="0066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MS PGothic" pitchFamily="34" charset="-128"/>
              <a:cs typeface="+mj-c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E5565D6-E215-40C2-8AB1-FA9C5B3E9EB0}"/>
              </a:ext>
            </a:extLst>
          </p:cNvPr>
          <p:cNvSpPr txBox="1">
            <a:spLocks noChangeArrowheads="1"/>
          </p:cNvSpPr>
          <p:nvPr/>
        </p:nvSpPr>
        <p:spPr>
          <a:xfrm>
            <a:off x="405" y="1310750"/>
            <a:ext cx="3995531" cy="2181717"/>
          </a:xfrm>
          <a:prstGeom prst="rect">
            <a:avLst/>
          </a:prstGeom>
          <a:solidFill>
            <a:srgbClr val="DDDDDD"/>
          </a:solidFill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0" lvl="2" indent="0" defTabSz="355600">
              <a:lnSpc>
                <a:spcPct val="90000"/>
              </a:lnSpc>
              <a:spcBef>
                <a:spcPct val="0"/>
              </a:spcBef>
              <a:buClr>
                <a:schemeClr val="bg1"/>
              </a:buClr>
              <a:buSzPct val="80000"/>
              <a:buNone/>
              <a:defRPr/>
            </a:pPr>
            <a:r>
              <a:rPr lang="zh-CN" altLang="en-US" sz="36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三个</a:t>
            </a:r>
            <a:r>
              <a:rPr lang="zh-CN" altLang="en-US" sz="36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队列：</a:t>
            </a:r>
            <a:endParaRPr lang="en-US" altLang="zh-CN" sz="3600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" panose="02010609060101010101" pitchFamily="49" charset="-122"/>
            </a:endParaRPr>
          </a:p>
          <a:p>
            <a:pPr marL="457200" lvl="3" indent="0" defTabSz="355600">
              <a:spcBef>
                <a:spcPct val="0"/>
              </a:spcBef>
              <a:buClr>
                <a:schemeClr val="bg2"/>
              </a:buClr>
              <a:buSzPct val="70000"/>
              <a:buNone/>
              <a:defRPr/>
            </a:pPr>
            <a:r>
              <a:rPr lang="en-US" altLang="zh-CN" sz="3200" dirty="0" smtClean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Q</a:t>
            </a:r>
            <a:r>
              <a:rPr lang="en-US" altLang="zh-CN" sz="3200" baseline="-25000" dirty="0" smtClean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0</a:t>
            </a:r>
            <a:r>
              <a:rPr lang="en-US" altLang="zh-CN" sz="3200" dirty="0" smtClean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– </a:t>
            </a:r>
            <a:r>
              <a:rPr lang="zh-CN" altLang="en-US" sz="32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时间片</a:t>
            </a:r>
            <a:r>
              <a:rPr lang="en-US" altLang="zh-CN" sz="32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8ms</a:t>
            </a:r>
          </a:p>
          <a:p>
            <a:pPr marL="457200" lvl="3" indent="0" defTabSz="355600">
              <a:spcBef>
                <a:spcPct val="0"/>
              </a:spcBef>
              <a:buClr>
                <a:schemeClr val="bg2"/>
              </a:buClr>
              <a:buSzPct val="70000"/>
              <a:buNone/>
              <a:defRPr/>
            </a:pPr>
            <a:r>
              <a:rPr lang="en-US" altLang="zh-CN" sz="32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Q</a:t>
            </a:r>
            <a:r>
              <a:rPr lang="en-US" altLang="zh-CN" sz="3200" baseline="-250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1</a:t>
            </a:r>
            <a:r>
              <a:rPr lang="en-US" altLang="zh-CN" sz="32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 –</a:t>
            </a:r>
            <a:r>
              <a:rPr lang="zh-CN" altLang="en-US" sz="32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时间片</a:t>
            </a:r>
            <a:r>
              <a:rPr lang="en-US" altLang="zh-CN" sz="32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16ms</a:t>
            </a:r>
          </a:p>
          <a:p>
            <a:pPr marL="457200" lvl="3" indent="0" defTabSz="355600">
              <a:spcBef>
                <a:spcPct val="0"/>
              </a:spcBef>
              <a:buClr>
                <a:schemeClr val="bg2"/>
              </a:buClr>
              <a:buSzPct val="70000"/>
              <a:buNone/>
              <a:defRPr/>
            </a:pPr>
            <a:r>
              <a:rPr lang="en-US" altLang="zh-CN" sz="32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Q</a:t>
            </a:r>
            <a:r>
              <a:rPr lang="en-US" altLang="zh-CN" sz="3200" baseline="-250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2</a:t>
            </a:r>
            <a:r>
              <a:rPr lang="en-US" altLang="zh-CN" sz="32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 – FCFS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4C7A1FD-3BB0-47E3-A957-3374127A3972}"/>
              </a:ext>
            </a:extLst>
          </p:cNvPr>
          <p:cNvSpPr txBox="1">
            <a:spLocks noChangeArrowheads="1"/>
          </p:cNvSpPr>
          <p:nvPr/>
        </p:nvSpPr>
        <p:spPr>
          <a:xfrm>
            <a:off x="-86493" y="4076997"/>
            <a:ext cx="9252520" cy="1584251"/>
          </a:xfrm>
          <a:prstGeom prst="rect">
            <a:avLst/>
          </a:prstGeom>
          <a:solidFill>
            <a:srgbClr val="DDDDDD"/>
          </a:solidFill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0" lvl="2" indent="0" algn="ctr" defTabSz="355600">
              <a:lnSpc>
                <a:spcPct val="90000"/>
              </a:lnSpc>
              <a:spcBef>
                <a:spcPct val="0"/>
              </a:spcBef>
              <a:buClr>
                <a:schemeClr val="bg1"/>
              </a:buClr>
              <a:buSzPct val="80000"/>
              <a:buNone/>
              <a:defRPr/>
            </a:pPr>
            <a:r>
              <a:rPr lang="zh-CN" altLang="en-US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调 度</a:t>
            </a:r>
            <a:endParaRPr lang="en-US" altLang="zh-CN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92075" lvl="3" indent="365125" defTabSz="355600">
              <a:spcBef>
                <a:spcPct val="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lang="zh-CN" altLang="en-US" sz="28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新任务进入</a:t>
            </a:r>
            <a:r>
              <a:rPr lang="en-US" altLang="zh-CN" sz="28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Q</a:t>
            </a:r>
            <a:r>
              <a:rPr lang="en-US" altLang="zh-CN" sz="2800" baseline="-250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0</a:t>
            </a:r>
            <a:r>
              <a:rPr lang="zh-CN" altLang="en-US" sz="28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，</a:t>
            </a:r>
            <a:r>
              <a:rPr lang="en-US" altLang="zh-CN" sz="28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CPU </a:t>
            </a:r>
            <a:r>
              <a:rPr lang="zh-CN" altLang="zh-CN" sz="28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8</a:t>
            </a:r>
            <a:r>
              <a:rPr lang="en-US" altLang="zh-CN" sz="2800" dirty="0" err="1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ms</a:t>
            </a:r>
            <a:r>
              <a:rPr lang="zh-CN" altLang="en-US" sz="28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，若未完</a:t>
            </a:r>
            <a:r>
              <a:rPr lang="zh-CN" altLang="en-US" sz="28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成</a:t>
            </a:r>
            <a:r>
              <a:rPr lang="zh-CN" altLang="en-US" sz="28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，移动到</a:t>
            </a:r>
            <a:r>
              <a:rPr lang="en-US" altLang="zh-CN" sz="28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Q</a:t>
            </a:r>
            <a:r>
              <a:rPr lang="en-US" altLang="zh-CN" sz="2800" baseline="-250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1</a:t>
            </a:r>
            <a:r>
              <a:rPr lang="zh-CN" altLang="en-US" sz="28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 </a:t>
            </a:r>
            <a:r>
              <a:rPr lang="zh-CN" altLang="en-US" sz="28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尾</a:t>
            </a:r>
          </a:p>
          <a:p>
            <a:pPr marL="92075" lvl="3" indent="365125" defTabSz="355600">
              <a:lnSpc>
                <a:spcPct val="150000"/>
              </a:lnSpc>
              <a:spcBef>
                <a:spcPct val="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lang="zh-CN" altLang="en-US" sz="28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任务在</a:t>
            </a:r>
            <a:r>
              <a:rPr lang="en-US" altLang="zh-CN" sz="28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Q</a:t>
            </a:r>
            <a:r>
              <a:rPr lang="en-US" altLang="zh-CN" sz="2800" baseline="-250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1</a:t>
            </a:r>
            <a:r>
              <a:rPr lang="zh-CN" altLang="en-US" sz="28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，</a:t>
            </a:r>
            <a:r>
              <a:rPr lang="en-US" altLang="zh-CN" sz="28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CPU </a:t>
            </a:r>
            <a:r>
              <a:rPr lang="zh-CN" altLang="zh-CN" sz="28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16</a:t>
            </a:r>
            <a:r>
              <a:rPr lang="en-US" altLang="zh-CN" sz="2800" dirty="0" err="1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ms</a:t>
            </a:r>
            <a:r>
              <a:rPr lang="zh-CN" altLang="en-US" sz="28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，</a:t>
            </a:r>
            <a:r>
              <a:rPr lang="zh-CN" altLang="en-US" sz="28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若</a:t>
            </a:r>
            <a:r>
              <a:rPr lang="zh-CN" altLang="en-US" sz="28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还</a:t>
            </a:r>
            <a:r>
              <a:rPr lang="zh-CN" altLang="en-US" sz="28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不能完成</a:t>
            </a:r>
            <a:r>
              <a:rPr lang="zh-CN" altLang="en-US" sz="28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，移至</a:t>
            </a:r>
            <a:r>
              <a:rPr lang="en-US" altLang="zh-CN" sz="28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Q</a:t>
            </a:r>
            <a:r>
              <a:rPr lang="en-US" altLang="zh-CN" sz="2800" baseline="-250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2</a:t>
            </a:r>
            <a:r>
              <a:rPr lang="zh-CN" altLang="en-US" sz="28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 </a:t>
            </a:r>
            <a:r>
              <a:rPr lang="zh-CN" altLang="en-US" sz="28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尾</a:t>
            </a:r>
          </a:p>
        </p:txBody>
      </p:sp>
      <p:sp>
        <p:nvSpPr>
          <p:cNvPr id="10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2" name="矩形 1"/>
          <p:cNvSpPr/>
          <p:nvPr/>
        </p:nvSpPr>
        <p:spPr>
          <a:xfrm>
            <a:off x="4932040" y="931479"/>
            <a:ext cx="3786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dirty="0">
                <a:solidFill>
                  <a:schemeClr val="bg2"/>
                </a:solidFill>
                <a:ea typeface="楷体" panose="02010609060101010101" pitchFamily="49" charset="-122"/>
              </a:rPr>
              <a:t>Q</a:t>
            </a:r>
            <a:r>
              <a:rPr lang="en-US" altLang="zh-CN" sz="1800" baseline="-25000" dirty="0">
                <a:solidFill>
                  <a:schemeClr val="bg2"/>
                </a:solidFill>
                <a:ea typeface="楷体" panose="02010609060101010101" pitchFamily="49" charset="-122"/>
              </a:rPr>
              <a:t>0</a:t>
            </a:r>
            <a:endParaRPr lang="zh-CN" altLang="en-US" sz="1800" dirty="0"/>
          </a:p>
        </p:txBody>
      </p:sp>
      <p:sp>
        <p:nvSpPr>
          <p:cNvPr id="11" name="矩形 10"/>
          <p:cNvSpPr/>
          <p:nvPr/>
        </p:nvSpPr>
        <p:spPr>
          <a:xfrm>
            <a:off x="4932040" y="1974235"/>
            <a:ext cx="3786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dirty="0" smtClean="0">
                <a:solidFill>
                  <a:schemeClr val="bg2"/>
                </a:solidFill>
                <a:ea typeface="楷体" panose="02010609060101010101" pitchFamily="49" charset="-122"/>
              </a:rPr>
              <a:t>Q</a:t>
            </a:r>
            <a:r>
              <a:rPr lang="en-US" altLang="zh-CN" sz="1800" baseline="-25000" dirty="0" smtClean="0">
                <a:solidFill>
                  <a:schemeClr val="bg2"/>
                </a:solidFill>
                <a:ea typeface="楷体" panose="02010609060101010101" pitchFamily="49" charset="-122"/>
              </a:rPr>
              <a:t>1</a:t>
            </a:r>
            <a:endParaRPr lang="zh-CN" altLang="en-US" sz="1800" dirty="0"/>
          </a:p>
        </p:txBody>
      </p:sp>
      <p:sp>
        <p:nvSpPr>
          <p:cNvPr id="12" name="矩形 11"/>
          <p:cNvSpPr/>
          <p:nvPr/>
        </p:nvSpPr>
        <p:spPr>
          <a:xfrm>
            <a:off x="4932040" y="3060064"/>
            <a:ext cx="3786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dirty="0" smtClean="0">
                <a:solidFill>
                  <a:schemeClr val="bg2"/>
                </a:solidFill>
                <a:ea typeface="楷体" panose="02010609060101010101" pitchFamily="49" charset="-122"/>
              </a:rPr>
              <a:t>Q</a:t>
            </a:r>
            <a:r>
              <a:rPr lang="en-US" altLang="zh-CN" sz="1800" baseline="-25000" dirty="0" smtClean="0">
                <a:solidFill>
                  <a:schemeClr val="bg2"/>
                </a:solidFill>
                <a:ea typeface="楷体" panose="02010609060101010101" pitchFamily="49" charset="-122"/>
              </a:rPr>
              <a:t>2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47155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F3703A3-1889-4D5A-B002-82B1611E7DF6}" type="datetime1">
              <a:rPr lang="zh-CN" altLang="en-US" smtClean="0"/>
              <a:pPr>
                <a:defRPr/>
              </a:pPr>
              <a:t>2024/11/6</a:t>
            </a:fld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第 </a:t>
            </a:r>
            <a:fld id="{AA9BF305-28BD-41C0-8AA3-BF5601F9D25F}" type="slidenum">
              <a:rPr lang="zh-CN" altLang="en-US" smtClean="0"/>
              <a:pPr>
                <a:defRPr/>
              </a:pPr>
              <a:t>33</a:t>
            </a:fld>
            <a:r>
              <a:rPr lang="zh-CN" altLang="en-US" smtClean="0"/>
              <a:t> 页</a:t>
            </a:r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F83FD9B-79C4-4AC3-A1CD-A375E9849D16}"/>
              </a:ext>
            </a:extLst>
          </p:cNvPr>
          <p:cNvSpPr/>
          <p:nvPr/>
        </p:nvSpPr>
        <p:spPr>
          <a:xfrm>
            <a:off x="2345848" y="8395"/>
            <a:ext cx="456163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274638" algn="ctr" eaLnBrk="1" hangingPunct="1">
              <a:defRPr/>
            </a:pPr>
            <a:r>
              <a:rPr lang="zh-CN" altLang="en-US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多级反馈</a:t>
            </a:r>
            <a:r>
              <a:rPr lang="zh-CN" altLang="en-US" sz="400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队列</a:t>
            </a:r>
            <a:r>
              <a:rPr lang="zh-CN" altLang="en-US" sz="4000" smtClean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实例</a:t>
            </a:r>
            <a:r>
              <a:rPr lang="en-US" altLang="zh-CN" sz="4000" smtClean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2</a:t>
            </a:r>
            <a:endParaRPr lang="zh-CN" altLang="en-US" sz="4000" dirty="0">
              <a:solidFill>
                <a:srgbClr val="0066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MS PGothic" pitchFamily="34" charset="-128"/>
              <a:cs typeface="+mj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891600"/>
            <a:ext cx="9144000" cy="575542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CN" altLang="en-US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zh-CN" smtClean="0">
                <a:solidFill>
                  <a:schemeClr val="bg2"/>
                </a:solidFill>
                <a:latin typeface="Times New Roman" panose="02020603050405020304" pitchFamily="18" charset="0"/>
              </a:rPr>
              <a:t>系统采用二级反馈队列调度算法进行进程调度。就绪队列</a:t>
            </a:r>
            <a:r>
              <a:rPr lang="en-US" altLang="zh-CN" smtClean="0">
                <a:solidFill>
                  <a:schemeClr val="bg2"/>
                </a:solidFill>
                <a:latin typeface="Times New Roman" panose="02020603050405020304" pitchFamily="18" charset="0"/>
              </a:rPr>
              <a:t>Q1</a:t>
            </a:r>
            <a:r>
              <a:rPr lang="zh-CN" altLang="zh-CN" smtClean="0">
                <a:solidFill>
                  <a:schemeClr val="bg2"/>
                </a:solidFill>
                <a:latin typeface="Times New Roman" panose="02020603050405020304" pitchFamily="18" charset="0"/>
              </a:rPr>
              <a:t>采用时间片轮转调度算法，时间片为</a:t>
            </a:r>
            <a:r>
              <a:rPr lang="en-US" altLang="zh-CN" smtClean="0">
                <a:solidFill>
                  <a:schemeClr val="bg2"/>
                </a:solidFill>
                <a:latin typeface="Times New Roman" panose="02020603050405020304" pitchFamily="18" charset="0"/>
              </a:rPr>
              <a:t>10ms</a:t>
            </a:r>
            <a:r>
              <a:rPr lang="zh-CN" altLang="zh-CN" smtClean="0">
                <a:solidFill>
                  <a:schemeClr val="bg2"/>
                </a:solidFill>
                <a:latin typeface="Times New Roman" panose="02020603050405020304" pitchFamily="18" charset="0"/>
              </a:rPr>
              <a:t>；就绪队列</a:t>
            </a:r>
            <a:r>
              <a:rPr lang="en-US" altLang="zh-CN" smtClean="0">
                <a:solidFill>
                  <a:schemeClr val="bg2"/>
                </a:solidFill>
                <a:latin typeface="Times New Roman" panose="02020603050405020304" pitchFamily="18" charset="0"/>
              </a:rPr>
              <a:t>Q2</a:t>
            </a:r>
            <a:r>
              <a:rPr lang="zh-CN" altLang="zh-CN" smtClean="0">
                <a:solidFill>
                  <a:schemeClr val="bg2"/>
                </a:solidFill>
                <a:latin typeface="Times New Roman" panose="02020603050405020304" pitchFamily="18" charset="0"/>
              </a:rPr>
              <a:t>采用短进程优先调度算法；系统优先调度</a:t>
            </a:r>
            <a:r>
              <a:rPr lang="en-US" altLang="zh-CN" smtClean="0">
                <a:solidFill>
                  <a:schemeClr val="bg2"/>
                </a:solidFill>
                <a:latin typeface="Times New Roman" panose="02020603050405020304" pitchFamily="18" charset="0"/>
              </a:rPr>
              <a:t>Q1</a:t>
            </a:r>
            <a:r>
              <a:rPr lang="zh-CN" altLang="zh-CN" smtClean="0">
                <a:solidFill>
                  <a:schemeClr val="bg2"/>
                </a:solidFill>
                <a:latin typeface="Times New Roman" panose="02020603050405020304" pitchFamily="18" charset="0"/>
              </a:rPr>
              <a:t>队列中的进程，当</a:t>
            </a:r>
            <a:r>
              <a:rPr lang="en-US" altLang="zh-CN" smtClean="0">
                <a:solidFill>
                  <a:schemeClr val="bg2"/>
                </a:solidFill>
                <a:latin typeface="Times New Roman" panose="02020603050405020304" pitchFamily="18" charset="0"/>
              </a:rPr>
              <a:t>Q1</a:t>
            </a:r>
            <a:r>
              <a:rPr lang="zh-CN" altLang="zh-CN" smtClean="0">
                <a:solidFill>
                  <a:schemeClr val="bg2"/>
                </a:solidFill>
                <a:latin typeface="Times New Roman" panose="02020603050405020304" pitchFamily="18" charset="0"/>
              </a:rPr>
              <a:t>为空时系统才会调度</a:t>
            </a:r>
            <a:r>
              <a:rPr lang="en-US" altLang="zh-CN" smtClean="0">
                <a:solidFill>
                  <a:schemeClr val="bg2"/>
                </a:solidFill>
                <a:latin typeface="Times New Roman" panose="02020603050405020304" pitchFamily="18" charset="0"/>
              </a:rPr>
              <a:t>Q2</a:t>
            </a:r>
            <a:r>
              <a:rPr lang="zh-CN" altLang="zh-CN" smtClean="0">
                <a:solidFill>
                  <a:schemeClr val="bg2"/>
                </a:solidFill>
                <a:latin typeface="Times New Roman" panose="02020603050405020304" pitchFamily="18" charset="0"/>
              </a:rPr>
              <a:t>中的进程；新创建的进程首先进入</a:t>
            </a:r>
            <a:r>
              <a:rPr lang="en-US" altLang="zh-CN" smtClean="0">
                <a:solidFill>
                  <a:schemeClr val="bg2"/>
                </a:solidFill>
                <a:latin typeface="Times New Roman" panose="02020603050405020304" pitchFamily="18" charset="0"/>
              </a:rPr>
              <a:t>Q1</a:t>
            </a:r>
            <a:r>
              <a:rPr lang="zh-CN" altLang="zh-CN" smtClean="0">
                <a:solidFill>
                  <a:schemeClr val="bg2"/>
                </a:solidFill>
                <a:latin typeface="Times New Roman" panose="02020603050405020304" pitchFamily="18" charset="0"/>
              </a:rPr>
              <a:t>；</a:t>
            </a:r>
            <a:r>
              <a:rPr lang="en-US" altLang="zh-CN" smtClean="0">
                <a:solidFill>
                  <a:schemeClr val="bg2"/>
                </a:solidFill>
                <a:latin typeface="Times New Roman" panose="02020603050405020304" pitchFamily="18" charset="0"/>
              </a:rPr>
              <a:t>Q1</a:t>
            </a:r>
            <a:r>
              <a:rPr lang="zh-CN" altLang="zh-CN" smtClean="0">
                <a:solidFill>
                  <a:schemeClr val="bg2"/>
                </a:solidFill>
                <a:latin typeface="Times New Roman" panose="02020603050405020304" pitchFamily="18" charset="0"/>
              </a:rPr>
              <a:t>中的进程执行一个时间片后，若未结束，则转入</a:t>
            </a:r>
            <a:r>
              <a:rPr lang="en-US" altLang="zh-CN" smtClean="0">
                <a:solidFill>
                  <a:schemeClr val="bg2"/>
                </a:solidFill>
                <a:latin typeface="Times New Roman" panose="02020603050405020304" pitchFamily="18" charset="0"/>
              </a:rPr>
              <a:t>Q2</a:t>
            </a:r>
            <a:r>
              <a:rPr lang="zh-CN" altLang="zh-CN" smtClean="0">
                <a:solidFill>
                  <a:schemeClr val="bg2"/>
                </a:solidFill>
                <a:latin typeface="Times New Roman" panose="02020603050405020304" pitchFamily="18" charset="0"/>
              </a:rPr>
              <a:t>。若当前</a:t>
            </a:r>
            <a:r>
              <a:rPr lang="en-US" altLang="zh-CN" smtClean="0">
                <a:solidFill>
                  <a:schemeClr val="bg2"/>
                </a:solidFill>
                <a:latin typeface="Times New Roman" panose="02020603050405020304" pitchFamily="18" charset="0"/>
              </a:rPr>
              <a:t>Q1</a:t>
            </a:r>
            <a:r>
              <a:rPr lang="zh-CN" altLang="zh-CN" smtClean="0">
                <a:solidFill>
                  <a:schemeClr val="bg2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mtClean="0">
                <a:solidFill>
                  <a:schemeClr val="bg2"/>
                </a:solidFill>
                <a:latin typeface="Times New Roman" panose="02020603050405020304" pitchFamily="18" charset="0"/>
              </a:rPr>
              <a:t>Q2</a:t>
            </a:r>
            <a:r>
              <a:rPr lang="zh-CN" altLang="zh-CN" smtClean="0">
                <a:solidFill>
                  <a:schemeClr val="bg2"/>
                </a:solidFill>
                <a:latin typeface="Times New Roman" panose="02020603050405020304" pitchFamily="18" charset="0"/>
              </a:rPr>
              <a:t>为空，系统依次创建进程</a:t>
            </a:r>
            <a:r>
              <a:rPr lang="en-US" altLang="zh-CN" smtClean="0">
                <a:solidFill>
                  <a:schemeClr val="bg2"/>
                </a:solidFill>
                <a:latin typeface="Times New Roman" panose="02020603050405020304" pitchFamily="18" charset="0"/>
              </a:rPr>
              <a:t>P1</a:t>
            </a:r>
            <a:r>
              <a:rPr lang="zh-CN" altLang="zh-CN" smtClean="0">
                <a:solidFill>
                  <a:schemeClr val="bg2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mtClean="0">
                <a:solidFill>
                  <a:schemeClr val="bg2"/>
                </a:solidFill>
                <a:latin typeface="Times New Roman" panose="02020603050405020304" pitchFamily="18" charset="0"/>
              </a:rPr>
              <a:t>P2</a:t>
            </a:r>
            <a:r>
              <a:rPr lang="zh-CN" altLang="zh-CN" smtClean="0">
                <a:solidFill>
                  <a:schemeClr val="bg2"/>
                </a:solidFill>
                <a:latin typeface="Times New Roman" panose="02020603050405020304" pitchFamily="18" charset="0"/>
              </a:rPr>
              <a:t>后即开始进程调度，</a:t>
            </a:r>
            <a:r>
              <a:rPr lang="en-US" altLang="zh-CN" smtClean="0">
                <a:solidFill>
                  <a:schemeClr val="bg2"/>
                </a:solidFill>
                <a:latin typeface="Times New Roman" panose="02020603050405020304" pitchFamily="18" charset="0"/>
              </a:rPr>
              <a:t>P1</a:t>
            </a:r>
            <a:r>
              <a:rPr lang="zh-CN" altLang="zh-CN" smtClean="0">
                <a:solidFill>
                  <a:schemeClr val="bg2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mtClean="0">
                <a:solidFill>
                  <a:schemeClr val="bg2"/>
                </a:solidFill>
                <a:latin typeface="Times New Roman" panose="02020603050405020304" pitchFamily="18" charset="0"/>
              </a:rPr>
              <a:t>P2</a:t>
            </a:r>
            <a:r>
              <a:rPr lang="zh-CN" altLang="zh-CN" smtClean="0">
                <a:solidFill>
                  <a:schemeClr val="bg2"/>
                </a:solidFill>
                <a:latin typeface="Times New Roman" panose="02020603050405020304" pitchFamily="18" charset="0"/>
              </a:rPr>
              <a:t>需要的</a:t>
            </a:r>
            <a:r>
              <a:rPr lang="en-US" altLang="zh-CN" smtClean="0">
                <a:solidFill>
                  <a:schemeClr val="bg2"/>
                </a:solidFill>
                <a:latin typeface="Times New Roman" panose="02020603050405020304" pitchFamily="18" charset="0"/>
              </a:rPr>
              <a:t>CPU</a:t>
            </a:r>
            <a:r>
              <a:rPr lang="zh-CN" altLang="zh-CN" smtClean="0">
                <a:solidFill>
                  <a:schemeClr val="bg2"/>
                </a:solidFill>
                <a:latin typeface="Times New Roman" panose="02020603050405020304" pitchFamily="18" charset="0"/>
              </a:rPr>
              <a:t>时间分别为</a:t>
            </a:r>
            <a:r>
              <a:rPr lang="en-US" altLang="zh-CN" smtClean="0">
                <a:solidFill>
                  <a:schemeClr val="bg2"/>
                </a:solidFill>
                <a:latin typeface="Times New Roman" panose="02020603050405020304" pitchFamily="18" charset="0"/>
              </a:rPr>
              <a:t>30ms</a:t>
            </a:r>
            <a:r>
              <a:rPr lang="zh-CN" altLang="zh-CN" smtClean="0">
                <a:solidFill>
                  <a:schemeClr val="bg2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mtClean="0">
                <a:solidFill>
                  <a:schemeClr val="bg2"/>
                </a:solidFill>
                <a:latin typeface="Times New Roman" panose="02020603050405020304" pitchFamily="18" charset="0"/>
              </a:rPr>
              <a:t>20ms</a:t>
            </a:r>
            <a:r>
              <a:rPr lang="zh-CN" altLang="zh-CN" smtClean="0">
                <a:solidFill>
                  <a:schemeClr val="bg2"/>
                </a:solidFill>
                <a:latin typeface="Times New Roman" panose="02020603050405020304" pitchFamily="18" charset="0"/>
              </a:rPr>
              <a:t>，则进程</a:t>
            </a:r>
            <a:r>
              <a:rPr lang="en-US" altLang="zh-CN" smtClean="0">
                <a:solidFill>
                  <a:schemeClr val="bg2"/>
                </a:solidFill>
                <a:latin typeface="Times New Roman" panose="02020603050405020304" pitchFamily="18" charset="0"/>
              </a:rPr>
              <a:t>P1</a:t>
            </a:r>
            <a:r>
              <a:rPr lang="zh-CN" altLang="zh-CN" smtClean="0">
                <a:solidFill>
                  <a:schemeClr val="bg2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mtClean="0">
                <a:solidFill>
                  <a:schemeClr val="bg2"/>
                </a:solidFill>
                <a:latin typeface="Times New Roman" panose="02020603050405020304" pitchFamily="18" charset="0"/>
              </a:rPr>
              <a:t>P2</a:t>
            </a:r>
            <a:r>
              <a:rPr lang="zh-CN" altLang="zh-CN" smtClean="0">
                <a:solidFill>
                  <a:schemeClr val="bg2"/>
                </a:solidFill>
                <a:latin typeface="Times New Roman" panose="02020603050405020304" pitchFamily="18" charset="0"/>
              </a:rPr>
              <a:t>在系统中的平均等待时间为（ </a:t>
            </a:r>
            <a:r>
              <a:rPr lang="en-US" altLang="zh-CN" smtClean="0">
                <a:solidFill>
                  <a:schemeClr val="bg2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zh-CN" smtClean="0">
                <a:solidFill>
                  <a:schemeClr val="bg2"/>
                </a:solidFill>
                <a:latin typeface="Times New Roman" panose="02020603050405020304" pitchFamily="18" charset="0"/>
              </a:rPr>
              <a:t>）。</a:t>
            </a:r>
            <a:endParaRPr lang="en-US" altLang="zh-CN" smtClean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endParaRPr lang="zh-CN" altLang="en-US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6044625"/>
            <a:ext cx="91085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kern="100">
                <a:solidFill>
                  <a:schemeClr val="bg2"/>
                </a:solidFill>
                <a:latin typeface="Times New Roman" panose="02020603050405020304" pitchFamily="18" charset="0"/>
              </a:rPr>
              <a:t>A. 25 </a:t>
            </a:r>
            <a:r>
              <a:rPr lang="en-US" altLang="zh-CN" kern="100">
                <a:solidFill>
                  <a:schemeClr val="bg2"/>
                </a:solidFill>
                <a:latin typeface="Times New Roman" panose="02020603050405020304" pitchFamily="18" charset="0"/>
              </a:rPr>
              <a:t>ms          </a:t>
            </a:r>
            <a:r>
              <a:rPr lang="en-US" altLang="zh-CN" kern="100" smtClean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kern="100">
                <a:solidFill>
                  <a:schemeClr val="bg2"/>
                </a:solidFill>
                <a:latin typeface="Times New Roman" panose="02020603050405020304" pitchFamily="18" charset="0"/>
              </a:rPr>
              <a:t>. 20 </a:t>
            </a:r>
            <a:r>
              <a:rPr lang="en-US" altLang="zh-CN" kern="100">
                <a:solidFill>
                  <a:schemeClr val="bg2"/>
                </a:solidFill>
                <a:latin typeface="Times New Roman" panose="02020603050405020304" pitchFamily="18" charset="0"/>
              </a:rPr>
              <a:t>ms         </a:t>
            </a:r>
            <a:r>
              <a:rPr lang="en-US" altLang="zh-CN" kern="100" smtClean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kern="100">
                <a:solidFill>
                  <a:schemeClr val="bg2"/>
                </a:solidFill>
                <a:latin typeface="Times New Roman" panose="02020603050405020304" pitchFamily="18" charset="0"/>
              </a:rPr>
              <a:t>C. 15 </a:t>
            </a:r>
            <a:r>
              <a:rPr lang="en-US" altLang="zh-CN" kern="100">
                <a:solidFill>
                  <a:schemeClr val="bg2"/>
                </a:solidFill>
                <a:latin typeface="Times New Roman" panose="02020603050405020304" pitchFamily="18" charset="0"/>
              </a:rPr>
              <a:t>ms         </a:t>
            </a:r>
            <a:r>
              <a:rPr lang="en-US" altLang="zh-CN" kern="100" smtClean="0">
                <a:solidFill>
                  <a:schemeClr val="bg2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kern="100">
                <a:solidFill>
                  <a:schemeClr val="bg2"/>
                </a:solidFill>
                <a:latin typeface="Times New Roman" panose="02020603050405020304" pitchFamily="18" charset="0"/>
              </a:rPr>
              <a:t>. </a:t>
            </a:r>
            <a:r>
              <a:rPr lang="en-US" altLang="zh-CN" kern="100" smtClean="0">
                <a:solidFill>
                  <a:schemeClr val="bg2"/>
                </a:solidFill>
                <a:latin typeface="Times New Roman" panose="02020603050405020304" pitchFamily="18" charset="0"/>
              </a:rPr>
              <a:t>10ms</a:t>
            </a:r>
            <a:endParaRPr lang="zh-CN" altLang="en-US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97187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BA1DA83A-FC86-490A-933A-8802DCAFFEDA}"/>
              </a:ext>
            </a:extLst>
          </p:cNvPr>
          <p:cNvSpPr/>
          <p:nvPr/>
        </p:nvSpPr>
        <p:spPr>
          <a:xfrm>
            <a:off x="323850" y="-4690"/>
            <a:ext cx="8460432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高响应比优先</a:t>
            </a:r>
            <a:endParaRPr lang="en-US" altLang="zh-CN" sz="4000" dirty="0">
              <a:solidFill>
                <a:srgbClr val="B2622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  <a:cs typeface="+mj-cs"/>
            </a:endParaRPr>
          </a:p>
          <a:p>
            <a:pPr algn="ctr" eaLnBrk="1" hangingPunct="1">
              <a:defRPr/>
            </a:pPr>
            <a:r>
              <a:rPr lang="zh-CN" altLang="en-US" sz="28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（</a:t>
            </a:r>
            <a:r>
              <a:rPr lang="en-US" altLang="zh-CN" sz="28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Highest </a:t>
            </a:r>
            <a:r>
              <a:rPr lang="en-US" altLang="zh-CN" sz="2800" dirty="0" err="1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Responseratio</a:t>
            </a:r>
            <a:r>
              <a:rPr lang="en-US" altLang="zh-CN" sz="28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 Next</a:t>
            </a:r>
            <a:r>
              <a:rPr lang="zh-CN" altLang="en-US" sz="28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）</a:t>
            </a:r>
            <a:endParaRPr lang="zh-CN" altLang="en-US" sz="4000" dirty="0">
              <a:solidFill>
                <a:srgbClr val="B2622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  <a:cs typeface="+mj-cs"/>
            </a:endParaRP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878A517A-4C73-45C6-8BB9-0D307D0F81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348" y="5702392"/>
            <a:ext cx="7777163" cy="1126462"/>
          </a:xfrm>
          <a:prstGeom prst="rect">
            <a:avLst/>
          </a:prstGeom>
          <a:solidFill>
            <a:srgbClr val="CCCCFF"/>
          </a:solidFill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10000"/>
              </a:spcBef>
              <a:defRPr/>
            </a:pPr>
            <a:r>
              <a:rPr lang="en-US" altLang="zh-CN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FCFS</a:t>
            </a: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和</a:t>
            </a:r>
            <a:r>
              <a:rPr lang="en-US" altLang="zh-CN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SJF</a:t>
            </a: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的折中，</a:t>
            </a:r>
          </a:p>
          <a:p>
            <a:pPr algn="ctr" eaLnBrk="1" hangingPunct="1">
              <a:spcBef>
                <a:spcPct val="10000"/>
              </a:spcBef>
              <a:defRPr/>
            </a:pP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每次调度前要计算响应比，系统开销</a:t>
            </a:r>
            <a:r>
              <a:rPr lang="zh-CN" altLang="en-US" dirty="0" smtClean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增加</a:t>
            </a:r>
            <a:endParaRPr lang="zh-CN" altLang="en-US" dirty="0">
              <a:solidFill>
                <a:schemeClr val="bg2"/>
              </a:solidFill>
              <a:latin typeface="+mj-lt"/>
              <a:ea typeface="楷体" panose="02010609060101010101" pitchFamily="49" charset="-122"/>
            </a:endParaRP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19D33D8B-3344-4620-B373-C4E3B475892F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134083"/>
            <a:ext cx="9163050" cy="1600200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Symbol" panose="05050102010706020507" pitchFamily="18" charset="2"/>
              <a:buNone/>
            </a:pPr>
            <a:r>
              <a:rPr lang="zh-CN" altLang="en-US" b="1" kern="0" dirty="0">
                <a:solidFill>
                  <a:srgbClr val="C00000"/>
                </a:solidFill>
                <a:effectLst/>
              </a:rPr>
              <a:t>响应比</a:t>
            </a:r>
            <a:r>
              <a:rPr lang="en-US" altLang="zh-CN" b="1" kern="0" dirty="0">
                <a:solidFill>
                  <a:srgbClr val="C00000"/>
                </a:solidFill>
                <a:effectLst/>
              </a:rPr>
              <a:t>R</a:t>
            </a:r>
            <a:r>
              <a:rPr lang="en-US" altLang="zh-CN" sz="2800" b="1" kern="0" dirty="0">
                <a:solidFill>
                  <a:srgbClr val="C00000"/>
                </a:solidFill>
                <a:effectLst/>
              </a:rPr>
              <a:t> </a:t>
            </a:r>
            <a:r>
              <a:rPr lang="en-US" altLang="zh-CN" sz="2800" b="1" kern="0" dirty="0">
                <a:solidFill>
                  <a:schemeClr val="bg2"/>
                </a:solidFill>
                <a:effectLst/>
              </a:rPr>
              <a:t>= </a:t>
            </a:r>
            <a:r>
              <a:rPr lang="zh-CN" altLang="en-US" sz="2800" b="1" kern="0" dirty="0">
                <a:solidFill>
                  <a:schemeClr val="bg2"/>
                </a:solidFill>
                <a:effectLst/>
              </a:rPr>
              <a:t>作业周转时间</a:t>
            </a:r>
            <a:r>
              <a:rPr lang="en-US" altLang="zh-CN" sz="2800" b="1" kern="0" dirty="0">
                <a:solidFill>
                  <a:schemeClr val="bg2"/>
                </a:solidFill>
                <a:effectLst/>
              </a:rPr>
              <a:t>/ </a:t>
            </a:r>
            <a:r>
              <a:rPr lang="zh-CN" altLang="en-US" sz="2800" b="1" kern="0" dirty="0">
                <a:solidFill>
                  <a:schemeClr val="bg2"/>
                </a:solidFill>
                <a:effectLst/>
              </a:rPr>
              <a:t>作业执行时间</a:t>
            </a:r>
          </a:p>
          <a:p>
            <a:pPr eaLnBrk="1" hangingPunct="1">
              <a:buFont typeface="Symbol" panose="05050102010706020507" pitchFamily="18" charset="2"/>
              <a:buNone/>
            </a:pPr>
            <a:r>
              <a:rPr lang="zh-CN" altLang="en-US" sz="2800" b="1" kern="0" dirty="0">
                <a:solidFill>
                  <a:schemeClr val="bg2"/>
                </a:solidFill>
                <a:effectLst/>
              </a:rPr>
              <a:t>            </a:t>
            </a:r>
            <a:r>
              <a:rPr lang="en-US" altLang="zh-CN" sz="2800" b="1" kern="0" dirty="0">
                <a:solidFill>
                  <a:schemeClr val="bg2"/>
                </a:solidFill>
                <a:effectLst/>
              </a:rPr>
              <a:t>=</a:t>
            </a:r>
            <a:r>
              <a:rPr lang="zh-CN" altLang="en-US" sz="2800" b="1" kern="0" dirty="0">
                <a:solidFill>
                  <a:schemeClr val="bg2"/>
                </a:solidFill>
                <a:effectLst/>
              </a:rPr>
              <a:t>（作业执行时间</a:t>
            </a:r>
            <a:r>
              <a:rPr lang="en-US" altLang="zh-CN" sz="2800" b="1" kern="0" dirty="0">
                <a:solidFill>
                  <a:schemeClr val="bg2"/>
                </a:solidFill>
                <a:effectLst/>
              </a:rPr>
              <a:t>+</a:t>
            </a:r>
            <a:r>
              <a:rPr lang="zh-CN" altLang="en-US" sz="2800" b="1" kern="0" dirty="0">
                <a:solidFill>
                  <a:schemeClr val="bg2"/>
                </a:solidFill>
                <a:effectLst/>
              </a:rPr>
              <a:t>作业等待时间） </a:t>
            </a:r>
            <a:r>
              <a:rPr lang="en-US" altLang="zh-CN" sz="2800" b="1" kern="0" dirty="0">
                <a:solidFill>
                  <a:schemeClr val="bg2"/>
                </a:solidFill>
                <a:effectLst/>
              </a:rPr>
              <a:t>/ </a:t>
            </a:r>
            <a:r>
              <a:rPr lang="zh-CN" altLang="en-US" sz="2800" b="1" kern="0" dirty="0">
                <a:solidFill>
                  <a:schemeClr val="bg2"/>
                </a:solidFill>
                <a:effectLst/>
              </a:rPr>
              <a:t>作业执行时间</a:t>
            </a:r>
          </a:p>
          <a:p>
            <a:pPr eaLnBrk="1" hangingPunct="1">
              <a:buFont typeface="Symbol" panose="05050102010706020507" pitchFamily="18" charset="2"/>
              <a:buNone/>
            </a:pPr>
            <a:r>
              <a:rPr lang="zh-CN" altLang="en-US" sz="2800" b="1" kern="0" dirty="0">
                <a:solidFill>
                  <a:schemeClr val="bg2"/>
                </a:solidFill>
                <a:effectLst/>
              </a:rPr>
              <a:t>            </a:t>
            </a:r>
            <a:r>
              <a:rPr lang="en-US" altLang="zh-CN" sz="2800" b="1" kern="0" dirty="0">
                <a:solidFill>
                  <a:schemeClr val="bg2"/>
                </a:solidFill>
                <a:effectLst/>
              </a:rPr>
              <a:t>= 1 +</a:t>
            </a:r>
            <a:r>
              <a:rPr lang="zh-CN" altLang="en-US" sz="2800" b="1" kern="0" dirty="0">
                <a:solidFill>
                  <a:schemeClr val="bg2"/>
                </a:solidFill>
                <a:effectLst/>
              </a:rPr>
              <a:t>（作业等待时间</a:t>
            </a:r>
            <a:r>
              <a:rPr lang="en-US" altLang="zh-CN" sz="2800" b="1" kern="0" dirty="0">
                <a:solidFill>
                  <a:schemeClr val="bg2"/>
                </a:solidFill>
                <a:effectLst/>
              </a:rPr>
              <a:t>/ </a:t>
            </a:r>
            <a:r>
              <a:rPr lang="zh-CN" altLang="en-US" sz="2800" b="1" kern="0" dirty="0">
                <a:solidFill>
                  <a:schemeClr val="bg2"/>
                </a:solidFill>
                <a:effectLst/>
              </a:rPr>
              <a:t>作业执行时间）</a:t>
            </a:r>
            <a:endParaRPr lang="en-US" altLang="zh-CN" sz="2800" b="1" kern="0" dirty="0">
              <a:solidFill>
                <a:schemeClr val="bg2"/>
              </a:solidFill>
              <a:effectLst/>
            </a:endParaRP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4BFB9D25-3A8C-45A2-8FC2-6C8CCB6DA1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776" y="2829725"/>
            <a:ext cx="873058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55600" lvl="2" indent="-355600" defTabSz="355600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作业</a:t>
            </a:r>
            <a:r>
              <a:rPr lang="zh-CN" altLang="en-US" sz="32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等待时间</a:t>
            </a:r>
            <a:r>
              <a:rPr lang="zh-CN" altLang="en-US" sz="3200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相同</a:t>
            </a:r>
            <a:endParaRPr lang="zh-CN" altLang="en-US" sz="32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355600" lvl="2" indent="-355600" defTabSz="355600">
              <a:lnSpc>
                <a:spcPct val="90000"/>
              </a:lnSpc>
              <a:spcBef>
                <a:spcPct val="0"/>
              </a:spcBef>
              <a:buClr>
                <a:schemeClr val="bg1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lang="en-US" altLang="zh-CN" sz="3200" dirty="0" smtClean="0">
              <a:solidFill>
                <a:schemeClr val="bg1"/>
              </a:solidFill>
              <a:latin typeface="+mj-lt"/>
              <a:ea typeface="楷体" panose="02010609060101010101" pitchFamily="49" charset="-122"/>
            </a:endParaRPr>
          </a:p>
          <a:p>
            <a:pPr marL="355600" lvl="2" indent="-355600" defTabSz="355600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作业执行时间相同</a:t>
            </a:r>
            <a:endParaRPr lang="en-US" altLang="zh-CN" sz="32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355600" lvl="2" indent="-355600" defTabSz="355600">
              <a:lnSpc>
                <a:spcPct val="90000"/>
              </a:lnSpc>
              <a:spcBef>
                <a:spcPct val="0"/>
              </a:spcBef>
              <a:buClr>
                <a:schemeClr val="bg1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lang="en-US" altLang="zh-CN" sz="3200" dirty="0">
              <a:solidFill>
                <a:schemeClr val="bg2"/>
              </a:solidFill>
              <a:latin typeface="+mj-lt"/>
              <a:ea typeface="楷体" panose="02010609060101010101" pitchFamily="49" charset="-122"/>
            </a:endParaRPr>
          </a:p>
          <a:p>
            <a:pPr marL="355600" lvl="2" indent="-355600" defTabSz="355600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对于长作业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4074D7B-D631-4572-AA05-1948CAE912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7163" y="1105164"/>
            <a:ext cx="2655887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rgbClr val="C00000"/>
                </a:solidFill>
                <a:ea typeface="楷体_GB2312" pitchFamily="49" charset="-122"/>
              </a:rPr>
              <a:t>带权周转时间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11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2" name="矩形 1"/>
          <p:cNvSpPr/>
          <p:nvPr/>
        </p:nvSpPr>
        <p:spPr>
          <a:xfrm>
            <a:off x="552349" y="3212976"/>
            <a:ext cx="823193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执行时间</a:t>
            </a: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越短，响应比越高，有利于短作业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552349" y="4158240"/>
            <a:ext cx="812410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等待时间越长，</a:t>
            </a:r>
            <a:r>
              <a:rPr lang="zh-CN" altLang="en-US" dirty="0" smtClean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响比</a:t>
            </a: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越</a:t>
            </a:r>
            <a:r>
              <a:rPr lang="zh-CN" altLang="en-US" dirty="0" smtClean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高，“</a:t>
            </a: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先来先服务</a:t>
            </a:r>
            <a:r>
              <a:rPr lang="zh-CN" altLang="en-US" dirty="0" smtClean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”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52348" y="5054981"/>
            <a:ext cx="719809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defTabSz="355600">
              <a:spcBef>
                <a:spcPts val="600"/>
              </a:spcBef>
              <a:buClr>
                <a:schemeClr val="bg1"/>
              </a:buClr>
              <a:buSzPct val="80000"/>
              <a:defRPr/>
            </a:pP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随等待时间增加，响应比增高。</a:t>
            </a:r>
          </a:p>
        </p:txBody>
      </p:sp>
    </p:spTree>
    <p:extLst>
      <p:ext uri="{BB962C8B-B14F-4D97-AF65-F5344CB8AC3E}">
        <p14:creationId xmlns:p14="http://schemas.microsoft.com/office/powerpoint/2010/main" val="2096627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build="p" animBg="1"/>
      <p:bldP spid="10" grpId="0"/>
      <p:bldP spid="11" grpId="0" animBg="1"/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A983AD68-F212-487C-8EEA-BD66F8D55DCA}"/>
              </a:ext>
            </a:extLst>
          </p:cNvPr>
          <p:cNvSpPr txBox="1">
            <a:spLocks noChangeArrowheads="1"/>
          </p:cNvSpPr>
          <p:nvPr/>
        </p:nvSpPr>
        <p:spPr>
          <a:xfrm>
            <a:off x="1266824" y="71437"/>
            <a:ext cx="6754813" cy="8921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lvl="1" indent="-274638" algn="ctr" eaLnBrk="1" hangingPunct="1">
              <a:defRPr/>
            </a:pPr>
            <a:r>
              <a:rPr lang="zh-CN" altLang="en-US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高响应比优先调度实例</a:t>
            </a:r>
          </a:p>
        </p:txBody>
      </p:sp>
      <p:graphicFrame>
        <p:nvGraphicFramePr>
          <p:cNvPr id="6" name="Group 53">
            <a:extLst>
              <a:ext uri="{FF2B5EF4-FFF2-40B4-BE49-F238E27FC236}">
                <a16:creationId xmlns:a16="http://schemas.microsoft.com/office/drawing/2014/main" id="{BB264FDC-D201-4603-82B6-72DC639927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02073224"/>
              </p:ext>
            </p:extLst>
          </p:nvPr>
        </p:nvGraphicFramePr>
        <p:xfrm>
          <a:off x="250825" y="1628775"/>
          <a:ext cx="8642350" cy="3765548"/>
        </p:xfrm>
        <a:graphic>
          <a:graphicData uri="http://schemas.openxmlformats.org/drawingml/2006/table">
            <a:tbl>
              <a:tblPr/>
              <a:tblGrid>
                <a:gridCol w="1196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3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44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endParaRPr kumimoji="1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作业名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A      B      C      D      E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平均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821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已知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条件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提交（到达）时刻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0       1       2       3      4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endParaRPr kumimoji="1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440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运行（服务）时间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4       3       5       2      4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endParaRPr kumimoji="1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537"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HRN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开始时刻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endParaRPr kumimoji="1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4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完成时刻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endParaRPr kumimoji="1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82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周转时间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440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带权周转时间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W</a:t>
                      </a:r>
                      <a:r>
                        <a:rPr kumimoji="1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endParaRPr kumimoji="1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CCFF33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Line 41">
            <a:extLst>
              <a:ext uri="{FF2B5EF4-FFF2-40B4-BE49-F238E27FC236}">
                <a16:creationId xmlns:a16="http://schemas.microsoft.com/office/drawing/2014/main" id="{A8FBC70B-BB70-4CA3-8E1F-D78D000961A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1651000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" name="Line 42">
            <a:extLst>
              <a:ext uri="{FF2B5EF4-FFF2-40B4-BE49-F238E27FC236}">
                <a16:creationId xmlns:a16="http://schemas.microsoft.com/office/drawing/2014/main" id="{EC6AAD62-91D8-43EB-AD7C-8482702BD140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1651000"/>
            <a:ext cx="685800" cy="457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" name="Text Box 47">
            <a:extLst>
              <a:ext uri="{FF2B5EF4-FFF2-40B4-BE49-F238E27FC236}">
                <a16:creationId xmlns:a16="http://schemas.microsoft.com/office/drawing/2014/main" id="{0898DBE4-6B0A-4B21-8670-587DF79A5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488" y="3284538"/>
            <a:ext cx="549275" cy="170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/>
              <a:t>14</a:t>
            </a:r>
            <a:r>
              <a:rPr lang="en-US" altLang="zh-CN" sz="2400"/>
              <a:t>   </a:t>
            </a:r>
            <a:r>
              <a:rPr lang="en-US" altLang="zh-CN" sz="2400" b="1"/>
              <a:t>18</a:t>
            </a:r>
            <a:r>
              <a:rPr lang="en-US" altLang="zh-CN" sz="2400"/>
              <a:t>  </a:t>
            </a:r>
            <a:r>
              <a:rPr lang="en-US" altLang="zh-CN" sz="2400" b="1"/>
              <a:t>14</a:t>
            </a:r>
          </a:p>
        </p:txBody>
      </p:sp>
      <p:sp>
        <p:nvSpPr>
          <p:cNvPr id="10" name="Text Box 49">
            <a:extLst>
              <a:ext uri="{FF2B5EF4-FFF2-40B4-BE49-F238E27FC236}">
                <a16:creationId xmlns:a16="http://schemas.microsoft.com/office/drawing/2014/main" id="{3138B331-88ED-4138-AAF0-F40AF180E2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2212" y="3294281"/>
            <a:ext cx="677108" cy="1584176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vert="eaVert"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</a:rPr>
              <a:t>7</a:t>
            </a:r>
            <a:r>
              <a:rPr lang="zh-CN" altLang="en-US" sz="2400" b="1" dirty="0">
                <a:solidFill>
                  <a:schemeClr val="tx1"/>
                </a:solidFill>
                <a:latin typeface="+mn-lt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  </a:t>
            </a:r>
            <a:r>
              <a:rPr lang="en-US" altLang="zh-CN" sz="2400" b="1" dirty="0">
                <a:solidFill>
                  <a:schemeClr val="tx1"/>
                </a:solidFill>
                <a:latin typeface="+mn-lt"/>
              </a:rPr>
              <a:t>9</a:t>
            </a:r>
            <a:r>
              <a:rPr lang="en-US" altLang="zh-CN" dirty="0">
                <a:solidFill>
                  <a:schemeClr val="tx1"/>
                </a:solidFill>
                <a:latin typeface="+mn-lt"/>
              </a:rPr>
              <a:t>  </a:t>
            </a:r>
            <a:r>
              <a:rPr lang="en-US" altLang="zh-CN" sz="2400" b="1" dirty="0">
                <a:solidFill>
                  <a:schemeClr val="tx1"/>
                </a:solidFill>
                <a:latin typeface="+mn-lt"/>
              </a:rPr>
              <a:t>6</a:t>
            </a:r>
          </a:p>
        </p:txBody>
      </p:sp>
      <p:sp>
        <p:nvSpPr>
          <p:cNvPr id="11" name="Text Box 50">
            <a:extLst>
              <a:ext uri="{FF2B5EF4-FFF2-40B4-BE49-F238E27FC236}">
                <a16:creationId xmlns:a16="http://schemas.microsoft.com/office/drawing/2014/main" id="{1F9003BF-7392-4762-811F-2126ACC3DF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00" y="3284538"/>
            <a:ext cx="549275" cy="170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/>
              <a:t>9</a:t>
            </a:r>
            <a:r>
              <a:rPr lang="en-US" altLang="zh-CN" sz="2400" dirty="0"/>
              <a:t>   </a:t>
            </a:r>
            <a:r>
              <a:rPr lang="en-US" altLang="zh-CN" sz="2400" b="1" dirty="0"/>
              <a:t>14</a:t>
            </a:r>
            <a:r>
              <a:rPr lang="en-US" altLang="zh-CN" sz="2400" dirty="0"/>
              <a:t>   </a:t>
            </a:r>
            <a:r>
              <a:rPr lang="en-US" altLang="zh-CN" sz="2400" b="1" dirty="0"/>
              <a:t>12</a:t>
            </a:r>
            <a:r>
              <a:rPr lang="en-US" altLang="zh-CN" sz="2400" dirty="0"/>
              <a:t> </a:t>
            </a:r>
            <a:r>
              <a:rPr lang="zh-CN" altLang="en-US" sz="2400" dirty="0"/>
              <a:t>　</a:t>
            </a:r>
          </a:p>
        </p:txBody>
      </p:sp>
      <p:sp>
        <p:nvSpPr>
          <p:cNvPr id="12" name="Text Box 52">
            <a:extLst>
              <a:ext uri="{FF2B5EF4-FFF2-40B4-BE49-F238E27FC236}">
                <a16:creationId xmlns:a16="http://schemas.microsoft.com/office/drawing/2014/main" id="{D3A8BAE7-4406-4037-9068-F1020C433E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9338" y="3284538"/>
            <a:ext cx="54927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/>
              <a:t>4</a:t>
            </a:r>
            <a:r>
              <a:rPr lang="en-US" altLang="zh-CN" sz="2400"/>
              <a:t>   </a:t>
            </a:r>
            <a:r>
              <a:rPr lang="en-US" altLang="zh-CN" sz="2400" b="1"/>
              <a:t>7</a:t>
            </a:r>
            <a:r>
              <a:rPr lang="en-US" altLang="zh-CN" sz="2400"/>
              <a:t>  </a:t>
            </a:r>
            <a:r>
              <a:rPr lang="en-US" altLang="zh-CN" sz="2400" b="1"/>
              <a:t>6</a:t>
            </a:r>
          </a:p>
        </p:txBody>
      </p:sp>
      <p:sp>
        <p:nvSpPr>
          <p:cNvPr id="13" name="Text Box 54">
            <a:extLst>
              <a:ext uri="{FF2B5EF4-FFF2-40B4-BE49-F238E27FC236}">
                <a16:creationId xmlns:a16="http://schemas.microsoft.com/office/drawing/2014/main" id="{CB824302-D915-4FB7-B515-24C45799B7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3284538"/>
            <a:ext cx="549275" cy="170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/>
              <a:t>0 </a:t>
            </a:r>
            <a:r>
              <a:rPr lang="en-US" altLang="zh-CN" sz="2400"/>
              <a:t> </a:t>
            </a:r>
            <a:r>
              <a:rPr lang="en-US" altLang="zh-CN" sz="2400" b="1"/>
              <a:t>4</a:t>
            </a:r>
            <a:r>
              <a:rPr lang="en-US" altLang="zh-CN" sz="2400"/>
              <a:t>  </a:t>
            </a:r>
            <a:r>
              <a:rPr lang="en-US" altLang="zh-CN" sz="2400" b="1"/>
              <a:t> 4</a:t>
            </a:r>
          </a:p>
        </p:txBody>
      </p:sp>
      <p:sp>
        <p:nvSpPr>
          <p:cNvPr id="14" name="Rectangle 55">
            <a:extLst>
              <a:ext uri="{FF2B5EF4-FFF2-40B4-BE49-F238E27FC236}">
                <a16:creationId xmlns:a16="http://schemas.microsoft.com/office/drawing/2014/main" id="{821901F1-FFA0-4E83-8B97-32C50BE1E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650" y="4292600"/>
            <a:ext cx="941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Symbol" panose="05050102010706020507" pitchFamily="18" charset="2"/>
              <a:buNone/>
            </a:pPr>
            <a:r>
              <a:rPr lang="en-US" altLang="zh-CN" sz="2400" b="1">
                <a:solidFill>
                  <a:srgbClr val="CCFF33"/>
                </a:solidFill>
              </a:rPr>
              <a:t>T=8.4</a:t>
            </a:r>
          </a:p>
        </p:txBody>
      </p:sp>
      <p:sp>
        <p:nvSpPr>
          <p:cNvPr id="15" name="Rectangle 56">
            <a:extLst>
              <a:ext uri="{FF2B5EF4-FFF2-40B4-BE49-F238E27FC236}">
                <a16:creationId xmlns:a16="http://schemas.microsoft.com/office/drawing/2014/main" id="{1267F643-AA60-4F76-8F5A-1EA61F5BE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625" y="4868863"/>
            <a:ext cx="1195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CCFF33"/>
                </a:solidFill>
              </a:rPr>
              <a:t>W=2.38</a:t>
            </a:r>
          </a:p>
        </p:txBody>
      </p:sp>
      <p:sp>
        <p:nvSpPr>
          <p:cNvPr id="16" name="Text Box 59">
            <a:extLst>
              <a:ext uri="{FF2B5EF4-FFF2-40B4-BE49-F238E27FC236}">
                <a16:creationId xmlns:a16="http://schemas.microsoft.com/office/drawing/2014/main" id="{A657E442-F194-46D7-B969-43C7E3BF8C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75" y="5876925"/>
            <a:ext cx="3744913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bg2"/>
                </a:solidFill>
              </a:rPr>
              <a:t>A       B       D        C         E</a:t>
            </a:r>
          </a:p>
        </p:txBody>
      </p:sp>
      <p:sp>
        <p:nvSpPr>
          <p:cNvPr id="17" name="Line 60">
            <a:extLst>
              <a:ext uri="{FF2B5EF4-FFF2-40B4-BE49-F238E27FC236}">
                <a16:creationId xmlns:a16="http://schemas.microsoft.com/office/drawing/2014/main" id="{556E5CAF-B59F-42A2-8E58-3DED98355C0A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7675" y="6092825"/>
            <a:ext cx="504825" cy="0"/>
          </a:xfrm>
          <a:prstGeom prst="line">
            <a:avLst/>
          </a:prstGeom>
          <a:noFill/>
          <a:ln w="28575" cap="sq">
            <a:solidFill>
              <a:schemeClr val="bg2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" name="Line 61">
            <a:extLst>
              <a:ext uri="{FF2B5EF4-FFF2-40B4-BE49-F238E27FC236}">
                <a16:creationId xmlns:a16="http://schemas.microsoft.com/office/drawing/2014/main" id="{79355953-D9B9-4298-81EB-883D19CE6B3C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1275" y="6092825"/>
            <a:ext cx="504825" cy="0"/>
          </a:xfrm>
          <a:prstGeom prst="line">
            <a:avLst/>
          </a:prstGeom>
          <a:noFill/>
          <a:ln w="28575" cap="sq">
            <a:solidFill>
              <a:schemeClr val="bg2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9" name="Line 62">
            <a:extLst>
              <a:ext uri="{FF2B5EF4-FFF2-40B4-BE49-F238E27FC236}">
                <a16:creationId xmlns:a16="http://schemas.microsoft.com/office/drawing/2014/main" id="{9AED84AF-9702-46D5-B0FF-FB593E6F1AB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6092825"/>
            <a:ext cx="504825" cy="0"/>
          </a:xfrm>
          <a:prstGeom prst="line">
            <a:avLst/>
          </a:prstGeom>
          <a:noFill/>
          <a:ln w="28575" cap="sq">
            <a:solidFill>
              <a:schemeClr val="bg2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0" name="Line 63">
            <a:extLst>
              <a:ext uri="{FF2B5EF4-FFF2-40B4-BE49-F238E27FC236}">
                <a16:creationId xmlns:a16="http://schemas.microsoft.com/office/drawing/2014/main" id="{CBBF6358-8748-4719-8953-FEF92D0FFE0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5600" y="6092825"/>
            <a:ext cx="504825" cy="0"/>
          </a:xfrm>
          <a:prstGeom prst="line">
            <a:avLst/>
          </a:prstGeom>
          <a:noFill/>
          <a:ln w="28575" cap="sq">
            <a:solidFill>
              <a:schemeClr val="bg2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" name="Text Box 64">
            <a:extLst>
              <a:ext uri="{FF2B5EF4-FFF2-40B4-BE49-F238E27FC236}">
                <a16:creationId xmlns:a16="http://schemas.microsoft.com/office/drawing/2014/main" id="{25FA440D-0E60-4D89-A509-34AAD9015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6100" y="4868863"/>
            <a:ext cx="3167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Symbol" panose="05050102010706020507" pitchFamily="18" charset="2"/>
              <a:buNone/>
            </a:pPr>
            <a:r>
              <a:rPr lang="en-US" altLang="zh-CN" sz="2400" b="1"/>
              <a:t>1       2      2.4     3     3.5</a:t>
            </a:r>
            <a:endParaRPr lang="en-US" altLang="zh-CN" sz="2400"/>
          </a:p>
        </p:txBody>
      </p:sp>
      <p:sp>
        <p:nvSpPr>
          <p:cNvPr id="22" name="Rectangle 65">
            <a:extLst>
              <a:ext uri="{FF2B5EF4-FFF2-40B4-BE49-F238E27FC236}">
                <a16:creationId xmlns:a16="http://schemas.microsoft.com/office/drawing/2014/main" id="{D4E5C236-8C0E-4677-B656-A51534081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908050"/>
            <a:ext cx="8064500" cy="574675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buFont typeface="Symbol" panose="05050102010706020507" pitchFamily="18" charset="2"/>
              <a:buNone/>
            </a:pPr>
            <a:r>
              <a:rPr lang="zh-CN" altLang="en-US" sz="2800" kern="0" dirty="0">
                <a:solidFill>
                  <a:schemeClr val="bg2"/>
                </a:solidFill>
                <a:latin typeface="+mn-lt"/>
                <a:ea typeface="+mn-ea"/>
              </a:rPr>
              <a:t>响应比 </a:t>
            </a:r>
            <a:r>
              <a:rPr lang="en-US" altLang="zh-CN" sz="2800" kern="0" dirty="0">
                <a:solidFill>
                  <a:schemeClr val="bg2"/>
                </a:solidFill>
                <a:latin typeface="+mn-lt"/>
                <a:ea typeface="+mn-ea"/>
              </a:rPr>
              <a:t>= 1 +</a:t>
            </a:r>
            <a:r>
              <a:rPr lang="zh-CN" altLang="en-US" sz="2800" kern="0" dirty="0">
                <a:solidFill>
                  <a:schemeClr val="bg2"/>
                </a:solidFill>
                <a:latin typeface="+mn-lt"/>
                <a:ea typeface="+mn-ea"/>
              </a:rPr>
              <a:t>（作业等待时间</a:t>
            </a:r>
            <a:r>
              <a:rPr lang="en-US" altLang="zh-CN" sz="2800" kern="0" dirty="0">
                <a:solidFill>
                  <a:schemeClr val="bg2"/>
                </a:solidFill>
                <a:latin typeface="+mn-lt"/>
                <a:ea typeface="+mn-ea"/>
              </a:rPr>
              <a:t>/</a:t>
            </a:r>
            <a:r>
              <a:rPr lang="zh-CN" altLang="en-US" sz="2800" kern="0" dirty="0">
                <a:solidFill>
                  <a:schemeClr val="bg2"/>
                </a:solidFill>
                <a:latin typeface="+mn-lt"/>
                <a:ea typeface="+mn-ea"/>
              </a:rPr>
              <a:t>作业执行时间）</a:t>
            </a:r>
          </a:p>
        </p:txBody>
      </p:sp>
      <p:sp>
        <p:nvSpPr>
          <p:cNvPr id="26" name="AutoShape 7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19106CFB-C216-495B-8713-72BB401EF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477000"/>
            <a:ext cx="381000" cy="381000"/>
          </a:xfrm>
          <a:prstGeom prst="actionButtonHome">
            <a:avLst/>
          </a:prstGeom>
          <a:solidFill>
            <a:schemeClr val="tx1">
              <a:lumMod val="85000"/>
            </a:schemeClr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23" name="文本框 22"/>
          <p:cNvSpPr txBox="1"/>
          <p:nvPr/>
        </p:nvSpPr>
        <p:spPr>
          <a:xfrm>
            <a:off x="5954688" y="6496582"/>
            <a:ext cx="2808312" cy="369332"/>
          </a:xfrm>
          <a:prstGeom prst="rect">
            <a:avLst/>
          </a:prstGeom>
          <a:solidFill>
            <a:srgbClr val="9CA7F6"/>
          </a:solidFill>
        </p:spPr>
        <p:txBody>
          <a:bodyPr wrap="square" tIns="0" bIns="0" rtlCol="0">
            <a:spAutoFit/>
          </a:bodyPr>
          <a:lstStyle/>
          <a:p>
            <a:r>
              <a:rPr lang="zh-CN" altLang="en-US" sz="2400" dirty="0" smtClean="0">
                <a:solidFill>
                  <a:schemeClr val="bg2"/>
                </a:solidFill>
                <a:latin typeface="+mn-lt"/>
              </a:rPr>
              <a:t>教材习题  </a:t>
            </a:r>
            <a:r>
              <a:rPr lang="en-US" altLang="zh-CN" sz="2400" dirty="0">
                <a:solidFill>
                  <a:schemeClr val="bg2"/>
                </a:solidFill>
                <a:latin typeface="+mn-lt"/>
              </a:rPr>
              <a:t>6.10 </a:t>
            </a:r>
            <a:r>
              <a:rPr lang="en-US" altLang="zh-CN" sz="2400" dirty="0" smtClean="0">
                <a:solidFill>
                  <a:schemeClr val="bg2"/>
                </a:solidFill>
                <a:latin typeface="+mn-lt"/>
              </a:rPr>
              <a:t> 6.19</a:t>
            </a:r>
            <a:endParaRPr lang="zh-CN" altLang="en-US" sz="2400" dirty="0">
              <a:solidFill>
                <a:schemeClr val="bg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1274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 animBg="1"/>
      <p:bldP spid="18" grpId="0" animBg="1"/>
      <p:bldP spid="19" grpId="0" animBg="1"/>
      <p:bldP spid="20" grpId="0" animBg="1"/>
      <p:bldP spid="21" grpId="0"/>
      <p:bldP spid="26" grpId="0" animBg="1"/>
      <p:bldP spid="2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hlinkClick r:id="" action="ppaction://noaction"/>
            <a:extLst>
              <a:ext uri="{FF2B5EF4-FFF2-40B4-BE49-F238E27FC236}">
                <a16:creationId xmlns:a16="http://schemas.microsoft.com/office/drawing/2014/main" id="{7A8E3ACB-3660-428A-99BD-3FF91BEAC4CD}"/>
              </a:ext>
            </a:extLst>
          </p:cNvPr>
          <p:cNvSpPr/>
          <p:nvPr/>
        </p:nvSpPr>
        <p:spPr>
          <a:xfrm>
            <a:off x="2608644" y="-5813"/>
            <a:ext cx="4123944" cy="90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ctr">
              <a:lnSpc>
                <a:spcPct val="120000"/>
              </a:lnSpc>
              <a:spcBef>
                <a:spcPts val="600"/>
              </a:spcBef>
              <a:buClr>
                <a:schemeClr val="folHlink"/>
              </a:buClr>
              <a:buSzPct val="75000"/>
              <a:defRPr/>
            </a:pPr>
            <a:r>
              <a:rPr lang="en-US" altLang="zh-CN" sz="44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6.4 </a:t>
            </a:r>
            <a:r>
              <a:rPr lang="zh-CN" altLang="en-US" sz="44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线 程 调 度</a:t>
            </a:r>
            <a:endParaRPr lang="en-US" altLang="zh-CN" sz="4400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D685318-BF0A-4572-AA0C-C878C382E23F}"/>
              </a:ext>
            </a:extLst>
          </p:cNvPr>
          <p:cNvSpPr txBox="1">
            <a:spLocks noChangeArrowheads="1"/>
          </p:cNvSpPr>
          <p:nvPr/>
        </p:nvSpPr>
        <p:spPr>
          <a:xfrm>
            <a:off x="-24452" y="873175"/>
            <a:ext cx="9252520" cy="514811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55600" lvl="2" indent="-355600" defTabSz="355600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进程</a:t>
            </a: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竞争范围</a:t>
            </a:r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effectLst/>
                <a:latin typeface="+mj-lt"/>
                <a:ea typeface="楷体" panose="02010609060101010101" pitchFamily="49" charset="-122"/>
              </a:rPr>
              <a:t>（</a:t>
            </a: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effectLst/>
                <a:latin typeface="+mj-lt"/>
                <a:ea typeface="楷体" panose="02010609060101010101" pitchFamily="49" charset="-122"/>
              </a:rPr>
              <a:t>PCS, Process-Contention Scope </a:t>
            </a:r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effectLst/>
                <a:latin typeface="+mj-lt"/>
                <a:ea typeface="楷体" panose="02010609060101010101" pitchFamily="49" charset="-122"/>
              </a:rPr>
              <a:t>）</a:t>
            </a:r>
            <a:endParaRPr lang="en-US" altLang="en-US" sz="2800" dirty="0">
              <a:solidFill>
                <a:schemeClr val="bg1">
                  <a:lumMod val="75000"/>
                </a:schemeClr>
              </a:solidFill>
              <a:effectLst/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在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同一进程的线程之间</a:t>
            </a:r>
            <a:endParaRPr lang="en-US" altLang="en-US" sz="3200" dirty="0">
              <a:solidFill>
                <a:schemeClr val="bg2"/>
              </a:solidFill>
              <a:effectLst/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多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对一和多对多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模型：线程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库调度用户级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线程到</a:t>
            </a:r>
            <a:r>
              <a:rPr lang="en-US" altLang="zh-CN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LWP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上</a:t>
            </a:r>
            <a:endParaRPr lang="en-US" altLang="zh-CN" sz="3200" dirty="0" smtClean="0">
              <a:solidFill>
                <a:schemeClr val="bg2"/>
              </a:solidFill>
              <a:effectLst/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优先级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调度，用户线程的优先级由程序员设置</a:t>
            </a:r>
            <a:endParaRPr lang="en-US" altLang="en-US" sz="3200" dirty="0">
              <a:solidFill>
                <a:schemeClr val="bg2"/>
              </a:solidFill>
              <a:effectLst/>
              <a:latin typeface="+mj-lt"/>
              <a:ea typeface="楷体" panose="02010609060101010101" pitchFamily="49" charset="-122"/>
            </a:endParaRPr>
          </a:p>
          <a:p>
            <a:pPr marL="355600" lvl="2" indent="-355600" defTabSz="355600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系统竞争范围</a:t>
            </a:r>
            <a:r>
              <a:rPr lang="en-US" altLang="en-US" sz="2800" dirty="0" smtClean="0">
                <a:solidFill>
                  <a:schemeClr val="bg1">
                    <a:lumMod val="75000"/>
                  </a:schemeClr>
                </a:solidFill>
                <a:effectLst/>
                <a:latin typeface="+mj-lt"/>
                <a:ea typeface="楷体" panose="02010609060101010101" pitchFamily="49" charset="-122"/>
              </a:rPr>
              <a:t>(SCS</a:t>
            </a:r>
            <a:r>
              <a:rPr lang="zh-CN" altLang="en-US" sz="2800" dirty="0" smtClean="0">
                <a:solidFill>
                  <a:schemeClr val="bg1">
                    <a:lumMod val="75000"/>
                  </a:schemeClr>
                </a:solidFill>
                <a:effectLst/>
                <a:latin typeface="+mj-lt"/>
                <a:ea typeface="楷体" panose="02010609060101010101" pitchFamily="49" charset="-122"/>
              </a:rPr>
              <a:t>，</a:t>
            </a:r>
            <a:r>
              <a:rPr lang="en-US" altLang="en-US" sz="2800" dirty="0" smtClean="0">
                <a:solidFill>
                  <a:schemeClr val="bg1">
                    <a:lumMod val="75000"/>
                  </a:schemeClr>
                </a:solidFill>
                <a:effectLst/>
                <a:latin typeface="+mj-lt"/>
                <a:ea typeface="楷体" panose="02010609060101010101" pitchFamily="49" charset="-122"/>
              </a:rPr>
              <a:t>System-Contention Scope)</a:t>
            </a:r>
          </a:p>
          <a:p>
            <a:pPr marL="812800" lvl="3" indent="-355600" defTabSz="355600"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在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系统内所有线程之间</a:t>
            </a:r>
            <a:endParaRPr lang="en-US" altLang="zh-CN" sz="3200" dirty="0">
              <a:solidFill>
                <a:schemeClr val="bg2"/>
              </a:solidFill>
              <a:effectLst/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en-US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OS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调度内核线程到物理</a:t>
            </a:r>
            <a:r>
              <a:rPr lang="en-US" altLang="zh-CN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CPU</a:t>
            </a:r>
          </a:p>
          <a:p>
            <a:pPr marL="355600" lvl="2" indent="-355600" defTabSz="355600"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一对一</a:t>
            </a: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模型只采用</a:t>
            </a:r>
            <a:r>
              <a:rPr lang="en-US" altLang="zh-CN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SCS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，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如</a:t>
            </a:r>
            <a:r>
              <a:rPr lang="en-US" altLang="zh-CN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Windows 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、</a:t>
            </a:r>
            <a:r>
              <a:rPr lang="en-US" altLang="zh-CN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Linux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和</a:t>
            </a:r>
            <a:r>
              <a:rPr lang="en-US" altLang="zh-CN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Solaris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。</a:t>
            </a:r>
            <a:r>
              <a:rPr lang="en-US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6" name="日期占位符 1">
            <a:extLst>
              <a:ext uri="{FF2B5EF4-FFF2-40B4-BE49-F238E27FC236}">
                <a16:creationId xmlns:a16="http://schemas.microsoft.com/office/drawing/2014/main" id="{A3D73B32-9CCC-4CD3-A2AE-5F466CAA8231}"/>
              </a:ext>
            </a:extLst>
          </p:cNvPr>
          <p:cNvSpPr txBox="1">
            <a:spLocks/>
          </p:cNvSpPr>
          <p:nvPr/>
        </p:nvSpPr>
        <p:spPr bwMode="auto">
          <a:xfrm>
            <a:off x="0" y="6400800"/>
            <a:ext cx="37799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sz="1400" b="0" kern="1200">
                <a:solidFill>
                  <a:schemeClr val="tx1"/>
                </a:solidFill>
                <a:effectLst/>
                <a:latin typeface="+mn-lt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defRPr/>
            </a:pPr>
            <a:r>
              <a:rPr lang="zh-CN" altLang="en-US" sz="1800" b="1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大连海事大学  计算机系  史一民</a:t>
            </a:r>
            <a:endParaRPr lang="en-US" altLang="zh-CN" sz="18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8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599691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4581AA09-4EF5-4E09-A0A8-B2BA128A6AC0}"/>
              </a:ext>
            </a:extLst>
          </p:cNvPr>
          <p:cNvSpPr txBox="1">
            <a:spLocks noChangeArrowheads="1"/>
          </p:cNvSpPr>
          <p:nvPr/>
        </p:nvSpPr>
        <p:spPr>
          <a:xfrm>
            <a:off x="1266824" y="71437"/>
            <a:ext cx="6754813" cy="7652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lvl="1" indent="-274638" algn="ctr" eaLnBrk="1" hangingPunct="1">
              <a:defRPr/>
            </a:pPr>
            <a:r>
              <a:rPr lang="en-US" altLang="en-US" sz="4000" dirty="0" err="1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Pthread</a:t>
            </a:r>
            <a:r>
              <a:rPr lang="en-US" altLang="en-US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 </a:t>
            </a:r>
            <a:r>
              <a:rPr lang="zh-CN" altLang="en-US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调 度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FF32431-A92E-4AAD-ABC8-B7E46B32B932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1268760"/>
            <a:ext cx="8856984" cy="354647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55600" lvl="2" indent="-355600" defTabSz="355600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线程创建时，</a:t>
            </a:r>
            <a:r>
              <a:rPr lang="en-US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API</a:t>
            </a: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允许指定</a:t>
            </a:r>
            <a:r>
              <a:rPr lang="en-US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PCS </a:t>
            </a: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或</a:t>
            </a:r>
            <a:r>
              <a:rPr lang="en-US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 SCS</a:t>
            </a:r>
          </a:p>
          <a:p>
            <a:pPr marL="812800" lvl="3" indent="-355600" defTabSz="355600"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en-US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PCS 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：</a:t>
            </a:r>
            <a:r>
              <a:rPr lang="en-US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PTHREAD_SCOPE_PROCESS</a:t>
            </a:r>
          </a:p>
          <a:p>
            <a:pPr marL="812800" lvl="3" indent="-355600" defTabSz="355600"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en-US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SCS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：</a:t>
            </a:r>
            <a:r>
              <a:rPr lang="en-US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PTHREAD_SCOPE_SYSTEM</a:t>
            </a:r>
          </a:p>
          <a:p>
            <a:pPr marL="355600" lvl="2" indent="-355600" defTabSz="355600">
              <a:spcBef>
                <a:spcPct val="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/>
            </a:pPr>
            <a:endParaRPr lang="en-US" altLang="en-US" sz="3600" dirty="0">
              <a:solidFill>
                <a:schemeClr val="bg2"/>
              </a:solidFill>
              <a:effectLst/>
              <a:latin typeface="+mj-lt"/>
              <a:ea typeface="楷体" panose="02010609060101010101" pitchFamily="49" charset="-122"/>
            </a:endParaRPr>
          </a:p>
          <a:p>
            <a:pPr marL="355600" lvl="2" indent="-355600" defTabSz="355600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en-US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Linux </a:t>
            </a: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和</a:t>
            </a:r>
            <a:r>
              <a:rPr lang="en-US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 Mac OS X </a:t>
            </a: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只允许</a:t>
            </a:r>
            <a:r>
              <a:rPr lang="en-US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PTHREAD_SCOPE_SYSTEM</a:t>
            </a:r>
          </a:p>
        </p:txBody>
      </p:sp>
      <p:sp>
        <p:nvSpPr>
          <p:cNvPr id="7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600562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6901138-AC0A-4B1C-9018-E783E5A021FC}"/>
              </a:ext>
            </a:extLst>
          </p:cNvPr>
          <p:cNvSpPr txBox="1">
            <a:spLocks noChangeArrowheads="1"/>
          </p:cNvSpPr>
          <p:nvPr/>
        </p:nvSpPr>
        <p:spPr>
          <a:xfrm>
            <a:off x="161764" y="548680"/>
            <a:ext cx="8820472" cy="6192688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0" indent="0">
              <a:buFont typeface="Monotype Sorts" charset="2"/>
              <a:buNone/>
            </a:pPr>
            <a:r>
              <a:rPr lang="en-US" altLang="en-US" sz="2400" kern="0" dirty="0">
                <a:solidFill>
                  <a:schemeClr val="bg2"/>
                </a:solidFill>
                <a:effectLst/>
                <a:cs typeface="Courier New" panose="02070309020205020404" pitchFamily="49" charset="0"/>
              </a:rPr>
              <a:t>int main(int </a:t>
            </a:r>
            <a:r>
              <a:rPr lang="en-US" altLang="en-US" sz="2400" kern="0" dirty="0" err="1">
                <a:solidFill>
                  <a:schemeClr val="bg2"/>
                </a:solidFill>
                <a:effectLst/>
                <a:cs typeface="Courier New" panose="02070309020205020404" pitchFamily="49" charset="0"/>
              </a:rPr>
              <a:t>argc</a:t>
            </a:r>
            <a:r>
              <a:rPr lang="en-US" altLang="en-US" sz="2400" kern="0" dirty="0">
                <a:solidFill>
                  <a:schemeClr val="bg2"/>
                </a:solidFill>
                <a:effectLst/>
                <a:cs typeface="Courier New" panose="02070309020205020404" pitchFamily="49" charset="0"/>
              </a:rPr>
              <a:t>, char *</a:t>
            </a:r>
            <a:r>
              <a:rPr lang="en-US" altLang="en-US" sz="2400" kern="0" dirty="0" err="1">
                <a:solidFill>
                  <a:schemeClr val="bg2"/>
                </a:solidFill>
                <a:effectLst/>
                <a:cs typeface="Courier New" panose="02070309020205020404" pitchFamily="49" charset="0"/>
              </a:rPr>
              <a:t>argv</a:t>
            </a:r>
            <a:r>
              <a:rPr lang="en-US" altLang="en-US" sz="2400" kern="0" dirty="0">
                <a:solidFill>
                  <a:schemeClr val="bg2"/>
                </a:solidFill>
                <a:effectLst/>
                <a:cs typeface="Courier New" panose="02070309020205020404" pitchFamily="49" charset="0"/>
              </a:rPr>
              <a:t>[]) { </a:t>
            </a:r>
          </a:p>
          <a:p>
            <a:pPr marL="0" indent="0">
              <a:buFont typeface="Monotype Sorts" charset="2"/>
              <a:buNone/>
            </a:pPr>
            <a:r>
              <a:rPr lang="en-US" altLang="en-US" sz="2400" kern="0" dirty="0">
                <a:solidFill>
                  <a:schemeClr val="bg2"/>
                </a:solidFill>
                <a:effectLst/>
                <a:cs typeface="Courier New" panose="02070309020205020404" pitchFamily="49" charset="0"/>
              </a:rPr>
              <a:t>……</a:t>
            </a:r>
          </a:p>
          <a:p>
            <a:pPr marL="0" indent="0">
              <a:buFont typeface="Monotype Sorts" charset="2"/>
              <a:buNone/>
            </a:pPr>
            <a:r>
              <a:rPr lang="en-US" altLang="en-US" sz="2400" kern="0" dirty="0">
                <a:solidFill>
                  <a:schemeClr val="bg2"/>
                </a:solidFill>
                <a:effectLst/>
                <a:cs typeface="Courier New" panose="02070309020205020404" pitchFamily="49" charset="0"/>
              </a:rPr>
              <a:t>      /* first inquire on the current scope */</a:t>
            </a:r>
            <a:br>
              <a:rPr lang="en-US" altLang="en-US" sz="2400" kern="0" dirty="0">
                <a:solidFill>
                  <a:schemeClr val="bg2"/>
                </a:solidFill>
                <a:effectLst/>
                <a:cs typeface="Courier New" panose="02070309020205020404" pitchFamily="49" charset="0"/>
              </a:rPr>
            </a:br>
            <a:r>
              <a:rPr lang="en-US" altLang="en-US" sz="2400" kern="0" dirty="0">
                <a:solidFill>
                  <a:schemeClr val="bg2"/>
                </a:solidFill>
                <a:effectLst/>
                <a:cs typeface="Courier New" panose="02070309020205020404" pitchFamily="49" charset="0"/>
              </a:rPr>
              <a:t>   if (</a:t>
            </a:r>
            <a:r>
              <a:rPr lang="en-US" altLang="en-US" sz="2400" kern="0" dirty="0" err="1">
                <a:solidFill>
                  <a:schemeClr val="bg1"/>
                </a:solidFill>
                <a:effectLst/>
                <a:cs typeface="Courier New" panose="02070309020205020404" pitchFamily="49" charset="0"/>
              </a:rPr>
              <a:t>pthread_attr_getscope</a:t>
            </a:r>
            <a:r>
              <a:rPr lang="en-US" altLang="en-US" sz="2400" kern="0" dirty="0">
                <a:solidFill>
                  <a:schemeClr val="bg2"/>
                </a:solidFill>
                <a:effectLst/>
                <a:cs typeface="Courier New" panose="02070309020205020404" pitchFamily="49" charset="0"/>
              </a:rPr>
              <a:t>(&amp;</a:t>
            </a:r>
            <a:r>
              <a:rPr lang="en-US" altLang="en-US" sz="2400" kern="0" dirty="0" err="1">
                <a:solidFill>
                  <a:schemeClr val="bg2"/>
                </a:solidFill>
                <a:effectLst/>
                <a:cs typeface="Courier New" panose="02070309020205020404" pitchFamily="49" charset="0"/>
              </a:rPr>
              <a:t>attr</a:t>
            </a:r>
            <a:r>
              <a:rPr lang="en-US" altLang="en-US" sz="2400" kern="0" dirty="0">
                <a:solidFill>
                  <a:schemeClr val="bg2"/>
                </a:solidFill>
                <a:effectLst/>
                <a:cs typeface="Courier New" panose="02070309020205020404" pitchFamily="49" charset="0"/>
              </a:rPr>
              <a:t>, &amp;scope) != 0) </a:t>
            </a:r>
          </a:p>
          <a:p>
            <a:pPr marL="0" indent="0">
              <a:buFont typeface="Monotype Sorts" charset="2"/>
              <a:buNone/>
            </a:pPr>
            <a:r>
              <a:rPr lang="en-US" altLang="en-US" sz="2400" kern="0" dirty="0">
                <a:solidFill>
                  <a:schemeClr val="bg2"/>
                </a:solidFill>
                <a:effectLst/>
                <a:cs typeface="Courier New" panose="02070309020205020404" pitchFamily="49" charset="0"/>
              </a:rPr>
              <a:t>     …… </a:t>
            </a:r>
          </a:p>
          <a:p>
            <a:pPr marL="0" indent="0">
              <a:buFont typeface="Monotype Sorts" charset="2"/>
              <a:buNone/>
            </a:pPr>
            <a:r>
              <a:rPr lang="en-US" altLang="en-US" sz="2400" kern="0" dirty="0">
                <a:solidFill>
                  <a:schemeClr val="bg2"/>
                </a:solidFill>
                <a:effectLst/>
                <a:cs typeface="Courier New" panose="02070309020205020404" pitchFamily="49" charset="0"/>
              </a:rPr>
              <a:t>      if (scope == PTHREAD_SCOPE_PROCESS) </a:t>
            </a:r>
          </a:p>
          <a:p>
            <a:pPr marL="0" indent="0">
              <a:buFont typeface="Monotype Sorts" charset="2"/>
              <a:buNone/>
            </a:pPr>
            <a:r>
              <a:rPr lang="en-US" altLang="en-US" sz="2400" kern="0" dirty="0">
                <a:solidFill>
                  <a:schemeClr val="bg2"/>
                </a:solidFill>
                <a:effectLst/>
                <a:cs typeface="Courier New" panose="02070309020205020404" pitchFamily="49" charset="0"/>
              </a:rPr>
              <a:t>         </a:t>
            </a:r>
            <a:r>
              <a:rPr lang="en-US" altLang="en-US" sz="2400" kern="0" dirty="0" err="1">
                <a:solidFill>
                  <a:schemeClr val="bg2"/>
                </a:solidFill>
                <a:effectLst/>
                <a:cs typeface="Courier New" panose="02070309020205020404" pitchFamily="49" charset="0"/>
              </a:rPr>
              <a:t>printf</a:t>
            </a:r>
            <a:r>
              <a:rPr lang="en-US" altLang="en-US" sz="2400" kern="0" dirty="0">
                <a:solidFill>
                  <a:schemeClr val="bg2"/>
                </a:solidFill>
                <a:effectLst/>
                <a:cs typeface="Courier New" panose="02070309020205020404" pitchFamily="49" charset="0"/>
              </a:rPr>
              <a:t>("PTHREAD_SCOPE_PROCESS"); </a:t>
            </a:r>
          </a:p>
          <a:p>
            <a:pPr marL="0" indent="0">
              <a:buFont typeface="Monotype Sorts" charset="2"/>
              <a:buNone/>
            </a:pPr>
            <a:r>
              <a:rPr lang="en-US" altLang="en-US" sz="2400" kern="0" dirty="0">
                <a:solidFill>
                  <a:schemeClr val="bg2"/>
                </a:solidFill>
                <a:effectLst/>
                <a:cs typeface="Courier New" panose="02070309020205020404" pitchFamily="49" charset="0"/>
              </a:rPr>
              <a:t>      else if (scope == PTHREAD_SCOPE_SYSTEM) </a:t>
            </a:r>
          </a:p>
          <a:p>
            <a:pPr marL="0" indent="0">
              <a:buFont typeface="Monotype Sorts" charset="2"/>
              <a:buNone/>
            </a:pPr>
            <a:r>
              <a:rPr lang="en-US" altLang="en-US" sz="2400" kern="0" dirty="0">
                <a:solidFill>
                  <a:schemeClr val="bg2"/>
                </a:solidFill>
                <a:effectLst/>
                <a:cs typeface="Courier New" panose="02070309020205020404" pitchFamily="49" charset="0"/>
              </a:rPr>
              <a:t>         </a:t>
            </a:r>
            <a:r>
              <a:rPr lang="en-US" altLang="en-US" sz="2400" kern="0" dirty="0" err="1">
                <a:solidFill>
                  <a:schemeClr val="bg2"/>
                </a:solidFill>
                <a:effectLst/>
                <a:cs typeface="Courier New" panose="02070309020205020404" pitchFamily="49" charset="0"/>
              </a:rPr>
              <a:t>printf</a:t>
            </a:r>
            <a:r>
              <a:rPr lang="en-US" altLang="en-US" sz="2400" kern="0" dirty="0">
                <a:solidFill>
                  <a:schemeClr val="bg2"/>
                </a:solidFill>
                <a:effectLst/>
                <a:cs typeface="Courier New" panose="02070309020205020404" pitchFamily="49" charset="0"/>
              </a:rPr>
              <a:t>("PTHREAD_SCOPE_SYSTEM"); </a:t>
            </a:r>
          </a:p>
          <a:p>
            <a:pPr marL="0" indent="0">
              <a:buFont typeface="Monotype Sorts" charset="2"/>
              <a:buNone/>
            </a:pPr>
            <a:r>
              <a:rPr lang="en-US" altLang="en-US" sz="2400" kern="0" dirty="0">
                <a:solidFill>
                  <a:schemeClr val="bg2"/>
                </a:solidFill>
                <a:effectLst/>
                <a:cs typeface="Courier New" panose="02070309020205020404" pitchFamily="49" charset="0"/>
              </a:rPr>
              <a:t>        } </a:t>
            </a:r>
          </a:p>
          <a:p>
            <a:pPr marL="0" indent="0">
              <a:buFont typeface="Monotype Sorts" charset="2"/>
              <a:buNone/>
            </a:pPr>
            <a:r>
              <a:rPr lang="en-US" altLang="en-US" sz="2400" kern="0" dirty="0">
                <a:solidFill>
                  <a:srgbClr val="00B050"/>
                </a:solidFill>
                <a:effectLst/>
                <a:cs typeface="Courier New" panose="02070309020205020404" pitchFamily="49" charset="0"/>
              </a:rPr>
              <a:t>/* set the scheduling algorithm to PCS or SCS */ </a:t>
            </a:r>
          </a:p>
          <a:p>
            <a:pPr marL="0" indent="0">
              <a:buFont typeface="Monotype Sorts" charset="2"/>
              <a:buNone/>
            </a:pPr>
            <a:r>
              <a:rPr lang="en-US" altLang="en-US" sz="2400" kern="0" dirty="0">
                <a:solidFill>
                  <a:schemeClr val="bg1"/>
                </a:solidFill>
                <a:effectLst/>
                <a:cs typeface="Courier New" panose="02070309020205020404" pitchFamily="49" charset="0"/>
              </a:rPr>
              <a:t>   </a:t>
            </a:r>
            <a:r>
              <a:rPr lang="en-US" altLang="en-US" sz="2400" kern="0" dirty="0" err="1">
                <a:solidFill>
                  <a:schemeClr val="bg1"/>
                </a:solidFill>
                <a:effectLst/>
                <a:cs typeface="Courier New" panose="02070309020205020404" pitchFamily="49" charset="0"/>
              </a:rPr>
              <a:t>pthread_attr_setscope</a:t>
            </a:r>
            <a:r>
              <a:rPr lang="en-US" altLang="en-US" sz="2400" kern="0" dirty="0">
                <a:solidFill>
                  <a:schemeClr val="bg2"/>
                </a:solidFill>
                <a:effectLst/>
                <a:cs typeface="Courier New" panose="02070309020205020404" pitchFamily="49" charset="0"/>
              </a:rPr>
              <a:t>(&amp;</a:t>
            </a:r>
            <a:r>
              <a:rPr lang="en-US" altLang="en-US" sz="2400" kern="0" dirty="0" err="1">
                <a:solidFill>
                  <a:schemeClr val="bg2"/>
                </a:solidFill>
                <a:effectLst/>
                <a:cs typeface="Courier New" panose="02070309020205020404" pitchFamily="49" charset="0"/>
              </a:rPr>
              <a:t>attr</a:t>
            </a:r>
            <a:r>
              <a:rPr lang="en-US" altLang="en-US" sz="2400" kern="0" dirty="0">
                <a:solidFill>
                  <a:schemeClr val="bg2"/>
                </a:solidFill>
                <a:effectLst/>
                <a:cs typeface="Courier New" panose="02070309020205020404" pitchFamily="49" charset="0"/>
              </a:rPr>
              <a:t>, </a:t>
            </a:r>
            <a:r>
              <a:rPr lang="en-US" altLang="en-US" sz="2400" kern="0" dirty="0">
                <a:solidFill>
                  <a:srgbClr val="FF0000"/>
                </a:solidFill>
                <a:effectLst/>
                <a:cs typeface="Courier New" panose="02070309020205020404" pitchFamily="49" charset="0"/>
              </a:rPr>
              <a:t>PTHREAD_SCOPE_SYSTEM</a:t>
            </a:r>
            <a:r>
              <a:rPr lang="en-US" altLang="en-US" sz="2400" kern="0" dirty="0">
                <a:solidFill>
                  <a:schemeClr val="bg2"/>
                </a:solidFill>
                <a:effectLst/>
                <a:cs typeface="Courier New" panose="02070309020205020404" pitchFamily="49" charset="0"/>
              </a:rPr>
              <a:t>);</a:t>
            </a:r>
          </a:p>
          <a:p>
            <a:pPr marL="0" indent="0">
              <a:buFont typeface="Monotype Sorts" charset="2"/>
              <a:buNone/>
            </a:pPr>
            <a:r>
              <a:rPr lang="en-US" altLang="en-US" sz="2400" kern="0" dirty="0">
                <a:solidFill>
                  <a:srgbClr val="00B050"/>
                </a:solidFill>
                <a:effectLst/>
                <a:cs typeface="Courier New" panose="02070309020205020404" pitchFamily="49" charset="0"/>
              </a:rPr>
              <a:t>/* create the threads */</a:t>
            </a:r>
          </a:p>
          <a:p>
            <a:pPr marL="0" indent="0">
              <a:buFont typeface="Monotype Sorts" charset="2"/>
              <a:buNone/>
            </a:pPr>
            <a:r>
              <a:rPr lang="en-US" altLang="en-US" sz="2400" kern="0" dirty="0">
                <a:solidFill>
                  <a:schemeClr val="bg2"/>
                </a:solidFill>
                <a:effectLst/>
                <a:cs typeface="Courier New" panose="02070309020205020404" pitchFamily="49" charset="0"/>
              </a:rPr>
              <a:t>…… </a:t>
            </a:r>
          </a:p>
          <a:p>
            <a:pPr marL="0" indent="0">
              <a:buFont typeface="Monotype Sorts" charset="2"/>
              <a:buNone/>
            </a:pPr>
            <a:endParaRPr lang="en-US" altLang="en-US" sz="2400" kern="0" dirty="0">
              <a:solidFill>
                <a:schemeClr val="bg2"/>
              </a:solidFill>
              <a:effectLst/>
              <a:cs typeface="Courier New" panose="02070309020205020404" pitchFamily="49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3532B70-BCBF-4094-A5BB-2F9397C8A99D}"/>
              </a:ext>
            </a:extLst>
          </p:cNvPr>
          <p:cNvSpPr txBox="1">
            <a:spLocks noChangeArrowheads="1"/>
          </p:cNvSpPr>
          <p:nvPr/>
        </p:nvSpPr>
        <p:spPr>
          <a:xfrm>
            <a:off x="1043608" y="-99392"/>
            <a:ext cx="6754813" cy="7652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lvl="1" indent="-274638" algn="ctr" eaLnBrk="1" hangingPunct="1">
              <a:defRPr/>
            </a:pPr>
            <a:r>
              <a:rPr lang="en-US" altLang="en-US" sz="4000" dirty="0" err="1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Pthread</a:t>
            </a:r>
            <a:r>
              <a:rPr lang="en-US" altLang="en-US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 </a:t>
            </a:r>
            <a:r>
              <a:rPr lang="zh-CN" altLang="en-US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调 度 实 例</a:t>
            </a:r>
          </a:p>
        </p:txBody>
      </p:sp>
      <p:sp>
        <p:nvSpPr>
          <p:cNvPr id="6" name="线形标注 1 13">
            <a:extLst>
              <a:ext uri="{FF2B5EF4-FFF2-40B4-BE49-F238E27FC236}">
                <a16:creationId xmlns:a16="http://schemas.microsoft.com/office/drawing/2014/main" id="{C96C7F42-7DAF-4A9B-AD1F-BBC0DE487F6A}"/>
              </a:ext>
            </a:extLst>
          </p:cNvPr>
          <p:cNvSpPr>
            <a:spLocks/>
          </p:cNvSpPr>
          <p:nvPr/>
        </p:nvSpPr>
        <p:spPr bwMode="auto">
          <a:xfrm>
            <a:off x="3923928" y="692698"/>
            <a:ext cx="2376264" cy="432046"/>
          </a:xfrm>
          <a:prstGeom prst="borderCallout1">
            <a:avLst>
              <a:gd name="adj1" fmla="val 97324"/>
              <a:gd name="adj2" fmla="val 12991"/>
              <a:gd name="adj3" fmla="val 264591"/>
              <a:gd name="adj4" fmla="val -20519"/>
            </a:avLst>
          </a:prstGeom>
          <a:solidFill>
            <a:srgbClr val="00B0F0"/>
          </a:solidFill>
          <a:ln w="38100" cap="sq" algn="ctr">
            <a:solidFill>
              <a:srgbClr val="00B0F0"/>
            </a:solidFill>
            <a:round/>
            <a:headEnd type="none" w="sm" len="sm"/>
            <a:tailEnd type="none" w="sm" len="sm"/>
          </a:ln>
        </p:spPr>
        <p:txBody>
          <a:bodyPr wrap="none" tIns="0" bIns="0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None/>
            </a:pPr>
            <a:r>
              <a:rPr lang="zh-CN" altLang="en-US" sz="2800" b="1" dirty="0">
                <a:solidFill>
                  <a:schemeClr val="bg2"/>
                </a:solidFill>
              </a:rPr>
              <a:t>获取竞争范围</a:t>
            </a:r>
          </a:p>
        </p:txBody>
      </p:sp>
      <p:sp>
        <p:nvSpPr>
          <p:cNvPr id="7" name="线形标注 1 13">
            <a:extLst>
              <a:ext uri="{FF2B5EF4-FFF2-40B4-BE49-F238E27FC236}">
                <a16:creationId xmlns:a16="http://schemas.microsoft.com/office/drawing/2014/main" id="{FB6644AF-A1F8-4A50-A4E4-E9782FB0C126}"/>
              </a:ext>
            </a:extLst>
          </p:cNvPr>
          <p:cNvSpPr>
            <a:spLocks/>
          </p:cNvSpPr>
          <p:nvPr/>
        </p:nvSpPr>
        <p:spPr bwMode="auto">
          <a:xfrm>
            <a:off x="3131840" y="4221088"/>
            <a:ext cx="2472126" cy="468478"/>
          </a:xfrm>
          <a:prstGeom prst="borderCallout1">
            <a:avLst>
              <a:gd name="adj1" fmla="val 97324"/>
              <a:gd name="adj2" fmla="val 12991"/>
              <a:gd name="adj3" fmla="val 264591"/>
              <a:gd name="adj4" fmla="val -20519"/>
            </a:avLst>
          </a:prstGeom>
          <a:solidFill>
            <a:srgbClr val="00B0F0"/>
          </a:solidFill>
          <a:ln w="38100" cap="sq" algn="ctr">
            <a:solidFill>
              <a:srgbClr val="00B0F0"/>
            </a:solidFill>
            <a:round/>
            <a:headEnd type="none" w="sm" len="sm"/>
            <a:tailEnd type="none" w="sm" len="sm"/>
          </a:ln>
        </p:spPr>
        <p:txBody>
          <a:bodyPr wrap="none" tIns="0" bIns="0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None/>
            </a:pPr>
            <a:r>
              <a:rPr lang="zh-CN" altLang="en-US" sz="2800" b="1" dirty="0">
                <a:solidFill>
                  <a:schemeClr val="bg2"/>
                </a:solidFill>
              </a:rPr>
              <a:t>设置竞争范围</a:t>
            </a:r>
          </a:p>
        </p:txBody>
      </p:sp>
      <p:sp>
        <p:nvSpPr>
          <p:cNvPr id="8" name="AutoShape 7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19106CFB-C216-495B-8713-72BB401EF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477000"/>
            <a:ext cx="381000" cy="381000"/>
          </a:xfrm>
          <a:prstGeom prst="actionButtonHome">
            <a:avLst/>
          </a:prstGeom>
          <a:solidFill>
            <a:schemeClr val="tx1">
              <a:lumMod val="85000"/>
            </a:schemeClr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2BE0D1F-F128-45CB-BE8D-0DBD061D8A6D}"/>
              </a:ext>
            </a:extLst>
          </p:cNvPr>
          <p:cNvSpPr txBox="1"/>
          <p:nvPr/>
        </p:nvSpPr>
        <p:spPr>
          <a:xfrm>
            <a:off x="2351679" y="6341258"/>
            <a:ext cx="40324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2"/>
                </a:solidFill>
              </a:rPr>
              <a:t>图 </a:t>
            </a:r>
            <a:r>
              <a:rPr lang="en-US" altLang="zh-CN" sz="2000" dirty="0" smtClean="0">
                <a:solidFill>
                  <a:schemeClr val="bg2"/>
                </a:solidFill>
              </a:rPr>
              <a:t>6-8</a:t>
            </a:r>
            <a:r>
              <a:rPr lang="zh-CN" altLang="en-US" sz="2000" dirty="0" smtClean="0">
                <a:solidFill>
                  <a:schemeClr val="bg2"/>
                </a:solidFill>
              </a:rPr>
              <a:t>  </a:t>
            </a:r>
            <a:r>
              <a:rPr lang="en-US" altLang="en-US" sz="2000" dirty="0" err="1" smtClean="0">
                <a:solidFill>
                  <a:schemeClr val="bg2"/>
                </a:solidFill>
              </a:rPr>
              <a:t>Pthread</a:t>
            </a:r>
            <a:r>
              <a:rPr lang="zh-CN" altLang="en-US" sz="2000" dirty="0" smtClean="0">
                <a:solidFill>
                  <a:schemeClr val="bg2"/>
                </a:solidFill>
              </a:rPr>
              <a:t>调度</a:t>
            </a:r>
            <a:r>
              <a:rPr lang="en-US" altLang="zh-CN" sz="2000" dirty="0" smtClean="0">
                <a:solidFill>
                  <a:schemeClr val="bg2"/>
                </a:solidFill>
              </a:rPr>
              <a:t>API</a:t>
            </a:r>
            <a:r>
              <a:rPr lang="zh-CN" altLang="en-US" sz="2000" dirty="0" smtClean="0">
                <a:solidFill>
                  <a:schemeClr val="bg2"/>
                </a:solidFill>
              </a:rPr>
              <a:t> </a:t>
            </a:r>
            <a:endParaRPr lang="zh-CN" altLang="en-US" sz="20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9412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91EB604-11A6-4822-A3DA-6FA6F6189E21}"/>
              </a:ext>
            </a:extLst>
          </p:cNvPr>
          <p:cNvSpPr/>
          <p:nvPr/>
        </p:nvSpPr>
        <p:spPr>
          <a:xfrm>
            <a:off x="2235463" y="-99392"/>
            <a:ext cx="5131533" cy="9048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lnSpc>
                <a:spcPct val="120000"/>
              </a:lnSpc>
              <a:spcBef>
                <a:spcPts val="600"/>
              </a:spcBef>
              <a:buClr>
                <a:schemeClr val="folHlink"/>
              </a:buClr>
              <a:buSzPct val="75000"/>
              <a:defRPr/>
            </a:pPr>
            <a:r>
              <a:rPr lang="en-US" altLang="zh-CN" sz="44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6.5 </a:t>
            </a:r>
            <a:r>
              <a:rPr lang="zh-CN" altLang="en-US" sz="44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多 处 理 器 调 度</a:t>
            </a:r>
            <a:endParaRPr lang="en-US" altLang="zh-CN" sz="4400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B3B2A9D-6C05-485B-937F-B34E2D25932F}"/>
              </a:ext>
            </a:extLst>
          </p:cNvPr>
          <p:cNvSpPr/>
          <p:nvPr/>
        </p:nvSpPr>
        <p:spPr>
          <a:xfrm>
            <a:off x="2411760" y="3501008"/>
            <a:ext cx="408270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274638" eaLnBrk="1" hangingPunct="1">
              <a:defRPr/>
            </a:pP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负载平衡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27C4327-1766-412F-A74C-D9E38E614810}"/>
              </a:ext>
            </a:extLst>
          </p:cNvPr>
          <p:cNvSpPr/>
          <p:nvPr/>
        </p:nvSpPr>
        <p:spPr>
          <a:xfrm>
            <a:off x="2440016" y="1879437"/>
            <a:ext cx="569154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274638" eaLnBrk="1" hangingPunct="1">
              <a:defRPr/>
            </a:pP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多处理器调度的方法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95E6D9E-88E1-420D-87F5-1E1A6B615FA2}"/>
              </a:ext>
            </a:extLst>
          </p:cNvPr>
          <p:cNvSpPr txBox="1"/>
          <p:nvPr/>
        </p:nvSpPr>
        <p:spPr>
          <a:xfrm>
            <a:off x="2440016" y="2670335"/>
            <a:ext cx="48274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-274638" eaLnBrk="1" hangingPunct="1">
              <a:defRPr/>
            </a:pP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处理器亲和性</a:t>
            </a:r>
          </a:p>
        </p:txBody>
      </p:sp>
      <p:sp>
        <p:nvSpPr>
          <p:cNvPr id="6" name="日期占位符 1">
            <a:extLst>
              <a:ext uri="{FF2B5EF4-FFF2-40B4-BE49-F238E27FC236}">
                <a16:creationId xmlns:a16="http://schemas.microsoft.com/office/drawing/2014/main" id="{A3D73B32-9CCC-4CD3-A2AE-5F466CAA8231}"/>
              </a:ext>
            </a:extLst>
          </p:cNvPr>
          <p:cNvSpPr txBox="1">
            <a:spLocks/>
          </p:cNvSpPr>
          <p:nvPr/>
        </p:nvSpPr>
        <p:spPr bwMode="auto">
          <a:xfrm>
            <a:off x="0" y="6400800"/>
            <a:ext cx="37799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sz="1400" b="0" kern="1200">
                <a:solidFill>
                  <a:schemeClr val="tx1"/>
                </a:solidFill>
                <a:effectLst/>
                <a:latin typeface="+mn-lt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defRPr/>
            </a:pPr>
            <a:r>
              <a:rPr lang="zh-CN" altLang="en-US" sz="1800" b="1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大连海事大学  计算机系  史一民</a:t>
            </a:r>
            <a:endParaRPr lang="en-US" altLang="zh-CN" sz="18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20902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455ED04-C33B-43EF-833A-0CB2E2E81EFD}"/>
              </a:ext>
            </a:extLst>
          </p:cNvPr>
          <p:cNvSpPr/>
          <p:nvPr/>
        </p:nvSpPr>
        <p:spPr>
          <a:xfrm>
            <a:off x="1726230" y="0"/>
            <a:ext cx="569154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274638" algn="ctr" eaLnBrk="1" hangingPunct="1">
              <a:defRPr/>
            </a:pP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多处理器调度的方法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BF76A64-17AF-40AB-8201-081F546F3CDA}"/>
              </a:ext>
            </a:extLst>
          </p:cNvPr>
          <p:cNvSpPr txBox="1">
            <a:spLocks noChangeArrowheads="1"/>
          </p:cNvSpPr>
          <p:nvPr/>
        </p:nvSpPr>
        <p:spPr>
          <a:xfrm>
            <a:off x="1" y="797266"/>
            <a:ext cx="9144000" cy="606073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55600" lvl="2" indent="-355600" defTabSz="355600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非对称多处理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一个主处理器</a:t>
            </a:r>
            <a:r>
              <a:rPr lang="en-US" altLang="zh-CN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: 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只运行</a:t>
            </a:r>
            <a:r>
              <a:rPr lang="en-US" altLang="zh-CN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OS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，管理整个系统的资源，为从处理器分配任务</a:t>
            </a:r>
            <a:endParaRPr lang="en-US" altLang="zh-CN" sz="3200" dirty="0" smtClean="0">
              <a:solidFill>
                <a:schemeClr val="bg2"/>
              </a:solidFill>
              <a:effectLst/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多个从处理器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：执行用户代码</a:t>
            </a:r>
            <a:endParaRPr lang="en-US" altLang="zh-CN" sz="3200" dirty="0" smtClean="0">
              <a:solidFill>
                <a:schemeClr val="bg2"/>
              </a:solidFill>
              <a:effectLst/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不</a:t>
            </a:r>
            <a:r>
              <a:rPr lang="zh-CN" altLang="en-US" sz="32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同性质任务的负载不均，可靠性不高</a:t>
            </a:r>
            <a:endParaRPr lang="en-US" altLang="en-US" sz="3200" dirty="0" smtClean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355600" lvl="2" indent="-355600" defTabSz="355600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对称</a:t>
            </a: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多处理</a:t>
            </a: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effectLst/>
                <a:latin typeface="+mj-lt"/>
                <a:ea typeface="楷体" panose="02010609060101010101" pitchFamily="49" charset="-122"/>
              </a:rPr>
              <a:t>(Symmetric </a:t>
            </a:r>
            <a:r>
              <a:rPr lang="en-US" altLang="en-US" sz="2800" dirty="0" err="1" smtClean="0">
                <a:solidFill>
                  <a:schemeClr val="bg1">
                    <a:lumMod val="75000"/>
                  </a:schemeClr>
                </a:solidFill>
                <a:effectLst/>
                <a:latin typeface="+mj-lt"/>
                <a:ea typeface="楷体" panose="02010609060101010101" pitchFamily="49" charset="-122"/>
              </a:rPr>
              <a:t>MmultiProcessing</a:t>
            </a:r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effectLst/>
                <a:latin typeface="+mj-lt"/>
                <a:ea typeface="楷体" panose="02010609060101010101" pitchFamily="49" charset="-122"/>
              </a:rPr>
              <a:t>，</a:t>
            </a: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effectLst/>
                <a:latin typeface="+mj-lt"/>
                <a:ea typeface="楷体" panose="02010609060101010101" pitchFamily="49" charset="-122"/>
              </a:rPr>
              <a:t>SMP)</a:t>
            </a:r>
            <a:endParaRPr lang="en-US" altLang="zh-CN" sz="2800" dirty="0">
              <a:solidFill>
                <a:schemeClr val="bg1">
                  <a:lumMod val="75000"/>
                </a:schemeClr>
              </a:solidFill>
              <a:effectLst/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每个处理器决定自己的调度方案</a:t>
            </a:r>
            <a:endParaRPr lang="en-US" altLang="zh-CN" sz="3200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所有线程处于一个共同的就绪队列，或每个处理器有自己的私有就绪线程队列</a:t>
            </a:r>
            <a:endParaRPr lang="en-US" altLang="zh-CN" sz="3200" dirty="0">
              <a:solidFill>
                <a:schemeClr val="bg2"/>
              </a:solidFill>
              <a:effectLst/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任务负载较为平均，性能调节容易</a:t>
            </a:r>
            <a:endParaRPr lang="en-US" altLang="zh-CN" sz="3200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几乎所有现代</a:t>
            </a:r>
            <a:r>
              <a:rPr lang="en-US" altLang="zh-CN" sz="3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OS</a:t>
            </a:r>
            <a:r>
              <a:rPr lang="zh-CN" altLang="en-US" sz="3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支持，</a:t>
            </a:r>
            <a:r>
              <a:rPr lang="en-US" altLang="zh-CN" sz="3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Windows</a:t>
            </a:r>
            <a:r>
              <a:rPr lang="zh-CN" altLang="en-US" sz="3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、</a:t>
            </a:r>
            <a:r>
              <a:rPr lang="en-US" altLang="zh-CN" sz="3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Linux</a:t>
            </a:r>
            <a:r>
              <a:rPr lang="zh-CN" altLang="en-US" sz="3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和</a:t>
            </a:r>
            <a:r>
              <a:rPr lang="en-US" altLang="zh-CN" sz="3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Mac </a:t>
            </a:r>
            <a:r>
              <a:rPr lang="en-US" altLang="zh-CN" sz="3200" dirty="0" err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OSx</a:t>
            </a:r>
            <a:endParaRPr lang="en-US" altLang="zh-CN" sz="3200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</p:txBody>
      </p:sp>
      <p:sp>
        <p:nvSpPr>
          <p:cNvPr id="7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450792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4CAFFDA-4C98-418C-BE16-0456C0158261}"/>
              </a:ext>
            </a:extLst>
          </p:cNvPr>
          <p:cNvSpPr txBox="1"/>
          <p:nvPr/>
        </p:nvSpPr>
        <p:spPr>
          <a:xfrm>
            <a:off x="1131685" y="0"/>
            <a:ext cx="69459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-274638" algn="ctr" eaLnBrk="1" hangingPunct="1">
              <a:defRPr/>
            </a:pP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处理器亲和性</a:t>
            </a:r>
            <a:endParaRPr lang="en-US" altLang="zh-CN" sz="4000" dirty="0">
              <a:solidFill>
                <a:srgbClr val="B2622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  <a:cs typeface="+mj-cs"/>
            </a:endParaRPr>
          </a:p>
          <a:p>
            <a:pPr marL="0" lvl="1" indent="-274638" algn="ctr" eaLnBrk="1" hangingPunct="1">
              <a:defRPr/>
            </a:pPr>
            <a:r>
              <a:rPr lang="zh-CN" altLang="en-US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（</a:t>
            </a:r>
            <a:r>
              <a:rPr lang="en-US" altLang="en-US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Processor affinity</a:t>
            </a:r>
            <a:r>
              <a:rPr lang="zh-CN" altLang="en-US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）</a:t>
            </a:r>
            <a:r>
              <a:rPr lang="en-US" altLang="en-US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 </a:t>
            </a:r>
            <a:endParaRPr lang="zh-CN" altLang="en-US" dirty="0">
              <a:solidFill>
                <a:srgbClr val="B2622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  <a:cs typeface="+mj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F6539A9-D47D-4679-A755-FB24AC56B80B}"/>
              </a:ext>
            </a:extLst>
          </p:cNvPr>
          <p:cNvSpPr txBox="1">
            <a:spLocks noChangeArrowheads="1"/>
          </p:cNvSpPr>
          <p:nvPr/>
        </p:nvSpPr>
        <p:spPr>
          <a:xfrm>
            <a:off x="98421" y="2420888"/>
            <a:ext cx="9012436" cy="331236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55600" lvl="2" indent="-355600" defTabSz="355600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利用线程在该</a:t>
            </a:r>
            <a:r>
              <a:rPr lang="en-US" altLang="zh-CN" sz="3600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CPU</a:t>
            </a:r>
            <a:r>
              <a:rPr lang="zh-CN" altLang="en-US" sz="3600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中缓存</a:t>
            </a: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的数据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355600" lvl="2" indent="-355600" defTabSz="355600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软亲和性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spcBef>
                <a:spcPct val="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lang="en-US" altLang="zh-CN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OS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试图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保持</a:t>
            </a:r>
            <a:r>
              <a:rPr lang="zh-CN" altLang="en-US" sz="32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线程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运行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在同一</a:t>
            </a:r>
            <a:r>
              <a:rPr lang="en-US" altLang="zh-CN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CPU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上</a:t>
            </a:r>
            <a:endParaRPr lang="en-US" altLang="zh-CN" sz="3200" dirty="0">
              <a:solidFill>
                <a:schemeClr val="bg2"/>
              </a:solidFill>
              <a:effectLst/>
              <a:latin typeface="+mj-lt"/>
              <a:ea typeface="楷体" panose="02010609060101010101" pitchFamily="49" charset="-122"/>
            </a:endParaRPr>
          </a:p>
          <a:p>
            <a:pPr marL="355600" lvl="2" indent="-355600" defTabSz="355600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硬亲和性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spcBef>
                <a:spcPct val="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利用系统调用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将线程绑定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到指定的</a:t>
            </a:r>
            <a:r>
              <a:rPr lang="en-US" altLang="zh-CN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CPU</a:t>
            </a:r>
            <a:endParaRPr lang="en-US" altLang="zh-CN" sz="3200" dirty="0">
              <a:solidFill>
                <a:schemeClr val="bg2"/>
              </a:solidFill>
              <a:effectLst/>
              <a:latin typeface="+mj-lt"/>
              <a:ea typeface="楷体" panose="02010609060101010101" pitchFamily="49" charset="-122"/>
            </a:endParaRPr>
          </a:p>
          <a:p>
            <a:pPr marL="355600" lvl="2" indent="-355600" defTabSz="355600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en-US" altLang="zh-CN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Linux </a:t>
            </a: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内核调度器两种都支持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</p:txBody>
      </p:sp>
      <p:sp>
        <p:nvSpPr>
          <p:cNvPr id="6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2" name="文本框 1"/>
          <p:cNvSpPr txBox="1"/>
          <p:nvPr/>
        </p:nvSpPr>
        <p:spPr>
          <a:xfrm>
            <a:off x="98421" y="1200329"/>
            <a:ext cx="8964488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线程在</a:t>
            </a:r>
            <a:r>
              <a:rPr lang="zh-CN" altLang="en-US" sz="36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指定的 </a:t>
            </a:r>
            <a:r>
              <a:rPr lang="en-US" altLang="zh-CN" sz="36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CPU </a:t>
            </a:r>
            <a:r>
              <a:rPr lang="zh-CN" altLang="en-US" sz="36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上</a:t>
            </a:r>
            <a:endParaRPr lang="en-US" altLang="zh-CN" sz="3600" dirty="0" smtClean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anose="02010609060101010101" pitchFamily="49" charset="-122"/>
            </a:endParaRPr>
          </a:p>
          <a:p>
            <a:pPr algn="ctr"/>
            <a:r>
              <a:rPr lang="zh-CN" altLang="en-US" sz="36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尽量</a:t>
            </a:r>
            <a:r>
              <a:rPr lang="zh-CN" altLang="en-US" sz="36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长时间地运行而不被迁移到其它</a:t>
            </a:r>
            <a:r>
              <a:rPr lang="en-US" altLang="zh-CN" sz="36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CPU</a:t>
            </a:r>
            <a:endParaRPr lang="zh-CN" altLang="en-US" sz="3600" dirty="0">
              <a:solidFill>
                <a:schemeClr val="bg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53650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8A95C0B-43A8-4568-BCD9-753CF15089F6}"/>
              </a:ext>
            </a:extLst>
          </p:cNvPr>
          <p:cNvSpPr/>
          <p:nvPr/>
        </p:nvSpPr>
        <p:spPr>
          <a:xfrm>
            <a:off x="2530646" y="24665"/>
            <a:ext cx="408270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274638" algn="ctr" eaLnBrk="1" hangingPunct="1">
              <a:defRPr/>
            </a:pP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负 载 平 衡</a:t>
            </a:r>
            <a:endParaRPr lang="en-US" altLang="zh-CN" sz="4000" dirty="0">
              <a:solidFill>
                <a:srgbClr val="B2622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  <a:cs typeface="+mj-cs"/>
            </a:endParaRPr>
          </a:p>
          <a:p>
            <a:pPr marL="0" lvl="1" indent="-274638" algn="ctr" eaLnBrk="1" hangingPunct="1">
              <a:defRPr/>
            </a:pPr>
            <a:r>
              <a:rPr lang="zh-CN" altLang="en-US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（</a:t>
            </a:r>
            <a:r>
              <a:rPr lang="en-US" altLang="en-US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Load balancing</a:t>
            </a:r>
            <a:r>
              <a:rPr lang="zh-CN" altLang="en-US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）</a:t>
            </a:r>
            <a:r>
              <a:rPr lang="en-US" altLang="en-US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 </a:t>
            </a:r>
            <a:endParaRPr lang="zh-CN" altLang="en-US" dirty="0">
              <a:solidFill>
                <a:srgbClr val="B2622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  <a:cs typeface="+mj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33CE2F2-8154-4972-9D30-FED29851CE90}"/>
              </a:ext>
            </a:extLst>
          </p:cNvPr>
          <p:cNvSpPr txBox="1">
            <a:spLocks noChangeArrowheads="1"/>
          </p:cNvSpPr>
          <p:nvPr/>
        </p:nvSpPr>
        <p:spPr>
          <a:xfrm>
            <a:off x="191542" y="2132856"/>
            <a:ext cx="9012436" cy="388843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55600" lvl="2" indent="-355600" defTabSz="355600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推迁移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调度器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周期性检查处理器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的负载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，发现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不平衡，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将线程从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超载的处理器推到空闲或不太忙的处理器</a:t>
            </a:r>
            <a:endParaRPr lang="en-US" altLang="zh-CN" sz="3200" dirty="0">
              <a:solidFill>
                <a:schemeClr val="bg2"/>
              </a:solidFill>
              <a:effectLst/>
              <a:latin typeface="+mj-lt"/>
              <a:ea typeface="楷体" panose="02010609060101010101" pitchFamily="49" charset="-122"/>
            </a:endParaRPr>
          </a:p>
          <a:p>
            <a:pPr marL="355600" lvl="2" indent="-355600" defTabSz="355600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拉迁移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为空闲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处理器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设置全局空闲位</a:t>
            </a:r>
            <a:endParaRPr lang="en-US" altLang="zh-CN" sz="3200" dirty="0" smtClean="0">
              <a:solidFill>
                <a:schemeClr val="bg2"/>
              </a:solidFill>
              <a:effectLst/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当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忙碌的</a:t>
            </a:r>
            <a:r>
              <a:rPr lang="zh-CN" altLang="en-US" sz="3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处理器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要向自己的队列中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添加线程时</a:t>
            </a:r>
            <a:r>
              <a:rPr lang="zh-CN" altLang="en-US" sz="3200" dirty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，发现空闲处理器，则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latin typeface="+mj-lt"/>
                <a:ea typeface="楷体" panose="02010609060101010101" pitchFamily="49" charset="-122"/>
              </a:rPr>
              <a:t>当前线程转移。</a:t>
            </a:r>
            <a:endParaRPr lang="en-US" altLang="zh-CN" sz="3200" dirty="0">
              <a:solidFill>
                <a:schemeClr val="bg2"/>
              </a:solidFill>
              <a:effectLst/>
              <a:latin typeface="+mj-lt"/>
              <a:ea typeface="楷体" panose="02010609060101010101" pitchFamily="49" charset="-122"/>
            </a:endParaRPr>
          </a:p>
        </p:txBody>
      </p:sp>
      <p:sp>
        <p:nvSpPr>
          <p:cNvPr id="6" name="AutoShape 7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19106CFB-C216-495B-8713-72BB401EF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477000"/>
            <a:ext cx="381000" cy="381000"/>
          </a:xfrm>
          <a:prstGeom prst="actionButtonHome">
            <a:avLst/>
          </a:prstGeom>
          <a:solidFill>
            <a:schemeClr val="tx1">
              <a:lumMod val="85000"/>
            </a:schemeClr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2" name="文本框 1"/>
          <p:cNvSpPr txBox="1"/>
          <p:nvPr/>
        </p:nvSpPr>
        <p:spPr>
          <a:xfrm>
            <a:off x="533325" y="1182203"/>
            <a:ext cx="8610675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将负载平均分配到</a:t>
            </a:r>
            <a:r>
              <a:rPr lang="en-US" altLang="zh-CN" sz="36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SMP</a:t>
            </a:r>
            <a:r>
              <a:rPr lang="zh-CN" altLang="en-US" sz="36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系统的所有</a:t>
            </a:r>
            <a:r>
              <a:rPr lang="zh-CN" altLang="en-US" sz="36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处理器</a:t>
            </a:r>
            <a:endParaRPr lang="zh-CN" altLang="en-US" sz="36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403648" y="6122735"/>
            <a:ext cx="6588224" cy="590931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0" lvl="2" algn="ctr" defTabSz="355600">
              <a:lnSpc>
                <a:spcPct val="90000"/>
              </a:lnSpc>
              <a:buClr>
                <a:schemeClr val="bg1"/>
              </a:buClr>
              <a:buSzPct val="90000"/>
              <a:defRPr/>
            </a:pPr>
            <a:r>
              <a:rPr lang="zh-CN" altLang="en-US" sz="36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抵消了处理器</a:t>
            </a:r>
            <a:r>
              <a:rPr lang="zh-CN" altLang="en-US" sz="36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亲和性的好处。</a:t>
            </a:r>
            <a:endParaRPr lang="en-US" altLang="zh-CN" sz="3600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059832" y="1713279"/>
            <a:ext cx="25977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FreeBSD</a:t>
            </a:r>
            <a:r>
              <a:rPr lang="zh-CN" altLang="en-US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为例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1917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hlinkClick r:id="rId2" action="ppaction://hlinksldjump"/>
            <a:extLst>
              <a:ext uri="{FF2B5EF4-FFF2-40B4-BE49-F238E27FC236}">
                <a16:creationId xmlns:a16="http://schemas.microsoft.com/office/drawing/2014/main" id="{0FFBABDC-341F-4378-8E9D-BDDC15857D78}"/>
              </a:ext>
            </a:extLst>
          </p:cNvPr>
          <p:cNvSpPr/>
          <p:nvPr/>
        </p:nvSpPr>
        <p:spPr>
          <a:xfrm>
            <a:off x="1889956" y="-131938"/>
            <a:ext cx="5472608" cy="90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Bef>
                <a:spcPts val="600"/>
              </a:spcBef>
              <a:buClr>
                <a:schemeClr val="folHlink"/>
              </a:buClr>
              <a:buSzPct val="75000"/>
              <a:defRPr/>
            </a:pPr>
            <a:r>
              <a:rPr lang="en-US" altLang="zh-CN" sz="44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6.6 </a:t>
            </a:r>
            <a:r>
              <a:rPr lang="zh-CN" altLang="en-US" sz="44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操 作 系 统 例 子 </a:t>
            </a:r>
            <a:endParaRPr lang="en-US" altLang="zh-CN" sz="4400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09DF9F4-5EDE-4768-A800-242109508D68}"/>
              </a:ext>
            </a:extLst>
          </p:cNvPr>
          <p:cNvSpPr/>
          <p:nvPr/>
        </p:nvSpPr>
        <p:spPr>
          <a:xfrm>
            <a:off x="2843808" y="1603844"/>
            <a:ext cx="360669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274638" eaLnBrk="1" hangingPunct="1">
              <a:defRPr/>
            </a:pPr>
            <a:r>
              <a:rPr lang="en-US" altLang="zh-CN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Linux</a:t>
            </a: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调度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BCA35D7-9126-4190-883F-9F394B9635C5}"/>
              </a:ext>
            </a:extLst>
          </p:cNvPr>
          <p:cNvSpPr txBox="1"/>
          <p:nvPr/>
        </p:nvSpPr>
        <p:spPr>
          <a:xfrm>
            <a:off x="2843808" y="3006704"/>
            <a:ext cx="41044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-274638" eaLnBrk="1" hangingPunct="1">
              <a:defRPr/>
            </a:pPr>
            <a:r>
              <a:rPr lang="en-US" altLang="zh-CN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Windows</a:t>
            </a: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调度</a:t>
            </a:r>
          </a:p>
        </p:txBody>
      </p:sp>
      <p:sp>
        <p:nvSpPr>
          <p:cNvPr id="5" name="日期占位符 1">
            <a:extLst>
              <a:ext uri="{FF2B5EF4-FFF2-40B4-BE49-F238E27FC236}">
                <a16:creationId xmlns:a16="http://schemas.microsoft.com/office/drawing/2014/main" id="{A3D73B32-9CCC-4CD3-A2AE-5F466CAA8231}"/>
              </a:ext>
            </a:extLst>
          </p:cNvPr>
          <p:cNvSpPr txBox="1">
            <a:spLocks/>
          </p:cNvSpPr>
          <p:nvPr/>
        </p:nvSpPr>
        <p:spPr bwMode="auto">
          <a:xfrm>
            <a:off x="0" y="6400800"/>
            <a:ext cx="37799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sz="1400" b="0" kern="1200">
                <a:solidFill>
                  <a:schemeClr val="tx1"/>
                </a:solidFill>
                <a:effectLst/>
                <a:latin typeface="+mn-lt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3200" b="1" kern="12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defRPr/>
            </a:pPr>
            <a:r>
              <a:rPr lang="zh-CN" altLang="en-US" sz="1800" b="1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大连海事大学  计算机系  史一民</a:t>
            </a:r>
            <a:endParaRPr lang="en-US" altLang="zh-CN" sz="18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947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DEA4830-A5B6-4413-B171-57323623391B}"/>
              </a:ext>
            </a:extLst>
          </p:cNvPr>
          <p:cNvSpPr/>
          <p:nvPr/>
        </p:nvSpPr>
        <p:spPr>
          <a:xfrm>
            <a:off x="2768651" y="116632"/>
            <a:ext cx="360669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274638" algn="ctr" eaLnBrk="1" hangingPunct="1">
              <a:defRPr/>
            </a:pPr>
            <a:r>
              <a:rPr lang="en-US" altLang="zh-CN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Linux </a:t>
            </a: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调度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C189721-33D8-4926-935A-6F14710D755A}"/>
              </a:ext>
            </a:extLst>
          </p:cNvPr>
          <p:cNvSpPr txBox="1"/>
          <p:nvPr/>
        </p:nvSpPr>
        <p:spPr>
          <a:xfrm>
            <a:off x="467544" y="1083742"/>
            <a:ext cx="849694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lvl="2" indent="-355600" defTabSz="355600">
              <a:lnSpc>
                <a:spcPct val="90000"/>
              </a:lnSpc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en-US" altLang="zh-CN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Linux 2.5</a:t>
            </a: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之前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lnSpc>
                <a:spcPct val="90000"/>
              </a:lnSpc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传统</a:t>
            </a:r>
            <a:r>
              <a:rPr lang="en-US" altLang="zh-CN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UNIX</a:t>
            </a: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调度算法，不支持</a:t>
            </a:r>
            <a:r>
              <a:rPr lang="en-US" altLang="zh-CN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SMP</a:t>
            </a:r>
          </a:p>
          <a:p>
            <a:pPr marL="355600" lvl="2" indent="-355600" defTabSz="355600">
              <a:lnSpc>
                <a:spcPct val="90000"/>
              </a:lnSpc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en-US" altLang="zh-CN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Linux2.5</a:t>
            </a:r>
          </a:p>
          <a:p>
            <a:pPr marL="812800" lvl="3" indent="-355600" defTabSz="355600">
              <a:lnSpc>
                <a:spcPct val="90000"/>
              </a:lnSpc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采用</a:t>
            </a:r>
            <a:r>
              <a:rPr lang="en-US" altLang="zh-CN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O(1)</a:t>
            </a: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调度算法，支持</a:t>
            </a:r>
            <a:r>
              <a:rPr lang="en-US" altLang="zh-CN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SMP</a:t>
            </a: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，但桌面系统交互进程响应时间欠佳</a:t>
            </a:r>
            <a:endParaRPr lang="en-US" altLang="zh-CN" dirty="0">
              <a:solidFill>
                <a:schemeClr val="bg2"/>
              </a:solidFill>
              <a:latin typeface="+mj-lt"/>
              <a:ea typeface="楷体" panose="02010609060101010101" pitchFamily="49" charset="-122"/>
            </a:endParaRPr>
          </a:p>
          <a:p>
            <a:pPr marL="355600" lvl="2" indent="-355600" defTabSz="355600">
              <a:lnSpc>
                <a:spcPct val="90000"/>
              </a:lnSpc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en-US" altLang="zh-CN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Linux 2.6.23</a:t>
            </a:r>
          </a:p>
          <a:p>
            <a:pPr marL="812800" lvl="3" indent="-355600" defTabSz="355600">
              <a:lnSpc>
                <a:spcPct val="90000"/>
              </a:lnSpc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完全公平调度程序</a:t>
            </a:r>
            <a:r>
              <a:rPr lang="en-US" altLang="en-US" sz="2800" dirty="0" smtClean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(</a:t>
            </a:r>
            <a:r>
              <a:rPr lang="en-US" altLang="en-US" sz="2800" dirty="0" smtClean="0">
                <a:solidFill>
                  <a:srgbClr val="0000CC"/>
                </a:solidFill>
                <a:latin typeface="+mj-lt"/>
                <a:ea typeface="楷体" panose="02010609060101010101" pitchFamily="49" charset="-122"/>
              </a:rPr>
              <a:t>CFS</a:t>
            </a:r>
            <a:r>
              <a:rPr lang="zh-CN" altLang="en-US" sz="2800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，</a:t>
            </a:r>
            <a:r>
              <a:rPr lang="en-US" altLang="en-US" sz="2800" dirty="0" smtClean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Completely </a:t>
            </a:r>
            <a:r>
              <a:rPr lang="en-US" altLang="en-US" sz="2800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Fair </a:t>
            </a:r>
            <a:r>
              <a:rPr lang="en-US" altLang="en-US" sz="2800" dirty="0" smtClean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Scheduler)</a:t>
            </a:r>
            <a:endParaRPr lang="en-US" altLang="en-US" sz="2800" dirty="0">
              <a:solidFill>
                <a:schemeClr val="bg2"/>
              </a:solidFill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lnSpc>
                <a:spcPct val="90000"/>
              </a:lnSpc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计算进程的</a:t>
            </a:r>
            <a:r>
              <a:rPr lang="zh-CN" altLang="en-US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虚拟运行时间</a:t>
            </a: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（</a:t>
            </a:r>
            <a:r>
              <a:rPr lang="en-US" altLang="zh-CN" dirty="0" err="1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vruntime</a:t>
            </a: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）</a:t>
            </a:r>
            <a:endParaRPr lang="en-US" altLang="zh-CN" dirty="0">
              <a:solidFill>
                <a:schemeClr val="bg2"/>
              </a:solidFill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lnSpc>
                <a:spcPct val="90000"/>
              </a:lnSpc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dirty="0" smtClean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内核</a:t>
            </a: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两个调度类：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默认调度类</a:t>
            </a:r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latin typeface="+mj-lt"/>
                <a:ea typeface="楷体" panose="02010609060101010101" pitchFamily="49" charset="-122"/>
              </a:rPr>
              <a:t>（采用</a:t>
            </a:r>
            <a:r>
              <a:rPr lang="en-US" altLang="zh-CN" sz="2800" dirty="0">
                <a:solidFill>
                  <a:schemeClr val="bg1">
                    <a:lumMod val="75000"/>
                  </a:schemeClr>
                </a:solidFill>
                <a:latin typeface="+mj-lt"/>
                <a:ea typeface="楷体" panose="02010609060101010101" pitchFamily="49" charset="-122"/>
              </a:rPr>
              <a:t>CFS</a:t>
            </a:r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latin typeface="+mj-lt"/>
                <a:ea typeface="楷体" panose="02010609060101010101" pitchFamily="49" charset="-122"/>
              </a:rPr>
              <a:t>调度算法）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+mj-lt"/>
                <a:ea typeface="楷体" panose="02010609060101010101" pitchFamily="49" charset="-122"/>
              </a:rPr>
              <a:t>、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实时调度类</a:t>
            </a:r>
            <a:endParaRPr lang="en-US" altLang="zh-CN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707904" y="1340768"/>
            <a:ext cx="4752528" cy="1152128"/>
            <a:chOff x="3707904" y="1340768"/>
            <a:chExt cx="4752528" cy="1152128"/>
          </a:xfrm>
        </p:grpSpPr>
        <p:sp>
          <p:nvSpPr>
            <p:cNvPr id="6" name="右大括号 5">
              <a:extLst>
                <a:ext uri="{FF2B5EF4-FFF2-40B4-BE49-F238E27FC236}">
                  <a16:creationId xmlns:a16="http://schemas.microsoft.com/office/drawing/2014/main" id="{16A706DA-FF38-416A-9D1C-FB61D130EBBD}"/>
                </a:ext>
              </a:extLst>
            </p:cNvPr>
            <p:cNvSpPr/>
            <p:nvPr/>
          </p:nvSpPr>
          <p:spPr bwMode="auto">
            <a:xfrm>
              <a:off x="3707904" y="1340768"/>
              <a:ext cx="504056" cy="1152128"/>
            </a:xfrm>
            <a:prstGeom prst="rightBrace">
              <a:avLst>
                <a:gd name="adj1" fmla="val 8333"/>
                <a:gd name="adj2" fmla="val 54535"/>
              </a:avLst>
            </a:prstGeom>
            <a:noFill/>
            <a:ln w="57150" cap="flat" cmpd="sng" algn="ctr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</a:bodyPr>
            <a:lstStyle/>
            <a:p>
              <a:pPr marL="457200" marR="0" indent="0" algn="l" defTabSz="914400" rtl="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pitchFamily="2" charset="2"/>
                <a:buNone/>
                <a:tabLst/>
              </a:pPr>
              <a:endParaRPr kumimoji="1" lang="zh-CN" altLang="en-US" sz="3200" b="1" i="0" u="none" strike="noStrike" cap="none" normalizeH="0" baseline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DDDD3ABF-DAAB-411C-88BC-BD9A383238E5}"/>
                </a:ext>
              </a:extLst>
            </p:cNvPr>
            <p:cNvSpPr txBox="1"/>
            <p:nvPr/>
          </p:nvSpPr>
          <p:spPr>
            <a:xfrm>
              <a:off x="4355976" y="1340768"/>
              <a:ext cx="4104456" cy="1077218"/>
            </a:xfrm>
            <a:prstGeom prst="rect">
              <a:avLst/>
            </a:prstGeom>
            <a:solidFill>
              <a:srgbClr val="30D204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2"/>
                  </a:solidFill>
                  <a:latin typeface="+mj-lt"/>
                  <a:ea typeface="楷体" panose="02010609060101010101" pitchFamily="49" charset="-122"/>
                </a:rPr>
                <a:t>通过一系列运行指标</a:t>
              </a:r>
              <a:endParaRPr lang="en-US" altLang="zh-CN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endParaRPr>
            </a:p>
            <a:p>
              <a:r>
                <a:rPr lang="zh-CN" altLang="en-US" dirty="0">
                  <a:solidFill>
                    <a:schemeClr val="bg2"/>
                  </a:solidFill>
                  <a:latin typeface="+mj-lt"/>
                  <a:ea typeface="楷体" panose="02010609060101010101" pitchFamily="49" charset="-122"/>
                </a:rPr>
                <a:t>确定进程的优先级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20ECD068-57B9-41C2-993C-C54751CB4332}"/>
              </a:ext>
            </a:extLst>
          </p:cNvPr>
          <p:cNvSpPr txBox="1"/>
          <p:nvPr/>
        </p:nvSpPr>
        <p:spPr>
          <a:xfrm>
            <a:off x="3421264" y="4725144"/>
            <a:ext cx="2589503" cy="492443"/>
          </a:xfrm>
          <a:prstGeom prst="rect">
            <a:avLst/>
          </a:prstGeom>
          <a:solidFill>
            <a:srgbClr val="30D204">
              <a:alpha val="36863"/>
            </a:srgbClr>
          </a:solidFill>
        </p:spPr>
        <p:txBody>
          <a:bodyPr wrap="square" tIns="0" rIns="72000" bIns="0" rtlCol="0">
            <a:spAutoFit/>
          </a:bodyPr>
          <a:lstStyle/>
          <a:p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9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59818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8040119-72D8-4200-8BD5-51F91F586283}"/>
              </a:ext>
            </a:extLst>
          </p:cNvPr>
          <p:cNvSpPr/>
          <p:nvPr/>
        </p:nvSpPr>
        <p:spPr>
          <a:xfrm>
            <a:off x="107504" y="1573541"/>
            <a:ext cx="9036496" cy="5016758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bg2"/>
                </a:solidFill>
                <a:latin typeface="+mn-lt"/>
              </a:rPr>
              <a:t>struct </a:t>
            </a:r>
            <a:r>
              <a:rPr lang="en-US" altLang="zh-CN" sz="2400" dirty="0" err="1">
                <a:solidFill>
                  <a:schemeClr val="bg2"/>
                </a:solidFill>
                <a:latin typeface="+mn-lt"/>
              </a:rPr>
              <a:t>sched_entity</a:t>
            </a:r>
            <a:r>
              <a:rPr lang="en-US" altLang="zh-CN" sz="2400" dirty="0">
                <a:solidFill>
                  <a:schemeClr val="bg2"/>
                </a:solidFill>
                <a:latin typeface="+mn-lt"/>
              </a:rPr>
              <a:t> {</a:t>
            </a:r>
          </a:p>
          <a:p>
            <a:r>
              <a:rPr lang="en-US" altLang="zh-CN" sz="2400" dirty="0">
                <a:solidFill>
                  <a:schemeClr val="bg2"/>
                </a:solidFill>
                <a:latin typeface="+mn-lt"/>
              </a:rPr>
              <a:t>    struct </a:t>
            </a:r>
            <a:r>
              <a:rPr lang="en-US" altLang="zh-CN" sz="2400" dirty="0" err="1">
                <a:solidFill>
                  <a:schemeClr val="bg2"/>
                </a:solidFill>
                <a:latin typeface="+mn-lt"/>
              </a:rPr>
              <a:t>load_weight</a:t>
            </a:r>
            <a:r>
              <a:rPr lang="en-US" altLang="zh-CN" sz="2400" dirty="0">
                <a:solidFill>
                  <a:schemeClr val="bg2"/>
                </a:solidFill>
                <a:latin typeface="+mn-lt"/>
              </a:rPr>
              <a:t>   </a:t>
            </a:r>
            <a:r>
              <a:rPr lang="en-US" altLang="zh-CN" sz="2800" dirty="0">
                <a:solidFill>
                  <a:srgbClr val="FF0000"/>
                </a:solidFill>
                <a:latin typeface="+mn-lt"/>
              </a:rPr>
              <a:t>load</a:t>
            </a:r>
            <a:r>
              <a:rPr lang="en-US" altLang="zh-CN" sz="2400" dirty="0">
                <a:solidFill>
                  <a:schemeClr val="bg2"/>
                </a:solidFill>
                <a:latin typeface="+mn-lt"/>
              </a:rPr>
              <a:t>; //</a:t>
            </a:r>
            <a:r>
              <a:rPr lang="zh-CN" altLang="en-US" sz="2400" dirty="0">
                <a:solidFill>
                  <a:schemeClr val="bg2"/>
                </a:solidFill>
                <a:latin typeface="+mn-lt"/>
              </a:rPr>
              <a:t>权重</a:t>
            </a:r>
          </a:p>
          <a:p>
            <a:r>
              <a:rPr lang="zh-CN" altLang="en-US" sz="2400" dirty="0">
                <a:solidFill>
                  <a:schemeClr val="bg2"/>
                </a:solidFill>
                <a:latin typeface="+mn-lt"/>
              </a:rPr>
              <a:t>    </a:t>
            </a:r>
            <a:r>
              <a:rPr lang="en-US" altLang="zh-CN" sz="2400" dirty="0">
                <a:solidFill>
                  <a:schemeClr val="bg2"/>
                </a:solidFill>
                <a:latin typeface="+mn-lt"/>
              </a:rPr>
              <a:t>struct </a:t>
            </a:r>
            <a:r>
              <a:rPr lang="en-US" altLang="zh-CN" sz="2400" dirty="0" err="1">
                <a:solidFill>
                  <a:schemeClr val="bg2"/>
                </a:solidFill>
                <a:latin typeface="+mn-lt"/>
              </a:rPr>
              <a:t>rb_node</a:t>
            </a:r>
            <a:r>
              <a:rPr lang="en-US" altLang="zh-CN" sz="2400" dirty="0">
                <a:solidFill>
                  <a:schemeClr val="bg2"/>
                </a:solidFill>
                <a:latin typeface="+mn-lt"/>
              </a:rPr>
              <a:t>      </a:t>
            </a:r>
            <a:r>
              <a:rPr lang="en-US" altLang="zh-CN" sz="2400" dirty="0" err="1">
                <a:solidFill>
                  <a:srgbClr val="FF0000"/>
                </a:solidFill>
                <a:latin typeface="+mn-lt"/>
              </a:rPr>
              <a:t>run_node</a:t>
            </a:r>
            <a:r>
              <a:rPr lang="en-US" altLang="zh-CN" sz="2400" dirty="0">
                <a:solidFill>
                  <a:schemeClr val="bg2"/>
                </a:solidFill>
                <a:latin typeface="+mn-lt"/>
              </a:rPr>
              <a:t>; //</a:t>
            </a:r>
            <a:r>
              <a:rPr lang="zh-CN" altLang="en-US" sz="2400" dirty="0">
                <a:solidFill>
                  <a:schemeClr val="bg2"/>
                </a:solidFill>
                <a:latin typeface="+mn-lt"/>
              </a:rPr>
              <a:t>红黑树结点</a:t>
            </a:r>
          </a:p>
          <a:p>
            <a:r>
              <a:rPr lang="zh-CN" altLang="en-US" sz="2400" dirty="0">
                <a:solidFill>
                  <a:schemeClr val="bg2"/>
                </a:solidFill>
                <a:latin typeface="+mn-lt"/>
              </a:rPr>
              <a:t>    </a:t>
            </a:r>
            <a:r>
              <a:rPr lang="en-US" altLang="zh-CN" sz="2400" dirty="0">
                <a:solidFill>
                  <a:schemeClr val="bg2"/>
                </a:solidFill>
                <a:latin typeface="+mn-lt"/>
              </a:rPr>
              <a:t>struct </a:t>
            </a:r>
            <a:r>
              <a:rPr lang="en-US" altLang="zh-CN" sz="2400" dirty="0" err="1">
                <a:solidFill>
                  <a:schemeClr val="bg2"/>
                </a:solidFill>
                <a:latin typeface="+mn-lt"/>
              </a:rPr>
              <a:t>list_head</a:t>
            </a:r>
            <a:r>
              <a:rPr lang="en-US" altLang="zh-CN" sz="2400" dirty="0">
                <a:solidFill>
                  <a:schemeClr val="bg2"/>
                </a:solidFill>
                <a:latin typeface="+mn-lt"/>
              </a:rPr>
              <a:t>    </a:t>
            </a:r>
            <a:r>
              <a:rPr lang="en-US" altLang="zh-CN" sz="2400" dirty="0" err="1">
                <a:solidFill>
                  <a:schemeClr val="bg2"/>
                </a:solidFill>
                <a:latin typeface="+mn-lt"/>
              </a:rPr>
              <a:t>group_node</a:t>
            </a:r>
            <a:r>
              <a:rPr lang="en-US" altLang="zh-CN" sz="2400" dirty="0">
                <a:solidFill>
                  <a:schemeClr val="bg2"/>
                </a:solidFill>
                <a:latin typeface="+mn-lt"/>
              </a:rPr>
              <a:t>; //</a:t>
            </a:r>
            <a:r>
              <a:rPr lang="zh-CN" altLang="en-US" sz="2400" dirty="0">
                <a:solidFill>
                  <a:schemeClr val="bg2"/>
                </a:solidFill>
                <a:latin typeface="+mn-lt"/>
              </a:rPr>
              <a:t>与组调度有关</a:t>
            </a:r>
          </a:p>
          <a:p>
            <a:r>
              <a:rPr lang="zh-CN" altLang="en-US" sz="2400" dirty="0">
                <a:solidFill>
                  <a:schemeClr val="bg2"/>
                </a:solidFill>
                <a:latin typeface="+mn-lt"/>
              </a:rPr>
              <a:t>    </a:t>
            </a:r>
            <a:r>
              <a:rPr lang="en-US" altLang="zh-CN" sz="2400" dirty="0">
                <a:solidFill>
                  <a:schemeClr val="bg2"/>
                </a:solidFill>
                <a:latin typeface="+mn-lt"/>
              </a:rPr>
              <a:t>unsigned int        </a:t>
            </a:r>
            <a:r>
              <a:rPr lang="en-US" altLang="zh-CN" sz="2400" dirty="0" err="1">
                <a:solidFill>
                  <a:schemeClr val="bg2"/>
                </a:solidFill>
                <a:latin typeface="+mn-lt"/>
              </a:rPr>
              <a:t>on_rq</a:t>
            </a:r>
            <a:r>
              <a:rPr lang="en-US" altLang="zh-CN" sz="2400" dirty="0">
                <a:solidFill>
                  <a:schemeClr val="bg2"/>
                </a:solidFill>
                <a:latin typeface="+mn-lt"/>
              </a:rPr>
              <a:t>; //</a:t>
            </a:r>
            <a:r>
              <a:rPr lang="zh-CN" altLang="en-US" sz="2400" dirty="0">
                <a:solidFill>
                  <a:schemeClr val="bg2"/>
                </a:solidFill>
                <a:latin typeface="+mn-lt"/>
              </a:rPr>
              <a:t>是否处于</a:t>
            </a:r>
            <a:r>
              <a:rPr lang="en-US" altLang="zh-CN" sz="2400" dirty="0">
                <a:solidFill>
                  <a:schemeClr val="bg2"/>
                </a:solidFill>
                <a:latin typeface="+mn-lt"/>
              </a:rPr>
              <a:t>TASK_RUNNING</a:t>
            </a:r>
            <a:r>
              <a:rPr lang="zh-CN" altLang="en-US" sz="2400" dirty="0">
                <a:solidFill>
                  <a:schemeClr val="bg2"/>
                </a:solidFill>
                <a:latin typeface="+mn-lt"/>
              </a:rPr>
              <a:t>状态</a:t>
            </a:r>
          </a:p>
          <a:p>
            <a:r>
              <a:rPr lang="zh-CN" altLang="en-US" sz="2400" dirty="0">
                <a:solidFill>
                  <a:schemeClr val="bg2"/>
                </a:solidFill>
                <a:latin typeface="+mn-lt"/>
              </a:rPr>
              <a:t>    </a:t>
            </a:r>
            <a:r>
              <a:rPr lang="en-US" altLang="zh-CN" sz="2400" dirty="0">
                <a:solidFill>
                  <a:schemeClr val="bg2"/>
                </a:solidFill>
                <a:latin typeface="+mn-lt"/>
              </a:rPr>
              <a:t>u64         </a:t>
            </a:r>
            <a:r>
              <a:rPr lang="en-US" altLang="zh-CN" sz="2400" dirty="0" err="1">
                <a:solidFill>
                  <a:schemeClr val="bg2"/>
                </a:solidFill>
                <a:latin typeface="+mn-lt"/>
              </a:rPr>
              <a:t>exec_start</a:t>
            </a:r>
            <a:r>
              <a:rPr lang="en-US" altLang="zh-CN" sz="2400" dirty="0">
                <a:solidFill>
                  <a:schemeClr val="bg2"/>
                </a:solidFill>
                <a:latin typeface="+mn-lt"/>
              </a:rPr>
              <a:t>; //</a:t>
            </a:r>
            <a:r>
              <a:rPr lang="zh-CN" altLang="en-US" sz="2400" dirty="0">
                <a:solidFill>
                  <a:schemeClr val="bg2"/>
                </a:solidFill>
                <a:latin typeface="+mn-lt"/>
              </a:rPr>
              <a:t>一个调度</a:t>
            </a:r>
            <a:r>
              <a:rPr lang="en-US" altLang="zh-CN" sz="2400" dirty="0">
                <a:solidFill>
                  <a:schemeClr val="bg2"/>
                </a:solidFill>
                <a:latin typeface="+mn-lt"/>
              </a:rPr>
              <a:t>tick</a:t>
            </a:r>
            <a:r>
              <a:rPr lang="zh-CN" altLang="en-US" sz="2400" dirty="0">
                <a:solidFill>
                  <a:schemeClr val="bg2"/>
                </a:solidFill>
                <a:latin typeface="+mn-lt"/>
              </a:rPr>
              <a:t>的开始时间</a:t>
            </a:r>
          </a:p>
          <a:p>
            <a:r>
              <a:rPr lang="zh-CN" altLang="en-US" sz="2400" dirty="0">
                <a:solidFill>
                  <a:schemeClr val="bg2"/>
                </a:solidFill>
                <a:latin typeface="+mn-lt"/>
              </a:rPr>
              <a:t>    </a:t>
            </a:r>
            <a:r>
              <a:rPr lang="en-US" altLang="zh-CN" sz="2400" dirty="0">
                <a:solidFill>
                  <a:schemeClr val="bg2"/>
                </a:solidFill>
                <a:latin typeface="+mn-lt"/>
              </a:rPr>
              <a:t>u64         </a:t>
            </a:r>
            <a:r>
              <a:rPr lang="en-US" altLang="zh-CN" sz="2400" dirty="0" err="1">
                <a:solidFill>
                  <a:schemeClr val="bg2"/>
                </a:solidFill>
                <a:latin typeface="+mn-lt"/>
              </a:rPr>
              <a:t>sum_exec_runtime</a:t>
            </a:r>
            <a:r>
              <a:rPr lang="en-US" altLang="zh-CN" sz="2400" dirty="0">
                <a:solidFill>
                  <a:schemeClr val="bg2"/>
                </a:solidFill>
                <a:latin typeface="+mn-lt"/>
              </a:rPr>
              <a:t>; //</a:t>
            </a:r>
            <a:r>
              <a:rPr lang="zh-CN" altLang="en-US" sz="2400" dirty="0">
                <a:solidFill>
                  <a:schemeClr val="bg2"/>
                </a:solidFill>
                <a:latin typeface="+mn-lt"/>
              </a:rPr>
              <a:t>从出生开始</a:t>
            </a:r>
            <a:r>
              <a:rPr lang="en-US" altLang="zh-CN" sz="2400" dirty="0">
                <a:solidFill>
                  <a:schemeClr val="bg2"/>
                </a:solidFill>
                <a:latin typeface="+mn-lt"/>
              </a:rPr>
              <a:t>, </a:t>
            </a:r>
            <a:r>
              <a:rPr lang="zh-CN" altLang="en-US" sz="2400" dirty="0">
                <a:solidFill>
                  <a:schemeClr val="bg2"/>
                </a:solidFill>
                <a:latin typeface="+mn-lt"/>
              </a:rPr>
              <a:t>已经运行的实际时间</a:t>
            </a:r>
          </a:p>
          <a:p>
            <a:r>
              <a:rPr lang="zh-CN" altLang="en-US" sz="2400" dirty="0">
                <a:solidFill>
                  <a:schemeClr val="bg2"/>
                </a:solidFill>
                <a:latin typeface="+mn-lt"/>
              </a:rPr>
              <a:t>    </a:t>
            </a:r>
            <a:r>
              <a:rPr lang="en-US" altLang="zh-CN" sz="2400" dirty="0">
                <a:solidFill>
                  <a:schemeClr val="bg2"/>
                </a:solidFill>
                <a:latin typeface="+mn-lt"/>
              </a:rPr>
              <a:t>u64         </a:t>
            </a:r>
            <a:r>
              <a:rPr lang="en-US" altLang="zh-CN" sz="2800" dirty="0" err="1">
                <a:solidFill>
                  <a:srgbClr val="FF0000"/>
                </a:solidFill>
                <a:latin typeface="+mn-lt"/>
              </a:rPr>
              <a:t>vruntime</a:t>
            </a:r>
            <a:r>
              <a:rPr lang="en-US" altLang="zh-CN" sz="2400" dirty="0">
                <a:solidFill>
                  <a:schemeClr val="bg2"/>
                </a:solidFill>
                <a:latin typeface="+mn-lt"/>
              </a:rPr>
              <a:t>; //</a:t>
            </a:r>
            <a:r>
              <a:rPr lang="zh-CN" altLang="en-US" sz="2400" dirty="0">
                <a:solidFill>
                  <a:schemeClr val="bg2"/>
                </a:solidFill>
                <a:latin typeface="+mn-lt"/>
              </a:rPr>
              <a:t>虚拟运行时间</a:t>
            </a:r>
          </a:p>
          <a:p>
            <a:r>
              <a:rPr lang="zh-CN" altLang="en-US" sz="2400" dirty="0">
                <a:solidFill>
                  <a:schemeClr val="bg2"/>
                </a:solidFill>
                <a:latin typeface="+mn-lt"/>
              </a:rPr>
              <a:t>    </a:t>
            </a:r>
            <a:r>
              <a:rPr lang="en-US" altLang="zh-CN" sz="2400" dirty="0">
                <a:solidFill>
                  <a:schemeClr val="bg2"/>
                </a:solidFill>
                <a:latin typeface="+mn-lt"/>
              </a:rPr>
              <a:t>u64         </a:t>
            </a:r>
            <a:r>
              <a:rPr lang="en-US" altLang="zh-CN" sz="2400" dirty="0" err="1">
                <a:solidFill>
                  <a:schemeClr val="bg2"/>
                </a:solidFill>
                <a:latin typeface="+mn-lt"/>
              </a:rPr>
              <a:t>prev_sum_exec_runtime</a:t>
            </a:r>
            <a:r>
              <a:rPr lang="en-US" altLang="zh-CN" sz="2400" dirty="0">
                <a:solidFill>
                  <a:schemeClr val="bg2"/>
                </a:solidFill>
                <a:latin typeface="+mn-lt"/>
              </a:rPr>
              <a:t>; //</a:t>
            </a:r>
            <a:r>
              <a:rPr lang="zh-CN" altLang="en-US" sz="2400" dirty="0">
                <a:solidFill>
                  <a:schemeClr val="bg2"/>
                </a:solidFill>
                <a:latin typeface="+mn-lt"/>
              </a:rPr>
              <a:t>本次调度之前</a:t>
            </a:r>
            <a:r>
              <a:rPr lang="en-US" altLang="zh-CN" sz="2400" dirty="0">
                <a:solidFill>
                  <a:schemeClr val="bg2"/>
                </a:solidFill>
                <a:latin typeface="+mn-lt"/>
              </a:rPr>
              <a:t>, </a:t>
            </a:r>
            <a:r>
              <a:rPr lang="zh-CN" altLang="en-US" sz="2400" dirty="0">
                <a:solidFill>
                  <a:schemeClr val="bg2"/>
                </a:solidFill>
                <a:latin typeface="+mn-lt"/>
              </a:rPr>
              <a:t>进程已经运行的实际时间</a:t>
            </a:r>
          </a:p>
          <a:p>
            <a:r>
              <a:rPr lang="zh-CN" altLang="en-US" sz="2400" dirty="0">
                <a:solidFill>
                  <a:schemeClr val="bg2"/>
                </a:solidFill>
                <a:latin typeface="+mn-lt"/>
              </a:rPr>
              <a:t>    </a:t>
            </a:r>
            <a:r>
              <a:rPr lang="en-US" altLang="zh-CN" sz="2400" dirty="0">
                <a:solidFill>
                  <a:schemeClr val="bg2"/>
                </a:solidFill>
                <a:latin typeface="+mn-lt"/>
              </a:rPr>
              <a:t>struct </a:t>
            </a:r>
            <a:r>
              <a:rPr lang="en-US" altLang="zh-CN" sz="2400" dirty="0" err="1">
                <a:solidFill>
                  <a:schemeClr val="bg2"/>
                </a:solidFill>
                <a:latin typeface="+mn-lt"/>
              </a:rPr>
              <a:t>sched_entity</a:t>
            </a:r>
            <a:r>
              <a:rPr lang="en-US" altLang="zh-CN" sz="2400" dirty="0">
                <a:solidFill>
                  <a:schemeClr val="bg2"/>
                </a:solidFill>
                <a:latin typeface="+mn-lt"/>
              </a:rPr>
              <a:t> *parent; //</a:t>
            </a:r>
            <a:r>
              <a:rPr lang="zh-CN" altLang="en-US" sz="2400" dirty="0">
                <a:solidFill>
                  <a:schemeClr val="bg2"/>
                </a:solidFill>
                <a:latin typeface="+mn-lt"/>
              </a:rPr>
              <a:t>组调度中的父进程</a:t>
            </a:r>
          </a:p>
          <a:p>
            <a:r>
              <a:rPr lang="zh-CN" altLang="en-US" sz="2400" dirty="0">
                <a:solidFill>
                  <a:schemeClr val="bg2"/>
                </a:solidFill>
                <a:latin typeface="+mn-lt"/>
              </a:rPr>
              <a:t>    </a:t>
            </a:r>
            <a:r>
              <a:rPr lang="en-US" altLang="zh-CN" sz="2400" dirty="0">
                <a:solidFill>
                  <a:schemeClr val="bg2"/>
                </a:solidFill>
                <a:latin typeface="+mn-lt"/>
              </a:rPr>
              <a:t>struct </a:t>
            </a:r>
            <a:r>
              <a:rPr lang="en-US" altLang="zh-CN" sz="2400" dirty="0" err="1">
                <a:solidFill>
                  <a:schemeClr val="bg2"/>
                </a:solidFill>
                <a:latin typeface="+mn-lt"/>
              </a:rPr>
              <a:t>cfs_rq</a:t>
            </a:r>
            <a:r>
              <a:rPr lang="en-US" altLang="zh-CN" sz="2400" dirty="0">
                <a:solidFill>
                  <a:schemeClr val="bg2"/>
                </a:solidFill>
                <a:latin typeface="+mn-lt"/>
              </a:rPr>
              <a:t>       *</a:t>
            </a:r>
            <a:r>
              <a:rPr lang="en-US" altLang="zh-CN" sz="2400" dirty="0" err="1">
                <a:solidFill>
                  <a:schemeClr val="bg2"/>
                </a:solidFill>
                <a:latin typeface="+mn-lt"/>
              </a:rPr>
              <a:t>cfs_rq</a:t>
            </a:r>
            <a:r>
              <a:rPr lang="en-US" altLang="zh-CN" sz="2400" dirty="0">
                <a:solidFill>
                  <a:schemeClr val="bg2"/>
                </a:solidFill>
                <a:latin typeface="+mn-lt"/>
              </a:rPr>
              <a:t>; //</a:t>
            </a:r>
            <a:r>
              <a:rPr lang="zh-CN" altLang="en-US" sz="2400" dirty="0">
                <a:solidFill>
                  <a:schemeClr val="bg2"/>
                </a:solidFill>
                <a:latin typeface="+mn-lt"/>
              </a:rPr>
              <a:t>进程此时在哪个运行队列中</a:t>
            </a:r>
          </a:p>
          <a:p>
            <a:r>
              <a:rPr lang="en-US" altLang="zh-CN" sz="2400" dirty="0">
                <a:solidFill>
                  <a:schemeClr val="bg2"/>
                </a:solidFill>
                <a:latin typeface="+mn-lt"/>
              </a:rPr>
              <a:t>};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1FDCE24-2825-4AF5-A4CD-114B29DF7957}"/>
              </a:ext>
            </a:extLst>
          </p:cNvPr>
          <p:cNvSpPr/>
          <p:nvPr/>
        </p:nvSpPr>
        <p:spPr>
          <a:xfrm>
            <a:off x="2083177" y="-1308"/>
            <a:ext cx="497764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indent="-274638" algn="ctr" eaLnBrk="1" hangingPunct="1">
              <a:defRPr/>
            </a:pPr>
            <a:r>
              <a:rPr lang="zh-CN" altLang="en-US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调度实体</a:t>
            </a:r>
            <a:r>
              <a:rPr lang="en-US" altLang="zh-CN" sz="4000" dirty="0" err="1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sched_entity</a:t>
            </a:r>
            <a:endParaRPr lang="zh-CN" altLang="en-US" sz="4000" dirty="0">
              <a:solidFill>
                <a:srgbClr val="0066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MS PGothic" pitchFamily="34" charset="-128"/>
              <a:cs typeface="+mj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D2CBBE0-E05B-44F1-ADE1-110163B31A73}"/>
              </a:ext>
            </a:extLst>
          </p:cNvPr>
          <p:cNvSpPr txBox="1"/>
          <p:nvPr/>
        </p:nvSpPr>
        <p:spPr>
          <a:xfrm>
            <a:off x="323528" y="547501"/>
            <a:ext cx="85689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0" dirty="0">
                <a:solidFill>
                  <a:schemeClr val="bg2"/>
                </a:solidFill>
                <a:latin typeface="+mn-lt"/>
              </a:rPr>
              <a:t>在</a:t>
            </a:r>
            <a:r>
              <a:rPr lang="en-US" altLang="zh-CN" dirty="0">
                <a:solidFill>
                  <a:schemeClr val="bg2"/>
                </a:solidFill>
                <a:latin typeface="+mn-lt"/>
              </a:rPr>
              <a:t>&lt;</a:t>
            </a:r>
            <a:r>
              <a:rPr lang="en-US" altLang="zh-CN" dirty="0" err="1">
                <a:solidFill>
                  <a:schemeClr val="bg2"/>
                </a:solidFill>
                <a:latin typeface="+mn-lt"/>
              </a:rPr>
              <a:t>linux</a:t>
            </a:r>
            <a:r>
              <a:rPr lang="en-US" altLang="zh-CN" dirty="0">
                <a:solidFill>
                  <a:schemeClr val="bg2"/>
                </a:solidFill>
                <a:latin typeface="+mn-lt"/>
              </a:rPr>
              <a:t>/</a:t>
            </a:r>
            <a:r>
              <a:rPr lang="en-US" altLang="zh-CN" dirty="0" err="1">
                <a:solidFill>
                  <a:schemeClr val="bg2"/>
                </a:solidFill>
                <a:latin typeface="+mn-lt"/>
              </a:rPr>
              <a:t>sched.h</a:t>
            </a:r>
            <a:r>
              <a:rPr lang="en-US" altLang="zh-CN" dirty="0">
                <a:solidFill>
                  <a:schemeClr val="bg2"/>
                </a:solidFill>
                <a:latin typeface="+mn-lt"/>
              </a:rPr>
              <a:t>&gt;</a:t>
            </a:r>
            <a:r>
              <a:rPr lang="zh-CN" altLang="en-US" b="0" dirty="0">
                <a:solidFill>
                  <a:schemeClr val="bg2"/>
                </a:solidFill>
                <a:latin typeface="+mn-lt"/>
              </a:rPr>
              <a:t>中定义，</a:t>
            </a:r>
            <a:r>
              <a:rPr lang="en-US" altLang="zh-CN" dirty="0" err="1">
                <a:solidFill>
                  <a:schemeClr val="bg2"/>
                </a:solidFill>
                <a:latin typeface="+mn-lt"/>
              </a:rPr>
              <a:t>task_struct</a:t>
            </a:r>
            <a:r>
              <a:rPr lang="zh-CN" altLang="en-US" b="0" dirty="0">
                <a:solidFill>
                  <a:schemeClr val="bg2"/>
                </a:solidFill>
                <a:latin typeface="+mn-lt"/>
              </a:rPr>
              <a:t>成员</a:t>
            </a:r>
            <a:endParaRPr lang="zh-CN" altLang="en-US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8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941426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0739828-4DE6-45B8-B46D-54CACF077504}"/>
              </a:ext>
            </a:extLst>
          </p:cNvPr>
          <p:cNvSpPr/>
          <p:nvPr/>
        </p:nvSpPr>
        <p:spPr>
          <a:xfrm>
            <a:off x="3059832" y="0"/>
            <a:ext cx="333777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indent="-274638" algn="ctr" eaLnBrk="1" hangingPunct="1">
              <a:defRPr/>
            </a:pPr>
            <a:r>
              <a:rPr lang="en-US" altLang="en-US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CFS </a:t>
            </a:r>
            <a:r>
              <a:rPr lang="zh-CN" altLang="en-US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调度程序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B06D6F6-D439-4BE6-AF02-13065FF16F76}"/>
              </a:ext>
            </a:extLst>
          </p:cNvPr>
          <p:cNvSpPr txBox="1"/>
          <p:nvPr/>
        </p:nvSpPr>
        <p:spPr>
          <a:xfrm>
            <a:off x="143507" y="588031"/>
            <a:ext cx="885698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lvl="2" indent="-355600" defTabSz="355600">
              <a:lnSpc>
                <a:spcPct val="90000"/>
              </a:lnSpc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绝对公平性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lnSpc>
                <a:spcPct val="90000"/>
              </a:lnSpc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选择</a:t>
            </a:r>
            <a:r>
              <a:rPr lang="en-US" altLang="zh-CN" dirty="0" err="1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vruntime</a:t>
            </a:r>
            <a:r>
              <a:rPr lang="zh-CN" altLang="en-US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值</a:t>
            </a:r>
            <a:r>
              <a:rPr lang="zh-CN" altLang="en-US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最低</a:t>
            </a:r>
            <a:r>
              <a:rPr lang="zh-CN" altLang="en-US" dirty="0" smtClean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的</a:t>
            </a:r>
            <a:endParaRPr lang="en-US" altLang="zh-CN" dirty="0" smtClean="0">
              <a:solidFill>
                <a:schemeClr val="bg2"/>
              </a:solidFill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lnSpc>
                <a:spcPct val="90000"/>
              </a:lnSpc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en-US" altLang="zh-CN" dirty="0" err="1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vruntime</a:t>
            </a:r>
            <a:r>
              <a:rPr lang="en-US" altLang="zh-CN" dirty="0" smtClean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 </a:t>
            </a:r>
            <a:r>
              <a:rPr lang="en-US" altLang="zh-CN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= </a:t>
            </a:r>
            <a:r>
              <a:rPr lang="zh-CN" altLang="en-US" sz="2800" dirty="0">
                <a:solidFill>
                  <a:srgbClr val="FF0000"/>
                </a:solidFill>
                <a:latin typeface="+mj-lt"/>
                <a:ea typeface="楷体" panose="02010609060101010101" pitchFamily="49" charset="-122"/>
              </a:rPr>
              <a:t>实际运行时间 </a:t>
            </a:r>
            <a:r>
              <a:rPr lang="zh-CN" altLang="en-US" sz="2800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* </a:t>
            </a:r>
            <a:r>
              <a:rPr lang="en-US" altLang="zh-CN" sz="2800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1024 / </a:t>
            </a:r>
            <a:r>
              <a:rPr lang="zh-CN" altLang="en-US" dirty="0">
                <a:solidFill>
                  <a:srgbClr val="FF0000"/>
                </a:solidFill>
                <a:latin typeface="+mj-lt"/>
                <a:ea typeface="楷体" panose="02010609060101010101" pitchFamily="49" charset="-122"/>
              </a:rPr>
              <a:t>进程权重</a:t>
            </a: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 </a:t>
            </a:r>
            <a:endParaRPr lang="en-US" altLang="zh-CN" dirty="0">
              <a:solidFill>
                <a:schemeClr val="bg2"/>
              </a:solidFill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lnSpc>
                <a:spcPct val="90000"/>
              </a:lnSpc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随着进程执行时间的增长</a:t>
            </a:r>
            <a:r>
              <a:rPr lang="zh-CN" altLang="en-US" dirty="0" smtClean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，</a:t>
            </a:r>
            <a:r>
              <a:rPr lang="en-US" altLang="zh-CN" dirty="0" err="1" smtClean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vruntime</a:t>
            </a:r>
            <a:r>
              <a:rPr lang="en-US" altLang="zh-CN" dirty="0" smtClean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 </a:t>
            </a:r>
            <a:r>
              <a:rPr lang="zh-CN" altLang="en-US" dirty="0" smtClean="0">
                <a:solidFill>
                  <a:schemeClr val="bg2"/>
                </a:solidFill>
                <a:ea typeface="楷体" panose="02010609060101010101" pitchFamily="49" charset="-122"/>
              </a:rPr>
              <a:t>增大</a:t>
            </a:r>
            <a:r>
              <a:rPr lang="zh-CN" altLang="en-US" dirty="0" smtClean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。</a:t>
            </a:r>
            <a:endParaRPr lang="en-US" altLang="zh-CN" dirty="0">
              <a:solidFill>
                <a:schemeClr val="bg2"/>
              </a:solidFill>
              <a:latin typeface="+mj-lt"/>
              <a:ea typeface="楷体" panose="02010609060101010101" pitchFamily="49" charset="-122"/>
            </a:endParaRPr>
          </a:p>
          <a:p>
            <a:pPr marL="355600" lvl="2" indent="-355600" defTabSz="355600">
              <a:lnSpc>
                <a:spcPct val="90000"/>
              </a:lnSpc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相对公平性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lnSpc>
                <a:spcPct val="90000"/>
              </a:lnSpc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dirty="0" smtClean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分</a:t>
            </a: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配给进程的</a:t>
            </a:r>
            <a:r>
              <a:rPr lang="en-US" altLang="zh-CN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CPU</a:t>
            </a: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时间 </a:t>
            </a:r>
            <a:r>
              <a:rPr lang="en-US" altLang="zh-CN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= </a:t>
            </a:r>
          </a:p>
          <a:p>
            <a:pPr marL="457200" lvl="3" defTabSz="355600">
              <a:lnSpc>
                <a:spcPct val="90000"/>
              </a:lnSpc>
              <a:buClr>
                <a:schemeClr val="bg2"/>
              </a:buClr>
              <a:buSzPct val="70000"/>
              <a:defRPr/>
            </a:pP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   </a:t>
            </a:r>
            <a:r>
              <a:rPr lang="zh-CN" altLang="en-US" dirty="0" smtClean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            </a:t>
            </a:r>
            <a:r>
              <a:rPr lang="zh-CN" altLang="en-US" sz="2800" dirty="0" smtClean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调度</a:t>
            </a:r>
            <a:r>
              <a:rPr lang="zh-CN" altLang="en-US" sz="2800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周期 *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进程权重</a:t>
            </a:r>
            <a:r>
              <a:rPr lang="en-US" altLang="zh-CN" sz="2800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/</a:t>
            </a:r>
            <a:r>
              <a:rPr lang="zh-CN" altLang="en-US" sz="28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全部进程权重之和</a:t>
            </a:r>
            <a:endParaRPr lang="en-US" altLang="zh-CN" sz="2800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914400" lvl="3" indent="-457200" defTabSz="355600">
              <a:lnSpc>
                <a:spcPct val="90000"/>
              </a:lnSpc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如系统中有两个进程</a:t>
            </a:r>
            <a:r>
              <a:rPr lang="en-US" altLang="zh-CN" dirty="0" smtClean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A</a:t>
            </a:r>
            <a:r>
              <a:rPr lang="zh-CN" altLang="en-US" dirty="0" smtClean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、</a:t>
            </a:r>
            <a:r>
              <a:rPr lang="en-US" altLang="zh-CN" dirty="0" smtClean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B</a:t>
            </a: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，权重为</a:t>
            </a:r>
            <a:r>
              <a:rPr lang="en-US" altLang="zh-CN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1</a:t>
            </a: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和</a:t>
            </a:r>
            <a:r>
              <a:rPr lang="en-US" altLang="zh-CN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2</a:t>
            </a: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，假设调度</a:t>
            </a:r>
            <a:r>
              <a:rPr lang="zh-CN" altLang="en-US" dirty="0" smtClean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周期为</a:t>
            </a:r>
            <a:r>
              <a:rPr lang="en-US" altLang="zh-CN" dirty="0" smtClean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30ms</a:t>
            </a:r>
          </a:p>
          <a:p>
            <a:pPr marL="457200" lvl="3" defTabSz="355600">
              <a:lnSpc>
                <a:spcPct val="90000"/>
              </a:lnSpc>
              <a:buClr>
                <a:schemeClr val="bg2"/>
              </a:buClr>
              <a:buSzPct val="80000"/>
              <a:defRPr/>
            </a:pPr>
            <a:r>
              <a:rPr lang="en-US" altLang="zh-CN" dirty="0" smtClean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    A</a:t>
            </a: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的时间为</a:t>
            </a:r>
            <a:r>
              <a:rPr lang="en-US" altLang="zh-CN" dirty="0" smtClean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:   30ms </a:t>
            </a:r>
            <a:r>
              <a:rPr lang="en-US" altLang="zh-CN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* (1/(1+2)) = 10ms</a:t>
            </a:r>
            <a:r>
              <a:rPr lang="zh-CN" altLang="en-US" dirty="0" smtClean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；</a:t>
            </a:r>
            <a:endParaRPr lang="en-US" altLang="zh-CN" dirty="0" smtClean="0">
              <a:solidFill>
                <a:schemeClr val="bg2"/>
              </a:solidFill>
              <a:latin typeface="+mj-lt"/>
              <a:ea typeface="楷体" panose="02010609060101010101" pitchFamily="49" charset="-122"/>
            </a:endParaRPr>
          </a:p>
          <a:p>
            <a:pPr marL="457200" lvl="3" defTabSz="355600">
              <a:lnSpc>
                <a:spcPct val="90000"/>
              </a:lnSpc>
              <a:buClr>
                <a:schemeClr val="bg2"/>
              </a:buClr>
              <a:buSzPct val="80000"/>
              <a:defRPr/>
            </a:pPr>
            <a:r>
              <a:rPr lang="en-US" altLang="zh-CN" dirty="0" smtClean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    B</a:t>
            </a: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的时间为：</a:t>
            </a:r>
            <a:r>
              <a:rPr lang="en-US" altLang="zh-CN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30ms * (2/(1+2)) = 20ms</a:t>
            </a: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。</a:t>
            </a:r>
            <a:endParaRPr lang="en-US" altLang="zh-CN" dirty="0">
              <a:solidFill>
                <a:schemeClr val="bg2"/>
              </a:solidFill>
              <a:latin typeface="+mj-lt"/>
              <a:ea typeface="楷体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D4EE970-6966-40AB-A752-9D2BBC2EEDA2}"/>
              </a:ext>
            </a:extLst>
          </p:cNvPr>
          <p:cNvSpPr txBox="1"/>
          <p:nvPr/>
        </p:nvSpPr>
        <p:spPr>
          <a:xfrm>
            <a:off x="890976" y="1609519"/>
            <a:ext cx="7362046" cy="430202"/>
          </a:xfrm>
          <a:prstGeom prst="rect">
            <a:avLst/>
          </a:prstGeom>
          <a:solidFill>
            <a:srgbClr val="30D204">
              <a:alpha val="36863"/>
            </a:srgbClr>
          </a:solidFill>
        </p:spPr>
        <p:txBody>
          <a:bodyPr wrap="square" tIns="0" bIns="0" rtlCol="0">
            <a:spAutoFit/>
          </a:bodyPr>
          <a:lstStyle/>
          <a:p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85A90E6-E92D-4156-B49F-3FC823A2771C}"/>
              </a:ext>
            </a:extLst>
          </p:cNvPr>
          <p:cNvSpPr txBox="1"/>
          <p:nvPr/>
        </p:nvSpPr>
        <p:spPr>
          <a:xfrm>
            <a:off x="1065306" y="2941355"/>
            <a:ext cx="7387446" cy="830932"/>
          </a:xfrm>
          <a:prstGeom prst="rect">
            <a:avLst/>
          </a:prstGeom>
          <a:solidFill>
            <a:srgbClr val="30D204">
              <a:alpha val="36863"/>
            </a:srgbClr>
          </a:solidFill>
        </p:spPr>
        <p:txBody>
          <a:bodyPr wrap="square" tIns="0" bIns="0" rtlCol="0">
            <a:spAutoFit/>
          </a:bodyPr>
          <a:lstStyle/>
          <a:p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8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4069942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F77354E-8A16-4266-84D8-0E914E09BD04}"/>
              </a:ext>
            </a:extLst>
          </p:cNvPr>
          <p:cNvSpPr/>
          <p:nvPr/>
        </p:nvSpPr>
        <p:spPr>
          <a:xfrm>
            <a:off x="0" y="1166843"/>
            <a:ext cx="9252520" cy="24191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lvl="2" indent="-355600" defTabSz="355600">
              <a:lnSpc>
                <a:spcPct val="90000"/>
              </a:lnSpc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自平衡二叉搜索树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lnSpc>
                <a:spcPct val="90000"/>
              </a:lnSpc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每个运行中的进程，在红黑树上都有一个节点</a:t>
            </a:r>
            <a:endParaRPr lang="en-US" altLang="zh-CN" dirty="0">
              <a:solidFill>
                <a:schemeClr val="bg2"/>
              </a:solidFill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lnSpc>
                <a:spcPct val="90000"/>
              </a:lnSpc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lang="zh-CN" altLang="en-US" dirty="0" smtClean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最</a:t>
            </a: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左侧的进程</a:t>
            </a:r>
            <a:r>
              <a:rPr lang="zh-CN" altLang="en-US" dirty="0" smtClean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表示下</a:t>
            </a: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一次将调度的进程</a:t>
            </a:r>
          </a:p>
          <a:p>
            <a:pPr marL="355600" lvl="2" indent="-355600" defTabSz="355600">
              <a:lnSpc>
                <a:spcPct val="90000"/>
              </a:lnSpc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b="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 </a:t>
            </a:r>
            <a:r>
              <a:rPr lang="en-US" altLang="zh-CN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O(log n)</a:t>
            </a: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 时间内搜索、插入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lnSpc>
                <a:spcPct val="90000"/>
              </a:lnSpc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lang="en-US" altLang="zh-CN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CFS</a:t>
            </a: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缓存了最左叶子，只需检索缓冲的值。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E5EA2C7-5E08-4592-97FA-37155C466B95}"/>
              </a:ext>
            </a:extLst>
          </p:cNvPr>
          <p:cNvSpPr/>
          <p:nvPr/>
        </p:nvSpPr>
        <p:spPr>
          <a:xfrm>
            <a:off x="1619672" y="0"/>
            <a:ext cx="658967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274638" algn="ctr" eaLnBrk="1" hangingPunct="1">
              <a:defRPr/>
            </a:pPr>
            <a:r>
              <a:rPr lang="en-US" altLang="en-US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CFS </a:t>
            </a:r>
            <a:r>
              <a:rPr lang="zh-CN" altLang="en-US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算法实现</a:t>
            </a:r>
            <a:r>
              <a:rPr lang="en-US" altLang="zh-CN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——</a:t>
            </a:r>
            <a:r>
              <a:rPr lang="zh-CN" altLang="en-US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红黑树</a:t>
            </a:r>
          </a:p>
        </p:txBody>
      </p:sp>
      <p:sp>
        <p:nvSpPr>
          <p:cNvPr id="6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734578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B281790-C431-402D-B3EB-9349D5855055}"/>
              </a:ext>
            </a:extLst>
          </p:cNvPr>
          <p:cNvSpPr txBox="1"/>
          <p:nvPr/>
        </p:nvSpPr>
        <p:spPr>
          <a:xfrm>
            <a:off x="1969358" y="0"/>
            <a:ext cx="52052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-274638" algn="ctr" eaLnBrk="1" hangingPunct="1">
              <a:defRPr/>
            </a:pPr>
            <a:r>
              <a:rPr lang="en-US" altLang="zh-CN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Windows</a:t>
            </a:r>
            <a:r>
              <a:rPr lang="zh-CN" altLang="en-US" sz="4000" dirty="0" smtClean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调度（</a:t>
            </a:r>
            <a:r>
              <a:rPr lang="en-US" altLang="zh-CN" sz="4000" dirty="0" smtClean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1</a:t>
            </a:r>
            <a:r>
              <a:rPr lang="zh-CN" altLang="en-US" sz="4000" dirty="0" smtClean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）</a:t>
            </a:r>
            <a:endParaRPr lang="zh-CN" altLang="en-US" sz="4000" dirty="0">
              <a:solidFill>
                <a:srgbClr val="B2622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  <a:cs typeface="+mj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673E18-5E5B-42A2-BEE6-85F4337414FC}"/>
              </a:ext>
            </a:extLst>
          </p:cNvPr>
          <p:cNvSpPr/>
          <p:nvPr/>
        </p:nvSpPr>
        <p:spPr>
          <a:xfrm>
            <a:off x="233772" y="980728"/>
            <a:ext cx="8676456" cy="52445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lvl="2" indent="-355600" defTabSz="355600">
              <a:lnSpc>
                <a:spcPct val="90000"/>
              </a:lnSpc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基于优先级的可抢占线程调度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355600" lvl="2" indent="-355600" defTabSz="355600">
              <a:lnSpc>
                <a:spcPct val="90000"/>
              </a:lnSpc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en-US" altLang="zh-CN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32</a:t>
            </a: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个级别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lnSpc>
                <a:spcPct val="90000"/>
              </a:lnSpc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en-US" altLang="zh-CN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0</a:t>
            </a: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级：最低，“页面清零”线程，在系统完全空闲时将已经释放的内存空间清零</a:t>
            </a:r>
            <a:endParaRPr lang="en-US" altLang="zh-CN" dirty="0">
              <a:solidFill>
                <a:schemeClr val="bg2"/>
              </a:solidFill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lnSpc>
                <a:spcPct val="90000"/>
              </a:lnSpc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实时类：</a:t>
            </a:r>
            <a:r>
              <a:rPr lang="en-US" altLang="zh-CN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16-31</a:t>
            </a:r>
          </a:p>
          <a:p>
            <a:pPr marL="812800" lvl="3" indent="-355600" defTabSz="355600">
              <a:lnSpc>
                <a:spcPct val="90000"/>
              </a:lnSpc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可变类：</a:t>
            </a:r>
            <a:r>
              <a:rPr lang="en-US" altLang="zh-CN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1-15</a:t>
            </a: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：可以根据需要由系统的负载均衡模块在此范围内实时微调</a:t>
            </a:r>
            <a:endParaRPr lang="en-US" altLang="zh-CN" dirty="0">
              <a:solidFill>
                <a:schemeClr val="bg2"/>
              </a:solidFill>
              <a:latin typeface="+mj-lt"/>
              <a:ea typeface="楷体" panose="02010609060101010101" pitchFamily="49" charset="-122"/>
            </a:endParaRPr>
          </a:p>
          <a:p>
            <a:pPr marL="355600" lvl="2" indent="-355600" defTabSz="355600">
              <a:lnSpc>
                <a:spcPct val="90000"/>
              </a:lnSpc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每个优先级一个队列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lnSpc>
                <a:spcPct val="90000"/>
              </a:lnSpc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同一优先级各线程按时间片轮转进行调度</a:t>
            </a:r>
            <a:endParaRPr lang="en-US" altLang="zh-CN" dirty="0">
              <a:solidFill>
                <a:schemeClr val="bg2"/>
              </a:solidFill>
              <a:latin typeface="+mj-lt"/>
              <a:ea typeface="楷体" panose="02010609060101010101" pitchFamily="49" charset="-122"/>
            </a:endParaRPr>
          </a:p>
          <a:p>
            <a:pPr marL="355600" lvl="2" indent="-355600" defTabSz="355600">
              <a:lnSpc>
                <a:spcPct val="90000"/>
              </a:lnSpc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应用程序中可在一定范围内升高或降低线程优先级。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</p:txBody>
      </p:sp>
      <p:sp>
        <p:nvSpPr>
          <p:cNvPr id="6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521532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51E1B5C-3B70-4388-8BAD-DCF20B9B03AE}"/>
              </a:ext>
            </a:extLst>
          </p:cNvPr>
          <p:cNvSpPr/>
          <p:nvPr/>
        </p:nvSpPr>
        <p:spPr>
          <a:xfrm>
            <a:off x="0" y="789510"/>
            <a:ext cx="9115602" cy="41919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lvl="2" indent="-355600" defTabSz="355600">
              <a:lnSpc>
                <a:spcPct val="90000"/>
              </a:lnSpc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en-US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Win32 API</a:t>
            </a: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定义了</a:t>
            </a:r>
            <a:r>
              <a:rPr lang="zh-CN" altLang="en-US" sz="3600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进程的优先级类</a:t>
            </a:r>
            <a:endParaRPr lang="en-US" altLang="zh-CN" sz="3600" dirty="0">
              <a:solidFill>
                <a:srgbClr val="FF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lnSpc>
                <a:spcPct val="90000"/>
              </a:lnSpc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dirty="0" smtClean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通常</a:t>
            </a:r>
            <a:r>
              <a:rPr lang="en-US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NORMAL_PRIORITY_CLASS</a:t>
            </a:r>
            <a:endParaRPr lang="en-US" altLang="zh-CN" dirty="0">
              <a:solidFill>
                <a:schemeClr val="bg2"/>
              </a:solidFill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lnSpc>
                <a:spcPct val="90000"/>
              </a:lnSpc>
              <a:buSzPct val="80000"/>
              <a:buFont typeface="Wingdings" panose="05000000000000000000" pitchFamily="2" charset="2"/>
              <a:buChar char="n"/>
              <a:defRPr/>
            </a:pPr>
            <a:r>
              <a:rPr lang="en-US" altLang="zh-CN" dirty="0" err="1" smtClean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CreateProcess</a:t>
            </a: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设置、</a:t>
            </a:r>
            <a:r>
              <a:rPr lang="en-US" altLang="zh-CN" dirty="0" err="1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SetPriorityClass</a:t>
            </a: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修改</a:t>
            </a:r>
            <a:endParaRPr lang="en-US" altLang="zh-CN" dirty="0">
              <a:solidFill>
                <a:schemeClr val="bg2"/>
              </a:solidFill>
              <a:latin typeface="+mj-lt"/>
              <a:ea typeface="楷体" panose="02010609060101010101" pitchFamily="49" charset="-122"/>
            </a:endParaRPr>
          </a:p>
          <a:p>
            <a:pPr marL="355600" lvl="2" indent="-355600" defTabSz="355600">
              <a:lnSpc>
                <a:spcPct val="90000"/>
              </a:lnSpc>
              <a:buClr>
                <a:srgbClr val="FF00FF"/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3600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线程的</a:t>
            </a:r>
            <a:r>
              <a:rPr lang="zh-CN" altLang="en-US" sz="3600" dirty="0" smtClean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anose="02010609060101010101" pitchFamily="49" charset="-122"/>
              </a:rPr>
              <a:t>优先级</a:t>
            </a:r>
            <a:endParaRPr lang="en-US" altLang="zh-CN" sz="3600" dirty="0" smtClean="0">
              <a:solidFill>
                <a:srgbClr val="FF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lnSpc>
                <a:spcPct val="90000"/>
              </a:lnSpc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dirty="0" smtClean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基于所属进程优先级</a:t>
            </a: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类</a:t>
            </a:r>
            <a:r>
              <a:rPr lang="zh-CN" altLang="en-US" dirty="0" smtClean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和类</a:t>
            </a: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中的相对优先级</a:t>
            </a:r>
            <a:endParaRPr lang="en-US" altLang="zh-CN" dirty="0">
              <a:solidFill>
                <a:schemeClr val="bg2"/>
              </a:solidFill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lnSpc>
                <a:spcPct val="90000"/>
              </a:lnSpc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dirty="0" smtClean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初值</a:t>
            </a:r>
            <a:r>
              <a:rPr lang="zh-CN" altLang="en-US" dirty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：所属进程的优先级类基</a:t>
            </a:r>
            <a:r>
              <a:rPr lang="zh-CN" altLang="en-US" dirty="0" smtClean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值的相对值</a:t>
            </a:r>
            <a:r>
              <a:rPr lang="en-US" altLang="zh-CN" dirty="0" smtClean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			   		          NORMAL</a:t>
            </a:r>
            <a:endParaRPr lang="en-US" altLang="zh-CN" dirty="0">
              <a:solidFill>
                <a:schemeClr val="bg2"/>
              </a:solidFill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lnSpc>
                <a:spcPct val="90000"/>
              </a:lnSpc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dirty="0" smtClean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通过</a:t>
            </a:r>
            <a:r>
              <a:rPr lang="en-US" altLang="zh-CN" dirty="0" err="1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SetThreadPriority</a:t>
            </a:r>
            <a:r>
              <a:rPr lang="zh-CN" altLang="en-US" dirty="0" smtClean="0">
                <a:solidFill>
                  <a:schemeClr val="bg2"/>
                </a:solidFill>
                <a:latin typeface="+mj-lt"/>
                <a:ea typeface="楷体" panose="02010609060101010101" pitchFamily="49" charset="-122"/>
              </a:rPr>
              <a:t>修改</a:t>
            </a:r>
            <a:endParaRPr lang="en-US" altLang="zh-CN" dirty="0">
              <a:solidFill>
                <a:schemeClr val="bg2"/>
              </a:solidFill>
              <a:latin typeface="+mj-lt"/>
              <a:ea typeface="楷体" panose="02010609060101010101" pitchFamily="49" charset="-122"/>
            </a:endParaRPr>
          </a:p>
          <a:p>
            <a:pPr marL="812800" lvl="3" indent="-355600" defTabSz="355600">
              <a:lnSpc>
                <a:spcPct val="9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lang="en-US" altLang="zh-CN" dirty="0">
              <a:solidFill>
                <a:schemeClr val="bg2"/>
              </a:solidFill>
              <a:latin typeface="+mj-lt"/>
              <a:ea typeface="楷体" panose="020106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B281790-C431-402D-B3EB-9349D5855055}"/>
              </a:ext>
            </a:extLst>
          </p:cNvPr>
          <p:cNvSpPr txBox="1"/>
          <p:nvPr/>
        </p:nvSpPr>
        <p:spPr>
          <a:xfrm>
            <a:off x="1969358" y="0"/>
            <a:ext cx="52052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-274638" algn="ctr" eaLnBrk="1" hangingPunct="1">
              <a:defRPr/>
            </a:pPr>
            <a:r>
              <a:rPr lang="en-US" altLang="zh-CN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Windows</a:t>
            </a:r>
            <a:r>
              <a:rPr lang="zh-CN" altLang="en-US" sz="4000" dirty="0" smtClean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调度（</a:t>
            </a:r>
            <a:r>
              <a:rPr lang="en-US" altLang="zh-CN" sz="4000" dirty="0" smtClean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2</a:t>
            </a:r>
            <a:r>
              <a:rPr lang="zh-CN" altLang="en-US" sz="4000" dirty="0" smtClean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）</a:t>
            </a:r>
            <a:endParaRPr lang="zh-CN" altLang="en-US" sz="4000" dirty="0">
              <a:solidFill>
                <a:srgbClr val="B2622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  <a:cs typeface="+mj-cs"/>
            </a:endParaRPr>
          </a:p>
        </p:txBody>
      </p:sp>
      <p:sp>
        <p:nvSpPr>
          <p:cNvPr id="6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284330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BC7A770-817C-4BDA-9E28-E7C7DF2207EF}"/>
              </a:ext>
            </a:extLst>
          </p:cNvPr>
          <p:cNvSpPr txBox="1"/>
          <p:nvPr/>
        </p:nvSpPr>
        <p:spPr>
          <a:xfrm>
            <a:off x="2483768" y="5441756"/>
            <a:ext cx="43924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2"/>
                </a:solidFill>
                <a:latin typeface="+mn-lt"/>
              </a:rPr>
              <a:t>图 </a:t>
            </a:r>
            <a:r>
              <a:rPr lang="en-US" altLang="zh-CN" sz="2000" dirty="0">
                <a:solidFill>
                  <a:schemeClr val="bg2"/>
                </a:solidFill>
                <a:latin typeface="+mn-lt"/>
              </a:rPr>
              <a:t>6-22</a:t>
            </a:r>
            <a:r>
              <a:rPr lang="zh-CN" altLang="en-US" sz="2000" dirty="0">
                <a:solidFill>
                  <a:schemeClr val="bg2"/>
                </a:solidFill>
                <a:latin typeface="+mn-lt"/>
              </a:rPr>
              <a:t>  </a:t>
            </a:r>
            <a:r>
              <a:rPr lang="en-US" altLang="zh-CN" sz="2000" dirty="0">
                <a:solidFill>
                  <a:schemeClr val="bg2"/>
                </a:solidFill>
                <a:latin typeface="+mn-lt"/>
              </a:rPr>
              <a:t>Windows</a:t>
            </a:r>
            <a:r>
              <a:rPr lang="zh-CN" altLang="en-US" sz="2000" dirty="0">
                <a:solidFill>
                  <a:schemeClr val="bg2"/>
                </a:solidFill>
                <a:latin typeface="+mn-lt"/>
              </a:rPr>
              <a:t>线程优先级映射表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B281790-C431-402D-B3EB-9349D5855055}"/>
              </a:ext>
            </a:extLst>
          </p:cNvPr>
          <p:cNvSpPr txBox="1"/>
          <p:nvPr/>
        </p:nvSpPr>
        <p:spPr>
          <a:xfrm>
            <a:off x="1969358" y="0"/>
            <a:ext cx="52052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-274638" algn="ctr" eaLnBrk="1" hangingPunct="1">
              <a:defRPr/>
            </a:pPr>
            <a:r>
              <a:rPr lang="en-US" altLang="zh-CN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Windows</a:t>
            </a:r>
            <a:r>
              <a:rPr lang="zh-CN" altLang="en-US" sz="4000" dirty="0" smtClean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调度（</a:t>
            </a:r>
            <a:r>
              <a:rPr lang="en-US" altLang="zh-CN" sz="4000" dirty="0" smtClean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3</a:t>
            </a:r>
            <a:r>
              <a:rPr lang="zh-CN" altLang="en-US" sz="4000" dirty="0" smtClean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）</a:t>
            </a:r>
            <a:endParaRPr lang="zh-CN" altLang="en-US" sz="4000" dirty="0">
              <a:solidFill>
                <a:srgbClr val="B2622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  <a:cs typeface="+mj-cs"/>
            </a:endParaRPr>
          </a:p>
        </p:txBody>
      </p:sp>
      <p:sp>
        <p:nvSpPr>
          <p:cNvPr id="7" name="AutoShape 7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19106CFB-C216-495B-8713-72BB401EF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477000"/>
            <a:ext cx="381000" cy="381000"/>
          </a:xfrm>
          <a:prstGeom prst="actionButtonHome">
            <a:avLst/>
          </a:prstGeom>
          <a:solidFill>
            <a:schemeClr val="tx1">
              <a:lumMod val="85000"/>
            </a:schemeClr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grpSp>
        <p:nvGrpSpPr>
          <p:cNvPr id="3" name="组合 2"/>
          <p:cNvGrpSpPr/>
          <p:nvPr/>
        </p:nvGrpSpPr>
        <p:grpSpPr>
          <a:xfrm>
            <a:off x="899592" y="1556792"/>
            <a:ext cx="7626366" cy="3456384"/>
            <a:chOff x="899592" y="1556792"/>
            <a:chExt cx="7626366" cy="3456384"/>
          </a:xfrm>
        </p:grpSpPr>
        <p:pic>
          <p:nvPicPr>
            <p:cNvPr id="4" name="Picture 1" descr="6_22.pdf">
              <a:extLst>
                <a:ext uri="{FF2B5EF4-FFF2-40B4-BE49-F238E27FC236}">
                  <a16:creationId xmlns:a16="http://schemas.microsoft.com/office/drawing/2014/main" id="{07A216FF-BDCC-467F-8DEB-491BEBF9D5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9592" y="1556792"/>
              <a:ext cx="7626366" cy="3456384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矩形 1"/>
            <p:cNvSpPr/>
            <p:nvPr/>
          </p:nvSpPr>
          <p:spPr bwMode="auto">
            <a:xfrm>
              <a:off x="899592" y="1556792"/>
              <a:ext cx="7626366" cy="3456384"/>
            </a:xfrm>
            <a:prstGeom prst="rect">
              <a:avLst/>
            </a:prstGeom>
            <a:noFill/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</a:bodyPr>
            <a:lstStyle/>
            <a:p>
              <a:pPr marL="457200" marR="0" indent="0" algn="l" defTabSz="914400" rtl="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pitchFamily="2" charset="2"/>
                <a:buNone/>
                <a:tabLst/>
              </a:pPr>
              <a:endParaRPr kumimoji="1" lang="zh-CN" altLang="en-US" sz="3200" b="1" i="0" u="none" strike="noStrike" cap="none" normalizeH="0" baseline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 bwMode="auto">
            <a:xfrm>
              <a:off x="899592" y="1556792"/>
              <a:ext cx="1656184" cy="648072"/>
            </a:xfrm>
            <a:prstGeom prst="line">
              <a:avLst/>
            </a:prstGeom>
            <a:noFill/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" name="文本框 9"/>
            <p:cNvSpPr txBox="1"/>
            <p:nvPr/>
          </p:nvSpPr>
          <p:spPr>
            <a:xfrm>
              <a:off x="1903583" y="1582089"/>
              <a:ext cx="648072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2400" dirty="0">
                  <a:solidFill>
                    <a:schemeClr val="bg2"/>
                  </a:solidFill>
                </a:rPr>
                <a:t>进程</a:t>
              </a: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925060" y="1803862"/>
              <a:ext cx="648072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2"/>
                  </a:solidFill>
                </a:rPr>
                <a:t>线程</a:t>
              </a:r>
              <a:endParaRPr lang="zh-CN" altLang="en-US" sz="2400" dirty="0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6717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theme/theme1.xml><?xml version="1.0" encoding="utf-8"?>
<a:theme xmlns:a="http://schemas.openxmlformats.org/drawingml/2006/main" name="Azure">
  <a:themeElements>
    <a:clrScheme name="">
      <a:dk1>
        <a:srgbClr val="000000"/>
      </a:dk1>
      <a:lt1>
        <a:srgbClr val="FFFFFF"/>
      </a:lt1>
      <a:dk2>
        <a:srgbClr val="3333FF"/>
      </a:dk2>
      <a:lt2>
        <a:srgbClr val="00FFFF"/>
      </a:lt2>
      <a:accent1>
        <a:srgbClr val="00CCCC"/>
      </a:accent1>
      <a:accent2>
        <a:srgbClr val="CC99FF"/>
      </a:accent2>
      <a:accent3>
        <a:srgbClr val="ADADFF"/>
      </a:accent3>
      <a:accent4>
        <a:srgbClr val="DADADA"/>
      </a:accent4>
      <a:accent5>
        <a:srgbClr val="AAE2E2"/>
      </a:accent5>
      <a:accent6>
        <a:srgbClr val="B98AE7"/>
      </a:accent6>
      <a:hlink>
        <a:srgbClr val="FF66FF"/>
      </a:hlink>
      <a:folHlink>
        <a:srgbClr val="6699FF"/>
      </a:folHlink>
    </a:clrScheme>
    <a:fontScheme name="Azur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2075" tIns="46038" rIns="92075" bIns="46038" numCol="1" anchor="t" anchorCtr="0" compatLnSpc="1">
        <a:prstTxWarp prst="textNoShape">
          <a:avLst/>
        </a:prstTxWarp>
      </a:bodyPr>
      <a:lstStyle>
        <a:defPPr marL="457200" marR="0" indent="0" algn="l" defTabSz="914400" rtl="0" eaLnBrk="0" fontAlgn="base" latinLnBrk="0" hangingPunct="0">
          <a:lnSpc>
            <a:spcPct val="11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75000"/>
          <a:buFont typeface="Monotype Sorts" pitchFamily="2" charset="2"/>
          <a:buNone/>
          <a:tabLst/>
          <a:defRPr kumimoji="1" lang="zh-CN" altLang="en-US" sz="3200" b="1" i="0" u="none" strike="noStrike" cap="none" normalizeH="0" baseline="0" smtClean="0">
            <a:ln>
              <a:noFill/>
            </a:ln>
            <a:solidFill>
              <a:srgbClr val="FFFF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宋体" pitchFamily="2" charset="-122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2075" tIns="46038" rIns="92075" bIns="46038" numCol="1" anchor="t" anchorCtr="0" compatLnSpc="1">
        <a:prstTxWarp prst="textNoShape">
          <a:avLst/>
        </a:prstTxWarp>
      </a:bodyPr>
      <a:lstStyle>
        <a:defPPr marL="457200" marR="0" indent="0" algn="l" defTabSz="914400" rtl="0" eaLnBrk="0" fontAlgn="base" latinLnBrk="0" hangingPunct="0">
          <a:lnSpc>
            <a:spcPct val="11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75000"/>
          <a:buFont typeface="Monotype Sorts" pitchFamily="2" charset="2"/>
          <a:buNone/>
          <a:tabLst/>
          <a:defRPr kumimoji="1" lang="zh-CN" altLang="en-US" sz="3200" b="1" i="0" u="none" strike="noStrike" cap="none" normalizeH="0" baseline="0" smtClean="0">
            <a:ln>
              <a:noFill/>
            </a:ln>
            <a:solidFill>
              <a:srgbClr val="FFFF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宋体" pitchFamily="2" charset="-122"/>
            <a:ea typeface="宋体" pitchFamily="2" charset="-122"/>
          </a:defRPr>
        </a:defPPr>
      </a:lstStyle>
    </a:lnDef>
  </a:objectDefaults>
  <a:extraClrSchemeLst>
    <a:extraClrScheme>
      <a:clrScheme name="Azure 1">
        <a:dk1>
          <a:srgbClr val="000000"/>
        </a:dk1>
        <a:lt1>
          <a:srgbClr val="FFFFFF"/>
        </a:lt1>
        <a:dk2>
          <a:srgbClr val="3333FF"/>
        </a:dk2>
        <a:lt2>
          <a:srgbClr val="00FFFF"/>
        </a:lt2>
        <a:accent1>
          <a:srgbClr val="00CCCC"/>
        </a:accent1>
        <a:accent2>
          <a:srgbClr val="CC99FF"/>
        </a:accent2>
        <a:accent3>
          <a:srgbClr val="ADADFF"/>
        </a:accent3>
        <a:accent4>
          <a:srgbClr val="DADADA"/>
        </a:accent4>
        <a:accent5>
          <a:srgbClr val="AAE2E2"/>
        </a:accent5>
        <a:accent6>
          <a:srgbClr val="B98AE7"/>
        </a:accent6>
        <a:hlink>
          <a:srgbClr val="6600CC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zure 2">
        <a:dk1>
          <a:srgbClr val="000000"/>
        </a:dk1>
        <a:lt1>
          <a:srgbClr val="CCECFF"/>
        </a:lt1>
        <a:dk2>
          <a:srgbClr val="330099"/>
        </a:dk2>
        <a:lt2>
          <a:srgbClr val="0099CC"/>
        </a:lt2>
        <a:accent1>
          <a:srgbClr val="009999"/>
        </a:accent1>
        <a:accent2>
          <a:srgbClr val="FF99CC"/>
        </a:accent2>
        <a:accent3>
          <a:srgbClr val="E2F4FF"/>
        </a:accent3>
        <a:accent4>
          <a:srgbClr val="000000"/>
        </a:accent4>
        <a:accent5>
          <a:srgbClr val="AACACA"/>
        </a:accent5>
        <a:accent6>
          <a:srgbClr val="E78AB9"/>
        </a:accent6>
        <a:hlink>
          <a:srgbClr val="6600CC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zure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D:\MSOffice\Template\Presentation Designs\Azure.pot</Template>
  <TotalTime>549159</TotalTime>
  <Words>3592</Words>
  <Application>Microsoft Office PowerPoint</Application>
  <PresentationFormat>全屏显示(4:3)</PresentationFormat>
  <Paragraphs>665</Paragraphs>
  <Slides>50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66" baseType="lpstr">
      <vt:lpstr>Monotype Sorts</vt:lpstr>
      <vt:lpstr>MS PGothic</vt:lpstr>
      <vt:lpstr>仿宋</vt:lpstr>
      <vt:lpstr>楷体</vt:lpstr>
      <vt:lpstr>楷体_GB2312</vt:lpstr>
      <vt:lpstr>隶书</vt:lpstr>
      <vt:lpstr>宋体</vt:lpstr>
      <vt:lpstr>Arial</vt:lpstr>
      <vt:lpstr>Calibri</vt:lpstr>
      <vt:lpstr>Courier New</vt:lpstr>
      <vt:lpstr>Helvetica</vt:lpstr>
      <vt:lpstr>Symbol</vt:lpstr>
      <vt:lpstr>Tahoma</vt:lpstr>
      <vt:lpstr>Times New Roman</vt:lpstr>
      <vt:lpstr>Wingdings</vt:lpstr>
      <vt:lpstr>Azure</vt:lpstr>
      <vt:lpstr>第 6 章  CPU调度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《编译原理》</dc:title>
  <dc:subject>第3章</dc:subject>
  <dc:creator>史一民</dc:creator>
  <cp:keywords/>
  <cp:lastModifiedBy>Zetian Mi</cp:lastModifiedBy>
  <cp:revision>2608</cp:revision>
  <dcterms:created xsi:type="dcterms:W3CDTF">1995-06-17T23:31:02Z</dcterms:created>
  <dcterms:modified xsi:type="dcterms:W3CDTF">2024-11-06T14:34:43Z</dcterms:modified>
</cp:coreProperties>
</file>