
<file path=[Content_Types].xml><?xml version="1.0" encoding="utf-8"?>
<Types xmlns="http://schemas.openxmlformats.org/package/2006/content-types">
  <Default Extension="png" ContentType="image/png"/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60"/>
  </p:notesMasterIdLst>
  <p:sldIdLst>
    <p:sldId id="546" r:id="rId2"/>
    <p:sldId id="256" r:id="rId3"/>
    <p:sldId id="257" r:id="rId4"/>
    <p:sldId id="270" r:id="rId5"/>
    <p:sldId id="259" r:id="rId6"/>
    <p:sldId id="258" r:id="rId7"/>
    <p:sldId id="260" r:id="rId8"/>
    <p:sldId id="545" r:id="rId9"/>
    <p:sldId id="262" r:id="rId10"/>
    <p:sldId id="263" r:id="rId11"/>
    <p:sldId id="261" r:id="rId12"/>
    <p:sldId id="264" r:id="rId13"/>
    <p:sldId id="265" r:id="rId14"/>
    <p:sldId id="272" r:id="rId15"/>
    <p:sldId id="267" r:id="rId16"/>
    <p:sldId id="268" r:id="rId17"/>
    <p:sldId id="269" r:id="rId18"/>
    <p:sldId id="274" r:id="rId19"/>
    <p:sldId id="276" r:id="rId20"/>
    <p:sldId id="278" r:id="rId21"/>
    <p:sldId id="279" r:id="rId22"/>
    <p:sldId id="280" r:id="rId23"/>
    <p:sldId id="284" r:id="rId24"/>
    <p:sldId id="287" r:id="rId25"/>
    <p:sldId id="288" r:id="rId26"/>
    <p:sldId id="289" r:id="rId27"/>
    <p:sldId id="290" r:id="rId28"/>
    <p:sldId id="293" r:id="rId29"/>
    <p:sldId id="291" r:id="rId30"/>
    <p:sldId id="292" r:id="rId31"/>
    <p:sldId id="295" r:id="rId32"/>
    <p:sldId id="296" r:id="rId33"/>
    <p:sldId id="294" r:id="rId34"/>
    <p:sldId id="297" r:id="rId35"/>
    <p:sldId id="331" r:id="rId36"/>
    <p:sldId id="542" r:id="rId37"/>
    <p:sldId id="417" r:id="rId38"/>
    <p:sldId id="334" r:id="rId39"/>
    <p:sldId id="425" r:id="rId40"/>
    <p:sldId id="543" r:id="rId41"/>
    <p:sldId id="344" r:id="rId42"/>
    <p:sldId id="346" r:id="rId43"/>
    <p:sldId id="348" r:id="rId44"/>
    <p:sldId id="351" r:id="rId45"/>
    <p:sldId id="349" r:id="rId46"/>
    <p:sldId id="423" r:id="rId47"/>
    <p:sldId id="424" r:id="rId48"/>
    <p:sldId id="509" r:id="rId49"/>
    <p:sldId id="500" r:id="rId50"/>
    <p:sldId id="547" r:id="rId51"/>
    <p:sldId id="492" r:id="rId52"/>
    <p:sldId id="493" r:id="rId53"/>
    <p:sldId id="494" r:id="rId54"/>
    <p:sldId id="495" r:id="rId55"/>
    <p:sldId id="496" r:id="rId56"/>
    <p:sldId id="544" r:id="rId57"/>
    <p:sldId id="497" r:id="rId58"/>
    <p:sldId id="405" r:id="rId59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99"/>
    <a:srgbClr val="E1E1FF"/>
    <a:srgbClr val="0033CC"/>
    <a:srgbClr val="CC00FF"/>
    <a:srgbClr val="D1CC00"/>
    <a:srgbClr val="FF99FF"/>
    <a:srgbClr val="FF66FF"/>
    <a:srgbClr val="FFFFCC"/>
    <a:srgbClr val="CC0099"/>
    <a:srgbClr val="0000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4295" autoAdjust="0"/>
    <p:restoredTop sz="79661" autoAdjust="0"/>
  </p:normalViewPr>
  <p:slideViewPr>
    <p:cSldViewPr snapToGrid="0">
      <p:cViewPr varScale="1">
        <p:scale>
          <a:sx n="90" d="100"/>
          <a:sy n="90" d="100"/>
        </p:scale>
        <p:origin x="846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" d="1"/>
        <a:sy n="1" d="1"/>
      </p:scale>
      <p:origin x="0" y="-121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5" Type="http://schemas.openxmlformats.org/officeDocument/2006/relationships/slide" Target="slides/slide4.xml"/><Relationship Id="rId61" Type="http://schemas.openxmlformats.org/officeDocument/2006/relationships/presProps" Target="presProps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tableStyles" Target="tableStyle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833272D-CCFA-481F-BE11-53FAADAE7960}" type="datetimeFigureOut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68BD33-6E66-4BC6-8075-FF5C780F531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111041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3" Type="http://schemas.openxmlformats.org/officeDocument/2006/relationships/hyperlink" Target="http://product.pcpop.com/tape/00000_1.html" TargetMode="External"/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8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harmonyos.com/cn/home" TargetMode="External"/><Relationship Id="rId2" Type="http://schemas.openxmlformats.org/officeDocument/2006/relationships/slide" Target="../slides/slide49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0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1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4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5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262028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spcBef>
                <a:spcPct val="2000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None/>
              <a:defRPr/>
            </a:pPr>
            <a:endParaRPr lang="en-US" altLang="zh-CN" sz="1200" b="1" dirty="0" smtClean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92925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1" dirty="0">
                <a:solidFill>
                  <a:srgbClr val="FFFF00"/>
                </a:solidFill>
              </a:rPr>
              <a:t>并发程序设计：</a:t>
            </a:r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b="1" dirty="0">
                <a:solidFill>
                  <a:srgbClr val="FFFF00"/>
                </a:solidFill>
              </a:rPr>
              <a:t>硬件的发展：双核，四核，多核</a:t>
            </a:r>
            <a:endParaRPr lang="en-US" altLang="zh-CN" b="1" dirty="0">
              <a:solidFill>
                <a:srgbClr val="FFFF00"/>
              </a:solidFill>
            </a:endParaRPr>
          </a:p>
          <a:p>
            <a:r>
              <a:rPr lang="zh-CN" altLang="en-US" b="1" dirty="0">
                <a:solidFill>
                  <a:srgbClr val="FFFF00"/>
                </a:solidFill>
              </a:rPr>
              <a:t>网络的发展：软件和网络有关，有并发的需求</a:t>
            </a:r>
            <a:endParaRPr lang="en-US" altLang="zh-CN" b="1" dirty="0">
              <a:solidFill>
                <a:srgbClr val="FFFF00"/>
              </a:solidFill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988546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56186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2.6.27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版本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，包括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内核文件在内的源代码行数已经超过了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1000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万行。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Xv6: 8000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行。</a:t>
            </a:r>
            <a:endParaRPr lang="zh-CN" altLang="en-US" dirty="0" smtClean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574312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8394088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974143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1955975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3235287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11855783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7049891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裁判员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幻术师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216298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664590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>
                <a:latin typeface="Verdana" panose="020B0604030504040204" pitchFamily="34" charset="0"/>
              </a:rPr>
              <a:t>计算机制造商通常进行圆整，</a:t>
            </a:r>
            <a:r>
              <a:rPr lang="en-US" altLang="zh-CN" dirty="0" smtClean="0">
                <a:latin typeface="Verdana" panose="020B0604030504040204" pitchFamily="34" charset="0"/>
              </a:rPr>
              <a:t>1MB=</a:t>
            </a:r>
            <a:r>
              <a:rPr lang="en-US" altLang="zh-CN" b="1" dirty="0" smtClean="0"/>
              <a:t>10</a:t>
            </a:r>
            <a:r>
              <a:rPr lang="en-US" altLang="zh-CN" b="1" baseline="30000" dirty="0" smtClean="0"/>
              <a:t>6</a:t>
            </a:r>
            <a:r>
              <a:rPr lang="zh-CN" altLang="en-US" dirty="0" smtClean="0">
                <a:latin typeface="Verdana" panose="020B0604030504040204" pitchFamily="34" charset="0"/>
              </a:rPr>
              <a:t>字节 </a:t>
            </a:r>
            <a:r>
              <a:rPr lang="en-US" altLang="zh-CN" dirty="0" smtClean="0">
                <a:latin typeface="Verdana" panose="020B0604030504040204" pitchFamily="34" charset="0"/>
              </a:rPr>
              <a:t>1GB=</a:t>
            </a:r>
            <a:r>
              <a:rPr lang="en-US" altLang="zh-CN" b="1" dirty="0" smtClean="0"/>
              <a:t>10</a:t>
            </a:r>
            <a:r>
              <a:rPr lang="en-US" altLang="zh-CN" b="1" baseline="30000" dirty="0" smtClean="0"/>
              <a:t>9</a:t>
            </a:r>
            <a:r>
              <a:rPr lang="zh-CN" altLang="en-US" dirty="0" smtClean="0">
                <a:latin typeface="Verdana" panose="020B0604030504040204" pitchFamily="34" charset="0"/>
              </a:rPr>
              <a:t>字节</a:t>
            </a:r>
            <a:endParaRPr lang="en-US" altLang="zh-CN" dirty="0" smtClean="0">
              <a:latin typeface="Verdana" panose="020B0604030504040204" pitchFamily="34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5126504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存在于主存与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之间的一级存储器，由静态存储芯片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(SRAM)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组成，容量比较小但速度比主存高得多，接近于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的速度。对于大多数人来说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，是透明的、不存在的。其中一个原因是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Cache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是集成到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CPU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中，对于程序员来说是透明的。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en-US" altLang="zh-CN" dirty="0" smtClean="0"/>
              <a:t>CPU</a:t>
            </a:r>
            <a:r>
              <a:rPr lang="zh-CN" altLang="en-US" dirty="0" smtClean="0"/>
              <a:t>只能从内存中加载指令</a:t>
            </a:r>
            <a:endParaRPr lang="en-US" altLang="zh-CN" dirty="0" smtClean="0"/>
          </a:p>
          <a:p>
            <a:r>
              <a:rPr lang="zh-CN" altLang="en-US" dirty="0" smtClean="0"/>
              <a:t>固态</a:t>
            </a:r>
            <a:r>
              <a:rPr lang="zh-CN" altLang="en-US" dirty="0"/>
              <a:t>硬盘就跟</a:t>
            </a:r>
            <a:r>
              <a:rPr lang="en-US" altLang="zh-CN" dirty="0"/>
              <a:t>U</a:t>
            </a:r>
            <a:r>
              <a:rPr lang="zh-CN" altLang="en-US" dirty="0"/>
              <a:t>盘一样，依靠的是闪存芯片存储数据，所以不会出现噪音，机械硬盘用久了经常能够听到响声，特别是笔记本。</a:t>
            </a:r>
            <a:endParaRPr lang="en-US" altLang="zh-CN" dirty="0"/>
          </a:p>
          <a:p>
            <a:r>
              <a:rPr lang="zh-CN" altLang="en-US" dirty="0"/>
              <a:t>与机械硬盘相比体积小了很多，重量特别轻，比如在一些迷你主机或者轻薄本上</a:t>
            </a:r>
            <a:endParaRPr lang="en-US" altLang="zh-CN" dirty="0"/>
          </a:p>
          <a:p>
            <a:r>
              <a:rPr lang="zh-CN" altLang="en-US" dirty="0"/>
              <a:t>达到机械硬盘读写速度的十几倍甚至更高</a:t>
            </a:r>
            <a:endParaRPr lang="en-US" altLang="zh-CN" dirty="0"/>
          </a:p>
          <a:p>
            <a:r>
              <a:rPr lang="zh-CN" altLang="en-US" dirty="0"/>
              <a:t>功耗远远小于机械硬盘，所以发热量更低，至于省电确实能省但是并不多，不过在笔记本上，发热量小就是最好的</a:t>
            </a:r>
            <a:r>
              <a:rPr lang="zh-CN" altLang="en-US" dirty="0" smtClean="0"/>
              <a:t>有点</a:t>
            </a:r>
            <a:endParaRPr lang="en-US" altLang="zh-CN" dirty="0"/>
          </a:p>
          <a:p>
            <a:r>
              <a:rPr lang="zh-CN" altLang="en-US" dirty="0"/>
              <a:t>固态硬盘容量越大价格涨幅越大，如果是移动固态硬盘，那就更加昂贵了。</a:t>
            </a:r>
            <a:endParaRPr lang="en-US" altLang="zh-CN" dirty="0"/>
          </a:p>
          <a:p>
            <a:r>
              <a:rPr lang="zh-CN" altLang="en-US" dirty="0"/>
              <a:t>寿命确实短于机械硬盘</a:t>
            </a:r>
            <a:r>
              <a:rPr lang="zh-CN" altLang="en-US" dirty="0" smtClean="0"/>
              <a:t>，用</a:t>
            </a:r>
            <a:r>
              <a:rPr lang="zh-CN" altLang="en-US" dirty="0"/>
              <a:t>个五六年绝对可以</a:t>
            </a:r>
            <a:r>
              <a:rPr lang="zh-CN" altLang="en-US" dirty="0" smtClean="0"/>
              <a:t>。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7668946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/>
              <a:t>“多大的容量”的问题从某种意义上来说是无止境的，存储器有多大的容量，就可能开发出相应的应用程序使用它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“</a:t>
            </a:r>
            <a:r>
              <a:rPr lang="zh-CN" altLang="en-US" dirty="0"/>
              <a:t>多快的速度”的问题相对易于回答，为达到最佳的性能，存储器的速度必须能够跟得上处理器的速度。换言之，当处理器正在执行指令时，我们不希望它会因为等待指令或操作数而暂停</a:t>
            </a:r>
            <a:r>
              <a:rPr lang="zh-CN" altLang="en-US" dirty="0" smtClean="0"/>
              <a:t>。</a:t>
            </a:r>
            <a:endParaRPr lang="en-US" altLang="zh-CN" dirty="0" smtClean="0"/>
          </a:p>
          <a:p>
            <a:pPr>
              <a:spcBef>
                <a:spcPct val="0"/>
              </a:spcBef>
              <a:buNone/>
            </a:pPr>
            <a:r>
              <a:rPr lang="zh-CN" altLang="en-US" sz="1200" dirty="0" smtClean="0"/>
              <a:t>理想中的存储器：更大、更快、更便宜的非易失性存储器</a:t>
            </a:r>
            <a:endParaRPr lang="en-US" altLang="zh-CN" sz="1200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 smtClean="0"/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="1" dirty="0" smtClean="0">
                <a:solidFill>
                  <a:srgbClr val="3366FF"/>
                </a:solidFill>
              </a:rPr>
              <a:t>Caching</a:t>
            </a:r>
            <a:r>
              <a:rPr lang="en-US" altLang="zh-CN" dirty="0" smtClean="0"/>
              <a:t> – copying information into faster storage system; main memory can be viewed as a cache for secondary storage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21895077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多处理器系统的价格低于功能相同的多个单处理器系统的价格，前者可以共享外设、大容量存储和电源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78451128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另一台运行应用程序（称为活动服务器）</a:t>
            </a:r>
            <a:endParaRPr lang="en-US" altLang="zh-CN" sz="12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04154492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9553806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70625207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8515941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9645236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9131794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just" eaLnBrk="1" hangingPunct="1"/>
            <a:r>
              <a:rPr lang="zh-CN" altLang="en-US" dirty="0">
                <a:solidFill>
                  <a:srgbClr val="000066"/>
                </a:solidFill>
              </a:rPr>
              <a:t>计算机系统资源可归结为四类：处理器、存储器、</a:t>
            </a:r>
            <a:r>
              <a:rPr lang="en-US" altLang="zh-CN" dirty="0">
                <a:solidFill>
                  <a:srgbClr val="000066"/>
                </a:solidFill>
              </a:rPr>
              <a:t>I/O</a:t>
            </a:r>
            <a:r>
              <a:rPr lang="zh-CN" altLang="en-US" dirty="0">
                <a:solidFill>
                  <a:srgbClr val="000066"/>
                </a:solidFill>
              </a:rPr>
              <a:t>设备、信息（数据和程序）</a:t>
            </a:r>
          </a:p>
          <a:p>
            <a:pPr algn="just" eaLnBrk="1" hangingPunct="1"/>
            <a:r>
              <a:rPr lang="en-US" altLang="zh-CN" dirty="0">
                <a:solidFill>
                  <a:srgbClr val="000066"/>
                </a:solidFill>
              </a:rPr>
              <a:t>OS</a:t>
            </a:r>
            <a:r>
              <a:rPr lang="zh-CN" altLang="en-US" dirty="0">
                <a:solidFill>
                  <a:srgbClr val="000066"/>
                </a:solidFill>
              </a:rPr>
              <a:t>的主要功能也正是针对这四类资源进行有效</a:t>
            </a:r>
            <a:r>
              <a:rPr lang="zh-CN" altLang="en-US" dirty="0" smtClean="0">
                <a:solidFill>
                  <a:srgbClr val="000066"/>
                </a:solidFill>
              </a:rPr>
              <a:t>管理</a:t>
            </a:r>
            <a:endParaRPr lang="zh-CN" altLang="en-US" dirty="0">
              <a:solidFill>
                <a:srgbClr val="000066"/>
              </a:solidFill>
              <a:ea typeface="楷体_GB2312" pitchFamily="49" charset="-122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34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8689365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BDBA2A4-E938-4490-BCB5-B083E59206E0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35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522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522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dirty="0"/>
              <a:t>操作系统的历史在某种意义上来说也是计算机的历史</a:t>
            </a:r>
            <a:endParaRPr lang="en-US" altLang="zh-CN" dirty="0"/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16006853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6312788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2997757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5F1A5D86-8331-486D-A606-B2D230B9BF71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38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6041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042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 b="1" dirty="0">
                <a:solidFill>
                  <a:srgbClr val="FFFF00"/>
                </a:solidFill>
              </a:rPr>
              <a:t>监督程序</a:t>
            </a:r>
            <a:r>
              <a:rPr lang="en-US" altLang="zh-CN" b="1" dirty="0"/>
              <a:t>:</a:t>
            </a:r>
            <a:r>
              <a:rPr lang="zh-CN" altLang="en-US" b="1" dirty="0"/>
              <a:t>管理作业的运行。负责装入和运行各种系统处理程序，如汇编程序、编译程序、连接装配程序、程序库等。</a:t>
            </a:r>
          </a:p>
          <a:p>
            <a:pPr eaLnBrk="1" hangingPunct="1"/>
            <a:r>
              <a:rPr lang="en-US" altLang="zh-CN" b="1" dirty="0">
                <a:ea typeface="楷体_GB2312" pitchFamily="49" charset="-122"/>
              </a:rPr>
              <a:t>50</a:t>
            </a:r>
            <a:r>
              <a:rPr lang="zh-CN" altLang="en-US" b="1" dirty="0">
                <a:ea typeface="楷体_GB2312" pitchFamily="49" charset="-122"/>
              </a:rPr>
              <a:t>年代早期</a:t>
            </a:r>
            <a:r>
              <a:rPr lang="en-US" altLang="zh-CN" b="1" dirty="0">
                <a:ea typeface="楷体_GB2312" pitchFamily="49" charset="-122"/>
              </a:rPr>
              <a:t>,</a:t>
            </a:r>
            <a:r>
              <a:rPr lang="zh-CN" altLang="en-US" b="1" dirty="0">
                <a:ea typeface="楷体_GB2312" pitchFamily="49" charset="-122"/>
              </a:rPr>
              <a:t>出现了穿孔卡片</a:t>
            </a:r>
          </a:p>
          <a:p>
            <a:pPr eaLnBrk="1" hangingPunct="1"/>
            <a:r>
              <a:rPr lang="zh-CN" altLang="en-US" b="1" dirty="0"/>
              <a:t>计算机的应用从数值计算扩大到数据处理、工业过程控制等领域，并开始进人商业市场。代表性的计算机是</a:t>
            </a:r>
            <a:r>
              <a:rPr lang="en-US" altLang="zh-CN" b="1" dirty="0"/>
              <a:t>IBM- 7094</a:t>
            </a:r>
            <a:r>
              <a:rPr lang="zh-CN" altLang="en-US" b="1" dirty="0"/>
              <a:t>机</a:t>
            </a:r>
            <a:r>
              <a:rPr lang="zh-CN" altLang="en-US" dirty="0"/>
              <a:t> </a:t>
            </a:r>
          </a:p>
          <a:p>
            <a:pPr eaLnBrk="1" hangingPunct="1"/>
            <a:r>
              <a:rPr lang="en-US" altLang="zh-CN" dirty="0"/>
              <a:t>IBM 1401 </a:t>
            </a:r>
            <a:r>
              <a:rPr lang="zh-CN" altLang="en-US" b="1" dirty="0"/>
              <a:t>数据处理系统</a:t>
            </a:r>
            <a:r>
              <a:rPr lang="en-US" altLang="zh-CN" b="1" dirty="0"/>
              <a:t>—</a:t>
            </a:r>
            <a:r>
              <a:rPr lang="zh-CN" altLang="en-US" b="1" dirty="0"/>
              <a:t>由大量卡片和</a:t>
            </a:r>
            <a:r>
              <a:rPr lang="zh-CN" altLang="en-US" b="1" dirty="0">
                <a:hlinkClick r:id="rId3" tooltip="磁带"/>
              </a:rPr>
              <a:t>磁带</a:t>
            </a:r>
            <a:r>
              <a:rPr lang="zh-CN" altLang="en-US" b="1" dirty="0"/>
              <a:t>组成，包含多种磁芯存储器尺寸，用于单独的用途并为大型计算机提供外设服务</a:t>
            </a:r>
            <a:r>
              <a:rPr lang="en-US" altLang="zh-CN" b="1" dirty="0"/>
              <a:t>— </a:t>
            </a:r>
            <a:r>
              <a:rPr lang="zh-CN" altLang="en-US" b="1" dirty="0"/>
              <a:t>于 </a:t>
            </a:r>
            <a:r>
              <a:rPr lang="en-US" altLang="zh-CN" b="1" dirty="0"/>
              <a:t>1959</a:t>
            </a:r>
            <a:r>
              <a:rPr lang="zh-CN" altLang="en-US" b="1" dirty="0"/>
              <a:t>年 </a:t>
            </a:r>
            <a:r>
              <a:rPr lang="en-US" altLang="zh-CN" b="1" dirty="0"/>
              <a:t>10</a:t>
            </a:r>
            <a:r>
              <a:rPr lang="zh-CN" altLang="en-US" b="1" dirty="0"/>
              <a:t>月宣布推出。</a:t>
            </a:r>
            <a:r>
              <a:rPr lang="zh-CN" alt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676068053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/>
              <a:t>IBM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D9B8BA55-1F83-4A16-B822-9CE03D0B541D}" type="slidenum">
              <a:rPr lang="en-US" altLang="zh-CN" smtClean="0"/>
              <a:pPr>
                <a:defRPr/>
              </a:pPr>
              <a:t>39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697153066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28C8F6B7-9BFA-4CAA-B93C-BF7EDFBC63B4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41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634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34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endParaRPr lang="zh-CN" altLang="en-US" b="1" dirty="0">
              <a:solidFill>
                <a:srgbClr val="111111"/>
              </a:solidFill>
            </a:endParaRPr>
          </a:p>
          <a:p>
            <a:pPr eaLnBrk="1" hangingPunct="1"/>
            <a:endParaRPr lang="en-US" altLang="zh-CN" dirty="0"/>
          </a:p>
        </p:txBody>
      </p:sp>
    </p:spTree>
    <p:extLst>
      <p:ext uri="{BB962C8B-B14F-4D97-AF65-F5344CB8AC3E}">
        <p14:creationId xmlns:p14="http://schemas.microsoft.com/office/powerpoint/2010/main" val="568525158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17307366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43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238307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69E9060D-89E5-492B-9FD4-F8EF06E0F7A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44</a:t>
            </a:fld>
            <a:endParaRPr lang="en-US" altLang="zh-CN" sz="1300">
              <a:ea typeface="隶书" panose="02010509060101010101" pitchFamily="49" charset="-122"/>
            </a:endParaRPr>
          </a:p>
        </p:txBody>
      </p:sp>
      <p:sp>
        <p:nvSpPr>
          <p:cNvPr id="675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eaLnBrk="1" hangingPunct="1"/>
            <a:r>
              <a:rPr lang="zh-CN" altLang="en-US"/>
              <a:t>由于</a:t>
            </a:r>
            <a:r>
              <a:rPr lang="en-US" altLang="zh-CN"/>
              <a:t>CPU</a:t>
            </a:r>
            <a:r>
              <a:rPr lang="zh-CN" altLang="en-US"/>
              <a:t>速度不断提高和采用分时技术，一台计算机可同时连接多个用户终端，而每个用户可在自己的终端上联机使用计算机，好像自己独占机器一样。</a:t>
            </a:r>
          </a:p>
          <a:p>
            <a:pPr eaLnBrk="1" hangingPunct="1"/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48614369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45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73619370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874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79875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r>
              <a:rPr lang="zh-CN" altLang="en-US" dirty="0"/>
              <a:t>族谱</a:t>
            </a:r>
          </a:p>
        </p:txBody>
      </p:sp>
      <p:sp>
        <p:nvSpPr>
          <p:cNvPr id="79876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0"/>
              </a:spcBef>
              <a:spcAft>
                <a:spcPct val="0"/>
              </a:spcAft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fld id="{41E2508E-B7D9-46C3-B672-215D882D86B8}" type="slidenum">
              <a:rPr lang="en-US" altLang="zh-CN" sz="1300" smtClean="0">
                <a:ea typeface="隶书" panose="02010509060101010101" pitchFamily="49" charset="-122"/>
              </a:rPr>
              <a:pPr/>
              <a:t>48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208241218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22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81923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u="sng" dirty="0" err="1" smtClean="0">
                <a:hlinkClick r:id="rId3"/>
              </a:rPr>
              <a:t>HarmonyOS</a:t>
            </a:r>
            <a:endParaRPr lang="en-US" altLang="zh-CN" b="1" u="sng" dirty="0" smtClean="0"/>
          </a:p>
          <a:p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鸿蒙是自主研发的操作系统，虽基于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Linux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，但是区别于安卓。</a:t>
            </a:r>
            <a:endParaRPr lang="zh-CN" altLang="en-US" dirty="0"/>
          </a:p>
        </p:txBody>
      </p:sp>
      <p:sp>
        <p:nvSpPr>
          <p:cNvPr id="81924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CD779743-89C6-445E-A165-10E9BEF3DAF8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49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46160145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2020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年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9</a:t>
            </a:r>
            <a:r>
              <a:rPr lang="zh-CN" altLang="en-US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月华为正式发布</a:t>
            </a:r>
            <a:endParaRPr lang="en-US" altLang="zh-CN" dirty="0" smtClean="0"/>
          </a:p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dirty="0" smtClean="0"/>
              <a:t>华为手机收到了鸿蒙</a:t>
            </a:r>
            <a:r>
              <a:rPr lang="en-US" altLang="zh-CN" dirty="0" smtClean="0"/>
              <a:t>OS</a:t>
            </a:r>
            <a:r>
              <a:rPr lang="zh-CN" altLang="en-US" dirty="0" smtClean="0"/>
              <a:t>系统的升级推送，</a:t>
            </a:r>
          </a:p>
          <a:p>
            <a:r>
              <a:rPr lang="zh-CN" altLang="en-US" dirty="0" smtClean="0"/>
              <a:t>不是传统意义上的操作系统，手机只是</a:t>
            </a:r>
            <a:r>
              <a:rPr lang="en-US" altLang="zh-CN" dirty="0" err="1" smtClean="0"/>
              <a:t>HarmonyOS</a:t>
            </a:r>
            <a:r>
              <a:rPr lang="zh-CN" altLang="en-US" dirty="0" smtClean="0"/>
              <a:t>构建“生态球”的重要一环</a:t>
            </a:r>
            <a:endParaRPr lang="en-US" altLang="zh-CN" sz="1200" b="0" i="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50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8321489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51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83412906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01007807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E68BD33-6E66-4BC6-8075-FF5C780F5315}" type="slidenum">
              <a:rPr lang="zh-CN" altLang="en-US" smtClean="0"/>
              <a:t>55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12643700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770" name="幻灯片图像占位符 1"/>
          <p:cNvSpPr>
            <a:spLocks noGrp="1" noRot="1" noChangeAspect="1" noTextEdit="1"/>
          </p:cNvSpPr>
          <p:nvPr>
            <p:ph type="sldImg"/>
          </p:nvPr>
        </p:nvSpPr>
        <p:spPr>
          <a:ln/>
        </p:spPr>
      </p:sp>
      <p:sp>
        <p:nvSpPr>
          <p:cNvPr id="160771" name="备注占位符 2"/>
          <p:cNvSpPr>
            <a:spLocks noGrp="1"/>
          </p:cNvSpPr>
          <p:nvPr>
            <p:ph type="body" idx="1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/>
          <a:p>
            <a:endParaRPr lang="zh-CN" altLang="en-US" dirty="0"/>
          </a:p>
        </p:txBody>
      </p:sp>
      <p:sp>
        <p:nvSpPr>
          <p:cNvPr id="160772" name="灯片编号占位符 3"/>
          <p:cNvSpPr>
            <a:spLocks noGrp="1"/>
          </p:cNvSpPr>
          <p:nvPr>
            <p:ph type="sldNum" sz="quarter" idx="5"/>
          </p:nvPr>
        </p:nvSpPr>
        <p:spPr>
          <a:noFill/>
          <a:ln w="9525"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 defTabSz="990600">
              <a:spcBef>
                <a:spcPct val="30000"/>
              </a:spcBef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defTabSz="990600" eaLnBrk="0" fontAlgn="base" hangingPunct="0">
              <a:spcBef>
                <a:spcPct val="30000"/>
              </a:spcBef>
              <a:spcAft>
                <a:spcPct val="0"/>
              </a:spcAft>
              <a:defRPr kumimoji="1" sz="1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4F4ADEC8-2547-451B-B6E8-178A19D86BDE}" type="slidenum">
              <a:rPr lang="en-US" altLang="zh-CN" sz="1300" smtClean="0">
                <a:ea typeface="隶书" panose="02010509060101010101" pitchFamily="49" charset="-122"/>
              </a:rPr>
              <a:pPr>
                <a:spcBef>
                  <a:spcPct val="0"/>
                </a:spcBef>
              </a:pPr>
              <a:t>57</a:t>
            </a:fld>
            <a:endParaRPr lang="en-US" altLang="zh-CN" sz="1300"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20345921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FAC3B3D-EF73-43E9-AD8E-0691D746325D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6740819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CDDD04-A677-4EF8-9156-021B54F6E2C3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1971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76757E-F450-433D-9A8E-B7B00B8ADFA3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43102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993EBD-1407-46DD-A0C0-CEA9EA37EA49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009470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D789707-6742-40F0-814F-FEDFF3D1BB56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454046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BA977A3-5C36-4E52-8CB7-3A89F8CD8697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2431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60A028B-598A-465B-868E-62253F90564E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022698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C58556C-108F-496F-A4E2-C0231EBB5E77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09605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 smtClean="0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648D334-6AC0-4AC6-85BE-43EC83AA79F5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744945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0199CB0-7D22-4281-B0E8-205F01167D91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970213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403D1C-C80F-4D34-B9B7-B852DA04872E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270195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BA9323-FCC8-43D8-90D4-97C39F6EDA81}" type="datetime1">
              <a:rPr lang="zh-CN" altLang="en-US" smtClean="0"/>
              <a:t>2024/9/4</a:t>
            </a:fld>
            <a:endParaRPr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C9E7061-309D-4762-B454-0E29FADD7B3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6942786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pdos.csail.mit.edu/6.828/2020/xv6/book-riscv-rev1.pdf" TargetMode="Externa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slide" Target="slide51.xml"/><Relationship Id="rId3" Type="http://schemas.openxmlformats.org/officeDocument/2006/relationships/slide" Target="slide14.xml"/><Relationship Id="rId7" Type="http://schemas.openxmlformats.org/officeDocument/2006/relationships/slide" Target="slide34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6" Type="http://schemas.openxmlformats.org/officeDocument/2006/relationships/slide" Target="slide26.xml"/><Relationship Id="rId5" Type="http://schemas.openxmlformats.org/officeDocument/2006/relationships/slide" Target="slide24.xml"/><Relationship Id="rId4" Type="http://schemas.openxmlformats.org/officeDocument/2006/relationships/slide" Target="slide17.xml"/><Relationship Id="rId9" Type="http://schemas.openxmlformats.org/officeDocument/2006/relationships/slide" Target="slide35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wmf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wmf"/><Relationship Id="rId5" Type="http://schemas.openxmlformats.org/officeDocument/2006/relationships/image" Target="../media/image9.wmf"/><Relationship Id="rId4" Type="http://schemas.openxmlformats.org/officeDocument/2006/relationships/image" Target="../media/image8.wmf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slide" Target="slide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slide" Target="slide35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jpe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e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9.png"/><Relationship Id="rId7" Type="http://schemas.openxmlformats.org/officeDocument/2006/relationships/image" Target="../media/image23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2.png"/><Relationship Id="rId11" Type="http://schemas.openxmlformats.org/officeDocument/2006/relationships/image" Target="../media/image27.png"/><Relationship Id="rId5" Type="http://schemas.openxmlformats.org/officeDocument/2006/relationships/image" Target="../media/image21.png"/><Relationship Id="rId10" Type="http://schemas.openxmlformats.org/officeDocument/2006/relationships/image" Target="../media/image26.png"/><Relationship Id="rId4" Type="http://schemas.openxmlformats.org/officeDocument/2006/relationships/image" Target="../media/image20.png"/><Relationship Id="rId9" Type="http://schemas.openxmlformats.org/officeDocument/2006/relationships/image" Target="../media/image25.png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slide" Target="slide13.xml"/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99303" y="504022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zh-CN" altLang="en-US" sz="6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操作系统</a:t>
            </a:r>
            <a:endParaRPr lang="zh-CN" altLang="en-US" sz="6000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046544" y="2439083"/>
            <a:ext cx="10515600" cy="124166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zh-CN" sz="54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Operating </a:t>
            </a:r>
            <a:r>
              <a:rPr lang="en-US" altLang="zh-CN" sz="54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Systems(OS)</a:t>
            </a:r>
            <a:endParaRPr lang="zh-CN" altLang="en-US" sz="5400" dirty="0"/>
          </a:p>
        </p:txBody>
      </p:sp>
    </p:spTree>
    <p:extLst>
      <p:ext uri="{BB962C8B-B14F-4D97-AF65-F5344CB8AC3E}">
        <p14:creationId xmlns:p14="http://schemas.microsoft.com/office/powerpoint/2010/main" val="1072651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>
            <a:extLst>
              <a:ext uri="{FF2B5EF4-FFF2-40B4-BE49-F238E27FC236}">
                <a16:creationId xmlns:a16="http://schemas.microsoft.com/office/drawing/2014/main" id="{C47DE671-B907-44DA-9BBB-5ABBA0FAA75C}"/>
              </a:ext>
            </a:extLst>
          </p:cNvPr>
          <p:cNvSpPr txBox="1">
            <a:spLocks/>
          </p:cNvSpPr>
          <p:nvPr/>
        </p:nvSpPr>
        <p:spPr>
          <a:xfrm>
            <a:off x="2499511" y="212960"/>
            <a:ext cx="7456488" cy="82073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学习操作系统的</a:t>
            </a: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目的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3820EC10-B45F-4B88-BE70-BD80CE707E97}"/>
              </a:ext>
            </a:extLst>
          </p:cNvPr>
          <p:cNvSpPr txBox="1"/>
          <p:nvPr/>
        </p:nvSpPr>
        <p:spPr>
          <a:xfrm>
            <a:off x="245051" y="1889861"/>
            <a:ext cx="11565949" cy="31393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3038" indent="-173038">
              <a:spcBef>
                <a:spcPts val="120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Demystify how computers work</a:t>
            </a:r>
          </a:p>
          <a:p>
            <a:pPr marL="914400" lvl="1" indent="-457200">
              <a:spcBef>
                <a:spcPts val="1200"/>
              </a:spcBef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 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good computer scientist should understand what happens inside the system when one types a command</a:t>
            </a:r>
          </a:p>
          <a:p>
            <a:pPr marL="173038" indent="-173038">
              <a:spcBef>
                <a:spcPts val="120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l"/>
              <a:defRPr/>
            </a:pP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Learn how to write robust programs</a:t>
            </a:r>
          </a:p>
          <a:p>
            <a:pPr marL="914400" lvl="1" indent="-457200">
              <a:spcBef>
                <a:spcPts val="1200"/>
              </a:spcBef>
              <a:buSzPct val="50000"/>
              <a:buFont typeface="Wingdings" panose="05000000000000000000" pitchFamily="2" charset="2"/>
              <a:buChar char="l"/>
              <a:defRPr/>
            </a:pP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Deal 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with subtle issues: concurrency, consistency, </a:t>
            </a:r>
            <a:r>
              <a:rPr lang="en-US" altLang="zh-CN" sz="32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etc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1DDF89B8-3C45-4388-B05A-D2F1A4352235}"/>
              </a:ext>
            </a:extLst>
          </p:cNvPr>
          <p:cNvSpPr txBox="1"/>
          <p:nvPr/>
        </p:nvSpPr>
        <p:spPr>
          <a:xfrm>
            <a:off x="4243561" y="6320027"/>
            <a:ext cx="309538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Donald </a:t>
            </a:r>
            <a:r>
              <a:rPr kumimoji="1"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E. </a:t>
            </a:r>
            <a:r>
              <a:rPr kumimoji="1" lang="en-US" altLang="zh-CN" sz="2000" b="1" dirty="0" smtClean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Porter, UNC</a:t>
            </a:r>
            <a:endParaRPr kumimoji="1" lang="en-US" altLang="zh-CN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27670"/>
            <a:ext cx="298721" cy="408934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1663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E0B0DC46-D109-4066-9492-F4C6A32A1FB8}"/>
              </a:ext>
            </a:extLst>
          </p:cNvPr>
          <p:cNvSpPr txBox="1">
            <a:spLocks noChangeArrowheads="1"/>
          </p:cNvSpPr>
          <p:nvPr/>
        </p:nvSpPr>
        <p:spPr>
          <a:xfrm>
            <a:off x="159866" y="928688"/>
            <a:ext cx="11764404" cy="54721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理解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发展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、功能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、地位和特点，并建立起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以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中心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的系统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级认识和全局性把握。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理解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基本概念、原理、设计方法。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中进程管理、内存管理、文件管理等的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关键技术。</a:t>
            </a: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通过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使用</a:t>
            </a:r>
            <a:r>
              <a:rPr lang="en-US" altLang="zh-CN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API 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深入理解</a:t>
            </a:r>
            <a:r>
              <a:rPr lang="en-US" altLang="zh-CN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工作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原理；掌握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并发程序设计的基本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技术。（基本要求）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buFont typeface="Wingdings" panose="05000000000000000000" pitchFamily="2" charset="2"/>
              <a:buChar char="n"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掌握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1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至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个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主流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具有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剖析、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修改和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扩充系统模块的初步能力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。（较高要求）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BCD002F5-68D0-4FC6-8ADD-B53D9539C581}"/>
              </a:ext>
            </a:extLst>
          </p:cNvPr>
          <p:cNvSpPr/>
          <p:nvPr/>
        </p:nvSpPr>
        <p:spPr>
          <a:xfrm>
            <a:off x="4589016" y="164882"/>
            <a:ext cx="3013966" cy="7017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cs typeface="+mj-cs"/>
              </a:rPr>
              <a:t>课程</a:t>
            </a:r>
            <a:r>
              <a:rPr lang="zh-CN" altLang="en-US" sz="44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  <a:cs typeface="+mj-cs"/>
              </a:rPr>
              <a:t>的要求</a:t>
            </a:r>
            <a:endParaRPr lang="zh-CN" altLang="en-US" sz="4400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62875"/>
            <a:ext cx="345374" cy="412585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49016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20ABEAE2-3EB1-4610-8636-FAC8EDAB587E}"/>
              </a:ext>
            </a:extLst>
          </p:cNvPr>
          <p:cNvSpPr txBox="1">
            <a:spLocks noChangeArrowheads="1"/>
          </p:cNvSpPr>
          <p:nvPr/>
        </p:nvSpPr>
        <p:spPr>
          <a:xfrm>
            <a:off x="2209800" y="54039"/>
            <a:ext cx="7772400" cy="6477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课 程 </a:t>
            </a: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的 地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位</a:t>
            </a: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13EFBF24-0B03-41F0-97F9-6C06D527F28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83466" y="1468050"/>
            <a:ext cx="11480799" cy="43640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/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ts val="1000"/>
              </a:spcBef>
              <a:buClrTx/>
              <a:buSzPct val="100000"/>
              <a:buFont typeface="Wingdings" panose="05000000000000000000" pitchFamily="2" charset="2"/>
              <a:buChar char="n"/>
              <a:defRPr/>
            </a:pP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是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计算机系统的核心和灵魂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，是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最重要的系统软件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，具有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承上启下的重要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作用。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857250" lvl="2" indent="-457200" eaLnBrk="1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对前导课程进行总结和提高</a:t>
            </a:r>
          </a:p>
          <a:p>
            <a:pPr lvl="2">
              <a:lnSpc>
                <a:spcPts val="3900"/>
              </a:lnSpc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计算系统基础、计算机组成原理、数据结构、软件工程</a:t>
            </a:r>
            <a:endParaRPr lang="en-US" altLang="zh-CN" sz="2800" b="1" kern="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仿宋_GB2312" pitchFamily="49" charset="-122"/>
              <a:ea typeface="仿宋_GB2312" pitchFamily="49" charset="-122"/>
            </a:endParaRPr>
          </a:p>
          <a:p>
            <a:pPr marL="857250" lvl="2" indent="-457200" eaLnBrk="1" hangingPunct="1">
              <a:lnSpc>
                <a:spcPct val="90000"/>
              </a:lnSpc>
              <a:spcBef>
                <a:spcPts val="1000"/>
              </a:spcBef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为后继专业课程的学习打下良好基础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lvl="2">
              <a:lnSpc>
                <a:spcPts val="3900"/>
              </a:lnSpc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sz="2800" b="1" kern="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仿宋_GB2312" pitchFamily="49" charset="-122"/>
                <a:ea typeface="仿宋_GB2312" pitchFamily="49" charset="-122"/>
              </a:rPr>
              <a:t>嵌入式系统、服务计算、分布式计算、云计算等</a:t>
            </a:r>
          </a:p>
        </p:txBody>
      </p:sp>
      <p:sp>
        <p:nvSpPr>
          <p:cNvPr id="4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309748" cy="376959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394168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77801DA-0534-41EB-9BF7-30E4D45A15D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69913" y="211138"/>
            <a:ext cx="8074025" cy="8651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lnSpc>
                <a:spcPct val="130000"/>
              </a:lnSpc>
              <a:buClr>
                <a:srgbClr val="993300"/>
              </a:buClr>
              <a:buFontTx/>
              <a:buNone/>
            </a:pPr>
            <a:endParaRPr lang="en-US" altLang="zh-CN" sz="2400" b="1"/>
          </a:p>
        </p:txBody>
      </p:sp>
      <p:sp>
        <p:nvSpPr>
          <p:cNvPr id="6" name="Rectangle 18">
            <a:extLst>
              <a:ext uri="{FF2B5EF4-FFF2-40B4-BE49-F238E27FC236}">
                <a16:creationId xmlns:a16="http://schemas.microsoft.com/office/drawing/2014/main" id="{B54CB1C7-2A80-47A5-812C-EEB6B2B2D76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70130" y="271964"/>
            <a:ext cx="9651739" cy="646331"/>
          </a:xfrm>
          <a:prstGeom prst="rect">
            <a:avLst/>
          </a:prstGeom>
          <a:solidFill>
            <a:srgbClr val="00B05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buClrTx/>
              <a:buSzTx/>
              <a:buFontTx/>
              <a:buNone/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omic Sans MS" panose="030F0702030302020204" pitchFamily="66" charset="0"/>
                <a:ea typeface="Cambria Math" panose="02040503050406030204" pitchFamily="18" charset="0"/>
                <a:cs typeface="Complex" panose="00000400000000000000" pitchFamily="2" charset="0"/>
              </a:rPr>
              <a:t>“Learn OS concepts  by coding them!”</a:t>
            </a:r>
          </a:p>
        </p:txBody>
      </p:sp>
      <p:sp>
        <p:nvSpPr>
          <p:cNvPr id="7" name="Rectangle 21">
            <a:extLst>
              <a:ext uri="{FF2B5EF4-FFF2-40B4-BE49-F238E27FC236}">
                <a16:creationId xmlns:a16="http://schemas.microsoft.com/office/drawing/2014/main" id="{D5B6AB87-0390-4946-BBD7-AC01B1366489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40" y="1661571"/>
            <a:ext cx="11530573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OS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中有很多并不深刻的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概念，</a:t>
            </a:r>
            <a:endParaRPr lang="en-US" altLang="zh-CN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  <a:p>
            <a:pPr marL="0" lvl="1" algn="ctr" eaLnBrk="1" hangingPunct="1">
              <a:lnSpc>
                <a:spcPct val="120000"/>
              </a:lnSpc>
              <a:spcBef>
                <a:spcPct val="0"/>
              </a:spcBef>
              <a:buFontTx/>
              <a:buNone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记住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这些概念没有意义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，</a:t>
            </a:r>
            <a:r>
              <a:rPr lang="zh-CN" altLang="en-US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实现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它们才是最重要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的。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</p:txBody>
      </p:sp>
      <p:sp>
        <p:nvSpPr>
          <p:cNvPr id="8" name="Rectangle 27">
            <a:extLst>
              <a:ext uri="{FF2B5EF4-FFF2-40B4-BE49-F238E27FC236}">
                <a16:creationId xmlns:a16="http://schemas.microsoft.com/office/drawing/2014/main" id="{774F82FD-739B-4309-B7A9-CF9B21DBECB6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8840" y="3679042"/>
            <a:ext cx="11411938" cy="14219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1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OS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是最复杂、最基础的软件系统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，</a:t>
            </a:r>
            <a:endParaRPr lang="en-US" altLang="zh-CN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sym typeface="Symbol" panose="05050102010706020507" pitchFamily="18" charset="2"/>
            </a:endParaRPr>
          </a:p>
          <a:p>
            <a:pPr marL="0" lvl="1" algn="ctr">
              <a:lnSpc>
                <a:spcPct val="120000"/>
              </a:lnSpc>
              <a:spcBef>
                <a:spcPct val="0"/>
              </a:spcBef>
              <a:buNone/>
            </a:pPr>
            <a:r>
              <a:rPr lang="en-US" altLang="zh-CN" sz="36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coding </a:t>
            </a:r>
            <a:r>
              <a:rPr lang="en-US" altLang="zh-CN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them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是计算机专业的学生的责任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sym typeface="Symbol" panose="05050102010706020507" pitchFamily="18" charset="2"/>
              </a:rPr>
              <a:t>!</a:t>
            </a:r>
          </a:p>
        </p:txBody>
      </p:sp>
      <p:sp>
        <p:nvSpPr>
          <p:cNvPr id="9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4235362" y="6267390"/>
            <a:ext cx="2837636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lvl="0" algn="ctr">
              <a:defRPr/>
            </a:pPr>
            <a:r>
              <a:rPr kumimoji="1"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Stanford</a:t>
            </a:r>
            <a:r>
              <a:rPr kumimoji="1" lang="zh-CN" altLang="en-US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操作系统课程</a:t>
            </a:r>
            <a:endParaRPr kumimoji="1" lang="en-US" altLang="zh-CN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58028" y="6546850"/>
            <a:ext cx="321623" cy="31115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849979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77077A5-C128-4F66-8146-8C97D1D42C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59005" y="1"/>
            <a:ext cx="10515600" cy="1131216"/>
          </a:xfrm>
        </p:spPr>
        <p:txBody>
          <a:bodyPr>
            <a:norm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课程考核方式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4" name="Rectangle 2052">
            <a:extLst>
              <a:ext uri="{FF2B5EF4-FFF2-40B4-BE49-F238E27FC236}">
                <a16:creationId xmlns:a16="http://schemas.microsoft.com/office/drawing/2014/main" id="{E543FF73-F7EB-4C06-AF2B-EF1F92B5F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46036" y="3520171"/>
            <a:ext cx="10928569" cy="240934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457200" indent="-457200">
              <a:lnSpc>
                <a:spcPct val="9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l"/>
              <a:defRPr/>
            </a:pPr>
            <a:r>
              <a:rPr lang="zh-CN" alt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课程平台</a:t>
            </a:r>
            <a:r>
              <a:rPr lang="en-US" altLang="zh-CN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:  </a:t>
            </a:r>
            <a:r>
              <a: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超</a:t>
            </a:r>
            <a:r>
              <a:rPr lang="zh-CN" alt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星学习通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marL="0" lvl="1">
              <a:lnSpc>
                <a:spcPct val="90000"/>
              </a:lnSpc>
              <a:spcBef>
                <a:spcPts val="1000"/>
              </a:spcBef>
              <a:defRPr/>
            </a:pP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	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58871162-222D-4922-8C2D-F794E5A17261}"/>
              </a:ext>
            </a:extLst>
          </p:cNvPr>
          <p:cNvSpPr/>
          <p:nvPr/>
        </p:nvSpPr>
        <p:spPr>
          <a:xfrm>
            <a:off x="160034" y="1007649"/>
            <a:ext cx="12031965" cy="19143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algn="just">
              <a:lnSpc>
                <a:spcPct val="20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期末总成绩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= 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平时</a:t>
            </a:r>
            <a:r>
              <a: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成绩</a:t>
            </a:r>
            <a:r>
              <a:rPr lang="zh-CN" alt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40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分）</a:t>
            </a: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+ </a:t>
            </a:r>
            <a:r>
              <a:rPr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卷面</a:t>
            </a:r>
            <a:r>
              <a:rPr lang="zh-CN" altLang="en-US" sz="32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分数</a:t>
            </a:r>
            <a:r>
              <a:rPr lang="zh-CN" altLang="en-US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60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分）</a:t>
            </a:r>
            <a:endParaRPr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_GB2312" pitchFamily="49" charset="-122"/>
            </a:endParaRPr>
          </a:p>
          <a:p>
            <a:pPr lvl="4" indent="-1385888" algn="just">
              <a:lnSpc>
                <a:spcPct val="150000"/>
              </a:lnSpc>
              <a:spcBef>
                <a:spcPct val="20000"/>
              </a:spcBef>
              <a:defRPr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平时成绩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=</a:t>
            </a:r>
            <a:r>
              <a:rPr lang="zh-CN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课堂表现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10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分）</a:t>
            </a: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+ </a:t>
            </a:r>
            <a:r>
              <a:rPr lang="zh-CN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课堂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测验</a:t>
            </a:r>
            <a:r>
              <a:rPr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（</a:t>
            </a:r>
            <a:r>
              <a:rPr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20</a:t>
            </a: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_GB2312" pitchFamily="49" charset="-122"/>
              </a:rPr>
              <a:t>分）</a:t>
            </a:r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6</a:t>
            </a:fld>
            <a:endParaRPr lang="zh-CN" altLang="en-US"/>
          </a:p>
        </p:txBody>
      </p:sp>
      <p:pic>
        <p:nvPicPr>
          <p:cNvPr id="3" name="图片 2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10320" y="2922019"/>
            <a:ext cx="2750908" cy="3848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345072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3077">
            <a:extLst>
              <a:ext uri="{FF2B5EF4-FFF2-40B4-BE49-F238E27FC236}">
                <a16:creationId xmlns:a16="http://schemas.microsoft.com/office/drawing/2014/main" id="{58F43CCB-F8BF-4A25-BE92-5CFF54C21FF8}"/>
              </a:ext>
            </a:extLst>
          </p:cNvPr>
          <p:cNvSpPr txBox="1">
            <a:spLocks noChangeArrowheads="1"/>
          </p:cNvSpPr>
          <p:nvPr/>
        </p:nvSpPr>
        <p:spPr>
          <a:xfrm>
            <a:off x="3732082" y="0"/>
            <a:ext cx="44196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教  </a:t>
            </a: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   材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AB9D51CB-1718-4798-9198-AF6BDEF2CB2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0536" y="1214346"/>
            <a:ext cx="3875034" cy="5358572"/>
          </a:xfrm>
          <a:prstGeom prst="rect">
            <a:avLst/>
          </a:prstGeom>
        </p:spPr>
      </p:pic>
      <p:sp>
        <p:nvSpPr>
          <p:cNvPr id="14" name="文本框 13">
            <a:extLst>
              <a:ext uri="{FF2B5EF4-FFF2-40B4-BE49-F238E27FC236}">
                <a16:creationId xmlns:a16="http://schemas.microsoft.com/office/drawing/2014/main" id="{78966BB4-482A-45EF-B628-22B833DC3B2C}"/>
              </a:ext>
            </a:extLst>
          </p:cNvPr>
          <p:cNvSpPr txBox="1"/>
          <p:nvPr/>
        </p:nvSpPr>
        <p:spPr>
          <a:xfrm>
            <a:off x="267093" y="598793"/>
            <a:ext cx="11924907" cy="13542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Abraham </a:t>
            </a:r>
            <a:r>
              <a:rPr lang="en-US" altLang="zh-CN" sz="3200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Silberschatz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著</a:t>
            </a: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郑扣根等译</a:t>
            </a: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操作系统概念精要</a:t>
            </a: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</a:t>
            </a:r>
            <a:r>
              <a:rPr lang="en-US" altLang="zh-CN" sz="32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</a:t>
            </a:r>
          </a:p>
          <a:p>
            <a:r>
              <a:rPr lang="en-US" altLang="zh-CN" sz="32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 </a:t>
            </a:r>
            <a:r>
              <a:rPr lang="zh-CN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机械工业出版社</a:t>
            </a: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2018</a:t>
            </a:r>
            <a:endParaRPr lang="zh-CN" altLang="zh-CN" sz="32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dirty="0">
              <a:solidFill>
                <a:srgbClr val="0033CC"/>
              </a:solidFill>
            </a:endParaRPr>
          </a:p>
        </p:txBody>
      </p:sp>
      <p:sp>
        <p:nvSpPr>
          <p:cNvPr id="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572918"/>
            <a:ext cx="333499" cy="216568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7008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077">
            <a:extLst>
              <a:ext uri="{FF2B5EF4-FFF2-40B4-BE49-F238E27FC236}">
                <a16:creationId xmlns:a16="http://schemas.microsoft.com/office/drawing/2014/main" id="{58F43CCB-F8BF-4A25-BE92-5CFF54C21FF8}"/>
              </a:ext>
            </a:extLst>
          </p:cNvPr>
          <p:cNvSpPr txBox="1">
            <a:spLocks noChangeArrowheads="1"/>
          </p:cNvSpPr>
          <p:nvPr/>
        </p:nvSpPr>
        <p:spPr>
          <a:xfrm>
            <a:off x="3874586" y="0"/>
            <a:ext cx="4419600" cy="7620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实 验 教 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材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1227378" y="1482762"/>
            <a:ext cx="9714015" cy="39703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Clr>
                <a:srgbClr val="000099"/>
              </a:buClr>
              <a:buFont typeface="Wingdings" panose="05000000000000000000" pitchFamily="2" charset="2"/>
              <a:buChar char="n"/>
            </a:pPr>
            <a:r>
              <a:rPr lang="zh-CN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刘宁等 编著</a:t>
            </a: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计算机操作系统实验与课程设计指导书</a:t>
            </a: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</a:t>
            </a:r>
            <a:r>
              <a:rPr lang="zh-CN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大连海事大学出版社</a:t>
            </a: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, 2017</a:t>
            </a:r>
            <a:r>
              <a:rPr lang="zh-CN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年</a:t>
            </a:r>
            <a:endParaRPr lang="en-US" altLang="zh-CN" sz="3200" b="1" dirty="0" smtClean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000099"/>
              </a:buClr>
              <a:buFont typeface="Wingdings" panose="05000000000000000000" pitchFamily="2" charset="2"/>
              <a:buChar char="n"/>
            </a:pPr>
            <a:endParaRPr lang="en-US" altLang="zh-CN" sz="32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000099"/>
              </a:buClr>
              <a:buFont typeface="Wingdings" panose="05000000000000000000" pitchFamily="2" charset="2"/>
              <a:buChar char="n"/>
            </a:pP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Russ Cox</a:t>
            </a:r>
            <a:r>
              <a:rPr lang="zh-CN" altLang="en-US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r>
              <a:rPr lang="en-US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et.  xv6</a:t>
            </a: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a simple, Unix-like teaching operating system. August 31, 2020 </a:t>
            </a:r>
            <a:r>
              <a:rPr lang="en-US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  <a:r>
              <a:rPr lang="zh-CN" altLang="en-US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（</a:t>
            </a:r>
            <a:r>
              <a:rPr lang="en-US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 </a:t>
            </a:r>
            <a:r>
              <a:rPr lang="en-US" altLang="zh-CN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xv6: a simple, Unix-like teaching operating system (mit.edu</a:t>
            </a:r>
            <a:r>
              <a:rPr lang="en-US" altLang="zh-CN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  <a:hlinkClick r:id="rId3"/>
              </a:rPr>
              <a:t>)</a:t>
            </a:r>
            <a:r>
              <a:rPr lang="zh-CN" altLang="en-US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）</a:t>
            </a:r>
            <a:endParaRPr lang="en-US" altLang="zh-CN" sz="32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 marL="457200" indent="-457200">
              <a:buClr>
                <a:srgbClr val="000099"/>
              </a:buClr>
              <a:buFont typeface="Wingdings" panose="05000000000000000000" pitchFamily="2" charset="2"/>
              <a:buChar char="n"/>
            </a:pPr>
            <a:endParaRPr lang="zh-CN" altLang="zh-CN" sz="32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endParaRPr lang="zh-CN" altLang="en-US" sz="2800" b="1" dirty="0">
              <a:solidFill>
                <a:srgbClr val="0033CC"/>
              </a:solidFill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412407" cy="329458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452770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51B11F16-0BAF-44AC-9676-DA9BA4B062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4747" y="330469"/>
            <a:ext cx="11456776" cy="174365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Andrew S. Tanenbaum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等著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 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陈向群等译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 </a:t>
            </a:r>
            <a:r>
              <a:rPr lang="zh-CN" altLang="zh-CN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现代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操作系统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(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第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4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版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). 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机械工业出版社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2017</a:t>
            </a:r>
            <a:endParaRPr lang="zh-CN" altLang="en-US" sz="20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6" name="Picture 5" descr="现代操作系统（第3版）">
            <a:extLst>
              <a:ext uri="{FF2B5EF4-FFF2-40B4-BE49-F238E27FC236}">
                <a16:creationId xmlns:a16="http://schemas.microsoft.com/office/drawing/2014/main" id="{847175B8-4B34-4576-9A3A-D8DFEC3DF0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0572" y="1374991"/>
            <a:ext cx="3888442" cy="491077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077">
            <a:extLst>
              <a:ext uri="{FF2B5EF4-FFF2-40B4-BE49-F238E27FC236}">
                <a16:creationId xmlns:a16="http://schemas.microsoft.com/office/drawing/2014/main" id="{117C9E28-07B5-45F2-8D31-0ACCCB6F17E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13613" y="81713"/>
            <a:ext cx="4635401" cy="762000"/>
          </a:xfrm>
        </p:spPr>
        <p:txBody>
          <a:bodyPr anchor="b">
            <a:norm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参考书 </a:t>
            </a:r>
            <a:r>
              <a:rPr lang="en-US" altLang="zh-C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1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8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391887" cy="341332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2634041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800" decel="100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-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+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x-0.05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800" decel="100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0.4"/>
                                          </p:val>
                                        </p:tav>
                                        <p:tav tm="100000">
                                          <p:val>
                                            <p:strVal val="#ppt_y+0.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0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200" accel="1000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0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10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">
            <a:extLst>
              <a:ext uri="{FF2B5EF4-FFF2-40B4-BE49-F238E27FC236}">
                <a16:creationId xmlns:a16="http://schemas.microsoft.com/office/drawing/2014/main" id="{38E90842-1F47-4BFF-9ABE-901424FD45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-1" y="574487"/>
            <a:ext cx="11311003" cy="13159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None/>
            </a:pP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William Stallings 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著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 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陈向群等译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 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操作系统：精髓与设计原理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. </a:t>
            </a:r>
            <a:r>
              <a:rPr lang="zh-CN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电子工业出版社</a:t>
            </a:r>
            <a:r>
              <a:rPr lang="en-US" altLang="zh-CN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Times New Roman" panose="02020603050405020304" pitchFamily="18" charset="0"/>
              </a:rPr>
              <a:t>, 2017</a:t>
            </a:r>
            <a:endParaRPr lang="zh-CN" altLang="en-US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Times New Roman" panose="02020603050405020304" pitchFamily="18" charset="0"/>
            </a:endParaRPr>
          </a:p>
        </p:txBody>
      </p:sp>
      <p:pic>
        <p:nvPicPr>
          <p:cNvPr id="7" name="图片 9">
            <a:extLst>
              <a:ext uri="{FF2B5EF4-FFF2-40B4-BE49-F238E27FC236}">
                <a16:creationId xmlns:a16="http://schemas.microsoft.com/office/drawing/2014/main" id="{C295AB91-432E-41C2-8FA4-60A06DB093A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67659" y="1656236"/>
            <a:ext cx="3338711" cy="467390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8" name="Rectangle 3077">
            <a:extLst>
              <a:ext uri="{FF2B5EF4-FFF2-40B4-BE49-F238E27FC236}">
                <a16:creationId xmlns:a16="http://schemas.microsoft.com/office/drawing/2014/main" id="{BB6E4ADF-CDBC-45F2-8BD8-DCAD9032F66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8512" y="-44605"/>
            <a:ext cx="4635401" cy="762000"/>
          </a:xfrm>
        </p:spPr>
        <p:txBody>
          <a:bodyPr anchor="b">
            <a:norm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参考书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2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-1" y="6416675"/>
            <a:ext cx="476003" cy="50165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175366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3077">
            <a:extLst>
              <a:ext uri="{FF2B5EF4-FFF2-40B4-BE49-F238E27FC236}">
                <a16:creationId xmlns:a16="http://schemas.microsoft.com/office/drawing/2014/main" id="{CE5DB279-89E3-4F16-A1D7-F7AAE4B5C23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808512" y="0"/>
            <a:ext cx="4635401" cy="762000"/>
          </a:xfrm>
        </p:spPr>
        <p:txBody>
          <a:bodyPr anchor="b">
            <a:normAutofit/>
          </a:bodyPr>
          <a:lstStyle/>
          <a:p>
            <a:pPr algn="ctr"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参考书 </a:t>
            </a:r>
            <a:r>
              <a:rPr lang="en-US" altLang="zh-CN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3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90059CC2-A9DC-4677-B52D-3F6E0DE210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-23592" y="6391399"/>
            <a:ext cx="475013" cy="457200"/>
          </a:xfrm>
        </p:spPr>
        <p:txBody>
          <a:bodyPr/>
          <a:lstStyle/>
          <a:p>
            <a:pPr>
              <a:defRPr/>
            </a:pPr>
            <a:fld id="{EB28470D-88F0-47C7-9AAF-07CB8A78C7B6}" type="slidenum">
              <a:rPr lang="en-US" altLang="zh-CN" smtClean="0"/>
              <a:pPr>
                <a:defRPr/>
              </a:pPr>
              <a:t>11</a:t>
            </a:fld>
            <a:endParaRPr lang="en-US" altLang="zh-CN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AE2D90A-43EB-4F00-99E9-FA4EAAF62F65}"/>
              </a:ext>
            </a:extLst>
          </p:cNvPr>
          <p:cNvSpPr/>
          <p:nvPr/>
        </p:nvSpPr>
        <p:spPr>
          <a:xfrm>
            <a:off x="213915" y="860079"/>
            <a:ext cx="11539469" cy="107721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1" eaLnBrk="1" hangingPunct="1">
              <a:spcBef>
                <a:spcPct val="40000"/>
              </a:spcBef>
            </a:pPr>
            <a:r>
              <a:rPr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Thomas Anderson. Operating Systems: Principles and Practice. Recursive Books</a:t>
            </a:r>
            <a:endParaRPr lang="zh-CN" altLang="en-US" sz="32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0C8C2DDC-3205-4825-8FF3-96ECD8A3D5B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45037" y="1792280"/>
            <a:ext cx="3562350" cy="4391025"/>
          </a:xfrm>
          <a:prstGeom prst="rect">
            <a:avLst/>
          </a:prstGeom>
        </p:spPr>
      </p:pic>
      <p:sp>
        <p:nvSpPr>
          <p:cNvPr id="8" name="AutoShape 3079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65EA238-6051-4ED4-9DF3-F0EACB33BF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75989" y="64389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</p:spTree>
    <p:extLst>
      <p:ext uri="{BB962C8B-B14F-4D97-AF65-F5344CB8AC3E}">
        <p14:creationId xmlns:p14="http://schemas.microsoft.com/office/powerpoint/2010/main" val="29722672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1">
            <a:extLst>
              <a:ext uri="{FF2B5EF4-FFF2-40B4-BE49-F238E27FC236}">
                <a16:creationId xmlns:a16="http://schemas.microsoft.com/office/drawing/2014/main" id="{F562F1D0-9F96-4F75-9A8C-193E0F1E28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999" y="555625"/>
            <a:ext cx="11972074" cy="2784475"/>
          </a:xfrm>
        </p:spPr>
        <p:txBody>
          <a:bodyPr>
            <a:normAutofit/>
          </a:bodyPr>
          <a:lstStyle/>
          <a:p>
            <a:pPr eaLnBrk="1" hangingPunct="1">
              <a:spcBef>
                <a:spcPct val="40000"/>
              </a:spcBef>
            </a:pP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新设计团队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. LINUX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内核设计的艺术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图解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LINUX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操作系统架构设计与实现原理 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(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第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2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版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). </a:t>
            </a:r>
            <a:r>
              <a:rPr kumimoji="1" lang="zh-CN" altLang="en-US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机械工业出版社</a:t>
            </a:r>
            <a: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kumimoji="1" lang="en-US" altLang="zh-CN" sz="32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kumimoji="1"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以图形、图像为核心，突出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描述</a:t>
            </a:r>
            <a:r>
              <a:rPr kumimoji="1"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实际运行过程中内存的运行时结构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；强调</a:t>
            </a:r>
            <a:r>
              <a:rPr kumimoji="1"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学生站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在</a:t>
            </a:r>
            <a:r>
              <a:rPr kumimoji="1"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设计者</a:t>
            </a:r>
            <a:r>
              <a:rPr kumimoji="1"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的视角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，整体把握</a:t>
            </a:r>
            <a:r>
              <a:rPr kumimoji="1"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  <a:cs typeface="Times New Roman" panose="02020603050405020304" pitchFamily="18" charset="0"/>
              </a:rPr>
              <a:t>。</a:t>
            </a:r>
            <a:endParaRPr kumimoji="1" lang="zh-CN" altLang="en-US" sz="3200" b="1" dirty="0">
              <a:latin typeface="华文楷体" panose="02010600040101010101" pitchFamily="2" charset="-122"/>
              <a:ea typeface="华文楷体" panose="02010600040101010101" pitchFamily="2" charset="-122"/>
              <a:cs typeface="Times New Roman" panose="02020603050405020304" pitchFamily="18" charset="0"/>
            </a:endParaRPr>
          </a:p>
        </p:txBody>
      </p:sp>
      <p:pic>
        <p:nvPicPr>
          <p:cNvPr id="6" name="Picture 1" descr="C:\Users\Administrator\AppData\Roaming\Tencent\Users\1057092725\QQ\WinTemp\RichOle\X3LCRDZGCSPC(]~IH8V5B%F.png">
            <a:extLst>
              <a:ext uri="{FF2B5EF4-FFF2-40B4-BE49-F238E27FC236}">
                <a16:creationId xmlns:a16="http://schemas.microsoft.com/office/drawing/2014/main" id="{2489B0FE-484A-41FB-B041-2760950849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13243" y="3428743"/>
            <a:ext cx="2500312" cy="3095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Rectangle 3077">
            <a:extLst>
              <a:ext uri="{FF2B5EF4-FFF2-40B4-BE49-F238E27FC236}">
                <a16:creationId xmlns:a16="http://schemas.microsoft.com/office/drawing/2014/main" id="{1D63C6B3-4322-4D50-ABBA-1AA55F11080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95335" y="37070"/>
            <a:ext cx="4635401" cy="762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lnSpc>
                <a:spcPct val="90000"/>
              </a:lnSpc>
              <a:spcBef>
                <a:spcPct val="20000"/>
              </a:spcBef>
              <a:buClr>
                <a:schemeClr val="tx2"/>
              </a:buClr>
              <a:buSzPct val="90000"/>
              <a:defRPr/>
            </a:pP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参考书 </a:t>
            </a: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lt"/>
                <a:ea typeface="楷体_GB2312" pitchFamily="49" charset="-122"/>
              </a:rPr>
              <a:t>4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n-lt"/>
              <a:ea typeface="楷体_GB2312" pitchFamily="49" charset="-122"/>
            </a:endParaRPr>
          </a:p>
        </p:txBody>
      </p:sp>
      <p:sp>
        <p:nvSpPr>
          <p:cNvPr id="5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D6A4D59-7941-4F28-882C-F71819D612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-99127" y="6477000"/>
            <a:ext cx="452252" cy="353208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12589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54A5AED-D8DA-4CBC-9D53-E28D3B4273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50245" y="203388"/>
            <a:ext cx="6793089" cy="787941"/>
          </a:xfrm>
        </p:spPr>
        <p:txBody>
          <a:bodyPr>
            <a:normAutofit/>
          </a:bodyPr>
          <a:lstStyle/>
          <a:p>
            <a:pPr algn="ctr" eaLnBrk="0" fontAlgn="base" hangingPunct="0">
              <a:spcAft>
                <a:spcPct val="0"/>
              </a:spcAft>
              <a:defRPr/>
            </a:pPr>
            <a:r>
              <a:rPr kumimoji="1" lang="zh-CN" altLang="en-US" sz="4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第</a:t>
            </a:r>
            <a:r>
              <a:rPr kumimoji="1" lang="en-US" altLang="zh-CN" sz="4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</a:t>
            </a:r>
            <a:r>
              <a:rPr kumimoji="1" lang="zh-CN" altLang="en-US" sz="4800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章  导   论</a:t>
            </a:r>
            <a:endParaRPr kumimoji="1" lang="zh-CN" altLang="en-US" sz="48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</a:endParaRPr>
          </a:p>
        </p:txBody>
      </p:sp>
      <p:sp>
        <p:nvSpPr>
          <p:cNvPr id="4" name="矩形 3">
            <a:hlinkClick r:id="rId3" action="ppaction://hlinksldjump"/>
          </p:cNvPr>
          <p:cNvSpPr/>
          <p:nvPr/>
        </p:nvSpPr>
        <p:spPr>
          <a:xfrm>
            <a:off x="3243589" y="1027354"/>
            <a:ext cx="4556055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1.1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操作系统做什么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5" name="矩形 4">
            <a:hlinkClick r:id="rId4" action="ppaction://hlinksldjump"/>
          </p:cNvPr>
          <p:cNvSpPr/>
          <p:nvPr/>
        </p:nvSpPr>
        <p:spPr>
          <a:xfrm>
            <a:off x="3243587" y="1771156"/>
            <a:ext cx="6099747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buNone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1.2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计算机硬件系统的组成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6" name="矩形 5">
            <a:hlinkClick r:id="rId5" action="ppaction://hlinksldjump"/>
          </p:cNvPr>
          <p:cNvSpPr/>
          <p:nvPr/>
        </p:nvSpPr>
        <p:spPr>
          <a:xfrm>
            <a:off x="3243587" y="2509874"/>
            <a:ext cx="6099747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1.3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计算机系统的体系结构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7" name="矩形 6">
            <a:hlinkClick r:id="rId6" action="ppaction://hlinksldjump"/>
          </p:cNvPr>
          <p:cNvSpPr/>
          <p:nvPr/>
        </p:nvSpPr>
        <p:spPr>
          <a:xfrm>
            <a:off x="3243588" y="3209610"/>
            <a:ext cx="4556055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buNone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1.4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操作系统的执行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8" name="矩形 7">
            <a:hlinkClick r:id="rId7" action="ppaction://hlinksldjump"/>
          </p:cNvPr>
          <p:cNvSpPr/>
          <p:nvPr/>
        </p:nvSpPr>
        <p:spPr>
          <a:xfrm>
            <a:off x="3243590" y="3969946"/>
            <a:ext cx="4556055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1.5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操作系统的功能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9" name="矩形 8">
            <a:hlinkClick r:id="rId8" action="ppaction://hlinksldjump"/>
          </p:cNvPr>
          <p:cNvSpPr/>
          <p:nvPr/>
        </p:nvSpPr>
        <p:spPr>
          <a:xfrm>
            <a:off x="3243588" y="5568582"/>
            <a:ext cx="8158003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buNone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1.7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操作系统对一个程序的处理过程</a:t>
            </a:r>
          </a:p>
        </p:txBody>
      </p:sp>
      <p:sp>
        <p:nvSpPr>
          <p:cNvPr id="10" name="矩形 9">
            <a:hlinkClick r:id="rId9" action="ppaction://hlinksldjump"/>
          </p:cNvPr>
          <p:cNvSpPr/>
          <p:nvPr/>
        </p:nvSpPr>
        <p:spPr>
          <a:xfrm>
            <a:off x="3243589" y="4769264"/>
            <a:ext cx="4556055" cy="760336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eaLnBrk="0" fontAlgn="base" hangingPunct="0">
              <a:lnSpc>
                <a:spcPct val="120000"/>
              </a:lnSpc>
              <a:spcBef>
                <a:spcPts val="600"/>
              </a:spcBef>
              <a:spcAft>
                <a:spcPct val="0"/>
              </a:spcAft>
              <a:buClr>
                <a:schemeClr val="folHlink"/>
              </a:buClr>
              <a:buSzPct val="75000"/>
              <a:buNone/>
              <a:defRPr/>
            </a:pPr>
            <a:r>
              <a:rPr kumimoji="1" lang="en-US" altLang="zh-CN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1.6 </a:t>
            </a:r>
            <a:r>
              <a:rPr kumimoji="1" lang="zh-CN" altLang="en-US" sz="40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操作系统的发展</a:t>
            </a:r>
            <a:endParaRPr kumimoji="1" lang="en-US" altLang="zh-CN" sz="4000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itchFamily="18" charset="0"/>
              <a:ea typeface="楷体_GB2312" pitchFamily="49" charset="-122"/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0" y="6488668"/>
            <a:ext cx="36807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21584073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4">
            <a:extLst>
              <a:ext uri="{FF2B5EF4-FFF2-40B4-BE49-F238E27FC236}">
                <a16:creationId xmlns:a16="http://schemas.microsoft.com/office/drawing/2014/main" id="{6C3F9F2E-569D-434A-9808-6B3D11BD57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75" y="1121169"/>
            <a:ext cx="5448300" cy="4340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63F3EAA6-0DD2-45FC-8C28-6B826CC15842}"/>
              </a:ext>
            </a:extLst>
          </p:cNvPr>
          <p:cNvSpPr txBox="1"/>
          <p:nvPr/>
        </p:nvSpPr>
        <p:spPr>
          <a:xfrm>
            <a:off x="787285" y="5912174"/>
            <a:ext cx="512064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图 </a:t>
            </a:r>
            <a:r>
              <a:rPr lang="en-US" altLang="zh-CN" sz="2000" b="1" dirty="0"/>
              <a:t>1-1 </a:t>
            </a:r>
            <a:r>
              <a:rPr lang="zh-CN" altLang="en-US" sz="2000" b="1" dirty="0"/>
              <a:t>计算机系统组件的抽象视图</a:t>
            </a:r>
          </a:p>
        </p:txBody>
      </p:sp>
      <p:grpSp>
        <p:nvGrpSpPr>
          <p:cNvPr id="31" name="组合 30"/>
          <p:cNvGrpSpPr/>
          <p:nvPr/>
        </p:nvGrpSpPr>
        <p:grpSpPr>
          <a:xfrm>
            <a:off x="6348549" y="989661"/>
            <a:ext cx="5830449" cy="5601907"/>
            <a:chOff x="6348549" y="989661"/>
            <a:chExt cx="5830449" cy="5601907"/>
          </a:xfrm>
        </p:grpSpPr>
        <p:sp>
          <p:nvSpPr>
            <p:cNvPr id="6" name="Rectangle 4">
              <a:extLst>
                <a:ext uri="{FF2B5EF4-FFF2-40B4-BE49-F238E27FC236}">
                  <a16:creationId xmlns:a16="http://schemas.microsoft.com/office/drawing/2014/main" id="{1EB98DC5-4C6F-49CF-8D9B-7797965025C3}"/>
                </a:ext>
              </a:extLst>
            </p:cNvPr>
            <p:cNvSpPr txBox="1">
              <a:spLocks noChangeArrowheads="1"/>
            </p:cNvSpPr>
            <p:nvPr/>
          </p:nvSpPr>
          <p:spPr>
            <a:xfrm>
              <a:off x="6753282" y="6060430"/>
              <a:ext cx="3081547" cy="531138"/>
            </a:xfrm>
            <a:prstGeom prst="rect">
              <a:avLst/>
            </a:prstGeom>
          </p:spPr>
          <p:txBody>
            <a:bodyPr vert="horz" lIns="91440" tIns="45720" rIns="91440" bIns="45720" rtlCol="0" anchor="ctr">
              <a:normAutofit/>
            </a:bodyPr>
            <a:lstStyle>
              <a:lvl1pPr algn="l" defTabSz="914400" rtl="0" eaLnBrk="1" latinLnBrk="0" hangingPunct="1">
                <a:lnSpc>
                  <a:spcPct val="90000"/>
                </a:lnSpc>
                <a:spcBef>
                  <a:spcPct val="0"/>
                </a:spcBef>
                <a:buNone/>
                <a:defRPr sz="4400" kern="1200">
                  <a:solidFill>
                    <a:schemeClr val="tx1"/>
                  </a:solidFill>
                  <a:latin typeface="+mj-lt"/>
                  <a:ea typeface="+mj-ea"/>
                  <a:cs typeface="+mj-cs"/>
                </a:defRPr>
              </a:lvl1pPr>
            </a:lstStyle>
            <a:p>
              <a:pPr algn="ctr">
                <a:defRPr/>
              </a:pPr>
              <a:r>
                <a:rPr lang="zh-CN" altLang="en-US" sz="2000" b="1" dirty="0" smtClean="0">
                  <a:latin typeface="+mn-lt"/>
                  <a:ea typeface="+mn-ea"/>
                  <a:cs typeface="+mn-cs"/>
                </a:rPr>
                <a:t>计算机系统和用户</a:t>
              </a:r>
              <a:endParaRPr lang="zh-CN" altLang="en-US" sz="2000" b="1" dirty="0">
                <a:latin typeface="+mn-lt"/>
                <a:ea typeface="+mn-ea"/>
                <a:cs typeface="+mn-cs"/>
              </a:endParaRPr>
            </a:p>
          </p:txBody>
        </p:sp>
        <p:pic>
          <p:nvPicPr>
            <p:cNvPr id="8" name="Picture 6">
              <a:extLst>
                <a:ext uri="{FF2B5EF4-FFF2-40B4-BE49-F238E27FC236}">
                  <a16:creationId xmlns:a16="http://schemas.microsoft.com/office/drawing/2014/main" id="{8C59D7B6-5144-4C94-B8A8-20B9699B8FAC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48549" y="4880390"/>
              <a:ext cx="3891014" cy="103178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9" name="Picture 7">
              <a:extLst>
                <a:ext uri="{FF2B5EF4-FFF2-40B4-BE49-F238E27FC236}">
                  <a16:creationId xmlns:a16="http://schemas.microsoft.com/office/drawing/2014/main" id="{11D234C2-D427-413B-A05A-DBDEE5CD8B59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5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681618" y="3956792"/>
              <a:ext cx="3358450" cy="108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0" name="Picture 8">
              <a:extLst>
                <a:ext uri="{FF2B5EF4-FFF2-40B4-BE49-F238E27FC236}">
                  <a16:creationId xmlns:a16="http://schemas.microsoft.com/office/drawing/2014/main" id="{95AE516D-19AE-4B86-8435-31EF455B03FE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6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31420" y="3091296"/>
              <a:ext cx="2775578" cy="108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9">
              <a:extLst>
                <a:ext uri="{FF2B5EF4-FFF2-40B4-BE49-F238E27FC236}">
                  <a16:creationId xmlns:a16="http://schemas.microsoft.com/office/drawing/2014/main" id="{3E1BD20B-5F61-455D-B359-D281233929C8}"/>
                </a:ext>
              </a:extLst>
            </p:cNvPr>
            <p:cNvPicPr>
              <a:picLocks noChangeArrowheads="1"/>
            </p:cNvPicPr>
            <p:nvPr/>
          </p:nvPicPr>
          <p:blipFill>
            <a:blip r:embed="rId7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181222" y="2225799"/>
              <a:ext cx="2275974" cy="108988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grpSp>
          <p:nvGrpSpPr>
            <p:cNvPr id="12" name="Group 10">
              <a:extLst>
                <a:ext uri="{FF2B5EF4-FFF2-40B4-BE49-F238E27FC236}">
                  <a16:creationId xmlns:a16="http://schemas.microsoft.com/office/drawing/2014/main" id="{10106DA4-2F32-401C-A032-B7AB836D48C5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7764094" y="989661"/>
              <a:ext cx="837878" cy="869504"/>
              <a:chOff x="2207" y="1391"/>
              <a:chExt cx="483" cy="339"/>
            </a:xfrm>
          </p:grpSpPr>
          <p:sp>
            <p:nvSpPr>
              <p:cNvPr id="27" name="Freeform 11">
                <a:extLst>
                  <a:ext uri="{FF2B5EF4-FFF2-40B4-BE49-F238E27FC236}">
                    <a16:creationId xmlns:a16="http://schemas.microsoft.com/office/drawing/2014/main" id="{5DD94893-2526-43D7-887C-B8ED9B4BD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7" y="1391"/>
                <a:ext cx="483" cy="339"/>
              </a:xfrm>
              <a:custGeom>
                <a:avLst/>
                <a:gdLst>
                  <a:gd name="T0" fmla="*/ 43 w 483"/>
                  <a:gd name="T1" fmla="*/ 0 h 339"/>
                  <a:gd name="T2" fmla="*/ 26 w 483"/>
                  <a:gd name="T3" fmla="*/ 3 h 339"/>
                  <a:gd name="T4" fmla="*/ 13 w 483"/>
                  <a:gd name="T5" fmla="*/ 14 h 339"/>
                  <a:gd name="T6" fmla="*/ 4 w 483"/>
                  <a:gd name="T7" fmla="*/ 25 h 339"/>
                  <a:gd name="T8" fmla="*/ 0 w 483"/>
                  <a:gd name="T9" fmla="*/ 42 h 339"/>
                  <a:gd name="T10" fmla="*/ 0 w 483"/>
                  <a:gd name="T11" fmla="*/ 294 h 339"/>
                  <a:gd name="T12" fmla="*/ 4 w 483"/>
                  <a:gd name="T13" fmla="*/ 310 h 339"/>
                  <a:gd name="T14" fmla="*/ 13 w 483"/>
                  <a:gd name="T15" fmla="*/ 324 h 339"/>
                  <a:gd name="T16" fmla="*/ 26 w 483"/>
                  <a:gd name="T17" fmla="*/ 335 h 339"/>
                  <a:gd name="T18" fmla="*/ 43 w 483"/>
                  <a:gd name="T19" fmla="*/ 338 h 339"/>
                  <a:gd name="T20" fmla="*/ 439 w 483"/>
                  <a:gd name="T21" fmla="*/ 338 h 339"/>
                  <a:gd name="T22" fmla="*/ 456 w 483"/>
                  <a:gd name="T23" fmla="*/ 335 h 339"/>
                  <a:gd name="T24" fmla="*/ 469 w 483"/>
                  <a:gd name="T25" fmla="*/ 324 h 339"/>
                  <a:gd name="T26" fmla="*/ 478 w 483"/>
                  <a:gd name="T27" fmla="*/ 310 h 339"/>
                  <a:gd name="T28" fmla="*/ 482 w 483"/>
                  <a:gd name="T29" fmla="*/ 294 h 339"/>
                  <a:gd name="T30" fmla="*/ 482 w 483"/>
                  <a:gd name="T31" fmla="*/ 42 h 339"/>
                  <a:gd name="T32" fmla="*/ 478 w 483"/>
                  <a:gd name="T33" fmla="*/ 25 h 339"/>
                  <a:gd name="T34" fmla="*/ 469 w 483"/>
                  <a:gd name="T35" fmla="*/ 14 h 339"/>
                  <a:gd name="T36" fmla="*/ 456 w 483"/>
                  <a:gd name="T37" fmla="*/ 3 h 339"/>
                  <a:gd name="T38" fmla="*/ 439 w 483"/>
                  <a:gd name="T39" fmla="*/ 0 h 339"/>
                  <a:gd name="T40" fmla="*/ 43 w 483"/>
                  <a:gd name="T41" fmla="*/ 0 h 33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483"/>
                  <a:gd name="T64" fmla="*/ 0 h 339"/>
                  <a:gd name="T65" fmla="*/ 483 w 483"/>
                  <a:gd name="T66" fmla="*/ 339 h 339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483" h="339">
                    <a:moveTo>
                      <a:pt x="43" y="0"/>
                    </a:moveTo>
                    <a:lnTo>
                      <a:pt x="26" y="3"/>
                    </a:lnTo>
                    <a:lnTo>
                      <a:pt x="13" y="14"/>
                    </a:lnTo>
                    <a:lnTo>
                      <a:pt x="4" y="25"/>
                    </a:lnTo>
                    <a:lnTo>
                      <a:pt x="0" y="42"/>
                    </a:lnTo>
                    <a:lnTo>
                      <a:pt x="0" y="294"/>
                    </a:lnTo>
                    <a:lnTo>
                      <a:pt x="4" y="310"/>
                    </a:lnTo>
                    <a:lnTo>
                      <a:pt x="13" y="324"/>
                    </a:lnTo>
                    <a:lnTo>
                      <a:pt x="26" y="335"/>
                    </a:lnTo>
                    <a:lnTo>
                      <a:pt x="43" y="338"/>
                    </a:lnTo>
                    <a:lnTo>
                      <a:pt x="439" y="338"/>
                    </a:lnTo>
                    <a:lnTo>
                      <a:pt x="456" y="335"/>
                    </a:lnTo>
                    <a:lnTo>
                      <a:pt x="469" y="324"/>
                    </a:lnTo>
                    <a:lnTo>
                      <a:pt x="478" y="310"/>
                    </a:lnTo>
                    <a:lnTo>
                      <a:pt x="482" y="294"/>
                    </a:lnTo>
                    <a:lnTo>
                      <a:pt x="482" y="42"/>
                    </a:lnTo>
                    <a:lnTo>
                      <a:pt x="478" y="25"/>
                    </a:lnTo>
                    <a:lnTo>
                      <a:pt x="469" y="14"/>
                    </a:lnTo>
                    <a:lnTo>
                      <a:pt x="456" y="3"/>
                    </a:lnTo>
                    <a:lnTo>
                      <a:pt x="439" y="0"/>
                    </a:lnTo>
                    <a:lnTo>
                      <a:pt x="43" y="0"/>
                    </a:lnTo>
                  </a:path>
                </a:pathLst>
              </a:custGeom>
              <a:solidFill>
                <a:srgbClr val="CCCCFF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8" name="Rectangle 12">
                <a:extLst>
                  <a:ext uri="{FF2B5EF4-FFF2-40B4-BE49-F238E27FC236}">
                    <a16:creationId xmlns:a16="http://schemas.microsoft.com/office/drawing/2014/main" id="{1EDD43F7-058B-4822-8D9A-DA71E02EF33B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2280" y="1435"/>
                <a:ext cx="336" cy="25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普通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4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用户</a:t>
                </a:r>
                <a:endParaRPr lang="zh-CN" altLang="en-US" sz="12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grpSp>
          <p:nvGrpSpPr>
            <p:cNvPr id="13" name="Group 13">
              <a:extLst>
                <a:ext uri="{FF2B5EF4-FFF2-40B4-BE49-F238E27FC236}">
                  <a16:creationId xmlns:a16="http://schemas.microsoft.com/office/drawing/2014/main" id="{881FA6E5-F17E-4046-AC75-D76F972FA7D6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9594241" y="1758991"/>
              <a:ext cx="1226459" cy="773337"/>
              <a:chOff x="3411" y="1728"/>
              <a:chExt cx="353" cy="338"/>
            </a:xfrm>
          </p:grpSpPr>
          <p:sp>
            <p:nvSpPr>
              <p:cNvPr id="25" name="Freeform 14">
                <a:extLst>
                  <a:ext uri="{FF2B5EF4-FFF2-40B4-BE49-F238E27FC236}">
                    <a16:creationId xmlns:a16="http://schemas.microsoft.com/office/drawing/2014/main" id="{320C994A-2710-45EC-B3F5-B8A289E40D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1" y="1728"/>
                <a:ext cx="353" cy="338"/>
              </a:xfrm>
              <a:custGeom>
                <a:avLst/>
                <a:gdLst>
                  <a:gd name="T0" fmla="*/ 1 w 575"/>
                  <a:gd name="T1" fmla="*/ 0 h 338"/>
                  <a:gd name="T2" fmla="*/ 1 w 575"/>
                  <a:gd name="T3" fmla="*/ 3 h 338"/>
                  <a:gd name="T4" fmla="*/ 1 w 575"/>
                  <a:gd name="T5" fmla="*/ 13 h 338"/>
                  <a:gd name="T6" fmla="*/ 0 w 575"/>
                  <a:gd name="T7" fmla="*/ 26 h 338"/>
                  <a:gd name="T8" fmla="*/ 0 w 575"/>
                  <a:gd name="T9" fmla="*/ 43 h 338"/>
                  <a:gd name="T10" fmla="*/ 0 w 575"/>
                  <a:gd name="T11" fmla="*/ 294 h 338"/>
                  <a:gd name="T12" fmla="*/ 0 w 575"/>
                  <a:gd name="T13" fmla="*/ 311 h 338"/>
                  <a:gd name="T14" fmla="*/ 1 w 575"/>
                  <a:gd name="T15" fmla="*/ 324 h 338"/>
                  <a:gd name="T16" fmla="*/ 1 w 575"/>
                  <a:gd name="T17" fmla="*/ 334 h 338"/>
                  <a:gd name="T18" fmla="*/ 1 w 575"/>
                  <a:gd name="T19" fmla="*/ 337 h 338"/>
                  <a:gd name="T20" fmla="*/ 1 w 575"/>
                  <a:gd name="T21" fmla="*/ 337 h 338"/>
                  <a:gd name="T22" fmla="*/ 1 w 575"/>
                  <a:gd name="T23" fmla="*/ 334 h 338"/>
                  <a:gd name="T24" fmla="*/ 1 w 575"/>
                  <a:gd name="T25" fmla="*/ 324 h 338"/>
                  <a:gd name="T26" fmla="*/ 1 w 575"/>
                  <a:gd name="T27" fmla="*/ 311 h 338"/>
                  <a:gd name="T28" fmla="*/ 1 w 575"/>
                  <a:gd name="T29" fmla="*/ 294 h 338"/>
                  <a:gd name="T30" fmla="*/ 1 w 575"/>
                  <a:gd name="T31" fmla="*/ 43 h 338"/>
                  <a:gd name="T32" fmla="*/ 1 w 575"/>
                  <a:gd name="T33" fmla="*/ 26 h 338"/>
                  <a:gd name="T34" fmla="*/ 1 w 575"/>
                  <a:gd name="T35" fmla="*/ 13 h 338"/>
                  <a:gd name="T36" fmla="*/ 1 w 575"/>
                  <a:gd name="T37" fmla="*/ 3 h 338"/>
                  <a:gd name="T38" fmla="*/ 1 w 575"/>
                  <a:gd name="T39" fmla="*/ 0 h 338"/>
                  <a:gd name="T40" fmla="*/ 1 w 575"/>
                  <a:gd name="T41" fmla="*/ 0 h 3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75"/>
                  <a:gd name="T64" fmla="*/ 0 h 338"/>
                  <a:gd name="T65" fmla="*/ 575 w 575"/>
                  <a:gd name="T66" fmla="*/ 338 h 33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75" h="338">
                    <a:moveTo>
                      <a:pt x="38" y="0"/>
                    </a:moveTo>
                    <a:lnTo>
                      <a:pt x="19" y="3"/>
                    </a:lnTo>
                    <a:lnTo>
                      <a:pt x="13" y="13"/>
                    </a:lnTo>
                    <a:lnTo>
                      <a:pt x="0" y="26"/>
                    </a:lnTo>
                    <a:lnTo>
                      <a:pt x="0" y="43"/>
                    </a:lnTo>
                    <a:lnTo>
                      <a:pt x="0" y="294"/>
                    </a:lnTo>
                    <a:lnTo>
                      <a:pt x="0" y="311"/>
                    </a:lnTo>
                    <a:lnTo>
                      <a:pt x="13" y="324"/>
                    </a:lnTo>
                    <a:lnTo>
                      <a:pt x="19" y="334"/>
                    </a:lnTo>
                    <a:lnTo>
                      <a:pt x="38" y="337"/>
                    </a:lnTo>
                    <a:lnTo>
                      <a:pt x="529" y="337"/>
                    </a:lnTo>
                    <a:lnTo>
                      <a:pt x="548" y="334"/>
                    </a:lnTo>
                    <a:lnTo>
                      <a:pt x="561" y="324"/>
                    </a:lnTo>
                    <a:lnTo>
                      <a:pt x="574" y="311"/>
                    </a:lnTo>
                    <a:lnTo>
                      <a:pt x="574" y="294"/>
                    </a:lnTo>
                    <a:lnTo>
                      <a:pt x="574" y="43"/>
                    </a:lnTo>
                    <a:lnTo>
                      <a:pt x="574" y="26"/>
                    </a:lnTo>
                    <a:lnTo>
                      <a:pt x="561" y="13"/>
                    </a:lnTo>
                    <a:lnTo>
                      <a:pt x="548" y="3"/>
                    </a:lnTo>
                    <a:lnTo>
                      <a:pt x="529" y="0"/>
                    </a:lnTo>
                    <a:lnTo>
                      <a:pt x="38" y="0"/>
                    </a:lnTo>
                  </a:path>
                </a:pathLst>
              </a:custGeom>
              <a:solidFill>
                <a:srgbClr val="CCCCFF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6" name="Rectangle 15">
                <a:extLst>
                  <a:ext uri="{FF2B5EF4-FFF2-40B4-BE49-F238E27FC236}">
                    <a16:creationId xmlns:a16="http://schemas.microsoft.com/office/drawing/2014/main" id="{B079F0D4-CA0C-4EFA-9003-2F347CC4D73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459" y="1769"/>
                <a:ext cx="256" cy="25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编程员</a:t>
                </a:r>
              </a:p>
            </p:txBody>
          </p:sp>
        </p:grpSp>
        <p:grpSp>
          <p:nvGrpSpPr>
            <p:cNvPr id="14" name="Group 16">
              <a:extLst>
                <a:ext uri="{FF2B5EF4-FFF2-40B4-BE49-F238E27FC236}">
                  <a16:creationId xmlns:a16="http://schemas.microsoft.com/office/drawing/2014/main" id="{FDC8FA3E-44F5-4EAF-A118-2F46F47CECAB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0263849" y="3105320"/>
              <a:ext cx="1915149" cy="1346328"/>
              <a:chOff x="3789" y="2544"/>
              <a:chExt cx="581" cy="338"/>
            </a:xfrm>
          </p:grpSpPr>
          <p:sp>
            <p:nvSpPr>
              <p:cNvPr id="23" name="Freeform 17">
                <a:extLst>
                  <a:ext uri="{FF2B5EF4-FFF2-40B4-BE49-F238E27FC236}">
                    <a16:creationId xmlns:a16="http://schemas.microsoft.com/office/drawing/2014/main" id="{9D9019C3-3B4B-43AF-A434-EE34E4911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9" y="2544"/>
                <a:ext cx="581" cy="338"/>
              </a:xfrm>
              <a:custGeom>
                <a:avLst/>
                <a:gdLst>
                  <a:gd name="T0" fmla="*/ 42 w 581"/>
                  <a:gd name="T1" fmla="*/ 0 h 338"/>
                  <a:gd name="T2" fmla="*/ 28 w 581"/>
                  <a:gd name="T3" fmla="*/ 5 h 338"/>
                  <a:gd name="T4" fmla="*/ 14 w 581"/>
                  <a:gd name="T5" fmla="*/ 14 h 338"/>
                  <a:gd name="T6" fmla="*/ 7 w 581"/>
                  <a:gd name="T7" fmla="*/ 28 h 338"/>
                  <a:gd name="T8" fmla="*/ 0 w 581"/>
                  <a:gd name="T9" fmla="*/ 42 h 338"/>
                  <a:gd name="T10" fmla="*/ 0 w 581"/>
                  <a:gd name="T11" fmla="*/ 296 h 338"/>
                  <a:gd name="T12" fmla="*/ 7 w 581"/>
                  <a:gd name="T13" fmla="*/ 314 h 338"/>
                  <a:gd name="T14" fmla="*/ 14 w 581"/>
                  <a:gd name="T15" fmla="*/ 323 h 338"/>
                  <a:gd name="T16" fmla="*/ 28 w 581"/>
                  <a:gd name="T17" fmla="*/ 332 h 338"/>
                  <a:gd name="T18" fmla="*/ 42 w 581"/>
                  <a:gd name="T19" fmla="*/ 337 h 338"/>
                  <a:gd name="T20" fmla="*/ 538 w 581"/>
                  <a:gd name="T21" fmla="*/ 337 h 338"/>
                  <a:gd name="T22" fmla="*/ 552 w 581"/>
                  <a:gd name="T23" fmla="*/ 332 h 338"/>
                  <a:gd name="T24" fmla="*/ 566 w 581"/>
                  <a:gd name="T25" fmla="*/ 323 h 338"/>
                  <a:gd name="T26" fmla="*/ 580 w 581"/>
                  <a:gd name="T27" fmla="*/ 314 h 338"/>
                  <a:gd name="T28" fmla="*/ 580 w 581"/>
                  <a:gd name="T29" fmla="*/ 296 h 338"/>
                  <a:gd name="T30" fmla="*/ 580 w 581"/>
                  <a:gd name="T31" fmla="*/ 42 h 338"/>
                  <a:gd name="T32" fmla="*/ 580 w 581"/>
                  <a:gd name="T33" fmla="*/ 28 h 338"/>
                  <a:gd name="T34" fmla="*/ 566 w 581"/>
                  <a:gd name="T35" fmla="*/ 14 h 338"/>
                  <a:gd name="T36" fmla="*/ 552 w 581"/>
                  <a:gd name="T37" fmla="*/ 5 h 338"/>
                  <a:gd name="T38" fmla="*/ 538 w 581"/>
                  <a:gd name="T39" fmla="*/ 0 h 338"/>
                  <a:gd name="T40" fmla="*/ 42 w 581"/>
                  <a:gd name="T41" fmla="*/ 0 h 338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w 581"/>
                  <a:gd name="T64" fmla="*/ 0 h 338"/>
                  <a:gd name="T65" fmla="*/ 581 w 581"/>
                  <a:gd name="T66" fmla="*/ 338 h 338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T63" t="T64" r="T65" b="T66"/>
                <a:pathLst>
                  <a:path w="581" h="338">
                    <a:moveTo>
                      <a:pt x="42" y="0"/>
                    </a:moveTo>
                    <a:lnTo>
                      <a:pt x="28" y="5"/>
                    </a:lnTo>
                    <a:lnTo>
                      <a:pt x="14" y="14"/>
                    </a:lnTo>
                    <a:lnTo>
                      <a:pt x="7" y="28"/>
                    </a:lnTo>
                    <a:lnTo>
                      <a:pt x="0" y="42"/>
                    </a:lnTo>
                    <a:lnTo>
                      <a:pt x="0" y="296"/>
                    </a:lnTo>
                    <a:lnTo>
                      <a:pt x="7" y="314"/>
                    </a:lnTo>
                    <a:lnTo>
                      <a:pt x="14" y="323"/>
                    </a:lnTo>
                    <a:lnTo>
                      <a:pt x="28" y="332"/>
                    </a:lnTo>
                    <a:lnTo>
                      <a:pt x="42" y="337"/>
                    </a:lnTo>
                    <a:lnTo>
                      <a:pt x="538" y="337"/>
                    </a:lnTo>
                    <a:lnTo>
                      <a:pt x="552" y="332"/>
                    </a:lnTo>
                    <a:lnTo>
                      <a:pt x="566" y="323"/>
                    </a:lnTo>
                    <a:lnTo>
                      <a:pt x="580" y="314"/>
                    </a:lnTo>
                    <a:lnTo>
                      <a:pt x="580" y="296"/>
                    </a:lnTo>
                    <a:lnTo>
                      <a:pt x="580" y="42"/>
                    </a:lnTo>
                    <a:lnTo>
                      <a:pt x="580" y="28"/>
                    </a:lnTo>
                    <a:lnTo>
                      <a:pt x="566" y="14"/>
                    </a:lnTo>
                    <a:lnTo>
                      <a:pt x="552" y="5"/>
                    </a:lnTo>
                    <a:lnTo>
                      <a:pt x="538" y="0"/>
                    </a:lnTo>
                    <a:lnTo>
                      <a:pt x="42" y="0"/>
                    </a:lnTo>
                  </a:path>
                </a:pathLst>
              </a:custGeom>
              <a:solidFill>
                <a:srgbClr val="CCCCFF"/>
              </a:solidFill>
              <a:ln w="12700" cap="rnd">
                <a:solidFill>
                  <a:schemeClr val="tx1"/>
                </a:solidFill>
                <a:round/>
                <a:headEnd/>
                <a:tailEnd/>
              </a:ln>
            </p:spPr>
            <p:txBody>
              <a:bodyPr/>
              <a:lstStyle/>
              <a:p>
                <a:endParaRPr lang="zh-CN" altLang="en-US"/>
              </a:p>
            </p:txBody>
          </p:sp>
          <p:sp>
            <p:nvSpPr>
              <p:cNvPr id="24" name="Rectangle 18">
                <a:extLst>
                  <a:ext uri="{FF2B5EF4-FFF2-40B4-BE49-F238E27FC236}">
                    <a16:creationId xmlns:a16="http://schemas.microsoft.com/office/drawing/2014/main" id="{128FB5E1-6AB9-44FA-A6E6-6B5FECB7020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864" y="2587"/>
                <a:ext cx="432" cy="250"/>
              </a:xfrm>
              <a:prstGeom prst="rect">
                <a:avLst/>
              </a:prstGeom>
              <a:solidFill>
                <a:srgbClr val="CCCC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lIns="92075" tIns="46038" rIns="92075" bIns="46038" anchor="ctr"/>
              <a:lstStyle>
                <a:lvl1pPr>
                  <a:spcBef>
                    <a:spcPct val="20000"/>
                  </a:spcBef>
                  <a:buClr>
                    <a:schemeClr val="tx2"/>
                  </a:buClr>
                  <a:buSzPct val="90000"/>
                  <a:buFont typeface="Symbol" panose="05050102010706020507" pitchFamily="18" charset="2"/>
                  <a:buChar char="¨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1pPr>
                <a:lvl2pPr marL="742950" indent="-285750">
                  <a:spcBef>
                    <a:spcPct val="20000"/>
                  </a:spcBef>
                  <a:buChar char="–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4pPr>
                <a:lvl5pPr marL="2057400" indent="-228600">
                  <a:spcBef>
                    <a:spcPct val="20000"/>
                  </a:spcBef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•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  <a:ea typeface="宋体" panose="02010600030101010101" pitchFamily="2" charset="-122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操作系统</a:t>
                </a:r>
              </a:p>
              <a:p>
                <a:pPr algn="ctr">
                  <a:spcBef>
                    <a:spcPct val="0"/>
                  </a:spcBef>
                  <a:buClrTx/>
                  <a:buSzTx/>
                  <a:buFontTx/>
                  <a:buNone/>
                </a:pPr>
                <a:r>
                  <a:rPr lang="zh-CN" altLang="en-US" sz="2800" b="1" dirty="0">
                    <a:effectLst>
                      <a:outerShdw blurRad="38100" dist="38100" dir="2700000" algn="tl">
                        <a:srgbClr val="000000">
                          <a:alpha val="43137"/>
                        </a:srgbClr>
                      </a:outerShdw>
                    </a:effectLst>
                  </a:rPr>
                  <a:t>设计师</a:t>
                </a:r>
                <a:endParaRPr lang="zh-CN" altLang="en-US" sz="2800" dirty="0">
                  <a:effectLst>
                    <a:outerShdw blurRad="38100" dist="38100" dir="2700000" algn="tl">
                      <a:srgbClr val="000000">
                        <a:alpha val="43137"/>
                      </a:srgbClr>
                    </a:outerShdw>
                  </a:effectLst>
                </a:endParaRPr>
              </a:p>
            </p:txBody>
          </p:sp>
        </p:grpSp>
        <p:sp>
          <p:nvSpPr>
            <p:cNvPr id="15" name="Line 19">
              <a:extLst>
                <a:ext uri="{FF2B5EF4-FFF2-40B4-BE49-F238E27FC236}">
                  <a16:creationId xmlns:a16="http://schemas.microsoft.com/office/drawing/2014/main" id="{4F9D00E7-A98C-4A6D-B791-AC532BDD9D67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8182165" y="1857161"/>
              <a:ext cx="0" cy="382662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" name="Line 20">
              <a:extLst>
                <a:ext uri="{FF2B5EF4-FFF2-40B4-BE49-F238E27FC236}">
                  <a16:creationId xmlns:a16="http://schemas.microsoft.com/office/drawing/2014/main" id="{06F56F49-35B0-459F-B5B9-8A62296F99CA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516178" y="2530325"/>
              <a:ext cx="497869" cy="671161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" name="Line 21">
              <a:extLst>
                <a:ext uri="{FF2B5EF4-FFF2-40B4-BE49-F238E27FC236}">
                  <a16:creationId xmlns:a16="http://schemas.microsoft.com/office/drawing/2014/main" id="{4EA1F39F-7372-47D3-B06D-049B07ED4E6D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9765980" y="2530325"/>
              <a:ext cx="664404" cy="153665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8" name="Line 22">
              <a:extLst>
                <a:ext uri="{FF2B5EF4-FFF2-40B4-BE49-F238E27FC236}">
                  <a16:creationId xmlns:a16="http://schemas.microsoft.com/office/drawing/2014/main" id="{EC9F7EC7-04A6-4F0E-B7C6-9877F43A6A94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0099049" y="4165153"/>
              <a:ext cx="581137" cy="767327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 type="none" w="sm" len="sm"/>
              <a:tailEnd type="stealth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" name="Rectangle 23">
              <a:extLst>
                <a:ext uri="{FF2B5EF4-FFF2-40B4-BE49-F238E27FC236}">
                  <a16:creationId xmlns:a16="http://schemas.microsoft.com/office/drawing/2014/main" id="{3ED7FEB1-F225-4C53-B1BE-14EDEF3AF8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50284" y="5028646"/>
              <a:ext cx="3747031" cy="8654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计算机硬件</a:t>
              </a:r>
              <a:endParaRPr lang="zh-CN" altLang="en-US" sz="1600" dirty="0"/>
            </a:p>
          </p:txBody>
        </p:sp>
        <p:sp>
          <p:nvSpPr>
            <p:cNvPr id="20" name="Rectangle 24">
              <a:extLst>
                <a:ext uri="{FF2B5EF4-FFF2-40B4-BE49-F238E27FC236}">
                  <a16:creationId xmlns:a16="http://schemas.microsoft.com/office/drawing/2014/main" id="{B252BCB9-B7A2-430A-840C-EC481A8441B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683353" y="4163149"/>
              <a:ext cx="3164159" cy="865497"/>
            </a:xfrm>
            <a:prstGeom prst="rect">
              <a:avLst/>
            </a:prstGeom>
            <a:solidFill>
              <a:srgbClr val="CCCC00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操作系统</a:t>
              </a:r>
              <a:endParaRPr lang="zh-CN" altLang="en-US" sz="1800" b="1" dirty="0"/>
            </a:p>
          </p:txBody>
        </p:sp>
        <p:sp>
          <p:nvSpPr>
            <p:cNvPr id="21" name="Rectangle 25">
              <a:extLst>
                <a:ext uri="{FF2B5EF4-FFF2-40B4-BE49-F238E27FC236}">
                  <a16:creationId xmlns:a16="http://schemas.microsoft.com/office/drawing/2014/main" id="{11744D56-DFAC-439E-9DF1-4FE32E73B5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933155" y="3297652"/>
              <a:ext cx="2581288" cy="865497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实用程序</a:t>
              </a:r>
            </a:p>
          </p:txBody>
        </p:sp>
        <p:sp>
          <p:nvSpPr>
            <p:cNvPr id="22" name="Rectangle 26">
              <a:extLst>
                <a:ext uri="{FF2B5EF4-FFF2-40B4-BE49-F238E27FC236}">
                  <a16:creationId xmlns:a16="http://schemas.microsoft.com/office/drawing/2014/main" id="{168988C3-7619-46AF-88B1-822BB00D887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182957" y="2239823"/>
              <a:ext cx="2081684" cy="1057829"/>
            </a:xfrm>
            <a:prstGeom prst="rect">
              <a:avLst/>
            </a:prstGeom>
            <a:solidFill>
              <a:srgbClr val="FFFFFF"/>
            </a:solidFill>
            <a:ln w="12700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lIns="92075" tIns="46038" rIns="92075" bIns="46038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zh-CN" altLang="en-US" sz="2800" b="1" dirty="0"/>
                <a:t>应用程序</a:t>
              </a:r>
              <a:endParaRPr lang="zh-CN" altLang="en-US" sz="1600" dirty="0"/>
            </a:p>
          </p:txBody>
        </p:sp>
      </p:grpSp>
      <p:sp>
        <p:nvSpPr>
          <p:cNvPr id="2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A7CAE22A-2CEB-47C9-BA7D-1B77F6CC285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9576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8140" y="6477000"/>
            <a:ext cx="368135" cy="38100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14</a:t>
            </a:fld>
            <a:endParaRPr lang="zh-CN" altLang="en-US" dirty="0"/>
          </a:p>
        </p:txBody>
      </p:sp>
      <p:sp>
        <p:nvSpPr>
          <p:cNvPr id="30" name="Rectangle 2">
            <a:extLst>
              <a:ext uri="{FF2B5EF4-FFF2-40B4-BE49-F238E27FC236}">
                <a16:creationId xmlns:a16="http://schemas.microsoft.com/office/drawing/2014/main" id="{C8A805AA-D0CD-4CD5-89CB-66EAB267842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985930" y="69021"/>
            <a:ext cx="10515600" cy="1001096"/>
          </a:xfrm>
        </p:spPr>
        <p:txBody>
          <a:bodyPr>
            <a:normAutofit/>
          </a:bodyPr>
          <a:lstStyle/>
          <a:p>
            <a:pPr marL="457200" indent="-457200" algn="ctr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75000"/>
              <a:defRPr/>
            </a:pPr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1.1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操作系统做什么</a:t>
            </a:r>
            <a:endParaRPr lang="zh-CN" altLang="en-US" b="1" kern="1200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492109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文本框 4">
            <a:extLst>
              <a:ext uri="{FF2B5EF4-FFF2-40B4-BE49-F238E27FC236}">
                <a16:creationId xmlns:a16="http://schemas.microsoft.com/office/drawing/2014/main" id="{F6923F04-1339-46BF-8B3B-18D3817B2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03899" y="535507"/>
            <a:ext cx="11069619" cy="543123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457200" indent="-457200">
              <a:spcBef>
                <a:spcPct val="0"/>
              </a:spcBef>
              <a:buClr>
                <a:srgbClr val="000099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rgbClr val="000099"/>
                </a:solidFill>
              </a:rPr>
              <a:t>Resource sharing: OS as referee</a:t>
            </a: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Resource Allocation</a:t>
            </a:r>
            <a:b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各个进程共享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资源，</a:t>
            </a: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决定哪个进程获得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哪个资源</a:t>
            </a:r>
            <a:endParaRPr lang="en-US" altLang="zh-CN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Isolation</a:t>
            </a:r>
            <a:b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</a:b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将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不同进程隔离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，如果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某个进程出错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，不会影响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其它进程</a:t>
            </a:r>
            <a:endParaRPr lang="en-US" altLang="zh-CN" b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>
                <a:schemeClr val="tx1"/>
              </a:buClr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Communication</a:t>
            </a:r>
          </a:p>
          <a:p>
            <a:pPr marL="457200" indent="-457200">
              <a:spcBef>
                <a:spcPct val="0"/>
              </a:spcBef>
              <a:buClr>
                <a:srgbClr val="000099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b="1" dirty="0">
                <a:solidFill>
                  <a:srgbClr val="000099"/>
                </a:solidFill>
              </a:rPr>
              <a:t>Mask hardware limitations: OS as illusionist</a:t>
            </a: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幻觉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：无限的存储空间，每个程序完全独占处理器</a:t>
            </a:r>
            <a:endParaRPr lang="en-US" altLang="zh-CN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程序员无需考虑物理内存大小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处理器个数、有多少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程序</a:t>
            </a:r>
            <a:endParaRPr lang="en-US" altLang="zh-CN" b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457200" indent="-457200">
              <a:spcBef>
                <a:spcPct val="0"/>
              </a:spcBef>
              <a:buClr>
                <a:srgbClr val="000099"/>
              </a:buClr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solidFill>
                  <a:srgbClr val="000099"/>
                </a:solidFill>
              </a:rPr>
              <a:t>Common services: OS as glue</a:t>
            </a: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to </a:t>
            </a: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facilitate </a:t>
            </a: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sharing</a:t>
            </a:r>
          </a:p>
          <a:p>
            <a:pPr marL="1117600" lvl="2" indent="-260350">
              <a:lnSpc>
                <a:spcPct val="8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cut </a:t>
            </a: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and paste works uniformly across the system </a:t>
            </a:r>
            <a:endParaRPr lang="en-US" altLang="zh-CN" b="1" dirty="0" smtClean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117600" lvl="2" indent="-260350">
              <a:lnSpc>
                <a:spcPct val="80000"/>
              </a:lnSpc>
              <a:spcBef>
                <a:spcPts val="500"/>
              </a:spcBef>
              <a:buSzPct val="60000"/>
              <a:buFont typeface="Wingdings" panose="05000000000000000000" pitchFamily="2" charset="2"/>
              <a:buChar char="n"/>
              <a:defRPr/>
            </a:pP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a </a:t>
            </a: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file written by one application can be read by </a:t>
            </a: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another</a:t>
            </a:r>
            <a:endParaRPr lang="zh-CN" altLang="en-US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文本框 6">
            <a:extLst>
              <a:ext uri="{FF2B5EF4-FFF2-40B4-BE49-F238E27FC236}">
                <a16:creationId xmlns:a16="http://schemas.microsoft.com/office/drawing/2014/main" id="{ACEDFC34-E872-4951-ACAD-90A94B5700C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3609" y="6487882"/>
            <a:ext cx="8856663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Thomas Anderson </a:t>
            </a:r>
            <a:r>
              <a:rPr lang="zh-CN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，</a:t>
            </a:r>
            <a:r>
              <a:rPr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Operating Systems: Principles and Practice</a:t>
            </a:r>
            <a:endParaRPr lang="zh-CN" altLang="en-US" sz="2000" b="1" dirty="0">
              <a:latin typeface="Tahoma" panose="020B0604030504040204" pitchFamily="34" charset="0"/>
              <a:ea typeface="Tahoma" panose="020B0604030504040204" pitchFamily="34" charset="0"/>
              <a:cs typeface="Tahoma" panose="020B0604030504040204" pitchFamily="34" charset="0"/>
            </a:endParaRPr>
          </a:p>
        </p:txBody>
      </p:sp>
      <p:sp>
        <p:nvSpPr>
          <p:cNvPr id="10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5" name="矩形 1">
            <a:extLst>
              <a:ext uri="{FF2B5EF4-FFF2-40B4-BE49-F238E27FC236}">
                <a16:creationId xmlns:a16="http://schemas.microsoft.com/office/drawing/2014/main" id="{56FF898A-5CE4-4303-ADB4-4731231726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04307" y="0"/>
            <a:ext cx="4801314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操作系统的三个角色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-12727" y="6438410"/>
            <a:ext cx="416626" cy="41959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3856344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500"/>
                            </p:stCondLst>
                            <p:childTnLst>
                              <p:par>
                                <p:cTn id="36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EDD71E9-C11F-495F-9F0D-98FD664D121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697757" y="958911"/>
            <a:ext cx="4796481" cy="517546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zh-CN" altLang="en-US" b="1" dirty="0"/>
              <a:t>没用公认的标准定义</a:t>
            </a:r>
          </a:p>
        </p:txBody>
      </p:sp>
      <p:sp>
        <p:nvSpPr>
          <p:cNvPr id="4" name="矩形 1">
            <a:extLst>
              <a:ext uri="{FF2B5EF4-FFF2-40B4-BE49-F238E27FC236}">
                <a16:creationId xmlns:a16="http://schemas.microsoft.com/office/drawing/2014/main" id="{76E9C185-7808-44D3-9CF0-51EBAC711059}"/>
              </a:ext>
            </a:extLst>
          </p:cNvPr>
          <p:cNvSpPr>
            <a:spLocks noChangeArrowheads="1"/>
          </p:cNvSpPr>
          <p:nvPr/>
        </p:nvSpPr>
        <p:spPr bwMode="auto">
          <a:xfrm>
            <a:off x="4208302" y="0"/>
            <a:ext cx="3775393" cy="70788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fontAlgn="base" hangingPunct="1"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操作系统的定义</a:t>
            </a:r>
          </a:p>
        </p:txBody>
      </p:sp>
      <p:sp>
        <p:nvSpPr>
          <p:cNvPr id="5" name="Rectangle 1030">
            <a:extLst>
              <a:ext uri="{FF2B5EF4-FFF2-40B4-BE49-F238E27FC236}">
                <a16:creationId xmlns:a16="http://schemas.microsoft.com/office/drawing/2014/main" id="{9CAC47DA-1A58-4AC1-B87D-5B10D2C2947B}"/>
              </a:ext>
            </a:extLst>
          </p:cNvPr>
          <p:cNvSpPr txBox="1">
            <a:spLocks noChangeArrowheads="1"/>
          </p:cNvSpPr>
          <p:nvPr/>
        </p:nvSpPr>
        <p:spPr>
          <a:xfrm>
            <a:off x="1267262" y="1606379"/>
            <a:ext cx="9925600" cy="2716239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57150" cap="flat">
            <a:noFill/>
            <a:miter lim="800000"/>
            <a:headEnd/>
            <a:tailEnd/>
          </a:ln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lnSpc>
                <a:spcPts val="45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计算机系统中的一个系统软件，一些程序模块的集合</a:t>
            </a:r>
          </a:p>
          <a:p>
            <a:pPr>
              <a:lnSpc>
                <a:spcPts val="45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管理和控制计算机系统中的软件和硬件资源</a:t>
            </a:r>
          </a:p>
          <a:p>
            <a:pPr>
              <a:lnSpc>
                <a:spcPts val="45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合理地组织计算机工作流程</a:t>
            </a:r>
          </a:p>
          <a:p>
            <a:pPr>
              <a:lnSpc>
                <a:spcPts val="45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在计算机与其用户之间起到接口的</a:t>
            </a:r>
            <a:r>
              <a:rPr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作用</a:t>
            </a:r>
            <a:endParaRPr lang="zh-CN" altLang="en-US" sz="3200" b="1" dirty="0">
              <a:ea typeface="楷体_GB2312" pitchFamily="49" charset="-122"/>
            </a:endParaRPr>
          </a:p>
        </p:txBody>
      </p:sp>
      <p:sp>
        <p:nvSpPr>
          <p:cNvPr id="6" name="AutoShape 4">
            <a:hlinkClick r:id="rId2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1210079" y="4772892"/>
            <a:ext cx="9771835" cy="138396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计算机系统视角：资源分配器、控制程序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228600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用户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视角：用户接口（命令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接口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和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程序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接口）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endParaRPr lang="zh-CN" altLang="en-US" dirty="0"/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0" y="6492875"/>
            <a:ext cx="440376" cy="365125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70548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D49AD75-9FCF-45DB-B00B-B673930B7D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195451"/>
          </a:xfrm>
        </p:spPr>
        <p:txBody>
          <a:bodyPr>
            <a:normAutofit/>
          </a:bodyPr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Times New Roman" panose="02020603050405020304" pitchFamily="18" charset="0"/>
              </a:rPr>
              <a:t>1.2 </a:t>
            </a:r>
            <a:r>
              <a:rPr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计算机硬件系统的</a:t>
            </a:r>
            <a:r>
              <a:rPr lang="zh-CN" altLang="en-US" b="1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n-cs"/>
              </a:rPr>
              <a:t>组成</a:t>
            </a:r>
            <a:endParaRPr lang="zh-CN" altLang="en-US" b="1" dirty="0">
              <a:solidFill>
                <a:srgbClr val="C00000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n-cs"/>
            </a:endParaRP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06824976-6663-442D-9C14-89447657E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66256" y="1773047"/>
            <a:ext cx="6059487" cy="2994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11E936C1-4E30-4CAC-BB49-765B8094694D}"/>
              </a:ext>
            </a:extLst>
          </p:cNvPr>
          <p:cNvSpPr txBox="1"/>
          <p:nvPr/>
        </p:nvSpPr>
        <p:spPr>
          <a:xfrm>
            <a:off x="4191941" y="5144613"/>
            <a:ext cx="43281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图 </a:t>
            </a:r>
            <a:r>
              <a:rPr lang="en-US" altLang="zh-CN" sz="2000" b="1" dirty="0"/>
              <a:t>1-2  </a:t>
            </a:r>
            <a:r>
              <a:rPr lang="zh-CN" altLang="en-US" sz="2000" b="1" dirty="0" smtClean="0"/>
              <a:t>计算机系统</a:t>
            </a:r>
            <a:endParaRPr lang="zh-CN" altLang="en-US" sz="2000" b="1" dirty="0"/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文本框 6"/>
          <p:cNvSpPr txBox="1"/>
          <p:nvPr/>
        </p:nvSpPr>
        <p:spPr>
          <a:xfrm>
            <a:off x="0" y="6482834"/>
            <a:ext cx="4191941" cy="3751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9755567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F9E8A9AA-5EF2-453C-B4C6-5BEA9BFAF737}"/>
              </a:ext>
            </a:extLst>
          </p:cNvPr>
          <p:cNvSpPr/>
          <p:nvPr/>
        </p:nvSpPr>
        <p:spPr>
          <a:xfrm>
            <a:off x="2918669" y="0"/>
            <a:ext cx="6237206" cy="76944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1" lang="zh-CN" altLang="en-US" sz="44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计算机系统的</a:t>
            </a:r>
            <a:r>
              <a:rPr kumimoji="1" lang="zh-CN" altLang="en-US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运行（</a:t>
            </a:r>
            <a:r>
              <a:rPr kumimoji="1" lang="en-US" altLang="zh-CN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1</a:t>
            </a:r>
            <a:r>
              <a:rPr kumimoji="1" lang="zh-CN" altLang="en-US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）</a:t>
            </a:r>
            <a:endParaRPr kumimoji="1" lang="en-US" altLang="zh-CN" sz="44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6" name="矩形 5">
            <a:extLst>
              <a:ext uri="{FF2B5EF4-FFF2-40B4-BE49-F238E27FC236}">
                <a16:creationId xmlns:a16="http://schemas.microsoft.com/office/drawing/2014/main" id="{ECDBC7F1-3563-41A8-B510-A25238511659}"/>
              </a:ext>
            </a:extLst>
          </p:cNvPr>
          <p:cNvSpPr/>
          <p:nvPr/>
        </p:nvSpPr>
        <p:spPr>
          <a:xfrm>
            <a:off x="482212" y="1206599"/>
            <a:ext cx="12103796" cy="41857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28600" indent="-228600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一个或多个</a:t>
            </a: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CUP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若干设备控制器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公用总线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相连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17550" lvl="1" indent="-260350"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总线提供了对共享内存的访问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CUP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和设备并发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执行、竞争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访问内存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每种设备控制器负责一种特定的设备类型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每个设备控制器有一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个缓冲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寄存器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spcBef>
                <a:spcPts val="600"/>
              </a:spcBef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 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在主存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和缓冲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寄存器之间移动数据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设备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通过发出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行楷" panose="02010800040101010101" pitchFamily="2" charset="-122"/>
                <a:ea typeface="华文行楷" panose="02010800040101010101" pitchFamily="2" charset="-122"/>
                <a:cs typeface="Times New Roman" panose="02020603050405020304" pitchFamily="18" charset="0"/>
              </a:rPr>
              <a:t>中断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通知</a:t>
            </a: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已完成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</a:t>
            </a:r>
            <a:endParaRPr lang="en-US" altLang="zh-CN" sz="2800" dirty="0"/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27024"/>
            <a:ext cx="452251" cy="48095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127981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234624B-702C-4D69-B22B-2EADF9D81CA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7708" y="889796"/>
            <a:ext cx="11994292" cy="5819923"/>
          </a:xfrm>
        </p:spPr>
        <p:txBody>
          <a:bodyPr>
            <a:normAutofit fontScale="92500" lnSpcReduction="20000"/>
          </a:bodyPr>
          <a:lstStyle/>
          <a:p>
            <a:pPr>
              <a:buSzPct val="70000"/>
              <a:buFont typeface="Wingdings" panose="05000000000000000000" pitchFamily="2" charset="2"/>
              <a:buChar char="n"/>
            </a:pPr>
            <a:r>
              <a:rPr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开机时运行引导程序</a:t>
            </a:r>
            <a:endParaRPr lang="en-US" altLang="zh-CN" sz="39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位于</a:t>
            </a:r>
            <a:r>
              <a:rPr lang="en-US" altLang="zh-CN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ROM</a:t>
            </a: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或者</a:t>
            </a:r>
            <a:r>
              <a:rPr lang="en-US" altLang="zh-CN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EEPROM(</a:t>
            </a: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电可擦可编程只读内存）</a:t>
            </a:r>
            <a:endParaRPr lang="en-US" altLang="zh-CN" sz="35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初始化系统各个</a:t>
            </a: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组件、定位</a:t>
            </a: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外存硬盘上</a:t>
            </a: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en-US" altLang="zh-CN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内核</a:t>
            </a:r>
            <a:endParaRPr lang="en-US" altLang="zh-CN" sz="35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0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内核加载到内存开始运行</a:t>
            </a:r>
            <a:endParaRPr lang="en-US" altLang="zh-CN" sz="39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设置和</a:t>
            </a: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初始化数据结构、建立控制系统</a:t>
            </a:r>
            <a:r>
              <a:rPr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内核运行的系统</a:t>
            </a: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进程</a:t>
            </a:r>
            <a:endParaRPr lang="en-US" altLang="zh-CN" sz="35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等待事件发生</a:t>
            </a:r>
            <a:endParaRPr lang="en-US" altLang="zh-CN" sz="35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>
              <a:lnSpc>
                <a:spcPct val="11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9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现代</a:t>
            </a:r>
            <a:r>
              <a:rPr lang="en-US" altLang="zh-CN" sz="39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是中断驱动的</a:t>
            </a:r>
            <a:endParaRPr lang="en-US" altLang="zh-CN" sz="39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5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硬件中断：设备发出</a:t>
            </a:r>
            <a:r>
              <a:rPr kumimoji="1" lang="zh-CN" altLang="en-US" sz="35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endParaRPr lang="en-US" altLang="zh-CN" sz="35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5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软件中断</a:t>
            </a:r>
            <a:endParaRPr kumimoji="1" lang="en-US" altLang="zh-CN" sz="35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0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软件出错</a:t>
            </a:r>
            <a:r>
              <a:rPr lang="en-US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如除数为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0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、无效的存储访问</a:t>
            </a:r>
            <a:r>
              <a:rPr lang="en-US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、进程试图修改别的进程或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等</a:t>
            </a:r>
            <a:endParaRPr lang="en-US" altLang="en-US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lnSpc>
                <a:spcPct val="100000"/>
              </a:lnSpc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solidFill>
                  <a:srgbClr val="CC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系统调用</a:t>
            </a:r>
            <a:endParaRPr lang="en-US" altLang="en-US" sz="3500" b="1" dirty="0">
              <a:solidFill>
                <a:srgbClr val="CC00FF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174750" lvl="2" indent="-260350">
              <a:buSzPct val="60000"/>
              <a:buFont typeface="Wingdings" panose="05000000000000000000" pitchFamily="2" charset="2"/>
              <a:buChar char="n"/>
            </a:pPr>
            <a:endParaRPr lang="zh-CN" altLang="en-US" sz="26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943B6FD2-0E30-426F-940C-A4614C3CF0B0}"/>
              </a:ext>
            </a:extLst>
          </p:cNvPr>
          <p:cNvSpPr/>
          <p:nvPr/>
        </p:nvSpPr>
        <p:spPr>
          <a:xfrm>
            <a:off x="3033302" y="0"/>
            <a:ext cx="6125396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1" lang="zh-CN" altLang="en-US" sz="44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计算机系统的</a:t>
            </a:r>
            <a:r>
              <a:rPr kumimoji="1" lang="zh-CN" altLang="en-US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运行</a:t>
            </a:r>
            <a:r>
              <a:rPr kumimoji="1" lang="zh-CN" altLang="en-US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（</a:t>
            </a:r>
            <a:r>
              <a:rPr kumimoji="1" lang="en-US" altLang="zh-CN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2</a:t>
            </a:r>
            <a:r>
              <a:rPr kumimoji="1" lang="zh-CN" altLang="en-US" sz="44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）</a:t>
            </a:r>
            <a:endParaRPr kumimoji="1" lang="en-US" altLang="zh-CN" sz="44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34355" y="6533034"/>
            <a:ext cx="464126" cy="353369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19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58394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>
            <a:extLst>
              <a:ext uri="{FF2B5EF4-FFF2-40B4-BE49-F238E27FC236}">
                <a16:creationId xmlns:a16="http://schemas.microsoft.com/office/drawing/2014/main" id="{E6B7B960-5BA4-474C-A65A-3A356E126951}"/>
              </a:ext>
            </a:extLst>
          </p:cNvPr>
          <p:cNvSpPr/>
          <p:nvPr/>
        </p:nvSpPr>
        <p:spPr>
          <a:xfrm>
            <a:off x="4660353" y="0"/>
            <a:ext cx="2871299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>
              <a:spcBef>
                <a:spcPct val="0"/>
              </a:spcBef>
              <a:defRPr/>
            </a:pPr>
            <a:r>
              <a:rPr kumimoji="1" lang="zh-CN" altLang="en-US" sz="44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存 储 结 构</a:t>
            </a:r>
            <a:endParaRPr kumimoji="1" lang="en-US" altLang="zh-CN" sz="44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FA19E5AE-F950-4D34-BE8F-6EC195478EE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3673" y="1292515"/>
            <a:ext cx="11545823" cy="5204502"/>
          </a:xfrm>
          <a:prstGeom prst="rect">
            <a:avLst/>
          </a:prstGeom>
          <a:noFill/>
          <a:ln>
            <a:noFill/>
          </a:ln>
        </p:spPr>
        <p:txBody>
          <a:bodyPr wrap="square">
            <a:spAutoFit/>
          </a:bodyPr>
          <a:lstStyle>
            <a:lvl1pPr>
              <a:spcBef>
                <a:spcPct val="35000"/>
              </a:spcBef>
              <a:buClr>
                <a:srgbClr val="993300"/>
              </a:buClr>
              <a:buSzPct val="90000"/>
              <a:buFont typeface="Monotype Sorts" pitchFamily="-84" charset="2"/>
              <a:buChar char="n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1pPr>
            <a:lvl2pPr marL="742950" indent="-285750">
              <a:spcBef>
                <a:spcPct val="35000"/>
              </a:spcBef>
              <a:buClr>
                <a:srgbClr val="CC6600"/>
              </a:buClr>
              <a:buSzPct val="80000"/>
              <a:buFont typeface="Monotype Sorts" pitchFamily="-84" charset="2"/>
              <a:buChar char="l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2pPr>
            <a:lvl3pPr marL="1143000" indent="-228600">
              <a:spcBef>
                <a:spcPct val="35000"/>
              </a:spcBef>
              <a:buClr>
                <a:srgbClr val="009900"/>
              </a:buClr>
              <a:buSzPct val="75000"/>
              <a:buFont typeface="Webdings" panose="05030102010509060703" pitchFamily="18" charset="2"/>
              <a:buChar char="4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3pPr>
            <a:lvl4pPr marL="1600200" indent="-228600">
              <a:spcBef>
                <a:spcPct val="35000"/>
              </a:spcBef>
              <a:buClr>
                <a:schemeClr val="hlink"/>
              </a:buClr>
              <a:buSzPct val="75000"/>
              <a:buChar char="–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4pPr>
            <a:lvl5pPr marL="2057400" indent="-228600">
              <a:spcBef>
                <a:spcPct val="35000"/>
              </a:spcBef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5pPr>
            <a:lvl6pPr marL="25146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6pPr>
            <a:lvl7pPr marL="29718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7pPr>
            <a:lvl8pPr marL="34290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8pPr>
            <a:lvl9pPr marL="3886200" indent="-228600" eaLnBrk="0" fontAlgn="base" hangingPunct="0">
              <a:spcBef>
                <a:spcPct val="35000"/>
              </a:spcBef>
              <a:spcAft>
                <a:spcPct val="0"/>
              </a:spcAft>
              <a:buClr>
                <a:srgbClr val="FF0066"/>
              </a:buClr>
              <a:buSzPct val="75000"/>
              <a:buChar char="»"/>
              <a:defRPr kumimoji="1">
                <a:solidFill>
                  <a:schemeClr val="tx1"/>
                </a:solidFill>
                <a:latin typeface="Helvetica" panose="020B0604020202020204" pitchFamily="34" charset="0"/>
                <a:ea typeface="MS PGothic" panose="020B0600070205080204" pitchFamily="34" charset="-128"/>
              </a:defRPr>
            </a:lvl9pPr>
          </a:lstStyle>
          <a:p>
            <a:pPr marL="228600" lvl="1" indent="-228600">
              <a:lnSpc>
                <a:spcPct val="80000"/>
              </a:lnSpc>
              <a:spcBef>
                <a:spcPts val="10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en-US" altLang="zh-CN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Bit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（位、比特）</a:t>
            </a: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的基本单位，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所有其它计算机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存储都是由位组合而成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位数足够，计算机能够表示各种信息：数字、字母、图像、视频、音频、文档和程序。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80000"/>
              </a:lnSpc>
              <a:spcBef>
                <a:spcPts val="10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en-US" altLang="zh-CN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Byte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（字节）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、常用最小存储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单位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80000"/>
              </a:lnSpc>
              <a:spcBef>
                <a:spcPts val="1000"/>
              </a:spcBef>
              <a:buClrTx/>
              <a:buSzPct val="70000"/>
              <a:buFont typeface="Wingdings" panose="05000000000000000000" pitchFamily="2" charset="2"/>
              <a:buChar char="n"/>
            </a:pPr>
            <a:r>
              <a:rPr lang="en-US" altLang="zh-CN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Word</a:t>
            </a:r>
            <a:r>
              <a:rPr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字）</a:t>
            </a:r>
            <a:endParaRPr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给定计算机架构的常用存储单位，每个字由多个字节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组成。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如： 一个具有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位寄存器和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位内存寻址的计算机通常采用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64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位的字（</a:t>
            </a:r>
            <a:r>
              <a:rPr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8</a:t>
            </a:r>
            <a:r>
              <a:rPr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字节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spcBef>
                <a:spcPts val="500"/>
              </a:spcBef>
              <a:buClrTx/>
              <a:buSzPct val="60000"/>
              <a:buFont typeface="Wingdings" panose="05000000000000000000" pitchFamily="2" charset="2"/>
              <a:buChar char="n"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操作的基本单位。</a:t>
            </a:r>
            <a:endParaRPr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8" name="Text Box 6">
            <a:extLst>
              <a:ext uri="{FF2B5EF4-FFF2-40B4-BE49-F238E27FC236}">
                <a16:creationId xmlns:a16="http://schemas.microsoft.com/office/drawing/2014/main" id="{C3FE2E63-D28B-4947-8F5D-B816160C5F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659118"/>
            <a:ext cx="9144000" cy="769441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Aft>
                <a:spcPct val="0"/>
              </a:spcAft>
              <a:buClr>
                <a:schemeClr val="folHlink"/>
              </a:buClr>
              <a:buNone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存储定义与</a:t>
            </a:r>
            <a:r>
              <a:rPr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符号</a:t>
            </a:r>
            <a:r>
              <a:rPr lang="en-US" altLang="zh-CN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cs typeface="Times New Roman" panose="02020603050405020304" pitchFamily="18" charset="0"/>
              </a:rPr>
              <a:t>(1)</a:t>
            </a:r>
            <a:endParaRPr lang="zh-CN" altLang="en-US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404751" cy="343869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71897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Box 6">
            <a:extLst>
              <a:ext uri="{FF2B5EF4-FFF2-40B4-BE49-F238E27FC236}">
                <a16:creationId xmlns:a16="http://schemas.microsoft.com/office/drawing/2014/main" id="{69312DFB-3CFF-42A8-BECA-17B3052293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47054"/>
            <a:ext cx="9144000" cy="725648"/>
          </a:xfrm>
          <a:prstGeom prst="rect">
            <a:avLst/>
          </a:prstGeom>
          <a:noFill/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75000"/>
              <a:buFont typeface="Monotype Sorts" pitchFamily="2" charset="2"/>
              <a:buChar char="n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lr>
                <a:schemeClr val="folHlink"/>
              </a:buClr>
              <a:buSzPct val="75000"/>
              <a:buFont typeface="Monotype Sorts" pitchFamily="2" charset="2"/>
              <a:buChar char="u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lr>
                <a:schemeClr val="tx2"/>
              </a:buClr>
              <a:buSzPct val="65000"/>
              <a:buFont typeface="Monotype Sorts" pitchFamily="2" charset="2"/>
              <a:buChar char="F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lr>
                <a:schemeClr val="tx1"/>
              </a:buClr>
              <a:buSzPct val="100000"/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1"/>
              </a:buClr>
              <a:buSzPct val="100000"/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0" fontAlgn="base" hangingPunct="0">
              <a:lnSpc>
                <a:spcPct val="110000"/>
              </a:lnSpc>
              <a:spcAft>
                <a:spcPct val="0"/>
              </a:spcAft>
              <a:buClr>
                <a:schemeClr val="folHlink"/>
              </a:buClr>
              <a:buNone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存储定义与</a:t>
            </a:r>
            <a:r>
              <a:rPr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符号</a:t>
            </a:r>
            <a:r>
              <a:rPr lang="en-US" altLang="zh-CN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  <a:cs typeface="Times New Roman" panose="02020603050405020304" pitchFamily="18" charset="0"/>
              </a:rPr>
              <a:t>(2)</a:t>
            </a:r>
            <a:endParaRPr lang="zh-CN" altLang="en-US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5" name="Text Box 39">
            <a:extLst>
              <a:ext uri="{FF2B5EF4-FFF2-40B4-BE49-F238E27FC236}">
                <a16:creationId xmlns:a16="http://schemas.microsoft.com/office/drawing/2014/main" id="{6A2A3362-6871-4071-9A92-BC25D1C903B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259231" y="1592814"/>
            <a:ext cx="3245975" cy="353943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rgbClr val="FFABFF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b="1" dirty="0" smtClean="0"/>
              <a:t>2</a:t>
            </a:r>
            <a:r>
              <a:rPr lang="en-US" altLang="zh-CN" b="1" baseline="30000" dirty="0" smtClean="0"/>
              <a:t>10</a:t>
            </a:r>
            <a:r>
              <a:rPr lang="en-US" altLang="zh-CN" b="1" dirty="0" smtClean="0"/>
              <a:t> bytes = </a:t>
            </a:r>
            <a:r>
              <a:rPr lang="en-US" altLang="zh-CN" b="1" dirty="0" smtClean="0">
                <a:solidFill>
                  <a:srgbClr val="0033CC"/>
                </a:solidFill>
              </a:rPr>
              <a:t>1KB</a:t>
            </a:r>
            <a:r>
              <a:rPr lang="en-US" altLang="zh-CN" b="1" dirty="0" smtClean="0"/>
              <a:t>  </a:t>
            </a:r>
            <a:endParaRPr lang="en-US" altLang="zh-CN" b="1" dirty="0"/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b="1" dirty="0" smtClean="0"/>
              <a:t>2</a:t>
            </a:r>
            <a:r>
              <a:rPr lang="en-US" altLang="zh-CN" b="1" baseline="30000" dirty="0" smtClean="0"/>
              <a:t>20 </a:t>
            </a:r>
            <a:r>
              <a:rPr lang="en-US" altLang="zh-CN" b="1" dirty="0" smtClean="0"/>
              <a:t>bytes </a:t>
            </a:r>
            <a:r>
              <a:rPr lang="en-US" altLang="zh-CN" b="1" dirty="0"/>
              <a:t>= </a:t>
            </a:r>
            <a:r>
              <a:rPr lang="en-US" altLang="zh-CN" b="1" dirty="0" smtClean="0">
                <a:solidFill>
                  <a:srgbClr val="0033CC"/>
                </a:solidFill>
              </a:rPr>
              <a:t>1MB</a:t>
            </a:r>
            <a:endParaRPr lang="en-US" altLang="zh-CN" b="1" dirty="0">
              <a:solidFill>
                <a:srgbClr val="0033CC"/>
              </a:solidFill>
            </a:endParaRPr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b="1" dirty="0" smtClean="0"/>
              <a:t>2</a:t>
            </a:r>
            <a:r>
              <a:rPr lang="en-US" altLang="zh-CN" b="1" baseline="30000" dirty="0" smtClean="0"/>
              <a:t>30 </a:t>
            </a:r>
            <a:r>
              <a:rPr lang="en-US" altLang="zh-CN" b="1" dirty="0" smtClean="0"/>
              <a:t>bytes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33CC"/>
                </a:solidFill>
              </a:rPr>
              <a:t>1GB</a:t>
            </a:r>
            <a:r>
              <a:rPr lang="en-US" altLang="zh-CN" b="1" dirty="0"/>
              <a:t>     </a:t>
            </a:r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b="1" dirty="0" smtClean="0"/>
              <a:t>2</a:t>
            </a:r>
            <a:r>
              <a:rPr lang="en-US" altLang="zh-CN" b="1" baseline="30000" dirty="0" smtClean="0"/>
              <a:t>40 </a:t>
            </a:r>
            <a:r>
              <a:rPr lang="en-US" altLang="zh-CN" b="1" dirty="0" smtClean="0"/>
              <a:t>bytes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33CC"/>
                </a:solidFill>
              </a:rPr>
              <a:t>1TB </a:t>
            </a:r>
          </a:p>
          <a:p>
            <a:pPr>
              <a:spcBef>
                <a:spcPct val="50000"/>
              </a:spcBef>
              <a:buClrTx/>
              <a:buSzTx/>
              <a:buNone/>
            </a:pPr>
            <a:r>
              <a:rPr lang="en-US" altLang="zh-CN" b="1" dirty="0" smtClean="0"/>
              <a:t>2</a:t>
            </a:r>
            <a:r>
              <a:rPr lang="en-US" altLang="zh-CN" b="1" baseline="30000" dirty="0" smtClean="0"/>
              <a:t>50 </a:t>
            </a:r>
            <a:r>
              <a:rPr lang="en-US" altLang="zh-CN" b="1" dirty="0" smtClean="0"/>
              <a:t>bytes </a:t>
            </a:r>
            <a:r>
              <a:rPr lang="en-US" altLang="zh-CN" b="1" dirty="0"/>
              <a:t>= </a:t>
            </a:r>
            <a:r>
              <a:rPr lang="en-US" altLang="zh-CN" b="1" dirty="0">
                <a:solidFill>
                  <a:srgbClr val="0033CC"/>
                </a:solidFill>
              </a:rPr>
              <a:t>1PB</a:t>
            </a:r>
          </a:p>
        </p:txBody>
      </p:sp>
      <p:sp>
        <p:nvSpPr>
          <p:cNvPr id="6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369124" cy="347807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21</a:t>
            </a:fld>
            <a:endParaRPr lang="zh-CN" altLang="en-US"/>
          </a:p>
        </p:txBody>
      </p:sp>
      <p:sp>
        <p:nvSpPr>
          <p:cNvPr id="7" name="文本框 6"/>
          <p:cNvSpPr txBox="1"/>
          <p:nvPr/>
        </p:nvSpPr>
        <p:spPr>
          <a:xfrm>
            <a:off x="1852551" y="5575242"/>
            <a:ext cx="8585859" cy="646331"/>
          </a:xfrm>
          <a:prstGeom prst="rect">
            <a:avLst/>
          </a:prstGeom>
          <a:solidFill>
            <a:srgbClr val="E1E1FF"/>
          </a:solidFill>
        </p:spPr>
        <p:txBody>
          <a:bodyPr wrap="square" rtlCol="0">
            <a:spAutoFit/>
          </a:bodyPr>
          <a:lstStyle/>
          <a:p>
            <a:pPr lvl="0"/>
            <a:r>
              <a:rPr lang="zh-CN" altLang="en-US" sz="3600" b="1" dirty="0">
                <a:latin typeface="Verdana" panose="020B0604030504040204" pitchFamily="34" charset="0"/>
              </a:rPr>
              <a:t>圆</a:t>
            </a:r>
            <a:r>
              <a:rPr lang="zh-CN" altLang="en-US" sz="3600" b="1" dirty="0" smtClean="0">
                <a:latin typeface="Verdana" panose="020B0604030504040204" pitchFamily="34" charset="0"/>
              </a:rPr>
              <a:t>整：</a:t>
            </a:r>
            <a:r>
              <a:rPr lang="zh-CN" altLang="en-US" sz="3600" dirty="0" smtClean="0">
                <a:latin typeface="Verdana" panose="020B0604030504040204" pitchFamily="34" charset="0"/>
              </a:rPr>
              <a:t>  </a:t>
            </a:r>
            <a:r>
              <a:rPr lang="en-US" altLang="zh-CN" sz="3600" b="1" dirty="0" smtClean="0">
                <a:latin typeface="Bodoni MT" panose="02070603080606020203" pitchFamily="18" charset="0"/>
              </a:rPr>
              <a:t>1MB=10</a:t>
            </a:r>
            <a:r>
              <a:rPr lang="en-US" altLang="zh-CN" sz="3600" b="1" baseline="30000" dirty="0" smtClean="0">
                <a:latin typeface="Bodoni MT" panose="02070603080606020203" pitchFamily="18" charset="0"/>
              </a:rPr>
              <a:t>6</a:t>
            </a:r>
            <a:r>
              <a:rPr lang="zh-CN" altLang="en-US" sz="3600" b="1" dirty="0">
                <a:latin typeface="Bodoni MT" panose="02070603080606020203" pitchFamily="18" charset="0"/>
              </a:rPr>
              <a:t>字节 </a:t>
            </a:r>
            <a:r>
              <a:rPr lang="zh-CN" altLang="en-US" sz="3600" b="1" dirty="0" smtClean="0">
                <a:latin typeface="Bodoni MT" panose="02070603080606020203" pitchFamily="18" charset="0"/>
              </a:rPr>
              <a:t>      </a:t>
            </a:r>
            <a:r>
              <a:rPr lang="en-US" altLang="zh-CN" sz="3600" b="1" dirty="0" smtClean="0">
                <a:latin typeface="Bodoni MT" panose="02070603080606020203" pitchFamily="18" charset="0"/>
              </a:rPr>
              <a:t>1GB=10</a:t>
            </a:r>
            <a:r>
              <a:rPr lang="en-US" altLang="zh-CN" sz="3600" b="1" baseline="30000" dirty="0" smtClean="0">
                <a:latin typeface="Bodoni MT" panose="02070603080606020203" pitchFamily="18" charset="0"/>
              </a:rPr>
              <a:t>9</a:t>
            </a:r>
            <a:r>
              <a:rPr lang="zh-CN" altLang="en-US" sz="3600" b="1" dirty="0" smtClean="0">
                <a:latin typeface="Bodoni MT" panose="02070603080606020203" pitchFamily="18" charset="0"/>
              </a:rPr>
              <a:t>字节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000622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1000"/>
                            </p:stCondLst>
                            <p:childTnLst>
                              <p:par>
                                <p:cTn id="11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B54761A-E0EE-4FC4-B0A7-CBDE97C3CF83}"/>
              </a:ext>
            </a:extLst>
          </p:cNvPr>
          <p:cNvSpPr txBox="1">
            <a:spLocks noChangeArrowheads="1"/>
          </p:cNvSpPr>
          <p:nvPr/>
        </p:nvSpPr>
        <p:spPr>
          <a:xfrm>
            <a:off x="142505" y="1138238"/>
            <a:ext cx="11899074" cy="533876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内存高速缓存</a:t>
            </a:r>
            <a:endParaRPr kumimoji="1" lang="en-US" altLang="zh-CN" sz="39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</a:t>
            </a:r>
            <a:r>
              <a:rPr kumimoji="1" lang="zh-CN" altLang="en-US" sz="35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硬件实现，对</a:t>
            </a:r>
            <a:r>
              <a:rPr kumimoji="1" lang="zh-CN" altLang="en-US" sz="35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操作系统不可见</a:t>
            </a:r>
            <a:endParaRPr kumimoji="1" lang="zh-CN" altLang="en-US" sz="35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主存</a:t>
            </a:r>
            <a:r>
              <a:rPr kumimoji="1" lang="en-US" altLang="zh-CN" sz="28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(main memory)(Random Access Memory)</a:t>
            </a:r>
          </a:p>
          <a:p>
            <a:pPr marL="717550" lvl="1" indent="-260350">
              <a:lnSpc>
                <a:spcPct val="80000"/>
              </a:lnSpc>
              <a:buSzPct val="60000"/>
              <a:buFont typeface="Wingdings" panose="05000000000000000000" pitchFamily="2" charset="2"/>
              <a:buChar char="n"/>
            </a:pPr>
            <a:r>
              <a:rPr kumimoji="1" lang="en-US" altLang="zh-CN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能直接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访问</a:t>
            </a: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lnSpc>
                <a:spcPct val="80000"/>
              </a:lnSpc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易失的</a:t>
            </a: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9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二级存储：主存的扩充、大容量不易失</a:t>
            </a:r>
            <a:endParaRPr kumimoji="1" lang="en-US" altLang="zh-CN" sz="39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硬盘、磁盘</a:t>
            </a: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固态硬盘</a:t>
            </a: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174750" lvl="2" indent="-260350">
              <a:lnSpc>
                <a:spcPct val="80000"/>
              </a:lnSpc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低功耗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、无噪音、体积小、发热量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小，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读写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速度快</a:t>
            </a:r>
            <a:endParaRPr kumimoji="1" lang="en-US" altLang="zh-CN" sz="3200" b="1" dirty="0" smtClean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174750" lvl="2" indent="-260350">
              <a:lnSpc>
                <a:spcPct val="80000"/>
              </a:lnSpc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数据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丢失后几乎无法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恢复、寿命短</a:t>
            </a: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717550" lvl="1" indent="-260350">
              <a:buSzPct val="60000"/>
              <a:buFont typeface="Wingdings" panose="05000000000000000000" pitchFamily="2" charset="2"/>
              <a:buChar char="n"/>
            </a:pPr>
            <a:endParaRPr kumimoji="1" lang="en-US" altLang="zh-CN" sz="3200" b="1" dirty="0"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60798"/>
            <a:ext cx="404751" cy="365084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22</a:t>
            </a:fld>
            <a:endParaRPr lang="zh-CN" alt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8F9889A8-F2EB-4B31-B223-FD38D0633006}"/>
              </a:ext>
            </a:extLst>
          </p:cNvPr>
          <p:cNvSpPr txBox="1">
            <a:spLocks noChangeArrowheads="1"/>
          </p:cNvSpPr>
          <p:nvPr/>
        </p:nvSpPr>
        <p:spPr>
          <a:xfrm>
            <a:off x="1786128" y="113094"/>
            <a:ext cx="8229600" cy="576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defRPr/>
            </a:pPr>
            <a:r>
              <a:rPr kumimoji="1"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存储设备的</a:t>
            </a:r>
            <a:r>
              <a:rPr kumimoji="1"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层次（</a:t>
            </a:r>
            <a:r>
              <a:rPr kumimoji="1" lang="en-US" altLang="zh-CN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1</a:t>
            </a:r>
            <a:r>
              <a:rPr kumimoji="1"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）</a:t>
            </a:r>
            <a:endParaRPr kumimoji="1" lang="en-US" altLang="zh-CN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855658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:\Users\as668\Desktop\1_04.jpg">
            <a:extLst>
              <a:ext uri="{FF2B5EF4-FFF2-40B4-BE49-F238E27FC236}">
                <a16:creationId xmlns:a16="http://schemas.microsoft.com/office/drawing/2014/main" id="{91F02370-0EE3-4C18-A766-31B46F2F66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251" y="668297"/>
            <a:ext cx="5160556" cy="429559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Rectangle 2">
            <a:extLst>
              <a:ext uri="{FF2B5EF4-FFF2-40B4-BE49-F238E27FC236}">
                <a16:creationId xmlns:a16="http://schemas.microsoft.com/office/drawing/2014/main" id="{8F9889A8-F2EB-4B31-B223-FD38D0633006}"/>
              </a:ext>
            </a:extLst>
          </p:cNvPr>
          <p:cNvSpPr txBox="1">
            <a:spLocks noChangeArrowheads="1"/>
          </p:cNvSpPr>
          <p:nvPr/>
        </p:nvSpPr>
        <p:spPr>
          <a:xfrm>
            <a:off x="1786128" y="113094"/>
            <a:ext cx="8229600" cy="57626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 eaLnBrk="0" fontAlgn="base" hangingPunct="0">
              <a:lnSpc>
                <a:spcPct val="11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75000"/>
              <a:defRPr/>
            </a:pPr>
            <a:r>
              <a:rPr kumimoji="1"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存储设备的层次</a:t>
            </a:r>
            <a:r>
              <a:rPr kumimoji="1"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（</a:t>
            </a:r>
            <a:r>
              <a:rPr kumimoji="1" lang="en-US" altLang="zh-CN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2</a:t>
            </a:r>
            <a:r>
              <a:rPr kumimoji="1"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）</a:t>
            </a:r>
            <a:endParaRPr kumimoji="1" lang="en-US" altLang="zh-CN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0992A92D-3FED-4562-800D-651BF39FB349}"/>
              </a:ext>
            </a:extLst>
          </p:cNvPr>
          <p:cNvSpPr txBox="1"/>
          <p:nvPr/>
        </p:nvSpPr>
        <p:spPr>
          <a:xfrm>
            <a:off x="245432" y="5118980"/>
            <a:ext cx="46353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图 </a:t>
            </a:r>
            <a:r>
              <a:rPr lang="en-US" altLang="zh-CN" sz="2000" b="1" dirty="0"/>
              <a:t>1-4 </a:t>
            </a:r>
            <a:r>
              <a:rPr lang="zh-CN" altLang="en-US" sz="2000" b="1" dirty="0"/>
              <a:t>存储设备的层次</a:t>
            </a:r>
          </a:p>
        </p:txBody>
      </p:sp>
      <p:sp>
        <p:nvSpPr>
          <p:cNvPr id="7" name="Rectangle 3">
            <a:extLst>
              <a:ext uri="{FF2B5EF4-FFF2-40B4-BE49-F238E27FC236}">
                <a16:creationId xmlns:a16="http://schemas.microsoft.com/office/drawing/2014/main" id="{1B311DE0-E9A6-458F-8578-ACC11436199F}"/>
              </a:ext>
            </a:extLst>
          </p:cNvPr>
          <p:cNvSpPr txBox="1">
            <a:spLocks noChangeArrowheads="1"/>
          </p:cNvSpPr>
          <p:nvPr/>
        </p:nvSpPr>
        <p:spPr>
          <a:xfrm>
            <a:off x="4796482" y="2045983"/>
            <a:ext cx="7014518" cy="171119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5600" lvl="1" indent="-35560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存取速度越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快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 “位”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的价格越高。</a:t>
            </a:r>
          </a:p>
          <a:p>
            <a:pPr marL="355600" lvl="1" indent="-35560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容量越大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， “位”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的价格越低。</a:t>
            </a:r>
          </a:p>
          <a:p>
            <a:pPr marL="355600" lvl="1" indent="-355600">
              <a:buSzPct val="6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容量越大，存取速度越慢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。</a:t>
            </a:r>
            <a:endParaRPr lang="en-US" altLang="zh-CN" dirty="0"/>
          </a:p>
        </p:txBody>
      </p:sp>
      <p:sp>
        <p:nvSpPr>
          <p:cNvPr id="2" name="矩形 1"/>
          <p:cNvSpPr/>
          <p:nvPr/>
        </p:nvSpPr>
        <p:spPr>
          <a:xfrm>
            <a:off x="2210028" y="5614276"/>
            <a:ext cx="8523488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pPr algn="ctr"/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层次结构成功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的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关键：低层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宋体" panose="02010600030101010101" pitchFamily="2" charset="-122"/>
                <a:ea typeface="宋体" panose="02010600030101010101" pitchFamily="2" charset="-122"/>
              </a:rPr>
              <a:t>访问频率递减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10" name="AutoShape 4">
            <a:hlinkClick r:id="rId4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矩形 2"/>
          <p:cNvSpPr/>
          <p:nvPr/>
        </p:nvSpPr>
        <p:spPr>
          <a:xfrm>
            <a:off x="3586163" y="844449"/>
            <a:ext cx="860583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lvl="1" indent="0">
              <a:lnSpc>
                <a:spcPct val="100000"/>
              </a:lnSpc>
              <a:spcBef>
                <a:spcPts val="1000"/>
              </a:spcBef>
              <a:buSzPct val="70000"/>
              <a:buNone/>
            </a:pPr>
            <a:r>
              <a:rPr kumimoji="1"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存储器的三个特性</a:t>
            </a:r>
            <a:r>
              <a:rPr kumimoji="1" lang="en-US" altLang="zh-CN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3600" b="1" dirty="0" smtClean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容量</a:t>
            </a:r>
            <a:r>
              <a:rPr kumimoji="1" lang="zh-CN" altLang="en-US" sz="36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、存取速度和价格</a:t>
            </a:r>
            <a:endParaRPr kumimoji="1"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381000" cy="40071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8956417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500"/>
                            </p:stCondLst>
                            <p:childTnLst>
                              <p:par>
                                <p:cTn id="3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uiExpand="1" build="p" bldLvl="2"/>
      <p:bldP spid="2" grpId="0" animBg="1"/>
      <p:bldP spid="10" grpId="0" animBg="1"/>
      <p:bldP spid="3" grpId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D2BDB88-EEC7-4D51-9194-97AEE4C5455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4438" y="0"/>
            <a:ext cx="10515600" cy="837048"/>
          </a:xfrm>
        </p:spPr>
        <p:txBody>
          <a:bodyPr/>
          <a:lstStyle/>
          <a:p>
            <a:pPr algn="ctr"/>
            <a:r>
              <a:rPr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</a:rPr>
              <a:t>1.3 </a:t>
            </a:r>
            <a:r>
              <a:rPr kumimoji="1"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计算机系统的体系结构</a:t>
            </a:r>
            <a:endParaRPr lang="zh-CN" altLang="en-US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E620300-C9A5-4E18-9769-6D56B6CB8ACC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211811" y="1309322"/>
            <a:ext cx="11078227" cy="5221638"/>
          </a:xfrm>
        </p:spPr>
        <p:txBody>
          <a:bodyPr>
            <a:normAutofit fontScale="55000" lnSpcReduction="20000"/>
          </a:bodyPr>
          <a:lstStyle/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73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多处理器系统</a:t>
            </a:r>
            <a:endParaRPr kumimoji="1" lang="en-US" altLang="zh-CN" sz="73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  <a:p>
            <a:pPr marL="685800" lvl="2">
              <a:lnSpc>
                <a:spcPct val="10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65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优点：增加吞吐量、规模经济、增加可靠性</a:t>
            </a:r>
            <a:endParaRPr kumimoji="1" lang="en-US" altLang="zh-CN" sz="65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685800" lvl="2">
              <a:lnSpc>
                <a:spcPct val="10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65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非对称多处理器</a:t>
            </a:r>
            <a:endParaRPr kumimoji="1" lang="en-US" altLang="zh-CN" sz="65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主处理器：一</a:t>
            </a:r>
            <a:r>
              <a:rPr lang="zh-CN" altLang="en-US" sz="59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个、只</a:t>
            </a:r>
            <a:r>
              <a:rPr lang="zh-CN" altLang="en-US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运行</a:t>
            </a:r>
            <a:r>
              <a:rPr lang="en-US" altLang="zh-CN" sz="59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  <a:r>
              <a:rPr lang="zh-CN" altLang="en-US" sz="59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、管理</a:t>
            </a:r>
            <a:r>
              <a:rPr lang="zh-CN" altLang="en-US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整个系统的资源，为从处理器分配任务；</a:t>
            </a:r>
            <a:endParaRPr lang="en-US" altLang="zh-CN" sz="59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从处理器：可有多个，执行应用程序或</a:t>
            </a:r>
            <a:r>
              <a:rPr lang="en-US" altLang="zh-CN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I/O</a:t>
            </a:r>
            <a:r>
              <a:rPr lang="zh-CN" altLang="en-US" sz="59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处理；</a:t>
            </a:r>
            <a:endParaRPr lang="en-US" altLang="zh-CN" sz="59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59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不同性质任务的负载不均，可靠性不够高</a:t>
            </a:r>
            <a:r>
              <a:rPr lang="zh-CN" altLang="en-US" sz="59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2400" dirty="0"/>
          </a:p>
          <a:p>
            <a:pPr marL="685800" lvl="2">
              <a:lnSpc>
                <a:spcPct val="10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65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对称多处理器</a:t>
            </a:r>
            <a:r>
              <a:rPr kumimoji="1" lang="zh-CN" altLang="en-US" sz="51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</a:t>
            </a:r>
            <a:r>
              <a:rPr kumimoji="1" lang="en-US" altLang="zh-CN" sz="51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Symmetric </a:t>
            </a:r>
            <a:r>
              <a:rPr kumimoji="1" lang="en-US" altLang="zh-CN" sz="5100" b="1" dirty="0" err="1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MultiProcessing</a:t>
            </a:r>
            <a:r>
              <a:rPr kumimoji="1" lang="en-US" altLang="zh-CN" sz="51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5100" b="1" dirty="0">
                <a:solidFill>
                  <a:srgbClr val="0033CC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51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80000"/>
              <a:buFont typeface="Wingdings" panose="05000000000000000000" pitchFamily="2" charset="2"/>
              <a:buChar char="n"/>
            </a:pP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每个处理器都参与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完成</a:t>
            </a:r>
            <a:r>
              <a:rPr lang="en-US" altLang="zh-CN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的</a:t>
            </a: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所有任务，没有主从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关系；</a:t>
            </a:r>
            <a:endParaRPr lang="en-US" altLang="zh-CN" sz="51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80000"/>
              <a:buFont typeface="Wingdings" panose="05000000000000000000" pitchFamily="2" charset="2"/>
              <a:buChar char="n"/>
            </a:pP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任务负载较为平均，性能调节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容易；</a:t>
            </a:r>
            <a:endParaRPr lang="en-US" altLang="zh-CN" sz="51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80000"/>
              <a:buFont typeface="Wingdings" panose="05000000000000000000" pitchFamily="2" charset="2"/>
              <a:buChar char="n"/>
            </a:pP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几乎所有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现代</a:t>
            </a:r>
            <a:r>
              <a:rPr lang="en-US" altLang="zh-CN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支持</a:t>
            </a: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，如</a:t>
            </a:r>
            <a:r>
              <a:rPr lang="en-US" altLang="zh-CN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Windows Mac OSX</a:t>
            </a:r>
            <a:r>
              <a:rPr lang="zh-CN" altLang="en-US" sz="51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和</a:t>
            </a:r>
            <a:r>
              <a:rPr lang="en-US" altLang="zh-CN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Linux</a:t>
            </a:r>
            <a:r>
              <a:rPr lang="zh-CN" altLang="en-US" sz="51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。</a:t>
            </a:r>
            <a:endParaRPr lang="en-US" altLang="zh-CN" sz="51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</p:txBody>
      </p:sp>
      <p:sp>
        <p:nvSpPr>
          <p:cNvPr id="5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4E620300-C9A5-4E18-9769-6D56B6CB8ACC}"/>
              </a:ext>
            </a:extLst>
          </p:cNvPr>
          <p:cNvSpPr txBox="1">
            <a:spLocks noChangeArrowheads="1"/>
          </p:cNvSpPr>
          <p:nvPr/>
        </p:nvSpPr>
        <p:spPr>
          <a:xfrm>
            <a:off x="211811" y="621950"/>
            <a:ext cx="4845964" cy="687372"/>
          </a:xfrm>
          <a:prstGeom prst="rect">
            <a:avLst/>
          </a:prstGeom>
        </p:spPr>
        <p:txBody>
          <a:bodyPr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228600" lvl="1">
              <a:lnSpc>
                <a:spcPct val="10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单处理器系统</a:t>
            </a:r>
            <a:endParaRPr kumimoji="1" lang="en-US" altLang="zh-CN" sz="40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-12640" y="6477000"/>
            <a:ext cx="38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  <p:sp>
        <p:nvSpPr>
          <p:cNvPr id="8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3498" y="6344084"/>
            <a:ext cx="416626" cy="317582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47432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1000"/>
                            </p:stCondLst>
                            <p:childTnLst>
                              <p:par>
                                <p:cTn id="53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E3C937-9105-4A08-BE95-66864F3F16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13564" y="0"/>
            <a:ext cx="10515600" cy="849900"/>
          </a:xfrm>
        </p:spPr>
        <p:txBody>
          <a:bodyPr>
            <a:normAutofit/>
          </a:bodyPr>
          <a:lstStyle/>
          <a:p>
            <a:pPr lvl="1" algn="ctr" rtl="0" fontAlgn="base">
              <a:spcBef>
                <a:spcPct val="0"/>
              </a:spcBef>
              <a:spcAft>
                <a:spcPct val="0"/>
              </a:spcAft>
              <a:buSzPct val="70000"/>
              <a:defRPr/>
            </a:pPr>
            <a:r>
              <a:rPr kumimoji="1" lang="zh-CN" altLang="en-US" sz="4000" b="1" kern="12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集群系统</a:t>
            </a:r>
            <a:r>
              <a:rPr kumimoji="1" lang="zh-CN" altLang="en-US" sz="2800" b="1" kern="12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（</a:t>
            </a:r>
            <a:r>
              <a:rPr kumimoji="1" lang="en-US" altLang="zh-CN" sz="2800" b="1" kern="12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Clustered Systems</a:t>
            </a:r>
            <a:r>
              <a:rPr kumimoji="1" lang="zh-CN" altLang="en-US" sz="2800" b="1" kern="12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）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39C576E-FEFC-426B-94D0-F35D5B47DB1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729" y="756181"/>
            <a:ext cx="11841271" cy="6333388"/>
          </a:xfrm>
        </p:spPr>
        <p:txBody>
          <a:bodyPr>
            <a:normAutofit fontScale="70000" lnSpcReduction="20000"/>
          </a:bodyPr>
          <a:lstStyle/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由两个或多个独立的系统（或节点）组成</a:t>
            </a:r>
            <a:endParaRPr kumimoji="1" lang="en-US" altLang="zh-CN" sz="4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每个节点可为单处理器系统或多核系统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集群计算机共享存储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高可用性</a:t>
            </a:r>
            <a:endParaRPr kumimoji="1" lang="en-US" altLang="zh-CN" sz="4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集群中的一个或多个系统出错，仍可继续提供服务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对称的</a:t>
            </a:r>
            <a:endParaRPr kumimoji="1" lang="en-US" altLang="zh-CN" sz="4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两个或多个主机都运行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应用程序、并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互相监视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充分使用现有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硬件、当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多个应用程序可供执行时，更有效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非对称的</a:t>
            </a:r>
            <a:endParaRPr kumimoji="1" lang="en-US" altLang="zh-CN" sz="4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一台处于热备份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模式，另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一台运行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应用程序</a:t>
            </a:r>
            <a:endParaRPr lang="en-US" altLang="zh-CN" sz="35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228600" lvl="1">
              <a:lnSpc>
                <a:spcPct val="12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4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</a:t>
            </a:r>
            <a:endParaRPr kumimoji="1" lang="en-US" altLang="zh-CN" sz="4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高性能计算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(High-Performance Computing 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HPC</a:t>
            </a:r>
            <a:r>
              <a:rPr lang="en-US" altLang="zh-CN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：并行计算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（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 parallelization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），将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一个程序分成多个部分，并行运行在各个核上</a:t>
            </a:r>
            <a:endParaRPr lang="en-US" altLang="zh-CN" sz="3500" b="1" dirty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lvl="2">
              <a:buSzPct val="70000"/>
              <a:buFont typeface="Wingdings" panose="05000000000000000000" pitchFamily="2" charset="2"/>
              <a:buChar char="n"/>
            </a:pPr>
            <a:r>
              <a:rPr lang="zh-CN" altLang="en-US" sz="35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分布锁管理器</a:t>
            </a:r>
            <a:r>
              <a:rPr lang="en-US" altLang="zh-CN" sz="3500" b="1" dirty="0">
                <a:solidFill>
                  <a:srgbClr val="000099"/>
                </a:solidFill>
                <a:latin typeface="华文楷体" panose="02010600040101010101" pitchFamily="2" charset="-122"/>
                <a:ea typeface="华文楷体" panose="02010600040101010101" pitchFamily="2" charset="-122"/>
              </a:rPr>
              <a:t>(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Distributed Lock </a:t>
            </a:r>
            <a:r>
              <a:rPr lang="en-US" altLang="zh-CN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Manager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，</a:t>
            </a:r>
            <a:r>
              <a:rPr lang="en-US" altLang="zh-CN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 </a:t>
            </a:r>
            <a:r>
              <a:rPr lang="en-US" altLang="zh-CN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DLM</a:t>
            </a:r>
            <a:r>
              <a:rPr lang="en-US" altLang="zh-CN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)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：多</a:t>
            </a:r>
            <a:r>
              <a:rPr lang="zh-CN" altLang="en-US" sz="35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个主机访问共享存储的同一</a:t>
            </a:r>
            <a:r>
              <a:rPr lang="zh-CN" altLang="en-US" sz="35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数据</a:t>
            </a:r>
            <a:endParaRPr lang="zh-CN" altLang="en-US" dirty="0"/>
          </a:p>
        </p:txBody>
      </p:sp>
      <p:sp>
        <p:nvSpPr>
          <p:cNvPr id="5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613566"/>
            <a:ext cx="439388" cy="244434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42449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1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2" presetID="42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1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AE24DE-2AB2-4F30-8868-661444A6FA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86008" y="0"/>
            <a:ext cx="10515600" cy="858982"/>
          </a:xfrm>
        </p:spPr>
        <p:txBody>
          <a:bodyPr/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1.4  </a:t>
            </a:r>
            <a:r>
              <a:rPr kumimoji="1"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操作系统的执行</a:t>
            </a:r>
            <a:endParaRPr lang="zh-CN" altLang="en-US" dirty="0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9C3FBF21-BF5C-4007-AB41-9B3DDF3EA9D9}"/>
              </a:ext>
            </a:extLst>
          </p:cNvPr>
          <p:cNvSpPr txBox="1"/>
          <p:nvPr/>
        </p:nvSpPr>
        <p:spPr>
          <a:xfrm>
            <a:off x="650880" y="1194237"/>
            <a:ext cx="11352810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和多个进程共享计算机系统的软硬件资源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，</a:t>
            </a:r>
            <a:endParaRPr lang="en-US" altLang="zh-CN" sz="36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为确保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的正确运行，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区分</a:t>
            </a:r>
            <a:r>
              <a:rPr lang="en-US" altLang="zh-CN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OS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代码和用户代码的运行。</a:t>
            </a:r>
            <a:endParaRPr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1647412" y="4013871"/>
            <a:ext cx="8792792" cy="646331"/>
          </a:xfrm>
          <a:prstGeom prst="rect">
            <a:avLst/>
          </a:prstGeom>
          <a:solidFill>
            <a:srgbClr val="FFFF00"/>
          </a:solidFill>
        </p:spPr>
        <p:txBody>
          <a:bodyPr wrap="none">
            <a:spAutoFit/>
          </a:bodyPr>
          <a:lstStyle/>
          <a:p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多数系统将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处理器状态划分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: 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管态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、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目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态。</a:t>
            </a:r>
            <a:endParaRPr lang="zh-CN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宋体" panose="02010600030101010101" pitchFamily="2" charset="-122"/>
              <a:cs typeface="Times New Roman" panose="02020603050405020304" pitchFamily="18" charset="0"/>
            </a:endParaRPr>
          </a:p>
        </p:txBody>
      </p:sp>
      <p:sp>
        <p:nvSpPr>
          <p:cNvPr id="7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8" name="文本框 7"/>
          <p:cNvSpPr txBox="1"/>
          <p:nvPr/>
        </p:nvSpPr>
        <p:spPr>
          <a:xfrm>
            <a:off x="-12640" y="6477000"/>
            <a:ext cx="38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73314874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6E5968B-12B2-4433-BE08-CA9992CDDE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3901"/>
            <a:ext cx="10515600" cy="849900"/>
          </a:xfrm>
        </p:spPr>
        <p:txBody>
          <a:bodyPr>
            <a:normAutofit/>
          </a:bodyPr>
          <a:lstStyle/>
          <a:p>
            <a:pPr algn="ctr"/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双重</a:t>
            </a:r>
            <a:r>
              <a:rPr kumimoji="1" lang="zh-CN" altLang="en-US" sz="40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模式的</a:t>
            </a: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执行</a:t>
            </a:r>
          </a:p>
        </p:txBody>
      </p:sp>
      <p:sp>
        <p:nvSpPr>
          <p:cNvPr id="5" name="Text Box 22">
            <a:extLst>
              <a:ext uri="{FF2B5EF4-FFF2-40B4-BE49-F238E27FC236}">
                <a16:creationId xmlns:a16="http://schemas.microsoft.com/office/drawing/2014/main" id="{A39DC513-C2D3-42E3-9EE4-46BE7A01F8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524000" y="1014358"/>
            <a:ext cx="91440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根据运行程序对资源和机器指令的使用权限划分</a:t>
            </a: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D1AA1418-8060-4E37-8F5C-33046E081C7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114816" y="1875784"/>
            <a:ext cx="10665505" cy="417550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lvl="1" indent="-228600">
              <a:spcBef>
                <a:spcPts val="10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</a:t>
            </a:r>
            <a:r>
              <a:rPr kumimoji="1" lang="zh-CN" altLang="en-US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态（</a:t>
            </a:r>
            <a:r>
              <a:rPr lang="zh-CN" altLang="en-US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特权</a:t>
            </a:r>
            <a:r>
              <a:rPr lang="zh-CN" altLang="en-US" sz="32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态、系统态、内核</a:t>
            </a:r>
            <a:r>
              <a:rPr lang="zh-CN" altLang="en-US" sz="32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态）</a:t>
            </a:r>
            <a:endParaRPr kumimoji="1" lang="en-US" altLang="zh-CN" sz="32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143000" lvl="2" indent="-228600"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lang="en-US" altLang="zh-CN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OS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程序运行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时的状态，较高的特权</a:t>
            </a:r>
            <a:r>
              <a:rPr lang="zh-CN" altLang="en-US" sz="3200" b="1" dirty="0" smtClean="0">
                <a:latin typeface="华文楷体" panose="02010600040101010101" pitchFamily="2" charset="-122"/>
                <a:ea typeface="华文楷体" panose="02010600040101010101" pitchFamily="2" charset="-122"/>
              </a:rPr>
              <a:t>级别</a:t>
            </a:r>
            <a:endParaRPr lang="en-US" altLang="zh-CN" sz="3200" b="1" dirty="0" smtClean="0">
              <a:latin typeface="华文楷体" panose="02010600040101010101" pitchFamily="2" charset="-122"/>
              <a:ea typeface="华文楷体" panose="02010600040101010101" pitchFamily="2" charset="-122"/>
            </a:endParaRPr>
          </a:p>
          <a:p>
            <a:pPr marL="1143000" lvl="2" indent="-228600"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 smtClean="0">
                <a:latin typeface="+mj-lt"/>
                <a:ea typeface="楷体" pitchFamily="49" charset="-122"/>
              </a:rPr>
              <a:t>可以</a:t>
            </a:r>
            <a:r>
              <a:rPr lang="zh-CN" altLang="en-US" sz="3200" b="1" dirty="0">
                <a:latin typeface="+mj-lt"/>
                <a:ea typeface="楷体" pitchFamily="49" charset="-122"/>
              </a:rPr>
              <a:t>执行所有的指令（包括</a:t>
            </a:r>
            <a:r>
              <a:rPr lang="zh-CN" altLang="en-US" sz="3200" b="1" dirty="0">
                <a:solidFill>
                  <a:srgbClr val="CC0099"/>
                </a:solidFill>
                <a:latin typeface="+mj-lt"/>
                <a:ea typeface="楷体" pitchFamily="49" charset="-122"/>
              </a:rPr>
              <a:t>特权指令</a:t>
            </a:r>
            <a:r>
              <a:rPr lang="zh-CN" altLang="en-US" sz="3200" b="1" dirty="0">
                <a:latin typeface="+mj-lt"/>
                <a:ea typeface="楷体" pitchFamily="49" charset="-122"/>
              </a:rPr>
              <a:t>）、使用所有的资源，并具有</a:t>
            </a:r>
            <a:r>
              <a:rPr lang="zh-CN" altLang="en-US" sz="3200" b="1" dirty="0">
                <a:solidFill>
                  <a:srgbClr val="FF0000"/>
                </a:solidFill>
                <a:latin typeface="+mj-lt"/>
                <a:ea typeface="楷体" pitchFamily="49" charset="-122"/>
              </a:rPr>
              <a:t>改变处理器状态</a:t>
            </a:r>
            <a:r>
              <a:rPr lang="zh-CN" altLang="en-US" sz="3200" b="1" dirty="0">
                <a:latin typeface="+mj-lt"/>
                <a:ea typeface="楷体" pitchFamily="49" charset="-122"/>
              </a:rPr>
              <a:t>的能力</a:t>
            </a:r>
            <a:r>
              <a:rPr lang="zh-CN" altLang="en-US" sz="3200" dirty="0">
                <a:latin typeface="+mj-lt"/>
                <a:ea typeface="楷体" pitchFamily="49" charset="-122"/>
              </a:rPr>
              <a:t>。</a:t>
            </a:r>
            <a:endParaRPr lang="en-US" altLang="zh-CN" sz="3200" dirty="0">
              <a:latin typeface="+mj-lt"/>
              <a:ea typeface="楷体" pitchFamily="49" charset="-122"/>
            </a:endParaRPr>
          </a:p>
          <a:p>
            <a:pPr marL="228600" lvl="1" indent="-228600">
              <a:lnSpc>
                <a:spcPts val="4000"/>
              </a:lnSpc>
              <a:spcBef>
                <a:spcPts val="1000"/>
              </a:spcBef>
              <a:buClr>
                <a:srgbClr val="000099"/>
              </a:buClr>
              <a:buSzPct val="8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</a:t>
            </a:r>
            <a:r>
              <a:rPr kumimoji="1"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态</a:t>
            </a:r>
            <a:r>
              <a:rPr kumimoji="1" lang="zh-CN" altLang="en-US" sz="28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（普通态、普态、用户态）</a:t>
            </a:r>
            <a:endParaRPr kumimoji="1" lang="en-US" altLang="zh-CN" sz="28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1143000" lvl="2" indent="-228600">
              <a:lnSpc>
                <a:spcPts val="3000"/>
              </a:lnSpc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用户程序运行时的状态，较低的特权级别；</a:t>
            </a:r>
          </a:p>
          <a:p>
            <a:pPr marL="1143000" lvl="2" indent="-228600">
              <a:lnSpc>
                <a:spcPts val="3000"/>
              </a:lnSpc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禁止使用</a:t>
            </a:r>
            <a:r>
              <a:rPr lang="zh-CN" altLang="en-US" sz="3200" b="1" dirty="0">
                <a:solidFill>
                  <a:srgbClr val="CC0099"/>
                </a:solidFill>
                <a:latin typeface="+mj-lt"/>
                <a:ea typeface="楷体" pitchFamily="49" charset="-122"/>
              </a:rPr>
              <a:t>特权指令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，不能直接使用系统资源与改变</a:t>
            </a:r>
            <a:r>
              <a:rPr lang="en-US" altLang="zh-CN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CPU</a:t>
            </a:r>
            <a:r>
              <a:rPr lang="zh-CN" altLang="en-US" sz="3200" b="1" dirty="0">
                <a:latin typeface="华文楷体" panose="02010600040101010101" pitchFamily="2" charset="-122"/>
                <a:ea typeface="华文楷体" panose="02010600040101010101" pitchFamily="2" charset="-122"/>
              </a:rPr>
              <a:t>状态，只能访问用户程序所在的存储空间。</a:t>
            </a:r>
          </a:p>
        </p:txBody>
      </p:sp>
      <p:sp>
        <p:nvSpPr>
          <p:cNvPr id="9" name="AutoShape 27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584208F2-9350-4709-804C-AB2D6D3D7F99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445415"/>
            <a:ext cx="440377" cy="412585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797248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500"/>
                            </p:stCondLst>
                            <p:childTnLst>
                              <p:par>
                                <p:cTn id="3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">
            <a:extLst>
              <a:ext uri="{FF2B5EF4-FFF2-40B4-BE49-F238E27FC236}">
                <a16:creationId xmlns:a16="http://schemas.microsoft.com/office/drawing/2014/main" id="{0C0E0AFD-64D9-4D9B-8ACC-745F2BD4BA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324097" y="1301235"/>
            <a:ext cx="10591814" cy="293208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访问某些硬件资源的指令</a:t>
            </a: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;</a:t>
            </a:r>
          </a:p>
          <a:p>
            <a:pPr marL="685800" lvl="2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</a:t>
            </a: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设备直接访问的指令，如磁盘、打印机等；</a:t>
            </a:r>
            <a:endParaRPr kumimoji="1"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对内存管理状态进行操作的指令；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某些特殊的状态位的设置指令；</a:t>
            </a:r>
          </a:p>
          <a:p>
            <a:pPr marL="228600" lvl="1" indent="-228600">
              <a:lnSpc>
                <a:spcPct val="80000"/>
              </a:lnSpc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停机指令。</a:t>
            </a:r>
            <a:endParaRPr kumimoji="1" lang="zh-CN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Text Box 3">
            <a:extLst>
              <a:ext uri="{FF2B5EF4-FFF2-40B4-BE49-F238E27FC236}">
                <a16:creationId xmlns:a16="http://schemas.microsoft.com/office/drawing/2014/main" id="{17CC8814-B477-48A7-967A-91AA7ECCB41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465388" y="164428"/>
            <a:ext cx="5279009" cy="646331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特权指令（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受保护的指令）</a:t>
            </a:r>
          </a:p>
        </p:txBody>
      </p:sp>
      <p:sp>
        <p:nvSpPr>
          <p:cNvPr id="7" name="矩形 4">
            <a:extLst>
              <a:ext uri="{FF2B5EF4-FFF2-40B4-BE49-F238E27FC236}">
                <a16:creationId xmlns:a16="http://schemas.microsoft.com/office/drawing/2014/main" id="{014A3144-6632-44DF-B8B5-FD98A6B54EEA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20987" y="5023488"/>
            <a:ext cx="5280613" cy="646331"/>
          </a:xfrm>
          <a:prstGeom prst="rect">
            <a:avLst/>
          </a:prstGeom>
          <a:solidFill>
            <a:srgbClr val="FFFF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只有操作系统才有权使用</a:t>
            </a:r>
          </a:p>
        </p:txBody>
      </p:sp>
      <p:sp>
        <p:nvSpPr>
          <p:cNvPr id="8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444FD375-7ABD-4EA4-8B68-B7FEE17FDC2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C9E7061-309D-4762-B454-0E29FADD7B3B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346276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>
            <a:extLst>
              <a:ext uri="{FF2B5EF4-FFF2-40B4-BE49-F238E27FC236}">
                <a16:creationId xmlns:a16="http://schemas.microsoft.com/office/drawing/2014/main" id="{7B23DE71-1411-4D07-BC42-C5035887194D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16355" y="91084"/>
            <a:ext cx="6096541" cy="646331"/>
          </a:xfrm>
          <a:prstGeom prst="rect">
            <a:avLst/>
          </a:prstGeom>
          <a:noFill/>
          <a:ln>
            <a:noFill/>
          </a:ln>
          <a:extLst/>
        </p:spPr>
        <p:txBody>
          <a:bodyPr wrap="none" anchor="ctr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x86</a:t>
            </a:r>
            <a:r>
              <a:rPr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系列处理器的执行模式</a:t>
            </a:r>
            <a:endParaRPr lang="en-US" altLang="zh-CN" sz="40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ea typeface="楷体_GB2312" pitchFamily="49" charset="-122"/>
              <a:cs typeface="+mj-cs"/>
            </a:endParaRP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B7ECB733-C1C5-401E-903F-7387F134E2EB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6899" y="1684359"/>
            <a:ext cx="11325101" cy="337528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从</a:t>
            </a: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R0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到</a:t>
            </a: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R3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特权能力依次降低</a:t>
            </a:r>
          </a:p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R0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：双状态系统的管态，</a:t>
            </a:r>
            <a:r>
              <a:rPr kumimoji="1"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运行</a:t>
            </a:r>
            <a:r>
              <a:rPr kumimoji="1" lang="en-US" altLang="zh-CN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核心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代码</a:t>
            </a:r>
          </a:p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R3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：目态</a:t>
            </a:r>
          </a:p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R1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：运行关键设备驱动程序和</a:t>
            </a: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I/O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处理例程</a:t>
            </a:r>
            <a:endParaRPr kumimoji="1"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R2</a:t>
            </a:r>
            <a:r>
              <a:rPr kumimoji="1"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：运行其它受保护共享代码，如语言系统运行环境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E5AA1E88-F008-411D-8CC0-054C1301EE2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60844" y="5283221"/>
            <a:ext cx="8143875" cy="1200329"/>
          </a:xfrm>
          <a:prstGeom prst="rect">
            <a:avLst/>
          </a:prstGeom>
          <a:solidFill>
            <a:srgbClr val="FFFF00"/>
          </a:solidFill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多数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Unix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Linux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以及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Windows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系列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algn="ctr" eaLnBrk="1" hangingPunct="1">
              <a:defRPr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只用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R0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和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R3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两个特权级别</a:t>
            </a:r>
          </a:p>
        </p:txBody>
      </p:sp>
      <p:sp>
        <p:nvSpPr>
          <p:cNvPr id="8" name="矩形 6">
            <a:extLst>
              <a:ext uri="{FF2B5EF4-FFF2-40B4-BE49-F238E27FC236}">
                <a16:creationId xmlns:a16="http://schemas.microsoft.com/office/drawing/2014/main" id="{346917AB-47DF-46EE-AB48-A171CDD0C6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221973" y="903110"/>
            <a:ext cx="1061495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ctr" eaLnBrk="1" hangingPunct="1">
              <a:spcBef>
                <a:spcPct val="20000"/>
              </a:spcBef>
              <a:defRPr/>
            </a:pPr>
            <a:r>
              <a:rPr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386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486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Pentium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系列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支持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四</a:t>
            </a:r>
            <a:r>
              <a:rPr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个</a:t>
            </a: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处理器特权级别</a:t>
            </a:r>
          </a:p>
        </p:txBody>
      </p:sp>
      <p:sp>
        <p:nvSpPr>
          <p:cNvPr id="9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B30E26E8-D9C9-4982-BE02-1F2F3972A7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99794"/>
            <a:ext cx="452252" cy="25820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05788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3">
            <a:extLst>
              <a:ext uri="{FF2B5EF4-FFF2-40B4-BE49-F238E27FC236}">
                <a16:creationId xmlns:a16="http://schemas.microsoft.com/office/drawing/2014/main" id="{45A8267E-1507-4CB8-AD5C-8A0B85A6D79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232465" y="191489"/>
            <a:ext cx="7643813" cy="1200329"/>
          </a:xfrm>
          <a:prstGeom prst="rect">
            <a:avLst/>
          </a:prstGeom>
          <a:solidFill>
            <a:srgbClr val="D6FEDD"/>
          </a:solidFill>
          <a:ln w="635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 eaLnBrk="1" hangingPunct="1">
              <a:defRPr/>
            </a:pP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CPU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如何判断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当前运行的程序是</a:t>
            </a:r>
            <a:b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</a:b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系统程序还是用户程序呢？</a:t>
            </a:r>
          </a:p>
        </p:txBody>
      </p:sp>
      <p:sp>
        <p:nvSpPr>
          <p:cNvPr id="6" name="Text Box 4">
            <a:extLst>
              <a:ext uri="{FF2B5EF4-FFF2-40B4-BE49-F238E27FC236}">
                <a16:creationId xmlns:a16="http://schemas.microsoft.com/office/drawing/2014/main" id="{CB783085-A9C7-419B-88AB-79EC3CA34A1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05597" y="1771650"/>
            <a:ext cx="8247322" cy="707886"/>
          </a:xfrm>
          <a:prstGeom prst="rect">
            <a:avLst/>
          </a:prstGeom>
          <a:solidFill>
            <a:srgbClr val="66FFFF"/>
          </a:solidFill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>
              <a:defRPr/>
            </a:pPr>
            <a:r>
              <a:rPr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程序状态字</a:t>
            </a:r>
            <a:r>
              <a:rPr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PSW</a:t>
            </a:r>
            <a:r>
              <a:rPr lang="en-US" altLang="zh-CN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(Program Status Word )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Text Box 6">
            <a:extLst>
              <a:ext uri="{FF2B5EF4-FFF2-40B4-BE49-F238E27FC236}">
                <a16:creationId xmlns:a16="http://schemas.microsoft.com/office/drawing/2014/main" id="{6E1A5826-8C33-4A35-8593-F74E32FBF06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50468" y="4090142"/>
            <a:ext cx="10847540" cy="605294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457200" indent="-457200" eaLnBrk="1" hangingPunct="1">
              <a:lnSpc>
                <a:spcPts val="4000"/>
              </a:lnSpc>
              <a:buSzPct val="80000"/>
              <a:buFont typeface="Wingdings" panose="05000000000000000000" pitchFamily="2" charset="2"/>
              <a:buChar char="n"/>
              <a:defRPr/>
            </a:pPr>
            <a:r>
              <a:rPr lang="zh-CN" altLang="en-US" sz="36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状态码：</a:t>
            </a:r>
            <a:r>
              <a:rPr lang="zh-CN" altLang="en-US" sz="3600" b="1" dirty="0">
                <a:solidFill>
                  <a:srgbClr val="000099"/>
                </a:solidFill>
                <a:latin typeface="+mj-lt"/>
                <a:ea typeface="楷体" pitchFamily="49" charset="-122"/>
              </a:rPr>
              <a:t>管</a:t>
            </a:r>
            <a:r>
              <a:rPr lang="zh-CN" altLang="en-US" sz="3600" b="1" dirty="0" smtClean="0">
                <a:solidFill>
                  <a:srgbClr val="000099"/>
                </a:solidFill>
                <a:latin typeface="+mj-lt"/>
                <a:ea typeface="楷体" pitchFamily="49" charset="-122"/>
              </a:rPr>
              <a:t>态、目</a:t>
            </a:r>
            <a:r>
              <a:rPr lang="zh-CN" altLang="en-US" sz="3600" b="1" dirty="0">
                <a:solidFill>
                  <a:srgbClr val="000099"/>
                </a:solidFill>
                <a:latin typeface="+mj-lt"/>
                <a:ea typeface="楷体" pitchFamily="49" charset="-122"/>
              </a:rPr>
              <a:t>态</a:t>
            </a:r>
            <a:r>
              <a:rPr lang="zh-CN" altLang="en-US" sz="3600" b="1" dirty="0">
                <a:latin typeface="+mj-lt"/>
                <a:ea typeface="楷体" pitchFamily="49" charset="-122"/>
              </a:rPr>
              <a:t>，决定是否可以使用</a:t>
            </a:r>
            <a:r>
              <a:rPr lang="zh-CN" altLang="en-US" sz="3600" b="1" dirty="0" smtClean="0">
                <a:latin typeface="+mj-lt"/>
                <a:ea typeface="楷体" pitchFamily="49" charset="-122"/>
              </a:rPr>
              <a:t>特权指令；</a:t>
            </a:r>
          </a:p>
        </p:txBody>
      </p:sp>
      <p:sp>
        <p:nvSpPr>
          <p:cNvPr id="8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9D121A95-AEDF-485F-B4E5-FDEEBDF07AD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416626" cy="305707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16524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3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" fill="hold">
                            <p:stCondLst>
                              <p:cond delay="300"/>
                            </p:stCondLst>
                            <p:childTnLst>
                              <p:par>
                                <p:cTn id="10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8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 autoUpdateAnimBg="0"/>
      <p:bldP spid="7" grpId="0" autoUpdateAnimBg="0"/>
      <p:bldP spid="8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 Box 2">
            <a:extLst>
              <a:ext uri="{FF2B5EF4-FFF2-40B4-BE49-F238E27FC236}">
                <a16:creationId xmlns:a16="http://schemas.microsoft.com/office/drawing/2014/main" id="{25C0A1B0-160F-45E3-B72F-00DDEBBCD1C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984936" y="74179"/>
            <a:ext cx="5868914" cy="707886"/>
          </a:xfrm>
          <a:prstGeom prst="rect">
            <a:avLst/>
          </a:prstGeom>
          <a:solidFill>
            <a:srgbClr val="D6FEDD"/>
          </a:solidFill>
          <a:ln>
            <a:noFill/>
          </a:ln>
          <a:extLst>
            <a:ext uri="{91240B29-F687-4F45-9708-019B960494DF}">
              <a14:hiddenLine xmlns:a14="http://schemas.microsoft.com/office/drawing/2010/main" w="635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CPU</a:t>
            </a:r>
            <a:r>
              <a:rPr lang="zh-CN" altLang="en-US" sz="4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工作状态之间的转换</a:t>
            </a:r>
            <a:endParaRPr lang="zh-CN" altLang="en-US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7" name="Text Box 4">
            <a:extLst>
              <a:ext uri="{FF2B5EF4-FFF2-40B4-BE49-F238E27FC236}">
                <a16:creationId xmlns:a16="http://schemas.microsoft.com/office/drawing/2014/main" id="{3147ABFA-2ED6-4410-832B-B30216ED58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725820" y="3746828"/>
            <a:ext cx="7803034" cy="1200329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latin typeface="+mj-lt"/>
                <a:ea typeface="楷体" pitchFamily="49" charset="-122"/>
              </a:rPr>
              <a:t>用户程序无法直接修改程序状态字</a:t>
            </a:r>
            <a:r>
              <a:rPr lang="zh-CN" altLang="en-US" sz="3600" b="1" dirty="0" smtClean="0">
                <a:latin typeface="+mj-lt"/>
                <a:ea typeface="楷体" pitchFamily="49" charset="-122"/>
              </a:rPr>
              <a:t>；通过</a:t>
            </a:r>
            <a:r>
              <a:rPr lang="zh-CN" altLang="en-US" sz="3600" b="1" dirty="0" smtClean="0">
                <a:solidFill>
                  <a:srgbClr val="CC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楷体" pitchFamily="49" charset="-122"/>
              </a:rPr>
              <a:t>系统调用</a:t>
            </a:r>
            <a:endParaRPr lang="zh-CN" altLang="en-US" sz="3600" b="1" dirty="0">
              <a:solidFill>
                <a:srgbClr val="CC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楷体" pitchFamily="49" charset="-122"/>
            </a:endParaRPr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1BD0CEA2-1670-450E-8EF8-4D5DBD24BA5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29" y="2168506"/>
            <a:ext cx="3280065" cy="707886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4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管态 → 目态</a:t>
            </a:r>
          </a:p>
        </p:txBody>
      </p:sp>
      <p:sp>
        <p:nvSpPr>
          <p:cNvPr id="9" name="Rectangle 7">
            <a:extLst>
              <a:ext uri="{FF2B5EF4-FFF2-40B4-BE49-F238E27FC236}">
                <a16:creationId xmlns:a16="http://schemas.microsoft.com/office/drawing/2014/main" id="{956D86A6-4EC0-455B-9040-80E65BD61B4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25820" y="2227950"/>
            <a:ext cx="4286250" cy="646331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eaLnBrk="1" hangingPunct="1">
              <a:defRPr/>
            </a:pPr>
            <a:r>
              <a:rPr lang="zh-CN" altLang="en-US" sz="3600" b="1" dirty="0">
                <a:latin typeface="+mj-lt"/>
                <a:ea typeface="楷体" pitchFamily="49" charset="-122"/>
              </a:rPr>
              <a:t>设置</a:t>
            </a:r>
            <a:r>
              <a:rPr lang="en-US" altLang="zh-CN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PSW</a:t>
            </a:r>
            <a:endParaRPr lang="zh-CN" altLang="en-US" sz="36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0" name="Rectangle 8">
            <a:extLst>
              <a:ext uri="{FF2B5EF4-FFF2-40B4-BE49-F238E27FC236}">
                <a16:creationId xmlns:a16="http://schemas.microsoft.com/office/drawing/2014/main" id="{7C8137CA-8093-4734-BAA6-F47EED3E3FF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18628" y="3746828"/>
            <a:ext cx="3280065" cy="707886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228600" lvl="1" indent="-228600">
              <a:spcBef>
                <a:spcPts val="10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4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目态 → 管态</a:t>
            </a:r>
          </a:p>
        </p:txBody>
      </p:sp>
      <p:sp>
        <p:nvSpPr>
          <p:cNvPr id="11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136EBC92-5E5E-4F02-8EE6-17D8090BB05A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31985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99794"/>
            <a:ext cx="440377" cy="25820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55184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utoUpdateAnimBg="0"/>
      <p:bldP spid="9" grpId="0"/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Box 4">
            <a:extLst>
              <a:ext uri="{FF2B5EF4-FFF2-40B4-BE49-F238E27FC236}">
                <a16:creationId xmlns:a16="http://schemas.microsoft.com/office/drawing/2014/main" id="{594B82FC-3A34-4536-903F-D5C93DC1517C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00851" y="2573715"/>
            <a:ext cx="10958449" cy="3170099"/>
          </a:xfrm>
          <a:prstGeom prst="rect">
            <a:avLst/>
          </a:prstGeom>
          <a:noFill/>
          <a:ln w="63500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marL="457200" indent="-457200" eaLnBrk="1" hangingPunct="1">
              <a:lnSpc>
                <a:spcPts val="4000"/>
              </a:lnSpc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当</a:t>
            </a: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执行访管指令时，引起访管中断；</a:t>
            </a:r>
          </a:p>
          <a:p>
            <a:pPr marL="457200" indent="-457200" eaLnBrk="1" hangingPunct="1">
              <a:lnSpc>
                <a:spcPts val="4000"/>
              </a:lnSpc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保存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中断点的程序执行上下文环境（</a:t>
            </a:r>
            <a:r>
              <a:rPr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PSW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/>
            </a:r>
            <a:b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   PC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和其它寄存器），</a:t>
            </a:r>
            <a:r>
              <a:rPr lang="en-US" altLang="zh-CN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切换到管态</a:t>
            </a: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(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硬件自动完成</a:t>
            </a: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)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  <a:p>
            <a:pPr marL="457200" indent="-457200" eaLnBrk="1" hangingPunct="1">
              <a:lnSpc>
                <a:spcPts val="4000"/>
              </a:lnSpc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中断处理程序开始工作，调用相应的系统服务；</a:t>
            </a:r>
          </a:p>
          <a:p>
            <a:pPr marL="457200" indent="-457200" eaLnBrk="1" hangingPunct="1">
              <a:lnSpc>
                <a:spcPts val="4000"/>
              </a:lnSpc>
              <a:buSzPct val="75000"/>
              <a:buFont typeface="Wingdings" panose="05000000000000000000" pitchFamily="2" charset="2"/>
              <a:buChar char="n"/>
              <a:defRPr/>
            </a:pPr>
            <a:r>
              <a:rPr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结束后，恢复被中断程序的上下文环境，</a:t>
            </a:r>
            <a:br>
              <a:rPr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</a:br>
            <a:r>
              <a:rPr lang="en-US" altLang="zh-CN" sz="3200" b="1" dirty="0" smtClean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3200" b="1" dirty="0" smtClean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恢复为目态</a:t>
            </a:r>
            <a:r>
              <a:rPr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，回到中断点继续执行。</a:t>
            </a:r>
            <a:endParaRPr lang="zh-CN" altLang="en-US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6" name="矩形 4">
            <a:extLst>
              <a:ext uri="{FF2B5EF4-FFF2-40B4-BE49-F238E27FC236}">
                <a16:creationId xmlns:a16="http://schemas.microsoft.com/office/drawing/2014/main" id="{C6C0A9B9-9B5F-499C-A949-C3F58411562F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287" y="860077"/>
            <a:ext cx="11454713" cy="1200329"/>
          </a:xfrm>
          <a:prstGeom prst="rect">
            <a:avLst/>
          </a:prstGeom>
          <a:solidFill>
            <a:srgbClr val="FFFFCC"/>
          </a:solidFill>
          <a:ln>
            <a:noFill/>
          </a:ln>
          <a:extLst/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操作系统内核函数</a:t>
            </a:r>
            <a:endParaRPr lang="zh-CN" altLang="en-US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用户程序通过访管指令，请求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操作系统提供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某种服务。</a:t>
            </a:r>
            <a:endParaRPr lang="en-US" altLang="zh-CN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楷体" panose="02010609060101010101" pitchFamily="49" charset="-122"/>
              <a:ea typeface="楷体" panose="02010609060101010101" pitchFamily="49" charset="-122"/>
            </a:endParaRPr>
          </a:p>
        </p:txBody>
      </p:sp>
      <p:sp>
        <p:nvSpPr>
          <p:cNvPr id="7" name="Text Box 3">
            <a:extLst>
              <a:ext uri="{FF2B5EF4-FFF2-40B4-BE49-F238E27FC236}">
                <a16:creationId xmlns:a16="http://schemas.microsoft.com/office/drawing/2014/main" id="{2C011C4C-07E8-4C10-9977-ACA2F03345B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714875" y="80725"/>
            <a:ext cx="2624436" cy="646331"/>
          </a:xfrm>
          <a:prstGeom prst="rect">
            <a:avLst/>
          </a:prstGeom>
          <a:noFill/>
          <a:ln>
            <a:noFill/>
          </a:ln>
          <a:extLst/>
        </p:spPr>
        <p:txBody>
          <a:bodyPr wrap="non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系 统 调 用</a:t>
            </a:r>
          </a:p>
        </p:txBody>
      </p:sp>
      <p:sp>
        <p:nvSpPr>
          <p:cNvPr id="8" name="AutoShape 4">
            <a:hlinkClick r:id="" action="ppaction://hlinkshowjump?jump=nextslide" highlightClick="1"/>
            <a:extLst>
              <a:ext uri="{FF2B5EF4-FFF2-40B4-BE49-F238E27FC236}">
                <a16:creationId xmlns:a16="http://schemas.microsoft.com/office/drawing/2014/main" id="{C8149D87-F149-419D-BFC3-ED1AD84309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10913" y="6595075"/>
            <a:ext cx="345374" cy="262925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32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65615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autoUpdateAnimBg="0"/>
      <p:bldP spid="8" grpId="0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7BBF6D3-6CBE-4876-8243-EF919119D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876" y="0"/>
            <a:ext cx="10515600" cy="925056"/>
          </a:xfrm>
        </p:spPr>
        <p:txBody>
          <a:bodyPr>
            <a:normAutofit/>
          </a:bodyPr>
          <a:lstStyle/>
          <a:p>
            <a:pPr algn="ctr" fontAlgn="base">
              <a:spcAft>
                <a:spcPct val="0"/>
              </a:spcAft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用户模式到内核模式的转换</a:t>
            </a:r>
          </a:p>
        </p:txBody>
      </p:sp>
      <p:pic>
        <p:nvPicPr>
          <p:cNvPr id="4" name="Picture 5">
            <a:extLst>
              <a:ext uri="{FF2B5EF4-FFF2-40B4-BE49-F238E27FC236}">
                <a16:creationId xmlns:a16="http://schemas.microsoft.com/office/drawing/2014/main" id="{222DDCB6-F20F-422D-A4B2-788B0B1680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94731" y="1954190"/>
            <a:ext cx="7602538" cy="2346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2786E428-153B-48C7-9F88-007E8CA12F4F}"/>
              </a:ext>
            </a:extLst>
          </p:cNvPr>
          <p:cNvSpPr txBox="1"/>
          <p:nvPr/>
        </p:nvSpPr>
        <p:spPr>
          <a:xfrm>
            <a:off x="2943617" y="4577268"/>
            <a:ext cx="4870347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sz="2000" b="1" dirty="0"/>
              <a:t>图 </a:t>
            </a:r>
            <a:r>
              <a:rPr lang="en-US" altLang="zh-CN" sz="2000" b="1" dirty="0"/>
              <a:t>1-10  </a:t>
            </a:r>
            <a:r>
              <a:rPr lang="zh-CN" altLang="en-US" sz="2000" b="1" dirty="0"/>
              <a:t>用户模式到内核模式的转换</a:t>
            </a:r>
          </a:p>
        </p:txBody>
      </p:sp>
      <p:sp>
        <p:nvSpPr>
          <p:cNvPr id="6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-83127" y="6517574"/>
            <a:ext cx="428502" cy="34042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437837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999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标题 3">
            <a:extLst>
              <a:ext uri="{FF2B5EF4-FFF2-40B4-BE49-F238E27FC236}">
                <a16:creationId xmlns:a16="http://schemas.microsoft.com/office/drawing/2014/main" id="{26716294-4F65-4F7E-83F3-F5CAE3BB3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43929" y="36443"/>
            <a:ext cx="8005762" cy="920946"/>
          </a:xfrm>
        </p:spPr>
        <p:txBody>
          <a:bodyPr>
            <a:normAutofit/>
          </a:bodyPr>
          <a:lstStyle/>
          <a:p>
            <a:pPr algn="ctr"/>
            <a:r>
              <a:rPr kumimoji="1" lang="en-US" altLang="zh-CN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1.5 </a:t>
            </a:r>
            <a:r>
              <a:rPr kumimoji="1" lang="zh-CN" altLang="en-US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itchFamily="18" charset="0"/>
                <a:ea typeface="楷体_GB2312" pitchFamily="49" charset="-122"/>
              </a:rPr>
              <a:t>操作系统的功能</a:t>
            </a:r>
            <a:endParaRPr lang="zh-CN" altLang="en-US" dirty="0"/>
          </a:p>
        </p:txBody>
      </p:sp>
      <p:sp>
        <p:nvSpPr>
          <p:cNvPr id="9" name="Line 7">
            <a:extLst>
              <a:ext uri="{FF2B5EF4-FFF2-40B4-BE49-F238E27FC236}">
                <a16:creationId xmlns:a16="http://schemas.microsoft.com/office/drawing/2014/main" id="{289C6B3F-4429-4AD4-892C-C9AE73C17A33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6257368" y="2211087"/>
            <a:ext cx="576262" cy="503238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" name="Line 8">
            <a:extLst>
              <a:ext uri="{FF2B5EF4-FFF2-40B4-BE49-F238E27FC236}">
                <a16:creationId xmlns:a16="http://schemas.microsoft.com/office/drawing/2014/main" id="{EFD29DDD-13C2-4F9D-8CF7-8E8AC4988D84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4960380" y="3650950"/>
            <a:ext cx="720725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" name="Line 9">
            <a:extLst>
              <a:ext uri="{FF2B5EF4-FFF2-40B4-BE49-F238E27FC236}">
                <a16:creationId xmlns:a16="http://schemas.microsoft.com/office/drawing/2014/main" id="{AB0C523A-F8C2-4087-A236-017536CFC4C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6257368" y="3650950"/>
            <a:ext cx="719137" cy="431800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2" name="Line 10">
            <a:extLst>
              <a:ext uri="{FF2B5EF4-FFF2-40B4-BE49-F238E27FC236}">
                <a16:creationId xmlns:a16="http://schemas.microsoft.com/office/drawing/2014/main" id="{E37C7013-1C54-432C-8857-9D9543A25624}"/>
              </a:ext>
            </a:extLst>
          </p:cNvPr>
          <p:cNvSpPr>
            <a:spLocks noChangeShapeType="1"/>
          </p:cNvSpPr>
          <p:nvPr/>
        </p:nvSpPr>
        <p:spPr bwMode="auto">
          <a:xfrm flipH="1" flipV="1">
            <a:off x="5033405" y="2211087"/>
            <a:ext cx="647700" cy="50482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zh-CN" altLang="en-US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" name="AutoShape 15">
            <a:extLst>
              <a:ext uri="{FF2B5EF4-FFF2-40B4-BE49-F238E27FC236}">
                <a16:creationId xmlns:a16="http://schemas.microsoft.com/office/drawing/2014/main" id="{C9150E2E-9178-41FD-AD14-0A51D7E1D0D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58843" y="2646062"/>
            <a:ext cx="1292225" cy="1008063"/>
          </a:xfrm>
          <a:prstGeom prst="hexagon">
            <a:avLst>
              <a:gd name="adj" fmla="val 32047"/>
              <a:gd name="vf" fmla="val 115470"/>
            </a:avLst>
          </a:prstGeom>
          <a:solidFill>
            <a:srgbClr val="FFFF99"/>
          </a:solidFill>
          <a:ln w="28575">
            <a:solidFill>
              <a:srgbClr val="D1CC00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16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操作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系统</a:t>
            </a:r>
          </a:p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endParaRPr kumimoji="0" lang="en-US" altLang="zh-CN" sz="2400" b="1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Arial" panose="020B0604020202020204" pitchFamily="34" charset="0"/>
            </a:endParaRPr>
          </a:p>
        </p:txBody>
      </p:sp>
      <p:sp>
        <p:nvSpPr>
          <p:cNvPr id="14" name="Rectangle 16">
            <a:extLst>
              <a:ext uri="{FF2B5EF4-FFF2-40B4-BE49-F238E27FC236}">
                <a16:creationId xmlns:a16="http://schemas.microsoft.com/office/drawing/2014/main" id="{396FAF93-AFEC-492C-9A70-5BE2FB0E1F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33630" y="1923750"/>
            <a:ext cx="1330325" cy="576262"/>
          </a:xfrm>
          <a:prstGeom prst="rect">
            <a:avLst/>
          </a:prstGeom>
          <a:solidFill>
            <a:srgbClr val="FFCCFF"/>
          </a:solidFill>
          <a:ln w="28575">
            <a:solidFill>
              <a:srgbClr val="FF99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进程管理</a:t>
            </a:r>
          </a:p>
        </p:txBody>
      </p:sp>
      <p:sp>
        <p:nvSpPr>
          <p:cNvPr id="15" name="Rectangle 17">
            <a:extLst>
              <a:ext uri="{FF2B5EF4-FFF2-40B4-BE49-F238E27FC236}">
                <a16:creationId xmlns:a16="http://schemas.microsoft.com/office/drawing/2014/main" id="{73BD8C51-D4FB-4F6B-9F02-1651C7682BD1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418" y="1923750"/>
            <a:ext cx="1331912" cy="576262"/>
          </a:xfrm>
          <a:prstGeom prst="rect">
            <a:avLst/>
          </a:prstGeom>
          <a:solidFill>
            <a:srgbClr val="FFCCFF"/>
          </a:solidFill>
          <a:ln w="28575">
            <a:solidFill>
              <a:srgbClr val="FF99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设备管理</a:t>
            </a:r>
          </a:p>
        </p:txBody>
      </p:sp>
      <p:sp>
        <p:nvSpPr>
          <p:cNvPr id="16" name="Rectangle 18">
            <a:extLst>
              <a:ext uri="{FF2B5EF4-FFF2-40B4-BE49-F238E27FC236}">
                <a16:creationId xmlns:a16="http://schemas.microsoft.com/office/drawing/2014/main" id="{FEDBC5A4-E70B-4B07-88D1-387A043762E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976505" y="3795412"/>
            <a:ext cx="1403350" cy="574675"/>
          </a:xfrm>
          <a:prstGeom prst="rect">
            <a:avLst/>
          </a:prstGeom>
          <a:solidFill>
            <a:srgbClr val="FFCCFF"/>
          </a:solidFill>
          <a:ln w="28575">
            <a:solidFill>
              <a:srgbClr val="FF99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存储管理</a:t>
            </a:r>
          </a:p>
        </p:txBody>
      </p:sp>
      <p:sp>
        <p:nvSpPr>
          <p:cNvPr id="17" name="Rectangle 19">
            <a:extLst>
              <a:ext uri="{FF2B5EF4-FFF2-40B4-BE49-F238E27FC236}">
                <a16:creationId xmlns:a16="http://schemas.microsoft.com/office/drawing/2014/main" id="{EA2317FA-28CA-4A12-994B-E13C460688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6418" y="3723975"/>
            <a:ext cx="1403350" cy="576262"/>
          </a:xfrm>
          <a:prstGeom prst="rect">
            <a:avLst/>
          </a:prstGeom>
          <a:solidFill>
            <a:srgbClr val="FFCCFF"/>
          </a:solidFill>
          <a:ln w="28575">
            <a:solidFill>
              <a:srgbClr val="FF99FF"/>
            </a:solidFill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kumimoji="0" lang="zh-CN" altLang="en-US" sz="2400" b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" panose="020B0604020202020204" pitchFamily="34" charset="0"/>
              </a:rPr>
              <a:t>文件管理</a:t>
            </a:r>
          </a:p>
        </p:txBody>
      </p:sp>
      <p:grpSp>
        <p:nvGrpSpPr>
          <p:cNvPr id="18" name="Group 26">
            <a:extLst>
              <a:ext uri="{FF2B5EF4-FFF2-40B4-BE49-F238E27FC236}">
                <a16:creationId xmlns:a16="http://schemas.microsoft.com/office/drawing/2014/main" id="{B494EF1E-3047-4C8F-8DE2-1C59F14A2CB6}"/>
              </a:ext>
            </a:extLst>
          </p:cNvPr>
          <p:cNvGrpSpPr>
            <a:grpSpLocks/>
          </p:cNvGrpSpPr>
          <p:nvPr/>
        </p:nvGrpSpPr>
        <p:grpSpPr bwMode="auto">
          <a:xfrm>
            <a:off x="8163955" y="1277637"/>
            <a:ext cx="2409825" cy="2016125"/>
            <a:chOff x="3947" y="707"/>
            <a:chExt cx="1361" cy="1024"/>
          </a:xfrm>
        </p:grpSpPr>
        <p:sp>
          <p:nvSpPr>
            <p:cNvPr id="19" name="Line 11">
              <a:extLst>
                <a:ext uri="{FF2B5EF4-FFF2-40B4-BE49-F238E27FC236}">
                  <a16:creationId xmlns:a16="http://schemas.microsoft.com/office/drawing/2014/main" id="{01EBADF4-45C3-46E4-80E4-5FA5C9B5474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947" y="1206"/>
              <a:ext cx="499" cy="0"/>
            </a:xfrm>
            <a:prstGeom prst="line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0" name="Rectangle 20">
              <a:extLst>
                <a:ext uri="{FF2B5EF4-FFF2-40B4-BE49-F238E27FC236}">
                  <a16:creationId xmlns:a16="http://schemas.microsoft.com/office/drawing/2014/main" id="{BBDCD73A-A966-448F-AE1F-79541A15E65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46" y="707"/>
              <a:ext cx="862" cy="1024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多道程序设计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进程基本概念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进程控制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同步互斥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进程调度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进程通信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进程死锁</a:t>
              </a:r>
            </a:p>
          </p:txBody>
        </p:sp>
      </p:grpSp>
      <p:grpSp>
        <p:nvGrpSpPr>
          <p:cNvPr id="21" name="Group 29">
            <a:extLst>
              <a:ext uri="{FF2B5EF4-FFF2-40B4-BE49-F238E27FC236}">
                <a16:creationId xmlns:a16="http://schemas.microsoft.com/office/drawing/2014/main" id="{128A42FA-B3BE-4742-9E77-601F830063FF}"/>
              </a:ext>
            </a:extLst>
          </p:cNvPr>
          <p:cNvGrpSpPr>
            <a:grpSpLocks/>
          </p:cNvGrpSpPr>
          <p:nvPr/>
        </p:nvGrpSpPr>
        <p:grpSpPr bwMode="auto">
          <a:xfrm>
            <a:off x="1791730" y="1131587"/>
            <a:ext cx="1944688" cy="2378075"/>
            <a:chOff x="0" y="526"/>
            <a:chExt cx="1225" cy="1498"/>
          </a:xfrm>
        </p:grpSpPr>
        <p:sp>
          <p:nvSpPr>
            <p:cNvPr id="22" name="Line 12">
              <a:extLst>
                <a:ext uri="{FF2B5EF4-FFF2-40B4-BE49-F238E27FC236}">
                  <a16:creationId xmlns:a16="http://schemas.microsoft.com/office/drawing/2014/main" id="{1899ABB5-1B72-45CE-9756-448E64B50E3C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 flipV="1">
              <a:off x="953" y="1161"/>
              <a:ext cx="272" cy="0"/>
            </a:xfrm>
            <a:prstGeom prst="line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3" name="Rectangle 21">
              <a:extLst>
                <a:ext uri="{FF2B5EF4-FFF2-40B4-BE49-F238E27FC236}">
                  <a16:creationId xmlns:a16="http://schemas.microsoft.com/office/drawing/2014/main" id="{CE83BA24-A685-40B7-90B5-F52B02C6AB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526"/>
              <a:ext cx="930" cy="1498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设备分类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设备独立性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en-US" altLang="zh-CN" sz="1800" b="1">
                  <a:latin typeface="Arial" panose="020B0604020202020204" pitchFamily="34" charset="0"/>
                </a:rPr>
                <a:t>I/O</a:t>
              </a:r>
              <a:r>
                <a:rPr kumimoji="0" lang="zh-CN" altLang="en-US" sz="1800" b="1">
                  <a:latin typeface="Arial" panose="020B0604020202020204" pitchFamily="34" charset="0"/>
                </a:rPr>
                <a:t>软件组成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设备分配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虚设备技术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缓冲技术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通道技术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磁盘调度</a:t>
              </a:r>
            </a:p>
          </p:txBody>
        </p:sp>
      </p:grpSp>
      <p:grpSp>
        <p:nvGrpSpPr>
          <p:cNvPr id="24" name="Group 27">
            <a:extLst>
              <a:ext uri="{FF2B5EF4-FFF2-40B4-BE49-F238E27FC236}">
                <a16:creationId xmlns:a16="http://schemas.microsoft.com/office/drawing/2014/main" id="{E9ADE8C9-F6F2-4725-B4DF-F84F9B245DA4}"/>
              </a:ext>
            </a:extLst>
          </p:cNvPr>
          <p:cNvGrpSpPr>
            <a:grpSpLocks/>
          </p:cNvGrpSpPr>
          <p:nvPr/>
        </p:nvGrpSpPr>
        <p:grpSpPr bwMode="auto">
          <a:xfrm>
            <a:off x="1791730" y="4227212"/>
            <a:ext cx="1944688" cy="2090738"/>
            <a:chOff x="0" y="2476"/>
            <a:chExt cx="1225" cy="1317"/>
          </a:xfrm>
        </p:grpSpPr>
        <p:sp>
          <p:nvSpPr>
            <p:cNvPr id="25" name="Line 14">
              <a:extLst>
                <a:ext uri="{FF2B5EF4-FFF2-40B4-BE49-F238E27FC236}">
                  <a16:creationId xmlns:a16="http://schemas.microsoft.com/office/drawing/2014/main" id="{C8B03AF2-4363-472D-80BA-922F6600BE50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862" y="2476"/>
              <a:ext cx="363" cy="227"/>
            </a:xfrm>
            <a:prstGeom prst="line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6" name="Rectangle 22">
              <a:extLst>
                <a:ext uri="{FF2B5EF4-FFF2-40B4-BE49-F238E27FC236}">
                  <a16:creationId xmlns:a16="http://schemas.microsoft.com/office/drawing/2014/main" id="{6BFDB043-8A24-41C3-9119-5AD095D928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0" y="2704"/>
              <a:ext cx="975" cy="1089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文件基本概念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磁盘结构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文件目录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文件系统使用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文件系统安全</a:t>
              </a: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>
                  <a:latin typeface="Arial" panose="020B0604020202020204" pitchFamily="34" charset="0"/>
                </a:rPr>
                <a:t>外存空间管理</a:t>
              </a:r>
            </a:p>
          </p:txBody>
        </p:sp>
      </p:grpSp>
      <p:grpSp>
        <p:nvGrpSpPr>
          <p:cNvPr id="27" name="Group 28">
            <a:extLst>
              <a:ext uri="{FF2B5EF4-FFF2-40B4-BE49-F238E27FC236}">
                <a16:creationId xmlns:a16="http://schemas.microsoft.com/office/drawing/2014/main" id="{3F72BE62-E1CB-4084-AD3C-26FFE5F2251B}"/>
              </a:ext>
            </a:extLst>
          </p:cNvPr>
          <p:cNvGrpSpPr>
            <a:grpSpLocks/>
          </p:cNvGrpSpPr>
          <p:nvPr/>
        </p:nvGrpSpPr>
        <p:grpSpPr bwMode="auto">
          <a:xfrm>
            <a:off x="8273493" y="4371675"/>
            <a:ext cx="2482850" cy="2090737"/>
            <a:chOff x="4083" y="2567"/>
            <a:chExt cx="1564" cy="1317"/>
          </a:xfrm>
        </p:grpSpPr>
        <p:sp>
          <p:nvSpPr>
            <p:cNvPr id="28" name="Line 13">
              <a:extLst>
                <a:ext uri="{FF2B5EF4-FFF2-40B4-BE49-F238E27FC236}">
                  <a16:creationId xmlns:a16="http://schemas.microsoft.com/office/drawing/2014/main" id="{B6EBDC57-5291-4538-901A-14C42610BE39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4083" y="2567"/>
              <a:ext cx="451" cy="227"/>
            </a:xfrm>
            <a:prstGeom prst="line">
              <a:avLst/>
            </a:prstGeom>
            <a:noFill/>
            <a:ln w="28575">
              <a:solidFill>
                <a:schemeClr val="accent6">
                  <a:lumMod val="75000"/>
                </a:schemeClr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9" name="Rectangle 23">
              <a:extLst>
                <a:ext uri="{FF2B5EF4-FFF2-40B4-BE49-F238E27FC236}">
                  <a16:creationId xmlns:a16="http://schemas.microsoft.com/office/drawing/2014/main" id="{A7EEA634-8B30-4F22-9E3B-EDBBE73879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377" y="2794"/>
              <a:ext cx="1270" cy="1090"/>
            </a:xfrm>
            <a:prstGeom prst="rect">
              <a:avLst/>
            </a:prstGeom>
            <a:solidFill>
              <a:srgbClr val="CCFFCC"/>
            </a:solidFill>
            <a:ln w="28575">
              <a:solidFill>
                <a:schemeClr val="accent6">
                  <a:lumMod val="75000"/>
                </a:schemeClr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地址变换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内存分配和回收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内外存数据的传输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内存保护和共享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r>
                <a:rPr kumimoji="0" lang="zh-CN" altLang="en-US" sz="1800" b="1" dirty="0">
                  <a:latin typeface="Arial" panose="020B0604020202020204" pitchFamily="34" charset="0"/>
                </a:rPr>
                <a:t>虚拟存储</a:t>
              </a:r>
              <a:endParaRPr kumimoji="0" lang="en-US" altLang="zh-CN" sz="1800" b="1" dirty="0">
                <a:latin typeface="Arial" panose="020B0604020202020204" pitchFamily="34" charset="0"/>
              </a:endParaRPr>
            </a:p>
          </p:txBody>
        </p:sp>
      </p:grpSp>
      <p:sp>
        <p:nvSpPr>
          <p:cNvPr id="31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0" name="文本框 29"/>
          <p:cNvSpPr txBox="1"/>
          <p:nvPr/>
        </p:nvSpPr>
        <p:spPr>
          <a:xfrm>
            <a:off x="-12640" y="6477000"/>
            <a:ext cx="38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816384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2000"/>
                            </p:stCondLst>
                            <p:childTnLst>
                              <p:par>
                                <p:cTn id="24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5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1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03" name="Rectangle 4">
            <a:hlinkClick r:id="rId3" action="ppaction://hlinksldjump"/>
          </p:cNvPr>
          <p:cNvSpPr>
            <a:spLocks noChangeArrowheads="1"/>
          </p:cNvSpPr>
          <p:nvPr/>
        </p:nvSpPr>
        <p:spPr bwMode="auto">
          <a:xfrm>
            <a:off x="3432176" y="0"/>
            <a:ext cx="6264275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1.6  </a:t>
            </a: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操作系统的发展</a:t>
            </a:r>
          </a:p>
        </p:txBody>
      </p:sp>
      <p:sp>
        <p:nvSpPr>
          <p:cNvPr id="162821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Rectangle 2"/>
          <p:cNvSpPr txBox="1">
            <a:spLocks noChangeArrowheads="1"/>
          </p:cNvSpPr>
          <p:nvPr/>
        </p:nvSpPr>
        <p:spPr bwMode="auto">
          <a:xfrm>
            <a:off x="2396587" y="1238795"/>
            <a:ext cx="8335451" cy="214679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42900" indent="-34290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8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–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marL="228600" lvl="1" indent="-228600" eaLnBrk="1" hangingPunct="1">
              <a:lnSpc>
                <a:spcPct val="90000"/>
              </a:lnSpc>
              <a:spcBef>
                <a:spcPts val="1000"/>
              </a:spcBef>
              <a:buClr>
                <a:srgbClr val="0033CC"/>
              </a:buClr>
              <a:buSzPct val="8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4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发展动力：“需求推动发展”</a:t>
            </a:r>
          </a:p>
          <a:p>
            <a:pPr marL="857250" lvl="2" indent="-457200" eaLnBrk="1" hangingPunct="1">
              <a:lnSpc>
                <a:spcPts val="4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设备角度：资源利用率和系统性能</a:t>
            </a:r>
          </a:p>
          <a:p>
            <a:pPr marL="857250" lvl="2" indent="-457200" eaLnBrk="1" hangingPunct="1">
              <a:lnSpc>
                <a:spcPts val="4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用户角度：方便用户</a:t>
            </a:r>
          </a:p>
          <a:p>
            <a:pPr marL="857250" lvl="2" indent="-457200" eaLnBrk="1" hangingPunct="1">
              <a:lnSpc>
                <a:spcPts val="4000"/>
              </a:lnSpc>
              <a:spcBef>
                <a:spcPts val="0"/>
              </a:spcBef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技术角度：物理器件</a:t>
            </a:r>
            <a:r>
              <a:rPr lang="zh-CN" altLang="en-US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发展</a:t>
            </a:r>
            <a:endParaRPr lang="zh-CN" altLang="en-US" sz="36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7" name="内容占位符 2"/>
          <p:cNvSpPr>
            <a:spLocks noGrp="1"/>
          </p:cNvSpPr>
          <p:nvPr>
            <p:ph idx="1"/>
          </p:nvPr>
        </p:nvSpPr>
        <p:spPr>
          <a:xfrm>
            <a:off x="3197539" y="3793140"/>
            <a:ext cx="5472608" cy="1988063"/>
          </a:xfrm>
        </p:spPr>
        <p:txBody>
          <a:bodyPr>
            <a:normAutofit/>
          </a:bodyPr>
          <a:lstStyle/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操作系统的发展历史</a:t>
            </a:r>
            <a:endParaRPr kumimoji="1" lang="en-US" altLang="zh-CN" sz="40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  <a:p>
            <a:pPr marL="0" indent="0" fontAlgn="base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None/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操作系统的</a:t>
            </a:r>
            <a:r>
              <a:rPr kumimoji="1" lang="zh-CN" altLang="en-US" sz="4000" b="1" dirty="0" smtClean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现状</a:t>
            </a:r>
            <a:endParaRPr kumimoji="1" lang="en-US" altLang="zh-CN" sz="4000" b="1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-12640" y="6477000"/>
            <a:ext cx="38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476994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628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2821" grpId="0" animBg="1"/>
      <p:bldP spid="7" grpId="0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495600" y="0"/>
            <a:ext cx="7772400" cy="747936"/>
          </a:xfrm>
        </p:spPr>
        <p:txBody>
          <a:bodyPr>
            <a:normAutofit/>
          </a:bodyPr>
          <a:lstStyle/>
          <a:p>
            <a:pPr algn="ctr"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操作系统的发展历史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2495600" y="1422383"/>
            <a:ext cx="8596064" cy="3629000"/>
          </a:xfrm>
        </p:spPr>
        <p:txBody>
          <a:bodyPr>
            <a:normAutofit/>
          </a:bodyPr>
          <a:lstStyle/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(1945–55) 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真空管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(1955–65) 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晶体管和批处理系统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(1965–1980) 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集成电路和多道程序设计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(1980–1995) PC</a:t>
            </a: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(1995–Present) 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后</a:t>
            </a: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PC</a:t>
            </a:r>
            <a:endParaRPr kumimoji="1" lang="zh-CN" altLang="en-US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477000"/>
            <a:ext cx="428501" cy="365084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94937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366" name="Rectangle 3"/>
          <p:cNvSpPr>
            <a:spLocks noChangeArrowheads="1"/>
          </p:cNvSpPr>
          <p:nvPr/>
        </p:nvSpPr>
        <p:spPr bwMode="auto">
          <a:xfrm>
            <a:off x="4044156" y="675559"/>
            <a:ext cx="4103688" cy="576262"/>
          </a:xfrm>
          <a:prstGeom prst="rect">
            <a:avLst/>
          </a:prstGeom>
          <a:solidFill>
            <a:srgbClr val="92D050"/>
          </a:solidFill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 eaLnBrk="1" hangingPunct="1">
              <a:defRPr/>
            </a:pPr>
            <a:r>
              <a:rPr lang="en-US" altLang="zh-CN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ENIAC </a:t>
            </a:r>
            <a:r>
              <a:rPr lang="zh-CN" altLang="en-US" sz="36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计算机</a:t>
            </a:r>
            <a:endParaRPr lang="zh-CN" alt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8376" name="Rectangle 5"/>
          <p:cNvSpPr>
            <a:spLocks noChangeArrowheads="1"/>
          </p:cNvSpPr>
          <p:nvPr/>
        </p:nvSpPr>
        <p:spPr bwMode="auto">
          <a:xfrm>
            <a:off x="232708" y="1251821"/>
            <a:ext cx="9106513" cy="111825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运算速度：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1000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次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/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秒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; </a:t>
            </a:r>
          </a:p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数万个真空管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, 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占地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100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平方米。</a:t>
            </a:r>
          </a:p>
        </p:txBody>
      </p:sp>
      <p:sp>
        <p:nvSpPr>
          <p:cNvPr id="2" name="矩形 1"/>
          <p:cNvSpPr/>
          <p:nvPr/>
        </p:nvSpPr>
        <p:spPr>
          <a:xfrm>
            <a:off x="5118009" y="-75029"/>
            <a:ext cx="1955985" cy="76944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真 空 管</a:t>
            </a:r>
          </a:p>
        </p:txBody>
      </p:sp>
      <p:sp>
        <p:nvSpPr>
          <p:cNvPr id="58371" name="Rectangle 2"/>
          <p:cNvSpPr>
            <a:spLocks noChangeArrowheads="1"/>
          </p:cNvSpPr>
          <p:nvPr/>
        </p:nvSpPr>
        <p:spPr bwMode="auto">
          <a:xfrm>
            <a:off x="201826" y="2225515"/>
            <a:ext cx="11808942" cy="25923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marL="342900" indent="-342900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没有程序设计语言，没有操作系统。</a:t>
            </a:r>
          </a:p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程序员提前预约一段时间，然后到机房将他的插件板插到计算机里。</a:t>
            </a:r>
          </a:p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期盼着在接下来的时间中几万个真空管不会烧断，从而可以计算自己的题目。</a:t>
            </a:r>
          </a:p>
        </p:txBody>
      </p:sp>
      <p:pic>
        <p:nvPicPr>
          <p:cNvPr id="271367" name="Picture 4" descr="\\CHERRY\D\0_OS_history\www_computerhistory_org\1946\1946_eniac.jpg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5173"/>
          <a:stretch>
            <a:fillRect/>
          </a:stretch>
        </p:blipFill>
        <p:spPr bwMode="auto">
          <a:xfrm>
            <a:off x="1043695" y="2514951"/>
            <a:ext cx="4250666" cy="4031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71369" name="Picture 9" descr="bh_computers_0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67158" y="2514951"/>
            <a:ext cx="4482533" cy="403178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-54" y="6603603"/>
            <a:ext cx="403760" cy="22220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461159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2713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3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2713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000"/>
                            </p:stCondLst>
                            <p:childTnLst>
                              <p:par>
                                <p:cTn id="14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6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7" dur="5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891" name="Rectangle 3"/>
          <p:cNvSpPr>
            <a:spLocks noGrp="1" noChangeArrowheads="1"/>
          </p:cNvSpPr>
          <p:nvPr>
            <p:ph idx="1"/>
          </p:nvPr>
        </p:nvSpPr>
        <p:spPr>
          <a:xfrm>
            <a:off x="570016" y="1557338"/>
            <a:ext cx="10359242" cy="3194049"/>
          </a:xfrm>
        </p:spPr>
        <p:txBody>
          <a:bodyPr>
            <a:normAutofit/>
          </a:bodyPr>
          <a:lstStyle/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晶体管计算机，操作系统的</a:t>
            </a:r>
            <a:r>
              <a:rPr kumimoji="1" lang="zh-CN" altLang="en-US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雏形</a:t>
            </a:r>
            <a:r>
              <a:rPr kumimoji="1" lang="en-US" altLang="zh-CN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--</a:t>
            </a:r>
            <a:r>
              <a:rPr kumimoji="1" lang="zh-CN" altLang="en-US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监督程序</a:t>
            </a: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把若干个作业合成一批，调入计算机执行，完成后再调入下一批作业。</a:t>
            </a:r>
            <a:endParaRPr kumimoji="1" lang="en-US" altLang="zh-CN" sz="36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计算机的应用从数值计算扩大到数据处理、工业过程控制等领域</a:t>
            </a:r>
            <a:r>
              <a:rPr kumimoji="1" lang="zh-CN" altLang="en-US" sz="36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kumimoji="1" lang="zh-CN" altLang="en-US" sz="36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65897" name="AutoShape 9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65951" name="Rectangle 63"/>
          <p:cNvSpPr>
            <a:spLocks noChangeArrowheads="1"/>
          </p:cNvSpPr>
          <p:nvPr/>
        </p:nvSpPr>
        <p:spPr bwMode="auto">
          <a:xfrm>
            <a:off x="1649412" y="2963862"/>
            <a:ext cx="8893175" cy="357505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/>
          <a:lstStyle/>
          <a:p>
            <a:pPr marL="342900" indent="-342900">
              <a:spcBef>
                <a:spcPct val="40000"/>
              </a:spcBef>
              <a:buClr>
                <a:schemeClr val="tx2"/>
              </a:buClr>
              <a:buSzPct val="90000"/>
              <a:buFont typeface="Symbol" pitchFamily="18" charset="2"/>
              <a:buChar char="¨"/>
              <a:defRPr/>
            </a:pPr>
            <a:endParaRPr lang="en-US" altLang="zh-CN" sz="3200" b="1" dirty="0">
              <a:latin typeface="楷体" pitchFamily="49" charset="-122"/>
              <a:ea typeface="楷体" pitchFamily="49" charset="-122"/>
            </a:endParaRPr>
          </a:p>
        </p:txBody>
      </p:sp>
      <p:sp>
        <p:nvSpPr>
          <p:cNvPr id="8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143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3429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286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晶体管和批处理</a:t>
            </a:r>
            <a:r>
              <a:rPr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系统</a:t>
            </a:r>
            <a:endParaRPr lang="en-US" altLang="zh-CN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667500"/>
            <a:ext cx="424542" cy="182562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252706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658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0" dur="500"/>
                                        <p:tgtEl>
                                          <p:spTgt spid="16589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3" dur="500"/>
                                        <p:tgtEl>
                                          <p:spTgt spid="16589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 nodeType="clickPar">
                      <p:stCondLst>
                        <p:cond delay="indefinite"/>
                      </p:stCondLst>
                      <p:childTnLst>
                        <p:par>
                          <p:cTn id="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" presetID="3" presetClass="entr" presetSubtype="1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16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8" dur="500"/>
                                        <p:tgtEl>
                                          <p:spTgt spid="165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16589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5891" grpId="0" build="p"/>
      <p:bldP spid="165897" grpId="0" animBg="1"/>
      <p:bldP spid="165951" grpId="0" build="p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1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53" name="Rectangle 2"/>
          <p:cNvSpPr>
            <a:spLocks noChangeArrowheads="1"/>
          </p:cNvSpPr>
          <p:nvPr/>
        </p:nvSpPr>
        <p:spPr bwMode="auto">
          <a:xfrm>
            <a:off x="1524000" y="0"/>
            <a:ext cx="91440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92075" tIns="46038" rIns="92075" bIns="46038" anchor="ctr"/>
          <a:lstStyle>
            <a:lvl1pPr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143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3429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286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批处理系统示例</a:t>
            </a:r>
            <a:endParaRPr lang="en-US" altLang="zh-CN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pic>
        <p:nvPicPr>
          <p:cNvPr id="54" name="Picture 5" descr="01-0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06687" y="950372"/>
            <a:ext cx="6778625" cy="21748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5" name="Rectangle 3"/>
          <p:cNvSpPr>
            <a:spLocks noChangeArrowheads="1"/>
          </p:cNvSpPr>
          <p:nvPr/>
        </p:nvSpPr>
        <p:spPr bwMode="auto">
          <a:xfrm>
            <a:off x="2932667" y="3285526"/>
            <a:ext cx="6919790" cy="3381975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  <a:effectLst/>
          <a:extLst/>
        </p:spPr>
        <p:txBody>
          <a:bodyPr lIns="92075" tIns="46038" rIns="92075" bIns="46038"/>
          <a:lstStyle>
            <a:lvl1pPr marL="609600" indent="-609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742950" indent="-1905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1143000" indent="-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1600200" indent="-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2057400" indent="-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eaLnBrk="1" hangingPunct="1">
              <a:lnSpc>
                <a:spcPts val="3600"/>
              </a:lnSpc>
            </a:pPr>
            <a:r>
              <a:rPr lang="en-US" altLang="zh-CN" sz="2800" b="1" dirty="0">
                <a:ea typeface="宋体" panose="02010600030101010101" pitchFamily="2" charset="-122"/>
                <a:cs typeface="Times New Roman" panose="02020603050405020304" pitchFamily="18" charset="0"/>
              </a:rPr>
              <a:t>An early batch </a:t>
            </a:r>
            <a:r>
              <a:rPr lang="en-US" altLang="zh-CN" sz="28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system</a:t>
            </a:r>
            <a:r>
              <a:rPr lang="zh-CN" altLang="en-US" sz="2800" b="1" dirty="0" smtClean="0">
                <a:ea typeface="宋体" panose="02010600030101010101" pitchFamily="2" charset="-122"/>
                <a:cs typeface="Times New Roman" panose="02020603050405020304" pitchFamily="18" charset="0"/>
              </a:rPr>
              <a:t>：</a:t>
            </a: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/>
            </a:r>
            <a:b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(a) Programmers bring cards to 1401. </a:t>
            </a:r>
            <a:b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</a:b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(b)1401 reads batch of jobs onto tape</a:t>
            </a:r>
          </a:p>
          <a:p>
            <a:pPr eaLnBrk="1" hangingPunct="1">
              <a:lnSpc>
                <a:spcPts val="36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       (c) Operator carries input tape to 7094. </a:t>
            </a:r>
            <a:br>
              <a:rPr lang="en-US" altLang="zh-CN" sz="2800" dirty="0">
                <a:cs typeface="Times New Roman" panose="02020603050405020304" pitchFamily="18" charset="0"/>
              </a:rPr>
            </a:br>
            <a:r>
              <a:rPr lang="en-US" altLang="zh-CN" sz="2800" dirty="0">
                <a:cs typeface="Times New Roman" panose="02020603050405020304" pitchFamily="18" charset="0"/>
              </a:rPr>
              <a:t>(d) 7094 does computing. </a:t>
            </a:r>
          </a:p>
          <a:p>
            <a:pPr eaLnBrk="1" hangingPunct="1">
              <a:lnSpc>
                <a:spcPts val="36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       (e) Operator carries output tape to 1401.</a:t>
            </a:r>
          </a:p>
          <a:p>
            <a:pPr eaLnBrk="1" hangingPunct="1">
              <a:lnSpc>
                <a:spcPts val="3600"/>
              </a:lnSpc>
            </a:pPr>
            <a:r>
              <a:rPr lang="en-US" altLang="zh-CN" sz="2800" dirty="0">
                <a:cs typeface="Times New Roman" panose="02020603050405020304" pitchFamily="18" charset="0"/>
              </a:rPr>
              <a:t>       (f) 1401 prints output. </a:t>
            </a:r>
          </a:p>
          <a:p>
            <a:pPr algn="ctr" eaLnBrk="1" hangingPunct="1">
              <a:lnSpc>
                <a:spcPct val="150000"/>
              </a:lnSpc>
            </a:pPr>
            <a:r>
              <a:rPr lang="en-US" altLang="zh-CN" sz="2800" dirty="0">
                <a:ea typeface="宋体" panose="02010600030101010101" pitchFamily="2" charset="-122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-95003" y="6546850"/>
            <a:ext cx="357249" cy="31115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39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1403212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36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3652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2423592" y="35476"/>
            <a:ext cx="7772400" cy="12065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lIns="92075" tIns="46038" rIns="92075" bIns="46038" rtlCol="0" anchor="ctr">
            <a:normAutofit/>
          </a:bodyPr>
          <a:lstStyle>
            <a:lvl1pPr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1pPr>
            <a:lvl2pPr marL="1143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2pPr>
            <a:lvl3pPr marL="2286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3pPr>
            <a:lvl4pPr marL="3429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4pPr>
            <a:lvl5pPr marL="457200" algn="l" eaLnBrk="0" hangingPunct="0"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5pPr>
            <a:lvl6pPr marL="9144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6pPr>
            <a:lvl7pPr marL="1371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7pPr>
            <a:lvl8pPr marL="18288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8pPr>
            <a:lvl9pPr marL="22860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anose="02020603050405020304" pitchFamily="18" charset="0"/>
              </a:defRPr>
            </a:lvl9pPr>
          </a:lstStyle>
          <a:p>
            <a:pPr algn="ctr" eaLnBrk="1" fontAlgn="base" hangingPunct="1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</a:rPr>
              <a:t>集成电路和多道程序设计</a:t>
            </a:r>
            <a:endParaRPr lang="en-US" altLang="zh-CN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</a:endParaRPr>
          </a:p>
        </p:txBody>
      </p:sp>
      <p:pic>
        <p:nvPicPr>
          <p:cNvPr id="6" name="Picture 5" descr="01-05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23793" y="2060848"/>
            <a:ext cx="3152775" cy="23241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文本框 6"/>
          <p:cNvSpPr txBox="1"/>
          <p:nvPr/>
        </p:nvSpPr>
        <p:spPr>
          <a:xfrm>
            <a:off x="2518729" y="4581128"/>
            <a:ext cx="6840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zh-CN" altLang="en-US" b="1" dirty="0"/>
              <a:t>内存中存放三个作业的多道程序系统</a:t>
            </a:r>
          </a:p>
        </p:txBody>
      </p:sp>
      <p:sp>
        <p:nvSpPr>
          <p:cNvPr id="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1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26523"/>
            <a:ext cx="392875" cy="28195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8476061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7" name="Rectangle 3"/>
          <p:cNvSpPr>
            <a:spLocks noGrp="1" noChangeArrowheads="1"/>
          </p:cNvSpPr>
          <p:nvPr>
            <p:ph idx="1"/>
          </p:nvPr>
        </p:nvSpPr>
        <p:spPr>
          <a:xfrm>
            <a:off x="2303651" y="1339613"/>
            <a:ext cx="8064500" cy="1344211"/>
          </a:xfrm>
          <a:solidFill>
            <a:schemeClr val="bg2"/>
          </a:solidFill>
          <a:ln w="57150">
            <a:pattFill prst="wdUpDiag">
              <a:fgClr>
                <a:srgbClr val="990099"/>
              </a:fgClr>
              <a:bgClr>
                <a:schemeClr val="bg1"/>
              </a:bgClr>
            </a:pattFill>
            <a:miter lim="800000"/>
            <a:headEnd/>
            <a:tailEnd/>
          </a:ln>
        </p:spPr>
        <p:txBody>
          <a:bodyPr>
            <a:normAutofit/>
          </a:bodyPr>
          <a:lstStyle/>
          <a:p>
            <a:pPr algn="ctr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内存中放多道程序</a:t>
            </a:r>
            <a:r>
              <a:rPr lang="en-US" altLang="zh-CN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,</a:t>
            </a:r>
          </a:p>
          <a:p>
            <a:pPr algn="ctr" eaLnBrk="1" hangingPunct="1">
              <a:lnSpc>
                <a:spcPct val="90000"/>
              </a:lnSpc>
              <a:buFont typeface="Symbol" panose="05050102010706020507" pitchFamily="18" charset="2"/>
              <a:buNone/>
            </a:pP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在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OS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的</a:t>
            </a: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_GB2312" pitchFamily="49" charset="-122"/>
                <a:ea typeface="楷体_GB2312" pitchFamily="49" charset="-122"/>
              </a:rPr>
              <a:t>控制下相互穿插地运行。</a:t>
            </a:r>
          </a:p>
        </p:txBody>
      </p:sp>
      <p:sp>
        <p:nvSpPr>
          <p:cNvPr id="62468" name="Text Box 4"/>
          <p:cNvSpPr txBox="1">
            <a:spLocks noChangeArrowheads="1"/>
          </p:cNvSpPr>
          <p:nvPr/>
        </p:nvSpPr>
        <p:spPr bwMode="auto">
          <a:xfrm>
            <a:off x="2825689" y="4759411"/>
            <a:ext cx="6913563" cy="641350"/>
          </a:xfrm>
          <a:prstGeom prst="rect">
            <a:avLst/>
          </a:prstGeom>
          <a:solidFill>
            <a:srgbClr val="FFFF00"/>
          </a:solidFill>
          <a:ln>
            <a:noFill/>
          </a:ln>
          <a:extLst/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 eaLnBrk="1" hangingPunct="1">
              <a:spcBef>
                <a:spcPct val="50000"/>
              </a:spcBef>
              <a:buClrTx/>
              <a:buSzTx/>
              <a:buFontTx/>
              <a:buNone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华文楷体" panose="02010600040101010101" pitchFamily="2" charset="-122"/>
                <a:ea typeface="华文楷体" panose="02010600040101010101" pitchFamily="2" charset="-122"/>
              </a:rPr>
              <a:t>操作系统发展史上革命性变革。</a:t>
            </a:r>
          </a:p>
        </p:txBody>
      </p:sp>
      <p:sp>
        <p:nvSpPr>
          <p:cNvPr id="179205" name="AutoShape 5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7894" name="Text Box 6"/>
          <p:cNvSpPr txBox="1">
            <a:spLocks noChangeArrowheads="1"/>
          </p:cNvSpPr>
          <p:nvPr/>
        </p:nvSpPr>
        <p:spPr bwMode="auto">
          <a:xfrm>
            <a:off x="1943288" y="3892620"/>
            <a:ext cx="8424863" cy="579437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>
            <a:spAutoFit/>
          </a:bodyPr>
          <a:lstStyle/>
          <a:p>
            <a:pPr eaLnBrk="1" hangingPunct="1">
              <a:spcBef>
                <a:spcPct val="50000"/>
              </a:spcBef>
              <a:defRPr/>
            </a:pPr>
            <a:r>
              <a:rPr lang="zh-CN" altLang="en-US" sz="3200" b="1" dirty="0">
                <a:solidFill>
                  <a:srgbClr val="000099"/>
                </a:solidFill>
                <a:latin typeface="楷体" pitchFamily="49" charset="-122"/>
                <a:ea typeface="楷体" pitchFamily="49" charset="-122"/>
              </a:rPr>
              <a:t>硬件基础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：</a:t>
            </a:r>
            <a:r>
              <a:rPr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60</a:t>
            </a:r>
            <a:r>
              <a:rPr lang="zh-CN" altLang="en-US" sz="3200" b="1" dirty="0">
                <a:latin typeface="+mj-lt"/>
                <a:ea typeface="楷体" pitchFamily="49" charset="-122"/>
              </a:rPr>
              <a:t>年</a:t>
            </a:r>
            <a:r>
              <a:rPr lang="zh-CN" altLang="en-US" sz="3200" b="1" dirty="0">
                <a:latin typeface="楷体" pitchFamily="49" charset="-122"/>
                <a:ea typeface="楷体" pitchFamily="49" charset="-122"/>
              </a:rPr>
              <a:t>代通道技术、中断技术</a:t>
            </a:r>
          </a:p>
        </p:txBody>
      </p:sp>
      <p:sp>
        <p:nvSpPr>
          <p:cNvPr id="62472" name="Rectangle 8"/>
          <p:cNvSpPr>
            <a:spLocks noChangeArrowheads="1"/>
          </p:cNvSpPr>
          <p:nvPr/>
        </p:nvSpPr>
        <p:spPr bwMode="auto">
          <a:xfrm>
            <a:off x="1943288" y="3127452"/>
            <a:ext cx="8893175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solidFill>
                  <a:srgbClr val="000099"/>
                </a:solidFill>
                <a:latin typeface="楷体" panose="02010609060101010101" pitchFamily="49" charset="-122"/>
                <a:ea typeface="楷体" panose="02010609060101010101" pitchFamily="49" charset="-122"/>
              </a:rPr>
              <a:t>形成的动力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：提高资源利用率和系统吞吐量。</a:t>
            </a:r>
          </a:p>
        </p:txBody>
      </p:sp>
      <p:sp>
        <p:nvSpPr>
          <p:cNvPr id="2" name="矩形 1"/>
          <p:cNvSpPr/>
          <p:nvPr/>
        </p:nvSpPr>
        <p:spPr>
          <a:xfrm>
            <a:off x="4134285" y="102418"/>
            <a:ext cx="4296369" cy="725648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buNone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多道程序设计技术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552293"/>
            <a:ext cx="404751" cy="305707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4005370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2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79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2468" grpId="0" animBg="1"/>
      <p:bldP spid="179205" grpId="0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7" name="Rectangle 3"/>
          <p:cNvSpPr>
            <a:spLocks noGrp="1" noChangeArrowheads="1"/>
          </p:cNvSpPr>
          <p:nvPr>
            <p:ph idx="1"/>
          </p:nvPr>
        </p:nvSpPr>
        <p:spPr>
          <a:xfrm>
            <a:off x="1242456" y="1197161"/>
            <a:ext cx="10759044" cy="4495800"/>
          </a:xfrm>
        </p:spPr>
        <p:txBody>
          <a:bodyPr>
            <a:normAutofit/>
          </a:bodyPr>
          <a:lstStyle/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多道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计算机内存中同时存放几道相互独立的程序。</a:t>
            </a: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宏观上并行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同时有多道程序在内存运行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某一时间段上，各道程序不同程度地向前推进。</a:t>
            </a: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微观上串行（单</a:t>
            </a: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） 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任一时刻最多只有一道作业占用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CPU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，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多道程序交替使用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CPU 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125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81253" name="Rectangle 5"/>
          <p:cNvSpPr>
            <a:spLocks noChangeArrowheads="1"/>
          </p:cNvSpPr>
          <p:nvPr/>
        </p:nvSpPr>
        <p:spPr bwMode="auto">
          <a:xfrm>
            <a:off x="2205037" y="108745"/>
            <a:ext cx="7777163" cy="863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多道程序系统的特点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87919"/>
            <a:ext cx="345374" cy="27008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350710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125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1252" grpId="0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1" name="Rectangle 3"/>
          <p:cNvSpPr>
            <a:spLocks noGrp="1" noChangeArrowheads="1"/>
          </p:cNvSpPr>
          <p:nvPr>
            <p:ph idx="1"/>
          </p:nvPr>
        </p:nvSpPr>
        <p:spPr>
          <a:xfrm>
            <a:off x="2063749" y="765174"/>
            <a:ext cx="9742797" cy="5885007"/>
          </a:xfrm>
        </p:spPr>
        <p:txBody>
          <a:bodyPr>
            <a:normAutofit/>
          </a:bodyPr>
          <a:lstStyle/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4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优点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资源利用率高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系统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吞吐量大</a:t>
            </a:r>
          </a:p>
          <a:p>
            <a:pPr marL="1314450" lvl="3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系统吞吐量：系统在单位时间完成的总工作量</a:t>
            </a:r>
            <a:r>
              <a:rPr kumimoji="1" lang="zh-CN" altLang="en-US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lang="zh-CN" altLang="en-US" b="1" dirty="0">
              <a:latin typeface="+mj-lt"/>
              <a:ea typeface="楷体" pitchFamily="49" charset="-122"/>
            </a:endParaRPr>
          </a:p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40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缺点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平均周转时间长</a:t>
            </a:r>
          </a:p>
          <a:p>
            <a:pPr marL="1314450" lvl="3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作业的周转时间：从作业进入系统开始，直至其完成并退出系统为止所经历的时间。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无交互能力</a:t>
            </a:r>
          </a:p>
          <a:p>
            <a:pPr lvl="2" eaLnBrk="1" hangingPunct="1">
              <a:lnSpc>
                <a:spcPct val="90000"/>
              </a:lnSpc>
              <a:defRPr/>
            </a:pPr>
            <a:endParaRPr lang="zh-CN" altLang="en-US" b="1" dirty="0">
              <a:latin typeface="楷体_GB2312" pitchFamily="49" charset="-122"/>
              <a:ea typeface="楷体_GB2312" pitchFamily="49" charset="-122"/>
            </a:endParaRPr>
          </a:p>
          <a:p>
            <a:pPr eaLnBrk="1" hangingPunct="1">
              <a:lnSpc>
                <a:spcPct val="90000"/>
              </a:lnSpc>
              <a:buClrTx/>
              <a:buSzTx/>
              <a:buFontTx/>
              <a:buChar char="–"/>
              <a:defRPr/>
            </a:pPr>
            <a:endParaRPr lang="en-US" altLang="zh-CN" b="1" dirty="0"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183300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06547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83302" name="Rectangle 6"/>
          <p:cNvSpPr>
            <a:spLocks noChangeArrowheads="1"/>
          </p:cNvSpPr>
          <p:nvPr/>
        </p:nvSpPr>
        <p:spPr bwMode="auto">
          <a:xfrm>
            <a:off x="1992313" y="0"/>
            <a:ext cx="7777162" cy="863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多道程序系统的优缺点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20584"/>
            <a:ext cx="369125" cy="29383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43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196509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330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3300" grpId="0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3" name="Rectangle 3"/>
          <p:cNvSpPr>
            <a:spLocks noGrp="1" noChangeArrowheads="1"/>
          </p:cNvSpPr>
          <p:nvPr>
            <p:ph idx="1"/>
          </p:nvPr>
        </p:nvSpPr>
        <p:spPr>
          <a:xfrm>
            <a:off x="296562" y="836316"/>
            <a:ext cx="11514438" cy="1076674"/>
          </a:xfrm>
        </p:spPr>
        <p:txBody>
          <a:bodyPr>
            <a:normAutofit fontScale="92500" lnSpcReduction="10000"/>
          </a:bodyPr>
          <a:lstStyle/>
          <a:p>
            <a:pPr marL="228600" lvl="1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9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形成和发展的动力</a:t>
            </a:r>
          </a:p>
          <a:p>
            <a:pPr marL="857250" lvl="2" indent="-457200" fontAlgn="base">
              <a:lnSpc>
                <a:spcPts val="40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5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用户的需要：交互、共享主机、方便上机。</a:t>
            </a:r>
            <a:endParaRPr kumimoji="1" lang="zh-CN" altLang="en-US" sz="35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6372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516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86373" name="Rectangle 5"/>
          <p:cNvSpPr>
            <a:spLocks noChangeArrowheads="1"/>
          </p:cNvSpPr>
          <p:nvPr/>
        </p:nvSpPr>
        <p:spPr bwMode="auto">
          <a:xfrm>
            <a:off x="2279651" y="0"/>
            <a:ext cx="7777163" cy="863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分时操作系统</a:t>
            </a:r>
            <a:endParaRPr lang="zh-CN" altLang="en-US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+mj-lt"/>
              <a:ea typeface="MS PGothic" pitchFamily="34" charset="-128"/>
              <a:cs typeface="+mj-cs"/>
            </a:endParaRPr>
          </a:p>
        </p:txBody>
      </p:sp>
      <p:grpSp>
        <p:nvGrpSpPr>
          <p:cNvPr id="2" name="组合 1"/>
          <p:cNvGrpSpPr/>
          <p:nvPr/>
        </p:nvGrpSpPr>
        <p:grpSpPr>
          <a:xfrm>
            <a:off x="-154834" y="2089451"/>
            <a:ext cx="12345041" cy="4552649"/>
            <a:chOff x="65738" y="1790671"/>
            <a:chExt cx="12345041" cy="4552649"/>
          </a:xfrm>
        </p:grpSpPr>
        <p:sp>
          <p:nvSpPr>
            <p:cNvPr id="7" name="矩形 6"/>
            <p:cNvSpPr/>
            <p:nvPr/>
          </p:nvSpPr>
          <p:spPr>
            <a:xfrm>
              <a:off x="65738" y="1790671"/>
              <a:ext cx="12345041" cy="954107"/>
            </a:xfrm>
            <a:prstGeom prst="rect">
              <a:avLst/>
            </a:prstGeom>
          </p:spPr>
          <p:txBody>
            <a:bodyPr wrap="square">
              <a:spAutoFit/>
            </a:bodyPr>
            <a:lstStyle/>
            <a:p>
              <a:pPr lvl="1" eaLnBrk="1" hangingPunct="1"/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在一台主机上连接多个带有显示器和键盘的终端</a:t>
              </a:r>
              <a:r>
                <a:rPr lang="zh-CN" altLang="en-US" sz="2800" b="1" dirty="0" smtClean="0">
                  <a:latin typeface="楷体" panose="02010609060101010101" pitchFamily="49" charset="-122"/>
                  <a:ea typeface="楷体" panose="02010609060101010101" pitchFamily="49" charset="-122"/>
                </a:rPr>
                <a:t>，同时</a:t>
              </a:r>
              <a:r>
                <a:rPr lang="zh-CN" altLang="en-US" sz="2800" b="1" dirty="0">
                  <a:latin typeface="楷体" panose="02010609060101010101" pitchFamily="49" charset="-122"/>
                  <a:ea typeface="楷体" panose="02010609060101010101" pitchFamily="49" charset="-122"/>
                </a:rPr>
                <a:t>允许多个用户通过自己的键盘，以交互的方式使用计算机，共享主机中的资源。</a:t>
              </a:r>
            </a:p>
          </p:txBody>
        </p:sp>
        <p:pic>
          <p:nvPicPr>
            <p:cNvPr id="10" name="Picture 6"/>
            <p:cNvPicPr>
              <a:picLocks noChangeAspect="1" noChangeArrowheads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6250" t="6250" r="10417"/>
            <a:stretch>
              <a:fillRect/>
            </a:stretch>
          </p:blipFill>
          <p:spPr bwMode="auto">
            <a:xfrm>
              <a:off x="4874953" y="4767074"/>
              <a:ext cx="1200375" cy="101352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1" name="Picture 7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09306" y="3094753"/>
              <a:ext cx="858416" cy="76014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2" name="Picture 8"/>
            <p:cNvPicPr>
              <a:picLocks noChangeAspect="1" noChangeArrowheads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401" y="4412339"/>
              <a:ext cx="800719" cy="70946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3" name="Picture 9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645886" y="3044077"/>
              <a:ext cx="785240" cy="608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4" name="Picture 10"/>
            <p:cNvPicPr>
              <a:picLocks noChangeAspect="1" noChangeArrowheads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2000" t="8000"/>
            <a:stretch>
              <a:fillRect/>
            </a:stretch>
          </p:blipFill>
          <p:spPr bwMode="auto">
            <a:xfrm>
              <a:off x="4942501" y="2993400"/>
              <a:ext cx="710656" cy="55744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5" name="Picture 11"/>
            <p:cNvPicPr>
              <a:picLocks noChangeAspect="1" noChangeArrowheads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2510791" y="4260310"/>
              <a:ext cx="785240" cy="60811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6" name="Picture 12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456456" y="3652193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7" name="Picture 13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6646" y="3854899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8" name="Picture 14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996836" y="4057604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19" name="Picture 15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267026" y="4260310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0" name="Picture 16"/>
            <p:cNvPicPr>
              <a:picLocks noChangeAspect="1" noChangeArrowheads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604763" y="4513692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1" name="Picture 17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347786" y="4260310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2" name="Picture 18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80238" y="3956252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3" name="Picture 19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212691" y="3652193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4" name="Picture 20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0808" y="4361663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5" name="Picture 21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28546" y="4158957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6" name="Picture 22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766283" y="4006928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7" name="Picture 23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036473" y="3854899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8" name="Picture 24"/>
            <p:cNvPicPr>
              <a:picLocks noChangeAspect="1" noChangeArrowheads="1"/>
            </p:cNvPicPr>
            <p:nvPr/>
          </p:nvPicPr>
          <p:blipFill>
            <a:blip r:embed="rId9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9116" y="3753546"/>
              <a:ext cx="135095" cy="101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29" name="Picture 25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644401" y="4767074"/>
              <a:ext cx="101321" cy="760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0" name="Picture 26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374211" y="4817750"/>
              <a:ext cx="135095" cy="10135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1" name="Picture 27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968926" y="4817750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2" name="Picture 28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496093" y="4868427"/>
              <a:ext cx="202642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3" name="Picture 29"/>
            <p:cNvPicPr>
              <a:picLocks noChangeAspect="1" noChangeArrowheads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90808" y="4868427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4" name="Picture 30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388908" y="4615045"/>
              <a:ext cx="270190" cy="15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5" name="Picture 31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26646" y="4665721"/>
              <a:ext cx="337737" cy="1900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6" name="Picture 32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064383" y="4741736"/>
              <a:ext cx="405285" cy="22804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pic>
          <p:nvPicPr>
            <p:cNvPr id="37" name="Picture 33"/>
            <p:cNvPicPr>
              <a:picLocks noChangeAspect="1" noChangeArrowheads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402121" y="4817750"/>
              <a:ext cx="472832" cy="26605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38" name="Text Box 34"/>
            <p:cNvSpPr txBox="1">
              <a:spLocks noChangeArrowheads="1"/>
            </p:cNvSpPr>
            <p:nvPr/>
          </p:nvSpPr>
          <p:spPr bwMode="auto">
            <a:xfrm>
              <a:off x="5077596" y="5881954"/>
              <a:ext cx="878117" cy="46136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>
                  <a:solidFill>
                    <a:srgbClr val="000099"/>
                  </a:solidFill>
                  <a:ea typeface="楷体_GB2312" pitchFamily="49" charset="-122"/>
                </a:rPr>
                <a:t>主机</a:t>
              </a:r>
            </a:p>
          </p:txBody>
        </p:sp>
        <p:sp>
          <p:nvSpPr>
            <p:cNvPr id="39" name="Text Box 35"/>
            <p:cNvSpPr txBox="1">
              <a:spLocks noChangeArrowheads="1"/>
            </p:cNvSpPr>
            <p:nvPr/>
          </p:nvSpPr>
          <p:spPr bwMode="auto">
            <a:xfrm>
              <a:off x="5820618" y="2993400"/>
              <a:ext cx="538973" cy="830882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3810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chemeClr val="tx2"/>
                </a:buClr>
                <a:buSzPct val="90000"/>
                <a:buFont typeface="Symbol" panose="05050102010706020507" pitchFamily="18" charset="2"/>
                <a:buChar char="¨"/>
                <a:defRPr kumimoji="1" sz="32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kumimoji="1" sz="28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•"/>
                <a:defRPr kumimoji="1" sz="2000">
                  <a:solidFill>
                    <a:schemeClr val="tx1"/>
                  </a:solidFill>
                  <a:latin typeface="Times New Roman" panose="02020603050405020304" pitchFamily="18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50000"/>
                </a:spcBef>
                <a:buClrTx/>
                <a:buSzTx/>
                <a:buFontTx/>
                <a:buNone/>
              </a:pPr>
              <a:r>
                <a:rPr lang="zh-CN" altLang="en-US" sz="2400" b="1" dirty="0">
                  <a:solidFill>
                    <a:srgbClr val="000099"/>
                  </a:solidFill>
                  <a:ea typeface="楷体_GB2312" pitchFamily="49" charset="-122"/>
                </a:rPr>
                <a:t>终端</a:t>
              </a:r>
              <a:endParaRPr lang="zh-CN" altLang="en-US" sz="2400" b="1" dirty="0">
                <a:solidFill>
                  <a:srgbClr val="000099"/>
                </a:solidFill>
              </a:endParaRPr>
            </a:p>
          </p:txBody>
        </p:sp>
        <p:pic>
          <p:nvPicPr>
            <p:cNvPr id="40" name="Picture 36"/>
            <p:cNvPicPr>
              <a:picLocks noChangeAspect="1" noChangeArrowheads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415333" y="4564368"/>
              <a:ext cx="270190" cy="20270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41" name="Line 37"/>
            <p:cNvSpPr>
              <a:spLocks noChangeShapeType="1"/>
            </p:cNvSpPr>
            <p:nvPr/>
          </p:nvSpPr>
          <p:spPr bwMode="auto">
            <a:xfrm flipH="1" flipV="1">
              <a:off x="3388908" y="4665721"/>
              <a:ext cx="1418497" cy="304058"/>
            </a:xfrm>
            <a:prstGeom prst="line">
              <a:avLst/>
            </a:prstGeom>
            <a:noFill/>
            <a:ln w="9525">
              <a:solidFill>
                <a:schemeClr val="accent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2" name="Line 38"/>
            <p:cNvSpPr>
              <a:spLocks noChangeShapeType="1"/>
            </p:cNvSpPr>
            <p:nvPr/>
          </p:nvSpPr>
          <p:spPr bwMode="auto">
            <a:xfrm flipH="1" flipV="1">
              <a:off x="3388908" y="3601517"/>
              <a:ext cx="1486045" cy="1165557"/>
            </a:xfrm>
            <a:prstGeom prst="line">
              <a:avLst/>
            </a:prstGeom>
            <a:noFill/>
            <a:ln w="9525">
              <a:solidFill>
                <a:srgbClr val="0066FF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3" name="Line 39"/>
            <p:cNvSpPr>
              <a:spLocks noChangeShapeType="1"/>
            </p:cNvSpPr>
            <p:nvPr/>
          </p:nvSpPr>
          <p:spPr bwMode="auto">
            <a:xfrm flipH="1" flipV="1">
              <a:off x="5212691" y="3500164"/>
              <a:ext cx="337737" cy="1266910"/>
            </a:xfrm>
            <a:prstGeom prst="line">
              <a:avLst/>
            </a:prstGeom>
            <a:noFill/>
            <a:ln w="9525">
              <a:solidFill>
                <a:schemeClr val="accent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4" name="Line 40"/>
            <p:cNvSpPr>
              <a:spLocks noChangeShapeType="1"/>
            </p:cNvSpPr>
            <p:nvPr/>
          </p:nvSpPr>
          <p:spPr bwMode="auto">
            <a:xfrm flipV="1">
              <a:off x="5685523" y="3652193"/>
              <a:ext cx="1891330" cy="1114880"/>
            </a:xfrm>
            <a:prstGeom prst="line">
              <a:avLst/>
            </a:prstGeom>
            <a:noFill/>
            <a:ln w="9525">
              <a:solidFill>
                <a:schemeClr val="bg2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45" name="Line 41"/>
            <p:cNvSpPr>
              <a:spLocks noChangeShapeType="1"/>
            </p:cNvSpPr>
            <p:nvPr/>
          </p:nvSpPr>
          <p:spPr bwMode="auto">
            <a:xfrm flipV="1">
              <a:off x="6090808" y="4817750"/>
              <a:ext cx="1756235" cy="152029"/>
            </a:xfrm>
            <a:prstGeom prst="line">
              <a:avLst/>
            </a:prstGeom>
            <a:noFill/>
            <a:ln w="9525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572250"/>
            <a:ext cx="404751" cy="28575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44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423435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1863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6372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5" name="Rectangle 3"/>
          <p:cNvSpPr>
            <a:spLocks noGrp="1" noChangeArrowheads="1"/>
          </p:cNvSpPr>
          <p:nvPr>
            <p:ph idx="1"/>
          </p:nvPr>
        </p:nvSpPr>
        <p:spPr>
          <a:xfrm>
            <a:off x="3143250" y="981076"/>
            <a:ext cx="6121400" cy="5040313"/>
          </a:xfrm>
        </p:spPr>
        <p:txBody>
          <a:bodyPr>
            <a:normAutofit/>
          </a:bodyPr>
          <a:lstStyle/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多路性</a:t>
            </a:r>
          </a:p>
          <a:p>
            <a:pPr lvl="1" eaLnBrk="1" hangingPunct="1"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允许同一主机联接多台终端。</a:t>
            </a: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独立性</a:t>
            </a:r>
          </a:p>
          <a:p>
            <a:pPr lvl="1"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每一用户独占一个终端。</a:t>
            </a: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及时性</a:t>
            </a:r>
          </a:p>
          <a:p>
            <a:pPr lvl="1"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用户请求能及时响应。</a:t>
            </a: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交互性</a:t>
            </a:r>
          </a:p>
          <a:p>
            <a:pPr lvl="1">
              <a:buSzPct val="70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可进行广泛的人机对话。</a:t>
            </a:r>
            <a:endParaRPr kumimoji="1"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184324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184325" name="Rectangle 5"/>
          <p:cNvSpPr>
            <a:spLocks noChangeArrowheads="1"/>
          </p:cNvSpPr>
          <p:nvPr/>
        </p:nvSpPr>
        <p:spPr bwMode="auto">
          <a:xfrm>
            <a:off x="2279651" y="0"/>
            <a:ext cx="7777163" cy="86360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anchor="ctr"/>
          <a:lstStyle/>
          <a:p>
            <a:pPr algn="ctr" fontAlgn="base">
              <a:lnSpc>
                <a:spcPct val="11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j-lt"/>
                <a:ea typeface="MS PGothic" pitchFamily="34" charset="-128"/>
                <a:cs typeface="+mj-cs"/>
              </a:rPr>
              <a:t>分时系统的特征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20584"/>
            <a:ext cx="357249" cy="293832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09359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843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4324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4" name="Rectangle 4"/>
          <p:cNvSpPr>
            <a:spLocks noGrp="1" noChangeArrowheads="1"/>
          </p:cNvSpPr>
          <p:nvPr>
            <p:ph type="title"/>
          </p:nvPr>
        </p:nvSpPr>
        <p:spPr>
          <a:xfrm>
            <a:off x="2351088" y="0"/>
            <a:ext cx="7777162" cy="863600"/>
          </a:xfrm>
        </p:spPr>
        <p:txBody>
          <a:bodyPr>
            <a:norm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Personal Computers</a:t>
            </a:r>
          </a:p>
        </p:txBody>
      </p:sp>
      <p:sp>
        <p:nvSpPr>
          <p:cNvPr id="28160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文本框 2"/>
          <p:cNvSpPr txBox="1"/>
          <p:nvPr/>
        </p:nvSpPr>
        <p:spPr>
          <a:xfrm>
            <a:off x="1919349" y="735814"/>
            <a:ext cx="10082151" cy="42150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lvl="1" indent="-2286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DOS </a:t>
            </a: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SzPct val="7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单用户单任务操作系统</a:t>
            </a:r>
            <a:endParaRPr kumimoji="1"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228600" lvl="1" indent="-2286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IBM OS/2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80286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保护方式下工作的单用户多任务操作系统。</a:t>
            </a:r>
          </a:p>
          <a:p>
            <a:pPr marL="685800" lvl="1" indent="-228600">
              <a:lnSpc>
                <a:spcPct val="90000"/>
              </a:lnSpc>
              <a:spcBef>
                <a:spcPts val="50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支持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16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个任务并发</a:t>
            </a: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执行。</a:t>
            </a:r>
            <a:endParaRPr kumimoji="1" lang="zh-CN" altLang="en-US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228600" lvl="1" indent="-228600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Windows</a:t>
            </a: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1985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年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11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月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20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日，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Windows </a:t>
            </a:r>
            <a:r>
              <a:rPr kumimoji="1" lang="en-US" altLang="zh-CN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1.0</a:t>
            </a: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正式上市</a:t>
            </a:r>
            <a:endParaRPr kumimoji="1" lang="en-US" altLang="zh-CN" sz="32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685800" lvl="1" indent="-228600" fontAlgn="base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个人计算机上最广泛使用的操作系统</a:t>
            </a: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  <a:endParaRPr kumimoji="1" lang="en-US" altLang="zh-CN" sz="3600" b="1" dirty="0">
              <a:solidFill>
                <a:srgbClr val="0033CC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-95003" y="6467145"/>
            <a:ext cx="487877" cy="40071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5762548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28160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1607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628" name="Rectangle 4"/>
          <p:cNvSpPr>
            <a:spLocks noGrp="1" noChangeArrowheads="1"/>
          </p:cNvSpPr>
          <p:nvPr>
            <p:ph type="title"/>
          </p:nvPr>
        </p:nvSpPr>
        <p:spPr>
          <a:xfrm>
            <a:off x="2171701" y="0"/>
            <a:ext cx="7669213" cy="736600"/>
          </a:xfrm>
        </p:spPr>
        <p:txBody>
          <a:bodyPr>
            <a:no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zh-CN" altLang="en-US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后</a:t>
            </a:r>
            <a:r>
              <a:rPr lang="en-US" altLang="zh-CN" sz="40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PC</a:t>
            </a:r>
            <a:endParaRPr lang="zh-CN" altLang="en-US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282629" name="Rectangle 5"/>
          <p:cNvSpPr>
            <a:spLocks noGrp="1" noChangeArrowheads="1"/>
          </p:cNvSpPr>
          <p:nvPr>
            <p:ph idx="1"/>
          </p:nvPr>
        </p:nvSpPr>
        <p:spPr>
          <a:xfrm>
            <a:off x="510639" y="1196752"/>
            <a:ext cx="11483439" cy="3969014"/>
          </a:xfrm>
          <a:noFill/>
        </p:spPr>
        <p:txBody>
          <a:bodyPr>
            <a:normAutofit/>
          </a:bodyPr>
          <a:lstStyle/>
          <a:p>
            <a:pPr marL="228600" lvl="1" fontAlgn="base">
              <a:lnSpc>
                <a:spcPct val="15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en-US" altLang="zh-CN" sz="3900" dirty="0"/>
              <a:t> </a:t>
            </a:r>
            <a:r>
              <a:rPr kumimoji="1" lang="zh-CN" altLang="en-US" sz="39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时代环境：</a:t>
            </a:r>
            <a:r>
              <a:rPr kumimoji="1" lang="zh-CN" altLang="en-US" sz="39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移动计算、无线计算、嵌入式</a:t>
            </a:r>
            <a:r>
              <a:rPr kumimoji="1" lang="zh-CN" altLang="en-US" sz="3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计算、万物   </a:t>
            </a:r>
            <a:r>
              <a:rPr kumimoji="1" lang="en-US" altLang="zh-CN" sz="3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	              </a:t>
            </a:r>
            <a:r>
              <a:rPr kumimoji="1" lang="zh-CN" altLang="en-US" sz="39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互联</a:t>
            </a:r>
            <a:endParaRPr kumimoji="1" lang="zh-CN" altLang="en-US" sz="39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9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特点</a:t>
            </a:r>
            <a:r>
              <a:rPr kumimoji="1" lang="zh-CN" altLang="en-US" sz="39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：小型、移动、便捷、有限能力</a:t>
            </a:r>
          </a:p>
          <a:p>
            <a:pPr lvl="1"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移动计算的新潮：智能手机、高性能笔记本电脑</a:t>
            </a:r>
          </a:p>
          <a:p>
            <a:pPr lvl="1"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35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工业智能化的趋势：形形色色的嵌入式系统</a:t>
            </a:r>
          </a:p>
        </p:txBody>
      </p:sp>
      <p:sp>
        <p:nvSpPr>
          <p:cNvPr id="282631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07451"/>
            <a:ext cx="357248" cy="320098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6813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28262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5" presetClass="entr" presetSubtype="1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0" dur="500"/>
                                        <p:tgtEl>
                                          <p:spTgt spid="282629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2826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2631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2" name="文本框 5"/>
          <p:cNvSpPr txBox="1">
            <a:spLocks noChangeArrowheads="1"/>
          </p:cNvSpPr>
          <p:nvPr/>
        </p:nvSpPr>
        <p:spPr bwMode="auto">
          <a:xfrm>
            <a:off x="2279650" y="5949951"/>
            <a:ext cx="8496300" cy="460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dirty="0" err="1"/>
              <a:t>Geneology</a:t>
            </a:r>
            <a:r>
              <a:rPr lang="en-US" altLang="zh-CN" sz="2400" dirty="0"/>
              <a:t> of several modern operating systems</a:t>
            </a:r>
            <a:endParaRPr lang="zh-CN" altLang="en-US" sz="2400" dirty="0"/>
          </a:p>
        </p:txBody>
      </p:sp>
      <p:sp>
        <p:nvSpPr>
          <p:cNvPr id="78853" name="文本框 6"/>
          <p:cNvSpPr txBox="1">
            <a:spLocks noChangeArrowheads="1"/>
          </p:cNvSpPr>
          <p:nvPr/>
        </p:nvSpPr>
        <p:spPr bwMode="auto">
          <a:xfrm>
            <a:off x="1919288" y="6365875"/>
            <a:ext cx="8856662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Thomas Anderson </a:t>
            </a:r>
            <a:r>
              <a:rPr lang="zh-CN" altLang="zh-CN" sz="2000" b="1" dirty="0">
                <a:latin typeface="Tahoma" panose="020B0604030504040204" pitchFamily="34" charset="0"/>
                <a:ea typeface="+mn-ea"/>
                <a:cs typeface="Tahoma" panose="020B0604030504040204" pitchFamily="34" charset="0"/>
              </a:rPr>
              <a:t>，</a:t>
            </a:r>
            <a:r>
              <a:rPr lang="en-US" altLang="zh-CN" sz="2000" b="1" dirty="0">
                <a:latin typeface="Tahoma" panose="020B0604030504040204" pitchFamily="34" charset="0"/>
                <a:ea typeface="Tahoma" panose="020B0604030504040204" pitchFamily="34" charset="0"/>
                <a:cs typeface="Tahoma" panose="020B0604030504040204" pitchFamily="34" charset="0"/>
              </a:rPr>
              <a:t>Operating Systems: Principles and Practice</a:t>
            </a:r>
            <a:endParaRPr lang="zh-CN" altLang="en-US" sz="2000" b="1" dirty="0">
              <a:latin typeface="Tahoma" panose="020B0604030504040204" pitchFamily="34" charset="0"/>
              <a:ea typeface="+mn-ea"/>
              <a:cs typeface="Tahoma" panose="020B0604030504040204" pitchFamily="34" charset="0"/>
            </a:endParaRPr>
          </a:p>
        </p:txBody>
      </p:sp>
      <p:sp>
        <p:nvSpPr>
          <p:cNvPr id="8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41292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1725" y="682626"/>
            <a:ext cx="7610475" cy="5267325"/>
          </a:xfrm>
          <a:prstGeom prst="rect">
            <a:avLst/>
          </a:prstGeom>
        </p:spPr>
      </p:pic>
      <p:sp>
        <p:nvSpPr>
          <p:cNvPr id="9" name="Rectangle 4"/>
          <p:cNvSpPr>
            <a:spLocks noGrp="1" noChangeArrowheads="1"/>
          </p:cNvSpPr>
          <p:nvPr>
            <p:ph type="title"/>
          </p:nvPr>
        </p:nvSpPr>
        <p:spPr>
          <a:xfrm>
            <a:off x="2171701" y="0"/>
            <a:ext cx="7669213" cy="736600"/>
          </a:xfrm>
        </p:spPr>
        <p:txBody>
          <a:bodyPr>
            <a:no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4000" b="1" dirty="0" smtClean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MS PGothic" pitchFamily="34" charset="-128"/>
              </a:rPr>
              <a:t>OS History</a:t>
            </a:r>
            <a:endParaRPr lang="zh-CN" altLang="en-US" sz="4000" b="1" dirty="0">
              <a:solidFill>
                <a:srgbClr val="0066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MS PGothic" pitchFamily="34" charset="-128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590352"/>
            <a:ext cx="381000" cy="234455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48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281531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09938" y="0"/>
            <a:ext cx="5067300" cy="838200"/>
          </a:xfrm>
        </p:spPr>
        <p:txBody>
          <a:bodyPr>
            <a:normAutofit/>
          </a:bodyPr>
          <a:lstStyle/>
          <a:p>
            <a:pPr algn="ctr">
              <a:buClr>
                <a:schemeClr val="accent2"/>
              </a:buClr>
              <a:buSzPct val="90000"/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操作系统的现状</a:t>
            </a:r>
          </a:p>
        </p:txBody>
      </p:sp>
      <p:sp>
        <p:nvSpPr>
          <p:cNvPr id="55299" name="内容占位符 2"/>
          <p:cNvSpPr>
            <a:spLocks noGrp="1"/>
          </p:cNvSpPr>
          <p:nvPr>
            <p:ph idx="1"/>
          </p:nvPr>
        </p:nvSpPr>
        <p:spPr>
          <a:xfrm>
            <a:off x="568010" y="506958"/>
            <a:ext cx="11017359" cy="6160542"/>
          </a:xfrm>
        </p:spPr>
        <p:txBody>
          <a:bodyPr>
            <a:normAutofit fontScale="70000" lnSpcReduction="20000"/>
          </a:bodyPr>
          <a:lstStyle/>
          <a:p>
            <a:pPr marL="228600" lvl="1" fontAlgn="base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5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桌面操作系统</a:t>
            </a:r>
            <a:endParaRPr kumimoji="1" lang="en-US" altLang="zh-CN" sz="5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Windows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Linux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、</a:t>
            </a:r>
            <a:r>
              <a:rPr kumimoji="1" lang="en-US" altLang="zh-C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MacOS</a:t>
            </a: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等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5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服务器操作系统</a:t>
            </a:r>
            <a:endParaRPr kumimoji="1" lang="en-US" altLang="zh-CN" sz="5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Unix/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类</a:t>
            </a: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Unix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系列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Windows 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等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10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51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智能手机操作系统和平板电脑操作系统</a:t>
            </a:r>
            <a:endParaRPr kumimoji="1" lang="en-US" altLang="zh-CN" sz="51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Android </a:t>
            </a:r>
          </a:p>
          <a:p>
            <a:pPr lvl="2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基于安卓的生态更庞大、繁荣、高频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微信、商务、游戏、生活、娱乐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lvl="2">
              <a:lnSpc>
                <a:spcPct val="120000"/>
              </a:lnSpc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全球无数团队，基于安卓在源源不断地创意、开发新的应用</a:t>
            </a:r>
            <a:endParaRPr kumimoji="1" lang="en-US" altLang="zh-CN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lvl="1">
              <a:lnSpc>
                <a:spcPct val="120000"/>
              </a:lnSpc>
              <a:spcBef>
                <a:spcPts val="0"/>
              </a:spcBef>
              <a:buSzPct val="70000"/>
              <a:buFont typeface="Wingdings" panose="05000000000000000000" pitchFamily="2" charset="2"/>
              <a:buChar char="n"/>
              <a:defRPr/>
            </a:pPr>
            <a:r>
              <a:rPr kumimoji="1" lang="en-US" altLang="zh-CN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Apple </a:t>
            </a:r>
            <a:r>
              <a:rPr kumimoji="1" lang="en-US" altLang="zh-CN" sz="4000" b="1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ioS</a:t>
            </a:r>
            <a:r>
              <a:rPr kumimoji="1" lang="zh-CN" altLang="en-US" sz="4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" name="AutoShape 7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41292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601114"/>
            <a:ext cx="357249" cy="311150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49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536617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3821" y="127618"/>
            <a:ext cx="10515600" cy="774907"/>
          </a:xfrm>
        </p:spPr>
        <p:txBody>
          <a:bodyPr>
            <a:normAutofit/>
          </a:bodyPr>
          <a:lstStyle/>
          <a:p>
            <a:pPr lvl="1" algn="ctr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>
                <a:schemeClr val="accent2"/>
              </a:buClr>
              <a:buSzPct val="90000"/>
              <a:tabLst>
                <a:tab pos="1044575" algn="l"/>
              </a:tabLst>
              <a:defRPr/>
            </a:pPr>
            <a:r>
              <a:rPr kumimoji="1" lang="zh-CN" altLang="en-US" sz="4000" b="1" kern="1200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鸿蒙</a:t>
            </a:r>
            <a:r>
              <a:rPr kumimoji="1" lang="en-US" altLang="zh-CN" sz="4000" b="1" kern="1200" dirty="0" err="1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  <a:cs typeface="+mj-cs"/>
              </a:rPr>
              <a:t>HarmonyOS</a:t>
            </a:r>
            <a:endParaRPr kumimoji="1" lang="zh-CN" altLang="en-US" sz="4000" b="1" kern="1200" dirty="0">
              <a:solidFill>
                <a:srgbClr val="B2622C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Times New Roman" panose="02020603050405020304" pitchFamily="18" charset="0"/>
              <a:ea typeface="楷体_GB2312" pitchFamily="49" charset="-122"/>
              <a:cs typeface="+mj-cs"/>
            </a:endParaRP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166254" y="1231858"/>
            <a:ext cx="11483440" cy="4351338"/>
          </a:xfrm>
        </p:spPr>
        <p:txBody>
          <a:bodyPr>
            <a:normAutofit/>
          </a:bodyPr>
          <a:lstStyle/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全场景分布式系统，轻松实现跨设备共享服务及应用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灵活定制系统，适配更多设备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优势：分布式</a:t>
            </a:r>
            <a:r>
              <a:rPr kumimoji="1" lang="zh-CN" altLang="en-US" sz="3600" b="1" dirty="0" smtClean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操作、万物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互联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buSzPct val="75000"/>
              <a:buFont typeface="Wingdings" panose="05000000000000000000" pitchFamily="2" charset="2"/>
              <a:buChar char="n"/>
            </a:pP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平板、</a:t>
            </a:r>
            <a:r>
              <a:rPr kumimoji="1" lang="en-US" altLang="zh-CN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PC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、智能可穿戴设备、汽车、智能家居等设备</a:t>
            </a: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之间实现</a:t>
            </a:r>
            <a:r>
              <a:rPr kumimoji="1" lang="zh-CN" alt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无缝</a:t>
            </a:r>
            <a:r>
              <a:rPr kumimoji="1" lang="zh-CN" altLang="en-US" sz="32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连接</a:t>
            </a:r>
            <a:endParaRPr kumimoji="1" lang="en-US" altLang="zh-CN" sz="32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缺点：</a:t>
            </a: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App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应用数量少，大部分还是兼容</a:t>
            </a:r>
            <a:r>
              <a:rPr kumimoji="1" lang="en-US" altLang="zh-CN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Android</a:t>
            </a: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应用</a:t>
            </a:r>
            <a:endParaRPr kumimoji="1"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楷体" panose="02010609060101010101" pitchFamily="49" charset="-122"/>
              <a:cs typeface="Times New Roman" panose="02020603050405020304" pitchFamily="18" charset="0"/>
            </a:endParaRPr>
          </a:p>
        </p:txBody>
      </p:sp>
      <p:sp>
        <p:nvSpPr>
          <p:cNvPr id="4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-30184" y="6552293"/>
            <a:ext cx="392875" cy="305707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50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593760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626" name="标题 1"/>
          <p:cNvSpPr>
            <a:spLocks noGrp="1"/>
          </p:cNvSpPr>
          <p:nvPr>
            <p:ph type="title"/>
          </p:nvPr>
        </p:nvSpPr>
        <p:spPr>
          <a:xfrm>
            <a:off x="2963035" y="807451"/>
            <a:ext cx="7429500" cy="928688"/>
          </a:xfrm>
        </p:spPr>
        <p:txBody>
          <a:bodyPr/>
          <a:lstStyle/>
          <a:p>
            <a:pPr algn="ctr">
              <a:buClr>
                <a:schemeClr val="accent2"/>
              </a:buClr>
              <a:buSzPct val="90000"/>
              <a:defRPr/>
            </a:pP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“</a:t>
            </a:r>
            <a:r>
              <a:rPr kumimoji="1" lang="en-US" altLang="zh-CN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hello world” </a:t>
            </a: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在</a:t>
            </a:r>
            <a:r>
              <a:rPr kumimoji="1" lang="en-US" altLang="zh-CN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Linux</a:t>
            </a:r>
            <a:r>
              <a:rPr kumimoji="1" lang="zh-CN" altLang="en-US" sz="4000" b="1" dirty="0">
                <a:solidFill>
                  <a:srgbClr val="B2622C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Times New Roman" panose="02020603050405020304" pitchFamily="18" charset="0"/>
                <a:ea typeface="楷体_GB2312" pitchFamily="49" charset="-122"/>
              </a:rPr>
              <a:t>上运行</a:t>
            </a:r>
          </a:p>
        </p:txBody>
      </p:sp>
      <p:sp>
        <p:nvSpPr>
          <p:cNvPr id="154627" name="TextBox 4"/>
          <p:cNvSpPr txBox="1">
            <a:spLocks noChangeArrowheads="1"/>
          </p:cNvSpPr>
          <p:nvPr/>
        </p:nvSpPr>
        <p:spPr bwMode="auto">
          <a:xfrm>
            <a:off x="1738312" y="4643439"/>
            <a:ext cx="8929687" cy="107721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代码在</a:t>
            </a:r>
            <a:r>
              <a:rPr lang="en-US" altLang="zh-CN" b="1" dirty="0">
                <a:ea typeface="楷体" panose="02010609060101010101" pitchFamily="49" charset="-122"/>
                <a:cs typeface="Times New Roman" panose="02020603050405020304" pitchFamily="18" charset="0"/>
              </a:rPr>
              <a:t>1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万行以上，</a:t>
            </a:r>
            <a:endParaRPr lang="en-US" altLang="zh-CN" b="1" dirty="0"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除进程间通信外，几乎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涉及</a:t>
            </a:r>
            <a:r>
              <a:rPr lang="en-US" altLang="zh-CN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b="1" dirty="0" smtClean="0">
                <a:ea typeface="楷体" panose="02010609060101010101" pitchFamily="49" charset="-122"/>
                <a:cs typeface="Times New Roman" panose="02020603050405020304" pitchFamily="18" charset="0"/>
              </a:rPr>
              <a:t>的</a:t>
            </a:r>
            <a:r>
              <a:rPr lang="zh-CN" altLang="en-US" b="1" dirty="0">
                <a:ea typeface="楷体" panose="02010609060101010101" pitchFamily="49" charset="-122"/>
                <a:cs typeface="Times New Roman" panose="02020603050405020304" pitchFamily="18" charset="0"/>
              </a:rPr>
              <a:t>方方面面</a:t>
            </a:r>
            <a:r>
              <a:rPr lang="zh-CN" altLang="en-US" b="1" dirty="0">
                <a:latin typeface="楷体" panose="02010609060101010101" pitchFamily="49" charset="-122"/>
                <a:ea typeface="楷体" panose="02010609060101010101" pitchFamily="49" charset="-122"/>
              </a:rPr>
              <a:t>。</a:t>
            </a:r>
          </a:p>
        </p:txBody>
      </p:sp>
      <p:sp>
        <p:nvSpPr>
          <p:cNvPr id="154628" name="AutoShape 6"/>
          <p:cNvSpPr>
            <a:spLocks noChangeArrowheads="1"/>
          </p:cNvSpPr>
          <p:nvPr/>
        </p:nvSpPr>
        <p:spPr bwMode="auto">
          <a:xfrm flipV="1">
            <a:off x="3381376" y="1753688"/>
            <a:ext cx="5019675" cy="2586038"/>
          </a:xfrm>
          <a:prstGeom prst="verticalScroll">
            <a:avLst>
              <a:gd name="adj" fmla="val 7477"/>
            </a:avLst>
          </a:prstGeom>
          <a:solidFill>
            <a:schemeClr val="bg2"/>
          </a:solidFill>
          <a:ln w="25400">
            <a:solidFill>
              <a:schemeClr val="tx1"/>
            </a:solidFill>
            <a:round/>
            <a:headEnd/>
            <a:tailEnd/>
          </a:ln>
        </p:spPr>
        <p:txBody>
          <a:bodyPr rot="10800000"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>
                <a:ea typeface="楷体_GB2312" pitchFamily="49" charset="-122"/>
              </a:rPr>
              <a:t> </a:t>
            </a:r>
            <a:r>
              <a:rPr lang="en-US" altLang="zh-CN" sz="2400" b="1">
                <a:ea typeface="楷体_GB2312" pitchFamily="49" charset="-122"/>
              </a:rPr>
              <a:t>#include &lt;stdio.h&gt; </a:t>
            </a:r>
          </a:p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400" b="1">
                <a:ea typeface="楷体_GB2312" pitchFamily="49" charset="-122"/>
              </a:rPr>
              <a:t>void main()</a:t>
            </a:r>
            <a:br>
              <a:rPr lang="en-US" altLang="zh-CN" sz="2400" b="1">
                <a:ea typeface="楷体_GB2312" pitchFamily="49" charset="-122"/>
              </a:rPr>
            </a:br>
            <a:r>
              <a:rPr lang="en-US" altLang="zh-CN" sz="2400" b="1">
                <a:ea typeface="楷体_GB2312" pitchFamily="49" charset="-122"/>
              </a:rPr>
              <a:t>{</a:t>
            </a:r>
            <a:br>
              <a:rPr lang="en-US" altLang="zh-CN" sz="2400" b="1">
                <a:ea typeface="楷体_GB2312" pitchFamily="49" charset="-122"/>
              </a:rPr>
            </a:br>
            <a:r>
              <a:rPr lang="en-US" altLang="zh-CN" sz="2400" b="1">
                <a:ea typeface="楷体_GB2312" pitchFamily="49" charset="-122"/>
              </a:rPr>
              <a:t>printf("hello world\n")；</a:t>
            </a:r>
            <a:br>
              <a:rPr lang="en-US" altLang="zh-CN" sz="2400" b="1">
                <a:ea typeface="楷体_GB2312" pitchFamily="49" charset="-122"/>
              </a:rPr>
            </a:br>
            <a:r>
              <a:rPr lang="en-US" altLang="zh-CN" sz="2400" b="1">
                <a:ea typeface="楷体_GB2312" pitchFamily="49" charset="-122"/>
              </a:rPr>
              <a:t>}</a:t>
            </a:r>
            <a:endParaRPr lang="en-US" altLang="zh-CN" sz="2400" b="1"/>
          </a:p>
        </p:txBody>
      </p:sp>
      <p:sp>
        <p:nvSpPr>
          <p:cNvPr id="154629" name="Text Box 7"/>
          <p:cNvSpPr txBox="1">
            <a:spLocks noChangeArrowheads="1"/>
          </p:cNvSpPr>
          <p:nvPr/>
        </p:nvSpPr>
        <p:spPr bwMode="auto">
          <a:xfrm>
            <a:off x="1952625" y="127359"/>
            <a:ext cx="9450321" cy="7017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 cap="sq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lnSpc>
                <a:spcPct val="90000"/>
              </a:lnSpc>
              <a:spcBef>
                <a:spcPct val="0"/>
              </a:spcBef>
              <a:buClrTx/>
              <a:buSzTx/>
              <a:buNone/>
            </a:pPr>
            <a:r>
              <a:rPr lang="en-US" altLang="zh-CN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1.7 </a:t>
            </a:r>
            <a:r>
              <a:rPr lang="zh-CN" altLang="en-US" sz="4400" b="1" dirty="0">
                <a:solidFill>
                  <a:srgbClr val="C00000"/>
                </a:solidFill>
                <a:effectLst>
                  <a:outerShdw blurRad="38100" dist="38100" dir="2700000" algn="tl">
                    <a:srgbClr val="000000"/>
                  </a:outerShdw>
                </a:effectLst>
                <a:ea typeface="楷体_GB2312" pitchFamily="49" charset="-122"/>
                <a:cs typeface="+mj-cs"/>
              </a:rPr>
              <a:t>操作系统对一个程序的处理过程</a:t>
            </a:r>
          </a:p>
        </p:txBody>
      </p:sp>
      <p:sp>
        <p:nvSpPr>
          <p:cNvPr id="154630" name="TextBox 8"/>
          <p:cNvSpPr txBox="1">
            <a:spLocks noChangeArrowheads="1"/>
          </p:cNvSpPr>
          <p:nvPr/>
        </p:nvSpPr>
        <p:spPr bwMode="auto">
          <a:xfrm>
            <a:off x="1952625" y="6042697"/>
            <a:ext cx="8358188" cy="400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SzTx/>
              <a:buFontTx/>
              <a:buNone/>
            </a:pPr>
            <a:r>
              <a:rPr lang="en-US" altLang="zh-CN" sz="2000" b="1" dirty="0">
                <a:latin typeface="+mn-lt"/>
                <a:ea typeface="+mn-ea"/>
              </a:rPr>
              <a:t>LINUX</a:t>
            </a:r>
            <a:r>
              <a:rPr lang="zh-CN" altLang="en-US" sz="2000" b="1" dirty="0">
                <a:latin typeface="+mn-lt"/>
                <a:ea typeface="+mn-ea"/>
              </a:rPr>
              <a:t>内核设计的艺术</a:t>
            </a:r>
            <a:r>
              <a:rPr lang="en-US" altLang="zh-CN" sz="2000" b="1" dirty="0">
                <a:latin typeface="+mn-lt"/>
                <a:ea typeface="+mn-ea"/>
              </a:rPr>
              <a:t>: </a:t>
            </a:r>
            <a:r>
              <a:rPr lang="zh-CN" altLang="en-US" sz="2000" b="1" dirty="0">
                <a:latin typeface="+mn-lt"/>
                <a:ea typeface="+mn-ea"/>
              </a:rPr>
              <a:t>图解</a:t>
            </a:r>
            <a:r>
              <a:rPr lang="en-US" altLang="zh-CN" sz="2000" b="1" dirty="0">
                <a:latin typeface="+mn-lt"/>
                <a:ea typeface="+mn-ea"/>
              </a:rPr>
              <a:t>LINUX</a:t>
            </a:r>
            <a:r>
              <a:rPr lang="zh-CN" altLang="en-US" sz="2000" b="1" dirty="0">
                <a:latin typeface="+mn-lt"/>
                <a:ea typeface="+mn-ea"/>
              </a:rPr>
              <a:t>操作系统架构设计与实现原理</a:t>
            </a:r>
          </a:p>
        </p:txBody>
      </p:sp>
      <p:sp>
        <p:nvSpPr>
          <p:cNvPr id="8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9" name="文本框 8"/>
          <p:cNvSpPr txBox="1"/>
          <p:nvPr/>
        </p:nvSpPr>
        <p:spPr>
          <a:xfrm>
            <a:off x="-12640" y="6477000"/>
            <a:ext cx="38207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隶书" panose="02010509060101010101" pitchFamily="49" charset="-122"/>
                <a:ea typeface="隶书" panose="02010509060101010101" pitchFamily="49" charset="-122"/>
              </a:rPr>
              <a:t>大连海事大学 计算机系 史一民</a:t>
            </a:r>
            <a:endParaRPr lang="zh-CN" altLang="en-US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隶书" panose="02010509060101010101" pitchFamily="49" charset="-122"/>
              <a:ea typeface="隶书" panose="02010509060101010101" pitchFamily="49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4876851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650" name="标题 1"/>
          <p:cNvSpPr>
            <a:spLocks noGrp="1"/>
          </p:cNvSpPr>
          <p:nvPr>
            <p:ph type="title"/>
          </p:nvPr>
        </p:nvSpPr>
        <p:spPr>
          <a:xfrm>
            <a:off x="617517" y="0"/>
            <a:ext cx="10865922" cy="914029"/>
          </a:xfrm>
        </p:spPr>
        <p:txBody>
          <a:bodyPr>
            <a:no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1. 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用户输入命令，</a:t>
            </a: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shell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进程被唤醒，对命令解析。</a:t>
            </a:r>
          </a:p>
        </p:txBody>
      </p:sp>
      <p:sp>
        <p:nvSpPr>
          <p:cNvPr id="155651" name="内容占位符 2"/>
          <p:cNvSpPr>
            <a:spLocks noGrp="1"/>
          </p:cNvSpPr>
          <p:nvPr>
            <p:ph idx="1"/>
          </p:nvPr>
        </p:nvSpPr>
        <p:spPr>
          <a:xfrm>
            <a:off x="225631" y="1315193"/>
            <a:ext cx="11756571" cy="5257800"/>
          </a:xfrm>
        </p:spPr>
        <p:txBody>
          <a:bodyPr>
            <a:normAutofit/>
          </a:bodyPr>
          <a:lstStyle/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用户敲击键盘后，键入的信息记录在终端设备文件（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tty0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）上。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产生键盘中断信号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，进行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中断处理。</a:t>
            </a: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唤醒</a:t>
            </a:r>
            <a:r>
              <a:rPr kumimoji="1" lang="en-US" altLang="zh-CN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shell</a:t>
            </a: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进程，通过进程调度机制，由进程</a:t>
            </a:r>
            <a:r>
              <a:rPr kumimoji="1" lang="en-US" altLang="zh-CN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0</a:t>
            </a: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切换到</a:t>
            </a:r>
            <a:r>
              <a:rPr kumimoji="1" lang="en-US" altLang="zh-CN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shell</a:t>
            </a: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进程去执行。</a:t>
            </a:r>
            <a:endParaRPr kumimoji="1" lang="en-US" altLang="zh-CN" sz="30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shell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进程从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tty0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终端设备文件上读取用户键入的指令信息，解析该指令，并准备进行相应的处理。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778343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72993"/>
            <a:ext cx="440377" cy="216643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97941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674" name="标题 1"/>
          <p:cNvSpPr>
            <a:spLocks noGrp="1"/>
          </p:cNvSpPr>
          <p:nvPr>
            <p:ph type="title"/>
          </p:nvPr>
        </p:nvSpPr>
        <p:spPr>
          <a:xfrm>
            <a:off x="581892" y="0"/>
            <a:ext cx="11091553" cy="841829"/>
          </a:xfrm>
        </p:spPr>
        <p:txBody>
          <a:bodyPr>
            <a:no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2. 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调用</a:t>
            </a: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fork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创建一个用户进程，对程序进行控制。</a:t>
            </a:r>
          </a:p>
        </p:txBody>
      </p:sp>
      <p:sp>
        <p:nvSpPr>
          <p:cNvPr id="156675" name="内容占位符 4"/>
          <p:cNvSpPr>
            <a:spLocks noGrp="1"/>
          </p:cNvSpPr>
          <p:nvPr>
            <p:ph idx="1"/>
          </p:nvPr>
        </p:nvSpPr>
        <p:spPr>
          <a:xfrm>
            <a:off x="1774743" y="1411514"/>
            <a:ext cx="8705850" cy="3136735"/>
          </a:xfrm>
        </p:spPr>
        <p:txBody>
          <a:bodyPr/>
          <a:lstStyle/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创建进程控制块（</a:t>
            </a:r>
            <a:r>
              <a:rPr kumimoji="1" lang="en-US" altLang="zh-CN" sz="3600" b="1" dirty="0" err="1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task_struct</a:t>
            </a:r>
            <a:r>
              <a:rPr kumimoji="1" lang="zh-CN" altLang="en-US" sz="36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）</a:t>
            </a:r>
            <a:endParaRPr kumimoji="1" lang="en-US" altLang="zh-CN" sz="36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进程状态、进程对应的文件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进程调度信息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内存管理信息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文件管理信息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lvl="1"/>
            <a:endParaRPr lang="zh-CN" altLang="en-US" dirty="0"/>
          </a:p>
        </p:txBody>
      </p:sp>
      <p:sp>
        <p:nvSpPr>
          <p:cNvPr id="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792673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-83127" y="6611669"/>
            <a:ext cx="416626" cy="24633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595633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698" name="标题 1"/>
          <p:cNvSpPr>
            <a:spLocks noGrp="1"/>
          </p:cNvSpPr>
          <p:nvPr>
            <p:ph type="title"/>
          </p:nvPr>
        </p:nvSpPr>
        <p:spPr>
          <a:xfrm>
            <a:off x="2081213" y="0"/>
            <a:ext cx="8205787" cy="890649"/>
          </a:xfrm>
        </p:spPr>
        <p:txBody>
          <a:bodyPr>
            <a:norm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3. 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加载</a:t>
            </a: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hello world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文件对应的程序</a:t>
            </a:r>
          </a:p>
        </p:txBody>
      </p:sp>
      <p:sp>
        <p:nvSpPr>
          <p:cNvPr id="157699" name="内容占位符 2"/>
          <p:cNvSpPr>
            <a:spLocks noGrp="1"/>
          </p:cNvSpPr>
          <p:nvPr>
            <p:ph idx="1"/>
          </p:nvPr>
        </p:nvSpPr>
        <p:spPr>
          <a:xfrm>
            <a:off x="216756" y="969199"/>
            <a:ext cx="11934700" cy="5429250"/>
          </a:xfrm>
        </p:spPr>
        <p:txBody>
          <a:bodyPr>
            <a:noAutofit/>
          </a:bodyPr>
          <a:lstStyle/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>
                <a:schemeClr val="tx1"/>
              </a:buClr>
              <a:buSzPct val="7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文件系统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：解析文件路径、操作目录文件和目录项、操作</a:t>
            </a:r>
            <a:r>
              <a:rPr kumimoji="1" lang="en-US" altLang="zh-CN" sz="3200" b="1" dirty="0" err="1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i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节点表等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Clr>
                <a:schemeClr val="tx1">
                  <a:lumMod val="95000"/>
                  <a:lumOff val="5000"/>
                </a:schemeClr>
              </a:buClr>
              <a:buSzPct val="7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内存管理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：页面引用计数、页面三级管理机制（页目录表、页表、页面）、页面数据、地址映射机制、缺页中断机制。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文件和内存是所有进程可以共用的资源，它们之间还存在着更为复杂的管理关系。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如</a:t>
            </a:r>
            <a:r>
              <a:rPr kumimoji="1" lang="en-US" altLang="zh-CN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:</a:t>
            </a:r>
            <a:r>
              <a:rPr kumimoji="1" lang="zh-CN" altLang="en-US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两</a:t>
            </a: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个进程加载同一个</a:t>
            </a:r>
            <a:r>
              <a:rPr kumimoji="1" lang="en-US" altLang="zh-CN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hello world</a:t>
            </a:r>
            <a:r>
              <a:rPr kumimoji="1" lang="zh-CN" altLang="en-US" sz="30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文件时，涉及要不要共享，如何共享，共享后页面的引用计数如何计算，读写属性如何</a:t>
            </a:r>
            <a:r>
              <a:rPr kumimoji="1" lang="zh-CN" altLang="en-US" sz="30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确定等。</a:t>
            </a:r>
            <a:endParaRPr kumimoji="1" lang="zh-CN" altLang="en-US" sz="30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770456" y="6428137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96081"/>
            <a:ext cx="369124" cy="24633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255269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722" name="标题 1"/>
          <p:cNvSpPr>
            <a:spLocks noGrp="1"/>
          </p:cNvSpPr>
          <p:nvPr>
            <p:ph type="title"/>
          </p:nvPr>
        </p:nvSpPr>
        <p:spPr>
          <a:xfrm>
            <a:off x="999785" y="0"/>
            <a:ext cx="10137011" cy="1206500"/>
          </a:xfrm>
        </p:spPr>
        <p:txBody>
          <a:bodyPr>
            <a:noAutofit/>
          </a:bodyPr>
          <a:lstStyle/>
          <a:p>
            <a:pPr algn="ctr" fontAlgn="base">
              <a:lnSpc>
                <a:spcPct val="110000"/>
              </a:lnSpc>
              <a:spcAft>
                <a:spcPct val="0"/>
              </a:spcAft>
              <a:buClr>
                <a:schemeClr val="accent2"/>
              </a:buClr>
              <a:buSzPct val="90000"/>
              <a:defRPr/>
            </a:pP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4. 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程序开始执行，将“</a:t>
            </a:r>
            <a:r>
              <a:rPr lang="en-US" altLang="zh-CN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hello world”</a:t>
            </a:r>
            <a:r>
              <a:rPr lang="zh-CN" altLang="en-US" sz="3600" b="1" dirty="0">
                <a:solidFill>
                  <a:srgbClr val="0066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 显示在屏幕上。</a:t>
            </a:r>
          </a:p>
        </p:txBody>
      </p:sp>
      <p:sp>
        <p:nvSpPr>
          <p:cNvPr id="158723" name="内容占位符 2"/>
          <p:cNvSpPr>
            <a:spLocks noGrp="1"/>
          </p:cNvSpPr>
          <p:nvPr>
            <p:ph idx="1"/>
          </p:nvPr>
        </p:nvSpPr>
        <p:spPr>
          <a:xfrm>
            <a:off x="712520" y="1232065"/>
            <a:ext cx="10711542" cy="3054927"/>
          </a:xfrm>
        </p:spPr>
        <p:txBody>
          <a:bodyPr>
            <a:normAutofit/>
          </a:bodyPr>
          <a:lstStyle/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solidFill>
                  <a:srgbClr val="000099"/>
                </a:solidFill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设备管理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：直接与显示器的底层交互。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确定操作合法，然后将字符串转换成像素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将像素写入存储映像区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视频硬件将像素表示转换成一组模拟信号控制显示器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你在屏幕上看到“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hello world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”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endParaRPr kumimoji="1" lang="zh-CN" altLang="en-US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790218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44334"/>
            <a:ext cx="404751" cy="246331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55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9516510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2"/>
          <p:cNvSpPr txBox="1">
            <a:spLocks/>
          </p:cNvSpPr>
          <p:nvPr/>
        </p:nvSpPr>
        <p:spPr>
          <a:xfrm>
            <a:off x="534391" y="1605518"/>
            <a:ext cx="11483438" cy="2357437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lvl="2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即使是在屏幕上显示一行“</a:t>
            </a:r>
            <a:r>
              <a:rPr kumimoji="1" lang="en-US" altLang="zh-CN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hello world”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，都要写大量复杂的、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具有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功能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的程序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0" lvl="2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甚至无法把程序加载到计算机中，更谈不上得到运行结果了。</a:t>
            </a:r>
          </a:p>
        </p:txBody>
      </p:sp>
      <p:sp>
        <p:nvSpPr>
          <p:cNvPr id="4" name="标题 1"/>
          <p:cNvSpPr txBox="1">
            <a:spLocks/>
          </p:cNvSpPr>
          <p:nvPr/>
        </p:nvSpPr>
        <p:spPr>
          <a:xfrm>
            <a:off x="1809750" y="142876"/>
            <a:ext cx="8572500" cy="766763"/>
          </a:xfrm>
          <a:prstGeom prst="rect">
            <a:avLst/>
          </a:prstGeom>
          <a:solidFill>
            <a:srgbClr val="E1E1FF"/>
          </a:solidFill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ct val="100000"/>
              </a:lnSpc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如果没有</a:t>
            </a:r>
            <a:r>
              <a:rPr lang="zh-CN" altLang="en-US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操作系统</a:t>
            </a:r>
            <a:r>
              <a:rPr lang="en-US" altLang="zh-CN" sz="3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MS PGothic" pitchFamily="34" charset="-128"/>
                <a:cs typeface="Times New Roman" panose="02020603050405020304" pitchFamily="18" charset="0"/>
              </a:rPr>
              <a:t>?</a:t>
            </a:r>
            <a:endParaRPr lang="zh-CN" altLang="en-US" sz="3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ea typeface="MS PGothic" pitchFamily="34" charset="-128"/>
              <a:cs typeface="Times New Roman" panose="02020603050405020304" pitchFamily="18" charset="0"/>
            </a:endParaRPr>
          </a:p>
        </p:txBody>
      </p:sp>
      <p:sp>
        <p:nvSpPr>
          <p:cNvPr id="5" name="AutoShape 4">
            <a:hlinkClick r:id="" action="ppaction://hlinkshowjump?jump=nextslide" highlightClick="1"/>
          </p:cNvPr>
          <p:cNvSpPr>
            <a:spLocks noChangeArrowheads="1"/>
          </p:cNvSpPr>
          <p:nvPr/>
        </p:nvSpPr>
        <p:spPr bwMode="auto">
          <a:xfrm>
            <a:off x="11790218" y="6477000"/>
            <a:ext cx="381000" cy="381000"/>
          </a:xfrm>
          <a:prstGeom prst="actionButtonForwardNext">
            <a:avLst/>
          </a:prstGeom>
          <a:solidFill>
            <a:schemeClr val="bg1"/>
          </a:solidFill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0" y="6599794"/>
            <a:ext cx="345374" cy="25820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56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6213439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6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809750" y="142876"/>
            <a:ext cx="8572500" cy="766763"/>
          </a:xfrm>
          <a:solidFill>
            <a:srgbClr val="FFFF00"/>
          </a:solidFill>
        </p:spPr>
        <p:txBody>
          <a:bodyPr/>
          <a:lstStyle/>
          <a:p>
            <a:pPr>
              <a:defRPr/>
            </a:pPr>
            <a:r>
              <a:rPr lang="zh-CN" altLang="en-US" sz="36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楷体" panose="02010609060101010101" pitchFamily="49" charset="-122"/>
                <a:ea typeface="楷体" panose="02010609060101010101" pitchFamily="49" charset="-122"/>
              </a:rPr>
              <a:t>操作系统为应用程序的运行做了些什么？</a:t>
            </a:r>
          </a:p>
        </p:txBody>
      </p:sp>
      <p:sp>
        <p:nvSpPr>
          <p:cNvPr id="5" name="TextBox 4"/>
          <p:cNvSpPr txBox="1">
            <a:spLocks noChangeArrowheads="1"/>
          </p:cNvSpPr>
          <p:nvPr/>
        </p:nvSpPr>
        <p:spPr bwMode="auto">
          <a:xfrm>
            <a:off x="570016" y="1428749"/>
            <a:ext cx="10949050" cy="40216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marL="271463" indent="-271463"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22313" indent="-265113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marL="228600" lvl="1" indent="-228600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提供了对外设的支持</a:t>
            </a:r>
            <a:endParaRPr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marL="228600" lvl="1" indent="-228600" fontAlgn="base"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楷体" panose="02010609060101010101" pitchFamily="49" charset="-122"/>
                <a:cs typeface="Times New Roman" panose="02020603050405020304" pitchFamily="18" charset="0"/>
              </a:rPr>
              <a:t>支持多个程序同时运行</a:t>
            </a:r>
            <a:endParaRPr lang="en-US" altLang="zh-CN" sz="3600" b="1" dirty="0">
              <a:solidFill>
                <a:srgbClr val="000099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ea typeface="楷体" panose="02010609060101010101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对运行的多个程序进行有效的组织、管理和协调，防止某个程序独占</a:t>
            </a:r>
            <a:r>
              <a:rPr lang="en-US" altLang="zh-CN" sz="3200" b="1" dirty="0">
                <a:ea typeface="楷体" pitchFamily="49" charset="-122"/>
                <a:cs typeface="Times New Roman" panose="02020603050405020304" pitchFamily="18" charset="0"/>
              </a:rPr>
              <a:t>CPU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、内存、外设等资源。</a:t>
            </a:r>
            <a:endParaRPr lang="en-US" altLang="zh-CN" sz="3200" b="1" dirty="0">
              <a:ea typeface="楷体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防止正在运行的程序之间相互读写和相互覆盖，确保所有程序正确运行。</a:t>
            </a:r>
            <a:endParaRPr lang="en-US" altLang="zh-CN" sz="3200" b="1" dirty="0">
              <a:ea typeface="楷体" pitchFamily="49" charset="-122"/>
              <a:cs typeface="Times New Roman" panose="02020603050405020304" pitchFamily="18" charset="0"/>
            </a:endParaRPr>
          </a:p>
          <a:p>
            <a:pPr lvl="1">
              <a:spcBef>
                <a:spcPts val="600"/>
              </a:spcBef>
              <a:buSzPct val="70000"/>
              <a:buFont typeface="Wingdings" panose="05000000000000000000" pitchFamily="2" charset="2"/>
              <a:buChar char="n"/>
            </a:pPr>
            <a:r>
              <a:rPr lang="en-US" altLang="zh-CN" sz="3200" b="1" dirty="0" smtClean="0"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lang="zh-CN" altLang="en-US" sz="3200" b="1" dirty="0" smtClean="0">
                <a:ea typeface="楷体" pitchFamily="49" charset="-122"/>
                <a:cs typeface="Times New Roman" panose="02020603050405020304" pitchFamily="18" charset="0"/>
              </a:rPr>
              <a:t>不能</a:t>
            </a:r>
            <a:r>
              <a:rPr lang="zh-CN" altLang="en-US" sz="3200" b="1" dirty="0">
                <a:ea typeface="楷体" pitchFamily="49" charset="-122"/>
                <a:cs typeface="Times New Roman" panose="02020603050405020304" pitchFamily="18" charset="0"/>
              </a:rPr>
              <a:t>被应用程序直接读写，更不能被应用程序覆盖。</a:t>
            </a:r>
          </a:p>
        </p:txBody>
      </p:sp>
      <p:sp>
        <p:nvSpPr>
          <p:cNvPr id="8" name="AutoShape 4">
            <a:hlinkClick r:id="rId3" action="ppaction://hlinksldjump" highlightClick="1"/>
          </p:cNvPr>
          <p:cNvSpPr>
            <a:spLocks noChangeArrowheads="1"/>
          </p:cNvSpPr>
          <p:nvPr/>
        </p:nvSpPr>
        <p:spPr bwMode="auto">
          <a:xfrm>
            <a:off x="11811000" y="6477000"/>
            <a:ext cx="381000" cy="381000"/>
          </a:xfrm>
          <a:prstGeom prst="actionButtonHome">
            <a:avLst/>
          </a:prstGeom>
          <a:solidFill>
            <a:schemeClr val="bg1">
              <a:lumMod val="50000"/>
            </a:schemeClr>
          </a:solidFill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chemeClr val="tx2"/>
              </a:buClr>
              <a:buSzPct val="90000"/>
              <a:buFont typeface="Symbol" panose="05050102010706020507" pitchFamily="18" charset="2"/>
              <a:buChar char="¨"/>
              <a:defRPr kumimoji="1" sz="32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20000"/>
              </a:spcBef>
              <a:buChar char="–"/>
              <a:defRPr kumimoji="1" sz="28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20000"/>
              </a:spcBef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•"/>
              <a:defRPr kumimoji="1" sz="200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zh-CN" altLang="en-US" sz="240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0" y="6514646"/>
            <a:ext cx="369125" cy="305707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57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54521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build="p" bldLvl="2"/>
      <p:bldP spid="8" grpId="0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795" name="Rectangle 2"/>
          <p:cNvSpPr>
            <a:spLocks noGrp="1" noChangeArrowheads="1"/>
          </p:cNvSpPr>
          <p:nvPr>
            <p:ph type="title"/>
          </p:nvPr>
        </p:nvSpPr>
        <p:spPr>
          <a:xfrm>
            <a:off x="2170114" y="118753"/>
            <a:ext cx="7772400" cy="908050"/>
          </a:xfrm>
        </p:spPr>
        <p:txBody>
          <a:bodyPr/>
          <a:lstStyle/>
          <a:p>
            <a:pPr algn="ctr" eaLnBrk="1" hangingPunct="1"/>
            <a:r>
              <a:rPr lang="zh-CN" altLang="en-US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本章要求</a:t>
            </a:r>
          </a:p>
        </p:txBody>
      </p:sp>
      <p:sp>
        <p:nvSpPr>
          <p:cNvPr id="161796" name="Rectangle 3"/>
          <p:cNvSpPr>
            <a:spLocks noGrp="1" noChangeArrowheads="1"/>
          </p:cNvSpPr>
          <p:nvPr>
            <p:ph idx="1"/>
          </p:nvPr>
        </p:nvSpPr>
        <p:spPr>
          <a:xfrm>
            <a:off x="2312618" y="1323501"/>
            <a:ext cx="8497887" cy="3854140"/>
          </a:xfrm>
        </p:spPr>
        <p:txBody>
          <a:bodyPr>
            <a:normAutofit/>
          </a:bodyPr>
          <a:lstStyle/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掌握</a:t>
            </a:r>
          </a:p>
          <a:p>
            <a:pPr marL="457200" lvl="3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概念</a:t>
            </a:r>
            <a:endParaRPr kumimoji="1" lang="zh-CN" altLang="en-US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功能</a:t>
            </a:r>
          </a:p>
          <a:p>
            <a:pPr marL="228600" lvl="1" fontAlgn="base">
              <a:lnSpc>
                <a:spcPct val="80000"/>
              </a:lnSpc>
              <a:spcBef>
                <a:spcPts val="1000"/>
              </a:spcBef>
              <a:spcAft>
                <a:spcPct val="0"/>
              </a:spcAft>
              <a:buClr>
                <a:srgbClr val="000099"/>
              </a:buClr>
              <a:buSzPct val="100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zh-CN" altLang="en-US" sz="3600" b="1" dirty="0">
                <a:solidFill>
                  <a:srgbClr val="000099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楷体" panose="02010609060101010101" pitchFamily="49" charset="-122"/>
                <a:cs typeface="Times New Roman" panose="02020603050405020304" pitchFamily="18" charset="0"/>
              </a:rPr>
              <a:t>了解</a:t>
            </a:r>
          </a:p>
          <a:p>
            <a:pPr marL="457200" lvl="3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运行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的两种模式</a:t>
            </a:r>
            <a:endParaRPr kumimoji="1" lang="en-US" altLang="zh-CN" sz="3200" b="1" dirty="0">
              <a:latin typeface="Times New Roman" panose="02020603050405020304" pitchFamily="18" charset="0"/>
              <a:ea typeface="楷体" pitchFamily="49" charset="-122"/>
              <a:cs typeface="Times New Roman" panose="02020603050405020304" pitchFamily="18" charset="0"/>
            </a:endParaRPr>
          </a:p>
          <a:p>
            <a:pPr marL="457200" lvl="3" indent="400050" fontAlgn="base">
              <a:lnSpc>
                <a:spcPts val="4400"/>
              </a:lnSpc>
              <a:spcBef>
                <a:spcPts val="600"/>
              </a:spcBef>
              <a:spcAft>
                <a:spcPct val="0"/>
              </a:spcAft>
              <a:buSzPct val="75000"/>
              <a:buFont typeface="Wingdings" panose="05000000000000000000" pitchFamily="2" charset="2"/>
              <a:buChar char="n"/>
              <a:tabLst>
                <a:tab pos="1044575" algn="l"/>
              </a:tabLst>
              <a:defRPr/>
            </a:pP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分类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和各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类</a:t>
            </a:r>
            <a:r>
              <a:rPr kumimoji="1" lang="en-US" altLang="zh-CN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OS</a:t>
            </a:r>
            <a:r>
              <a:rPr kumimoji="1" lang="zh-CN" altLang="en-US" sz="3200" b="1" dirty="0" smtClean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的</a:t>
            </a:r>
            <a:r>
              <a:rPr kumimoji="1" lang="zh-CN" altLang="en-US" sz="3200" b="1" dirty="0">
                <a:latin typeface="Times New Roman" panose="02020603050405020304" pitchFamily="18" charset="0"/>
                <a:ea typeface="楷体" pitchFamily="49" charset="-122"/>
                <a:cs typeface="Times New Roman" panose="02020603050405020304" pitchFamily="18" charset="0"/>
              </a:rPr>
              <a:t>特点</a:t>
            </a:r>
          </a:p>
        </p:txBody>
      </p:sp>
      <p:sp>
        <p:nvSpPr>
          <p:cNvPr id="3" name="灯片编号占位符 2"/>
          <p:cNvSpPr>
            <a:spLocks noGrp="1"/>
          </p:cNvSpPr>
          <p:nvPr>
            <p:ph type="sldNum" sz="quarter" idx="12"/>
          </p:nvPr>
        </p:nvSpPr>
        <p:spPr>
          <a:xfrm>
            <a:off x="0" y="6576044"/>
            <a:ext cx="392875" cy="281956"/>
          </a:xfrm>
        </p:spPr>
        <p:txBody>
          <a:bodyPr/>
          <a:lstStyle/>
          <a:p>
            <a:fld id="{EC9E7061-309D-4762-B454-0E29FADD7B3B}" type="slidenum">
              <a:rPr lang="zh-CN" altLang="en-US" smtClean="0"/>
              <a:t>58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81120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/>
    </mc:Choice>
    <mc:Fallback xmlns="">
      <p:transition spd="slow"/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 主题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主题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主题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2215</TotalTime>
  <Words>3757</Words>
  <Application>Microsoft Office PowerPoint</Application>
  <PresentationFormat>宽屏</PresentationFormat>
  <Paragraphs>537</Paragraphs>
  <Slides>58</Slides>
  <Notes>41</Notes>
  <HiddenSlides>0</HiddenSlides>
  <MMClips>0</MMClips>
  <ScaleCrop>false</ScaleCrop>
  <HeadingPairs>
    <vt:vector size="6" baseType="variant">
      <vt:variant>
        <vt:lpstr>已用的字体</vt:lpstr>
      </vt:variant>
      <vt:variant>
        <vt:i4>22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58</vt:i4>
      </vt:variant>
    </vt:vector>
  </HeadingPairs>
  <TitlesOfParts>
    <vt:vector size="81" baseType="lpstr">
      <vt:lpstr>Complex</vt:lpstr>
      <vt:lpstr>Monotype Sorts</vt:lpstr>
      <vt:lpstr>MS PGothic</vt:lpstr>
      <vt:lpstr>等线</vt:lpstr>
      <vt:lpstr>仿宋_GB2312</vt:lpstr>
      <vt:lpstr>华文楷体</vt:lpstr>
      <vt:lpstr>华文行楷</vt:lpstr>
      <vt:lpstr>楷体</vt:lpstr>
      <vt:lpstr>楷体_GB2312</vt:lpstr>
      <vt:lpstr>隶书</vt:lpstr>
      <vt:lpstr>宋体</vt:lpstr>
      <vt:lpstr>Arial</vt:lpstr>
      <vt:lpstr>Bodoni MT</vt:lpstr>
      <vt:lpstr>Calibri</vt:lpstr>
      <vt:lpstr>Calibri Light</vt:lpstr>
      <vt:lpstr>Cambria Math</vt:lpstr>
      <vt:lpstr>Comic Sans MS</vt:lpstr>
      <vt:lpstr>Symbol</vt:lpstr>
      <vt:lpstr>Tahoma</vt:lpstr>
      <vt:lpstr>Times New Roman</vt:lpstr>
      <vt:lpstr>Verdana</vt:lpstr>
      <vt:lpstr>Wingdings</vt:lpstr>
      <vt:lpstr>Office Theme</vt:lpstr>
      <vt:lpstr>操作系统</vt:lpstr>
      <vt:lpstr>PowerPoint 演示文稿</vt:lpstr>
      <vt:lpstr>PowerPoint 演示文稿</vt:lpstr>
      <vt:lpstr>PowerPoint 演示文稿</vt:lpstr>
      <vt:lpstr>PowerPoint 演示文稿</vt:lpstr>
      <vt:lpstr>课程考核方式</vt:lpstr>
      <vt:lpstr>PowerPoint 演示文稿</vt:lpstr>
      <vt:lpstr>PowerPoint 演示文稿</vt:lpstr>
      <vt:lpstr>参考书 1</vt:lpstr>
      <vt:lpstr>参考书 2</vt:lpstr>
      <vt:lpstr>参考书 3</vt:lpstr>
      <vt:lpstr>新设计团队. LINUX内核设计的艺术:图解LINUX操作系统架构设计与实现原理 (第2版). 机械工业出版社 以图形、图像为核心，突出描述OS在实际运行过程中内存的运行时结构；强调学生站在OS设计者的视角，整体把握OS。</vt:lpstr>
      <vt:lpstr>第1章  导   论</vt:lpstr>
      <vt:lpstr>1.1 操作系统做什么</vt:lpstr>
      <vt:lpstr>PowerPoint 演示文稿</vt:lpstr>
      <vt:lpstr>PowerPoint 演示文稿</vt:lpstr>
      <vt:lpstr>1.2 计算机硬件系统的组成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1.3 计算机系统的体系结构</vt:lpstr>
      <vt:lpstr>集群系统（Clustered Systems）</vt:lpstr>
      <vt:lpstr>1.4  操作系统的执行</vt:lpstr>
      <vt:lpstr>双重模式的执行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用户模式到内核模式的转换</vt:lpstr>
      <vt:lpstr>1.5 操作系统的功能</vt:lpstr>
      <vt:lpstr>PowerPoint 演示文稿</vt:lpstr>
      <vt:lpstr>操作系统的发展历史</vt:lpstr>
      <vt:lpstr>PowerPoint 演示文稿</vt:lpstr>
      <vt:lpstr>PowerPoint 演示文稿</vt:lpstr>
      <vt:lpstr>PowerPoint 演示文稿</vt:lpstr>
      <vt:lpstr>集成电路和多道程序设计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Personal Computers</vt:lpstr>
      <vt:lpstr>后PC</vt:lpstr>
      <vt:lpstr>OS History</vt:lpstr>
      <vt:lpstr>操作系统的现状</vt:lpstr>
      <vt:lpstr>鸿蒙HarmonyOS</vt:lpstr>
      <vt:lpstr>“hello world” 在Linux上运行</vt:lpstr>
      <vt:lpstr>1. 用户输入命令，shell进程被唤醒，对命令解析。</vt:lpstr>
      <vt:lpstr>2. 调用fork创建一个用户进程，对程序进行控制。</vt:lpstr>
      <vt:lpstr>3. 加载hello world文件对应的程序</vt:lpstr>
      <vt:lpstr>4. 程序开始执行，将“hello world” 显示在屏幕上。</vt:lpstr>
      <vt:lpstr>PowerPoint 演示文稿</vt:lpstr>
      <vt:lpstr>操作系统为应用程序的运行做了些什么？</vt:lpstr>
      <vt:lpstr>本章要求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yimin shi</dc:creator>
  <cp:lastModifiedBy>Zetian Mi</cp:lastModifiedBy>
  <cp:revision>357</cp:revision>
  <dcterms:created xsi:type="dcterms:W3CDTF">2019-03-25T06:07:28Z</dcterms:created>
  <dcterms:modified xsi:type="dcterms:W3CDTF">2024-09-04T03:09:57Z</dcterms:modified>
</cp:coreProperties>
</file>