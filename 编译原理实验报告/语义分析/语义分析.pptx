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729" r:id="rId2"/>
    <p:sldMasterId id="2147483743" r:id="rId3"/>
    <p:sldMasterId id="2147483785" r:id="rId4"/>
    <p:sldMasterId id="2147483797" r:id="rId5"/>
    <p:sldMasterId id="2147483809" r:id="rId6"/>
    <p:sldMasterId id="2147483821" r:id="rId7"/>
    <p:sldMasterId id="2147483833" r:id="rId8"/>
  </p:sldMasterIdLst>
  <p:notesMasterIdLst>
    <p:notesMasterId r:id="rId27"/>
  </p:notesMasterIdLst>
  <p:sldIdLst>
    <p:sldId id="268" r:id="rId9"/>
    <p:sldId id="874" r:id="rId10"/>
    <p:sldId id="880" r:id="rId11"/>
    <p:sldId id="876" r:id="rId12"/>
    <p:sldId id="704" r:id="rId13"/>
    <p:sldId id="705" r:id="rId14"/>
    <p:sldId id="342" r:id="rId15"/>
    <p:sldId id="344" r:id="rId16"/>
    <p:sldId id="346" r:id="rId17"/>
    <p:sldId id="345" r:id="rId18"/>
    <p:sldId id="347" r:id="rId19"/>
    <p:sldId id="352" r:id="rId20"/>
    <p:sldId id="354" r:id="rId21"/>
    <p:sldId id="353" r:id="rId22"/>
    <p:sldId id="348" r:id="rId23"/>
    <p:sldId id="349" r:id="rId24"/>
    <p:sldId id="355" r:id="rId25"/>
    <p:sldId id="350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36699"/>
    <a:srgbClr val="FF9966"/>
    <a:srgbClr val="BEEECD"/>
    <a:srgbClr val="FFFFFF"/>
    <a:srgbClr val="EFEFFB"/>
    <a:srgbClr val="FFFFCC"/>
    <a:srgbClr val="705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492" y="68"/>
      </p:cViewPr>
      <p:guideLst>
        <p:guide orient="horz" pos="2276"/>
        <p:guide pos="38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gs" Target="tags/tag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6EEDE-308C-4369-A576-C5A09EE11F44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91A5-6234-4A50-A8CD-ED8CA8AA2DB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A5F04115-AFC0-4B83-AEF9-5A2CB45C60B6}" type="slidenum">
              <a:rPr lang="en-US" altLang="zh-CN" sz="1000" b="0" smtClean="0">
                <a:solidFill>
                  <a:schemeClr val="tx1"/>
                </a:solidFill>
                <a:ea typeface="宋体" panose="02010600030101010101" pitchFamily="2" charset="-122"/>
              </a:rPr>
              <a:t>1</a:t>
            </a:fld>
            <a:endParaRPr lang="en-US" altLang="zh-CN" sz="1000" b="0" smtClean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A5F04115-AFC0-4B83-AEF9-5A2CB45C60B6}" type="slidenum">
              <a:rPr lang="en-US" altLang="zh-CN" sz="1000" b="0" smtClean="0">
                <a:solidFill>
                  <a:schemeClr val="tx1"/>
                </a:solidFill>
                <a:ea typeface="宋体" panose="02010600030101010101" pitchFamily="2" charset="-122"/>
              </a:rPr>
              <a:t>2</a:t>
            </a:fld>
            <a:endParaRPr lang="en-US" altLang="zh-CN" sz="1000" b="0" smtClean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715F94-6201-469B-820F-A7BBAD98FE08}" type="slidenum">
              <a:rPr lang="en-US" altLang="zh-CN" smtClean="0"/>
              <a:t>18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51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E8E8D-2C50-4E45-9893-BE882CB4245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4814-6D56-4568-93B2-1FE7980BF6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6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BC59-54D3-4A5B-8447-7DD337A78F3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FBC8-8EDC-43CF-8DE0-35563CCD384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71E91-458D-4CD7-AA51-39B0CA6A35E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9AB-FBDE-46FB-B876-ADCBFD8955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363FF-F77E-425E-96ED-46C232BD036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6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48C30-7136-4448-83CA-C15D4D1DF59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7D0C5-517D-4FE0-92D2-4BE64D01E5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86341-FD31-42EA-AF8A-11E6C026D41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0988-C904-4A13-9B6A-E43D5A3FB88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8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E8E8D-2C50-4E45-9893-BE882CB4245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4814-6D56-4568-93B2-1FE7980BF69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BC59-54D3-4A5B-8447-7DD337A78F3A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FBC8-8EDC-43CF-8DE0-35563CCD3840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71E91-458D-4CD7-AA51-39B0CA6A35E8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9AB-FBDE-46FB-B876-ADCBFD89551E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363FF-F77E-425E-96ED-46C232BD0362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48C30-7136-4448-83CA-C15D4D1DF59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7D0C5-517D-4FE0-92D2-4BE64D01E51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86341-FD31-42EA-AF8A-11E6C026D41D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0988-C904-4A13-9B6A-E43D5A3FB88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2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E8E8D-2C50-4E45-9893-BE882CB4245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4814-6D56-4568-93B2-1FE7980BF69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BC59-54D3-4A5B-8447-7DD337A78F3A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FBC8-8EDC-43CF-8DE0-35563CCD3840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71E91-458D-4CD7-AA51-39B0CA6A35E8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9AB-FBDE-46FB-B876-ADCBFD89551E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363FF-F77E-425E-96ED-46C232BD0362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48C30-7136-4448-83CA-C15D4D1DF59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7D0C5-517D-4FE0-92D2-4BE64D01E51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86341-FD31-42EA-AF8A-11E6C026D41D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0988-C904-4A13-9B6A-E43D5A3FB88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E8E8D-2C50-4E45-9893-BE882CB4245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4814-6D56-4568-93B2-1FE7980BF69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BC59-54D3-4A5B-8447-7DD337A78F3A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FBC8-8EDC-43CF-8DE0-35563CCD3840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71E91-458D-4CD7-AA51-39B0CA6A35E8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9AB-FBDE-46FB-B876-ADCBFD89551E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363FF-F77E-425E-96ED-46C232BD0362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48C30-7136-4448-83CA-C15D4D1DF59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7D0C5-517D-4FE0-92D2-4BE64D01E51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86341-FD31-42EA-AF8A-11E6C026D41D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0988-C904-4A13-9B6A-E43D5A3FB88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E8E8D-2C50-4E45-9893-BE882CB42453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4814-6D56-4568-93B2-1FE7980BF69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FBC59-54D3-4A5B-8447-7DD337A78F3A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2FBC8-8EDC-43CF-8DE0-35563CCD3840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71E91-458D-4CD7-AA51-39B0CA6A35E8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5C9AB-FBDE-46FB-B876-ADCBFD89551E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363FF-F77E-425E-96ED-46C232BD0362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48C30-7136-4448-83CA-C15D4D1DF59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7D0C5-517D-4FE0-92D2-4BE64D01E51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86341-FD31-42EA-AF8A-11E6C026D41D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0988-C904-4A13-9B6A-E43D5A3FB884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2B3C927-CCDF-4444-89D7-85D5DD2A875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B3C927-CCDF-4444-89D7-85D5DD2A875E}" type="slidenum">
              <a:rPr kumimoji="1" lang="en-US" altLang="zh-CN">
                <a:solidFill>
                  <a:srgbClr val="000000"/>
                </a:solidFill>
              </a:rPr>
              <a:t>‹#›</a:t>
            </a:fld>
            <a:endParaRPr kumimoji="1"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B3C927-CCDF-4444-89D7-85D5DD2A875E}" type="slidenum">
              <a:rPr kumimoji="1" lang="en-US" altLang="zh-CN">
                <a:solidFill>
                  <a:srgbClr val="000000"/>
                </a:solidFill>
              </a:rPr>
              <a:t>‹#›</a:t>
            </a:fld>
            <a:endParaRPr kumimoji="1"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B3C927-CCDF-4444-89D7-85D5DD2A875E}" type="slidenum">
              <a:rPr kumimoji="1" lang="en-US" altLang="zh-CN">
                <a:solidFill>
                  <a:srgbClr val="000000"/>
                </a:solidFill>
              </a:rPr>
              <a:t>‹#›</a:t>
            </a:fld>
            <a:endParaRPr kumimoji="1"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B3C927-CCDF-4444-89D7-85D5DD2A875E}" type="slidenum">
              <a:rPr kumimoji="1" lang="en-US" altLang="zh-CN">
                <a:solidFill>
                  <a:srgbClr val="000000"/>
                </a:solidFill>
              </a:rPr>
              <a:t>‹#›</a:t>
            </a:fld>
            <a:endParaRPr kumimoji="1"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1643818" y="5577931"/>
            <a:ext cx="2540000" cy="457200"/>
          </a:xfrm>
        </p:spPr>
        <p:txBody>
          <a:bodyPr/>
          <a:lstStyle/>
          <a:p>
            <a:pPr>
              <a:defRPr/>
            </a:pPr>
            <a:fld id="{1699E76F-767E-4BF9-BC17-BBE2B47F2AEB}" type="datetime1">
              <a:rPr lang="zh-CN" altLang="en-US"/>
              <a:t>2024/5/20</a:t>
            </a:fld>
            <a:endParaRPr lang="en-US" altLang="zh-CN"/>
          </a:p>
        </p:txBody>
      </p:sp>
      <p:sp>
        <p:nvSpPr>
          <p:cNvPr id="7168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/>
              <a:t>第 </a:t>
            </a:r>
            <a:fld id="{FBEF00E6-A44D-4BFE-B820-8A589A3869F1}" type="slidenum">
              <a:rPr lang="zh-CN" altLang="en-US" sz="1400"/>
              <a:t>1</a:t>
            </a:fld>
            <a:r>
              <a:rPr lang="zh-CN" altLang="en-US" sz="1400"/>
              <a:t> 页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-51757" y="334328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-51757" y="0"/>
            <a:ext cx="24593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语义分析及中间代码生成</a:t>
            </a:r>
            <a:endParaRPr lang="zh-CN" altLang="en-US" sz="1600" dirty="0"/>
          </a:p>
        </p:txBody>
      </p:sp>
      <p:sp>
        <p:nvSpPr>
          <p:cNvPr id="35" name="圆角矩形 34"/>
          <p:cNvSpPr/>
          <p:nvPr/>
        </p:nvSpPr>
        <p:spPr bwMode="auto">
          <a:xfrm>
            <a:off x="3983034" y="1573477"/>
            <a:ext cx="3653859" cy="456979"/>
          </a:xfrm>
          <a:prstGeom prst="roundRect">
            <a:avLst/>
          </a:prstGeom>
          <a:solidFill>
            <a:srgbClr val="0070C0"/>
          </a:solidFill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 smtClean="0">
                <a:solidFill>
                  <a:schemeClr val="bg2"/>
                </a:solidFill>
                <a:latin typeface="+mj-ea"/>
                <a:ea typeface="+mj-ea"/>
              </a:rPr>
              <a:t>词法分析器</a:t>
            </a:r>
            <a:endParaRPr lang="zh-CN" altLang="en-US" sz="24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4003948" y="2493551"/>
            <a:ext cx="3653859" cy="456979"/>
          </a:xfrm>
          <a:prstGeom prst="roundRect">
            <a:avLst/>
          </a:prstGeom>
          <a:solidFill>
            <a:srgbClr val="0070C0"/>
          </a:solidFill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 smtClean="0">
                <a:latin typeface="+mj-ea"/>
                <a:ea typeface="+mj-ea"/>
              </a:rPr>
              <a:t>语法分析器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37" name="圆角矩形 36"/>
          <p:cNvSpPr/>
          <p:nvPr/>
        </p:nvSpPr>
        <p:spPr bwMode="auto">
          <a:xfrm>
            <a:off x="4003947" y="3412713"/>
            <a:ext cx="3653859" cy="456979"/>
          </a:xfrm>
          <a:prstGeom prst="roundRect">
            <a:avLst/>
          </a:prstGeom>
          <a:solidFill>
            <a:srgbClr val="0070C0"/>
          </a:solidFill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语义分析与中间代码生成器</a:t>
            </a:r>
          </a:p>
        </p:txBody>
      </p:sp>
      <p:sp>
        <p:nvSpPr>
          <p:cNvPr id="38" name="圆角矩形 37"/>
          <p:cNvSpPr/>
          <p:nvPr/>
        </p:nvSpPr>
        <p:spPr bwMode="auto">
          <a:xfrm>
            <a:off x="4003947" y="4327259"/>
            <a:ext cx="3653859" cy="456979"/>
          </a:xfrm>
          <a:prstGeom prst="roundRect">
            <a:avLst/>
          </a:prstGeom>
          <a:solidFill>
            <a:srgbClr val="0070C0"/>
          </a:solidFill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kumimoji="1" lang="zh-CN" altLang="en-US" sz="2400" dirty="0">
                <a:latin typeface="+mj-ea"/>
                <a:ea typeface="+mj-ea"/>
              </a:rPr>
              <a:t>优化段</a:t>
            </a:r>
          </a:p>
        </p:txBody>
      </p:sp>
      <p:sp>
        <p:nvSpPr>
          <p:cNvPr id="39" name="圆角矩形 38"/>
          <p:cNvSpPr/>
          <p:nvPr/>
        </p:nvSpPr>
        <p:spPr bwMode="auto">
          <a:xfrm>
            <a:off x="4003947" y="5243174"/>
            <a:ext cx="3653859" cy="456979"/>
          </a:xfrm>
          <a:prstGeom prst="roundRect">
            <a:avLst/>
          </a:prstGeom>
          <a:solidFill>
            <a:srgbClr val="0070C0"/>
          </a:solidFill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目标代码生成器</a:t>
            </a:r>
          </a:p>
        </p:txBody>
      </p:sp>
      <p:sp>
        <p:nvSpPr>
          <p:cNvPr id="40" name="下箭头 39"/>
          <p:cNvSpPr/>
          <p:nvPr/>
        </p:nvSpPr>
        <p:spPr>
          <a:xfrm>
            <a:off x="5728331" y="2064716"/>
            <a:ext cx="162219" cy="403608"/>
          </a:xfrm>
          <a:prstGeom prst="downArrow">
            <a:avLst/>
          </a:prstGeom>
          <a:solidFill>
            <a:srgbClr val="33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5728331" y="2978736"/>
            <a:ext cx="162219" cy="403608"/>
          </a:xfrm>
          <a:prstGeom prst="downArrow">
            <a:avLst/>
          </a:prstGeom>
          <a:solidFill>
            <a:srgbClr val="33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2" name="下箭头 41"/>
          <p:cNvSpPr/>
          <p:nvPr/>
        </p:nvSpPr>
        <p:spPr>
          <a:xfrm>
            <a:off x="5728331" y="3904946"/>
            <a:ext cx="162219" cy="403608"/>
          </a:xfrm>
          <a:prstGeom prst="downArrow">
            <a:avLst/>
          </a:prstGeom>
          <a:solidFill>
            <a:srgbClr val="33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8" name="下箭头 47"/>
          <p:cNvSpPr/>
          <p:nvPr/>
        </p:nvSpPr>
        <p:spPr>
          <a:xfrm>
            <a:off x="5728331" y="4815790"/>
            <a:ext cx="162219" cy="403608"/>
          </a:xfrm>
          <a:prstGeom prst="down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下箭头 53"/>
          <p:cNvSpPr/>
          <p:nvPr/>
        </p:nvSpPr>
        <p:spPr>
          <a:xfrm>
            <a:off x="5728331" y="5740350"/>
            <a:ext cx="162219" cy="403608"/>
          </a:xfrm>
          <a:prstGeom prst="down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5722214" y="1140126"/>
            <a:ext cx="162219" cy="403608"/>
          </a:xfrm>
          <a:prstGeom prst="down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184113" y="206646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2"/>
                </a:solidFill>
                <a:latin typeface="+mj-ea"/>
                <a:ea typeface="+mj-ea"/>
              </a:rPr>
              <a:t>单词符号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184113" y="108626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2"/>
                </a:solidFill>
                <a:latin typeface="+mj-ea"/>
                <a:ea typeface="+mj-ea"/>
              </a:rPr>
              <a:t>源程序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6184113" y="392399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2"/>
                </a:solidFill>
                <a:latin typeface="+mj-ea"/>
                <a:ea typeface="+mj-ea"/>
              </a:rPr>
              <a:t>中间代码</a:t>
            </a:r>
            <a:endParaRPr lang="zh-CN" altLang="en-US" sz="20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191362" y="3026921"/>
            <a:ext cx="142964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/>
                </a:solidFill>
                <a:latin typeface="+mj-ea"/>
                <a:ea typeface="+mj-ea"/>
              </a:rPr>
              <a:t>语法</a:t>
            </a:r>
            <a:r>
              <a:rPr lang="zh-CN" altLang="en-US" sz="2000" dirty="0" smtClean="0">
                <a:solidFill>
                  <a:schemeClr val="bg2"/>
                </a:solidFill>
                <a:latin typeface="+mj-ea"/>
                <a:ea typeface="+mj-ea"/>
              </a:rPr>
              <a:t>单位</a:t>
            </a:r>
            <a:endParaRPr lang="zh-CN" altLang="en-US" sz="20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184113" y="57877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目标代码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6191362" y="482100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2"/>
                </a:solidFill>
                <a:latin typeface="+mj-ea"/>
                <a:ea typeface="+mj-ea"/>
              </a:rPr>
              <a:t>中间代码</a:t>
            </a:r>
            <a:endParaRPr lang="zh-CN" altLang="en-US" sz="20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2638289" y="1560033"/>
            <a:ext cx="506000" cy="4140120"/>
          </a:xfrm>
          <a:prstGeom prst="roundRect">
            <a:avLst/>
          </a:prstGeom>
          <a:solidFill>
            <a:schemeClr val="accent3">
              <a:lumMod val="25000"/>
            </a:schemeClr>
          </a:solidFill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/>
              <a:t>符号表管理</a:t>
            </a:r>
          </a:p>
        </p:txBody>
      </p:sp>
      <p:sp>
        <p:nvSpPr>
          <p:cNvPr id="79" name="圆角矩形 78"/>
          <p:cNvSpPr/>
          <p:nvPr/>
        </p:nvSpPr>
        <p:spPr bwMode="auto">
          <a:xfrm>
            <a:off x="8508736" y="1543734"/>
            <a:ext cx="506000" cy="4140120"/>
          </a:xfrm>
          <a:prstGeom prst="roundRect">
            <a:avLst/>
          </a:prstGeom>
          <a:solidFill>
            <a:schemeClr val="accent3">
              <a:lumMod val="25000"/>
            </a:schemeClr>
          </a:solidFill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400" dirty="0" smtClean="0">
                <a:latin typeface="+mj-ea"/>
                <a:ea typeface="+mj-ea"/>
              </a:rPr>
              <a:t>出错处理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80" name="左右箭头 79"/>
          <p:cNvSpPr/>
          <p:nvPr/>
        </p:nvSpPr>
        <p:spPr>
          <a:xfrm>
            <a:off x="3217929" y="1687721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左右箭头 80"/>
          <p:cNvSpPr/>
          <p:nvPr/>
        </p:nvSpPr>
        <p:spPr>
          <a:xfrm>
            <a:off x="3223416" y="2607795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左右箭头 81"/>
          <p:cNvSpPr/>
          <p:nvPr/>
        </p:nvSpPr>
        <p:spPr>
          <a:xfrm>
            <a:off x="3217929" y="3521429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左右箭头 82"/>
          <p:cNvSpPr/>
          <p:nvPr/>
        </p:nvSpPr>
        <p:spPr>
          <a:xfrm>
            <a:off x="3246042" y="4441503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左右箭头 83"/>
          <p:cNvSpPr/>
          <p:nvPr/>
        </p:nvSpPr>
        <p:spPr>
          <a:xfrm>
            <a:off x="3217929" y="5357418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左右箭头 84"/>
          <p:cNvSpPr/>
          <p:nvPr/>
        </p:nvSpPr>
        <p:spPr>
          <a:xfrm>
            <a:off x="7722873" y="1693817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6" name="左右箭头 85"/>
          <p:cNvSpPr/>
          <p:nvPr/>
        </p:nvSpPr>
        <p:spPr>
          <a:xfrm>
            <a:off x="7728360" y="2613891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7" name="左右箭头 86"/>
          <p:cNvSpPr/>
          <p:nvPr/>
        </p:nvSpPr>
        <p:spPr>
          <a:xfrm>
            <a:off x="7722873" y="3527525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8" name="左右箭头 87"/>
          <p:cNvSpPr/>
          <p:nvPr/>
        </p:nvSpPr>
        <p:spPr>
          <a:xfrm>
            <a:off x="7750986" y="4447599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9" name="左右箭头 88"/>
          <p:cNvSpPr/>
          <p:nvPr/>
        </p:nvSpPr>
        <p:spPr>
          <a:xfrm>
            <a:off x="7722873" y="5363514"/>
            <a:ext cx="684000" cy="228490"/>
          </a:xfrm>
          <a:prstGeom prst="left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3979025" y="3436647"/>
            <a:ext cx="3708000" cy="438127"/>
          </a:xfrm>
          <a:prstGeom prst="roundRect">
            <a:avLst/>
          </a:prstGeom>
          <a:noFill/>
          <a:ln w="63500">
            <a:solidFill>
              <a:srgbClr val="C00000"/>
            </a:solidFill>
            <a:headEnd type="none" w="med" len="med"/>
            <a:tailEnd type="stealth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12" name="标题 11"/>
          <p:cNvSpPr>
            <a:spLocks noGrp="1"/>
          </p:cNvSpPr>
          <p:nvPr/>
        </p:nvSpPr>
        <p:spPr>
          <a:xfrm>
            <a:off x="490577" y="334328"/>
            <a:ext cx="3270250" cy="877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3200" dirty="0">
                <a:solidFill>
                  <a:srgbClr val="002060"/>
                </a:solidFill>
              </a:rPr>
              <a:t>编译程序总</a:t>
            </a:r>
            <a:r>
              <a:rPr lang="zh-CN" altLang="en-US" sz="3200" dirty="0" smtClean="0">
                <a:solidFill>
                  <a:srgbClr val="002060"/>
                </a:solidFill>
              </a:rPr>
              <a:t>框</a:t>
            </a:r>
            <a:endParaRPr lang="zh-CN" alt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/>
              <a:t>第 </a:t>
            </a:r>
            <a:fld id="{FBEF00E6-A44D-4BFE-B820-8A589A3869F1}" type="slidenum">
              <a:rPr lang="zh-CN" altLang="en-US" sz="1400"/>
              <a:t>2</a:t>
            </a:fld>
            <a:r>
              <a:rPr lang="zh-CN" altLang="en-US" sz="1400"/>
              <a:t> 页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3116" y="1157506"/>
            <a:ext cx="10296198" cy="414305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20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■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类型检查</a:t>
            </a:r>
            <a:endParaRPr lang="en-US" altLang="zh-CN" sz="2800" b="1" dirty="0" smtClean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 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运算操作数的</a:t>
            </a:r>
            <a:r>
              <a:rPr lang="zh-CN" altLang="en-US" sz="2800" b="1" dirty="0" smtClean="0">
                <a:solidFill>
                  <a:srgbClr val="FF6600"/>
                </a:solidFill>
                <a:effectLst/>
                <a:latin typeface="宋体" panose="02010600030101010101" pitchFamily="2" charset="-122"/>
                <a:cs typeface="+mn-ea"/>
              </a:rPr>
              <a:t>类型相容性</a:t>
            </a:r>
            <a:endParaRPr lang="zh-CN" altLang="en-US" sz="2800" b="1" dirty="0">
              <a:solidFill>
                <a:srgbClr val="FF6600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20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■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控制流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检查</a:t>
            </a:r>
            <a:endParaRPr lang="en-US" altLang="zh-CN" sz="2800" b="1" dirty="0" smtClean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  控制语句应有</a:t>
            </a:r>
            <a:r>
              <a:rPr lang="zh-CN" altLang="en-US" sz="2800" b="1" dirty="0">
                <a:solidFill>
                  <a:srgbClr val="FF6600"/>
                </a:solidFill>
                <a:effectLst/>
                <a:latin typeface="宋体" panose="02010600030101010101" pitchFamily="2" charset="-122"/>
                <a:cs typeface="+mn-ea"/>
              </a:rPr>
              <a:t>合法转向点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等</a:t>
            </a:r>
            <a:endParaRPr lang="en-US" altLang="zh-CN" sz="2800" dirty="0" smtClean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20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■</a:t>
            </a:r>
            <a:r>
              <a:rPr lang="en-US" altLang="zh-CN" sz="20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 </a:t>
            </a:r>
            <a:r>
              <a:rPr lang="zh-CN" altLang="en-US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一致性检查</a:t>
            </a:r>
            <a:endParaRPr lang="en-US" altLang="zh-CN" sz="2800" b="1" dirty="0" smtClean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 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在相同作用域标识符只能说明</a:t>
            </a:r>
            <a:r>
              <a:rPr lang="zh-CN" altLang="en-US" sz="2800" dirty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一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次、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case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语句的标号不能相同等</a:t>
            </a:r>
            <a:endParaRPr lang="en-US" altLang="zh-CN" sz="2800" dirty="0" smtClean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</a:t>
            </a:r>
            <a:r>
              <a:rPr lang="en-US" altLang="zh-CN" sz="2800" b="1" dirty="0" smtClean="0">
                <a:solidFill>
                  <a:schemeClr val="bg2"/>
                </a:solidFill>
                <a:effectLst/>
                <a:latin typeface="宋体" panose="02010600030101010101" pitchFamily="2" charset="-122"/>
                <a:cs typeface="+mn-ea"/>
              </a:rPr>
              <a:t>          </a:t>
            </a:r>
            <a:endParaRPr lang="en-US" altLang="zh-CN" sz="2800" b="1" dirty="0">
              <a:solidFill>
                <a:schemeClr val="bg2"/>
              </a:solidFill>
              <a:effectLst/>
              <a:latin typeface="宋体" panose="02010600030101010101" pitchFamily="2" charset="-122"/>
              <a:cs typeface="+mn-ea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b="1" dirty="0">
                <a:solidFill>
                  <a:srgbClr val="0070C0"/>
                </a:solidFill>
                <a:effectLst/>
                <a:latin typeface="宋体" panose="02010600030101010101" pitchFamily="2" charset="-122"/>
                <a:cs typeface="+mn-ea"/>
              </a:rPr>
              <a:t> 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344344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0" y="470128"/>
            <a:ext cx="43752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语义分析</a:t>
            </a:r>
            <a:r>
              <a:rPr lang="en-US" altLang="zh-CN" sz="32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静态语义检查</a:t>
            </a:r>
            <a:endParaRPr lang="zh-CN" altLang="en-US" sz="2800" dirty="0">
              <a:solidFill>
                <a:schemeClr val="bg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8971"/>
            <a:ext cx="84375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0" y="5235871"/>
            <a:ext cx="783605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中间代码生成</a:t>
            </a:r>
            <a:r>
              <a:rPr lang="en-US" altLang="zh-CN" sz="32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翻译</a:t>
            </a:r>
            <a:endParaRPr lang="en-US" altLang="zh-CN" sz="2800" b="1" dirty="0" smtClean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r>
              <a:rPr lang="en-US" altLang="zh-CN" sz="32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      </a:t>
            </a:r>
            <a:r>
              <a:rPr lang="zh-CN" altLang="en-US" sz="2000" b="1" dirty="0">
                <a:solidFill>
                  <a:schemeClr val="bg2"/>
                </a:solidFill>
                <a:latin typeface="宋体" panose="02010600030101010101" pitchFamily="2" charset="-122"/>
                <a:cs typeface="+mn-ea"/>
              </a:rPr>
              <a:t>■</a:t>
            </a:r>
            <a:r>
              <a:rPr lang="zh-CN" altLang="en-US" sz="2800" b="1" dirty="0" smtClea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生成中间语言的</a:t>
            </a:r>
            <a:r>
              <a:rPr lang="zh-CN" altLang="en-US" sz="2800" b="1" dirty="0" smtClean="0">
                <a:solidFill>
                  <a:srgbClr val="FF6600"/>
                </a:solidFill>
                <a:latin typeface="+mj-lt"/>
                <a:ea typeface="+mj-ea"/>
                <a:cs typeface="+mj-cs"/>
              </a:rPr>
              <a:t>指令序列</a:t>
            </a:r>
            <a:endParaRPr lang="en-US" altLang="zh-CN" sz="2800" b="1" dirty="0" smtClean="0">
              <a:solidFill>
                <a:srgbClr val="FF66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3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210" y="36752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矩形 4"/>
          <p:cNvSpPr/>
          <p:nvPr/>
        </p:nvSpPr>
        <p:spPr>
          <a:xfrm>
            <a:off x="0" y="28971"/>
            <a:ext cx="84375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语义分析示例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4376641" y="706079"/>
            <a:ext cx="44138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v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oid f (</a:t>
            </a:r>
            <a:r>
              <a:rPr lang="en-US" altLang="zh-CN" sz="2400" b="1" dirty="0" err="1" smtClean="0">
                <a:solidFill>
                  <a:schemeClr val="bg2"/>
                </a:solidFill>
              </a:rPr>
              <a:t>int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 *p)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    x+=4;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   p (23);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err="1">
                <a:solidFill>
                  <a:schemeClr val="bg2"/>
                </a:solidFill>
              </a:rPr>
              <a:t>i</a:t>
            </a:r>
            <a:r>
              <a:rPr lang="en-US" altLang="zh-CN" sz="2400" b="1" dirty="0" err="1" smtClean="0">
                <a:solidFill>
                  <a:schemeClr val="bg2"/>
                </a:solidFill>
              </a:rPr>
              <a:t>nt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 main ( )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   f ( )+5;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   return;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2"/>
                </a:solidFill>
              </a:rPr>
              <a:t>}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8663DF-2D9F-4E6E-9EED-FAAC9452E79E}" type="datetime1">
              <a:rPr lang="zh-CN" altLang="en-US">
                <a:solidFill>
                  <a:srgbClr val="0070C0"/>
                </a:solidFill>
              </a:rPr>
              <a:t>2024/5/20</a:t>
            </a:fld>
            <a:endParaRPr lang="en-US" altLang="zh-CN">
              <a:solidFill>
                <a:srgbClr val="0070C0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33603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矩形 15"/>
          <p:cNvSpPr/>
          <p:nvPr/>
        </p:nvSpPr>
        <p:spPr>
          <a:xfrm>
            <a:off x="-63062" y="-2519"/>
            <a:ext cx="24593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endParaRPr lang="zh-CN" alt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093065" y="583567"/>
            <a:ext cx="98145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bg2"/>
                </a:solidFill>
              </a:rPr>
              <a:t>对下面文法，写出将输入串转换成十进制整数的属性文法</a:t>
            </a:r>
            <a:r>
              <a:rPr lang="en-US" altLang="zh-CN" sz="2800" dirty="0" smtClean="0">
                <a:solidFill>
                  <a:schemeClr val="bg2"/>
                </a:solidFill>
              </a:rPr>
              <a:t>(</a:t>
            </a:r>
            <a:r>
              <a:rPr lang="zh-CN" altLang="en-US" sz="2000" dirty="0" smtClean="0">
                <a:solidFill>
                  <a:schemeClr val="bg2"/>
                </a:solidFill>
              </a:rPr>
              <a:t>文法→语义动作；产生式→语义规则）。</a:t>
            </a:r>
            <a:endParaRPr lang="en-US" altLang="zh-CN" sz="2000" dirty="0">
              <a:solidFill>
                <a:schemeClr val="bg2"/>
              </a:solidFill>
            </a:endParaRPr>
          </a:p>
          <a:p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112" y="2163580"/>
            <a:ext cx="224467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</a:t>
            </a:r>
            <a:r>
              <a:rPr lang="en-US" altLang="zh-CN" sz="2800" dirty="0" smtClean="0">
                <a:solidFill>
                  <a:schemeClr val="bg2"/>
                </a:solidFill>
              </a:rPr>
              <a:t>S</a:t>
            </a:r>
            <a:r>
              <a:rPr lang="zh-CN" altLang="en-US" sz="2800" dirty="0">
                <a:solidFill>
                  <a:schemeClr val="bg2"/>
                </a:solidFill>
              </a:rPr>
              <a:t>→</a:t>
            </a:r>
            <a:r>
              <a:rPr lang="en-US" altLang="zh-CN" sz="2800" dirty="0">
                <a:solidFill>
                  <a:schemeClr val="bg2"/>
                </a:solidFill>
              </a:rPr>
              <a:t>L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</a:rPr>
              <a:t>    L</a:t>
            </a:r>
            <a:r>
              <a:rPr lang="zh-CN" altLang="en-US" sz="2800" dirty="0">
                <a:solidFill>
                  <a:schemeClr val="bg2"/>
                </a:solidFill>
              </a:rPr>
              <a:t>→</a:t>
            </a:r>
            <a:r>
              <a:rPr lang="en-US" altLang="zh-CN" sz="2800" dirty="0">
                <a:solidFill>
                  <a:schemeClr val="bg2"/>
                </a:solidFill>
              </a:rPr>
              <a:t>L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en-US" altLang="zh-CN" sz="2800" dirty="0">
                <a:solidFill>
                  <a:schemeClr val="bg2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</a:rPr>
              <a:t>    L</a:t>
            </a:r>
            <a:r>
              <a:rPr lang="zh-CN" altLang="en-US" sz="2800" dirty="0">
                <a:solidFill>
                  <a:schemeClr val="bg2"/>
                </a:solidFill>
              </a:rPr>
              <a:t>→</a:t>
            </a:r>
            <a:r>
              <a:rPr lang="en-US" altLang="zh-CN" sz="2800" dirty="0">
                <a:solidFill>
                  <a:schemeClr val="bg2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</a:rPr>
              <a:t>    B</a:t>
            </a:r>
            <a:r>
              <a:rPr lang="zh-CN" altLang="en-US" sz="2800" dirty="0">
                <a:solidFill>
                  <a:schemeClr val="bg2"/>
                </a:solidFill>
              </a:rPr>
              <a:t>→</a:t>
            </a:r>
            <a:r>
              <a:rPr lang="en-US" altLang="zh-CN" sz="2800" dirty="0">
                <a:solidFill>
                  <a:schemeClr val="bg2"/>
                </a:solidFill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</a:rPr>
              <a:t>    B</a:t>
            </a:r>
            <a:r>
              <a:rPr lang="zh-CN" altLang="en-US" sz="2800" dirty="0">
                <a:solidFill>
                  <a:schemeClr val="bg2"/>
                </a:solidFill>
              </a:rPr>
              <a:t>→</a:t>
            </a:r>
            <a:r>
              <a:rPr lang="en-US" altLang="zh-CN" sz="2800" dirty="0">
                <a:solidFill>
                  <a:schemeClr val="bg2"/>
                </a:solidFill>
              </a:rPr>
              <a:t>1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5328505" y="2163580"/>
            <a:ext cx="457223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6600"/>
                </a:solidFill>
              </a:rPr>
              <a:t>{</a:t>
            </a:r>
            <a:r>
              <a:rPr lang="en-US" altLang="zh-CN" sz="2800" dirty="0" err="1" smtClean="0">
                <a:solidFill>
                  <a:srgbClr val="FF6600"/>
                </a:solidFill>
              </a:rPr>
              <a:t>printf</a:t>
            </a:r>
            <a:r>
              <a:rPr lang="en-US" altLang="zh-CN" sz="2800" dirty="0" smtClean="0">
                <a:solidFill>
                  <a:srgbClr val="FF6600"/>
                </a:solidFill>
              </a:rPr>
              <a:t> (</a:t>
            </a:r>
            <a:r>
              <a:rPr lang="en-US" altLang="zh-CN" sz="2800" dirty="0" err="1" smtClean="0">
                <a:solidFill>
                  <a:srgbClr val="FF6600"/>
                </a:solidFill>
              </a:rPr>
              <a:t>L.val</a:t>
            </a:r>
            <a:r>
              <a:rPr lang="en-US" altLang="zh-CN" sz="2800" dirty="0" smtClean="0">
                <a:solidFill>
                  <a:srgbClr val="FF6600"/>
                </a:solidFill>
              </a:rPr>
              <a:t>)}</a:t>
            </a:r>
            <a:endParaRPr lang="en-US" altLang="zh-CN" sz="2800" dirty="0" smtClean="0">
              <a:solidFill>
                <a:srgbClr val="FF66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6600"/>
                </a:solidFill>
              </a:rPr>
              <a:t>{L</a:t>
            </a:r>
            <a:r>
              <a:rPr lang="en-US" altLang="zh-CN" sz="2800" dirty="0">
                <a:solidFill>
                  <a:srgbClr val="FF6600"/>
                </a:solidFill>
              </a:rPr>
              <a:t>.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=L</a:t>
            </a:r>
            <a:r>
              <a:rPr lang="en-US" altLang="zh-CN" dirty="0" smtClean="0">
                <a:solidFill>
                  <a:srgbClr val="FF6600"/>
                </a:solidFill>
              </a:rPr>
              <a:t>1</a:t>
            </a:r>
            <a:r>
              <a:rPr lang="en-US" altLang="zh-CN" sz="2800" dirty="0">
                <a:solidFill>
                  <a:srgbClr val="FF6600"/>
                </a:solidFill>
              </a:rPr>
              <a:t>.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*2+B</a:t>
            </a:r>
            <a:r>
              <a:rPr lang="en-US" altLang="zh-CN" sz="2800" dirty="0" smtClean="0">
                <a:solidFill>
                  <a:srgbClr val="FF6600"/>
                </a:solidFill>
              </a:rPr>
              <a:t>.</a:t>
            </a:r>
            <a:r>
              <a:rPr lang="en-US" altLang="zh-CN" sz="2800" dirty="0">
                <a:solidFill>
                  <a:srgbClr val="FF6600"/>
                </a:solidFill>
              </a:rPr>
              <a:t>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}</a:t>
            </a:r>
            <a:endParaRPr lang="en-US" altLang="zh-CN" sz="2800" dirty="0">
              <a:solidFill>
                <a:srgbClr val="FF66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6600"/>
                </a:solidFill>
              </a:rPr>
              <a:t>{L</a:t>
            </a:r>
            <a:r>
              <a:rPr lang="en-US" altLang="zh-CN" sz="2800" dirty="0">
                <a:solidFill>
                  <a:srgbClr val="FF6600"/>
                </a:solidFill>
              </a:rPr>
              <a:t>.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=B</a:t>
            </a:r>
            <a:r>
              <a:rPr lang="en-US" altLang="zh-CN" sz="2800" dirty="0" smtClean="0">
                <a:solidFill>
                  <a:srgbClr val="FF6600"/>
                </a:solidFill>
              </a:rPr>
              <a:t>.</a:t>
            </a:r>
            <a:r>
              <a:rPr lang="en-US" altLang="zh-CN" sz="2800" dirty="0">
                <a:solidFill>
                  <a:srgbClr val="FF6600"/>
                </a:solidFill>
              </a:rPr>
              <a:t>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}</a:t>
            </a:r>
            <a:endParaRPr lang="en-US" altLang="zh-CN" sz="2800" dirty="0">
              <a:solidFill>
                <a:srgbClr val="FF66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6600"/>
                </a:solidFill>
              </a:rPr>
              <a:t>{B</a:t>
            </a:r>
            <a:r>
              <a:rPr lang="en-US" altLang="zh-CN" sz="2800" dirty="0">
                <a:solidFill>
                  <a:srgbClr val="FF6600"/>
                </a:solidFill>
              </a:rPr>
              <a:t>.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=0</a:t>
            </a:r>
            <a:r>
              <a:rPr lang="en-US" altLang="zh-CN" sz="2800" dirty="0" smtClean="0">
                <a:solidFill>
                  <a:srgbClr val="FF6600"/>
                </a:solidFill>
              </a:rPr>
              <a:t>}</a:t>
            </a:r>
            <a:endParaRPr lang="en-US" altLang="zh-CN" sz="2800" dirty="0">
              <a:solidFill>
                <a:srgbClr val="FF66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6600"/>
                </a:solidFill>
              </a:rPr>
              <a:t>{B</a:t>
            </a:r>
            <a:r>
              <a:rPr lang="en-US" altLang="zh-CN" sz="2800" dirty="0">
                <a:solidFill>
                  <a:srgbClr val="FF6600"/>
                </a:solidFill>
              </a:rPr>
              <a:t>. </a:t>
            </a:r>
            <a:r>
              <a:rPr lang="en-US" altLang="zh-CN" sz="2800" dirty="0" err="1">
                <a:solidFill>
                  <a:srgbClr val="FF6600"/>
                </a:solidFill>
              </a:rPr>
              <a:t>val</a:t>
            </a:r>
            <a:r>
              <a:rPr lang="en-US" altLang="zh-CN" sz="2800" dirty="0">
                <a:solidFill>
                  <a:srgbClr val="FF6600"/>
                </a:solidFill>
              </a:rPr>
              <a:t>=1</a:t>
            </a:r>
            <a:r>
              <a:rPr lang="en-US" altLang="zh-CN" sz="2800" dirty="0" smtClean="0">
                <a:solidFill>
                  <a:srgbClr val="FF6600"/>
                </a:solidFill>
              </a:rPr>
              <a:t>}</a:t>
            </a:r>
            <a:endParaRPr lang="zh-CN" altLang="en-US" sz="28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87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1466659" y="652904"/>
            <a:ext cx="8846456" cy="497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zh-CN" altLang="en-US" sz="2000" b="1" dirty="0" smtClean="0">
                <a:solidFill>
                  <a:srgbClr val="0070C0"/>
                </a:solidFill>
              </a:rPr>
              <a:t>目标机：虚拟的栈式计算机。</a:t>
            </a:r>
            <a:r>
              <a:rPr lang="zh-CN" altLang="en-US" sz="2000" b="1" dirty="0">
                <a:solidFill>
                  <a:srgbClr val="0070C0"/>
                </a:solidFill>
              </a:rPr>
              <a:t>用一个栈来保存操作数，所有运算在栈顶完成。</a:t>
            </a:r>
          </a:p>
          <a:p>
            <a:pPr algn="just">
              <a:spcBef>
                <a:spcPct val="50000"/>
              </a:spcBef>
              <a:buNone/>
            </a:pPr>
            <a:endParaRPr lang="en-US" altLang="zh-CN" sz="1800" b="1" dirty="0" smtClean="0">
              <a:solidFill>
                <a:srgbClr val="0070C0"/>
              </a:solidFill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 smtClean="0">
                <a:solidFill>
                  <a:srgbClr val="0070C0"/>
                </a:solidFill>
              </a:rPr>
              <a:t>LOAD   </a:t>
            </a:r>
            <a:r>
              <a:rPr lang="en-US" altLang="zh-CN" sz="1800" b="1" dirty="0">
                <a:solidFill>
                  <a:srgbClr val="0070C0"/>
                </a:solidFill>
              </a:rPr>
              <a:t>D        </a:t>
            </a:r>
            <a:r>
              <a:rPr lang="zh-CN" altLang="en-US" sz="1800" b="1" dirty="0">
                <a:solidFill>
                  <a:srgbClr val="0070C0"/>
                </a:solidFill>
              </a:rPr>
              <a:t>将</a:t>
            </a:r>
            <a:r>
              <a:rPr lang="en-US" altLang="zh-CN" sz="1800" b="1" dirty="0">
                <a:solidFill>
                  <a:srgbClr val="0070C0"/>
                </a:solidFill>
              </a:rPr>
              <a:t>D</a:t>
            </a:r>
            <a:r>
              <a:rPr lang="zh-CN" altLang="en-US" sz="1800" b="1" dirty="0">
                <a:solidFill>
                  <a:srgbClr val="0070C0"/>
                </a:solidFill>
              </a:rPr>
              <a:t>中的内容加载到操作数栈。</a:t>
            </a:r>
            <a:r>
              <a:rPr lang="zh-CN" altLang="en-US" sz="1800" b="1" dirty="0">
                <a:solidFill>
                  <a:srgbClr val="C00000"/>
                </a:solidFill>
              </a:rPr>
              <a:t>读变量</a:t>
            </a:r>
            <a:endParaRPr lang="zh-CN" altLang="en-US" sz="1800" b="1" dirty="0">
              <a:solidFill>
                <a:srgbClr val="C000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LOADI            </a:t>
            </a:r>
            <a:r>
              <a:rPr lang="zh-CN" altLang="en-US" sz="1800" b="1" dirty="0">
                <a:solidFill>
                  <a:srgbClr val="0070C0"/>
                </a:solidFill>
              </a:rPr>
              <a:t>将常量压入操作数栈</a:t>
            </a: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STO    D         </a:t>
            </a:r>
            <a:r>
              <a:rPr lang="zh-CN" altLang="en-US" sz="1800" b="1" dirty="0">
                <a:solidFill>
                  <a:srgbClr val="0070C0"/>
                </a:solidFill>
              </a:rPr>
              <a:t>将栈顶单元内容存入</a:t>
            </a:r>
            <a:r>
              <a:rPr lang="en-US" altLang="zh-CN" sz="1800" b="1" dirty="0">
                <a:solidFill>
                  <a:srgbClr val="0070C0"/>
                </a:solidFill>
              </a:rPr>
              <a:t>D</a:t>
            </a:r>
            <a:r>
              <a:rPr lang="zh-CN" altLang="en-US" sz="1800" b="1" dirty="0">
                <a:solidFill>
                  <a:srgbClr val="0070C0"/>
                </a:solidFill>
              </a:rPr>
              <a:t>，且栈顶单元出栈。</a:t>
            </a:r>
            <a:r>
              <a:rPr lang="zh-CN" altLang="en-US" sz="1800" b="1" dirty="0">
                <a:solidFill>
                  <a:srgbClr val="C00000"/>
                </a:solidFill>
              </a:rPr>
              <a:t>存变量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ADD               </a:t>
            </a:r>
            <a:r>
              <a:rPr lang="zh-CN" altLang="en-US" sz="1800" b="1" dirty="0">
                <a:solidFill>
                  <a:srgbClr val="0070C0"/>
                </a:solidFill>
              </a:rPr>
              <a:t>将次栈顶与栈顶单元出栈并相加，和置于栈顶。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SUB        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将次</a:t>
            </a:r>
            <a:r>
              <a:rPr lang="zh-CN" altLang="en-US" sz="1800" b="1" dirty="0">
                <a:solidFill>
                  <a:srgbClr val="0070C0"/>
                </a:solidFill>
              </a:rPr>
              <a:t>栈顶单元减去栈顶单元并出栈，差置于栈顶。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MULT    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将次</a:t>
            </a:r>
            <a:r>
              <a:rPr lang="zh-CN" altLang="en-US" sz="1800" b="1" dirty="0">
                <a:solidFill>
                  <a:srgbClr val="0070C0"/>
                </a:solidFill>
              </a:rPr>
              <a:t>栈顶与栈顶单元出栈并相乘，积置于栈顶。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DIV        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将次</a:t>
            </a:r>
            <a:r>
              <a:rPr lang="zh-CN" altLang="en-US" sz="1800" b="1" dirty="0">
                <a:solidFill>
                  <a:srgbClr val="0070C0"/>
                </a:solidFill>
              </a:rPr>
              <a:t>栈顶与栈顶单元出栈并相除，商置于栈顶。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BR    lab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无条件转移</a:t>
            </a:r>
            <a:r>
              <a:rPr lang="zh-CN" altLang="en-US" sz="1800" b="1" dirty="0">
                <a:solidFill>
                  <a:srgbClr val="0070C0"/>
                </a:solidFill>
              </a:rPr>
              <a:t>到</a:t>
            </a:r>
            <a:r>
              <a:rPr lang="en-US" altLang="zh-CN" sz="1800" b="1" dirty="0">
                <a:solidFill>
                  <a:srgbClr val="0070C0"/>
                </a:solidFill>
              </a:rPr>
              <a:t>lab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BRF       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若</a:t>
            </a:r>
            <a:r>
              <a:rPr lang="zh-CN" altLang="en-US" sz="1800" b="1" dirty="0">
                <a:solidFill>
                  <a:srgbClr val="0070C0"/>
                </a:solidFill>
              </a:rPr>
              <a:t>栈顶单元逻辑值，假</a:t>
            </a:r>
            <a:r>
              <a:rPr lang="en-US" altLang="zh-CN" sz="1800" b="1" dirty="0">
                <a:solidFill>
                  <a:srgbClr val="0070C0"/>
                </a:solidFill>
              </a:rPr>
              <a:t>(0)</a:t>
            </a:r>
            <a:r>
              <a:rPr lang="zh-CN" altLang="en-US" sz="1800" b="1" dirty="0">
                <a:solidFill>
                  <a:srgbClr val="0070C0"/>
                </a:solidFill>
              </a:rPr>
              <a:t>则转移到</a:t>
            </a:r>
            <a:r>
              <a:rPr lang="en-US" altLang="zh-CN" sz="1800" b="1" dirty="0">
                <a:solidFill>
                  <a:srgbClr val="0070C0"/>
                </a:solidFill>
              </a:rPr>
              <a:t>lab </a:t>
            </a:r>
          </a:p>
          <a:p>
            <a:pPr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EQ                </a:t>
            </a:r>
            <a:r>
              <a:rPr lang="en-US" altLang="zh-CN" sz="1800" b="1" dirty="0" smtClean="0">
                <a:solidFill>
                  <a:srgbClr val="0070C0"/>
                </a:solidFill>
              </a:rPr>
              <a:t>  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将</a:t>
            </a:r>
            <a:r>
              <a:rPr lang="zh-CN" altLang="en-US" sz="1800" b="1" dirty="0">
                <a:solidFill>
                  <a:srgbClr val="0070C0"/>
                </a:solidFill>
              </a:rPr>
              <a:t>栈顶两单元做相等比较，并将结果真或假</a:t>
            </a:r>
            <a:r>
              <a:rPr lang="en-US" altLang="zh-CN" sz="1800" b="1" dirty="0">
                <a:solidFill>
                  <a:srgbClr val="0070C0"/>
                </a:solidFill>
              </a:rPr>
              <a:t>(1</a:t>
            </a:r>
            <a:r>
              <a:rPr lang="zh-CN" altLang="en-US" sz="1800" b="1" dirty="0">
                <a:solidFill>
                  <a:srgbClr val="0070C0"/>
                </a:solidFill>
              </a:rPr>
              <a:t>或</a:t>
            </a:r>
            <a:r>
              <a:rPr lang="en-US" altLang="zh-CN" sz="1800" b="1" dirty="0">
                <a:solidFill>
                  <a:srgbClr val="0070C0"/>
                </a:solidFill>
              </a:rPr>
              <a:t>0)</a:t>
            </a:r>
            <a:r>
              <a:rPr lang="zh-CN" altLang="en-US" sz="1800" b="1" dirty="0">
                <a:solidFill>
                  <a:srgbClr val="0070C0"/>
                </a:solidFill>
              </a:rPr>
              <a:t>置于栈顶</a:t>
            </a: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0" y="326452"/>
            <a:ext cx="12162790" cy="0"/>
          </a:xfrm>
          <a:prstGeom prst="line">
            <a:avLst/>
          </a:prstGeom>
          <a:solidFill>
            <a:srgbClr val="FFFFCC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671127" cy="326452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TEST </a:t>
            </a:r>
            <a:r>
              <a:rPr lang="zh-CN" alt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虚拟机指令</a:t>
            </a:r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代码</a:t>
            </a:r>
            <a:endParaRPr lang="zh-CN" altLang="en-US" sz="1600" b="1" kern="1200" noProof="0" dirty="0" smtClean="0"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3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2024/5/20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6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1961231" y="599551"/>
            <a:ext cx="8534400" cy="581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solidFill>
                  <a:srgbClr val="0070C0"/>
                </a:solidFill>
              </a:rPr>
              <a:t>NO</a:t>
            </a:r>
            <a:r>
              <a:rPr lang="en-US" altLang="zh-CN" sz="1800" b="1" dirty="0">
                <a:solidFill>
                  <a:srgbClr val="0070C0"/>
                </a:solidFill>
              </a:rPr>
              <a:t>TEQ </a:t>
            </a:r>
            <a:r>
              <a:rPr lang="zh-CN" altLang="en-US" sz="1800" b="1" dirty="0">
                <a:solidFill>
                  <a:srgbClr val="0070C0"/>
                </a:solidFill>
              </a:rPr>
              <a:t>栈顶两单元做不等于比较，并将结果 </a:t>
            </a:r>
            <a:r>
              <a:rPr lang="en-US" altLang="zh-CN" sz="1800" b="1" dirty="0">
                <a:solidFill>
                  <a:srgbClr val="0070C0"/>
                </a:solidFill>
              </a:rPr>
              <a:t>(1</a:t>
            </a:r>
            <a:r>
              <a:rPr lang="zh-CN" altLang="en-US" sz="1800" b="1" dirty="0">
                <a:solidFill>
                  <a:srgbClr val="0070C0"/>
                </a:solidFill>
              </a:rPr>
              <a:t>或</a:t>
            </a:r>
            <a:r>
              <a:rPr lang="en-US" altLang="zh-CN" sz="1800" b="1" dirty="0">
                <a:solidFill>
                  <a:srgbClr val="0070C0"/>
                </a:solidFill>
              </a:rPr>
              <a:t>0)</a:t>
            </a:r>
            <a:r>
              <a:rPr lang="zh-CN" altLang="en-US" sz="1800" b="1" dirty="0">
                <a:solidFill>
                  <a:srgbClr val="0070C0"/>
                </a:solidFill>
              </a:rPr>
              <a:t>置于栈顶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GT         </a:t>
            </a:r>
            <a:r>
              <a:rPr lang="zh-CN" altLang="en-US" sz="1800" b="1" dirty="0">
                <a:solidFill>
                  <a:srgbClr val="0070C0"/>
                </a:solidFill>
              </a:rPr>
              <a:t>次栈顶大于栈顶操作数，则栈顶置</a:t>
            </a:r>
            <a:r>
              <a:rPr lang="en-US" altLang="zh-CN" sz="1800" b="1" dirty="0">
                <a:solidFill>
                  <a:srgbClr val="0070C0"/>
                </a:solidFill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</a:rPr>
              <a:t>，否则置</a:t>
            </a:r>
            <a:r>
              <a:rPr lang="en-US" altLang="zh-CN" sz="1800" b="1" dirty="0">
                <a:solidFill>
                  <a:srgbClr val="0070C0"/>
                </a:solidFill>
              </a:rPr>
              <a:t>0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LES       </a:t>
            </a:r>
            <a:r>
              <a:rPr lang="zh-CN" altLang="en-US" sz="1800" b="1" dirty="0">
                <a:solidFill>
                  <a:srgbClr val="0070C0"/>
                </a:solidFill>
              </a:rPr>
              <a:t>次栈顶小于栈顶操作数，则栈顶置</a:t>
            </a:r>
            <a:r>
              <a:rPr lang="en-US" altLang="zh-CN" sz="1800" b="1" dirty="0">
                <a:solidFill>
                  <a:srgbClr val="0070C0"/>
                </a:solidFill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</a:rPr>
              <a:t>，否则置</a:t>
            </a:r>
            <a:r>
              <a:rPr lang="en-US" altLang="zh-CN" sz="1800" b="1" dirty="0">
                <a:solidFill>
                  <a:srgbClr val="0070C0"/>
                </a:solidFill>
              </a:rPr>
              <a:t>0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GE         </a:t>
            </a:r>
            <a:r>
              <a:rPr lang="zh-CN" altLang="en-US" sz="1800" b="1" dirty="0">
                <a:solidFill>
                  <a:srgbClr val="0070C0"/>
                </a:solidFill>
              </a:rPr>
              <a:t>次栈顶大于等于栈顶操作数，则栈顶置</a:t>
            </a:r>
            <a:r>
              <a:rPr lang="en-US" altLang="zh-CN" sz="1800" b="1" dirty="0">
                <a:solidFill>
                  <a:srgbClr val="0070C0"/>
                </a:solidFill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</a:rPr>
              <a:t>，否则置</a:t>
            </a:r>
            <a:r>
              <a:rPr lang="en-US" altLang="zh-CN" sz="1800" b="1" dirty="0">
                <a:solidFill>
                  <a:srgbClr val="0070C0"/>
                </a:solidFill>
              </a:rPr>
              <a:t>0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LE          </a:t>
            </a:r>
            <a:r>
              <a:rPr lang="zh-CN" altLang="en-US" sz="1800" b="1" dirty="0">
                <a:solidFill>
                  <a:srgbClr val="0070C0"/>
                </a:solidFill>
              </a:rPr>
              <a:t>次栈顶小于等于栈顶操作数，则栈顶置</a:t>
            </a:r>
            <a:r>
              <a:rPr lang="en-US" altLang="zh-CN" sz="1800" b="1" dirty="0">
                <a:solidFill>
                  <a:srgbClr val="0070C0"/>
                </a:solidFill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</a:rPr>
              <a:t>，否则置</a:t>
            </a:r>
            <a:r>
              <a:rPr lang="en-US" altLang="zh-CN" sz="1800" b="1" dirty="0">
                <a:solidFill>
                  <a:srgbClr val="0070C0"/>
                </a:solidFill>
              </a:rPr>
              <a:t>0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AND      </a:t>
            </a:r>
            <a:r>
              <a:rPr lang="zh-CN" altLang="en-US" sz="1800" b="1" dirty="0">
                <a:solidFill>
                  <a:srgbClr val="0070C0"/>
                </a:solidFill>
              </a:rPr>
              <a:t>将栈顶两单元做逻辑与运算，并将结果 </a:t>
            </a:r>
            <a:r>
              <a:rPr lang="en-US" altLang="zh-CN" sz="1800" b="1" dirty="0">
                <a:solidFill>
                  <a:srgbClr val="0070C0"/>
                </a:solidFill>
              </a:rPr>
              <a:t>(1</a:t>
            </a:r>
            <a:r>
              <a:rPr lang="zh-CN" altLang="en-US" sz="1800" b="1" dirty="0">
                <a:solidFill>
                  <a:srgbClr val="0070C0"/>
                </a:solidFill>
              </a:rPr>
              <a:t>或</a:t>
            </a:r>
            <a:r>
              <a:rPr lang="en-US" altLang="zh-CN" sz="1800" b="1" dirty="0">
                <a:solidFill>
                  <a:srgbClr val="0070C0"/>
                </a:solidFill>
              </a:rPr>
              <a:t>0)</a:t>
            </a:r>
            <a:r>
              <a:rPr lang="zh-CN" altLang="en-US" sz="1800" b="1" dirty="0">
                <a:solidFill>
                  <a:srgbClr val="0070C0"/>
                </a:solidFill>
              </a:rPr>
              <a:t>置于栈顶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OR         </a:t>
            </a:r>
            <a:r>
              <a:rPr lang="zh-CN" altLang="en-US" sz="1800" b="1" dirty="0">
                <a:solidFill>
                  <a:srgbClr val="0070C0"/>
                </a:solidFill>
              </a:rPr>
              <a:t>将栈顶两单元做逻辑或运算，并将结果 </a:t>
            </a:r>
            <a:r>
              <a:rPr lang="en-US" altLang="zh-CN" sz="1800" b="1" dirty="0">
                <a:solidFill>
                  <a:srgbClr val="0070C0"/>
                </a:solidFill>
              </a:rPr>
              <a:t>(1</a:t>
            </a:r>
            <a:r>
              <a:rPr lang="zh-CN" altLang="en-US" sz="1800" b="1" dirty="0">
                <a:solidFill>
                  <a:srgbClr val="0070C0"/>
                </a:solidFill>
              </a:rPr>
              <a:t>或</a:t>
            </a:r>
            <a:r>
              <a:rPr lang="en-US" altLang="zh-CN" sz="1800" b="1" dirty="0">
                <a:solidFill>
                  <a:srgbClr val="0070C0"/>
                </a:solidFill>
              </a:rPr>
              <a:t>0)</a:t>
            </a:r>
            <a:r>
              <a:rPr lang="zh-CN" altLang="en-US" sz="1800" b="1" dirty="0">
                <a:solidFill>
                  <a:srgbClr val="0070C0"/>
                </a:solidFill>
              </a:rPr>
              <a:t>置于栈顶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NOT       </a:t>
            </a:r>
            <a:r>
              <a:rPr lang="zh-CN" altLang="en-US" sz="1800" b="1" dirty="0">
                <a:solidFill>
                  <a:srgbClr val="0070C0"/>
                </a:solidFill>
              </a:rPr>
              <a:t>将栈顶的逻辑值取反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IN          </a:t>
            </a:r>
            <a:r>
              <a:rPr lang="zh-CN" altLang="en-US" sz="1800" b="1" dirty="0">
                <a:solidFill>
                  <a:srgbClr val="0070C0"/>
                </a:solidFill>
              </a:rPr>
              <a:t>从标准输入设备</a:t>
            </a:r>
            <a:r>
              <a:rPr lang="en-US" altLang="zh-CN" sz="1800" b="1" dirty="0">
                <a:solidFill>
                  <a:srgbClr val="0070C0"/>
                </a:solidFill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</a:rPr>
              <a:t>键盘</a:t>
            </a:r>
            <a:r>
              <a:rPr lang="en-US" altLang="zh-CN" sz="1800" b="1" dirty="0">
                <a:solidFill>
                  <a:srgbClr val="0070C0"/>
                </a:solidFill>
              </a:rPr>
              <a:t>)</a:t>
            </a:r>
            <a:r>
              <a:rPr lang="zh-CN" altLang="en-US" sz="1800" b="1" dirty="0">
                <a:solidFill>
                  <a:srgbClr val="0070C0"/>
                </a:solidFill>
              </a:rPr>
              <a:t>读入一个整型数据，并入操作数栈</a:t>
            </a:r>
            <a:endParaRPr lang="zh-CN" altLang="en-US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OUT      </a:t>
            </a:r>
            <a:r>
              <a:rPr lang="zh-CN" altLang="en-US" sz="1800" b="1" dirty="0">
                <a:solidFill>
                  <a:srgbClr val="0070C0"/>
                </a:solidFill>
              </a:rPr>
              <a:t>将栈顶单元内容出栈，并输出到标准输出设备上</a:t>
            </a:r>
            <a:r>
              <a:rPr lang="en-US" altLang="zh-CN" sz="1800" b="1" dirty="0">
                <a:solidFill>
                  <a:srgbClr val="0070C0"/>
                </a:solidFill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</a:rPr>
              <a:t>显示器</a:t>
            </a:r>
            <a:r>
              <a:rPr lang="en-US" altLang="zh-CN" sz="1800" b="1" dirty="0">
                <a:solidFill>
                  <a:srgbClr val="0070C0"/>
                </a:solidFill>
              </a:rPr>
              <a:t>)</a:t>
            </a:r>
            <a:endParaRPr lang="en-US" altLang="zh-CN" sz="1800" b="1" dirty="0">
              <a:solidFill>
                <a:srgbClr val="0070C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70C0"/>
                </a:solidFill>
              </a:rPr>
              <a:t>STOP     </a:t>
            </a:r>
            <a:r>
              <a:rPr lang="zh-CN" altLang="en-US" sz="1800" b="1" dirty="0">
                <a:solidFill>
                  <a:srgbClr val="0070C0"/>
                </a:solidFill>
              </a:rPr>
              <a:t>停止执行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sym typeface="+mn-ea"/>
              </a:rPr>
              <a:t>CAL            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函数调用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sym typeface="+mn-ea"/>
              </a:rPr>
              <a:t>ENTER      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在栈中为函数调用开辟数据区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sym typeface="+mn-ea"/>
              </a:rPr>
              <a:t>RETURN  </a:t>
            </a:r>
            <a:r>
              <a:rPr lang="zh-CN" altLang="en-US" sz="1800" b="1" dirty="0">
                <a:solidFill>
                  <a:srgbClr val="0070C0"/>
                </a:solidFill>
                <a:sym typeface="+mn-ea"/>
              </a:rPr>
              <a:t>从函数返回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0" y="362432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-48590" y="0"/>
            <a:ext cx="4721489" cy="393919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TEST </a:t>
            </a:r>
            <a:r>
              <a:rPr lang="zh-CN" alt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虚拟机指令</a:t>
            </a:r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代码</a:t>
            </a:r>
            <a:endParaRPr lang="zh-CN" altLang="en-US" sz="1600" b="1" kern="1200" noProof="0" dirty="0" smtClean="0"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197501" y="906145"/>
            <a:ext cx="1799771" cy="2707005"/>
          </a:xfrm>
          <a:prstGeom prst="rect">
            <a:avLst/>
          </a:prstGeom>
          <a:solidFill>
            <a:srgbClr val="EFEFFB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……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smtClean="0"/>
              <a:t>a  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 err="1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 b ;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a=10;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b=20*a;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……</a:t>
            </a:r>
          </a:p>
        </p:txBody>
      </p:sp>
      <p:graphicFrame>
        <p:nvGraphicFramePr>
          <p:cNvPr id="4" name="Group 2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2064681"/>
              </p:ext>
            </p:extLst>
          </p:nvPr>
        </p:nvGraphicFramePr>
        <p:xfrm>
          <a:off x="9709719" y="4106601"/>
          <a:ext cx="1752600" cy="186182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85" name="Text Box 28"/>
          <p:cNvSpPr txBox="1">
            <a:spLocks noChangeArrowheads="1"/>
          </p:cNvSpPr>
          <p:nvPr/>
        </p:nvSpPr>
        <p:spPr bwMode="auto">
          <a:xfrm>
            <a:off x="9660482" y="906145"/>
            <a:ext cx="2357439" cy="2707005"/>
          </a:xfrm>
          <a:prstGeom prst="rect">
            <a:avLst/>
          </a:prstGeom>
          <a:solidFill>
            <a:srgbClr val="EFEFFB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LOADI  10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STO  2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LOADI  20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LOAD  2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MULT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/>
              <a:t>STO 3</a:t>
            </a:r>
            <a:endParaRPr lang="en-US" altLang="zh-CN" sz="2000" b="1" dirty="0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143930" y="1165168"/>
            <a:ext cx="6829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</a:rPr>
              <a:t>标识符定义性出现</a:t>
            </a:r>
            <a:r>
              <a:rPr lang="zh-CN" altLang="en-US" sz="2400" dirty="0">
                <a:solidFill>
                  <a:srgbClr val="0070C0"/>
                </a:solidFill>
              </a:rPr>
              <a:t>：将其属性信息填到符号表中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60694" y="2029734"/>
            <a:ext cx="7795895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indent="0" algn="l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标识符引用性出现：</a:t>
            </a:r>
            <a:r>
              <a:rPr kumimoji="1"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检查标识符的引用是否正确。利用标识符的属性信息，例如类型和已分配的目标地址，为其执行语句</a:t>
            </a:r>
            <a:r>
              <a:rPr kumimoji="1" lang="zh-CN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生成相应的中间代码或目标代码</a:t>
            </a:r>
            <a:r>
              <a:rPr kumimoji="1"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338554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矩形 9"/>
          <p:cNvSpPr/>
          <p:nvPr/>
        </p:nvSpPr>
        <p:spPr>
          <a:xfrm>
            <a:off x="-64369" y="0"/>
            <a:ext cx="50481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en-US" altLang="zh-CN" sz="1600" b="1" dirty="0">
                <a:solidFill>
                  <a:srgbClr val="0070C0"/>
                </a:solidFill>
              </a:rPr>
              <a:t>TEST</a:t>
            </a:r>
            <a:r>
              <a:rPr lang="zh-CN" altLang="en-US" sz="1600" b="1" dirty="0">
                <a:solidFill>
                  <a:srgbClr val="0070C0"/>
                </a:solidFill>
              </a:rPr>
              <a:t>程序片段的中间代码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29825" y="2156577"/>
            <a:ext cx="4143375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 (</a:t>
            </a:r>
            <a:r>
              <a:rPr lang="en-US" altLang="zh-CN" sz="2400" b="1" dirty="0"/>
              <a:t>41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eaLnBrk="1" hangingPunct="1">
              <a:defRPr/>
            </a:pPr>
            <a:r>
              <a:rPr lang="en-US" altLang="zh-CN" sz="2400" dirty="0"/>
              <a:t>{</a:t>
            </a:r>
          </a:p>
          <a:p>
            <a:pPr eaLnBrk="1" hangingPunct="1">
              <a:defRPr/>
            </a:pPr>
            <a:r>
              <a:rPr lang="en-US" altLang="zh-CN" sz="2400" dirty="0"/>
              <a:t>    char name[20];</a:t>
            </a:r>
          </a:p>
          <a:p>
            <a:pPr eaLnBrk="1" hangingPunct="1">
              <a:defRPr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enum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Category_symbol</a:t>
            </a:r>
            <a:r>
              <a:rPr lang="en-US" altLang="zh-CN" sz="2400" dirty="0"/>
              <a:t> kind;</a:t>
            </a:r>
          </a:p>
          <a:p>
            <a:pPr eaLnBrk="1" hangingPunct="1">
              <a:defRPr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address;</a:t>
            </a:r>
          </a:p>
          <a:p>
            <a:pPr eaLnBrk="1" hangingPunct="1">
              <a:defRPr/>
            </a:pPr>
            <a:r>
              <a:rPr lang="en-US" altLang="zh-CN" sz="2400" dirty="0"/>
              <a:t>} </a:t>
            </a:r>
            <a:r>
              <a:rPr lang="en-US" altLang="zh-CN" sz="2400" b="1" dirty="0">
                <a:cs typeface="Times New Roman" panose="02020603050405020304" pitchFamily="18" charset="0"/>
              </a:rPr>
              <a:t>symbol </a:t>
            </a:r>
            <a:r>
              <a:rPr lang="en-US" altLang="zh-CN" sz="2400" dirty="0"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cs typeface="Times New Roman" panose="02020603050405020304" pitchFamily="18" charset="0"/>
              </a:rPr>
              <a:t>maxsymbolIndex</a:t>
            </a:r>
            <a:r>
              <a:rPr lang="en-US" altLang="zh-CN" sz="2400" dirty="0">
                <a:cs typeface="Times New Roman" panose="02020603050405020304" pitchFamily="18" charset="0"/>
              </a:rPr>
              <a:t>];</a:t>
            </a:r>
          </a:p>
        </p:txBody>
      </p:sp>
      <p:sp>
        <p:nvSpPr>
          <p:cNvPr id="18438" name="AutoShape 12"/>
          <p:cNvSpPr/>
          <p:nvPr/>
        </p:nvSpPr>
        <p:spPr bwMode="auto">
          <a:xfrm>
            <a:off x="3987246" y="2585208"/>
            <a:ext cx="1223963" cy="403225"/>
          </a:xfrm>
          <a:prstGeom prst="borderCallout1">
            <a:avLst>
              <a:gd name="adj1" fmla="val 28347"/>
              <a:gd name="adj2" fmla="val -6227"/>
              <a:gd name="adj3" fmla="val 351574"/>
              <a:gd name="adj4" fmla="val -92477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t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符号表</a:t>
            </a:r>
          </a:p>
        </p:txBody>
      </p:sp>
      <p:sp>
        <p:nvSpPr>
          <p:cNvPr id="22534" name="Rectangle 13"/>
          <p:cNvSpPr>
            <a:spLocks noChangeArrowheads="1"/>
          </p:cNvSpPr>
          <p:nvPr/>
        </p:nvSpPr>
        <p:spPr bwMode="auto">
          <a:xfrm>
            <a:off x="1844123" y="4013951"/>
            <a:ext cx="1071563" cy="431800"/>
          </a:xfrm>
          <a:prstGeom prst="rect">
            <a:avLst/>
          </a:prstGeom>
          <a:gradFill rotWithShape="1">
            <a:gsLst>
              <a:gs pos="0">
                <a:srgbClr val="0066FF">
                  <a:alpha val="46001"/>
                </a:srgbClr>
              </a:gs>
              <a:gs pos="50000">
                <a:srgbClr val="FF99FF">
                  <a:alpha val="46001"/>
                </a:srgbClr>
              </a:gs>
              <a:gs pos="100000">
                <a:srgbClr val="0066FF">
                  <a:alpha val="46001"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440" name="AutoShape 15"/>
          <p:cNvSpPr/>
          <p:nvPr/>
        </p:nvSpPr>
        <p:spPr bwMode="auto">
          <a:xfrm>
            <a:off x="4844495" y="4585477"/>
            <a:ext cx="2660651" cy="403225"/>
          </a:xfrm>
          <a:prstGeom prst="borderCallout1">
            <a:avLst>
              <a:gd name="adj1" fmla="val 28347"/>
              <a:gd name="adj2" fmla="val -2866"/>
              <a:gd name="adj3" fmla="val -50000"/>
              <a:gd name="adj4" fmla="val -35384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t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符号表的最大容量</a:t>
            </a:r>
          </a:p>
        </p:txBody>
      </p:sp>
      <p:sp>
        <p:nvSpPr>
          <p:cNvPr id="22536" name="Text Box 17"/>
          <p:cNvSpPr txBox="1">
            <a:spLocks noChangeArrowheads="1"/>
          </p:cNvSpPr>
          <p:nvPr/>
        </p:nvSpPr>
        <p:spPr bwMode="auto">
          <a:xfrm>
            <a:off x="1629825" y="1025609"/>
            <a:ext cx="210818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</a:rPr>
              <a:t>无序符号表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8934" y="2299474"/>
            <a:ext cx="4429125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 err="1"/>
              <a:t>enum</a:t>
            </a:r>
            <a:r>
              <a:rPr lang="en-US" altLang="zh-CN" sz="2400" dirty="0"/>
              <a:t> </a:t>
            </a:r>
            <a:r>
              <a:rPr lang="en-US" altLang="zh-CN" sz="2400" b="1" dirty="0" err="1">
                <a:solidFill>
                  <a:srgbClr val="0070C0"/>
                </a:solidFill>
              </a:rPr>
              <a:t>Category_symbol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</a:rPr>
              <a:t> </a:t>
            </a:r>
            <a:r>
              <a:rPr lang="en-US" altLang="zh-CN" sz="2400" b="1" dirty="0"/>
              <a:t>(7) </a:t>
            </a:r>
            <a:r>
              <a:rPr lang="en-US" altLang="zh-CN" sz="2400" dirty="0"/>
              <a:t>{</a:t>
            </a:r>
            <a:r>
              <a:rPr lang="en-US" altLang="zh-CN" sz="2400" dirty="0" err="1"/>
              <a:t>variable,function</a:t>
            </a:r>
            <a:r>
              <a:rPr lang="en-US" altLang="zh-CN" sz="2000" dirty="0"/>
              <a:t>};//</a:t>
            </a:r>
            <a:r>
              <a:rPr lang="zh-CN" altLang="en-US" sz="2000" dirty="0"/>
              <a:t>标志符的类型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340634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矩形 12"/>
          <p:cNvSpPr/>
          <p:nvPr/>
        </p:nvSpPr>
        <p:spPr>
          <a:xfrm>
            <a:off x="0" y="0"/>
            <a:ext cx="32848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符号表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ldLvl="0" animBg="1"/>
      <p:bldP spid="1844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362037" y="684429"/>
            <a:ext cx="6624637" cy="5015865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lookup</a:t>
            </a:r>
            <a:r>
              <a:rPr lang="en-US" altLang="zh-CN" sz="2000" dirty="0"/>
              <a:t>(char *name,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*</a:t>
            </a:r>
            <a:r>
              <a:rPr lang="en-US" altLang="zh-CN" sz="2000" dirty="0" err="1"/>
              <a:t>pPosition</a:t>
            </a:r>
            <a:r>
              <a:rPr lang="en-US" altLang="zh-CN" sz="2000" dirty="0"/>
              <a:t>)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{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0;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++){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(symbol[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].name, name) == 0){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        *</a:t>
            </a:r>
            <a:r>
              <a:rPr lang="en-US" altLang="zh-CN" sz="2000" dirty="0" err="1"/>
              <a:t>pPosition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      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);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        }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    }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23; //</a:t>
            </a:r>
            <a:r>
              <a:rPr lang="zh-CN" altLang="en-US" sz="2000" dirty="0"/>
              <a:t>标识符没定义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);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4579" name="Text Box 8"/>
          <p:cNvSpPr txBox="1">
            <a:spLocks noChangeArrowheads="1"/>
          </p:cNvSpPr>
          <p:nvPr/>
        </p:nvSpPr>
        <p:spPr bwMode="auto">
          <a:xfrm>
            <a:off x="9404349" y="22"/>
            <a:ext cx="12636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676-688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9210" y="34587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矩形 6"/>
          <p:cNvSpPr/>
          <p:nvPr/>
        </p:nvSpPr>
        <p:spPr>
          <a:xfrm>
            <a:off x="-88900" y="7321"/>
            <a:ext cx="42049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en-US" altLang="zh-CN" sz="1600" b="1" dirty="0">
                <a:solidFill>
                  <a:srgbClr val="0070C0"/>
                </a:solidFill>
              </a:rPr>
              <a:t>lookup</a:t>
            </a:r>
            <a:r>
              <a:rPr lang="en-US" altLang="zh-CN" sz="1600" dirty="0">
                <a:solidFill>
                  <a:srgbClr val="0070C0"/>
                </a:solidFill>
              </a:rPr>
              <a:t>: </a:t>
            </a:r>
            <a:r>
              <a:rPr lang="zh-CN" altLang="en-US" sz="1600" b="1" dirty="0">
                <a:solidFill>
                  <a:srgbClr val="0070C0"/>
                </a:solidFill>
              </a:rPr>
              <a:t>查符号表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60062"/>
            <a:ext cx="9144000" cy="5940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0070C0"/>
                </a:solidFill>
              </a:rPr>
              <a:t>insert_Symbol</a:t>
            </a:r>
            <a:r>
              <a:rPr lang="en-US" altLang="zh-CN" sz="2000" b="1" dirty="0"/>
              <a:t>(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Category_symbol</a:t>
            </a:r>
            <a:r>
              <a:rPr lang="en-US" altLang="zh-CN" sz="2000" dirty="0"/>
              <a:t> category, char *name)</a:t>
            </a:r>
          </a:p>
          <a:p>
            <a:pPr eaLnBrk="1" hangingPunct="1">
              <a:defRPr/>
            </a:pPr>
            <a:r>
              <a:rPr lang="en-US" altLang="zh-CN" sz="2000" dirty="0"/>
              <a:t>{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0;  ……</a:t>
            </a:r>
          </a:p>
          <a:p>
            <a:pPr eaLnBrk="1" hangingPunct="1">
              <a:defRPr/>
            </a:pPr>
            <a:r>
              <a:rPr lang="en-US" altLang="zh-CN" sz="2000" dirty="0"/>
              <a:t>     switch (category) {</a:t>
            </a:r>
          </a:p>
          <a:p>
            <a:pPr eaLnBrk="1" hangingPunct="1">
              <a:defRPr/>
            </a:pPr>
            <a:r>
              <a:rPr lang="en-US" altLang="zh-CN" sz="2000" dirty="0"/>
              <a:t>            case </a:t>
            </a:r>
            <a:r>
              <a:rPr lang="en-US" altLang="zh-CN" sz="2000" b="1" dirty="0">
                <a:solidFill>
                  <a:srgbClr val="0070C0"/>
                </a:solidFill>
              </a:rPr>
              <a:t>function</a:t>
            </a:r>
            <a:r>
              <a:rPr lang="en-US" altLang="zh-CN" sz="2000" dirty="0"/>
              <a:t>: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 - 1;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&gt;= 0;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--) </a:t>
            </a:r>
            <a:r>
              <a:rPr lang="en-US" altLang="zh-CN" sz="2000" dirty="0"/>
              <a:t>{//</a:t>
            </a:r>
            <a:r>
              <a:rPr lang="zh-CN" altLang="en-US" sz="2000" dirty="0"/>
              <a:t>查符号表</a:t>
            </a:r>
          </a:p>
          <a:p>
            <a:pPr eaLnBrk="1" hangingPunct="1">
              <a:defRPr/>
            </a:pPr>
            <a:r>
              <a:rPr lang="zh-CN" altLang="en-US" sz="2000" dirty="0"/>
              <a:t>                    </a:t>
            </a:r>
            <a:r>
              <a:rPr lang="en-US" altLang="zh-CN" sz="2000" dirty="0"/>
              <a:t>if((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(symbol[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].name, name) ==0)&amp;&amp;(symbol[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].kind==function)){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    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32; </a:t>
            </a:r>
            <a:r>
              <a:rPr lang="zh-CN" altLang="en-US" sz="2000" dirty="0"/>
              <a:t>   </a:t>
            </a:r>
            <a:r>
              <a:rPr lang="en-US" altLang="zh-CN" sz="2000" dirty="0"/>
              <a:t>break;}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symbol[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].kind=function;     break;</a:t>
            </a:r>
          </a:p>
          <a:p>
            <a:pPr eaLnBrk="1" hangingPunct="1">
              <a:defRPr/>
            </a:pPr>
            <a:r>
              <a:rPr lang="en-US" altLang="zh-CN" sz="2000" dirty="0"/>
              <a:t>            case </a:t>
            </a:r>
            <a:r>
              <a:rPr lang="en-US" altLang="zh-CN" sz="2000" b="1" dirty="0">
                <a:solidFill>
                  <a:srgbClr val="0070C0"/>
                </a:solidFill>
              </a:rPr>
              <a:t>variable: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 - 1;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&gt;=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--) {//</a:t>
            </a:r>
            <a:r>
              <a:rPr lang="zh-CN" altLang="en-US" sz="2000" dirty="0"/>
              <a:t>查符号表</a:t>
            </a:r>
          </a:p>
          <a:p>
            <a:pPr eaLnBrk="1" hangingPunct="1">
              <a:defRPr/>
            </a:pPr>
            <a:r>
              <a:rPr lang="zh-CN" altLang="en-US" sz="2000" dirty="0"/>
              <a:t>                    </a:t>
            </a:r>
            <a:r>
              <a:rPr lang="en-US" altLang="zh-CN" sz="2000" dirty="0"/>
              <a:t>if((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(symbol[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].name, name) == 0)&amp;&amp;(symbol[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].kind==variable)){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    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22; </a:t>
            </a:r>
            <a:r>
              <a:rPr lang="zh-CN" altLang="en-US" sz="2000" dirty="0"/>
              <a:t>         </a:t>
            </a:r>
            <a:r>
              <a:rPr lang="en-US" altLang="zh-CN" sz="2000" dirty="0"/>
              <a:t>break; }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    }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symbol[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].kind=variable;  symbol[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].address = offset;</a:t>
            </a:r>
          </a:p>
          <a:p>
            <a:pPr eaLnBrk="1" hangingPunct="1">
              <a:defRPr/>
            </a:pPr>
            <a:r>
              <a:rPr lang="en-US" altLang="zh-CN" sz="2000" dirty="0"/>
              <a:t>                offset++; </a:t>
            </a:r>
            <a:r>
              <a:rPr lang="zh-CN" altLang="en-US" sz="2000" dirty="0"/>
              <a:t>   </a:t>
            </a:r>
            <a:r>
              <a:rPr lang="en-US" altLang="zh-CN" sz="2000" dirty="0"/>
              <a:t>break;</a:t>
            </a:r>
          </a:p>
          <a:p>
            <a:pPr eaLnBrk="1" hangingPunct="1">
              <a:defRPr/>
            </a:pPr>
            <a:r>
              <a:rPr lang="en-US" altLang="zh-CN" sz="2000" dirty="0"/>
              <a:t>            }</a:t>
            </a:r>
          </a:p>
          <a:p>
            <a:pPr eaLnBrk="1" hangingPunct="1"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strcpy</a:t>
            </a:r>
            <a:r>
              <a:rPr lang="en-US" altLang="zh-CN" sz="2000" dirty="0"/>
              <a:t>(symbol[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].name, name);      </a:t>
            </a:r>
            <a:r>
              <a:rPr lang="en-US" altLang="zh-CN" sz="2000" dirty="0" err="1"/>
              <a:t>symbolIndex</a:t>
            </a:r>
            <a:r>
              <a:rPr lang="en-US" altLang="zh-CN" sz="2000" dirty="0"/>
              <a:t>++;</a:t>
            </a:r>
          </a:p>
          <a:p>
            <a:pPr eaLnBrk="1" hangingPunct="1">
              <a:defRPr/>
            </a:pPr>
            <a:r>
              <a:rPr lang="en-US" altLang="zh-CN" sz="2000" dirty="0"/>
              <a:t>    return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;</a:t>
            </a:r>
          </a:p>
          <a:p>
            <a:pPr eaLnBrk="1" hangingPunct="1">
              <a:defRPr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23556" name="Text Box 8"/>
          <p:cNvSpPr txBox="1">
            <a:spLocks noChangeArrowheads="1"/>
          </p:cNvSpPr>
          <p:nvPr/>
        </p:nvSpPr>
        <p:spPr bwMode="auto">
          <a:xfrm>
            <a:off x="9332930" y="22"/>
            <a:ext cx="1335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641-673</a:t>
            </a: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8832850" y="442565"/>
            <a:ext cx="26932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 err="1">
                <a:solidFill>
                  <a:srgbClr val="0070C0"/>
                </a:solidFill>
              </a:rPr>
              <a:t>int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 err="1">
                <a:solidFill>
                  <a:srgbClr val="0070C0"/>
                </a:solidFill>
              </a:rPr>
              <a:t>symbolIndex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en-US" sz="2000" b="1" dirty="0"/>
              <a:t>： </a:t>
            </a:r>
            <a:r>
              <a:rPr lang="en-US" altLang="zh-CN" sz="2000" b="1" dirty="0"/>
              <a:t>symbol</a:t>
            </a:r>
            <a:r>
              <a:rPr lang="zh-CN" altLang="en-US" sz="2000" b="1" dirty="0"/>
              <a:t>数组中第一个空元素的</a:t>
            </a:r>
            <a:r>
              <a:rPr lang="zh-CN" altLang="en-US" sz="2000" b="1" dirty="0" smtClean="0"/>
              <a:t>下标（</a:t>
            </a:r>
            <a:r>
              <a:rPr lang="zh-CN" altLang="en-US" sz="2000" b="1" dirty="0"/>
              <a:t>下一个要填入的标识符在符号表中的位置</a:t>
            </a:r>
            <a:r>
              <a:rPr lang="zh-CN" altLang="en-US" sz="2000" b="1" dirty="0" smtClean="0"/>
              <a:t>）</a:t>
            </a:r>
            <a:r>
              <a:rPr lang="en-US" altLang="zh-CN" sz="2000" b="1" dirty="0" smtClean="0"/>
              <a:t>(56)</a:t>
            </a:r>
            <a:endParaRPr lang="en-US" altLang="zh-CN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 err="1">
                <a:solidFill>
                  <a:srgbClr val="0070C0"/>
                </a:solidFill>
              </a:rPr>
              <a:t>int</a:t>
            </a:r>
            <a:r>
              <a:rPr lang="en-US" altLang="zh-CN" sz="2000" b="1" dirty="0">
                <a:solidFill>
                  <a:srgbClr val="0070C0"/>
                </a:solidFill>
              </a:rPr>
              <a:t> offset</a:t>
            </a:r>
            <a:r>
              <a:rPr lang="zh-CN" altLang="en-US" sz="2000" dirty="0"/>
              <a:t>：</a:t>
            </a:r>
            <a:r>
              <a:rPr lang="zh-CN" altLang="en-US" sz="2000" b="1" dirty="0"/>
              <a:t>局部变量在函数内的相对地址，初值为</a:t>
            </a:r>
            <a:r>
              <a:rPr lang="en-US" altLang="zh-CN" sz="2000" b="1" dirty="0">
                <a:solidFill>
                  <a:srgbClr val="0070C0"/>
                </a:solidFill>
              </a:rPr>
              <a:t>2</a:t>
            </a:r>
            <a:r>
              <a:rPr lang="en-US" altLang="zh-CN" sz="2000" b="1" dirty="0"/>
              <a:t>(231)</a:t>
            </a:r>
            <a:r>
              <a:rPr lang="zh-CN" altLang="en-US" sz="2000" b="1" dirty="0"/>
              <a:t>。每定义一个变量，加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338627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矩形 7"/>
          <p:cNvSpPr/>
          <p:nvPr/>
        </p:nvSpPr>
        <p:spPr>
          <a:xfrm>
            <a:off x="0" y="22"/>
            <a:ext cx="59538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en-US" altLang="zh-CN" sz="1600" b="1" dirty="0" err="1">
                <a:solidFill>
                  <a:srgbClr val="0070C0"/>
                </a:solidFill>
              </a:rPr>
              <a:t>insert_Symbol</a:t>
            </a:r>
            <a:r>
              <a:rPr lang="en-US" altLang="zh-CN" sz="1600" dirty="0">
                <a:solidFill>
                  <a:srgbClr val="0070C0"/>
                </a:solidFill>
              </a:rPr>
              <a:t> : </a:t>
            </a:r>
            <a:r>
              <a:rPr lang="zh-CN" altLang="en-US" sz="1600" b="1" dirty="0">
                <a:solidFill>
                  <a:srgbClr val="0070C0"/>
                </a:solidFill>
              </a:rPr>
              <a:t>将标识符插入符号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表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2"/>
          <p:cNvSpPr txBox="1">
            <a:spLocks noChangeArrowheads="1"/>
          </p:cNvSpPr>
          <p:nvPr/>
        </p:nvSpPr>
        <p:spPr bwMode="auto">
          <a:xfrm>
            <a:off x="1734820" y="629926"/>
            <a:ext cx="8644256" cy="461665"/>
          </a:xfrm>
          <a:prstGeom prst="rect">
            <a:avLst/>
          </a:prstGeom>
          <a:solidFill>
            <a:srgbClr val="EFEFFB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/>
              <a:t> &lt;</a:t>
            </a:r>
            <a:r>
              <a:rPr lang="en-US" altLang="zh-CN" sz="2400" b="1" dirty="0" err="1"/>
              <a:t>fun_declaration</a:t>
            </a:r>
            <a:r>
              <a:rPr lang="en-US" altLang="zh-CN" sz="2400" b="1" dirty="0"/>
              <a:t>&gt; → </a:t>
            </a:r>
            <a:r>
              <a:rPr lang="en-US" altLang="zh-CN" sz="2400" b="1" i="1" dirty="0"/>
              <a:t>function</a:t>
            </a:r>
            <a:r>
              <a:rPr lang="en-US" altLang="zh-CN" sz="2400" b="1" dirty="0"/>
              <a:t> </a:t>
            </a:r>
            <a:r>
              <a:rPr lang="en-US" altLang="zh-CN" sz="2400" b="1" dirty="0" smtClean="0"/>
              <a:t>ID</a:t>
            </a:r>
            <a:r>
              <a:rPr lang="zh-CN" altLang="en-US" sz="2400" b="1" dirty="0" smtClean="0"/>
              <a:t>‘</a:t>
            </a:r>
            <a:r>
              <a:rPr lang="en-US" altLang="zh-CN" sz="2400" b="1" dirty="0"/>
              <a:t>(</a:t>
            </a:r>
            <a:r>
              <a:rPr lang="zh-CN" altLang="en-US" sz="2400" b="1" dirty="0" smtClean="0"/>
              <a:t>’</a:t>
            </a:r>
            <a:r>
              <a:rPr lang="en-US" altLang="zh-CN" sz="2400" b="1" dirty="0" smtClean="0"/>
              <a:t>‘ </a:t>
            </a:r>
            <a:r>
              <a:rPr lang="en-US" altLang="zh-CN" sz="2400" b="1" dirty="0"/>
              <a:t>)’&lt; </a:t>
            </a:r>
            <a:r>
              <a:rPr lang="en-US" altLang="zh-CN" sz="2400" b="1" dirty="0" err="1"/>
              <a:t>function_body</a:t>
            </a:r>
            <a:r>
              <a:rPr lang="en-US" altLang="zh-CN" sz="2400" b="1" dirty="0"/>
              <a:t>&gt;</a:t>
            </a:r>
            <a:endParaRPr lang="zh-CN" altLang="en-US" sz="2400" dirty="0"/>
          </a:p>
        </p:txBody>
      </p:sp>
      <p:sp>
        <p:nvSpPr>
          <p:cNvPr id="26627" name="TextBox 3"/>
          <p:cNvSpPr txBox="1">
            <a:spLocks noChangeArrowheads="1"/>
          </p:cNvSpPr>
          <p:nvPr/>
        </p:nvSpPr>
        <p:spPr bwMode="auto">
          <a:xfrm>
            <a:off x="1698941" y="1397006"/>
            <a:ext cx="868013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</a:t>
            </a:r>
            <a:r>
              <a:rPr lang="en-US" altLang="zh-CN" sz="2400" b="1" dirty="0" err="1">
                <a:solidFill>
                  <a:srgbClr val="0070C0"/>
                </a:solidFill>
              </a:rPr>
              <a:t>insert_Symbol</a:t>
            </a:r>
            <a:r>
              <a:rPr lang="en-US" altLang="zh-CN" sz="2400" dirty="0"/>
              <a:t>(function,token1);//</a:t>
            </a:r>
            <a:r>
              <a:rPr lang="zh-CN" altLang="en-US" sz="2400" b="1" dirty="0"/>
              <a:t>将函数名插入符号表</a:t>
            </a:r>
          </a:p>
        </p:txBody>
      </p:sp>
      <p:sp>
        <p:nvSpPr>
          <p:cNvPr id="4" name="动作按钮: 前进或下一项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9076" y="6597650"/>
            <a:ext cx="288925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7650" name="TextBox 2"/>
          <p:cNvSpPr txBox="1">
            <a:spLocks noChangeArrowheads="1"/>
          </p:cNvSpPr>
          <p:nvPr/>
        </p:nvSpPr>
        <p:spPr bwMode="auto">
          <a:xfrm>
            <a:off x="1698641" y="2170436"/>
            <a:ext cx="8680435" cy="461665"/>
          </a:xfrm>
          <a:prstGeom prst="rect">
            <a:avLst/>
          </a:prstGeom>
          <a:solidFill>
            <a:srgbClr val="EFEFFB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/>
              <a:t>&lt;</a:t>
            </a:r>
            <a:r>
              <a:rPr lang="en-US" altLang="zh-CN" sz="2400" b="1" dirty="0" err="1"/>
              <a:t>main_declaration</a:t>
            </a:r>
            <a:r>
              <a:rPr lang="en-US" altLang="zh-CN" sz="2400" b="1" dirty="0"/>
              <a:t>&gt;→main</a:t>
            </a:r>
            <a:r>
              <a:rPr lang="en-US" altLang="zh-CN" sz="2400" b="1" dirty="0" smtClean="0"/>
              <a:t>‘</a:t>
            </a:r>
            <a:r>
              <a:rPr lang="en-US" altLang="zh-CN" sz="2400" b="1" dirty="0"/>
              <a:t>(</a:t>
            </a:r>
            <a:r>
              <a:rPr lang="en-US" altLang="zh-CN" sz="2400" b="1" dirty="0" smtClean="0"/>
              <a:t>’ ‘ </a:t>
            </a:r>
            <a:r>
              <a:rPr lang="en-US" altLang="zh-CN" sz="2400" b="1" dirty="0"/>
              <a:t>)’ &lt; </a:t>
            </a:r>
            <a:r>
              <a:rPr lang="en-US" altLang="zh-CN" sz="2400" b="1" dirty="0" err="1"/>
              <a:t>function_body</a:t>
            </a:r>
            <a:r>
              <a:rPr lang="en-US" altLang="zh-CN" sz="2400" b="1" dirty="0"/>
              <a:t>&gt;</a:t>
            </a:r>
            <a:endParaRPr lang="zh-CN" altLang="en-US" sz="2400" dirty="0"/>
          </a:p>
        </p:txBody>
      </p:sp>
      <p:sp>
        <p:nvSpPr>
          <p:cNvPr id="27651" name="TextBox 3"/>
          <p:cNvSpPr txBox="1">
            <a:spLocks noChangeArrowheads="1"/>
          </p:cNvSpPr>
          <p:nvPr/>
        </p:nvSpPr>
        <p:spPr bwMode="auto">
          <a:xfrm>
            <a:off x="1734820" y="2910941"/>
            <a:ext cx="8644256" cy="460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b="1" dirty="0" err="1">
                <a:solidFill>
                  <a:srgbClr val="0070C0"/>
                </a:solidFill>
              </a:rPr>
              <a:t>insert_Symbol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function,"main</a:t>
            </a:r>
            <a:r>
              <a:rPr lang="en-US" altLang="zh-CN" sz="2400" dirty="0"/>
              <a:t>");</a:t>
            </a:r>
            <a:endParaRPr lang="zh-CN" altLang="en-US" sz="2400" dirty="0"/>
          </a:p>
        </p:txBody>
      </p:sp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1698940" y="3458515"/>
            <a:ext cx="8680136" cy="1200329"/>
          </a:xfrm>
          <a:prstGeom prst="rect">
            <a:avLst/>
          </a:prstGeom>
          <a:solidFill>
            <a:srgbClr val="EFEFFB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/>
              <a:t> &lt;</a:t>
            </a:r>
            <a:r>
              <a:rPr lang="en-US" altLang="zh-CN" sz="2400" b="1" dirty="0" err="1"/>
              <a:t>function_body</a:t>
            </a:r>
            <a:r>
              <a:rPr lang="en-US" altLang="zh-CN" sz="2400" b="1" dirty="0"/>
              <a:t>&gt;→ </a:t>
            </a:r>
            <a:r>
              <a:rPr lang="en-US" altLang="zh-CN" sz="2400" b="1" dirty="0" smtClean="0"/>
              <a:t>‘{’ &lt;</a:t>
            </a:r>
            <a:r>
              <a:rPr lang="en-US" altLang="zh-CN" sz="2400" b="1" dirty="0" err="1"/>
              <a:t>declaration_list</a:t>
            </a:r>
            <a:r>
              <a:rPr lang="en-US" altLang="zh-CN" sz="2400" b="1" dirty="0"/>
              <a:t>&gt;&lt;</a:t>
            </a:r>
            <a:r>
              <a:rPr lang="en-US" altLang="zh-CN" sz="2400" b="1" dirty="0" err="1"/>
              <a:t>statement_list</a:t>
            </a:r>
            <a:r>
              <a:rPr lang="en-US" altLang="zh-CN" sz="2400" b="1" dirty="0"/>
              <a:t>&gt;‘}’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&lt;</a:t>
            </a:r>
            <a:r>
              <a:rPr lang="en-US" altLang="zh-CN" sz="2400" b="1" dirty="0" err="1"/>
              <a:t>declaration_list</a:t>
            </a:r>
            <a:r>
              <a:rPr lang="en-US" altLang="zh-CN" sz="2400" b="1" dirty="0"/>
              <a:t>&gt;</a:t>
            </a:r>
            <a:r>
              <a:rPr lang="en-US" altLang="zh-CN" sz="2400" dirty="0"/>
              <a:t>→</a:t>
            </a:r>
            <a:r>
              <a:rPr lang="en-US" altLang="zh-CN" sz="2400" b="1" dirty="0"/>
              <a:t>{&lt;</a:t>
            </a:r>
            <a:r>
              <a:rPr lang="en-US" altLang="zh-CN" sz="2400" b="1" dirty="0" err="1"/>
              <a:t>declaration_stat</a:t>
            </a:r>
            <a:r>
              <a:rPr lang="en-US" altLang="zh-CN" sz="2400" b="1" dirty="0"/>
              <a:t>&gt;}    </a:t>
            </a:r>
            <a:r>
              <a:rPr lang="zh-CN" altLang="en-US" sz="2400" dirty="0"/>
              <a:t/>
            </a:r>
            <a:br>
              <a:rPr lang="zh-CN" altLang="en-US" sz="2400" dirty="0"/>
            </a:br>
            <a:r>
              <a:rPr lang="en-US" altLang="zh-CN" sz="2400" b="1" dirty="0"/>
              <a:t> &lt;</a:t>
            </a:r>
            <a:r>
              <a:rPr lang="en-US" altLang="zh-CN" sz="2400" b="1" dirty="0" err="1"/>
              <a:t>declaration_stat</a:t>
            </a:r>
            <a:r>
              <a:rPr lang="en-US" altLang="zh-CN" sz="2400" b="1" dirty="0"/>
              <a:t>&gt;</a:t>
            </a:r>
            <a:r>
              <a:rPr lang="en-US" altLang="zh-CN" sz="2400" dirty="0"/>
              <a:t>→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ID;                          </a:t>
            </a:r>
            <a:endParaRPr lang="zh-CN" altLang="en-US" sz="2400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1735137" y="4658658"/>
            <a:ext cx="864393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3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declaration_stat</a:t>
            </a:r>
            <a:r>
              <a:rPr lang="en-US" altLang="zh-CN" sz="2400" dirty="0"/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{……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 smtClean="0"/>
              <a:t>   </a:t>
            </a:r>
            <a:r>
              <a:rPr lang="en-US" altLang="zh-CN" sz="2400" dirty="0" smtClean="0"/>
              <a:t> </a:t>
            </a:r>
            <a:r>
              <a:rPr lang="en-US" altLang="zh-CN" sz="2400" b="1" dirty="0" err="1">
                <a:solidFill>
                  <a:srgbClr val="0070C0"/>
                </a:solidFill>
              </a:rPr>
              <a:t>insert_Symbol</a:t>
            </a:r>
            <a:r>
              <a:rPr lang="en-US" altLang="zh-CN" sz="2400" b="1" dirty="0"/>
              <a:t>(variable,token1)</a:t>
            </a:r>
            <a:r>
              <a:rPr lang="en-US" altLang="zh-CN" sz="2400" dirty="0"/>
              <a:t>; //</a:t>
            </a:r>
            <a:r>
              <a:rPr lang="zh-CN" altLang="en-US" sz="2400" dirty="0"/>
              <a:t>将变量插入符号表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……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8893" y="31185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矩形 9"/>
          <p:cNvSpPr/>
          <p:nvPr/>
        </p:nvSpPr>
        <p:spPr>
          <a:xfrm>
            <a:off x="0" y="-26699"/>
            <a:ext cx="30780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示例</a:t>
            </a:r>
            <a:endParaRPr lang="en-US" altLang="zh-CN" sz="1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0295" y="2025628"/>
            <a:ext cx="5664200" cy="2879725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(1) if  a&lt;b   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 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E.true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(2)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(3)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(3) if  c&lt;d  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(5)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(4)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 </a:t>
            </a:r>
            <a:r>
              <a:rPr lang="en-US" altLang="zh-CN" sz="2800" b="1" dirty="0" err="1" smtClean="0">
                <a:solidFill>
                  <a:srgbClr val="FFC000"/>
                </a:solidFill>
              </a:rPr>
              <a:t>E.false</a:t>
            </a:r>
            <a:endParaRPr lang="en-US" altLang="zh-CN" sz="2800" b="1" dirty="0" smtClean="0">
              <a:solidFill>
                <a:srgbClr val="FFC000"/>
              </a:solidFill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(5) if  e&gt;f 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E.true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609600" indent="-60960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0070C0"/>
                </a:solidFill>
              </a:rPr>
              <a:t>(6) </a:t>
            </a:r>
            <a:r>
              <a:rPr lang="en-US" altLang="zh-CN" sz="2800" b="1" dirty="0" err="1" smtClean="0">
                <a:solidFill>
                  <a:srgbClr val="0070C0"/>
                </a:solidFill>
              </a:rPr>
              <a:t>goto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 </a:t>
            </a:r>
            <a:r>
              <a:rPr lang="en-US" altLang="zh-CN" sz="2800" b="1" dirty="0" err="1" smtClean="0">
                <a:solidFill>
                  <a:srgbClr val="FFC000"/>
                </a:solidFill>
              </a:rPr>
              <a:t>E.false</a:t>
            </a:r>
            <a:endParaRPr lang="en-US" altLang="zh-CN" sz="2800" b="1" dirty="0" smtClean="0">
              <a:solidFill>
                <a:srgbClr val="FFC000"/>
              </a:solidFill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0" y="723209"/>
            <a:ext cx="12192000" cy="495300"/>
          </a:xfrm>
          <a:prstGeom prst="rect">
            <a:avLst/>
          </a:prstGeom>
          <a:noFill/>
          <a:ln>
            <a:noFill/>
          </a:ln>
        </p:spPr>
        <p:txBody>
          <a:bodyPr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</a:rPr>
              <a:t>例</a:t>
            </a:r>
            <a:r>
              <a:rPr lang="en-US" altLang="zh-CN" sz="2800" b="1" dirty="0">
                <a:solidFill>
                  <a:srgbClr val="0070C0"/>
                </a:solidFill>
              </a:rPr>
              <a:t>] </a:t>
            </a:r>
            <a:r>
              <a:rPr lang="zh-CN" altLang="en-US" sz="2800" b="1" dirty="0">
                <a:solidFill>
                  <a:srgbClr val="0070C0"/>
                </a:solidFill>
              </a:rPr>
              <a:t>布尔表达式 </a:t>
            </a:r>
            <a:r>
              <a:rPr lang="en-US" altLang="zh-CN" sz="2800" b="1" dirty="0">
                <a:solidFill>
                  <a:srgbClr val="0070C0"/>
                </a:solidFill>
              </a:rPr>
              <a:t>a&lt;b  or    c&lt;d  and  e&gt;f</a:t>
            </a:r>
            <a:r>
              <a:rPr lang="zh-CN" altLang="en-US" sz="2800" b="1" dirty="0">
                <a:solidFill>
                  <a:srgbClr val="0070C0"/>
                </a:solidFill>
              </a:rPr>
              <a:t>　的翻译  </a:t>
            </a:r>
            <a:r>
              <a:rPr lang="zh-CN" altLang="en-US" sz="2800" dirty="0">
                <a:solidFill>
                  <a:srgbClr val="000000"/>
                </a:solidFill>
              </a:rPr>
              <a:t>　　　</a:t>
            </a:r>
          </a:p>
        </p:txBody>
      </p:sp>
      <p:sp>
        <p:nvSpPr>
          <p:cNvPr id="1092615" name="AutoShape 7"/>
          <p:cNvSpPr/>
          <p:nvPr/>
        </p:nvSpPr>
        <p:spPr bwMode="auto">
          <a:xfrm>
            <a:off x="6345782" y="1282792"/>
            <a:ext cx="5422900" cy="474662"/>
          </a:xfrm>
          <a:prstGeom prst="borderCallout1">
            <a:avLst>
              <a:gd name="adj1" fmla="val 24079"/>
              <a:gd name="adj2" fmla="val -2037"/>
              <a:gd name="adj3" fmla="val 229097"/>
              <a:gd name="adj4" fmla="val -36671"/>
            </a:avLst>
          </a:prstGeom>
          <a:solidFill>
            <a:srgbClr val="EFEFFB"/>
          </a:solidFill>
          <a:ln w="38100" algn="ctr">
            <a:solidFill>
              <a:schemeClr val="tx1"/>
            </a:solidFill>
            <a:miter lim="800000"/>
          </a:ln>
        </p:spPr>
        <p:txBody>
          <a:bodyPr lIns="0" tIns="10800" rIns="36000" bIns="10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真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出口转移目标</a:t>
            </a:r>
          </a:p>
        </p:txBody>
      </p:sp>
      <p:sp>
        <p:nvSpPr>
          <p:cNvPr id="1092616" name="AutoShape 8"/>
          <p:cNvSpPr/>
          <p:nvPr/>
        </p:nvSpPr>
        <p:spPr bwMode="auto">
          <a:xfrm>
            <a:off x="5308617" y="2337560"/>
            <a:ext cx="5467351" cy="454025"/>
          </a:xfrm>
          <a:prstGeom prst="borderCallout1">
            <a:avLst>
              <a:gd name="adj1" fmla="val 28458"/>
              <a:gd name="adj2" fmla="val -1856"/>
              <a:gd name="adj3" fmla="val 285375"/>
              <a:gd name="adj4" fmla="val -33759"/>
            </a:avLst>
          </a:prstGeom>
          <a:solidFill>
            <a:schemeClr val="accent6">
              <a:lumMod val="20000"/>
              <a:lumOff val="80000"/>
            </a:schemeClr>
          </a:solidFill>
          <a:ln w="38100" algn="ctr">
            <a:solidFill>
              <a:schemeClr val="tx1"/>
            </a:solidFill>
            <a:miter lim="800000"/>
          </a:ln>
        </p:spPr>
        <p:txBody>
          <a:bodyPr lIns="0" tIns="10800" rIns="36000" bIns="10800"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“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假</a:t>
            </a: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出口转移目标</a:t>
            </a:r>
          </a:p>
        </p:txBody>
      </p:sp>
      <p:sp>
        <p:nvSpPr>
          <p:cNvPr id="8" name="动作按钮: 前进或下一项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06784" y="7218338"/>
            <a:ext cx="385233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53145" y="5356201"/>
            <a:ext cx="1070398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36000" bIns="108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转移地址在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产生中间代码时</a:t>
            </a:r>
            <a:r>
              <a:rPr lang="zh-CN" altLang="en-US" sz="28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无法确定，需要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回填</a:t>
            </a:r>
            <a:r>
              <a:rPr lang="zh-CN" altLang="en-US" sz="2800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326956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矩形 10"/>
          <p:cNvSpPr/>
          <p:nvPr/>
        </p:nvSpPr>
        <p:spPr>
          <a:xfrm>
            <a:off x="0" y="0"/>
            <a:ext cx="24593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endParaRPr lang="zh-CN" altLang="en-US" sz="1600" b="1" dirty="0">
              <a:solidFill>
                <a:srgbClr val="0070C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26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2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2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92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92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92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92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9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9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0" grpId="0" build="p" animBg="1"/>
      <p:bldP spid="1092615" grpId="0" animBg="1"/>
      <p:bldP spid="1092616" grpId="0" animBg="1"/>
      <p:bldP spid="8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5" name="Text Box 5"/>
          <p:cNvSpPr txBox="1">
            <a:spLocks noChangeArrowheads="1"/>
          </p:cNvSpPr>
          <p:nvPr/>
        </p:nvSpPr>
        <p:spPr bwMode="auto">
          <a:xfrm>
            <a:off x="6479125" y="1196975"/>
            <a:ext cx="5522383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(</a:t>
            </a:r>
            <a:r>
              <a:rPr lang="en-US" altLang="zh-CN" sz="2800" b="1" dirty="0" err="1">
                <a:solidFill>
                  <a:srgbClr val="FF9900"/>
                </a:solidFill>
              </a:rPr>
              <a:t>E.true</a:t>
            </a:r>
            <a:r>
              <a:rPr lang="en-US" altLang="zh-CN" sz="2800" b="1" dirty="0">
                <a:solidFill>
                  <a:srgbClr val="000000"/>
                </a:solidFill>
              </a:rPr>
              <a:t> )</a:t>
            </a:r>
            <a:r>
              <a:rPr lang="zh-CN" altLang="en-US" sz="2800" b="1" dirty="0">
                <a:solidFill>
                  <a:srgbClr val="000000"/>
                </a:solidFill>
              </a:rPr>
              <a:t>： </a:t>
            </a:r>
            <a:r>
              <a:rPr lang="en-US" altLang="zh-CN" sz="2800" b="1" dirty="0">
                <a:solidFill>
                  <a:srgbClr val="FF9900"/>
                </a:solidFill>
              </a:rPr>
              <a:t>(1)</a:t>
            </a:r>
            <a:r>
              <a:rPr lang="zh-CN" altLang="en-US" sz="2800" b="1" dirty="0">
                <a:solidFill>
                  <a:srgbClr val="000000"/>
                </a:solidFill>
              </a:rPr>
              <a:t>和</a:t>
            </a:r>
            <a:r>
              <a:rPr lang="en-US" altLang="zh-CN" sz="2800" b="1" dirty="0">
                <a:solidFill>
                  <a:srgbClr val="FF9900"/>
                </a:solidFill>
              </a:rPr>
              <a:t>(</a:t>
            </a:r>
            <a:r>
              <a:rPr lang="en-US" altLang="zh-CN" sz="2800" b="1" dirty="0" smtClean="0">
                <a:solidFill>
                  <a:srgbClr val="FF9900"/>
                </a:solidFill>
              </a:rPr>
              <a:t>5)</a:t>
            </a:r>
            <a:r>
              <a:rPr lang="zh-CN" altLang="en-US" sz="2800" b="1" dirty="0">
                <a:solidFill>
                  <a:srgbClr val="000000"/>
                </a:solidFill>
              </a:rPr>
              <a:t>拉链</a:t>
            </a:r>
          </a:p>
        </p:txBody>
      </p:sp>
      <p:sp>
        <p:nvSpPr>
          <p:cNvPr id="1095686" name="Text Box 6"/>
          <p:cNvSpPr txBox="1">
            <a:spLocks noChangeArrowheads="1"/>
          </p:cNvSpPr>
          <p:nvPr/>
        </p:nvSpPr>
        <p:spPr bwMode="auto">
          <a:xfrm>
            <a:off x="6430441" y="3284538"/>
            <a:ext cx="576156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36000" bIns="10800">
            <a:spAutoFit/>
          </a:bodyPr>
          <a:lstStyle>
            <a:lvl1pPr marL="457200" indent="-3683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(</a:t>
            </a:r>
            <a:r>
              <a:rPr lang="en-US" altLang="zh-CN" sz="2800" b="1" dirty="0" err="1">
                <a:solidFill>
                  <a:srgbClr val="92D050"/>
                </a:solidFill>
              </a:rPr>
              <a:t>E.false</a:t>
            </a:r>
            <a:r>
              <a:rPr lang="en-US" altLang="zh-CN" sz="2800" b="1" dirty="0">
                <a:solidFill>
                  <a:srgbClr val="000000"/>
                </a:solidFill>
              </a:rPr>
              <a:t>)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： </a:t>
            </a:r>
            <a:r>
              <a:rPr lang="en-US" altLang="zh-CN" sz="2800" b="1" dirty="0" smtClean="0">
                <a:solidFill>
                  <a:srgbClr val="92D050"/>
                </a:solidFill>
              </a:rPr>
              <a:t>(</a:t>
            </a:r>
            <a:r>
              <a:rPr lang="en-US" altLang="zh-CN" sz="2800" b="1" dirty="0">
                <a:solidFill>
                  <a:srgbClr val="92D050"/>
                </a:solidFill>
              </a:rPr>
              <a:t>4)</a:t>
            </a:r>
            <a:r>
              <a:rPr lang="en-US" altLang="zh-CN" sz="2800" b="1" dirty="0">
                <a:solidFill>
                  <a:srgbClr val="FF99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和</a:t>
            </a:r>
            <a:r>
              <a:rPr lang="en-US" altLang="zh-CN" sz="2800" b="1" dirty="0">
                <a:solidFill>
                  <a:srgbClr val="92D050"/>
                </a:solidFill>
              </a:rPr>
              <a:t>(6</a:t>
            </a:r>
            <a:r>
              <a:rPr lang="en-US" altLang="zh-CN" sz="2800" b="1" dirty="0" smtClean="0">
                <a:solidFill>
                  <a:srgbClr val="92D050"/>
                </a:solidFill>
              </a:rPr>
              <a:t>)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拉链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388" name="Rectangle 15"/>
          <p:cNvSpPr>
            <a:spLocks noChangeArrowheads="1"/>
          </p:cNvSpPr>
          <p:nvPr/>
        </p:nvSpPr>
        <p:spPr bwMode="auto">
          <a:xfrm>
            <a:off x="0" y="2"/>
            <a:ext cx="3736449" cy="268032"/>
          </a:xfrm>
          <a:prstGeom prst="rect">
            <a:avLst/>
          </a:prstGeom>
          <a:noFill/>
          <a:ln>
            <a:noFill/>
          </a:ln>
        </p:spPr>
        <p:txBody>
          <a:bodyPr wrap="square" lIns="0" tIns="10800" rIns="36000" bIns="10800">
            <a:spAutoFit/>
          </a:bodyPr>
          <a:lstStyle>
            <a:lvl1pPr marL="88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lang="zh-CN" altLang="en-US" sz="1600" b="1" dirty="0">
                <a:solidFill>
                  <a:srgbClr val="0070C0"/>
                </a:solidFill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1600" b="1" dirty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rPr>
              <a:t>拉链和返填</a:t>
            </a: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3725" y="3643313"/>
            <a:ext cx="4277783" cy="2832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FFFF00"/>
            </a:solidFill>
            <a:miter lim="800000"/>
          </a:ln>
        </p:spPr>
        <p:txBody>
          <a:bodyPr lIns="0" tIns="10800" rIns="36000" bIns="10800">
            <a:spAutoFit/>
          </a:bodyPr>
          <a:lstStyle/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CCCCFF"/>
              </a:buClr>
              <a:defRPr/>
            </a:pPr>
            <a:r>
              <a:rPr kumimoji="1" lang="en-US" altLang="zh-CN" sz="2000" b="1" dirty="0">
                <a:solidFill>
                  <a:srgbClr val="FF3300"/>
                </a:solidFill>
              </a:rPr>
              <a:t>(7)</a:t>
            </a:r>
            <a:r>
              <a:rPr kumimoji="1" lang="en-US" altLang="zh-CN" sz="2000" b="1" dirty="0">
                <a:solidFill>
                  <a:srgbClr val="000000"/>
                </a:solidFill>
              </a:rPr>
              <a:t>	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						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000" b="1" dirty="0">
                <a:solidFill>
                  <a:srgbClr val="000000"/>
                </a:solidFill>
              </a:rPr>
              <a:t>(p-1)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			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defRPr/>
            </a:pPr>
            <a:r>
              <a:rPr kumimoji="1" lang="en-US" altLang="zh-CN" sz="2000" b="1" dirty="0">
                <a:solidFill>
                  <a:srgbClr val="000000"/>
                </a:solidFill>
              </a:rPr>
              <a:t>(p)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goto     	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CCCCFF"/>
              </a:buClr>
              <a:defRPr/>
            </a:pPr>
            <a:r>
              <a:rPr kumimoji="1" lang="en-US" altLang="zh-CN" sz="2000" b="1" dirty="0">
                <a:solidFill>
                  <a:srgbClr val="000000"/>
                </a:solidFill>
              </a:rPr>
              <a:t>(p+1)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 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400" b="1" dirty="0">
                <a:solidFill>
                  <a:srgbClr val="000000"/>
                </a:solidFill>
              </a:rPr>
              <a:t>    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000" b="1" dirty="0">
                <a:solidFill>
                  <a:srgbClr val="000000"/>
                </a:solidFill>
              </a:rPr>
              <a:t>(q-1)</a:t>
            </a:r>
          </a:p>
          <a:p>
            <a:pPr marL="546100" indent="-457200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000" b="1" dirty="0">
                <a:solidFill>
                  <a:srgbClr val="FF3300"/>
                </a:solidFill>
              </a:rPr>
              <a:t>(q)</a:t>
            </a:r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1047751" y="3811176"/>
            <a:ext cx="3073400" cy="942233"/>
          </a:xfrm>
          <a:prstGeom prst="rect">
            <a:avLst/>
          </a:prstGeom>
          <a:solidFill>
            <a:srgbClr val="C5E2FF"/>
          </a:solidFill>
          <a:ln w="9525" algn="ctr">
            <a:solidFill>
              <a:schemeClr val="bg2"/>
            </a:solidFill>
            <a:miter lim="800000"/>
          </a:ln>
        </p:spPr>
        <p:txBody>
          <a:bodyPr lIns="0" tIns="10800" rIns="36000" bIns="190800" anchor="ctr">
            <a:spAutoFit/>
          </a:bodyPr>
          <a:lstStyle>
            <a:lvl1pPr marL="88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40000"/>
              </a:spcBef>
              <a:spcAft>
                <a:spcPct val="40000"/>
              </a:spcAft>
              <a:buClr>
                <a:srgbClr val="B2B2B2"/>
              </a:buClr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楷体_GB2312" pitchFamily="49" charset="-122"/>
              </a:rPr>
              <a:t>S1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的四元式</a:t>
            </a:r>
          </a:p>
        </p:txBody>
      </p:sp>
      <p:sp>
        <p:nvSpPr>
          <p:cNvPr id="16391" name="Text Box 5"/>
          <p:cNvSpPr txBox="1">
            <a:spLocks noChangeArrowheads="1"/>
          </p:cNvSpPr>
          <p:nvPr/>
        </p:nvSpPr>
        <p:spPr bwMode="auto">
          <a:xfrm>
            <a:off x="1047751" y="5286386"/>
            <a:ext cx="3124200" cy="942233"/>
          </a:xfrm>
          <a:prstGeom prst="rect">
            <a:avLst/>
          </a:prstGeom>
          <a:solidFill>
            <a:srgbClr val="37CBFF"/>
          </a:solidFill>
          <a:ln w="9525" algn="ctr">
            <a:solidFill>
              <a:schemeClr val="bg2"/>
            </a:solidFill>
            <a:miter lim="800000"/>
          </a:ln>
        </p:spPr>
        <p:txBody>
          <a:bodyPr lIns="0" tIns="10800" rIns="36000" bIns="190800">
            <a:spAutoFit/>
          </a:bodyPr>
          <a:lstStyle>
            <a:lvl1pPr marL="457200" indent="-3683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4000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楷体_GB2312" pitchFamily="49" charset="-122"/>
              </a:rPr>
              <a:t>S2</a:t>
            </a:r>
            <a:r>
              <a:rPr lang="zh-CN" altLang="en-US" b="1">
                <a:solidFill>
                  <a:srgbClr val="000000"/>
                </a:solidFill>
                <a:ea typeface="楷体_GB2312" pitchFamily="49" charset="-122"/>
              </a:rPr>
              <a:t>的四元式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190507" y="642941"/>
            <a:ext cx="4857751" cy="2714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</a:rPr>
              <a:t>(</a:t>
            </a: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1) if  a&lt;b    goto   E.true</a:t>
            </a:r>
          </a:p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(2) goto  (3)</a:t>
            </a:r>
          </a:p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(3) if  c&lt;d   goto  (5)</a:t>
            </a:r>
          </a:p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(4) goto   E.false</a:t>
            </a:r>
          </a:p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(5) if  e&gt;f  goto  E.true</a:t>
            </a:r>
          </a:p>
          <a:p>
            <a:pPr marL="609600" indent="-6096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(6) goto   E.false</a:t>
            </a:r>
          </a:p>
        </p:txBody>
      </p:sp>
      <p:sp>
        <p:nvSpPr>
          <p:cNvPr id="16393" name="Rectangle 12"/>
          <p:cNvSpPr>
            <a:spLocks noChangeArrowheads="1"/>
          </p:cNvSpPr>
          <p:nvPr/>
        </p:nvSpPr>
        <p:spPr bwMode="auto">
          <a:xfrm>
            <a:off x="3517900" y="714375"/>
            <a:ext cx="1149352" cy="36036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(7)</a:t>
            </a:r>
          </a:p>
        </p:txBody>
      </p:sp>
      <p:sp>
        <p:nvSpPr>
          <p:cNvPr id="16394" name="Rectangle 13"/>
          <p:cNvSpPr>
            <a:spLocks noChangeArrowheads="1"/>
          </p:cNvSpPr>
          <p:nvPr/>
        </p:nvSpPr>
        <p:spPr bwMode="auto">
          <a:xfrm>
            <a:off x="3242739" y="2500313"/>
            <a:ext cx="1149347" cy="3603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(7)</a:t>
            </a:r>
          </a:p>
        </p:txBody>
      </p:sp>
      <p:sp>
        <p:nvSpPr>
          <p:cNvPr id="16395" name="Rectangle 16"/>
          <p:cNvSpPr>
            <a:spLocks noChangeArrowheads="1"/>
          </p:cNvSpPr>
          <p:nvPr/>
        </p:nvSpPr>
        <p:spPr bwMode="auto">
          <a:xfrm>
            <a:off x="2393950" y="2000260"/>
            <a:ext cx="711208" cy="360365"/>
          </a:xfrm>
          <a:prstGeom prst="rect">
            <a:avLst/>
          </a:prstGeom>
          <a:solidFill>
            <a:srgbClr val="78F7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(p+1)</a:t>
            </a:r>
          </a:p>
        </p:txBody>
      </p:sp>
      <p:sp>
        <p:nvSpPr>
          <p:cNvPr id="16396" name="Rectangle 17"/>
          <p:cNvSpPr>
            <a:spLocks noChangeArrowheads="1"/>
          </p:cNvSpPr>
          <p:nvPr/>
        </p:nvSpPr>
        <p:spPr bwMode="auto">
          <a:xfrm>
            <a:off x="2393950" y="2928948"/>
            <a:ext cx="711208" cy="360365"/>
          </a:xfrm>
          <a:prstGeom prst="rect">
            <a:avLst/>
          </a:prstGeom>
          <a:solidFill>
            <a:srgbClr val="78F7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(p+1)</a:t>
            </a:r>
          </a:p>
        </p:txBody>
      </p:sp>
      <p:sp>
        <p:nvSpPr>
          <p:cNvPr id="16397" name="Rectangle 18"/>
          <p:cNvSpPr>
            <a:spLocks noChangeArrowheads="1"/>
          </p:cNvSpPr>
          <p:nvPr/>
        </p:nvSpPr>
        <p:spPr bwMode="auto">
          <a:xfrm>
            <a:off x="1714500" y="4786323"/>
            <a:ext cx="1077384" cy="360365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36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(q)</a:t>
            </a:r>
          </a:p>
        </p:txBody>
      </p:sp>
      <p:grpSp>
        <p:nvGrpSpPr>
          <p:cNvPr id="2" name="Group 28"/>
          <p:cNvGrpSpPr/>
          <p:nvPr/>
        </p:nvGrpSpPr>
        <p:grpSpPr bwMode="auto">
          <a:xfrm>
            <a:off x="3048007" y="2214574"/>
            <a:ext cx="1250951" cy="936625"/>
            <a:chOff x="4014" y="2069"/>
            <a:chExt cx="591" cy="544"/>
          </a:xfrm>
        </p:grpSpPr>
        <p:sp>
          <p:nvSpPr>
            <p:cNvPr id="16404" name="Line 9"/>
            <p:cNvSpPr>
              <a:spLocks noChangeShapeType="1"/>
            </p:cNvSpPr>
            <p:nvPr/>
          </p:nvSpPr>
          <p:spPr bwMode="auto">
            <a:xfrm>
              <a:off x="4106" y="2613"/>
              <a:ext cx="499" cy="0"/>
            </a:xfrm>
            <a:prstGeom prst="line">
              <a:avLst/>
            </a:prstGeom>
            <a:noFill/>
            <a:ln w="57150">
              <a:solidFill>
                <a:srgbClr val="78F73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405" name="Line 10"/>
            <p:cNvSpPr>
              <a:spLocks noChangeShapeType="1"/>
            </p:cNvSpPr>
            <p:nvPr/>
          </p:nvSpPr>
          <p:spPr bwMode="auto">
            <a:xfrm>
              <a:off x="4605" y="2069"/>
              <a:ext cx="0" cy="544"/>
            </a:xfrm>
            <a:prstGeom prst="line">
              <a:avLst/>
            </a:prstGeom>
            <a:noFill/>
            <a:ln w="57150">
              <a:solidFill>
                <a:srgbClr val="78F73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406" name="Line 11"/>
            <p:cNvSpPr>
              <a:spLocks noChangeShapeType="1"/>
            </p:cNvSpPr>
            <p:nvPr/>
          </p:nvSpPr>
          <p:spPr bwMode="auto">
            <a:xfrm flipH="1">
              <a:off x="4014" y="2069"/>
              <a:ext cx="590" cy="0"/>
            </a:xfrm>
            <a:prstGeom prst="line">
              <a:avLst/>
            </a:prstGeom>
            <a:noFill/>
            <a:ln w="57150">
              <a:solidFill>
                <a:srgbClr val="78F73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27"/>
          <p:cNvGrpSpPr/>
          <p:nvPr/>
        </p:nvGrpSpPr>
        <p:grpSpPr bwMode="auto">
          <a:xfrm>
            <a:off x="4572007" y="857253"/>
            <a:ext cx="768351" cy="1857375"/>
            <a:chOff x="4059" y="1207"/>
            <a:chExt cx="227" cy="907"/>
          </a:xfrm>
        </p:grpSpPr>
        <p:sp>
          <p:nvSpPr>
            <p:cNvPr id="16401" name="Line 12"/>
            <p:cNvSpPr>
              <a:spLocks noChangeShapeType="1"/>
            </p:cNvSpPr>
            <p:nvPr/>
          </p:nvSpPr>
          <p:spPr bwMode="auto">
            <a:xfrm>
              <a:off x="4059" y="2114"/>
              <a:ext cx="227" cy="0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402" name="Line 13"/>
            <p:cNvSpPr>
              <a:spLocks noChangeShapeType="1"/>
            </p:cNvSpPr>
            <p:nvPr/>
          </p:nvSpPr>
          <p:spPr bwMode="auto">
            <a:xfrm>
              <a:off x="4286" y="1207"/>
              <a:ext cx="0" cy="907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6403" name="Line 14"/>
            <p:cNvSpPr>
              <a:spLocks noChangeShapeType="1"/>
            </p:cNvSpPr>
            <p:nvPr/>
          </p:nvSpPr>
          <p:spPr bwMode="auto">
            <a:xfrm flipH="1">
              <a:off x="4059" y="1207"/>
              <a:ext cx="227" cy="0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10800" rIns="36000" bIns="108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25" name="动作按钮: 前进或下一项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06774" y="6597650"/>
            <a:ext cx="385233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0" y="322631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685" grpId="0"/>
      <p:bldP spid="1095686" grpId="0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334435" y="981075"/>
            <a:ext cx="4127500" cy="32718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0" tIns="10800" rIns="36000" bIns="10800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10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goto    L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400" b="1" dirty="0">
                <a:solidFill>
                  <a:srgbClr val="000000"/>
                </a:solidFill>
              </a:rPr>
              <a:t>                 ……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20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goto    L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400" b="1" dirty="0">
                <a:solidFill>
                  <a:srgbClr val="000000"/>
                </a:solidFill>
              </a:rPr>
              <a:t>	       ……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30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 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goto   L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400" b="1" dirty="0">
                <a:solidFill>
                  <a:srgbClr val="000000"/>
                </a:solidFill>
              </a:rPr>
              <a:t>        	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　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……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40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L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：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……</a:t>
            </a:r>
            <a:r>
              <a:rPr kumimoji="1" lang="en-US" altLang="zh-CN" sz="2400" dirty="0">
                <a:solidFill>
                  <a:srgbClr val="000000"/>
                </a:solidFill>
              </a:rPr>
              <a:t>	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			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6864351" y="1341457"/>
            <a:ext cx="3647016" cy="32719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0" tIns="10800" rIns="36000" bIns="10800">
            <a:spAutoFit/>
          </a:bodyPr>
          <a:lstStyle/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10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goto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   </a:t>
            </a:r>
            <a:r>
              <a:rPr kumimoji="1" lang="en-US" altLang="zh-CN" sz="2400" b="1" dirty="0" smtClean="0">
                <a:solidFill>
                  <a:srgbClr val="000000"/>
                </a:solidFill>
              </a:rPr>
              <a:t>L </a:t>
            </a:r>
            <a:r>
              <a:rPr kumimoji="1" lang="en-US" altLang="zh-CN" sz="2400" b="1" dirty="0" smtClean="0">
                <a:solidFill>
                  <a:srgbClr val="0070C0"/>
                </a:solidFill>
              </a:rPr>
              <a:t>0</a:t>
            </a:r>
            <a:endParaRPr kumimoji="1" lang="en-US" altLang="zh-CN" sz="2400" b="1" dirty="0">
              <a:solidFill>
                <a:srgbClr val="0070C0"/>
              </a:solidFill>
            </a:endParaRPr>
          </a:p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　　　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……	</a:t>
            </a:r>
          </a:p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20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</a:t>
            </a:r>
            <a:r>
              <a:rPr kumimoji="1" lang="en-US" altLang="zh-CN" sz="2400" b="1" dirty="0" err="1">
                <a:solidFill>
                  <a:srgbClr val="000000"/>
                </a:solidFill>
              </a:rPr>
              <a:t>goto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   </a:t>
            </a:r>
            <a:r>
              <a:rPr kumimoji="1" lang="en-US" altLang="zh-CN" sz="2400" b="1" dirty="0" smtClean="0">
                <a:solidFill>
                  <a:srgbClr val="000000"/>
                </a:solidFill>
              </a:rPr>
              <a:t>L 10</a:t>
            </a:r>
            <a:endParaRPr kumimoji="1" lang="en-US" altLang="zh-CN" sz="2400" b="1" dirty="0">
              <a:solidFill>
                <a:srgbClr val="000000"/>
              </a:solidFill>
            </a:endParaRPr>
          </a:p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　　　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……</a:t>
            </a:r>
          </a:p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30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）</a:t>
            </a:r>
            <a:r>
              <a:rPr kumimoji="1" lang="en-US" altLang="zh-CN" sz="2400" b="1" dirty="0" err="1" smtClean="0">
                <a:solidFill>
                  <a:srgbClr val="000000"/>
                </a:solidFill>
              </a:rPr>
              <a:t>goto</a:t>
            </a:r>
            <a:r>
              <a:rPr kumimoji="1" lang="en-US" altLang="zh-CN" sz="2400" b="1" dirty="0" smtClean="0">
                <a:solidFill>
                  <a:srgbClr val="000000"/>
                </a:solidFill>
              </a:rPr>
              <a:t>    L 20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en-US" altLang="zh-CN" sz="2400" b="1" dirty="0" smtClean="0">
                <a:solidFill>
                  <a:srgbClr val="000000"/>
                </a:solidFill>
              </a:rPr>
              <a:t>             ……</a:t>
            </a:r>
            <a:endParaRPr kumimoji="1" lang="en-US" altLang="zh-CN" sz="2400" b="1" dirty="0">
              <a:solidFill>
                <a:srgbClr val="000000"/>
              </a:solidFill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r>
              <a:rPr kumimoji="1" lang="zh-CN" altLang="en-US" sz="2400" b="1" dirty="0">
                <a:solidFill>
                  <a:srgbClr val="000000"/>
                </a:solidFill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40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）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L</a:t>
            </a:r>
            <a:r>
              <a:rPr kumimoji="1" lang="zh-CN" altLang="en-US" sz="2400" b="1" dirty="0">
                <a:solidFill>
                  <a:srgbClr val="000000"/>
                </a:solidFill>
              </a:rPr>
              <a:t>：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……</a:t>
            </a:r>
            <a:endParaRPr kumimoji="1" lang="en-US" altLang="zh-CN" sz="2400" b="1" dirty="0" smtClean="0">
              <a:solidFill>
                <a:srgbClr val="000000"/>
              </a:solidFill>
            </a:endParaRPr>
          </a:p>
          <a:p>
            <a:pPr marL="88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defRPr/>
            </a:pPr>
            <a:endParaRPr kumimoji="1" lang="en-US" altLang="zh-CN" sz="2400" b="1" dirty="0">
              <a:solidFill>
                <a:srgbClr val="000000"/>
              </a:solidFill>
            </a:endParaRPr>
          </a:p>
        </p:txBody>
      </p:sp>
      <p:sp>
        <p:nvSpPr>
          <p:cNvPr id="15366" name="AutoShape 5"/>
          <p:cNvSpPr/>
          <p:nvPr/>
        </p:nvSpPr>
        <p:spPr bwMode="auto">
          <a:xfrm>
            <a:off x="4271433" y="1628775"/>
            <a:ext cx="1219200" cy="401638"/>
          </a:xfrm>
          <a:prstGeom prst="borderCallout1">
            <a:avLst>
              <a:gd name="adj1" fmla="val 28458"/>
              <a:gd name="adj2" fmla="val 108333"/>
              <a:gd name="adj3" fmla="val -7509"/>
              <a:gd name="adj4" fmla="val 250000"/>
            </a:avLst>
          </a:prstGeom>
          <a:solidFill>
            <a:srgbClr val="EFEFFB"/>
          </a:solidFill>
          <a:ln w="28575" algn="ctr">
            <a:solidFill>
              <a:schemeClr val="tx1"/>
            </a:solidFill>
            <a:miter lim="800000"/>
          </a:ln>
        </p:spPr>
        <p:txBody>
          <a:bodyPr lIns="0" tIns="10800" rIns="36000" bIns="10800"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链尾</a:t>
            </a:r>
          </a:p>
        </p:txBody>
      </p:sp>
      <p:sp>
        <p:nvSpPr>
          <p:cNvPr id="15367" name="AutoShape 6"/>
          <p:cNvSpPr/>
          <p:nvPr/>
        </p:nvSpPr>
        <p:spPr bwMode="auto">
          <a:xfrm>
            <a:off x="4656667" y="3573468"/>
            <a:ext cx="1219200" cy="473075"/>
          </a:xfrm>
          <a:prstGeom prst="borderCallout1">
            <a:avLst>
              <a:gd name="adj1" fmla="val 24162"/>
              <a:gd name="adj2" fmla="val 108333"/>
              <a:gd name="adj3" fmla="val -58389"/>
              <a:gd name="adj4" fmla="val 228472"/>
            </a:avLst>
          </a:prstGeom>
          <a:solidFill>
            <a:srgbClr val="EFEFFB"/>
          </a:solidFill>
          <a:ln w="28575" algn="ctr">
            <a:solidFill>
              <a:schemeClr val="tx1"/>
            </a:solidFill>
            <a:miter lim="800000"/>
          </a:ln>
        </p:spPr>
        <p:txBody>
          <a:bodyPr lIns="0" tIns="10800" rIns="36000" bIns="10800"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链首</a:t>
            </a:r>
          </a:p>
        </p:txBody>
      </p:sp>
      <p:sp>
        <p:nvSpPr>
          <p:cNvPr id="15368" name="AutoShape 7"/>
          <p:cNvSpPr>
            <a:spLocks noChangeArrowheads="1"/>
          </p:cNvSpPr>
          <p:nvPr/>
        </p:nvSpPr>
        <p:spPr bwMode="auto">
          <a:xfrm>
            <a:off x="9063567" y="579456"/>
            <a:ext cx="2163233" cy="504825"/>
          </a:xfrm>
          <a:prstGeom prst="wedgeRoundRectCallout">
            <a:avLst>
              <a:gd name="adj1" fmla="val -54491"/>
              <a:gd name="adj2" fmla="val 13396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</a:ln>
        </p:spPr>
        <p:txBody>
          <a:bodyPr lIns="0" tIns="10800" rIns="36000" bIns="10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B2B2B2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链尾标志</a:t>
            </a:r>
          </a:p>
        </p:txBody>
      </p:sp>
      <p:sp>
        <p:nvSpPr>
          <p:cNvPr id="10" name="动作按钮: 前进或下一项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06780" y="6597650"/>
            <a:ext cx="385233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311444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矩形 11"/>
          <p:cNvSpPr/>
          <p:nvPr/>
        </p:nvSpPr>
        <p:spPr>
          <a:xfrm>
            <a:off x="0" y="-40737"/>
            <a:ext cx="36984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1600" b="1" dirty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rPr>
              <a:t>拉链和返填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666875" y="142875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defRPr/>
            </a:pPr>
            <a:endParaRPr lang="zh-CN" altLang="en-US" sz="3600" b="1" kern="0" dirty="0">
              <a:solidFill>
                <a:srgbClr val="FF0000"/>
              </a:solidFill>
              <a:latin typeface="+mj-lt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30723" name="TextBox 3"/>
          <p:cNvSpPr txBox="1">
            <a:spLocks noChangeArrowheads="1"/>
          </p:cNvSpPr>
          <p:nvPr/>
        </p:nvSpPr>
        <p:spPr bwMode="auto">
          <a:xfrm>
            <a:off x="3759823" y="1687598"/>
            <a:ext cx="3857625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/>
              <a:t>typedef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Code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char opt[10];    //</a:t>
            </a:r>
            <a:r>
              <a:rPr lang="zh-CN" altLang="en-US" sz="2400" dirty="0"/>
              <a:t>操作码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operand;     //</a:t>
            </a:r>
            <a:r>
              <a:rPr lang="zh-CN" altLang="en-US" sz="2400" dirty="0"/>
              <a:t>操作数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} Code;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title"/>
          </p:nvPr>
        </p:nvSpPr>
        <p:spPr>
          <a:xfrm>
            <a:off x="952500" y="971550"/>
            <a:ext cx="9144000" cy="457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kern="1200" dirty="0">
                <a:solidFill>
                  <a:srgbClr val="0070C0"/>
                </a:solidFill>
                <a:cs typeface="+mn-cs"/>
              </a:rPr>
              <a:t>中间代码的数据结构</a:t>
            </a:r>
          </a:p>
        </p:txBody>
      </p:sp>
      <p:sp>
        <p:nvSpPr>
          <p:cNvPr id="30726" name="TextBox 6"/>
          <p:cNvSpPr txBox="1">
            <a:spLocks noChangeArrowheads="1"/>
          </p:cNvSpPr>
          <p:nvPr/>
        </p:nvSpPr>
        <p:spPr bwMode="auto">
          <a:xfrm>
            <a:off x="2217129" y="4057329"/>
            <a:ext cx="792956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Code </a:t>
            </a:r>
            <a:r>
              <a:rPr lang="en-US" altLang="zh-CN" sz="2400" dirty="0">
                <a:solidFill>
                  <a:srgbClr val="0000FF"/>
                </a:solidFill>
              </a:rPr>
              <a:t>codes</a:t>
            </a:r>
            <a:r>
              <a:rPr lang="en-US" altLang="zh-CN" sz="2400" dirty="0"/>
              <a:t>[200];    //</a:t>
            </a:r>
            <a:r>
              <a:rPr lang="zh-CN" altLang="en-US" sz="2400" dirty="0"/>
              <a:t>存放中间代码的结构体数组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0000FF"/>
                </a:solidFill>
              </a:rPr>
              <a:t>codesIndex</a:t>
            </a:r>
            <a:r>
              <a:rPr lang="en-US" altLang="zh-CN" sz="2400" dirty="0"/>
              <a:t>;  //codes</a:t>
            </a:r>
            <a:r>
              <a:rPr lang="zh-CN" altLang="en-US" sz="2400" dirty="0"/>
              <a:t>数组第一个空元素的下标，</a:t>
            </a:r>
            <a:r>
              <a:rPr lang="en-US" altLang="zh-CN" sz="2400" dirty="0"/>
              <a:t>0</a:t>
            </a:r>
            <a:r>
              <a:rPr lang="zh-CN" altLang="en-US" sz="2400" dirty="0"/>
              <a:t>序（下一条要生成的代码在</a:t>
            </a:r>
            <a:r>
              <a:rPr lang="en-US" altLang="zh-CN" sz="2400" dirty="0"/>
              <a:t>codes</a:t>
            </a:r>
            <a:r>
              <a:rPr lang="zh-CN" altLang="en-US" sz="2400" dirty="0"/>
              <a:t>中的位置）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9076" y="6597650"/>
            <a:ext cx="288925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cxnSp>
        <p:nvCxnSpPr>
          <p:cNvPr id="8" name="直接连接符 7"/>
          <p:cNvCxnSpPr/>
          <p:nvPr/>
        </p:nvCxnSpPr>
        <p:spPr>
          <a:xfrm>
            <a:off x="0" y="305420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矩形 8"/>
          <p:cNvSpPr/>
          <p:nvPr/>
        </p:nvSpPr>
        <p:spPr>
          <a:xfrm>
            <a:off x="-45670" y="-33134"/>
            <a:ext cx="45255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zh-CN" altLang="en-US" sz="1600" b="1" dirty="0" smtClean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rPr>
              <a:t>中间代码的数据结构</a:t>
            </a:r>
            <a:endParaRPr lang="zh-CN" altLang="en-US" sz="1600" b="1" dirty="0">
              <a:solidFill>
                <a:srgbClr val="0070C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2058670" y="578737"/>
            <a:ext cx="800100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&lt;read_stat&gt;::= read ID</a:t>
            </a:r>
            <a:endParaRPr lang="en-US" altLang="zh-CN" sz="2400" b="1"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2166940" y="1071571"/>
            <a:ext cx="7858125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read_stat</a:t>
            </a:r>
            <a:r>
              <a:rPr lang="en-US" altLang="zh-CN" sz="2000" dirty="0"/>
              <a:t>()</a:t>
            </a:r>
          </a:p>
          <a:p>
            <a:pPr algn="just" eaLnBrk="1" hangingPunct="1">
              <a:defRPr/>
            </a:pPr>
            <a:r>
              <a:rPr lang="en-US" altLang="zh-CN" sz="2000" dirty="0"/>
              <a:t>{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0, </a:t>
            </a:r>
            <a:r>
              <a:rPr lang="en-US" altLang="zh-CN" sz="2000" dirty="0" err="1"/>
              <a:t>symbolPos</a:t>
            </a:r>
            <a:r>
              <a:rPr lang="en-US" altLang="zh-CN" sz="2000" dirty="0"/>
              <a:t>;</a:t>
            </a:r>
          </a:p>
          <a:p>
            <a:pPr algn="just" eaLnBrk="1" hangingPunct="1">
              <a:defRPr/>
            </a:pPr>
            <a:endParaRPr lang="en-US" altLang="zh-CN" sz="2000" dirty="0"/>
          </a:p>
          <a:p>
            <a:pPr algn="just" eaLnBrk="1" hangingPunct="1"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(token, "ID"))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3); //</a:t>
            </a:r>
            <a:r>
              <a:rPr lang="zh-CN" altLang="en-US" sz="2000" dirty="0"/>
              <a:t>少标识符</a:t>
            </a:r>
          </a:p>
          <a:p>
            <a:pPr algn="just" eaLnBrk="1" hangingPunct="1">
              <a:defRPr/>
            </a:pPr>
            <a:r>
              <a:rPr lang="zh-CN" altLang="en-US" sz="2000" dirty="0"/>
              <a:t>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</a:t>
            </a:r>
            <a:r>
              <a:rPr lang="en-US" altLang="zh-CN" sz="2000" dirty="0">
                <a:solidFill>
                  <a:srgbClr val="FF00FF"/>
                </a:solidFill>
              </a:rPr>
              <a:t>lookup(token1, &amp;</a:t>
            </a:r>
            <a:r>
              <a:rPr lang="en-US" altLang="zh-CN" sz="2000" dirty="0" err="1">
                <a:solidFill>
                  <a:srgbClr val="FF00FF"/>
                </a:solidFill>
              </a:rPr>
              <a:t>symbolPos</a:t>
            </a:r>
            <a:r>
              <a:rPr lang="en-US" altLang="zh-CN" sz="2000" dirty="0">
                <a:solidFill>
                  <a:srgbClr val="FF00FF"/>
                </a:solidFill>
              </a:rPr>
              <a:t>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&gt; 0)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if(!symbol[</a:t>
            </a:r>
            <a:r>
              <a:rPr lang="en-US" altLang="zh-CN" sz="2000" dirty="0" err="1"/>
              <a:t>symbolPos</a:t>
            </a:r>
            <a:r>
              <a:rPr lang="en-US" altLang="zh-CN" sz="2000" dirty="0"/>
              <a:t>].kind==variable) return 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=35);</a:t>
            </a:r>
          </a:p>
          <a:p>
            <a:pPr algn="just" eaLnBrk="1" hangingPunct="1">
              <a:defRPr/>
            </a:pPr>
            <a:r>
              <a:rPr lang="en-US" altLang="zh-CN" sz="2000" dirty="0">
                <a:solidFill>
                  <a:srgbClr val="0000FF"/>
                </a:solidFill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</a:rPr>
              <a:t>strcpy</a:t>
            </a:r>
            <a:r>
              <a:rPr lang="en-US" altLang="zh-CN" sz="2000" dirty="0">
                <a:solidFill>
                  <a:srgbClr val="0000FF"/>
                </a:solidFill>
              </a:rPr>
              <a:t>(codes[</a:t>
            </a:r>
            <a:r>
              <a:rPr lang="en-US" altLang="zh-CN" sz="2000" dirty="0" err="1">
                <a:solidFill>
                  <a:srgbClr val="0000FF"/>
                </a:solidFill>
              </a:rPr>
              <a:t>codesIndex</a:t>
            </a:r>
            <a:r>
              <a:rPr lang="en-US" altLang="zh-CN" sz="2000" dirty="0">
                <a:solidFill>
                  <a:srgbClr val="0000FF"/>
                </a:solidFill>
              </a:rPr>
              <a:t>++].opt, "IN");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>
                <a:solidFill>
                  <a:srgbClr val="0000FF"/>
                </a:solidFill>
              </a:rPr>
              <a:t>strcpy</a:t>
            </a:r>
            <a:r>
              <a:rPr lang="en-US" altLang="zh-CN" sz="2000" dirty="0">
                <a:solidFill>
                  <a:srgbClr val="0000FF"/>
                </a:solidFill>
              </a:rPr>
              <a:t>(codes[</a:t>
            </a:r>
            <a:r>
              <a:rPr lang="en-US" altLang="zh-CN" sz="2000" dirty="0" err="1">
                <a:solidFill>
                  <a:srgbClr val="0000FF"/>
                </a:solidFill>
              </a:rPr>
              <a:t>codesIndex</a:t>
            </a:r>
            <a:r>
              <a:rPr lang="en-US" altLang="zh-CN" sz="2000" dirty="0">
                <a:solidFill>
                  <a:srgbClr val="0000FF"/>
                </a:solidFill>
              </a:rPr>
              <a:t>].opt, "STO");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0000FF"/>
                </a:solidFill>
              </a:rPr>
              <a:t>codes[</a:t>
            </a:r>
            <a:r>
              <a:rPr lang="en-US" altLang="zh-CN" sz="2000" dirty="0" err="1">
                <a:solidFill>
                  <a:srgbClr val="0000FF"/>
                </a:solidFill>
              </a:rPr>
              <a:t>codesIndex</a:t>
            </a:r>
            <a:r>
              <a:rPr lang="en-US" altLang="zh-CN" sz="2000" dirty="0">
                <a:solidFill>
                  <a:srgbClr val="0000FF"/>
                </a:solidFill>
              </a:rPr>
              <a:t>++].operand = symbol[</a:t>
            </a:r>
            <a:r>
              <a:rPr lang="en-US" altLang="zh-CN" sz="2000" dirty="0" err="1">
                <a:solidFill>
                  <a:srgbClr val="0000FF"/>
                </a:solidFill>
              </a:rPr>
              <a:t>symbolPos</a:t>
            </a:r>
            <a:r>
              <a:rPr lang="en-US" altLang="zh-CN" sz="2000" dirty="0">
                <a:solidFill>
                  <a:srgbClr val="0000FF"/>
                </a:solidFill>
              </a:rPr>
              <a:t>].address;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(token, ";"))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4); //</a:t>
            </a:r>
            <a:r>
              <a:rPr lang="zh-CN" altLang="en-US" sz="2000" dirty="0"/>
              <a:t>少分号</a:t>
            </a:r>
          </a:p>
          <a:p>
            <a:pPr algn="just" eaLnBrk="1" hangingPunct="1">
              <a:defRPr/>
            </a:pPr>
            <a:r>
              <a:rPr lang="zh-CN" altLang="en-US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algn="just" eaLnBrk="1" hangingPunct="1">
              <a:defRPr/>
            </a:pPr>
            <a:r>
              <a:rPr lang="en-US" altLang="zh-CN" sz="2000" dirty="0"/>
              <a:t>  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);</a:t>
            </a:r>
          </a:p>
          <a:p>
            <a:pPr algn="just" eaLnBrk="1" hangingPunct="1">
              <a:defRPr/>
            </a:pPr>
            <a:r>
              <a:rPr lang="en-US" altLang="zh-CN" sz="2000" dirty="0"/>
              <a:t>}</a:t>
            </a:r>
          </a:p>
        </p:txBody>
      </p:sp>
      <p:sp>
        <p:nvSpPr>
          <p:cNvPr id="6" name="动作按钮: 前进或下一项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9076" y="6597650"/>
            <a:ext cx="288925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8484871" y="889012"/>
            <a:ext cx="3690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codesIndex=5;a</a:t>
            </a:r>
            <a:r>
              <a:rPr lang="zh-CN" altLang="en-US" sz="2400" dirty="0" err="1">
                <a:solidFill>
                  <a:srgbClr val="0000FF"/>
                </a:solidFill>
                <a:sym typeface="+mn-ea"/>
              </a:rPr>
              <a:t>的地址是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2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read  a;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85505" y="2471432"/>
            <a:ext cx="3148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codes[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5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].opt=IN</a:t>
            </a:r>
          </a:p>
          <a:p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codes[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6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].opt=STO</a:t>
            </a:r>
          </a:p>
          <a:p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codes[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6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].operand=2</a:t>
            </a:r>
            <a:endParaRPr lang="zh-CN" altLang="en-US" sz="2400"/>
          </a:p>
        </p:txBody>
      </p:sp>
      <p:cxnSp>
        <p:nvCxnSpPr>
          <p:cNvPr id="8" name="直接连接符 7"/>
          <p:cNvCxnSpPr/>
          <p:nvPr/>
        </p:nvCxnSpPr>
        <p:spPr>
          <a:xfrm>
            <a:off x="29210" y="360772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矩形 8"/>
          <p:cNvSpPr/>
          <p:nvPr/>
        </p:nvSpPr>
        <p:spPr>
          <a:xfrm>
            <a:off x="12701" y="22218"/>
            <a:ext cx="35429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lang="en-US" altLang="zh-CN" sz="1600" b="1" dirty="0" smtClean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rPr>
              <a:t>read</a:t>
            </a:r>
            <a:r>
              <a:rPr lang="zh-CN" altLang="en-US" sz="1600" b="1" dirty="0" smtClean="0">
                <a:solidFill>
                  <a:srgbClr val="0070C0"/>
                </a:solidFill>
                <a:latin typeface="Tahoma" panose="020B0604030504040204" pitchFamily="34" charset="0"/>
                <a:ea typeface="楷体_GB2312" pitchFamily="49" charset="-122"/>
              </a:rPr>
              <a:t>语句</a:t>
            </a:r>
            <a:endParaRPr lang="zh-CN" altLang="en-US" sz="1600" b="1" dirty="0">
              <a:solidFill>
                <a:srgbClr val="0070C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570498" y="1606913"/>
            <a:ext cx="7391400" cy="4094163"/>
          </a:xfrm>
          <a:prstGeom prst="rect">
            <a:avLst/>
          </a:prstGeom>
          <a:solidFill>
            <a:srgbClr val="F8F8F8"/>
          </a:solidFill>
          <a:ln w="9525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</a:rPr>
              <a:t>	</a:t>
            </a:r>
            <a:r>
              <a:rPr lang="en-US" altLang="zh-CN" sz="2000" b="1">
                <a:solidFill>
                  <a:srgbClr val="3333FF"/>
                </a:solidFill>
              </a:rPr>
              <a:t>LOAD   2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LOADI  5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GT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BRF</a:t>
            </a:r>
            <a:endParaRPr lang="en-US" altLang="zh-CN" sz="2000" b="1">
              <a:solidFill>
                <a:srgbClr val="FF00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LOADI  1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STO 2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BR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LOADI  2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000" b="1">
                <a:solidFill>
                  <a:srgbClr val="3333FF"/>
                </a:solidFill>
              </a:rPr>
              <a:t>	STO 2</a:t>
            </a:r>
            <a:endParaRPr lang="en-US" altLang="zh-CN" sz="2000" b="1">
              <a:solidFill>
                <a:srgbClr val="3333FF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1103900" y="941750"/>
            <a:ext cx="3092513" cy="46166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</a:rPr>
              <a:t>if (a&gt;5)  a=1; else a=2;</a:t>
            </a:r>
          </a:p>
        </p:txBody>
      </p:sp>
      <p:grpSp>
        <p:nvGrpSpPr>
          <p:cNvPr id="2" name="Group 49"/>
          <p:cNvGrpSpPr/>
          <p:nvPr/>
        </p:nvGrpSpPr>
        <p:grpSpPr bwMode="auto">
          <a:xfrm>
            <a:off x="3595216" y="1679936"/>
            <a:ext cx="3839633" cy="1223963"/>
            <a:chOff x="1429" y="845"/>
            <a:chExt cx="1814" cy="771"/>
          </a:xfrm>
        </p:grpSpPr>
        <p:sp>
          <p:nvSpPr>
            <p:cNvPr id="40981" name="AutoShape 22"/>
            <p:cNvSpPr/>
            <p:nvPr/>
          </p:nvSpPr>
          <p:spPr bwMode="auto">
            <a:xfrm>
              <a:off x="1429" y="845"/>
              <a:ext cx="272" cy="771"/>
            </a:xfrm>
            <a:prstGeom prst="rightBrace">
              <a:avLst>
                <a:gd name="adj1" fmla="val 2362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4840" name="Text Box 24"/>
            <p:cNvSpPr txBox="1">
              <a:spLocks noChangeArrowheads="1"/>
            </p:cNvSpPr>
            <p:nvPr/>
          </p:nvSpPr>
          <p:spPr bwMode="auto">
            <a:xfrm>
              <a:off x="1746" y="1071"/>
              <a:ext cx="1497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B2B2B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expression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</p:grpSp>
      <p:grpSp>
        <p:nvGrpSpPr>
          <p:cNvPr id="3" name="组合 29"/>
          <p:cNvGrpSpPr/>
          <p:nvPr/>
        </p:nvGrpSpPr>
        <p:grpSpPr bwMode="auto">
          <a:xfrm>
            <a:off x="3690467" y="3623037"/>
            <a:ext cx="3839633" cy="576263"/>
            <a:chOff x="2339975" y="3284538"/>
            <a:chExt cx="2879725" cy="576262"/>
          </a:xfrm>
        </p:grpSpPr>
        <p:sp>
          <p:nvSpPr>
            <p:cNvPr id="40979" name="AutoShape 26"/>
            <p:cNvSpPr/>
            <p:nvPr/>
          </p:nvSpPr>
          <p:spPr bwMode="auto">
            <a:xfrm>
              <a:off x="2339975" y="3284538"/>
              <a:ext cx="431800" cy="576262"/>
            </a:xfrm>
            <a:prstGeom prst="rightBrace">
              <a:avLst>
                <a:gd name="adj1" fmla="val 1112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4860" name="Text Box 44"/>
            <p:cNvSpPr txBox="1">
              <a:spLocks noChangeArrowheads="1"/>
            </p:cNvSpPr>
            <p:nvPr/>
          </p:nvSpPr>
          <p:spPr bwMode="auto">
            <a:xfrm>
              <a:off x="2843212" y="3357563"/>
              <a:ext cx="2376488" cy="40075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statement1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</p:grpSp>
      <p:grpSp>
        <p:nvGrpSpPr>
          <p:cNvPr id="4" name="组合 30"/>
          <p:cNvGrpSpPr/>
          <p:nvPr/>
        </p:nvGrpSpPr>
        <p:grpSpPr bwMode="auto">
          <a:xfrm>
            <a:off x="3618500" y="4910498"/>
            <a:ext cx="4032249" cy="576262"/>
            <a:chOff x="2268538" y="5084763"/>
            <a:chExt cx="3024187" cy="576262"/>
          </a:xfrm>
        </p:grpSpPr>
        <p:sp>
          <p:nvSpPr>
            <p:cNvPr id="34861" name="Text Box 45"/>
            <p:cNvSpPr txBox="1">
              <a:spLocks noChangeArrowheads="1"/>
            </p:cNvSpPr>
            <p:nvPr/>
          </p:nvSpPr>
          <p:spPr bwMode="auto">
            <a:xfrm>
              <a:off x="2700338" y="5157788"/>
              <a:ext cx="2592387" cy="400752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statement2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  <p:sp>
          <p:nvSpPr>
            <p:cNvPr id="40978" name="AutoShape 46"/>
            <p:cNvSpPr/>
            <p:nvPr/>
          </p:nvSpPr>
          <p:spPr bwMode="auto">
            <a:xfrm>
              <a:off x="2268538" y="5084763"/>
              <a:ext cx="431800" cy="576262"/>
            </a:xfrm>
            <a:prstGeom prst="rightBrace">
              <a:avLst>
                <a:gd name="adj1" fmla="val 1112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32" name="Text Box 41"/>
          <p:cNvSpPr txBox="1">
            <a:spLocks noChangeArrowheads="1"/>
          </p:cNvSpPr>
          <p:nvPr/>
        </p:nvSpPr>
        <p:spPr bwMode="auto">
          <a:xfrm>
            <a:off x="870887" y="2959056"/>
            <a:ext cx="666751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</a:rPr>
              <a:t>CX1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 Box 41"/>
          <p:cNvSpPr txBox="1">
            <a:spLocks noChangeArrowheads="1"/>
          </p:cNvSpPr>
          <p:nvPr/>
        </p:nvSpPr>
        <p:spPr bwMode="auto">
          <a:xfrm>
            <a:off x="875712" y="4319650"/>
            <a:ext cx="666751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</a:rPr>
              <a:t>CX2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189498" y="4893035"/>
            <a:ext cx="1524000" cy="369888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</a:rPr>
              <a:t>codeIndex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 rot="5400000" flipH="1" flipV="1">
            <a:off x="1677778" y="3357131"/>
            <a:ext cx="1500188" cy="1428749"/>
          </a:xfrm>
          <a:prstGeom prst="straightConnector1">
            <a:avLst/>
          </a:prstGeom>
          <a:noFill/>
          <a:ln w="38100" algn="ctr">
            <a:solidFill>
              <a:srgbClr val="33CC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189498" y="5607410"/>
            <a:ext cx="1524000" cy="369888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</a:rPr>
              <a:t>codeIndex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cxnSp>
        <p:nvCxnSpPr>
          <p:cNvPr id="39" name="直接箭头连接符 38"/>
          <p:cNvCxnSpPr>
            <a:cxnSpLocks noChangeShapeType="1"/>
          </p:cNvCxnSpPr>
          <p:nvPr/>
        </p:nvCxnSpPr>
        <p:spPr bwMode="auto">
          <a:xfrm rot="5400000" flipH="1" flipV="1">
            <a:off x="1737311" y="4607286"/>
            <a:ext cx="1285875" cy="1143000"/>
          </a:xfrm>
          <a:prstGeom prst="straightConnector1">
            <a:avLst/>
          </a:prstGeom>
          <a:noFill/>
          <a:ln w="38100" algn="ctr">
            <a:solidFill>
              <a:srgbClr val="33CC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5" name="TextBox 21"/>
          <p:cNvSpPr txBox="1">
            <a:spLocks noChangeArrowheads="1"/>
          </p:cNvSpPr>
          <p:nvPr/>
        </p:nvSpPr>
        <p:spPr bwMode="auto">
          <a:xfrm>
            <a:off x="5210233" y="1125898"/>
            <a:ext cx="443864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假设</a:t>
            </a:r>
            <a:r>
              <a:rPr lang="en-US" altLang="zh-CN" sz="2400" b="1">
                <a:solidFill>
                  <a:srgbClr val="000000"/>
                </a:solidFill>
              </a:rPr>
              <a:t>a </a:t>
            </a:r>
            <a:r>
              <a:rPr lang="zh-CN" altLang="en-US" sz="2400" b="1">
                <a:solidFill>
                  <a:srgbClr val="000000"/>
                </a:solidFill>
              </a:rPr>
              <a:t>的相对地址为</a:t>
            </a:r>
            <a:r>
              <a:rPr lang="en-US" altLang="zh-CN" sz="2400" b="1">
                <a:solidFill>
                  <a:srgbClr val="000000"/>
                </a:solidFill>
              </a:rPr>
              <a:t>2</a:t>
            </a:r>
            <a:endParaRPr lang="zh-CN" altLang="en-US" sz="2400" b="1">
              <a:solidFill>
                <a:srgbClr val="000000"/>
              </a:solidFill>
            </a:endParaRPr>
          </a:p>
        </p:txBody>
      </p:sp>
      <p:sp>
        <p:nvSpPr>
          <p:cNvPr id="23" name="动作按钮: 前进或下一项 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06769" y="6597650"/>
            <a:ext cx="385233" cy="254000"/>
          </a:xfrm>
          <a:prstGeom prst="actionButtonForwardNex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859246" y="2173624"/>
            <a:ext cx="5043884" cy="3353696"/>
            <a:chOff x="3021335" y="2132087"/>
            <a:chExt cx="4143375" cy="3773081"/>
          </a:xfrm>
        </p:grpSpPr>
        <p:sp>
          <p:nvSpPr>
            <p:cNvPr id="25" name="Rectangle 30"/>
            <p:cNvSpPr>
              <a:spLocks noChangeArrowheads="1"/>
            </p:cNvSpPr>
            <p:nvPr/>
          </p:nvSpPr>
          <p:spPr bwMode="auto">
            <a:xfrm>
              <a:off x="4211960" y="2636912"/>
              <a:ext cx="2952750" cy="292893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>
              <a:off x="4211960" y="2997275"/>
              <a:ext cx="2952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4211960" y="4005337"/>
              <a:ext cx="2952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5796285" y="2565475"/>
              <a:ext cx="1295400" cy="4854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B2B2B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</a:t>
              </a:r>
              <a:endParaRPr kumimoji="1"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4427860" y="3068712"/>
              <a:ext cx="2592388" cy="4854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B2B2B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expression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4211960" y="3500512"/>
              <a:ext cx="2952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4932685" y="2132087"/>
              <a:ext cx="1479139" cy="4854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B2B2B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代码结构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4427860" y="4076775"/>
              <a:ext cx="2592388" cy="45086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statement1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4500885" y="3576712"/>
              <a:ext cx="1163638" cy="45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BRF</a:t>
              </a: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>
              <a:off x="4211960" y="4508575"/>
              <a:ext cx="2952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3664273" y="3489400"/>
              <a:ext cx="500062" cy="4155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ts val="6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</a:rPr>
                <a:t>CX1</a:t>
              </a:r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4500885" y="4508575"/>
              <a:ext cx="806450" cy="45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</a:rPr>
                <a:t>BR</a:t>
              </a: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4211960" y="4941962"/>
              <a:ext cx="2952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4356423" y="5013400"/>
              <a:ext cx="2780576" cy="45086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&lt; </a:t>
              </a:r>
              <a:r>
                <a:rPr kumimoji="1" lang="en-US" altLang="zh-CN" sz="2000" b="1" dirty="0">
                  <a:solidFill>
                    <a:srgbClr val="000000"/>
                  </a:solidFill>
                </a:rPr>
                <a:t>statement2 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&gt;.code</a:t>
              </a:r>
            </a:p>
          </p:txBody>
        </p:sp>
        <p:sp>
          <p:nvSpPr>
            <p:cNvPr id="45" name="Text Box 45"/>
            <p:cNvSpPr txBox="1">
              <a:spLocks noChangeArrowheads="1"/>
            </p:cNvSpPr>
            <p:nvPr/>
          </p:nvSpPr>
          <p:spPr bwMode="auto">
            <a:xfrm>
              <a:off x="3664273" y="4418087"/>
              <a:ext cx="500062" cy="4155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</a:rPr>
                <a:t>CX2</a:t>
              </a:r>
              <a:endParaRPr lang="zh-CN" altLang="en-US" sz="2000" b="1">
                <a:solidFill>
                  <a:srgbClr val="000000"/>
                </a:solidFill>
              </a:endParaRPr>
            </a:p>
          </p:txBody>
        </p:sp>
        <p:cxnSp>
          <p:nvCxnSpPr>
            <p:cNvPr id="46" name="肘形连接符 45"/>
            <p:cNvCxnSpPr>
              <a:cxnSpLocks noChangeShapeType="1"/>
            </p:cNvCxnSpPr>
            <p:nvPr/>
          </p:nvCxnSpPr>
          <p:spPr bwMode="auto">
            <a:xfrm flipV="1">
              <a:off x="4092898" y="3775150"/>
              <a:ext cx="2143125" cy="1285875"/>
            </a:xfrm>
            <a:prstGeom prst="bentConnector3">
              <a:avLst>
                <a:gd name="adj1" fmla="val 126889"/>
              </a:avLst>
            </a:prstGeom>
            <a:noFill/>
            <a:ln w="38100" algn="ctr">
              <a:solidFill>
                <a:srgbClr val="33CC33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3021335" y="4846712"/>
              <a:ext cx="1143000" cy="415518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</a:rPr>
                <a:t>codeIndex</a:t>
              </a:r>
              <a:endParaRPr lang="zh-CN" altLang="en-US" sz="2000" b="1">
                <a:solidFill>
                  <a:srgbClr val="000000"/>
                </a:solidFill>
              </a:endParaRPr>
            </a:p>
          </p:txBody>
        </p:sp>
        <p:cxnSp>
          <p:nvCxnSpPr>
            <p:cNvPr id="48" name="肘形连接符 47"/>
            <p:cNvCxnSpPr>
              <a:cxnSpLocks noChangeShapeType="1"/>
            </p:cNvCxnSpPr>
            <p:nvPr/>
          </p:nvCxnSpPr>
          <p:spPr bwMode="auto">
            <a:xfrm flipV="1">
              <a:off x="4092898" y="4703837"/>
              <a:ext cx="1571625" cy="1000125"/>
            </a:xfrm>
            <a:prstGeom prst="bentConnector3">
              <a:avLst>
                <a:gd name="adj1" fmla="val 131213"/>
              </a:avLst>
            </a:prstGeom>
            <a:noFill/>
            <a:ln w="38100" algn="ctr">
              <a:solidFill>
                <a:srgbClr val="33CC33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Text Box 45"/>
            <p:cNvSpPr txBox="1">
              <a:spLocks noChangeArrowheads="1"/>
            </p:cNvSpPr>
            <p:nvPr/>
          </p:nvSpPr>
          <p:spPr bwMode="auto">
            <a:xfrm>
              <a:off x="3021335" y="5489650"/>
              <a:ext cx="1143000" cy="415518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1800" b="1" dirty="0" err="1">
                  <a:solidFill>
                    <a:srgbClr val="000000"/>
                  </a:solidFill>
                </a:rPr>
                <a:t>codeIndex</a:t>
              </a:r>
              <a:endParaRPr lang="zh-CN" altLang="en-US" sz="20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0" y="381909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矩形 50"/>
          <p:cNvSpPr/>
          <p:nvPr/>
        </p:nvSpPr>
        <p:spPr>
          <a:xfrm>
            <a:off x="0" y="43355"/>
            <a:ext cx="37208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 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 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if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语句示例</a:t>
            </a:r>
            <a:endParaRPr lang="zh-CN" altLang="en-US" sz="1600" b="1" dirty="0">
              <a:solidFill>
                <a:srgbClr val="0070C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8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0"/>
          <p:cNvSpPr>
            <a:spLocks noChangeArrowheads="1"/>
          </p:cNvSpPr>
          <p:nvPr/>
        </p:nvSpPr>
        <p:spPr bwMode="auto">
          <a:xfrm>
            <a:off x="7536177" y="1916112"/>
            <a:ext cx="2952751" cy="2928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8916" name="Line 31"/>
          <p:cNvSpPr>
            <a:spLocks noChangeShapeType="1"/>
          </p:cNvSpPr>
          <p:nvPr/>
        </p:nvSpPr>
        <p:spPr bwMode="auto">
          <a:xfrm>
            <a:off x="7536177" y="2276475"/>
            <a:ext cx="29527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38917" name="Line 32"/>
          <p:cNvSpPr>
            <a:spLocks noChangeShapeType="1"/>
          </p:cNvSpPr>
          <p:nvPr/>
        </p:nvSpPr>
        <p:spPr bwMode="auto">
          <a:xfrm>
            <a:off x="7536177" y="3284537"/>
            <a:ext cx="29527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9120485" y="1844677"/>
            <a:ext cx="1295400" cy="429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</a:rPr>
              <a:t>…</a:t>
            </a:r>
            <a:endParaRPr lang="en-US" altLang="zh-CN" sz="20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7752063" y="2347925"/>
            <a:ext cx="2592388" cy="4315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&lt; </a:t>
            </a:r>
            <a:r>
              <a:rPr lang="en-US" altLang="zh-CN" sz="2000" b="1" dirty="0"/>
              <a:t>expression 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&gt;.code</a:t>
            </a:r>
          </a:p>
        </p:txBody>
      </p:sp>
      <p:sp>
        <p:nvSpPr>
          <p:cNvPr id="38920" name="Line 35"/>
          <p:cNvSpPr>
            <a:spLocks noChangeShapeType="1"/>
          </p:cNvSpPr>
          <p:nvPr/>
        </p:nvSpPr>
        <p:spPr bwMode="auto">
          <a:xfrm>
            <a:off x="7536177" y="2779712"/>
            <a:ext cx="29527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38921" name="Line 36"/>
          <p:cNvSpPr>
            <a:spLocks noChangeShapeType="1"/>
          </p:cNvSpPr>
          <p:nvPr/>
        </p:nvSpPr>
        <p:spPr bwMode="auto">
          <a:xfrm>
            <a:off x="11426825" y="59436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8256887" y="1411300"/>
            <a:ext cx="1296988" cy="4315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代码结构</a:t>
            </a:r>
          </a:p>
        </p:txBody>
      </p:sp>
      <p:sp>
        <p:nvSpPr>
          <p:cNvPr id="33" name="Text Box 38"/>
          <p:cNvSpPr txBox="1">
            <a:spLocks noChangeArrowheads="1"/>
          </p:cNvSpPr>
          <p:nvPr/>
        </p:nvSpPr>
        <p:spPr bwMode="auto">
          <a:xfrm>
            <a:off x="7752063" y="3355975"/>
            <a:ext cx="2592388" cy="40075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&lt; </a:t>
            </a:r>
            <a:r>
              <a:rPr lang="en-US" altLang="zh-CN" sz="2000" b="1" dirty="0"/>
              <a:t>statement1 </a:t>
            </a: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&gt;.code</a:t>
            </a:r>
          </a:p>
        </p:txBody>
      </p:sp>
      <p:sp>
        <p:nvSpPr>
          <p:cNvPr id="34" name="Text Box 39"/>
          <p:cNvSpPr txBox="1">
            <a:spLocks noChangeArrowheads="1"/>
          </p:cNvSpPr>
          <p:nvPr/>
        </p:nvSpPr>
        <p:spPr bwMode="auto">
          <a:xfrm>
            <a:off x="7825088" y="2852737"/>
            <a:ext cx="7350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BRF</a:t>
            </a:r>
          </a:p>
        </p:txBody>
      </p:sp>
      <p:sp>
        <p:nvSpPr>
          <p:cNvPr id="38925" name="Line 40"/>
          <p:cNvSpPr>
            <a:spLocks noChangeShapeType="1"/>
          </p:cNvSpPr>
          <p:nvPr/>
        </p:nvSpPr>
        <p:spPr bwMode="auto">
          <a:xfrm>
            <a:off x="7536177" y="3787775"/>
            <a:ext cx="29527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6" name="Text Box 41"/>
          <p:cNvSpPr txBox="1">
            <a:spLocks noChangeArrowheads="1"/>
          </p:cNvSpPr>
          <p:nvPr/>
        </p:nvSpPr>
        <p:spPr bwMode="auto">
          <a:xfrm>
            <a:off x="6988490" y="2768613"/>
            <a:ext cx="500063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CN" sz="1800" b="1"/>
              <a:t>CX1</a:t>
            </a:r>
            <a:endParaRPr lang="zh-CN" altLang="en-US" sz="2000" b="1"/>
          </a:p>
        </p:txBody>
      </p:sp>
      <p:sp>
        <p:nvSpPr>
          <p:cNvPr id="37" name="Text Box 42"/>
          <p:cNvSpPr txBox="1">
            <a:spLocks noChangeArrowheads="1"/>
          </p:cNvSpPr>
          <p:nvPr/>
        </p:nvSpPr>
        <p:spPr bwMode="auto">
          <a:xfrm>
            <a:off x="7825085" y="3787775"/>
            <a:ext cx="80645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BR</a:t>
            </a:r>
          </a:p>
        </p:txBody>
      </p:sp>
      <p:sp>
        <p:nvSpPr>
          <p:cNvPr id="38928" name="Line 43"/>
          <p:cNvSpPr>
            <a:spLocks noChangeShapeType="1"/>
          </p:cNvSpPr>
          <p:nvPr/>
        </p:nvSpPr>
        <p:spPr bwMode="auto">
          <a:xfrm>
            <a:off x="7536177" y="4221162"/>
            <a:ext cx="295275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9" name="Text Box 44"/>
          <p:cNvSpPr txBox="1">
            <a:spLocks noChangeArrowheads="1"/>
          </p:cNvSpPr>
          <p:nvPr/>
        </p:nvSpPr>
        <p:spPr bwMode="auto">
          <a:xfrm>
            <a:off x="7680639" y="4292600"/>
            <a:ext cx="2520951" cy="40075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&lt; </a:t>
            </a:r>
            <a:r>
              <a:rPr lang="en-US" altLang="zh-CN" sz="2000" b="1" dirty="0"/>
              <a:t>statement2 </a:t>
            </a:r>
            <a:r>
              <a:rPr lang="en-US" altLang="zh-CN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&gt;.code</a:t>
            </a: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6988490" y="3697295"/>
            <a:ext cx="500063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/>
              <a:t>CX2</a:t>
            </a:r>
            <a:endParaRPr lang="zh-CN" altLang="en-US" sz="2000" b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986159" y="489218"/>
            <a:ext cx="5857875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if_stat</a:t>
            </a:r>
            <a:r>
              <a:rPr lang="en-US" altLang="zh-CN" sz="2000" dirty="0"/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{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0,cx1, cx2;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(token, "("))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5); //</a:t>
            </a:r>
            <a:r>
              <a:rPr lang="zh-CN" altLang="en-US" sz="2000" dirty="0"/>
              <a:t>少左括号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</a:rPr>
              <a:t>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</a:t>
            </a:r>
            <a:r>
              <a:rPr lang="en-US" altLang="zh-CN" sz="2000" b="1" dirty="0">
                <a:solidFill>
                  <a:srgbClr val="FF00FF"/>
                </a:solidFill>
              </a:rPr>
              <a:t>expression(); </a:t>
            </a:r>
            <a:r>
              <a:rPr lang="en-US" altLang="zh-CN" sz="2000" b="1" dirty="0"/>
              <a:t>    </a:t>
            </a:r>
            <a:r>
              <a:rPr lang="en-US" altLang="zh-CN" sz="2000" dirty="0">
                <a:sym typeface="+mn-ea"/>
              </a:rPr>
              <a:t>if(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 &gt; 0) return(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);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(token, ")"))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6); //</a:t>
            </a:r>
            <a:r>
              <a:rPr lang="zh-CN" altLang="en-US" sz="2000" dirty="0"/>
              <a:t>少右括号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00FF"/>
                </a:solidFill>
              </a:rPr>
              <a:t>    </a:t>
            </a:r>
            <a:r>
              <a:rPr lang="en-US" altLang="zh-CN" sz="2000" b="1" dirty="0" err="1">
                <a:solidFill>
                  <a:srgbClr val="FF00FF"/>
                </a:solidFill>
              </a:rPr>
              <a:t>strcpy</a:t>
            </a:r>
            <a:r>
              <a:rPr lang="en-US" altLang="zh-CN" sz="2000" b="1" dirty="0">
                <a:solidFill>
                  <a:srgbClr val="FF00FF"/>
                </a:solidFill>
              </a:rPr>
              <a:t>(codes[</a:t>
            </a:r>
            <a:r>
              <a:rPr lang="en-US" altLang="zh-CN" sz="2000" b="1" dirty="0" err="1">
                <a:solidFill>
                  <a:srgbClr val="FF00FF"/>
                </a:solidFill>
              </a:rPr>
              <a:t>codesIndex</a:t>
            </a:r>
            <a:r>
              <a:rPr lang="en-US" altLang="zh-CN" sz="2000" b="1" dirty="0">
                <a:solidFill>
                  <a:srgbClr val="FF00FF"/>
                </a:solidFill>
              </a:rPr>
              <a:t>].opt, "BRF");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b="1" dirty="0">
                <a:solidFill>
                  <a:srgbClr val="0000CC"/>
                </a:solidFill>
              </a:rPr>
              <a:t>cx1 </a:t>
            </a:r>
            <a:r>
              <a:rPr lang="en-US" altLang="zh-CN" sz="2000" b="1" dirty="0">
                <a:solidFill>
                  <a:srgbClr val="CC3300"/>
                </a:solidFill>
              </a:rPr>
              <a:t>= </a:t>
            </a:r>
            <a:r>
              <a:rPr lang="en-US" altLang="zh-CN" sz="2000" b="1" dirty="0" err="1">
                <a:solidFill>
                  <a:srgbClr val="006600"/>
                </a:solidFill>
              </a:rPr>
              <a:t>codesIndex</a:t>
            </a:r>
            <a:r>
              <a:rPr lang="en-US" altLang="zh-CN" sz="2000" b="1" dirty="0">
                <a:solidFill>
                  <a:srgbClr val="006600"/>
                </a:solidFill>
              </a:rPr>
              <a:t>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= </a:t>
            </a:r>
            <a:r>
              <a:rPr lang="en-US" altLang="zh-CN" sz="2000" b="1" dirty="0">
                <a:solidFill>
                  <a:srgbClr val="FF00FF"/>
                </a:solidFill>
              </a:rPr>
              <a:t>statement();</a:t>
            </a:r>
            <a:r>
              <a:rPr lang="en-US" altLang="zh-CN" sz="2000" dirty="0">
                <a:sym typeface="+mn-ea"/>
              </a:rPr>
              <a:t>if(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 &gt; 0) return(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);</a:t>
            </a:r>
            <a:endParaRPr lang="en-US" altLang="zh-CN" sz="2000" b="1" dirty="0">
              <a:solidFill>
                <a:srgbClr val="FF00FF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FF00FF"/>
                </a:solidFill>
              </a:rPr>
              <a:t>    </a:t>
            </a:r>
            <a:r>
              <a:rPr lang="en-US" altLang="zh-CN" sz="2000" b="1" dirty="0" err="1">
                <a:solidFill>
                  <a:srgbClr val="FF00FF"/>
                </a:solidFill>
              </a:rPr>
              <a:t>strcpy</a:t>
            </a:r>
            <a:r>
              <a:rPr lang="en-US" altLang="zh-CN" sz="2000" b="1" dirty="0">
                <a:solidFill>
                  <a:srgbClr val="FF00FF"/>
                </a:solidFill>
              </a:rPr>
              <a:t>(codes[</a:t>
            </a:r>
            <a:r>
              <a:rPr lang="en-US" altLang="zh-CN" sz="2000" b="1" dirty="0" err="1">
                <a:solidFill>
                  <a:srgbClr val="FF00FF"/>
                </a:solidFill>
              </a:rPr>
              <a:t>codesIndex</a:t>
            </a:r>
            <a:r>
              <a:rPr lang="en-US" altLang="zh-CN" sz="2000" b="1" dirty="0">
                <a:solidFill>
                  <a:srgbClr val="FF00FF"/>
                </a:solidFill>
              </a:rPr>
              <a:t>].opt, "BR");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</a:rPr>
              <a:t>cx2 </a:t>
            </a:r>
            <a:r>
              <a:rPr lang="en-US" altLang="zh-CN" sz="2000" b="1" dirty="0">
                <a:solidFill>
                  <a:srgbClr val="C00000"/>
                </a:solidFill>
              </a:rPr>
              <a:t>= </a:t>
            </a:r>
            <a:r>
              <a:rPr lang="en-US" altLang="zh-CN" sz="2000" b="1" dirty="0" err="1">
                <a:solidFill>
                  <a:srgbClr val="006600"/>
                </a:solidFill>
              </a:rPr>
              <a:t>codesIndex</a:t>
            </a:r>
            <a:r>
              <a:rPr lang="en-US" altLang="zh-CN" sz="2000" b="1" dirty="0">
                <a:solidFill>
                  <a:srgbClr val="006600"/>
                </a:solidFill>
              </a:rPr>
              <a:t>++;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b="1" dirty="0">
                <a:solidFill>
                  <a:srgbClr val="FF00FF"/>
                </a:solidFill>
              </a:rPr>
              <a:t>codes[cx1].operand</a:t>
            </a:r>
            <a:r>
              <a:rPr lang="en-US" altLang="zh-CN" sz="2000" b="1" dirty="0">
                <a:solidFill>
                  <a:srgbClr val="006600"/>
                </a:solidFill>
              </a:rPr>
              <a:t>= </a:t>
            </a:r>
            <a:r>
              <a:rPr lang="en-US" altLang="zh-CN" sz="2000" b="1" dirty="0" err="1">
                <a:solidFill>
                  <a:srgbClr val="006600"/>
                </a:solidFill>
              </a:rPr>
              <a:t>codesIndex</a:t>
            </a:r>
            <a:r>
              <a:rPr lang="en-US" altLang="zh-CN" sz="2000" b="1" dirty="0">
                <a:solidFill>
                  <a:srgbClr val="006600"/>
                </a:solidFill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strcmp</a:t>
            </a:r>
            <a:r>
              <a:rPr lang="en-US" altLang="zh-CN" sz="2000" dirty="0"/>
              <a:t>(token, "else") == 0) { //else</a:t>
            </a:r>
            <a:r>
              <a:rPr lang="zh-CN" altLang="en-US" sz="2000" dirty="0"/>
              <a:t>部分处理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        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fpTokenin</a:t>
            </a:r>
            <a:r>
              <a:rPr lang="en-US" altLang="zh-CN" sz="2000" dirty="0"/>
              <a:t>, "%s %s\n", &amp;token, &amp;token1);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FF"/>
                </a:solidFill>
              </a:rPr>
              <a:t>= statement();</a:t>
            </a:r>
            <a:r>
              <a:rPr lang="en-US" altLang="zh-CN" sz="2000" dirty="0">
                <a:sym typeface="+mn-ea"/>
              </a:rPr>
              <a:t>if(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 &gt; 0) return(</a:t>
            </a:r>
            <a:r>
              <a:rPr lang="en-US" altLang="zh-CN" sz="2000" dirty="0" err="1">
                <a:sym typeface="+mn-ea"/>
              </a:rPr>
              <a:t>es</a:t>
            </a:r>
            <a:r>
              <a:rPr lang="en-US" altLang="zh-CN" sz="2000" dirty="0">
                <a:sym typeface="+mn-ea"/>
              </a:rPr>
              <a:t>);</a:t>
            </a:r>
            <a:r>
              <a:rPr lang="en-US" altLang="zh-CN" sz="2000" dirty="0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b="1" dirty="0">
                <a:solidFill>
                  <a:srgbClr val="FF00FF"/>
                </a:solidFill>
              </a:rPr>
              <a:t>codes[cx2].operand = </a:t>
            </a:r>
            <a:r>
              <a:rPr lang="en-US" altLang="zh-CN" sz="2000" b="1" dirty="0" err="1">
                <a:solidFill>
                  <a:srgbClr val="006600"/>
                </a:solidFill>
              </a:rPr>
              <a:t>codesIndex</a:t>
            </a:r>
            <a:r>
              <a:rPr lang="en-US" altLang="zh-CN" sz="2000" b="1" dirty="0">
                <a:solidFill>
                  <a:srgbClr val="006600"/>
                </a:solidFill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    return(</a:t>
            </a:r>
            <a:r>
              <a:rPr lang="en-US" altLang="zh-CN" sz="2000" dirty="0" err="1"/>
              <a:t>es</a:t>
            </a:r>
            <a:r>
              <a:rPr lang="en-US" altLang="zh-CN" sz="2000" dirty="0"/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cxnSp>
        <p:nvCxnSpPr>
          <p:cNvPr id="45" name="肘形连接符 44"/>
          <p:cNvCxnSpPr>
            <a:cxnSpLocks noChangeShapeType="1"/>
          </p:cNvCxnSpPr>
          <p:nvPr/>
        </p:nvCxnSpPr>
        <p:spPr bwMode="auto">
          <a:xfrm flipV="1">
            <a:off x="7417100" y="3054357"/>
            <a:ext cx="2143125" cy="1285875"/>
          </a:xfrm>
          <a:prstGeom prst="bentConnector3">
            <a:avLst>
              <a:gd name="adj1" fmla="val 126889"/>
            </a:avLst>
          </a:prstGeom>
          <a:noFill/>
          <a:ln w="38100" algn="ctr">
            <a:solidFill>
              <a:srgbClr val="33CC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 Box 45"/>
          <p:cNvSpPr txBox="1">
            <a:spLocks noChangeArrowheads="1"/>
          </p:cNvSpPr>
          <p:nvPr/>
        </p:nvSpPr>
        <p:spPr bwMode="auto">
          <a:xfrm>
            <a:off x="6345535" y="4125925"/>
            <a:ext cx="1143000" cy="369332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/>
              <a:t>codeIndex</a:t>
            </a:r>
            <a:endParaRPr lang="zh-CN" altLang="en-US" sz="2000" b="1"/>
          </a:p>
        </p:txBody>
      </p:sp>
      <p:cxnSp>
        <p:nvCxnSpPr>
          <p:cNvPr id="52" name="肘形连接符 51"/>
          <p:cNvCxnSpPr>
            <a:cxnSpLocks noChangeShapeType="1"/>
          </p:cNvCxnSpPr>
          <p:nvPr/>
        </p:nvCxnSpPr>
        <p:spPr bwMode="auto">
          <a:xfrm flipV="1">
            <a:off x="7417116" y="3983063"/>
            <a:ext cx="1571625" cy="1000125"/>
          </a:xfrm>
          <a:prstGeom prst="bentConnector3">
            <a:avLst>
              <a:gd name="adj1" fmla="val 131213"/>
            </a:avLst>
          </a:prstGeom>
          <a:noFill/>
          <a:ln w="38100" algn="ctr">
            <a:solidFill>
              <a:srgbClr val="33CC33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Text Box 45"/>
          <p:cNvSpPr txBox="1">
            <a:spLocks noChangeArrowheads="1"/>
          </p:cNvSpPr>
          <p:nvPr/>
        </p:nvSpPr>
        <p:spPr bwMode="auto">
          <a:xfrm>
            <a:off x="6345535" y="4768863"/>
            <a:ext cx="1143000" cy="369332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/>
              <a:t>codeIndex</a:t>
            </a:r>
            <a:endParaRPr lang="zh-CN" altLang="en-US" sz="2000" b="1"/>
          </a:p>
        </p:txBody>
      </p:sp>
      <p:cxnSp>
        <p:nvCxnSpPr>
          <p:cNvPr id="27" name="直接连接符 26"/>
          <p:cNvCxnSpPr/>
          <p:nvPr/>
        </p:nvCxnSpPr>
        <p:spPr>
          <a:xfrm>
            <a:off x="0" y="344028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矩形 29"/>
          <p:cNvSpPr/>
          <p:nvPr/>
        </p:nvSpPr>
        <p:spPr>
          <a:xfrm>
            <a:off x="-64589" y="-10258"/>
            <a:ext cx="8017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语义分析及中间代码</a:t>
            </a:r>
            <a:r>
              <a:rPr lang="zh-CN" altLang="en-US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生成 </a:t>
            </a:r>
            <a:r>
              <a:rPr lang="en-US" altLang="zh-CN" sz="1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 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&lt;</a:t>
            </a:r>
            <a:r>
              <a:rPr lang="en-US" altLang="zh-CN" sz="1600" b="1" dirty="0" err="1">
                <a:solidFill>
                  <a:srgbClr val="0070C0"/>
                </a:solidFill>
              </a:rPr>
              <a:t>if_stat</a:t>
            </a:r>
            <a:r>
              <a:rPr lang="en-US" altLang="zh-CN" sz="1600" b="1" dirty="0">
                <a:solidFill>
                  <a:srgbClr val="0070C0"/>
                </a:solidFill>
              </a:rPr>
              <a:t>&gt;→ if ‘(‘&lt;expr&gt;’)’ &lt;statement &gt; [else &lt; statement &gt;]</a:t>
            </a:r>
            <a:r>
              <a:rPr lang="en-US" altLang="zh-CN" sz="1600" b="1" dirty="0"/>
              <a:t> </a:t>
            </a:r>
            <a:endParaRPr lang="zh-CN" altLang="en-US" sz="1600" b="1" dirty="0">
              <a:solidFill>
                <a:srgbClr val="0070C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3" grpId="0" bldLvl="0" animBg="1"/>
      <p:bldP spid="34" grpId="0"/>
      <p:bldP spid="36" grpId="0" bldLvl="0" animBg="1"/>
      <p:bldP spid="37" grpId="0"/>
      <p:bldP spid="39" grpId="0" bldLvl="0" animBg="1"/>
      <p:bldP spid="40" grpId="0" bldLvl="0" animBg="1"/>
      <p:bldP spid="51" grpId="0" bldLvl="0" animBg="1"/>
      <p:bldP spid="63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091abe0-e451-42f2-835b-faf7e11c1ef7"/>
  <p:tag name="COMMONDATA" val="eyJoZGlkIjoiNDVjNDA0OWZmOTNhOTNjZTliYzFmMzdkZjdiNDA1N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134f675-be51-4f10-885c-237d9baea0d2}"/>
</p:tagLst>
</file>

<file path=ppt/theme/theme1.xml><?xml version="1.0" encoding="utf-8"?>
<a:theme xmlns:a="http://schemas.openxmlformats.org/drawingml/2006/main" name="7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solidFill>
          <a:srgbClr val="FFFFCC"/>
        </a:solidFill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3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1852</Words>
  <Application>Microsoft Office PowerPoint</Application>
  <PresentationFormat>宽屏</PresentationFormat>
  <Paragraphs>319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 Unicode MS</vt:lpstr>
      <vt:lpstr>Monotype Sorts</vt:lpstr>
      <vt:lpstr>等线</vt:lpstr>
      <vt:lpstr>楷体_GB2312</vt:lpstr>
      <vt:lpstr>隶书</vt:lpstr>
      <vt:lpstr>宋体</vt:lpstr>
      <vt:lpstr>微软雅黑</vt:lpstr>
      <vt:lpstr>Tahoma</vt:lpstr>
      <vt:lpstr>Times New Roman</vt:lpstr>
      <vt:lpstr>7_Azure</vt:lpstr>
      <vt:lpstr>12_Azure</vt:lpstr>
      <vt:lpstr>13_Azure</vt:lpstr>
      <vt:lpstr>默认设计模板</vt:lpstr>
      <vt:lpstr>1_默认设计模板</vt:lpstr>
      <vt:lpstr>2_默认设计模板</vt:lpstr>
      <vt:lpstr>3_默认设计模板</vt:lpstr>
      <vt:lpstr>4_默认设计模板</vt:lpstr>
      <vt:lpstr>PowerPoint 演示文稿</vt:lpstr>
      <vt:lpstr>PowerPoint 演示文稿</vt:lpstr>
      <vt:lpstr>PowerPoint 演示文稿</vt:lpstr>
      <vt:lpstr>PowerPoint 演示文稿</vt:lpstr>
      <vt:lpstr>语义分析及中间代码生成—TEST 虚拟机指令代码</vt:lpstr>
      <vt:lpstr>语义分析及中间代码生成—TEST 虚拟机指令代码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中间代码的数据结构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dlmu</dc:creator>
  <cp:lastModifiedBy>lenovo</cp:lastModifiedBy>
  <cp:revision>411</cp:revision>
  <dcterms:created xsi:type="dcterms:W3CDTF">2020-10-30T00:37:00Z</dcterms:created>
  <dcterms:modified xsi:type="dcterms:W3CDTF">2024-05-20T07:16:55Z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665AE545187541C091A5B0523256FC1A</vt:lpwstr>
  </property>
</Properties>
</file>