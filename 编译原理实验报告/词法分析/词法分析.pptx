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6" r:id="rId4"/>
  </p:sldMasterIdLst>
  <p:notesMasterIdLst>
    <p:notesMasterId r:id="rId16"/>
  </p:notesMasterIdLst>
  <p:sldIdLst>
    <p:sldId id="782" r:id="rId5"/>
    <p:sldId id="287" r:id="rId6"/>
    <p:sldId id="288" r:id="rId7"/>
    <p:sldId id="453" r:id="rId8"/>
    <p:sldId id="292" r:id="rId9"/>
    <p:sldId id="454" r:id="rId10"/>
    <p:sldId id="702" r:id="rId11"/>
    <p:sldId id="783" r:id="rId12"/>
    <p:sldId id="290" r:id="rId13"/>
    <p:sldId id="289" r:id="rId14"/>
    <p:sldId id="502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3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FFFFFF"/>
    <a:srgbClr val="336699"/>
    <a:srgbClr val="EFEFFB"/>
    <a:srgbClr val="FFFFCC"/>
    <a:srgbClr val="705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6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492" y="56"/>
      </p:cViewPr>
      <p:guideLst>
        <p:guide orient="horz" pos="2263"/>
        <p:guide pos="38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4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6EEDE-308C-4369-A576-C5A09EE11F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91A5-6234-4A50-A8CD-ED8CA8AA2DB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标题 1"/>
          <p:cNvSpPr txBox="1"/>
          <p:nvPr/>
        </p:nvSpPr>
        <p:spPr bwMode="auto">
          <a:xfrm>
            <a:off x="304690" y="150495"/>
            <a:ext cx="5679900" cy="79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词法分析</a:t>
            </a:r>
            <a:endParaRPr lang="zh-CN" altLang="en-US" sz="4000" b="1" kern="1200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cxnSp>
        <p:nvCxnSpPr>
          <p:cNvPr id="6" name="直接连接符 5"/>
          <p:cNvCxnSpPr/>
          <p:nvPr>
            <p:custDataLst>
              <p:tags r:id="rId1"/>
            </p:custDataLst>
          </p:nvPr>
        </p:nvCxnSpPr>
        <p:spPr>
          <a:xfrm>
            <a:off x="29210" y="915670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185057" y="1054709"/>
            <a:ext cx="7384525" cy="30972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algn="just">
              <a:lnSpc>
                <a:spcPct val="110000"/>
              </a:lnSpc>
              <a:buFont typeface="Monotype Sorts" pitchFamily="2" charset="2"/>
              <a:buNone/>
              <a:defRPr/>
            </a:pPr>
            <a:r>
              <a:rPr lang="en-US" altLang="zh-CN" sz="2400" b="1" dirty="0" smtClean="0">
                <a:solidFill>
                  <a:schemeClr val="bg2"/>
                </a:solidFill>
                <a:effectLst/>
              </a:rPr>
              <a:t>DFA M</a:t>
            </a:r>
            <a:r>
              <a:rPr lang="zh-CN" altLang="en-US" sz="2400" b="1" dirty="0" smtClean="0">
                <a:solidFill>
                  <a:schemeClr val="bg2"/>
                </a:solidFill>
                <a:effectLst/>
              </a:rPr>
              <a:t>是一个五元组</a:t>
            </a:r>
            <a:r>
              <a:rPr lang="zh-CN" altLang="en-US" sz="2000" b="1" dirty="0" smtClean="0">
                <a:solidFill>
                  <a:schemeClr val="bg2"/>
                </a:solidFill>
                <a:effectLst/>
              </a:rPr>
              <a:t>     </a:t>
            </a:r>
            <a:r>
              <a:rPr lang="en-US" altLang="zh-CN" sz="2800" b="1" dirty="0" smtClean="0">
                <a:solidFill>
                  <a:schemeClr val="bg2"/>
                </a:solidFill>
                <a:effectLst/>
              </a:rPr>
              <a:t>M=</a:t>
            </a:r>
            <a:r>
              <a:rPr lang="zh-CN" altLang="en-US" sz="2800" b="1" dirty="0" smtClean="0">
                <a:solidFill>
                  <a:schemeClr val="bg2"/>
                </a:solidFill>
                <a:effectLst/>
              </a:rPr>
              <a:t>（</a:t>
            </a:r>
            <a:r>
              <a:rPr lang="en-US" altLang="zh-CN" sz="2800" b="1" dirty="0" smtClean="0">
                <a:solidFill>
                  <a:schemeClr val="bg2"/>
                </a:solidFill>
                <a:effectLst/>
              </a:rPr>
              <a:t>Q</a:t>
            </a:r>
            <a:r>
              <a:rPr lang="zh-CN" altLang="en-US" sz="2800" b="1" dirty="0" smtClean="0">
                <a:solidFill>
                  <a:schemeClr val="bg2"/>
                </a:solidFill>
                <a:effectLst/>
              </a:rPr>
              <a:t>，∑，</a:t>
            </a:r>
            <a:r>
              <a:rPr lang="en-US" altLang="zh-CN" sz="2800" b="1" dirty="0" smtClean="0">
                <a:solidFill>
                  <a:schemeClr val="bg2"/>
                </a:solidFill>
                <a:effectLst/>
              </a:rPr>
              <a:t>q</a:t>
            </a:r>
            <a:r>
              <a:rPr lang="en-US" altLang="zh-CN" sz="2800" b="1" baseline="-25000" dirty="0" smtClean="0">
                <a:solidFill>
                  <a:schemeClr val="bg2"/>
                </a:solidFill>
                <a:effectLst/>
              </a:rPr>
              <a:t>0</a:t>
            </a:r>
            <a:r>
              <a:rPr lang="zh-CN" altLang="en-US" sz="2800" b="1" dirty="0" smtClean="0">
                <a:solidFill>
                  <a:schemeClr val="bg2"/>
                </a:solidFill>
                <a:effectLst/>
              </a:rPr>
              <a:t>，</a:t>
            </a:r>
            <a:r>
              <a:rPr lang="en-US" altLang="zh-CN" sz="2800" b="1" dirty="0" smtClean="0">
                <a:solidFill>
                  <a:schemeClr val="bg2"/>
                </a:solidFill>
                <a:effectLst/>
              </a:rPr>
              <a:t>F</a:t>
            </a:r>
            <a:r>
              <a:rPr lang="zh-CN" altLang="en-US" sz="2800" b="1" dirty="0" smtClean="0">
                <a:solidFill>
                  <a:schemeClr val="bg2"/>
                </a:solidFill>
                <a:effectLst/>
              </a:rPr>
              <a:t>，</a:t>
            </a:r>
            <a:r>
              <a:rPr lang="en-US" altLang="zh-CN" sz="2800" b="1" dirty="0" smtClean="0">
                <a:solidFill>
                  <a:schemeClr val="bg2"/>
                </a:solidFill>
                <a:effectLst/>
              </a:rPr>
              <a:t>δ</a:t>
            </a:r>
            <a:r>
              <a:rPr lang="en-US" altLang="zh-CN" sz="24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sz="2800" b="1" dirty="0" smtClean="0">
                <a:solidFill>
                  <a:schemeClr val="bg2"/>
                </a:solidFill>
                <a:effectLst/>
              </a:rPr>
              <a:t>）</a:t>
            </a:r>
            <a:endParaRPr lang="zh-CN" altLang="en-US" sz="2800" b="1" dirty="0" smtClean="0">
              <a:solidFill>
                <a:schemeClr val="bg2"/>
              </a:solidFill>
              <a:effectLst/>
            </a:endParaRPr>
          </a:p>
          <a:p>
            <a:pPr algn="just">
              <a:lnSpc>
                <a:spcPct val="110000"/>
              </a:lnSpc>
              <a:buClrTx/>
              <a:defRPr/>
            </a:pPr>
            <a:r>
              <a:rPr lang="en-US" altLang="zh-CN" sz="2400" b="1" dirty="0" smtClean="0">
                <a:solidFill>
                  <a:schemeClr val="bg2"/>
                </a:solidFill>
                <a:effectLst/>
              </a:rPr>
              <a:t>Q</a:t>
            </a:r>
            <a:r>
              <a:rPr lang="zh-CN" altLang="en-US" sz="2400" b="1" dirty="0" smtClean="0">
                <a:solidFill>
                  <a:schemeClr val="bg2"/>
                </a:solidFill>
                <a:effectLst/>
              </a:rPr>
              <a:t>：有穷状态集。元素：一个状态；</a:t>
            </a:r>
            <a:endParaRPr lang="zh-CN" altLang="en-US" sz="2400" b="1" dirty="0" smtClean="0">
              <a:solidFill>
                <a:schemeClr val="bg2"/>
              </a:solidFill>
              <a:effectLst/>
            </a:endParaRPr>
          </a:p>
          <a:p>
            <a:pPr algn="just">
              <a:lnSpc>
                <a:spcPct val="110000"/>
              </a:lnSpc>
              <a:buClrTx/>
              <a:defRPr/>
            </a:pPr>
            <a:r>
              <a:rPr lang="zh-CN" altLang="en-US" sz="2400" b="1" dirty="0" smtClean="0">
                <a:solidFill>
                  <a:schemeClr val="bg2"/>
                </a:solidFill>
                <a:effectLst/>
              </a:rPr>
              <a:t>∑：输入符号字母表。元素：一个输入字符；</a:t>
            </a:r>
            <a:endParaRPr lang="zh-CN" altLang="en-US" sz="2400" b="1" dirty="0" smtClean="0">
              <a:solidFill>
                <a:schemeClr val="bg2"/>
              </a:solidFill>
              <a:effectLst/>
            </a:endParaRPr>
          </a:p>
          <a:p>
            <a:pPr algn="just">
              <a:lnSpc>
                <a:spcPct val="110000"/>
              </a:lnSpc>
              <a:buClrTx/>
              <a:defRPr/>
            </a:pPr>
            <a:r>
              <a:rPr lang="en-US" altLang="zh-CN" sz="2400" b="1" dirty="0" smtClean="0">
                <a:solidFill>
                  <a:schemeClr val="bg2"/>
                </a:solidFill>
                <a:effectLst/>
              </a:rPr>
              <a:t>q</a:t>
            </a:r>
            <a:r>
              <a:rPr lang="en-US" altLang="zh-CN" sz="2800" b="1" baseline="-25000" dirty="0" smtClean="0">
                <a:solidFill>
                  <a:schemeClr val="bg2"/>
                </a:solidFill>
                <a:effectLst/>
              </a:rPr>
              <a:t>0</a:t>
            </a:r>
            <a:r>
              <a:rPr lang="en-US" altLang="zh-CN" sz="2400" b="1" dirty="0" smtClean="0">
                <a:solidFill>
                  <a:schemeClr val="bg2"/>
                </a:solidFill>
                <a:effectLst/>
              </a:rPr>
              <a:t> ∈Q</a:t>
            </a:r>
            <a:r>
              <a:rPr lang="zh-CN" altLang="en-US" sz="2400" b="1" dirty="0" smtClean="0">
                <a:solidFill>
                  <a:schemeClr val="bg2"/>
                </a:solidFill>
                <a:effectLst/>
              </a:rPr>
              <a:t>：唯一的初态</a:t>
            </a:r>
            <a:r>
              <a:rPr lang="en-US" altLang="zh-CN" sz="2400" b="1" dirty="0" smtClean="0">
                <a:solidFill>
                  <a:schemeClr val="bg2"/>
                </a:solidFill>
                <a:effectLst/>
              </a:rPr>
              <a:t>;</a:t>
            </a:r>
            <a:endParaRPr lang="zh-CN" altLang="en-US" sz="2400" b="1" dirty="0" smtClean="0">
              <a:solidFill>
                <a:schemeClr val="bg2"/>
              </a:solidFill>
              <a:effectLst/>
            </a:endParaRPr>
          </a:p>
          <a:p>
            <a:pPr algn="just">
              <a:lnSpc>
                <a:spcPct val="110000"/>
              </a:lnSpc>
              <a:buClrTx/>
              <a:defRPr/>
            </a:pPr>
            <a:r>
              <a:rPr lang="en-US" altLang="zh-CN" sz="2400" b="1" dirty="0" smtClean="0">
                <a:solidFill>
                  <a:schemeClr val="bg2"/>
                </a:solidFill>
                <a:effectLst/>
              </a:rPr>
              <a:t>F</a:t>
            </a:r>
            <a:r>
              <a:rPr lang="en-US" altLang="zh-CN" sz="2400" dirty="0" smtClean="0">
                <a:solidFill>
                  <a:schemeClr val="bg2"/>
                </a:solidFill>
                <a:sym typeface="Symbol" panose="05050102010706020507" pitchFamily="18" charset="2"/>
              </a:rPr>
              <a:t> </a:t>
            </a:r>
            <a:r>
              <a:rPr lang="en-US" altLang="zh-CN" sz="2400" b="1" dirty="0" smtClean="0">
                <a:solidFill>
                  <a:schemeClr val="bg2"/>
                </a:solidFill>
                <a:effectLst/>
              </a:rPr>
              <a:t> Q</a:t>
            </a:r>
            <a:r>
              <a:rPr lang="zh-CN" altLang="en-US" sz="2400" b="1" dirty="0" smtClean="0">
                <a:solidFill>
                  <a:schemeClr val="bg2"/>
                </a:solidFill>
                <a:effectLst/>
              </a:rPr>
              <a:t>：终态集。终态：可接收状态或结束状态。</a:t>
            </a:r>
            <a:endParaRPr lang="zh-CN" altLang="en-US" sz="2400" b="1" dirty="0" smtClean="0">
              <a:solidFill>
                <a:schemeClr val="bg2"/>
              </a:solidFill>
              <a:effectLst/>
            </a:endParaRPr>
          </a:p>
          <a:p>
            <a:pPr algn="just">
              <a:lnSpc>
                <a:spcPct val="110000"/>
              </a:lnSpc>
              <a:buClrTx/>
              <a:defRPr/>
            </a:pPr>
            <a:r>
              <a:rPr lang="en-US" altLang="zh-CN" sz="2800" b="1" dirty="0" smtClean="0">
                <a:solidFill>
                  <a:schemeClr val="bg2"/>
                </a:solidFill>
                <a:effectLst/>
              </a:rPr>
              <a:t>δ</a:t>
            </a:r>
            <a:r>
              <a:rPr lang="en-US" altLang="zh-CN" sz="2400" b="1" dirty="0" smtClean="0">
                <a:solidFill>
                  <a:schemeClr val="bg2"/>
                </a:solidFill>
                <a:effectLst/>
              </a:rPr>
              <a:t>:  </a:t>
            </a:r>
            <a:r>
              <a:rPr lang="zh-CN" altLang="en-US" sz="2400" b="1" dirty="0" smtClean="0">
                <a:solidFill>
                  <a:schemeClr val="bg2"/>
                </a:solidFill>
                <a:effectLst/>
              </a:rPr>
              <a:t>转换函数     </a:t>
            </a:r>
            <a:r>
              <a:rPr lang="en-US" altLang="zh-CN" sz="2400" b="1" dirty="0" smtClean="0">
                <a:solidFill>
                  <a:schemeClr val="bg2"/>
                </a:solidFill>
                <a:effectLst/>
              </a:rPr>
              <a:t>Q×Σ→Q</a:t>
            </a:r>
            <a:r>
              <a:rPr lang="en-US" altLang="zh-CN" sz="24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zh-CN" altLang="en-US" sz="2400" b="1" dirty="0" smtClean="0">
                <a:effectLst/>
              </a:rPr>
              <a:t>上的映射。</a:t>
            </a:r>
            <a:endParaRPr lang="zh-CN" altLang="en-US" sz="2400" b="1" dirty="0" smtClean="0">
              <a:effectLst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49575" y="1054709"/>
            <a:ext cx="4723253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 smtClean="0">
                <a:solidFill>
                  <a:schemeClr val="bg2"/>
                </a:solidFill>
              </a:rPr>
              <a:t>词法规则：</a:t>
            </a:r>
            <a:endParaRPr lang="en-US" altLang="zh-CN" sz="2400" b="1" dirty="0" smtClean="0">
              <a:solidFill>
                <a:schemeClr val="bg2"/>
              </a:solidFill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400" b="1" dirty="0" smtClean="0">
                <a:solidFill>
                  <a:schemeClr val="bg2"/>
                </a:solidFill>
              </a:rPr>
              <a:t>Q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：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ID&gt;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∷=&lt;letter&gt;|&lt;ID&gt;&lt;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letter&gt;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 smtClean="0">
                <a:solidFill>
                  <a:schemeClr val="bg2"/>
                </a:solidFill>
              </a:rPr>
              <a:t>∑</a:t>
            </a:r>
            <a:r>
              <a:rPr lang="zh-CN" altLang="en-US" sz="2400" b="1" dirty="0">
                <a:solidFill>
                  <a:schemeClr val="bg2"/>
                </a:solidFill>
              </a:rPr>
              <a:t>：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letter&gt;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∷=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|…|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bg2"/>
                </a:solidFill>
              </a:rPr>
              <a:t>q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0</a:t>
            </a:r>
            <a:endParaRPr lang="en-US" altLang="zh-CN" sz="2400" b="1" dirty="0" smtClean="0">
              <a:solidFill>
                <a:schemeClr val="bg2"/>
              </a:solidFill>
            </a:endParaRPr>
          </a:p>
          <a:p>
            <a:r>
              <a:rPr lang="en-US" altLang="zh-CN" sz="2400" b="1" dirty="0" smtClean="0">
                <a:solidFill>
                  <a:schemeClr val="bg2"/>
                </a:solidFill>
              </a:rPr>
              <a:t>F</a:t>
            </a:r>
            <a:r>
              <a:rPr lang="zh-CN" altLang="en-US" sz="2400" dirty="0" smtClean="0">
                <a:solidFill>
                  <a:schemeClr val="bg2"/>
                </a:solidFill>
              </a:rPr>
              <a:t>：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{monkey   apple    eat}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bg2"/>
                </a:solidFill>
              </a:rPr>
              <a:t>δ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096" y="4394275"/>
            <a:ext cx="96324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 smtClean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  monkey   </a:t>
            </a:r>
            <a:r>
              <a:rPr kumimoji="1" lang="en-US" altLang="zh-CN" sz="4000" b="1" dirty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apple    </a:t>
            </a:r>
            <a:r>
              <a:rPr kumimoji="1" lang="en-US" altLang="zh-CN" sz="4000" b="1" dirty="0" smtClean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eat   banana </a:t>
            </a:r>
            <a:endParaRPr kumimoji="1" lang="en-US" altLang="zh-CN" sz="4000" b="1" dirty="0" smtClean="0">
              <a:solidFill>
                <a:srgbClr val="FF99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kumimoji="1" lang="en-US" altLang="zh-CN" sz="4000" b="1" dirty="0" smtClean="0">
              <a:solidFill>
                <a:srgbClr val="FF99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kumimoji="1" lang="en-US" altLang="zh-CN" sz="4000" b="1" dirty="0" smtClean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   apple    </a:t>
            </a:r>
            <a:r>
              <a:rPr kumimoji="1" lang="en-US" altLang="zh-CN" sz="4000" b="1" dirty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eat </a:t>
            </a:r>
            <a:r>
              <a:rPr kumimoji="1" lang="en-US" altLang="zh-CN" sz="4000" b="1" dirty="0" smtClean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apple    </a:t>
            </a:r>
            <a:endParaRPr lang="zh-CN" altLang="en-US" sz="4000" dirty="0">
              <a:solidFill>
                <a:srgbClr val="FF99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D33C69C-2043-4B8D-A453-9D3FCAFC0D98}" type="datetime1">
              <a:rPr kumimoji="1" lang="zh-CN" altLang="en-US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</a:rPr>
            </a:fld>
            <a:endParaRPr kumimoji="1" lang="en-US" altLang="zh-CN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813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8AABE6F-406C-41CD-B869-ED960FB6B6AA}" type="slidenum">
              <a:rPr lang="en-US" altLang="zh-CN" sz="1400">
                <a:solidFill>
                  <a:srgbClr val="FFFFFF"/>
                </a:solidFill>
              </a:rPr>
            </a:fld>
            <a:endParaRPr lang="en-US" altLang="zh-CN" sz="1400">
              <a:solidFill>
                <a:srgbClr val="FFFFFF"/>
              </a:solidFill>
            </a:endParaRPr>
          </a:p>
        </p:txBody>
      </p:sp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1766888" y="1198245"/>
            <a:ext cx="8610600" cy="492315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6699FF"/>
              </a:buClr>
              <a:buSzPct val="75000"/>
              <a:defRPr/>
            </a:pPr>
            <a:r>
              <a:rPr kumimoji="1" lang="en-US" altLang="zh-CN" sz="32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TEST</a:t>
            </a:r>
            <a:r>
              <a:rPr kumimoji="1" lang="zh-CN" altLang="en-US" sz="32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词法</a:t>
            </a:r>
            <a:r>
              <a:rPr kumimoji="1" lang="zh-CN" altLang="en-US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规则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kumimoji="1"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TEST</a:t>
            </a:r>
            <a:r>
              <a:rPr kumimoji="1" lang="zh-CN" alt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语言的单词符号</a:t>
            </a:r>
            <a:endParaRPr kumimoji="1" lang="en-US" altLang="zh-CN" sz="20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kumimoji="1" 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TEST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语言的单词符号如下：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defRPr/>
            </a:pPr>
            <a:r>
              <a:rPr kumimoji="1" 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标识符。字母打头，后接字母数字，识别出的标识符用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ID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标记。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保留字（标识符的子集）。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if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else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for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while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do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int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write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read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识别出的保留字直接用该保留字标记，不区分大小写。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defRPr/>
            </a:pPr>
            <a:r>
              <a:rPr kumimoji="1" 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无符号整数。由数字组成，用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NUM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标记。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defRPr/>
            </a:pPr>
            <a:r>
              <a:rPr kumimoji="1" 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分界符。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+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—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、*、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、（、）、；、，、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{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}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、！等单分界符，直接用单分界符标记。</a:t>
            </a:r>
            <a:endParaRPr kumimoji="1" lang="zh-CN" altLang="en-US" sz="20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defRPr/>
            </a:pP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双分界符。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&gt;=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&lt;=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==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等双分界符，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直接用双分界符标记。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defRPr/>
            </a:pPr>
            <a:r>
              <a:rPr kumimoji="1" 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注释符。用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/*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和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*/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括起来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。</a:t>
            </a:r>
            <a:r>
              <a:rPr kumimoji="1" 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endParaRPr kumimoji="1" 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9825" y="122051"/>
            <a:ext cx="8392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词法分析  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TEST</a:t>
            </a:r>
            <a:r>
              <a:rPr lang="zh-CN" altLang="en-US" sz="2800" b="1" dirty="0">
                <a:solidFill>
                  <a:srgbClr val="0070C0"/>
                </a:solidFill>
              </a:rPr>
              <a:t>语言的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词法规则</a:t>
            </a:r>
            <a:endParaRPr kumimoji="1" lang="zh-CN" altLang="en-US" sz="28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9210" y="88188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</a:rPr>
            </a:fld>
            <a:endParaRPr kumimoji="1" lang="en-US" altLang="zh-CN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kumimoji="1" lang="en-US" altLang="zh-CN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966931" y="949326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TEST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/>
                <a:ea typeface="宋体" panose="02010600030101010101" pitchFamily="2" charset="-122"/>
              </a:rPr>
              <a:t>词法规则</a:t>
            </a:r>
            <a:r>
              <a:rPr lang="en-US" altLang="zh-CN" sz="3600" b="1" dirty="0">
                <a:solidFill>
                  <a:schemeClr val="bg2"/>
                </a:solidFill>
                <a:latin typeface="Times New Roman" panose="02020603050405020304"/>
                <a:ea typeface="宋体" panose="02010600030101010101" pitchFamily="2" charset="-122"/>
              </a:rPr>
              <a:t>—</a:t>
            </a:r>
            <a:r>
              <a:rPr lang="en-US" altLang="zh-CN" sz="1600" b="1" dirty="0">
                <a:solidFill>
                  <a:schemeClr val="bg2"/>
                </a:solidFill>
                <a:latin typeface="Times New Roman" panose="02020603050405020304"/>
                <a:ea typeface="宋体" panose="02010600030101010101" pitchFamily="2" charset="-122"/>
              </a:rPr>
              <a:t>TEST</a:t>
            </a:r>
            <a:r>
              <a:rPr lang="zh-CN" altLang="en-US" sz="1600" b="1" dirty="0">
                <a:solidFill>
                  <a:schemeClr val="bg2"/>
                </a:solidFill>
                <a:latin typeface="Times New Roman" panose="02020603050405020304"/>
                <a:ea typeface="宋体" panose="02010600030101010101" pitchFamily="2" charset="-122"/>
              </a:rPr>
              <a:t>语言的各类单词符号的正则文法规则</a:t>
            </a:r>
            <a:endParaRPr lang="zh-CN" altLang="en-US" sz="1600" b="1" dirty="0">
              <a:solidFill>
                <a:schemeClr val="bg2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349501" y="1772198"/>
            <a:ext cx="8027987" cy="433965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&lt;ID&gt;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∷=&lt;letter&gt;|&lt;ID&gt;&lt;letter&gt;|&lt;ID&gt;&lt;digit&gt;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&lt;NUM&gt;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∷=&lt;digit&gt;|&lt;NUM&gt; &lt;digit&gt;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&lt;letter&gt;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∷= a|b|…|z|A|B|…|Z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&lt;digit&gt;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∷=1|2|…|9|0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&lt;singleword&gt;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∷=  </a:t>
            </a:r>
            <a:r>
              <a:rPr kumimoji="1" lang="en-US" altLang="zh-CN" sz="2400" b="1" dirty="0">
                <a:solidFill>
                  <a:srgbClr val="3333FF">
                    <a:lumMod val="75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en-US" altLang="zh-CN" sz="2400" b="1" dirty="0">
                <a:solidFill>
                  <a:srgbClr val="3333FF">
                    <a:lumMod val="75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en-US" altLang="zh-CN" sz="2400" b="1" dirty="0">
                <a:solidFill>
                  <a:srgbClr val="3333FF">
                    <a:lumMod val="75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zh-CN" altLang="en-US" sz="2400" b="1" dirty="0">
                <a:solidFill>
                  <a:srgbClr val="3333FF">
                    <a:lumMod val="75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zh-CN" altLang="en-US" sz="2400" b="1" dirty="0">
                <a:solidFill>
                  <a:srgbClr val="3333FF">
                    <a:lumMod val="75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en-US" altLang="zh-CN" sz="2400" b="1" dirty="0">
                <a:solidFill>
                  <a:srgbClr val="3333FF">
                    <a:lumMod val="75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en-US" altLang="zh-CN" sz="2400" b="1" dirty="0">
                <a:solidFill>
                  <a:srgbClr val="3333FF">
                    <a:lumMod val="75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zh-CN" altLang="en-US" sz="2400" b="1" dirty="0">
                <a:solidFill>
                  <a:srgbClr val="3333FF">
                    <a:lumMod val="75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zh-CN" altLang="en-US" sz="2400" b="1" dirty="0">
                <a:solidFill>
                  <a:srgbClr val="3333FF">
                    <a:lumMod val="75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zh-CN" altLang="en-US" sz="2400" b="1" dirty="0">
                <a:solidFill>
                  <a:srgbClr val="3333FF">
                    <a:lumMod val="75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＜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＞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!</a:t>
            </a:r>
            <a:endParaRPr kumimoji="1"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&lt;doubleword&gt;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∷= 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＞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＜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!=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==</a:t>
            </a:r>
            <a:endParaRPr kumimoji="1"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&lt;commend_first&gt;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∷= 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</a:t>
            </a:r>
            <a:endParaRPr kumimoji="1"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&lt;commend_last&gt;∷=  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*/ </a:t>
            </a:r>
            <a:endParaRPr kumimoji="1"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39331" y="0"/>
            <a:ext cx="928687" cy="4985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SzPct val="75000"/>
              <a:defRPr/>
            </a:pPr>
            <a:r>
              <a:rPr kumimoji="1" lang="en-US" altLang="zh-CN" sz="2400" b="1" dirty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</a:rPr>
              <a:t>P33</a:t>
            </a:r>
            <a:endParaRPr kumimoji="1" lang="zh-CN" altLang="en-US" sz="2400" b="1" dirty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9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377488" y="6567515"/>
            <a:ext cx="290512" cy="274637"/>
          </a:xfrm>
          <a:prstGeom prst="actionButtonForwardNext">
            <a:avLst/>
          </a:prstGeom>
          <a:solidFill>
            <a:schemeClr val="tx1">
              <a:lumMod val="95000"/>
            </a:schemeClr>
          </a:solidFill>
          <a:ln w="9525">
            <a:solidFill>
              <a:schemeClr val="tx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6699FF"/>
              </a:buClr>
              <a:buNone/>
              <a:defRPr/>
            </a:pP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9836149" y="-15874"/>
            <a:ext cx="831851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P33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825" y="122051"/>
            <a:ext cx="8392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词法分析  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TEST</a:t>
            </a:r>
            <a:r>
              <a:rPr lang="zh-CN" altLang="en-US" sz="2800" b="1" dirty="0">
                <a:solidFill>
                  <a:srgbClr val="0070C0"/>
                </a:solidFill>
              </a:rPr>
              <a:t>语言的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词法规则</a:t>
            </a:r>
            <a:endParaRPr kumimoji="1" lang="zh-CN" altLang="en-US" sz="28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902704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28679" name="Rectangle 5"/>
          <p:cNvSpPr>
            <a:spLocks noChangeArrowheads="1"/>
          </p:cNvSpPr>
          <p:nvPr/>
        </p:nvSpPr>
        <p:spPr bwMode="auto">
          <a:xfrm>
            <a:off x="2062480" y="1541145"/>
            <a:ext cx="8251825" cy="4408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lnSpc>
                <a:spcPct val="90000"/>
              </a:lnSpc>
              <a:buClrTx/>
              <a:buSzPct val="80000"/>
              <a:buFontTx/>
              <a:buBlip>
                <a:blip r:embed="rId1"/>
              </a:buBlip>
            </a:pPr>
            <a:endParaRPr lang="zh-CN" altLang="zh-CN" sz="2800"/>
          </a:p>
        </p:txBody>
      </p:sp>
      <p:sp>
        <p:nvSpPr>
          <p:cNvPr id="74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68092" y="1541145"/>
            <a:ext cx="8999855" cy="3850640"/>
          </a:xfrm>
          <a:solidFill>
            <a:schemeClr val="tx1">
              <a:lumMod val="85000"/>
            </a:schemeClr>
          </a:solidFill>
          <a:ln>
            <a:solidFill>
              <a:schemeClr val="tx1">
                <a:lumMod val="75000"/>
              </a:schemeClr>
            </a:solidFill>
          </a:ln>
        </p:spPr>
        <p:txBody>
          <a:bodyPr/>
          <a:lstStyle/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b="1" dirty="0" smtClean="0">
                <a:solidFill>
                  <a:schemeClr val="accent3">
                    <a:lumMod val="50000"/>
                  </a:schemeClr>
                </a:solidFill>
                <a:effectLst/>
                <a:sym typeface="Wingdings 2" panose="05020102010507070707" charset="0"/>
              </a:rPr>
              <a:t></a:t>
            </a:r>
            <a:r>
              <a:rPr lang="zh-CN" altLang="en-US" b="1" dirty="0" smtClean="0">
                <a:solidFill>
                  <a:schemeClr val="bg2"/>
                </a:solidFill>
                <a:effectLst/>
                <a:sym typeface="+mn-ea"/>
              </a:rPr>
              <a:t>输入：源文件字符序列</a:t>
            </a:r>
            <a:endParaRPr lang="zh-CN" altLang="en-US" b="1" dirty="0" smtClean="0">
              <a:solidFill>
                <a:schemeClr val="bg2"/>
              </a:solidFill>
              <a:effectLst/>
              <a:sym typeface="+mn-ea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b="1" dirty="0" smtClean="0">
                <a:solidFill>
                  <a:schemeClr val="accent3">
                    <a:lumMod val="50000"/>
                  </a:schemeClr>
                </a:solidFill>
                <a:effectLst/>
                <a:sym typeface="Wingdings 2" panose="05020102010507070707" charset="0"/>
              </a:rPr>
              <a:t></a:t>
            </a:r>
            <a:r>
              <a:rPr lang="zh-CN" altLang="en-US" b="1" dirty="0" smtClean="0">
                <a:solidFill>
                  <a:schemeClr val="bg2"/>
                </a:solidFill>
                <a:effectLst/>
              </a:rPr>
              <a:t>任务：识别单词符号；滤掉空格、注释等</a:t>
            </a:r>
            <a:endParaRPr lang="zh-CN" altLang="en-US" b="1" dirty="0" smtClean="0">
              <a:solidFill>
                <a:schemeClr val="bg2"/>
              </a:solidFill>
              <a:effectLst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b="1" dirty="0" smtClean="0">
                <a:solidFill>
                  <a:schemeClr val="accent3">
                    <a:lumMod val="50000"/>
                  </a:schemeClr>
                </a:solidFill>
                <a:effectLst/>
                <a:sym typeface="Wingdings 2" panose="05020102010507070707" charset="0"/>
              </a:rPr>
              <a:t></a:t>
            </a:r>
            <a:r>
              <a:rPr lang="zh-CN" altLang="en-US" b="1" dirty="0" smtClean="0">
                <a:solidFill>
                  <a:schemeClr val="bg2"/>
                </a:solidFill>
                <a:effectLst/>
              </a:rPr>
              <a:t>依据：</a:t>
            </a:r>
            <a:r>
              <a:rPr lang="en-US" altLang="zh-CN" b="1" dirty="0" smtClean="0">
                <a:solidFill>
                  <a:schemeClr val="bg2"/>
                </a:solidFill>
                <a:effectLst/>
              </a:rPr>
              <a:t>TEST</a:t>
            </a:r>
            <a:r>
              <a:rPr lang="zh-CN" altLang="en-US" b="1" dirty="0" smtClean="0">
                <a:solidFill>
                  <a:schemeClr val="bg2"/>
                </a:solidFill>
                <a:effectLst/>
              </a:rPr>
              <a:t>语言的词法规则</a:t>
            </a:r>
            <a:r>
              <a:rPr lang="en-US" altLang="zh-CN" b="1" dirty="0" smtClean="0">
                <a:solidFill>
                  <a:schemeClr val="bg2"/>
                </a:solidFill>
                <a:effectLst/>
              </a:rPr>
              <a:t>(</a:t>
            </a:r>
            <a:r>
              <a:rPr lang="zh-CN" altLang="en-US" sz="2400" b="1" dirty="0" smtClean="0">
                <a:solidFill>
                  <a:schemeClr val="bg2"/>
                </a:solidFill>
                <a:effectLst/>
              </a:rPr>
              <a:t>描述源语言词法的机制是正则表达式，识别机制是有穷自动机</a:t>
            </a:r>
            <a:r>
              <a:rPr lang="en-US" altLang="zh-CN" b="1" dirty="0" smtClean="0">
                <a:solidFill>
                  <a:schemeClr val="bg2"/>
                </a:solidFill>
                <a:effectLst/>
              </a:rPr>
              <a:t>)</a:t>
            </a:r>
            <a:endParaRPr lang="zh-CN" altLang="en-US" b="1" dirty="0" smtClean="0">
              <a:solidFill>
                <a:schemeClr val="bg2"/>
              </a:solidFill>
              <a:effectLst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b="1" dirty="0" smtClean="0">
                <a:solidFill>
                  <a:schemeClr val="accent3">
                    <a:lumMod val="50000"/>
                  </a:schemeClr>
                </a:solidFill>
                <a:effectLst/>
                <a:sym typeface="Wingdings 2" panose="05020102010507070707" charset="0"/>
              </a:rPr>
              <a:t></a:t>
            </a:r>
            <a:r>
              <a:rPr lang="zh-CN" altLang="en-US" b="1" dirty="0" smtClean="0">
                <a:solidFill>
                  <a:schemeClr val="bg2"/>
                </a:solidFill>
                <a:effectLst/>
              </a:rPr>
              <a:t>输出：字符流（单词）</a:t>
            </a:r>
            <a:endParaRPr lang="zh-CN" altLang="en-US" b="1" dirty="0" smtClean="0">
              <a:solidFill>
                <a:schemeClr val="bg2"/>
              </a:solidFill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9825" y="122051"/>
            <a:ext cx="8392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 smtClean="0">
                <a:solidFill>
                  <a:srgbClr val="0070C0"/>
                </a:solidFill>
                <a:ea typeface="宋体" panose="02010600030101010101" pitchFamily="2" charset="-122"/>
              </a:rPr>
              <a:t>词法分析  </a:t>
            </a:r>
            <a:r>
              <a:rPr kumimoji="1" lang="en-US" altLang="zh-CN" sz="2800" b="1" dirty="0" smtClean="0">
                <a:solidFill>
                  <a:srgbClr val="0070C0"/>
                </a:solidFill>
                <a:ea typeface="宋体" panose="02010600030101010101" pitchFamily="2" charset="-122"/>
              </a:rPr>
              <a:t>TEST</a:t>
            </a:r>
            <a:r>
              <a:rPr kumimoji="1" lang="zh-CN" altLang="en-US" sz="2800" b="1" dirty="0">
                <a:solidFill>
                  <a:srgbClr val="0070C0"/>
                </a:solidFill>
                <a:ea typeface="宋体" panose="02010600030101010101" pitchFamily="2" charset="-122"/>
              </a:rPr>
              <a:t>语言的词法分析程序</a:t>
            </a:r>
            <a:r>
              <a:rPr kumimoji="1" lang="zh-CN" altLang="en-US" sz="2800" b="1" dirty="0" smtClean="0">
                <a:solidFill>
                  <a:srgbClr val="0070C0"/>
                </a:solidFill>
                <a:ea typeface="宋体" panose="02010600030101010101" pitchFamily="2" charset="-122"/>
              </a:rPr>
              <a:t>的设计</a:t>
            </a:r>
            <a:endParaRPr kumimoji="1" lang="zh-CN" altLang="en-US" sz="2800" b="1" dirty="0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379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1D17D05-D258-45E2-93B0-76462ABA2EFC}" type="datetime1">
              <a:rPr kumimoji="1" lang="zh-CN" altLang="en-US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</a:rPr>
            </a:fld>
            <a:endParaRPr kumimoji="1" lang="en-US" altLang="zh-CN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C7960760-F287-4666-8933-01F83F2BFF08}" type="slidenum">
              <a:rPr lang="en-US" altLang="zh-CN" sz="1400">
                <a:solidFill>
                  <a:srgbClr val="FFFFFF"/>
                </a:solidFill>
              </a:rPr>
            </a:fld>
            <a:endParaRPr lang="en-US" altLang="zh-CN" sz="1400">
              <a:solidFill>
                <a:srgbClr val="FFFFFF"/>
              </a:solidFill>
            </a:endParaRPr>
          </a:p>
        </p:txBody>
      </p:sp>
      <p:sp>
        <p:nvSpPr>
          <p:cNvPr id="51204" name="Text Box 6"/>
          <p:cNvSpPr txBox="1">
            <a:spLocks noChangeArrowheads="1"/>
          </p:cNvSpPr>
          <p:nvPr/>
        </p:nvSpPr>
        <p:spPr bwMode="auto">
          <a:xfrm>
            <a:off x="1946291" y="1530906"/>
            <a:ext cx="3779839" cy="212365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{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 </a:t>
            </a:r>
            <a:r>
              <a:rPr lang="en-US" altLang="zh-CN" sz="2400" b="1" dirty="0" err="1">
                <a:solidFill>
                  <a:srgbClr val="000000"/>
                </a:solidFill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</a:rPr>
              <a:t> name;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</a:rPr>
              <a:t>name=10</a:t>
            </a:r>
            <a:r>
              <a:rPr lang="zh-CN" altLang="en-US" sz="2400" b="1" dirty="0">
                <a:solidFill>
                  <a:srgbClr val="000000"/>
                </a:solidFill>
              </a:rPr>
              <a:t>；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}</a:t>
            </a:r>
            <a:endParaRPr lang="en-US" altLang="zh-CN" sz="2400" b="1" dirty="0">
              <a:solidFill>
                <a:srgbClr val="0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15041" y="1530915"/>
            <a:ext cx="3673475" cy="526297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{           {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int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ID         name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;            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ID         name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=           =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NUM   10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;            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}           }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84365" y="865373"/>
            <a:ext cx="8112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词法分析程序的输出：二元组；形式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1" lang="zh-CN" altLang="en-US" sz="3200" b="1" dirty="0" smtClean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单词类别   单词值</a:t>
            </a:r>
            <a:endParaRPr kumimoji="1" lang="zh-CN" altLang="en-US" sz="32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9825" y="122051"/>
            <a:ext cx="8392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40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词法分析</a:t>
            </a:r>
            <a:r>
              <a:rPr kumimoji="1" lang="zh-CN" altLang="en-US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 </a:t>
            </a:r>
            <a:r>
              <a:rPr kumimoji="1" lang="en-US" altLang="zh-CN" sz="2800" b="1" dirty="0" smtClean="0">
                <a:solidFill>
                  <a:srgbClr val="0070C0"/>
                </a:solidFill>
                <a:ea typeface="宋体" panose="02010600030101010101" pitchFamily="2" charset="-122"/>
              </a:rPr>
              <a:t>TEST</a:t>
            </a:r>
            <a:r>
              <a:rPr kumimoji="1" lang="zh-CN" altLang="en-US" sz="2800" b="1" dirty="0" smtClean="0">
                <a:solidFill>
                  <a:srgbClr val="0070C0"/>
                </a:solidFill>
                <a:ea typeface="宋体" panose="02010600030101010101" pitchFamily="2" charset="-122"/>
              </a:rPr>
              <a:t>语言词法分析</a:t>
            </a:r>
            <a:r>
              <a:rPr kumimoji="1" lang="zh-CN" altLang="en-US" sz="2800" b="1" dirty="0">
                <a:solidFill>
                  <a:srgbClr val="0070C0"/>
                </a:solidFill>
                <a:ea typeface="宋体" panose="02010600030101010101" pitchFamily="2" charset="-122"/>
              </a:rPr>
              <a:t>输出结果示例</a:t>
            </a:r>
            <a:endParaRPr kumimoji="1" lang="zh-CN" altLang="en-US" sz="2800" b="1" dirty="0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0" y="784623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graphicFrame>
        <p:nvGraphicFramePr>
          <p:cNvPr id="448589" name="Group 7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316889" y="1851295"/>
          <a:ext cx="3954146" cy="4064000"/>
        </p:xfrm>
        <a:graphic>
          <a:graphicData uri="http://schemas.openxmlformats.org/drawingml/2006/table">
            <a:tbl>
              <a:tblPr/>
              <a:tblGrid>
                <a:gridCol w="1223963"/>
                <a:gridCol w="1223963"/>
                <a:gridCol w="1506220"/>
              </a:tblGrid>
              <a:tr h="508000"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单词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整数类码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单词记号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NUM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buClr>
                          <a:schemeClr val="tx2"/>
                        </a:buCl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buClr>
                          <a:schemeClr val="tx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NUM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48563" name="Text Box 51"/>
          <p:cNvSpPr txBox="1">
            <a:spLocks noChangeArrowheads="1"/>
          </p:cNvSpPr>
          <p:nvPr/>
        </p:nvSpPr>
        <p:spPr bwMode="auto">
          <a:xfrm>
            <a:off x="4547625" y="6079123"/>
            <a:ext cx="3529012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1600" dirty="0">
                <a:solidFill>
                  <a:schemeClr val="bg2"/>
                </a:solidFill>
                <a:ea typeface="宋体" panose="02010600030101010101" pitchFamily="2" charset="-122"/>
              </a:rPr>
              <a:t>表</a:t>
            </a:r>
            <a:r>
              <a:rPr kumimoji="1" lang="en-US" altLang="zh-CN" sz="1600" dirty="0">
                <a:solidFill>
                  <a:schemeClr val="bg2"/>
                </a:solidFill>
                <a:ea typeface="宋体" panose="02010600030101010101" pitchFamily="2" charset="-122"/>
              </a:rPr>
              <a:t>1-1   </a:t>
            </a:r>
            <a:r>
              <a:rPr kumimoji="1" lang="zh-CN" altLang="en-US" sz="1600" dirty="0">
                <a:solidFill>
                  <a:schemeClr val="bg2"/>
                </a:solidFill>
                <a:ea typeface="宋体" panose="02010600030101010101" pitchFamily="2" charset="-122"/>
              </a:rPr>
              <a:t>单词的类别值</a:t>
            </a:r>
            <a:endParaRPr kumimoji="1" lang="zh-CN" altLang="en-US" sz="1600" dirty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9436" name="Rectangle 53"/>
          <p:cNvSpPr>
            <a:spLocks noChangeArrowheads="1"/>
          </p:cNvSpPr>
          <p:nvPr/>
        </p:nvSpPr>
        <p:spPr bwMode="auto">
          <a:xfrm>
            <a:off x="1290551" y="2779543"/>
            <a:ext cx="2037737" cy="584775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dirty="0">
                <a:solidFill>
                  <a:schemeClr val="bg2"/>
                </a:solidFill>
                <a:ea typeface="楷体_GB2312" pitchFamily="49" charset="-122"/>
              </a:rPr>
              <a:t>a=10+c*20</a:t>
            </a:r>
            <a:endParaRPr lang="en-US" altLang="zh-CN" dirty="0">
              <a:solidFill>
                <a:schemeClr val="bg2"/>
              </a:solidFill>
              <a:ea typeface="楷体_GB2312" pitchFamily="49" charset="-122"/>
            </a:endParaRPr>
          </a:p>
        </p:txBody>
      </p:sp>
      <p:sp>
        <p:nvSpPr>
          <p:cNvPr id="59437" name="Rectangle 54"/>
          <p:cNvSpPr>
            <a:spLocks noChangeArrowheads="1"/>
          </p:cNvSpPr>
          <p:nvPr/>
        </p:nvSpPr>
        <p:spPr bwMode="auto">
          <a:xfrm>
            <a:off x="289825" y="989968"/>
            <a:ext cx="6290183" cy="528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Clr>
                <a:schemeClr val="folHlink"/>
              </a:buClr>
              <a:buFont typeface="Monotype Sort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楷体_GB2312" pitchFamily="49" charset="-122"/>
              </a:rPr>
              <a:t>单词类别：用整数类码或单词记号表示</a:t>
            </a:r>
            <a:endParaRPr lang="zh-CN" altLang="en-US" sz="2800" dirty="0">
              <a:solidFill>
                <a:schemeClr val="bg2"/>
              </a:solidFill>
              <a:ea typeface="楷体_GB2312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9825" y="122051"/>
            <a:ext cx="8392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40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词法分析</a:t>
            </a:r>
            <a:r>
              <a:rPr kumimoji="1" lang="zh-CN" altLang="en-US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 </a:t>
            </a:r>
            <a:r>
              <a:rPr kumimoji="1" lang="en-US" altLang="zh-CN" sz="2800" b="1" dirty="0" smtClean="0">
                <a:solidFill>
                  <a:srgbClr val="0070C0"/>
                </a:solidFill>
                <a:ea typeface="宋体" panose="02010600030101010101" pitchFamily="2" charset="-122"/>
              </a:rPr>
              <a:t>TEST</a:t>
            </a:r>
            <a:r>
              <a:rPr kumimoji="1" lang="zh-CN" altLang="en-US" sz="2800" b="1" dirty="0" smtClean="0">
                <a:solidFill>
                  <a:srgbClr val="0070C0"/>
                </a:solidFill>
                <a:ea typeface="宋体" panose="02010600030101010101" pitchFamily="2" charset="-122"/>
              </a:rPr>
              <a:t>语言词法分析</a:t>
            </a:r>
            <a:r>
              <a:rPr kumimoji="1" lang="zh-CN" altLang="en-US" sz="2800" b="1" dirty="0">
                <a:solidFill>
                  <a:srgbClr val="0070C0"/>
                </a:solidFill>
                <a:ea typeface="宋体" panose="02010600030101010101" pitchFamily="2" charset="-122"/>
              </a:rPr>
              <a:t>输出结果示例</a:t>
            </a:r>
            <a:endParaRPr kumimoji="1" lang="zh-CN" altLang="en-US" sz="2800" b="1" dirty="0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0" y="784623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5"/>
          <p:cNvSpPr txBox="1">
            <a:spLocks noChangeArrowheads="1"/>
          </p:cNvSpPr>
          <p:nvPr/>
        </p:nvSpPr>
        <p:spPr bwMode="auto">
          <a:xfrm>
            <a:off x="289825" y="826648"/>
            <a:ext cx="9144000" cy="46166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[</a:t>
            </a:r>
            <a:r>
              <a:rPr lang="zh-CN" altLang="en-US" sz="2400" dirty="0" smtClean="0">
                <a:solidFill>
                  <a:srgbClr val="000000"/>
                </a:solidFill>
              </a:rPr>
              <a:t>例</a:t>
            </a:r>
            <a:r>
              <a:rPr lang="en-US" altLang="zh-CN" sz="2400" dirty="0" smtClean="0">
                <a:solidFill>
                  <a:srgbClr val="000000"/>
                </a:solidFill>
              </a:rPr>
              <a:t>] </a:t>
            </a:r>
            <a:r>
              <a:rPr lang="zh-CN" altLang="en-US" sz="2400" dirty="0">
                <a:solidFill>
                  <a:srgbClr val="000000"/>
                </a:solidFill>
              </a:rPr>
              <a:t>输入文件</a:t>
            </a:r>
            <a:r>
              <a:rPr lang="en-US" altLang="zh-CN" sz="2400" dirty="0">
                <a:solidFill>
                  <a:srgbClr val="000000"/>
                </a:solidFill>
              </a:rPr>
              <a:t>if1.txt </a:t>
            </a:r>
            <a:r>
              <a:rPr lang="zh-CN" altLang="en-US" sz="2400" dirty="0">
                <a:solidFill>
                  <a:srgbClr val="000000"/>
                </a:solidFill>
              </a:rPr>
              <a:t>，运行词法分析</a:t>
            </a:r>
            <a:r>
              <a:rPr lang="zh-CN" altLang="en-US" sz="2400" dirty="0" smtClean="0">
                <a:solidFill>
                  <a:srgbClr val="000000"/>
                </a:solidFill>
              </a:rPr>
              <a:t>程序，输出</a:t>
            </a:r>
            <a:r>
              <a:rPr lang="zh-CN" altLang="en-US" sz="2400" dirty="0">
                <a:solidFill>
                  <a:srgbClr val="000000"/>
                </a:solidFill>
              </a:rPr>
              <a:t>结果。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930825" name="AutoShape 9"/>
          <p:cNvSpPr>
            <a:spLocks noChangeArrowheads="1"/>
          </p:cNvSpPr>
          <p:nvPr/>
        </p:nvSpPr>
        <p:spPr bwMode="auto">
          <a:xfrm>
            <a:off x="4717843" y="3025775"/>
            <a:ext cx="1582737" cy="288925"/>
          </a:xfrm>
          <a:prstGeom prst="rightArrow">
            <a:avLst>
              <a:gd name="adj1" fmla="val 50000"/>
              <a:gd name="adj2" fmla="val 136951"/>
            </a:avLst>
          </a:prstGeom>
          <a:solidFill>
            <a:schemeClr val="tx1">
              <a:lumMod val="6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rgbClr val="6699FF"/>
              </a:buClr>
              <a:buSzPct val="75000"/>
              <a:buFont typeface="Monotype Sorts" pitchFamily="2" charset="2"/>
              <a:buNone/>
              <a:defRPr/>
            </a:pPr>
            <a:endParaRPr lang="zh-CN" altLang="en-US" sz="280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7893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4" y="2133600"/>
            <a:ext cx="2066925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335" y="1288313"/>
            <a:ext cx="1589088" cy="574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377488" y="6567515"/>
            <a:ext cx="290512" cy="274637"/>
          </a:xfrm>
          <a:prstGeom prst="actionButtonForwardNext">
            <a:avLst/>
          </a:prstGeom>
          <a:solidFill>
            <a:schemeClr val="tx1">
              <a:lumMod val="95000"/>
            </a:schemeClr>
          </a:solidFill>
          <a:ln w="9525">
            <a:solidFill>
              <a:schemeClr val="tx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rgbClr val="6699FF"/>
              </a:buClr>
              <a:buFont typeface="Monotype Sorts" pitchFamily="2" charset="2"/>
              <a:buNone/>
              <a:defRPr/>
            </a:pP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9825" y="122051"/>
            <a:ext cx="839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词法分析</a:t>
            </a:r>
            <a:r>
              <a:rPr kumimoji="1" lang="en-US" altLang="zh-CN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kumimoji="1" lang="en-US" altLang="zh-CN" sz="2400" b="1" dirty="0">
                <a:solidFill>
                  <a:srgbClr val="0070C0"/>
                </a:solidFill>
                <a:ea typeface="宋体" panose="02010600030101010101" pitchFamily="2" charset="-122"/>
              </a:rPr>
              <a:t>TEST</a:t>
            </a:r>
            <a:r>
              <a:rPr kumimoji="1" lang="zh-CN" altLang="en-US" sz="2400" b="1" dirty="0" smtClean="0">
                <a:solidFill>
                  <a:srgbClr val="0070C0"/>
                </a:solidFill>
                <a:ea typeface="宋体" panose="02010600030101010101" pitchFamily="2" charset="-122"/>
              </a:rPr>
              <a:t>语言词法分析</a:t>
            </a:r>
            <a:r>
              <a:rPr kumimoji="1" lang="zh-CN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输出结果示例</a:t>
            </a:r>
            <a:endParaRPr kumimoji="1" lang="zh-CN" altLang="en-US" sz="2400" b="1" dirty="0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784623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825" grpId="0" bldLvl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51868" y="2083163"/>
            <a:ext cx="10776858" cy="1643190"/>
          </a:xfrm>
          <a:prstGeom prst="rect">
            <a:avLst/>
          </a:prstGeom>
          <a:solidFill>
            <a:srgbClr val="F8F8F8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Monotype Sorts" pitchFamily="2" charset="2"/>
              <a:buNone/>
              <a:defRPr/>
            </a:pP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DFA M=( Q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，∑，</a:t>
            </a: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q</a:t>
            </a:r>
            <a:r>
              <a:rPr lang="en-US" altLang="zh-CN" sz="2800" kern="0" baseline="-25000" dirty="0" smtClean="0">
                <a:solidFill>
                  <a:schemeClr val="bg2"/>
                </a:solidFill>
                <a:effectLst/>
              </a:rPr>
              <a:t>0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，</a:t>
            </a:r>
            <a:r>
              <a:rPr lang="en-US" altLang="zh-CN" sz="2800" kern="0" dirty="0" smtClean="0">
                <a:solidFill>
                  <a:srgbClr val="FF3F3F"/>
                </a:solidFill>
                <a:effectLst/>
              </a:rPr>
              <a:t>F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，</a:t>
            </a: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δ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）</a:t>
            </a:r>
            <a:endParaRPr lang="en-US" altLang="zh-CN" sz="2800" kern="0" dirty="0" smtClean="0">
              <a:solidFill>
                <a:schemeClr val="bg2"/>
              </a:solidFill>
              <a:effectLst/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zh-CN" sz="2800" kern="0" dirty="0" smtClean="0">
              <a:solidFill>
                <a:schemeClr val="bg2"/>
              </a:solidFill>
              <a:effectLst/>
            </a:endParaRPr>
          </a:p>
          <a:p>
            <a:pPr>
              <a:buNone/>
              <a:defRPr/>
            </a:pP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 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确定  状态</a:t>
            </a:r>
            <a:r>
              <a:rPr lang="zh-CN" altLang="en-US" sz="2800" kern="0" dirty="0">
                <a:solidFill>
                  <a:schemeClr val="bg2"/>
                </a:solidFill>
                <a:effectLst/>
              </a:rPr>
              <a:t>集合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、</a:t>
            </a:r>
            <a:r>
              <a:rPr lang="zh-CN" altLang="en-US" sz="2800" kern="0" dirty="0">
                <a:solidFill>
                  <a:schemeClr val="bg2"/>
                </a:solidFill>
                <a:effectLst/>
              </a:rPr>
              <a:t>输入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符号集、初始状态唯一、结束状态、转换函数</a:t>
            </a:r>
            <a:endParaRPr lang="en-US" altLang="zh-CN" sz="2400" kern="0" dirty="0" smtClean="0">
              <a:solidFill>
                <a:schemeClr val="bg2"/>
              </a:solidFill>
              <a:effectLst/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304690" y="150495"/>
            <a:ext cx="5679900" cy="79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词法分析</a:t>
            </a:r>
            <a:endParaRPr lang="zh-CN" altLang="en-US" sz="4000" b="1" kern="1200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29210" y="915670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 bwMode="auto">
          <a:xfrm>
            <a:off x="5697028" y="1354932"/>
            <a:ext cx="502169" cy="520254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345456" y="1415260"/>
            <a:ext cx="1944216" cy="459953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identifier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7171426" y="2621614"/>
            <a:ext cx="3009343" cy="1645568"/>
          </a:xfrm>
          <a:custGeom>
            <a:avLst/>
            <a:gdLst>
              <a:gd name="connsiteX0" fmla="*/ 1195754 w 3009343"/>
              <a:gd name="connsiteY0" fmla="*/ 1169377 h 1645568"/>
              <a:gd name="connsiteX1" fmla="*/ 2839916 w 3009343"/>
              <a:gd name="connsiteY1" fmla="*/ 1046284 h 1645568"/>
              <a:gd name="connsiteX2" fmla="*/ 2708031 w 3009343"/>
              <a:gd name="connsiteY2" fmla="*/ 1397977 h 1645568"/>
              <a:gd name="connsiteX3" fmla="*/ 2963008 w 3009343"/>
              <a:gd name="connsiteY3" fmla="*/ 1547446 h 1645568"/>
              <a:gd name="connsiteX4" fmla="*/ 1608993 w 3009343"/>
              <a:gd name="connsiteY4" fmla="*/ 1626577 h 1645568"/>
              <a:gd name="connsiteX5" fmla="*/ 1415562 w 3009343"/>
              <a:gd name="connsiteY5" fmla="*/ 1626577 h 1645568"/>
              <a:gd name="connsiteX6" fmla="*/ 1600200 w 3009343"/>
              <a:gd name="connsiteY6" fmla="*/ 1415561 h 1645568"/>
              <a:gd name="connsiteX7" fmla="*/ 0 w 3009343"/>
              <a:gd name="connsiteY7" fmla="*/ 0 h 164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09343" h="1645568">
                <a:moveTo>
                  <a:pt x="1195754" y="1169377"/>
                </a:moveTo>
                <a:cubicBezTo>
                  <a:pt x="1891812" y="1088780"/>
                  <a:pt x="2587870" y="1008184"/>
                  <a:pt x="2839916" y="1046284"/>
                </a:cubicBezTo>
                <a:cubicBezTo>
                  <a:pt x="3091962" y="1084384"/>
                  <a:pt x="2687516" y="1314450"/>
                  <a:pt x="2708031" y="1397977"/>
                </a:cubicBezTo>
                <a:cubicBezTo>
                  <a:pt x="2728546" y="1481504"/>
                  <a:pt x="3146181" y="1509346"/>
                  <a:pt x="2963008" y="1547446"/>
                </a:cubicBezTo>
                <a:cubicBezTo>
                  <a:pt x="2779835" y="1585546"/>
                  <a:pt x="1866901" y="1613389"/>
                  <a:pt x="1608993" y="1626577"/>
                </a:cubicBezTo>
                <a:cubicBezTo>
                  <a:pt x="1351085" y="1639765"/>
                  <a:pt x="1417027" y="1661746"/>
                  <a:pt x="1415562" y="1626577"/>
                </a:cubicBezTo>
                <a:cubicBezTo>
                  <a:pt x="1414097" y="1591408"/>
                  <a:pt x="1836127" y="1686657"/>
                  <a:pt x="1600200" y="1415561"/>
                </a:cubicBezTo>
                <a:cubicBezTo>
                  <a:pt x="1364273" y="1144465"/>
                  <a:pt x="682136" y="572232"/>
                  <a:pt x="0" y="0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5149195" y="3975032"/>
            <a:ext cx="2689855" cy="351147"/>
          </a:xfrm>
          <a:custGeom>
            <a:avLst/>
            <a:gdLst>
              <a:gd name="connsiteX0" fmla="*/ 0 w 2689855"/>
              <a:gd name="connsiteY0" fmla="*/ 62170 h 351147"/>
              <a:gd name="connsiteX1" fmla="*/ 2031023 w 2689855"/>
              <a:gd name="connsiteY1" fmla="*/ 18209 h 351147"/>
              <a:gd name="connsiteX2" fmla="*/ 2646484 w 2689855"/>
              <a:gd name="connsiteY2" fmla="*/ 325940 h 351147"/>
              <a:gd name="connsiteX3" fmla="*/ 2637692 w 2689855"/>
              <a:gd name="connsiteY3" fmla="*/ 334732 h 351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9855" h="351147">
                <a:moveTo>
                  <a:pt x="0" y="62170"/>
                </a:moveTo>
                <a:cubicBezTo>
                  <a:pt x="794971" y="18208"/>
                  <a:pt x="1589942" y="-25753"/>
                  <a:pt x="2031023" y="18209"/>
                </a:cubicBezTo>
                <a:cubicBezTo>
                  <a:pt x="2472104" y="62171"/>
                  <a:pt x="2545373" y="273186"/>
                  <a:pt x="2646484" y="325940"/>
                </a:cubicBezTo>
                <a:cubicBezTo>
                  <a:pt x="2747595" y="378694"/>
                  <a:pt x="2640623" y="331801"/>
                  <a:pt x="2637692" y="334732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5448134" y="1645695"/>
            <a:ext cx="2362559" cy="2268415"/>
          </a:xfrm>
          <a:custGeom>
            <a:avLst/>
            <a:gdLst>
              <a:gd name="connsiteX0" fmla="*/ 0 w 2362559"/>
              <a:gd name="connsiteY0" fmla="*/ 2268415 h 2268415"/>
              <a:gd name="connsiteX1" fmla="*/ 1433146 w 2362559"/>
              <a:gd name="connsiteY1" fmla="*/ 2110154 h 2268415"/>
              <a:gd name="connsiteX2" fmla="*/ 298939 w 2362559"/>
              <a:gd name="connsiteY2" fmla="*/ 2118946 h 2268415"/>
              <a:gd name="connsiteX3" fmla="*/ 931985 w 2362559"/>
              <a:gd name="connsiteY3" fmla="*/ 1134207 h 2268415"/>
              <a:gd name="connsiteX4" fmla="*/ 1274885 w 2362559"/>
              <a:gd name="connsiteY4" fmla="*/ 2189284 h 2268415"/>
              <a:gd name="connsiteX5" fmla="*/ 1274885 w 2362559"/>
              <a:gd name="connsiteY5" fmla="*/ 2189284 h 2268415"/>
              <a:gd name="connsiteX6" fmla="*/ 2356339 w 2362559"/>
              <a:gd name="connsiteY6" fmla="*/ 0 h 226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2559" h="2268415">
                <a:moveTo>
                  <a:pt x="0" y="2268415"/>
                </a:moveTo>
                <a:cubicBezTo>
                  <a:pt x="691661" y="2201740"/>
                  <a:pt x="1383323" y="2135065"/>
                  <a:pt x="1433146" y="2110154"/>
                </a:cubicBezTo>
                <a:cubicBezTo>
                  <a:pt x="1482969" y="2085243"/>
                  <a:pt x="382466" y="2281604"/>
                  <a:pt x="298939" y="2118946"/>
                </a:cubicBezTo>
                <a:cubicBezTo>
                  <a:pt x="215412" y="1956288"/>
                  <a:pt x="769327" y="1122484"/>
                  <a:pt x="931985" y="1134207"/>
                </a:cubicBezTo>
                <a:cubicBezTo>
                  <a:pt x="1094643" y="1145930"/>
                  <a:pt x="1274885" y="2189284"/>
                  <a:pt x="1274885" y="2189284"/>
                </a:cubicBezTo>
                <a:lnTo>
                  <a:pt x="1274885" y="2189284"/>
                </a:lnTo>
                <a:cubicBezTo>
                  <a:pt x="1455127" y="1824403"/>
                  <a:pt x="2450124" y="772258"/>
                  <a:pt x="2356339" y="0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5" name="曲线连接符 44"/>
          <p:cNvCxnSpPr/>
          <p:nvPr/>
        </p:nvCxnSpPr>
        <p:spPr bwMode="auto">
          <a:xfrm>
            <a:off x="10137544" y="1358880"/>
            <a:ext cx="533772" cy="77961"/>
          </a:xfrm>
          <a:prstGeom prst="curvedConnector5">
            <a:avLst>
              <a:gd name="adj1" fmla="val -34591"/>
              <a:gd name="adj2" fmla="val -467878"/>
              <a:gd name="adj3" fmla="val 132944"/>
            </a:avLst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74" name="任意多边形 73"/>
          <p:cNvSpPr/>
          <p:nvPr/>
        </p:nvSpPr>
        <p:spPr>
          <a:xfrm>
            <a:off x="6397703" y="3465675"/>
            <a:ext cx="888023" cy="624254"/>
          </a:xfrm>
          <a:custGeom>
            <a:avLst/>
            <a:gdLst>
              <a:gd name="connsiteX0" fmla="*/ 0 w 888023"/>
              <a:gd name="connsiteY0" fmla="*/ 167054 h 624254"/>
              <a:gd name="connsiteX1" fmla="*/ 61547 w 888023"/>
              <a:gd name="connsiteY1" fmla="*/ 114300 h 624254"/>
              <a:gd name="connsiteX2" fmla="*/ 96716 w 888023"/>
              <a:gd name="connsiteY2" fmla="*/ 87923 h 624254"/>
              <a:gd name="connsiteX3" fmla="*/ 158262 w 888023"/>
              <a:gd name="connsiteY3" fmla="*/ 35170 h 624254"/>
              <a:gd name="connsiteX4" fmla="*/ 211016 w 888023"/>
              <a:gd name="connsiteY4" fmla="*/ 26377 h 624254"/>
              <a:gd name="connsiteX5" fmla="*/ 272562 w 888023"/>
              <a:gd name="connsiteY5" fmla="*/ 17585 h 624254"/>
              <a:gd name="connsiteX6" fmla="*/ 316523 w 888023"/>
              <a:gd name="connsiteY6" fmla="*/ 8793 h 624254"/>
              <a:gd name="connsiteX7" fmla="*/ 457200 w 888023"/>
              <a:gd name="connsiteY7" fmla="*/ 0 h 624254"/>
              <a:gd name="connsiteX8" fmla="*/ 764931 w 888023"/>
              <a:gd name="connsiteY8" fmla="*/ 8793 h 624254"/>
              <a:gd name="connsiteX9" fmla="*/ 773723 w 888023"/>
              <a:gd name="connsiteY9" fmla="*/ 35170 h 624254"/>
              <a:gd name="connsiteX10" fmla="*/ 800100 w 888023"/>
              <a:gd name="connsiteY10" fmla="*/ 61547 h 624254"/>
              <a:gd name="connsiteX11" fmla="*/ 817685 w 888023"/>
              <a:gd name="connsiteY11" fmla="*/ 114300 h 624254"/>
              <a:gd name="connsiteX12" fmla="*/ 852854 w 888023"/>
              <a:gd name="connsiteY12" fmla="*/ 193431 h 624254"/>
              <a:gd name="connsiteX13" fmla="*/ 879231 w 888023"/>
              <a:gd name="connsiteY13" fmla="*/ 342900 h 624254"/>
              <a:gd name="connsiteX14" fmla="*/ 888023 w 888023"/>
              <a:gd name="connsiteY14" fmla="*/ 378070 h 624254"/>
              <a:gd name="connsiteX15" fmla="*/ 879231 w 888023"/>
              <a:gd name="connsiteY15" fmla="*/ 624254 h 624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88023" h="624254">
                <a:moveTo>
                  <a:pt x="0" y="167054"/>
                </a:moveTo>
                <a:cubicBezTo>
                  <a:pt x="107731" y="102416"/>
                  <a:pt x="654" y="175193"/>
                  <a:pt x="61547" y="114300"/>
                </a:cubicBezTo>
                <a:cubicBezTo>
                  <a:pt x="71909" y="103938"/>
                  <a:pt x="86354" y="98285"/>
                  <a:pt x="96716" y="87923"/>
                </a:cubicBezTo>
                <a:cubicBezTo>
                  <a:pt x="132867" y="51772"/>
                  <a:pt x="90542" y="59796"/>
                  <a:pt x="158262" y="35170"/>
                </a:cubicBezTo>
                <a:cubicBezTo>
                  <a:pt x="175016" y="29078"/>
                  <a:pt x="193396" y="29088"/>
                  <a:pt x="211016" y="26377"/>
                </a:cubicBezTo>
                <a:cubicBezTo>
                  <a:pt x="231499" y="23226"/>
                  <a:pt x="252120" y="20992"/>
                  <a:pt x="272562" y="17585"/>
                </a:cubicBezTo>
                <a:cubicBezTo>
                  <a:pt x="287303" y="15128"/>
                  <a:pt x="301646" y="10210"/>
                  <a:pt x="316523" y="8793"/>
                </a:cubicBezTo>
                <a:cubicBezTo>
                  <a:pt x="363295" y="4338"/>
                  <a:pt x="410308" y="2931"/>
                  <a:pt x="457200" y="0"/>
                </a:cubicBezTo>
                <a:cubicBezTo>
                  <a:pt x="559777" y="2931"/>
                  <a:pt x="662940" y="-2540"/>
                  <a:pt x="764931" y="8793"/>
                </a:cubicBezTo>
                <a:cubicBezTo>
                  <a:pt x="774142" y="9816"/>
                  <a:pt x="768582" y="27459"/>
                  <a:pt x="773723" y="35170"/>
                </a:cubicBezTo>
                <a:cubicBezTo>
                  <a:pt x="780620" y="45516"/>
                  <a:pt x="791308" y="52755"/>
                  <a:pt x="800100" y="61547"/>
                </a:cubicBezTo>
                <a:cubicBezTo>
                  <a:pt x="805962" y="79131"/>
                  <a:pt x="809396" y="97721"/>
                  <a:pt x="817685" y="114300"/>
                </a:cubicBezTo>
                <a:cubicBezTo>
                  <a:pt x="848207" y="175343"/>
                  <a:pt x="837845" y="148403"/>
                  <a:pt x="852854" y="193431"/>
                </a:cubicBezTo>
                <a:cubicBezTo>
                  <a:pt x="864316" y="296584"/>
                  <a:pt x="855210" y="246813"/>
                  <a:pt x="879231" y="342900"/>
                </a:cubicBezTo>
                <a:lnTo>
                  <a:pt x="888023" y="378070"/>
                </a:lnTo>
                <a:cubicBezTo>
                  <a:pt x="884984" y="460127"/>
                  <a:pt x="879231" y="542140"/>
                  <a:pt x="879231" y="624254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任意多边形 74"/>
          <p:cNvSpPr/>
          <p:nvPr/>
        </p:nvSpPr>
        <p:spPr>
          <a:xfrm>
            <a:off x="6177878" y="3636840"/>
            <a:ext cx="553915" cy="831159"/>
          </a:xfrm>
          <a:custGeom>
            <a:avLst/>
            <a:gdLst>
              <a:gd name="connsiteX0" fmla="*/ 0 w 553915"/>
              <a:gd name="connsiteY0" fmla="*/ 13475 h 831159"/>
              <a:gd name="connsiteX1" fmla="*/ 263769 w 553915"/>
              <a:gd name="connsiteY1" fmla="*/ 13475 h 831159"/>
              <a:gd name="connsiteX2" fmla="*/ 369277 w 553915"/>
              <a:gd name="connsiteY2" fmla="*/ 48644 h 831159"/>
              <a:gd name="connsiteX3" fmla="*/ 404446 w 553915"/>
              <a:gd name="connsiteY3" fmla="*/ 57436 h 831159"/>
              <a:gd name="connsiteX4" fmla="*/ 465992 w 553915"/>
              <a:gd name="connsiteY4" fmla="*/ 118983 h 831159"/>
              <a:gd name="connsiteX5" fmla="*/ 509954 w 553915"/>
              <a:gd name="connsiteY5" fmla="*/ 171736 h 831159"/>
              <a:gd name="connsiteX6" fmla="*/ 527538 w 553915"/>
              <a:gd name="connsiteY6" fmla="*/ 224490 h 831159"/>
              <a:gd name="connsiteX7" fmla="*/ 545123 w 553915"/>
              <a:gd name="connsiteY7" fmla="*/ 277244 h 831159"/>
              <a:gd name="connsiteX8" fmla="*/ 553915 w 553915"/>
              <a:gd name="connsiteY8" fmla="*/ 382752 h 831159"/>
              <a:gd name="connsiteX9" fmla="*/ 545123 w 553915"/>
              <a:gd name="connsiteY9" fmla="*/ 681690 h 831159"/>
              <a:gd name="connsiteX10" fmla="*/ 536330 w 553915"/>
              <a:gd name="connsiteY10" fmla="*/ 708067 h 831159"/>
              <a:gd name="connsiteX11" fmla="*/ 518746 w 553915"/>
              <a:gd name="connsiteY11" fmla="*/ 743236 h 831159"/>
              <a:gd name="connsiteX12" fmla="*/ 483577 w 553915"/>
              <a:gd name="connsiteY12" fmla="*/ 804783 h 831159"/>
              <a:gd name="connsiteX13" fmla="*/ 422030 w 553915"/>
              <a:gd name="connsiteY13" fmla="*/ 831159 h 831159"/>
              <a:gd name="connsiteX14" fmla="*/ 272561 w 553915"/>
              <a:gd name="connsiteY14" fmla="*/ 813575 h 831159"/>
              <a:gd name="connsiteX15" fmla="*/ 237392 w 553915"/>
              <a:gd name="connsiteY15" fmla="*/ 760821 h 831159"/>
              <a:gd name="connsiteX16" fmla="*/ 211015 w 553915"/>
              <a:gd name="connsiteY16" fmla="*/ 725652 h 831159"/>
              <a:gd name="connsiteX17" fmla="*/ 184638 w 553915"/>
              <a:gd name="connsiteY17" fmla="*/ 637729 h 831159"/>
              <a:gd name="connsiteX18" fmla="*/ 167054 w 553915"/>
              <a:gd name="connsiteY18" fmla="*/ 558598 h 831159"/>
              <a:gd name="connsiteX19" fmla="*/ 158261 w 553915"/>
              <a:gd name="connsiteY19" fmla="*/ 523429 h 831159"/>
              <a:gd name="connsiteX20" fmla="*/ 140677 w 553915"/>
              <a:gd name="connsiteY20" fmla="*/ 426713 h 831159"/>
              <a:gd name="connsiteX21" fmla="*/ 131884 w 553915"/>
              <a:gd name="connsiteY21" fmla="*/ 417921 h 831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53915" h="831159">
                <a:moveTo>
                  <a:pt x="0" y="13475"/>
                </a:moveTo>
                <a:cubicBezTo>
                  <a:pt x="104523" y="-1456"/>
                  <a:pt x="118383" y="-7294"/>
                  <a:pt x="263769" y="13475"/>
                </a:cubicBezTo>
                <a:cubicBezTo>
                  <a:pt x="300468" y="18718"/>
                  <a:pt x="333893" y="37587"/>
                  <a:pt x="369277" y="48644"/>
                </a:cubicBezTo>
                <a:cubicBezTo>
                  <a:pt x="380811" y="52248"/>
                  <a:pt x="392723" y="54505"/>
                  <a:pt x="404446" y="57436"/>
                </a:cubicBezTo>
                <a:cubicBezTo>
                  <a:pt x="424961" y="77952"/>
                  <a:pt x="449898" y="94843"/>
                  <a:pt x="465992" y="118983"/>
                </a:cubicBezTo>
                <a:cubicBezTo>
                  <a:pt x="490475" y="155705"/>
                  <a:pt x="476105" y="137887"/>
                  <a:pt x="509954" y="171736"/>
                </a:cubicBezTo>
                <a:lnTo>
                  <a:pt x="527538" y="224490"/>
                </a:lnTo>
                <a:lnTo>
                  <a:pt x="545123" y="277244"/>
                </a:lnTo>
                <a:cubicBezTo>
                  <a:pt x="548054" y="312413"/>
                  <a:pt x="553915" y="347461"/>
                  <a:pt x="553915" y="382752"/>
                </a:cubicBezTo>
                <a:cubicBezTo>
                  <a:pt x="553915" y="482441"/>
                  <a:pt x="550504" y="582146"/>
                  <a:pt x="545123" y="681690"/>
                </a:cubicBezTo>
                <a:cubicBezTo>
                  <a:pt x="544623" y="690944"/>
                  <a:pt x="539981" y="699548"/>
                  <a:pt x="536330" y="708067"/>
                </a:cubicBezTo>
                <a:cubicBezTo>
                  <a:pt x="531167" y="720114"/>
                  <a:pt x="523909" y="731189"/>
                  <a:pt x="518746" y="743236"/>
                </a:cubicBezTo>
                <a:cubicBezTo>
                  <a:pt x="503657" y="778445"/>
                  <a:pt x="518144" y="770216"/>
                  <a:pt x="483577" y="804783"/>
                </a:cubicBezTo>
                <a:cubicBezTo>
                  <a:pt x="463338" y="825022"/>
                  <a:pt x="448934" y="824433"/>
                  <a:pt x="422030" y="831159"/>
                </a:cubicBezTo>
                <a:cubicBezTo>
                  <a:pt x="372207" y="825298"/>
                  <a:pt x="319441" y="831434"/>
                  <a:pt x="272561" y="813575"/>
                </a:cubicBezTo>
                <a:cubicBezTo>
                  <a:pt x="252811" y="806051"/>
                  <a:pt x="250073" y="777728"/>
                  <a:pt x="237392" y="760821"/>
                </a:cubicBezTo>
                <a:lnTo>
                  <a:pt x="211015" y="725652"/>
                </a:lnTo>
                <a:cubicBezTo>
                  <a:pt x="190749" y="644587"/>
                  <a:pt x="216749" y="744765"/>
                  <a:pt x="184638" y="637729"/>
                </a:cubicBezTo>
                <a:cubicBezTo>
                  <a:pt x="175449" y="607099"/>
                  <a:pt x="174225" y="590865"/>
                  <a:pt x="167054" y="558598"/>
                </a:cubicBezTo>
                <a:cubicBezTo>
                  <a:pt x="164433" y="546802"/>
                  <a:pt x="160631" y="535278"/>
                  <a:pt x="158261" y="523429"/>
                </a:cubicBezTo>
                <a:cubicBezTo>
                  <a:pt x="156047" y="512359"/>
                  <a:pt x="145391" y="440856"/>
                  <a:pt x="140677" y="426713"/>
                </a:cubicBezTo>
                <a:cubicBezTo>
                  <a:pt x="139366" y="422781"/>
                  <a:pt x="134815" y="420852"/>
                  <a:pt x="131884" y="417921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2" name="直接箭头连接符 131"/>
          <p:cNvCxnSpPr>
            <a:endCxn id="9" idx="2"/>
          </p:cNvCxnSpPr>
          <p:nvPr/>
        </p:nvCxnSpPr>
        <p:spPr bwMode="auto">
          <a:xfrm>
            <a:off x="6217501" y="1630134"/>
            <a:ext cx="3127957" cy="15076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7" name="任意多边形 136"/>
          <p:cNvSpPr/>
          <p:nvPr/>
        </p:nvSpPr>
        <p:spPr>
          <a:xfrm>
            <a:off x="8208916" y="3386545"/>
            <a:ext cx="1887591" cy="863172"/>
          </a:xfrm>
          <a:custGeom>
            <a:avLst/>
            <a:gdLst>
              <a:gd name="connsiteX0" fmla="*/ 0 w 1887590"/>
              <a:gd name="connsiteY0" fmla="*/ 395653 h 863172"/>
              <a:gd name="connsiteX1" fmla="*/ 1881554 w 1887590"/>
              <a:gd name="connsiteY1" fmla="*/ 852853 h 863172"/>
              <a:gd name="connsiteX2" fmla="*/ 553915 w 1887590"/>
              <a:gd name="connsiteY2" fmla="*/ 0 h 86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7590" h="863172">
                <a:moveTo>
                  <a:pt x="0" y="395653"/>
                </a:moveTo>
                <a:cubicBezTo>
                  <a:pt x="894617" y="657224"/>
                  <a:pt x="1789235" y="918795"/>
                  <a:pt x="1881554" y="852853"/>
                </a:cubicBezTo>
                <a:cubicBezTo>
                  <a:pt x="1973873" y="786911"/>
                  <a:pt x="983273" y="60081"/>
                  <a:pt x="553915" y="0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968315" y="1245558"/>
            <a:ext cx="830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letter</a:t>
            </a:r>
            <a:endParaRPr lang="zh-CN" altLang="en-US" sz="2000" dirty="0"/>
          </a:p>
        </p:txBody>
      </p:sp>
      <p:sp>
        <p:nvSpPr>
          <p:cNvPr id="140" name="TextBox 139"/>
          <p:cNvSpPr txBox="1"/>
          <p:nvPr/>
        </p:nvSpPr>
        <p:spPr>
          <a:xfrm>
            <a:off x="9003578" y="966198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Letter</a:t>
            </a:r>
            <a:r>
              <a:rPr lang="zh-CN" altLang="en-US" sz="2000" dirty="0"/>
              <a:t>、</a:t>
            </a:r>
            <a:r>
              <a:rPr lang="en-US" altLang="zh-CN" sz="2000" dirty="0"/>
              <a:t>digit</a:t>
            </a:r>
            <a:endParaRPr lang="zh-CN" altLang="en-US" sz="2000" dirty="0"/>
          </a:p>
        </p:txBody>
      </p:sp>
      <p:sp>
        <p:nvSpPr>
          <p:cNvPr id="18" name="椭圆 17"/>
          <p:cNvSpPr/>
          <p:nvPr/>
        </p:nvSpPr>
        <p:spPr bwMode="auto">
          <a:xfrm>
            <a:off x="9345140" y="2606795"/>
            <a:ext cx="1944216" cy="459953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number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9" name="曲线连接符 18"/>
          <p:cNvCxnSpPr/>
          <p:nvPr/>
        </p:nvCxnSpPr>
        <p:spPr bwMode="auto">
          <a:xfrm>
            <a:off x="10629596" y="2638338"/>
            <a:ext cx="533772" cy="77961"/>
          </a:xfrm>
          <a:prstGeom prst="curvedConnector5">
            <a:avLst>
              <a:gd name="adj1" fmla="val -34591"/>
              <a:gd name="adj2" fmla="val -467878"/>
              <a:gd name="adj3" fmla="val 132944"/>
            </a:avLst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0" name="直接箭头连接符 19"/>
          <p:cNvCxnSpPr>
            <a:endCxn id="18" idx="2"/>
          </p:cNvCxnSpPr>
          <p:nvPr/>
        </p:nvCxnSpPr>
        <p:spPr bwMode="auto">
          <a:xfrm>
            <a:off x="6217184" y="2821669"/>
            <a:ext cx="3127957" cy="15076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929426" y="2421559"/>
            <a:ext cx="830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digit</a:t>
            </a:r>
            <a:endParaRPr lang="zh-CN" alt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11019330" y="2021449"/>
            <a:ext cx="756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digit</a:t>
            </a:r>
            <a:endParaRPr lang="zh-CN" altLang="en-US" sz="2000" dirty="0"/>
          </a:p>
        </p:txBody>
      </p:sp>
      <p:sp>
        <p:nvSpPr>
          <p:cNvPr id="24" name="椭圆 23"/>
          <p:cNvSpPr/>
          <p:nvPr/>
        </p:nvSpPr>
        <p:spPr bwMode="auto">
          <a:xfrm>
            <a:off x="9294601" y="3351666"/>
            <a:ext cx="1988623" cy="459953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sz="1600" b="1" dirty="0" err="1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singleword</a:t>
            </a:r>
            <a:endParaRPr kumimoji="1" lang="zh-CN" altLang="en-US" sz="1600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直接箭头连接符 25"/>
          <p:cNvCxnSpPr>
            <a:endCxn id="24" idx="2"/>
          </p:cNvCxnSpPr>
          <p:nvPr/>
        </p:nvCxnSpPr>
        <p:spPr bwMode="auto">
          <a:xfrm>
            <a:off x="6166637" y="3566559"/>
            <a:ext cx="3127957" cy="15076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905947" y="3163232"/>
            <a:ext cx="16962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+</a:t>
            </a:r>
            <a:r>
              <a:rPr lang="zh-CN" altLang="en-US" sz="2000" dirty="0"/>
              <a:t>、</a:t>
            </a:r>
            <a:r>
              <a:rPr lang="en-US" altLang="zh-CN" sz="2000" dirty="0"/>
              <a:t>-</a:t>
            </a:r>
            <a:r>
              <a:rPr lang="zh-CN" altLang="en-US" sz="2000" dirty="0"/>
              <a:t>、</a:t>
            </a:r>
            <a:r>
              <a:rPr lang="en-US" altLang="zh-CN" sz="2000" dirty="0"/>
              <a:t>…</a:t>
            </a:r>
            <a:r>
              <a:rPr lang="zh-CN" altLang="en-US" sz="2000" dirty="0"/>
              <a:t>、：</a:t>
            </a:r>
            <a:endParaRPr lang="zh-CN" altLang="en-US" sz="2000" dirty="0"/>
          </a:p>
        </p:txBody>
      </p:sp>
      <p:sp>
        <p:nvSpPr>
          <p:cNvPr id="33" name="椭圆 32"/>
          <p:cNvSpPr/>
          <p:nvPr/>
        </p:nvSpPr>
        <p:spPr bwMode="auto">
          <a:xfrm>
            <a:off x="7806435" y="4075132"/>
            <a:ext cx="1488175" cy="459953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lang="en-US" altLang="zh-CN" sz="1200" dirty="0" err="1" smtClean="0"/>
              <a:t>firsg</a:t>
            </a:r>
            <a:endParaRPr kumimoji="1" lang="zh-CN" altLang="en-US" sz="1200" b="1" dirty="0">
              <a:solidFill>
                <a:schemeClr val="bg2"/>
              </a:solidFill>
            </a:endParaRPr>
          </a:p>
        </p:txBody>
      </p:sp>
      <p:cxnSp>
        <p:nvCxnSpPr>
          <p:cNvPr id="35" name="直接箭头连接符 34"/>
          <p:cNvCxnSpPr/>
          <p:nvPr/>
        </p:nvCxnSpPr>
        <p:spPr bwMode="auto">
          <a:xfrm>
            <a:off x="6174227" y="4307013"/>
            <a:ext cx="1610031" cy="7536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" name="直接箭头连接符 45"/>
          <p:cNvCxnSpPr/>
          <p:nvPr/>
        </p:nvCxnSpPr>
        <p:spPr bwMode="auto">
          <a:xfrm>
            <a:off x="9294605" y="4304287"/>
            <a:ext cx="501471" cy="10262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9" name="椭圆 48"/>
          <p:cNvSpPr/>
          <p:nvPr/>
        </p:nvSpPr>
        <p:spPr bwMode="auto">
          <a:xfrm>
            <a:off x="9746998" y="4091902"/>
            <a:ext cx="1564635" cy="459953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lang="en-US" altLang="zh-CN" sz="1200" dirty="0" smtClean="0"/>
              <a:t>double</a:t>
            </a:r>
            <a:endParaRPr kumimoji="1" lang="zh-CN" altLang="en-US" sz="1200" b="1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56271" y="3919745"/>
            <a:ext cx="568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lt"/>
              </a:rPr>
              <a:t>=</a:t>
            </a:r>
            <a:endParaRPr lang="zh-CN" altLang="en-US" dirty="0">
              <a:latin typeface="+mj-lt"/>
            </a:endParaRPr>
          </a:p>
        </p:txBody>
      </p:sp>
      <p:sp>
        <p:nvSpPr>
          <p:cNvPr id="54" name="椭圆 53"/>
          <p:cNvSpPr/>
          <p:nvPr/>
        </p:nvSpPr>
        <p:spPr bwMode="auto">
          <a:xfrm>
            <a:off x="7858306" y="4868125"/>
            <a:ext cx="1602107" cy="459953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lang="en-US" altLang="zh-CN" sz="1400" dirty="0"/>
              <a:t>/</a:t>
            </a:r>
            <a:endParaRPr kumimoji="1" lang="zh-CN" altLang="en-US" sz="1400" b="1" dirty="0">
              <a:solidFill>
                <a:schemeClr val="bg2"/>
              </a:solidFill>
            </a:endParaRPr>
          </a:p>
        </p:txBody>
      </p:sp>
      <p:cxnSp>
        <p:nvCxnSpPr>
          <p:cNvPr id="55" name="直接箭头连接符 54"/>
          <p:cNvCxnSpPr/>
          <p:nvPr/>
        </p:nvCxnSpPr>
        <p:spPr bwMode="auto">
          <a:xfrm>
            <a:off x="6166637" y="5090538"/>
            <a:ext cx="1667181" cy="27578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6934386" y="4718006"/>
            <a:ext cx="564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/</a:t>
            </a:r>
            <a:endParaRPr lang="zh-CN" altLang="en-US" sz="2000" dirty="0"/>
          </a:p>
        </p:txBody>
      </p:sp>
      <p:cxnSp>
        <p:nvCxnSpPr>
          <p:cNvPr id="57" name="直接箭头连接符 56"/>
          <p:cNvCxnSpPr/>
          <p:nvPr/>
        </p:nvCxnSpPr>
        <p:spPr bwMode="auto">
          <a:xfrm>
            <a:off x="9460412" y="5106073"/>
            <a:ext cx="464208" cy="0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椭圆 57"/>
          <p:cNvSpPr/>
          <p:nvPr/>
        </p:nvSpPr>
        <p:spPr bwMode="auto">
          <a:xfrm>
            <a:off x="9893884" y="4876123"/>
            <a:ext cx="1417748" cy="459953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lang="en-US" altLang="zh-CN" sz="1400" dirty="0"/>
              <a:t>/*</a:t>
            </a:r>
            <a:endParaRPr kumimoji="1" lang="zh-CN" altLang="en-US" sz="1400" b="1" dirty="0">
              <a:solidFill>
                <a:schemeClr val="bg2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61245" y="4740826"/>
            <a:ext cx="39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lt"/>
              </a:rPr>
              <a:t>*</a:t>
            </a:r>
            <a:endParaRPr lang="zh-CN" altLang="en-US" dirty="0">
              <a:latin typeface="+mj-lt"/>
            </a:endParaRPr>
          </a:p>
        </p:txBody>
      </p:sp>
      <p:sp>
        <p:nvSpPr>
          <p:cNvPr id="43" name="椭圆 42"/>
          <p:cNvSpPr/>
          <p:nvPr/>
        </p:nvSpPr>
        <p:spPr bwMode="auto">
          <a:xfrm>
            <a:off x="7858306" y="5675174"/>
            <a:ext cx="1602107" cy="459953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lang="en-US" altLang="zh-CN" sz="1400" dirty="0"/>
              <a:t>error</a:t>
            </a:r>
            <a:endParaRPr kumimoji="1" lang="zh-CN" altLang="en-US" sz="1400" b="1" dirty="0">
              <a:solidFill>
                <a:schemeClr val="bg2"/>
              </a:solidFill>
            </a:endParaRPr>
          </a:p>
        </p:txBody>
      </p:sp>
      <p:cxnSp>
        <p:nvCxnSpPr>
          <p:cNvPr id="44" name="直接箭头连接符 43"/>
          <p:cNvCxnSpPr/>
          <p:nvPr/>
        </p:nvCxnSpPr>
        <p:spPr bwMode="auto">
          <a:xfrm>
            <a:off x="6166637" y="5897587"/>
            <a:ext cx="1667181" cy="27578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直接箭头连接符 47"/>
          <p:cNvCxnSpPr/>
          <p:nvPr/>
        </p:nvCxnSpPr>
        <p:spPr bwMode="auto">
          <a:xfrm flipV="1">
            <a:off x="9460413" y="5911376"/>
            <a:ext cx="2141541" cy="1746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直接连接符 38"/>
          <p:cNvCxnSpPr>
            <a:stCxn id="8" idx="6"/>
          </p:cNvCxnSpPr>
          <p:nvPr/>
        </p:nvCxnSpPr>
        <p:spPr bwMode="auto">
          <a:xfrm flipH="1">
            <a:off x="6177889" y="1615059"/>
            <a:ext cx="21311" cy="4282528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箭头连接符 51"/>
          <p:cNvCxnSpPr>
            <a:stCxn id="9" idx="6"/>
          </p:cNvCxnSpPr>
          <p:nvPr/>
        </p:nvCxnSpPr>
        <p:spPr bwMode="auto">
          <a:xfrm>
            <a:off x="11289690" y="1645210"/>
            <a:ext cx="351351" cy="458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7" name="直接箭头连接符 66"/>
          <p:cNvCxnSpPr/>
          <p:nvPr/>
        </p:nvCxnSpPr>
        <p:spPr bwMode="auto">
          <a:xfrm>
            <a:off x="11291031" y="2836286"/>
            <a:ext cx="351351" cy="458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3" name="直接箭头连接符 72"/>
          <p:cNvCxnSpPr/>
          <p:nvPr/>
        </p:nvCxnSpPr>
        <p:spPr bwMode="auto">
          <a:xfrm flipH="1">
            <a:off x="11601957" y="1645668"/>
            <a:ext cx="39069" cy="4747628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0" name="直接箭头连接符 79"/>
          <p:cNvCxnSpPr/>
          <p:nvPr/>
        </p:nvCxnSpPr>
        <p:spPr bwMode="auto">
          <a:xfrm>
            <a:off x="11311650" y="3581635"/>
            <a:ext cx="351351" cy="458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1" name="直接箭头连接符 80"/>
          <p:cNvCxnSpPr>
            <a:stCxn id="49" idx="6"/>
          </p:cNvCxnSpPr>
          <p:nvPr/>
        </p:nvCxnSpPr>
        <p:spPr bwMode="auto">
          <a:xfrm>
            <a:off x="11311632" y="4321217"/>
            <a:ext cx="311028" cy="4758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" name="直接箭头连接符 2"/>
          <p:cNvCxnSpPr/>
          <p:nvPr/>
        </p:nvCxnSpPr>
        <p:spPr bwMode="auto">
          <a:xfrm>
            <a:off x="11310996" y="5117507"/>
            <a:ext cx="311028" cy="4758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TextBox 2"/>
          <p:cNvSpPr txBox="1"/>
          <p:nvPr/>
        </p:nvSpPr>
        <p:spPr>
          <a:xfrm>
            <a:off x="9174098" y="980095"/>
            <a:ext cx="160053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l</a:t>
            </a:r>
            <a:r>
              <a:rPr lang="en-US" altLang="zh-CN" dirty="0" smtClean="0">
                <a:solidFill>
                  <a:schemeClr val="bg2"/>
                </a:solidFill>
              </a:rPr>
              <a:t>etter</a:t>
            </a:r>
            <a:r>
              <a:rPr lang="zh-CN" altLang="en-US" dirty="0" smtClean="0">
                <a:solidFill>
                  <a:schemeClr val="bg2"/>
                </a:solidFill>
              </a:rPr>
              <a:t>、</a:t>
            </a:r>
            <a:r>
              <a:rPr lang="en-US" altLang="zh-CN" dirty="0" smtClean="0">
                <a:solidFill>
                  <a:schemeClr val="bg2"/>
                </a:solidFill>
              </a:rPr>
              <a:t>   digit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51" name="TextBox 2"/>
          <p:cNvSpPr txBox="1"/>
          <p:nvPr/>
        </p:nvSpPr>
        <p:spPr>
          <a:xfrm>
            <a:off x="7227890" y="1254582"/>
            <a:ext cx="1600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letter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53" name="TextBox 2"/>
          <p:cNvSpPr txBox="1"/>
          <p:nvPr/>
        </p:nvSpPr>
        <p:spPr>
          <a:xfrm>
            <a:off x="7206738" y="2422137"/>
            <a:ext cx="73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digit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0" name="TextBox 2"/>
          <p:cNvSpPr txBox="1"/>
          <p:nvPr/>
        </p:nvSpPr>
        <p:spPr>
          <a:xfrm>
            <a:off x="11039783" y="2011536"/>
            <a:ext cx="73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digit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1" name="TextBox 2"/>
          <p:cNvSpPr txBox="1"/>
          <p:nvPr/>
        </p:nvSpPr>
        <p:spPr>
          <a:xfrm>
            <a:off x="7136609" y="3200887"/>
            <a:ext cx="1135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+  -  ……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2" name="TextBox 2"/>
          <p:cNvSpPr txBox="1"/>
          <p:nvPr/>
        </p:nvSpPr>
        <p:spPr>
          <a:xfrm>
            <a:off x="6448578" y="3982733"/>
            <a:ext cx="1188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&gt;   &lt;   =   !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3" name="TextBox 2"/>
          <p:cNvSpPr txBox="1"/>
          <p:nvPr/>
        </p:nvSpPr>
        <p:spPr>
          <a:xfrm>
            <a:off x="8057101" y="4097377"/>
            <a:ext cx="111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2"/>
                </a:solidFill>
              </a:rPr>
              <a:t>firstword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4" name="TextBox 2"/>
          <p:cNvSpPr txBox="1"/>
          <p:nvPr/>
        </p:nvSpPr>
        <p:spPr>
          <a:xfrm>
            <a:off x="9893901" y="4135893"/>
            <a:ext cx="1349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2"/>
                </a:solidFill>
              </a:rPr>
              <a:t>doubleword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5" name="TextBox 2"/>
          <p:cNvSpPr txBox="1"/>
          <p:nvPr/>
        </p:nvSpPr>
        <p:spPr>
          <a:xfrm>
            <a:off x="9373747" y="4029699"/>
            <a:ext cx="489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=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6" name="TextBox 2"/>
          <p:cNvSpPr txBox="1"/>
          <p:nvPr/>
        </p:nvSpPr>
        <p:spPr>
          <a:xfrm>
            <a:off x="6874157" y="4762191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/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8" name="TextBox 2"/>
          <p:cNvSpPr txBox="1"/>
          <p:nvPr/>
        </p:nvSpPr>
        <p:spPr>
          <a:xfrm>
            <a:off x="8533273" y="4921407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/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9" name="TextBox 2"/>
          <p:cNvSpPr txBox="1"/>
          <p:nvPr/>
        </p:nvSpPr>
        <p:spPr>
          <a:xfrm>
            <a:off x="9558272" y="4802395"/>
            <a:ext cx="35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*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70" name="TextBox 2"/>
          <p:cNvSpPr txBox="1"/>
          <p:nvPr/>
        </p:nvSpPr>
        <p:spPr>
          <a:xfrm>
            <a:off x="10443890" y="4921420"/>
            <a:ext cx="416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/*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71" name="TextBox 2"/>
          <p:cNvSpPr txBox="1"/>
          <p:nvPr/>
        </p:nvSpPr>
        <p:spPr>
          <a:xfrm>
            <a:off x="6810421" y="5555846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其他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72" name="TextBox 2"/>
          <p:cNvSpPr txBox="1"/>
          <p:nvPr/>
        </p:nvSpPr>
        <p:spPr>
          <a:xfrm>
            <a:off x="8300225" y="5727596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error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52329" name="Text Box 9"/>
          <p:cNvSpPr txBox="1">
            <a:spLocks noChangeArrowheads="1"/>
          </p:cNvSpPr>
          <p:nvPr/>
        </p:nvSpPr>
        <p:spPr bwMode="auto">
          <a:xfrm>
            <a:off x="-1" y="1910080"/>
            <a:ext cx="5651493" cy="289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10000"/>
              </a:lnSpc>
              <a:spcAft>
                <a:spcPct val="0"/>
              </a:spcAft>
              <a:buClr>
                <a:srgbClr val="6699FF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1)  </a:t>
            </a:r>
            <a:r>
              <a:rPr lang="zh-CN" altLang="en-US" sz="2400" dirty="0">
                <a:solidFill>
                  <a:srgbClr val="000000"/>
                </a:solidFill>
              </a:rPr>
              <a:t>初始状态</a:t>
            </a:r>
            <a:r>
              <a:rPr lang="en-US" altLang="zh-CN" sz="2400" dirty="0">
                <a:solidFill>
                  <a:srgbClr val="000000"/>
                </a:solidFill>
              </a:rPr>
              <a:t>: </a:t>
            </a:r>
            <a:r>
              <a:rPr lang="zh-CN" altLang="en-US" sz="2400" dirty="0">
                <a:solidFill>
                  <a:srgbClr val="000000"/>
                </a:solidFill>
              </a:rPr>
              <a:t>程序的开始；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10000"/>
              </a:lnSpc>
              <a:spcAft>
                <a:spcPct val="0"/>
              </a:spcAft>
              <a:buClr>
                <a:srgbClr val="6699FF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2)  </a:t>
            </a:r>
            <a:r>
              <a:rPr lang="zh-CN" altLang="en-US" sz="2400" dirty="0">
                <a:solidFill>
                  <a:srgbClr val="000000"/>
                </a:solidFill>
              </a:rPr>
              <a:t>终止状态：程序的结束；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10000"/>
              </a:lnSpc>
              <a:spcAft>
                <a:spcPct val="0"/>
              </a:spcAft>
              <a:buClr>
                <a:srgbClr val="6699FF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3)  </a:t>
            </a:r>
            <a:r>
              <a:rPr lang="zh-CN" altLang="en-US" sz="2400" dirty="0">
                <a:solidFill>
                  <a:srgbClr val="000000"/>
                </a:solidFill>
              </a:rPr>
              <a:t>状态转移：分支选择语句；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10000"/>
              </a:lnSpc>
              <a:spcAft>
                <a:spcPct val="0"/>
              </a:spcAft>
              <a:buClr>
                <a:srgbClr val="6699FF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4)  </a:t>
            </a:r>
            <a:r>
              <a:rPr lang="zh-CN" altLang="en-US" sz="2400" dirty="0">
                <a:solidFill>
                  <a:srgbClr val="000000"/>
                </a:solidFill>
              </a:rPr>
              <a:t>状态图的环：循环语句；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10000"/>
              </a:lnSpc>
              <a:spcAft>
                <a:spcPct val="0"/>
              </a:spcAft>
              <a:buClr>
                <a:srgbClr val="6699FF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5)   </a:t>
            </a:r>
            <a:r>
              <a:rPr lang="zh-CN" altLang="en-US" sz="2400" dirty="0">
                <a:solidFill>
                  <a:srgbClr val="000000"/>
                </a:solidFill>
              </a:rPr>
              <a:t>终态返回时，应满足最长匹配原则。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10000"/>
              </a:lnSpc>
              <a:spcAft>
                <a:spcPct val="0"/>
              </a:spcAft>
              <a:buClr>
                <a:srgbClr val="6699FF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11370118" y="6393657"/>
            <a:ext cx="502169" cy="308911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sz="800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</a:t>
            </a:r>
            <a:endParaRPr kumimoji="1" lang="en-US" altLang="zh-CN" sz="800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89825" y="122051"/>
            <a:ext cx="839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词法分析</a:t>
            </a:r>
            <a:r>
              <a:rPr kumimoji="1" lang="en-US" altLang="zh-CN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状态图</a:t>
            </a:r>
            <a:endParaRPr kumimoji="1" lang="zh-CN" altLang="en-US" sz="28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7" name="直接连接符 76"/>
          <p:cNvCxnSpPr/>
          <p:nvPr/>
        </p:nvCxnSpPr>
        <p:spPr>
          <a:xfrm>
            <a:off x="0" y="706826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右箭头 1"/>
          <p:cNvSpPr/>
          <p:nvPr/>
        </p:nvSpPr>
        <p:spPr bwMode="auto">
          <a:xfrm>
            <a:off x="5069319" y="1529012"/>
            <a:ext cx="562383" cy="218218"/>
          </a:xfrm>
          <a:prstGeom prst="rightArrow">
            <a:avLst/>
          </a:prstGeom>
          <a:solidFill>
            <a:srgbClr val="002060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8995198" y="4530072"/>
            <a:ext cx="620799" cy="205741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直接箭头连接符 11"/>
          <p:cNvCxnSpPr/>
          <p:nvPr/>
        </p:nvCxnSpPr>
        <p:spPr bwMode="auto">
          <a:xfrm>
            <a:off x="9603117" y="4740826"/>
            <a:ext cx="2037909" cy="21365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8" name="文本框 27"/>
          <p:cNvSpPr txBox="1"/>
          <p:nvPr/>
        </p:nvSpPr>
        <p:spPr>
          <a:xfrm>
            <a:off x="9520783" y="4452840"/>
            <a:ext cx="82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chemeClr val="bg2"/>
                </a:solidFill>
              </a:rPr>
              <a:t>非</a:t>
            </a:r>
            <a:r>
              <a:rPr lang="en-US" altLang="zh-CN" sz="1600" b="1" dirty="0" smtClean="0">
                <a:solidFill>
                  <a:schemeClr val="bg2"/>
                </a:solidFill>
              </a:rPr>
              <a:t>=</a:t>
            </a:r>
            <a:endParaRPr lang="zh-CN" altLang="en-US" sz="1600" b="1" dirty="0">
              <a:solidFill>
                <a:schemeClr val="bg2"/>
              </a:solidFill>
            </a:endParaRPr>
          </a:p>
        </p:txBody>
      </p:sp>
      <p:cxnSp>
        <p:nvCxnSpPr>
          <p:cNvPr id="83" name="直接连接符 82"/>
          <p:cNvCxnSpPr/>
          <p:nvPr/>
        </p:nvCxnSpPr>
        <p:spPr bwMode="auto">
          <a:xfrm>
            <a:off x="8947650" y="5326367"/>
            <a:ext cx="620799" cy="205741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直接箭头连接符 83"/>
          <p:cNvCxnSpPr/>
          <p:nvPr/>
        </p:nvCxnSpPr>
        <p:spPr bwMode="auto">
          <a:xfrm>
            <a:off x="9555569" y="5537121"/>
            <a:ext cx="2037909" cy="21365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85" name="文本框 84"/>
          <p:cNvSpPr txBox="1"/>
          <p:nvPr/>
        </p:nvSpPr>
        <p:spPr>
          <a:xfrm>
            <a:off x="9499507" y="5274871"/>
            <a:ext cx="82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chemeClr val="bg2"/>
                </a:solidFill>
              </a:rPr>
              <a:t>非</a:t>
            </a:r>
            <a:r>
              <a:rPr lang="en-US" altLang="zh-CN" sz="1600" b="1" dirty="0">
                <a:solidFill>
                  <a:schemeClr val="bg2"/>
                </a:solidFill>
              </a:rPr>
              <a:t>*</a:t>
            </a:r>
            <a:endParaRPr lang="zh-CN" altLang="en-US" sz="16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952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3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8" grpId="0"/>
      <p:bldP spid="69" grpId="0"/>
      <p:bldP spid="70" grpId="0"/>
      <p:bldP spid="71" grpId="0"/>
      <p:bldP spid="72" grpId="0"/>
      <p:bldP spid="9523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7873" y="684346"/>
            <a:ext cx="9129345" cy="5611390"/>
          </a:xfrm>
        </p:spPr>
        <p:txBody>
          <a:bodyPr>
            <a:noAutofit/>
          </a:bodyPr>
          <a:lstStyle/>
          <a:p>
            <a:pPr>
              <a:lnSpc>
                <a:spcPts val="3840"/>
              </a:lnSpc>
            </a:pPr>
            <a:br>
              <a:rPr lang="en-US" altLang="zh-CN" sz="3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</a:rPr>
            </a:br>
            <a:br>
              <a:rPr lang="en-US" altLang="zh-CN" sz="3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</a:rPr>
            </a:b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TEST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语言各</a:t>
            </a: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条词法规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则的状态图</a:t>
            </a:r>
            <a:b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</a:rPr>
            </a:br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</a:rPr>
              <a:t> </a:t>
            </a:r>
            <a:br>
              <a:rPr lang="en-US" altLang="zh-CN" sz="10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</a:rPr>
            </a:br>
            <a:r>
              <a:rPr lang="zh-CN" altLang="en-US" sz="20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标识符</a:t>
            </a: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     </a:t>
            </a:r>
            <a:br>
              <a:rPr lang="en-US" altLang="zh-CN" sz="2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</a:rPr>
            </a:br>
            <a:b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</a:rPr>
            </a:b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无符号整数</a:t>
            </a:r>
            <a:b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</a:br>
            <a:r>
              <a:rPr lang="en-US" altLang="zh-CN" sz="1200" dirty="0">
                <a:solidFill>
                  <a:schemeClr val="bg2"/>
                </a:solidFill>
                <a:latin typeface="+mn-ea"/>
                <a:ea typeface="+mn-ea"/>
              </a:rPr>
              <a:t>  </a:t>
            </a:r>
            <a:b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</a:b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单分界符</a:t>
            </a:r>
            <a:b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</a:br>
            <a:r>
              <a:rPr lang="en-US" altLang="zh-CN" sz="20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b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</a:b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双分界符</a:t>
            </a:r>
            <a:b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</a:br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b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</a:b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注释</a:t>
            </a:r>
            <a:r>
              <a:rPr lang="en-US" altLang="zh-CN" sz="20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b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</a:br>
            <a:b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5DC9E-0A63-4A15-BADC-DB1EB51A89BD}" type="slidenum">
              <a:rPr lang="en-US" altLang="zh-CN" smtClean="0"/>
            </a:fld>
            <a:endParaRPr lang="en-US" altLang="zh-CN"/>
          </a:p>
        </p:txBody>
      </p:sp>
      <p:sp>
        <p:nvSpPr>
          <p:cNvPr id="8" name="椭圆 7"/>
          <p:cNvSpPr/>
          <p:nvPr/>
        </p:nvSpPr>
        <p:spPr bwMode="auto">
          <a:xfrm>
            <a:off x="3302784" y="1732497"/>
            <a:ext cx="502169" cy="520254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6951201" y="1792799"/>
            <a:ext cx="1944216" cy="555049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identifier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4777171" y="2999179"/>
            <a:ext cx="3009343" cy="1645568"/>
          </a:xfrm>
          <a:custGeom>
            <a:avLst/>
            <a:gdLst>
              <a:gd name="connsiteX0" fmla="*/ 1195754 w 3009343"/>
              <a:gd name="connsiteY0" fmla="*/ 1169377 h 1645568"/>
              <a:gd name="connsiteX1" fmla="*/ 2839916 w 3009343"/>
              <a:gd name="connsiteY1" fmla="*/ 1046284 h 1645568"/>
              <a:gd name="connsiteX2" fmla="*/ 2708031 w 3009343"/>
              <a:gd name="connsiteY2" fmla="*/ 1397977 h 1645568"/>
              <a:gd name="connsiteX3" fmla="*/ 2963008 w 3009343"/>
              <a:gd name="connsiteY3" fmla="*/ 1547446 h 1645568"/>
              <a:gd name="connsiteX4" fmla="*/ 1608993 w 3009343"/>
              <a:gd name="connsiteY4" fmla="*/ 1626577 h 1645568"/>
              <a:gd name="connsiteX5" fmla="*/ 1415562 w 3009343"/>
              <a:gd name="connsiteY5" fmla="*/ 1626577 h 1645568"/>
              <a:gd name="connsiteX6" fmla="*/ 1600200 w 3009343"/>
              <a:gd name="connsiteY6" fmla="*/ 1415561 h 1645568"/>
              <a:gd name="connsiteX7" fmla="*/ 0 w 3009343"/>
              <a:gd name="connsiteY7" fmla="*/ 0 h 164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09343" h="1645568">
                <a:moveTo>
                  <a:pt x="1195754" y="1169377"/>
                </a:moveTo>
                <a:cubicBezTo>
                  <a:pt x="1891812" y="1088780"/>
                  <a:pt x="2587870" y="1008184"/>
                  <a:pt x="2839916" y="1046284"/>
                </a:cubicBezTo>
                <a:cubicBezTo>
                  <a:pt x="3091962" y="1084384"/>
                  <a:pt x="2687516" y="1314450"/>
                  <a:pt x="2708031" y="1397977"/>
                </a:cubicBezTo>
                <a:cubicBezTo>
                  <a:pt x="2728546" y="1481504"/>
                  <a:pt x="3146181" y="1509346"/>
                  <a:pt x="2963008" y="1547446"/>
                </a:cubicBezTo>
                <a:cubicBezTo>
                  <a:pt x="2779835" y="1585546"/>
                  <a:pt x="1866901" y="1613389"/>
                  <a:pt x="1608993" y="1626577"/>
                </a:cubicBezTo>
                <a:cubicBezTo>
                  <a:pt x="1351085" y="1639765"/>
                  <a:pt x="1417027" y="1661746"/>
                  <a:pt x="1415562" y="1626577"/>
                </a:cubicBezTo>
                <a:cubicBezTo>
                  <a:pt x="1414097" y="1591408"/>
                  <a:pt x="1836127" y="1686657"/>
                  <a:pt x="1600200" y="1415561"/>
                </a:cubicBezTo>
                <a:cubicBezTo>
                  <a:pt x="1364273" y="1144465"/>
                  <a:pt x="682136" y="572232"/>
                  <a:pt x="0" y="0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2754942" y="4352597"/>
            <a:ext cx="2689855" cy="351147"/>
          </a:xfrm>
          <a:custGeom>
            <a:avLst/>
            <a:gdLst>
              <a:gd name="connsiteX0" fmla="*/ 0 w 2689855"/>
              <a:gd name="connsiteY0" fmla="*/ 62170 h 351147"/>
              <a:gd name="connsiteX1" fmla="*/ 2031023 w 2689855"/>
              <a:gd name="connsiteY1" fmla="*/ 18209 h 351147"/>
              <a:gd name="connsiteX2" fmla="*/ 2646484 w 2689855"/>
              <a:gd name="connsiteY2" fmla="*/ 325940 h 351147"/>
              <a:gd name="connsiteX3" fmla="*/ 2637692 w 2689855"/>
              <a:gd name="connsiteY3" fmla="*/ 334732 h 351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9855" h="351147">
                <a:moveTo>
                  <a:pt x="0" y="62170"/>
                </a:moveTo>
                <a:cubicBezTo>
                  <a:pt x="794971" y="18208"/>
                  <a:pt x="1589942" y="-25753"/>
                  <a:pt x="2031023" y="18209"/>
                </a:cubicBezTo>
                <a:cubicBezTo>
                  <a:pt x="2472104" y="62171"/>
                  <a:pt x="2545373" y="273186"/>
                  <a:pt x="2646484" y="325940"/>
                </a:cubicBezTo>
                <a:cubicBezTo>
                  <a:pt x="2747595" y="378694"/>
                  <a:pt x="2640623" y="331801"/>
                  <a:pt x="2637692" y="334732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3053879" y="2023260"/>
            <a:ext cx="2362559" cy="2268415"/>
          </a:xfrm>
          <a:custGeom>
            <a:avLst/>
            <a:gdLst>
              <a:gd name="connsiteX0" fmla="*/ 0 w 2362559"/>
              <a:gd name="connsiteY0" fmla="*/ 2268415 h 2268415"/>
              <a:gd name="connsiteX1" fmla="*/ 1433146 w 2362559"/>
              <a:gd name="connsiteY1" fmla="*/ 2110154 h 2268415"/>
              <a:gd name="connsiteX2" fmla="*/ 298939 w 2362559"/>
              <a:gd name="connsiteY2" fmla="*/ 2118946 h 2268415"/>
              <a:gd name="connsiteX3" fmla="*/ 931985 w 2362559"/>
              <a:gd name="connsiteY3" fmla="*/ 1134207 h 2268415"/>
              <a:gd name="connsiteX4" fmla="*/ 1274885 w 2362559"/>
              <a:gd name="connsiteY4" fmla="*/ 2189284 h 2268415"/>
              <a:gd name="connsiteX5" fmla="*/ 1274885 w 2362559"/>
              <a:gd name="connsiteY5" fmla="*/ 2189284 h 2268415"/>
              <a:gd name="connsiteX6" fmla="*/ 2356339 w 2362559"/>
              <a:gd name="connsiteY6" fmla="*/ 0 h 226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2559" h="2268415">
                <a:moveTo>
                  <a:pt x="0" y="2268415"/>
                </a:moveTo>
                <a:cubicBezTo>
                  <a:pt x="691661" y="2201740"/>
                  <a:pt x="1383323" y="2135065"/>
                  <a:pt x="1433146" y="2110154"/>
                </a:cubicBezTo>
                <a:cubicBezTo>
                  <a:pt x="1482969" y="2085243"/>
                  <a:pt x="382466" y="2281604"/>
                  <a:pt x="298939" y="2118946"/>
                </a:cubicBezTo>
                <a:cubicBezTo>
                  <a:pt x="215412" y="1956288"/>
                  <a:pt x="769327" y="1122484"/>
                  <a:pt x="931985" y="1134207"/>
                </a:cubicBezTo>
                <a:cubicBezTo>
                  <a:pt x="1094643" y="1145930"/>
                  <a:pt x="1274885" y="2189284"/>
                  <a:pt x="1274885" y="2189284"/>
                </a:cubicBezTo>
                <a:lnTo>
                  <a:pt x="1274885" y="2189284"/>
                </a:lnTo>
                <a:cubicBezTo>
                  <a:pt x="1455127" y="1824403"/>
                  <a:pt x="2450124" y="772258"/>
                  <a:pt x="2356339" y="0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5" name="曲线连接符 44"/>
          <p:cNvCxnSpPr/>
          <p:nvPr/>
        </p:nvCxnSpPr>
        <p:spPr bwMode="auto">
          <a:xfrm>
            <a:off x="7760875" y="1736422"/>
            <a:ext cx="533772" cy="77961"/>
          </a:xfrm>
          <a:prstGeom prst="curvedConnector5">
            <a:avLst>
              <a:gd name="adj1" fmla="val -34591"/>
              <a:gd name="adj2" fmla="val -467878"/>
              <a:gd name="adj3" fmla="val 132944"/>
            </a:avLst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74" name="任意多边形 73"/>
          <p:cNvSpPr/>
          <p:nvPr/>
        </p:nvSpPr>
        <p:spPr>
          <a:xfrm>
            <a:off x="4003449" y="3843240"/>
            <a:ext cx="888023" cy="624254"/>
          </a:xfrm>
          <a:custGeom>
            <a:avLst/>
            <a:gdLst>
              <a:gd name="connsiteX0" fmla="*/ 0 w 888023"/>
              <a:gd name="connsiteY0" fmla="*/ 167054 h 624254"/>
              <a:gd name="connsiteX1" fmla="*/ 61547 w 888023"/>
              <a:gd name="connsiteY1" fmla="*/ 114300 h 624254"/>
              <a:gd name="connsiteX2" fmla="*/ 96716 w 888023"/>
              <a:gd name="connsiteY2" fmla="*/ 87923 h 624254"/>
              <a:gd name="connsiteX3" fmla="*/ 158262 w 888023"/>
              <a:gd name="connsiteY3" fmla="*/ 35170 h 624254"/>
              <a:gd name="connsiteX4" fmla="*/ 211016 w 888023"/>
              <a:gd name="connsiteY4" fmla="*/ 26377 h 624254"/>
              <a:gd name="connsiteX5" fmla="*/ 272562 w 888023"/>
              <a:gd name="connsiteY5" fmla="*/ 17585 h 624254"/>
              <a:gd name="connsiteX6" fmla="*/ 316523 w 888023"/>
              <a:gd name="connsiteY6" fmla="*/ 8793 h 624254"/>
              <a:gd name="connsiteX7" fmla="*/ 457200 w 888023"/>
              <a:gd name="connsiteY7" fmla="*/ 0 h 624254"/>
              <a:gd name="connsiteX8" fmla="*/ 764931 w 888023"/>
              <a:gd name="connsiteY8" fmla="*/ 8793 h 624254"/>
              <a:gd name="connsiteX9" fmla="*/ 773723 w 888023"/>
              <a:gd name="connsiteY9" fmla="*/ 35170 h 624254"/>
              <a:gd name="connsiteX10" fmla="*/ 800100 w 888023"/>
              <a:gd name="connsiteY10" fmla="*/ 61547 h 624254"/>
              <a:gd name="connsiteX11" fmla="*/ 817685 w 888023"/>
              <a:gd name="connsiteY11" fmla="*/ 114300 h 624254"/>
              <a:gd name="connsiteX12" fmla="*/ 852854 w 888023"/>
              <a:gd name="connsiteY12" fmla="*/ 193431 h 624254"/>
              <a:gd name="connsiteX13" fmla="*/ 879231 w 888023"/>
              <a:gd name="connsiteY13" fmla="*/ 342900 h 624254"/>
              <a:gd name="connsiteX14" fmla="*/ 888023 w 888023"/>
              <a:gd name="connsiteY14" fmla="*/ 378070 h 624254"/>
              <a:gd name="connsiteX15" fmla="*/ 879231 w 888023"/>
              <a:gd name="connsiteY15" fmla="*/ 624254 h 624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88023" h="624254">
                <a:moveTo>
                  <a:pt x="0" y="167054"/>
                </a:moveTo>
                <a:cubicBezTo>
                  <a:pt x="107731" y="102416"/>
                  <a:pt x="654" y="175193"/>
                  <a:pt x="61547" y="114300"/>
                </a:cubicBezTo>
                <a:cubicBezTo>
                  <a:pt x="71909" y="103938"/>
                  <a:pt x="86354" y="98285"/>
                  <a:pt x="96716" y="87923"/>
                </a:cubicBezTo>
                <a:cubicBezTo>
                  <a:pt x="132867" y="51772"/>
                  <a:pt x="90542" y="59796"/>
                  <a:pt x="158262" y="35170"/>
                </a:cubicBezTo>
                <a:cubicBezTo>
                  <a:pt x="175016" y="29078"/>
                  <a:pt x="193396" y="29088"/>
                  <a:pt x="211016" y="26377"/>
                </a:cubicBezTo>
                <a:cubicBezTo>
                  <a:pt x="231499" y="23226"/>
                  <a:pt x="252120" y="20992"/>
                  <a:pt x="272562" y="17585"/>
                </a:cubicBezTo>
                <a:cubicBezTo>
                  <a:pt x="287303" y="15128"/>
                  <a:pt x="301646" y="10210"/>
                  <a:pt x="316523" y="8793"/>
                </a:cubicBezTo>
                <a:cubicBezTo>
                  <a:pt x="363295" y="4338"/>
                  <a:pt x="410308" y="2931"/>
                  <a:pt x="457200" y="0"/>
                </a:cubicBezTo>
                <a:cubicBezTo>
                  <a:pt x="559777" y="2931"/>
                  <a:pt x="662940" y="-2540"/>
                  <a:pt x="764931" y="8793"/>
                </a:cubicBezTo>
                <a:cubicBezTo>
                  <a:pt x="774142" y="9816"/>
                  <a:pt x="768582" y="27459"/>
                  <a:pt x="773723" y="35170"/>
                </a:cubicBezTo>
                <a:cubicBezTo>
                  <a:pt x="780620" y="45516"/>
                  <a:pt x="791308" y="52755"/>
                  <a:pt x="800100" y="61547"/>
                </a:cubicBezTo>
                <a:cubicBezTo>
                  <a:pt x="805962" y="79131"/>
                  <a:pt x="809396" y="97721"/>
                  <a:pt x="817685" y="114300"/>
                </a:cubicBezTo>
                <a:cubicBezTo>
                  <a:pt x="848207" y="175343"/>
                  <a:pt x="837845" y="148403"/>
                  <a:pt x="852854" y="193431"/>
                </a:cubicBezTo>
                <a:cubicBezTo>
                  <a:pt x="864316" y="296584"/>
                  <a:pt x="855210" y="246813"/>
                  <a:pt x="879231" y="342900"/>
                </a:cubicBezTo>
                <a:lnTo>
                  <a:pt x="888023" y="378070"/>
                </a:lnTo>
                <a:cubicBezTo>
                  <a:pt x="884984" y="460127"/>
                  <a:pt x="879231" y="542140"/>
                  <a:pt x="879231" y="624254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任意多边形 74"/>
          <p:cNvSpPr/>
          <p:nvPr/>
        </p:nvSpPr>
        <p:spPr>
          <a:xfrm>
            <a:off x="3783625" y="4014431"/>
            <a:ext cx="553915" cy="831159"/>
          </a:xfrm>
          <a:custGeom>
            <a:avLst/>
            <a:gdLst>
              <a:gd name="connsiteX0" fmla="*/ 0 w 553915"/>
              <a:gd name="connsiteY0" fmla="*/ 13475 h 831159"/>
              <a:gd name="connsiteX1" fmla="*/ 263769 w 553915"/>
              <a:gd name="connsiteY1" fmla="*/ 13475 h 831159"/>
              <a:gd name="connsiteX2" fmla="*/ 369277 w 553915"/>
              <a:gd name="connsiteY2" fmla="*/ 48644 h 831159"/>
              <a:gd name="connsiteX3" fmla="*/ 404446 w 553915"/>
              <a:gd name="connsiteY3" fmla="*/ 57436 h 831159"/>
              <a:gd name="connsiteX4" fmla="*/ 465992 w 553915"/>
              <a:gd name="connsiteY4" fmla="*/ 118983 h 831159"/>
              <a:gd name="connsiteX5" fmla="*/ 509954 w 553915"/>
              <a:gd name="connsiteY5" fmla="*/ 171736 h 831159"/>
              <a:gd name="connsiteX6" fmla="*/ 527538 w 553915"/>
              <a:gd name="connsiteY6" fmla="*/ 224490 h 831159"/>
              <a:gd name="connsiteX7" fmla="*/ 545123 w 553915"/>
              <a:gd name="connsiteY7" fmla="*/ 277244 h 831159"/>
              <a:gd name="connsiteX8" fmla="*/ 553915 w 553915"/>
              <a:gd name="connsiteY8" fmla="*/ 382752 h 831159"/>
              <a:gd name="connsiteX9" fmla="*/ 545123 w 553915"/>
              <a:gd name="connsiteY9" fmla="*/ 681690 h 831159"/>
              <a:gd name="connsiteX10" fmla="*/ 536330 w 553915"/>
              <a:gd name="connsiteY10" fmla="*/ 708067 h 831159"/>
              <a:gd name="connsiteX11" fmla="*/ 518746 w 553915"/>
              <a:gd name="connsiteY11" fmla="*/ 743236 h 831159"/>
              <a:gd name="connsiteX12" fmla="*/ 483577 w 553915"/>
              <a:gd name="connsiteY12" fmla="*/ 804783 h 831159"/>
              <a:gd name="connsiteX13" fmla="*/ 422030 w 553915"/>
              <a:gd name="connsiteY13" fmla="*/ 831159 h 831159"/>
              <a:gd name="connsiteX14" fmla="*/ 272561 w 553915"/>
              <a:gd name="connsiteY14" fmla="*/ 813575 h 831159"/>
              <a:gd name="connsiteX15" fmla="*/ 237392 w 553915"/>
              <a:gd name="connsiteY15" fmla="*/ 760821 h 831159"/>
              <a:gd name="connsiteX16" fmla="*/ 211015 w 553915"/>
              <a:gd name="connsiteY16" fmla="*/ 725652 h 831159"/>
              <a:gd name="connsiteX17" fmla="*/ 184638 w 553915"/>
              <a:gd name="connsiteY17" fmla="*/ 637729 h 831159"/>
              <a:gd name="connsiteX18" fmla="*/ 167054 w 553915"/>
              <a:gd name="connsiteY18" fmla="*/ 558598 h 831159"/>
              <a:gd name="connsiteX19" fmla="*/ 158261 w 553915"/>
              <a:gd name="connsiteY19" fmla="*/ 523429 h 831159"/>
              <a:gd name="connsiteX20" fmla="*/ 140677 w 553915"/>
              <a:gd name="connsiteY20" fmla="*/ 426713 h 831159"/>
              <a:gd name="connsiteX21" fmla="*/ 131884 w 553915"/>
              <a:gd name="connsiteY21" fmla="*/ 417921 h 831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53915" h="831159">
                <a:moveTo>
                  <a:pt x="0" y="13475"/>
                </a:moveTo>
                <a:cubicBezTo>
                  <a:pt x="104523" y="-1456"/>
                  <a:pt x="118383" y="-7294"/>
                  <a:pt x="263769" y="13475"/>
                </a:cubicBezTo>
                <a:cubicBezTo>
                  <a:pt x="300468" y="18718"/>
                  <a:pt x="333893" y="37587"/>
                  <a:pt x="369277" y="48644"/>
                </a:cubicBezTo>
                <a:cubicBezTo>
                  <a:pt x="380811" y="52248"/>
                  <a:pt x="392723" y="54505"/>
                  <a:pt x="404446" y="57436"/>
                </a:cubicBezTo>
                <a:cubicBezTo>
                  <a:pt x="424961" y="77952"/>
                  <a:pt x="449898" y="94843"/>
                  <a:pt x="465992" y="118983"/>
                </a:cubicBezTo>
                <a:cubicBezTo>
                  <a:pt x="490475" y="155705"/>
                  <a:pt x="476105" y="137887"/>
                  <a:pt x="509954" y="171736"/>
                </a:cubicBezTo>
                <a:lnTo>
                  <a:pt x="527538" y="224490"/>
                </a:lnTo>
                <a:lnTo>
                  <a:pt x="545123" y="277244"/>
                </a:lnTo>
                <a:cubicBezTo>
                  <a:pt x="548054" y="312413"/>
                  <a:pt x="553915" y="347461"/>
                  <a:pt x="553915" y="382752"/>
                </a:cubicBezTo>
                <a:cubicBezTo>
                  <a:pt x="553915" y="482441"/>
                  <a:pt x="550504" y="582146"/>
                  <a:pt x="545123" y="681690"/>
                </a:cubicBezTo>
                <a:cubicBezTo>
                  <a:pt x="544623" y="690944"/>
                  <a:pt x="539981" y="699548"/>
                  <a:pt x="536330" y="708067"/>
                </a:cubicBezTo>
                <a:cubicBezTo>
                  <a:pt x="531167" y="720114"/>
                  <a:pt x="523909" y="731189"/>
                  <a:pt x="518746" y="743236"/>
                </a:cubicBezTo>
                <a:cubicBezTo>
                  <a:pt x="503657" y="778445"/>
                  <a:pt x="518144" y="770216"/>
                  <a:pt x="483577" y="804783"/>
                </a:cubicBezTo>
                <a:cubicBezTo>
                  <a:pt x="463338" y="825022"/>
                  <a:pt x="448934" y="824433"/>
                  <a:pt x="422030" y="831159"/>
                </a:cubicBezTo>
                <a:cubicBezTo>
                  <a:pt x="372207" y="825298"/>
                  <a:pt x="319441" y="831434"/>
                  <a:pt x="272561" y="813575"/>
                </a:cubicBezTo>
                <a:cubicBezTo>
                  <a:pt x="252811" y="806051"/>
                  <a:pt x="250073" y="777728"/>
                  <a:pt x="237392" y="760821"/>
                </a:cubicBezTo>
                <a:lnTo>
                  <a:pt x="211015" y="725652"/>
                </a:lnTo>
                <a:cubicBezTo>
                  <a:pt x="190749" y="644587"/>
                  <a:pt x="216749" y="744765"/>
                  <a:pt x="184638" y="637729"/>
                </a:cubicBezTo>
                <a:cubicBezTo>
                  <a:pt x="175449" y="607099"/>
                  <a:pt x="174225" y="590865"/>
                  <a:pt x="167054" y="558598"/>
                </a:cubicBezTo>
                <a:cubicBezTo>
                  <a:pt x="164433" y="546802"/>
                  <a:pt x="160631" y="535278"/>
                  <a:pt x="158261" y="523429"/>
                </a:cubicBezTo>
                <a:cubicBezTo>
                  <a:pt x="156047" y="512359"/>
                  <a:pt x="145391" y="440856"/>
                  <a:pt x="140677" y="426713"/>
                </a:cubicBezTo>
                <a:cubicBezTo>
                  <a:pt x="139366" y="422781"/>
                  <a:pt x="134815" y="420852"/>
                  <a:pt x="131884" y="417921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2" name="直接箭头连接符 131"/>
          <p:cNvCxnSpPr/>
          <p:nvPr/>
        </p:nvCxnSpPr>
        <p:spPr bwMode="auto">
          <a:xfrm>
            <a:off x="3819693" y="1995066"/>
            <a:ext cx="3071904" cy="22475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7" name="任意多边形 136"/>
          <p:cNvSpPr/>
          <p:nvPr/>
        </p:nvSpPr>
        <p:spPr>
          <a:xfrm>
            <a:off x="5814662" y="3764110"/>
            <a:ext cx="1887591" cy="863172"/>
          </a:xfrm>
          <a:custGeom>
            <a:avLst/>
            <a:gdLst>
              <a:gd name="connsiteX0" fmla="*/ 0 w 1887590"/>
              <a:gd name="connsiteY0" fmla="*/ 395653 h 863172"/>
              <a:gd name="connsiteX1" fmla="*/ 1881554 w 1887590"/>
              <a:gd name="connsiteY1" fmla="*/ 852853 h 863172"/>
              <a:gd name="connsiteX2" fmla="*/ 553915 w 1887590"/>
              <a:gd name="connsiteY2" fmla="*/ 0 h 86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7590" h="863172">
                <a:moveTo>
                  <a:pt x="0" y="395653"/>
                </a:moveTo>
                <a:cubicBezTo>
                  <a:pt x="894617" y="657224"/>
                  <a:pt x="1789235" y="918795"/>
                  <a:pt x="1881554" y="852853"/>
                </a:cubicBezTo>
                <a:cubicBezTo>
                  <a:pt x="1973873" y="786911"/>
                  <a:pt x="983273" y="60081"/>
                  <a:pt x="553915" y="0"/>
                </a:cubicBezTo>
              </a:path>
            </a:pathLst>
          </a:custGeom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8117889" y="783033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Letter</a:t>
            </a:r>
            <a:r>
              <a:rPr lang="zh-CN" altLang="en-US" sz="2000" dirty="0"/>
              <a:t>、</a:t>
            </a:r>
            <a:r>
              <a:rPr lang="en-US" altLang="zh-CN" sz="2000" dirty="0"/>
              <a:t>digit</a:t>
            </a:r>
            <a:endParaRPr lang="zh-CN" altLang="en-US" sz="2000" dirty="0"/>
          </a:p>
        </p:txBody>
      </p:sp>
      <p:sp>
        <p:nvSpPr>
          <p:cNvPr id="17" name="椭圆 16"/>
          <p:cNvSpPr/>
          <p:nvPr/>
        </p:nvSpPr>
        <p:spPr bwMode="auto">
          <a:xfrm>
            <a:off x="3302468" y="2924032"/>
            <a:ext cx="502169" cy="520254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椭圆 17"/>
          <p:cNvSpPr/>
          <p:nvPr/>
        </p:nvSpPr>
        <p:spPr bwMode="auto">
          <a:xfrm>
            <a:off x="6950885" y="2984360"/>
            <a:ext cx="1944216" cy="608555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number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9" name="曲线连接符 18"/>
          <p:cNvCxnSpPr/>
          <p:nvPr/>
        </p:nvCxnSpPr>
        <p:spPr bwMode="auto">
          <a:xfrm>
            <a:off x="8279303" y="3007110"/>
            <a:ext cx="533772" cy="77961"/>
          </a:xfrm>
          <a:prstGeom prst="curvedConnector5">
            <a:avLst>
              <a:gd name="adj1" fmla="val -34591"/>
              <a:gd name="adj2" fmla="val -467878"/>
              <a:gd name="adj3" fmla="val 132944"/>
            </a:avLst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0" name="直接箭头连接符 19"/>
          <p:cNvCxnSpPr>
            <a:endCxn id="18" idx="2"/>
          </p:cNvCxnSpPr>
          <p:nvPr/>
        </p:nvCxnSpPr>
        <p:spPr bwMode="auto">
          <a:xfrm>
            <a:off x="3816455" y="3276703"/>
            <a:ext cx="3134430" cy="11935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4535172" y="2799124"/>
            <a:ext cx="830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digit</a:t>
            </a:r>
            <a:endParaRPr lang="zh-CN" alt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8669037" y="2399014"/>
            <a:ext cx="756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digit</a:t>
            </a:r>
            <a:endParaRPr lang="zh-CN" altLang="en-US" sz="2000" dirty="0"/>
          </a:p>
        </p:txBody>
      </p:sp>
      <p:sp>
        <p:nvSpPr>
          <p:cNvPr id="23" name="椭圆 22"/>
          <p:cNvSpPr/>
          <p:nvPr/>
        </p:nvSpPr>
        <p:spPr bwMode="auto">
          <a:xfrm>
            <a:off x="3314286" y="3840147"/>
            <a:ext cx="502169" cy="520254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椭圆 23"/>
          <p:cNvSpPr/>
          <p:nvPr/>
        </p:nvSpPr>
        <p:spPr bwMode="auto">
          <a:xfrm>
            <a:off x="6962722" y="3900450"/>
            <a:ext cx="2123799" cy="599992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 err="1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singleword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直接箭头连接符 25"/>
          <p:cNvCxnSpPr>
            <a:endCxn id="24" idx="2"/>
          </p:cNvCxnSpPr>
          <p:nvPr/>
        </p:nvCxnSpPr>
        <p:spPr bwMode="auto">
          <a:xfrm>
            <a:off x="3894581" y="4187708"/>
            <a:ext cx="3068141" cy="12738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4574059" y="3712022"/>
            <a:ext cx="16962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+</a:t>
            </a:r>
            <a:r>
              <a:rPr lang="zh-CN" altLang="en-US" sz="2000" dirty="0"/>
              <a:t>、</a:t>
            </a:r>
            <a:r>
              <a:rPr lang="en-US" altLang="zh-CN" sz="2000" dirty="0"/>
              <a:t>-</a:t>
            </a:r>
            <a:r>
              <a:rPr lang="zh-CN" altLang="en-US" sz="2000" dirty="0"/>
              <a:t>、</a:t>
            </a:r>
            <a:r>
              <a:rPr lang="en-US" altLang="zh-CN" sz="2000" dirty="0"/>
              <a:t>…</a:t>
            </a:r>
            <a:r>
              <a:rPr lang="zh-CN" altLang="en-US" sz="2000" dirty="0"/>
              <a:t>、：</a:t>
            </a:r>
            <a:endParaRPr lang="zh-CN" altLang="en-US" sz="2000" dirty="0"/>
          </a:p>
        </p:txBody>
      </p:sp>
      <p:sp>
        <p:nvSpPr>
          <p:cNvPr id="29" name="椭圆 28"/>
          <p:cNvSpPr/>
          <p:nvPr/>
        </p:nvSpPr>
        <p:spPr bwMode="auto">
          <a:xfrm>
            <a:off x="3314288" y="4819756"/>
            <a:ext cx="502169" cy="520254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椭圆 32"/>
          <p:cNvSpPr/>
          <p:nvPr/>
        </p:nvSpPr>
        <p:spPr bwMode="auto">
          <a:xfrm>
            <a:off x="5988477" y="4872545"/>
            <a:ext cx="1602107" cy="585099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1400" b="1" dirty="0">
              <a:solidFill>
                <a:schemeClr val="bg2"/>
              </a:solidFill>
            </a:endParaRPr>
          </a:p>
        </p:txBody>
      </p:sp>
      <p:cxnSp>
        <p:nvCxnSpPr>
          <p:cNvPr id="35" name="直接箭头连接符 34"/>
          <p:cNvCxnSpPr/>
          <p:nvPr/>
        </p:nvCxnSpPr>
        <p:spPr bwMode="auto">
          <a:xfrm>
            <a:off x="3834749" y="5094985"/>
            <a:ext cx="2099651" cy="15075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" name="直接箭头连接符 45"/>
          <p:cNvCxnSpPr/>
          <p:nvPr/>
        </p:nvCxnSpPr>
        <p:spPr bwMode="auto">
          <a:xfrm flipV="1">
            <a:off x="7590583" y="5110033"/>
            <a:ext cx="576064" cy="460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9" name="椭圆 48"/>
          <p:cNvSpPr/>
          <p:nvPr/>
        </p:nvSpPr>
        <p:spPr bwMode="auto">
          <a:xfrm>
            <a:off x="8166666" y="4877357"/>
            <a:ext cx="1686479" cy="585099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1400" b="1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79594" y="4796783"/>
            <a:ext cx="568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lt"/>
              </a:rPr>
              <a:t>=</a:t>
            </a:r>
            <a:endParaRPr lang="zh-CN" altLang="en-US" dirty="0">
              <a:latin typeface="+mj-lt"/>
            </a:endParaRPr>
          </a:p>
        </p:txBody>
      </p:sp>
      <p:sp>
        <p:nvSpPr>
          <p:cNvPr id="53" name="椭圆 52"/>
          <p:cNvSpPr/>
          <p:nvPr/>
        </p:nvSpPr>
        <p:spPr bwMode="auto">
          <a:xfrm>
            <a:off x="3257137" y="5800115"/>
            <a:ext cx="502169" cy="520254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kumimoji="1"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endParaRPr kumimoji="1"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椭圆 53"/>
          <p:cNvSpPr/>
          <p:nvPr/>
        </p:nvSpPr>
        <p:spPr bwMode="auto">
          <a:xfrm>
            <a:off x="5931325" y="5773658"/>
            <a:ext cx="1602107" cy="539200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lang="en-US" altLang="zh-CN" sz="1400" dirty="0"/>
              <a:t>/</a:t>
            </a:r>
            <a:endParaRPr kumimoji="1" lang="zh-CN" altLang="en-US" sz="1400" b="1" dirty="0">
              <a:solidFill>
                <a:schemeClr val="bg2"/>
              </a:solidFill>
            </a:endParaRPr>
          </a:p>
        </p:txBody>
      </p:sp>
      <p:cxnSp>
        <p:nvCxnSpPr>
          <p:cNvPr id="55" name="直接箭头连接符 54"/>
          <p:cNvCxnSpPr/>
          <p:nvPr/>
        </p:nvCxnSpPr>
        <p:spPr bwMode="auto">
          <a:xfrm>
            <a:off x="3777601" y="6075344"/>
            <a:ext cx="2099651" cy="15075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7" name="直接箭头连接符 56"/>
          <p:cNvCxnSpPr/>
          <p:nvPr/>
        </p:nvCxnSpPr>
        <p:spPr bwMode="auto">
          <a:xfrm flipV="1">
            <a:off x="7533432" y="6090392"/>
            <a:ext cx="576064" cy="460"/>
          </a:xfrm>
          <a:prstGeom prst="straightConnector1">
            <a:avLst/>
          </a:prstGeom>
          <a:solidFill>
            <a:srgbClr val="FFFFCC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椭圆 57"/>
          <p:cNvSpPr/>
          <p:nvPr/>
        </p:nvSpPr>
        <p:spPr bwMode="auto">
          <a:xfrm>
            <a:off x="8109514" y="5800116"/>
            <a:ext cx="1686479" cy="517554"/>
          </a:xfrm>
          <a:prstGeom prst="ellipse">
            <a:avLst/>
          </a:prstGeom>
          <a:solidFill>
            <a:schemeClr val="tx1"/>
          </a:solidFill>
          <a:ln w="28575" cap="flat" cmpd="dbl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r>
              <a:rPr lang="en-US" altLang="zh-CN" sz="1400" dirty="0"/>
              <a:t>/*</a:t>
            </a:r>
            <a:endParaRPr kumimoji="1" lang="zh-CN" altLang="en-US" sz="1400" b="1" dirty="0">
              <a:solidFill>
                <a:schemeClr val="bg2"/>
              </a:solidFill>
            </a:endParaRPr>
          </a:p>
        </p:txBody>
      </p:sp>
      <p:sp>
        <p:nvSpPr>
          <p:cNvPr id="5" name="动作按钮: 前进或下一项 4">
            <a:hlinkClick r:id="" action="ppaction://hlinkshowjump?jump=nextslide" highlightClick="1"/>
          </p:cNvPr>
          <p:cNvSpPr/>
          <p:nvPr/>
        </p:nvSpPr>
        <p:spPr bwMode="auto">
          <a:xfrm>
            <a:off x="9996681" y="6404538"/>
            <a:ext cx="467544" cy="360040"/>
          </a:xfrm>
          <a:prstGeom prst="actionButtonForwardNext">
            <a:avLst/>
          </a:prstGeom>
          <a:solidFill>
            <a:schemeClr val="tx1">
              <a:lumMod val="75000"/>
            </a:schemeClr>
          </a:solidFill>
          <a:ln w="2857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</a:pPr>
            <a:endParaRPr kumimoji="1" lang="zh-CN" altLang="en-US" sz="24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TextBox 2"/>
          <p:cNvSpPr txBox="1"/>
          <p:nvPr/>
        </p:nvSpPr>
        <p:spPr>
          <a:xfrm>
            <a:off x="4859964" y="1646280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letter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50" name="TextBox 2"/>
          <p:cNvSpPr txBox="1"/>
          <p:nvPr/>
        </p:nvSpPr>
        <p:spPr>
          <a:xfrm>
            <a:off x="8097377" y="1095445"/>
            <a:ext cx="1600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l</a:t>
            </a:r>
            <a:r>
              <a:rPr lang="en-US" altLang="zh-CN" dirty="0" smtClean="0">
                <a:solidFill>
                  <a:schemeClr val="bg2"/>
                </a:solidFill>
              </a:rPr>
              <a:t>etter</a:t>
            </a:r>
            <a:r>
              <a:rPr lang="zh-CN" altLang="en-US" dirty="0" smtClean="0">
                <a:solidFill>
                  <a:schemeClr val="bg2"/>
                </a:solidFill>
              </a:rPr>
              <a:t>、</a:t>
            </a:r>
            <a:r>
              <a:rPr lang="en-US" altLang="zh-CN" dirty="0" smtClean="0">
                <a:solidFill>
                  <a:schemeClr val="bg2"/>
                </a:solidFill>
              </a:rPr>
              <a:t>digit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51" name="TextBox 2"/>
          <p:cNvSpPr txBox="1"/>
          <p:nvPr/>
        </p:nvSpPr>
        <p:spPr>
          <a:xfrm>
            <a:off x="4862360" y="2801053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digit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52" name="TextBox 2"/>
          <p:cNvSpPr txBox="1"/>
          <p:nvPr/>
        </p:nvSpPr>
        <p:spPr>
          <a:xfrm>
            <a:off x="8853868" y="2440759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digit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0" name="TextBox 2"/>
          <p:cNvSpPr txBox="1"/>
          <p:nvPr/>
        </p:nvSpPr>
        <p:spPr>
          <a:xfrm>
            <a:off x="4868192" y="3728555"/>
            <a:ext cx="1135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+  -  ……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1" name="TextBox 2"/>
          <p:cNvSpPr txBox="1"/>
          <p:nvPr/>
        </p:nvSpPr>
        <p:spPr>
          <a:xfrm>
            <a:off x="4256134" y="4729255"/>
            <a:ext cx="1188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&gt;   &lt;   =   !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2" name="TextBox 2"/>
          <p:cNvSpPr txBox="1"/>
          <p:nvPr/>
        </p:nvSpPr>
        <p:spPr>
          <a:xfrm>
            <a:off x="7727042" y="4829122"/>
            <a:ext cx="489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=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3" name="TextBox 2"/>
          <p:cNvSpPr txBox="1"/>
          <p:nvPr/>
        </p:nvSpPr>
        <p:spPr>
          <a:xfrm>
            <a:off x="4498736" y="5756169"/>
            <a:ext cx="7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/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4" name="TextBox 2"/>
          <p:cNvSpPr txBox="1"/>
          <p:nvPr/>
        </p:nvSpPr>
        <p:spPr>
          <a:xfrm>
            <a:off x="6624885" y="5905726"/>
            <a:ext cx="53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/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5" name="TextBox 2"/>
          <p:cNvSpPr txBox="1"/>
          <p:nvPr/>
        </p:nvSpPr>
        <p:spPr>
          <a:xfrm>
            <a:off x="7637675" y="5802261"/>
            <a:ext cx="314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*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6" name="TextBox 2"/>
          <p:cNvSpPr txBox="1"/>
          <p:nvPr/>
        </p:nvSpPr>
        <p:spPr>
          <a:xfrm>
            <a:off x="8837567" y="5907738"/>
            <a:ext cx="50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/*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7" name="TextBox 2"/>
          <p:cNvSpPr txBox="1"/>
          <p:nvPr/>
        </p:nvSpPr>
        <p:spPr>
          <a:xfrm>
            <a:off x="6270321" y="4913921"/>
            <a:ext cx="111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2"/>
                </a:solidFill>
              </a:rPr>
              <a:t>firstword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8" name="TextBox 2"/>
          <p:cNvSpPr txBox="1"/>
          <p:nvPr/>
        </p:nvSpPr>
        <p:spPr>
          <a:xfrm>
            <a:off x="8357998" y="4910306"/>
            <a:ext cx="133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2"/>
                </a:solidFill>
              </a:rPr>
              <a:t>doubleword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89825" y="122051"/>
            <a:ext cx="839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词法分析</a:t>
            </a:r>
            <a:r>
              <a:rPr kumimoji="1" lang="en-US" altLang="zh-CN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状态图</a:t>
            </a:r>
            <a:endParaRPr kumimoji="1" lang="zh-CN" altLang="en-US" sz="28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-42185" y="706826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右箭头 5"/>
          <p:cNvSpPr/>
          <p:nvPr/>
        </p:nvSpPr>
        <p:spPr bwMode="auto">
          <a:xfrm>
            <a:off x="3117953" y="1944744"/>
            <a:ext cx="139184" cy="96111"/>
          </a:xfrm>
          <a:prstGeom prst="rightArrow">
            <a:avLst/>
          </a:prstGeom>
          <a:solidFill>
            <a:srgbClr val="002060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右箭头 69"/>
          <p:cNvSpPr/>
          <p:nvPr/>
        </p:nvSpPr>
        <p:spPr bwMode="auto">
          <a:xfrm>
            <a:off x="3103224" y="3151178"/>
            <a:ext cx="139184" cy="96111"/>
          </a:xfrm>
          <a:prstGeom prst="rightArrow">
            <a:avLst/>
          </a:prstGeom>
          <a:solidFill>
            <a:srgbClr val="002060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右箭头 70"/>
          <p:cNvSpPr/>
          <p:nvPr/>
        </p:nvSpPr>
        <p:spPr bwMode="auto">
          <a:xfrm>
            <a:off x="3117953" y="4110931"/>
            <a:ext cx="139184" cy="96111"/>
          </a:xfrm>
          <a:prstGeom prst="rightArrow">
            <a:avLst/>
          </a:prstGeom>
          <a:solidFill>
            <a:srgbClr val="002060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右箭头 71"/>
          <p:cNvSpPr/>
          <p:nvPr/>
        </p:nvSpPr>
        <p:spPr bwMode="auto">
          <a:xfrm>
            <a:off x="3108832" y="5006410"/>
            <a:ext cx="139184" cy="96111"/>
          </a:xfrm>
          <a:prstGeom prst="rightArrow">
            <a:avLst/>
          </a:prstGeom>
          <a:solidFill>
            <a:srgbClr val="002060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右箭头 72"/>
          <p:cNvSpPr/>
          <p:nvPr/>
        </p:nvSpPr>
        <p:spPr bwMode="auto">
          <a:xfrm>
            <a:off x="3062335" y="6026753"/>
            <a:ext cx="139184" cy="96111"/>
          </a:xfrm>
          <a:prstGeom prst="rightArrow">
            <a:avLst/>
          </a:prstGeom>
          <a:solidFill>
            <a:srgbClr val="002060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22" grpId="0"/>
      <p:bldP spid="48" grpId="0"/>
      <p:bldP spid="50" grpId="0"/>
      <p:bldP spid="51" grpId="0"/>
      <p:bldP spid="52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日期占位符 2"/>
          <p:cNvSpPr>
            <a:spLocks noGrp="1"/>
          </p:cNvSpPr>
          <p:nvPr>
            <p:ph type="dt" sz="quarter" idx="10"/>
          </p:nvPr>
        </p:nvSpPr>
        <p:spPr>
          <a:xfrm>
            <a:off x="1461435" y="6212030"/>
            <a:ext cx="2540000" cy="457200"/>
          </a:xfrm>
        </p:spPr>
        <p:txBody>
          <a:bodyPr/>
          <a:lstStyle/>
          <a:p>
            <a:pPr>
              <a:defRPr/>
            </a:pPr>
            <a:fld id="{7A4BC5F2-4678-432E-A04D-D8515368ACCE}" type="datetime1">
              <a:rPr lang="zh-CN" altLang="en-US"/>
            </a:fld>
            <a:endParaRPr lang="en-US" altLang="zh-CN"/>
          </a:p>
        </p:txBody>
      </p:sp>
      <p:sp>
        <p:nvSpPr>
          <p:cNvPr id="6963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7BCE2D-F676-433E-AABB-4B512D7F21EF}" type="slidenum">
              <a:rPr lang="en-US" altLang="zh-CN" sz="1400" smtClean="0"/>
            </a:fld>
            <a:endParaRPr lang="en-US" altLang="zh-CN" sz="1400" smtClean="0"/>
          </a:p>
        </p:txBody>
      </p:sp>
      <p:grpSp>
        <p:nvGrpSpPr>
          <p:cNvPr id="69636" name="Group 8"/>
          <p:cNvGrpSpPr/>
          <p:nvPr/>
        </p:nvGrpSpPr>
        <p:grpSpPr bwMode="auto">
          <a:xfrm>
            <a:off x="654148" y="2388716"/>
            <a:ext cx="3944938" cy="1604564"/>
            <a:chOff x="624" y="1536"/>
            <a:chExt cx="1968" cy="808"/>
          </a:xfrm>
        </p:grpSpPr>
        <p:sp>
          <p:nvSpPr>
            <p:cNvPr id="69641" name="Text Box 9"/>
            <p:cNvSpPr txBox="1">
              <a:spLocks noChangeArrowheads="1"/>
            </p:cNvSpPr>
            <p:nvPr/>
          </p:nvSpPr>
          <p:spPr bwMode="auto">
            <a:xfrm>
              <a:off x="1056" y="1536"/>
              <a:ext cx="1152" cy="232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bg2"/>
                  </a:solidFill>
                </a:rPr>
                <a:t>输入字符序列</a:t>
              </a:r>
              <a:r>
                <a:rPr lang="zh-CN" altLang="en-US" sz="2400" dirty="0"/>
                <a:t> </a:t>
              </a:r>
              <a:endParaRPr lang="zh-CN" altLang="en-US" sz="2400" dirty="0"/>
            </a:p>
          </p:txBody>
        </p:sp>
        <p:sp>
          <p:nvSpPr>
            <p:cNvPr id="69642" name="Text Box 10"/>
            <p:cNvSpPr txBox="1">
              <a:spLocks noChangeArrowheads="1"/>
            </p:cNvSpPr>
            <p:nvPr/>
          </p:nvSpPr>
          <p:spPr bwMode="auto">
            <a:xfrm>
              <a:off x="624" y="2112"/>
              <a:ext cx="720" cy="232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chemeClr val="bg2"/>
                  </a:solidFill>
                </a:rPr>
                <a:t>分析表</a:t>
              </a:r>
              <a:r>
                <a:rPr lang="zh-CN" altLang="en-US" sz="2400"/>
                <a:t> </a:t>
              </a:r>
              <a:endParaRPr lang="zh-CN" altLang="en-US" sz="2400"/>
            </a:p>
          </p:txBody>
        </p:sp>
        <p:sp>
          <p:nvSpPr>
            <p:cNvPr id="69643" name="Text Box 11"/>
            <p:cNvSpPr txBox="1">
              <a:spLocks noChangeArrowheads="1"/>
            </p:cNvSpPr>
            <p:nvPr/>
          </p:nvSpPr>
          <p:spPr bwMode="auto">
            <a:xfrm>
              <a:off x="1728" y="2112"/>
              <a:ext cx="864" cy="232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chemeClr val="bg2"/>
                  </a:solidFill>
                </a:rPr>
                <a:t>控制程序</a:t>
              </a:r>
              <a:r>
                <a:rPr lang="zh-CN" altLang="en-US" sz="2400"/>
                <a:t> </a:t>
              </a:r>
              <a:endParaRPr lang="zh-CN" altLang="en-US" sz="2400"/>
            </a:p>
          </p:txBody>
        </p:sp>
        <p:sp>
          <p:nvSpPr>
            <p:cNvPr id="953356" name="Line 12"/>
            <p:cNvSpPr>
              <a:spLocks noChangeShapeType="1"/>
            </p:cNvSpPr>
            <p:nvPr/>
          </p:nvSpPr>
          <p:spPr bwMode="auto">
            <a:xfrm flipV="1">
              <a:off x="1200" y="1776"/>
              <a:ext cx="0" cy="337"/>
            </a:xfrm>
            <a:prstGeom prst="line">
              <a:avLst/>
            </a:prstGeom>
            <a:noFill/>
            <a:ln w="57150">
              <a:solidFill>
                <a:schemeClr val="tx1">
                  <a:lumMod val="6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53357" name="Line 13"/>
            <p:cNvSpPr>
              <a:spLocks noChangeShapeType="1"/>
            </p:cNvSpPr>
            <p:nvPr/>
          </p:nvSpPr>
          <p:spPr bwMode="auto">
            <a:xfrm>
              <a:off x="2016" y="1776"/>
              <a:ext cx="0" cy="337"/>
            </a:xfrm>
            <a:prstGeom prst="line">
              <a:avLst/>
            </a:prstGeom>
            <a:noFill/>
            <a:ln w="57150">
              <a:solidFill>
                <a:schemeClr val="tx1">
                  <a:lumMod val="6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53358" name="Line 14"/>
            <p:cNvSpPr>
              <a:spLocks noChangeShapeType="1"/>
            </p:cNvSpPr>
            <p:nvPr/>
          </p:nvSpPr>
          <p:spPr bwMode="auto">
            <a:xfrm flipH="1">
              <a:off x="1317" y="2176"/>
              <a:ext cx="384" cy="0"/>
            </a:xfrm>
            <a:prstGeom prst="line">
              <a:avLst/>
            </a:prstGeom>
            <a:noFill/>
            <a:ln w="57150">
              <a:solidFill>
                <a:schemeClr val="tx1">
                  <a:lumMod val="6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53359" name="Line 15"/>
            <p:cNvSpPr>
              <a:spLocks noChangeShapeType="1"/>
            </p:cNvSpPr>
            <p:nvPr/>
          </p:nvSpPr>
          <p:spPr bwMode="auto">
            <a:xfrm>
              <a:off x="1344" y="2289"/>
              <a:ext cx="384" cy="0"/>
            </a:xfrm>
            <a:prstGeom prst="line">
              <a:avLst/>
            </a:prstGeom>
            <a:noFill/>
            <a:ln w="57150">
              <a:solidFill>
                <a:schemeClr val="tx1">
                  <a:lumMod val="6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6" name="AutoShape 7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331450" y="6505575"/>
            <a:ext cx="336550" cy="352425"/>
          </a:xfrm>
          <a:prstGeom prst="actionButtonForwardNext">
            <a:avLst/>
          </a:prstGeom>
          <a:solidFill>
            <a:srgbClr val="F8F8F8"/>
          </a:solidFill>
          <a:ln w="9525">
            <a:solidFill>
              <a:schemeClr val="tx1">
                <a:lumMod val="95000"/>
              </a:schemeClr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5343597" y="1302662"/>
            <a:ext cx="6640830" cy="4114800"/>
          </a:xfrm>
          <a:prstGeom prst="rect">
            <a:avLst/>
          </a:prstGeom>
          <a:solidFill>
            <a:srgbClr val="F8F8F8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Monotype Sorts" pitchFamily="2" charset="2"/>
              <a:buNone/>
              <a:defRPr/>
            </a:pP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DFA M=( Q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，∑，</a:t>
            </a: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q</a:t>
            </a:r>
            <a:r>
              <a:rPr lang="en-US" altLang="zh-CN" sz="2800" kern="0" baseline="-25000" dirty="0" smtClean="0">
                <a:solidFill>
                  <a:schemeClr val="bg2"/>
                </a:solidFill>
                <a:effectLst/>
              </a:rPr>
              <a:t>0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，</a:t>
            </a:r>
            <a:r>
              <a:rPr lang="en-US" altLang="zh-CN" sz="2800" kern="0" dirty="0" smtClean="0">
                <a:solidFill>
                  <a:srgbClr val="FF3F3F"/>
                </a:solidFill>
                <a:effectLst/>
              </a:rPr>
              <a:t>F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，</a:t>
            </a:r>
            <a:r>
              <a:rPr lang="en-US" altLang="zh-CN" sz="2800" kern="0" dirty="0" smtClean="0">
                <a:solidFill>
                  <a:schemeClr val="bg2"/>
                </a:solidFill>
                <a:effectLst/>
              </a:rPr>
              <a:t>δ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）的</a:t>
            </a:r>
            <a:r>
              <a:rPr lang="zh-CN" altLang="en-US" sz="2800" dirty="0" smtClean="0">
                <a:solidFill>
                  <a:schemeClr val="bg2"/>
                </a:solidFill>
                <a:effectLst/>
              </a:rPr>
              <a:t>控制</a:t>
            </a:r>
            <a:r>
              <a:rPr lang="zh-CN" altLang="en-US" sz="2800" kern="0" dirty="0" smtClean="0">
                <a:solidFill>
                  <a:schemeClr val="bg2"/>
                </a:solidFill>
                <a:effectLst/>
              </a:rPr>
              <a:t>程序</a:t>
            </a:r>
            <a:endParaRPr lang="zh-CN" altLang="en-US" sz="2800" kern="0" dirty="0" smtClean="0">
              <a:solidFill>
                <a:schemeClr val="bg2"/>
              </a:solidFill>
              <a:effectLst/>
            </a:endParaRPr>
          </a:p>
          <a:p>
            <a:pPr lvl="1">
              <a:buFont typeface="Monotype Sorts" pitchFamily="2" charset="2"/>
              <a:buNone/>
              <a:defRPr/>
            </a:pPr>
            <a:r>
              <a:rPr lang="en-US" altLang="zh-CN" sz="2400" kern="0" dirty="0" smtClean="0">
                <a:solidFill>
                  <a:schemeClr val="bg1"/>
                </a:solidFill>
                <a:effectLst/>
              </a:rPr>
              <a:t>K = </a:t>
            </a: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q</a:t>
            </a:r>
            <a:r>
              <a:rPr lang="en-US" altLang="zh-CN" sz="2400" kern="0" baseline="-25000" dirty="0" smtClean="0">
                <a:solidFill>
                  <a:schemeClr val="bg2"/>
                </a:solidFill>
                <a:effectLst/>
              </a:rPr>
              <a:t>0</a:t>
            </a:r>
            <a:r>
              <a:rPr lang="en-US" altLang="zh-CN" sz="2400" kern="0" dirty="0" smtClean="0">
                <a:solidFill>
                  <a:schemeClr val="bg1"/>
                </a:solidFill>
                <a:effectLst/>
              </a:rPr>
              <a:t> </a:t>
            </a:r>
            <a:r>
              <a:rPr lang="zh-CN" altLang="en-US" sz="2400" kern="0" dirty="0" smtClean="0">
                <a:solidFill>
                  <a:schemeClr val="bg2"/>
                </a:solidFill>
                <a:effectLst/>
              </a:rPr>
              <a:t>；</a:t>
            </a:r>
            <a:endParaRPr lang="zh-CN" altLang="en-US" sz="2400" kern="0" dirty="0" smtClean="0">
              <a:solidFill>
                <a:schemeClr val="bg2"/>
              </a:solidFill>
              <a:effectLst/>
            </a:endParaRPr>
          </a:p>
          <a:p>
            <a:pPr lvl="1">
              <a:buFont typeface="Monotype Sorts" pitchFamily="2" charset="2"/>
              <a:buNone/>
              <a:defRPr/>
            </a:pP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c =</a:t>
            </a:r>
            <a:r>
              <a:rPr lang="en-US" altLang="zh-CN" sz="2400" kern="0" dirty="0" err="1" smtClean="0">
                <a:solidFill>
                  <a:schemeClr val="bg2"/>
                </a:solidFill>
                <a:effectLst/>
              </a:rPr>
              <a:t>getchar</a:t>
            </a: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( );</a:t>
            </a:r>
            <a:endParaRPr lang="en-US" altLang="zh-CN" sz="2400" kern="0" dirty="0" smtClean="0">
              <a:solidFill>
                <a:schemeClr val="bg2"/>
              </a:solidFill>
              <a:effectLst/>
            </a:endParaRPr>
          </a:p>
          <a:p>
            <a:pPr lvl="1">
              <a:buFont typeface="Monotype Sorts" pitchFamily="2" charset="2"/>
              <a:buNone/>
              <a:defRPr/>
            </a:pP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while c !=EOF do </a:t>
            </a:r>
            <a:endParaRPr lang="en-US" altLang="zh-CN" sz="2400" kern="0" dirty="0" smtClean="0">
              <a:solidFill>
                <a:schemeClr val="bg2"/>
              </a:solidFill>
              <a:effectLst/>
            </a:endParaRPr>
          </a:p>
          <a:p>
            <a:pPr lvl="1">
              <a:buFont typeface="Monotype Sorts" pitchFamily="2" charset="2"/>
              <a:buNone/>
              <a:defRPr/>
            </a:pP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    {K= δ(K, c);</a:t>
            </a:r>
            <a:endParaRPr lang="en-US" altLang="zh-CN" sz="2400" kern="0" dirty="0" smtClean="0">
              <a:solidFill>
                <a:schemeClr val="bg2"/>
              </a:solidFill>
              <a:effectLst/>
            </a:endParaRPr>
          </a:p>
          <a:p>
            <a:pPr lvl="1">
              <a:buFont typeface="Monotype Sorts" pitchFamily="2" charset="2"/>
              <a:buNone/>
              <a:defRPr/>
            </a:pP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      c=</a:t>
            </a:r>
            <a:r>
              <a:rPr lang="en-US" altLang="zh-CN" sz="2400" kern="0" dirty="0" err="1" smtClean="0">
                <a:solidFill>
                  <a:schemeClr val="bg2"/>
                </a:solidFill>
                <a:effectLst/>
              </a:rPr>
              <a:t>getchar</a:t>
            </a: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( );</a:t>
            </a:r>
            <a:endParaRPr lang="en-US" altLang="zh-CN" sz="2400" kern="0" dirty="0" smtClean="0">
              <a:solidFill>
                <a:schemeClr val="bg2"/>
              </a:solidFill>
              <a:effectLst/>
            </a:endParaRPr>
          </a:p>
          <a:p>
            <a:pPr lvl="1">
              <a:buFont typeface="Monotype Sorts" pitchFamily="2" charset="2"/>
              <a:buNone/>
              <a:defRPr/>
            </a:pP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    };</a:t>
            </a:r>
            <a:endParaRPr lang="en-US" altLang="zh-CN" sz="2400" kern="0" dirty="0" smtClean="0">
              <a:solidFill>
                <a:schemeClr val="bg2"/>
              </a:solidFill>
              <a:effectLst/>
            </a:endParaRPr>
          </a:p>
          <a:p>
            <a:pPr lvl="1">
              <a:buFont typeface="Monotype Sorts" pitchFamily="2" charset="2"/>
              <a:buNone/>
              <a:defRPr/>
            </a:pP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if </a:t>
            </a:r>
            <a:r>
              <a:rPr lang="en-US" altLang="zh-CN" sz="2400" kern="0" dirty="0" smtClean="0">
                <a:solidFill>
                  <a:schemeClr val="bg1"/>
                </a:solidFill>
                <a:effectLst/>
              </a:rPr>
              <a:t>K</a:t>
            </a: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 is in</a:t>
            </a:r>
            <a:r>
              <a:rPr lang="en-US" altLang="zh-CN" sz="2400" kern="0" dirty="0" smtClean="0">
                <a:solidFill>
                  <a:schemeClr val="hlink"/>
                </a:solidFill>
                <a:effectLst/>
              </a:rPr>
              <a:t> </a:t>
            </a:r>
            <a:r>
              <a:rPr lang="en-US" altLang="zh-CN" sz="2400" kern="0" dirty="0" smtClean="0">
                <a:solidFill>
                  <a:srgbClr val="FF3F3F"/>
                </a:solidFill>
                <a:effectLst/>
              </a:rPr>
              <a:t>F</a:t>
            </a: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 then return (‘yes’)</a:t>
            </a:r>
            <a:endParaRPr lang="en-US" altLang="zh-CN" sz="2400" kern="0" dirty="0" smtClean="0">
              <a:solidFill>
                <a:schemeClr val="bg2"/>
              </a:solidFill>
              <a:effectLst/>
            </a:endParaRPr>
          </a:p>
          <a:p>
            <a:pPr lvl="1">
              <a:buFont typeface="Monotype Sorts" pitchFamily="2" charset="2"/>
              <a:buNone/>
              <a:defRPr/>
            </a:pPr>
            <a:r>
              <a:rPr lang="en-US" altLang="zh-CN" sz="2400" kern="0" dirty="0" smtClean="0">
                <a:solidFill>
                  <a:schemeClr val="bg2"/>
                </a:solidFill>
                <a:effectLst/>
              </a:rPr>
              <a:t>else return (‘no’)</a:t>
            </a:r>
            <a:endParaRPr lang="en-US" altLang="zh-CN" sz="2400" kern="0" dirty="0" smtClean="0">
              <a:solidFill>
                <a:schemeClr val="bg2"/>
              </a:solidFill>
              <a:effectLst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89824" y="122051"/>
            <a:ext cx="4193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词法分析</a:t>
            </a:r>
            <a:r>
              <a:rPr kumimoji="1" lang="en-US" altLang="zh-CN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zh-CN" altLang="en-US" sz="2800" b="1" dirty="0">
                <a:solidFill>
                  <a:srgbClr val="0070C0"/>
                </a:solidFill>
              </a:rPr>
              <a:t>表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驱动</a:t>
            </a:r>
            <a:r>
              <a:rPr lang="zh-CN" altLang="en-US" sz="2800" b="1" dirty="0" smtClean="0">
                <a:solidFill>
                  <a:srgbClr val="0070C0"/>
                </a:solidFill>
                <a:sym typeface="+mn-ea"/>
              </a:rPr>
              <a:t>法</a:t>
            </a:r>
            <a:endParaRPr kumimoji="1" lang="zh-CN" altLang="en-US" sz="2800" b="1" dirty="0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0" y="784623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897884" y="4359086"/>
            <a:ext cx="345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表驱动</a:t>
            </a:r>
            <a:r>
              <a:rPr lang="zh-CN" altLang="en-US" b="1" dirty="0" smtClean="0">
                <a:solidFill>
                  <a:srgbClr val="0070C0"/>
                </a:solidFill>
                <a:sym typeface="+mn-ea"/>
              </a:rPr>
              <a:t>的词法分析</a:t>
            </a:r>
            <a:r>
              <a:rPr lang="zh-CN" altLang="en-US" b="1" dirty="0">
                <a:solidFill>
                  <a:srgbClr val="0070C0"/>
                </a:solidFill>
                <a:sym typeface="+mn-ea"/>
              </a:rPr>
              <a:t>程序的模型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2" autoUpdateAnimBg="0" build="p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TABLE_BEAUTIFY" val="smartTable{1c67be90-3fc5-4cb0-b695-90cc3255d2a0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0091abe0-e451-42f2-835b-faf7e11c1ef7"/>
  <p:tag name="COMMONDATA" val="eyJoZGlkIjoiNDVjNDA0OWZmOTNhOTNjZTliYzFmMzdkZjdiNDA1NzMifQ=="/>
  <p:tag name="commondata" val="eyJoZGlkIjoiYTA0Y2Y2NmQ3ZDA3ZGNhZTYyYjBkZTg5MzMyNzRmYmYifQ=="/>
</p:tagLst>
</file>

<file path=ppt/theme/theme1.xml><?xml version="1.0" encoding="utf-8"?>
<a:theme xmlns:a="http://schemas.openxmlformats.org/drawingml/2006/main" name="7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solidFill>
          <a:srgbClr val="FFFFCC"/>
        </a:solidFill>
        <a:ln w="285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8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solidFill>
          <a:srgbClr val="FFFFCC"/>
        </a:solidFill>
        <a:ln w="285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solidFill>
          <a:srgbClr val="FFFFCC"/>
        </a:solidFill>
        <a:ln w="285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2073</Words>
  <Application>WPS 演示</Application>
  <PresentationFormat>宽屏</PresentationFormat>
  <Paragraphs>334</Paragraphs>
  <Slides>11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44" baseType="lpstr">
      <vt:lpstr>Arial</vt:lpstr>
      <vt:lpstr>宋体</vt:lpstr>
      <vt:lpstr>Wingdings</vt:lpstr>
      <vt:lpstr>Monotype Sorts</vt:lpstr>
      <vt:lpstr>Wingdings</vt:lpstr>
      <vt:lpstr>Times New Roman</vt:lpstr>
      <vt:lpstr>楷体_GB2312</vt:lpstr>
      <vt:lpstr>新宋体</vt:lpstr>
      <vt:lpstr>Calibri</vt:lpstr>
      <vt:lpstr>微软雅黑</vt:lpstr>
      <vt:lpstr>方正兰亭粗黑_GBK</vt:lpstr>
      <vt:lpstr>黑体</vt:lpstr>
      <vt:lpstr>等线</vt:lpstr>
      <vt:lpstr>华文彩云</vt:lpstr>
      <vt:lpstr>Tahoma</vt:lpstr>
      <vt:lpstr>华文中宋</vt:lpstr>
      <vt:lpstr>Symbol</vt:lpstr>
      <vt:lpstr>Arial Unicode MS</vt:lpstr>
      <vt:lpstr>Times New Roman</vt:lpstr>
      <vt:lpstr>Wingdings 2</vt:lpstr>
      <vt:lpstr>Arial Unicode MS</vt:lpstr>
      <vt:lpstr>Calibri</vt:lpstr>
      <vt:lpstr>仿宋_GB2312</vt:lpstr>
      <vt:lpstr>仿宋</vt:lpstr>
      <vt:lpstr>隶书</vt:lpstr>
      <vt:lpstr>方正大黑简体</vt:lpstr>
      <vt:lpstr>迷你简北魏楷书</vt:lpstr>
      <vt:lpstr>Source Code Pro Black</vt:lpstr>
      <vt:lpstr>Yu Gothic UI Semibold</vt:lpstr>
      <vt:lpstr>等线 Light</vt:lpstr>
      <vt:lpstr>7_Azure</vt:lpstr>
      <vt:lpstr>8_Azure</vt:lpstr>
      <vt:lpstr>1_Azure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TEST语言各条词法规则的状态图   标识符        无符号整数    单分界符   双分界符   注释  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dlmu</dc:creator>
  <cp:lastModifiedBy>lenovo</cp:lastModifiedBy>
  <cp:revision>361</cp:revision>
  <dcterms:created xsi:type="dcterms:W3CDTF">2020-10-30T00:37:00Z</dcterms:created>
  <dcterms:modified xsi:type="dcterms:W3CDTF">2024-04-29T08:16:29Z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4D29239EE6544AD1A38847FFD0C1044F_13</vt:lpwstr>
  </property>
</Properties>
</file>