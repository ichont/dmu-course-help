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314" r:id="rId3"/>
    <p:sldId id="322" r:id="rId4"/>
    <p:sldId id="339" r:id="rId5"/>
    <p:sldId id="342" r:id="rId6"/>
    <p:sldId id="343" r:id="rId7"/>
    <p:sldId id="344" r:id="rId8"/>
    <p:sldId id="345" r:id="rId9"/>
    <p:sldId id="346" r:id="rId10"/>
    <p:sldId id="347" r:id="rId11"/>
    <p:sldId id="348" r:id="rId12"/>
    <p:sldId id="349" r:id="rId13"/>
    <p:sldId id="350" r:id="rId14"/>
    <p:sldId id="351" r:id="rId15"/>
    <p:sldId id="367" r:id="rId16"/>
    <p:sldId id="260" r:id="rId17"/>
    <p:sldId id="320" r:id="rId18"/>
    <p:sldId id="386" r:id="rId19"/>
    <p:sldId id="387" r:id="rId20"/>
    <p:sldId id="393" r:id="rId21"/>
    <p:sldId id="321" r:id="rId22"/>
    <p:sldId id="380" r:id="rId23"/>
    <p:sldId id="394" r:id="rId24"/>
    <p:sldId id="388" r:id="rId25"/>
    <p:sldId id="390" r:id="rId26"/>
    <p:sldId id="391" r:id="rId27"/>
    <p:sldId id="318" r:id="rId28"/>
    <p:sldId id="381" r:id="rId29"/>
    <p:sldId id="395" r:id="rId30"/>
    <p:sldId id="317" r:id="rId31"/>
    <p:sldId id="382" r:id="rId32"/>
    <p:sldId id="396" r:id="rId33"/>
    <p:sldId id="316" r:id="rId34"/>
    <p:sldId id="319" r:id="rId35"/>
    <p:sldId id="384" r:id="rId36"/>
    <p:sldId id="392" r:id="rId37"/>
    <p:sldId id="325" r:id="rId38"/>
    <p:sldId id="328" r:id="rId39"/>
    <p:sldId id="352"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8" r:id="rId55"/>
    <p:sldId id="369" r:id="rId56"/>
    <p:sldId id="370" r:id="rId57"/>
    <p:sldId id="371" r:id="rId58"/>
    <p:sldId id="372" r:id="rId59"/>
    <p:sldId id="374" r:id="rId60"/>
    <p:sldId id="375" r:id="rId61"/>
    <p:sldId id="376" r:id="rId62"/>
    <p:sldId id="377" r:id="rId63"/>
    <p:sldId id="378" r:id="rId64"/>
    <p:sldId id="311" r:id="rId65"/>
    <p:sldId id="312" r:id="rId66"/>
    <p:sldId id="313" r:id="rId6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69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C2BFB2-AF09-4A1B-8E27-DE7C1BAF3C6E}" type="datetimeFigureOut">
              <a:rPr lang="zh-CN" altLang="en-US" smtClean="0"/>
              <a:t>2023/2/27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2D8B34-429B-49A5-8481-EE8282DC5F0C}" type="slidenum">
              <a:rPr lang="zh-CN" altLang="en-US" smtClean="0"/>
              <a:t>‹#›</a:t>
            </a:fld>
            <a:endParaRPr lang="zh-CN" altLang="en-US"/>
          </a:p>
        </p:txBody>
      </p:sp>
    </p:spTree>
    <p:extLst>
      <p:ext uri="{BB962C8B-B14F-4D97-AF65-F5344CB8AC3E}">
        <p14:creationId xmlns:p14="http://schemas.microsoft.com/office/powerpoint/2010/main" val="3939249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endParaRPr lang="zh-CN" altLang="en-US" sz="800" smtClean="0"/>
          </a:p>
          <a:p>
            <a:pPr>
              <a:lnSpc>
                <a:spcPct val="80000"/>
              </a:lnSpc>
            </a:pPr>
            <a:r>
              <a:rPr lang="zh-CN" altLang="en-US" sz="800" smtClean="0"/>
              <a:t>说法</a:t>
            </a:r>
            <a:r>
              <a:rPr lang="en-US" altLang="zh-CN" sz="800" smtClean="0"/>
              <a:t>1</a:t>
            </a:r>
            <a:r>
              <a:rPr lang="zh-CN" altLang="en-US" sz="800" smtClean="0"/>
              <a:t>：</a:t>
            </a:r>
          </a:p>
          <a:p>
            <a:pPr>
              <a:lnSpc>
                <a:spcPct val="80000"/>
              </a:lnSpc>
            </a:pPr>
            <a:r>
              <a:rPr lang="zh-CN" altLang="en-US" sz="800" smtClean="0"/>
              <a:t>设计软件的几个原则，这个也是设计模式的精髓所在：</a:t>
            </a:r>
            <a:br>
              <a:rPr lang="zh-CN" altLang="en-US" sz="800" smtClean="0"/>
            </a:br>
            <a:r>
              <a:rPr lang="zh-CN" altLang="en-US" sz="800" smtClean="0"/>
              <a:t>　　</a:t>
            </a:r>
            <a:r>
              <a:rPr lang="en-US" altLang="zh-CN" sz="800" smtClean="0"/>
              <a:t>1.</a:t>
            </a:r>
            <a:r>
              <a:rPr lang="zh-CN" altLang="en-US" sz="800" smtClean="0"/>
              <a:t>开－闭原则</a:t>
            </a:r>
            <a:br>
              <a:rPr lang="zh-CN" altLang="en-US" sz="800" smtClean="0"/>
            </a:br>
            <a:r>
              <a:rPr lang="zh-CN" altLang="en-US" sz="800" smtClean="0"/>
              <a:t>　　</a:t>
            </a:r>
            <a:r>
              <a:rPr lang="en-US" altLang="zh-CN" sz="800" smtClean="0"/>
              <a:t>1</a:t>
            </a:r>
            <a:r>
              <a:rPr lang="zh-CN" altLang="en-US" sz="800" smtClean="0"/>
              <a:t>）</a:t>
            </a:r>
            <a:r>
              <a:rPr lang="en-US" altLang="zh-CN" sz="800" smtClean="0"/>
              <a:t>.</a:t>
            </a:r>
            <a:r>
              <a:rPr lang="zh-CN" altLang="en-US" sz="800" smtClean="0"/>
              <a:t>客户的需求是不稳定的，通过扩展已有的软件系统而不是通过修改软件系统来满足客户的需求，这样的软件系统就满足开－闭原则，即软件系统要有一定的灵活性和适应性。</a:t>
            </a:r>
            <a:br>
              <a:rPr lang="zh-CN" altLang="en-US" sz="800" smtClean="0"/>
            </a:br>
            <a:r>
              <a:rPr lang="zh-CN" altLang="en-US" sz="800" smtClean="0"/>
              <a:t>　　</a:t>
            </a:r>
            <a:r>
              <a:rPr lang="en-US" altLang="zh-CN" sz="800" smtClean="0"/>
              <a:t>2) . </a:t>
            </a:r>
            <a:r>
              <a:rPr lang="zh-CN" altLang="en-US" sz="800" smtClean="0"/>
              <a:t>已有的模块，特别是抽象层的模块不能修改，保证软件系统的稳定性和延续性。</a:t>
            </a:r>
            <a:br>
              <a:rPr lang="zh-CN" altLang="en-US" sz="800" smtClean="0"/>
            </a:br>
            <a:r>
              <a:rPr lang="zh-CN" altLang="en-US" sz="800" smtClean="0"/>
              <a:t>　　解决问题的关键是抽象化，把它与具体实现分离开来。接口（</a:t>
            </a:r>
            <a:r>
              <a:rPr lang="en-US" altLang="zh-CN" sz="800" smtClean="0"/>
              <a:t>interface</a:t>
            </a:r>
            <a:r>
              <a:rPr lang="zh-CN" altLang="en-US" sz="800" smtClean="0"/>
              <a:t>），抽象类的应用</a:t>
            </a:r>
            <a:br>
              <a:rPr lang="zh-CN" altLang="en-US" sz="800" smtClean="0"/>
            </a:br>
            <a:r>
              <a:rPr lang="zh-CN" altLang="en-US" sz="800" smtClean="0"/>
              <a:t>　　对可变性封装：将可变性封装到一个对象里。</a:t>
            </a:r>
            <a:br>
              <a:rPr lang="zh-CN" altLang="en-US" sz="800" smtClean="0"/>
            </a:br>
            <a:r>
              <a:rPr lang="zh-CN" altLang="en-US" sz="800" smtClean="0"/>
              <a:t>　　</a:t>
            </a:r>
            <a:r>
              <a:rPr lang="en-US" altLang="zh-CN" sz="800" smtClean="0"/>
              <a:t>2.</a:t>
            </a:r>
            <a:r>
              <a:rPr lang="zh-CN" altLang="en-US" sz="800" smtClean="0"/>
              <a:t>抽象类</a:t>
            </a:r>
            <a:br>
              <a:rPr lang="zh-CN" altLang="en-US" sz="800" smtClean="0"/>
            </a:br>
            <a:r>
              <a:rPr lang="zh-CN" altLang="en-US" sz="800" smtClean="0"/>
              <a:t>　　抽象类不会有实例，一般作为父类为子类继承，一般包含这个系的共同属性和方法。</a:t>
            </a:r>
            <a:br>
              <a:rPr lang="zh-CN" altLang="en-US" sz="800" smtClean="0"/>
            </a:br>
            <a:r>
              <a:rPr lang="zh-CN" altLang="en-US" sz="800" smtClean="0"/>
              <a:t>　　注意：好的继承关系中，只有叶节点是具体类，其他节点应该都是抽象类，也就是说具体类</a:t>
            </a:r>
            <a:br>
              <a:rPr lang="zh-CN" altLang="en-US" sz="800" smtClean="0"/>
            </a:br>
            <a:r>
              <a:rPr lang="zh-CN" altLang="en-US" sz="800" smtClean="0"/>
              <a:t>　　是不被继承的。将尽可能多的共同代码放到抽象类中。</a:t>
            </a:r>
            <a:br>
              <a:rPr lang="zh-CN" altLang="en-US" sz="800" smtClean="0"/>
            </a:br>
            <a:r>
              <a:rPr lang="zh-CN" altLang="en-US" sz="800" smtClean="0"/>
              <a:t>　　</a:t>
            </a:r>
            <a:r>
              <a:rPr lang="en-US" altLang="zh-CN" sz="800" smtClean="0"/>
              <a:t>3.</a:t>
            </a:r>
            <a:r>
              <a:rPr lang="zh-CN" altLang="en-US" sz="800" smtClean="0"/>
              <a:t>里氏代换原则</a:t>
            </a:r>
            <a:br>
              <a:rPr lang="zh-CN" altLang="en-US" sz="800" smtClean="0"/>
            </a:br>
            <a:r>
              <a:rPr lang="zh-CN" altLang="en-US" sz="800" smtClean="0"/>
              <a:t>　　在有基类出现的地方，子类均可以替代。</a:t>
            </a:r>
            <a:br>
              <a:rPr lang="zh-CN" altLang="en-US" sz="800" smtClean="0"/>
            </a:br>
            <a:r>
              <a:rPr lang="zh-CN" altLang="en-US" sz="800" smtClean="0"/>
              <a:t>　　当两个具体类关系违反里氏代换原则时，一种办法是抽象出一个基类，作为这两个类的父类，</a:t>
            </a:r>
            <a:br>
              <a:rPr lang="zh-CN" altLang="en-US" sz="800" smtClean="0"/>
            </a:br>
            <a:r>
              <a:rPr lang="zh-CN" altLang="en-US" sz="800" smtClean="0"/>
              <a:t>　　一种是应用组合聚合关系建立关系。</a:t>
            </a:r>
            <a:br>
              <a:rPr lang="zh-CN" altLang="en-US" sz="800" smtClean="0"/>
            </a:br>
            <a:r>
              <a:rPr lang="zh-CN" altLang="en-US" sz="800" smtClean="0"/>
              <a:t>　　不要为了使用某些类的方法（功能）而滥用继承。</a:t>
            </a:r>
            <a:br>
              <a:rPr lang="zh-CN" altLang="en-US" sz="800" smtClean="0"/>
            </a:br>
            <a:r>
              <a:rPr lang="zh-CN" altLang="en-US" sz="800" smtClean="0"/>
              <a:t>　　</a:t>
            </a:r>
            <a:r>
              <a:rPr lang="en-US" altLang="zh-CN" sz="800" smtClean="0"/>
              <a:t>4 </a:t>
            </a:r>
            <a:r>
              <a:rPr lang="zh-CN" altLang="en-US" sz="800" smtClean="0"/>
              <a:t>依赖倒转原则</a:t>
            </a:r>
            <a:br>
              <a:rPr lang="zh-CN" altLang="en-US" sz="800" smtClean="0"/>
            </a:br>
            <a:r>
              <a:rPr lang="zh-CN" altLang="en-US" sz="800" smtClean="0"/>
              <a:t>　　抽象不应该依赖与细节，细节应当依赖与抽象。</a:t>
            </a:r>
            <a:br>
              <a:rPr lang="zh-CN" altLang="en-US" sz="800" smtClean="0"/>
            </a:br>
            <a:r>
              <a:rPr lang="zh-CN" altLang="en-US" sz="800" smtClean="0"/>
              <a:t>　　要针对接口编程，而不是针对实现编程。</a:t>
            </a:r>
            <a:br>
              <a:rPr lang="zh-CN" altLang="en-US" sz="800" smtClean="0"/>
            </a:br>
            <a:r>
              <a:rPr lang="zh-CN" altLang="en-US" sz="800" smtClean="0"/>
              <a:t>　　传递参数，或者在组合聚合关系中，尽量引用层次高的类。</a:t>
            </a:r>
            <a:br>
              <a:rPr lang="zh-CN" altLang="en-US" sz="800" smtClean="0"/>
            </a:br>
            <a:r>
              <a:rPr lang="zh-CN" altLang="en-US" sz="800" smtClean="0"/>
              <a:t>　　主要是在构造对象时可以动态的创建各种具体对象，当然如果一些具体类比较稳定，就不必在弄一个抽象类做它的父类，这样有画舌添足的感觉</a:t>
            </a:r>
            <a:br>
              <a:rPr lang="zh-CN" altLang="en-US" sz="800" smtClean="0"/>
            </a:br>
            <a:r>
              <a:rPr lang="zh-CN" altLang="en-US" sz="800" smtClean="0"/>
              <a:t>　　</a:t>
            </a:r>
            <a:r>
              <a:rPr lang="en-US" altLang="zh-CN" sz="800" smtClean="0"/>
              <a:t>5 </a:t>
            </a:r>
            <a:r>
              <a:rPr lang="zh-CN" altLang="en-US" sz="800" smtClean="0"/>
              <a:t>接口隔离原则</a:t>
            </a:r>
            <a:br>
              <a:rPr lang="zh-CN" altLang="en-US" sz="800" smtClean="0"/>
            </a:br>
            <a:r>
              <a:rPr lang="zh-CN" altLang="en-US" sz="800" smtClean="0"/>
              <a:t>　　定制服务的例子，每一个接口应该是一种角色，不多不少，不干不该干的事，该干的事都要干</a:t>
            </a:r>
            <a:br>
              <a:rPr lang="zh-CN" altLang="en-US" sz="800" smtClean="0"/>
            </a:br>
            <a:r>
              <a:rPr lang="zh-CN" altLang="en-US" sz="800" smtClean="0"/>
              <a:t>　　</a:t>
            </a:r>
            <a:r>
              <a:rPr lang="en-US" altLang="zh-CN" sz="800" smtClean="0"/>
              <a:t>6 </a:t>
            </a:r>
            <a:r>
              <a:rPr lang="zh-CN" altLang="en-US" sz="800" smtClean="0"/>
              <a:t>合成</a:t>
            </a:r>
            <a:r>
              <a:rPr lang="en-US" altLang="zh-CN" sz="800" smtClean="0"/>
              <a:t>/</a:t>
            </a:r>
            <a:r>
              <a:rPr lang="zh-CN" altLang="en-US" sz="800" smtClean="0"/>
              <a:t>聚合原则</a:t>
            </a:r>
            <a:br>
              <a:rPr lang="zh-CN" altLang="en-US" sz="800" smtClean="0"/>
            </a:br>
            <a:r>
              <a:rPr lang="zh-CN" altLang="en-US" sz="800" smtClean="0"/>
              <a:t>　　尽量使用合成聚合原则，少用慎用继承。</a:t>
            </a:r>
            <a:br>
              <a:rPr lang="zh-CN" altLang="en-US" sz="800" smtClean="0"/>
            </a:br>
            <a:r>
              <a:rPr lang="zh-CN" altLang="en-US" sz="800" smtClean="0"/>
              <a:t>　　合成：一荣俱荣，一损俱损，整体和部分的生命周期是一样的</a:t>
            </a:r>
            <a:br>
              <a:rPr lang="zh-CN" altLang="en-US" sz="800" smtClean="0"/>
            </a:br>
            <a:r>
              <a:rPr lang="zh-CN" altLang="en-US" sz="800" smtClean="0"/>
              <a:t>　　聚合：部分可以是整体的一部分，也可以脱离整体而存在。</a:t>
            </a:r>
            <a:br>
              <a:rPr lang="zh-CN" altLang="en-US" sz="800" smtClean="0"/>
            </a:br>
            <a:r>
              <a:rPr lang="zh-CN" altLang="en-US" sz="800" smtClean="0"/>
              <a:t>　　区分</a:t>
            </a:r>
            <a:r>
              <a:rPr lang="en-US" altLang="zh-CN" sz="800" smtClean="0"/>
              <a:t>Has a</a:t>
            </a:r>
            <a:r>
              <a:rPr lang="zh-CN" altLang="en-US" sz="800" smtClean="0"/>
              <a:t>和</a:t>
            </a:r>
            <a:r>
              <a:rPr lang="en-US" altLang="zh-CN" sz="800" smtClean="0"/>
              <a:t>Is a</a:t>
            </a:r>
            <a:r>
              <a:rPr lang="zh-CN" altLang="en-US" sz="800" smtClean="0"/>
              <a:t>的问题</a:t>
            </a:r>
            <a:br>
              <a:rPr lang="zh-CN" altLang="en-US" sz="800" smtClean="0"/>
            </a:br>
            <a:r>
              <a:rPr lang="zh-CN" altLang="en-US" sz="800" smtClean="0"/>
              <a:t>　　</a:t>
            </a:r>
            <a:r>
              <a:rPr lang="en-US" altLang="zh-CN" sz="800" smtClean="0"/>
              <a:t>7 </a:t>
            </a:r>
            <a:r>
              <a:rPr lang="zh-CN" altLang="en-US" sz="800" smtClean="0"/>
              <a:t>迪米特法则</a:t>
            </a:r>
            <a:br>
              <a:rPr lang="zh-CN" altLang="en-US" sz="800" smtClean="0"/>
            </a:br>
            <a:endParaRPr lang="zh-CN" altLang="en-US" sz="800" smtClean="0"/>
          </a:p>
          <a:p>
            <a:pPr>
              <a:lnSpc>
                <a:spcPct val="80000"/>
              </a:lnSpc>
            </a:pPr>
            <a:endParaRPr lang="zh-CN" altLang="en-US" sz="800" smtClean="0"/>
          </a:p>
          <a:p>
            <a:pPr>
              <a:lnSpc>
                <a:spcPct val="80000"/>
              </a:lnSpc>
            </a:pPr>
            <a:endParaRPr lang="zh-CN" altLang="en-US" sz="800" smtClean="0"/>
          </a:p>
          <a:p>
            <a:pPr>
              <a:lnSpc>
                <a:spcPct val="80000"/>
              </a:lnSpc>
            </a:pPr>
            <a:r>
              <a:rPr lang="zh-CN" altLang="en-US" sz="800" smtClean="0"/>
              <a:t>说法</a:t>
            </a:r>
            <a:r>
              <a:rPr lang="en-US" altLang="zh-CN" sz="800" smtClean="0"/>
              <a:t>2</a:t>
            </a:r>
            <a:r>
              <a:rPr lang="zh-CN" altLang="en-US" sz="800" smtClean="0"/>
              <a:t>：</a:t>
            </a:r>
          </a:p>
          <a:p>
            <a:pPr>
              <a:lnSpc>
                <a:spcPct val="80000"/>
              </a:lnSpc>
            </a:pPr>
            <a:r>
              <a:rPr lang="zh-CN" altLang="en-US" sz="800" smtClean="0"/>
              <a:t>提高系统可维护性和可复用性的设计原则</a:t>
            </a:r>
          </a:p>
          <a:p>
            <a:pPr>
              <a:lnSpc>
                <a:spcPct val="80000"/>
              </a:lnSpc>
            </a:pPr>
            <a:r>
              <a:rPr lang="zh-CN" altLang="en-US" sz="800" smtClean="0"/>
              <a:t>　　</a:t>
            </a:r>
            <a:r>
              <a:rPr lang="en-US" altLang="zh-CN" sz="800" smtClean="0"/>
              <a:t>1</a:t>
            </a:r>
            <a:r>
              <a:rPr lang="zh-CN" altLang="en-US" sz="800" smtClean="0"/>
              <a:t>、“开－闭”原则</a:t>
            </a:r>
            <a:r>
              <a:rPr lang="en-US" altLang="zh-CN" sz="800" smtClean="0"/>
              <a:t>(Open-Closed Principle</a:t>
            </a:r>
            <a:r>
              <a:rPr lang="zh-CN" altLang="en-US" sz="800" smtClean="0"/>
              <a:t>，或者</a:t>
            </a:r>
            <a:r>
              <a:rPr lang="en-US" altLang="zh-CN" sz="800" smtClean="0"/>
              <a:t>OCP)</a:t>
            </a:r>
            <a:r>
              <a:rPr lang="zh-CN" altLang="en-US" sz="800" smtClean="0"/>
              <a:t>；</a:t>
            </a:r>
          </a:p>
          <a:p>
            <a:pPr>
              <a:lnSpc>
                <a:spcPct val="80000"/>
              </a:lnSpc>
            </a:pPr>
            <a:r>
              <a:rPr lang="zh-CN" altLang="en-US" sz="800" smtClean="0"/>
              <a:t>　　一个软件实体应该对扩展开放，对修改关闭；</a:t>
            </a:r>
          </a:p>
          <a:p>
            <a:pPr>
              <a:lnSpc>
                <a:spcPct val="80000"/>
              </a:lnSpc>
            </a:pPr>
            <a:r>
              <a:rPr lang="zh-CN" altLang="en-US" sz="800" smtClean="0"/>
              <a:t>　　在设计一个模块的时候，应当使这个模块可以在不被修改的前提下被扩展。换言之，应当可以在不必修改源代码的情况下改变这个模块的行为。这个原则实际上是对“对可变性的封闭原则“：找到一个系统的可变因素，将之封装起来。这个原则意昧着两点：</a:t>
            </a:r>
          </a:p>
          <a:p>
            <a:pPr>
              <a:lnSpc>
                <a:spcPct val="80000"/>
              </a:lnSpc>
            </a:pPr>
            <a:r>
              <a:rPr lang="zh-CN" altLang="en-US" sz="800" smtClean="0"/>
              <a:t>　　</a:t>
            </a:r>
            <a:r>
              <a:rPr lang="en-US" altLang="zh-CN" sz="800" smtClean="0"/>
              <a:t>1) </a:t>
            </a:r>
            <a:r>
              <a:rPr lang="zh-CN" altLang="en-US" sz="800" smtClean="0"/>
              <a:t>一个可变性不应当散落在代码的很多角落里，而应当被封装到一个对象里面。同一种可变性的不同表象意昧着同一个继承等级结构中的具体子类。</a:t>
            </a:r>
          </a:p>
          <a:p>
            <a:pPr>
              <a:lnSpc>
                <a:spcPct val="80000"/>
              </a:lnSpc>
            </a:pPr>
            <a:r>
              <a:rPr lang="zh-CN" altLang="en-US" sz="800" smtClean="0"/>
              <a:t>　　继承就当被看作是封装变化的方法，而不应当被认为是从一般的对象生成特殊对象的方法。</a:t>
            </a:r>
          </a:p>
          <a:p>
            <a:pPr>
              <a:lnSpc>
                <a:spcPct val="80000"/>
              </a:lnSpc>
            </a:pPr>
            <a:r>
              <a:rPr lang="zh-CN" altLang="en-US" sz="800" smtClean="0"/>
              <a:t>　　</a:t>
            </a:r>
            <a:r>
              <a:rPr lang="en-US" altLang="zh-CN" sz="800" smtClean="0"/>
              <a:t>2) </a:t>
            </a:r>
            <a:r>
              <a:rPr lang="zh-CN" altLang="en-US" sz="800" smtClean="0"/>
              <a:t>一种可变性不应当与另一种可变性混合在一起。（所有类图的继承结构一般不会超过两层，不然就意昧着将两种不同的可变性混合在了一起。）</a:t>
            </a:r>
          </a:p>
          <a:p>
            <a:pPr>
              <a:lnSpc>
                <a:spcPct val="80000"/>
              </a:lnSpc>
            </a:pPr>
            <a:r>
              <a:rPr lang="zh-CN" altLang="en-US" sz="800" smtClean="0"/>
              <a:t>　　这个原则是总的原则，其它几条是这个原则的手段和工具。</a:t>
            </a:r>
          </a:p>
          <a:p>
            <a:pPr>
              <a:lnSpc>
                <a:spcPct val="80000"/>
              </a:lnSpc>
            </a:pPr>
            <a:r>
              <a:rPr lang="zh-CN" altLang="en-US" sz="800" smtClean="0"/>
              <a:t>　　</a:t>
            </a:r>
            <a:r>
              <a:rPr lang="en-US" altLang="zh-CN" sz="800" smtClean="0"/>
              <a:t>2</a:t>
            </a:r>
            <a:r>
              <a:rPr lang="zh-CN" altLang="en-US" sz="800" smtClean="0"/>
              <a:t>、里氏替代原则</a:t>
            </a:r>
            <a:r>
              <a:rPr lang="en-US" altLang="zh-CN" sz="800" smtClean="0"/>
              <a:t>(Liskov Substitution Principle</a:t>
            </a:r>
            <a:r>
              <a:rPr lang="zh-CN" altLang="en-US" sz="800" smtClean="0"/>
              <a:t>，或者</a:t>
            </a:r>
            <a:r>
              <a:rPr lang="en-US" altLang="zh-CN" sz="800" smtClean="0"/>
              <a:t>LSP)</a:t>
            </a:r>
            <a:r>
              <a:rPr lang="zh-CN" altLang="en-US" sz="800" smtClean="0"/>
              <a:t>；</a:t>
            </a:r>
          </a:p>
          <a:p>
            <a:pPr>
              <a:lnSpc>
                <a:spcPct val="80000"/>
              </a:lnSpc>
            </a:pPr>
            <a:r>
              <a:rPr lang="zh-CN" altLang="en-US" sz="800" smtClean="0"/>
              <a:t>　　如果对于每一个类型为</a:t>
            </a:r>
            <a:r>
              <a:rPr lang="en-US" altLang="zh-CN" sz="800" smtClean="0"/>
              <a:t>T1</a:t>
            </a:r>
            <a:r>
              <a:rPr lang="zh-CN" altLang="en-US" sz="800" smtClean="0"/>
              <a:t>的对象</a:t>
            </a:r>
            <a:r>
              <a:rPr lang="en-US" altLang="zh-CN" sz="800" smtClean="0"/>
              <a:t>o1</a:t>
            </a:r>
            <a:r>
              <a:rPr lang="zh-CN" altLang="en-US" sz="800" smtClean="0"/>
              <a:t>，都有类型为</a:t>
            </a:r>
            <a:r>
              <a:rPr lang="en-US" altLang="zh-CN" sz="800" smtClean="0"/>
              <a:t>T2</a:t>
            </a:r>
            <a:r>
              <a:rPr lang="zh-CN" altLang="en-US" sz="800" smtClean="0"/>
              <a:t>的对象</a:t>
            </a:r>
            <a:r>
              <a:rPr lang="en-US" altLang="zh-CN" sz="800" smtClean="0"/>
              <a:t>o2</a:t>
            </a:r>
            <a:r>
              <a:rPr lang="zh-CN" altLang="en-US" sz="800" smtClean="0"/>
              <a:t>，使得以</a:t>
            </a:r>
            <a:r>
              <a:rPr lang="en-US" altLang="zh-CN" sz="800" smtClean="0"/>
              <a:t>T1</a:t>
            </a:r>
            <a:r>
              <a:rPr lang="zh-CN" altLang="en-US" sz="800" smtClean="0"/>
              <a:t>定义的所有程序</a:t>
            </a:r>
            <a:r>
              <a:rPr lang="en-US" altLang="zh-CN" sz="800" smtClean="0"/>
              <a:t>P</a:t>
            </a:r>
            <a:r>
              <a:rPr lang="zh-CN" altLang="en-US" sz="800" smtClean="0"/>
              <a:t>在所有的对象</a:t>
            </a:r>
            <a:r>
              <a:rPr lang="en-US" altLang="zh-CN" sz="800" smtClean="0"/>
              <a:t>o1</a:t>
            </a:r>
            <a:r>
              <a:rPr lang="zh-CN" altLang="en-US" sz="800" smtClean="0"/>
              <a:t>都代换成</a:t>
            </a:r>
            <a:r>
              <a:rPr lang="en-US" altLang="zh-CN" sz="800" smtClean="0"/>
              <a:t>o2</a:t>
            </a:r>
            <a:r>
              <a:rPr lang="zh-CN" altLang="en-US" sz="800" smtClean="0"/>
              <a:t>时，程序</a:t>
            </a:r>
            <a:r>
              <a:rPr lang="en-US" altLang="zh-CN" sz="800" smtClean="0"/>
              <a:t>P</a:t>
            </a:r>
            <a:r>
              <a:rPr lang="zh-CN" altLang="en-US" sz="800" smtClean="0"/>
              <a:t>的行为没有变化，那么类型</a:t>
            </a:r>
            <a:r>
              <a:rPr lang="en-US" altLang="zh-CN" sz="800" smtClean="0"/>
              <a:t>T2</a:t>
            </a:r>
            <a:r>
              <a:rPr lang="zh-CN" altLang="en-US" sz="800" smtClean="0"/>
              <a:t>是类型</a:t>
            </a:r>
            <a:r>
              <a:rPr lang="en-US" altLang="zh-CN" sz="800" smtClean="0"/>
              <a:t>T1</a:t>
            </a:r>
            <a:r>
              <a:rPr lang="zh-CN" altLang="en-US" sz="800" smtClean="0"/>
              <a:t>的子类型。</a:t>
            </a:r>
          </a:p>
          <a:p>
            <a:pPr>
              <a:lnSpc>
                <a:spcPct val="80000"/>
              </a:lnSpc>
            </a:pPr>
            <a:r>
              <a:rPr lang="zh-CN" altLang="en-US" sz="800" smtClean="0"/>
              <a:t>　　换言之，一个软件实体如果使用的是一个基类的话，那么一定适用于其子类，而且它根本不能察觉出基类对象和子类对象的区别。</a:t>
            </a:r>
          </a:p>
          <a:p>
            <a:pPr>
              <a:lnSpc>
                <a:spcPct val="80000"/>
              </a:lnSpc>
            </a:pPr>
            <a:r>
              <a:rPr lang="zh-CN" altLang="en-US" sz="800" smtClean="0"/>
              <a:t>　　反过来代换不成立。</a:t>
            </a:r>
          </a:p>
          <a:p>
            <a:pPr>
              <a:lnSpc>
                <a:spcPct val="80000"/>
              </a:lnSpc>
            </a:pPr>
            <a:r>
              <a:rPr lang="zh-CN" altLang="en-US" sz="800" smtClean="0"/>
              <a:t>　　</a:t>
            </a:r>
            <a:r>
              <a:rPr lang="en-US" altLang="zh-CN" sz="800" smtClean="0"/>
              <a:t>3</a:t>
            </a:r>
            <a:r>
              <a:rPr lang="zh-CN" altLang="en-US" sz="800" smtClean="0"/>
              <a:t>、依赖倒转原则</a:t>
            </a:r>
            <a:r>
              <a:rPr lang="en-US" altLang="zh-CN" sz="800" smtClean="0"/>
              <a:t>(Dependency Inversion Principle</a:t>
            </a:r>
            <a:r>
              <a:rPr lang="zh-CN" altLang="en-US" sz="800" smtClean="0"/>
              <a:t>，或者</a:t>
            </a:r>
            <a:r>
              <a:rPr lang="en-US" altLang="zh-CN" sz="800" smtClean="0"/>
              <a:t>DIP)</a:t>
            </a:r>
            <a:r>
              <a:rPr lang="zh-CN" altLang="en-US" sz="800" smtClean="0"/>
              <a:t>；</a:t>
            </a:r>
          </a:p>
          <a:p>
            <a:pPr>
              <a:lnSpc>
                <a:spcPct val="80000"/>
              </a:lnSpc>
            </a:pPr>
            <a:r>
              <a:rPr lang="zh-CN" altLang="en-US" sz="800" smtClean="0"/>
              <a:t>　　要依赖于抽象，不要依赖于具体。</a:t>
            </a:r>
          </a:p>
          <a:p>
            <a:pPr>
              <a:lnSpc>
                <a:spcPct val="80000"/>
              </a:lnSpc>
            </a:pPr>
            <a:r>
              <a:rPr lang="zh-CN" altLang="en-US" sz="800" smtClean="0"/>
              <a:t>　　开闭原则是目标，而达到这一目标的手段是依赖倒转原则。</a:t>
            </a:r>
          </a:p>
          <a:p>
            <a:pPr>
              <a:lnSpc>
                <a:spcPct val="80000"/>
              </a:lnSpc>
            </a:pPr>
            <a:r>
              <a:rPr lang="zh-CN" altLang="en-US" sz="800" smtClean="0"/>
              <a:t>　　抽象层次包含的是应用系统的商务逻辑和宏观的、对整个系统来说重要的战略性决定，是必然性的体现，那么抽象层次就应当是较为稳定的，应当是复用的重点；也应当是维护的重点；而具体层次则含有一些次要的与实现有关的算法和逻辑，以及战术性的决定，带有相当大的偶然性选择。具体层次的代码是会经常有变动的，不能避免出现错误。</a:t>
            </a:r>
          </a:p>
          <a:p>
            <a:pPr>
              <a:lnSpc>
                <a:spcPct val="80000"/>
              </a:lnSpc>
            </a:pPr>
            <a:r>
              <a:rPr lang="zh-CN" altLang="en-US" sz="800" smtClean="0"/>
              <a:t>　</a:t>
            </a:r>
            <a:r>
              <a:rPr lang="en-US" altLang="zh-CN" sz="800" smtClean="0"/>
              <a:t>4</a:t>
            </a:r>
            <a:r>
              <a:rPr lang="zh-CN" altLang="en-US" sz="800" smtClean="0"/>
              <a:t>、接口隔离原则</a:t>
            </a:r>
            <a:r>
              <a:rPr lang="en-US" altLang="zh-CN" sz="800" smtClean="0"/>
              <a:t>(Interface Segregation Principle</a:t>
            </a:r>
            <a:r>
              <a:rPr lang="zh-CN" altLang="en-US" sz="800" smtClean="0"/>
              <a:t>，或者</a:t>
            </a:r>
            <a:r>
              <a:rPr lang="en-US" altLang="zh-CN" sz="800" smtClean="0"/>
              <a:t>ISP)</a:t>
            </a:r>
            <a:r>
              <a:rPr lang="zh-CN" altLang="en-US" sz="800" smtClean="0"/>
              <a:t>；</a:t>
            </a:r>
          </a:p>
          <a:p>
            <a:pPr>
              <a:lnSpc>
                <a:spcPct val="80000"/>
              </a:lnSpc>
            </a:pPr>
            <a:r>
              <a:rPr lang="zh-CN" altLang="en-US" sz="800" smtClean="0"/>
              <a:t>　　使用多个专门的接口比使用单一的总接口要好。</a:t>
            </a:r>
          </a:p>
          <a:p>
            <a:pPr>
              <a:lnSpc>
                <a:spcPct val="80000"/>
              </a:lnSpc>
            </a:pPr>
            <a:r>
              <a:rPr lang="zh-CN" altLang="en-US" sz="800" smtClean="0"/>
              <a:t>　　换言之，从一个客户类的角度讲：一个类对另一个类的依赖性应当是建立在最小的接口上的。</a:t>
            </a:r>
          </a:p>
          <a:p>
            <a:pPr>
              <a:lnSpc>
                <a:spcPct val="80000"/>
              </a:lnSpc>
            </a:pPr>
            <a:r>
              <a:rPr lang="zh-CN" altLang="en-US" sz="800" smtClean="0"/>
              <a:t>　　接口隔离原则与迪米特法则（下面讲到）都是对一个软件实体与其他的软件实体的通信限制。迪米特原则要求尽可能地限制通信的宽度和深度，接品隔离原则要求通信的宽度尽可能地窄。这样做的结果使一个软件系统在功能扩展过程当中，不会将修改的压力传递到其他对象。</a:t>
            </a:r>
          </a:p>
          <a:p>
            <a:pPr>
              <a:lnSpc>
                <a:spcPct val="80000"/>
              </a:lnSpc>
            </a:pPr>
            <a:r>
              <a:rPr lang="zh-CN" altLang="en-US" sz="800" smtClean="0"/>
              <a:t>　　一个接口相当于剧本中的一种角色，而此角色在一个舞台上由哪一个演员来演则相当于接口的实现。因此，一个接口应当简单地代表一个角色，而不是多个角色。如果系统涉及到多个角色的话，那么每一个角色都应当由一个特定的接口代表。</a:t>
            </a:r>
          </a:p>
          <a:p>
            <a:pPr>
              <a:lnSpc>
                <a:spcPct val="80000"/>
              </a:lnSpc>
            </a:pPr>
            <a:r>
              <a:rPr lang="zh-CN" altLang="en-US" sz="800" smtClean="0"/>
              <a:t>　　</a:t>
            </a:r>
            <a:r>
              <a:rPr lang="en-US" altLang="zh-CN" sz="800" smtClean="0"/>
              <a:t>5</a:t>
            </a:r>
            <a:r>
              <a:rPr lang="zh-CN" altLang="en-US" sz="800" smtClean="0"/>
              <a:t>、组合</a:t>
            </a:r>
            <a:r>
              <a:rPr lang="en-US" altLang="zh-CN" sz="800" smtClean="0"/>
              <a:t>/</a:t>
            </a:r>
            <a:r>
              <a:rPr lang="zh-CN" altLang="en-US" sz="800" smtClean="0"/>
              <a:t>聚合复用原则</a:t>
            </a:r>
            <a:r>
              <a:rPr lang="en-US" altLang="zh-CN" sz="800" smtClean="0"/>
              <a:t>(Composition/Aggregation Principle</a:t>
            </a:r>
            <a:r>
              <a:rPr lang="zh-CN" altLang="en-US" sz="800" smtClean="0"/>
              <a:t>，或者</a:t>
            </a:r>
            <a:r>
              <a:rPr lang="en-US" altLang="zh-CN" sz="800" smtClean="0"/>
              <a:t>CARP)</a:t>
            </a:r>
            <a:r>
              <a:rPr lang="zh-CN" altLang="en-US" sz="800" smtClean="0"/>
              <a:t>；</a:t>
            </a:r>
          </a:p>
          <a:p>
            <a:pPr>
              <a:lnSpc>
                <a:spcPct val="80000"/>
              </a:lnSpc>
            </a:pPr>
            <a:r>
              <a:rPr lang="zh-CN" altLang="en-US" sz="800" smtClean="0"/>
              <a:t>　　组合</a:t>
            </a:r>
            <a:r>
              <a:rPr lang="en-US" altLang="zh-CN" sz="800" smtClean="0"/>
              <a:t>/</a:t>
            </a:r>
            <a:r>
              <a:rPr lang="zh-CN" altLang="en-US" sz="800" smtClean="0"/>
              <a:t>聚合原则就是在一个新的对象里面使用一些已有的对象，使之成为新对象的一部分；新的对象通过向这些对象的委派达到得复用已有功能的目的。</a:t>
            </a:r>
          </a:p>
          <a:p>
            <a:pPr>
              <a:lnSpc>
                <a:spcPct val="80000"/>
              </a:lnSpc>
            </a:pPr>
            <a:r>
              <a:rPr lang="zh-CN" altLang="en-US" sz="800" smtClean="0"/>
              <a:t>　　要尽量使用组合</a:t>
            </a:r>
            <a:r>
              <a:rPr lang="en-US" altLang="zh-CN" sz="800" smtClean="0"/>
              <a:t>/</a:t>
            </a:r>
            <a:r>
              <a:rPr lang="zh-CN" altLang="en-US" sz="800" smtClean="0"/>
              <a:t>聚合，尽量不要使用继承。</a:t>
            </a:r>
          </a:p>
          <a:p>
            <a:pPr>
              <a:lnSpc>
                <a:spcPct val="80000"/>
              </a:lnSpc>
            </a:pPr>
            <a:r>
              <a:rPr lang="zh-CN" altLang="en-US" sz="800" smtClean="0"/>
              <a:t>　　</a:t>
            </a:r>
            <a:r>
              <a:rPr lang="en-US" altLang="zh-CN" sz="800" smtClean="0"/>
              <a:t>6</a:t>
            </a:r>
            <a:r>
              <a:rPr lang="zh-CN" altLang="en-US" sz="800" smtClean="0"/>
              <a:t>、迪米特法则</a:t>
            </a:r>
            <a:r>
              <a:rPr lang="en-US" altLang="zh-CN" sz="800" smtClean="0"/>
              <a:t>(Law of Demeter</a:t>
            </a:r>
            <a:r>
              <a:rPr lang="zh-CN" altLang="en-US" sz="800" smtClean="0"/>
              <a:t>，或者</a:t>
            </a:r>
            <a:r>
              <a:rPr lang="en-US" altLang="zh-CN" sz="800" smtClean="0"/>
              <a:t>LoD)</a:t>
            </a:r>
            <a:r>
              <a:rPr lang="zh-CN" altLang="en-US" sz="800" smtClean="0"/>
              <a:t>；</a:t>
            </a:r>
          </a:p>
          <a:p>
            <a:pPr>
              <a:lnSpc>
                <a:spcPct val="80000"/>
              </a:lnSpc>
            </a:pPr>
            <a:r>
              <a:rPr lang="zh-CN" altLang="en-US" sz="800" smtClean="0"/>
              <a:t>　　一个软件实体应当尽可能少的与其他实体发生相互作用。模块之间的交互要少。这样做的结果是当系统的功能需要扩展时，会相对更容易地做到对修改的关闭。</a:t>
            </a:r>
          </a:p>
          <a:p>
            <a:pPr>
              <a:lnSpc>
                <a:spcPct val="80000"/>
              </a:lnSpc>
            </a:pPr>
            <a:r>
              <a:rPr lang="zh-CN" altLang="en-US" sz="800" smtClean="0"/>
              <a:t>　　一个对象应当对其他对象有尽可能少的了解。</a:t>
            </a:r>
          </a:p>
          <a:p>
            <a:pPr>
              <a:lnSpc>
                <a:spcPct val="80000"/>
              </a:lnSpc>
            </a:pPr>
            <a:r>
              <a:rPr lang="zh-CN" altLang="en-US" sz="800" smtClean="0"/>
              <a:t>　　</a:t>
            </a:r>
            <a:r>
              <a:rPr lang="en-US" altLang="zh-CN" sz="800" smtClean="0"/>
              <a:t>7</a:t>
            </a:r>
            <a:r>
              <a:rPr lang="zh-CN" altLang="en-US" sz="800" smtClean="0"/>
              <a:t>、单一职责原则（</a:t>
            </a:r>
            <a:r>
              <a:rPr lang="en-US" altLang="zh-CN" sz="800" smtClean="0"/>
              <a:t>Single Responsibility Principle</a:t>
            </a:r>
            <a:r>
              <a:rPr lang="zh-CN" altLang="en-US" sz="800" smtClean="0"/>
              <a:t>，或者</a:t>
            </a:r>
            <a:r>
              <a:rPr lang="en-US" altLang="zh-CN" sz="800" smtClean="0"/>
              <a:t>SRP</a:t>
            </a:r>
            <a:r>
              <a:rPr lang="zh-CN" altLang="en-US" sz="800" smtClean="0"/>
              <a:t>）</a:t>
            </a:r>
          </a:p>
          <a:p>
            <a:pPr>
              <a:lnSpc>
                <a:spcPct val="80000"/>
              </a:lnSpc>
            </a:pPr>
            <a:r>
              <a:rPr lang="zh-CN" altLang="en-US" sz="800" smtClean="0"/>
              <a:t>　　在设计中为每种职责设计一个类，彼此保持正交，互不干涉。</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7A99B11-6D4D-474C-81E7-73E4DE0B2C77}" type="slidenum">
              <a:rPr lang="en-US" altLang="zh-CN" smtClean="0"/>
              <a:pPr eaLnBrk="1" hangingPunct="1"/>
              <a:t>48</a:t>
            </a:fld>
            <a:endParaRPr lang="en-US" altLang="zh-CN"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smtClean="0">
                <a:ea typeface="楷体_GB2312" pitchFamily="49" charset="-122"/>
              </a:rPr>
              <a:t>根据两条准则对模式进行分类。</a:t>
            </a:r>
          </a:p>
          <a:p>
            <a:pPr eaLnBrk="1" hangingPunct="1"/>
            <a:r>
              <a:rPr lang="zh-CN" altLang="en-US" b="1" smtClean="0">
                <a:ea typeface="楷体_GB2312" pitchFamily="49" charset="-122"/>
              </a:rPr>
              <a:t>第一是目的准则，即模式是用来完成什么工</a:t>
            </a:r>
          </a:p>
          <a:p>
            <a:pPr eaLnBrk="1" hangingPunct="1"/>
            <a:r>
              <a:rPr lang="zh-CN" altLang="en-US" b="1" smtClean="0">
                <a:ea typeface="楷体_GB2312" pitchFamily="49" charset="-122"/>
              </a:rPr>
              <a:t>作的。模式依据其目的可分为创建型（ </a:t>
            </a:r>
            <a:r>
              <a:rPr lang="en-US" altLang="zh-CN" b="1" smtClean="0">
                <a:ea typeface="楷体_GB2312" pitchFamily="49" charset="-122"/>
              </a:rPr>
              <a:t>C r e a t i o n a l </a:t>
            </a:r>
            <a:r>
              <a:rPr lang="zh-CN" altLang="en-US" b="1" smtClean="0">
                <a:ea typeface="楷体_GB2312" pitchFamily="49" charset="-122"/>
              </a:rPr>
              <a:t>）、结构型</a:t>
            </a:r>
            <a:r>
              <a:rPr lang="en-US" altLang="zh-CN" b="1" smtClean="0">
                <a:ea typeface="楷体_GB2312" pitchFamily="49" charset="-122"/>
              </a:rPr>
              <a:t>( S t r u c t u r a l )</a:t>
            </a:r>
            <a:r>
              <a:rPr lang="zh-CN" altLang="en-US" b="1" smtClean="0">
                <a:ea typeface="楷体_GB2312" pitchFamily="49" charset="-122"/>
              </a:rPr>
              <a:t>、或行为型</a:t>
            </a:r>
          </a:p>
          <a:p>
            <a:pPr eaLnBrk="1" hangingPunct="1"/>
            <a:r>
              <a:rPr lang="en-US" altLang="zh-CN" b="1" smtClean="0">
                <a:ea typeface="楷体_GB2312" pitchFamily="49" charset="-122"/>
              </a:rPr>
              <a:t>( B e h a v i o r a l )</a:t>
            </a:r>
            <a:r>
              <a:rPr lang="zh-CN" altLang="en-US" b="1" smtClean="0">
                <a:ea typeface="楷体_GB2312" pitchFamily="49" charset="-122"/>
              </a:rPr>
              <a:t>三种。</a:t>
            </a:r>
          </a:p>
          <a:p>
            <a:pPr eaLnBrk="1" hangingPunct="1"/>
            <a:r>
              <a:rPr lang="zh-CN" altLang="en-US" b="1" smtClean="0">
                <a:ea typeface="楷体_GB2312" pitchFamily="49" charset="-122"/>
              </a:rPr>
              <a:t>创建型模式与对象的创建有关；结构型模式处理类或对象的组合；行为型</a:t>
            </a:r>
          </a:p>
          <a:p>
            <a:pPr eaLnBrk="1" hangingPunct="1"/>
            <a:r>
              <a:rPr lang="zh-CN" altLang="en-US" b="1" smtClean="0">
                <a:ea typeface="楷体_GB2312" pitchFamily="49" charset="-122"/>
              </a:rPr>
              <a:t>模式对类或对象怎样交互和怎样分配职责进行描述。</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第二是范围准则，指定模式主要是用于类还是用于对象。类模式处理类和子类之间的关</a:t>
            </a:r>
          </a:p>
          <a:p>
            <a:pPr eaLnBrk="1" hangingPunct="1"/>
            <a:r>
              <a:rPr lang="zh-CN" altLang="en-US" b="1" smtClean="0">
                <a:ea typeface="楷体_GB2312" pitchFamily="49" charset="-122"/>
              </a:rPr>
              <a:t>系，这些关系通过继承建立，是静态的，在编译时刻便确定下来了。对象模式处理对象间的</a:t>
            </a:r>
          </a:p>
          <a:p>
            <a:pPr eaLnBrk="1" hangingPunct="1"/>
            <a:r>
              <a:rPr lang="zh-CN" altLang="en-US" b="1" smtClean="0">
                <a:ea typeface="楷体_GB2312" pitchFamily="49" charset="-122"/>
              </a:rPr>
              <a:t>关系，这些关系在运行时刻是可以变化的，更具动态性。从某种意义上来说，几乎所有模式</a:t>
            </a:r>
          </a:p>
          <a:p>
            <a:pPr eaLnBrk="1" hangingPunct="1"/>
            <a:r>
              <a:rPr lang="zh-CN" altLang="en-US" b="1" smtClean="0">
                <a:ea typeface="楷体_GB2312" pitchFamily="49" charset="-122"/>
              </a:rPr>
              <a:t>都使用继承机制，所以“类模式”只指那些集中于处理类间关系的模式，而大部分模式都属</a:t>
            </a:r>
          </a:p>
          <a:p>
            <a:pPr eaLnBrk="1" hangingPunct="1"/>
            <a:r>
              <a:rPr lang="zh-CN" altLang="en-US" b="1" smtClean="0">
                <a:ea typeface="楷体_GB2312" pitchFamily="49" charset="-122"/>
              </a:rPr>
              <a:t>于对象模式的范畴。</a:t>
            </a:r>
          </a:p>
          <a:p>
            <a:pPr eaLnBrk="1" hangingPunct="1"/>
            <a:endParaRPr lang="zh-CN" altLang="en-US" b="1" smtClean="0">
              <a:ea typeface="楷体_GB2312" pitchFamily="49" charset="-122"/>
            </a:endParaRPr>
          </a:p>
          <a:p>
            <a:pPr eaLnBrk="1" hangingPunct="1"/>
            <a:r>
              <a:rPr lang="zh-CN" altLang="en-US" smtClean="0"/>
              <a:t>有些模式经常会被绑在一起使用，例如， </a:t>
            </a:r>
            <a:r>
              <a:rPr lang="en-US" altLang="zh-CN" smtClean="0"/>
              <a:t>C o m p o s i t e</a:t>
            </a:r>
            <a:r>
              <a:rPr lang="zh-CN" altLang="en-US" smtClean="0"/>
              <a:t>常和</a:t>
            </a:r>
          </a:p>
          <a:p>
            <a:pPr eaLnBrk="1" hangingPunct="1"/>
            <a:r>
              <a:rPr lang="en-US" altLang="zh-CN" smtClean="0"/>
              <a:t>I t e r a t o r</a:t>
            </a:r>
            <a:r>
              <a:rPr lang="zh-CN" altLang="en-US" smtClean="0"/>
              <a:t>或</a:t>
            </a:r>
            <a:r>
              <a:rPr lang="en-US" altLang="zh-CN" smtClean="0"/>
              <a:t>Vi s i t o r</a:t>
            </a:r>
            <a:r>
              <a:rPr lang="zh-CN" altLang="en-US" smtClean="0"/>
              <a:t>一起使用；有些模式是可替代的，例如， </a:t>
            </a:r>
            <a:r>
              <a:rPr lang="en-US" altLang="zh-CN" smtClean="0"/>
              <a:t>P r o t o t y p e</a:t>
            </a:r>
            <a:r>
              <a:rPr lang="zh-CN" altLang="en-US" smtClean="0"/>
              <a:t>常用来替代</a:t>
            </a:r>
            <a:r>
              <a:rPr lang="en-US" altLang="zh-CN" smtClean="0"/>
              <a:t>A b s t r a c t</a:t>
            </a:r>
          </a:p>
          <a:p>
            <a:pPr eaLnBrk="1" hangingPunct="1"/>
            <a:r>
              <a:rPr lang="en-US" altLang="zh-CN" smtClean="0"/>
              <a:t>F a c t o r y</a:t>
            </a:r>
            <a:r>
              <a:rPr lang="zh-CN" altLang="en-US" smtClean="0"/>
              <a:t>；有些模式尽管使用意图不同，但产生的设计结果是很相似的，例如， </a:t>
            </a:r>
            <a:r>
              <a:rPr lang="en-US" altLang="zh-CN" smtClean="0"/>
              <a:t>C o m p o s i t e</a:t>
            </a:r>
            <a:r>
              <a:rPr lang="zh-CN" altLang="en-US" smtClean="0"/>
              <a:t>和</a:t>
            </a:r>
          </a:p>
          <a:p>
            <a:pPr eaLnBrk="1" hangingPunct="1"/>
            <a:r>
              <a:rPr lang="en-US" altLang="zh-CN" smtClean="0"/>
              <a:t>D e c o r a t o r</a:t>
            </a:r>
            <a:r>
              <a:rPr lang="zh-CN" altLang="en-US" smtClean="0"/>
              <a:t>的结构图是相似的。</a:t>
            </a:r>
          </a:p>
          <a:p>
            <a:pPr eaLnBrk="1" hangingPunct="1"/>
            <a:endParaRPr lang="zh-CN" altLang="en-US" b="1" smtClean="0">
              <a:ea typeface="楷体_GB2312" pitchFamily="49" charset="-122"/>
            </a:endParaRPr>
          </a:p>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D111801-C36B-4412-9F59-F9890D372A7E}" type="slidenum">
              <a:rPr lang="en-US" altLang="zh-CN" smtClean="0"/>
              <a:pPr eaLnBrk="1" hangingPunct="1"/>
              <a:t>52</a:t>
            </a:fld>
            <a:endParaRPr lang="en-US" altLang="zh-CN"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例如，如果你在文本组合算法中使</a:t>
            </a:r>
          </a:p>
          <a:p>
            <a:pPr eaLnBrk="1" hangingPunct="1"/>
            <a:r>
              <a:rPr lang="zh-CN" altLang="en-US" smtClean="0"/>
              <a:t>用了</a:t>
            </a:r>
            <a:r>
              <a:rPr lang="en-US" altLang="zh-CN" smtClean="0"/>
              <a:t>S t r a t e g y</a:t>
            </a:r>
            <a:r>
              <a:rPr lang="zh-CN" altLang="en-US" smtClean="0"/>
              <a:t>模式，那么你可能有名为</a:t>
            </a:r>
            <a:r>
              <a:rPr lang="en-US" altLang="zh-CN" smtClean="0"/>
              <a:t>S i m p l e L a y o u t S t r a t e g y</a:t>
            </a:r>
            <a:r>
              <a:rPr lang="zh-CN" altLang="en-US" smtClean="0"/>
              <a:t>或</a:t>
            </a:r>
            <a:r>
              <a:rPr lang="en-US" altLang="zh-CN" smtClean="0"/>
              <a:t>Te X L a y o u t S t r a t e g y</a:t>
            </a:r>
            <a:r>
              <a:rPr lang="zh-CN" altLang="en-US" smtClean="0"/>
              <a:t>这样的类。</a:t>
            </a: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2023/2/27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323850" y="1196975"/>
            <a:ext cx="8424863" cy="2862322"/>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6000" b="1" dirty="0">
                <a:solidFill>
                  <a:srgbClr val="FF3300"/>
                </a:solidFill>
                <a:effectLst>
                  <a:outerShdw blurRad="38100" dist="38100" dir="2700000" algn="tl">
                    <a:srgbClr val="C0C0C0"/>
                  </a:outerShdw>
                </a:effectLst>
                <a:ea typeface="隶书" pitchFamily="49" charset="-122"/>
              </a:rPr>
              <a:t>第六章 设计模式引言</a:t>
            </a:r>
            <a:endParaRPr lang="zh-CN" altLang="en-US" sz="6000" b="1" dirty="0" smtClean="0">
              <a:solidFill>
                <a:srgbClr val="FF3300"/>
              </a:solidFill>
              <a:effectLst>
                <a:outerShdw blurRad="38100" dist="38100" dir="2700000" algn="tl">
                  <a:srgbClr val="C0C0C0"/>
                </a:outerShdw>
              </a:effectLst>
              <a:ea typeface="隶书" pitchFamily="49" charset="-122"/>
            </a:endParaRPr>
          </a:p>
        </p:txBody>
      </p:sp>
      <p:pic>
        <p:nvPicPr>
          <p:cNvPr id="5" name="Picture 24" descr="大连海事大学徽标--处理"/>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48847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b="1" dirty="0" smtClean="0">
                <a:ea typeface="楷体_GB2312" pitchFamily="49" charset="-122"/>
              </a:rPr>
              <a:t>6.1</a:t>
            </a:r>
            <a:r>
              <a:rPr lang="zh-CN" altLang="en-US" b="1" dirty="0" smtClean="0">
                <a:ea typeface="楷体_GB2312" pitchFamily="49" charset="-122"/>
              </a:rPr>
              <a:t>设计模式概念</a:t>
            </a:r>
            <a:endParaRPr lang="en-US" altLang="zh-CN" b="1" dirty="0" smtClean="0">
              <a:ea typeface="楷体_GB2312" pitchFamily="49" charset="-122"/>
            </a:endParaRPr>
          </a:p>
          <a:p>
            <a:pPr lvl="1"/>
            <a:r>
              <a:rPr lang="zh-CN" altLang="en-US" b="1" dirty="0" smtClean="0">
                <a:ea typeface="楷体_GB2312" pitchFamily="49" charset="-122"/>
              </a:rPr>
              <a:t>设计模式定义，设计模式要素</a:t>
            </a:r>
            <a:endParaRPr lang="en-US" altLang="zh-CN" b="1" dirty="0" smtClean="0">
              <a:ea typeface="楷体_GB2312" pitchFamily="49" charset="-122"/>
            </a:endParaRPr>
          </a:p>
          <a:p>
            <a:r>
              <a:rPr lang="en-US" altLang="zh-CN" b="1" dirty="0" smtClean="0">
                <a:ea typeface="楷体_GB2312" pitchFamily="49" charset="-122"/>
              </a:rPr>
              <a:t>6.2</a:t>
            </a:r>
            <a:r>
              <a:rPr lang="zh-CN" altLang="en-US" b="1" dirty="0" smtClean="0">
                <a:ea typeface="楷体_GB2312" pitchFamily="49" charset="-122"/>
              </a:rPr>
              <a:t>设计原则</a:t>
            </a:r>
            <a:endParaRPr lang="en-US" altLang="zh-CN" b="1" dirty="0" smtClean="0">
              <a:ea typeface="楷体_GB2312" pitchFamily="49" charset="-122"/>
            </a:endParaRPr>
          </a:p>
          <a:p>
            <a:r>
              <a:rPr lang="en-US" altLang="zh-CN" b="1" dirty="0" smtClean="0">
                <a:ea typeface="楷体_GB2312" pitchFamily="49" charset="-122"/>
              </a:rPr>
              <a:t>6.3</a:t>
            </a:r>
            <a:r>
              <a:rPr lang="zh-CN" altLang="en-US" b="1" dirty="0">
                <a:ea typeface="楷体_GB2312" pitchFamily="49" charset="-122"/>
              </a:rPr>
              <a:t>设计模式分类</a:t>
            </a:r>
            <a:endParaRPr lang="en-US" altLang="zh-CN" b="1" dirty="0">
              <a:ea typeface="楷体_GB2312" pitchFamily="49" charset="-122"/>
            </a:endParaRPr>
          </a:p>
          <a:p>
            <a:r>
              <a:rPr lang="en-US" altLang="zh-CN" b="1" dirty="0" smtClean="0">
                <a:ea typeface="楷体_GB2312" pitchFamily="49" charset="-122"/>
              </a:rPr>
              <a:t>6.4</a:t>
            </a:r>
            <a:r>
              <a:rPr lang="zh-CN" altLang="en-US" b="1" dirty="0" smtClean="0">
                <a:ea typeface="楷体_GB2312" pitchFamily="49" charset="-122"/>
              </a:rPr>
              <a:t>怎样</a:t>
            </a:r>
            <a:r>
              <a:rPr lang="zh-CN" altLang="en-US" b="1" dirty="0">
                <a:ea typeface="楷体_GB2312" pitchFamily="49" charset="-122"/>
              </a:rPr>
              <a:t>使用设计</a:t>
            </a:r>
            <a:r>
              <a:rPr lang="zh-CN" altLang="en-US" b="1" dirty="0" smtClean="0">
                <a:ea typeface="楷体_GB2312" pitchFamily="49" charset="-122"/>
              </a:rPr>
              <a:t>模式</a:t>
            </a:r>
            <a:endParaRPr lang="en-US" altLang="zh-CN" b="1" dirty="0">
              <a:ea typeface="楷体_GB2312" pitchFamily="49" charset="-122"/>
            </a:endParaRPr>
          </a:p>
          <a:p>
            <a:r>
              <a:rPr lang="en-US" altLang="zh-CN" b="1" dirty="0" smtClean="0">
                <a:ea typeface="楷体_GB2312" pitchFamily="49" charset="-122"/>
              </a:rPr>
              <a:t>6.5</a:t>
            </a:r>
            <a:r>
              <a:rPr lang="zh-CN" altLang="en-US" b="1" dirty="0">
                <a:ea typeface="楷体_GB2312" pitchFamily="49" charset="-122"/>
              </a:rPr>
              <a:t>设计模式怎样解决设计</a:t>
            </a:r>
            <a:r>
              <a:rPr lang="zh-CN" altLang="en-US" b="1" dirty="0" smtClean="0">
                <a:ea typeface="楷体_GB2312" pitchFamily="49" charset="-122"/>
              </a:rPr>
              <a:t>问题</a:t>
            </a:r>
            <a:endParaRPr lang="en-US" altLang="zh-CN" b="1" dirty="0">
              <a:ea typeface="楷体_GB2312" pitchFamily="49" charset="-122"/>
            </a:endParaRPr>
          </a:p>
        </p:txBody>
      </p:sp>
    </p:spTree>
    <p:extLst>
      <p:ext uri="{BB962C8B-B14F-4D97-AF65-F5344CB8AC3E}">
        <p14:creationId xmlns:p14="http://schemas.microsoft.com/office/powerpoint/2010/main" val="40409635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a typeface="楷体_GB2312" pitchFamily="49" charset="-122"/>
              </a:rPr>
              <a:t>6.1</a:t>
            </a:r>
            <a:r>
              <a:rPr lang="zh-CN" altLang="en-US" b="1" dirty="0">
                <a:ea typeface="楷体_GB2312" pitchFamily="49" charset="-122"/>
              </a:rPr>
              <a:t>设计</a:t>
            </a:r>
            <a:r>
              <a:rPr lang="zh-CN" altLang="en-US" b="1" dirty="0" smtClean="0">
                <a:ea typeface="楷体_GB2312" pitchFamily="49" charset="-122"/>
              </a:rPr>
              <a:t>模式概念</a:t>
            </a:r>
            <a:endParaRPr lang="zh-CN" altLang="en-US" dirty="0"/>
          </a:p>
        </p:txBody>
      </p:sp>
      <p:sp>
        <p:nvSpPr>
          <p:cNvPr id="3" name="内容占位符 2"/>
          <p:cNvSpPr>
            <a:spLocks noGrp="1"/>
          </p:cNvSpPr>
          <p:nvPr>
            <p:ph idx="1"/>
          </p:nvPr>
        </p:nvSpPr>
        <p:spPr/>
        <p:txBody>
          <a:bodyPr/>
          <a:lstStyle/>
          <a:p>
            <a:pPr>
              <a:spcBef>
                <a:spcPct val="50000"/>
              </a:spcBef>
              <a:buNone/>
            </a:pPr>
            <a:r>
              <a:rPr lang="en-US" altLang="zh-CN" b="1" dirty="0">
                <a:ea typeface="楷体_GB2312" pitchFamily="49" charset="-122"/>
              </a:rPr>
              <a:t>–</a:t>
            </a:r>
            <a:r>
              <a:rPr lang="en-US" altLang="zh-CN" b="1" dirty="0">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指在软件设计和开发过程中，不断总结出来的，反应了某一类设计问题的解决方案。</a:t>
            </a:r>
          </a:p>
          <a:p>
            <a:pPr>
              <a:spcBef>
                <a:spcPct val="50000"/>
              </a:spcBef>
              <a:buNone/>
            </a:pPr>
            <a:r>
              <a:rPr lang="en-US" altLang="zh-CN" b="1" dirty="0">
                <a:ea typeface="楷体_GB2312" pitchFamily="49" charset="-122"/>
              </a:rPr>
              <a:t>–</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模式是一种指导，在一个良好的指导下，有助于你完成任务，有助于你作出一个优良的设计方案，达到事半功倍的效果。而且会得到解决问题的最佳办法。</a:t>
            </a:r>
          </a:p>
          <a:p>
            <a:pPr>
              <a:spcBef>
                <a:spcPct val="50000"/>
              </a:spcBef>
              <a:buNone/>
            </a:pPr>
            <a:r>
              <a:rPr lang="en-US" altLang="zh-CN" b="1" dirty="0">
                <a:ea typeface="楷体_GB2312" pitchFamily="49" charset="-122"/>
              </a:rPr>
              <a:t>–</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设计模式使人们可以更加简单方便地复用成功的设计和体系结构。</a:t>
            </a:r>
          </a:p>
          <a:p>
            <a:endParaRPr lang="zh-CN" altLang="en-US" dirty="0"/>
          </a:p>
        </p:txBody>
      </p:sp>
    </p:spTree>
    <p:extLst>
      <p:ext uri="{BB962C8B-B14F-4D97-AF65-F5344CB8AC3E}">
        <p14:creationId xmlns:p14="http://schemas.microsoft.com/office/powerpoint/2010/main" val="18728362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b="1" dirty="0" err="1" smtClean="0">
                <a:solidFill>
                  <a:schemeClr val="accent2"/>
                </a:solidFill>
                <a:ea typeface="楷体_GB2312" pitchFamily="49" charset="-122"/>
              </a:rPr>
              <a:t>GoF</a:t>
            </a:r>
            <a:r>
              <a:rPr lang="en-US" altLang="zh-CN" b="1" dirty="0" smtClean="0">
                <a:solidFill>
                  <a:schemeClr val="accent2"/>
                </a:solidFill>
                <a:ea typeface="楷体_GB2312" pitchFamily="49" charset="-122"/>
              </a:rPr>
              <a:t>(Gang of </a:t>
            </a:r>
            <a:r>
              <a:rPr lang="en-US" altLang="zh-CN" b="1" dirty="0" smtClean="0">
                <a:solidFill>
                  <a:schemeClr val="accent2"/>
                </a:solidFill>
                <a:ea typeface="楷体_GB2312" pitchFamily="49" charset="-122"/>
              </a:rPr>
              <a:t>Four)</a:t>
            </a:r>
            <a:endParaRPr lang="en-US" altLang="zh-CN" b="1" dirty="0" smtClean="0">
              <a:solidFill>
                <a:schemeClr val="accent2"/>
              </a:solidFill>
              <a:ea typeface="楷体_GB2312" pitchFamily="49" charset="-122"/>
            </a:endParaRPr>
          </a:p>
        </p:txBody>
      </p:sp>
      <p:sp>
        <p:nvSpPr>
          <p:cNvPr id="322563" name="Rectangle 3"/>
          <p:cNvSpPr>
            <a:spLocks noGrp="1" noChangeArrowheads="1"/>
          </p:cNvSpPr>
          <p:nvPr>
            <p:ph type="body" idx="1"/>
          </p:nvPr>
        </p:nvSpPr>
        <p:spPr>
          <a:xfrm>
            <a:off x="381000" y="1447800"/>
            <a:ext cx="8534400" cy="5105400"/>
          </a:xfrm>
        </p:spPr>
        <p:txBody>
          <a:bodyPr/>
          <a:lstStyle/>
          <a:p>
            <a:pPr eaLnBrk="1" hangingPunct="1">
              <a:lnSpc>
                <a:spcPct val="90000"/>
              </a:lnSpc>
              <a:spcBef>
                <a:spcPct val="50000"/>
              </a:spcBef>
              <a:buFontTx/>
              <a:buNone/>
            </a:pPr>
            <a:r>
              <a:rPr lang="en-US" altLang="zh-CN" b="1" dirty="0" smtClean="0">
                <a:ea typeface="楷体_GB2312" pitchFamily="49" charset="-122"/>
              </a:rPr>
              <a:t>– </a:t>
            </a:r>
            <a:r>
              <a:rPr lang="en-US" altLang="zh-CN" b="1" i="1" dirty="0" smtClean="0">
                <a:ea typeface="楷体_GB2312" pitchFamily="49" charset="-122"/>
              </a:rPr>
              <a:t>Erich Gamma</a:t>
            </a:r>
            <a:r>
              <a:rPr lang="en-US" altLang="zh-CN" b="1" dirty="0" smtClean="0">
                <a:ea typeface="楷体_GB2312" pitchFamily="49" charset="-122"/>
              </a:rPr>
              <a:t>:</a:t>
            </a:r>
            <a:r>
              <a:rPr lang="zh-CN" altLang="en-US" sz="2400" b="1" dirty="0" smtClean="0">
                <a:ea typeface="楷体_GB2312" pitchFamily="49" charset="-122"/>
              </a:rPr>
              <a:t>在苏黎世大学获得计算机科学博士学位，曾供职于瑞士联邦银行、</a:t>
            </a:r>
            <a:r>
              <a:rPr lang="en-US" altLang="zh-CN" sz="2400" b="1" dirty="0" err="1" smtClean="0">
                <a:ea typeface="楷体_GB2312" pitchFamily="49" charset="-122"/>
              </a:rPr>
              <a:t>Taligent</a:t>
            </a:r>
            <a:r>
              <a:rPr lang="zh-CN" altLang="en-US" sz="2400" b="1" dirty="0" smtClean="0">
                <a:ea typeface="楷体_GB2312" pitchFamily="49" charset="-122"/>
              </a:rPr>
              <a:t>、</a:t>
            </a:r>
            <a:r>
              <a:rPr lang="en-US" altLang="zh-CN" sz="2400" b="1" dirty="0" smtClean="0">
                <a:ea typeface="楷体_GB2312" pitchFamily="49" charset="-122"/>
              </a:rPr>
              <a:t>OTI</a:t>
            </a:r>
            <a:r>
              <a:rPr lang="zh-CN" altLang="en-US" sz="2400" b="1" dirty="0" smtClean="0">
                <a:ea typeface="楷体_GB2312" pitchFamily="49" charset="-122"/>
              </a:rPr>
              <a:t>公司。现在是</a:t>
            </a:r>
            <a:r>
              <a:rPr lang="en-US" altLang="zh-CN" sz="2400" b="1" dirty="0" smtClean="0">
                <a:ea typeface="楷体_GB2312" pitchFamily="49" charset="-122"/>
              </a:rPr>
              <a:t>Eclipse</a:t>
            </a:r>
            <a:r>
              <a:rPr lang="zh-CN" altLang="en-US" sz="2400" b="1" dirty="0" smtClean="0">
                <a:ea typeface="楷体_GB2312" pitchFamily="49" charset="-122"/>
              </a:rPr>
              <a:t>项目的主要技术负责人之一。</a:t>
            </a:r>
          </a:p>
          <a:p>
            <a:pPr eaLnBrk="1" hangingPunct="1">
              <a:lnSpc>
                <a:spcPct val="90000"/>
              </a:lnSpc>
              <a:spcBef>
                <a:spcPct val="50000"/>
              </a:spcBef>
              <a:buFontTx/>
              <a:buNone/>
            </a:pPr>
            <a:r>
              <a:rPr lang="en-US" altLang="zh-CN" b="1" dirty="0" smtClean="0">
                <a:ea typeface="楷体_GB2312" pitchFamily="49" charset="-122"/>
              </a:rPr>
              <a:t>– </a:t>
            </a:r>
            <a:r>
              <a:rPr lang="en-US" altLang="zh-CN" b="1" i="1" dirty="0" smtClean="0">
                <a:ea typeface="楷体_GB2312" pitchFamily="49" charset="-122"/>
              </a:rPr>
              <a:t>Richard Helm</a:t>
            </a:r>
            <a:r>
              <a:rPr lang="zh-CN" altLang="en-US" b="1" dirty="0" smtClean="0">
                <a:ea typeface="楷体_GB2312" pitchFamily="49" charset="-122"/>
              </a:rPr>
              <a:t>：</a:t>
            </a:r>
            <a:r>
              <a:rPr lang="zh-CN" altLang="en-US" sz="2400" b="1" dirty="0" smtClean="0">
                <a:ea typeface="楷体_GB2312" pitchFamily="49" charset="-122"/>
              </a:rPr>
              <a:t>在墨尔本大学获得计算机科学博士学位，曾在</a:t>
            </a:r>
            <a:r>
              <a:rPr lang="en-US" altLang="zh-CN" sz="2400" b="1" dirty="0" smtClean="0">
                <a:ea typeface="楷体_GB2312" pitchFamily="49" charset="-122"/>
              </a:rPr>
              <a:t>IBM </a:t>
            </a:r>
            <a:r>
              <a:rPr lang="en-US" altLang="zh-CN" sz="2400" b="1" dirty="0" err="1" smtClean="0">
                <a:ea typeface="楷体_GB2312" pitchFamily="49" charset="-122"/>
              </a:rPr>
              <a:t>T.J.Watson</a:t>
            </a:r>
            <a:r>
              <a:rPr lang="zh-CN" altLang="en-US" sz="2400" b="1" dirty="0" smtClean="0">
                <a:ea typeface="楷体_GB2312" pitchFamily="49" charset="-122"/>
              </a:rPr>
              <a:t>担任研究员。现在</a:t>
            </a:r>
            <a:r>
              <a:rPr lang="en-US" altLang="zh-CN" sz="2400" b="1" dirty="0" smtClean="0">
                <a:ea typeface="楷体_GB2312" pitchFamily="49" charset="-122"/>
              </a:rPr>
              <a:t>IBM</a:t>
            </a:r>
            <a:r>
              <a:rPr lang="zh-CN" altLang="en-US" sz="2400" b="1" dirty="0" smtClean="0">
                <a:ea typeface="楷体_GB2312" pitchFamily="49" charset="-122"/>
              </a:rPr>
              <a:t>咨询集团供职。</a:t>
            </a:r>
          </a:p>
          <a:p>
            <a:pPr eaLnBrk="1" hangingPunct="1">
              <a:lnSpc>
                <a:spcPct val="90000"/>
              </a:lnSpc>
              <a:spcBef>
                <a:spcPct val="50000"/>
              </a:spcBef>
              <a:buFontTx/>
              <a:buNone/>
            </a:pPr>
            <a:r>
              <a:rPr lang="en-US" altLang="zh-CN" b="1" dirty="0" smtClean="0">
                <a:ea typeface="楷体_GB2312" pitchFamily="49" charset="-122"/>
              </a:rPr>
              <a:t>– </a:t>
            </a:r>
            <a:r>
              <a:rPr lang="en-US" altLang="zh-CN" b="1" i="1" dirty="0" smtClean="0">
                <a:ea typeface="楷体_GB2312" pitchFamily="49" charset="-122"/>
              </a:rPr>
              <a:t>Ralph Johnson</a:t>
            </a:r>
            <a:r>
              <a:rPr lang="zh-CN" altLang="en-US" b="1" dirty="0" smtClean="0">
                <a:ea typeface="楷体_GB2312" pitchFamily="49" charset="-122"/>
              </a:rPr>
              <a:t>：</a:t>
            </a:r>
            <a:r>
              <a:rPr lang="zh-CN" altLang="en-US" sz="2400" b="1" dirty="0" smtClean="0">
                <a:ea typeface="楷体_GB2312" pitchFamily="49" charset="-122"/>
              </a:rPr>
              <a:t>在康内尔大学获得计算机科学博士学位，目前是伊利诺大学教授，在模式、重构等领域均有很高造诣。</a:t>
            </a:r>
            <a:endParaRPr lang="zh-CN" altLang="en-US" b="1" dirty="0" smtClean="0">
              <a:ea typeface="楷体_GB2312" pitchFamily="49" charset="-122"/>
            </a:endParaRPr>
          </a:p>
          <a:p>
            <a:pPr eaLnBrk="1" hangingPunct="1">
              <a:lnSpc>
                <a:spcPct val="90000"/>
              </a:lnSpc>
              <a:spcBef>
                <a:spcPct val="50000"/>
              </a:spcBef>
              <a:buFontTx/>
              <a:buNone/>
            </a:pPr>
            <a:r>
              <a:rPr lang="en-US" altLang="zh-CN" b="1" dirty="0" smtClean="0">
                <a:ea typeface="楷体_GB2312" pitchFamily="49" charset="-122"/>
              </a:rPr>
              <a:t>– </a:t>
            </a:r>
            <a:r>
              <a:rPr lang="en-US" altLang="zh-CN" b="1" i="1" dirty="0" smtClean="0">
                <a:ea typeface="楷体_GB2312" pitchFamily="49" charset="-122"/>
              </a:rPr>
              <a:t>John </a:t>
            </a:r>
            <a:r>
              <a:rPr lang="en-US" altLang="zh-CN" b="1" i="1" dirty="0" err="1" smtClean="0">
                <a:ea typeface="楷体_GB2312" pitchFamily="49" charset="-122"/>
              </a:rPr>
              <a:t>Vlissides</a:t>
            </a:r>
            <a:r>
              <a:rPr lang="zh-CN" altLang="en-US" b="1" dirty="0" smtClean="0">
                <a:ea typeface="楷体_GB2312" pitchFamily="49" charset="-122"/>
              </a:rPr>
              <a:t>：</a:t>
            </a:r>
            <a:r>
              <a:rPr lang="zh-CN" altLang="en-US" sz="2800" b="1" dirty="0" smtClean="0">
                <a:ea typeface="楷体_GB2312" pitchFamily="49" charset="-122"/>
              </a:rPr>
              <a:t>在斯坦福大学获得计算机科学博士学位，目前是</a:t>
            </a:r>
            <a:r>
              <a:rPr lang="en-US" altLang="zh-CN" sz="2400" b="1" dirty="0" smtClean="0">
                <a:ea typeface="楷体_GB2312" pitchFamily="49" charset="-122"/>
              </a:rPr>
              <a:t>IBM </a:t>
            </a:r>
            <a:r>
              <a:rPr lang="en-US" altLang="zh-CN" sz="2400" b="1" dirty="0" err="1" smtClean="0">
                <a:ea typeface="楷体_GB2312" pitchFamily="49" charset="-122"/>
              </a:rPr>
              <a:t>T.J.Watson</a:t>
            </a:r>
            <a:r>
              <a:rPr lang="zh-CN" altLang="en-US" sz="2400" b="1" dirty="0" smtClean="0">
                <a:ea typeface="楷体_GB2312" pitchFamily="49" charset="-122"/>
              </a:rPr>
              <a:t>研究中心的研究员。</a:t>
            </a:r>
            <a:endParaRPr lang="zh-CN" altLang="en-US" b="1" dirty="0" smtClean="0">
              <a:ea typeface="楷体_GB2312" pitchFamily="49" charset="-122"/>
            </a:endParaRPr>
          </a:p>
        </p:txBody>
      </p:sp>
    </p:spTree>
    <p:extLst>
      <p:ext uri="{BB962C8B-B14F-4D97-AF65-F5344CB8AC3E}">
        <p14:creationId xmlns:p14="http://schemas.microsoft.com/office/powerpoint/2010/main" val="3473513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wipe(left)">
                                      <p:cBhvr>
                                        <p:cTn id="7" dur="500"/>
                                        <p:tgtEl>
                                          <p:spTgt spid="32256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22563">
                                            <p:txEl>
                                              <p:pRg st="1" end="1"/>
                                            </p:txEl>
                                          </p:spTgt>
                                        </p:tgtEl>
                                        <p:attrNameLst>
                                          <p:attrName>style.visibility</p:attrName>
                                        </p:attrNameLst>
                                      </p:cBhvr>
                                      <p:to>
                                        <p:strVal val="visible"/>
                                      </p:to>
                                    </p:set>
                                    <p:animEffect transition="in" filter="wipe(left)">
                                      <p:cBhvr>
                                        <p:cTn id="10" dur="500"/>
                                        <p:tgtEl>
                                          <p:spTgt spid="32256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22563">
                                            <p:txEl>
                                              <p:pRg st="2" end="2"/>
                                            </p:txEl>
                                          </p:spTgt>
                                        </p:tgtEl>
                                        <p:attrNameLst>
                                          <p:attrName>style.visibility</p:attrName>
                                        </p:attrNameLst>
                                      </p:cBhvr>
                                      <p:to>
                                        <p:strVal val="visible"/>
                                      </p:to>
                                    </p:set>
                                    <p:animEffect transition="in" filter="wipe(left)">
                                      <p:cBhvr>
                                        <p:cTn id="13" dur="500"/>
                                        <p:tgtEl>
                                          <p:spTgt spid="322563">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22563">
                                            <p:txEl>
                                              <p:pRg st="3" end="3"/>
                                            </p:txEl>
                                          </p:spTgt>
                                        </p:tgtEl>
                                        <p:attrNameLst>
                                          <p:attrName>style.visibility</p:attrName>
                                        </p:attrNameLst>
                                      </p:cBhvr>
                                      <p:to>
                                        <p:strVal val="visible"/>
                                      </p:to>
                                    </p:set>
                                    <p:animEffect transition="in" filter="wipe(left)">
                                      <p:cBhvr>
                                        <p:cTn id="16" dur="500"/>
                                        <p:tgtEl>
                                          <p:spTgt spid="3225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b="1" dirty="0" smtClean="0">
                <a:solidFill>
                  <a:schemeClr val="accent2"/>
                </a:solidFill>
                <a:ea typeface="楷体_GB2312" pitchFamily="49" charset="-122"/>
              </a:rPr>
              <a:t>模式的四个基本要素</a:t>
            </a:r>
            <a:endParaRPr lang="zh-CN" altLang="en-US" dirty="0" smtClean="0"/>
          </a:p>
        </p:txBody>
      </p:sp>
      <p:sp>
        <p:nvSpPr>
          <p:cNvPr id="12291" name="Rectangle 3"/>
          <p:cNvSpPr>
            <a:spLocks noGrp="1" noChangeArrowheads="1"/>
          </p:cNvSpPr>
          <p:nvPr>
            <p:ph type="body" idx="1"/>
          </p:nvPr>
        </p:nvSpPr>
        <p:spPr>
          <a:xfrm>
            <a:off x="533400" y="1447800"/>
            <a:ext cx="8153400" cy="5105400"/>
          </a:xfrm>
        </p:spPr>
        <p:txBody>
          <a:bodyPr/>
          <a:lstStyle/>
          <a:p>
            <a:pPr eaLnBrk="1" hangingPunct="1">
              <a:spcBef>
                <a:spcPct val="50000"/>
              </a:spcBef>
              <a:buFont typeface="Wingdings" pitchFamily="2" charset="2"/>
              <a:buChar char="Ø"/>
            </a:pPr>
            <a:r>
              <a:rPr lang="zh-CN" altLang="en-US" sz="2800" b="1" dirty="0" smtClean="0">
                <a:solidFill>
                  <a:schemeClr val="accent2"/>
                </a:solidFill>
                <a:latin typeface="楷体_GB2312" pitchFamily="49" charset="-122"/>
                <a:ea typeface="楷体_GB2312" pitchFamily="49" charset="-122"/>
              </a:rPr>
              <a:t>模式名称（</a:t>
            </a:r>
            <a:r>
              <a:rPr lang="en-US" altLang="zh-CN" sz="2800" b="1" dirty="0" smtClean="0">
                <a:solidFill>
                  <a:schemeClr val="accent2"/>
                </a:solidFill>
                <a:latin typeface="楷体_GB2312" pitchFamily="49" charset="-122"/>
                <a:ea typeface="楷体_GB2312" pitchFamily="49" charset="-122"/>
              </a:rPr>
              <a:t>pattern name</a:t>
            </a:r>
            <a:r>
              <a:rPr lang="zh-CN" altLang="en-US" sz="2800" b="1" dirty="0" smtClean="0">
                <a:solidFill>
                  <a:schemeClr val="accent2"/>
                </a:solidFill>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 </a:t>
            </a:r>
            <a:r>
              <a:rPr lang="zh-CN" altLang="en-US" sz="2800" b="1" dirty="0" smtClean="0">
                <a:latin typeface="楷体_GB2312" pitchFamily="49" charset="-122"/>
                <a:ea typeface="楷体_GB2312" pitchFamily="49" charset="-122"/>
              </a:rPr>
              <a:t>一个助记名，它用一两个词来描述模式的问题、解决方案和效果。</a:t>
            </a:r>
          </a:p>
          <a:p>
            <a:pPr lvl="1" eaLnBrk="1" hangingPunct="1">
              <a:spcBef>
                <a:spcPct val="50000"/>
              </a:spcBef>
              <a:buFont typeface="Wingdings" pitchFamily="2" charset="2"/>
              <a:buChar char="Ø"/>
            </a:pPr>
            <a:r>
              <a:rPr lang="zh-CN" altLang="en-US" sz="2400" b="1" dirty="0" smtClean="0">
                <a:latin typeface="楷体_GB2312" pitchFamily="49" charset="-122"/>
                <a:ea typeface="楷体_GB2312" pitchFamily="49" charset="-122"/>
              </a:rPr>
              <a:t>命名一个新的模式增加了我们的设计词汇。设计模式允许我们在较高的抽象层次上进行设计。基于一个模式词汇表，我们自己以及同事之间就可以讨论模式并在编写文档时使用它们。</a:t>
            </a:r>
          </a:p>
          <a:p>
            <a:pPr lvl="1" eaLnBrk="1" hangingPunct="1">
              <a:spcBef>
                <a:spcPct val="50000"/>
              </a:spcBef>
              <a:buFont typeface="Wingdings" pitchFamily="2" charset="2"/>
              <a:buChar char="Ø"/>
            </a:pPr>
            <a:r>
              <a:rPr lang="zh-CN" altLang="en-US" sz="2400" b="1" dirty="0" smtClean="0">
                <a:latin typeface="楷体_GB2312" pitchFamily="49" charset="-122"/>
                <a:ea typeface="楷体_GB2312" pitchFamily="49" charset="-122"/>
              </a:rPr>
              <a:t>模式名可以帮助我们思考，便于我们与其他人交流设计思想及设计结果。</a:t>
            </a:r>
          </a:p>
          <a:p>
            <a:pPr lvl="1" eaLnBrk="1" hangingPunct="1">
              <a:spcBef>
                <a:spcPct val="50000"/>
              </a:spcBef>
              <a:buFont typeface="Wingdings" pitchFamily="2" charset="2"/>
              <a:buChar char="Ø"/>
            </a:pPr>
            <a:r>
              <a:rPr lang="zh-CN" altLang="en-US" sz="2400" b="1" dirty="0" smtClean="0">
                <a:latin typeface="楷体_GB2312" pitchFamily="49" charset="-122"/>
                <a:ea typeface="楷体_GB2312" pitchFamily="49" charset="-122"/>
              </a:rPr>
              <a:t>找到恰当的模式名也是我们设计模式编目工作的难点之一。</a:t>
            </a:r>
          </a:p>
        </p:txBody>
      </p:sp>
    </p:spTree>
    <p:extLst>
      <p:ext uri="{BB962C8B-B14F-4D97-AF65-F5344CB8AC3E}">
        <p14:creationId xmlns:p14="http://schemas.microsoft.com/office/powerpoint/2010/main" val="5551596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模式的四个基本要素（续）</a:t>
            </a:r>
            <a:endParaRPr lang="zh-CN" altLang="en-US" smtClean="0"/>
          </a:p>
        </p:txBody>
      </p:sp>
      <p:sp>
        <p:nvSpPr>
          <p:cNvPr id="13315" name="Rectangle 3"/>
          <p:cNvSpPr>
            <a:spLocks noGrp="1" noChangeArrowheads="1"/>
          </p:cNvSpPr>
          <p:nvPr>
            <p:ph type="body" idx="1"/>
          </p:nvPr>
        </p:nvSpPr>
        <p:spPr>
          <a:xfrm>
            <a:off x="533400" y="1524000"/>
            <a:ext cx="8153400" cy="4525963"/>
          </a:xfrm>
        </p:spPr>
        <p:txBody>
          <a:bodyPr/>
          <a:lstStyle/>
          <a:p>
            <a:pPr eaLnBrk="1" hangingPunct="1">
              <a:spcBef>
                <a:spcPct val="50000"/>
              </a:spcBef>
              <a:buFont typeface="Wingdings" pitchFamily="2" charset="2"/>
              <a:buChar char="Ø"/>
            </a:pPr>
            <a:r>
              <a:rPr lang="zh-CN" altLang="en-US" b="1" smtClean="0">
                <a:solidFill>
                  <a:schemeClr val="accent2"/>
                </a:solidFill>
                <a:latin typeface="楷体_GB2312" pitchFamily="49" charset="-122"/>
                <a:ea typeface="楷体_GB2312" pitchFamily="49" charset="-122"/>
              </a:rPr>
              <a:t>问题</a:t>
            </a:r>
            <a:r>
              <a:rPr lang="en-US" altLang="zh-CN" b="1" smtClean="0">
                <a:solidFill>
                  <a:schemeClr val="accent2"/>
                </a:solidFill>
                <a:latin typeface="楷体_GB2312" pitchFamily="49" charset="-122"/>
                <a:ea typeface="楷体_GB2312" pitchFamily="49" charset="-122"/>
              </a:rPr>
              <a:t>(problem)</a:t>
            </a:r>
            <a:r>
              <a:rPr lang="en-US" altLang="zh-CN"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描述了应该在</a:t>
            </a:r>
            <a:r>
              <a:rPr lang="zh-CN" altLang="en-US" b="1" smtClean="0">
                <a:solidFill>
                  <a:srgbClr val="FF0000"/>
                </a:solidFill>
                <a:latin typeface="楷体_GB2312" pitchFamily="49" charset="-122"/>
                <a:ea typeface="楷体_GB2312" pitchFamily="49" charset="-122"/>
              </a:rPr>
              <a:t>何时</a:t>
            </a:r>
            <a:r>
              <a:rPr lang="zh-CN" altLang="en-US" b="1" smtClean="0">
                <a:latin typeface="楷体_GB2312" pitchFamily="49" charset="-122"/>
                <a:ea typeface="楷体_GB2312" pitchFamily="49" charset="-122"/>
              </a:rPr>
              <a:t>使用模式。</a:t>
            </a:r>
          </a:p>
          <a:p>
            <a:pPr lvl="1" eaLnBrk="1" hangingPunct="1">
              <a:spcBef>
                <a:spcPct val="50000"/>
              </a:spcBef>
              <a:buFont typeface="Wingdings" pitchFamily="2" charset="2"/>
              <a:buNone/>
            </a:pPr>
            <a:r>
              <a:rPr lang="zh-CN" altLang="en-US" b="1" smtClean="0">
                <a:latin typeface="楷体_GB2312" pitchFamily="49" charset="-122"/>
                <a:ea typeface="楷体_GB2312" pitchFamily="49" charset="-122"/>
              </a:rPr>
              <a:t>它解释了设计问题和问题存在的前因后果，它可能描述了特定的设计问题，如怎样用对象表示算法等。</a:t>
            </a:r>
          </a:p>
          <a:p>
            <a:pPr lvl="1" eaLnBrk="1" hangingPunct="1">
              <a:spcBef>
                <a:spcPct val="50000"/>
              </a:spcBef>
              <a:buFont typeface="Wingdings" pitchFamily="2" charset="2"/>
              <a:buNone/>
            </a:pPr>
            <a:r>
              <a:rPr lang="zh-CN" altLang="en-US" b="1" smtClean="0">
                <a:latin typeface="楷体_GB2312" pitchFamily="49" charset="-122"/>
                <a:ea typeface="楷体_GB2312" pitchFamily="49" charset="-122"/>
              </a:rPr>
              <a:t>也可能描述了导致不灵活设计的类或对象结构。</a:t>
            </a:r>
          </a:p>
          <a:p>
            <a:pPr lvl="1" eaLnBrk="1" hangingPunct="1">
              <a:spcBef>
                <a:spcPct val="50000"/>
              </a:spcBef>
              <a:buFont typeface="Wingdings" pitchFamily="2" charset="2"/>
              <a:buNone/>
            </a:pPr>
            <a:r>
              <a:rPr lang="zh-CN" altLang="en-US" b="1" smtClean="0">
                <a:latin typeface="楷体_GB2312" pitchFamily="49" charset="-122"/>
                <a:ea typeface="楷体_GB2312" pitchFamily="49" charset="-122"/>
              </a:rPr>
              <a:t>有时候，问题部分会包括使用模式必须满足的一系列先决条件。</a:t>
            </a:r>
          </a:p>
        </p:txBody>
      </p:sp>
    </p:spTree>
    <p:extLst>
      <p:ext uri="{BB962C8B-B14F-4D97-AF65-F5344CB8AC3E}">
        <p14:creationId xmlns:p14="http://schemas.microsoft.com/office/powerpoint/2010/main" val="17981372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模式的四个基本要素（续）</a:t>
            </a:r>
          </a:p>
        </p:txBody>
      </p:sp>
      <p:sp>
        <p:nvSpPr>
          <p:cNvPr id="14339" name="Rectangle 3"/>
          <p:cNvSpPr>
            <a:spLocks noGrp="1" noChangeArrowheads="1"/>
          </p:cNvSpPr>
          <p:nvPr>
            <p:ph type="body" idx="1"/>
          </p:nvPr>
        </p:nvSpPr>
        <p:spPr>
          <a:xfrm>
            <a:off x="533400" y="1524000"/>
            <a:ext cx="8153400" cy="4525963"/>
          </a:xfrm>
        </p:spPr>
        <p:txBody>
          <a:bodyPr/>
          <a:lstStyle/>
          <a:p>
            <a:pPr eaLnBrk="1" hangingPunct="1">
              <a:spcBef>
                <a:spcPct val="50000"/>
              </a:spcBef>
              <a:buFont typeface="Wingdings" pitchFamily="2" charset="2"/>
              <a:buChar char="Ø"/>
            </a:pPr>
            <a:r>
              <a:rPr lang="zh-CN" altLang="en-US" b="1" smtClean="0">
                <a:solidFill>
                  <a:schemeClr val="accent2"/>
                </a:solidFill>
                <a:latin typeface="楷体_GB2312" pitchFamily="49" charset="-122"/>
                <a:ea typeface="楷体_GB2312" pitchFamily="49" charset="-122"/>
              </a:rPr>
              <a:t>解决方案</a:t>
            </a:r>
            <a:r>
              <a:rPr lang="en-US" altLang="zh-CN" b="1" smtClean="0">
                <a:solidFill>
                  <a:schemeClr val="accent2"/>
                </a:solidFill>
                <a:latin typeface="楷体_GB2312" pitchFamily="49" charset="-122"/>
                <a:ea typeface="楷体_GB2312" pitchFamily="49" charset="-122"/>
              </a:rPr>
              <a:t>(solution)</a:t>
            </a:r>
            <a:r>
              <a:rPr lang="en-US" altLang="zh-CN"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描述了设计的</a:t>
            </a:r>
            <a:r>
              <a:rPr lang="zh-CN" altLang="en-US" b="1" smtClean="0">
                <a:solidFill>
                  <a:srgbClr val="FF0000"/>
                </a:solidFill>
                <a:latin typeface="楷体_GB2312" pitchFamily="49" charset="-122"/>
                <a:ea typeface="楷体_GB2312" pitchFamily="49" charset="-122"/>
              </a:rPr>
              <a:t>组成成分</a:t>
            </a:r>
            <a:r>
              <a:rPr lang="zh-CN" altLang="en-US" b="1" smtClean="0">
                <a:latin typeface="楷体_GB2312" pitchFamily="49" charset="-122"/>
                <a:ea typeface="楷体_GB2312" pitchFamily="49" charset="-122"/>
              </a:rPr>
              <a:t>，它们之间的相互关系及各自的职责和协作方式。</a:t>
            </a:r>
          </a:p>
          <a:p>
            <a:pPr lvl="1" eaLnBrk="1" hangingPunct="1">
              <a:spcBef>
                <a:spcPct val="50000"/>
              </a:spcBef>
              <a:buFont typeface="Wingdings" pitchFamily="2" charset="2"/>
              <a:buNone/>
            </a:pPr>
            <a:r>
              <a:rPr lang="zh-CN" altLang="en-US" b="1" smtClean="0">
                <a:latin typeface="楷体_GB2312" pitchFamily="49" charset="-122"/>
                <a:ea typeface="楷体_GB2312" pitchFamily="49" charset="-122"/>
              </a:rPr>
              <a:t>  因为模式就像一个模板，可应用于多种不同场合，所以解决方案并不描述一个特定而具体的设计或实现，而是提供设计问题的抽象描述和怎样用一个具有一般意义的元素组合（类或对象组合）来解决这个问题。</a:t>
            </a:r>
          </a:p>
        </p:txBody>
      </p:sp>
    </p:spTree>
    <p:extLst>
      <p:ext uri="{BB962C8B-B14F-4D97-AF65-F5344CB8AC3E}">
        <p14:creationId xmlns:p14="http://schemas.microsoft.com/office/powerpoint/2010/main" val="41193335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模式的四个基本要素（续）</a:t>
            </a:r>
          </a:p>
        </p:txBody>
      </p:sp>
      <p:sp>
        <p:nvSpPr>
          <p:cNvPr id="15363" name="Rectangle 3"/>
          <p:cNvSpPr>
            <a:spLocks noGrp="1" noChangeArrowheads="1"/>
          </p:cNvSpPr>
          <p:nvPr>
            <p:ph type="body" idx="1"/>
          </p:nvPr>
        </p:nvSpPr>
        <p:spPr>
          <a:xfrm>
            <a:off x="533400" y="1524000"/>
            <a:ext cx="8153400" cy="4525963"/>
          </a:xfrm>
        </p:spPr>
        <p:txBody>
          <a:bodyPr/>
          <a:lstStyle/>
          <a:p>
            <a:pPr eaLnBrk="1" hangingPunct="1">
              <a:spcBef>
                <a:spcPct val="50000"/>
              </a:spcBef>
              <a:buFont typeface="Wingdings" pitchFamily="2" charset="2"/>
              <a:buChar char="Ø"/>
            </a:pPr>
            <a:r>
              <a:rPr lang="zh-CN" altLang="en-US" sz="2800" b="1" smtClean="0">
                <a:solidFill>
                  <a:schemeClr val="accent2"/>
                </a:solidFill>
                <a:latin typeface="楷体_GB2312" pitchFamily="49" charset="-122"/>
                <a:ea typeface="楷体_GB2312" pitchFamily="49" charset="-122"/>
              </a:rPr>
              <a:t>效果</a:t>
            </a:r>
            <a:r>
              <a:rPr lang="en-US" altLang="zh-CN" sz="2800" b="1" smtClean="0">
                <a:solidFill>
                  <a:schemeClr val="accent2"/>
                </a:solidFill>
                <a:latin typeface="楷体_GB2312" pitchFamily="49" charset="-122"/>
                <a:ea typeface="楷体_GB2312" pitchFamily="49" charset="-122"/>
              </a:rPr>
              <a:t>(consequences)</a:t>
            </a:r>
            <a:r>
              <a:rPr lang="en-US" altLang="zh-CN" sz="2800" smtClean="0">
                <a:latin typeface="楷体_GB2312" pitchFamily="49" charset="-122"/>
                <a:ea typeface="楷体_GB2312" pitchFamily="49" charset="-122"/>
              </a:rPr>
              <a:t> </a:t>
            </a:r>
            <a:r>
              <a:rPr lang="zh-CN" altLang="en-US" sz="2800" b="1" smtClean="0">
                <a:latin typeface="楷体_GB2312" pitchFamily="49" charset="-122"/>
                <a:ea typeface="楷体_GB2312" pitchFamily="49" charset="-122"/>
              </a:rPr>
              <a:t>描述了模式应用的</a:t>
            </a:r>
            <a:r>
              <a:rPr lang="zh-CN" altLang="en-US" sz="2800" b="1" smtClean="0">
                <a:solidFill>
                  <a:srgbClr val="FF0000"/>
                </a:solidFill>
                <a:latin typeface="楷体_GB2312" pitchFamily="49" charset="-122"/>
                <a:ea typeface="楷体_GB2312" pitchFamily="49" charset="-122"/>
              </a:rPr>
              <a:t>效果及使用模式应权衡的问题</a:t>
            </a:r>
            <a:r>
              <a:rPr lang="zh-CN" altLang="en-US" sz="2800" b="1" smtClean="0">
                <a:latin typeface="楷体_GB2312" pitchFamily="49" charset="-122"/>
                <a:ea typeface="楷体_GB2312" pitchFamily="49" charset="-122"/>
              </a:rPr>
              <a:t>。</a:t>
            </a:r>
          </a:p>
          <a:p>
            <a:pPr lvl="1" eaLnBrk="1" hangingPunct="1">
              <a:spcBef>
                <a:spcPct val="50000"/>
              </a:spcBef>
              <a:buFont typeface="Wingdings" pitchFamily="2" charset="2"/>
              <a:buNone/>
            </a:pPr>
            <a:r>
              <a:rPr lang="zh-CN" altLang="en-US" sz="2400" b="1" smtClean="0">
                <a:latin typeface="楷体_GB2312" pitchFamily="49" charset="-122"/>
                <a:ea typeface="楷体_GB2312" pitchFamily="49" charset="-122"/>
              </a:rPr>
              <a:t>尽管我们描述设计决策时，并不总提到模式效果，但它们对于评价设计选择和理解使用模式的代价及好处具有重要意义。</a:t>
            </a:r>
          </a:p>
          <a:p>
            <a:pPr lvl="1" eaLnBrk="1" hangingPunct="1">
              <a:spcBef>
                <a:spcPct val="50000"/>
              </a:spcBef>
              <a:buFont typeface="Wingdings" pitchFamily="2" charset="2"/>
              <a:buNone/>
            </a:pPr>
            <a:r>
              <a:rPr lang="zh-CN" altLang="en-US" sz="2400" b="1" smtClean="0">
                <a:latin typeface="楷体_GB2312" pitchFamily="49" charset="-122"/>
                <a:ea typeface="楷体_GB2312" pitchFamily="49" charset="-122"/>
              </a:rPr>
              <a:t>软件效果大多关注对时间和空间的衡量，它们也表述了语言和实现问题。</a:t>
            </a:r>
          </a:p>
          <a:p>
            <a:pPr lvl="1" eaLnBrk="1" hangingPunct="1">
              <a:spcBef>
                <a:spcPct val="50000"/>
              </a:spcBef>
              <a:buFont typeface="Wingdings" pitchFamily="2" charset="2"/>
              <a:buNone/>
            </a:pPr>
            <a:r>
              <a:rPr lang="zh-CN" altLang="en-US" sz="2400" b="1" smtClean="0">
                <a:latin typeface="楷体_GB2312" pitchFamily="49" charset="-122"/>
                <a:ea typeface="楷体_GB2312" pitchFamily="49" charset="-122"/>
              </a:rPr>
              <a:t>因为</a:t>
            </a:r>
            <a:r>
              <a:rPr lang="zh-CN" altLang="en-US" sz="2400" b="1" smtClean="0">
                <a:solidFill>
                  <a:srgbClr val="FF0000"/>
                </a:solidFill>
                <a:latin typeface="楷体_GB2312" pitchFamily="49" charset="-122"/>
                <a:ea typeface="楷体_GB2312" pitchFamily="49" charset="-122"/>
              </a:rPr>
              <a:t>复用</a:t>
            </a:r>
            <a:r>
              <a:rPr lang="zh-CN" altLang="en-US" sz="2400" b="1" smtClean="0">
                <a:latin typeface="楷体_GB2312" pitchFamily="49" charset="-122"/>
                <a:ea typeface="楷体_GB2312" pitchFamily="49" charset="-122"/>
              </a:rPr>
              <a:t>是面向对象设计的要素之一，所以模式效果包括</a:t>
            </a:r>
            <a:r>
              <a:rPr lang="zh-CN" altLang="en-US" sz="2400" b="1" smtClean="0">
                <a:solidFill>
                  <a:srgbClr val="0000CC"/>
                </a:solidFill>
                <a:latin typeface="楷体_GB2312" pitchFamily="49" charset="-122"/>
                <a:ea typeface="楷体_GB2312" pitchFamily="49" charset="-122"/>
              </a:rPr>
              <a:t>它对系统的灵活性、扩充性或可移植性的影响</a:t>
            </a:r>
            <a:r>
              <a:rPr lang="zh-CN" altLang="en-US" sz="2400" b="1" smtClean="0">
                <a:latin typeface="楷体_GB2312" pitchFamily="49" charset="-122"/>
                <a:ea typeface="楷体_GB2312" pitchFamily="49" charset="-122"/>
              </a:rPr>
              <a:t>，显式地列出这些效果对理解和评价这些模式很有帮助。</a:t>
            </a:r>
          </a:p>
        </p:txBody>
      </p:sp>
    </p:spTree>
    <p:extLst>
      <p:ext uri="{BB962C8B-B14F-4D97-AF65-F5344CB8AC3E}">
        <p14:creationId xmlns:p14="http://schemas.microsoft.com/office/powerpoint/2010/main" val="39791624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b="1" dirty="0" smtClean="0">
                <a:solidFill>
                  <a:schemeClr val="accent2"/>
                </a:solidFill>
                <a:ea typeface="楷体_GB2312" pitchFamily="49" charset="-122"/>
              </a:rPr>
              <a:t>描述设计模式</a:t>
            </a:r>
          </a:p>
        </p:txBody>
      </p:sp>
      <p:sp>
        <p:nvSpPr>
          <p:cNvPr id="16387" name="Rectangle 3"/>
          <p:cNvSpPr>
            <a:spLocks noGrp="1" noChangeArrowheads="1"/>
          </p:cNvSpPr>
          <p:nvPr>
            <p:ph type="body" idx="1"/>
          </p:nvPr>
        </p:nvSpPr>
        <p:spPr/>
        <p:txBody>
          <a:bodyPr/>
          <a:lstStyle/>
          <a:p>
            <a:pPr eaLnBrk="1" hangingPunct="1"/>
            <a:r>
              <a:rPr lang="zh-CN" altLang="en-US" b="1" dirty="0" smtClean="0">
                <a:ea typeface="楷体_GB2312" pitchFamily="49" charset="-122"/>
              </a:rPr>
              <a:t>将用统一的格式描述设计模式，每一个模式根据以下的模板被分为若干部分。</a:t>
            </a:r>
          </a:p>
        </p:txBody>
      </p:sp>
    </p:spTree>
    <p:extLst>
      <p:ext uri="{BB962C8B-B14F-4D97-AF65-F5344CB8AC3E}">
        <p14:creationId xmlns:p14="http://schemas.microsoft.com/office/powerpoint/2010/main" val="18174884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描述设计模式（续）</a:t>
            </a:r>
          </a:p>
        </p:txBody>
      </p:sp>
      <p:sp>
        <p:nvSpPr>
          <p:cNvPr id="17411" name="Rectangle 3"/>
          <p:cNvSpPr>
            <a:spLocks noGrp="1" noChangeArrowheads="1"/>
          </p:cNvSpPr>
          <p:nvPr>
            <p:ph type="body" idx="1"/>
          </p:nvPr>
        </p:nvSpPr>
        <p:spPr>
          <a:xfrm>
            <a:off x="457200" y="1600200"/>
            <a:ext cx="8458200" cy="4525963"/>
          </a:xfrm>
        </p:spPr>
        <p:txBody>
          <a:bodyPr/>
          <a:lstStyle/>
          <a:p>
            <a:pPr eaLnBrk="1" hangingPunct="1"/>
            <a:r>
              <a:rPr lang="zh-CN" altLang="zh-CN" b="1" smtClean="0">
                <a:solidFill>
                  <a:schemeClr val="accent2"/>
                </a:solidFill>
                <a:ea typeface="楷体_GB2312" pitchFamily="49" charset="-122"/>
              </a:rPr>
              <a:t>模式名和分类：</a:t>
            </a:r>
            <a:r>
              <a:rPr lang="zh-CN" altLang="zh-CN" b="1" smtClean="0">
                <a:ea typeface="楷体_GB2312" pitchFamily="49" charset="-122"/>
              </a:rPr>
              <a:t>模式名简洁地描述了模式的本质。一个好的名字非常重要，因为它将成为你的设计词汇表中的一部分。</a:t>
            </a:r>
          </a:p>
          <a:p>
            <a:pPr eaLnBrk="1" hangingPunct="1"/>
            <a:endParaRPr lang="zh-CN" altLang="en-US" b="1" smtClean="0">
              <a:solidFill>
                <a:schemeClr val="accent2"/>
              </a:solidFill>
              <a:ea typeface="楷体_GB2312" pitchFamily="49" charset="-122"/>
            </a:endParaRPr>
          </a:p>
          <a:p>
            <a:pPr eaLnBrk="1" hangingPunct="1"/>
            <a:r>
              <a:rPr lang="zh-CN" altLang="zh-CN" b="1" smtClean="0">
                <a:solidFill>
                  <a:schemeClr val="accent2"/>
                </a:solidFill>
                <a:ea typeface="楷体_GB2312" pitchFamily="49" charset="-122"/>
              </a:rPr>
              <a:t>意图：</a:t>
            </a:r>
            <a:r>
              <a:rPr lang="zh-CN" altLang="zh-CN" b="1" smtClean="0">
                <a:ea typeface="楷体_GB2312" pitchFamily="49" charset="-122"/>
              </a:rPr>
              <a:t>是回答下列问题的简单陈述：设计模式是做什么的？它的基本原理和意图是什么？它解决的是什么样的特定设计问题？</a:t>
            </a:r>
            <a:endParaRPr lang="zh-CN" altLang="en-US" b="1" smtClean="0">
              <a:ea typeface="楷体_GB2312" pitchFamily="49" charset="-122"/>
            </a:endParaRPr>
          </a:p>
        </p:txBody>
      </p:sp>
    </p:spTree>
    <p:extLst>
      <p:ext uri="{BB962C8B-B14F-4D97-AF65-F5344CB8AC3E}">
        <p14:creationId xmlns:p14="http://schemas.microsoft.com/office/powerpoint/2010/main" val="15790527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描述设计模式（续）</a:t>
            </a:r>
          </a:p>
        </p:txBody>
      </p:sp>
      <p:sp>
        <p:nvSpPr>
          <p:cNvPr id="18435" name="Rectangle 3"/>
          <p:cNvSpPr>
            <a:spLocks noGrp="1" noChangeArrowheads="1"/>
          </p:cNvSpPr>
          <p:nvPr>
            <p:ph type="body" idx="1"/>
          </p:nvPr>
        </p:nvSpPr>
        <p:spPr>
          <a:xfrm>
            <a:off x="457200" y="1600200"/>
            <a:ext cx="8458200" cy="4525963"/>
          </a:xfrm>
        </p:spPr>
        <p:txBody>
          <a:bodyPr/>
          <a:lstStyle/>
          <a:p>
            <a:pPr eaLnBrk="1" hangingPunct="1">
              <a:spcBef>
                <a:spcPct val="50000"/>
              </a:spcBef>
            </a:pPr>
            <a:r>
              <a:rPr lang="zh-CN" altLang="zh-CN" b="1" smtClean="0">
                <a:solidFill>
                  <a:schemeClr val="accent2"/>
                </a:solidFill>
                <a:ea typeface="楷体_GB2312" pitchFamily="49" charset="-122"/>
              </a:rPr>
              <a:t>别名：</a:t>
            </a:r>
            <a:r>
              <a:rPr lang="zh-CN" altLang="zh-CN" b="1" smtClean="0">
                <a:ea typeface="楷体_GB2312" pitchFamily="49" charset="-122"/>
              </a:rPr>
              <a:t>模式的其他名称。</a:t>
            </a:r>
          </a:p>
          <a:p>
            <a:pPr eaLnBrk="1" hangingPunct="1">
              <a:spcBef>
                <a:spcPct val="50000"/>
              </a:spcBef>
            </a:pPr>
            <a:r>
              <a:rPr lang="zh-CN" altLang="zh-CN" b="1" smtClean="0">
                <a:solidFill>
                  <a:schemeClr val="accent2"/>
                </a:solidFill>
                <a:ea typeface="楷体_GB2312" pitchFamily="49" charset="-122"/>
              </a:rPr>
              <a:t>动机：</a:t>
            </a:r>
            <a:r>
              <a:rPr lang="zh-CN" altLang="zh-CN" b="1" smtClean="0">
                <a:ea typeface="楷体_GB2312" pitchFamily="49" charset="-122"/>
              </a:rPr>
              <a:t>用以说明一个设计问题以及如何用模式中的类、对象来解决该问题的特定情景。该情景会帮助你理解随后对模式更抽象的描述。</a:t>
            </a:r>
          </a:p>
          <a:p>
            <a:pPr eaLnBrk="1" hangingPunct="1">
              <a:spcBef>
                <a:spcPct val="50000"/>
              </a:spcBef>
            </a:pPr>
            <a:r>
              <a:rPr lang="zh-CN" altLang="zh-CN" b="1" smtClean="0">
                <a:solidFill>
                  <a:schemeClr val="accent2"/>
                </a:solidFill>
                <a:ea typeface="楷体_GB2312" pitchFamily="49" charset="-122"/>
              </a:rPr>
              <a:t>适用性：</a:t>
            </a:r>
            <a:r>
              <a:rPr lang="zh-CN" altLang="zh-CN" b="1" smtClean="0">
                <a:ea typeface="楷体_GB2312" pitchFamily="49" charset="-122"/>
              </a:rPr>
              <a:t>什么情况下可以使用该设计模式？该模式可用来改进哪些不良设计？你怎样识别这些情况？</a:t>
            </a:r>
            <a:endParaRPr lang="zh-CN" altLang="en-US" b="1" smtClean="0">
              <a:ea typeface="楷体_GB2312" pitchFamily="49" charset="-122"/>
            </a:endParaRPr>
          </a:p>
        </p:txBody>
      </p:sp>
    </p:spTree>
    <p:extLst>
      <p:ext uri="{BB962C8B-B14F-4D97-AF65-F5344CB8AC3E}">
        <p14:creationId xmlns:p14="http://schemas.microsoft.com/office/powerpoint/2010/main" val="23858362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描述设计模式（续）</a:t>
            </a:r>
          </a:p>
        </p:txBody>
      </p:sp>
      <p:sp>
        <p:nvSpPr>
          <p:cNvPr id="19459" name="Rectangle 3"/>
          <p:cNvSpPr>
            <a:spLocks noGrp="1" noChangeArrowheads="1"/>
          </p:cNvSpPr>
          <p:nvPr>
            <p:ph type="body" idx="1"/>
          </p:nvPr>
        </p:nvSpPr>
        <p:spPr>
          <a:xfrm>
            <a:off x="457200" y="1600200"/>
            <a:ext cx="8458200" cy="4525963"/>
          </a:xfrm>
        </p:spPr>
        <p:txBody>
          <a:bodyPr/>
          <a:lstStyle/>
          <a:p>
            <a:pPr eaLnBrk="1" hangingPunct="1">
              <a:spcBef>
                <a:spcPct val="50000"/>
              </a:spcBef>
            </a:pPr>
            <a:r>
              <a:rPr lang="zh-CN" altLang="zh-CN" b="1" smtClean="0">
                <a:solidFill>
                  <a:schemeClr val="accent2"/>
                </a:solidFill>
                <a:ea typeface="楷体_GB2312" pitchFamily="49" charset="-122"/>
              </a:rPr>
              <a:t>结构：</a:t>
            </a:r>
            <a:r>
              <a:rPr lang="zh-CN" altLang="zh-CN" b="1" smtClean="0">
                <a:ea typeface="楷体_GB2312" pitchFamily="49" charset="-122"/>
              </a:rPr>
              <a:t>采用基于对象建模技术（ O M T）的表示法对模式中的类进行图形描述。我们也使用了交互图来说明对象之间的请求序列和协作关系。</a:t>
            </a:r>
            <a:endParaRPr lang="zh-CN" altLang="en-US" b="1" smtClean="0">
              <a:ea typeface="楷体_GB2312" pitchFamily="49" charset="-122"/>
            </a:endParaRPr>
          </a:p>
          <a:p>
            <a:pPr eaLnBrk="1" hangingPunct="1">
              <a:spcBef>
                <a:spcPct val="50000"/>
              </a:spcBef>
            </a:pPr>
            <a:r>
              <a:rPr lang="zh-CN" altLang="zh-CN" b="1" smtClean="0">
                <a:solidFill>
                  <a:schemeClr val="accent2"/>
                </a:solidFill>
                <a:ea typeface="楷体_GB2312" pitchFamily="49" charset="-122"/>
              </a:rPr>
              <a:t>参与者：</a:t>
            </a:r>
            <a:r>
              <a:rPr lang="zh-CN" altLang="zh-CN" b="1" smtClean="0">
                <a:ea typeface="楷体_GB2312" pitchFamily="49" charset="-122"/>
              </a:rPr>
              <a:t>指设计模式中的类和/或对象以及它们各自的职责。</a:t>
            </a:r>
          </a:p>
          <a:p>
            <a:pPr eaLnBrk="1" hangingPunct="1">
              <a:spcBef>
                <a:spcPct val="50000"/>
              </a:spcBef>
            </a:pPr>
            <a:r>
              <a:rPr lang="zh-CN" altLang="zh-CN" b="1" smtClean="0">
                <a:solidFill>
                  <a:schemeClr val="accent2"/>
                </a:solidFill>
                <a:ea typeface="楷体_GB2312" pitchFamily="49" charset="-122"/>
              </a:rPr>
              <a:t>协作：</a:t>
            </a:r>
            <a:r>
              <a:rPr lang="zh-CN" altLang="zh-CN" b="1" smtClean="0">
                <a:ea typeface="楷体_GB2312" pitchFamily="49" charset="-122"/>
              </a:rPr>
              <a:t>模式的参与者怎样协作以实现它们的职责。</a:t>
            </a:r>
            <a:endParaRPr lang="zh-CN" altLang="en-US" b="1" smtClean="0">
              <a:ea typeface="楷体_GB2312" pitchFamily="49" charset="-122"/>
            </a:endParaRPr>
          </a:p>
        </p:txBody>
      </p:sp>
    </p:spTree>
    <p:extLst>
      <p:ext uri="{BB962C8B-B14F-4D97-AF65-F5344CB8AC3E}">
        <p14:creationId xmlns:p14="http://schemas.microsoft.com/office/powerpoint/2010/main" val="17351565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描述设计模式（续）</a:t>
            </a:r>
          </a:p>
        </p:txBody>
      </p:sp>
      <p:sp>
        <p:nvSpPr>
          <p:cNvPr id="20483" name="Rectangle 3"/>
          <p:cNvSpPr>
            <a:spLocks noGrp="1" noChangeArrowheads="1"/>
          </p:cNvSpPr>
          <p:nvPr>
            <p:ph type="body" idx="1"/>
          </p:nvPr>
        </p:nvSpPr>
        <p:spPr>
          <a:xfrm>
            <a:off x="457200" y="1600200"/>
            <a:ext cx="8458200" cy="4525963"/>
          </a:xfrm>
        </p:spPr>
        <p:txBody>
          <a:bodyPr/>
          <a:lstStyle/>
          <a:p>
            <a:pPr eaLnBrk="1" hangingPunct="1">
              <a:spcBef>
                <a:spcPct val="50000"/>
              </a:spcBef>
            </a:pPr>
            <a:r>
              <a:rPr lang="zh-CN" altLang="en-US" b="1" smtClean="0">
                <a:solidFill>
                  <a:schemeClr val="accent2"/>
                </a:solidFill>
                <a:ea typeface="楷体_GB2312" pitchFamily="49" charset="-122"/>
              </a:rPr>
              <a:t>效果：</a:t>
            </a:r>
            <a:r>
              <a:rPr lang="zh-CN" altLang="en-US" b="1" smtClean="0">
                <a:ea typeface="楷体_GB2312" pitchFamily="49" charset="-122"/>
              </a:rPr>
              <a:t>模式怎样支持它的目标？使用模式的效果和所需做的权衡取舍？系统结构的哪些方面可以独立改变？</a:t>
            </a:r>
          </a:p>
          <a:p>
            <a:pPr eaLnBrk="1" hangingPunct="1">
              <a:spcBef>
                <a:spcPct val="50000"/>
              </a:spcBef>
            </a:pPr>
            <a:r>
              <a:rPr lang="zh-CN" altLang="en-US" b="1" smtClean="0">
                <a:solidFill>
                  <a:schemeClr val="accent2"/>
                </a:solidFill>
                <a:ea typeface="楷体_GB2312" pitchFamily="49" charset="-122"/>
              </a:rPr>
              <a:t>实现：</a:t>
            </a:r>
            <a:r>
              <a:rPr lang="zh-CN" altLang="en-US" b="1" smtClean="0">
                <a:ea typeface="楷体_GB2312" pitchFamily="49" charset="-122"/>
              </a:rPr>
              <a:t>实现模式时需要知道的一些提示、技术要点及应避免的缺陷，以及是否存在某些特定于实现语言的问题。</a:t>
            </a:r>
          </a:p>
        </p:txBody>
      </p:sp>
    </p:spTree>
    <p:extLst>
      <p:ext uri="{BB962C8B-B14F-4D97-AF65-F5344CB8AC3E}">
        <p14:creationId xmlns:p14="http://schemas.microsoft.com/office/powerpoint/2010/main" val="39404434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描述设计模式（续）</a:t>
            </a:r>
          </a:p>
        </p:txBody>
      </p:sp>
      <p:sp>
        <p:nvSpPr>
          <p:cNvPr id="21507" name="Rectangle 3"/>
          <p:cNvSpPr>
            <a:spLocks noGrp="1" noChangeArrowheads="1"/>
          </p:cNvSpPr>
          <p:nvPr>
            <p:ph type="body" idx="1"/>
          </p:nvPr>
        </p:nvSpPr>
        <p:spPr>
          <a:xfrm>
            <a:off x="457200" y="1600200"/>
            <a:ext cx="8458200" cy="4525963"/>
          </a:xfrm>
        </p:spPr>
        <p:txBody>
          <a:bodyPr/>
          <a:lstStyle/>
          <a:p>
            <a:pPr eaLnBrk="1" hangingPunct="1">
              <a:spcBef>
                <a:spcPct val="50000"/>
              </a:spcBef>
            </a:pPr>
            <a:r>
              <a:rPr lang="zh-CN" altLang="en-US" b="1" smtClean="0">
                <a:solidFill>
                  <a:schemeClr val="accent2"/>
                </a:solidFill>
                <a:ea typeface="楷体_GB2312" pitchFamily="49" charset="-122"/>
              </a:rPr>
              <a:t>代码示例：</a:t>
            </a:r>
            <a:r>
              <a:rPr lang="zh-CN" altLang="en-US" b="1" smtClean="0">
                <a:ea typeface="楷体_GB2312" pitchFamily="49" charset="-122"/>
              </a:rPr>
              <a:t>用来说明怎样用</a:t>
            </a:r>
            <a:r>
              <a:rPr lang="en-US" altLang="zh-CN" b="1" smtClean="0">
                <a:latin typeface="Arial Narrow" pitchFamily="34" charset="0"/>
                <a:ea typeface="楷体_GB2312" pitchFamily="49" charset="-122"/>
              </a:rPr>
              <a:t>C++</a:t>
            </a:r>
            <a:r>
              <a:rPr lang="zh-CN" altLang="en-US" b="1" smtClean="0">
                <a:ea typeface="楷体_GB2312" pitchFamily="49" charset="-122"/>
              </a:rPr>
              <a:t>或</a:t>
            </a:r>
            <a:r>
              <a:rPr lang="en-US" altLang="zh-CN" b="1" smtClean="0">
                <a:latin typeface="Arial Narrow" pitchFamily="34" charset="0"/>
                <a:ea typeface="楷体_GB2312" pitchFamily="49" charset="-122"/>
              </a:rPr>
              <a:t>Smalltalk</a:t>
            </a:r>
            <a:r>
              <a:rPr lang="zh-CN" altLang="en-US" b="1" smtClean="0">
                <a:ea typeface="楷体_GB2312" pitchFamily="49" charset="-122"/>
              </a:rPr>
              <a:t>实现该模式的代码片段。</a:t>
            </a:r>
          </a:p>
          <a:p>
            <a:pPr eaLnBrk="1" hangingPunct="1">
              <a:spcBef>
                <a:spcPct val="50000"/>
              </a:spcBef>
            </a:pPr>
            <a:r>
              <a:rPr lang="zh-CN" altLang="en-US" b="1" smtClean="0">
                <a:solidFill>
                  <a:schemeClr val="accent2"/>
                </a:solidFill>
                <a:ea typeface="楷体_GB2312" pitchFamily="49" charset="-122"/>
              </a:rPr>
              <a:t>已知应用：</a:t>
            </a:r>
            <a:r>
              <a:rPr lang="zh-CN" altLang="en-US" b="1" smtClean="0">
                <a:ea typeface="楷体_GB2312" pitchFamily="49" charset="-122"/>
              </a:rPr>
              <a:t>实际系统中发现的模式的例子。每个模式至少包括了两个不同领域的实例。</a:t>
            </a:r>
          </a:p>
          <a:p>
            <a:pPr eaLnBrk="1" hangingPunct="1">
              <a:spcBef>
                <a:spcPct val="50000"/>
              </a:spcBef>
            </a:pPr>
            <a:r>
              <a:rPr lang="zh-CN" altLang="en-US" b="1" smtClean="0">
                <a:solidFill>
                  <a:schemeClr val="accent2"/>
                </a:solidFill>
                <a:ea typeface="楷体_GB2312" pitchFamily="49" charset="-122"/>
              </a:rPr>
              <a:t>相关模式：</a:t>
            </a:r>
            <a:r>
              <a:rPr lang="zh-CN" altLang="en-US" b="1" smtClean="0">
                <a:ea typeface="楷体_GB2312" pitchFamily="49" charset="-122"/>
              </a:rPr>
              <a:t>与这个模式紧密相关的模式有哪些？其间重要的不同之处是什么？这个模式应与哪些其他模式一起使用？</a:t>
            </a:r>
          </a:p>
        </p:txBody>
      </p:sp>
    </p:spTree>
    <p:extLst>
      <p:ext uri="{BB962C8B-B14F-4D97-AF65-F5344CB8AC3E}">
        <p14:creationId xmlns:p14="http://schemas.microsoft.com/office/powerpoint/2010/main" val="14740834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z="4000" b="1" dirty="0" smtClean="0">
                <a:solidFill>
                  <a:schemeClr val="accent2"/>
                </a:solidFill>
                <a:ea typeface="楷体_GB2312" pitchFamily="49" charset="-122"/>
              </a:rPr>
              <a:t>为什么我们要使用设计模式？</a:t>
            </a:r>
          </a:p>
        </p:txBody>
      </p:sp>
      <p:sp>
        <p:nvSpPr>
          <p:cNvPr id="157699" name="Rectangle 3"/>
          <p:cNvSpPr>
            <a:spLocks noGrp="1" noChangeArrowheads="1"/>
          </p:cNvSpPr>
          <p:nvPr>
            <p:ph type="body" idx="1"/>
          </p:nvPr>
        </p:nvSpPr>
        <p:spPr>
          <a:xfrm>
            <a:off x="228600" y="1447800"/>
            <a:ext cx="8610600" cy="5105400"/>
          </a:xfrm>
        </p:spPr>
        <p:txBody>
          <a:bodyPr/>
          <a:lstStyle/>
          <a:p>
            <a:pPr eaLnBrk="1" hangingPunct="1">
              <a:spcBef>
                <a:spcPct val="50000"/>
              </a:spcBef>
            </a:pPr>
            <a:r>
              <a:rPr lang="zh-CN" altLang="en-US" b="1" dirty="0" smtClean="0">
                <a:latin typeface="楷体_GB2312" pitchFamily="49" charset="-122"/>
                <a:ea typeface="楷体_GB2312" pitchFamily="49" charset="-122"/>
              </a:rPr>
              <a:t>设计模式帮助你从别人的成功经验而不是你自己的失败那里学到更多东西；</a:t>
            </a:r>
          </a:p>
          <a:p>
            <a:pPr eaLnBrk="1" hangingPunct="1">
              <a:spcBef>
                <a:spcPct val="50000"/>
              </a:spcBef>
              <a:buFontTx/>
              <a:buNone/>
            </a:pPr>
            <a:r>
              <a:rPr lang="zh-CN" altLang="en-US" b="1" dirty="0" smtClean="0">
                <a:latin typeface="楷体_GB2312" pitchFamily="49" charset="-122"/>
                <a:ea typeface="楷体_GB2312" pitchFamily="49" charset="-122"/>
              </a:rPr>
              <a:t>                    </a:t>
            </a:r>
            <a:r>
              <a:rPr lang="en-US" altLang="zh-CN" b="1" dirty="0" smtClean="0">
                <a:latin typeface="楷体_GB2312" pitchFamily="49" charset="-122"/>
                <a:ea typeface="楷体_GB2312" pitchFamily="49" charset="-122"/>
              </a:rPr>
              <a:t>------- </a:t>
            </a:r>
            <a:r>
              <a:rPr lang="en-US" altLang="zh-CN" b="1" i="1" dirty="0" smtClean="0">
                <a:latin typeface="楷体_GB2312" pitchFamily="49" charset="-122"/>
                <a:ea typeface="楷体_GB2312" pitchFamily="49" charset="-122"/>
              </a:rPr>
              <a:t>Mark Johnson</a:t>
            </a:r>
          </a:p>
          <a:p>
            <a:pPr eaLnBrk="1" hangingPunct="1">
              <a:spcBef>
                <a:spcPct val="50000"/>
              </a:spcBef>
            </a:pPr>
            <a:r>
              <a:rPr lang="zh-CN" altLang="en-US" b="1" dirty="0" smtClean="0">
                <a:latin typeface="楷体_GB2312" pitchFamily="49" charset="-122"/>
                <a:ea typeface="楷体_GB2312" pitchFamily="49" charset="-122"/>
              </a:rPr>
              <a:t>设计模式提供了一种共享经验的方式，可以使团体受益和避免不断的重复发明。</a:t>
            </a:r>
          </a:p>
        </p:txBody>
      </p:sp>
    </p:spTree>
    <p:extLst>
      <p:ext uri="{BB962C8B-B14F-4D97-AF65-F5344CB8AC3E}">
        <p14:creationId xmlns:p14="http://schemas.microsoft.com/office/powerpoint/2010/main" val="1783854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left)">
                                      <p:cBhvr>
                                        <p:cTn id="7" dur="500"/>
                                        <p:tgtEl>
                                          <p:spTgt spid="157699">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7699">
                                            <p:txEl>
                                              <p:pRg st="1" end="1"/>
                                            </p:txEl>
                                          </p:spTgt>
                                        </p:tgtEl>
                                        <p:attrNameLst>
                                          <p:attrName>style.visibility</p:attrName>
                                        </p:attrNameLst>
                                      </p:cBhvr>
                                      <p:to>
                                        <p:strVal val="visible"/>
                                      </p:to>
                                    </p:set>
                                    <p:animEffect transition="in" filter="wipe(left)">
                                      <p:cBhvr>
                                        <p:cTn id="11" dur="500"/>
                                        <p:tgtEl>
                                          <p:spTgt spid="15769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57699">
                                            <p:txEl>
                                              <p:pRg st="2" end="2"/>
                                            </p:txEl>
                                          </p:spTgt>
                                        </p:tgtEl>
                                        <p:attrNameLst>
                                          <p:attrName>style.visibility</p:attrName>
                                        </p:attrNameLst>
                                      </p:cBhvr>
                                      <p:to>
                                        <p:strVal val="visible"/>
                                      </p:to>
                                    </p:set>
                                    <p:animEffect transition="in" filter="wipe(left)">
                                      <p:cBhvr>
                                        <p:cTn id="16" dur="500"/>
                                        <p:tgtEl>
                                          <p:spTgt spid="157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zh-CN" b="1" dirty="0" smtClean="0">
                <a:ea typeface="楷体_GB2312" pitchFamily="49" charset="-122"/>
              </a:rPr>
              <a:t>6.2 </a:t>
            </a:r>
            <a:r>
              <a:rPr lang="zh-CN" altLang="en-US" b="1" dirty="0" smtClean="0">
                <a:ea typeface="楷体_GB2312" pitchFamily="49" charset="-122"/>
              </a:rPr>
              <a:t>设计原则</a:t>
            </a:r>
          </a:p>
        </p:txBody>
      </p:sp>
      <p:sp>
        <p:nvSpPr>
          <p:cNvPr id="445443" name="Rectangle 3"/>
          <p:cNvSpPr>
            <a:spLocks noGrp="1" noChangeArrowheads="1"/>
          </p:cNvSpPr>
          <p:nvPr>
            <p:ph type="body" idx="1"/>
          </p:nvPr>
        </p:nvSpPr>
        <p:spPr>
          <a:xfrm>
            <a:off x="228600" y="1447800"/>
            <a:ext cx="8610600" cy="5105400"/>
          </a:xfrm>
        </p:spPr>
        <p:txBody>
          <a:bodyPr>
            <a:normAutofit fontScale="62500" lnSpcReduction="20000"/>
          </a:bodyPr>
          <a:lstStyle/>
          <a:p>
            <a:pPr eaLnBrk="1" hangingPunct="1">
              <a:spcBef>
                <a:spcPct val="50000"/>
              </a:spcBef>
            </a:pPr>
            <a:r>
              <a:rPr lang="zh-CN" altLang="en-US" b="1" dirty="0" smtClean="0">
                <a:solidFill>
                  <a:srgbClr val="0000CC"/>
                </a:solidFill>
                <a:latin typeface="楷体_GB2312" pitchFamily="49" charset="-122"/>
                <a:ea typeface="楷体_GB2312" pitchFamily="49" charset="-122"/>
              </a:rPr>
              <a:t>面向接口编程的原则</a:t>
            </a:r>
          </a:p>
          <a:p>
            <a:pPr lvl="1" eaLnBrk="1" hangingPunct="1">
              <a:spcBef>
                <a:spcPct val="50000"/>
              </a:spcBef>
            </a:pPr>
            <a:r>
              <a:rPr lang="zh-CN" altLang="en-US" b="1" dirty="0" smtClean="0">
                <a:latin typeface="楷体_GB2312" pitchFamily="49" charset="-122"/>
                <a:ea typeface="楷体_GB2312" pitchFamily="49" charset="-122"/>
              </a:rPr>
              <a:t>面向</a:t>
            </a:r>
            <a:r>
              <a:rPr lang="zh-CN" altLang="en-US" b="1" dirty="0" smtClean="0">
                <a:solidFill>
                  <a:srgbClr val="FF0000"/>
                </a:solidFill>
                <a:latin typeface="楷体_GB2312" pitchFamily="49" charset="-122"/>
                <a:ea typeface="楷体_GB2312" pitchFamily="49" charset="-122"/>
              </a:rPr>
              <a:t>接口</a:t>
            </a:r>
            <a:r>
              <a:rPr lang="zh-CN" altLang="en-US" b="1" dirty="0" smtClean="0">
                <a:latin typeface="楷体_GB2312" pitchFamily="49" charset="-122"/>
                <a:ea typeface="楷体_GB2312" pitchFamily="49" charset="-122"/>
              </a:rPr>
              <a:t>编程，而不是面向</a:t>
            </a:r>
            <a:r>
              <a:rPr lang="zh-CN" altLang="en-US" b="1" dirty="0" smtClean="0">
                <a:solidFill>
                  <a:srgbClr val="FF0000"/>
                </a:solidFill>
                <a:latin typeface="楷体_GB2312" pitchFamily="49" charset="-122"/>
                <a:ea typeface="楷体_GB2312" pitchFamily="49" charset="-122"/>
              </a:rPr>
              <a:t>实现</a:t>
            </a:r>
            <a:r>
              <a:rPr lang="zh-CN" altLang="en-US" b="1" dirty="0" smtClean="0">
                <a:latin typeface="楷体_GB2312" pitchFamily="49" charset="-122"/>
                <a:ea typeface="楷体_GB2312" pitchFamily="49" charset="-122"/>
              </a:rPr>
              <a:t>编程。</a:t>
            </a:r>
            <a:endParaRPr lang="en-US" altLang="zh-CN" b="1" dirty="0" smtClean="0">
              <a:latin typeface="楷体_GB2312" pitchFamily="49" charset="-122"/>
              <a:ea typeface="楷体_GB2312" pitchFamily="49" charset="-122"/>
            </a:endParaRPr>
          </a:p>
          <a:p>
            <a:pPr eaLnBrk="1" hangingPunct="1">
              <a:spcBef>
                <a:spcPct val="50000"/>
              </a:spcBef>
            </a:pPr>
            <a:r>
              <a:rPr lang="en-US" altLang="zh-CN" sz="2900" b="1" dirty="0" smtClean="0">
                <a:solidFill>
                  <a:srgbClr val="0000CC"/>
                </a:solidFill>
                <a:latin typeface="楷体_GB2312" pitchFamily="49" charset="-122"/>
                <a:ea typeface="楷体_GB2312" pitchFamily="49" charset="-122"/>
              </a:rPr>
              <a:t>1.</a:t>
            </a:r>
            <a:r>
              <a:rPr lang="zh-CN" altLang="en-US" sz="2900" b="1" dirty="0" smtClean="0">
                <a:solidFill>
                  <a:srgbClr val="0000CC"/>
                </a:solidFill>
                <a:latin typeface="楷体_GB2312" pitchFamily="49" charset="-122"/>
                <a:ea typeface="楷体_GB2312" pitchFamily="49" charset="-122"/>
              </a:rPr>
              <a:t>开－闭原则</a:t>
            </a:r>
          </a:p>
          <a:p>
            <a:pPr>
              <a:spcBef>
                <a:spcPct val="50000"/>
              </a:spcBef>
            </a:pPr>
            <a:r>
              <a:rPr lang="en-US" altLang="zh-CN" sz="2900" b="1" dirty="0">
                <a:solidFill>
                  <a:srgbClr val="0000CC"/>
                </a:solidFill>
                <a:latin typeface="楷体_GB2312" pitchFamily="49" charset="-122"/>
                <a:ea typeface="楷体_GB2312" pitchFamily="49" charset="-122"/>
              </a:rPr>
              <a:t>2.</a:t>
            </a:r>
            <a:r>
              <a:rPr lang="zh-CN" altLang="en-US" sz="2900" b="1" dirty="0">
                <a:solidFill>
                  <a:srgbClr val="0000CC"/>
                </a:solidFill>
                <a:latin typeface="楷体_GB2312" pitchFamily="49" charset="-122"/>
                <a:ea typeface="楷体_GB2312" pitchFamily="49" charset="-122"/>
              </a:rPr>
              <a:t>里氏替换原则</a:t>
            </a:r>
          </a:p>
          <a:p>
            <a:pPr>
              <a:spcBef>
                <a:spcPct val="50000"/>
              </a:spcBef>
            </a:pPr>
            <a:r>
              <a:rPr lang="en-US" altLang="zh-CN" sz="2900" b="1" dirty="0">
                <a:solidFill>
                  <a:srgbClr val="0000CC"/>
                </a:solidFill>
                <a:latin typeface="楷体_GB2312" pitchFamily="49" charset="-122"/>
                <a:ea typeface="楷体_GB2312" pitchFamily="49" charset="-122"/>
              </a:rPr>
              <a:t>3.</a:t>
            </a:r>
            <a:r>
              <a:rPr lang="zh-CN" altLang="en-US" sz="2900" b="1" dirty="0">
                <a:solidFill>
                  <a:srgbClr val="0000CC"/>
                </a:solidFill>
                <a:latin typeface="楷体_GB2312" pitchFamily="49" charset="-122"/>
                <a:ea typeface="楷体_GB2312" pitchFamily="49" charset="-122"/>
              </a:rPr>
              <a:t>依赖倒转原则</a:t>
            </a:r>
          </a:p>
          <a:p>
            <a:pPr>
              <a:spcBef>
                <a:spcPct val="50000"/>
              </a:spcBef>
            </a:pPr>
            <a:r>
              <a:rPr lang="zh-CN" altLang="en-US" sz="2900" b="1" dirty="0">
                <a:solidFill>
                  <a:srgbClr val="0000CC"/>
                </a:solidFill>
                <a:latin typeface="楷体_GB2312" pitchFamily="49" charset="-122"/>
                <a:ea typeface="楷体_GB2312" pitchFamily="49" charset="-122"/>
              </a:rPr>
              <a:t>   </a:t>
            </a:r>
            <a:r>
              <a:rPr lang="en-US" altLang="zh-CN" sz="2900" b="1" dirty="0">
                <a:solidFill>
                  <a:srgbClr val="0000CC"/>
                </a:solidFill>
                <a:latin typeface="楷体_GB2312" pitchFamily="49" charset="-122"/>
                <a:ea typeface="楷体_GB2312" pitchFamily="49" charset="-122"/>
              </a:rPr>
              <a:t>– </a:t>
            </a:r>
            <a:r>
              <a:rPr lang="zh-CN" altLang="en-US" sz="2900" b="1" dirty="0">
                <a:solidFill>
                  <a:srgbClr val="0000CC"/>
                </a:solidFill>
                <a:latin typeface="楷体_GB2312" pitchFamily="49" charset="-122"/>
                <a:ea typeface="楷体_GB2312" pitchFamily="49" charset="-122"/>
              </a:rPr>
              <a:t>高层模块不应该依赖于低层模块。二者都应该依赖于抽象。</a:t>
            </a:r>
          </a:p>
          <a:p>
            <a:pPr>
              <a:spcBef>
                <a:spcPct val="50000"/>
              </a:spcBef>
            </a:pPr>
            <a:r>
              <a:rPr lang="zh-CN" altLang="en-US" sz="2900" b="1" dirty="0">
                <a:solidFill>
                  <a:srgbClr val="0000CC"/>
                </a:solidFill>
                <a:latin typeface="楷体_GB2312" pitchFamily="49" charset="-122"/>
                <a:ea typeface="楷体_GB2312" pitchFamily="49" charset="-122"/>
              </a:rPr>
              <a:t>   </a:t>
            </a:r>
            <a:r>
              <a:rPr lang="en-US" altLang="zh-CN" sz="2900" b="1" dirty="0">
                <a:solidFill>
                  <a:srgbClr val="0000CC"/>
                </a:solidFill>
                <a:latin typeface="楷体_GB2312" pitchFamily="49" charset="-122"/>
                <a:ea typeface="楷体_GB2312" pitchFamily="49" charset="-122"/>
              </a:rPr>
              <a:t>– </a:t>
            </a:r>
            <a:r>
              <a:rPr lang="zh-CN" altLang="en-US" sz="2900" b="1" dirty="0">
                <a:solidFill>
                  <a:srgbClr val="0000CC"/>
                </a:solidFill>
                <a:latin typeface="楷体_GB2312" pitchFamily="49" charset="-122"/>
                <a:ea typeface="楷体_GB2312" pitchFamily="49" charset="-122"/>
              </a:rPr>
              <a:t>抽象不应该依赖于细节。细节应该依赖于抽象。</a:t>
            </a:r>
            <a:endParaRPr lang="en-US" altLang="zh-CN" sz="2900" b="1" dirty="0">
              <a:solidFill>
                <a:srgbClr val="0000CC"/>
              </a:solidFill>
              <a:latin typeface="楷体_GB2312" pitchFamily="49" charset="-122"/>
              <a:ea typeface="楷体_GB2312" pitchFamily="49" charset="-122"/>
            </a:endParaRPr>
          </a:p>
          <a:p>
            <a:pPr>
              <a:spcBef>
                <a:spcPct val="50000"/>
              </a:spcBef>
            </a:pPr>
            <a:r>
              <a:rPr lang="en-US" altLang="zh-CN" sz="2900" b="1" dirty="0">
                <a:solidFill>
                  <a:srgbClr val="0000CC"/>
                </a:solidFill>
                <a:latin typeface="楷体_GB2312" pitchFamily="49" charset="-122"/>
                <a:ea typeface="楷体_GB2312" pitchFamily="49" charset="-122"/>
              </a:rPr>
              <a:t>4.</a:t>
            </a:r>
            <a:r>
              <a:rPr lang="zh-CN" altLang="en-US" sz="2900" b="1" dirty="0">
                <a:solidFill>
                  <a:srgbClr val="0000CC"/>
                </a:solidFill>
                <a:latin typeface="楷体_GB2312" pitchFamily="49" charset="-122"/>
                <a:ea typeface="楷体_GB2312" pitchFamily="49" charset="-122"/>
              </a:rPr>
              <a:t>接口隔离原则</a:t>
            </a:r>
          </a:p>
          <a:p>
            <a:pPr>
              <a:spcBef>
                <a:spcPct val="50000"/>
              </a:spcBef>
            </a:pPr>
            <a:r>
              <a:rPr lang="zh-CN" altLang="en-US" sz="2900" b="1" dirty="0">
                <a:solidFill>
                  <a:srgbClr val="0000CC"/>
                </a:solidFill>
                <a:latin typeface="楷体_GB2312" pitchFamily="49" charset="-122"/>
                <a:ea typeface="楷体_GB2312" pitchFamily="49" charset="-122"/>
              </a:rPr>
              <a:t>  </a:t>
            </a:r>
            <a:r>
              <a:rPr lang="en-US" altLang="zh-CN" sz="2900" b="1" dirty="0">
                <a:solidFill>
                  <a:srgbClr val="0000CC"/>
                </a:solidFill>
                <a:latin typeface="楷体_GB2312" pitchFamily="49" charset="-122"/>
                <a:ea typeface="楷体_GB2312" pitchFamily="49" charset="-122"/>
              </a:rPr>
              <a:t>– </a:t>
            </a:r>
            <a:r>
              <a:rPr lang="zh-CN" altLang="en-US" sz="2900" b="1" dirty="0">
                <a:solidFill>
                  <a:srgbClr val="0000CC"/>
                </a:solidFill>
                <a:latin typeface="楷体_GB2312" pitchFamily="49" charset="-122"/>
                <a:ea typeface="楷体_GB2312" pitchFamily="49" charset="-122"/>
              </a:rPr>
              <a:t>避免接口污染。</a:t>
            </a:r>
            <a:endParaRPr lang="en-US" altLang="zh-CN" sz="2900" b="1" dirty="0">
              <a:solidFill>
                <a:srgbClr val="0000CC"/>
              </a:solidFill>
              <a:latin typeface="楷体_GB2312" pitchFamily="49" charset="-122"/>
              <a:ea typeface="楷体_GB2312" pitchFamily="49" charset="-122"/>
            </a:endParaRPr>
          </a:p>
          <a:p>
            <a:pPr>
              <a:spcBef>
                <a:spcPct val="50000"/>
              </a:spcBef>
            </a:pPr>
            <a:r>
              <a:rPr lang="en-US" altLang="zh-CN" sz="2900" b="1" dirty="0">
                <a:solidFill>
                  <a:srgbClr val="0000CC"/>
                </a:solidFill>
                <a:latin typeface="楷体_GB2312" pitchFamily="49" charset="-122"/>
                <a:ea typeface="楷体_GB2312" pitchFamily="49" charset="-122"/>
              </a:rPr>
              <a:t>5.</a:t>
            </a:r>
            <a:r>
              <a:rPr lang="zh-CN" altLang="en-US" sz="2900" b="1" dirty="0">
                <a:solidFill>
                  <a:srgbClr val="0000CC"/>
                </a:solidFill>
                <a:latin typeface="楷体_GB2312" pitchFamily="49" charset="-122"/>
                <a:ea typeface="楷体_GB2312" pitchFamily="49" charset="-122"/>
              </a:rPr>
              <a:t>组合</a:t>
            </a:r>
            <a:r>
              <a:rPr lang="en-US" altLang="zh-CN" sz="2900" b="1" dirty="0">
                <a:solidFill>
                  <a:srgbClr val="0000CC"/>
                </a:solidFill>
                <a:latin typeface="楷体_GB2312" pitchFamily="49" charset="-122"/>
                <a:ea typeface="楷体_GB2312" pitchFamily="49" charset="-122"/>
              </a:rPr>
              <a:t>/</a:t>
            </a:r>
            <a:r>
              <a:rPr lang="zh-CN" altLang="en-US" sz="2900" b="1" dirty="0">
                <a:solidFill>
                  <a:srgbClr val="0000CC"/>
                </a:solidFill>
                <a:latin typeface="楷体_GB2312" pitchFamily="49" charset="-122"/>
                <a:ea typeface="楷体_GB2312" pitchFamily="49" charset="-122"/>
              </a:rPr>
              <a:t>聚合复用原则</a:t>
            </a:r>
          </a:p>
          <a:p>
            <a:pPr marL="1200150" lvl="3" indent="-342900">
              <a:spcBef>
                <a:spcPct val="50000"/>
              </a:spcBef>
            </a:pPr>
            <a:r>
              <a:rPr lang="zh-CN" altLang="en-US" sz="2900" b="1" dirty="0">
                <a:solidFill>
                  <a:srgbClr val="0000CC"/>
                </a:solidFill>
                <a:latin typeface="楷体_GB2312" pitchFamily="49" charset="-122"/>
                <a:ea typeface="楷体_GB2312" pitchFamily="49" charset="-122"/>
              </a:rPr>
              <a:t>尽量使用组合</a:t>
            </a:r>
            <a:r>
              <a:rPr lang="en-US" altLang="zh-CN" sz="2900" b="1" dirty="0">
                <a:solidFill>
                  <a:srgbClr val="0000CC"/>
                </a:solidFill>
                <a:latin typeface="楷体_GB2312" pitchFamily="49" charset="-122"/>
                <a:ea typeface="楷体_GB2312" pitchFamily="49" charset="-122"/>
              </a:rPr>
              <a:t>/</a:t>
            </a:r>
            <a:r>
              <a:rPr lang="zh-CN" altLang="en-US" sz="2900" b="1" dirty="0">
                <a:solidFill>
                  <a:srgbClr val="0000CC"/>
                </a:solidFill>
                <a:latin typeface="楷体_GB2312" pitchFamily="49" charset="-122"/>
                <a:ea typeface="楷体_GB2312" pitchFamily="49" charset="-122"/>
              </a:rPr>
              <a:t>聚合、尽量不使用继承</a:t>
            </a:r>
            <a:endParaRPr lang="en-US" altLang="zh-CN" sz="2900" b="1" dirty="0">
              <a:solidFill>
                <a:srgbClr val="0000CC"/>
              </a:solidFill>
              <a:latin typeface="楷体_GB2312" pitchFamily="49" charset="-122"/>
              <a:ea typeface="楷体_GB2312" pitchFamily="49" charset="-122"/>
            </a:endParaRPr>
          </a:p>
          <a:p>
            <a:pPr>
              <a:spcBef>
                <a:spcPct val="50000"/>
              </a:spcBef>
            </a:pPr>
            <a:r>
              <a:rPr lang="en-US" altLang="zh-CN" sz="2900" b="1" dirty="0">
                <a:solidFill>
                  <a:srgbClr val="0000CC"/>
                </a:solidFill>
                <a:latin typeface="楷体_GB2312" pitchFamily="49" charset="-122"/>
                <a:ea typeface="楷体_GB2312" pitchFamily="49" charset="-122"/>
              </a:rPr>
              <a:t>6.</a:t>
            </a:r>
            <a:r>
              <a:rPr lang="zh-CN" altLang="en-US" sz="2900" b="1" dirty="0">
                <a:solidFill>
                  <a:srgbClr val="0000CC"/>
                </a:solidFill>
                <a:latin typeface="楷体_GB2312" pitchFamily="49" charset="-122"/>
                <a:ea typeface="楷体_GB2312" pitchFamily="49" charset="-122"/>
              </a:rPr>
              <a:t>可变性封装的原则</a:t>
            </a:r>
          </a:p>
          <a:p>
            <a:pPr>
              <a:spcBef>
                <a:spcPct val="50000"/>
              </a:spcBef>
            </a:pPr>
            <a:r>
              <a:rPr lang="en-US" altLang="zh-CN" sz="2900" b="1" dirty="0">
                <a:solidFill>
                  <a:srgbClr val="0000CC"/>
                </a:solidFill>
                <a:latin typeface="楷体_GB2312" pitchFamily="49" charset="-122"/>
                <a:ea typeface="楷体_GB2312" pitchFamily="49" charset="-122"/>
              </a:rPr>
              <a:t>7.</a:t>
            </a:r>
            <a:r>
              <a:rPr lang="zh-CN" altLang="zh-CN" sz="2900" b="1" dirty="0">
                <a:solidFill>
                  <a:srgbClr val="0000CC"/>
                </a:solidFill>
                <a:latin typeface="楷体_GB2312" pitchFamily="49" charset="-122"/>
                <a:ea typeface="楷体_GB2312" pitchFamily="49" charset="-122"/>
              </a:rPr>
              <a:t>单一职责原则</a:t>
            </a:r>
            <a:endParaRPr lang="zh-CN" altLang="en-US" sz="2900" b="1" dirty="0">
              <a:solidFill>
                <a:srgbClr val="0000CC"/>
              </a:solidFill>
              <a:latin typeface="楷体_GB2312" pitchFamily="49" charset="-122"/>
              <a:ea typeface="楷体_GB2312" pitchFamily="49" charset="-122"/>
            </a:endParaRPr>
          </a:p>
          <a:p>
            <a:pPr marL="457200" lvl="1" indent="0" eaLnBrk="1" hangingPunct="1">
              <a:spcBef>
                <a:spcPct val="50000"/>
              </a:spcBef>
              <a:buNone/>
            </a:pPr>
            <a:endParaRPr lang="zh-CN" altLang="en-US" b="1" dirty="0" smtClean="0">
              <a:latin typeface="楷体_GB2312" pitchFamily="49" charset="-122"/>
              <a:ea typeface="楷体_GB2312" pitchFamily="49" charset="-122"/>
            </a:endParaRPr>
          </a:p>
          <a:p>
            <a:pPr eaLnBrk="1" hangingPunct="1">
              <a:spcBef>
                <a:spcPct val="50000"/>
              </a:spcBef>
            </a:pPr>
            <a:endParaRPr lang="zh-CN" altLang="en-US" b="1" dirty="0" smtClean="0">
              <a:latin typeface="楷体_GB2312" pitchFamily="49" charset="-122"/>
              <a:ea typeface="楷体_GB2312" pitchFamily="49" charset="-122"/>
            </a:endParaRPr>
          </a:p>
          <a:p>
            <a:pPr eaLnBrk="1" hangingPunct="1">
              <a:spcBef>
                <a:spcPct val="50000"/>
              </a:spcBef>
              <a:buFontTx/>
              <a:buNone/>
            </a:pPr>
            <a:endParaRPr lang="en-US" altLang="zh-CN" b="1"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1117216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5443">
                                            <p:txEl>
                                              <p:pRg st="0" end="0"/>
                                            </p:txEl>
                                          </p:spTgt>
                                        </p:tgtEl>
                                        <p:attrNameLst>
                                          <p:attrName>style.visibility</p:attrName>
                                        </p:attrNameLst>
                                      </p:cBhvr>
                                      <p:to>
                                        <p:strVal val="visible"/>
                                      </p:to>
                                    </p:set>
                                    <p:animEffect transition="in" filter="wipe(left)">
                                      <p:cBhvr>
                                        <p:cTn id="7" dur="500"/>
                                        <p:tgtEl>
                                          <p:spTgt spid="445443">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45443">
                                            <p:txEl>
                                              <p:pRg st="1" end="1"/>
                                            </p:txEl>
                                          </p:spTgt>
                                        </p:tgtEl>
                                        <p:attrNameLst>
                                          <p:attrName>style.visibility</p:attrName>
                                        </p:attrNameLst>
                                      </p:cBhvr>
                                      <p:to>
                                        <p:strVal val="visible"/>
                                      </p:to>
                                    </p:set>
                                    <p:animEffect transition="in" filter="wipe(left)">
                                      <p:cBhvr>
                                        <p:cTn id="11" dur="500"/>
                                        <p:tgtEl>
                                          <p:spTgt spid="445443">
                                            <p:txEl>
                                              <p:pRg st="1" end="1"/>
                                            </p:txEl>
                                          </p:spTgt>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45443">
                                            <p:txEl>
                                              <p:pRg st="2" end="2"/>
                                            </p:txEl>
                                          </p:spTgt>
                                        </p:tgtEl>
                                        <p:attrNameLst>
                                          <p:attrName>style.visibility</p:attrName>
                                        </p:attrNameLst>
                                      </p:cBhvr>
                                      <p:to>
                                        <p:strVal val="visible"/>
                                      </p:to>
                                    </p:set>
                                    <p:animEffect transition="in" filter="wipe(left)">
                                      <p:cBhvr>
                                        <p:cTn id="15" dur="500"/>
                                        <p:tgtEl>
                                          <p:spTgt spid="445443">
                                            <p:txEl>
                                              <p:pRg st="2" end="2"/>
                                            </p:txEl>
                                          </p:spTgt>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45443">
                                            <p:txEl>
                                              <p:pRg st="3" end="3"/>
                                            </p:txEl>
                                          </p:spTgt>
                                        </p:tgtEl>
                                        <p:attrNameLst>
                                          <p:attrName>style.visibility</p:attrName>
                                        </p:attrNameLst>
                                      </p:cBhvr>
                                      <p:to>
                                        <p:strVal val="visible"/>
                                      </p:to>
                                    </p:set>
                                    <p:animEffect transition="in" filter="wipe(left)">
                                      <p:cBhvr>
                                        <p:cTn id="19" dur="500"/>
                                        <p:tgtEl>
                                          <p:spTgt spid="445443">
                                            <p:txEl>
                                              <p:pRg st="3" end="3"/>
                                            </p:txEl>
                                          </p:spTgt>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445443">
                                            <p:txEl>
                                              <p:pRg st="9" end="9"/>
                                            </p:txEl>
                                          </p:spTgt>
                                        </p:tgtEl>
                                        <p:attrNameLst>
                                          <p:attrName>style.visibility</p:attrName>
                                        </p:attrNameLst>
                                      </p:cBhvr>
                                      <p:to>
                                        <p:strVal val="visible"/>
                                      </p:to>
                                    </p:set>
                                    <p:animEffect transition="in" filter="wipe(left)">
                                      <p:cBhvr>
                                        <p:cTn id="23" dur="500"/>
                                        <p:tgtEl>
                                          <p:spTgt spid="445443">
                                            <p:txEl>
                                              <p:pRg st="9" end="9"/>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45443">
                                            <p:txEl>
                                              <p:pRg st="7" end="7"/>
                                            </p:txEl>
                                          </p:spTgt>
                                        </p:tgtEl>
                                        <p:attrNameLst>
                                          <p:attrName>style.visibility</p:attrName>
                                        </p:attrNameLst>
                                      </p:cBhvr>
                                      <p:to>
                                        <p:strVal val="visible"/>
                                      </p:to>
                                    </p:set>
                                    <p:animEffect transition="in" filter="wipe(left)">
                                      <p:cBhvr>
                                        <p:cTn id="27" dur="500"/>
                                        <p:tgtEl>
                                          <p:spTgt spid="445443">
                                            <p:txEl>
                                              <p:pRg st="7" end="7"/>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445443">
                                            <p:txEl>
                                              <p:pRg st="8" end="8"/>
                                            </p:txEl>
                                          </p:spTgt>
                                        </p:tgtEl>
                                        <p:attrNameLst>
                                          <p:attrName>style.visibility</p:attrName>
                                        </p:attrNameLst>
                                      </p:cBhvr>
                                      <p:to>
                                        <p:strVal val="visible"/>
                                      </p:to>
                                    </p:set>
                                    <p:animEffect transition="in" filter="wipe(left)">
                                      <p:cBhvr>
                                        <p:cTn id="31" dur="500"/>
                                        <p:tgtEl>
                                          <p:spTgt spid="445443">
                                            <p:txEl>
                                              <p:pRg st="8" end="8"/>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45443">
                                            <p:txEl>
                                              <p:pRg st="4" end="4"/>
                                            </p:txEl>
                                          </p:spTgt>
                                        </p:tgtEl>
                                        <p:attrNameLst>
                                          <p:attrName>style.visibility</p:attrName>
                                        </p:attrNameLst>
                                      </p:cBhvr>
                                      <p:to>
                                        <p:strVal val="visible"/>
                                      </p:to>
                                    </p:set>
                                    <p:animEffect transition="in" filter="wipe(left)">
                                      <p:cBhvr>
                                        <p:cTn id="35" dur="500"/>
                                        <p:tgtEl>
                                          <p:spTgt spid="445443">
                                            <p:txEl>
                                              <p:pRg st="4" end="4"/>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445443">
                                            <p:txEl>
                                              <p:pRg st="5" end="5"/>
                                            </p:txEl>
                                          </p:spTgt>
                                        </p:tgtEl>
                                        <p:attrNameLst>
                                          <p:attrName>style.visibility</p:attrName>
                                        </p:attrNameLst>
                                      </p:cBhvr>
                                      <p:to>
                                        <p:strVal val="visible"/>
                                      </p:to>
                                    </p:set>
                                    <p:animEffect transition="in" filter="wipe(left)">
                                      <p:cBhvr>
                                        <p:cTn id="39" dur="500"/>
                                        <p:tgtEl>
                                          <p:spTgt spid="445443">
                                            <p:txEl>
                                              <p:pRg st="5" end="5"/>
                                            </p:txEl>
                                          </p:spTgt>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445443">
                                            <p:txEl>
                                              <p:pRg st="6" end="6"/>
                                            </p:txEl>
                                          </p:spTgt>
                                        </p:tgtEl>
                                        <p:attrNameLst>
                                          <p:attrName>style.visibility</p:attrName>
                                        </p:attrNameLst>
                                      </p:cBhvr>
                                      <p:to>
                                        <p:strVal val="visible"/>
                                      </p:to>
                                    </p:set>
                                    <p:animEffect transition="in" filter="wipe(left)">
                                      <p:cBhvr>
                                        <p:cTn id="43" dur="500"/>
                                        <p:tgtEl>
                                          <p:spTgt spid="445443">
                                            <p:txEl>
                                              <p:pRg st="6" end="6"/>
                                            </p:txEl>
                                          </p:spTgt>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445443">
                                            <p:txEl>
                                              <p:pRg st="10" end="10"/>
                                            </p:txEl>
                                          </p:spTgt>
                                        </p:tgtEl>
                                        <p:attrNameLst>
                                          <p:attrName>style.visibility</p:attrName>
                                        </p:attrNameLst>
                                      </p:cBhvr>
                                      <p:to>
                                        <p:strVal val="visible"/>
                                      </p:to>
                                    </p:set>
                                    <p:animEffect transition="in" filter="wipe(left)">
                                      <p:cBhvr>
                                        <p:cTn id="47" dur="500"/>
                                        <p:tgtEl>
                                          <p:spTgt spid="445443">
                                            <p:txEl>
                                              <p:pRg st="10" end="10"/>
                                            </p:txEl>
                                          </p:spTgt>
                                        </p:tgtEl>
                                      </p:cBhvr>
                                    </p:animEffect>
                                  </p:childTnLst>
                                </p:cTn>
                              </p:par>
                            </p:childTnLst>
                          </p:cTn>
                        </p:par>
                        <p:par>
                          <p:cTn id="48" fill="hold">
                            <p:stCondLst>
                              <p:cond delay="5500"/>
                            </p:stCondLst>
                            <p:childTnLst>
                              <p:par>
                                <p:cTn id="49" presetID="22" presetClass="entr" presetSubtype="8" fill="hold" nodeType="afterEffect">
                                  <p:stCondLst>
                                    <p:cond delay="0"/>
                                  </p:stCondLst>
                                  <p:childTnLst>
                                    <p:set>
                                      <p:cBhvr>
                                        <p:cTn id="50" dur="1" fill="hold">
                                          <p:stCondLst>
                                            <p:cond delay="0"/>
                                          </p:stCondLst>
                                        </p:cTn>
                                        <p:tgtEl>
                                          <p:spTgt spid="445443">
                                            <p:txEl>
                                              <p:pRg st="12" end="12"/>
                                            </p:txEl>
                                          </p:spTgt>
                                        </p:tgtEl>
                                        <p:attrNameLst>
                                          <p:attrName>style.visibility</p:attrName>
                                        </p:attrNameLst>
                                      </p:cBhvr>
                                      <p:to>
                                        <p:strVal val="visible"/>
                                      </p:to>
                                    </p:set>
                                    <p:animEffect transition="in" filter="wipe(left)">
                                      <p:cBhvr>
                                        <p:cTn id="51" dur="500"/>
                                        <p:tgtEl>
                                          <p:spTgt spid="445443">
                                            <p:txEl>
                                              <p:pRg st="12" end="12"/>
                                            </p:txEl>
                                          </p:spTgt>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445443">
                                            <p:txEl>
                                              <p:pRg st="11" end="11"/>
                                            </p:txEl>
                                          </p:spTgt>
                                        </p:tgtEl>
                                        <p:attrNameLst>
                                          <p:attrName>style.visibility</p:attrName>
                                        </p:attrNameLst>
                                      </p:cBhvr>
                                      <p:to>
                                        <p:strVal val="visible"/>
                                      </p:to>
                                    </p:set>
                                    <p:animEffect transition="in" filter="wipe(left)">
                                      <p:cBhvr>
                                        <p:cTn id="55" dur="500"/>
                                        <p:tgtEl>
                                          <p:spTgt spid="44544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开－闭</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rmAutofit/>
          </a:bodyPr>
          <a:lstStyle/>
          <a:p>
            <a:r>
              <a:rPr lang="en-US" altLang="zh-CN" sz="2800" dirty="0">
                <a:latin typeface="+mn-ea"/>
              </a:rPr>
              <a:t>(Open-Closed Principle</a:t>
            </a:r>
            <a:r>
              <a:rPr lang="zh-CN" altLang="zh-CN" sz="2800" dirty="0">
                <a:latin typeface="+mn-ea"/>
              </a:rPr>
              <a:t>，或者</a:t>
            </a:r>
            <a:r>
              <a:rPr lang="en-US" altLang="zh-CN" sz="2800" dirty="0">
                <a:latin typeface="+mn-ea"/>
              </a:rPr>
              <a:t>OCP</a:t>
            </a:r>
            <a:r>
              <a:rPr lang="en-US" altLang="zh-CN" sz="2800" dirty="0" smtClean="0">
                <a:latin typeface="+mn-ea"/>
              </a:rPr>
              <a:t>)</a:t>
            </a:r>
          </a:p>
          <a:p>
            <a:r>
              <a:rPr lang="zh-CN" altLang="zh-CN" sz="2800" dirty="0">
                <a:latin typeface="+mn-ea"/>
              </a:rPr>
              <a:t>此原则是由</a:t>
            </a:r>
            <a:r>
              <a:rPr lang="en-US" altLang="zh-CN" sz="2800" dirty="0">
                <a:latin typeface="+mn-ea"/>
              </a:rPr>
              <a:t>Bertrand Meyer</a:t>
            </a:r>
            <a:r>
              <a:rPr lang="zh-CN" altLang="zh-CN" sz="2800" dirty="0">
                <a:latin typeface="+mn-ea"/>
              </a:rPr>
              <a:t>在</a:t>
            </a:r>
            <a:r>
              <a:rPr lang="en-US" altLang="zh-CN" sz="2800" dirty="0">
                <a:latin typeface="+mn-ea"/>
              </a:rPr>
              <a:t>1988</a:t>
            </a:r>
            <a:r>
              <a:rPr lang="zh-CN" altLang="zh-CN" sz="2800" dirty="0">
                <a:latin typeface="+mn-ea"/>
              </a:rPr>
              <a:t>年提出的，原文是：</a:t>
            </a:r>
            <a:r>
              <a:rPr lang="en-US" altLang="zh-CN" sz="2800" dirty="0">
                <a:latin typeface="+mn-ea"/>
              </a:rPr>
              <a:t>"Software entities should be open for </a:t>
            </a:r>
            <a:r>
              <a:rPr lang="en-US" altLang="zh-CN" sz="2800" dirty="0" err="1">
                <a:latin typeface="+mn-ea"/>
              </a:rPr>
              <a:t>extension,but</a:t>
            </a:r>
            <a:r>
              <a:rPr lang="en-US" altLang="zh-CN" sz="2800" dirty="0">
                <a:latin typeface="+mn-ea"/>
              </a:rPr>
              <a:t> closed for modification"</a:t>
            </a:r>
            <a:r>
              <a:rPr lang="zh-CN" altLang="zh-CN" sz="2800" dirty="0">
                <a:latin typeface="+mn-ea"/>
              </a:rPr>
              <a:t>。</a:t>
            </a:r>
            <a:r>
              <a:rPr lang="zh-CN" altLang="zh-CN" sz="2800" dirty="0">
                <a:solidFill>
                  <a:srgbClr val="FF0000"/>
                </a:solidFill>
                <a:latin typeface="+mn-ea"/>
              </a:rPr>
              <a:t>就是说模块应对扩展开放，而对修改关闭。</a:t>
            </a:r>
          </a:p>
          <a:p>
            <a:r>
              <a:rPr lang="zh-CN" altLang="zh-CN" sz="2800" dirty="0">
                <a:latin typeface="+mn-ea"/>
              </a:rPr>
              <a:t>在设计一个模块的时候，应当使这个模块可以在不被修改的前提下被扩展。换言之，应当可以在不必修改源代码的情况下改变这个模块的行为</a:t>
            </a:r>
            <a:r>
              <a:rPr lang="zh-CN" altLang="zh-CN" sz="2800" dirty="0" smtClean="0">
                <a:latin typeface="+mn-ea"/>
              </a:rPr>
              <a:t>。</a:t>
            </a:r>
            <a:endParaRPr lang="zh-CN" altLang="zh-CN" sz="2800" dirty="0">
              <a:latin typeface="+mn-ea"/>
            </a:endParaRPr>
          </a:p>
        </p:txBody>
      </p:sp>
    </p:spTree>
    <p:extLst>
      <p:ext uri="{BB962C8B-B14F-4D97-AF65-F5344CB8AC3E}">
        <p14:creationId xmlns:p14="http://schemas.microsoft.com/office/powerpoint/2010/main" val="1384057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开－闭</a:t>
            </a:r>
            <a:r>
              <a:rPr lang="zh-CN" altLang="en-US" b="1" dirty="0" smtClean="0">
                <a:solidFill>
                  <a:srgbClr val="0000CC"/>
                </a:solidFill>
                <a:latin typeface="楷体_GB2312" pitchFamily="49" charset="-122"/>
                <a:ea typeface="楷体_GB2312" pitchFamily="49" charset="-122"/>
              </a:rPr>
              <a:t>原则（续）</a:t>
            </a:r>
            <a:endParaRPr lang="zh-CN" altLang="en-US" dirty="0"/>
          </a:p>
        </p:txBody>
      </p:sp>
      <p:sp>
        <p:nvSpPr>
          <p:cNvPr id="3" name="内容占位符 2"/>
          <p:cNvSpPr>
            <a:spLocks noGrp="1"/>
          </p:cNvSpPr>
          <p:nvPr>
            <p:ph idx="1"/>
          </p:nvPr>
        </p:nvSpPr>
        <p:spPr/>
        <p:txBody>
          <a:bodyPr>
            <a:normAutofit/>
          </a:bodyPr>
          <a:lstStyle/>
          <a:p>
            <a:r>
              <a:rPr lang="zh-CN" altLang="zh-CN" sz="2400" dirty="0"/>
              <a:t>在面向对象设计中，不允许更改的是系统的抽象层，而允许扩展的是系统的实现层。换言之，定义一个一劳永逸的抽象设计层，允许尽可能多的行为在实现层被实现。</a:t>
            </a:r>
            <a:r>
              <a:rPr lang="en-US" altLang="zh-CN" sz="2400" dirty="0"/>
              <a:t> </a:t>
            </a:r>
            <a:endParaRPr lang="zh-CN" altLang="zh-CN" sz="2400" dirty="0"/>
          </a:p>
          <a:p>
            <a:r>
              <a:rPr lang="zh-CN" altLang="zh-CN" sz="2400" dirty="0"/>
              <a:t>解决问题关键在于抽象化，抽象化是面向对象设计的第一个核心本质。</a:t>
            </a:r>
            <a:r>
              <a:rPr lang="en-US" altLang="zh-CN" sz="2400" dirty="0"/>
              <a:t> </a:t>
            </a:r>
            <a:endParaRPr lang="zh-CN" altLang="zh-CN" sz="2400" dirty="0"/>
          </a:p>
          <a:p>
            <a:r>
              <a:rPr lang="zh-CN" altLang="zh-CN" sz="2400" dirty="0"/>
              <a:t>对一个事物抽象化，实质上是在概括归纳总结它的本质。抽象让我们抓住最最重要的东西，从更高一层去思考。这降低了思考的复杂度，我们不用同时考虑那么多的东西。换言之，我们封装了事物的本质，看不到任何细节。</a:t>
            </a:r>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22746001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开－闭原则（续）</a:t>
            </a:r>
            <a:endParaRPr lang="zh-CN" altLang="en-US" dirty="0"/>
          </a:p>
        </p:txBody>
      </p:sp>
      <p:sp>
        <p:nvSpPr>
          <p:cNvPr id="3" name="内容占位符 2"/>
          <p:cNvSpPr>
            <a:spLocks noGrp="1"/>
          </p:cNvSpPr>
          <p:nvPr>
            <p:ph idx="1"/>
          </p:nvPr>
        </p:nvSpPr>
        <p:spPr/>
        <p:txBody>
          <a:bodyPr>
            <a:normAutofit/>
          </a:bodyPr>
          <a:lstStyle/>
          <a:p>
            <a:r>
              <a:rPr lang="zh-CN" altLang="zh-CN" sz="2400" dirty="0" smtClean="0"/>
              <a:t>在</a:t>
            </a:r>
            <a:r>
              <a:rPr lang="zh-CN" altLang="zh-CN" sz="2400" dirty="0"/>
              <a:t>面向对象编程中，通过抽象类及接口，规定了具体类的特征作为抽象层，相对稳定，不需更改，从而满足</a:t>
            </a:r>
            <a:r>
              <a:rPr lang="en-US" altLang="zh-CN" sz="2400" dirty="0"/>
              <a:t>“</a:t>
            </a:r>
            <a:r>
              <a:rPr lang="zh-CN" altLang="zh-CN" sz="2400" dirty="0"/>
              <a:t>对修改关闭</a:t>
            </a:r>
            <a:r>
              <a:rPr lang="en-US" altLang="zh-CN" sz="2400" dirty="0"/>
              <a:t>”</a:t>
            </a:r>
            <a:r>
              <a:rPr lang="zh-CN" altLang="zh-CN" sz="2400" dirty="0"/>
              <a:t>；而从抽象类导出的具体类可以改变系统的行为，从而满足</a:t>
            </a:r>
            <a:r>
              <a:rPr lang="en-US" altLang="zh-CN" sz="2400" dirty="0"/>
              <a:t>“</a:t>
            </a:r>
            <a:r>
              <a:rPr lang="zh-CN" altLang="zh-CN" sz="2400" dirty="0"/>
              <a:t>对扩展开放</a:t>
            </a:r>
            <a:r>
              <a:rPr lang="en-US" altLang="zh-CN" sz="2400" dirty="0"/>
              <a:t>”</a:t>
            </a:r>
            <a:r>
              <a:rPr lang="zh-CN" altLang="zh-CN" sz="2400" dirty="0"/>
              <a:t>。</a:t>
            </a:r>
            <a:r>
              <a:rPr lang="en-US" altLang="zh-CN" sz="2400" dirty="0"/>
              <a:t> </a:t>
            </a:r>
            <a:endParaRPr lang="zh-CN" altLang="zh-CN" sz="2400" dirty="0"/>
          </a:p>
          <a:p>
            <a:r>
              <a:rPr lang="zh-CN" altLang="zh-CN" sz="2400" dirty="0"/>
              <a:t>对实体进行扩展时，不必改动软件的源代码或者二进制代码。关键在于抽象。</a:t>
            </a:r>
            <a:endParaRPr lang="zh-CN" altLang="en-US" sz="2400" dirty="0"/>
          </a:p>
          <a:p>
            <a:endParaRPr lang="zh-CN" altLang="en-US" sz="2400" dirty="0"/>
          </a:p>
        </p:txBody>
      </p:sp>
    </p:spTree>
    <p:extLst>
      <p:ext uri="{BB962C8B-B14F-4D97-AF65-F5344CB8AC3E}">
        <p14:creationId xmlns:p14="http://schemas.microsoft.com/office/powerpoint/2010/main" val="36801685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7" y="332656"/>
            <a:ext cx="6449477"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67545" y="4293096"/>
            <a:ext cx="8136904" cy="2031325"/>
          </a:xfrm>
          <a:prstGeom prst="rect">
            <a:avLst/>
          </a:prstGeom>
          <a:noFill/>
        </p:spPr>
        <p:txBody>
          <a:bodyPr wrap="square" rtlCol="0">
            <a:spAutoFit/>
          </a:bodyPr>
          <a:lstStyle/>
          <a:p>
            <a:r>
              <a:rPr lang="en-US" altLang="zh-CN" dirty="0" smtClean="0"/>
              <a:t>1</a:t>
            </a:r>
            <a:r>
              <a:rPr lang="zh-CN" altLang="en-US" dirty="0" smtClean="0"/>
              <a:t>）父类就是抽象层次上的描述，对相同类型事务特征及操作的封装。</a:t>
            </a:r>
            <a:endParaRPr lang="en-US" altLang="zh-CN" dirty="0" smtClean="0"/>
          </a:p>
          <a:p>
            <a:r>
              <a:rPr lang="en-US" altLang="zh-CN" dirty="0" smtClean="0"/>
              <a:t>2</a:t>
            </a:r>
            <a:r>
              <a:rPr lang="zh-CN" altLang="en-US" dirty="0" smtClean="0"/>
              <a:t>）子类中实现了具体的功能。</a:t>
            </a:r>
            <a:endParaRPr lang="en-US" altLang="zh-CN" dirty="0" smtClean="0"/>
          </a:p>
          <a:p>
            <a:r>
              <a:rPr lang="en-US" altLang="zh-CN" dirty="0" smtClean="0"/>
              <a:t>3</a:t>
            </a:r>
            <a:r>
              <a:rPr lang="zh-CN" altLang="en-US" dirty="0" smtClean="0"/>
              <a:t>）如果需要修改父类中某一项功能函数，可以通过增加子类的方式，在子类中重载成员函数。</a:t>
            </a:r>
            <a:endParaRPr lang="en-US" altLang="zh-CN" dirty="0" smtClean="0"/>
          </a:p>
          <a:p>
            <a:r>
              <a:rPr lang="zh-CN" altLang="en-US" dirty="0" smtClean="0"/>
              <a:t>通过上述方式，可以达到的效果：</a:t>
            </a:r>
            <a:endParaRPr lang="en-US" altLang="zh-CN" dirty="0" smtClean="0"/>
          </a:p>
          <a:p>
            <a:r>
              <a:rPr lang="en-US" altLang="zh-CN" dirty="0" smtClean="0"/>
              <a:t>1</a:t>
            </a:r>
            <a:r>
              <a:rPr lang="zh-CN" altLang="en-US" dirty="0" smtClean="0"/>
              <a:t>）已经完成的类，在软件维护过程中不需要被修改。</a:t>
            </a:r>
            <a:r>
              <a:rPr lang="en-US" altLang="zh-CN" dirty="0" smtClean="0"/>
              <a:t>--------</a:t>
            </a:r>
            <a:r>
              <a:rPr lang="zh-CN" altLang="en-US" dirty="0" smtClean="0"/>
              <a:t>闭</a:t>
            </a:r>
            <a:endParaRPr lang="en-US" altLang="zh-CN" dirty="0" smtClean="0"/>
          </a:p>
          <a:p>
            <a:r>
              <a:rPr lang="en-US" altLang="zh-CN" dirty="0" smtClean="0"/>
              <a:t>2</a:t>
            </a:r>
            <a:r>
              <a:rPr lang="zh-CN" altLang="en-US" dirty="0" smtClean="0"/>
              <a:t>）修改功能可以通过增加子类的方式实现。</a:t>
            </a:r>
            <a:r>
              <a:rPr lang="en-US" altLang="zh-CN" dirty="0"/>
              <a:t>-------</a:t>
            </a:r>
            <a:r>
              <a:rPr lang="zh-CN" altLang="en-US" dirty="0"/>
              <a:t>开</a:t>
            </a:r>
          </a:p>
        </p:txBody>
      </p:sp>
    </p:spTree>
    <p:extLst>
      <p:ext uri="{BB962C8B-B14F-4D97-AF65-F5344CB8AC3E}">
        <p14:creationId xmlns:p14="http://schemas.microsoft.com/office/powerpoint/2010/main" val="2395783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里氏替换</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rmAutofit/>
          </a:bodyPr>
          <a:lstStyle/>
          <a:p>
            <a:r>
              <a:rPr lang="zh-CN" altLang="zh-CN" sz="2800" dirty="0"/>
              <a:t>里氏代换原则是由</a:t>
            </a:r>
            <a:r>
              <a:rPr lang="en-US" altLang="zh-CN" sz="2800" dirty="0"/>
              <a:t>Barbara </a:t>
            </a:r>
            <a:r>
              <a:rPr lang="en-US" altLang="zh-CN" sz="2800" dirty="0" err="1"/>
              <a:t>Liskov</a:t>
            </a:r>
            <a:r>
              <a:rPr lang="zh-CN" altLang="zh-CN" sz="2800" dirty="0"/>
              <a:t>在</a:t>
            </a:r>
            <a:r>
              <a:rPr lang="en-US" altLang="zh-CN" sz="2800" dirty="0"/>
              <a:t>1987</a:t>
            </a:r>
            <a:r>
              <a:rPr lang="zh-CN" altLang="zh-CN" sz="2800" dirty="0"/>
              <a:t>年提出的。</a:t>
            </a:r>
          </a:p>
          <a:p>
            <a:r>
              <a:rPr lang="zh-CN" altLang="zh-CN" sz="2800" dirty="0"/>
              <a:t>如果对于每一个类型为</a:t>
            </a:r>
            <a:r>
              <a:rPr lang="en-US" altLang="zh-CN" sz="2800" dirty="0"/>
              <a:t>T1</a:t>
            </a:r>
            <a:r>
              <a:rPr lang="zh-CN" altLang="zh-CN" sz="2800" dirty="0"/>
              <a:t>的对象</a:t>
            </a:r>
            <a:r>
              <a:rPr lang="en-US" altLang="zh-CN" sz="2800" dirty="0"/>
              <a:t>o1</a:t>
            </a:r>
            <a:r>
              <a:rPr lang="zh-CN" altLang="zh-CN" sz="2800" dirty="0"/>
              <a:t>，都有类型为</a:t>
            </a:r>
            <a:r>
              <a:rPr lang="en-US" altLang="zh-CN" sz="2800" dirty="0"/>
              <a:t>T2</a:t>
            </a:r>
            <a:r>
              <a:rPr lang="zh-CN" altLang="zh-CN" sz="2800" dirty="0"/>
              <a:t>的对象</a:t>
            </a:r>
            <a:r>
              <a:rPr lang="en-US" altLang="zh-CN" sz="2800" dirty="0"/>
              <a:t>o2</a:t>
            </a:r>
            <a:r>
              <a:rPr lang="zh-CN" altLang="zh-CN" sz="2800" dirty="0"/>
              <a:t>，使得以</a:t>
            </a:r>
            <a:r>
              <a:rPr lang="en-US" altLang="zh-CN" sz="2800" dirty="0"/>
              <a:t>T1</a:t>
            </a:r>
            <a:r>
              <a:rPr lang="zh-CN" altLang="zh-CN" sz="2800" dirty="0"/>
              <a:t>定义的所有程序</a:t>
            </a:r>
            <a:r>
              <a:rPr lang="en-US" altLang="zh-CN" sz="2800" dirty="0"/>
              <a:t>P</a:t>
            </a:r>
            <a:r>
              <a:rPr lang="zh-CN" altLang="zh-CN" sz="2800" dirty="0"/>
              <a:t>在所有的对象</a:t>
            </a:r>
            <a:r>
              <a:rPr lang="en-US" altLang="zh-CN" sz="2800" dirty="0"/>
              <a:t>o1</a:t>
            </a:r>
            <a:r>
              <a:rPr lang="zh-CN" altLang="zh-CN" sz="2800" dirty="0"/>
              <a:t>都代换成</a:t>
            </a:r>
            <a:r>
              <a:rPr lang="en-US" altLang="zh-CN" sz="2800" dirty="0"/>
              <a:t>o2</a:t>
            </a:r>
            <a:r>
              <a:rPr lang="zh-CN" altLang="zh-CN" sz="2800" dirty="0"/>
              <a:t>时，程序</a:t>
            </a:r>
            <a:r>
              <a:rPr lang="en-US" altLang="zh-CN" sz="2800" dirty="0"/>
              <a:t>P</a:t>
            </a:r>
            <a:r>
              <a:rPr lang="zh-CN" altLang="zh-CN" sz="2800" dirty="0"/>
              <a:t>的行为没有变化，那么类型</a:t>
            </a:r>
            <a:r>
              <a:rPr lang="en-US" altLang="zh-CN" sz="2800" dirty="0"/>
              <a:t>T2</a:t>
            </a:r>
            <a:r>
              <a:rPr lang="zh-CN" altLang="zh-CN" sz="2800" dirty="0"/>
              <a:t>是类型</a:t>
            </a:r>
            <a:r>
              <a:rPr lang="en-US" altLang="zh-CN" sz="2800" dirty="0"/>
              <a:t>T1</a:t>
            </a:r>
            <a:r>
              <a:rPr lang="zh-CN" altLang="zh-CN" sz="2800" dirty="0"/>
              <a:t>的子类型。</a:t>
            </a:r>
          </a:p>
          <a:p>
            <a:r>
              <a:rPr lang="zh-CN" altLang="zh-CN" sz="2800" dirty="0"/>
              <a:t>换言之，一个软件实体如果使用的是一个基类的话，那么一定适用于其子类，而且它根本不能察觉出基类对象和子类对象的区别。</a:t>
            </a:r>
          </a:p>
          <a:p>
            <a:r>
              <a:rPr lang="zh-CN" altLang="zh-CN" sz="2800" dirty="0"/>
              <a:t>反过来代换不成立。</a:t>
            </a:r>
          </a:p>
          <a:p>
            <a:endParaRPr lang="zh-CN" altLang="en-US" sz="2800" dirty="0"/>
          </a:p>
        </p:txBody>
      </p:sp>
    </p:spTree>
    <p:extLst>
      <p:ext uri="{BB962C8B-B14F-4D97-AF65-F5344CB8AC3E}">
        <p14:creationId xmlns:p14="http://schemas.microsoft.com/office/powerpoint/2010/main" val="13171809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里氏替换</a:t>
            </a:r>
            <a:r>
              <a:rPr lang="zh-CN" altLang="en-US" b="1" dirty="0" smtClean="0">
                <a:solidFill>
                  <a:srgbClr val="0000CC"/>
                </a:solidFill>
                <a:latin typeface="楷体_GB2312" pitchFamily="49" charset="-122"/>
                <a:ea typeface="楷体_GB2312" pitchFamily="49" charset="-122"/>
              </a:rPr>
              <a:t>原则（续）</a:t>
            </a:r>
            <a:endParaRPr lang="zh-CN" altLang="en-US" dirty="0"/>
          </a:p>
        </p:txBody>
      </p:sp>
      <p:sp>
        <p:nvSpPr>
          <p:cNvPr id="3" name="内容占位符 2"/>
          <p:cNvSpPr>
            <a:spLocks noGrp="1"/>
          </p:cNvSpPr>
          <p:nvPr>
            <p:ph idx="1"/>
          </p:nvPr>
        </p:nvSpPr>
        <p:spPr>
          <a:xfrm>
            <a:off x="251520" y="1600200"/>
            <a:ext cx="8784976" cy="4525963"/>
          </a:xfrm>
        </p:spPr>
        <p:txBody>
          <a:bodyPr>
            <a:noAutofit/>
          </a:bodyPr>
          <a:lstStyle/>
          <a:p>
            <a:r>
              <a:rPr lang="zh-CN" altLang="zh-CN" sz="2800" dirty="0" smtClean="0"/>
              <a:t>例如</a:t>
            </a:r>
            <a:endParaRPr lang="en-US" altLang="zh-CN" sz="2800" dirty="0" smtClean="0"/>
          </a:p>
          <a:p>
            <a:r>
              <a:rPr lang="zh-CN" altLang="zh-CN" sz="2800" dirty="0" smtClean="0"/>
              <a:t>有</a:t>
            </a:r>
            <a:r>
              <a:rPr lang="zh-CN" altLang="zh-CN" sz="2800" dirty="0"/>
              <a:t>两个类，一个类为</a:t>
            </a:r>
            <a:r>
              <a:rPr lang="en-US" altLang="zh-CN" sz="2800" dirty="0" err="1"/>
              <a:t>BaseClass</a:t>
            </a:r>
            <a:r>
              <a:rPr lang="zh-CN" altLang="zh-CN" sz="2800" dirty="0"/>
              <a:t>，另一个是</a:t>
            </a:r>
            <a:r>
              <a:rPr lang="en-US" altLang="zh-CN" sz="2800" dirty="0" err="1"/>
              <a:t>SubClass</a:t>
            </a:r>
            <a:r>
              <a:rPr lang="zh-CN" altLang="zh-CN" sz="2800" dirty="0"/>
              <a:t>类，并且</a:t>
            </a:r>
            <a:r>
              <a:rPr lang="en-US" altLang="zh-CN" sz="2800" dirty="0" err="1"/>
              <a:t>SubClass</a:t>
            </a:r>
            <a:r>
              <a:rPr lang="zh-CN" altLang="zh-CN" sz="2800" dirty="0"/>
              <a:t>类是</a:t>
            </a:r>
            <a:r>
              <a:rPr lang="en-US" altLang="zh-CN" sz="2800" dirty="0" err="1"/>
              <a:t>BaseClass</a:t>
            </a:r>
            <a:r>
              <a:rPr lang="zh-CN" altLang="zh-CN" sz="2800" dirty="0"/>
              <a:t>类的子类</a:t>
            </a:r>
            <a:r>
              <a:rPr lang="zh-CN" altLang="zh-CN" sz="2800" dirty="0" smtClean="0"/>
              <a:t>，</a:t>
            </a:r>
            <a:endParaRPr lang="en-US" altLang="zh-CN" sz="2800" dirty="0" smtClean="0"/>
          </a:p>
          <a:p>
            <a:r>
              <a:rPr lang="zh-CN" altLang="zh-CN" sz="2800" dirty="0" smtClean="0"/>
              <a:t>那么</a:t>
            </a:r>
            <a:r>
              <a:rPr lang="zh-CN" altLang="zh-CN" sz="2800" dirty="0"/>
              <a:t>一个方法如果可以接受一个</a:t>
            </a:r>
            <a:r>
              <a:rPr lang="en-US" altLang="zh-CN" sz="2800" dirty="0" err="1"/>
              <a:t>BaseClass</a:t>
            </a:r>
            <a:r>
              <a:rPr lang="zh-CN" altLang="zh-CN" sz="2800" dirty="0"/>
              <a:t>类型的基类对象</a:t>
            </a:r>
            <a:r>
              <a:rPr lang="en-US" altLang="zh-CN" sz="2800" dirty="0"/>
              <a:t>base</a:t>
            </a:r>
            <a:r>
              <a:rPr lang="zh-CN" altLang="zh-CN" sz="2800" dirty="0"/>
              <a:t>的话，如：</a:t>
            </a:r>
            <a:r>
              <a:rPr lang="en-US" altLang="zh-CN" sz="2800" dirty="0"/>
              <a:t>method1(base)</a:t>
            </a:r>
            <a:r>
              <a:rPr lang="zh-CN" altLang="zh-CN" sz="2800" dirty="0"/>
              <a:t>，那么它必然可以接受一个</a:t>
            </a:r>
            <a:r>
              <a:rPr lang="en-US" altLang="zh-CN" sz="2800" dirty="0" err="1"/>
              <a:t>BaseClass</a:t>
            </a:r>
            <a:r>
              <a:rPr lang="zh-CN" altLang="zh-CN" sz="2800" dirty="0"/>
              <a:t>类型的子类对象</a:t>
            </a:r>
            <a:r>
              <a:rPr lang="en-US" altLang="zh-CN" sz="2800" dirty="0"/>
              <a:t>sub</a:t>
            </a:r>
            <a:r>
              <a:rPr lang="zh-CN" altLang="zh-CN" sz="2800" dirty="0"/>
              <a:t>，</a:t>
            </a:r>
            <a:r>
              <a:rPr lang="en-US" altLang="zh-CN" sz="2800" dirty="0"/>
              <a:t>method1(sub)</a:t>
            </a:r>
            <a:r>
              <a:rPr lang="zh-CN" altLang="zh-CN" sz="2800" dirty="0"/>
              <a:t>能够正常运行</a:t>
            </a:r>
            <a:r>
              <a:rPr lang="zh-CN" altLang="zh-CN" sz="2800" dirty="0" smtClean="0"/>
              <a:t>。</a:t>
            </a:r>
            <a:endParaRPr lang="en-US" altLang="zh-CN" sz="2800" dirty="0" smtClean="0"/>
          </a:p>
          <a:p>
            <a:r>
              <a:rPr lang="zh-CN" altLang="zh-CN" sz="2800" dirty="0" smtClean="0"/>
              <a:t>反过来</a:t>
            </a:r>
            <a:r>
              <a:rPr lang="zh-CN" altLang="zh-CN" sz="2800" dirty="0"/>
              <a:t>的代换不成立，如一个方法</a:t>
            </a:r>
            <a:r>
              <a:rPr lang="en-US" altLang="zh-CN" sz="2800" dirty="0"/>
              <a:t>method2</a:t>
            </a:r>
            <a:r>
              <a:rPr lang="zh-CN" altLang="zh-CN" sz="2800" dirty="0"/>
              <a:t>接受</a:t>
            </a:r>
            <a:r>
              <a:rPr lang="en-US" altLang="zh-CN" sz="2800" dirty="0" err="1"/>
              <a:t>BaseClass</a:t>
            </a:r>
            <a:r>
              <a:rPr lang="zh-CN" altLang="zh-CN" sz="2800" dirty="0"/>
              <a:t>类型的子类对象</a:t>
            </a:r>
            <a:r>
              <a:rPr lang="en-US" altLang="zh-CN" sz="2800" dirty="0"/>
              <a:t>sub</a:t>
            </a:r>
            <a:r>
              <a:rPr lang="zh-CN" altLang="zh-CN" sz="2800" dirty="0"/>
              <a:t>为参数：</a:t>
            </a:r>
            <a:r>
              <a:rPr lang="en-US" altLang="zh-CN" sz="2800" dirty="0"/>
              <a:t>method2(sub)</a:t>
            </a:r>
            <a:r>
              <a:rPr lang="zh-CN" altLang="zh-CN" sz="2800" dirty="0"/>
              <a:t>，那么一般而言不可以有</a:t>
            </a:r>
            <a:r>
              <a:rPr lang="en-US" altLang="zh-CN" sz="2800" dirty="0"/>
              <a:t>method2(base)</a:t>
            </a:r>
            <a:r>
              <a:rPr lang="zh-CN" altLang="zh-CN" sz="2800" dirty="0"/>
              <a:t>，除非是重载方法。</a:t>
            </a:r>
          </a:p>
          <a:p>
            <a:endParaRPr lang="zh-CN" altLang="en-US" sz="2800" dirty="0"/>
          </a:p>
        </p:txBody>
      </p:sp>
    </p:spTree>
    <p:extLst>
      <p:ext uri="{BB962C8B-B14F-4D97-AF65-F5344CB8AC3E}">
        <p14:creationId xmlns:p14="http://schemas.microsoft.com/office/powerpoint/2010/main" val="18452510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2390" y="893807"/>
            <a:ext cx="4436073" cy="412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99592" y="620688"/>
            <a:ext cx="3999621" cy="4154984"/>
          </a:xfrm>
          <a:prstGeom prst="rect">
            <a:avLst/>
          </a:prstGeom>
          <a:noFill/>
        </p:spPr>
        <p:txBody>
          <a:bodyPr wrap="none" rtlCol="0">
            <a:spAutoFit/>
          </a:bodyPr>
          <a:lstStyle/>
          <a:p>
            <a:r>
              <a:rPr lang="en-US" altLang="zh-CN" sz="2400" dirty="0" smtClean="0"/>
              <a:t>Void </a:t>
            </a:r>
            <a:r>
              <a:rPr lang="en-US" altLang="zh-CN" sz="2400" dirty="0" smtClean="0">
                <a:solidFill>
                  <a:srgbClr val="FF0000"/>
                </a:solidFill>
              </a:rPr>
              <a:t>method1(</a:t>
            </a:r>
            <a:r>
              <a:rPr lang="en-US" altLang="zh-CN" sz="2400" dirty="0" err="1" smtClean="0">
                <a:solidFill>
                  <a:srgbClr val="FF0000"/>
                </a:solidFill>
              </a:rPr>
              <a:t>BaseClass</a:t>
            </a:r>
            <a:r>
              <a:rPr lang="en-US" altLang="zh-CN" sz="2400" dirty="0" smtClean="0">
                <a:solidFill>
                  <a:srgbClr val="FF0000"/>
                </a:solidFill>
              </a:rPr>
              <a:t> base</a:t>
            </a:r>
            <a:r>
              <a:rPr lang="en-US" altLang="zh-CN" sz="2400" dirty="0" smtClean="0"/>
              <a:t>)</a:t>
            </a:r>
          </a:p>
          <a:p>
            <a:r>
              <a:rPr lang="en-US" altLang="zh-CN" sz="2400" dirty="0" smtClean="0"/>
              <a:t>{</a:t>
            </a:r>
          </a:p>
          <a:p>
            <a:r>
              <a:rPr lang="en-US" altLang="zh-CN" sz="2400" dirty="0" smtClean="0"/>
              <a:t>Base.f1();</a:t>
            </a:r>
            <a:endParaRPr lang="en-US" altLang="zh-CN" sz="2400" dirty="0"/>
          </a:p>
          <a:p>
            <a:r>
              <a:rPr lang="en-US" altLang="zh-CN" sz="2400" dirty="0" smtClean="0"/>
              <a:t>}</a:t>
            </a:r>
          </a:p>
          <a:p>
            <a:endParaRPr lang="en-US" altLang="zh-CN" sz="2400" dirty="0"/>
          </a:p>
          <a:p>
            <a:r>
              <a:rPr lang="en-US" altLang="zh-CN" sz="2400" dirty="0" smtClean="0"/>
              <a:t>Void main()</a:t>
            </a:r>
          </a:p>
          <a:p>
            <a:r>
              <a:rPr lang="en-US" altLang="zh-CN" sz="2400" dirty="0" smtClean="0"/>
              <a:t>{</a:t>
            </a:r>
          </a:p>
          <a:p>
            <a:r>
              <a:rPr lang="en-US" altLang="zh-CN" sz="2400" dirty="0" smtClean="0">
                <a:solidFill>
                  <a:srgbClr val="00B050"/>
                </a:solidFill>
              </a:rPr>
              <a:t>SubClass1   sub;</a:t>
            </a:r>
          </a:p>
          <a:p>
            <a:r>
              <a:rPr lang="en-US" altLang="zh-CN" sz="2400" dirty="0" smtClean="0">
                <a:solidFill>
                  <a:srgbClr val="00B050"/>
                </a:solidFill>
              </a:rPr>
              <a:t>Method1(sub);</a:t>
            </a:r>
            <a:endParaRPr lang="en-US" altLang="zh-CN" sz="2400" dirty="0">
              <a:solidFill>
                <a:srgbClr val="00B050"/>
              </a:solidFill>
            </a:endParaRPr>
          </a:p>
          <a:p>
            <a:endParaRPr lang="en-US" altLang="zh-CN" sz="2400" dirty="0" smtClean="0"/>
          </a:p>
          <a:p>
            <a:r>
              <a:rPr lang="en-US" altLang="zh-CN" sz="2400" dirty="0" smtClean="0"/>
              <a:t>}</a:t>
            </a:r>
            <a:endParaRPr lang="zh-CN" altLang="en-US" sz="2400" dirty="0"/>
          </a:p>
        </p:txBody>
      </p:sp>
    </p:spTree>
    <p:extLst>
      <p:ext uri="{BB962C8B-B14F-4D97-AF65-F5344CB8AC3E}">
        <p14:creationId xmlns:p14="http://schemas.microsoft.com/office/powerpoint/2010/main" val="4283886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里氏替换原则（续）</a:t>
            </a:r>
            <a:endParaRPr lang="zh-CN" altLang="en-US" dirty="0"/>
          </a:p>
        </p:txBody>
      </p:sp>
      <p:sp>
        <p:nvSpPr>
          <p:cNvPr id="3" name="内容占位符 2"/>
          <p:cNvSpPr>
            <a:spLocks noGrp="1"/>
          </p:cNvSpPr>
          <p:nvPr>
            <p:ph idx="1"/>
          </p:nvPr>
        </p:nvSpPr>
        <p:spPr/>
        <p:txBody>
          <a:bodyPr>
            <a:normAutofit/>
          </a:bodyPr>
          <a:lstStyle/>
          <a:p>
            <a:r>
              <a:rPr lang="zh-CN" altLang="zh-CN" sz="2800" dirty="0"/>
              <a:t>里氏代换原则是</a:t>
            </a:r>
            <a:r>
              <a:rPr lang="zh-CN" altLang="zh-CN" sz="2800" dirty="0" smtClean="0"/>
              <a:t>实现</a:t>
            </a:r>
            <a:r>
              <a:rPr lang="zh-CN" altLang="en-US" sz="2800" dirty="0" smtClean="0"/>
              <a:t>“</a:t>
            </a:r>
            <a:r>
              <a:rPr lang="zh-CN" altLang="zh-CN" sz="2800" dirty="0" smtClean="0"/>
              <a:t>开闭原则</a:t>
            </a:r>
            <a:r>
              <a:rPr lang="zh-CN" altLang="en-US" sz="2800" dirty="0" smtClean="0"/>
              <a:t>”</a:t>
            </a:r>
            <a:r>
              <a:rPr lang="zh-CN" altLang="zh-CN" sz="2800" dirty="0" smtClean="0"/>
              <a:t>的</a:t>
            </a:r>
            <a:r>
              <a:rPr lang="zh-CN" altLang="zh-CN" sz="2800" dirty="0"/>
              <a:t>重要方式之一，由于使用基类对象的地方都可以使用子类对象，</a:t>
            </a:r>
            <a:r>
              <a:rPr lang="zh-CN" altLang="zh-CN" sz="2800" dirty="0" smtClean="0"/>
              <a:t>因此</a:t>
            </a:r>
            <a:r>
              <a:rPr lang="zh-CN" altLang="en-US" sz="2800" dirty="0" smtClean="0"/>
              <a:t>：</a:t>
            </a:r>
            <a:endParaRPr lang="en-US" altLang="zh-CN" sz="2800" dirty="0" smtClean="0"/>
          </a:p>
          <a:p>
            <a:r>
              <a:rPr lang="zh-CN" altLang="zh-CN" sz="2800" b="1" dirty="0" smtClean="0"/>
              <a:t>在</a:t>
            </a:r>
            <a:r>
              <a:rPr lang="zh-CN" altLang="zh-CN" sz="2800" b="1" dirty="0"/>
              <a:t>程序中尽量使用基类类型来对对象进行定义，而在运行时再确定其子类类型，用子类对象来替换父类对象</a:t>
            </a:r>
            <a:r>
              <a:rPr lang="zh-CN" altLang="zh-CN" sz="2800" dirty="0"/>
              <a:t>。</a:t>
            </a:r>
            <a:endParaRPr lang="zh-CN" altLang="en-US" sz="2800" dirty="0"/>
          </a:p>
        </p:txBody>
      </p:sp>
    </p:spTree>
    <p:extLst>
      <p:ext uri="{BB962C8B-B14F-4D97-AF65-F5344CB8AC3E}">
        <p14:creationId xmlns:p14="http://schemas.microsoft.com/office/powerpoint/2010/main" val="42106128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里氏替换原则（续）</a:t>
            </a:r>
            <a:endParaRPr lang="zh-CN" altLang="en-US" dirty="0"/>
          </a:p>
        </p:txBody>
      </p:sp>
      <p:sp>
        <p:nvSpPr>
          <p:cNvPr id="3" name="内容占位符 2"/>
          <p:cNvSpPr>
            <a:spLocks noGrp="1"/>
          </p:cNvSpPr>
          <p:nvPr>
            <p:ph idx="1"/>
          </p:nvPr>
        </p:nvSpPr>
        <p:spPr>
          <a:xfrm>
            <a:off x="467544" y="1340768"/>
            <a:ext cx="8229600" cy="4525963"/>
          </a:xfrm>
        </p:spPr>
        <p:txBody>
          <a:bodyPr>
            <a:noAutofit/>
          </a:bodyPr>
          <a:lstStyle/>
          <a:p>
            <a:r>
              <a:rPr lang="zh-CN" altLang="zh-CN" sz="2400" dirty="0"/>
              <a:t>在使用里氏代换原则时需要注意如下几个问题：</a:t>
            </a:r>
          </a:p>
          <a:p>
            <a:r>
              <a:rPr lang="en-US" altLang="zh-CN" sz="2400" dirty="0"/>
              <a:t>      (1)</a:t>
            </a:r>
            <a:r>
              <a:rPr lang="zh-CN" altLang="zh-CN" sz="2400" dirty="0"/>
              <a:t>子类的所有方法必须在父类中声明，或子类必须实现父类中声明的所有方法</a:t>
            </a:r>
            <a:r>
              <a:rPr lang="zh-CN" altLang="zh-CN" sz="2400" dirty="0" smtClean="0"/>
              <a:t>。</a:t>
            </a:r>
            <a:endParaRPr lang="en-US" altLang="zh-CN" sz="2400" dirty="0" smtClean="0"/>
          </a:p>
          <a:p>
            <a:pPr lvl="1"/>
            <a:r>
              <a:rPr lang="zh-CN" altLang="zh-CN" sz="2000" dirty="0" smtClean="0"/>
              <a:t>根据</a:t>
            </a:r>
            <a:r>
              <a:rPr lang="zh-CN" altLang="zh-CN" sz="2000" dirty="0"/>
              <a:t>里氏代换原则，为了保证系统的扩展性，在程序中通常使用父类来进行</a:t>
            </a:r>
            <a:r>
              <a:rPr lang="zh-CN" altLang="zh-CN" sz="2000" dirty="0" smtClean="0"/>
              <a:t>定义</a:t>
            </a:r>
            <a:r>
              <a:rPr lang="zh-CN" altLang="en-US" sz="2000" dirty="0" smtClean="0"/>
              <a:t>；</a:t>
            </a:r>
            <a:endParaRPr lang="en-US" altLang="zh-CN" sz="2000" dirty="0" smtClean="0"/>
          </a:p>
          <a:p>
            <a:pPr lvl="1"/>
            <a:r>
              <a:rPr lang="zh-CN" altLang="zh-CN" sz="2000" dirty="0" smtClean="0"/>
              <a:t>如果</a:t>
            </a:r>
            <a:r>
              <a:rPr lang="zh-CN" altLang="zh-CN" sz="2000" dirty="0"/>
              <a:t>一个方法只存在子类中，在父类中不提供相应的声明，则无法在以父类定义的对象中使用该方法。</a:t>
            </a:r>
          </a:p>
          <a:p>
            <a:endParaRPr lang="zh-CN" altLang="en-US" sz="2400" dirty="0"/>
          </a:p>
        </p:txBody>
      </p:sp>
      <p:sp>
        <p:nvSpPr>
          <p:cNvPr id="5" name="TextBox 4"/>
          <p:cNvSpPr txBox="1"/>
          <p:nvPr/>
        </p:nvSpPr>
        <p:spPr>
          <a:xfrm>
            <a:off x="151089" y="3862296"/>
            <a:ext cx="3052759" cy="2585323"/>
          </a:xfrm>
          <a:prstGeom prst="rect">
            <a:avLst/>
          </a:prstGeom>
          <a:noFill/>
        </p:spPr>
        <p:txBody>
          <a:bodyPr wrap="none" rtlCol="0">
            <a:spAutoFit/>
          </a:bodyPr>
          <a:lstStyle/>
          <a:p>
            <a:r>
              <a:rPr lang="en-US" altLang="zh-CN" dirty="0" smtClean="0"/>
              <a:t>Void </a:t>
            </a:r>
            <a:r>
              <a:rPr lang="en-US" altLang="zh-CN" dirty="0" smtClean="0">
                <a:solidFill>
                  <a:srgbClr val="FF0000"/>
                </a:solidFill>
              </a:rPr>
              <a:t>method1(</a:t>
            </a:r>
            <a:r>
              <a:rPr lang="en-US" altLang="zh-CN" dirty="0" err="1" smtClean="0">
                <a:solidFill>
                  <a:srgbClr val="FF0000"/>
                </a:solidFill>
              </a:rPr>
              <a:t>BaseClass</a:t>
            </a:r>
            <a:r>
              <a:rPr lang="en-US" altLang="zh-CN" dirty="0" smtClean="0">
                <a:solidFill>
                  <a:srgbClr val="FF0000"/>
                </a:solidFill>
              </a:rPr>
              <a:t> base</a:t>
            </a:r>
            <a:r>
              <a:rPr lang="en-US" altLang="zh-CN" dirty="0" smtClean="0"/>
              <a:t>)</a:t>
            </a:r>
          </a:p>
          <a:p>
            <a:r>
              <a:rPr lang="en-US" altLang="zh-CN" dirty="0" smtClean="0"/>
              <a:t>{</a:t>
            </a:r>
          </a:p>
          <a:p>
            <a:r>
              <a:rPr lang="en-US" altLang="zh-CN" dirty="0" smtClean="0">
                <a:solidFill>
                  <a:schemeClr val="tx2">
                    <a:lumMod val="60000"/>
                    <a:lumOff val="40000"/>
                  </a:schemeClr>
                </a:solidFill>
              </a:rPr>
              <a:t>Base.f6();---------</a:t>
            </a:r>
            <a:r>
              <a:rPr lang="zh-CN" altLang="en-US" dirty="0" smtClean="0">
                <a:solidFill>
                  <a:schemeClr val="tx2">
                    <a:lumMod val="60000"/>
                    <a:lumOff val="40000"/>
                  </a:schemeClr>
                </a:solidFill>
              </a:rPr>
              <a:t>有问题</a:t>
            </a:r>
            <a:endParaRPr lang="en-US" altLang="zh-CN" dirty="0">
              <a:solidFill>
                <a:schemeClr val="tx2">
                  <a:lumMod val="60000"/>
                  <a:lumOff val="40000"/>
                </a:schemeClr>
              </a:solidFill>
            </a:endParaRPr>
          </a:p>
          <a:p>
            <a:r>
              <a:rPr lang="en-US" altLang="zh-CN" dirty="0" smtClean="0"/>
              <a:t>}</a:t>
            </a:r>
            <a:endParaRPr lang="en-US" altLang="zh-CN" dirty="0"/>
          </a:p>
          <a:p>
            <a:r>
              <a:rPr lang="en-US" altLang="zh-CN" dirty="0" smtClean="0"/>
              <a:t>Void main()</a:t>
            </a:r>
          </a:p>
          <a:p>
            <a:r>
              <a:rPr lang="en-US" altLang="zh-CN" dirty="0" smtClean="0"/>
              <a:t>{</a:t>
            </a:r>
          </a:p>
          <a:p>
            <a:r>
              <a:rPr lang="en-US" altLang="zh-CN" dirty="0" smtClean="0">
                <a:solidFill>
                  <a:srgbClr val="00B050"/>
                </a:solidFill>
              </a:rPr>
              <a:t>SubClass1   sub;</a:t>
            </a:r>
          </a:p>
          <a:p>
            <a:r>
              <a:rPr lang="en-US" altLang="zh-CN" dirty="0" smtClean="0">
                <a:solidFill>
                  <a:srgbClr val="00B050"/>
                </a:solidFill>
              </a:rPr>
              <a:t>Method1(sub);</a:t>
            </a:r>
            <a:endParaRPr lang="en-US" altLang="zh-CN" dirty="0" smtClean="0"/>
          </a:p>
          <a:p>
            <a:r>
              <a:rPr lang="en-US" altLang="zh-CN" dirty="0" smtClean="0"/>
              <a:t>}</a:t>
            </a: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4122335"/>
            <a:ext cx="247650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832804" y="3645024"/>
            <a:ext cx="3290131" cy="2862322"/>
          </a:xfrm>
          <a:prstGeom prst="rect">
            <a:avLst/>
          </a:prstGeom>
          <a:noFill/>
        </p:spPr>
        <p:txBody>
          <a:bodyPr wrap="none" rtlCol="0">
            <a:spAutoFit/>
          </a:bodyPr>
          <a:lstStyle/>
          <a:p>
            <a:r>
              <a:rPr lang="en-US" altLang="zh-CN" dirty="0" smtClean="0"/>
              <a:t>Void </a:t>
            </a:r>
            <a:r>
              <a:rPr lang="en-US" altLang="zh-CN" dirty="0" smtClean="0">
                <a:solidFill>
                  <a:srgbClr val="FF0000"/>
                </a:solidFill>
              </a:rPr>
              <a:t>method1(</a:t>
            </a:r>
            <a:r>
              <a:rPr lang="en-US" altLang="zh-CN" dirty="0" err="1" smtClean="0">
                <a:solidFill>
                  <a:srgbClr val="FF0000"/>
                </a:solidFill>
              </a:rPr>
              <a:t>BaseClass</a:t>
            </a:r>
            <a:r>
              <a:rPr lang="en-US" altLang="zh-CN" dirty="0" smtClean="0">
                <a:solidFill>
                  <a:srgbClr val="FF0000"/>
                </a:solidFill>
              </a:rPr>
              <a:t> base</a:t>
            </a:r>
            <a:r>
              <a:rPr lang="en-US" altLang="zh-CN" dirty="0" smtClean="0"/>
              <a:t>)</a:t>
            </a:r>
          </a:p>
          <a:p>
            <a:r>
              <a:rPr lang="en-US" altLang="zh-CN" dirty="0" smtClean="0"/>
              <a:t>{</a:t>
            </a:r>
          </a:p>
          <a:p>
            <a:r>
              <a:rPr lang="en-US" altLang="zh-CN" dirty="0" smtClean="0">
                <a:solidFill>
                  <a:schemeClr val="tx2">
                    <a:lumMod val="60000"/>
                    <a:lumOff val="40000"/>
                  </a:schemeClr>
                </a:solidFill>
              </a:rPr>
              <a:t>Base.f1();</a:t>
            </a:r>
          </a:p>
          <a:p>
            <a:r>
              <a:rPr lang="en-US" altLang="zh-CN" dirty="0" smtClean="0"/>
              <a:t>}</a:t>
            </a:r>
          </a:p>
          <a:p>
            <a:r>
              <a:rPr lang="en-US" altLang="zh-CN" dirty="0" smtClean="0"/>
              <a:t>Void main()</a:t>
            </a:r>
          </a:p>
          <a:p>
            <a:r>
              <a:rPr lang="en-US" altLang="zh-CN" dirty="0" smtClean="0"/>
              <a:t>{</a:t>
            </a:r>
          </a:p>
          <a:p>
            <a:r>
              <a:rPr lang="en-US" altLang="zh-CN" dirty="0" err="1" smtClean="0">
                <a:solidFill>
                  <a:srgbClr val="00B050"/>
                </a:solidFill>
              </a:rPr>
              <a:t>BaseClass</a:t>
            </a:r>
            <a:r>
              <a:rPr lang="en-US" altLang="zh-CN" dirty="0" smtClean="0">
                <a:solidFill>
                  <a:srgbClr val="00B050"/>
                </a:solidFill>
              </a:rPr>
              <a:t>  sub=new SubClass1 ();</a:t>
            </a:r>
          </a:p>
          <a:p>
            <a:r>
              <a:rPr lang="en-US" altLang="zh-CN" dirty="0" smtClean="0">
                <a:solidFill>
                  <a:srgbClr val="00B050"/>
                </a:solidFill>
              </a:rPr>
              <a:t>Method1(sub);</a:t>
            </a:r>
          </a:p>
          <a:p>
            <a:r>
              <a:rPr lang="en-US" altLang="zh-CN" dirty="0" smtClean="0">
                <a:solidFill>
                  <a:srgbClr val="00B050"/>
                </a:solidFill>
              </a:rPr>
              <a:t>Sub.f6();--------</a:t>
            </a:r>
            <a:r>
              <a:rPr lang="zh-CN" altLang="en-US" dirty="0" smtClean="0">
                <a:solidFill>
                  <a:srgbClr val="00B050"/>
                </a:solidFill>
              </a:rPr>
              <a:t>有问题</a:t>
            </a:r>
            <a:endParaRPr lang="en-US" altLang="zh-CN" dirty="0" smtClean="0"/>
          </a:p>
          <a:p>
            <a:r>
              <a:rPr lang="en-US" altLang="zh-CN" dirty="0" smtClean="0"/>
              <a:t>}</a:t>
            </a:r>
            <a:endParaRPr lang="zh-CN" altLang="en-US" dirty="0"/>
          </a:p>
        </p:txBody>
      </p:sp>
    </p:spTree>
    <p:extLst>
      <p:ext uri="{BB962C8B-B14F-4D97-AF65-F5344CB8AC3E}">
        <p14:creationId xmlns:p14="http://schemas.microsoft.com/office/powerpoint/2010/main" val="25444839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里氏替换原则（续）</a:t>
            </a:r>
            <a:endParaRPr lang="zh-CN" altLang="en-US" dirty="0"/>
          </a:p>
        </p:txBody>
      </p:sp>
      <p:sp>
        <p:nvSpPr>
          <p:cNvPr id="3" name="内容占位符 2"/>
          <p:cNvSpPr>
            <a:spLocks noGrp="1"/>
          </p:cNvSpPr>
          <p:nvPr>
            <p:ph idx="1"/>
          </p:nvPr>
        </p:nvSpPr>
        <p:spPr/>
        <p:txBody>
          <a:bodyPr>
            <a:normAutofit/>
          </a:bodyPr>
          <a:lstStyle/>
          <a:p>
            <a:r>
              <a:rPr lang="zh-CN" altLang="zh-CN" sz="2800" dirty="0"/>
              <a:t>在使用里氏代换原则时需要注意如下几个问题：</a:t>
            </a:r>
          </a:p>
          <a:p>
            <a:r>
              <a:rPr lang="en-US" altLang="zh-CN" sz="2800" dirty="0"/>
              <a:t>    </a:t>
            </a:r>
            <a:r>
              <a:rPr lang="en-US" altLang="zh-CN" sz="2800" dirty="0" smtClean="0"/>
              <a:t>(</a:t>
            </a:r>
            <a:r>
              <a:rPr lang="en-US" altLang="zh-CN" sz="2800" dirty="0"/>
              <a:t>2)  </a:t>
            </a:r>
            <a:r>
              <a:rPr lang="zh-CN" altLang="zh-CN" sz="2800" dirty="0" smtClean="0"/>
              <a:t>在</a:t>
            </a:r>
            <a:r>
              <a:rPr lang="zh-CN" altLang="zh-CN" sz="2800" dirty="0"/>
              <a:t>运用里氏代换原则时，尽量把父类设计为抽象类或者接口，让子类继承父类或实现父接口，并实现在父类中声明的</a:t>
            </a:r>
            <a:r>
              <a:rPr lang="zh-CN" altLang="zh-CN" sz="2800" dirty="0" smtClean="0"/>
              <a:t>方法</a:t>
            </a:r>
            <a:r>
              <a:rPr lang="zh-CN" altLang="en-US" sz="2800" dirty="0" smtClean="0"/>
              <a:t>。</a:t>
            </a:r>
            <a:endParaRPr lang="en-US" altLang="zh-CN" sz="2800" dirty="0" smtClean="0"/>
          </a:p>
          <a:p>
            <a:pPr lvl="1"/>
            <a:r>
              <a:rPr lang="zh-CN" altLang="zh-CN" sz="2400" dirty="0" smtClean="0">
                <a:solidFill>
                  <a:srgbClr val="FF0000"/>
                </a:solidFill>
              </a:rPr>
              <a:t>运行</a:t>
            </a:r>
            <a:r>
              <a:rPr lang="zh-CN" altLang="zh-CN" sz="2400" dirty="0">
                <a:solidFill>
                  <a:srgbClr val="FF0000"/>
                </a:solidFill>
              </a:rPr>
              <a:t>时，子类实例替换父类实例</a:t>
            </a:r>
            <a:r>
              <a:rPr lang="zh-CN" altLang="zh-CN" sz="2400" dirty="0" smtClean="0">
                <a:solidFill>
                  <a:srgbClr val="FF0000"/>
                </a:solidFill>
              </a:rPr>
              <a:t>，可以</a:t>
            </a:r>
            <a:r>
              <a:rPr lang="zh-CN" altLang="zh-CN" sz="2400" dirty="0">
                <a:solidFill>
                  <a:srgbClr val="FF0000"/>
                </a:solidFill>
              </a:rPr>
              <a:t>很方便地扩展系统的</a:t>
            </a:r>
            <a:r>
              <a:rPr lang="zh-CN" altLang="zh-CN" sz="2400" dirty="0" smtClean="0">
                <a:solidFill>
                  <a:srgbClr val="FF0000"/>
                </a:solidFill>
              </a:rPr>
              <a:t>功能</a:t>
            </a:r>
            <a:r>
              <a:rPr lang="zh-CN" altLang="en-US" sz="2400" dirty="0" smtClean="0">
                <a:solidFill>
                  <a:srgbClr val="FF0000"/>
                </a:solidFill>
              </a:rPr>
              <a:t>，</a:t>
            </a:r>
            <a:r>
              <a:rPr lang="zh-CN" altLang="zh-CN" sz="2400" dirty="0" smtClean="0">
                <a:solidFill>
                  <a:srgbClr val="FF0000"/>
                </a:solidFill>
              </a:rPr>
              <a:t>同时</a:t>
            </a:r>
            <a:r>
              <a:rPr lang="zh-CN" altLang="zh-CN" sz="2400" dirty="0">
                <a:solidFill>
                  <a:srgbClr val="FF0000"/>
                </a:solidFill>
              </a:rPr>
              <a:t>无须修改原有子类的</a:t>
            </a:r>
            <a:r>
              <a:rPr lang="zh-CN" altLang="zh-CN" sz="2400" dirty="0" smtClean="0">
                <a:solidFill>
                  <a:srgbClr val="FF0000"/>
                </a:solidFill>
              </a:rPr>
              <a:t>代码</a:t>
            </a:r>
            <a:r>
              <a:rPr lang="zh-CN" altLang="en-US" sz="2400" dirty="0" smtClean="0">
                <a:solidFill>
                  <a:srgbClr val="FF0000"/>
                </a:solidFill>
              </a:rPr>
              <a:t>；</a:t>
            </a:r>
            <a:endParaRPr lang="en-US" altLang="zh-CN" sz="2400" dirty="0" smtClean="0">
              <a:solidFill>
                <a:srgbClr val="FF0000"/>
              </a:solidFill>
            </a:endParaRPr>
          </a:p>
          <a:p>
            <a:pPr lvl="1"/>
            <a:r>
              <a:rPr lang="zh-CN" altLang="zh-CN" sz="2400" dirty="0" smtClean="0">
                <a:solidFill>
                  <a:srgbClr val="FF0000"/>
                </a:solidFill>
              </a:rPr>
              <a:t>增加</a:t>
            </a:r>
            <a:r>
              <a:rPr lang="zh-CN" altLang="zh-CN" sz="2400" dirty="0">
                <a:solidFill>
                  <a:srgbClr val="FF0000"/>
                </a:solidFill>
              </a:rPr>
              <a:t>新的功能可以通过增加一个新的子类来实现</a:t>
            </a:r>
            <a:r>
              <a:rPr lang="zh-CN" altLang="zh-CN" sz="2400" dirty="0" smtClean="0">
                <a:solidFill>
                  <a:srgbClr val="FF0000"/>
                </a:solidFill>
              </a:rPr>
              <a:t>。</a:t>
            </a:r>
            <a:endParaRPr lang="en-US" altLang="zh-CN" sz="2400" dirty="0" smtClean="0">
              <a:solidFill>
                <a:srgbClr val="FF0000"/>
              </a:solidFill>
            </a:endParaRPr>
          </a:p>
          <a:p>
            <a:endParaRPr lang="en-US" altLang="zh-CN" sz="2800" dirty="0"/>
          </a:p>
          <a:p>
            <a:r>
              <a:rPr lang="zh-CN" altLang="zh-CN" sz="2800" dirty="0" smtClean="0"/>
              <a:t>里</a:t>
            </a:r>
            <a:r>
              <a:rPr lang="zh-CN" altLang="zh-CN" sz="2800" dirty="0"/>
              <a:t>氏代换原则是开闭原则的具体实现手段之一。</a:t>
            </a:r>
          </a:p>
          <a:p>
            <a:endParaRPr lang="zh-CN" altLang="en-US" sz="2800" dirty="0"/>
          </a:p>
        </p:txBody>
      </p:sp>
    </p:spTree>
    <p:extLst>
      <p:ext uri="{BB962C8B-B14F-4D97-AF65-F5344CB8AC3E}">
        <p14:creationId xmlns:p14="http://schemas.microsoft.com/office/powerpoint/2010/main" val="14676370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依赖倒转</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Autofit/>
          </a:bodyPr>
          <a:lstStyle/>
          <a:p>
            <a:r>
              <a:rPr lang="zh-CN" altLang="zh-CN" sz="2800" dirty="0"/>
              <a:t>开闭原则是目标，而达到这一目标的手段是依赖倒转原则。抽象不应该依赖与细节，细节应当依赖与抽象。</a:t>
            </a:r>
          </a:p>
          <a:p>
            <a:r>
              <a:rPr lang="zh-CN" altLang="zh-CN" sz="2800" dirty="0"/>
              <a:t>要针对接口编程，而不是针对实现编程。</a:t>
            </a:r>
          </a:p>
          <a:p>
            <a:r>
              <a:rPr lang="zh-CN" altLang="zh-CN" sz="2800" dirty="0"/>
              <a:t>传递参数，或者在组合聚合关系中，尽量引用层次高的类。</a:t>
            </a:r>
          </a:p>
          <a:p>
            <a:endParaRPr lang="zh-CN" altLang="en-US" sz="2800" dirty="0"/>
          </a:p>
        </p:txBody>
      </p:sp>
    </p:spTree>
    <p:extLst>
      <p:ext uri="{BB962C8B-B14F-4D97-AF65-F5344CB8AC3E}">
        <p14:creationId xmlns:p14="http://schemas.microsoft.com/office/powerpoint/2010/main" val="31442180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依赖倒转</a:t>
            </a:r>
            <a:r>
              <a:rPr lang="zh-CN" altLang="en-US" b="1" dirty="0" smtClean="0">
                <a:solidFill>
                  <a:srgbClr val="0000CC"/>
                </a:solidFill>
                <a:latin typeface="楷体_GB2312" pitchFamily="49" charset="-122"/>
                <a:ea typeface="楷体_GB2312" pitchFamily="49" charset="-122"/>
              </a:rPr>
              <a:t>原则（续）</a:t>
            </a:r>
            <a:endParaRPr lang="zh-CN" altLang="en-US" dirty="0"/>
          </a:p>
        </p:txBody>
      </p:sp>
      <p:sp>
        <p:nvSpPr>
          <p:cNvPr id="3" name="内容占位符 2"/>
          <p:cNvSpPr>
            <a:spLocks noGrp="1"/>
          </p:cNvSpPr>
          <p:nvPr>
            <p:ph idx="1"/>
          </p:nvPr>
        </p:nvSpPr>
        <p:spPr/>
        <p:txBody>
          <a:bodyPr>
            <a:noAutofit/>
          </a:bodyPr>
          <a:lstStyle/>
          <a:p>
            <a:r>
              <a:rPr lang="zh-CN" altLang="zh-CN" sz="2000" dirty="0"/>
              <a:t>主要是在构造对象时可以动态的创建各种具体对象，当然如果一些具体类比较稳定，就不必在弄一个抽象类做它的父</a:t>
            </a:r>
            <a:r>
              <a:rPr lang="zh-CN" altLang="zh-CN" sz="2000" dirty="0" smtClean="0"/>
              <a:t>类。</a:t>
            </a:r>
            <a:endParaRPr lang="zh-CN" altLang="zh-CN" sz="2000" dirty="0"/>
          </a:p>
          <a:p>
            <a:r>
              <a:rPr lang="zh-CN" altLang="zh-CN" sz="2000" dirty="0"/>
              <a:t>抽象层次包含的是应用系统的商务逻辑和宏观的、对整个系统来说重要的战略性决定，是必然性的体现，那么抽象层次就应当是较为稳定的，应当是复用的重点；也应当是维护的重点</a:t>
            </a:r>
            <a:r>
              <a:rPr lang="zh-CN" altLang="zh-CN" sz="2000" dirty="0" smtClean="0"/>
              <a:t>；</a:t>
            </a:r>
            <a:endParaRPr lang="en-US" altLang="zh-CN" sz="2000" dirty="0" smtClean="0"/>
          </a:p>
          <a:p>
            <a:r>
              <a:rPr lang="zh-CN" altLang="zh-CN" sz="2000" dirty="0" smtClean="0"/>
              <a:t>而</a:t>
            </a:r>
            <a:r>
              <a:rPr lang="zh-CN" altLang="zh-CN" sz="2000" dirty="0"/>
              <a:t>具体层次则含有一些次要的与实现有关的算法和逻辑，以及战术性的决定，带有相当大的偶然性选择。具体层次的代码是会经常有变动的，不能避免出现错误。</a:t>
            </a:r>
          </a:p>
          <a:p>
            <a:endParaRPr lang="zh-CN" altLang="en-US" sz="2000" dirty="0"/>
          </a:p>
        </p:txBody>
      </p:sp>
    </p:spTree>
    <p:extLst>
      <p:ext uri="{BB962C8B-B14F-4D97-AF65-F5344CB8AC3E}">
        <p14:creationId xmlns:p14="http://schemas.microsoft.com/office/powerpoint/2010/main" val="20796810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476672"/>
            <a:ext cx="3517630" cy="4339650"/>
          </a:xfrm>
          <a:prstGeom prst="rect">
            <a:avLst/>
          </a:prstGeom>
          <a:noFill/>
        </p:spPr>
        <p:txBody>
          <a:bodyPr wrap="none" rtlCol="0">
            <a:spAutoFit/>
          </a:bodyPr>
          <a:lstStyle/>
          <a:p>
            <a:r>
              <a:rPr lang="en-US" altLang="zh-CN" dirty="0" smtClean="0"/>
              <a:t>Void </a:t>
            </a:r>
            <a:r>
              <a:rPr lang="en-US" altLang="zh-CN" dirty="0" smtClean="0">
                <a:solidFill>
                  <a:srgbClr val="FF0000"/>
                </a:solidFill>
              </a:rPr>
              <a:t>method1(</a:t>
            </a:r>
            <a:r>
              <a:rPr lang="en-US" altLang="zh-CN" sz="2400" dirty="0" err="1" smtClean="0">
                <a:solidFill>
                  <a:srgbClr val="FF0000"/>
                </a:solidFill>
              </a:rPr>
              <a:t>BaseClass</a:t>
            </a:r>
            <a:r>
              <a:rPr lang="en-US" altLang="zh-CN" sz="2400" dirty="0" smtClean="0">
                <a:solidFill>
                  <a:srgbClr val="FF0000"/>
                </a:solidFill>
              </a:rPr>
              <a:t> base</a:t>
            </a:r>
            <a:r>
              <a:rPr lang="en-US" altLang="zh-CN" dirty="0" smtClean="0"/>
              <a:t>)</a:t>
            </a:r>
          </a:p>
          <a:p>
            <a:r>
              <a:rPr lang="en-US" altLang="zh-CN" dirty="0" smtClean="0"/>
              <a:t>{</a:t>
            </a:r>
          </a:p>
          <a:p>
            <a:r>
              <a:rPr lang="en-US" altLang="zh-CN" dirty="0" smtClean="0">
                <a:solidFill>
                  <a:schemeClr val="tx2">
                    <a:lumMod val="60000"/>
                    <a:lumOff val="40000"/>
                  </a:schemeClr>
                </a:solidFill>
              </a:rPr>
              <a:t>Base.f1();</a:t>
            </a:r>
            <a:endParaRPr lang="en-US" altLang="zh-CN" dirty="0">
              <a:solidFill>
                <a:schemeClr val="tx2">
                  <a:lumMod val="60000"/>
                  <a:lumOff val="40000"/>
                </a:schemeClr>
              </a:solidFill>
            </a:endParaRPr>
          </a:p>
          <a:p>
            <a:r>
              <a:rPr lang="en-US" altLang="zh-CN" dirty="0" smtClean="0"/>
              <a:t>}</a:t>
            </a:r>
            <a:endParaRPr lang="en-US" altLang="zh-CN" dirty="0"/>
          </a:p>
          <a:p>
            <a:r>
              <a:rPr lang="en-US" altLang="zh-CN" dirty="0" smtClean="0"/>
              <a:t>Void main()</a:t>
            </a:r>
          </a:p>
          <a:p>
            <a:r>
              <a:rPr lang="en-US" altLang="zh-CN" dirty="0" smtClean="0"/>
              <a:t>{</a:t>
            </a:r>
          </a:p>
          <a:p>
            <a:r>
              <a:rPr lang="en-US" altLang="zh-CN" dirty="0" smtClean="0">
                <a:solidFill>
                  <a:srgbClr val="00B050"/>
                </a:solidFill>
              </a:rPr>
              <a:t>SubClass1   sub1;</a:t>
            </a:r>
          </a:p>
          <a:p>
            <a:r>
              <a:rPr lang="en-US" altLang="zh-CN" dirty="0" smtClean="0">
                <a:solidFill>
                  <a:srgbClr val="00B050"/>
                </a:solidFill>
              </a:rPr>
              <a:t>Method1(sub1);</a:t>
            </a:r>
          </a:p>
          <a:p>
            <a:endParaRPr lang="en-US" altLang="zh-CN" dirty="0" smtClean="0">
              <a:solidFill>
                <a:srgbClr val="00B050"/>
              </a:solidFill>
            </a:endParaRPr>
          </a:p>
          <a:p>
            <a:r>
              <a:rPr lang="en-US" altLang="zh-CN" dirty="0" smtClean="0">
                <a:solidFill>
                  <a:srgbClr val="00B050"/>
                </a:solidFill>
              </a:rPr>
              <a:t>SubClass2   sub2;</a:t>
            </a:r>
            <a:endParaRPr lang="en-US" altLang="zh-CN" dirty="0">
              <a:solidFill>
                <a:srgbClr val="00B050"/>
              </a:solidFill>
            </a:endParaRPr>
          </a:p>
          <a:p>
            <a:r>
              <a:rPr lang="en-US" altLang="zh-CN" dirty="0" smtClean="0">
                <a:solidFill>
                  <a:srgbClr val="00B050"/>
                </a:solidFill>
              </a:rPr>
              <a:t>Method1(sub2);</a:t>
            </a:r>
            <a:endParaRPr lang="en-US" altLang="zh-CN" dirty="0"/>
          </a:p>
          <a:p>
            <a:endParaRPr lang="en-US" altLang="zh-CN" dirty="0" smtClean="0"/>
          </a:p>
          <a:p>
            <a:r>
              <a:rPr lang="en-US" altLang="zh-CN" dirty="0" smtClean="0">
                <a:solidFill>
                  <a:srgbClr val="00B050"/>
                </a:solidFill>
              </a:rPr>
              <a:t>SubClass3   sub3;</a:t>
            </a:r>
            <a:endParaRPr lang="en-US" altLang="zh-CN" dirty="0">
              <a:solidFill>
                <a:srgbClr val="00B050"/>
              </a:solidFill>
            </a:endParaRPr>
          </a:p>
          <a:p>
            <a:r>
              <a:rPr lang="en-US" altLang="zh-CN" dirty="0" smtClean="0">
                <a:solidFill>
                  <a:srgbClr val="00B050"/>
                </a:solidFill>
              </a:rPr>
              <a:t>Method1(sub3);</a:t>
            </a:r>
            <a:endParaRPr lang="en-US" altLang="zh-CN" dirty="0" smtClean="0"/>
          </a:p>
          <a:p>
            <a:r>
              <a:rPr lang="en-US" altLang="zh-CN" dirty="0" smtClean="0"/>
              <a:t>}</a:t>
            </a:r>
            <a:endParaRPr lang="zh-CN" altLang="en-US" dirty="0"/>
          </a:p>
        </p:txBody>
      </p:sp>
      <p:sp>
        <p:nvSpPr>
          <p:cNvPr id="5" name="TextBox 4"/>
          <p:cNvSpPr txBox="1"/>
          <p:nvPr/>
        </p:nvSpPr>
        <p:spPr>
          <a:xfrm>
            <a:off x="4499991" y="476063"/>
            <a:ext cx="4218271" cy="5232202"/>
          </a:xfrm>
          <a:prstGeom prst="rect">
            <a:avLst/>
          </a:prstGeom>
          <a:noFill/>
        </p:spPr>
        <p:txBody>
          <a:bodyPr wrap="none" rtlCol="0">
            <a:spAutoFit/>
          </a:bodyPr>
          <a:lstStyle/>
          <a:p>
            <a:r>
              <a:rPr lang="en-US" altLang="zh-CN" dirty="0" smtClean="0"/>
              <a:t>Void </a:t>
            </a:r>
            <a:r>
              <a:rPr lang="en-US" altLang="zh-CN" dirty="0" smtClean="0">
                <a:solidFill>
                  <a:srgbClr val="FF0000"/>
                </a:solidFill>
              </a:rPr>
              <a:t>method1(</a:t>
            </a:r>
            <a:r>
              <a:rPr lang="en-US" altLang="zh-CN" dirty="0" err="1" smtClean="0">
                <a:solidFill>
                  <a:srgbClr val="FF0000"/>
                </a:solidFill>
              </a:rPr>
              <a:t>BaseClass</a:t>
            </a:r>
            <a:r>
              <a:rPr lang="en-US" altLang="zh-CN" dirty="0" smtClean="0">
                <a:solidFill>
                  <a:srgbClr val="FF0000"/>
                </a:solidFill>
              </a:rPr>
              <a:t> base</a:t>
            </a:r>
            <a:r>
              <a:rPr lang="en-US" altLang="zh-CN" dirty="0" smtClean="0"/>
              <a:t>)</a:t>
            </a:r>
          </a:p>
          <a:p>
            <a:r>
              <a:rPr lang="en-US" altLang="zh-CN" dirty="0" smtClean="0"/>
              <a:t>{</a:t>
            </a:r>
          </a:p>
          <a:p>
            <a:r>
              <a:rPr lang="en-US" altLang="zh-CN" dirty="0" smtClean="0">
                <a:solidFill>
                  <a:schemeClr val="tx2">
                    <a:lumMod val="60000"/>
                    <a:lumOff val="40000"/>
                  </a:schemeClr>
                </a:solidFill>
              </a:rPr>
              <a:t>Base.f1();</a:t>
            </a:r>
          </a:p>
          <a:p>
            <a:r>
              <a:rPr lang="en-US" altLang="zh-CN" dirty="0" smtClean="0"/>
              <a:t>}</a:t>
            </a:r>
          </a:p>
          <a:p>
            <a:r>
              <a:rPr lang="en-US" altLang="zh-CN" dirty="0" smtClean="0"/>
              <a:t>Void main()</a:t>
            </a:r>
          </a:p>
          <a:p>
            <a:r>
              <a:rPr lang="en-US" altLang="zh-CN" dirty="0" smtClean="0"/>
              <a:t>{</a:t>
            </a:r>
          </a:p>
          <a:p>
            <a:r>
              <a:rPr lang="en-US" altLang="zh-CN" sz="2800" dirty="0" err="1" smtClean="0">
                <a:solidFill>
                  <a:srgbClr val="00B050"/>
                </a:solidFill>
              </a:rPr>
              <a:t>BaseClass</a:t>
            </a:r>
            <a:r>
              <a:rPr lang="en-US" altLang="zh-CN" sz="2800" dirty="0" smtClean="0">
                <a:solidFill>
                  <a:srgbClr val="00B050"/>
                </a:solidFill>
              </a:rPr>
              <a:t>*  sub</a:t>
            </a:r>
            <a:r>
              <a:rPr lang="en-US" altLang="zh-CN" dirty="0" smtClean="0">
                <a:solidFill>
                  <a:srgbClr val="00B050"/>
                </a:solidFill>
              </a:rPr>
              <a:t>=new SubClass1 ();</a:t>
            </a:r>
          </a:p>
          <a:p>
            <a:r>
              <a:rPr lang="en-US" altLang="zh-CN" dirty="0" smtClean="0">
                <a:solidFill>
                  <a:srgbClr val="00B050"/>
                </a:solidFill>
              </a:rPr>
              <a:t>Method1(*sub);</a:t>
            </a:r>
          </a:p>
          <a:p>
            <a:endParaRPr lang="en-US" altLang="zh-CN" dirty="0" smtClean="0">
              <a:solidFill>
                <a:srgbClr val="00B050"/>
              </a:solidFill>
            </a:endParaRPr>
          </a:p>
          <a:p>
            <a:r>
              <a:rPr lang="en-US" altLang="zh-CN" dirty="0" smtClean="0">
                <a:solidFill>
                  <a:srgbClr val="00B050"/>
                </a:solidFill>
              </a:rPr>
              <a:t>sub=new SubClass2 ();</a:t>
            </a:r>
          </a:p>
          <a:p>
            <a:r>
              <a:rPr lang="en-US" altLang="zh-CN" dirty="0">
                <a:solidFill>
                  <a:srgbClr val="00B050"/>
                </a:solidFill>
              </a:rPr>
              <a:t>Method1</a:t>
            </a:r>
            <a:r>
              <a:rPr lang="en-US" altLang="zh-CN" dirty="0" smtClean="0">
                <a:solidFill>
                  <a:srgbClr val="00B050"/>
                </a:solidFill>
              </a:rPr>
              <a:t>(</a:t>
            </a:r>
            <a:r>
              <a:rPr lang="en-US" altLang="zh-CN" dirty="0">
                <a:solidFill>
                  <a:srgbClr val="00B050"/>
                </a:solidFill>
              </a:rPr>
              <a:t>*</a:t>
            </a:r>
            <a:r>
              <a:rPr lang="en-US" altLang="zh-CN" dirty="0" smtClean="0">
                <a:solidFill>
                  <a:srgbClr val="00B050"/>
                </a:solidFill>
              </a:rPr>
              <a:t>sub</a:t>
            </a:r>
            <a:r>
              <a:rPr lang="en-US" altLang="zh-CN" dirty="0">
                <a:solidFill>
                  <a:srgbClr val="00B050"/>
                </a:solidFill>
              </a:rPr>
              <a:t>);</a:t>
            </a:r>
          </a:p>
          <a:p>
            <a:endParaRPr lang="en-US" altLang="zh-CN" dirty="0" smtClean="0"/>
          </a:p>
          <a:p>
            <a:r>
              <a:rPr lang="en-US" altLang="zh-CN" dirty="0">
                <a:solidFill>
                  <a:srgbClr val="00B050"/>
                </a:solidFill>
              </a:rPr>
              <a:t>sub=new </a:t>
            </a:r>
            <a:r>
              <a:rPr lang="en-US" altLang="zh-CN" dirty="0" smtClean="0">
                <a:solidFill>
                  <a:srgbClr val="00B050"/>
                </a:solidFill>
              </a:rPr>
              <a:t>SubClass3 </a:t>
            </a:r>
            <a:r>
              <a:rPr lang="en-US" altLang="zh-CN" dirty="0">
                <a:solidFill>
                  <a:srgbClr val="00B050"/>
                </a:solidFill>
              </a:rPr>
              <a:t>();</a:t>
            </a:r>
          </a:p>
          <a:p>
            <a:r>
              <a:rPr lang="en-US" altLang="zh-CN" dirty="0">
                <a:solidFill>
                  <a:srgbClr val="00B050"/>
                </a:solidFill>
              </a:rPr>
              <a:t>Method1</a:t>
            </a:r>
            <a:r>
              <a:rPr lang="en-US" altLang="zh-CN" dirty="0" smtClean="0">
                <a:solidFill>
                  <a:srgbClr val="00B050"/>
                </a:solidFill>
              </a:rPr>
              <a:t>(</a:t>
            </a:r>
            <a:r>
              <a:rPr lang="en-US" altLang="zh-CN" dirty="0">
                <a:solidFill>
                  <a:srgbClr val="00B050"/>
                </a:solidFill>
              </a:rPr>
              <a:t>*</a:t>
            </a:r>
            <a:r>
              <a:rPr lang="en-US" altLang="zh-CN" dirty="0" smtClean="0">
                <a:solidFill>
                  <a:srgbClr val="00B050"/>
                </a:solidFill>
              </a:rPr>
              <a:t>sub</a:t>
            </a:r>
            <a:r>
              <a:rPr lang="en-US" altLang="zh-CN" dirty="0">
                <a:solidFill>
                  <a:srgbClr val="00B050"/>
                </a:solidFill>
              </a:rPr>
              <a:t>);</a:t>
            </a:r>
          </a:p>
          <a:p>
            <a:endParaRPr lang="en-US" altLang="zh-CN" dirty="0" smtClean="0"/>
          </a:p>
          <a:p>
            <a:r>
              <a:rPr lang="en-US" altLang="zh-CN" dirty="0">
                <a:solidFill>
                  <a:srgbClr val="00B050"/>
                </a:solidFill>
              </a:rPr>
              <a:t>sub=new </a:t>
            </a:r>
            <a:r>
              <a:rPr lang="en-US" altLang="zh-CN" dirty="0" smtClean="0">
                <a:solidFill>
                  <a:srgbClr val="00B050"/>
                </a:solidFill>
              </a:rPr>
              <a:t>SubClass4 </a:t>
            </a:r>
            <a:r>
              <a:rPr lang="en-US" altLang="zh-CN" dirty="0">
                <a:solidFill>
                  <a:srgbClr val="00B050"/>
                </a:solidFill>
              </a:rPr>
              <a:t>();</a:t>
            </a:r>
          </a:p>
          <a:p>
            <a:r>
              <a:rPr lang="en-US" altLang="zh-CN" dirty="0">
                <a:solidFill>
                  <a:srgbClr val="00B050"/>
                </a:solidFill>
              </a:rPr>
              <a:t>Method1</a:t>
            </a:r>
            <a:r>
              <a:rPr lang="en-US" altLang="zh-CN" dirty="0" smtClean="0">
                <a:solidFill>
                  <a:srgbClr val="00B050"/>
                </a:solidFill>
              </a:rPr>
              <a:t>(</a:t>
            </a:r>
            <a:r>
              <a:rPr lang="en-US" altLang="zh-CN" dirty="0">
                <a:solidFill>
                  <a:srgbClr val="00B050"/>
                </a:solidFill>
              </a:rPr>
              <a:t>*</a:t>
            </a:r>
            <a:r>
              <a:rPr lang="en-US" altLang="zh-CN" dirty="0" smtClean="0">
                <a:solidFill>
                  <a:srgbClr val="00B050"/>
                </a:solidFill>
              </a:rPr>
              <a:t>sub);</a:t>
            </a:r>
            <a:endParaRPr lang="en-US" altLang="zh-CN" dirty="0" smtClean="0"/>
          </a:p>
          <a:p>
            <a:r>
              <a:rPr lang="en-US" altLang="zh-CN" dirty="0" smtClean="0"/>
              <a:t>}</a:t>
            </a:r>
            <a:endParaRPr lang="zh-CN" altLang="en-US" dirty="0"/>
          </a:p>
        </p:txBody>
      </p:sp>
      <p:sp>
        <p:nvSpPr>
          <p:cNvPr id="6" name="矩形 5"/>
          <p:cNvSpPr/>
          <p:nvPr/>
        </p:nvSpPr>
        <p:spPr>
          <a:xfrm>
            <a:off x="1907704" y="107340"/>
            <a:ext cx="1107996" cy="369332"/>
          </a:xfrm>
          <a:prstGeom prst="rect">
            <a:avLst/>
          </a:prstGeom>
        </p:spPr>
        <p:txBody>
          <a:bodyPr wrap="none">
            <a:spAutoFit/>
          </a:bodyPr>
          <a:lstStyle/>
          <a:p>
            <a:r>
              <a:rPr lang="zh-CN" altLang="zh-CN" dirty="0"/>
              <a:t>传递参数</a:t>
            </a:r>
            <a:endParaRPr lang="zh-CN" altLang="en-US" dirty="0"/>
          </a:p>
        </p:txBody>
      </p:sp>
      <p:sp>
        <p:nvSpPr>
          <p:cNvPr id="7" name="矩形 6"/>
          <p:cNvSpPr/>
          <p:nvPr/>
        </p:nvSpPr>
        <p:spPr>
          <a:xfrm>
            <a:off x="4572000" y="106731"/>
            <a:ext cx="2031325" cy="369332"/>
          </a:xfrm>
          <a:prstGeom prst="rect">
            <a:avLst/>
          </a:prstGeom>
        </p:spPr>
        <p:txBody>
          <a:bodyPr wrap="none">
            <a:spAutoFit/>
          </a:bodyPr>
          <a:lstStyle/>
          <a:p>
            <a:r>
              <a:rPr lang="zh-CN" altLang="zh-CN" dirty="0"/>
              <a:t>在组合聚合关系中</a:t>
            </a:r>
            <a:endParaRPr lang="zh-CN" altLang="en-US" dirty="0"/>
          </a:p>
        </p:txBody>
      </p:sp>
      <p:sp>
        <p:nvSpPr>
          <p:cNvPr id="8" name="矩形 7"/>
          <p:cNvSpPr/>
          <p:nvPr/>
        </p:nvSpPr>
        <p:spPr>
          <a:xfrm>
            <a:off x="2448377" y="5805264"/>
            <a:ext cx="2492990" cy="369332"/>
          </a:xfrm>
          <a:prstGeom prst="rect">
            <a:avLst/>
          </a:prstGeom>
        </p:spPr>
        <p:txBody>
          <a:bodyPr wrap="none">
            <a:spAutoFit/>
          </a:bodyPr>
          <a:lstStyle/>
          <a:p>
            <a:r>
              <a:rPr lang="zh-CN" altLang="zh-CN" dirty="0"/>
              <a:t>尽量引用层次高的类。</a:t>
            </a:r>
            <a:endParaRPr lang="zh-CN" altLang="en-US" dirty="0"/>
          </a:p>
        </p:txBody>
      </p:sp>
    </p:spTree>
    <p:extLst>
      <p:ext uri="{BB962C8B-B14F-4D97-AF65-F5344CB8AC3E}">
        <p14:creationId xmlns:p14="http://schemas.microsoft.com/office/powerpoint/2010/main" val="1919626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接口隔离</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rmAutofit/>
          </a:bodyPr>
          <a:lstStyle/>
          <a:p>
            <a:r>
              <a:rPr lang="zh-CN" altLang="zh-CN" sz="2800" dirty="0"/>
              <a:t>定制服务的例子，每一个接口应该是一种角色，不多不少，不干不该干的事，该干的事都要干。</a:t>
            </a:r>
          </a:p>
          <a:p>
            <a:r>
              <a:rPr lang="zh-CN" altLang="zh-CN" sz="2800" dirty="0"/>
              <a:t>使用多个专门的接口比使用单一的总接口要好。</a:t>
            </a:r>
          </a:p>
          <a:p>
            <a:r>
              <a:rPr lang="zh-CN" altLang="zh-CN" sz="2800" dirty="0"/>
              <a:t>换言之，从一个客户类的角度讲：一个类对另一个类的依赖性应当是建立在最小的接口上的</a:t>
            </a:r>
            <a:r>
              <a:rPr lang="zh-CN" altLang="zh-CN" sz="2800" dirty="0" smtClean="0"/>
              <a:t>。</a:t>
            </a:r>
            <a:endParaRPr lang="zh-CN" altLang="zh-CN" sz="2800" dirty="0"/>
          </a:p>
        </p:txBody>
      </p:sp>
    </p:spTree>
    <p:extLst>
      <p:ext uri="{BB962C8B-B14F-4D97-AF65-F5344CB8AC3E}">
        <p14:creationId xmlns:p14="http://schemas.microsoft.com/office/powerpoint/2010/main" val="27719441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接口隔离</a:t>
            </a:r>
            <a:r>
              <a:rPr lang="zh-CN" altLang="en-US" b="1" dirty="0" smtClean="0">
                <a:solidFill>
                  <a:srgbClr val="0000CC"/>
                </a:solidFill>
                <a:latin typeface="楷体_GB2312" pitchFamily="49" charset="-122"/>
                <a:ea typeface="楷体_GB2312" pitchFamily="49" charset="-122"/>
              </a:rPr>
              <a:t>原则（续）</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zh-CN" dirty="0"/>
              <a:t>接口隔离</a:t>
            </a:r>
            <a:r>
              <a:rPr lang="zh-CN" altLang="zh-CN" dirty="0" smtClean="0"/>
              <a:t>原则与迪米特法则都是</a:t>
            </a:r>
            <a:r>
              <a:rPr lang="zh-CN" altLang="zh-CN" dirty="0"/>
              <a:t>对一个软件实体与其他的软件实体的通信限制</a:t>
            </a:r>
            <a:r>
              <a:rPr lang="zh-CN" altLang="zh-CN" dirty="0" smtClean="0"/>
              <a:t>。</a:t>
            </a:r>
            <a:endParaRPr lang="en-US" altLang="zh-CN" dirty="0" smtClean="0"/>
          </a:p>
          <a:p>
            <a:pPr lvl="1"/>
            <a:r>
              <a:rPr lang="zh-CN" altLang="zh-CN" dirty="0" smtClean="0"/>
              <a:t>迪</a:t>
            </a:r>
            <a:r>
              <a:rPr lang="zh-CN" altLang="zh-CN" dirty="0"/>
              <a:t>米特原则要求尽可能地限制通信的宽度和</a:t>
            </a:r>
            <a:r>
              <a:rPr lang="zh-CN" altLang="zh-CN" dirty="0" smtClean="0"/>
              <a:t>深度</a:t>
            </a:r>
            <a:r>
              <a:rPr lang="zh-CN" altLang="en-US" dirty="0" smtClean="0"/>
              <a:t>；</a:t>
            </a:r>
            <a:endParaRPr lang="en-US" altLang="zh-CN" dirty="0" smtClean="0"/>
          </a:p>
          <a:p>
            <a:pPr lvl="1"/>
            <a:r>
              <a:rPr lang="zh-CN" altLang="zh-CN" dirty="0" smtClean="0"/>
              <a:t>接</a:t>
            </a:r>
            <a:r>
              <a:rPr lang="zh-CN" altLang="en-US" dirty="0" smtClean="0"/>
              <a:t>口</a:t>
            </a:r>
            <a:r>
              <a:rPr lang="zh-CN" altLang="zh-CN" dirty="0" smtClean="0"/>
              <a:t>隔离</a:t>
            </a:r>
            <a:r>
              <a:rPr lang="zh-CN" altLang="zh-CN" dirty="0"/>
              <a:t>原则要求通信的宽度尽可能地窄。这样做的结果使一个软件系统在功能扩展过程当中，不会将修改的压力传递到其他对象。</a:t>
            </a:r>
          </a:p>
          <a:p>
            <a:r>
              <a:rPr lang="zh-CN" altLang="zh-CN" dirty="0"/>
              <a:t>一个接口相当于剧本中的一种角色，而此角色在一个舞台上由哪一个演员来演则相当于接口的实现。因此，一个接口应当简单地代表一个角色，而不是多个角色。如果系统涉及到多个角色的话，那么每一个角色都应当由一个特定的接口代表。</a:t>
            </a:r>
          </a:p>
          <a:p>
            <a:endParaRPr lang="zh-CN" altLang="en-US" dirty="0"/>
          </a:p>
          <a:p>
            <a:endParaRPr lang="zh-CN" altLang="en-US" dirty="0"/>
          </a:p>
        </p:txBody>
      </p:sp>
    </p:spTree>
    <p:extLst>
      <p:ext uri="{BB962C8B-B14F-4D97-AF65-F5344CB8AC3E}">
        <p14:creationId xmlns:p14="http://schemas.microsoft.com/office/powerpoint/2010/main" val="13101915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6186309" cy="4801314"/>
          </a:xfrm>
          <a:prstGeom prst="rect">
            <a:avLst/>
          </a:prstGeom>
          <a:noFill/>
        </p:spPr>
        <p:txBody>
          <a:bodyPr wrap="none" rtlCol="0">
            <a:spAutoFit/>
          </a:bodyPr>
          <a:lstStyle/>
          <a:p>
            <a:r>
              <a:rPr lang="en-US" altLang="zh-CN" dirty="0" err="1" smtClean="0"/>
              <a:t>int</a:t>
            </a:r>
            <a:r>
              <a:rPr lang="en-US" altLang="zh-CN" dirty="0" smtClean="0"/>
              <a:t> f(</a:t>
            </a:r>
            <a:r>
              <a:rPr lang="en-US" altLang="zh-CN" dirty="0" err="1" smtClean="0"/>
              <a:t>int</a:t>
            </a:r>
            <a:r>
              <a:rPr lang="en-US" altLang="zh-CN" dirty="0" smtClean="0"/>
              <a:t> </a:t>
            </a:r>
            <a:r>
              <a:rPr lang="en-US" altLang="zh-CN" dirty="0" err="1" smtClean="0"/>
              <a:t>a,int</a:t>
            </a:r>
            <a:r>
              <a:rPr lang="en-US" altLang="zh-CN" dirty="0" smtClean="0"/>
              <a:t> </a:t>
            </a:r>
            <a:r>
              <a:rPr lang="en-US" altLang="zh-CN" dirty="0" err="1" smtClean="0"/>
              <a:t>b,BOOL</a:t>
            </a:r>
            <a:r>
              <a:rPr lang="en-US" altLang="zh-CN" dirty="0" smtClean="0"/>
              <a:t> </a:t>
            </a:r>
            <a:r>
              <a:rPr lang="en-US" altLang="zh-CN" dirty="0" err="1" smtClean="0"/>
              <a:t>showflag</a:t>
            </a:r>
            <a:r>
              <a:rPr lang="en-US" altLang="zh-CN" dirty="0" smtClean="0"/>
              <a:t>)</a:t>
            </a:r>
          </a:p>
          <a:p>
            <a:r>
              <a:rPr lang="en-US" altLang="zh-CN" dirty="0" smtClean="0"/>
              <a:t>{</a:t>
            </a:r>
          </a:p>
          <a:p>
            <a:r>
              <a:rPr lang="en-US" altLang="zh-CN" dirty="0" smtClean="0"/>
              <a:t>  </a:t>
            </a:r>
            <a:r>
              <a:rPr lang="en-US" altLang="zh-CN" dirty="0" err="1" smtClean="0"/>
              <a:t>Int</a:t>
            </a:r>
            <a:r>
              <a:rPr lang="en-US" altLang="zh-CN" dirty="0" smtClean="0"/>
              <a:t> c;</a:t>
            </a:r>
          </a:p>
          <a:p>
            <a:r>
              <a:rPr lang="en-US" altLang="zh-CN" dirty="0" smtClean="0"/>
              <a:t>  C=0;</a:t>
            </a:r>
          </a:p>
          <a:p>
            <a:r>
              <a:rPr lang="en-US" altLang="zh-CN" dirty="0" smtClean="0"/>
              <a:t>  If (b!=0) c=a/b;</a:t>
            </a:r>
          </a:p>
          <a:p>
            <a:r>
              <a:rPr lang="en-US" altLang="zh-CN" dirty="0" smtClean="0"/>
              <a:t>  Else if (b==0) </a:t>
            </a:r>
            <a:r>
              <a:rPr lang="en-US" altLang="zh-CN" dirty="0" err="1" smtClean="0"/>
              <a:t>printf</a:t>
            </a:r>
            <a:r>
              <a:rPr lang="en-US" altLang="zh-CN" dirty="0" smtClean="0"/>
              <a:t>(“</a:t>
            </a:r>
            <a:r>
              <a:rPr lang="zh-CN" altLang="en-US" dirty="0" smtClean="0"/>
              <a:t>分母不能为</a:t>
            </a:r>
            <a:r>
              <a:rPr lang="en-US" altLang="zh-CN" dirty="0" smtClean="0"/>
              <a:t>0”);</a:t>
            </a:r>
          </a:p>
          <a:p>
            <a:r>
              <a:rPr lang="en-US" altLang="zh-CN" dirty="0" smtClean="0"/>
              <a:t>  If (</a:t>
            </a:r>
            <a:r>
              <a:rPr lang="en-US" altLang="zh-CN" dirty="0" err="1" smtClean="0"/>
              <a:t>showflag</a:t>
            </a:r>
            <a:r>
              <a:rPr lang="en-US" altLang="zh-CN" dirty="0" smtClean="0"/>
              <a:t>==TRUE)</a:t>
            </a:r>
          </a:p>
          <a:p>
            <a:r>
              <a:rPr lang="en-US" altLang="zh-CN" dirty="0" smtClean="0"/>
              <a:t>  {</a:t>
            </a:r>
          </a:p>
          <a:p>
            <a:r>
              <a:rPr lang="en-US" altLang="zh-CN" dirty="0" smtClean="0"/>
              <a:t>     </a:t>
            </a:r>
            <a:r>
              <a:rPr lang="en-US" altLang="zh-CN" dirty="0" err="1" smtClean="0"/>
              <a:t>Printf</a:t>
            </a:r>
            <a:r>
              <a:rPr lang="en-US" altLang="zh-CN" dirty="0" smtClean="0"/>
              <a:t>(“\t\t”);</a:t>
            </a:r>
          </a:p>
          <a:p>
            <a:r>
              <a:rPr lang="en-US" altLang="zh-CN" dirty="0" smtClean="0"/>
              <a:t>     </a:t>
            </a:r>
            <a:r>
              <a:rPr lang="en-US" altLang="zh-CN" dirty="0" err="1" smtClean="0"/>
              <a:t>Printf</a:t>
            </a:r>
            <a:r>
              <a:rPr lang="en-US" altLang="zh-CN" dirty="0" smtClean="0"/>
              <a:t>(“*****”);</a:t>
            </a:r>
          </a:p>
          <a:p>
            <a:r>
              <a:rPr lang="en-US" altLang="zh-CN" dirty="0" smtClean="0"/>
              <a:t>     </a:t>
            </a:r>
            <a:r>
              <a:rPr lang="en-US" altLang="zh-CN" dirty="0" err="1" smtClean="0"/>
              <a:t>Printf</a:t>
            </a:r>
            <a:r>
              <a:rPr lang="en-US" altLang="zh-CN" dirty="0" smtClean="0"/>
              <a:t>(“%</a:t>
            </a:r>
            <a:r>
              <a:rPr lang="en-US" altLang="zh-CN" dirty="0" err="1" smtClean="0"/>
              <a:t>d”,c</a:t>
            </a:r>
            <a:r>
              <a:rPr lang="en-US" altLang="zh-CN" dirty="0" smtClean="0"/>
              <a:t>);</a:t>
            </a:r>
          </a:p>
          <a:p>
            <a:r>
              <a:rPr lang="en-US" altLang="zh-CN" dirty="0" smtClean="0"/>
              <a:t>     </a:t>
            </a:r>
            <a:r>
              <a:rPr lang="en-US" altLang="zh-CN" dirty="0" err="1" smtClean="0"/>
              <a:t>Printf</a:t>
            </a:r>
            <a:r>
              <a:rPr lang="en-US" altLang="zh-CN" dirty="0" smtClean="0"/>
              <a:t>(“*****”);</a:t>
            </a:r>
            <a:endParaRPr lang="en-US" altLang="zh-CN" dirty="0"/>
          </a:p>
          <a:p>
            <a:r>
              <a:rPr lang="en-US" altLang="zh-CN" dirty="0" smtClean="0"/>
              <a:t> }</a:t>
            </a:r>
          </a:p>
          <a:p>
            <a:r>
              <a:rPr lang="en-US" altLang="zh-CN" dirty="0" smtClean="0"/>
              <a:t>  Return c;</a:t>
            </a:r>
            <a:endParaRPr lang="en-US" altLang="zh-CN" dirty="0"/>
          </a:p>
          <a:p>
            <a:r>
              <a:rPr lang="en-US" altLang="zh-CN" dirty="0" smtClean="0"/>
              <a:t>}</a:t>
            </a:r>
          </a:p>
          <a:p>
            <a:endParaRPr lang="en-US" altLang="zh-CN" dirty="0"/>
          </a:p>
          <a:p>
            <a:r>
              <a:rPr lang="zh-CN" altLang="en-US" dirty="0" smtClean="0"/>
              <a:t>上述代码要实现的功能是什么？接口参数的关联性是否高？</a:t>
            </a:r>
            <a:endParaRPr lang="zh-CN" altLang="en-US" dirty="0"/>
          </a:p>
        </p:txBody>
      </p:sp>
    </p:spTree>
    <p:extLst>
      <p:ext uri="{BB962C8B-B14F-4D97-AF65-F5344CB8AC3E}">
        <p14:creationId xmlns:p14="http://schemas.microsoft.com/office/powerpoint/2010/main" val="3196060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组合</a:t>
            </a:r>
            <a:r>
              <a:rPr lang="en-US" altLang="zh-CN" b="1" dirty="0">
                <a:solidFill>
                  <a:srgbClr val="0000CC"/>
                </a:solidFill>
                <a:latin typeface="楷体_GB2312" pitchFamily="49" charset="-122"/>
                <a:ea typeface="楷体_GB2312" pitchFamily="49" charset="-122"/>
              </a:rPr>
              <a:t>/</a:t>
            </a:r>
            <a:r>
              <a:rPr lang="zh-CN" altLang="en-US" b="1" dirty="0">
                <a:solidFill>
                  <a:srgbClr val="0000CC"/>
                </a:solidFill>
                <a:latin typeface="楷体_GB2312" pitchFamily="49" charset="-122"/>
                <a:ea typeface="楷体_GB2312" pitchFamily="49" charset="-122"/>
              </a:rPr>
              <a:t>聚合复用</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a:xfrm>
            <a:off x="457200" y="1196752"/>
            <a:ext cx="8229600" cy="4525963"/>
          </a:xfrm>
        </p:spPr>
        <p:txBody>
          <a:bodyPr>
            <a:normAutofit/>
          </a:bodyPr>
          <a:lstStyle/>
          <a:p>
            <a:endParaRPr lang="zh-CN" altLang="en-US" sz="2000" dirty="0" smtClean="0"/>
          </a:p>
          <a:p>
            <a:r>
              <a:rPr lang="zh-CN" altLang="zh-CN" sz="2000" dirty="0" smtClean="0"/>
              <a:t>组合</a:t>
            </a:r>
            <a:r>
              <a:rPr lang="en-US" altLang="zh-CN" sz="2000" dirty="0"/>
              <a:t>/</a:t>
            </a:r>
            <a:r>
              <a:rPr lang="zh-CN" altLang="zh-CN" sz="2000" dirty="0"/>
              <a:t>聚合原则就是在一个新的对象里面使用一些已有的对象，使之成为新对象的一部分；新的对象通过向这些对象的委派达到得复用已有功能的目的。</a:t>
            </a:r>
          </a:p>
          <a:p>
            <a:r>
              <a:rPr lang="zh-CN" altLang="zh-CN" sz="2000" dirty="0"/>
              <a:t>要尽量使用组合</a:t>
            </a:r>
            <a:r>
              <a:rPr lang="en-US" altLang="zh-CN" sz="2000" dirty="0"/>
              <a:t>/</a:t>
            </a:r>
            <a:r>
              <a:rPr lang="zh-CN" altLang="zh-CN" sz="2000" dirty="0"/>
              <a:t>聚合，尽量不要使用继承</a:t>
            </a:r>
            <a:r>
              <a:rPr lang="zh-CN" altLang="zh-CN" sz="2000" dirty="0" smtClean="0"/>
              <a:t>。</a:t>
            </a:r>
            <a:endParaRPr lang="en-US" altLang="zh-CN" sz="2000" dirty="0" smtClean="0"/>
          </a:p>
          <a:p>
            <a:endParaRPr lang="zh-CN" altLang="zh-CN" sz="2000" dirty="0"/>
          </a:p>
        </p:txBody>
      </p:sp>
      <p:sp>
        <p:nvSpPr>
          <p:cNvPr id="4" name="矩形 3"/>
          <p:cNvSpPr/>
          <p:nvPr/>
        </p:nvSpPr>
        <p:spPr>
          <a:xfrm>
            <a:off x="539552" y="2996952"/>
            <a:ext cx="4572000" cy="3416320"/>
          </a:xfrm>
          <a:prstGeom prst="rect">
            <a:avLst/>
          </a:prstGeom>
        </p:spPr>
        <p:txBody>
          <a:bodyPr>
            <a:spAutoFit/>
          </a:bodyPr>
          <a:lstStyle/>
          <a:p>
            <a:r>
              <a:rPr lang="en-US" altLang="zh-CN" dirty="0"/>
              <a:t>Class  A</a:t>
            </a:r>
          </a:p>
          <a:p>
            <a:r>
              <a:rPr lang="en-US" altLang="zh-CN" dirty="0"/>
              <a:t>{ </a:t>
            </a:r>
            <a:r>
              <a:rPr lang="en-US" altLang="zh-CN" dirty="0" err="1"/>
              <a:t>int</a:t>
            </a:r>
            <a:r>
              <a:rPr lang="en-US" altLang="zh-CN" dirty="0"/>
              <a:t> a; void f1();void f2();   }</a:t>
            </a:r>
          </a:p>
          <a:p>
            <a:r>
              <a:rPr lang="en-US" altLang="zh-CN" dirty="0">
                <a:solidFill>
                  <a:srgbClr val="00B050"/>
                </a:solidFill>
              </a:rPr>
              <a:t>Class A1:A</a:t>
            </a:r>
          </a:p>
          <a:p>
            <a:r>
              <a:rPr lang="en-US" altLang="zh-CN" dirty="0">
                <a:solidFill>
                  <a:srgbClr val="00B050"/>
                </a:solidFill>
              </a:rPr>
              <a:t>{ void f1();}</a:t>
            </a:r>
          </a:p>
          <a:p>
            <a:r>
              <a:rPr lang="en-US" altLang="zh-CN" dirty="0">
                <a:solidFill>
                  <a:schemeClr val="accent3">
                    <a:lumMod val="75000"/>
                  </a:schemeClr>
                </a:solidFill>
              </a:rPr>
              <a:t>Class A2:A</a:t>
            </a:r>
          </a:p>
          <a:p>
            <a:r>
              <a:rPr lang="en-US" altLang="zh-CN" dirty="0">
                <a:solidFill>
                  <a:schemeClr val="accent3">
                    <a:lumMod val="75000"/>
                  </a:schemeClr>
                </a:solidFill>
              </a:rPr>
              <a:t>{void f1();}</a:t>
            </a:r>
          </a:p>
          <a:p>
            <a:r>
              <a:rPr lang="en-US" altLang="zh-CN" dirty="0"/>
              <a:t>Class B</a:t>
            </a:r>
          </a:p>
          <a:p>
            <a:r>
              <a:rPr lang="en-US" altLang="zh-CN" dirty="0"/>
              <a:t>{</a:t>
            </a:r>
          </a:p>
          <a:p>
            <a:r>
              <a:rPr lang="en-US" altLang="zh-CN" dirty="0">
                <a:solidFill>
                  <a:srgbClr val="FF0000"/>
                </a:solidFill>
              </a:rPr>
              <a:t>A   </a:t>
            </a:r>
            <a:r>
              <a:rPr lang="en-US" altLang="zh-CN" dirty="0" err="1">
                <a:solidFill>
                  <a:srgbClr val="FF0000"/>
                </a:solidFill>
              </a:rPr>
              <a:t>ba</a:t>
            </a:r>
            <a:r>
              <a:rPr lang="en-US" altLang="zh-CN" dirty="0">
                <a:solidFill>
                  <a:srgbClr val="FF0000"/>
                </a:solidFill>
              </a:rPr>
              <a:t>;</a:t>
            </a:r>
          </a:p>
          <a:p>
            <a:r>
              <a:rPr lang="en-US" altLang="zh-CN" dirty="0"/>
              <a:t>Void b1(){ ba.f1();}</a:t>
            </a:r>
          </a:p>
          <a:p>
            <a:r>
              <a:rPr lang="en-US" altLang="zh-CN" dirty="0"/>
              <a:t>Void </a:t>
            </a:r>
            <a:r>
              <a:rPr lang="en-US" altLang="zh-CN" dirty="0" err="1"/>
              <a:t>setba</a:t>
            </a:r>
            <a:r>
              <a:rPr lang="en-US" altLang="zh-CN" dirty="0"/>
              <a:t>(A  ba1){</a:t>
            </a:r>
            <a:r>
              <a:rPr lang="en-US" altLang="zh-CN" dirty="0" err="1"/>
              <a:t>ba</a:t>
            </a:r>
            <a:r>
              <a:rPr lang="en-US" altLang="zh-CN" dirty="0"/>
              <a:t>=ba1;}</a:t>
            </a:r>
          </a:p>
          <a:p>
            <a:r>
              <a:rPr lang="en-US" altLang="zh-CN" dirty="0"/>
              <a:t>}</a:t>
            </a:r>
          </a:p>
        </p:txBody>
      </p:sp>
      <p:sp>
        <p:nvSpPr>
          <p:cNvPr id="5" name="矩形 4"/>
          <p:cNvSpPr/>
          <p:nvPr/>
        </p:nvSpPr>
        <p:spPr>
          <a:xfrm>
            <a:off x="4067944" y="3149352"/>
            <a:ext cx="4572000" cy="2308324"/>
          </a:xfrm>
          <a:prstGeom prst="rect">
            <a:avLst/>
          </a:prstGeom>
        </p:spPr>
        <p:txBody>
          <a:bodyPr>
            <a:spAutoFit/>
          </a:bodyPr>
          <a:lstStyle/>
          <a:p>
            <a:r>
              <a:rPr lang="en-US" altLang="zh-CN" dirty="0" smtClean="0"/>
              <a:t>Void main()</a:t>
            </a:r>
          </a:p>
          <a:p>
            <a:r>
              <a:rPr lang="en-US" altLang="zh-CN" dirty="0" smtClean="0"/>
              <a:t>{</a:t>
            </a:r>
          </a:p>
          <a:p>
            <a:r>
              <a:rPr lang="en-US" altLang="zh-CN" dirty="0" smtClean="0"/>
              <a:t>A * ba2=new A1();</a:t>
            </a:r>
          </a:p>
          <a:p>
            <a:r>
              <a:rPr lang="en-US" altLang="zh-CN" dirty="0" smtClean="0"/>
              <a:t>B </a:t>
            </a:r>
            <a:r>
              <a:rPr lang="en-US" altLang="zh-CN" dirty="0" err="1" smtClean="0"/>
              <a:t>b</a:t>
            </a:r>
            <a:r>
              <a:rPr lang="en-US" altLang="zh-CN" dirty="0" smtClean="0"/>
              <a:t>;</a:t>
            </a:r>
          </a:p>
          <a:p>
            <a:r>
              <a:rPr lang="en-US" altLang="zh-CN" dirty="0" err="1" smtClean="0"/>
              <a:t>b.setba</a:t>
            </a:r>
            <a:r>
              <a:rPr lang="en-US" altLang="zh-CN" dirty="0" smtClean="0"/>
              <a:t>(*ba2);   b.b1();</a:t>
            </a:r>
          </a:p>
          <a:p>
            <a:r>
              <a:rPr lang="en-US" altLang="zh-CN" dirty="0" smtClean="0"/>
              <a:t>Delete ba2;Ba2=new A2();</a:t>
            </a:r>
          </a:p>
          <a:p>
            <a:r>
              <a:rPr lang="en-US" altLang="zh-CN" dirty="0" err="1"/>
              <a:t>b.setba</a:t>
            </a:r>
            <a:r>
              <a:rPr lang="en-US" altLang="zh-CN" dirty="0" smtClean="0"/>
              <a:t>(*ba2</a:t>
            </a:r>
            <a:r>
              <a:rPr lang="en-US" altLang="zh-CN" dirty="0"/>
              <a:t>);   b.b1</a:t>
            </a:r>
            <a:r>
              <a:rPr lang="en-US" altLang="zh-CN" dirty="0" smtClean="0"/>
              <a:t>();</a:t>
            </a:r>
          </a:p>
          <a:p>
            <a:r>
              <a:rPr lang="en-US" altLang="zh-CN" dirty="0" smtClean="0"/>
              <a:t>}</a:t>
            </a:r>
            <a:endParaRPr lang="en-US" altLang="zh-CN" dirty="0"/>
          </a:p>
        </p:txBody>
      </p:sp>
    </p:spTree>
    <p:extLst>
      <p:ext uri="{BB962C8B-B14F-4D97-AF65-F5344CB8AC3E}">
        <p14:creationId xmlns:p14="http://schemas.microsoft.com/office/powerpoint/2010/main" val="7652495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00CC"/>
                </a:solidFill>
                <a:latin typeface="楷体_GB2312" pitchFamily="49" charset="-122"/>
                <a:ea typeface="楷体_GB2312" pitchFamily="49" charset="-122"/>
              </a:rPr>
              <a:t>可变性封装的</a:t>
            </a:r>
            <a:r>
              <a:rPr lang="zh-CN" altLang="en-US"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rmAutofit/>
          </a:bodyPr>
          <a:lstStyle/>
          <a:p>
            <a:r>
              <a:rPr lang="zh-CN" altLang="zh-CN" dirty="0"/>
              <a:t>即找到一个系统的可变因素，将之封装起来。换言之，</a:t>
            </a:r>
            <a:r>
              <a:rPr lang="zh-CN" altLang="zh-CN" dirty="0" smtClean="0"/>
              <a:t>在设计</a:t>
            </a:r>
            <a:r>
              <a:rPr lang="zh-CN" altLang="zh-CN" dirty="0"/>
              <a:t>中什么可能会发生变化，应使之成为抽象层而封装，而不是什么会导致设计改变才封装。</a:t>
            </a:r>
            <a:r>
              <a:rPr lang="en-US" altLang="zh-CN" dirty="0"/>
              <a:t> </a:t>
            </a:r>
            <a:endParaRPr lang="zh-CN" altLang="zh-CN" dirty="0"/>
          </a:p>
          <a:p>
            <a:endParaRPr lang="zh-CN" altLang="en-US" dirty="0"/>
          </a:p>
        </p:txBody>
      </p:sp>
    </p:spTree>
    <p:extLst>
      <p:ext uri="{BB962C8B-B14F-4D97-AF65-F5344CB8AC3E}">
        <p14:creationId xmlns:p14="http://schemas.microsoft.com/office/powerpoint/2010/main" val="9625339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可变性封装的</a:t>
            </a:r>
            <a:r>
              <a:rPr lang="zh-CN" altLang="en-US" b="1" dirty="0" smtClean="0">
                <a:solidFill>
                  <a:srgbClr val="0000CC"/>
                </a:solidFill>
                <a:latin typeface="楷体_GB2312" pitchFamily="49" charset="-122"/>
                <a:ea typeface="楷体_GB2312" pitchFamily="49" charset="-122"/>
              </a:rPr>
              <a:t>原则（续）</a:t>
            </a:r>
            <a:endParaRPr lang="zh-CN" altLang="en-US" dirty="0"/>
          </a:p>
        </p:txBody>
      </p:sp>
      <p:sp>
        <p:nvSpPr>
          <p:cNvPr id="3" name="内容占位符 2"/>
          <p:cNvSpPr>
            <a:spLocks noGrp="1"/>
          </p:cNvSpPr>
          <p:nvPr>
            <p:ph idx="1"/>
          </p:nvPr>
        </p:nvSpPr>
        <p:spPr/>
        <p:txBody>
          <a:bodyPr>
            <a:normAutofit/>
          </a:bodyPr>
          <a:lstStyle/>
          <a:p>
            <a:r>
              <a:rPr lang="en-US" altLang="zh-CN" sz="2800" dirty="0"/>
              <a:t>“</a:t>
            </a:r>
            <a:r>
              <a:rPr lang="zh-CN" altLang="zh-CN" sz="2800" dirty="0"/>
              <a:t>对可变性的封装原则</a:t>
            </a:r>
            <a:r>
              <a:rPr lang="en-US" altLang="zh-CN" sz="2800" dirty="0"/>
              <a:t>”</a:t>
            </a:r>
            <a:r>
              <a:rPr lang="zh-CN" altLang="zh-CN" sz="2800" dirty="0"/>
              <a:t>意味着：</a:t>
            </a:r>
            <a:r>
              <a:rPr lang="en-US" altLang="zh-CN" sz="2800" dirty="0"/>
              <a:t> </a:t>
            </a:r>
            <a:endParaRPr lang="zh-CN" altLang="zh-CN" sz="2800" dirty="0"/>
          </a:p>
          <a:p>
            <a:pPr marL="0" lvl="0" indent="0">
              <a:buNone/>
            </a:pPr>
            <a:r>
              <a:rPr lang="en-US" altLang="zh-CN" sz="2800" dirty="0" smtClean="0"/>
              <a:t>a)</a:t>
            </a:r>
            <a:r>
              <a:rPr lang="zh-CN" altLang="zh-CN" sz="2800" dirty="0" smtClean="0"/>
              <a:t>一</a:t>
            </a:r>
            <a:r>
              <a:rPr lang="zh-CN" altLang="zh-CN" sz="2800" dirty="0"/>
              <a:t>种可变性不应当散落在代码的许多角落，而应当被封装到一个对象里面</a:t>
            </a:r>
            <a:r>
              <a:rPr lang="zh-CN" altLang="zh-CN" sz="2800" dirty="0" smtClean="0"/>
              <a:t>。</a:t>
            </a:r>
            <a:endParaRPr lang="en-US" altLang="zh-CN" sz="2800" dirty="0" smtClean="0"/>
          </a:p>
          <a:p>
            <a:pPr lvl="1" indent="-342900"/>
            <a:r>
              <a:rPr lang="zh-CN" altLang="zh-CN" sz="2400" dirty="0" smtClean="0"/>
              <a:t>同</a:t>
            </a:r>
            <a:r>
              <a:rPr lang="zh-CN" altLang="zh-CN" sz="2400" dirty="0"/>
              <a:t>一可变性的不同表象意味着同一个继承等级结构中的具体子类</a:t>
            </a:r>
            <a:r>
              <a:rPr lang="zh-CN" altLang="zh-CN" sz="2400" dirty="0" smtClean="0"/>
              <a:t>。</a:t>
            </a:r>
            <a:endParaRPr lang="en-US" altLang="zh-CN" sz="2400" dirty="0" smtClean="0"/>
          </a:p>
          <a:p>
            <a:pPr lvl="1" indent="-342900"/>
            <a:r>
              <a:rPr lang="zh-CN" altLang="zh-CN" sz="2400" dirty="0" smtClean="0"/>
              <a:t>因此</a:t>
            </a:r>
            <a:r>
              <a:rPr lang="zh-CN" altLang="zh-CN" sz="2400" dirty="0"/>
              <a:t>，此处可以期待继承关系的出现。继承是封装变化的方法，而不仅仅是从一般的对象生成特殊的对象。 </a:t>
            </a:r>
          </a:p>
          <a:p>
            <a:endParaRPr lang="zh-CN" altLang="en-US" sz="2800" dirty="0"/>
          </a:p>
        </p:txBody>
      </p:sp>
    </p:spTree>
    <p:extLst>
      <p:ext uri="{BB962C8B-B14F-4D97-AF65-F5344CB8AC3E}">
        <p14:creationId xmlns:p14="http://schemas.microsoft.com/office/powerpoint/2010/main" val="16126766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CC"/>
                </a:solidFill>
                <a:latin typeface="楷体_GB2312" pitchFamily="49" charset="-122"/>
                <a:ea typeface="楷体_GB2312" pitchFamily="49" charset="-122"/>
              </a:rPr>
              <a:t>可变性封装的原则（续）</a:t>
            </a:r>
            <a:endParaRPr lang="zh-CN" altLang="en-US" dirty="0"/>
          </a:p>
        </p:txBody>
      </p:sp>
      <p:sp>
        <p:nvSpPr>
          <p:cNvPr id="3" name="内容占位符 2"/>
          <p:cNvSpPr>
            <a:spLocks noGrp="1"/>
          </p:cNvSpPr>
          <p:nvPr>
            <p:ph idx="1"/>
          </p:nvPr>
        </p:nvSpPr>
        <p:spPr/>
        <p:txBody>
          <a:bodyPr>
            <a:normAutofit/>
          </a:bodyPr>
          <a:lstStyle/>
          <a:p>
            <a:r>
              <a:rPr lang="en-US" altLang="zh-CN" sz="2800" dirty="0"/>
              <a:t>“</a:t>
            </a:r>
            <a:r>
              <a:rPr lang="zh-CN" altLang="zh-CN" sz="2800" dirty="0"/>
              <a:t>对可变性的封装原则</a:t>
            </a:r>
            <a:r>
              <a:rPr lang="en-US" altLang="zh-CN" sz="2800" dirty="0"/>
              <a:t>”</a:t>
            </a:r>
            <a:r>
              <a:rPr lang="zh-CN" altLang="zh-CN" sz="2800" dirty="0"/>
              <a:t>意味着：</a:t>
            </a:r>
            <a:r>
              <a:rPr lang="en-US" altLang="zh-CN" sz="2800" dirty="0"/>
              <a:t> </a:t>
            </a:r>
            <a:endParaRPr lang="zh-CN" altLang="zh-CN" sz="2800" dirty="0"/>
          </a:p>
          <a:p>
            <a:pPr marL="0" indent="0">
              <a:buNone/>
            </a:pPr>
            <a:r>
              <a:rPr lang="en-US" altLang="zh-CN" sz="2800" dirty="0" smtClean="0"/>
              <a:t>b</a:t>
            </a:r>
            <a:r>
              <a:rPr lang="en-US" altLang="zh-CN" sz="2800" dirty="0"/>
              <a:t>)</a:t>
            </a:r>
            <a:r>
              <a:rPr lang="zh-CN" altLang="zh-CN" sz="2800" dirty="0"/>
              <a:t>一种可变性不应当与另一种可变性混合在一起</a:t>
            </a:r>
            <a:r>
              <a:rPr lang="zh-CN" altLang="zh-CN" sz="2800" dirty="0" smtClean="0"/>
              <a:t>。</a:t>
            </a:r>
            <a:endParaRPr lang="en-US" altLang="zh-CN" sz="2800" dirty="0" smtClean="0"/>
          </a:p>
          <a:p>
            <a:pPr lvl="1" indent="-342900"/>
            <a:r>
              <a:rPr lang="zh-CN" altLang="zh-CN" sz="2400" dirty="0" smtClean="0"/>
              <a:t>类</a:t>
            </a:r>
            <a:r>
              <a:rPr lang="zh-CN" altLang="zh-CN" sz="2400" dirty="0"/>
              <a:t>图的继承结构如果超过两层，很可能意味着两种不同的可变性混合在了一起</a:t>
            </a:r>
            <a:r>
              <a:rPr lang="zh-CN" altLang="zh-CN" sz="2400" dirty="0" smtClean="0"/>
              <a:t>。</a:t>
            </a:r>
            <a:endParaRPr lang="en-US" altLang="zh-CN" sz="2400" dirty="0" smtClean="0"/>
          </a:p>
          <a:p>
            <a:pPr lvl="1" indent="-342900"/>
            <a:r>
              <a:rPr lang="zh-CN" altLang="zh-CN" sz="2400" dirty="0" smtClean="0"/>
              <a:t>使用</a:t>
            </a:r>
            <a:r>
              <a:rPr lang="en-US" altLang="zh-CN" sz="2400" dirty="0"/>
              <a:t>“</a:t>
            </a:r>
            <a:r>
              <a:rPr lang="zh-CN" altLang="zh-CN" sz="2400" dirty="0"/>
              <a:t>可变性封装原则</a:t>
            </a:r>
            <a:r>
              <a:rPr lang="en-US" altLang="zh-CN" sz="2400" dirty="0"/>
              <a:t>”</a:t>
            </a:r>
            <a:r>
              <a:rPr lang="zh-CN" altLang="zh-CN" sz="2400" dirty="0"/>
              <a:t>来进行设计可以使系统遵守</a:t>
            </a:r>
            <a:r>
              <a:rPr lang="en-US" altLang="zh-CN" sz="2400" dirty="0"/>
              <a:t>“</a:t>
            </a:r>
            <a:r>
              <a:rPr lang="zh-CN" altLang="zh-CN" sz="2400" dirty="0"/>
              <a:t>开</a:t>
            </a:r>
            <a:r>
              <a:rPr lang="en-US" altLang="zh-CN" sz="2400" dirty="0"/>
              <a:t>-</a:t>
            </a:r>
            <a:r>
              <a:rPr lang="zh-CN" altLang="zh-CN" sz="2400" dirty="0"/>
              <a:t>闭</a:t>
            </a:r>
            <a:r>
              <a:rPr lang="en-US" altLang="zh-CN" sz="2400" dirty="0"/>
              <a:t>”</a:t>
            </a:r>
            <a:r>
              <a:rPr lang="zh-CN" altLang="zh-CN" sz="2400" dirty="0"/>
              <a:t>原则。即使无法百分之百的做到</a:t>
            </a:r>
            <a:r>
              <a:rPr lang="en-US" altLang="zh-CN" sz="2400" dirty="0"/>
              <a:t>“</a:t>
            </a:r>
            <a:r>
              <a:rPr lang="zh-CN" altLang="zh-CN" sz="2400" dirty="0"/>
              <a:t>开</a:t>
            </a:r>
            <a:r>
              <a:rPr lang="en-US" altLang="zh-CN" sz="2400" dirty="0"/>
              <a:t>-</a:t>
            </a:r>
            <a:r>
              <a:rPr lang="zh-CN" altLang="zh-CN" sz="2400" dirty="0"/>
              <a:t>闭</a:t>
            </a:r>
            <a:r>
              <a:rPr lang="en-US" altLang="zh-CN" sz="2400" dirty="0"/>
              <a:t>”</a:t>
            </a:r>
            <a:r>
              <a:rPr lang="zh-CN" altLang="zh-CN" sz="2400" dirty="0"/>
              <a:t>原则，但朝这个方向努力，可以显著改善一个系统的结构。 </a:t>
            </a:r>
          </a:p>
          <a:p>
            <a:endParaRPr lang="zh-CN" altLang="en-US" sz="2800" dirty="0"/>
          </a:p>
        </p:txBody>
      </p:sp>
      <p:sp>
        <p:nvSpPr>
          <p:cNvPr id="4" name="矩形 3"/>
          <p:cNvSpPr/>
          <p:nvPr/>
        </p:nvSpPr>
        <p:spPr>
          <a:xfrm>
            <a:off x="1115616" y="4581128"/>
            <a:ext cx="4572000" cy="646331"/>
          </a:xfrm>
          <a:prstGeom prst="rect">
            <a:avLst/>
          </a:prstGeom>
        </p:spPr>
        <p:txBody>
          <a:bodyPr>
            <a:spAutoFit/>
          </a:bodyPr>
          <a:lstStyle/>
          <a:p>
            <a:r>
              <a:rPr lang="en-US" altLang="zh-CN" dirty="0"/>
              <a:t>Class  A</a:t>
            </a:r>
          </a:p>
          <a:p>
            <a:r>
              <a:rPr lang="en-US" altLang="zh-CN" dirty="0"/>
              <a:t>{ </a:t>
            </a:r>
            <a:r>
              <a:rPr lang="en-US" altLang="zh-CN" dirty="0" err="1"/>
              <a:t>int</a:t>
            </a:r>
            <a:r>
              <a:rPr lang="en-US" altLang="zh-CN" dirty="0"/>
              <a:t> a; void f1();void f2();   </a:t>
            </a:r>
            <a:r>
              <a:rPr lang="en-US" altLang="zh-CN" dirty="0" smtClean="0"/>
              <a:t>}</a:t>
            </a:r>
            <a:endParaRPr lang="en-US" altLang="zh-CN" dirty="0"/>
          </a:p>
        </p:txBody>
      </p:sp>
      <p:sp>
        <p:nvSpPr>
          <p:cNvPr id="5" name="矩形 4"/>
          <p:cNvSpPr/>
          <p:nvPr/>
        </p:nvSpPr>
        <p:spPr>
          <a:xfrm>
            <a:off x="2699792" y="5365737"/>
            <a:ext cx="1800200" cy="646331"/>
          </a:xfrm>
          <a:prstGeom prst="rect">
            <a:avLst/>
          </a:prstGeom>
        </p:spPr>
        <p:txBody>
          <a:bodyPr wrap="square">
            <a:spAutoFit/>
          </a:bodyPr>
          <a:lstStyle/>
          <a:p>
            <a:r>
              <a:rPr lang="en-US" altLang="zh-CN" dirty="0">
                <a:solidFill>
                  <a:schemeClr val="accent3">
                    <a:lumMod val="75000"/>
                  </a:schemeClr>
                </a:solidFill>
              </a:rPr>
              <a:t>Class A2:A</a:t>
            </a:r>
          </a:p>
          <a:p>
            <a:r>
              <a:rPr lang="en-US" altLang="zh-CN" dirty="0">
                <a:solidFill>
                  <a:schemeClr val="accent3">
                    <a:lumMod val="75000"/>
                  </a:schemeClr>
                </a:solidFill>
              </a:rPr>
              <a:t>{void f1();}</a:t>
            </a:r>
          </a:p>
        </p:txBody>
      </p:sp>
      <p:sp>
        <p:nvSpPr>
          <p:cNvPr id="6" name="矩形 5"/>
          <p:cNvSpPr/>
          <p:nvPr/>
        </p:nvSpPr>
        <p:spPr>
          <a:xfrm>
            <a:off x="971600" y="5373216"/>
            <a:ext cx="1728192" cy="646331"/>
          </a:xfrm>
          <a:prstGeom prst="rect">
            <a:avLst/>
          </a:prstGeom>
        </p:spPr>
        <p:txBody>
          <a:bodyPr wrap="square">
            <a:spAutoFit/>
          </a:bodyPr>
          <a:lstStyle/>
          <a:p>
            <a:r>
              <a:rPr lang="en-US" altLang="zh-CN" dirty="0">
                <a:solidFill>
                  <a:srgbClr val="00B050"/>
                </a:solidFill>
              </a:rPr>
              <a:t>Class A1:A</a:t>
            </a:r>
          </a:p>
          <a:p>
            <a:r>
              <a:rPr lang="en-US" altLang="zh-CN" dirty="0">
                <a:solidFill>
                  <a:srgbClr val="00B050"/>
                </a:solidFill>
              </a:rPr>
              <a:t>{ void f1();}</a:t>
            </a:r>
          </a:p>
        </p:txBody>
      </p:sp>
    </p:spTree>
    <p:extLst>
      <p:ext uri="{BB962C8B-B14F-4D97-AF65-F5344CB8AC3E}">
        <p14:creationId xmlns:p14="http://schemas.microsoft.com/office/powerpoint/2010/main" val="267422483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solidFill>
                  <a:srgbClr val="0000CC"/>
                </a:solidFill>
                <a:latin typeface="楷体_GB2312" pitchFamily="49" charset="-122"/>
                <a:ea typeface="楷体_GB2312" pitchFamily="49" charset="-122"/>
              </a:rPr>
              <a:t>单一职责</a:t>
            </a:r>
            <a:r>
              <a:rPr lang="zh-CN" altLang="zh-CN" b="1" dirty="0" smtClean="0">
                <a:solidFill>
                  <a:srgbClr val="0000CC"/>
                </a:solidFill>
                <a:latin typeface="楷体_GB2312" pitchFamily="49" charset="-122"/>
                <a:ea typeface="楷体_GB2312" pitchFamily="49" charset="-122"/>
              </a:rPr>
              <a:t>原则</a:t>
            </a:r>
            <a:endParaRPr lang="zh-CN" altLang="en-US" dirty="0"/>
          </a:p>
        </p:txBody>
      </p:sp>
      <p:sp>
        <p:nvSpPr>
          <p:cNvPr id="3" name="内容占位符 2"/>
          <p:cNvSpPr>
            <a:spLocks noGrp="1"/>
          </p:cNvSpPr>
          <p:nvPr>
            <p:ph idx="1"/>
          </p:nvPr>
        </p:nvSpPr>
        <p:spPr/>
        <p:txBody>
          <a:bodyPr>
            <a:normAutofit/>
          </a:bodyPr>
          <a:lstStyle/>
          <a:p>
            <a:r>
              <a:rPr lang="zh-CN" altLang="zh-CN" sz="2800" dirty="0"/>
              <a:t>所谓单一职责原则，就是对一个类而言，应该仅有一个引起它变化的原因。换句话说，一个类的功能要单一，只做与它相关的事情。在类的设计过程中要按职责进行设计，彼此保持正交，互不干涉。</a:t>
            </a:r>
            <a:r>
              <a:rPr lang="en-US" altLang="zh-CN" sz="2800" dirty="0"/>
              <a:t> </a:t>
            </a:r>
            <a:endParaRPr lang="zh-CN" altLang="zh-CN" sz="2800" dirty="0"/>
          </a:p>
          <a:p>
            <a:endParaRPr lang="zh-CN" altLang="en-US" sz="2800"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146" t="32260" r="5337" b="16997"/>
          <a:stretch/>
        </p:blipFill>
        <p:spPr bwMode="auto">
          <a:xfrm>
            <a:off x="1979712" y="3429000"/>
            <a:ext cx="5410658" cy="332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2612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a typeface="楷体_GB2312" pitchFamily="49" charset="-122"/>
              </a:rPr>
              <a:t>6.3</a:t>
            </a:r>
            <a:r>
              <a:rPr lang="zh-CN" altLang="en-US" b="1" dirty="0">
                <a:ea typeface="楷体_GB2312" pitchFamily="49" charset="-122"/>
              </a:rPr>
              <a:t>设计模式</a:t>
            </a:r>
            <a:r>
              <a:rPr lang="zh-CN" altLang="en-US" b="1" dirty="0" smtClean="0">
                <a:ea typeface="楷体_GB2312" pitchFamily="49" charset="-122"/>
              </a:rPr>
              <a:t>分类</a:t>
            </a:r>
            <a:endParaRPr lang="zh-CN" altLang="en-US" dirty="0"/>
          </a:p>
        </p:txBody>
      </p:sp>
      <p:sp>
        <p:nvSpPr>
          <p:cNvPr id="3" name="内容占位符 2"/>
          <p:cNvSpPr>
            <a:spLocks noGrp="1"/>
          </p:cNvSpPr>
          <p:nvPr>
            <p:ph idx="1"/>
          </p:nvPr>
        </p:nvSpPr>
        <p:spPr/>
        <p:txBody>
          <a:bodyPr>
            <a:normAutofit/>
          </a:bodyPr>
          <a:lstStyle/>
          <a:p>
            <a:r>
              <a:rPr lang="zh-CN" altLang="zh-CN" sz="2800" dirty="0"/>
              <a:t>狭义的设计模式是指</a:t>
            </a:r>
            <a:r>
              <a:rPr lang="en-US" altLang="zh-CN" sz="2800" dirty="0" err="1"/>
              <a:t>GoF</a:t>
            </a:r>
            <a:r>
              <a:rPr lang="zh-CN" altLang="zh-CN" sz="2800" dirty="0"/>
              <a:t>（</a:t>
            </a:r>
            <a:r>
              <a:rPr lang="en-US" altLang="zh-CN" sz="2800" dirty="0"/>
              <a:t>Gang of Four</a:t>
            </a:r>
            <a:r>
              <a:rPr lang="zh-CN" altLang="zh-CN" sz="2800" dirty="0"/>
              <a:t>，分别是</a:t>
            </a:r>
            <a:r>
              <a:rPr lang="en-US" altLang="zh-CN" sz="2800" dirty="0"/>
              <a:t>Erich Gamma</a:t>
            </a:r>
            <a:r>
              <a:rPr lang="zh-CN" altLang="zh-CN" sz="2800" dirty="0"/>
              <a:t>、</a:t>
            </a:r>
            <a:r>
              <a:rPr lang="en-US" altLang="zh-CN" sz="2800" dirty="0"/>
              <a:t>Richard Helm</a:t>
            </a:r>
            <a:r>
              <a:rPr lang="zh-CN" altLang="zh-CN" sz="2800" dirty="0"/>
              <a:t>、</a:t>
            </a:r>
            <a:r>
              <a:rPr lang="en-US" altLang="zh-CN" sz="2800" dirty="0"/>
              <a:t>Ralph Johnson</a:t>
            </a:r>
            <a:r>
              <a:rPr lang="zh-CN" altLang="zh-CN" sz="2800" dirty="0"/>
              <a:t>和</a:t>
            </a:r>
            <a:r>
              <a:rPr lang="en-US" altLang="zh-CN" sz="2800" dirty="0"/>
              <a:t>John </a:t>
            </a:r>
            <a:r>
              <a:rPr lang="en-US" altLang="zh-CN" sz="2800" dirty="0" err="1"/>
              <a:t>Vlissides</a:t>
            </a:r>
            <a:r>
              <a:rPr lang="en-US" altLang="zh-CN" sz="2800" dirty="0"/>
              <a:t> </a:t>
            </a:r>
            <a:r>
              <a:rPr lang="en-US" altLang="zh-CN" sz="2800" dirty="0" smtClean="0"/>
              <a:t>4</a:t>
            </a:r>
            <a:r>
              <a:rPr lang="zh-CN" altLang="en-US" sz="2800" dirty="0" smtClean="0"/>
              <a:t>位</a:t>
            </a:r>
            <a:r>
              <a:rPr lang="zh-CN" altLang="zh-CN" sz="2800" dirty="0" smtClean="0"/>
              <a:t>著名</a:t>
            </a:r>
            <a:r>
              <a:rPr lang="zh-CN" altLang="zh-CN" sz="2800" dirty="0"/>
              <a:t>软件工程学者）在《设计模式：可复用面向对象软件的基础》一书中所介绍的</a:t>
            </a:r>
            <a:r>
              <a:rPr lang="en-US" altLang="zh-CN" sz="2800" dirty="0"/>
              <a:t>23</a:t>
            </a:r>
            <a:r>
              <a:rPr lang="zh-CN" altLang="zh-CN" sz="2800" dirty="0"/>
              <a:t>中经典设计模式。不过设计模式并不仅仅只有这</a:t>
            </a:r>
            <a:r>
              <a:rPr lang="en-US" altLang="zh-CN" sz="2800" dirty="0"/>
              <a:t>23</a:t>
            </a:r>
            <a:r>
              <a:rPr lang="zh-CN" altLang="zh-CN" sz="2800" dirty="0"/>
              <a:t>种，随着软件开发技术的发展，越来越多的新模式不断诞生并得以应用。本书将主要围绕</a:t>
            </a:r>
            <a:r>
              <a:rPr lang="en-US" altLang="zh-CN" sz="2800" dirty="0" err="1"/>
              <a:t>GoF</a:t>
            </a:r>
            <a:r>
              <a:rPr lang="en-US" altLang="zh-CN" sz="2800" dirty="0"/>
              <a:t> 23</a:t>
            </a:r>
            <a:r>
              <a:rPr lang="zh-CN" altLang="zh-CN" sz="2800" dirty="0"/>
              <a:t>种模式进行讲解。</a:t>
            </a:r>
          </a:p>
          <a:p>
            <a:r>
              <a:rPr lang="zh-CN" altLang="zh-CN" sz="2800" dirty="0"/>
              <a:t>常见</a:t>
            </a:r>
            <a:r>
              <a:rPr lang="en-US" altLang="zh-CN" sz="2800" dirty="0"/>
              <a:t>23</a:t>
            </a:r>
            <a:r>
              <a:rPr lang="zh-CN" altLang="zh-CN" sz="2800" dirty="0"/>
              <a:t>种模式概述：</a:t>
            </a:r>
            <a:endParaRPr lang="zh-CN" altLang="en-US" sz="2800" dirty="0"/>
          </a:p>
        </p:txBody>
      </p:sp>
    </p:spTree>
    <p:extLst>
      <p:ext uri="{BB962C8B-B14F-4D97-AF65-F5344CB8AC3E}">
        <p14:creationId xmlns:p14="http://schemas.microsoft.com/office/powerpoint/2010/main" val="9710573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b="1" dirty="0" smtClean="0">
                <a:solidFill>
                  <a:schemeClr val="accent2"/>
                </a:solidFill>
                <a:ea typeface="楷体_GB2312" pitchFamily="49" charset="-122"/>
              </a:rPr>
              <a:t>设计模式目录</a:t>
            </a:r>
          </a:p>
        </p:txBody>
      </p:sp>
      <p:sp>
        <p:nvSpPr>
          <p:cNvPr id="22531" name="Rectangle 3"/>
          <p:cNvSpPr>
            <a:spLocks noGrp="1" noChangeArrowheads="1"/>
          </p:cNvSpPr>
          <p:nvPr>
            <p:ph type="body" idx="1"/>
          </p:nvPr>
        </p:nvSpPr>
        <p:spPr>
          <a:xfrm>
            <a:off x="457200" y="1600200"/>
            <a:ext cx="8458200" cy="4525963"/>
          </a:xfrm>
        </p:spPr>
        <p:txBody>
          <a:bodyPr/>
          <a:lstStyle/>
          <a:p>
            <a:pPr eaLnBrk="1" hangingPunct="1"/>
            <a:r>
              <a:rPr lang="zh-CN" altLang="zh-CN" b="1" smtClean="0">
                <a:solidFill>
                  <a:srgbClr val="0000CC"/>
                </a:solidFill>
                <a:ea typeface="楷体_GB2312" pitchFamily="49" charset="-122"/>
              </a:rPr>
              <a:t>Abstract Factory</a:t>
            </a:r>
            <a:r>
              <a:rPr lang="zh-CN" altLang="en-US" b="1" smtClean="0">
                <a:solidFill>
                  <a:srgbClr val="0000CC"/>
                </a:solidFill>
                <a:ea typeface="楷体_GB2312" pitchFamily="49" charset="-122"/>
              </a:rPr>
              <a:t>（抽象工厂）</a:t>
            </a:r>
            <a:r>
              <a:rPr lang="zh-CN" altLang="zh-CN" b="1" smtClean="0">
                <a:ea typeface="楷体_GB2312" pitchFamily="49" charset="-122"/>
              </a:rPr>
              <a:t>：提供一个创建一系列相关或相互依赖对象的接口，而无需指定它们具体的类。</a:t>
            </a:r>
            <a:endParaRPr lang="zh-CN" altLang="en-US" b="1" smtClean="0">
              <a:ea typeface="楷体_GB2312" pitchFamily="49" charset="-122"/>
            </a:endParaRPr>
          </a:p>
          <a:p>
            <a:pPr eaLnBrk="1" hangingPunct="1"/>
            <a:endParaRPr lang="zh-CN" altLang="en-US" smtClean="0"/>
          </a:p>
          <a:p>
            <a:pPr eaLnBrk="1" hangingPunct="1"/>
            <a:r>
              <a:rPr lang="en-US" altLang="zh-CN" b="1" smtClean="0">
                <a:solidFill>
                  <a:srgbClr val="0000CC"/>
                </a:solidFill>
                <a:ea typeface="楷体_GB2312" pitchFamily="49" charset="-122"/>
              </a:rPr>
              <a:t>Adapter</a:t>
            </a:r>
            <a:r>
              <a:rPr lang="zh-CN" altLang="en-US" b="1" smtClean="0">
                <a:solidFill>
                  <a:srgbClr val="0000CC"/>
                </a:solidFill>
                <a:ea typeface="楷体_GB2312" pitchFamily="49" charset="-122"/>
              </a:rPr>
              <a:t>（适配器）</a:t>
            </a:r>
            <a:r>
              <a:rPr lang="zh-CN" altLang="en-US" b="1" smtClean="0">
                <a:ea typeface="楷体_GB2312" pitchFamily="49" charset="-122"/>
              </a:rPr>
              <a:t> ：将一个类的接口转换成客户希望的另外一个接口。</a:t>
            </a:r>
            <a:r>
              <a:rPr lang="en-US" altLang="zh-CN" b="1" smtClean="0">
                <a:ea typeface="楷体_GB2312" pitchFamily="49" charset="-122"/>
              </a:rPr>
              <a:t>Adapter</a:t>
            </a:r>
            <a:r>
              <a:rPr lang="zh-CN" altLang="en-US" b="1" smtClean="0">
                <a:ea typeface="楷体_GB2312" pitchFamily="49" charset="-122"/>
              </a:rPr>
              <a:t>模式使得原本由于接口不兼容而不能一起工作的那些类可以一起工作。</a:t>
            </a:r>
          </a:p>
        </p:txBody>
      </p:sp>
    </p:spTree>
    <p:extLst>
      <p:ext uri="{BB962C8B-B14F-4D97-AF65-F5344CB8AC3E}">
        <p14:creationId xmlns:p14="http://schemas.microsoft.com/office/powerpoint/2010/main" val="23923495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3555" name="Rectangle 3"/>
          <p:cNvSpPr>
            <a:spLocks noGrp="1" noChangeArrowheads="1"/>
          </p:cNvSpPr>
          <p:nvPr>
            <p:ph type="body" idx="1"/>
          </p:nvPr>
        </p:nvSpPr>
        <p:spPr>
          <a:xfrm>
            <a:off x="457200" y="1600200"/>
            <a:ext cx="8458200" cy="4525963"/>
          </a:xfrm>
        </p:spPr>
        <p:txBody>
          <a:bodyPr/>
          <a:lstStyle/>
          <a:p>
            <a:pPr eaLnBrk="1" hangingPunct="1">
              <a:spcBef>
                <a:spcPct val="50000"/>
              </a:spcBef>
            </a:pPr>
            <a:r>
              <a:rPr lang="en-US" altLang="zh-CN" sz="2800" b="1" smtClean="0">
                <a:solidFill>
                  <a:srgbClr val="0000CC"/>
                </a:solidFill>
                <a:ea typeface="楷体_GB2312" pitchFamily="49" charset="-122"/>
              </a:rPr>
              <a:t>Bridge</a:t>
            </a:r>
            <a:r>
              <a:rPr lang="zh-CN" altLang="en-US" sz="2800" b="1" smtClean="0">
                <a:solidFill>
                  <a:srgbClr val="0000CC"/>
                </a:solidFill>
                <a:ea typeface="楷体_GB2312" pitchFamily="49" charset="-122"/>
              </a:rPr>
              <a:t>（桥）</a:t>
            </a:r>
            <a:r>
              <a:rPr lang="zh-CN" altLang="en-US" sz="2800" b="1" smtClean="0">
                <a:ea typeface="楷体_GB2312" pitchFamily="49" charset="-122"/>
              </a:rPr>
              <a:t>：将抽象部分与它的实现部分分离，使它们都可以独立地变化。</a:t>
            </a:r>
          </a:p>
          <a:p>
            <a:pPr eaLnBrk="1" hangingPunct="1">
              <a:spcBef>
                <a:spcPct val="50000"/>
              </a:spcBef>
            </a:pPr>
            <a:r>
              <a:rPr lang="en-US" altLang="zh-CN" sz="2800" b="1" smtClean="0">
                <a:solidFill>
                  <a:srgbClr val="0000CC"/>
                </a:solidFill>
                <a:ea typeface="楷体_GB2312" pitchFamily="49" charset="-122"/>
              </a:rPr>
              <a:t>Builder</a:t>
            </a:r>
            <a:r>
              <a:rPr lang="zh-CN" altLang="en-US" sz="2800" b="1" smtClean="0">
                <a:solidFill>
                  <a:srgbClr val="0000CC"/>
                </a:solidFill>
                <a:ea typeface="楷体_GB2312" pitchFamily="49" charset="-122"/>
              </a:rPr>
              <a:t>（生成器）</a:t>
            </a:r>
            <a:r>
              <a:rPr lang="zh-CN" altLang="en-US" sz="2800" b="1" smtClean="0">
                <a:ea typeface="楷体_GB2312" pitchFamily="49" charset="-122"/>
              </a:rPr>
              <a:t>：将一个复杂对象的构建与它的表示分离，使得同样的构建过程可以创建不同的表示。</a:t>
            </a:r>
          </a:p>
          <a:p>
            <a:pPr eaLnBrk="1" hangingPunct="1">
              <a:spcBef>
                <a:spcPct val="50000"/>
              </a:spcBef>
            </a:pPr>
            <a:r>
              <a:rPr lang="en-US" altLang="zh-CN" sz="2800" b="1" smtClean="0">
                <a:solidFill>
                  <a:srgbClr val="0000CC"/>
                </a:solidFill>
                <a:ea typeface="楷体_GB2312" pitchFamily="49" charset="-122"/>
              </a:rPr>
              <a:t>Chain of Responsibility</a:t>
            </a:r>
            <a:r>
              <a:rPr lang="zh-CN" altLang="en-US" sz="2800" b="1" smtClean="0">
                <a:solidFill>
                  <a:srgbClr val="0000CC"/>
                </a:solidFill>
                <a:ea typeface="楷体_GB2312" pitchFamily="49" charset="-122"/>
              </a:rPr>
              <a:t>（职责链）</a:t>
            </a:r>
            <a:r>
              <a:rPr lang="zh-CN" altLang="en-US" sz="2800" b="1" smtClean="0">
                <a:ea typeface="楷体_GB2312" pitchFamily="49" charset="-122"/>
              </a:rPr>
              <a:t>：为解除请求的发送者和接收者之间耦合，而使多个对象都有机会处理这个请求。将这些对象连成一条链，并沿着这条链传递该请求，直到有一个对象处理它。</a:t>
            </a:r>
          </a:p>
        </p:txBody>
      </p:sp>
    </p:spTree>
    <p:extLst>
      <p:ext uri="{BB962C8B-B14F-4D97-AF65-F5344CB8AC3E}">
        <p14:creationId xmlns:p14="http://schemas.microsoft.com/office/powerpoint/2010/main" val="38555145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4579" name="Rectangle 3"/>
          <p:cNvSpPr>
            <a:spLocks noGrp="1" noChangeArrowheads="1"/>
          </p:cNvSpPr>
          <p:nvPr>
            <p:ph type="body" idx="1"/>
          </p:nvPr>
        </p:nvSpPr>
        <p:spPr>
          <a:xfrm>
            <a:off x="457200" y="1600200"/>
            <a:ext cx="8458200" cy="4525963"/>
          </a:xfrm>
        </p:spPr>
        <p:txBody>
          <a:bodyPr/>
          <a:lstStyle/>
          <a:p>
            <a:pPr eaLnBrk="1" hangingPunct="1">
              <a:lnSpc>
                <a:spcPct val="90000"/>
              </a:lnSpc>
              <a:spcBef>
                <a:spcPct val="50000"/>
              </a:spcBef>
            </a:pPr>
            <a:r>
              <a:rPr lang="en-US" altLang="en-US" sz="2800" b="1" smtClean="0">
                <a:solidFill>
                  <a:srgbClr val="0000CC"/>
                </a:solidFill>
                <a:ea typeface="楷体_GB2312" pitchFamily="49" charset="-122"/>
              </a:rPr>
              <a:t>Command</a:t>
            </a:r>
            <a:r>
              <a:rPr lang="zh-CN" altLang="en-US" sz="2800" b="1" smtClean="0">
                <a:solidFill>
                  <a:srgbClr val="0000CC"/>
                </a:solidFill>
                <a:ea typeface="楷体_GB2312" pitchFamily="49" charset="-122"/>
              </a:rPr>
              <a:t>（命令）</a:t>
            </a:r>
            <a:r>
              <a:rPr lang="zh-CN" altLang="en-US" sz="2800" b="1" smtClean="0">
                <a:ea typeface="楷体_GB2312" pitchFamily="49" charset="-122"/>
              </a:rPr>
              <a:t>：</a:t>
            </a:r>
            <a:r>
              <a:rPr lang="en-US" altLang="en-US" sz="2800" b="1" smtClean="0">
                <a:ea typeface="楷体_GB2312" pitchFamily="49" charset="-122"/>
              </a:rPr>
              <a:t>将一个请求封装为一个对象，从而使你可用不同的请求对客户进行参数化；对请求排队或记录请求日志，以及支持可取消的操作。</a:t>
            </a:r>
          </a:p>
          <a:p>
            <a:pPr eaLnBrk="1" hangingPunct="1">
              <a:lnSpc>
                <a:spcPct val="90000"/>
              </a:lnSpc>
              <a:spcBef>
                <a:spcPct val="50000"/>
              </a:spcBef>
            </a:pPr>
            <a:r>
              <a:rPr lang="en-US" altLang="en-US" sz="2800" b="1" smtClean="0">
                <a:solidFill>
                  <a:srgbClr val="0000CC"/>
                </a:solidFill>
                <a:ea typeface="楷体_GB2312" pitchFamily="49" charset="-122"/>
              </a:rPr>
              <a:t>Composite</a:t>
            </a:r>
            <a:r>
              <a:rPr lang="zh-CN" altLang="en-US" sz="2800" b="1" smtClean="0">
                <a:solidFill>
                  <a:srgbClr val="0000CC"/>
                </a:solidFill>
                <a:ea typeface="楷体_GB2312" pitchFamily="49" charset="-122"/>
              </a:rPr>
              <a:t>（组合）</a:t>
            </a:r>
            <a:r>
              <a:rPr lang="zh-CN" altLang="en-US" sz="2800" b="1" smtClean="0">
                <a:ea typeface="楷体_GB2312" pitchFamily="49" charset="-122"/>
              </a:rPr>
              <a:t>：</a:t>
            </a:r>
            <a:r>
              <a:rPr lang="en-US" altLang="en-US" sz="2800" b="1" smtClean="0">
                <a:ea typeface="楷体_GB2312" pitchFamily="49" charset="-122"/>
              </a:rPr>
              <a:t>将对象组合成树形结构以表示“部分-整体”的层次结构。Composite使得客户对单个对象和复合对象的使用具有一致性。</a:t>
            </a:r>
          </a:p>
          <a:p>
            <a:pPr eaLnBrk="1" hangingPunct="1">
              <a:lnSpc>
                <a:spcPct val="90000"/>
              </a:lnSpc>
              <a:spcBef>
                <a:spcPct val="50000"/>
              </a:spcBef>
            </a:pPr>
            <a:r>
              <a:rPr lang="en-US" altLang="en-US" sz="2800" b="1" smtClean="0">
                <a:solidFill>
                  <a:srgbClr val="0000CC"/>
                </a:solidFill>
                <a:ea typeface="楷体_GB2312" pitchFamily="49" charset="-122"/>
              </a:rPr>
              <a:t>Decorator</a:t>
            </a:r>
            <a:r>
              <a:rPr lang="zh-CN" altLang="en-US" sz="2800" b="1" smtClean="0">
                <a:solidFill>
                  <a:srgbClr val="0000CC"/>
                </a:solidFill>
                <a:ea typeface="楷体_GB2312" pitchFamily="49" charset="-122"/>
              </a:rPr>
              <a:t>（装饰）</a:t>
            </a:r>
            <a:r>
              <a:rPr lang="zh-CN" altLang="en-US" sz="2800" b="1" smtClean="0">
                <a:ea typeface="楷体_GB2312" pitchFamily="49" charset="-122"/>
              </a:rPr>
              <a:t>：</a:t>
            </a:r>
            <a:r>
              <a:rPr lang="en-US" altLang="en-US" sz="2800" b="1" smtClean="0">
                <a:ea typeface="楷体_GB2312" pitchFamily="49" charset="-122"/>
              </a:rPr>
              <a:t>动态地给一个对象添加一些额外的职责。就扩展功能而言， Decorator</a:t>
            </a:r>
            <a:r>
              <a:rPr lang="en-US" altLang="zh-CN" sz="2800" b="1" smtClean="0">
                <a:ea typeface="楷体_GB2312" pitchFamily="49" charset="-122"/>
              </a:rPr>
              <a:t> </a:t>
            </a:r>
            <a:r>
              <a:rPr lang="en-US" altLang="en-US" sz="2800" b="1" smtClean="0">
                <a:ea typeface="楷体_GB2312" pitchFamily="49" charset="-122"/>
              </a:rPr>
              <a:t>模式比生成子类方式更为灵活。</a:t>
            </a:r>
            <a:endParaRPr lang="zh-CN" altLang="en-US" sz="2800" b="1" smtClean="0">
              <a:ea typeface="楷体_GB2312" pitchFamily="49" charset="-122"/>
            </a:endParaRPr>
          </a:p>
        </p:txBody>
      </p:sp>
    </p:spTree>
    <p:extLst>
      <p:ext uri="{BB962C8B-B14F-4D97-AF65-F5344CB8AC3E}">
        <p14:creationId xmlns:p14="http://schemas.microsoft.com/office/powerpoint/2010/main" val="40827026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5603" name="Rectangle 3"/>
          <p:cNvSpPr>
            <a:spLocks noGrp="1" noChangeArrowheads="1"/>
          </p:cNvSpPr>
          <p:nvPr>
            <p:ph type="body" idx="1"/>
          </p:nvPr>
        </p:nvSpPr>
        <p:spPr>
          <a:xfrm>
            <a:off x="228600" y="1600200"/>
            <a:ext cx="8686800" cy="4876800"/>
          </a:xfrm>
        </p:spPr>
        <p:txBody>
          <a:bodyPr/>
          <a:lstStyle/>
          <a:p>
            <a:pPr eaLnBrk="1" hangingPunct="1">
              <a:lnSpc>
                <a:spcPct val="80000"/>
              </a:lnSpc>
              <a:spcBef>
                <a:spcPct val="50000"/>
              </a:spcBef>
            </a:pPr>
            <a:r>
              <a:rPr lang="en-US" altLang="en-US" sz="2800" b="1" smtClean="0">
                <a:solidFill>
                  <a:srgbClr val="0000CC"/>
                </a:solidFill>
                <a:ea typeface="楷体_GB2312" pitchFamily="49" charset="-122"/>
              </a:rPr>
              <a:t>Façade</a:t>
            </a:r>
            <a:r>
              <a:rPr lang="zh-CN" altLang="en-US" sz="2800" b="1" smtClean="0">
                <a:solidFill>
                  <a:srgbClr val="0000CC"/>
                </a:solidFill>
                <a:ea typeface="楷体_GB2312" pitchFamily="49" charset="-122"/>
              </a:rPr>
              <a:t>（外观）</a:t>
            </a:r>
            <a:r>
              <a:rPr lang="zh-CN" altLang="en-US" sz="2800" b="1" smtClean="0">
                <a:ea typeface="楷体_GB2312" pitchFamily="49" charset="-122"/>
              </a:rPr>
              <a:t>：</a:t>
            </a:r>
            <a:r>
              <a:rPr lang="en-US" altLang="en-US" sz="2800" b="1" smtClean="0">
                <a:ea typeface="楷体_GB2312" pitchFamily="49" charset="-122"/>
              </a:rPr>
              <a:t>为子系统中的一组接口提供一个一致的界面， Façade</a:t>
            </a:r>
            <a:r>
              <a:rPr lang="en-US" altLang="zh-CN" sz="2800" b="1" smtClean="0">
                <a:ea typeface="楷体_GB2312" pitchFamily="49" charset="-122"/>
              </a:rPr>
              <a:t> </a:t>
            </a:r>
            <a:r>
              <a:rPr lang="en-US" altLang="en-US" sz="2800" b="1" smtClean="0">
                <a:ea typeface="楷体_GB2312" pitchFamily="49" charset="-122"/>
              </a:rPr>
              <a:t>模式定义了一个高层接口，这个接口使得这一子系统更加容易使用。</a:t>
            </a:r>
          </a:p>
          <a:p>
            <a:pPr eaLnBrk="1" hangingPunct="1">
              <a:lnSpc>
                <a:spcPct val="80000"/>
              </a:lnSpc>
              <a:spcBef>
                <a:spcPct val="50000"/>
              </a:spcBef>
            </a:pPr>
            <a:r>
              <a:rPr lang="en-US" altLang="en-US" sz="2800" b="1" smtClean="0">
                <a:solidFill>
                  <a:srgbClr val="0000CC"/>
                </a:solidFill>
                <a:ea typeface="楷体_GB2312" pitchFamily="49" charset="-122"/>
              </a:rPr>
              <a:t>Factory Method</a:t>
            </a:r>
            <a:r>
              <a:rPr lang="zh-CN" altLang="en-US" sz="2800" b="1" smtClean="0">
                <a:solidFill>
                  <a:srgbClr val="0000CC"/>
                </a:solidFill>
                <a:ea typeface="楷体_GB2312" pitchFamily="49" charset="-122"/>
              </a:rPr>
              <a:t>（工厂方法）</a:t>
            </a:r>
            <a:r>
              <a:rPr lang="zh-CN" altLang="en-US" sz="2800" b="1" smtClean="0">
                <a:ea typeface="楷体_GB2312" pitchFamily="49" charset="-122"/>
              </a:rPr>
              <a:t>：</a:t>
            </a:r>
            <a:r>
              <a:rPr lang="en-US" altLang="en-US" sz="2800" b="1" smtClean="0">
                <a:ea typeface="楷体_GB2312" pitchFamily="49" charset="-122"/>
              </a:rPr>
              <a:t>定义一个用于创建对象的接口，让子类决定将哪一个类实例化。Factory Method使一个类的实例化延迟到其子类。</a:t>
            </a:r>
          </a:p>
          <a:p>
            <a:pPr eaLnBrk="1" hangingPunct="1">
              <a:lnSpc>
                <a:spcPct val="80000"/>
              </a:lnSpc>
              <a:spcBef>
                <a:spcPct val="50000"/>
              </a:spcBef>
            </a:pPr>
            <a:r>
              <a:rPr lang="en-US" altLang="en-US" sz="2800" b="1" smtClean="0">
                <a:solidFill>
                  <a:srgbClr val="0000CC"/>
                </a:solidFill>
                <a:ea typeface="楷体_GB2312" pitchFamily="49" charset="-122"/>
              </a:rPr>
              <a:t>Flyw</a:t>
            </a:r>
            <a:r>
              <a:rPr lang="en-US" altLang="zh-CN" sz="2800" b="1" smtClean="0">
                <a:solidFill>
                  <a:srgbClr val="0000CC"/>
                </a:solidFill>
                <a:ea typeface="楷体_GB2312" pitchFamily="49" charset="-122"/>
              </a:rPr>
              <a:t>e</a:t>
            </a:r>
            <a:r>
              <a:rPr lang="en-US" altLang="en-US" sz="2800" b="1" smtClean="0">
                <a:solidFill>
                  <a:srgbClr val="0000CC"/>
                </a:solidFill>
                <a:ea typeface="楷体_GB2312" pitchFamily="49" charset="-122"/>
              </a:rPr>
              <a:t>ight</a:t>
            </a:r>
            <a:r>
              <a:rPr lang="zh-CN" altLang="en-US" sz="2800" b="1" smtClean="0">
                <a:solidFill>
                  <a:srgbClr val="0000CC"/>
                </a:solidFill>
                <a:ea typeface="楷体_GB2312" pitchFamily="49" charset="-122"/>
              </a:rPr>
              <a:t>（享元）</a:t>
            </a:r>
            <a:r>
              <a:rPr lang="zh-CN" altLang="en-US" sz="2800" b="1" smtClean="0">
                <a:ea typeface="楷体_GB2312" pitchFamily="49" charset="-122"/>
              </a:rPr>
              <a:t>：</a:t>
            </a:r>
            <a:r>
              <a:rPr lang="en-US" altLang="en-US" sz="2800" b="1" smtClean="0">
                <a:ea typeface="楷体_GB2312" pitchFamily="49" charset="-122"/>
              </a:rPr>
              <a:t>运用共享技术有效地支持大量细粒度的对象。</a:t>
            </a:r>
          </a:p>
          <a:p>
            <a:pPr eaLnBrk="1" hangingPunct="1">
              <a:lnSpc>
                <a:spcPct val="80000"/>
              </a:lnSpc>
              <a:spcBef>
                <a:spcPct val="50000"/>
              </a:spcBef>
            </a:pPr>
            <a:r>
              <a:rPr lang="en-US" altLang="en-US" sz="2800" b="1" smtClean="0">
                <a:solidFill>
                  <a:srgbClr val="0000CC"/>
                </a:solidFill>
                <a:ea typeface="楷体_GB2312" pitchFamily="49" charset="-122"/>
              </a:rPr>
              <a:t>Interpreter</a:t>
            </a:r>
            <a:r>
              <a:rPr lang="zh-CN" altLang="en-US" sz="2800" b="1" smtClean="0">
                <a:solidFill>
                  <a:srgbClr val="0000CC"/>
                </a:solidFill>
                <a:ea typeface="楷体_GB2312" pitchFamily="49" charset="-122"/>
              </a:rPr>
              <a:t>（解释器）</a:t>
            </a:r>
            <a:r>
              <a:rPr lang="zh-CN" altLang="en-US" sz="2800" b="1" smtClean="0">
                <a:ea typeface="楷体_GB2312" pitchFamily="49" charset="-122"/>
              </a:rPr>
              <a:t>：</a:t>
            </a:r>
            <a:r>
              <a:rPr lang="en-US" altLang="en-US" sz="2800" b="1" smtClean="0">
                <a:ea typeface="楷体_GB2312" pitchFamily="49" charset="-122"/>
              </a:rPr>
              <a:t>给定一个语言, 定义它的文法的一种表示，并定义一个解释器, 该解释器使用该表示来解释语言中的句子。</a:t>
            </a:r>
            <a:endParaRPr lang="zh-CN" altLang="en-US" sz="2800" b="1" smtClean="0">
              <a:ea typeface="楷体_GB2312" pitchFamily="49" charset="-122"/>
            </a:endParaRPr>
          </a:p>
        </p:txBody>
      </p:sp>
    </p:spTree>
    <p:extLst>
      <p:ext uri="{BB962C8B-B14F-4D97-AF65-F5344CB8AC3E}">
        <p14:creationId xmlns:p14="http://schemas.microsoft.com/office/powerpoint/2010/main" val="12691057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6627" name="Rectangle 3"/>
          <p:cNvSpPr>
            <a:spLocks noGrp="1" noChangeArrowheads="1"/>
          </p:cNvSpPr>
          <p:nvPr>
            <p:ph type="body" idx="1"/>
          </p:nvPr>
        </p:nvSpPr>
        <p:spPr>
          <a:xfrm>
            <a:off x="76200" y="1600200"/>
            <a:ext cx="8915400" cy="4525963"/>
          </a:xfrm>
        </p:spPr>
        <p:txBody>
          <a:bodyPr/>
          <a:lstStyle/>
          <a:p>
            <a:pPr eaLnBrk="1" hangingPunct="1">
              <a:spcBef>
                <a:spcPct val="50000"/>
              </a:spcBef>
            </a:pPr>
            <a:r>
              <a:rPr lang="en-US" altLang="en-US" sz="2800" b="1" smtClean="0">
                <a:solidFill>
                  <a:srgbClr val="0000CC"/>
                </a:solidFill>
                <a:ea typeface="楷体_GB2312" pitchFamily="49" charset="-122"/>
              </a:rPr>
              <a:t>Iterator</a:t>
            </a:r>
            <a:r>
              <a:rPr lang="zh-CN" altLang="en-US" sz="2800" b="1" smtClean="0">
                <a:solidFill>
                  <a:srgbClr val="0000CC"/>
                </a:solidFill>
                <a:ea typeface="楷体_GB2312" pitchFamily="49" charset="-122"/>
              </a:rPr>
              <a:t>（迭代器）</a:t>
            </a:r>
            <a:r>
              <a:rPr lang="zh-CN" altLang="en-US" sz="2800" b="1" smtClean="0">
                <a:ea typeface="楷体_GB2312" pitchFamily="49" charset="-122"/>
              </a:rPr>
              <a:t>：</a:t>
            </a:r>
            <a:r>
              <a:rPr lang="en-US" altLang="en-US" sz="2800" b="1" smtClean="0">
                <a:ea typeface="楷体_GB2312" pitchFamily="49" charset="-122"/>
              </a:rPr>
              <a:t>提供一种方法顺序访问一个聚合对象中各个元素, 而又不需暴露该对象的内部表示。</a:t>
            </a:r>
          </a:p>
          <a:p>
            <a:pPr eaLnBrk="1" hangingPunct="1">
              <a:spcBef>
                <a:spcPct val="50000"/>
              </a:spcBef>
            </a:pPr>
            <a:r>
              <a:rPr lang="en-US" altLang="en-US" sz="2800" b="1" smtClean="0">
                <a:solidFill>
                  <a:srgbClr val="0000CC"/>
                </a:solidFill>
                <a:ea typeface="楷体_GB2312" pitchFamily="49" charset="-122"/>
              </a:rPr>
              <a:t>Mediator</a:t>
            </a:r>
            <a:r>
              <a:rPr lang="zh-CN" altLang="en-US" sz="2800" b="1" smtClean="0">
                <a:solidFill>
                  <a:srgbClr val="0000CC"/>
                </a:solidFill>
                <a:ea typeface="楷体_GB2312" pitchFamily="49" charset="-122"/>
              </a:rPr>
              <a:t>（中介者）</a:t>
            </a:r>
            <a:r>
              <a:rPr lang="zh-CN" altLang="en-US" sz="2800" b="1" smtClean="0">
                <a:ea typeface="楷体_GB2312" pitchFamily="49" charset="-122"/>
              </a:rPr>
              <a:t>：</a:t>
            </a:r>
            <a:r>
              <a:rPr lang="en-US" altLang="en-US" sz="2800" b="1" smtClean="0">
                <a:ea typeface="楷体_GB2312" pitchFamily="49" charset="-122"/>
              </a:rPr>
              <a:t>用一个中介对象来封装一系列的对象交互。中介者使各对象不需要显式地相互引用，从而使其耦合松散，而且可以独立地改变它们之间的交互。</a:t>
            </a:r>
          </a:p>
          <a:p>
            <a:pPr eaLnBrk="1" hangingPunct="1">
              <a:spcBef>
                <a:spcPct val="50000"/>
              </a:spcBef>
            </a:pPr>
            <a:r>
              <a:rPr lang="en-US" altLang="en-US" sz="2800" b="1" smtClean="0">
                <a:solidFill>
                  <a:srgbClr val="0000CC"/>
                </a:solidFill>
                <a:ea typeface="楷体_GB2312" pitchFamily="49" charset="-122"/>
              </a:rPr>
              <a:t>Memento</a:t>
            </a:r>
            <a:r>
              <a:rPr lang="zh-CN" altLang="en-US" sz="2800" b="1" smtClean="0">
                <a:solidFill>
                  <a:srgbClr val="0000CC"/>
                </a:solidFill>
                <a:ea typeface="楷体_GB2312" pitchFamily="49" charset="-122"/>
              </a:rPr>
              <a:t>（备忘录）</a:t>
            </a:r>
            <a:r>
              <a:rPr lang="zh-CN" altLang="en-US" sz="2800" b="1" smtClean="0">
                <a:ea typeface="楷体_GB2312" pitchFamily="49" charset="-122"/>
              </a:rPr>
              <a:t>：</a:t>
            </a:r>
            <a:r>
              <a:rPr lang="en-US" altLang="en-US" sz="2800" b="1" smtClean="0">
                <a:ea typeface="楷体_GB2312" pitchFamily="49" charset="-122"/>
              </a:rPr>
              <a:t>在不破坏封装性的前提下，捕获一个对象的内部状态，并在该对象之外保存这个状态。这样以后就可将该对象恢复到保存的状态。</a:t>
            </a:r>
          </a:p>
        </p:txBody>
      </p:sp>
    </p:spTree>
    <p:extLst>
      <p:ext uri="{BB962C8B-B14F-4D97-AF65-F5344CB8AC3E}">
        <p14:creationId xmlns:p14="http://schemas.microsoft.com/office/powerpoint/2010/main" val="9574765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7651" name="Rectangle 3"/>
          <p:cNvSpPr>
            <a:spLocks noGrp="1" noChangeArrowheads="1"/>
          </p:cNvSpPr>
          <p:nvPr>
            <p:ph type="body" idx="1"/>
          </p:nvPr>
        </p:nvSpPr>
        <p:spPr>
          <a:xfrm>
            <a:off x="120650" y="1600200"/>
            <a:ext cx="8915400" cy="4525963"/>
          </a:xfrm>
        </p:spPr>
        <p:txBody>
          <a:bodyPr>
            <a:normAutofit lnSpcReduction="10000"/>
          </a:bodyPr>
          <a:lstStyle/>
          <a:p>
            <a:pPr eaLnBrk="1" hangingPunct="1">
              <a:lnSpc>
                <a:spcPct val="90000"/>
              </a:lnSpc>
              <a:spcBef>
                <a:spcPct val="50000"/>
              </a:spcBef>
            </a:pPr>
            <a:r>
              <a:rPr lang="en-US" altLang="en-US" b="1" smtClean="0">
                <a:solidFill>
                  <a:srgbClr val="0000CC"/>
                </a:solidFill>
                <a:ea typeface="楷体_GB2312" pitchFamily="49" charset="-122"/>
              </a:rPr>
              <a:t>Observer</a:t>
            </a:r>
            <a:r>
              <a:rPr lang="zh-CN" altLang="en-US" b="1" smtClean="0">
                <a:solidFill>
                  <a:srgbClr val="0000CC"/>
                </a:solidFill>
                <a:ea typeface="楷体_GB2312" pitchFamily="49" charset="-122"/>
              </a:rPr>
              <a:t>（观察者）</a:t>
            </a:r>
            <a:r>
              <a:rPr lang="zh-CN" altLang="en-US" b="1" smtClean="0">
                <a:ea typeface="楷体_GB2312" pitchFamily="49" charset="-122"/>
              </a:rPr>
              <a:t>：</a:t>
            </a:r>
            <a:r>
              <a:rPr lang="en-US" altLang="en-US" b="1" smtClean="0">
                <a:ea typeface="楷体_GB2312" pitchFamily="49" charset="-122"/>
              </a:rPr>
              <a:t>定义对象间的一种一对多的依赖关系,以便当一个对象的状态发生改变时,所有依赖于它的对象都得到通知并自动刷新。</a:t>
            </a:r>
            <a:endParaRPr lang="zh-CN" altLang="en-US" b="1" smtClean="0">
              <a:ea typeface="楷体_GB2312" pitchFamily="49" charset="-122"/>
            </a:endParaRPr>
          </a:p>
          <a:p>
            <a:pPr eaLnBrk="1" hangingPunct="1">
              <a:lnSpc>
                <a:spcPct val="90000"/>
              </a:lnSpc>
              <a:spcBef>
                <a:spcPct val="50000"/>
              </a:spcBef>
            </a:pPr>
            <a:r>
              <a:rPr lang="en-US" altLang="zh-CN" b="1" smtClean="0">
                <a:solidFill>
                  <a:srgbClr val="0000CC"/>
                </a:solidFill>
                <a:ea typeface="楷体_GB2312" pitchFamily="49" charset="-122"/>
              </a:rPr>
              <a:t>Prototype</a:t>
            </a:r>
            <a:r>
              <a:rPr lang="zh-CN" altLang="en-US" b="1" smtClean="0">
                <a:solidFill>
                  <a:srgbClr val="0000CC"/>
                </a:solidFill>
                <a:ea typeface="楷体_GB2312" pitchFamily="49" charset="-122"/>
              </a:rPr>
              <a:t>（原型）</a:t>
            </a:r>
            <a:r>
              <a:rPr lang="zh-CN" altLang="en-US" b="1" smtClean="0">
                <a:ea typeface="楷体_GB2312" pitchFamily="49" charset="-122"/>
              </a:rPr>
              <a:t>：用原型实例指定创建对象的种类，并且通过拷贝这个原型来创建新的对象。</a:t>
            </a:r>
          </a:p>
          <a:p>
            <a:pPr eaLnBrk="1" hangingPunct="1">
              <a:lnSpc>
                <a:spcPct val="90000"/>
              </a:lnSpc>
              <a:spcBef>
                <a:spcPct val="50000"/>
              </a:spcBef>
            </a:pPr>
            <a:r>
              <a:rPr lang="en-US" altLang="zh-CN" b="1" smtClean="0">
                <a:solidFill>
                  <a:srgbClr val="0000CC"/>
                </a:solidFill>
                <a:ea typeface="楷体_GB2312" pitchFamily="49" charset="-122"/>
              </a:rPr>
              <a:t>Proxy</a:t>
            </a:r>
            <a:r>
              <a:rPr lang="zh-CN" altLang="en-US" b="1" smtClean="0">
                <a:solidFill>
                  <a:srgbClr val="0000CC"/>
                </a:solidFill>
                <a:ea typeface="楷体_GB2312" pitchFamily="49" charset="-122"/>
              </a:rPr>
              <a:t>（代理）</a:t>
            </a:r>
            <a:r>
              <a:rPr lang="zh-CN" altLang="en-US" b="1" smtClean="0">
                <a:ea typeface="楷体_GB2312" pitchFamily="49" charset="-122"/>
              </a:rPr>
              <a:t>：为其他对象提供一个代理以控制对这个对象的访问。</a:t>
            </a:r>
          </a:p>
        </p:txBody>
      </p:sp>
    </p:spTree>
    <p:extLst>
      <p:ext uri="{BB962C8B-B14F-4D97-AF65-F5344CB8AC3E}">
        <p14:creationId xmlns:p14="http://schemas.microsoft.com/office/powerpoint/2010/main" val="149312877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8675" name="Rectangle 3"/>
          <p:cNvSpPr>
            <a:spLocks noGrp="1" noChangeArrowheads="1"/>
          </p:cNvSpPr>
          <p:nvPr>
            <p:ph type="body" idx="1"/>
          </p:nvPr>
        </p:nvSpPr>
        <p:spPr>
          <a:xfrm>
            <a:off x="304800" y="1600200"/>
            <a:ext cx="8534400" cy="4525963"/>
          </a:xfrm>
        </p:spPr>
        <p:txBody>
          <a:bodyPr>
            <a:normAutofit lnSpcReduction="10000"/>
          </a:bodyPr>
          <a:lstStyle/>
          <a:p>
            <a:pPr eaLnBrk="1" hangingPunct="1">
              <a:lnSpc>
                <a:spcPct val="90000"/>
              </a:lnSpc>
              <a:spcBef>
                <a:spcPct val="50000"/>
              </a:spcBef>
            </a:pPr>
            <a:r>
              <a:rPr lang="en-US" altLang="zh-CN" b="1" smtClean="0">
                <a:solidFill>
                  <a:srgbClr val="0000CC"/>
                </a:solidFill>
                <a:ea typeface="楷体_GB2312" pitchFamily="49" charset="-122"/>
              </a:rPr>
              <a:t>Singleton</a:t>
            </a:r>
            <a:r>
              <a:rPr lang="zh-CN" altLang="en-US" b="1" smtClean="0">
                <a:solidFill>
                  <a:srgbClr val="0000CC"/>
                </a:solidFill>
                <a:ea typeface="楷体_GB2312" pitchFamily="49" charset="-122"/>
              </a:rPr>
              <a:t>（单件）</a:t>
            </a:r>
            <a:r>
              <a:rPr lang="zh-CN" altLang="en-US" b="1" smtClean="0">
                <a:ea typeface="楷体_GB2312" pitchFamily="49" charset="-122"/>
              </a:rPr>
              <a:t>：保证一个类仅有一个实例，并提供一个访问它的全局访问点。</a:t>
            </a:r>
          </a:p>
          <a:p>
            <a:pPr eaLnBrk="1" hangingPunct="1">
              <a:lnSpc>
                <a:spcPct val="90000"/>
              </a:lnSpc>
              <a:spcBef>
                <a:spcPct val="50000"/>
              </a:spcBef>
            </a:pPr>
            <a:r>
              <a:rPr lang="en-US" altLang="zh-CN" b="1" smtClean="0">
                <a:solidFill>
                  <a:srgbClr val="0000CC"/>
                </a:solidFill>
                <a:ea typeface="楷体_GB2312" pitchFamily="49" charset="-122"/>
              </a:rPr>
              <a:t>State</a:t>
            </a:r>
            <a:r>
              <a:rPr lang="zh-CN" altLang="en-US" b="1" smtClean="0">
                <a:solidFill>
                  <a:srgbClr val="0000CC"/>
                </a:solidFill>
                <a:ea typeface="楷体_GB2312" pitchFamily="49" charset="-122"/>
              </a:rPr>
              <a:t>（状态）</a:t>
            </a:r>
            <a:r>
              <a:rPr lang="zh-CN" altLang="en-US" b="1" smtClean="0">
                <a:ea typeface="楷体_GB2312" pitchFamily="49" charset="-122"/>
              </a:rPr>
              <a:t>：允许一个对象在其内部状态改变时改变它的行为。对象看起来似乎修改了它所属的类。</a:t>
            </a:r>
          </a:p>
          <a:p>
            <a:pPr eaLnBrk="1" hangingPunct="1">
              <a:lnSpc>
                <a:spcPct val="90000"/>
              </a:lnSpc>
              <a:spcBef>
                <a:spcPct val="50000"/>
              </a:spcBef>
            </a:pPr>
            <a:r>
              <a:rPr lang="en-US" altLang="zh-CN" b="1" smtClean="0">
                <a:solidFill>
                  <a:srgbClr val="0000CC"/>
                </a:solidFill>
                <a:ea typeface="楷体_GB2312" pitchFamily="49" charset="-122"/>
              </a:rPr>
              <a:t>Strategy</a:t>
            </a:r>
            <a:r>
              <a:rPr lang="en-US" altLang="zh-CN" b="1" smtClean="0">
                <a:ea typeface="楷体_GB2312" pitchFamily="49" charset="-122"/>
              </a:rPr>
              <a:t> </a:t>
            </a:r>
            <a:r>
              <a:rPr lang="zh-CN" altLang="en-US" b="1" smtClean="0">
                <a:ea typeface="楷体_GB2312" pitchFamily="49" charset="-122"/>
              </a:rPr>
              <a:t>（策略）：定义一系列的算法</a:t>
            </a:r>
            <a:r>
              <a:rPr lang="en-US" altLang="zh-CN" b="1" smtClean="0">
                <a:ea typeface="楷体_GB2312" pitchFamily="49" charset="-122"/>
              </a:rPr>
              <a:t>,</a:t>
            </a:r>
            <a:r>
              <a:rPr lang="zh-CN" altLang="en-US" b="1" smtClean="0">
                <a:ea typeface="楷体_GB2312" pitchFamily="49" charset="-122"/>
              </a:rPr>
              <a:t>把它们一个个封装起来</a:t>
            </a:r>
            <a:r>
              <a:rPr lang="en-US" altLang="zh-CN" b="1" smtClean="0">
                <a:ea typeface="楷体_GB2312" pitchFamily="49" charset="-122"/>
              </a:rPr>
              <a:t>, </a:t>
            </a:r>
            <a:r>
              <a:rPr lang="zh-CN" altLang="en-US" b="1" smtClean="0">
                <a:ea typeface="楷体_GB2312" pitchFamily="49" charset="-122"/>
              </a:rPr>
              <a:t>并且使它们可相互替换。本模式使得算法的变化可独立于使用它的客户。</a:t>
            </a:r>
          </a:p>
        </p:txBody>
      </p:sp>
    </p:spTree>
    <p:extLst>
      <p:ext uri="{BB962C8B-B14F-4D97-AF65-F5344CB8AC3E}">
        <p14:creationId xmlns:p14="http://schemas.microsoft.com/office/powerpoint/2010/main" val="23905496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设计模式目录（续）</a:t>
            </a:r>
          </a:p>
        </p:txBody>
      </p:sp>
      <p:sp>
        <p:nvSpPr>
          <p:cNvPr id="29699" name="Rectangle 3"/>
          <p:cNvSpPr>
            <a:spLocks noGrp="1" noChangeArrowheads="1"/>
          </p:cNvSpPr>
          <p:nvPr>
            <p:ph type="body" idx="1"/>
          </p:nvPr>
        </p:nvSpPr>
        <p:spPr>
          <a:xfrm>
            <a:off x="304800" y="1600200"/>
            <a:ext cx="8534400" cy="4525963"/>
          </a:xfrm>
        </p:spPr>
        <p:txBody>
          <a:bodyPr/>
          <a:lstStyle/>
          <a:p>
            <a:pPr eaLnBrk="1" hangingPunct="1">
              <a:lnSpc>
                <a:spcPct val="90000"/>
              </a:lnSpc>
              <a:spcBef>
                <a:spcPct val="50000"/>
              </a:spcBef>
            </a:pPr>
            <a:r>
              <a:rPr lang="en-US" altLang="en-US" b="1" smtClean="0">
                <a:solidFill>
                  <a:srgbClr val="0000CC"/>
                </a:solidFill>
                <a:ea typeface="楷体_GB2312" pitchFamily="49" charset="-122"/>
              </a:rPr>
              <a:t>Template Method</a:t>
            </a:r>
            <a:r>
              <a:rPr lang="zh-CN" altLang="en-US" b="1" smtClean="0">
                <a:solidFill>
                  <a:srgbClr val="0000CC"/>
                </a:solidFill>
                <a:ea typeface="楷体_GB2312" pitchFamily="49" charset="-122"/>
              </a:rPr>
              <a:t>（模板方法）</a:t>
            </a:r>
            <a:r>
              <a:rPr lang="zh-CN" altLang="en-US" b="1" smtClean="0">
                <a:ea typeface="楷体_GB2312" pitchFamily="49" charset="-122"/>
              </a:rPr>
              <a:t>：</a:t>
            </a:r>
            <a:r>
              <a:rPr lang="en-US" altLang="en-US" b="1" smtClean="0">
                <a:ea typeface="楷体_GB2312" pitchFamily="49" charset="-122"/>
              </a:rPr>
              <a:t>定义一个操作中的算法的骨架，而将一些步骤延迟到子类中。Template Method使得子类可以不改变一个算法的结构即可重定义该算法的某些特定步骤。</a:t>
            </a:r>
            <a:endParaRPr lang="zh-CN" altLang="en-US" b="1" smtClean="0">
              <a:ea typeface="楷体_GB2312" pitchFamily="49" charset="-122"/>
            </a:endParaRPr>
          </a:p>
          <a:p>
            <a:pPr eaLnBrk="1" hangingPunct="1">
              <a:lnSpc>
                <a:spcPct val="90000"/>
              </a:lnSpc>
              <a:spcBef>
                <a:spcPct val="50000"/>
              </a:spcBef>
            </a:pPr>
            <a:r>
              <a:rPr lang="en-US" altLang="zh-CN" b="1" smtClean="0">
                <a:solidFill>
                  <a:srgbClr val="0000CC"/>
                </a:solidFill>
                <a:ea typeface="楷体_GB2312" pitchFamily="49" charset="-122"/>
              </a:rPr>
              <a:t>Visitor</a:t>
            </a:r>
            <a:r>
              <a:rPr lang="zh-CN" altLang="en-US" b="1" smtClean="0">
                <a:solidFill>
                  <a:srgbClr val="0000CC"/>
                </a:solidFill>
                <a:ea typeface="楷体_GB2312" pitchFamily="49" charset="-122"/>
              </a:rPr>
              <a:t>（访问者）</a:t>
            </a:r>
            <a:r>
              <a:rPr lang="zh-CN" altLang="en-US" b="1" smtClean="0">
                <a:ea typeface="楷体_GB2312" pitchFamily="49" charset="-122"/>
              </a:rPr>
              <a:t>：表示一个作用于某对象结构中的各元素的操作。它使你可以在不改变各元素的类的前提下定义作用于这些元素的新操作。</a:t>
            </a:r>
          </a:p>
        </p:txBody>
      </p:sp>
    </p:spTree>
    <p:extLst>
      <p:ext uri="{BB962C8B-B14F-4D97-AF65-F5344CB8AC3E}">
        <p14:creationId xmlns:p14="http://schemas.microsoft.com/office/powerpoint/2010/main" val="39515783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b="1" dirty="0" smtClean="0">
                <a:solidFill>
                  <a:schemeClr val="accent2"/>
                </a:solidFill>
                <a:ea typeface="楷体_GB2312" pitchFamily="49" charset="-122"/>
              </a:rPr>
              <a:t>设计模式分类</a:t>
            </a:r>
          </a:p>
        </p:txBody>
      </p:sp>
      <p:sp>
        <p:nvSpPr>
          <p:cNvPr id="30723" name="Rectangle 3"/>
          <p:cNvSpPr>
            <a:spLocks noGrp="1" noChangeArrowheads="1"/>
          </p:cNvSpPr>
          <p:nvPr>
            <p:ph type="body" idx="1"/>
          </p:nvPr>
        </p:nvSpPr>
        <p:spPr>
          <a:xfrm>
            <a:off x="304800" y="1219200"/>
            <a:ext cx="8534400" cy="5410200"/>
          </a:xfrm>
        </p:spPr>
        <p:txBody>
          <a:bodyPr/>
          <a:lstStyle/>
          <a:p>
            <a:pPr eaLnBrk="1" hangingPunct="1">
              <a:lnSpc>
                <a:spcPct val="90000"/>
              </a:lnSpc>
              <a:buFont typeface="Wingdings" pitchFamily="2" charset="2"/>
              <a:buChar char="Ø"/>
            </a:pPr>
            <a:r>
              <a:rPr lang="zh-CN" altLang="en-US" sz="2800" b="1" dirty="0" smtClean="0">
                <a:ea typeface="楷体_GB2312" pitchFamily="49" charset="-122"/>
              </a:rPr>
              <a:t>根据两条准则对模式进行分类：</a:t>
            </a:r>
          </a:p>
          <a:p>
            <a:pPr lvl="1" eaLnBrk="1" hangingPunct="1">
              <a:lnSpc>
                <a:spcPct val="90000"/>
              </a:lnSpc>
              <a:buFont typeface="Wingdings" pitchFamily="2" charset="2"/>
              <a:buChar char="Ø"/>
            </a:pPr>
            <a:r>
              <a:rPr lang="zh-CN" altLang="en-US" sz="2400" b="1" dirty="0" smtClean="0">
                <a:solidFill>
                  <a:srgbClr val="0000CC"/>
                </a:solidFill>
                <a:ea typeface="楷体_GB2312" pitchFamily="49" charset="-122"/>
              </a:rPr>
              <a:t>目的</a:t>
            </a:r>
            <a:r>
              <a:rPr lang="zh-CN" altLang="en-US" sz="2400" b="1" dirty="0" smtClean="0">
                <a:ea typeface="楷体_GB2312" pitchFamily="49" charset="-122"/>
              </a:rPr>
              <a:t>，即模式是用来完成什么工作的。</a:t>
            </a:r>
          </a:p>
          <a:p>
            <a:pPr lvl="2" eaLnBrk="1" hangingPunct="1">
              <a:lnSpc>
                <a:spcPct val="90000"/>
              </a:lnSpc>
              <a:buFont typeface="Wingdings" pitchFamily="2" charset="2"/>
              <a:buChar char="Ø"/>
            </a:pPr>
            <a:r>
              <a:rPr lang="zh-CN" altLang="en-US" sz="2000" b="1" dirty="0" smtClean="0">
                <a:ea typeface="楷体_GB2312" pitchFamily="49" charset="-122"/>
              </a:rPr>
              <a:t>创建型（</a:t>
            </a:r>
            <a:r>
              <a:rPr lang="en-US" altLang="zh-CN" sz="2000" b="1" i="1" dirty="0" smtClean="0">
                <a:ea typeface="楷体_GB2312" pitchFamily="49" charset="-122"/>
              </a:rPr>
              <a:t>Creational</a:t>
            </a:r>
            <a:r>
              <a:rPr lang="zh-CN" altLang="en-US" sz="2000" b="1" dirty="0" smtClean="0">
                <a:ea typeface="楷体_GB2312" pitchFamily="49" charset="-122"/>
              </a:rPr>
              <a:t>）：与对象的创建有关，以灵活的方式创建对象的集合；</a:t>
            </a:r>
          </a:p>
          <a:p>
            <a:pPr lvl="2" eaLnBrk="1" hangingPunct="1">
              <a:lnSpc>
                <a:spcPct val="90000"/>
              </a:lnSpc>
              <a:buFont typeface="Wingdings" pitchFamily="2" charset="2"/>
              <a:buChar char="Ø"/>
            </a:pPr>
            <a:r>
              <a:rPr lang="zh-CN" altLang="en-US" sz="2000" b="1" dirty="0" smtClean="0">
                <a:ea typeface="楷体_GB2312" pitchFamily="49" charset="-122"/>
              </a:rPr>
              <a:t>结构型</a:t>
            </a:r>
            <a:r>
              <a:rPr lang="en-US" altLang="zh-CN" sz="2000" b="1" dirty="0" smtClean="0">
                <a:ea typeface="楷体_GB2312" pitchFamily="49" charset="-122"/>
              </a:rPr>
              <a:t>( </a:t>
            </a:r>
            <a:r>
              <a:rPr lang="en-US" altLang="zh-CN" sz="2000" b="1" i="1" dirty="0" smtClean="0">
                <a:ea typeface="楷体_GB2312" pitchFamily="49" charset="-122"/>
              </a:rPr>
              <a:t>Structural</a:t>
            </a:r>
            <a:r>
              <a:rPr lang="en-US" altLang="zh-CN" sz="2000" b="1" dirty="0" smtClean="0">
                <a:ea typeface="楷体_GB2312" pitchFamily="49" charset="-122"/>
              </a:rPr>
              <a:t> )</a:t>
            </a:r>
            <a:r>
              <a:rPr lang="zh-CN" altLang="en-US" sz="2000" b="1" dirty="0" smtClean="0">
                <a:ea typeface="楷体_GB2312" pitchFamily="49" charset="-122"/>
              </a:rPr>
              <a:t>：处理类或对象的组合，代表相关对象的集合；</a:t>
            </a:r>
          </a:p>
          <a:p>
            <a:pPr lvl="2" eaLnBrk="1" hangingPunct="1">
              <a:lnSpc>
                <a:spcPct val="90000"/>
              </a:lnSpc>
              <a:buFont typeface="Wingdings" pitchFamily="2" charset="2"/>
              <a:buChar char="Ø"/>
            </a:pPr>
            <a:r>
              <a:rPr lang="zh-CN" altLang="en-US" sz="2000" b="1" dirty="0" smtClean="0">
                <a:ea typeface="楷体_GB2312" pitchFamily="49" charset="-122"/>
              </a:rPr>
              <a:t>行为型</a:t>
            </a:r>
            <a:r>
              <a:rPr lang="en-US" altLang="zh-CN" sz="2000" b="1" dirty="0" smtClean="0">
                <a:ea typeface="楷体_GB2312" pitchFamily="49" charset="-122"/>
              </a:rPr>
              <a:t>( </a:t>
            </a:r>
            <a:r>
              <a:rPr lang="en-US" altLang="zh-CN" sz="2000" b="1" i="1" dirty="0" smtClean="0">
                <a:ea typeface="楷体_GB2312" pitchFamily="49" charset="-122"/>
              </a:rPr>
              <a:t>Behavioral </a:t>
            </a:r>
            <a:r>
              <a:rPr lang="en-US" altLang="zh-CN" sz="2000" b="1" dirty="0" smtClean="0">
                <a:ea typeface="楷体_GB2312" pitchFamily="49" charset="-122"/>
              </a:rPr>
              <a:t>)</a:t>
            </a:r>
            <a:r>
              <a:rPr lang="zh-CN" altLang="en-US" sz="2000" b="1" dirty="0" smtClean="0">
                <a:ea typeface="楷体_GB2312" pitchFamily="49" charset="-122"/>
              </a:rPr>
              <a:t>：对类或对象怎样交互和怎样分配职责进行描述，在对象集合中捕获行为。</a:t>
            </a:r>
          </a:p>
          <a:p>
            <a:pPr lvl="1" eaLnBrk="1" hangingPunct="1">
              <a:lnSpc>
                <a:spcPct val="90000"/>
              </a:lnSpc>
              <a:buFont typeface="Wingdings" pitchFamily="2" charset="2"/>
              <a:buChar char="Ø"/>
            </a:pPr>
            <a:r>
              <a:rPr lang="zh-CN" altLang="en-US" sz="2400" b="1" dirty="0" smtClean="0">
                <a:solidFill>
                  <a:srgbClr val="0000CC"/>
                </a:solidFill>
                <a:ea typeface="楷体_GB2312" pitchFamily="49" charset="-122"/>
              </a:rPr>
              <a:t>范围</a:t>
            </a:r>
            <a:r>
              <a:rPr lang="zh-CN" altLang="en-US" sz="2400" b="1" dirty="0" smtClean="0">
                <a:ea typeface="楷体_GB2312" pitchFamily="49" charset="-122"/>
              </a:rPr>
              <a:t>，指定模式主要是用于</a:t>
            </a:r>
            <a:r>
              <a:rPr lang="zh-CN" altLang="en-US" sz="2400" b="1" i="1" dirty="0" smtClean="0">
                <a:solidFill>
                  <a:srgbClr val="0000CC"/>
                </a:solidFill>
                <a:ea typeface="楷体_GB2312" pitchFamily="49" charset="-122"/>
              </a:rPr>
              <a:t>类</a:t>
            </a:r>
            <a:r>
              <a:rPr lang="zh-CN" altLang="en-US" sz="2400" b="1" dirty="0" smtClean="0">
                <a:ea typeface="楷体_GB2312" pitchFamily="49" charset="-122"/>
              </a:rPr>
              <a:t>还是用于</a:t>
            </a:r>
            <a:r>
              <a:rPr lang="zh-CN" altLang="en-US" sz="2400" b="1" i="1" dirty="0" smtClean="0">
                <a:solidFill>
                  <a:srgbClr val="0000CC"/>
                </a:solidFill>
                <a:ea typeface="楷体_GB2312" pitchFamily="49" charset="-122"/>
              </a:rPr>
              <a:t>对象</a:t>
            </a:r>
            <a:r>
              <a:rPr lang="zh-CN" altLang="en-US" sz="2400" b="1" dirty="0" smtClean="0">
                <a:ea typeface="楷体_GB2312" pitchFamily="49" charset="-122"/>
              </a:rPr>
              <a:t>。</a:t>
            </a:r>
          </a:p>
          <a:p>
            <a:pPr lvl="2" eaLnBrk="1" hangingPunct="1">
              <a:lnSpc>
                <a:spcPct val="90000"/>
              </a:lnSpc>
              <a:buFont typeface="Wingdings" pitchFamily="2" charset="2"/>
              <a:buChar char="Ø"/>
            </a:pPr>
            <a:r>
              <a:rPr lang="zh-CN" altLang="en-US" sz="2000" b="1" dirty="0" smtClean="0">
                <a:ea typeface="楷体_GB2312" pitchFamily="49" charset="-122"/>
              </a:rPr>
              <a:t>类模式处理类和子类之间的关系，这些关系通过继承建立，是静态的，在编译时刻便确定下来了。</a:t>
            </a:r>
          </a:p>
          <a:p>
            <a:pPr lvl="2" eaLnBrk="1" hangingPunct="1">
              <a:lnSpc>
                <a:spcPct val="90000"/>
              </a:lnSpc>
              <a:buFont typeface="Wingdings" pitchFamily="2" charset="2"/>
              <a:buChar char="Ø"/>
            </a:pPr>
            <a:r>
              <a:rPr lang="zh-CN" altLang="en-US" sz="2000" b="1" dirty="0" smtClean="0">
                <a:ea typeface="楷体_GB2312" pitchFamily="49" charset="-122"/>
              </a:rPr>
              <a:t>对象模式处理对象间的关系，这些关系在运行时刻是可以变化的，更具动态性。</a:t>
            </a:r>
          </a:p>
          <a:p>
            <a:pPr lvl="2" eaLnBrk="1" hangingPunct="1">
              <a:lnSpc>
                <a:spcPct val="90000"/>
              </a:lnSpc>
              <a:buFont typeface="Wingdings" pitchFamily="2" charset="2"/>
              <a:buChar char="Ø"/>
            </a:pPr>
            <a:r>
              <a:rPr lang="zh-CN" altLang="en-US" sz="2000" b="1" dirty="0" smtClean="0">
                <a:ea typeface="楷体_GB2312" pitchFamily="49" charset="-122"/>
              </a:rPr>
              <a:t>从某种意义上来说，几乎所有模式都使用继承机制，所以“类模式”只指那些</a:t>
            </a:r>
            <a:r>
              <a:rPr lang="zh-CN" altLang="en-US" sz="2000" b="1" dirty="0" smtClean="0">
                <a:solidFill>
                  <a:srgbClr val="0000CC"/>
                </a:solidFill>
                <a:ea typeface="楷体_GB2312" pitchFamily="49" charset="-122"/>
              </a:rPr>
              <a:t>集中于处理类间关系的模式</a:t>
            </a:r>
            <a:r>
              <a:rPr lang="zh-CN" altLang="en-US" sz="2000" b="1" dirty="0" smtClean="0">
                <a:ea typeface="楷体_GB2312" pitchFamily="49" charset="-122"/>
              </a:rPr>
              <a:t>，而大部分模式都属于对象模式的范畴。</a:t>
            </a:r>
          </a:p>
        </p:txBody>
      </p:sp>
    </p:spTree>
    <p:extLst>
      <p:ext uri="{BB962C8B-B14F-4D97-AF65-F5344CB8AC3E}">
        <p14:creationId xmlns:p14="http://schemas.microsoft.com/office/powerpoint/2010/main" val="17549496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0"/>
            <a:ext cx="3581400" cy="914400"/>
          </a:xfrm>
          <a:noFill/>
        </p:spPr>
        <p:txBody>
          <a:bodyPr/>
          <a:lstStyle/>
          <a:p>
            <a:pPr eaLnBrk="1" hangingPunct="1"/>
            <a:r>
              <a:rPr lang="zh-CN" altLang="en-US" b="1" smtClean="0">
                <a:solidFill>
                  <a:schemeClr val="accent2"/>
                </a:solidFill>
                <a:latin typeface="楷体_GB2312" pitchFamily="49" charset="-122"/>
                <a:ea typeface="楷体_GB2312" pitchFamily="49" charset="-122"/>
              </a:rPr>
              <a:t>设计模式空间</a:t>
            </a:r>
          </a:p>
        </p:txBody>
      </p:sp>
      <p:sp>
        <p:nvSpPr>
          <p:cNvPr id="31747" name="Rectangle 3"/>
          <p:cNvSpPr>
            <a:spLocks noChangeArrowheads="1"/>
          </p:cNvSpPr>
          <p:nvPr/>
        </p:nvSpPr>
        <p:spPr bwMode="auto">
          <a:xfrm>
            <a:off x="152400" y="304800"/>
            <a:ext cx="8915400" cy="645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FZSSJW--GB1-0" charset="-122"/>
                <a:ea typeface="FZSSJW--GB1-0" charset="-122"/>
              </a:rPr>
              <a:t>	                           </a:t>
            </a:r>
            <a:r>
              <a:rPr lang="zh-CN" altLang="en-US" sz="2800" b="1">
                <a:solidFill>
                  <a:srgbClr val="000000"/>
                </a:solidFill>
                <a:latin typeface="楷体_GB2312" pitchFamily="49" charset="-122"/>
                <a:ea typeface="楷体_GB2312" pitchFamily="49" charset="-122"/>
              </a:rPr>
              <a:t>目	的</a:t>
            </a:r>
            <a:r>
              <a:rPr lang="zh-CN" altLang="en-US">
                <a:solidFill>
                  <a:srgbClr val="000000"/>
                </a:solidFill>
                <a:latin typeface="FZSSJW--GB1-0" charset="-122"/>
                <a:ea typeface="FZSSJW--GB1-0" charset="-122"/>
              </a:rPr>
              <a:t>	</a:t>
            </a:r>
          </a:p>
          <a:p>
            <a:pPr>
              <a:spcBef>
                <a:spcPct val="50000"/>
              </a:spcBef>
            </a:pPr>
            <a:r>
              <a:rPr lang="zh-CN" altLang="en-US">
                <a:latin typeface="FZSSJW--GB1-0" charset="-122"/>
                <a:ea typeface="FZSSJW--GB1-0" charset="-122"/>
              </a:rPr>
              <a:t>	         </a:t>
            </a:r>
            <a:r>
              <a:rPr lang="zh-CN" altLang="en-US" sz="2400" b="1">
                <a:solidFill>
                  <a:srgbClr val="000000"/>
                </a:solidFill>
                <a:latin typeface="FZSSJW--GB1-0" charset="-122"/>
                <a:ea typeface="FZSSJW--GB1-0" charset="-122"/>
              </a:rPr>
              <a:t>创建型	     结构型	         行为型	</a:t>
            </a:r>
          </a:p>
          <a:p>
            <a:pPr>
              <a:spcBef>
                <a:spcPct val="50000"/>
              </a:spcBef>
            </a:pPr>
            <a:r>
              <a:rPr lang="zh-CN" altLang="en-US" sz="2800" b="1">
                <a:solidFill>
                  <a:srgbClr val="000000"/>
                </a:solidFill>
                <a:latin typeface="楷体_GB2312" pitchFamily="49" charset="-122"/>
                <a:ea typeface="楷体_GB2312" pitchFamily="49" charset="-122"/>
              </a:rPr>
              <a:t>范围</a:t>
            </a:r>
            <a:r>
              <a:rPr lang="zh-CN" altLang="en-US">
                <a:solidFill>
                  <a:srgbClr val="000000"/>
                </a:solidFill>
                <a:latin typeface="FZSSJW--GB1-0" charset="-122"/>
                <a:ea typeface="FZSSJW--GB1-0" charset="-122"/>
              </a:rPr>
              <a:t>	</a:t>
            </a:r>
            <a:r>
              <a:rPr lang="zh-CN" altLang="en-US" sz="2400" b="1">
                <a:solidFill>
                  <a:srgbClr val="000000"/>
                </a:solidFill>
                <a:latin typeface="楷体_GB2312" pitchFamily="49" charset="-122"/>
                <a:ea typeface="楷体_GB2312" pitchFamily="49" charset="-122"/>
              </a:rPr>
              <a:t>类</a:t>
            </a:r>
            <a:r>
              <a:rPr lang="zh-CN" altLang="en-US">
                <a:solidFill>
                  <a:srgbClr val="000000"/>
                </a:solidFill>
                <a:latin typeface="FZSSJW--GB1-0" charset="-122"/>
                <a:ea typeface="FZSSJW--GB1-0" charset="-122"/>
              </a:rPr>
              <a:t>	</a:t>
            </a:r>
            <a:r>
              <a:rPr lang="en-US" altLang="zh-CN" sz="2400" b="1">
                <a:solidFill>
                  <a:srgbClr val="000000"/>
                </a:solidFill>
                <a:latin typeface="Times New Roman" pitchFamily="18" charset="0"/>
                <a:ea typeface="FZSSJW--GB1-0" charset="-122"/>
              </a:rPr>
              <a:t>Factory Method      Adapter (</a:t>
            </a:r>
            <a:r>
              <a:rPr lang="zh-CN" altLang="en-US" sz="2400" b="1">
                <a:solidFill>
                  <a:srgbClr val="000000"/>
                </a:solidFill>
                <a:latin typeface="FZSSJW--GB1-0" charset="-122"/>
                <a:ea typeface="FZSSJW--GB1-0" charset="-122"/>
              </a:rPr>
              <a:t>类</a:t>
            </a:r>
            <a:r>
              <a:rPr lang="en-US" altLang="zh-CN" sz="2400" b="1">
                <a:solidFill>
                  <a:srgbClr val="000000"/>
                </a:solidFill>
                <a:latin typeface="Times New Roman" pitchFamily="18" charset="0"/>
                <a:ea typeface="FZSSJW--GB1-0" charset="-122"/>
              </a:rPr>
              <a:t>)        Interpreter  </a:t>
            </a:r>
          </a:p>
          <a:p>
            <a:pPr>
              <a:spcBef>
                <a:spcPct val="50000"/>
              </a:spcBef>
            </a:pPr>
            <a:r>
              <a:rPr lang="en-US" altLang="zh-CN" sz="2400" b="1">
                <a:solidFill>
                  <a:srgbClr val="000000"/>
                </a:solidFill>
                <a:latin typeface="Times New Roman" pitchFamily="18" charset="0"/>
                <a:ea typeface="FZSSJW--GB1-0" charset="-122"/>
              </a:rPr>
              <a:t>                                                                                    Template Method</a:t>
            </a:r>
            <a:r>
              <a:rPr lang="en-US" altLang="zh-CN">
                <a:solidFill>
                  <a:srgbClr val="000000"/>
                </a:solidFill>
                <a:latin typeface="Times New Roman" pitchFamily="18" charset="0"/>
                <a:ea typeface="FZSSJW--GB1-0" charset="-122"/>
              </a:rPr>
              <a:t> </a:t>
            </a:r>
          </a:p>
          <a:p>
            <a:pPr>
              <a:spcBef>
                <a:spcPct val="50000"/>
              </a:spcBef>
            </a:pPr>
            <a:r>
              <a:rPr lang="en-US" altLang="zh-CN">
                <a:latin typeface="Times New Roman" pitchFamily="18" charset="0"/>
                <a:ea typeface="FZSSJW--GB1-0" charset="-122"/>
              </a:rPr>
              <a:t>	</a:t>
            </a:r>
            <a:r>
              <a:rPr lang="zh-CN" altLang="en-US" sz="2400" b="1">
                <a:solidFill>
                  <a:srgbClr val="000000"/>
                </a:solidFill>
                <a:latin typeface="楷体_GB2312" pitchFamily="49" charset="-122"/>
                <a:ea typeface="楷体_GB2312" pitchFamily="49" charset="-122"/>
              </a:rPr>
              <a:t>对象</a:t>
            </a:r>
            <a:r>
              <a:rPr lang="zh-CN" altLang="en-US">
                <a:solidFill>
                  <a:srgbClr val="000000"/>
                </a:solidFill>
                <a:latin typeface="FZSSJW--GB1-0" charset="-122"/>
                <a:ea typeface="FZSSJW--GB1-0" charset="-122"/>
              </a:rPr>
              <a:t>	</a:t>
            </a:r>
            <a:r>
              <a:rPr lang="en-US" altLang="zh-CN" sz="2400" b="1">
                <a:solidFill>
                  <a:srgbClr val="000000"/>
                </a:solidFill>
                <a:latin typeface="Arial Narrow" pitchFamily="34" charset="0"/>
                <a:ea typeface="FZSSJW--GB1-0" charset="-122"/>
              </a:rPr>
              <a:t>Abstract Factory         Adapter (</a:t>
            </a:r>
            <a:r>
              <a:rPr lang="zh-CN" altLang="en-US" sz="2400" b="1">
                <a:solidFill>
                  <a:srgbClr val="000000"/>
                </a:solidFill>
                <a:latin typeface="Arial Narrow" pitchFamily="34" charset="0"/>
                <a:ea typeface="FZSSJW--GB1-0" charset="-122"/>
              </a:rPr>
              <a:t>对象</a:t>
            </a:r>
            <a:r>
              <a:rPr lang="en-US" altLang="zh-CN" sz="2400" b="1">
                <a:solidFill>
                  <a:srgbClr val="000000"/>
                </a:solidFill>
                <a:latin typeface="Arial Narrow" pitchFamily="34" charset="0"/>
                <a:ea typeface="FZSSJW--GB1-0" charset="-122"/>
              </a:rPr>
              <a:t>) 	</a:t>
            </a:r>
            <a:r>
              <a:rPr lang="en-US" altLang="zh-CN" sz="2000" b="1">
                <a:solidFill>
                  <a:srgbClr val="000000"/>
                </a:solidFill>
                <a:latin typeface="Arial Narrow" pitchFamily="34" charset="0"/>
                <a:ea typeface="FZSSJW--GB1-0" charset="-122"/>
              </a:rPr>
              <a:t>Chain of Responsibility</a:t>
            </a:r>
            <a:r>
              <a:rPr lang="en-US" altLang="zh-CN" sz="2400" b="1">
                <a:solidFill>
                  <a:srgbClr val="000000"/>
                </a:solidFill>
                <a:latin typeface="Arial Narrow" pitchFamily="34" charset="0"/>
                <a:ea typeface="FZSSJW--GB1-0" charset="-122"/>
              </a:rPr>
              <a:t> 	</a:t>
            </a: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Builder 	           Bridge 	             Command 	</a:t>
            </a:r>
          </a:p>
          <a:p>
            <a:pPr>
              <a:spcBef>
                <a:spcPct val="50000"/>
              </a:spcBef>
            </a:pP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Prototype 	           Composite 	Iterator 	</a:t>
            </a:r>
          </a:p>
          <a:p>
            <a:pPr>
              <a:spcBef>
                <a:spcPct val="50000"/>
              </a:spcBef>
            </a:pP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Singleton                     Decorator 	Mediator 	</a:t>
            </a:r>
          </a:p>
          <a:p>
            <a:pPr>
              <a:spcBef>
                <a:spcPct val="50000"/>
              </a:spcBef>
            </a:pP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Facade   	Memento 	</a:t>
            </a:r>
          </a:p>
          <a:p>
            <a:pPr>
              <a:spcBef>
                <a:spcPct val="50000"/>
              </a:spcBef>
            </a:pP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Flyweight 	Observer 	</a:t>
            </a:r>
          </a:p>
          <a:p>
            <a:pPr>
              <a:spcBef>
                <a:spcPct val="50000"/>
              </a:spcBef>
            </a:pP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Proxy 	             State</a:t>
            </a:r>
          </a:p>
          <a:p>
            <a:pPr>
              <a:spcBef>
                <a:spcPct val="50000"/>
              </a:spcBef>
            </a:pPr>
            <a:r>
              <a:rPr lang="en-US" altLang="zh-CN" sz="2400" b="1">
                <a:solidFill>
                  <a:srgbClr val="000000"/>
                </a:solidFill>
                <a:latin typeface="Arial Narrow" pitchFamily="34" charset="0"/>
                <a:ea typeface="FZSSJW--GB1-0" charset="-122"/>
              </a:rPr>
              <a:t>                                                                                </a:t>
            </a:r>
            <a:r>
              <a:rPr lang="en-US" altLang="zh-CN" sz="2400" b="1">
                <a:latin typeface="Arial Narrow" pitchFamily="34" charset="0"/>
                <a:ea typeface="FZSSJW--GB1-0" charset="-122"/>
              </a:rPr>
              <a:t>	</a:t>
            </a:r>
            <a:r>
              <a:rPr lang="en-US" altLang="zh-CN" sz="2400" b="1">
                <a:solidFill>
                  <a:srgbClr val="000000"/>
                </a:solidFill>
                <a:latin typeface="Arial Narrow" pitchFamily="34" charset="0"/>
                <a:ea typeface="FZSSJW--GB1-0" charset="-122"/>
              </a:rPr>
              <a:t>Strategy   Visitor </a:t>
            </a:r>
            <a:endParaRPr lang="en-US" altLang="zh-CN" sz="2400" b="1">
              <a:latin typeface="Arial Narrow" pitchFamily="34" charset="0"/>
              <a:ea typeface="FZSSJW--GB1-0" charset="-122"/>
            </a:endParaRPr>
          </a:p>
        </p:txBody>
      </p:sp>
      <p:sp>
        <p:nvSpPr>
          <p:cNvPr id="31748" name="Line 4"/>
          <p:cNvSpPr>
            <a:spLocks noChangeShapeType="1"/>
          </p:cNvSpPr>
          <p:nvPr/>
        </p:nvSpPr>
        <p:spPr bwMode="auto">
          <a:xfrm>
            <a:off x="76200" y="2590800"/>
            <a:ext cx="8915400" cy="0"/>
          </a:xfrm>
          <a:prstGeom prst="line">
            <a:avLst/>
          </a:prstGeom>
          <a:noFill/>
          <a:ln w="57150" cmpd="thickThin">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4255893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0"/>
            <a:ext cx="6111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3"/>
          <p:cNvSpPr txBox="1">
            <a:spLocks noChangeArrowheads="1"/>
          </p:cNvSpPr>
          <p:nvPr/>
        </p:nvSpPr>
        <p:spPr bwMode="auto">
          <a:xfrm>
            <a:off x="623888" y="1219200"/>
            <a:ext cx="671512"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3200" b="1">
                <a:ea typeface="楷体_GB2312" pitchFamily="49" charset="-122"/>
              </a:rPr>
              <a:t>设计模式之间的关系</a:t>
            </a:r>
          </a:p>
        </p:txBody>
      </p:sp>
    </p:spTree>
    <p:extLst>
      <p:ext uri="{BB962C8B-B14F-4D97-AF65-F5344CB8AC3E}">
        <p14:creationId xmlns:p14="http://schemas.microsoft.com/office/powerpoint/2010/main" val="749581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设计模式所支持的设计的可变方面</a:t>
            </a:r>
          </a:p>
        </p:txBody>
      </p:sp>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9738"/>
            <a:ext cx="891540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25400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设计模式所支持的设计的可变方面</a:t>
            </a:r>
          </a:p>
        </p:txBody>
      </p:sp>
      <p:grpSp>
        <p:nvGrpSpPr>
          <p:cNvPr id="34819" name="Group 3"/>
          <p:cNvGrpSpPr>
            <a:grpSpLocks/>
          </p:cNvGrpSpPr>
          <p:nvPr/>
        </p:nvGrpSpPr>
        <p:grpSpPr bwMode="auto">
          <a:xfrm>
            <a:off x="0" y="1752600"/>
            <a:ext cx="9144000" cy="4343400"/>
            <a:chOff x="230" y="1968"/>
            <a:chExt cx="5098" cy="2352"/>
          </a:xfrm>
        </p:grpSpPr>
        <p:pic>
          <p:nvPicPr>
            <p:cNvPr id="34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 y="2232"/>
              <a:ext cx="5088" cy="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 y="1968"/>
              <a:ext cx="50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6365606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b="1" dirty="0" smtClean="0">
                <a:ea typeface="楷体_GB2312" pitchFamily="49" charset="-122"/>
              </a:rPr>
              <a:t>6.4 </a:t>
            </a:r>
            <a:r>
              <a:rPr lang="zh-CN" altLang="en-US" b="1" dirty="0" smtClean="0">
                <a:ea typeface="楷体_GB2312" pitchFamily="49" charset="-122"/>
              </a:rPr>
              <a:t>怎样使用设计模式</a:t>
            </a:r>
          </a:p>
        </p:txBody>
      </p:sp>
      <p:sp>
        <p:nvSpPr>
          <p:cNvPr id="35843" name="Rectangle 3"/>
          <p:cNvSpPr>
            <a:spLocks noGrp="1" noChangeArrowheads="1"/>
          </p:cNvSpPr>
          <p:nvPr>
            <p:ph type="body" idx="1"/>
          </p:nvPr>
        </p:nvSpPr>
        <p:spPr>
          <a:xfrm>
            <a:off x="755576" y="1556792"/>
            <a:ext cx="7776864" cy="4730080"/>
          </a:xfrm>
        </p:spPr>
        <p:txBody>
          <a:bodyPr>
            <a:normAutofit/>
          </a:bodyPr>
          <a:lstStyle/>
          <a:p>
            <a:pPr eaLnBrk="1" hangingPunct="1">
              <a:spcBef>
                <a:spcPct val="30000"/>
              </a:spcBef>
              <a:buFontTx/>
              <a:buNone/>
            </a:pPr>
            <a:r>
              <a:rPr lang="en-US" altLang="zh-CN" sz="2400" b="1" dirty="0" smtClean="0">
                <a:ea typeface="楷体_GB2312" pitchFamily="49" charset="-122"/>
              </a:rPr>
              <a:t>1) </a:t>
            </a:r>
            <a:r>
              <a:rPr lang="zh-CN" altLang="en-US" sz="2400" b="1" dirty="0" smtClean="0">
                <a:solidFill>
                  <a:srgbClr val="0000CC"/>
                </a:solidFill>
                <a:ea typeface="楷体_GB2312" pitchFamily="49" charset="-122"/>
              </a:rPr>
              <a:t>大致浏览一遍模式    </a:t>
            </a:r>
            <a:r>
              <a:rPr lang="zh-CN" altLang="en-US" sz="2400" b="1" dirty="0" smtClean="0">
                <a:ea typeface="楷体_GB2312" pitchFamily="49" charset="-122"/>
              </a:rPr>
              <a:t>特别注意其</a:t>
            </a:r>
            <a:r>
              <a:rPr lang="zh-CN" altLang="en-US" sz="2400" b="1" dirty="0" smtClean="0">
                <a:solidFill>
                  <a:srgbClr val="FF0000"/>
                </a:solidFill>
                <a:ea typeface="楷体_GB2312" pitchFamily="49" charset="-122"/>
              </a:rPr>
              <a:t>适用性部分</a:t>
            </a:r>
            <a:r>
              <a:rPr lang="zh-CN" altLang="en-US" sz="2400" b="1" dirty="0" smtClean="0">
                <a:ea typeface="楷体_GB2312" pitchFamily="49" charset="-122"/>
              </a:rPr>
              <a:t>和</a:t>
            </a:r>
            <a:r>
              <a:rPr lang="zh-CN" altLang="en-US" sz="2400" b="1" dirty="0" smtClean="0">
                <a:solidFill>
                  <a:srgbClr val="FF0000"/>
                </a:solidFill>
                <a:ea typeface="楷体_GB2312" pitchFamily="49" charset="-122"/>
              </a:rPr>
              <a:t>效果部分</a:t>
            </a:r>
            <a:r>
              <a:rPr lang="zh-CN" altLang="en-US" sz="2400" b="1" dirty="0" smtClean="0">
                <a:ea typeface="楷体_GB2312" pitchFamily="49" charset="-122"/>
              </a:rPr>
              <a:t>，确定它适合你的问题。</a:t>
            </a:r>
          </a:p>
          <a:p>
            <a:pPr eaLnBrk="1" hangingPunct="1">
              <a:spcBef>
                <a:spcPct val="30000"/>
              </a:spcBef>
              <a:buFont typeface="Wingdings" pitchFamily="2" charset="2"/>
              <a:buNone/>
            </a:pPr>
            <a:r>
              <a:rPr lang="en-US" altLang="zh-CN" sz="2400" b="1" dirty="0" smtClean="0">
                <a:ea typeface="楷体_GB2312" pitchFamily="49" charset="-122"/>
              </a:rPr>
              <a:t>2 ) </a:t>
            </a:r>
            <a:r>
              <a:rPr lang="zh-CN" altLang="en-US" sz="2400" b="1" dirty="0" smtClean="0">
                <a:solidFill>
                  <a:srgbClr val="0000CC"/>
                </a:solidFill>
                <a:ea typeface="楷体_GB2312" pitchFamily="49" charset="-122"/>
              </a:rPr>
              <a:t>回头研究结构部分、参与者部分和协作部分   </a:t>
            </a:r>
            <a:r>
              <a:rPr lang="zh-CN" altLang="en-US" sz="2400" b="1" dirty="0" smtClean="0">
                <a:ea typeface="楷体_GB2312" pitchFamily="49" charset="-122"/>
              </a:rPr>
              <a:t>确保你理解这个模式的类和对象以及它们是怎样关联的。</a:t>
            </a:r>
          </a:p>
          <a:p>
            <a:pPr eaLnBrk="1" hangingPunct="1">
              <a:spcBef>
                <a:spcPct val="30000"/>
              </a:spcBef>
              <a:buFont typeface="Wingdings" pitchFamily="2" charset="2"/>
              <a:buNone/>
            </a:pPr>
            <a:r>
              <a:rPr lang="en-US" altLang="zh-CN" sz="2400" b="1" dirty="0" smtClean="0">
                <a:ea typeface="楷体_GB2312" pitchFamily="49" charset="-122"/>
              </a:rPr>
              <a:t>3 ) </a:t>
            </a:r>
            <a:r>
              <a:rPr lang="zh-CN" altLang="en-US" sz="2400" b="1" dirty="0" smtClean="0">
                <a:solidFill>
                  <a:srgbClr val="0000CC"/>
                </a:solidFill>
                <a:ea typeface="楷体_GB2312" pitchFamily="49" charset="-122"/>
              </a:rPr>
              <a:t>看代码示例部分，看看这个模式代码形式的具体例子    </a:t>
            </a:r>
            <a:r>
              <a:rPr lang="zh-CN" altLang="en-US" sz="2400" b="1" dirty="0" smtClean="0">
                <a:ea typeface="楷体_GB2312" pitchFamily="49" charset="-122"/>
              </a:rPr>
              <a:t>研究代码将有助于你实现模式。</a:t>
            </a:r>
          </a:p>
          <a:p>
            <a:pPr eaLnBrk="1" hangingPunct="1">
              <a:spcBef>
                <a:spcPct val="30000"/>
              </a:spcBef>
              <a:buFont typeface="Wingdings" pitchFamily="2" charset="2"/>
              <a:buNone/>
            </a:pPr>
            <a:r>
              <a:rPr lang="en-US" altLang="zh-CN" sz="2400" b="1" dirty="0" smtClean="0">
                <a:ea typeface="楷体_GB2312" pitchFamily="49" charset="-122"/>
              </a:rPr>
              <a:t>4 ) </a:t>
            </a:r>
            <a:r>
              <a:rPr lang="zh-CN" altLang="en-US" sz="2400" b="1" dirty="0" smtClean="0">
                <a:solidFill>
                  <a:srgbClr val="0000CC"/>
                </a:solidFill>
                <a:ea typeface="楷体_GB2312" pitchFamily="49" charset="-122"/>
              </a:rPr>
              <a:t>选择模式参与者的名字，使它们在应用上下文中有意义   </a:t>
            </a:r>
            <a:r>
              <a:rPr lang="zh-CN" altLang="en-US" sz="2400" b="1" dirty="0" smtClean="0">
                <a:ea typeface="楷体_GB2312" pitchFamily="49" charset="-122"/>
              </a:rPr>
              <a:t>设计模式参与者的名字通常过于抽象而不会直接出现在应用中。然而，将参与者的名字和应用中出现的名字合并起来是很有用的。这会帮助你在实现中更显式的体现出模式来。</a:t>
            </a:r>
          </a:p>
        </p:txBody>
      </p:sp>
    </p:spTree>
    <p:extLst>
      <p:ext uri="{BB962C8B-B14F-4D97-AF65-F5344CB8AC3E}">
        <p14:creationId xmlns:p14="http://schemas.microsoft.com/office/powerpoint/2010/main" val="301246312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怎样使用设计模式（续）</a:t>
            </a:r>
          </a:p>
        </p:txBody>
      </p:sp>
      <p:sp>
        <p:nvSpPr>
          <p:cNvPr id="36867" name="Rectangle 3"/>
          <p:cNvSpPr>
            <a:spLocks noGrp="1" noChangeArrowheads="1"/>
          </p:cNvSpPr>
          <p:nvPr>
            <p:ph type="body" idx="1"/>
          </p:nvPr>
        </p:nvSpPr>
        <p:spPr>
          <a:xfrm>
            <a:off x="611560" y="1556792"/>
            <a:ext cx="7935416" cy="4370040"/>
          </a:xfrm>
        </p:spPr>
        <p:txBody>
          <a:bodyPr>
            <a:normAutofit/>
          </a:bodyPr>
          <a:lstStyle/>
          <a:p>
            <a:pPr eaLnBrk="1" hangingPunct="1">
              <a:spcBef>
                <a:spcPct val="50000"/>
              </a:spcBef>
              <a:buFontTx/>
              <a:buNone/>
            </a:pPr>
            <a:r>
              <a:rPr lang="en-US" altLang="zh-CN" sz="2400" b="1" dirty="0" smtClean="0">
                <a:ea typeface="楷体_GB2312" pitchFamily="49" charset="-122"/>
              </a:rPr>
              <a:t>5) </a:t>
            </a:r>
            <a:r>
              <a:rPr lang="zh-CN" altLang="en-US" sz="2400" b="1" dirty="0" smtClean="0">
                <a:solidFill>
                  <a:srgbClr val="0000CC"/>
                </a:solidFill>
                <a:ea typeface="楷体_GB2312" pitchFamily="49" charset="-122"/>
              </a:rPr>
              <a:t>定义类    </a:t>
            </a:r>
            <a:r>
              <a:rPr lang="zh-CN" altLang="en-US" sz="2400" b="1" dirty="0" smtClean="0">
                <a:ea typeface="楷体_GB2312" pitchFamily="49" charset="-122"/>
              </a:rPr>
              <a:t>声明它们的接口，建立它们的继承关系，定义代表数据和对象引用的实例变量。识别模式会影响到的你的应用中存在的类，做出相应的修改。</a:t>
            </a:r>
          </a:p>
          <a:p>
            <a:pPr eaLnBrk="1" hangingPunct="1">
              <a:spcBef>
                <a:spcPct val="50000"/>
              </a:spcBef>
              <a:buFontTx/>
              <a:buNone/>
            </a:pPr>
            <a:r>
              <a:rPr lang="en-US" altLang="zh-CN" sz="2400" b="1" dirty="0" smtClean="0">
                <a:ea typeface="楷体_GB2312" pitchFamily="49" charset="-122"/>
              </a:rPr>
              <a:t>6) </a:t>
            </a:r>
            <a:r>
              <a:rPr lang="zh-CN" altLang="en-US" sz="2400" b="1" dirty="0" smtClean="0">
                <a:solidFill>
                  <a:srgbClr val="0000CC"/>
                </a:solidFill>
                <a:ea typeface="楷体_GB2312" pitchFamily="49" charset="-122"/>
              </a:rPr>
              <a:t>定义模式中专用于应用的操作名称   </a:t>
            </a:r>
            <a:r>
              <a:rPr lang="zh-CN" altLang="en-US" sz="2400" b="1" dirty="0" smtClean="0">
                <a:ea typeface="楷体_GB2312" pitchFamily="49" charset="-122"/>
              </a:rPr>
              <a:t>这里再一次体现出，名字一般依赖于应用。使用与每一个操作相关联的责任和协作作为指导。还有，你的名字约定要一致。例如，可以使用“</a:t>
            </a:r>
            <a:r>
              <a:rPr lang="en-US" altLang="zh-CN" sz="2400" b="1" dirty="0" smtClean="0">
                <a:ea typeface="楷体_GB2312" pitchFamily="49" charset="-122"/>
              </a:rPr>
              <a:t>Create-”</a:t>
            </a:r>
            <a:r>
              <a:rPr lang="zh-CN" altLang="en-US" sz="2400" b="1" dirty="0" smtClean="0">
                <a:ea typeface="楷体_GB2312" pitchFamily="49" charset="-122"/>
              </a:rPr>
              <a:t>前缀统一标记</a:t>
            </a:r>
            <a:r>
              <a:rPr lang="en-US" altLang="zh-CN" sz="2400" b="1" dirty="0" smtClean="0">
                <a:ea typeface="楷体_GB2312" pitchFamily="49" charset="-122"/>
              </a:rPr>
              <a:t>Factory</a:t>
            </a:r>
            <a:r>
              <a:rPr lang="zh-CN" altLang="en-US" sz="2400" b="1" dirty="0" smtClean="0">
                <a:ea typeface="楷体_GB2312" pitchFamily="49" charset="-122"/>
              </a:rPr>
              <a:t>方法。</a:t>
            </a:r>
          </a:p>
          <a:p>
            <a:pPr eaLnBrk="1" hangingPunct="1">
              <a:spcBef>
                <a:spcPct val="50000"/>
              </a:spcBef>
              <a:buFontTx/>
              <a:buNone/>
            </a:pPr>
            <a:r>
              <a:rPr lang="en-US" altLang="zh-CN" sz="2400" b="1" dirty="0" smtClean="0">
                <a:ea typeface="楷体_GB2312" pitchFamily="49" charset="-122"/>
              </a:rPr>
              <a:t>7) </a:t>
            </a:r>
            <a:r>
              <a:rPr lang="zh-CN" altLang="en-US" sz="2400" b="1" dirty="0" smtClean="0">
                <a:solidFill>
                  <a:srgbClr val="0000CC"/>
                </a:solidFill>
                <a:ea typeface="楷体_GB2312" pitchFamily="49" charset="-122"/>
              </a:rPr>
              <a:t>实现执行模式中责任和协作的操作    </a:t>
            </a:r>
            <a:r>
              <a:rPr lang="zh-CN" altLang="en-US" sz="2400" b="1" dirty="0" smtClean="0">
                <a:ea typeface="楷体_GB2312" pitchFamily="49" charset="-122"/>
              </a:rPr>
              <a:t>实现部分提供线索指导你进行实现。代码示例部分的例子也能提供帮助。</a:t>
            </a:r>
          </a:p>
        </p:txBody>
      </p:sp>
    </p:spTree>
    <p:extLst>
      <p:ext uri="{BB962C8B-B14F-4D97-AF65-F5344CB8AC3E}">
        <p14:creationId xmlns:p14="http://schemas.microsoft.com/office/powerpoint/2010/main" val="10135834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b="1" dirty="0" smtClean="0">
                <a:ea typeface="楷体_GB2312" pitchFamily="49" charset="-122"/>
              </a:rPr>
              <a:t>6.5 </a:t>
            </a:r>
            <a:r>
              <a:rPr lang="zh-CN" altLang="en-US" b="1" dirty="0" smtClean="0">
                <a:ea typeface="楷体_GB2312" pitchFamily="49" charset="-122"/>
              </a:rPr>
              <a:t>设计模式怎样解决设计问题</a:t>
            </a:r>
          </a:p>
        </p:txBody>
      </p:sp>
      <p:sp>
        <p:nvSpPr>
          <p:cNvPr id="416771" name="Rectangle 3"/>
          <p:cNvSpPr>
            <a:spLocks noGrp="1" noChangeArrowheads="1"/>
          </p:cNvSpPr>
          <p:nvPr>
            <p:ph type="body" idx="1"/>
          </p:nvPr>
        </p:nvSpPr>
        <p:spPr>
          <a:xfrm>
            <a:off x="611560" y="1916832"/>
            <a:ext cx="7666112" cy="3600400"/>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设计应支持变化</a:t>
            </a:r>
            <a:endParaRPr lang="zh-CN" altLang="en-US" sz="2400" b="1" dirty="0" smtClean="0">
              <a:ea typeface="楷体_GB2312" pitchFamily="49" charset="-122"/>
            </a:endParaRPr>
          </a:p>
          <a:p>
            <a:pPr eaLnBrk="1" hangingPunct="1">
              <a:spcBef>
                <a:spcPct val="50000"/>
              </a:spcBef>
              <a:buFont typeface="Wingdings" pitchFamily="2" charset="2"/>
              <a:buChar char="Ø"/>
            </a:pPr>
            <a:r>
              <a:rPr lang="zh-CN" altLang="en-US" sz="2400" b="1" dirty="0" smtClean="0">
                <a:ea typeface="楷体_GB2312" pitchFamily="49" charset="-122"/>
              </a:rPr>
              <a:t>设计模式可以确保系统能以特定方式变化，从而帮助避免重新设计系统。</a:t>
            </a:r>
          </a:p>
          <a:p>
            <a:pPr eaLnBrk="1" hangingPunct="1">
              <a:spcBef>
                <a:spcPct val="50000"/>
              </a:spcBef>
              <a:buFont typeface="Wingdings" pitchFamily="2" charset="2"/>
              <a:buChar char="Ø"/>
            </a:pPr>
            <a:endParaRPr lang="zh-CN" altLang="en-US" sz="2400" b="1" dirty="0" smtClean="0">
              <a:ea typeface="楷体_GB2312" pitchFamily="49" charset="-122"/>
            </a:endParaRPr>
          </a:p>
          <a:p>
            <a:pPr eaLnBrk="1" hangingPunct="1">
              <a:spcBef>
                <a:spcPct val="50000"/>
              </a:spcBef>
              <a:buFont typeface="Wingdings" pitchFamily="2" charset="2"/>
              <a:buChar char="Ø"/>
            </a:pPr>
            <a:r>
              <a:rPr lang="zh-CN" altLang="en-US" sz="2400" b="1" dirty="0" smtClean="0">
                <a:ea typeface="楷体_GB2312" pitchFamily="49" charset="-122"/>
              </a:rPr>
              <a:t>每一个设计模式允许系统结构的某个方面的变化独立于其他方面，这样产生的系统对于某一种特殊变化将更健壮。</a:t>
            </a:r>
          </a:p>
        </p:txBody>
      </p:sp>
    </p:spTree>
    <p:extLst>
      <p:ext uri="{BB962C8B-B14F-4D97-AF65-F5344CB8AC3E}">
        <p14:creationId xmlns:p14="http://schemas.microsoft.com/office/powerpoint/2010/main" val="2872531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animEffect transition="in" filter="blinds(horizontal)">
                                      <p:cBhvr>
                                        <p:cTn id="7" dur="500"/>
                                        <p:tgtEl>
                                          <p:spTgt spid="4167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6771">
                                            <p:txEl>
                                              <p:pRg st="3" end="3"/>
                                            </p:txEl>
                                          </p:spTgt>
                                        </p:tgtEl>
                                        <p:attrNameLst>
                                          <p:attrName>style.visibility</p:attrName>
                                        </p:attrNameLst>
                                      </p:cBhvr>
                                      <p:to>
                                        <p:strVal val="visible"/>
                                      </p:to>
                                    </p:set>
                                    <p:animEffect transition="in" filter="blinds(horizontal)">
                                      <p:cBhvr>
                                        <p:cTn id="12" dur="500"/>
                                        <p:tgtEl>
                                          <p:spTgt spid="416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17795" name="Rectangle 3"/>
          <p:cNvSpPr>
            <a:spLocks noGrp="1" noChangeArrowheads="1"/>
          </p:cNvSpPr>
          <p:nvPr>
            <p:ph type="body" idx="1"/>
          </p:nvPr>
        </p:nvSpPr>
        <p:spPr>
          <a:xfrm>
            <a:off x="539552" y="1628800"/>
            <a:ext cx="8015808" cy="3785592"/>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通过显式地指定一个类来创建对象   </a:t>
            </a:r>
            <a:r>
              <a:rPr lang="zh-CN" altLang="en-US" sz="2400" b="1" dirty="0" smtClean="0">
                <a:ea typeface="楷体_GB2312" pitchFamily="49" charset="-122"/>
              </a:rPr>
              <a:t>在创建对象时指定类名将使你受特定实现的约束而不是特定接口的约束。这会使未来的变化更复杂。要避免这种情况，应该间接地创建对象。</a:t>
            </a:r>
          </a:p>
          <a:p>
            <a:pPr eaLnBrk="1" hangingPunct="1">
              <a:spcBef>
                <a:spcPct val="50000"/>
              </a:spcBef>
              <a:buFont typeface="Wingdings" pitchFamily="2" charset="2"/>
              <a:buChar char="Ø"/>
            </a:pPr>
            <a:endParaRPr lang="zh-CN" altLang="en-US" sz="2400" b="1" dirty="0" smtClean="0">
              <a:ea typeface="楷体_GB2312" pitchFamily="49" charset="-122"/>
            </a:endParaRPr>
          </a:p>
          <a:p>
            <a:pPr eaLnBrk="1" hangingPunct="1">
              <a:spcBef>
                <a:spcPct val="50000"/>
              </a:spcBef>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Abstract Factory</a:t>
            </a:r>
            <a:r>
              <a:rPr lang="zh-CN" altLang="en-US" sz="2400" b="1" dirty="0" smtClean="0">
                <a:ea typeface="楷体_GB2312" pitchFamily="49" charset="-122"/>
              </a:rPr>
              <a:t>，</a:t>
            </a:r>
            <a:r>
              <a:rPr lang="en-US" altLang="zh-CN" sz="2400" b="1" dirty="0" smtClean="0">
                <a:ea typeface="楷体_GB2312" pitchFamily="49" charset="-122"/>
              </a:rPr>
              <a:t>Factory Method</a:t>
            </a:r>
            <a:r>
              <a:rPr lang="zh-CN" altLang="en-US" sz="2400" b="1" dirty="0" smtClean="0">
                <a:ea typeface="楷体_GB2312" pitchFamily="49" charset="-122"/>
              </a:rPr>
              <a:t>，</a:t>
            </a:r>
            <a:r>
              <a:rPr lang="en-US" altLang="zh-CN" sz="2400" b="1" dirty="0" smtClean="0">
                <a:ea typeface="楷体_GB2312" pitchFamily="49" charset="-122"/>
              </a:rPr>
              <a:t>Prototype</a:t>
            </a:r>
            <a:r>
              <a:rPr lang="zh-CN" altLang="en-US" sz="2400" b="1" dirty="0" smtClean="0">
                <a:ea typeface="楷体_GB2312" pitchFamily="49" charset="-122"/>
              </a:rPr>
              <a:t>。</a:t>
            </a:r>
          </a:p>
        </p:txBody>
      </p:sp>
    </p:spTree>
    <p:extLst>
      <p:ext uri="{BB962C8B-B14F-4D97-AF65-F5344CB8AC3E}">
        <p14:creationId xmlns:p14="http://schemas.microsoft.com/office/powerpoint/2010/main" val="2345942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7795">
                                            <p:txEl>
                                              <p:pRg st="2" end="2"/>
                                            </p:txEl>
                                          </p:spTgt>
                                        </p:tgtEl>
                                        <p:attrNameLst>
                                          <p:attrName>style.visibility</p:attrName>
                                        </p:attrNameLst>
                                      </p:cBhvr>
                                      <p:to>
                                        <p:strVal val="visible"/>
                                      </p:to>
                                    </p:set>
                                    <p:animEffect transition="in" filter="blinds(horizontal)">
                                      <p:cBhvr>
                                        <p:cTn id="7" dur="500"/>
                                        <p:tgtEl>
                                          <p:spTgt spid="41779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7795">
                                            <p:txEl>
                                              <p:pRg st="4" end="4"/>
                                            </p:txEl>
                                          </p:spTgt>
                                        </p:tgtEl>
                                        <p:attrNameLst>
                                          <p:attrName>style.visibility</p:attrName>
                                        </p:attrNameLst>
                                      </p:cBhvr>
                                      <p:to>
                                        <p:strVal val="visible"/>
                                      </p:to>
                                    </p:set>
                                    <p:animEffect transition="in" filter="blinds(horizontal)">
                                      <p:cBhvr>
                                        <p:cTn id="12" dur="500"/>
                                        <p:tgtEl>
                                          <p:spTgt spid="417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18819" name="Rectangle 3"/>
          <p:cNvSpPr>
            <a:spLocks noGrp="1" noChangeArrowheads="1"/>
          </p:cNvSpPr>
          <p:nvPr>
            <p:ph type="body" idx="1"/>
          </p:nvPr>
        </p:nvSpPr>
        <p:spPr>
          <a:xfrm>
            <a:off x="467544" y="1772816"/>
            <a:ext cx="8015808" cy="3497560"/>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对特殊操作的依赖</a:t>
            </a:r>
            <a:r>
              <a:rPr lang="zh-CN" altLang="en-US" sz="2400" b="1" dirty="0" smtClean="0">
                <a:ea typeface="楷体_GB2312" pitchFamily="49" charset="-122"/>
              </a:rPr>
              <a:t>  当你为请求指定一个特殊的操作时，完成该请求的方式就固定下来了。为避免把请求代码写死，你将可以在编译时刻或运行时刻很方便地改变响应请求的方法。</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Chain of Responsibility</a:t>
            </a:r>
            <a:r>
              <a:rPr lang="zh-CN" altLang="en-US" sz="2400" b="1" dirty="0" smtClean="0">
                <a:ea typeface="楷体_GB2312" pitchFamily="49" charset="-122"/>
              </a:rPr>
              <a:t>，</a:t>
            </a:r>
            <a:r>
              <a:rPr lang="en-US" altLang="zh-CN" sz="2400" b="1" dirty="0" smtClean="0">
                <a:ea typeface="楷体_GB2312" pitchFamily="49" charset="-122"/>
              </a:rPr>
              <a:t>Command</a:t>
            </a:r>
            <a:r>
              <a:rPr lang="zh-CN" altLang="en-US" sz="2400" b="1" dirty="0" smtClean="0">
                <a:ea typeface="楷体_GB2312" pitchFamily="49" charset="-122"/>
              </a:rPr>
              <a:t>。</a:t>
            </a:r>
          </a:p>
        </p:txBody>
      </p:sp>
    </p:spTree>
    <p:extLst>
      <p:ext uri="{BB962C8B-B14F-4D97-AF65-F5344CB8AC3E}">
        <p14:creationId xmlns:p14="http://schemas.microsoft.com/office/powerpoint/2010/main" val="2499464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8819">
                                            <p:txEl>
                                              <p:pRg st="2" end="2"/>
                                            </p:txEl>
                                          </p:spTgt>
                                        </p:tgtEl>
                                        <p:attrNameLst>
                                          <p:attrName>style.visibility</p:attrName>
                                        </p:attrNameLst>
                                      </p:cBhvr>
                                      <p:to>
                                        <p:strVal val="visible"/>
                                      </p:to>
                                    </p:set>
                                    <p:animEffect transition="in" filter="blinds(horizontal)">
                                      <p:cBhvr>
                                        <p:cTn id="7" dur="500"/>
                                        <p:tgtEl>
                                          <p:spTgt spid="4188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8819">
                                            <p:txEl>
                                              <p:pRg st="4" end="4"/>
                                            </p:txEl>
                                          </p:spTgt>
                                        </p:tgtEl>
                                        <p:attrNameLst>
                                          <p:attrName>style.visibility</p:attrName>
                                        </p:attrNameLst>
                                      </p:cBhvr>
                                      <p:to>
                                        <p:strVal val="visible"/>
                                      </p:to>
                                    </p:set>
                                    <p:animEffect transition="in" filter="blinds(horizontal)">
                                      <p:cBhvr>
                                        <p:cTn id="12" dur="500"/>
                                        <p:tgtEl>
                                          <p:spTgt spid="418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19843" name="Rectangle 3"/>
          <p:cNvSpPr>
            <a:spLocks noGrp="1" noChangeArrowheads="1"/>
          </p:cNvSpPr>
          <p:nvPr>
            <p:ph type="body" idx="1"/>
          </p:nvPr>
        </p:nvSpPr>
        <p:spPr>
          <a:xfrm>
            <a:off x="611560" y="1772816"/>
            <a:ext cx="7943800" cy="3785592"/>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对硬件和软件平台的依赖</a:t>
            </a:r>
            <a:r>
              <a:rPr lang="zh-CN" altLang="en-US" sz="2400" b="1" dirty="0" smtClean="0">
                <a:ea typeface="楷体_GB2312" pitchFamily="49" charset="-122"/>
              </a:rPr>
              <a:t>   外部的操作系统接口和应用编程接口</a:t>
            </a:r>
            <a:r>
              <a:rPr lang="en-US" altLang="zh-CN" sz="2400" b="1" dirty="0" smtClean="0">
                <a:ea typeface="楷体_GB2312" pitchFamily="49" charset="-122"/>
              </a:rPr>
              <a:t>( API )</a:t>
            </a:r>
            <a:r>
              <a:rPr lang="zh-CN" altLang="en-US" sz="2400" b="1" dirty="0" smtClean="0">
                <a:ea typeface="楷体_GB2312" pitchFamily="49" charset="-122"/>
              </a:rPr>
              <a:t>在不同的软硬件平台上是不同的。依赖于特定平台的软件将很难移植到其他平台上，甚至都很难跟上本地平台的更新。所以设计系统时限制其平台相关性就很重要了。</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pt-BR" altLang="en-US" sz="2400" b="1" dirty="0" smtClean="0">
                <a:ea typeface="楷体_GB2312" pitchFamily="49" charset="-122"/>
              </a:rPr>
              <a:t>Abstract Factory，Bridge。</a:t>
            </a:r>
            <a:endParaRPr lang="zh-CN" altLang="en-US" sz="2400" b="1" dirty="0" smtClean="0">
              <a:ea typeface="楷体_GB2312" pitchFamily="49" charset="-122"/>
            </a:endParaRPr>
          </a:p>
        </p:txBody>
      </p:sp>
    </p:spTree>
    <p:extLst>
      <p:ext uri="{BB962C8B-B14F-4D97-AF65-F5344CB8AC3E}">
        <p14:creationId xmlns:p14="http://schemas.microsoft.com/office/powerpoint/2010/main" val="3453848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43">
                                            <p:txEl>
                                              <p:pRg st="2" end="2"/>
                                            </p:txEl>
                                          </p:spTgt>
                                        </p:tgtEl>
                                        <p:attrNameLst>
                                          <p:attrName>style.visibility</p:attrName>
                                        </p:attrNameLst>
                                      </p:cBhvr>
                                      <p:to>
                                        <p:strVal val="visible"/>
                                      </p:to>
                                    </p:set>
                                    <p:animEffect transition="in" filter="blinds(horizontal)">
                                      <p:cBhvr>
                                        <p:cTn id="7" dur="500"/>
                                        <p:tgtEl>
                                          <p:spTgt spid="4198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9843">
                                            <p:txEl>
                                              <p:pRg st="4" end="4"/>
                                            </p:txEl>
                                          </p:spTgt>
                                        </p:tgtEl>
                                        <p:attrNameLst>
                                          <p:attrName>style.visibility</p:attrName>
                                        </p:attrNameLst>
                                      </p:cBhvr>
                                      <p:to>
                                        <p:strVal val="visible"/>
                                      </p:to>
                                    </p:set>
                                    <p:animEffect transition="in" filter="blinds(horizontal)">
                                      <p:cBhvr>
                                        <p:cTn id="12" dur="500"/>
                                        <p:tgtEl>
                                          <p:spTgt spid="419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0867" name="Rectangle 3"/>
          <p:cNvSpPr>
            <a:spLocks noGrp="1" noChangeArrowheads="1"/>
          </p:cNvSpPr>
          <p:nvPr>
            <p:ph type="body" idx="1"/>
          </p:nvPr>
        </p:nvSpPr>
        <p:spPr>
          <a:xfrm>
            <a:off x="467544" y="1844824"/>
            <a:ext cx="7943800" cy="3497560"/>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对对象表示或实现的依赖</a:t>
            </a:r>
            <a:r>
              <a:rPr lang="zh-CN" altLang="en-US" sz="2400" b="1" dirty="0" smtClean="0">
                <a:ea typeface="楷体_GB2312" pitchFamily="49" charset="-122"/>
              </a:rPr>
              <a:t>   知道对象怎样表示、保存、定位或实现的客户在对象发生变化时可能也需要变化。对客户隐藏这些信息能阻止连锁变化。</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Abstract Factory</a:t>
            </a:r>
            <a:r>
              <a:rPr lang="zh-CN" altLang="en-US" sz="2400" b="1" dirty="0" smtClean="0">
                <a:ea typeface="楷体_GB2312" pitchFamily="49" charset="-122"/>
              </a:rPr>
              <a:t>，</a:t>
            </a:r>
            <a:r>
              <a:rPr lang="en-US" altLang="zh-CN" sz="2400" b="1" dirty="0" smtClean="0">
                <a:ea typeface="楷体_GB2312" pitchFamily="49" charset="-122"/>
              </a:rPr>
              <a:t>Bridge</a:t>
            </a:r>
            <a:r>
              <a:rPr lang="zh-CN" altLang="en-US" sz="2400" b="1" dirty="0" smtClean="0">
                <a:ea typeface="楷体_GB2312" pitchFamily="49" charset="-122"/>
              </a:rPr>
              <a:t>，</a:t>
            </a:r>
            <a:r>
              <a:rPr lang="en-US" altLang="zh-CN" sz="2400" b="1" dirty="0" smtClean="0">
                <a:ea typeface="楷体_GB2312" pitchFamily="49" charset="-122"/>
              </a:rPr>
              <a:t>Memento</a:t>
            </a:r>
            <a:r>
              <a:rPr lang="zh-CN" altLang="en-US" sz="2400" b="1" dirty="0" smtClean="0">
                <a:ea typeface="楷体_GB2312" pitchFamily="49" charset="-122"/>
              </a:rPr>
              <a:t>，</a:t>
            </a:r>
            <a:r>
              <a:rPr lang="en-US" altLang="zh-CN" sz="2400" b="1" dirty="0" smtClean="0">
                <a:ea typeface="楷体_GB2312" pitchFamily="49" charset="-122"/>
              </a:rPr>
              <a:t>Proxy</a:t>
            </a:r>
          </a:p>
        </p:txBody>
      </p:sp>
    </p:spTree>
    <p:extLst>
      <p:ext uri="{BB962C8B-B14F-4D97-AF65-F5344CB8AC3E}">
        <p14:creationId xmlns:p14="http://schemas.microsoft.com/office/powerpoint/2010/main" val="3714673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0867">
                                            <p:txEl>
                                              <p:pRg st="2" end="2"/>
                                            </p:txEl>
                                          </p:spTgt>
                                        </p:tgtEl>
                                        <p:attrNameLst>
                                          <p:attrName>style.visibility</p:attrName>
                                        </p:attrNameLst>
                                      </p:cBhvr>
                                      <p:to>
                                        <p:strVal val="visible"/>
                                      </p:to>
                                    </p:set>
                                    <p:animEffect transition="in" filter="blinds(horizontal)">
                                      <p:cBhvr>
                                        <p:cTn id="7" dur="500"/>
                                        <p:tgtEl>
                                          <p:spTgt spid="4208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0867">
                                            <p:txEl>
                                              <p:pRg st="4" end="4"/>
                                            </p:txEl>
                                          </p:spTgt>
                                        </p:tgtEl>
                                        <p:attrNameLst>
                                          <p:attrName>style.visibility</p:attrName>
                                        </p:attrNameLst>
                                      </p:cBhvr>
                                      <p:to>
                                        <p:strVal val="visible"/>
                                      </p:to>
                                    </p:set>
                                    <p:animEffect transition="in" filter="blinds(horizontal)">
                                      <p:cBhvr>
                                        <p:cTn id="12" dur="500"/>
                                        <p:tgtEl>
                                          <p:spTgt spid="4208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2915" name="Rectangle 3"/>
          <p:cNvSpPr>
            <a:spLocks noGrp="1" noChangeArrowheads="1"/>
          </p:cNvSpPr>
          <p:nvPr>
            <p:ph type="body" idx="1"/>
          </p:nvPr>
        </p:nvSpPr>
        <p:spPr>
          <a:xfrm>
            <a:off x="611560" y="1700808"/>
            <a:ext cx="7655768" cy="3641576"/>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算法依赖</a:t>
            </a:r>
            <a:r>
              <a:rPr lang="zh-CN" altLang="en-US" sz="2400" b="1" dirty="0" smtClean="0">
                <a:ea typeface="楷体_GB2312" pitchFamily="49" charset="-122"/>
              </a:rPr>
              <a:t>   算法在开发和复用时常常被扩展、优化和替代。依赖于某个特定算法的对象在算法发生变化时不得不变化。因此有可能发生变化的算法应该被孤立起来。</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Builder</a:t>
            </a:r>
            <a:r>
              <a:rPr lang="zh-CN" altLang="en-US" sz="2400" b="1" dirty="0" smtClean="0">
                <a:ea typeface="楷体_GB2312" pitchFamily="49" charset="-122"/>
              </a:rPr>
              <a:t>，</a:t>
            </a:r>
            <a:r>
              <a:rPr lang="en-US" altLang="zh-CN" sz="2400" b="1" dirty="0" smtClean="0">
                <a:ea typeface="楷体_GB2312" pitchFamily="49" charset="-122"/>
              </a:rPr>
              <a:t>Iterator</a:t>
            </a:r>
            <a:r>
              <a:rPr lang="zh-CN" altLang="en-US" sz="2400" b="1" dirty="0" smtClean="0">
                <a:ea typeface="楷体_GB2312" pitchFamily="49" charset="-122"/>
              </a:rPr>
              <a:t>，</a:t>
            </a:r>
            <a:r>
              <a:rPr lang="en-US" altLang="zh-CN" sz="2400" b="1" dirty="0" smtClean="0">
                <a:ea typeface="楷体_GB2312" pitchFamily="49" charset="-122"/>
              </a:rPr>
              <a:t>Strategy</a:t>
            </a:r>
            <a:r>
              <a:rPr lang="zh-CN" altLang="en-US" sz="2400" b="1" dirty="0" smtClean="0">
                <a:ea typeface="楷体_GB2312" pitchFamily="49" charset="-122"/>
              </a:rPr>
              <a:t>，</a:t>
            </a:r>
            <a:r>
              <a:rPr lang="en-US" altLang="zh-CN" sz="2400" b="1" dirty="0" smtClean="0">
                <a:ea typeface="楷体_GB2312" pitchFamily="49" charset="-122"/>
              </a:rPr>
              <a:t>Template Method</a:t>
            </a:r>
            <a:r>
              <a:rPr lang="zh-CN" altLang="en-US" sz="2400" b="1" dirty="0" smtClean="0">
                <a:ea typeface="楷体_GB2312" pitchFamily="49" charset="-122"/>
              </a:rPr>
              <a:t>，</a:t>
            </a:r>
            <a:r>
              <a:rPr lang="en-US" altLang="zh-CN" sz="2400" b="1" dirty="0" smtClean="0">
                <a:ea typeface="楷体_GB2312" pitchFamily="49" charset="-122"/>
              </a:rPr>
              <a:t>Visitor</a:t>
            </a:r>
          </a:p>
        </p:txBody>
      </p:sp>
    </p:spTree>
    <p:extLst>
      <p:ext uri="{BB962C8B-B14F-4D97-AF65-F5344CB8AC3E}">
        <p14:creationId xmlns:p14="http://schemas.microsoft.com/office/powerpoint/2010/main" val="6987271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2915">
                                            <p:txEl>
                                              <p:pRg st="2" end="2"/>
                                            </p:txEl>
                                          </p:spTgt>
                                        </p:tgtEl>
                                        <p:attrNameLst>
                                          <p:attrName>style.visibility</p:attrName>
                                        </p:attrNameLst>
                                      </p:cBhvr>
                                      <p:to>
                                        <p:strVal val="visible"/>
                                      </p:to>
                                    </p:set>
                                    <p:animEffect transition="in" filter="blinds(horizontal)">
                                      <p:cBhvr>
                                        <p:cTn id="7" dur="500"/>
                                        <p:tgtEl>
                                          <p:spTgt spid="42291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2915">
                                            <p:txEl>
                                              <p:pRg st="4" end="4"/>
                                            </p:txEl>
                                          </p:spTgt>
                                        </p:tgtEl>
                                        <p:attrNameLst>
                                          <p:attrName>style.visibility</p:attrName>
                                        </p:attrNameLst>
                                      </p:cBhvr>
                                      <p:to>
                                        <p:strVal val="visible"/>
                                      </p:to>
                                    </p:set>
                                    <p:animEffect transition="in" filter="blinds(horizontal)">
                                      <p:cBhvr>
                                        <p:cTn id="12" dur="500"/>
                                        <p:tgtEl>
                                          <p:spTgt spid="4229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3939" name="Rectangle 3"/>
          <p:cNvSpPr>
            <a:spLocks noGrp="1" noChangeArrowheads="1"/>
          </p:cNvSpPr>
          <p:nvPr>
            <p:ph type="body" idx="1"/>
          </p:nvPr>
        </p:nvSpPr>
        <p:spPr>
          <a:xfrm>
            <a:off x="683568" y="1484784"/>
            <a:ext cx="7871792" cy="4361656"/>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紧耦合</a:t>
            </a:r>
            <a:r>
              <a:rPr lang="zh-CN" altLang="en-US" sz="2400" b="1" dirty="0" smtClean="0">
                <a:ea typeface="楷体_GB2312" pitchFamily="49" charset="-122"/>
              </a:rPr>
              <a:t>   紧耦合的类很难独立地被复用，因为它们是互相依赖的。紧耦合产生单块的系统，要改变或删掉一个类，你必须理解和改变其他许多类。这样的系统是一个很难学习、移植和维护的密集体。松散耦合提高了一个类本身被复用的可能性，并且系统更易于学习、移植、修改和扩展。设计模式使用抽象耦合和分层技术来提高系统的松散耦合性。</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Abstract Factory</a:t>
            </a:r>
            <a:r>
              <a:rPr lang="zh-CN" altLang="en-US" sz="2400" b="1" dirty="0" smtClean="0">
                <a:ea typeface="楷体_GB2312" pitchFamily="49" charset="-122"/>
              </a:rPr>
              <a:t>，</a:t>
            </a:r>
            <a:r>
              <a:rPr lang="en-US" altLang="zh-CN" sz="2400" b="1" dirty="0" smtClean="0">
                <a:ea typeface="楷体_GB2312" pitchFamily="49" charset="-122"/>
              </a:rPr>
              <a:t>Command</a:t>
            </a:r>
            <a:r>
              <a:rPr lang="zh-CN" altLang="en-US" sz="2400" b="1" dirty="0" smtClean="0">
                <a:ea typeface="楷体_GB2312" pitchFamily="49" charset="-122"/>
              </a:rPr>
              <a:t>，</a:t>
            </a:r>
            <a:r>
              <a:rPr lang="en-US" altLang="zh-CN" sz="2400" b="1" dirty="0" smtClean="0">
                <a:ea typeface="楷体_GB2312" pitchFamily="49" charset="-122"/>
              </a:rPr>
              <a:t>Facade</a:t>
            </a:r>
            <a:r>
              <a:rPr lang="zh-CN" altLang="en-US" sz="2400" b="1" dirty="0" smtClean="0">
                <a:ea typeface="楷体_GB2312" pitchFamily="49" charset="-122"/>
              </a:rPr>
              <a:t>，</a:t>
            </a:r>
            <a:r>
              <a:rPr lang="en-US" altLang="zh-CN" sz="2400" b="1" dirty="0" smtClean="0">
                <a:ea typeface="楷体_GB2312" pitchFamily="49" charset="-122"/>
              </a:rPr>
              <a:t>Mediator</a:t>
            </a:r>
            <a:r>
              <a:rPr lang="zh-CN" altLang="en-US" sz="2400" b="1" dirty="0" smtClean="0">
                <a:ea typeface="楷体_GB2312" pitchFamily="49" charset="-122"/>
              </a:rPr>
              <a:t>，</a:t>
            </a:r>
            <a:r>
              <a:rPr lang="en-US" altLang="zh-CN" sz="2400" b="1" dirty="0" smtClean="0">
                <a:ea typeface="楷体_GB2312" pitchFamily="49" charset="-122"/>
              </a:rPr>
              <a:t>Observer </a:t>
            </a:r>
            <a:r>
              <a:rPr lang="zh-CN" altLang="en-US" sz="2400" b="1" dirty="0" smtClean="0">
                <a:ea typeface="楷体_GB2312" pitchFamily="49" charset="-122"/>
              </a:rPr>
              <a:t>，</a:t>
            </a:r>
            <a:r>
              <a:rPr lang="en-US" altLang="zh-CN" sz="2400" b="1" dirty="0" smtClean="0">
                <a:ea typeface="楷体_GB2312" pitchFamily="49" charset="-122"/>
              </a:rPr>
              <a:t>Chain of Responsibility</a:t>
            </a:r>
            <a:r>
              <a:rPr lang="zh-CN" altLang="en-US" sz="2400" b="1" dirty="0" smtClean="0">
                <a:ea typeface="楷体_GB2312" pitchFamily="49" charset="-122"/>
              </a:rPr>
              <a:t>。</a:t>
            </a:r>
          </a:p>
        </p:txBody>
      </p:sp>
    </p:spTree>
    <p:extLst>
      <p:ext uri="{BB962C8B-B14F-4D97-AF65-F5344CB8AC3E}">
        <p14:creationId xmlns:p14="http://schemas.microsoft.com/office/powerpoint/2010/main" val="16652280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3939">
                                            <p:txEl>
                                              <p:pRg st="1" end="1"/>
                                            </p:txEl>
                                          </p:spTgt>
                                        </p:tgtEl>
                                        <p:attrNameLst>
                                          <p:attrName>style.visibility</p:attrName>
                                        </p:attrNameLst>
                                      </p:cBhvr>
                                      <p:to>
                                        <p:strVal val="visible"/>
                                      </p:to>
                                    </p:set>
                                    <p:animEffect transition="in" filter="blinds(horizontal)">
                                      <p:cBhvr>
                                        <p:cTn id="7" dur="500"/>
                                        <p:tgtEl>
                                          <p:spTgt spid="4239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3939">
                                            <p:txEl>
                                              <p:pRg st="3" end="3"/>
                                            </p:txEl>
                                          </p:spTgt>
                                        </p:tgtEl>
                                        <p:attrNameLst>
                                          <p:attrName>style.visibility</p:attrName>
                                        </p:attrNameLst>
                                      </p:cBhvr>
                                      <p:to>
                                        <p:strVal val="visible"/>
                                      </p:to>
                                    </p:set>
                                    <p:animEffect transition="in" filter="blinds(horizontal)">
                                      <p:cBhvr>
                                        <p:cTn id="12" dur="5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4963" name="Rectangle 3"/>
          <p:cNvSpPr>
            <a:spLocks noGrp="1" noChangeArrowheads="1"/>
          </p:cNvSpPr>
          <p:nvPr>
            <p:ph type="body" idx="1"/>
          </p:nvPr>
        </p:nvSpPr>
        <p:spPr>
          <a:xfrm>
            <a:off x="467544" y="1700808"/>
            <a:ext cx="8231832" cy="3785592"/>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solidFill>
                <a:srgbClr val="0000CC"/>
              </a:solidFill>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通过生成子类来扩充功能</a:t>
            </a:r>
            <a:r>
              <a:rPr lang="zh-CN" altLang="en-US" sz="2400" b="1" dirty="0" smtClean="0">
                <a:ea typeface="楷体_GB2312" pitchFamily="49" charset="-122"/>
              </a:rPr>
              <a:t>   通常很难通过定义子类来定制对象。每一个新类都有固定的实现开销</a:t>
            </a:r>
            <a:r>
              <a:rPr lang="en-US" altLang="zh-CN" sz="2400" b="1" dirty="0" smtClean="0">
                <a:ea typeface="楷体_GB2312" pitchFamily="49" charset="-122"/>
              </a:rPr>
              <a:t>(</a:t>
            </a:r>
            <a:r>
              <a:rPr lang="zh-CN" altLang="en-US" sz="2400" b="1" dirty="0" smtClean="0">
                <a:ea typeface="楷体_GB2312" pitchFamily="49" charset="-122"/>
              </a:rPr>
              <a:t>初始化、终止处理等</a:t>
            </a:r>
            <a:r>
              <a:rPr lang="en-US" altLang="zh-CN" sz="2400" b="1" dirty="0" smtClean="0">
                <a:ea typeface="楷体_GB2312" pitchFamily="49" charset="-122"/>
              </a:rPr>
              <a:t>)</a:t>
            </a:r>
            <a:r>
              <a:rPr lang="zh-CN" altLang="en-US" sz="2400" b="1" dirty="0" smtClean="0">
                <a:ea typeface="楷体_GB2312" pitchFamily="49" charset="-122"/>
              </a:rPr>
              <a:t>。定义子类还需要对父类有深入的了解。如，重定义一个操作可能需要重定义其他操作。一个被重定义的操作可能需要调用继承下来的操作。并且子类方法会导致类爆炸，因为即使对于一个简单的扩充，你也不得不引入许多新的子类。</a:t>
            </a:r>
          </a:p>
        </p:txBody>
      </p:sp>
    </p:spTree>
    <p:extLst>
      <p:ext uri="{BB962C8B-B14F-4D97-AF65-F5344CB8AC3E}">
        <p14:creationId xmlns:p14="http://schemas.microsoft.com/office/powerpoint/2010/main" val="175850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4963">
                                            <p:txEl>
                                              <p:pRg st="2" end="2"/>
                                            </p:txEl>
                                          </p:spTgt>
                                        </p:tgtEl>
                                        <p:attrNameLst>
                                          <p:attrName>style.visibility</p:attrName>
                                        </p:attrNameLst>
                                      </p:cBhvr>
                                      <p:to>
                                        <p:strVal val="visible"/>
                                      </p:to>
                                    </p:set>
                                    <p:animEffect transition="in" filter="blinds(horizontal)">
                                      <p:cBhvr>
                                        <p:cTn id="7" dur="500"/>
                                        <p:tgtEl>
                                          <p:spTgt spid="4249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5987" name="Rectangle 3"/>
          <p:cNvSpPr>
            <a:spLocks noGrp="1" noChangeArrowheads="1"/>
          </p:cNvSpPr>
          <p:nvPr>
            <p:ph type="body" idx="1"/>
          </p:nvPr>
        </p:nvSpPr>
        <p:spPr>
          <a:xfrm>
            <a:off x="467544" y="1412776"/>
            <a:ext cx="8159824" cy="4793704"/>
          </a:xfrm>
        </p:spPr>
        <p:txBody>
          <a:bodyPr>
            <a:normAutofit/>
          </a:bodyPr>
          <a:lstStyle/>
          <a:p>
            <a:pPr eaLnBrk="1" hangingPunct="1">
              <a:buFontTx/>
              <a:buNone/>
            </a:pPr>
            <a:r>
              <a:rPr lang="zh-CN" altLang="en-US" sz="2400" b="1" dirty="0" smtClean="0">
                <a:solidFill>
                  <a:srgbClr val="0000CC"/>
                </a:solidFill>
                <a:ea typeface="楷体_GB2312" pitchFamily="49" charset="-122"/>
              </a:rPr>
              <a:t>导致重新设计的原因，以及解决问题的设计模式</a:t>
            </a:r>
          </a:p>
          <a:p>
            <a:pPr lvl="1" eaLnBrk="1" hangingPunct="1">
              <a:buFont typeface="Wingdings" pitchFamily="2" charset="2"/>
              <a:buChar char="Ø"/>
            </a:pPr>
            <a:r>
              <a:rPr lang="zh-CN" altLang="en-US" sz="2400" b="1" dirty="0" smtClean="0">
                <a:ea typeface="楷体_GB2312" pitchFamily="49" charset="-122"/>
              </a:rPr>
              <a:t>一般的对象组合技术和具体的委托技术，是继承之外组合对象行为的另一种灵活方法。新的功能可以通过以新的方式组合已有对象，而不是通过定义已存在类的子类的方式加到应用中去。</a:t>
            </a:r>
          </a:p>
          <a:p>
            <a:pPr lvl="1" eaLnBrk="1" hangingPunct="1">
              <a:buFont typeface="Wingdings" pitchFamily="2" charset="2"/>
              <a:buChar char="Ø"/>
            </a:pPr>
            <a:r>
              <a:rPr lang="zh-CN" altLang="en-US" sz="2400" b="1" dirty="0" smtClean="0">
                <a:ea typeface="楷体_GB2312" pitchFamily="49" charset="-122"/>
              </a:rPr>
              <a:t>另一方面，过多使用对象组合会使设计难于理解。许多设计模式产生的设计中，你可以定义一个子类，且将它的实例和已存在实例进行组合来引入定制的功能。</a:t>
            </a:r>
          </a:p>
          <a:p>
            <a:pPr eaLnBrk="1" hangingPunct="1">
              <a:buFont typeface="Wingdings" pitchFamily="2" charset="2"/>
              <a:buChar char="Ø"/>
            </a:pPr>
            <a:endParaRPr lang="zh-CN" altLang="en-US" sz="2400" b="1" dirty="0" smtClean="0">
              <a:ea typeface="楷体_GB2312" pitchFamily="49" charset="-122"/>
            </a:endParaRPr>
          </a:p>
          <a:p>
            <a:pPr eaLnBrk="1" hangingPunct="1">
              <a:buFont typeface="Wingdings" pitchFamily="2" charset="2"/>
              <a:buChar char="Ø"/>
            </a:pPr>
            <a:r>
              <a:rPr lang="zh-CN" altLang="en-US" sz="2400" b="1" dirty="0" smtClean="0">
                <a:ea typeface="楷体_GB2312" pitchFamily="49" charset="-122"/>
              </a:rPr>
              <a:t>设计模式：</a:t>
            </a:r>
            <a:r>
              <a:rPr lang="en-US" altLang="zh-CN" sz="2400" b="1" dirty="0" smtClean="0">
                <a:ea typeface="楷体_GB2312" pitchFamily="49" charset="-122"/>
              </a:rPr>
              <a:t>Bridge </a:t>
            </a:r>
            <a:r>
              <a:rPr lang="zh-CN" altLang="en-US" sz="2400" b="1" dirty="0" smtClean="0">
                <a:ea typeface="楷体_GB2312" pitchFamily="49" charset="-122"/>
              </a:rPr>
              <a:t>，</a:t>
            </a:r>
            <a:r>
              <a:rPr lang="en-US" altLang="zh-CN" sz="2400" b="1" dirty="0" smtClean="0">
                <a:ea typeface="楷体_GB2312" pitchFamily="49" charset="-122"/>
              </a:rPr>
              <a:t>Chain of Responsibility</a:t>
            </a:r>
            <a:r>
              <a:rPr lang="zh-CN" altLang="en-US" sz="2400" b="1" dirty="0" smtClean="0">
                <a:ea typeface="楷体_GB2312" pitchFamily="49" charset="-122"/>
              </a:rPr>
              <a:t>，</a:t>
            </a:r>
            <a:r>
              <a:rPr lang="en-US" altLang="zh-CN" sz="2400" b="1" dirty="0" smtClean="0">
                <a:ea typeface="楷体_GB2312" pitchFamily="49" charset="-122"/>
              </a:rPr>
              <a:t>Composite</a:t>
            </a:r>
            <a:r>
              <a:rPr lang="zh-CN" altLang="en-US" sz="2400" b="1" dirty="0" smtClean="0">
                <a:ea typeface="楷体_GB2312" pitchFamily="49" charset="-122"/>
              </a:rPr>
              <a:t>，</a:t>
            </a:r>
            <a:r>
              <a:rPr lang="en-US" altLang="zh-CN" sz="2400" b="1" dirty="0" smtClean="0">
                <a:ea typeface="楷体_GB2312" pitchFamily="49" charset="-122"/>
              </a:rPr>
              <a:t>Decorator</a:t>
            </a:r>
            <a:r>
              <a:rPr lang="zh-CN" altLang="en-US" sz="2400" b="1" dirty="0" smtClean="0">
                <a:ea typeface="楷体_GB2312" pitchFamily="49" charset="-122"/>
              </a:rPr>
              <a:t>，</a:t>
            </a:r>
            <a:r>
              <a:rPr lang="en-US" altLang="zh-CN" sz="2400" b="1" dirty="0" smtClean="0">
                <a:ea typeface="楷体_GB2312" pitchFamily="49" charset="-122"/>
              </a:rPr>
              <a:t>Observer</a:t>
            </a:r>
            <a:r>
              <a:rPr lang="zh-CN" altLang="en-US" sz="2400" b="1" dirty="0" smtClean="0">
                <a:ea typeface="楷体_GB2312" pitchFamily="49" charset="-122"/>
              </a:rPr>
              <a:t>，</a:t>
            </a:r>
            <a:r>
              <a:rPr lang="en-US" altLang="zh-CN" sz="2400" b="1" dirty="0" smtClean="0">
                <a:ea typeface="楷体_GB2312" pitchFamily="49" charset="-122"/>
              </a:rPr>
              <a:t>Strategy</a:t>
            </a:r>
            <a:r>
              <a:rPr lang="zh-CN" altLang="en-US" sz="2400" b="1" dirty="0" smtClean="0">
                <a:ea typeface="楷体_GB2312" pitchFamily="49" charset="-122"/>
              </a:rPr>
              <a:t>。</a:t>
            </a:r>
          </a:p>
        </p:txBody>
      </p:sp>
    </p:spTree>
    <p:extLst>
      <p:ext uri="{BB962C8B-B14F-4D97-AF65-F5344CB8AC3E}">
        <p14:creationId xmlns:p14="http://schemas.microsoft.com/office/powerpoint/2010/main" val="3696492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5987">
                                            <p:txEl>
                                              <p:pRg st="1" end="1"/>
                                            </p:txEl>
                                          </p:spTgt>
                                        </p:tgtEl>
                                        <p:attrNameLst>
                                          <p:attrName>style.visibility</p:attrName>
                                        </p:attrNameLst>
                                      </p:cBhvr>
                                      <p:to>
                                        <p:strVal val="visible"/>
                                      </p:to>
                                    </p:set>
                                    <p:animEffect transition="in" filter="blinds(horizontal)">
                                      <p:cBhvr>
                                        <p:cTn id="7" dur="500"/>
                                        <p:tgtEl>
                                          <p:spTgt spid="4259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5987">
                                            <p:txEl>
                                              <p:pRg st="2" end="2"/>
                                            </p:txEl>
                                          </p:spTgt>
                                        </p:tgtEl>
                                        <p:attrNameLst>
                                          <p:attrName>style.visibility</p:attrName>
                                        </p:attrNameLst>
                                      </p:cBhvr>
                                      <p:to>
                                        <p:strVal val="visible"/>
                                      </p:to>
                                    </p:set>
                                    <p:animEffect transition="in" filter="blinds(horizontal)">
                                      <p:cBhvr>
                                        <p:cTn id="12" dur="500"/>
                                        <p:tgtEl>
                                          <p:spTgt spid="4259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5987">
                                            <p:txEl>
                                              <p:pRg st="4" end="4"/>
                                            </p:txEl>
                                          </p:spTgt>
                                        </p:tgtEl>
                                        <p:attrNameLst>
                                          <p:attrName>style.visibility</p:attrName>
                                        </p:attrNameLst>
                                      </p:cBhvr>
                                      <p:to>
                                        <p:strVal val="visible"/>
                                      </p:to>
                                    </p:set>
                                    <p:animEffect transition="in" filter="blinds(horizontal)">
                                      <p:cBhvr>
                                        <p:cTn id="17" dur="500"/>
                                        <p:tgtEl>
                                          <p:spTgt spid="425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z="4000" b="1" smtClean="0">
                <a:solidFill>
                  <a:schemeClr val="accent2"/>
                </a:solidFill>
                <a:ea typeface="楷体_GB2312" pitchFamily="49" charset="-122"/>
              </a:rPr>
              <a:t>设计模式怎样解决设计问题（续）</a:t>
            </a:r>
          </a:p>
        </p:txBody>
      </p:sp>
      <p:sp>
        <p:nvSpPr>
          <p:cNvPr id="427011" name="Rectangle 3"/>
          <p:cNvSpPr>
            <a:spLocks noGrp="1" noChangeArrowheads="1"/>
          </p:cNvSpPr>
          <p:nvPr>
            <p:ph type="body" idx="1"/>
          </p:nvPr>
        </p:nvSpPr>
        <p:spPr>
          <a:xfrm>
            <a:off x="395536" y="1700808"/>
            <a:ext cx="8330952" cy="3816424"/>
          </a:xfrm>
        </p:spPr>
        <p:txBody>
          <a:bodyPr>
            <a:normAutofit/>
          </a:bodyPr>
          <a:lstStyle/>
          <a:p>
            <a:pPr eaLnBrk="1" hangingPunct="1">
              <a:lnSpc>
                <a:spcPct val="90000"/>
              </a:lnSpc>
              <a:buFontTx/>
              <a:buNone/>
            </a:pPr>
            <a:r>
              <a:rPr lang="zh-CN" altLang="en-US" sz="2400" b="1" dirty="0" smtClean="0">
                <a:solidFill>
                  <a:srgbClr val="0000CC"/>
                </a:solidFill>
                <a:ea typeface="楷体_GB2312" pitchFamily="49" charset="-122"/>
              </a:rPr>
              <a:t>导致重新设计的原因，以及解决问题的设计模式</a:t>
            </a:r>
          </a:p>
          <a:p>
            <a:pPr eaLnBrk="1" hangingPunct="1">
              <a:lnSpc>
                <a:spcPct val="90000"/>
              </a:lnSpc>
              <a:buFont typeface="Wingdings" pitchFamily="2" charset="2"/>
              <a:buChar char="Ø"/>
            </a:pPr>
            <a:endParaRPr lang="zh-CN" altLang="en-US" sz="2400" b="1" dirty="0" smtClean="0">
              <a:solidFill>
                <a:srgbClr val="0000CC"/>
              </a:solidFill>
              <a:ea typeface="楷体_GB2312" pitchFamily="49" charset="-122"/>
            </a:endParaRPr>
          </a:p>
          <a:p>
            <a:pPr eaLnBrk="1" hangingPunct="1">
              <a:lnSpc>
                <a:spcPct val="90000"/>
              </a:lnSpc>
              <a:buFont typeface="Wingdings" pitchFamily="2" charset="2"/>
              <a:buChar char="Ø"/>
            </a:pPr>
            <a:r>
              <a:rPr lang="zh-CN" altLang="en-US" sz="2400" b="1" dirty="0" smtClean="0">
                <a:solidFill>
                  <a:srgbClr val="0000CC"/>
                </a:solidFill>
                <a:ea typeface="楷体_GB2312" pitchFamily="49" charset="-122"/>
              </a:rPr>
              <a:t>不能方便地对类进行修改</a:t>
            </a:r>
            <a:r>
              <a:rPr lang="zh-CN" altLang="en-US" sz="2400" b="1" dirty="0" smtClean="0">
                <a:ea typeface="楷体_GB2312" pitchFamily="49" charset="-122"/>
              </a:rPr>
              <a:t>   有时你不得不改变一个难以修改的类。也许你需要源代码而又没有</a:t>
            </a:r>
            <a:r>
              <a:rPr lang="en-US" altLang="zh-CN" sz="2400" b="1" dirty="0" smtClean="0">
                <a:ea typeface="楷体_GB2312" pitchFamily="49" charset="-122"/>
              </a:rPr>
              <a:t>(</a:t>
            </a:r>
            <a:r>
              <a:rPr lang="zh-CN" altLang="en-US" sz="2400" b="1" dirty="0" smtClean="0">
                <a:ea typeface="楷体_GB2312" pitchFamily="49" charset="-122"/>
              </a:rPr>
              <a:t>对于商业类库就有这种情况</a:t>
            </a:r>
            <a:r>
              <a:rPr lang="en-US" altLang="zh-CN" sz="2400" b="1" dirty="0" smtClean="0">
                <a:ea typeface="楷体_GB2312" pitchFamily="49" charset="-122"/>
              </a:rPr>
              <a:t>)</a:t>
            </a:r>
            <a:r>
              <a:rPr lang="zh-CN" altLang="en-US" sz="2400" b="1" dirty="0" smtClean="0">
                <a:ea typeface="楷体_GB2312" pitchFamily="49" charset="-122"/>
              </a:rPr>
              <a:t>，或者可能对类的任何改变会要求修改许多已存在的其他子类。设计模式提供在这些情况下对类进行修改的方法。</a:t>
            </a:r>
          </a:p>
          <a:p>
            <a:pPr eaLnBrk="1" hangingPunct="1">
              <a:lnSpc>
                <a:spcPct val="90000"/>
              </a:lnSpc>
              <a:buFont typeface="Wingdings" pitchFamily="2" charset="2"/>
              <a:buChar char="Ø"/>
            </a:pPr>
            <a:endParaRPr lang="zh-CN" altLang="en-US" sz="2400" b="1" dirty="0" smtClean="0">
              <a:ea typeface="楷体_GB2312" pitchFamily="49" charset="-122"/>
            </a:endParaRPr>
          </a:p>
          <a:p>
            <a:pPr eaLnBrk="1" hangingPunct="1">
              <a:lnSpc>
                <a:spcPct val="90000"/>
              </a:lnSpc>
              <a:buFont typeface="Wingdings" pitchFamily="2" charset="2"/>
              <a:buChar char="Ø"/>
            </a:pPr>
            <a:r>
              <a:rPr lang="zh-CN" altLang="en-US" sz="2400" b="1" dirty="0" smtClean="0">
                <a:ea typeface="楷体_GB2312" pitchFamily="49" charset="-122"/>
              </a:rPr>
              <a:t>设计模式： </a:t>
            </a:r>
            <a:r>
              <a:rPr lang="en-US" altLang="zh-CN" sz="2400" b="1" dirty="0" smtClean="0">
                <a:ea typeface="楷体_GB2312" pitchFamily="49" charset="-122"/>
              </a:rPr>
              <a:t>Adapter</a:t>
            </a:r>
            <a:r>
              <a:rPr lang="zh-CN" altLang="en-US" sz="2400" b="1" dirty="0" smtClean="0">
                <a:ea typeface="楷体_GB2312" pitchFamily="49" charset="-122"/>
              </a:rPr>
              <a:t>，</a:t>
            </a:r>
            <a:r>
              <a:rPr lang="en-US" altLang="zh-CN" sz="2400" b="1" dirty="0" smtClean="0">
                <a:ea typeface="楷体_GB2312" pitchFamily="49" charset="-122"/>
              </a:rPr>
              <a:t>Decorator</a:t>
            </a:r>
            <a:r>
              <a:rPr lang="zh-CN" altLang="en-US" sz="2400" b="1" dirty="0" smtClean="0">
                <a:ea typeface="楷体_GB2312" pitchFamily="49" charset="-122"/>
              </a:rPr>
              <a:t>，</a:t>
            </a:r>
            <a:r>
              <a:rPr lang="en-US" altLang="zh-CN" sz="2400" b="1" dirty="0" smtClean="0">
                <a:ea typeface="楷体_GB2312" pitchFamily="49" charset="-122"/>
              </a:rPr>
              <a:t>Visitor</a:t>
            </a:r>
            <a:r>
              <a:rPr lang="zh-CN" altLang="en-US" sz="2400" b="1" dirty="0" smtClean="0">
                <a:ea typeface="楷体_GB2312" pitchFamily="49" charset="-122"/>
              </a:rPr>
              <a:t>。</a:t>
            </a:r>
          </a:p>
        </p:txBody>
      </p:sp>
    </p:spTree>
    <p:extLst>
      <p:ext uri="{BB962C8B-B14F-4D97-AF65-F5344CB8AC3E}">
        <p14:creationId xmlns:p14="http://schemas.microsoft.com/office/powerpoint/2010/main" val="3868883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7011">
                                            <p:txEl>
                                              <p:pRg st="2" end="2"/>
                                            </p:txEl>
                                          </p:spTgt>
                                        </p:tgtEl>
                                        <p:attrNameLst>
                                          <p:attrName>style.visibility</p:attrName>
                                        </p:attrNameLst>
                                      </p:cBhvr>
                                      <p:to>
                                        <p:strVal val="visible"/>
                                      </p:to>
                                    </p:set>
                                    <p:animEffect transition="in" filter="blinds(horizontal)">
                                      <p:cBhvr>
                                        <p:cTn id="7" dur="500"/>
                                        <p:tgtEl>
                                          <p:spTgt spid="42701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7011">
                                            <p:txEl>
                                              <p:pRg st="4" end="4"/>
                                            </p:txEl>
                                          </p:spTgt>
                                        </p:tgtEl>
                                        <p:attrNameLst>
                                          <p:attrName>style.visibility</p:attrName>
                                        </p:attrNameLst>
                                      </p:cBhvr>
                                      <p:to>
                                        <p:strVal val="visible"/>
                                      </p:to>
                                    </p:set>
                                    <p:animEffect transition="in" filter="blinds(horizontal)">
                                      <p:cBhvr>
                                        <p:cTn id="12" dur="500"/>
                                        <p:tgtEl>
                                          <p:spTgt spid="4270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b="1" dirty="0" smtClean="0">
                <a:solidFill>
                  <a:schemeClr val="accent2"/>
                </a:solidFill>
                <a:ea typeface="楷体_GB2312" pitchFamily="49" charset="-122"/>
              </a:rPr>
              <a:t>6.6 </a:t>
            </a:r>
            <a:r>
              <a:rPr lang="zh-CN" altLang="en-US" b="1" dirty="0" smtClean="0">
                <a:solidFill>
                  <a:schemeClr val="accent2"/>
                </a:solidFill>
                <a:ea typeface="楷体_GB2312" pitchFamily="49" charset="-122"/>
              </a:rPr>
              <a:t>模式和框架的区别</a:t>
            </a:r>
          </a:p>
        </p:txBody>
      </p:sp>
      <p:sp>
        <p:nvSpPr>
          <p:cNvPr id="56323" name="Rectangle 3"/>
          <p:cNvSpPr>
            <a:spLocks noGrp="1" noChangeArrowheads="1"/>
          </p:cNvSpPr>
          <p:nvPr>
            <p:ph type="body" idx="1"/>
          </p:nvPr>
        </p:nvSpPr>
        <p:spPr>
          <a:xfrm>
            <a:off x="683568" y="1916832"/>
            <a:ext cx="7727776" cy="2808312"/>
          </a:xfrm>
        </p:spPr>
        <p:txBody>
          <a:bodyPr>
            <a:normAutofit/>
          </a:bodyPr>
          <a:lstStyle/>
          <a:p>
            <a:pPr eaLnBrk="1" hangingPunct="1">
              <a:spcBef>
                <a:spcPct val="50000"/>
              </a:spcBef>
              <a:buFont typeface="Wingdings" pitchFamily="2" charset="2"/>
              <a:buChar char="Ø"/>
            </a:pPr>
            <a:r>
              <a:rPr lang="zh-CN" altLang="en-US" sz="2400" b="1" dirty="0" smtClean="0">
                <a:solidFill>
                  <a:srgbClr val="0000CC"/>
                </a:solidFill>
                <a:ea typeface="楷体_GB2312" pitchFamily="49" charset="-122"/>
              </a:rPr>
              <a:t>设计模式比框架更抽象</a:t>
            </a:r>
            <a:r>
              <a:rPr lang="zh-CN" altLang="en-US" sz="2400" b="1" dirty="0" smtClean="0">
                <a:ea typeface="楷体_GB2312" pitchFamily="49" charset="-122"/>
              </a:rPr>
              <a:t>   框架能够用代码表示，而设计模式只有其实例才能表示为代码。框架的威力在于它们能够使用程序设计语言写出来，它们不仅能被学习，也能被直接执行和复用。而设计模式在每一次被复用时，都需要被实现。设计模式还解释了它的意图、权衡和设计效果。</a:t>
            </a:r>
          </a:p>
        </p:txBody>
      </p:sp>
    </p:spTree>
    <p:extLst>
      <p:ext uri="{BB962C8B-B14F-4D97-AF65-F5344CB8AC3E}">
        <p14:creationId xmlns:p14="http://schemas.microsoft.com/office/powerpoint/2010/main" val="17443691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模式和框架的区别（续）</a:t>
            </a:r>
          </a:p>
        </p:txBody>
      </p:sp>
      <p:sp>
        <p:nvSpPr>
          <p:cNvPr id="57347" name="Rectangle 3"/>
          <p:cNvSpPr>
            <a:spLocks noGrp="1" noChangeArrowheads="1"/>
          </p:cNvSpPr>
          <p:nvPr>
            <p:ph type="body" idx="1"/>
          </p:nvPr>
        </p:nvSpPr>
        <p:spPr>
          <a:xfrm>
            <a:off x="539552" y="1628800"/>
            <a:ext cx="8159824" cy="2561456"/>
          </a:xfrm>
        </p:spPr>
        <p:txBody>
          <a:bodyPr>
            <a:normAutofit/>
          </a:bodyPr>
          <a:lstStyle/>
          <a:p>
            <a:pPr eaLnBrk="1" hangingPunct="1">
              <a:lnSpc>
                <a:spcPct val="90000"/>
              </a:lnSpc>
              <a:buFontTx/>
              <a:buNone/>
            </a:pPr>
            <a:endParaRPr lang="en-US" altLang="zh-CN" sz="2400" b="1" dirty="0" smtClean="0">
              <a:ea typeface="楷体_GB2312" pitchFamily="49" charset="-122"/>
            </a:endParaRPr>
          </a:p>
          <a:p>
            <a:pPr eaLnBrk="1" hangingPunct="1">
              <a:spcBef>
                <a:spcPct val="50000"/>
              </a:spcBef>
              <a:buFont typeface="Wingdings" pitchFamily="2" charset="2"/>
              <a:buChar char="Ø"/>
            </a:pPr>
            <a:r>
              <a:rPr lang="zh-CN" altLang="en-US" sz="2400" b="1" dirty="0" smtClean="0">
                <a:solidFill>
                  <a:srgbClr val="0000CC"/>
                </a:solidFill>
                <a:ea typeface="楷体_GB2312" pitchFamily="49" charset="-122"/>
              </a:rPr>
              <a:t>设计模式是比框架更小的体系结构元素   </a:t>
            </a:r>
            <a:r>
              <a:rPr lang="zh-CN" altLang="en-US" sz="2400" b="1" dirty="0" smtClean="0">
                <a:ea typeface="楷体_GB2312" pitchFamily="49" charset="-122"/>
              </a:rPr>
              <a:t>一个典型的框架包括了多个设计模式，而反之决非如此。</a:t>
            </a:r>
          </a:p>
        </p:txBody>
      </p:sp>
    </p:spTree>
    <p:extLst>
      <p:ext uri="{BB962C8B-B14F-4D97-AF65-F5344CB8AC3E}">
        <p14:creationId xmlns:p14="http://schemas.microsoft.com/office/powerpoint/2010/main" val="339710075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模式和框架的区别（续）</a:t>
            </a:r>
          </a:p>
        </p:txBody>
      </p:sp>
      <p:sp>
        <p:nvSpPr>
          <p:cNvPr id="58371" name="Rectangle 3"/>
          <p:cNvSpPr>
            <a:spLocks noGrp="1" noChangeArrowheads="1"/>
          </p:cNvSpPr>
          <p:nvPr>
            <p:ph type="body" idx="1"/>
          </p:nvPr>
        </p:nvSpPr>
        <p:spPr>
          <a:xfrm>
            <a:off x="467544" y="1484784"/>
            <a:ext cx="8159824" cy="3569568"/>
          </a:xfrm>
        </p:spPr>
        <p:txBody>
          <a:bodyPr>
            <a:normAutofit/>
          </a:bodyPr>
          <a:lstStyle/>
          <a:p>
            <a:pPr eaLnBrk="1" hangingPunct="1">
              <a:lnSpc>
                <a:spcPct val="90000"/>
              </a:lnSpc>
              <a:buFontTx/>
              <a:buNone/>
            </a:pPr>
            <a:endParaRPr lang="en-US" altLang="zh-CN" sz="2400" b="1" dirty="0" smtClean="0">
              <a:ea typeface="楷体_GB2312" pitchFamily="49" charset="-122"/>
            </a:endParaRPr>
          </a:p>
          <a:p>
            <a:pPr eaLnBrk="1" hangingPunct="1">
              <a:spcBef>
                <a:spcPct val="50000"/>
              </a:spcBef>
              <a:buFont typeface="Wingdings" pitchFamily="2" charset="2"/>
              <a:buChar char="Ø"/>
            </a:pPr>
            <a:r>
              <a:rPr lang="zh-CN" altLang="en-US" sz="2400" b="1" dirty="0" smtClean="0">
                <a:solidFill>
                  <a:srgbClr val="0000CC"/>
                </a:solidFill>
                <a:ea typeface="楷体_GB2312" pitchFamily="49" charset="-122"/>
              </a:rPr>
              <a:t>框架比设计模式更加特例化   </a:t>
            </a:r>
            <a:r>
              <a:rPr lang="zh-CN" altLang="en-US" sz="2400" b="1" dirty="0" smtClean="0">
                <a:ea typeface="楷体_GB2312" pitchFamily="49" charset="-122"/>
              </a:rPr>
              <a:t>框架总是针对一个特定的应用领域。一个图形编辑器框架可能被用于一个工厂模拟，但它不会被错认为是一个模拟框架。而设计模式几乎能被用于任何应用。当然比我们的模式更特殊的设计模式也是可能的</a:t>
            </a:r>
            <a:r>
              <a:rPr lang="en-US" altLang="zh-CN" sz="2400" b="1" dirty="0" smtClean="0">
                <a:ea typeface="楷体_GB2312" pitchFamily="49" charset="-122"/>
              </a:rPr>
              <a:t>(</a:t>
            </a:r>
            <a:r>
              <a:rPr lang="zh-CN" altLang="en-US" sz="2400" b="1" dirty="0" smtClean="0">
                <a:ea typeface="楷体_GB2312" pitchFamily="49" charset="-122"/>
              </a:rPr>
              <a:t>如，分布式系统和并发程序的设计模式</a:t>
            </a:r>
            <a:r>
              <a:rPr lang="en-US" altLang="zh-CN" sz="2400" b="1" dirty="0" smtClean="0">
                <a:ea typeface="楷体_GB2312" pitchFamily="49" charset="-122"/>
              </a:rPr>
              <a:t>)</a:t>
            </a:r>
            <a:r>
              <a:rPr lang="zh-CN" altLang="en-US" sz="2400" b="1" dirty="0" smtClean="0">
                <a:ea typeface="楷体_GB2312" pitchFamily="49" charset="-122"/>
              </a:rPr>
              <a:t>，尽管这些模式不会像框架那样描述应用的体系结构。</a:t>
            </a:r>
          </a:p>
        </p:txBody>
      </p:sp>
    </p:spTree>
    <p:extLst>
      <p:ext uri="{BB962C8B-B14F-4D97-AF65-F5344CB8AC3E}">
        <p14:creationId xmlns:p14="http://schemas.microsoft.com/office/powerpoint/2010/main" val="14220957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978</TotalTime>
  <Words>5826</Words>
  <Application>Microsoft Office PowerPoint</Application>
  <PresentationFormat>全屏显示(4:3)</PresentationFormat>
  <Paragraphs>451</Paragraphs>
  <Slides>66</Slides>
  <Notes>3</Notes>
  <HiddenSlides>0</HiddenSlides>
  <MMClips>0</MMClips>
  <ScaleCrop>false</ScaleCrop>
  <HeadingPairs>
    <vt:vector size="4" baseType="variant">
      <vt:variant>
        <vt:lpstr>主题</vt:lpstr>
      </vt:variant>
      <vt:variant>
        <vt:i4>1</vt:i4>
      </vt:variant>
      <vt:variant>
        <vt:lpstr>幻灯片标题</vt:lpstr>
      </vt:variant>
      <vt:variant>
        <vt:i4>66</vt:i4>
      </vt:variant>
    </vt:vector>
  </HeadingPairs>
  <TitlesOfParts>
    <vt:vector size="67" baseType="lpstr">
      <vt:lpstr>Office 主题</vt:lpstr>
      <vt:lpstr>PowerPoint 演示文稿</vt:lpstr>
      <vt:lpstr>PowerPoint 演示文稿</vt:lpstr>
      <vt:lpstr>6.1设计模式概念</vt:lpstr>
      <vt:lpstr>GoF(Gang of Four)</vt:lpstr>
      <vt:lpstr>模式的四个基本要素</vt:lpstr>
      <vt:lpstr>模式的四个基本要素（续）</vt:lpstr>
      <vt:lpstr>模式的四个基本要素（续）</vt:lpstr>
      <vt:lpstr>模式的四个基本要素（续）</vt:lpstr>
      <vt:lpstr>描述设计模式</vt:lpstr>
      <vt:lpstr>描述设计模式（续）</vt:lpstr>
      <vt:lpstr>描述设计模式（续）</vt:lpstr>
      <vt:lpstr>描述设计模式（续）</vt:lpstr>
      <vt:lpstr>描述设计模式（续）</vt:lpstr>
      <vt:lpstr>描述设计模式（续）</vt:lpstr>
      <vt:lpstr>为什么我们要使用设计模式？</vt:lpstr>
      <vt:lpstr>6.2 设计原则</vt:lpstr>
      <vt:lpstr>开－闭原则</vt:lpstr>
      <vt:lpstr>开－闭原则（续）</vt:lpstr>
      <vt:lpstr>开－闭原则（续）</vt:lpstr>
      <vt:lpstr>PowerPoint 演示文稿</vt:lpstr>
      <vt:lpstr>里氏替换原则</vt:lpstr>
      <vt:lpstr>里氏替换原则（续）</vt:lpstr>
      <vt:lpstr>PowerPoint 演示文稿</vt:lpstr>
      <vt:lpstr>里氏替换原则（续）</vt:lpstr>
      <vt:lpstr>里氏替换原则（续）</vt:lpstr>
      <vt:lpstr>里氏替换原则（续）</vt:lpstr>
      <vt:lpstr>依赖倒转原则</vt:lpstr>
      <vt:lpstr>依赖倒转原则（续）</vt:lpstr>
      <vt:lpstr>PowerPoint 演示文稿</vt:lpstr>
      <vt:lpstr>接口隔离原则</vt:lpstr>
      <vt:lpstr>接口隔离原则（续）</vt:lpstr>
      <vt:lpstr>PowerPoint 演示文稿</vt:lpstr>
      <vt:lpstr>组合/聚合复用原则</vt:lpstr>
      <vt:lpstr>可变性封装的原则</vt:lpstr>
      <vt:lpstr>可变性封装的原则（续）</vt:lpstr>
      <vt:lpstr>可变性封装的原则（续）</vt:lpstr>
      <vt:lpstr>单一职责原则</vt:lpstr>
      <vt:lpstr>6.3设计模式分类</vt:lpstr>
      <vt:lpstr>设计模式目录</vt:lpstr>
      <vt:lpstr>设计模式目录（续）</vt:lpstr>
      <vt:lpstr>设计模式目录（续）</vt:lpstr>
      <vt:lpstr>设计模式目录（续）</vt:lpstr>
      <vt:lpstr>设计模式目录（续）</vt:lpstr>
      <vt:lpstr>设计模式目录（续）</vt:lpstr>
      <vt:lpstr>设计模式目录（续）</vt:lpstr>
      <vt:lpstr>设计模式目录（续）</vt:lpstr>
      <vt:lpstr>设计模式分类</vt:lpstr>
      <vt:lpstr>设计模式空间</vt:lpstr>
      <vt:lpstr>PowerPoint 演示文稿</vt:lpstr>
      <vt:lpstr>设计模式所支持的设计的可变方面</vt:lpstr>
      <vt:lpstr>设计模式所支持的设计的可变方面</vt:lpstr>
      <vt:lpstr>6.4 怎样使用设计模式</vt:lpstr>
      <vt:lpstr>怎样使用设计模式（续）</vt:lpstr>
      <vt:lpstr>6.5 设计模式怎样解决设计问题</vt:lpstr>
      <vt:lpstr>设计模式怎样解决设计问题（续）</vt:lpstr>
      <vt:lpstr>设计模式怎样解决设计问题（续）</vt:lpstr>
      <vt:lpstr>设计模式怎样解决设计问题（续）</vt:lpstr>
      <vt:lpstr>设计模式怎样解决设计问题（续）</vt:lpstr>
      <vt:lpstr>设计模式怎样解决设计问题（续）</vt:lpstr>
      <vt:lpstr>设计模式怎样解决设计问题（续）</vt:lpstr>
      <vt:lpstr>设计模式怎样解决设计问题（续）</vt:lpstr>
      <vt:lpstr>设计模式怎样解决设计问题（续）</vt:lpstr>
      <vt:lpstr>设计模式怎样解决设计问题（续）</vt:lpstr>
      <vt:lpstr>6.6 模式和框架的区别</vt:lpstr>
      <vt:lpstr>模式和框架的区别（续）</vt:lpstr>
      <vt:lpstr>模式和框架的区别（续）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阎润之</dc:creator>
  <cp:lastModifiedBy>xiexiong</cp:lastModifiedBy>
  <cp:revision>51</cp:revision>
  <dcterms:created xsi:type="dcterms:W3CDTF">2020-03-01T09:43:14Z</dcterms:created>
  <dcterms:modified xsi:type="dcterms:W3CDTF">2023-02-27T02:29:26Z</dcterms:modified>
</cp:coreProperties>
</file>