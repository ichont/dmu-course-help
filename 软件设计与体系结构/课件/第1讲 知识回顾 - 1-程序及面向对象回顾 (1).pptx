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60" r:id="rId2"/>
    <p:sldId id="324" r:id="rId3"/>
    <p:sldId id="326" r:id="rId4"/>
    <p:sldId id="269" r:id="rId5"/>
    <p:sldId id="270" r:id="rId6"/>
    <p:sldId id="271" r:id="rId7"/>
    <p:sldId id="272" r:id="rId8"/>
    <p:sldId id="274" r:id="rId9"/>
    <p:sldId id="275" r:id="rId10"/>
    <p:sldId id="276" r:id="rId11"/>
    <p:sldId id="277" r:id="rId12"/>
    <p:sldId id="278" r:id="rId13"/>
    <p:sldId id="279" r:id="rId14"/>
    <p:sldId id="280" r:id="rId15"/>
    <p:sldId id="281" r:id="rId16"/>
    <p:sldId id="325" r:id="rId17"/>
    <p:sldId id="282" r:id="rId18"/>
    <p:sldId id="283" r:id="rId19"/>
    <p:sldId id="284" r:id="rId20"/>
    <p:sldId id="285" r:id="rId21"/>
    <p:sldId id="286" r:id="rId22"/>
    <p:sldId id="287" r:id="rId23"/>
    <p:sldId id="288" r:id="rId24"/>
    <p:sldId id="289" r:id="rId25"/>
    <p:sldId id="290" r:id="rId26"/>
    <p:sldId id="293" r:id="rId27"/>
    <p:sldId id="294" r:id="rId28"/>
    <p:sldId id="295" r:id="rId29"/>
    <p:sldId id="296" r:id="rId30"/>
    <p:sldId id="297" r:id="rId31"/>
    <p:sldId id="298" r:id="rId32"/>
    <p:sldId id="299" r:id="rId33"/>
    <p:sldId id="300" r:id="rId34"/>
    <p:sldId id="304" r:id="rId35"/>
    <p:sldId id="305" r:id="rId36"/>
    <p:sldId id="306" r:id="rId37"/>
    <p:sldId id="307" r:id="rId38"/>
    <p:sldId id="308" r:id="rId39"/>
    <p:sldId id="309" r:id="rId40"/>
    <p:sldId id="310" r:id="rId41"/>
    <p:sldId id="311" r:id="rId42"/>
    <p:sldId id="312" r:id="rId43"/>
    <p:sldId id="313" r:id="rId44"/>
    <p:sldId id="314" r:id="rId45"/>
    <p:sldId id="315" r:id="rId46"/>
    <p:sldId id="318" r:id="rId47"/>
    <p:sldId id="319" r:id="rId48"/>
    <p:sldId id="320" r:id="rId4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692"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440292-06D0-4913-B415-14BCED87E846}" type="datetimeFigureOut">
              <a:rPr lang="zh-CN" altLang="en-US" smtClean="0"/>
              <a:t>2023/2/20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9C0F793-755A-4CD9-90D1-14EAB677F523}" type="slidenum">
              <a:rPr lang="zh-CN" altLang="en-US" smtClean="0"/>
              <a:t>‹#›</a:t>
            </a:fld>
            <a:endParaRPr lang="zh-CN" altLang="en-US"/>
          </a:p>
        </p:txBody>
      </p:sp>
    </p:spTree>
    <p:extLst>
      <p:ext uri="{BB962C8B-B14F-4D97-AF65-F5344CB8AC3E}">
        <p14:creationId xmlns:p14="http://schemas.microsoft.com/office/powerpoint/2010/main" val="2419504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charset="0"/>
                <a:ea typeface="宋体" charset="-122"/>
              </a:defRPr>
            </a:lvl1pPr>
            <a:lvl2pPr marL="742950" indent="-285750">
              <a:defRPr sz="1400">
                <a:solidFill>
                  <a:schemeClr val="tx1"/>
                </a:solidFill>
                <a:latin typeface="Arial" charset="0"/>
                <a:ea typeface="宋体" charset="-122"/>
              </a:defRPr>
            </a:lvl2pPr>
            <a:lvl3pPr marL="1143000" indent="-228600">
              <a:defRPr sz="1400">
                <a:solidFill>
                  <a:schemeClr val="tx1"/>
                </a:solidFill>
                <a:latin typeface="Arial" charset="0"/>
                <a:ea typeface="宋体" charset="-122"/>
              </a:defRPr>
            </a:lvl3pPr>
            <a:lvl4pPr marL="1600200" indent="-228600">
              <a:defRPr sz="1400">
                <a:solidFill>
                  <a:schemeClr val="tx1"/>
                </a:solidFill>
                <a:latin typeface="Arial" charset="0"/>
                <a:ea typeface="宋体" charset="-122"/>
              </a:defRPr>
            </a:lvl4pPr>
            <a:lvl5pPr marL="2057400" indent="-228600">
              <a:defRPr sz="1400">
                <a:solidFill>
                  <a:schemeClr val="tx1"/>
                </a:solidFill>
                <a:latin typeface="Arial" charset="0"/>
                <a:ea typeface="宋体" charset="-122"/>
              </a:defRPr>
            </a:lvl5pPr>
            <a:lvl6pPr marL="2514600" indent="-228600" eaLnBrk="0" fontAlgn="base" hangingPunct="0">
              <a:spcBef>
                <a:spcPct val="0"/>
              </a:spcBef>
              <a:spcAft>
                <a:spcPct val="0"/>
              </a:spcAft>
              <a:defRPr sz="1400">
                <a:solidFill>
                  <a:schemeClr val="tx1"/>
                </a:solidFill>
                <a:latin typeface="Arial" charset="0"/>
                <a:ea typeface="宋体" charset="-122"/>
              </a:defRPr>
            </a:lvl6pPr>
            <a:lvl7pPr marL="2971800" indent="-228600" eaLnBrk="0" fontAlgn="base" hangingPunct="0">
              <a:spcBef>
                <a:spcPct val="0"/>
              </a:spcBef>
              <a:spcAft>
                <a:spcPct val="0"/>
              </a:spcAft>
              <a:defRPr sz="1400">
                <a:solidFill>
                  <a:schemeClr val="tx1"/>
                </a:solidFill>
                <a:latin typeface="Arial" charset="0"/>
                <a:ea typeface="宋体" charset="-122"/>
              </a:defRPr>
            </a:lvl7pPr>
            <a:lvl8pPr marL="3429000" indent="-228600" eaLnBrk="0" fontAlgn="base" hangingPunct="0">
              <a:spcBef>
                <a:spcPct val="0"/>
              </a:spcBef>
              <a:spcAft>
                <a:spcPct val="0"/>
              </a:spcAft>
              <a:defRPr sz="1400">
                <a:solidFill>
                  <a:schemeClr val="tx1"/>
                </a:solidFill>
                <a:latin typeface="Arial" charset="0"/>
                <a:ea typeface="宋体" charset="-122"/>
              </a:defRPr>
            </a:lvl8pPr>
            <a:lvl9pPr marL="3886200" indent="-228600" eaLnBrk="0" fontAlgn="base" hangingPunct="0">
              <a:spcBef>
                <a:spcPct val="0"/>
              </a:spcBef>
              <a:spcAft>
                <a:spcPct val="0"/>
              </a:spcAft>
              <a:defRPr sz="1400">
                <a:solidFill>
                  <a:schemeClr val="tx1"/>
                </a:solidFill>
                <a:latin typeface="Arial" charset="0"/>
                <a:ea typeface="宋体" charset="-122"/>
              </a:defRPr>
            </a:lvl9pPr>
          </a:lstStyle>
          <a:p>
            <a:r>
              <a:rPr lang="zh-CN" altLang="en-US" sz="1200" smtClean="0"/>
              <a:t>APWeb/WAIM2007  Huang Shan  2007-6-16</a:t>
            </a:r>
            <a:endParaRPr lang="en-US" altLang="zh-CN" sz="1200" smtClean="0"/>
          </a:p>
        </p:txBody>
      </p:sp>
      <p:sp>
        <p:nvSpPr>
          <p:cNvPr id="1331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charset="0"/>
                <a:ea typeface="宋体" charset="-122"/>
              </a:defRPr>
            </a:lvl1pPr>
            <a:lvl2pPr marL="742950" indent="-285750">
              <a:defRPr sz="1400">
                <a:solidFill>
                  <a:schemeClr val="tx1"/>
                </a:solidFill>
                <a:latin typeface="Arial" charset="0"/>
                <a:ea typeface="宋体" charset="-122"/>
              </a:defRPr>
            </a:lvl2pPr>
            <a:lvl3pPr marL="1143000" indent="-228600">
              <a:defRPr sz="1400">
                <a:solidFill>
                  <a:schemeClr val="tx1"/>
                </a:solidFill>
                <a:latin typeface="Arial" charset="0"/>
                <a:ea typeface="宋体" charset="-122"/>
              </a:defRPr>
            </a:lvl3pPr>
            <a:lvl4pPr marL="1600200" indent="-228600">
              <a:defRPr sz="1400">
                <a:solidFill>
                  <a:schemeClr val="tx1"/>
                </a:solidFill>
                <a:latin typeface="Arial" charset="0"/>
                <a:ea typeface="宋体" charset="-122"/>
              </a:defRPr>
            </a:lvl4pPr>
            <a:lvl5pPr marL="2057400" indent="-228600">
              <a:defRPr sz="1400">
                <a:solidFill>
                  <a:schemeClr val="tx1"/>
                </a:solidFill>
                <a:latin typeface="Arial" charset="0"/>
                <a:ea typeface="宋体" charset="-122"/>
              </a:defRPr>
            </a:lvl5pPr>
            <a:lvl6pPr marL="2514600" indent="-228600" eaLnBrk="0" fontAlgn="base" hangingPunct="0">
              <a:spcBef>
                <a:spcPct val="0"/>
              </a:spcBef>
              <a:spcAft>
                <a:spcPct val="0"/>
              </a:spcAft>
              <a:defRPr sz="1400">
                <a:solidFill>
                  <a:schemeClr val="tx1"/>
                </a:solidFill>
                <a:latin typeface="Arial" charset="0"/>
                <a:ea typeface="宋体" charset="-122"/>
              </a:defRPr>
            </a:lvl6pPr>
            <a:lvl7pPr marL="2971800" indent="-228600" eaLnBrk="0" fontAlgn="base" hangingPunct="0">
              <a:spcBef>
                <a:spcPct val="0"/>
              </a:spcBef>
              <a:spcAft>
                <a:spcPct val="0"/>
              </a:spcAft>
              <a:defRPr sz="1400">
                <a:solidFill>
                  <a:schemeClr val="tx1"/>
                </a:solidFill>
                <a:latin typeface="Arial" charset="0"/>
                <a:ea typeface="宋体" charset="-122"/>
              </a:defRPr>
            </a:lvl7pPr>
            <a:lvl8pPr marL="3429000" indent="-228600" eaLnBrk="0" fontAlgn="base" hangingPunct="0">
              <a:spcBef>
                <a:spcPct val="0"/>
              </a:spcBef>
              <a:spcAft>
                <a:spcPct val="0"/>
              </a:spcAft>
              <a:defRPr sz="1400">
                <a:solidFill>
                  <a:schemeClr val="tx1"/>
                </a:solidFill>
                <a:latin typeface="Arial" charset="0"/>
                <a:ea typeface="宋体" charset="-122"/>
              </a:defRPr>
            </a:lvl8pPr>
            <a:lvl9pPr marL="3886200" indent="-228600" eaLnBrk="0" fontAlgn="base" hangingPunct="0">
              <a:spcBef>
                <a:spcPct val="0"/>
              </a:spcBef>
              <a:spcAft>
                <a:spcPct val="0"/>
              </a:spcAft>
              <a:defRPr sz="1400">
                <a:solidFill>
                  <a:schemeClr val="tx1"/>
                </a:solidFill>
                <a:latin typeface="Arial" charset="0"/>
                <a:ea typeface="宋体" charset="-122"/>
              </a:defRPr>
            </a:lvl9pPr>
          </a:lstStyle>
          <a:p>
            <a:fld id="{03E58A54-C96A-43FE-8063-DE06A0511D8E}" type="slidenum">
              <a:rPr lang="zh-CN" altLang="en-US" sz="1200"/>
              <a:pPr/>
              <a:t>1</a:t>
            </a:fld>
            <a:endParaRPr lang="en-US" altLang="zh-CN" sz="1200"/>
          </a:p>
        </p:txBody>
      </p:sp>
      <p:sp>
        <p:nvSpPr>
          <p:cNvPr id="13316" name="Rectangle 2"/>
          <p:cNvSpPr>
            <a:spLocks noGrp="1" noRot="1" noChangeAspect="1" noChangeArrowheads="1" noTextEdit="1"/>
          </p:cNvSpPr>
          <p:nvPr>
            <p:ph type="sldImg"/>
          </p:nvPr>
        </p:nvSpPr>
        <p:spPr>
          <a:ln/>
        </p:spPr>
      </p:sp>
      <p:sp>
        <p:nvSpPr>
          <p:cNvPr id="133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charset="0"/>
                <a:ea typeface="宋体" charset="-122"/>
              </a:defRPr>
            </a:lvl1pPr>
            <a:lvl2pPr marL="742950" indent="-285750">
              <a:defRPr sz="1400">
                <a:solidFill>
                  <a:schemeClr val="tx1"/>
                </a:solidFill>
                <a:latin typeface="Arial" charset="0"/>
                <a:ea typeface="宋体" charset="-122"/>
              </a:defRPr>
            </a:lvl2pPr>
            <a:lvl3pPr marL="1143000" indent="-228600">
              <a:defRPr sz="1400">
                <a:solidFill>
                  <a:schemeClr val="tx1"/>
                </a:solidFill>
                <a:latin typeface="Arial" charset="0"/>
                <a:ea typeface="宋体" charset="-122"/>
              </a:defRPr>
            </a:lvl3pPr>
            <a:lvl4pPr marL="1600200" indent="-228600">
              <a:defRPr sz="1400">
                <a:solidFill>
                  <a:schemeClr val="tx1"/>
                </a:solidFill>
                <a:latin typeface="Arial" charset="0"/>
                <a:ea typeface="宋体" charset="-122"/>
              </a:defRPr>
            </a:lvl4pPr>
            <a:lvl5pPr marL="2057400" indent="-228600">
              <a:defRPr sz="1400">
                <a:solidFill>
                  <a:schemeClr val="tx1"/>
                </a:solidFill>
                <a:latin typeface="Arial" charset="0"/>
                <a:ea typeface="宋体" charset="-122"/>
              </a:defRPr>
            </a:lvl5pPr>
            <a:lvl6pPr marL="2514600" indent="-228600" eaLnBrk="0" fontAlgn="base" hangingPunct="0">
              <a:spcBef>
                <a:spcPct val="0"/>
              </a:spcBef>
              <a:spcAft>
                <a:spcPct val="0"/>
              </a:spcAft>
              <a:defRPr sz="1400">
                <a:solidFill>
                  <a:schemeClr val="tx1"/>
                </a:solidFill>
                <a:latin typeface="Arial" charset="0"/>
                <a:ea typeface="宋体" charset="-122"/>
              </a:defRPr>
            </a:lvl6pPr>
            <a:lvl7pPr marL="2971800" indent="-228600" eaLnBrk="0" fontAlgn="base" hangingPunct="0">
              <a:spcBef>
                <a:spcPct val="0"/>
              </a:spcBef>
              <a:spcAft>
                <a:spcPct val="0"/>
              </a:spcAft>
              <a:defRPr sz="1400">
                <a:solidFill>
                  <a:schemeClr val="tx1"/>
                </a:solidFill>
                <a:latin typeface="Arial" charset="0"/>
                <a:ea typeface="宋体" charset="-122"/>
              </a:defRPr>
            </a:lvl7pPr>
            <a:lvl8pPr marL="3429000" indent="-228600" eaLnBrk="0" fontAlgn="base" hangingPunct="0">
              <a:spcBef>
                <a:spcPct val="0"/>
              </a:spcBef>
              <a:spcAft>
                <a:spcPct val="0"/>
              </a:spcAft>
              <a:defRPr sz="1400">
                <a:solidFill>
                  <a:schemeClr val="tx1"/>
                </a:solidFill>
                <a:latin typeface="Arial" charset="0"/>
                <a:ea typeface="宋体" charset="-122"/>
              </a:defRPr>
            </a:lvl8pPr>
            <a:lvl9pPr marL="3886200" indent="-228600" eaLnBrk="0" fontAlgn="base" hangingPunct="0">
              <a:spcBef>
                <a:spcPct val="0"/>
              </a:spcBef>
              <a:spcAft>
                <a:spcPct val="0"/>
              </a:spcAft>
              <a:defRPr sz="1400">
                <a:solidFill>
                  <a:schemeClr val="tx1"/>
                </a:solidFill>
                <a:latin typeface="Arial" charset="0"/>
                <a:ea typeface="宋体" charset="-122"/>
              </a:defRPr>
            </a:lvl9pPr>
          </a:lstStyle>
          <a:p>
            <a:r>
              <a:rPr lang="zh-CN" altLang="en-US" sz="1200" smtClean="0"/>
              <a:t>APWeb/WAIM2007  Huang Shan  2007-6-16</a:t>
            </a:r>
            <a:endParaRPr lang="en-US" altLang="zh-CN" sz="1200" smtClean="0"/>
          </a:p>
        </p:txBody>
      </p:sp>
      <p:sp>
        <p:nvSpPr>
          <p:cNvPr id="1331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charset="0"/>
                <a:ea typeface="宋体" charset="-122"/>
              </a:defRPr>
            </a:lvl1pPr>
            <a:lvl2pPr marL="742950" indent="-285750">
              <a:defRPr sz="1400">
                <a:solidFill>
                  <a:schemeClr val="tx1"/>
                </a:solidFill>
                <a:latin typeface="Arial" charset="0"/>
                <a:ea typeface="宋体" charset="-122"/>
              </a:defRPr>
            </a:lvl2pPr>
            <a:lvl3pPr marL="1143000" indent="-228600">
              <a:defRPr sz="1400">
                <a:solidFill>
                  <a:schemeClr val="tx1"/>
                </a:solidFill>
                <a:latin typeface="Arial" charset="0"/>
                <a:ea typeface="宋体" charset="-122"/>
              </a:defRPr>
            </a:lvl3pPr>
            <a:lvl4pPr marL="1600200" indent="-228600">
              <a:defRPr sz="1400">
                <a:solidFill>
                  <a:schemeClr val="tx1"/>
                </a:solidFill>
                <a:latin typeface="Arial" charset="0"/>
                <a:ea typeface="宋体" charset="-122"/>
              </a:defRPr>
            </a:lvl4pPr>
            <a:lvl5pPr marL="2057400" indent="-228600">
              <a:defRPr sz="1400">
                <a:solidFill>
                  <a:schemeClr val="tx1"/>
                </a:solidFill>
                <a:latin typeface="Arial" charset="0"/>
                <a:ea typeface="宋体" charset="-122"/>
              </a:defRPr>
            </a:lvl5pPr>
            <a:lvl6pPr marL="2514600" indent="-228600" eaLnBrk="0" fontAlgn="base" hangingPunct="0">
              <a:spcBef>
                <a:spcPct val="0"/>
              </a:spcBef>
              <a:spcAft>
                <a:spcPct val="0"/>
              </a:spcAft>
              <a:defRPr sz="1400">
                <a:solidFill>
                  <a:schemeClr val="tx1"/>
                </a:solidFill>
                <a:latin typeface="Arial" charset="0"/>
                <a:ea typeface="宋体" charset="-122"/>
              </a:defRPr>
            </a:lvl6pPr>
            <a:lvl7pPr marL="2971800" indent="-228600" eaLnBrk="0" fontAlgn="base" hangingPunct="0">
              <a:spcBef>
                <a:spcPct val="0"/>
              </a:spcBef>
              <a:spcAft>
                <a:spcPct val="0"/>
              </a:spcAft>
              <a:defRPr sz="1400">
                <a:solidFill>
                  <a:schemeClr val="tx1"/>
                </a:solidFill>
                <a:latin typeface="Arial" charset="0"/>
                <a:ea typeface="宋体" charset="-122"/>
              </a:defRPr>
            </a:lvl7pPr>
            <a:lvl8pPr marL="3429000" indent="-228600" eaLnBrk="0" fontAlgn="base" hangingPunct="0">
              <a:spcBef>
                <a:spcPct val="0"/>
              </a:spcBef>
              <a:spcAft>
                <a:spcPct val="0"/>
              </a:spcAft>
              <a:defRPr sz="1400">
                <a:solidFill>
                  <a:schemeClr val="tx1"/>
                </a:solidFill>
                <a:latin typeface="Arial" charset="0"/>
                <a:ea typeface="宋体" charset="-122"/>
              </a:defRPr>
            </a:lvl8pPr>
            <a:lvl9pPr marL="3886200" indent="-228600" eaLnBrk="0" fontAlgn="base" hangingPunct="0">
              <a:spcBef>
                <a:spcPct val="0"/>
              </a:spcBef>
              <a:spcAft>
                <a:spcPct val="0"/>
              </a:spcAft>
              <a:defRPr sz="1400">
                <a:solidFill>
                  <a:schemeClr val="tx1"/>
                </a:solidFill>
                <a:latin typeface="Arial" charset="0"/>
                <a:ea typeface="宋体" charset="-122"/>
              </a:defRPr>
            </a:lvl9pPr>
          </a:lstStyle>
          <a:p>
            <a:fld id="{03E58A54-C96A-43FE-8063-DE06A0511D8E}" type="slidenum">
              <a:rPr lang="zh-CN" altLang="en-US" sz="1200"/>
              <a:pPr/>
              <a:t>4</a:t>
            </a:fld>
            <a:endParaRPr lang="en-US" altLang="zh-CN" sz="1200"/>
          </a:p>
        </p:txBody>
      </p:sp>
      <p:sp>
        <p:nvSpPr>
          <p:cNvPr id="13316" name="Rectangle 2"/>
          <p:cNvSpPr>
            <a:spLocks noGrp="1" noRot="1" noChangeAspect="1" noChangeArrowheads="1" noTextEdit="1"/>
          </p:cNvSpPr>
          <p:nvPr>
            <p:ph type="sldImg"/>
          </p:nvPr>
        </p:nvSpPr>
        <p:spPr>
          <a:ln/>
        </p:spPr>
      </p:sp>
      <p:sp>
        <p:nvSpPr>
          <p:cNvPr id="133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ea typeface="宋体" charset="-122"/>
              </a:rPr>
              <a:t>这些都是我们为了提高程序的可读性，提高程序可修改性，曾经做出的努力工作。</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ea typeface="宋体" charset="-122"/>
              </a:rPr>
              <a:t>这些都是我们为了提高程序的可读性，提高程序可修改性，曾经做出的努力工作。</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ea typeface="宋体" charset="-122"/>
              </a:rPr>
              <a:t>1</a:t>
            </a:r>
            <a:r>
              <a:rPr lang="zh-CN" altLang="en-US" smtClean="0">
                <a:ea typeface="宋体" charset="-122"/>
              </a:rPr>
              <a:t>、可扩展性：新的性能可以很容易地加入到系统中去，就是可扩展性。这就是系统“过于僵硬”的属性的方面。</a:t>
            </a:r>
          </a:p>
          <a:p>
            <a:r>
              <a:rPr lang="zh-CN" altLang="en-US" smtClean="0">
                <a:ea typeface="宋体" charset="-122"/>
              </a:rPr>
              <a:t>　　</a:t>
            </a:r>
            <a:r>
              <a:rPr lang="en-US" altLang="zh-CN" smtClean="0">
                <a:ea typeface="宋体" charset="-122"/>
              </a:rPr>
              <a:t>2</a:t>
            </a:r>
            <a:r>
              <a:rPr lang="zh-CN" altLang="en-US" smtClean="0">
                <a:ea typeface="宋体" charset="-122"/>
              </a:rPr>
              <a:t>、灵活性：可以允许代码修改平稳地发生，而不会波及到很多其他的模块，这就是灵活性。灵活性其实就是“过于脆弱”的属性的方面。</a:t>
            </a:r>
          </a:p>
          <a:p>
            <a:r>
              <a:rPr lang="zh-CN" altLang="en-US" smtClean="0">
                <a:ea typeface="宋体" charset="-122"/>
              </a:rPr>
              <a:t>　　</a:t>
            </a:r>
            <a:r>
              <a:rPr lang="en-US" altLang="zh-CN" smtClean="0">
                <a:ea typeface="宋体" charset="-122"/>
              </a:rPr>
              <a:t>3</a:t>
            </a:r>
            <a:r>
              <a:rPr lang="zh-CN" altLang="en-US" smtClean="0">
                <a:ea typeface="宋体" charset="-122"/>
              </a:rPr>
              <a:t>、可插入性：可以很容易地将一个类抽出去，同时将另外一个有同样接口的类加入进来，这就是可插入性。其实，这就是“黏度过高”的方面。</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charset="0"/>
                <a:ea typeface="宋体" charset="-122"/>
              </a:defRPr>
            </a:lvl1pPr>
            <a:lvl2pPr marL="742950" indent="-285750">
              <a:defRPr sz="1400">
                <a:solidFill>
                  <a:schemeClr val="tx1"/>
                </a:solidFill>
                <a:latin typeface="Arial" charset="0"/>
                <a:ea typeface="宋体" charset="-122"/>
              </a:defRPr>
            </a:lvl2pPr>
            <a:lvl3pPr marL="1143000" indent="-228600">
              <a:defRPr sz="1400">
                <a:solidFill>
                  <a:schemeClr val="tx1"/>
                </a:solidFill>
                <a:latin typeface="Arial" charset="0"/>
                <a:ea typeface="宋体" charset="-122"/>
              </a:defRPr>
            </a:lvl3pPr>
            <a:lvl4pPr marL="1600200" indent="-228600">
              <a:defRPr sz="1400">
                <a:solidFill>
                  <a:schemeClr val="tx1"/>
                </a:solidFill>
                <a:latin typeface="Arial" charset="0"/>
                <a:ea typeface="宋体" charset="-122"/>
              </a:defRPr>
            </a:lvl4pPr>
            <a:lvl5pPr marL="2057400" indent="-228600">
              <a:defRPr sz="1400">
                <a:solidFill>
                  <a:schemeClr val="tx1"/>
                </a:solidFill>
                <a:latin typeface="Arial" charset="0"/>
                <a:ea typeface="宋体" charset="-122"/>
              </a:defRPr>
            </a:lvl5pPr>
            <a:lvl6pPr marL="2514600" indent="-228600" eaLnBrk="0" fontAlgn="base" hangingPunct="0">
              <a:spcBef>
                <a:spcPct val="0"/>
              </a:spcBef>
              <a:spcAft>
                <a:spcPct val="0"/>
              </a:spcAft>
              <a:defRPr sz="1400">
                <a:solidFill>
                  <a:schemeClr val="tx1"/>
                </a:solidFill>
                <a:latin typeface="Arial" charset="0"/>
                <a:ea typeface="宋体" charset="-122"/>
              </a:defRPr>
            </a:lvl6pPr>
            <a:lvl7pPr marL="2971800" indent="-228600" eaLnBrk="0" fontAlgn="base" hangingPunct="0">
              <a:spcBef>
                <a:spcPct val="0"/>
              </a:spcBef>
              <a:spcAft>
                <a:spcPct val="0"/>
              </a:spcAft>
              <a:defRPr sz="1400">
                <a:solidFill>
                  <a:schemeClr val="tx1"/>
                </a:solidFill>
                <a:latin typeface="Arial" charset="0"/>
                <a:ea typeface="宋体" charset="-122"/>
              </a:defRPr>
            </a:lvl7pPr>
            <a:lvl8pPr marL="3429000" indent="-228600" eaLnBrk="0" fontAlgn="base" hangingPunct="0">
              <a:spcBef>
                <a:spcPct val="0"/>
              </a:spcBef>
              <a:spcAft>
                <a:spcPct val="0"/>
              </a:spcAft>
              <a:defRPr sz="1400">
                <a:solidFill>
                  <a:schemeClr val="tx1"/>
                </a:solidFill>
                <a:latin typeface="Arial" charset="0"/>
                <a:ea typeface="宋体" charset="-122"/>
              </a:defRPr>
            </a:lvl8pPr>
            <a:lvl9pPr marL="3886200" indent="-228600" eaLnBrk="0" fontAlgn="base" hangingPunct="0">
              <a:spcBef>
                <a:spcPct val="0"/>
              </a:spcBef>
              <a:spcAft>
                <a:spcPct val="0"/>
              </a:spcAft>
              <a:defRPr sz="1400">
                <a:solidFill>
                  <a:schemeClr val="tx1"/>
                </a:solidFill>
                <a:latin typeface="Arial" charset="0"/>
                <a:ea typeface="宋体" charset="-122"/>
              </a:defRPr>
            </a:lvl9pPr>
          </a:lstStyle>
          <a:p>
            <a:r>
              <a:rPr lang="zh-CN" altLang="en-US" sz="1200" smtClean="0"/>
              <a:t>APWeb/WAIM2007  Huang Shan  2007-6-16</a:t>
            </a:r>
            <a:endParaRPr lang="en-US" altLang="zh-CN" sz="1200" smtClean="0"/>
          </a:p>
        </p:txBody>
      </p:sp>
      <p:sp>
        <p:nvSpPr>
          <p:cNvPr id="1331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charset="0"/>
                <a:ea typeface="宋体" charset="-122"/>
              </a:defRPr>
            </a:lvl1pPr>
            <a:lvl2pPr marL="742950" indent="-285750">
              <a:defRPr sz="1400">
                <a:solidFill>
                  <a:schemeClr val="tx1"/>
                </a:solidFill>
                <a:latin typeface="Arial" charset="0"/>
                <a:ea typeface="宋体" charset="-122"/>
              </a:defRPr>
            </a:lvl2pPr>
            <a:lvl3pPr marL="1143000" indent="-228600">
              <a:defRPr sz="1400">
                <a:solidFill>
                  <a:schemeClr val="tx1"/>
                </a:solidFill>
                <a:latin typeface="Arial" charset="0"/>
                <a:ea typeface="宋体" charset="-122"/>
              </a:defRPr>
            </a:lvl3pPr>
            <a:lvl4pPr marL="1600200" indent="-228600">
              <a:defRPr sz="1400">
                <a:solidFill>
                  <a:schemeClr val="tx1"/>
                </a:solidFill>
                <a:latin typeface="Arial" charset="0"/>
                <a:ea typeface="宋体" charset="-122"/>
              </a:defRPr>
            </a:lvl4pPr>
            <a:lvl5pPr marL="2057400" indent="-228600">
              <a:defRPr sz="1400">
                <a:solidFill>
                  <a:schemeClr val="tx1"/>
                </a:solidFill>
                <a:latin typeface="Arial" charset="0"/>
                <a:ea typeface="宋体" charset="-122"/>
              </a:defRPr>
            </a:lvl5pPr>
            <a:lvl6pPr marL="2514600" indent="-228600" eaLnBrk="0" fontAlgn="base" hangingPunct="0">
              <a:spcBef>
                <a:spcPct val="0"/>
              </a:spcBef>
              <a:spcAft>
                <a:spcPct val="0"/>
              </a:spcAft>
              <a:defRPr sz="1400">
                <a:solidFill>
                  <a:schemeClr val="tx1"/>
                </a:solidFill>
                <a:latin typeface="Arial" charset="0"/>
                <a:ea typeface="宋体" charset="-122"/>
              </a:defRPr>
            </a:lvl6pPr>
            <a:lvl7pPr marL="2971800" indent="-228600" eaLnBrk="0" fontAlgn="base" hangingPunct="0">
              <a:spcBef>
                <a:spcPct val="0"/>
              </a:spcBef>
              <a:spcAft>
                <a:spcPct val="0"/>
              </a:spcAft>
              <a:defRPr sz="1400">
                <a:solidFill>
                  <a:schemeClr val="tx1"/>
                </a:solidFill>
                <a:latin typeface="Arial" charset="0"/>
                <a:ea typeface="宋体" charset="-122"/>
              </a:defRPr>
            </a:lvl7pPr>
            <a:lvl8pPr marL="3429000" indent="-228600" eaLnBrk="0" fontAlgn="base" hangingPunct="0">
              <a:spcBef>
                <a:spcPct val="0"/>
              </a:spcBef>
              <a:spcAft>
                <a:spcPct val="0"/>
              </a:spcAft>
              <a:defRPr sz="1400">
                <a:solidFill>
                  <a:schemeClr val="tx1"/>
                </a:solidFill>
                <a:latin typeface="Arial" charset="0"/>
                <a:ea typeface="宋体" charset="-122"/>
              </a:defRPr>
            </a:lvl8pPr>
            <a:lvl9pPr marL="3886200" indent="-228600" eaLnBrk="0" fontAlgn="base" hangingPunct="0">
              <a:spcBef>
                <a:spcPct val="0"/>
              </a:spcBef>
              <a:spcAft>
                <a:spcPct val="0"/>
              </a:spcAft>
              <a:defRPr sz="1400">
                <a:solidFill>
                  <a:schemeClr val="tx1"/>
                </a:solidFill>
                <a:latin typeface="Arial" charset="0"/>
                <a:ea typeface="宋体" charset="-122"/>
              </a:defRPr>
            </a:lvl9pPr>
          </a:lstStyle>
          <a:p>
            <a:fld id="{03E58A54-C96A-43FE-8063-DE06A0511D8E}" type="slidenum">
              <a:rPr lang="zh-CN" altLang="en-US" sz="1200"/>
              <a:pPr/>
              <a:t>33</a:t>
            </a:fld>
            <a:endParaRPr lang="en-US" altLang="zh-CN" sz="1200"/>
          </a:p>
        </p:txBody>
      </p:sp>
      <p:sp>
        <p:nvSpPr>
          <p:cNvPr id="13316" name="Rectangle 2"/>
          <p:cNvSpPr>
            <a:spLocks noGrp="1" noRot="1" noChangeAspect="1" noChangeArrowheads="1" noTextEdit="1"/>
          </p:cNvSpPr>
          <p:nvPr>
            <p:ph type="sldImg"/>
          </p:nvPr>
        </p:nvSpPr>
        <p:spPr>
          <a:ln/>
        </p:spPr>
      </p:sp>
      <p:sp>
        <p:nvSpPr>
          <p:cNvPr id="133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ea typeface="宋体"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fld id="{4EF578E9-4D7D-4EDB-B42F-A88157B46029}" type="slidenum">
              <a:rPr kumimoji="0" lang="en-US" altLang="zh-CN" sz="1200" b="0" smtClean="0">
                <a:latin typeface="Arial" charset="0"/>
                <a:ea typeface="宋体" charset="-122"/>
              </a:rPr>
              <a:pPr eaLnBrk="1" hangingPunct="1"/>
              <a:t>37</a:t>
            </a:fld>
            <a:endParaRPr kumimoji="0" lang="en-US" altLang="zh-CN" sz="1200" b="0" smtClean="0">
              <a:latin typeface="Arial" charset="0"/>
              <a:ea typeface="宋体" charset="-122"/>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smtClean="0">
                <a:ea typeface="宋体" charset="-122"/>
              </a:rPr>
              <a:t>面向对象的主要目标是为现实世界和设计中的结构单元间提供直接映射。</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fld id="{AFBAE34A-4212-4FCC-AC88-A7885D57B018}" type="slidenum">
              <a:rPr kumimoji="0" lang="en-US" altLang="zh-CN" sz="1200" b="0" smtClean="0">
                <a:latin typeface="Arial" charset="0"/>
                <a:ea typeface="宋体" charset="-122"/>
              </a:rPr>
              <a:pPr eaLnBrk="1" hangingPunct="1"/>
              <a:t>38</a:t>
            </a:fld>
            <a:endParaRPr kumimoji="0" lang="en-US" altLang="zh-CN" sz="1200" b="0" smtClean="0">
              <a:latin typeface="Arial" charset="0"/>
              <a:ea typeface="宋体" charset="-122"/>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ea typeface="宋体" charset="-122"/>
              </a:rPr>
              <a:t>面向对象（</a:t>
            </a:r>
            <a:r>
              <a:rPr lang="en-US" altLang="zh-CN" smtClean="0">
                <a:ea typeface="宋体" charset="-122"/>
              </a:rPr>
              <a:t>OO)</a:t>
            </a:r>
            <a:r>
              <a:rPr lang="zh-CN" altLang="en-US" smtClean="0">
                <a:ea typeface="宋体" charset="-122"/>
              </a:rPr>
              <a:t>主要通过概念命名的方式提供现实世界和设计之间的映射。</a:t>
            </a:r>
          </a:p>
          <a:p>
            <a:pPr eaLnBrk="1" hangingPunct="1"/>
            <a:r>
              <a:rPr lang="zh-CN" altLang="en-US" smtClean="0">
                <a:ea typeface="宋体" charset="-122"/>
              </a:rPr>
              <a:t>概念相当于面向对象的类，实例就是类中的对象。</a:t>
            </a:r>
          </a:p>
          <a:p>
            <a:pPr eaLnBrk="1" hangingPunct="1"/>
            <a:r>
              <a:rPr lang="zh-CN" altLang="en-US" smtClean="0">
                <a:ea typeface="宋体" charset="-122"/>
              </a:rPr>
              <a:t>也应为一些不是很明显的概念引入类。如</a:t>
            </a:r>
            <a:r>
              <a:rPr lang="en-US" altLang="zh-CN" smtClean="0">
                <a:ea typeface="宋体" charset="-122"/>
              </a:rPr>
              <a:t>StockTransaction .  JavaAPI</a:t>
            </a:r>
            <a:r>
              <a:rPr lang="zh-CN" altLang="en-US" smtClean="0">
                <a:ea typeface="宋体" charset="-122"/>
              </a:rPr>
              <a:t>库为事件、颜色引入了类。</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fld id="{4DD1C797-E0ED-4FDC-A17E-AE80707F1B82}" type="slidenum">
              <a:rPr kumimoji="0" lang="en-US" altLang="zh-CN" sz="1200" b="0" smtClean="0">
                <a:latin typeface="Arial" charset="0"/>
                <a:ea typeface="宋体" charset="-122"/>
              </a:rPr>
              <a:pPr eaLnBrk="1" hangingPunct="1"/>
              <a:t>39</a:t>
            </a:fld>
            <a:endParaRPr kumimoji="0" lang="en-US" altLang="zh-CN" sz="1200" b="0" smtClean="0">
              <a:latin typeface="Arial" charset="0"/>
              <a:ea typeface="宋体" charset="-122"/>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ea typeface="宋体" charset="-122"/>
              </a:rPr>
              <a:t>面向对象（</a:t>
            </a:r>
            <a:r>
              <a:rPr lang="en-US" altLang="zh-CN" smtClean="0">
                <a:ea typeface="宋体" charset="-122"/>
              </a:rPr>
              <a:t>OO)</a:t>
            </a:r>
            <a:r>
              <a:rPr lang="zh-CN" altLang="en-US" smtClean="0">
                <a:ea typeface="宋体" charset="-122"/>
              </a:rPr>
              <a:t>主要通过概念命名的方式提供现实世界和设计之间的映射。</a:t>
            </a:r>
          </a:p>
          <a:p>
            <a:pPr eaLnBrk="1" hangingPunct="1"/>
            <a:r>
              <a:rPr lang="zh-CN" altLang="en-US" smtClean="0">
                <a:ea typeface="宋体" charset="-122"/>
              </a:rPr>
              <a:t>概念相当于面向对象的类，实例就是类中的对象。</a:t>
            </a:r>
          </a:p>
          <a:p>
            <a:pPr eaLnBrk="1" hangingPunct="1"/>
            <a:r>
              <a:rPr lang="zh-CN" altLang="en-US" smtClean="0">
                <a:ea typeface="宋体" charset="-122"/>
              </a:rPr>
              <a:t>也应为一些不是很明显的概念引入类。如</a:t>
            </a:r>
            <a:r>
              <a:rPr lang="en-US" altLang="zh-CN" smtClean="0">
                <a:ea typeface="宋体" charset="-122"/>
              </a:rPr>
              <a:t>StockTransaction .  JavaAPI</a:t>
            </a:r>
            <a:r>
              <a:rPr lang="zh-CN" altLang="en-US" smtClean="0">
                <a:ea typeface="宋体" charset="-122"/>
              </a:rPr>
              <a:t>库为事件、颜色引入了类。</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fld id="{047CD4D9-2F34-438A-A2DB-01839F16EE17}" type="slidenum">
              <a:rPr kumimoji="0" lang="en-US" altLang="zh-CN" sz="1200" b="0" smtClean="0">
                <a:latin typeface="Arial" charset="0"/>
                <a:ea typeface="宋体" charset="-122"/>
              </a:rPr>
              <a:pPr eaLnBrk="1" hangingPunct="1"/>
              <a:t>43</a:t>
            </a:fld>
            <a:endParaRPr kumimoji="0" lang="en-US" altLang="zh-CN" sz="1200" b="0" smtClean="0">
              <a:latin typeface="Arial" charset="0"/>
              <a:ea typeface="宋体" charset="-122"/>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b="1" smtClean="0">
                <a:ea typeface="楷体_GB2312" pitchFamily="49" charset="-122"/>
              </a:rPr>
              <a:t>”</a:t>
            </a:r>
            <a:r>
              <a:rPr lang="zh-CN" altLang="en-US" b="1" smtClean="0">
                <a:ea typeface="楷体_GB2312" pitchFamily="49" charset="-122"/>
              </a:rPr>
              <a:t>，它的存在能“消灭”用于为客户提供服务的对象</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2023/2/20</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slide" Target="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www.hudong.com/wiki/&#232;&#189;&#175;&#228;&#187;&#182;" TargetMode="External"/><Relationship Id="rId7" Type="http://schemas.openxmlformats.org/officeDocument/2006/relationships/hyperlink" Target="http://www.hudong.com/wiki/&#233;&#135;&#141;&#229;&#164;&#141;" TargetMode="External"/><Relationship Id="rId2" Type="http://schemas.openxmlformats.org/officeDocument/2006/relationships/hyperlink" Target="http://www.hudong.com/wiki/&#232;&#174;&#190;&#232;&#174;&#161;" TargetMode="External"/><Relationship Id="rId1" Type="http://schemas.openxmlformats.org/officeDocument/2006/relationships/slideLayout" Target="../slideLayouts/slideLayout2.xml"/><Relationship Id="rId6" Type="http://schemas.openxmlformats.org/officeDocument/2006/relationships/hyperlink" Target="http://www.hudong.com/wiki/&#230;&#149;&#176;&#230;&#141;&#174;" TargetMode="External"/><Relationship Id="rId5" Type="http://schemas.openxmlformats.org/officeDocument/2006/relationships/hyperlink" Target="http://www.hudong.com/wiki/&#230;&#168;&#161;&#229;&#157;&#151;" TargetMode="External"/><Relationship Id="rId4" Type="http://schemas.openxmlformats.org/officeDocument/2006/relationships/hyperlink" Target="http://www.hudong.com/wiki/&#232;&#180;&#168;&#233;&#135;&#143;"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5.wmf"/><Relationship Id="rId4" Type="http://schemas.openxmlformats.org/officeDocument/2006/relationships/oleObject" Target="../embeddings/oleObject3.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5.wmf"/><Relationship Id="rId4" Type="http://schemas.openxmlformats.org/officeDocument/2006/relationships/oleObject" Target="../embeddings/oleObject5.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slide" Target="slide43.xml"/><Relationship Id="rId1" Type="http://schemas.openxmlformats.org/officeDocument/2006/relationships/slideLayout" Target="../slideLayouts/slideLayout2.xml"/><Relationship Id="rId4" Type="http://schemas.openxmlformats.org/officeDocument/2006/relationships/slide" Target="slide45.xml"/></Relationships>
</file>

<file path=ppt/slides/_rels/slide46.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6" name="Text Box 4"/>
          <p:cNvSpPr txBox="1">
            <a:spLocks noChangeArrowheads="1"/>
          </p:cNvSpPr>
          <p:nvPr/>
        </p:nvSpPr>
        <p:spPr bwMode="auto">
          <a:xfrm>
            <a:off x="323850" y="1196975"/>
            <a:ext cx="8424863" cy="1920875"/>
          </a:xfrm>
          <a:prstGeom prst="rect">
            <a:avLst/>
          </a:prstGeom>
          <a:noFill/>
          <a:ln>
            <a:noFill/>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ctr" eaLnBrk="1" hangingPunct="1">
              <a:defRPr/>
            </a:pPr>
            <a:r>
              <a:rPr lang="zh-CN" altLang="en-US" sz="6000" b="1" smtClean="0">
                <a:solidFill>
                  <a:srgbClr val="FF3300"/>
                </a:solidFill>
                <a:effectLst>
                  <a:outerShdw blurRad="38100" dist="38100" dir="2700000" algn="tl">
                    <a:srgbClr val="C0C0C0"/>
                  </a:outerShdw>
                </a:effectLst>
                <a:ea typeface="隶书" pitchFamily="49" charset="-122"/>
              </a:rPr>
              <a:t>软件设计与体系结构</a:t>
            </a:r>
          </a:p>
          <a:p>
            <a:pPr algn="ctr" eaLnBrk="1" hangingPunct="1">
              <a:defRPr/>
            </a:pPr>
            <a:r>
              <a:rPr lang="zh-CN" altLang="en-US" sz="6000" b="1" smtClean="0">
                <a:solidFill>
                  <a:srgbClr val="FF3300"/>
                </a:solidFill>
                <a:effectLst>
                  <a:outerShdw blurRad="38100" dist="38100" dir="2700000" algn="tl">
                    <a:srgbClr val="C0C0C0"/>
                  </a:outerShdw>
                </a:effectLst>
                <a:ea typeface="隶书" pitchFamily="49" charset="-122"/>
              </a:rPr>
              <a:t>课程简介</a:t>
            </a:r>
          </a:p>
        </p:txBody>
      </p:sp>
      <p:sp>
        <p:nvSpPr>
          <p:cNvPr id="172052" name="Rectangle 20"/>
          <p:cNvSpPr>
            <a:spLocks noChangeArrowheads="1"/>
          </p:cNvSpPr>
          <p:nvPr/>
        </p:nvSpPr>
        <p:spPr bwMode="auto">
          <a:xfrm>
            <a:off x="900113" y="3640138"/>
            <a:ext cx="7632700" cy="488950"/>
          </a:xfrm>
          <a:prstGeom prst="rect">
            <a:avLst/>
          </a:prstGeom>
          <a:solidFill>
            <a:srgbClr val="FFFF99"/>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ctr" eaLnBrk="1" hangingPunct="1">
              <a:defRPr/>
            </a:pPr>
            <a:r>
              <a:rPr lang="zh-CN" altLang="en-US" sz="2600" b="1">
                <a:effectLst>
                  <a:outerShdw blurRad="38100" dist="38100" dir="2700000" algn="tl">
                    <a:srgbClr val="FFFFFF"/>
                  </a:outerShdw>
                </a:effectLst>
                <a:latin typeface="宋体" charset="-122"/>
              </a:rPr>
              <a:t>任课教师：谢兄</a:t>
            </a:r>
          </a:p>
        </p:txBody>
      </p:sp>
      <p:pic>
        <p:nvPicPr>
          <p:cNvPr id="3076" name="Picture 24" descr="大连海事大学徽标--处理"/>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116013"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38113"/>
            <a:ext cx="2592387"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1676973"/>
      </p:ext>
    </p:extLst>
  </p:cSld>
  <p:clrMapOvr>
    <a:masterClrMapping/>
  </p:clrMapOvr>
  <mc:AlternateContent xmlns:mc="http://schemas.openxmlformats.org/markup-compatibility/2006" xmlns:p14="http://schemas.microsoft.com/office/powerpoint/2010/main">
    <mc:Choice Requires="p14">
      <p:transition spd="slow" p14:dur="999" advTm="0"/>
    </mc:Choice>
    <mc:Fallback xmlns="">
      <p:transition spd="slow" advTm="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332656"/>
            <a:ext cx="8229600" cy="6048672"/>
          </a:xfrm>
        </p:spPr>
        <p:txBody>
          <a:bodyPr>
            <a:normAutofit/>
          </a:bodyPr>
          <a:lstStyle/>
          <a:p>
            <a:r>
              <a:rPr lang="zh-CN" altLang="en-US" sz="2400" dirty="0"/>
              <a:t>始终要记得：</a:t>
            </a:r>
            <a:r>
              <a:rPr lang="zh-CN" altLang="en-US" sz="2400" dirty="0">
                <a:solidFill>
                  <a:srgbClr val="FF0000"/>
                </a:solidFill>
              </a:rPr>
              <a:t>本课程是关注软件设计问题</a:t>
            </a:r>
            <a:r>
              <a:rPr lang="zh-CN" altLang="en-US" sz="2400" dirty="0"/>
              <a:t>，不是软件实现问题。软件设计模式是在有大量软件实现经验的基础上，解决软件设计问题</a:t>
            </a:r>
            <a:r>
              <a:rPr lang="zh-CN" altLang="en-US" sz="2400" dirty="0" smtClean="0"/>
              <a:t>。</a:t>
            </a:r>
            <a:endParaRPr lang="en-US" altLang="zh-CN" sz="2400" dirty="0" smtClean="0"/>
          </a:p>
          <a:p>
            <a:endParaRPr lang="en-US" altLang="zh-CN" sz="2400" dirty="0" smtClean="0"/>
          </a:p>
          <a:p>
            <a:r>
              <a:rPr lang="zh-CN" altLang="en-US" sz="2400" dirty="0" smtClean="0"/>
              <a:t>要求具备的基础：软件工程，面向对象，高级编程语言，。。。</a:t>
            </a:r>
            <a:endParaRPr lang="en-US" altLang="zh-CN" sz="2400" dirty="0" smtClean="0"/>
          </a:p>
          <a:p>
            <a:endParaRPr lang="en-US" altLang="zh-CN" sz="2400" dirty="0" smtClean="0"/>
          </a:p>
          <a:p>
            <a:r>
              <a:rPr lang="zh-CN" altLang="en-US" sz="2400" dirty="0" smtClean="0"/>
              <a:t>以前你们学到的知识目的是要你们开发出好的软件程序。</a:t>
            </a:r>
            <a:endParaRPr lang="en-US" altLang="zh-CN" sz="2400" dirty="0" smtClean="0"/>
          </a:p>
          <a:p>
            <a:endParaRPr lang="en-US" altLang="zh-CN" sz="2400" dirty="0" smtClean="0"/>
          </a:p>
          <a:p>
            <a:r>
              <a:rPr lang="zh-CN" altLang="en-US" sz="2400" dirty="0" smtClean="0"/>
              <a:t>本课程的目的是在你们开发出的好的软件程序</a:t>
            </a:r>
            <a:r>
              <a:rPr lang="zh-CN" altLang="en-US" sz="2400" dirty="0"/>
              <a:t>的</a:t>
            </a:r>
            <a:r>
              <a:rPr lang="zh-CN" altLang="en-US" sz="2400" dirty="0" smtClean="0"/>
              <a:t>基础上，希望</a:t>
            </a:r>
            <a:r>
              <a:rPr lang="zh-CN" altLang="en-US" sz="2400" b="1" dirty="0" smtClean="0">
                <a:solidFill>
                  <a:schemeClr val="accent2">
                    <a:lumMod val="75000"/>
                  </a:schemeClr>
                </a:solidFill>
              </a:rPr>
              <a:t>软件更有利于维护</a:t>
            </a:r>
            <a:r>
              <a:rPr lang="zh-CN" altLang="en-US" sz="2400" dirty="0" smtClean="0"/>
              <a:t>。</a:t>
            </a:r>
            <a:endParaRPr lang="en-US" altLang="zh-CN" sz="2400" dirty="0"/>
          </a:p>
          <a:p>
            <a:endParaRPr lang="zh-CN" altLang="en-US" sz="2400" dirty="0"/>
          </a:p>
        </p:txBody>
      </p:sp>
    </p:spTree>
    <p:extLst>
      <p:ext uri="{BB962C8B-B14F-4D97-AF65-F5344CB8AC3E}">
        <p14:creationId xmlns:p14="http://schemas.microsoft.com/office/powerpoint/2010/main" val="32898015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为了开发</a:t>
            </a:r>
            <a:r>
              <a:rPr lang="zh-CN" altLang="en-US" dirty="0" smtClean="0">
                <a:solidFill>
                  <a:srgbClr val="FF0000"/>
                </a:solidFill>
              </a:rPr>
              <a:t>更有利于维护的软件</a:t>
            </a:r>
            <a:r>
              <a:rPr lang="zh-CN" altLang="en-US" dirty="0" smtClean="0"/>
              <a:t>，需要做如下工作：</a:t>
            </a:r>
            <a:endParaRPr lang="en-US" altLang="zh-CN" dirty="0" smtClean="0"/>
          </a:p>
          <a:p>
            <a:r>
              <a:rPr lang="en-US" altLang="zh-CN" dirty="0" smtClean="0"/>
              <a:t>1</a:t>
            </a:r>
            <a:r>
              <a:rPr lang="zh-CN" altLang="en-US" dirty="0" smtClean="0"/>
              <a:t>）需求分析</a:t>
            </a:r>
            <a:endParaRPr lang="en-US" altLang="zh-CN" dirty="0" smtClean="0"/>
          </a:p>
          <a:p>
            <a:r>
              <a:rPr lang="en-US" altLang="zh-CN" dirty="0" smtClean="0"/>
              <a:t>2</a:t>
            </a:r>
            <a:r>
              <a:rPr lang="zh-CN" altLang="en-US" dirty="0" smtClean="0"/>
              <a:t>）软件设计</a:t>
            </a:r>
            <a:r>
              <a:rPr lang="en-US" altLang="zh-CN" dirty="0" smtClean="0"/>
              <a:t>-</a:t>
            </a:r>
            <a:r>
              <a:rPr lang="zh-CN" altLang="en-US" dirty="0" smtClean="0">
                <a:solidFill>
                  <a:srgbClr val="FF0000"/>
                </a:solidFill>
              </a:rPr>
              <a:t>面向对象的</a:t>
            </a:r>
            <a:r>
              <a:rPr lang="zh-CN" altLang="en-US" dirty="0" smtClean="0"/>
              <a:t>软件设计方法</a:t>
            </a:r>
            <a:endParaRPr lang="en-US" altLang="zh-CN" dirty="0" smtClean="0"/>
          </a:p>
          <a:p>
            <a:r>
              <a:rPr lang="en-US" altLang="zh-CN" dirty="0"/>
              <a:t> </a:t>
            </a:r>
            <a:r>
              <a:rPr lang="en-US" altLang="zh-CN" dirty="0" smtClean="0"/>
              <a:t> 2.1</a:t>
            </a:r>
            <a:r>
              <a:rPr lang="zh-CN" altLang="en-US" dirty="0" smtClean="0"/>
              <a:t>）常规设计结果</a:t>
            </a:r>
            <a:endParaRPr lang="en-US" altLang="zh-CN" dirty="0" smtClean="0"/>
          </a:p>
          <a:p>
            <a:r>
              <a:rPr lang="en-US" altLang="zh-CN" dirty="0"/>
              <a:t> </a:t>
            </a:r>
            <a:r>
              <a:rPr lang="en-US" altLang="zh-CN" dirty="0" smtClean="0"/>
              <a:t> 2.2</a:t>
            </a:r>
            <a:r>
              <a:rPr lang="zh-CN" altLang="en-US" dirty="0" smtClean="0"/>
              <a:t>）针对需求描述中特定功能要求，对上述设计结果进行</a:t>
            </a:r>
            <a:r>
              <a:rPr lang="zh-CN" altLang="en-US" dirty="0" smtClean="0">
                <a:solidFill>
                  <a:srgbClr val="FF0000"/>
                </a:solidFill>
              </a:rPr>
              <a:t>进一步设计</a:t>
            </a:r>
            <a:r>
              <a:rPr lang="zh-CN" altLang="en-US" dirty="0" smtClean="0"/>
              <a:t>，这涉及到本课程中的方法。</a:t>
            </a:r>
            <a:endParaRPr lang="zh-CN" altLang="en-US" dirty="0"/>
          </a:p>
        </p:txBody>
      </p:sp>
    </p:spTree>
    <p:extLst>
      <p:ext uri="{BB962C8B-B14F-4D97-AF65-F5344CB8AC3E}">
        <p14:creationId xmlns:p14="http://schemas.microsoft.com/office/powerpoint/2010/main" val="3475145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6" name="Text Box 4"/>
          <p:cNvSpPr txBox="1">
            <a:spLocks noChangeArrowheads="1"/>
          </p:cNvSpPr>
          <p:nvPr/>
        </p:nvSpPr>
        <p:spPr bwMode="auto">
          <a:xfrm>
            <a:off x="323850" y="1196975"/>
            <a:ext cx="8424863" cy="3785652"/>
          </a:xfrm>
          <a:prstGeom prst="rect">
            <a:avLst/>
          </a:prstGeom>
          <a:noFill/>
          <a:ln>
            <a:noFill/>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ctr" eaLnBrk="1" hangingPunct="1">
              <a:defRPr/>
            </a:pPr>
            <a:r>
              <a:rPr lang="zh-CN" altLang="en-US" sz="6000" b="1" dirty="0" smtClean="0">
                <a:solidFill>
                  <a:srgbClr val="FF3300"/>
                </a:solidFill>
                <a:effectLst>
                  <a:outerShdw blurRad="38100" dist="38100" dir="2700000" algn="tl">
                    <a:srgbClr val="C0C0C0"/>
                  </a:outerShdw>
                </a:effectLst>
                <a:ea typeface="隶书" pitchFamily="49" charset="-122"/>
              </a:rPr>
              <a:t>软件设计与体系结构</a:t>
            </a:r>
            <a:endParaRPr lang="en-US" altLang="zh-CN" sz="6000" b="1" dirty="0" smtClean="0">
              <a:solidFill>
                <a:srgbClr val="FF3300"/>
              </a:solidFill>
              <a:effectLst>
                <a:outerShdw blurRad="38100" dist="38100" dir="2700000" algn="tl">
                  <a:srgbClr val="C0C0C0"/>
                </a:outerShdw>
              </a:effectLst>
              <a:ea typeface="隶书" pitchFamily="49" charset="-122"/>
            </a:endParaRPr>
          </a:p>
          <a:p>
            <a:pPr algn="ctr" eaLnBrk="1" hangingPunct="1">
              <a:defRPr/>
            </a:pPr>
            <a:endParaRPr lang="zh-CN" altLang="en-US" sz="6000" b="1" dirty="0" smtClean="0">
              <a:solidFill>
                <a:srgbClr val="FF3300"/>
              </a:solidFill>
              <a:effectLst>
                <a:outerShdw blurRad="38100" dist="38100" dir="2700000" algn="tl">
                  <a:srgbClr val="C0C0C0"/>
                </a:outerShdw>
              </a:effectLst>
              <a:ea typeface="隶书" pitchFamily="49" charset="-122"/>
            </a:endParaRPr>
          </a:p>
          <a:p>
            <a:pPr algn="ctr">
              <a:defRPr/>
            </a:pPr>
            <a:r>
              <a:rPr lang="zh-CN" altLang="en-US" sz="6000" b="1" dirty="0">
                <a:solidFill>
                  <a:srgbClr val="FF3300"/>
                </a:solidFill>
                <a:effectLst>
                  <a:outerShdw blurRad="38100" dist="38100" dir="2700000" algn="tl">
                    <a:srgbClr val="C0C0C0"/>
                  </a:outerShdw>
                </a:effectLst>
                <a:ea typeface="隶书" pitchFamily="49" charset="-122"/>
              </a:rPr>
              <a:t>第一章 程序设计回顾及软件设计导论</a:t>
            </a:r>
            <a:endParaRPr lang="zh-CN" altLang="en-US" sz="6000" b="1" dirty="0" smtClean="0">
              <a:solidFill>
                <a:srgbClr val="FF3300"/>
              </a:solidFill>
              <a:effectLst>
                <a:outerShdw blurRad="38100" dist="38100" dir="2700000" algn="tl">
                  <a:srgbClr val="C0C0C0"/>
                </a:outerShdw>
              </a:effectLst>
              <a:ea typeface="隶书" pitchFamily="49" charset="-122"/>
            </a:endParaRPr>
          </a:p>
        </p:txBody>
      </p:sp>
      <p:pic>
        <p:nvPicPr>
          <p:cNvPr id="3076" name="Picture 24" descr="大连海事大学徽标--处理"/>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116013"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38113"/>
            <a:ext cx="2592387"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918597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body" idx="1"/>
          </p:nvPr>
        </p:nvSpPr>
        <p:spPr>
          <a:xfrm>
            <a:off x="990600" y="1447800"/>
            <a:ext cx="7467600" cy="4525963"/>
          </a:xfrm>
        </p:spPr>
        <p:txBody>
          <a:bodyPr/>
          <a:lstStyle/>
          <a:p>
            <a:pPr eaLnBrk="1" hangingPunct="1">
              <a:buFont typeface="Wingdings" pitchFamily="2" charset="2"/>
              <a:buChar char="Ø"/>
            </a:pPr>
            <a:r>
              <a:rPr lang="zh-CN" altLang="en-US" b="1" smtClean="0">
                <a:solidFill>
                  <a:srgbClr val="FF0000"/>
                </a:solidFill>
                <a:ea typeface="楷体_GB2312" pitchFamily="49" charset="-122"/>
              </a:rPr>
              <a:t>软件危机</a:t>
            </a:r>
            <a:r>
              <a:rPr lang="en-US" altLang="zh-CN" b="1" smtClean="0">
                <a:ea typeface="楷体_GB2312" pitchFamily="49" charset="-122"/>
              </a:rPr>
              <a:t>(software crisis)</a:t>
            </a:r>
            <a:r>
              <a:rPr lang="zh-CN" altLang="en-US" b="1" smtClean="0">
                <a:ea typeface="楷体_GB2312" pitchFamily="49" charset="-122"/>
              </a:rPr>
              <a:t>是指在计算机软件的开发</a:t>
            </a:r>
            <a:r>
              <a:rPr lang="en-US" altLang="zh-CN" b="1" smtClean="0">
                <a:ea typeface="楷体_GB2312" pitchFamily="49" charset="-122"/>
              </a:rPr>
              <a:t>(development)</a:t>
            </a:r>
            <a:r>
              <a:rPr lang="zh-CN" altLang="en-US" b="1" smtClean="0">
                <a:ea typeface="楷体_GB2312" pitchFamily="49" charset="-122"/>
              </a:rPr>
              <a:t>和维护</a:t>
            </a:r>
            <a:r>
              <a:rPr lang="en-US" altLang="zh-CN" b="1" smtClean="0">
                <a:ea typeface="楷体_GB2312" pitchFamily="49" charset="-122"/>
              </a:rPr>
              <a:t>(maintenance)</a:t>
            </a:r>
            <a:r>
              <a:rPr lang="zh-CN" altLang="en-US" b="1" smtClean="0">
                <a:ea typeface="楷体_GB2312" pitchFamily="49" charset="-122"/>
              </a:rPr>
              <a:t>过程中所遇到的一系列严重问题。</a:t>
            </a:r>
          </a:p>
          <a:p>
            <a:pPr eaLnBrk="1" hangingPunct="1">
              <a:buFont typeface="Wingdings" pitchFamily="2" charset="2"/>
              <a:buChar char="Ø"/>
            </a:pPr>
            <a:endParaRPr lang="zh-CN" altLang="en-US" b="1" smtClean="0">
              <a:ea typeface="楷体_GB2312" pitchFamily="49" charset="-122"/>
            </a:endParaRPr>
          </a:p>
          <a:p>
            <a:pPr eaLnBrk="1" hangingPunct="1">
              <a:buFont typeface="Wingdings" pitchFamily="2" charset="2"/>
              <a:buChar char="Ø"/>
            </a:pPr>
            <a:r>
              <a:rPr lang="en-US" altLang="zh-CN" b="1" smtClean="0">
                <a:ea typeface="楷体_GB2312" pitchFamily="49" charset="-122"/>
              </a:rPr>
              <a:t>1968</a:t>
            </a:r>
            <a:r>
              <a:rPr lang="zh-CN" altLang="en-US" b="1" smtClean="0">
                <a:ea typeface="楷体_GB2312" pitchFamily="49" charset="-122"/>
              </a:rPr>
              <a:t>年在原西德加密施</a:t>
            </a:r>
            <a:r>
              <a:rPr lang="en-US" altLang="zh-CN" b="1" smtClean="0">
                <a:ea typeface="楷体_GB2312" pitchFamily="49" charset="-122"/>
              </a:rPr>
              <a:t>(Garmish)</a:t>
            </a:r>
            <a:r>
              <a:rPr lang="zh-CN" altLang="en-US" b="1" smtClean="0">
                <a:ea typeface="楷体_GB2312" pitchFamily="49" charset="-122"/>
              </a:rPr>
              <a:t>召开的国际软件工程会议上开始被人们普遍认识到。</a:t>
            </a:r>
          </a:p>
        </p:txBody>
      </p:sp>
      <p:sp>
        <p:nvSpPr>
          <p:cNvPr id="3075" name="Rectangle 3"/>
          <p:cNvSpPr>
            <a:spLocks noGrp="1" noChangeArrowheads="1"/>
          </p:cNvSpPr>
          <p:nvPr>
            <p:ph type="title"/>
          </p:nvPr>
        </p:nvSpPr>
        <p:spPr/>
        <p:txBody>
          <a:bodyPr/>
          <a:lstStyle/>
          <a:p>
            <a:pPr eaLnBrk="1" hangingPunct="1"/>
            <a:r>
              <a:rPr lang="zh-CN" altLang="en-US" b="1" smtClean="0">
                <a:ea typeface="楷体_GB2312" pitchFamily="49" charset="-122"/>
              </a:rPr>
              <a:t>软件危机</a:t>
            </a:r>
          </a:p>
        </p:txBody>
      </p:sp>
    </p:spTree>
    <p:extLst>
      <p:ext uri="{BB962C8B-B14F-4D97-AF65-F5344CB8AC3E}">
        <p14:creationId xmlns:p14="http://schemas.microsoft.com/office/powerpoint/2010/main" val="1830132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如何克服软件危机 </a:t>
            </a:r>
          </a:p>
        </p:txBody>
      </p:sp>
      <p:sp>
        <p:nvSpPr>
          <p:cNvPr id="4099" name="Rectangle 3"/>
          <p:cNvSpPr>
            <a:spLocks noGrp="1" noChangeArrowheads="1"/>
          </p:cNvSpPr>
          <p:nvPr>
            <p:ph type="body" idx="1"/>
          </p:nvPr>
        </p:nvSpPr>
        <p:spPr>
          <a:xfrm>
            <a:off x="304800" y="990600"/>
            <a:ext cx="8686800" cy="5562600"/>
          </a:xfrm>
        </p:spPr>
        <p:txBody>
          <a:bodyPr/>
          <a:lstStyle/>
          <a:p>
            <a:pPr eaLnBrk="1" hangingPunct="1">
              <a:buFont typeface="Wingdings" pitchFamily="2" charset="2"/>
              <a:buChar char="Ø"/>
            </a:pPr>
            <a:r>
              <a:rPr kumimoji="1" lang="zh-CN" altLang="en-US" sz="2800" b="1" smtClean="0">
                <a:solidFill>
                  <a:schemeClr val="bg1"/>
                </a:solidFill>
              </a:rPr>
              <a:t>如何克服软件危机</a:t>
            </a:r>
            <a:endParaRPr lang="zh-CN" altLang="en-US" sz="2800" b="1" smtClean="0">
              <a:ea typeface="楷体_GB2312" pitchFamily="49" charset="-122"/>
            </a:endParaRPr>
          </a:p>
          <a:p>
            <a:pPr lvl="1" eaLnBrk="1" hangingPunct="1">
              <a:buFont typeface="Wingdings" pitchFamily="2" charset="2"/>
              <a:buChar char="Ø"/>
            </a:pPr>
            <a:r>
              <a:rPr lang="zh-CN" altLang="en-US" sz="2400" b="1" smtClean="0">
                <a:ea typeface="楷体_GB2312" pitchFamily="49" charset="-122"/>
              </a:rPr>
              <a:t>人们面临的不光是技术问题，更重要的是</a:t>
            </a:r>
            <a:r>
              <a:rPr lang="zh-CN" altLang="en-US" sz="2400" b="1" smtClean="0">
                <a:solidFill>
                  <a:srgbClr val="FF0000"/>
                </a:solidFill>
                <a:ea typeface="楷体_GB2312" pitchFamily="49" charset="-122"/>
              </a:rPr>
              <a:t>管理问题</a:t>
            </a:r>
            <a:r>
              <a:rPr lang="zh-CN" altLang="en-US" sz="2400" b="1" smtClean="0">
                <a:ea typeface="楷体_GB2312" pitchFamily="49" charset="-122"/>
              </a:rPr>
              <a:t>。管理不善必然导致失败 。</a:t>
            </a:r>
          </a:p>
          <a:p>
            <a:pPr lvl="1" eaLnBrk="1" hangingPunct="1">
              <a:buFont typeface="Wingdings" pitchFamily="2" charset="2"/>
              <a:buChar char="Ø"/>
            </a:pPr>
            <a:endParaRPr lang="zh-CN" altLang="en-US" sz="2400" b="1" smtClean="0">
              <a:ea typeface="楷体_GB2312" pitchFamily="49" charset="-122"/>
            </a:endParaRPr>
          </a:p>
          <a:p>
            <a:pPr lvl="1" eaLnBrk="1" hangingPunct="1">
              <a:buFont typeface="Wingdings" pitchFamily="2" charset="2"/>
              <a:buChar char="Ø"/>
            </a:pPr>
            <a:r>
              <a:rPr lang="zh-CN" altLang="en-US" sz="2400" b="1" smtClean="0">
                <a:ea typeface="楷体_GB2312" pitchFamily="49" charset="-122"/>
              </a:rPr>
              <a:t>要提高软件开发效率，提高软件产品质量，必须采用</a:t>
            </a:r>
            <a:r>
              <a:rPr lang="zh-CN" altLang="en-US" sz="2400" b="1" smtClean="0">
                <a:solidFill>
                  <a:srgbClr val="FF0000"/>
                </a:solidFill>
                <a:ea typeface="楷体_GB2312" pitchFamily="49" charset="-122"/>
              </a:rPr>
              <a:t>工程化</a:t>
            </a:r>
            <a:r>
              <a:rPr lang="zh-CN" altLang="en-US" sz="2400" b="1" smtClean="0">
                <a:ea typeface="楷体_GB2312" pitchFamily="49" charset="-122"/>
              </a:rPr>
              <a:t>的开发方法与</a:t>
            </a:r>
            <a:r>
              <a:rPr lang="zh-CN" altLang="en-US" sz="2400" b="1" smtClean="0">
                <a:solidFill>
                  <a:srgbClr val="FF0000"/>
                </a:solidFill>
                <a:ea typeface="楷体_GB2312" pitchFamily="49" charset="-122"/>
              </a:rPr>
              <a:t>工业化</a:t>
            </a:r>
            <a:r>
              <a:rPr lang="zh-CN" altLang="en-US" sz="2400" b="1" smtClean="0">
                <a:ea typeface="楷体_GB2312" pitchFamily="49" charset="-122"/>
              </a:rPr>
              <a:t>的生产技术。</a:t>
            </a:r>
          </a:p>
          <a:p>
            <a:pPr lvl="1" eaLnBrk="1" hangingPunct="1">
              <a:buFont typeface="Wingdings" pitchFamily="2" charset="2"/>
              <a:buChar char="Ø"/>
            </a:pPr>
            <a:endParaRPr lang="zh-CN" altLang="en-US" sz="2400" b="1" smtClean="0">
              <a:ea typeface="楷体_GB2312" pitchFamily="49" charset="-122"/>
            </a:endParaRPr>
          </a:p>
          <a:p>
            <a:pPr lvl="1" eaLnBrk="1" hangingPunct="1">
              <a:buFont typeface="Wingdings" pitchFamily="2" charset="2"/>
              <a:buChar char="Ø"/>
            </a:pPr>
            <a:r>
              <a:rPr lang="zh-CN" altLang="en-US" sz="2400" b="1" smtClean="0">
                <a:ea typeface="楷体_GB2312" pitchFamily="49" charset="-122"/>
              </a:rPr>
              <a:t>在技术上，应该采用</a:t>
            </a:r>
            <a:r>
              <a:rPr lang="zh-CN" altLang="en-US" sz="2400" b="1" smtClean="0">
                <a:solidFill>
                  <a:srgbClr val="FF0000"/>
                </a:solidFill>
                <a:ea typeface="楷体_GB2312" pitchFamily="49" charset="-122"/>
              </a:rPr>
              <a:t>基于重用的</a:t>
            </a:r>
            <a:r>
              <a:rPr lang="zh-CN" altLang="en-US" sz="2400" b="1" smtClean="0">
                <a:ea typeface="楷体_GB2312" pitchFamily="49" charset="-122"/>
              </a:rPr>
              <a:t>软件生产技术；在管理上，应该采用</a:t>
            </a:r>
            <a:r>
              <a:rPr lang="zh-CN" altLang="en-US" sz="2400" b="1" smtClean="0">
                <a:solidFill>
                  <a:srgbClr val="FF0000"/>
                </a:solidFill>
                <a:ea typeface="楷体_GB2312" pitchFamily="49" charset="-122"/>
              </a:rPr>
              <a:t>多维的</a:t>
            </a:r>
            <a:r>
              <a:rPr lang="zh-CN" altLang="en-US" sz="2400" b="1" smtClean="0">
                <a:ea typeface="楷体_GB2312" pitchFamily="49" charset="-122"/>
              </a:rPr>
              <a:t>工程管理模式。</a:t>
            </a:r>
          </a:p>
          <a:p>
            <a:pPr lvl="1" eaLnBrk="1" hangingPunct="1">
              <a:buFont typeface="Wingdings" pitchFamily="2" charset="2"/>
              <a:buChar char="Ø"/>
            </a:pPr>
            <a:endParaRPr lang="zh-CN" altLang="en-US" sz="2400" b="1" smtClean="0">
              <a:ea typeface="楷体_GB2312" pitchFamily="49" charset="-122"/>
            </a:endParaRPr>
          </a:p>
          <a:p>
            <a:pPr lvl="1" eaLnBrk="1" hangingPunct="1">
              <a:buFont typeface="Wingdings" pitchFamily="2" charset="2"/>
              <a:buChar char="Ø"/>
            </a:pPr>
            <a:r>
              <a:rPr lang="zh-CN" altLang="en-US" sz="2400" b="1" smtClean="0">
                <a:ea typeface="楷体_GB2312" pitchFamily="49" charset="-122"/>
              </a:rPr>
              <a:t>为了解决软件危机，既要有技术措施，又要有必要的组织管理措施。软件工程正是从</a:t>
            </a:r>
            <a:r>
              <a:rPr lang="zh-CN" altLang="en-US" b="1" i="1" smtClean="0">
                <a:solidFill>
                  <a:srgbClr val="FF0000"/>
                </a:solidFill>
                <a:ea typeface="楷体_GB2312" pitchFamily="49" charset="-122"/>
              </a:rPr>
              <a:t>管理</a:t>
            </a:r>
            <a:r>
              <a:rPr lang="zh-CN" altLang="en-US" sz="2400" b="1" smtClean="0">
                <a:ea typeface="楷体_GB2312" pitchFamily="49" charset="-122"/>
              </a:rPr>
              <a:t>和</a:t>
            </a:r>
            <a:r>
              <a:rPr lang="zh-CN" altLang="en-US" b="1" i="1" smtClean="0">
                <a:solidFill>
                  <a:srgbClr val="FF0000"/>
                </a:solidFill>
                <a:ea typeface="楷体_GB2312" pitchFamily="49" charset="-122"/>
              </a:rPr>
              <a:t>技术</a:t>
            </a:r>
            <a:r>
              <a:rPr lang="zh-CN" altLang="en-US" sz="2400" b="1" smtClean="0">
                <a:ea typeface="楷体_GB2312" pitchFamily="49" charset="-122"/>
              </a:rPr>
              <a:t>两方面研究如何更好地开发和维护计算机软件的一门新兴学科。</a:t>
            </a:r>
          </a:p>
        </p:txBody>
      </p:sp>
    </p:spTree>
    <p:extLst>
      <p:ext uri="{BB962C8B-B14F-4D97-AF65-F5344CB8AC3E}">
        <p14:creationId xmlns:p14="http://schemas.microsoft.com/office/powerpoint/2010/main" val="3061603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软件过程</a:t>
            </a:r>
          </a:p>
        </p:txBody>
      </p:sp>
      <p:sp>
        <p:nvSpPr>
          <p:cNvPr id="5123" name="Rectangle 3"/>
          <p:cNvSpPr>
            <a:spLocks noGrp="1" noChangeArrowheads="1"/>
          </p:cNvSpPr>
          <p:nvPr>
            <p:ph type="body" idx="1"/>
          </p:nvPr>
        </p:nvSpPr>
        <p:spPr>
          <a:xfrm>
            <a:off x="3124200" y="1447800"/>
            <a:ext cx="5791200" cy="609600"/>
          </a:xfrm>
        </p:spPr>
        <p:txBody>
          <a:bodyPr/>
          <a:lstStyle/>
          <a:p>
            <a:pPr eaLnBrk="1" hangingPunct="1">
              <a:spcBef>
                <a:spcPct val="50000"/>
              </a:spcBef>
              <a:buFont typeface="Wingdings" pitchFamily="2" charset="2"/>
              <a:buNone/>
            </a:pPr>
            <a:r>
              <a:rPr lang="zh-CN" altLang="en-US" sz="2800" b="1" smtClean="0">
                <a:solidFill>
                  <a:srgbClr val="0000CC"/>
                </a:solidFill>
                <a:latin typeface="楷体_GB2312" pitchFamily="49" charset="-122"/>
                <a:ea typeface="楷体_GB2312" pitchFamily="49" charset="-122"/>
              </a:rPr>
              <a:t>需求分析</a:t>
            </a:r>
            <a:r>
              <a:rPr lang="zh-CN" altLang="en-US" sz="2800" b="1" smtClean="0">
                <a:latin typeface="楷体_GB2312" pitchFamily="49" charset="-122"/>
                <a:ea typeface="楷体_GB2312" pitchFamily="49" charset="-122"/>
              </a:rPr>
              <a:t>：定义程序必须做什么</a:t>
            </a:r>
          </a:p>
        </p:txBody>
      </p:sp>
      <p:sp>
        <p:nvSpPr>
          <p:cNvPr id="5124" name="Rectangle 4"/>
          <p:cNvSpPr>
            <a:spLocks noChangeArrowheads="1"/>
          </p:cNvSpPr>
          <p:nvPr/>
        </p:nvSpPr>
        <p:spPr bwMode="auto">
          <a:xfrm>
            <a:off x="1066800" y="1447800"/>
            <a:ext cx="1752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buFont typeface="Wingdings" pitchFamily="2" charset="2"/>
              <a:buNone/>
            </a:pPr>
            <a:r>
              <a:rPr kumimoji="0" lang="zh-CN" altLang="en-US"/>
              <a:t>做什么？</a:t>
            </a:r>
          </a:p>
        </p:txBody>
      </p:sp>
      <p:sp>
        <p:nvSpPr>
          <p:cNvPr id="5125" name="Rectangle 5"/>
          <p:cNvSpPr>
            <a:spLocks noChangeArrowheads="1"/>
          </p:cNvSpPr>
          <p:nvPr/>
        </p:nvSpPr>
        <p:spPr bwMode="auto">
          <a:xfrm>
            <a:off x="3124200" y="2209800"/>
            <a:ext cx="5410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buFont typeface="Wingdings" pitchFamily="2" charset="2"/>
              <a:buNone/>
            </a:pPr>
            <a:r>
              <a:rPr kumimoji="0" lang="zh-CN" altLang="en-US">
                <a:solidFill>
                  <a:srgbClr val="0000CC"/>
                </a:solidFill>
              </a:rPr>
              <a:t>设计</a:t>
            </a:r>
            <a:r>
              <a:rPr kumimoji="0" lang="zh-CN" altLang="en-US"/>
              <a:t>：定义每部分将是什么以及它们将如何协调</a:t>
            </a:r>
          </a:p>
        </p:txBody>
      </p:sp>
      <p:sp>
        <p:nvSpPr>
          <p:cNvPr id="5126" name="Rectangle 6"/>
          <p:cNvSpPr>
            <a:spLocks noChangeArrowheads="1"/>
          </p:cNvSpPr>
          <p:nvPr/>
        </p:nvSpPr>
        <p:spPr bwMode="auto">
          <a:xfrm>
            <a:off x="1066800" y="2209800"/>
            <a:ext cx="1676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buFont typeface="Wingdings" pitchFamily="2" charset="2"/>
              <a:buNone/>
            </a:pPr>
            <a:r>
              <a:rPr kumimoji="0" lang="zh-CN" altLang="en-US"/>
              <a:t>如何做？</a:t>
            </a:r>
          </a:p>
        </p:txBody>
      </p:sp>
      <p:sp>
        <p:nvSpPr>
          <p:cNvPr id="5127" name="Rectangle 7"/>
          <p:cNvSpPr>
            <a:spLocks noChangeArrowheads="1"/>
          </p:cNvSpPr>
          <p:nvPr/>
        </p:nvSpPr>
        <p:spPr bwMode="auto">
          <a:xfrm>
            <a:off x="3124200" y="3352800"/>
            <a:ext cx="4191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buFont typeface="Wingdings" pitchFamily="2" charset="2"/>
              <a:buNone/>
            </a:pPr>
            <a:r>
              <a:rPr kumimoji="0" lang="zh-CN" altLang="en-US">
                <a:solidFill>
                  <a:srgbClr val="0000CC"/>
                </a:solidFill>
              </a:rPr>
              <a:t>实现</a:t>
            </a:r>
            <a:r>
              <a:rPr kumimoji="0" lang="zh-CN" altLang="en-US"/>
              <a:t>（编码）：编写代码</a:t>
            </a:r>
          </a:p>
        </p:txBody>
      </p:sp>
      <p:sp>
        <p:nvSpPr>
          <p:cNvPr id="5128" name="Rectangle 8"/>
          <p:cNvSpPr>
            <a:spLocks noChangeArrowheads="1"/>
          </p:cNvSpPr>
          <p:nvPr/>
        </p:nvSpPr>
        <p:spPr bwMode="auto">
          <a:xfrm>
            <a:off x="3124200" y="4267200"/>
            <a:ext cx="5029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buFont typeface="Wingdings" pitchFamily="2" charset="2"/>
              <a:buNone/>
            </a:pPr>
            <a:r>
              <a:rPr kumimoji="0" lang="zh-CN" altLang="en-US">
                <a:solidFill>
                  <a:srgbClr val="0000CC"/>
                </a:solidFill>
              </a:rPr>
              <a:t>测试</a:t>
            </a:r>
            <a:r>
              <a:rPr kumimoji="0" lang="zh-CN" altLang="en-US"/>
              <a:t>：以测试数据作为输入来执行应用程序</a:t>
            </a:r>
          </a:p>
        </p:txBody>
      </p:sp>
      <p:sp>
        <p:nvSpPr>
          <p:cNvPr id="5129" name="Rectangle 9"/>
          <p:cNvSpPr>
            <a:spLocks noChangeArrowheads="1"/>
          </p:cNvSpPr>
          <p:nvPr/>
        </p:nvSpPr>
        <p:spPr bwMode="auto">
          <a:xfrm>
            <a:off x="3124200" y="5334000"/>
            <a:ext cx="5105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buFont typeface="Wingdings" pitchFamily="2" charset="2"/>
              <a:buNone/>
            </a:pPr>
            <a:r>
              <a:rPr kumimoji="0" lang="zh-CN" altLang="en-US">
                <a:solidFill>
                  <a:srgbClr val="0000CC"/>
                </a:solidFill>
              </a:rPr>
              <a:t>维护</a:t>
            </a:r>
            <a:r>
              <a:rPr kumimoji="0" lang="zh-CN" altLang="en-US"/>
              <a:t>：修补缺陷和增强功能</a:t>
            </a:r>
          </a:p>
        </p:txBody>
      </p:sp>
      <p:sp>
        <p:nvSpPr>
          <p:cNvPr id="5130" name="Rectangle 10"/>
          <p:cNvSpPr>
            <a:spLocks noChangeArrowheads="1"/>
          </p:cNvSpPr>
          <p:nvPr/>
        </p:nvSpPr>
        <p:spPr bwMode="auto">
          <a:xfrm>
            <a:off x="1066800" y="3352800"/>
            <a:ext cx="1295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buFont typeface="Wingdings" pitchFamily="2" charset="2"/>
              <a:buNone/>
            </a:pPr>
            <a:r>
              <a:rPr kumimoji="0" lang="zh-CN" altLang="en-US"/>
              <a:t>动手做</a:t>
            </a:r>
          </a:p>
        </p:txBody>
      </p:sp>
      <p:sp>
        <p:nvSpPr>
          <p:cNvPr id="5131" name="Rectangle 11"/>
          <p:cNvSpPr>
            <a:spLocks noChangeArrowheads="1"/>
          </p:cNvSpPr>
          <p:nvPr/>
        </p:nvSpPr>
        <p:spPr bwMode="auto">
          <a:xfrm>
            <a:off x="1066800" y="4267200"/>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buFont typeface="Wingdings" pitchFamily="2" charset="2"/>
              <a:buNone/>
            </a:pPr>
            <a:r>
              <a:rPr kumimoji="0" lang="zh-CN" altLang="en-US"/>
              <a:t>检验</a:t>
            </a:r>
          </a:p>
        </p:txBody>
      </p:sp>
      <p:sp>
        <p:nvSpPr>
          <p:cNvPr id="5132" name="Rectangle 12"/>
          <p:cNvSpPr>
            <a:spLocks noChangeArrowheads="1"/>
          </p:cNvSpPr>
          <p:nvPr/>
        </p:nvSpPr>
        <p:spPr bwMode="auto">
          <a:xfrm>
            <a:off x="1066800" y="5334000"/>
            <a:ext cx="1066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buFont typeface="Wingdings" pitchFamily="2" charset="2"/>
              <a:buNone/>
            </a:pPr>
            <a:r>
              <a:rPr kumimoji="0" lang="zh-CN" altLang="en-US"/>
              <a:t>维修</a:t>
            </a:r>
          </a:p>
        </p:txBody>
      </p:sp>
      <p:sp>
        <p:nvSpPr>
          <p:cNvPr id="5133" name="AutoShape 13"/>
          <p:cNvSpPr>
            <a:spLocks noChangeArrowheads="1"/>
          </p:cNvSpPr>
          <p:nvPr/>
        </p:nvSpPr>
        <p:spPr bwMode="auto">
          <a:xfrm>
            <a:off x="2667000" y="1676400"/>
            <a:ext cx="457200" cy="152400"/>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p>
            <a:endParaRPr lang="zh-CN" altLang="en-US"/>
          </a:p>
        </p:txBody>
      </p:sp>
      <p:sp>
        <p:nvSpPr>
          <p:cNvPr id="5134" name="AutoShape 14"/>
          <p:cNvSpPr>
            <a:spLocks noChangeArrowheads="1"/>
          </p:cNvSpPr>
          <p:nvPr/>
        </p:nvSpPr>
        <p:spPr bwMode="auto">
          <a:xfrm>
            <a:off x="2667000" y="2438400"/>
            <a:ext cx="457200" cy="152400"/>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p>
            <a:endParaRPr lang="zh-CN" altLang="en-US"/>
          </a:p>
        </p:txBody>
      </p:sp>
      <p:sp>
        <p:nvSpPr>
          <p:cNvPr id="5135" name="AutoShape 15"/>
          <p:cNvSpPr>
            <a:spLocks noChangeArrowheads="1"/>
          </p:cNvSpPr>
          <p:nvPr/>
        </p:nvSpPr>
        <p:spPr bwMode="auto">
          <a:xfrm>
            <a:off x="2667000" y="3581400"/>
            <a:ext cx="457200" cy="152400"/>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p>
            <a:endParaRPr lang="zh-CN" altLang="en-US"/>
          </a:p>
        </p:txBody>
      </p:sp>
      <p:sp>
        <p:nvSpPr>
          <p:cNvPr id="5136" name="AutoShape 16"/>
          <p:cNvSpPr>
            <a:spLocks noChangeArrowheads="1"/>
          </p:cNvSpPr>
          <p:nvPr/>
        </p:nvSpPr>
        <p:spPr bwMode="auto">
          <a:xfrm>
            <a:off x="2667000" y="4495800"/>
            <a:ext cx="457200" cy="152400"/>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p>
            <a:endParaRPr lang="zh-CN" altLang="en-US"/>
          </a:p>
        </p:txBody>
      </p:sp>
      <p:sp>
        <p:nvSpPr>
          <p:cNvPr id="5137" name="AutoShape 17"/>
          <p:cNvSpPr>
            <a:spLocks noChangeArrowheads="1"/>
          </p:cNvSpPr>
          <p:nvPr/>
        </p:nvSpPr>
        <p:spPr bwMode="auto">
          <a:xfrm>
            <a:off x="2667000" y="5562600"/>
            <a:ext cx="457200" cy="152400"/>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p>
            <a:endParaRPr lang="zh-CN" altLang="en-US"/>
          </a:p>
        </p:txBody>
      </p:sp>
    </p:spTree>
    <p:extLst>
      <p:ext uri="{BB962C8B-B14F-4D97-AF65-F5344CB8AC3E}">
        <p14:creationId xmlns:p14="http://schemas.microsoft.com/office/powerpoint/2010/main" val="21230028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软件过程的风格</a:t>
            </a:r>
          </a:p>
        </p:txBody>
      </p:sp>
      <p:sp>
        <p:nvSpPr>
          <p:cNvPr id="7171" name="Rectangle 3"/>
          <p:cNvSpPr>
            <a:spLocks noGrp="1" noChangeArrowheads="1"/>
          </p:cNvSpPr>
          <p:nvPr>
            <p:ph type="body" idx="1"/>
          </p:nvPr>
        </p:nvSpPr>
        <p:spPr>
          <a:xfrm>
            <a:off x="228600" y="1371600"/>
            <a:ext cx="8763000" cy="914400"/>
          </a:xfrm>
        </p:spPr>
        <p:txBody>
          <a:bodyPr/>
          <a:lstStyle/>
          <a:p>
            <a:pPr eaLnBrk="1" hangingPunct="1">
              <a:spcBef>
                <a:spcPct val="50000"/>
              </a:spcBef>
              <a:buFont typeface="Wingdings" pitchFamily="2" charset="2"/>
              <a:buNone/>
            </a:pPr>
            <a:r>
              <a:rPr lang="zh-CN" altLang="en-US" sz="2400" b="1" smtClean="0">
                <a:latin typeface="楷体_GB2312" pitchFamily="49" charset="-122"/>
                <a:ea typeface="楷体_GB2312" pitchFamily="49" charset="-122"/>
              </a:rPr>
              <a:t>瀑布过程</a:t>
            </a:r>
            <a:r>
              <a:rPr lang="zh-CN" altLang="en-US" sz="2400" smtClean="0">
                <a:latin typeface="楷体_GB2312" pitchFamily="49" charset="-122"/>
                <a:ea typeface="楷体_GB2312" pitchFamily="49" charset="-122"/>
              </a:rPr>
              <a:t>：</a:t>
            </a:r>
            <a:r>
              <a:rPr lang="zh-CN" altLang="en-US" sz="2400" b="1" smtClean="0">
                <a:latin typeface="楷体_GB2312" pitchFamily="49" charset="-122"/>
                <a:ea typeface="楷体_GB2312" pitchFamily="49" charset="-122"/>
              </a:rPr>
              <a:t>一个基本的软件过程，其中需求分析、设计、编码、测试和维护都是按顺序完成的，但是各个阶段有一些重叠。</a:t>
            </a:r>
          </a:p>
        </p:txBody>
      </p:sp>
      <p:pic>
        <p:nvPicPr>
          <p:cNvPr id="12296" name="Picture 8" descr="瀑布过程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209800"/>
            <a:ext cx="5943600" cy="377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9"/>
          <p:cNvSpPr>
            <a:spLocks noChangeArrowheads="1"/>
          </p:cNvSpPr>
          <p:nvPr/>
        </p:nvSpPr>
        <p:spPr bwMode="auto">
          <a:xfrm>
            <a:off x="6096000" y="6019800"/>
            <a:ext cx="1447800" cy="533400"/>
          </a:xfrm>
          <a:prstGeom prst="rect">
            <a:avLst/>
          </a:prstGeom>
          <a:solidFill>
            <a:schemeClr val="accent1"/>
          </a:solidFill>
          <a:ln w="9525">
            <a:solidFill>
              <a:schemeClr val="tx1"/>
            </a:solidFill>
            <a:miter lim="800000"/>
            <a:headEnd/>
            <a:tailEnd/>
          </a:ln>
        </p:spPr>
        <p:txBody>
          <a:bodyPr wrap="none" anchor="ctr"/>
          <a:lstStyle/>
          <a:p>
            <a:pPr>
              <a:spcBef>
                <a:spcPct val="0"/>
              </a:spcBef>
            </a:pPr>
            <a:r>
              <a:rPr kumimoji="0" lang="zh-CN" altLang="en-US" sz="1800">
                <a:latin typeface="Arial" charset="0"/>
                <a:ea typeface="宋体" charset="-122"/>
              </a:rPr>
              <a:t>维护</a:t>
            </a:r>
          </a:p>
        </p:txBody>
      </p:sp>
    </p:spTree>
    <p:extLst>
      <p:ext uri="{BB962C8B-B14F-4D97-AF65-F5344CB8AC3E}">
        <p14:creationId xmlns:p14="http://schemas.microsoft.com/office/powerpoint/2010/main" val="19222248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296"/>
                                        </p:tgtEl>
                                        <p:attrNameLst>
                                          <p:attrName>style.visibility</p:attrName>
                                        </p:attrNameLst>
                                      </p:cBhvr>
                                      <p:to>
                                        <p:strVal val="visible"/>
                                      </p:to>
                                    </p:set>
                                    <p:anim calcmode="lin" valueType="num">
                                      <p:cBhvr additive="base">
                                        <p:cTn id="7" dur="500" fill="hold"/>
                                        <p:tgtEl>
                                          <p:spTgt spid="12296"/>
                                        </p:tgtEl>
                                        <p:attrNameLst>
                                          <p:attrName>ppt_x</p:attrName>
                                        </p:attrNameLst>
                                      </p:cBhvr>
                                      <p:tavLst>
                                        <p:tav tm="0">
                                          <p:val>
                                            <p:strVal val="#ppt_x"/>
                                          </p:val>
                                        </p:tav>
                                        <p:tav tm="100000">
                                          <p:val>
                                            <p:strVal val="#ppt_x"/>
                                          </p:val>
                                        </p:tav>
                                      </p:tavLst>
                                    </p:anim>
                                    <p:anim calcmode="lin" valueType="num">
                                      <p:cBhvr additive="base">
                                        <p:cTn id="8" dur="500" fill="hold"/>
                                        <p:tgtEl>
                                          <p:spTgt spid="122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软件过程的风格</a:t>
            </a:r>
          </a:p>
        </p:txBody>
      </p:sp>
      <p:grpSp>
        <p:nvGrpSpPr>
          <p:cNvPr id="8195" name="Group 6"/>
          <p:cNvGrpSpPr>
            <a:grpSpLocks/>
          </p:cNvGrpSpPr>
          <p:nvPr/>
        </p:nvGrpSpPr>
        <p:grpSpPr bwMode="auto">
          <a:xfrm>
            <a:off x="152400" y="1295400"/>
            <a:ext cx="8839200" cy="5181600"/>
            <a:chOff x="96" y="720"/>
            <a:chExt cx="5439" cy="3360"/>
          </a:xfrm>
        </p:grpSpPr>
        <p:sp>
          <p:nvSpPr>
            <p:cNvPr id="8196" name="Line 7"/>
            <p:cNvSpPr>
              <a:spLocks noChangeShapeType="1"/>
            </p:cNvSpPr>
            <p:nvPr/>
          </p:nvSpPr>
          <p:spPr bwMode="auto">
            <a:xfrm>
              <a:off x="144" y="720"/>
              <a:ext cx="336"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8197" name="Line 8"/>
            <p:cNvSpPr>
              <a:spLocks noChangeShapeType="1"/>
            </p:cNvSpPr>
            <p:nvPr/>
          </p:nvSpPr>
          <p:spPr bwMode="auto">
            <a:xfrm>
              <a:off x="471" y="720"/>
              <a:ext cx="336"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8198" name="Line 9"/>
            <p:cNvSpPr>
              <a:spLocks noChangeShapeType="1"/>
            </p:cNvSpPr>
            <p:nvPr/>
          </p:nvSpPr>
          <p:spPr bwMode="auto">
            <a:xfrm>
              <a:off x="804" y="720"/>
              <a:ext cx="336"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8199" name="Line 10"/>
            <p:cNvSpPr>
              <a:spLocks noChangeShapeType="1"/>
            </p:cNvSpPr>
            <p:nvPr/>
          </p:nvSpPr>
          <p:spPr bwMode="auto">
            <a:xfrm>
              <a:off x="1131" y="720"/>
              <a:ext cx="336"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8200" name="Line 11"/>
            <p:cNvSpPr>
              <a:spLocks noChangeShapeType="1"/>
            </p:cNvSpPr>
            <p:nvPr/>
          </p:nvSpPr>
          <p:spPr bwMode="auto">
            <a:xfrm>
              <a:off x="1461" y="720"/>
              <a:ext cx="336"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8201" name="Line 12"/>
            <p:cNvSpPr>
              <a:spLocks noChangeShapeType="1"/>
            </p:cNvSpPr>
            <p:nvPr/>
          </p:nvSpPr>
          <p:spPr bwMode="auto">
            <a:xfrm>
              <a:off x="1788" y="720"/>
              <a:ext cx="336"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8202" name="Line 13"/>
            <p:cNvSpPr>
              <a:spLocks noChangeShapeType="1"/>
            </p:cNvSpPr>
            <p:nvPr/>
          </p:nvSpPr>
          <p:spPr bwMode="auto">
            <a:xfrm>
              <a:off x="2121" y="720"/>
              <a:ext cx="336"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8203" name="Line 14"/>
            <p:cNvSpPr>
              <a:spLocks noChangeShapeType="1"/>
            </p:cNvSpPr>
            <p:nvPr/>
          </p:nvSpPr>
          <p:spPr bwMode="auto">
            <a:xfrm>
              <a:off x="2448" y="720"/>
              <a:ext cx="336"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8204" name="Line 15"/>
            <p:cNvSpPr>
              <a:spLocks noChangeShapeType="1"/>
            </p:cNvSpPr>
            <p:nvPr/>
          </p:nvSpPr>
          <p:spPr bwMode="auto">
            <a:xfrm>
              <a:off x="2775" y="720"/>
              <a:ext cx="336"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8205" name="Line 16"/>
            <p:cNvSpPr>
              <a:spLocks noChangeShapeType="1"/>
            </p:cNvSpPr>
            <p:nvPr/>
          </p:nvSpPr>
          <p:spPr bwMode="auto">
            <a:xfrm>
              <a:off x="3102" y="720"/>
              <a:ext cx="336"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8206" name="Line 17"/>
            <p:cNvSpPr>
              <a:spLocks noChangeShapeType="1"/>
            </p:cNvSpPr>
            <p:nvPr/>
          </p:nvSpPr>
          <p:spPr bwMode="auto">
            <a:xfrm>
              <a:off x="3435" y="720"/>
              <a:ext cx="336"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8207" name="Line 18"/>
            <p:cNvSpPr>
              <a:spLocks noChangeShapeType="1"/>
            </p:cNvSpPr>
            <p:nvPr/>
          </p:nvSpPr>
          <p:spPr bwMode="auto">
            <a:xfrm>
              <a:off x="3762" y="720"/>
              <a:ext cx="336"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8208" name="Line 19"/>
            <p:cNvSpPr>
              <a:spLocks noChangeShapeType="1"/>
            </p:cNvSpPr>
            <p:nvPr/>
          </p:nvSpPr>
          <p:spPr bwMode="auto">
            <a:xfrm>
              <a:off x="4098" y="720"/>
              <a:ext cx="336"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8209" name="Line 20"/>
            <p:cNvSpPr>
              <a:spLocks noChangeShapeType="1"/>
            </p:cNvSpPr>
            <p:nvPr/>
          </p:nvSpPr>
          <p:spPr bwMode="auto">
            <a:xfrm>
              <a:off x="4446" y="720"/>
              <a:ext cx="336"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8210" name="Line 21"/>
            <p:cNvSpPr>
              <a:spLocks noChangeShapeType="1"/>
            </p:cNvSpPr>
            <p:nvPr/>
          </p:nvSpPr>
          <p:spPr bwMode="auto">
            <a:xfrm>
              <a:off x="4794" y="720"/>
              <a:ext cx="336"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8211" name="Line 22"/>
            <p:cNvSpPr>
              <a:spLocks noChangeShapeType="1"/>
            </p:cNvSpPr>
            <p:nvPr/>
          </p:nvSpPr>
          <p:spPr bwMode="auto">
            <a:xfrm>
              <a:off x="5136" y="720"/>
              <a:ext cx="33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2" name="Line 23"/>
            <p:cNvSpPr>
              <a:spLocks noChangeShapeType="1"/>
            </p:cNvSpPr>
            <p:nvPr/>
          </p:nvSpPr>
          <p:spPr bwMode="auto">
            <a:xfrm>
              <a:off x="96" y="1344"/>
              <a:ext cx="52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3" name="Line 24"/>
            <p:cNvSpPr>
              <a:spLocks noChangeShapeType="1"/>
            </p:cNvSpPr>
            <p:nvPr/>
          </p:nvSpPr>
          <p:spPr bwMode="auto">
            <a:xfrm>
              <a:off x="144"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4" name="Line 25"/>
            <p:cNvSpPr>
              <a:spLocks noChangeShapeType="1"/>
            </p:cNvSpPr>
            <p:nvPr/>
          </p:nvSpPr>
          <p:spPr bwMode="auto">
            <a:xfrm>
              <a:off x="471"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 name="Line 26"/>
            <p:cNvSpPr>
              <a:spLocks noChangeShapeType="1"/>
            </p:cNvSpPr>
            <p:nvPr/>
          </p:nvSpPr>
          <p:spPr bwMode="auto">
            <a:xfrm>
              <a:off x="816"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 name="Line 27"/>
            <p:cNvSpPr>
              <a:spLocks noChangeShapeType="1"/>
            </p:cNvSpPr>
            <p:nvPr/>
          </p:nvSpPr>
          <p:spPr bwMode="auto">
            <a:xfrm>
              <a:off x="1143"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 name="Line 28"/>
            <p:cNvSpPr>
              <a:spLocks noChangeShapeType="1"/>
            </p:cNvSpPr>
            <p:nvPr/>
          </p:nvSpPr>
          <p:spPr bwMode="auto">
            <a:xfrm>
              <a:off x="1476"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 name="Line 29"/>
            <p:cNvSpPr>
              <a:spLocks noChangeShapeType="1"/>
            </p:cNvSpPr>
            <p:nvPr/>
          </p:nvSpPr>
          <p:spPr bwMode="auto">
            <a:xfrm>
              <a:off x="1803"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 name="Line 30"/>
            <p:cNvSpPr>
              <a:spLocks noChangeShapeType="1"/>
            </p:cNvSpPr>
            <p:nvPr/>
          </p:nvSpPr>
          <p:spPr bwMode="auto">
            <a:xfrm>
              <a:off x="2121"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 name="Line 31"/>
            <p:cNvSpPr>
              <a:spLocks noChangeShapeType="1"/>
            </p:cNvSpPr>
            <p:nvPr/>
          </p:nvSpPr>
          <p:spPr bwMode="auto">
            <a:xfrm>
              <a:off x="2448"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1" name="Rectangle 32"/>
            <p:cNvSpPr>
              <a:spLocks noChangeArrowheads="1"/>
            </p:cNvSpPr>
            <p:nvPr/>
          </p:nvSpPr>
          <p:spPr bwMode="auto">
            <a:xfrm>
              <a:off x="240" y="1524"/>
              <a:ext cx="1296" cy="540"/>
            </a:xfrm>
            <a:prstGeom prst="rect">
              <a:avLst/>
            </a:prstGeom>
            <a:solidFill>
              <a:schemeClr val="bg1"/>
            </a:solidFill>
            <a:ln w="19050">
              <a:solidFill>
                <a:schemeClr val="tx1"/>
              </a:solidFill>
              <a:miter lim="800000"/>
              <a:headEnd/>
              <a:tailEnd/>
            </a:ln>
          </p:spPr>
          <p:txBody>
            <a:bodyPr wrap="none"/>
            <a:lstStyle/>
            <a:p>
              <a:pPr eaLnBrk="0" hangingPunct="0">
                <a:spcBef>
                  <a:spcPct val="0"/>
                </a:spcBef>
              </a:pPr>
              <a:r>
                <a:rPr kumimoji="0" lang="zh-CN" altLang="en-US" sz="2400">
                  <a:latin typeface="Arial Narrow" pitchFamily="34" charset="0"/>
                </a:rPr>
                <a:t>需求分析</a:t>
              </a:r>
            </a:p>
          </p:txBody>
        </p:sp>
        <p:sp>
          <p:nvSpPr>
            <p:cNvPr id="8222" name="Rectangle 33"/>
            <p:cNvSpPr>
              <a:spLocks noChangeArrowheads="1"/>
            </p:cNvSpPr>
            <p:nvPr/>
          </p:nvSpPr>
          <p:spPr bwMode="auto">
            <a:xfrm>
              <a:off x="1488" y="2244"/>
              <a:ext cx="1056" cy="300"/>
            </a:xfrm>
            <a:prstGeom prst="rect">
              <a:avLst/>
            </a:prstGeom>
            <a:solidFill>
              <a:schemeClr val="bg1"/>
            </a:solidFill>
            <a:ln w="19050">
              <a:solidFill>
                <a:schemeClr val="tx1"/>
              </a:solidFill>
              <a:miter lim="800000"/>
              <a:headEnd/>
              <a:tailEnd/>
            </a:ln>
          </p:spPr>
          <p:txBody>
            <a:bodyPr wrap="none"/>
            <a:lstStyle/>
            <a:p>
              <a:pPr eaLnBrk="0" hangingPunct="0">
                <a:spcBef>
                  <a:spcPct val="0"/>
                </a:spcBef>
              </a:pPr>
              <a:r>
                <a:rPr kumimoji="0" lang="zh-CN" altLang="en-US" sz="2400">
                  <a:latin typeface="Arial Narrow" pitchFamily="34" charset="0"/>
                </a:rPr>
                <a:t>设计</a:t>
              </a:r>
            </a:p>
          </p:txBody>
        </p:sp>
        <p:sp>
          <p:nvSpPr>
            <p:cNvPr id="8223" name="Rectangle 34"/>
            <p:cNvSpPr>
              <a:spLocks noChangeArrowheads="1"/>
            </p:cNvSpPr>
            <p:nvPr/>
          </p:nvSpPr>
          <p:spPr bwMode="auto">
            <a:xfrm>
              <a:off x="336" y="960"/>
              <a:ext cx="1046" cy="296"/>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zh-CN" altLang="en-US" sz="2400" u="sng">
                  <a:solidFill>
                    <a:schemeClr val="tx2"/>
                  </a:solidFill>
                  <a:latin typeface="Arial Narrow" pitchFamily="34" charset="0"/>
                </a:rPr>
                <a:t>主要事件</a:t>
              </a:r>
              <a:r>
                <a:rPr kumimoji="0" lang="en-US" altLang="zh-CN" sz="2400" b="0" i="1" u="sng">
                  <a:solidFill>
                    <a:schemeClr val="tx2"/>
                  </a:solidFill>
                  <a:latin typeface="Arial Narrow" pitchFamily="34" charset="0"/>
                  <a:ea typeface="宋体" charset="-122"/>
                </a:rPr>
                <a:t>(s)</a:t>
              </a:r>
            </a:p>
          </p:txBody>
        </p:sp>
        <p:sp>
          <p:nvSpPr>
            <p:cNvPr id="8224" name="Rectangle 35"/>
            <p:cNvSpPr>
              <a:spLocks noChangeArrowheads="1"/>
            </p:cNvSpPr>
            <p:nvPr/>
          </p:nvSpPr>
          <p:spPr bwMode="auto">
            <a:xfrm>
              <a:off x="336" y="3073"/>
              <a:ext cx="1201" cy="297"/>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zh-CN" altLang="en-US" sz="2400" u="sng">
                  <a:solidFill>
                    <a:schemeClr val="tx2"/>
                  </a:solidFill>
                  <a:latin typeface="Arial Narrow" pitchFamily="34" charset="0"/>
                </a:rPr>
                <a:t>阶段</a:t>
              </a:r>
              <a:r>
                <a:rPr kumimoji="0" lang="zh-CN" altLang="en-US" sz="2400" b="0" i="1">
                  <a:solidFill>
                    <a:schemeClr val="tx2"/>
                  </a:solidFill>
                  <a:latin typeface="Arial Narrow" pitchFamily="34" charset="0"/>
                  <a:ea typeface="宋体" charset="-122"/>
                </a:rPr>
                <a:t> </a:t>
              </a:r>
              <a:r>
                <a:rPr kumimoji="0" lang="en-US" altLang="zh-CN" sz="2400" b="0" i="1">
                  <a:solidFill>
                    <a:schemeClr val="tx2"/>
                  </a:solidFill>
                  <a:latin typeface="Arial Narrow" pitchFamily="34" charset="0"/>
                  <a:ea typeface="宋体" charset="-122"/>
                </a:rPr>
                <a:t>(</a:t>
              </a:r>
              <a:r>
                <a:rPr kumimoji="0" lang="zh-CN" altLang="en-US" sz="2400">
                  <a:solidFill>
                    <a:schemeClr val="tx2"/>
                  </a:solidFill>
                  <a:latin typeface="Arial Narrow" pitchFamily="34" charset="0"/>
                </a:rPr>
                <a:t>活动性</a:t>
              </a:r>
              <a:r>
                <a:rPr kumimoji="0" lang="en-US" altLang="zh-CN" sz="2400" b="0" i="1">
                  <a:solidFill>
                    <a:schemeClr val="tx2"/>
                  </a:solidFill>
                  <a:latin typeface="Arial Narrow" pitchFamily="34" charset="0"/>
                  <a:ea typeface="宋体" charset="-122"/>
                </a:rPr>
                <a:t>)</a:t>
              </a:r>
            </a:p>
          </p:txBody>
        </p:sp>
        <p:sp>
          <p:nvSpPr>
            <p:cNvPr id="8225" name="Line 36"/>
            <p:cNvSpPr>
              <a:spLocks noChangeShapeType="1"/>
            </p:cNvSpPr>
            <p:nvPr/>
          </p:nvSpPr>
          <p:spPr bwMode="auto">
            <a:xfrm>
              <a:off x="2775"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 name="Line 37"/>
            <p:cNvSpPr>
              <a:spLocks noChangeShapeType="1"/>
            </p:cNvSpPr>
            <p:nvPr/>
          </p:nvSpPr>
          <p:spPr bwMode="auto">
            <a:xfrm>
              <a:off x="3102"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 name="Line 38"/>
            <p:cNvSpPr>
              <a:spLocks noChangeShapeType="1"/>
            </p:cNvSpPr>
            <p:nvPr/>
          </p:nvSpPr>
          <p:spPr bwMode="auto">
            <a:xfrm>
              <a:off x="3435"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 name="Line 39"/>
            <p:cNvSpPr>
              <a:spLocks noChangeShapeType="1"/>
            </p:cNvSpPr>
            <p:nvPr/>
          </p:nvSpPr>
          <p:spPr bwMode="auto">
            <a:xfrm>
              <a:off x="3762"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9" name="Line 40"/>
            <p:cNvSpPr>
              <a:spLocks noChangeShapeType="1"/>
            </p:cNvSpPr>
            <p:nvPr/>
          </p:nvSpPr>
          <p:spPr bwMode="auto">
            <a:xfrm>
              <a:off x="4080"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 name="Line 41"/>
            <p:cNvSpPr>
              <a:spLocks noChangeShapeType="1"/>
            </p:cNvSpPr>
            <p:nvPr/>
          </p:nvSpPr>
          <p:spPr bwMode="auto">
            <a:xfrm>
              <a:off x="4446"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 name="Line 42"/>
            <p:cNvSpPr>
              <a:spLocks noChangeShapeType="1"/>
            </p:cNvSpPr>
            <p:nvPr/>
          </p:nvSpPr>
          <p:spPr bwMode="auto">
            <a:xfrm>
              <a:off x="4791"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 name="Line 43"/>
            <p:cNvSpPr>
              <a:spLocks noChangeShapeType="1"/>
            </p:cNvSpPr>
            <p:nvPr/>
          </p:nvSpPr>
          <p:spPr bwMode="auto">
            <a:xfrm>
              <a:off x="5136" y="720"/>
              <a:ext cx="0" cy="3360"/>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 name="Rectangle 44"/>
            <p:cNvSpPr>
              <a:spLocks noChangeArrowheads="1"/>
            </p:cNvSpPr>
            <p:nvPr/>
          </p:nvSpPr>
          <p:spPr bwMode="auto">
            <a:xfrm>
              <a:off x="2448" y="2676"/>
              <a:ext cx="1455" cy="300"/>
            </a:xfrm>
            <a:prstGeom prst="rect">
              <a:avLst/>
            </a:prstGeom>
            <a:solidFill>
              <a:schemeClr val="bg1"/>
            </a:solidFill>
            <a:ln w="19050">
              <a:solidFill>
                <a:schemeClr val="tx1"/>
              </a:solidFill>
              <a:miter lim="800000"/>
              <a:headEnd/>
              <a:tailEnd/>
            </a:ln>
          </p:spPr>
          <p:txBody>
            <a:bodyPr wrap="none"/>
            <a:lstStyle/>
            <a:p>
              <a:pPr eaLnBrk="0" hangingPunct="0">
                <a:spcBef>
                  <a:spcPct val="0"/>
                </a:spcBef>
              </a:pPr>
              <a:r>
                <a:rPr kumimoji="0" lang="zh-CN" altLang="en-US" sz="2400">
                  <a:latin typeface="Arial Narrow" pitchFamily="34" charset="0"/>
                </a:rPr>
                <a:t>实现</a:t>
              </a:r>
            </a:p>
          </p:txBody>
        </p:sp>
        <p:sp>
          <p:nvSpPr>
            <p:cNvPr id="8234" name="Rectangle 45"/>
            <p:cNvSpPr>
              <a:spLocks noChangeArrowheads="1"/>
            </p:cNvSpPr>
            <p:nvPr/>
          </p:nvSpPr>
          <p:spPr bwMode="auto">
            <a:xfrm>
              <a:off x="3792" y="3156"/>
              <a:ext cx="576" cy="300"/>
            </a:xfrm>
            <a:prstGeom prst="rect">
              <a:avLst/>
            </a:prstGeom>
            <a:solidFill>
              <a:schemeClr val="bg1"/>
            </a:solidFill>
            <a:ln w="19050">
              <a:solidFill>
                <a:schemeClr val="tx1"/>
              </a:solidFill>
              <a:miter lim="800000"/>
              <a:headEnd/>
              <a:tailEnd/>
            </a:ln>
          </p:spPr>
          <p:txBody>
            <a:bodyPr wrap="none"/>
            <a:lstStyle/>
            <a:p>
              <a:pPr eaLnBrk="0" hangingPunct="0">
                <a:spcBef>
                  <a:spcPct val="0"/>
                </a:spcBef>
              </a:pPr>
              <a:r>
                <a:rPr kumimoji="0" lang="zh-CN" altLang="en-US" sz="2400">
                  <a:latin typeface="Arial Narrow" pitchFamily="34" charset="0"/>
                </a:rPr>
                <a:t>测试</a:t>
              </a:r>
            </a:p>
          </p:txBody>
        </p:sp>
        <p:sp>
          <p:nvSpPr>
            <p:cNvPr id="8235" name="Rectangle 46"/>
            <p:cNvSpPr>
              <a:spLocks noChangeArrowheads="1"/>
            </p:cNvSpPr>
            <p:nvPr/>
          </p:nvSpPr>
          <p:spPr bwMode="auto">
            <a:xfrm>
              <a:off x="4272" y="3648"/>
              <a:ext cx="1263" cy="300"/>
            </a:xfrm>
            <a:prstGeom prst="rect">
              <a:avLst/>
            </a:prstGeom>
            <a:solidFill>
              <a:schemeClr val="bg1"/>
            </a:solidFill>
            <a:ln w="19050">
              <a:solidFill>
                <a:schemeClr val="tx1"/>
              </a:solidFill>
              <a:miter lim="800000"/>
              <a:headEnd/>
              <a:tailEnd/>
            </a:ln>
          </p:spPr>
          <p:txBody>
            <a:bodyPr wrap="none"/>
            <a:lstStyle/>
            <a:p>
              <a:pPr eaLnBrk="0" hangingPunct="0">
                <a:spcBef>
                  <a:spcPct val="0"/>
                </a:spcBef>
              </a:pPr>
              <a:r>
                <a:rPr kumimoji="0" lang="zh-CN" altLang="en-US" sz="2400">
                  <a:latin typeface="Arial Narrow" pitchFamily="34" charset="0"/>
                </a:rPr>
                <a:t>维护</a:t>
              </a:r>
            </a:p>
          </p:txBody>
        </p:sp>
        <p:sp>
          <p:nvSpPr>
            <p:cNvPr id="8236" name="Rectangle 47"/>
            <p:cNvSpPr>
              <a:spLocks noChangeArrowheads="1"/>
            </p:cNvSpPr>
            <p:nvPr/>
          </p:nvSpPr>
          <p:spPr bwMode="auto">
            <a:xfrm>
              <a:off x="3417" y="960"/>
              <a:ext cx="1056" cy="296"/>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r" eaLnBrk="0" hangingPunct="0">
                <a:spcBef>
                  <a:spcPct val="0"/>
                </a:spcBef>
              </a:pPr>
              <a:r>
                <a:rPr kumimoji="0" lang="zh-CN" altLang="en-US" sz="2400">
                  <a:latin typeface="Arial Narrow" pitchFamily="34" charset="0"/>
                </a:rPr>
                <a:t>发布产品</a:t>
              </a:r>
              <a:r>
                <a:rPr kumimoji="0" lang="zh-CN" altLang="en-US" sz="2400" b="0">
                  <a:latin typeface="Arial Narrow" pitchFamily="34" charset="0"/>
                  <a:ea typeface="宋体" charset="-122"/>
                </a:rPr>
                <a:t>  </a:t>
              </a:r>
              <a:r>
                <a:rPr kumimoji="0" lang="en-US" altLang="zh-CN" sz="2400" b="0">
                  <a:latin typeface="Arial Narrow" pitchFamily="34" charset="0"/>
                  <a:ea typeface="宋体" charset="-122"/>
                </a:rPr>
                <a:t>X</a:t>
              </a:r>
            </a:p>
          </p:txBody>
        </p:sp>
        <p:sp>
          <p:nvSpPr>
            <p:cNvPr id="8237" name="Freeform 48"/>
            <p:cNvSpPr>
              <a:spLocks/>
            </p:cNvSpPr>
            <p:nvPr/>
          </p:nvSpPr>
          <p:spPr bwMode="auto">
            <a:xfrm>
              <a:off x="2232" y="2384"/>
              <a:ext cx="480" cy="472"/>
            </a:xfrm>
            <a:custGeom>
              <a:avLst/>
              <a:gdLst>
                <a:gd name="T0" fmla="*/ 312 w 480"/>
                <a:gd name="T1" fmla="*/ 16 h 472"/>
                <a:gd name="T2" fmla="*/ 456 w 480"/>
                <a:gd name="T3" fmla="*/ 160 h 472"/>
                <a:gd name="T4" fmla="*/ 456 w 480"/>
                <a:gd name="T5" fmla="*/ 304 h 472"/>
                <a:gd name="T6" fmla="*/ 360 w 480"/>
                <a:gd name="T7" fmla="*/ 400 h 472"/>
                <a:gd name="T8" fmla="*/ 168 w 480"/>
                <a:gd name="T9" fmla="*/ 448 h 472"/>
                <a:gd name="T10" fmla="*/ 24 w 480"/>
                <a:gd name="T11" fmla="*/ 256 h 472"/>
                <a:gd name="T12" fmla="*/ 24 w 480"/>
                <a:gd name="T13" fmla="*/ 112 h 472"/>
                <a:gd name="T14" fmla="*/ 120 w 480"/>
                <a:gd name="T15" fmla="*/ 64 h 472"/>
                <a:gd name="T16" fmla="*/ 312 w 480"/>
                <a:gd name="T17" fmla="*/ 16 h 4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0"/>
                <a:gd name="T28" fmla="*/ 0 h 472"/>
                <a:gd name="T29" fmla="*/ 480 w 480"/>
                <a:gd name="T30" fmla="*/ 472 h 4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0" h="472">
                  <a:moveTo>
                    <a:pt x="312" y="16"/>
                  </a:moveTo>
                  <a:cubicBezTo>
                    <a:pt x="368" y="32"/>
                    <a:pt x="432" y="112"/>
                    <a:pt x="456" y="160"/>
                  </a:cubicBezTo>
                  <a:cubicBezTo>
                    <a:pt x="480" y="208"/>
                    <a:pt x="472" y="264"/>
                    <a:pt x="456" y="304"/>
                  </a:cubicBezTo>
                  <a:cubicBezTo>
                    <a:pt x="440" y="344"/>
                    <a:pt x="408" y="376"/>
                    <a:pt x="360" y="400"/>
                  </a:cubicBezTo>
                  <a:cubicBezTo>
                    <a:pt x="312" y="424"/>
                    <a:pt x="224" y="472"/>
                    <a:pt x="168" y="448"/>
                  </a:cubicBezTo>
                  <a:cubicBezTo>
                    <a:pt x="112" y="424"/>
                    <a:pt x="48" y="312"/>
                    <a:pt x="24" y="256"/>
                  </a:cubicBezTo>
                  <a:cubicBezTo>
                    <a:pt x="0" y="200"/>
                    <a:pt x="8" y="144"/>
                    <a:pt x="24" y="112"/>
                  </a:cubicBezTo>
                  <a:cubicBezTo>
                    <a:pt x="40" y="80"/>
                    <a:pt x="72" y="80"/>
                    <a:pt x="120" y="64"/>
                  </a:cubicBezTo>
                  <a:cubicBezTo>
                    <a:pt x="168" y="48"/>
                    <a:pt x="256" y="0"/>
                    <a:pt x="312" y="16"/>
                  </a:cubicBez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38" name="Rectangle 49"/>
            <p:cNvSpPr>
              <a:spLocks noChangeArrowheads="1"/>
            </p:cNvSpPr>
            <p:nvPr/>
          </p:nvSpPr>
          <p:spPr bwMode="auto">
            <a:xfrm>
              <a:off x="3600" y="1536"/>
              <a:ext cx="1728" cy="77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lgn="l" eaLnBrk="0" hangingPunct="0">
                <a:spcBef>
                  <a:spcPct val="0"/>
                </a:spcBef>
              </a:pPr>
              <a:r>
                <a:rPr kumimoji="0" lang="zh-CN" altLang="en-US" sz="2400">
                  <a:solidFill>
                    <a:schemeClr val="tx2"/>
                  </a:solidFill>
                  <a:latin typeface="Arial Narrow" pitchFamily="34" charset="0"/>
                </a:rPr>
                <a:t>对于一个较短的周期，这两个阶段可能同时进行</a:t>
              </a:r>
            </a:p>
          </p:txBody>
        </p:sp>
        <p:cxnSp>
          <p:nvCxnSpPr>
            <p:cNvPr id="8239" name="AutoShape 50"/>
            <p:cNvCxnSpPr>
              <a:cxnSpLocks noChangeShapeType="1"/>
              <a:stCxn id="8238" idx="1"/>
              <a:endCxn id="8237" idx="1"/>
            </p:cNvCxnSpPr>
            <p:nvPr/>
          </p:nvCxnSpPr>
          <p:spPr bwMode="auto">
            <a:xfrm rot="10800000" flipV="1">
              <a:off x="2694" y="1910"/>
              <a:ext cx="906" cy="634"/>
            </a:xfrm>
            <a:prstGeom prst="curvedConnector3">
              <a:avLst>
                <a:gd name="adj1" fmla="val 49005"/>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4762381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28600"/>
            <a:ext cx="8229600" cy="1143000"/>
          </a:xfrm>
        </p:spPr>
        <p:txBody>
          <a:bodyPr/>
          <a:lstStyle/>
          <a:p>
            <a:pPr eaLnBrk="1" hangingPunct="1"/>
            <a:r>
              <a:rPr lang="zh-CN" altLang="en-US" b="1" smtClean="0">
                <a:solidFill>
                  <a:schemeClr val="accent2"/>
                </a:solidFill>
                <a:ea typeface="楷体_GB2312" pitchFamily="49" charset="-122"/>
              </a:rPr>
              <a:t>纯瀑布过程通常不实际的原因</a:t>
            </a:r>
          </a:p>
        </p:txBody>
      </p:sp>
      <p:sp>
        <p:nvSpPr>
          <p:cNvPr id="9219" name="Rectangle 3"/>
          <p:cNvSpPr>
            <a:spLocks noGrp="1" noChangeArrowheads="1"/>
          </p:cNvSpPr>
          <p:nvPr>
            <p:ph type="body" idx="1"/>
          </p:nvPr>
        </p:nvSpPr>
        <p:spPr>
          <a:xfrm>
            <a:off x="533400" y="1295400"/>
            <a:ext cx="8229600" cy="5410200"/>
          </a:xfrm>
        </p:spPr>
        <p:txBody>
          <a:bodyPr/>
          <a:lstStyle/>
          <a:p>
            <a:pPr eaLnBrk="1" hangingPunct="1">
              <a:lnSpc>
                <a:spcPct val="90000"/>
              </a:lnSpc>
              <a:buFont typeface="Wingdings" pitchFamily="2" charset="2"/>
              <a:buChar char="Ø"/>
            </a:pPr>
            <a:r>
              <a:rPr lang="zh-CN" altLang="en-US" sz="2800" b="1" smtClean="0">
                <a:solidFill>
                  <a:srgbClr val="0000CC"/>
                </a:solidFill>
                <a:latin typeface="楷体_GB2312" pitchFamily="49" charset="-122"/>
                <a:ea typeface="楷体_GB2312" pitchFamily="49" charset="-122"/>
              </a:rPr>
              <a:t>预先不知道所想要的和需要的</a:t>
            </a:r>
          </a:p>
          <a:p>
            <a:pPr lvl="1" eaLnBrk="1" hangingPunct="1">
              <a:lnSpc>
                <a:spcPct val="90000"/>
              </a:lnSpc>
              <a:buFont typeface="Wingdings" pitchFamily="2" charset="2"/>
              <a:buChar char="Ø"/>
            </a:pPr>
            <a:r>
              <a:rPr lang="zh-CN" altLang="en-US" sz="2400" b="1" smtClean="0">
                <a:latin typeface="楷体_GB2312" pitchFamily="49" charset="-122"/>
                <a:ea typeface="楷体_GB2312" pitchFamily="49" charset="-122"/>
              </a:rPr>
              <a:t>通常很难提前给出所有细节</a:t>
            </a:r>
          </a:p>
          <a:p>
            <a:pPr eaLnBrk="1" hangingPunct="1">
              <a:lnSpc>
                <a:spcPct val="90000"/>
              </a:lnSpc>
              <a:buFont typeface="Wingdings" pitchFamily="2" charset="2"/>
              <a:buChar char="Ø"/>
            </a:pPr>
            <a:r>
              <a:rPr lang="zh-CN" altLang="en-US" sz="2800" b="1" smtClean="0">
                <a:solidFill>
                  <a:srgbClr val="0000CC"/>
                </a:solidFill>
                <a:latin typeface="楷体_GB2312" pitchFamily="49" charset="-122"/>
                <a:ea typeface="楷体_GB2312" pitchFamily="49" charset="-122"/>
              </a:rPr>
              <a:t>仅能估计实现需求的成本</a:t>
            </a:r>
          </a:p>
          <a:p>
            <a:pPr lvl="1" eaLnBrk="1" hangingPunct="1">
              <a:lnSpc>
                <a:spcPct val="90000"/>
              </a:lnSpc>
              <a:buFont typeface="Wingdings" pitchFamily="2" charset="2"/>
              <a:buChar char="Ø"/>
            </a:pPr>
            <a:r>
              <a:rPr lang="zh-CN" altLang="en-US" sz="2400" b="1" smtClean="0">
                <a:latin typeface="楷体_GB2312" pitchFamily="49" charset="-122"/>
                <a:ea typeface="楷体_GB2312" pitchFamily="49" charset="-122"/>
              </a:rPr>
              <a:t>为了准确估计，需要设计和精确实现各个部分，尤其是风险最大的部分</a:t>
            </a:r>
          </a:p>
          <a:p>
            <a:pPr lvl="1" eaLnBrk="1" hangingPunct="1">
              <a:lnSpc>
                <a:spcPct val="90000"/>
              </a:lnSpc>
              <a:buFont typeface="Wingdings" pitchFamily="2" charset="2"/>
              <a:buChar char="Ø"/>
            </a:pPr>
            <a:r>
              <a:rPr lang="zh-CN" altLang="en-US" sz="2400" b="1" smtClean="0">
                <a:latin typeface="楷体_GB2312" pitchFamily="49" charset="-122"/>
                <a:ea typeface="楷体_GB2312" pitchFamily="49" charset="-122"/>
              </a:rPr>
              <a:t>可能需要修改需求</a:t>
            </a:r>
          </a:p>
          <a:p>
            <a:pPr eaLnBrk="1" hangingPunct="1">
              <a:lnSpc>
                <a:spcPct val="90000"/>
              </a:lnSpc>
              <a:buFont typeface="Wingdings" pitchFamily="2" charset="2"/>
              <a:buChar char="Ø"/>
            </a:pPr>
            <a:r>
              <a:rPr lang="zh-CN" altLang="en-US" sz="2800" b="1" smtClean="0">
                <a:solidFill>
                  <a:srgbClr val="0000CC"/>
                </a:solidFill>
                <a:latin typeface="楷体_GB2312" pitchFamily="49" charset="-122"/>
                <a:ea typeface="楷体_GB2312" pitchFamily="49" charset="-122"/>
              </a:rPr>
              <a:t>常常需要执行中间件</a:t>
            </a:r>
          </a:p>
          <a:p>
            <a:pPr lvl="1" eaLnBrk="1" hangingPunct="1">
              <a:lnSpc>
                <a:spcPct val="90000"/>
              </a:lnSpc>
              <a:buFont typeface="Wingdings" pitchFamily="2" charset="2"/>
              <a:buChar char="Ø"/>
            </a:pPr>
            <a:r>
              <a:rPr lang="zh-CN" altLang="en-US" sz="2400" b="1" smtClean="0">
                <a:latin typeface="楷体_GB2312" pitchFamily="49" charset="-122"/>
                <a:ea typeface="楷体_GB2312" pitchFamily="49" charset="-122"/>
              </a:rPr>
              <a:t>风险承担者要有信心</a:t>
            </a:r>
          </a:p>
          <a:p>
            <a:pPr lvl="1" eaLnBrk="1" hangingPunct="1">
              <a:lnSpc>
                <a:spcPct val="90000"/>
              </a:lnSpc>
              <a:buFont typeface="Wingdings" pitchFamily="2" charset="2"/>
              <a:buChar char="Ø"/>
            </a:pPr>
            <a:r>
              <a:rPr lang="zh-CN" altLang="en-US" sz="2400" b="1" smtClean="0">
                <a:latin typeface="楷体_GB2312" pitchFamily="49" charset="-122"/>
                <a:ea typeface="楷体_GB2312" pitchFamily="49" charset="-122"/>
              </a:rPr>
              <a:t>设计者和开发者必须证实他们需要和想要构建的内容</a:t>
            </a:r>
          </a:p>
          <a:p>
            <a:pPr eaLnBrk="1" hangingPunct="1">
              <a:lnSpc>
                <a:spcPct val="90000"/>
              </a:lnSpc>
              <a:buFont typeface="Wingdings" pitchFamily="2" charset="2"/>
              <a:buChar char="Ø"/>
            </a:pPr>
            <a:r>
              <a:rPr lang="zh-CN" altLang="en-US" sz="2800" b="1" smtClean="0">
                <a:solidFill>
                  <a:srgbClr val="0000CC"/>
                </a:solidFill>
                <a:latin typeface="楷体_GB2312" pitchFamily="49" charset="-122"/>
                <a:ea typeface="楷体_GB2312" pitchFamily="49" charset="-122"/>
              </a:rPr>
              <a:t>当需求处理快要完成时，小组成员要继续进行下一步的工作</a:t>
            </a:r>
          </a:p>
          <a:p>
            <a:pPr lvl="1" eaLnBrk="1" hangingPunct="1">
              <a:lnSpc>
                <a:spcPct val="90000"/>
              </a:lnSpc>
              <a:buFont typeface="Wingdings" pitchFamily="2" charset="2"/>
              <a:buChar char="Ø"/>
            </a:pPr>
            <a:r>
              <a:rPr lang="zh-CN" altLang="en-US" sz="2400" b="1" smtClean="0">
                <a:latin typeface="楷体_GB2312" pitchFamily="49" charset="-122"/>
                <a:ea typeface="楷体_GB2312" pitchFamily="49" charset="-122"/>
              </a:rPr>
              <a:t>特别要让相关成员马上进行其他阶段的处理</a:t>
            </a:r>
          </a:p>
        </p:txBody>
      </p:sp>
    </p:spTree>
    <p:extLst>
      <p:ext uri="{BB962C8B-B14F-4D97-AF65-F5344CB8AC3E}">
        <p14:creationId xmlns:p14="http://schemas.microsoft.com/office/powerpoint/2010/main" val="20530192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76200"/>
            <a:ext cx="8229600" cy="1066800"/>
          </a:xfrm>
        </p:spPr>
        <p:txBody>
          <a:bodyPr/>
          <a:lstStyle/>
          <a:p>
            <a:pPr eaLnBrk="1" hangingPunct="1"/>
            <a:r>
              <a:rPr lang="zh-CN" altLang="en-US" b="1" smtClean="0">
                <a:solidFill>
                  <a:schemeClr val="accent2"/>
                </a:solidFill>
                <a:ea typeface="楷体_GB2312" pitchFamily="49" charset="-122"/>
              </a:rPr>
              <a:t>软件过程的风格</a:t>
            </a:r>
          </a:p>
        </p:txBody>
      </p:sp>
      <p:sp>
        <p:nvSpPr>
          <p:cNvPr id="10243" name="Rectangle 3"/>
          <p:cNvSpPr>
            <a:spLocks noGrp="1" noChangeArrowheads="1"/>
          </p:cNvSpPr>
          <p:nvPr>
            <p:ph type="body" idx="1"/>
          </p:nvPr>
        </p:nvSpPr>
        <p:spPr>
          <a:xfrm>
            <a:off x="228600" y="1143000"/>
            <a:ext cx="8763000" cy="914400"/>
          </a:xfrm>
        </p:spPr>
        <p:txBody>
          <a:bodyPr/>
          <a:lstStyle/>
          <a:p>
            <a:pPr eaLnBrk="1" hangingPunct="1">
              <a:spcBef>
                <a:spcPct val="50000"/>
              </a:spcBef>
              <a:buFont typeface="Wingdings" pitchFamily="2" charset="2"/>
              <a:buNone/>
            </a:pPr>
            <a:r>
              <a:rPr lang="zh-CN" altLang="en-US" sz="2400" b="1" smtClean="0">
                <a:latin typeface="楷体_GB2312" pitchFamily="49" charset="-122"/>
                <a:ea typeface="楷体_GB2312" pitchFamily="49" charset="-122"/>
              </a:rPr>
              <a:t>螺旋过程</a:t>
            </a:r>
            <a:r>
              <a:rPr lang="zh-CN" altLang="en-US" sz="2400" smtClean="0">
                <a:latin typeface="楷体_GB2312" pitchFamily="49" charset="-122"/>
                <a:ea typeface="楷体_GB2312" pitchFamily="49" charset="-122"/>
              </a:rPr>
              <a:t>：</a:t>
            </a:r>
            <a:r>
              <a:rPr lang="zh-CN" altLang="en-US" sz="2400" b="1" smtClean="0">
                <a:latin typeface="楷体_GB2312" pitchFamily="49" charset="-122"/>
                <a:ea typeface="楷体_GB2312" pitchFamily="49" charset="-122"/>
              </a:rPr>
              <a:t>将几次遍历瀑布阶段，每一次通过瀑布阶段，将产生一个功能更强的中间产物，直到生成可传递的结果。</a:t>
            </a:r>
          </a:p>
        </p:txBody>
      </p:sp>
      <p:sp>
        <p:nvSpPr>
          <p:cNvPr id="10244" name="Line 7"/>
          <p:cNvSpPr>
            <a:spLocks noChangeShapeType="1"/>
          </p:cNvSpPr>
          <p:nvPr/>
        </p:nvSpPr>
        <p:spPr bwMode="auto">
          <a:xfrm>
            <a:off x="2270125" y="1993900"/>
            <a:ext cx="500063"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10245" name="Line 8"/>
          <p:cNvSpPr>
            <a:spLocks noChangeShapeType="1"/>
          </p:cNvSpPr>
          <p:nvPr/>
        </p:nvSpPr>
        <p:spPr bwMode="auto">
          <a:xfrm>
            <a:off x="2760663" y="1993900"/>
            <a:ext cx="500062"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10246" name="Line 9"/>
          <p:cNvSpPr>
            <a:spLocks noChangeShapeType="1"/>
          </p:cNvSpPr>
          <p:nvPr/>
        </p:nvSpPr>
        <p:spPr bwMode="auto">
          <a:xfrm>
            <a:off x="3248025" y="1993900"/>
            <a:ext cx="500063"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10247" name="Line 10"/>
          <p:cNvSpPr>
            <a:spLocks noChangeShapeType="1"/>
          </p:cNvSpPr>
          <p:nvPr/>
        </p:nvSpPr>
        <p:spPr bwMode="auto">
          <a:xfrm>
            <a:off x="3743325" y="1993900"/>
            <a:ext cx="500063"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10248" name="Line 11"/>
          <p:cNvSpPr>
            <a:spLocks noChangeShapeType="1"/>
          </p:cNvSpPr>
          <p:nvPr/>
        </p:nvSpPr>
        <p:spPr bwMode="auto">
          <a:xfrm>
            <a:off x="4230688" y="1993900"/>
            <a:ext cx="500062"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10249" name="Line 12"/>
          <p:cNvSpPr>
            <a:spLocks noChangeShapeType="1"/>
          </p:cNvSpPr>
          <p:nvPr/>
        </p:nvSpPr>
        <p:spPr bwMode="auto">
          <a:xfrm>
            <a:off x="4716463" y="1993900"/>
            <a:ext cx="500062"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10250" name="Line 13"/>
          <p:cNvSpPr>
            <a:spLocks noChangeShapeType="1"/>
          </p:cNvSpPr>
          <p:nvPr/>
        </p:nvSpPr>
        <p:spPr bwMode="auto">
          <a:xfrm>
            <a:off x="5203825" y="1993900"/>
            <a:ext cx="500063"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10251" name="Line 14"/>
          <p:cNvSpPr>
            <a:spLocks noChangeShapeType="1"/>
          </p:cNvSpPr>
          <p:nvPr/>
        </p:nvSpPr>
        <p:spPr bwMode="auto">
          <a:xfrm>
            <a:off x="5699125" y="1993900"/>
            <a:ext cx="500063"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10252" name="Line 15"/>
          <p:cNvSpPr>
            <a:spLocks noChangeShapeType="1"/>
          </p:cNvSpPr>
          <p:nvPr/>
        </p:nvSpPr>
        <p:spPr bwMode="auto">
          <a:xfrm>
            <a:off x="6186488" y="1993900"/>
            <a:ext cx="500062"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10253" name="Line 16"/>
          <p:cNvSpPr>
            <a:spLocks noChangeShapeType="1"/>
          </p:cNvSpPr>
          <p:nvPr/>
        </p:nvSpPr>
        <p:spPr bwMode="auto">
          <a:xfrm>
            <a:off x="6686550" y="1993900"/>
            <a:ext cx="500063"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10254" name="Line 17"/>
          <p:cNvSpPr>
            <a:spLocks noChangeShapeType="1"/>
          </p:cNvSpPr>
          <p:nvPr/>
        </p:nvSpPr>
        <p:spPr bwMode="auto">
          <a:xfrm>
            <a:off x="7204075" y="1993900"/>
            <a:ext cx="501650"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10255" name="Line 18"/>
          <p:cNvSpPr>
            <a:spLocks noChangeShapeType="1"/>
          </p:cNvSpPr>
          <p:nvPr/>
        </p:nvSpPr>
        <p:spPr bwMode="auto">
          <a:xfrm>
            <a:off x="7723188" y="1993900"/>
            <a:ext cx="500062" cy="0"/>
          </a:xfrm>
          <a:prstGeom prst="line">
            <a:avLst/>
          </a:prstGeom>
          <a:noFill/>
          <a:ln w="19050">
            <a:solidFill>
              <a:schemeClr val="tx1"/>
            </a:solidFill>
            <a:round/>
            <a:headEnd type="diamond" w="med" len="med"/>
            <a:tailEnd type="diamond" w="med" len="med"/>
          </a:ln>
          <a:extLst>
            <a:ext uri="{909E8E84-426E-40DD-AFC4-6F175D3DCCD1}">
              <a14:hiddenFill xmlns:a14="http://schemas.microsoft.com/office/drawing/2010/main">
                <a:noFill/>
              </a14:hiddenFill>
            </a:ext>
          </a:extLst>
        </p:spPr>
        <p:txBody>
          <a:bodyPr/>
          <a:lstStyle/>
          <a:p>
            <a:endParaRPr lang="zh-CN" altLang="en-US"/>
          </a:p>
        </p:txBody>
      </p:sp>
      <p:sp>
        <p:nvSpPr>
          <p:cNvPr id="10256" name="Line 19"/>
          <p:cNvSpPr>
            <a:spLocks noChangeShapeType="1"/>
          </p:cNvSpPr>
          <p:nvPr/>
        </p:nvSpPr>
        <p:spPr bwMode="auto">
          <a:xfrm>
            <a:off x="8231188" y="1993900"/>
            <a:ext cx="50165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7" name="Rectangle 20"/>
          <p:cNvSpPr>
            <a:spLocks noChangeArrowheads="1"/>
          </p:cNvSpPr>
          <p:nvPr/>
        </p:nvSpPr>
        <p:spPr bwMode="auto">
          <a:xfrm>
            <a:off x="8001000" y="1506538"/>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zh-CN" altLang="en-US" sz="2400">
                <a:solidFill>
                  <a:schemeClr val="tx2"/>
                </a:solidFill>
                <a:latin typeface="Arial Narrow" pitchFamily="34" charset="0"/>
              </a:rPr>
              <a:t>时间</a:t>
            </a:r>
          </a:p>
        </p:txBody>
      </p:sp>
      <p:sp>
        <p:nvSpPr>
          <p:cNvPr id="10258" name="Line 21"/>
          <p:cNvSpPr>
            <a:spLocks noChangeShapeType="1"/>
          </p:cNvSpPr>
          <p:nvPr/>
        </p:nvSpPr>
        <p:spPr bwMode="auto">
          <a:xfrm>
            <a:off x="2287588" y="1993900"/>
            <a:ext cx="0" cy="4702175"/>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9" name="Line 22"/>
          <p:cNvSpPr>
            <a:spLocks noChangeShapeType="1"/>
          </p:cNvSpPr>
          <p:nvPr/>
        </p:nvSpPr>
        <p:spPr bwMode="auto">
          <a:xfrm>
            <a:off x="2782888" y="1993900"/>
            <a:ext cx="0" cy="4702175"/>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0" name="Line 23"/>
          <p:cNvSpPr>
            <a:spLocks noChangeShapeType="1"/>
          </p:cNvSpPr>
          <p:nvPr/>
        </p:nvSpPr>
        <p:spPr bwMode="auto">
          <a:xfrm>
            <a:off x="3270250" y="1993900"/>
            <a:ext cx="0" cy="4702175"/>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1" name="Line 24"/>
          <p:cNvSpPr>
            <a:spLocks noChangeShapeType="1"/>
          </p:cNvSpPr>
          <p:nvPr/>
        </p:nvSpPr>
        <p:spPr bwMode="auto">
          <a:xfrm>
            <a:off x="3743325" y="1993900"/>
            <a:ext cx="0" cy="4702175"/>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2" name="Rectangle 25"/>
          <p:cNvSpPr>
            <a:spLocks noChangeArrowheads="1"/>
          </p:cNvSpPr>
          <p:nvPr/>
        </p:nvSpPr>
        <p:spPr bwMode="auto">
          <a:xfrm>
            <a:off x="2306638" y="4057650"/>
            <a:ext cx="563562" cy="190500"/>
          </a:xfrm>
          <a:prstGeom prst="rect">
            <a:avLst/>
          </a:prstGeom>
          <a:solidFill>
            <a:schemeClr val="bg1"/>
          </a:solidFill>
          <a:ln w="19050">
            <a:solidFill>
              <a:schemeClr val="tx1"/>
            </a:solidFill>
            <a:miter lim="800000"/>
            <a:headEnd/>
            <a:tailEnd/>
          </a:ln>
        </p:spPr>
        <p:txBody>
          <a:bodyPr wrap="none"/>
          <a:lstStyle/>
          <a:p>
            <a:pPr eaLnBrk="0" hangingPunct="0">
              <a:lnSpc>
                <a:spcPct val="80000"/>
              </a:lnSpc>
              <a:spcBef>
                <a:spcPct val="0"/>
              </a:spcBef>
            </a:pPr>
            <a:r>
              <a:rPr kumimoji="0" lang="en-US" altLang="zh-CN" sz="1400">
                <a:latin typeface="Arial Narrow" pitchFamily="34" charset="0"/>
                <a:ea typeface="宋体" charset="-122"/>
              </a:rPr>
              <a:t> 1 </a:t>
            </a:r>
          </a:p>
        </p:txBody>
      </p:sp>
      <p:sp>
        <p:nvSpPr>
          <p:cNvPr id="10263" name="Line 26"/>
          <p:cNvSpPr>
            <a:spLocks noChangeShapeType="1"/>
          </p:cNvSpPr>
          <p:nvPr/>
        </p:nvSpPr>
        <p:spPr bwMode="auto">
          <a:xfrm>
            <a:off x="4716463" y="1993900"/>
            <a:ext cx="0" cy="4702175"/>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4" name="Line 27"/>
          <p:cNvSpPr>
            <a:spLocks noChangeShapeType="1"/>
          </p:cNvSpPr>
          <p:nvPr/>
        </p:nvSpPr>
        <p:spPr bwMode="auto">
          <a:xfrm>
            <a:off x="5203825" y="1993900"/>
            <a:ext cx="0" cy="4702175"/>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5" name="Line 28"/>
          <p:cNvSpPr>
            <a:spLocks noChangeShapeType="1"/>
          </p:cNvSpPr>
          <p:nvPr/>
        </p:nvSpPr>
        <p:spPr bwMode="auto">
          <a:xfrm>
            <a:off x="5699125" y="1993900"/>
            <a:ext cx="0" cy="4702175"/>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6" name="Line 29"/>
          <p:cNvSpPr>
            <a:spLocks noChangeShapeType="1"/>
          </p:cNvSpPr>
          <p:nvPr/>
        </p:nvSpPr>
        <p:spPr bwMode="auto">
          <a:xfrm>
            <a:off x="6659563" y="1993900"/>
            <a:ext cx="0" cy="4702175"/>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7" name="Line 30"/>
          <p:cNvSpPr>
            <a:spLocks noChangeShapeType="1"/>
          </p:cNvSpPr>
          <p:nvPr/>
        </p:nvSpPr>
        <p:spPr bwMode="auto">
          <a:xfrm>
            <a:off x="7204075" y="1993900"/>
            <a:ext cx="0" cy="4702175"/>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8" name="Line 31"/>
          <p:cNvSpPr>
            <a:spLocks noChangeShapeType="1"/>
          </p:cNvSpPr>
          <p:nvPr/>
        </p:nvSpPr>
        <p:spPr bwMode="auto">
          <a:xfrm>
            <a:off x="7718425" y="1993900"/>
            <a:ext cx="0" cy="4702175"/>
          </a:xfrm>
          <a:prstGeom prst="line">
            <a:avLst/>
          </a:prstGeom>
          <a:noFill/>
          <a:ln w="19050">
            <a:solidFill>
              <a:srgbClr val="969696"/>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9" name="Rectangle 32"/>
          <p:cNvSpPr>
            <a:spLocks noChangeArrowheads="1"/>
          </p:cNvSpPr>
          <p:nvPr/>
        </p:nvSpPr>
        <p:spPr bwMode="auto">
          <a:xfrm>
            <a:off x="800100" y="3848100"/>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zh-CN" altLang="en-US" sz="2000">
                <a:latin typeface="Arial Narrow" pitchFamily="34" charset="0"/>
              </a:rPr>
              <a:t>需求分析</a:t>
            </a:r>
          </a:p>
        </p:txBody>
      </p:sp>
      <p:sp>
        <p:nvSpPr>
          <p:cNvPr id="10270" name="Line 33"/>
          <p:cNvSpPr>
            <a:spLocks noChangeShapeType="1"/>
          </p:cNvSpPr>
          <p:nvPr/>
        </p:nvSpPr>
        <p:spPr bwMode="auto">
          <a:xfrm>
            <a:off x="728663" y="3673475"/>
            <a:ext cx="77898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1" name="Rectangle 34"/>
          <p:cNvSpPr>
            <a:spLocks noChangeArrowheads="1"/>
          </p:cNvSpPr>
          <p:nvPr/>
        </p:nvSpPr>
        <p:spPr bwMode="auto">
          <a:xfrm>
            <a:off x="800100" y="481647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zh-CN" altLang="en-US" sz="2000">
                <a:latin typeface="Arial Narrow" pitchFamily="34" charset="0"/>
              </a:rPr>
              <a:t>设计</a:t>
            </a:r>
          </a:p>
        </p:txBody>
      </p:sp>
      <p:sp>
        <p:nvSpPr>
          <p:cNvPr id="10272" name="Rectangle 35"/>
          <p:cNvSpPr>
            <a:spLocks noChangeArrowheads="1"/>
          </p:cNvSpPr>
          <p:nvPr/>
        </p:nvSpPr>
        <p:spPr bwMode="auto">
          <a:xfrm>
            <a:off x="800100" y="559117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zh-CN" altLang="en-US" sz="2000">
                <a:latin typeface="Arial Narrow" pitchFamily="34" charset="0"/>
              </a:rPr>
              <a:t>编码</a:t>
            </a:r>
          </a:p>
        </p:txBody>
      </p:sp>
      <p:sp>
        <p:nvSpPr>
          <p:cNvPr id="10273" name="Rectangle 36"/>
          <p:cNvSpPr>
            <a:spLocks noChangeArrowheads="1"/>
          </p:cNvSpPr>
          <p:nvPr/>
        </p:nvSpPr>
        <p:spPr bwMode="auto">
          <a:xfrm>
            <a:off x="800100" y="628967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zh-CN" altLang="en-US" sz="2000">
                <a:latin typeface="Arial Narrow" pitchFamily="34" charset="0"/>
              </a:rPr>
              <a:t>测试</a:t>
            </a:r>
          </a:p>
        </p:txBody>
      </p:sp>
      <p:sp>
        <p:nvSpPr>
          <p:cNvPr id="10274" name="Rectangle 37"/>
          <p:cNvSpPr>
            <a:spLocks noChangeArrowheads="1"/>
          </p:cNvSpPr>
          <p:nvPr/>
        </p:nvSpPr>
        <p:spPr bwMode="auto">
          <a:xfrm>
            <a:off x="2301875" y="3067050"/>
            <a:ext cx="1928813" cy="396875"/>
          </a:xfrm>
          <a:prstGeom prst="rect">
            <a:avLst/>
          </a:prstGeom>
          <a:solidFill>
            <a:srgbClr val="99CCFF"/>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p>
            <a:pPr eaLnBrk="0" hangingPunct="0">
              <a:spcBef>
                <a:spcPct val="0"/>
              </a:spcBef>
            </a:pPr>
            <a:r>
              <a:rPr kumimoji="0" lang="en-US" altLang="zh-CN" sz="2000">
                <a:latin typeface="Arial Narrow" pitchFamily="34" charset="0"/>
                <a:ea typeface="宋体" charset="-122"/>
              </a:rPr>
              <a:t>1</a:t>
            </a:r>
          </a:p>
        </p:txBody>
      </p:sp>
      <p:sp>
        <p:nvSpPr>
          <p:cNvPr id="10275" name="Rectangle 38"/>
          <p:cNvSpPr>
            <a:spLocks noChangeArrowheads="1"/>
          </p:cNvSpPr>
          <p:nvPr/>
        </p:nvSpPr>
        <p:spPr bwMode="auto">
          <a:xfrm>
            <a:off x="800100" y="3067050"/>
            <a:ext cx="868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zh-CN" altLang="en-US" sz="2000">
                <a:latin typeface="Arial Narrow" pitchFamily="34" charset="0"/>
              </a:rPr>
              <a:t>迭代</a:t>
            </a:r>
            <a:r>
              <a:rPr kumimoji="0" lang="zh-CN" altLang="en-US" sz="2000">
                <a:latin typeface="Arial Narrow" pitchFamily="34" charset="0"/>
                <a:ea typeface="宋体" charset="-122"/>
              </a:rPr>
              <a:t> </a:t>
            </a:r>
            <a:r>
              <a:rPr kumimoji="0" lang="en-US" altLang="zh-CN" sz="2000">
                <a:latin typeface="Arial Narrow" pitchFamily="34" charset="0"/>
                <a:ea typeface="宋体" charset="-122"/>
              </a:rPr>
              <a:t>#</a:t>
            </a:r>
          </a:p>
        </p:txBody>
      </p:sp>
      <p:sp>
        <p:nvSpPr>
          <p:cNvPr id="10276" name="Rectangle 39"/>
          <p:cNvSpPr>
            <a:spLocks noChangeArrowheads="1"/>
          </p:cNvSpPr>
          <p:nvPr/>
        </p:nvSpPr>
        <p:spPr bwMode="auto">
          <a:xfrm>
            <a:off x="2774950" y="4894263"/>
            <a:ext cx="471488" cy="215900"/>
          </a:xfrm>
          <a:prstGeom prst="rect">
            <a:avLst/>
          </a:prstGeom>
          <a:solidFill>
            <a:schemeClr val="bg1"/>
          </a:solidFill>
          <a:ln w="19050">
            <a:solidFill>
              <a:schemeClr val="tx1"/>
            </a:solidFill>
            <a:miter lim="800000"/>
            <a:headEnd/>
            <a:tailEnd/>
          </a:ln>
        </p:spPr>
        <p:txBody>
          <a:bodyPr wrap="none"/>
          <a:lstStyle/>
          <a:p>
            <a:pPr eaLnBrk="0" hangingPunct="0">
              <a:lnSpc>
                <a:spcPct val="80000"/>
              </a:lnSpc>
              <a:spcBef>
                <a:spcPct val="0"/>
              </a:spcBef>
            </a:pPr>
            <a:r>
              <a:rPr kumimoji="0" lang="en-US" altLang="zh-CN" sz="1400">
                <a:latin typeface="Arial Narrow" pitchFamily="34" charset="0"/>
                <a:ea typeface="宋体" charset="-122"/>
              </a:rPr>
              <a:t>  1</a:t>
            </a:r>
          </a:p>
        </p:txBody>
      </p:sp>
      <p:sp>
        <p:nvSpPr>
          <p:cNvPr id="10277" name="Rectangle 40"/>
          <p:cNvSpPr>
            <a:spLocks noChangeArrowheads="1"/>
          </p:cNvSpPr>
          <p:nvPr/>
        </p:nvSpPr>
        <p:spPr bwMode="auto">
          <a:xfrm>
            <a:off x="3203575" y="5665788"/>
            <a:ext cx="487363" cy="223837"/>
          </a:xfrm>
          <a:prstGeom prst="rect">
            <a:avLst/>
          </a:prstGeom>
          <a:solidFill>
            <a:schemeClr val="bg1"/>
          </a:solidFill>
          <a:ln w="19050">
            <a:solidFill>
              <a:schemeClr val="tx1"/>
            </a:solidFill>
            <a:miter lim="800000"/>
            <a:headEnd/>
            <a:tailEnd/>
          </a:ln>
        </p:spPr>
        <p:txBody>
          <a:bodyPr wrap="none"/>
          <a:lstStyle/>
          <a:p>
            <a:pPr eaLnBrk="0" hangingPunct="0">
              <a:lnSpc>
                <a:spcPct val="80000"/>
              </a:lnSpc>
              <a:spcBef>
                <a:spcPct val="0"/>
              </a:spcBef>
            </a:pPr>
            <a:r>
              <a:rPr kumimoji="0" lang="en-US" altLang="zh-CN" sz="1400">
                <a:latin typeface="Arial Narrow" pitchFamily="34" charset="0"/>
                <a:ea typeface="宋体" charset="-122"/>
              </a:rPr>
              <a:t>1  </a:t>
            </a:r>
          </a:p>
        </p:txBody>
      </p:sp>
      <p:sp>
        <p:nvSpPr>
          <p:cNvPr id="10278" name="Rectangle 41"/>
          <p:cNvSpPr>
            <a:spLocks noChangeArrowheads="1"/>
          </p:cNvSpPr>
          <p:nvPr/>
        </p:nvSpPr>
        <p:spPr bwMode="auto">
          <a:xfrm>
            <a:off x="4237038" y="3067050"/>
            <a:ext cx="1928812" cy="396875"/>
          </a:xfrm>
          <a:prstGeom prst="rect">
            <a:avLst/>
          </a:prstGeom>
          <a:solidFill>
            <a:srgbClr val="99CCFF"/>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p>
            <a:pPr eaLnBrk="0" hangingPunct="0">
              <a:spcBef>
                <a:spcPct val="0"/>
              </a:spcBef>
            </a:pPr>
            <a:r>
              <a:rPr kumimoji="0" lang="en-US" altLang="zh-CN" sz="2000">
                <a:latin typeface="Arial Narrow" pitchFamily="34" charset="0"/>
                <a:ea typeface="宋体" charset="-122"/>
              </a:rPr>
              <a:t>2</a:t>
            </a:r>
          </a:p>
        </p:txBody>
      </p:sp>
      <p:sp>
        <p:nvSpPr>
          <p:cNvPr id="10279" name="Rectangle 42"/>
          <p:cNvSpPr>
            <a:spLocks noChangeArrowheads="1"/>
          </p:cNvSpPr>
          <p:nvPr/>
        </p:nvSpPr>
        <p:spPr bwMode="auto">
          <a:xfrm>
            <a:off x="4713288" y="4894263"/>
            <a:ext cx="471487" cy="215900"/>
          </a:xfrm>
          <a:prstGeom prst="rect">
            <a:avLst/>
          </a:prstGeom>
          <a:solidFill>
            <a:schemeClr val="bg1"/>
          </a:solidFill>
          <a:ln w="19050">
            <a:solidFill>
              <a:schemeClr val="tx1"/>
            </a:solidFill>
            <a:miter lim="800000"/>
            <a:headEnd/>
            <a:tailEnd/>
          </a:ln>
        </p:spPr>
        <p:txBody>
          <a:bodyPr wrap="none"/>
          <a:lstStyle/>
          <a:p>
            <a:pPr eaLnBrk="0" hangingPunct="0">
              <a:lnSpc>
                <a:spcPct val="80000"/>
              </a:lnSpc>
              <a:spcBef>
                <a:spcPct val="0"/>
              </a:spcBef>
            </a:pPr>
            <a:r>
              <a:rPr kumimoji="0" lang="en-US" altLang="zh-CN" sz="1400">
                <a:latin typeface="Arial Narrow" pitchFamily="34" charset="0"/>
                <a:ea typeface="宋体" charset="-122"/>
              </a:rPr>
              <a:t>  2</a:t>
            </a:r>
          </a:p>
        </p:txBody>
      </p:sp>
      <p:sp>
        <p:nvSpPr>
          <p:cNvPr id="10280" name="Rectangle 43"/>
          <p:cNvSpPr>
            <a:spLocks noChangeArrowheads="1"/>
          </p:cNvSpPr>
          <p:nvPr/>
        </p:nvSpPr>
        <p:spPr bwMode="auto">
          <a:xfrm>
            <a:off x="5140325" y="5665788"/>
            <a:ext cx="487363" cy="223837"/>
          </a:xfrm>
          <a:prstGeom prst="rect">
            <a:avLst/>
          </a:prstGeom>
          <a:solidFill>
            <a:schemeClr val="bg1"/>
          </a:solidFill>
          <a:ln w="19050">
            <a:solidFill>
              <a:schemeClr val="tx1"/>
            </a:solidFill>
            <a:miter lim="800000"/>
            <a:headEnd/>
            <a:tailEnd/>
          </a:ln>
        </p:spPr>
        <p:txBody>
          <a:bodyPr wrap="none"/>
          <a:lstStyle/>
          <a:p>
            <a:pPr eaLnBrk="0" hangingPunct="0">
              <a:lnSpc>
                <a:spcPct val="80000"/>
              </a:lnSpc>
              <a:spcBef>
                <a:spcPct val="0"/>
              </a:spcBef>
            </a:pPr>
            <a:r>
              <a:rPr kumimoji="0" lang="en-US" altLang="zh-CN" sz="1400">
                <a:latin typeface="Arial Narrow" pitchFamily="34" charset="0"/>
                <a:ea typeface="宋体" charset="-122"/>
              </a:rPr>
              <a:t>  2</a:t>
            </a:r>
          </a:p>
        </p:txBody>
      </p:sp>
      <p:sp>
        <p:nvSpPr>
          <p:cNvPr id="10281" name="Rectangle 44"/>
          <p:cNvSpPr>
            <a:spLocks noChangeArrowheads="1"/>
          </p:cNvSpPr>
          <p:nvPr/>
        </p:nvSpPr>
        <p:spPr bwMode="auto">
          <a:xfrm>
            <a:off x="6176963" y="3067050"/>
            <a:ext cx="2054225" cy="396875"/>
          </a:xfrm>
          <a:prstGeom prst="rect">
            <a:avLst/>
          </a:prstGeom>
          <a:solidFill>
            <a:srgbClr val="99CCFF"/>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p>
            <a:pPr eaLnBrk="0" hangingPunct="0">
              <a:spcBef>
                <a:spcPct val="0"/>
              </a:spcBef>
            </a:pPr>
            <a:r>
              <a:rPr kumimoji="0" lang="en-US" altLang="zh-CN" sz="2000">
                <a:latin typeface="Arial Narrow" pitchFamily="34" charset="0"/>
                <a:ea typeface="宋体" charset="-122"/>
              </a:rPr>
              <a:t>3</a:t>
            </a:r>
          </a:p>
        </p:txBody>
      </p:sp>
      <p:sp>
        <p:nvSpPr>
          <p:cNvPr id="10282" name="Rectangle 45"/>
          <p:cNvSpPr>
            <a:spLocks noChangeArrowheads="1"/>
          </p:cNvSpPr>
          <p:nvPr/>
        </p:nvSpPr>
        <p:spPr bwMode="auto">
          <a:xfrm>
            <a:off x="6651625" y="4894263"/>
            <a:ext cx="473075" cy="215900"/>
          </a:xfrm>
          <a:prstGeom prst="rect">
            <a:avLst/>
          </a:prstGeom>
          <a:solidFill>
            <a:schemeClr val="bg1"/>
          </a:solidFill>
          <a:ln w="19050">
            <a:solidFill>
              <a:schemeClr val="tx1"/>
            </a:solidFill>
            <a:miter lim="800000"/>
            <a:headEnd/>
            <a:tailEnd/>
          </a:ln>
        </p:spPr>
        <p:txBody>
          <a:bodyPr wrap="none"/>
          <a:lstStyle/>
          <a:p>
            <a:pPr eaLnBrk="0" hangingPunct="0">
              <a:lnSpc>
                <a:spcPct val="80000"/>
              </a:lnSpc>
              <a:spcBef>
                <a:spcPct val="0"/>
              </a:spcBef>
            </a:pPr>
            <a:r>
              <a:rPr kumimoji="0" lang="en-US" altLang="zh-CN" sz="1400">
                <a:latin typeface="Arial Narrow" pitchFamily="34" charset="0"/>
                <a:ea typeface="宋体" charset="-122"/>
              </a:rPr>
              <a:t>  3</a:t>
            </a:r>
          </a:p>
        </p:txBody>
      </p:sp>
      <p:sp>
        <p:nvSpPr>
          <p:cNvPr id="10283" name="Rectangle 46"/>
          <p:cNvSpPr>
            <a:spLocks noChangeArrowheads="1"/>
          </p:cNvSpPr>
          <p:nvPr/>
        </p:nvSpPr>
        <p:spPr bwMode="auto">
          <a:xfrm>
            <a:off x="7080250" y="5665788"/>
            <a:ext cx="574675" cy="223837"/>
          </a:xfrm>
          <a:prstGeom prst="rect">
            <a:avLst/>
          </a:prstGeom>
          <a:solidFill>
            <a:schemeClr val="bg1"/>
          </a:solidFill>
          <a:ln w="19050">
            <a:solidFill>
              <a:schemeClr val="tx1"/>
            </a:solidFill>
            <a:miter lim="800000"/>
            <a:headEnd/>
            <a:tailEnd/>
          </a:ln>
        </p:spPr>
        <p:txBody>
          <a:bodyPr wrap="none"/>
          <a:lstStyle/>
          <a:p>
            <a:pPr eaLnBrk="0" hangingPunct="0">
              <a:lnSpc>
                <a:spcPct val="80000"/>
              </a:lnSpc>
              <a:spcBef>
                <a:spcPct val="0"/>
              </a:spcBef>
            </a:pPr>
            <a:r>
              <a:rPr kumimoji="0" lang="en-US" altLang="zh-CN" sz="1400">
                <a:latin typeface="Arial Narrow" pitchFamily="34" charset="0"/>
                <a:ea typeface="宋体" charset="-122"/>
              </a:rPr>
              <a:t> 3 </a:t>
            </a:r>
          </a:p>
        </p:txBody>
      </p:sp>
      <p:sp>
        <p:nvSpPr>
          <p:cNvPr id="10284" name="Line 47"/>
          <p:cNvSpPr>
            <a:spLocks noChangeShapeType="1"/>
          </p:cNvSpPr>
          <p:nvPr/>
        </p:nvSpPr>
        <p:spPr bwMode="auto">
          <a:xfrm>
            <a:off x="4230688" y="1993900"/>
            <a:ext cx="0" cy="4702175"/>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85" name="Line 48"/>
          <p:cNvSpPr>
            <a:spLocks noChangeShapeType="1"/>
          </p:cNvSpPr>
          <p:nvPr/>
        </p:nvSpPr>
        <p:spPr bwMode="auto">
          <a:xfrm>
            <a:off x="6186488" y="1993900"/>
            <a:ext cx="0" cy="4702175"/>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86" name="Line 49"/>
          <p:cNvSpPr>
            <a:spLocks noChangeShapeType="1"/>
          </p:cNvSpPr>
          <p:nvPr/>
        </p:nvSpPr>
        <p:spPr bwMode="auto">
          <a:xfrm>
            <a:off x="8231188" y="1993900"/>
            <a:ext cx="0" cy="4702175"/>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87" name="Rectangle 50"/>
          <p:cNvSpPr>
            <a:spLocks noChangeArrowheads="1"/>
          </p:cNvSpPr>
          <p:nvPr/>
        </p:nvSpPr>
        <p:spPr bwMode="auto">
          <a:xfrm>
            <a:off x="6129338" y="2498725"/>
            <a:ext cx="2259012"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r" eaLnBrk="0" hangingPunct="0">
              <a:spcBef>
                <a:spcPct val="0"/>
              </a:spcBef>
            </a:pPr>
            <a:r>
              <a:rPr kumimoji="0" lang="zh-CN" altLang="en-US" sz="2400">
                <a:latin typeface="Arial Narrow" pitchFamily="34" charset="0"/>
              </a:rPr>
              <a:t>已发布的产品</a:t>
            </a:r>
            <a:r>
              <a:rPr kumimoji="0" lang="zh-CN" altLang="en-US" sz="2400" b="0">
                <a:latin typeface="Arial Narrow" pitchFamily="34" charset="0"/>
                <a:ea typeface="宋体" charset="-122"/>
              </a:rPr>
              <a:t> </a:t>
            </a:r>
            <a:r>
              <a:rPr kumimoji="0" lang="en-US" altLang="zh-CN" sz="2400">
                <a:latin typeface="Arial Narrow" pitchFamily="34" charset="0"/>
                <a:ea typeface="宋体" charset="-122"/>
              </a:rPr>
              <a:t>X</a:t>
            </a:r>
          </a:p>
        </p:txBody>
      </p:sp>
      <p:sp>
        <p:nvSpPr>
          <p:cNvPr id="10288" name="Line 51"/>
          <p:cNvSpPr>
            <a:spLocks noChangeShapeType="1"/>
          </p:cNvSpPr>
          <p:nvPr/>
        </p:nvSpPr>
        <p:spPr bwMode="auto">
          <a:xfrm>
            <a:off x="728663" y="4613275"/>
            <a:ext cx="7789862" cy="0"/>
          </a:xfrm>
          <a:prstGeom prst="line">
            <a:avLst/>
          </a:prstGeom>
          <a:noFill/>
          <a:ln w="19050"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89" name="Line 52"/>
          <p:cNvSpPr>
            <a:spLocks noChangeShapeType="1"/>
          </p:cNvSpPr>
          <p:nvPr/>
        </p:nvSpPr>
        <p:spPr bwMode="auto">
          <a:xfrm>
            <a:off x="728663" y="5419725"/>
            <a:ext cx="7789862" cy="0"/>
          </a:xfrm>
          <a:prstGeom prst="line">
            <a:avLst/>
          </a:prstGeom>
          <a:noFill/>
          <a:ln w="19050"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90" name="Line 53"/>
          <p:cNvSpPr>
            <a:spLocks noChangeShapeType="1"/>
          </p:cNvSpPr>
          <p:nvPr/>
        </p:nvSpPr>
        <p:spPr bwMode="auto">
          <a:xfrm>
            <a:off x="728663" y="6159500"/>
            <a:ext cx="7789862" cy="0"/>
          </a:xfrm>
          <a:prstGeom prst="line">
            <a:avLst/>
          </a:prstGeom>
          <a:noFill/>
          <a:ln w="19050"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91" name="Rectangle 54"/>
          <p:cNvSpPr>
            <a:spLocks noChangeArrowheads="1"/>
          </p:cNvSpPr>
          <p:nvPr/>
        </p:nvSpPr>
        <p:spPr bwMode="auto">
          <a:xfrm>
            <a:off x="762000" y="2498725"/>
            <a:ext cx="2801938"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r" eaLnBrk="0" hangingPunct="0">
              <a:spcBef>
                <a:spcPct val="0"/>
              </a:spcBef>
            </a:pPr>
            <a:r>
              <a:rPr kumimoji="0" lang="zh-CN" altLang="en-US" sz="2400">
                <a:latin typeface="Arial Narrow" pitchFamily="34" charset="0"/>
              </a:rPr>
              <a:t>中间版本</a:t>
            </a:r>
            <a:r>
              <a:rPr kumimoji="0" lang="zh-CN" altLang="en-US" sz="2400" b="0">
                <a:latin typeface="Arial Narrow" pitchFamily="34" charset="0"/>
                <a:ea typeface="宋体" charset="-122"/>
              </a:rPr>
              <a:t>* </a:t>
            </a:r>
            <a:r>
              <a:rPr kumimoji="0" lang="zh-CN" altLang="en-US" sz="2400">
                <a:latin typeface="Arial Narrow" pitchFamily="34" charset="0"/>
              </a:rPr>
              <a:t>完整的</a:t>
            </a:r>
            <a:r>
              <a:rPr kumimoji="0" lang="zh-CN" altLang="en-US" sz="2400" b="0">
                <a:latin typeface="Arial Narrow" pitchFamily="34" charset="0"/>
                <a:ea typeface="宋体" charset="-122"/>
              </a:rPr>
              <a:t> </a:t>
            </a:r>
            <a:r>
              <a:rPr kumimoji="0" lang="zh-CN" altLang="en-US" sz="2400">
                <a:latin typeface="Arial Narrow" pitchFamily="34" charset="0"/>
                <a:ea typeface="宋体" charset="-122"/>
              </a:rPr>
              <a:t> </a:t>
            </a:r>
            <a:r>
              <a:rPr kumimoji="0" lang="en-US" altLang="zh-CN" sz="2400">
                <a:latin typeface="Arial Narrow" pitchFamily="34" charset="0"/>
                <a:ea typeface="宋体" charset="-122"/>
              </a:rPr>
              <a:t>X</a:t>
            </a:r>
          </a:p>
        </p:txBody>
      </p:sp>
      <p:sp>
        <p:nvSpPr>
          <p:cNvPr id="10292" name="Rectangle 55"/>
          <p:cNvSpPr>
            <a:spLocks noChangeArrowheads="1"/>
          </p:cNvSpPr>
          <p:nvPr/>
        </p:nvSpPr>
        <p:spPr bwMode="auto">
          <a:xfrm>
            <a:off x="4473575" y="2043113"/>
            <a:ext cx="1409700"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eaLnBrk="0" hangingPunct="0">
              <a:spcBef>
                <a:spcPct val="0"/>
              </a:spcBef>
            </a:pPr>
            <a:r>
              <a:rPr kumimoji="0" lang="zh-CN" altLang="en-US" sz="2400">
                <a:latin typeface="Arial Narrow" pitchFamily="34" charset="0"/>
              </a:rPr>
              <a:t>重要事件</a:t>
            </a:r>
          </a:p>
        </p:txBody>
      </p:sp>
      <p:sp>
        <p:nvSpPr>
          <p:cNvPr id="10293" name="Rectangle 56"/>
          <p:cNvSpPr>
            <a:spLocks noChangeArrowheads="1"/>
          </p:cNvSpPr>
          <p:nvPr/>
        </p:nvSpPr>
        <p:spPr bwMode="auto">
          <a:xfrm>
            <a:off x="4252913" y="4057650"/>
            <a:ext cx="563562" cy="190500"/>
          </a:xfrm>
          <a:prstGeom prst="rect">
            <a:avLst/>
          </a:prstGeom>
          <a:solidFill>
            <a:schemeClr val="bg1"/>
          </a:solidFill>
          <a:ln w="19050">
            <a:solidFill>
              <a:schemeClr val="tx1"/>
            </a:solidFill>
            <a:miter lim="800000"/>
            <a:headEnd/>
            <a:tailEnd/>
          </a:ln>
        </p:spPr>
        <p:txBody>
          <a:bodyPr wrap="none"/>
          <a:lstStyle/>
          <a:p>
            <a:pPr eaLnBrk="0" hangingPunct="0">
              <a:lnSpc>
                <a:spcPct val="80000"/>
              </a:lnSpc>
              <a:spcBef>
                <a:spcPct val="0"/>
              </a:spcBef>
            </a:pPr>
            <a:r>
              <a:rPr kumimoji="0" lang="en-US" altLang="zh-CN" sz="1400">
                <a:latin typeface="Arial Narrow" pitchFamily="34" charset="0"/>
                <a:ea typeface="宋体" charset="-122"/>
              </a:rPr>
              <a:t>  2</a:t>
            </a:r>
          </a:p>
        </p:txBody>
      </p:sp>
      <p:sp>
        <p:nvSpPr>
          <p:cNvPr id="10294" name="Rectangle 57"/>
          <p:cNvSpPr>
            <a:spLocks noChangeArrowheads="1"/>
          </p:cNvSpPr>
          <p:nvPr/>
        </p:nvSpPr>
        <p:spPr bwMode="auto">
          <a:xfrm>
            <a:off x="6210300" y="4057650"/>
            <a:ext cx="565150" cy="190500"/>
          </a:xfrm>
          <a:prstGeom prst="rect">
            <a:avLst/>
          </a:prstGeom>
          <a:solidFill>
            <a:schemeClr val="bg1"/>
          </a:solidFill>
          <a:ln w="19050">
            <a:solidFill>
              <a:schemeClr val="tx1"/>
            </a:solidFill>
            <a:miter lim="800000"/>
            <a:headEnd/>
            <a:tailEnd/>
          </a:ln>
        </p:spPr>
        <p:txBody>
          <a:bodyPr wrap="none"/>
          <a:lstStyle/>
          <a:p>
            <a:pPr eaLnBrk="0" hangingPunct="0">
              <a:lnSpc>
                <a:spcPct val="80000"/>
              </a:lnSpc>
              <a:spcBef>
                <a:spcPct val="0"/>
              </a:spcBef>
            </a:pPr>
            <a:r>
              <a:rPr kumimoji="0" lang="en-US" altLang="zh-CN" sz="1400">
                <a:latin typeface="Arial Narrow" pitchFamily="34" charset="0"/>
                <a:ea typeface="宋体" charset="-122"/>
              </a:rPr>
              <a:t>3  </a:t>
            </a:r>
          </a:p>
        </p:txBody>
      </p:sp>
      <p:sp>
        <p:nvSpPr>
          <p:cNvPr id="10295" name="Rectangle 58"/>
          <p:cNvSpPr>
            <a:spLocks noChangeArrowheads="1"/>
          </p:cNvSpPr>
          <p:nvPr/>
        </p:nvSpPr>
        <p:spPr bwMode="auto">
          <a:xfrm>
            <a:off x="5583238" y="6367463"/>
            <a:ext cx="574675" cy="223837"/>
          </a:xfrm>
          <a:prstGeom prst="rect">
            <a:avLst/>
          </a:prstGeom>
          <a:solidFill>
            <a:schemeClr val="bg1"/>
          </a:solidFill>
          <a:ln w="19050">
            <a:solidFill>
              <a:schemeClr val="tx1"/>
            </a:solidFill>
            <a:miter lim="800000"/>
            <a:headEnd/>
            <a:tailEnd/>
          </a:ln>
        </p:spPr>
        <p:txBody>
          <a:bodyPr wrap="none"/>
          <a:lstStyle/>
          <a:p>
            <a:pPr eaLnBrk="0" hangingPunct="0">
              <a:lnSpc>
                <a:spcPct val="80000"/>
              </a:lnSpc>
              <a:spcBef>
                <a:spcPct val="0"/>
              </a:spcBef>
            </a:pPr>
            <a:r>
              <a:rPr kumimoji="0" lang="en-US" altLang="zh-CN" sz="1400">
                <a:latin typeface="Arial Narrow" pitchFamily="34" charset="0"/>
                <a:ea typeface="宋体" charset="-122"/>
              </a:rPr>
              <a:t>2  </a:t>
            </a:r>
          </a:p>
        </p:txBody>
      </p:sp>
      <p:sp>
        <p:nvSpPr>
          <p:cNvPr id="10296" name="Rectangle 59"/>
          <p:cNvSpPr>
            <a:spLocks noChangeArrowheads="1"/>
          </p:cNvSpPr>
          <p:nvPr/>
        </p:nvSpPr>
        <p:spPr bwMode="auto">
          <a:xfrm>
            <a:off x="7631113" y="6367463"/>
            <a:ext cx="574675" cy="223837"/>
          </a:xfrm>
          <a:prstGeom prst="rect">
            <a:avLst/>
          </a:prstGeom>
          <a:solidFill>
            <a:schemeClr val="bg1"/>
          </a:solidFill>
          <a:ln w="19050">
            <a:solidFill>
              <a:schemeClr val="tx1"/>
            </a:solidFill>
            <a:miter lim="800000"/>
            <a:headEnd/>
            <a:tailEnd/>
          </a:ln>
        </p:spPr>
        <p:txBody>
          <a:bodyPr wrap="none"/>
          <a:lstStyle/>
          <a:p>
            <a:pPr eaLnBrk="0" hangingPunct="0">
              <a:lnSpc>
                <a:spcPct val="80000"/>
              </a:lnSpc>
              <a:spcBef>
                <a:spcPct val="0"/>
              </a:spcBef>
            </a:pPr>
            <a:r>
              <a:rPr kumimoji="0" lang="en-US" altLang="zh-CN" sz="1400">
                <a:latin typeface="Arial Narrow" pitchFamily="34" charset="0"/>
                <a:ea typeface="宋体" charset="-122"/>
              </a:rPr>
              <a:t>  3</a:t>
            </a:r>
          </a:p>
        </p:txBody>
      </p:sp>
      <p:sp>
        <p:nvSpPr>
          <p:cNvPr id="10297" name="Rectangle 60"/>
          <p:cNvSpPr>
            <a:spLocks noChangeArrowheads="1"/>
          </p:cNvSpPr>
          <p:nvPr/>
        </p:nvSpPr>
        <p:spPr bwMode="auto">
          <a:xfrm>
            <a:off x="3629025" y="6367463"/>
            <a:ext cx="574675" cy="223837"/>
          </a:xfrm>
          <a:prstGeom prst="rect">
            <a:avLst/>
          </a:prstGeom>
          <a:solidFill>
            <a:schemeClr val="bg1"/>
          </a:solidFill>
          <a:ln w="19050">
            <a:solidFill>
              <a:schemeClr val="tx1"/>
            </a:solidFill>
            <a:miter lim="800000"/>
            <a:headEnd/>
            <a:tailEnd/>
          </a:ln>
        </p:spPr>
        <p:txBody>
          <a:bodyPr wrap="none"/>
          <a:lstStyle/>
          <a:p>
            <a:pPr eaLnBrk="0" hangingPunct="0">
              <a:lnSpc>
                <a:spcPct val="80000"/>
              </a:lnSpc>
              <a:spcBef>
                <a:spcPct val="0"/>
              </a:spcBef>
            </a:pPr>
            <a:r>
              <a:rPr kumimoji="0" lang="en-US" altLang="zh-CN" sz="1400">
                <a:latin typeface="Arial Narrow" pitchFamily="34" charset="0"/>
                <a:ea typeface="宋体" charset="-122"/>
              </a:rPr>
              <a:t>  1</a:t>
            </a:r>
          </a:p>
        </p:txBody>
      </p:sp>
      <p:sp>
        <p:nvSpPr>
          <p:cNvPr id="14397" name="Oval 61"/>
          <p:cNvSpPr>
            <a:spLocks noChangeArrowheads="1"/>
          </p:cNvSpPr>
          <p:nvPr/>
        </p:nvSpPr>
        <p:spPr bwMode="auto">
          <a:xfrm>
            <a:off x="457200" y="4648200"/>
            <a:ext cx="1371600" cy="7620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extLst>
      <p:ext uri="{BB962C8B-B14F-4D97-AF65-F5344CB8AC3E}">
        <p14:creationId xmlns:p14="http://schemas.microsoft.com/office/powerpoint/2010/main" val="11790523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397"/>
                                        </p:tgtEl>
                                        <p:attrNameLst>
                                          <p:attrName>style.visibility</p:attrName>
                                        </p:attrNameLst>
                                      </p:cBhvr>
                                      <p:to>
                                        <p:strVal val="visible"/>
                                      </p:to>
                                    </p:set>
                                    <p:animEffect transition="in" filter="checkerboard(across)">
                                      <p:cBhvr>
                                        <p:cTn id="7" dur="500"/>
                                        <p:tgtEl>
                                          <p:spTgt spid="14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9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AutoShape 2"/>
          <p:cNvSpPr>
            <a:spLocks noChangeArrowheads="1"/>
          </p:cNvSpPr>
          <p:nvPr/>
        </p:nvSpPr>
        <p:spPr bwMode="auto">
          <a:xfrm>
            <a:off x="1371600" y="692150"/>
            <a:ext cx="7521575" cy="1260475"/>
          </a:xfrm>
          <a:prstGeom prst="roundRect">
            <a:avLst>
              <a:gd name="adj" fmla="val 16667"/>
            </a:avLst>
          </a:prstGeom>
          <a:solidFill>
            <a:srgbClr val="003366"/>
          </a:solidFill>
          <a:ln>
            <a:noFill/>
          </a:ln>
          <a:extLst>
            <a:ext uri="{91240B29-F687-4F45-9708-019B960494DF}">
              <a14:hiddenLine xmlns:a14="http://schemas.microsoft.com/office/drawing/2010/main" w="12700">
                <a:solidFill>
                  <a:srgbClr val="000000"/>
                </a:solidFill>
                <a:round/>
                <a:headEnd/>
                <a:tailEnd type="none" w="sm" len="med"/>
              </a14:hiddenLine>
            </a:ext>
          </a:extLst>
        </p:spPr>
        <p:txBody>
          <a:bodyPr lIns="0" tIns="0" rIns="0" bIns="0" anchor="ctr">
            <a:spAutoFit/>
          </a:bodyPr>
          <a:lstStyle/>
          <a:p>
            <a:endParaRPr lang="zh-CN" altLang="en-US"/>
          </a:p>
        </p:txBody>
      </p:sp>
      <p:sp>
        <p:nvSpPr>
          <p:cNvPr id="164867" name="Line 3"/>
          <p:cNvSpPr>
            <a:spLocks noChangeShapeType="1"/>
          </p:cNvSpPr>
          <p:nvPr/>
        </p:nvSpPr>
        <p:spPr bwMode="auto">
          <a:xfrm flipH="1" flipV="1">
            <a:off x="7129463" y="1665288"/>
            <a:ext cx="0" cy="719137"/>
          </a:xfrm>
          <a:prstGeom prst="line">
            <a:avLst/>
          </a:prstGeom>
          <a:noFill/>
          <a:ln w="12700">
            <a:solidFill>
              <a:srgbClr val="99CCFF"/>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64868" name="Line 4"/>
          <p:cNvSpPr>
            <a:spLocks noChangeShapeType="1"/>
          </p:cNvSpPr>
          <p:nvPr/>
        </p:nvSpPr>
        <p:spPr bwMode="auto">
          <a:xfrm flipV="1">
            <a:off x="2016125" y="1628775"/>
            <a:ext cx="3024188" cy="0"/>
          </a:xfrm>
          <a:prstGeom prst="line">
            <a:avLst/>
          </a:prstGeom>
          <a:noFill/>
          <a:ln w="12700">
            <a:solidFill>
              <a:schemeClr val="hlink"/>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64869" name="Text Box 5"/>
          <p:cNvSpPr txBox="1">
            <a:spLocks noChangeArrowheads="1"/>
          </p:cNvSpPr>
          <p:nvPr/>
        </p:nvSpPr>
        <p:spPr bwMode="auto">
          <a:xfrm>
            <a:off x="1979613" y="982663"/>
            <a:ext cx="67325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20000"/>
              </a:spcBef>
              <a:buSzPct val="75000"/>
              <a:buFont typeface="Wingdings" pitchFamily="2" charset="2"/>
              <a:buNone/>
            </a:pPr>
            <a:r>
              <a:rPr lang="zh-CN" altLang="en-US" sz="4000">
                <a:solidFill>
                  <a:schemeClr val="bg1"/>
                </a:solidFill>
                <a:latin typeface="Times New Roman" pitchFamily="18" charset="0"/>
              </a:rPr>
              <a:t>程序设计回顾及软件设计导论</a:t>
            </a:r>
          </a:p>
        </p:txBody>
      </p:sp>
      <p:sp>
        <p:nvSpPr>
          <p:cNvPr id="164871" name="Line 7"/>
          <p:cNvSpPr>
            <a:spLocks noChangeShapeType="1"/>
          </p:cNvSpPr>
          <p:nvPr/>
        </p:nvSpPr>
        <p:spPr bwMode="auto">
          <a:xfrm flipV="1">
            <a:off x="5580063" y="1628775"/>
            <a:ext cx="3024187" cy="0"/>
          </a:xfrm>
          <a:prstGeom prst="line">
            <a:avLst/>
          </a:prstGeom>
          <a:noFill/>
          <a:ln w="12700">
            <a:solidFill>
              <a:schemeClr val="hlink"/>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64872" name="Line 8"/>
          <p:cNvSpPr>
            <a:spLocks noChangeShapeType="1"/>
          </p:cNvSpPr>
          <p:nvPr/>
        </p:nvSpPr>
        <p:spPr bwMode="auto">
          <a:xfrm flipH="1" flipV="1">
            <a:off x="3556000" y="1665288"/>
            <a:ext cx="0" cy="719137"/>
          </a:xfrm>
          <a:prstGeom prst="line">
            <a:avLst/>
          </a:prstGeom>
          <a:noFill/>
          <a:ln w="12700">
            <a:solidFill>
              <a:srgbClr val="99CCFF"/>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pic>
        <p:nvPicPr>
          <p:cNvPr id="164873" name="Picture 9" descr="BD14579_"/>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0" y="5446713"/>
            <a:ext cx="611188"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876" name="AutoShape 12">
            <a:hlinkClick r:id="" action="ppaction://noaction" highlightClick="1"/>
          </p:cNvPr>
          <p:cNvSpPr>
            <a:spLocks noChangeArrowheads="1"/>
          </p:cNvSpPr>
          <p:nvPr/>
        </p:nvSpPr>
        <p:spPr bwMode="auto">
          <a:xfrm>
            <a:off x="5616575" y="2457450"/>
            <a:ext cx="3024188" cy="773113"/>
          </a:xfrm>
          <a:prstGeom prst="actionButtonBlank">
            <a:avLst/>
          </a:prstGeom>
          <a:solidFill>
            <a:srgbClr val="00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252000" tIns="108000" rIns="0" bIns="108000" anchor="ctr">
            <a:spAutoFit/>
          </a:bodyPr>
          <a:lstStyle/>
          <a:p>
            <a:pPr algn="l">
              <a:spcBef>
                <a:spcPct val="0"/>
              </a:spcBef>
              <a:buSzPct val="70000"/>
              <a:buFont typeface="Wingdings" pitchFamily="2" charset="2"/>
              <a:buNone/>
            </a:pPr>
            <a:r>
              <a:rPr lang="zh-CN" altLang="en-US" sz="3200">
                <a:solidFill>
                  <a:schemeClr val="bg1"/>
                </a:solidFill>
                <a:latin typeface="Times New Roman" pitchFamily="18" charset="0"/>
              </a:rPr>
              <a:t>软件设计含义</a:t>
            </a:r>
          </a:p>
        </p:txBody>
      </p:sp>
      <p:sp>
        <p:nvSpPr>
          <p:cNvPr id="164877" name="AutoShape 13">
            <a:hlinkClick r:id="" action="ppaction://noaction" highlightClick="1"/>
          </p:cNvPr>
          <p:cNvSpPr>
            <a:spLocks noChangeArrowheads="1"/>
          </p:cNvSpPr>
          <p:nvPr/>
        </p:nvSpPr>
        <p:spPr bwMode="auto">
          <a:xfrm>
            <a:off x="5616575" y="3284538"/>
            <a:ext cx="3024188" cy="773112"/>
          </a:xfrm>
          <a:prstGeom prst="actionButtonBlank">
            <a:avLst/>
          </a:prstGeom>
          <a:solidFill>
            <a:srgbClr val="00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252000" tIns="108000" rIns="0" bIns="108000" anchor="ctr">
            <a:spAutoFit/>
          </a:bodyPr>
          <a:lstStyle/>
          <a:p>
            <a:pPr algn="l">
              <a:spcBef>
                <a:spcPct val="0"/>
              </a:spcBef>
              <a:buSzPct val="70000"/>
              <a:buFont typeface="Wingdings" pitchFamily="2" charset="2"/>
              <a:buNone/>
            </a:pPr>
            <a:r>
              <a:rPr lang="zh-CN" altLang="en-US" sz="3200">
                <a:solidFill>
                  <a:schemeClr val="bg1"/>
                </a:solidFill>
                <a:latin typeface="Times New Roman" pitchFamily="18" charset="0"/>
              </a:rPr>
              <a:t>本书如何介绍</a:t>
            </a:r>
          </a:p>
        </p:txBody>
      </p:sp>
      <p:sp>
        <p:nvSpPr>
          <p:cNvPr id="164878" name="AutoShape 14">
            <a:hlinkClick r:id="rId3" action="ppaction://hlinksldjump" highlightClick="1"/>
          </p:cNvPr>
          <p:cNvSpPr>
            <a:spLocks noChangeArrowheads="1"/>
          </p:cNvSpPr>
          <p:nvPr/>
        </p:nvSpPr>
        <p:spPr bwMode="auto">
          <a:xfrm>
            <a:off x="5616575" y="4076700"/>
            <a:ext cx="3024188" cy="773113"/>
          </a:xfrm>
          <a:prstGeom prst="actionButtonBlank">
            <a:avLst/>
          </a:prstGeom>
          <a:solidFill>
            <a:srgbClr val="00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252000" tIns="108000" rIns="0" bIns="108000" anchor="ctr">
            <a:spAutoFit/>
          </a:bodyPr>
          <a:lstStyle/>
          <a:p>
            <a:pPr algn="l">
              <a:spcBef>
                <a:spcPct val="0"/>
              </a:spcBef>
              <a:buSzPct val="70000"/>
              <a:buFont typeface="Wingdings" pitchFamily="2" charset="2"/>
              <a:buNone/>
            </a:pPr>
            <a:r>
              <a:rPr lang="zh-CN" altLang="en-US" sz="3200">
                <a:solidFill>
                  <a:schemeClr val="bg1"/>
                </a:solidFill>
                <a:latin typeface="Times New Roman" pitchFamily="18" charset="0"/>
              </a:rPr>
              <a:t>软件设计目标</a:t>
            </a:r>
          </a:p>
        </p:txBody>
      </p:sp>
      <p:sp>
        <p:nvSpPr>
          <p:cNvPr id="164879" name="AutoShape 15">
            <a:hlinkClick r:id="rId4" action="ppaction://hlinksldjump" highlightClick="1"/>
          </p:cNvPr>
          <p:cNvSpPr>
            <a:spLocks noChangeArrowheads="1"/>
          </p:cNvSpPr>
          <p:nvPr/>
        </p:nvSpPr>
        <p:spPr bwMode="auto">
          <a:xfrm>
            <a:off x="5616575" y="4905375"/>
            <a:ext cx="3024188" cy="773113"/>
          </a:xfrm>
          <a:prstGeom prst="actionButtonBlank">
            <a:avLst/>
          </a:prstGeom>
          <a:solidFill>
            <a:srgbClr val="00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252000" tIns="108000" rIns="0" bIns="108000" anchor="ctr">
            <a:spAutoFit/>
          </a:bodyPr>
          <a:lstStyle/>
          <a:p>
            <a:pPr algn="l">
              <a:spcBef>
                <a:spcPct val="0"/>
              </a:spcBef>
              <a:buSzPct val="70000"/>
              <a:buFont typeface="Wingdings" pitchFamily="2" charset="2"/>
              <a:buNone/>
            </a:pPr>
            <a:r>
              <a:rPr lang="zh-CN" altLang="en-US" sz="3200">
                <a:solidFill>
                  <a:schemeClr val="bg1"/>
                </a:solidFill>
                <a:latin typeface="Times New Roman" pitchFamily="18" charset="0"/>
              </a:rPr>
              <a:t>软件设计符号</a:t>
            </a:r>
          </a:p>
        </p:txBody>
      </p:sp>
      <p:sp>
        <p:nvSpPr>
          <p:cNvPr id="164880" name="AutoShape 16">
            <a:hlinkClick r:id="" action="ppaction://noaction" highlightClick="1"/>
          </p:cNvPr>
          <p:cNvSpPr>
            <a:spLocks noChangeArrowheads="1"/>
          </p:cNvSpPr>
          <p:nvPr/>
        </p:nvSpPr>
        <p:spPr bwMode="auto">
          <a:xfrm>
            <a:off x="1871663" y="2457450"/>
            <a:ext cx="3421062" cy="773113"/>
          </a:xfrm>
          <a:prstGeom prst="actionButtonBlank">
            <a:avLst/>
          </a:prstGeom>
          <a:solidFill>
            <a:srgbClr val="00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252000" tIns="108000" rIns="0" bIns="108000" anchor="ctr">
            <a:spAutoFit/>
          </a:bodyPr>
          <a:lstStyle/>
          <a:p>
            <a:pPr algn="l">
              <a:spcBef>
                <a:spcPct val="0"/>
              </a:spcBef>
              <a:buSzPct val="70000"/>
              <a:buFont typeface="Wingdings" pitchFamily="2" charset="2"/>
              <a:buNone/>
            </a:pPr>
            <a:r>
              <a:rPr lang="zh-CN" altLang="en-US" sz="3200">
                <a:solidFill>
                  <a:schemeClr val="bg1"/>
                </a:solidFill>
                <a:latin typeface="Times New Roman" pitchFamily="18" charset="0"/>
              </a:rPr>
              <a:t>函数的说明文档</a:t>
            </a:r>
          </a:p>
        </p:txBody>
      </p:sp>
      <p:sp>
        <p:nvSpPr>
          <p:cNvPr id="164881" name="AutoShape 17">
            <a:hlinkClick r:id="" action="ppaction://noaction" highlightClick="1"/>
          </p:cNvPr>
          <p:cNvSpPr>
            <a:spLocks noChangeArrowheads="1"/>
          </p:cNvSpPr>
          <p:nvPr/>
        </p:nvSpPr>
        <p:spPr bwMode="auto">
          <a:xfrm>
            <a:off x="1870075" y="3268663"/>
            <a:ext cx="3419475" cy="773112"/>
          </a:xfrm>
          <a:prstGeom prst="actionButtonBlank">
            <a:avLst/>
          </a:prstGeom>
          <a:solidFill>
            <a:srgbClr val="00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252000" tIns="108000" rIns="0" bIns="108000" anchor="ctr">
            <a:spAutoFit/>
          </a:bodyPr>
          <a:lstStyle/>
          <a:p>
            <a:pPr algn="l">
              <a:spcBef>
                <a:spcPct val="0"/>
              </a:spcBef>
              <a:buSzPct val="70000"/>
              <a:buFont typeface="Wingdings" pitchFamily="2" charset="2"/>
              <a:buNone/>
            </a:pPr>
            <a:r>
              <a:rPr lang="zh-CN" altLang="en-US" sz="3200">
                <a:solidFill>
                  <a:schemeClr val="bg1"/>
                </a:solidFill>
                <a:latin typeface="Times New Roman" pitchFamily="18" charset="0"/>
              </a:rPr>
              <a:t>函数的编写习惯</a:t>
            </a:r>
          </a:p>
        </p:txBody>
      </p:sp>
    </p:spTree>
    <p:extLst>
      <p:ext uri="{BB962C8B-B14F-4D97-AF65-F5344CB8AC3E}">
        <p14:creationId xmlns:p14="http://schemas.microsoft.com/office/powerpoint/2010/main" val="22012067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4869"/>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164866"/>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4868"/>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4871"/>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64867"/>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64876"/>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64877"/>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64872"/>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64880"/>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64881"/>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64878"/>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64879"/>
                                        </p:tgtEl>
                                        <p:attrNameLst>
                                          <p:attrName>style.visibility</p:attrName>
                                        </p:attrNameLst>
                                      </p:cBhvr>
                                      <p:to>
                                        <p:strVal val="visible"/>
                                      </p:to>
                                    </p:set>
                                  </p:childTnLst>
                                </p:cTn>
                              </p:par>
                            </p:childTnLst>
                          </p:cTn>
                        </p:par>
                        <p:par>
                          <p:cTn id="50" fill="hold" nodeType="afterGroup">
                            <p:stCondLst>
                              <p:cond delay="0"/>
                            </p:stCondLst>
                            <p:childTnLst>
                              <p:par>
                                <p:cTn id="51" presetID="1" presetClass="entr" presetSubtype="0" fill="hold" nodeType="afterEffect">
                                  <p:stCondLst>
                                    <p:cond delay="500"/>
                                  </p:stCondLst>
                                  <p:childTnLst>
                                    <p:set>
                                      <p:cBhvr>
                                        <p:cTn id="52" dur="1" fill="hold">
                                          <p:stCondLst>
                                            <p:cond delay="0"/>
                                          </p:stCondLst>
                                        </p:cTn>
                                        <p:tgtEl>
                                          <p:spTgt spid="1648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6" grpId="0" animBg="1"/>
      <p:bldP spid="164867" grpId="0" animBg="1"/>
      <p:bldP spid="164868" grpId="0" animBg="1"/>
      <p:bldP spid="164869" grpId="0"/>
      <p:bldP spid="164871" grpId="0" animBg="1"/>
      <p:bldP spid="164872" grpId="0" animBg="1"/>
      <p:bldP spid="164876" grpId="0" animBg="1"/>
      <p:bldP spid="164877" grpId="0" animBg="1"/>
      <p:bldP spid="164878" grpId="0" animBg="1"/>
      <p:bldP spid="164879" grpId="0" animBg="1"/>
      <p:bldP spid="164880" grpId="0" animBg="1"/>
      <p:bldP spid="16488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228600"/>
            <a:ext cx="8229600" cy="1143000"/>
          </a:xfrm>
        </p:spPr>
        <p:txBody>
          <a:bodyPr/>
          <a:lstStyle/>
          <a:p>
            <a:pPr eaLnBrk="1" hangingPunct="1"/>
            <a:r>
              <a:rPr lang="zh-CN" altLang="en-US" b="1" smtClean="0">
                <a:solidFill>
                  <a:schemeClr val="accent2"/>
                </a:solidFill>
                <a:ea typeface="楷体_GB2312" pitchFamily="49" charset="-122"/>
              </a:rPr>
              <a:t>软件设计的含义</a:t>
            </a:r>
          </a:p>
        </p:txBody>
      </p:sp>
      <p:sp>
        <p:nvSpPr>
          <p:cNvPr id="12291" name="Rectangle 3"/>
          <p:cNvSpPr>
            <a:spLocks noGrp="1" noChangeArrowheads="1"/>
          </p:cNvSpPr>
          <p:nvPr>
            <p:ph type="body" idx="1"/>
          </p:nvPr>
        </p:nvSpPr>
        <p:spPr>
          <a:xfrm>
            <a:off x="304800" y="1219200"/>
            <a:ext cx="8458200" cy="5486400"/>
          </a:xfrm>
        </p:spPr>
        <p:txBody>
          <a:bodyPr/>
          <a:lstStyle/>
          <a:p>
            <a:pPr eaLnBrk="1" hangingPunct="1">
              <a:spcBef>
                <a:spcPct val="40000"/>
              </a:spcBef>
              <a:buFont typeface="Wingdings" pitchFamily="2" charset="2"/>
              <a:buChar char="Ø"/>
            </a:pPr>
            <a:r>
              <a:rPr lang="zh-CN" altLang="en-US" b="1" dirty="0" smtClean="0">
                <a:latin typeface="楷体_GB2312" pitchFamily="49" charset="-122"/>
                <a:ea typeface="楷体_GB2312" pitchFamily="49" charset="-122"/>
              </a:rPr>
              <a:t>表达的是应该怎样构造应用程序，描述所用到的各个部分，以及如何将它们组合起来。</a:t>
            </a:r>
          </a:p>
          <a:p>
            <a:pPr eaLnBrk="1" hangingPunct="1">
              <a:spcBef>
                <a:spcPct val="40000"/>
              </a:spcBef>
              <a:buFont typeface="Wingdings" pitchFamily="2" charset="2"/>
              <a:buChar char="Ø"/>
            </a:pPr>
            <a:r>
              <a:rPr lang="zh-CN" altLang="en-US" b="1" dirty="0" smtClean="0">
                <a:latin typeface="楷体_GB2312" pitchFamily="49" charset="-122"/>
                <a:ea typeface="楷体_GB2312" pitchFamily="49" charset="-122"/>
              </a:rPr>
              <a:t>是一套文档，通常是各种示意图以及对这些图的具体含义的解释。</a:t>
            </a:r>
          </a:p>
          <a:p>
            <a:pPr>
              <a:spcBef>
                <a:spcPct val="40000"/>
              </a:spcBef>
              <a:buFont typeface="Wingdings" pitchFamily="2" charset="2"/>
              <a:buChar char="Ø"/>
            </a:pPr>
            <a:r>
              <a:rPr lang="zh-CN" altLang="en-US" b="1" dirty="0" smtClean="0">
                <a:latin typeface="楷体_GB2312" pitchFamily="49" charset="-122"/>
                <a:ea typeface="楷体_GB2312" pitchFamily="49" charset="-122"/>
              </a:rPr>
              <a:t>在此基础上程序员能设计出软件应用程序</a:t>
            </a:r>
          </a:p>
          <a:p>
            <a:pPr eaLnBrk="1" hangingPunct="1">
              <a:spcBef>
                <a:spcPct val="40000"/>
              </a:spcBef>
              <a:buFont typeface="Wingdings" pitchFamily="2" charset="2"/>
              <a:buChar char="Ø"/>
            </a:pPr>
            <a:r>
              <a:rPr lang="zh-CN" altLang="en-US" b="1" dirty="0" smtClean="0">
                <a:latin typeface="楷体_GB2312" pitchFamily="49" charset="-122"/>
                <a:ea typeface="楷体_GB2312" pitchFamily="49" charset="-122"/>
              </a:rPr>
              <a:t>类似于建筑物的蓝图</a:t>
            </a:r>
          </a:p>
          <a:p>
            <a:pPr eaLnBrk="1" hangingPunct="1">
              <a:spcBef>
                <a:spcPct val="40000"/>
              </a:spcBef>
              <a:buFont typeface="Wingdings" pitchFamily="2" charset="2"/>
              <a:buChar char="Ø"/>
            </a:pPr>
            <a:r>
              <a:rPr lang="zh-CN" altLang="en-US" b="1" dirty="0" smtClean="0">
                <a:latin typeface="楷体_GB2312" pitchFamily="49" charset="-122"/>
                <a:ea typeface="楷体_GB2312" pitchFamily="49" charset="-122"/>
              </a:rPr>
              <a:t>从需求中产生，不包含代码</a:t>
            </a:r>
          </a:p>
          <a:p>
            <a:pPr eaLnBrk="1" hangingPunct="1">
              <a:spcBef>
                <a:spcPct val="40000"/>
              </a:spcBef>
              <a:buFont typeface="Wingdings" pitchFamily="2" charset="2"/>
              <a:buChar char="Ø"/>
            </a:pPr>
            <a:r>
              <a:rPr lang="en-US" altLang="zh-CN" b="1" dirty="0" smtClean="0">
                <a:latin typeface="楷体_GB2312" pitchFamily="49" charset="-122"/>
                <a:ea typeface="楷体_GB2312" pitchFamily="49" charset="-122"/>
              </a:rPr>
              <a:t>UML</a:t>
            </a:r>
            <a:r>
              <a:rPr lang="zh-CN" altLang="en-US" b="1" dirty="0" smtClean="0">
                <a:latin typeface="楷体_GB2312" pitchFamily="49" charset="-122"/>
                <a:ea typeface="楷体_GB2312" pitchFamily="49" charset="-122"/>
              </a:rPr>
              <a:t>是设计文档的一个非常有用的表示方法。</a:t>
            </a:r>
          </a:p>
        </p:txBody>
      </p:sp>
    </p:spTree>
    <p:extLst>
      <p:ext uri="{BB962C8B-B14F-4D97-AF65-F5344CB8AC3E}">
        <p14:creationId xmlns:p14="http://schemas.microsoft.com/office/powerpoint/2010/main" val="6568281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ext Box 2"/>
          <p:cNvSpPr txBox="1">
            <a:spLocks noChangeArrowheads="1"/>
          </p:cNvSpPr>
          <p:nvPr/>
        </p:nvSpPr>
        <p:spPr bwMode="auto">
          <a:xfrm>
            <a:off x="900113" y="1196975"/>
            <a:ext cx="2987675" cy="944563"/>
          </a:xfrm>
          <a:prstGeom prst="rect">
            <a:avLst/>
          </a:prstGeom>
          <a:noFill/>
          <a:ln w="12700">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252000" rIns="0" bIns="252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a:t>软件需求分析</a:t>
            </a:r>
          </a:p>
        </p:txBody>
      </p:sp>
      <p:sp>
        <p:nvSpPr>
          <p:cNvPr id="165891" name="Text Box 3"/>
          <p:cNvSpPr txBox="1">
            <a:spLocks noChangeArrowheads="1"/>
          </p:cNvSpPr>
          <p:nvPr/>
        </p:nvSpPr>
        <p:spPr bwMode="auto">
          <a:xfrm>
            <a:off x="935038" y="2457450"/>
            <a:ext cx="1404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2600"/>
              <a:t>软件需求</a:t>
            </a:r>
          </a:p>
        </p:txBody>
      </p:sp>
      <p:sp>
        <p:nvSpPr>
          <p:cNvPr id="165892" name="Text Box 4"/>
          <p:cNvSpPr txBox="1">
            <a:spLocks noChangeArrowheads="1"/>
          </p:cNvSpPr>
          <p:nvPr/>
        </p:nvSpPr>
        <p:spPr bwMode="auto">
          <a:xfrm>
            <a:off x="3384550" y="2744788"/>
            <a:ext cx="2663825" cy="944562"/>
          </a:xfrm>
          <a:prstGeom prst="rect">
            <a:avLst/>
          </a:prstGeom>
          <a:noFill/>
          <a:ln w="12700">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252000" rIns="0" bIns="252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a:t>软件设计</a:t>
            </a:r>
          </a:p>
        </p:txBody>
      </p:sp>
      <p:sp>
        <p:nvSpPr>
          <p:cNvPr id="165893" name="Text Box 5"/>
          <p:cNvSpPr txBox="1">
            <a:spLocks noChangeArrowheads="1"/>
          </p:cNvSpPr>
          <p:nvPr/>
        </p:nvSpPr>
        <p:spPr bwMode="auto">
          <a:xfrm>
            <a:off x="5580063" y="4284663"/>
            <a:ext cx="2663825" cy="944562"/>
          </a:xfrm>
          <a:prstGeom prst="rect">
            <a:avLst/>
          </a:prstGeom>
          <a:noFill/>
          <a:ln w="12700">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252000" rIns="0" bIns="252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a:t>软件实现</a:t>
            </a:r>
          </a:p>
        </p:txBody>
      </p:sp>
      <p:sp>
        <p:nvSpPr>
          <p:cNvPr id="165894" name="Line 6"/>
          <p:cNvSpPr>
            <a:spLocks noChangeShapeType="1"/>
          </p:cNvSpPr>
          <p:nvPr/>
        </p:nvSpPr>
        <p:spPr bwMode="auto">
          <a:xfrm flipV="1">
            <a:off x="2411413" y="3213100"/>
            <a:ext cx="938212"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65895" name="Line 7"/>
          <p:cNvSpPr>
            <a:spLocks noChangeShapeType="1"/>
          </p:cNvSpPr>
          <p:nvPr/>
        </p:nvSpPr>
        <p:spPr bwMode="auto">
          <a:xfrm>
            <a:off x="2411413" y="2168525"/>
            <a:ext cx="0" cy="10445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65896" name="Text Box 8"/>
          <p:cNvSpPr txBox="1">
            <a:spLocks noChangeArrowheads="1"/>
          </p:cNvSpPr>
          <p:nvPr/>
        </p:nvSpPr>
        <p:spPr bwMode="auto">
          <a:xfrm>
            <a:off x="3203575" y="4005263"/>
            <a:ext cx="15113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2600">
                <a:solidFill>
                  <a:srgbClr val="0000CC"/>
                </a:solidFill>
              </a:rPr>
              <a:t>软件设计</a:t>
            </a:r>
          </a:p>
        </p:txBody>
      </p:sp>
      <p:sp>
        <p:nvSpPr>
          <p:cNvPr id="165897" name="Line 9"/>
          <p:cNvSpPr>
            <a:spLocks noChangeShapeType="1"/>
          </p:cNvSpPr>
          <p:nvPr/>
        </p:nvSpPr>
        <p:spPr bwMode="auto">
          <a:xfrm flipV="1">
            <a:off x="4714875" y="4760913"/>
            <a:ext cx="82867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65898" name="Line 10"/>
          <p:cNvSpPr>
            <a:spLocks noChangeShapeType="1"/>
          </p:cNvSpPr>
          <p:nvPr/>
        </p:nvSpPr>
        <p:spPr bwMode="auto">
          <a:xfrm>
            <a:off x="4714875" y="3716338"/>
            <a:ext cx="0" cy="10445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Tree>
    <p:extLst>
      <p:ext uri="{BB962C8B-B14F-4D97-AF65-F5344CB8AC3E}">
        <p14:creationId xmlns:p14="http://schemas.microsoft.com/office/powerpoint/2010/main" val="12515160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89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589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589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5895"/>
                                        </p:tgtEl>
                                        <p:attrNameLst>
                                          <p:attrName>style.visibility</p:attrName>
                                        </p:attrNameLst>
                                      </p:cBhvr>
                                      <p:to>
                                        <p:strVal val="visible"/>
                                      </p:to>
                                    </p:set>
                                  </p:childTnLst>
                                </p:cTn>
                              </p:par>
                            </p:childTnLst>
                          </p:cTn>
                        </p:par>
                        <p:par>
                          <p:cTn id="19" fill="hold" nodeType="afterGroup">
                            <p:stCondLst>
                              <p:cond delay="0"/>
                            </p:stCondLst>
                            <p:childTnLst>
                              <p:par>
                                <p:cTn id="20" presetID="1" presetClass="entr" presetSubtype="0" fill="hold" grpId="0" nodeType="afterEffect">
                                  <p:stCondLst>
                                    <p:cond delay="500"/>
                                  </p:stCondLst>
                                  <p:childTnLst>
                                    <p:set>
                                      <p:cBhvr>
                                        <p:cTn id="21" dur="1" fill="hold">
                                          <p:stCondLst>
                                            <p:cond delay="0"/>
                                          </p:stCondLst>
                                        </p:cTn>
                                        <p:tgtEl>
                                          <p:spTgt spid="165894"/>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65891"/>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65898"/>
                                        </p:tgtEl>
                                        <p:attrNameLst>
                                          <p:attrName>style.visibility</p:attrName>
                                        </p:attrNameLst>
                                      </p:cBhvr>
                                      <p:to>
                                        <p:strVal val="visible"/>
                                      </p:to>
                                    </p:set>
                                  </p:childTnLst>
                                </p:cTn>
                              </p:par>
                            </p:childTnLst>
                          </p:cTn>
                        </p:par>
                        <p:par>
                          <p:cTn id="30" fill="hold" nodeType="afterGroup">
                            <p:stCondLst>
                              <p:cond delay="0"/>
                            </p:stCondLst>
                            <p:childTnLst>
                              <p:par>
                                <p:cTn id="31" presetID="1" presetClass="entr" presetSubtype="0" fill="hold" grpId="0" nodeType="afterEffect">
                                  <p:stCondLst>
                                    <p:cond delay="500"/>
                                  </p:stCondLst>
                                  <p:childTnLst>
                                    <p:set>
                                      <p:cBhvr>
                                        <p:cTn id="32" dur="1" fill="hold">
                                          <p:stCondLst>
                                            <p:cond delay="0"/>
                                          </p:stCondLst>
                                        </p:cTn>
                                        <p:tgtEl>
                                          <p:spTgt spid="165897"/>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58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0" grpId="0" animBg="1"/>
      <p:bldP spid="165891" grpId="0"/>
      <p:bldP spid="165892" grpId="0" animBg="1"/>
      <p:bldP spid="165893" grpId="0" animBg="1"/>
      <p:bldP spid="165894" grpId="0" animBg="1"/>
      <p:bldP spid="165895" grpId="0" animBg="1"/>
      <p:bldP spid="165896" grpId="0"/>
      <p:bldP spid="165897" grpId="0" animBg="1"/>
      <p:bldP spid="16589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ext Box 2"/>
          <p:cNvSpPr txBox="1">
            <a:spLocks noChangeArrowheads="1"/>
          </p:cNvSpPr>
          <p:nvPr/>
        </p:nvSpPr>
        <p:spPr bwMode="auto">
          <a:xfrm>
            <a:off x="6934200" y="4419600"/>
            <a:ext cx="1873250" cy="828675"/>
          </a:xfrm>
          <a:prstGeom prst="rect">
            <a:avLst/>
          </a:prstGeom>
          <a:noFill/>
          <a:ln w="12700">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180000" rIns="0" bIns="180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3000"/>
              <a:t>实现</a:t>
            </a:r>
          </a:p>
        </p:txBody>
      </p:sp>
      <p:sp>
        <p:nvSpPr>
          <p:cNvPr id="166915" name="Text Box 3"/>
          <p:cNvSpPr txBox="1">
            <a:spLocks noChangeArrowheads="1"/>
          </p:cNvSpPr>
          <p:nvPr/>
        </p:nvSpPr>
        <p:spPr bwMode="auto">
          <a:xfrm>
            <a:off x="2051050" y="2738438"/>
            <a:ext cx="1584325" cy="655637"/>
          </a:xfrm>
          <a:prstGeom prst="rect">
            <a:avLst/>
          </a:prstGeom>
          <a:noFill/>
          <a:ln w="12700">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108000" rIns="0" bIns="108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a:t>框架</a:t>
            </a:r>
          </a:p>
        </p:txBody>
      </p:sp>
      <p:sp>
        <p:nvSpPr>
          <p:cNvPr id="166916" name="Text Box 4"/>
          <p:cNvSpPr txBox="1">
            <a:spLocks noChangeArrowheads="1"/>
          </p:cNvSpPr>
          <p:nvPr/>
        </p:nvSpPr>
        <p:spPr bwMode="auto">
          <a:xfrm>
            <a:off x="152400" y="838200"/>
            <a:ext cx="1946275" cy="828675"/>
          </a:xfrm>
          <a:prstGeom prst="rect">
            <a:avLst/>
          </a:prstGeom>
          <a:noFill/>
          <a:ln w="12700">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180000" rIns="0" bIns="180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3000"/>
              <a:t>需求分析</a:t>
            </a:r>
          </a:p>
        </p:txBody>
      </p:sp>
      <p:sp>
        <p:nvSpPr>
          <p:cNvPr id="166917" name="Text Box 5"/>
          <p:cNvSpPr txBox="1">
            <a:spLocks noChangeArrowheads="1"/>
          </p:cNvSpPr>
          <p:nvPr/>
        </p:nvSpPr>
        <p:spPr bwMode="auto">
          <a:xfrm>
            <a:off x="3743325" y="2746375"/>
            <a:ext cx="1665288" cy="655638"/>
          </a:xfrm>
          <a:prstGeom prst="rect">
            <a:avLst/>
          </a:prstGeom>
          <a:noFill/>
          <a:ln w="12700">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108000" rIns="0" bIns="108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a:t>体系结构</a:t>
            </a:r>
          </a:p>
        </p:txBody>
      </p:sp>
      <p:sp>
        <p:nvSpPr>
          <p:cNvPr id="166918" name="Text Box 6"/>
          <p:cNvSpPr txBox="1">
            <a:spLocks noChangeArrowheads="1"/>
          </p:cNvSpPr>
          <p:nvPr/>
        </p:nvSpPr>
        <p:spPr bwMode="auto">
          <a:xfrm>
            <a:off x="5508625" y="2747963"/>
            <a:ext cx="1620838" cy="655637"/>
          </a:xfrm>
          <a:prstGeom prst="rect">
            <a:avLst/>
          </a:prstGeom>
          <a:noFill/>
          <a:ln w="12700">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108000" rIns="0" bIns="108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a:t>详细设计</a:t>
            </a:r>
          </a:p>
        </p:txBody>
      </p:sp>
      <p:sp>
        <p:nvSpPr>
          <p:cNvPr id="166919" name="Rectangle 7"/>
          <p:cNvSpPr>
            <a:spLocks noChangeArrowheads="1"/>
          </p:cNvSpPr>
          <p:nvPr/>
        </p:nvSpPr>
        <p:spPr bwMode="auto">
          <a:xfrm>
            <a:off x="1835150" y="2168525"/>
            <a:ext cx="5543550" cy="1368425"/>
          </a:xfrm>
          <a:prstGeom prst="rect">
            <a:avLst/>
          </a:prstGeom>
          <a:noFill/>
          <a:ln w="38100">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zh-CN" altLang="en-US"/>
          </a:p>
        </p:txBody>
      </p:sp>
      <p:sp>
        <p:nvSpPr>
          <p:cNvPr id="14344" name="Text Box 8"/>
          <p:cNvSpPr txBox="1">
            <a:spLocks noChangeArrowheads="1"/>
          </p:cNvSpPr>
          <p:nvPr/>
        </p:nvSpPr>
        <p:spPr bwMode="auto">
          <a:xfrm>
            <a:off x="4105275" y="2216150"/>
            <a:ext cx="971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3000">
                <a:solidFill>
                  <a:schemeClr val="tx2"/>
                </a:solidFill>
              </a:rPr>
              <a:t>设计</a:t>
            </a:r>
          </a:p>
        </p:txBody>
      </p:sp>
      <p:sp>
        <p:nvSpPr>
          <p:cNvPr id="166921" name="Line 9"/>
          <p:cNvSpPr>
            <a:spLocks noChangeShapeType="1"/>
          </p:cNvSpPr>
          <p:nvPr/>
        </p:nvSpPr>
        <p:spPr bwMode="auto">
          <a:xfrm flipV="1">
            <a:off x="4572000" y="981075"/>
            <a:ext cx="0" cy="1260475"/>
          </a:xfrm>
          <a:prstGeom prst="line">
            <a:avLst/>
          </a:prstGeom>
          <a:noFill/>
          <a:ln w="12700">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66922" name="Line 10"/>
          <p:cNvSpPr>
            <a:spLocks noChangeShapeType="1"/>
          </p:cNvSpPr>
          <p:nvPr/>
        </p:nvSpPr>
        <p:spPr bwMode="auto">
          <a:xfrm>
            <a:off x="4572000" y="981075"/>
            <a:ext cx="539750" cy="0"/>
          </a:xfrm>
          <a:prstGeom prst="line">
            <a:avLst/>
          </a:prstGeom>
          <a:noFill/>
          <a:ln w="12700">
            <a:solidFill>
              <a:schemeClr val="tx1"/>
            </a:solidFill>
            <a:round/>
            <a:headEnd/>
            <a:tailEnd type="none" w="sm" len="med"/>
          </a:ln>
          <a:extLst>
            <a:ext uri="{909E8E84-426E-40DD-AFC4-6F175D3DCCD1}">
              <a14:hiddenFill xmlns:a14="http://schemas.microsoft.com/office/drawing/2010/main">
                <a:noFill/>
              </a14:hiddenFill>
            </a:ext>
          </a:extLst>
        </p:spPr>
        <p:txBody>
          <a:bodyPr wrap="none" lIns="0" tIns="0" rIns="0" bIns="0" anchor="ctr">
            <a:spAutoFit/>
          </a:bodyPr>
          <a:lstStyle/>
          <a:p>
            <a:endParaRPr lang="zh-CN" altLang="en-US"/>
          </a:p>
        </p:txBody>
      </p:sp>
      <p:sp>
        <p:nvSpPr>
          <p:cNvPr id="166923" name="Text Box 11"/>
          <p:cNvSpPr txBox="1">
            <a:spLocks noChangeArrowheads="1"/>
          </p:cNvSpPr>
          <p:nvPr/>
        </p:nvSpPr>
        <p:spPr bwMode="auto">
          <a:xfrm>
            <a:off x="5219700" y="512763"/>
            <a:ext cx="1871663"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5000"/>
              </a:spcBef>
            </a:pPr>
            <a:r>
              <a:rPr lang="zh-CN" altLang="en-US" sz="2600">
                <a:latin typeface="Times New Roman" pitchFamily="18" charset="0"/>
                <a:ea typeface="宋体" charset="-122"/>
              </a:rPr>
              <a:t>原则</a:t>
            </a:r>
          </a:p>
          <a:p>
            <a:pPr algn="l" eaLnBrk="1" hangingPunct="1">
              <a:spcBef>
                <a:spcPct val="5000"/>
              </a:spcBef>
            </a:pPr>
            <a:r>
              <a:rPr lang="zh-CN" altLang="en-US" sz="2600">
                <a:latin typeface="Times New Roman" pitchFamily="18" charset="0"/>
                <a:ea typeface="宋体" charset="-122"/>
              </a:rPr>
              <a:t>工具</a:t>
            </a:r>
            <a:r>
              <a:rPr lang="en-US" altLang="zh-CN" sz="2600">
                <a:latin typeface="Times New Roman" pitchFamily="18" charset="0"/>
                <a:ea typeface="宋体" charset="-122"/>
              </a:rPr>
              <a:t>: UML</a:t>
            </a:r>
          </a:p>
        </p:txBody>
      </p:sp>
      <p:sp>
        <p:nvSpPr>
          <p:cNvPr id="166924" name="Line 12"/>
          <p:cNvSpPr>
            <a:spLocks noChangeShapeType="1"/>
          </p:cNvSpPr>
          <p:nvPr/>
        </p:nvSpPr>
        <p:spPr bwMode="auto">
          <a:xfrm flipV="1">
            <a:off x="4572000" y="3321050"/>
            <a:ext cx="0" cy="719138"/>
          </a:xfrm>
          <a:prstGeom prst="line">
            <a:avLst/>
          </a:prstGeom>
          <a:noFill/>
          <a:ln w="12700">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66925" name="Text Box 13"/>
          <p:cNvSpPr txBox="1">
            <a:spLocks noChangeArrowheads="1"/>
          </p:cNvSpPr>
          <p:nvPr/>
        </p:nvSpPr>
        <p:spPr bwMode="auto">
          <a:xfrm>
            <a:off x="3743325" y="4078288"/>
            <a:ext cx="2484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5000"/>
              </a:spcBef>
            </a:pPr>
            <a:r>
              <a:rPr lang="zh-CN" altLang="en-US" sz="2600">
                <a:latin typeface="Times New Roman" pitchFamily="18" charset="0"/>
                <a:ea typeface="宋体" charset="-122"/>
              </a:rPr>
              <a:t>组件 </a:t>
            </a:r>
            <a:r>
              <a:rPr lang="en-US" altLang="zh-CN" sz="2600">
                <a:latin typeface="Times New Roman" pitchFamily="18" charset="0"/>
                <a:ea typeface="宋体" charset="-122"/>
              </a:rPr>
              <a:t>+ </a:t>
            </a:r>
            <a:r>
              <a:rPr lang="zh-CN" altLang="en-US" sz="2600">
                <a:latin typeface="Times New Roman" pitchFamily="18" charset="0"/>
                <a:ea typeface="宋体" charset="-122"/>
              </a:rPr>
              <a:t>组件关系 </a:t>
            </a:r>
          </a:p>
        </p:txBody>
      </p:sp>
      <p:sp>
        <p:nvSpPr>
          <p:cNvPr id="166926" name="Line 14"/>
          <p:cNvSpPr>
            <a:spLocks noChangeShapeType="1"/>
          </p:cNvSpPr>
          <p:nvPr/>
        </p:nvSpPr>
        <p:spPr bwMode="auto">
          <a:xfrm flipV="1">
            <a:off x="4572000" y="4546600"/>
            <a:ext cx="0" cy="900113"/>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66927" name="Text Box 15"/>
          <p:cNvSpPr txBox="1">
            <a:spLocks noChangeArrowheads="1"/>
          </p:cNvSpPr>
          <p:nvPr/>
        </p:nvSpPr>
        <p:spPr bwMode="auto">
          <a:xfrm>
            <a:off x="4643438" y="4797425"/>
            <a:ext cx="162083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5000"/>
              </a:spcBef>
            </a:pPr>
            <a:r>
              <a:rPr lang="zh-CN" altLang="en-US" sz="2200">
                <a:latin typeface="仿宋_GB2312" pitchFamily="49" charset="-122"/>
                <a:ea typeface="仿宋_GB2312" pitchFamily="49" charset="-122"/>
              </a:rPr>
              <a:t>可重用类型</a:t>
            </a:r>
            <a:r>
              <a:rPr lang="zh-CN" altLang="en-US" sz="2200">
                <a:solidFill>
                  <a:srgbClr val="CCFFFF"/>
                </a:solidFill>
                <a:latin typeface="仿宋_GB2312" pitchFamily="49" charset="-122"/>
                <a:ea typeface="仿宋_GB2312" pitchFamily="49" charset="-122"/>
              </a:rPr>
              <a:t> </a:t>
            </a:r>
          </a:p>
        </p:txBody>
      </p:sp>
      <p:sp>
        <p:nvSpPr>
          <p:cNvPr id="166928" name="Text Box 16"/>
          <p:cNvSpPr txBox="1">
            <a:spLocks noChangeArrowheads="1"/>
          </p:cNvSpPr>
          <p:nvPr/>
        </p:nvSpPr>
        <p:spPr bwMode="auto">
          <a:xfrm>
            <a:off x="3779838" y="5481638"/>
            <a:ext cx="15843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spcBef>
                <a:spcPct val="5000"/>
              </a:spcBef>
            </a:pPr>
            <a:r>
              <a:rPr lang="zh-CN" altLang="en-US" sz="2600">
                <a:latin typeface="Times New Roman" pitchFamily="18" charset="0"/>
                <a:ea typeface="宋体" charset="-122"/>
              </a:rPr>
              <a:t>设计模式 </a:t>
            </a:r>
          </a:p>
        </p:txBody>
      </p:sp>
      <p:sp>
        <p:nvSpPr>
          <p:cNvPr id="166929" name="Line 17"/>
          <p:cNvSpPr>
            <a:spLocks noChangeShapeType="1"/>
          </p:cNvSpPr>
          <p:nvPr/>
        </p:nvSpPr>
        <p:spPr bwMode="auto">
          <a:xfrm flipV="1">
            <a:off x="1979613" y="3286125"/>
            <a:ext cx="828675" cy="468313"/>
          </a:xfrm>
          <a:prstGeom prst="line">
            <a:avLst/>
          </a:prstGeom>
          <a:noFill/>
          <a:ln w="12700">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66930" name="Text Box 18"/>
          <p:cNvSpPr txBox="1">
            <a:spLocks noChangeArrowheads="1"/>
          </p:cNvSpPr>
          <p:nvPr/>
        </p:nvSpPr>
        <p:spPr bwMode="auto">
          <a:xfrm>
            <a:off x="1368425" y="4078288"/>
            <a:ext cx="2159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5000"/>
              </a:spcBef>
            </a:pPr>
            <a:r>
              <a:rPr lang="zh-CN" altLang="en-US" sz="2600">
                <a:latin typeface="Times New Roman" pitchFamily="18" charset="0"/>
                <a:ea typeface="宋体" charset="-122"/>
              </a:rPr>
              <a:t>类 </a:t>
            </a:r>
            <a:r>
              <a:rPr lang="en-US" altLang="zh-CN" sz="2600">
                <a:latin typeface="Times New Roman" pitchFamily="18" charset="0"/>
                <a:ea typeface="宋体" charset="-122"/>
              </a:rPr>
              <a:t>+ </a:t>
            </a:r>
            <a:r>
              <a:rPr lang="zh-CN" altLang="en-US" sz="2600">
                <a:latin typeface="Times New Roman" pitchFamily="18" charset="0"/>
                <a:ea typeface="宋体" charset="-122"/>
              </a:rPr>
              <a:t>类间算法 </a:t>
            </a:r>
          </a:p>
        </p:txBody>
      </p:sp>
      <p:sp>
        <p:nvSpPr>
          <p:cNvPr id="166931" name="Line 19"/>
          <p:cNvSpPr>
            <a:spLocks noChangeShapeType="1"/>
          </p:cNvSpPr>
          <p:nvPr/>
        </p:nvSpPr>
        <p:spPr bwMode="auto">
          <a:xfrm flipV="1">
            <a:off x="1908175" y="3754438"/>
            <a:ext cx="71438" cy="287337"/>
          </a:xfrm>
          <a:prstGeom prst="line">
            <a:avLst/>
          </a:prstGeom>
          <a:noFill/>
          <a:ln w="12700">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66932" name="Line 20"/>
          <p:cNvSpPr>
            <a:spLocks noChangeShapeType="1"/>
          </p:cNvSpPr>
          <p:nvPr/>
        </p:nvSpPr>
        <p:spPr bwMode="auto">
          <a:xfrm>
            <a:off x="6192838" y="1341438"/>
            <a:ext cx="539750" cy="360362"/>
          </a:xfrm>
          <a:prstGeom prst="line">
            <a:avLst/>
          </a:prstGeom>
          <a:noFill/>
          <a:ln w="12700">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66933" name="Line 21"/>
          <p:cNvSpPr>
            <a:spLocks noChangeShapeType="1"/>
          </p:cNvSpPr>
          <p:nvPr/>
        </p:nvSpPr>
        <p:spPr bwMode="auto">
          <a:xfrm flipV="1">
            <a:off x="6300788" y="1773238"/>
            <a:ext cx="431800" cy="936625"/>
          </a:xfrm>
          <a:prstGeom prst="line">
            <a:avLst/>
          </a:prstGeom>
          <a:noFill/>
          <a:ln w="12700">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66934" name="Text Box 22"/>
          <p:cNvSpPr txBox="1">
            <a:spLocks noChangeArrowheads="1"/>
          </p:cNvSpPr>
          <p:nvPr/>
        </p:nvSpPr>
        <p:spPr bwMode="auto">
          <a:xfrm>
            <a:off x="6804025" y="1485900"/>
            <a:ext cx="151288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2600" dirty="0">
                <a:solidFill>
                  <a:schemeClr val="folHlink"/>
                </a:solidFill>
                <a:latin typeface="宋体" charset="-122"/>
                <a:ea typeface="宋体" charset="-122"/>
              </a:rPr>
              <a:t>第一部分</a:t>
            </a:r>
          </a:p>
        </p:txBody>
      </p:sp>
      <p:sp>
        <p:nvSpPr>
          <p:cNvPr id="166935" name="Line 23"/>
          <p:cNvSpPr>
            <a:spLocks noChangeShapeType="1"/>
          </p:cNvSpPr>
          <p:nvPr/>
        </p:nvSpPr>
        <p:spPr bwMode="auto">
          <a:xfrm flipV="1">
            <a:off x="5329238" y="5697538"/>
            <a:ext cx="576262" cy="0"/>
          </a:xfrm>
          <a:prstGeom prst="line">
            <a:avLst/>
          </a:prstGeom>
          <a:noFill/>
          <a:ln w="12700">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66936" name="Text Box 24"/>
          <p:cNvSpPr txBox="1">
            <a:spLocks noChangeArrowheads="1"/>
          </p:cNvSpPr>
          <p:nvPr/>
        </p:nvSpPr>
        <p:spPr bwMode="auto">
          <a:xfrm>
            <a:off x="5868988" y="5446713"/>
            <a:ext cx="1512887"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2600">
                <a:solidFill>
                  <a:schemeClr val="folHlink"/>
                </a:solidFill>
                <a:latin typeface="宋体" charset="-122"/>
                <a:ea typeface="宋体" charset="-122"/>
              </a:rPr>
              <a:t>第二部分</a:t>
            </a:r>
          </a:p>
        </p:txBody>
      </p:sp>
      <p:sp>
        <p:nvSpPr>
          <p:cNvPr id="166938" name="Text Box 26"/>
          <p:cNvSpPr txBox="1">
            <a:spLocks noChangeArrowheads="1"/>
          </p:cNvSpPr>
          <p:nvPr/>
        </p:nvSpPr>
        <p:spPr bwMode="auto">
          <a:xfrm>
            <a:off x="1187450" y="4833937"/>
            <a:ext cx="1512888"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2600">
                <a:solidFill>
                  <a:schemeClr val="folHlink"/>
                </a:solidFill>
                <a:latin typeface="宋体" charset="-122"/>
                <a:ea typeface="宋体" charset="-122"/>
              </a:rPr>
              <a:t>第三部分</a:t>
            </a:r>
          </a:p>
        </p:txBody>
      </p:sp>
      <p:sp>
        <p:nvSpPr>
          <p:cNvPr id="166939" name="Line 27"/>
          <p:cNvSpPr>
            <a:spLocks noChangeShapeType="1"/>
          </p:cNvSpPr>
          <p:nvPr/>
        </p:nvSpPr>
        <p:spPr bwMode="auto">
          <a:xfrm flipH="1" flipV="1">
            <a:off x="1871663" y="4473575"/>
            <a:ext cx="0" cy="323850"/>
          </a:xfrm>
          <a:prstGeom prst="line">
            <a:avLst/>
          </a:prstGeom>
          <a:noFill/>
          <a:ln w="12700">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Tree>
    <p:extLst>
      <p:ext uri="{BB962C8B-B14F-4D97-AF65-F5344CB8AC3E}">
        <p14:creationId xmlns:p14="http://schemas.microsoft.com/office/powerpoint/2010/main" val="30568696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691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691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691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691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691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691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6921"/>
                                        </p:tgtEl>
                                        <p:attrNameLst>
                                          <p:attrName>style.visibility</p:attrName>
                                        </p:attrNameLst>
                                      </p:cBhvr>
                                      <p:to>
                                        <p:strVal val="visible"/>
                                      </p:to>
                                    </p:set>
                                  </p:childTnLst>
                                </p:cTn>
                              </p:par>
                            </p:childTnLst>
                          </p:cTn>
                        </p:par>
                        <p:par>
                          <p:cTn id="31" fill="hold" nodeType="afterGroup">
                            <p:stCondLst>
                              <p:cond delay="0"/>
                            </p:stCondLst>
                            <p:childTnLst>
                              <p:par>
                                <p:cTn id="32" presetID="1" presetClass="entr" presetSubtype="0" fill="hold" grpId="0" nodeType="afterEffect">
                                  <p:stCondLst>
                                    <p:cond delay="500"/>
                                  </p:stCondLst>
                                  <p:childTnLst>
                                    <p:set>
                                      <p:cBhvr>
                                        <p:cTn id="33" dur="1" fill="hold">
                                          <p:stCondLst>
                                            <p:cond delay="0"/>
                                          </p:stCondLst>
                                        </p:cTn>
                                        <p:tgtEl>
                                          <p:spTgt spid="166922"/>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66923">
                                            <p:txEl>
                                              <p:pRg st="0" end="0"/>
                                            </p:txEl>
                                          </p:spTgt>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66923">
                                            <p:txEl>
                                              <p:pRg st="1" end="1"/>
                                            </p:txEl>
                                          </p:spTgt>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66924"/>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66925"/>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66926"/>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66927"/>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66928"/>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66929"/>
                                        </p:tgtEl>
                                        <p:attrNameLst>
                                          <p:attrName>style.visibility</p:attrName>
                                        </p:attrNameLst>
                                      </p:cBhvr>
                                      <p:to>
                                        <p:strVal val="visible"/>
                                      </p:to>
                                    </p:set>
                                  </p:childTnLst>
                                </p:cTn>
                              </p:par>
                            </p:childTnLst>
                          </p:cTn>
                        </p:par>
                        <p:par>
                          <p:cTn id="66" fill="hold" nodeType="afterGroup">
                            <p:stCondLst>
                              <p:cond delay="0"/>
                            </p:stCondLst>
                            <p:childTnLst>
                              <p:par>
                                <p:cTn id="67" presetID="1" presetClass="entr" presetSubtype="0" fill="hold" grpId="0" nodeType="afterEffect">
                                  <p:stCondLst>
                                    <p:cond delay="500"/>
                                  </p:stCondLst>
                                  <p:childTnLst>
                                    <p:set>
                                      <p:cBhvr>
                                        <p:cTn id="68" dur="1" fill="hold">
                                          <p:stCondLst>
                                            <p:cond delay="0"/>
                                          </p:stCondLst>
                                        </p:cTn>
                                        <p:tgtEl>
                                          <p:spTgt spid="166931"/>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66930"/>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66932"/>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66933"/>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66934"/>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66935"/>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66936"/>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66938"/>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669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animBg="1"/>
      <p:bldP spid="166915" grpId="0" animBg="1"/>
      <p:bldP spid="166916" grpId="0" animBg="1"/>
      <p:bldP spid="166917" grpId="0" animBg="1"/>
      <p:bldP spid="166918" grpId="0" animBg="1"/>
      <p:bldP spid="166919" grpId="0" animBg="1"/>
      <p:bldP spid="166921" grpId="0" animBg="1"/>
      <p:bldP spid="166922" grpId="0" animBg="1"/>
      <p:bldP spid="166923" grpId="0" build="p"/>
      <p:bldP spid="166924" grpId="0" animBg="1"/>
      <p:bldP spid="166925" grpId="0"/>
      <p:bldP spid="166926" grpId="0" animBg="1"/>
      <p:bldP spid="166927" grpId="0"/>
      <p:bldP spid="166928" grpId="0"/>
      <p:bldP spid="166929" grpId="0" animBg="1"/>
      <p:bldP spid="166930" grpId="0"/>
      <p:bldP spid="166931" grpId="0" animBg="1"/>
      <p:bldP spid="166932" grpId="0" animBg="1"/>
      <p:bldP spid="166933" grpId="0" animBg="1"/>
      <p:bldP spid="166934" grpId="0"/>
      <p:bldP spid="166935" grpId="0" animBg="1"/>
      <p:bldP spid="166936" grpId="0"/>
      <p:bldP spid="166938" grpId="0"/>
      <p:bldP spid="16693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903" y="1268760"/>
            <a:ext cx="9573455" cy="3416320"/>
          </a:xfrm>
          <a:prstGeom prst="rect">
            <a:avLst/>
          </a:prstGeom>
          <a:noFill/>
        </p:spPr>
        <p:txBody>
          <a:bodyPr wrap="none" rtlCol="0">
            <a:spAutoFit/>
          </a:bodyPr>
          <a:lstStyle/>
          <a:p>
            <a:r>
              <a:rPr lang="zh-CN" altLang="en-US" sz="2400" dirty="0" smtClean="0">
                <a:solidFill>
                  <a:srgbClr val="FF0000"/>
                </a:solidFill>
              </a:rPr>
              <a:t>以前</a:t>
            </a:r>
            <a:r>
              <a:rPr lang="zh-CN" altLang="en-US" sz="2400" dirty="0" smtClean="0"/>
              <a:t>学到的软件设计过程涉及到的知识，目的：</a:t>
            </a:r>
            <a:endParaRPr lang="en-US" altLang="zh-CN" sz="2400" dirty="0" smtClean="0"/>
          </a:p>
          <a:p>
            <a:r>
              <a:rPr lang="en-US" altLang="zh-CN" sz="2400" dirty="0" smtClean="0"/>
              <a:t>1</a:t>
            </a:r>
            <a:r>
              <a:rPr lang="zh-CN" altLang="en-US" sz="2400" dirty="0" smtClean="0"/>
              <a:t>）使得程序清晰，具有较好的可读性；</a:t>
            </a:r>
            <a:endParaRPr lang="en-US" altLang="zh-CN" sz="2400" dirty="0" smtClean="0"/>
          </a:p>
          <a:p>
            <a:r>
              <a:rPr lang="en-US" altLang="zh-CN" sz="2400" dirty="0" smtClean="0"/>
              <a:t>2</a:t>
            </a:r>
            <a:r>
              <a:rPr lang="zh-CN" altLang="en-US" sz="2400" dirty="0" smtClean="0"/>
              <a:t>）使得我们更容易写出好的程序代码；</a:t>
            </a:r>
            <a:endParaRPr lang="en-US" altLang="zh-CN" sz="2400" dirty="0" smtClean="0"/>
          </a:p>
          <a:p>
            <a:r>
              <a:rPr lang="en-US" altLang="zh-CN" sz="2400" dirty="0" smtClean="0"/>
              <a:t>3</a:t>
            </a:r>
            <a:r>
              <a:rPr lang="zh-CN" altLang="en-US" sz="2400" dirty="0" smtClean="0"/>
              <a:t>）使得软件具有较好的可维护性；</a:t>
            </a:r>
            <a:endParaRPr lang="en-US" altLang="zh-CN" sz="2400" dirty="0" smtClean="0"/>
          </a:p>
          <a:p>
            <a:r>
              <a:rPr lang="en-US" altLang="zh-CN" sz="2400" dirty="0" smtClean="0"/>
              <a:t>4</a:t>
            </a:r>
            <a:r>
              <a:rPr lang="zh-CN" altLang="en-US" sz="2400" dirty="0" smtClean="0"/>
              <a:t>）使得软件维护过程中，尽可能容易的修改；</a:t>
            </a:r>
            <a:endParaRPr lang="en-US" altLang="zh-CN" sz="2400" dirty="0" smtClean="0"/>
          </a:p>
          <a:p>
            <a:r>
              <a:rPr lang="en-US" altLang="zh-CN" sz="2400" dirty="0" smtClean="0"/>
              <a:t>5</a:t>
            </a:r>
            <a:r>
              <a:rPr lang="zh-CN" altLang="en-US" sz="2400" dirty="0" smtClean="0"/>
              <a:t>）使得软件维护过程中，尽可能少修改已有代码；</a:t>
            </a:r>
            <a:endParaRPr lang="en-US" altLang="zh-CN" sz="2400" dirty="0" smtClean="0"/>
          </a:p>
          <a:p>
            <a:r>
              <a:rPr lang="en-US" altLang="zh-CN" sz="2400" dirty="0" smtClean="0"/>
              <a:t>6</a:t>
            </a:r>
            <a:r>
              <a:rPr lang="zh-CN" altLang="en-US" sz="2400" dirty="0" smtClean="0"/>
              <a:t>）使得软件维护过程中，尽可能少的引入新的错误；</a:t>
            </a:r>
            <a:endParaRPr lang="en-US" altLang="zh-CN" sz="2400" dirty="0" smtClean="0"/>
          </a:p>
          <a:p>
            <a:r>
              <a:rPr lang="en-US" altLang="zh-CN" sz="2400" dirty="0" smtClean="0"/>
              <a:t>7</a:t>
            </a:r>
            <a:r>
              <a:rPr lang="zh-CN" altLang="en-US" sz="2400" dirty="0" smtClean="0"/>
              <a:t>）使得软件维护过程中，如果有错误，尽可能容易发现并改正错误；</a:t>
            </a:r>
            <a:endParaRPr lang="en-US" altLang="zh-CN" sz="2400" dirty="0" smtClean="0"/>
          </a:p>
          <a:p>
            <a:r>
              <a:rPr lang="zh-CN" altLang="en-US" sz="2400" dirty="0" smtClean="0"/>
              <a:t>。。。。。</a:t>
            </a:r>
            <a:endParaRPr lang="zh-CN" altLang="en-US" sz="2400" dirty="0"/>
          </a:p>
        </p:txBody>
      </p:sp>
      <p:sp>
        <p:nvSpPr>
          <p:cNvPr id="3" name="TextBox 2"/>
          <p:cNvSpPr txBox="1"/>
          <p:nvPr/>
        </p:nvSpPr>
        <p:spPr>
          <a:xfrm>
            <a:off x="0" y="5373215"/>
            <a:ext cx="8802410" cy="461665"/>
          </a:xfrm>
          <a:prstGeom prst="rect">
            <a:avLst/>
          </a:prstGeom>
          <a:noFill/>
        </p:spPr>
        <p:txBody>
          <a:bodyPr wrap="none" rtlCol="0">
            <a:spAutoFit/>
          </a:bodyPr>
          <a:lstStyle/>
          <a:p>
            <a:r>
              <a:rPr lang="zh-CN" altLang="en-US" sz="2400" dirty="0" smtClean="0"/>
              <a:t>为了达到上述效果，我们学习并应用了很多的知识规则，例如：</a:t>
            </a:r>
            <a:endParaRPr lang="zh-CN" altLang="en-US" sz="2400" dirty="0"/>
          </a:p>
        </p:txBody>
      </p:sp>
    </p:spTree>
    <p:extLst>
      <p:ext uri="{BB962C8B-B14F-4D97-AF65-F5344CB8AC3E}">
        <p14:creationId xmlns:p14="http://schemas.microsoft.com/office/powerpoint/2010/main" val="23660180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Text Box 3"/>
          <p:cNvSpPr txBox="1">
            <a:spLocks noChangeArrowheads="1"/>
          </p:cNvSpPr>
          <p:nvPr/>
        </p:nvSpPr>
        <p:spPr bwMode="auto">
          <a:xfrm>
            <a:off x="863600" y="1901825"/>
            <a:ext cx="38528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4000">
                <a:latin typeface="Times New Roman" pitchFamily="18" charset="0"/>
                <a:ea typeface="宋体" charset="-122"/>
              </a:rPr>
              <a:t>函数的说明文档</a:t>
            </a:r>
          </a:p>
        </p:txBody>
      </p:sp>
      <p:sp>
        <p:nvSpPr>
          <p:cNvPr id="167940" name="Line 4"/>
          <p:cNvSpPr>
            <a:spLocks noChangeShapeType="1"/>
          </p:cNvSpPr>
          <p:nvPr/>
        </p:nvSpPr>
        <p:spPr bwMode="auto">
          <a:xfrm flipV="1">
            <a:off x="1081088" y="2528888"/>
            <a:ext cx="3455987" cy="0"/>
          </a:xfrm>
          <a:prstGeom prst="line">
            <a:avLst/>
          </a:prstGeom>
          <a:noFill/>
          <a:ln w="12700">
            <a:solidFill>
              <a:schemeClr val="hlink"/>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67942" name="AutoShape 6">
            <a:hlinkClick r:id="" action="ppaction://noaction" highlightClick="1"/>
          </p:cNvPr>
          <p:cNvSpPr>
            <a:spLocks noChangeArrowheads="1"/>
          </p:cNvSpPr>
          <p:nvPr/>
        </p:nvSpPr>
        <p:spPr bwMode="auto">
          <a:xfrm>
            <a:off x="8424863" y="6524625"/>
            <a:ext cx="684212" cy="296863"/>
          </a:xfrm>
          <a:prstGeom prst="actionButtonBlank">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67943" name="AutoShape 7">
            <a:hlinkClick r:id="" action="ppaction://noaction" highlightClick="1"/>
          </p:cNvPr>
          <p:cNvSpPr>
            <a:spLocks noChangeArrowheads="1"/>
          </p:cNvSpPr>
          <p:nvPr/>
        </p:nvSpPr>
        <p:spPr bwMode="auto">
          <a:xfrm>
            <a:off x="2060575" y="3063875"/>
            <a:ext cx="2762250" cy="842963"/>
          </a:xfrm>
          <a:prstGeom prst="actionButtonBlank">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252000" tIns="108000" rIns="0" bIns="108000" anchor="ctr">
            <a:spAutoFit/>
          </a:bodyPr>
          <a:lstStyle/>
          <a:p>
            <a:pPr algn="l">
              <a:spcBef>
                <a:spcPct val="0"/>
              </a:spcBef>
              <a:buSzPct val="70000"/>
              <a:buFont typeface="Wingdings" pitchFamily="2" charset="2"/>
              <a:buChar char="n"/>
            </a:pPr>
            <a:r>
              <a:rPr lang="en-US" altLang="zh-CN" sz="3600">
                <a:latin typeface="Times New Roman" pitchFamily="18" charset="0"/>
                <a:ea typeface="宋体" charset="-122"/>
              </a:rPr>
              <a:t> </a:t>
            </a:r>
            <a:r>
              <a:rPr lang="zh-CN" altLang="en-US" sz="3600">
                <a:latin typeface="Times New Roman" pitchFamily="18" charset="0"/>
                <a:ea typeface="宋体" charset="-122"/>
              </a:rPr>
              <a:t>编码标准</a:t>
            </a:r>
          </a:p>
        </p:txBody>
      </p:sp>
      <p:sp>
        <p:nvSpPr>
          <p:cNvPr id="167944" name="AutoShape 8">
            <a:hlinkClick r:id="" action="ppaction://noaction" highlightClick="1"/>
          </p:cNvPr>
          <p:cNvSpPr>
            <a:spLocks noChangeArrowheads="1"/>
          </p:cNvSpPr>
          <p:nvPr/>
        </p:nvSpPr>
        <p:spPr bwMode="auto">
          <a:xfrm>
            <a:off x="2055813" y="3954463"/>
            <a:ext cx="2768600" cy="842962"/>
          </a:xfrm>
          <a:prstGeom prst="actionButtonBlank">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252000" tIns="108000" rIns="0" bIns="108000" anchor="ctr">
            <a:spAutoFit/>
          </a:bodyPr>
          <a:lstStyle/>
          <a:p>
            <a:pPr algn="l">
              <a:spcBef>
                <a:spcPct val="0"/>
              </a:spcBef>
              <a:buSzPct val="70000"/>
              <a:buFont typeface="Wingdings" pitchFamily="2" charset="2"/>
              <a:buChar char="n"/>
            </a:pPr>
            <a:r>
              <a:rPr lang="en-US" altLang="zh-CN" sz="3600">
                <a:latin typeface="Times New Roman" pitchFamily="18" charset="0"/>
                <a:ea typeface="宋体" charset="-122"/>
              </a:rPr>
              <a:t> </a:t>
            </a:r>
            <a:r>
              <a:rPr lang="zh-CN" altLang="en-US" sz="3600">
                <a:latin typeface="Times New Roman" pitchFamily="18" charset="0"/>
                <a:ea typeface="宋体" charset="-122"/>
              </a:rPr>
              <a:t>分类注释</a:t>
            </a:r>
          </a:p>
        </p:txBody>
      </p:sp>
      <p:sp>
        <p:nvSpPr>
          <p:cNvPr id="167945" name="AutoShape 9">
            <a:hlinkClick r:id="" action="ppaction://noaction" highlightClick="1"/>
          </p:cNvPr>
          <p:cNvSpPr>
            <a:spLocks noChangeArrowheads="1"/>
          </p:cNvSpPr>
          <p:nvPr/>
        </p:nvSpPr>
        <p:spPr bwMode="auto">
          <a:xfrm>
            <a:off x="2057400" y="4818063"/>
            <a:ext cx="2767013" cy="842962"/>
          </a:xfrm>
          <a:prstGeom prst="actionButtonBlank">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252000" tIns="108000" rIns="0" bIns="108000" anchor="ctr">
            <a:spAutoFit/>
          </a:bodyPr>
          <a:lstStyle/>
          <a:p>
            <a:pPr algn="l">
              <a:spcBef>
                <a:spcPct val="0"/>
              </a:spcBef>
              <a:buSzPct val="70000"/>
              <a:buFont typeface="Wingdings" pitchFamily="2" charset="2"/>
              <a:buChar char="n"/>
            </a:pPr>
            <a:r>
              <a:rPr lang="en-US" altLang="zh-CN" sz="3600">
                <a:latin typeface="Times New Roman" pitchFamily="18" charset="0"/>
                <a:ea typeface="宋体" charset="-122"/>
              </a:rPr>
              <a:t> </a:t>
            </a:r>
            <a:r>
              <a:rPr lang="zh-CN" altLang="en-US" sz="3600">
                <a:latin typeface="Times New Roman" pitchFamily="18" charset="0"/>
                <a:ea typeface="宋体" charset="-122"/>
              </a:rPr>
              <a:t>分析规范</a:t>
            </a:r>
          </a:p>
        </p:txBody>
      </p:sp>
    </p:spTree>
    <p:extLst>
      <p:ext uri="{BB962C8B-B14F-4D97-AF65-F5344CB8AC3E}">
        <p14:creationId xmlns:p14="http://schemas.microsoft.com/office/powerpoint/2010/main" val="37940228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7939"/>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67940"/>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7943"/>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7944"/>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67945"/>
                                        </p:tgtEl>
                                        <p:attrNameLst>
                                          <p:attrName>style.visibility</p:attrName>
                                        </p:attrNameLst>
                                      </p:cBhvr>
                                      <p:to>
                                        <p:strVal val="visible"/>
                                      </p:to>
                                    </p:set>
                                  </p:childTnLst>
                                </p:cTn>
                              </p:par>
                            </p:childTnLst>
                          </p:cTn>
                        </p:par>
                        <p:par>
                          <p:cTn id="22" fill="hold" nodeType="afterGroup">
                            <p:stCondLst>
                              <p:cond delay="0"/>
                            </p:stCondLst>
                            <p:childTnLst>
                              <p:par>
                                <p:cTn id="23" presetID="1" presetClass="entr" presetSubtype="0" fill="hold" grpId="0" nodeType="afterEffect">
                                  <p:stCondLst>
                                    <p:cond delay="0"/>
                                  </p:stCondLst>
                                  <p:childTnLst>
                                    <p:set>
                                      <p:cBhvr>
                                        <p:cTn id="24" dur="1" fill="hold">
                                          <p:stCondLst>
                                            <p:cond delay="499"/>
                                          </p:stCondLst>
                                        </p:cTn>
                                        <p:tgtEl>
                                          <p:spTgt spid="1679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p:bldP spid="167940" grpId="0" animBg="1"/>
      <p:bldP spid="167942" grpId="0" animBg="1"/>
      <p:bldP spid="167943" grpId="0" animBg="1"/>
      <p:bldP spid="167944" grpId="0" animBg="1"/>
      <p:bldP spid="16794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ext Box 2"/>
          <p:cNvSpPr txBox="1">
            <a:spLocks noChangeArrowheads="1"/>
          </p:cNvSpPr>
          <p:nvPr/>
        </p:nvSpPr>
        <p:spPr bwMode="auto">
          <a:xfrm>
            <a:off x="611188" y="811213"/>
            <a:ext cx="4824412"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363538" indent="-363538"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30000"/>
              </a:spcBef>
              <a:buClr>
                <a:srgbClr val="CCFFFF"/>
              </a:buClr>
              <a:buSzPct val="70000"/>
              <a:buFont typeface="Wingdings" pitchFamily="2" charset="2"/>
              <a:buChar char="n"/>
            </a:pPr>
            <a:r>
              <a:rPr lang="zh-CN" altLang="en-US" sz="3200">
                <a:solidFill>
                  <a:srgbClr val="0000CC"/>
                </a:solidFill>
                <a:latin typeface="Times New Roman" pitchFamily="18" charset="0"/>
                <a:ea typeface="宋体" charset="-122"/>
              </a:rPr>
              <a:t>实例变量通过</a:t>
            </a:r>
            <a:r>
              <a:rPr lang="en-US" altLang="zh-CN" sz="3200">
                <a:solidFill>
                  <a:srgbClr val="0000CC"/>
                </a:solidFill>
                <a:latin typeface="Times New Roman" pitchFamily="18" charset="0"/>
                <a:ea typeface="宋体" charset="-122"/>
              </a:rPr>
              <a:t>this.</a:t>
            </a:r>
            <a:r>
              <a:rPr lang="zh-CN" altLang="en-US" sz="3200">
                <a:solidFill>
                  <a:srgbClr val="0000CC"/>
                </a:solidFill>
                <a:latin typeface="Times New Roman" pitchFamily="18" charset="0"/>
                <a:ea typeface="宋体" charset="-122"/>
              </a:rPr>
              <a:t>引用</a:t>
            </a:r>
          </a:p>
        </p:txBody>
      </p:sp>
      <p:sp>
        <p:nvSpPr>
          <p:cNvPr id="16387" name="Rectangle 3"/>
          <p:cNvSpPr>
            <a:spLocks noChangeArrowheads="1"/>
          </p:cNvSpPr>
          <p:nvPr/>
        </p:nvSpPr>
        <p:spPr bwMode="auto">
          <a:xfrm>
            <a:off x="287338" y="415925"/>
            <a:ext cx="8677275" cy="5329238"/>
          </a:xfrm>
          <a:prstGeom prst="rect">
            <a:avLst/>
          </a:prstGeom>
          <a:noFill/>
          <a:ln w="12700">
            <a:solidFill>
              <a:srgbClr val="99CCFF"/>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zh-CN" altLang="en-US"/>
          </a:p>
        </p:txBody>
      </p:sp>
      <p:sp>
        <p:nvSpPr>
          <p:cNvPr id="16388" name="Text Box 4"/>
          <p:cNvSpPr txBox="1">
            <a:spLocks noChangeArrowheads="1"/>
          </p:cNvSpPr>
          <p:nvPr/>
        </p:nvSpPr>
        <p:spPr bwMode="auto">
          <a:xfrm>
            <a:off x="2124075" y="6032500"/>
            <a:ext cx="4968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3000">
                <a:latin typeface="Times New Roman" pitchFamily="18" charset="0"/>
                <a:ea typeface="华文细黑" pitchFamily="2" charset="-122"/>
              </a:rPr>
              <a:t>本书使用的编码标准</a:t>
            </a:r>
          </a:p>
        </p:txBody>
      </p:sp>
      <p:sp>
        <p:nvSpPr>
          <p:cNvPr id="168965" name="Text Box 5"/>
          <p:cNvSpPr txBox="1">
            <a:spLocks noChangeArrowheads="1"/>
          </p:cNvSpPr>
          <p:nvPr/>
        </p:nvSpPr>
        <p:spPr bwMode="auto">
          <a:xfrm>
            <a:off x="1116013" y="1387475"/>
            <a:ext cx="115093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30000"/>
              </a:spcBef>
              <a:buClr>
                <a:srgbClr val="CCFFFF"/>
              </a:buClr>
              <a:buSzPct val="70000"/>
              <a:buFont typeface="Wingdings" pitchFamily="2" charset="2"/>
              <a:buNone/>
            </a:pPr>
            <a:r>
              <a:rPr lang="zh-CN" altLang="en-US">
                <a:latin typeface="Times New Roman" pitchFamily="18" charset="0"/>
                <a:ea typeface="宋体" charset="-122"/>
              </a:rPr>
              <a:t>例如：</a:t>
            </a:r>
          </a:p>
        </p:txBody>
      </p:sp>
      <p:sp>
        <p:nvSpPr>
          <p:cNvPr id="168966" name="Text Box 6"/>
          <p:cNvSpPr txBox="1">
            <a:spLocks noChangeArrowheads="1"/>
          </p:cNvSpPr>
          <p:nvPr/>
        </p:nvSpPr>
        <p:spPr bwMode="auto">
          <a:xfrm>
            <a:off x="2195513" y="1374775"/>
            <a:ext cx="6119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30000"/>
              </a:spcBef>
              <a:buClr>
                <a:srgbClr val="CCFFFF"/>
              </a:buClr>
              <a:buSzPct val="70000"/>
              <a:buFont typeface="Wingdings" pitchFamily="2" charset="2"/>
              <a:buNone/>
            </a:pPr>
            <a:r>
              <a:rPr lang="en-US" altLang="zh-CN" sz="3000">
                <a:latin typeface="Times New Roman" pitchFamily="18" charset="0"/>
                <a:ea typeface="宋体" charset="-122"/>
              </a:rPr>
              <a:t>class Car { int milesDriven; … }</a:t>
            </a:r>
          </a:p>
        </p:txBody>
      </p:sp>
      <p:sp>
        <p:nvSpPr>
          <p:cNvPr id="168967" name="Text Box 7"/>
          <p:cNvSpPr txBox="1">
            <a:spLocks noChangeArrowheads="1"/>
          </p:cNvSpPr>
          <p:nvPr/>
        </p:nvSpPr>
        <p:spPr bwMode="auto">
          <a:xfrm>
            <a:off x="1116013" y="1868488"/>
            <a:ext cx="115093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30000"/>
              </a:spcBef>
              <a:buClr>
                <a:srgbClr val="CCFFFF"/>
              </a:buClr>
              <a:buSzPct val="70000"/>
              <a:buFont typeface="Wingdings" pitchFamily="2" charset="2"/>
              <a:buNone/>
            </a:pPr>
            <a:r>
              <a:rPr lang="zh-CN" altLang="en-US">
                <a:latin typeface="Times New Roman" pitchFamily="18" charset="0"/>
                <a:ea typeface="宋体" charset="-122"/>
              </a:rPr>
              <a:t>引用：</a:t>
            </a:r>
          </a:p>
        </p:txBody>
      </p:sp>
      <p:sp>
        <p:nvSpPr>
          <p:cNvPr id="168968" name="Text Box 8"/>
          <p:cNvSpPr txBox="1">
            <a:spLocks noChangeArrowheads="1"/>
          </p:cNvSpPr>
          <p:nvPr/>
        </p:nvSpPr>
        <p:spPr bwMode="auto">
          <a:xfrm>
            <a:off x="2232025" y="1855788"/>
            <a:ext cx="3203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30000"/>
              </a:spcBef>
              <a:buClr>
                <a:srgbClr val="CCFFFF"/>
              </a:buClr>
              <a:buSzPct val="70000"/>
              <a:buFont typeface="Wingdings" pitchFamily="2" charset="2"/>
              <a:buNone/>
            </a:pPr>
            <a:r>
              <a:rPr lang="en-US" altLang="zh-CN" sz="3000">
                <a:latin typeface="Times New Roman" pitchFamily="18" charset="0"/>
                <a:ea typeface="宋体" charset="-122"/>
              </a:rPr>
              <a:t>this.milesDriven</a:t>
            </a:r>
          </a:p>
        </p:txBody>
      </p:sp>
      <p:sp>
        <p:nvSpPr>
          <p:cNvPr id="168969" name="Text Box 9"/>
          <p:cNvSpPr txBox="1">
            <a:spLocks noChangeArrowheads="1"/>
          </p:cNvSpPr>
          <p:nvPr/>
        </p:nvSpPr>
        <p:spPr bwMode="auto">
          <a:xfrm>
            <a:off x="611188" y="2519363"/>
            <a:ext cx="4824412"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363538" indent="-363538"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30000"/>
              </a:spcBef>
              <a:buClr>
                <a:srgbClr val="CCFFFF"/>
              </a:buClr>
              <a:buSzPct val="70000"/>
              <a:buFont typeface="Wingdings" pitchFamily="2" charset="2"/>
              <a:buChar char="n"/>
            </a:pPr>
            <a:r>
              <a:rPr lang="zh-CN" altLang="en-US" sz="3200">
                <a:solidFill>
                  <a:srgbClr val="0000CC"/>
                </a:solidFill>
                <a:latin typeface="Times New Roman" pitchFamily="18" charset="0"/>
                <a:ea typeface="宋体" charset="-122"/>
              </a:rPr>
              <a:t>静态变量通过类名引用</a:t>
            </a:r>
          </a:p>
        </p:txBody>
      </p:sp>
      <p:sp>
        <p:nvSpPr>
          <p:cNvPr id="168970" name="Text Box 10"/>
          <p:cNvSpPr txBox="1">
            <a:spLocks noChangeArrowheads="1"/>
          </p:cNvSpPr>
          <p:nvPr/>
        </p:nvSpPr>
        <p:spPr bwMode="auto">
          <a:xfrm>
            <a:off x="1117600" y="3127375"/>
            <a:ext cx="1150938"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30000"/>
              </a:spcBef>
              <a:buClr>
                <a:srgbClr val="CCFFFF"/>
              </a:buClr>
              <a:buSzPct val="70000"/>
              <a:buFont typeface="Wingdings" pitchFamily="2" charset="2"/>
              <a:buNone/>
            </a:pPr>
            <a:r>
              <a:rPr lang="zh-CN" altLang="en-US">
                <a:latin typeface="Times New Roman" pitchFamily="18" charset="0"/>
                <a:ea typeface="宋体" charset="-122"/>
              </a:rPr>
              <a:t>例如：</a:t>
            </a:r>
          </a:p>
        </p:txBody>
      </p:sp>
      <p:sp>
        <p:nvSpPr>
          <p:cNvPr id="168971" name="Text Box 11"/>
          <p:cNvSpPr txBox="1">
            <a:spLocks noChangeArrowheads="1"/>
          </p:cNvSpPr>
          <p:nvPr/>
        </p:nvSpPr>
        <p:spPr bwMode="auto">
          <a:xfrm>
            <a:off x="2195513" y="3114675"/>
            <a:ext cx="669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30000"/>
              </a:spcBef>
              <a:buClr>
                <a:srgbClr val="CCFFFF"/>
              </a:buClr>
              <a:buSzPct val="70000"/>
              <a:buFont typeface="Wingdings" pitchFamily="2" charset="2"/>
              <a:buNone/>
            </a:pPr>
            <a:r>
              <a:rPr lang="en-US" altLang="zh-CN" sz="3000">
                <a:latin typeface="Times New Roman" pitchFamily="18" charset="0"/>
                <a:ea typeface="宋体" charset="-122"/>
              </a:rPr>
              <a:t>class Car { Static int numCarsSold; … }</a:t>
            </a:r>
          </a:p>
        </p:txBody>
      </p:sp>
      <p:sp>
        <p:nvSpPr>
          <p:cNvPr id="168972" name="Text Box 12"/>
          <p:cNvSpPr txBox="1">
            <a:spLocks noChangeArrowheads="1"/>
          </p:cNvSpPr>
          <p:nvPr/>
        </p:nvSpPr>
        <p:spPr bwMode="auto">
          <a:xfrm>
            <a:off x="1117600" y="3644900"/>
            <a:ext cx="1150938"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30000"/>
              </a:spcBef>
              <a:buClr>
                <a:srgbClr val="CCFFFF"/>
              </a:buClr>
              <a:buSzPct val="70000"/>
              <a:buFont typeface="Wingdings" pitchFamily="2" charset="2"/>
              <a:buNone/>
            </a:pPr>
            <a:r>
              <a:rPr lang="zh-CN" altLang="en-US">
                <a:latin typeface="Times New Roman" pitchFamily="18" charset="0"/>
                <a:ea typeface="宋体" charset="-122"/>
              </a:rPr>
              <a:t>引用：</a:t>
            </a:r>
          </a:p>
        </p:txBody>
      </p:sp>
      <p:sp>
        <p:nvSpPr>
          <p:cNvPr id="168973" name="Text Box 13"/>
          <p:cNvSpPr txBox="1">
            <a:spLocks noChangeArrowheads="1"/>
          </p:cNvSpPr>
          <p:nvPr/>
        </p:nvSpPr>
        <p:spPr bwMode="auto">
          <a:xfrm>
            <a:off x="2195513" y="3632200"/>
            <a:ext cx="3203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30000"/>
              </a:spcBef>
              <a:buClr>
                <a:srgbClr val="CCFFFF"/>
              </a:buClr>
              <a:buSzPct val="70000"/>
              <a:buFont typeface="Wingdings" pitchFamily="2" charset="2"/>
              <a:buNone/>
            </a:pPr>
            <a:r>
              <a:rPr lang="en-US" altLang="zh-CN" sz="3000">
                <a:latin typeface="Times New Roman" pitchFamily="18" charset="0"/>
                <a:ea typeface="宋体" charset="-122"/>
              </a:rPr>
              <a:t>Car.numCarsSold</a:t>
            </a:r>
          </a:p>
        </p:txBody>
      </p:sp>
      <p:sp>
        <p:nvSpPr>
          <p:cNvPr id="168974" name="Text Box 14"/>
          <p:cNvSpPr txBox="1">
            <a:spLocks noChangeArrowheads="1"/>
          </p:cNvSpPr>
          <p:nvPr/>
        </p:nvSpPr>
        <p:spPr bwMode="auto">
          <a:xfrm>
            <a:off x="611188" y="4267200"/>
            <a:ext cx="507682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363538" indent="-363538"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30000"/>
              </a:spcBef>
              <a:buClr>
                <a:srgbClr val="CCFFFF"/>
              </a:buClr>
              <a:buSzPct val="70000"/>
              <a:buFont typeface="Wingdings" pitchFamily="2" charset="2"/>
              <a:buChar char="n"/>
            </a:pPr>
            <a:r>
              <a:rPr lang="zh-CN" altLang="en-US" sz="3200">
                <a:solidFill>
                  <a:srgbClr val="0000CC"/>
                </a:solidFill>
                <a:latin typeface="Times New Roman" pitchFamily="18" charset="0"/>
                <a:ea typeface="宋体" charset="-122"/>
              </a:rPr>
              <a:t>参数前加前缀</a:t>
            </a:r>
            <a:r>
              <a:rPr lang="en-US" altLang="zh-CN" sz="3200">
                <a:solidFill>
                  <a:srgbClr val="0000CC"/>
                </a:solidFill>
                <a:latin typeface="Times New Roman" pitchFamily="18" charset="0"/>
                <a:ea typeface="宋体" charset="-122"/>
              </a:rPr>
              <a:t>a/an</a:t>
            </a:r>
          </a:p>
        </p:txBody>
      </p:sp>
      <p:sp>
        <p:nvSpPr>
          <p:cNvPr id="168975" name="Text Box 15"/>
          <p:cNvSpPr txBox="1">
            <a:spLocks noChangeArrowheads="1"/>
          </p:cNvSpPr>
          <p:nvPr/>
        </p:nvSpPr>
        <p:spPr bwMode="auto">
          <a:xfrm>
            <a:off x="1116013" y="4856163"/>
            <a:ext cx="115093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30000"/>
              </a:spcBef>
              <a:buClr>
                <a:srgbClr val="CCFFFF"/>
              </a:buClr>
              <a:buSzPct val="70000"/>
              <a:buFont typeface="Wingdings" pitchFamily="2" charset="2"/>
              <a:buNone/>
            </a:pPr>
            <a:r>
              <a:rPr lang="zh-CN" altLang="en-US">
                <a:latin typeface="Times New Roman" pitchFamily="18" charset="0"/>
                <a:ea typeface="宋体" charset="-122"/>
              </a:rPr>
              <a:t>例如：</a:t>
            </a:r>
          </a:p>
        </p:txBody>
      </p:sp>
      <p:sp>
        <p:nvSpPr>
          <p:cNvPr id="168976" name="Text Box 16"/>
          <p:cNvSpPr txBox="1">
            <a:spLocks noChangeArrowheads="1"/>
          </p:cNvSpPr>
          <p:nvPr/>
        </p:nvSpPr>
        <p:spPr bwMode="auto">
          <a:xfrm>
            <a:off x="2195513" y="4843463"/>
            <a:ext cx="669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30000"/>
              </a:spcBef>
              <a:buClr>
                <a:srgbClr val="CCFFFF"/>
              </a:buClr>
              <a:buSzPct val="70000"/>
              <a:buFont typeface="Wingdings" pitchFamily="2" charset="2"/>
              <a:buNone/>
            </a:pPr>
            <a:r>
              <a:rPr lang="en-US" altLang="zh-CN" sz="3000">
                <a:latin typeface="Times New Roman" pitchFamily="18" charset="0"/>
                <a:ea typeface="宋体" charset="-122"/>
              </a:rPr>
              <a:t>public </a:t>
            </a:r>
            <a:r>
              <a:rPr lang="en-US" altLang="zh-CN" sz="3000">
                <a:latin typeface="Times New Roman" pitchFamily="18" charset="0"/>
              </a:rPr>
              <a:t>…</a:t>
            </a:r>
            <a:r>
              <a:rPr lang="en-US" altLang="zh-CN" sz="3000">
                <a:latin typeface="Times New Roman" pitchFamily="18" charset="0"/>
                <a:ea typeface="宋体" charset="-122"/>
              </a:rPr>
              <a:t> getVolume(int aLength){ … }</a:t>
            </a:r>
          </a:p>
        </p:txBody>
      </p:sp>
    </p:spTree>
    <p:extLst>
      <p:ext uri="{BB962C8B-B14F-4D97-AF65-F5344CB8AC3E}">
        <p14:creationId xmlns:p14="http://schemas.microsoft.com/office/powerpoint/2010/main" val="25806556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896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8969">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8974">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8965">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iterate type="lt">
                                    <p:tmAbs val="250"/>
                                  </p:iterate>
                                  <p:childTnLst>
                                    <p:set>
                                      <p:cBhvr>
                                        <p:cTn id="22" dur="1" fill="hold">
                                          <p:stCondLst>
                                            <p:cond delay="0"/>
                                          </p:stCondLst>
                                        </p:cTn>
                                        <p:tgtEl>
                                          <p:spTgt spid="168966">
                                            <p:txEl>
                                              <p:pRg st="0" end="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8967">
                                            <p:txEl>
                                              <p:pRg st="0" end="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iterate type="lt">
                                    <p:tmAbs val="250"/>
                                  </p:iterate>
                                  <p:childTnLst>
                                    <p:set>
                                      <p:cBhvr>
                                        <p:cTn id="30" dur="1" fill="hold">
                                          <p:stCondLst>
                                            <p:cond delay="0"/>
                                          </p:stCondLst>
                                        </p:cTn>
                                        <p:tgtEl>
                                          <p:spTgt spid="168968">
                                            <p:txEl>
                                              <p:pRg st="0" end="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8970">
                                            <p:txEl>
                                              <p:pRg st="0" end="0"/>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iterate type="lt">
                                    <p:tmAbs val="250"/>
                                  </p:iterate>
                                  <p:childTnLst>
                                    <p:set>
                                      <p:cBhvr>
                                        <p:cTn id="38" dur="1" fill="hold">
                                          <p:stCondLst>
                                            <p:cond delay="0"/>
                                          </p:stCondLst>
                                        </p:cTn>
                                        <p:tgtEl>
                                          <p:spTgt spid="168971">
                                            <p:txEl>
                                              <p:pRg st="0" end="0"/>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8972">
                                            <p:txEl>
                                              <p:pRg st="0" end="0"/>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iterate type="lt">
                                    <p:tmAbs val="250"/>
                                  </p:iterate>
                                  <p:childTnLst>
                                    <p:set>
                                      <p:cBhvr>
                                        <p:cTn id="46" dur="1" fill="hold">
                                          <p:stCondLst>
                                            <p:cond delay="0"/>
                                          </p:stCondLst>
                                        </p:cTn>
                                        <p:tgtEl>
                                          <p:spTgt spid="168973">
                                            <p:txEl>
                                              <p:pRg st="0" end="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8975">
                                            <p:txEl>
                                              <p:pRg st="0" end="0"/>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iterate type="lt">
                                    <p:tmAbs val="250"/>
                                  </p:iterate>
                                  <p:childTnLst>
                                    <p:set>
                                      <p:cBhvr>
                                        <p:cTn id="54" dur="1" fill="hold">
                                          <p:stCondLst>
                                            <p:cond delay="0"/>
                                          </p:stCondLst>
                                        </p:cTn>
                                        <p:tgtEl>
                                          <p:spTgt spid="16897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2" grpId="0" build="p"/>
      <p:bldP spid="168965" grpId="0" build="p"/>
      <p:bldP spid="168966" grpId="0" build="p"/>
      <p:bldP spid="168967" grpId="0" build="p"/>
      <p:bldP spid="168968" grpId="0" build="p"/>
      <p:bldP spid="168969" grpId="0" build="p"/>
      <p:bldP spid="168970" grpId="0" build="p"/>
      <p:bldP spid="168971" grpId="0" build="p"/>
      <p:bldP spid="168972" grpId="0" build="p"/>
      <p:bldP spid="168973" grpId="0" build="p"/>
      <p:bldP spid="168974" grpId="0" build="p"/>
      <p:bldP spid="168975" grpId="0" build="p"/>
      <p:bldP spid="16897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2"/>
          <p:cNvSpPr txBox="1">
            <a:spLocks noChangeArrowheads="1"/>
          </p:cNvSpPr>
          <p:nvPr/>
        </p:nvSpPr>
        <p:spPr bwMode="auto">
          <a:xfrm>
            <a:off x="152400" y="990600"/>
            <a:ext cx="8839200" cy="524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363538" indent="-363538" eaLnBrk="0" hangingPunct="0">
              <a:defRPr kumimoji="1" sz="2800" b="1">
                <a:solidFill>
                  <a:schemeClr val="tx1"/>
                </a:solidFill>
                <a:latin typeface="楷体_GB2312" pitchFamily="49" charset="-122"/>
                <a:ea typeface="楷体_GB2312" pitchFamily="49" charset="-122"/>
              </a:defRPr>
            </a:lvl1pPr>
            <a:lvl2pPr marL="1081088" indent="-45720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30000"/>
              </a:spcBef>
              <a:buClr>
                <a:srgbClr val="CCFFFF"/>
              </a:buClr>
              <a:buSzPct val="70000"/>
              <a:buFont typeface="Wingdings" pitchFamily="2" charset="2"/>
              <a:buChar char="n"/>
            </a:pPr>
            <a:r>
              <a:rPr lang="zh-CN" altLang="en-US"/>
              <a:t>前置条件 </a:t>
            </a:r>
            <a:r>
              <a:rPr lang="en-US" altLang="zh-CN"/>
              <a:t>(precondition)</a:t>
            </a:r>
            <a:r>
              <a:rPr lang="zh-CN" altLang="en-US"/>
              <a:t>：方法代码假设的非局部变量的条件</a:t>
            </a:r>
          </a:p>
          <a:p>
            <a:pPr lvl="1" algn="l" eaLnBrk="1" hangingPunct="1">
              <a:spcBef>
                <a:spcPct val="30000"/>
              </a:spcBef>
              <a:buClr>
                <a:srgbClr val="CCFFFF"/>
              </a:buClr>
              <a:buSzPct val="70000"/>
              <a:buFont typeface="Wingdings" pitchFamily="2" charset="2"/>
              <a:buChar char="n"/>
            </a:pPr>
            <a:r>
              <a:rPr lang="zh-CN" altLang="en-US" sz="2400"/>
              <a:t>包括参数</a:t>
            </a:r>
          </a:p>
          <a:p>
            <a:pPr lvl="1" algn="l" eaLnBrk="1" hangingPunct="1">
              <a:spcBef>
                <a:spcPct val="30000"/>
              </a:spcBef>
              <a:buClr>
                <a:srgbClr val="CCFFFF"/>
              </a:buClr>
              <a:buSzPct val="70000"/>
              <a:buFont typeface="Wingdings" pitchFamily="2" charset="2"/>
              <a:buChar char="n"/>
            </a:pPr>
            <a:r>
              <a:rPr lang="zh-CN" altLang="en-US" sz="2400"/>
              <a:t>方法本身没有提供这些条件的验证</a:t>
            </a:r>
          </a:p>
          <a:p>
            <a:pPr algn="l" eaLnBrk="1" hangingPunct="1">
              <a:spcBef>
                <a:spcPct val="30000"/>
              </a:spcBef>
              <a:buClr>
                <a:srgbClr val="CCFFFF"/>
              </a:buClr>
              <a:buSzPct val="70000"/>
              <a:buFont typeface="Wingdings" pitchFamily="2" charset="2"/>
              <a:buChar char="n"/>
            </a:pPr>
            <a:r>
              <a:rPr lang="zh-CN" altLang="en-US"/>
              <a:t>后置条件 </a:t>
            </a:r>
            <a:r>
              <a:rPr lang="en-US" altLang="zh-CN"/>
              <a:t>(postcondition)</a:t>
            </a:r>
            <a:r>
              <a:rPr lang="zh-CN" altLang="en-US"/>
              <a:t>：执行后非局部变量的值</a:t>
            </a:r>
          </a:p>
          <a:p>
            <a:pPr lvl="1" algn="l" eaLnBrk="1" hangingPunct="1">
              <a:spcBef>
                <a:spcPct val="30000"/>
              </a:spcBef>
              <a:buClr>
                <a:srgbClr val="CCFFFF"/>
              </a:buClr>
              <a:buSzPct val="70000"/>
              <a:buFont typeface="Wingdings" pitchFamily="2" charset="2"/>
              <a:buChar char="n"/>
            </a:pPr>
            <a:r>
              <a:rPr lang="zh-CN" altLang="en-US" sz="2400"/>
              <a:t>包括参数</a:t>
            </a:r>
          </a:p>
          <a:p>
            <a:pPr lvl="1" algn="l" eaLnBrk="1" hangingPunct="1">
              <a:spcBef>
                <a:spcPct val="30000"/>
              </a:spcBef>
              <a:buClr>
                <a:srgbClr val="CCFFFF"/>
              </a:buClr>
              <a:buSzPct val="70000"/>
              <a:buFont typeface="Wingdings" pitchFamily="2" charset="2"/>
              <a:buChar char="n"/>
            </a:pPr>
            <a:r>
              <a:rPr lang="zh-CN" altLang="en-US" sz="2400"/>
              <a:t>注释：</a:t>
            </a:r>
            <a:r>
              <a:rPr lang="en-US" altLang="zh-CN" sz="2400"/>
              <a:t>x</a:t>
            </a:r>
            <a:r>
              <a:rPr lang="en-US" altLang="zh-CN" sz="2400">
                <a:latin typeface="宋体" charset="-122"/>
              </a:rPr>
              <a:t>’</a:t>
            </a:r>
            <a:r>
              <a:rPr lang="zh-CN" altLang="en-US" sz="2400"/>
              <a:t>代表</a:t>
            </a:r>
            <a:r>
              <a:rPr lang="en-US" altLang="zh-CN" sz="2400"/>
              <a:t>x</a:t>
            </a:r>
            <a:r>
              <a:rPr lang="zh-CN" altLang="en-US" sz="2400"/>
              <a:t>执行后的值</a:t>
            </a:r>
          </a:p>
          <a:p>
            <a:pPr algn="l" eaLnBrk="1" hangingPunct="1">
              <a:spcBef>
                <a:spcPct val="30000"/>
              </a:spcBef>
              <a:buClr>
                <a:srgbClr val="CCFFFF"/>
              </a:buClr>
              <a:buSzPct val="70000"/>
              <a:buFont typeface="Wingdings" pitchFamily="2" charset="2"/>
              <a:buChar char="n"/>
            </a:pPr>
            <a:r>
              <a:rPr lang="zh-CN" altLang="en-US"/>
              <a:t>不变式 </a:t>
            </a:r>
            <a:r>
              <a:rPr lang="en-US" altLang="zh-CN"/>
              <a:t>(invariant)</a:t>
            </a:r>
            <a:r>
              <a:rPr lang="zh-CN" altLang="en-US"/>
              <a:t>：函数执行后没有改变的非局部变量的关系</a:t>
            </a:r>
          </a:p>
          <a:p>
            <a:pPr lvl="1" algn="l" eaLnBrk="1" hangingPunct="1">
              <a:spcBef>
                <a:spcPct val="30000"/>
              </a:spcBef>
              <a:buClr>
                <a:srgbClr val="CCFFFF"/>
              </a:buClr>
              <a:buSzPct val="70000"/>
              <a:buFont typeface="Wingdings" pitchFamily="2" charset="2"/>
              <a:buChar char="n"/>
            </a:pPr>
            <a:r>
              <a:rPr lang="zh-CN" altLang="en-US" sz="2400"/>
              <a:t>在前置条件和后置条件中都相等</a:t>
            </a:r>
          </a:p>
          <a:p>
            <a:pPr lvl="1" algn="l" eaLnBrk="1" hangingPunct="1">
              <a:spcBef>
                <a:spcPct val="30000"/>
              </a:spcBef>
              <a:buClr>
                <a:srgbClr val="CCFFFF"/>
              </a:buClr>
              <a:buSzPct val="70000"/>
              <a:buFont typeface="Wingdings" pitchFamily="2" charset="2"/>
              <a:buChar char="n"/>
            </a:pPr>
            <a:r>
              <a:rPr lang="zh-CN" altLang="en-US" sz="2400"/>
              <a:t>在局部变量中也有不变式</a:t>
            </a:r>
          </a:p>
        </p:txBody>
      </p:sp>
      <p:sp>
        <p:nvSpPr>
          <p:cNvPr id="17411" name="Text Box 4"/>
          <p:cNvSpPr txBox="1">
            <a:spLocks noChangeArrowheads="1"/>
          </p:cNvSpPr>
          <p:nvPr/>
        </p:nvSpPr>
        <p:spPr bwMode="auto">
          <a:xfrm>
            <a:off x="1371600" y="228600"/>
            <a:ext cx="6697663"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3300">
                <a:solidFill>
                  <a:srgbClr val="0000CC"/>
                </a:solidFill>
                <a:latin typeface="Times New Roman" pitchFamily="18" charset="0"/>
                <a:ea typeface="仿宋_GB2312" pitchFamily="49" charset="-122"/>
              </a:rPr>
              <a:t>说明函数功能的分类注释</a:t>
            </a:r>
          </a:p>
        </p:txBody>
      </p:sp>
    </p:spTree>
    <p:extLst>
      <p:ext uri="{BB962C8B-B14F-4D97-AF65-F5344CB8AC3E}">
        <p14:creationId xmlns:p14="http://schemas.microsoft.com/office/powerpoint/2010/main" val="13852433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998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998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998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998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998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9986">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9986">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9986">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998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Text Box 2"/>
          <p:cNvSpPr txBox="1">
            <a:spLocks noChangeArrowheads="1"/>
          </p:cNvSpPr>
          <p:nvPr/>
        </p:nvSpPr>
        <p:spPr bwMode="auto">
          <a:xfrm>
            <a:off x="381000" y="990600"/>
            <a:ext cx="8458200" cy="395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363538" indent="-363538" eaLnBrk="0" hangingPunct="0">
              <a:defRPr kumimoji="1" sz="2800" b="1">
                <a:solidFill>
                  <a:schemeClr val="tx1"/>
                </a:solidFill>
                <a:latin typeface="楷体_GB2312" pitchFamily="49" charset="-122"/>
                <a:ea typeface="楷体_GB2312" pitchFamily="49" charset="-122"/>
              </a:defRPr>
            </a:lvl1pPr>
            <a:lvl2pPr marL="1081088" indent="-45720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30000"/>
              </a:spcBef>
              <a:buClr>
                <a:srgbClr val="CCFFFF"/>
              </a:buClr>
              <a:buSzPct val="70000"/>
              <a:buFont typeface="Wingdings" pitchFamily="2" charset="2"/>
              <a:buChar char="n"/>
            </a:pPr>
            <a:r>
              <a:rPr lang="zh-CN" altLang="en-US" sz="3600"/>
              <a:t>返回 </a:t>
            </a:r>
            <a:r>
              <a:rPr lang="en-US" altLang="zh-CN" sz="3600"/>
              <a:t>(return)</a:t>
            </a:r>
          </a:p>
          <a:p>
            <a:pPr lvl="1" algn="l" eaLnBrk="1" hangingPunct="1">
              <a:spcBef>
                <a:spcPct val="30000"/>
              </a:spcBef>
              <a:buClr>
                <a:srgbClr val="CCFFFF"/>
              </a:buClr>
              <a:buSzPct val="70000"/>
              <a:buFont typeface="Wingdings" pitchFamily="2" charset="2"/>
              <a:buChar char="n"/>
            </a:pPr>
            <a:r>
              <a:rPr lang="zh-CN" altLang="en-US" sz="3600"/>
              <a:t>方法的返回值</a:t>
            </a:r>
          </a:p>
          <a:p>
            <a:pPr algn="l" eaLnBrk="1" hangingPunct="1">
              <a:spcBef>
                <a:spcPct val="30000"/>
              </a:spcBef>
              <a:buClr>
                <a:srgbClr val="CCFFFF"/>
              </a:buClr>
              <a:buSzPct val="70000"/>
              <a:buFont typeface="Wingdings" pitchFamily="2" charset="2"/>
              <a:buChar char="n"/>
            </a:pPr>
            <a:r>
              <a:rPr lang="zh-CN" altLang="en-US" sz="3600"/>
              <a:t>已知问题 </a:t>
            </a:r>
            <a:r>
              <a:rPr lang="en-US" altLang="zh-CN" sz="3600"/>
              <a:t>(known issue)</a:t>
            </a:r>
          </a:p>
          <a:p>
            <a:pPr lvl="1" algn="l" eaLnBrk="1" hangingPunct="1">
              <a:spcBef>
                <a:spcPct val="30000"/>
              </a:spcBef>
              <a:buClr>
                <a:srgbClr val="CCFFFF"/>
              </a:buClr>
              <a:buSzPct val="70000"/>
              <a:buFont typeface="Wingdings" pitchFamily="2" charset="2"/>
              <a:buChar char="n"/>
            </a:pPr>
            <a:r>
              <a:rPr lang="zh-CN" altLang="en-US" sz="3600"/>
              <a:t>真实描述要做的内容，未被纠正的缺陷等</a:t>
            </a:r>
          </a:p>
          <a:p>
            <a:pPr lvl="1" algn="l" eaLnBrk="1" hangingPunct="1">
              <a:spcBef>
                <a:spcPct val="30000"/>
              </a:spcBef>
              <a:buClr>
                <a:srgbClr val="CCFFFF"/>
              </a:buClr>
              <a:buSzPct val="70000"/>
              <a:buFont typeface="Wingdings" pitchFamily="2" charset="2"/>
              <a:buChar char="n"/>
            </a:pPr>
            <a:r>
              <a:rPr lang="zh-CN" altLang="en-US" sz="3600"/>
              <a:t>限于所知道的</a:t>
            </a:r>
          </a:p>
        </p:txBody>
      </p:sp>
      <p:sp>
        <p:nvSpPr>
          <p:cNvPr id="18435" name="Text Box 3"/>
          <p:cNvSpPr txBox="1">
            <a:spLocks noChangeArrowheads="1"/>
          </p:cNvSpPr>
          <p:nvPr/>
        </p:nvSpPr>
        <p:spPr bwMode="auto">
          <a:xfrm>
            <a:off x="1066800" y="228600"/>
            <a:ext cx="6697663"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3300">
                <a:solidFill>
                  <a:srgbClr val="0000CC"/>
                </a:solidFill>
                <a:latin typeface="Times New Roman" pitchFamily="18" charset="0"/>
                <a:ea typeface="仿宋_GB2312" pitchFamily="49" charset="-122"/>
              </a:rPr>
              <a:t>说明函数功能的分类注释</a:t>
            </a:r>
          </a:p>
        </p:txBody>
      </p:sp>
    </p:spTree>
    <p:extLst>
      <p:ext uri="{BB962C8B-B14F-4D97-AF65-F5344CB8AC3E}">
        <p14:creationId xmlns:p14="http://schemas.microsoft.com/office/powerpoint/2010/main" val="3330875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739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7394">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739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739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739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323850" y="1093788"/>
            <a:ext cx="8640763" cy="439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15000"/>
              </a:spcBef>
              <a:buClr>
                <a:srgbClr val="CCFFFF"/>
              </a:buClr>
              <a:buSzPct val="70000"/>
              <a:buFont typeface="Wingdings" pitchFamily="2" charset="2"/>
              <a:buNone/>
            </a:pPr>
            <a:r>
              <a:rPr lang="en-US" altLang="zh-CN">
                <a:latin typeface="Times New Roman" pitchFamily="18" charset="0"/>
                <a:ea typeface="宋体" charset="-122"/>
              </a:rPr>
              <a:t>class Rectangle </a:t>
            </a:r>
          </a:p>
          <a:p>
            <a:pPr algn="l" eaLnBrk="1" hangingPunct="1">
              <a:spcBef>
                <a:spcPct val="15000"/>
              </a:spcBef>
              <a:buClr>
                <a:srgbClr val="CCFFFF"/>
              </a:buClr>
              <a:buSzPct val="70000"/>
              <a:buFont typeface="Wingdings" pitchFamily="2" charset="2"/>
              <a:buNone/>
            </a:pPr>
            <a:r>
              <a:rPr lang="en-US" altLang="zh-CN">
                <a:latin typeface="Times New Roman" pitchFamily="18" charset="0"/>
                <a:ea typeface="宋体" charset="-122"/>
              </a:rPr>
              <a:t>{ </a:t>
            </a:r>
          </a:p>
          <a:p>
            <a:pPr algn="l" eaLnBrk="1" hangingPunct="1">
              <a:spcBef>
                <a:spcPct val="15000"/>
              </a:spcBef>
              <a:buClr>
                <a:srgbClr val="CCFFFF"/>
              </a:buClr>
              <a:buSzPct val="70000"/>
              <a:buFont typeface="Wingdings" pitchFamily="2" charset="2"/>
              <a:buNone/>
            </a:pPr>
            <a:r>
              <a:rPr lang="en-US" altLang="zh-CN">
                <a:latin typeface="Times New Roman" pitchFamily="18" charset="0"/>
                <a:ea typeface="宋体" charset="-122"/>
              </a:rPr>
              <a:t>    </a:t>
            </a:r>
            <a:r>
              <a:rPr lang="en-US" altLang="zh-CN">
                <a:latin typeface="Times New Roman" pitchFamily="18" charset="0"/>
              </a:rPr>
              <a:t>…</a:t>
            </a:r>
            <a:endParaRPr lang="en-US" altLang="zh-CN">
              <a:latin typeface="Times New Roman" pitchFamily="18" charset="0"/>
              <a:ea typeface="宋体" charset="-122"/>
            </a:endParaRPr>
          </a:p>
          <a:p>
            <a:pPr algn="l" eaLnBrk="1" hangingPunct="1">
              <a:spcBef>
                <a:spcPct val="15000"/>
              </a:spcBef>
              <a:buClr>
                <a:srgbClr val="CCFFFF"/>
              </a:buClr>
              <a:buSzPct val="70000"/>
              <a:buFont typeface="Wingdings" pitchFamily="2" charset="2"/>
              <a:buNone/>
            </a:pPr>
            <a:r>
              <a:rPr lang="en-US" altLang="zh-CN">
                <a:solidFill>
                  <a:schemeClr val="accent2"/>
                </a:solidFill>
                <a:latin typeface="Times New Roman" pitchFamily="18" charset="0"/>
                <a:ea typeface="宋体" charset="-122"/>
              </a:rPr>
              <a:t>   //</a:t>
            </a:r>
            <a:r>
              <a:rPr lang="zh-CN" altLang="en-US">
                <a:solidFill>
                  <a:schemeClr val="accent2"/>
                </a:solidFill>
                <a:latin typeface="Times New Roman" pitchFamily="18" charset="0"/>
                <a:ea typeface="宋体" charset="-122"/>
              </a:rPr>
              <a:t>前置条件：长度</a:t>
            </a:r>
            <a:r>
              <a:rPr lang="en-US" altLang="zh-CN">
                <a:solidFill>
                  <a:schemeClr val="accent2"/>
                </a:solidFill>
                <a:latin typeface="Times New Roman" pitchFamily="18" charset="0"/>
                <a:ea typeface="宋体" charset="-122"/>
              </a:rPr>
              <a:t>&gt;10, </a:t>
            </a:r>
            <a:r>
              <a:rPr lang="zh-CN" altLang="en-US">
                <a:solidFill>
                  <a:schemeClr val="accent2"/>
                </a:solidFill>
                <a:latin typeface="Times New Roman" pitchFamily="18" charset="0"/>
                <a:ea typeface="宋体" charset="-122"/>
              </a:rPr>
              <a:t>宽度</a:t>
            </a:r>
            <a:r>
              <a:rPr lang="en-US" altLang="zh-CN">
                <a:solidFill>
                  <a:schemeClr val="accent2"/>
                </a:solidFill>
                <a:latin typeface="Times New Roman" pitchFamily="18" charset="0"/>
                <a:ea typeface="宋体" charset="-122"/>
              </a:rPr>
              <a:t>&gt;10 </a:t>
            </a:r>
          </a:p>
          <a:p>
            <a:pPr algn="l" eaLnBrk="1" hangingPunct="1">
              <a:spcBef>
                <a:spcPct val="15000"/>
              </a:spcBef>
              <a:buClr>
                <a:srgbClr val="CCFFFF"/>
              </a:buClr>
              <a:buSzPct val="70000"/>
              <a:buFont typeface="Wingdings" pitchFamily="2" charset="2"/>
              <a:buNone/>
            </a:pPr>
            <a:r>
              <a:rPr lang="en-US" altLang="zh-CN">
                <a:solidFill>
                  <a:schemeClr val="accent2"/>
                </a:solidFill>
                <a:latin typeface="Times New Roman" pitchFamily="18" charset="0"/>
                <a:ea typeface="宋体" charset="-122"/>
              </a:rPr>
              <a:t>   //</a:t>
            </a:r>
            <a:r>
              <a:rPr lang="zh-CN" altLang="en-US">
                <a:solidFill>
                  <a:schemeClr val="accent2"/>
                </a:solidFill>
                <a:latin typeface="Times New Roman" pitchFamily="18" charset="0"/>
                <a:ea typeface="宋体" charset="-122"/>
              </a:rPr>
              <a:t>返回：长度</a:t>
            </a:r>
            <a:r>
              <a:rPr lang="en-US" altLang="zh-CN">
                <a:solidFill>
                  <a:schemeClr val="accent2"/>
                </a:solidFill>
                <a:latin typeface="Times New Roman" pitchFamily="18" charset="0"/>
                <a:ea typeface="宋体" charset="-122"/>
              </a:rPr>
              <a:t>×</a:t>
            </a:r>
            <a:r>
              <a:rPr lang="zh-CN" altLang="en-US">
                <a:solidFill>
                  <a:schemeClr val="accent2"/>
                </a:solidFill>
                <a:latin typeface="Times New Roman" pitchFamily="18" charset="0"/>
                <a:ea typeface="宋体" charset="-122"/>
              </a:rPr>
              <a:t>宽度</a:t>
            </a:r>
          </a:p>
          <a:p>
            <a:pPr algn="l" eaLnBrk="1" hangingPunct="1">
              <a:spcBef>
                <a:spcPct val="15000"/>
              </a:spcBef>
              <a:buClr>
                <a:srgbClr val="CCFFFF"/>
              </a:buClr>
              <a:buSzPct val="70000"/>
              <a:buFont typeface="Wingdings" pitchFamily="2" charset="2"/>
              <a:buNone/>
            </a:pPr>
            <a:r>
              <a:rPr lang="zh-CN" altLang="en-US">
                <a:latin typeface="Times New Roman" pitchFamily="18" charset="0"/>
                <a:ea typeface="宋体" charset="-122"/>
              </a:rPr>
              <a:t>    </a:t>
            </a:r>
            <a:r>
              <a:rPr lang="en-US" altLang="zh-CN">
                <a:latin typeface="Times New Roman" pitchFamily="18" charset="0"/>
              </a:rPr>
              <a:t>…</a:t>
            </a:r>
            <a:endParaRPr lang="en-US" altLang="zh-CN">
              <a:latin typeface="Times New Roman" pitchFamily="18" charset="0"/>
              <a:ea typeface="宋体" charset="-122"/>
            </a:endParaRPr>
          </a:p>
          <a:p>
            <a:pPr algn="l" eaLnBrk="1" hangingPunct="1">
              <a:spcBef>
                <a:spcPct val="15000"/>
              </a:spcBef>
              <a:buClr>
                <a:srgbClr val="CCFFFF"/>
              </a:buClr>
              <a:buSzPct val="70000"/>
              <a:buFont typeface="Wingdings" pitchFamily="2" charset="2"/>
              <a:buNone/>
            </a:pPr>
            <a:r>
              <a:rPr lang="en-US" altLang="zh-CN">
                <a:latin typeface="Times New Roman" pitchFamily="18" charset="0"/>
                <a:ea typeface="宋体" charset="-122"/>
              </a:rPr>
              <a:t>   public double area (double aLength, double aBreadth) </a:t>
            </a:r>
          </a:p>
          <a:p>
            <a:pPr algn="l" eaLnBrk="1" hangingPunct="1">
              <a:spcBef>
                <a:spcPct val="15000"/>
              </a:spcBef>
              <a:buClr>
                <a:srgbClr val="CCFFFF"/>
              </a:buClr>
              <a:buSzPct val="70000"/>
              <a:buFont typeface="Wingdings" pitchFamily="2" charset="2"/>
              <a:buNone/>
            </a:pPr>
            <a:r>
              <a:rPr lang="en-US" altLang="zh-CN">
                <a:latin typeface="Times New Roman" pitchFamily="18" charset="0"/>
                <a:ea typeface="宋体" charset="-122"/>
              </a:rPr>
              <a:t>    … </a:t>
            </a:r>
          </a:p>
          <a:p>
            <a:pPr algn="l" eaLnBrk="1" hangingPunct="1">
              <a:spcBef>
                <a:spcPct val="15000"/>
              </a:spcBef>
              <a:buClr>
                <a:srgbClr val="CCFFFF"/>
              </a:buClr>
              <a:buSzPct val="70000"/>
              <a:buFont typeface="Wingdings" pitchFamily="2" charset="2"/>
              <a:buNone/>
            </a:pPr>
            <a:r>
              <a:rPr lang="en-US" altLang="zh-CN">
                <a:latin typeface="Times New Roman" pitchFamily="18" charset="0"/>
                <a:ea typeface="宋体" charset="-122"/>
              </a:rPr>
              <a:t>}</a:t>
            </a:r>
          </a:p>
        </p:txBody>
      </p:sp>
      <p:sp>
        <p:nvSpPr>
          <p:cNvPr id="2" name="TextBox 1"/>
          <p:cNvSpPr txBox="1"/>
          <p:nvPr/>
        </p:nvSpPr>
        <p:spPr>
          <a:xfrm>
            <a:off x="683568" y="476672"/>
            <a:ext cx="1569660" cy="369332"/>
          </a:xfrm>
          <a:prstGeom prst="rect">
            <a:avLst/>
          </a:prstGeom>
          <a:noFill/>
        </p:spPr>
        <p:txBody>
          <a:bodyPr wrap="none" rtlCol="0">
            <a:spAutoFit/>
          </a:bodyPr>
          <a:lstStyle/>
          <a:p>
            <a:r>
              <a:rPr lang="zh-CN" altLang="en-US" dirty="0" smtClean="0">
                <a:solidFill>
                  <a:srgbClr val="FF0000"/>
                </a:solidFill>
              </a:rPr>
              <a:t>代码中的注释</a:t>
            </a:r>
            <a:endParaRPr lang="zh-CN" altLang="en-US" dirty="0">
              <a:solidFill>
                <a:srgbClr val="FF0000"/>
              </a:solidFill>
            </a:endParaRPr>
          </a:p>
        </p:txBody>
      </p:sp>
    </p:spTree>
    <p:extLst>
      <p:ext uri="{BB962C8B-B14F-4D97-AF65-F5344CB8AC3E}">
        <p14:creationId xmlns:p14="http://schemas.microsoft.com/office/powerpoint/2010/main" val="26015487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101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101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101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101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1010">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1010">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1010">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1010">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10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4"/>
          <p:cNvSpPr txBox="1">
            <a:spLocks noChangeArrowheads="1"/>
          </p:cNvSpPr>
          <p:nvPr/>
        </p:nvSpPr>
        <p:spPr bwMode="auto">
          <a:xfrm>
            <a:off x="685800" y="609600"/>
            <a:ext cx="3200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endParaRPr lang="zh-CN" altLang="en-US"/>
          </a:p>
        </p:txBody>
      </p:sp>
      <p:sp>
        <p:nvSpPr>
          <p:cNvPr id="20483" name="TextBox 5"/>
          <p:cNvSpPr txBox="1">
            <a:spLocks noChangeArrowheads="1"/>
          </p:cNvSpPr>
          <p:nvPr/>
        </p:nvSpPr>
        <p:spPr bwMode="auto">
          <a:xfrm>
            <a:off x="248680" y="260648"/>
            <a:ext cx="8891588" cy="644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r>
              <a:rPr lang="en-US" altLang="zh-CN" sz="1400" dirty="0">
                <a:solidFill>
                  <a:schemeClr val="accent2"/>
                </a:solidFill>
              </a:rPr>
              <a:t>/*</a:t>
            </a:r>
          </a:p>
          <a:p>
            <a:pPr algn="l" eaLnBrk="1" hangingPunct="1"/>
            <a:r>
              <a:rPr lang="zh-CN" altLang="en-US" sz="1400" dirty="0">
                <a:solidFill>
                  <a:schemeClr val="accent2"/>
                </a:solidFill>
              </a:rPr>
              <a:t>算法名称：</a:t>
            </a:r>
            <a:r>
              <a:rPr lang="en-US" altLang="zh-CN" sz="1400" dirty="0" err="1">
                <a:solidFill>
                  <a:schemeClr val="accent2"/>
                </a:solidFill>
              </a:rPr>
              <a:t>qlbjf</a:t>
            </a:r>
            <a:endParaRPr lang="en-US" altLang="zh-CN" sz="1400" dirty="0">
              <a:solidFill>
                <a:schemeClr val="accent2"/>
              </a:solidFill>
            </a:endParaRPr>
          </a:p>
          <a:p>
            <a:pPr algn="l" eaLnBrk="1" hangingPunct="1"/>
            <a:r>
              <a:rPr lang="zh-CN" altLang="en-US" sz="1400" dirty="0">
                <a:solidFill>
                  <a:schemeClr val="accent2"/>
                </a:solidFill>
              </a:rPr>
              <a:t>算法接口：</a:t>
            </a:r>
            <a:r>
              <a:rPr lang="en-US" altLang="zh-CN" sz="1400" dirty="0" err="1">
                <a:solidFill>
                  <a:schemeClr val="accent2"/>
                </a:solidFill>
              </a:rPr>
              <a:t>qlbjf</a:t>
            </a:r>
            <a:r>
              <a:rPr lang="en-US" altLang="zh-CN" sz="1400" dirty="0">
                <a:solidFill>
                  <a:schemeClr val="accent2"/>
                </a:solidFill>
              </a:rPr>
              <a:t>( , , , , , , , , , , , </a:t>
            </a:r>
            <a:r>
              <a:rPr lang="zh-CN" altLang="en-US" sz="1400" dirty="0">
                <a:solidFill>
                  <a:schemeClr val="accent2"/>
                </a:solidFill>
              </a:rPr>
              <a:t>， </a:t>
            </a:r>
            <a:r>
              <a:rPr lang="en-US" altLang="zh-CN" sz="1400" dirty="0">
                <a:solidFill>
                  <a:schemeClr val="accent2"/>
                </a:solidFill>
              </a:rPr>
              <a:t>)</a:t>
            </a:r>
          </a:p>
          <a:p>
            <a:pPr algn="l" eaLnBrk="1" hangingPunct="1"/>
            <a:r>
              <a:rPr lang="zh-CN" altLang="en-US" sz="1400" dirty="0">
                <a:solidFill>
                  <a:schemeClr val="accent2"/>
                </a:solidFill>
              </a:rPr>
              <a:t>算法用途：曲率半径法即圆柱螺线法，假设测段内井眼轨迹为圆柱螺线，计算测段内的坐标增量、垂深增量、</a:t>
            </a:r>
            <a:endParaRPr lang="en-US" altLang="zh-CN" sz="1400" dirty="0">
              <a:solidFill>
                <a:schemeClr val="accent2"/>
              </a:solidFill>
            </a:endParaRPr>
          </a:p>
          <a:p>
            <a:pPr algn="l" eaLnBrk="1" hangingPunct="1"/>
            <a:r>
              <a:rPr lang="en-US" altLang="zh-CN" sz="1400" dirty="0">
                <a:solidFill>
                  <a:schemeClr val="accent2"/>
                </a:solidFill>
              </a:rPr>
              <a:t>      </a:t>
            </a:r>
            <a:r>
              <a:rPr lang="zh-CN" altLang="en-US" sz="1400" dirty="0">
                <a:solidFill>
                  <a:schemeClr val="accent2"/>
                </a:solidFill>
              </a:rPr>
              <a:t>水平投影长度增量，旋转钻进</a:t>
            </a:r>
            <a:r>
              <a:rPr lang="en-US" altLang="zh-CN" sz="1400" dirty="0">
                <a:solidFill>
                  <a:schemeClr val="accent2"/>
                </a:solidFill>
              </a:rPr>
              <a:t>,</a:t>
            </a:r>
            <a:r>
              <a:rPr lang="zh-CN" altLang="en-US" sz="1400" dirty="0">
                <a:solidFill>
                  <a:schemeClr val="accent2"/>
                </a:solidFill>
              </a:rPr>
              <a:t>主要是根据上下测点的井斜角来判断测段是否是直线，从而决定方位角</a:t>
            </a:r>
          </a:p>
          <a:p>
            <a:pPr algn="l" eaLnBrk="1" hangingPunct="1"/>
            <a:r>
              <a:rPr lang="zh-CN" altLang="en-US" sz="1400" dirty="0">
                <a:solidFill>
                  <a:schemeClr val="accent2"/>
                </a:solidFill>
              </a:rPr>
              <a:t>算法输入参数：上测点的井深长 、井斜角 、方位角 ，下测点的井深长 、井斜角 、方位角 </a:t>
            </a:r>
          </a:p>
          <a:p>
            <a:pPr algn="l" eaLnBrk="1" hangingPunct="1"/>
            <a:r>
              <a:rPr lang="zh-CN" altLang="en-US" sz="1400" dirty="0">
                <a:solidFill>
                  <a:schemeClr val="accent2"/>
                </a:solidFill>
              </a:rPr>
              <a:t>算法输出参数：测段内的坐标增量 、垂深增量 、水平投影长度增量 ，井眼曲率</a:t>
            </a:r>
            <a:r>
              <a:rPr lang="en-US" altLang="zh-CN" sz="1400" dirty="0">
                <a:solidFill>
                  <a:schemeClr val="accent2"/>
                </a:solidFill>
              </a:rPr>
              <a:t>k,</a:t>
            </a:r>
            <a:r>
              <a:rPr lang="zh-CN" altLang="en-US" sz="1400" dirty="0">
                <a:solidFill>
                  <a:schemeClr val="accent2"/>
                </a:solidFill>
              </a:rPr>
              <a:t>井斜变化率 ，方位变化率 </a:t>
            </a:r>
          </a:p>
          <a:p>
            <a:pPr algn="l" eaLnBrk="1" hangingPunct="1"/>
            <a:r>
              <a:rPr lang="zh-CN" altLang="en-US" sz="1400" dirty="0">
                <a:solidFill>
                  <a:schemeClr val="accent2"/>
                </a:solidFill>
              </a:rPr>
              <a:t>*</a:t>
            </a:r>
            <a:r>
              <a:rPr lang="en-US" altLang="zh-CN" sz="1400" dirty="0">
                <a:solidFill>
                  <a:schemeClr val="accent2"/>
                </a:solidFill>
              </a:rPr>
              <a:t>/</a:t>
            </a:r>
          </a:p>
          <a:p>
            <a:pPr algn="l" eaLnBrk="1" hangingPunct="1"/>
            <a:r>
              <a:rPr lang="en-US" altLang="zh-CN" sz="1400" dirty="0"/>
              <a:t>void </a:t>
            </a:r>
            <a:r>
              <a:rPr lang="en-US" altLang="zh-CN" sz="1400" dirty="0" err="1"/>
              <a:t>CAlgorithmBase</a:t>
            </a:r>
            <a:r>
              <a:rPr lang="en-US" altLang="zh-CN" sz="1400" dirty="0"/>
              <a:t>::qlbjf_1(double L0,double a0,double o0, double L1,double a1,double o1,</a:t>
            </a:r>
          </a:p>
          <a:p>
            <a:pPr algn="l" eaLnBrk="1" hangingPunct="1"/>
            <a:r>
              <a:rPr lang="en-US" altLang="zh-CN" sz="1400" dirty="0"/>
              <a:t> double &amp;</a:t>
            </a:r>
            <a:r>
              <a:rPr lang="en-US" altLang="zh-CN" sz="1400" dirty="0" err="1"/>
              <a:t>dN,double</a:t>
            </a:r>
            <a:r>
              <a:rPr lang="en-US" altLang="zh-CN" sz="1400" dirty="0"/>
              <a:t> &amp;</a:t>
            </a:r>
            <a:r>
              <a:rPr lang="en-US" altLang="zh-CN" sz="1400" dirty="0" err="1"/>
              <a:t>dE,double</a:t>
            </a:r>
            <a:r>
              <a:rPr lang="en-US" altLang="zh-CN" sz="1400" dirty="0"/>
              <a:t> &amp;</a:t>
            </a:r>
            <a:r>
              <a:rPr lang="en-US" altLang="zh-CN" sz="1400" dirty="0" err="1"/>
              <a:t>dH,double</a:t>
            </a:r>
            <a:r>
              <a:rPr lang="en-US" altLang="zh-CN" sz="1400" dirty="0"/>
              <a:t> &amp;</a:t>
            </a:r>
            <a:r>
              <a:rPr lang="en-US" altLang="zh-CN" sz="1400" dirty="0" err="1"/>
              <a:t>dS,double</a:t>
            </a:r>
            <a:r>
              <a:rPr lang="en-US" altLang="zh-CN" sz="1400" dirty="0"/>
              <a:t> &amp;</a:t>
            </a:r>
            <a:r>
              <a:rPr lang="en-US" altLang="zh-CN" sz="1400" dirty="0" err="1"/>
              <a:t>k,double</a:t>
            </a:r>
            <a:r>
              <a:rPr lang="en-US" altLang="zh-CN" sz="1400" dirty="0"/>
              <a:t> &amp;</a:t>
            </a:r>
            <a:r>
              <a:rPr lang="en-US" altLang="zh-CN" sz="1400" dirty="0" err="1"/>
              <a:t>ka,double</a:t>
            </a:r>
            <a:r>
              <a:rPr lang="en-US" altLang="zh-CN" sz="1400" dirty="0"/>
              <a:t> &amp;</a:t>
            </a:r>
            <a:r>
              <a:rPr lang="en-US" altLang="zh-CN" sz="1400" dirty="0" err="1"/>
              <a:t>ko</a:t>
            </a:r>
            <a:r>
              <a:rPr lang="en-US" altLang="zh-CN" sz="1400" dirty="0"/>
              <a:t>,</a:t>
            </a:r>
          </a:p>
          <a:p>
            <a:pPr algn="l" eaLnBrk="1" hangingPunct="1"/>
            <a:r>
              <a:rPr lang="en-US" altLang="zh-CN" sz="1400" dirty="0"/>
              <a:t>double &amp;</a:t>
            </a:r>
            <a:r>
              <a:rPr lang="en-US" altLang="zh-CN" sz="1400" dirty="0" err="1"/>
              <a:t>dL,double</a:t>
            </a:r>
            <a:r>
              <a:rPr lang="en-US" altLang="zh-CN" sz="1400" dirty="0"/>
              <a:t> &amp;</a:t>
            </a:r>
            <a:r>
              <a:rPr lang="en-US" altLang="zh-CN" sz="1400" dirty="0" err="1"/>
              <a:t>da,double</a:t>
            </a:r>
            <a:r>
              <a:rPr lang="en-US" altLang="zh-CN" sz="1400" dirty="0"/>
              <a:t> &amp;</a:t>
            </a:r>
            <a:r>
              <a:rPr lang="en-US" altLang="zh-CN" sz="1400" dirty="0" err="1"/>
              <a:t>dO,double</a:t>
            </a:r>
            <a:r>
              <a:rPr lang="en-US" altLang="zh-CN" sz="1400" dirty="0"/>
              <a:t> &amp;</a:t>
            </a:r>
            <a:r>
              <a:rPr lang="en-US" altLang="zh-CN" sz="1400" dirty="0" err="1"/>
              <a:t>R,double</a:t>
            </a:r>
            <a:r>
              <a:rPr lang="en-US" altLang="zh-CN" sz="1400" dirty="0"/>
              <a:t> &amp;r)</a:t>
            </a:r>
          </a:p>
          <a:p>
            <a:pPr algn="l" eaLnBrk="1" hangingPunct="1"/>
            <a:r>
              <a:rPr lang="en-US" altLang="zh-CN" sz="1400" dirty="0"/>
              <a:t>{</a:t>
            </a:r>
          </a:p>
          <a:p>
            <a:pPr lvl="1" algn="l" eaLnBrk="1" hangingPunct="1"/>
            <a:r>
              <a:rPr lang="en-US" altLang="zh-CN" sz="1400" dirty="0"/>
              <a:t>if (a0==0)</a:t>
            </a:r>
          </a:p>
          <a:p>
            <a:pPr lvl="1" algn="l" eaLnBrk="1" hangingPunct="1"/>
            <a:r>
              <a:rPr lang="en-US" altLang="zh-CN" sz="1400" dirty="0"/>
              <a:t>{</a:t>
            </a:r>
          </a:p>
          <a:p>
            <a:pPr lvl="1" algn="l" eaLnBrk="1" hangingPunct="1"/>
            <a:r>
              <a:rPr lang="en-US" altLang="zh-CN" sz="1400" dirty="0"/>
              <a:t>	if (a1!=0)   </a:t>
            </a:r>
            <a:r>
              <a:rPr lang="en-US" altLang="zh-CN" sz="1400" dirty="0" err="1"/>
              <a:t>qlbjf</a:t>
            </a:r>
            <a:r>
              <a:rPr lang="en-US" altLang="zh-CN" sz="1400" dirty="0"/>
              <a:t>(L0,a0,o1,L1,a1,o1,dN,dE,dH,dS,k,ka,ko,dL,da,dO,R,r);</a:t>
            </a:r>
          </a:p>
          <a:p>
            <a:pPr lvl="1" algn="l" eaLnBrk="1" hangingPunct="1"/>
            <a:r>
              <a:rPr lang="en-US" altLang="zh-CN" sz="1400" dirty="0"/>
              <a:t>	Else   if (a1==0)  </a:t>
            </a:r>
            <a:r>
              <a:rPr lang="en-US" altLang="zh-CN" sz="1400" dirty="0" err="1"/>
              <a:t>qlbjf</a:t>
            </a:r>
            <a:r>
              <a:rPr lang="en-US" altLang="zh-CN" sz="1400" dirty="0"/>
              <a:t>(L0,a0,o0,L1,a1,o0,dN,dE,dH,dS,k,ka,ko,dL,da,dO,R,r);</a:t>
            </a:r>
          </a:p>
          <a:p>
            <a:pPr lvl="1" algn="l" eaLnBrk="1" hangingPunct="1"/>
            <a:r>
              <a:rPr lang="en-US" altLang="zh-CN" sz="1400" dirty="0"/>
              <a:t>}</a:t>
            </a:r>
          </a:p>
          <a:p>
            <a:pPr lvl="1" algn="l" eaLnBrk="1" hangingPunct="1"/>
            <a:r>
              <a:rPr lang="en-US" altLang="zh-CN" sz="1400" dirty="0"/>
              <a:t>Else  if (a1==0)  </a:t>
            </a:r>
            <a:r>
              <a:rPr lang="en-US" altLang="zh-CN" sz="1400" dirty="0" err="1"/>
              <a:t>qlbjf</a:t>
            </a:r>
            <a:r>
              <a:rPr lang="en-US" altLang="zh-CN" sz="1400" dirty="0"/>
              <a:t>(L0,a0,o0,L1,a1,o0,dN,dE,dH,dS,k,ka,ko,dL,da,dO,R,r);</a:t>
            </a:r>
          </a:p>
          <a:p>
            <a:pPr lvl="1" algn="l" eaLnBrk="1" hangingPunct="1"/>
            <a:r>
              <a:rPr lang="en-US" altLang="zh-CN" sz="1400" dirty="0"/>
              <a:t>Else  </a:t>
            </a:r>
            <a:r>
              <a:rPr lang="en-US" altLang="zh-CN" sz="1400" dirty="0" err="1"/>
              <a:t>qlbjf</a:t>
            </a:r>
            <a:r>
              <a:rPr lang="en-US" altLang="zh-CN" sz="1400" dirty="0"/>
              <a:t>(L0,a0,o0,L1,a1,o1,dN,dE,dH,dS,k,ka,ko,dL,da,dO,R,r);</a:t>
            </a:r>
          </a:p>
          <a:p>
            <a:pPr algn="l" eaLnBrk="1" hangingPunct="1"/>
            <a:r>
              <a:rPr lang="en-US" altLang="zh-CN" sz="1400" dirty="0"/>
              <a:t>}</a:t>
            </a:r>
            <a:endParaRPr lang="zh-CN" altLang="en-US" sz="1400" dirty="0"/>
          </a:p>
        </p:txBody>
      </p:sp>
      <p:sp>
        <p:nvSpPr>
          <p:cNvPr id="4" name="TextBox 3"/>
          <p:cNvSpPr txBox="1"/>
          <p:nvPr/>
        </p:nvSpPr>
        <p:spPr>
          <a:xfrm>
            <a:off x="1331640" y="107340"/>
            <a:ext cx="1569660" cy="369332"/>
          </a:xfrm>
          <a:prstGeom prst="rect">
            <a:avLst/>
          </a:prstGeom>
          <a:noFill/>
        </p:spPr>
        <p:txBody>
          <a:bodyPr wrap="none" rtlCol="0">
            <a:spAutoFit/>
          </a:bodyPr>
          <a:lstStyle/>
          <a:p>
            <a:r>
              <a:rPr lang="zh-CN" altLang="en-US" dirty="0" smtClean="0">
                <a:solidFill>
                  <a:srgbClr val="FF0000"/>
                </a:solidFill>
              </a:rPr>
              <a:t>函数前的注释</a:t>
            </a:r>
            <a:endParaRPr lang="zh-CN" altLang="en-US" dirty="0">
              <a:solidFill>
                <a:srgbClr val="FF0000"/>
              </a:solidFill>
            </a:endParaRPr>
          </a:p>
        </p:txBody>
      </p:sp>
    </p:spTree>
    <p:extLst>
      <p:ext uri="{BB962C8B-B14F-4D97-AF65-F5344CB8AC3E}">
        <p14:creationId xmlns:p14="http://schemas.microsoft.com/office/powerpoint/2010/main" val="17307720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2"/>
          <p:cNvSpPr txBox="1">
            <a:spLocks noChangeArrowheads="1"/>
          </p:cNvSpPr>
          <p:nvPr/>
        </p:nvSpPr>
        <p:spPr bwMode="auto">
          <a:xfrm>
            <a:off x="5148263" y="1700213"/>
            <a:ext cx="2524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r>
              <a:rPr lang="en-US" altLang="zh-CN" sz="2000">
                <a:latin typeface="Times New Roman" pitchFamily="18" charset="0"/>
                <a:ea typeface="华文新魏" pitchFamily="2" charset="-122"/>
              </a:rPr>
              <a:t>N</a:t>
            </a:r>
          </a:p>
        </p:txBody>
      </p:sp>
      <p:sp>
        <p:nvSpPr>
          <p:cNvPr id="21507" name="Text Box 3"/>
          <p:cNvSpPr txBox="1">
            <a:spLocks noChangeArrowheads="1"/>
          </p:cNvSpPr>
          <p:nvPr/>
        </p:nvSpPr>
        <p:spPr bwMode="auto">
          <a:xfrm>
            <a:off x="7200900" y="225425"/>
            <a:ext cx="1474788" cy="64293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type="none" w="sm" len="med"/>
              </a14:hiddenLine>
            </a:ext>
          </a:extLst>
        </p:spPr>
        <p:txBody>
          <a:bodyPr lIns="0" tIns="108000" rIns="0" bIns="108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a:solidFill>
                  <a:srgbClr val="0000CC"/>
                </a:solidFill>
                <a:latin typeface="Times New Roman" pitchFamily="18" charset="0"/>
                <a:ea typeface="华文中宋" pitchFamily="2" charset="-122"/>
              </a:rPr>
              <a:t>流程图</a:t>
            </a:r>
          </a:p>
        </p:txBody>
      </p:sp>
      <p:sp>
        <p:nvSpPr>
          <p:cNvPr id="172036" name="AutoShape 4"/>
          <p:cNvSpPr>
            <a:spLocks noChangeArrowheads="1"/>
          </p:cNvSpPr>
          <p:nvPr/>
        </p:nvSpPr>
        <p:spPr bwMode="auto">
          <a:xfrm>
            <a:off x="2843213" y="1592263"/>
            <a:ext cx="2305050" cy="825500"/>
          </a:xfrm>
          <a:prstGeom prst="diamond">
            <a:avLst/>
          </a:prstGeom>
          <a:noFill/>
          <a:ln w="12700">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72000" rIns="0" bIns="72000" anchor="ctr">
            <a:spAutoFit/>
          </a:bodyPr>
          <a:lstStyle/>
          <a:p>
            <a:pPr>
              <a:spcBef>
                <a:spcPct val="0"/>
              </a:spcBef>
            </a:pPr>
            <a:r>
              <a:rPr lang="zh-CN" altLang="en-US" sz="2200">
                <a:latin typeface="Times New Roman" pitchFamily="18" charset="0"/>
              </a:rPr>
              <a:t>姓名无效</a:t>
            </a:r>
            <a:r>
              <a:rPr lang="en-US" altLang="zh-CN" sz="2200">
                <a:latin typeface="Times New Roman" pitchFamily="18" charset="0"/>
              </a:rPr>
              <a:t>?</a:t>
            </a:r>
          </a:p>
        </p:txBody>
      </p:sp>
      <p:sp>
        <p:nvSpPr>
          <p:cNvPr id="172037" name="Line 5"/>
          <p:cNvSpPr>
            <a:spLocks noChangeShapeType="1"/>
          </p:cNvSpPr>
          <p:nvPr/>
        </p:nvSpPr>
        <p:spPr bwMode="auto">
          <a:xfrm>
            <a:off x="4032250" y="908050"/>
            <a:ext cx="0" cy="64770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wrap="none" lIns="0" tIns="0" rIns="0" bIns="0" anchor="ctr">
            <a:spAutoFit/>
          </a:bodyPr>
          <a:lstStyle/>
          <a:p>
            <a:endParaRPr lang="zh-CN" altLang="en-US"/>
          </a:p>
        </p:txBody>
      </p:sp>
      <p:sp>
        <p:nvSpPr>
          <p:cNvPr id="172038" name="Line 6"/>
          <p:cNvSpPr>
            <a:spLocks noChangeShapeType="1"/>
          </p:cNvSpPr>
          <p:nvPr/>
        </p:nvSpPr>
        <p:spPr bwMode="auto">
          <a:xfrm>
            <a:off x="4643438" y="3392488"/>
            <a:ext cx="539750" cy="0"/>
          </a:xfrm>
          <a:prstGeom prst="line">
            <a:avLst/>
          </a:prstGeom>
          <a:noFill/>
          <a:ln w="19050">
            <a:solidFill>
              <a:srgbClr val="0000CC"/>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72039" name="Line 7"/>
          <p:cNvSpPr>
            <a:spLocks noChangeShapeType="1"/>
          </p:cNvSpPr>
          <p:nvPr/>
        </p:nvSpPr>
        <p:spPr bwMode="auto">
          <a:xfrm>
            <a:off x="4645025" y="3392488"/>
            <a:ext cx="0" cy="1044575"/>
          </a:xfrm>
          <a:prstGeom prst="line">
            <a:avLst/>
          </a:prstGeom>
          <a:noFill/>
          <a:ln w="19050">
            <a:solidFill>
              <a:srgbClr val="0000CC"/>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zh-CN" altLang="en-US"/>
          </a:p>
        </p:txBody>
      </p:sp>
      <p:sp>
        <p:nvSpPr>
          <p:cNvPr id="172040" name="AutoShape 8"/>
          <p:cNvSpPr>
            <a:spLocks noChangeArrowheads="1"/>
          </p:cNvSpPr>
          <p:nvPr/>
        </p:nvSpPr>
        <p:spPr bwMode="auto">
          <a:xfrm>
            <a:off x="7164388" y="4443413"/>
            <a:ext cx="1692275" cy="7493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180000" rIns="0" bIns="180000" anchor="ctr">
            <a:spAutoFit/>
          </a:bodyPr>
          <a:lstStyle/>
          <a:p>
            <a:pPr>
              <a:spcBef>
                <a:spcPct val="0"/>
              </a:spcBef>
            </a:pPr>
            <a:r>
              <a:rPr lang="zh-CN" altLang="en-US" sz="2200">
                <a:latin typeface="Times New Roman" pitchFamily="18" charset="0"/>
              </a:rPr>
              <a:t>姓名截短</a:t>
            </a:r>
          </a:p>
        </p:txBody>
      </p:sp>
      <p:sp>
        <p:nvSpPr>
          <p:cNvPr id="172041" name="AutoShape 9"/>
          <p:cNvSpPr>
            <a:spLocks noChangeArrowheads="1"/>
          </p:cNvSpPr>
          <p:nvPr/>
        </p:nvSpPr>
        <p:spPr bwMode="auto">
          <a:xfrm>
            <a:off x="3779838" y="4473575"/>
            <a:ext cx="1692275" cy="7493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180000" rIns="0" bIns="180000" anchor="ctr">
            <a:spAutoFit/>
          </a:bodyPr>
          <a:lstStyle/>
          <a:p>
            <a:pPr>
              <a:spcBef>
                <a:spcPct val="0"/>
              </a:spcBef>
            </a:pPr>
            <a:r>
              <a:rPr lang="zh-CN" altLang="en-US" sz="2200">
                <a:latin typeface="Times New Roman" pitchFamily="18" charset="0"/>
              </a:rPr>
              <a:t>姓名赋值</a:t>
            </a:r>
          </a:p>
        </p:txBody>
      </p:sp>
      <p:sp>
        <p:nvSpPr>
          <p:cNvPr id="172042" name="Line 10"/>
          <p:cNvSpPr>
            <a:spLocks noChangeShapeType="1"/>
          </p:cNvSpPr>
          <p:nvPr/>
        </p:nvSpPr>
        <p:spPr bwMode="auto">
          <a:xfrm>
            <a:off x="1582738" y="2024063"/>
            <a:ext cx="1225550" cy="0"/>
          </a:xfrm>
          <a:prstGeom prst="line">
            <a:avLst/>
          </a:prstGeom>
          <a:noFill/>
          <a:ln w="19050">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72043" name="Line 11"/>
          <p:cNvSpPr>
            <a:spLocks noChangeShapeType="1"/>
          </p:cNvSpPr>
          <p:nvPr/>
        </p:nvSpPr>
        <p:spPr bwMode="auto">
          <a:xfrm>
            <a:off x="1582738" y="2024063"/>
            <a:ext cx="0" cy="97313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72044" name="AutoShape 12"/>
          <p:cNvSpPr>
            <a:spLocks noChangeArrowheads="1"/>
          </p:cNvSpPr>
          <p:nvPr/>
        </p:nvSpPr>
        <p:spPr bwMode="auto">
          <a:xfrm>
            <a:off x="500063" y="3003550"/>
            <a:ext cx="2127250" cy="7493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180000" rIns="0" bIns="180000" anchor="ctr">
            <a:spAutoFit/>
          </a:bodyPr>
          <a:lstStyle/>
          <a:p>
            <a:pPr>
              <a:spcBef>
                <a:spcPct val="0"/>
              </a:spcBef>
            </a:pPr>
            <a:r>
              <a:rPr lang="zh-CN" altLang="en-US" sz="2200">
                <a:latin typeface="Times New Roman" pitchFamily="18" charset="0"/>
              </a:rPr>
              <a:t>姓名取默认值</a:t>
            </a:r>
          </a:p>
        </p:txBody>
      </p:sp>
      <p:sp>
        <p:nvSpPr>
          <p:cNvPr id="172045" name="AutoShape 13"/>
          <p:cNvSpPr>
            <a:spLocks noChangeArrowheads="1"/>
          </p:cNvSpPr>
          <p:nvPr/>
        </p:nvSpPr>
        <p:spPr bwMode="auto">
          <a:xfrm>
            <a:off x="5183188" y="2963863"/>
            <a:ext cx="2305050" cy="825500"/>
          </a:xfrm>
          <a:prstGeom prst="diamond">
            <a:avLst/>
          </a:prstGeom>
          <a:noFill/>
          <a:ln w="12700">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72000" rIns="0" bIns="72000" anchor="ctr">
            <a:spAutoFit/>
          </a:bodyPr>
          <a:lstStyle/>
          <a:p>
            <a:pPr>
              <a:spcBef>
                <a:spcPct val="0"/>
              </a:spcBef>
            </a:pPr>
            <a:r>
              <a:rPr lang="zh-CN" altLang="en-US" sz="2200">
                <a:latin typeface="Times New Roman" pitchFamily="18" charset="0"/>
              </a:rPr>
              <a:t>姓名太长</a:t>
            </a:r>
            <a:r>
              <a:rPr lang="en-US" altLang="zh-CN" sz="2200">
                <a:latin typeface="Times New Roman" pitchFamily="18" charset="0"/>
              </a:rPr>
              <a:t>?</a:t>
            </a:r>
          </a:p>
        </p:txBody>
      </p:sp>
      <p:sp>
        <p:nvSpPr>
          <p:cNvPr id="172046" name="AutoShape 14"/>
          <p:cNvSpPr>
            <a:spLocks noChangeArrowheads="1"/>
          </p:cNvSpPr>
          <p:nvPr/>
        </p:nvSpPr>
        <p:spPr bwMode="auto">
          <a:xfrm>
            <a:off x="468313" y="4516438"/>
            <a:ext cx="2127250" cy="749300"/>
          </a:xfrm>
          <a:prstGeom prst="roundRect">
            <a:avLst>
              <a:gd name="adj" fmla="val 16667"/>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180000" rIns="0" bIns="180000" anchor="ctr">
            <a:spAutoFit/>
          </a:bodyPr>
          <a:lstStyle/>
          <a:p>
            <a:pPr>
              <a:spcBef>
                <a:spcPct val="0"/>
              </a:spcBef>
            </a:pPr>
            <a:r>
              <a:rPr lang="zh-CN" altLang="en-US" sz="2200">
                <a:latin typeface="Times New Roman" pitchFamily="18" charset="0"/>
              </a:rPr>
              <a:t>输出到控制台</a:t>
            </a:r>
          </a:p>
        </p:txBody>
      </p:sp>
      <p:sp>
        <p:nvSpPr>
          <p:cNvPr id="172047" name="Line 15"/>
          <p:cNvSpPr>
            <a:spLocks noChangeShapeType="1"/>
          </p:cNvSpPr>
          <p:nvPr/>
        </p:nvSpPr>
        <p:spPr bwMode="auto">
          <a:xfrm flipH="1">
            <a:off x="1547813" y="3789363"/>
            <a:ext cx="0" cy="71913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72048" name="Line 16"/>
          <p:cNvSpPr>
            <a:spLocks noChangeShapeType="1"/>
          </p:cNvSpPr>
          <p:nvPr/>
        </p:nvSpPr>
        <p:spPr bwMode="auto">
          <a:xfrm>
            <a:off x="5148263" y="2024063"/>
            <a:ext cx="1190625" cy="0"/>
          </a:xfrm>
          <a:prstGeom prst="line">
            <a:avLst/>
          </a:prstGeom>
          <a:noFill/>
          <a:ln w="19050">
            <a:solidFill>
              <a:srgbClr val="0000CC"/>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72049" name="Line 17"/>
          <p:cNvSpPr>
            <a:spLocks noChangeShapeType="1"/>
          </p:cNvSpPr>
          <p:nvPr/>
        </p:nvSpPr>
        <p:spPr bwMode="auto">
          <a:xfrm>
            <a:off x="6335713" y="2024063"/>
            <a:ext cx="0" cy="900112"/>
          </a:xfrm>
          <a:prstGeom prst="line">
            <a:avLst/>
          </a:prstGeom>
          <a:noFill/>
          <a:ln w="19050">
            <a:solidFill>
              <a:srgbClr val="0000CC"/>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72050" name="Line 18"/>
          <p:cNvSpPr>
            <a:spLocks noChangeShapeType="1"/>
          </p:cNvSpPr>
          <p:nvPr/>
        </p:nvSpPr>
        <p:spPr bwMode="auto">
          <a:xfrm>
            <a:off x="7488238" y="3392488"/>
            <a:ext cx="539750" cy="0"/>
          </a:xfrm>
          <a:prstGeom prst="line">
            <a:avLst/>
          </a:prstGeom>
          <a:noFill/>
          <a:ln w="19050">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nchor="ctr">
            <a:spAutoFit/>
          </a:bodyPr>
          <a:lstStyle/>
          <a:p>
            <a:endParaRPr lang="zh-CN" altLang="en-US"/>
          </a:p>
        </p:txBody>
      </p:sp>
      <p:sp>
        <p:nvSpPr>
          <p:cNvPr id="172051" name="Line 19"/>
          <p:cNvSpPr>
            <a:spLocks noChangeShapeType="1"/>
          </p:cNvSpPr>
          <p:nvPr/>
        </p:nvSpPr>
        <p:spPr bwMode="auto">
          <a:xfrm>
            <a:off x="8027988" y="3392488"/>
            <a:ext cx="0" cy="10445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zh-CN" altLang="en-US"/>
          </a:p>
        </p:txBody>
      </p:sp>
      <p:sp>
        <p:nvSpPr>
          <p:cNvPr id="172052" name="Text Box 20"/>
          <p:cNvSpPr txBox="1">
            <a:spLocks noChangeArrowheads="1"/>
          </p:cNvSpPr>
          <p:nvPr/>
        </p:nvSpPr>
        <p:spPr bwMode="auto">
          <a:xfrm>
            <a:off x="2663825" y="1719263"/>
            <a:ext cx="2524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r>
              <a:rPr lang="en-US" altLang="zh-CN" sz="2000">
                <a:latin typeface="Times New Roman" pitchFamily="18" charset="0"/>
                <a:ea typeface="华文新魏" pitchFamily="2" charset="-122"/>
              </a:rPr>
              <a:t>Y</a:t>
            </a:r>
          </a:p>
        </p:txBody>
      </p:sp>
      <p:sp>
        <p:nvSpPr>
          <p:cNvPr id="172053" name="Text Box 21"/>
          <p:cNvSpPr txBox="1">
            <a:spLocks noChangeArrowheads="1"/>
          </p:cNvSpPr>
          <p:nvPr/>
        </p:nvSpPr>
        <p:spPr bwMode="auto">
          <a:xfrm>
            <a:off x="7488238" y="3087688"/>
            <a:ext cx="2524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r>
              <a:rPr lang="en-US" altLang="zh-CN" sz="2000">
                <a:latin typeface="Times New Roman" pitchFamily="18" charset="0"/>
                <a:ea typeface="华文新魏" pitchFamily="2" charset="-122"/>
              </a:rPr>
              <a:t>Y</a:t>
            </a:r>
          </a:p>
        </p:txBody>
      </p:sp>
      <p:sp>
        <p:nvSpPr>
          <p:cNvPr id="172054" name="Text Box 22"/>
          <p:cNvSpPr txBox="1">
            <a:spLocks noChangeArrowheads="1"/>
          </p:cNvSpPr>
          <p:nvPr/>
        </p:nvSpPr>
        <p:spPr bwMode="auto">
          <a:xfrm>
            <a:off x="4967288" y="3105150"/>
            <a:ext cx="2524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r>
              <a:rPr lang="en-US" altLang="zh-CN" sz="2000">
                <a:latin typeface="Times New Roman" pitchFamily="18" charset="0"/>
                <a:ea typeface="华文新魏" pitchFamily="2" charset="-122"/>
              </a:rPr>
              <a:t>N</a:t>
            </a:r>
          </a:p>
        </p:txBody>
      </p:sp>
      <p:sp>
        <p:nvSpPr>
          <p:cNvPr id="2" name="TextBox 1"/>
          <p:cNvSpPr txBox="1"/>
          <p:nvPr/>
        </p:nvSpPr>
        <p:spPr>
          <a:xfrm>
            <a:off x="425949" y="367167"/>
            <a:ext cx="4570482" cy="369332"/>
          </a:xfrm>
          <a:prstGeom prst="rect">
            <a:avLst/>
          </a:prstGeom>
          <a:noFill/>
        </p:spPr>
        <p:txBody>
          <a:bodyPr wrap="none" rtlCol="0">
            <a:spAutoFit/>
          </a:bodyPr>
          <a:lstStyle/>
          <a:p>
            <a:r>
              <a:rPr lang="zh-CN" altLang="en-US" dirty="0" smtClean="0">
                <a:solidFill>
                  <a:srgbClr val="FF0000"/>
                </a:solidFill>
              </a:rPr>
              <a:t>软件分析、设计文档内容要完整、规范等。</a:t>
            </a:r>
            <a:endParaRPr lang="zh-CN" altLang="en-US" dirty="0">
              <a:solidFill>
                <a:srgbClr val="FF0000"/>
              </a:solidFill>
            </a:endParaRPr>
          </a:p>
        </p:txBody>
      </p:sp>
    </p:spTree>
    <p:extLst>
      <p:ext uri="{BB962C8B-B14F-4D97-AF65-F5344CB8AC3E}">
        <p14:creationId xmlns:p14="http://schemas.microsoft.com/office/powerpoint/2010/main" val="24359917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203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203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205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203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2042"/>
                                        </p:tgtEl>
                                        <p:attrNameLst>
                                          <p:attrName>style.visibility</p:attrName>
                                        </p:attrNameLst>
                                      </p:cBhvr>
                                      <p:to>
                                        <p:strVal val="visible"/>
                                      </p:to>
                                    </p:set>
                                  </p:childTnLst>
                                </p:cTn>
                              </p:par>
                            </p:childTnLst>
                          </p:cTn>
                        </p:par>
                        <p:par>
                          <p:cTn id="23" fill="hold" nodeType="afterGroup">
                            <p:stCondLst>
                              <p:cond delay="0"/>
                            </p:stCondLst>
                            <p:childTnLst>
                              <p:par>
                                <p:cTn id="24" presetID="1" presetClass="entr" presetSubtype="0" fill="hold" grpId="0" nodeType="afterEffect">
                                  <p:stCondLst>
                                    <p:cond delay="500"/>
                                  </p:stCondLst>
                                  <p:childTnLst>
                                    <p:set>
                                      <p:cBhvr>
                                        <p:cTn id="25" dur="1" fill="hold">
                                          <p:stCondLst>
                                            <p:cond delay="0"/>
                                          </p:stCondLst>
                                        </p:cTn>
                                        <p:tgtEl>
                                          <p:spTgt spid="172043"/>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72044"/>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72047"/>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72046"/>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72048"/>
                                        </p:tgtEl>
                                        <p:attrNameLst>
                                          <p:attrName>style.visibility</p:attrName>
                                        </p:attrNameLst>
                                      </p:cBhvr>
                                      <p:to>
                                        <p:strVal val="visible"/>
                                      </p:to>
                                    </p:set>
                                  </p:childTnLst>
                                </p:cTn>
                              </p:par>
                            </p:childTnLst>
                          </p:cTn>
                        </p:par>
                        <p:par>
                          <p:cTn id="42" fill="hold" nodeType="afterGroup">
                            <p:stCondLst>
                              <p:cond delay="0"/>
                            </p:stCondLst>
                            <p:childTnLst>
                              <p:par>
                                <p:cTn id="43" presetID="1" presetClass="entr" presetSubtype="0" fill="hold" grpId="0" nodeType="afterEffect">
                                  <p:stCondLst>
                                    <p:cond delay="500"/>
                                  </p:stCondLst>
                                  <p:childTnLst>
                                    <p:set>
                                      <p:cBhvr>
                                        <p:cTn id="44" dur="1" fill="hold">
                                          <p:stCondLst>
                                            <p:cond delay="0"/>
                                          </p:stCondLst>
                                        </p:cTn>
                                        <p:tgtEl>
                                          <p:spTgt spid="172049"/>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72045"/>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72053"/>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2054"/>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2050"/>
                                        </p:tgtEl>
                                        <p:attrNameLst>
                                          <p:attrName>style.visibility</p:attrName>
                                        </p:attrNameLst>
                                      </p:cBhvr>
                                      <p:to>
                                        <p:strVal val="visible"/>
                                      </p:to>
                                    </p:set>
                                  </p:childTnLst>
                                </p:cTn>
                              </p:par>
                            </p:childTnLst>
                          </p:cTn>
                        </p:par>
                        <p:par>
                          <p:cTn id="61" fill="hold" nodeType="afterGroup">
                            <p:stCondLst>
                              <p:cond delay="0"/>
                            </p:stCondLst>
                            <p:childTnLst>
                              <p:par>
                                <p:cTn id="62" presetID="1" presetClass="entr" presetSubtype="0" fill="hold" grpId="0" nodeType="afterEffect">
                                  <p:stCondLst>
                                    <p:cond delay="500"/>
                                  </p:stCondLst>
                                  <p:childTnLst>
                                    <p:set>
                                      <p:cBhvr>
                                        <p:cTn id="63" dur="1" fill="hold">
                                          <p:stCondLst>
                                            <p:cond delay="0"/>
                                          </p:stCondLst>
                                        </p:cTn>
                                        <p:tgtEl>
                                          <p:spTgt spid="172051"/>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72040"/>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72038"/>
                                        </p:tgtEl>
                                        <p:attrNameLst>
                                          <p:attrName>style.visibility</p:attrName>
                                        </p:attrNameLst>
                                      </p:cBhvr>
                                      <p:to>
                                        <p:strVal val="visible"/>
                                      </p:to>
                                    </p:set>
                                  </p:childTnLst>
                                </p:cTn>
                              </p:par>
                            </p:childTnLst>
                          </p:cTn>
                        </p:par>
                        <p:par>
                          <p:cTn id="72" fill="hold" nodeType="afterGroup">
                            <p:stCondLst>
                              <p:cond delay="0"/>
                            </p:stCondLst>
                            <p:childTnLst>
                              <p:par>
                                <p:cTn id="73" presetID="1" presetClass="entr" presetSubtype="0" fill="hold" grpId="0" nodeType="afterEffect">
                                  <p:stCondLst>
                                    <p:cond delay="500"/>
                                  </p:stCondLst>
                                  <p:childTnLst>
                                    <p:set>
                                      <p:cBhvr>
                                        <p:cTn id="74" dur="1" fill="hold">
                                          <p:stCondLst>
                                            <p:cond delay="0"/>
                                          </p:stCondLst>
                                        </p:cTn>
                                        <p:tgtEl>
                                          <p:spTgt spid="172039"/>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720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p:bldP spid="172036" grpId="0" animBg="1"/>
      <p:bldP spid="172037" grpId="0" animBg="1"/>
      <p:bldP spid="172038" grpId="0" animBg="1"/>
      <p:bldP spid="172039" grpId="0" animBg="1"/>
      <p:bldP spid="172040" grpId="0" animBg="1"/>
      <p:bldP spid="172041" grpId="0" animBg="1"/>
      <p:bldP spid="172042" grpId="0" animBg="1"/>
      <p:bldP spid="172043" grpId="0" animBg="1"/>
      <p:bldP spid="172044" grpId="0" animBg="1"/>
      <p:bldP spid="172045" grpId="0" animBg="1"/>
      <p:bldP spid="172046" grpId="0" animBg="1"/>
      <p:bldP spid="172047" grpId="0" animBg="1"/>
      <p:bldP spid="172048" grpId="0" animBg="1"/>
      <p:bldP spid="172049" grpId="0" animBg="1"/>
      <p:bldP spid="172050" grpId="0" animBg="1"/>
      <p:bldP spid="172051" grpId="0" animBg="1"/>
      <p:bldP spid="172052" grpId="0"/>
      <p:bldP spid="172053" grpId="0"/>
      <p:bldP spid="17205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2"/>
          <p:cNvSpPr txBox="1">
            <a:spLocks noChangeArrowheads="1"/>
          </p:cNvSpPr>
          <p:nvPr/>
        </p:nvSpPr>
        <p:spPr bwMode="auto">
          <a:xfrm>
            <a:off x="142875" y="455613"/>
            <a:ext cx="8964613" cy="563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15000"/>
              </a:spcBef>
              <a:buClr>
                <a:srgbClr val="CCFFFF"/>
              </a:buClr>
              <a:buSzPct val="70000"/>
              <a:buFont typeface="Wingdings" pitchFamily="2" charset="2"/>
              <a:buNone/>
            </a:pPr>
            <a:r>
              <a:rPr lang="en-US" altLang="zh-CN" sz="2000">
                <a:latin typeface="Times New Roman" pitchFamily="18" charset="0"/>
                <a:ea typeface="宋体" charset="-122"/>
              </a:rPr>
              <a:t>protected final void setName(string aName) </a:t>
            </a:r>
          </a:p>
          <a:p>
            <a:pPr algn="l" eaLnBrk="1" hangingPunct="1">
              <a:spcBef>
                <a:spcPct val="15000"/>
              </a:spcBef>
              <a:buClr>
                <a:srgbClr val="CCFFFF"/>
              </a:buClr>
              <a:buSzPct val="70000"/>
              <a:buFont typeface="Wingdings" pitchFamily="2" charset="2"/>
              <a:buNone/>
            </a:pPr>
            <a:r>
              <a:rPr lang="en-US" altLang="zh-CN" sz="2000">
                <a:latin typeface="Times New Roman" pitchFamily="18" charset="0"/>
                <a:ea typeface="宋体" charset="-122"/>
              </a:rPr>
              <a:t>{ </a:t>
            </a:r>
          </a:p>
          <a:p>
            <a:pPr algn="l" eaLnBrk="1" hangingPunct="1">
              <a:spcBef>
                <a:spcPct val="15000"/>
              </a:spcBef>
              <a:buClr>
                <a:srgbClr val="CCFFFF"/>
              </a:buClr>
              <a:buSzPct val="70000"/>
              <a:buFont typeface="Wingdings" pitchFamily="2" charset="2"/>
              <a:buNone/>
            </a:pPr>
            <a:r>
              <a:rPr lang="en-US" altLang="zh-CN" sz="2000">
                <a:solidFill>
                  <a:srgbClr val="0000CC"/>
                </a:solidFill>
                <a:latin typeface="Times New Roman" pitchFamily="18" charset="0"/>
                <a:ea typeface="宋体" charset="-122"/>
              </a:rPr>
              <a:t>   //</a:t>
            </a:r>
            <a:r>
              <a:rPr lang="zh-CN" altLang="en-US" sz="2000">
                <a:solidFill>
                  <a:srgbClr val="0000CC"/>
                </a:solidFill>
                <a:latin typeface="Times New Roman" pitchFamily="18" charset="0"/>
                <a:ea typeface="宋体" charset="-122"/>
              </a:rPr>
              <a:t>检查姓名是否有效</a:t>
            </a:r>
          </a:p>
          <a:p>
            <a:pPr algn="l" eaLnBrk="1" hangingPunct="1">
              <a:spcBef>
                <a:spcPct val="15000"/>
              </a:spcBef>
              <a:buClr>
                <a:srgbClr val="CCFFFF"/>
              </a:buClr>
              <a:buSzPct val="70000"/>
              <a:buFont typeface="Wingdings" pitchFamily="2" charset="2"/>
              <a:buNone/>
            </a:pPr>
            <a:r>
              <a:rPr lang="zh-CN" altLang="en-US" sz="2000">
                <a:latin typeface="Times New Roman" pitchFamily="18" charset="0"/>
                <a:ea typeface="宋体" charset="-122"/>
              </a:rPr>
              <a:t>   </a:t>
            </a:r>
            <a:r>
              <a:rPr lang="en-US" altLang="zh-CN" sz="2000">
                <a:latin typeface="Times New Roman" pitchFamily="18" charset="0"/>
                <a:ea typeface="宋体" charset="-122"/>
              </a:rPr>
              <a:t>if( (aName==null)</a:t>
            </a:r>
          </a:p>
          <a:p>
            <a:pPr algn="l" eaLnBrk="1" hangingPunct="1">
              <a:spcBef>
                <a:spcPct val="15000"/>
              </a:spcBef>
              <a:buClr>
                <a:srgbClr val="CCFFFF"/>
              </a:buClr>
              <a:buSzPct val="70000"/>
              <a:buFont typeface="Wingdings" pitchFamily="2" charset="2"/>
              <a:buNone/>
            </a:pPr>
            <a:r>
              <a:rPr lang="en-US" altLang="zh-CN" sz="2000">
                <a:latin typeface="Times New Roman" pitchFamily="18" charset="0"/>
                <a:ea typeface="宋体" charset="-122"/>
              </a:rPr>
              <a:t>           ||(maxNumCharsInName( )&lt;=0)</a:t>
            </a:r>
          </a:p>
          <a:p>
            <a:pPr algn="l" eaLnBrk="1" hangingPunct="1">
              <a:spcBef>
                <a:spcPct val="15000"/>
              </a:spcBef>
              <a:buClr>
                <a:srgbClr val="CCFFFF"/>
              </a:buClr>
              <a:buSzPct val="70000"/>
              <a:buFont typeface="Wingdings" pitchFamily="2" charset="2"/>
              <a:buNone/>
            </a:pPr>
            <a:r>
              <a:rPr lang="en-US" altLang="zh-CN" sz="2000">
                <a:latin typeface="Times New Roman" pitchFamily="18" charset="0"/>
                <a:ea typeface="宋体" charset="-122"/>
              </a:rPr>
              <a:t>           ||(maxNumCharsInName( )&gt;alltimeLimitOfNameLength( )) )</a:t>
            </a:r>
          </a:p>
          <a:p>
            <a:pPr algn="l" eaLnBrk="1" hangingPunct="1">
              <a:spcBef>
                <a:spcPct val="15000"/>
              </a:spcBef>
              <a:buClr>
                <a:srgbClr val="CCFFFF"/>
              </a:buClr>
              <a:buSzPct val="70000"/>
              <a:buFont typeface="Wingdings" pitchFamily="2" charset="2"/>
              <a:buNone/>
            </a:pPr>
            <a:r>
              <a:rPr lang="en-US" altLang="zh-CN" sz="2000">
                <a:latin typeface="Times New Roman" pitchFamily="18" charset="0"/>
                <a:ea typeface="宋体" charset="-122"/>
              </a:rPr>
              <a:t>      { name=new String(“defaultName”);</a:t>
            </a:r>
          </a:p>
          <a:p>
            <a:pPr algn="l" eaLnBrk="1" hangingPunct="1">
              <a:spcBef>
                <a:spcPct val="15000"/>
              </a:spcBef>
              <a:buClr>
                <a:srgbClr val="CCFFFF"/>
              </a:buClr>
              <a:buSzPct val="70000"/>
              <a:buFont typeface="Wingdings" pitchFamily="2" charset="2"/>
              <a:buNone/>
            </a:pPr>
            <a:r>
              <a:rPr lang="en-US" altLang="zh-CN" sz="2000">
                <a:latin typeface="Times New Roman" pitchFamily="18" charset="0"/>
                <a:ea typeface="宋体" charset="-122"/>
              </a:rPr>
              <a:t>        System.out.printin(“defaultName selected by GameCharacter.setName( )”); }</a:t>
            </a:r>
          </a:p>
          <a:p>
            <a:pPr algn="l" eaLnBrk="1" hangingPunct="1">
              <a:spcBef>
                <a:spcPct val="15000"/>
              </a:spcBef>
              <a:buClr>
                <a:srgbClr val="CCFFFF"/>
              </a:buClr>
              <a:buSzPct val="70000"/>
              <a:buFont typeface="Wingdings" pitchFamily="2" charset="2"/>
              <a:buNone/>
            </a:pPr>
            <a:r>
              <a:rPr lang="en-US" altLang="zh-CN" sz="2000">
                <a:latin typeface="Times New Roman" pitchFamily="18" charset="0"/>
                <a:ea typeface="宋体" charset="-122"/>
              </a:rPr>
              <a:t>   else</a:t>
            </a:r>
          </a:p>
          <a:p>
            <a:pPr algn="l" eaLnBrk="1" hangingPunct="1">
              <a:spcBef>
                <a:spcPct val="15000"/>
              </a:spcBef>
              <a:buClr>
                <a:srgbClr val="CCFFFF"/>
              </a:buClr>
              <a:buSzPct val="70000"/>
              <a:buFont typeface="Wingdings" pitchFamily="2" charset="2"/>
              <a:buNone/>
            </a:pPr>
            <a:r>
              <a:rPr lang="en-US" altLang="zh-CN" sz="2000">
                <a:latin typeface="Times New Roman" pitchFamily="18" charset="0"/>
                <a:ea typeface="宋体" charset="-122"/>
              </a:rPr>
              <a:t>       </a:t>
            </a:r>
            <a:r>
              <a:rPr lang="en-US" altLang="zh-CN" sz="2000">
                <a:solidFill>
                  <a:srgbClr val="0000CC"/>
                </a:solidFill>
                <a:latin typeface="Times New Roman" pitchFamily="18" charset="0"/>
                <a:ea typeface="宋体" charset="-122"/>
              </a:rPr>
              <a:t>//</a:t>
            </a:r>
            <a:r>
              <a:rPr lang="zh-CN" altLang="en-US" sz="2000">
                <a:solidFill>
                  <a:srgbClr val="0000CC"/>
                </a:solidFill>
                <a:latin typeface="Times New Roman" pitchFamily="18" charset="0"/>
                <a:ea typeface="宋体" charset="-122"/>
              </a:rPr>
              <a:t>若姓名太长，则姓名截短  </a:t>
            </a:r>
          </a:p>
          <a:p>
            <a:pPr algn="l" eaLnBrk="1" hangingPunct="1">
              <a:spcBef>
                <a:spcPct val="15000"/>
              </a:spcBef>
              <a:buClr>
                <a:srgbClr val="CCFFFF"/>
              </a:buClr>
              <a:buSzPct val="70000"/>
              <a:buFont typeface="Wingdings" pitchFamily="2" charset="2"/>
              <a:buNone/>
            </a:pPr>
            <a:r>
              <a:rPr lang="zh-CN" altLang="en-US" sz="2000">
                <a:latin typeface="Times New Roman" pitchFamily="18" charset="0"/>
                <a:ea typeface="宋体" charset="-122"/>
              </a:rPr>
              <a:t>       </a:t>
            </a:r>
            <a:r>
              <a:rPr lang="en-US" altLang="zh-CN" sz="2000">
                <a:latin typeface="Times New Roman" pitchFamily="18" charset="0"/>
                <a:ea typeface="宋体" charset="-122"/>
              </a:rPr>
              <a:t>if(aName.length( )&gt;maxNumCharsInName( ))   </a:t>
            </a:r>
          </a:p>
          <a:p>
            <a:pPr algn="l" eaLnBrk="1" hangingPunct="1">
              <a:spcBef>
                <a:spcPct val="15000"/>
              </a:spcBef>
              <a:buClr>
                <a:srgbClr val="CCFFFF"/>
              </a:buClr>
              <a:buSzPct val="70000"/>
              <a:buFont typeface="Wingdings" pitchFamily="2" charset="2"/>
              <a:buNone/>
            </a:pPr>
            <a:r>
              <a:rPr lang="en-US" altLang="zh-CN" sz="2200">
                <a:latin typeface="Times New Roman" pitchFamily="18" charset="0"/>
              </a:rPr>
              <a:t>          name=new String(aName.getBytes( ), 0, maxNumCharsInName( ));</a:t>
            </a:r>
          </a:p>
          <a:p>
            <a:pPr algn="l" eaLnBrk="1" hangingPunct="1">
              <a:spcBef>
                <a:spcPct val="15000"/>
              </a:spcBef>
              <a:buClr>
                <a:srgbClr val="CCFFFF"/>
              </a:buClr>
              <a:buSzPct val="70000"/>
              <a:buFont typeface="Wingdings" pitchFamily="2" charset="2"/>
              <a:buNone/>
            </a:pPr>
            <a:r>
              <a:rPr lang="en-US" altLang="zh-CN" sz="2000">
                <a:latin typeface="Times New Roman" pitchFamily="18" charset="0"/>
                <a:ea typeface="宋体" charset="-122"/>
              </a:rPr>
              <a:t>      </a:t>
            </a:r>
            <a:r>
              <a:rPr lang="en-US" altLang="zh-CN" sz="2000">
                <a:solidFill>
                  <a:srgbClr val="0000CC"/>
                </a:solidFill>
                <a:latin typeface="Times New Roman" pitchFamily="18" charset="0"/>
                <a:ea typeface="宋体" charset="-122"/>
              </a:rPr>
              <a:t>//</a:t>
            </a:r>
            <a:r>
              <a:rPr lang="zh-CN" altLang="en-US" sz="2000">
                <a:solidFill>
                  <a:srgbClr val="0000CC"/>
                </a:solidFill>
                <a:latin typeface="Times New Roman" pitchFamily="18" charset="0"/>
                <a:ea typeface="宋体" charset="-122"/>
              </a:rPr>
              <a:t>若姓名不长，则姓名赋值</a:t>
            </a:r>
          </a:p>
          <a:p>
            <a:pPr algn="l" eaLnBrk="1" hangingPunct="1">
              <a:spcBef>
                <a:spcPct val="15000"/>
              </a:spcBef>
              <a:buClr>
                <a:srgbClr val="CCFFFF"/>
              </a:buClr>
              <a:buSzPct val="70000"/>
              <a:buFont typeface="Wingdings" pitchFamily="2" charset="2"/>
              <a:buNone/>
            </a:pPr>
            <a:r>
              <a:rPr lang="zh-CN" altLang="en-US" sz="2000">
                <a:latin typeface="Times New Roman" pitchFamily="18" charset="0"/>
                <a:ea typeface="宋体" charset="-122"/>
              </a:rPr>
              <a:t>      </a:t>
            </a:r>
            <a:r>
              <a:rPr lang="en-US" altLang="zh-CN" sz="2000">
                <a:latin typeface="Times New Roman" pitchFamily="18" charset="0"/>
                <a:ea typeface="宋体" charset="-122"/>
              </a:rPr>
              <a:t>else</a:t>
            </a:r>
          </a:p>
          <a:p>
            <a:pPr algn="l" eaLnBrk="1" hangingPunct="1">
              <a:spcBef>
                <a:spcPct val="15000"/>
              </a:spcBef>
              <a:buClr>
                <a:srgbClr val="CCFFFF"/>
              </a:buClr>
              <a:buSzPct val="70000"/>
              <a:buFont typeface="Wingdings" pitchFamily="2" charset="2"/>
              <a:buNone/>
            </a:pPr>
            <a:r>
              <a:rPr lang="en-US" altLang="zh-CN" sz="2000">
                <a:latin typeface="Times New Roman" pitchFamily="18" charset="0"/>
                <a:ea typeface="宋体" charset="-122"/>
              </a:rPr>
              <a:t>          </a:t>
            </a:r>
            <a:r>
              <a:rPr lang="en-US" altLang="zh-CN" sz="2200">
                <a:latin typeface="Times New Roman" pitchFamily="18" charset="0"/>
              </a:rPr>
              <a:t>name=new String(aName);</a:t>
            </a:r>
            <a:endParaRPr lang="en-US" altLang="zh-CN" sz="2000">
              <a:latin typeface="Times New Roman" pitchFamily="18" charset="0"/>
              <a:ea typeface="宋体" charset="-122"/>
            </a:endParaRPr>
          </a:p>
          <a:p>
            <a:pPr algn="l" eaLnBrk="1" hangingPunct="1">
              <a:spcBef>
                <a:spcPct val="15000"/>
              </a:spcBef>
              <a:buClr>
                <a:srgbClr val="CCFFFF"/>
              </a:buClr>
              <a:buSzPct val="70000"/>
              <a:buFont typeface="Wingdings" pitchFamily="2" charset="2"/>
              <a:buNone/>
            </a:pPr>
            <a:r>
              <a:rPr lang="en-US" altLang="zh-CN" sz="2000">
                <a:latin typeface="Times New Roman" pitchFamily="18" charset="0"/>
                <a:ea typeface="宋体" charset="-122"/>
              </a:rPr>
              <a:t>}</a:t>
            </a:r>
          </a:p>
        </p:txBody>
      </p:sp>
      <p:sp>
        <p:nvSpPr>
          <p:cNvPr id="22532" name="AutoShape 5">
            <a:hlinkClick r:id="" action="ppaction://noaction" highlightClick="1"/>
          </p:cNvPr>
          <p:cNvSpPr>
            <a:spLocks noChangeArrowheads="1"/>
          </p:cNvSpPr>
          <p:nvPr/>
        </p:nvSpPr>
        <p:spPr bwMode="auto">
          <a:xfrm>
            <a:off x="8748713" y="0"/>
            <a:ext cx="395287" cy="188913"/>
          </a:xfrm>
          <a:prstGeom prst="actionButtonBlank">
            <a:avLst/>
          </a:prstGeom>
          <a:solidFill>
            <a:srgbClr val="00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73062" name="AutoShape 6">
            <a:hlinkClick r:id="" action="ppaction://noaction" highlightClick="1"/>
          </p:cNvPr>
          <p:cNvSpPr>
            <a:spLocks noChangeArrowheads="1"/>
          </p:cNvSpPr>
          <p:nvPr/>
        </p:nvSpPr>
        <p:spPr bwMode="auto">
          <a:xfrm>
            <a:off x="8748713" y="6669088"/>
            <a:ext cx="395287" cy="188912"/>
          </a:xfrm>
          <a:prstGeom prst="actionButtonBlank">
            <a:avLst/>
          </a:prstGeom>
          <a:solidFill>
            <a:srgbClr val="00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 name="TextBox 5"/>
          <p:cNvSpPr txBox="1"/>
          <p:nvPr/>
        </p:nvSpPr>
        <p:spPr>
          <a:xfrm>
            <a:off x="161060" y="75684"/>
            <a:ext cx="4108817" cy="369332"/>
          </a:xfrm>
          <a:prstGeom prst="rect">
            <a:avLst/>
          </a:prstGeom>
          <a:noFill/>
        </p:spPr>
        <p:txBody>
          <a:bodyPr wrap="none" rtlCol="0">
            <a:spAutoFit/>
          </a:bodyPr>
          <a:lstStyle/>
          <a:p>
            <a:r>
              <a:rPr lang="zh-CN" altLang="en-US" dirty="0" smtClean="0">
                <a:solidFill>
                  <a:srgbClr val="FF0000"/>
                </a:solidFill>
              </a:rPr>
              <a:t>代码中重要语句、重要分支功能的注释</a:t>
            </a:r>
            <a:endParaRPr lang="zh-CN" altLang="en-US" dirty="0">
              <a:solidFill>
                <a:srgbClr val="FF0000"/>
              </a:solidFill>
            </a:endParaRPr>
          </a:p>
        </p:txBody>
      </p:sp>
    </p:spTree>
    <p:extLst>
      <p:ext uri="{BB962C8B-B14F-4D97-AF65-F5344CB8AC3E}">
        <p14:creationId xmlns:p14="http://schemas.microsoft.com/office/powerpoint/2010/main" val="28691680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305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305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305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3058">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3058">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3058">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3058">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3058">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3058">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3058">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3058">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3058">
                                            <p:txEl>
                                              <p:pRg st="11" end="11"/>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3058">
                                            <p:txEl>
                                              <p:pRg st="12" end="12"/>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3058">
                                            <p:txEl>
                                              <p:pRg st="13" end="13"/>
                                            </p:txEl>
                                          </p:spTgt>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3058">
                                            <p:txEl>
                                              <p:pRg st="14" end="14"/>
                                            </p:txEl>
                                          </p:spTgt>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3058">
                                            <p:txEl>
                                              <p:pRg st="15" end="15"/>
                                            </p:txEl>
                                          </p:spTgt>
                                        </p:tgtEl>
                                        <p:attrNameLst>
                                          <p:attrName>style.visibility</p:attrName>
                                        </p:attrNameLst>
                                      </p:cBhvr>
                                      <p:to>
                                        <p:strVal val="visible"/>
                                      </p:to>
                                    </p:set>
                                  </p:childTnLst>
                                </p:cTn>
                              </p:par>
                            </p:childTnLst>
                          </p:cTn>
                        </p:par>
                        <p:par>
                          <p:cTn id="67" fill="hold" nodeType="afterGroup">
                            <p:stCondLst>
                              <p:cond delay="0"/>
                            </p:stCondLst>
                            <p:childTnLst>
                              <p:par>
                                <p:cTn id="68" presetID="1" presetClass="entr" presetSubtype="0" fill="hold" grpId="0" nodeType="afterEffect">
                                  <p:stCondLst>
                                    <p:cond delay="0"/>
                                  </p:stCondLst>
                                  <p:childTnLst>
                                    <p:set>
                                      <p:cBhvr>
                                        <p:cTn id="69" dur="1" fill="hold">
                                          <p:stCondLst>
                                            <p:cond delay="0"/>
                                          </p:stCondLst>
                                        </p:cTn>
                                        <p:tgtEl>
                                          <p:spTgt spid="1730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8" grpId="0" build="p"/>
      <p:bldP spid="17306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2"/>
          <p:cNvSpPr txBox="1">
            <a:spLocks noChangeArrowheads="1"/>
          </p:cNvSpPr>
          <p:nvPr/>
        </p:nvSpPr>
        <p:spPr bwMode="auto">
          <a:xfrm>
            <a:off x="466725" y="260350"/>
            <a:ext cx="55800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pPr>
            <a:r>
              <a:rPr lang="en-US" altLang="zh-CN" sz="2700">
                <a:solidFill>
                  <a:schemeClr val="tx2"/>
                </a:solidFill>
                <a:latin typeface="Times New Roman" pitchFamily="18" charset="0"/>
                <a:ea typeface="宋体" charset="-122"/>
              </a:rPr>
              <a:t>FOR  </a:t>
            </a:r>
            <a:r>
              <a:rPr lang="zh-CN" altLang="en-US" sz="2700">
                <a:latin typeface="Times New Roman" pitchFamily="18" charset="0"/>
                <a:ea typeface="宋体" charset="-122"/>
              </a:rPr>
              <a:t>操作员操作时间的微秒数</a:t>
            </a:r>
          </a:p>
        </p:txBody>
      </p:sp>
      <p:sp>
        <p:nvSpPr>
          <p:cNvPr id="174083" name="Text Box 3"/>
          <p:cNvSpPr txBox="1">
            <a:spLocks noChangeArrowheads="1"/>
          </p:cNvSpPr>
          <p:nvPr/>
        </p:nvSpPr>
        <p:spPr bwMode="auto">
          <a:xfrm>
            <a:off x="898525" y="692150"/>
            <a:ext cx="38893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pPr>
            <a:r>
              <a:rPr lang="en-US" altLang="zh-CN" sz="2700">
                <a:solidFill>
                  <a:schemeClr val="tx2"/>
                </a:solidFill>
                <a:latin typeface="Times New Roman" pitchFamily="18" charset="0"/>
                <a:ea typeface="宋体" charset="-122"/>
              </a:rPr>
              <a:t>IF </a:t>
            </a:r>
            <a:r>
              <a:rPr lang="zh-CN" altLang="en-US" sz="2700">
                <a:latin typeface="Times New Roman" pitchFamily="18" charset="0"/>
                <a:ea typeface="宋体" charset="-122"/>
              </a:rPr>
              <a:t>操作时间超过临界值</a:t>
            </a:r>
            <a:endParaRPr lang="zh-CN" altLang="en-US" sz="2700">
              <a:solidFill>
                <a:schemeClr val="tx2"/>
              </a:solidFill>
              <a:latin typeface="Times New Roman" pitchFamily="18" charset="0"/>
              <a:ea typeface="宋体" charset="-122"/>
            </a:endParaRPr>
          </a:p>
        </p:txBody>
      </p:sp>
      <p:sp>
        <p:nvSpPr>
          <p:cNvPr id="174084" name="Text Box 4"/>
          <p:cNvSpPr txBox="1">
            <a:spLocks noChangeArrowheads="1"/>
          </p:cNvSpPr>
          <p:nvPr/>
        </p:nvSpPr>
        <p:spPr bwMode="auto">
          <a:xfrm>
            <a:off x="503238" y="6099175"/>
            <a:ext cx="16922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pPr>
            <a:r>
              <a:rPr lang="en-US" altLang="zh-CN" sz="2700">
                <a:solidFill>
                  <a:schemeClr val="tx2"/>
                </a:solidFill>
                <a:latin typeface="Times New Roman" pitchFamily="18" charset="0"/>
                <a:ea typeface="宋体" charset="-122"/>
              </a:rPr>
              <a:t>ENDFOR</a:t>
            </a:r>
          </a:p>
        </p:txBody>
      </p:sp>
      <p:sp>
        <p:nvSpPr>
          <p:cNvPr id="174085" name="Text Box 5"/>
          <p:cNvSpPr txBox="1">
            <a:spLocks noChangeArrowheads="1"/>
          </p:cNvSpPr>
          <p:nvPr/>
        </p:nvSpPr>
        <p:spPr bwMode="auto">
          <a:xfrm>
            <a:off x="898525" y="2930525"/>
            <a:ext cx="133191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pPr>
            <a:r>
              <a:rPr lang="en-US" altLang="zh-CN" sz="2700">
                <a:solidFill>
                  <a:schemeClr val="tx2"/>
                </a:solidFill>
                <a:latin typeface="Times New Roman" pitchFamily="18" charset="0"/>
                <a:ea typeface="宋体" charset="-122"/>
              </a:rPr>
              <a:t>ENDIF</a:t>
            </a:r>
          </a:p>
        </p:txBody>
      </p:sp>
      <p:sp>
        <p:nvSpPr>
          <p:cNvPr id="174086" name="Text Box 6"/>
          <p:cNvSpPr txBox="1">
            <a:spLocks noChangeArrowheads="1"/>
          </p:cNvSpPr>
          <p:nvPr/>
        </p:nvSpPr>
        <p:spPr bwMode="auto">
          <a:xfrm>
            <a:off x="898525" y="3392488"/>
            <a:ext cx="30956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pPr>
            <a:r>
              <a:rPr lang="en-US" altLang="zh-CN" sz="2700">
                <a:solidFill>
                  <a:schemeClr val="tx2"/>
                </a:solidFill>
                <a:latin typeface="Times New Roman" pitchFamily="18" charset="0"/>
                <a:ea typeface="宋体" charset="-122"/>
              </a:rPr>
              <a:t>IF </a:t>
            </a:r>
            <a:r>
              <a:rPr lang="zh-CN" altLang="en-US" sz="2700">
                <a:latin typeface="Times New Roman" pitchFamily="18" charset="0"/>
                <a:ea typeface="宋体" charset="-122"/>
              </a:rPr>
              <a:t>功率超过临界值</a:t>
            </a:r>
            <a:endParaRPr lang="zh-CN" altLang="en-US" sz="2700">
              <a:solidFill>
                <a:schemeClr val="tx2"/>
              </a:solidFill>
              <a:latin typeface="Times New Roman" pitchFamily="18" charset="0"/>
              <a:ea typeface="宋体" charset="-122"/>
            </a:endParaRPr>
          </a:p>
        </p:txBody>
      </p:sp>
      <p:sp>
        <p:nvSpPr>
          <p:cNvPr id="174087" name="Text Box 7"/>
          <p:cNvSpPr txBox="1">
            <a:spLocks noChangeArrowheads="1"/>
          </p:cNvSpPr>
          <p:nvPr/>
        </p:nvSpPr>
        <p:spPr bwMode="auto">
          <a:xfrm>
            <a:off x="898525" y="4292600"/>
            <a:ext cx="133191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pPr>
            <a:r>
              <a:rPr lang="en-US" altLang="zh-CN" sz="2700">
                <a:solidFill>
                  <a:schemeClr val="tx2"/>
                </a:solidFill>
                <a:latin typeface="Times New Roman" pitchFamily="18" charset="0"/>
                <a:ea typeface="宋体" charset="-122"/>
              </a:rPr>
              <a:t>ENDIF</a:t>
            </a:r>
          </a:p>
        </p:txBody>
      </p:sp>
      <p:sp>
        <p:nvSpPr>
          <p:cNvPr id="174088" name="Text Box 8"/>
          <p:cNvSpPr txBox="1">
            <a:spLocks noChangeArrowheads="1"/>
          </p:cNvSpPr>
          <p:nvPr/>
        </p:nvSpPr>
        <p:spPr bwMode="auto">
          <a:xfrm>
            <a:off x="862013" y="4730750"/>
            <a:ext cx="8066087"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pPr>
            <a:r>
              <a:rPr lang="en-US" altLang="zh-CN" sz="2700">
                <a:solidFill>
                  <a:schemeClr val="tx2"/>
                </a:solidFill>
                <a:latin typeface="Times New Roman" pitchFamily="18" charset="0"/>
                <a:ea typeface="宋体" charset="-122"/>
              </a:rPr>
              <a:t>IF (</a:t>
            </a:r>
            <a:r>
              <a:rPr lang="zh-CN" altLang="en-US" sz="2700">
                <a:latin typeface="Times New Roman" pitchFamily="18" charset="0"/>
                <a:ea typeface="宋体" charset="-122"/>
              </a:rPr>
              <a:t>正确检查病人</a:t>
            </a:r>
            <a:r>
              <a:rPr lang="en-US" altLang="zh-CN" sz="2700">
                <a:solidFill>
                  <a:schemeClr val="tx2"/>
                </a:solidFill>
                <a:latin typeface="Times New Roman" pitchFamily="18" charset="0"/>
                <a:ea typeface="宋体" charset="-122"/>
              </a:rPr>
              <a:t>&amp;</a:t>
            </a:r>
            <a:r>
              <a:rPr lang="zh-CN" altLang="en-US" sz="2700">
                <a:latin typeface="Times New Roman" pitchFamily="18" charset="0"/>
                <a:ea typeface="宋体" charset="-122"/>
              </a:rPr>
              <a:t>正确安放防护物</a:t>
            </a:r>
            <a:r>
              <a:rPr lang="en-US" altLang="zh-CN" sz="2700">
                <a:solidFill>
                  <a:schemeClr val="tx2"/>
                </a:solidFill>
                <a:latin typeface="Times New Roman" pitchFamily="18" charset="0"/>
                <a:ea typeface="宋体" charset="-122"/>
              </a:rPr>
              <a:t>&amp;</a:t>
            </a:r>
            <a:r>
              <a:rPr lang="zh-CN" altLang="en-US" sz="2700">
                <a:latin typeface="Times New Roman" pitchFamily="18" charset="0"/>
                <a:ea typeface="宋体" charset="-122"/>
              </a:rPr>
              <a:t>机器自检通过</a:t>
            </a:r>
            <a:r>
              <a:rPr lang="zh-CN" altLang="en-US" sz="2700">
                <a:solidFill>
                  <a:schemeClr val="tx2"/>
                </a:solidFill>
                <a:latin typeface="Times New Roman" pitchFamily="18" charset="0"/>
                <a:ea typeface="宋体" charset="-122"/>
              </a:rPr>
              <a:t>）</a:t>
            </a:r>
          </a:p>
        </p:txBody>
      </p:sp>
      <p:sp>
        <p:nvSpPr>
          <p:cNvPr id="174089" name="Text Box 9"/>
          <p:cNvSpPr txBox="1">
            <a:spLocks noChangeArrowheads="1"/>
          </p:cNvSpPr>
          <p:nvPr/>
        </p:nvSpPr>
        <p:spPr bwMode="auto">
          <a:xfrm>
            <a:off x="898525" y="5661025"/>
            <a:ext cx="133191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pPr>
            <a:r>
              <a:rPr lang="en-US" altLang="zh-CN" sz="2700">
                <a:solidFill>
                  <a:schemeClr val="tx2"/>
                </a:solidFill>
                <a:latin typeface="Times New Roman" pitchFamily="18" charset="0"/>
                <a:ea typeface="宋体" charset="-122"/>
              </a:rPr>
              <a:t>ENDIF</a:t>
            </a:r>
          </a:p>
        </p:txBody>
      </p:sp>
      <p:sp>
        <p:nvSpPr>
          <p:cNvPr id="174090" name="Text Box 10"/>
          <p:cNvSpPr txBox="1">
            <a:spLocks noChangeArrowheads="1"/>
          </p:cNvSpPr>
          <p:nvPr/>
        </p:nvSpPr>
        <p:spPr bwMode="auto">
          <a:xfrm>
            <a:off x="1366838" y="1089025"/>
            <a:ext cx="3671887"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pPr>
            <a:r>
              <a:rPr lang="zh-CN" altLang="en-US" sz="2700">
                <a:latin typeface="Times New Roman" pitchFamily="18" charset="0"/>
                <a:ea typeface="宋体" charset="-122"/>
              </a:rPr>
              <a:t>需要得到管理者的允许</a:t>
            </a:r>
          </a:p>
        </p:txBody>
      </p:sp>
      <p:sp>
        <p:nvSpPr>
          <p:cNvPr id="174091" name="Text Box 11"/>
          <p:cNvSpPr txBox="1">
            <a:spLocks noChangeArrowheads="1"/>
          </p:cNvSpPr>
          <p:nvPr/>
        </p:nvSpPr>
        <p:spPr bwMode="auto">
          <a:xfrm>
            <a:off x="1403350" y="1598613"/>
            <a:ext cx="38893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pPr>
            <a:r>
              <a:rPr lang="en-US" altLang="zh-CN" sz="2700">
                <a:solidFill>
                  <a:schemeClr val="tx2"/>
                </a:solidFill>
                <a:latin typeface="Times New Roman" pitchFamily="18" charset="0"/>
                <a:ea typeface="宋体" charset="-122"/>
              </a:rPr>
              <a:t>IF </a:t>
            </a:r>
            <a:r>
              <a:rPr lang="zh-CN" altLang="en-US" sz="2700">
                <a:latin typeface="Times New Roman" pitchFamily="18" charset="0"/>
                <a:ea typeface="宋体" charset="-122"/>
              </a:rPr>
              <a:t>管理者未允许</a:t>
            </a:r>
            <a:endParaRPr lang="zh-CN" altLang="en-US" sz="2700">
              <a:solidFill>
                <a:schemeClr val="tx2"/>
              </a:solidFill>
              <a:latin typeface="Times New Roman" pitchFamily="18" charset="0"/>
              <a:ea typeface="宋体" charset="-122"/>
            </a:endParaRPr>
          </a:p>
        </p:txBody>
      </p:sp>
      <p:sp>
        <p:nvSpPr>
          <p:cNvPr id="174092" name="Text Box 12"/>
          <p:cNvSpPr txBox="1">
            <a:spLocks noChangeArrowheads="1"/>
          </p:cNvSpPr>
          <p:nvPr/>
        </p:nvSpPr>
        <p:spPr bwMode="auto">
          <a:xfrm>
            <a:off x="1403350" y="2498725"/>
            <a:ext cx="133191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pPr>
            <a:r>
              <a:rPr lang="en-US" altLang="zh-CN" sz="2700">
                <a:solidFill>
                  <a:schemeClr val="tx2"/>
                </a:solidFill>
                <a:latin typeface="Times New Roman" pitchFamily="18" charset="0"/>
                <a:ea typeface="宋体" charset="-122"/>
              </a:rPr>
              <a:t>ENDIF</a:t>
            </a:r>
          </a:p>
        </p:txBody>
      </p:sp>
      <p:sp>
        <p:nvSpPr>
          <p:cNvPr id="174093" name="Text Box 13"/>
          <p:cNvSpPr txBox="1">
            <a:spLocks noChangeArrowheads="1"/>
          </p:cNvSpPr>
          <p:nvPr/>
        </p:nvSpPr>
        <p:spPr bwMode="auto">
          <a:xfrm>
            <a:off x="1835150" y="2066925"/>
            <a:ext cx="58324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pPr>
            <a:r>
              <a:rPr lang="zh-CN" altLang="en-US" sz="2700">
                <a:latin typeface="Times New Roman" pitchFamily="18" charset="0"/>
                <a:ea typeface="宋体" charset="-122"/>
              </a:rPr>
              <a:t>中止并提示</a:t>
            </a:r>
            <a:r>
              <a:rPr lang="zh-CN" altLang="en-US" sz="3200" baseline="30000">
                <a:latin typeface="Times New Roman" pitchFamily="18" charset="0"/>
                <a:ea typeface="宋体" charset="-122"/>
              </a:rPr>
              <a:t>“</a:t>
            </a:r>
            <a:r>
              <a:rPr lang="zh-CN" altLang="en-US" sz="2700">
                <a:latin typeface="Times New Roman" pitchFamily="18" charset="0"/>
                <a:ea typeface="宋体" charset="-122"/>
              </a:rPr>
              <a:t>管理者未允许的异常值</a:t>
            </a:r>
            <a:r>
              <a:rPr lang="zh-CN" altLang="en-US" sz="3200" baseline="30000">
                <a:latin typeface="Times New Roman" pitchFamily="18" charset="0"/>
                <a:ea typeface="宋体" charset="-122"/>
              </a:rPr>
              <a:t>”</a:t>
            </a:r>
          </a:p>
        </p:txBody>
      </p:sp>
      <p:sp>
        <p:nvSpPr>
          <p:cNvPr id="174094" name="Text Box 14"/>
          <p:cNvSpPr txBox="1">
            <a:spLocks noChangeArrowheads="1"/>
          </p:cNvSpPr>
          <p:nvPr/>
        </p:nvSpPr>
        <p:spPr bwMode="auto">
          <a:xfrm>
            <a:off x="1366838" y="3830638"/>
            <a:ext cx="3779837"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pPr>
            <a:r>
              <a:rPr lang="zh-CN" altLang="en-US" sz="2700">
                <a:latin typeface="Times New Roman" pitchFamily="18" charset="0"/>
                <a:ea typeface="宋体" charset="-122"/>
              </a:rPr>
              <a:t>中止并提示</a:t>
            </a:r>
            <a:r>
              <a:rPr lang="zh-CN" altLang="en-US" sz="3200" baseline="30000">
                <a:latin typeface="Times New Roman" pitchFamily="18" charset="0"/>
                <a:ea typeface="宋体" charset="-122"/>
              </a:rPr>
              <a:t>“</a:t>
            </a:r>
            <a:r>
              <a:rPr lang="zh-CN" altLang="en-US" sz="2700">
                <a:latin typeface="Times New Roman" pitchFamily="18" charset="0"/>
                <a:ea typeface="宋体" charset="-122"/>
              </a:rPr>
              <a:t>功率过大</a:t>
            </a:r>
            <a:r>
              <a:rPr lang="zh-CN" altLang="en-US" sz="3200" baseline="30000">
                <a:latin typeface="Times New Roman" pitchFamily="18" charset="0"/>
                <a:ea typeface="宋体" charset="-122"/>
              </a:rPr>
              <a:t>”</a:t>
            </a:r>
          </a:p>
        </p:txBody>
      </p:sp>
      <p:sp>
        <p:nvSpPr>
          <p:cNvPr id="174095" name="Text Box 15"/>
          <p:cNvSpPr txBox="1">
            <a:spLocks noChangeArrowheads="1"/>
          </p:cNvSpPr>
          <p:nvPr/>
        </p:nvSpPr>
        <p:spPr bwMode="auto">
          <a:xfrm>
            <a:off x="1331913" y="5229225"/>
            <a:ext cx="3132137"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pPr>
            <a:r>
              <a:rPr lang="zh-CN" altLang="en-US" sz="2700">
                <a:latin typeface="Times New Roman" pitchFamily="18" charset="0"/>
                <a:ea typeface="宋体" charset="-122"/>
              </a:rPr>
              <a:t>以功率</a:t>
            </a:r>
            <a:r>
              <a:rPr lang="en-US" altLang="zh-CN" sz="2700">
                <a:latin typeface="Times New Roman" pitchFamily="18" charset="0"/>
                <a:ea typeface="宋体" charset="-122"/>
              </a:rPr>
              <a:t>p</a:t>
            </a:r>
            <a:r>
              <a:rPr lang="zh-CN" altLang="en-US" sz="2700">
                <a:latin typeface="Times New Roman" pitchFamily="18" charset="0"/>
                <a:ea typeface="宋体" charset="-122"/>
              </a:rPr>
              <a:t>应用</a:t>
            </a:r>
            <a:r>
              <a:rPr lang="en-US" altLang="zh-CN" sz="2700">
                <a:latin typeface="Times New Roman" pitchFamily="18" charset="0"/>
                <a:ea typeface="宋体" charset="-122"/>
              </a:rPr>
              <a:t>X</a:t>
            </a:r>
            <a:r>
              <a:rPr lang="zh-CN" altLang="en-US" sz="2700">
                <a:latin typeface="Times New Roman" pitchFamily="18" charset="0"/>
                <a:ea typeface="宋体" charset="-122"/>
              </a:rPr>
              <a:t>射线</a:t>
            </a:r>
          </a:p>
        </p:txBody>
      </p:sp>
      <p:sp>
        <p:nvSpPr>
          <p:cNvPr id="23568" name="Text Box 16"/>
          <p:cNvSpPr txBox="1">
            <a:spLocks noChangeArrowheads="1"/>
          </p:cNvSpPr>
          <p:nvPr/>
        </p:nvSpPr>
        <p:spPr bwMode="auto">
          <a:xfrm>
            <a:off x="7164388" y="5672138"/>
            <a:ext cx="1584325" cy="781050"/>
          </a:xfrm>
          <a:prstGeom prst="rect">
            <a:avLst/>
          </a:prstGeom>
          <a:solidFill>
            <a:srgbClr val="000066"/>
          </a:solidFill>
          <a:ln>
            <a:noFill/>
          </a:ln>
          <a:extLst>
            <a:ext uri="{91240B29-F687-4F45-9708-019B960494DF}">
              <a14:hiddenLine xmlns:a14="http://schemas.microsoft.com/office/drawing/2010/main" w="12700">
                <a:solidFill>
                  <a:srgbClr val="000000"/>
                </a:solidFill>
                <a:miter lim="800000"/>
                <a:headEnd/>
                <a:tailEnd type="none" w="sm" len="med"/>
              </a14:hiddenLine>
            </a:ext>
          </a:extLst>
        </p:spPr>
        <p:txBody>
          <a:bodyPr lIns="0" tIns="144000" rIns="0" bIns="180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3000">
                <a:solidFill>
                  <a:srgbClr val="CCFF99"/>
                </a:solidFill>
                <a:latin typeface="Times New Roman" pitchFamily="18" charset="0"/>
                <a:ea typeface="仿宋_GB2312" pitchFamily="49" charset="-122"/>
              </a:rPr>
              <a:t>伪代码</a:t>
            </a:r>
          </a:p>
        </p:txBody>
      </p:sp>
      <p:sp>
        <p:nvSpPr>
          <p:cNvPr id="174097" name="Rectangle 17">
            <a:hlinkClick r:id="" action="ppaction://noaction"/>
          </p:cNvPr>
          <p:cNvSpPr>
            <a:spLocks noChangeArrowheads="1"/>
          </p:cNvSpPr>
          <p:nvPr/>
        </p:nvSpPr>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74098" name="AutoShape 18">
            <a:hlinkClick r:id="" action="ppaction://noaction" highlightClick="1"/>
          </p:cNvPr>
          <p:cNvSpPr>
            <a:spLocks noChangeArrowheads="1"/>
          </p:cNvSpPr>
          <p:nvPr/>
        </p:nvSpPr>
        <p:spPr bwMode="auto">
          <a:xfrm>
            <a:off x="8856663" y="6742113"/>
            <a:ext cx="287337" cy="115887"/>
          </a:xfrm>
          <a:prstGeom prst="actionButtonBlank">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3571" name="Rectangle 19"/>
          <p:cNvSpPr>
            <a:spLocks noChangeArrowheads="1"/>
          </p:cNvSpPr>
          <p:nvPr/>
        </p:nvSpPr>
        <p:spPr bwMode="auto">
          <a:xfrm>
            <a:off x="215900" y="115888"/>
            <a:ext cx="8748713" cy="6634162"/>
          </a:xfrm>
          <a:prstGeom prst="rect">
            <a:avLst/>
          </a:prstGeom>
          <a:noFill/>
          <a:ln w="12700">
            <a:solidFill>
              <a:srgbClr val="CCFFFF"/>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zh-CN" altLang="en-US"/>
          </a:p>
        </p:txBody>
      </p:sp>
    </p:spTree>
    <p:extLst>
      <p:ext uri="{BB962C8B-B14F-4D97-AF65-F5344CB8AC3E}">
        <p14:creationId xmlns:p14="http://schemas.microsoft.com/office/powerpoint/2010/main" val="32799611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08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084">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083">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4085">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4086">
                                            <p:txEl>
                                              <p:pRg st="0" end="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4087">
                                            <p:txEl>
                                              <p:pRg st="0" end="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4088">
                                            <p:txEl>
                                              <p:pRg st="0" end="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4089">
                                            <p:txEl>
                                              <p:pRg st="0" end="0"/>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4090">
                                            <p:txEl>
                                              <p:pRg st="0" end="0"/>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4091">
                                            <p:txEl>
                                              <p:pRg st="0" end="0"/>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4092">
                                            <p:txEl>
                                              <p:pRg st="0" end="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4093">
                                            <p:txEl>
                                              <p:pRg st="0" end="0"/>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4094">
                                            <p:txEl>
                                              <p:pRg st="0" end="0"/>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4095">
                                            <p:txEl>
                                              <p:pRg st="0" end="0"/>
                                            </p:txEl>
                                          </p:spTgt>
                                        </p:tgtEl>
                                        <p:attrNameLst>
                                          <p:attrName>style.visibility</p:attrName>
                                        </p:attrNameLst>
                                      </p:cBhvr>
                                      <p:to>
                                        <p:strVal val="visible"/>
                                      </p:to>
                                    </p:set>
                                  </p:childTnLst>
                                </p:cTn>
                              </p:par>
                            </p:childTnLst>
                          </p:cTn>
                        </p:par>
                        <p:par>
                          <p:cTn id="59" fill="hold" nodeType="afterGroup">
                            <p:stCondLst>
                              <p:cond delay="0"/>
                            </p:stCondLst>
                            <p:childTnLst>
                              <p:par>
                                <p:cTn id="60" presetID="1" presetClass="entr" presetSubtype="0" fill="hold" grpId="0" nodeType="afterEffect">
                                  <p:stCondLst>
                                    <p:cond delay="0"/>
                                  </p:stCondLst>
                                  <p:childTnLst>
                                    <p:set>
                                      <p:cBhvr>
                                        <p:cTn id="61" dur="1" fill="hold">
                                          <p:stCondLst>
                                            <p:cond delay="0"/>
                                          </p:stCondLst>
                                        </p:cTn>
                                        <p:tgtEl>
                                          <p:spTgt spid="174098"/>
                                        </p:tgtEl>
                                        <p:attrNameLst>
                                          <p:attrName>style.visibility</p:attrName>
                                        </p:attrNameLst>
                                      </p:cBhvr>
                                      <p:to>
                                        <p:strVal val="visible"/>
                                      </p:to>
                                    </p:set>
                                  </p:childTnLst>
                                </p:cTn>
                              </p:par>
                            </p:childTnLst>
                          </p:cTn>
                        </p:par>
                        <p:par>
                          <p:cTn id="62" fill="hold" nodeType="afterGroup">
                            <p:stCondLst>
                              <p:cond delay="0"/>
                            </p:stCondLst>
                            <p:childTnLst>
                              <p:par>
                                <p:cTn id="63" presetID="1" presetClass="entr" presetSubtype="0" fill="hold" grpId="0" nodeType="afterEffect" nodePh="1">
                                  <p:stCondLst>
                                    <p:cond delay="0"/>
                                  </p:stCondLst>
                                  <p:endCondLst>
                                    <p:cond evt="begin" delay="0">
                                      <p:tn val="63"/>
                                    </p:cond>
                                  </p:endCondLst>
                                  <p:childTnLst>
                                    <p:set>
                                      <p:cBhvr>
                                        <p:cTn id="64" dur="1" fill="hold">
                                          <p:stCondLst>
                                            <p:cond delay="0"/>
                                          </p:stCondLst>
                                        </p:cTn>
                                        <p:tgtEl>
                                          <p:spTgt spid="1740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build="p"/>
      <p:bldP spid="174083" grpId="0" build="p"/>
      <p:bldP spid="174084" grpId="0" build="p"/>
      <p:bldP spid="174085" grpId="0" build="p"/>
      <p:bldP spid="174086" grpId="0" build="p"/>
      <p:bldP spid="174087" grpId="0" build="p"/>
      <p:bldP spid="174088" grpId="0" build="p"/>
      <p:bldP spid="174089" grpId="0" build="p"/>
      <p:bldP spid="174090" grpId="0" build="p"/>
      <p:bldP spid="174091" grpId="0" build="p"/>
      <p:bldP spid="174092" grpId="0" build="p"/>
      <p:bldP spid="174093" grpId="0" build="p"/>
      <p:bldP spid="174094" grpId="0" build="p"/>
      <p:bldP spid="174095" grpId="0" build="p"/>
      <p:bldP spid="174097" grpId="0" animBg="1"/>
      <p:bldP spid="17409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863600" y="260350"/>
            <a:ext cx="7848600" cy="606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20000"/>
              </a:spcBef>
              <a:buClr>
                <a:srgbClr val="CCFFFF"/>
              </a:buClr>
              <a:buSzPct val="80000"/>
              <a:buFont typeface="Wingdings" pitchFamily="2" charset="2"/>
              <a:buChar char="l"/>
            </a:pPr>
            <a:r>
              <a:rPr lang="en-US" altLang="zh-CN" dirty="0">
                <a:latin typeface="Times New Roman" pitchFamily="18" charset="0"/>
                <a:ea typeface="宋体" charset="-122"/>
              </a:rPr>
              <a:t> </a:t>
            </a:r>
            <a:r>
              <a:rPr lang="zh-CN" altLang="en-US" dirty="0">
                <a:latin typeface="Times New Roman" pitchFamily="18" charset="0"/>
                <a:ea typeface="宋体" charset="-122"/>
              </a:rPr>
              <a:t>函数</a:t>
            </a:r>
            <a:r>
              <a:rPr lang="en-US" altLang="zh-CN" sz="2400" dirty="0">
                <a:solidFill>
                  <a:srgbClr val="99CCFF"/>
                </a:solidFill>
                <a:latin typeface="Times New Roman" pitchFamily="18" charset="0"/>
                <a:ea typeface="宋体" charset="-122"/>
              </a:rPr>
              <a:t>/</a:t>
            </a:r>
            <a:r>
              <a:rPr lang="zh-CN" altLang="en-US" dirty="0">
                <a:latin typeface="Times New Roman" pitchFamily="18" charset="0"/>
                <a:ea typeface="宋体" charset="-122"/>
              </a:rPr>
              <a:t>参数</a:t>
            </a:r>
            <a:r>
              <a:rPr lang="en-US" altLang="zh-CN" sz="2400" dirty="0">
                <a:solidFill>
                  <a:srgbClr val="99CCFF"/>
                </a:solidFill>
                <a:latin typeface="Times New Roman" pitchFamily="18" charset="0"/>
                <a:ea typeface="宋体" charset="-122"/>
              </a:rPr>
              <a:t>/</a:t>
            </a:r>
            <a:r>
              <a:rPr lang="zh-CN" altLang="en-US" dirty="0">
                <a:latin typeface="Times New Roman" pitchFamily="18" charset="0"/>
                <a:ea typeface="宋体" charset="-122"/>
              </a:rPr>
              <a:t>变量的命名要具有表现力</a:t>
            </a:r>
          </a:p>
          <a:p>
            <a:pPr algn="l" eaLnBrk="1" hangingPunct="1">
              <a:spcBef>
                <a:spcPct val="20000"/>
              </a:spcBef>
              <a:buClr>
                <a:srgbClr val="CCFFFF"/>
              </a:buClr>
              <a:buSzPct val="80000"/>
              <a:buFont typeface="Wingdings" pitchFamily="2" charset="2"/>
              <a:buChar char="l"/>
            </a:pPr>
            <a:r>
              <a:rPr lang="zh-CN" altLang="en-US" dirty="0">
                <a:latin typeface="Times New Roman" pitchFamily="18" charset="0"/>
                <a:ea typeface="宋体" charset="-122"/>
              </a:rPr>
              <a:t> 用传递参数代替全局变量</a:t>
            </a:r>
          </a:p>
          <a:p>
            <a:pPr algn="l" eaLnBrk="1" hangingPunct="1">
              <a:spcBef>
                <a:spcPct val="20000"/>
              </a:spcBef>
              <a:buClr>
                <a:srgbClr val="CCFFFF"/>
              </a:buClr>
              <a:buSzPct val="80000"/>
              <a:buFont typeface="Wingdings" pitchFamily="2" charset="2"/>
              <a:buChar char="l"/>
            </a:pPr>
            <a:r>
              <a:rPr lang="zh-CN" altLang="en-US" dirty="0">
                <a:latin typeface="Times New Roman" pitchFamily="18" charset="0"/>
                <a:ea typeface="宋体" charset="-122"/>
              </a:rPr>
              <a:t> 防止错误数据</a:t>
            </a:r>
            <a:r>
              <a:rPr lang="en-US" altLang="zh-CN" dirty="0">
                <a:latin typeface="Times New Roman" pitchFamily="18" charset="0"/>
                <a:ea typeface="宋体" charset="-122"/>
              </a:rPr>
              <a:t>:</a:t>
            </a:r>
            <a:r>
              <a:rPr lang="zh-CN" altLang="en-US" dirty="0">
                <a:latin typeface="Times New Roman" pitchFamily="18" charset="0"/>
                <a:ea typeface="宋体" charset="-122"/>
              </a:rPr>
              <a:t>异常处理</a:t>
            </a:r>
            <a:r>
              <a:rPr lang="en-US" altLang="zh-CN" sz="2400" dirty="0">
                <a:solidFill>
                  <a:srgbClr val="99CCFF"/>
                </a:solidFill>
                <a:latin typeface="Times New Roman" pitchFamily="18" charset="0"/>
                <a:ea typeface="宋体" charset="-122"/>
              </a:rPr>
              <a:t>/</a:t>
            </a:r>
            <a:r>
              <a:rPr lang="zh-CN" altLang="en-US" dirty="0">
                <a:latin typeface="Times New Roman" pitchFamily="18" charset="0"/>
                <a:ea typeface="宋体" charset="-122"/>
              </a:rPr>
              <a:t>默认处理</a:t>
            </a:r>
            <a:r>
              <a:rPr lang="en-US" altLang="zh-CN" sz="2400" dirty="0">
                <a:solidFill>
                  <a:srgbClr val="99CCFF"/>
                </a:solidFill>
                <a:latin typeface="Times New Roman" pitchFamily="18" charset="0"/>
                <a:ea typeface="宋体" charset="-122"/>
              </a:rPr>
              <a:t>/</a:t>
            </a:r>
            <a:r>
              <a:rPr lang="zh-CN" altLang="en-US" dirty="0">
                <a:latin typeface="Times New Roman" pitchFamily="18" charset="0"/>
                <a:ea typeface="宋体" charset="-122"/>
              </a:rPr>
              <a:t>返回特殊值</a:t>
            </a:r>
          </a:p>
          <a:p>
            <a:pPr algn="l" eaLnBrk="1" hangingPunct="1">
              <a:spcBef>
                <a:spcPct val="20000"/>
              </a:spcBef>
              <a:buClr>
                <a:srgbClr val="CCFFFF"/>
              </a:buClr>
              <a:buSzPct val="80000"/>
              <a:buFont typeface="Wingdings" pitchFamily="2" charset="2"/>
              <a:buChar char="l"/>
            </a:pPr>
            <a:r>
              <a:rPr lang="zh-CN" altLang="en-US" dirty="0">
                <a:latin typeface="Times New Roman" pitchFamily="18" charset="0"/>
                <a:ea typeface="宋体" charset="-122"/>
              </a:rPr>
              <a:t> 不要将参数作为方法变量</a:t>
            </a:r>
          </a:p>
          <a:p>
            <a:pPr algn="l" eaLnBrk="1" hangingPunct="1">
              <a:spcBef>
                <a:spcPct val="20000"/>
              </a:spcBef>
              <a:buClr>
                <a:srgbClr val="CCFFFF"/>
              </a:buClr>
              <a:buSzPct val="80000"/>
              <a:buFont typeface="Wingdings" pitchFamily="2" charset="2"/>
              <a:buChar char="l"/>
            </a:pPr>
            <a:r>
              <a:rPr lang="zh-CN" altLang="en-US" dirty="0">
                <a:latin typeface="Times New Roman" pitchFamily="18" charset="0"/>
                <a:ea typeface="宋体" charset="-122"/>
              </a:rPr>
              <a:t> 给数字命名</a:t>
            </a:r>
          </a:p>
          <a:p>
            <a:pPr algn="l" eaLnBrk="1" hangingPunct="1">
              <a:spcBef>
                <a:spcPct val="20000"/>
              </a:spcBef>
              <a:buClr>
                <a:srgbClr val="CCFFFF"/>
              </a:buClr>
              <a:buSzPct val="80000"/>
              <a:buFont typeface="Wingdings" pitchFamily="2" charset="2"/>
              <a:buChar char="l"/>
            </a:pPr>
            <a:r>
              <a:rPr lang="zh-CN" altLang="en-US" dirty="0">
                <a:latin typeface="Times New Roman" pitchFamily="18" charset="0"/>
                <a:ea typeface="宋体" charset="-122"/>
              </a:rPr>
              <a:t> 限制参数个数在</a:t>
            </a:r>
            <a:r>
              <a:rPr lang="en-US" altLang="zh-CN" dirty="0">
                <a:latin typeface="Times New Roman" pitchFamily="18" charset="0"/>
                <a:ea typeface="宋体" charset="-122"/>
              </a:rPr>
              <a:t>6</a:t>
            </a:r>
            <a:r>
              <a:rPr lang="zh-CN" altLang="en-US" dirty="0">
                <a:latin typeface="Times New Roman" pitchFamily="18" charset="0"/>
                <a:ea typeface="宋体" charset="-122"/>
              </a:rPr>
              <a:t>个或</a:t>
            </a:r>
            <a:r>
              <a:rPr lang="en-US" altLang="zh-CN" dirty="0">
                <a:latin typeface="Times New Roman" pitchFamily="18" charset="0"/>
                <a:ea typeface="宋体" charset="-122"/>
              </a:rPr>
              <a:t>7</a:t>
            </a:r>
            <a:r>
              <a:rPr lang="zh-CN" altLang="en-US" dirty="0">
                <a:latin typeface="Times New Roman" pitchFamily="18" charset="0"/>
                <a:ea typeface="宋体" charset="-122"/>
              </a:rPr>
              <a:t>个之内</a:t>
            </a:r>
          </a:p>
          <a:p>
            <a:pPr algn="l" eaLnBrk="1" hangingPunct="1">
              <a:spcBef>
                <a:spcPct val="20000"/>
              </a:spcBef>
              <a:buClr>
                <a:srgbClr val="CCFFFF"/>
              </a:buClr>
              <a:buSzPct val="80000"/>
              <a:buFont typeface="Wingdings" pitchFamily="2" charset="2"/>
              <a:buChar char="l"/>
            </a:pPr>
            <a:r>
              <a:rPr lang="zh-CN" altLang="en-US" dirty="0">
                <a:latin typeface="Times New Roman" pitchFamily="18" charset="0"/>
                <a:ea typeface="宋体" charset="-122"/>
              </a:rPr>
              <a:t> 在临近使用变量时才定义它们</a:t>
            </a:r>
          </a:p>
          <a:p>
            <a:pPr algn="l" eaLnBrk="1" hangingPunct="1">
              <a:spcBef>
                <a:spcPct val="20000"/>
              </a:spcBef>
              <a:buClr>
                <a:srgbClr val="CCFFFF"/>
              </a:buClr>
              <a:buSzPct val="80000"/>
              <a:buFont typeface="Wingdings" pitchFamily="2" charset="2"/>
              <a:buChar char="l"/>
            </a:pPr>
            <a:r>
              <a:rPr lang="zh-CN" altLang="en-US" dirty="0">
                <a:latin typeface="Times New Roman" pitchFamily="18" charset="0"/>
                <a:ea typeface="宋体" charset="-122"/>
              </a:rPr>
              <a:t> 初始化所有变量</a:t>
            </a:r>
          </a:p>
          <a:p>
            <a:pPr algn="l" eaLnBrk="1" hangingPunct="1">
              <a:spcBef>
                <a:spcPct val="20000"/>
              </a:spcBef>
              <a:buClr>
                <a:srgbClr val="CCFFFF"/>
              </a:buClr>
              <a:buSzPct val="80000"/>
              <a:buFont typeface="Wingdings" pitchFamily="2" charset="2"/>
              <a:buChar char="l"/>
            </a:pPr>
            <a:r>
              <a:rPr lang="zh-CN" altLang="en-US" dirty="0">
                <a:latin typeface="Times New Roman" pitchFamily="18" charset="0"/>
                <a:ea typeface="宋体" charset="-122"/>
              </a:rPr>
              <a:t> 检查循环计数器</a:t>
            </a:r>
          </a:p>
          <a:p>
            <a:pPr algn="l" eaLnBrk="1" hangingPunct="1">
              <a:spcBef>
                <a:spcPct val="20000"/>
              </a:spcBef>
              <a:buClr>
                <a:srgbClr val="CCFFFF"/>
              </a:buClr>
              <a:buSzPct val="80000"/>
              <a:buFont typeface="Wingdings" pitchFamily="2" charset="2"/>
              <a:buChar char="l"/>
            </a:pPr>
            <a:r>
              <a:rPr lang="zh-CN" altLang="en-US" dirty="0">
                <a:latin typeface="Times New Roman" pitchFamily="18" charset="0"/>
                <a:ea typeface="宋体" charset="-122"/>
              </a:rPr>
              <a:t> 避免</a:t>
            </a:r>
            <a:r>
              <a:rPr lang="en-US" altLang="zh-CN" dirty="0">
                <a:latin typeface="Times New Roman" pitchFamily="18" charset="0"/>
                <a:ea typeface="宋体" charset="-122"/>
              </a:rPr>
              <a:t>3</a:t>
            </a:r>
            <a:r>
              <a:rPr lang="zh-CN" altLang="en-US" dirty="0">
                <a:latin typeface="Times New Roman" pitchFamily="18" charset="0"/>
                <a:ea typeface="宋体" charset="-122"/>
              </a:rPr>
              <a:t>次以上的嵌套循环</a:t>
            </a:r>
          </a:p>
          <a:p>
            <a:pPr algn="l" eaLnBrk="1" hangingPunct="1">
              <a:spcBef>
                <a:spcPct val="20000"/>
              </a:spcBef>
              <a:buClr>
                <a:srgbClr val="CCFFFF"/>
              </a:buClr>
              <a:buSzPct val="80000"/>
              <a:buFont typeface="Wingdings" pitchFamily="2" charset="2"/>
              <a:buChar char="l"/>
            </a:pPr>
            <a:r>
              <a:rPr lang="zh-CN" altLang="en-US" dirty="0">
                <a:latin typeface="Times New Roman" pitchFamily="18" charset="0"/>
                <a:ea typeface="宋体" charset="-122"/>
              </a:rPr>
              <a:t> 确保不是死循环</a:t>
            </a:r>
          </a:p>
          <a:p>
            <a:pPr algn="l" eaLnBrk="1" hangingPunct="1">
              <a:spcBef>
                <a:spcPct val="20000"/>
              </a:spcBef>
              <a:buClr>
                <a:srgbClr val="CCFFFF"/>
              </a:buClr>
              <a:buSzPct val="80000"/>
              <a:buFont typeface="Wingdings" pitchFamily="2" charset="2"/>
              <a:buChar char="l"/>
            </a:pPr>
            <a:r>
              <a:rPr lang="zh-CN" altLang="en-US" dirty="0">
                <a:latin typeface="Times New Roman" pitchFamily="18" charset="0"/>
                <a:ea typeface="宋体" charset="-122"/>
              </a:rPr>
              <a:t> 编译前先检查</a:t>
            </a:r>
          </a:p>
        </p:txBody>
      </p:sp>
      <p:sp>
        <p:nvSpPr>
          <p:cNvPr id="26627" name="Text Box 3"/>
          <p:cNvSpPr txBox="1">
            <a:spLocks noChangeArrowheads="1"/>
          </p:cNvSpPr>
          <p:nvPr/>
        </p:nvSpPr>
        <p:spPr bwMode="auto">
          <a:xfrm>
            <a:off x="6264275" y="5522913"/>
            <a:ext cx="2411413" cy="822325"/>
          </a:xfrm>
          <a:prstGeom prst="rect">
            <a:avLst/>
          </a:prstGeom>
          <a:solidFill>
            <a:srgbClr val="6600FF"/>
          </a:solidFill>
          <a:ln>
            <a:noFill/>
          </a:ln>
          <a:extLst>
            <a:ext uri="{91240B29-F687-4F45-9708-019B960494DF}">
              <a14:hiddenLine xmlns:a14="http://schemas.microsoft.com/office/drawing/2010/main" w="12700">
                <a:solidFill>
                  <a:srgbClr val="000000"/>
                </a:solidFill>
                <a:miter lim="800000"/>
                <a:headEnd/>
                <a:tailEnd type="none" w="sm" len="med"/>
              </a14:hiddenLine>
            </a:ext>
          </a:extLst>
        </p:spPr>
        <p:txBody>
          <a:bodyPr lIns="0" tIns="180000" rIns="0" bIns="216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a:solidFill>
                  <a:srgbClr val="CCFFFF"/>
                </a:solidFill>
                <a:latin typeface="Times New Roman" pitchFamily="18" charset="0"/>
                <a:ea typeface="方正姚体" pitchFamily="2" charset="-122"/>
              </a:rPr>
              <a:t>编码好习惯</a:t>
            </a:r>
          </a:p>
        </p:txBody>
      </p:sp>
      <p:sp>
        <p:nvSpPr>
          <p:cNvPr id="26628" name="Rectangle 4">
            <a:hlinkClick r:id="" action="ppaction://noaction"/>
          </p:cNvPr>
          <p:cNvSpPr>
            <a:spLocks noChangeArrowheads="1"/>
          </p:cNvSpPr>
          <p:nvPr/>
        </p:nvSpPr>
        <p:spPr bwMode="auto">
          <a:xfrm>
            <a:off x="1043608" y="1484784"/>
            <a:ext cx="8176592" cy="5449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278347042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ext Box 2"/>
          <p:cNvSpPr txBox="1">
            <a:spLocks noChangeArrowheads="1"/>
          </p:cNvSpPr>
          <p:nvPr/>
        </p:nvSpPr>
        <p:spPr bwMode="auto">
          <a:xfrm>
            <a:off x="323528" y="2670809"/>
            <a:ext cx="56181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10000"/>
              </a:spcBef>
            </a:pPr>
            <a:r>
              <a:rPr lang="en-US" altLang="zh-CN" sz="2900" dirty="0">
                <a:latin typeface="Times New Roman" pitchFamily="18" charset="0"/>
                <a:ea typeface="宋体" charset="-122"/>
              </a:rPr>
              <a:t>manipulate(</a:t>
            </a:r>
            <a:r>
              <a:rPr lang="en-US" altLang="zh-CN" sz="2900" dirty="0">
                <a:solidFill>
                  <a:schemeClr val="tx2"/>
                </a:solidFill>
                <a:latin typeface="Times New Roman" pitchFamily="18" charset="0"/>
                <a:ea typeface="宋体" charset="-122"/>
              </a:rPr>
              <a:t>float</a:t>
            </a:r>
            <a:r>
              <a:rPr lang="en-US" altLang="zh-CN" sz="2900" dirty="0">
                <a:latin typeface="Times New Roman" pitchFamily="18" charset="0"/>
                <a:ea typeface="宋体" charset="-122"/>
              </a:rPr>
              <a:t> </a:t>
            </a:r>
            <a:r>
              <a:rPr lang="en-US" altLang="zh-CN" sz="2900" dirty="0" err="1">
                <a:latin typeface="Times New Roman" pitchFamily="18" charset="0"/>
                <a:ea typeface="宋体" charset="-122"/>
              </a:rPr>
              <a:t>aFloat</a:t>
            </a:r>
            <a:r>
              <a:rPr lang="en-US" altLang="zh-CN" sz="2900" dirty="0">
                <a:latin typeface="Times New Roman" pitchFamily="18" charset="0"/>
                <a:ea typeface="宋体" charset="-122"/>
              </a:rPr>
              <a:t>, </a:t>
            </a:r>
            <a:r>
              <a:rPr lang="en-US" altLang="zh-CN" sz="2900" dirty="0" err="1">
                <a:solidFill>
                  <a:schemeClr val="tx2"/>
                </a:solidFill>
                <a:latin typeface="Times New Roman" pitchFamily="18" charset="0"/>
                <a:ea typeface="宋体" charset="-122"/>
              </a:rPr>
              <a:t>int</a:t>
            </a:r>
            <a:r>
              <a:rPr lang="en-US" altLang="zh-CN" sz="2900" dirty="0">
                <a:latin typeface="Times New Roman" pitchFamily="18" charset="0"/>
                <a:ea typeface="宋体" charset="-122"/>
              </a:rPr>
              <a:t> </a:t>
            </a:r>
            <a:r>
              <a:rPr lang="en-US" altLang="zh-CN" sz="2900" dirty="0" err="1">
                <a:latin typeface="Times New Roman" pitchFamily="18" charset="0"/>
                <a:ea typeface="宋体" charset="-122"/>
              </a:rPr>
              <a:t>anInt</a:t>
            </a:r>
            <a:r>
              <a:rPr lang="en-US" altLang="zh-CN" sz="2900" dirty="0">
                <a:latin typeface="Times New Roman" pitchFamily="18" charset="0"/>
                <a:ea typeface="宋体" charset="-122"/>
              </a:rPr>
              <a:t>)</a:t>
            </a:r>
          </a:p>
        </p:txBody>
      </p:sp>
      <p:sp>
        <p:nvSpPr>
          <p:cNvPr id="176131" name="Text Box 3"/>
          <p:cNvSpPr txBox="1">
            <a:spLocks noChangeArrowheads="1"/>
          </p:cNvSpPr>
          <p:nvPr/>
        </p:nvSpPr>
        <p:spPr bwMode="auto">
          <a:xfrm>
            <a:off x="179388" y="3448050"/>
            <a:ext cx="8964612"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10000"/>
              </a:spcBef>
            </a:pPr>
            <a:r>
              <a:rPr lang="en-US" altLang="zh-CN" sz="2900">
                <a:latin typeface="Times New Roman" pitchFamily="18" charset="0"/>
                <a:ea typeface="宋体" charset="-122"/>
              </a:rPr>
              <a:t>getBaseRaisedToExponent(</a:t>
            </a:r>
            <a:r>
              <a:rPr lang="en-US" altLang="zh-CN" sz="2900">
                <a:solidFill>
                  <a:schemeClr val="tx2"/>
                </a:solidFill>
                <a:latin typeface="Times New Roman" pitchFamily="18" charset="0"/>
                <a:ea typeface="宋体" charset="-122"/>
              </a:rPr>
              <a:t>float</a:t>
            </a:r>
            <a:r>
              <a:rPr lang="en-US" altLang="zh-CN" sz="2900">
                <a:latin typeface="Times New Roman" pitchFamily="18" charset="0"/>
                <a:ea typeface="宋体" charset="-122"/>
              </a:rPr>
              <a:t> aBase, </a:t>
            </a:r>
            <a:r>
              <a:rPr lang="en-US" altLang="zh-CN" sz="2900">
                <a:solidFill>
                  <a:schemeClr val="tx2"/>
                </a:solidFill>
                <a:latin typeface="Times New Roman" pitchFamily="18" charset="0"/>
                <a:ea typeface="宋体" charset="-122"/>
              </a:rPr>
              <a:t>int</a:t>
            </a:r>
            <a:r>
              <a:rPr lang="en-US" altLang="zh-CN" sz="2900">
                <a:latin typeface="Times New Roman" pitchFamily="18" charset="0"/>
                <a:ea typeface="宋体" charset="-122"/>
              </a:rPr>
              <a:t> anExponent)</a:t>
            </a:r>
          </a:p>
        </p:txBody>
      </p:sp>
      <p:sp>
        <p:nvSpPr>
          <p:cNvPr id="27652" name="Text Box 4"/>
          <p:cNvSpPr txBox="1">
            <a:spLocks noChangeArrowheads="1"/>
          </p:cNvSpPr>
          <p:nvPr/>
        </p:nvSpPr>
        <p:spPr bwMode="auto">
          <a:xfrm>
            <a:off x="576263" y="1233488"/>
            <a:ext cx="7956550" cy="7461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type="none" w="sm" len="med"/>
              </a14:hiddenLine>
            </a:ext>
          </a:extLst>
        </p:spPr>
        <p:txBody>
          <a:bodyPr lIns="0" tIns="144000" rIns="0" bIns="144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3000" dirty="0">
                <a:latin typeface="Times New Roman" pitchFamily="18" charset="0"/>
                <a:ea typeface="宋体" charset="-122"/>
              </a:rPr>
              <a:t>函数</a:t>
            </a:r>
            <a:r>
              <a:rPr lang="en-US" altLang="zh-CN" sz="3000" dirty="0">
                <a:latin typeface="Times New Roman" pitchFamily="18" charset="0"/>
                <a:ea typeface="宋体" charset="-122"/>
              </a:rPr>
              <a:t>/</a:t>
            </a:r>
            <a:r>
              <a:rPr lang="zh-CN" altLang="en-US" sz="3000" dirty="0">
                <a:latin typeface="Times New Roman" pitchFamily="18" charset="0"/>
                <a:ea typeface="宋体" charset="-122"/>
              </a:rPr>
              <a:t>参数</a:t>
            </a:r>
            <a:r>
              <a:rPr lang="en-US" altLang="zh-CN" sz="3000" dirty="0">
                <a:latin typeface="Times New Roman" pitchFamily="18" charset="0"/>
                <a:ea typeface="宋体" charset="-122"/>
              </a:rPr>
              <a:t>/</a:t>
            </a:r>
            <a:r>
              <a:rPr lang="zh-CN" altLang="en-US" sz="3000" dirty="0">
                <a:latin typeface="Times New Roman" pitchFamily="18" charset="0"/>
                <a:ea typeface="宋体" charset="-122"/>
              </a:rPr>
              <a:t>变量的命名应该说明其</a:t>
            </a:r>
            <a:r>
              <a:rPr lang="zh-CN" altLang="en-US" sz="3000" dirty="0" smtClean="0">
                <a:latin typeface="Times New Roman" pitchFamily="18" charset="0"/>
                <a:ea typeface="宋体" charset="-122"/>
              </a:rPr>
              <a:t>用途</a:t>
            </a:r>
            <a:endParaRPr lang="en-US" altLang="zh-CN" sz="2600" dirty="0">
              <a:latin typeface="Times New Roman" pitchFamily="18" charset="0"/>
              <a:ea typeface="宋体" charset="-122"/>
            </a:endParaRPr>
          </a:p>
        </p:txBody>
      </p:sp>
    </p:spTree>
    <p:extLst>
      <p:ext uri="{BB962C8B-B14F-4D97-AF65-F5344CB8AC3E}">
        <p14:creationId xmlns:p14="http://schemas.microsoft.com/office/powerpoint/2010/main" val="34951407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613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613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build="p"/>
      <p:bldP spid="17613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p:cNvSpPr txBox="1">
            <a:spLocks noChangeArrowheads="1"/>
          </p:cNvSpPr>
          <p:nvPr/>
        </p:nvSpPr>
        <p:spPr bwMode="auto">
          <a:xfrm>
            <a:off x="215900" y="2654300"/>
            <a:ext cx="640873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10000"/>
              </a:spcBef>
            </a:pPr>
            <a:r>
              <a:rPr lang="en-US" altLang="zh-CN" sz="2900">
                <a:latin typeface="Times New Roman" pitchFamily="18" charset="0"/>
                <a:ea typeface="宋体" charset="-122"/>
              </a:rPr>
              <a:t>extract(</a:t>
            </a:r>
            <a:r>
              <a:rPr lang="en-US" altLang="zh-CN" sz="2900">
                <a:solidFill>
                  <a:schemeClr val="tx2"/>
                </a:solidFill>
                <a:latin typeface="Times New Roman" pitchFamily="18" charset="0"/>
                <a:ea typeface="宋体" charset="-122"/>
              </a:rPr>
              <a:t>int</a:t>
            </a:r>
            <a:r>
              <a:rPr lang="en-US" altLang="zh-CN" sz="2900">
                <a:latin typeface="Times New Roman" pitchFamily="18" charset="0"/>
                <a:ea typeface="宋体" charset="-122"/>
              </a:rPr>
              <a:t> anEntry)  { </a:t>
            </a:r>
            <a:r>
              <a:rPr lang="en-US" altLang="zh-CN" sz="2900">
                <a:solidFill>
                  <a:srgbClr val="FF0000"/>
                </a:solidFill>
                <a:latin typeface="Times New Roman" pitchFamily="18" charset="0"/>
                <a:ea typeface="宋体" charset="-122"/>
              </a:rPr>
              <a:t>table</a:t>
            </a:r>
            <a:r>
              <a:rPr lang="en-US" altLang="zh-CN" sz="2900">
                <a:latin typeface="Times New Roman" pitchFamily="18" charset="0"/>
                <a:ea typeface="宋体" charset="-122"/>
              </a:rPr>
              <a:t> = … } </a:t>
            </a:r>
          </a:p>
        </p:txBody>
      </p:sp>
      <p:sp>
        <p:nvSpPr>
          <p:cNvPr id="28675" name="Text Box 3"/>
          <p:cNvSpPr txBox="1">
            <a:spLocks noChangeArrowheads="1"/>
          </p:cNvSpPr>
          <p:nvPr/>
        </p:nvSpPr>
        <p:spPr bwMode="auto">
          <a:xfrm>
            <a:off x="539750" y="1449388"/>
            <a:ext cx="8101013" cy="7461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type="none" w="sm" len="med"/>
              </a14:hiddenLine>
            </a:ext>
          </a:extLst>
        </p:spPr>
        <p:txBody>
          <a:bodyPr lIns="0" tIns="144000" rIns="0" bIns="144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3000">
                <a:latin typeface="Times New Roman" pitchFamily="18" charset="0"/>
                <a:ea typeface="宋体" charset="-122"/>
              </a:rPr>
              <a:t>避免使用全局变量</a:t>
            </a:r>
            <a:r>
              <a:rPr lang="en-US" altLang="zh-CN" sz="3000">
                <a:latin typeface="Times New Roman" pitchFamily="18" charset="0"/>
                <a:ea typeface="宋体" charset="-122"/>
              </a:rPr>
              <a:t>: </a:t>
            </a:r>
            <a:r>
              <a:rPr lang="zh-CN" altLang="en-US" sz="3000">
                <a:latin typeface="Times New Roman" pitchFamily="18" charset="0"/>
                <a:ea typeface="宋体" charset="-122"/>
              </a:rPr>
              <a:t>考虑使用传递参数来代替</a:t>
            </a:r>
            <a:endParaRPr lang="zh-CN" altLang="en-US" sz="2600">
              <a:latin typeface="Times New Roman" pitchFamily="18" charset="0"/>
              <a:ea typeface="宋体" charset="-122"/>
            </a:endParaRPr>
          </a:p>
        </p:txBody>
      </p:sp>
      <p:sp>
        <p:nvSpPr>
          <p:cNvPr id="177156" name="Text Box 4"/>
          <p:cNvSpPr txBox="1">
            <a:spLocks noChangeArrowheads="1"/>
          </p:cNvSpPr>
          <p:nvPr/>
        </p:nvSpPr>
        <p:spPr bwMode="auto">
          <a:xfrm>
            <a:off x="215900" y="3455988"/>
            <a:ext cx="88931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10000"/>
              </a:spcBef>
            </a:pPr>
            <a:r>
              <a:rPr lang="en-US" altLang="zh-CN" sz="2900">
                <a:latin typeface="Times New Roman" pitchFamily="18" charset="0"/>
                <a:ea typeface="宋体" charset="-122"/>
              </a:rPr>
              <a:t>extract(</a:t>
            </a:r>
            <a:r>
              <a:rPr lang="en-US" altLang="zh-CN" sz="2900">
                <a:solidFill>
                  <a:schemeClr val="tx2"/>
                </a:solidFill>
                <a:latin typeface="Times New Roman" pitchFamily="18" charset="0"/>
                <a:ea typeface="宋体" charset="-122"/>
              </a:rPr>
              <a:t>int</a:t>
            </a:r>
            <a:r>
              <a:rPr lang="en-US" altLang="zh-CN" sz="2900">
                <a:latin typeface="Times New Roman" pitchFamily="18" charset="0"/>
                <a:ea typeface="宋体" charset="-122"/>
              </a:rPr>
              <a:t> anEntry, </a:t>
            </a:r>
            <a:r>
              <a:rPr lang="en-US" altLang="zh-CN" sz="2900">
                <a:solidFill>
                  <a:schemeClr val="tx2"/>
                </a:solidFill>
                <a:latin typeface="Times New Roman" pitchFamily="18" charset="0"/>
                <a:ea typeface="宋体" charset="-122"/>
              </a:rPr>
              <a:t>EmployeeTable</a:t>
            </a:r>
            <a:r>
              <a:rPr lang="en-US" altLang="zh-CN" sz="2900">
                <a:latin typeface="Times New Roman" pitchFamily="18" charset="0"/>
                <a:ea typeface="宋体" charset="-122"/>
              </a:rPr>
              <a:t> </a:t>
            </a:r>
            <a:r>
              <a:rPr lang="en-US" altLang="zh-CN" sz="2900">
                <a:solidFill>
                  <a:srgbClr val="0000CC"/>
                </a:solidFill>
                <a:latin typeface="Times New Roman" pitchFamily="18" charset="0"/>
                <a:ea typeface="宋体" charset="-122"/>
              </a:rPr>
              <a:t>anEmployeeTable</a:t>
            </a:r>
            <a:r>
              <a:rPr lang="en-US" altLang="zh-CN" sz="2900">
                <a:latin typeface="Times New Roman" pitchFamily="18" charset="0"/>
                <a:ea typeface="宋体" charset="-122"/>
              </a:rPr>
              <a:t>)</a:t>
            </a:r>
          </a:p>
        </p:txBody>
      </p:sp>
    </p:spTree>
    <p:extLst>
      <p:ext uri="{BB962C8B-B14F-4D97-AF65-F5344CB8AC3E}">
        <p14:creationId xmlns:p14="http://schemas.microsoft.com/office/powerpoint/2010/main" val="10908768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715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715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build="p"/>
      <p:bldP spid="177156"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Box 2"/>
          <p:cNvSpPr txBox="1">
            <a:spLocks noChangeArrowheads="1"/>
          </p:cNvSpPr>
          <p:nvPr/>
        </p:nvSpPr>
        <p:spPr bwMode="auto">
          <a:xfrm>
            <a:off x="228600" y="1066800"/>
            <a:ext cx="3203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10000"/>
              </a:spcBef>
            </a:pPr>
            <a:r>
              <a:rPr lang="en-US" altLang="zh-CN" sz="2600">
                <a:solidFill>
                  <a:srgbClr val="0000CC"/>
                </a:solidFill>
                <a:latin typeface="Times New Roman" pitchFamily="18" charset="0"/>
                <a:ea typeface="宋体" charset="-122"/>
              </a:rPr>
              <a:t>for(i=0; i&lt;8927; ++i)</a:t>
            </a:r>
          </a:p>
        </p:txBody>
      </p:sp>
      <p:sp>
        <p:nvSpPr>
          <p:cNvPr id="29699" name="Text Box 3"/>
          <p:cNvSpPr txBox="1">
            <a:spLocks noChangeArrowheads="1"/>
          </p:cNvSpPr>
          <p:nvPr/>
        </p:nvSpPr>
        <p:spPr bwMode="auto">
          <a:xfrm>
            <a:off x="5903913" y="1449388"/>
            <a:ext cx="2520950" cy="746125"/>
          </a:xfrm>
          <a:prstGeom prst="rect">
            <a:avLst/>
          </a:prstGeom>
          <a:ln/>
          <a:extLst/>
        </p:spPr>
        <p:style>
          <a:lnRef idx="2">
            <a:schemeClr val="dk1"/>
          </a:lnRef>
          <a:fillRef idx="1">
            <a:schemeClr val="lt1"/>
          </a:fillRef>
          <a:effectRef idx="0">
            <a:schemeClr val="dk1"/>
          </a:effectRef>
          <a:fontRef idx="minor">
            <a:schemeClr val="dk1"/>
          </a:fontRef>
        </p:style>
        <p:txBody>
          <a:bodyPr lIns="0" tIns="144000" rIns="0" bIns="144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3000">
                <a:latin typeface="Times New Roman" pitchFamily="18" charset="0"/>
              </a:rPr>
              <a:t>给数字命名</a:t>
            </a:r>
          </a:p>
        </p:txBody>
      </p:sp>
      <p:sp>
        <p:nvSpPr>
          <p:cNvPr id="178180" name="Text Box 4"/>
          <p:cNvSpPr txBox="1">
            <a:spLocks noChangeArrowheads="1"/>
          </p:cNvSpPr>
          <p:nvPr/>
        </p:nvSpPr>
        <p:spPr bwMode="auto">
          <a:xfrm>
            <a:off x="107950" y="3284538"/>
            <a:ext cx="9001125"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10000"/>
              </a:spcBef>
            </a:pPr>
            <a:r>
              <a:rPr lang="en-US" altLang="zh-CN" sz="2600">
                <a:latin typeface="Times New Roman" pitchFamily="18" charset="0"/>
                <a:ea typeface="宋体" charset="-122"/>
              </a:rPr>
              <a:t>int </a:t>
            </a:r>
            <a:r>
              <a:rPr lang="en-US" altLang="zh-CN" sz="2600">
                <a:solidFill>
                  <a:schemeClr val="accent2"/>
                </a:solidFill>
                <a:latin typeface="Times New Roman" pitchFamily="18" charset="0"/>
                <a:ea typeface="宋体" charset="-122"/>
              </a:rPr>
              <a:t>NUM_CELLS</a:t>
            </a:r>
            <a:r>
              <a:rPr lang="en-US" altLang="zh-CN" sz="2600">
                <a:latin typeface="Times New Roman" pitchFamily="18" charset="0"/>
                <a:ea typeface="宋体" charset="-122"/>
              </a:rPr>
              <a:t>=8927</a:t>
            </a:r>
          </a:p>
          <a:p>
            <a:pPr algn="l" eaLnBrk="1" hangingPunct="1">
              <a:spcBef>
                <a:spcPct val="10000"/>
              </a:spcBef>
            </a:pPr>
            <a:r>
              <a:rPr lang="en-US" altLang="zh-CN" sz="2600">
                <a:latin typeface="Times New Roman" pitchFamily="18" charset="0"/>
                <a:ea typeface="宋体" charset="-122"/>
              </a:rPr>
              <a:t>for(cellCounter=0; cellCounter&lt;</a:t>
            </a:r>
            <a:r>
              <a:rPr lang="en-US" altLang="zh-CN" sz="2600">
                <a:solidFill>
                  <a:schemeClr val="accent2"/>
                </a:solidFill>
                <a:latin typeface="Times New Roman" pitchFamily="18" charset="0"/>
                <a:ea typeface="宋体" charset="-122"/>
              </a:rPr>
              <a:t>NUM_CELLS</a:t>
            </a:r>
            <a:r>
              <a:rPr lang="en-US" altLang="zh-CN" sz="2600">
                <a:latin typeface="Times New Roman" pitchFamily="18" charset="0"/>
                <a:ea typeface="宋体" charset="-122"/>
              </a:rPr>
              <a:t>; ++cellCounter)</a:t>
            </a:r>
          </a:p>
        </p:txBody>
      </p:sp>
      <p:sp>
        <p:nvSpPr>
          <p:cNvPr id="178182" name="AutoShape 6">
            <a:hlinkClick r:id="" action="ppaction://noaction" highlightClick="1"/>
          </p:cNvPr>
          <p:cNvSpPr>
            <a:spLocks noChangeArrowheads="1"/>
          </p:cNvSpPr>
          <p:nvPr/>
        </p:nvSpPr>
        <p:spPr bwMode="auto">
          <a:xfrm>
            <a:off x="8748713" y="0"/>
            <a:ext cx="395287" cy="188913"/>
          </a:xfrm>
          <a:prstGeom prst="actionButtonBlank">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39794839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817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8180">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8180">
                                            <p:txEl>
                                              <p:pRg st="1" end="1"/>
                                            </p:txEl>
                                          </p:spTgt>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178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8" grpId="0" build="p"/>
      <p:bldP spid="178180" grpId="0" build="p"/>
      <p:bldP spid="17818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228600"/>
            <a:ext cx="8229600" cy="1143000"/>
          </a:xfrm>
        </p:spPr>
        <p:txBody>
          <a:bodyPr/>
          <a:lstStyle/>
          <a:p>
            <a:pPr eaLnBrk="1" hangingPunct="1"/>
            <a:r>
              <a:rPr lang="zh-CN" altLang="en-US" b="1" smtClean="0">
                <a:solidFill>
                  <a:schemeClr val="accent2"/>
                </a:solidFill>
                <a:ea typeface="楷体_GB2312" pitchFamily="49" charset="-122"/>
              </a:rPr>
              <a:t>软件设计的目标</a:t>
            </a:r>
          </a:p>
        </p:txBody>
      </p:sp>
      <p:sp>
        <p:nvSpPr>
          <p:cNvPr id="18435" name="Rectangle 3"/>
          <p:cNvSpPr>
            <a:spLocks noGrp="1" noChangeArrowheads="1"/>
          </p:cNvSpPr>
          <p:nvPr>
            <p:ph type="body" idx="1"/>
          </p:nvPr>
        </p:nvSpPr>
        <p:spPr>
          <a:xfrm>
            <a:off x="533400" y="1143000"/>
            <a:ext cx="8229600" cy="5486400"/>
          </a:xfrm>
        </p:spPr>
        <p:txBody>
          <a:bodyPr/>
          <a:lstStyle/>
          <a:p>
            <a:pPr eaLnBrk="1" hangingPunct="1">
              <a:buFont typeface="Wingdings" pitchFamily="2" charset="2"/>
              <a:buChar char="Ø"/>
            </a:pPr>
            <a:r>
              <a:rPr lang="zh-CN" altLang="en-US" b="1" smtClean="0">
                <a:latin typeface="楷体_GB2312" pitchFamily="49" charset="-122"/>
                <a:ea typeface="楷体_GB2312" pitchFamily="49" charset="-122"/>
              </a:rPr>
              <a:t>正确性、充足性、模块性和可读性</a:t>
            </a:r>
          </a:p>
          <a:p>
            <a:pPr lvl="1" eaLnBrk="1" hangingPunct="1">
              <a:buFont typeface="Wingdings" pitchFamily="2" charset="2"/>
              <a:buChar char="Ø"/>
            </a:pPr>
            <a:r>
              <a:rPr lang="zh-CN" altLang="en-US" b="1" smtClean="0">
                <a:latin typeface="楷体_GB2312" pitchFamily="49" charset="-122"/>
                <a:ea typeface="楷体_GB2312" pitchFamily="49" charset="-122"/>
              </a:rPr>
              <a:t>确保代码按照需求执行</a:t>
            </a:r>
          </a:p>
          <a:p>
            <a:pPr eaLnBrk="1" hangingPunct="1">
              <a:buFont typeface="Wingdings" pitchFamily="2" charset="2"/>
              <a:buChar char="Ø"/>
            </a:pPr>
            <a:r>
              <a:rPr lang="zh-CN" altLang="en-US" b="1" smtClean="0">
                <a:latin typeface="楷体_GB2312" pitchFamily="49" charset="-122"/>
                <a:ea typeface="楷体_GB2312" pitchFamily="49" charset="-122"/>
              </a:rPr>
              <a:t>健壮性</a:t>
            </a:r>
          </a:p>
          <a:p>
            <a:pPr lvl="1" eaLnBrk="1" hangingPunct="1">
              <a:buFont typeface="Wingdings" pitchFamily="2" charset="2"/>
              <a:buChar char="Ø"/>
            </a:pPr>
            <a:r>
              <a:rPr lang="zh-CN" altLang="en-US" b="1" smtClean="0">
                <a:latin typeface="楷体_GB2312" pitchFamily="49" charset="-122"/>
                <a:ea typeface="楷体_GB2312" pitchFamily="49" charset="-122"/>
              </a:rPr>
              <a:t>设计和实现能处理各种各样的异常情况（如数据错误、用户错误、环境条件）</a:t>
            </a:r>
          </a:p>
          <a:p>
            <a:pPr eaLnBrk="1" hangingPunct="1">
              <a:buFont typeface="Wingdings" pitchFamily="2" charset="2"/>
              <a:buChar char="Ø"/>
            </a:pPr>
            <a:r>
              <a:rPr lang="zh-CN" altLang="en-US" b="1" smtClean="0">
                <a:latin typeface="楷体_GB2312" pitchFamily="49" charset="-122"/>
                <a:ea typeface="楷体_GB2312" pitchFamily="49" charset="-122"/>
              </a:rPr>
              <a:t>灵活性</a:t>
            </a:r>
          </a:p>
          <a:p>
            <a:pPr lvl="1" eaLnBrk="1" hangingPunct="1">
              <a:buFont typeface="Wingdings" pitchFamily="2" charset="2"/>
              <a:buChar char="Ø"/>
            </a:pPr>
            <a:r>
              <a:rPr lang="zh-CN" altLang="en-US" b="1" smtClean="0">
                <a:latin typeface="楷体_GB2312" pitchFamily="49" charset="-122"/>
                <a:ea typeface="楷体_GB2312" pitchFamily="49" charset="-122"/>
              </a:rPr>
              <a:t>适应各种改变，易于修改</a:t>
            </a:r>
          </a:p>
          <a:p>
            <a:pPr lvl="2" eaLnBrk="1" hangingPunct="1">
              <a:buFont typeface="Wingdings" pitchFamily="2" charset="2"/>
              <a:buChar char="Ø"/>
            </a:pPr>
            <a:r>
              <a:rPr lang="zh-CN" altLang="en-US" b="1" smtClean="0">
                <a:latin typeface="楷体_GB2312" pitchFamily="49" charset="-122"/>
                <a:ea typeface="楷体_GB2312" pitchFamily="49" charset="-122"/>
              </a:rPr>
              <a:t>对已存在的操作增加适当的功能范围</a:t>
            </a:r>
          </a:p>
          <a:p>
            <a:pPr lvl="2" eaLnBrk="1" hangingPunct="1">
              <a:buFont typeface="Wingdings" pitchFamily="2" charset="2"/>
              <a:buChar char="Ø"/>
            </a:pPr>
            <a:r>
              <a:rPr lang="zh-CN" altLang="en-US" b="1" smtClean="0">
                <a:latin typeface="楷体_GB2312" pitchFamily="49" charset="-122"/>
                <a:ea typeface="楷体_GB2312" pitchFamily="49" charset="-122"/>
              </a:rPr>
              <a:t>增加新功能</a:t>
            </a:r>
          </a:p>
          <a:p>
            <a:pPr lvl="2" eaLnBrk="1" hangingPunct="1">
              <a:buFont typeface="Wingdings" pitchFamily="2" charset="2"/>
              <a:buChar char="Ø"/>
            </a:pPr>
            <a:r>
              <a:rPr lang="zh-CN" altLang="en-US" b="1" smtClean="0">
                <a:latin typeface="楷体_GB2312" pitchFamily="49" charset="-122"/>
                <a:ea typeface="楷体_GB2312" pitchFamily="49" charset="-122"/>
              </a:rPr>
              <a:t>改变功能</a:t>
            </a:r>
          </a:p>
        </p:txBody>
      </p:sp>
    </p:spTree>
    <p:extLst>
      <p:ext uri="{BB962C8B-B14F-4D97-AF65-F5344CB8AC3E}">
        <p14:creationId xmlns:p14="http://schemas.microsoft.com/office/powerpoint/2010/main" val="31100913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checkerboard(across)">
                                      <p:cBhvr>
                                        <p:cTn id="7" dur="500"/>
                                        <p:tgtEl>
                                          <p:spTgt spid="18435">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8435">
                                            <p:txEl>
                                              <p:pRg st="1" end="1"/>
                                            </p:txEl>
                                          </p:spTgt>
                                        </p:tgtEl>
                                        <p:attrNameLst>
                                          <p:attrName>style.visibility</p:attrName>
                                        </p:attrNameLst>
                                      </p:cBhvr>
                                      <p:to>
                                        <p:strVal val="visible"/>
                                      </p:to>
                                    </p:set>
                                    <p:animEffect transition="in" filter="checkerboard(across)">
                                      <p:cBhvr>
                                        <p:cTn id="10" dur="500"/>
                                        <p:tgtEl>
                                          <p:spTgt spid="1843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animEffect transition="in" filter="checkerboard(across)">
                                      <p:cBhvr>
                                        <p:cTn id="15" dur="500"/>
                                        <p:tgtEl>
                                          <p:spTgt spid="18435">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18435">
                                            <p:txEl>
                                              <p:pRg st="3" end="3"/>
                                            </p:txEl>
                                          </p:spTgt>
                                        </p:tgtEl>
                                        <p:attrNameLst>
                                          <p:attrName>style.visibility</p:attrName>
                                        </p:attrNameLst>
                                      </p:cBhvr>
                                      <p:to>
                                        <p:strVal val="visible"/>
                                      </p:to>
                                    </p:set>
                                    <p:animEffect transition="in" filter="checkerboard(across)">
                                      <p:cBhvr>
                                        <p:cTn id="18" dur="500"/>
                                        <p:tgtEl>
                                          <p:spTgt spid="18435">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nodeType="clickEffect">
                                  <p:stCondLst>
                                    <p:cond delay="0"/>
                                  </p:stCondLst>
                                  <p:childTnLst>
                                    <p:set>
                                      <p:cBhvr>
                                        <p:cTn id="22" dur="1" fill="hold">
                                          <p:stCondLst>
                                            <p:cond delay="0"/>
                                          </p:stCondLst>
                                        </p:cTn>
                                        <p:tgtEl>
                                          <p:spTgt spid="18435">
                                            <p:txEl>
                                              <p:pRg st="4" end="4"/>
                                            </p:txEl>
                                          </p:spTgt>
                                        </p:tgtEl>
                                        <p:attrNameLst>
                                          <p:attrName>style.visibility</p:attrName>
                                        </p:attrNameLst>
                                      </p:cBhvr>
                                      <p:to>
                                        <p:strVal val="visible"/>
                                      </p:to>
                                    </p:set>
                                    <p:animEffect transition="in" filter="checkerboard(across)">
                                      <p:cBhvr>
                                        <p:cTn id="23" dur="500"/>
                                        <p:tgtEl>
                                          <p:spTgt spid="18435">
                                            <p:txEl>
                                              <p:pRg st="4" end="4"/>
                                            </p:txEl>
                                          </p:spTgt>
                                        </p:tgtEl>
                                      </p:cBhvr>
                                    </p:animEffect>
                                  </p:childTnLst>
                                </p:cTn>
                              </p:par>
                              <p:par>
                                <p:cTn id="24" presetID="5" presetClass="entr" presetSubtype="10" fill="hold" nodeType="withEffect">
                                  <p:stCondLst>
                                    <p:cond delay="0"/>
                                  </p:stCondLst>
                                  <p:childTnLst>
                                    <p:set>
                                      <p:cBhvr>
                                        <p:cTn id="25" dur="1" fill="hold">
                                          <p:stCondLst>
                                            <p:cond delay="0"/>
                                          </p:stCondLst>
                                        </p:cTn>
                                        <p:tgtEl>
                                          <p:spTgt spid="18435">
                                            <p:txEl>
                                              <p:pRg st="5" end="5"/>
                                            </p:txEl>
                                          </p:spTgt>
                                        </p:tgtEl>
                                        <p:attrNameLst>
                                          <p:attrName>style.visibility</p:attrName>
                                        </p:attrNameLst>
                                      </p:cBhvr>
                                      <p:to>
                                        <p:strVal val="visible"/>
                                      </p:to>
                                    </p:set>
                                    <p:animEffect transition="in" filter="checkerboard(across)">
                                      <p:cBhvr>
                                        <p:cTn id="26" dur="500"/>
                                        <p:tgtEl>
                                          <p:spTgt spid="18435">
                                            <p:txEl>
                                              <p:pRg st="5" end="5"/>
                                            </p:txEl>
                                          </p:spTgt>
                                        </p:tgtEl>
                                      </p:cBhvr>
                                    </p:animEffect>
                                  </p:childTnLst>
                                </p:cTn>
                              </p:par>
                              <p:par>
                                <p:cTn id="27" presetID="5" presetClass="entr" presetSubtype="10" fill="hold" nodeType="withEffect">
                                  <p:stCondLst>
                                    <p:cond delay="0"/>
                                  </p:stCondLst>
                                  <p:childTnLst>
                                    <p:set>
                                      <p:cBhvr>
                                        <p:cTn id="28" dur="1" fill="hold">
                                          <p:stCondLst>
                                            <p:cond delay="0"/>
                                          </p:stCondLst>
                                        </p:cTn>
                                        <p:tgtEl>
                                          <p:spTgt spid="18435">
                                            <p:txEl>
                                              <p:pRg st="6" end="6"/>
                                            </p:txEl>
                                          </p:spTgt>
                                        </p:tgtEl>
                                        <p:attrNameLst>
                                          <p:attrName>style.visibility</p:attrName>
                                        </p:attrNameLst>
                                      </p:cBhvr>
                                      <p:to>
                                        <p:strVal val="visible"/>
                                      </p:to>
                                    </p:set>
                                    <p:animEffect transition="in" filter="checkerboard(across)">
                                      <p:cBhvr>
                                        <p:cTn id="29" dur="500"/>
                                        <p:tgtEl>
                                          <p:spTgt spid="18435">
                                            <p:txEl>
                                              <p:pRg st="6" end="6"/>
                                            </p:txEl>
                                          </p:spTgt>
                                        </p:tgtEl>
                                      </p:cBhvr>
                                    </p:animEffect>
                                  </p:childTnLst>
                                </p:cTn>
                              </p:par>
                              <p:par>
                                <p:cTn id="30" presetID="5" presetClass="entr" presetSubtype="10" fill="hold" nodeType="withEffect">
                                  <p:stCondLst>
                                    <p:cond delay="0"/>
                                  </p:stCondLst>
                                  <p:childTnLst>
                                    <p:set>
                                      <p:cBhvr>
                                        <p:cTn id="31" dur="1" fill="hold">
                                          <p:stCondLst>
                                            <p:cond delay="0"/>
                                          </p:stCondLst>
                                        </p:cTn>
                                        <p:tgtEl>
                                          <p:spTgt spid="18435">
                                            <p:txEl>
                                              <p:pRg st="7" end="7"/>
                                            </p:txEl>
                                          </p:spTgt>
                                        </p:tgtEl>
                                        <p:attrNameLst>
                                          <p:attrName>style.visibility</p:attrName>
                                        </p:attrNameLst>
                                      </p:cBhvr>
                                      <p:to>
                                        <p:strVal val="visible"/>
                                      </p:to>
                                    </p:set>
                                    <p:animEffect transition="in" filter="checkerboard(across)">
                                      <p:cBhvr>
                                        <p:cTn id="32" dur="500"/>
                                        <p:tgtEl>
                                          <p:spTgt spid="18435">
                                            <p:txEl>
                                              <p:pRg st="7" end="7"/>
                                            </p:txEl>
                                          </p:spTgt>
                                        </p:tgtEl>
                                      </p:cBhvr>
                                    </p:animEffect>
                                  </p:childTnLst>
                                </p:cTn>
                              </p:par>
                              <p:par>
                                <p:cTn id="33" presetID="5" presetClass="entr" presetSubtype="10" fill="hold" nodeType="withEffect">
                                  <p:stCondLst>
                                    <p:cond delay="0"/>
                                  </p:stCondLst>
                                  <p:childTnLst>
                                    <p:set>
                                      <p:cBhvr>
                                        <p:cTn id="34" dur="1" fill="hold">
                                          <p:stCondLst>
                                            <p:cond delay="0"/>
                                          </p:stCondLst>
                                        </p:cTn>
                                        <p:tgtEl>
                                          <p:spTgt spid="18435">
                                            <p:txEl>
                                              <p:pRg st="8" end="8"/>
                                            </p:txEl>
                                          </p:spTgt>
                                        </p:tgtEl>
                                        <p:attrNameLst>
                                          <p:attrName>style.visibility</p:attrName>
                                        </p:attrNameLst>
                                      </p:cBhvr>
                                      <p:to>
                                        <p:strVal val="visible"/>
                                      </p:to>
                                    </p:set>
                                    <p:animEffect transition="in" filter="checkerboard(across)">
                                      <p:cBhvr>
                                        <p:cTn id="35" dur="500"/>
                                        <p:tgtEl>
                                          <p:spTgt spid="1843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228600"/>
            <a:ext cx="8229600" cy="1143000"/>
          </a:xfrm>
        </p:spPr>
        <p:txBody>
          <a:bodyPr/>
          <a:lstStyle/>
          <a:p>
            <a:pPr eaLnBrk="1" hangingPunct="1"/>
            <a:r>
              <a:rPr lang="zh-CN" altLang="en-US" b="1" smtClean="0">
                <a:solidFill>
                  <a:schemeClr val="accent2"/>
                </a:solidFill>
                <a:ea typeface="楷体_GB2312" pitchFamily="49" charset="-122"/>
              </a:rPr>
              <a:t>软件设计的目标</a:t>
            </a:r>
          </a:p>
        </p:txBody>
      </p:sp>
      <p:sp>
        <p:nvSpPr>
          <p:cNvPr id="31747" name="Rectangle 3"/>
          <p:cNvSpPr>
            <a:spLocks noGrp="1" noChangeArrowheads="1"/>
          </p:cNvSpPr>
          <p:nvPr>
            <p:ph type="body" idx="1"/>
          </p:nvPr>
        </p:nvSpPr>
        <p:spPr>
          <a:xfrm>
            <a:off x="533400" y="1295400"/>
            <a:ext cx="8229600" cy="5410200"/>
          </a:xfrm>
        </p:spPr>
        <p:txBody>
          <a:bodyPr/>
          <a:lstStyle/>
          <a:p>
            <a:pPr eaLnBrk="1" hangingPunct="1">
              <a:buFont typeface="Wingdings" pitchFamily="2" charset="2"/>
              <a:buChar char="Ø"/>
            </a:pPr>
            <a:r>
              <a:rPr lang="zh-CN" altLang="en-US" b="1" smtClean="0">
                <a:latin typeface="楷体_GB2312" pitchFamily="49" charset="-122"/>
                <a:ea typeface="楷体_GB2312" pitchFamily="49" charset="-122"/>
              </a:rPr>
              <a:t>可重用性</a:t>
            </a:r>
          </a:p>
          <a:p>
            <a:pPr lvl="1" eaLnBrk="1" hangingPunct="1">
              <a:buFont typeface="Wingdings" pitchFamily="2" charset="2"/>
              <a:buChar char="Ø"/>
            </a:pPr>
            <a:r>
              <a:rPr lang="zh-CN" altLang="en-US" b="1" smtClean="0">
                <a:latin typeface="楷体_GB2312" pitchFamily="49" charset="-122"/>
                <a:ea typeface="楷体_GB2312" pitchFamily="49" charset="-122"/>
              </a:rPr>
              <a:t>对象代码</a:t>
            </a:r>
          </a:p>
          <a:p>
            <a:pPr lvl="1" eaLnBrk="1" hangingPunct="1">
              <a:buFont typeface="Wingdings" pitchFamily="2" charset="2"/>
              <a:buChar char="Ø"/>
            </a:pPr>
            <a:r>
              <a:rPr lang="zh-CN" altLang="en-US" b="1" smtClean="0">
                <a:latin typeface="楷体_GB2312" pitchFamily="49" charset="-122"/>
                <a:ea typeface="楷体_GB2312" pitchFamily="49" charset="-122"/>
              </a:rPr>
              <a:t>类（以源代码形式）</a:t>
            </a:r>
          </a:p>
          <a:p>
            <a:pPr lvl="1" eaLnBrk="1" hangingPunct="1">
              <a:buFont typeface="Wingdings" pitchFamily="2" charset="2"/>
              <a:buChar char="Ø"/>
            </a:pPr>
            <a:r>
              <a:rPr lang="zh-CN" altLang="en-US" b="1" smtClean="0">
                <a:latin typeface="楷体_GB2312" pitchFamily="49" charset="-122"/>
                <a:ea typeface="楷体_GB2312" pitchFamily="49" charset="-122"/>
              </a:rPr>
              <a:t>相关类的聚合</a:t>
            </a:r>
          </a:p>
          <a:p>
            <a:pPr lvl="1" eaLnBrk="1" hangingPunct="1">
              <a:buFont typeface="Wingdings" pitchFamily="2" charset="2"/>
              <a:buChar char="Ø"/>
            </a:pPr>
            <a:r>
              <a:rPr lang="zh-CN" altLang="en-US" b="1" smtClean="0">
                <a:latin typeface="楷体_GB2312" pitchFamily="49" charset="-122"/>
                <a:ea typeface="楷体_GB2312" pitchFamily="49" charset="-122"/>
              </a:rPr>
              <a:t>类聚合模式</a:t>
            </a:r>
          </a:p>
          <a:p>
            <a:pPr eaLnBrk="1" hangingPunct="1">
              <a:buFont typeface="Wingdings" pitchFamily="2" charset="2"/>
              <a:buChar char="Ø"/>
            </a:pPr>
            <a:r>
              <a:rPr lang="zh-CN" altLang="en-US" b="1" smtClean="0">
                <a:latin typeface="楷体_GB2312" pitchFamily="49" charset="-122"/>
                <a:ea typeface="楷体_GB2312" pitchFamily="49" charset="-122"/>
              </a:rPr>
              <a:t>高效性</a:t>
            </a:r>
          </a:p>
          <a:p>
            <a:pPr lvl="1" eaLnBrk="1" hangingPunct="1">
              <a:buFont typeface="Wingdings" pitchFamily="2" charset="2"/>
              <a:buChar char="Ø"/>
            </a:pPr>
            <a:r>
              <a:rPr lang="zh-CN" altLang="en-US" b="1" smtClean="0">
                <a:latin typeface="楷体_GB2312" pitchFamily="49" charset="-122"/>
                <a:ea typeface="楷体_GB2312" pitchFamily="49" charset="-122"/>
              </a:rPr>
              <a:t>利用可用的机器时间周期和内存尽可能快地创造设计和实现</a:t>
            </a:r>
          </a:p>
          <a:p>
            <a:pPr eaLnBrk="1" hangingPunct="1">
              <a:buFont typeface="Wingdings" pitchFamily="2" charset="2"/>
              <a:buChar char="Ø"/>
            </a:pPr>
            <a:r>
              <a:rPr lang="zh-CN" altLang="en-US" b="1" smtClean="0">
                <a:latin typeface="楷体_GB2312" pitchFamily="49" charset="-122"/>
                <a:ea typeface="楷体_GB2312" pitchFamily="49" charset="-122"/>
              </a:rPr>
              <a:t>可靠性</a:t>
            </a:r>
          </a:p>
          <a:p>
            <a:pPr eaLnBrk="1" hangingPunct="1">
              <a:buFont typeface="Wingdings" pitchFamily="2" charset="2"/>
              <a:buChar char="Ø"/>
            </a:pPr>
            <a:r>
              <a:rPr lang="zh-CN" altLang="en-US" b="1" smtClean="0">
                <a:latin typeface="楷体_GB2312" pitchFamily="49" charset="-122"/>
                <a:ea typeface="楷体_GB2312" pitchFamily="49" charset="-122"/>
              </a:rPr>
              <a:t>可用性</a:t>
            </a:r>
          </a:p>
        </p:txBody>
      </p:sp>
    </p:spTree>
    <p:extLst>
      <p:ext uri="{BB962C8B-B14F-4D97-AF65-F5344CB8AC3E}">
        <p14:creationId xmlns:p14="http://schemas.microsoft.com/office/powerpoint/2010/main" val="355277168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zh-CN" altLang="en-US" dirty="0" smtClean="0"/>
              <a:t>软件设计准则</a:t>
            </a:r>
          </a:p>
        </p:txBody>
      </p:sp>
      <p:sp>
        <p:nvSpPr>
          <p:cNvPr id="32771" name="Rectangle 3"/>
          <p:cNvSpPr>
            <a:spLocks noGrp="1" noChangeArrowheads="1"/>
          </p:cNvSpPr>
          <p:nvPr>
            <p:ph type="body" idx="1"/>
          </p:nvPr>
        </p:nvSpPr>
        <p:spPr>
          <a:xfrm>
            <a:off x="228600" y="1600200"/>
            <a:ext cx="8915400" cy="4525963"/>
          </a:xfrm>
        </p:spPr>
        <p:txBody>
          <a:bodyPr/>
          <a:lstStyle/>
          <a:p>
            <a:pPr>
              <a:lnSpc>
                <a:spcPct val="80000"/>
              </a:lnSpc>
            </a:pPr>
            <a:r>
              <a:rPr lang="zh-CN" altLang="en-US" sz="2400" b="1" dirty="0" smtClean="0">
                <a:latin typeface="楷体_GB2312" pitchFamily="49" charset="-122"/>
                <a:ea typeface="楷体_GB2312" pitchFamily="49" charset="-122"/>
              </a:rPr>
              <a:t>软件</a:t>
            </a:r>
            <a:r>
              <a:rPr lang="zh-CN" altLang="en-US" sz="2400" b="1" dirty="0" smtClean="0">
                <a:latin typeface="楷体_GB2312" pitchFamily="49" charset="-122"/>
                <a:ea typeface="楷体_GB2312" pitchFamily="49" charset="-122"/>
                <a:hlinkClick r:id="rId2" tooltip="设计"/>
              </a:rPr>
              <a:t>设计</a:t>
            </a:r>
            <a:r>
              <a:rPr lang="zh-CN" altLang="en-US" sz="2400" b="1" dirty="0" smtClean="0">
                <a:latin typeface="楷体_GB2312" pitchFamily="49" charset="-122"/>
                <a:ea typeface="楷体_GB2312" pitchFamily="49" charset="-122"/>
              </a:rPr>
              <a:t>的重要性表现在</a:t>
            </a:r>
            <a:r>
              <a:rPr lang="zh-CN" altLang="en-US" sz="2400" b="1" dirty="0" smtClean="0">
                <a:latin typeface="楷体_GB2312" pitchFamily="49" charset="-122"/>
                <a:ea typeface="楷体_GB2312" pitchFamily="49" charset="-122"/>
                <a:hlinkClick r:id="rId3" tooltip="软件"/>
              </a:rPr>
              <a:t>软件</a:t>
            </a:r>
            <a:r>
              <a:rPr lang="zh-CN" altLang="en-US" sz="2400" b="1" dirty="0" smtClean="0">
                <a:latin typeface="楷体_GB2312" pitchFamily="49" charset="-122"/>
                <a:ea typeface="楷体_GB2312" pitchFamily="49" charset="-122"/>
              </a:rPr>
              <a:t>的</a:t>
            </a:r>
            <a:r>
              <a:rPr lang="zh-CN" altLang="en-US" sz="2400" b="1" dirty="0" smtClean="0">
                <a:latin typeface="楷体_GB2312" pitchFamily="49" charset="-122"/>
                <a:ea typeface="楷体_GB2312" pitchFamily="49" charset="-122"/>
                <a:hlinkClick r:id="rId4" tooltip="质量"/>
              </a:rPr>
              <a:t>质量</a:t>
            </a:r>
            <a:r>
              <a:rPr lang="zh-CN" altLang="en-US" sz="2400" b="1" dirty="0" smtClean="0">
                <a:latin typeface="楷体_GB2312" pitchFamily="49" charset="-122"/>
                <a:ea typeface="楷体_GB2312" pitchFamily="49" charset="-122"/>
              </a:rPr>
              <a:t>。如何设计才能保证质量？给出软件设计的一般原则：</a:t>
            </a:r>
            <a:br>
              <a:rPr lang="zh-CN" altLang="en-US" sz="2400" b="1" dirty="0" smtClean="0">
                <a:latin typeface="楷体_GB2312" pitchFamily="49" charset="-122"/>
                <a:ea typeface="楷体_GB2312" pitchFamily="49" charset="-122"/>
              </a:rPr>
            </a:br>
            <a:r>
              <a:rPr lang="zh-CN" altLang="en-US" sz="2400" b="1" dirty="0" smtClean="0">
                <a:latin typeface="楷体_GB2312" pitchFamily="49" charset="-122"/>
                <a:ea typeface="楷体_GB2312" pitchFamily="49" charset="-122"/>
              </a:rPr>
              <a:t/>
            </a:r>
            <a:br>
              <a:rPr lang="zh-CN" altLang="en-US" sz="2400" b="1" dirty="0" smtClean="0">
                <a:latin typeface="楷体_GB2312" pitchFamily="49" charset="-122"/>
                <a:ea typeface="楷体_GB2312" pitchFamily="49" charset="-122"/>
              </a:rPr>
            </a:br>
            <a:r>
              <a:rPr lang="zh-CN" altLang="en-US" sz="2400" b="1" dirty="0" smtClean="0">
                <a:latin typeface="楷体_GB2312" pitchFamily="49" charset="-122"/>
                <a:ea typeface="楷体_GB2312" pitchFamily="49" charset="-122"/>
              </a:rPr>
              <a:t>（</a:t>
            </a:r>
            <a:r>
              <a:rPr lang="en-US" altLang="zh-CN" sz="2400" b="1" dirty="0" smtClean="0">
                <a:latin typeface="楷体_GB2312" pitchFamily="49" charset="-122"/>
                <a:ea typeface="楷体_GB2312" pitchFamily="49" charset="-122"/>
              </a:rPr>
              <a:t>1</a:t>
            </a:r>
            <a:r>
              <a:rPr lang="zh-CN" altLang="en-US" sz="2400" b="1" dirty="0" smtClean="0">
                <a:latin typeface="楷体_GB2312" pitchFamily="49" charset="-122"/>
                <a:ea typeface="楷体_GB2312" pitchFamily="49" charset="-122"/>
              </a:rPr>
              <a:t>）要有分层的组织结构，便于对软件各个构件进行控制；</a:t>
            </a:r>
            <a:br>
              <a:rPr lang="zh-CN" altLang="en-US" sz="2400" b="1" dirty="0" smtClean="0">
                <a:latin typeface="楷体_GB2312" pitchFamily="49" charset="-122"/>
                <a:ea typeface="楷体_GB2312" pitchFamily="49" charset="-122"/>
              </a:rPr>
            </a:br>
            <a:r>
              <a:rPr lang="zh-CN" altLang="en-US" sz="2400" b="1" dirty="0" smtClean="0">
                <a:latin typeface="楷体_GB2312" pitchFamily="49" charset="-122"/>
                <a:ea typeface="楷体_GB2312" pitchFamily="49" charset="-122"/>
              </a:rPr>
              <a:t/>
            </a:r>
            <a:br>
              <a:rPr lang="zh-CN" altLang="en-US" sz="2400" b="1" dirty="0" smtClean="0">
                <a:latin typeface="楷体_GB2312" pitchFamily="49" charset="-122"/>
                <a:ea typeface="楷体_GB2312" pitchFamily="49" charset="-122"/>
              </a:rPr>
            </a:br>
            <a:r>
              <a:rPr lang="zh-CN" altLang="en-US" sz="2400" b="1" dirty="0" smtClean="0">
                <a:latin typeface="楷体_GB2312" pitchFamily="49" charset="-122"/>
                <a:ea typeface="楷体_GB2312" pitchFamily="49" charset="-122"/>
              </a:rPr>
              <a:t>（</a:t>
            </a:r>
            <a:r>
              <a:rPr lang="en-US" altLang="zh-CN" sz="2400" b="1" dirty="0" smtClean="0">
                <a:latin typeface="楷体_GB2312" pitchFamily="49" charset="-122"/>
                <a:ea typeface="楷体_GB2312" pitchFamily="49" charset="-122"/>
              </a:rPr>
              <a:t>2</a:t>
            </a:r>
            <a:r>
              <a:rPr lang="zh-CN" altLang="en-US" sz="2400" b="1" dirty="0" smtClean="0">
                <a:latin typeface="楷体_GB2312" pitchFamily="49" charset="-122"/>
                <a:ea typeface="楷体_GB2312" pitchFamily="49" charset="-122"/>
              </a:rPr>
              <a:t>）应形成具有独立功能特征的</a:t>
            </a:r>
            <a:r>
              <a:rPr lang="zh-CN" altLang="en-US" sz="2400" b="1" dirty="0" smtClean="0">
                <a:latin typeface="楷体_GB2312" pitchFamily="49" charset="-122"/>
                <a:ea typeface="楷体_GB2312" pitchFamily="49" charset="-122"/>
                <a:hlinkClick r:id="rId5" tooltip="模块"/>
              </a:rPr>
              <a:t>模块</a:t>
            </a:r>
            <a:r>
              <a:rPr lang="zh-CN" altLang="en-US" sz="2400" b="1" dirty="0" smtClean="0">
                <a:latin typeface="楷体_GB2312" pitchFamily="49" charset="-122"/>
                <a:ea typeface="楷体_GB2312" pitchFamily="49" charset="-122"/>
              </a:rPr>
              <a:t>（模块化）；</a:t>
            </a:r>
            <a:br>
              <a:rPr lang="zh-CN" altLang="en-US" sz="2400" b="1" dirty="0" smtClean="0">
                <a:latin typeface="楷体_GB2312" pitchFamily="49" charset="-122"/>
                <a:ea typeface="楷体_GB2312" pitchFamily="49" charset="-122"/>
              </a:rPr>
            </a:br>
            <a:r>
              <a:rPr lang="zh-CN" altLang="en-US" sz="2400" b="1" dirty="0" smtClean="0">
                <a:latin typeface="楷体_GB2312" pitchFamily="49" charset="-122"/>
                <a:ea typeface="楷体_GB2312" pitchFamily="49" charset="-122"/>
              </a:rPr>
              <a:t/>
            </a:r>
            <a:br>
              <a:rPr lang="zh-CN" altLang="en-US" sz="2400" b="1" dirty="0" smtClean="0">
                <a:latin typeface="楷体_GB2312" pitchFamily="49" charset="-122"/>
                <a:ea typeface="楷体_GB2312" pitchFamily="49" charset="-122"/>
              </a:rPr>
            </a:br>
            <a:r>
              <a:rPr lang="zh-CN" altLang="en-US" sz="2400" b="1" dirty="0" smtClean="0">
                <a:latin typeface="楷体_GB2312" pitchFamily="49" charset="-122"/>
                <a:ea typeface="楷体_GB2312" pitchFamily="49" charset="-122"/>
              </a:rPr>
              <a:t>（</a:t>
            </a:r>
            <a:r>
              <a:rPr lang="en-US" altLang="zh-CN" sz="2400" b="1" dirty="0" smtClean="0">
                <a:latin typeface="楷体_GB2312" pitchFamily="49" charset="-122"/>
                <a:ea typeface="楷体_GB2312" pitchFamily="49" charset="-122"/>
              </a:rPr>
              <a:t>3</a:t>
            </a:r>
            <a:r>
              <a:rPr lang="zh-CN" altLang="en-US" sz="2400" b="1" dirty="0" smtClean="0">
                <a:latin typeface="楷体_GB2312" pitchFamily="49" charset="-122"/>
                <a:ea typeface="楷体_GB2312" pitchFamily="49" charset="-122"/>
              </a:rPr>
              <a:t>）应有性质不同、可区分的</a:t>
            </a:r>
            <a:r>
              <a:rPr lang="zh-CN" altLang="en-US" sz="2400" b="1" dirty="0" smtClean="0">
                <a:latin typeface="楷体_GB2312" pitchFamily="49" charset="-122"/>
                <a:ea typeface="楷体_GB2312" pitchFamily="49" charset="-122"/>
                <a:hlinkClick r:id="rId6" tooltip="数据"/>
              </a:rPr>
              <a:t>数据</a:t>
            </a:r>
            <a:r>
              <a:rPr lang="zh-CN" altLang="en-US" sz="2400" b="1" dirty="0" smtClean="0">
                <a:latin typeface="楷体_GB2312" pitchFamily="49" charset="-122"/>
                <a:ea typeface="楷体_GB2312" pitchFamily="49" charset="-122"/>
              </a:rPr>
              <a:t>和过程描述（表达式）；</a:t>
            </a:r>
            <a:br>
              <a:rPr lang="zh-CN" altLang="en-US" sz="2400" b="1" dirty="0" smtClean="0">
                <a:latin typeface="楷体_GB2312" pitchFamily="49" charset="-122"/>
                <a:ea typeface="楷体_GB2312" pitchFamily="49" charset="-122"/>
              </a:rPr>
            </a:br>
            <a:r>
              <a:rPr lang="zh-CN" altLang="en-US" sz="2400" b="1" dirty="0" smtClean="0">
                <a:latin typeface="楷体_GB2312" pitchFamily="49" charset="-122"/>
                <a:ea typeface="楷体_GB2312" pitchFamily="49" charset="-122"/>
              </a:rPr>
              <a:t/>
            </a:r>
            <a:br>
              <a:rPr lang="zh-CN" altLang="en-US" sz="2400" b="1" dirty="0" smtClean="0">
                <a:latin typeface="楷体_GB2312" pitchFamily="49" charset="-122"/>
                <a:ea typeface="楷体_GB2312" pitchFamily="49" charset="-122"/>
              </a:rPr>
            </a:br>
            <a:r>
              <a:rPr lang="zh-CN" altLang="en-US" sz="2400" b="1" dirty="0" smtClean="0">
                <a:latin typeface="楷体_GB2312" pitchFamily="49" charset="-122"/>
                <a:ea typeface="楷体_GB2312" pitchFamily="49" charset="-122"/>
              </a:rPr>
              <a:t>（</a:t>
            </a:r>
            <a:r>
              <a:rPr lang="en-US" altLang="zh-CN" sz="2400" b="1" dirty="0" smtClean="0">
                <a:latin typeface="楷体_GB2312" pitchFamily="49" charset="-122"/>
                <a:ea typeface="楷体_GB2312" pitchFamily="49" charset="-122"/>
              </a:rPr>
              <a:t>4</a:t>
            </a:r>
            <a:r>
              <a:rPr lang="zh-CN" altLang="en-US" sz="2400" b="1" dirty="0" smtClean="0">
                <a:latin typeface="楷体_GB2312" pitchFamily="49" charset="-122"/>
                <a:ea typeface="楷体_GB2312" pitchFamily="49" charset="-122"/>
              </a:rPr>
              <a:t>）应使模块之间和与外部环境之间接口的复杂性尽量地减小；</a:t>
            </a:r>
            <a:br>
              <a:rPr lang="zh-CN" altLang="en-US" sz="2400" b="1" dirty="0" smtClean="0">
                <a:latin typeface="楷体_GB2312" pitchFamily="49" charset="-122"/>
                <a:ea typeface="楷体_GB2312" pitchFamily="49" charset="-122"/>
              </a:rPr>
            </a:br>
            <a:r>
              <a:rPr lang="zh-CN" altLang="en-US" sz="2400" b="1" dirty="0" smtClean="0">
                <a:latin typeface="楷体_GB2312" pitchFamily="49" charset="-122"/>
                <a:ea typeface="楷体_GB2312" pitchFamily="49" charset="-122"/>
              </a:rPr>
              <a:t/>
            </a:r>
            <a:br>
              <a:rPr lang="zh-CN" altLang="en-US" sz="2400" b="1" dirty="0" smtClean="0">
                <a:latin typeface="楷体_GB2312" pitchFamily="49" charset="-122"/>
                <a:ea typeface="楷体_GB2312" pitchFamily="49" charset="-122"/>
              </a:rPr>
            </a:br>
            <a:r>
              <a:rPr lang="zh-CN" altLang="en-US" sz="2400" b="1" dirty="0" smtClean="0">
                <a:latin typeface="楷体_GB2312" pitchFamily="49" charset="-122"/>
                <a:ea typeface="楷体_GB2312" pitchFamily="49" charset="-122"/>
              </a:rPr>
              <a:t>（</a:t>
            </a:r>
            <a:r>
              <a:rPr lang="en-US" altLang="zh-CN" sz="2400" b="1" dirty="0" smtClean="0">
                <a:latin typeface="楷体_GB2312" pitchFamily="49" charset="-122"/>
                <a:ea typeface="楷体_GB2312" pitchFamily="49" charset="-122"/>
              </a:rPr>
              <a:t>5</a:t>
            </a:r>
            <a:r>
              <a:rPr lang="zh-CN" altLang="en-US" sz="2400" b="1" dirty="0" smtClean="0">
                <a:latin typeface="楷体_GB2312" pitchFamily="49" charset="-122"/>
                <a:ea typeface="楷体_GB2312" pitchFamily="49" charset="-122"/>
              </a:rPr>
              <a:t>）应利用软件需求分析中得到的信息和可</a:t>
            </a:r>
            <a:r>
              <a:rPr lang="zh-CN" altLang="en-US" sz="2400" b="1" dirty="0" smtClean="0">
                <a:latin typeface="楷体_GB2312" pitchFamily="49" charset="-122"/>
                <a:ea typeface="楷体_GB2312" pitchFamily="49" charset="-122"/>
                <a:hlinkClick r:id="rId7" tooltip="重复"/>
              </a:rPr>
              <a:t>重复</a:t>
            </a:r>
            <a:r>
              <a:rPr lang="zh-CN" altLang="en-US" sz="2400" b="1" dirty="0" smtClean="0">
                <a:latin typeface="楷体_GB2312" pitchFamily="49" charset="-122"/>
                <a:ea typeface="楷体_GB2312" pitchFamily="49" charset="-122"/>
              </a:rPr>
              <a:t>的方法。</a:t>
            </a:r>
            <a:br>
              <a:rPr lang="zh-CN" altLang="en-US" sz="2400" b="1" dirty="0" smtClean="0">
                <a:latin typeface="楷体_GB2312" pitchFamily="49" charset="-122"/>
                <a:ea typeface="楷体_GB2312" pitchFamily="49" charset="-122"/>
              </a:rPr>
            </a:br>
            <a:endParaRPr lang="zh-CN" altLang="en-US" sz="2400" b="1" dirty="0" smtClean="0">
              <a:latin typeface="楷体_GB2312" pitchFamily="49" charset="-122"/>
              <a:ea typeface="楷体_GB2312" pitchFamily="49" charset="-122"/>
            </a:endParaRPr>
          </a:p>
        </p:txBody>
      </p:sp>
    </p:spTree>
    <p:extLst>
      <p:ext uri="{BB962C8B-B14F-4D97-AF65-F5344CB8AC3E}">
        <p14:creationId xmlns:p14="http://schemas.microsoft.com/office/powerpoint/2010/main" val="327943877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6" name="Text Box 4"/>
          <p:cNvSpPr txBox="1">
            <a:spLocks noChangeArrowheads="1"/>
          </p:cNvSpPr>
          <p:nvPr/>
        </p:nvSpPr>
        <p:spPr bwMode="auto">
          <a:xfrm>
            <a:off x="323850" y="1196975"/>
            <a:ext cx="8424863" cy="3785652"/>
          </a:xfrm>
          <a:prstGeom prst="rect">
            <a:avLst/>
          </a:prstGeom>
          <a:noFill/>
          <a:ln>
            <a:noFill/>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ctr" eaLnBrk="1" hangingPunct="1">
              <a:defRPr/>
            </a:pPr>
            <a:r>
              <a:rPr lang="zh-CN" altLang="en-US" sz="6000" b="1" dirty="0" smtClean="0">
                <a:solidFill>
                  <a:srgbClr val="FF3300"/>
                </a:solidFill>
                <a:effectLst>
                  <a:outerShdw blurRad="38100" dist="38100" dir="2700000" algn="tl">
                    <a:srgbClr val="C0C0C0"/>
                  </a:outerShdw>
                </a:effectLst>
                <a:ea typeface="隶书" pitchFamily="49" charset="-122"/>
              </a:rPr>
              <a:t>软件设计与体系结构</a:t>
            </a:r>
            <a:endParaRPr lang="en-US" altLang="zh-CN" sz="6000" b="1" dirty="0" smtClean="0">
              <a:solidFill>
                <a:srgbClr val="FF3300"/>
              </a:solidFill>
              <a:effectLst>
                <a:outerShdw blurRad="38100" dist="38100" dir="2700000" algn="tl">
                  <a:srgbClr val="C0C0C0"/>
                </a:outerShdw>
              </a:effectLst>
              <a:ea typeface="隶书" pitchFamily="49" charset="-122"/>
            </a:endParaRPr>
          </a:p>
          <a:p>
            <a:pPr algn="ctr" eaLnBrk="1" hangingPunct="1">
              <a:defRPr/>
            </a:pPr>
            <a:endParaRPr lang="zh-CN" altLang="en-US" sz="6000" b="1" dirty="0" smtClean="0">
              <a:solidFill>
                <a:srgbClr val="FF3300"/>
              </a:solidFill>
              <a:effectLst>
                <a:outerShdw blurRad="38100" dist="38100" dir="2700000" algn="tl">
                  <a:srgbClr val="C0C0C0"/>
                </a:outerShdw>
              </a:effectLst>
              <a:ea typeface="隶书" pitchFamily="49" charset="-122"/>
            </a:endParaRPr>
          </a:p>
          <a:p>
            <a:pPr algn="ctr">
              <a:defRPr/>
            </a:pPr>
            <a:r>
              <a:rPr lang="zh-CN" altLang="en-US" sz="6000" b="1" dirty="0" smtClean="0">
                <a:solidFill>
                  <a:srgbClr val="FF3300"/>
                </a:solidFill>
                <a:effectLst>
                  <a:outerShdw blurRad="38100" dist="38100" dir="2700000" algn="tl">
                    <a:srgbClr val="C0C0C0"/>
                  </a:outerShdw>
                </a:effectLst>
                <a:ea typeface="隶书" pitchFamily="49" charset="-122"/>
              </a:rPr>
              <a:t>第</a:t>
            </a:r>
            <a:r>
              <a:rPr lang="zh-CN" altLang="en-US" sz="6000" b="1" dirty="0">
                <a:solidFill>
                  <a:srgbClr val="FF3300"/>
                </a:solidFill>
                <a:effectLst>
                  <a:outerShdw blurRad="38100" dist="38100" dir="2700000" algn="tl">
                    <a:srgbClr val="C0C0C0"/>
                  </a:outerShdw>
                </a:effectLst>
                <a:ea typeface="隶书" pitchFamily="49" charset="-122"/>
              </a:rPr>
              <a:t>二</a:t>
            </a:r>
            <a:r>
              <a:rPr lang="zh-CN" altLang="en-US" sz="6000" b="1" dirty="0" smtClean="0">
                <a:solidFill>
                  <a:srgbClr val="FF3300"/>
                </a:solidFill>
                <a:effectLst>
                  <a:outerShdw blurRad="38100" dist="38100" dir="2700000" algn="tl">
                    <a:srgbClr val="C0C0C0"/>
                  </a:outerShdw>
                </a:effectLst>
                <a:ea typeface="隶书" pitchFamily="49" charset="-122"/>
              </a:rPr>
              <a:t>章 面向对象</a:t>
            </a:r>
            <a:r>
              <a:rPr lang="zh-CN" altLang="en-US" sz="6000" b="1" dirty="0">
                <a:solidFill>
                  <a:srgbClr val="FF3300"/>
                </a:solidFill>
                <a:effectLst>
                  <a:outerShdw blurRad="38100" dist="38100" dir="2700000" algn="tl">
                    <a:srgbClr val="C0C0C0"/>
                  </a:outerShdw>
                </a:effectLst>
                <a:ea typeface="隶书" pitchFamily="49" charset="-122"/>
              </a:rPr>
              <a:t>简要回顾</a:t>
            </a:r>
            <a:endParaRPr lang="zh-CN" altLang="en-US" sz="6000" b="1" dirty="0" smtClean="0">
              <a:solidFill>
                <a:srgbClr val="FF3300"/>
              </a:solidFill>
              <a:effectLst>
                <a:outerShdw blurRad="38100" dist="38100" dir="2700000" algn="tl">
                  <a:srgbClr val="C0C0C0"/>
                </a:outerShdw>
              </a:effectLst>
              <a:ea typeface="隶书" pitchFamily="49" charset="-122"/>
            </a:endParaRPr>
          </a:p>
        </p:txBody>
      </p:sp>
      <p:pic>
        <p:nvPicPr>
          <p:cNvPr id="3076" name="Picture 24" descr="大连海事大学徽标--处理"/>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116013"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38113"/>
            <a:ext cx="2592387"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209101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28600"/>
            <a:ext cx="8229600" cy="1143000"/>
          </a:xfrm>
        </p:spPr>
        <p:txBody>
          <a:bodyPr/>
          <a:lstStyle/>
          <a:p>
            <a:pPr eaLnBrk="1" hangingPunct="1"/>
            <a:r>
              <a:rPr lang="zh-CN" altLang="en-US" b="1" smtClean="0">
                <a:solidFill>
                  <a:schemeClr val="accent2"/>
                </a:solidFill>
                <a:ea typeface="楷体_GB2312" pitchFamily="49" charset="-122"/>
              </a:rPr>
              <a:t>面向对象出现以前</a:t>
            </a:r>
          </a:p>
        </p:txBody>
      </p:sp>
      <p:grpSp>
        <p:nvGrpSpPr>
          <p:cNvPr id="3075" name="Group 5"/>
          <p:cNvGrpSpPr>
            <a:grpSpLocks/>
          </p:cNvGrpSpPr>
          <p:nvPr/>
        </p:nvGrpSpPr>
        <p:grpSpPr bwMode="auto">
          <a:xfrm>
            <a:off x="0" y="1295400"/>
            <a:ext cx="8610600" cy="5562600"/>
            <a:chOff x="170" y="624"/>
            <a:chExt cx="5424" cy="3504"/>
          </a:xfrm>
        </p:grpSpPr>
        <p:sp>
          <p:nvSpPr>
            <p:cNvPr id="3088" name="Rectangle 6"/>
            <p:cNvSpPr>
              <a:spLocks noChangeArrowheads="1"/>
            </p:cNvSpPr>
            <p:nvPr/>
          </p:nvSpPr>
          <p:spPr bwMode="auto">
            <a:xfrm>
              <a:off x="170" y="2544"/>
              <a:ext cx="5424" cy="1584"/>
            </a:xfrm>
            <a:prstGeom prst="rect">
              <a:avLst/>
            </a:prstGeom>
            <a:solidFill>
              <a:srgbClr val="FFFFCC"/>
            </a:solidFill>
            <a:ln w="9525">
              <a:solidFill>
                <a:schemeClr val="tx1"/>
              </a:solidFill>
              <a:miter lim="800000"/>
              <a:headEnd/>
              <a:tailEnd/>
            </a:ln>
          </p:spPr>
          <p:txBody>
            <a:bodyPr wrap="none" anchor="ctr"/>
            <a:lstStyle/>
            <a:p>
              <a:endParaRPr lang="zh-CN" altLang="en-US"/>
            </a:p>
          </p:txBody>
        </p:sp>
        <p:sp>
          <p:nvSpPr>
            <p:cNvPr id="3089" name="Rectangle 7"/>
            <p:cNvSpPr>
              <a:spLocks noChangeArrowheads="1"/>
            </p:cNvSpPr>
            <p:nvPr/>
          </p:nvSpPr>
          <p:spPr bwMode="auto">
            <a:xfrm>
              <a:off x="170" y="624"/>
              <a:ext cx="5424" cy="1248"/>
            </a:xfrm>
            <a:prstGeom prst="rect">
              <a:avLst/>
            </a:prstGeom>
            <a:solidFill>
              <a:srgbClr val="CCFFFF"/>
            </a:solidFill>
            <a:ln w="9525">
              <a:solidFill>
                <a:schemeClr val="tx1"/>
              </a:solidFill>
              <a:miter lim="800000"/>
              <a:headEnd/>
              <a:tailEnd/>
            </a:ln>
          </p:spPr>
          <p:txBody>
            <a:bodyPr wrap="none" anchor="ctr"/>
            <a:lstStyle/>
            <a:p>
              <a:endParaRPr lang="zh-CN" altLang="en-US"/>
            </a:p>
          </p:txBody>
        </p:sp>
        <p:sp>
          <p:nvSpPr>
            <p:cNvPr id="3090" name="Rectangle 8"/>
            <p:cNvSpPr>
              <a:spLocks noChangeArrowheads="1"/>
            </p:cNvSpPr>
            <p:nvPr/>
          </p:nvSpPr>
          <p:spPr bwMode="auto">
            <a:xfrm>
              <a:off x="1920" y="640"/>
              <a:ext cx="16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u="sng">
                  <a:latin typeface="Arial Narrow" pitchFamily="34" charset="0"/>
                </a:rPr>
                <a:t>现实世界的概念</a:t>
              </a:r>
            </a:p>
          </p:txBody>
        </p:sp>
        <p:sp>
          <p:nvSpPr>
            <p:cNvPr id="3091" name="Rectangle 9"/>
            <p:cNvSpPr>
              <a:spLocks noChangeArrowheads="1"/>
            </p:cNvSpPr>
            <p:nvPr/>
          </p:nvSpPr>
          <p:spPr bwMode="auto">
            <a:xfrm>
              <a:off x="2598" y="3025"/>
              <a:ext cx="566" cy="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Bef>
                  <a:spcPct val="0"/>
                </a:spcBef>
              </a:pPr>
              <a:r>
                <a:rPr kumimoji="0" lang="zh-CN" altLang="en-US" u="sng">
                  <a:latin typeface="Arial Narrow" pitchFamily="34" charset="0"/>
                </a:rPr>
                <a:t>软件</a:t>
              </a:r>
            </a:p>
            <a:p>
              <a:pPr eaLnBrk="0" hangingPunct="0">
                <a:spcBef>
                  <a:spcPct val="0"/>
                </a:spcBef>
              </a:pPr>
              <a:r>
                <a:rPr kumimoji="0" lang="zh-CN" altLang="en-US" u="sng">
                  <a:latin typeface="Arial Narrow" pitchFamily="34" charset="0"/>
                </a:rPr>
                <a:t>设计</a:t>
              </a:r>
            </a:p>
            <a:p>
              <a:pPr eaLnBrk="0" hangingPunct="0">
                <a:spcBef>
                  <a:spcPct val="0"/>
                </a:spcBef>
              </a:pPr>
              <a:r>
                <a:rPr kumimoji="0" lang="zh-CN" altLang="en-US" u="sng">
                  <a:latin typeface="Arial Narrow" pitchFamily="34" charset="0"/>
                </a:rPr>
                <a:t>实体</a:t>
              </a:r>
            </a:p>
          </p:txBody>
        </p:sp>
        <p:sp>
          <p:nvSpPr>
            <p:cNvPr id="3092" name="AutoShape 10"/>
            <p:cNvSpPr>
              <a:spLocks noChangeArrowheads="1"/>
            </p:cNvSpPr>
            <p:nvPr/>
          </p:nvSpPr>
          <p:spPr bwMode="auto">
            <a:xfrm>
              <a:off x="4416" y="768"/>
              <a:ext cx="720" cy="1056"/>
            </a:xfrm>
            <a:prstGeom prst="flowChartPunchedTape">
              <a:avLst/>
            </a:prstGeom>
            <a:solidFill>
              <a:schemeClr val="bg1"/>
            </a:solidFill>
            <a:ln w="9525">
              <a:solidFill>
                <a:schemeClr val="tx1"/>
              </a:solidFill>
              <a:miter lim="800000"/>
              <a:headEnd/>
              <a:tailEnd/>
            </a:ln>
          </p:spPr>
          <p:txBody>
            <a:bodyPr wrap="none" anchor="ctr"/>
            <a:lstStyle/>
            <a:p>
              <a:pPr eaLnBrk="0" hangingPunct="0">
                <a:spcBef>
                  <a:spcPct val="0"/>
                </a:spcBef>
              </a:pPr>
              <a:endParaRPr kumimoji="0" lang="en-US" altLang="zh-CN" sz="800" b="0">
                <a:latin typeface="Arial Narrow" pitchFamily="34" charset="0"/>
                <a:ea typeface="宋体" charset="-122"/>
              </a:endParaRPr>
            </a:p>
            <a:p>
              <a:pPr eaLnBrk="0" hangingPunct="0">
                <a:spcBef>
                  <a:spcPct val="0"/>
                </a:spcBef>
              </a:pPr>
              <a:r>
                <a:rPr kumimoji="0" lang="en-US" altLang="zh-CN" sz="800" b="0">
                  <a:latin typeface="Arial Narrow" pitchFamily="34" charset="0"/>
                  <a:ea typeface="宋体" charset="-122"/>
                </a:rPr>
                <a:t>Skljkvjkvjfkavjafkk</a:t>
              </a:r>
            </a:p>
            <a:p>
              <a:pPr eaLnBrk="0" hangingPunct="0">
                <a:spcBef>
                  <a:spcPct val="0"/>
                </a:spcBef>
              </a:pPr>
              <a:r>
                <a:rPr kumimoji="0" lang="en-US" altLang="zh-CN" sz="800" b="0">
                  <a:latin typeface="Arial Narrow" pitchFamily="34" charset="0"/>
                  <a:ea typeface="宋体" charset="-122"/>
                </a:rPr>
                <a:t>saovjsdvjfvkfjvkfjk</a:t>
              </a:r>
            </a:p>
            <a:p>
              <a:pPr eaLnBrk="0" hangingPunct="0">
                <a:spcBef>
                  <a:spcPct val="0"/>
                </a:spcBef>
              </a:pPr>
              <a:r>
                <a:rPr kumimoji="0" lang="en-US" altLang="zh-CN" sz="800" b="0">
                  <a:latin typeface="Arial Narrow" pitchFamily="34" charset="0"/>
                  <a:ea typeface="宋体" charset="-122"/>
                </a:rPr>
                <a:t>Skljkvjkvjfkavjafkk</a:t>
              </a:r>
            </a:p>
            <a:p>
              <a:pPr eaLnBrk="0" hangingPunct="0">
                <a:spcBef>
                  <a:spcPct val="0"/>
                </a:spcBef>
              </a:pPr>
              <a:r>
                <a:rPr kumimoji="0" lang="en-US" altLang="zh-CN" sz="800" b="0">
                  <a:latin typeface="Arial Narrow" pitchFamily="34" charset="0"/>
                  <a:ea typeface="宋体" charset="-122"/>
                </a:rPr>
                <a:t>saovjsdvjfvkfjvkfjk</a:t>
              </a:r>
            </a:p>
            <a:p>
              <a:pPr eaLnBrk="0" hangingPunct="0">
                <a:spcBef>
                  <a:spcPct val="0"/>
                </a:spcBef>
              </a:pPr>
              <a:r>
                <a:rPr kumimoji="0" lang="en-US" altLang="zh-CN" sz="800" b="0">
                  <a:latin typeface="Arial Narrow" pitchFamily="34" charset="0"/>
                  <a:ea typeface="宋体" charset="-122"/>
                </a:rPr>
                <a:t>Skljkvjkvjfkavjafkk</a:t>
              </a:r>
            </a:p>
            <a:p>
              <a:pPr eaLnBrk="0" hangingPunct="0">
                <a:spcBef>
                  <a:spcPct val="0"/>
                </a:spcBef>
              </a:pPr>
              <a:r>
                <a:rPr kumimoji="0" lang="en-US" altLang="zh-CN" sz="800" b="0">
                  <a:latin typeface="Arial Narrow" pitchFamily="34" charset="0"/>
                  <a:ea typeface="宋体" charset="-122"/>
                </a:rPr>
                <a:t>saovjsdvjfvkfjvkfjk</a:t>
              </a:r>
            </a:p>
            <a:p>
              <a:pPr eaLnBrk="0" hangingPunct="0">
                <a:spcBef>
                  <a:spcPct val="0"/>
                </a:spcBef>
              </a:pPr>
              <a:r>
                <a:rPr kumimoji="0" lang="en-US" altLang="zh-CN" sz="800" b="0">
                  <a:latin typeface="Arial Narrow" pitchFamily="34" charset="0"/>
                  <a:ea typeface="宋体" charset="-122"/>
                </a:rPr>
                <a:t>Skljkvjkvjfkavjafkk</a:t>
              </a:r>
            </a:p>
            <a:p>
              <a:pPr eaLnBrk="0" hangingPunct="0">
                <a:spcBef>
                  <a:spcPct val="0"/>
                </a:spcBef>
              </a:pPr>
              <a:r>
                <a:rPr kumimoji="0" lang="en-US" altLang="zh-CN" sz="800" b="0">
                  <a:latin typeface="Arial Narrow" pitchFamily="34" charset="0"/>
                  <a:ea typeface="宋体" charset="-122"/>
                </a:rPr>
                <a:t>saovjsdvjfvkfjvkfjk</a:t>
              </a:r>
            </a:p>
            <a:p>
              <a:pPr eaLnBrk="0" hangingPunct="0">
                <a:spcBef>
                  <a:spcPct val="0"/>
                </a:spcBef>
              </a:pPr>
              <a:endParaRPr kumimoji="0" lang="en-US" altLang="zh-CN" sz="800" b="0">
                <a:latin typeface="Arial Narrow" pitchFamily="34" charset="0"/>
                <a:ea typeface="宋体" charset="-122"/>
              </a:endParaRPr>
            </a:p>
          </p:txBody>
        </p:sp>
        <p:graphicFrame>
          <p:nvGraphicFramePr>
            <p:cNvPr id="3093" name="Object 11"/>
            <p:cNvGraphicFramePr>
              <a:graphicFrameLocks noChangeAspect="1"/>
            </p:cNvGraphicFramePr>
            <p:nvPr/>
          </p:nvGraphicFramePr>
          <p:xfrm>
            <a:off x="720" y="816"/>
            <a:ext cx="1056" cy="953"/>
          </p:xfrm>
          <a:graphic>
            <a:graphicData uri="http://schemas.openxmlformats.org/presentationml/2006/ole">
              <mc:AlternateContent xmlns:mc="http://schemas.openxmlformats.org/markup-compatibility/2006">
                <mc:Choice xmlns:v="urn:schemas-microsoft-com:vml" Requires="v">
                  <p:oleObj spid="_x0000_s1090" name="GALLERY" r:id="rId3" imgW="1518942" imgH="1370202" progId="GALLERYClipart">
                    <p:embed/>
                  </p:oleObj>
                </mc:Choice>
                <mc:Fallback>
                  <p:oleObj name="GALLERY" r:id="rId3" imgW="1518942" imgH="1370202" progId="GALLERYClipart">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816"/>
                          <a:ext cx="1056" cy="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94" name="Object 12"/>
            <p:cNvGraphicFramePr>
              <a:graphicFrameLocks noChangeAspect="1"/>
            </p:cNvGraphicFramePr>
            <p:nvPr/>
          </p:nvGraphicFramePr>
          <p:xfrm>
            <a:off x="2340" y="1056"/>
            <a:ext cx="1500" cy="593"/>
          </p:xfrm>
          <a:graphic>
            <a:graphicData uri="http://schemas.openxmlformats.org/presentationml/2006/ole">
              <mc:AlternateContent xmlns:mc="http://schemas.openxmlformats.org/markup-compatibility/2006">
                <mc:Choice xmlns:v="urn:schemas-microsoft-com:vml" Requires="v">
                  <p:oleObj spid="_x0000_s1091" name="GALLERY" r:id="rId5" imgW="602423" imgH="237993" progId="GALLERYClipart">
                    <p:embed/>
                  </p:oleObj>
                </mc:Choice>
                <mc:Fallback>
                  <p:oleObj name="GALLERY" r:id="rId5" imgW="602423" imgH="237993" progId="GALLERYClipart">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0" y="1056"/>
                          <a:ext cx="1500" cy="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076" name="Text Box 14"/>
          <p:cNvSpPr txBox="1">
            <a:spLocks noChangeArrowheads="1"/>
          </p:cNvSpPr>
          <p:nvPr/>
        </p:nvSpPr>
        <p:spPr bwMode="auto">
          <a:xfrm>
            <a:off x="457200" y="43434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25000"/>
              </a:spcBef>
            </a:pPr>
            <a:r>
              <a:rPr kumimoji="0" lang="en-US" altLang="zh-CN" sz="2400">
                <a:latin typeface="Arial" charset="0"/>
                <a:ea typeface="宋体" charset="-122"/>
              </a:rPr>
              <a:t>getParticipants()</a:t>
            </a:r>
          </a:p>
          <a:p>
            <a:pPr algn="l" eaLnBrk="1" hangingPunct="1">
              <a:spcBef>
                <a:spcPct val="25000"/>
              </a:spcBef>
            </a:pPr>
            <a:r>
              <a:rPr kumimoji="0" lang="en-US" altLang="zh-CN" sz="2400">
                <a:latin typeface="Arial" charset="0"/>
                <a:ea typeface="宋体" charset="-122"/>
              </a:rPr>
              <a:t>doTransaction()</a:t>
            </a:r>
          </a:p>
          <a:p>
            <a:pPr algn="l" eaLnBrk="1" hangingPunct="1">
              <a:spcBef>
                <a:spcPct val="25000"/>
              </a:spcBef>
            </a:pPr>
            <a:r>
              <a:rPr kumimoji="0" lang="en-US" altLang="zh-CN" sz="2400">
                <a:latin typeface="Arial" charset="0"/>
                <a:ea typeface="宋体" charset="-122"/>
              </a:rPr>
              <a:t>initiateApplication()</a:t>
            </a:r>
          </a:p>
          <a:p>
            <a:pPr algn="l" eaLnBrk="1" hangingPunct="1">
              <a:spcBef>
                <a:spcPct val="25000"/>
              </a:spcBef>
            </a:pPr>
            <a:r>
              <a:rPr kumimoji="0" lang="en-US" altLang="zh-CN" sz="2400">
                <a:latin typeface="Arial" charset="0"/>
                <a:ea typeface="宋体" charset="-122"/>
              </a:rPr>
              <a:t>getDocument()</a:t>
            </a:r>
          </a:p>
          <a:p>
            <a:pPr algn="l" eaLnBrk="1" hangingPunct="1">
              <a:spcBef>
                <a:spcPct val="25000"/>
              </a:spcBef>
            </a:pPr>
            <a:r>
              <a:rPr kumimoji="0" lang="en-US" altLang="zh-CN" sz="2400">
                <a:latin typeface="Arial" charset="0"/>
                <a:ea typeface="宋体" charset="-122"/>
              </a:rPr>
              <a:t>recordTransaction()</a:t>
            </a:r>
          </a:p>
        </p:txBody>
      </p:sp>
      <p:sp>
        <p:nvSpPr>
          <p:cNvPr id="3077" name="Text Box 15"/>
          <p:cNvSpPr txBox="1">
            <a:spLocks noChangeArrowheads="1"/>
          </p:cNvSpPr>
          <p:nvPr/>
        </p:nvSpPr>
        <p:spPr bwMode="auto">
          <a:xfrm>
            <a:off x="5257800" y="4343400"/>
            <a:ext cx="3429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25000"/>
              </a:spcBef>
            </a:pPr>
            <a:r>
              <a:rPr kumimoji="0" lang="en-US" altLang="zh-CN" sz="2400">
                <a:latin typeface="Arial" charset="0"/>
                <a:ea typeface="宋体" charset="-122"/>
              </a:rPr>
              <a:t>initializeTransaction()</a:t>
            </a:r>
          </a:p>
          <a:p>
            <a:pPr algn="l" eaLnBrk="1" hangingPunct="1">
              <a:spcBef>
                <a:spcPct val="25000"/>
              </a:spcBef>
            </a:pPr>
            <a:r>
              <a:rPr kumimoji="0" lang="en-US" altLang="zh-CN" sz="2400">
                <a:latin typeface="Arial" charset="0"/>
                <a:ea typeface="宋体" charset="-122"/>
              </a:rPr>
              <a:t>initialize()</a:t>
            </a:r>
          </a:p>
          <a:p>
            <a:pPr algn="l" eaLnBrk="1" hangingPunct="1">
              <a:spcBef>
                <a:spcPct val="25000"/>
              </a:spcBef>
            </a:pPr>
            <a:r>
              <a:rPr kumimoji="0" lang="en-US" altLang="zh-CN" sz="2400">
                <a:latin typeface="Arial" charset="0"/>
                <a:ea typeface="宋体" charset="-122"/>
              </a:rPr>
              <a:t>billCustomer()</a:t>
            </a:r>
          </a:p>
          <a:p>
            <a:pPr algn="l" eaLnBrk="1" hangingPunct="1">
              <a:spcBef>
                <a:spcPct val="25000"/>
              </a:spcBef>
            </a:pPr>
            <a:r>
              <a:rPr kumimoji="0" lang="en-US" altLang="zh-CN" sz="2400">
                <a:latin typeface="Arial" charset="0"/>
                <a:ea typeface="宋体" charset="-122"/>
              </a:rPr>
              <a:t>getCustomerName()</a:t>
            </a:r>
          </a:p>
          <a:p>
            <a:pPr algn="l" eaLnBrk="1" hangingPunct="1">
              <a:spcBef>
                <a:spcPct val="25000"/>
              </a:spcBef>
            </a:pPr>
            <a:r>
              <a:rPr kumimoji="0" lang="en-US" altLang="zh-CN" sz="2400">
                <a:latin typeface="Arial" charset="0"/>
                <a:ea typeface="宋体" charset="-122"/>
              </a:rPr>
              <a:t>……</a:t>
            </a:r>
          </a:p>
        </p:txBody>
      </p:sp>
      <p:sp>
        <p:nvSpPr>
          <p:cNvPr id="3078" name="Line 16"/>
          <p:cNvSpPr>
            <a:spLocks noChangeShapeType="1"/>
          </p:cNvSpPr>
          <p:nvPr/>
        </p:nvSpPr>
        <p:spPr bwMode="auto">
          <a:xfrm>
            <a:off x="1524000" y="3124200"/>
            <a:ext cx="0" cy="1295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9" name="Line 17"/>
          <p:cNvSpPr>
            <a:spLocks noChangeShapeType="1"/>
          </p:cNvSpPr>
          <p:nvPr/>
        </p:nvSpPr>
        <p:spPr bwMode="auto">
          <a:xfrm>
            <a:off x="1524000" y="3124200"/>
            <a:ext cx="3886200" cy="2286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80" name="Line 18"/>
          <p:cNvSpPr>
            <a:spLocks noChangeShapeType="1"/>
          </p:cNvSpPr>
          <p:nvPr/>
        </p:nvSpPr>
        <p:spPr bwMode="auto">
          <a:xfrm>
            <a:off x="1524000" y="3124200"/>
            <a:ext cx="3810000" cy="2743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81" name="Line 19"/>
          <p:cNvSpPr>
            <a:spLocks noChangeShapeType="1"/>
          </p:cNvSpPr>
          <p:nvPr/>
        </p:nvSpPr>
        <p:spPr bwMode="auto">
          <a:xfrm flipH="1">
            <a:off x="2819400" y="3124200"/>
            <a:ext cx="1905000" cy="1905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82" name="Line 20"/>
          <p:cNvSpPr>
            <a:spLocks noChangeShapeType="1"/>
          </p:cNvSpPr>
          <p:nvPr/>
        </p:nvSpPr>
        <p:spPr bwMode="auto">
          <a:xfrm flipH="1">
            <a:off x="3200400" y="3124200"/>
            <a:ext cx="1524000" cy="22098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83" name="Line 21"/>
          <p:cNvSpPr>
            <a:spLocks noChangeShapeType="1"/>
          </p:cNvSpPr>
          <p:nvPr/>
        </p:nvSpPr>
        <p:spPr bwMode="auto">
          <a:xfrm flipH="1">
            <a:off x="3429000" y="3124200"/>
            <a:ext cx="1295400" cy="3200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84" name="Line 22"/>
          <p:cNvSpPr>
            <a:spLocks noChangeShapeType="1"/>
          </p:cNvSpPr>
          <p:nvPr/>
        </p:nvSpPr>
        <p:spPr bwMode="auto">
          <a:xfrm>
            <a:off x="4724400" y="3124200"/>
            <a:ext cx="609600" cy="14478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85" name="Line 23"/>
          <p:cNvSpPr>
            <a:spLocks noChangeShapeType="1"/>
          </p:cNvSpPr>
          <p:nvPr/>
        </p:nvSpPr>
        <p:spPr bwMode="auto">
          <a:xfrm flipH="1">
            <a:off x="2743200" y="3124200"/>
            <a:ext cx="4724400" cy="2819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86" name="Line 24"/>
          <p:cNvSpPr>
            <a:spLocks noChangeShapeType="1"/>
          </p:cNvSpPr>
          <p:nvPr/>
        </p:nvSpPr>
        <p:spPr bwMode="auto">
          <a:xfrm flipH="1">
            <a:off x="6781800" y="3124200"/>
            <a:ext cx="685800" cy="1905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87" name="Rectangle 13"/>
          <p:cNvSpPr>
            <a:spLocks noChangeArrowheads="1"/>
          </p:cNvSpPr>
          <p:nvPr/>
        </p:nvSpPr>
        <p:spPr bwMode="auto">
          <a:xfrm>
            <a:off x="381000" y="3352800"/>
            <a:ext cx="8229600" cy="838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pPr>
            <a:r>
              <a:rPr kumimoji="0" lang="zh-CN" altLang="en-US">
                <a:solidFill>
                  <a:schemeClr val="accent2"/>
                </a:solidFill>
                <a:latin typeface="Arial" charset="0"/>
              </a:rPr>
              <a:t>传统的设计和代码与现实世界映射得很差</a:t>
            </a:r>
          </a:p>
        </p:txBody>
      </p:sp>
    </p:spTree>
    <p:extLst>
      <p:ext uri="{BB962C8B-B14F-4D97-AF65-F5344CB8AC3E}">
        <p14:creationId xmlns:p14="http://schemas.microsoft.com/office/powerpoint/2010/main" val="405650558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228600"/>
            <a:ext cx="8229600" cy="1143000"/>
          </a:xfrm>
        </p:spPr>
        <p:txBody>
          <a:bodyPr/>
          <a:lstStyle/>
          <a:p>
            <a:pPr eaLnBrk="1" hangingPunct="1"/>
            <a:r>
              <a:rPr lang="zh-CN" altLang="en-US" b="1" dirty="0" smtClean="0">
                <a:solidFill>
                  <a:schemeClr val="accent2"/>
                </a:solidFill>
                <a:ea typeface="楷体_GB2312" pitchFamily="49" charset="-122"/>
              </a:rPr>
              <a:t>软件需求自然的表达方式</a:t>
            </a:r>
          </a:p>
        </p:txBody>
      </p:sp>
      <p:sp>
        <p:nvSpPr>
          <p:cNvPr id="4099" name="Rectangle 11"/>
          <p:cNvSpPr>
            <a:spLocks noChangeArrowheads="1"/>
          </p:cNvSpPr>
          <p:nvPr/>
        </p:nvSpPr>
        <p:spPr bwMode="auto">
          <a:xfrm>
            <a:off x="534988" y="1219200"/>
            <a:ext cx="7637412" cy="3044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l" eaLnBrk="0" hangingPunct="0">
              <a:lnSpc>
                <a:spcPct val="150000"/>
              </a:lnSpc>
            </a:pPr>
            <a:r>
              <a:rPr kumimoji="0" lang="en-US" altLang="zh-CN" sz="3200" dirty="0" smtClean="0">
                <a:latin typeface="Arial Narrow" pitchFamily="34" charset="0"/>
                <a:ea typeface="宋体" charset="-122"/>
              </a:rPr>
              <a:t>"Customers Montague  and Susan entered the Ajax bank and were served by teller Andy ..... “</a:t>
            </a:r>
          </a:p>
          <a:p>
            <a:pPr algn="l" eaLnBrk="0" hangingPunct="0">
              <a:lnSpc>
                <a:spcPct val="150000"/>
              </a:lnSpc>
            </a:pPr>
            <a:r>
              <a:rPr kumimoji="0" lang="en-US" altLang="zh-CN" sz="3200" dirty="0" smtClean="0">
                <a:latin typeface="Arial Narrow" pitchFamily="34" charset="0"/>
                <a:ea typeface="宋体" charset="-122"/>
              </a:rPr>
              <a:t>(</a:t>
            </a:r>
            <a:r>
              <a:rPr kumimoji="0" lang="zh-CN" altLang="en-US" sz="3200" dirty="0" smtClean="0"/>
              <a:t>顾客</a:t>
            </a:r>
            <a:r>
              <a:rPr kumimoji="0" lang="en-US" altLang="zh-CN" sz="3200" dirty="0"/>
              <a:t>Montague</a:t>
            </a:r>
            <a:r>
              <a:rPr kumimoji="0" lang="zh-CN" altLang="en-US" sz="3200" dirty="0"/>
              <a:t>和</a:t>
            </a:r>
            <a:r>
              <a:rPr kumimoji="0" lang="en-US" altLang="zh-CN" sz="3200" dirty="0"/>
              <a:t>Susan</a:t>
            </a:r>
            <a:r>
              <a:rPr kumimoji="0" lang="zh-CN" altLang="en-US" sz="3200" dirty="0"/>
              <a:t>进入</a:t>
            </a:r>
            <a:r>
              <a:rPr kumimoji="0" lang="en-US" altLang="zh-CN" sz="3200" dirty="0"/>
              <a:t>Ajax</a:t>
            </a:r>
            <a:r>
              <a:rPr kumimoji="0" lang="zh-CN" altLang="en-US" sz="3200" dirty="0"/>
              <a:t>银行并由出纳员</a:t>
            </a:r>
            <a:r>
              <a:rPr kumimoji="0" lang="en-US" altLang="zh-CN" sz="3200" dirty="0"/>
              <a:t>Andy</a:t>
            </a:r>
            <a:r>
              <a:rPr kumimoji="0" lang="zh-CN" altLang="en-US" sz="3200" dirty="0"/>
              <a:t>为他们服务</a:t>
            </a:r>
            <a:r>
              <a:rPr kumimoji="0" lang="en-US" altLang="zh-CN" sz="3200" dirty="0" smtClean="0">
                <a:latin typeface="Arial Narrow" pitchFamily="34" charset="0"/>
              </a:rPr>
              <a:t>…</a:t>
            </a:r>
            <a:r>
              <a:rPr kumimoji="0" lang="zh-CN" altLang="en-US" sz="3200" dirty="0" smtClean="0">
                <a:latin typeface="Arial Narrow" pitchFamily="34" charset="0"/>
                <a:ea typeface="宋体" charset="-122"/>
              </a:rPr>
              <a:t>）</a:t>
            </a:r>
            <a:endParaRPr kumimoji="0" lang="zh-CN" altLang="en-US" sz="3200" dirty="0">
              <a:latin typeface="Arial Narrow" pitchFamily="34" charset="0"/>
              <a:ea typeface="宋体" charset="-122"/>
            </a:endParaRPr>
          </a:p>
        </p:txBody>
      </p:sp>
    </p:spTree>
    <p:extLst>
      <p:ext uri="{BB962C8B-B14F-4D97-AF65-F5344CB8AC3E}">
        <p14:creationId xmlns:p14="http://schemas.microsoft.com/office/powerpoint/2010/main" val="427437432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28600"/>
            <a:ext cx="8229600" cy="1143000"/>
          </a:xfrm>
        </p:spPr>
        <p:txBody>
          <a:bodyPr/>
          <a:lstStyle/>
          <a:p>
            <a:pPr eaLnBrk="1" hangingPunct="1"/>
            <a:r>
              <a:rPr lang="zh-CN" altLang="en-US" b="1" dirty="0" smtClean="0">
                <a:solidFill>
                  <a:schemeClr val="accent2"/>
                </a:solidFill>
                <a:ea typeface="楷体_GB2312" pitchFamily="49" charset="-122"/>
              </a:rPr>
              <a:t>面向对象方法学</a:t>
            </a:r>
            <a:r>
              <a:rPr lang="en-US" altLang="zh-CN" b="1" dirty="0" smtClean="0">
                <a:solidFill>
                  <a:schemeClr val="accent2"/>
                </a:solidFill>
                <a:ea typeface="楷体_GB2312" pitchFamily="49" charset="-122"/>
              </a:rPr>
              <a:t>-</a:t>
            </a:r>
            <a:r>
              <a:rPr lang="zh-CN" altLang="en-US" b="1" dirty="0" smtClean="0">
                <a:solidFill>
                  <a:schemeClr val="accent2"/>
                </a:solidFill>
                <a:ea typeface="楷体_GB2312" pitchFamily="49" charset="-122"/>
              </a:rPr>
              <a:t>用名词表示</a:t>
            </a:r>
          </a:p>
        </p:txBody>
      </p:sp>
      <p:grpSp>
        <p:nvGrpSpPr>
          <p:cNvPr id="5123" name="Group 6"/>
          <p:cNvGrpSpPr>
            <a:grpSpLocks/>
          </p:cNvGrpSpPr>
          <p:nvPr/>
        </p:nvGrpSpPr>
        <p:grpSpPr bwMode="auto">
          <a:xfrm>
            <a:off x="228600" y="1371600"/>
            <a:ext cx="8609013" cy="3505200"/>
            <a:chOff x="144" y="576"/>
            <a:chExt cx="5423" cy="2208"/>
          </a:xfrm>
        </p:grpSpPr>
        <p:sp>
          <p:nvSpPr>
            <p:cNvPr id="5129" name="Rectangle 7"/>
            <p:cNvSpPr>
              <a:spLocks noChangeArrowheads="1"/>
            </p:cNvSpPr>
            <p:nvPr/>
          </p:nvSpPr>
          <p:spPr bwMode="auto">
            <a:xfrm>
              <a:off x="1680" y="576"/>
              <a:ext cx="2640" cy="207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p>
              <a:pPr algn="l" eaLnBrk="0" hangingPunct="0">
                <a:lnSpc>
                  <a:spcPct val="120000"/>
                </a:lnSpc>
              </a:pPr>
              <a:r>
                <a:rPr kumimoji="0" lang="en-US" altLang="zh-CN" sz="3500" b="0">
                  <a:latin typeface="Arial Narrow" pitchFamily="34" charset="0"/>
                  <a:ea typeface="宋体" charset="-122"/>
                </a:rPr>
                <a:t>"</a:t>
              </a:r>
              <a:r>
                <a:rPr kumimoji="0" lang="en-US" altLang="zh-CN" sz="3500" b="0" i="1">
                  <a:solidFill>
                    <a:srgbClr val="FF0000"/>
                  </a:solidFill>
                  <a:latin typeface="Lucida Handwriting" pitchFamily="66" charset="0"/>
                  <a:ea typeface="宋体" charset="-122"/>
                </a:rPr>
                <a:t>Customer</a:t>
              </a:r>
              <a:r>
                <a:rPr kumimoji="0" lang="en-US" altLang="zh-CN" sz="3500" b="0">
                  <a:latin typeface="Arial Narrow" pitchFamily="34" charset="0"/>
                  <a:ea typeface="宋体" charset="-122"/>
                </a:rPr>
                <a:t>s </a:t>
              </a:r>
              <a:r>
                <a:rPr kumimoji="0" lang="en-US" altLang="zh-CN" sz="3500">
                  <a:solidFill>
                    <a:srgbClr val="00B7A5"/>
                  </a:solidFill>
                  <a:latin typeface="Arial Narrow" pitchFamily="34" charset="0"/>
                  <a:ea typeface="宋体" charset="-122"/>
                </a:rPr>
                <a:t>Montague</a:t>
              </a:r>
              <a:r>
                <a:rPr kumimoji="0" lang="en-US" altLang="zh-CN" sz="3500" b="0">
                  <a:latin typeface="Arial Narrow" pitchFamily="34" charset="0"/>
                  <a:ea typeface="宋体" charset="-122"/>
                </a:rPr>
                <a:t>  and </a:t>
              </a:r>
              <a:r>
                <a:rPr kumimoji="0" lang="en-US" altLang="zh-CN" sz="3500">
                  <a:solidFill>
                    <a:srgbClr val="00B7A5"/>
                  </a:solidFill>
                  <a:latin typeface="Arial Narrow" pitchFamily="34" charset="0"/>
                  <a:ea typeface="宋体" charset="-122"/>
                </a:rPr>
                <a:t>Susan</a:t>
              </a:r>
              <a:r>
                <a:rPr kumimoji="0" lang="en-US" altLang="zh-CN" sz="3500" b="0">
                  <a:latin typeface="Arial Narrow" pitchFamily="34" charset="0"/>
                  <a:ea typeface="宋体" charset="-122"/>
                </a:rPr>
                <a:t> entered the </a:t>
              </a:r>
              <a:r>
                <a:rPr kumimoji="0" lang="en-US" altLang="zh-CN" sz="3500">
                  <a:solidFill>
                    <a:srgbClr val="00B7A5"/>
                  </a:solidFill>
                  <a:latin typeface="Arial Narrow" pitchFamily="34" charset="0"/>
                  <a:ea typeface="宋体" charset="-122"/>
                </a:rPr>
                <a:t>Ajax</a:t>
              </a:r>
              <a:r>
                <a:rPr kumimoji="0" lang="en-US" altLang="zh-CN" sz="3500" b="0">
                  <a:latin typeface="Arial Narrow" pitchFamily="34" charset="0"/>
                  <a:ea typeface="宋体" charset="-122"/>
                </a:rPr>
                <a:t> </a:t>
              </a:r>
              <a:r>
                <a:rPr kumimoji="0" lang="en-US" altLang="zh-CN" sz="3500" b="0" i="1">
                  <a:solidFill>
                    <a:srgbClr val="FF0000"/>
                  </a:solidFill>
                  <a:latin typeface="Lucida Handwriting" pitchFamily="66" charset="0"/>
                  <a:ea typeface="宋体" charset="-122"/>
                </a:rPr>
                <a:t>bank</a:t>
              </a:r>
              <a:r>
                <a:rPr kumimoji="0" lang="en-US" altLang="zh-CN" sz="3500" b="0">
                  <a:latin typeface="Arial Narrow" pitchFamily="34" charset="0"/>
                  <a:ea typeface="宋体" charset="-122"/>
                </a:rPr>
                <a:t>  and were served by </a:t>
              </a:r>
              <a:r>
                <a:rPr kumimoji="0" lang="en-US" altLang="zh-CN" sz="3500" b="0" i="1">
                  <a:solidFill>
                    <a:srgbClr val="FF0000"/>
                  </a:solidFill>
                  <a:latin typeface="Lucida Handwriting" pitchFamily="66" charset="0"/>
                  <a:ea typeface="宋体" charset="-122"/>
                </a:rPr>
                <a:t>teller</a:t>
              </a:r>
              <a:r>
                <a:rPr kumimoji="0" lang="en-US" altLang="zh-CN" sz="3500">
                  <a:latin typeface="Arial Narrow" pitchFamily="34" charset="0"/>
                  <a:ea typeface="宋体" charset="-122"/>
                </a:rPr>
                <a:t> </a:t>
              </a:r>
              <a:r>
                <a:rPr kumimoji="0" lang="en-US" altLang="zh-CN" sz="3500">
                  <a:solidFill>
                    <a:srgbClr val="00B7A5"/>
                  </a:solidFill>
                  <a:latin typeface="Arial Narrow" pitchFamily="34" charset="0"/>
                  <a:ea typeface="宋体" charset="-122"/>
                </a:rPr>
                <a:t>Andy</a:t>
              </a:r>
              <a:r>
                <a:rPr kumimoji="0" lang="en-US" altLang="zh-CN" sz="3500" b="0">
                  <a:latin typeface="Arial Narrow" pitchFamily="34" charset="0"/>
                  <a:ea typeface="宋体" charset="-122"/>
                </a:rPr>
                <a:t> ..... "</a:t>
              </a:r>
            </a:p>
          </p:txBody>
        </p:sp>
        <p:sp>
          <p:nvSpPr>
            <p:cNvPr id="5130" name="Rectangle 8"/>
            <p:cNvSpPr>
              <a:spLocks noChangeArrowheads="1"/>
            </p:cNvSpPr>
            <p:nvPr/>
          </p:nvSpPr>
          <p:spPr bwMode="auto">
            <a:xfrm>
              <a:off x="144" y="1662"/>
              <a:ext cx="1296"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eaLnBrk="0" hangingPunct="0"/>
              <a:r>
                <a:rPr kumimoji="0" lang="en-US" altLang="zh-CN" sz="3200" b="0" i="1" u="sng">
                  <a:solidFill>
                    <a:srgbClr val="FF0000"/>
                  </a:solidFill>
                  <a:latin typeface="Lucida Handwriting" pitchFamily="66" charset="0"/>
                  <a:ea typeface="宋体" charset="-122"/>
                </a:rPr>
                <a:t>CLASSES</a:t>
              </a:r>
            </a:p>
          </p:txBody>
        </p:sp>
        <p:sp>
          <p:nvSpPr>
            <p:cNvPr id="5131" name="Rectangle 9"/>
            <p:cNvSpPr>
              <a:spLocks noChangeArrowheads="1"/>
            </p:cNvSpPr>
            <p:nvPr/>
          </p:nvSpPr>
          <p:spPr bwMode="auto">
            <a:xfrm>
              <a:off x="4320" y="1662"/>
              <a:ext cx="124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r" eaLnBrk="0" hangingPunct="0"/>
              <a:r>
                <a:rPr kumimoji="0" lang="en-US" altLang="zh-CN" sz="3200" u="sng">
                  <a:solidFill>
                    <a:srgbClr val="00B7A5"/>
                  </a:solidFill>
                  <a:latin typeface="Arial Narrow" pitchFamily="34" charset="0"/>
                  <a:ea typeface="宋体" charset="-122"/>
                </a:rPr>
                <a:t>OBJECTS</a:t>
              </a:r>
            </a:p>
          </p:txBody>
        </p:sp>
        <p:sp>
          <p:nvSpPr>
            <p:cNvPr id="45068" name="Line 10"/>
            <p:cNvSpPr>
              <a:spLocks noChangeShapeType="1"/>
            </p:cNvSpPr>
            <p:nvPr/>
          </p:nvSpPr>
          <p:spPr bwMode="auto">
            <a:xfrm flipH="1" flipV="1">
              <a:off x="4128" y="1248"/>
              <a:ext cx="768" cy="432"/>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anchor="ctr"/>
            <a:lstStyle/>
            <a:p>
              <a:pPr>
                <a:defRPr/>
              </a:pPr>
              <a:endParaRPr lang="zh-CN" altLang="en-US"/>
            </a:p>
          </p:txBody>
        </p:sp>
        <p:sp>
          <p:nvSpPr>
            <p:cNvPr id="45069" name="Line 11"/>
            <p:cNvSpPr>
              <a:spLocks noChangeShapeType="1"/>
            </p:cNvSpPr>
            <p:nvPr/>
          </p:nvSpPr>
          <p:spPr bwMode="auto">
            <a:xfrm flipV="1">
              <a:off x="768" y="960"/>
              <a:ext cx="1056" cy="672"/>
            </a:xfrm>
            <a:prstGeom prst="line">
              <a:avLst/>
            </a:prstGeom>
            <a:ln>
              <a:headEnd/>
              <a:tailEnd type="triangle" w="med" len="med"/>
            </a:ln>
          </p:spPr>
          <p:style>
            <a:lnRef idx="3">
              <a:schemeClr val="accent6"/>
            </a:lnRef>
            <a:fillRef idx="0">
              <a:schemeClr val="accent6"/>
            </a:fillRef>
            <a:effectRef idx="2">
              <a:schemeClr val="accent6"/>
            </a:effectRef>
            <a:fontRef idx="minor">
              <a:schemeClr val="tx1"/>
            </a:fontRef>
          </p:style>
          <p:txBody>
            <a:bodyPr wrap="none" anchor="ctr"/>
            <a:lstStyle/>
            <a:p>
              <a:pPr>
                <a:defRPr/>
              </a:pPr>
              <a:endParaRPr lang="zh-CN" altLang="en-US"/>
            </a:p>
          </p:txBody>
        </p:sp>
        <p:sp>
          <p:nvSpPr>
            <p:cNvPr id="5134" name="Oval 12"/>
            <p:cNvSpPr>
              <a:spLocks noChangeArrowheads="1"/>
            </p:cNvSpPr>
            <p:nvPr/>
          </p:nvSpPr>
          <p:spPr bwMode="auto">
            <a:xfrm>
              <a:off x="1200" y="624"/>
              <a:ext cx="3264" cy="864"/>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35" name="Oval 13"/>
            <p:cNvSpPr>
              <a:spLocks noChangeArrowheads="1"/>
            </p:cNvSpPr>
            <p:nvPr/>
          </p:nvSpPr>
          <p:spPr bwMode="auto">
            <a:xfrm>
              <a:off x="1488" y="1488"/>
              <a:ext cx="2688" cy="432"/>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36" name="Oval 14"/>
            <p:cNvSpPr>
              <a:spLocks noChangeArrowheads="1"/>
            </p:cNvSpPr>
            <p:nvPr/>
          </p:nvSpPr>
          <p:spPr bwMode="auto">
            <a:xfrm>
              <a:off x="1440" y="2256"/>
              <a:ext cx="2880" cy="528"/>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3567" name="Rectangle 15"/>
          <p:cNvSpPr>
            <a:spLocks noChangeArrowheads="1"/>
          </p:cNvSpPr>
          <p:nvPr/>
        </p:nvSpPr>
        <p:spPr bwMode="auto">
          <a:xfrm>
            <a:off x="533400" y="525780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pPr>
            <a:r>
              <a:rPr kumimoji="0" lang="zh-CN" altLang="en-US">
                <a:solidFill>
                  <a:schemeClr val="accent2"/>
                </a:solidFill>
                <a:latin typeface="Arial" charset="0"/>
              </a:rPr>
              <a:t>名词角色的捕获正是面向对象的基础</a:t>
            </a:r>
          </a:p>
        </p:txBody>
      </p:sp>
      <p:sp>
        <p:nvSpPr>
          <p:cNvPr id="45061" name="Line 16"/>
          <p:cNvSpPr>
            <a:spLocks noChangeShapeType="1"/>
          </p:cNvSpPr>
          <p:nvPr/>
        </p:nvSpPr>
        <p:spPr bwMode="auto">
          <a:xfrm>
            <a:off x="2286000" y="3429000"/>
            <a:ext cx="533400" cy="152400"/>
          </a:xfrm>
          <a:prstGeom prst="line">
            <a:avLst/>
          </a:prstGeom>
          <a:ln>
            <a:headEnd/>
            <a:tailEnd type="triangle" w="med" len="med"/>
          </a:ln>
        </p:spPr>
        <p:style>
          <a:lnRef idx="3">
            <a:schemeClr val="accent6"/>
          </a:lnRef>
          <a:fillRef idx="0">
            <a:schemeClr val="accent6"/>
          </a:fillRef>
          <a:effectRef idx="2">
            <a:schemeClr val="accent6"/>
          </a:effectRef>
          <a:fontRef idx="minor">
            <a:schemeClr val="tx1"/>
          </a:fontRef>
        </p:style>
        <p:txBody>
          <a:bodyPr/>
          <a:lstStyle/>
          <a:p>
            <a:pPr>
              <a:defRPr/>
            </a:pPr>
            <a:endParaRPr lang="zh-CN" altLang="en-US"/>
          </a:p>
        </p:txBody>
      </p:sp>
      <p:sp>
        <p:nvSpPr>
          <p:cNvPr id="45062" name="Line 17"/>
          <p:cNvSpPr>
            <a:spLocks noChangeShapeType="1"/>
          </p:cNvSpPr>
          <p:nvPr/>
        </p:nvSpPr>
        <p:spPr bwMode="auto">
          <a:xfrm>
            <a:off x="1295400" y="3733800"/>
            <a:ext cx="3276600" cy="533400"/>
          </a:xfrm>
          <a:prstGeom prst="line">
            <a:avLst/>
          </a:prstGeom>
          <a:ln>
            <a:headEnd/>
            <a:tailEnd type="triangle" w="med" len="med"/>
          </a:ln>
        </p:spPr>
        <p:style>
          <a:lnRef idx="3">
            <a:schemeClr val="accent6"/>
          </a:lnRef>
          <a:fillRef idx="0">
            <a:schemeClr val="accent6"/>
          </a:fillRef>
          <a:effectRef idx="2">
            <a:schemeClr val="accent6"/>
          </a:effectRef>
          <a:fontRef idx="minor">
            <a:schemeClr val="tx1"/>
          </a:fontRef>
        </p:style>
        <p:txBody>
          <a:bodyPr/>
          <a:lstStyle/>
          <a:p>
            <a:pPr>
              <a:defRPr/>
            </a:pPr>
            <a:endParaRPr lang="zh-CN" altLang="en-US"/>
          </a:p>
        </p:txBody>
      </p:sp>
      <p:sp>
        <p:nvSpPr>
          <p:cNvPr id="45063" name="Line 18"/>
          <p:cNvSpPr>
            <a:spLocks noChangeShapeType="1"/>
          </p:cNvSpPr>
          <p:nvPr/>
        </p:nvSpPr>
        <p:spPr bwMode="auto">
          <a:xfrm flipH="1" flipV="1">
            <a:off x="5486400" y="3124200"/>
            <a:ext cx="1676400" cy="304800"/>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a:lstStyle/>
          <a:p>
            <a:pPr>
              <a:defRPr/>
            </a:pPr>
            <a:endParaRPr lang="zh-CN" altLang="en-US"/>
          </a:p>
        </p:txBody>
      </p:sp>
      <p:sp>
        <p:nvSpPr>
          <p:cNvPr id="45064" name="Line 19"/>
          <p:cNvSpPr>
            <a:spLocks noChangeShapeType="1"/>
          </p:cNvSpPr>
          <p:nvPr/>
        </p:nvSpPr>
        <p:spPr bwMode="auto">
          <a:xfrm flipH="1">
            <a:off x="6324600" y="3733800"/>
            <a:ext cx="1447800" cy="533400"/>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a:lstStyle/>
          <a:p>
            <a:pPr>
              <a:defRPr/>
            </a:pPr>
            <a:endParaRPr lang="zh-CN" altLang="en-US"/>
          </a:p>
        </p:txBody>
      </p:sp>
    </p:spTree>
    <p:extLst>
      <p:ext uri="{BB962C8B-B14F-4D97-AF65-F5344CB8AC3E}">
        <p14:creationId xmlns:p14="http://schemas.microsoft.com/office/powerpoint/2010/main" val="39106587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67"/>
                                        </p:tgtEl>
                                        <p:attrNameLst>
                                          <p:attrName>style.visibility</p:attrName>
                                        </p:attrNameLst>
                                      </p:cBhvr>
                                      <p:to>
                                        <p:strVal val="visible"/>
                                      </p:to>
                                    </p:set>
                                    <p:anim calcmode="lin" valueType="num">
                                      <p:cBhvr additive="base">
                                        <p:cTn id="7" dur="500" fill="hold"/>
                                        <p:tgtEl>
                                          <p:spTgt spid="23567"/>
                                        </p:tgtEl>
                                        <p:attrNameLst>
                                          <p:attrName>ppt_x</p:attrName>
                                        </p:attrNameLst>
                                      </p:cBhvr>
                                      <p:tavLst>
                                        <p:tav tm="0">
                                          <p:val>
                                            <p:strVal val="#ppt_x"/>
                                          </p:val>
                                        </p:tav>
                                        <p:tav tm="100000">
                                          <p:val>
                                            <p:strVal val="#ppt_x"/>
                                          </p:val>
                                        </p:tav>
                                      </p:tavLst>
                                    </p:anim>
                                    <p:anim calcmode="lin" valueType="num">
                                      <p:cBhvr additive="base">
                                        <p:cTn id="8" dur="500" fill="hold"/>
                                        <p:tgtEl>
                                          <p:spTgt spid="235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228600"/>
            <a:ext cx="8229600" cy="1143000"/>
          </a:xfrm>
        </p:spPr>
        <p:txBody>
          <a:bodyPr/>
          <a:lstStyle/>
          <a:p>
            <a:pPr eaLnBrk="1" hangingPunct="1"/>
            <a:r>
              <a:rPr lang="zh-CN" altLang="en-US" b="1" smtClean="0">
                <a:solidFill>
                  <a:schemeClr val="accent2"/>
                </a:solidFill>
                <a:ea typeface="楷体_GB2312" pitchFamily="49" charset="-122"/>
              </a:rPr>
              <a:t>面向对象</a:t>
            </a:r>
          </a:p>
        </p:txBody>
      </p:sp>
      <p:sp>
        <p:nvSpPr>
          <p:cNvPr id="6147" name="Rectangle 14"/>
          <p:cNvSpPr>
            <a:spLocks noChangeArrowheads="1"/>
          </p:cNvSpPr>
          <p:nvPr/>
        </p:nvSpPr>
        <p:spPr bwMode="auto">
          <a:xfrm>
            <a:off x="228600" y="4267200"/>
            <a:ext cx="8610600" cy="2514600"/>
          </a:xfrm>
          <a:prstGeom prst="rect">
            <a:avLst/>
          </a:prstGeom>
          <a:solidFill>
            <a:srgbClr val="FFFFCC"/>
          </a:solidFill>
          <a:ln w="9525">
            <a:solidFill>
              <a:schemeClr val="tx1"/>
            </a:solidFill>
            <a:miter lim="800000"/>
            <a:headEnd/>
            <a:tailEnd/>
          </a:ln>
        </p:spPr>
        <p:txBody>
          <a:bodyPr wrap="none" anchor="ctr"/>
          <a:lstStyle/>
          <a:p>
            <a:endParaRPr lang="zh-CN" altLang="en-US"/>
          </a:p>
        </p:txBody>
      </p:sp>
      <p:sp>
        <p:nvSpPr>
          <p:cNvPr id="6148" name="Rectangle 15"/>
          <p:cNvSpPr>
            <a:spLocks noChangeArrowheads="1"/>
          </p:cNvSpPr>
          <p:nvPr/>
        </p:nvSpPr>
        <p:spPr bwMode="auto">
          <a:xfrm>
            <a:off x="228600" y="1219200"/>
            <a:ext cx="8610600" cy="1981200"/>
          </a:xfrm>
          <a:prstGeom prst="rect">
            <a:avLst/>
          </a:prstGeom>
          <a:solidFill>
            <a:srgbClr val="CCFFFF"/>
          </a:solidFill>
          <a:ln w="9525">
            <a:solidFill>
              <a:schemeClr val="tx1"/>
            </a:solidFill>
            <a:miter lim="800000"/>
            <a:headEnd/>
            <a:tailEnd/>
          </a:ln>
        </p:spPr>
        <p:txBody>
          <a:bodyPr wrap="none" anchor="ctr"/>
          <a:lstStyle/>
          <a:p>
            <a:endParaRPr lang="zh-CN" altLang="en-US"/>
          </a:p>
        </p:txBody>
      </p:sp>
      <p:sp>
        <p:nvSpPr>
          <p:cNvPr id="6149" name="Rectangle 16"/>
          <p:cNvSpPr>
            <a:spLocks noChangeArrowheads="1"/>
          </p:cNvSpPr>
          <p:nvPr/>
        </p:nvSpPr>
        <p:spPr bwMode="auto">
          <a:xfrm>
            <a:off x="3357563" y="1192213"/>
            <a:ext cx="30400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3200">
                <a:latin typeface="Arial Narrow" pitchFamily="34" charset="0"/>
              </a:rPr>
              <a:t>现实世界的概念</a:t>
            </a:r>
          </a:p>
        </p:txBody>
      </p:sp>
      <p:sp>
        <p:nvSpPr>
          <p:cNvPr id="6150" name="Rectangle 17"/>
          <p:cNvSpPr>
            <a:spLocks noChangeArrowheads="1"/>
          </p:cNvSpPr>
          <p:nvPr/>
        </p:nvSpPr>
        <p:spPr bwMode="auto">
          <a:xfrm>
            <a:off x="3505200" y="6096000"/>
            <a:ext cx="2632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3200">
                <a:latin typeface="Arial Narrow" pitchFamily="34" charset="0"/>
              </a:rPr>
              <a:t>软件设计实体</a:t>
            </a:r>
          </a:p>
        </p:txBody>
      </p:sp>
      <p:sp>
        <p:nvSpPr>
          <p:cNvPr id="24594" name="Line 18"/>
          <p:cNvSpPr>
            <a:spLocks noChangeShapeType="1"/>
          </p:cNvSpPr>
          <p:nvPr/>
        </p:nvSpPr>
        <p:spPr bwMode="auto">
          <a:xfrm>
            <a:off x="1981200" y="2743200"/>
            <a:ext cx="0" cy="2286000"/>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5" name="Line 19"/>
          <p:cNvSpPr>
            <a:spLocks noChangeShapeType="1"/>
          </p:cNvSpPr>
          <p:nvPr/>
        </p:nvSpPr>
        <p:spPr bwMode="auto">
          <a:xfrm>
            <a:off x="4876800" y="2667000"/>
            <a:ext cx="0" cy="2362200"/>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6" name="Line 20"/>
          <p:cNvSpPr>
            <a:spLocks noChangeShapeType="1"/>
          </p:cNvSpPr>
          <p:nvPr/>
        </p:nvSpPr>
        <p:spPr bwMode="auto">
          <a:xfrm>
            <a:off x="7543800" y="2743200"/>
            <a:ext cx="0" cy="2286000"/>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4" name="AutoShape 21"/>
          <p:cNvSpPr>
            <a:spLocks noChangeArrowheads="1"/>
          </p:cNvSpPr>
          <p:nvPr/>
        </p:nvSpPr>
        <p:spPr bwMode="auto">
          <a:xfrm>
            <a:off x="7010400" y="1447800"/>
            <a:ext cx="1143000" cy="1676400"/>
          </a:xfrm>
          <a:prstGeom prst="flowChartPunchedTape">
            <a:avLst/>
          </a:prstGeom>
          <a:solidFill>
            <a:schemeClr val="bg1"/>
          </a:solidFill>
          <a:ln w="9525">
            <a:solidFill>
              <a:schemeClr val="tx1"/>
            </a:solidFill>
            <a:miter lim="800000"/>
            <a:headEnd/>
            <a:tailEnd/>
          </a:ln>
        </p:spPr>
        <p:txBody>
          <a:bodyPr wrap="none" anchor="ctr"/>
          <a:lstStyle/>
          <a:p>
            <a:pPr eaLnBrk="0" hangingPunct="0">
              <a:spcBef>
                <a:spcPct val="0"/>
              </a:spcBef>
            </a:pPr>
            <a:endParaRPr kumimoji="0" lang="en-US" altLang="zh-CN" sz="800" b="0">
              <a:latin typeface="Arial Narrow" pitchFamily="34" charset="0"/>
              <a:ea typeface="宋体" charset="-122"/>
            </a:endParaRPr>
          </a:p>
          <a:p>
            <a:pPr eaLnBrk="0" hangingPunct="0">
              <a:spcBef>
                <a:spcPct val="0"/>
              </a:spcBef>
            </a:pPr>
            <a:r>
              <a:rPr kumimoji="0" lang="en-US" altLang="zh-CN" sz="800" b="0">
                <a:latin typeface="Arial Narrow" pitchFamily="34" charset="0"/>
                <a:ea typeface="宋体" charset="-122"/>
              </a:rPr>
              <a:t>Skljkvjkvjfkavjafkk</a:t>
            </a:r>
          </a:p>
          <a:p>
            <a:pPr eaLnBrk="0" hangingPunct="0">
              <a:spcBef>
                <a:spcPct val="0"/>
              </a:spcBef>
            </a:pPr>
            <a:r>
              <a:rPr kumimoji="0" lang="en-US" altLang="zh-CN" sz="800" b="0">
                <a:latin typeface="Arial Narrow" pitchFamily="34" charset="0"/>
                <a:ea typeface="宋体" charset="-122"/>
              </a:rPr>
              <a:t>saovjsdvjfvkfjvkfjk</a:t>
            </a:r>
          </a:p>
          <a:p>
            <a:pPr eaLnBrk="0" hangingPunct="0">
              <a:spcBef>
                <a:spcPct val="0"/>
              </a:spcBef>
            </a:pPr>
            <a:r>
              <a:rPr kumimoji="0" lang="en-US" altLang="zh-CN" sz="800" b="0">
                <a:latin typeface="Arial Narrow" pitchFamily="34" charset="0"/>
                <a:ea typeface="宋体" charset="-122"/>
              </a:rPr>
              <a:t>Skljkvjkvjfkavjafkk</a:t>
            </a:r>
          </a:p>
          <a:p>
            <a:pPr eaLnBrk="0" hangingPunct="0">
              <a:spcBef>
                <a:spcPct val="0"/>
              </a:spcBef>
            </a:pPr>
            <a:r>
              <a:rPr kumimoji="0" lang="en-US" altLang="zh-CN" sz="800" b="0">
                <a:latin typeface="Arial Narrow" pitchFamily="34" charset="0"/>
                <a:ea typeface="宋体" charset="-122"/>
              </a:rPr>
              <a:t>saovjsdvjfvkfjvkfjk</a:t>
            </a:r>
          </a:p>
          <a:p>
            <a:pPr eaLnBrk="0" hangingPunct="0">
              <a:spcBef>
                <a:spcPct val="0"/>
              </a:spcBef>
            </a:pPr>
            <a:r>
              <a:rPr kumimoji="0" lang="en-US" altLang="zh-CN" sz="800" b="0">
                <a:latin typeface="Arial Narrow" pitchFamily="34" charset="0"/>
                <a:ea typeface="宋体" charset="-122"/>
              </a:rPr>
              <a:t>Skljkvjkvjfkavjafkk</a:t>
            </a:r>
          </a:p>
          <a:p>
            <a:pPr eaLnBrk="0" hangingPunct="0">
              <a:spcBef>
                <a:spcPct val="0"/>
              </a:spcBef>
            </a:pPr>
            <a:r>
              <a:rPr kumimoji="0" lang="en-US" altLang="zh-CN" sz="800" b="0">
                <a:latin typeface="Arial Narrow" pitchFamily="34" charset="0"/>
                <a:ea typeface="宋体" charset="-122"/>
              </a:rPr>
              <a:t>saovjsdvjfvkfjvkfjk</a:t>
            </a:r>
          </a:p>
          <a:p>
            <a:pPr eaLnBrk="0" hangingPunct="0">
              <a:spcBef>
                <a:spcPct val="0"/>
              </a:spcBef>
            </a:pPr>
            <a:r>
              <a:rPr kumimoji="0" lang="en-US" altLang="zh-CN" sz="800" b="0">
                <a:latin typeface="Arial Narrow" pitchFamily="34" charset="0"/>
                <a:ea typeface="宋体" charset="-122"/>
              </a:rPr>
              <a:t>Skljkvjkvjfkavjafkk</a:t>
            </a:r>
          </a:p>
          <a:p>
            <a:pPr eaLnBrk="0" hangingPunct="0">
              <a:spcBef>
                <a:spcPct val="0"/>
              </a:spcBef>
            </a:pPr>
            <a:r>
              <a:rPr kumimoji="0" lang="en-US" altLang="zh-CN" sz="800" b="0">
                <a:latin typeface="Arial Narrow" pitchFamily="34" charset="0"/>
                <a:ea typeface="宋体" charset="-122"/>
              </a:rPr>
              <a:t>saovjsdvjfvkfjvkfjk</a:t>
            </a:r>
          </a:p>
          <a:p>
            <a:pPr eaLnBrk="0" hangingPunct="0">
              <a:spcBef>
                <a:spcPct val="0"/>
              </a:spcBef>
            </a:pPr>
            <a:endParaRPr kumimoji="0" lang="en-US" altLang="zh-CN" sz="800" b="0">
              <a:latin typeface="Arial Narrow" pitchFamily="34" charset="0"/>
              <a:ea typeface="宋体" charset="-122"/>
            </a:endParaRPr>
          </a:p>
        </p:txBody>
      </p:sp>
      <p:sp>
        <p:nvSpPr>
          <p:cNvPr id="24598" name="Rectangle 22"/>
          <p:cNvSpPr>
            <a:spLocks noChangeArrowheads="1"/>
          </p:cNvSpPr>
          <p:nvPr/>
        </p:nvSpPr>
        <p:spPr bwMode="auto">
          <a:xfrm>
            <a:off x="6484938" y="4583113"/>
            <a:ext cx="2019300" cy="1208087"/>
          </a:xfrm>
          <a:prstGeom prst="rect">
            <a:avLst/>
          </a:prstGeom>
          <a:solidFill>
            <a:srgbClr val="CCECFF"/>
          </a:solidFill>
          <a:ln w="19050">
            <a:solidFill>
              <a:schemeClr val="tx1"/>
            </a:solidFill>
            <a:miter lim="800000"/>
            <a:headEnd/>
            <a:tailEnd/>
          </a:ln>
        </p:spPr>
        <p:txBody>
          <a:bodyPr wrap="none" anchor="ctr">
            <a:spAutoFit/>
          </a:bodyPr>
          <a:lstStyle/>
          <a:p>
            <a:pPr eaLnBrk="0" hangingPunct="0">
              <a:spcBef>
                <a:spcPct val="0"/>
              </a:spcBef>
            </a:pPr>
            <a:r>
              <a:rPr kumimoji="0" lang="en-US" altLang="zh-CN" sz="4000" u="sng">
                <a:latin typeface="Arial Narrow" pitchFamily="34" charset="0"/>
                <a:ea typeface="宋体" charset="-122"/>
              </a:rPr>
              <a:t>Account</a:t>
            </a:r>
            <a:endParaRPr kumimoji="0" lang="en-US" altLang="zh-CN" sz="4000">
              <a:latin typeface="Arial Narrow" pitchFamily="34" charset="0"/>
              <a:ea typeface="宋体" charset="-122"/>
            </a:endParaRPr>
          </a:p>
          <a:p>
            <a:pPr eaLnBrk="0" hangingPunct="0">
              <a:spcBef>
                <a:spcPct val="0"/>
              </a:spcBef>
            </a:pPr>
            <a:r>
              <a:rPr kumimoji="0" lang="en-US" altLang="zh-CN" sz="3200">
                <a:latin typeface="Arial Narrow" pitchFamily="34" charset="0"/>
                <a:ea typeface="宋体" charset="-122"/>
              </a:rPr>
              <a:t>getDetails()</a:t>
            </a:r>
            <a:endParaRPr kumimoji="0" lang="en-US" altLang="zh-CN" sz="2400" b="0">
              <a:latin typeface="Arial Narrow" pitchFamily="34" charset="0"/>
              <a:ea typeface="宋体" charset="-122"/>
            </a:endParaRPr>
          </a:p>
        </p:txBody>
      </p:sp>
      <p:sp>
        <p:nvSpPr>
          <p:cNvPr id="24599" name="Rectangle 23"/>
          <p:cNvSpPr>
            <a:spLocks noChangeArrowheads="1"/>
          </p:cNvSpPr>
          <p:nvPr/>
        </p:nvSpPr>
        <p:spPr bwMode="auto">
          <a:xfrm>
            <a:off x="3562350" y="4583113"/>
            <a:ext cx="2562225" cy="1208087"/>
          </a:xfrm>
          <a:prstGeom prst="rect">
            <a:avLst/>
          </a:prstGeom>
          <a:solidFill>
            <a:srgbClr val="CCECFF"/>
          </a:solidFill>
          <a:ln w="19050">
            <a:solidFill>
              <a:schemeClr val="tx1"/>
            </a:solidFill>
            <a:miter lim="800000"/>
            <a:headEnd/>
            <a:tailEnd/>
          </a:ln>
        </p:spPr>
        <p:txBody>
          <a:bodyPr wrap="none" anchor="ctr">
            <a:spAutoFit/>
          </a:bodyPr>
          <a:lstStyle/>
          <a:p>
            <a:pPr eaLnBrk="0" hangingPunct="0">
              <a:spcBef>
                <a:spcPct val="0"/>
              </a:spcBef>
            </a:pPr>
            <a:r>
              <a:rPr kumimoji="0" lang="en-US" altLang="zh-CN" sz="4000" u="sng">
                <a:latin typeface="Arial Narrow" pitchFamily="34" charset="0"/>
                <a:ea typeface="宋体" charset="-122"/>
              </a:rPr>
              <a:t>Transaction</a:t>
            </a:r>
            <a:endParaRPr kumimoji="0" lang="en-US" altLang="zh-CN" sz="4000">
              <a:latin typeface="Arial Narrow" pitchFamily="34" charset="0"/>
              <a:ea typeface="宋体" charset="-122"/>
            </a:endParaRPr>
          </a:p>
          <a:p>
            <a:pPr eaLnBrk="0" hangingPunct="0">
              <a:spcBef>
                <a:spcPct val="0"/>
              </a:spcBef>
            </a:pPr>
            <a:r>
              <a:rPr kumimoji="0" lang="en-US" altLang="zh-CN" sz="3200">
                <a:latin typeface="Arial Narrow" pitchFamily="34" charset="0"/>
                <a:ea typeface="宋体" charset="-122"/>
              </a:rPr>
              <a:t>execute()</a:t>
            </a:r>
            <a:endParaRPr kumimoji="0" lang="en-US" altLang="zh-CN" sz="2400" b="0">
              <a:latin typeface="Arial Narrow" pitchFamily="34" charset="0"/>
              <a:ea typeface="宋体" charset="-122"/>
            </a:endParaRPr>
          </a:p>
        </p:txBody>
      </p:sp>
      <p:sp>
        <p:nvSpPr>
          <p:cNvPr id="24600" name="Rectangle 24"/>
          <p:cNvSpPr>
            <a:spLocks noChangeArrowheads="1"/>
          </p:cNvSpPr>
          <p:nvPr/>
        </p:nvSpPr>
        <p:spPr bwMode="auto">
          <a:xfrm>
            <a:off x="600075" y="4583113"/>
            <a:ext cx="2557463" cy="1208087"/>
          </a:xfrm>
          <a:prstGeom prst="rect">
            <a:avLst/>
          </a:prstGeom>
          <a:solidFill>
            <a:srgbClr val="CCECFF"/>
          </a:solidFill>
          <a:ln w="19050">
            <a:solidFill>
              <a:schemeClr val="tx1"/>
            </a:solidFill>
            <a:miter lim="800000"/>
            <a:headEnd/>
            <a:tailEnd/>
          </a:ln>
        </p:spPr>
        <p:txBody>
          <a:bodyPr wrap="none" anchor="ctr">
            <a:spAutoFit/>
          </a:bodyPr>
          <a:lstStyle/>
          <a:p>
            <a:pPr eaLnBrk="0" hangingPunct="0">
              <a:spcBef>
                <a:spcPct val="0"/>
              </a:spcBef>
            </a:pPr>
            <a:r>
              <a:rPr kumimoji="0" lang="en-US" altLang="zh-CN" sz="4000" u="sng">
                <a:latin typeface="Arial Narrow" pitchFamily="34" charset="0"/>
                <a:ea typeface="宋体" charset="-122"/>
              </a:rPr>
              <a:t>Customer</a:t>
            </a:r>
            <a:endParaRPr kumimoji="0" lang="en-US" altLang="zh-CN" sz="4000">
              <a:latin typeface="Arial Narrow" pitchFamily="34" charset="0"/>
              <a:ea typeface="宋体" charset="-122"/>
            </a:endParaRPr>
          </a:p>
          <a:p>
            <a:pPr eaLnBrk="0" hangingPunct="0">
              <a:spcBef>
                <a:spcPct val="0"/>
              </a:spcBef>
            </a:pPr>
            <a:r>
              <a:rPr kumimoji="0" lang="en-US" altLang="zh-CN" sz="3200">
                <a:latin typeface="Arial Narrow" pitchFamily="34" charset="0"/>
                <a:ea typeface="宋体" charset="-122"/>
              </a:rPr>
              <a:t>getFirstName()</a:t>
            </a:r>
            <a:endParaRPr kumimoji="0" lang="en-US" altLang="zh-CN" sz="2400" b="0">
              <a:latin typeface="Arial Narrow" pitchFamily="34" charset="0"/>
              <a:ea typeface="宋体" charset="-122"/>
            </a:endParaRPr>
          </a:p>
        </p:txBody>
      </p:sp>
      <p:sp>
        <p:nvSpPr>
          <p:cNvPr id="6158" name="Text Box 25"/>
          <p:cNvSpPr txBox="1">
            <a:spLocks noChangeArrowheads="1"/>
          </p:cNvSpPr>
          <p:nvPr/>
        </p:nvSpPr>
        <p:spPr bwMode="auto">
          <a:xfrm>
            <a:off x="4067175" y="3505200"/>
            <a:ext cx="1612900"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r>
              <a:rPr kumimoji="0" lang="zh-CN" altLang="en-US">
                <a:solidFill>
                  <a:srgbClr val="3333CC"/>
                </a:solidFill>
                <a:latin typeface="Arial Narrow" pitchFamily="34" charset="0"/>
              </a:rPr>
              <a:t>直接映射</a:t>
            </a:r>
          </a:p>
        </p:txBody>
      </p:sp>
      <p:graphicFrame>
        <p:nvGraphicFramePr>
          <p:cNvPr id="6159" name="Object 26"/>
          <p:cNvGraphicFramePr>
            <a:graphicFrameLocks noChangeAspect="1"/>
          </p:cNvGraphicFramePr>
          <p:nvPr/>
        </p:nvGraphicFramePr>
        <p:xfrm>
          <a:off x="1143000" y="1524000"/>
          <a:ext cx="1676400" cy="1512888"/>
        </p:xfrm>
        <a:graphic>
          <a:graphicData uri="http://schemas.openxmlformats.org/presentationml/2006/ole">
            <mc:AlternateContent xmlns:mc="http://schemas.openxmlformats.org/markup-compatibility/2006">
              <mc:Choice xmlns:v="urn:schemas-microsoft-com:vml" Requires="v">
                <p:oleObj spid="_x0000_s3138" name="GALLERY" r:id="rId4" imgW="1518942" imgH="1370202" progId="GALLERYClipart">
                  <p:embed/>
                </p:oleObj>
              </mc:Choice>
              <mc:Fallback>
                <p:oleObj name="GALLERY" r:id="rId4" imgW="1518942" imgH="1370202" progId="GALLERYClipart">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1524000"/>
                        <a:ext cx="1676400" cy="151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60" name="Object 27"/>
          <p:cNvGraphicFramePr>
            <a:graphicFrameLocks noChangeAspect="1"/>
          </p:cNvGraphicFramePr>
          <p:nvPr/>
        </p:nvGraphicFramePr>
        <p:xfrm>
          <a:off x="3714750" y="1905000"/>
          <a:ext cx="2381250" cy="941388"/>
        </p:xfrm>
        <a:graphic>
          <a:graphicData uri="http://schemas.openxmlformats.org/presentationml/2006/ole">
            <mc:AlternateContent xmlns:mc="http://schemas.openxmlformats.org/markup-compatibility/2006">
              <mc:Choice xmlns:v="urn:schemas-microsoft-com:vml" Requires="v">
                <p:oleObj spid="_x0000_s3139" name="GALLERY" r:id="rId6" imgW="602423" imgH="237993" progId="GALLERYClipart">
                  <p:embed/>
                </p:oleObj>
              </mc:Choice>
              <mc:Fallback>
                <p:oleObj name="GALLERY" r:id="rId6" imgW="602423" imgH="237993" progId="GALLERYClipart">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14750" y="1905000"/>
                        <a:ext cx="2381250" cy="94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61" name="Text Box 29"/>
          <p:cNvSpPr txBox="1">
            <a:spLocks noChangeArrowheads="1"/>
          </p:cNvSpPr>
          <p:nvPr/>
        </p:nvSpPr>
        <p:spPr bwMode="auto">
          <a:xfrm>
            <a:off x="1066800" y="3429000"/>
            <a:ext cx="73152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108000" rIns="0" bIns="108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endParaRPr lang="zh-CN" altLang="zh-CN"/>
          </a:p>
        </p:txBody>
      </p:sp>
      <p:sp>
        <p:nvSpPr>
          <p:cNvPr id="24606" name="Text Box 30"/>
          <p:cNvSpPr txBox="1">
            <a:spLocks noChangeArrowheads="1"/>
          </p:cNvSpPr>
          <p:nvPr/>
        </p:nvSpPr>
        <p:spPr bwMode="auto">
          <a:xfrm>
            <a:off x="990600" y="3276600"/>
            <a:ext cx="7467600" cy="1069975"/>
          </a:xfrm>
          <a:prstGeom prst="rect">
            <a:avLst/>
          </a:prstGeom>
          <a:solidFill>
            <a:srgbClr val="0000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108000" rIns="0" bIns="108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kumimoji="0" lang="zh-CN" altLang="en-US">
                <a:solidFill>
                  <a:srgbClr val="FF0000"/>
                </a:solidFill>
              </a:rPr>
              <a:t>面向对象的主要目标是为现实世界和设计中的结构单元间提供直接映射。</a:t>
            </a:r>
          </a:p>
        </p:txBody>
      </p:sp>
    </p:spTree>
    <p:extLst>
      <p:ext uri="{BB962C8B-B14F-4D97-AF65-F5344CB8AC3E}">
        <p14:creationId xmlns:p14="http://schemas.microsoft.com/office/powerpoint/2010/main" val="10404369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94"/>
                                        </p:tgtEl>
                                        <p:attrNameLst>
                                          <p:attrName>style.visibility</p:attrName>
                                        </p:attrNameLst>
                                      </p:cBhvr>
                                      <p:to>
                                        <p:strVal val="visible"/>
                                      </p:to>
                                    </p:set>
                                    <p:animEffect transition="in" filter="blinds(horizontal)">
                                      <p:cBhvr>
                                        <p:cTn id="7" dur="500"/>
                                        <p:tgtEl>
                                          <p:spTgt spid="2459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4600"/>
                                        </p:tgtEl>
                                        <p:attrNameLst>
                                          <p:attrName>style.visibility</p:attrName>
                                        </p:attrNameLst>
                                      </p:cBhvr>
                                      <p:to>
                                        <p:strVal val="visible"/>
                                      </p:to>
                                    </p:set>
                                    <p:animEffect transition="in" filter="blinds(horizontal)">
                                      <p:cBhvr>
                                        <p:cTn id="10" dur="500"/>
                                        <p:tgtEl>
                                          <p:spTgt spid="2460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4595"/>
                                        </p:tgtEl>
                                        <p:attrNameLst>
                                          <p:attrName>style.visibility</p:attrName>
                                        </p:attrNameLst>
                                      </p:cBhvr>
                                      <p:to>
                                        <p:strVal val="visible"/>
                                      </p:to>
                                    </p:set>
                                    <p:animEffect transition="in" filter="blinds(horizontal)">
                                      <p:cBhvr>
                                        <p:cTn id="15" dur="500"/>
                                        <p:tgtEl>
                                          <p:spTgt spid="2459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4599"/>
                                        </p:tgtEl>
                                        <p:attrNameLst>
                                          <p:attrName>style.visibility</p:attrName>
                                        </p:attrNameLst>
                                      </p:cBhvr>
                                      <p:to>
                                        <p:strVal val="visible"/>
                                      </p:to>
                                    </p:set>
                                    <p:animEffect transition="in" filter="blinds(horizontal)">
                                      <p:cBhvr>
                                        <p:cTn id="18" dur="500"/>
                                        <p:tgtEl>
                                          <p:spTgt spid="2459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4596"/>
                                        </p:tgtEl>
                                        <p:attrNameLst>
                                          <p:attrName>style.visibility</p:attrName>
                                        </p:attrNameLst>
                                      </p:cBhvr>
                                      <p:to>
                                        <p:strVal val="visible"/>
                                      </p:to>
                                    </p:set>
                                    <p:animEffect transition="in" filter="blinds(horizontal)">
                                      <p:cBhvr>
                                        <p:cTn id="23" dur="500"/>
                                        <p:tgtEl>
                                          <p:spTgt spid="24596"/>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4598"/>
                                        </p:tgtEl>
                                        <p:attrNameLst>
                                          <p:attrName>style.visibility</p:attrName>
                                        </p:attrNameLst>
                                      </p:cBhvr>
                                      <p:to>
                                        <p:strVal val="visible"/>
                                      </p:to>
                                    </p:set>
                                    <p:animEffect transition="in" filter="blinds(horizontal)">
                                      <p:cBhvr>
                                        <p:cTn id="26" dur="500"/>
                                        <p:tgtEl>
                                          <p:spTgt spid="2459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8" presetClass="entr" presetSubtype="16" fill="hold" grpId="0" nodeType="clickEffect">
                                  <p:stCondLst>
                                    <p:cond delay="0"/>
                                  </p:stCondLst>
                                  <p:childTnLst>
                                    <p:set>
                                      <p:cBhvr>
                                        <p:cTn id="30" dur="1" fill="hold">
                                          <p:stCondLst>
                                            <p:cond delay="0"/>
                                          </p:stCondLst>
                                        </p:cTn>
                                        <p:tgtEl>
                                          <p:spTgt spid="24606"/>
                                        </p:tgtEl>
                                        <p:attrNameLst>
                                          <p:attrName>style.visibility</p:attrName>
                                        </p:attrNameLst>
                                      </p:cBhvr>
                                      <p:to>
                                        <p:strVal val="visible"/>
                                      </p:to>
                                    </p:set>
                                    <p:animEffect transition="in" filter="diamond(in)">
                                      <p:cBhvr>
                                        <p:cTn id="31" dur="1000"/>
                                        <p:tgtEl>
                                          <p:spTgt spid="24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94" grpId="0" animBg="1"/>
      <p:bldP spid="24595" grpId="0" animBg="1"/>
      <p:bldP spid="24596" grpId="0" animBg="1"/>
      <p:bldP spid="24598" grpId="0" animBg="1"/>
      <p:bldP spid="24599" grpId="0" animBg="1"/>
      <p:bldP spid="24600" grpId="0" animBg="1"/>
      <p:bldP spid="2460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228600"/>
            <a:ext cx="8229600" cy="1143000"/>
          </a:xfrm>
        </p:spPr>
        <p:txBody>
          <a:bodyPr/>
          <a:lstStyle/>
          <a:p>
            <a:pPr eaLnBrk="1" hangingPunct="1"/>
            <a:r>
              <a:rPr lang="zh-CN" altLang="en-US" b="1" smtClean="0">
                <a:solidFill>
                  <a:schemeClr val="accent2"/>
                </a:solidFill>
                <a:ea typeface="楷体_GB2312" pitchFamily="49" charset="-122"/>
              </a:rPr>
              <a:t>类和对象</a:t>
            </a:r>
          </a:p>
        </p:txBody>
      </p:sp>
      <p:sp>
        <p:nvSpPr>
          <p:cNvPr id="7171" name="Rectangle 19"/>
          <p:cNvSpPr>
            <a:spLocks noChangeArrowheads="1"/>
          </p:cNvSpPr>
          <p:nvPr/>
        </p:nvSpPr>
        <p:spPr bwMode="auto">
          <a:xfrm>
            <a:off x="762000" y="1447800"/>
            <a:ext cx="8001000" cy="1510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108000" rIns="0" bIns="108000">
            <a:spAutoFit/>
          </a:bodyPr>
          <a:lstStyle/>
          <a:p>
            <a:pPr algn="l">
              <a:buFont typeface="Wingdings" pitchFamily="2" charset="2"/>
              <a:buChar char="Ø"/>
            </a:pPr>
            <a:r>
              <a:rPr kumimoji="0" lang="zh-CN" altLang="en-US" sz="2800" dirty="0"/>
              <a:t>面向对象（</a:t>
            </a:r>
            <a:r>
              <a:rPr kumimoji="0" lang="en-US" altLang="zh-CN" sz="2800" dirty="0"/>
              <a:t>OO)</a:t>
            </a:r>
            <a:r>
              <a:rPr kumimoji="0" lang="zh-CN" altLang="en-US" sz="2800" dirty="0"/>
              <a:t>主要通过</a:t>
            </a:r>
            <a:r>
              <a:rPr kumimoji="0" lang="zh-CN" altLang="en-US" sz="2800" dirty="0">
                <a:solidFill>
                  <a:srgbClr val="0000CC"/>
                </a:solidFill>
              </a:rPr>
              <a:t>概念</a:t>
            </a:r>
            <a:r>
              <a:rPr kumimoji="0" lang="zh-CN" altLang="en-US" sz="2800" dirty="0"/>
              <a:t>命名的方式提供现实世界和设计之间的映射。</a:t>
            </a:r>
          </a:p>
          <a:p>
            <a:pPr algn="l">
              <a:buFont typeface="Wingdings" pitchFamily="2" charset="2"/>
              <a:buChar char="Ø"/>
            </a:pPr>
            <a:r>
              <a:rPr kumimoji="0" lang="zh-CN" altLang="en-US" sz="2800" dirty="0">
                <a:solidFill>
                  <a:srgbClr val="0000CC"/>
                </a:solidFill>
              </a:rPr>
              <a:t>概念</a:t>
            </a:r>
            <a:r>
              <a:rPr kumimoji="0" lang="zh-CN" altLang="en-US" sz="2800" dirty="0"/>
              <a:t>相当于面向对象的</a:t>
            </a:r>
            <a:r>
              <a:rPr kumimoji="0" lang="zh-CN" altLang="en-US" sz="2800" dirty="0">
                <a:solidFill>
                  <a:srgbClr val="0000CC"/>
                </a:solidFill>
              </a:rPr>
              <a:t>类</a:t>
            </a:r>
            <a:r>
              <a:rPr kumimoji="0" lang="zh-CN" altLang="en-US" sz="2800" dirty="0"/>
              <a:t>，</a:t>
            </a:r>
            <a:r>
              <a:rPr kumimoji="0" lang="zh-CN" altLang="en-US" sz="2800" dirty="0">
                <a:solidFill>
                  <a:srgbClr val="0000CC"/>
                </a:solidFill>
              </a:rPr>
              <a:t>实例</a:t>
            </a:r>
            <a:r>
              <a:rPr kumimoji="0" lang="zh-CN" altLang="en-US" sz="2800" dirty="0"/>
              <a:t>就是类中的</a:t>
            </a:r>
            <a:r>
              <a:rPr kumimoji="0" lang="zh-CN" altLang="en-US" sz="2800" dirty="0">
                <a:solidFill>
                  <a:srgbClr val="0000CC"/>
                </a:solidFill>
              </a:rPr>
              <a:t>对象</a:t>
            </a:r>
            <a:r>
              <a:rPr kumimoji="0" lang="zh-CN" altLang="en-US" sz="2800" dirty="0" smtClean="0"/>
              <a:t>。</a:t>
            </a:r>
            <a:endParaRPr kumimoji="0" lang="zh-CN" altLang="en-US" sz="2800" dirty="0"/>
          </a:p>
        </p:txBody>
      </p:sp>
    </p:spTree>
    <p:extLst>
      <p:ext uri="{BB962C8B-B14F-4D97-AF65-F5344CB8AC3E}">
        <p14:creationId xmlns:p14="http://schemas.microsoft.com/office/powerpoint/2010/main" val="59283400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228600"/>
            <a:ext cx="8229600" cy="1143000"/>
          </a:xfrm>
        </p:spPr>
        <p:txBody>
          <a:bodyPr/>
          <a:lstStyle/>
          <a:p>
            <a:pPr eaLnBrk="1" hangingPunct="1"/>
            <a:r>
              <a:rPr lang="zh-CN" altLang="en-US" b="1" smtClean="0">
                <a:solidFill>
                  <a:schemeClr val="accent2"/>
                </a:solidFill>
                <a:ea typeface="楷体_GB2312" pitchFamily="49" charset="-122"/>
              </a:rPr>
              <a:t>类的引入</a:t>
            </a:r>
          </a:p>
        </p:txBody>
      </p:sp>
      <p:grpSp>
        <p:nvGrpSpPr>
          <p:cNvPr id="8195" name="Group 5"/>
          <p:cNvGrpSpPr>
            <a:grpSpLocks/>
          </p:cNvGrpSpPr>
          <p:nvPr/>
        </p:nvGrpSpPr>
        <p:grpSpPr bwMode="auto">
          <a:xfrm>
            <a:off x="228600" y="1295400"/>
            <a:ext cx="8686800" cy="5508625"/>
            <a:chOff x="192" y="562"/>
            <a:chExt cx="5376" cy="3470"/>
          </a:xfrm>
        </p:grpSpPr>
        <p:sp>
          <p:nvSpPr>
            <p:cNvPr id="8196" name="Rectangle 6"/>
            <p:cNvSpPr>
              <a:spLocks noChangeArrowheads="1"/>
            </p:cNvSpPr>
            <p:nvPr/>
          </p:nvSpPr>
          <p:spPr bwMode="auto">
            <a:xfrm>
              <a:off x="1972" y="2083"/>
              <a:ext cx="1260" cy="339"/>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eaLnBrk="0" hangingPunct="0">
                <a:spcBef>
                  <a:spcPct val="0"/>
                </a:spcBef>
              </a:pPr>
              <a:r>
                <a:rPr kumimoji="0" lang="en-US" altLang="zh-CN" b="0">
                  <a:latin typeface="Arial Narrow" pitchFamily="34" charset="0"/>
                  <a:ea typeface="宋体" charset="-122"/>
                </a:rPr>
                <a:t>AjaxCustomer</a:t>
              </a:r>
            </a:p>
          </p:txBody>
        </p:sp>
        <p:graphicFrame>
          <p:nvGraphicFramePr>
            <p:cNvPr id="8197" name="Object 7"/>
            <p:cNvGraphicFramePr>
              <a:graphicFrameLocks noChangeAspect="1"/>
            </p:cNvGraphicFramePr>
            <p:nvPr/>
          </p:nvGraphicFramePr>
          <p:xfrm>
            <a:off x="384" y="1776"/>
            <a:ext cx="1056" cy="953"/>
          </p:xfrm>
          <a:graphic>
            <a:graphicData uri="http://schemas.openxmlformats.org/presentationml/2006/ole">
              <mc:AlternateContent xmlns:mc="http://schemas.openxmlformats.org/markup-compatibility/2006">
                <mc:Choice xmlns:v="urn:schemas-microsoft-com:vml" Requires="v">
                  <p:oleObj spid="_x0000_s4130" name="GALLERY" r:id="rId4" imgW="1518942" imgH="1370202" progId="GALLERYClipart">
                    <p:embed/>
                  </p:oleObj>
                </mc:Choice>
                <mc:Fallback>
                  <p:oleObj name="GALLERY" r:id="rId4" imgW="1518942" imgH="1370202" progId="GALLERYClipart">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 y="1776"/>
                          <a:ext cx="1056" cy="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8" name="Rectangle 8"/>
            <p:cNvSpPr>
              <a:spLocks noChangeArrowheads="1"/>
            </p:cNvSpPr>
            <p:nvPr/>
          </p:nvSpPr>
          <p:spPr bwMode="auto">
            <a:xfrm>
              <a:off x="420" y="562"/>
              <a:ext cx="10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lgn="l" eaLnBrk="0" hangingPunct="0">
                <a:spcBef>
                  <a:spcPct val="0"/>
                </a:spcBef>
              </a:pPr>
              <a:r>
                <a:rPr kumimoji="0" lang="zh-CN" altLang="en-US" u="sng">
                  <a:latin typeface="Arial Narrow" pitchFamily="34" charset="0"/>
                </a:rPr>
                <a:t>现实世界</a:t>
              </a:r>
            </a:p>
          </p:txBody>
        </p:sp>
        <p:sp>
          <p:nvSpPr>
            <p:cNvPr id="8199" name="Rectangle 9"/>
            <p:cNvSpPr>
              <a:spLocks noChangeArrowheads="1"/>
            </p:cNvSpPr>
            <p:nvPr/>
          </p:nvSpPr>
          <p:spPr bwMode="auto">
            <a:xfrm>
              <a:off x="1991" y="562"/>
              <a:ext cx="1219"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eaLnBrk="0" hangingPunct="0">
                <a:spcBef>
                  <a:spcPct val="0"/>
                </a:spcBef>
              </a:pPr>
              <a:r>
                <a:rPr kumimoji="0" lang="zh-CN" altLang="en-US" u="sng">
                  <a:latin typeface="Arial Narrow" pitchFamily="34" charset="0"/>
                </a:rPr>
                <a:t>设计中的类</a:t>
              </a:r>
            </a:p>
            <a:p>
              <a:pPr eaLnBrk="0" hangingPunct="0">
                <a:spcBef>
                  <a:spcPct val="0"/>
                </a:spcBef>
              </a:pPr>
              <a:r>
                <a:rPr kumimoji="0" lang="en-US" altLang="zh-CN" b="0">
                  <a:latin typeface="Arial Narrow" pitchFamily="34" charset="0"/>
                  <a:ea typeface="宋体" charset="-122"/>
                </a:rPr>
                <a:t>(UML </a:t>
              </a:r>
              <a:r>
                <a:rPr kumimoji="0" lang="zh-CN" altLang="en-US">
                  <a:latin typeface="Arial Narrow" pitchFamily="34" charset="0"/>
                </a:rPr>
                <a:t>符号</a:t>
              </a:r>
              <a:r>
                <a:rPr kumimoji="0" lang="en-US" altLang="zh-CN" b="0">
                  <a:latin typeface="Arial Narrow" pitchFamily="34" charset="0"/>
                  <a:ea typeface="宋体" charset="-122"/>
                </a:rPr>
                <a:t>)</a:t>
              </a:r>
            </a:p>
          </p:txBody>
        </p:sp>
        <p:sp>
          <p:nvSpPr>
            <p:cNvPr id="8200" name="Rectangle 10"/>
            <p:cNvSpPr>
              <a:spLocks noChangeArrowheads="1"/>
            </p:cNvSpPr>
            <p:nvPr/>
          </p:nvSpPr>
          <p:spPr bwMode="auto">
            <a:xfrm>
              <a:off x="3803" y="562"/>
              <a:ext cx="1440"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eaLnBrk="0" hangingPunct="0">
                <a:spcBef>
                  <a:spcPct val="0"/>
                </a:spcBef>
              </a:pPr>
              <a:r>
                <a:rPr kumimoji="0" lang="zh-CN" altLang="en-US" u="sng">
                  <a:latin typeface="Arial Narrow" pitchFamily="34" charset="0"/>
                </a:rPr>
                <a:t>源代码中的类</a:t>
              </a:r>
            </a:p>
            <a:p>
              <a:pPr eaLnBrk="0" hangingPunct="0">
                <a:spcBef>
                  <a:spcPct val="0"/>
                </a:spcBef>
              </a:pPr>
              <a:r>
                <a:rPr kumimoji="0" lang="en-US" altLang="zh-CN" b="0">
                  <a:latin typeface="Arial Narrow" pitchFamily="34" charset="0"/>
                  <a:ea typeface="宋体" charset="-122"/>
                </a:rPr>
                <a:t>(Java)</a:t>
              </a:r>
            </a:p>
          </p:txBody>
        </p:sp>
        <p:sp>
          <p:nvSpPr>
            <p:cNvPr id="8201" name="AutoShape 11"/>
            <p:cNvSpPr>
              <a:spLocks noChangeArrowheads="1"/>
            </p:cNvSpPr>
            <p:nvPr/>
          </p:nvSpPr>
          <p:spPr bwMode="auto">
            <a:xfrm>
              <a:off x="3761" y="1853"/>
              <a:ext cx="1485" cy="797"/>
            </a:xfrm>
            <a:prstGeom prst="foldedCorner">
              <a:avLst>
                <a:gd name="adj" fmla="val 125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rnd">
                  <a:solidFill>
                    <a:srgbClr val="000000"/>
                  </a:solidFill>
                  <a:prstDash val="sysDot"/>
                  <a:round/>
                  <a:headEnd/>
                  <a:tailEnd/>
                </a14:hiddenLine>
              </a:ext>
            </a:extLst>
          </p:spPr>
          <p:txBody>
            <a:bodyPr wrap="none" bIns="0" anchor="ctr">
              <a:spAutoFit/>
            </a:bodyPr>
            <a:lstStyle/>
            <a:p>
              <a:pPr algn="l" eaLnBrk="0" hangingPunct="0">
                <a:spcBef>
                  <a:spcPct val="0"/>
                </a:spcBef>
              </a:pPr>
              <a:r>
                <a:rPr kumimoji="0" lang="en-US" altLang="zh-CN" sz="2400" b="0" i="1">
                  <a:latin typeface="Arial Narrow" pitchFamily="34" charset="0"/>
                  <a:ea typeface="宋体" charset="-122"/>
                </a:rPr>
                <a:t>class AjaxCustomer</a:t>
              </a:r>
            </a:p>
            <a:p>
              <a:pPr algn="l" eaLnBrk="0" hangingPunct="0">
                <a:spcBef>
                  <a:spcPct val="0"/>
                </a:spcBef>
              </a:pPr>
              <a:r>
                <a:rPr kumimoji="0" lang="en-US" altLang="zh-CN" sz="2400" b="0" i="1">
                  <a:latin typeface="Arial Narrow" pitchFamily="34" charset="0"/>
                  <a:ea typeface="宋体" charset="-122"/>
                </a:rPr>
                <a:t>{ . . . . </a:t>
              </a:r>
            </a:p>
            <a:p>
              <a:pPr algn="l" eaLnBrk="0" hangingPunct="0">
                <a:spcBef>
                  <a:spcPct val="0"/>
                </a:spcBef>
              </a:pPr>
              <a:r>
                <a:rPr kumimoji="0" lang="en-US" altLang="zh-CN" sz="2400" b="0" i="1">
                  <a:latin typeface="Arial Narrow" pitchFamily="34" charset="0"/>
                  <a:ea typeface="宋体" charset="-122"/>
                </a:rPr>
                <a:t>}</a:t>
              </a:r>
            </a:p>
          </p:txBody>
        </p:sp>
        <p:sp>
          <p:nvSpPr>
            <p:cNvPr id="8202" name="Rectangle 12"/>
            <p:cNvSpPr>
              <a:spLocks noChangeArrowheads="1"/>
            </p:cNvSpPr>
            <p:nvPr/>
          </p:nvSpPr>
          <p:spPr bwMode="auto">
            <a:xfrm>
              <a:off x="1834" y="3355"/>
              <a:ext cx="1540" cy="339"/>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eaLnBrk="0" hangingPunct="0">
                <a:spcBef>
                  <a:spcPct val="0"/>
                </a:spcBef>
              </a:pPr>
              <a:r>
                <a:rPr kumimoji="0" lang="en-US" altLang="zh-CN" b="0">
                  <a:latin typeface="Arial Narrow" pitchFamily="34" charset="0"/>
                  <a:ea typeface="宋体" charset="-122"/>
                </a:rPr>
                <a:t>PermissionToPay</a:t>
              </a:r>
            </a:p>
          </p:txBody>
        </p:sp>
        <p:sp>
          <p:nvSpPr>
            <p:cNvPr id="8203" name="AutoShape 13"/>
            <p:cNvSpPr>
              <a:spLocks noChangeArrowheads="1"/>
            </p:cNvSpPr>
            <p:nvPr/>
          </p:nvSpPr>
          <p:spPr bwMode="auto">
            <a:xfrm>
              <a:off x="3659" y="3125"/>
              <a:ext cx="1725" cy="797"/>
            </a:xfrm>
            <a:prstGeom prst="foldedCorner">
              <a:avLst>
                <a:gd name="adj" fmla="val 125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rnd">
                  <a:solidFill>
                    <a:srgbClr val="000000"/>
                  </a:solidFill>
                  <a:prstDash val="sysDot"/>
                  <a:round/>
                  <a:headEnd/>
                  <a:tailEnd/>
                </a14:hiddenLine>
              </a:ext>
            </a:extLst>
          </p:spPr>
          <p:txBody>
            <a:bodyPr wrap="none" bIns="0" anchor="ctr">
              <a:spAutoFit/>
            </a:bodyPr>
            <a:lstStyle/>
            <a:p>
              <a:pPr algn="l" eaLnBrk="0" hangingPunct="0">
                <a:spcBef>
                  <a:spcPct val="0"/>
                </a:spcBef>
              </a:pPr>
              <a:r>
                <a:rPr kumimoji="0" lang="en-US" altLang="zh-CN" sz="2400" b="0" i="1">
                  <a:latin typeface="Arial Narrow" pitchFamily="34" charset="0"/>
                  <a:ea typeface="宋体" charset="-122"/>
                </a:rPr>
                <a:t>class PermissionToPay</a:t>
              </a:r>
            </a:p>
            <a:p>
              <a:pPr algn="l" eaLnBrk="0" hangingPunct="0">
                <a:spcBef>
                  <a:spcPct val="0"/>
                </a:spcBef>
              </a:pPr>
              <a:r>
                <a:rPr kumimoji="0" lang="en-US" altLang="zh-CN" sz="2400" b="0" i="1">
                  <a:latin typeface="Arial Narrow" pitchFamily="34" charset="0"/>
                  <a:ea typeface="宋体" charset="-122"/>
                </a:rPr>
                <a:t>{ . . . . </a:t>
              </a:r>
            </a:p>
            <a:p>
              <a:pPr algn="l" eaLnBrk="0" hangingPunct="0">
                <a:spcBef>
                  <a:spcPct val="0"/>
                </a:spcBef>
              </a:pPr>
              <a:r>
                <a:rPr kumimoji="0" lang="en-US" altLang="zh-CN" sz="2400" b="0" i="1">
                  <a:latin typeface="Arial Narrow" pitchFamily="34" charset="0"/>
                  <a:ea typeface="宋体" charset="-122"/>
                </a:rPr>
                <a:t>}</a:t>
              </a:r>
            </a:p>
          </p:txBody>
        </p:sp>
        <p:sp>
          <p:nvSpPr>
            <p:cNvPr id="8204" name="Rectangle 14"/>
            <p:cNvSpPr>
              <a:spLocks noChangeArrowheads="1"/>
            </p:cNvSpPr>
            <p:nvPr/>
          </p:nvSpPr>
          <p:spPr bwMode="auto">
            <a:xfrm>
              <a:off x="636" y="3215"/>
              <a:ext cx="556"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eaLnBrk="0" hangingPunct="0">
                <a:spcBef>
                  <a:spcPct val="0"/>
                </a:spcBef>
              </a:pPr>
              <a:r>
                <a:rPr kumimoji="0" lang="zh-CN" altLang="en-US">
                  <a:latin typeface="Arial Narrow" pitchFamily="34" charset="0"/>
                </a:rPr>
                <a:t>思维</a:t>
              </a:r>
            </a:p>
            <a:p>
              <a:pPr eaLnBrk="0" hangingPunct="0">
                <a:spcBef>
                  <a:spcPct val="0"/>
                </a:spcBef>
              </a:pPr>
              <a:r>
                <a:rPr kumimoji="0" lang="zh-CN" altLang="en-US">
                  <a:latin typeface="Arial Narrow" pitchFamily="34" charset="0"/>
                </a:rPr>
                <a:t>概念</a:t>
              </a:r>
            </a:p>
          </p:txBody>
        </p:sp>
        <p:sp>
          <p:nvSpPr>
            <p:cNvPr id="8205" name="Line 15"/>
            <p:cNvSpPr>
              <a:spLocks noChangeShapeType="1"/>
            </p:cNvSpPr>
            <p:nvPr/>
          </p:nvSpPr>
          <p:spPr bwMode="auto">
            <a:xfrm>
              <a:off x="192" y="1632"/>
              <a:ext cx="53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 name="Line 16"/>
            <p:cNvSpPr>
              <a:spLocks noChangeShapeType="1"/>
            </p:cNvSpPr>
            <p:nvPr/>
          </p:nvSpPr>
          <p:spPr bwMode="auto">
            <a:xfrm>
              <a:off x="192" y="2880"/>
              <a:ext cx="5376" cy="0"/>
            </a:xfrm>
            <a:prstGeom prst="line">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7" name="Line 17"/>
            <p:cNvSpPr>
              <a:spLocks noChangeShapeType="1"/>
            </p:cNvSpPr>
            <p:nvPr/>
          </p:nvSpPr>
          <p:spPr bwMode="auto">
            <a:xfrm>
              <a:off x="192" y="576"/>
              <a:ext cx="0" cy="34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8" name="Line 18"/>
            <p:cNvSpPr>
              <a:spLocks noChangeShapeType="1"/>
            </p:cNvSpPr>
            <p:nvPr/>
          </p:nvSpPr>
          <p:spPr bwMode="auto">
            <a:xfrm>
              <a:off x="1680" y="576"/>
              <a:ext cx="0" cy="3456"/>
            </a:xfrm>
            <a:prstGeom prst="line">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9" name="Line 19"/>
            <p:cNvSpPr>
              <a:spLocks noChangeShapeType="1"/>
            </p:cNvSpPr>
            <p:nvPr/>
          </p:nvSpPr>
          <p:spPr bwMode="auto">
            <a:xfrm>
              <a:off x="3510" y="576"/>
              <a:ext cx="0" cy="3456"/>
            </a:xfrm>
            <a:prstGeom prst="line">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0" name="Line 20"/>
            <p:cNvSpPr>
              <a:spLocks noChangeShapeType="1"/>
            </p:cNvSpPr>
            <p:nvPr/>
          </p:nvSpPr>
          <p:spPr bwMode="auto">
            <a:xfrm>
              <a:off x="5568" y="576"/>
              <a:ext cx="0" cy="34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88644933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类的成员</a:t>
            </a:r>
          </a:p>
        </p:txBody>
      </p:sp>
      <p:sp>
        <p:nvSpPr>
          <p:cNvPr id="9219" name="Rectangle 3"/>
          <p:cNvSpPr>
            <a:spLocks noGrp="1" noChangeArrowheads="1"/>
          </p:cNvSpPr>
          <p:nvPr>
            <p:ph type="body" idx="1"/>
          </p:nvPr>
        </p:nvSpPr>
        <p:spPr>
          <a:xfrm>
            <a:off x="457200" y="1600200"/>
            <a:ext cx="8229600" cy="1981200"/>
          </a:xfrm>
        </p:spPr>
        <p:txBody>
          <a:bodyPr/>
          <a:lstStyle/>
          <a:p>
            <a:pPr eaLnBrk="1" hangingPunct="1">
              <a:buFontTx/>
              <a:buNone/>
            </a:pPr>
            <a:r>
              <a:rPr lang="en-US" altLang="zh-CN" b="1" dirty="0" smtClean="0">
                <a:ea typeface="楷体_GB2312" pitchFamily="49" charset="-122"/>
              </a:rPr>
              <a:t>     </a:t>
            </a:r>
            <a:r>
              <a:rPr lang="zh-CN" altLang="en-US" b="1" dirty="0" smtClean="0">
                <a:solidFill>
                  <a:schemeClr val="accent2"/>
                </a:solidFill>
                <a:ea typeface="楷体_GB2312" pitchFamily="49" charset="-122"/>
              </a:rPr>
              <a:t>程序                         类的成员</a:t>
            </a:r>
          </a:p>
          <a:p>
            <a:pPr eaLnBrk="1" hangingPunct="1">
              <a:buFontTx/>
              <a:buNone/>
            </a:pPr>
            <a:r>
              <a:rPr lang="zh-CN" altLang="en-US" b="1" dirty="0" smtClean="0">
                <a:ea typeface="楷体_GB2312" pitchFamily="49" charset="-122"/>
              </a:rPr>
              <a:t>     数据               变量（也称为域或属性）</a:t>
            </a:r>
          </a:p>
          <a:p>
            <a:pPr eaLnBrk="1" hangingPunct="1">
              <a:buFontTx/>
              <a:buNone/>
            </a:pPr>
            <a:r>
              <a:rPr lang="zh-CN" altLang="en-US" b="1" dirty="0" smtClean="0">
                <a:ea typeface="楷体_GB2312" pitchFamily="49" charset="-122"/>
              </a:rPr>
              <a:t>     函数               方法（也称为函数或操作）</a:t>
            </a:r>
          </a:p>
        </p:txBody>
      </p:sp>
      <p:sp>
        <p:nvSpPr>
          <p:cNvPr id="9220" name="Rectangle 4"/>
          <p:cNvSpPr>
            <a:spLocks noChangeArrowheads="1"/>
          </p:cNvSpPr>
          <p:nvPr/>
        </p:nvSpPr>
        <p:spPr bwMode="auto">
          <a:xfrm>
            <a:off x="533400" y="3733800"/>
            <a:ext cx="82296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20000"/>
              </a:spcBef>
              <a:buFontTx/>
              <a:buChar char="•"/>
            </a:pPr>
            <a:r>
              <a:rPr kumimoji="0" lang="zh-CN" altLang="en-US" sz="3200" dirty="0">
                <a:latin typeface="Arial" charset="0"/>
              </a:rPr>
              <a:t>类成员独立于个体对象，即</a:t>
            </a:r>
            <a:r>
              <a:rPr kumimoji="0" lang="zh-CN" altLang="en-US" sz="3200" dirty="0">
                <a:solidFill>
                  <a:srgbClr val="FF0000"/>
                </a:solidFill>
                <a:latin typeface="Arial" charset="0"/>
              </a:rPr>
              <a:t>静态成员</a:t>
            </a:r>
          </a:p>
          <a:p>
            <a:pPr marL="342900" indent="-342900" algn="l">
              <a:spcBef>
                <a:spcPct val="20000"/>
              </a:spcBef>
              <a:buFontTx/>
              <a:buChar char="•"/>
            </a:pPr>
            <a:r>
              <a:rPr kumimoji="0" lang="zh-CN" altLang="en-US" sz="3200" dirty="0">
                <a:latin typeface="Arial" charset="0"/>
              </a:rPr>
              <a:t>对于非静态变量，类的每个对象都有它自己特殊的名字，这就是类的</a:t>
            </a:r>
            <a:r>
              <a:rPr kumimoji="0" lang="zh-CN" altLang="en-US" sz="3200" dirty="0">
                <a:solidFill>
                  <a:srgbClr val="FF0000"/>
                </a:solidFill>
                <a:latin typeface="Arial" charset="0"/>
              </a:rPr>
              <a:t>实例变量</a:t>
            </a:r>
          </a:p>
        </p:txBody>
      </p:sp>
    </p:spTree>
    <p:extLst>
      <p:ext uri="{BB962C8B-B14F-4D97-AF65-F5344CB8AC3E}">
        <p14:creationId xmlns:p14="http://schemas.microsoft.com/office/powerpoint/2010/main" val="68132151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31"/>
          <p:cNvGrpSpPr>
            <a:grpSpLocks/>
          </p:cNvGrpSpPr>
          <p:nvPr/>
        </p:nvGrpSpPr>
        <p:grpSpPr bwMode="auto">
          <a:xfrm>
            <a:off x="50800" y="330200"/>
            <a:ext cx="8953500" cy="6400800"/>
            <a:chOff x="32" y="208"/>
            <a:chExt cx="5640" cy="4032"/>
          </a:xfrm>
        </p:grpSpPr>
        <p:sp>
          <p:nvSpPr>
            <p:cNvPr id="10243" name="Rectangle 5"/>
            <p:cNvSpPr>
              <a:spLocks noChangeArrowheads="1"/>
            </p:cNvSpPr>
            <p:nvPr/>
          </p:nvSpPr>
          <p:spPr bwMode="auto">
            <a:xfrm>
              <a:off x="3600" y="738"/>
              <a:ext cx="1654" cy="99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l" eaLnBrk="0" hangingPunct="0">
                <a:spcBef>
                  <a:spcPct val="0"/>
                </a:spcBef>
              </a:pPr>
              <a:r>
                <a:rPr kumimoji="0" lang="en-US" altLang="zh-CN" sz="2400" b="0">
                  <a:latin typeface="Arial Narrow" pitchFamily="34" charset="0"/>
                  <a:ea typeface="宋体" charset="-122"/>
                </a:rPr>
                <a:t>aliceBrownBMW:Auto</a:t>
              </a:r>
            </a:p>
            <a:p>
              <a:pPr algn="l" eaLnBrk="0" hangingPunct="0">
                <a:spcBef>
                  <a:spcPct val="0"/>
                </a:spcBef>
              </a:pPr>
              <a:endParaRPr kumimoji="0" lang="en-US" altLang="zh-CN" sz="2400" b="0">
                <a:latin typeface="Arial Narrow" pitchFamily="34" charset="0"/>
                <a:ea typeface="宋体" charset="-122"/>
              </a:endParaRPr>
            </a:p>
            <a:p>
              <a:pPr algn="l" eaLnBrk="0" hangingPunct="0">
                <a:spcBef>
                  <a:spcPct val="0"/>
                </a:spcBef>
              </a:pPr>
              <a:endParaRPr kumimoji="0" lang="en-US" altLang="zh-CN" sz="2400" b="0">
                <a:latin typeface="Arial Narrow" pitchFamily="34" charset="0"/>
                <a:ea typeface="宋体" charset="-122"/>
              </a:endParaRPr>
            </a:p>
            <a:p>
              <a:pPr algn="l" eaLnBrk="0" hangingPunct="0">
                <a:spcBef>
                  <a:spcPct val="0"/>
                </a:spcBef>
              </a:pPr>
              <a:r>
                <a:rPr kumimoji="0" lang="en-US" altLang="zh-CN" sz="2400" b="0">
                  <a:latin typeface="Arial Narrow" pitchFamily="34" charset="0"/>
                  <a:ea typeface="宋体" charset="-122"/>
                </a:rPr>
                <a:t>   …</a:t>
              </a:r>
            </a:p>
          </p:txBody>
        </p:sp>
        <p:sp>
          <p:nvSpPr>
            <p:cNvPr id="10244" name="Rectangle 6"/>
            <p:cNvSpPr>
              <a:spLocks noChangeArrowheads="1"/>
            </p:cNvSpPr>
            <p:nvPr/>
          </p:nvSpPr>
          <p:spPr bwMode="auto">
            <a:xfrm>
              <a:off x="281" y="1056"/>
              <a:ext cx="2127" cy="122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u="sng">
                  <a:latin typeface="Arial Narrow" pitchFamily="34" charset="0"/>
                  <a:ea typeface="宋体" charset="-122"/>
                </a:rPr>
                <a:t>Auto</a:t>
              </a:r>
            </a:p>
            <a:p>
              <a:pPr eaLnBrk="0" hangingPunct="0">
                <a:spcBef>
                  <a:spcPct val="0"/>
                </a:spcBef>
              </a:pPr>
              <a:r>
                <a:rPr kumimoji="0" lang="en-US" altLang="zh-CN" sz="2400" b="0">
                  <a:latin typeface="Arial Narrow" pitchFamily="34" charset="0"/>
                  <a:ea typeface="宋体" charset="-122"/>
                </a:rPr>
                <a:t>public int vehicleID …</a:t>
              </a:r>
            </a:p>
            <a:p>
              <a:pPr eaLnBrk="0" hangingPunct="0">
                <a:spcBef>
                  <a:spcPct val="0"/>
                </a:spcBef>
              </a:pPr>
              <a:r>
                <a:rPr kumimoji="0" lang="en-US" altLang="zh-CN" sz="2400" b="0">
                  <a:latin typeface="Arial Narrow" pitchFamily="34" charset="0"/>
                  <a:ea typeface="宋体" charset="-122"/>
                </a:rPr>
                <a:t>protected int mileage …</a:t>
              </a:r>
            </a:p>
            <a:p>
              <a:pPr eaLnBrk="0" hangingPunct="0">
                <a:spcBef>
                  <a:spcPct val="0"/>
                </a:spcBef>
              </a:pPr>
              <a:r>
                <a:rPr kumimoji="0" lang="en-US" altLang="zh-CN" sz="2400" b="0">
                  <a:latin typeface="Arial Narrow" pitchFamily="34" charset="0"/>
                  <a:ea typeface="宋体" charset="-122"/>
                </a:rPr>
                <a:t>private myPrivateVariable …</a:t>
              </a:r>
            </a:p>
            <a:p>
              <a:pPr eaLnBrk="0" hangingPunct="0">
                <a:spcBef>
                  <a:spcPct val="0"/>
                </a:spcBef>
              </a:pPr>
              <a:r>
                <a:rPr kumimoji="0" lang="en-US" altLang="zh-CN" sz="2400" b="0">
                  <a:latin typeface="Arial Narrow" pitchFamily="34" charset="0"/>
                  <a:ea typeface="宋体" charset="-122"/>
                </a:rPr>
                <a:t>static int numAutosMade …</a:t>
              </a:r>
            </a:p>
          </p:txBody>
        </p:sp>
        <p:sp>
          <p:nvSpPr>
            <p:cNvPr id="10245" name="AutoShape 7"/>
            <p:cNvSpPr>
              <a:spLocks noChangeArrowheads="1"/>
            </p:cNvSpPr>
            <p:nvPr/>
          </p:nvSpPr>
          <p:spPr bwMode="auto">
            <a:xfrm>
              <a:off x="1207" y="2268"/>
              <a:ext cx="192" cy="192"/>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46" name="AutoShape 8"/>
            <p:cNvSpPr>
              <a:spLocks noChangeArrowheads="1"/>
            </p:cNvSpPr>
            <p:nvPr/>
          </p:nvSpPr>
          <p:spPr bwMode="auto">
            <a:xfrm>
              <a:off x="430" y="688"/>
              <a:ext cx="599" cy="272"/>
            </a:xfrm>
            <a:prstGeom prst="foldedCorner">
              <a:avLst>
                <a:gd name="adj" fmla="val 12500"/>
              </a:avLst>
            </a:prstGeom>
            <a:solidFill>
              <a:schemeClr val="bg1"/>
            </a:solidFill>
            <a:ln>
              <a:noFill/>
            </a:ln>
            <a:extLst>
              <a:ext uri="{91240B29-F687-4F45-9708-019B960494DF}">
                <a14:hiddenLine xmlns:a14="http://schemas.microsoft.com/office/drawing/2010/main" w="19050">
                  <a:solidFill>
                    <a:srgbClr val="000000"/>
                  </a:solidFill>
                  <a:round/>
                  <a:headEnd/>
                  <a:tailEnd/>
                </a14:hiddenLine>
              </a:ext>
            </a:extLst>
          </p:spPr>
          <p:txBody>
            <a:bodyPr wrap="none" anchor="ctr">
              <a:spAutoFit/>
            </a:bodyPr>
            <a:lstStyle/>
            <a:p>
              <a:pPr eaLnBrk="0" hangingPunct="0">
                <a:spcBef>
                  <a:spcPct val="0"/>
                </a:spcBef>
              </a:pPr>
              <a:r>
                <a:rPr kumimoji="0" lang="zh-CN" altLang="en-US" sz="2000">
                  <a:latin typeface="Comic Sans MS" pitchFamily="66" charset="0"/>
                </a:rPr>
                <a:t>类模型</a:t>
              </a:r>
            </a:p>
          </p:txBody>
        </p:sp>
        <p:sp>
          <p:nvSpPr>
            <p:cNvPr id="10247" name="Rectangle 9"/>
            <p:cNvSpPr>
              <a:spLocks noChangeArrowheads="1"/>
            </p:cNvSpPr>
            <p:nvPr/>
          </p:nvSpPr>
          <p:spPr bwMode="auto">
            <a:xfrm>
              <a:off x="998" y="3636"/>
              <a:ext cx="611" cy="3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l" eaLnBrk="0" hangingPunct="0">
                <a:spcBef>
                  <a:spcPct val="0"/>
                </a:spcBef>
              </a:pPr>
              <a:r>
                <a:rPr kumimoji="0" lang="en-US" altLang="zh-CN" sz="2400" b="0">
                  <a:latin typeface="Arial Narrow" pitchFamily="34" charset="0"/>
                  <a:ea typeface="宋体" charset="-122"/>
                </a:rPr>
                <a:t>Toyota</a:t>
              </a:r>
            </a:p>
          </p:txBody>
        </p:sp>
        <p:sp>
          <p:nvSpPr>
            <p:cNvPr id="10248" name="Rectangle 10"/>
            <p:cNvSpPr>
              <a:spLocks noChangeArrowheads="1"/>
            </p:cNvSpPr>
            <p:nvPr/>
          </p:nvSpPr>
          <p:spPr bwMode="auto">
            <a:xfrm>
              <a:off x="4021" y="2160"/>
              <a:ext cx="12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eaLnBrk="0" hangingPunct="0">
                <a:spcBef>
                  <a:spcPct val="0"/>
                </a:spcBef>
              </a:pPr>
              <a:r>
                <a:rPr kumimoji="0" lang="en-US" altLang="zh-CN" sz="2400" b="0" i="1">
                  <a:latin typeface="Arial Narrow" pitchFamily="34" charset="0"/>
                  <a:ea typeface="宋体" charset="-122"/>
                </a:rPr>
                <a:t>numAutosMade</a:t>
              </a:r>
            </a:p>
          </p:txBody>
        </p:sp>
        <p:sp>
          <p:nvSpPr>
            <p:cNvPr id="10249" name="Rectangle 11"/>
            <p:cNvSpPr>
              <a:spLocks noChangeArrowheads="1"/>
            </p:cNvSpPr>
            <p:nvPr/>
          </p:nvSpPr>
          <p:spPr bwMode="auto">
            <a:xfrm>
              <a:off x="4029" y="2016"/>
              <a:ext cx="1200"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spcBef>
                  <a:spcPct val="0"/>
                </a:spcBef>
              </a:pPr>
              <a:r>
                <a:rPr kumimoji="0" lang="en-US" altLang="zh-CN" sz="2000" b="0">
                  <a:latin typeface="Times New Roman" pitchFamily="18" charset="0"/>
                  <a:ea typeface="宋体" charset="-122"/>
                </a:rPr>
                <a:t>12390924850984</a:t>
              </a:r>
            </a:p>
          </p:txBody>
        </p:sp>
        <p:sp>
          <p:nvSpPr>
            <p:cNvPr id="10250" name="Rectangle 12"/>
            <p:cNvSpPr>
              <a:spLocks noChangeArrowheads="1"/>
            </p:cNvSpPr>
            <p:nvPr/>
          </p:nvSpPr>
          <p:spPr bwMode="auto">
            <a:xfrm>
              <a:off x="4092" y="1296"/>
              <a:ext cx="6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eaLnBrk="0" hangingPunct="0">
                <a:spcBef>
                  <a:spcPct val="0"/>
                </a:spcBef>
              </a:pPr>
              <a:r>
                <a:rPr kumimoji="0" lang="en-US" altLang="zh-CN" sz="2400" b="0">
                  <a:latin typeface="Arial Narrow" pitchFamily="34" charset="0"/>
                  <a:ea typeface="宋体" charset="-122"/>
                </a:rPr>
                <a:t>mileage</a:t>
              </a:r>
            </a:p>
          </p:txBody>
        </p:sp>
        <p:sp>
          <p:nvSpPr>
            <p:cNvPr id="10251" name="Rectangle 13"/>
            <p:cNvSpPr>
              <a:spLocks noChangeArrowheads="1"/>
            </p:cNvSpPr>
            <p:nvPr/>
          </p:nvSpPr>
          <p:spPr bwMode="auto">
            <a:xfrm>
              <a:off x="4139" y="1074"/>
              <a:ext cx="576" cy="199"/>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spcBef>
                  <a:spcPct val="0"/>
                </a:spcBef>
              </a:pPr>
              <a:r>
                <a:rPr kumimoji="0" lang="en-US" altLang="zh-CN" sz="2000" b="0">
                  <a:latin typeface="Times New Roman" pitchFamily="18" charset="0"/>
                  <a:ea typeface="宋体" charset="-122"/>
                </a:rPr>
                <a:t>33024</a:t>
              </a:r>
            </a:p>
          </p:txBody>
        </p:sp>
        <p:sp>
          <p:nvSpPr>
            <p:cNvPr id="10252" name="Rectangle 14"/>
            <p:cNvSpPr>
              <a:spLocks noChangeArrowheads="1"/>
            </p:cNvSpPr>
            <p:nvPr/>
          </p:nvSpPr>
          <p:spPr bwMode="auto">
            <a:xfrm>
              <a:off x="4176" y="2832"/>
              <a:ext cx="1208" cy="99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l" eaLnBrk="0" hangingPunct="0">
                <a:spcBef>
                  <a:spcPct val="0"/>
                </a:spcBef>
              </a:pPr>
              <a:r>
                <a:rPr kumimoji="0" lang="en-US" altLang="zh-CN" sz="2400" b="0">
                  <a:latin typeface="Arial Narrow" pitchFamily="34" charset="0"/>
                  <a:ea typeface="宋体" charset="-122"/>
                </a:rPr>
                <a:t>jaynesCar:Auto</a:t>
              </a:r>
            </a:p>
            <a:p>
              <a:pPr algn="l" eaLnBrk="0" hangingPunct="0">
                <a:spcBef>
                  <a:spcPct val="0"/>
                </a:spcBef>
              </a:pPr>
              <a:endParaRPr kumimoji="0" lang="en-US" altLang="zh-CN" sz="2400" b="0">
                <a:latin typeface="Arial Narrow" pitchFamily="34" charset="0"/>
                <a:ea typeface="宋体" charset="-122"/>
              </a:endParaRPr>
            </a:p>
            <a:p>
              <a:pPr algn="l" eaLnBrk="0" hangingPunct="0">
                <a:spcBef>
                  <a:spcPct val="0"/>
                </a:spcBef>
              </a:pPr>
              <a:endParaRPr kumimoji="0" lang="en-US" altLang="zh-CN" sz="2400" b="0">
                <a:latin typeface="Arial Narrow" pitchFamily="34" charset="0"/>
                <a:ea typeface="宋体" charset="-122"/>
              </a:endParaRPr>
            </a:p>
            <a:p>
              <a:pPr algn="l" eaLnBrk="0" hangingPunct="0">
                <a:spcBef>
                  <a:spcPct val="0"/>
                </a:spcBef>
              </a:pPr>
              <a:r>
                <a:rPr kumimoji="0" lang="en-US" altLang="zh-CN" sz="2400" b="0">
                  <a:latin typeface="Arial Narrow" pitchFamily="34" charset="0"/>
                  <a:ea typeface="宋体" charset="-122"/>
                </a:rPr>
                <a:t>   …</a:t>
              </a:r>
            </a:p>
          </p:txBody>
        </p:sp>
        <p:sp>
          <p:nvSpPr>
            <p:cNvPr id="10253" name="Rectangle 15"/>
            <p:cNvSpPr>
              <a:spLocks noChangeArrowheads="1"/>
            </p:cNvSpPr>
            <p:nvPr/>
          </p:nvSpPr>
          <p:spPr bwMode="auto">
            <a:xfrm>
              <a:off x="4310" y="3360"/>
              <a:ext cx="6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eaLnBrk="0" hangingPunct="0">
                <a:spcBef>
                  <a:spcPct val="0"/>
                </a:spcBef>
              </a:pPr>
              <a:r>
                <a:rPr kumimoji="0" lang="en-US" altLang="zh-CN" sz="2400" b="0">
                  <a:latin typeface="Arial Narrow" pitchFamily="34" charset="0"/>
                  <a:ea typeface="宋体" charset="-122"/>
                </a:rPr>
                <a:t>mileage</a:t>
              </a:r>
            </a:p>
          </p:txBody>
        </p:sp>
        <p:sp>
          <p:nvSpPr>
            <p:cNvPr id="10254" name="Rectangle 16"/>
            <p:cNvSpPr>
              <a:spLocks noChangeArrowheads="1"/>
            </p:cNvSpPr>
            <p:nvPr/>
          </p:nvSpPr>
          <p:spPr bwMode="auto">
            <a:xfrm>
              <a:off x="4356" y="3161"/>
              <a:ext cx="576" cy="199"/>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spcBef>
                  <a:spcPct val="0"/>
                </a:spcBef>
              </a:pPr>
              <a:r>
                <a:rPr kumimoji="0" lang="en-US" altLang="zh-CN" sz="2000" b="0">
                  <a:latin typeface="Times New Roman" pitchFamily="18" charset="0"/>
                  <a:ea typeface="宋体" charset="-122"/>
                </a:rPr>
                <a:t>83402</a:t>
              </a:r>
            </a:p>
          </p:txBody>
        </p:sp>
        <p:sp>
          <p:nvSpPr>
            <p:cNvPr id="10255" name="AutoShape 17"/>
            <p:cNvSpPr>
              <a:spLocks noChangeArrowheads="1"/>
            </p:cNvSpPr>
            <p:nvPr/>
          </p:nvSpPr>
          <p:spPr bwMode="auto">
            <a:xfrm>
              <a:off x="4020" y="208"/>
              <a:ext cx="845" cy="272"/>
            </a:xfrm>
            <a:prstGeom prst="foldedCorner">
              <a:avLst>
                <a:gd name="adj" fmla="val 12500"/>
              </a:avLst>
            </a:prstGeom>
            <a:solidFill>
              <a:schemeClr val="bg1"/>
            </a:solidFill>
            <a:ln>
              <a:noFill/>
            </a:ln>
            <a:extLst>
              <a:ext uri="{91240B29-F687-4F45-9708-019B960494DF}">
                <a14:hiddenLine xmlns:a14="http://schemas.microsoft.com/office/drawing/2010/main" w="19050">
                  <a:solidFill>
                    <a:srgbClr val="000000"/>
                  </a:solidFill>
                  <a:round/>
                  <a:headEnd/>
                  <a:tailEnd/>
                </a14:hiddenLine>
              </a:ext>
            </a:extLst>
          </p:spPr>
          <p:txBody>
            <a:bodyPr wrap="none" anchor="ctr">
              <a:spAutoFit/>
            </a:bodyPr>
            <a:lstStyle/>
            <a:p>
              <a:pPr eaLnBrk="0" hangingPunct="0">
                <a:spcBef>
                  <a:spcPct val="0"/>
                </a:spcBef>
              </a:pPr>
              <a:r>
                <a:rPr kumimoji="0" lang="en-US" altLang="zh-CN" sz="2000" b="0" i="1">
                  <a:latin typeface="Comic Sans MS" pitchFamily="66" charset="0"/>
                  <a:ea typeface="宋体" charset="-122"/>
                </a:rPr>
                <a:t>Auto </a:t>
              </a:r>
              <a:r>
                <a:rPr kumimoji="0" lang="zh-CN" altLang="en-US" sz="2000"/>
                <a:t>对象</a:t>
              </a:r>
              <a:endParaRPr kumimoji="0" lang="zh-CN" altLang="en-US" sz="2000" b="0" i="1">
                <a:latin typeface="Comic Sans MS" pitchFamily="66" charset="0"/>
                <a:ea typeface="宋体" charset="-122"/>
              </a:endParaRPr>
            </a:p>
          </p:txBody>
        </p:sp>
        <p:sp>
          <p:nvSpPr>
            <p:cNvPr id="10256" name="AutoShape 18"/>
            <p:cNvSpPr>
              <a:spLocks noChangeArrowheads="1"/>
            </p:cNvSpPr>
            <p:nvPr/>
          </p:nvSpPr>
          <p:spPr bwMode="auto">
            <a:xfrm>
              <a:off x="192" y="2736"/>
              <a:ext cx="960" cy="485"/>
            </a:xfrm>
            <a:prstGeom prst="foldedCorner">
              <a:avLst>
                <a:gd name="adj" fmla="val 12500"/>
              </a:avLst>
            </a:prstGeom>
            <a:solidFill>
              <a:srgbClr val="D8D6FE"/>
            </a:solidFill>
            <a:ln>
              <a:noFill/>
            </a:ln>
            <a:extLst>
              <a:ext uri="{91240B29-F687-4F45-9708-019B960494DF}">
                <a14:hiddenLine xmlns:a14="http://schemas.microsoft.com/office/drawing/2010/main" w="19050">
                  <a:solidFill>
                    <a:srgbClr val="000000"/>
                  </a:solidFill>
                  <a:round/>
                  <a:headEnd/>
                  <a:tailEnd/>
                </a14:hiddenLine>
              </a:ext>
            </a:extLst>
          </p:spPr>
          <p:txBody>
            <a:bodyPr anchor="ctr">
              <a:spAutoFit/>
            </a:bodyPr>
            <a:lstStyle/>
            <a:p>
              <a:pPr algn="l" eaLnBrk="0" hangingPunct="0">
                <a:spcBef>
                  <a:spcPct val="0"/>
                </a:spcBef>
              </a:pPr>
              <a:r>
                <a:rPr kumimoji="0" lang="zh-CN" altLang="en-US" sz="2000"/>
                <a:t>子类也有这些成员</a:t>
              </a:r>
            </a:p>
          </p:txBody>
        </p:sp>
        <p:sp>
          <p:nvSpPr>
            <p:cNvPr id="10257" name="Rectangle 19"/>
            <p:cNvSpPr>
              <a:spLocks noChangeArrowheads="1"/>
            </p:cNvSpPr>
            <p:nvPr/>
          </p:nvSpPr>
          <p:spPr bwMode="auto">
            <a:xfrm>
              <a:off x="2352" y="2784"/>
              <a:ext cx="1348" cy="99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l" eaLnBrk="0" hangingPunct="0">
                <a:spcBef>
                  <a:spcPct val="0"/>
                </a:spcBef>
              </a:pPr>
              <a:r>
                <a:rPr kumimoji="0" lang="en-US" altLang="zh-CN" sz="2400" b="0">
                  <a:latin typeface="Arial Narrow" pitchFamily="34" charset="0"/>
                  <a:ea typeface="宋体" charset="-122"/>
                </a:rPr>
                <a:t>myToyota:Toyota</a:t>
              </a:r>
            </a:p>
            <a:p>
              <a:pPr algn="l" eaLnBrk="0" hangingPunct="0">
                <a:spcBef>
                  <a:spcPct val="0"/>
                </a:spcBef>
              </a:pPr>
              <a:endParaRPr kumimoji="0" lang="en-US" altLang="zh-CN" sz="2400" b="0">
                <a:latin typeface="Arial Narrow" pitchFamily="34" charset="0"/>
                <a:ea typeface="宋体" charset="-122"/>
              </a:endParaRPr>
            </a:p>
            <a:p>
              <a:pPr algn="l" eaLnBrk="0" hangingPunct="0">
                <a:spcBef>
                  <a:spcPct val="0"/>
                </a:spcBef>
              </a:pPr>
              <a:endParaRPr kumimoji="0" lang="en-US" altLang="zh-CN" sz="2400" b="0">
                <a:latin typeface="Arial Narrow" pitchFamily="34" charset="0"/>
                <a:ea typeface="宋体" charset="-122"/>
              </a:endParaRPr>
            </a:p>
            <a:p>
              <a:pPr algn="l" eaLnBrk="0" hangingPunct="0">
                <a:spcBef>
                  <a:spcPct val="0"/>
                </a:spcBef>
              </a:pPr>
              <a:r>
                <a:rPr kumimoji="0" lang="en-US" altLang="zh-CN" sz="2400" b="0">
                  <a:latin typeface="Arial Narrow" pitchFamily="34" charset="0"/>
                  <a:ea typeface="宋体" charset="-122"/>
                </a:rPr>
                <a:t>   …</a:t>
              </a:r>
            </a:p>
          </p:txBody>
        </p:sp>
        <p:sp>
          <p:nvSpPr>
            <p:cNvPr id="10258" name="Rectangle 20"/>
            <p:cNvSpPr>
              <a:spLocks noChangeArrowheads="1"/>
            </p:cNvSpPr>
            <p:nvPr/>
          </p:nvSpPr>
          <p:spPr bwMode="auto">
            <a:xfrm>
              <a:off x="2691" y="3294"/>
              <a:ext cx="6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eaLnBrk="0" hangingPunct="0">
                <a:spcBef>
                  <a:spcPct val="0"/>
                </a:spcBef>
              </a:pPr>
              <a:r>
                <a:rPr kumimoji="0" lang="en-US" altLang="zh-CN" sz="2400" b="0">
                  <a:latin typeface="Arial Narrow" pitchFamily="34" charset="0"/>
                  <a:ea typeface="宋体" charset="-122"/>
                </a:rPr>
                <a:t>mileage</a:t>
              </a:r>
            </a:p>
          </p:txBody>
        </p:sp>
        <p:sp>
          <p:nvSpPr>
            <p:cNvPr id="10259" name="Rectangle 21"/>
            <p:cNvSpPr>
              <a:spLocks noChangeArrowheads="1"/>
            </p:cNvSpPr>
            <p:nvPr/>
          </p:nvSpPr>
          <p:spPr bwMode="auto">
            <a:xfrm>
              <a:off x="2738" y="3120"/>
              <a:ext cx="576" cy="199"/>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spcBef>
                  <a:spcPct val="0"/>
                </a:spcBef>
              </a:pPr>
              <a:r>
                <a:rPr kumimoji="0" lang="en-US" altLang="zh-CN" sz="2000" b="0">
                  <a:latin typeface="Times New Roman" pitchFamily="18" charset="0"/>
                  <a:ea typeface="宋体" charset="-122"/>
                </a:rPr>
                <a:t>2105</a:t>
              </a:r>
            </a:p>
          </p:txBody>
        </p:sp>
        <p:cxnSp>
          <p:nvCxnSpPr>
            <p:cNvPr id="10260" name="AutoShape 22"/>
            <p:cNvCxnSpPr>
              <a:cxnSpLocks noChangeShapeType="1"/>
              <a:stCxn id="10245" idx="3"/>
              <a:endCxn id="10247" idx="0"/>
            </p:cNvCxnSpPr>
            <p:nvPr/>
          </p:nvCxnSpPr>
          <p:spPr bwMode="auto">
            <a:xfrm rot="16200000" flipH="1">
              <a:off x="722" y="3047"/>
              <a:ext cx="1164" cy="1"/>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sp>
          <p:nvSpPr>
            <p:cNvPr id="10261" name="Freeform 23"/>
            <p:cNvSpPr>
              <a:spLocks/>
            </p:cNvSpPr>
            <p:nvPr/>
          </p:nvSpPr>
          <p:spPr bwMode="auto">
            <a:xfrm>
              <a:off x="32" y="1416"/>
              <a:ext cx="976" cy="2424"/>
            </a:xfrm>
            <a:custGeom>
              <a:avLst/>
              <a:gdLst>
                <a:gd name="T0" fmla="*/ 450 w 736"/>
                <a:gd name="T1" fmla="*/ 24 h 2456"/>
                <a:gd name="T2" fmla="*/ 198 w 736"/>
                <a:gd name="T3" fmla="*/ 70 h 2456"/>
                <a:gd name="T4" fmla="*/ 113 w 736"/>
                <a:gd name="T5" fmla="*/ 444 h 2456"/>
                <a:gd name="T6" fmla="*/ 198 w 736"/>
                <a:gd name="T7" fmla="*/ 2081 h 2456"/>
                <a:gd name="T8" fmla="*/ 1294 w 736"/>
                <a:gd name="T9" fmla="*/ 2314 h 2456"/>
                <a:gd name="T10" fmla="*/ 0 60000 65536"/>
                <a:gd name="T11" fmla="*/ 0 60000 65536"/>
                <a:gd name="T12" fmla="*/ 0 60000 65536"/>
                <a:gd name="T13" fmla="*/ 0 60000 65536"/>
                <a:gd name="T14" fmla="*/ 0 60000 65536"/>
                <a:gd name="T15" fmla="*/ 0 w 736"/>
                <a:gd name="T16" fmla="*/ 0 h 2456"/>
                <a:gd name="T17" fmla="*/ 736 w 736"/>
                <a:gd name="T18" fmla="*/ 2456 h 2456"/>
              </a:gdLst>
              <a:ahLst/>
              <a:cxnLst>
                <a:cxn ang="T10">
                  <a:pos x="T0" y="T1"/>
                </a:cxn>
                <a:cxn ang="T11">
                  <a:pos x="T2" y="T3"/>
                </a:cxn>
                <a:cxn ang="T12">
                  <a:pos x="T4" y="T5"/>
                </a:cxn>
                <a:cxn ang="T13">
                  <a:pos x="T6" y="T7"/>
                </a:cxn>
                <a:cxn ang="T14">
                  <a:pos x="T8" y="T9"/>
                </a:cxn>
              </a:cxnLst>
              <a:rect l="T15" t="T16" r="T17" b="T18"/>
              <a:pathLst>
                <a:path w="736" h="2456">
                  <a:moveTo>
                    <a:pt x="256" y="24"/>
                  </a:moveTo>
                  <a:cubicBezTo>
                    <a:pt x="200" y="12"/>
                    <a:pt x="144" y="0"/>
                    <a:pt x="112" y="72"/>
                  </a:cubicBezTo>
                  <a:cubicBezTo>
                    <a:pt x="80" y="144"/>
                    <a:pt x="64" y="112"/>
                    <a:pt x="64" y="456"/>
                  </a:cubicBezTo>
                  <a:cubicBezTo>
                    <a:pt x="64" y="800"/>
                    <a:pt x="0" y="1816"/>
                    <a:pt x="112" y="2136"/>
                  </a:cubicBezTo>
                  <a:cubicBezTo>
                    <a:pt x="224" y="2456"/>
                    <a:pt x="480" y="2416"/>
                    <a:pt x="736" y="2376"/>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62" name="Rectangle 24"/>
            <p:cNvSpPr>
              <a:spLocks noChangeArrowheads="1"/>
            </p:cNvSpPr>
            <p:nvPr/>
          </p:nvSpPr>
          <p:spPr bwMode="auto">
            <a:xfrm>
              <a:off x="4560" y="3792"/>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en-US" altLang="zh-CN" sz="2400" b="0">
                  <a:latin typeface="Arial Narrow" pitchFamily="34" charset="0"/>
                  <a:ea typeface="宋体" charset="-122"/>
                </a:rPr>
                <a:t>…</a:t>
              </a:r>
            </a:p>
          </p:txBody>
        </p:sp>
        <p:sp>
          <p:nvSpPr>
            <p:cNvPr id="10263" name="Freeform 25"/>
            <p:cNvSpPr>
              <a:spLocks/>
            </p:cNvSpPr>
            <p:nvPr/>
          </p:nvSpPr>
          <p:spPr bwMode="auto">
            <a:xfrm>
              <a:off x="2016" y="816"/>
              <a:ext cx="864" cy="864"/>
            </a:xfrm>
            <a:custGeom>
              <a:avLst/>
              <a:gdLst>
                <a:gd name="T0" fmla="*/ 864 w 864"/>
                <a:gd name="T1" fmla="*/ 0 h 864"/>
                <a:gd name="T2" fmla="*/ 288 w 864"/>
                <a:gd name="T3" fmla="*/ 384 h 864"/>
                <a:gd name="T4" fmla="*/ 624 w 864"/>
                <a:gd name="T5" fmla="*/ 480 h 864"/>
                <a:gd name="T6" fmla="*/ 0 w 864"/>
                <a:gd name="T7" fmla="*/ 864 h 864"/>
                <a:gd name="T8" fmla="*/ 0 60000 65536"/>
                <a:gd name="T9" fmla="*/ 0 60000 65536"/>
                <a:gd name="T10" fmla="*/ 0 60000 65536"/>
                <a:gd name="T11" fmla="*/ 0 60000 65536"/>
                <a:gd name="T12" fmla="*/ 0 w 864"/>
                <a:gd name="T13" fmla="*/ 0 h 864"/>
                <a:gd name="T14" fmla="*/ 864 w 864"/>
                <a:gd name="T15" fmla="*/ 864 h 864"/>
              </a:gdLst>
              <a:ahLst/>
              <a:cxnLst>
                <a:cxn ang="T8">
                  <a:pos x="T0" y="T1"/>
                </a:cxn>
                <a:cxn ang="T9">
                  <a:pos x="T2" y="T3"/>
                </a:cxn>
                <a:cxn ang="T10">
                  <a:pos x="T4" y="T5"/>
                </a:cxn>
                <a:cxn ang="T11">
                  <a:pos x="T6" y="T7"/>
                </a:cxn>
              </a:cxnLst>
              <a:rect l="T12" t="T13" r="T14" b="T15"/>
              <a:pathLst>
                <a:path w="864" h="864">
                  <a:moveTo>
                    <a:pt x="864" y="0"/>
                  </a:moveTo>
                  <a:cubicBezTo>
                    <a:pt x="596" y="152"/>
                    <a:pt x="328" y="304"/>
                    <a:pt x="288" y="384"/>
                  </a:cubicBezTo>
                  <a:cubicBezTo>
                    <a:pt x="248" y="464"/>
                    <a:pt x="672" y="400"/>
                    <a:pt x="624" y="480"/>
                  </a:cubicBezTo>
                  <a:cubicBezTo>
                    <a:pt x="576" y="560"/>
                    <a:pt x="288" y="712"/>
                    <a:pt x="0" y="864"/>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64" name="Freeform 26"/>
            <p:cNvSpPr>
              <a:spLocks/>
            </p:cNvSpPr>
            <p:nvPr/>
          </p:nvSpPr>
          <p:spPr bwMode="auto">
            <a:xfrm>
              <a:off x="2120" y="2104"/>
              <a:ext cx="520" cy="352"/>
            </a:xfrm>
            <a:custGeom>
              <a:avLst/>
              <a:gdLst>
                <a:gd name="T0" fmla="*/ 520 w 520"/>
                <a:gd name="T1" fmla="*/ 104 h 352"/>
                <a:gd name="T2" fmla="*/ 40 w 520"/>
                <a:gd name="T3" fmla="*/ 344 h 352"/>
                <a:gd name="T4" fmla="*/ 280 w 520"/>
                <a:gd name="T5" fmla="*/ 56 h 352"/>
                <a:gd name="T6" fmla="*/ 40 w 520"/>
                <a:gd name="T7" fmla="*/ 8 h 352"/>
                <a:gd name="T8" fmla="*/ 0 60000 65536"/>
                <a:gd name="T9" fmla="*/ 0 60000 65536"/>
                <a:gd name="T10" fmla="*/ 0 60000 65536"/>
                <a:gd name="T11" fmla="*/ 0 60000 65536"/>
                <a:gd name="T12" fmla="*/ 0 w 520"/>
                <a:gd name="T13" fmla="*/ 0 h 352"/>
                <a:gd name="T14" fmla="*/ 520 w 520"/>
                <a:gd name="T15" fmla="*/ 352 h 352"/>
              </a:gdLst>
              <a:ahLst/>
              <a:cxnLst>
                <a:cxn ang="T8">
                  <a:pos x="T0" y="T1"/>
                </a:cxn>
                <a:cxn ang="T9">
                  <a:pos x="T2" y="T3"/>
                </a:cxn>
                <a:cxn ang="T10">
                  <a:pos x="T4" y="T5"/>
                </a:cxn>
                <a:cxn ang="T11">
                  <a:pos x="T6" y="T7"/>
                </a:cxn>
              </a:cxnLst>
              <a:rect l="T12" t="T13" r="T14" b="T15"/>
              <a:pathLst>
                <a:path w="520" h="352">
                  <a:moveTo>
                    <a:pt x="520" y="104"/>
                  </a:moveTo>
                  <a:cubicBezTo>
                    <a:pt x="300" y="228"/>
                    <a:pt x="80" y="352"/>
                    <a:pt x="40" y="344"/>
                  </a:cubicBezTo>
                  <a:cubicBezTo>
                    <a:pt x="0" y="336"/>
                    <a:pt x="280" y="112"/>
                    <a:pt x="280" y="56"/>
                  </a:cubicBezTo>
                  <a:cubicBezTo>
                    <a:pt x="280" y="0"/>
                    <a:pt x="160" y="4"/>
                    <a:pt x="40" y="8"/>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65" name="AutoShape 27"/>
            <p:cNvSpPr>
              <a:spLocks noChangeArrowheads="1"/>
            </p:cNvSpPr>
            <p:nvPr/>
          </p:nvSpPr>
          <p:spPr bwMode="auto">
            <a:xfrm>
              <a:off x="2496" y="2022"/>
              <a:ext cx="1392" cy="414"/>
            </a:xfrm>
            <a:prstGeom prst="foldedCorner">
              <a:avLst>
                <a:gd name="adj" fmla="val 12500"/>
              </a:avLst>
            </a:prstGeom>
            <a:solidFill>
              <a:srgbClr val="D8D6FE"/>
            </a:solidFill>
            <a:ln>
              <a:noFill/>
            </a:ln>
            <a:extLst>
              <a:ext uri="{91240B29-F687-4F45-9708-019B960494DF}">
                <a14:hiddenLine xmlns:a14="http://schemas.microsoft.com/office/drawing/2010/main" w="19050">
                  <a:solidFill>
                    <a:srgbClr val="000000"/>
                  </a:solidFill>
                  <a:round/>
                  <a:headEnd/>
                  <a:tailEnd/>
                </a14:hiddenLine>
              </a:ext>
            </a:extLst>
          </p:spPr>
          <p:txBody>
            <a:bodyPr bIns="0" anchor="ctr">
              <a:spAutoFit/>
            </a:bodyPr>
            <a:lstStyle/>
            <a:p>
              <a:pPr algn="l" eaLnBrk="0" hangingPunct="0">
                <a:lnSpc>
                  <a:spcPct val="90000"/>
                </a:lnSpc>
                <a:spcBef>
                  <a:spcPct val="0"/>
                </a:spcBef>
              </a:pPr>
              <a:r>
                <a:rPr kumimoji="0" lang="zh-CN" altLang="en-US" sz="2000"/>
                <a:t>静态变量：仅有一个版本</a:t>
              </a:r>
            </a:p>
          </p:txBody>
        </p:sp>
        <p:sp>
          <p:nvSpPr>
            <p:cNvPr id="10266" name="AutoShape 28"/>
            <p:cNvSpPr>
              <a:spLocks noChangeArrowheads="1"/>
            </p:cNvSpPr>
            <p:nvPr/>
          </p:nvSpPr>
          <p:spPr bwMode="auto">
            <a:xfrm>
              <a:off x="1440" y="528"/>
              <a:ext cx="2064" cy="414"/>
            </a:xfrm>
            <a:prstGeom prst="foldedCorner">
              <a:avLst>
                <a:gd name="adj" fmla="val 12500"/>
              </a:avLst>
            </a:prstGeom>
            <a:solidFill>
              <a:srgbClr val="D8D6FE"/>
            </a:solidFill>
            <a:ln>
              <a:noFill/>
            </a:ln>
            <a:extLst>
              <a:ext uri="{91240B29-F687-4F45-9708-019B960494DF}">
                <a14:hiddenLine xmlns:a14="http://schemas.microsoft.com/office/drawing/2010/main" w="19050">
                  <a:solidFill>
                    <a:srgbClr val="000000"/>
                  </a:solidFill>
                  <a:round/>
                  <a:headEnd/>
                  <a:tailEnd/>
                </a14:hiddenLine>
              </a:ext>
            </a:extLst>
          </p:spPr>
          <p:txBody>
            <a:bodyPr bIns="0" anchor="ctr">
              <a:spAutoFit/>
            </a:bodyPr>
            <a:lstStyle/>
            <a:p>
              <a:pPr algn="l" eaLnBrk="0" hangingPunct="0">
                <a:lnSpc>
                  <a:spcPct val="90000"/>
                </a:lnSpc>
                <a:spcBef>
                  <a:spcPct val="0"/>
                </a:spcBef>
              </a:pPr>
              <a:r>
                <a:rPr kumimoji="0" lang="zh-CN" altLang="en-US" sz="2000">
                  <a:latin typeface="Comic Sans MS" pitchFamily="66" charset="0"/>
                </a:rPr>
                <a:t>非静态变量：每个对象都有一个版本</a:t>
              </a:r>
            </a:p>
          </p:txBody>
        </p:sp>
        <p:sp>
          <p:nvSpPr>
            <p:cNvPr id="10267" name="Freeform 29"/>
            <p:cNvSpPr>
              <a:spLocks/>
            </p:cNvSpPr>
            <p:nvPr/>
          </p:nvSpPr>
          <p:spPr bwMode="auto">
            <a:xfrm>
              <a:off x="114" y="1632"/>
              <a:ext cx="336" cy="624"/>
            </a:xfrm>
            <a:custGeom>
              <a:avLst/>
              <a:gdLst>
                <a:gd name="T0" fmla="*/ 336 w 336"/>
                <a:gd name="T1" fmla="*/ 48 h 624"/>
                <a:gd name="T2" fmla="*/ 192 w 336"/>
                <a:gd name="T3" fmla="*/ 96 h 624"/>
                <a:gd name="T4" fmla="*/ 0 w 336"/>
                <a:gd name="T5" fmla="*/ 624 h 624"/>
                <a:gd name="T6" fmla="*/ 0 60000 65536"/>
                <a:gd name="T7" fmla="*/ 0 60000 65536"/>
                <a:gd name="T8" fmla="*/ 0 60000 65536"/>
                <a:gd name="T9" fmla="*/ 0 w 336"/>
                <a:gd name="T10" fmla="*/ 0 h 624"/>
                <a:gd name="T11" fmla="*/ 336 w 336"/>
                <a:gd name="T12" fmla="*/ 624 h 624"/>
              </a:gdLst>
              <a:ahLst/>
              <a:cxnLst>
                <a:cxn ang="T6">
                  <a:pos x="T0" y="T1"/>
                </a:cxn>
                <a:cxn ang="T7">
                  <a:pos x="T2" y="T3"/>
                </a:cxn>
                <a:cxn ang="T8">
                  <a:pos x="T4" y="T5"/>
                </a:cxn>
              </a:cxnLst>
              <a:rect l="T9" t="T10" r="T11" b="T12"/>
              <a:pathLst>
                <a:path w="336" h="624">
                  <a:moveTo>
                    <a:pt x="336" y="48"/>
                  </a:moveTo>
                  <a:cubicBezTo>
                    <a:pt x="292" y="24"/>
                    <a:pt x="248" y="0"/>
                    <a:pt x="192" y="96"/>
                  </a:cubicBezTo>
                  <a:cubicBezTo>
                    <a:pt x="136" y="192"/>
                    <a:pt x="68" y="408"/>
                    <a:pt x="0" y="624"/>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68" name="Freeform 30"/>
            <p:cNvSpPr>
              <a:spLocks/>
            </p:cNvSpPr>
            <p:nvPr/>
          </p:nvSpPr>
          <p:spPr bwMode="auto">
            <a:xfrm>
              <a:off x="1840" y="464"/>
              <a:ext cx="3832" cy="3776"/>
            </a:xfrm>
            <a:custGeom>
              <a:avLst/>
              <a:gdLst>
                <a:gd name="T0" fmla="*/ 1952 w 3832"/>
                <a:gd name="T1" fmla="*/ 16 h 3776"/>
                <a:gd name="T2" fmla="*/ 3440 w 3832"/>
                <a:gd name="T3" fmla="*/ 208 h 3776"/>
                <a:gd name="T4" fmla="*/ 3728 w 3832"/>
                <a:gd name="T5" fmla="*/ 1024 h 3776"/>
                <a:gd name="T6" fmla="*/ 3776 w 3832"/>
                <a:gd name="T7" fmla="*/ 2272 h 3776"/>
                <a:gd name="T8" fmla="*/ 3728 w 3832"/>
                <a:gd name="T9" fmla="*/ 3280 h 3776"/>
                <a:gd name="T10" fmla="*/ 3152 w 3832"/>
                <a:gd name="T11" fmla="*/ 3712 h 3776"/>
                <a:gd name="T12" fmla="*/ 1424 w 3832"/>
                <a:gd name="T13" fmla="*/ 3664 h 3776"/>
                <a:gd name="T14" fmla="*/ 464 w 3832"/>
                <a:gd name="T15" fmla="*/ 3472 h 3776"/>
                <a:gd name="T16" fmla="*/ 32 w 3832"/>
                <a:gd name="T17" fmla="*/ 2800 h 3776"/>
                <a:gd name="T18" fmla="*/ 272 w 3832"/>
                <a:gd name="T19" fmla="*/ 2224 h 3776"/>
                <a:gd name="T20" fmla="*/ 896 w 3832"/>
                <a:gd name="T21" fmla="*/ 1984 h 3776"/>
                <a:gd name="T22" fmla="*/ 1136 w 3832"/>
                <a:gd name="T23" fmla="*/ 1552 h 3776"/>
                <a:gd name="T24" fmla="*/ 1136 w 3832"/>
                <a:gd name="T25" fmla="*/ 544 h 3776"/>
                <a:gd name="T26" fmla="*/ 1520 w 3832"/>
                <a:gd name="T27" fmla="*/ 112 h 3776"/>
                <a:gd name="T28" fmla="*/ 1952 w 3832"/>
                <a:gd name="T29" fmla="*/ 16 h 377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832"/>
                <a:gd name="T46" fmla="*/ 0 h 3776"/>
                <a:gd name="T47" fmla="*/ 3832 w 3832"/>
                <a:gd name="T48" fmla="*/ 3776 h 377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832" h="3776">
                  <a:moveTo>
                    <a:pt x="1952" y="16"/>
                  </a:moveTo>
                  <a:cubicBezTo>
                    <a:pt x="2272" y="32"/>
                    <a:pt x="3144" y="40"/>
                    <a:pt x="3440" y="208"/>
                  </a:cubicBezTo>
                  <a:cubicBezTo>
                    <a:pt x="3736" y="376"/>
                    <a:pt x="3672" y="680"/>
                    <a:pt x="3728" y="1024"/>
                  </a:cubicBezTo>
                  <a:cubicBezTo>
                    <a:pt x="3784" y="1368"/>
                    <a:pt x="3776" y="1896"/>
                    <a:pt x="3776" y="2272"/>
                  </a:cubicBezTo>
                  <a:cubicBezTo>
                    <a:pt x="3776" y="2648"/>
                    <a:pt x="3832" y="3040"/>
                    <a:pt x="3728" y="3280"/>
                  </a:cubicBezTo>
                  <a:cubicBezTo>
                    <a:pt x="3624" y="3520"/>
                    <a:pt x="3536" y="3648"/>
                    <a:pt x="3152" y="3712"/>
                  </a:cubicBezTo>
                  <a:cubicBezTo>
                    <a:pt x="2768" y="3776"/>
                    <a:pt x="1872" y="3704"/>
                    <a:pt x="1424" y="3664"/>
                  </a:cubicBezTo>
                  <a:cubicBezTo>
                    <a:pt x="976" y="3624"/>
                    <a:pt x="696" y="3616"/>
                    <a:pt x="464" y="3472"/>
                  </a:cubicBezTo>
                  <a:cubicBezTo>
                    <a:pt x="232" y="3328"/>
                    <a:pt x="64" y="3008"/>
                    <a:pt x="32" y="2800"/>
                  </a:cubicBezTo>
                  <a:cubicBezTo>
                    <a:pt x="0" y="2592"/>
                    <a:pt x="128" y="2360"/>
                    <a:pt x="272" y="2224"/>
                  </a:cubicBezTo>
                  <a:cubicBezTo>
                    <a:pt x="416" y="2088"/>
                    <a:pt x="752" y="2096"/>
                    <a:pt x="896" y="1984"/>
                  </a:cubicBezTo>
                  <a:cubicBezTo>
                    <a:pt x="1040" y="1872"/>
                    <a:pt x="1096" y="1792"/>
                    <a:pt x="1136" y="1552"/>
                  </a:cubicBezTo>
                  <a:cubicBezTo>
                    <a:pt x="1176" y="1312"/>
                    <a:pt x="1072" y="784"/>
                    <a:pt x="1136" y="544"/>
                  </a:cubicBezTo>
                  <a:cubicBezTo>
                    <a:pt x="1200" y="304"/>
                    <a:pt x="1384" y="200"/>
                    <a:pt x="1520" y="112"/>
                  </a:cubicBezTo>
                  <a:cubicBezTo>
                    <a:pt x="1656" y="24"/>
                    <a:pt x="1632" y="0"/>
                    <a:pt x="1952" y="16"/>
                  </a:cubicBezTo>
                  <a:close/>
                </a:path>
              </a:pathLst>
            </a:custGeom>
            <a:noFill/>
            <a:ln w="1905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extLst>
      <p:ext uri="{BB962C8B-B14F-4D97-AF65-F5344CB8AC3E}">
        <p14:creationId xmlns:p14="http://schemas.microsoft.com/office/powerpoint/2010/main" val="415760051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38100"/>
            <a:ext cx="9067800" cy="800100"/>
          </a:xfrm>
          <a:noFill/>
        </p:spPr>
        <p:txBody>
          <a:bodyPr lIns="90488" tIns="44450" rIns="90488" bIns="44450" anchor="b"/>
          <a:lstStyle/>
          <a:p>
            <a:pPr eaLnBrk="1" hangingPunct="1"/>
            <a:r>
              <a:rPr lang="zh-CN" altLang="en-US" b="1" smtClean="0">
                <a:solidFill>
                  <a:schemeClr val="accent2"/>
                </a:solidFill>
                <a:ea typeface="楷体_GB2312" pitchFamily="49" charset="-122"/>
              </a:rPr>
              <a:t>属性种类</a:t>
            </a:r>
          </a:p>
        </p:txBody>
      </p:sp>
      <p:sp>
        <p:nvSpPr>
          <p:cNvPr id="32771" name="Rectangle 3"/>
          <p:cNvSpPr>
            <a:spLocks noGrp="1" noChangeArrowheads="1"/>
          </p:cNvSpPr>
          <p:nvPr>
            <p:ph type="body" idx="1"/>
          </p:nvPr>
        </p:nvSpPr>
        <p:spPr>
          <a:xfrm>
            <a:off x="533400" y="1371600"/>
            <a:ext cx="5567363" cy="5334000"/>
          </a:xfrm>
          <a:noFill/>
        </p:spPr>
        <p:txBody>
          <a:bodyPr lIns="90488" tIns="44450" rIns="90488" bIns="44450"/>
          <a:lstStyle/>
          <a:p>
            <a:pPr eaLnBrk="1" hangingPunct="1">
              <a:lnSpc>
                <a:spcPct val="120000"/>
              </a:lnSpc>
            </a:pPr>
            <a:r>
              <a:rPr lang="en-US" altLang="zh-CN" sz="2800" smtClean="0"/>
              <a:t> </a:t>
            </a:r>
            <a:r>
              <a:rPr lang="zh-CN" altLang="en-US" sz="2800" b="1" u="sng" smtClean="0">
                <a:ea typeface="楷体_GB2312" pitchFamily="49" charset="-122"/>
              </a:rPr>
              <a:t>命名</a:t>
            </a:r>
            <a:r>
              <a:rPr lang="en-US" altLang="zh-CN" sz="2800" smtClean="0"/>
              <a:t>: </a:t>
            </a:r>
          </a:p>
          <a:p>
            <a:pPr lvl="1" eaLnBrk="1" hangingPunct="1">
              <a:lnSpc>
                <a:spcPct val="120000"/>
              </a:lnSpc>
            </a:pPr>
            <a:r>
              <a:rPr lang="zh-CN" altLang="en-US" sz="2400" b="1" smtClean="0">
                <a:ea typeface="楷体_GB2312" pitchFamily="49" charset="-122"/>
              </a:rPr>
              <a:t>对每个对象都是固定的（</a:t>
            </a:r>
            <a:r>
              <a:rPr lang="en-US" altLang="zh-CN" sz="2400" b="1" smtClean="0">
                <a:ea typeface="楷体_GB2312" pitchFamily="49" charset="-122"/>
              </a:rPr>
              <a:t>java</a:t>
            </a:r>
            <a:r>
              <a:rPr lang="zh-CN" altLang="en-US" sz="2400" b="1" smtClean="0">
                <a:ea typeface="楷体_GB2312" pitchFamily="49" charset="-122"/>
              </a:rPr>
              <a:t>中</a:t>
            </a:r>
            <a:r>
              <a:rPr lang="en-US" altLang="zh-CN" sz="2400" b="1" smtClean="0">
                <a:ea typeface="楷体_GB2312" pitchFamily="49" charset="-122"/>
              </a:rPr>
              <a:t>final</a:t>
            </a:r>
            <a:r>
              <a:rPr lang="zh-CN" altLang="en-US" sz="2400" b="1" smtClean="0">
                <a:ea typeface="楷体_GB2312" pitchFamily="49" charset="-122"/>
              </a:rPr>
              <a:t>类型）</a:t>
            </a:r>
          </a:p>
          <a:p>
            <a:pPr lvl="1" eaLnBrk="1" hangingPunct="1">
              <a:lnSpc>
                <a:spcPct val="120000"/>
              </a:lnSpc>
            </a:pPr>
            <a:r>
              <a:rPr lang="zh-CN" altLang="en-US" sz="2400" b="1" smtClean="0">
                <a:ea typeface="楷体_GB2312" pitchFamily="49" charset="-122"/>
              </a:rPr>
              <a:t>区分个体</a:t>
            </a:r>
          </a:p>
          <a:p>
            <a:pPr eaLnBrk="1" hangingPunct="1">
              <a:lnSpc>
                <a:spcPct val="120000"/>
              </a:lnSpc>
            </a:pPr>
            <a:r>
              <a:rPr lang="zh-CN" altLang="en-US" sz="2800" smtClean="0"/>
              <a:t> </a:t>
            </a:r>
            <a:r>
              <a:rPr lang="zh-CN" altLang="en-US" sz="2800" b="1" u="sng" smtClean="0">
                <a:ea typeface="楷体_GB2312" pitchFamily="49" charset="-122"/>
              </a:rPr>
              <a:t>描述</a:t>
            </a:r>
            <a:r>
              <a:rPr lang="en-US" altLang="zh-CN" sz="2800" smtClean="0"/>
              <a:t>: </a:t>
            </a:r>
          </a:p>
          <a:p>
            <a:pPr lvl="1" eaLnBrk="1" hangingPunct="1">
              <a:lnSpc>
                <a:spcPct val="120000"/>
              </a:lnSpc>
            </a:pPr>
            <a:r>
              <a:rPr lang="zh-CN" altLang="en-US" sz="2400" b="1" smtClean="0">
                <a:ea typeface="楷体_GB2312" pitchFamily="49" charset="-122"/>
              </a:rPr>
              <a:t>随对象的生存期变化</a:t>
            </a:r>
          </a:p>
          <a:p>
            <a:pPr eaLnBrk="1" hangingPunct="1">
              <a:lnSpc>
                <a:spcPct val="120000"/>
              </a:lnSpc>
            </a:pPr>
            <a:r>
              <a:rPr lang="zh-CN" altLang="en-US" smtClean="0"/>
              <a:t> </a:t>
            </a:r>
            <a:r>
              <a:rPr lang="zh-CN" altLang="en-US" sz="2800" b="1" u="sng" smtClean="0">
                <a:ea typeface="楷体_GB2312" pitchFamily="49" charset="-122"/>
              </a:rPr>
              <a:t>引用</a:t>
            </a:r>
            <a:r>
              <a:rPr lang="en-US" altLang="zh-CN" sz="2800" smtClean="0"/>
              <a:t>: </a:t>
            </a:r>
          </a:p>
          <a:p>
            <a:pPr lvl="1" eaLnBrk="1" hangingPunct="1">
              <a:lnSpc>
                <a:spcPct val="120000"/>
              </a:lnSpc>
            </a:pPr>
            <a:r>
              <a:rPr lang="zh-CN" altLang="en-US" sz="2400" b="1" smtClean="0">
                <a:ea typeface="楷体_GB2312" pitchFamily="49" charset="-122"/>
              </a:rPr>
              <a:t>将一个类的实例和另一个类的实例绑定</a:t>
            </a:r>
          </a:p>
          <a:p>
            <a:pPr lvl="1" eaLnBrk="1" hangingPunct="1">
              <a:lnSpc>
                <a:spcPct val="120000"/>
              </a:lnSpc>
            </a:pPr>
            <a:r>
              <a:rPr lang="en-US" altLang="zh-CN" sz="2400" smtClean="0"/>
              <a:t>== </a:t>
            </a:r>
            <a:r>
              <a:rPr lang="zh-CN" altLang="en-US" sz="2400" b="1" smtClean="0">
                <a:ea typeface="楷体_GB2312" pitchFamily="49" charset="-122"/>
              </a:rPr>
              <a:t>聚合</a:t>
            </a:r>
          </a:p>
        </p:txBody>
      </p:sp>
      <p:sp>
        <p:nvSpPr>
          <p:cNvPr id="11268" name="Rectangle 4"/>
          <p:cNvSpPr>
            <a:spLocks noChangeArrowheads="1"/>
          </p:cNvSpPr>
          <p:nvPr/>
        </p:nvSpPr>
        <p:spPr bwMode="auto">
          <a:xfrm>
            <a:off x="6557963" y="2045081"/>
            <a:ext cx="1411925" cy="234397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274320" tIns="136525" rIns="92075" bIns="136525" anchor="ctr">
            <a:spAutoFit/>
          </a:bodyPr>
          <a:lstStyle/>
          <a:p>
            <a:pPr eaLnBrk="0" hangingPunct="0">
              <a:lnSpc>
                <a:spcPct val="140000"/>
              </a:lnSpc>
            </a:pPr>
            <a:r>
              <a:rPr kumimoji="0" lang="en-US" altLang="zh-CN" sz="2400" u="sng" dirty="0">
                <a:latin typeface="Arial Narrow" pitchFamily="34" charset="0"/>
                <a:ea typeface="宋体" charset="-122"/>
              </a:rPr>
              <a:t>Auto </a:t>
            </a:r>
            <a:r>
              <a:rPr kumimoji="0" lang="en-US" altLang="zh-CN" sz="2400" u="sng" dirty="0" smtClean="0">
                <a:latin typeface="Arial Narrow" pitchFamily="34" charset="0"/>
                <a:ea typeface="宋体" charset="-122"/>
              </a:rPr>
              <a:t>      </a:t>
            </a:r>
            <a:endParaRPr kumimoji="0" lang="en-US" altLang="zh-CN" sz="2400" dirty="0">
              <a:latin typeface="Arial Narrow" pitchFamily="34" charset="0"/>
              <a:ea typeface="宋体" charset="-122"/>
            </a:endParaRPr>
          </a:p>
          <a:p>
            <a:pPr eaLnBrk="0" hangingPunct="0">
              <a:lnSpc>
                <a:spcPct val="140000"/>
              </a:lnSpc>
            </a:pPr>
            <a:r>
              <a:rPr kumimoji="0" lang="en-US" altLang="zh-CN" sz="2400" dirty="0" err="1">
                <a:latin typeface="Arial Narrow" pitchFamily="34" charset="0"/>
                <a:ea typeface="宋体" charset="-122"/>
              </a:rPr>
              <a:t>vehicleID</a:t>
            </a:r>
            <a:endParaRPr kumimoji="0" lang="en-US" altLang="zh-CN" sz="2400" dirty="0">
              <a:latin typeface="Arial Narrow" pitchFamily="34" charset="0"/>
              <a:ea typeface="宋体" charset="-122"/>
            </a:endParaRPr>
          </a:p>
          <a:p>
            <a:pPr eaLnBrk="0" hangingPunct="0">
              <a:lnSpc>
                <a:spcPct val="140000"/>
              </a:lnSpc>
            </a:pPr>
            <a:r>
              <a:rPr kumimoji="0" lang="en-US" altLang="zh-CN" sz="2400" dirty="0">
                <a:latin typeface="Arial Narrow" pitchFamily="34" charset="0"/>
                <a:ea typeface="宋体" charset="-122"/>
              </a:rPr>
              <a:t>mileage</a:t>
            </a:r>
          </a:p>
          <a:p>
            <a:pPr eaLnBrk="0" hangingPunct="0">
              <a:lnSpc>
                <a:spcPct val="140000"/>
              </a:lnSpc>
            </a:pPr>
            <a:r>
              <a:rPr kumimoji="0" lang="en-US" altLang="zh-CN" sz="2400" dirty="0">
                <a:latin typeface="Arial Narrow" pitchFamily="34" charset="0"/>
                <a:ea typeface="宋体" charset="-122"/>
              </a:rPr>
              <a:t>owner</a:t>
            </a:r>
          </a:p>
        </p:txBody>
      </p:sp>
      <p:sp>
        <p:nvSpPr>
          <p:cNvPr id="11269" name="Line 5"/>
          <p:cNvSpPr>
            <a:spLocks noChangeShapeType="1"/>
          </p:cNvSpPr>
          <p:nvPr/>
        </p:nvSpPr>
        <p:spPr bwMode="auto">
          <a:xfrm>
            <a:off x="5715000" y="2286000"/>
            <a:ext cx="990600" cy="55086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0" name="Line 6"/>
          <p:cNvSpPr>
            <a:spLocks noChangeShapeType="1"/>
          </p:cNvSpPr>
          <p:nvPr/>
        </p:nvSpPr>
        <p:spPr bwMode="auto">
          <a:xfrm flipV="1">
            <a:off x="3657600" y="3675063"/>
            <a:ext cx="3200400" cy="5873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1" name="Line 7"/>
          <p:cNvSpPr>
            <a:spLocks noChangeShapeType="1"/>
          </p:cNvSpPr>
          <p:nvPr/>
        </p:nvSpPr>
        <p:spPr bwMode="auto">
          <a:xfrm flipV="1">
            <a:off x="2971800" y="4495800"/>
            <a:ext cx="403860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31433898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wipe(left)">
                                      <p:cBhvr>
                                        <p:cTn id="7" dur="500"/>
                                        <p:tgtEl>
                                          <p:spTgt spid="32771">
                                            <p:txEl>
                                              <p:pRg st="0" end="0"/>
                                            </p:txEl>
                                          </p:spTgt>
                                        </p:tgtEl>
                                      </p:cBhvr>
                                    </p:animEffect>
                                  </p:childTnLst>
                                  <p:subTnLst>
                                    <p:animClr clrSpc="rgb" dir="cw">
                                      <p:cBhvr override="childStyle">
                                        <p:cTn dur="1" fill="hold" display="0" masterRel="nextClick" afterEffect="1"/>
                                        <p:tgtEl>
                                          <p:spTgt spid="32771">
                                            <p:txEl>
                                              <p:pRg st="0" end="0"/>
                                            </p:txEl>
                                          </p:spTgt>
                                        </p:tgtEl>
                                        <p:attrNameLst>
                                          <p:attrName>ppt_c</p:attrName>
                                        </p:attrNameLst>
                                      </p:cBhvr>
                                      <p:to>
                                        <a:srgbClr val="676767"/>
                                      </p:to>
                                    </p:animClr>
                                  </p:subTnLst>
                                </p:cTn>
                              </p:par>
                              <p:par>
                                <p:cTn id="8" presetID="22" presetClass="entr" presetSubtype="8" fill="hold" grpId="0" nodeType="withEffect">
                                  <p:stCondLst>
                                    <p:cond delay="0"/>
                                  </p:stCondLst>
                                  <p:childTnLst>
                                    <p:set>
                                      <p:cBhvr>
                                        <p:cTn id="9" dur="1" fill="hold">
                                          <p:stCondLst>
                                            <p:cond delay="0"/>
                                          </p:stCondLst>
                                        </p:cTn>
                                        <p:tgtEl>
                                          <p:spTgt spid="32771">
                                            <p:txEl>
                                              <p:pRg st="1" end="1"/>
                                            </p:txEl>
                                          </p:spTgt>
                                        </p:tgtEl>
                                        <p:attrNameLst>
                                          <p:attrName>style.visibility</p:attrName>
                                        </p:attrNameLst>
                                      </p:cBhvr>
                                      <p:to>
                                        <p:strVal val="visible"/>
                                      </p:to>
                                    </p:set>
                                    <p:animEffect transition="in" filter="wipe(left)">
                                      <p:cBhvr>
                                        <p:cTn id="10" dur="500"/>
                                        <p:tgtEl>
                                          <p:spTgt spid="32771">
                                            <p:txEl>
                                              <p:pRg st="1" end="1"/>
                                            </p:txEl>
                                          </p:spTgt>
                                        </p:tgtEl>
                                      </p:cBhvr>
                                    </p:animEffect>
                                  </p:childTnLst>
                                  <p:subTnLst>
                                    <p:animClr clrSpc="rgb" dir="cw">
                                      <p:cBhvr override="childStyle">
                                        <p:cTn dur="1" fill="hold" display="0" masterRel="nextClick" afterEffect="1"/>
                                        <p:tgtEl>
                                          <p:spTgt spid="32771">
                                            <p:txEl>
                                              <p:pRg st="1" end="1"/>
                                            </p:txEl>
                                          </p:spTgt>
                                        </p:tgtEl>
                                        <p:attrNameLst>
                                          <p:attrName>ppt_c</p:attrName>
                                        </p:attrNameLst>
                                      </p:cBhvr>
                                      <p:to>
                                        <a:srgbClr val="676767"/>
                                      </p:to>
                                    </p:animClr>
                                  </p:subTnLst>
                                </p:cTn>
                              </p:par>
                              <p:par>
                                <p:cTn id="11" presetID="22" presetClass="entr" presetSubtype="8" fill="hold" grpId="0" nodeType="withEffect">
                                  <p:stCondLst>
                                    <p:cond delay="0"/>
                                  </p:stCondLst>
                                  <p:childTnLst>
                                    <p:set>
                                      <p:cBhvr>
                                        <p:cTn id="12" dur="1" fill="hold">
                                          <p:stCondLst>
                                            <p:cond delay="0"/>
                                          </p:stCondLst>
                                        </p:cTn>
                                        <p:tgtEl>
                                          <p:spTgt spid="32771">
                                            <p:txEl>
                                              <p:pRg st="2" end="2"/>
                                            </p:txEl>
                                          </p:spTgt>
                                        </p:tgtEl>
                                        <p:attrNameLst>
                                          <p:attrName>style.visibility</p:attrName>
                                        </p:attrNameLst>
                                      </p:cBhvr>
                                      <p:to>
                                        <p:strVal val="visible"/>
                                      </p:to>
                                    </p:set>
                                    <p:animEffect transition="in" filter="wipe(left)">
                                      <p:cBhvr>
                                        <p:cTn id="13" dur="500"/>
                                        <p:tgtEl>
                                          <p:spTgt spid="32771">
                                            <p:txEl>
                                              <p:pRg st="2" end="2"/>
                                            </p:txEl>
                                          </p:spTgt>
                                        </p:tgtEl>
                                      </p:cBhvr>
                                    </p:animEffect>
                                  </p:childTnLst>
                                  <p:subTnLst>
                                    <p:animClr clrSpc="rgb" dir="cw">
                                      <p:cBhvr override="childStyle">
                                        <p:cTn dur="1" fill="hold" display="0" masterRel="nextClick" afterEffect="1"/>
                                        <p:tgtEl>
                                          <p:spTgt spid="32771">
                                            <p:txEl>
                                              <p:pRg st="2" end="2"/>
                                            </p:txEl>
                                          </p:spTgt>
                                        </p:tgtEl>
                                        <p:attrNameLst>
                                          <p:attrName>ppt_c</p:attrName>
                                        </p:attrNameLst>
                                      </p:cBhvr>
                                      <p:to>
                                        <a:srgbClr val="676767"/>
                                      </p:to>
                                    </p:animClr>
                                  </p:sub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2771">
                                            <p:txEl>
                                              <p:pRg st="3" end="3"/>
                                            </p:txEl>
                                          </p:spTgt>
                                        </p:tgtEl>
                                        <p:attrNameLst>
                                          <p:attrName>style.visibility</p:attrName>
                                        </p:attrNameLst>
                                      </p:cBhvr>
                                      <p:to>
                                        <p:strVal val="visible"/>
                                      </p:to>
                                    </p:set>
                                    <p:animEffect transition="in" filter="wipe(left)">
                                      <p:cBhvr>
                                        <p:cTn id="18" dur="500"/>
                                        <p:tgtEl>
                                          <p:spTgt spid="32771">
                                            <p:txEl>
                                              <p:pRg st="3" end="3"/>
                                            </p:txEl>
                                          </p:spTgt>
                                        </p:tgtEl>
                                      </p:cBhvr>
                                    </p:animEffect>
                                  </p:childTnLst>
                                  <p:subTnLst>
                                    <p:animClr clrSpc="rgb" dir="cw">
                                      <p:cBhvr override="childStyle">
                                        <p:cTn dur="1" fill="hold" display="0" masterRel="nextClick" afterEffect="1"/>
                                        <p:tgtEl>
                                          <p:spTgt spid="32771">
                                            <p:txEl>
                                              <p:pRg st="3" end="3"/>
                                            </p:txEl>
                                          </p:spTgt>
                                        </p:tgtEl>
                                        <p:attrNameLst>
                                          <p:attrName>ppt_c</p:attrName>
                                        </p:attrNameLst>
                                      </p:cBhvr>
                                      <p:to>
                                        <a:srgbClr val="676767"/>
                                      </p:to>
                                    </p:animClr>
                                  </p:subTnLst>
                                </p:cTn>
                              </p:par>
                              <p:par>
                                <p:cTn id="19" presetID="22" presetClass="entr" presetSubtype="8" fill="hold" grpId="0" nodeType="withEffect">
                                  <p:stCondLst>
                                    <p:cond delay="0"/>
                                  </p:stCondLst>
                                  <p:childTnLst>
                                    <p:set>
                                      <p:cBhvr>
                                        <p:cTn id="20" dur="1" fill="hold">
                                          <p:stCondLst>
                                            <p:cond delay="0"/>
                                          </p:stCondLst>
                                        </p:cTn>
                                        <p:tgtEl>
                                          <p:spTgt spid="32771">
                                            <p:txEl>
                                              <p:pRg st="4" end="4"/>
                                            </p:txEl>
                                          </p:spTgt>
                                        </p:tgtEl>
                                        <p:attrNameLst>
                                          <p:attrName>style.visibility</p:attrName>
                                        </p:attrNameLst>
                                      </p:cBhvr>
                                      <p:to>
                                        <p:strVal val="visible"/>
                                      </p:to>
                                    </p:set>
                                    <p:animEffect transition="in" filter="wipe(left)">
                                      <p:cBhvr>
                                        <p:cTn id="21" dur="500"/>
                                        <p:tgtEl>
                                          <p:spTgt spid="32771">
                                            <p:txEl>
                                              <p:pRg st="4" end="4"/>
                                            </p:txEl>
                                          </p:spTgt>
                                        </p:tgtEl>
                                      </p:cBhvr>
                                    </p:animEffect>
                                  </p:childTnLst>
                                  <p:subTnLst>
                                    <p:animClr clrSpc="rgb" dir="cw">
                                      <p:cBhvr override="childStyle">
                                        <p:cTn dur="1" fill="hold" display="0" masterRel="nextClick" afterEffect="1"/>
                                        <p:tgtEl>
                                          <p:spTgt spid="32771">
                                            <p:txEl>
                                              <p:pRg st="4" end="4"/>
                                            </p:txEl>
                                          </p:spTgt>
                                        </p:tgtEl>
                                        <p:attrNameLst>
                                          <p:attrName>ppt_c</p:attrName>
                                        </p:attrNameLst>
                                      </p:cBhvr>
                                      <p:to>
                                        <a:srgbClr val="676767"/>
                                      </p:to>
                                    </p:animClr>
                                  </p:sub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2771">
                                            <p:txEl>
                                              <p:pRg st="5" end="5"/>
                                            </p:txEl>
                                          </p:spTgt>
                                        </p:tgtEl>
                                        <p:attrNameLst>
                                          <p:attrName>style.visibility</p:attrName>
                                        </p:attrNameLst>
                                      </p:cBhvr>
                                      <p:to>
                                        <p:strVal val="visible"/>
                                      </p:to>
                                    </p:set>
                                    <p:animEffect transition="in" filter="wipe(left)">
                                      <p:cBhvr>
                                        <p:cTn id="26" dur="500"/>
                                        <p:tgtEl>
                                          <p:spTgt spid="32771">
                                            <p:txEl>
                                              <p:pRg st="5" end="5"/>
                                            </p:txEl>
                                          </p:spTgt>
                                        </p:tgtEl>
                                      </p:cBhvr>
                                    </p:animEffect>
                                  </p:childTnLst>
                                  <p:subTnLst>
                                    <p:animClr clrSpc="rgb" dir="cw">
                                      <p:cBhvr override="childStyle">
                                        <p:cTn dur="1" fill="hold" display="0" masterRel="nextClick" afterEffect="1"/>
                                        <p:tgtEl>
                                          <p:spTgt spid="32771">
                                            <p:txEl>
                                              <p:pRg st="5" end="5"/>
                                            </p:txEl>
                                          </p:spTgt>
                                        </p:tgtEl>
                                        <p:attrNameLst>
                                          <p:attrName>ppt_c</p:attrName>
                                        </p:attrNameLst>
                                      </p:cBhvr>
                                      <p:to>
                                        <a:srgbClr val="676767"/>
                                      </p:to>
                                    </p:animClr>
                                  </p:subTnLst>
                                </p:cTn>
                              </p:par>
                              <p:par>
                                <p:cTn id="27" presetID="22" presetClass="entr" presetSubtype="8" fill="hold" grpId="0" nodeType="withEffect">
                                  <p:stCondLst>
                                    <p:cond delay="0"/>
                                  </p:stCondLst>
                                  <p:childTnLst>
                                    <p:set>
                                      <p:cBhvr>
                                        <p:cTn id="28" dur="1" fill="hold">
                                          <p:stCondLst>
                                            <p:cond delay="0"/>
                                          </p:stCondLst>
                                        </p:cTn>
                                        <p:tgtEl>
                                          <p:spTgt spid="32771">
                                            <p:txEl>
                                              <p:pRg st="6" end="6"/>
                                            </p:txEl>
                                          </p:spTgt>
                                        </p:tgtEl>
                                        <p:attrNameLst>
                                          <p:attrName>style.visibility</p:attrName>
                                        </p:attrNameLst>
                                      </p:cBhvr>
                                      <p:to>
                                        <p:strVal val="visible"/>
                                      </p:to>
                                    </p:set>
                                    <p:animEffect transition="in" filter="wipe(left)">
                                      <p:cBhvr>
                                        <p:cTn id="29" dur="500"/>
                                        <p:tgtEl>
                                          <p:spTgt spid="32771">
                                            <p:txEl>
                                              <p:pRg st="6" end="6"/>
                                            </p:txEl>
                                          </p:spTgt>
                                        </p:tgtEl>
                                      </p:cBhvr>
                                    </p:animEffect>
                                  </p:childTnLst>
                                  <p:subTnLst>
                                    <p:animClr clrSpc="rgb" dir="cw">
                                      <p:cBhvr override="childStyle">
                                        <p:cTn dur="1" fill="hold" display="0" masterRel="nextClick" afterEffect="1"/>
                                        <p:tgtEl>
                                          <p:spTgt spid="32771">
                                            <p:txEl>
                                              <p:pRg st="6" end="6"/>
                                            </p:txEl>
                                          </p:spTgt>
                                        </p:tgtEl>
                                        <p:attrNameLst>
                                          <p:attrName>ppt_c</p:attrName>
                                        </p:attrNameLst>
                                      </p:cBhvr>
                                      <p:to>
                                        <a:srgbClr val="676767"/>
                                      </p:to>
                                    </p:animClr>
                                  </p:subTnLst>
                                </p:cTn>
                              </p:par>
                              <p:par>
                                <p:cTn id="30" presetID="22" presetClass="entr" presetSubtype="8" fill="hold" grpId="0" nodeType="withEffect">
                                  <p:stCondLst>
                                    <p:cond delay="0"/>
                                  </p:stCondLst>
                                  <p:childTnLst>
                                    <p:set>
                                      <p:cBhvr>
                                        <p:cTn id="31" dur="1" fill="hold">
                                          <p:stCondLst>
                                            <p:cond delay="0"/>
                                          </p:stCondLst>
                                        </p:cTn>
                                        <p:tgtEl>
                                          <p:spTgt spid="32771">
                                            <p:txEl>
                                              <p:pRg st="7" end="7"/>
                                            </p:txEl>
                                          </p:spTgt>
                                        </p:tgtEl>
                                        <p:attrNameLst>
                                          <p:attrName>style.visibility</p:attrName>
                                        </p:attrNameLst>
                                      </p:cBhvr>
                                      <p:to>
                                        <p:strVal val="visible"/>
                                      </p:to>
                                    </p:set>
                                    <p:animEffect transition="in" filter="wipe(left)">
                                      <p:cBhvr>
                                        <p:cTn id="32" dur="500"/>
                                        <p:tgtEl>
                                          <p:spTgt spid="32771">
                                            <p:txEl>
                                              <p:pRg st="7" end="7"/>
                                            </p:txEl>
                                          </p:spTgt>
                                        </p:tgtEl>
                                      </p:cBhvr>
                                    </p:animEffect>
                                  </p:childTnLst>
                                  <p:subTnLst>
                                    <p:animClr clrSpc="rgb" dir="cw">
                                      <p:cBhvr override="childStyle">
                                        <p:cTn dur="1" fill="hold" display="0" masterRel="nextClick" afterEffect="1"/>
                                        <p:tgtEl>
                                          <p:spTgt spid="32771">
                                            <p:txEl>
                                              <p:pRg st="7" end="7"/>
                                            </p:txEl>
                                          </p:spTgt>
                                        </p:tgtEl>
                                        <p:attrNameLst>
                                          <p:attrName>ppt_c</p:attrName>
                                        </p:attrNameLst>
                                      </p:cBhvr>
                                      <p:to>
                                        <a:srgbClr val="676767"/>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面向对象中的“客户”概念</a:t>
            </a:r>
          </a:p>
        </p:txBody>
      </p:sp>
      <p:sp>
        <p:nvSpPr>
          <p:cNvPr id="12291" name="Rectangle 3"/>
          <p:cNvSpPr>
            <a:spLocks noGrp="1" noChangeArrowheads="1"/>
          </p:cNvSpPr>
          <p:nvPr>
            <p:ph type="body" idx="1"/>
          </p:nvPr>
        </p:nvSpPr>
        <p:spPr/>
        <p:txBody>
          <a:bodyPr/>
          <a:lstStyle/>
          <a:p>
            <a:pPr eaLnBrk="1" hangingPunct="1"/>
            <a:r>
              <a:rPr lang="zh-CN" altLang="en-US" b="1" smtClean="0">
                <a:ea typeface="楷体_GB2312" pitchFamily="49" charset="-122"/>
              </a:rPr>
              <a:t>在大部分应用中，一些对象（如对象</a:t>
            </a:r>
            <a:r>
              <a:rPr lang="en-US" altLang="zh-CN" b="1" smtClean="0">
                <a:ea typeface="楷体_GB2312" pitchFamily="49" charset="-122"/>
              </a:rPr>
              <a:t>o</a:t>
            </a:r>
            <a:r>
              <a:rPr lang="zh-CN" altLang="en-US" b="1" smtClean="0">
                <a:ea typeface="楷体_GB2312" pitchFamily="49" charset="-122"/>
              </a:rPr>
              <a:t>）是为</a:t>
            </a:r>
            <a:r>
              <a:rPr lang="zh-CN" altLang="en-US" b="1" i="1" smtClean="0">
                <a:solidFill>
                  <a:srgbClr val="0000CC"/>
                </a:solidFill>
                <a:ea typeface="楷体_GB2312" pitchFamily="49" charset="-122"/>
              </a:rPr>
              <a:t>其他对象</a:t>
            </a:r>
            <a:r>
              <a:rPr lang="zh-CN" altLang="en-US" b="1" smtClean="0">
                <a:ea typeface="楷体_GB2312" pitchFamily="49" charset="-122"/>
              </a:rPr>
              <a:t>提供服务而存在的，我们称这些</a:t>
            </a:r>
            <a:r>
              <a:rPr lang="zh-CN" altLang="en-US" b="1" i="1" smtClean="0">
                <a:solidFill>
                  <a:srgbClr val="0000CC"/>
                </a:solidFill>
                <a:ea typeface="楷体_GB2312" pitchFamily="49" charset="-122"/>
              </a:rPr>
              <a:t>其他对象</a:t>
            </a:r>
            <a:r>
              <a:rPr lang="zh-CN" altLang="en-US" b="1" smtClean="0">
                <a:ea typeface="楷体_GB2312" pitchFamily="49" charset="-122"/>
              </a:rPr>
              <a:t>为类</a:t>
            </a:r>
            <a:r>
              <a:rPr lang="en-US" altLang="zh-CN" b="1" smtClean="0">
                <a:ea typeface="楷体_GB2312" pitchFamily="49" charset="-122"/>
              </a:rPr>
              <a:t>o</a:t>
            </a:r>
            <a:r>
              <a:rPr lang="zh-CN" altLang="en-US" b="1" smtClean="0">
                <a:ea typeface="楷体_GB2312" pitchFamily="49" charset="-122"/>
              </a:rPr>
              <a:t>的</a:t>
            </a:r>
            <a:r>
              <a:rPr lang="zh-CN" altLang="en-US" b="1" smtClean="0">
                <a:solidFill>
                  <a:srgbClr val="FF0000"/>
                </a:solidFill>
                <a:ea typeface="楷体_GB2312" pitchFamily="49" charset="-122"/>
              </a:rPr>
              <a:t>“客户</a:t>
            </a:r>
            <a:r>
              <a:rPr lang="en-US" altLang="zh-CN" b="1" smtClean="0">
                <a:solidFill>
                  <a:srgbClr val="FF0000"/>
                </a:solidFill>
                <a:ea typeface="楷体_GB2312" pitchFamily="49" charset="-122"/>
              </a:rPr>
              <a:t>”</a:t>
            </a:r>
            <a:r>
              <a:rPr lang="zh-CN" altLang="en-US" b="1" smtClean="0">
                <a:ea typeface="楷体_GB2312" pitchFamily="49" charset="-122"/>
              </a:rPr>
              <a:t>。</a:t>
            </a:r>
          </a:p>
          <a:p>
            <a:pPr eaLnBrk="1" hangingPunct="1"/>
            <a:endParaRPr lang="zh-CN" altLang="en-US" b="1" smtClean="0">
              <a:ea typeface="楷体_GB2312" pitchFamily="49" charset="-122"/>
            </a:endParaRPr>
          </a:p>
          <a:p>
            <a:pPr eaLnBrk="1" hangingPunct="1"/>
            <a:r>
              <a:rPr lang="zh-CN" altLang="en-US" b="1" smtClean="0">
                <a:ea typeface="楷体_GB2312" pitchFamily="49" charset="-122"/>
              </a:rPr>
              <a:t>我们常说“类</a:t>
            </a:r>
            <a:r>
              <a:rPr lang="en-US" altLang="zh-CN" b="1" i="1" smtClean="0">
                <a:ea typeface="楷体_GB2312" pitchFamily="49" charset="-122"/>
              </a:rPr>
              <a:t>A</a:t>
            </a:r>
            <a:r>
              <a:rPr lang="zh-CN" altLang="en-US" b="1" smtClean="0">
                <a:ea typeface="楷体_GB2312" pitchFamily="49" charset="-122"/>
              </a:rPr>
              <a:t>是类</a:t>
            </a:r>
            <a:r>
              <a:rPr lang="en-US" altLang="zh-CN" b="1" i="1" smtClean="0">
                <a:ea typeface="楷体_GB2312" pitchFamily="49" charset="-122"/>
              </a:rPr>
              <a:t>B</a:t>
            </a:r>
            <a:r>
              <a:rPr lang="zh-CN" altLang="en-US" b="1" smtClean="0">
                <a:ea typeface="楷体_GB2312" pitchFamily="49" charset="-122"/>
              </a:rPr>
              <a:t>的客户”，或说“类</a:t>
            </a:r>
            <a:r>
              <a:rPr lang="en-US" altLang="zh-CN" b="1" i="1" smtClean="0">
                <a:ea typeface="楷体_GB2312" pitchFamily="49" charset="-122"/>
              </a:rPr>
              <a:t>B</a:t>
            </a:r>
            <a:r>
              <a:rPr lang="zh-CN" altLang="en-US" b="1" smtClean="0">
                <a:ea typeface="楷体_GB2312" pitchFamily="49" charset="-122"/>
              </a:rPr>
              <a:t>是类</a:t>
            </a:r>
            <a:r>
              <a:rPr lang="en-US" altLang="zh-CN" b="1" i="1" smtClean="0">
                <a:ea typeface="楷体_GB2312" pitchFamily="49" charset="-122"/>
              </a:rPr>
              <a:t>A</a:t>
            </a:r>
            <a:r>
              <a:rPr lang="zh-CN" altLang="en-US" b="1" smtClean="0">
                <a:ea typeface="楷体_GB2312" pitchFamily="49" charset="-122"/>
              </a:rPr>
              <a:t>的服务者”</a:t>
            </a:r>
          </a:p>
          <a:p>
            <a:pPr eaLnBrk="1" hangingPunct="1"/>
            <a:endParaRPr lang="en-US" altLang="zh-CN" b="1" smtClean="0">
              <a:ea typeface="楷体_GB2312" pitchFamily="49" charset="-122"/>
            </a:endParaRPr>
          </a:p>
        </p:txBody>
      </p:sp>
    </p:spTree>
    <p:extLst>
      <p:ext uri="{BB962C8B-B14F-4D97-AF65-F5344CB8AC3E}">
        <p14:creationId xmlns:p14="http://schemas.microsoft.com/office/powerpoint/2010/main" val="423891329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5"/>
          <p:cNvSpPr>
            <a:spLocks noGrp="1" noChangeArrowheads="1"/>
          </p:cNvSpPr>
          <p:nvPr>
            <p:ph type="title"/>
          </p:nvPr>
        </p:nvSpPr>
        <p:spPr>
          <a:xfrm>
            <a:off x="5638800" y="155575"/>
            <a:ext cx="3276600" cy="758825"/>
          </a:xfrm>
          <a:noFill/>
        </p:spPr>
        <p:txBody>
          <a:bodyPr lIns="90488" tIns="44450" rIns="90488" bIns="44450" anchor="b">
            <a:spAutoFit/>
          </a:bodyPr>
          <a:lstStyle/>
          <a:p>
            <a:pPr eaLnBrk="1" hangingPunct="1"/>
            <a:r>
              <a:rPr lang="zh-CN" altLang="en-US" b="1" smtClean="0">
                <a:solidFill>
                  <a:schemeClr val="accent2"/>
                </a:solidFill>
                <a:latin typeface="楷体_GB2312" pitchFamily="49" charset="-122"/>
                <a:ea typeface="楷体_GB2312" pitchFamily="49" charset="-122"/>
              </a:rPr>
              <a:t>类的客户</a:t>
            </a:r>
          </a:p>
        </p:txBody>
      </p:sp>
      <p:sp>
        <p:nvSpPr>
          <p:cNvPr id="13315" name="AutoShape 6" descr="Recycled paper"/>
          <p:cNvSpPr>
            <a:spLocks noChangeArrowheads="1"/>
          </p:cNvSpPr>
          <p:nvPr/>
        </p:nvSpPr>
        <p:spPr bwMode="auto">
          <a:xfrm>
            <a:off x="304800" y="304800"/>
            <a:ext cx="3408363" cy="2362200"/>
          </a:xfrm>
          <a:prstGeom prst="foldedCorner">
            <a:avLst>
              <a:gd name="adj" fmla="val 12500"/>
            </a:avLst>
          </a:prstGeom>
          <a:blipFill dpi="0" rotWithShape="0">
            <a:blip r:embed="rId2"/>
            <a:srcRect/>
            <a:tile tx="0" ty="0" sx="100000" sy="100000" flip="none" algn="tl"/>
          </a:blipFill>
          <a:ln w="19050">
            <a:solidFill>
              <a:schemeClr val="tx1"/>
            </a:solidFill>
            <a:round/>
            <a:headEnd/>
            <a:tailEnd/>
          </a:ln>
        </p:spPr>
        <p:txBody>
          <a:bodyPr wrap="none"/>
          <a:lstStyle/>
          <a:p>
            <a:pPr algn="l" eaLnBrk="0" hangingPunct="0">
              <a:spcBef>
                <a:spcPct val="0"/>
              </a:spcBef>
            </a:pPr>
            <a:r>
              <a:rPr kumimoji="0" lang="en-US" altLang="zh-CN" sz="2400" b="0">
                <a:latin typeface="Arial Narrow" pitchFamily="34" charset="0"/>
                <a:ea typeface="宋体" charset="-122"/>
              </a:rPr>
              <a:t>class Customer        </a:t>
            </a:r>
            <a:r>
              <a:rPr kumimoji="0" lang="zh-CN" altLang="en-US" sz="2400" u="sng">
                <a:latin typeface="Arial Narrow" pitchFamily="34" charset="0"/>
              </a:rPr>
              <a:t>服务者</a:t>
            </a:r>
          </a:p>
          <a:p>
            <a:pPr algn="l" eaLnBrk="0" hangingPunct="0">
              <a:spcBef>
                <a:spcPct val="0"/>
              </a:spcBef>
            </a:pPr>
            <a:r>
              <a:rPr kumimoji="0" lang="en-US" altLang="zh-CN" sz="2400" b="0">
                <a:latin typeface="Arial Narrow" pitchFamily="34" charset="0"/>
                <a:ea typeface="宋体" charset="-122"/>
              </a:rPr>
              <a:t>{ . . . </a:t>
            </a:r>
          </a:p>
          <a:p>
            <a:pPr algn="l" eaLnBrk="0" hangingPunct="0">
              <a:spcBef>
                <a:spcPct val="0"/>
              </a:spcBef>
            </a:pPr>
            <a:r>
              <a:rPr kumimoji="0" lang="en-US" altLang="zh-CN" sz="2400" b="0">
                <a:latin typeface="Arial Narrow" pitchFamily="34" charset="0"/>
                <a:ea typeface="宋体" charset="-122"/>
              </a:rPr>
              <a:t>   String getName() { … }</a:t>
            </a:r>
          </a:p>
          <a:p>
            <a:pPr algn="l" eaLnBrk="0" hangingPunct="0">
              <a:spcBef>
                <a:spcPct val="0"/>
              </a:spcBef>
            </a:pPr>
            <a:r>
              <a:rPr kumimoji="0" lang="en-US" altLang="zh-CN" sz="2400" b="0">
                <a:latin typeface="Arial Narrow" pitchFamily="34" charset="0"/>
                <a:ea typeface="宋体" charset="-122"/>
              </a:rPr>
              <a:t>   int computeBalance() { … }</a:t>
            </a:r>
          </a:p>
          <a:p>
            <a:pPr algn="l" eaLnBrk="0" hangingPunct="0">
              <a:spcBef>
                <a:spcPct val="0"/>
              </a:spcBef>
            </a:pPr>
            <a:r>
              <a:rPr kumimoji="0" lang="en-US" altLang="zh-CN" sz="2400" b="0">
                <a:latin typeface="Arial Narrow" pitchFamily="34" charset="0"/>
                <a:ea typeface="宋体" charset="-122"/>
              </a:rPr>
              <a:t>. . .</a:t>
            </a:r>
          </a:p>
          <a:p>
            <a:pPr algn="l" eaLnBrk="0" hangingPunct="0">
              <a:spcBef>
                <a:spcPct val="0"/>
              </a:spcBef>
            </a:pPr>
            <a:r>
              <a:rPr kumimoji="0" lang="en-US" altLang="zh-CN" sz="2400" b="0">
                <a:latin typeface="Arial Narrow" pitchFamily="34" charset="0"/>
                <a:ea typeface="宋体" charset="-122"/>
              </a:rPr>
              <a:t>}</a:t>
            </a:r>
          </a:p>
        </p:txBody>
      </p:sp>
      <p:sp>
        <p:nvSpPr>
          <p:cNvPr id="13316" name="AutoShape 7"/>
          <p:cNvSpPr>
            <a:spLocks noChangeArrowheads="1"/>
          </p:cNvSpPr>
          <p:nvPr/>
        </p:nvSpPr>
        <p:spPr bwMode="auto">
          <a:xfrm>
            <a:off x="304800" y="3481388"/>
            <a:ext cx="4073525" cy="3071812"/>
          </a:xfrm>
          <a:prstGeom prst="foldedCorner">
            <a:avLst>
              <a:gd name="adj" fmla="val 125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rIns="0" bIns="0"/>
          <a:lstStyle/>
          <a:p>
            <a:pPr algn="l" eaLnBrk="0" hangingPunct="0">
              <a:spcBef>
                <a:spcPct val="0"/>
              </a:spcBef>
            </a:pPr>
            <a:r>
              <a:rPr kumimoji="0" lang="en-US" altLang="zh-CN" sz="2400" b="0">
                <a:latin typeface="Arial Narrow" pitchFamily="34" charset="0"/>
                <a:ea typeface="宋体" charset="-122"/>
              </a:rPr>
              <a:t>class AjaxWebsiteGenerator</a:t>
            </a:r>
          </a:p>
          <a:p>
            <a:pPr algn="l" eaLnBrk="0" hangingPunct="0">
              <a:spcBef>
                <a:spcPct val="0"/>
              </a:spcBef>
            </a:pPr>
            <a:r>
              <a:rPr kumimoji="0" lang="en-US" altLang="zh-CN" sz="2400" b="0">
                <a:latin typeface="Arial Narrow" pitchFamily="34" charset="0"/>
                <a:ea typeface="宋体" charset="-122"/>
              </a:rPr>
              <a:t>{ . . . </a:t>
            </a:r>
          </a:p>
          <a:p>
            <a:pPr algn="l" eaLnBrk="0" hangingPunct="0">
              <a:spcBef>
                <a:spcPct val="0"/>
              </a:spcBef>
            </a:pPr>
            <a:r>
              <a:rPr kumimoji="0" lang="en-US" altLang="zh-CN" sz="2400" b="0">
                <a:latin typeface="Arial Narrow" pitchFamily="34" charset="0"/>
                <a:ea typeface="宋体" charset="-122"/>
              </a:rPr>
              <a:t>   void makeProfile( </a:t>
            </a:r>
            <a:r>
              <a:rPr kumimoji="0" lang="en-US" altLang="zh-CN" sz="2400" b="0" u="sng">
                <a:solidFill>
                  <a:srgbClr val="FF0000"/>
                </a:solidFill>
                <a:latin typeface="Arial Narrow" pitchFamily="34" charset="0"/>
                <a:ea typeface="宋体" charset="-122"/>
              </a:rPr>
              <a:t>Customer</a:t>
            </a:r>
            <a:r>
              <a:rPr kumimoji="0" lang="en-US" altLang="zh-CN" sz="2400" b="0">
                <a:solidFill>
                  <a:srgbClr val="FF0000"/>
                </a:solidFill>
                <a:latin typeface="Arial Narrow" pitchFamily="34" charset="0"/>
                <a:ea typeface="宋体" charset="-122"/>
              </a:rPr>
              <a:t> c</a:t>
            </a:r>
            <a:r>
              <a:rPr kumimoji="0" lang="en-US" altLang="zh-CN" sz="2400" b="0">
                <a:latin typeface="Arial Narrow" pitchFamily="34" charset="0"/>
                <a:ea typeface="宋体" charset="-122"/>
              </a:rPr>
              <a:t> ) </a:t>
            </a:r>
          </a:p>
          <a:p>
            <a:pPr algn="l" eaLnBrk="0" hangingPunct="0">
              <a:spcBef>
                <a:spcPct val="0"/>
              </a:spcBef>
            </a:pPr>
            <a:r>
              <a:rPr kumimoji="0" lang="en-US" altLang="zh-CN" sz="2400" b="0">
                <a:latin typeface="Arial Narrow" pitchFamily="34" charset="0"/>
                <a:ea typeface="宋体" charset="-122"/>
              </a:rPr>
              <a:t>   { … </a:t>
            </a:r>
          </a:p>
          <a:p>
            <a:pPr algn="l" eaLnBrk="0" hangingPunct="0">
              <a:spcBef>
                <a:spcPct val="0"/>
              </a:spcBef>
            </a:pPr>
            <a:r>
              <a:rPr kumimoji="0" lang="en-US" altLang="zh-CN" sz="2400" b="0">
                <a:latin typeface="Arial Narrow" pitchFamily="34" charset="0"/>
                <a:ea typeface="宋体" charset="-122"/>
              </a:rPr>
              <a:t>        String name = c.getName() … </a:t>
            </a:r>
          </a:p>
          <a:p>
            <a:pPr algn="l" eaLnBrk="0" hangingPunct="0">
              <a:spcBef>
                <a:spcPct val="0"/>
              </a:spcBef>
            </a:pPr>
            <a:r>
              <a:rPr kumimoji="0" lang="en-US" altLang="zh-CN" sz="2400" b="0">
                <a:latin typeface="Arial Narrow" pitchFamily="34" charset="0"/>
                <a:ea typeface="宋体" charset="-122"/>
              </a:rPr>
              <a:t>   }</a:t>
            </a:r>
          </a:p>
          <a:p>
            <a:pPr algn="l" eaLnBrk="0" hangingPunct="0">
              <a:spcBef>
                <a:spcPct val="0"/>
              </a:spcBef>
            </a:pPr>
            <a:r>
              <a:rPr kumimoji="0" lang="en-US" altLang="zh-CN" sz="2400" b="0">
                <a:latin typeface="Arial Narrow" pitchFamily="34" charset="0"/>
                <a:ea typeface="宋体" charset="-122"/>
              </a:rPr>
              <a:t>   . . .</a:t>
            </a:r>
          </a:p>
          <a:p>
            <a:pPr algn="l" eaLnBrk="0" hangingPunct="0">
              <a:spcBef>
                <a:spcPct val="0"/>
              </a:spcBef>
            </a:pPr>
            <a:r>
              <a:rPr kumimoji="0" lang="en-US" altLang="zh-CN" sz="2400" b="0">
                <a:latin typeface="Arial Narrow" pitchFamily="34" charset="0"/>
                <a:ea typeface="宋体" charset="-122"/>
              </a:rPr>
              <a:t>}</a:t>
            </a:r>
          </a:p>
        </p:txBody>
      </p:sp>
      <p:sp>
        <p:nvSpPr>
          <p:cNvPr id="13317" name="AutoShape 8"/>
          <p:cNvSpPr>
            <a:spLocks noChangeArrowheads="1"/>
          </p:cNvSpPr>
          <p:nvPr/>
        </p:nvSpPr>
        <p:spPr bwMode="auto">
          <a:xfrm>
            <a:off x="4724400" y="2727325"/>
            <a:ext cx="4148138" cy="3825875"/>
          </a:xfrm>
          <a:prstGeom prst="foldedCorner">
            <a:avLst>
              <a:gd name="adj" fmla="val 125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rIns="0" bIns="0"/>
          <a:lstStyle/>
          <a:p>
            <a:pPr algn="l" eaLnBrk="0" hangingPunct="0">
              <a:spcBef>
                <a:spcPct val="0"/>
              </a:spcBef>
            </a:pPr>
            <a:r>
              <a:rPr kumimoji="0" lang="en-US" altLang="zh-CN" sz="2400" b="0">
                <a:latin typeface="Arial Narrow" pitchFamily="34" charset="0"/>
                <a:ea typeface="宋体" charset="-122"/>
              </a:rPr>
              <a:t>class AjaxAssets</a:t>
            </a:r>
          </a:p>
          <a:p>
            <a:pPr algn="l" eaLnBrk="0" hangingPunct="0">
              <a:spcBef>
                <a:spcPct val="0"/>
              </a:spcBef>
            </a:pPr>
            <a:r>
              <a:rPr kumimoji="0" lang="en-US" altLang="zh-CN" sz="2400" b="0">
                <a:latin typeface="Arial Narrow" pitchFamily="34" charset="0"/>
                <a:ea typeface="宋体" charset="-122"/>
              </a:rPr>
              <a:t>{ . . . </a:t>
            </a:r>
          </a:p>
          <a:p>
            <a:pPr algn="l" eaLnBrk="0" hangingPunct="0">
              <a:spcBef>
                <a:spcPct val="0"/>
              </a:spcBef>
            </a:pPr>
            <a:r>
              <a:rPr kumimoji="0" lang="en-US" altLang="zh-CN" sz="2400" b="0">
                <a:latin typeface="Arial Narrow" pitchFamily="34" charset="0"/>
                <a:ea typeface="宋体" charset="-122"/>
              </a:rPr>
              <a:t>   int computeAssets() </a:t>
            </a:r>
          </a:p>
          <a:p>
            <a:pPr algn="l" eaLnBrk="0" hangingPunct="0">
              <a:spcBef>
                <a:spcPct val="0"/>
              </a:spcBef>
            </a:pPr>
            <a:r>
              <a:rPr kumimoji="0" lang="en-US" altLang="zh-CN" sz="2400" b="0">
                <a:latin typeface="Arial Narrow" pitchFamily="34" charset="0"/>
                <a:ea typeface="宋体" charset="-122"/>
              </a:rPr>
              <a:t>   {   . . .</a:t>
            </a:r>
          </a:p>
          <a:p>
            <a:pPr algn="l" eaLnBrk="0" hangingPunct="0">
              <a:spcBef>
                <a:spcPct val="0"/>
              </a:spcBef>
            </a:pPr>
            <a:r>
              <a:rPr kumimoji="0" lang="en-US" altLang="zh-CN" sz="2400" b="0">
                <a:latin typeface="Arial Narrow" pitchFamily="34" charset="0"/>
                <a:ea typeface="宋体" charset="-122"/>
              </a:rPr>
              <a:t>       </a:t>
            </a:r>
            <a:r>
              <a:rPr kumimoji="0" lang="en-US" altLang="zh-CN" sz="2400" b="0" u="sng">
                <a:solidFill>
                  <a:srgbClr val="FF0000"/>
                </a:solidFill>
                <a:latin typeface="Arial Narrow" pitchFamily="34" charset="0"/>
                <a:ea typeface="宋体" charset="-122"/>
              </a:rPr>
              <a:t>Customer</a:t>
            </a:r>
            <a:r>
              <a:rPr kumimoji="0" lang="en-US" altLang="zh-CN" sz="2400" b="0">
                <a:solidFill>
                  <a:srgbClr val="FF0000"/>
                </a:solidFill>
                <a:latin typeface="Arial Narrow" pitchFamily="34" charset="0"/>
                <a:ea typeface="宋体" charset="-122"/>
              </a:rPr>
              <a:t> c</a:t>
            </a:r>
            <a:r>
              <a:rPr kumimoji="0" lang="en-US" altLang="zh-CN" sz="2400" b="0">
                <a:latin typeface="Arial Narrow" pitchFamily="34" charset="0"/>
                <a:ea typeface="宋体" charset="-122"/>
              </a:rPr>
              <a:t> = customers[ i ];</a:t>
            </a:r>
          </a:p>
          <a:p>
            <a:pPr algn="l" eaLnBrk="0" hangingPunct="0">
              <a:spcBef>
                <a:spcPct val="0"/>
              </a:spcBef>
            </a:pPr>
            <a:r>
              <a:rPr kumimoji="0" lang="en-US" altLang="zh-CN" sz="2400" b="0">
                <a:latin typeface="Arial Narrow" pitchFamily="34" charset="0"/>
                <a:ea typeface="宋体" charset="-122"/>
              </a:rPr>
              <a:t>       assets += c.computeBalance();</a:t>
            </a:r>
          </a:p>
          <a:p>
            <a:pPr algn="l" eaLnBrk="0" hangingPunct="0">
              <a:spcBef>
                <a:spcPct val="0"/>
              </a:spcBef>
            </a:pPr>
            <a:r>
              <a:rPr kumimoji="0" lang="en-US" altLang="zh-CN" sz="2400" b="0">
                <a:latin typeface="Arial Narrow" pitchFamily="34" charset="0"/>
                <a:ea typeface="宋体" charset="-122"/>
              </a:rPr>
              <a:t>       . . .</a:t>
            </a:r>
          </a:p>
          <a:p>
            <a:pPr algn="l" eaLnBrk="0" hangingPunct="0">
              <a:spcBef>
                <a:spcPct val="0"/>
              </a:spcBef>
            </a:pPr>
            <a:r>
              <a:rPr kumimoji="0" lang="en-US" altLang="zh-CN" sz="2400" b="0">
                <a:latin typeface="Arial Narrow" pitchFamily="34" charset="0"/>
                <a:ea typeface="宋体" charset="-122"/>
              </a:rPr>
              <a:t>   }</a:t>
            </a:r>
          </a:p>
          <a:p>
            <a:pPr algn="l" eaLnBrk="0" hangingPunct="0">
              <a:spcBef>
                <a:spcPct val="0"/>
              </a:spcBef>
            </a:pPr>
            <a:r>
              <a:rPr kumimoji="0" lang="en-US" altLang="zh-CN" sz="2400" b="0">
                <a:latin typeface="Arial Narrow" pitchFamily="34" charset="0"/>
                <a:ea typeface="宋体" charset="-122"/>
              </a:rPr>
              <a:t>. . .</a:t>
            </a:r>
          </a:p>
          <a:p>
            <a:pPr algn="l" eaLnBrk="0" hangingPunct="0">
              <a:spcBef>
                <a:spcPct val="0"/>
              </a:spcBef>
            </a:pPr>
            <a:r>
              <a:rPr kumimoji="0" lang="en-US" altLang="zh-CN" sz="2400" b="0">
                <a:latin typeface="Arial Narrow" pitchFamily="34" charset="0"/>
                <a:ea typeface="宋体" charset="-122"/>
              </a:rPr>
              <a:t>}</a:t>
            </a:r>
          </a:p>
        </p:txBody>
      </p:sp>
      <p:cxnSp>
        <p:nvCxnSpPr>
          <p:cNvPr id="13318" name="AutoShape 9"/>
          <p:cNvCxnSpPr>
            <a:cxnSpLocks noChangeShapeType="1"/>
            <a:stCxn id="13316" idx="0"/>
            <a:endCxn id="13315" idx="2"/>
          </p:cNvCxnSpPr>
          <p:nvPr/>
        </p:nvCxnSpPr>
        <p:spPr bwMode="auto">
          <a:xfrm flipH="1" flipV="1">
            <a:off x="2009775" y="2676525"/>
            <a:ext cx="331788" cy="795338"/>
          </a:xfrm>
          <a:prstGeom prst="straightConnector1">
            <a:avLst/>
          </a:prstGeom>
          <a:noFill/>
          <a:ln w="28575">
            <a:solidFill>
              <a:schemeClr val="tx1"/>
            </a:solidFill>
            <a:prstDash val="lgDash"/>
            <a:round/>
            <a:headEnd/>
            <a:tailEnd type="triangle" w="med" len="med"/>
          </a:ln>
          <a:extLst>
            <a:ext uri="{909E8E84-426E-40DD-AFC4-6F175D3DCCD1}">
              <a14:hiddenFill xmlns:a14="http://schemas.microsoft.com/office/drawing/2010/main">
                <a:noFill/>
              </a14:hiddenFill>
            </a:ext>
          </a:extLst>
        </p:spPr>
      </p:cxnSp>
      <p:cxnSp>
        <p:nvCxnSpPr>
          <p:cNvPr id="13319" name="AutoShape 10"/>
          <p:cNvCxnSpPr>
            <a:cxnSpLocks noChangeShapeType="1"/>
            <a:stCxn id="13317" idx="0"/>
            <a:endCxn id="13315" idx="3"/>
          </p:cNvCxnSpPr>
          <p:nvPr/>
        </p:nvCxnSpPr>
        <p:spPr bwMode="auto">
          <a:xfrm flipH="1" flipV="1">
            <a:off x="3722688" y="1485900"/>
            <a:ext cx="3076575" cy="1231900"/>
          </a:xfrm>
          <a:prstGeom prst="straightConnector1">
            <a:avLst/>
          </a:prstGeom>
          <a:noFill/>
          <a:ln w="28575">
            <a:solidFill>
              <a:schemeClr val="tx1"/>
            </a:solidFill>
            <a:prstDash val="lgDash"/>
            <a:round/>
            <a:headEnd/>
            <a:tailEnd type="triangle" w="med" len="med"/>
          </a:ln>
          <a:extLst>
            <a:ext uri="{909E8E84-426E-40DD-AFC4-6F175D3DCCD1}">
              <a14:hiddenFill xmlns:a14="http://schemas.microsoft.com/office/drawing/2010/main">
                <a:noFill/>
              </a14:hiddenFill>
            </a:ext>
          </a:extLst>
        </p:spPr>
      </p:cxnSp>
      <p:sp>
        <p:nvSpPr>
          <p:cNvPr id="13320" name="Rectangle 11"/>
          <p:cNvSpPr>
            <a:spLocks noChangeArrowheads="1"/>
          </p:cNvSpPr>
          <p:nvPr/>
        </p:nvSpPr>
        <p:spPr bwMode="auto">
          <a:xfrm>
            <a:off x="5410200" y="5732463"/>
            <a:ext cx="2649538"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lstStyle/>
          <a:p>
            <a:pPr algn="l" eaLnBrk="0" hangingPunct="0">
              <a:spcBef>
                <a:spcPct val="0"/>
              </a:spcBef>
            </a:pPr>
            <a:r>
              <a:rPr kumimoji="0" lang="en-US" altLang="zh-CN" sz="2400" i="1" u="sng">
                <a:solidFill>
                  <a:schemeClr val="tx2"/>
                </a:solidFill>
                <a:latin typeface="Arial Narrow" pitchFamily="34" charset="0"/>
                <a:ea typeface="宋体" charset="-122"/>
              </a:rPr>
              <a:t>Customer </a:t>
            </a:r>
            <a:r>
              <a:rPr kumimoji="0" lang="zh-CN" altLang="en-US" sz="2400" u="sng">
                <a:solidFill>
                  <a:schemeClr val="tx2"/>
                </a:solidFill>
                <a:latin typeface="Arial Narrow" pitchFamily="34" charset="0"/>
              </a:rPr>
              <a:t>类的客户</a:t>
            </a:r>
          </a:p>
        </p:txBody>
      </p:sp>
      <p:sp>
        <p:nvSpPr>
          <p:cNvPr id="13321" name="Rectangle 12"/>
          <p:cNvSpPr>
            <a:spLocks noChangeArrowheads="1"/>
          </p:cNvSpPr>
          <p:nvPr/>
        </p:nvSpPr>
        <p:spPr bwMode="auto">
          <a:xfrm>
            <a:off x="990600" y="5732463"/>
            <a:ext cx="2667000"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lstStyle/>
          <a:p>
            <a:pPr algn="l" eaLnBrk="0" hangingPunct="0">
              <a:spcBef>
                <a:spcPct val="0"/>
              </a:spcBef>
            </a:pPr>
            <a:r>
              <a:rPr kumimoji="0" lang="en-US" altLang="zh-CN" sz="2400" i="1" u="sng">
                <a:solidFill>
                  <a:schemeClr val="tx2"/>
                </a:solidFill>
                <a:latin typeface="Arial Narrow" pitchFamily="34" charset="0"/>
                <a:ea typeface="宋体" charset="-122"/>
              </a:rPr>
              <a:t>Customer </a:t>
            </a:r>
            <a:r>
              <a:rPr kumimoji="0" lang="zh-CN" altLang="en-US" sz="2400" u="sng">
                <a:solidFill>
                  <a:schemeClr val="tx2"/>
                </a:solidFill>
              </a:rPr>
              <a:t>类的客户</a:t>
            </a:r>
            <a:endParaRPr kumimoji="0" lang="zh-CN" altLang="en-US" sz="2400" i="1" u="sng">
              <a:solidFill>
                <a:schemeClr val="tx2"/>
              </a:solidFill>
              <a:latin typeface="Arial Narrow" pitchFamily="34" charset="0"/>
              <a:ea typeface="宋体" charset="-122"/>
            </a:endParaRPr>
          </a:p>
        </p:txBody>
      </p:sp>
      <p:sp>
        <p:nvSpPr>
          <p:cNvPr id="13322" name="Rectangle 13"/>
          <p:cNvSpPr>
            <a:spLocks noChangeArrowheads="1"/>
          </p:cNvSpPr>
          <p:nvPr/>
        </p:nvSpPr>
        <p:spPr bwMode="auto">
          <a:xfrm>
            <a:off x="1236663" y="1905000"/>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en-US" altLang="zh-CN" sz="2400" i="1" u="sng">
                <a:solidFill>
                  <a:schemeClr val="tx2"/>
                </a:solidFill>
                <a:latin typeface="Arial Narrow" pitchFamily="34" charset="0"/>
                <a:ea typeface="宋体" charset="-122"/>
              </a:rPr>
              <a:t>Customer</a:t>
            </a:r>
            <a:r>
              <a:rPr kumimoji="0" lang="zh-CN" altLang="en-US" sz="2400" u="sng">
                <a:solidFill>
                  <a:schemeClr val="tx2"/>
                </a:solidFill>
                <a:latin typeface="Arial Narrow" pitchFamily="34" charset="0"/>
              </a:rPr>
              <a:t>类</a:t>
            </a:r>
          </a:p>
        </p:txBody>
      </p:sp>
    </p:spTree>
    <p:extLst>
      <p:ext uri="{BB962C8B-B14F-4D97-AF65-F5344CB8AC3E}">
        <p14:creationId xmlns:p14="http://schemas.microsoft.com/office/powerpoint/2010/main" val="332882793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面向对象的特点</a:t>
            </a:r>
          </a:p>
        </p:txBody>
      </p:sp>
      <p:sp>
        <p:nvSpPr>
          <p:cNvPr id="14339" name="Rectangle 3"/>
          <p:cNvSpPr>
            <a:spLocks noGrp="1" noChangeArrowheads="1"/>
          </p:cNvSpPr>
          <p:nvPr>
            <p:ph type="body" idx="1"/>
          </p:nvPr>
        </p:nvSpPr>
        <p:spPr>
          <a:xfrm>
            <a:off x="457200" y="1600200"/>
            <a:ext cx="8229600" cy="5029200"/>
          </a:xfrm>
        </p:spPr>
        <p:txBody>
          <a:bodyPr/>
          <a:lstStyle/>
          <a:p>
            <a:pPr eaLnBrk="1" hangingPunct="1">
              <a:lnSpc>
                <a:spcPct val="90000"/>
              </a:lnSpc>
            </a:pPr>
            <a:r>
              <a:rPr lang="zh-CN" altLang="en-US" b="1" smtClean="0">
                <a:solidFill>
                  <a:srgbClr val="0000CC"/>
                </a:solidFill>
                <a:ea typeface="楷体_GB2312" pitchFamily="49" charset="-122"/>
                <a:hlinkClick r:id="rId2" action="ppaction://hlinksldjump"/>
              </a:rPr>
              <a:t>继承</a:t>
            </a:r>
            <a:endParaRPr lang="zh-CN" altLang="en-US" b="1" smtClean="0">
              <a:solidFill>
                <a:srgbClr val="0000CC"/>
              </a:solidFill>
              <a:ea typeface="楷体_GB2312" pitchFamily="49" charset="-122"/>
            </a:endParaRPr>
          </a:p>
          <a:p>
            <a:pPr eaLnBrk="1" hangingPunct="1">
              <a:lnSpc>
                <a:spcPct val="90000"/>
              </a:lnSpc>
            </a:pPr>
            <a:r>
              <a:rPr lang="zh-CN" altLang="en-US" b="1" smtClean="0">
                <a:solidFill>
                  <a:srgbClr val="0000CC"/>
                </a:solidFill>
                <a:ea typeface="楷体_GB2312" pitchFamily="49" charset="-122"/>
                <a:hlinkClick r:id="rId3" action="ppaction://hlinksldjump"/>
              </a:rPr>
              <a:t>多态性</a:t>
            </a:r>
            <a:endParaRPr lang="zh-CN" altLang="en-US" b="1" smtClean="0">
              <a:solidFill>
                <a:srgbClr val="0000CC"/>
              </a:solidFill>
              <a:ea typeface="楷体_GB2312" pitchFamily="49" charset="-122"/>
            </a:endParaRPr>
          </a:p>
          <a:p>
            <a:pPr lvl="1" eaLnBrk="1" hangingPunct="1">
              <a:lnSpc>
                <a:spcPct val="90000"/>
              </a:lnSpc>
            </a:pPr>
            <a:r>
              <a:rPr lang="zh-CN" altLang="en-US" b="1" smtClean="0">
                <a:ea typeface="楷体_GB2312" pitchFamily="49" charset="-122"/>
              </a:rPr>
              <a:t>使用每个派生类的不同版本的方法，使得程序在运行时对</a:t>
            </a:r>
            <a:r>
              <a:rPr lang="en-US" altLang="zh-CN" b="1" smtClean="0">
                <a:ea typeface="楷体_GB2312" pitchFamily="49" charset="-122"/>
              </a:rPr>
              <a:t>objectOfBaseClass.theMethod()</a:t>
            </a:r>
            <a:r>
              <a:rPr lang="zh-CN" altLang="en-US" b="1" smtClean="0">
                <a:ea typeface="楷体_GB2312" pitchFamily="49" charset="-122"/>
              </a:rPr>
              <a:t>方法有不同的解释，取决于</a:t>
            </a:r>
            <a:r>
              <a:rPr lang="en-US" altLang="zh-CN" b="1" smtClean="0">
                <a:ea typeface="楷体_GB2312" pitchFamily="49" charset="-122"/>
              </a:rPr>
              <a:t>objectOfBaseClass</a:t>
            </a:r>
            <a:r>
              <a:rPr lang="zh-CN" altLang="en-US" b="1" smtClean="0">
                <a:ea typeface="楷体_GB2312" pitchFamily="49" charset="-122"/>
              </a:rPr>
              <a:t>属于哪个派生类。</a:t>
            </a:r>
          </a:p>
          <a:p>
            <a:pPr eaLnBrk="1" hangingPunct="1">
              <a:lnSpc>
                <a:spcPct val="90000"/>
              </a:lnSpc>
            </a:pPr>
            <a:r>
              <a:rPr lang="zh-CN" altLang="en-US" b="1" smtClean="0">
                <a:solidFill>
                  <a:srgbClr val="0000CC"/>
                </a:solidFill>
                <a:ea typeface="楷体_GB2312" pitchFamily="49" charset="-122"/>
                <a:hlinkClick r:id="rId4" action="ppaction://hlinksldjump"/>
              </a:rPr>
              <a:t>接口和封装</a:t>
            </a:r>
            <a:endParaRPr lang="zh-CN" altLang="en-US" b="1" smtClean="0">
              <a:solidFill>
                <a:srgbClr val="0000CC"/>
              </a:solidFill>
              <a:ea typeface="楷体_GB2312" pitchFamily="49" charset="-122"/>
            </a:endParaRPr>
          </a:p>
          <a:p>
            <a:pPr lvl="1" eaLnBrk="1" hangingPunct="1">
              <a:lnSpc>
                <a:spcPct val="90000"/>
              </a:lnSpc>
            </a:pPr>
            <a:r>
              <a:rPr lang="zh-CN" altLang="en-US" b="1" smtClean="0">
                <a:ea typeface="楷体_GB2312" pitchFamily="49" charset="-122"/>
              </a:rPr>
              <a:t>接口是</a:t>
            </a:r>
            <a:r>
              <a:rPr lang="zh-CN" altLang="en-US" b="1" smtClean="0">
                <a:solidFill>
                  <a:srgbClr val="0000CC"/>
                </a:solidFill>
                <a:ea typeface="楷体_GB2312" pitchFamily="49" charset="-122"/>
              </a:rPr>
              <a:t>函数原型的集合</a:t>
            </a:r>
            <a:r>
              <a:rPr lang="zh-CN" altLang="en-US" b="1" smtClean="0">
                <a:ea typeface="楷体_GB2312" pitchFamily="49" charset="-122"/>
              </a:rPr>
              <a:t>（每个接口都有名字、参数类型、返回类型、异常类型）</a:t>
            </a:r>
          </a:p>
          <a:p>
            <a:pPr lvl="1" eaLnBrk="1" hangingPunct="1">
              <a:lnSpc>
                <a:spcPct val="90000"/>
              </a:lnSpc>
            </a:pPr>
            <a:r>
              <a:rPr lang="zh-CN" altLang="en-US" b="1" smtClean="0">
                <a:ea typeface="楷体_GB2312" pitchFamily="49" charset="-122"/>
              </a:rPr>
              <a:t>当为了说明功能而隐藏获得功能的方式时，我们使用“封装”。</a:t>
            </a:r>
          </a:p>
        </p:txBody>
      </p:sp>
    </p:spTree>
    <p:extLst>
      <p:ext uri="{BB962C8B-B14F-4D97-AF65-F5344CB8AC3E}">
        <p14:creationId xmlns:p14="http://schemas.microsoft.com/office/powerpoint/2010/main" val="295340060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792163" y="307975"/>
            <a:ext cx="3565525" cy="604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buClr>
                <a:srgbClr val="CCFFFF"/>
              </a:buClr>
              <a:buSzPct val="70000"/>
              <a:buFont typeface="Wingdings" pitchFamily="2" charset="2"/>
              <a:buNone/>
            </a:pPr>
            <a:r>
              <a:rPr lang="en-US" altLang="zh-CN" sz="2600">
                <a:latin typeface="Times New Roman" pitchFamily="18" charset="0"/>
              </a:rPr>
              <a:t>case(…)</a:t>
            </a:r>
          </a:p>
          <a:p>
            <a:pPr algn="l" eaLnBrk="1" hangingPunct="1">
              <a:lnSpc>
                <a:spcPct val="95000"/>
              </a:lnSpc>
              <a:spcBef>
                <a:spcPct val="0"/>
              </a:spcBef>
              <a:buClr>
                <a:srgbClr val="CCFFFF"/>
              </a:buClr>
              <a:buSzPct val="70000"/>
              <a:buFont typeface="Wingdings" pitchFamily="2" charset="2"/>
              <a:buNone/>
            </a:pPr>
            <a:r>
              <a:rPr lang="en-US" altLang="zh-CN" sz="2600">
                <a:latin typeface="Times New Roman" pitchFamily="18" charset="0"/>
              </a:rPr>
              <a:t>{</a:t>
            </a:r>
          </a:p>
          <a:p>
            <a:pPr algn="l" eaLnBrk="1" hangingPunct="1">
              <a:lnSpc>
                <a:spcPct val="95000"/>
              </a:lnSpc>
              <a:spcBef>
                <a:spcPct val="0"/>
              </a:spcBef>
              <a:buClr>
                <a:srgbClr val="CCFFFF"/>
              </a:buClr>
              <a:buSzPct val="70000"/>
              <a:buFont typeface="Wingdings" pitchFamily="2" charset="2"/>
              <a:buNone/>
            </a:pPr>
            <a:r>
              <a:rPr lang="en-US" altLang="zh-CN" sz="2600">
                <a:latin typeface="Times New Roman" pitchFamily="18" charset="0"/>
              </a:rPr>
              <a:t>    set o to subtype 1 … </a:t>
            </a:r>
          </a:p>
          <a:p>
            <a:pPr algn="l" eaLnBrk="1" hangingPunct="1">
              <a:lnSpc>
                <a:spcPct val="95000"/>
              </a:lnSpc>
              <a:spcBef>
                <a:spcPct val="0"/>
              </a:spcBef>
              <a:buClr>
                <a:srgbClr val="CCFFFF"/>
              </a:buClr>
              <a:buSzPct val="70000"/>
              <a:buFont typeface="Wingdings" pitchFamily="2" charset="2"/>
              <a:buNone/>
            </a:pPr>
            <a:r>
              <a:rPr lang="en-US" altLang="zh-CN" sz="2600">
                <a:latin typeface="Times New Roman" pitchFamily="18" charset="0"/>
              </a:rPr>
              <a:t>    o.theMethod( );</a:t>
            </a:r>
          </a:p>
          <a:p>
            <a:pPr algn="l" eaLnBrk="1" hangingPunct="1">
              <a:lnSpc>
                <a:spcPct val="95000"/>
              </a:lnSpc>
              <a:spcBef>
                <a:spcPct val="0"/>
              </a:spcBef>
              <a:buClr>
                <a:srgbClr val="CCFFFF"/>
              </a:buClr>
              <a:buSzPct val="70000"/>
              <a:buFont typeface="Wingdings" pitchFamily="2" charset="2"/>
              <a:buNone/>
            </a:pPr>
            <a:r>
              <a:rPr lang="en-US" altLang="zh-CN" sz="2600">
                <a:latin typeface="Times New Roman" pitchFamily="18" charset="0"/>
              </a:rPr>
              <a:t>}</a:t>
            </a:r>
          </a:p>
          <a:p>
            <a:pPr algn="l" eaLnBrk="1" hangingPunct="1">
              <a:lnSpc>
                <a:spcPct val="95000"/>
              </a:lnSpc>
              <a:spcBef>
                <a:spcPct val="0"/>
              </a:spcBef>
            </a:pPr>
            <a:r>
              <a:rPr lang="en-US" altLang="zh-CN" sz="2600">
                <a:latin typeface="Times New Roman" pitchFamily="18" charset="0"/>
              </a:rPr>
              <a:t>case(…)</a:t>
            </a:r>
          </a:p>
          <a:p>
            <a:pPr algn="l" eaLnBrk="1" hangingPunct="1">
              <a:lnSpc>
                <a:spcPct val="95000"/>
              </a:lnSpc>
              <a:spcBef>
                <a:spcPct val="0"/>
              </a:spcBef>
            </a:pPr>
            <a:r>
              <a:rPr lang="en-US" altLang="zh-CN" sz="2600">
                <a:latin typeface="Times New Roman" pitchFamily="18" charset="0"/>
              </a:rPr>
              <a:t>{</a:t>
            </a:r>
          </a:p>
          <a:p>
            <a:pPr algn="l" eaLnBrk="1" hangingPunct="1">
              <a:lnSpc>
                <a:spcPct val="95000"/>
              </a:lnSpc>
              <a:spcBef>
                <a:spcPct val="0"/>
              </a:spcBef>
            </a:pPr>
            <a:r>
              <a:rPr lang="en-US" altLang="zh-CN" sz="2600">
                <a:latin typeface="Times New Roman" pitchFamily="18" charset="0"/>
              </a:rPr>
              <a:t>    set o to subtype 2 … </a:t>
            </a:r>
          </a:p>
          <a:p>
            <a:pPr algn="l" eaLnBrk="1" hangingPunct="1">
              <a:lnSpc>
                <a:spcPct val="95000"/>
              </a:lnSpc>
              <a:spcBef>
                <a:spcPct val="0"/>
              </a:spcBef>
            </a:pPr>
            <a:r>
              <a:rPr lang="en-US" altLang="zh-CN" sz="2600">
                <a:latin typeface="Times New Roman" pitchFamily="18" charset="0"/>
              </a:rPr>
              <a:t>    o.theMethod( );</a:t>
            </a:r>
          </a:p>
          <a:p>
            <a:pPr algn="l" eaLnBrk="1" hangingPunct="1">
              <a:lnSpc>
                <a:spcPct val="95000"/>
              </a:lnSpc>
              <a:spcBef>
                <a:spcPct val="0"/>
              </a:spcBef>
            </a:pPr>
            <a:r>
              <a:rPr lang="en-US" altLang="zh-CN" sz="2600">
                <a:latin typeface="Times New Roman" pitchFamily="18" charset="0"/>
              </a:rPr>
              <a:t>}</a:t>
            </a:r>
          </a:p>
          <a:p>
            <a:pPr algn="l" eaLnBrk="1" hangingPunct="1">
              <a:lnSpc>
                <a:spcPct val="95000"/>
              </a:lnSpc>
              <a:spcBef>
                <a:spcPct val="0"/>
              </a:spcBef>
              <a:buClr>
                <a:srgbClr val="CCFFFF"/>
              </a:buClr>
              <a:buSzPct val="70000"/>
              <a:buFont typeface="Wingdings" pitchFamily="2" charset="2"/>
              <a:buNone/>
            </a:pPr>
            <a:r>
              <a:rPr lang="en-US" altLang="zh-CN" sz="2600">
                <a:latin typeface="Times New Roman" pitchFamily="18" charset="0"/>
              </a:rPr>
              <a:t>…</a:t>
            </a:r>
          </a:p>
          <a:p>
            <a:pPr algn="l" eaLnBrk="1" hangingPunct="1">
              <a:lnSpc>
                <a:spcPct val="95000"/>
              </a:lnSpc>
              <a:spcBef>
                <a:spcPct val="0"/>
              </a:spcBef>
            </a:pPr>
            <a:r>
              <a:rPr lang="en-US" altLang="zh-CN" sz="2600">
                <a:latin typeface="Times New Roman" pitchFamily="18" charset="0"/>
              </a:rPr>
              <a:t>case(…)</a:t>
            </a:r>
          </a:p>
          <a:p>
            <a:pPr algn="l" eaLnBrk="1" hangingPunct="1">
              <a:lnSpc>
                <a:spcPct val="95000"/>
              </a:lnSpc>
              <a:spcBef>
                <a:spcPct val="0"/>
              </a:spcBef>
            </a:pPr>
            <a:r>
              <a:rPr lang="en-US" altLang="zh-CN" sz="2600">
                <a:latin typeface="Times New Roman" pitchFamily="18" charset="0"/>
              </a:rPr>
              <a:t>{</a:t>
            </a:r>
          </a:p>
          <a:p>
            <a:pPr algn="l" eaLnBrk="1" hangingPunct="1">
              <a:lnSpc>
                <a:spcPct val="95000"/>
              </a:lnSpc>
              <a:spcBef>
                <a:spcPct val="0"/>
              </a:spcBef>
            </a:pPr>
            <a:r>
              <a:rPr lang="en-US" altLang="zh-CN" sz="2600">
                <a:latin typeface="Times New Roman" pitchFamily="18" charset="0"/>
              </a:rPr>
              <a:t>    set o to subtype n … </a:t>
            </a:r>
          </a:p>
          <a:p>
            <a:pPr algn="l" eaLnBrk="1" hangingPunct="1">
              <a:lnSpc>
                <a:spcPct val="95000"/>
              </a:lnSpc>
              <a:spcBef>
                <a:spcPct val="0"/>
              </a:spcBef>
            </a:pPr>
            <a:r>
              <a:rPr lang="en-US" altLang="zh-CN" sz="2600">
                <a:latin typeface="Times New Roman" pitchFamily="18" charset="0"/>
              </a:rPr>
              <a:t>    o.theMethod( );</a:t>
            </a:r>
          </a:p>
          <a:p>
            <a:pPr algn="l" eaLnBrk="1" hangingPunct="1">
              <a:lnSpc>
                <a:spcPct val="95000"/>
              </a:lnSpc>
              <a:spcBef>
                <a:spcPct val="0"/>
              </a:spcBef>
            </a:pPr>
            <a:r>
              <a:rPr lang="en-US" altLang="zh-CN" sz="2600">
                <a:latin typeface="Times New Roman" pitchFamily="18" charset="0"/>
              </a:rPr>
              <a:t>}</a:t>
            </a:r>
          </a:p>
        </p:txBody>
      </p:sp>
      <p:sp>
        <p:nvSpPr>
          <p:cNvPr id="17411" name="Text Box 3"/>
          <p:cNvSpPr txBox="1">
            <a:spLocks noChangeArrowheads="1"/>
          </p:cNvSpPr>
          <p:nvPr/>
        </p:nvSpPr>
        <p:spPr bwMode="auto">
          <a:xfrm>
            <a:off x="5364163" y="188913"/>
            <a:ext cx="291623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72000" rIns="0" bIns="72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2600">
                <a:solidFill>
                  <a:schemeClr val="tx2"/>
                </a:solidFill>
                <a:latin typeface="Times New Roman" pitchFamily="18" charset="0"/>
              </a:rPr>
              <a:t>多态的应用</a:t>
            </a:r>
          </a:p>
        </p:txBody>
      </p:sp>
      <p:sp>
        <p:nvSpPr>
          <p:cNvPr id="17412" name="Text Box 4"/>
          <p:cNvSpPr txBox="1">
            <a:spLocks noChangeArrowheads="1"/>
          </p:cNvSpPr>
          <p:nvPr/>
        </p:nvSpPr>
        <p:spPr bwMode="auto">
          <a:xfrm>
            <a:off x="5111750" y="1136650"/>
            <a:ext cx="3565525" cy="528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lnSpc>
                <a:spcPct val="95000"/>
              </a:lnSpc>
              <a:spcBef>
                <a:spcPct val="0"/>
              </a:spcBef>
              <a:buClr>
                <a:srgbClr val="CCFFFF"/>
              </a:buClr>
              <a:buSzPct val="70000"/>
              <a:buFont typeface="Wingdings" pitchFamily="2" charset="2"/>
              <a:buNone/>
            </a:pPr>
            <a:r>
              <a:rPr lang="en-US" altLang="zh-CN" sz="2600">
                <a:latin typeface="Times New Roman" pitchFamily="18" charset="0"/>
              </a:rPr>
              <a:t>case(…)</a:t>
            </a:r>
          </a:p>
          <a:p>
            <a:pPr algn="l" eaLnBrk="1" hangingPunct="1">
              <a:lnSpc>
                <a:spcPct val="95000"/>
              </a:lnSpc>
              <a:spcBef>
                <a:spcPct val="0"/>
              </a:spcBef>
              <a:buClr>
                <a:srgbClr val="CCFFFF"/>
              </a:buClr>
              <a:buSzPct val="70000"/>
              <a:buFont typeface="Wingdings" pitchFamily="2" charset="2"/>
              <a:buNone/>
            </a:pPr>
            <a:r>
              <a:rPr lang="en-US" altLang="zh-CN" sz="2600">
                <a:latin typeface="Times New Roman" pitchFamily="18" charset="0"/>
              </a:rPr>
              <a:t>{</a:t>
            </a:r>
          </a:p>
          <a:p>
            <a:pPr algn="l" eaLnBrk="1" hangingPunct="1">
              <a:lnSpc>
                <a:spcPct val="95000"/>
              </a:lnSpc>
              <a:spcBef>
                <a:spcPct val="0"/>
              </a:spcBef>
              <a:buClr>
                <a:srgbClr val="CCFFFF"/>
              </a:buClr>
              <a:buSzPct val="70000"/>
              <a:buFont typeface="Wingdings" pitchFamily="2" charset="2"/>
              <a:buNone/>
            </a:pPr>
            <a:r>
              <a:rPr lang="en-US" altLang="zh-CN" sz="2600">
                <a:latin typeface="Times New Roman" pitchFamily="18" charset="0"/>
              </a:rPr>
              <a:t>    set o to subtype 1 … </a:t>
            </a:r>
          </a:p>
          <a:p>
            <a:pPr algn="l" eaLnBrk="1" hangingPunct="1">
              <a:lnSpc>
                <a:spcPct val="95000"/>
              </a:lnSpc>
              <a:spcBef>
                <a:spcPct val="0"/>
              </a:spcBef>
              <a:buClr>
                <a:srgbClr val="CCFFFF"/>
              </a:buClr>
              <a:buSzPct val="70000"/>
              <a:buFont typeface="Wingdings" pitchFamily="2" charset="2"/>
              <a:buNone/>
            </a:pPr>
            <a:r>
              <a:rPr lang="en-US" altLang="zh-CN" sz="2600">
                <a:latin typeface="Times New Roman" pitchFamily="18" charset="0"/>
              </a:rPr>
              <a:t>}</a:t>
            </a:r>
          </a:p>
          <a:p>
            <a:pPr algn="l" eaLnBrk="1" hangingPunct="1">
              <a:lnSpc>
                <a:spcPct val="95000"/>
              </a:lnSpc>
              <a:spcBef>
                <a:spcPct val="0"/>
              </a:spcBef>
            </a:pPr>
            <a:r>
              <a:rPr lang="en-US" altLang="zh-CN" sz="2600">
                <a:latin typeface="Times New Roman" pitchFamily="18" charset="0"/>
              </a:rPr>
              <a:t>case(…)</a:t>
            </a:r>
          </a:p>
          <a:p>
            <a:pPr algn="l" eaLnBrk="1" hangingPunct="1">
              <a:lnSpc>
                <a:spcPct val="95000"/>
              </a:lnSpc>
              <a:spcBef>
                <a:spcPct val="0"/>
              </a:spcBef>
            </a:pPr>
            <a:r>
              <a:rPr lang="en-US" altLang="zh-CN" sz="2600">
                <a:latin typeface="Times New Roman" pitchFamily="18" charset="0"/>
              </a:rPr>
              <a:t>{</a:t>
            </a:r>
          </a:p>
          <a:p>
            <a:pPr algn="l" eaLnBrk="1" hangingPunct="1">
              <a:lnSpc>
                <a:spcPct val="95000"/>
              </a:lnSpc>
              <a:spcBef>
                <a:spcPct val="0"/>
              </a:spcBef>
            </a:pPr>
            <a:r>
              <a:rPr lang="en-US" altLang="zh-CN" sz="2600">
                <a:latin typeface="Times New Roman" pitchFamily="18" charset="0"/>
              </a:rPr>
              <a:t>    set o to subtype 2 … </a:t>
            </a:r>
          </a:p>
          <a:p>
            <a:pPr algn="l" eaLnBrk="1" hangingPunct="1">
              <a:lnSpc>
                <a:spcPct val="95000"/>
              </a:lnSpc>
              <a:spcBef>
                <a:spcPct val="0"/>
              </a:spcBef>
            </a:pPr>
            <a:r>
              <a:rPr lang="en-US" altLang="zh-CN" sz="2600">
                <a:latin typeface="Times New Roman" pitchFamily="18" charset="0"/>
              </a:rPr>
              <a:t>}</a:t>
            </a:r>
          </a:p>
          <a:p>
            <a:pPr algn="l" eaLnBrk="1" hangingPunct="1">
              <a:lnSpc>
                <a:spcPct val="95000"/>
              </a:lnSpc>
              <a:spcBef>
                <a:spcPct val="0"/>
              </a:spcBef>
            </a:pPr>
            <a:r>
              <a:rPr lang="en-US" altLang="zh-CN" sz="2600">
                <a:latin typeface="Times New Roman" pitchFamily="18" charset="0"/>
              </a:rPr>
              <a:t>…</a:t>
            </a:r>
          </a:p>
          <a:p>
            <a:pPr algn="l" eaLnBrk="1" hangingPunct="1">
              <a:lnSpc>
                <a:spcPct val="95000"/>
              </a:lnSpc>
              <a:spcBef>
                <a:spcPct val="0"/>
              </a:spcBef>
            </a:pPr>
            <a:r>
              <a:rPr lang="en-US" altLang="zh-CN" sz="2600">
                <a:latin typeface="Times New Roman" pitchFamily="18" charset="0"/>
              </a:rPr>
              <a:t>case(…)</a:t>
            </a:r>
          </a:p>
          <a:p>
            <a:pPr algn="l" eaLnBrk="1" hangingPunct="1">
              <a:lnSpc>
                <a:spcPct val="95000"/>
              </a:lnSpc>
              <a:spcBef>
                <a:spcPct val="0"/>
              </a:spcBef>
            </a:pPr>
            <a:r>
              <a:rPr lang="en-US" altLang="zh-CN" sz="2600">
                <a:latin typeface="Times New Roman" pitchFamily="18" charset="0"/>
              </a:rPr>
              <a:t>{</a:t>
            </a:r>
          </a:p>
          <a:p>
            <a:pPr algn="l" eaLnBrk="1" hangingPunct="1">
              <a:lnSpc>
                <a:spcPct val="95000"/>
              </a:lnSpc>
              <a:spcBef>
                <a:spcPct val="0"/>
              </a:spcBef>
            </a:pPr>
            <a:r>
              <a:rPr lang="en-US" altLang="zh-CN" sz="2600">
                <a:latin typeface="Times New Roman" pitchFamily="18" charset="0"/>
              </a:rPr>
              <a:t>    set o to subtype n … </a:t>
            </a:r>
          </a:p>
          <a:p>
            <a:pPr algn="l" eaLnBrk="1" hangingPunct="1">
              <a:lnSpc>
                <a:spcPct val="95000"/>
              </a:lnSpc>
              <a:spcBef>
                <a:spcPct val="0"/>
              </a:spcBef>
            </a:pPr>
            <a:r>
              <a:rPr lang="en-US" altLang="zh-CN" sz="2600">
                <a:latin typeface="Times New Roman" pitchFamily="18" charset="0"/>
              </a:rPr>
              <a:t>}</a:t>
            </a:r>
          </a:p>
          <a:p>
            <a:pPr algn="l" eaLnBrk="1" hangingPunct="1">
              <a:lnSpc>
                <a:spcPct val="95000"/>
              </a:lnSpc>
              <a:spcBef>
                <a:spcPct val="0"/>
              </a:spcBef>
            </a:pPr>
            <a:r>
              <a:rPr lang="en-US" altLang="zh-CN" sz="2600">
                <a:latin typeface="Times New Roman" pitchFamily="18" charset="0"/>
              </a:rPr>
              <a:t>o.theMethod( );</a:t>
            </a:r>
          </a:p>
        </p:txBody>
      </p:sp>
      <p:sp>
        <p:nvSpPr>
          <p:cNvPr id="17413" name="Rectangle 5"/>
          <p:cNvSpPr>
            <a:spLocks noChangeArrowheads="1"/>
          </p:cNvSpPr>
          <p:nvPr/>
        </p:nvSpPr>
        <p:spPr bwMode="auto">
          <a:xfrm>
            <a:off x="431800" y="152400"/>
            <a:ext cx="3925888" cy="6561138"/>
          </a:xfrm>
          <a:prstGeom prst="rect">
            <a:avLst/>
          </a:prstGeom>
          <a:noFill/>
          <a:ln w="6350">
            <a:solidFill>
              <a:srgbClr val="CCFF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zh-CN" altLang="en-US"/>
          </a:p>
        </p:txBody>
      </p:sp>
      <p:sp>
        <p:nvSpPr>
          <p:cNvPr id="17414" name="Rectangle 6"/>
          <p:cNvSpPr>
            <a:spLocks noChangeArrowheads="1"/>
          </p:cNvSpPr>
          <p:nvPr/>
        </p:nvSpPr>
        <p:spPr bwMode="auto">
          <a:xfrm>
            <a:off x="4824413" y="917575"/>
            <a:ext cx="3925887" cy="5759450"/>
          </a:xfrm>
          <a:prstGeom prst="rect">
            <a:avLst/>
          </a:prstGeom>
          <a:noFill/>
          <a:ln w="6350">
            <a:solidFill>
              <a:srgbClr val="CCFF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zh-CN" altLang="en-US"/>
          </a:p>
        </p:txBody>
      </p:sp>
      <p:sp>
        <p:nvSpPr>
          <p:cNvPr id="17415" name="AutoShape 9">
            <a:hlinkClick r:id="rId2" action="ppaction://hlinksldjump" highlightClick="1"/>
          </p:cNvPr>
          <p:cNvSpPr>
            <a:spLocks noChangeArrowheads="1"/>
          </p:cNvSpPr>
          <p:nvPr/>
        </p:nvSpPr>
        <p:spPr bwMode="auto">
          <a:xfrm>
            <a:off x="4191000" y="6248400"/>
            <a:ext cx="609600" cy="457200"/>
          </a:xfrm>
          <a:prstGeom prst="actionButtonBackPrevious">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108000" rIns="0" bIns="108000" anchor="ctr">
            <a:spAutoFit/>
          </a:bodyPr>
          <a:lstStyle/>
          <a:p>
            <a:endParaRPr lang="zh-CN" altLang="en-US"/>
          </a:p>
        </p:txBody>
      </p:sp>
    </p:spTree>
    <p:extLst>
      <p:ext uri="{BB962C8B-B14F-4D97-AF65-F5344CB8AC3E}">
        <p14:creationId xmlns:p14="http://schemas.microsoft.com/office/powerpoint/2010/main" val="320803487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3490913" y="2314575"/>
            <a:ext cx="2125662" cy="307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15000"/>
              </a:spcBef>
              <a:buClr>
                <a:srgbClr val="CCFFFF"/>
              </a:buClr>
              <a:buSzPct val="70000"/>
              <a:buFont typeface="Wingdings" pitchFamily="2" charset="2"/>
              <a:buNone/>
            </a:pPr>
            <a:r>
              <a:rPr lang="en-US" altLang="zh-CN" sz="3600">
                <a:latin typeface="Times New Roman" pitchFamily="18" charset="0"/>
                <a:ea typeface="宋体" charset="-122"/>
              </a:rPr>
              <a:t>class </a:t>
            </a:r>
            <a:r>
              <a:rPr lang="zh-CN" altLang="en-US" sz="3600">
                <a:latin typeface="Times New Roman" pitchFamily="18" charset="0"/>
                <a:ea typeface="宋体" charset="-122"/>
              </a:rPr>
              <a:t>类名</a:t>
            </a:r>
          </a:p>
          <a:p>
            <a:pPr algn="l" eaLnBrk="1" hangingPunct="1">
              <a:spcBef>
                <a:spcPct val="15000"/>
              </a:spcBef>
              <a:buClr>
                <a:srgbClr val="CCFFFF"/>
              </a:buClr>
              <a:buSzPct val="70000"/>
              <a:buFont typeface="Wingdings" pitchFamily="2" charset="2"/>
              <a:buNone/>
            </a:pPr>
            <a:r>
              <a:rPr lang="en-US" altLang="zh-CN" sz="3600">
                <a:latin typeface="Times New Roman" pitchFamily="18" charset="0"/>
                <a:ea typeface="宋体" charset="-122"/>
              </a:rPr>
              <a:t>{ </a:t>
            </a:r>
          </a:p>
          <a:p>
            <a:pPr algn="l" eaLnBrk="1" hangingPunct="1">
              <a:spcBef>
                <a:spcPct val="15000"/>
              </a:spcBef>
              <a:buClr>
                <a:srgbClr val="CCFFFF"/>
              </a:buClr>
              <a:buSzPct val="70000"/>
              <a:buFont typeface="Wingdings" pitchFamily="2" charset="2"/>
              <a:buNone/>
            </a:pPr>
            <a:r>
              <a:rPr lang="en-US" altLang="zh-CN" sz="3600">
                <a:latin typeface="Times New Roman" pitchFamily="18" charset="0"/>
                <a:ea typeface="宋体" charset="-122"/>
              </a:rPr>
              <a:t>    </a:t>
            </a:r>
          </a:p>
          <a:p>
            <a:pPr algn="l" eaLnBrk="1" hangingPunct="1">
              <a:spcBef>
                <a:spcPct val="15000"/>
              </a:spcBef>
              <a:buClr>
                <a:srgbClr val="CCFFFF"/>
              </a:buClr>
              <a:buSzPct val="70000"/>
              <a:buFont typeface="Wingdings" pitchFamily="2" charset="2"/>
              <a:buNone/>
            </a:pPr>
            <a:endParaRPr lang="en-US" altLang="zh-CN" sz="3600">
              <a:latin typeface="Times New Roman" pitchFamily="18" charset="0"/>
              <a:ea typeface="宋体" charset="-122"/>
            </a:endParaRPr>
          </a:p>
          <a:p>
            <a:pPr algn="l" eaLnBrk="1" hangingPunct="1">
              <a:spcBef>
                <a:spcPct val="15000"/>
              </a:spcBef>
              <a:buClr>
                <a:srgbClr val="CCFFFF"/>
              </a:buClr>
              <a:buSzPct val="70000"/>
              <a:buFont typeface="Wingdings" pitchFamily="2" charset="2"/>
              <a:buNone/>
            </a:pPr>
            <a:r>
              <a:rPr lang="en-US" altLang="zh-CN" sz="3600">
                <a:latin typeface="Times New Roman" pitchFamily="18" charset="0"/>
                <a:ea typeface="宋体" charset="-122"/>
              </a:rPr>
              <a:t>}</a:t>
            </a:r>
          </a:p>
        </p:txBody>
      </p:sp>
      <p:sp>
        <p:nvSpPr>
          <p:cNvPr id="18435" name="Text Box 3"/>
          <p:cNvSpPr txBox="1">
            <a:spLocks noChangeArrowheads="1"/>
          </p:cNvSpPr>
          <p:nvPr/>
        </p:nvSpPr>
        <p:spPr bwMode="auto">
          <a:xfrm>
            <a:off x="762000" y="762000"/>
            <a:ext cx="1547813"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144000" rIns="0" bIns="180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4400">
                <a:latin typeface="Times New Roman" pitchFamily="18" charset="0"/>
              </a:rPr>
              <a:t>封装</a:t>
            </a:r>
          </a:p>
        </p:txBody>
      </p:sp>
      <p:sp>
        <p:nvSpPr>
          <p:cNvPr id="18436" name="Rectangle 4"/>
          <p:cNvSpPr>
            <a:spLocks noChangeArrowheads="1"/>
          </p:cNvSpPr>
          <p:nvPr/>
        </p:nvSpPr>
        <p:spPr bwMode="auto">
          <a:xfrm>
            <a:off x="2808288" y="2062163"/>
            <a:ext cx="3527425" cy="3671887"/>
          </a:xfrm>
          <a:prstGeom prst="rect">
            <a:avLst/>
          </a:prstGeom>
          <a:noFill/>
          <a:ln w="9525">
            <a:solidFill>
              <a:srgbClr val="99CC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zh-CN" altLang="en-US"/>
          </a:p>
        </p:txBody>
      </p:sp>
      <p:sp>
        <p:nvSpPr>
          <p:cNvPr id="18437" name="Text Box 5"/>
          <p:cNvSpPr txBox="1">
            <a:spLocks noChangeArrowheads="1"/>
          </p:cNvSpPr>
          <p:nvPr/>
        </p:nvSpPr>
        <p:spPr bwMode="auto">
          <a:xfrm>
            <a:off x="2209800" y="766763"/>
            <a:ext cx="65532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144000" rIns="0" bIns="180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r>
              <a:rPr lang="en-US" altLang="zh-CN" sz="4400"/>
              <a:t>: </a:t>
            </a:r>
            <a:r>
              <a:rPr lang="zh-CN" altLang="en-US" sz="4400"/>
              <a:t>变量和方法都置于类中</a:t>
            </a:r>
          </a:p>
        </p:txBody>
      </p:sp>
      <p:sp>
        <p:nvSpPr>
          <p:cNvPr id="18438" name="Text Box 6"/>
          <p:cNvSpPr txBox="1">
            <a:spLocks noChangeArrowheads="1"/>
          </p:cNvSpPr>
          <p:nvPr/>
        </p:nvSpPr>
        <p:spPr bwMode="auto">
          <a:xfrm>
            <a:off x="3886200" y="3579813"/>
            <a:ext cx="1117600"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15000"/>
              </a:spcBef>
              <a:buClr>
                <a:srgbClr val="CCFFFF"/>
              </a:buClr>
              <a:buSzPct val="70000"/>
              <a:buFont typeface="Wingdings" pitchFamily="2" charset="2"/>
              <a:buNone/>
            </a:pPr>
            <a:r>
              <a:rPr lang="zh-CN" altLang="en-US" sz="3600">
                <a:latin typeface="Times New Roman" pitchFamily="18" charset="0"/>
                <a:ea typeface="宋体" charset="-122"/>
              </a:rPr>
              <a:t>变量</a:t>
            </a:r>
          </a:p>
          <a:p>
            <a:pPr algn="l" eaLnBrk="1" hangingPunct="1">
              <a:spcBef>
                <a:spcPct val="15000"/>
              </a:spcBef>
              <a:buClr>
                <a:srgbClr val="CCFFFF"/>
              </a:buClr>
              <a:buSzPct val="70000"/>
              <a:buFont typeface="Wingdings" pitchFamily="2" charset="2"/>
              <a:buNone/>
            </a:pPr>
            <a:r>
              <a:rPr lang="zh-CN" altLang="en-US" sz="3600">
                <a:latin typeface="Times New Roman" pitchFamily="18" charset="0"/>
                <a:ea typeface="宋体" charset="-122"/>
              </a:rPr>
              <a:t>方法   </a:t>
            </a:r>
          </a:p>
        </p:txBody>
      </p:sp>
    </p:spTree>
    <p:extLst>
      <p:ext uri="{BB962C8B-B14F-4D97-AF65-F5344CB8AC3E}">
        <p14:creationId xmlns:p14="http://schemas.microsoft.com/office/powerpoint/2010/main" val="428307078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385837" y="765174"/>
            <a:ext cx="3960813" cy="455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sm" len="med"/>
              </a14:hiddenLine>
            </a:ext>
          </a:extLst>
        </p:spPr>
        <p:txBody>
          <a:bodyPr lIns="0" tIns="0" rIns="0" bIns="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spcBef>
                <a:spcPct val="20000"/>
              </a:spcBef>
              <a:buClr>
                <a:srgbClr val="CCFFFF"/>
              </a:buClr>
              <a:buSzPct val="70000"/>
              <a:buFont typeface="Wingdings" pitchFamily="2" charset="2"/>
              <a:buNone/>
            </a:pPr>
            <a:r>
              <a:rPr lang="en-US" altLang="zh-CN" sz="2300" dirty="0">
                <a:latin typeface="Times New Roman" pitchFamily="18" charset="0"/>
                <a:ea typeface="宋体" charset="-122"/>
              </a:rPr>
              <a:t>class Draw</a:t>
            </a:r>
          </a:p>
          <a:p>
            <a:pPr algn="l" eaLnBrk="1" hangingPunct="1">
              <a:spcBef>
                <a:spcPct val="20000"/>
              </a:spcBef>
              <a:buClr>
                <a:srgbClr val="CCFFFF"/>
              </a:buClr>
              <a:buSzPct val="70000"/>
              <a:buFont typeface="Wingdings" pitchFamily="2" charset="2"/>
              <a:buNone/>
            </a:pPr>
            <a:r>
              <a:rPr lang="en-US" altLang="zh-CN" sz="2300" dirty="0">
                <a:latin typeface="Times New Roman" pitchFamily="18" charset="0"/>
                <a:ea typeface="宋体" charset="-122"/>
              </a:rPr>
              <a:t>{ </a:t>
            </a:r>
          </a:p>
          <a:p>
            <a:pPr algn="l" eaLnBrk="1" hangingPunct="1">
              <a:spcBef>
                <a:spcPct val="20000"/>
              </a:spcBef>
              <a:buClr>
                <a:srgbClr val="CCFFFF"/>
              </a:buClr>
              <a:buSzPct val="70000"/>
              <a:buFont typeface="Wingdings" pitchFamily="2" charset="2"/>
              <a:buNone/>
            </a:pPr>
            <a:r>
              <a:rPr lang="en-US" altLang="zh-CN" sz="2300" dirty="0">
                <a:latin typeface="Times New Roman" pitchFamily="18" charset="0"/>
                <a:ea typeface="宋体" charset="-122"/>
              </a:rPr>
              <a:t>   …</a:t>
            </a:r>
          </a:p>
          <a:p>
            <a:pPr algn="l" eaLnBrk="1" hangingPunct="1">
              <a:spcBef>
                <a:spcPct val="20000"/>
              </a:spcBef>
              <a:buClr>
                <a:srgbClr val="CCFFFF"/>
              </a:buClr>
              <a:buSzPct val="70000"/>
              <a:buFont typeface="Wingdings" pitchFamily="2" charset="2"/>
              <a:buNone/>
            </a:pPr>
            <a:r>
              <a:rPr lang="en-US" altLang="zh-CN" sz="2300" dirty="0">
                <a:latin typeface="Times New Roman" pitchFamily="18" charset="0"/>
              </a:rPr>
              <a:t>   </a:t>
            </a:r>
            <a:r>
              <a:rPr lang="en-US" altLang="zh-CN" sz="2300" dirty="0" err="1">
                <a:latin typeface="Times New Roman" pitchFamily="18" charset="0"/>
              </a:rPr>
              <a:t>int</a:t>
            </a:r>
            <a:r>
              <a:rPr lang="en-US" altLang="zh-CN" sz="2300" dirty="0">
                <a:latin typeface="Times New Roman" pitchFamily="18" charset="0"/>
              </a:rPr>
              <a:t> </a:t>
            </a:r>
            <a:r>
              <a:rPr lang="en-US" altLang="zh-CN" sz="2300" dirty="0" err="1">
                <a:latin typeface="Times New Roman" pitchFamily="18" charset="0"/>
              </a:rPr>
              <a:t>setColor</a:t>
            </a:r>
            <a:r>
              <a:rPr lang="en-US" altLang="zh-CN" sz="2300" dirty="0">
                <a:latin typeface="Times New Roman" pitchFamily="18" charset="0"/>
              </a:rPr>
              <a:t>(String)  {…}</a:t>
            </a:r>
          </a:p>
          <a:p>
            <a:pPr algn="l" eaLnBrk="1" hangingPunct="1">
              <a:spcBef>
                <a:spcPct val="20000"/>
              </a:spcBef>
              <a:buClr>
                <a:srgbClr val="CCFFFF"/>
              </a:buClr>
              <a:buSzPct val="70000"/>
              <a:buFont typeface="Wingdings" pitchFamily="2" charset="2"/>
              <a:buNone/>
            </a:pPr>
            <a:r>
              <a:rPr lang="en-US" altLang="zh-CN" sz="2300" dirty="0">
                <a:latin typeface="Times New Roman" pitchFamily="18" charset="0"/>
              </a:rPr>
              <a:t>   Pen </a:t>
            </a:r>
            <a:r>
              <a:rPr lang="en-US" altLang="zh-CN" sz="2300" dirty="0" err="1">
                <a:latin typeface="Times New Roman" pitchFamily="18" charset="0"/>
              </a:rPr>
              <a:t>getStandardPen</a:t>
            </a:r>
            <a:r>
              <a:rPr lang="en-US" altLang="zh-CN" sz="2300" dirty="0">
                <a:latin typeface="Times New Roman" pitchFamily="18" charset="0"/>
              </a:rPr>
              <a:t>( )  {…}</a:t>
            </a:r>
          </a:p>
          <a:p>
            <a:pPr algn="l" eaLnBrk="1" hangingPunct="1">
              <a:spcBef>
                <a:spcPct val="20000"/>
              </a:spcBef>
              <a:buClr>
                <a:srgbClr val="CCFFFF"/>
              </a:buClr>
              <a:buSzPct val="70000"/>
              <a:buFont typeface="Wingdings" pitchFamily="2" charset="2"/>
              <a:buNone/>
            </a:pPr>
            <a:r>
              <a:rPr lang="en-US" altLang="zh-CN" sz="2300" dirty="0">
                <a:latin typeface="Times New Roman" pitchFamily="18" charset="0"/>
              </a:rPr>
              <a:t>   </a:t>
            </a:r>
            <a:r>
              <a:rPr lang="en-US" altLang="zh-CN" sz="2300" dirty="0" err="1">
                <a:latin typeface="Times New Roman" pitchFamily="18" charset="0"/>
              </a:rPr>
              <a:t>int</a:t>
            </a:r>
            <a:r>
              <a:rPr lang="en-US" altLang="zh-CN" sz="2300" dirty="0">
                <a:latin typeface="Times New Roman" pitchFamily="18" charset="0"/>
              </a:rPr>
              <a:t> </a:t>
            </a:r>
            <a:r>
              <a:rPr lang="en-US" altLang="zh-CN" sz="2300" dirty="0" err="1">
                <a:latin typeface="Times New Roman" pitchFamily="18" charset="0"/>
              </a:rPr>
              <a:t>getLogoStyle</a:t>
            </a:r>
            <a:r>
              <a:rPr lang="en-US" altLang="zh-CN" sz="2300" dirty="0">
                <a:latin typeface="Times New Roman" pitchFamily="18" charset="0"/>
              </a:rPr>
              <a:t>( )  {…}</a:t>
            </a:r>
          </a:p>
          <a:p>
            <a:pPr algn="l" eaLnBrk="1" hangingPunct="1">
              <a:spcBef>
                <a:spcPct val="20000"/>
              </a:spcBef>
              <a:buClr>
                <a:srgbClr val="CCFFFF"/>
              </a:buClr>
              <a:buSzPct val="70000"/>
              <a:buFont typeface="Wingdings" pitchFamily="2" charset="2"/>
              <a:buNone/>
            </a:pPr>
            <a:r>
              <a:rPr lang="en-US" altLang="zh-CN" sz="2300" dirty="0">
                <a:latin typeface="Times New Roman" pitchFamily="18" charset="0"/>
              </a:rPr>
              <a:t>   void </a:t>
            </a:r>
            <a:r>
              <a:rPr lang="en-US" altLang="zh-CN" sz="2300" dirty="0" err="1">
                <a:latin typeface="Times New Roman" pitchFamily="18" charset="0"/>
              </a:rPr>
              <a:t>setColor</a:t>
            </a:r>
            <a:r>
              <a:rPr lang="en-US" altLang="zh-CN" sz="2300" dirty="0">
                <a:latin typeface="Times New Roman" pitchFamily="18" charset="0"/>
              </a:rPr>
              <a:t>(</a:t>
            </a:r>
            <a:r>
              <a:rPr lang="en-US" altLang="zh-CN" sz="2300" dirty="0" err="1">
                <a:latin typeface="Times New Roman" pitchFamily="18" charset="0"/>
              </a:rPr>
              <a:t>int</a:t>
            </a:r>
            <a:r>
              <a:rPr lang="en-US" altLang="zh-CN" sz="2300" dirty="0">
                <a:latin typeface="Times New Roman" pitchFamily="18" charset="0"/>
              </a:rPr>
              <a:t>)  {…}</a:t>
            </a:r>
          </a:p>
          <a:p>
            <a:pPr algn="l" eaLnBrk="1" hangingPunct="1">
              <a:spcBef>
                <a:spcPct val="20000"/>
              </a:spcBef>
              <a:buClr>
                <a:srgbClr val="CCFFFF"/>
              </a:buClr>
              <a:buSzPct val="70000"/>
              <a:buFont typeface="Wingdings" pitchFamily="2" charset="2"/>
              <a:buNone/>
            </a:pPr>
            <a:r>
              <a:rPr lang="en-US" altLang="zh-CN" sz="2300" dirty="0">
                <a:latin typeface="Times New Roman" pitchFamily="18" charset="0"/>
              </a:rPr>
              <a:t>   void </a:t>
            </a:r>
            <a:r>
              <a:rPr lang="en-US" altLang="zh-CN" sz="2300" dirty="0" err="1">
                <a:latin typeface="Times New Roman" pitchFamily="18" charset="0"/>
              </a:rPr>
              <a:t>drawLogo</a:t>
            </a:r>
            <a:r>
              <a:rPr lang="en-US" altLang="zh-CN" sz="2300" dirty="0">
                <a:latin typeface="Times New Roman" pitchFamily="18" charset="0"/>
              </a:rPr>
              <a:t>(</a:t>
            </a:r>
            <a:r>
              <a:rPr lang="en-US" altLang="zh-CN" sz="2300" dirty="0" err="1">
                <a:latin typeface="Times New Roman" pitchFamily="18" charset="0"/>
              </a:rPr>
              <a:t>int</a:t>
            </a:r>
            <a:r>
              <a:rPr lang="en-US" altLang="zh-CN" sz="2300" dirty="0">
                <a:latin typeface="Times New Roman" pitchFamily="18" charset="0"/>
              </a:rPr>
              <a:t>, </a:t>
            </a:r>
            <a:r>
              <a:rPr lang="en-US" altLang="zh-CN" sz="2300" dirty="0" err="1">
                <a:latin typeface="Times New Roman" pitchFamily="18" charset="0"/>
              </a:rPr>
              <a:t>int</a:t>
            </a:r>
            <a:r>
              <a:rPr lang="en-US" altLang="zh-CN" sz="2300" dirty="0">
                <a:latin typeface="Times New Roman" pitchFamily="18" charset="0"/>
              </a:rPr>
              <a:t>)  {…}</a:t>
            </a:r>
          </a:p>
          <a:p>
            <a:pPr algn="l" eaLnBrk="1" hangingPunct="1">
              <a:spcBef>
                <a:spcPct val="20000"/>
              </a:spcBef>
              <a:buClr>
                <a:srgbClr val="CCFFFF"/>
              </a:buClr>
              <a:buSzPct val="70000"/>
              <a:buFont typeface="Wingdings" pitchFamily="2" charset="2"/>
              <a:buNone/>
            </a:pPr>
            <a:r>
              <a:rPr lang="en-US" altLang="zh-CN" sz="2300" dirty="0">
                <a:latin typeface="Times New Roman" pitchFamily="18" charset="0"/>
              </a:rPr>
              <a:t>   void </a:t>
            </a:r>
            <a:r>
              <a:rPr lang="en-US" altLang="zh-CN" sz="2300" dirty="0" err="1">
                <a:latin typeface="Times New Roman" pitchFamily="18" charset="0"/>
              </a:rPr>
              <a:t>speedUpPen</a:t>
            </a:r>
            <a:r>
              <a:rPr lang="en-US" altLang="zh-CN" sz="2300" dirty="0">
                <a:latin typeface="Times New Roman" pitchFamily="18" charset="0"/>
              </a:rPr>
              <a:t>(</a:t>
            </a:r>
            <a:r>
              <a:rPr lang="en-US" altLang="zh-CN" sz="2300" dirty="0" err="1">
                <a:latin typeface="Times New Roman" pitchFamily="18" charset="0"/>
              </a:rPr>
              <a:t>int</a:t>
            </a:r>
            <a:r>
              <a:rPr lang="en-US" altLang="zh-CN" sz="2300" dirty="0">
                <a:latin typeface="Times New Roman" pitchFamily="18" charset="0"/>
              </a:rPr>
              <a:t>)  {…}</a:t>
            </a:r>
          </a:p>
          <a:p>
            <a:pPr algn="l" eaLnBrk="1" hangingPunct="1">
              <a:spcBef>
                <a:spcPct val="20000"/>
              </a:spcBef>
              <a:buClr>
                <a:srgbClr val="CCFFFF"/>
              </a:buClr>
              <a:buSzPct val="70000"/>
              <a:buFont typeface="Wingdings" pitchFamily="2" charset="2"/>
              <a:buNone/>
            </a:pPr>
            <a:r>
              <a:rPr lang="en-US" altLang="zh-CN" sz="2300" dirty="0">
                <a:latin typeface="Times New Roman" pitchFamily="18" charset="0"/>
              </a:rPr>
              <a:t>   …</a:t>
            </a:r>
            <a:endParaRPr lang="en-US" altLang="zh-CN" sz="2300" dirty="0">
              <a:latin typeface="Times New Roman" pitchFamily="18" charset="0"/>
              <a:ea typeface="宋体" charset="-122"/>
            </a:endParaRPr>
          </a:p>
          <a:p>
            <a:pPr algn="l" eaLnBrk="1" hangingPunct="1">
              <a:spcBef>
                <a:spcPct val="20000"/>
              </a:spcBef>
              <a:buClr>
                <a:srgbClr val="CCFFFF"/>
              </a:buClr>
              <a:buSzPct val="70000"/>
              <a:buFont typeface="Wingdings" pitchFamily="2" charset="2"/>
              <a:buNone/>
            </a:pPr>
            <a:r>
              <a:rPr lang="en-US" altLang="zh-CN" sz="2300" dirty="0">
                <a:latin typeface="Times New Roman" pitchFamily="18" charset="0"/>
                <a:ea typeface="宋体" charset="-122"/>
              </a:rPr>
              <a:t>}</a:t>
            </a:r>
          </a:p>
        </p:txBody>
      </p:sp>
      <p:sp>
        <p:nvSpPr>
          <p:cNvPr id="19459" name="AutoShape 3"/>
          <p:cNvSpPr>
            <a:spLocks noChangeArrowheads="1"/>
          </p:cNvSpPr>
          <p:nvPr/>
        </p:nvSpPr>
        <p:spPr bwMode="auto">
          <a:xfrm>
            <a:off x="1259632" y="587349"/>
            <a:ext cx="4213225" cy="5076825"/>
          </a:xfrm>
          <a:prstGeom prst="foldedCorner">
            <a:avLst>
              <a:gd name="adj" fmla="val 4259"/>
            </a:avLst>
          </a:prstGeom>
          <a:noFill/>
          <a:ln w="9525">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zh-CN" altLang="en-US"/>
          </a:p>
        </p:txBody>
      </p:sp>
      <p:sp>
        <p:nvSpPr>
          <p:cNvPr id="19460" name="Text Box 4"/>
          <p:cNvSpPr txBox="1">
            <a:spLocks noChangeArrowheads="1"/>
          </p:cNvSpPr>
          <p:nvPr/>
        </p:nvSpPr>
        <p:spPr bwMode="auto">
          <a:xfrm>
            <a:off x="1403648" y="5949950"/>
            <a:ext cx="3276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2600" dirty="0" smtClean="0">
                <a:solidFill>
                  <a:schemeClr val="tx2"/>
                </a:solidFill>
                <a:latin typeface="Times New Roman" pitchFamily="18" charset="0"/>
              </a:rPr>
              <a:t>类</a:t>
            </a:r>
            <a:r>
              <a:rPr lang="zh-CN" altLang="en-US" sz="2600" dirty="0">
                <a:solidFill>
                  <a:schemeClr val="tx2"/>
                </a:solidFill>
                <a:latin typeface="Times New Roman" pitchFamily="18" charset="0"/>
              </a:rPr>
              <a:t>封装的函数</a:t>
            </a:r>
          </a:p>
        </p:txBody>
      </p:sp>
    </p:spTree>
    <p:extLst>
      <p:ext uri="{BB962C8B-B14F-4D97-AF65-F5344CB8AC3E}">
        <p14:creationId xmlns:p14="http://schemas.microsoft.com/office/powerpoint/2010/main" val="2429303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529</TotalTime>
  <Words>2902</Words>
  <Application>Microsoft Office PowerPoint</Application>
  <PresentationFormat>全屏显示(4:3)</PresentationFormat>
  <Paragraphs>530</Paragraphs>
  <Slides>48</Slides>
  <Notes>10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48</vt:i4>
      </vt:variant>
    </vt:vector>
  </HeadingPairs>
  <TitlesOfParts>
    <vt:vector size="50" baseType="lpstr">
      <vt:lpstr>Office 主题</vt:lpstr>
      <vt:lpstr>GALLERY</vt:lpstr>
      <vt:lpstr>PowerPoint 演示文稿</vt:lpstr>
      <vt:lpstr>PowerPoint 演示文稿</vt:lpstr>
      <vt:lpstr>PowerPoint 演示文稿</vt:lpstr>
      <vt:lpstr>PowerPoint 演示文稿</vt:lpstr>
      <vt:lpstr>软件危机</vt:lpstr>
      <vt:lpstr>如何克服软件危机 </vt:lpstr>
      <vt:lpstr>软件过程</vt:lpstr>
      <vt:lpstr>软件过程的风格</vt:lpstr>
      <vt:lpstr>软件过程的风格</vt:lpstr>
      <vt:lpstr>纯瀑布过程通常不实际的原因</vt:lpstr>
      <vt:lpstr>软件过程的风格</vt:lpstr>
      <vt:lpstr>PowerPoint 演示文稿</vt:lpstr>
      <vt:lpstr>软件设计的含义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软件设计的目标</vt:lpstr>
      <vt:lpstr>软件设计的目标</vt:lpstr>
      <vt:lpstr>软件设计准则</vt:lpstr>
      <vt:lpstr>PowerPoint 演示文稿</vt:lpstr>
      <vt:lpstr>面向对象出现以前</vt:lpstr>
      <vt:lpstr>软件需求自然的表达方式</vt:lpstr>
      <vt:lpstr>面向对象方法学-用名词表示</vt:lpstr>
      <vt:lpstr>面向对象</vt:lpstr>
      <vt:lpstr>类和对象</vt:lpstr>
      <vt:lpstr>类的引入</vt:lpstr>
      <vt:lpstr>类的成员</vt:lpstr>
      <vt:lpstr>PowerPoint 演示文稿</vt:lpstr>
      <vt:lpstr>属性种类</vt:lpstr>
      <vt:lpstr>面向对象中的“客户”概念</vt:lpstr>
      <vt:lpstr>类的客户</vt:lpstr>
      <vt:lpstr>面向对象的特点</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阎润之</dc:creator>
  <cp:lastModifiedBy>xiexiong</cp:lastModifiedBy>
  <cp:revision>28</cp:revision>
  <dcterms:created xsi:type="dcterms:W3CDTF">2020-03-01T09:10:39Z</dcterms:created>
  <dcterms:modified xsi:type="dcterms:W3CDTF">2023-02-20T02:22:22Z</dcterms:modified>
</cp:coreProperties>
</file>