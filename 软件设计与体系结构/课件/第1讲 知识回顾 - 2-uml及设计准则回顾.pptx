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5"/>
  </p:notesMasterIdLst>
  <p:sldIdLst>
    <p:sldId id="301" r:id="rId2"/>
    <p:sldId id="324" r:id="rId3"/>
    <p:sldId id="325" r:id="rId4"/>
    <p:sldId id="326" r:id="rId5"/>
    <p:sldId id="327" r:id="rId6"/>
    <p:sldId id="328" r:id="rId7"/>
    <p:sldId id="329" r:id="rId8"/>
    <p:sldId id="330" r:id="rId9"/>
    <p:sldId id="331" r:id="rId10"/>
    <p:sldId id="332" r:id="rId11"/>
    <p:sldId id="333" r:id="rId12"/>
    <p:sldId id="334" r:id="rId13"/>
    <p:sldId id="335" r:id="rId14"/>
    <p:sldId id="336" r:id="rId15"/>
    <p:sldId id="337" r:id="rId16"/>
    <p:sldId id="338" r:id="rId17"/>
    <p:sldId id="339" r:id="rId18"/>
    <p:sldId id="340" r:id="rId19"/>
    <p:sldId id="341" r:id="rId20"/>
    <p:sldId id="342" r:id="rId21"/>
    <p:sldId id="343" r:id="rId22"/>
    <p:sldId id="344" r:id="rId23"/>
    <p:sldId id="345" r:id="rId24"/>
    <p:sldId id="346" r:id="rId25"/>
    <p:sldId id="347" r:id="rId26"/>
    <p:sldId id="348" r:id="rId27"/>
    <p:sldId id="349" r:id="rId28"/>
    <p:sldId id="350" r:id="rId29"/>
    <p:sldId id="351" r:id="rId30"/>
    <p:sldId id="352" r:id="rId31"/>
    <p:sldId id="353" r:id="rId32"/>
    <p:sldId id="354" r:id="rId33"/>
    <p:sldId id="355" r:id="rId34"/>
    <p:sldId id="356" r:id="rId35"/>
    <p:sldId id="358" r:id="rId36"/>
    <p:sldId id="359" r:id="rId37"/>
    <p:sldId id="302" r:id="rId38"/>
    <p:sldId id="360" r:id="rId39"/>
    <p:sldId id="361" r:id="rId40"/>
    <p:sldId id="363" r:id="rId41"/>
    <p:sldId id="364" r:id="rId42"/>
    <p:sldId id="365" r:id="rId43"/>
    <p:sldId id="366" r:id="rId44"/>
    <p:sldId id="367" r:id="rId45"/>
    <p:sldId id="387" r:id="rId46"/>
    <p:sldId id="388" r:id="rId47"/>
    <p:sldId id="389" r:id="rId48"/>
    <p:sldId id="390" r:id="rId49"/>
    <p:sldId id="391" r:id="rId50"/>
    <p:sldId id="392" r:id="rId51"/>
    <p:sldId id="393" r:id="rId52"/>
    <p:sldId id="394" r:id="rId53"/>
    <p:sldId id="395" r:id="rId54"/>
    <p:sldId id="396" r:id="rId55"/>
    <p:sldId id="303" r:id="rId56"/>
    <p:sldId id="397" r:id="rId57"/>
    <p:sldId id="398" r:id="rId58"/>
    <p:sldId id="399" r:id="rId59"/>
    <p:sldId id="400" r:id="rId60"/>
    <p:sldId id="401" r:id="rId61"/>
    <p:sldId id="402" r:id="rId62"/>
    <p:sldId id="403" r:id="rId63"/>
    <p:sldId id="404" r:id="rId64"/>
    <p:sldId id="405" r:id="rId65"/>
    <p:sldId id="406" r:id="rId66"/>
    <p:sldId id="407" r:id="rId67"/>
    <p:sldId id="408" r:id="rId68"/>
    <p:sldId id="409" r:id="rId69"/>
    <p:sldId id="410" r:id="rId70"/>
    <p:sldId id="411" r:id="rId71"/>
    <p:sldId id="412" r:id="rId72"/>
    <p:sldId id="414" r:id="rId73"/>
    <p:sldId id="415" r:id="rId7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692"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440292-06D0-4913-B415-14BCED87E846}" type="datetimeFigureOut">
              <a:rPr lang="zh-CN" altLang="en-US" smtClean="0"/>
              <a:t>2023/2/20</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9C0F793-755A-4CD9-90D1-14EAB677F523}" type="slidenum">
              <a:rPr lang="zh-CN" altLang="en-US" smtClean="0"/>
              <a:t>‹#›</a:t>
            </a:fld>
            <a:endParaRPr lang="zh-CN" altLang="en-US"/>
          </a:p>
        </p:txBody>
      </p:sp>
    </p:spTree>
    <p:extLst>
      <p:ext uri="{BB962C8B-B14F-4D97-AF65-F5344CB8AC3E}">
        <p14:creationId xmlns:p14="http://schemas.microsoft.com/office/powerpoint/2010/main" val="2419504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charset="0"/>
                <a:ea typeface="宋体" charset="-122"/>
              </a:defRPr>
            </a:lvl1pPr>
            <a:lvl2pPr marL="742950" indent="-285750">
              <a:defRPr sz="1400">
                <a:solidFill>
                  <a:schemeClr val="tx1"/>
                </a:solidFill>
                <a:latin typeface="Arial" charset="0"/>
                <a:ea typeface="宋体" charset="-122"/>
              </a:defRPr>
            </a:lvl2pPr>
            <a:lvl3pPr marL="1143000" indent="-228600">
              <a:defRPr sz="1400">
                <a:solidFill>
                  <a:schemeClr val="tx1"/>
                </a:solidFill>
                <a:latin typeface="Arial" charset="0"/>
                <a:ea typeface="宋体" charset="-122"/>
              </a:defRPr>
            </a:lvl3pPr>
            <a:lvl4pPr marL="1600200" indent="-228600">
              <a:defRPr sz="1400">
                <a:solidFill>
                  <a:schemeClr val="tx1"/>
                </a:solidFill>
                <a:latin typeface="Arial" charset="0"/>
                <a:ea typeface="宋体" charset="-122"/>
              </a:defRPr>
            </a:lvl4pPr>
            <a:lvl5pPr marL="2057400" indent="-228600">
              <a:defRPr sz="1400">
                <a:solidFill>
                  <a:schemeClr val="tx1"/>
                </a:solidFill>
                <a:latin typeface="Arial" charset="0"/>
                <a:ea typeface="宋体" charset="-122"/>
              </a:defRPr>
            </a:lvl5pPr>
            <a:lvl6pPr marL="2514600" indent="-228600" eaLnBrk="0" fontAlgn="base" hangingPunct="0">
              <a:spcBef>
                <a:spcPct val="0"/>
              </a:spcBef>
              <a:spcAft>
                <a:spcPct val="0"/>
              </a:spcAft>
              <a:defRPr sz="1400">
                <a:solidFill>
                  <a:schemeClr val="tx1"/>
                </a:solidFill>
                <a:latin typeface="Arial" charset="0"/>
                <a:ea typeface="宋体" charset="-122"/>
              </a:defRPr>
            </a:lvl6pPr>
            <a:lvl7pPr marL="2971800" indent="-228600" eaLnBrk="0" fontAlgn="base" hangingPunct="0">
              <a:spcBef>
                <a:spcPct val="0"/>
              </a:spcBef>
              <a:spcAft>
                <a:spcPct val="0"/>
              </a:spcAft>
              <a:defRPr sz="1400">
                <a:solidFill>
                  <a:schemeClr val="tx1"/>
                </a:solidFill>
                <a:latin typeface="Arial" charset="0"/>
                <a:ea typeface="宋体" charset="-122"/>
              </a:defRPr>
            </a:lvl7pPr>
            <a:lvl8pPr marL="3429000" indent="-228600" eaLnBrk="0" fontAlgn="base" hangingPunct="0">
              <a:spcBef>
                <a:spcPct val="0"/>
              </a:spcBef>
              <a:spcAft>
                <a:spcPct val="0"/>
              </a:spcAft>
              <a:defRPr sz="1400">
                <a:solidFill>
                  <a:schemeClr val="tx1"/>
                </a:solidFill>
                <a:latin typeface="Arial" charset="0"/>
                <a:ea typeface="宋体" charset="-122"/>
              </a:defRPr>
            </a:lvl8pPr>
            <a:lvl9pPr marL="3886200" indent="-228600" eaLnBrk="0" fontAlgn="base" hangingPunct="0">
              <a:spcBef>
                <a:spcPct val="0"/>
              </a:spcBef>
              <a:spcAft>
                <a:spcPct val="0"/>
              </a:spcAft>
              <a:defRPr sz="1400">
                <a:solidFill>
                  <a:schemeClr val="tx1"/>
                </a:solidFill>
                <a:latin typeface="Arial" charset="0"/>
                <a:ea typeface="宋体" charset="-122"/>
              </a:defRPr>
            </a:lvl9pPr>
          </a:lstStyle>
          <a:p>
            <a:r>
              <a:rPr lang="zh-CN" altLang="en-US" sz="1200" smtClean="0"/>
              <a:t>APWeb/WAIM2007  Huang Shan  2007-6-16</a:t>
            </a:r>
            <a:endParaRPr lang="en-US" altLang="zh-CN" sz="1200" smtClean="0"/>
          </a:p>
        </p:txBody>
      </p:sp>
      <p:sp>
        <p:nvSpPr>
          <p:cNvPr id="1331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charset="0"/>
                <a:ea typeface="宋体" charset="-122"/>
              </a:defRPr>
            </a:lvl1pPr>
            <a:lvl2pPr marL="742950" indent="-285750">
              <a:defRPr sz="1400">
                <a:solidFill>
                  <a:schemeClr val="tx1"/>
                </a:solidFill>
                <a:latin typeface="Arial" charset="0"/>
                <a:ea typeface="宋体" charset="-122"/>
              </a:defRPr>
            </a:lvl2pPr>
            <a:lvl3pPr marL="1143000" indent="-228600">
              <a:defRPr sz="1400">
                <a:solidFill>
                  <a:schemeClr val="tx1"/>
                </a:solidFill>
                <a:latin typeface="Arial" charset="0"/>
                <a:ea typeface="宋体" charset="-122"/>
              </a:defRPr>
            </a:lvl3pPr>
            <a:lvl4pPr marL="1600200" indent="-228600">
              <a:defRPr sz="1400">
                <a:solidFill>
                  <a:schemeClr val="tx1"/>
                </a:solidFill>
                <a:latin typeface="Arial" charset="0"/>
                <a:ea typeface="宋体" charset="-122"/>
              </a:defRPr>
            </a:lvl4pPr>
            <a:lvl5pPr marL="2057400" indent="-228600">
              <a:defRPr sz="1400">
                <a:solidFill>
                  <a:schemeClr val="tx1"/>
                </a:solidFill>
                <a:latin typeface="Arial" charset="0"/>
                <a:ea typeface="宋体" charset="-122"/>
              </a:defRPr>
            </a:lvl5pPr>
            <a:lvl6pPr marL="2514600" indent="-228600" eaLnBrk="0" fontAlgn="base" hangingPunct="0">
              <a:spcBef>
                <a:spcPct val="0"/>
              </a:spcBef>
              <a:spcAft>
                <a:spcPct val="0"/>
              </a:spcAft>
              <a:defRPr sz="1400">
                <a:solidFill>
                  <a:schemeClr val="tx1"/>
                </a:solidFill>
                <a:latin typeface="Arial" charset="0"/>
                <a:ea typeface="宋体" charset="-122"/>
              </a:defRPr>
            </a:lvl6pPr>
            <a:lvl7pPr marL="2971800" indent="-228600" eaLnBrk="0" fontAlgn="base" hangingPunct="0">
              <a:spcBef>
                <a:spcPct val="0"/>
              </a:spcBef>
              <a:spcAft>
                <a:spcPct val="0"/>
              </a:spcAft>
              <a:defRPr sz="1400">
                <a:solidFill>
                  <a:schemeClr val="tx1"/>
                </a:solidFill>
                <a:latin typeface="Arial" charset="0"/>
                <a:ea typeface="宋体" charset="-122"/>
              </a:defRPr>
            </a:lvl7pPr>
            <a:lvl8pPr marL="3429000" indent="-228600" eaLnBrk="0" fontAlgn="base" hangingPunct="0">
              <a:spcBef>
                <a:spcPct val="0"/>
              </a:spcBef>
              <a:spcAft>
                <a:spcPct val="0"/>
              </a:spcAft>
              <a:defRPr sz="1400">
                <a:solidFill>
                  <a:schemeClr val="tx1"/>
                </a:solidFill>
                <a:latin typeface="Arial" charset="0"/>
                <a:ea typeface="宋体" charset="-122"/>
              </a:defRPr>
            </a:lvl8pPr>
            <a:lvl9pPr marL="3886200" indent="-228600" eaLnBrk="0" fontAlgn="base" hangingPunct="0">
              <a:spcBef>
                <a:spcPct val="0"/>
              </a:spcBef>
              <a:spcAft>
                <a:spcPct val="0"/>
              </a:spcAft>
              <a:defRPr sz="1400">
                <a:solidFill>
                  <a:schemeClr val="tx1"/>
                </a:solidFill>
                <a:latin typeface="Arial" charset="0"/>
                <a:ea typeface="宋体" charset="-122"/>
              </a:defRPr>
            </a:lvl9pPr>
          </a:lstStyle>
          <a:p>
            <a:fld id="{03E58A54-C96A-43FE-8063-DE06A0511D8E}" type="slidenum">
              <a:rPr lang="zh-CN" altLang="en-US" sz="1200"/>
              <a:pPr/>
              <a:t>1</a:t>
            </a:fld>
            <a:endParaRPr lang="en-US" altLang="zh-CN" sz="1200"/>
          </a:p>
        </p:txBody>
      </p:sp>
      <p:sp>
        <p:nvSpPr>
          <p:cNvPr id="13316" name="Rectangle 2"/>
          <p:cNvSpPr>
            <a:spLocks noGrp="1" noRot="1" noChangeAspect="1" noChangeArrowheads="1" noTextEdit="1"/>
          </p:cNvSpPr>
          <p:nvPr>
            <p:ph type="sldImg"/>
          </p:nvPr>
        </p:nvSpPr>
        <p:spPr>
          <a:ln/>
        </p:spPr>
      </p:sp>
      <p:sp>
        <p:nvSpPr>
          <p:cNvPr id="133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ea typeface="宋体"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fld id="{900DA2E1-0717-4F7C-819E-03558DD30ED9}" type="slidenum">
              <a:rPr kumimoji="0" lang="en-US" altLang="zh-CN" sz="1200" b="0" smtClean="0">
                <a:latin typeface="Arial" charset="0"/>
                <a:ea typeface="宋体" charset="-122"/>
              </a:rPr>
              <a:pPr eaLnBrk="1" hangingPunct="1"/>
              <a:t>3</a:t>
            </a:fld>
            <a:endParaRPr kumimoji="0" lang="en-US" altLang="zh-CN" sz="1200" b="0" smtClean="0">
              <a:latin typeface="Arial" charset="0"/>
              <a:ea typeface="宋体" charset="-122"/>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mtClean="0">
                <a:ea typeface="宋体" charset="-122"/>
              </a:rPr>
              <a:t>UML</a:t>
            </a:r>
            <a:r>
              <a:rPr lang="zh-CN" altLang="en-US" smtClean="0">
                <a:ea typeface="宋体" charset="-122"/>
              </a:rPr>
              <a:t>用一个包含类名的矩形符号来表示类，同时也在矩形中加上所需的如变量、方法等其它信息。</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fld id="{446C00A8-E9B6-478A-AAC7-224D1090A9BE}" type="slidenum">
              <a:rPr kumimoji="0" lang="en-US" altLang="zh-CN" sz="1200" b="0" smtClean="0">
                <a:latin typeface="Arial" charset="0"/>
                <a:ea typeface="宋体" charset="-122"/>
              </a:rPr>
              <a:pPr eaLnBrk="1" hangingPunct="1"/>
              <a:t>18</a:t>
            </a:fld>
            <a:endParaRPr kumimoji="0" lang="en-US" altLang="zh-CN" sz="1200" b="0" smtClean="0">
              <a:latin typeface="Arial" charset="0"/>
              <a:ea typeface="宋体" charset="-122"/>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ea typeface="宋体" charset="-122"/>
              </a:rPr>
              <a:t>显示一个用例如何依赖于其他用例。“</a:t>
            </a:r>
            <a:r>
              <a:rPr lang="en-US" altLang="zh-CN" smtClean="0">
                <a:ea typeface="宋体" charset="-122"/>
              </a:rPr>
              <a:t>Extends”(</a:t>
            </a:r>
            <a:r>
              <a:rPr lang="zh-CN" altLang="en-US" smtClean="0">
                <a:ea typeface="宋体" charset="-122"/>
              </a:rPr>
              <a:t>扩展）关系在一定意义上更像是继承关系。”</a:t>
            </a:r>
            <a:r>
              <a:rPr lang="en-US" altLang="zh-CN" smtClean="0">
                <a:ea typeface="宋体" charset="-122"/>
              </a:rPr>
              <a:t>use”</a:t>
            </a:r>
            <a:r>
              <a:rPr lang="zh-CN" altLang="en-US" smtClean="0">
                <a:ea typeface="宋体" charset="-122"/>
              </a:rPr>
              <a:t>（使用）关系由于将其他用例作为整体来使用，所以更像是聚合关系。</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charset="0"/>
                <a:ea typeface="宋体" charset="-122"/>
              </a:defRPr>
            </a:lvl1pPr>
            <a:lvl2pPr marL="742950" indent="-285750">
              <a:defRPr sz="1400">
                <a:solidFill>
                  <a:schemeClr val="tx1"/>
                </a:solidFill>
                <a:latin typeface="Arial" charset="0"/>
                <a:ea typeface="宋体" charset="-122"/>
              </a:defRPr>
            </a:lvl2pPr>
            <a:lvl3pPr marL="1143000" indent="-228600">
              <a:defRPr sz="1400">
                <a:solidFill>
                  <a:schemeClr val="tx1"/>
                </a:solidFill>
                <a:latin typeface="Arial" charset="0"/>
                <a:ea typeface="宋体" charset="-122"/>
              </a:defRPr>
            </a:lvl3pPr>
            <a:lvl4pPr marL="1600200" indent="-228600">
              <a:defRPr sz="1400">
                <a:solidFill>
                  <a:schemeClr val="tx1"/>
                </a:solidFill>
                <a:latin typeface="Arial" charset="0"/>
                <a:ea typeface="宋体" charset="-122"/>
              </a:defRPr>
            </a:lvl4pPr>
            <a:lvl5pPr marL="2057400" indent="-228600">
              <a:defRPr sz="1400">
                <a:solidFill>
                  <a:schemeClr val="tx1"/>
                </a:solidFill>
                <a:latin typeface="Arial" charset="0"/>
                <a:ea typeface="宋体" charset="-122"/>
              </a:defRPr>
            </a:lvl5pPr>
            <a:lvl6pPr marL="2514600" indent="-228600" eaLnBrk="0" fontAlgn="base" hangingPunct="0">
              <a:spcBef>
                <a:spcPct val="0"/>
              </a:spcBef>
              <a:spcAft>
                <a:spcPct val="0"/>
              </a:spcAft>
              <a:defRPr sz="1400">
                <a:solidFill>
                  <a:schemeClr val="tx1"/>
                </a:solidFill>
                <a:latin typeface="Arial" charset="0"/>
                <a:ea typeface="宋体" charset="-122"/>
              </a:defRPr>
            </a:lvl6pPr>
            <a:lvl7pPr marL="2971800" indent="-228600" eaLnBrk="0" fontAlgn="base" hangingPunct="0">
              <a:spcBef>
                <a:spcPct val="0"/>
              </a:spcBef>
              <a:spcAft>
                <a:spcPct val="0"/>
              </a:spcAft>
              <a:defRPr sz="1400">
                <a:solidFill>
                  <a:schemeClr val="tx1"/>
                </a:solidFill>
                <a:latin typeface="Arial" charset="0"/>
                <a:ea typeface="宋体" charset="-122"/>
              </a:defRPr>
            </a:lvl7pPr>
            <a:lvl8pPr marL="3429000" indent="-228600" eaLnBrk="0" fontAlgn="base" hangingPunct="0">
              <a:spcBef>
                <a:spcPct val="0"/>
              </a:spcBef>
              <a:spcAft>
                <a:spcPct val="0"/>
              </a:spcAft>
              <a:defRPr sz="1400">
                <a:solidFill>
                  <a:schemeClr val="tx1"/>
                </a:solidFill>
                <a:latin typeface="Arial" charset="0"/>
                <a:ea typeface="宋体" charset="-122"/>
              </a:defRPr>
            </a:lvl8pPr>
            <a:lvl9pPr marL="3886200" indent="-228600" eaLnBrk="0" fontAlgn="base" hangingPunct="0">
              <a:spcBef>
                <a:spcPct val="0"/>
              </a:spcBef>
              <a:spcAft>
                <a:spcPct val="0"/>
              </a:spcAft>
              <a:defRPr sz="1400">
                <a:solidFill>
                  <a:schemeClr val="tx1"/>
                </a:solidFill>
                <a:latin typeface="Arial" charset="0"/>
                <a:ea typeface="宋体" charset="-122"/>
              </a:defRPr>
            </a:lvl9pPr>
          </a:lstStyle>
          <a:p>
            <a:r>
              <a:rPr lang="zh-CN" altLang="en-US" sz="1200" smtClean="0"/>
              <a:t>APWeb/WAIM2007  Huang Shan  2007-6-16</a:t>
            </a:r>
            <a:endParaRPr lang="en-US" altLang="zh-CN" sz="1200" smtClean="0"/>
          </a:p>
        </p:txBody>
      </p:sp>
      <p:sp>
        <p:nvSpPr>
          <p:cNvPr id="1331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charset="0"/>
                <a:ea typeface="宋体" charset="-122"/>
              </a:defRPr>
            </a:lvl1pPr>
            <a:lvl2pPr marL="742950" indent="-285750">
              <a:defRPr sz="1400">
                <a:solidFill>
                  <a:schemeClr val="tx1"/>
                </a:solidFill>
                <a:latin typeface="Arial" charset="0"/>
                <a:ea typeface="宋体" charset="-122"/>
              </a:defRPr>
            </a:lvl2pPr>
            <a:lvl3pPr marL="1143000" indent="-228600">
              <a:defRPr sz="1400">
                <a:solidFill>
                  <a:schemeClr val="tx1"/>
                </a:solidFill>
                <a:latin typeface="Arial" charset="0"/>
                <a:ea typeface="宋体" charset="-122"/>
              </a:defRPr>
            </a:lvl3pPr>
            <a:lvl4pPr marL="1600200" indent="-228600">
              <a:defRPr sz="1400">
                <a:solidFill>
                  <a:schemeClr val="tx1"/>
                </a:solidFill>
                <a:latin typeface="Arial" charset="0"/>
                <a:ea typeface="宋体" charset="-122"/>
              </a:defRPr>
            </a:lvl4pPr>
            <a:lvl5pPr marL="2057400" indent="-228600">
              <a:defRPr sz="1400">
                <a:solidFill>
                  <a:schemeClr val="tx1"/>
                </a:solidFill>
                <a:latin typeface="Arial" charset="0"/>
                <a:ea typeface="宋体" charset="-122"/>
              </a:defRPr>
            </a:lvl5pPr>
            <a:lvl6pPr marL="2514600" indent="-228600" eaLnBrk="0" fontAlgn="base" hangingPunct="0">
              <a:spcBef>
                <a:spcPct val="0"/>
              </a:spcBef>
              <a:spcAft>
                <a:spcPct val="0"/>
              </a:spcAft>
              <a:defRPr sz="1400">
                <a:solidFill>
                  <a:schemeClr val="tx1"/>
                </a:solidFill>
                <a:latin typeface="Arial" charset="0"/>
                <a:ea typeface="宋体" charset="-122"/>
              </a:defRPr>
            </a:lvl6pPr>
            <a:lvl7pPr marL="2971800" indent="-228600" eaLnBrk="0" fontAlgn="base" hangingPunct="0">
              <a:spcBef>
                <a:spcPct val="0"/>
              </a:spcBef>
              <a:spcAft>
                <a:spcPct val="0"/>
              </a:spcAft>
              <a:defRPr sz="1400">
                <a:solidFill>
                  <a:schemeClr val="tx1"/>
                </a:solidFill>
                <a:latin typeface="Arial" charset="0"/>
                <a:ea typeface="宋体" charset="-122"/>
              </a:defRPr>
            </a:lvl7pPr>
            <a:lvl8pPr marL="3429000" indent="-228600" eaLnBrk="0" fontAlgn="base" hangingPunct="0">
              <a:spcBef>
                <a:spcPct val="0"/>
              </a:spcBef>
              <a:spcAft>
                <a:spcPct val="0"/>
              </a:spcAft>
              <a:defRPr sz="1400">
                <a:solidFill>
                  <a:schemeClr val="tx1"/>
                </a:solidFill>
                <a:latin typeface="Arial" charset="0"/>
                <a:ea typeface="宋体" charset="-122"/>
              </a:defRPr>
            </a:lvl8pPr>
            <a:lvl9pPr marL="3886200" indent="-228600" eaLnBrk="0" fontAlgn="base" hangingPunct="0">
              <a:spcBef>
                <a:spcPct val="0"/>
              </a:spcBef>
              <a:spcAft>
                <a:spcPct val="0"/>
              </a:spcAft>
              <a:defRPr sz="1400">
                <a:solidFill>
                  <a:schemeClr val="tx1"/>
                </a:solidFill>
                <a:latin typeface="Arial" charset="0"/>
                <a:ea typeface="宋体" charset="-122"/>
              </a:defRPr>
            </a:lvl9pPr>
          </a:lstStyle>
          <a:p>
            <a:fld id="{03E58A54-C96A-43FE-8063-DE06A0511D8E}" type="slidenum">
              <a:rPr lang="zh-CN" altLang="en-US" sz="1200"/>
              <a:pPr/>
              <a:t>37</a:t>
            </a:fld>
            <a:endParaRPr lang="en-US" altLang="zh-CN" sz="1200"/>
          </a:p>
        </p:txBody>
      </p:sp>
      <p:sp>
        <p:nvSpPr>
          <p:cNvPr id="13316" name="Rectangle 2"/>
          <p:cNvSpPr>
            <a:spLocks noGrp="1" noRot="1" noChangeAspect="1" noChangeArrowheads="1" noTextEdit="1"/>
          </p:cNvSpPr>
          <p:nvPr>
            <p:ph type="sldImg"/>
          </p:nvPr>
        </p:nvSpPr>
        <p:spPr>
          <a:ln/>
        </p:spPr>
      </p:sp>
      <p:sp>
        <p:nvSpPr>
          <p:cNvPr id="133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ea typeface="宋体"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charset="0"/>
                <a:ea typeface="宋体" charset="-122"/>
              </a:defRPr>
            </a:lvl1pPr>
            <a:lvl2pPr marL="742950" indent="-285750">
              <a:defRPr sz="1400">
                <a:solidFill>
                  <a:schemeClr val="tx1"/>
                </a:solidFill>
                <a:latin typeface="Arial" charset="0"/>
                <a:ea typeface="宋体" charset="-122"/>
              </a:defRPr>
            </a:lvl2pPr>
            <a:lvl3pPr marL="1143000" indent="-228600">
              <a:defRPr sz="1400">
                <a:solidFill>
                  <a:schemeClr val="tx1"/>
                </a:solidFill>
                <a:latin typeface="Arial" charset="0"/>
                <a:ea typeface="宋体" charset="-122"/>
              </a:defRPr>
            </a:lvl3pPr>
            <a:lvl4pPr marL="1600200" indent="-228600">
              <a:defRPr sz="1400">
                <a:solidFill>
                  <a:schemeClr val="tx1"/>
                </a:solidFill>
                <a:latin typeface="Arial" charset="0"/>
                <a:ea typeface="宋体" charset="-122"/>
              </a:defRPr>
            </a:lvl4pPr>
            <a:lvl5pPr marL="2057400" indent="-228600">
              <a:defRPr sz="1400">
                <a:solidFill>
                  <a:schemeClr val="tx1"/>
                </a:solidFill>
                <a:latin typeface="Arial" charset="0"/>
                <a:ea typeface="宋体" charset="-122"/>
              </a:defRPr>
            </a:lvl5pPr>
            <a:lvl6pPr marL="2514600" indent="-228600" eaLnBrk="0" fontAlgn="base" hangingPunct="0">
              <a:spcBef>
                <a:spcPct val="0"/>
              </a:spcBef>
              <a:spcAft>
                <a:spcPct val="0"/>
              </a:spcAft>
              <a:defRPr sz="1400">
                <a:solidFill>
                  <a:schemeClr val="tx1"/>
                </a:solidFill>
                <a:latin typeface="Arial" charset="0"/>
                <a:ea typeface="宋体" charset="-122"/>
              </a:defRPr>
            </a:lvl6pPr>
            <a:lvl7pPr marL="2971800" indent="-228600" eaLnBrk="0" fontAlgn="base" hangingPunct="0">
              <a:spcBef>
                <a:spcPct val="0"/>
              </a:spcBef>
              <a:spcAft>
                <a:spcPct val="0"/>
              </a:spcAft>
              <a:defRPr sz="1400">
                <a:solidFill>
                  <a:schemeClr val="tx1"/>
                </a:solidFill>
                <a:latin typeface="Arial" charset="0"/>
                <a:ea typeface="宋体" charset="-122"/>
              </a:defRPr>
            </a:lvl7pPr>
            <a:lvl8pPr marL="3429000" indent="-228600" eaLnBrk="0" fontAlgn="base" hangingPunct="0">
              <a:spcBef>
                <a:spcPct val="0"/>
              </a:spcBef>
              <a:spcAft>
                <a:spcPct val="0"/>
              </a:spcAft>
              <a:defRPr sz="1400">
                <a:solidFill>
                  <a:schemeClr val="tx1"/>
                </a:solidFill>
                <a:latin typeface="Arial" charset="0"/>
                <a:ea typeface="宋体" charset="-122"/>
              </a:defRPr>
            </a:lvl8pPr>
            <a:lvl9pPr marL="3886200" indent="-228600" eaLnBrk="0" fontAlgn="base" hangingPunct="0">
              <a:spcBef>
                <a:spcPct val="0"/>
              </a:spcBef>
              <a:spcAft>
                <a:spcPct val="0"/>
              </a:spcAft>
              <a:defRPr sz="1400">
                <a:solidFill>
                  <a:schemeClr val="tx1"/>
                </a:solidFill>
                <a:latin typeface="Arial" charset="0"/>
                <a:ea typeface="宋体" charset="-122"/>
              </a:defRPr>
            </a:lvl9pPr>
          </a:lstStyle>
          <a:p>
            <a:r>
              <a:rPr lang="zh-CN" altLang="en-US" sz="1200" smtClean="0"/>
              <a:t>APWeb/WAIM2007  Huang Shan  2007-6-16</a:t>
            </a:r>
            <a:endParaRPr lang="en-US" altLang="zh-CN" sz="1200" smtClean="0"/>
          </a:p>
        </p:txBody>
      </p:sp>
      <p:sp>
        <p:nvSpPr>
          <p:cNvPr id="1331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charset="0"/>
                <a:ea typeface="宋体" charset="-122"/>
              </a:defRPr>
            </a:lvl1pPr>
            <a:lvl2pPr marL="742950" indent="-285750">
              <a:defRPr sz="1400">
                <a:solidFill>
                  <a:schemeClr val="tx1"/>
                </a:solidFill>
                <a:latin typeface="Arial" charset="0"/>
                <a:ea typeface="宋体" charset="-122"/>
              </a:defRPr>
            </a:lvl2pPr>
            <a:lvl3pPr marL="1143000" indent="-228600">
              <a:defRPr sz="1400">
                <a:solidFill>
                  <a:schemeClr val="tx1"/>
                </a:solidFill>
                <a:latin typeface="Arial" charset="0"/>
                <a:ea typeface="宋体" charset="-122"/>
              </a:defRPr>
            </a:lvl3pPr>
            <a:lvl4pPr marL="1600200" indent="-228600">
              <a:defRPr sz="1400">
                <a:solidFill>
                  <a:schemeClr val="tx1"/>
                </a:solidFill>
                <a:latin typeface="Arial" charset="0"/>
                <a:ea typeface="宋体" charset="-122"/>
              </a:defRPr>
            </a:lvl4pPr>
            <a:lvl5pPr marL="2057400" indent="-228600">
              <a:defRPr sz="1400">
                <a:solidFill>
                  <a:schemeClr val="tx1"/>
                </a:solidFill>
                <a:latin typeface="Arial" charset="0"/>
                <a:ea typeface="宋体" charset="-122"/>
              </a:defRPr>
            </a:lvl5pPr>
            <a:lvl6pPr marL="2514600" indent="-228600" eaLnBrk="0" fontAlgn="base" hangingPunct="0">
              <a:spcBef>
                <a:spcPct val="0"/>
              </a:spcBef>
              <a:spcAft>
                <a:spcPct val="0"/>
              </a:spcAft>
              <a:defRPr sz="1400">
                <a:solidFill>
                  <a:schemeClr val="tx1"/>
                </a:solidFill>
                <a:latin typeface="Arial" charset="0"/>
                <a:ea typeface="宋体" charset="-122"/>
              </a:defRPr>
            </a:lvl6pPr>
            <a:lvl7pPr marL="2971800" indent="-228600" eaLnBrk="0" fontAlgn="base" hangingPunct="0">
              <a:spcBef>
                <a:spcPct val="0"/>
              </a:spcBef>
              <a:spcAft>
                <a:spcPct val="0"/>
              </a:spcAft>
              <a:defRPr sz="1400">
                <a:solidFill>
                  <a:schemeClr val="tx1"/>
                </a:solidFill>
                <a:latin typeface="Arial" charset="0"/>
                <a:ea typeface="宋体" charset="-122"/>
              </a:defRPr>
            </a:lvl7pPr>
            <a:lvl8pPr marL="3429000" indent="-228600" eaLnBrk="0" fontAlgn="base" hangingPunct="0">
              <a:spcBef>
                <a:spcPct val="0"/>
              </a:spcBef>
              <a:spcAft>
                <a:spcPct val="0"/>
              </a:spcAft>
              <a:defRPr sz="1400">
                <a:solidFill>
                  <a:schemeClr val="tx1"/>
                </a:solidFill>
                <a:latin typeface="Arial" charset="0"/>
                <a:ea typeface="宋体" charset="-122"/>
              </a:defRPr>
            </a:lvl8pPr>
            <a:lvl9pPr marL="3886200" indent="-228600" eaLnBrk="0" fontAlgn="base" hangingPunct="0">
              <a:spcBef>
                <a:spcPct val="0"/>
              </a:spcBef>
              <a:spcAft>
                <a:spcPct val="0"/>
              </a:spcAft>
              <a:defRPr sz="1400">
                <a:solidFill>
                  <a:schemeClr val="tx1"/>
                </a:solidFill>
                <a:latin typeface="Arial" charset="0"/>
                <a:ea typeface="宋体" charset="-122"/>
              </a:defRPr>
            </a:lvl9pPr>
          </a:lstStyle>
          <a:p>
            <a:fld id="{03E58A54-C96A-43FE-8063-DE06A0511D8E}" type="slidenum">
              <a:rPr lang="zh-CN" altLang="en-US" sz="1200"/>
              <a:pPr/>
              <a:t>55</a:t>
            </a:fld>
            <a:endParaRPr lang="en-US" altLang="zh-CN" sz="1200"/>
          </a:p>
        </p:txBody>
      </p:sp>
      <p:sp>
        <p:nvSpPr>
          <p:cNvPr id="13316" name="Rectangle 2"/>
          <p:cNvSpPr>
            <a:spLocks noGrp="1" noRot="1" noChangeAspect="1" noChangeArrowheads="1" noTextEdit="1"/>
          </p:cNvSpPr>
          <p:nvPr>
            <p:ph type="sldImg"/>
          </p:nvPr>
        </p:nvSpPr>
        <p:spPr>
          <a:ln/>
        </p:spPr>
      </p:sp>
      <p:sp>
        <p:nvSpPr>
          <p:cNvPr id="133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ea typeface="宋体"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ea typeface="宋体" charset="-122"/>
              </a:rPr>
              <a:t>　软件系统的可复用性：</a:t>
            </a:r>
          </a:p>
          <a:p>
            <a:r>
              <a:rPr lang="zh-CN" altLang="en-US" smtClean="0">
                <a:ea typeface="宋体" charset="-122"/>
              </a:rPr>
              <a:t>　　</a:t>
            </a:r>
            <a:r>
              <a:rPr lang="en-US" altLang="zh-CN" smtClean="0">
                <a:ea typeface="宋体" charset="-122"/>
              </a:rPr>
              <a:t>【</a:t>
            </a:r>
            <a:r>
              <a:rPr lang="zh-CN" altLang="en-US" smtClean="0">
                <a:ea typeface="宋体" charset="-122"/>
              </a:rPr>
              <a:t>软件复用的好处</a:t>
            </a:r>
            <a:r>
              <a:rPr lang="en-US" altLang="zh-CN" smtClean="0">
                <a:ea typeface="宋体" charset="-122"/>
              </a:rPr>
              <a:t>】</a:t>
            </a:r>
          </a:p>
          <a:p>
            <a:r>
              <a:rPr lang="zh-CN" altLang="en-US" smtClean="0">
                <a:ea typeface="宋体" charset="-122"/>
              </a:rPr>
              <a:t>　　</a:t>
            </a:r>
            <a:r>
              <a:rPr lang="en-US" altLang="zh-CN" smtClean="0">
                <a:ea typeface="宋体" charset="-122"/>
              </a:rPr>
              <a:t>1</a:t>
            </a:r>
            <a:r>
              <a:rPr lang="zh-CN" altLang="en-US" smtClean="0">
                <a:ea typeface="宋体" charset="-122"/>
              </a:rPr>
              <a:t>、较高的生产效率；</a:t>
            </a:r>
          </a:p>
          <a:p>
            <a:r>
              <a:rPr lang="zh-CN" altLang="en-US" smtClean="0">
                <a:ea typeface="宋体" charset="-122"/>
              </a:rPr>
              <a:t>　　</a:t>
            </a:r>
            <a:r>
              <a:rPr lang="en-US" altLang="zh-CN" smtClean="0">
                <a:ea typeface="宋体" charset="-122"/>
              </a:rPr>
              <a:t>2</a:t>
            </a:r>
            <a:r>
              <a:rPr lang="zh-CN" altLang="en-US" smtClean="0">
                <a:ea typeface="宋体" charset="-122"/>
              </a:rPr>
              <a:t>、较高的软件质量；</a:t>
            </a:r>
          </a:p>
          <a:p>
            <a:r>
              <a:rPr lang="zh-CN" altLang="en-US" smtClean="0">
                <a:ea typeface="宋体" charset="-122"/>
              </a:rPr>
              <a:t>　　</a:t>
            </a:r>
            <a:r>
              <a:rPr lang="en-US" altLang="zh-CN" smtClean="0">
                <a:ea typeface="宋体" charset="-122"/>
              </a:rPr>
              <a:t>3</a:t>
            </a:r>
            <a:r>
              <a:rPr lang="zh-CN" altLang="en-US" smtClean="0">
                <a:ea typeface="宋体" charset="-122"/>
              </a:rPr>
              <a:t>、恰当使用复用可以改善系统的可维护性。</a:t>
            </a:r>
          </a:p>
          <a:p>
            <a:r>
              <a:rPr lang="zh-CN" altLang="en-US" smtClean="0">
                <a:ea typeface="宋体" charset="-122"/>
              </a:rPr>
              <a:t>　　</a:t>
            </a:r>
            <a:r>
              <a:rPr lang="en-US" altLang="zh-CN" smtClean="0">
                <a:ea typeface="宋体" charset="-122"/>
              </a:rPr>
              <a:t>【</a:t>
            </a:r>
            <a:r>
              <a:rPr lang="zh-CN" altLang="en-US" smtClean="0">
                <a:ea typeface="宋体" charset="-122"/>
              </a:rPr>
              <a:t>传统的复用形式</a:t>
            </a:r>
            <a:r>
              <a:rPr lang="en-US" altLang="zh-CN" smtClean="0">
                <a:ea typeface="宋体" charset="-122"/>
              </a:rPr>
              <a:t>】</a:t>
            </a:r>
          </a:p>
          <a:p>
            <a:r>
              <a:rPr lang="zh-CN" altLang="en-US" smtClean="0">
                <a:ea typeface="宋体" charset="-122"/>
              </a:rPr>
              <a:t>　　</a:t>
            </a:r>
            <a:r>
              <a:rPr lang="en-US" altLang="zh-CN" smtClean="0">
                <a:ea typeface="宋体" charset="-122"/>
              </a:rPr>
              <a:t>1</a:t>
            </a:r>
            <a:r>
              <a:rPr lang="zh-CN" altLang="en-US" smtClean="0">
                <a:ea typeface="宋体" charset="-122"/>
              </a:rPr>
              <a:t>、代码的剪贴复用；</a:t>
            </a:r>
          </a:p>
          <a:p>
            <a:r>
              <a:rPr lang="zh-CN" altLang="en-US" smtClean="0">
                <a:ea typeface="宋体" charset="-122"/>
              </a:rPr>
              <a:t>　　</a:t>
            </a:r>
            <a:r>
              <a:rPr lang="en-US" altLang="zh-CN" smtClean="0">
                <a:ea typeface="宋体" charset="-122"/>
              </a:rPr>
              <a:t>2</a:t>
            </a:r>
            <a:r>
              <a:rPr lang="zh-CN" altLang="en-US" smtClean="0">
                <a:ea typeface="宋体" charset="-122"/>
              </a:rPr>
              <a:t>、算法的复用；</a:t>
            </a:r>
          </a:p>
          <a:p>
            <a:r>
              <a:rPr lang="zh-CN" altLang="en-US" smtClean="0">
                <a:ea typeface="宋体" charset="-122"/>
              </a:rPr>
              <a:t>　　</a:t>
            </a:r>
            <a:r>
              <a:rPr lang="en-US" altLang="zh-CN" smtClean="0">
                <a:ea typeface="宋体" charset="-122"/>
              </a:rPr>
              <a:t>3</a:t>
            </a:r>
            <a:r>
              <a:rPr lang="zh-CN" altLang="en-US" smtClean="0">
                <a:ea typeface="宋体" charset="-122"/>
              </a:rPr>
              <a:t>、数据结构的复用。</a:t>
            </a:r>
          </a:p>
          <a:p>
            <a:r>
              <a:rPr lang="zh-CN" altLang="en-US" smtClean="0">
                <a:ea typeface="宋体" charset="-122"/>
              </a:rPr>
              <a:t>　　</a:t>
            </a:r>
            <a:r>
              <a:rPr lang="en-US" altLang="zh-CN" smtClean="0">
                <a:ea typeface="宋体" charset="-122"/>
              </a:rPr>
              <a:t>【</a:t>
            </a:r>
            <a:r>
              <a:rPr lang="zh-CN" altLang="en-US" smtClean="0">
                <a:ea typeface="宋体" charset="-122"/>
              </a:rPr>
              <a:t>面向对象设计的复用</a:t>
            </a:r>
            <a:r>
              <a:rPr lang="en-US" altLang="zh-CN" smtClean="0">
                <a:ea typeface="宋体" charset="-122"/>
              </a:rPr>
              <a:t>】</a:t>
            </a:r>
          </a:p>
          <a:p>
            <a:r>
              <a:rPr lang="zh-CN" altLang="en-US" smtClean="0">
                <a:ea typeface="宋体" charset="-122"/>
              </a:rPr>
              <a:t>　　在面向对象语言中，数据的抽象化，继承，封装和多态性使得一个系统可以在更高层次上提供可复用性。数据的抽象化和继承关系使得概念和定义可以复用；多态性使得实现和应用得到复用；而抽象化和封装可以保持和促进系统的可维护性，复用的重点转移到含有宏观商业逻辑的抽象层次上。在面向对象的设计里面，可维护性复用是以设计原则和设计模式为基础的。</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2023/2/20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2023/2/20</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25945;&#26696;-&#29579;&#26149;&#31435;/link/AutoApplication.java"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6" name="Text Box 4"/>
          <p:cNvSpPr txBox="1">
            <a:spLocks noChangeArrowheads="1"/>
          </p:cNvSpPr>
          <p:nvPr/>
        </p:nvSpPr>
        <p:spPr bwMode="auto">
          <a:xfrm>
            <a:off x="323850" y="1196975"/>
            <a:ext cx="8424863" cy="3416320"/>
          </a:xfrm>
          <a:prstGeom prst="rect">
            <a:avLst/>
          </a:prstGeom>
          <a:noFill/>
          <a:ln>
            <a:noFill/>
          </a:ln>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ctr" eaLnBrk="1" hangingPunct="1">
              <a:defRPr/>
            </a:pPr>
            <a:r>
              <a:rPr lang="zh-CN" altLang="en-US" sz="6000" b="1" dirty="0" smtClean="0">
                <a:solidFill>
                  <a:srgbClr val="FF3300"/>
                </a:solidFill>
                <a:effectLst>
                  <a:outerShdw blurRad="38100" dist="38100" dir="2700000" algn="tl">
                    <a:srgbClr val="C0C0C0"/>
                  </a:outerShdw>
                </a:effectLst>
                <a:ea typeface="隶书" pitchFamily="49" charset="-122"/>
              </a:rPr>
              <a:t>软件设计与体系结构</a:t>
            </a:r>
            <a:endParaRPr lang="en-US" altLang="zh-CN" sz="6000" b="1" dirty="0" smtClean="0">
              <a:solidFill>
                <a:srgbClr val="FF3300"/>
              </a:solidFill>
              <a:effectLst>
                <a:outerShdw blurRad="38100" dist="38100" dir="2700000" algn="tl">
                  <a:srgbClr val="C0C0C0"/>
                </a:outerShdw>
              </a:effectLst>
              <a:ea typeface="隶书" pitchFamily="49" charset="-122"/>
            </a:endParaRPr>
          </a:p>
          <a:p>
            <a:pPr algn="ctr" eaLnBrk="1" hangingPunct="1">
              <a:defRPr/>
            </a:pPr>
            <a:endParaRPr lang="zh-CN" altLang="en-US" sz="6000" b="1" dirty="0" smtClean="0">
              <a:solidFill>
                <a:srgbClr val="FF3300"/>
              </a:solidFill>
              <a:effectLst>
                <a:outerShdw blurRad="38100" dist="38100" dir="2700000" algn="tl">
                  <a:srgbClr val="C0C0C0"/>
                </a:outerShdw>
              </a:effectLst>
              <a:ea typeface="隶书" pitchFamily="49" charset="-122"/>
            </a:endParaRPr>
          </a:p>
          <a:p>
            <a:pPr algn="ctr">
              <a:defRPr/>
            </a:pPr>
            <a:r>
              <a:rPr lang="zh-CN" altLang="en-US" sz="4800" b="1" dirty="0" smtClean="0">
                <a:solidFill>
                  <a:srgbClr val="FF3300"/>
                </a:solidFill>
                <a:effectLst>
                  <a:outerShdw blurRad="38100" dist="38100" dir="2700000" algn="tl">
                    <a:srgbClr val="C0C0C0"/>
                  </a:outerShdw>
                </a:effectLst>
                <a:ea typeface="隶书" pitchFamily="49" charset="-122"/>
              </a:rPr>
              <a:t>第三章 统一</a:t>
            </a:r>
            <a:r>
              <a:rPr lang="zh-CN" altLang="en-US" sz="4800" b="1" dirty="0">
                <a:solidFill>
                  <a:srgbClr val="FF3300"/>
                </a:solidFill>
                <a:effectLst>
                  <a:outerShdw blurRad="38100" dist="38100" dir="2700000" algn="tl">
                    <a:srgbClr val="C0C0C0"/>
                  </a:outerShdw>
                </a:effectLst>
                <a:ea typeface="隶书" pitchFamily="49" charset="-122"/>
              </a:rPr>
              <a:t>建模语言简要</a:t>
            </a:r>
            <a:r>
              <a:rPr lang="zh-CN" altLang="en-US" sz="4800" b="1" dirty="0" smtClean="0">
                <a:solidFill>
                  <a:srgbClr val="FF3300"/>
                </a:solidFill>
                <a:effectLst>
                  <a:outerShdw blurRad="38100" dist="38100" dir="2700000" algn="tl">
                    <a:srgbClr val="C0C0C0"/>
                  </a:outerShdw>
                </a:effectLst>
                <a:ea typeface="隶书" pitchFamily="49" charset="-122"/>
              </a:rPr>
              <a:t>回顾</a:t>
            </a:r>
            <a:endParaRPr lang="en-US" altLang="zh-CN" sz="4800" b="1" dirty="0" smtClean="0">
              <a:solidFill>
                <a:srgbClr val="FF3300"/>
              </a:solidFill>
              <a:effectLst>
                <a:outerShdw blurRad="38100" dist="38100" dir="2700000" algn="tl">
                  <a:srgbClr val="C0C0C0"/>
                </a:outerShdw>
              </a:effectLst>
              <a:ea typeface="隶书" pitchFamily="49" charset="-122"/>
            </a:endParaRPr>
          </a:p>
          <a:p>
            <a:pPr algn="ctr">
              <a:defRPr/>
            </a:pPr>
            <a:r>
              <a:rPr lang="en-US" altLang="zh-CN" sz="4800" b="1" dirty="0" smtClean="0">
                <a:solidFill>
                  <a:srgbClr val="FF3300"/>
                </a:solidFill>
                <a:effectLst>
                  <a:outerShdw blurRad="38100" dist="38100" dir="2700000" algn="tl">
                    <a:srgbClr val="C0C0C0"/>
                  </a:outerShdw>
                </a:effectLst>
                <a:ea typeface="隶书" pitchFamily="49" charset="-122"/>
              </a:rPr>
              <a:t>(</a:t>
            </a:r>
            <a:r>
              <a:rPr lang="en-US" altLang="zh-CN" sz="4800" b="1" dirty="0">
                <a:solidFill>
                  <a:srgbClr val="FF3300"/>
                </a:solidFill>
                <a:effectLst>
                  <a:outerShdw blurRad="38100" dist="38100" dir="2700000" algn="tl">
                    <a:srgbClr val="C0C0C0"/>
                  </a:outerShdw>
                </a:effectLst>
                <a:ea typeface="隶书" pitchFamily="49" charset="-122"/>
              </a:rPr>
              <a:t>United Modeling Language)</a:t>
            </a:r>
            <a:endParaRPr lang="zh-CN" altLang="en-US" sz="4800" b="1" dirty="0" smtClean="0">
              <a:solidFill>
                <a:srgbClr val="FF3300"/>
              </a:solidFill>
              <a:effectLst>
                <a:outerShdw blurRad="38100" dist="38100" dir="2700000" algn="tl">
                  <a:srgbClr val="C0C0C0"/>
                </a:outerShdw>
              </a:effectLst>
              <a:ea typeface="隶书" pitchFamily="49" charset="-122"/>
            </a:endParaRPr>
          </a:p>
        </p:txBody>
      </p:sp>
      <p:pic>
        <p:nvPicPr>
          <p:cNvPr id="3076" name="Picture 24" descr="大连海事大学徽标--处理"/>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116013"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38113"/>
            <a:ext cx="2592387"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2091018"/>
      </p:ext>
    </p:extLst>
  </p:cSld>
  <p:clrMapOvr>
    <a:masterClrMapping/>
  </p:clrMapOvr>
  <mc:AlternateContent xmlns:mc="http://schemas.openxmlformats.org/markup-compatibility/2006" xmlns:p14="http://schemas.microsoft.com/office/powerpoint/2010/main">
    <mc:Choice Requires="p14">
      <p:transition spd="slow" p14:dur="999" advTm="0"/>
    </mc:Choice>
    <mc:Fallback xmlns="">
      <p:transition spd="slow" advTm="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eaLnBrk="1" hangingPunct="1"/>
            <a:r>
              <a:rPr lang="en-US" altLang="zh-CN" b="1" smtClean="0">
                <a:solidFill>
                  <a:schemeClr val="accent2"/>
                </a:solidFill>
                <a:ea typeface="楷体_GB2312" pitchFamily="49" charset="-122"/>
              </a:rPr>
              <a:t>UML</a:t>
            </a:r>
            <a:r>
              <a:rPr lang="zh-CN" altLang="en-US" b="1" smtClean="0">
                <a:solidFill>
                  <a:schemeClr val="accent2"/>
                </a:solidFill>
                <a:ea typeface="楷体_GB2312" pitchFamily="49" charset="-122"/>
              </a:rPr>
              <a:t>的目标</a:t>
            </a:r>
          </a:p>
        </p:txBody>
      </p:sp>
      <p:sp>
        <p:nvSpPr>
          <p:cNvPr id="3075" name="Rectangle 3"/>
          <p:cNvSpPr>
            <a:spLocks noGrp="1" noChangeArrowheads="1"/>
          </p:cNvSpPr>
          <p:nvPr>
            <p:ph type="body" idx="1"/>
          </p:nvPr>
        </p:nvSpPr>
        <p:spPr>
          <a:xfrm>
            <a:off x="228600" y="1600200"/>
            <a:ext cx="8686800" cy="4525963"/>
          </a:xfrm>
        </p:spPr>
        <p:txBody>
          <a:bodyPr/>
          <a:lstStyle/>
          <a:p>
            <a:pPr eaLnBrk="1" hangingPunct="1"/>
            <a:r>
              <a:rPr lang="zh-CN" altLang="en-US" b="1" dirty="0" smtClean="0">
                <a:ea typeface="楷体_GB2312" pitchFamily="49" charset="-122"/>
              </a:rPr>
              <a:t>用图形符号来表达面向对象设计，是</a:t>
            </a:r>
            <a:r>
              <a:rPr lang="en-US" altLang="zh-CN" b="1" dirty="0" err="1" smtClean="0">
                <a:ea typeface="楷体_GB2312" pitchFamily="49" charset="-122"/>
              </a:rPr>
              <a:t>Booch</a:t>
            </a:r>
            <a:r>
              <a:rPr lang="zh-CN" altLang="en-US" b="1" dirty="0" smtClean="0">
                <a:ea typeface="楷体_GB2312" pitchFamily="49" charset="-122"/>
              </a:rPr>
              <a:t>、</a:t>
            </a:r>
            <a:r>
              <a:rPr lang="en-US" altLang="zh-CN" b="1" dirty="0" err="1" smtClean="0">
                <a:ea typeface="楷体_GB2312" pitchFamily="49" charset="-122"/>
              </a:rPr>
              <a:t>Rumbaugh</a:t>
            </a:r>
            <a:r>
              <a:rPr lang="zh-CN" altLang="en-US" b="1" dirty="0" smtClean="0">
                <a:ea typeface="楷体_GB2312" pitchFamily="49" charset="-122"/>
              </a:rPr>
              <a:t>、</a:t>
            </a:r>
            <a:r>
              <a:rPr lang="en-US" altLang="zh-CN" b="1" dirty="0" smtClean="0">
                <a:ea typeface="楷体_GB2312" pitchFamily="49" charset="-122"/>
              </a:rPr>
              <a:t>Jacobson</a:t>
            </a:r>
            <a:r>
              <a:rPr lang="zh-CN" altLang="en-US" b="1" dirty="0" smtClean="0">
                <a:ea typeface="楷体_GB2312" pitchFamily="49" charset="-122"/>
              </a:rPr>
              <a:t>、</a:t>
            </a:r>
            <a:r>
              <a:rPr lang="en-US" altLang="zh-CN" b="1" dirty="0" err="1" smtClean="0">
                <a:ea typeface="楷体_GB2312" pitchFamily="49" charset="-122"/>
              </a:rPr>
              <a:t>Wirf</a:t>
            </a:r>
            <a:r>
              <a:rPr lang="en-US" altLang="zh-CN" b="1" dirty="0" smtClean="0">
                <a:ea typeface="楷体_GB2312" pitchFamily="49" charset="-122"/>
              </a:rPr>
              <a:t>-Brock</a:t>
            </a:r>
            <a:r>
              <a:rPr lang="zh-CN" altLang="en-US" b="1" dirty="0" smtClean="0">
                <a:ea typeface="楷体_GB2312" pitchFamily="49" charset="-122"/>
              </a:rPr>
              <a:t>和</a:t>
            </a:r>
            <a:r>
              <a:rPr lang="en-US" altLang="zh-CN" b="1" dirty="0" err="1" smtClean="0">
                <a:ea typeface="楷体_GB2312" pitchFamily="49" charset="-122"/>
              </a:rPr>
              <a:t>Harel</a:t>
            </a:r>
            <a:r>
              <a:rPr lang="zh-CN" altLang="en-US" b="1" dirty="0" smtClean="0">
                <a:ea typeface="楷体_GB2312" pitchFamily="49" charset="-122"/>
              </a:rPr>
              <a:t>几种符号表示方法的综合。</a:t>
            </a:r>
          </a:p>
          <a:p>
            <a:pPr eaLnBrk="1" hangingPunct="1"/>
            <a:r>
              <a:rPr lang="zh-CN" altLang="en-US" b="1" dirty="0" smtClean="0">
                <a:ea typeface="楷体_GB2312" pitchFamily="49" charset="-122"/>
              </a:rPr>
              <a:t>官方</a:t>
            </a:r>
            <a:r>
              <a:rPr lang="en-US" altLang="zh-CN" b="1" dirty="0" smtClean="0">
                <a:ea typeface="楷体_GB2312" pitchFamily="49" charset="-122"/>
              </a:rPr>
              <a:t>UML</a:t>
            </a:r>
            <a:r>
              <a:rPr lang="zh-CN" altLang="en-US" b="1" dirty="0" smtClean="0">
                <a:ea typeface="楷体_GB2312" pitchFamily="49" charset="-122"/>
              </a:rPr>
              <a:t>标准由</a:t>
            </a:r>
            <a:r>
              <a:rPr lang="zh-CN" altLang="en-US" b="1" dirty="0" smtClean="0">
                <a:solidFill>
                  <a:srgbClr val="0000CC"/>
                </a:solidFill>
                <a:ea typeface="楷体_GB2312" pitchFamily="49" charset="-122"/>
              </a:rPr>
              <a:t>对象管理组</a:t>
            </a:r>
            <a:r>
              <a:rPr lang="zh-CN" altLang="en-US" b="1" dirty="0" smtClean="0">
                <a:ea typeface="楷体_GB2312" pitchFamily="49" charset="-122"/>
              </a:rPr>
              <a:t>（</a:t>
            </a:r>
            <a:r>
              <a:rPr lang="en-US" altLang="zh-CN" b="1" dirty="0" smtClean="0">
                <a:ea typeface="楷体_GB2312" pitchFamily="49" charset="-122"/>
              </a:rPr>
              <a:t>Object Management Group, OMG</a:t>
            </a:r>
            <a:r>
              <a:rPr lang="zh-CN" altLang="en-US" b="1" dirty="0" smtClean="0">
                <a:ea typeface="楷体_GB2312" pitchFamily="49" charset="-122"/>
              </a:rPr>
              <a:t>）联盟进行管理。</a:t>
            </a:r>
            <a:endParaRPr lang="en-US" altLang="zh-CN" b="1" dirty="0" smtClean="0">
              <a:ea typeface="楷体_GB2312" pitchFamily="49" charset="-122"/>
            </a:endParaRPr>
          </a:p>
          <a:p>
            <a:pPr eaLnBrk="1" hangingPunct="1"/>
            <a:r>
              <a:rPr lang="zh-CN" altLang="en-US" b="1" dirty="0" smtClean="0">
                <a:ea typeface="楷体_GB2312" pitchFamily="49" charset="-122"/>
              </a:rPr>
              <a:t>大部分的</a:t>
            </a:r>
            <a:r>
              <a:rPr lang="en-US" altLang="zh-CN" b="1" dirty="0" smtClean="0">
                <a:ea typeface="楷体_GB2312" pitchFamily="49" charset="-122"/>
              </a:rPr>
              <a:t>UML</a:t>
            </a:r>
            <a:r>
              <a:rPr lang="zh-CN" altLang="en-US" b="1" dirty="0" smtClean="0">
                <a:ea typeface="楷体_GB2312" pitchFamily="49" charset="-122"/>
              </a:rPr>
              <a:t>设计表示都称为</a:t>
            </a:r>
            <a:r>
              <a:rPr lang="zh-CN" altLang="en-US" b="1" dirty="0" smtClean="0">
                <a:solidFill>
                  <a:srgbClr val="0000CC"/>
                </a:solidFill>
                <a:ea typeface="楷体_GB2312" pitchFamily="49" charset="-122"/>
              </a:rPr>
              <a:t>模型。</a:t>
            </a:r>
          </a:p>
        </p:txBody>
      </p:sp>
    </p:spTree>
    <p:extLst>
      <p:ext uri="{BB962C8B-B14F-4D97-AF65-F5344CB8AC3E}">
        <p14:creationId xmlns:p14="http://schemas.microsoft.com/office/powerpoint/2010/main" val="24045242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ltLang="zh-CN" b="1" smtClean="0">
                <a:solidFill>
                  <a:schemeClr val="accent2"/>
                </a:solidFill>
                <a:ea typeface="楷体_GB2312" pitchFamily="49" charset="-122"/>
              </a:rPr>
              <a:t>UML</a:t>
            </a:r>
            <a:r>
              <a:rPr lang="zh-CN" altLang="en-US" b="1" smtClean="0">
                <a:solidFill>
                  <a:schemeClr val="accent2"/>
                </a:solidFill>
                <a:ea typeface="楷体_GB2312" pitchFamily="49" charset="-122"/>
              </a:rPr>
              <a:t>中的类</a:t>
            </a:r>
          </a:p>
        </p:txBody>
      </p:sp>
      <p:grpSp>
        <p:nvGrpSpPr>
          <p:cNvPr id="4099" name="Group 27"/>
          <p:cNvGrpSpPr>
            <a:grpSpLocks/>
          </p:cNvGrpSpPr>
          <p:nvPr/>
        </p:nvGrpSpPr>
        <p:grpSpPr bwMode="auto">
          <a:xfrm>
            <a:off x="400050" y="228600"/>
            <a:ext cx="8218488" cy="5715000"/>
            <a:chOff x="252" y="528"/>
            <a:chExt cx="5177" cy="3600"/>
          </a:xfrm>
        </p:grpSpPr>
        <p:sp>
          <p:nvSpPr>
            <p:cNvPr id="4101" name="Rectangle 6"/>
            <p:cNvSpPr>
              <a:spLocks noChangeArrowheads="1"/>
            </p:cNvSpPr>
            <p:nvPr/>
          </p:nvSpPr>
          <p:spPr bwMode="auto">
            <a:xfrm>
              <a:off x="336" y="528"/>
              <a:ext cx="672" cy="576"/>
            </a:xfrm>
            <a:prstGeom prst="rect">
              <a:avLst/>
            </a:prstGeom>
            <a:solidFill>
              <a:schemeClr val="tx1"/>
            </a:solidFill>
            <a:ln w="19050">
              <a:solidFill>
                <a:schemeClr val="tx1"/>
              </a:solidFill>
              <a:miter lim="800000"/>
              <a:headEnd/>
              <a:tailEnd/>
            </a:ln>
          </p:spPr>
          <p:txBody>
            <a:bodyPr wrap="none" anchor="ctr"/>
            <a:lstStyle/>
            <a:p>
              <a:endParaRPr lang="zh-CN" altLang="en-US"/>
            </a:p>
          </p:txBody>
        </p:sp>
        <p:sp>
          <p:nvSpPr>
            <p:cNvPr id="4102" name="AutoShape 7"/>
            <p:cNvSpPr>
              <a:spLocks noChangeArrowheads="1"/>
            </p:cNvSpPr>
            <p:nvPr/>
          </p:nvSpPr>
          <p:spPr bwMode="auto">
            <a:xfrm flipV="1">
              <a:off x="336" y="1104"/>
              <a:ext cx="816" cy="192"/>
            </a:xfrm>
            <a:prstGeom prst="parallelogram">
              <a:avLst>
                <a:gd name="adj" fmla="val 106250"/>
              </a:avLst>
            </a:prstGeom>
            <a:solidFill>
              <a:schemeClr val="tx1"/>
            </a:solidFill>
            <a:ln w="19050">
              <a:solidFill>
                <a:schemeClr val="tx1"/>
              </a:solidFill>
              <a:miter lim="800000"/>
              <a:headEnd/>
              <a:tailEnd/>
            </a:ln>
          </p:spPr>
          <p:txBody>
            <a:bodyPr wrap="none" anchor="ctr"/>
            <a:lstStyle/>
            <a:p>
              <a:endParaRPr lang="zh-CN" altLang="en-US"/>
            </a:p>
          </p:txBody>
        </p:sp>
        <p:sp>
          <p:nvSpPr>
            <p:cNvPr id="4103" name="Rectangle 8"/>
            <p:cNvSpPr>
              <a:spLocks noChangeArrowheads="1"/>
            </p:cNvSpPr>
            <p:nvPr/>
          </p:nvSpPr>
          <p:spPr bwMode="auto">
            <a:xfrm>
              <a:off x="1468" y="2928"/>
              <a:ext cx="2208" cy="1200"/>
            </a:xfrm>
            <a:prstGeom prst="rect">
              <a:avLst/>
            </a:prstGeom>
            <a:solidFill>
              <a:schemeClr val="bg1"/>
            </a:solidFill>
            <a:ln w="19050">
              <a:solidFill>
                <a:schemeClr val="tx1"/>
              </a:solidFill>
              <a:miter lim="800000"/>
              <a:headEnd/>
              <a:tailEnd/>
            </a:ln>
          </p:spPr>
          <p:txBody>
            <a:bodyPr wrap="none" anchor="ctr"/>
            <a:lstStyle/>
            <a:p>
              <a:pPr algn="l" eaLnBrk="0" hangingPunct="0">
                <a:spcBef>
                  <a:spcPct val="0"/>
                </a:spcBef>
              </a:pPr>
              <a:r>
                <a:rPr kumimoji="0" lang="en-US" altLang="zh-CN" b="0">
                  <a:latin typeface="Arial Narrow" pitchFamily="34" charset="0"/>
                  <a:ea typeface="宋体" charset="-122"/>
                </a:rPr>
                <a:t>Responsibilities:</a:t>
              </a:r>
            </a:p>
            <a:p>
              <a:pPr algn="l" eaLnBrk="0" hangingPunct="0">
                <a:spcBef>
                  <a:spcPct val="0"/>
                </a:spcBef>
              </a:pPr>
              <a:r>
                <a:rPr kumimoji="0" lang="en-US" altLang="zh-CN" b="0">
                  <a:latin typeface="Arial Narrow" pitchFamily="34" charset="0"/>
                  <a:ea typeface="宋体" charset="-122"/>
                </a:rPr>
                <a:t>-- describes each </a:t>
              </a:r>
            </a:p>
            <a:p>
              <a:pPr algn="l" eaLnBrk="0" hangingPunct="0">
                <a:spcBef>
                  <a:spcPct val="0"/>
                </a:spcBef>
              </a:pPr>
              <a:r>
                <a:rPr kumimoji="0" lang="en-US" altLang="zh-CN" b="0">
                  <a:latin typeface="Arial Narrow" pitchFamily="34" charset="0"/>
                  <a:ea typeface="宋体" charset="-122"/>
                </a:rPr>
                <a:t>canister undergoing </a:t>
              </a:r>
            </a:p>
            <a:p>
              <a:pPr algn="l" eaLnBrk="0" hangingPunct="0">
                <a:spcBef>
                  <a:spcPct val="0"/>
                </a:spcBef>
              </a:pPr>
              <a:r>
                <a:rPr kumimoji="0" lang="en-US" altLang="zh-CN" b="0">
                  <a:latin typeface="Arial Narrow" pitchFamily="34" charset="0"/>
                  <a:ea typeface="宋体" charset="-122"/>
                </a:rPr>
                <a:t>fabrication</a:t>
              </a:r>
            </a:p>
          </p:txBody>
        </p:sp>
        <p:sp>
          <p:nvSpPr>
            <p:cNvPr id="4104" name="Rectangle 9"/>
            <p:cNvSpPr>
              <a:spLocks noChangeArrowheads="1"/>
            </p:cNvSpPr>
            <p:nvPr/>
          </p:nvSpPr>
          <p:spPr bwMode="auto">
            <a:xfrm>
              <a:off x="1468" y="2208"/>
              <a:ext cx="2208" cy="720"/>
            </a:xfrm>
            <a:prstGeom prst="rect">
              <a:avLst/>
            </a:prstGeom>
            <a:solidFill>
              <a:schemeClr val="bg1"/>
            </a:solidFill>
            <a:ln w="19050">
              <a:solidFill>
                <a:schemeClr val="tx1"/>
              </a:solidFill>
              <a:miter lim="800000"/>
              <a:headEnd/>
              <a:tailEnd/>
            </a:ln>
          </p:spPr>
          <p:txBody>
            <a:bodyPr wrap="none" tIns="320040" bIns="320040" anchor="ctr"/>
            <a:lstStyle/>
            <a:p>
              <a:pPr algn="l" eaLnBrk="0" hangingPunct="0">
                <a:lnSpc>
                  <a:spcPct val="80000"/>
                </a:lnSpc>
                <a:spcBef>
                  <a:spcPct val="0"/>
                </a:spcBef>
              </a:pPr>
              <a:r>
                <a:rPr kumimoji="0" lang="en-US" altLang="zh-CN" b="0">
                  <a:latin typeface="Arial Narrow" pitchFamily="34" charset="0"/>
                  <a:ea typeface="宋体" charset="-122"/>
                </a:rPr>
                <a:t>+ display()</a:t>
              </a:r>
            </a:p>
            <a:p>
              <a:pPr algn="l" eaLnBrk="0" hangingPunct="0">
                <a:lnSpc>
                  <a:spcPct val="80000"/>
                </a:lnSpc>
                <a:spcBef>
                  <a:spcPct val="0"/>
                </a:spcBef>
              </a:pPr>
              <a:r>
                <a:rPr kumimoji="0" lang="en-US" altLang="zh-CN" b="0">
                  <a:latin typeface="Arial Narrow" pitchFamily="34" charset="0"/>
                  <a:ea typeface="宋体" charset="-122"/>
                </a:rPr>
                <a:t>-  getNumOpenSlots()</a:t>
              </a:r>
            </a:p>
            <a:p>
              <a:pPr algn="l" eaLnBrk="0" hangingPunct="0">
                <a:lnSpc>
                  <a:spcPct val="80000"/>
                </a:lnSpc>
                <a:spcBef>
                  <a:spcPct val="0"/>
                </a:spcBef>
              </a:pPr>
              <a:r>
                <a:rPr kumimoji="0" lang="en-US" altLang="zh-CN" b="0">
                  <a:latin typeface="Arial Narrow" pitchFamily="34" charset="0"/>
                  <a:ea typeface="宋体" charset="-122"/>
                </a:rPr>
                <a:t>+ setStatus()</a:t>
              </a:r>
            </a:p>
          </p:txBody>
        </p:sp>
        <p:sp>
          <p:nvSpPr>
            <p:cNvPr id="4105" name="Rectangle 10"/>
            <p:cNvSpPr>
              <a:spLocks noChangeArrowheads="1"/>
            </p:cNvSpPr>
            <p:nvPr/>
          </p:nvSpPr>
          <p:spPr bwMode="auto">
            <a:xfrm>
              <a:off x="1468" y="1584"/>
              <a:ext cx="2208" cy="624"/>
            </a:xfrm>
            <a:prstGeom prst="rect">
              <a:avLst/>
            </a:prstGeom>
            <a:solidFill>
              <a:schemeClr val="bg1"/>
            </a:solidFill>
            <a:ln w="19050">
              <a:solidFill>
                <a:schemeClr val="tx1"/>
              </a:solidFill>
              <a:miter lim="800000"/>
              <a:headEnd/>
              <a:tailEnd/>
            </a:ln>
          </p:spPr>
          <p:txBody>
            <a:bodyPr wrap="none" anchor="ctr"/>
            <a:lstStyle/>
            <a:p>
              <a:pPr algn="l" eaLnBrk="0" hangingPunct="0">
                <a:lnSpc>
                  <a:spcPct val="70000"/>
                </a:lnSpc>
                <a:spcBef>
                  <a:spcPct val="0"/>
                </a:spcBef>
              </a:pPr>
              <a:r>
                <a:rPr kumimoji="0" lang="en-US" altLang="zh-CN" b="0">
                  <a:latin typeface="Arial Narrow" pitchFamily="34" charset="0"/>
                  <a:ea typeface="宋体" charset="-122"/>
                </a:rPr>
                <a:t>+ numCanisters: int </a:t>
              </a:r>
            </a:p>
            <a:p>
              <a:pPr algn="l" eaLnBrk="0" hangingPunct="0">
                <a:lnSpc>
                  <a:spcPct val="70000"/>
                </a:lnSpc>
                <a:spcBef>
                  <a:spcPct val="0"/>
                </a:spcBef>
              </a:pPr>
              <a:r>
                <a:rPr kumimoji="0" lang="en-US" altLang="zh-CN" b="0">
                  <a:latin typeface="Arial Narrow" pitchFamily="34" charset="0"/>
                  <a:ea typeface="宋体" charset="-122"/>
                </a:rPr>
                <a:t>-  numWafers: int</a:t>
              </a:r>
            </a:p>
            <a:p>
              <a:pPr algn="l" eaLnBrk="0" hangingPunct="0">
                <a:lnSpc>
                  <a:spcPct val="70000"/>
                </a:lnSpc>
                <a:spcBef>
                  <a:spcPct val="0"/>
                </a:spcBef>
              </a:pPr>
              <a:r>
                <a:rPr kumimoji="0" lang="en-US" altLang="zh-CN" b="0">
                  <a:latin typeface="Arial Narrow" pitchFamily="34" charset="0"/>
                  <a:ea typeface="宋体" charset="-122"/>
                </a:rPr>
                <a:t>-  size: float</a:t>
              </a:r>
            </a:p>
          </p:txBody>
        </p:sp>
        <p:sp>
          <p:nvSpPr>
            <p:cNvPr id="4106" name="Rectangle 11"/>
            <p:cNvSpPr>
              <a:spLocks noChangeArrowheads="1"/>
            </p:cNvSpPr>
            <p:nvPr/>
          </p:nvSpPr>
          <p:spPr bwMode="auto">
            <a:xfrm>
              <a:off x="1468" y="1200"/>
              <a:ext cx="2208" cy="384"/>
            </a:xfrm>
            <a:prstGeom prst="rect">
              <a:avLst/>
            </a:prstGeom>
            <a:solidFill>
              <a:schemeClr val="bg1"/>
            </a:solidFill>
            <a:ln w="19050">
              <a:solidFill>
                <a:schemeClr val="tx1"/>
              </a:solidFill>
              <a:miter lim="800000"/>
              <a:headEnd/>
              <a:tailEnd/>
            </a:ln>
          </p:spPr>
          <p:txBody>
            <a:bodyPr wrap="none" anchor="ctr"/>
            <a:lstStyle/>
            <a:p>
              <a:pPr eaLnBrk="0" hangingPunct="0">
                <a:spcBef>
                  <a:spcPct val="0"/>
                </a:spcBef>
              </a:pPr>
              <a:r>
                <a:rPr kumimoji="0" lang="en-US" altLang="zh-CN" b="0">
                  <a:latin typeface="Arial Narrow" pitchFamily="34" charset="0"/>
                  <a:ea typeface="宋体" charset="-122"/>
                </a:rPr>
                <a:t>Canister</a:t>
              </a:r>
            </a:p>
          </p:txBody>
        </p:sp>
        <p:sp>
          <p:nvSpPr>
            <p:cNvPr id="4107" name="Text Box 12"/>
            <p:cNvSpPr txBox="1">
              <a:spLocks noChangeArrowheads="1"/>
            </p:cNvSpPr>
            <p:nvPr/>
          </p:nvSpPr>
          <p:spPr bwMode="auto">
            <a:xfrm>
              <a:off x="4300" y="1248"/>
              <a:ext cx="5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r>
                <a:rPr kumimoji="0" lang="zh-CN" altLang="en-US" sz="2400">
                  <a:solidFill>
                    <a:schemeClr val="accent2"/>
                  </a:solidFill>
                </a:rPr>
                <a:t>类名</a:t>
              </a:r>
            </a:p>
          </p:txBody>
        </p:sp>
        <p:sp>
          <p:nvSpPr>
            <p:cNvPr id="4108" name="Text Box 13"/>
            <p:cNvSpPr txBox="1">
              <a:spLocks noChangeArrowheads="1"/>
            </p:cNvSpPr>
            <p:nvPr/>
          </p:nvSpPr>
          <p:spPr bwMode="auto">
            <a:xfrm>
              <a:off x="4300" y="1752"/>
              <a:ext cx="10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r>
                <a:rPr kumimoji="0" lang="zh-CN" altLang="en-US" sz="2400">
                  <a:solidFill>
                    <a:schemeClr val="accent2"/>
                  </a:solidFill>
                  <a:latin typeface="Arial Narrow" pitchFamily="34" charset="0"/>
                </a:rPr>
                <a:t>属性：类型</a:t>
              </a:r>
            </a:p>
          </p:txBody>
        </p:sp>
        <p:sp>
          <p:nvSpPr>
            <p:cNvPr id="4109" name="Text Box 14"/>
            <p:cNvSpPr txBox="1">
              <a:spLocks noChangeArrowheads="1"/>
            </p:cNvSpPr>
            <p:nvPr/>
          </p:nvSpPr>
          <p:spPr bwMode="auto">
            <a:xfrm>
              <a:off x="4300" y="2481"/>
              <a:ext cx="50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50000"/>
                </a:lnSpc>
              </a:pPr>
              <a:r>
                <a:rPr kumimoji="0" lang="zh-CN" altLang="en-US" sz="2400">
                  <a:solidFill>
                    <a:schemeClr val="accent2"/>
                  </a:solidFill>
                  <a:latin typeface="Arial Narrow" pitchFamily="34" charset="0"/>
                </a:rPr>
                <a:t>操作</a:t>
              </a:r>
            </a:p>
          </p:txBody>
        </p:sp>
        <p:sp>
          <p:nvSpPr>
            <p:cNvPr id="4110" name="Text Box 15"/>
            <p:cNvSpPr txBox="1">
              <a:spLocks noChangeArrowheads="1"/>
            </p:cNvSpPr>
            <p:nvPr/>
          </p:nvSpPr>
          <p:spPr bwMode="auto">
            <a:xfrm>
              <a:off x="4348" y="3438"/>
              <a:ext cx="108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50000"/>
                </a:lnSpc>
              </a:pPr>
              <a:r>
                <a:rPr kumimoji="0" lang="zh-CN" altLang="en-US" sz="2400">
                  <a:solidFill>
                    <a:schemeClr val="accent2"/>
                  </a:solidFill>
                  <a:latin typeface="Arial Narrow" pitchFamily="34" charset="0"/>
                </a:rPr>
                <a:t>注释的地方</a:t>
              </a:r>
            </a:p>
          </p:txBody>
        </p:sp>
        <p:cxnSp>
          <p:nvCxnSpPr>
            <p:cNvPr id="4111" name="AutoShape 16"/>
            <p:cNvCxnSpPr>
              <a:cxnSpLocks noChangeShapeType="1"/>
              <a:stCxn id="4107" idx="1"/>
              <a:endCxn id="4106" idx="3"/>
            </p:cNvCxnSpPr>
            <p:nvPr/>
          </p:nvCxnSpPr>
          <p:spPr bwMode="auto">
            <a:xfrm rot="10800000">
              <a:off x="3682" y="1392"/>
              <a:ext cx="618" cy="0"/>
            </a:xfrm>
            <a:prstGeom prst="straightConnector1">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cxnSp>
        <p:cxnSp>
          <p:nvCxnSpPr>
            <p:cNvPr id="4112" name="AutoShape 17"/>
            <p:cNvCxnSpPr>
              <a:cxnSpLocks noChangeShapeType="1"/>
              <a:stCxn id="4108" idx="1"/>
              <a:endCxn id="4105" idx="3"/>
            </p:cNvCxnSpPr>
            <p:nvPr/>
          </p:nvCxnSpPr>
          <p:spPr bwMode="auto">
            <a:xfrm rot="10800000">
              <a:off x="3682" y="1896"/>
              <a:ext cx="618" cy="0"/>
            </a:xfrm>
            <a:prstGeom prst="straightConnector1">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cxnSp>
        <p:cxnSp>
          <p:nvCxnSpPr>
            <p:cNvPr id="4113" name="AutoShape 18"/>
            <p:cNvCxnSpPr>
              <a:cxnSpLocks noChangeShapeType="1"/>
              <a:stCxn id="4117" idx="0"/>
            </p:cNvCxnSpPr>
            <p:nvPr/>
          </p:nvCxnSpPr>
          <p:spPr bwMode="auto">
            <a:xfrm rot="-5400000">
              <a:off x="946" y="1474"/>
              <a:ext cx="288" cy="700"/>
            </a:xfrm>
            <a:prstGeom prst="curvedConnector2">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cxnSp>
        <p:cxnSp>
          <p:nvCxnSpPr>
            <p:cNvPr id="4114" name="AutoShape 19"/>
            <p:cNvCxnSpPr>
              <a:cxnSpLocks noChangeShapeType="1"/>
              <a:stCxn id="4109" idx="1"/>
              <a:endCxn id="4104" idx="3"/>
            </p:cNvCxnSpPr>
            <p:nvPr/>
          </p:nvCxnSpPr>
          <p:spPr bwMode="auto">
            <a:xfrm rot="10800000">
              <a:off x="3682" y="2568"/>
              <a:ext cx="618" cy="0"/>
            </a:xfrm>
            <a:prstGeom prst="straightConnector1">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cxnSp>
        <p:cxnSp>
          <p:nvCxnSpPr>
            <p:cNvPr id="4115" name="AutoShape 20"/>
            <p:cNvCxnSpPr>
              <a:cxnSpLocks noChangeShapeType="1"/>
              <a:stCxn id="4110" idx="1"/>
              <a:endCxn id="4103" idx="3"/>
            </p:cNvCxnSpPr>
            <p:nvPr/>
          </p:nvCxnSpPr>
          <p:spPr bwMode="auto">
            <a:xfrm rot="10800000" flipV="1">
              <a:off x="3682" y="3525"/>
              <a:ext cx="666" cy="3"/>
            </a:xfrm>
            <a:prstGeom prst="curvedConnector3">
              <a:avLst>
                <a:gd name="adj1" fmla="val 50449"/>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cxnSp>
        <p:cxnSp>
          <p:nvCxnSpPr>
            <p:cNvPr id="4116" name="AutoShape 21"/>
            <p:cNvCxnSpPr>
              <a:cxnSpLocks noChangeShapeType="1"/>
              <a:stCxn id="4117" idx="2"/>
            </p:cNvCxnSpPr>
            <p:nvPr/>
          </p:nvCxnSpPr>
          <p:spPr bwMode="auto">
            <a:xfrm rot="16200000" flipH="1">
              <a:off x="912" y="2256"/>
              <a:ext cx="356" cy="700"/>
            </a:xfrm>
            <a:prstGeom prst="curvedConnector2">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cxnSp>
        <p:sp>
          <p:nvSpPr>
            <p:cNvPr id="4117" name="Text Box 22"/>
            <p:cNvSpPr txBox="1">
              <a:spLocks noChangeArrowheads="1"/>
            </p:cNvSpPr>
            <p:nvPr/>
          </p:nvSpPr>
          <p:spPr bwMode="auto">
            <a:xfrm>
              <a:off x="252" y="1968"/>
              <a:ext cx="976"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50000"/>
                </a:lnSpc>
              </a:pPr>
              <a:r>
                <a:rPr kumimoji="0" lang="en-US" altLang="zh-CN" sz="2400" b="0">
                  <a:solidFill>
                    <a:schemeClr val="accent2"/>
                  </a:solidFill>
                  <a:latin typeface="Arial Narrow" pitchFamily="34" charset="0"/>
                  <a:ea typeface="宋体" charset="-122"/>
                </a:rPr>
                <a:t>+:Visible</a:t>
              </a:r>
            </a:p>
            <a:p>
              <a:pPr algn="l">
                <a:lnSpc>
                  <a:spcPct val="50000"/>
                </a:lnSpc>
              </a:pPr>
              <a:r>
                <a:rPr kumimoji="0" lang="en-US" altLang="zh-CN" sz="2400" b="0">
                  <a:solidFill>
                    <a:schemeClr val="accent2"/>
                  </a:solidFill>
                  <a:latin typeface="Arial Narrow" pitchFamily="34" charset="0"/>
                  <a:ea typeface="宋体" charset="-122"/>
                </a:rPr>
                <a:t>from without</a:t>
              </a:r>
            </a:p>
          </p:txBody>
        </p:sp>
        <p:sp>
          <p:nvSpPr>
            <p:cNvPr id="4118" name="Oval 23" descr="Dotted grid"/>
            <p:cNvSpPr>
              <a:spLocks noChangeArrowheads="1"/>
            </p:cNvSpPr>
            <p:nvPr/>
          </p:nvSpPr>
          <p:spPr bwMode="auto">
            <a:xfrm>
              <a:off x="384" y="576"/>
              <a:ext cx="576" cy="576"/>
            </a:xfrm>
            <a:prstGeom prst="ellipse">
              <a:avLst/>
            </a:prstGeom>
            <a:pattFill prst="dotGrid">
              <a:fgClr>
                <a:srgbClr val="000000"/>
              </a:fgClr>
              <a:bgClr>
                <a:schemeClr val="bg1"/>
              </a:bgClr>
            </a:pattFill>
            <a:ln w="19050">
              <a:solidFill>
                <a:schemeClr val="tx1"/>
              </a:solidFill>
              <a:round/>
              <a:headEnd/>
              <a:tailEnd/>
            </a:ln>
          </p:spPr>
          <p:txBody>
            <a:bodyPr wrap="none" anchor="ctr"/>
            <a:lstStyle/>
            <a:p>
              <a:endParaRPr lang="zh-CN" altLang="en-US"/>
            </a:p>
          </p:txBody>
        </p:sp>
        <p:sp>
          <p:nvSpPr>
            <p:cNvPr id="4119" name="Oval 24" descr="Dotted grid"/>
            <p:cNvSpPr>
              <a:spLocks noChangeArrowheads="1"/>
            </p:cNvSpPr>
            <p:nvPr/>
          </p:nvSpPr>
          <p:spPr bwMode="auto">
            <a:xfrm>
              <a:off x="432" y="624"/>
              <a:ext cx="576" cy="576"/>
            </a:xfrm>
            <a:prstGeom prst="ellipse">
              <a:avLst/>
            </a:prstGeom>
            <a:pattFill prst="dotGrid">
              <a:fgClr>
                <a:srgbClr val="000000"/>
              </a:fgClr>
              <a:bgClr>
                <a:schemeClr val="bg1"/>
              </a:bgClr>
            </a:pattFill>
            <a:ln w="19050">
              <a:solidFill>
                <a:schemeClr val="tx1"/>
              </a:solidFill>
              <a:round/>
              <a:headEnd/>
              <a:tailEnd/>
            </a:ln>
          </p:spPr>
          <p:txBody>
            <a:bodyPr wrap="none" anchor="ctr"/>
            <a:lstStyle/>
            <a:p>
              <a:pPr eaLnBrk="0" hangingPunct="0">
                <a:spcBef>
                  <a:spcPct val="0"/>
                </a:spcBef>
              </a:pPr>
              <a:endParaRPr kumimoji="0" lang="zh-CN" altLang="zh-CN" sz="2000">
                <a:latin typeface="Times New Roman" pitchFamily="18" charset="0"/>
                <a:ea typeface="宋体" charset="-122"/>
              </a:endParaRPr>
            </a:p>
          </p:txBody>
        </p:sp>
        <p:sp>
          <p:nvSpPr>
            <p:cNvPr id="4120" name="Oval 25" descr="Dotted grid"/>
            <p:cNvSpPr>
              <a:spLocks noChangeArrowheads="1"/>
            </p:cNvSpPr>
            <p:nvPr/>
          </p:nvSpPr>
          <p:spPr bwMode="auto">
            <a:xfrm>
              <a:off x="480" y="672"/>
              <a:ext cx="576" cy="576"/>
            </a:xfrm>
            <a:prstGeom prst="ellipse">
              <a:avLst/>
            </a:prstGeom>
            <a:pattFill prst="dotGrid">
              <a:fgClr>
                <a:srgbClr val="000000"/>
              </a:fgClr>
              <a:bgClr>
                <a:schemeClr val="bg1"/>
              </a:bgClr>
            </a:pattFill>
            <a:ln w="19050">
              <a:solidFill>
                <a:schemeClr val="tx1"/>
              </a:solidFill>
              <a:round/>
              <a:headEnd/>
              <a:tailEnd/>
            </a:ln>
          </p:spPr>
          <p:txBody>
            <a:bodyPr wrap="none" anchor="ctr"/>
            <a:lstStyle/>
            <a:p>
              <a:pPr eaLnBrk="0" hangingPunct="0">
                <a:spcBef>
                  <a:spcPct val="0"/>
                </a:spcBef>
              </a:pPr>
              <a:r>
                <a:rPr kumimoji="0" lang="en-US" altLang="zh-CN" sz="2000">
                  <a:latin typeface="Arial Narrow" pitchFamily="34" charset="0"/>
                  <a:ea typeface="宋体" charset="-122"/>
                </a:rPr>
                <a:t>wafer</a:t>
              </a:r>
            </a:p>
          </p:txBody>
        </p:sp>
        <p:sp>
          <p:nvSpPr>
            <p:cNvPr id="4121" name="Rectangle 26"/>
            <p:cNvSpPr>
              <a:spLocks noChangeArrowheads="1"/>
            </p:cNvSpPr>
            <p:nvPr/>
          </p:nvSpPr>
          <p:spPr bwMode="auto">
            <a:xfrm>
              <a:off x="567" y="1248"/>
              <a:ext cx="61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eaLnBrk="0" hangingPunct="0">
                <a:spcBef>
                  <a:spcPct val="0"/>
                </a:spcBef>
              </a:pPr>
              <a:r>
                <a:rPr kumimoji="0" lang="en-US" altLang="zh-CN" sz="2000">
                  <a:latin typeface="Arial Narrow" pitchFamily="34" charset="0"/>
                  <a:ea typeface="宋体" charset="-122"/>
                </a:rPr>
                <a:t>canister</a:t>
              </a:r>
            </a:p>
          </p:txBody>
        </p:sp>
      </p:grpSp>
      <p:sp>
        <p:nvSpPr>
          <p:cNvPr id="4100" name="Text Box 28"/>
          <p:cNvSpPr txBox="1">
            <a:spLocks noChangeArrowheads="1"/>
          </p:cNvSpPr>
          <p:nvPr/>
        </p:nvSpPr>
        <p:spPr bwMode="auto">
          <a:xfrm>
            <a:off x="3200400" y="6096000"/>
            <a:ext cx="2514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r>
              <a:rPr kumimoji="0" lang="zh-CN" altLang="en-US">
                <a:solidFill>
                  <a:schemeClr val="accent2"/>
                </a:solidFill>
                <a:latin typeface="Arial" charset="0"/>
              </a:rPr>
              <a:t>详细设计的类</a:t>
            </a:r>
          </a:p>
        </p:txBody>
      </p:sp>
    </p:spTree>
    <p:extLst>
      <p:ext uri="{BB962C8B-B14F-4D97-AF65-F5344CB8AC3E}">
        <p14:creationId xmlns:p14="http://schemas.microsoft.com/office/powerpoint/2010/main" val="16503079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zh-CN" b="1" smtClean="0">
                <a:solidFill>
                  <a:schemeClr val="accent2"/>
                </a:solidFill>
                <a:ea typeface="楷体_GB2312" pitchFamily="49" charset="-122"/>
              </a:rPr>
              <a:t>UML</a:t>
            </a:r>
            <a:r>
              <a:rPr lang="zh-CN" altLang="en-US" b="1" smtClean="0">
                <a:solidFill>
                  <a:schemeClr val="accent2"/>
                </a:solidFill>
                <a:ea typeface="楷体_GB2312" pitchFamily="49" charset="-122"/>
              </a:rPr>
              <a:t>中类的关系</a:t>
            </a:r>
          </a:p>
        </p:txBody>
      </p:sp>
      <p:sp>
        <p:nvSpPr>
          <p:cNvPr id="5123" name="Rectangle 3"/>
          <p:cNvSpPr>
            <a:spLocks noGrp="1" noChangeArrowheads="1"/>
          </p:cNvSpPr>
          <p:nvPr>
            <p:ph type="body" idx="1"/>
          </p:nvPr>
        </p:nvSpPr>
        <p:spPr/>
        <p:txBody>
          <a:bodyPr/>
          <a:lstStyle/>
          <a:p>
            <a:pPr eaLnBrk="1" hangingPunct="1"/>
            <a:r>
              <a:rPr lang="zh-CN" altLang="en-US" b="1" smtClean="0">
                <a:ea typeface="楷体_GB2312" pitchFamily="49" charset="-122"/>
              </a:rPr>
              <a:t>继承</a:t>
            </a:r>
          </a:p>
          <a:p>
            <a:pPr lvl="1" eaLnBrk="1" hangingPunct="1"/>
            <a:r>
              <a:rPr lang="zh-CN" altLang="en-US" b="1" smtClean="0">
                <a:ea typeface="楷体_GB2312" pitchFamily="49" charset="-122"/>
              </a:rPr>
              <a:t>使用术语“包”（</a:t>
            </a:r>
            <a:r>
              <a:rPr lang="en-US" altLang="zh-CN" b="1" smtClean="0">
                <a:ea typeface="楷体_GB2312" pitchFamily="49" charset="-122"/>
              </a:rPr>
              <a:t>package</a:t>
            </a:r>
            <a:r>
              <a:rPr lang="zh-CN" altLang="en-US" b="1" smtClean="0">
                <a:ea typeface="楷体_GB2312" pitchFamily="49" charset="-122"/>
              </a:rPr>
              <a:t>）来集中像类这样的设计元素。</a:t>
            </a:r>
          </a:p>
        </p:txBody>
      </p:sp>
    </p:spTree>
    <p:extLst>
      <p:ext uri="{BB962C8B-B14F-4D97-AF65-F5344CB8AC3E}">
        <p14:creationId xmlns:p14="http://schemas.microsoft.com/office/powerpoint/2010/main" val="36908271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6"/>
          <p:cNvSpPr>
            <a:spLocks noChangeArrowheads="1"/>
          </p:cNvSpPr>
          <p:nvPr/>
        </p:nvSpPr>
        <p:spPr bwMode="auto">
          <a:xfrm>
            <a:off x="496888" y="2095500"/>
            <a:ext cx="1103312"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2400" dirty="0">
                <a:latin typeface="Arial Black" pitchFamily="34" charset="0"/>
              </a:rPr>
              <a:t>抽象类</a:t>
            </a:r>
          </a:p>
        </p:txBody>
      </p:sp>
      <p:sp>
        <p:nvSpPr>
          <p:cNvPr id="6148" name="AutoShape 7"/>
          <p:cNvSpPr>
            <a:spLocks noChangeArrowheads="1"/>
          </p:cNvSpPr>
          <p:nvPr/>
        </p:nvSpPr>
        <p:spPr bwMode="auto">
          <a:xfrm>
            <a:off x="3048000" y="476672"/>
            <a:ext cx="5943600" cy="5841593"/>
          </a:xfrm>
          <a:prstGeom prst="flowChartPunchedTape">
            <a:avLst/>
          </a:prstGeom>
          <a:noFill/>
          <a:ln w="12700">
            <a:solidFill>
              <a:schemeClr val="tx1"/>
            </a:solidFill>
            <a:miter lim="800000"/>
            <a:headEnd/>
            <a:tailEnd/>
          </a:ln>
        </p:spPr>
        <p:txBody>
          <a:bodyPr lIns="274320" tIns="137160" rIns="0" bIns="0">
            <a:spAutoFit/>
          </a:bodyPr>
          <a:lstStyle/>
          <a:p>
            <a:pPr algn="l" eaLnBrk="0" hangingPunct="0">
              <a:spcBef>
                <a:spcPct val="0"/>
              </a:spcBef>
            </a:pPr>
            <a:endParaRPr kumimoji="0" lang="en-US" altLang="zh-CN" sz="2000" b="0" dirty="0" smtClean="0">
              <a:latin typeface="Arial" charset="0"/>
              <a:ea typeface="宋体" charset="-122"/>
            </a:endParaRPr>
          </a:p>
          <a:p>
            <a:pPr algn="l" eaLnBrk="0" hangingPunct="0">
              <a:spcBef>
                <a:spcPct val="0"/>
              </a:spcBef>
            </a:pPr>
            <a:r>
              <a:rPr kumimoji="0" lang="en-US" altLang="zh-CN" sz="2000" b="0" dirty="0" smtClean="0">
                <a:latin typeface="Arial" charset="0"/>
                <a:ea typeface="宋体" charset="-122"/>
              </a:rPr>
              <a:t>class </a:t>
            </a:r>
            <a:r>
              <a:rPr kumimoji="0" lang="en-US" altLang="zh-CN" sz="2000" b="0" dirty="0" err="1">
                <a:latin typeface="Arial" charset="0"/>
                <a:ea typeface="宋体" charset="-122"/>
              </a:rPr>
              <a:t>MyAbstractClass</a:t>
            </a:r>
            <a:r>
              <a:rPr kumimoji="0" lang="en-US" altLang="zh-CN" sz="2000" b="0" dirty="0">
                <a:latin typeface="Arial" charset="0"/>
                <a:ea typeface="宋体" charset="-122"/>
              </a:rPr>
              <a:t> . . . . </a:t>
            </a:r>
          </a:p>
          <a:p>
            <a:pPr algn="l" eaLnBrk="0" hangingPunct="0">
              <a:spcBef>
                <a:spcPct val="0"/>
              </a:spcBef>
            </a:pPr>
            <a:endParaRPr kumimoji="0" lang="en-US" altLang="zh-CN" sz="2000" b="0" dirty="0">
              <a:latin typeface="Arial" charset="0"/>
              <a:ea typeface="宋体" charset="-122"/>
            </a:endParaRPr>
          </a:p>
          <a:p>
            <a:pPr algn="l" eaLnBrk="0" hangingPunct="0">
              <a:spcBef>
                <a:spcPct val="0"/>
              </a:spcBef>
            </a:pPr>
            <a:endParaRPr kumimoji="0" lang="en-US" altLang="zh-CN" sz="2000" b="0" dirty="0" smtClean="0">
              <a:latin typeface="Arial" charset="0"/>
              <a:ea typeface="宋体" charset="-122"/>
            </a:endParaRPr>
          </a:p>
          <a:p>
            <a:pPr algn="l" eaLnBrk="0" hangingPunct="0">
              <a:spcBef>
                <a:spcPct val="0"/>
              </a:spcBef>
            </a:pPr>
            <a:r>
              <a:rPr kumimoji="0" lang="en-US" altLang="zh-CN" sz="2000" b="0" dirty="0" smtClean="0">
                <a:latin typeface="Arial" charset="0"/>
                <a:ea typeface="宋体" charset="-122"/>
              </a:rPr>
              <a:t>class </a:t>
            </a:r>
            <a:r>
              <a:rPr kumimoji="0" lang="en-US" altLang="zh-CN" sz="2000" b="0" dirty="0" err="1">
                <a:latin typeface="Arial" charset="0"/>
                <a:ea typeface="宋体" charset="-122"/>
              </a:rPr>
              <a:t>MyDerivedClass</a:t>
            </a:r>
            <a:r>
              <a:rPr kumimoji="0" lang="en-US" altLang="zh-CN" sz="2000" b="0" dirty="0">
                <a:latin typeface="Arial" charset="0"/>
                <a:ea typeface="宋体" charset="-122"/>
              </a:rPr>
              <a:t> </a:t>
            </a:r>
            <a:r>
              <a:rPr kumimoji="0" lang="en-US" altLang="zh-CN" sz="2000" b="0" dirty="0" smtClean="0">
                <a:latin typeface="Arial" charset="0"/>
                <a:ea typeface="宋体" charset="-122"/>
              </a:rPr>
              <a:t>: </a:t>
            </a:r>
            <a:r>
              <a:rPr kumimoji="0" lang="en-US" altLang="zh-CN" sz="2000" b="0" dirty="0" err="1">
                <a:latin typeface="Arial" charset="0"/>
                <a:ea typeface="宋体" charset="-122"/>
              </a:rPr>
              <a:t>MyAbstractClass</a:t>
            </a:r>
            <a:r>
              <a:rPr kumimoji="0" lang="en-US" altLang="zh-CN" sz="2000" b="0" dirty="0">
                <a:latin typeface="Arial" charset="0"/>
                <a:ea typeface="宋体" charset="-122"/>
              </a:rPr>
              <a:t> </a:t>
            </a:r>
          </a:p>
          <a:p>
            <a:pPr algn="l" eaLnBrk="0" hangingPunct="0">
              <a:spcBef>
                <a:spcPct val="0"/>
              </a:spcBef>
            </a:pPr>
            <a:r>
              <a:rPr kumimoji="0" lang="en-US" altLang="zh-CN" sz="2000" b="0" dirty="0">
                <a:latin typeface="Arial" charset="0"/>
                <a:ea typeface="宋体" charset="-122"/>
              </a:rPr>
              <a:t>{</a:t>
            </a:r>
          </a:p>
          <a:p>
            <a:pPr algn="l" eaLnBrk="0" hangingPunct="0">
              <a:spcBef>
                <a:spcPct val="0"/>
              </a:spcBef>
            </a:pPr>
            <a:r>
              <a:rPr kumimoji="0" lang="en-US" altLang="zh-CN" sz="2000" b="0" dirty="0">
                <a:latin typeface="Arial" charset="0"/>
                <a:ea typeface="宋体" charset="-122"/>
              </a:rPr>
              <a:t>    </a:t>
            </a:r>
            <a:r>
              <a:rPr kumimoji="0" lang="en-US" altLang="zh-CN" sz="2000" b="0" dirty="0" err="1">
                <a:latin typeface="Arial" charset="0"/>
                <a:ea typeface="宋体" charset="-122"/>
              </a:rPr>
              <a:t>int</a:t>
            </a:r>
            <a:r>
              <a:rPr kumimoji="0" lang="en-US" altLang="zh-CN" sz="2000" b="0" dirty="0">
                <a:latin typeface="Arial" charset="0"/>
                <a:ea typeface="宋体" charset="-122"/>
              </a:rPr>
              <a:t> </a:t>
            </a:r>
            <a:r>
              <a:rPr kumimoji="0" lang="en-US" altLang="zh-CN" sz="2000" b="0" dirty="0" err="1">
                <a:latin typeface="Arial" charset="0"/>
                <a:ea typeface="宋体" charset="-122"/>
              </a:rPr>
              <a:t>att</a:t>
            </a:r>
            <a:r>
              <a:rPr kumimoji="0" lang="en-US" altLang="zh-CN" sz="2000" b="0" dirty="0">
                <a:latin typeface="Arial" charset="0"/>
                <a:ea typeface="宋体" charset="-122"/>
              </a:rPr>
              <a:t>;</a:t>
            </a:r>
          </a:p>
          <a:p>
            <a:pPr algn="l" eaLnBrk="0" hangingPunct="0">
              <a:spcBef>
                <a:spcPct val="0"/>
              </a:spcBef>
            </a:pPr>
            <a:r>
              <a:rPr kumimoji="0" lang="en-US" altLang="zh-CN" sz="2000" b="0" dirty="0">
                <a:latin typeface="Arial" charset="0"/>
                <a:ea typeface="宋体" charset="-122"/>
              </a:rPr>
              <a:t>    . . . . .</a:t>
            </a:r>
          </a:p>
          <a:p>
            <a:pPr algn="l" eaLnBrk="0" hangingPunct="0">
              <a:spcBef>
                <a:spcPct val="0"/>
              </a:spcBef>
            </a:pPr>
            <a:r>
              <a:rPr kumimoji="0" lang="en-US" altLang="zh-CN" sz="2000" b="0" dirty="0">
                <a:latin typeface="Arial" charset="0"/>
                <a:ea typeface="宋体" charset="-122"/>
              </a:rPr>
              <a:t>    void </a:t>
            </a:r>
            <a:r>
              <a:rPr kumimoji="0" lang="en-US" altLang="zh-CN" sz="2000" b="0" dirty="0" err="1">
                <a:latin typeface="Arial" charset="0"/>
                <a:ea typeface="宋体" charset="-122"/>
              </a:rPr>
              <a:t>myFunction</a:t>
            </a:r>
            <a:r>
              <a:rPr kumimoji="0" lang="en-US" altLang="zh-CN" sz="2000" b="0" dirty="0">
                <a:latin typeface="Arial" charset="0"/>
                <a:ea typeface="宋体" charset="-122"/>
              </a:rPr>
              <a:t>( </a:t>
            </a:r>
            <a:r>
              <a:rPr kumimoji="0" lang="en-US" altLang="zh-CN" sz="2000" b="0" dirty="0" err="1">
                <a:latin typeface="Arial" charset="0"/>
                <a:ea typeface="宋体" charset="-122"/>
              </a:rPr>
              <a:t>ReferencedClass</a:t>
            </a:r>
            <a:r>
              <a:rPr kumimoji="0" lang="en-US" altLang="zh-CN" sz="2000" b="0" dirty="0">
                <a:latin typeface="Arial" charset="0"/>
                <a:ea typeface="宋体" charset="-122"/>
              </a:rPr>
              <a:t> r ) </a:t>
            </a:r>
          </a:p>
          <a:p>
            <a:pPr algn="l" eaLnBrk="0" hangingPunct="0">
              <a:spcBef>
                <a:spcPct val="0"/>
              </a:spcBef>
            </a:pPr>
            <a:r>
              <a:rPr kumimoji="0" lang="en-US" altLang="zh-CN" sz="2000" b="0" dirty="0">
                <a:latin typeface="Arial" charset="0"/>
                <a:ea typeface="宋体" charset="-122"/>
              </a:rPr>
              <a:t>    { . .. }</a:t>
            </a:r>
          </a:p>
          <a:p>
            <a:pPr algn="l" eaLnBrk="0" hangingPunct="0">
              <a:spcBef>
                <a:spcPct val="0"/>
              </a:spcBef>
            </a:pPr>
            <a:r>
              <a:rPr kumimoji="0" lang="en-US" altLang="zh-CN" sz="2000" b="0" dirty="0">
                <a:latin typeface="Arial" charset="0"/>
                <a:ea typeface="宋体" charset="-122"/>
              </a:rPr>
              <a:t>} </a:t>
            </a:r>
          </a:p>
        </p:txBody>
      </p:sp>
      <p:cxnSp>
        <p:nvCxnSpPr>
          <p:cNvPr id="6149" name="AutoShape 8"/>
          <p:cNvCxnSpPr>
            <a:cxnSpLocks noChangeShapeType="1"/>
            <a:stCxn id="6161" idx="3"/>
            <a:endCxn id="6150" idx="0"/>
          </p:cNvCxnSpPr>
          <p:nvPr/>
        </p:nvCxnSpPr>
        <p:spPr bwMode="auto">
          <a:xfrm rot="16200000" flipH="1">
            <a:off x="716757" y="4206081"/>
            <a:ext cx="1536700" cy="1587"/>
          </a:xfrm>
          <a:prstGeom prst="bentConnector3">
            <a:avLst>
              <a:gd name="adj1" fmla="val 49690"/>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sp>
        <p:nvSpPr>
          <p:cNvPr id="6150" name="Rectangle 9" descr="Large checker board"/>
          <p:cNvSpPr>
            <a:spLocks noChangeArrowheads="1"/>
          </p:cNvSpPr>
          <p:nvPr/>
        </p:nvSpPr>
        <p:spPr bwMode="auto">
          <a:xfrm>
            <a:off x="304800" y="4975225"/>
            <a:ext cx="2360613" cy="11969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algn="l" eaLnBrk="0" hangingPunct="0">
              <a:spcBef>
                <a:spcPct val="0"/>
              </a:spcBef>
            </a:pPr>
            <a:r>
              <a:rPr kumimoji="0" lang="en-US" altLang="zh-CN" sz="2400" u="sng">
                <a:latin typeface="Times New Roman" pitchFamily="18" charset="0"/>
                <a:ea typeface="宋体" charset="-122"/>
              </a:rPr>
              <a:t>MyDerivedClass</a:t>
            </a:r>
            <a:endParaRPr kumimoji="0" lang="en-US" altLang="zh-CN" sz="2400">
              <a:latin typeface="Times New Roman" pitchFamily="18" charset="0"/>
              <a:ea typeface="宋体" charset="-122"/>
            </a:endParaRPr>
          </a:p>
          <a:p>
            <a:pPr algn="l" eaLnBrk="0" hangingPunct="0">
              <a:spcBef>
                <a:spcPct val="0"/>
              </a:spcBef>
            </a:pPr>
            <a:r>
              <a:rPr kumimoji="0" lang="en-US" altLang="zh-CN" sz="2400" u="sng">
                <a:latin typeface="Times New Roman" pitchFamily="18" charset="0"/>
                <a:ea typeface="宋体" charset="-122"/>
              </a:rPr>
              <a:t>att: int</a:t>
            </a:r>
            <a:endParaRPr kumimoji="0" lang="en-US" altLang="zh-CN" sz="2400">
              <a:latin typeface="Times New Roman" pitchFamily="18" charset="0"/>
              <a:ea typeface="宋体" charset="-122"/>
            </a:endParaRPr>
          </a:p>
          <a:p>
            <a:pPr algn="l" eaLnBrk="0" hangingPunct="0">
              <a:spcBef>
                <a:spcPct val="0"/>
              </a:spcBef>
            </a:pPr>
            <a:r>
              <a:rPr kumimoji="0" lang="en-US" altLang="zh-CN" sz="2400">
                <a:latin typeface="Times New Roman" pitchFamily="18" charset="0"/>
                <a:ea typeface="宋体" charset="-122"/>
              </a:rPr>
              <a:t>myFunction()</a:t>
            </a:r>
          </a:p>
        </p:txBody>
      </p:sp>
      <p:sp>
        <p:nvSpPr>
          <p:cNvPr id="6151" name="Rectangle 10"/>
          <p:cNvSpPr>
            <a:spLocks noChangeArrowheads="1"/>
          </p:cNvSpPr>
          <p:nvPr/>
        </p:nvSpPr>
        <p:spPr bwMode="auto">
          <a:xfrm>
            <a:off x="152400" y="1676400"/>
            <a:ext cx="2667000" cy="495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53" name="Line 12"/>
          <p:cNvSpPr>
            <a:spLocks noChangeShapeType="1"/>
          </p:cNvSpPr>
          <p:nvPr/>
        </p:nvSpPr>
        <p:spPr bwMode="auto">
          <a:xfrm flipV="1">
            <a:off x="1600200" y="5638800"/>
            <a:ext cx="1066800" cy="0"/>
          </a:xfrm>
          <a:prstGeom prst="line">
            <a:avLst/>
          </a:prstGeom>
          <a:noFill/>
          <a:ln w="19050" cap="rnd">
            <a:solidFill>
              <a:srgbClr val="CC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4" name="Line 13"/>
          <p:cNvSpPr>
            <a:spLocks noChangeShapeType="1"/>
          </p:cNvSpPr>
          <p:nvPr/>
        </p:nvSpPr>
        <p:spPr bwMode="auto">
          <a:xfrm>
            <a:off x="2895600" y="3733800"/>
            <a:ext cx="0" cy="1905000"/>
          </a:xfrm>
          <a:prstGeom prst="line">
            <a:avLst/>
          </a:prstGeom>
          <a:noFill/>
          <a:ln w="19050" cap="rnd">
            <a:solidFill>
              <a:srgbClr val="CC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5" name="Line 14"/>
          <p:cNvSpPr>
            <a:spLocks noChangeShapeType="1"/>
          </p:cNvSpPr>
          <p:nvPr/>
        </p:nvSpPr>
        <p:spPr bwMode="auto">
          <a:xfrm flipV="1">
            <a:off x="2895600" y="3733800"/>
            <a:ext cx="685800" cy="0"/>
          </a:xfrm>
          <a:prstGeom prst="line">
            <a:avLst/>
          </a:prstGeom>
          <a:noFill/>
          <a:ln w="19050" cap="rnd">
            <a:solidFill>
              <a:srgbClr val="CC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6" name="Rectangle 15"/>
          <p:cNvSpPr>
            <a:spLocks noChangeArrowheads="1"/>
          </p:cNvSpPr>
          <p:nvPr/>
        </p:nvSpPr>
        <p:spPr bwMode="auto">
          <a:xfrm>
            <a:off x="2259013" y="5324475"/>
            <a:ext cx="796925"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2400"/>
              <a:t>属性</a:t>
            </a:r>
          </a:p>
        </p:txBody>
      </p:sp>
      <p:sp>
        <p:nvSpPr>
          <p:cNvPr id="6157" name="Line 16"/>
          <p:cNvSpPr>
            <a:spLocks noChangeShapeType="1"/>
          </p:cNvSpPr>
          <p:nvPr/>
        </p:nvSpPr>
        <p:spPr bwMode="auto">
          <a:xfrm flipV="1">
            <a:off x="2514600" y="6019800"/>
            <a:ext cx="2362200" cy="0"/>
          </a:xfrm>
          <a:prstGeom prst="line">
            <a:avLst/>
          </a:prstGeom>
          <a:noFill/>
          <a:ln w="19050" cap="rnd">
            <a:solidFill>
              <a:srgbClr val="CC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8" name="Line 17"/>
          <p:cNvSpPr>
            <a:spLocks noChangeShapeType="1"/>
          </p:cNvSpPr>
          <p:nvPr/>
        </p:nvSpPr>
        <p:spPr bwMode="auto">
          <a:xfrm flipH="1" flipV="1">
            <a:off x="4953000" y="4495800"/>
            <a:ext cx="0" cy="1524000"/>
          </a:xfrm>
          <a:prstGeom prst="line">
            <a:avLst/>
          </a:prstGeom>
          <a:noFill/>
          <a:ln w="19050" cap="rnd">
            <a:solidFill>
              <a:srgbClr val="CC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9" name="Rectangle 18"/>
          <p:cNvSpPr>
            <a:spLocks noChangeArrowheads="1"/>
          </p:cNvSpPr>
          <p:nvPr/>
        </p:nvSpPr>
        <p:spPr bwMode="auto">
          <a:xfrm>
            <a:off x="2251075" y="5791200"/>
            <a:ext cx="796925"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2400"/>
              <a:t>操作</a:t>
            </a:r>
          </a:p>
        </p:txBody>
      </p:sp>
      <p:sp>
        <p:nvSpPr>
          <p:cNvPr id="6161" name="AutoShape 20"/>
          <p:cNvSpPr>
            <a:spLocks noChangeArrowheads="1"/>
          </p:cNvSpPr>
          <p:nvPr/>
        </p:nvSpPr>
        <p:spPr bwMode="auto">
          <a:xfrm>
            <a:off x="1331913" y="3048000"/>
            <a:ext cx="304800" cy="381000"/>
          </a:xfrm>
          <a:prstGeom prst="triangle">
            <a:avLst>
              <a:gd name="adj" fmla="val 50000"/>
            </a:avLst>
          </a:prstGeom>
          <a:solidFill>
            <a:schemeClr val="bg1"/>
          </a:solidFill>
          <a:ln w="19050">
            <a:solidFill>
              <a:schemeClr val="tx1"/>
            </a:solidFill>
            <a:miter lim="800000"/>
            <a:headEnd/>
            <a:tailEnd/>
          </a:ln>
        </p:spPr>
        <p:txBody>
          <a:bodyPr wrap="none" anchor="ctr"/>
          <a:lstStyle/>
          <a:p>
            <a:endParaRPr lang="zh-CN" altLang="en-US"/>
          </a:p>
        </p:txBody>
      </p:sp>
      <p:sp>
        <p:nvSpPr>
          <p:cNvPr id="6162" name="Rectangle 21"/>
          <p:cNvSpPr>
            <a:spLocks noChangeArrowheads="1"/>
          </p:cNvSpPr>
          <p:nvPr/>
        </p:nvSpPr>
        <p:spPr bwMode="auto">
          <a:xfrm>
            <a:off x="457200" y="3657600"/>
            <a:ext cx="796925"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2400"/>
              <a:t>继承</a:t>
            </a:r>
          </a:p>
        </p:txBody>
      </p:sp>
      <p:sp>
        <p:nvSpPr>
          <p:cNvPr id="6164" name="Line 23"/>
          <p:cNvSpPr>
            <a:spLocks noChangeShapeType="1"/>
          </p:cNvSpPr>
          <p:nvPr/>
        </p:nvSpPr>
        <p:spPr bwMode="auto">
          <a:xfrm flipV="1">
            <a:off x="1828800" y="2590800"/>
            <a:ext cx="2743200" cy="0"/>
          </a:xfrm>
          <a:prstGeom prst="line">
            <a:avLst/>
          </a:prstGeom>
          <a:noFill/>
          <a:ln w="19050" cap="rnd">
            <a:solidFill>
              <a:srgbClr val="CC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5" name="Rectangle 24"/>
          <p:cNvSpPr>
            <a:spLocks noChangeArrowheads="1"/>
          </p:cNvSpPr>
          <p:nvPr/>
        </p:nvSpPr>
        <p:spPr bwMode="auto">
          <a:xfrm>
            <a:off x="320675" y="2560638"/>
            <a:ext cx="2327275" cy="466725"/>
          </a:xfrm>
          <a:prstGeom prst="rect">
            <a:avLst/>
          </a:prstGeom>
          <a:solidFill>
            <a:schemeClr val="bg1"/>
          </a:solidFill>
          <a:ln w="9525">
            <a:solidFill>
              <a:schemeClr val="tx1"/>
            </a:solidFill>
            <a:miter lim="800000"/>
            <a:headEnd/>
            <a:tailEnd/>
          </a:ln>
        </p:spPr>
        <p:txBody>
          <a:bodyPr wrap="none">
            <a:spAutoFit/>
          </a:bodyPr>
          <a:lstStyle/>
          <a:p>
            <a:pPr algn="l" eaLnBrk="0" hangingPunct="0">
              <a:spcBef>
                <a:spcPct val="0"/>
              </a:spcBef>
            </a:pPr>
            <a:r>
              <a:rPr kumimoji="0" lang="en-US" altLang="zh-CN" sz="2400" i="1">
                <a:latin typeface="Times New Roman" pitchFamily="18" charset="0"/>
                <a:ea typeface="宋体" charset="-122"/>
              </a:rPr>
              <a:t>MyAbstractClass</a:t>
            </a:r>
          </a:p>
        </p:txBody>
      </p:sp>
      <p:sp>
        <p:nvSpPr>
          <p:cNvPr id="6166" name="Line 25"/>
          <p:cNvSpPr>
            <a:spLocks noChangeShapeType="1"/>
          </p:cNvSpPr>
          <p:nvPr/>
        </p:nvSpPr>
        <p:spPr bwMode="auto">
          <a:xfrm flipH="1">
            <a:off x="4572000" y="2286000"/>
            <a:ext cx="0" cy="304800"/>
          </a:xfrm>
          <a:prstGeom prst="line">
            <a:avLst/>
          </a:prstGeom>
          <a:noFill/>
          <a:ln w="19050" cap="rnd">
            <a:solidFill>
              <a:srgbClr val="CC0000"/>
            </a:solidFill>
            <a:prstDash val="sysDot"/>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7" name="Line 26"/>
          <p:cNvSpPr>
            <a:spLocks noChangeShapeType="1"/>
          </p:cNvSpPr>
          <p:nvPr/>
        </p:nvSpPr>
        <p:spPr bwMode="auto">
          <a:xfrm flipV="1">
            <a:off x="1752600" y="3429000"/>
            <a:ext cx="4572000" cy="0"/>
          </a:xfrm>
          <a:prstGeom prst="line">
            <a:avLst/>
          </a:prstGeom>
          <a:noFill/>
          <a:ln w="19050" cap="rnd">
            <a:solidFill>
              <a:srgbClr val="CC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8" name="Line 27"/>
          <p:cNvSpPr>
            <a:spLocks noChangeShapeType="1"/>
          </p:cNvSpPr>
          <p:nvPr/>
        </p:nvSpPr>
        <p:spPr bwMode="auto">
          <a:xfrm flipH="1">
            <a:off x="6324600" y="3200400"/>
            <a:ext cx="0" cy="228600"/>
          </a:xfrm>
          <a:prstGeom prst="line">
            <a:avLst/>
          </a:prstGeom>
          <a:noFill/>
          <a:ln w="19050" cap="rnd">
            <a:solidFill>
              <a:srgbClr val="CC0000"/>
            </a:solidFill>
            <a:prstDash val="sysDot"/>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9" name="Rectangle 28"/>
          <p:cNvSpPr>
            <a:spLocks noGrp="1" noChangeArrowheads="1"/>
          </p:cNvSpPr>
          <p:nvPr>
            <p:ph type="title"/>
          </p:nvPr>
        </p:nvSpPr>
        <p:spPr>
          <a:xfrm>
            <a:off x="-282808" y="-243408"/>
            <a:ext cx="3839041" cy="943075"/>
          </a:xfrm>
          <a:noFill/>
        </p:spPr>
        <p:txBody>
          <a:bodyPr>
            <a:normAutofit/>
          </a:bodyPr>
          <a:lstStyle/>
          <a:p>
            <a:pPr eaLnBrk="1" hangingPunct="1"/>
            <a:r>
              <a:rPr lang="en-US" altLang="zh-CN" sz="2400" b="1" dirty="0" smtClean="0">
                <a:solidFill>
                  <a:schemeClr val="accent2"/>
                </a:solidFill>
                <a:latin typeface="楷体_GB2312" pitchFamily="49" charset="-122"/>
                <a:ea typeface="楷体_GB2312" pitchFamily="49" charset="-122"/>
              </a:rPr>
              <a:t>UML</a:t>
            </a:r>
            <a:r>
              <a:rPr lang="zh-CN" altLang="en-US" sz="2400" b="1" dirty="0" smtClean="0">
                <a:solidFill>
                  <a:schemeClr val="accent2"/>
                </a:solidFill>
                <a:latin typeface="楷体_GB2312" pitchFamily="49" charset="-122"/>
                <a:ea typeface="楷体_GB2312" pitchFamily="49" charset="-122"/>
              </a:rPr>
              <a:t>符号和典型实现</a:t>
            </a:r>
          </a:p>
        </p:txBody>
      </p:sp>
    </p:spTree>
    <p:extLst>
      <p:ext uri="{BB962C8B-B14F-4D97-AF65-F5344CB8AC3E}">
        <p14:creationId xmlns:p14="http://schemas.microsoft.com/office/powerpoint/2010/main" val="27809706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5"/>
          <p:cNvSpPr>
            <a:spLocks noGrp="1" noChangeArrowheads="1"/>
          </p:cNvSpPr>
          <p:nvPr>
            <p:ph type="title"/>
          </p:nvPr>
        </p:nvSpPr>
        <p:spPr>
          <a:xfrm>
            <a:off x="457200" y="0"/>
            <a:ext cx="6096000" cy="1143000"/>
          </a:xfrm>
          <a:noFill/>
        </p:spPr>
        <p:txBody>
          <a:bodyPr/>
          <a:lstStyle/>
          <a:p>
            <a:pPr eaLnBrk="1" hangingPunct="1"/>
            <a:r>
              <a:rPr lang="zh-CN" altLang="en-US" sz="2800" b="1" smtClean="0">
                <a:solidFill>
                  <a:schemeClr val="accent2"/>
                </a:solidFill>
                <a:latin typeface="楷体_GB2312" pitchFamily="49" charset="-122"/>
                <a:ea typeface="楷体_GB2312" pitchFamily="49" charset="-122"/>
              </a:rPr>
              <a:t>接口的</a:t>
            </a:r>
            <a:r>
              <a:rPr lang="en-US" altLang="zh-CN" sz="2800" b="1" smtClean="0">
                <a:solidFill>
                  <a:schemeClr val="accent2"/>
                </a:solidFill>
                <a:latin typeface="楷体_GB2312" pitchFamily="49" charset="-122"/>
                <a:ea typeface="楷体_GB2312" pitchFamily="49" charset="-122"/>
              </a:rPr>
              <a:t>UML</a:t>
            </a:r>
            <a:r>
              <a:rPr lang="zh-CN" altLang="en-US" sz="2800" b="1" smtClean="0">
                <a:solidFill>
                  <a:schemeClr val="accent2"/>
                </a:solidFill>
                <a:latin typeface="楷体_GB2312" pitchFamily="49" charset="-122"/>
                <a:ea typeface="楷体_GB2312" pitchFamily="49" charset="-122"/>
              </a:rPr>
              <a:t>符号和典型的</a:t>
            </a:r>
            <a:r>
              <a:rPr lang="en-US" altLang="zh-CN" sz="2800" b="1" smtClean="0">
                <a:solidFill>
                  <a:schemeClr val="accent2"/>
                </a:solidFill>
                <a:latin typeface="楷体_GB2312" pitchFamily="49" charset="-122"/>
                <a:ea typeface="楷体_GB2312" pitchFamily="49" charset="-122"/>
              </a:rPr>
              <a:t>Java</a:t>
            </a:r>
            <a:r>
              <a:rPr lang="zh-CN" altLang="en-US" sz="2800" b="1" smtClean="0">
                <a:solidFill>
                  <a:schemeClr val="accent2"/>
                </a:solidFill>
                <a:latin typeface="楷体_GB2312" pitchFamily="49" charset="-122"/>
                <a:ea typeface="楷体_GB2312" pitchFamily="49" charset="-122"/>
              </a:rPr>
              <a:t>实现</a:t>
            </a:r>
          </a:p>
        </p:txBody>
      </p:sp>
      <p:sp>
        <p:nvSpPr>
          <p:cNvPr id="7171" name="Rectangle 27"/>
          <p:cNvSpPr>
            <a:spLocks noChangeArrowheads="1"/>
          </p:cNvSpPr>
          <p:nvPr/>
        </p:nvSpPr>
        <p:spPr bwMode="auto">
          <a:xfrm>
            <a:off x="1447800" y="2116138"/>
            <a:ext cx="814388"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0" hangingPunct="0">
              <a:spcBef>
                <a:spcPct val="0"/>
              </a:spcBef>
            </a:pPr>
            <a:r>
              <a:rPr kumimoji="0" lang="zh-CN" altLang="en-US" sz="2400">
                <a:solidFill>
                  <a:srgbClr val="CC0000"/>
                </a:solidFill>
              </a:rPr>
              <a:t>接口</a:t>
            </a:r>
          </a:p>
        </p:txBody>
      </p:sp>
      <p:sp>
        <p:nvSpPr>
          <p:cNvPr id="7172" name="AutoShape 28"/>
          <p:cNvSpPr>
            <a:spLocks noChangeArrowheads="1"/>
          </p:cNvSpPr>
          <p:nvPr/>
        </p:nvSpPr>
        <p:spPr bwMode="auto">
          <a:xfrm>
            <a:off x="3352800" y="1254125"/>
            <a:ext cx="4800600" cy="3717925"/>
          </a:xfrm>
          <a:prstGeom prst="flowChartPunchedTape">
            <a:avLst/>
          </a:prstGeom>
          <a:solidFill>
            <a:srgbClr val="FFFFE1"/>
          </a:solidFill>
          <a:ln w="12700">
            <a:solidFill>
              <a:schemeClr val="tx1"/>
            </a:solidFill>
            <a:miter lim="800000"/>
            <a:headEnd/>
            <a:tailEnd/>
          </a:ln>
        </p:spPr>
        <p:txBody>
          <a:bodyPr lIns="274320" tIns="137160" rIns="0" bIns="0">
            <a:spAutoFit/>
          </a:bodyPr>
          <a:lstStyle/>
          <a:p>
            <a:pPr algn="l" eaLnBrk="0" hangingPunct="0">
              <a:spcBef>
                <a:spcPct val="0"/>
              </a:spcBef>
            </a:pPr>
            <a:r>
              <a:rPr kumimoji="0" lang="en-US" altLang="zh-CN" sz="2000" b="0">
                <a:solidFill>
                  <a:schemeClr val="accent2"/>
                </a:solidFill>
                <a:latin typeface="Arial" charset="0"/>
                <a:ea typeface="宋体" charset="-122"/>
              </a:rPr>
              <a:t>interface</a:t>
            </a:r>
            <a:r>
              <a:rPr kumimoji="0" lang="en-US" altLang="zh-CN" sz="2000" b="0">
                <a:latin typeface="Arial" charset="0"/>
                <a:ea typeface="宋体" charset="-122"/>
              </a:rPr>
              <a:t> MyInterface . . . . </a:t>
            </a:r>
            <a:endParaRPr kumimoji="0" lang="en-US" altLang="zh-CN" sz="2000" b="0">
              <a:solidFill>
                <a:schemeClr val="accent2"/>
              </a:solidFill>
              <a:latin typeface="Arial" charset="0"/>
              <a:ea typeface="宋体" charset="-122"/>
            </a:endParaRPr>
          </a:p>
          <a:p>
            <a:pPr algn="l" eaLnBrk="0" hangingPunct="0">
              <a:spcBef>
                <a:spcPct val="0"/>
              </a:spcBef>
            </a:pPr>
            <a:endParaRPr kumimoji="0" lang="en-US" altLang="zh-CN" sz="2000" b="0">
              <a:solidFill>
                <a:schemeClr val="accent2"/>
              </a:solidFill>
              <a:latin typeface="Arial" charset="0"/>
              <a:ea typeface="宋体" charset="-122"/>
            </a:endParaRPr>
          </a:p>
          <a:p>
            <a:pPr algn="l" eaLnBrk="0" hangingPunct="0">
              <a:spcBef>
                <a:spcPct val="0"/>
              </a:spcBef>
            </a:pPr>
            <a:r>
              <a:rPr kumimoji="0" lang="en-US" altLang="zh-CN" sz="2000" b="0">
                <a:latin typeface="Arial" charset="0"/>
                <a:ea typeface="宋体" charset="-122"/>
              </a:rPr>
              <a:t> </a:t>
            </a:r>
            <a:endParaRPr kumimoji="0" lang="en-US" altLang="zh-CN" sz="2000" b="0">
              <a:solidFill>
                <a:schemeClr val="accent2"/>
              </a:solidFill>
              <a:latin typeface="Arial" charset="0"/>
              <a:ea typeface="宋体" charset="-122"/>
            </a:endParaRPr>
          </a:p>
          <a:p>
            <a:pPr algn="l" eaLnBrk="0" hangingPunct="0">
              <a:spcBef>
                <a:spcPct val="0"/>
              </a:spcBef>
            </a:pPr>
            <a:r>
              <a:rPr kumimoji="0" lang="en-US" altLang="zh-CN" sz="2000" b="0">
                <a:solidFill>
                  <a:schemeClr val="accent2"/>
                </a:solidFill>
                <a:latin typeface="Arial" charset="0"/>
                <a:ea typeface="宋体" charset="-122"/>
              </a:rPr>
              <a:t>class</a:t>
            </a:r>
            <a:r>
              <a:rPr kumimoji="0" lang="en-US" altLang="zh-CN" sz="2000" b="0">
                <a:latin typeface="Arial" charset="0"/>
                <a:ea typeface="宋体" charset="-122"/>
              </a:rPr>
              <a:t> MyClass </a:t>
            </a:r>
            <a:r>
              <a:rPr kumimoji="0" lang="en-US" altLang="zh-CN" sz="2000" b="0">
                <a:solidFill>
                  <a:schemeClr val="accent2"/>
                </a:solidFill>
                <a:latin typeface="Arial" charset="0"/>
                <a:ea typeface="宋体" charset="-122"/>
              </a:rPr>
              <a:t>implements</a:t>
            </a:r>
            <a:r>
              <a:rPr kumimoji="0" lang="en-US" altLang="zh-CN" sz="2000" b="0">
                <a:latin typeface="Arial" charset="0"/>
                <a:ea typeface="宋体" charset="-122"/>
              </a:rPr>
              <a:t> MyInterface</a:t>
            </a:r>
          </a:p>
          <a:p>
            <a:pPr algn="l" eaLnBrk="0" hangingPunct="0">
              <a:spcBef>
                <a:spcPct val="0"/>
              </a:spcBef>
            </a:pPr>
            <a:r>
              <a:rPr kumimoji="0" lang="en-US" altLang="zh-CN" sz="2000" b="0">
                <a:latin typeface="Arial" charset="0"/>
                <a:ea typeface="宋体" charset="-122"/>
              </a:rPr>
              <a:t>{</a:t>
            </a:r>
          </a:p>
          <a:p>
            <a:pPr algn="l" eaLnBrk="0" hangingPunct="0">
              <a:spcBef>
                <a:spcPct val="0"/>
              </a:spcBef>
            </a:pPr>
            <a:r>
              <a:rPr kumimoji="0" lang="en-US" altLang="zh-CN" sz="2000" b="0">
                <a:latin typeface="Arial" charset="0"/>
                <a:ea typeface="宋体" charset="-122"/>
              </a:rPr>
              <a:t>    . . . . .</a:t>
            </a:r>
          </a:p>
          <a:p>
            <a:pPr algn="l" eaLnBrk="0" hangingPunct="0">
              <a:spcBef>
                <a:spcPct val="0"/>
              </a:spcBef>
            </a:pPr>
            <a:r>
              <a:rPr kumimoji="0" lang="en-US" altLang="zh-CN" sz="2000" b="0">
                <a:latin typeface="Arial" charset="0"/>
                <a:ea typeface="宋体" charset="-122"/>
              </a:rPr>
              <a:t>} </a:t>
            </a:r>
          </a:p>
        </p:txBody>
      </p:sp>
      <p:cxnSp>
        <p:nvCxnSpPr>
          <p:cNvPr id="7173" name="AutoShape 29"/>
          <p:cNvCxnSpPr>
            <a:cxnSpLocks noChangeShapeType="1"/>
            <a:stCxn id="7175" idx="3"/>
            <a:endCxn id="7174" idx="0"/>
          </p:cNvCxnSpPr>
          <p:nvPr/>
        </p:nvCxnSpPr>
        <p:spPr bwMode="auto">
          <a:xfrm rot="5400000">
            <a:off x="1284288" y="4419600"/>
            <a:ext cx="1231900" cy="0"/>
          </a:xfrm>
          <a:prstGeom prst="straightConnector1">
            <a:avLst/>
          </a:prstGeom>
          <a:noFill/>
          <a:ln w="28575">
            <a:solidFill>
              <a:schemeClr val="tx1"/>
            </a:solidFill>
            <a:prstDash val="lgDash"/>
            <a:round/>
            <a:headEnd/>
            <a:tailEnd/>
          </a:ln>
          <a:extLst>
            <a:ext uri="{909E8E84-426E-40DD-AFC4-6F175D3DCCD1}">
              <a14:hiddenFill xmlns:a14="http://schemas.microsoft.com/office/drawing/2010/main">
                <a:noFill/>
              </a14:hiddenFill>
            </a:ext>
          </a:extLst>
        </p:spPr>
      </p:cxnSp>
      <p:sp>
        <p:nvSpPr>
          <p:cNvPr id="7174" name="Rectangle 30" descr="Large checker board"/>
          <p:cNvSpPr>
            <a:spLocks noChangeArrowheads="1"/>
          </p:cNvSpPr>
          <p:nvPr/>
        </p:nvSpPr>
        <p:spPr bwMode="auto">
          <a:xfrm>
            <a:off x="990600" y="5035550"/>
            <a:ext cx="1819275" cy="8318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u="sng">
                <a:solidFill>
                  <a:schemeClr val="accent2"/>
                </a:solidFill>
                <a:latin typeface="Times New Roman" pitchFamily="18" charset="0"/>
                <a:ea typeface="宋体" charset="-122"/>
              </a:rPr>
              <a:t>MyClass</a:t>
            </a:r>
            <a:endParaRPr kumimoji="0" lang="en-US" altLang="zh-CN" sz="2400" i="1" u="sng">
              <a:solidFill>
                <a:schemeClr val="accent2"/>
              </a:solidFill>
              <a:latin typeface="Times New Roman" pitchFamily="18" charset="0"/>
              <a:ea typeface="宋体" charset="-122"/>
            </a:endParaRPr>
          </a:p>
          <a:p>
            <a:pPr eaLnBrk="0" hangingPunct="0">
              <a:spcBef>
                <a:spcPct val="0"/>
              </a:spcBef>
            </a:pPr>
            <a:r>
              <a:rPr kumimoji="0" lang="en-US" altLang="zh-CN" sz="2400">
                <a:solidFill>
                  <a:schemeClr val="accent2"/>
                </a:solidFill>
                <a:latin typeface="Times New Roman" pitchFamily="18" charset="0"/>
                <a:ea typeface="宋体" charset="-122"/>
              </a:rPr>
              <a:t>myMethod()</a:t>
            </a:r>
          </a:p>
        </p:txBody>
      </p:sp>
      <p:sp>
        <p:nvSpPr>
          <p:cNvPr id="7175" name="AutoShape 31"/>
          <p:cNvSpPr>
            <a:spLocks noChangeArrowheads="1"/>
          </p:cNvSpPr>
          <p:nvPr/>
        </p:nvSpPr>
        <p:spPr bwMode="auto">
          <a:xfrm>
            <a:off x="1747838" y="3413125"/>
            <a:ext cx="304800" cy="381000"/>
          </a:xfrm>
          <a:prstGeom prst="triangle">
            <a:avLst>
              <a:gd name="adj" fmla="val 50000"/>
            </a:avLst>
          </a:prstGeom>
          <a:solidFill>
            <a:schemeClr val="bg1"/>
          </a:solidFill>
          <a:ln w="19050">
            <a:solidFill>
              <a:schemeClr val="tx1"/>
            </a:solidFill>
            <a:miter lim="800000"/>
            <a:headEnd/>
            <a:tailEnd/>
          </a:ln>
        </p:spPr>
        <p:txBody>
          <a:bodyPr wrap="none" anchor="ctr"/>
          <a:lstStyle/>
          <a:p>
            <a:endParaRPr lang="zh-CN" altLang="en-US"/>
          </a:p>
        </p:txBody>
      </p:sp>
      <p:sp>
        <p:nvSpPr>
          <p:cNvPr id="7176" name="Rectangle 32"/>
          <p:cNvSpPr>
            <a:spLocks noChangeArrowheads="1"/>
          </p:cNvSpPr>
          <p:nvPr/>
        </p:nvSpPr>
        <p:spPr bwMode="auto">
          <a:xfrm>
            <a:off x="914400" y="4114800"/>
            <a:ext cx="796925"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2400">
                <a:solidFill>
                  <a:srgbClr val="CC0000"/>
                </a:solidFill>
                <a:latin typeface="Arial Black" pitchFamily="34" charset="0"/>
              </a:rPr>
              <a:t>实现</a:t>
            </a:r>
          </a:p>
        </p:txBody>
      </p:sp>
      <p:sp>
        <p:nvSpPr>
          <p:cNvPr id="7177" name="Rectangle 33"/>
          <p:cNvSpPr>
            <a:spLocks noChangeArrowheads="1"/>
          </p:cNvSpPr>
          <p:nvPr/>
        </p:nvSpPr>
        <p:spPr bwMode="auto">
          <a:xfrm>
            <a:off x="1023938" y="2581275"/>
            <a:ext cx="1751012" cy="831850"/>
          </a:xfrm>
          <a:prstGeom prst="rect">
            <a:avLst/>
          </a:prstGeom>
          <a:solidFill>
            <a:schemeClr val="bg1"/>
          </a:solidFill>
          <a:ln w="9525">
            <a:solidFill>
              <a:schemeClr val="tx1"/>
            </a:solidFill>
            <a:prstDash val="lgDash"/>
            <a:miter lim="800000"/>
            <a:headEnd/>
            <a:tailEnd/>
          </a:ln>
        </p:spPr>
        <p:txBody>
          <a:bodyPr wrap="none">
            <a:spAutoFit/>
          </a:bodyPr>
          <a:lstStyle/>
          <a:p>
            <a:pPr algn="l" eaLnBrk="0" hangingPunct="0">
              <a:spcBef>
                <a:spcPct val="0"/>
              </a:spcBef>
            </a:pPr>
            <a:r>
              <a:rPr kumimoji="0" lang="en-US" altLang="zh-CN" sz="2400" i="1" u="sng" dirty="0" err="1">
                <a:solidFill>
                  <a:schemeClr val="accent2"/>
                </a:solidFill>
                <a:latin typeface="Times New Roman" pitchFamily="18" charset="0"/>
                <a:ea typeface="宋体" charset="-122"/>
              </a:rPr>
              <a:t>MyInterface</a:t>
            </a:r>
            <a:endParaRPr kumimoji="0" lang="en-US" altLang="zh-CN" sz="2400" i="1" u="sng" dirty="0">
              <a:solidFill>
                <a:schemeClr val="accent2"/>
              </a:solidFill>
              <a:latin typeface="Times New Roman" pitchFamily="18" charset="0"/>
              <a:ea typeface="宋体" charset="-122"/>
            </a:endParaRPr>
          </a:p>
          <a:p>
            <a:pPr algn="l" eaLnBrk="0" hangingPunct="0">
              <a:spcBef>
                <a:spcPct val="0"/>
              </a:spcBef>
            </a:pPr>
            <a:r>
              <a:rPr kumimoji="0" lang="en-US" altLang="zh-CN" sz="2400" i="1" dirty="0" err="1">
                <a:solidFill>
                  <a:schemeClr val="accent2"/>
                </a:solidFill>
                <a:latin typeface="Times New Roman" pitchFamily="18" charset="0"/>
                <a:ea typeface="宋体" charset="-122"/>
              </a:rPr>
              <a:t>myMethod</a:t>
            </a:r>
            <a:r>
              <a:rPr kumimoji="0" lang="en-US" altLang="zh-CN" sz="2400" i="1" dirty="0">
                <a:solidFill>
                  <a:schemeClr val="accent2"/>
                </a:solidFill>
                <a:latin typeface="Times New Roman" pitchFamily="18" charset="0"/>
                <a:ea typeface="宋体" charset="-122"/>
              </a:rPr>
              <a:t>()</a:t>
            </a:r>
          </a:p>
        </p:txBody>
      </p:sp>
      <p:sp>
        <p:nvSpPr>
          <p:cNvPr id="7178" name="Line 34"/>
          <p:cNvSpPr>
            <a:spLocks noChangeShapeType="1"/>
          </p:cNvSpPr>
          <p:nvPr/>
        </p:nvSpPr>
        <p:spPr bwMode="auto">
          <a:xfrm flipV="1">
            <a:off x="2057400" y="3816350"/>
            <a:ext cx="3886200" cy="0"/>
          </a:xfrm>
          <a:prstGeom prst="line">
            <a:avLst/>
          </a:prstGeom>
          <a:noFill/>
          <a:ln w="19050">
            <a:solidFill>
              <a:srgbClr val="CC00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9" name="Line 35"/>
          <p:cNvSpPr>
            <a:spLocks noChangeShapeType="1"/>
          </p:cNvSpPr>
          <p:nvPr/>
        </p:nvSpPr>
        <p:spPr bwMode="auto">
          <a:xfrm flipH="1">
            <a:off x="5943600" y="3282950"/>
            <a:ext cx="0" cy="533400"/>
          </a:xfrm>
          <a:prstGeom prst="line">
            <a:avLst/>
          </a:prstGeom>
          <a:noFill/>
          <a:ln w="19050">
            <a:solidFill>
              <a:srgbClr val="CC0000"/>
            </a:solidFill>
            <a:prstDash val="dash"/>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0" name="Text Box 36"/>
          <p:cNvSpPr txBox="1">
            <a:spLocks noChangeArrowheads="1"/>
          </p:cNvSpPr>
          <p:nvPr/>
        </p:nvSpPr>
        <p:spPr bwMode="auto">
          <a:xfrm>
            <a:off x="3657600" y="5410200"/>
            <a:ext cx="4648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r>
              <a:rPr kumimoji="0" lang="en-US" altLang="zh-CN" sz="2400">
                <a:latin typeface="Arial" charset="0"/>
              </a:rPr>
              <a:t>UML</a:t>
            </a:r>
            <a:r>
              <a:rPr kumimoji="0" lang="zh-CN" altLang="en-US" sz="2400">
                <a:latin typeface="Arial" charset="0"/>
              </a:rPr>
              <a:t>中用空心三角形表示继承和接口实现</a:t>
            </a:r>
          </a:p>
        </p:txBody>
      </p:sp>
    </p:spTree>
    <p:extLst>
      <p:ext uri="{BB962C8B-B14F-4D97-AF65-F5344CB8AC3E}">
        <p14:creationId xmlns:p14="http://schemas.microsoft.com/office/powerpoint/2010/main" val="19199587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zh-CN" b="1" smtClean="0">
                <a:solidFill>
                  <a:schemeClr val="accent2"/>
                </a:solidFill>
                <a:ea typeface="楷体_GB2312" pitchFamily="49" charset="-122"/>
              </a:rPr>
              <a:t>UML</a:t>
            </a:r>
            <a:r>
              <a:rPr lang="zh-CN" altLang="en-US" b="1" smtClean="0">
                <a:solidFill>
                  <a:schemeClr val="accent2"/>
                </a:solidFill>
                <a:ea typeface="楷体_GB2312" pitchFamily="49" charset="-122"/>
              </a:rPr>
              <a:t>中类的关系</a:t>
            </a:r>
          </a:p>
        </p:txBody>
      </p:sp>
      <p:sp>
        <p:nvSpPr>
          <p:cNvPr id="8195" name="Rectangle 3"/>
          <p:cNvSpPr>
            <a:spLocks noGrp="1" noChangeArrowheads="1"/>
          </p:cNvSpPr>
          <p:nvPr>
            <p:ph type="body" idx="1"/>
          </p:nvPr>
        </p:nvSpPr>
        <p:spPr/>
        <p:txBody>
          <a:bodyPr/>
          <a:lstStyle/>
          <a:p>
            <a:pPr eaLnBrk="1" hangingPunct="1"/>
            <a:r>
              <a:rPr lang="zh-CN" altLang="en-US" b="1" smtClean="0">
                <a:ea typeface="楷体_GB2312" pitchFamily="49" charset="-122"/>
              </a:rPr>
              <a:t>聚合</a:t>
            </a:r>
            <a:r>
              <a:rPr lang="en-US" altLang="zh-CN" b="1" smtClean="0">
                <a:ea typeface="楷体_GB2312" pitchFamily="49" charset="-122"/>
              </a:rPr>
              <a:t>(aggregation)</a:t>
            </a:r>
          </a:p>
          <a:p>
            <a:pPr lvl="1" eaLnBrk="1" hangingPunct="1">
              <a:lnSpc>
                <a:spcPct val="150000"/>
              </a:lnSpc>
            </a:pPr>
            <a:r>
              <a:rPr lang="zh-CN" altLang="en-US" b="1" smtClean="0">
                <a:ea typeface="楷体_GB2312" pitchFamily="49" charset="-122"/>
              </a:rPr>
              <a:t>用菱形符号表示</a:t>
            </a:r>
          </a:p>
          <a:p>
            <a:pPr lvl="1" eaLnBrk="1" hangingPunct="1">
              <a:lnSpc>
                <a:spcPct val="150000"/>
              </a:lnSpc>
            </a:pPr>
            <a:r>
              <a:rPr lang="zh-CN" altLang="en-US" b="1" smtClean="0">
                <a:ea typeface="楷体_GB2312" pitchFamily="49" charset="-122"/>
              </a:rPr>
              <a:t>表明包含了几个不同类的对象的一种结构</a:t>
            </a:r>
          </a:p>
          <a:p>
            <a:pPr lvl="1" eaLnBrk="1" hangingPunct="1">
              <a:lnSpc>
                <a:spcPct val="150000"/>
              </a:lnSpc>
            </a:pPr>
            <a:r>
              <a:rPr lang="zh-CN" altLang="en-US" b="1" smtClean="0">
                <a:ea typeface="楷体_GB2312" pitchFamily="49" charset="-122"/>
              </a:rPr>
              <a:t>如果对象</a:t>
            </a:r>
            <a:r>
              <a:rPr lang="en-US" altLang="zh-CN" b="1" smtClean="0">
                <a:ea typeface="楷体_GB2312" pitchFamily="49" charset="-122"/>
              </a:rPr>
              <a:t>A</a:t>
            </a:r>
            <a:r>
              <a:rPr lang="zh-CN" altLang="en-US" b="1" smtClean="0">
                <a:ea typeface="楷体_GB2312" pitchFamily="49" charset="-122"/>
              </a:rPr>
              <a:t>在结构意义上（典型的是实例变量）需要对象</a:t>
            </a:r>
            <a:r>
              <a:rPr lang="en-US" altLang="zh-CN" b="1" smtClean="0">
                <a:ea typeface="楷体_GB2312" pitchFamily="49" charset="-122"/>
              </a:rPr>
              <a:t>B</a:t>
            </a:r>
            <a:r>
              <a:rPr lang="zh-CN" altLang="en-US" b="1" smtClean="0">
                <a:ea typeface="楷体_GB2312" pitchFamily="49" charset="-122"/>
              </a:rPr>
              <a:t>，那么类</a:t>
            </a:r>
            <a:r>
              <a:rPr lang="en-US" altLang="zh-CN" b="1" smtClean="0">
                <a:ea typeface="楷体_GB2312" pitchFamily="49" charset="-122"/>
              </a:rPr>
              <a:t>A</a:t>
            </a:r>
            <a:r>
              <a:rPr lang="zh-CN" altLang="en-US" b="1" smtClean="0">
                <a:ea typeface="楷体_GB2312" pitchFamily="49" charset="-122"/>
              </a:rPr>
              <a:t>聚合类</a:t>
            </a:r>
            <a:r>
              <a:rPr lang="en-US" altLang="zh-CN" b="1" smtClean="0">
                <a:ea typeface="楷体_GB2312" pitchFamily="49" charset="-122"/>
              </a:rPr>
              <a:t>B</a:t>
            </a:r>
            <a:r>
              <a:rPr lang="zh-CN" altLang="en-US" b="1" smtClean="0">
                <a:ea typeface="楷体_GB2312" pitchFamily="49" charset="-122"/>
              </a:rPr>
              <a:t>。</a:t>
            </a:r>
          </a:p>
        </p:txBody>
      </p:sp>
    </p:spTree>
    <p:extLst>
      <p:ext uri="{BB962C8B-B14F-4D97-AF65-F5344CB8AC3E}">
        <p14:creationId xmlns:p14="http://schemas.microsoft.com/office/powerpoint/2010/main" val="29567473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5"/>
          <p:cNvSpPr>
            <a:spLocks noGrp="1" noChangeArrowheads="1"/>
          </p:cNvSpPr>
          <p:nvPr>
            <p:ph type="title"/>
          </p:nvPr>
        </p:nvSpPr>
        <p:spPr>
          <a:xfrm>
            <a:off x="457200" y="0"/>
            <a:ext cx="6096000" cy="1143000"/>
          </a:xfrm>
          <a:noFill/>
        </p:spPr>
        <p:txBody>
          <a:bodyPr/>
          <a:lstStyle/>
          <a:p>
            <a:pPr eaLnBrk="1" hangingPunct="1"/>
            <a:r>
              <a:rPr lang="zh-CN" altLang="en-US" sz="4000" b="1" smtClean="0">
                <a:solidFill>
                  <a:schemeClr val="accent2"/>
                </a:solidFill>
                <a:latin typeface="楷体_GB2312" pitchFamily="49" charset="-122"/>
                <a:ea typeface="楷体_GB2312" pitchFamily="49" charset="-122"/>
              </a:rPr>
              <a:t>聚合的</a:t>
            </a:r>
            <a:r>
              <a:rPr lang="en-US" altLang="zh-CN" sz="4000" b="1" smtClean="0">
                <a:solidFill>
                  <a:schemeClr val="accent2"/>
                </a:solidFill>
                <a:latin typeface="楷体_GB2312" pitchFamily="49" charset="-122"/>
                <a:ea typeface="楷体_GB2312" pitchFamily="49" charset="-122"/>
              </a:rPr>
              <a:t>UML</a:t>
            </a:r>
            <a:r>
              <a:rPr lang="zh-CN" altLang="en-US" sz="4000" b="1" smtClean="0">
                <a:solidFill>
                  <a:schemeClr val="accent2"/>
                </a:solidFill>
                <a:latin typeface="楷体_GB2312" pitchFamily="49" charset="-122"/>
                <a:ea typeface="楷体_GB2312" pitchFamily="49" charset="-122"/>
              </a:rPr>
              <a:t>符号和典型实现</a:t>
            </a:r>
          </a:p>
        </p:txBody>
      </p:sp>
      <p:grpSp>
        <p:nvGrpSpPr>
          <p:cNvPr id="9219" name="Group 26"/>
          <p:cNvGrpSpPr>
            <a:grpSpLocks/>
          </p:cNvGrpSpPr>
          <p:nvPr/>
        </p:nvGrpSpPr>
        <p:grpSpPr bwMode="auto">
          <a:xfrm>
            <a:off x="381000" y="1035050"/>
            <a:ext cx="8305800" cy="5441950"/>
            <a:chOff x="240" y="652"/>
            <a:chExt cx="5232" cy="3428"/>
          </a:xfrm>
        </p:grpSpPr>
        <p:sp>
          <p:nvSpPr>
            <p:cNvPr id="9222" name="AutoShape 27"/>
            <p:cNvSpPr>
              <a:spLocks noChangeArrowheads="1"/>
            </p:cNvSpPr>
            <p:nvPr/>
          </p:nvSpPr>
          <p:spPr bwMode="auto">
            <a:xfrm>
              <a:off x="1392" y="1262"/>
              <a:ext cx="2640" cy="2123"/>
            </a:xfrm>
            <a:prstGeom prst="flowChartPunchedTape">
              <a:avLst/>
            </a:prstGeom>
            <a:solidFill>
              <a:srgbClr val="FFFFE1"/>
            </a:solidFill>
            <a:ln w="19050">
              <a:solidFill>
                <a:schemeClr val="tx1"/>
              </a:solidFill>
              <a:miter lim="800000"/>
              <a:headEnd/>
              <a:tailEnd/>
            </a:ln>
          </p:spPr>
          <p:txBody>
            <a:bodyPr tIns="137160" rIns="0" bIns="0">
              <a:spAutoFit/>
            </a:bodyPr>
            <a:lstStyle/>
            <a:p>
              <a:pPr algn="l" eaLnBrk="0" hangingPunct="0">
                <a:lnSpc>
                  <a:spcPct val="90000"/>
                </a:lnSpc>
                <a:spcBef>
                  <a:spcPct val="0"/>
                </a:spcBef>
              </a:pPr>
              <a:endParaRPr kumimoji="0" lang="en-US" altLang="zh-CN" sz="2000">
                <a:solidFill>
                  <a:schemeClr val="accent2"/>
                </a:solidFill>
                <a:latin typeface="Arial" charset="0"/>
                <a:ea typeface="宋体" charset="-122"/>
              </a:endParaRPr>
            </a:p>
            <a:p>
              <a:pPr algn="l" eaLnBrk="0" hangingPunct="0">
                <a:lnSpc>
                  <a:spcPct val="90000"/>
                </a:lnSpc>
                <a:spcBef>
                  <a:spcPct val="0"/>
                </a:spcBef>
              </a:pPr>
              <a:r>
                <a:rPr kumimoji="0" lang="en-US" altLang="zh-CN" sz="2000">
                  <a:solidFill>
                    <a:schemeClr val="accent2"/>
                  </a:solidFill>
                  <a:latin typeface="Arial" charset="0"/>
                  <a:ea typeface="宋体" charset="-122"/>
                </a:rPr>
                <a:t>class </a:t>
              </a:r>
              <a:r>
                <a:rPr kumimoji="0" lang="en-US" altLang="zh-CN" sz="2000">
                  <a:latin typeface="Arial" charset="0"/>
                  <a:ea typeface="宋体" charset="-122"/>
                </a:rPr>
                <a:t>MyClass</a:t>
              </a:r>
            </a:p>
            <a:p>
              <a:pPr algn="l" eaLnBrk="0" hangingPunct="0">
                <a:lnSpc>
                  <a:spcPct val="90000"/>
                </a:lnSpc>
                <a:spcBef>
                  <a:spcPct val="0"/>
                </a:spcBef>
              </a:pPr>
              <a:r>
                <a:rPr kumimoji="0" lang="en-US" altLang="zh-CN" sz="2000">
                  <a:latin typeface="Arial" charset="0"/>
                  <a:ea typeface="宋体" charset="-122"/>
                </a:rPr>
                <a:t>{</a:t>
              </a:r>
            </a:p>
            <a:p>
              <a:pPr algn="l" eaLnBrk="0" hangingPunct="0">
                <a:lnSpc>
                  <a:spcPct val="90000"/>
                </a:lnSpc>
                <a:spcBef>
                  <a:spcPct val="0"/>
                </a:spcBef>
              </a:pPr>
              <a:r>
                <a:rPr kumimoji="0" lang="en-US" altLang="zh-CN" sz="2000">
                  <a:latin typeface="Arial" charset="0"/>
                  <a:ea typeface="宋体" charset="-122"/>
                </a:rPr>
                <a:t>    MyAggregatedClass ac;</a:t>
              </a:r>
            </a:p>
            <a:p>
              <a:pPr algn="l" eaLnBrk="0" hangingPunct="0">
                <a:lnSpc>
                  <a:spcPct val="90000"/>
                </a:lnSpc>
                <a:spcBef>
                  <a:spcPct val="0"/>
                </a:spcBef>
              </a:pPr>
              <a:r>
                <a:rPr kumimoji="0" lang="en-US" altLang="zh-CN" sz="2000">
                  <a:latin typeface="Arial" charset="0"/>
                  <a:ea typeface="宋体" charset="-122"/>
                </a:rPr>
                <a:t>    </a:t>
              </a:r>
              <a:r>
                <a:rPr kumimoji="0" lang="en-US" altLang="zh-CN" sz="2000">
                  <a:solidFill>
                    <a:schemeClr val="accent2"/>
                  </a:solidFill>
                  <a:latin typeface="Arial" charset="0"/>
                  <a:ea typeface="宋体" charset="-122"/>
                </a:rPr>
                <a:t>int</a:t>
              </a:r>
              <a:r>
                <a:rPr kumimoji="0" lang="en-US" altLang="zh-CN" sz="2000">
                  <a:latin typeface="Arial" charset="0"/>
                  <a:ea typeface="宋体" charset="-122"/>
                </a:rPr>
                <a:t> att;</a:t>
              </a:r>
            </a:p>
            <a:p>
              <a:pPr algn="l" eaLnBrk="0" hangingPunct="0">
                <a:lnSpc>
                  <a:spcPct val="90000"/>
                </a:lnSpc>
                <a:spcBef>
                  <a:spcPct val="0"/>
                </a:spcBef>
              </a:pPr>
              <a:r>
                <a:rPr kumimoji="0" lang="en-US" altLang="zh-CN" sz="2000">
                  <a:latin typeface="Arial" charset="0"/>
                  <a:ea typeface="宋体" charset="-122"/>
                </a:rPr>
                <a:t>    . . . . .</a:t>
              </a:r>
            </a:p>
            <a:p>
              <a:pPr algn="l" eaLnBrk="0" hangingPunct="0">
                <a:lnSpc>
                  <a:spcPct val="90000"/>
                </a:lnSpc>
                <a:spcBef>
                  <a:spcPct val="0"/>
                </a:spcBef>
              </a:pPr>
              <a:r>
                <a:rPr kumimoji="0" lang="en-US" altLang="zh-CN" sz="2000">
                  <a:latin typeface="Arial" charset="0"/>
                  <a:ea typeface="宋体" charset="-122"/>
                </a:rPr>
                <a:t>} </a:t>
              </a:r>
            </a:p>
          </p:txBody>
        </p:sp>
        <p:sp>
          <p:nvSpPr>
            <p:cNvPr id="9223" name="Rectangle 28" descr="Large checker board"/>
            <p:cNvSpPr>
              <a:spLocks noChangeArrowheads="1"/>
            </p:cNvSpPr>
            <p:nvPr/>
          </p:nvSpPr>
          <p:spPr bwMode="auto">
            <a:xfrm>
              <a:off x="246" y="672"/>
              <a:ext cx="1248" cy="76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algn="l" eaLnBrk="0" hangingPunct="0">
                <a:spcBef>
                  <a:spcPct val="0"/>
                </a:spcBef>
              </a:pPr>
              <a:r>
                <a:rPr kumimoji="0" lang="en-US" altLang="zh-CN" sz="2400" u="sng">
                  <a:solidFill>
                    <a:schemeClr val="accent2"/>
                  </a:solidFill>
                  <a:latin typeface="Times New Roman" pitchFamily="18" charset="0"/>
                  <a:ea typeface="宋体" charset="-122"/>
                </a:rPr>
                <a:t>MyClass</a:t>
              </a:r>
              <a:endParaRPr kumimoji="0" lang="en-US" altLang="zh-CN" sz="2400">
                <a:solidFill>
                  <a:schemeClr val="accent2"/>
                </a:solidFill>
                <a:latin typeface="Times New Roman" pitchFamily="18" charset="0"/>
                <a:ea typeface="宋体" charset="-122"/>
              </a:endParaRPr>
            </a:p>
            <a:p>
              <a:pPr algn="l" eaLnBrk="0" hangingPunct="0">
                <a:spcBef>
                  <a:spcPct val="0"/>
                </a:spcBef>
              </a:pPr>
              <a:r>
                <a:rPr kumimoji="0" lang="en-US" altLang="zh-CN" sz="2400" u="sng">
                  <a:solidFill>
                    <a:schemeClr val="accent2"/>
                  </a:solidFill>
                  <a:latin typeface="Times New Roman" pitchFamily="18" charset="0"/>
                  <a:ea typeface="宋体" charset="-122"/>
                </a:rPr>
                <a:t>att: int</a:t>
              </a:r>
              <a:endParaRPr kumimoji="0" lang="en-US" altLang="zh-CN" sz="2400">
                <a:solidFill>
                  <a:schemeClr val="accent2"/>
                </a:solidFill>
                <a:latin typeface="Times New Roman" pitchFamily="18" charset="0"/>
                <a:ea typeface="宋体" charset="-122"/>
              </a:endParaRPr>
            </a:p>
            <a:p>
              <a:pPr algn="l" eaLnBrk="0" hangingPunct="0">
                <a:spcBef>
                  <a:spcPct val="0"/>
                </a:spcBef>
              </a:pPr>
              <a:r>
                <a:rPr kumimoji="0" lang="en-US" altLang="zh-CN" sz="2400">
                  <a:solidFill>
                    <a:schemeClr val="accent2"/>
                  </a:solidFill>
                  <a:latin typeface="Times New Roman" pitchFamily="18" charset="0"/>
                  <a:ea typeface="宋体" charset="-122"/>
                </a:rPr>
                <a:t>myFunction()</a:t>
              </a:r>
            </a:p>
          </p:txBody>
        </p:sp>
        <p:sp>
          <p:nvSpPr>
            <p:cNvPr id="9224" name="Rectangle 29" descr="Large checker board"/>
            <p:cNvSpPr>
              <a:spLocks noChangeArrowheads="1"/>
            </p:cNvSpPr>
            <p:nvPr/>
          </p:nvSpPr>
          <p:spPr bwMode="auto">
            <a:xfrm>
              <a:off x="3680" y="902"/>
              <a:ext cx="1792" cy="3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algn="r" eaLnBrk="0" hangingPunct="0">
                <a:spcBef>
                  <a:spcPct val="0"/>
                </a:spcBef>
              </a:pPr>
              <a:r>
                <a:rPr kumimoji="0" lang="en-US" altLang="zh-CN" sz="2400">
                  <a:solidFill>
                    <a:schemeClr val="accent2"/>
                  </a:solidFill>
                  <a:latin typeface="Times New Roman" pitchFamily="18" charset="0"/>
                  <a:ea typeface="宋体" charset="-122"/>
                </a:rPr>
                <a:t>MyAggregatedClass</a:t>
              </a:r>
            </a:p>
          </p:txBody>
        </p:sp>
        <p:cxnSp>
          <p:nvCxnSpPr>
            <p:cNvPr id="9225" name="AutoShape 30"/>
            <p:cNvCxnSpPr>
              <a:cxnSpLocks noChangeShapeType="1"/>
              <a:stCxn id="9227" idx="3"/>
              <a:endCxn id="9224" idx="1"/>
            </p:cNvCxnSpPr>
            <p:nvPr/>
          </p:nvCxnSpPr>
          <p:spPr bwMode="auto">
            <a:xfrm>
              <a:off x="1830" y="1052"/>
              <a:ext cx="1844" cy="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9226" name="Rectangle 31"/>
            <p:cNvSpPr>
              <a:spLocks noChangeArrowheads="1"/>
            </p:cNvSpPr>
            <p:nvPr/>
          </p:nvSpPr>
          <p:spPr bwMode="auto">
            <a:xfrm>
              <a:off x="1824" y="960"/>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400">
                  <a:latin typeface="Times New Roman" pitchFamily="18" charset="0"/>
                  <a:ea typeface="宋体" charset="-122"/>
                </a:rPr>
                <a:t>ac</a:t>
              </a:r>
            </a:p>
          </p:txBody>
        </p:sp>
        <p:sp>
          <p:nvSpPr>
            <p:cNvPr id="9227" name="AutoShape 32"/>
            <p:cNvSpPr>
              <a:spLocks noChangeArrowheads="1"/>
            </p:cNvSpPr>
            <p:nvPr/>
          </p:nvSpPr>
          <p:spPr bwMode="auto">
            <a:xfrm>
              <a:off x="1488" y="980"/>
              <a:ext cx="336" cy="144"/>
            </a:xfrm>
            <a:prstGeom prst="diamond">
              <a:avLst/>
            </a:prstGeom>
            <a:solidFill>
              <a:schemeClr val="bg1"/>
            </a:solidFill>
            <a:ln w="19050">
              <a:solidFill>
                <a:schemeClr val="tx1"/>
              </a:solidFill>
              <a:miter lim="800000"/>
              <a:headEnd/>
              <a:tailEnd/>
            </a:ln>
          </p:spPr>
          <p:txBody>
            <a:bodyPr wrap="none" anchor="ctr"/>
            <a:lstStyle/>
            <a:p>
              <a:endParaRPr lang="zh-CN" altLang="en-US"/>
            </a:p>
          </p:txBody>
        </p:sp>
        <p:sp>
          <p:nvSpPr>
            <p:cNvPr id="9228" name="Line 33"/>
            <p:cNvSpPr>
              <a:spLocks noChangeShapeType="1"/>
            </p:cNvSpPr>
            <p:nvPr/>
          </p:nvSpPr>
          <p:spPr bwMode="auto">
            <a:xfrm flipV="1">
              <a:off x="2832" y="1056"/>
              <a:ext cx="0" cy="1200"/>
            </a:xfrm>
            <a:prstGeom prst="line">
              <a:avLst/>
            </a:prstGeom>
            <a:noFill/>
            <a:ln w="19050">
              <a:solidFill>
                <a:srgbClr val="CC0000"/>
              </a:solidFill>
              <a:prstDash val="dash"/>
              <a:round/>
              <a:headEnd type="arrow"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9" name="Rectangle 34"/>
            <p:cNvSpPr>
              <a:spLocks noChangeArrowheads="1"/>
            </p:cNvSpPr>
            <p:nvPr/>
          </p:nvSpPr>
          <p:spPr bwMode="auto">
            <a:xfrm>
              <a:off x="2204" y="652"/>
              <a:ext cx="502"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2400">
                  <a:solidFill>
                    <a:srgbClr val="CC0000"/>
                  </a:solidFill>
                </a:rPr>
                <a:t>聚合</a:t>
              </a:r>
            </a:p>
          </p:txBody>
        </p:sp>
        <p:sp>
          <p:nvSpPr>
            <p:cNvPr id="9230" name="Rectangle 35"/>
            <p:cNvSpPr>
              <a:spLocks noChangeArrowheads="1"/>
            </p:cNvSpPr>
            <p:nvPr/>
          </p:nvSpPr>
          <p:spPr bwMode="auto">
            <a:xfrm>
              <a:off x="3399" y="991"/>
              <a:ext cx="1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a:latin typeface="Times New Roman" pitchFamily="18" charset="0"/>
                  <a:ea typeface="宋体" charset="-122"/>
                </a:rPr>
                <a:t>1</a:t>
              </a:r>
            </a:p>
          </p:txBody>
        </p:sp>
        <p:cxnSp>
          <p:nvCxnSpPr>
            <p:cNvPr id="9231" name="AutoShape 36"/>
            <p:cNvCxnSpPr>
              <a:cxnSpLocks noChangeShapeType="1"/>
              <a:stCxn id="9233" idx="3"/>
            </p:cNvCxnSpPr>
            <p:nvPr/>
          </p:nvCxnSpPr>
          <p:spPr bwMode="auto">
            <a:xfrm>
              <a:off x="1830" y="3821"/>
              <a:ext cx="906" cy="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9232" name="Rectangle 37"/>
            <p:cNvSpPr>
              <a:spLocks noChangeArrowheads="1"/>
            </p:cNvSpPr>
            <p:nvPr/>
          </p:nvSpPr>
          <p:spPr bwMode="auto">
            <a:xfrm>
              <a:off x="1824" y="3792"/>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400">
                  <a:latin typeface="Times New Roman" pitchFamily="18" charset="0"/>
                  <a:ea typeface="宋体" charset="-122"/>
                </a:rPr>
                <a:t>ac</a:t>
              </a:r>
            </a:p>
          </p:txBody>
        </p:sp>
        <p:sp>
          <p:nvSpPr>
            <p:cNvPr id="9233" name="AutoShape 38"/>
            <p:cNvSpPr>
              <a:spLocks noChangeArrowheads="1"/>
            </p:cNvSpPr>
            <p:nvPr/>
          </p:nvSpPr>
          <p:spPr bwMode="auto">
            <a:xfrm>
              <a:off x="1488" y="3749"/>
              <a:ext cx="336" cy="144"/>
            </a:xfrm>
            <a:prstGeom prst="diamond">
              <a:avLst/>
            </a:prstGeom>
            <a:solidFill>
              <a:schemeClr val="tx1"/>
            </a:solidFill>
            <a:ln w="19050">
              <a:solidFill>
                <a:schemeClr val="tx1"/>
              </a:solidFill>
              <a:miter lim="800000"/>
              <a:headEnd/>
              <a:tailEnd/>
            </a:ln>
          </p:spPr>
          <p:txBody>
            <a:bodyPr wrap="none" anchor="ctr"/>
            <a:lstStyle/>
            <a:p>
              <a:endParaRPr lang="zh-CN" altLang="en-US"/>
            </a:p>
          </p:txBody>
        </p:sp>
        <p:sp>
          <p:nvSpPr>
            <p:cNvPr id="9234" name="Rectangle 39"/>
            <p:cNvSpPr>
              <a:spLocks noChangeArrowheads="1"/>
            </p:cNvSpPr>
            <p:nvPr/>
          </p:nvSpPr>
          <p:spPr bwMode="auto">
            <a:xfrm>
              <a:off x="240" y="3642"/>
              <a:ext cx="502"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2400">
                  <a:solidFill>
                    <a:srgbClr val="CC0000"/>
                  </a:solidFill>
                  <a:latin typeface="Arial Black" pitchFamily="34" charset="0"/>
                </a:rPr>
                <a:t>组合</a:t>
              </a:r>
            </a:p>
          </p:txBody>
        </p:sp>
        <p:sp>
          <p:nvSpPr>
            <p:cNvPr id="9235" name="Rectangle 40"/>
            <p:cNvSpPr>
              <a:spLocks noChangeArrowheads="1"/>
            </p:cNvSpPr>
            <p:nvPr/>
          </p:nvSpPr>
          <p:spPr bwMode="auto">
            <a:xfrm>
              <a:off x="2928" y="3558"/>
              <a:ext cx="185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2400">
                  <a:latin typeface="Arial" charset="0"/>
                </a:rPr>
                <a:t>组合对象仅在所有者</a:t>
              </a:r>
            </a:p>
            <a:p>
              <a:pPr algn="l" eaLnBrk="0" hangingPunct="0">
                <a:spcBef>
                  <a:spcPct val="0"/>
                </a:spcBef>
              </a:pPr>
              <a:r>
                <a:rPr kumimoji="0" lang="zh-CN" altLang="en-US" sz="2400">
                  <a:latin typeface="Arial" charset="0"/>
                </a:rPr>
                <a:t>对象的作用域内存在</a:t>
              </a:r>
            </a:p>
          </p:txBody>
        </p:sp>
      </p:grpSp>
      <p:sp>
        <p:nvSpPr>
          <p:cNvPr id="9220" name="Text Box 41"/>
          <p:cNvSpPr txBox="1">
            <a:spLocks noChangeArrowheads="1"/>
          </p:cNvSpPr>
          <p:nvPr/>
        </p:nvSpPr>
        <p:spPr bwMode="auto">
          <a:xfrm>
            <a:off x="6477000" y="2286000"/>
            <a:ext cx="2667000"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r>
              <a:rPr kumimoji="0" lang="zh-CN" altLang="en-US" sz="2400">
                <a:latin typeface="Arial" charset="0"/>
              </a:rPr>
              <a:t>数字表示聚合的对象的数量。也可用“</a:t>
            </a:r>
            <a:r>
              <a:rPr kumimoji="0" lang="en-US" altLang="zh-CN" sz="2400">
                <a:latin typeface="Arial" charset="0"/>
              </a:rPr>
              <a:t>3…7”</a:t>
            </a:r>
            <a:r>
              <a:rPr kumimoji="0" lang="zh-CN" altLang="en-US" sz="2400">
                <a:latin typeface="Arial" charset="0"/>
              </a:rPr>
              <a:t>这样的范围表示，“*”表示聚合对象的数量未确定。</a:t>
            </a:r>
          </a:p>
        </p:txBody>
      </p:sp>
      <p:sp>
        <p:nvSpPr>
          <p:cNvPr id="9221" name="Line 42"/>
          <p:cNvSpPr>
            <a:spLocks noChangeShapeType="1"/>
          </p:cNvSpPr>
          <p:nvPr/>
        </p:nvSpPr>
        <p:spPr bwMode="auto">
          <a:xfrm>
            <a:off x="5638800" y="1905000"/>
            <a:ext cx="990600" cy="3810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177709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CN" b="1" smtClean="0">
                <a:solidFill>
                  <a:schemeClr val="accent2"/>
                </a:solidFill>
                <a:ea typeface="楷体_GB2312" pitchFamily="49" charset="-122"/>
              </a:rPr>
              <a:t>UML</a:t>
            </a:r>
            <a:r>
              <a:rPr lang="zh-CN" altLang="en-US" b="1" smtClean="0">
                <a:solidFill>
                  <a:schemeClr val="accent2"/>
                </a:solidFill>
                <a:ea typeface="楷体_GB2312" pitchFamily="49" charset="-122"/>
              </a:rPr>
              <a:t>中类的关系</a:t>
            </a:r>
          </a:p>
        </p:txBody>
      </p:sp>
      <p:sp>
        <p:nvSpPr>
          <p:cNvPr id="10243" name="Rectangle 3"/>
          <p:cNvSpPr>
            <a:spLocks noGrp="1" noChangeArrowheads="1"/>
          </p:cNvSpPr>
          <p:nvPr>
            <p:ph type="body" idx="1"/>
          </p:nvPr>
        </p:nvSpPr>
        <p:spPr>
          <a:xfrm>
            <a:off x="457200" y="1600200"/>
            <a:ext cx="8458200" cy="4525963"/>
          </a:xfrm>
        </p:spPr>
        <p:txBody>
          <a:bodyPr/>
          <a:lstStyle/>
          <a:p>
            <a:pPr eaLnBrk="1" hangingPunct="1"/>
            <a:r>
              <a:rPr lang="zh-CN" altLang="en-US" b="1" smtClean="0">
                <a:ea typeface="楷体_GB2312" pitchFamily="49" charset="-122"/>
              </a:rPr>
              <a:t>依赖性</a:t>
            </a:r>
            <a:r>
              <a:rPr lang="en-US" altLang="zh-CN" b="1" smtClean="0">
                <a:ea typeface="楷体_GB2312" pitchFamily="49" charset="-122"/>
              </a:rPr>
              <a:t>(dependency)</a:t>
            </a:r>
          </a:p>
          <a:p>
            <a:pPr lvl="1" eaLnBrk="1" hangingPunct="1"/>
            <a:r>
              <a:rPr lang="zh-CN" altLang="en-US" b="1" smtClean="0">
                <a:ea typeface="楷体_GB2312" pitchFamily="49" charset="-122"/>
              </a:rPr>
              <a:t>用带点的箭头线表示</a:t>
            </a:r>
          </a:p>
          <a:p>
            <a:pPr lvl="1" eaLnBrk="1" hangingPunct="1"/>
            <a:r>
              <a:rPr lang="zh-CN" altLang="en-US" b="1" smtClean="0">
                <a:ea typeface="楷体_GB2312" pitchFamily="49" charset="-122"/>
              </a:rPr>
              <a:t>一个类依赖另一个类，一个类使用另一个类中的方法</a:t>
            </a:r>
          </a:p>
          <a:p>
            <a:pPr lvl="1" eaLnBrk="1" hangingPunct="1"/>
            <a:r>
              <a:rPr lang="zh-CN" altLang="en-US" b="1" smtClean="0">
                <a:ea typeface="楷体_GB2312" pitchFamily="49" charset="-122"/>
              </a:rPr>
              <a:t>当箭头末端的类变化时，将会影响到这个相关类</a:t>
            </a:r>
          </a:p>
          <a:p>
            <a:pPr lvl="1" eaLnBrk="1" hangingPunct="1"/>
            <a:r>
              <a:rPr lang="zh-CN" altLang="en-US" b="1" smtClean="0">
                <a:ea typeface="楷体_GB2312" pitchFamily="49" charset="-122"/>
              </a:rPr>
              <a:t>包括了继承和聚合</a:t>
            </a:r>
          </a:p>
          <a:p>
            <a:pPr lvl="1" eaLnBrk="1" hangingPunct="1"/>
            <a:r>
              <a:rPr lang="zh-CN" altLang="en-US" b="1" smtClean="0">
                <a:ea typeface="楷体_GB2312" pitchFamily="49" charset="-122"/>
              </a:rPr>
              <a:t>如果对象</a:t>
            </a:r>
            <a:r>
              <a:rPr lang="en-US" altLang="zh-CN" b="1" smtClean="0">
                <a:ea typeface="楷体_GB2312" pitchFamily="49" charset="-122"/>
              </a:rPr>
              <a:t>A</a:t>
            </a:r>
            <a:r>
              <a:rPr lang="zh-CN" altLang="en-US" b="1" smtClean="0">
                <a:ea typeface="楷体_GB2312" pitchFamily="49" charset="-122"/>
              </a:rPr>
              <a:t>的定义需要对象</a:t>
            </a:r>
            <a:r>
              <a:rPr lang="en-US" altLang="zh-CN" b="1" smtClean="0">
                <a:ea typeface="楷体_GB2312" pitchFamily="49" charset="-122"/>
              </a:rPr>
              <a:t>B</a:t>
            </a:r>
            <a:r>
              <a:rPr lang="zh-CN" altLang="en-US" b="1" smtClean="0">
                <a:ea typeface="楷体_GB2312" pitchFamily="49" charset="-122"/>
              </a:rPr>
              <a:t>，那么类</a:t>
            </a:r>
            <a:r>
              <a:rPr lang="en-US" altLang="zh-CN" b="1" smtClean="0">
                <a:ea typeface="楷体_GB2312" pitchFamily="49" charset="-122"/>
              </a:rPr>
              <a:t>A</a:t>
            </a:r>
            <a:r>
              <a:rPr lang="zh-CN" altLang="en-US" b="1" smtClean="0">
                <a:ea typeface="楷体_GB2312" pitchFamily="49" charset="-122"/>
              </a:rPr>
              <a:t>依赖类</a:t>
            </a:r>
            <a:r>
              <a:rPr lang="en-US" altLang="zh-CN" b="1" smtClean="0">
                <a:ea typeface="楷体_GB2312" pitchFamily="49" charset="-122"/>
              </a:rPr>
              <a:t>B</a:t>
            </a:r>
            <a:r>
              <a:rPr lang="zh-CN" altLang="en-US" b="1" smtClean="0">
                <a:ea typeface="楷体_GB2312" pitchFamily="49" charset="-122"/>
              </a:rPr>
              <a:t>，即</a:t>
            </a:r>
            <a:r>
              <a:rPr lang="en-US" altLang="zh-CN" b="1" smtClean="0">
                <a:ea typeface="楷体_GB2312" pitchFamily="49" charset="-122"/>
              </a:rPr>
              <a:t>B</a:t>
            </a:r>
            <a:r>
              <a:rPr lang="zh-CN" altLang="en-US" b="1" smtClean="0">
                <a:ea typeface="楷体_GB2312" pitchFamily="49" charset="-122"/>
              </a:rPr>
              <a:t>至少出现在</a:t>
            </a:r>
            <a:r>
              <a:rPr lang="en-US" altLang="zh-CN" b="1" smtClean="0">
                <a:ea typeface="楷体_GB2312" pitchFamily="49" charset="-122"/>
              </a:rPr>
              <a:t>A</a:t>
            </a:r>
            <a:r>
              <a:rPr lang="zh-CN" altLang="en-US" b="1" smtClean="0">
                <a:ea typeface="楷体_GB2312" pitchFamily="49" charset="-122"/>
              </a:rPr>
              <a:t>的一个方法中。</a:t>
            </a:r>
          </a:p>
        </p:txBody>
      </p:sp>
      <p:sp>
        <p:nvSpPr>
          <p:cNvPr id="10244" name="Line 5"/>
          <p:cNvSpPr>
            <a:spLocks noChangeShapeType="1"/>
          </p:cNvSpPr>
          <p:nvPr/>
        </p:nvSpPr>
        <p:spPr bwMode="auto">
          <a:xfrm>
            <a:off x="4953000" y="2438400"/>
            <a:ext cx="1752600" cy="0"/>
          </a:xfrm>
          <a:prstGeom prst="line">
            <a:avLst/>
          </a:prstGeom>
          <a:noFill/>
          <a:ln w="5715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lIns="0" tIns="108000" rIns="0" bIns="108000">
            <a:spAutoFit/>
          </a:bodyPr>
          <a:lstStyle/>
          <a:p>
            <a:endParaRPr lang="zh-CN" altLang="en-US"/>
          </a:p>
        </p:txBody>
      </p:sp>
    </p:spTree>
    <p:extLst>
      <p:ext uri="{BB962C8B-B14F-4D97-AF65-F5344CB8AC3E}">
        <p14:creationId xmlns:p14="http://schemas.microsoft.com/office/powerpoint/2010/main" val="31011104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0"/>
            <a:ext cx="6096000" cy="1143000"/>
          </a:xfrm>
          <a:noFill/>
        </p:spPr>
        <p:txBody>
          <a:bodyPr/>
          <a:lstStyle/>
          <a:p>
            <a:pPr eaLnBrk="1" hangingPunct="1"/>
            <a:r>
              <a:rPr lang="zh-CN" altLang="en-US" sz="3600" b="1" smtClean="0">
                <a:solidFill>
                  <a:schemeClr val="accent2"/>
                </a:solidFill>
                <a:latin typeface="楷体_GB2312" pitchFamily="49" charset="-122"/>
                <a:ea typeface="楷体_GB2312" pitchFamily="49" charset="-122"/>
              </a:rPr>
              <a:t>依赖性的</a:t>
            </a:r>
            <a:r>
              <a:rPr lang="en-US" altLang="zh-CN" sz="3600" b="1" smtClean="0">
                <a:solidFill>
                  <a:schemeClr val="accent2"/>
                </a:solidFill>
                <a:latin typeface="楷体_GB2312" pitchFamily="49" charset="-122"/>
                <a:ea typeface="楷体_GB2312" pitchFamily="49" charset="-122"/>
              </a:rPr>
              <a:t>UML</a:t>
            </a:r>
            <a:r>
              <a:rPr lang="zh-CN" altLang="en-US" sz="3600" b="1" smtClean="0">
                <a:solidFill>
                  <a:schemeClr val="accent2"/>
                </a:solidFill>
                <a:latin typeface="楷体_GB2312" pitchFamily="49" charset="-122"/>
                <a:ea typeface="楷体_GB2312" pitchFamily="49" charset="-122"/>
              </a:rPr>
              <a:t>符号和典型实现</a:t>
            </a:r>
          </a:p>
        </p:txBody>
      </p:sp>
      <p:grpSp>
        <p:nvGrpSpPr>
          <p:cNvPr id="11267" name="Group 20"/>
          <p:cNvGrpSpPr>
            <a:grpSpLocks/>
          </p:cNvGrpSpPr>
          <p:nvPr/>
        </p:nvGrpSpPr>
        <p:grpSpPr bwMode="auto">
          <a:xfrm>
            <a:off x="381000" y="914400"/>
            <a:ext cx="8447088" cy="5867400"/>
            <a:chOff x="336" y="480"/>
            <a:chExt cx="5321" cy="3696"/>
          </a:xfrm>
        </p:grpSpPr>
        <p:sp>
          <p:nvSpPr>
            <p:cNvPr id="11268" name="AutoShape 21"/>
            <p:cNvSpPr>
              <a:spLocks noChangeArrowheads="1"/>
            </p:cNvSpPr>
            <p:nvPr/>
          </p:nvSpPr>
          <p:spPr bwMode="auto">
            <a:xfrm>
              <a:off x="336" y="641"/>
              <a:ext cx="5321" cy="3535"/>
            </a:xfrm>
            <a:prstGeom prst="flowChartPunchedTape">
              <a:avLst/>
            </a:prstGeom>
            <a:solidFill>
              <a:srgbClr val="FFFFE1"/>
            </a:solidFill>
            <a:ln w="25400">
              <a:solidFill>
                <a:schemeClr val="tx1"/>
              </a:solidFill>
              <a:miter lim="800000"/>
              <a:headEnd/>
              <a:tailEnd/>
            </a:ln>
          </p:spPr>
          <p:txBody>
            <a:bodyPr wrap="none" lIns="182880" tIns="137160" rIns="0" bIns="0"/>
            <a:lstStyle/>
            <a:p>
              <a:pPr algn="l" eaLnBrk="0" hangingPunct="0">
                <a:lnSpc>
                  <a:spcPct val="90000"/>
                </a:lnSpc>
                <a:spcBef>
                  <a:spcPct val="0"/>
                </a:spcBef>
              </a:pPr>
              <a:r>
                <a:rPr kumimoji="0" lang="en-US" altLang="zh-CN" sz="2000">
                  <a:solidFill>
                    <a:schemeClr val="accent2"/>
                  </a:solidFill>
                  <a:latin typeface="Arial" charset="0"/>
                  <a:ea typeface="宋体" charset="-122"/>
                </a:rPr>
                <a:t>class</a:t>
              </a:r>
              <a:r>
                <a:rPr kumimoji="0" lang="en-US" altLang="zh-CN" sz="2000">
                  <a:latin typeface="Arial" charset="0"/>
                  <a:ea typeface="宋体" charset="-122"/>
                </a:rPr>
                <a:t> MyDependentClass</a:t>
              </a:r>
            </a:p>
            <a:p>
              <a:pPr algn="l" eaLnBrk="0" hangingPunct="0">
                <a:lnSpc>
                  <a:spcPct val="90000"/>
                </a:lnSpc>
                <a:spcBef>
                  <a:spcPct val="0"/>
                </a:spcBef>
              </a:pPr>
              <a:r>
                <a:rPr kumimoji="0" lang="en-US" altLang="zh-CN" sz="2000">
                  <a:latin typeface="Arial" charset="0"/>
                  <a:ea typeface="宋体" charset="-122"/>
                </a:rPr>
                <a:t>{</a:t>
              </a:r>
            </a:p>
            <a:p>
              <a:pPr algn="l" eaLnBrk="0" hangingPunct="0">
                <a:lnSpc>
                  <a:spcPct val="90000"/>
                </a:lnSpc>
                <a:spcBef>
                  <a:spcPct val="0"/>
                </a:spcBef>
              </a:pPr>
              <a:r>
                <a:rPr kumimoji="0" lang="en-US" altLang="zh-CN" sz="2000">
                  <a:latin typeface="Arial" charset="0"/>
                  <a:ea typeface="宋体" charset="-122"/>
                </a:rPr>
                <a:t>    . . . . .</a:t>
              </a:r>
            </a:p>
            <a:p>
              <a:pPr algn="l" eaLnBrk="0" hangingPunct="0">
                <a:lnSpc>
                  <a:spcPct val="90000"/>
                </a:lnSpc>
                <a:spcBef>
                  <a:spcPct val="0"/>
                </a:spcBef>
              </a:pPr>
              <a:r>
                <a:rPr kumimoji="0" lang="en-US" altLang="zh-CN" sz="2000">
                  <a:latin typeface="Arial" charset="0"/>
                  <a:ea typeface="宋体" charset="-122"/>
                </a:rPr>
                <a:t>    </a:t>
              </a:r>
              <a:r>
                <a:rPr kumimoji="0" lang="en-US" altLang="zh-CN" sz="2000">
                  <a:solidFill>
                    <a:schemeClr val="accent2"/>
                  </a:solidFill>
                  <a:latin typeface="Arial" charset="0"/>
                  <a:ea typeface="宋体" charset="-122"/>
                </a:rPr>
                <a:t>void</a:t>
              </a:r>
              <a:r>
                <a:rPr kumimoji="0" lang="en-US" altLang="zh-CN" sz="2000">
                  <a:latin typeface="Arial" charset="0"/>
                  <a:ea typeface="宋体" charset="-122"/>
                </a:rPr>
                <a:t> myFunction1( MyReferencedClass r ) </a:t>
              </a:r>
            </a:p>
            <a:p>
              <a:pPr algn="l" eaLnBrk="0" hangingPunct="0">
                <a:lnSpc>
                  <a:spcPct val="90000"/>
                </a:lnSpc>
                <a:spcBef>
                  <a:spcPct val="0"/>
                </a:spcBef>
              </a:pPr>
              <a:r>
                <a:rPr kumimoji="0" lang="en-US" altLang="zh-CN" sz="2000">
                  <a:latin typeface="Arial" charset="0"/>
                  <a:ea typeface="宋体" charset="-122"/>
                </a:rPr>
                <a:t>    { . .. } </a:t>
              </a:r>
            </a:p>
            <a:p>
              <a:pPr algn="l" eaLnBrk="0" hangingPunct="0">
                <a:lnSpc>
                  <a:spcPct val="90000"/>
                </a:lnSpc>
                <a:spcBef>
                  <a:spcPct val="0"/>
                </a:spcBef>
              </a:pPr>
              <a:endParaRPr kumimoji="0" lang="en-US" altLang="zh-CN" sz="2000">
                <a:latin typeface="Arial" charset="0"/>
                <a:ea typeface="宋体" charset="-122"/>
              </a:endParaRPr>
            </a:p>
            <a:p>
              <a:pPr algn="l" eaLnBrk="0" hangingPunct="0">
                <a:lnSpc>
                  <a:spcPct val="90000"/>
                </a:lnSpc>
                <a:spcBef>
                  <a:spcPct val="0"/>
                </a:spcBef>
              </a:pPr>
              <a:r>
                <a:rPr kumimoji="0" lang="en-US" altLang="zh-CN" sz="2000">
                  <a:latin typeface="Arial" charset="0"/>
                  <a:ea typeface="宋体" charset="-122"/>
                </a:rPr>
                <a:t>    MyReferencedClass myFunction2( … ) </a:t>
              </a:r>
            </a:p>
            <a:p>
              <a:pPr algn="l" eaLnBrk="0" hangingPunct="0">
                <a:lnSpc>
                  <a:spcPct val="90000"/>
                </a:lnSpc>
                <a:spcBef>
                  <a:spcPct val="0"/>
                </a:spcBef>
              </a:pPr>
              <a:r>
                <a:rPr kumimoji="0" lang="en-US" altLang="zh-CN" sz="2000">
                  <a:latin typeface="Arial" charset="0"/>
                  <a:ea typeface="宋体" charset="-122"/>
                </a:rPr>
                <a:t>    { . .. } </a:t>
              </a:r>
            </a:p>
            <a:p>
              <a:pPr algn="l" eaLnBrk="0" hangingPunct="0">
                <a:lnSpc>
                  <a:spcPct val="90000"/>
                </a:lnSpc>
                <a:spcBef>
                  <a:spcPct val="0"/>
                </a:spcBef>
              </a:pPr>
              <a:endParaRPr kumimoji="0" lang="en-US" altLang="zh-CN" sz="2000">
                <a:latin typeface="Arial" charset="0"/>
                <a:ea typeface="宋体" charset="-122"/>
              </a:endParaRPr>
            </a:p>
            <a:p>
              <a:pPr algn="l" eaLnBrk="0" hangingPunct="0">
                <a:lnSpc>
                  <a:spcPct val="90000"/>
                </a:lnSpc>
                <a:spcBef>
                  <a:spcPct val="0"/>
                </a:spcBef>
              </a:pPr>
              <a:r>
                <a:rPr kumimoji="0" lang="en-US" altLang="zh-CN" sz="2000">
                  <a:latin typeface="Arial" charset="0"/>
                  <a:ea typeface="宋体" charset="-122"/>
                </a:rPr>
                <a:t>   </a:t>
              </a:r>
              <a:r>
                <a:rPr kumimoji="0" lang="en-US" altLang="zh-CN" sz="2000">
                  <a:solidFill>
                    <a:schemeClr val="accent2"/>
                  </a:solidFill>
                  <a:latin typeface="Arial" charset="0"/>
                  <a:ea typeface="宋体" charset="-122"/>
                </a:rPr>
                <a:t>void</a:t>
              </a:r>
              <a:r>
                <a:rPr kumimoji="0" lang="en-US" altLang="zh-CN" sz="2000">
                  <a:latin typeface="Arial" charset="0"/>
                  <a:ea typeface="宋体" charset="-122"/>
                </a:rPr>
                <a:t> myFunction3( … ) </a:t>
              </a:r>
            </a:p>
            <a:p>
              <a:pPr algn="l" eaLnBrk="0" hangingPunct="0">
                <a:lnSpc>
                  <a:spcPct val="90000"/>
                </a:lnSpc>
                <a:spcBef>
                  <a:spcPct val="0"/>
                </a:spcBef>
              </a:pPr>
              <a:r>
                <a:rPr kumimoji="0" lang="en-US" altLang="zh-CN" sz="2000">
                  <a:latin typeface="Arial" charset="0"/>
                  <a:ea typeface="宋体" charset="-122"/>
                </a:rPr>
                <a:t>    { 	MyReferencedClass m … </a:t>
              </a:r>
            </a:p>
            <a:p>
              <a:pPr algn="l" eaLnBrk="0" hangingPunct="0">
                <a:lnSpc>
                  <a:spcPct val="90000"/>
                </a:lnSpc>
                <a:spcBef>
                  <a:spcPct val="0"/>
                </a:spcBef>
              </a:pPr>
              <a:r>
                <a:rPr kumimoji="0" lang="en-US" altLang="zh-CN" sz="2000">
                  <a:latin typeface="Arial" charset="0"/>
                  <a:ea typeface="宋体" charset="-122"/>
                </a:rPr>
                <a:t>    }</a:t>
              </a:r>
            </a:p>
            <a:p>
              <a:pPr algn="l" eaLnBrk="0" hangingPunct="0">
                <a:lnSpc>
                  <a:spcPct val="90000"/>
                </a:lnSpc>
                <a:spcBef>
                  <a:spcPct val="0"/>
                </a:spcBef>
              </a:pPr>
              <a:r>
                <a:rPr kumimoji="0" lang="en-US" altLang="zh-CN" sz="2000">
                  <a:latin typeface="Arial" charset="0"/>
                  <a:ea typeface="宋体" charset="-122"/>
                </a:rPr>
                <a:t>} </a:t>
              </a:r>
            </a:p>
          </p:txBody>
        </p:sp>
        <p:cxnSp>
          <p:nvCxnSpPr>
            <p:cNvPr id="11269" name="AutoShape 22"/>
            <p:cNvCxnSpPr>
              <a:cxnSpLocks noChangeShapeType="1"/>
              <a:stCxn id="11270" idx="3"/>
              <a:endCxn id="11271" idx="1"/>
            </p:cNvCxnSpPr>
            <p:nvPr/>
          </p:nvCxnSpPr>
          <p:spPr bwMode="auto">
            <a:xfrm>
              <a:off x="2059" y="857"/>
              <a:ext cx="1829" cy="10"/>
            </a:xfrm>
            <a:prstGeom prst="bentConnector3">
              <a:avLst>
                <a:gd name="adj1" fmla="val 49972"/>
              </a:avLst>
            </a:prstGeom>
            <a:noFill/>
            <a:ln w="28575">
              <a:solidFill>
                <a:schemeClr val="tx1"/>
              </a:solidFill>
              <a:prstDash val="dash"/>
              <a:miter lim="800000"/>
              <a:headEnd/>
              <a:tailEnd type="arrow" w="med" len="med"/>
            </a:ln>
            <a:extLst>
              <a:ext uri="{909E8E84-426E-40DD-AFC4-6F175D3DCCD1}">
                <a14:hiddenFill xmlns:a14="http://schemas.microsoft.com/office/drawing/2010/main">
                  <a:noFill/>
                </a14:hiddenFill>
              </a:ext>
            </a:extLst>
          </p:spPr>
        </p:cxnSp>
        <p:sp>
          <p:nvSpPr>
            <p:cNvPr id="11270" name="Rectangle 23"/>
            <p:cNvSpPr>
              <a:spLocks noChangeArrowheads="1"/>
            </p:cNvSpPr>
            <p:nvPr/>
          </p:nvSpPr>
          <p:spPr bwMode="auto">
            <a:xfrm>
              <a:off x="336" y="480"/>
              <a:ext cx="1723" cy="754"/>
            </a:xfrm>
            <a:prstGeom prst="rect">
              <a:avLst/>
            </a:prstGeom>
            <a:solidFill>
              <a:schemeClr val="bg1"/>
            </a:solidFill>
            <a:ln w="38100">
              <a:solidFill>
                <a:schemeClr val="tx1"/>
              </a:solidFill>
              <a:miter lim="800000"/>
              <a:headEnd/>
              <a:tailEnd/>
            </a:ln>
          </p:spPr>
          <p:txBody>
            <a:bodyPr wrap="none">
              <a:spAutoFit/>
            </a:bodyPr>
            <a:lstStyle/>
            <a:p>
              <a:pPr algn="l" eaLnBrk="0" hangingPunct="0">
                <a:spcBef>
                  <a:spcPct val="0"/>
                </a:spcBef>
              </a:pPr>
              <a:r>
                <a:rPr kumimoji="0" lang="en-US" altLang="zh-CN" sz="2400" u="sng">
                  <a:solidFill>
                    <a:schemeClr val="accent2"/>
                  </a:solidFill>
                  <a:latin typeface="Times New Roman" pitchFamily="18" charset="0"/>
                  <a:ea typeface="宋体" charset="-122"/>
                </a:rPr>
                <a:t>MyDependentClass</a:t>
              </a:r>
              <a:endParaRPr kumimoji="0" lang="en-US" altLang="zh-CN" sz="2400">
                <a:solidFill>
                  <a:schemeClr val="accent2"/>
                </a:solidFill>
                <a:latin typeface="Times New Roman" pitchFamily="18" charset="0"/>
                <a:ea typeface="宋体" charset="-122"/>
              </a:endParaRPr>
            </a:p>
            <a:p>
              <a:pPr algn="l" eaLnBrk="0" hangingPunct="0">
                <a:spcBef>
                  <a:spcPct val="0"/>
                </a:spcBef>
              </a:pPr>
              <a:r>
                <a:rPr kumimoji="0" lang="en-US" altLang="zh-CN" sz="2400" u="sng">
                  <a:solidFill>
                    <a:schemeClr val="accent2"/>
                  </a:solidFill>
                  <a:latin typeface="Times New Roman" pitchFamily="18" charset="0"/>
                  <a:ea typeface="宋体" charset="-122"/>
                </a:rPr>
                <a:t>att: int</a:t>
              </a:r>
              <a:endParaRPr kumimoji="0" lang="en-US" altLang="zh-CN" sz="2400">
                <a:solidFill>
                  <a:schemeClr val="accent2"/>
                </a:solidFill>
                <a:latin typeface="Times New Roman" pitchFamily="18" charset="0"/>
                <a:ea typeface="宋体" charset="-122"/>
              </a:endParaRPr>
            </a:p>
            <a:p>
              <a:pPr algn="l" eaLnBrk="0" hangingPunct="0">
                <a:spcBef>
                  <a:spcPct val="0"/>
                </a:spcBef>
              </a:pPr>
              <a:r>
                <a:rPr kumimoji="0" lang="en-US" altLang="zh-CN" sz="2400">
                  <a:solidFill>
                    <a:schemeClr val="accent2"/>
                  </a:solidFill>
                  <a:latin typeface="Times New Roman" pitchFamily="18" charset="0"/>
                  <a:ea typeface="宋体" charset="-122"/>
                </a:rPr>
                <a:t>myFunction()</a:t>
              </a:r>
            </a:p>
          </p:txBody>
        </p:sp>
        <p:sp>
          <p:nvSpPr>
            <p:cNvPr id="11271" name="Rectangle 24"/>
            <p:cNvSpPr>
              <a:spLocks noChangeArrowheads="1"/>
            </p:cNvSpPr>
            <p:nvPr/>
          </p:nvSpPr>
          <p:spPr bwMode="auto">
            <a:xfrm>
              <a:off x="3888" y="720"/>
              <a:ext cx="1764" cy="294"/>
            </a:xfrm>
            <a:prstGeom prst="rect">
              <a:avLst/>
            </a:prstGeom>
            <a:solidFill>
              <a:schemeClr val="bg1"/>
            </a:solidFill>
            <a:ln w="28575">
              <a:solidFill>
                <a:schemeClr val="tx1"/>
              </a:solidFill>
              <a:miter lim="800000"/>
              <a:headEnd/>
              <a:tailEnd/>
            </a:ln>
          </p:spPr>
          <p:txBody>
            <a:bodyPr wrap="none">
              <a:spAutoFit/>
            </a:bodyPr>
            <a:lstStyle/>
            <a:p>
              <a:pPr algn="r" eaLnBrk="0" hangingPunct="0">
                <a:spcBef>
                  <a:spcPct val="0"/>
                </a:spcBef>
              </a:pPr>
              <a:r>
                <a:rPr kumimoji="0" lang="en-US" altLang="zh-CN" sz="2400">
                  <a:solidFill>
                    <a:schemeClr val="accent2"/>
                  </a:solidFill>
                  <a:latin typeface="Times New Roman" pitchFamily="18" charset="0"/>
                  <a:ea typeface="宋体" charset="-122"/>
                </a:rPr>
                <a:t>MyReferencedClass</a:t>
              </a:r>
            </a:p>
          </p:txBody>
        </p:sp>
        <p:sp>
          <p:nvSpPr>
            <p:cNvPr id="11272" name="Line 25"/>
            <p:cNvSpPr>
              <a:spLocks noChangeShapeType="1"/>
            </p:cNvSpPr>
            <p:nvPr/>
          </p:nvSpPr>
          <p:spPr bwMode="auto">
            <a:xfrm>
              <a:off x="3552" y="864"/>
              <a:ext cx="0" cy="288"/>
            </a:xfrm>
            <a:prstGeom prst="line">
              <a:avLst/>
            </a:prstGeom>
            <a:noFill/>
            <a:ln w="19050" cap="rnd">
              <a:solidFill>
                <a:srgbClr val="CC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3" name="Line 26"/>
            <p:cNvSpPr>
              <a:spLocks noChangeShapeType="1"/>
            </p:cNvSpPr>
            <p:nvPr/>
          </p:nvSpPr>
          <p:spPr bwMode="auto">
            <a:xfrm flipH="1">
              <a:off x="3552" y="1344"/>
              <a:ext cx="1152" cy="0"/>
            </a:xfrm>
            <a:prstGeom prst="line">
              <a:avLst/>
            </a:prstGeom>
            <a:noFill/>
            <a:ln w="19050" cap="rnd">
              <a:solidFill>
                <a:srgbClr val="CC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4" name="Line 27"/>
            <p:cNvSpPr>
              <a:spLocks noChangeShapeType="1"/>
            </p:cNvSpPr>
            <p:nvPr/>
          </p:nvSpPr>
          <p:spPr bwMode="auto">
            <a:xfrm flipH="1">
              <a:off x="4704" y="1344"/>
              <a:ext cx="0" cy="2112"/>
            </a:xfrm>
            <a:prstGeom prst="line">
              <a:avLst/>
            </a:prstGeom>
            <a:noFill/>
            <a:ln w="19050" cap="rnd">
              <a:solidFill>
                <a:srgbClr val="CC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5" name="Rectangle 28"/>
            <p:cNvSpPr>
              <a:spLocks noChangeArrowheads="1"/>
            </p:cNvSpPr>
            <p:nvPr/>
          </p:nvSpPr>
          <p:spPr bwMode="auto">
            <a:xfrm>
              <a:off x="2817" y="1117"/>
              <a:ext cx="1467" cy="51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spcBef>
                  <a:spcPct val="0"/>
                </a:spcBef>
              </a:pPr>
              <a:r>
                <a:rPr kumimoji="0" lang="zh-CN" altLang="en-US" sz="2400">
                  <a:solidFill>
                    <a:srgbClr val="CC0000"/>
                  </a:solidFill>
                </a:rPr>
                <a:t>依赖性</a:t>
              </a:r>
            </a:p>
            <a:p>
              <a:pPr eaLnBrk="0" hangingPunct="0">
                <a:spcBef>
                  <a:spcPct val="0"/>
                </a:spcBef>
              </a:pPr>
              <a:r>
                <a:rPr kumimoji="0" lang="zh-CN" altLang="en-US" sz="2400">
                  <a:solidFill>
                    <a:srgbClr val="CC0000"/>
                  </a:solidFill>
                </a:rPr>
                <a:t>（引用一个类）</a:t>
              </a:r>
            </a:p>
          </p:txBody>
        </p:sp>
        <p:sp>
          <p:nvSpPr>
            <p:cNvPr id="11276" name="Line 29"/>
            <p:cNvSpPr>
              <a:spLocks noChangeShapeType="1"/>
            </p:cNvSpPr>
            <p:nvPr/>
          </p:nvSpPr>
          <p:spPr bwMode="auto">
            <a:xfrm>
              <a:off x="2880" y="2112"/>
              <a:ext cx="0" cy="144"/>
            </a:xfrm>
            <a:prstGeom prst="line">
              <a:avLst/>
            </a:prstGeom>
            <a:noFill/>
            <a:ln w="19050" cap="rnd">
              <a:solidFill>
                <a:srgbClr val="CC0000"/>
              </a:solidFill>
              <a:prstDash val="sysDot"/>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7" name="Line 30"/>
            <p:cNvSpPr>
              <a:spLocks noChangeShapeType="1"/>
            </p:cNvSpPr>
            <p:nvPr/>
          </p:nvSpPr>
          <p:spPr bwMode="auto">
            <a:xfrm>
              <a:off x="1392" y="2640"/>
              <a:ext cx="0" cy="144"/>
            </a:xfrm>
            <a:prstGeom prst="line">
              <a:avLst/>
            </a:prstGeom>
            <a:noFill/>
            <a:ln w="19050" cap="rnd">
              <a:solidFill>
                <a:srgbClr val="CC0000"/>
              </a:solidFill>
              <a:prstDash val="sysDot"/>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8" name="Line 31"/>
            <p:cNvSpPr>
              <a:spLocks noChangeShapeType="1"/>
            </p:cNvSpPr>
            <p:nvPr/>
          </p:nvSpPr>
          <p:spPr bwMode="auto">
            <a:xfrm>
              <a:off x="1776" y="3312"/>
              <a:ext cx="0" cy="144"/>
            </a:xfrm>
            <a:prstGeom prst="line">
              <a:avLst/>
            </a:prstGeom>
            <a:noFill/>
            <a:ln w="19050" cap="rnd">
              <a:solidFill>
                <a:srgbClr val="CC0000"/>
              </a:solidFill>
              <a:prstDash val="sysDot"/>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9" name="Rectangle 32"/>
            <p:cNvSpPr>
              <a:spLocks noChangeArrowheads="1"/>
            </p:cNvSpPr>
            <p:nvPr/>
          </p:nvSpPr>
          <p:spPr bwMode="auto">
            <a:xfrm>
              <a:off x="4326" y="2139"/>
              <a:ext cx="438"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2000">
                  <a:solidFill>
                    <a:schemeClr val="accent2"/>
                  </a:solidFill>
                </a:rPr>
                <a:t>参数</a:t>
              </a:r>
            </a:p>
          </p:txBody>
        </p:sp>
        <p:sp>
          <p:nvSpPr>
            <p:cNvPr id="11280" name="Rectangle 33"/>
            <p:cNvSpPr>
              <a:spLocks noChangeArrowheads="1"/>
            </p:cNvSpPr>
            <p:nvPr/>
          </p:nvSpPr>
          <p:spPr bwMode="auto">
            <a:xfrm>
              <a:off x="4211" y="2667"/>
              <a:ext cx="124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2000">
                  <a:solidFill>
                    <a:schemeClr val="accent2"/>
                  </a:solidFill>
                  <a:latin typeface="Times New Roman" pitchFamily="18" charset="0"/>
                </a:rPr>
                <a:t>或者是返回类型</a:t>
              </a:r>
            </a:p>
          </p:txBody>
        </p:sp>
        <p:sp>
          <p:nvSpPr>
            <p:cNvPr id="11281" name="Rectangle 34"/>
            <p:cNvSpPr>
              <a:spLocks noChangeArrowheads="1"/>
            </p:cNvSpPr>
            <p:nvPr/>
          </p:nvSpPr>
          <p:spPr bwMode="auto">
            <a:xfrm>
              <a:off x="3924" y="3332"/>
              <a:ext cx="1565"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spcBef>
                  <a:spcPct val="0"/>
                </a:spcBef>
              </a:pPr>
              <a:r>
                <a:rPr kumimoji="0" lang="zh-CN" altLang="en-US" sz="2000">
                  <a:solidFill>
                    <a:schemeClr val="accent2"/>
                  </a:solidFill>
                  <a:latin typeface="Times New Roman" pitchFamily="18" charset="0"/>
                </a:rPr>
                <a:t>或者是局部变量类型</a:t>
              </a:r>
            </a:p>
          </p:txBody>
        </p:sp>
        <p:cxnSp>
          <p:nvCxnSpPr>
            <p:cNvPr id="11282" name="AutoShape 35"/>
            <p:cNvCxnSpPr>
              <a:cxnSpLocks noChangeShapeType="1"/>
              <a:stCxn id="11276" idx="1"/>
              <a:endCxn id="11279" idx="1"/>
            </p:cNvCxnSpPr>
            <p:nvPr/>
          </p:nvCxnSpPr>
          <p:spPr bwMode="auto">
            <a:xfrm>
              <a:off x="2880" y="2262"/>
              <a:ext cx="1446" cy="13"/>
            </a:xfrm>
            <a:prstGeom prst="straightConnector1">
              <a:avLst/>
            </a:prstGeom>
            <a:noFill/>
            <a:ln w="19050" cap="rnd">
              <a:solidFill>
                <a:srgbClr val="CC0000"/>
              </a:solidFill>
              <a:prstDash val="sysDot"/>
              <a:round/>
              <a:headEnd/>
              <a:tailEnd/>
            </a:ln>
            <a:extLst>
              <a:ext uri="{909E8E84-426E-40DD-AFC4-6F175D3DCCD1}">
                <a14:hiddenFill xmlns:a14="http://schemas.microsoft.com/office/drawing/2010/main">
                  <a:noFill/>
                </a14:hiddenFill>
              </a:ext>
            </a:extLst>
          </p:spPr>
        </p:cxnSp>
        <p:cxnSp>
          <p:nvCxnSpPr>
            <p:cNvPr id="11283" name="AutoShape 36"/>
            <p:cNvCxnSpPr>
              <a:cxnSpLocks noChangeShapeType="1"/>
              <a:stCxn id="11277" idx="1"/>
              <a:endCxn id="11280" idx="1"/>
            </p:cNvCxnSpPr>
            <p:nvPr/>
          </p:nvCxnSpPr>
          <p:spPr bwMode="auto">
            <a:xfrm>
              <a:off x="1392" y="2790"/>
              <a:ext cx="2819" cy="13"/>
            </a:xfrm>
            <a:prstGeom prst="straightConnector1">
              <a:avLst/>
            </a:prstGeom>
            <a:noFill/>
            <a:ln w="19050" cap="rnd">
              <a:solidFill>
                <a:srgbClr val="CC0000"/>
              </a:solidFill>
              <a:prstDash val="sysDot"/>
              <a:round/>
              <a:headEnd/>
              <a:tailEnd/>
            </a:ln>
            <a:extLst>
              <a:ext uri="{909E8E84-426E-40DD-AFC4-6F175D3DCCD1}">
                <a14:hiddenFill xmlns:a14="http://schemas.microsoft.com/office/drawing/2010/main">
                  <a:noFill/>
                </a14:hiddenFill>
              </a:ext>
            </a:extLst>
          </p:spPr>
        </p:cxnSp>
        <p:cxnSp>
          <p:nvCxnSpPr>
            <p:cNvPr id="11284" name="AutoShape 37"/>
            <p:cNvCxnSpPr>
              <a:cxnSpLocks noChangeShapeType="1"/>
              <a:stCxn id="11278" idx="1"/>
              <a:endCxn id="11281" idx="1"/>
            </p:cNvCxnSpPr>
            <p:nvPr/>
          </p:nvCxnSpPr>
          <p:spPr bwMode="auto">
            <a:xfrm>
              <a:off x="1776" y="3462"/>
              <a:ext cx="2194" cy="6"/>
            </a:xfrm>
            <a:prstGeom prst="straightConnector1">
              <a:avLst/>
            </a:prstGeom>
            <a:noFill/>
            <a:ln w="19050" cap="rnd">
              <a:solidFill>
                <a:srgbClr val="CC0000"/>
              </a:solidFill>
              <a:prstDash val="sysDot"/>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5288244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tLang="zh-CN" b="1" smtClean="0">
                <a:solidFill>
                  <a:schemeClr val="accent2"/>
                </a:solidFill>
                <a:ea typeface="楷体_GB2312" pitchFamily="49" charset="-122"/>
              </a:rPr>
              <a:t>UML</a:t>
            </a:r>
            <a:r>
              <a:rPr lang="zh-CN" altLang="en-US" b="1" smtClean="0">
                <a:solidFill>
                  <a:schemeClr val="accent2"/>
                </a:solidFill>
                <a:ea typeface="楷体_GB2312" pitchFamily="49" charset="-122"/>
              </a:rPr>
              <a:t>中类的关系</a:t>
            </a:r>
          </a:p>
        </p:txBody>
      </p:sp>
      <p:sp>
        <p:nvSpPr>
          <p:cNvPr id="12291" name="Rectangle 3"/>
          <p:cNvSpPr>
            <a:spLocks noGrp="1" noChangeArrowheads="1"/>
          </p:cNvSpPr>
          <p:nvPr>
            <p:ph type="body" idx="1"/>
          </p:nvPr>
        </p:nvSpPr>
        <p:spPr>
          <a:xfrm>
            <a:off x="457200" y="1600200"/>
            <a:ext cx="8458200" cy="4525963"/>
          </a:xfrm>
        </p:spPr>
        <p:txBody>
          <a:bodyPr/>
          <a:lstStyle/>
          <a:p>
            <a:pPr eaLnBrk="1" hangingPunct="1"/>
            <a:r>
              <a:rPr lang="zh-CN" altLang="en-US" b="1" smtClean="0">
                <a:ea typeface="楷体_GB2312" pitchFamily="49" charset="-122"/>
              </a:rPr>
              <a:t>关联</a:t>
            </a:r>
            <a:r>
              <a:rPr lang="en-US" altLang="zh-CN" b="1" smtClean="0">
                <a:ea typeface="楷体_GB2312" pitchFamily="49" charset="-122"/>
              </a:rPr>
              <a:t>(association)</a:t>
            </a:r>
          </a:p>
          <a:p>
            <a:pPr lvl="1" eaLnBrk="1" hangingPunct="1"/>
            <a:r>
              <a:rPr lang="zh-CN" altLang="en-US" b="1" smtClean="0">
                <a:ea typeface="楷体_GB2312" pitchFamily="49" charset="-122"/>
              </a:rPr>
              <a:t>用两个类之间的实线表示</a:t>
            </a:r>
          </a:p>
          <a:p>
            <a:pPr lvl="1" eaLnBrk="1" hangingPunct="1"/>
            <a:r>
              <a:rPr lang="zh-CN" altLang="en-US" b="1" smtClean="0">
                <a:ea typeface="楷体_GB2312" pitchFamily="49" charset="-122"/>
              </a:rPr>
              <a:t>每个类的对象在结构上依赖于其他对象</a:t>
            </a:r>
          </a:p>
          <a:p>
            <a:pPr lvl="1" eaLnBrk="1" hangingPunct="1"/>
            <a:r>
              <a:rPr lang="zh-CN" altLang="en-US" b="1" smtClean="0">
                <a:ea typeface="楷体_GB2312" pitchFamily="49" charset="-122"/>
              </a:rPr>
              <a:t>可以给某种关系加上一方或两方注释</a:t>
            </a:r>
          </a:p>
          <a:p>
            <a:pPr lvl="1" eaLnBrk="1" hangingPunct="1"/>
            <a:r>
              <a:rPr lang="zh-CN" altLang="en-US" b="1" smtClean="0">
                <a:ea typeface="楷体_GB2312" pitchFamily="49" charset="-122"/>
              </a:rPr>
              <a:t>一方的关联就是聚合</a:t>
            </a:r>
          </a:p>
          <a:p>
            <a:pPr lvl="1" eaLnBrk="1" hangingPunct="1"/>
            <a:r>
              <a:rPr lang="zh-CN" altLang="en-US" b="1" smtClean="0">
                <a:ea typeface="楷体_GB2312" pitchFamily="49" charset="-122"/>
              </a:rPr>
              <a:t>两方的关联存在一定的问题，因为必须保证两端的隐含信息都一致。</a:t>
            </a:r>
          </a:p>
        </p:txBody>
      </p:sp>
    </p:spTree>
    <p:extLst>
      <p:ext uri="{BB962C8B-B14F-4D97-AF65-F5344CB8AC3E}">
        <p14:creationId xmlns:p14="http://schemas.microsoft.com/office/powerpoint/2010/main" val="32742164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0"/>
            <a:ext cx="6096000" cy="1143000"/>
          </a:xfrm>
          <a:noFill/>
        </p:spPr>
        <p:txBody>
          <a:bodyPr/>
          <a:lstStyle/>
          <a:p>
            <a:pPr eaLnBrk="1" hangingPunct="1"/>
            <a:r>
              <a:rPr lang="zh-CN" altLang="en-US" sz="4000" b="1" smtClean="0">
                <a:solidFill>
                  <a:schemeClr val="accent2"/>
                </a:solidFill>
                <a:latin typeface="楷体_GB2312" pitchFamily="49" charset="-122"/>
                <a:ea typeface="楷体_GB2312" pitchFamily="49" charset="-122"/>
              </a:rPr>
              <a:t>关联的</a:t>
            </a:r>
            <a:r>
              <a:rPr lang="en-US" altLang="zh-CN" sz="4000" b="1" smtClean="0">
                <a:solidFill>
                  <a:schemeClr val="accent2"/>
                </a:solidFill>
                <a:latin typeface="楷体_GB2312" pitchFamily="49" charset="-122"/>
                <a:ea typeface="楷体_GB2312" pitchFamily="49" charset="-122"/>
              </a:rPr>
              <a:t>UML</a:t>
            </a:r>
            <a:r>
              <a:rPr lang="zh-CN" altLang="en-US" sz="4000" b="1" smtClean="0">
                <a:solidFill>
                  <a:schemeClr val="accent2"/>
                </a:solidFill>
                <a:latin typeface="楷体_GB2312" pitchFamily="49" charset="-122"/>
                <a:ea typeface="楷体_GB2312" pitchFamily="49" charset="-122"/>
              </a:rPr>
              <a:t>符号和典型实现</a:t>
            </a:r>
          </a:p>
        </p:txBody>
      </p:sp>
      <p:sp>
        <p:nvSpPr>
          <p:cNvPr id="13315" name="AutoShape 21"/>
          <p:cNvSpPr>
            <a:spLocks noChangeArrowheads="1"/>
          </p:cNvSpPr>
          <p:nvPr/>
        </p:nvSpPr>
        <p:spPr bwMode="auto">
          <a:xfrm>
            <a:off x="2362200" y="1116013"/>
            <a:ext cx="4191000" cy="5665787"/>
          </a:xfrm>
          <a:prstGeom prst="flowChartPunchedTape">
            <a:avLst/>
          </a:prstGeom>
          <a:solidFill>
            <a:srgbClr val="FFFFE1"/>
          </a:solidFill>
          <a:ln w="19050">
            <a:solidFill>
              <a:schemeClr val="tx1"/>
            </a:solidFill>
            <a:miter lim="800000"/>
            <a:headEnd/>
            <a:tailEnd/>
          </a:ln>
        </p:spPr>
        <p:txBody>
          <a:bodyPr tIns="137160" rIns="0" bIns="0">
            <a:spAutoFit/>
          </a:bodyPr>
          <a:lstStyle/>
          <a:p>
            <a:pPr algn="l" eaLnBrk="0" hangingPunct="0">
              <a:lnSpc>
                <a:spcPct val="90000"/>
              </a:lnSpc>
              <a:spcBef>
                <a:spcPct val="0"/>
              </a:spcBef>
            </a:pPr>
            <a:endParaRPr kumimoji="0" lang="en-US" altLang="zh-CN" sz="2000">
              <a:solidFill>
                <a:schemeClr val="accent2"/>
              </a:solidFill>
              <a:latin typeface="Arial Narrow" pitchFamily="34" charset="0"/>
              <a:ea typeface="宋体" charset="-122"/>
            </a:endParaRPr>
          </a:p>
          <a:p>
            <a:pPr algn="l" eaLnBrk="0" hangingPunct="0">
              <a:lnSpc>
                <a:spcPct val="90000"/>
              </a:lnSpc>
              <a:spcBef>
                <a:spcPct val="0"/>
              </a:spcBef>
            </a:pPr>
            <a:r>
              <a:rPr kumimoji="0" lang="en-US" altLang="zh-CN" sz="2000">
                <a:solidFill>
                  <a:schemeClr val="accent2"/>
                </a:solidFill>
                <a:latin typeface="Arial Narrow" pitchFamily="34" charset="0"/>
                <a:ea typeface="宋体" charset="-122"/>
              </a:rPr>
              <a:t>class </a:t>
            </a:r>
            <a:r>
              <a:rPr kumimoji="0" lang="en-US" altLang="zh-CN" sz="2000">
                <a:latin typeface="Arial Narrow" pitchFamily="34" charset="0"/>
                <a:ea typeface="宋体" charset="-122"/>
              </a:rPr>
              <a:t>Employer</a:t>
            </a:r>
          </a:p>
          <a:p>
            <a:pPr algn="l" eaLnBrk="0" hangingPunct="0">
              <a:lnSpc>
                <a:spcPct val="90000"/>
              </a:lnSpc>
              <a:spcBef>
                <a:spcPct val="0"/>
              </a:spcBef>
            </a:pPr>
            <a:r>
              <a:rPr kumimoji="0" lang="en-US" altLang="zh-CN" sz="2000">
                <a:latin typeface="Arial Narrow" pitchFamily="34" charset="0"/>
                <a:ea typeface="宋体" charset="-122"/>
              </a:rPr>
              <a:t>{</a:t>
            </a:r>
          </a:p>
          <a:p>
            <a:pPr algn="l" eaLnBrk="0" hangingPunct="0">
              <a:lnSpc>
                <a:spcPct val="90000"/>
              </a:lnSpc>
              <a:spcBef>
                <a:spcPct val="0"/>
              </a:spcBef>
            </a:pPr>
            <a:r>
              <a:rPr kumimoji="0" lang="en-US" altLang="zh-CN" sz="2000">
                <a:latin typeface="Arial Narrow" pitchFamily="34" charset="0"/>
                <a:ea typeface="宋体" charset="-122"/>
              </a:rPr>
              <a:t>    Employee[ ] employees;</a:t>
            </a:r>
          </a:p>
          <a:p>
            <a:pPr algn="l" eaLnBrk="0" hangingPunct="0">
              <a:lnSpc>
                <a:spcPct val="90000"/>
              </a:lnSpc>
              <a:spcBef>
                <a:spcPct val="0"/>
              </a:spcBef>
            </a:pPr>
            <a:r>
              <a:rPr kumimoji="0" lang="en-US" altLang="zh-CN" sz="2000">
                <a:latin typeface="Arial Narrow" pitchFamily="34" charset="0"/>
                <a:ea typeface="宋体" charset="-122"/>
              </a:rPr>
              <a:t>    . . . . .</a:t>
            </a:r>
          </a:p>
          <a:p>
            <a:pPr algn="l" eaLnBrk="0" hangingPunct="0">
              <a:lnSpc>
                <a:spcPct val="90000"/>
              </a:lnSpc>
              <a:spcBef>
                <a:spcPct val="0"/>
              </a:spcBef>
            </a:pPr>
            <a:r>
              <a:rPr kumimoji="0" lang="en-US" altLang="zh-CN" sz="2000">
                <a:latin typeface="Arial Narrow" pitchFamily="34" charset="0"/>
                <a:ea typeface="宋体" charset="-122"/>
              </a:rPr>
              <a:t>} </a:t>
            </a:r>
          </a:p>
          <a:p>
            <a:pPr algn="l" eaLnBrk="0" hangingPunct="0">
              <a:lnSpc>
                <a:spcPct val="90000"/>
              </a:lnSpc>
              <a:spcBef>
                <a:spcPct val="0"/>
              </a:spcBef>
            </a:pPr>
            <a:endParaRPr kumimoji="0" lang="en-US" altLang="zh-CN" sz="2000">
              <a:latin typeface="Arial Narrow" pitchFamily="34" charset="0"/>
              <a:ea typeface="宋体" charset="-122"/>
            </a:endParaRPr>
          </a:p>
          <a:p>
            <a:pPr algn="l" eaLnBrk="0" hangingPunct="0">
              <a:lnSpc>
                <a:spcPct val="90000"/>
              </a:lnSpc>
              <a:spcBef>
                <a:spcPct val="0"/>
              </a:spcBef>
            </a:pPr>
            <a:r>
              <a:rPr kumimoji="0" lang="en-US" altLang="zh-CN" sz="2000">
                <a:solidFill>
                  <a:schemeClr val="accent2"/>
                </a:solidFill>
                <a:latin typeface="Arial Narrow" pitchFamily="34" charset="0"/>
                <a:ea typeface="宋体" charset="-122"/>
              </a:rPr>
              <a:t>class </a:t>
            </a:r>
            <a:r>
              <a:rPr kumimoji="0" lang="en-US" altLang="zh-CN" sz="2000">
                <a:latin typeface="Arial Narrow" pitchFamily="34" charset="0"/>
                <a:ea typeface="宋体" charset="-122"/>
              </a:rPr>
              <a:t>Employee</a:t>
            </a:r>
          </a:p>
          <a:p>
            <a:pPr algn="l" eaLnBrk="0" hangingPunct="0">
              <a:lnSpc>
                <a:spcPct val="90000"/>
              </a:lnSpc>
              <a:spcBef>
                <a:spcPct val="0"/>
              </a:spcBef>
            </a:pPr>
            <a:r>
              <a:rPr kumimoji="0" lang="en-US" altLang="zh-CN" sz="2000">
                <a:latin typeface="Arial Narrow" pitchFamily="34" charset="0"/>
                <a:ea typeface="宋体" charset="-122"/>
              </a:rPr>
              <a:t>{</a:t>
            </a:r>
          </a:p>
          <a:p>
            <a:pPr algn="l" eaLnBrk="0" hangingPunct="0">
              <a:lnSpc>
                <a:spcPct val="90000"/>
              </a:lnSpc>
              <a:spcBef>
                <a:spcPct val="0"/>
              </a:spcBef>
            </a:pPr>
            <a:r>
              <a:rPr kumimoji="0" lang="en-US" altLang="zh-CN" sz="2000">
                <a:latin typeface="Arial Narrow" pitchFamily="34" charset="0"/>
                <a:ea typeface="宋体" charset="-122"/>
              </a:rPr>
              <a:t>    Employer[ ] employers;</a:t>
            </a:r>
          </a:p>
          <a:p>
            <a:pPr algn="l" eaLnBrk="0" hangingPunct="0">
              <a:lnSpc>
                <a:spcPct val="90000"/>
              </a:lnSpc>
              <a:spcBef>
                <a:spcPct val="0"/>
              </a:spcBef>
            </a:pPr>
            <a:r>
              <a:rPr kumimoji="0" lang="en-US" altLang="zh-CN" sz="2000">
                <a:latin typeface="Arial Narrow" pitchFamily="34" charset="0"/>
                <a:ea typeface="宋体" charset="-122"/>
              </a:rPr>
              <a:t>    . . . . .</a:t>
            </a:r>
          </a:p>
          <a:p>
            <a:pPr algn="l" eaLnBrk="0" hangingPunct="0">
              <a:lnSpc>
                <a:spcPct val="90000"/>
              </a:lnSpc>
              <a:spcBef>
                <a:spcPct val="0"/>
              </a:spcBef>
            </a:pPr>
            <a:r>
              <a:rPr kumimoji="0" lang="en-US" altLang="zh-CN" sz="2000">
                <a:latin typeface="Arial Narrow" pitchFamily="34" charset="0"/>
                <a:ea typeface="宋体" charset="-122"/>
              </a:rPr>
              <a:t>} </a:t>
            </a:r>
          </a:p>
        </p:txBody>
      </p:sp>
      <p:sp>
        <p:nvSpPr>
          <p:cNvPr id="13316" name="Rectangle 22" descr="Large checker board"/>
          <p:cNvSpPr>
            <a:spLocks noChangeArrowheads="1"/>
          </p:cNvSpPr>
          <p:nvPr/>
        </p:nvSpPr>
        <p:spPr bwMode="auto">
          <a:xfrm>
            <a:off x="390525" y="1166813"/>
            <a:ext cx="1343025" cy="4762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algn="l" eaLnBrk="0" hangingPunct="0">
              <a:spcBef>
                <a:spcPct val="0"/>
              </a:spcBef>
            </a:pPr>
            <a:r>
              <a:rPr kumimoji="0" lang="en-US" altLang="zh-CN" sz="2400">
                <a:solidFill>
                  <a:schemeClr val="accent2"/>
                </a:solidFill>
                <a:latin typeface="Arial Narrow" pitchFamily="34" charset="0"/>
                <a:ea typeface="宋体" charset="-122"/>
              </a:rPr>
              <a:t>Employer</a:t>
            </a:r>
          </a:p>
        </p:txBody>
      </p:sp>
      <p:sp>
        <p:nvSpPr>
          <p:cNvPr id="13317" name="Rectangle 23" descr="Large checker board"/>
          <p:cNvSpPr>
            <a:spLocks noChangeArrowheads="1"/>
          </p:cNvSpPr>
          <p:nvPr/>
        </p:nvSpPr>
        <p:spPr bwMode="auto">
          <a:xfrm>
            <a:off x="7300913" y="1166813"/>
            <a:ext cx="1385887" cy="4762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algn="r" eaLnBrk="0" hangingPunct="0">
              <a:spcBef>
                <a:spcPct val="0"/>
              </a:spcBef>
            </a:pPr>
            <a:r>
              <a:rPr kumimoji="0" lang="en-US" altLang="zh-CN" sz="2400">
                <a:solidFill>
                  <a:schemeClr val="accent2"/>
                </a:solidFill>
                <a:latin typeface="Arial Narrow" pitchFamily="34" charset="0"/>
                <a:ea typeface="宋体" charset="-122"/>
              </a:rPr>
              <a:t>Employee</a:t>
            </a:r>
          </a:p>
        </p:txBody>
      </p:sp>
      <p:sp>
        <p:nvSpPr>
          <p:cNvPr id="13318" name="Rectangle 24"/>
          <p:cNvSpPr>
            <a:spLocks noChangeArrowheads="1"/>
          </p:cNvSpPr>
          <p:nvPr/>
        </p:nvSpPr>
        <p:spPr bwMode="auto">
          <a:xfrm>
            <a:off x="6583363" y="960438"/>
            <a:ext cx="541337"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a:latin typeface="Arial Narrow" pitchFamily="34" charset="0"/>
                <a:ea typeface="宋体" charset="-122"/>
              </a:rPr>
              <a:t>1..n</a:t>
            </a:r>
          </a:p>
        </p:txBody>
      </p:sp>
      <p:sp>
        <p:nvSpPr>
          <p:cNvPr id="13319" name="Rectangle 25"/>
          <p:cNvSpPr>
            <a:spLocks noChangeArrowheads="1"/>
          </p:cNvSpPr>
          <p:nvPr/>
        </p:nvSpPr>
        <p:spPr bwMode="auto">
          <a:xfrm>
            <a:off x="1981200" y="976313"/>
            <a:ext cx="530225"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a:latin typeface="Arial Narrow" pitchFamily="34" charset="0"/>
                <a:ea typeface="宋体" charset="-122"/>
              </a:rPr>
              <a:t>1..3</a:t>
            </a:r>
          </a:p>
        </p:txBody>
      </p:sp>
      <p:sp>
        <p:nvSpPr>
          <p:cNvPr id="13320" name="AutoShape 26"/>
          <p:cNvSpPr>
            <a:spLocks noChangeArrowheads="1"/>
          </p:cNvSpPr>
          <p:nvPr/>
        </p:nvSpPr>
        <p:spPr bwMode="auto">
          <a:xfrm rot="5400000">
            <a:off x="4943475" y="1085850"/>
            <a:ext cx="152400" cy="152400"/>
          </a:xfrm>
          <a:prstGeom prst="triangle">
            <a:avLst>
              <a:gd name="adj" fmla="val 50000"/>
            </a:avLst>
          </a:prstGeom>
          <a:solidFill>
            <a:schemeClr val="tx1"/>
          </a:solidFill>
          <a:ln w="9525">
            <a:solidFill>
              <a:schemeClr val="tx1"/>
            </a:solidFill>
            <a:miter lim="800000"/>
            <a:headEnd/>
            <a:tailEnd/>
          </a:ln>
        </p:spPr>
        <p:txBody>
          <a:bodyPr wrap="none" anchor="ctr"/>
          <a:lstStyle/>
          <a:p>
            <a:endParaRPr lang="zh-CN" altLang="en-US"/>
          </a:p>
        </p:txBody>
      </p:sp>
      <p:sp>
        <p:nvSpPr>
          <p:cNvPr id="13321" name="AutoShape 27"/>
          <p:cNvSpPr>
            <a:spLocks noChangeArrowheads="1"/>
          </p:cNvSpPr>
          <p:nvPr/>
        </p:nvSpPr>
        <p:spPr bwMode="auto">
          <a:xfrm rot="16200000" flipH="1">
            <a:off x="3495675" y="1543050"/>
            <a:ext cx="152400" cy="152400"/>
          </a:xfrm>
          <a:prstGeom prst="triangle">
            <a:avLst>
              <a:gd name="adj" fmla="val 50000"/>
            </a:avLst>
          </a:prstGeom>
          <a:solidFill>
            <a:schemeClr val="tx1"/>
          </a:solidFill>
          <a:ln w="9525">
            <a:solidFill>
              <a:schemeClr val="tx1"/>
            </a:solidFill>
            <a:miter lim="800000"/>
            <a:headEnd/>
            <a:tailEnd/>
          </a:ln>
        </p:spPr>
        <p:txBody>
          <a:bodyPr wrap="none" anchor="ctr"/>
          <a:lstStyle/>
          <a:p>
            <a:endParaRPr lang="zh-CN" altLang="en-US"/>
          </a:p>
        </p:txBody>
      </p:sp>
      <p:sp>
        <p:nvSpPr>
          <p:cNvPr id="13322" name="Rectangle 28"/>
          <p:cNvSpPr>
            <a:spLocks noChangeArrowheads="1"/>
          </p:cNvSpPr>
          <p:nvPr/>
        </p:nvSpPr>
        <p:spPr bwMode="auto">
          <a:xfrm>
            <a:off x="4171950" y="946150"/>
            <a:ext cx="695325"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spcBef>
                <a:spcPct val="0"/>
              </a:spcBef>
            </a:pPr>
            <a:r>
              <a:rPr kumimoji="0" lang="zh-CN" altLang="en-US" sz="2000">
                <a:latin typeface="Arial Narrow" pitchFamily="34" charset="0"/>
              </a:rPr>
              <a:t>雇佣</a:t>
            </a:r>
          </a:p>
        </p:txBody>
      </p:sp>
      <p:sp>
        <p:nvSpPr>
          <p:cNvPr id="13323" name="Rectangle 29"/>
          <p:cNvSpPr>
            <a:spLocks noChangeArrowheads="1"/>
          </p:cNvSpPr>
          <p:nvPr/>
        </p:nvSpPr>
        <p:spPr bwMode="auto">
          <a:xfrm>
            <a:off x="3724275" y="1403350"/>
            <a:ext cx="950913"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2000">
                <a:latin typeface="Arial Narrow" pitchFamily="34" charset="0"/>
              </a:rPr>
              <a:t>被雇佣</a:t>
            </a:r>
            <a:endParaRPr kumimoji="0" lang="zh-CN" altLang="en-US" sz="2000">
              <a:latin typeface="Arial Narrow" pitchFamily="34" charset="0"/>
              <a:ea typeface="宋体" charset="-122"/>
            </a:endParaRPr>
          </a:p>
        </p:txBody>
      </p:sp>
      <p:cxnSp>
        <p:nvCxnSpPr>
          <p:cNvPr id="13324" name="AutoShape 30"/>
          <p:cNvCxnSpPr>
            <a:cxnSpLocks noChangeShapeType="1"/>
            <a:stCxn id="13316" idx="3"/>
            <a:endCxn id="13317" idx="1"/>
          </p:cNvCxnSpPr>
          <p:nvPr/>
        </p:nvCxnSpPr>
        <p:spPr bwMode="auto">
          <a:xfrm>
            <a:off x="1743075" y="1404938"/>
            <a:ext cx="5548313" cy="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9217307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示例</a:t>
            </a:r>
          </a:p>
        </p:txBody>
      </p:sp>
      <p:grpSp>
        <p:nvGrpSpPr>
          <p:cNvPr id="2" name="组合 1"/>
          <p:cNvGrpSpPr/>
          <p:nvPr/>
        </p:nvGrpSpPr>
        <p:grpSpPr>
          <a:xfrm>
            <a:off x="508000" y="1447800"/>
            <a:ext cx="8026400" cy="4953000"/>
            <a:chOff x="508000" y="1447800"/>
            <a:chExt cx="8026400" cy="4953000"/>
          </a:xfrm>
        </p:grpSpPr>
        <p:sp>
          <p:nvSpPr>
            <p:cNvPr id="14339" name="Rectangle 5"/>
            <p:cNvSpPr>
              <a:spLocks noChangeArrowheads="1"/>
            </p:cNvSpPr>
            <p:nvPr/>
          </p:nvSpPr>
          <p:spPr bwMode="auto">
            <a:xfrm>
              <a:off x="508000" y="1447800"/>
              <a:ext cx="3471863" cy="157162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u="sng">
                  <a:latin typeface="Arial Narrow" pitchFamily="34" charset="0"/>
                  <a:ea typeface="宋体" charset="-122"/>
                </a:rPr>
                <a:t>CustomerMailApplication</a:t>
              </a:r>
            </a:p>
            <a:p>
              <a:pPr eaLnBrk="0" hangingPunct="0">
                <a:spcBef>
                  <a:spcPct val="0"/>
                </a:spcBef>
              </a:pPr>
              <a:r>
                <a:rPr kumimoji="0" lang="en-US" altLang="zh-CN" sz="2400" b="0">
                  <a:latin typeface="Arial Narrow" pitchFamily="34" charset="0"/>
                  <a:ea typeface="宋体" charset="-122"/>
                </a:rPr>
                <a:t>generateMail()</a:t>
              </a:r>
            </a:p>
            <a:p>
              <a:pPr eaLnBrk="0" hangingPunct="0">
                <a:spcBef>
                  <a:spcPct val="0"/>
                </a:spcBef>
              </a:pPr>
              <a:r>
                <a:rPr kumimoji="0" lang="en-US" altLang="zh-CN" sz="2400" b="0">
                  <a:latin typeface="Arial Narrow" pitchFamily="34" charset="0"/>
                  <a:ea typeface="宋体" charset="-122"/>
                </a:rPr>
                <a:t>getCustomerTypeFromUser()</a:t>
              </a:r>
            </a:p>
            <a:p>
              <a:pPr eaLnBrk="0" hangingPunct="0">
                <a:spcBef>
                  <a:spcPct val="0"/>
                </a:spcBef>
              </a:pPr>
              <a:r>
                <a:rPr kumimoji="0" lang="en-US" altLang="zh-CN" sz="2400" b="0">
                  <a:latin typeface="Arial Narrow" pitchFamily="34" charset="0"/>
                  <a:ea typeface="宋体" charset="-122"/>
                </a:rPr>
                <a:t>main()</a:t>
              </a:r>
              <a:endParaRPr kumimoji="0" lang="en-US" altLang="zh-CN" sz="2400" b="0" u="sng">
                <a:latin typeface="Arial Narrow" pitchFamily="34" charset="0"/>
                <a:ea typeface="宋体" charset="-122"/>
              </a:endParaRPr>
            </a:p>
          </p:txBody>
        </p:sp>
        <p:sp>
          <p:nvSpPr>
            <p:cNvPr id="14340" name="Rectangle 6"/>
            <p:cNvSpPr>
              <a:spLocks noChangeArrowheads="1"/>
            </p:cNvSpPr>
            <p:nvPr/>
          </p:nvSpPr>
          <p:spPr bwMode="auto">
            <a:xfrm>
              <a:off x="6600825" y="1812925"/>
              <a:ext cx="1524000" cy="84137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i="1" u="sng">
                  <a:latin typeface="Arial Narrow" pitchFamily="34" charset="0"/>
                  <a:ea typeface="宋体" charset="-122"/>
                </a:rPr>
                <a:t>Customer</a:t>
              </a:r>
            </a:p>
            <a:p>
              <a:pPr eaLnBrk="0" hangingPunct="0">
                <a:spcBef>
                  <a:spcPct val="0"/>
                </a:spcBef>
              </a:pPr>
              <a:r>
                <a:rPr kumimoji="0" lang="en-US" altLang="zh-CN" sz="2400" b="0">
                  <a:latin typeface="Arial Narrow" pitchFamily="34" charset="0"/>
                  <a:ea typeface="宋体" charset="-122"/>
                </a:rPr>
                <a:t>createMail()</a:t>
              </a:r>
            </a:p>
          </p:txBody>
        </p:sp>
        <p:sp>
          <p:nvSpPr>
            <p:cNvPr id="14341" name="Rectangle 7"/>
            <p:cNvSpPr>
              <a:spLocks noChangeArrowheads="1"/>
            </p:cNvSpPr>
            <p:nvPr/>
          </p:nvSpPr>
          <p:spPr bwMode="auto">
            <a:xfrm>
              <a:off x="508000" y="4724400"/>
              <a:ext cx="2489200" cy="84137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u="sng">
                  <a:latin typeface="Arial Narrow" pitchFamily="34" charset="0"/>
                  <a:ea typeface="宋体" charset="-122"/>
                </a:rPr>
                <a:t>DelinquentCustomer</a:t>
              </a:r>
            </a:p>
            <a:p>
              <a:pPr eaLnBrk="0" hangingPunct="0">
                <a:spcBef>
                  <a:spcPct val="0"/>
                </a:spcBef>
              </a:pPr>
              <a:r>
                <a:rPr kumimoji="0" lang="en-US" altLang="zh-CN" sz="2400" b="0">
                  <a:latin typeface="Arial Narrow" pitchFamily="34" charset="0"/>
                  <a:ea typeface="宋体" charset="-122"/>
                </a:rPr>
                <a:t>createMail()</a:t>
              </a:r>
            </a:p>
          </p:txBody>
        </p:sp>
        <p:sp>
          <p:nvSpPr>
            <p:cNvPr id="14342" name="Rectangle 8"/>
            <p:cNvSpPr>
              <a:spLocks noChangeArrowheads="1"/>
            </p:cNvSpPr>
            <p:nvPr/>
          </p:nvSpPr>
          <p:spPr bwMode="auto">
            <a:xfrm>
              <a:off x="3463925" y="4724400"/>
              <a:ext cx="2320925" cy="84137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u="sng">
                  <a:latin typeface="Arial Narrow" pitchFamily="34" charset="0"/>
                  <a:ea typeface="宋体" charset="-122"/>
                </a:rPr>
                <a:t>MountainCustomer</a:t>
              </a:r>
            </a:p>
            <a:p>
              <a:pPr eaLnBrk="0" hangingPunct="0">
                <a:spcBef>
                  <a:spcPct val="0"/>
                </a:spcBef>
              </a:pPr>
              <a:r>
                <a:rPr kumimoji="0" lang="en-US" altLang="zh-CN" sz="2400" b="0">
                  <a:latin typeface="Arial Narrow" pitchFamily="34" charset="0"/>
                  <a:ea typeface="宋体" charset="-122"/>
                </a:rPr>
                <a:t>createMail()</a:t>
              </a:r>
            </a:p>
          </p:txBody>
        </p:sp>
        <p:sp>
          <p:nvSpPr>
            <p:cNvPr id="14343" name="Rectangle 9"/>
            <p:cNvSpPr>
              <a:spLocks noChangeArrowheads="1"/>
            </p:cNvSpPr>
            <p:nvPr/>
          </p:nvSpPr>
          <p:spPr bwMode="auto">
            <a:xfrm>
              <a:off x="6367463" y="4724400"/>
              <a:ext cx="2166937" cy="84137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u="sng">
                  <a:latin typeface="Arial Narrow" pitchFamily="34" charset="0"/>
                  <a:ea typeface="宋体" charset="-122"/>
                </a:rPr>
                <a:t>RegularCustomer</a:t>
              </a:r>
            </a:p>
            <a:p>
              <a:pPr eaLnBrk="0" hangingPunct="0">
                <a:spcBef>
                  <a:spcPct val="0"/>
                </a:spcBef>
              </a:pPr>
              <a:r>
                <a:rPr kumimoji="0" lang="en-US" altLang="zh-CN" sz="2400" b="0">
                  <a:latin typeface="Arial Narrow" pitchFamily="34" charset="0"/>
                  <a:ea typeface="宋体" charset="-122"/>
                </a:rPr>
                <a:t>createMail()</a:t>
              </a:r>
            </a:p>
          </p:txBody>
        </p:sp>
        <p:sp>
          <p:nvSpPr>
            <p:cNvPr id="14344" name="AutoShape 10"/>
            <p:cNvSpPr>
              <a:spLocks noChangeArrowheads="1"/>
            </p:cNvSpPr>
            <p:nvPr/>
          </p:nvSpPr>
          <p:spPr bwMode="auto">
            <a:xfrm>
              <a:off x="7286625" y="2667000"/>
              <a:ext cx="304800" cy="304800"/>
            </a:xfrm>
            <a:prstGeom prst="triangle">
              <a:avLst>
                <a:gd name="adj" fmla="val 50000"/>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cxnSp>
          <p:nvCxnSpPr>
            <p:cNvPr id="14345" name="AutoShape 11"/>
            <p:cNvCxnSpPr>
              <a:cxnSpLocks noChangeShapeType="1"/>
              <a:stCxn id="14344" idx="3"/>
              <a:endCxn id="14341" idx="0"/>
            </p:cNvCxnSpPr>
            <p:nvPr/>
          </p:nvCxnSpPr>
          <p:spPr bwMode="auto">
            <a:xfrm rot="5400000">
              <a:off x="3729038" y="1004887"/>
              <a:ext cx="1733550" cy="5686425"/>
            </a:xfrm>
            <a:prstGeom prst="bentConnector3">
              <a:avLst>
                <a:gd name="adj1" fmla="val 50000"/>
              </a:avLst>
            </a:prstGeom>
            <a:noFill/>
            <a:ln w="19050">
              <a:solidFill>
                <a:schemeClr val="tx1"/>
              </a:solidFill>
              <a:miter lim="800000"/>
              <a:headEnd/>
              <a:tailEnd/>
            </a:ln>
            <a:extLst>
              <a:ext uri="{909E8E84-426E-40DD-AFC4-6F175D3DCCD1}">
                <a14:hiddenFill xmlns:a14="http://schemas.microsoft.com/office/drawing/2010/main">
                  <a:noFill/>
                </a14:hiddenFill>
              </a:ext>
            </a:extLst>
          </p:spPr>
        </p:cxnSp>
        <p:cxnSp>
          <p:nvCxnSpPr>
            <p:cNvPr id="14346" name="AutoShape 12"/>
            <p:cNvCxnSpPr>
              <a:cxnSpLocks noChangeShapeType="1"/>
              <a:stCxn id="14344" idx="3"/>
              <a:endCxn id="14342" idx="0"/>
            </p:cNvCxnSpPr>
            <p:nvPr/>
          </p:nvCxnSpPr>
          <p:spPr bwMode="auto">
            <a:xfrm rot="5400000">
              <a:off x="5164932" y="2440781"/>
              <a:ext cx="1733550" cy="2814637"/>
            </a:xfrm>
            <a:prstGeom prst="bentConnector3">
              <a:avLst>
                <a:gd name="adj1" fmla="val 50000"/>
              </a:avLst>
            </a:prstGeom>
            <a:noFill/>
            <a:ln w="19050">
              <a:solidFill>
                <a:schemeClr val="tx1"/>
              </a:solidFill>
              <a:miter lim="800000"/>
              <a:headEnd/>
              <a:tailEnd/>
            </a:ln>
            <a:extLst>
              <a:ext uri="{909E8E84-426E-40DD-AFC4-6F175D3DCCD1}">
                <a14:hiddenFill xmlns:a14="http://schemas.microsoft.com/office/drawing/2010/main">
                  <a:noFill/>
                </a14:hiddenFill>
              </a:ext>
            </a:extLst>
          </p:spPr>
        </p:cxnSp>
        <p:cxnSp>
          <p:nvCxnSpPr>
            <p:cNvPr id="14347" name="AutoShape 13"/>
            <p:cNvCxnSpPr>
              <a:cxnSpLocks noChangeShapeType="1"/>
              <a:stCxn id="14344" idx="3"/>
              <a:endCxn id="14343" idx="0"/>
            </p:cNvCxnSpPr>
            <p:nvPr/>
          </p:nvCxnSpPr>
          <p:spPr bwMode="auto">
            <a:xfrm rot="16200000" flipH="1">
              <a:off x="6578600" y="3841750"/>
              <a:ext cx="1733550" cy="12700"/>
            </a:xfrm>
            <a:prstGeom prst="bentConnector3">
              <a:avLst>
                <a:gd name="adj1" fmla="val 50000"/>
              </a:avLst>
            </a:prstGeom>
            <a:noFill/>
            <a:ln w="19050">
              <a:solidFill>
                <a:schemeClr val="tx1"/>
              </a:solidFill>
              <a:miter lim="800000"/>
              <a:headEnd/>
              <a:tailEnd/>
            </a:ln>
            <a:extLst>
              <a:ext uri="{909E8E84-426E-40DD-AFC4-6F175D3DCCD1}">
                <a14:hiddenFill xmlns:a14="http://schemas.microsoft.com/office/drawing/2010/main">
                  <a:noFill/>
                </a14:hiddenFill>
              </a:ext>
            </a:extLst>
          </p:spPr>
        </p:cxnSp>
        <p:sp>
          <p:nvSpPr>
            <p:cNvPr id="14348" name="AutoShape 14"/>
            <p:cNvSpPr>
              <a:spLocks noChangeArrowheads="1"/>
            </p:cNvSpPr>
            <p:nvPr/>
          </p:nvSpPr>
          <p:spPr bwMode="auto">
            <a:xfrm>
              <a:off x="3962400" y="2119313"/>
              <a:ext cx="466725" cy="228600"/>
            </a:xfrm>
            <a:prstGeom prst="flowChartDecision">
              <a:avLst/>
            </a:prstGeom>
            <a:solidFill>
              <a:schemeClr val="bg1"/>
            </a:solidFill>
            <a:ln w="19050">
              <a:solidFill>
                <a:schemeClr val="tx1"/>
              </a:solidFill>
              <a:miter lim="800000"/>
              <a:headEnd/>
              <a:tailEnd/>
            </a:ln>
          </p:spPr>
          <p:txBody>
            <a:bodyPr wrap="none" anchor="ctr"/>
            <a:lstStyle/>
            <a:p>
              <a:endParaRPr lang="zh-CN" altLang="en-US"/>
            </a:p>
          </p:txBody>
        </p:sp>
        <p:cxnSp>
          <p:nvCxnSpPr>
            <p:cNvPr id="14349" name="AutoShape 15"/>
            <p:cNvCxnSpPr>
              <a:cxnSpLocks noChangeShapeType="1"/>
              <a:stCxn id="14348" idx="3"/>
              <a:endCxn id="14340" idx="1"/>
            </p:cNvCxnSpPr>
            <p:nvPr/>
          </p:nvCxnSpPr>
          <p:spPr bwMode="auto">
            <a:xfrm>
              <a:off x="4438650" y="2233613"/>
              <a:ext cx="2152650" cy="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4350" name="AutoShape 16"/>
            <p:cNvCxnSpPr>
              <a:cxnSpLocks noChangeShapeType="1"/>
              <a:stCxn id="14339" idx="2"/>
              <a:endCxn id="14341" idx="0"/>
            </p:cNvCxnSpPr>
            <p:nvPr/>
          </p:nvCxnSpPr>
          <p:spPr bwMode="auto">
            <a:xfrm flipH="1">
              <a:off x="1752600" y="3028950"/>
              <a:ext cx="492125" cy="1685925"/>
            </a:xfrm>
            <a:prstGeom prst="straightConnector1">
              <a:avLst/>
            </a:prstGeom>
            <a:noFill/>
            <a:ln w="19050">
              <a:solidFill>
                <a:schemeClr val="tx1"/>
              </a:solidFill>
              <a:prstDash val="lgDash"/>
              <a:round/>
              <a:headEnd/>
              <a:tailEnd type="arrow" w="med" len="med"/>
            </a:ln>
            <a:extLst>
              <a:ext uri="{909E8E84-426E-40DD-AFC4-6F175D3DCCD1}">
                <a14:hiddenFill xmlns:a14="http://schemas.microsoft.com/office/drawing/2010/main">
                  <a:noFill/>
                </a14:hiddenFill>
              </a:ext>
            </a:extLst>
          </p:spPr>
        </p:cxnSp>
        <p:cxnSp>
          <p:nvCxnSpPr>
            <p:cNvPr id="14351" name="AutoShape 17"/>
            <p:cNvCxnSpPr>
              <a:cxnSpLocks noChangeShapeType="1"/>
              <a:stCxn id="14339" idx="2"/>
              <a:endCxn id="14342" idx="0"/>
            </p:cNvCxnSpPr>
            <p:nvPr/>
          </p:nvCxnSpPr>
          <p:spPr bwMode="auto">
            <a:xfrm>
              <a:off x="2244725" y="3028950"/>
              <a:ext cx="2379663" cy="1685925"/>
            </a:xfrm>
            <a:prstGeom prst="straightConnector1">
              <a:avLst/>
            </a:prstGeom>
            <a:noFill/>
            <a:ln w="19050">
              <a:solidFill>
                <a:schemeClr val="tx1"/>
              </a:solidFill>
              <a:prstDash val="lgDash"/>
              <a:round/>
              <a:headEnd/>
              <a:tailEnd type="arrow" w="med" len="med"/>
            </a:ln>
            <a:extLst>
              <a:ext uri="{909E8E84-426E-40DD-AFC4-6F175D3DCCD1}">
                <a14:hiddenFill xmlns:a14="http://schemas.microsoft.com/office/drawing/2010/main">
                  <a:noFill/>
                </a14:hiddenFill>
              </a:ext>
            </a:extLst>
          </p:spPr>
        </p:cxnSp>
        <p:cxnSp>
          <p:nvCxnSpPr>
            <p:cNvPr id="14352" name="AutoShape 18"/>
            <p:cNvCxnSpPr>
              <a:cxnSpLocks noChangeShapeType="1"/>
              <a:stCxn id="14339" idx="2"/>
              <a:endCxn id="14343" idx="0"/>
            </p:cNvCxnSpPr>
            <p:nvPr/>
          </p:nvCxnSpPr>
          <p:spPr bwMode="auto">
            <a:xfrm>
              <a:off x="2244725" y="3028950"/>
              <a:ext cx="5207000" cy="1685925"/>
            </a:xfrm>
            <a:prstGeom prst="straightConnector1">
              <a:avLst/>
            </a:prstGeom>
            <a:noFill/>
            <a:ln w="19050">
              <a:solidFill>
                <a:schemeClr val="tx1"/>
              </a:solidFill>
              <a:prstDash val="lgDash"/>
              <a:round/>
              <a:headEnd/>
              <a:tailEnd type="arrow" w="med" len="med"/>
            </a:ln>
            <a:extLst>
              <a:ext uri="{909E8E84-426E-40DD-AFC4-6F175D3DCCD1}">
                <a14:hiddenFill xmlns:a14="http://schemas.microsoft.com/office/drawing/2010/main">
                  <a:noFill/>
                </a14:hiddenFill>
              </a:ext>
            </a:extLst>
          </p:spPr>
        </p:cxnSp>
        <p:sp>
          <p:nvSpPr>
            <p:cNvPr id="14353" name="Rectangle 19"/>
            <p:cNvSpPr>
              <a:spLocks noChangeArrowheads="1"/>
            </p:cNvSpPr>
            <p:nvPr/>
          </p:nvSpPr>
          <p:spPr bwMode="auto">
            <a:xfrm>
              <a:off x="4521200" y="1828800"/>
              <a:ext cx="104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b="0">
                  <a:latin typeface="Arial Narrow" pitchFamily="34" charset="0"/>
                  <a:ea typeface="宋体" charset="-122"/>
                </a:rPr>
                <a:t>customer</a:t>
              </a:r>
            </a:p>
          </p:txBody>
        </p:sp>
        <p:sp>
          <p:nvSpPr>
            <p:cNvPr id="14354" name="Rectangle 20"/>
            <p:cNvSpPr>
              <a:spLocks noChangeArrowheads="1"/>
            </p:cNvSpPr>
            <p:nvPr/>
          </p:nvSpPr>
          <p:spPr bwMode="auto">
            <a:xfrm>
              <a:off x="6248400" y="1828800"/>
              <a:ext cx="3000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eaLnBrk="0" hangingPunct="0">
                <a:spcBef>
                  <a:spcPct val="0"/>
                </a:spcBef>
              </a:pPr>
              <a:r>
                <a:rPr kumimoji="0" lang="en-US" altLang="zh-CN" sz="2000" b="0">
                  <a:latin typeface="Arial Narrow" pitchFamily="34" charset="0"/>
                  <a:ea typeface="宋体" charset="-122"/>
                </a:rPr>
                <a:t>1</a:t>
              </a:r>
            </a:p>
          </p:txBody>
        </p:sp>
        <p:sp>
          <p:nvSpPr>
            <p:cNvPr id="14355" name="Text Box 21"/>
            <p:cNvSpPr txBox="1">
              <a:spLocks noChangeArrowheads="1"/>
            </p:cNvSpPr>
            <p:nvPr/>
          </p:nvSpPr>
          <p:spPr bwMode="auto">
            <a:xfrm>
              <a:off x="3276600" y="5943600"/>
              <a:ext cx="274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r>
                <a:rPr kumimoji="0" lang="zh-CN" altLang="en-US" sz="2400">
                  <a:latin typeface="Arial" charset="0"/>
                </a:rPr>
                <a:t>客户邮件应用程序</a:t>
              </a:r>
            </a:p>
          </p:txBody>
        </p:sp>
      </p:grpSp>
    </p:spTree>
    <p:extLst>
      <p:ext uri="{BB962C8B-B14F-4D97-AF65-F5344CB8AC3E}">
        <p14:creationId xmlns:p14="http://schemas.microsoft.com/office/powerpoint/2010/main" val="295428070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用例</a:t>
            </a:r>
            <a:r>
              <a:rPr lang="en-US" altLang="zh-CN" b="1" smtClean="0">
                <a:solidFill>
                  <a:schemeClr val="accent2"/>
                </a:solidFill>
                <a:ea typeface="楷体_GB2312" pitchFamily="49" charset="-122"/>
              </a:rPr>
              <a:t>(</a:t>
            </a:r>
            <a:r>
              <a:rPr lang="en-US" altLang="zh-CN" b="1" i="1" smtClean="0">
                <a:solidFill>
                  <a:schemeClr val="accent2"/>
                </a:solidFill>
                <a:ea typeface="楷体_GB2312" pitchFamily="49" charset="-122"/>
              </a:rPr>
              <a:t>use case</a:t>
            </a:r>
            <a:r>
              <a:rPr lang="en-US" altLang="zh-CN" b="1" smtClean="0">
                <a:solidFill>
                  <a:schemeClr val="accent2"/>
                </a:solidFill>
                <a:ea typeface="楷体_GB2312" pitchFamily="49" charset="-122"/>
              </a:rPr>
              <a:t>)</a:t>
            </a:r>
          </a:p>
        </p:txBody>
      </p:sp>
      <p:sp>
        <p:nvSpPr>
          <p:cNvPr id="15363" name="Rectangle 3"/>
          <p:cNvSpPr>
            <a:spLocks noGrp="1" noChangeArrowheads="1"/>
          </p:cNvSpPr>
          <p:nvPr>
            <p:ph type="body" idx="1"/>
          </p:nvPr>
        </p:nvSpPr>
        <p:spPr>
          <a:xfrm>
            <a:off x="457200" y="1371600"/>
            <a:ext cx="8458200" cy="5257800"/>
          </a:xfrm>
        </p:spPr>
        <p:txBody>
          <a:bodyPr/>
          <a:lstStyle/>
          <a:p>
            <a:pPr eaLnBrk="1" hangingPunct="1">
              <a:lnSpc>
                <a:spcPct val="80000"/>
              </a:lnSpc>
            </a:pPr>
            <a:r>
              <a:rPr lang="zh-CN" altLang="en-US" sz="2800" b="1" smtClean="0">
                <a:ea typeface="楷体_GB2312" pitchFamily="49" charset="-122"/>
              </a:rPr>
              <a:t>用例通过</a:t>
            </a:r>
            <a:r>
              <a:rPr lang="zh-CN" altLang="en-US" sz="2800" b="1" smtClean="0">
                <a:solidFill>
                  <a:srgbClr val="0000CC"/>
                </a:solidFill>
                <a:ea typeface="楷体_GB2312" pitchFamily="49" charset="-122"/>
              </a:rPr>
              <a:t>用例名</a:t>
            </a:r>
            <a:r>
              <a:rPr lang="zh-CN" altLang="en-US" sz="2800" b="1" smtClean="0">
                <a:ea typeface="楷体_GB2312" pitchFamily="49" charset="-122"/>
              </a:rPr>
              <a:t>、</a:t>
            </a:r>
            <a:r>
              <a:rPr lang="zh-CN" altLang="en-US" sz="2800" b="1" smtClean="0">
                <a:solidFill>
                  <a:srgbClr val="0000CC"/>
                </a:solidFill>
                <a:ea typeface="楷体_GB2312" pitchFamily="49" charset="-122"/>
              </a:rPr>
              <a:t>应用程序</a:t>
            </a:r>
            <a:r>
              <a:rPr lang="zh-CN" altLang="en-US" sz="2800" b="1" smtClean="0">
                <a:ea typeface="楷体_GB2312" pitchFamily="49" charset="-122"/>
              </a:rPr>
              <a:t>的用户类型（称为执行者）及</a:t>
            </a:r>
            <a:r>
              <a:rPr lang="zh-CN" altLang="en-US" sz="2800" b="1" smtClean="0">
                <a:solidFill>
                  <a:srgbClr val="0000CC"/>
                </a:solidFill>
                <a:ea typeface="楷体_GB2312" pitchFamily="49" charset="-122"/>
              </a:rPr>
              <a:t>执行者</a:t>
            </a:r>
            <a:r>
              <a:rPr lang="zh-CN" altLang="en-US" sz="2800" b="1" smtClean="0">
                <a:ea typeface="楷体_GB2312" pitchFamily="49" charset="-122"/>
              </a:rPr>
              <a:t>和程序间的典型交互来标识。</a:t>
            </a:r>
          </a:p>
          <a:p>
            <a:pPr eaLnBrk="1" hangingPunct="1">
              <a:lnSpc>
                <a:spcPct val="80000"/>
              </a:lnSpc>
            </a:pPr>
            <a:r>
              <a:rPr lang="zh-CN" altLang="en-US" sz="2800" b="1" smtClean="0">
                <a:ea typeface="楷体_GB2312" pitchFamily="49" charset="-122"/>
              </a:rPr>
              <a:t>用例是一种线性的“故事”，其中详细说明了使用应用程序的一般方法。</a:t>
            </a:r>
          </a:p>
          <a:p>
            <a:pPr eaLnBrk="1" hangingPunct="1">
              <a:lnSpc>
                <a:spcPct val="80000"/>
              </a:lnSpc>
            </a:pPr>
            <a:r>
              <a:rPr lang="zh-CN" altLang="en-US" sz="2800" b="1" smtClean="0">
                <a:ea typeface="楷体_GB2312" pitchFamily="49" charset="-122"/>
              </a:rPr>
              <a:t>“检索文件”对于一个字处理器来说是一个典型的用例，用户做为执行者。</a:t>
            </a:r>
          </a:p>
          <a:p>
            <a:pPr lvl="1" eaLnBrk="1" hangingPunct="1">
              <a:lnSpc>
                <a:spcPct val="80000"/>
              </a:lnSpc>
            </a:pPr>
            <a:r>
              <a:rPr lang="zh-CN" altLang="en-US" sz="2400" b="1" smtClean="0">
                <a:ea typeface="楷体_GB2312" pitchFamily="49" charset="-122"/>
              </a:rPr>
              <a:t>用户单击</a:t>
            </a:r>
            <a:r>
              <a:rPr lang="en-US" altLang="zh-CN" sz="2400" b="1" smtClean="0">
                <a:ea typeface="楷体_GB2312" pitchFamily="49" charset="-122"/>
              </a:rPr>
              <a:t>File</a:t>
            </a:r>
            <a:r>
              <a:rPr lang="zh-CN" altLang="en-US" sz="2400" b="1" smtClean="0">
                <a:ea typeface="楷体_GB2312" pitchFamily="49" charset="-122"/>
              </a:rPr>
              <a:t>（文件）菜单</a:t>
            </a:r>
          </a:p>
          <a:p>
            <a:pPr lvl="1" eaLnBrk="1" hangingPunct="1">
              <a:lnSpc>
                <a:spcPct val="80000"/>
              </a:lnSpc>
            </a:pPr>
            <a:r>
              <a:rPr lang="zh-CN" altLang="en-US" sz="2400" b="1" smtClean="0">
                <a:ea typeface="楷体_GB2312" pitchFamily="49" charset="-122"/>
              </a:rPr>
              <a:t>应用程序显示文件选项</a:t>
            </a:r>
          </a:p>
          <a:p>
            <a:pPr lvl="1" eaLnBrk="1" hangingPunct="1">
              <a:lnSpc>
                <a:spcPct val="80000"/>
              </a:lnSpc>
            </a:pPr>
            <a:r>
              <a:rPr lang="zh-CN" altLang="en-US" sz="2400" b="1" smtClean="0">
                <a:ea typeface="楷体_GB2312" pitchFamily="49" charset="-122"/>
              </a:rPr>
              <a:t>用户单击</a:t>
            </a:r>
            <a:r>
              <a:rPr lang="en-US" altLang="zh-CN" sz="2400" b="1" smtClean="0">
                <a:ea typeface="楷体_GB2312" pitchFamily="49" charset="-122"/>
              </a:rPr>
              <a:t>open</a:t>
            </a:r>
            <a:r>
              <a:rPr lang="zh-CN" altLang="en-US" sz="2400" b="1" smtClean="0">
                <a:ea typeface="楷体_GB2312" pitchFamily="49" charset="-122"/>
              </a:rPr>
              <a:t>（打开）命令</a:t>
            </a:r>
          </a:p>
          <a:p>
            <a:pPr lvl="1" eaLnBrk="1" hangingPunct="1">
              <a:lnSpc>
                <a:spcPct val="80000"/>
              </a:lnSpc>
            </a:pPr>
            <a:r>
              <a:rPr lang="zh-CN" altLang="en-US" sz="2400" b="1" smtClean="0">
                <a:ea typeface="楷体_GB2312" pitchFamily="49" charset="-122"/>
              </a:rPr>
              <a:t>应用程序显示文件窗口</a:t>
            </a:r>
          </a:p>
          <a:p>
            <a:pPr lvl="1" eaLnBrk="1" hangingPunct="1">
              <a:lnSpc>
                <a:spcPct val="80000"/>
              </a:lnSpc>
            </a:pPr>
            <a:r>
              <a:rPr lang="zh-CN" altLang="en-US" sz="2400" b="1" smtClean="0">
                <a:ea typeface="楷体_GB2312" pitchFamily="49" charset="-122"/>
              </a:rPr>
              <a:t>用户输入目录和文件名</a:t>
            </a:r>
          </a:p>
          <a:p>
            <a:pPr lvl="1" eaLnBrk="1" hangingPunct="1">
              <a:lnSpc>
                <a:spcPct val="80000"/>
              </a:lnSpc>
            </a:pPr>
            <a:r>
              <a:rPr lang="zh-CN" altLang="en-US" sz="2400" b="1" smtClean="0">
                <a:ea typeface="楷体_GB2312" pitchFamily="49" charset="-122"/>
              </a:rPr>
              <a:t>用户单击</a:t>
            </a:r>
            <a:r>
              <a:rPr lang="en-US" altLang="zh-CN" sz="2400" b="1" smtClean="0">
                <a:ea typeface="楷体_GB2312" pitchFamily="49" charset="-122"/>
              </a:rPr>
              <a:t>open</a:t>
            </a:r>
            <a:r>
              <a:rPr lang="zh-CN" altLang="en-US" sz="2400" b="1" smtClean="0">
                <a:ea typeface="楷体_GB2312" pitchFamily="49" charset="-122"/>
              </a:rPr>
              <a:t>按钮</a:t>
            </a:r>
          </a:p>
          <a:p>
            <a:pPr lvl="1" eaLnBrk="1" hangingPunct="1">
              <a:lnSpc>
                <a:spcPct val="80000"/>
              </a:lnSpc>
            </a:pPr>
            <a:r>
              <a:rPr lang="zh-CN" altLang="en-US" sz="2400" b="1" smtClean="0">
                <a:ea typeface="楷体_GB2312" pitchFamily="49" charset="-122"/>
              </a:rPr>
              <a:t>应用程序检索相关文件，显示在字处理器窗口</a:t>
            </a:r>
          </a:p>
        </p:txBody>
      </p:sp>
    </p:spTree>
    <p:extLst>
      <p:ext uri="{BB962C8B-B14F-4D97-AF65-F5344CB8AC3E}">
        <p14:creationId xmlns:p14="http://schemas.microsoft.com/office/powerpoint/2010/main" val="30461056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用例</a:t>
            </a:r>
          </a:p>
        </p:txBody>
      </p:sp>
      <p:sp>
        <p:nvSpPr>
          <p:cNvPr id="16387" name="Rectangle 3"/>
          <p:cNvSpPr>
            <a:spLocks noGrp="1" noChangeArrowheads="1"/>
          </p:cNvSpPr>
          <p:nvPr>
            <p:ph type="body" idx="1"/>
          </p:nvPr>
        </p:nvSpPr>
        <p:spPr>
          <a:xfrm>
            <a:off x="457200" y="1600200"/>
            <a:ext cx="8458200" cy="4267200"/>
          </a:xfrm>
        </p:spPr>
        <p:txBody>
          <a:bodyPr/>
          <a:lstStyle/>
          <a:p>
            <a:pPr eaLnBrk="1" hangingPunct="1"/>
            <a:r>
              <a:rPr lang="zh-CN" altLang="en-US" b="1" smtClean="0">
                <a:ea typeface="楷体_GB2312" pitchFamily="49" charset="-122"/>
              </a:rPr>
              <a:t>可能通过几种不同的方式来使用一个系统，取决于不同的执行者的任务。</a:t>
            </a:r>
          </a:p>
          <a:p>
            <a:pPr eaLnBrk="1" hangingPunct="1"/>
            <a:r>
              <a:rPr lang="en-US" altLang="zh-CN" b="1" smtClean="0">
                <a:ea typeface="楷体_GB2312" pitchFamily="49" charset="-122"/>
              </a:rPr>
              <a:t>Jacobson</a:t>
            </a:r>
            <a:r>
              <a:rPr lang="zh-CN" altLang="en-US" b="1" smtClean="0">
                <a:ea typeface="楷体_GB2312" pitchFamily="49" charset="-122"/>
              </a:rPr>
              <a:t>建议从编写用例开始进行需求分析，然后根据这些分析得到类的选择。</a:t>
            </a:r>
          </a:p>
          <a:p>
            <a:pPr eaLnBrk="1" hangingPunct="1"/>
            <a:r>
              <a:rPr lang="zh-CN" altLang="en-US" b="1" smtClean="0">
                <a:ea typeface="楷体_GB2312" pitchFamily="49" charset="-122"/>
              </a:rPr>
              <a:t>用例通常需要联系上下文。</a:t>
            </a:r>
          </a:p>
          <a:p>
            <a:pPr eaLnBrk="1" hangingPunct="1"/>
            <a:r>
              <a:rPr lang="zh-CN" altLang="en-US" b="1" smtClean="0">
                <a:ea typeface="楷体_GB2312" pitchFamily="49" charset="-122"/>
              </a:rPr>
              <a:t>在</a:t>
            </a:r>
            <a:r>
              <a:rPr lang="en-US" altLang="zh-CN" b="1" smtClean="0">
                <a:ea typeface="楷体_GB2312" pitchFamily="49" charset="-122"/>
              </a:rPr>
              <a:t>UML</a:t>
            </a:r>
            <a:r>
              <a:rPr lang="zh-CN" altLang="en-US" b="1" smtClean="0">
                <a:ea typeface="楷体_GB2312" pitchFamily="49" charset="-122"/>
              </a:rPr>
              <a:t>符号中，每个</a:t>
            </a:r>
            <a:r>
              <a:rPr lang="zh-CN" altLang="en-US" b="1" smtClean="0">
                <a:solidFill>
                  <a:srgbClr val="0000CC"/>
                </a:solidFill>
                <a:ea typeface="楷体_GB2312" pitchFamily="49" charset="-122"/>
              </a:rPr>
              <a:t>椭圆</a:t>
            </a:r>
            <a:r>
              <a:rPr lang="zh-CN" altLang="en-US" b="1" smtClean="0">
                <a:ea typeface="楷体_GB2312" pitchFamily="49" charset="-122"/>
              </a:rPr>
              <a:t>符号表示一个用例。</a:t>
            </a:r>
          </a:p>
        </p:txBody>
      </p:sp>
    </p:spTree>
    <p:extLst>
      <p:ext uri="{BB962C8B-B14F-4D97-AF65-F5344CB8AC3E}">
        <p14:creationId xmlns:p14="http://schemas.microsoft.com/office/powerpoint/2010/main" val="15777159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19"/>
          <p:cNvSpPr txBox="1">
            <a:spLocks noChangeArrowheads="1"/>
          </p:cNvSpPr>
          <p:nvPr/>
        </p:nvSpPr>
        <p:spPr bwMode="auto">
          <a:xfrm>
            <a:off x="228600" y="152400"/>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r>
              <a:rPr kumimoji="0" lang="en-US" altLang="zh-CN" sz="2400" dirty="0" smtClean="0">
                <a:solidFill>
                  <a:schemeClr val="accent2"/>
                </a:solidFill>
                <a:latin typeface="Arial" charset="0"/>
              </a:rPr>
              <a:t>XX</a:t>
            </a:r>
            <a:r>
              <a:rPr kumimoji="0" lang="zh-CN" altLang="en-US" sz="2400" dirty="0" smtClean="0">
                <a:solidFill>
                  <a:schemeClr val="accent2"/>
                </a:solidFill>
                <a:latin typeface="Arial" charset="0"/>
              </a:rPr>
              <a:t>应用程序</a:t>
            </a:r>
            <a:r>
              <a:rPr kumimoji="0" lang="zh-CN" altLang="en-US" sz="2400" dirty="0">
                <a:solidFill>
                  <a:schemeClr val="accent2"/>
                </a:solidFill>
                <a:latin typeface="Arial" charset="0"/>
              </a:rPr>
              <a:t>的用例</a:t>
            </a:r>
          </a:p>
        </p:txBody>
      </p:sp>
      <p:grpSp>
        <p:nvGrpSpPr>
          <p:cNvPr id="17411" name="Group 21"/>
          <p:cNvGrpSpPr>
            <a:grpSpLocks/>
          </p:cNvGrpSpPr>
          <p:nvPr/>
        </p:nvGrpSpPr>
        <p:grpSpPr bwMode="auto">
          <a:xfrm>
            <a:off x="533400" y="228600"/>
            <a:ext cx="8382000" cy="6400800"/>
            <a:chOff x="336" y="144"/>
            <a:chExt cx="5280" cy="4032"/>
          </a:xfrm>
        </p:grpSpPr>
        <p:sp>
          <p:nvSpPr>
            <p:cNvPr id="17414" name="Line 22"/>
            <p:cNvSpPr>
              <a:spLocks noChangeShapeType="1"/>
            </p:cNvSpPr>
            <p:nvPr/>
          </p:nvSpPr>
          <p:spPr bwMode="auto">
            <a:xfrm>
              <a:off x="576" y="1248"/>
              <a:ext cx="0" cy="38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5" name="Line 23"/>
            <p:cNvSpPr>
              <a:spLocks noChangeShapeType="1"/>
            </p:cNvSpPr>
            <p:nvPr/>
          </p:nvSpPr>
          <p:spPr bwMode="auto">
            <a:xfrm flipH="1">
              <a:off x="336" y="1632"/>
              <a:ext cx="240" cy="38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6" name="Line 24"/>
            <p:cNvSpPr>
              <a:spLocks noChangeShapeType="1"/>
            </p:cNvSpPr>
            <p:nvPr/>
          </p:nvSpPr>
          <p:spPr bwMode="auto">
            <a:xfrm>
              <a:off x="576" y="1632"/>
              <a:ext cx="144" cy="38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7" name="Line 25"/>
            <p:cNvSpPr>
              <a:spLocks noChangeShapeType="1"/>
            </p:cNvSpPr>
            <p:nvPr/>
          </p:nvSpPr>
          <p:spPr bwMode="auto">
            <a:xfrm flipH="1" flipV="1">
              <a:off x="343" y="1440"/>
              <a:ext cx="4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18" name="Oval 26"/>
            <p:cNvSpPr>
              <a:spLocks noChangeArrowheads="1"/>
            </p:cNvSpPr>
            <p:nvPr/>
          </p:nvSpPr>
          <p:spPr bwMode="auto">
            <a:xfrm>
              <a:off x="480" y="1104"/>
              <a:ext cx="192" cy="192"/>
            </a:xfrm>
            <a:prstGeom prst="ellipse">
              <a:avLst/>
            </a:prstGeom>
            <a:solidFill>
              <a:schemeClr val="bg1"/>
            </a:solidFill>
            <a:ln w="19050">
              <a:solidFill>
                <a:schemeClr val="tx1"/>
              </a:solidFill>
              <a:round/>
              <a:headEnd/>
              <a:tailEnd/>
            </a:ln>
          </p:spPr>
          <p:txBody>
            <a:bodyPr wrap="none" anchor="ctr"/>
            <a:lstStyle/>
            <a:p>
              <a:endParaRPr lang="zh-CN" altLang="en-US"/>
            </a:p>
          </p:txBody>
        </p:sp>
        <p:sp>
          <p:nvSpPr>
            <p:cNvPr id="17419" name="Oval 27"/>
            <p:cNvSpPr>
              <a:spLocks noChangeArrowheads="1"/>
            </p:cNvSpPr>
            <p:nvPr/>
          </p:nvSpPr>
          <p:spPr bwMode="auto">
            <a:xfrm>
              <a:off x="1748" y="1304"/>
              <a:ext cx="674" cy="395"/>
            </a:xfrm>
            <a:prstGeom prst="ellipse">
              <a:avLst/>
            </a:prstGeom>
            <a:solidFill>
              <a:srgbClr val="FFFFD9"/>
            </a:solidFill>
            <a:ln w="19050">
              <a:solidFill>
                <a:schemeClr val="tx1"/>
              </a:solidFill>
              <a:round/>
              <a:headEnd/>
              <a:tailEnd/>
            </a:ln>
          </p:spPr>
          <p:txBody>
            <a:bodyPr wrap="none" anchor="ctr">
              <a:spAutoFit/>
            </a:bodyPr>
            <a:lstStyle/>
            <a:p>
              <a:pPr eaLnBrk="0" hangingPunct="0">
                <a:spcBef>
                  <a:spcPct val="0"/>
                </a:spcBef>
              </a:pPr>
              <a:r>
                <a:rPr kumimoji="0" lang="zh-CN" altLang="en-US" sz="2400">
                  <a:solidFill>
                    <a:schemeClr val="accent2"/>
                  </a:solidFill>
                  <a:latin typeface="Arial Narrow" pitchFamily="34" charset="0"/>
                </a:rPr>
                <a:t>登记</a:t>
              </a:r>
            </a:p>
          </p:txBody>
        </p:sp>
        <p:sp>
          <p:nvSpPr>
            <p:cNvPr id="17420" name="Oval 28"/>
            <p:cNvSpPr>
              <a:spLocks noChangeArrowheads="1"/>
            </p:cNvSpPr>
            <p:nvPr/>
          </p:nvSpPr>
          <p:spPr bwMode="auto">
            <a:xfrm>
              <a:off x="720" y="1536"/>
              <a:ext cx="144" cy="144"/>
            </a:xfrm>
            <a:prstGeom prst="ellipse">
              <a:avLst/>
            </a:prstGeom>
            <a:solidFill>
              <a:schemeClr val="bg1"/>
            </a:solidFill>
            <a:ln>
              <a:noFill/>
            </a:ln>
            <a:extLs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zh-CN" altLang="en-US"/>
            </a:p>
          </p:txBody>
        </p:sp>
        <p:cxnSp>
          <p:nvCxnSpPr>
            <p:cNvPr id="17421" name="AutoShape 29"/>
            <p:cNvCxnSpPr>
              <a:cxnSpLocks noChangeShapeType="1"/>
              <a:stCxn id="17420" idx="6"/>
              <a:endCxn id="17419" idx="2"/>
            </p:cNvCxnSpPr>
            <p:nvPr/>
          </p:nvCxnSpPr>
          <p:spPr bwMode="auto">
            <a:xfrm flipV="1">
              <a:off x="864" y="1502"/>
              <a:ext cx="685" cy="106"/>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17422" name="Oval 30"/>
            <p:cNvSpPr>
              <a:spLocks noChangeArrowheads="1"/>
            </p:cNvSpPr>
            <p:nvPr/>
          </p:nvSpPr>
          <p:spPr bwMode="auto">
            <a:xfrm>
              <a:off x="1747" y="2100"/>
              <a:ext cx="674" cy="395"/>
            </a:xfrm>
            <a:prstGeom prst="ellipse">
              <a:avLst/>
            </a:prstGeom>
            <a:solidFill>
              <a:srgbClr val="FFFFD9"/>
            </a:solidFill>
            <a:ln w="19050">
              <a:solidFill>
                <a:schemeClr val="tx1"/>
              </a:solidFill>
              <a:round/>
              <a:headEnd/>
              <a:tailEnd/>
            </a:ln>
          </p:spPr>
          <p:txBody>
            <a:bodyPr wrap="none" anchor="ctr">
              <a:spAutoFit/>
            </a:bodyPr>
            <a:lstStyle/>
            <a:p>
              <a:pPr eaLnBrk="0" hangingPunct="0">
                <a:spcBef>
                  <a:spcPct val="0"/>
                </a:spcBef>
              </a:pPr>
              <a:r>
                <a:rPr kumimoji="0" lang="zh-CN" altLang="en-US" sz="2400">
                  <a:solidFill>
                    <a:schemeClr val="accent2"/>
                  </a:solidFill>
                  <a:latin typeface="Arial Narrow" pitchFamily="34" charset="0"/>
                </a:rPr>
                <a:t>付账</a:t>
              </a:r>
            </a:p>
          </p:txBody>
        </p:sp>
        <p:cxnSp>
          <p:nvCxnSpPr>
            <p:cNvPr id="17423" name="AutoShape 31"/>
            <p:cNvCxnSpPr>
              <a:cxnSpLocks noChangeShapeType="1"/>
              <a:stCxn id="17420" idx="5"/>
              <a:endCxn id="17422" idx="1"/>
            </p:cNvCxnSpPr>
            <p:nvPr/>
          </p:nvCxnSpPr>
          <p:spPr bwMode="auto">
            <a:xfrm>
              <a:off x="843" y="1659"/>
              <a:ext cx="815" cy="493"/>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7424" name="AutoShape 32"/>
            <p:cNvCxnSpPr>
              <a:cxnSpLocks noChangeShapeType="1"/>
              <a:stCxn id="17425" idx="1"/>
              <a:endCxn id="17419" idx="6"/>
            </p:cNvCxnSpPr>
            <p:nvPr/>
          </p:nvCxnSpPr>
          <p:spPr bwMode="auto">
            <a:xfrm flipH="1">
              <a:off x="2621" y="1159"/>
              <a:ext cx="547" cy="343"/>
            </a:xfrm>
            <a:prstGeom prst="straightConnector1">
              <a:avLst/>
            </a:prstGeom>
            <a:noFill/>
            <a:ln w="19050">
              <a:solidFill>
                <a:schemeClr val="tx1"/>
              </a:solidFill>
              <a:prstDash val="lgDash"/>
              <a:round/>
              <a:headEnd/>
              <a:tailEnd/>
            </a:ln>
            <a:extLst>
              <a:ext uri="{909E8E84-426E-40DD-AFC4-6F175D3DCCD1}">
                <a14:hiddenFill xmlns:a14="http://schemas.microsoft.com/office/drawing/2010/main">
                  <a:noFill/>
                </a14:hiddenFill>
              </a:ext>
            </a:extLst>
          </p:spPr>
        </p:cxnSp>
        <p:sp>
          <p:nvSpPr>
            <p:cNvPr id="17425" name="Text Box 33"/>
            <p:cNvSpPr txBox="1">
              <a:spLocks noChangeArrowheads="1"/>
            </p:cNvSpPr>
            <p:nvPr/>
          </p:nvSpPr>
          <p:spPr bwMode="auto">
            <a:xfrm>
              <a:off x="3168" y="1008"/>
              <a:ext cx="2448" cy="301"/>
            </a:xfrm>
            <a:prstGeom prst="rect">
              <a:avLst/>
            </a:prstGeom>
            <a:solidFill>
              <a:srgbClr val="FFFFD9"/>
            </a:solidFill>
            <a:ln w="3175">
              <a:solidFill>
                <a:schemeClr val="tx1"/>
              </a:solidFill>
              <a:miter lim="800000"/>
              <a:headEnd/>
              <a:tailEnd/>
            </a:ln>
          </p:spPr>
          <p:txBody>
            <a:bodyPr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80000"/>
                </a:lnSpc>
                <a:spcBef>
                  <a:spcPts val="500"/>
                </a:spcBef>
                <a:spcAft>
                  <a:spcPts val="500"/>
                </a:spcAft>
              </a:pPr>
              <a:r>
                <a:rPr kumimoji="0" lang="en-US" altLang="zh-CN" sz="2400" i="1">
                  <a:latin typeface="Arial Narrow" pitchFamily="34" charset="0"/>
                  <a:ea typeface="宋体" charset="-122"/>
                  <a:cs typeface="Times New Roman" pitchFamily="18" charset="0"/>
                </a:rPr>
                <a:t>1. . . . .</a:t>
              </a:r>
              <a:endParaRPr kumimoji="0" lang="en-US" altLang="zh-CN" sz="2400">
                <a:latin typeface="Arial Narrow" pitchFamily="34" charset="0"/>
                <a:ea typeface="宋体" charset="-122"/>
                <a:cs typeface="Times New Roman" pitchFamily="18" charset="0"/>
              </a:endParaRPr>
            </a:p>
          </p:txBody>
        </p:sp>
        <p:cxnSp>
          <p:nvCxnSpPr>
            <p:cNvPr id="17426" name="AutoShape 34"/>
            <p:cNvCxnSpPr>
              <a:cxnSpLocks noChangeShapeType="1"/>
              <a:stCxn id="17443" idx="1"/>
              <a:endCxn id="17422" idx="6"/>
            </p:cNvCxnSpPr>
            <p:nvPr/>
          </p:nvCxnSpPr>
          <p:spPr bwMode="auto">
            <a:xfrm flipH="1" flipV="1">
              <a:off x="2693" y="2298"/>
              <a:ext cx="475" cy="280"/>
            </a:xfrm>
            <a:prstGeom prst="straightConnector1">
              <a:avLst/>
            </a:prstGeom>
            <a:noFill/>
            <a:ln w="19050">
              <a:solidFill>
                <a:schemeClr val="tx1"/>
              </a:solidFill>
              <a:prstDash val="lgDash"/>
              <a:round/>
              <a:headEnd/>
              <a:tailEnd/>
            </a:ln>
            <a:extLst>
              <a:ext uri="{909E8E84-426E-40DD-AFC4-6F175D3DCCD1}">
                <a14:hiddenFill xmlns:a14="http://schemas.microsoft.com/office/drawing/2010/main">
                  <a:noFill/>
                </a14:hiddenFill>
              </a:ext>
            </a:extLst>
          </p:spPr>
        </p:cxnSp>
        <p:sp>
          <p:nvSpPr>
            <p:cNvPr id="17427" name="Oval 35"/>
            <p:cNvSpPr>
              <a:spLocks noChangeArrowheads="1"/>
            </p:cNvSpPr>
            <p:nvPr/>
          </p:nvSpPr>
          <p:spPr bwMode="auto">
            <a:xfrm>
              <a:off x="1748" y="612"/>
              <a:ext cx="674" cy="395"/>
            </a:xfrm>
            <a:prstGeom prst="ellipse">
              <a:avLst/>
            </a:prstGeom>
            <a:solidFill>
              <a:srgbClr val="FFFFD9"/>
            </a:solidFill>
            <a:ln w="19050">
              <a:solidFill>
                <a:schemeClr val="tx1"/>
              </a:solidFill>
              <a:round/>
              <a:headEnd/>
              <a:tailEnd/>
            </a:ln>
          </p:spPr>
          <p:txBody>
            <a:bodyPr wrap="none" anchor="ctr">
              <a:spAutoFit/>
            </a:bodyPr>
            <a:lstStyle/>
            <a:p>
              <a:pPr eaLnBrk="0" hangingPunct="0">
                <a:spcBef>
                  <a:spcPct val="0"/>
                </a:spcBef>
              </a:pPr>
              <a:r>
                <a:rPr kumimoji="0" lang="zh-CN" altLang="en-US" sz="2400">
                  <a:solidFill>
                    <a:schemeClr val="accent2"/>
                  </a:solidFill>
                  <a:latin typeface="Arial Narrow" pitchFamily="34" charset="0"/>
                </a:rPr>
                <a:t>激活</a:t>
              </a:r>
            </a:p>
          </p:txBody>
        </p:sp>
        <p:sp>
          <p:nvSpPr>
            <p:cNvPr id="17428" name="Text Box 36"/>
            <p:cNvSpPr txBox="1">
              <a:spLocks noChangeArrowheads="1"/>
            </p:cNvSpPr>
            <p:nvPr/>
          </p:nvSpPr>
          <p:spPr bwMode="auto">
            <a:xfrm>
              <a:off x="3168" y="144"/>
              <a:ext cx="2448" cy="565"/>
            </a:xfrm>
            <a:prstGeom prst="rect">
              <a:avLst/>
            </a:prstGeom>
            <a:solidFill>
              <a:srgbClr val="FFFFD9"/>
            </a:solidFill>
            <a:ln w="3175">
              <a:solidFill>
                <a:schemeClr val="tx1"/>
              </a:solidFill>
              <a:miter lim="800000"/>
              <a:headEnd/>
              <a:tailEnd/>
            </a:ln>
          </p:spPr>
          <p:txBody>
            <a:bodyPr tIns="13716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80000"/>
                </a:lnSpc>
                <a:spcBef>
                  <a:spcPts val="500"/>
                </a:spcBef>
                <a:spcAft>
                  <a:spcPts val="500"/>
                </a:spcAft>
                <a:buFontTx/>
                <a:buAutoNum type="arabicPeriod"/>
              </a:pPr>
              <a:r>
                <a:rPr kumimoji="0" lang="zh-CN" altLang="en-US" sz="2400">
                  <a:solidFill>
                    <a:schemeClr val="accent2"/>
                  </a:solidFill>
                  <a:latin typeface="Arial Narrow" pitchFamily="34" charset="0"/>
                </a:rPr>
                <a:t>执行者</a:t>
              </a:r>
              <a:r>
                <a:rPr kumimoji="0" lang="zh-CN" altLang="en-US" sz="2400">
                  <a:latin typeface="Arial Narrow" pitchFamily="34" charset="0"/>
                </a:rPr>
                <a:t>按下任意键</a:t>
              </a:r>
              <a:r>
                <a:rPr kumimoji="0" lang="en-US" altLang="zh-CN" sz="2400">
                  <a:latin typeface="Arial Narrow" pitchFamily="34" charset="0"/>
                  <a:ea typeface="宋体" charset="-122"/>
                </a:rPr>
                <a:t>.</a:t>
              </a:r>
            </a:p>
            <a:p>
              <a:pPr algn="l">
                <a:lnSpc>
                  <a:spcPct val="80000"/>
                </a:lnSpc>
                <a:spcBef>
                  <a:spcPts val="500"/>
                </a:spcBef>
                <a:spcAft>
                  <a:spcPts val="500"/>
                </a:spcAft>
                <a:buFontTx/>
                <a:buAutoNum type="arabicPeriod"/>
              </a:pPr>
              <a:r>
                <a:rPr kumimoji="0" lang="zh-CN" altLang="en-US" sz="2400">
                  <a:solidFill>
                    <a:schemeClr val="accent2"/>
                  </a:solidFill>
                  <a:latin typeface="Arial Narrow" pitchFamily="34" charset="0"/>
                </a:rPr>
                <a:t>应用程序</a:t>
              </a:r>
              <a:r>
                <a:rPr kumimoji="0" lang="zh-CN" altLang="en-US" sz="2400">
                  <a:latin typeface="Arial Narrow" pitchFamily="34" charset="0"/>
                </a:rPr>
                <a:t>显示主菜单</a:t>
              </a:r>
              <a:r>
                <a:rPr kumimoji="0" lang="en-US" altLang="zh-CN" sz="2400">
                  <a:latin typeface="Arial Narrow" pitchFamily="34" charset="0"/>
                  <a:ea typeface="宋体" charset="-122"/>
                </a:rPr>
                <a:t>. …</a:t>
              </a:r>
            </a:p>
          </p:txBody>
        </p:sp>
        <p:cxnSp>
          <p:nvCxnSpPr>
            <p:cNvPr id="17429" name="AutoShape 37"/>
            <p:cNvCxnSpPr>
              <a:cxnSpLocks noChangeShapeType="1"/>
              <a:stCxn id="17420" idx="7"/>
              <a:endCxn id="17427" idx="2"/>
            </p:cNvCxnSpPr>
            <p:nvPr/>
          </p:nvCxnSpPr>
          <p:spPr bwMode="auto">
            <a:xfrm flipV="1">
              <a:off x="843" y="810"/>
              <a:ext cx="737" cy="747"/>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7430" name="AutoShape 38"/>
            <p:cNvCxnSpPr>
              <a:cxnSpLocks noChangeShapeType="1"/>
              <a:stCxn id="17428" idx="1"/>
              <a:endCxn id="17427" idx="6"/>
            </p:cNvCxnSpPr>
            <p:nvPr/>
          </p:nvCxnSpPr>
          <p:spPr bwMode="auto">
            <a:xfrm flipH="1">
              <a:off x="2590" y="519"/>
              <a:ext cx="578" cy="291"/>
            </a:xfrm>
            <a:prstGeom prst="straightConnector1">
              <a:avLst/>
            </a:prstGeom>
            <a:noFill/>
            <a:ln w="19050">
              <a:solidFill>
                <a:schemeClr val="tx1"/>
              </a:solidFill>
              <a:prstDash val="lgDash"/>
              <a:round/>
              <a:headEnd/>
              <a:tailEnd/>
            </a:ln>
            <a:extLst>
              <a:ext uri="{909E8E84-426E-40DD-AFC4-6F175D3DCCD1}">
                <a14:hiddenFill xmlns:a14="http://schemas.microsoft.com/office/drawing/2010/main">
                  <a:noFill/>
                </a14:hiddenFill>
              </a:ext>
            </a:extLst>
          </p:spPr>
        </p:cxnSp>
        <p:sp>
          <p:nvSpPr>
            <p:cNvPr id="17431" name="Line 39"/>
            <p:cNvSpPr>
              <a:spLocks noChangeShapeType="1"/>
            </p:cNvSpPr>
            <p:nvPr/>
          </p:nvSpPr>
          <p:spPr bwMode="auto">
            <a:xfrm>
              <a:off x="576" y="3072"/>
              <a:ext cx="0" cy="38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32" name="Line 40"/>
            <p:cNvSpPr>
              <a:spLocks noChangeShapeType="1"/>
            </p:cNvSpPr>
            <p:nvPr/>
          </p:nvSpPr>
          <p:spPr bwMode="auto">
            <a:xfrm flipH="1">
              <a:off x="336" y="3456"/>
              <a:ext cx="240" cy="38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33" name="Line 41"/>
            <p:cNvSpPr>
              <a:spLocks noChangeShapeType="1"/>
            </p:cNvSpPr>
            <p:nvPr/>
          </p:nvSpPr>
          <p:spPr bwMode="auto">
            <a:xfrm>
              <a:off x="576" y="3456"/>
              <a:ext cx="144" cy="38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34" name="Line 42"/>
            <p:cNvSpPr>
              <a:spLocks noChangeShapeType="1"/>
            </p:cNvSpPr>
            <p:nvPr/>
          </p:nvSpPr>
          <p:spPr bwMode="auto">
            <a:xfrm flipH="1" flipV="1">
              <a:off x="336" y="3264"/>
              <a:ext cx="4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35" name="Oval 43"/>
            <p:cNvSpPr>
              <a:spLocks noChangeArrowheads="1"/>
            </p:cNvSpPr>
            <p:nvPr/>
          </p:nvSpPr>
          <p:spPr bwMode="auto">
            <a:xfrm>
              <a:off x="480" y="2928"/>
              <a:ext cx="192" cy="192"/>
            </a:xfrm>
            <a:prstGeom prst="ellipse">
              <a:avLst/>
            </a:prstGeom>
            <a:solidFill>
              <a:schemeClr val="bg1"/>
            </a:solidFill>
            <a:ln w="19050">
              <a:solidFill>
                <a:schemeClr val="tx1"/>
              </a:solidFill>
              <a:round/>
              <a:headEnd/>
              <a:tailEnd/>
            </a:ln>
          </p:spPr>
          <p:txBody>
            <a:bodyPr wrap="none" anchor="ctr"/>
            <a:lstStyle/>
            <a:p>
              <a:endParaRPr lang="zh-CN" altLang="en-US"/>
            </a:p>
          </p:txBody>
        </p:sp>
        <p:sp>
          <p:nvSpPr>
            <p:cNvPr id="17436" name="Oval 44"/>
            <p:cNvSpPr>
              <a:spLocks noChangeArrowheads="1"/>
            </p:cNvSpPr>
            <p:nvPr/>
          </p:nvSpPr>
          <p:spPr bwMode="auto">
            <a:xfrm>
              <a:off x="1337" y="2916"/>
              <a:ext cx="1493" cy="395"/>
            </a:xfrm>
            <a:prstGeom prst="ellipse">
              <a:avLst/>
            </a:prstGeom>
            <a:solidFill>
              <a:srgbClr val="FFFFD9"/>
            </a:solidFill>
            <a:ln w="19050">
              <a:solidFill>
                <a:schemeClr val="tx1"/>
              </a:solidFill>
              <a:round/>
              <a:headEnd/>
              <a:tailEnd/>
            </a:ln>
          </p:spPr>
          <p:txBody>
            <a:bodyPr wrap="none" anchor="ctr">
              <a:spAutoFit/>
            </a:bodyPr>
            <a:lstStyle/>
            <a:p>
              <a:pPr eaLnBrk="0" hangingPunct="0">
                <a:spcBef>
                  <a:spcPct val="0"/>
                </a:spcBef>
              </a:pPr>
              <a:r>
                <a:rPr kumimoji="0" lang="zh-CN" altLang="en-US" sz="2400">
                  <a:solidFill>
                    <a:schemeClr val="accent2"/>
                  </a:solidFill>
                  <a:latin typeface="Arial Narrow" pitchFamily="34" charset="0"/>
                </a:rPr>
                <a:t>增加录像带</a:t>
              </a:r>
            </a:p>
          </p:txBody>
        </p:sp>
        <p:sp>
          <p:nvSpPr>
            <p:cNvPr id="17437" name="Oval 45"/>
            <p:cNvSpPr>
              <a:spLocks noChangeArrowheads="1"/>
            </p:cNvSpPr>
            <p:nvPr/>
          </p:nvSpPr>
          <p:spPr bwMode="auto">
            <a:xfrm>
              <a:off x="720" y="3360"/>
              <a:ext cx="144" cy="144"/>
            </a:xfrm>
            <a:prstGeom prst="ellipse">
              <a:avLst/>
            </a:prstGeom>
            <a:solidFill>
              <a:schemeClr val="bg1"/>
            </a:solidFill>
            <a:ln>
              <a:noFill/>
            </a:ln>
            <a:extLs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zh-CN" altLang="en-US"/>
            </a:p>
          </p:txBody>
        </p:sp>
        <p:cxnSp>
          <p:nvCxnSpPr>
            <p:cNvPr id="17438" name="AutoShape 46"/>
            <p:cNvCxnSpPr>
              <a:cxnSpLocks noChangeShapeType="1"/>
              <a:stCxn id="17437" idx="0"/>
              <a:endCxn id="17427" idx="2"/>
            </p:cNvCxnSpPr>
            <p:nvPr/>
          </p:nvCxnSpPr>
          <p:spPr bwMode="auto">
            <a:xfrm flipV="1">
              <a:off x="792" y="810"/>
              <a:ext cx="788" cy="255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7439" name="AutoShape 47"/>
            <p:cNvCxnSpPr>
              <a:cxnSpLocks noChangeShapeType="1"/>
              <a:stCxn id="17437" idx="6"/>
              <a:endCxn id="17436" idx="2"/>
            </p:cNvCxnSpPr>
            <p:nvPr/>
          </p:nvCxnSpPr>
          <p:spPr bwMode="auto">
            <a:xfrm flipV="1">
              <a:off x="864" y="3114"/>
              <a:ext cx="612" cy="318"/>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17440" name="Text Box 48"/>
            <p:cNvSpPr txBox="1">
              <a:spLocks noChangeArrowheads="1"/>
            </p:cNvSpPr>
            <p:nvPr/>
          </p:nvSpPr>
          <p:spPr bwMode="auto">
            <a:xfrm>
              <a:off x="3168" y="3875"/>
              <a:ext cx="2448" cy="301"/>
            </a:xfrm>
            <a:prstGeom prst="rect">
              <a:avLst/>
            </a:prstGeom>
            <a:solidFill>
              <a:srgbClr val="FFFFD9"/>
            </a:solidFill>
            <a:ln w="3175">
              <a:solidFill>
                <a:schemeClr val="tx1"/>
              </a:solidFill>
              <a:miter lim="800000"/>
              <a:headEnd/>
              <a:tailEnd/>
            </a:ln>
          </p:spPr>
          <p:txBody>
            <a:bodyPr tIns="13716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80000"/>
                </a:lnSpc>
                <a:spcBef>
                  <a:spcPts val="500"/>
                </a:spcBef>
                <a:spcAft>
                  <a:spcPts val="500"/>
                </a:spcAft>
              </a:pPr>
              <a:r>
                <a:rPr kumimoji="0" lang="en-US" altLang="zh-CN" sz="2400" i="1">
                  <a:latin typeface="Arial Narrow" pitchFamily="34" charset="0"/>
                  <a:ea typeface="宋体" charset="-122"/>
                  <a:cs typeface="Times New Roman" pitchFamily="18" charset="0"/>
                </a:rPr>
                <a:t>1.    … </a:t>
              </a:r>
              <a:endParaRPr kumimoji="0" lang="en-US" altLang="zh-CN" sz="2400">
                <a:latin typeface="Arial Narrow" pitchFamily="34" charset="0"/>
                <a:ea typeface="宋体" charset="-122"/>
                <a:cs typeface="Times New Roman" pitchFamily="18" charset="0"/>
              </a:endParaRPr>
            </a:p>
          </p:txBody>
        </p:sp>
        <p:cxnSp>
          <p:nvCxnSpPr>
            <p:cNvPr id="17441" name="AutoShape 49"/>
            <p:cNvCxnSpPr>
              <a:cxnSpLocks noChangeShapeType="1"/>
              <a:stCxn id="17440" idx="1"/>
              <a:endCxn id="17436" idx="6"/>
            </p:cNvCxnSpPr>
            <p:nvPr/>
          </p:nvCxnSpPr>
          <p:spPr bwMode="auto">
            <a:xfrm flipH="1" flipV="1">
              <a:off x="2694" y="3114"/>
              <a:ext cx="474" cy="912"/>
            </a:xfrm>
            <a:prstGeom prst="straightConnector1">
              <a:avLst/>
            </a:prstGeom>
            <a:noFill/>
            <a:ln w="19050">
              <a:solidFill>
                <a:schemeClr val="tx1"/>
              </a:solidFill>
              <a:prstDash val="lgDash"/>
              <a:round/>
              <a:headEnd/>
              <a:tailEnd/>
            </a:ln>
            <a:extLst>
              <a:ext uri="{909E8E84-426E-40DD-AFC4-6F175D3DCCD1}">
                <a14:hiddenFill xmlns:a14="http://schemas.microsoft.com/office/drawing/2010/main">
                  <a:noFill/>
                </a14:hiddenFill>
              </a:ext>
            </a:extLst>
          </p:spPr>
        </p:cxnSp>
        <p:sp>
          <p:nvSpPr>
            <p:cNvPr id="17442" name="Oval 50"/>
            <p:cNvSpPr>
              <a:spLocks noChangeArrowheads="1"/>
            </p:cNvSpPr>
            <p:nvPr/>
          </p:nvSpPr>
          <p:spPr bwMode="auto">
            <a:xfrm>
              <a:off x="1492" y="3684"/>
              <a:ext cx="1186" cy="396"/>
            </a:xfrm>
            <a:prstGeom prst="ellipse">
              <a:avLst/>
            </a:prstGeom>
            <a:solidFill>
              <a:srgbClr val="FFFFD9"/>
            </a:solidFill>
            <a:ln w="19050">
              <a:solidFill>
                <a:schemeClr val="tx1"/>
              </a:solidFill>
              <a:round/>
              <a:headEnd/>
              <a:tailEnd/>
            </a:ln>
          </p:spPr>
          <p:txBody>
            <a:bodyPr wrap="none" anchor="ctr">
              <a:spAutoFit/>
            </a:bodyPr>
            <a:lstStyle/>
            <a:p>
              <a:pPr eaLnBrk="0" hangingPunct="0">
                <a:spcBef>
                  <a:spcPct val="0"/>
                </a:spcBef>
              </a:pPr>
              <a:r>
                <a:rPr kumimoji="0" lang="en-US" altLang="zh-CN" sz="2400">
                  <a:latin typeface="Arial Narrow" pitchFamily="34" charset="0"/>
                  <a:ea typeface="宋体" charset="-122"/>
                </a:rPr>
                <a:t>. . . . . . . . .</a:t>
              </a:r>
            </a:p>
          </p:txBody>
        </p:sp>
        <p:sp>
          <p:nvSpPr>
            <p:cNvPr id="17443" name="Text Box 51"/>
            <p:cNvSpPr txBox="1">
              <a:spLocks noChangeArrowheads="1"/>
            </p:cNvSpPr>
            <p:nvPr/>
          </p:nvSpPr>
          <p:spPr bwMode="auto">
            <a:xfrm>
              <a:off x="3168" y="1411"/>
              <a:ext cx="2448" cy="2413"/>
            </a:xfrm>
            <a:prstGeom prst="rect">
              <a:avLst/>
            </a:prstGeom>
            <a:solidFill>
              <a:srgbClr val="FFFFD9"/>
            </a:solidFill>
            <a:ln w="3175">
              <a:solidFill>
                <a:schemeClr val="tx1"/>
              </a:solidFill>
              <a:miter lim="800000"/>
              <a:headEnd/>
              <a:tailEnd/>
            </a:ln>
          </p:spPr>
          <p:txBody>
            <a:bodyPr tIns="137160">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nSpc>
                  <a:spcPct val="80000"/>
                </a:lnSpc>
                <a:spcBef>
                  <a:spcPts val="500"/>
                </a:spcBef>
                <a:spcAft>
                  <a:spcPts val="500"/>
                </a:spcAft>
              </a:pPr>
              <a:r>
                <a:rPr kumimoji="0" lang="zh-CN" altLang="en-US" sz="2400">
                  <a:latin typeface="Arial Narrow" pitchFamily="34" charset="0"/>
                </a:rPr>
                <a:t>前置条件</a:t>
              </a:r>
              <a:r>
                <a:rPr kumimoji="0" lang="en-US" altLang="zh-CN" sz="2400">
                  <a:latin typeface="Arial Narrow" pitchFamily="34" charset="0"/>
                  <a:ea typeface="宋体" charset="-122"/>
                </a:rPr>
                <a:t>:</a:t>
              </a:r>
              <a:r>
                <a:rPr kumimoji="0" lang="en-US" altLang="zh-CN" sz="2400" i="1">
                  <a:latin typeface="Arial Narrow" pitchFamily="34" charset="0"/>
                  <a:ea typeface="宋体" charset="-122"/>
                </a:rPr>
                <a:t> </a:t>
              </a:r>
              <a:r>
                <a:rPr kumimoji="0" lang="zh-CN" altLang="en-US" sz="2400">
                  <a:latin typeface="Arial Narrow" pitchFamily="34" charset="0"/>
                </a:rPr>
                <a:t>已经</a:t>
              </a:r>
            </a:p>
            <a:p>
              <a:pPr>
                <a:lnSpc>
                  <a:spcPct val="80000"/>
                </a:lnSpc>
                <a:spcBef>
                  <a:spcPts val="500"/>
                </a:spcBef>
                <a:spcAft>
                  <a:spcPts val="500"/>
                </a:spcAft>
              </a:pPr>
              <a:r>
                <a:rPr kumimoji="0" lang="zh-CN" altLang="en-US" sz="2400">
                  <a:latin typeface="Arial Narrow" pitchFamily="34" charset="0"/>
                </a:rPr>
                <a:t>激活应用程序</a:t>
              </a:r>
              <a:endParaRPr kumimoji="0" lang="zh-CN" altLang="en-US" sz="2400">
                <a:latin typeface="Arial Narrow" pitchFamily="34" charset="0"/>
                <a:cs typeface="Times New Roman" pitchFamily="18" charset="0"/>
              </a:endParaRPr>
            </a:p>
            <a:p>
              <a:pPr algn="l">
                <a:lnSpc>
                  <a:spcPct val="90000"/>
                </a:lnSpc>
                <a:spcBef>
                  <a:spcPct val="5000"/>
                </a:spcBef>
                <a:spcAft>
                  <a:spcPts val="500"/>
                </a:spcAft>
                <a:buFontTx/>
                <a:buAutoNum type="arabicPeriod"/>
              </a:pPr>
              <a:r>
                <a:rPr kumimoji="0" lang="zh-CN" altLang="en-US" sz="2400">
                  <a:solidFill>
                    <a:schemeClr val="accent2"/>
                  </a:solidFill>
                  <a:latin typeface="Arial Narrow" pitchFamily="34" charset="0"/>
                  <a:cs typeface="Times New Roman" pitchFamily="18" charset="0"/>
                </a:rPr>
                <a:t>执行者</a:t>
              </a:r>
              <a:r>
                <a:rPr kumimoji="0" lang="zh-CN" altLang="en-US" sz="2400">
                  <a:latin typeface="Arial Narrow" pitchFamily="34" charset="0"/>
                  <a:cs typeface="Times New Roman" pitchFamily="18" charset="0"/>
                </a:rPr>
                <a:t>按下</a:t>
              </a:r>
              <a:r>
                <a:rPr kumimoji="0" lang="zh-CN" altLang="en-US" sz="2400" i="1">
                  <a:latin typeface="Arial Narrow" pitchFamily="34" charset="0"/>
                  <a:ea typeface="宋体" charset="-122"/>
                  <a:cs typeface="Times New Roman" pitchFamily="18" charset="0"/>
                </a:rPr>
                <a:t> “</a:t>
              </a:r>
              <a:r>
                <a:rPr kumimoji="0" lang="en-US" altLang="zh-CN" sz="2400" i="1">
                  <a:latin typeface="Arial Narrow" pitchFamily="34" charset="0"/>
                  <a:ea typeface="宋体" charset="-122"/>
                  <a:cs typeface="Times New Roman" pitchFamily="18" charset="0"/>
                </a:rPr>
                <a:t>check out.”</a:t>
              </a:r>
            </a:p>
            <a:p>
              <a:pPr algn="l">
                <a:lnSpc>
                  <a:spcPct val="90000"/>
                </a:lnSpc>
                <a:spcBef>
                  <a:spcPct val="5000"/>
                </a:spcBef>
                <a:spcAft>
                  <a:spcPts val="500"/>
                </a:spcAft>
                <a:buFontTx/>
                <a:buAutoNum type="arabicPeriod"/>
              </a:pPr>
              <a:r>
                <a:rPr kumimoji="0" lang="zh-CN" altLang="en-US" sz="2400">
                  <a:solidFill>
                    <a:schemeClr val="accent2"/>
                  </a:solidFill>
                  <a:latin typeface="Arial Narrow" pitchFamily="34" charset="0"/>
                </a:rPr>
                <a:t>执行者</a:t>
              </a:r>
              <a:r>
                <a:rPr kumimoji="0" lang="zh-CN" altLang="en-US" sz="2400">
                  <a:latin typeface="Arial Narrow" pitchFamily="34" charset="0"/>
                </a:rPr>
                <a:t>扫描条形码</a:t>
              </a:r>
              <a:r>
                <a:rPr kumimoji="0" lang="en-US" altLang="zh-CN" sz="2400">
                  <a:latin typeface="Arial Narrow" pitchFamily="34" charset="0"/>
                  <a:ea typeface="宋体" charset="-122"/>
                </a:rPr>
                <a:t>.</a:t>
              </a:r>
              <a:endParaRPr kumimoji="0" lang="en-US" altLang="zh-CN" sz="2400" i="1">
                <a:latin typeface="Arial Narrow" pitchFamily="34" charset="0"/>
                <a:ea typeface="宋体" charset="-122"/>
              </a:endParaRPr>
            </a:p>
            <a:p>
              <a:pPr algn="l">
                <a:lnSpc>
                  <a:spcPct val="90000"/>
                </a:lnSpc>
                <a:spcBef>
                  <a:spcPct val="5000"/>
                </a:spcBef>
                <a:buFontTx/>
                <a:buAutoNum type="arabicPeriod"/>
              </a:pPr>
              <a:r>
                <a:rPr kumimoji="0" lang="zh-CN" altLang="en-US" sz="2400">
                  <a:solidFill>
                    <a:schemeClr val="accent2"/>
                  </a:solidFill>
                  <a:latin typeface="Arial Narrow" pitchFamily="34" charset="0"/>
                </a:rPr>
                <a:t>应用程序</a:t>
              </a:r>
              <a:r>
                <a:rPr kumimoji="0" lang="zh-CN" altLang="en-US" sz="2400">
                  <a:latin typeface="Arial Narrow" pitchFamily="34" charset="0"/>
                </a:rPr>
                <a:t>提示输入租用时间</a:t>
              </a:r>
              <a:r>
                <a:rPr kumimoji="0" lang="en-US" altLang="zh-CN" sz="2400">
                  <a:latin typeface="Arial Narrow" pitchFamily="34" charset="0"/>
                  <a:ea typeface="宋体" charset="-122"/>
                </a:rPr>
                <a:t>.</a:t>
              </a:r>
            </a:p>
            <a:p>
              <a:pPr algn="l">
                <a:lnSpc>
                  <a:spcPct val="90000"/>
                </a:lnSpc>
                <a:spcBef>
                  <a:spcPct val="5000"/>
                </a:spcBef>
                <a:buFontTx/>
                <a:buAutoNum type="arabicPeriod"/>
              </a:pPr>
              <a:r>
                <a:rPr kumimoji="0" lang="zh-CN" altLang="en-US" sz="2400">
                  <a:solidFill>
                    <a:schemeClr val="accent2"/>
                  </a:solidFill>
                  <a:latin typeface="Arial Narrow" pitchFamily="34" charset="0"/>
                </a:rPr>
                <a:t>执行者</a:t>
              </a:r>
              <a:r>
                <a:rPr kumimoji="0" lang="zh-CN" altLang="en-US" sz="2400">
                  <a:latin typeface="Arial Narrow" pitchFamily="34" charset="0"/>
                </a:rPr>
                <a:t>输入租用时间</a:t>
              </a:r>
              <a:r>
                <a:rPr kumimoji="0" lang="en-US" altLang="zh-CN" sz="2400">
                  <a:latin typeface="Arial Narrow" pitchFamily="34" charset="0"/>
                  <a:ea typeface="宋体" charset="-122"/>
                </a:rPr>
                <a:t>.</a:t>
              </a:r>
            </a:p>
            <a:p>
              <a:pPr algn="l">
                <a:lnSpc>
                  <a:spcPct val="90000"/>
                </a:lnSpc>
                <a:spcBef>
                  <a:spcPct val="5000"/>
                </a:spcBef>
                <a:buFontTx/>
                <a:buAutoNum type="arabicPeriod"/>
              </a:pPr>
              <a:r>
                <a:rPr kumimoji="0" lang="zh-CN" altLang="en-US" sz="2400">
                  <a:solidFill>
                    <a:schemeClr val="accent2"/>
                  </a:solidFill>
                  <a:latin typeface="Arial Narrow" pitchFamily="34" charset="0"/>
                </a:rPr>
                <a:t>应用程序</a:t>
              </a:r>
              <a:r>
                <a:rPr kumimoji="0" lang="zh-CN" altLang="en-US" sz="2400">
                  <a:latin typeface="Arial Narrow" pitchFamily="34" charset="0"/>
                </a:rPr>
                <a:t>保存记录</a:t>
              </a:r>
              <a:r>
                <a:rPr kumimoji="0" lang="en-US" altLang="zh-CN" sz="2400">
                  <a:latin typeface="Arial Narrow" pitchFamily="34" charset="0"/>
                  <a:ea typeface="宋体" charset="-122"/>
                </a:rPr>
                <a:t>.</a:t>
              </a:r>
            </a:p>
            <a:p>
              <a:pPr algn="l">
                <a:lnSpc>
                  <a:spcPct val="90000"/>
                </a:lnSpc>
                <a:spcBef>
                  <a:spcPct val="5000"/>
                </a:spcBef>
                <a:buFontTx/>
                <a:buAutoNum type="arabicPeriod"/>
              </a:pPr>
              <a:r>
                <a:rPr kumimoji="0" lang="zh-CN" altLang="en-US" sz="2400">
                  <a:solidFill>
                    <a:schemeClr val="accent2"/>
                  </a:solidFill>
                </a:rPr>
                <a:t>应用程序</a:t>
              </a:r>
              <a:r>
                <a:rPr kumimoji="0" lang="zh-CN" altLang="en-US" sz="2400"/>
                <a:t>打印顾客账户状态</a:t>
              </a:r>
              <a:r>
                <a:rPr kumimoji="0" lang="en-US" altLang="zh-CN" sz="2400"/>
                <a:t>.</a:t>
              </a:r>
            </a:p>
          </p:txBody>
        </p:sp>
      </p:grpSp>
      <p:sp>
        <p:nvSpPr>
          <p:cNvPr id="17412" name="Text Box 52"/>
          <p:cNvSpPr txBox="1">
            <a:spLocks noChangeArrowheads="1"/>
          </p:cNvSpPr>
          <p:nvPr/>
        </p:nvSpPr>
        <p:spPr bwMode="auto">
          <a:xfrm>
            <a:off x="228600" y="3200400"/>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r>
              <a:rPr kumimoji="0" lang="zh-CN" altLang="en-US" sz="2400" u="sng">
                <a:solidFill>
                  <a:schemeClr val="accent2"/>
                </a:solidFill>
                <a:latin typeface="Arial Narrow" pitchFamily="34" charset="0"/>
              </a:rPr>
              <a:t>售货员</a:t>
            </a:r>
          </a:p>
        </p:txBody>
      </p:sp>
      <p:sp>
        <p:nvSpPr>
          <p:cNvPr id="17413" name="Text Box 53"/>
          <p:cNvSpPr txBox="1">
            <a:spLocks noChangeArrowheads="1"/>
          </p:cNvSpPr>
          <p:nvPr/>
        </p:nvSpPr>
        <p:spPr bwMode="auto">
          <a:xfrm>
            <a:off x="228600" y="6096000"/>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r>
              <a:rPr kumimoji="0" lang="zh-CN" altLang="en-US" sz="2400" u="sng">
                <a:solidFill>
                  <a:schemeClr val="accent2"/>
                </a:solidFill>
                <a:latin typeface="Arial Narrow" pitchFamily="34" charset="0"/>
              </a:rPr>
              <a:t>库存员</a:t>
            </a:r>
          </a:p>
        </p:txBody>
      </p:sp>
    </p:spTree>
    <p:extLst>
      <p:ext uri="{BB962C8B-B14F-4D97-AF65-F5344CB8AC3E}">
        <p14:creationId xmlns:p14="http://schemas.microsoft.com/office/powerpoint/2010/main" val="4277187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用例</a:t>
            </a:r>
          </a:p>
        </p:txBody>
      </p:sp>
      <p:sp>
        <p:nvSpPr>
          <p:cNvPr id="18435" name="Rectangle 3"/>
          <p:cNvSpPr>
            <a:spLocks noGrp="1" noChangeArrowheads="1"/>
          </p:cNvSpPr>
          <p:nvPr>
            <p:ph type="body" idx="1"/>
          </p:nvPr>
        </p:nvSpPr>
        <p:spPr>
          <a:xfrm>
            <a:off x="457200" y="1600200"/>
            <a:ext cx="8458200" cy="4267200"/>
          </a:xfrm>
        </p:spPr>
        <p:txBody>
          <a:bodyPr/>
          <a:lstStyle/>
          <a:p>
            <a:pPr eaLnBrk="1" hangingPunct="1"/>
            <a:r>
              <a:rPr lang="zh-CN" altLang="en-US" b="1" smtClean="0">
                <a:ea typeface="楷体_GB2312" pitchFamily="49" charset="-122"/>
              </a:rPr>
              <a:t>执行者不一定是人，也可以是使用这个应用程序的另一个系统。</a:t>
            </a:r>
          </a:p>
          <a:p>
            <a:pPr eaLnBrk="1" hangingPunct="1"/>
            <a:endParaRPr lang="zh-CN" altLang="en-US" b="1" smtClean="0">
              <a:ea typeface="楷体_GB2312" pitchFamily="49" charset="-122"/>
            </a:endParaRPr>
          </a:p>
          <a:p>
            <a:pPr eaLnBrk="1" hangingPunct="1"/>
            <a:r>
              <a:rPr lang="zh-CN" altLang="en-US" b="1" smtClean="0">
                <a:ea typeface="楷体_GB2312" pitchFamily="49" charset="-122"/>
              </a:rPr>
              <a:t>用例只能处理有限的分支，如果有一级以上的分支，则应该将用例分解为不含分支的更小的用例。</a:t>
            </a:r>
          </a:p>
          <a:p>
            <a:pPr eaLnBrk="1" hangingPunct="1"/>
            <a:endParaRPr lang="en-US" altLang="zh-CN" b="1" smtClean="0">
              <a:ea typeface="楷体_GB2312" pitchFamily="49" charset="-122"/>
            </a:endParaRPr>
          </a:p>
        </p:txBody>
      </p:sp>
    </p:spTree>
    <p:extLst>
      <p:ext uri="{BB962C8B-B14F-4D97-AF65-F5344CB8AC3E}">
        <p14:creationId xmlns:p14="http://schemas.microsoft.com/office/powerpoint/2010/main" val="364594059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Oval 4"/>
          <p:cNvSpPr>
            <a:spLocks noChangeArrowheads="1"/>
          </p:cNvSpPr>
          <p:nvPr/>
        </p:nvSpPr>
        <p:spPr bwMode="auto">
          <a:xfrm>
            <a:off x="754063" y="3748088"/>
            <a:ext cx="304800" cy="304800"/>
          </a:xfrm>
          <a:prstGeom prst="ellipse">
            <a:avLst/>
          </a:prstGeom>
          <a:solidFill>
            <a:schemeClr val="bg1"/>
          </a:solidFill>
          <a:ln>
            <a:noFill/>
          </a:ln>
          <a:extLs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zh-CN" altLang="en-US"/>
          </a:p>
        </p:txBody>
      </p:sp>
      <p:sp>
        <p:nvSpPr>
          <p:cNvPr id="19459" name="Text Box 5"/>
          <p:cNvSpPr txBox="1">
            <a:spLocks noChangeArrowheads="1"/>
          </p:cNvSpPr>
          <p:nvPr/>
        </p:nvSpPr>
        <p:spPr bwMode="auto">
          <a:xfrm>
            <a:off x="328613" y="4648200"/>
            <a:ext cx="874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r>
              <a:rPr kumimoji="0" lang="zh-CN" altLang="en-US" sz="1800">
                <a:latin typeface="Arial Narrow" pitchFamily="34" charset="0"/>
              </a:rPr>
              <a:t>调度员</a:t>
            </a:r>
          </a:p>
        </p:txBody>
      </p:sp>
      <p:sp>
        <p:nvSpPr>
          <p:cNvPr id="19460" name="Text Box 6"/>
          <p:cNvSpPr txBox="1">
            <a:spLocks noChangeArrowheads="1"/>
          </p:cNvSpPr>
          <p:nvPr/>
        </p:nvSpPr>
        <p:spPr bwMode="auto">
          <a:xfrm>
            <a:off x="287338" y="1676400"/>
            <a:ext cx="12366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r>
              <a:rPr kumimoji="0" lang="zh-CN" altLang="en-US" sz="1800">
                <a:latin typeface="Arial Narrow" pitchFamily="34" charset="0"/>
              </a:rPr>
              <a:t>仓库工人</a:t>
            </a:r>
          </a:p>
        </p:txBody>
      </p:sp>
      <p:sp>
        <p:nvSpPr>
          <p:cNvPr id="19461" name="Oval 7"/>
          <p:cNvSpPr>
            <a:spLocks noChangeArrowheads="1"/>
          </p:cNvSpPr>
          <p:nvPr/>
        </p:nvSpPr>
        <p:spPr bwMode="auto">
          <a:xfrm>
            <a:off x="762000" y="990600"/>
            <a:ext cx="304800" cy="304800"/>
          </a:xfrm>
          <a:prstGeom prst="ellipse">
            <a:avLst/>
          </a:prstGeom>
          <a:solidFill>
            <a:schemeClr val="bg1"/>
          </a:solidFill>
          <a:ln>
            <a:noFill/>
          </a:ln>
          <a:extLs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zh-CN" altLang="en-US"/>
          </a:p>
        </p:txBody>
      </p:sp>
      <p:sp>
        <p:nvSpPr>
          <p:cNvPr id="19462" name="Oval 8"/>
          <p:cNvSpPr>
            <a:spLocks noChangeArrowheads="1"/>
          </p:cNvSpPr>
          <p:nvPr/>
        </p:nvSpPr>
        <p:spPr bwMode="auto">
          <a:xfrm>
            <a:off x="762000" y="3851275"/>
            <a:ext cx="304800" cy="304800"/>
          </a:xfrm>
          <a:prstGeom prst="ellipse">
            <a:avLst/>
          </a:prstGeom>
          <a:solidFill>
            <a:schemeClr val="bg1"/>
          </a:solidFill>
          <a:ln>
            <a:noFill/>
          </a:ln>
          <a:extLs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zh-CN" altLang="en-US"/>
          </a:p>
        </p:txBody>
      </p:sp>
      <p:sp>
        <p:nvSpPr>
          <p:cNvPr id="19463" name="Rectangle 9"/>
          <p:cNvSpPr>
            <a:spLocks noGrp="1" noChangeArrowheads="1"/>
          </p:cNvSpPr>
          <p:nvPr>
            <p:ph type="title"/>
          </p:nvPr>
        </p:nvSpPr>
        <p:spPr>
          <a:xfrm>
            <a:off x="1371600" y="228600"/>
            <a:ext cx="3352800" cy="515938"/>
          </a:xfrm>
          <a:noFill/>
        </p:spPr>
        <p:txBody>
          <a:bodyPr lIns="90488" tIns="44450" rIns="90488" bIns="44450" anchor="b">
            <a:spAutoFit/>
          </a:bodyPr>
          <a:lstStyle/>
          <a:p>
            <a:pPr eaLnBrk="1" hangingPunct="1"/>
            <a:r>
              <a:rPr lang="zh-CN" altLang="en-US" sz="2800" b="1" smtClean="0">
                <a:solidFill>
                  <a:schemeClr val="accent2"/>
                </a:solidFill>
                <a:latin typeface="楷体_GB2312" pitchFamily="49" charset="-122"/>
                <a:ea typeface="楷体_GB2312" pitchFamily="49" charset="-122"/>
              </a:rPr>
              <a:t>用例的总结和用法</a:t>
            </a:r>
          </a:p>
        </p:txBody>
      </p:sp>
      <p:sp>
        <p:nvSpPr>
          <p:cNvPr id="19464" name="Line 10"/>
          <p:cNvSpPr>
            <a:spLocks noChangeShapeType="1"/>
          </p:cNvSpPr>
          <p:nvPr/>
        </p:nvSpPr>
        <p:spPr bwMode="auto">
          <a:xfrm>
            <a:off x="906463" y="3429000"/>
            <a:ext cx="0" cy="60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5" name="Line 11"/>
          <p:cNvSpPr>
            <a:spLocks noChangeShapeType="1"/>
          </p:cNvSpPr>
          <p:nvPr/>
        </p:nvSpPr>
        <p:spPr bwMode="auto">
          <a:xfrm flipH="1">
            <a:off x="506413" y="4027488"/>
            <a:ext cx="381000" cy="60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6" name="Line 12"/>
          <p:cNvSpPr>
            <a:spLocks noChangeShapeType="1"/>
          </p:cNvSpPr>
          <p:nvPr/>
        </p:nvSpPr>
        <p:spPr bwMode="auto">
          <a:xfrm>
            <a:off x="887413" y="4027488"/>
            <a:ext cx="228600" cy="60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7" name="Line 13"/>
          <p:cNvSpPr>
            <a:spLocks noChangeShapeType="1"/>
          </p:cNvSpPr>
          <p:nvPr/>
        </p:nvSpPr>
        <p:spPr bwMode="auto">
          <a:xfrm flipH="1" flipV="1">
            <a:off x="563563" y="3733800"/>
            <a:ext cx="6858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8" name="Oval 14"/>
          <p:cNvSpPr>
            <a:spLocks noChangeArrowheads="1"/>
          </p:cNvSpPr>
          <p:nvPr/>
        </p:nvSpPr>
        <p:spPr bwMode="auto">
          <a:xfrm>
            <a:off x="754063" y="3200400"/>
            <a:ext cx="304800" cy="304800"/>
          </a:xfrm>
          <a:prstGeom prst="ellipse">
            <a:avLst/>
          </a:prstGeom>
          <a:solidFill>
            <a:schemeClr val="bg1"/>
          </a:solidFill>
          <a:ln w="19050">
            <a:solidFill>
              <a:schemeClr val="tx1"/>
            </a:solidFill>
            <a:round/>
            <a:headEnd/>
            <a:tailEnd/>
          </a:ln>
        </p:spPr>
        <p:txBody>
          <a:bodyPr wrap="none" anchor="ctr"/>
          <a:lstStyle/>
          <a:p>
            <a:endParaRPr lang="zh-CN" altLang="en-US"/>
          </a:p>
        </p:txBody>
      </p:sp>
      <p:sp>
        <p:nvSpPr>
          <p:cNvPr id="19469" name="Text Box 15"/>
          <p:cNvSpPr txBox="1">
            <a:spLocks noChangeArrowheads="1"/>
          </p:cNvSpPr>
          <p:nvPr/>
        </p:nvSpPr>
        <p:spPr bwMode="auto">
          <a:xfrm>
            <a:off x="5105400" y="152400"/>
            <a:ext cx="3206750" cy="885825"/>
          </a:xfrm>
          <a:prstGeom prst="rect">
            <a:avLst/>
          </a:prstGeom>
          <a:solidFill>
            <a:srgbClr val="FFFFD9"/>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spcBef>
                <a:spcPts val="500"/>
              </a:spcBef>
              <a:spcAft>
                <a:spcPts val="500"/>
              </a:spcAft>
            </a:pPr>
            <a:r>
              <a:rPr kumimoji="0" lang="en-US" altLang="zh-CN" sz="2000">
                <a:latin typeface="Arial Narrow" pitchFamily="34" charset="0"/>
                <a:ea typeface="宋体" charset="-122"/>
                <a:cs typeface="Times New Roman" pitchFamily="18" charset="0"/>
              </a:rPr>
              <a:t>A.</a:t>
            </a:r>
            <a:r>
              <a:rPr kumimoji="0" lang="en-US" altLang="zh-CN" sz="2000" i="1">
                <a:latin typeface="Arial Narrow" pitchFamily="34" charset="0"/>
                <a:ea typeface="宋体" charset="-122"/>
                <a:cs typeface="Times New Roman" pitchFamily="18" charset="0"/>
              </a:rPr>
              <a:t> </a:t>
            </a:r>
            <a:r>
              <a:rPr kumimoji="0" lang="zh-CN" altLang="en-US" sz="2400">
                <a:solidFill>
                  <a:schemeClr val="accent2"/>
                </a:solidFill>
                <a:latin typeface="Arial Narrow" pitchFamily="34" charset="0"/>
                <a:ea typeface="宋体" charset="-122"/>
                <a:cs typeface="Times New Roman" pitchFamily="18" charset="0"/>
              </a:rPr>
              <a:t>应用程序</a:t>
            </a:r>
            <a:r>
              <a:rPr kumimoji="0" lang="zh-CN" altLang="en-US" sz="2400">
                <a:latin typeface="Arial Narrow" pitchFamily="34" charset="0"/>
                <a:ea typeface="宋体" charset="-122"/>
                <a:cs typeface="Times New Roman" pitchFamily="18" charset="0"/>
              </a:rPr>
              <a:t>显示主选项</a:t>
            </a:r>
          </a:p>
          <a:p>
            <a:pPr algn="l">
              <a:spcBef>
                <a:spcPct val="0"/>
              </a:spcBef>
            </a:pPr>
            <a:r>
              <a:rPr kumimoji="0" lang="en-US" altLang="zh-CN" sz="2000">
                <a:latin typeface="Arial Narrow" pitchFamily="34" charset="0"/>
                <a:ea typeface="宋体" charset="-122"/>
                <a:cs typeface="Times New Roman" pitchFamily="18" charset="0"/>
              </a:rPr>
              <a:t>B.</a:t>
            </a:r>
            <a:r>
              <a:rPr kumimoji="0" lang="en-US" altLang="zh-CN" sz="2000" i="1">
                <a:latin typeface="Arial Narrow" pitchFamily="34" charset="0"/>
                <a:ea typeface="宋体" charset="-122"/>
                <a:cs typeface="Times New Roman" pitchFamily="18" charset="0"/>
              </a:rPr>
              <a:t> </a:t>
            </a:r>
            <a:r>
              <a:rPr kumimoji="0" lang="zh-CN" altLang="en-US" sz="2400">
                <a:solidFill>
                  <a:schemeClr val="accent2"/>
                </a:solidFill>
                <a:latin typeface="Arial Narrow" pitchFamily="34" charset="0"/>
                <a:ea typeface="宋体" charset="-122"/>
                <a:cs typeface="Times New Roman" pitchFamily="18" charset="0"/>
              </a:rPr>
              <a:t>用户</a:t>
            </a:r>
            <a:r>
              <a:rPr kumimoji="0" lang="zh-CN" altLang="en-US" sz="2400">
                <a:latin typeface="Arial Narrow" pitchFamily="34" charset="0"/>
                <a:ea typeface="宋体" charset="-122"/>
                <a:cs typeface="Times New Roman" pitchFamily="18" charset="0"/>
              </a:rPr>
              <a:t>选择图标</a:t>
            </a:r>
          </a:p>
        </p:txBody>
      </p:sp>
      <p:sp>
        <p:nvSpPr>
          <p:cNvPr id="19470" name="Oval 16"/>
          <p:cNvSpPr>
            <a:spLocks noChangeArrowheads="1"/>
          </p:cNvSpPr>
          <p:nvPr/>
        </p:nvSpPr>
        <p:spPr bwMode="auto">
          <a:xfrm>
            <a:off x="2092325" y="2819400"/>
            <a:ext cx="2371725" cy="542925"/>
          </a:xfrm>
          <a:prstGeom prst="ellipse">
            <a:avLst/>
          </a:prstGeom>
          <a:solidFill>
            <a:schemeClr val="bg1"/>
          </a:solidFill>
          <a:ln w="19050">
            <a:solidFill>
              <a:schemeClr val="tx1"/>
            </a:solidFill>
            <a:round/>
            <a:headEnd/>
            <a:tailEnd/>
          </a:ln>
        </p:spPr>
        <p:txBody>
          <a:bodyPr wrap="none" anchor="ctr">
            <a:spAutoFit/>
          </a:bodyPr>
          <a:lstStyle/>
          <a:p>
            <a:pPr eaLnBrk="0" hangingPunct="0">
              <a:spcBef>
                <a:spcPct val="0"/>
              </a:spcBef>
            </a:pPr>
            <a:r>
              <a:rPr kumimoji="0" lang="zh-CN" altLang="en-US" sz="2000">
                <a:latin typeface="Arial Narrow" pitchFamily="34" charset="0"/>
              </a:rPr>
              <a:t>控制应用程序</a:t>
            </a:r>
          </a:p>
        </p:txBody>
      </p:sp>
      <p:sp>
        <p:nvSpPr>
          <p:cNvPr id="19471" name="Oval 17"/>
          <p:cNvSpPr>
            <a:spLocks noChangeArrowheads="1"/>
          </p:cNvSpPr>
          <p:nvPr/>
        </p:nvSpPr>
        <p:spPr bwMode="auto">
          <a:xfrm>
            <a:off x="5578475" y="1440804"/>
            <a:ext cx="3094038" cy="398169"/>
          </a:xfrm>
          <a:prstGeom prst="ellipse">
            <a:avLst/>
          </a:prstGeom>
          <a:solidFill>
            <a:schemeClr val="bg1"/>
          </a:solidFill>
          <a:ln w="19050">
            <a:solidFill>
              <a:schemeClr val="tx1"/>
            </a:solidFill>
            <a:round/>
            <a:headEnd/>
            <a:tailEnd/>
          </a:ln>
        </p:spPr>
        <p:txBody>
          <a:bodyPr tIns="137160" anchor="ctr">
            <a:spAutoFit/>
          </a:bodyPr>
          <a:lstStyle/>
          <a:p>
            <a:pPr eaLnBrk="0" hangingPunct="0">
              <a:lnSpc>
                <a:spcPct val="40000"/>
              </a:lnSpc>
              <a:spcBef>
                <a:spcPct val="0"/>
              </a:spcBef>
            </a:pPr>
            <a:r>
              <a:rPr kumimoji="0" lang="zh-CN" altLang="en-US" sz="1600" dirty="0">
                <a:latin typeface="Arial Narrow" pitchFamily="34" charset="0"/>
              </a:rPr>
              <a:t>执行仓库事务处理</a:t>
            </a:r>
          </a:p>
        </p:txBody>
      </p:sp>
      <p:sp>
        <p:nvSpPr>
          <p:cNvPr id="19472" name="AutoShape 18"/>
          <p:cNvSpPr>
            <a:spLocks noChangeArrowheads="1"/>
          </p:cNvSpPr>
          <p:nvPr/>
        </p:nvSpPr>
        <p:spPr bwMode="auto">
          <a:xfrm>
            <a:off x="6970713" y="2022475"/>
            <a:ext cx="304800" cy="304800"/>
          </a:xfrm>
          <a:prstGeom prst="triangle">
            <a:avLst>
              <a:gd name="adj" fmla="val 50000"/>
            </a:avLst>
          </a:prstGeom>
          <a:solidFill>
            <a:schemeClr val="bg1"/>
          </a:solidFill>
          <a:ln w="19050">
            <a:solidFill>
              <a:schemeClr val="tx1"/>
            </a:solidFill>
            <a:miter lim="800000"/>
            <a:headEnd/>
            <a:tailEnd/>
          </a:ln>
        </p:spPr>
        <p:txBody>
          <a:bodyPr wrap="none" anchor="ctr"/>
          <a:lstStyle/>
          <a:p>
            <a:endParaRPr lang="zh-CN" altLang="en-US"/>
          </a:p>
        </p:txBody>
      </p:sp>
      <p:sp>
        <p:nvSpPr>
          <p:cNvPr id="19473" name="Oval 19"/>
          <p:cNvSpPr>
            <a:spLocks noChangeArrowheads="1"/>
          </p:cNvSpPr>
          <p:nvPr/>
        </p:nvSpPr>
        <p:spPr bwMode="auto">
          <a:xfrm>
            <a:off x="6299200" y="3724275"/>
            <a:ext cx="1649413" cy="542925"/>
          </a:xfrm>
          <a:prstGeom prst="ellipse">
            <a:avLst/>
          </a:prstGeom>
          <a:solidFill>
            <a:schemeClr val="bg1"/>
          </a:solidFill>
          <a:ln w="19050">
            <a:solidFill>
              <a:schemeClr val="tx1"/>
            </a:solidFill>
            <a:round/>
            <a:headEnd/>
            <a:tailEnd/>
          </a:ln>
        </p:spPr>
        <p:txBody>
          <a:bodyPr wrap="none" anchor="ctr">
            <a:spAutoFit/>
          </a:bodyPr>
          <a:lstStyle/>
          <a:p>
            <a:pPr eaLnBrk="0" hangingPunct="0">
              <a:spcBef>
                <a:spcPct val="0"/>
              </a:spcBef>
            </a:pPr>
            <a:r>
              <a:rPr kumimoji="0" lang="zh-CN" altLang="en-US" sz="2000">
                <a:latin typeface="Arial Narrow" pitchFamily="34" charset="0"/>
              </a:rPr>
              <a:t>更改库存</a:t>
            </a:r>
          </a:p>
        </p:txBody>
      </p:sp>
      <p:cxnSp>
        <p:nvCxnSpPr>
          <p:cNvPr id="19474" name="AutoShape 20"/>
          <p:cNvCxnSpPr>
            <a:cxnSpLocks noChangeShapeType="1"/>
            <a:stCxn id="19473" idx="0"/>
            <a:endCxn id="19472" idx="3"/>
          </p:cNvCxnSpPr>
          <p:nvPr/>
        </p:nvCxnSpPr>
        <p:spPr bwMode="auto">
          <a:xfrm rot="5400000" flipH="1">
            <a:off x="6434932" y="3024981"/>
            <a:ext cx="1377950" cy="1587"/>
          </a:xfrm>
          <a:prstGeom prst="bentConnector3">
            <a:avLst>
              <a:gd name="adj1" fmla="val 50000"/>
            </a:avLst>
          </a:prstGeom>
          <a:noFill/>
          <a:ln w="19050">
            <a:solidFill>
              <a:schemeClr val="tx1"/>
            </a:solidFill>
            <a:miter lim="800000"/>
            <a:headEnd/>
            <a:tailEnd/>
          </a:ln>
          <a:extLst>
            <a:ext uri="{909E8E84-426E-40DD-AFC4-6F175D3DCCD1}">
              <a14:hiddenFill xmlns:a14="http://schemas.microsoft.com/office/drawing/2010/main">
                <a:noFill/>
              </a14:hiddenFill>
            </a:ext>
          </a:extLst>
        </p:spPr>
      </p:cxnSp>
      <p:cxnSp>
        <p:nvCxnSpPr>
          <p:cNvPr id="19475" name="AutoShape 21"/>
          <p:cNvCxnSpPr>
            <a:cxnSpLocks noChangeShapeType="1"/>
            <a:stCxn id="19473" idx="2"/>
            <a:endCxn id="19462" idx="6"/>
          </p:cNvCxnSpPr>
          <p:nvPr/>
        </p:nvCxnSpPr>
        <p:spPr bwMode="auto">
          <a:xfrm flipH="1">
            <a:off x="1066800" y="3995738"/>
            <a:ext cx="5222875" cy="7937"/>
          </a:xfrm>
          <a:prstGeom prst="straightConnector1">
            <a:avLst/>
          </a:prstGeom>
          <a:noFill/>
          <a:ln w="19050">
            <a:solidFill>
              <a:srgbClr val="FF0000"/>
            </a:solidFill>
            <a:round/>
            <a:headEnd/>
            <a:tailEnd/>
          </a:ln>
          <a:extLst>
            <a:ext uri="{909E8E84-426E-40DD-AFC4-6F175D3DCCD1}">
              <a14:hiddenFill xmlns:a14="http://schemas.microsoft.com/office/drawing/2010/main">
                <a:noFill/>
              </a14:hiddenFill>
            </a:ext>
          </a:extLst>
        </p:spPr>
      </p:cxnSp>
      <p:sp>
        <p:nvSpPr>
          <p:cNvPr id="19476" name="Line 22"/>
          <p:cNvSpPr>
            <a:spLocks noChangeShapeType="1"/>
          </p:cNvSpPr>
          <p:nvPr/>
        </p:nvSpPr>
        <p:spPr bwMode="auto">
          <a:xfrm>
            <a:off x="906463" y="457200"/>
            <a:ext cx="0" cy="60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7" name="Line 23"/>
          <p:cNvSpPr>
            <a:spLocks noChangeShapeType="1"/>
          </p:cNvSpPr>
          <p:nvPr/>
        </p:nvSpPr>
        <p:spPr bwMode="auto">
          <a:xfrm flipH="1">
            <a:off x="511175" y="1055688"/>
            <a:ext cx="381000" cy="60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8" name="Line 24"/>
          <p:cNvSpPr>
            <a:spLocks noChangeShapeType="1"/>
          </p:cNvSpPr>
          <p:nvPr/>
        </p:nvSpPr>
        <p:spPr bwMode="auto">
          <a:xfrm>
            <a:off x="892175" y="1055688"/>
            <a:ext cx="228600" cy="60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9" name="Line 25"/>
          <p:cNvSpPr>
            <a:spLocks noChangeShapeType="1"/>
          </p:cNvSpPr>
          <p:nvPr/>
        </p:nvSpPr>
        <p:spPr bwMode="auto">
          <a:xfrm flipH="1" flipV="1">
            <a:off x="563563" y="762000"/>
            <a:ext cx="6858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0" name="Oval 26"/>
          <p:cNvSpPr>
            <a:spLocks noChangeArrowheads="1"/>
          </p:cNvSpPr>
          <p:nvPr/>
        </p:nvSpPr>
        <p:spPr bwMode="auto">
          <a:xfrm>
            <a:off x="754063" y="228600"/>
            <a:ext cx="304800" cy="304800"/>
          </a:xfrm>
          <a:prstGeom prst="ellipse">
            <a:avLst/>
          </a:prstGeom>
          <a:solidFill>
            <a:schemeClr val="bg1"/>
          </a:solidFill>
          <a:ln w="19050">
            <a:solidFill>
              <a:schemeClr val="tx1"/>
            </a:solidFill>
            <a:round/>
            <a:headEnd/>
            <a:tailEnd/>
          </a:ln>
        </p:spPr>
        <p:txBody>
          <a:bodyPr wrap="none" anchor="ctr"/>
          <a:lstStyle/>
          <a:p>
            <a:endParaRPr lang="zh-CN" altLang="en-US"/>
          </a:p>
        </p:txBody>
      </p:sp>
      <p:sp>
        <p:nvSpPr>
          <p:cNvPr id="19481" name="AutoShape 27"/>
          <p:cNvSpPr>
            <a:spLocks noChangeArrowheads="1"/>
          </p:cNvSpPr>
          <p:nvPr/>
        </p:nvSpPr>
        <p:spPr bwMode="auto">
          <a:xfrm>
            <a:off x="754063" y="2286000"/>
            <a:ext cx="304800" cy="304800"/>
          </a:xfrm>
          <a:prstGeom prst="triangle">
            <a:avLst>
              <a:gd name="adj" fmla="val 50000"/>
            </a:avLst>
          </a:prstGeom>
          <a:solidFill>
            <a:schemeClr val="bg1"/>
          </a:solidFill>
          <a:ln w="19050">
            <a:solidFill>
              <a:schemeClr val="tx1"/>
            </a:solidFill>
            <a:miter lim="800000"/>
            <a:headEnd/>
            <a:tailEnd/>
          </a:ln>
        </p:spPr>
        <p:txBody>
          <a:bodyPr wrap="none" anchor="ctr"/>
          <a:lstStyle/>
          <a:p>
            <a:endParaRPr lang="zh-CN" altLang="en-US"/>
          </a:p>
        </p:txBody>
      </p:sp>
      <p:cxnSp>
        <p:nvCxnSpPr>
          <p:cNvPr id="19482" name="AutoShape 28"/>
          <p:cNvCxnSpPr>
            <a:cxnSpLocks noChangeShapeType="1"/>
            <a:endCxn id="19481" idx="3"/>
          </p:cNvCxnSpPr>
          <p:nvPr/>
        </p:nvCxnSpPr>
        <p:spPr bwMode="auto">
          <a:xfrm rot="-5400000">
            <a:off x="692150" y="2814638"/>
            <a:ext cx="428625" cy="0"/>
          </a:xfrm>
          <a:prstGeom prst="straightConnector1">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19483" name="AutoShape 29"/>
          <p:cNvCxnSpPr>
            <a:cxnSpLocks noChangeShapeType="1"/>
            <a:stCxn id="19473" idx="4"/>
            <a:endCxn id="19491" idx="0"/>
          </p:cNvCxnSpPr>
          <p:nvPr/>
        </p:nvCxnSpPr>
        <p:spPr bwMode="auto">
          <a:xfrm>
            <a:off x="7124700" y="4276725"/>
            <a:ext cx="9525" cy="636588"/>
          </a:xfrm>
          <a:prstGeom prst="straightConnector1">
            <a:avLst/>
          </a:prstGeom>
          <a:noFill/>
          <a:ln w="19050" cap="rnd">
            <a:solidFill>
              <a:schemeClr val="tx1"/>
            </a:solidFill>
            <a:prstDash val="sysDot"/>
            <a:round/>
            <a:headEnd/>
            <a:tailEnd/>
          </a:ln>
          <a:extLst>
            <a:ext uri="{909E8E84-426E-40DD-AFC4-6F175D3DCCD1}">
              <a14:hiddenFill xmlns:a14="http://schemas.microsoft.com/office/drawing/2010/main">
                <a:noFill/>
              </a14:hiddenFill>
            </a:ext>
          </a:extLst>
        </p:spPr>
      </p:cxnSp>
      <p:cxnSp>
        <p:nvCxnSpPr>
          <p:cNvPr id="19484" name="AutoShape 30"/>
          <p:cNvCxnSpPr>
            <a:cxnSpLocks noChangeShapeType="1"/>
            <a:stCxn id="19471" idx="0"/>
            <a:endCxn id="19469" idx="2"/>
          </p:cNvCxnSpPr>
          <p:nvPr/>
        </p:nvCxnSpPr>
        <p:spPr bwMode="auto">
          <a:xfrm flipH="1" flipV="1">
            <a:off x="6708775" y="1038225"/>
            <a:ext cx="416719" cy="402579"/>
          </a:xfrm>
          <a:prstGeom prst="straightConnector1">
            <a:avLst/>
          </a:prstGeom>
          <a:noFill/>
          <a:ln w="19050" cap="rnd">
            <a:solidFill>
              <a:schemeClr val="tx1"/>
            </a:solidFill>
            <a:prstDash val="sysDot"/>
            <a:round/>
            <a:headEnd/>
            <a:tailEnd/>
          </a:ln>
          <a:extLst>
            <a:ext uri="{909E8E84-426E-40DD-AFC4-6F175D3DCCD1}">
              <a14:hiddenFill xmlns:a14="http://schemas.microsoft.com/office/drawing/2010/main">
                <a:noFill/>
              </a14:hiddenFill>
            </a:ext>
          </a:extLst>
        </p:spPr>
      </p:cxnSp>
      <p:cxnSp>
        <p:nvCxnSpPr>
          <p:cNvPr id="19485" name="AutoShape 31"/>
          <p:cNvCxnSpPr>
            <a:cxnSpLocks noChangeShapeType="1"/>
            <a:stCxn id="19471" idx="2"/>
            <a:endCxn id="19461" idx="6"/>
          </p:cNvCxnSpPr>
          <p:nvPr/>
        </p:nvCxnSpPr>
        <p:spPr bwMode="auto">
          <a:xfrm flipH="1" flipV="1">
            <a:off x="1066800" y="1143000"/>
            <a:ext cx="4511675" cy="496889"/>
          </a:xfrm>
          <a:prstGeom prst="straightConnector1">
            <a:avLst/>
          </a:prstGeom>
          <a:noFill/>
          <a:ln w="19050">
            <a:solidFill>
              <a:srgbClr val="FF0000"/>
            </a:solidFill>
            <a:round/>
            <a:headEnd/>
            <a:tailEnd/>
          </a:ln>
          <a:extLst>
            <a:ext uri="{909E8E84-426E-40DD-AFC4-6F175D3DCCD1}">
              <a14:hiddenFill xmlns:a14="http://schemas.microsoft.com/office/drawing/2010/main">
                <a:noFill/>
              </a14:hiddenFill>
            </a:ext>
          </a:extLst>
        </p:spPr>
      </p:cxnSp>
      <p:sp>
        <p:nvSpPr>
          <p:cNvPr id="19486" name="Rectangle 32"/>
          <p:cNvSpPr>
            <a:spLocks noChangeArrowheads="1"/>
          </p:cNvSpPr>
          <p:nvPr/>
        </p:nvSpPr>
        <p:spPr bwMode="auto">
          <a:xfrm>
            <a:off x="7234238" y="2819400"/>
            <a:ext cx="1103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1800">
                <a:latin typeface="Arial Narrow" pitchFamily="34" charset="0"/>
                <a:ea typeface="宋体" charset="-122"/>
              </a:rPr>
              <a:t>«extends»</a:t>
            </a:r>
          </a:p>
        </p:txBody>
      </p:sp>
      <p:cxnSp>
        <p:nvCxnSpPr>
          <p:cNvPr id="19487" name="AutoShape 33"/>
          <p:cNvCxnSpPr>
            <a:cxnSpLocks noChangeShapeType="1"/>
            <a:stCxn id="19470" idx="7"/>
            <a:endCxn id="19471" idx="3"/>
          </p:cNvCxnSpPr>
          <p:nvPr/>
        </p:nvCxnSpPr>
        <p:spPr bwMode="auto">
          <a:xfrm flipV="1">
            <a:off x="4116719" y="1780662"/>
            <a:ext cx="1914867" cy="1118248"/>
          </a:xfrm>
          <a:prstGeom prst="straightConnector1">
            <a:avLst/>
          </a:prstGeom>
          <a:noFill/>
          <a:ln w="19050">
            <a:solidFill>
              <a:schemeClr val="tx1"/>
            </a:solidFill>
            <a:prstDash val="lgDash"/>
            <a:round/>
            <a:headEnd/>
            <a:tailEnd type="arrow" w="med" len="med"/>
          </a:ln>
          <a:extLst>
            <a:ext uri="{909E8E84-426E-40DD-AFC4-6F175D3DCCD1}">
              <a14:hiddenFill xmlns:a14="http://schemas.microsoft.com/office/drawing/2010/main">
                <a:noFill/>
              </a14:hiddenFill>
            </a:ext>
          </a:extLst>
        </p:spPr>
      </p:cxnSp>
      <p:sp>
        <p:nvSpPr>
          <p:cNvPr id="19488" name="Rectangle 34"/>
          <p:cNvSpPr>
            <a:spLocks noChangeArrowheads="1"/>
          </p:cNvSpPr>
          <p:nvPr/>
        </p:nvSpPr>
        <p:spPr bwMode="auto">
          <a:xfrm>
            <a:off x="3978275" y="2224088"/>
            <a:ext cx="8223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1800">
                <a:latin typeface="Arial Narrow" pitchFamily="34" charset="0"/>
                <a:ea typeface="宋体" charset="-122"/>
              </a:rPr>
              <a:t>«uses»</a:t>
            </a:r>
          </a:p>
        </p:txBody>
      </p:sp>
      <p:cxnSp>
        <p:nvCxnSpPr>
          <p:cNvPr id="19489" name="AutoShape 35"/>
          <p:cNvCxnSpPr>
            <a:cxnSpLocks noChangeShapeType="1"/>
            <a:stCxn id="19492" idx="0"/>
            <a:endCxn id="19470" idx="4"/>
          </p:cNvCxnSpPr>
          <p:nvPr/>
        </p:nvCxnSpPr>
        <p:spPr bwMode="auto">
          <a:xfrm flipV="1">
            <a:off x="3276600" y="3371850"/>
            <a:ext cx="1588" cy="1089025"/>
          </a:xfrm>
          <a:prstGeom prst="straightConnector1">
            <a:avLst/>
          </a:prstGeom>
          <a:noFill/>
          <a:ln w="19050" cap="rnd">
            <a:solidFill>
              <a:schemeClr val="tx1"/>
            </a:solidFill>
            <a:prstDash val="sysDot"/>
            <a:round/>
            <a:headEnd/>
            <a:tailEnd/>
          </a:ln>
          <a:extLst>
            <a:ext uri="{909E8E84-426E-40DD-AFC4-6F175D3DCCD1}">
              <a14:hiddenFill xmlns:a14="http://schemas.microsoft.com/office/drawing/2010/main">
                <a:noFill/>
              </a14:hiddenFill>
            </a:ext>
          </a:extLst>
        </p:spPr>
      </p:cxnSp>
      <p:cxnSp>
        <p:nvCxnSpPr>
          <p:cNvPr id="19490" name="AutoShape 36"/>
          <p:cNvCxnSpPr>
            <a:cxnSpLocks noChangeShapeType="1"/>
            <a:stCxn id="19470" idx="1"/>
            <a:endCxn id="19461" idx="6"/>
          </p:cNvCxnSpPr>
          <p:nvPr/>
        </p:nvCxnSpPr>
        <p:spPr bwMode="auto">
          <a:xfrm flipH="1" flipV="1">
            <a:off x="1066800" y="1143000"/>
            <a:ext cx="1373188" cy="1746250"/>
          </a:xfrm>
          <a:prstGeom prst="straightConnector1">
            <a:avLst/>
          </a:prstGeom>
          <a:noFill/>
          <a:ln w="19050">
            <a:solidFill>
              <a:srgbClr val="FF0000"/>
            </a:solidFill>
            <a:round/>
            <a:headEnd/>
            <a:tailEnd/>
          </a:ln>
          <a:extLst>
            <a:ext uri="{909E8E84-426E-40DD-AFC4-6F175D3DCCD1}">
              <a14:hiddenFill xmlns:a14="http://schemas.microsoft.com/office/drawing/2010/main">
                <a:noFill/>
              </a14:hiddenFill>
            </a:ext>
          </a:extLst>
        </p:spPr>
      </p:cxnSp>
      <p:sp>
        <p:nvSpPr>
          <p:cNvPr id="19491" name="Text Box 37"/>
          <p:cNvSpPr txBox="1">
            <a:spLocks noChangeArrowheads="1"/>
          </p:cNvSpPr>
          <p:nvPr/>
        </p:nvSpPr>
        <p:spPr bwMode="auto">
          <a:xfrm>
            <a:off x="5191125" y="4913313"/>
            <a:ext cx="3886200" cy="1374775"/>
          </a:xfrm>
          <a:prstGeom prst="rect">
            <a:avLst/>
          </a:prstGeom>
          <a:solidFill>
            <a:srgbClr val="FFFFD9"/>
          </a:solidFill>
          <a:ln>
            <a:noFill/>
          </a:ln>
          <a:extLs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spcBef>
                <a:spcPts val="500"/>
              </a:spcBef>
              <a:spcAft>
                <a:spcPts val="500"/>
              </a:spcAft>
            </a:pPr>
            <a:r>
              <a:rPr kumimoji="0" lang="en-US" altLang="zh-CN" sz="2000">
                <a:latin typeface="Arial Narrow" pitchFamily="34" charset="0"/>
                <a:ea typeface="宋体" charset="-122"/>
                <a:cs typeface="Times New Roman" pitchFamily="18" charset="0"/>
              </a:rPr>
              <a:t>A.</a:t>
            </a:r>
            <a:r>
              <a:rPr kumimoji="0" lang="en-US" altLang="zh-CN" sz="2000" i="1">
                <a:latin typeface="Arial Narrow" pitchFamily="34" charset="0"/>
                <a:ea typeface="宋体" charset="-122"/>
                <a:cs typeface="Times New Roman" pitchFamily="18" charset="0"/>
              </a:rPr>
              <a:t> </a:t>
            </a:r>
            <a:r>
              <a:rPr kumimoji="0" lang="zh-CN" altLang="en-US" sz="2000">
                <a:solidFill>
                  <a:schemeClr val="accent2"/>
                </a:solidFill>
                <a:latin typeface="Arial Narrow" pitchFamily="34" charset="0"/>
                <a:ea typeface="宋体" charset="-122"/>
                <a:cs typeface="Times New Roman" pitchFamily="18" charset="0"/>
              </a:rPr>
              <a:t>应用程序</a:t>
            </a:r>
            <a:r>
              <a:rPr kumimoji="0" lang="zh-CN" altLang="en-US" sz="2000">
                <a:latin typeface="Arial Narrow" pitchFamily="34" charset="0"/>
                <a:ea typeface="宋体" charset="-122"/>
                <a:cs typeface="Times New Roman" pitchFamily="18" charset="0"/>
              </a:rPr>
              <a:t>显示主选项</a:t>
            </a:r>
          </a:p>
          <a:p>
            <a:pPr algn="l">
              <a:spcBef>
                <a:spcPct val="0"/>
              </a:spcBef>
            </a:pPr>
            <a:r>
              <a:rPr kumimoji="0" lang="en-US" altLang="zh-CN" sz="2000">
                <a:latin typeface="Arial Narrow" pitchFamily="34" charset="0"/>
                <a:ea typeface="宋体" charset="-122"/>
                <a:cs typeface="Times New Roman" pitchFamily="18" charset="0"/>
              </a:rPr>
              <a:t>1.</a:t>
            </a:r>
            <a:r>
              <a:rPr kumimoji="0" lang="en-US" altLang="zh-CN" sz="2000" i="1">
                <a:latin typeface="Arial Narrow" pitchFamily="34" charset="0"/>
                <a:ea typeface="宋体" charset="-122"/>
                <a:cs typeface="Times New Roman" pitchFamily="18" charset="0"/>
              </a:rPr>
              <a:t>  </a:t>
            </a:r>
            <a:r>
              <a:rPr kumimoji="0" lang="zh-CN" altLang="en-US" sz="2000">
                <a:solidFill>
                  <a:schemeClr val="accent2"/>
                </a:solidFill>
                <a:latin typeface="Arial Narrow" pitchFamily="34" charset="0"/>
                <a:ea typeface="宋体" charset="-122"/>
                <a:cs typeface="Times New Roman" pitchFamily="18" charset="0"/>
              </a:rPr>
              <a:t>用户</a:t>
            </a:r>
            <a:r>
              <a:rPr kumimoji="0" lang="zh-CN" altLang="en-US" sz="2000">
                <a:latin typeface="Arial Narrow" pitchFamily="34" charset="0"/>
                <a:ea typeface="宋体" charset="-122"/>
                <a:cs typeface="Times New Roman" pitchFamily="18" charset="0"/>
              </a:rPr>
              <a:t>将光标移到库存图标</a:t>
            </a:r>
          </a:p>
          <a:p>
            <a:pPr algn="l">
              <a:spcBef>
                <a:spcPct val="0"/>
              </a:spcBef>
            </a:pPr>
            <a:r>
              <a:rPr kumimoji="0" lang="en-US" altLang="zh-CN" sz="2000">
                <a:latin typeface="Arial Narrow" pitchFamily="34" charset="0"/>
                <a:ea typeface="宋体" charset="-122"/>
                <a:cs typeface="Times New Roman" pitchFamily="18" charset="0"/>
              </a:rPr>
              <a:t>B.</a:t>
            </a:r>
            <a:r>
              <a:rPr kumimoji="0" lang="en-US" altLang="zh-CN" sz="2000" i="1">
                <a:latin typeface="Arial Narrow" pitchFamily="34" charset="0"/>
                <a:ea typeface="宋体" charset="-122"/>
                <a:cs typeface="Times New Roman" pitchFamily="18" charset="0"/>
              </a:rPr>
              <a:t>  </a:t>
            </a:r>
            <a:r>
              <a:rPr kumimoji="0" lang="zh-CN" altLang="en-US" sz="2000">
                <a:solidFill>
                  <a:schemeClr val="accent2"/>
                </a:solidFill>
                <a:latin typeface="Arial Narrow" pitchFamily="34" charset="0"/>
                <a:ea typeface="宋体" charset="-122"/>
                <a:cs typeface="Times New Roman" pitchFamily="18" charset="0"/>
              </a:rPr>
              <a:t>用户</a:t>
            </a:r>
            <a:r>
              <a:rPr kumimoji="0" lang="zh-CN" altLang="en-US" sz="2000">
                <a:latin typeface="Arial Narrow" pitchFamily="34" charset="0"/>
                <a:ea typeface="宋体" charset="-122"/>
                <a:cs typeface="Times New Roman" pitchFamily="18" charset="0"/>
              </a:rPr>
              <a:t>选择图标</a:t>
            </a:r>
          </a:p>
          <a:p>
            <a:pPr algn="l">
              <a:spcBef>
                <a:spcPct val="0"/>
              </a:spcBef>
            </a:pPr>
            <a:r>
              <a:rPr kumimoji="0" lang="en-US" altLang="zh-CN" sz="2000">
                <a:latin typeface="Arial Narrow" pitchFamily="34" charset="0"/>
                <a:ea typeface="宋体" charset="-122"/>
                <a:cs typeface="Times New Roman" pitchFamily="18" charset="0"/>
              </a:rPr>
              <a:t>2. </a:t>
            </a:r>
            <a:r>
              <a:rPr kumimoji="0" lang="zh-CN" altLang="en-US" sz="2000">
                <a:solidFill>
                  <a:schemeClr val="accent2"/>
                </a:solidFill>
                <a:latin typeface="Arial Narrow" pitchFamily="34" charset="0"/>
                <a:ea typeface="宋体" charset="-122"/>
                <a:cs typeface="Times New Roman" pitchFamily="18" charset="0"/>
              </a:rPr>
              <a:t>应用程序</a:t>
            </a:r>
            <a:r>
              <a:rPr kumimoji="0" lang="zh-CN" altLang="en-US" sz="2000">
                <a:latin typeface="Arial Narrow" pitchFamily="34" charset="0"/>
                <a:ea typeface="宋体" charset="-122"/>
                <a:cs typeface="Times New Roman" pitchFamily="18" charset="0"/>
              </a:rPr>
              <a:t>显示库存窗口</a:t>
            </a:r>
          </a:p>
        </p:txBody>
      </p:sp>
      <p:sp>
        <p:nvSpPr>
          <p:cNvPr id="19492" name="Text Box 38"/>
          <p:cNvSpPr txBox="1">
            <a:spLocks noChangeArrowheads="1"/>
          </p:cNvSpPr>
          <p:nvPr/>
        </p:nvSpPr>
        <p:spPr bwMode="auto">
          <a:xfrm>
            <a:off x="1752600" y="4460875"/>
            <a:ext cx="3048000" cy="2165350"/>
          </a:xfrm>
          <a:prstGeom prst="rect">
            <a:avLst/>
          </a:prstGeom>
          <a:solidFill>
            <a:srgbClr val="FFFFD9"/>
          </a:solidFill>
          <a:ln>
            <a:noFill/>
          </a:ln>
          <a:extLs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110000"/>
              </a:lnSpc>
              <a:spcBef>
                <a:spcPts val="500"/>
              </a:spcBef>
              <a:spcAft>
                <a:spcPts val="500"/>
              </a:spcAft>
            </a:pPr>
            <a:r>
              <a:rPr kumimoji="0" lang="en-US" altLang="zh-CN" sz="2000">
                <a:latin typeface="Arial Narrow" pitchFamily="34" charset="0"/>
                <a:ea typeface="宋体" charset="-122"/>
                <a:cs typeface="Times New Roman" pitchFamily="18" charset="0"/>
              </a:rPr>
              <a:t>(i).</a:t>
            </a:r>
            <a:r>
              <a:rPr kumimoji="0" lang="en-US" altLang="zh-CN" sz="2000" i="1">
                <a:latin typeface="Arial Narrow" pitchFamily="34" charset="0"/>
                <a:ea typeface="宋体" charset="-122"/>
                <a:cs typeface="Times New Roman" pitchFamily="18" charset="0"/>
              </a:rPr>
              <a:t> </a:t>
            </a:r>
            <a:r>
              <a:rPr kumimoji="0" lang="zh-CN" altLang="en-US" sz="2000">
                <a:solidFill>
                  <a:schemeClr val="accent2"/>
                </a:solidFill>
                <a:latin typeface="Arial Narrow" pitchFamily="34" charset="0"/>
                <a:ea typeface="宋体" charset="-122"/>
                <a:cs typeface="Times New Roman" pitchFamily="18" charset="0"/>
              </a:rPr>
              <a:t>应用程序</a:t>
            </a:r>
            <a:r>
              <a:rPr kumimoji="0" lang="zh-CN" altLang="en-US" sz="2000">
                <a:latin typeface="Arial Narrow" pitchFamily="34" charset="0"/>
                <a:ea typeface="宋体" charset="-122"/>
                <a:cs typeface="Times New Roman" pitchFamily="18" charset="0"/>
              </a:rPr>
              <a:t>显示标识</a:t>
            </a:r>
          </a:p>
          <a:p>
            <a:pPr algn="l">
              <a:lnSpc>
                <a:spcPct val="110000"/>
              </a:lnSpc>
              <a:spcBef>
                <a:spcPct val="0"/>
              </a:spcBef>
            </a:pPr>
            <a:r>
              <a:rPr kumimoji="0" lang="en-US" altLang="zh-CN" sz="2000">
                <a:latin typeface="Arial Narrow" pitchFamily="34" charset="0"/>
                <a:ea typeface="宋体" charset="-122"/>
                <a:cs typeface="Times New Roman" pitchFamily="18" charset="0"/>
              </a:rPr>
              <a:t>(ii). “</a:t>
            </a:r>
            <a:r>
              <a:rPr kumimoji="0" lang="zh-CN" altLang="en-US" sz="2000">
                <a:latin typeface="Arial Narrow" pitchFamily="34" charset="0"/>
                <a:ea typeface="宋体" charset="-122"/>
                <a:cs typeface="Times New Roman" pitchFamily="18" charset="0"/>
              </a:rPr>
              <a:t>执行仓库事务处理</a:t>
            </a:r>
            <a:r>
              <a:rPr kumimoji="0" lang="zh-CN" altLang="en-US" sz="2000" i="1">
                <a:latin typeface="Arial Narrow" pitchFamily="34" charset="0"/>
                <a:ea typeface="宋体" charset="-122"/>
                <a:cs typeface="Times New Roman" pitchFamily="18" charset="0"/>
              </a:rPr>
              <a:t>”</a:t>
            </a:r>
            <a:r>
              <a:rPr kumimoji="0" lang="zh-CN" altLang="en-US" sz="2000">
                <a:latin typeface="Arial Narrow" pitchFamily="34" charset="0"/>
                <a:ea typeface="宋体" charset="-122"/>
                <a:cs typeface="Times New Roman" pitchFamily="18" charset="0"/>
              </a:rPr>
              <a:t> 用例</a:t>
            </a:r>
            <a:r>
              <a:rPr kumimoji="0" lang="en-US" altLang="zh-CN" sz="2000">
                <a:latin typeface="Arial Narrow" pitchFamily="34" charset="0"/>
                <a:ea typeface="宋体" charset="-122"/>
                <a:cs typeface="Times New Roman" pitchFamily="18" charset="0"/>
              </a:rPr>
              <a:t>.</a:t>
            </a:r>
          </a:p>
          <a:p>
            <a:pPr algn="l">
              <a:lnSpc>
                <a:spcPct val="110000"/>
              </a:lnSpc>
              <a:spcBef>
                <a:spcPct val="0"/>
              </a:spcBef>
            </a:pPr>
            <a:r>
              <a:rPr kumimoji="0" lang="en-US" altLang="zh-CN" sz="2000">
                <a:latin typeface="Arial Narrow" pitchFamily="34" charset="0"/>
                <a:ea typeface="宋体" charset="-122"/>
                <a:cs typeface="Times New Roman" pitchFamily="18" charset="0"/>
              </a:rPr>
              <a:t>(iii)</a:t>
            </a:r>
            <a:r>
              <a:rPr kumimoji="0" lang="en-US" altLang="zh-CN" sz="2000">
                <a:ea typeface="宋体" charset="-122"/>
                <a:cs typeface="Times New Roman" pitchFamily="18" charset="0"/>
              </a:rPr>
              <a:t> </a:t>
            </a:r>
            <a:r>
              <a:rPr kumimoji="0" lang="zh-CN" altLang="en-US" sz="2000">
                <a:solidFill>
                  <a:schemeClr val="accent2"/>
                </a:solidFill>
                <a:ea typeface="宋体" charset="-122"/>
                <a:cs typeface="Times New Roman" pitchFamily="18" charset="0"/>
              </a:rPr>
              <a:t>应用程序</a:t>
            </a:r>
            <a:r>
              <a:rPr kumimoji="0" lang="zh-CN" altLang="en-US" sz="2000">
                <a:ea typeface="宋体" charset="-122"/>
                <a:cs typeface="Times New Roman" pitchFamily="18" charset="0"/>
              </a:rPr>
              <a:t>在屏幕上显示其准备中止</a:t>
            </a:r>
          </a:p>
          <a:p>
            <a:pPr algn="l">
              <a:lnSpc>
                <a:spcPct val="110000"/>
              </a:lnSpc>
              <a:spcBef>
                <a:spcPct val="0"/>
              </a:spcBef>
            </a:pPr>
            <a:r>
              <a:rPr kumimoji="0" lang="en-US" altLang="zh-CN" sz="2000">
                <a:latin typeface="Arial Narrow" pitchFamily="34" charset="0"/>
                <a:ea typeface="宋体" charset="-122"/>
                <a:cs typeface="Times New Roman" pitchFamily="18" charset="0"/>
              </a:rPr>
              <a:t>(iv) </a:t>
            </a:r>
            <a:r>
              <a:rPr kumimoji="0" lang="zh-CN" altLang="en-US" sz="2000">
                <a:solidFill>
                  <a:schemeClr val="accent2"/>
                </a:solidFill>
                <a:latin typeface="Arial Narrow" pitchFamily="34" charset="0"/>
                <a:ea typeface="宋体" charset="-122"/>
                <a:cs typeface="Times New Roman" pitchFamily="18" charset="0"/>
              </a:rPr>
              <a:t>应用程序</a:t>
            </a:r>
            <a:r>
              <a:rPr kumimoji="0" lang="zh-CN" altLang="en-US" sz="2000">
                <a:latin typeface="Arial Narrow" pitchFamily="34" charset="0"/>
                <a:ea typeface="宋体" charset="-122"/>
                <a:cs typeface="Times New Roman" pitchFamily="18" charset="0"/>
              </a:rPr>
              <a:t>关闭</a:t>
            </a:r>
          </a:p>
        </p:txBody>
      </p:sp>
    </p:spTree>
    <p:extLst>
      <p:ext uri="{BB962C8B-B14F-4D97-AF65-F5344CB8AC3E}">
        <p14:creationId xmlns:p14="http://schemas.microsoft.com/office/powerpoint/2010/main" val="339423511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时序图</a:t>
            </a:r>
          </a:p>
        </p:txBody>
      </p:sp>
      <p:sp>
        <p:nvSpPr>
          <p:cNvPr id="20483" name="Rectangle 3"/>
          <p:cNvSpPr>
            <a:spLocks noGrp="1" noChangeArrowheads="1"/>
          </p:cNvSpPr>
          <p:nvPr>
            <p:ph type="body" idx="1"/>
          </p:nvPr>
        </p:nvSpPr>
        <p:spPr>
          <a:xfrm>
            <a:off x="457200" y="1600200"/>
            <a:ext cx="8458200" cy="4267200"/>
          </a:xfrm>
        </p:spPr>
        <p:txBody>
          <a:bodyPr/>
          <a:lstStyle/>
          <a:p>
            <a:pPr eaLnBrk="1" hangingPunct="1">
              <a:lnSpc>
                <a:spcPct val="90000"/>
              </a:lnSpc>
            </a:pPr>
            <a:r>
              <a:rPr lang="zh-CN" altLang="en-US" b="1" smtClean="0">
                <a:solidFill>
                  <a:srgbClr val="0000CC"/>
                </a:solidFill>
                <a:ea typeface="楷体_GB2312" pitchFamily="49" charset="-122"/>
              </a:rPr>
              <a:t>控制流程</a:t>
            </a:r>
            <a:r>
              <a:rPr lang="zh-CN" altLang="en-US" b="1" smtClean="0">
                <a:ea typeface="楷体_GB2312" pitchFamily="49" charset="-122"/>
              </a:rPr>
              <a:t>的一种图形化表示方式，</a:t>
            </a:r>
            <a:r>
              <a:rPr lang="zh-CN" altLang="en-US" b="1" smtClean="0">
                <a:solidFill>
                  <a:srgbClr val="0000CC"/>
                </a:solidFill>
                <a:ea typeface="楷体_GB2312" pitchFamily="49" charset="-122"/>
              </a:rPr>
              <a:t>显示各种对象的方法的执行顺序</a:t>
            </a:r>
            <a:r>
              <a:rPr lang="zh-CN" altLang="en-US" b="1" smtClean="0">
                <a:ea typeface="楷体_GB2312" pitchFamily="49" charset="-122"/>
              </a:rPr>
              <a:t>。</a:t>
            </a:r>
          </a:p>
          <a:p>
            <a:pPr eaLnBrk="1" hangingPunct="1">
              <a:lnSpc>
                <a:spcPct val="90000"/>
              </a:lnSpc>
            </a:pPr>
            <a:r>
              <a:rPr lang="zh-CN" altLang="en-US" b="1" smtClean="0">
                <a:ea typeface="楷体_GB2312" pitchFamily="49" charset="-122"/>
              </a:rPr>
              <a:t>对描述包含了几个类的执行情况很有帮助。</a:t>
            </a:r>
          </a:p>
          <a:p>
            <a:pPr eaLnBrk="1" hangingPunct="1">
              <a:lnSpc>
                <a:spcPct val="90000"/>
              </a:lnSpc>
            </a:pPr>
            <a:r>
              <a:rPr lang="zh-CN" altLang="en-US" b="1" smtClean="0">
                <a:ea typeface="楷体_GB2312" pitchFamily="49" charset="-122"/>
              </a:rPr>
              <a:t>根据对象进行考虑，每个对象的生存期由</a:t>
            </a:r>
            <a:r>
              <a:rPr lang="zh-CN" altLang="en-US" b="1" smtClean="0">
                <a:solidFill>
                  <a:srgbClr val="0000CC"/>
                </a:solidFill>
                <a:ea typeface="楷体_GB2312" pitchFamily="49" charset="-122"/>
              </a:rPr>
              <a:t>垂直实线</a:t>
            </a:r>
            <a:r>
              <a:rPr lang="zh-CN" altLang="en-US" b="1" smtClean="0">
                <a:ea typeface="楷体_GB2312" pitchFamily="49" charset="-122"/>
              </a:rPr>
              <a:t>表示，</a:t>
            </a:r>
            <a:r>
              <a:rPr lang="zh-CN" altLang="en-US" b="1" smtClean="0">
                <a:solidFill>
                  <a:srgbClr val="0000CC"/>
                </a:solidFill>
                <a:ea typeface="楷体_GB2312" pitchFamily="49" charset="-122"/>
              </a:rPr>
              <a:t>实线顶部</a:t>
            </a:r>
            <a:r>
              <a:rPr lang="zh-CN" altLang="en-US" b="1" smtClean="0">
                <a:ea typeface="楷体_GB2312" pitchFamily="49" charset="-122"/>
              </a:rPr>
              <a:t>是对象的名字和它的类。</a:t>
            </a:r>
          </a:p>
          <a:p>
            <a:pPr eaLnBrk="1" hangingPunct="1">
              <a:lnSpc>
                <a:spcPct val="90000"/>
              </a:lnSpc>
            </a:pPr>
            <a:r>
              <a:rPr lang="zh-CN" altLang="en-US" b="1" smtClean="0">
                <a:ea typeface="楷体_GB2312" pitchFamily="49" charset="-122"/>
              </a:rPr>
              <a:t>对象间的交互用一个发起服务端到提供服务端的</a:t>
            </a:r>
            <a:r>
              <a:rPr lang="zh-CN" altLang="en-US" b="1" smtClean="0">
                <a:solidFill>
                  <a:srgbClr val="0000CC"/>
                </a:solidFill>
                <a:ea typeface="楷体_GB2312" pitchFamily="49" charset="-122"/>
              </a:rPr>
              <a:t>水平箭头</a:t>
            </a:r>
            <a:r>
              <a:rPr lang="zh-CN" altLang="en-US" b="1" smtClean="0">
                <a:ea typeface="楷体_GB2312" pitchFamily="49" charset="-122"/>
              </a:rPr>
              <a:t>来表示。</a:t>
            </a:r>
          </a:p>
        </p:txBody>
      </p:sp>
    </p:spTree>
    <p:extLst>
      <p:ext uri="{BB962C8B-B14F-4D97-AF65-F5344CB8AC3E}">
        <p14:creationId xmlns:p14="http://schemas.microsoft.com/office/powerpoint/2010/main" val="201150157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Line 2"/>
          <p:cNvSpPr>
            <a:spLocks noChangeShapeType="1"/>
          </p:cNvSpPr>
          <p:nvPr/>
        </p:nvSpPr>
        <p:spPr bwMode="auto">
          <a:xfrm>
            <a:off x="6308725" y="2819400"/>
            <a:ext cx="15875" cy="2819400"/>
          </a:xfrm>
          <a:prstGeom prst="line">
            <a:avLst/>
          </a:prstGeom>
          <a:noFill/>
          <a:ln w="1905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07" name="Line 3"/>
          <p:cNvSpPr>
            <a:spLocks noChangeShapeType="1"/>
          </p:cNvSpPr>
          <p:nvPr/>
        </p:nvSpPr>
        <p:spPr bwMode="auto">
          <a:xfrm>
            <a:off x="7621588" y="1447800"/>
            <a:ext cx="7937" cy="3733800"/>
          </a:xfrm>
          <a:prstGeom prst="line">
            <a:avLst/>
          </a:prstGeom>
          <a:noFill/>
          <a:ln w="1905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08" name="Line 4"/>
          <p:cNvSpPr>
            <a:spLocks noChangeShapeType="1"/>
          </p:cNvSpPr>
          <p:nvPr/>
        </p:nvSpPr>
        <p:spPr bwMode="auto">
          <a:xfrm>
            <a:off x="7629525" y="5257800"/>
            <a:ext cx="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09" name="Line 5"/>
          <p:cNvSpPr>
            <a:spLocks noChangeShapeType="1"/>
          </p:cNvSpPr>
          <p:nvPr/>
        </p:nvSpPr>
        <p:spPr bwMode="auto">
          <a:xfrm flipH="1">
            <a:off x="3582988" y="4953000"/>
            <a:ext cx="266700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0" name="Line 6"/>
          <p:cNvSpPr>
            <a:spLocks noChangeShapeType="1"/>
          </p:cNvSpPr>
          <p:nvPr/>
        </p:nvSpPr>
        <p:spPr bwMode="auto">
          <a:xfrm flipH="1" flipV="1">
            <a:off x="6326188" y="5334000"/>
            <a:ext cx="1227137" cy="1270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1" name="Line 7"/>
          <p:cNvSpPr>
            <a:spLocks noChangeShapeType="1"/>
          </p:cNvSpPr>
          <p:nvPr/>
        </p:nvSpPr>
        <p:spPr bwMode="auto">
          <a:xfrm>
            <a:off x="3563938" y="1524000"/>
            <a:ext cx="0" cy="4876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2" name="Line 8"/>
          <p:cNvSpPr>
            <a:spLocks noChangeShapeType="1"/>
          </p:cNvSpPr>
          <p:nvPr/>
        </p:nvSpPr>
        <p:spPr bwMode="auto">
          <a:xfrm flipH="1">
            <a:off x="619125" y="3505200"/>
            <a:ext cx="2887663"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3" name="Rectangle 9"/>
          <p:cNvSpPr>
            <a:spLocks noChangeArrowheads="1"/>
          </p:cNvSpPr>
          <p:nvPr/>
        </p:nvSpPr>
        <p:spPr bwMode="auto">
          <a:xfrm>
            <a:off x="533400" y="152400"/>
            <a:ext cx="8305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pPr>
            <a:r>
              <a:rPr kumimoji="0" lang="en-US" altLang="zh-CN" sz="3600" b="0">
                <a:solidFill>
                  <a:schemeClr val="accent2"/>
                </a:solidFill>
                <a:latin typeface="Arial" charset="0"/>
                <a:ea typeface="宋体" charset="-122"/>
              </a:rPr>
              <a:t>Checkout </a:t>
            </a:r>
            <a:r>
              <a:rPr kumimoji="0" lang="zh-CN" altLang="en-US" sz="3600">
                <a:solidFill>
                  <a:schemeClr val="accent2"/>
                </a:solidFill>
                <a:latin typeface="Arial" charset="0"/>
              </a:rPr>
              <a:t>用例时序图的开始阶段</a:t>
            </a:r>
          </a:p>
        </p:txBody>
      </p:sp>
      <p:sp>
        <p:nvSpPr>
          <p:cNvPr id="21514" name="Text Box 10"/>
          <p:cNvSpPr txBox="1">
            <a:spLocks noChangeArrowheads="1"/>
          </p:cNvSpPr>
          <p:nvPr/>
        </p:nvSpPr>
        <p:spPr bwMode="auto">
          <a:xfrm>
            <a:off x="228600" y="1179513"/>
            <a:ext cx="811213" cy="401637"/>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nSpc>
                <a:spcPct val="60000"/>
              </a:lnSpc>
            </a:pPr>
            <a:r>
              <a:rPr kumimoji="0" lang="en-US" altLang="zh-CN" sz="2400" u="sng">
                <a:latin typeface="Arial Narrow" pitchFamily="34" charset="0"/>
                <a:ea typeface="宋体" charset="-122"/>
              </a:rPr>
              <a:t>Clerk</a:t>
            </a:r>
          </a:p>
        </p:txBody>
      </p:sp>
      <p:sp>
        <p:nvSpPr>
          <p:cNvPr id="21515" name="Line 11"/>
          <p:cNvSpPr>
            <a:spLocks noChangeShapeType="1"/>
          </p:cNvSpPr>
          <p:nvPr/>
        </p:nvSpPr>
        <p:spPr bwMode="auto">
          <a:xfrm flipH="1">
            <a:off x="611188" y="1600200"/>
            <a:ext cx="7937" cy="4800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6" name="Rectangle 12"/>
          <p:cNvSpPr>
            <a:spLocks noChangeArrowheads="1"/>
          </p:cNvSpPr>
          <p:nvPr/>
        </p:nvSpPr>
        <p:spPr bwMode="auto">
          <a:xfrm>
            <a:off x="3487738" y="3505200"/>
            <a:ext cx="144462" cy="1676400"/>
          </a:xfrm>
          <a:prstGeom prst="rect">
            <a:avLst/>
          </a:prstGeom>
          <a:solidFill>
            <a:schemeClr val="folHlink"/>
          </a:solidFill>
          <a:ln w="25400">
            <a:solidFill>
              <a:schemeClr val="tx1"/>
            </a:solidFill>
            <a:miter lim="800000"/>
            <a:headEnd/>
            <a:tailEnd/>
          </a:ln>
        </p:spPr>
        <p:txBody>
          <a:bodyPr wrap="none" anchor="ctr"/>
          <a:lstStyle/>
          <a:p>
            <a:endParaRPr lang="zh-CN" altLang="en-US"/>
          </a:p>
        </p:txBody>
      </p:sp>
      <p:sp>
        <p:nvSpPr>
          <p:cNvPr id="21517" name="Text Box 13"/>
          <p:cNvSpPr txBox="1">
            <a:spLocks noChangeArrowheads="1"/>
          </p:cNvSpPr>
          <p:nvPr/>
        </p:nvSpPr>
        <p:spPr bwMode="auto">
          <a:xfrm>
            <a:off x="2928938" y="1179513"/>
            <a:ext cx="2178050" cy="420687"/>
          </a:xfrm>
          <a:prstGeom prst="rect">
            <a:avLst/>
          </a:prstGeom>
          <a:solidFill>
            <a:schemeClr val="bg1"/>
          </a:solidFill>
          <a:ln w="19050">
            <a:solidFill>
              <a:schemeClr val="tx1"/>
            </a:solidFill>
            <a:miter lim="800000"/>
            <a:headEnd/>
            <a:tailEnd/>
          </a:ln>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60000"/>
              </a:lnSpc>
            </a:pPr>
            <a:r>
              <a:rPr kumimoji="0" lang="en-US" altLang="zh-CN" sz="2400">
                <a:latin typeface="Arial Narrow" pitchFamily="34" charset="0"/>
                <a:ea typeface="宋体" charset="-122"/>
              </a:rPr>
              <a:t>:BarCodeReader</a:t>
            </a:r>
          </a:p>
        </p:txBody>
      </p:sp>
      <p:sp>
        <p:nvSpPr>
          <p:cNvPr id="21518" name="Text Box 14"/>
          <p:cNvSpPr txBox="1">
            <a:spLocks noChangeArrowheads="1"/>
          </p:cNvSpPr>
          <p:nvPr/>
        </p:nvSpPr>
        <p:spPr bwMode="auto">
          <a:xfrm>
            <a:off x="5622925" y="2590800"/>
            <a:ext cx="1425575" cy="420688"/>
          </a:xfrm>
          <a:prstGeom prst="rect">
            <a:avLst/>
          </a:prstGeom>
          <a:solidFill>
            <a:schemeClr val="bg1"/>
          </a:solidFill>
          <a:ln w="19050">
            <a:solidFill>
              <a:schemeClr val="tx1"/>
            </a:solidFill>
            <a:miter lim="800000"/>
            <a:headEnd/>
            <a:tailEnd/>
          </a:ln>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60000"/>
              </a:lnSpc>
            </a:pPr>
            <a:r>
              <a:rPr kumimoji="0" lang="en-US" altLang="zh-CN" sz="2400">
                <a:latin typeface="Arial Narrow" pitchFamily="34" charset="0"/>
                <a:ea typeface="宋体" charset="-122"/>
              </a:rPr>
              <a:t>:Checkout</a:t>
            </a:r>
          </a:p>
        </p:txBody>
      </p:sp>
      <p:sp>
        <p:nvSpPr>
          <p:cNvPr id="21519" name="Rectangle 15"/>
          <p:cNvSpPr>
            <a:spLocks noChangeArrowheads="1"/>
          </p:cNvSpPr>
          <p:nvPr/>
        </p:nvSpPr>
        <p:spPr bwMode="auto">
          <a:xfrm>
            <a:off x="6232525" y="4953000"/>
            <a:ext cx="152400" cy="1447800"/>
          </a:xfrm>
          <a:prstGeom prst="rect">
            <a:avLst/>
          </a:prstGeom>
          <a:solidFill>
            <a:schemeClr val="folHlink"/>
          </a:solidFill>
          <a:ln w="25400">
            <a:solidFill>
              <a:schemeClr val="tx1"/>
            </a:solidFill>
            <a:miter lim="800000"/>
            <a:headEnd/>
            <a:tailEnd/>
          </a:ln>
        </p:spPr>
        <p:txBody>
          <a:bodyPr wrap="none" anchor="ctr"/>
          <a:lstStyle/>
          <a:p>
            <a:endParaRPr lang="zh-CN" altLang="en-US"/>
          </a:p>
        </p:txBody>
      </p:sp>
      <p:sp>
        <p:nvSpPr>
          <p:cNvPr id="21520" name="Rectangle 16"/>
          <p:cNvSpPr>
            <a:spLocks noChangeArrowheads="1"/>
          </p:cNvSpPr>
          <p:nvPr/>
        </p:nvSpPr>
        <p:spPr bwMode="auto">
          <a:xfrm>
            <a:off x="4421188" y="4548188"/>
            <a:ext cx="993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spcBef>
                <a:spcPct val="0"/>
              </a:spcBef>
            </a:pPr>
            <a:r>
              <a:rPr kumimoji="0" lang="en-US" altLang="zh-CN" sz="2000">
                <a:latin typeface="Arial Narrow" pitchFamily="34" charset="0"/>
                <a:ea typeface="宋体" charset="-122"/>
              </a:rPr>
              <a:t>initiate()</a:t>
            </a:r>
          </a:p>
        </p:txBody>
      </p:sp>
      <p:sp>
        <p:nvSpPr>
          <p:cNvPr id="21521" name="Rectangle 17"/>
          <p:cNvSpPr>
            <a:spLocks noChangeArrowheads="1"/>
          </p:cNvSpPr>
          <p:nvPr/>
        </p:nvSpPr>
        <p:spPr bwMode="auto">
          <a:xfrm>
            <a:off x="7553325" y="5357813"/>
            <a:ext cx="144463" cy="814387"/>
          </a:xfrm>
          <a:prstGeom prst="rect">
            <a:avLst/>
          </a:prstGeom>
          <a:solidFill>
            <a:schemeClr val="folHlink"/>
          </a:solidFill>
          <a:ln w="25400">
            <a:solidFill>
              <a:schemeClr val="tx1"/>
            </a:solidFill>
            <a:miter lim="800000"/>
            <a:headEnd/>
            <a:tailEnd/>
          </a:ln>
        </p:spPr>
        <p:txBody>
          <a:bodyPr wrap="none" anchor="ctr"/>
          <a:lstStyle/>
          <a:p>
            <a:endParaRPr lang="zh-CN" altLang="en-US"/>
          </a:p>
        </p:txBody>
      </p:sp>
      <p:sp>
        <p:nvSpPr>
          <p:cNvPr id="21522" name="Rectangle 18"/>
          <p:cNvSpPr>
            <a:spLocks noChangeArrowheads="1"/>
          </p:cNvSpPr>
          <p:nvPr/>
        </p:nvSpPr>
        <p:spPr bwMode="auto">
          <a:xfrm>
            <a:off x="6537325" y="4953000"/>
            <a:ext cx="855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spcBef>
                <a:spcPct val="0"/>
              </a:spcBef>
            </a:pPr>
            <a:r>
              <a:rPr kumimoji="0" lang="en-US" altLang="zh-CN" sz="2000">
                <a:latin typeface="Arial Narrow" pitchFamily="34" charset="0"/>
                <a:ea typeface="宋体" charset="-122"/>
              </a:rPr>
              <a:t>show()</a:t>
            </a:r>
          </a:p>
        </p:txBody>
      </p:sp>
      <p:sp>
        <p:nvSpPr>
          <p:cNvPr id="21523" name="Text Box 19"/>
          <p:cNvSpPr txBox="1">
            <a:spLocks noChangeArrowheads="1"/>
          </p:cNvSpPr>
          <p:nvPr/>
        </p:nvSpPr>
        <p:spPr bwMode="auto">
          <a:xfrm>
            <a:off x="5184775" y="1179513"/>
            <a:ext cx="3122613" cy="420687"/>
          </a:xfrm>
          <a:prstGeom prst="rect">
            <a:avLst/>
          </a:prstGeom>
          <a:solidFill>
            <a:schemeClr val="bg1"/>
          </a:solidFill>
          <a:ln w="19050">
            <a:solidFill>
              <a:schemeClr val="tx1"/>
            </a:solidFill>
            <a:miter lim="800000"/>
            <a:headEnd/>
            <a:tailEnd/>
          </a:ln>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60000"/>
              </a:lnSpc>
            </a:pPr>
            <a:r>
              <a:rPr kumimoji="0" lang="en-US" altLang="zh-CN" sz="2400">
                <a:latin typeface="Arial Narrow" pitchFamily="34" charset="0"/>
                <a:ea typeface="宋体" charset="-122"/>
              </a:rPr>
              <a:t>:CheckoutOptionDisplay</a:t>
            </a:r>
          </a:p>
        </p:txBody>
      </p:sp>
      <p:sp>
        <p:nvSpPr>
          <p:cNvPr id="21524" name="Text Box 20"/>
          <p:cNvSpPr txBox="1">
            <a:spLocks noChangeArrowheads="1"/>
          </p:cNvSpPr>
          <p:nvPr/>
        </p:nvSpPr>
        <p:spPr bwMode="auto">
          <a:xfrm>
            <a:off x="3640138" y="2971800"/>
            <a:ext cx="457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r>
              <a:rPr kumimoji="0" lang="en-US" altLang="zh-CN" sz="5400" b="0">
                <a:latin typeface="Times New Roman" pitchFamily="18" charset="0"/>
                <a:ea typeface="宋体" charset="-122"/>
              </a:rPr>
              <a:t>}</a:t>
            </a:r>
          </a:p>
        </p:txBody>
      </p:sp>
      <p:sp>
        <p:nvSpPr>
          <p:cNvPr id="21525" name="Rectangle 21"/>
          <p:cNvSpPr>
            <a:spLocks noChangeArrowheads="1"/>
          </p:cNvSpPr>
          <p:nvPr/>
        </p:nvSpPr>
        <p:spPr bwMode="auto">
          <a:xfrm>
            <a:off x="4021138" y="3340100"/>
            <a:ext cx="1717675"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2000">
                <a:latin typeface="Arial Narrow" pitchFamily="34" charset="0"/>
              </a:rPr>
              <a:t>用例的第二步</a:t>
            </a:r>
          </a:p>
        </p:txBody>
      </p:sp>
      <p:sp>
        <p:nvSpPr>
          <p:cNvPr id="21527" name="Line 23"/>
          <p:cNvSpPr>
            <a:spLocks noChangeShapeType="1"/>
          </p:cNvSpPr>
          <p:nvPr/>
        </p:nvSpPr>
        <p:spPr bwMode="auto">
          <a:xfrm>
            <a:off x="8458200" y="2895600"/>
            <a:ext cx="0" cy="1143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28" name="Rectangle 24"/>
          <p:cNvSpPr>
            <a:spLocks noChangeArrowheads="1"/>
          </p:cNvSpPr>
          <p:nvPr/>
        </p:nvSpPr>
        <p:spPr bwMode="auto">
          <a:xfrm>
            <a:off x="8088313" y="2438400"/>
            <a:ext cx="715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i="1">
                <a:latin typeface="Arial Narrow" pitchFamily="34" charset="0"/>
                <a:ea typeface="宋体" charset="-122"/>
              </a:rPr>
              <a:t>order</a:t>
            </a:r>
          </a:p>
        </p:txBody>
      </p:sp>
      <p:sp>
        <p:nvSpPr>
          <p:cNvPr id="21530" name="Line 26"/>
          <p:cNvSpPr>
            <a:spLocks noChangeShapeType="1"/>
          </p:cNvSpPr>
          <p:nvPr/>
        </p:nvSpPr>
        <p:spPr bwMode="auto">
          <a:xfrm>
            <a:off x="2439988" y="1524000"/>
            <a:ext cx="0" cy="4876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1" name="Line 27"/>
          <p:cNvSpPr>
            <a:spLocks noChangeShapeType="1"/>
          </p:cNvSpPr>
          <p:nvPr/>
        </p:nvSpPr>
        <p:spPr bwMode="auto">
          <a:xfrm flipH="1">
            <a:off x="611188" y="2209800"/>
            <a:ext cx="175260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2" name="Rectangle 28"/>
          <p:cNvSpPr>
            <a:spLocks noChangeArrowheads="1"/>
          </p:cNvSpPr>
          <p:nvPr/>
        </p:nvSpPr>
        <p:spPr bwMode="auto">
          <a:xfrm>
            <a:off x="2363788" y="2209800"/>
            <a:ext cx="152400" cy="609600"/>
          </a:xfrm>
          <a:prstGeom prst="rect">
            <a:avLst/>
          </a:prstGeom>
          <a:solidFill>
            <a:schemeClr val="folHlink"/>
          </a:solidFill>
          <a:ln w="25400">
            <a:solidFill>
              <a:schemeClr val="tx1"/>
            </a:solidFill>
            <a:miter lim="800000"/>
            <a:headEnd/>
            <a:tailEnd/>
          </a:ln>
        </p:spPr>
        <p:txBody>
          <a:bodyPr wrap="none" anchor="ctr"/>
          <a:lstStyle/>
          <a:p>
            <a:endParaRPr lang="zh-CN" altLang="en-US"/>
          </a:p>
        </p:txBody>
      </p:sp>
      <p:sp>
        <p:nvSpPr>
          <p:cNvPr id="21533" name="Rectangle 29"/>
          <p:cNvSpPr>
            <a:spLocks noChangeArrowheads="1"/>
          </p:cNvSpPr>
          <p:nvPr/>
        </p:nvSpPr>
        <p:spPr bwMode="auto">
          <a:xfrm>
            <a:off x="687388" y="1828800"/>
            <a:ext cx="1527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spcBef>
                <a:spcPct val="0"/>
              </a:spcBef>
            </a:pPr>
            <a:r>
              <a:rPr kumimoji="0" lang="en-US" altLang="zh-CN" sz="2000">
                <a:latin typeface="Arial Narrow" pitchFamily="34" charset="0"/>
                <a:ea typeface="宋体" charset="-122"/>
              </a:rPr>
              <a:t>doCheckout()</a:t>
            </a:r>
          </a:p>
        </p:txBody>
      </p:sp>
      <p:sp>
        <p:nvSpPr>
          <p:cNvPr id="21534" name="Text Box 30"/>
          <p:cNvSpPr txBox="1">
            <a:spLocks noChangeArrowheads="1"/>
          </p:cNvSpPr>
          <p:nvPr/>
        </p:nvSpPr>
        <p:spPr bwMode="auto">
          <a:xfrm>
            <a:off x="1176338" y="1179513"/>
            <a:ext cx="1690687" cy="420687"/>
          </a:xfrm>
          <a:prstGeom prst="rect">
            <a:avLst/>
          </a:prstGeom>
          <a:solidFill>
            <a:schemeClr val="bg1"/>
          </a:solidFill>
          <a:ln w="19050">
            <a:solidFill>
              <a:schemeClr val="tx1"/>
            </a:solidFill>
            <a:miter lim="800000"/>
            <a:headEnd/>
            <a:tailEnd/>
          </a:ln>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60000"/>
              </a:lnSpc>
            </a:pPr>
            <a:r>
              <a:rPr kumimoji="0" lang="en-US" altLang="zh-CN" sz="2400">
                <a:latin typeface="Arial Narrow" pitchFamily="34" charset="0"/>
                <a:ea typeface="宋体" charset="-122"/>
              </a:rPr>
              <a:t>:MainScreen</a:t>
            </a:r>
          </a:p>
        </p:txBody>
      </p:sp>
      <p:sp>
        <p:nvSpPr>
          <p:cNvPr id="21535" name="Rectangle 31"/>
          <p:cNvSpPr>
            <a:spLocks noChangeArrowheads="1"/>
          </p:cNvSpPr>
          <p:nvPr/>
        </p:nvSpPr>
        <p:spPr bwMode="auto">
          <a:xfrm>
            <a:off x="1981200" y="3097213"/>
            <a:ext cx="763588"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a:latin typeface="Arial Narrow" pitchFamily="34" charset="0"/>
                <a:ea typeface="宋体" charset="-122"/>
              </a:rPr>
              <a:t>read()</a:t>
            </a:r>
          </a:p>
        </p:txBody>
      </p:sp>
      <p:sp>
        <p:nvSpPr>
          <p:cNvPr id="21537" name="Text Box 33"/>
          <p:cNvSpPr txBox="1">
            <a:spLocks noChangeArrowheads="1"/>
          </p:cNvSpPr>
          <p:nvPr/>
        </p:nvSpPr>
        <p:spPr bwMode="auto">
          <a:xfrm>
            <a:off x="2516188" y="3962400"/>
            <a:ext cx="457200" cy="1708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r>
              <a:rPr kumimoji="0" lang="en-US" altLang="zh-CN" sz="10600" b="0">
                <a:latin typeface="Times New Roman" pitchFamily="18" charset="0"/>
                <a:ea typeface="宋体" charset="-122"/>
              </a:rPr>
              <a:t>{</a:t>
            </a:r>
          </a:p>
        </p:txBody>
      </p:sp>
      <p:sp>
        <p:nvSpPr>
          <p:cNvPr id="21538" name="Rectangle 34"/>
          <p:cNvSpPr>
            <a:spLocks noChangeArrowheads="1"/>
          </p:cNvSpPr>
          <p:nvPr/>
        </p:nvSpPr>
        <p:spPr bwMode="auto">
          <a:xfrm>
            <a:off x="1517650" y="4591050"/>
            <a:ext cx="950913" cy="701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2000">
                <a:latin typeface="Arial Narrow" pitchFamily="34" charset="0"/>
              </a:rPr>
              <a:t>用例的</a:t>
            </a:r>
          </a:p>
          <a:p>
            <a:pPr algn="l" eaLnBrk="0" hangingPunct="0">
              <a:spcBef>
                <a:spcPct val="0"/>
              </a:spcBef>
            </a:pPr>
            <a:r>
              <a:rPr kumimoji="0" lang="zh-CN" altLang="en-US" sz="2000">
                <a:latin typeface="Arial Narrow" pitchFamily="34" charset="0"/>
              </a:rPr>
              <a:t>第三步</a:t>
            </a:r>
          </a:p>
        </p:txBody>
      </p:sp>
      <p:sp>
        <p:nvSpPr>
          <p:cNvPr id="58405" name="AutoShape 37"/>
          <p:cNvSpPr>
            <a:spLocks noChangeArrowheads="1"/>
          </p:cNvSpPr>
          <p:nvPr/>
        </p:nvSpPr>
        <p:spPr bwMode="auto">
          <a:xfrm>
            <a:off x="4021138" y="5357813"/>
            <a:ext cx="2073274" cy="1333500"/>
          </a:xfrm>
          <a:prstGeom prst="wedgeRoundRectCallout">
            <a:avLst>
              <a:gd name="adj1" fmla="val 3962"/>
              <a:gd name="adj2" fmla="val -59143"/>
              <a:gd name="adj3" fmla="val 16667"/>
            </a:avLst>
          </a:prstGeom>
          <a:solidFill>
            <a:schemeClr val="accent1"/>
          </a:solidFill>
          <a:ln w="12700" algn="ctr">
            <a:solidFill>
              <a:srgbClr val="99CCFF"/>
            </a:solidFill>
            <a:miter lim="800000"/>
            <a:headEnd/>
            <a:tailEnd/>
          </a:ln>
        </p:spPr>
        <p:txBody>
          <a:bodyPr lIns="0" tIns="108000" rIns="0" bIns="108000"/>
          <a:lstStyle/>
          <a:p>
            <a:r>
              <a:rPr kumimoji="0" lang="zh-CN" altLang="en-US" sz="1400"/>
              <a:t>在时序图中，时间沿纵轴向下延长。本例中，</a:t>
            </a:r>
            <a:r>
              <a:rPr kumimoji="0" lang="en-US" altLang="zh-CN" sz="1400"/>
              <a:t>doCheckout()</a:t>
            </a:r>
            <a:r>
              <a:rPr kumimoji="0" lang="zh-CN" altLang="en-US" sz="1400"/>
              <a:t>首先发生，然后发生</a:t>
            </a:r>
            <a:r>
              <a:rPr kumimoji="0" lang="en-US" altLang="zh-CN" sz="1400"/>
              <a:t>read()</a:t>
            </a:r>
            <a:r>
              <a:rPr kumimoji="0" lang="zh-CN" altLang="en-US" sz="1400"/>
              <a:t>，接下来再是</a:t>
            </a:r>
            <a:r>
              <a:rPr kumimoji="0" lang="en-US" altLang="zh-CN" sz="1400"/>
              <a:t>initiate()</a:t>
            </a:r>
          </a:p>
        </p:txBody>
      </p:sp>
      <p:sp>
        <p:nvSpPr>
          <p:cNvPr id="58406" name="AutoShape 38"/>
          <p:cNvSpPr>
            <a:spLocks noChangeArrowheads="1"/>
          </p:cNvSpPr>
          <p:nvPr/>
        </p:nvSpPr>
        <p:spPr bwMode="auto">
          <a:xfrm>
            <a:off x="207963" y="5357813"/>
            <a:ext cx="2659062" cy="1316390"/>
          </a:xfrm>
          <a:prstGeom prst="wedgeRoundRectCallout">
            <a:avLst>
              <a:gd name="adj1" fmla="val -16635"/>
              <a:gd name="adj2" fmla="val -67702"/>
              <a:gd name="adj3" fmla="val 16667"/>
            </a:avLst>
          </a:prstGeom>
          <a:solidFill>
            <a:schemeClr val="accent1"/>
          </a:solidFill>
          <a:ln w="12700" algn="ctr">
            <a:solidFill>
              <a:srgbClr val="99CCFF"/>
            </a:solidFill>
            <a:miter lim="800000"/>
            <a:headEnd/>
            <a:tailEnd/>
          </a:ln>
        </p:spPr>
        <p:txBody>
          <a:bodyPr lIns="0" tIns="108000" rIns="0" bIns="108000"/>
          <a:lstStyle/>
          <a:p>
            <a:r>
              <a:rPr kumimoji="0" lang="zh-CN" altLang="en-US" sz="1400" dirty="0"/>
              <a:t>用例或是被用户或对象初始化的，初始化从图的左上端开始，符号下面有一条实线的下划线表示实体已存在。可以在它的开始处用前置条件来说明任何假设条件。</a:t>
            </a:r>
          </a:p>
        </p:txBody>
      </p:sp>
    </p:spTree>
    <p:extLst>
      <p:ext uri="{BB962C8B-B14F-4D97-AF65-F5344CB8AC3E}">
        <p14:creationId xmlns:p14="http://schemas.microsoft.com/office/powerpoint/2010/main" val="20384592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8405"/>
                                        </p:tgtEl>
                                        <p:attrNameLst>
                                          <p:attrName>style.visibility</p:attrName>
                                        </p:attrNameLst>
                                      </p:cBhvr>
                                      <p:to>
                                        <p:strVal val="visible"/>
                                      </p:to>
                                    </p:set>
                                    <p:animEffect transition="in" filter="checkerboard(across)">
                                      <p:cBhvr>
                                        <p:cTn id="7" dur="500"/>
                                        <p:tgtEl>
                                          <p:spTgt spid="584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xit" presetSubtype="10" fill="hold" grpId="1" nodeType="clickEffect">
                                  <p:stCondLst>
                                    <p:cond delay="0"/>
                                  </p:stCondLst>
                                  <p:childTnLst>
                                    <p:animEffect transition="out" filter="checkerboard(across)">
                                      <p:cBhvr>
                                        <p:cTn id="11" dur="500"/>
                                        <p:tgtEl>
                                          <p:spTgt spid="58405"/>
                                        </p:tgtEl>
                                      </p:cBhvr>
                                    </p:animEffect>
                                    <p:set>
                                      <p:cBhvr>
                                        <p:cTn id="12" dur="1" fill="hold">
                                          <p:stCondLst>
                                            <p:cond delay="499"/>
                                          </p:stCondLst>
                                        </p:cTn>
                                        <p:tgtEl>
                                          <p:spTgt spid="58405"/>
                                        </p:tgtEl>
                                        <p:attrNameLst>
                                          <p:attrName>style.visibility</p:attrName>
                                        </p:attrNameLst>
                                      </p:cBhvr>
                                      <p:to>
                                        <p:strVal val="hidden"/>
                                      </p:to>
                                    </p:set>
                                  </p:childTnLst>
                                </p:cTn>
                              </p:par>
                              <p:par>
                                <p:cTn id="13" presetID="5" presetClass="entr" presetSubtype="10" fill="hold" grpId="0" nodeType="withEffect">
                                  <p:stCondLst>
                                    <p:cond delay="0"/>
                                  </p:stCondLst>
                                  <p:childTnLst>
                                    <p:set>
                                      <p:cBhvr>
                                        <p:cTn id="14" dur="1" fill="hold">
                                          <p:stCondLst>
                                            <p:cond delay="0"/>
                                          </p:stCondLst>
                                        </p:cTn>
                                        <p:tgtEl>
                                          <p:spTgt spid="58406"/>
                                        </p:tgtEl>
                                        <p:attrNameLst>
                                          <p:attrName>style.visibility</p:attrName>
                                        </p:attrNameLst>
                                      </p:cBhvr>
                                      <p:to>
                                        <p:strVal val="visible"/>
                                      </p:to>
                                    </p:set>
                                    <p:animEffect transition="in" filter="checkerboard(across)">
                                      <p:cBhvr>
                                        <p:cTn id="15" dur="500"/>
                                        <p:tgtEl>
                                          <p:spTgt spid="5840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 presetClass="exit" presetSubtype="10" fill="hold" grpId="1" nodeType="clickEffect">
                                  <p:stCondLst>
                                    <p:cond delay="0"/>
                                  </p:stCondLst>
                                  <p:childTnLst>
                                    <p:animEffect transition="out" filter="checkerboard(across)">
                                      <p:cBhvr>
                                        <p:cTn id="19" dur="500"/>
                                        <p:tgtEl>
                                          <p:spTgt spid="58406"/>
                                        </p:tgtEl>
                                      </p:cBhvr>
                                    </p:animEffect>
                                    <p:set>
                                      <p:cBhvr>
                                        <p:cTn id="20" dur="1" fill="hold">
                                          <p:stCondLst>
                                            <p:cond delay="499"/>
                                          </p:stCondLst>
                                        </p:cTn>
                                        <p:tgtEl>
                                          <p:spTgt spid="5840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05" grpId="0" animBg="1"/>
      <p:bldP spid="58405" grpId="1" animBg="1"/>
      <p:bldP spid="58406" grpId="0" animBg="1"/>
      <p:bldP spid="58406"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Line 2"/>
          <p:cNvSpPr>
            <a:spLocks noChangeShapeType="1"/>
          </p:cNvSpPr>
          <p:nvPr/>
        </p:nvSpPr>
        <p:spPr bwMode="auto">
          <a:xfrm>
            <a:off x="6308725" y="2819400"/>
            <a:ext cx="15875" cy="2819400"/>
          </a:xfrm>
          <a:prstGeom prst="line">
            <a:avLst/>
          </a:prstGeom>
          <a:noFill/>
          <a:ln w="1905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1" name="Line 3"/>
          <p:cNvSpPr>
            <a:spLocks noChangeShapeType="1"/>
          </p:cNvSpPr>
          <p:nvPr/>
        </p:nvSpPr>
        <p:spPr bwMode="auto">
          <a:xfrm>
            <a:off x="7621588" y="1447800"/>
            <a:ext cx="7937" cy="3733800"/>
          </a:xfrm>
          <a:prstGeom prst="line">
            <a:avLst/>
          </a:prstGeom>
          <a:noFill/>
          <a:ln w="1905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2" name="Line 4"/>
          <p:cNvSpPr>
            <a:spLocks noChangeShapeType="1"/>
          </p:cNvSpPr>
          <p:nvPr/>
        </p:nvSpPr>
        <p:spPr bwMode="auto">
          <a:xfrm>
            <a:off x="7629525" y="5257800"/>
            <a:ext cx="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3" name="Line 5"/>
          <p:cNvSpPr>
            <a:spLocks noChangeShapeType="1"/>
          </p:cNvSpPr>
          <p:nvPr/>
        </p:nvSpPr>
        <p:spPr bwMode="auto">
          <a:xfrm flipH="1">
            <a:off x="3582988" y="4953000"/>
            <a:ext cx="266700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4" name="Line 6"/>
          <p:cNvSpPr>
            <a:spLocks noChangeShapeType="1"/>
          </p:cNvSpPr>
          <p:nvPr/>
        </p:nvSpPr>
        <p:spPr bwMode="auto">
          <a:xfrm flipH="1" flipV="1">
            <a:off x="6326188" y="5334000"/>
            <a:ext cx="1227137" cy="1270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5" name="Line 7"/>
          <p:cNvSpPr>
            <a:spLocks noChangeShapeType="1"/>
          </p:cNvSpPr>
          <p:nvPr/>
        </p:nvSpPr>
        <p:spPr bwMode="auto">
          <a:xfrm>
            <a:off x="3563938" y="1524000"/>
            <a:ext cx="0" cy="4876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6" name="Line 8"/>
          <p:cNvSpPr>
            <a:spLocks noChangeShapeType="1"/>
          </p:cNvSpPr>
          <p:nvPr/>
        </p:nvSpPr>
        <p:spPr bwMode="auto">
          <a:xfrm flipH="1">
            <a:off x="619125" y="3505200"/>
            <a:ext cx="2887663"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7" name="Rectangle 9"/>
          <p:cNvSpPr>
            <a:spLocks noChangeArrowheads="1"/>
          </p:cNvSpPr>
          <p:nvPr/>
        </p:nvSpPr>
        <p:spPr bwMode="auto">
          <a:xfrm>
            <a:off x="533400" y="152400"/>
            <a:ext cx="8305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pPr>
            <a:r>
              <a:rPr kumimoji="0" lang="en-US" altLang="zh-CN" sz="3600" b="0">
                <a:solidFill>
                  <a:schemeClr val="accent2"/>
                </a:solidFill>
                <a:latin typeface="Arial" charset="0"/>
                <a:ea typeface="宋体" charset="-122"/>
              </a:rPr>
              <a:t>Checkout </a:t>
            </a:r>
            <a:r>
              <a:rPr kumimoji="0" lang="zh-CN" altLang="en-US" sz="3600">
                <a:solidFill>
                  <a:schemeClr val="accent2"/>
                </a:solidFill>
                <a:latin typeface="Arial" charset="0"/>
              </a:rPr>
              <a:t>用例时序图的开始阶段</a:t>
            </a:r>
          </a:p>
        </p:txBody>
      </p:sp>
      <p:sp>
        <p:nvSpPr>
          <p:cNvPr id="22538" name="Text Box 10"/>
          <p:cNvSpPr txBox="1">
            <a:spLocks noChangeArrowheads="1"/>
          </p:cNvSpPr>
          <p:nvPr/>
        </p:nvSpPr>
        <p:spPr bwMode="auto">
          <a:xfrm>
            <a:off x="228600" y="1179513"/>
            <a:ext cx="811213" cy="401637"/>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nSpc>
                <a:spcPct val="60000"/>
              </a:lnSpc>
            </a:pPr>
            <a:r>
              <a:rPr kumimoji="0" lang="en-US" altLang="zh-CN" sz="2400" u="sng">
                <a:latin typeface="Arial Narrow" pitchFamily="34" charset="0"/>
                <a:ea typeface="宋体" charset="-122"/>
              </a:rPr>
              <a:t>Clerk</a:t>
            </a:r>
          </a:p>
        </p:txBody>
      </p:sp>
      <p:sp>
        <p:nvSpPr>
          <p:cNvPr id="22539" name="Line 11"/>
          <p:cNvSpPr>
            <a:spLocks noChangeShapeType="1"/>
          </p:cNvSpPr>
          <p:nvPr/>
        </p:nvSpPr>
        <p:spPr bwMode="auto">
          <a:xfrm flipH="1">
            <a:off x="611188" y="1600200"/>
            <a:ext cx="7937" cy="4800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0" name="Rectangle 12"/>
          <p:cNvSpPr>
            <a:spLocks noChangeArrowheads="1"/>
          </p:cNvSpPr>
          <p:nvPr/>
        </p:nvSpPr>
        <p:spPr bwMode="auto">
          <a:xfrm>
            <a:off x="3487738" y="3505200"/>
            <a:ext cx="144462" cy="1676400"/>
          </a:xfrm>
          <a:prstGeom prst="rect">
            <a:avLst/>
          </a:prstGeom>
          <a:solidFill>
            <a:schemeClr val="folHlink"/>
          </a:solidFill>
          <a:ln w="25400">
            <a:solidFill>
              <a:schemeClr val="tx1"/>
            </a:solidFill>
            <a:miter lim="800000"/>
            <a:headEnd/>
            <a:tailEnd/>
          </a:ln>
        </p:spPr>
        <p:txBody>
          <a:bodyPr wrap="none" anchor="ctr"/>
          <a:lstStyle/>
          <a:p>
            <a:endParaRPr lang="zh-CN" altLang="en-US"/>
          </a:p>
        </p:txBody>
      </p:sp>
      <p:sp>
        <p:nvSpPr>
          <p:cNvPr id="22541" name="Text Box 13"/>
          <p:cNvSpPr txBox="1">
            <a:spLocks noChangeArrowheads="1"/>
          </p:cNvSpPr>
          <p:nvPr/>
        </p:nvSpPr>
        <p:spPr bwMode="auto">
          <a:xfrm>
            <a:off x="2928938" y="1179513"/>
            <a:ext cx="2178050" cy="420687"/>
          </a:xfrm>
          <a:prstGeom prst="rect">
            <a:avLst/>
          </a:prstGeom>
          <a:solidFill>
            <a:schemeClr val="bg1"/>
          </a:solidFill>
          <a:ln w="19050">
            <a:solidFill>
              <a:schemeClr val="tx1"/>
            </a:solidFill>
            <a:miter lim="800000"/>
            <a:headEnd/>
            <a:tailEnd/>
          </a:ln>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60000"/>
              </a:lnSpc>
            </a:pPr>
            <a:r>
              <a:rPr kumimoji="0" lang="en-US" altLang="zh-CN" sz="2400">
                <a:latin typeface="Arial Narrow" pitchFamily="34" charset="0"/>
                <a:ea typeface="宋体" charset="-122"/>
              </a:rPr>
              <a:t>:BarCodeReader</a:t>
            </a:r>
          </a:p>
        </p:txBody>
      </p:sp>
      <p:sp>
        <p:nvSpPr>
          <p:cNvPr id="22542" name="Text Box 14"/>
          <p:cNvSpPr txBox="1">
            <a:spLocks noChangeArrowheads="1"/>
          </p:cNvSpPr>
          <p:nvPr/>
        </p:nvSpPr>
        <p:spPr bwMode="auto">
          <a:xfrm>
            <a:off x="5622925" y="2590800"/>
            <a:ext cx="1425575" cy="420688"/>
          </a:xfrm>
          <a:prstGeom prst="rect">
            <a:avLst/>
          </a:prstGeom>
          <a:solidFill>
            <a:schemeClr val="bg1"/>
          </a:solidFill>
          <a:ln w="19050">
            <a:solidFill>
              <a:schemeClr val="tx1"/>
            </a:solidFill>
            <a:miter lim="800000"/>
            <a:headEnd/>
            <a:tailEnd/>
          </a:ln>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60000"/>
              </a:lnSpc>
            </a:pPr>
            <a:r>
              <a:rPr kumimoji="0" lang="en-US" altLang="zh-CN" sz="2400">
                <a:latin typeface="Arial Narrow" pitchFamily="34" charset="0"/>
                <a:ea typeface="宋体" charset="-122"/>
              </a:rPr>
              <a:t>:Checkout</a:t>
            </a:r>
          </a:p>
        </p:txBody>
      </p:sp>
      <p:sp>
        <p:nvSpPr>
          <p:cNvPr id="22543" name="Rectangle 15"/>
          <p:cNvSpPr>
            <a:spLocks noChangeArrowheads="1"/>
          </p:cNvSpPr>
          <p:nvPr/>
        </p:nvSpPr>
        <p:spPr bwMode="auto">
          <a:xfrm>
            <a:off x="6232525" y="4953000"/>
            <a:ext cx="152400" cy="1447800"/>
          </a:xfrm>
          <a:prstGeom prst="rect">
            <a:avLst/>
          </a:prstGeom>
          <a:solidFill>
            <a:schemeClr val="folHlink"/>
          </a:solidFill>
          <a:ln w="25400">
            <a:solidFill>
              <a:schemeClr val="tx1"/>
            </a:solidFill>
            <a:miter lim="800000"/>
            <a:headEnd/>
            <a:tailEnd/>
          </a:ln>
        </p:spPr>
        <p:txBody>
          <a:bodyPr wrap="none" anchor="ctr"/>
          <a:lstStyle/>
          <a:p>
            <a:endParaRPr lang="zh-CN" altLang="en-US"/>
          </a:p>
        </p:txBody>
      </p:sp>
      <p:sp>
        <p:nvSpPr>
          <p:cNvPr id="22544" name="Rectangle 16"/>
          <p:cNvSpPr>
            <a:spLocks noChangeArrowheads="1"/>
          </p:cNvSpPr>
          <p:nvPr/>
        </p:nvSpPr>
        <p:spPr bwMode="auto">
          <a:xfrm>
            <a:off x="4421188" y="4548188"/>
            <a:ext cx="993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spcBef>
                <a:spcPct val="0"/>
              </a:spcBef>
            </a:pPr>
            <a:r>
              <a:rPr kumimoji="0" lang="en-US" altLang="zh-CN" sz="2000">
                <a:latin typeface="Arial Narrow" pitchFamily="34" charset="0"/>
                <a:ea typeface="宋体" charset="-122"/>
              </a:rPr>
              <a:t>initiate()</a:t>
            </a:r>
          </a:p>
        </p:txBody>
      </p:sp>
      <p:sp>
        <p:nvSpPr>
          <p:cNvPr id="22545" name="Rectangle 17"/>
          <p:cNvSpPr>
            <a:spLocks noChangeArrowheads="1"/>
          </p:cNvSpPr>
          <p:nvPr/>
        </p:nvSpPr>
        <p:spPr bwMode="auto">
          <a:xfrm>
            <a:off x="7553325" y="5357813"/>
            <a:ext cx="144463" cy="814387"/>
          </a:xfrm>
          <a:prstGeom prst="rect">
            <a:avLst/>
          </a:prstGeom>
          <a:solidFill>
            <a:schemeClr val="folHlink"/>
          </a:solidFill>
          <a:ln w="25400">
            <a:solidFill>
              <a:schemeClr val="tx1"/>
            </a:solidFill>
            <a:miter lim="800000"/>
            <a:headEnd/>
            <a:tailEnd/>
          </a:ln>
        </p:spPr>
        <p:txBody>
          <a:bodyPr wrap="none" anchor="ctr"/>
          <a:lstStyle/>
          <a:p>
            <a:endParaRPr lang="zh-CN" altLang="en-US"/>
          </a:p>
        </p:txBody>
      </p:sp>
      <p:sp>
        <p:nvSpPr>
          <p:cNvPr id="22546" name="Rectangle 18"/>
          <p:cNvSpPr>
            <a:spLocks noChangeArrowheads="1"/>
          </p:cNvSpPr>
          <p:nvPr/>
        </p:nvSpPr>
        <p:spPr bwMode="auto">
          <a:xfrm>
            <a:off x="6537325" y="4953000"/>
            <a:ext cx="855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spcBef>
                <a:spcPct val="0"/>
              </a:spcBef>
            </a:pPr>
            <a:r>
              <a:rPr kumimoji="0" lang="en-US" altLang="zh-CN" sz="2000">
                <a:latin typeface="Arial Narrow" pitchFamily="34" charset="0"/>
                <a:ea typeface="宋体" charset="-122"/>
              </a:rPr>
              <a:t>show()</a:t>
            </a:r>
          </a:p>
        </p:txBody>
      </p:sp>
      <p:sp>
        <p:nvSpPr>
          <p:cNvPr id="22547" name="Text Box 19"/>
          <p:cNvSpPr txBox="1">
            <a:spLocks noChangeArrowheads="1"/>
          </p:cNvSpPr>
          <p:nvPr/>
        </p:nvSpPr>
        <p:spPr bwMode="auto">
          <a:xfrm>
            <a:off x="5184775" y="1179513"/>
            <a:ext cx="3122613" cy="420687"/>
          </a:xfrm>
          <a:prstGeom prst="rect">
            <a:avLst/>
          </a:prstGeom>
          <a:solidFill>
            <a:schemeClr val="bg1"/>
          </a:solidFill>
          <a:ln w="19050">
            <a:solidFill>
              <a:schemeClr val="tx1"/>
            </a:solidFill>
            <a:miter lim="800000"/>
            <a:headEnd/>
            <a:tailEnd/>
          </a:ln>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60000"/>
              </a:lnSpc>
            </a:pPr>
            <a:r>
              <a:rPr kumimoji="0" lang="en-US" altLang="zh-CN" sz="2400">
                <a:latin typeface="Arial Narrow" pitchFamily="34" charset="0"/>
                <a:ea typeface="宋体" charset="-122"/>
              </a:rPr>
              <a:t>:CheckoutOptionDisplay</a:t>
            </a:r>
          </a:p>
        </p:txBody>
      </p:sp>
      <p:sp>
        <p:nvSpPr>
          <p:cNvPr id="22548" name="Text Box 20"/>
          <p:cNvSpPr txBox="1">
            <a:spLocks noChangeArrowheads="1"/>
          </p:cNvSpPr>
          <p:nvPr/>
        </p:nvSpPr>
        <p:spPr bwMode="auto">
          <a:xfrm>
            <a:off x="3640138" y="2971800"/>
            <a:ext cx="457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r>
              <a:rPr kumimoji="0" lang="en-US" altLang="zh-CN" sz="5400" b="0">
                <a:latin typeface="Times New Roman" pitchFamily="18" charset="0"/>
                <a:ea typeface="宋体" charset="-122"/>
              </a:rPr>
              <a:t>}</a:t>
            </a:r>
          </a:p>
        </p:txBody>
      </p:sp>
      <p:sp>
        <p:nvSpPr>
          <p:cNvPr id="22549" name="Rectangle 21"/>
          <p:cNvSpPr>
            <a:spLocks noChangeArrowheads="1"/>
          </p:cNvSpPr>
          <p:nvPr/>
        </p:nvSpPr>
        <p:spPr bwMode="auto">
          <a:xfrm>
            <a:off x="4021138" y="3340100"/>
            <a:ext cx="1717675"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2000">
                <a:latin typeface="Arial Narrow" pitchFamily="34" charset="0"/>
              </a:rPr>
              <a:t>用例的第二步</a:t>
            </a:r>
          </a:p>
        </p:txBody>
      </p:sp>
      <p:sp>
        <p:nvSpPr>
          <p:cNvPr id="22551" name="Line 23"/>
          <p:cNvSpPr>
            <a:spLocks noChangeShapeType="1"/>
          </p:cNvSpPr>
          <p:nvPr/>
        </p:nvSpPr>
        <p:spPr bwMode="auto">
          <a:xfrm>
            <a:off x="8458200" y="2895600"/>
            <a:ext cx="0" cy="1143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52" name="Rectangle 24"/>
          <p:cNvSpPr>
            <a:spLocks noChangeArrowheads="1"/>
          </p:cNvSpPr>
          <p:nvPr/>
        </p:nvSpPr>
        <p:spPr bwMode="auto">
          <a:xfrm>
            <a:off x="8088313" y="2438400"/>
            <a:ext cx="715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i="1">
                <a:latin typeface="Arial Narrow" pitchFamily="34" charset="0"/>
                <a:ea typeface="宋体" charset="-122"/>
              </a:rPr>
              <a:t>order</a:t>
            </a:r>
          </a:p>
        </p:txBody>
      </p:sp>
      <p:sp>
        <p:nvSpPr>
          <p:cNvPr id="22554" name="Line 26"/>
          <p:cNvSpPr>
            <a:spLocks noChangeShapeType="1"/>
          </p:cNvSpPr>
          <p:nvPr/>
        </p:nvSpPr>
        <p:spPr bwMode="auto">
          <a:xfrm>
            <a:off x="2439988" y="1524000"/>
            <a:ext cx="0" cy="4876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5" name="Line 27"/>
          <p:cNvSpPr>
            <a:spLocks noChangeShapeType="1"/>
          </p:cNvSpPr>
          <p:nvPr/>
        </p:nvSpPr>
        <p:spPr bwMode="auto">
          <a:xfrm flipH="1">
            <a:off x="611188" y="2209800"/>
            <a:ext cx="175260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6" name="Rectangle 28"/>
          <p:cNvSpPr>
            <a:spLocks noChangeArrowheads="1"/>
          </p:cNvSpPr>
          <p:nvPr/>
        </p:nvSpPr>
        <p:spPr bwMode="auto">
          <a:xfrm>
            <a:off x="2363788" y="2209800"/>
            <a:ext cx="152400" cy="609600"/>
          </a:xfrm>
          <a:prstGeom prst="rect">
            <a:avLst/>
          </a:prstGeom>
          <a:solidFill>
            <a:schemeClr val="folHlink"/>
          </a:solidFill>
          <a:ln w="25400">
            <a:solidFill>
              <a:schemeClr val="tx1"/>
            </a:solidFill>
            <a:miter lim="800000"/>
            <a:headEnd/>
            <a:tailEnd/>
          </a:ln>
        </p:spPr>
        <p:txBody>
          <a:bodyPr wrap="none" anchor="ctr"/>
          <a:lstStyle/>
          <a:p>
            <a:endParaRPr lang="zh-CN" altLang="en-US"/>
          </a:p>
        </p:txBody>
      </p:sp>
      <p:sp>
        <p:nvSpPr>
          <p:cNvPr id="22557" name="Rectangle 29"/>
          <p:cNvSpPr>
            <a:spLocks noChangeArrowheads="1"/>
          </p:cNvSpPr>
          <p:nvPr/>
        </p:nvSpPr>
        <p:spPr bwMode="auto">
          <a:xfrm>
            <a:off x="687388" y="1828800"/>
            <a:ext cx="1527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spcBef>
                <a:spcPct val="0"/>
              </a:spcBef>
            </a:pPr>
            <a:r>
              <a:rPr kumimoji="0" lang="en-US" altLang="zh-CN" sz="2000">
                <a:latin typeface="Arial Narrow" pitchFamily="34" charset="0"/>
                <a:ea typeface="宋体" charset="-122"/>
              </a:rPr>
              <a:t>doCheckout()</a:t>
            </a:r>
          </a:p>
        </p:txBody>
      </p:sp>
      <p:sp>
        <p:nvSpPr>
          <p:cNvPr id="22558" name="Text Box 30"/>
          <p:cNvSpPr txBox="1">
            <a:spLocks noChangeArrowheads="1"/>
          </p:cNvSpPr>
          <p:nvPr/>
        </p:nvSpPr>
        <p:spPr bwMode="auto">
          <a:xfrm>
            <a:off x="1176338" y="1179513"/>
            <a:ext cx="1690687" cy="420687"/>
          </a:xfrm>
          <a:prstGeom prst="rect">
            <a:avLst/>
          </a:prstGeom>
          <a:solidFill>
            <a:schemeClr val="bg1"/>
          </a:solidFill>
          <a:ln w="19050">
            <a:solidFill>
              <a:schemeClr val="tx1"/>
            </a:solidFill>
            <a:miter lim="800000"/>
            <a:headEnd/>
            <a:tailEnd/>
          </a:ln>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60000"/>
              </a:lnSpc>
            </a:pPr>
            <a:r>
              <a:rPr kumimoji="0" lang="en-US" altLang="zh-CN" sz="2400">
                <a:latin typeface="Arial Narrow" pitchFamily="34" charset="0"/>
                <a:ea typeface="宋体" charset="-122"/>
              </a:rPr>
              <a:t>:MainScreen</a:t>
            </a:r>
          </a:p>
        </p:txBody>
      </p:sp>
      <p:sp>
        <p:nvSpPr>
          <p:cNvPr id="22559" name="Rectangle 31"/>
          <p:cNvSpPr>
            <a:spLocks noChangeArrowheads="1"/>
          </p:cNvSpPr>
          <p:nvPr/>
        </p:nvSpPr>
        <p:spPr bwMode="auto">
          <a:xfrm>
            <a:off x="1981200" y="3097213"/>
            <a:ext cx="763588"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a:latin typeface="Arial Narrow" pitchFamily="34" charset="0"/>
                <a:ea typeface="宋体" charset="-122"/>
              </a:rPr>
              <a:t>read()</a:t>
            </a:r>
          </a:p>
        </p:txBody>
      </p:sp>
      <p:sp>
        <p:nvSpPr>
          <p:cNvPr id="22561" name="Text Box 33"/>
          <p:cNvSpPr txBox="1">
            <a:spLocks noChangeArrowheads="1"/>
          </p:cNvSpPr>
          <p:nvPr/>
        </p:nvSpPr>
        <p:spPr bwMode="auto">
          <a:xfrm>
            <a:off x="2516188" y="3962400"/>
            <a:ext cx="457200" cy="1708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r>
              <a:rPr kumimoji="0" lang="en-US" altLang="zh-CN" sz="10600" b="0">
                <a:latin typeface="Times New Roman" pitchFamily="18" charset="0"/>
                <a:ea typeface="宋体" charset="-122"/>
              </a:rPr>
              <a:t>{</a:t>
            </a:r>
          </a:p>
        </p:txBody>
      </p:sp>
      <p:sp>
        <p:nvSpPr>
          <p:cNvPr id="22562" name="Rectangle 34"/>
          <p:cNvSpPr>
            <a:spLocks noChangeArrowheads="1"/>
          </p:cNvSpPr>
          <p:nvPr/>
        </p:nvSpPr>
        <p:spPr bwMode="auto">
          <a:xfrm>
            <a:off x="1517650" y="4591050"/>
            <a:ext cx="950913" cy="701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2000">
                <a:latin typeface="Arial Narrow" pitchFamily="34" charset="0"/>
              </a:rPr>
              <a:t>用例的</a:t>
            </a:r>
          </a:p>
          <a:p>
            <a:pPr algn="l" eaLnBrk="0" hangingPunct="0">
              <a:spcBef>
                <a:spcPct val="0"/>
              </a:spcBef>
            </a:pPr>
            <a:r>
              <a:rPr kumimoji="0" lang="zh-CN" altLang="en-US" sz="2000">
                <a:latin typeface="Arial Narrow" pitchFamily="34" charset="0"/>
              </a:rPr>
              <a:t>第三步</a:t>
            </a:r>
          </a:p>
        </p:txBody>
      </p:sp>
      <p:sp>
        <p:nvSpPr>
          <p:cNvPr id="193574" name="AutoShape 38"/>
          <p:cNvSpPr>
            <a:spLocks noChangeArrowheads="1"/>
          </p:cNvSpPr>
          <p:nvPr/>
        </p:nvSpPr>
        <p:spPr bwMode="auto">
          <a:xfrm>
            <a:off x="700088" y="5087938"/>
            <a:ext cx="2552700" cy="1763713"/>
          </a:xfrm>
          <a:prstGeom prst="wedgeRoundRectCallout">
            <a:avLst>
              <a:gd name="adj1" fmla="val 56073"/>
              <a:gd name="adj2" fmla="val -68294"/>
              <a:gd name="adj3" fmla="val 16667"/>
            </a:avLst>
          </a:prstGeom>
          <a:solidFill>
            <a:schemeClr val="accent1"/>
          </a:solidFill>
          <a:ln w="12700" algn="ctr">
            <a:solidFill>
              <a:srgbClr val="99CCFF"/>
            </a:solidFill>
            <a:miter lim="800000"/>
            <a:headEnd/>
            <a:tailEnd/>
          </a:ln>
        </p:spPr>
        <p:txBody>
          <a:bodyPr lIns="0" tIns="108000" rIns="0" bIns="108000"/>
          <a:lstStyle/>
          <a:p>
            <a:r>
              <a:rPr kumimoji="0" lang="zh-CN" altLang="en-US" sz="1400" dirty="0"/>
              <a:t>时序图表明了一系列函数的初始化和执行过程，在每个箭头开始处的对象完成初始化工作，箭头末尾的对象完成执行方法的工作，每个拉长的矩形符号表示执行相应对象的一个函数。</a:t>
            </a:r>
          </a:p>
        </p:txBody>
      </p:sp>
    </p:spTree>
    <p:extLst>
      <p:ext uri="{BB962C8B-B14F-4D97-AF65-F5344CB8AC3E}">
        <p14:creationId xmlns:p14="http://schemas.microsoft.com/office/powerpoint/2010/main" val="34944681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93574"/>
                                        </p:tgtEl>
                                        <p:attrNameLst>
                                          <p:attrName>style.visibility</p:attrName>
                                        </p:attrNameLst>
                                      </p:cBhvr>
                                      <p:to>
                                        <p:strVal val="visible"/>
                                      </p:to>
                                    </p:set>
                                    <p:animEffect transition="in" filter="checkerboard(across)">
                                      <p:cBhvr>
                                        <p:cTn id="7" dur="500"/>
                                        <p:tgtEl>
                                          <p:spTgt spid="1935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7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Line 2"/>
          <p:cNvSpPr>
            <a:spLocks noChangeShapeType="1"/>
          </p:cNvSpPr>
          <p:nvPr/>
        </p:nvSpPr>
        <p:spPr bwMode="auto">
          <a:xfrm>
            <a:off x="6308725" y="2819400"/>
            <a:ext cx="15875" cy="2819400"/>
          </a:xfrm>
          <a:prstGeom prst="line">
            <a:avLst/>
          </a:prstGeom>
          <a:noFill/>
          <a:ln w="1905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5" name="Line 3"/>
          <p:cNvSpPr>
            <a:spLocks noChangeShapeType="1"/>
          </p:cNvSpPr>
          <p:nvPr/>
        </p:nvSpPr>
        <p:spPr bwMode="auto">
          <a:xfrm>
            <a:off x="7621588" y="1447800"/>
            <a:ext cx="7937" cy="3733800"/>
          </a:xfrm>
          <a:prstGeom prst="line">
            <a:avLst/>
          </a:prstGeom>
          <a:noFill/>
          <a:ln w="1905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6" name="Line 4"/>
          <p:cNvSpPr>
            <a:spLocks noChangeShapeType="1"/>
          </p:cNvSpPr>
          <p:nvPr/>
        </p:nvSpPr>
        <p:spPr bwMode="auto">
          <a:xfrm>
            <a:off x="7629525" y="5257800"/>
            <a:ext cx="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 name="Line 5"/>
          <p:cNvSpPr>
            <a:spLocks noChangeShapeType="1"/>
          </p:cNvSpPr>
          <p:nvPr/>
        </p:nvSpPr>
        <p:spPr bwMode="auto">
          <a:xfrm flipH="1">
            <a:off x="3582988" y="4953000"/>
            <a:ext cx="266700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 name="Line 6"/>
          <p:cNvSpPr>
            <a:spLocks noChangeShapeType="1"/>
          </p:cNvSpPr>
          <p:nvPr/>
        </p:nvSpPr>
        <p:spPr bwMode="auto">
          <a:xfrm flipH="1" flipV="1">
            <a:off x="6326188" y="5334000"/>
            <a:ext cx="1227137" cy="1270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9" name="Line 7"/>
          <p:cNvSpPr>
            <a:spLocks noChangeShapeType="1"/>
          </p:cNvSpPr>
          <p:nvPr/>
        </p:nvSpPr>
        <p:spPr bwMode="auto">
          <a:xfrm>
            <a:off x="3563938" y="1524000"/>
            <a:ext cx="0" cy="4876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0" name="Line 8"/>
          <p:cNvSpPr>
            <a:spLocks noChangeShapeType="1"/>
          </p:cNvSpPr>
          <p:nvPr/>
        </p:nvSpPr>
        <p:spPr bwMode="auto">
          <a:xfrm flipH="1">
            <a:off x="619125" y="3505200"/>
            <a:ext cx="2887663"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1" name="Rectangle 9"/>
          <p:cNvSpPr>
            <a:spLocks noChangeArrowheads="1"/>
          </p:cNvSpPr>
          <p:nvPr/>
        </p:nvSpPr>
        <p:spPr bwMode="auto">
          <a:xfrm>
            <a:off x="533400" y="152400"/>
            <a:ext cx="8305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pPr>
            <a:r>
              <a:rPr kumimoji="0" lang="en-US" altLang="zh-CN" sz="3600" b="0">
                <a:solidFill>
                  <a:schemeClr val="accent2"/>
                </a:solidFill>
                <a:latin typeface="Arial" charset="0"/>
                <a:ea typeface="宋体" charset="-122"/>
              </a:rPr>
              <a:t>Checkout </a:t>
            </a:r>
            <a:r>
              <a:rPr kumimoji="0" lang="zh-CN" altLang="en-US" sz="3600">
                <a:solidFill>
                  <a:schemeClr val="accent2"/>
                </a:solidFill>
                <a:latin typeface="Arial" charset="0"/>
              </a:rPr>
              <a:t>用例时序图的开始阶段</a:t>
            </a:r>
          </a:p>
        </p:txBody>
      </p:sp>
      <p:sp>
        <p:nvSpPr>
          <p:cNvPr id="23562" name="Text Box 10"/>
          <p:cNvSpPr txBox="1">
            <a:spLocks noChangeArrowheads="1"/>
          </p:cNvSpPr>
          <p:nvPr/>
        </p:nvSpPr>
        <p:spPr bwMode="auto">
          <a:xfrm>
            <a:off x="228600" y="1179513"/>
            <a:ext cx="811213" cy="401637"/>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nSpc>
                <a:spcPct val="60000"/>
              </a:lnSpc>
            </a:pPr>
            <a:r>
              <a:rPr kumimoji="0" lang="en-US" altLang="zh-CN" sz="2400" u="sng">
                <a:latin typeface="Arial Narrow" pitchFamily="34" charset="0"/>
                <a:ea typeface="宋体" charset="-122"/>
              </a:rPr>
              <a:t>Clerk</a:t>
            </a:r>
          </a:p>
        </p:txBody>
      </p:sp>
      <p:sp>
        <p:nvSpPr>
          <p:cNvPr id="23563" name="Line 11"/>
          <p:cNvSpPr>
            <a:spLocks noChangeShapeType="1"/>
          </p:cNvSpPr>
          <p:nvPr/>
        </p:nvSpPr>
        <p:spPr bwMode="auto">
          <a:xfrm flipH="1">
            <a:off x="611188" y="1600200"/>
            <a:ext cx="7937" cy="4800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4" name="Rectangle 12"/>
          <p:cNvSpPr>
            <a:spLocks noChangeArrowheads="1"/>
          </p:cNvSpPr>
          <p:nvPr/>
        </p:nvSpPr>
        <p:spPr bwMode="auto">
          <a:xfrm>
            <a:off x="3487738" y="3505200"/>
            <a:ext cx="144462" cy="1676400"/>
          </a:xfrm>
          <a:prstGeom prst="rect">
            <a:avLst/>
          </a:prstGeom>
          <a:solidFill>
            <a:schemeClr val="folHlink"/>
          </a:solidFill>
          <a:ln w="25400">
            <a:solidFill>
              <a:schemeClr val="tx1"/>
            </a:solidFill>
            <a:miter lim="800000"/>
            <a:headEnd/>
            <a:tailEnd/>
          </a:ln>
        </p:spPr>
        <p:txBody>
          <a:bodyPr wrap="none" anchor="ctr"/>
          <a:lstStyle/>
          <a:p>
            <a:endParaRPr lang="zh-CN" altLang="en-US"/>
          </a:p>
        </p:txBody>
      </p:sp>
      <p:sp>
        <p:nvSpPr>
          <p:cNvPr id="23565" name="Text Box 13"/>
          <p:cNvSpPr txBox="1">
            <a:spLocks noChangeArrowheads="1"/>
          </p:cNvSpPr>
          <p:nvPr/>
        </p:nvSpPr>
        <p:spPr bwMode="auto">
          <a:xfrm>
            <a:off x="2928938" y="1179513"/>
            <a:ext cx="2178050" cy="420687"/>
          </a:xfrm>
          <a:prstGeom prst="rect">
            <a:avLst/>
          </a:prstGeom>
          <a:solidFill>
            <a:schemeClr val="bg1"/>
          </a:solidFill>
          <a:ln w="19050">
            <a:solidFill>
              <a:schemeClr val="tx1"/>
            </a:solidFill>
            <a:miter lim="800000"/>
            <a:headEnd/>
            <a:tailEnd/>
          </a:ln>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60000"/>
              </a:lnSpc>
            </a:pPr>
            <a:r>
              <a:rPr kumimoji="0" lang="en-US" altLang="zh-CN" sz="2400">
                <a:latin typeface="Arial Narrow" pitchFamily="34" charset="0"/>
                <a:ea typeface="宋体" charset="-122"/>
              </a:rPr>
              <a:t>:BarCodeReader</a:t>
            </a:r>
          </a:p>
        </p:txBody>
      </p:sp>
      <p:sp>
        <p:nvSpPr>
          <p:cNvPr id="23566" name="Text Box 14"/>
          <p:cNvSpPr txBox="1">
            <a:spLocks noChangeArrowheads="1"/>
          </p:cNvSpPr>
          <p:nvPr/>
        </p:nvSpPr>
        <p:spPr bwMode="auto">
          <a:xfrm>
            <a:off x="5622925" y="2590800"/>
            <a:ext cx="1425575" cy="420688"/>
          </a:xfrm>
          <a:prstGeom prst="rect">
            <a:avLst/>
          </a:prstGeom>
          <a:solidFill>
            <a:schemeClr val="bg1"/>
          </a:solidFill>
          <a:ln w="19050">
            <a:solidFill>
              <a:schemeClr val="tx1"/>
            </a:solidFill>
            <a:miter lim="800000"/>
            <a:headEnd/>
            <a:tailEnd/>
          </a:ln>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60000"/>
              </a:lnSpc>
            </a:pPr>
            <a:r>
              <a:rPr kumimoji="0" lang="en-US" altLang="zh-CN" sz="2400">
                <a:latin typeface="Arial Narrow" pitchFamily="34" charset="0"/>
                <a:ea typeface="宋体" charset="-122"/>
              </a:rPr>
              <a:t>:Checkout</a:t>
            </a:r>
          </a:p>
        </p:txBody>
      </p:sp>
      <p:sp>
        <p:nvSpPr>
          <p:cNvPr id="23567" name="Rectangle 15"/>
          <p:cNvSpPr>
            <a:spLocks noChangeArrowheads="1"/>
          </p:cNvSpPr>
          <p:nvPr/>
        </p:nvSpPr>
        <p:spPr bwMode="auto">
          <a:xfrm>
            <a:off x="6232525" y="4953000"/>
            <a:ext cx="152400" cy="1447800"/>
          </a:xfrm>
          <a:prstGeom prst="rect">
            <a:avLst/>
          </a:prstGeom>
          <a:solidFill>
            <a:schemeClr val="folHlink"/>
          </a:solidFill>
          <a:ln w="25400">
            <a:solidFill>
              <a:schemeClr val="tx1"/>
            </a:solidFill>
            <a:miter lim="800000"/>
            <a:headEnd/>
            <a:tailEnd/>
          </a:ln>
        </p:spPr>
        <p:txBody>
          <a:bodyPr wrap="none" anchor="ctr"/>
          <a:lstStyle/>
          <a:p>
            <a:endParaRPr lang="zh-CN" altLang="en-US"/>
          </a:p>
        </p:txBody>
      </p:sp>
      <p:sp>
        <p:nvSpPr>
          <p:cNvPr id="23568" name="Rectangle 16"/>
          <p:cNvSpPr>
            <a:spLocks noChangeArrowheads="1"/>
          </p:cNvSpPr>
          <p:nvPr/>
        </p:nvSpPr>
        <p:spPr bwMode="auto">
          <a:xfrm>
            <a:off x="4421188" y="4548188"/>
            <a:ext cx="993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spcBef>
                <a:spcPct val="0"/>
              </a:spcBef>
            </a:pPr>
            <a:r>
              <a:rPr kumimoji="0" lang="en-US" altLang="zh-CN" sz="2000">
                <a:latin typeface="Arial Narrow" pitchFamily="34" charset="0"/>
                <a:ea typeface="宋体" charset="-122"/>
              </a:rPr>
              <a:t>initiate()</a:t>
            </a:r>
          </a:p>
        </p:txBody>
      </p:sp>
      <p:sp>
        <p:nvSpPr>
          <p:cNvPr id="23569" name="Rectangle 17"/>
          <p:cNvSpPr>
            <a:spLocks noChangeArrowheads="1"/>
          </p:cNvSpPr>
          <p:nvPr/>
        </p:nvSpPr>
        <p:spPr bwMode="auto">
          <a:xfrm>
            <a:off x="7553325" y="5357813"/>
            <a:ext cx="144463" cy="814387"/>
          </a:xfrm>
          <a:prstGeom prst="rect">
            <a:avLst/>
          </a:prstGeom>
          <a:solidFill>
            <a:schemeClr val="folHlink"/>
          </a:solidFill>
          <a:ln w="25400">
            <a:solidFill>
              <a:schemeClr val="tx1"/>
            </a:solidFill>
            <a:miter lim="800000"/>
            <a:headEnd/>
            <a:tailEnd/>
          </a:ln>
        </p:spPr>
        <p:txBody>
          <a:bodyPr wrap="none" anchor="ctr"/>
          <a:lstStyle/>
          <a:p>
            <a:endParaRPr lang="zh-CN" altLang="en-US"/>
          </a:p>
        </p:txBody>
      </p:sp>
      <p:sp>
        <p:nvSpPr>
          <p:cNvPr id="23570" name="Rectangle 18"/>
          <p:cNvSpPr>
            <a:spLocks noChangeArrowheads="1"/>
          </p:cNvSpPr>
          <p:nvPr/>
        </p:nvSpPr>
        <p:spPr bwMode="auto">
          <a:xfrm>
            <a:off x="6537325" y="4953000"/>
            <a:ext cx="855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spcBef>
                <a:spcPct val="0"/>
              </a:spcBef>
            </a:pPr>
            <a:r>
              <a:rPr kumimoji="0" lang="en-US" altLang="zh-CN" sz="2000">
                <a:latin typeface="Arial Narrow" pitchFamily="34" charset="0"/>
                <a:ea typeface="宋体" charset="-122"/>
              </a:rPr>
              <a:t>show()</a:t>
            </a:r>
          </a:p>
        </p:txBody>
      </p:sp>
      <p:sp>
        <p:nvSpPr>
          <p:cNvPr id="23571" name="Text Box 19"/>
          <p:cNvSpPr txBox="1">
            <a:spLocks noChangeArrowheads="1"/>
          </p:cNvSpPr>
          <p:nvPr/>
        </p:nvSpPr>
        <p:spPr bwMode="auto">
          <a:xfrm>
            <a:off x="5184775" y="1179513"/>
            <a:ext cx="3122613" cy="420687"/>
          </a:xfrm>
          <a:prstGeom prst="rect">
            <a:avLst/>
          </a:prstGeom>
          <a:solidFill>
            <a:schemeClr val="bg1"/>
          </a:solidFill>
          <a:ln w="19050">
            <a:solidFill>
              <a:schemeClr val="tx1"/>
            </a:solidFill>
            <a:miter lim="800000"/>
            <a:headEnd/>
            <a:tailEnd/>
          </a:ln>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60000"/>
              </a:lnSpc>
            </a:pPr>
            <a:r>
              <a:rPr kumimoji="0" lang="en-US" altLang="zh-CN" sz="2400">
                <a:latin typeface="Arial Narrow" pitchFamily="34" charset="0"/>
                <a:ea typeface="宋体" charset="-122"/>
              </a:rPr>
              <a:t>:CheckoutOptionDisplay</a:t>
            </a:r>
          </a:p>
        </p:txBody>
      </p:sp>
      <p:sp>
        <p:nvSpPr>
          <p:cNvPr id="23572" name="Text Box 20"/>
          <p:cNvSpPr txBox="1">
            <a:spLocks noChangeArrowheads="1"/>
          </p:cNvSpPr>
          <p:nvPr/>
        </p:nvSpPr>
        <p:spPr bwMode="auto">
          <a:xfrm>
            <a:off x="3640138" y="2971800"/>
            <a:ext cx="457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r>
              <a:rPr kumimoji="0" lang="en-US" altLang="zh-CN" sz="5400" b="0">
                <a:latin typeface="Times New Roman" pitchFamily="18" charset="0"/>
                <a:ea typeface="宋体" charset="-122"/>
              </a:rPr>
              <a:t>}</a:t>
            </a:r>
          </a:p>
        </p:txBody>
      </p:sp>
      <p:sp>
        <p:nvSpPr>
          <p:cNvPr id="23573" name="Rectangle 21"/>
          <p:cNvSpPr>
            <a:spLocks noChangeArrowheads="1"/>
          </p:cNvSpPr>
          <p:nvPr/>
        </p:nvSpPr>
        <p:spPr bwMode="auto">
          <a:xfrm>
            <a:off x="4021138" y="3340100"/>
            <a:ext cx="1717675"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2000">
                <a:latin typeface="Arial Narrow" pitchFamily="34" charset="0"/>
              </a:rPr>
              <a:t>用例的第二步</a:t>
            </a:r>
          </a:p>
        </p:txBody>
      </p:sp>
      <p:sp>
        <p:nvSpPr>
          <p:cNvPr id="23574" name="Oval 22"/>
          <p:cNvSpPr>
            <a:spLocks noChangeArrowheads="1"/>
          </p:cNvSpPr>
          <p:nvPr/>
        </p:nvSpPr>
        <p:spPr bwMode="auto">
          <a:xfrm>
            <a:off x="207963" y="685800"/>
            <a:ext cx="795337" cy="398463"/>
          </a:xfrm>
          <a:prstGeom prst="ellipse">
            <a:avLst/>
          </a:prstGeom>
          <a:solidFill>
            <a:schemeClr val="bg1"/>
          </a:solidFill>
          <a:ln w="9525">
            <a:solidFill>
              <a:schemeClr val="tx1"/>
            </a:solidFill>
            <a:round/>
            <a:headEnd/>
            <a:tailEnd/>
          </a:ln>
        </p:spPr>
        <p:txBody>
          <a:bodyPr wrap="none" lIns="0" tIns="0" rIns="0" bIns="0" anchor="ctr">
            <a:spAutoFit/>
          </a:bodyPr>
          <a:lstStyle/>
          <a:p>
            <a:pPr eaLnBrk="0" hangingPunct="0">
              <a:spcBef>
                <a:spcPct val="0"/>
              </a:spcBef>
            </a:pPr>
            <a:r>
              <a:rPr kumimoji="0" lang="en-US" altLang="zh-CN" sz="1800" b="0">
                <a:solidFill>
                  <a:schemeClr val="bg2"/>
                </a:solidFill>
                <a:latin typeface="Arial Narrow" pitchFamily="34" charset="0"/>
                <a:ea typeface="宋体" charset="-122"/>
              </a:rPr>
              <a:t>Note 1</a:t>
            </a:r>
          </a:p>
        </p:txBody>
      </p:sp>
      <p:sp>
        <p:nvSpPr>
          <p:cNvPr id="23575" name="Line 23"/>
          <p:cNvSpPr>
            <a:spLocks noChangeShapeType="1"/>
          </p:cNvSpPr>
          <p:nvPr/>
        </p:nvSpPr>
        <p:spPr bwMode="auto">
          <a:xfrm>
            <a:off x="8458200" y="2895600"/>
            <a:ext cx="0" cy="1143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76" name="Rectangle 24"/>
          <p:cNvSpPr>
            <a:spLocks noChangeArrowheads="1"/>
          </p:cNvSpPr>
          <p:nvPr/>
        </p:nvSpPr>
        <p:spPr bwMode="auto">
          <a:xfrm>
            <a:off x="8088313" y="2438400"/>
            <a:ext cx="715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i="1">
                <a:latin typeface="Arial Narrow" pitchFamily="34" charset="0"/>
                <a:ea typeface="宋体" charset="-122"/>
              </a:rPr>
              <a:t>order</a:t>
            </a:r>
          </a:p>
        </p:txBody>
      </p:sp>
      <p:sp>
        <p:nvSpPr>
          <p:cNvPr id="23578" name="Line 26"/>
          <p:cNvSpPr>
            <a:spLocks noChangeShapeType="1"/>
          </p:cNvSpPr>
          <p:nvPr/>
        </p:nvSpPr>
        <p:spPr bwMode="auto">
          <a:xfrm>
            <a:off x="2439988" y="1524000"/>
            <a:ext cx="0" cy="4876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9" name="Line 27"/>
          <p:cNvSpPr>
            <a:spLocks noChangeShapeType="1"/>
          </p:cNvSpPr>
          <p:nvPr/>
        </p:nvSpPr>
        <p:spPr bwMode="auto">
          <a:xfrm flipH="1">
            <a:off x="611188" y="2209800"/>
            <a:ext cx="175260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0" name="Rectangle 28"/>
          <p:cNvSpPr>
            <a:spLocks noChangeArrowheads="1"/>
          </p:cNvSpPr>
          <p:nvPr/>
        </p:nvSpPr>
        <p:spPr bwMode="auto">
          <a:xfrm>
            <a:off x="2363788" y="2209800"/>
            <a:ext cx="152400" cy="609600"/>
          </a:xfrm>
          <a:prstGeom prst="rect">
            <a:avLst/>
          </a:prstGeom>
          <a:solidFill>
            <a:schemeClr val="folHlink"/>
          </a:solidFill>
          <a:ln w="25400">
            <a:solidFill>
              <a:schemeClr val="tx1"/>
            </a:solidFill>
            <a:miter lim="800000"/>
            <a:headEnd/>
            <a:tailEnd/>
          </a:ln>
        </p:spPr>
        <p:txBody>
          <a:bodyPr wrap="none" anchor="ctr"/>
          <a:lstStyle/>
          <a:p>
            <a:endParaRPr lang="zh-CN" altLang="en-US"/>
          </a:p>
        </p:txBody>
      </p:sp>
      <p:sp>
        <p:nvSpPr>
          <p:cNvPr id="23581" name="Rectangle 29"/>
          <p:cNvSpPr>
            <a:spLocks noChangeArrowheads="1"/>
          </p:cNvSpPr>
          <p:nvPr/>
        </p:nvSpPr>
        <p:spPr bwMode="auto">
          <a:xfrm>
            <a:off x="687388" y="1828800"/>
            <a:ext cx="1527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spcBef>
                <a:spcPct val="0"/>
              </a:spcBef>
            </a:pPr>
            <a:r>
              <a:rPr kumimoji="0" lang="en-US" altLang="zh-CN" sz="2000">
                <a:latin typeface="Arial Narrow" pitchFamily="34" charset="0"/>
                <a:ea typeface="宋体" charset="-122"/>
              </a:rPr>
              <a:t>doCheckout()</a:t>
            </a:r>
          </a:p>
        </p:txBody>
      </p:sp>
      <p:sp>
        <p:nvSpPr>
          <p:cNvPr id="23582" name="Text Box 30"/>
          <p:cNvSpPr txBox="1">
            <a:spLocks noChangeArrowheads="1"/>
          </p:cNvSpPr>
          <p:nvPr/>
        </p:nvSpPr>
        <p:spPr bwMode="auto">
          <a:xfrm>
            <a:off x="1176338" y="1179513"/>
            <a:ext cx="1690687" cy="420687"/>
          </a:xfrm>
          <a:prstGeom prst="rect">
            <a:avLst/>
          </a:prstGeom>
          <a:solidFill>
            <a:schemeClr val="bg1"/>
          </a:solidFill>
          <a:ln w="19050">
            <a:solidFill>
              <a:schemeClr val="tx1"/>
            </a:solidFill>
            <a:miter lim="800000"/>
            <a:headEnd/>
            <a:tailEnd/>
          </a:ln>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60000"/>
              </a:lnSpc>
            </a:pPr>
            <a:r>
              <a:rPr kumimoji="0" lang="en-US" altLang="zh-CN" sz="2400">
                <a:latin typeface="Arial Narrow" pitchFamily="34" charset="0"/>
                <a:ea typeface="宋体" charset="-122"/>
              </a:rPr>
              <a:t>:MainScreen</a:t>
            </a:r>
          </a:p>
        </p:txBody>
      </p:sp>
      <p:sp>
        <p:nvSpPr>
          <p:cNvPr id="23583" name="Rectangle 31"/>
          <p:cNvSpPr>
            <a:spLocks noChangeArrowheads="1"/>
          </p:cNvSpPr>
          <p:nvPr/>
        </p:nvSpPr>
        <p:spPr bwMode="auto">
          <a:xfrm>
            <a:off x="1981200" y="3097213"/>
            <a:ext cx="763588"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a:latin typeface="Arial Narrow" pitchFamily="34" charset="0"/>
                <a:ea typeface="宋体" charset="-122"/>
              </a:rPr>
              <a:t>read()</a:t>
            </a:r>
          </a:p>
        </p:txBody>
      </p:sp>
      <p:sp>
        <p:nvSpPr>
          <p:cNvPr id="23584" name="Oval 32"/>
          <p:cNvSpPr>
            <a:spLocks noChangeArrowheads="1"/>
          </p:cNvSpPr>
          <p:nvPr/>
        </p:nvSpPr>
        <p:spPr bwMode="auto">
          <a:xfrm>
            <a:off x="1949450" y="3581400"/>
            <a:ext cx="795338" cy="398463"/>
          </a:xfrm>
          <a:prstGeom prst="ellipse">
            <a:avLst/>
          </a:prstGeom>
          <a:solidFill>
            <a:schemeClr val="bg1"/>
          </a:solidFill>
          <a:ln w="9525">
            <a:solidFill>
              <a:schemeClr val="tx1"/>
            </a:solidFill>
            <a:round/>
            <a:headEnd/>
            <a:tailEnd/>
          </a:ln>
        </p:spPr>
        <p:txBody>
          <a:bodyPr wrap="none" lIns="0" tIns="0" rIns="0" bIns="0" anchor="ctr">
            <a:spAutoFit/>
          </a:bodyPr>
          <a:lstStyle/>
          <a:p>
            <a:pPr eaLnBrk="0" hangingPunct="0">
              <a:spcBef>
                <a:spcPct val="0"/>
              </a:spcBef>
            </a:pPr>
            <a:r>
              <a:rPr kumimoji="0" lang="en-US" altLang="zh-CN" sz="1800" b="0">
                <a:solidFill>
                  <a:schemeClr val="bg2"/>
                </a:solidFill>
                <a:latin typeface="Arial Narrow" pitchFamily="34" charset="0"/>
                <a:ea typeface="宋体" charset="-122"/>
              </a:rPr>
              <a:t>Note 2</a:t>
            </a:r>
          </a:p>
        </p:txBody>
      </p:sp>
      <p:sp>
        <p:nvSpPr>
          <p:cNvPr id="23585" name="Text Box 33"/>
          <p:cNvSpPr txBox="1">
            <a:spLocks noChangeArrowheads="1"/>
          </p:cNvSpPr>
          <p:nvPr/>
        </p:nvSpPr>
        <p:spPr bwMode="auto">
          <a:xfrm>
            <a:off x="2516188" y="3962400"/>
            <a:ext cx="457200" cy="1708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r>
              <a:rPr kumimoji="0" lang="en-US" altLang="zh-CN" sz="10600" b="0">
                <a:latin typeface="Times New Roman" pitchFamily="18" charset="0"/>
                <a:ea typeface="宋体" charset="-122"/>
              </a:rPr>
              <a:t>{</a:t>
            </a:r>
          </a:p>
        </p:txBody>
      </p:sp>
      <p:sp>
        <p:nvSpPr>
          <p:cNvPr id="23586" name="Rectangle 34"/>
          <p:cNvSpPr>
            <a:spLocks noChangeArrowheads="1"/>
          </p:cNvSpPr>
          <p:nvPr/>
        </p:nvSpPr>
        <p:spPr bwMode="auto">
          <a:xfrm>
            <a:off x="1517650" y="4591050"/>
            <a:ext cx="950913" cy="701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2000">
                <a:latin typeface="Arial Narrow" pitchFamily="34" charset="0"/>
              </a:rPr>
              <a:t>用例的</a:t>
            </a:r>
          </a:p>
          <a:p>
            <a:pPr algn="l" eaLnBrk="0" hangingPunct="0">
              <a:spcBef>
                <a:spcPct val="0"/>
              </a:spcBef>
            </a:pPr>
            <a:r>
              <a:rPr kumimoji="0" lang="zh-CN" altLang="en-US" sz="2000">
                <a:latin typeface="Arial Narrow" pitchFamily="34" charset="0"/>
              </a:rPr>
              <a:t>第三步</a:t>
            </a:r>
          </a:p>
        </p:txBody>
      </p:sp>
      <p:sp>
        <p:nvSpPr>
          <p:cNvPr id="23587" name="Oval 35"/>
          <p:cNvSpPr>
            <a:spLocks noChangeArrowheads="1"/>
          </p:cNvSpPr>
          <p:nvPr/>
        </p:nvSpPr>
        <p:spPr bwMode="auto">
          <a:xfrm>
            <a:off x="8043863" y="1905000"/>
            <a:ext cx="795337" cy="398463"/>
          </a:xfrm>
          <a:prstGeom prst="ellipse">
            <a:avLst/>
          </a:prstGeom>
          <a:solidFill>
            <a:schemeClr val="bg1"/>
          </a:solidFill>
          <a:ln w="9525">
            <a:solidFill>
              <a:schemeClr val="tx1"/>
            </a:solidFill>
            <a:round/>
            <a:headEnd/>
            <a:tailEnd/>
          </a:ln>
        </p:spPr>
        <p:txBody>
          <a:bodyPr wrap="none" lIns="0" tIns="0" rIns="0" bIns="0" anchor="ctr">
            <a:spAutoFit/>
          </a:bodyPr>
          <a:lstStyle/>
          <a:p>
            <a:pPr eaLnBrk="0" hangingPunct="0">
              <a:spcBef>
                <a:spcPct val="0"/>
              </a:spcBef>
            </a:pPr>
            <a:r>
              <a:rPr kumimoji="0" lang="en-US" altLang="zh-CN" sz="1800" b="0">
                <a:solidFill>
                  <a:schemeClr val="bg2"/>
                </a:solidFill>
                <a:latin typeface="Arial Narrow" pitchFamily="34" charset="0"/>
                <a:ea typeface="宋体" charset="-122"/>
              </a:rPr>
              <a:t>Note 0</a:t>
            </a:r>
          </a:p>
        </p:txBody>
      </p:sp>
      <p:sp>
        <p:nvSpPr>
          <p:cNvPr id="194596" name="AutoShape 36"/>
          <p:cNvSpPr>
            <a:spLocks noChangeArrowheads="1"/>
          </p:cNvSpPr>
          <p:nvPr/>
        </p:nvSpPr>
        <p:spPr bwMode="auto">
          <a:xfrm>
            <a:off x="2928938" y="5340349"/>
            <a:ext cx="3063522" cy="1463675"/>
          </a:xfrm>
          <a:prstGeom prst="wedgeRoundRectCallout">
            <a:avLst>
              <a:gd name="adj1" fmla="val 54829"/>
              <a:gd name="adj2" fmla="val -106008"/>
              <a:gd name="adj3" fmla="val 16667"/>
            </a:avLst>
          </a:prstGeom>
          <a:solidFill>
            <a:schemeClr val="accent1"/>
          </a:solidFill>
          <a:ln w="12700" algn="ctr">
            <a:solidFill>
              <a:srgbClr val="99CCFF"/>
            </a:solidFill>
            <a:miter lim="800000"/>
            <a:headEnd/>
            <a:tailEnd/>
          </a:ln>
        </p:spPr>
        <p:txBody>
          <a:bodyPr lIns="0" tIns="108000" rIns="0" bIns="108000"/>
          <a:lstStyle/>
          <a:p>
            <a:pPr algn="l"/>
            <a:r>
              <a:rPr kumimoji="0" lang="zh-CN" altLang="en-US" sz="1400"/>
              <a:t>我们可以用</a:t>
            </a:r>
            <a:r>
              <a:rPr kumimoji="0" lang="en-US" altLang="zh-CN" sz="1400"/>
              <a:t>Checkout</a:t>
            </a:r>
            <a:r>
              <a:rPr kumimoji="0" lang="zh-CN" altLang="en-US" sz="1400"/>
              <a:t>类来捕获付账过程。</a:t>
            </a:r>
            <a:r>
              <a:rPr kumimoji="0" lang="en-US" altLang="zh-CN" sz="1400"/>
              <a:t>BarCodeReader</a:t>
            </a:r>
            <a:r>
              <a:rPr kumimoji="0" lang="zh-CN" altLang="en-US" sz="1400"/>
              <a:t>对象创建了</a:t>
            </a:r>
            <a:r>
              <a:rPr kumimoji="0" lang="en-US" altLang="zh-CN" sz="1400"/>
              <a:t>Checkout</a:t>
            </a:r>
            <a:r>
              <a:rPr kumimoji="0" lang="zh-CN" altLang="en-US" sz="1400"/>
              <a:t>对象，这里我们使用</a:t>
            </a:r>
            <a:r>
              <a:rPr kumimoji="0" lang="en-US" altLang="zh-CN" sz="1400"/>
              <a:t>initiate()</a:t>
            </a:r>
            <a:r>
              <a:rPr kumimoji="0" lang="zh-CN" altLang="en-US" sz="1400"/>
              <a:t>方法来初始化</a:t>
            </a:r>
            <a:r>
              <a:rPr kumimoji="0" lang="en-US" altLang="zh-CN" sz="1400"/>
              <a:t>Checkout</a:t>
            </a:r>
            <a:r>
              <a:rPr kumimoji="0" lang="zh-CN" altLang="en-US" sz="1400"/>
              <a:t>对象。然后</a:t>
            </a:r>
            <a:r>
              <a:rPr kumimoji="0" lang="en-US" altLang="zh-CN" sz="1400"/>
              <a:t>initiate()</a:t>
            </a:r>
            <a:r>
              <a:rPr kumimoji="0" lang="zh-CN" altLang="en-US" sz="1400"/>
              <a:t>方法创建用于选择的</a:t>
            </a:r>
            <a:r>
              <a:rPr kumimoji="0" lang="zh-CN" altLang="en-US" sz="1400">
                <a:latin typeface="宋体" charset="-122"/>
              </a:rPr>
              <a:t>“</a:t>
            </a:r>
            <a:r>
              <a:rPr kumimoji="0" lang="zh-CN" altLang="en-US" sz="1400"/>
              <a:t>付账</a:t>
            </a:r>
            <a:r>
              <a:rPr kumimoji="0" lang="zh-CN" altLang="en-US" sz="1400">
                <a:latin typeface="宋体" charset="-122"/>
              </a:rPr>
              <a:t>”</a:t>
            </a:r>
            <a:r>
              <a:rPr kumimoji="0" lang="zh-CN" altLang="en-US" sz="1400"/>
              <a:t>选项并在控制台上显示</a:t>
            </a:r>
          </a:p>
        </p:txBody>
      </p:sp>
    </p:spTree>
    <p:extLst>
      <p:ext uri="{BB962C8B-B14F-4D97-AF65-F5344CB8AC3E}">
        <p14:creationId xmlns:p14="http://schemas.microsoft.com/office/powerpoint/2010/main" val="32203354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94596"/>
                                        </p:tgtEl>
                                        <p:attrNameLst>
                                          <p:attrName>style.visibility</p:attrName>
                                        </p:attrNameLst>
                                      </p:cBhvr>
                                      <p:to>
                                        <p:strVal val="visible"/>
                                      </p:to>
                                    </p:set>
                                    <p:animEffect transition="in" filter="checkerboard(across)">
                                      <p:cBhvr>
                                        <p:cTn id="7" dur="500"/>
                                        <p:tgtEl>
                                          <p:spTgt spid="194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9"/>
          <p:cNvSpPr>
            <a:spLocks noChangeArrowheads="1"/>
          </p:cNvSpPr>
          <p:nvPr/>
        </p:nvSpPr>
        <p:spPr bwMode="auto">
          <a:xfrm>
            <a:off x="533400" y="152400"/>
            <a:ext cx="8305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pPr>
            <a:r>
              <a:rPr kumimoji="0" lang="en-US" altLang="zh-CN" sz="3600" b="0">
                <a:solidFill>
                  <a:schemeClr val="accent2"/>
                </a:solidFill>
                <a:latin typeface="Arial" charset="0"/>
                <a:ea typeface="宋体" charset="-122"/>
              </a:rPr>
              <a:t>Checkout </a:t>
            </a:r>
            <a:r>
              <a:rPr kumimoji="0" lang="zh-CN" altLang="en-US" sz="3600">
                <a:solidFill>
                  <a:schemeClr val="accent2"/>
                </a:solidFill>
                <a:latin typeface="Arial" charset="0"/>
              </a:rPr>
              <a:t>用例时序图的开始部分</a:t>
            </a:r>
          </a:p>
        </p:txBody>
      </p:sp>
      <p:sp>
        <p:nvSpPr>
          <p:cNvPr id="24579" name="Line 36"/>
          <p:cNvSpPr>
            <a:spLocks noChangeShapeType="1"/>
          </p:cNvSpPr>
          <p:nvPr/>
        </p:nvSpPr>
        <p:spPr bwMode="auto">
          <a:xfrm>
            <a:off x="2133600" y="914400"/>
            <a:ext cx="0" cy="5334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80" name="Line 37"/>
          <p:cNvSpPr>
            <a:spLocks noChangeShapeType="1"/>
          </p:cNvSpPr>
          <p:nvPr/>
        </p:nvSpPr>
        <p:spPr bwMode="auto">
          <a:xfrm>
            <a:off x="8610600" y="990600"/>
            <a:ext cx="11113" cy="297180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1" name="Rectangle 38"/>
          <p:cNvSpPr>
            <a:spLocks noChangeArrowheads="1"/>
          </p:cNvSpPr>
          <p:nvPr/>
        </p:nvSpPr>
        <p:spPr bwMode="auto">
          <a:xfrm>
            <a:off x="7318375" y="4713288"/>
            <a:ext cx="1063625"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spcBef>
                <a:spcPct val="0"/>
              </a:spcBef>
            </a:pPr>
            <a:r>
              <a:rPr kumimoji="0" lang="en-US" altLang="zh-CN" sz="2000">
                <a:latin typeface="Arial Narrow" pitchFamily="34" charset="0"/>
                <a:ea typeface="宋体" charset="-122"/>
              </a:rPr>
              <a:t>4. store()</a:t>
            </a:r>
          </a:p>
        </p:txBody>
      </p:sp>
      <p:sp>
        <p:nvSpPr>
          <p:cNvPr id="24582" name="Line 39"/>
          <p:cNvSpPr>
            <a:spLocks noChangeShapeType="1"/>
          </p:cNvSpPr>
          <p:nvPr/>
        </p:nvSpPr>
        <p:spPr bwMode="auto">
          <a:xfrm>
            <a:off x="7086600" y="3505200"/>
            <a:ext cx="11113" cy="2971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3" name="Line 40"/>
          <p:cNvSpPr>
            <a:spLocks noChangeShapeType="1"/>
          </p:cNvSpPr>
          <p:nvPr/>
        </p:nvSpPr>
        <p:spPr bwMode="auto">
          <a:xfrm>
            <a:off x="5584825" y="3886200"/>
            <a:ext cx="0" cy="2438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4" name="Line 41"/>
          <p:cNvSpPr>
            <a:spLocks noChangeShapeType="1"/>
          </p:cNvSpPr>
          <p:nvPr/>
        </p:nvSpPr>
        <p:spPr bwMode="auto">
          <a:xfrm flipH="1">
            <a:off x="5562600" y="3276600"/>
            <a:ext cx="1447800"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4585" name="Line 42"/>
          <p:cNvSpPr>
            <a:spLocks noChangeShapeType="1"/>
          </p:cNvSpPr>
          <p:nvPr/>
        </p:nvSpPr>
        <p:spPr bwMode="auto">
          <a:xfrm>
            <a:off x="3200400" y="990600"/>
            <a:ext cx="0" cy="5334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86" name="Rectangle 43"/>
          <p:cNvSpPr>
            <a:spLocks noChangeArrowheads="1"/>
          </p:cNvSpPr>
          <p:nvPr/>
        </p:nvSpPr>
        <p:spPr bwMode="auto">
          <a:xfrm>
            <a:off x="7256463" y="3352800"/>
            <a:ext cx="1201737"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a:latin typeface="Arial Narrow" pitchFamily="34" charset="0"/>
                <a:ea typeface="宋体" charset="-122"/>
              </a:rPr>
              <a:t>2.3 show()</a:t>
            </a:r>
          </a:p>
        </p:txBody>
      </p:sp>
      <p:sp>
        <p:nvSpPr>
          <p:cNvPr id="24587" name="Rectangle 44"/>
          <p:cNvSpPr>
            <a:spLocks noChangeArrowheads="1"/>
          </p:cNvSpPr>
          <p:nvPr/>
        </p:nvSpPr>
        <p:spPr bwMode="auto">
          <a:xfrm>
            <a:off x="3470275" y="3978275"/>
            <a:ext cx="1711325"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spcBef>
                <a:spcPct val="0"/>
              </a:spcBef>
            </a:pPr>
            <a:r>
              <a:rPr kumimoji="0" lang="en-US" altLang="zh-CN" sz="2000">
                <a:latin typeface="Arial Narrow" pitchFamily="34" charset="0"/>
                <a:ea typeface="宋体" charset="-122"/>
              </a:rPr>
              <a:t>3. setDuration()</a:t>
            </a:r>
          </a:p>
        </p:txBody>
      </p:sp>
      <p:sp>
        <p:nvSpPr>
          <p:cNvPr id="24588" name="Line 45"/>
          <p:cNvSpPr>
            <a:spLocks noChangeShapeType="1"/>
          </p:cNvSpPr>
          <p:nvPr/>
        </p:nvSpPr>
        <p:spPr bwMode="auto">
          <a:xfrm>
            <a:off x="533400" y="990600"/>
            <a:ext cx="0" cy="5334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89" name="Line 46"/>
          <p:cNvSpPr>
            <a:spLocks noChangeShapeType="1"/>
          </p:cNvSpPr>
          <p:nvPr/>
        </p:nvSpPr>
        <p:spPr bwMode="auto">
          <a:xfrm flipH="1" flipV="1">
            <a:off x="533400" y="2651125"/>
            <a:ext cx="2620963" cy="1270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0" name="Rectangle 47"/>
          <p:cNvSpPr>
            <a:spLocks noChangeArrowheads="1"/>
          </p:cNvSpPr>
          <p:nvPr/>
        </p:nvSpPr>
        <p:spPr bwMode="auto">
          <a:xfrm>
            <a:off x="881063" y="2270125"/>
            <a:ext cx="993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a:latin typeface="Arial Narrow" pitchFamily="34" charset="0"/>
                <a:ea typeface="宋体" charset="-122"/>
              </a:rPr>
              <a:t>1. read()</a:t>
            </a:r>
          </a:p>
        </p:txBody>
      </p:sp>
      <p:sp>
        <p:nvSpPr>
          <p:cNvPr id="24591" name="Text Box 48"/>
          <p:cNvSpPr txBox="1">
            <a:spLocks noChangeArrowheads="1"/>
          </p:cNvSpPr>
          <p:nvPr/>
        </p:nvSpPr>
        <p:spPr bwMode="auto">
          <a:xfrm>
            <a:off x="152400" y="762000"/>
            <a:ext cx="741363" cy="401638"/>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nSpc>
                <a:spcPct val="60000"/>
              </a:lnSpc>
            </a:pPr>
            <a:r>
              <a:rPr kumimoji="0" lang="en-US" altLang="zh-CN" sz="2400" u="sng">
                <a:latin typeface="Arial Narrow" pitchFamily="34" charset="0"/>
                <a:ea typeface="宋体" charset="-122"/>
              </a:rPr>
              <a:t>User</a:t>
            </a:r>
          </a:p>
        </p:txBody>
      </p:sp>
      <p:sp>
        <p:nvSpPr>
          <p:cNvPr id="24592" name="Text Box 49"/>
          <p:cNvSpPr txBox="1">
            <a:spLocks noChangeArrowheads="1"/>
          </p:cNvSpPr>
          <p:nvPr/>
        </p:nvSpPr>
        <p:spPr bwMode="auto">
          <a:xfrm>
            <a:off x="2819400" y="762000"/>
            <a:ext cx="2178050" cy="420688"/>
          </a:xfrm>
          <a:prstGeom prst="rect">
            <a:avLst/>
          </a:prstGeom>
          <a:solidFill>
            <a:schemeClr val="bg1"/>
          </a:solidFill>
          <a:ln w="19050">
            <a:solidFill>
              <a:schemeClr val="tx1"/>
            </a:solidFill>
            <a:miter lim="800000"/>
            <a:headEnd/>
            <a:tailEnd/>
          </a:ln>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60000"/>
              </a:lnSpc>
            </a:pPr>
            <a:r>
              <a:rPr kumimoji="0" lang="en-US" altLang="zh-CN" sz="2400">
                <a:latin typeface="Arial Narrow" pitchFamily="34" charset="0"/>
                <a:ea typeface="宋体" charset="-122"/>
              </a:rPr>
              <a:t>:BarCodeReader</a:t>
            </a:r>
          </a:p>
        </p:txBody>
      </p:sp>
      <p:sp>
        <p:nvSpPr>
          <p:cNvPr id="24593" name="Line 50"/>
          <p:cNvSpPr>
            <a:spLocks noChangeShapeType="1"/>
          </p:cNvSpPr>
          <p:nvPr/>
        </p:nvSpPr>
        <p:spPr bwMode="auto">
          <a:xfrm flipH="1">
            <a:off x="533400" y="1792288"/>
            <a:ext cx="152400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4" name="Rectangle 51"/>
          <p:cNvSpPr>
            <a:spLocks noChangeArrowheads="1"/>
          </p:cNvSpPr>
          <p:nvPr/>
        </p:nvSpPr>
        <p:spPr bwMode="auto">
          <a:xfrm>
            <a:off x="2057400" y="1792288"/>
            <a:ext cx="152400" cy="304800"/>
          </a:xfrm>
          <a:prstGeom prst="rect">
            <a:avLst/>
          </a:prstGeom>
          <a:solidFill>
            <a:schemeClr val="folHlink"/>
          </a:solidFill>
          <a:ln w="25400">
            <a:solidFill>
              <a:schemeClr val="tx1"/>
            </a:solidFill>
            <a:miter lim="800000"/>
            <a:headEnd/>
            <a:tailEnd/>
          </a:ln>
        </p:spPr>
        <p:txBody>
          <a:bodyPr wrap="none" anchor="ctr"/>
          <a:lstStyle/>
          <a:p>
            <a:endParaRPr lang="zh-CN" altLang="en-US"/>
          </a:p>
        </p:txBody>
      </p:sp>
      <p:sp>
        <p:nvSpPr>
          <p:cNvPr id="24595" name="Rectangle 52"/>
          <p:cNvSpPr>
            <a:spLocks noChangeArrowheads="1"/>
          </p:cNvSpPr>
          <p:nvPr/>
        </p:nvSpPr>
        <p:spPr bwMode="auto">
          <a:xfrm>
            <a:off x="530225" y="1335088"/>
            <a:ext cx="1527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spcBef>
                <a:spcPct val="0"/>
              </a:spcBef>
            </a:pPr>
            <a:r>
              <a:rPr kumimoji="0" lang="en-US" altLang="zh-CN" sz="2000">
                <a:latin typeface="Arial Narrow" pitchFamily="34" charset="0"/>
                <a:ea typeface="宋体" charset="-122"/>
              </a:rPr>
              <a:t>doCheckout()</a:t>
            </a:r>
          </a:p>
        </p:txBody>
      </p:sp>
      <p:sp>
        <p:nvSpPr>
          <p:cNvPr id="24596" name="Text Box 53"/>
          <p:cNvSpPr txBox="1">
            <a:spLocks noChangeArrowheads="1"/>
          </p:cNvSpPr>
          <p:nvPr/>
        </p:nvSpPr>
        <p:spPr bwMode="auto">
          <a:xfrm>
            <a:off x="1098550" y="762000"/>
            <a:ext cx="1690688" cy="420688"/>
          </a:xfrm>
          <a:prstGeom prst="rect">
            <a:avLst/>
          </a:prstGeom>
          <a:solidFill>
            <a:schemeClr val="bg1"/>
          </a:solidFill>
          <a:ln w="19050">
            <a:solidFill>
              <a:schemeClr val="tx1"/>
            </a:solidFill>
            <a:miter lim="800000"/>
            <a:headEnd/>
            <a:tailEnd/>
          </a:ln>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60000"/>
              </a:lnSpc>
            </a:pPr>
            <a:r>
              <a:rPr kumimoji="0" lang="en-US" altLang="zh-CN" sz="2400">
                <a:latin typeface="Arial Narrow" pitchFamily="34" charset="0"/>
                <a:ea typeface="宋体" charset="-122"/>
              </a:rPr>
              <a:t>:MainScreen</a:t>
            </a:r>
          </a:p>
        </p:txBody>
      </p:sp>
      <p:sp>
        <p:nvSpPr>
          <p:cNvPr id="24597" name="Rectangle 54"/>
          <p:cNvSpPr>
            <a:spLocks noChangeArrowheads="1"/>
          </p:cNvSpPr>
          <p:nvPr/>
        </p:nvSpPr>
        <p:spPr bwMode="auto">
          <a:xfrm>
            <a:off x="228600" y="4713288"/>
            <a:ext cx="3384550" cy="1836400"/>
          </a:xfrm>
          <a:prstGeom prst="rect">
            <a:avLst/>
          </a:prstGeom>
          <a:solidFill>
            <a:schemeClr val="bg1"/>
          </a:solidFill>
          <a:ln w="76200" cmpd="tri">
            <a:solidFill>
              <a:schemeClr val="tx1"/>
            </a:solidFill>
            <a:miter lim="800000"/>
            <a:headEnd/>
            <a:tailEnd/>
          </a:ln>
        </p:spPr>
        <p:txBody>
          <a:bodyPr wrap="square" tIns="137160" bIns="91440">
            <a:spAutoFit/>
          </a:bodyPr>
          <a:lstStyle/>
          <a:p>
            <a:pPr algn="l" eaLnBrk="0" hangingPunct="0">
              <a:spcAft>
                <a:spcPts val="500"/>
              </a:spcAft>
            </a:pPr>
            <a:r>
              <a:rPr kumimoji="0" lang="zh-CN" altLang="en-US" sz="1600" dirty="0">
                <a:latin typeface="Arial Narrow" pitchFamily="34" charset="0"/>
                <a:cs typeface="Times New Roman" pitchFamily="18" charset="0"/>
              </a:rPr>
              <a:t>用例</a:t>
            </a:r>
            <a:r>
              <a:rPr kumimoji="0" lang="en-US" altLang="zh-CN" sz="1600" i="1" dirty="0">
                <a:latin typeface="Arial Narrow" pitchFamily="34" charset="0"/>
                <a:cs typeface="Times New Roman" pitchFamily="18" charset="0"/>
              </a:rPr>
              <a:t>:</a:t>
            </a:r>
          </a:p>
          <a:p>
            <a:pPr algn="l" eaLnBrk="0" hangingPunct="0">
              <a:spcAft>
                <a:spcPts val="500"/>
              </a:spcAft>
            </a:pPr>
            <a:r>
              <a:rPr kumimoji="0" lang="en-US" altLang="zh-CN" sz="1600" i="1" dirty="0">
                <a:latin typeface="Arial Narrow" pitchFamily="34" charset="0"/>
                <a:cs typeface="Times New Roman" pitchFamily="18" charset="0"/>
              </a:rPr>
              <a:t>1. </a:t>
            </a:r>
            <a:r>
              <a:rPr kumimoji="0" lang="zh-CN" altLang="en-US" sz="1600" dirty="0">
                <a:solidFill>
                  <a:schemeClr val="accent2"/>
                </a:solidFill>
                <a:latin typeface="Arial Narrow" pitchFamily="34" charset="0"/>
                <a:cs typeface="Times New Roman" pitchFamily="18" charset="0"/>
              </a:rPr>
              <a:t>用户</a:t>
            </a:r>
            <a:r>
              <a:rPr kumimoji="0" lang="zh-CN" altLang="en-US" sz="1600" dirty="0">
                <a:latin typeface="Arial Narrow" pitchFamily="34" charset="0"/>
                <a:cs typeface="Times New Roman" pitchFamily="18" charset="0"/>
              </a:rPr>
              <a:t>扫描条形码</a:t>
            </a:r>
          </a:p>
          <a:p>
            <a:pPr algn="l" eaLnBrk="0" hangingPunct="0"/>
            <a:r>
              <a:rPr kumimoji="0" lang="en-US" altLang="zh-CN" sz="1600" i="1" dirty="0">
                <a:latin typeface="Arial Narrow" pitchFamily="34" charset="0"/>
                <a:cs typeface="Times New Roman" pitchFamily="18" charset="0"/>
              </a:rPr>
              <a:t>2. </a:t>
            </a:r>
            <a:r>
              <a:rPr kumimoji="0" lang="zh-CN" altLang="en-US" sz="1600" dirty="0">
                <a:solidFill>
                  <a:schemeClr val="accent2"/>
                </a:solidFill>
                <a:latin typeface="Arial Narrow" pitchFamily="34" charset="0"/>
                <a:cs typeface="Times New Roman" pitchFamily="18" charset="0"/>
              </a:rPr>
              <a:t>应用程序</a:t>
            </a:r>
            <a:r>
              <a:rPr kumimoji="0" lang="zh-CN" altLang="en-US" sz="1600" dirty="0">
                <a:latin typeface="Arial Narrow" pitchFamily="34" charset="0"/>
                <a:cs typeface="Times New Roman" pitchFamily="18" charset="0"/>
              </a:rPr>
              <a:t>提示输入租用时间</a:t>
            </a:r>
          </a:p>
          <a:p>
            <a:pPr algn="l" eaLnBrk="0" hangingPunct="0"/>
            <a:r>
              <a:rPr kumimoji="0" lang="en-US" altLang="zh-CN" sz="1600" i="1" dirty="0">
                <a:latin typeface="Arial Narrow" pitchFamily="34" charset="0"/>
                <a:cs typeface="Times New Roman" pitchFamily="18" charset="0"/>
              </a:rPr>
              <a:t>3. </a:t>
            </a:r>
            <a:r>
              <a:rPr kumimoji="0" lang="zh-CN" altLang="en-US" sz="1600" dirty="0">
                <a:solidFill>
                  <a:schemeClr val="accent2"/>
                </a:solidFill>
                <a:latin typeface="Arial Narrow" pitchFamily="34" charset="0"/>
                <a:cs typeface="Times New Roman" pitchFamily="18" charset="0"/>
              </a:rPr>
              <a:t>用户</a:t>
            </a:r>
            <a:r>
              <a:rPr kumimoji="0" lang="zh-CN" altLang="en-US" sz="1600" dirty="0">
                <a:latin typeface="Arial Narrow" pitchFamily="34" charset="0"/>
                <a:cs typeface="Times New Roman" pitchFamily="18" charset="0"/>
              </a:rPr>
              <a:t>输入租用时间</a:t>
            </a:r>
          </a:p>
          <a:p>
            <a:pPr algn="l" eaLnBrk="0" hangingPunct="0"/>
            <a:r>
              <a:rPr kumimoji="0" lang="en-US" altLang="zh-CN" sz="1600" i="1" dirty="0">
                <a:latin typeface="Arial Narrow" pitchFamily="34" charset="0"/>
                <a:cs typeface="Times New Roman" pitchFamily="18" charset="0"/>
              </a:rPr>
              <a:t>4. </a:t>
            </a:r>
            <a:r>
              <a:rPr kumimoji="0" lang="zh-CN" altLang="en-US" sz="1600" dirty="0">
                <a:solidFill>
                  <a:schemeClr val="accent2"/>
                </a:solidFill>
                <a:latin typeface="Arial Narrow" pitchFamily="34" charset="0"/>
                <a:cs typeface="Times New Roman" pitchFamily="18" charset="0"/>
              </a:rPr>
              <a:t>应用程序</a:t>
            </a:r>
            <a:r>
              <a:rPr kumimoji="0" lang="zh-CN" altLang="en-US" sz="1600" dirty="0">
                <a:latin typeface="Arial Narrow" pitchFamily="34" charset="0"/>
                <a:cs typeface="Times New Roman" pitchFamily="18" charset="0"/>
              </a:rPr>
              <a:t>保存记录</a:t>
            </a:r>
          </a:p>
          <a:p>
            <a:pPr algn="l" eaLnBrk="0" hangingPunct="0"/>
            <a:r>
              <a:rPr kumimoji="0" lang="en-US" altLang="zh-CN" sz="1600" i="1" dirty="0">
                <a:latin typeface="Arial Narrow" pitchFamily="34" charset="0"/>
                <a:cs typeface="Times New Roman" pitchFamily="18" charset="0"/>
              </a:rPr>
              <a:t>5. </a:t>
            </a:r>
            <a:r>
              <a:rPr kumimoji="0" lang="zh-CN" altLang="en-US" sz="1600" dirty="0">
                <a:solidFill>
                  <a:schemeClr val="accent2"/>
                </a:solidFill>
                <a:latin typeface="Arial Narrow" pitchFamily="34" charset="0"/>
                <a:cs typeface="Times New Roman" pitchFamily="18" charset="0"/>
              </a:rPr>
              <a:t>应用程序</a:t>
            </a:r>
            <a:r>
              <a:rPr kumimoji="0" lang="zh-CN" altLang="en-US" sz="1600" dirty="0">
                <a:latin typeface="Arial Narrow" pitchFamily="34" charset="0"/>
                <a:cs typeface="Times New Roman" pitchFamily="18" charset="0"/>
              </a:rPr>
              <a:t>打印顾客帐户状态</a:t>
            </a:r>
          </a:p>
        </p:txBody>
      </p:sp>
      <p:sp>
        <p:nvSpPr>
          <p:cNvPr id="24598" name="Text Box 55"/>
          <p:cNvSpPr txBox="1">
            <a:spLocks noChangeArrowheads="1"/>
          </p:cNvSpPr>
          <p:nvPr/>
        </p:nvSpPr>
        <p:spPr bwMode="auto">
          <a:xfrm>
            <a:off x="4876800" y="2071688"/>
            <a:ext cx="1425575" cy="420687"/>
          </a:xfrm>
          <a:prstGeom prst="rect">
            <a:avLst/>
          </a:prstGeom>
          <a:solidFill>
            <a:schemeClr val="bg1"/>
          </a:solidFill>
          <a:ln w="19050">
            <a:solidFill>
              <a:schemeClr val="tx1"/>
            </a:solidFill>
            <a:miter lim="800000"/>
            <a:headEnd/>
            <a:tailEnd/>
          </a:ln>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60000"/>
              </a:lnSpc>
            </a:pPr>
            <a:r>
              <a:rPr kumimoji="0" lang="en-US" altLang="zh-CN" sz="2400">
                <a:latin typeface="Arial Narrow" pitchFamily="34" charset="0"/>
                <a:ea typeface="宋体" charset="-122"/>
              </a:rPr>
              <a:t>:Checkout</a:t>
            </a:r>
          </a:p>
        </p:txBody>
      </p:sp>
      <p:sp>
        <p:nvSpPr>
          <p:cNvPr id="24599" name="Line 56"/>
          <p:cNvSpPr>
            <a:spLocks noChangeShapeType="1"/>
          </p:cNvSpPr>
          <p:nvPr/>
        </p:nvSpPr>
        <p:spPr bwMode="auto">
          <a:xfrm flipH="1">
            <a:off x="3200400" y="2892425"/>
            <a:ext cx="2316163" cy="3175"/>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0" name="Rectangle 57"/>
          <p:cNvSpPr>
            <a:spLocks noChangeArrowheads="1"/>
          </p:cNvSpPr>
          <p:nvPr/>
        </p:nvSpPr>
        <p:spPr bwMode="auto">
          <a:xfrm>
            <a:off x="3613150" y="2498725"/>
            <a:ext cx="1339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a:latin typeface="Arial Narrow" pitchFamily="34" charset="0"/>
                <a:ea typeface="宋体" charset="-122"/>
              </a:rPr>
              <a:t>2.1 initiate()</a:t>
            </a:r>
          </a:p>
        </p:txBody>
      </p:sp>
      <p:sp>
        <p:nvSpPr>
          <p:cNvPr id="24601" name="Rectangle 58"/>
          <p:cNvSpPr>
            <a:spLocks noChangeArrowheads="1"/>
          </p:cNvSpPr>
          <p:nvPr/>
        </p:nvSpPr>
        <p:spPr bwMode="auto">
          <a:xfrm>
            <a:off x="3154363" y="2667000"/>
            <a:ext cx="122237" cy="762000"/>
          </a:xfrm>
          <a:prstGeom prst="rect">
            <a:avLst/>
          </a:prstGeom>
          <a:solidFill>
            <a:schemeClr val="folHlink"/>
          </a:solidFill>
          <a:ln w="25400">
            <a:solidFill>
              <a:schemeClr val="tx1"/>
            </a:solidFill>
            <a:miter lim="800000"/>
            <a:headEnd/>
            <a:tailEnd/>
          </a:ln>
        </p:spPr>
        <p:txBody>
          <a:bodyPr wrap="none" anchor="ctr"/>
          <a:lstStyle/>
          <a:p>
            <a:endParaRPr lang="zh-CN" altLang="en-US"/>
          </a:p>
        </p:txBody>
      </p:sp>
      <p:sp>
        <p:nvSpPr>
          <p:cNvPr id="24602" name="Text Box 59"/>
          <p:cNvSpPr txBox="1">
            <a:spLocks noChangeArrowheads="1"/>
          </p:cNvSpPr>
          <p:nvPr/>
        </p:nvSpPr>
        <p:spPr bwMode="auto">
          <a:xfrm>
            <a:off x="5868988" y="762000"/>
            <a:ext cx="3122612" cy="420688"/>
          </a:xfrm>
          <a:prstGeom prst="rect">
            <a:avLst/>
          </a:prstGeom>
          <a:solidFill>
            <a:schemeClr val="bg1"/>
          </a:solidFill>
          <a:ln w="19050">
            <a:solidFill>
              <a:schemeClr val="tx1"/>
            </a:solidFill>
            <a:miter lim="800000"/>
            <a:headEnd/>
            <a:tailEnd/>
          </a:ln>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r">
              <a:lnSpc>
                <a:spcPct val="60000"/>
              </a:lnSpc>
            </a:pPr>
            <a:r>
              <a:rPr kumimoji="0" lang="en-US" altLang="zh-CN" sz="2400">
                <a:latin typeface="Arial Narrow" pitchFamily="34" charset="0"/>
                <a:ea typeface="宋体" charset="-122"/>
              </a:rPr>
              <a:t>:CheckoutOptionDisplay</a:t>
            </a:r>
          </a:p>
        </p:txBody>
      </p:sp>
      <p:sp>
        <p:nvSpPr>
          <p:cNvPr id="24603" name="Line 60"/>
          <p:cNvSpPr>
            <a:spLocks noChangeShapeType="1"/>
          </p:cNvSpPr>
          <p:nvPr/>
        </p:nvSpPr>
        <p:spPr bwMode="auto">
          <a:xfrm flipH="1">
            <a:off x="8610600" y="3810000"/>
            <a:ext cx="11113" cy="2362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4" name="Line 61"/>
          <p:cNvSpPr>
            <a:spLocks noChangeShapeType="1"/>
          </p:cNvSpPr>
          <p:nvPr/>
        </p:nvSpPr>
        <p:spPr bwMode="auto">
          <a:xfrm flipH="1">
            <a:off x="5562600" y="3806825"/>
            <a:ext cx="3001963" cy="3175"/>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5" name="Rectangle 62"/>
          <p:cNvSpPr>
            <a:spLocks noChangeArrowheads="1"/>
          </p:cNvSpPr>
          <p:nvPr/>
        </p:nvSpPr>
        <p:spPr bwMode="auto">
          <a:xfrm>
            <a:off x="8564563" y="3810000"/>
            <a:ext cx="122237" cy="609600"/>
          </a:xfrm>
          <a:prstGeom prst="rect">
            <a:avLst/>
          </a:prstGeom>
          <a:solidFill>
            <a:schemeClr val="folHlink"/>
          </a:solidFill>
          <a:ln w="25400">
            <a:solidFill>
              <a:schemeClr val="tx1"/>
            </a:solidFill>
            <a:miter lim="800000"/>
            <a:headEnd/>
            <a:tailEnd/>
          </a:ln>
        </p:spPr>
        <p:txBody>
          <a:bodyPr wrap="none" anchor="ctr"/>
          <a:lstStyle/>
          <a:p>
            <a:endParaRPr lang="zh-CN" altLang="en-US"/>
          </a:p>
        </p:txBody>
      </p:sp>
      <p:sp>
        <p:nvSpPr>
          <p:cNvPr id="24606" name="Line 63"/>
          <p:cNvSpPr>
            <a:spLocks noChangeShapeType="1"/>
          </p:cNvSpPr>
          <p:nvPr/>
        </p:nvSpPr>
        <p:spPr bwMode="auto">
          <a:xfrm flipH="1">
            <a:off x="533400" y="4416425"/>
            <a:ext cx="8031163" cy="3175"/>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7" name="Rectangle 64"/>
          <p:cNvSpPr>
            <a:spLocks noChangeArrowheads="1"/>
          </p:cNvSpPr>
          <p:nvPr/>
        </p:nvSpPr>
        <p:spPr bwMode="auto">
          <a:xfrm>
            <a:off x="5516563" y="2895600"/>
            <a:ext cx="122237" cy="1246188"/>
          </a:xfrm>
          <a:prstGeom prst="rect">
            <a:avLst/>
          </a:prstGeom>
          <a:solidFill>
            <a:schemeClr val="folHlink"/>
          </a:solidFill>
          <a:ln w="25400">
            <a:solidFill>
              <a:schemeClr val="tx1"/>
            </a:solidFill>
            <a:miter lim="800000"/>
            <a:headEnd/>
            <a:tailEnd/>
          </a:ln>
        </p:spPr>
        <p:txBody>
          <a:bodyPr wrap="none" anchor="ctr"/>
          <a:lstStyle/>
          <a:p>
            <a:endParaRPr lang="zh-CN" altLang="en-US"/>
          </a:p>
        </p:txBody>
      </p:sp>
      <p:sp>
        <p:nvSpPr>
          <p:cNvPr id="24608" name="Rectangle 65"/>
          <p:cNvSpPr>
            <a:spLocks noChangeArrowheads="1"/>
          </p:cNvSpPr>
          <p:nvPr/>
        </p:nvSpPr>
        <p:spPr bwMode="auto">
          <a:xfrm>
            <a:off x="8566150" y="4416425"/>
            <a:ext cx="120650" cy="1603375"/>
          </a:xfrm>
          <a:prstGeom prst="rect">
            <a:avLst/>
          </a:prstGeom>
          <a:solidFill>
            <a:schemeClr val="folHlink"/>
          </a:solidFill>
          <a:ln w="25400">
            <a:solidFill>
              <a:schemeClr val="tx1"/>
            </a:solidFill>
            <a:miter lim="800000"/>
            <a:headEnd/>
            <a:tailEnd/>
          </a:ln>
        </p:spPr>
        <p:txBody>
          <a:bodyPr wrap="none" anchor="ctr"/>
          <a:lstStyle/>
          <a:p>
            <a:endParaRPr lang="zh-CN" altLang="en-US"/>
          </a:p>
        </p:txBody>
      </p:sp>
      <p:sp>
        <p:nvSpPr>
          <p:cNvPr id="24609" name="Text Box 66"/>
          <p:cNvSpPr txBox="1">
            <a:spLocks noChangeArrowheads="1"/>
          </p:cNvSpPr>
          <p:nvPr/>
        </p:nvSpPr>
        <p:spPr bwMode="auto">
          <a:xfrm>
            <a:off x="6400800" y="2057400"/>
            <a:ext cx="1285875" cy="420688"/>
          </a:xfrm>
          <a:prstGeom prst="rect">
            <a:avLst/>
          </a:prstGeom>
          <a:solidFill>
            <a:schemeClr val="bg1"/>
          </a:solidFill>
          <a:ln w="19050">
            <a:solidFill>
              <a:schemeClr val="tx1"/>
            </a:solidFill>
            <a:miter lim="800000"/>
            <a:headEnd/>
            <a:tailEnd/>
          </a:ln>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60000"/>
              </a:lnSpc>
            </a:pPr>
            <a:r>
              <a:rPr kumimoji="0" lang="en-US" altLang="zh-CN" sz="2400">
                <a:latin typeface="Arial Narrow" pitchFamily="34" charset="0"/>
                <a:ea typeface="宋体" charset="-122"/>
              </a:rPr>
              <a:t>:Account</a:t>
            </a:r>
          </a:p>
        </p:txBody>
      </p:sp>
      <p:sp>
        <p:nvSpPr>
          <p:cNvPr id="24610" name="Rectangle 67"/>
          <p:cNvSpPr>
            <a:spLocks noChangeArrowheads="1"/>
          </p:cNvSpPr>
          <p:nvPr/>
        </p:nvSpPr>
        <p:spPr bwMode="auto">
          <a:xfrm>
            <a:off x="5746750" y="2852738"/>
            <a:ext cx="1284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a:latin typeface="Arial Narrow" pitchFamily="34" charset="0"/>
                <a:ea typeface="宋体" charset="-122"/>
              </a:rPr>
              <a:t>2.2 create()</a:t>
            </a:r>
          </a:p>
        </p:txBody>
      </p:sp>
      <p:sp>
        <p:nvSpPr>
          <p:cNvPr id="24611" name="Rectangle 68"/>
          <p:cNvSpPr>
            <a:spLocks noChangeArrowheads="1"/>
          </p:cNvSpPr>
          <p:nvPr/>
        </p:nvSpPr>
        <p:spPr bwMode="auto">
          <a:xfrm>
            <a:off x="7040563" y="3303588"/>
            <a:ext cx="122237" cy="277812"/>
          </a:xfrm>
          <a:prstGeom prst="rect">
            <a:avLst/>
          </a:prstGeom>
          <a:solidFill>
            <a:schemeClr val="folHlink"/>
          </a:solidFill>
          <a:ln w="25400">
            <a:solidFill>
              <a:schemeClr val="tx1"/>
            </a:solidFill>
            <a:miter lim="800000"/>
            <a:headEnd/>
            <a:tailEnd/>
          </a:ln>
        </p:spPr>
        <p:txBody>
          <a:bodyPr wrap="none" anchor="ctr"/>
          <a:lstStyle/>
          <a:p>
            <a:endParaRPr lang="zh-CN" altLang="en-US"/>
          </a:p>
        </p:txBody>
      </p:sp>
      <p:sp>
        <p:nvSpPr>
          <p:cNvPr id="24612" name="Line 69"/>
          <p:cNvSpPr>
            <a:spLocks noChangeShapeType="1"/>
          </p:cNvSpPr>
          <p:nvPr/>
        </p:nvSpPr>
        <p:spPr bwMode="auto">
          <a:xfrm flipH="1">
            <a:off x="7108825" y="5105400"/>
            <a:ext cx="14478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13" name="Rectangle 70"/>
          <p:cNvSpPr>
            <a:spLocks noChangeArrowheads="1"/>
          </p:cNvSpPr>
          <p:nvPr/>
        </p:nvSpPr>
        <p:spPr bwMode="auto">
          <a:xfrm>
            <a:off x="7029450" y="5122863"/>
            <a:ext cx="122238" cy="277812"/>
          </a:xfrm>
          <a:prstGeom prst="rect">
            <a:avLst/>
          </a:prstGeom>
          <a:solidFill>
            <a:schemeClr val="folHlink"/>
          </a:solidFill>
          <a:ln w="25400">
            <a:solidFill>
              <a:schemeClr val="tx1"/>
            </a:solidFill>
            <a:miter lim="800000"/>
            <a:headEnd/>
            <a:tailEnd/>
          </a:ln>
        </p:spPr>
        <p:txBody>
          <a:bodyPr wrap="none" anchor="ctr"/>
          <a:lstStyle/>
          <a:p>
            <a:endParaRPr lang="zh-CN" altLang="en-US"/>
          </a:p>
        </p:txBody>
      </p:sp>
      <p:sp>
        <p:nvSpPr>
          <p:cNvPr id="24614" name="Rectangle 71"/>
          <p:cNvSpPr>
            <a:spLocks noChangeArrowheads="1"/>
          </p:cNvSpPr>
          <p:nvPr/>
        </p:nvSpPr>
        <p:spPr bwMode="auto">
          <a:xfrm>
            <a:off x="7021513" y="5818188"/>
            <a:ext cx="122237" cy="277812"/>
          </a:xfrm>
          <a:prstGeom prst="rect">
            <a:avLst/>
          </a:prstGeom>
          <a:solidFill>
            <a:schemeClr val="folHlink"/>
          </a:solidFill>
          <a:ln w="25400">
            <a:solidFill>
              <a:schemeClr val="tx1"/>
            </a:solidFill>
            <a:miter lim="800000"/>
            <a:headEnd/>
            <a:tailEnd/>
          </a:ln>
        </p:spPr>
        <p:txBody>
          <a:bodyPr wrap="none" anchor="ctr"/>
          <a:lstStyle/>
          <a:p>
            <a:endParaRPr lang="zh-CN" altLang="en-US"/>
          </a:p>
        </p:txBody>
      </p:sp>
      <p:sp>
        <p:nvSpPr>
          <p:cNvPr id="24615" name="Rectangle 72"/>
          <p:cNvSpPr>
            <a:spLocks noChangeArrowheads="1"/>
          </p:cNvSpPr>
          <p:nvPr/>
        </p:nvSpPr>
        <p:spPr bwMode="auto">
          <a:xfrm>
            <a:off x="5867400" y="5410200"/>
            <a:ext cx="101600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spcBef>
                <a:spcPct val="0"/>
              </a:spcBef>
            </a:pPr>
            <a:r>
              <a:rPr kumimoji="0" lang="en-US" altLang="zh-CN" sz="2000">
                <a:latin typeface="Arial Narrow" pitchFamily="34" charset="0"/>
                <a:ea typeface="宋体" charset="-122"/>
              </a:rPr>
              <a:t>5. print()</a:t>
            </a:r>
          </a:p>
        </p:txBody>
      </p:sp>
      <p:sp>
        <p:nvSpPr>
          <p:cNvPr id="24616" name="Line 73"/>
          <p:cNvSpPr>
            <a:spLocks noChangeShapeType="1"/>
          </p:cNvSpPr>
          <p:nvPr/>
        </p:nvSpPr>
        <p:spPr bwMode="auto">
          <a:xfrm flipH="1">
            <a:off x="5867400" y="5813425"/>
            <a:ext cx="1154113" cy="4763"/>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4617" name="Line 74"/>
          <p:cNvSpPr>
            <a:spLocks noChangeShapeType="1"/>
          </p:cNvSpPr>
          <p:nvPr/>
        </p:nvSpPr>
        <p:spPr bwMode="auto">
          <a:xfrm flipH="1">
            <a:off x="5867400" y="5387975"/>
            <a:ext cx="1154113" cy="2222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18" name="Line 75"/>
          <p:cNvSpPr>
            <a:spLocks noChangeShapeType="1"/>
          </p:cNvSpPr>
          <p:nvPr/>
        </p:nvSpPr>
        <p:spPr bwMode="auto">
          <a:xfrm>
            <a:off x="5867400" y="5410200"/>
            <a:ext cx="0" cy="381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3916680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533400" y="152400"/>
            <a:ext cx="8305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pPr>
            <a:r>
              <a:rPr kumimoji="0" lang="zh-CN" altLang="en-US" sz="3600">
                <a:solidFill>
                  <a:schemeClr val="accent2"/>
                </a:solidFill>
                <a:latin typeface="Arial" charset="0"/>
              </a:rPr>
              <a:t>创建时序图</a:t>
            </a:r>
            <a:r>
              <a:rPr kumimoji="0" lang="en-US" altLang="zh-CN" sz="3600">
                <a:solidFill>
                  <a:schemeClr val="accent2"/>
                </a:solidFill>
                <a:latin typeface="Arial" charset="0"/>
              </a:rPr>
              <a:t>I</a:t>
            </a:r>
          </a:p>
        </p:txBody>
      </p:sp>
      <p:sp>
        <p:nvSpPr>
          <p:cNvPr id="25603" name="Rectangle 51"/>
          <p:cNvSpPr>
            <a:spLocks noChangeArrowheads="1"/>
          </p:cNvSpPr>
          <p:nvPr/>
        </p:nvSpPr>
        <p:spPr bwMode="auto">
          <a:xfrm>
            <a:off x="228600" y="762000"/>
            <a:ext cx="7010400" cy="5131148"/>
          </a:xfrm>
          <a:prstGeom prst="rect">
            <a:avLst/>
          </a:prstGeom>
          <a:solidFill>
            <a:srgbClr val="F4F4F4"/>
          </a:solidFill>
          <a:ln w="76200" cmpd="tri">
            <a:solidFill>
              <a:srgbClr val="FF0000"/>
            </a:solidFill>
            <a:miter lim="800000"/>
            <a:headEnd/>
            <a:tailEnd/>
          </a:ln>
        </p:spPr>
        <p:txBody>
          <a:bodyPr lIns="90488" tIns="44450" rIns="90488" bIns="44450">
            <a:spAutoFit/>
          </a:bodyPr>
          <a:lstStyle/>
          <a:p>
            <a:pPr marL="342900" indent="-342900" algn="l">
              <a:lnSpc>
                <a:spcPct val="90000"/>
              </a:lnSpc>
              <a:spcBef>
                <a:spcPct val="20000"/>
              </a:spcBef>
            </a:pPr>
            <a:r>
              <a:rPr kumimoji="0" lang="en-US" altLang="zh-CN" sz="2800">
                <a:solidFill>
                  <a:srgbClr val="000000"/>
                </a:solidFill>
              </a:rPr>
              <a:t>1.</a:t>
            </a:r>
            <a:r>
              <a:rPr kumimoji="0" lang="zh-CN" altLang="en-US" sz="2800">
                <a:solidFill>
                  <a:srgbClr val="000000"/>
                </a:solidFill>
              </a:rPr>
              <a:t>确定要建立的时序图的用例 </a:t>
            </a:r>
          </a:p>
          <a:p>
            <a:pPr marL="342900" indent="-342900" algn="l">
              <a:lnSpc>
                <a:spcPct val="90000"/>
              </a:lnSpc>
              <a:spcBef>
                <a:spcPct val="20000"/>
              </a:spcBef>
            </a:pPr>
            <a:r>
              <a:rPr kumimoji="0" lang="en-US" altLang="zh-CN" sz="2800">
                <a:solidFill>
                  <a:srgbClr val="000000"/>
                </a:solidFill>
              </a:rPr>
              <a:t>2.</a:t>
            </a:r>
            <a:r>
              <a:rPr kumimoji="0" lang="zh-CN" altLang="en-US" sz="2800">
                <a:solidFill>
                  <a:srgbClr val="000000"/>
                </a:solidFill>
                <a:latin typeface="Arial" charset="0"/>
              </a:rPr>
              <a:t>确定哪个实体初始化用例</a:t>
            </a:r>
            <a:r>
              <a:rPr kumimoji="0" lang="zh-CN" altLang="en-US" sz="2800">
                <a:solidFill>
                  <a:srgbClr val="000000"/>
                </a:solidFill>
                <a:latin typeface="Arial" charset="0"/>
                <a:ea typeface="宋体" charset="-122"/>
              </a:rPr>
              <a:t> </a:t>
            </a:r>
          </a:p>
          <a:p>
            <a:pPr marL="742950" lvl="1" indent="-285750" algn="l">
              <a:lnSpc>
                <a:spcPct val="90000"/>
              </a:lnSpc>
              <a:spcBef>
                <a:spcPct val="20000"/>
              </a:spcBef>
              <a:buFontTx/>
              <a:buChar char="–"/>
            </a:pPr>
            <a:r>
              <a:rPr kumimoji="0" lang="zh-CN" altLang="en-US" sz="2800">
                <a:solidFill>
                  <a:srgbClr val="000000"/>
                </a:solidFill>
                <a:latin typeface="Arial" charset="0"/>
              </a:rPr>
              <a:t>用户</a:t>
            </a:r>
          </a:p>
          <a:p>
            <a:pPr marL="742950" lvl="1" indent="-285750" algn="l">
              <a:lnSpc>
                <a:spcPct val="90000"/>
              </a:lnSpc>
              <a:spcBef>
                <a:spcPct val="20000"/>
              </a:spcBef>
              <a:buFontTx/>
              <a:buChar char="–"/>
            </a:pPr>
            <a:r>
              <a:rPr kumimoji="0" lang="zh-CN" altLang="en-US" sz="2800">
                <a:solidFill>
                  <a:srgbClr val="000000"/>
                </a:solidFill>
              </a:rPr>
              <a:t>类的对象</a:t>
            </a:r>
          </a:p>
          <a:p>
            <a:pPr marL="1143000" lvl="2" indent="-228600" algn="l">
              <a:lnSpc>
                <a:spcPct val="90000"/>
              </a:lnSpc>
              <a:spcBef>
                <a:spcPct val="20000"/>
              </a:spcBef>
              <a:buFontTx/>
              <a:buChar char="•"/>
            </a:pPr>
            <a:r>
              <a:rPr kumimoji="0" lang="zh-CN" altLang="en-US" sz="2800">
                <a:solidFill>
                  <a:srgbClr val="000000"/>
                </a:solidFill>
              </a:rPr>
              <a:t>命名对象</a:t>
            </a:r>
          </a:p>
          <a:p>
            <a:pPr marL="1143000" lvl="2" indent="-228600" algn="l">
              <a:lnSpc>
                <a:spcPct val="90000"/>
              </a:lnSpc>
              <a:spcBef>
                <a:spcPct val="20000"/>
              </a:spcBef>
              <a:buFontTx/>
              <a:buChar char="•"/>
            </a:pPr>
            <a:r>
              <a:rPr kumimoji="0" lang="zh-CN" altLang="en-US" sz="2800">
                <a:solidFill>
                  <a:srgbClr val="000000"/>
                </a:solidFill>
              </a:rPr>
              <a:t>命名类</a:t>
            </a:r>
          </a:p>
          <a:p>
            <a:pPr marL="342900" indent="-342900" algn="l">
              <a:lnSpc>
                <a:spcPct val="90000"/>
              </a:lnSpc>
              <a:spcBef>
                <a:spcPct val="20000"/>
              </a:spcBef>
            </a:pPr>
            <a:r>
              <a:rPr kumimoji="0" lang="en-US" altLang="zh-CN" sz="2800">
                <a:solidFill>
                  <a:srgbClr val="000000"/>
                </a:solidFill>
              </a:rPr>
              <a:t>3. </a:t>
            </a:r>
            <a:r>
              <a:rPr kumimoji="0" lang="zh-CN" altLang="en-US" sz="2800">
                <a:solidFill>
                  <a:srgbClr val="000000"/>
                </a:solidFill>
              </a:rPr>
              <a:t>在左边顶端用矩形符号来表示这个对象</a:t>
            </a:r>
          </a:p>
          <a:p>
            <a:pPr marL="742950" lvl="1" indent="-285750" algn="l">
              <a:lnSpc>
                <a:spcPct val="90000"/>
              </a:lnSpc>
              <a:spcBef>
                <a:spcPct val="20000"/>
              </a:spcBef>
              <a:buFontTx/>
              <a:buChar char="–"/>
            </a:pPr>
            <a:r>
              <a:rPr kumimoji="0" lang="zh-CN" altLang="en-US" sz="2800">
                <a:solidFill>
                  <a:srgbClr val="000000"/>
                </a:solidFill>
                <a:latin typeface="Arial" charset="0"/>
              </a:rPr>
              <a:t>使用</a:t>
            </a:r>
            <a:r>
              <a:rPr kumimoji="0" lang="zh-CN" altLang="en-US" sz="2800">
                <a:solidFill>
                  <a:srgbClr val="000000"/>
                </a:solidFill>
                <a:latin typeface="Arial" charset="0"/>
                <a:ea typeface="宋体" charset="-122"/>
              </a:rPr>
              <a:t> </a:t>
            </a:r>
            <a:r>
              <a:rPr kumimoji="0" lang="en-US" altLang="zh-CN" sz="2800">
                <a:solidFill>
                  <a:srgbClr val="000000"/>
                </a:solidFill>
                <a:latin typeface="Arial" charset="0"/>
                <a:ea typeface="宋体" charset="-122"/>
              </a:rPr>
              <a:t>UML </a:t>
            </a:r>
            <a:r>
              <a:rPr kumimoji="0" lang="zh-CN" altLang="en-US" sz="2800">
                <a:solidFill>
                  <a:srgbClr val="000000"/>
                </a:solidFill>
                <a:latin typeface="Arial" charset="0"/>
              </a:rPr>
              <a:t>的</a:t>
            </a:r>
            <a:r>
              <a:rPr kumimoji="0" lang="en-US" altLang="zh-CN" sz="2800" i="1">
                <a:solidFill>
                  <a:srgbClr val="000000"/>
                </a:solidFill>
                <a:latin typeface="Arial" charset="0"/>
                <a:ea typeface="宋体" charset="-122"/>
              </a:rPr>
              <a:t>object : Class</a:t>
            </a:r>
            <a:r>
              <a:rPr kumimoji="0" lang="en-US" altLang="zh-CN" sz="2800">
                <a:solidFill>
                  <a:srgbClr val="000000"/>
                </a:solidFill>
                <a:latin typeface="Arial" charset="0"/>
                <a:ea typeface="宋体" charset="-122"/>
              </a:rPr>
              <a:t> </a:t>
            </a:r>
            <a:r>
              <a:rPr kumimoji="0" lang="zh-CN" altLang="en-US" sz="2800">
                <a:solidFill>
                  <a:srgbClr val="000000"/>
                </a:solidFill>
                <a:latin typeface="Arial" charset="0"/>
              </a:rPr>
              <a:t>注释</a:t>
            </a:r>
          </a:p>
          <a:p>
            <a:pPr marL="342900" indent="-342900" algn="l">
              <a:lnSpc>
                <a:spcPct val="90000"/>
              </a:lnSpc>
              <a:spcBef>
                <a:spcPct val="20000"/>
              </a:spcBef>
            </a:pPr>
            <a:r>
              <a:rPr kumimoji="0" lang="en-US" altLang="zh-CN" sz="2800">
                <a:solidFill>
                  <a:srgbClr val="000000"/>
                </a:solidFill>
              </a:rPr>
              <a:t>4. </a:t>
            </a:r>
            <a:r>
              <a:rPr kumimoji="0" lang="zh-CN" altLang="en-US" sz="2800">
                <a:solidFill>
                  <a:srgbClr val="000000"/>
                </a:solidFill>
              </a:rPr>
              <a:t>在这个下面用拉长的矩形符号表示操作的执行期</a:t>
            </a:r>
          </a:p>
          <a:p>
            <a:pPr marL="342900" indent="-342900" algn="l">
              <a:lnSpc>
                <a:spcPct val="90000"/>
              </a:lnSpc>
              <a:spcBef>
                <a:spcPct val="20000"/>
              </a:spcBef>
            </a:pPr>
            <a:r>
              <a:rPr kumimoji="0" lang="en-US" altLang="zh-CN" sz="2800">
                <a:solidFill>
                  <a:srgbClr val="000000"/>
                </a:solidFill>
              </a:rPr>
              <a:t>5. </a:t>
            </a:r>
            <a:r>
              <a:rPr kumimoji="0" lang="zh-CN" altLang="en-US" sz="2800">
                <a:solidFill>
                  <a:srgbClr val="000000"/>
                </a:solidFill>
              </a:rPr>
              <a:t>从它的顶端画出一个箭头指示</a:t>
            </a:r>
          </a:p>
        </p:txBody>
      </p:sp>
      <p:sp>
        <p:nvSpPr>
          <p:cNvPr id="25604" name="Line 52"/>
          <p:cNvSpPr>
            <a:spLocks noChangeShapeType="1"/>
          </p:cNvSpPr>
          <p:nvPr/>
        </p:nvSpPr>
        <p:spPr bwMode="auto">
          <a:xfrm>
            <a:off x="7848600" y="4572000"/>
            <a:ext cx="914400"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5" name="Line 53"/>
          <p:cNvSpPr>
            <a:spLocks noChangeShapeType="1"/>
          </p:cNvSpPr>
          <p:nvPr/>
        </p:nvSpPr>
        <p:spPr bwMode="auto">
          <a:xfrm>
            <a:off x="7924800" y="3886200"/>
            <a:ext cx="0" cy="1676400"/>
          </a:xfrm>
          <a:prstGeom prst="line">
            <a:avLst/>
          </a:prstGeom>
          <a:noFill/>
          <a:ln w="28575">
            <a:solidFill>
              <a:srgbClr val="000000"/>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6" name="Text Box 54"/>
          <p:cNvSpPr txBox="1">
            <a:spLocks noChangeArrowheads="1"/>
          </p:cNvSpPr>
          <p:nvPr/>
        </p:nvSpPr>
        <p:spPr bwMode="auto">
          <a:xfrm>
            <a:off x="7020272" y="3432276"/>
            <a:ext cx="2123728" cy="356764"/>
          </a:xfrm>
          <a:prstGeom prst="rect">
            <a:avLst/>
          </a:prstGeom>
          <a:solidFill>
            <a:srgbClr val="FFFFFF"/>
          </a:solidFill>
          <a:ln w="19050">
            <a:solidFill>
              <a:srgbClr val="000000"/>
            </a:solidFill>
            <a:miter lim="800000"/>
            <a:headEnd/>
            <a:tailEnd/>
          </a:ln>
        </p:spPr>
        <p:txBody>
          <a:bodyPr wrap="squar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nSpc>
                <a:spcPct val="50000"/>
              </a:lnSpc>
            </a:pPr>
            <a:r>
              <a:rPr kumimoji="0" lang="en-US" altLang="zh-CN" sz="2000" dirty="0" err="1" smtClean="0">
                <a:solidFill>
                  <a:srgbClr val="000000"/>
                </a:solidFill>
                <a:latin typeface="Arial Narrow" pitchFamily="34" charset="0"/>
                <a:ea typeface="宋体" charset="-122"/>
              </a:rPr>
              <a:t>myObject:MyClass</a:t>
            </a:r>
            <a:endParaRPr kumimoji="0" lang="en-US" altLang="zh-CN" sz="2000" dirty="0">
              <a:solidFill>
                <a:srgbClr val="000000"/>
              </a:solidFill>
              <a:latin typeface="Arial Narrow" pitchFamily="34" charset="0"/>
              <a:ea typeface="宋体" charset="-122"/>
            </a:endParaRPr>
          </a:p>
        </p:txBody>
      </p:sp>
      <p:sp>
        <p:nvSpPr>
          <p:cNvPr id="25607" name="Rectangle 55"/>
          <p:cNvSpPr>
            <a:spLocks noChangeArrowheads="1"/>
          </p:cNvSpPr>
          <p:nvPr/>
        </p:nvSpPr>
        <p:spPr bwMode="auto">
          <a:xfrm>
            <a:off x="7850188" y="4572000"/>
            <a:ext cx="150812" cy="685800"/>
          </a:xfrm>
          <a:prstGeom prst="rect">
            <a:avLst/>
          </a:prstGeom>
          <a:solidFill>
            <a:srgbClr val="FFFFFF"/>
          </a:solidFill>
          <a:ln w="9525">
            <a:solidFill>
              <a:srgbClr val="000000"/>
            </a:solidFill>
            <a:miter lim="800000"/>
            <a:headEnd/>
            <a:tailEnd/>
          </a:ln>
        </p:spPr>
        <p:txBody>
          <a:bodyPr wrap="none" anchor="ctr"/>
          <a:lstStyle/>
          <a:p>
            <a:endParaRPr lang="zh-CN" altLang="en-US"/>
          </a:p>
        </p:txBody>
      </p:sp>
      <p:sp>
        <p:nvSpPr>
          <p:cNvPr id="25608" name="Freeform 56"/>
          <p:cNvSpPr>
            <a:spLocks/>
          </p:cNvSpPr>
          <p:nvPr/>
        </p:nvSpPr>
        <p:spPr bwMode="auto">
          <a:xfrm>
            <a:off x="4383088" y="4022725"/>
            <a:ext cx="2784475" cy="373063"/>
          </a:xfrm>
          <a:custGeom>
            <a:avLst/>
            <a:gdLst>
              <a:gd name="T0" fmla="*/ 0 w 1248"/>
              <a:gd name="T1" fmla="*/ 0 h 144"/>
              <a:gd name="T2" fmla="*/ 2147483647 w 1248"/>
              <a:gd name="T3" fmla="*/ 966500014 h 144"/>
              <a:gd name="T4" fmla="*/ 2147483647 w 1248"/>
              <a:gd name="T5" fmla="*/ 0 h 144"/>
              <a:gd name="T6" fmla="*/ 0 60000 65536"/>
              <a:gd name="T7" fmla="*/ 0 60000 65536"/>
              <a:gd name="T8" fmla="*/ 0 60000 65536"/>
              <a:gd name="T9" fmla="*/ 0 w 1248"/>
              <a:gd name="T10" fmla="*/ 0 h 144"/>
              <a:gd name="T11" fmla="*/ 1248 w 1248"/>
              <a:gd name="T12" fmla="*/ 144 h 144"/>
            </a:gdLst>
            <a:ahLst/>
            <a:cxnLst>
              <a:cxn ang="T6">
                <a:pos x="T0" y="T1"/>
              </a:cxn>
              <a:cxn ang="T7">
                <a:pos x="T2" y="T3"/>
              </a:cxn>
              <a:cxn ang="T8">
                <a:pos x="T4" y="T5"/>
              </a:cxn>
            </a:cxnLst>
            <a:rect l="T9" t="T10" r="T11" b="T12"/>
            <a:pathLst>
              <a:path w="1248" h="144">
                <a:moveTo>
                  <a:pt x="0" y="0"/>
                </a:moveTo>
                <a:cubicBezTo>
                  <a:pt x="208" y="72"/>
                  <a:pt x="416" y="144"/>
                  <a:pt x="624" y="144"/>
                </a:cubicBezTo>
                <a:cubicBezTo>
                  <a:pt x="832" y="144"/>
                  <a:pt x="1040" y="72"/>
                  <a:pt x="1248" y="0"/>
                </a:cubicBezTo>
              </a:path>
            </a:pathLst>
          </a:custGeom>
          <a:noFill/>
          <a:ln w="38100" cap="rnd">
            <a:solidFill>
              <a:srgbClr val="FF0000"/>
            </a:solidFill>
            <a:prstDash val="sysDot"/>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09" name="Freeform 57"/>
          <p:cNvSpPr>
            <a:spLocks/>
          </p:cNvSpPr>
          <p:nvPr/>
        </p:nvSpPr>
        <p:spPr bwMode="auto">
          <a:xfrm>
            <a:off x="6705600" y="4533900"/>
            <a:ext cx="1143000" cy="114300"/>
          </a:xfrm>
          <a:custGeom>
            <a:avLst/>
            <a:gdLst>
              <a:gd name="T0" fmla="*/ 0 w 480"/>
              <a:gd name="T1" fmla="*/ 60483750 h 216"/>
              <a:gd name="T2" fmla="*/ 1088707500 w 480"/>
              <a:gd name="T3" fmla="*/ 6720417 h 216"/>
              <a:gd name="T4" fmla="*/ 2147483647 w 480"/>
              <a:gd name="T5" fmla="*/ 20161250 h 216"/>
              <a:gd name="T6" fmla="*/ 0 60000 65536"/>
              <a:gd name="T7" fmla="*/ 0 60000 65536"/>
              <a:gd name="T8" fmla="*/ 0 60000 65536"/>
              <a:gd name="T9" fmla="*/ 0 w 480"/>
              <a:gd name="T10" fmla="*/ 0 h 216"/>
              <a:gd name="T11" fmla="*/ 480 w 480"/>
              <a:gd name="T12" fmla="*/ 216 h 216"/>
            </a:gdLst>
            <a:ahLst/>
            <a:cxnLst>
              <a:cxn ang="T6">
                <a:pos x="T0" y="T1"/>
              </a:cxn>
              <a:cxn ang="T7">
                <a:pos x="T2" y="T3"/>
              </a:cxn>
              <a:cxn ang="T8">
                <a:pos x="T4" y="T5"/>
              </a:cxn>
            </a:cxnLst>
            <a:rect l="T9" t="T10" r="T11" b="T12"/>
            <a:pathLst>
              <a:path w="480" h="216">
                <a:moveTo>
                  <a:pt x="0" y="216"/>
                </a:moveTo>
                <a:cubicBezTo>
                  <a:pt x="56" y="132"/>
                  <a:pt x="112" y="48"/>
                  <a:pt x="192" y="24"/>
                </a:cubicBezTo>
                <a:cubicBezTo>
                  <a:pt x="272" y="0"/>
                  <a:pt x="376" y="36"/>
                  <a:pt x="480" y="72"/>
                </a:cubicBezTo>
              </a:path>
            </a:pathLst>
          </a:custGeom>
          <a:noFill/>
          <a:ln w="38100" cap="rnd">
            <a:solidFill>
              <a:srgbClr val="FF0000"/>
            </a:solidFill>
            <a:prstDash val="sysDot"/>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10" name="Freeform 58"/>
          <p:cNvSpPr>
            <a:spLocks/>
          </p:cNvSpPr>
          <p:nvPr/>
        </p:nvSpPr>
        <p:spPr bwMode="auto">
          <a:xfrm rot="448585">
            <a:off x="6251575" y="4514850"/>
            <a:ext cx="2286000" cy="1295400"/>
          </a:xfrm>
          <a:custGeom>
            <a:avLst/>
            <a:gdLst>
              <a:gd name="T0" fmla="*/ 0 w 816"/>
              <a:gd name="T1" fmla="*/ 1533961546 h 760"/>
              <a:gd name="T2" fmla="*/ 2147483647 w 816"/>
              <a:gd name="T3" fmla="*/ 1952314385 h 760"/>
              <a:gd name="T4" fmla="*/ 2147483647 w 816"/>
              <a:gd name="T5" fmla="*/ 0 h 760"/>
              <a:gd name="T6" fmla="*/ 0 60000 65536"/>
              <a:gd name="T7" fmla="*/ 0 60000 65536"/>
              <a:gd name="T8" fmla="*/ 0 60000 65536"/>
              <a:gd name="T9" fmla="*/ 0 w 816"/>
              <a:gd name="T10" fmla="*/ 0 h 760"/>
              <a:gd name="T11" fmla="*/ 816 w 816"/>
              <a:gd name="T12" fmla="*/ 760 h 760"/>
            </a:gdLst>
            <a:ahLst/>
            <a:cxnLst>
              <a:cxn ang="T6">
                <a:pos x="T0" y="T1"/>
              </a:cxn>
              <a:cxn ang="T7">
                <a:pos x="T2" y="T3"/>
              </a:cxn>
              <a:cxn ang="T8">
                <a:pos x="T4" y="T5"/>
              </a:cxn>
            </a:cxnLst>
            <a:rect l="T9" t="T10" r="T11" b="T12"/>
            <a:pathLst>
              <a:path w="816" h="760">
                <a:moveTo>
                  <a:pt x="0" y="528"/>
                </a:moveTo>
                <a:cubicBezTo>
                  <a:pt x="220" y="644"/>
                  <a:pt x="440" y="760"/>
                  <a:pt x="576" y="672"/>
                </a:cubicBezTo>
                <a:cubicBezTo>
                  <a:pt x="712" y="584"/>
                  <a:pt x="764" y="292"/>
                  <a:pt x="816" y="0"/>
                </a:cubicBezTo>
              </a:path>
            </a:pathLst>
          </a:custGeom>
          <a:noFill/>
          <a:ln w="38100" cap="rnd">
            <a:solidFill>
              <a:srgbClr val="FF0000"/>
            </a:solidFill>
            <a:prstDash val="sysDot"/>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475" name="Text Box 59"/>
          <p:cNvSpPr txBox="1">
            <a:spLocks noChangeArrowheads="1"/>
          </p:cNvSpPr>
          <p:nvPr/>
        </p:nvSpPr>
        <p:spPr bwMode="auto">
          <a:xfrm>
            <a:off x="228600" y="5715000"/>
            <a:ext cx="8686800"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108000" rIns="0" bIns="108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r>
              <a:rPr lang="zh-CN" altLang="en-US" sz="2400">
                <a:solidFill>
                  <a:srgbClr val="FF0000"/>
                </a:solidFill>
              </a:rPr>
              <a:t>注：</a:t>
            </a:r>
            <a:r>
              <a:rPr lang="zh-CN" altLang="en-US" sz="2000"/>
              <a:t>当用户进行初始化时，在顶部用一个简单的标记而不使用矩形符号；</a:t>
            </a:r>
          </a:p>
          <a:p>
            <a:pPr algn="l" eaLnBrk="1" hangingPunct="1"/>
            <a:r>
              <a:rPr lang="zh-CN" altLang="en-US" sz="2000"/>
              <a:t>     负责执行方法的对象命名在箭头的末端而不是在前端。</a:t>
            </a:r>
          </a:p>
        </p:txBody>
      </p:sp>
    </p:spTree>
    <p:extLst>
      <p:ext uri="{BB962C8B-B14F-4D97-AF65-F5344CB8AC3E}">
        <p14:creationId xmlns:p14="http://schemas.microsoft.com/office/powerpoint/2010/main" val="35375088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0475"/>
                                        </p:tgtEl>
                                        <p:attrNameLst>
                                          <p:attrName>style.visibility</p:attrName>
                                        </p:attrNameLst>
                                      </p:cBhvr>
                                      <p:to>
                                        <p:strVal val="visible"/>
                                      </p:to>
                                    </p:set>
                                    <p:animEffect transition="in" filter="box(in)">
                                      <p:cBhvr>
                                        <p:cTn id="7" dur="500"/>
                                        <p:tgtEl>
                                          <p:spTgt spid="60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7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533400" y="152400"/>
            <a:ext cx="8305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pPr>
            <a:r>
              <a:rPr kumimoji="0" lang="zh-CN" altLang="en-US" sz="3600">
                <a:solidFill>
                  <a:schemeClr val="accent2"/>
                </a:solidFill>
                <a:latin typeface="Arial" charset="0"/>
              </a:rPr>
              <a:t>创建时序图</a:t>
            </a:r>
            <a:r>
              <a:rPr kumimoji="0" lang="en-US" altLang="zh-CN" sz="3600">
                <a:solidFill>
                  <a:schemeClr val="accent2"/>
                </a:solidFill>
                <a:latin typeface="Arial" charset="0"/>
              </a:rPr>
              <a:t>II</a:t>
            </a:r>
          </a:p>
        </p:txBody>
      </p:sp>
      <p:sp>
        <p:nvSpPr>
          <p:cNvPr id="26627" name="Line 11"/>
          <p:cNvSpPr>
            <a:spLocks noChangeShapeType="1"/>
          </p:cNvSpPr>
          <p:nvPr/>
        </p:nvSpPr>
        <p:spPr bwMode="auto">
          <a:xfrm>
            <a:off x="6400800" y="1657350"/>
            <a:ext cx="0" cy="1676400"/>
          </a:xfrm>
          <a:prstGeom prst="line">
            <a:avLst/>
          </a:prstGeom>
          <a:noFill/>
          <a:ln w="28575">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28" name="Line 12"/>
          <p:cNvSpPr>
            <a:spLocks noChangeShapeType="1"/>
          </p:cNvSpPr>
          <p:nvPr/>
        </p:nvSpPr>
        <p:spPr bwMode="auto">
          <a:xfrm>
            <a:off x="8534400" y="1733550"/>
            <a:ext cx="0" cy="1676400"/>
          </a:xfrm>
          <a:prstGeom prst="line">
            <a:avLst/>
          </a:prstGeom>
          <a:noFill/>
          <a:ln w="28575">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29" name="Rectangle 13"/>
          <p:cNvSpPr>
            <a:spLocks noChangeArrowheads="1"/>
          </p:cNvSpPr>
          <p:nvPr/>
        </p:nvSpPr>
        <p:spPr bwMode="auto">
          <a:xfrm>
            <a:off x="228600" y="1200150"/>
            <a:ext cx="5181600" cy="4958793"/>
          </a:xfrm>
          <a:prstGeom prst="rect">
            <a:avLst/>
          </a:prstGeom>
          <a:solidFill>
            <a:srgbClr val="F4F4F4"/>
          </a:solidFill>
          <a:ln w="76200" cmpd="tri">
            <a:solidFill>
              <a:srgbClr val="FF0000"/>
            </a:solidFill>
            <a:miter lim="800000"/>
            <a:headEnd/>
            <a:tailEnd/>
          </a:ln>
        </p:spPr>
        <p:txBody>
          <a:bodyPr lIns="90488" tIns="44450" rIns="90488" bIns="44450">
            <a:spAutoFit/>
          </a:bodyPr>
          <a:lstStyle/>
          <a:p>
            <a:pPr marL="342900" indent="-342900" algn="l">
              <a:lnSpc>
                <a:spcPct val="90000"/>
              </a:lnSpc>
              <a:spcBef>
                <a:spcPct val="20000"/>
              </a:spcBef>
            </a:pPr>
            <a:r>
              <a:rPr kumimoji="0" lang="en-US" altLang="zh-CN" sz="2800"/>
              <a:t>6. </a:t>
            </a:r>
            <a:r>
              <a:rPr kumimoji="0" lang="zh-CN" altLang="en-US" sz="2800"/>
              <a:t>确定哪个实体处理已初始化的操作 </a:t>
            </a:r>
          </a:p>
          <a:p>
            <a:pPr marL="742950" lvl="1" indent="-285750" algn="l">
              <a:lnSpc>
                <a:spcPct val="90000"/>
              </a:lnSpc>
              <a:spcBef>
                <a:spcPct val="20000"/>
              </a:spcBef>
              <a:buFontTx/>
              <a:buChar char="–"/>
            </a:pPr>
            <a:r>
              <a:rPr kumimoji="0" lang="zh-CN" altLang="en-US" sz="2800"/>
              <a:t>一个类的对象</a:t>
            </a:r>
          </a:p>
          <a:p>
            <a:pPr marL="1143000" lvl="2" indent="-228600" algn="l">
              <a:lnSpc>
                <a:spcPct val="90000"/>
              </a:lnSpc>
              <a:spcBef>
                <a:spcPct val="20000"/>
              </a:spcBef>
              <a:buFontTx/>
              <a:buChar char="•"/>
            </a:pPr>
            <a:r>
              <a:rPr kumimoji="0" lang="zh-CN" altLang="en-US" sz="2800"/>
              <a:t>命名对象</a:t>
            </a:r>
          </a:p>
          <a:p>
            <a:pPr marL="1143000" lvl="2" indent="-228600" algn="l">
              <a:lnSpc>
                <a:spcPct val="90000"/>
              </a:lnSpc>
              <a:spcBef>
                <a:spcPct val="20000"/>
              </a:spcBef>
              <a:buFontTx/>
              <a:buChar char="•"/>
            </a:pPr>
            <a:r>
              <a:rPr kumimoji="0" lang="zh-CN" altLang="en-US" sz="2800"/>
              <a:t>命名类</a:t>
            </a:r>
          </a:p>
          <a:p>
            <a:pPr marL="342900" indent="-342900" algn="l">
              <a:lnSpc>
                <a:spcPct val="90000"/>
              </a:lnSpc>
              <a:spcBef>
                <a:spcPct val="20000"/>
              </a:spcBef>
            </a:pPr>
            <a:r>
              <a:rPr kumimoji="0" lang="en-US" altLang="zh-CN" sz="2800"/>
              <a:t>7. </a:t>
            </a:r>
            <a:r>
              <a:rPr kumimoji="0" lang="zh-CN" altLang="en-US" sz="2800"/>
              <a:t>用操作的名字在箭头上进行标记</a:t>
            </a:r>
          </a:p>
          <a:p>
            <a:pPr marL="742950" lvl="1" indent="-285750" algn="l">
              <a:lnSpc>
                <a:spcPct val="90000"/>
              </a:lnSpc>
              <a:spcBef>
                <a:spcPct val="20000"/>
              </a:spcBef>
              <a:buFontTx/>
              <a:buChar char="–"/>
            </a:pPr>
            <a:r>
              <a:rPr kumimoji="0" lang="zh-CN" altLang="en-US" sz="2800"/>
              <a:t>通常不显示返回</a:t>
            </a:r>
          </a:p>
          <a:p>
            <a:pPr marL="342900" indent="-342900" algn="l">
              <a:lnSpc>
                <a:spcPct val="90000"/>
              </a:lnSpc>
              <a:spcBef>
                <a:spcPct val="20000"/>
              </a:spcBef>
            </a:pPr>
            <a:r>
              <a:rPr kumimoji="0" lang="en-US" altLang="zh-CN" sz="2800"/>
              <a:t>8. </a:t>
            </a:r>
            <a:r>
              <a:rPr kumimoji="0" lang="zh-CN" altLang="en-US" sz="2800"/>
              <a:t>用拉长的矩形符号表示过程开始 </a:t>
            </a:r>
          </a:p>
          <a:p>
            <a:pPr marL="342900" indent="-342900" algn="l">
              <a:lnSpc>
                <a:spcPct val="90000"/>
              </a:lnSpc>
              <a:spcBef>
                <a:spcPct val="20000"/>
              </a:spcBef>
            </a:pPr>
            <a:r>
              <a:rPr kumimoji="0" lang="en-US" altLang="zh-CN" sz="2800"/>
              <a:t>9</a:t>
            </a:r>
            <a:r>
              <a:rPr kumimoji="0" lang="en-US" altLang="zh-CN" sz="2800">
                <a:latin typeface="Arial Narrow" pitchFamily="34" charset="0"/>
              </a:rPr>
              <a:t>……</a:t>
            </a:r>
            <a:r>
              <a:rPr kumimoji="0" lang="en-US" altLang="zh-CN" sz="2800"/>
              <a:t> </a:t>
            </a:r>
            <a:r>
              <a:rPr kumimoji="0" lang="zh-CN" altLang="en-US" sz="2800"/>
              <a:t>继续声明每个新的用例</a:t>
            </a:r>
            <a:r>
              <a:rPr kumimoji="0" lang="en-US" altLang="zh-CN" sz="2800"/>
              <a:t>.</a:t>
            </a:r>
          </a:p>
        </p:txBody>
      </p:sp>
      <p:sp>
        <p:nvSpPr>
          <p:cNvPr id="26630" name="Text Box 14"/>
          <p:cNvSpPr txBox="1">
            <a:spLocks noChangeArrowheads="1"/>
          </p:cNvSpPr>
          <p:nvPr/>
        </p:nvSpPr>
        <p:spPr bwMode="auto">
          <a:xfrm>
            <a:off x="5727700" y="1200150"/>
            <a:ext cx="1337226" cy="575799"/>
          </a:xfrm>
          <a:prstGeom prst="rect">
            <a:avLst/>
          </a:prstGeom>
          <a:solidFill>
            <a:schemeClr val="bg1"/>
          </a:solidFill>
          <a:ln w="19050">
            <a:solidFill>
              <a:schemeClr val="tx1"/>
            </a:solidFill>
            <a:miter lim="800000"/>
            <a:headEnd/>
            <a:tailEnd/>
          </a:ln>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nSpc>
                <a:spcPct val="50000"/>
              </a:lnSpc>
            </a:pPr>
            <a:r>
              <a:rPr kumimoji="0" lang="en-US" altLang="zh-CN" sz="2400" dirty="0" err="1">
                <a:latin typeface="Arial Narrow" pitchFamily="34" charset="0"/>
                <a:ea typeface="宋体" charset="-122"/>
              </a:rPr>
              <a:t>myObject</a:t>
            </a:r>
            <a:endParaRPr kumimoji="0" lang="en-US" altLang="zh-CN" sz="2400" dirty="0">
              <a:latin typeface="Arial Narrow" pitchFamily="34" charset="0"/>
              <a:ea typeface="宋体" charset="-122"/>
            </a:endParaRPr>
          </a:p>
          <a:p>
            <a:pPr>
              <a:lnSpc>
                <a:spcPct val="50000"/>
              </a:lnSpc>
            </a:pPr>
            <a:r>
              <a:rPr kumimoji="0" lang="en-US" altLang="zh-CN" sz="2400" dirty="0">
                <a:latin typeface="Arial Narrow" pitchFamily="34" charset="0"/>
                <a:ea typeface="宋体" charset="-122"/>
              </a:rPr>
              <a:t>:</a:t>
            </a:r>
            <a:r>
              <a:rPr kumimoji="0" lang="en-US" altLang="zh-CN" sz="2400" dirty="0" err="1">
                <a:latin typeface="Arial Narrow" pitchFamily="34" charset="0"/>
                <a:ea typeface="宋体" charset="-122"/>
              </a:rPr>
              <a:t>MyClass</a:t>
            </a:r>
            <a:endParaRPr kumimoji="0" lang="en-US" altLang="zh-CN" sz="2400" dirty="0">
              <a:latin typeface="Arial Narrow" pitchFamily="34" charset="0"/>
              <a:ea typeface="宋体" charset="-122"/>
            </a:endParaRPr>
          </a:p>
        </p:txBody>
      </p:sp>
      <p:sp>
        <p:nvSpPr>
          <p:cNvPr id="26631" name="Text Box 15"/>
          <p:cNvSpPr txBox="1">
            <a:spLocks noChangeArrowheads="1"/>
          </p:cNvSpPr>
          <p:nvPr/>
        </p:nvSpPr>
        <p:spPr bwMode="auto">
          <a:xfrm>
            <a:off x="7412038" y="1200150"/>
            <a:ext cx="1478290" cy="923330"/>
          </a:xfrm>
          <a:prstGeom prst="rect">
            <a:avLst/>
          </a:prstGeom>
          <a:solidFill>
            <a:schemeClr val="bg1"/>
          </a:solidFill>
          <a:ln w="19050">
            <a:solidFill>
              <a:schemeClr val="tx1"/>
            </a:solidFill>
            <a:miter lim="800000"/>
            <a:headEnd/>
            <a:tailEnd/>
          </a:ln>
        </p:spPr>
        <p:txBody>
          <a:bodyPr wrap="none"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r>
              <a:rPr kumimoji="0" lang="en-US" altLang="zh-CN" sz="2400" dirty="0">
                <a:latin typeface="Arial Narrow" pitchFamily="34" charset="0"/>
                <a:ea typeface="宋体" charset="-122"/>
              </a:rPr>
              <a:t>myObject1</a:t>
            </a:r>
          </a:p>
          <a:p>
            <a:r>
              <a:rPr kumimoji="0" lang="en-US" altLang="zh-CN" sz="2400" dirty="0">
                <a:latin typeface="Arial Narrow" pitchFamily="34" charset="0"/>
                <a:ea typeface="宋体" charset="-122"/>
              </a:rPr>
              <a:t>:MyClass1</a:t>
            </a:r>
          </a:p>
        </p:txBody>
      </p:sp>
      <p:sp>
        <p:nvSpPr>
          <p:cNvPr id="26632" name="Rectangle 16"/>
          <p:cNvSpPr>
            <a:spLocks noChangeArrowheads="1"/>
          </p:cNvSpPr>
          <p:nvPr/>
        </p:nvSpPr>
        <p:spPr bwMode="auto">
          <a:xfrm>
            <a:off x="8458200" y="3028950"/>
            <a:ext cx="152400" cy="1600200"/>
          </a:xfrm>
          <a:prstGeom prst="rect">
            <a:avLst/>
          </a:prstGeom>
          <a:solidFill>
            <a:schemeClr val="bg1"/>
          </a:solidFill>
          <a:ln w="9525">
            <a:solidFill>
              <a:schemeClr val="tx1"/>
            </a:solidFill>
            <a:miter lim="800000"/>
            <a:headEnd/>
            <a:tailEnd/>
          </a:ln>
        </p:spPr>
        <p:txBody>
          <a:bodyPr wrap="none" anchor="ctr"/>
          <a:lstStyle/>
          <a:p>
            <a:endParaRPr lang="zh-CN" altLang="en-US"/>
          </a:p>
        </p:txBody>
      </p:sp>
      <p:sp>
        <p:nvSpPr>
          <p:cNvPr id="26633" name="Line 17"/>
          <p:cNvSpPr>
            <a:spLocks noChangeShapeType="1"/>
          </p:cNvSpPr>
          <p:nvPr/>
        </p:nvSpPr>
        <p:spPr bwMode="auto">
          <a:xfrm>
            <a:off x="6400800" y="3028950"/>
            <a:ext cx="21336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4" name="Rectangle 18"/>
          <p:cNvSpPr>
            <a:spLocks noChangeArrowheads="1"/>
          </p:cNvSpPr>
          <p:nvPr/>
        </p:nvSpPr>
        <p:spPr bwMode="auto">
          <a:xfrm>
            <a:off x="6858000" y="2568575"/>
            <a:ext cx="12715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a:latin typeface="Arial Narrow" pitchFamily="34" charset="0"/>
                <a:ea typeface="宋体" charset="-122"/>
              </a:rPr>
              <a:t>operation()</a:t>
            </a:r>
          </a:p>
        </p:txBody>
      </p:sp>
      <p:sp>
        <p:nvSpPr>
          <p:cNvPr id="26635" name="Freeform 19"/>
          <p:cNvSpPr>
            <a:spLocks/>
          </p:cNvSpPr>
          <p:nvPr/>
        </p:nvSpPr>
        <p:spPr bwMode="auto">
          <a:xfrm>
            <a:off x="4191000" y="1809750"/>
            <a:ext cx="3276600" cy="304800"/>
          </a:xfrm>
          <a:custGeom>
            <a:avLst/>
            <a:gdLst>
              <a:gd name="T0" fmla="*/ 0 w 1248"/>
              <a:gd name="T1" fmla="*/ 0 h 144"/>
              <a:gd name="T2" fmla="*/ 2147483647 w 1248"/>
              <a:gd name="T3" fmla="*/ 645160000 h 144"/>
              <a:gd name="T4" fmla="*/ 2147483647 w 1248"/>
              <a:gd name="T5" fmla="*/ 0 h 144"/>
              <a:gd name="T6" fmla="*/ 0 60000 65536"/>
              <a:gd name="T7" fmla="*/ 0 60000 65536"/>
              <a:gd name="T8" fmla="*/ 0 60000 65536"/>
              <a:gd name="T9" fmla="*/ 0 w 1248"/>
              <a:gd name="T10" fmla="*/ 0 h 144"/>
              <a:gd name="T11" fmla="*/ 1248 w 1248"/>
              <a:gd name="T12" fmla="*/ 144 h 144"/>
            </a:gdLst>
            <a:ahLst/>
            <a:cxnLst>
              <a:cxn ang="T6">
                <a:pos x="T0" y="T1"/>
              </a:cxn>
              <a:cxn ang="T7">
                <a:pos x="T2" y="T3"/>
              </a:cxn>
              <a:cxn ang="T8">
                <a:pos x="T4" y="T5"/>
              </a:cxn>
            </a:cxnLst>
            <a:rect l="T9" t="T10" r="T11" b="T12"/>
            <a:pathLst>
              <a:path w="1248" h="144">
                <a:moveTo>
                  <a:pt x="0" y="0"/>
                </a:moveTo>
                <a:cubicBezTo>
                  <a:pt x="208" y="72"/>
                  <a:pt x="416" y="144"/>
                  <a:pt x="624" y="144"/>
                </a:cubicBezTo>
                <a:cubicBezTo>
                  <a:pt x="832" y="144"/>
                  <a:pt x="1040" y="72"/>
                  <a:pt x="1248" y="0"/>
                </a:cubicBezTo>
              </a:path>
            </a:pathLst>
          </a:custGeom>
          <a:noFill/>
          <a:ln w="38100" cap="rnd">
            <a:solidFill>
              <a:srgbClr val="FF0000"/>
            </a:solidFill>
            <a:prstDash val="sysDot"/>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6636" name="Rectangle 20"/>
          <p:cNvSpPr>
            <a:spLocks noChangeArrowheads="1"/>
          </p:cNvSpPr>
          <p:nvPr/>
        </p:nvSpPr>
        <p:spPr bwMode="auto">
          <a:xfrm>
            <a:off x="6324600" y="2419350"/>
            <a:ext cx="152400" cy="1295400"/>
          </a:xfrm>
          <a:prstGeom prst="rect">
            <a:avLst/>
          </a:prstGeom>
          <a:solidFill>
            <a:schemeClr val="bg1"/>
          </a:solidFill>
          <a:ln w="9525">
            <a:solidFill>
              <a:schemeClr val="tx1"/>
            </a:solidFill>
            <a:miter lim="800000"/>
            <a:headEnd/>
            <a:tailEnd/>
          </a:ln>
        </p:spPr>
        <p:txBody>
          <a:bodyPr wrap="none" anchor="ctr"/>
          <a:lstStyle/>
          <a:p>
            <a:endParaRPr lang="zh-CN" altLang="en-US"/>
          </a:p>
        </p:txBody>
      </p:sp>
      <p:sp>
        <p:nvSpPr>
          <p:cNvPr id="26637" name="Freeform 21"/>
          <p:cNvSpPr>
            <a:spLocks/>
          </p:cNvSpPr>
          <p:nvPr/>
        </p:nvSpPr>
        <p:spPr bwMode="auto">
          <a:xfrm>
            <a:off x="5105400" y="3105150"/>
            <a:ext cx="3352800" cy="1981200"/>
          </a:xfrm>
          <a:custGeom>
            <a:avLst/>
            <a:gdLst>
              <a:gd name="T0" fmla="*/ 0 w 1872"/>
              <a:gd name="T1" fmla="*/ 2147483647 h 1296"/>
              <a:gd name="T2" fmla="*/ 2147483647 w 1872"/>
              <a:gd name="T3" fmla="*/ 2147483647 h 1296"/>
              <a:gd name="T4" fmla="*/ 2147483647 w 1872"/>
              <a:gd name="T5" fmla="*/ 2147483647 h 1296"/>
              <a:gd name="T6" fmla="*/ 2147483647 w 1872"/>
              <a:gd name="T7" fmla="*/ 560864573 h 1296"/>
              <a:gd name="T8" fmla="*/ 2147483647 w 1872"/>
              <a:gd name="T9" fmla="*/ 0 h 1296"/>
              <a:gd name="T10" fmla="*/ 0 60000 65536"/>
              <a:gd name="T11" fmla="*/ 0 60000 65536"/>
              <a:gd name="T12" fmla="*/ 0 60000 65536"/>
              <a:gd name="T13" fmla="*/ 0 60000 65536"/>
              <a:gd name="T14" fmla="*/ 0 60000 65536"/>
              <a:gd name="T15" fmla="*/ 0 w 1872"/>
              <a:gd name="T16" fmla="*/ 0 h 1296"/>
              <a:gd name="T17" fmla="*/ 1872 w 1872"/>
              <a:gd name="T18" fmla="*/ 1296 h 1296"/>
            </a:gdLst>
            <a:ahLst/>
            <a:cxnLst>
              <a:cxn ang="T10">
                <a:pos x="T0" y="T1"/>
              </a:cxn>
              <a:cxn ang="T11">
                <a:pos x="T2" y="T3"/>
              </a:cxn>
              <a:cxn ang="T12">
                <a:pos x="T4" y="T5"/>
              </a:cxn>
              <a:cxn ang="T13">
                <a:pos x="T6" y="T7"/>
              </a:cxn>
              <a:cxn ang="T14">
                <a:pos x="T8" y="T9"/>
              </a:cxn>
            </a:cxnLst>
            <a:rect l="T15" t="T16" r="T17" b="T18"/>
            <a:pathLst>
              <a:path w="1872" h="1296">
                <a:moveTo>
                  <a:pt x="0" y="1296"/>
                </a:moveTo>
                <a:cubicBezTo>
                  <a:pt x="228" y="1296"/>
                  <a:pt x="456" y="1296"/>
                  <a:pt x="672" y="1248"/>
                </a:cubicBezTo>
                <a:cubicBezTo>
                  <a:pt x="888" y="1200"/>
                  <a:pt x="1160" y="1176"/>
                  <a:pt x="1296" y="1008"/>
                </a:cubicBezTo>
                <a:cubicBezTo>
                  <a:pt x="1432" y="840"/>
                  <a:pt x="1392" y="408"/>
                  <a:pt x="1488" y="240"/>
                </a:cubicBezTo>
                <a:cubicBezTo>
                  <a:pt x="1584" y="72"/>
                  <a:pt x="1728" y="36"/>
                  <a:pt x="1872" y="0"/>
                </a:cubicBezTo>
              </a:path>
            </a:pathLst>
          </a:custGeom>
          <a:noFill/>
          <a:ln w="38100" cap="rnd">
            <a:solidFill>
              <a:srgbClr val="FF0000"/>
            </a:solidFill>
            <a:prstDash val="sysDot"/>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6638" name="Freeform 22"/>
          <p:cNvSpPr>
            <a:spLocks/>
          </p:cNvSpPr>
          <p:nvPr/>
        </p:nvSpPr>
        <p:spPr bwMode="auto">
          <a:xfrm>
            <a:off x="4267200" y="3028950"/>
            <a:ext cx="3352800" cy="990600"/>
          </a:xfrm>
          <a:custGeom>
            <a:avLst/>
            <a:gdLst>
              <a:gd name="T0" fmla="*/ 0 w 1920"/>
              <a:gd name="T1" fmla="*/ 1155363450 h 728"/>
              <a:gd name="T2" fmla="*/ 2147483647 w 1920"/>
              <a:gd name="T3" fmla="*/ 1155363450 h 728"/>
              <a:gd name="T4" fmla="*/ 2147483647 w 1920"/>
              <a:gd name="T5" fmla="*/ 0 h 728"/>
              <a:gd name="T6" fmla="*/ 0 60000 65536"/>
              <a:gd name="T7" fmla="*/ 0 60000 65536"/>
              <a:gd name="T8" fmla="*/ 0 60000 65536"/>
              <a:gd name="T9" fmla="*/ 0 w 1920"/>
              <a:gd name="T10" fmla="*/ 0 h 728"/>
              <a:gd name="T11" fmla="*/ 1920 w 1920"/>
              <a:gd name="T12" fmla="*/ 728 h 728"/>
            </a:gdLst>
            <a:ahLst/>
            <a:cxnLst>
              <a:cxn ang="T6">
                <a:pos x="T0" y="T1"/>
              </a:cxn>
              <a:cxn ang="T7">
                <a:pos x="T2" y="T3"/>
              </a:cxn>
              <a:cxn ang="T8">
                <a:pos x="T4" y="T5"/>
              </a:cxn>
            </a:cxnLst>
            <a:rect l="T9" t="T10" r="T11" b="T12"/>
            <a:pathLst>
              <a:path w="1920" h="728">
                <a:moveTo>
                  <a:pt x="0" y="624"/>
                </a:moveTo>
                <a:cubicBezTo>
                  <a:pt x="608" y="676"/>
                  <a:pt x="1216" y="728"/>
                  <a:pt x="1536" y="624"/>
                </a:cubicBezTo>
                <a:cubicBezTo>
                  <a:pt x="1856" y="520"/>
                  <a:pt x="1856" y="88"/>
                  <a:pt x="1920" y="0"/>
                </a:cubicBezTo>
              </a:path>
            </a:pathLst>
          </a:custGeom>
          <a:noFill/>
          <a:ln w="38100" cap="rnd">
            <a:solidFill>
              <a:srgbClr val="FF0000"/>
            </a:solidFill>
            <a:prstDash val="sysDot"/>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extLst>
      <p:ext uri="{BB962C8B-B14F-4D97-AF65-F5344CB8AC3E}">
        <p14:creationId xmlns:p14="http://schemas.microsoft.com/office/powerpoint/2010/main" val="4398720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状态模型</a:t>
            </a:r>
          </a:p>
        </p:txBody>
      </p:sp>
      <p:sp>
        <p:nvSpPr>
          <p:cNvPr id="27651" name="Rectangle 3"/>
          <p:cNvSpPr>
            <a:spLocks noGrp="1" noChangeArrowheads="1"/>
          </p:cNvSpPr>
          <p:nvPr>
            <p:ph type="body" idx="1"/>
          </p:nvPr>
        </p:nvSpPr>
        <p:spPr>
          <a:xfrm>
            <a:off x="838200" y="1676400"/>
            <a:ext cx="8001000" cy="4495800"/>
          </a:xfrm>
        </p:spPr>
        <p:txBody>
          <a:bodyPr/>
          <a:lstStyle/>
          <a:p>
            <a:pPr eaLnBrk="1" hangingPunct="1"/>
            <a:r>
              <a:rPr lang="zh-CN" altLang="en-US" b="1" smtClean="0">
                <a:ea typeface="楷体_GB2312" pitchFamily="49" charset="-122"/>
              </a:rPr>
              <a:t>应用程序的状态（</a:t>
            </a:r>
            <a:r>
              <a:rPr lang="en-US" altLang="zh-CN" b="1" smtClean="0">
                <a:ea typeface="楷体_GB2312" pitchFamily="49" charset="-122"/>
              </a:rPr>
              <a:t>state</a:t>
            </a:r>
            <a:r>
              <a:rPr lang="zh-CN" altLang="en-US" b="1" smtClean="0">
                <a:ea typeface="楷体_GB2312" pitchFamily="49" charset="-122"/>
              </a:rPr>
              <a:t>）就是它的情况或状况。</a:t>
            </a:r>
          </a:p>
          <a:p>
            <a:pPr eaLnBrk="1" hangingPunct="1"/>
            <a:endParaRPr lang="zh-CN" altLang="en-US" b="1" smtClean="0">
              <a:ea typeface="楷体_GB2312" pitchFamily="49" charset="-122"/>
            </a:endParaRPr>
          </a:p>
          <a:p>
            <a:pPr eaLnBrk="1" hangingPunct="1"/>
            <a:r>
              <a:rPr lang="zh-CN" altLang="en-US" b="1" smtClean="0">
                <a:ea typeface="楷体_GB2312" pitchFamily="49" charset="-122"/>
              </a:rPr>
              <a:t>将应用程序分成状态，这样程序就总是处于某一个状态中</a:t>
            </a:r>
          </a:p>
          <a:p>
            <a:pPr eaLnBrk="1" hangingPunct="1"/>
            <a:endParaRPr lang="zh-CN" altLang="en-US" b="1" smtClean="0">
              <a:ea typeface="楷体_GB2312" pitchFamily="49" charset="-122"/>
            </a:endParaRPr>
          </a:p>
          <a:p>
            <a:pPr eaLnBrk="1" hangingPunct="1"/>
            <a:r>
              <a:rPr lang="zh-CN" altLang="en-US" b="1" smtClean="0">
                <a:ea typeface="楷体_GB2312" pitchFamily="49" charset="-122"/>
              </a:rPr>
              <a:t>一般情况下，对象的状态是由</a:t>
            </a:r>
            <a:r>
              <a:rPr lang="zh-CN" altLang="en-US" b="1" smtClean="0">
                <a:solidFill>
                  <a:srgbClr val="0000CC"/>
                </a:solidFill>
                <a:ea typeface="楷体_GB2312" pitchFamily="49" charset="-122"/>
              </a:rPr>
              <a:t>对象变量</a:t>
            </a:r>
            <a:r>
              <a:rPr lang="zh-CN" altLang="en-US" b="1" smtClean="0">
                <a:ea typeface="楷体_GB2312" pitchFamily="49" charset="-122"/>
              </a:rPr>
              <a:t>的值来定义的。</a:t>
            </a:r>
          </a:p>
        </p:txBody>
      </p:sp>
    </p:spTree>
    <p:extLst>
      <p:ext uri="{BB962C8B-B14F-4D97-AF65-F5344CB8AC3E}">
        <p14:creationId xmlns:p14="http://schemas.microsoft.com/office/powerpoint/2010/main" val="113806348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zh-CN" b="1" smtClean="0">
                <a:solidFill>
                  <a:schemeClr val="accent2"/>
                </a:solidFill>
                <a:ea typeface="楷体_GB2312" pitchFamily="49" charset="-122"/>
              </a:rPr>
              <a:t>OnlineShopper</a:t>
            </a:r>
            <a:r>
              <a:rPr lang="zh-CN" altLang="en-US" b="1" smtClean="0">
                <a:solidFill>
                  <a:schemeClr val="accent2"/>
                </a:solidFill>
                <a:ea typeface="楷体_GB2312" pitchFamily="49" charset="-122"/>
              </a:rPr>
              <a:t>类的状态</a:t>
            </a:r>
          </a:p>
        </p:txBody>
      </p:sp>
      <p:sp>
        <p:nvSpPr>
          <p:cNvPr id="28675" name="AutoShape 5"/>
          <p:cNvSpPr>
            <a:spLocks noChangeArrowheads="1"/>
          </p:cNvSpPr>
          <p:nvPr/>
        </p:nvSpPr>
        <p:spPr bwMode="auto">
          <a:xfrm>
            <a:off x="804863" y="1600200"/>
            <a:ext cx="1597025" cy="604838"/>
          </a:xfrm>
          <a:prstGeom prst="roundRect">
            <a:avLst>
              <a:gd name="adj" fmla="val 16667"/>
            </a:avLst>
          </a:prstGeom>
          <a:solidFill>
            <a:schemeClr val="bg1"/>
          </a:solidFill>
          <a:ln w="38100">
            <a:solidFill>
              <a:schemeClr val="tx1"/>
            </a:solidFill>
            <a:round/>
            <a:headEnd/>
            <a:tailEnd/>
          </a:ln>
        </p:spPr>
        <p:txBody>
          <a:bodyPr wrap="none" anchor="ctr">
            <a:spAutoFit/>
          </a:bodyPr>
          <a:lstStyle/>
          <a:p>
            <a:pPr eaLnBrk="0" hangingPunct="0">
              <a:spcBef>
                <a:spcPct val="0"/>
              </a:spcBef>
            </a:pPr>
            <a:r>
              <a:rPr kumimoji="0" lang="en-US" altLang="zh-CN">
                <a:latin typeface="Arial Narrow" pitchFamily="34" charset="0"/>
                <a:ea typeface="宋体" charset="-122"/>
              </a:rPr>
              <a:t>Browsing</a:t>
            </a:r>
          </a:p>
        </p:txBody>
      </p:sp>
      <p:sp>
        <p:nvSpPr>
          <p:cNvPr id="28676" name="Line 6"/>
          <p:cNvSpPr>
            <a:spLocks noChangeShapeType="1"/>
          </p:cNvSpPr>
          <p:nvPr/>
        </p:nvSpPr>
        <p:spPr bwMode="auto">
          <a:xfrm>
            <a:off x="609600" y="990600"/>
            <a:ext cx="304800" cy="6159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77" name="Oval 7"/>
          <p:cNvSpPr>
            <a:spLocks noChangeArrowheads="1"/>
          </p:cNvSpPr>
          <p:nvPr/>
        </p:nvSpPr>
        <p:spPr bwMode="auto">
          <a:xfrm>
            <a:off x="457200" y="838200"/>
            <a:ext cx="228600" cy="228600"/>
          </a:xfrm>
          <a:prstGeom prst="ellipse">
            <a:avLst/>
          </a:prstGeom>
          <a:solidFill>
            <a:schemeClr val="tx1"/>
          </a:solidFill>
          <a:ln w="9525">
            <a:solidFill>
              <a:schemeClr val="tx1"/>
            </a:solidFill>
            <a:round/>
            <a:headEnd/>
            <a:tailEnd/>
          </a:ln>
        </p:spPr>
        <p:txBody>
          <a:bodyPr wrap="none" anchor="ctr"/>
          <a:lstStyle/>
          <a:p>
            <a:endParaRPr lang="zh-CN" altLang="en-US"/>
          </a:p>
        </p:txBody>
      </p:sp>
      <p:sp>
        <p:nvSpPr>
          <p:cNvPr id="28678" name="AutoShape 8"/>
          <p:cNvSpPr>
            <a:spLocks noChangeArrowheads="1"/>
          </p:cNvSpPr>
          <p:nvPr/>
        </p:nvSpPr>
        <p:spPr bwMode="auto">
          <a:xfrm>
            <a:off x="4603750" y="1600200"/>
            <a:ext cx="2101850" cy="604838"/>
          </a:xfrm>
          <a:prstGeom prst="roundRect">
            <a:avLst>
              <a:gd name="adj" fmla="val 16667"/>
            </a:avLst>
          </a:prstGeom>
          <a:solidFill>
            <a:schemeClr val="bg1"/>
          </a:solidFill>
          <a:ln w="38100">
            <a:solidFill>
              <a:schemeClr val="tx1"/>
            </a:solidFill>
            <a:round/>
            <a:headEnd/>
            <a:tailEnd/>
          </a:ln>
        </p:spPr>
        <p:txBody>
          <a:bodyPr wrap="none" anchor="ctr">
            <a:spAutoFit/>
          </a:bodyPr>
          <a:lstStyle/>
          <a:p>
            <a:pPr eaLnBrk="0" hangingPunct="0">
              <a:spcBef>
                <a:spcPct val="0"/>
              </a:spcBef>
            </a:pPr>
            <a:r>
              <a:rPr kumimoji="0" lang="en-US" altLang="zh-CN">
                <a:latin typeface="Arial Narrow" pitchFamily="34" charset="0"/>
                <a:ea typeface="宋体" charset="-122"/>
              </a:rPr>
              <a:t>ItemsChosen</a:t>
            </a:r>
          </a:p>
        </p:txBody>
      </p:sp>
      <p:sp>
        <p:nvSpPr>
          <p:cNvPr id="28679" name="AutoShape 9"/>
          <p:cNvSpPr>
            <a:spLocks noChangeArrowheads="1"/>
          </p:cNvSpPr>
          <p:nvPr/>
        </p:nvSpPr>
        <p:spPr bwMode="auto">
          <a:xfrm>
            <a:off x="1614488" y="4038600"/>
            <a:ext cx="3354387" cy="604838"/>
          </a:xfrm>
          <a:prstGeom prst="roundRect">
            <a:avLst>
              <a:gd name="adj" fmla="val 16667"/>
            </a:avLst>
          </a:prstGeom>
          <a:solidFill>
            <a:schemeClr val="bg1"/>
          </a:solidFill>
          <a:ln w="38100">
            <a:solidFill>
              <a:schemeClr val="tx1"/>
            </a:solidFill>
            <a:round/>
            <a:headEnd/>
            <a:tailEnd/>
          </a:ln>
        </p:spPr>
        <p:txBody>
          <a:bodyPr wrap="none" anchor="ctr">
            <a:spAutoFit/>
          </a:bodyPr>
          <a:lstStyle/>
          <a:p>
            <a:pPr eaLnBrk="0" hangingPunct="0">
              <a:spcBef>
                <a:spcPct val="0"/>
              </a:spcBef>
            </a:pPr>
            <a:r>
              <a:rPr kumimoji="0" lang="en-US" altLang="zh-CN">
                <a:latin typeface="Arial Narrow" pitchFamily="34" charset="0"/>
                <a:ea typeface="宋体" charset="-122"/>
              </a:rPr>
              <a:t>CreditUnderValidation</a:t>
            </a:r>
          </a:p>
        </p:txBody>
      </p:sp>
      <p:sp>
        <p:nvSpPr>
          <p:cNvPr id="28680" name="AutoShape 10"/>
          <p:cNvSpPr>
            <a:spLocks noChangeArrowheads="1"/>
          </p:cNvSpPr>
          <p:nvPr/>
        </p:nvSpPr>
        <p:spPr bwMode="auto">
          <a:xfrm>
            <a:off x="914400" y="2590800"/>
            <a:ext cx="7162800" cy="3810000"/>
          </a:xfrm>
          <a:prstGeom prst="roundRect">
            <a:avLst>
              <a:gd name="adj" fmla="val 16667"/>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pPr algn="l" eaLnBrk="0" hangingPunct="0">
              <a:spcBef>
                <a:spcPct val="0"/>
              </a:spcBef>
            </a:pPr>
            <a:r>
              <a:rPr kumimoji="0" lang="en-US" altLang="zh-CN">
                <a:latin typeface="Arial Narrow" pitchFamily="34" charset="0"/>
                <a:ea typeface="宋体" charset="-122"/>
              </a:rPr>
              <a:t>CheckingOut</a:t>
            </a:r>
          </a:p>
        </p:txBody>
      </p:sp>
      <p:sp>
        <p:nvSpPr>
          <p:cNvPr id="28681" name="AutoShape 11"/>
          <p:cNvSpPr>
            <a:spLocks noChangeArrowheads="1"/>
          </p:cNvSpPr>
          <p:nvPr/>
        </p:nvSpPr>
        <p:spPr bwMode="auto">
          <a:xfrm>
            <a:off x="1492250" y="5181600"/>
            <a:ext cx="2089150" cy="604838"/>
          </a:xfrm>
          <a:prstGeom prst="roundRect">
            <a:avLst>
              <a:gd name="adj" fmla="val 16667"/>
            </a:avLst>
          </a:prstGeom>
          <a:solidFill>
            <a:schemeClr val="bg1"/>
          </a:solidFill>
          <a:ln w="38100">
            <a:solidFill>
              <a:schemeClr val="tx1"/>
            </a:solidFill>
            <a:round/>
            <a:headEnd/>
            <a:tailEnd/>
          </a:ln>
        </p:spPr>
        <p:txBody>
          <a:bodyPr wrap="none" anchor="ctr">
            <a:spAutoFit/>
          </a:bodyPr>
          <a:lstStyle/>
          <a:p>
            <a:pPr eaLnBrk="0" hangingPunct="0">
              <a:spcBef>
                <a:spcPct val="0"/>
              </a:spcBef>
            </a:pPr>
            <a:r>
              <a:rPr kumimoji="0" lang="en-US" altLang="zh-CN">
                <a:latin typeface="Arial Narrow" pitchFamily="34" charset="0"/>
                <a:ea typeface="宋体" charset="-122"/>
              </a:rPr>
              <a:t>CreditDenied</a:t>
            </a:r>
          </a:p>
        </p:txBody>
      </p:sp>
      <p:sp>
        <p:nvSpPr>
          <p:cNvPr id="28682" name="AutoShape 12"/>
          <p:cNvSpPr>
            <a:spLocks noChangeArrowheads="1"/>
          </p:cNvSpPr>
          <p:nvPr/>
        </p:nvSpPr>
        <p:spPr bwMode="auto">
          <a:xfrm>
            <a:off x="5645150" y="5181600"/>
            <a:ext cx="1597025" cy="604838"/>
          </a:xfrm>
          <a:prstGeom prst="roundRect">
            <a:avLst>
              <a:gd name="adj" fmla="val 16667"/>
            </a:avLst>
          </a:prstGeom>
          <a:solidFill>
            <a:schemeClr val="bg1"/>
          </a:solidFill>
          <a:ln w="38100">
            <a:solidFill>
              <a:schemeClr val="tx1"/>
            </a:solidFill>
            <a:round/>
            <a:headEnd/>
            <a:tailEnd/>
          </a:ln>
        </p:spPr>
        <p:txBody>
          <a:bodyPr wrap="none" anchor="ctr">
            <a:spAutoFit/>
          </a:bodyPr>
          <a:lstStyle/>
          <a:p>
            <a:pPr eaLnBrk="0" hangingPunct="0">
              <a:spcBef>
                <a:spcPct val="0"/>
              </a:spcBef>
            </a:pPr>
            <a:r>
              <a:rPr kumimoji="0" lang="en-US" altLang="zh-CN">
                <a:latin typeface="Arial Narrow" pitchFamily="34" charset="0"/>
                <a:ea typeface="宋体" charset="-122"/>
              </a:rPr>
              <a:t>Complete</a:t>
            </a:r>
          </a:p>
        </p:txBody>
      </p:sp>
      <p:sp>
        <p:nvSpPr>
          <p:cNvPr id="28683" name="AutoShape 13"/>
          <p:cNvSpPr>
            <a:spLocks noChangeArrowheads="1"/>
          </p:cNvSpPr>
          <p:nvPr/>
        </p:nvSpPr>
        <p:spPr bwMode="auto">
          <a:xfrm>
            <a:off x="5340350" y="3124200"/>
            <a:ext cx="1806575" cy="604838"/>
          </a:xfrm>
          <a:prstGeom prst="roundRect">
            <a:avLst>
              <a:gd name="adj" fmla="val 16667"/>
            </a:avLst>
          </a:prstGeom>
          <a:solidFill>
            <a:schemeClr val="bg1"/>
          </a:solidFill>
          <a:ln w="38100">
            <a:solidFill>
              <a:schemeClr val="tx1"/>
            </a:solidFill>
            <a:round/>
            <a:headEnd/>
            <a:tailEnd/>
          </a:ln>
        </p:spPr>
        <p:txBody>
          <a:bodyPr wrap="none" anchor="ctr">
            <a:spAutoFit/>
          </a:bodyPr>
          <a:lstStyle/>
          <a:p>
            <a:pPr algn="l" eaLnBrk="0" hangingPunct="0">
              <a:spcBef>
                <a:spcPct val="0"/>
              </a:spcBef>
            </a:pPr>
            <a:r>
              <a:rPr kumimoji="0" lang="en-US" altLang="zh-CN">
                <a:latin typeface="Arial Narrow" pitchFamily="34" charset="0"/>
                <a:ea typeface="宋体" charset="-122"/>
              </a:rPr>
              <a:t>Incomplete</a:t>
            </a:r>
          </a:p>
        </p:txBody>
      </p:sp>
      <p:sp>
        <p:nvSpPr>
          <p:cNvPr id="63502" name="AutoShape 14"/>
          <p:cNvSpPr>
            <a:spLocks noChangeArrowheads="1"/>
          </p:cNvSpPr>
          <p:nvPr/>
        </p:nvSpPr>
        <p:spPr bwMode="auto">
          <a:xfrm>
            <a:off x="2209800" y="1219200"/>
            <a:ext cx="2438400" cy="1143000"/>
          </a:xfrm>
          <a:prstGeom prst="wedgeEllipseCallout">
            <a:avLst>
              <a:gd name="adj1" fmla="val -106574"/>
              <a:gd name="adj2" fmla="val -50000"/>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18000" rIns="18000"/>
          <a:lstStyle/>
          <a:p>
            <a:pPr>
              <a:spcBef>
                <a:spcPct val="0"/>
              </a:spcBef>
            </a:pPr>
            <a:r>
              <a:rPr kumimoji="0" lang="zh-CN" altLang="en-US" sz="1800"/>
              <a:t>表示对象最初在</a:t>
            </a:r>
            <a:r>
              <a:rPr kumimoji="0" lang="en-US" altLang="zh-CN" sz="1800"/>
              <a:t>Browsing</a:t>
            </a:r>
            <a:r>
              <a:rPr kumimoji="0" lang="zh-CN" altLang="en-US" sz="1800"/>
              <a:t>状态</a:t>
            </a:r>
          </a:p>
        </p:txBody>
      </p:sp>
      <p:sp>
        <p:nvSpPr>
          <p:cNvPr id="63503" name="AutoShape 15"/>
          <p:cNvSpPr>
            <a:spLocks noChangeArrowheads="1"/>
          </p:cNvSpPr>
          <p:nvPr/>
        </p:nvSpPr>
        <p:spPr bwMode="auto">
          <a:xfrm>
            <a:off x="6400800" y="1600200"/>
            <a:ext cx="2743200" cy="1143000"/>
          </a:xfrm>
          <a:prstGeom prst="wedgeEllipseCallout">
            <a:avLst>
              <a:gd name="adj1" fmla="val -54398"/>
              <a:gd name="adj2" fmla="val 83750"/>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18000" rIns="18000"/>
          <a:lstStyle/>
          <a:p>
            <a:pPr>
              <a:spcBef>
                <a:spcPct val="0"/>
              </a:spcBef>
            </a:pPr>
            <a:r>
              <a:rPr kumimoji="0" lang="zh-CN" altLang="en-US" sz="1800"/>
              <a:t>表明购物者正准备付账，但还没有提交信用卡信息</a:t>
            </a:r>
          </a:p>
        </p:txBody>
      </p:sp>
    </p:spTree>
    <p:extLst>
      <p:ext uri="{BB962C8B-B14F-4D97-AF65-F5344CB8AC3E}">
        <p14:creationId xmlns:p14="http://schemas.microsoft.com/office/powerpoint/2010/main" val="35287354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3502"/>
                                        </p:tgtEl>
                                        <p:attrNameLst>
                                          <p:attrName>style.visibility</p:attrName>
                                        </p:attrNameLst>
                                      </p:cBhvr>
                                      <p:to>
                                        <p:strVal val="visible"/>
                                      </p:to>
                                    </p:set>
                                    <p:animEffect transition="in" filter="dissolve">
                                      <p:cBhvr>
                                        <p:cTn id="7" dur="500"/>
                                        <p:tgtEl>
                                          <p:spTgt spid="635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xit" presetSubtype="10" fill="hold" grpId="1" nodeType="clickEffect">
                                  <p:stCondLst>
                                    <p:cond delay="0"/>
                                  </p:stCondLst>
                                  <p:childTnLst>
                                    <p:animEffect transition="out" filter="checkerboard(across)">
                                      <p:cBhvr>
                                        <p:cTn id="11" dur="500"/>
                                        <p:tgtEl>
                                          <p:spTgt spid="63502"/>
                                        </p:tgtEl>
                                      </p:cBhvr>
                                    </p:animEffect>
                                    <p:set>
                                      <p:cBhvr>
                                        <p:cTn id="12" dur="1" fill="hold">
                                          <p:stCondLst>
                                            <p:cond delay="499"/>
                                          </p:stCondLst>
                                        </p:cTn>
                                        <p:tgtEl>
                                          <p:spTgt spid="63502"/>
                                        </p:tgtEl>
                                        <p:attrNameLst>
                                          <p:attrName>style.visibility</p:attrName>
                                        </p:attrNameLst>
                                      </p:cBhvr>
                                      <p:to>
                                        <p:strVal val="hidden"/>
                                      </p:to>
                                    </p:set>
                                  </p:childTnLst>
                                </p:cTn>
                              </p:par>
                            </p:childTnLst>
                          </p:cTn>
                        </p:par>
                        <p:par>
                          <p:cTn id="13" fill="hold" nodeType="afterGroup">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63503"/>
                                        </p:tgtEl>
                                        <p:attrNameLst>
                                          <p:attrName>style.visibility</p:attrName>
                                        </p:attrNameLst>
                                      </p:cBhvr>
                                      <p:to>
                                        <p:strVal val="visible"/>
                                      </p:to>
                                    </p:set>
                                    <p:animEffect transition="in" filter="dissolve">
                                      <p:cBhvr>
                                        <p:cTn id="16" dur="500"/>
                                        <p:tgtEl>
                                          <p:spTgt spid="6350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xit" presetSubtype="10" fill="hold" grpId="1" nodeType="clickEffect">
                                  <p:stCondLst>
                                    <p:cond delay="0"/>
                                  </p:stCondLst>
                                  <p:childTnLst>
                                    <p:animEffect transition="out" filter="checkerboard(across)">
                                      <p:cBhvr>
                                        <p:cTn id="20" dur="500"/>
                                        <p:tgtEl>
                                          <p:spTgt spid="63503"/>
                                        </p:tgtEl>
                                      </p:cBhvr>
                                    </p:animEffect>
                                    <p:set>
                                      <p:cBhvr>
                                        <p:cTn id="21" dur="1" fill="hold">
                                          <p:stCondLst>
                                            <p:cond delay="499"/>
                                          </p:stCondLst>
                                        </p:cTn>
                                        <p:tgtEl>
                                          <p:spTgt spid="6350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02" grpId="0" animBg="1"/>
      <p:bldP spid="63502" grpId="1" animBg="1"/>
      <p:bldP spid="63503" grpId="0" animBg="1"/>
      <p:bldP spid="63503"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事件</a:t>
            </a:r>
          </a:p>
        </p:txBody>
      </p:sp>
      <p:sp>
        <p:nvSpPr>
          <p:cNvPr id="29699" name="Rectangle 3"/>
          <p:cNvSpPr>
            <a:spLocks noGrp="1" noChangeArrowheads="1"/>
          </p:cNvSpPr>
          <p:nvPr>
            <p:ph type="body" idx="1"/>
          </p:nvPr>
        </p:nvSpPr>
        <p:spPr>
          <a:xfrm>
            <a:off x="685800" y="1676400"/>
            <a:ext cx="7772400" cy="3276600"/>
          </a:xfrm>
        </p:spPr>
        <p:txBody>
          <a:bodyPr/>
          <a:lstStyle/>
          <a:p>
            <a:pPr eaLnBrk="1" hangingPunct="1"/>
            <a:r>
              <a:rPr lang="zh-CN" altLang="en-US" b="1" smtClean="0">
                <a:ea typeface="楷体_GB2312" pitchFamily="49" charset="-122"/>
              </a:rPr>
              <a:t>指在出现时能直接被类的对象所感知的事物。</a:t>
            </a:r>
          </a:p>
          <a:p>
            <a:pPr eaLnBrk="1" hangingPunct="1"/>
            <a:endParaRPr lang="zh-CN" altLang="en-US" b="1" smtClean="0">
              <a:ea typeface="楷体_GB2312" pitchFamily="49" charset="-122"/>
            </a:endParaRPr>
          </a:p>
          <a:p>
            <a:pPr eaLnBrk="1" hangingPunct="1"/>
            <a:r>
              <a:rPr lang="zh-CN" altLang="en-US" b="1" smtClean="0">
                <a:ea typeface="楷体_GB2312" pitchFamily="49" charset="-122"/>
              </a:rPr>
              <a:t>事件的例子可以是</a:t>
            </a:r>
            <a:r>
              <a:rPr lang="en-US" altLang="zh-CN" b="1" smtClean="0">
                <a:ea typeface="楷体_GB2312" pitchFamily="49" charset="-122"/>
              </a:rPr>
              <a:t>Button</a:t>
            </a:r>
            <a:r>
              <a:rPr lang="zh-CN" altLang="en-US" b="1" smtClean="0">
                <a:ea typeface="楷体_GB2312" pitchFamily="49" charset="-122"/>
              </a:rPr>
              <a:t>对象的点击事件或对象变量值的改变事件</a:t>
            </a:r>
          </a:p>
        </p:txBody>
      </p:sp>
    </p:spTree>
    <p:extLst>
      <p:ext uri="{BB962C8B-B14F-4D97-AF65-F5344CB8AC3E}">
        <p14:creationId xmlns:p14="http://schemas.microsoft.com/office/powerpoint/2010/main" val="263869856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转移</a:t>
            </a:r>
          </a:p>
        </p:txBody>
      </p:sp>
      <p:sp>
        <p:nvSpPr>
          <p:cNvPr id="30723" name="Rectangle 3"/>
          <p:cNvSpPr>
            <a:spLocks noGrp="1" noChangeArrowheads="1"/>
          </p:cNvSpPr>
          <p:nvPr>
            <p:ph type="body" idx="1"/>
          </p:nvPr>
        </p:nvSpPr>
        <p:spPr>
          <a:xfrm>
            <a:off x="685800" y="1676400"/>
            <a:ext cx="7772400" cy="4267200"/>
          </a:xfrm>
        </p:spPr>
        <p:txBody>
          <a:bodyPr/>
          <a:lstStyle/>
          <a:p>
            <a:pPr eaLnBrk="1" hangingPunct="1">
              <a:lnSpc>
                <a:spcPct val="90000"/>
              </a:lnSpc>
            </a:pPr>
            <a:r>
              <a:rPr lang="zh-CN" altLang="en-US" sz="2800" b="1" smtClean="0">
                <a:ea typeface="楷体_GB2312" pitchFamily="49" charset="-122"/>
              </a:rPr>
              <a:t>一个事件可能导致对象从目前的状态转移到另一个状态。</a:t>
            </a:r>
          </a:p>
          <a:p>
            <a:pPr eaLnBrk="1" hangingPunct="1">
              <a:lnSpc>
                <a:spcPct val="90000"/>
              </a:lnSpc>
            </a:pPr>
            <a:endParaRPr lang="zh-CN" altLang="en-US" sz="2800" b="1" smtClean="0">
              <a:ea typeface="楷体_GB2312" pitchFamily="49" charset="-122"/>
            </a:endParaRPr>
          </a:p>
          <a:p>
            <a:pPr eaLnBrk="1" hangingPunct="1">
              <a:lnSpc>
                <a:spcPct val="90000"/>
              </a:lnSpc>
            </a:pPr>
            <a:r>
              <a:rPr lang="zh-CN" altLang="en-US" sz="2800" b="1" smtClean="0">
                <a:ea typeface="楷体_GB2312" pitchFamily="49" charset="-122"/>
              </a:rPr>
              <a:t>用箭头表示转移，用导致转移的事件名作为标记。</a:t>
            </a:r>
          </a:p>
          <a:p>
            <a:pPr eaLnBrk="1" hangingPunct="1">
              <a:lnSpc>
                <a:spcPct val="90000"/>
              </a:lnSpc>
            </a:pPr>
            <a:endParaRPr lang="zh-CN" altLang="en-US" sz="2800" b="1" smtClean="0">
              <a:ea typeface="楷体_GB2312" pitchFamily="49" charset="-122"/>
            </a:endParaRPr>
          </a:p>
          <a:p>
            <a:pPr eaLnBrk="1" hangingPunct="1">
              <a:lnSpc>
                <a:spcPct val="90000"/>
              </a:lnSpc>
            </a:pPr>
            <a:r>
              <a:rPr lang="zh-CN" altLang="en-US" sz="2800" b="1" smtClean="0">
                <a:ea typeface="楷体_GB2312" pitchFamily="49" charset="-122"/>
              </a:rPr>
              <a:t>当对象处于给定的状态时，某个事件发生，根据条件（</a:t>
            </a:r>
            <a:r>
              <a:rPr lang="en-US" altLang="zh-CN" sz="2800" b="1" smtClean="0">
                <a:ea typeface="楷体_GB2312" pitchFamily="49" charset="-122"/>
              </a:rPr>
              <a:t>condition</a:t>
            </a:r>
            <a:r>
              <a:rPr lang="zh-CN" altLang="en-US" sz="2800" b="1" smtClean="0">
                <a:ea typeface="楷体_GB2312" pitchFamily="49" charset="-122"/>
              </a:rPr>
              <a:t>）对象可能向几个状态转移。</a:t>
            </a:r>
          </a:p>
        </p:txBody>
      </p:sp>
    </p:spTree>
    <p:extLst>
      <p:ext uri="{BB962C8B-B14F-4D97-AF65-F5344CB8AC3E}">
        <p14:creationId xmlns:p14="http://schemas.microsoft.com/office/powerpoint/2010/main" val="295545622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事件发生的条件</a:t>
            </a:r>
          </a:p>
        </p:txBody>
      </p:sp>
      <p:sp>
        <p:nvSpPr>
          <p:cNvPr id="31747" name="AutoShape 6"/>
          <p:cNvSpPr>
            <a:spLocks noChangeArrowheads="1"/>
          </p:cNvSpPr>
          <p:nvPr/>
        </p:nvSpPr>
        <p:spPr bwMode="auto">
          <a:xfrm>
            <a:off x="6391275" y="3881438"/>
            <a:ext cx="2433638" cy="449262"/>
          </a:xfrm>
          <a:prstGeom prst="roundRect">
            <a:avLst>
              <a:gd name="adj" fmla="val 16667"/>
            </a:avLst>
          </a:prstGeom>
          <a:solidFill>
            <a:schemeClr val="bg1"/>
          </a:solidFill>
          <a:ln w="19050">
            <a:solidFill>
              <a:schemeClr val="tx1"/>
            </a:solidFill>
            <a:round/>
            <a:headEnd/>
            <a:tailEnd/>
          </a:ln>
        </p:spPr>
        <p:txBody>
          <a:bodyPr wrap="none" anchor="ctr">
            <a:spAutoFit/>
          </a:bodyPr>
          <a:lstStyle/>
          <a:p>
            <a:pPr eaLnBrk="0" hangingPunct="0">
              <a:spcBef>
                <a:spcPct val="0"/>
              </a:spcBef>
            </a:pPr>
            <a:r>
              <a:rPr kumimoji="0" lang="en-US" altLang="zh-CN" sz="2000">
                <a:latin typeface="Arial Narrow" pitchFamily="34" charset="0"/>
                <a:ea typeface="宋体" charset="-122"/>
              </a:rPr>
              <a:t>CreditUnderValidation</a:t>
            </a:r>
          </a:p>
        </p:txBody>
      </p:sp>
      <p:sp>
        <p:nvSpPr>
          <p:cNvPr id="31748" name="AutoShape 7"/>
          <p:cNvSpPr>
            <a:spLocks noChangeArrowheads="1"/>
          </p:cNvSpPr>
          <p:nvPr/>
        </p:nvSpPr>
        <p:spPr bwMode="auto">
          <a:xfrm>
            <a:off x="533400" y="3879850"/>
            <a:ext cx="1335088" cy="449263"/>
          </a:xfrm>
          <a:prstGeom prst="roundRect">
            <a:avLst>
              <a:gd name="adj" fmla="val 16667"/>
            </a:avLst>
          </a:prstGeom>
          <a:solidFill>
            <a:schemeClr val="bg1"/>
          </a:solidFill>
          <a:ln w="19050">
            <a:solidFill>
              <a:schemeClr val="tx1"/>
            </a:solidFill>
            <a:round/>
            <a:headEnd/>
            <a:tailEnd/>
          </a:ln>
        </p:spPr>
        <p:txBody>
          <a:bodyPr wrap="none" anchor="ctr">
            <a:spAutoFit/>
          </a:bodyPr>
          <a:lstStyle/>
          <a:p>
            <a:pPr algn="l" eaLnBrk="0" hangingPunct="0">
              <a:spcBef>
                <a:spcPct val="0"/>
              </a:spcBef>
            </a:pPr>
            <a:r>
              <a:rPr kumimoji="0" lang="en-US" altLang="zh-CN" sz="2000">
                <a:latin typeface="Arial Narrow" pitchFamily="34" charset="0"/>
                <a:ea typeface="宋体" charset="-122"/>
              </a:rPr>
              <a:t>Incomplete</a:t>
            </a:r>
          </a:p>
        </p:txBody>
      </p:sp>
      <p:cxnSp>
        <p:nvCxnSpPr>
          <p:cNvPr id="31749" name="AutoShape 8"/>
          <p:cNvCxnSpPr>
            <a:cxnSpLocks noChangeShapeType="1"/>
            <a:stCxn id="31748" idx="3"/>
            <a:endCxn id="31747" idx="1"/>
          </p:cNvCxnSpPr>
          <p:nvPr/>
        </p:nvCxnSpPr>
        <p:spPr bwMode="auto">
          <a:xfrm>
            <a:off x="1878013" y="4105275"/>
            <a:ext cx="4503737" cy="1588"/>
          </a:xfrm>
          <a:prstGeom prst="curvedConnector3">
            <a:avLst>
              <a:gd name="adj1" fmla="val 4998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50" name="Text Box 12"/>
          <p:cNvSpPr txBox="1">
            <a:spLocks noChangeArrowheads="1"/>
          </p:cNvSpPr>
          <p:nvPr/>
        </p:nvSpPr>
        <p:spPr bwMode="auto">
          <a:xfrm>
            <a:off x="4114800" y="3656013"/>
            <a:ext cx="1524000" cy="9159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90000"/>
              </a:lnSpc>
            </a:pPr>
            <a:r>
              <a:rPr kumimoji="0" lang="en-US" altLang="zh-CN" sz="2000" i="1">
                <a:latin typeface="Arial Narrow" pitchFamily="34" charset="0"/>
                <a:ea typeface="宋体" charset="-122"/>
              </a:rPr>
              <a:t>[credit card data complete]</a:t>
            </a:r>
          </a:p>
        </p:txBody>
      </p:sp>
      <p:cxnSp>
        <p:nvCxnSpPr>
          <p:cNvPr id="31751" name="AutoShape 13"/>
          <p:cNvCxnSpPr>
            <a:cxnSpLocks noChangeShapeType="1"/>
          </p:cNvCxnSpPr>
          <p:nvPr/>
        </p:nvCxnSpPr>
        <p:spPr bwMode="auto">
          <a:xfrm flipH="1" flipV="1">
            <a:off x="1177925" y="3867150"/>
            <a:ext cx="679450" cy="234950"/>
          </a:xfrm>
          <a:prstGeom prst="curvedConnector4">
            <a:avLst>
              <a:gd name="adj1" fmla="val -253972"/>
              <a:gd name="adj2" fmla="val 786486"/>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52" name="Text Box 11"/>
          <p:cNvSpPr txBox="1">
            <a:spLocks noChangeArrowheads="1"/>
          </p:cNvSpPr>
          <p:nvPr/>
        </p:nvSpPr>
        <p:spPr bwMode="auto">
          <a:xfrm>
            <a:off x="2971800" y="2043113"/>
            <a:ext cx="1676400" cy="9159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90000"/>
              </a:lnSpc>
            </a:pPr>
            <a:r>
              <a:rPr kumimoji="0" lang="en-US" altLang="zh-CN" sz="2000" i="1">
                <a:latin typeface="Arial Narrow" pitchFamily="34" charset="0"/>
                <a:ea typeface="宋体" charset="-122"/>
              </a:rPr>
              <a:t>[credit card data incomplete]</a:t>
            </a:r>
          </a:p>
        </p:txBody>
      </p:sp>
      <p:sp>
        <p:nvSpPr>
          <p:cNvPr id="31753" name="Text Box 10"/>
          <p:cNvSpPr txBox="1">
            <a:spLocks noChangeArrowheads="1"/>
          </p:cNvSpPr>
          <p:nvPr/>
        </p:nvSpPr>
        <p:spPr bwMode="auto">
          <a:xfrm>
            <a:off x="2133600" y="3865563"/>
            <a:ext cx="1219200" cy="539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40000"/>
              </a:lnSpc>
            </a:pPr>
            <a:r>
              <a:rPr kumimoji="0" lang="en-US" altLang="zh-CN" sz="1800">
                <a:latin typeface="Arial Narrow" pitchFamily="34" charset="0"/>
                <a:ea typeface="宋体" charset="-122"/>
              </a:rPr>
              <a:t>Hit </a:t>
            </a:r>
            <a:r>
              <a:rPr kumimoji="0" lang="en-US" altLang="zh-CN" sz="1800" i="1">
                <a:latin typeface="Arial Narrow" pitchFamily="34" charset="0"/>
                <a:ea typeface="宋体" charset="-122"/>
              </a:rPr>
              <a:t>Submit</a:t>
            </a:r>
          </a:p>
          <a:p>
            <a:pPr algn="l">
              <a:lnSpc>
                <a:spcPct val="40000"/>
              </a:lnSpc>
            </a:pPr>
            <a:r>
              <a:rPr kumimoji="0" lang="en-US" altLang="zh-CN" sz="1800">
                <a:latin typeface="Arial Narrow" pitchFamily="34" charset="0"/>
                <a:ea typeface="宋体" charset="-122"/>
              </a:rPr>
              <a:t>button</a:t>
            </a:r>
          </a:p>
        </p:txBody>
      </p:sp>
      <p:sp>
        <p:nvSpPr>
          <p:cNvPr id="31754" name="AutoShape 14"/>
          <p:cNvSpPr>
            <a:spLocks noChangeArrowheads="1"/>
          </p:cNvSpPr>
          <p:nvPr/>
        </p:nvSpPr>
        <p:spPr bwMode="auto">
          <a:xfrm>
            <a:off x="5257800" y="4572000"/>
            <a:ext cx="2590800" cy="1219200"/>
          </a:xfrm>
          <a:prstGeom prst="wedgeEllipseCallout">
            <a:avLst>
              <a:gd name="adj1" fmla="val -52144"/>
              <a:gd name="adj2" fmla="val -63671"/>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spcBef>
                <a:spcPct val="0"/>
              </a:spcBef>
            </a:pPr>
            <a:r>
              <a:rPr kumimoji="0" lang="zh-CN" altLang="en-US" sz="2400">
                <a:latin typeface="Arial" charset="0"/>
              </a:rPr>
              <a:t>条件用方括号表示</a:t>
            </a:r>
          </a:p>
        </p:txBody>
      </p:sp>
    </p:spTree>
    <p:extLst>
      <p:ext uri="{BB962C8B-B14F-4D97-AF65-F5344CB8AC3E}">
        <p14:creationId xmlns:p14="http://schemas.microsoft.com/office/powerpoint/2010/main" val="111959048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状态转移图</a:t>
            </a:r>
          </a:p>
        </p:txBody>
      </p:sp>
      <p:sp>
        <p:nvSpPr>
          <p:cNvPr id="32771" name="Rectangle 3"/>
          <p:cNvSpPr>
            <a:spLocks noGrp="1" noChangeArrowheads="1"/>
          </p:cNvSpPr>
          <p:nvPr>
            <p:ph type="body" idx="1"/>
          </p:nvPr>
        </p:nvSpPr>
        <p:spPr>
          <a:xfrm>
            <a:off x="685800" y="1676400"/>
            <a:ext cx="7772400" cy="4267200"/>
          </a:xfrm>
        </p:spPr>
        <p:txBody>
          <a:bodyPr/>
          <a:lstStyle/>
          <a:p>
            <a:pPr eaLnBrk="1" hangingPunct="1">
              <a:lnSpc>
                <a:spcPct val="90000"/>
              </a:lnSpc>
            </a:pPr>
            <a:r>
              <a:rPr lang="zh-CN" altLang="en-US" b="1" smtClean="0">
                <a:ea typeface="楷体_GB2312" pitchFamily="49" charset="-122"/>
              </a:rPr>
              <a:t>状态转移图表明了类的对象的状态、对象敏感的事件和它们之间的转移结果。</a:t>
            </a:r>
          </a:p>
          <a:p>
            <a:pPr eaLnBrk="1" hangingPunct="1">
              <a:lnSpc>
                <a:spcPct val="90000"/>
              </a:lnSpc>
            </a:pPr>
            <a:endParaRPr lang="zh-CN" altLang="en-US" b="1" smtClean="0">
              <a:ea typeface="楷体_GB2312" pitchFamily="49" charset="-122"/>
            </a:endParaRPr>
          </a:p>
          <a:p>
            <a:pPr eaLnBrk="1" hangingPunct="1">
              <a:lnSpc>
                <a:spcPct val="90000"/>
              </a:lnSpc>
            </a:pPr>
            <a:r>
              <a:rPr lang="zh-CN" altLang="en-US" b="1" smtClean="0">
                <a:ea typeface="楷体_GB2312" pitchFamily="49" charset="-122"/>
              </a:rPr>
              <a:t>状态转移图（也称为状态表）是</a:t>
            </a:r>
            <a:r>
              <a:rPr lang="zh-CN" altLang="en-US" b="1" smtClean="0">
                <a:solidFill>
                  <a:srgbClr val="0000CC"/>
                </a:solidFill>
                <a:ea typeface="楷体_GB2312" pitchFamily="49" charset="-122"/>
              </a:rPr>
              <a:t>有限状态机</a:t>
            </a:r>
            <a:r>
              <a:rPr lang="zh-CN" altLang="en-US" b="1" smtClean="0">
                <a:ea typeface="楷体_GB2312" pitchFamily="49" charset="-122"/>
              </a:rPr>
              <a:t>。</a:t>
            </a:r>
          </a:p>
          <a:p>
            <a:pPr eaLnBrk="1" hangingPunct="1">
              <a:lnSpc>
                <a:spcPct val="90000"/>
              </a:lnSpc>
            </a:pPr>
            <a:endParaRPr lang="zh-CN" altLang="en-US" b="1" smtClean="0">
              <a:ea typeface="楷体_GB2312" pitchFamily="49" charset="-122"/>
            </a:endParaRPr>
          </a:p>
          <a:p>
            <a:pPr eaLnBrk="1" hangingPunct="1">
              <a:lnSpc>
                <a:spcPct val="90000"/>
              </a:lnSpc>
            </a:pPr>
            <a:r>
              <a:rPr lang="en-US" altLang="zh-CN" b="1" smtClean="0">
                <a:ea typeface="楷体_GB2312" pitchFamily="49" charset="-122"/>
              </a:rPr>
              <a:t>UML</a:t>
            </a:r>
            <a:r>
              <a:rPr lang="zh-CN" altLang="en-US" b="1" smtClean="0">
                <a:ea typeface="楷体_GB2312" pitchFamily="49" charset="-122"/>
              </a:rPr>
              <a:t>状态图有助于可视化状态和可视化引起它们之间互相转移的事件。</a:t>
            </a:r>
          </a:p>
        </p:txBody>
      </p:sp>
    </p:spTree>
    <p:extLst>
      <p:ext uri="{BB962C8B-B14F-4D97-AF65-F5344CB8AC3E}">
        <p14:creationId xmlns:p14="http://schemas.microsoft.com/office/powerpoint/2010/main" val="27153432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zh-CN" b="1" smtClean="0">
                <a:solidFill>
                  <a:schemeClr val="accent2"/>
                </a:solidFill>
                <a:ea typeface="楷体_GB2312" pitchFamily="49" charset="-122"/>
              </a:rPr>
              <a:t>OnlineShopper</a:t>
            </a:r>
            <a:r>
              <a:rPr lang="zh-CN" altLang="en-US" b="1" smtClean="0">
                <a:solidFill>
                  <a:schemeClr val="accent2"/>
                </a:solidFill>
                <a:ea typeface="楷体_GB2312" pitchFamily="49" charset="-122"/>
              </a:rPr>
              <a:t>类的状态转移图</a:t>
            </a:r>
          </a:p>
        </p:txBody>
      </p:sp>
      <p:sp>
        <p:nvSpPr>
          <p:cNvPr id="33795" name="Text Box 11"/>
          <p:cNvSpPr txBox="1">
            <a:spLocks noChangeArrowheads="1"/>
          </p:cNvSpPr>
          <p:nvPr/>
        </p:nvSpPr>
        <p:spPr bwMode="auto">
          <a:xfrm>
            <a:off x="2438400" y="2403475"/>
            <a:ext cx="2667000" cy="339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r">
              <a:lnSpc>
                <a:spcPct val="90000"/>
              </a:lnSpc>
            </a:pPr>
            <a:r>
              <a:rPr kumimoji="0" lang="en-US" altLang="zh-CN" sz="1800" i="1">
                <a:latin typeface="Arial Narrow" pitchFamily="34" charset="0"/>
                <a:ea typeface="宋体" charset="-122"/>
              </a:rPr>
              <a:t>Hit </a:t>
            </a:r>
            <a:r>
              <a:rPr kumimoji="0" lang="en-US" altLang="zh-CN" sz="1800">
                <a:latin typeface="Arial Narrow" pitchFamily="34" charset="0"/>
                <a:ea typeface="宋体" charset="-122"/>
              </a:rPr>
              <a:t>checkout</a:t>
            </a:r>
            <a:r>
              <a:rPr kumimoji="0" lang="en-US" altLang="zh-CN" sz="1800" i="1">
                <a:latin typeface="Arial Narrow" pitchFamily="34" charset="0"/>
                <a:ea typeface="宋体" charset="-122"/>
              </a:rPr>
              <a:t> button</a:t>
            </a:r>
          </a:p>
        </p:txBody>
      </p:sp>
      <p:sp>
        <p:nvSpPr>
          <p:cNvPr id="33796" name="Oval 12"/>
          <p:cNvSpPr>
            <a:spLocks noChangeArrowheads="1"/>
          </p:cNvSpPr>
          <p:nvPr/>
        </p:nvSpPr>
        <p:spPr bwMode="auto">
          <a:xfrm>
            <a:off x="457200" y="5029200"/>
            <a:ext cx="381000" cy="381000"/>
          </a:xfrm>
          <a:prstGeom prst="ellipse">
            <a:avLst/>
          </a:prstGeom>
          <a:solidFill>
            <a:schemeClr val="bg1"/>
          </a:solidFill>
          <a:ln w="38100">
            <a:solidFill>
              <a:schemeClr val="tx1"/>
            </a:solidFill>
            <a:round/>
            <a:headEnd/>
            <a:tailEnd/>
          </a:ln>
        </p:spPr>
        <p:txBody>
          <a:bodyPr wrap="none" anchor="ctr"/>
          <a:lstStyle/>
          <a:p>
            <a:endParaRPr lang="zh-CN" altLang="en-US"/>
          </a:p>
        </p:txBody>
      </p:sp>
      <p:sp>
        <p:nvSpPr>
          <p:cNvPr id="33797" name="AutoShape 13"/>
          <p:cNvSpPr>
            <a:spLocks noChangeArrowheads="1"/>
          </p:cNvSpPr>
          <p:nvPr/>
        </p:nvSpPr>
        <p:spPr bwMode="auto">
          <a:xfrm>
            <a:off x="1752600" y="2895600"/>
            <a:ext cx="6248400" cy="3810000"/>
          </a:xfrm>
          <a:prstGeom prst="roundRect">
            <a:avLst>
              <a:gd name="adj" fmla="val 16667"/>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bIns="0"/>
          <a:lstStyle/>
          <a:p>
            <a:pPr algn="l" eaLnBrk="0" hangingPunct="0">
              <a:spcBef>
                <a:spcPct val="0"/>
              </a:spcBef>
            </a:pPr>
            <a:r>
              <a:rPr kumimoji="0" lang="en-US" altLang="zh-CN" sz="2000">
                <a:latin typeface="Arial Narrow" pitchFamily="34" charset="0"/>
                <a:ea typeface="宋体" charset="-122"/>
              </a:rPr>
              <a:t>CheckingOut</a:t>
            </a:r>
          </a:p>
        </p:txBody>
      </p:sp>
      <p:sp>
        <p:nvSpPr>
          <p:cNvPr id="33798" name="AutoShape 14"/>
          <p:cNvSpPr>
            <a:spLocks noChangeArrowheads="1"/>
          </p:cNvSpPr>
          <p:nvPr/>
        </p:nvSpPr>
        <p:spPr bwMode="auto">
          <a:xfrm>
            <a:off x="931863" y="1905000"/>
            <a:ext cx="1189037" cy="450850"/>
          </a:xfrm>
          <a:prstGeom prst="roundRect">
            <a:avLst>
              <a:gd name="adj" fmla="val 16667"/>
            </a:avLst>
          </a:prstGeom>
          <a:solidFill>
            <a:schemeClr val="bg1"/>
          </a:solidFill>
          <a:ln w="22225">
            <a:solidFill>
              <a:schemeClr val="tx1"/>
            </a:solidFill>
            <a:round/>
            <a:headEnd/>
            <a:tailEnd/>
          </a:ln>
        </p:spPr>
        <p:txBody>
          <a:bodyPr wrap="none" anchor="ctr">
            <a:spAutoFit/>
          </a:bodyPr>
          <a:lstStyle/>
          <a:p>
            <a:pPr eaLnBrk="0" hangingPunct="0">
              <a:spcBef>
                <a:spcPct val="0"/>
              </a:spcBef>
            </a:pPr>
            <a:r>
              <a:rPr kumimoji="0" lang="en-US" altLang="zh-CN" sz="2000">
                <a:latin typeface="Arial Narrow" pitchFamily="34" charset="0"/>
                <a:ea typeface="宋体" charset="-122"/>
              </a:rPr>
              <a:t>Browsing</a:t>
            </a:r>
          </a:p>
        </p:txBody>
      </p:sp>
      <p:sp>
        <p:nvSpPr>
          <p:cNvPr id="33799" name="Oval 15"/>
          <p:cNvSpPr>
            <a:spLocks noChangeArrowheads="1"/>
          </p:cNvSpPr>
          <p:nvPr/>
        </p:nvSpPr>
        <p:spPr bwMode="auto">
          <a:xfrm>
            <a:off x="381000" y="1219200"/>
            <a:ext cx="228600" cy="228600"/>
          </a:xfrm>
          <a:prstGeom prst="ellipse">
            <a:avLst/>
          </a:prstGeom>
          <a:solidFill>
            <a:schemeClr val="tx1"/>
          </a:solidFill>
          <a:ln w="19050">
            <a:solidFill>
              <a:schemeClr val="tx1"/>
            </a:solidFill>
            <a:round/>
            <a:headEnd/>
            <a:tailEnd/>
          </a:ln>
        </p:spPr>
        <p:txBody>
          <a:bodyPr wrap="none" anchor="ctr"/>
          <a:lstStyle/>
          <a:p>
            <a:endParaRPr lang="zh-CN" altLang="en-US"/>
          </a:p>
        </p:txBody>
      </p:sp>
      <p:sp>
        <p:nvSpPr>
          <p:cNvPr id="33800" name="AutoShape 16"/>
          <p:cNvSpPr>
            <a:spLocks noChangeArrowheads="1"/>
          </p:cNvSpPr>
          <p:nvPr/>
        </p:nvSpPr>
        <p:spPr bwMode="auto">
          <a:xfrm>
            <a:off x="4964113" y="1849438"/>
            <a:ext cx="1557337" cy="461962"/>
          </a:xfrm>
          <a:prstGeom prst="roundRect">
            <a:avLst>
              <a:gd name="adj" fmla="val 21282"/>
            </a:avLst>
          </a:prstGeom>
          <a:solidFill>
            <a:schemeClr val="bg1"/>
          </a:solidFill>
          <a:ln w="22225">
            <a:solidFill>
              <a:schemeClr val="tx1"/>
            </a:solidFill>
            <a:round/>
            <a:headEnd/>
            <a:tailEnd/>
          </a:ln>
        </p:spPr>
        <p:txBody>
          <a:bodyPr wrap="none" anchor="ctr">
            <a:spAutoFit/>
          </a:bodyPr>
          <a:lstStyle/>
          <a:p>
            <a:pPr eaLnBrk="0" hangingPunct="0">
              <a:spcBef>
                <a:spcPct val="0"/>
              </a:spcBef>
            </a:pPr>
            <a:r>
              <a:rPr kumimoji="0" lang="en-US" altLang="zh-CN" sz="2000">
                <a:latin typeface="Arial Narrow" pitchFamily="34" charset="0"/>
                <a:ea typeface="宋体" charset="-122"/>
              </a:rPr>
              <a:t>ItemsChosen</a:t>
            </a:r>
          </a:p>
        </p:txBody>
      </p:sp>
      <p:sp>
        <p:nvSpPr>
          <p:cNvPr id="33801" name="AutoShape 17"/>
          <p:cNvSpPr>
            <a:spLocks noChangeArrowheads="1"/>
          </p:cNvSpPr>
          <p:nvPr/>
        </p:nvSpPr>
        <p:spPr bwMode="auto">
          <a:xfrm>
            <a:off x="2601913" y="4352925"/>
            <a:ext cx="2436812" cy="452438"/>
          </a:xfrm>
          <a:prstGeom prst="roundRect">
            <a:avLst>
              <a:gd name="adj" fmla="val 16667"/>
            </a:avLst>
          </a:prstGeom>
          <a:solidFill>
            <a:schemeClr val="bg1"/>
          </a:solidFill>
          <a:ln w="22225">
            <a:solidFill>
              <a:schemeClr val="tx1"/>
            </a:solidFill>
            <a:round/>
            <a:headEnd/>
            <a:tailEnd/>
          </a:ln>
        </p:spPr>
        <p:txBody>
          <a:bodyPr wrap="none" anchor="ctr">
            <a:spAutoFit/>
          </a:bodyPr>
          <a:lstStyle/>
          <a:p>
            <a:pPr eaLnBrk="0" hangingPunct="0">
              <a:spcBef>
                <a:spcPct val="0"/>
              </a:spcBef>
            </a:pPr>
            <a:r>
              <a:rPr kumimoji="0" lang="en-US" altLang="zh-CN" sz="2000">
                <a:latin typeface="Arial Narrow" pitchFamily="34" charset="0"/>
                <a:ea typeface="宋体" charset="-122"/>
              </a:rPr>
              <a:t>CreditUnderValidation</a:t>
            </a:r>
          </a:p>
        </p:txBody>
      </p:sp>
      <p:sp>
        <p:nvSpPr>
          <p:cNvPr id="33802" name="AutoShape 18"/>
          <p:cNvSpPr>
            <a:spLocks noChangeArrowheads="1"/>
          </p:cNvSpPr>
          <p:nvPr/>
        </p:nvSpPr>
        <p:spPr bwMode="auto">
          <a:xfrm>
            <a:off x="2068513" y="5648325"/>
            <a:ext cx="1535112" cy="452438"/>
          </a:xfrm>
          <a:prstGeom prst="roundRect">
            <a:avLst>
              <a:gd name="adj" fmla="val 16667"/>
            </a:avLst>
          </a:prstGeom>
          <a:solidFill>
            <a:schemeClr val="bg1"/>
          </a:solidFill>
          <a:ln w="22225">
            <a:solidFill>
              <a:schemeClr val="tx1"/>
            </a:solidFill>
            <a:round/>
            <a:headEnd/>
            <a:tailEnd/>
          </a:ln>
        </p:spPr>
        <p:txBody>
          <a:bodyPr wrap="none" anchor="ctr">
            <a:spAutoFit/>
          </a:bodyPr>
          <a:lstStyle/>
          <a:p>
            <a:pPr eaLnBrk="0" hangingPunct="0">
              <a:spcBef>
                <a:spcPct val="0"/>
              </a:spcBef>
            </a:pPr>
            <a:r>
              <a:rPr kumimoji="0" lang="en-US" altLang="zh-CN" sz="2000">
                <a:latin typeface="Arial Narrow" pitchFamily="34" charset="0"/>
                <a:ea typeface="宋体" charset="-122"/>
              </a:rPr>
              <a:t>CreditDenied</a:t>
            </a:r>
          </a:p>
        </p:txBody>
      </p:sp>
      <p:sp>
        <p:nvSpPr>
          <p:cNvPr id="33803" name="AutoShape 19"/>
          <p:cNvSpPr>
            <a:spLocks noChangeArrowheads="1"/>
          </p:cNvSpPr>
          <p:nvPr/>
        </p:nvSpPr>
        <p:spPr bwMode="auto">
          <a:xfrm>
            <a:off x="5572125" y="5953125"/>
            <a:ext cx="1190625" cy="450850"/>
          </a:xfrm>
          <a:prstGeom prst="roundRect">
            <a:avLst>
              <a:gd name="adj" fmla="val 16667"/>
            </a:avLst>
          </a:prstGeom>
          <a:solidFill>
            <a:schemeClr val="bg1"/>
          </a:solidFill>
          <a:ln w="22225">
            <a:solidFill>
              <a:schemeClr val="tx1"/>
            </a:solidFill>
            <a:round/>
            <a:headEnd/>
            <a:tailEnd/>
          </a:ln>
        </p:spPr>
        <p:txBody>
          <a:bodyPr wrap="none" anchor="ctr">
            <a:spAutoFit/>
          </a:bodyPr>
          <a:lstStyle/>
          <a:p>
            <a:pPr eaLnBrk="0" hangingPunct="0">
              <a:spcBef>
                <a:spcPct val="0"/>
              </a:spcBef>
            </a:pPr>
            <a:r>
              <a:rPr kumimoji="0" lang="en-US" altLang="zh-CN" sz="2000">
                <a:latin typeface="Arial Narrow" pitchFamily="34" charset="0"/>
                <a:ea typeface="宋体" charset="-122"/>
              </a:rPr>
              <a:t>Complete</a:t>
            </a:r>
          </a:p>
        </p:txBody>
      </p:sp>
      <p:sp>
        <p:nvSpPr>
          <p:cNvPr id="33804" name="AutoShape 20"/>
          <p:cNvSpPr>
            <a:spLocks noChangeArrowheads="1"/>
          </p:cNvSpPr>
          <p:nvPr/>
        </p:nvSpPr>
        <p:spPr bwMode="auto">
          <a:xfrm>
            <a:off x="5715000" y="3281363"/>
            <a:ext cx="1338263" cy="452437"/>
          </a:xfrm>
          <a:prstGeom prst="roundRect">
            <a:avLst>
              <a:gd name="adj" fmla="val 16667"/>
            </a:avLst>
          </a:prstGeom>
          <a:solidFill>
            <a:schemeClr val="bg1"/>
          </a:solidFill>
          <a:ln w="22225">
            <a:solidFill>
              <a:schemeClr val="tx1"/>
            </a:solidFill>
            <a:round/>
            <a:headEnd/>
            <a:tailEnd/>
          </a:ln>
        </p:spPr>
        <p:txBody>
          <a:bodyPr wrap="none" anchor="ctr">
            <a:spAutoFit/>
          </a:bodyPr>
          <a:lstStyle/>
          <a:p>
            <a:pPr algn="l" eaLnBrk="0" hangingPunct="0">
              <a:spcBef>
                <a:spcPct val="0"/>
              </a:spcBef>
            </a:pPr>
            <a:r>
              <a:rPr kumimoji="0" lang="en-US" altLang="zh-CN" sz="2000">
                <a:latin typeface="Arial Narrow" pitchFamily="34" charset="0"/>
                <a:ea typeface="宋体" charset="-122"/>
              </a:rPr>
              <a:t>Incomplete</a:t>
            </a:r>
          </a:p>
        </p:txBody>
      </p:sp>
      <p:cxnSp>
        <p:nvCxnSpPr>
          <p:cNvPr id="33805" name="AutoShape 21"/>
          <p:cNvCxnSpPr>
            <a:cxnSpLocks noChangeShapeType="1"/>
            <a:stCxn id="33798" idx="3"/>
            <a:endCxn id="33800" idx="1"/>
          </p:cNvCxnSpPr>
          <p:nvPr/>
        </p:nvCxnSpPr>
        <p:spPr bwMode="auto">
          <a:xfrm flipV="1">
            <a:off x="2132013" y="2081213"/>
            <a:ext cx="2820987" cy="49212"/>
          </a:xfrm>
          <a:prstGeom prst="curvedConnector3">
            <a:avLst>
              <a:gd name="adj1" fmla="val 49972"/>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3806" name="AutoShape 22"/>
          <p:cNvCxnSpPr>
            <a:cxnSpLocks noChangeShapeType="1"/>
            <a:stCxn id="33799" idx="4"/>
            <a:endCxn id="33798" idx="1"/>
          </p:cNvCxnSpPr>
          <p:nvPr/>
        </p:nvCxnSpPr>
        <p:spPr bwMode="auto">
          <a:xfrm rot="16200000" flipH="1">
            <a:off x="371475" y="1581150"/>
            <a:ext cx="673100" cy="425450"/>
          </a:xfrm>
          <a:prstGeom prst="curvedConnector2">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3807" name="AutoShape 23"/>
          <p:cNvCxnSpPr>
            <a:cxnSpLocks noChangeShapeType="1"/>
            <a:stCxn id="33800" idx="2"/>
            <a:endCxn id="33797" idx="0"/>
          </p:cNvCxnSpPr>
          <p:nvPr/>
        </p:nvCxnSpPr>
        <p:spPr bwMode="auto">
          <a:xfrm rot="5400000">
            <a:off x="5029200" y="2170113"/>
            <a:ext cx="561975" cy="866775"/>
          </a:xfrm>
          <a:prstGeom prst="curvedConnector3">
            <a:avLst>
              <a:gd name="adj1" fmla="val 49718"/>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3808" name="AutoShape 24"/>
          <p:cNvCxnSpPr>
            <a:cxnSpLocks noChangeShapeType="1"/>
            <a:stCxn id="33800" idx="0"/>
            <a:endCxn id="33798" idx="0"/>
          </p:cNvCxnSpPr>
          <p:nvPr/>
        </p:nvCxnSpPr>
        <p:spPr bwMode="auto">
          <a:xfrm rot="-5400000" flipH="1" flipV="1">
            <a:off x="3607593" y="-242093"/>
            <a:ext cx="55563" cy="4216400"/>
          </a:xfrm>
          <a:prstGeom prst="curvedConnector3">
            <a:avLst>
              <a:gd name="adj1" fmla="val -39143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3809" name="Oval 25"/>
          <p:cNvSpPr>
            <a:spLocks noChangeArrowheads="1"/>
          </p:cNvSpPr>
          <p:nvPr/>
        </p:nvSpPr>
        <p:spPr bwMode="auto">
          <a:xfrm>
            <a:off x="4800600" y="3394075"/>
            <a:ext cx="228600" cy="228600"/>
          </a:xfrm>
          <a:prstGeom prst="ellipse">
            <a:avLst/>
          </a:prstGeom>
          <a:solidFill>
            <a:schemeClr val="tx1"/>
          </a:solidFill>
          <a:ln w="19050">
            <a:solidFill>
              <a:schemeClr val="tx1"/>
            </a:solidFill>
            <a:round/>
            <a:headEnd/>
            <a:tailEnd/>
          </a:ln>
        </p:spPr>
        <p:txBody>
          <a:bodyPr wrap="none" anchor="ctr"/>
          <a:lstStyle/>
          <a:p>
            <a:endParaRPr lang="zh-CN" altLang="en-US"/>
          </a:p>
        </p:txBody>
      </p:sp>
      <p:cxnSp>
        <p:nvCxnSpPr>
          <p:cNvPr id="33810" name="AutoShape 26"/>
          <p:cNvCxnSpPr>
            <a:cxnSpLocks noChangeShapeType="1"/>
            <a:stCxn id="33809" idx="6"/>
            <a:endCxn id="33804" idx="1"/>
          </p:cNvCxnSpPr>
          <p:nvPr/>
        </p:nvCxnSpPr>
        <p:spPr bwMode="auto">
          <a:xfrm>
            <a:off x="5038725" y="3508375"/>
            <a:ext cx="665163" cy="0"/>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3811" name="AutoShape 27"/>
          <p:cNvCxnSpPr>
            <a:cxnSpLocks noChangeShapeType="1"/>
            <a:stCxn id="33804" idx="3"/>
            <a:endCxn id="33801" idx="3"/>
          </p:cNvCxnSpPr>
          <p:nvPr/>
        </p:nvCxnSpPr>
        <p:spPr bwMode="auto">
          <a:xfrm flipH="1">
            <a:off x="5049838" y="3508375"/>
            <a:ext cx="2014537" cy="1071563"/>
          </a:xfrm>
          <a:prstGeom prst="curvedConnector3">
            <a:avLst>
              <a:gd name="adj1" fmla="val -3680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3812" name="AutoShape 28"/>
          <p:cNvCxnSpPr>
            <a:cxnSpLocks noChangeShapeType="1"/>
            <a:stCxn id="33801" idx="2"/>
            <a:endCxn id="33802" idx="0"/>
          </p:cNvCxnSpPr>
          <p:nvPr/>
        </p:nvCxnSpPr>
        <p:spPr bwMode="auto">
          <a:xfrm rot="5400000">
            <a:off x="2918619" y="4734719"/>
            <a:ext cx="820738" cy="984250"/>
          </a:xfrm>
          <a:prstGeom prst="curvedConnector3">
            <a:avLst>
              <a:gd name="adj1" fmla="val 49903"/>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3813" name="AutoShape 29"/>
          <p:cNvCxnSpPr>
            <a:cxnSpLocks noChangeShapeType="1"/>
            <a:stCxn id="33801" idx="2"/>
            <a:endCxn id="33803" idx="1"/>
          </p:cNvCxnSpPr>
          <p:nvPr/>
        </p:nvCxnSpPr>
        <p:spPr bwMode="auto">
          <a:xfrm rot="16200000" flipH="1">
            <a:off x="4010025" y="4627563"/>
            <a:ext cx="1362075" cy="1739900"/>
          </a:xfrm>
          <a:prstGeom prst="curvedConnector2">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3814" name="AutoShape 30"/>
          <p:cNvCxnSpPr>
            <a:cxnSpLocks noChangeShapeType="1"/>
            <a:stCxn id="33803" idx="3"/>
            <a:endCxn id="33798" idx="2"/>
          </p:cNvCxnSpPr>
          <p:nvPr/>
        </p:nvCxnSpPr>
        <p:spPr bwMode="auto">
          <a:xfrm flipH="1" flipV="1">
            <a:off x="1527175" y="2366963"/>
            <a:ext cx="5246688" cy="3811587"/>
          </a:xfrm>
          <a:prstGeom prst="curvedConnector4">
            <a:avLst>
              <a:gd name="adj1" fmla="val -4144"/>
              <a:gd name="adj2" fmla="val 53102"/>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3815" name="Oval 31"/>
          <p:cNvSpPr>
            <a:spLocks noChangeArrowheads="1"/>
          </p:cNvSpPr>
          <p:nvPr/>
        </p:nvSpPr>
        <p:spPr bwMode="auto">
          <a:xfrm>
            <a:off x="533400" y="5105400"/>
            <a:ext cx="228600" cy="228600"/>
          </a:xfrm>
          <a:prstGeom prst="ellipse">
            <a:avLst/>
          </a:prstGeom>
          <a:solidFill>
            <a:schemeClr val="tx1"/>
          </a:solidFill>
          <a:ln w="9525">
            <a:solidFill>
              <a:schemeClr val="tx1"/>
            </a:solidFill>
            <a:round/>
            <a:headEnd/>
            <a:tailEnd/>
          </a:ln>
        </p:spPr>
        <p:txBody>
          <a:bodyPr wrap="none" anchor="ctr"/>
          <a:lstStyle/>
          <a:p>
            <a:endParaRPr lang="zh-CN" altLang="en-US"/>
          </a:p>
        </p:txBody>
      </p:sp>
      <p:cxnSp>
        <p:nvCxnSpPr>
          <p:cNvPr id="33816" name="AutoShape 32"/>
          <p:cNvCxnSpPr>
            <a:cxnSpLocks noChangeShapeType="1"/>
            <a:stCxn id="33802" idx="1"/>
            <a:endCxn id="33798" idx="2"/>
          </p:cNvCxnSpPr>
          <p:nvPr/>
        </p:nvCxnSpPr>
        <p:spPr bwMode="auto">
          <a:xfrm rot="10800000">
            <a:off x="1527175" y="2366963"/>
            <a:ext cx="530225" cy="3508375"/>
          </a:xfrm>
          <a:prstGeom prst="curvedConnector2">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3817" name="AutoShape 33"/>
          <p:cNvCxnSpPr>
            <a:cxnSpLocks noChangeShapeType="1"/>
            <a:stCxn id="33798" idx="2"/>
            <a:endCxn id="33796" idx="0"/>
          </p:cNvCxnSpPr>
          <p:nvPr/>
        </p:nvCxnSpPr>
        <p:spPr bwMode="auto">
          <a:xfrm rot="5400000">
            <a:off x="-234156" y="3248819"/>
            <a:ext cx="2643187" cy="879475"/>
          </a:xfrm>
          <a:prstGeom prst="curvedConnector3">
            <a:avLst>
              <a:gd name="adj1" fmla="val 50148"/>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3818" name="AutoShape 34"/>
          <p:cNvCxnSpPr>
            <a:cxnSpLocks noChangeShapeType="1"/>
            <a:stCxn id="33804" idx="3"/>
            <a:endCxn id="33804" idx="0"/>
          </p:cNvCxnSpPr>
          <p:nvPr/>
        </p:nvCxnSpPr>
        <p:spPr bwMode="auto">
          <a:xfrm flipH="1" flipV="1">
            <a:off x="6384925" y="3270250"/>
            <a:ext cx="679450" cy="238125"/>
          </a:xfrm>
          <a:prstGeom prst="curvedConnector4">
            <a:avLst>
              <a:gd name="adj1" fmla="val -127806"/>
              <a:gd name="adj2" fmla="val 563333"/>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3819" name="Text Box 35"/>
          <p:cNvSpPr txBox="1">
            <a:spLocks noChangeArrowheads="1"/>
          </p:cNvSpPr>
          <p:nvPr/>
        </p:nvSpPr>
        <p:spPr bwMode="auto">
          <a:xfrm>
            <a:off x="7391400" y="3276600"/>
            <a:ext cx="1219200" cy="5969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t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50000"/>
              </a:lnSpc>
            </a:pPr>
            <a:r>
              <a:rPr kumimoji="0" lang="en-US" altLang="zh-CN" sz="1800" i="1">
                <a:latin typeface="Arial Narrow" pitchFamily="34" charset="0"/>
                <a:ea typeface="宋体" charset="-122"/>
              </a:rPr>
              <a:t>hit </a:t>
            </a:r>
            <a:r>
              <a:rPr kumimoji="0" lang="en-US" altLang="zh-CN" sz="1800">
                <a:latin typeface="Arial Narrow" pitchFamily="34" charset="0"/>
                <a:ea typeface="宋体" charset="-122"/>
              </a:rPr>
              <a:t>Submit</a:t>
            </a:r>
          </a:p>
          <a:p>
            <a:pPr algn="l">
              <a:lnSpc>
                <a:spcPct val="50000"/>
              </a:lnSpc>
            </a:pPr>
            <a:r>
              <a:rPr kumimoji="0" lang="en-US" altLang="zh-CN" sz="1800">
                <a:latin typeface="Arial Narrow" pitchFamily="34" charset="0"/>
                <a:ea typeface="宋体" charset="-122"/>
              </a:rPr>
              <a:t>button</a:t>
            </a:r>
          </a:p>
        </p:txBody>
      </p:sp>
      <p:sp>
        <p:nvSpPr>
          <p:cNvPr id="33820" name="Text Box 36"/>
          <p:cNvSpPr txBox="1">
            <a:spLocks noChangeArrowheads="1"/>
          </p:cNvSpPr>
          <p:nvPr/>
        </p:nvSpPr>
        <p:spPr bwMode="auto">
          <a:xfrm>
            <a:off x="7239000" y="1679575"/>
            <a:ext cx="1371600" cy="835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90000"/>
              </a:lnSpc>
            </a:pPr>
            <a:r>
              <a:rPr kumimoji="0" lang="en-US" altLang="zh-CN" sz="1800" i="1">
                <a:latin typeface="Arial Narrow" pitchFamily="34" charset="0"/>
                <a:ea typeface="宋体" charset="-122"/>
              </a:rPr>
              <a:t>[credit card data incomplete]</a:t>
            </a:r>
          </a:p>
        </p:txBody>
      </p:sp>
      <p:sp>
        <p:nvSpPr>
          <p:cNvPr id="33821" name="Text Box 37"/>
          <p:cNvSpPr txBox="1">
            <a:spLocks noChangeArrowheads="1"/>
          </p:cNvSpPr>
          <p:nvPr/>
        </p:nvSpPr>
        <p:spPr bwMode="auto">
          <a:xfrm>
            <a:off x="7239000" y="4114800"/>
            <a:ext cx="1219200" cy="835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90000"/>
              </a:lnSpc>
            </a:pPr>
            <a:r>
              <a:rPr kumimoji="0" lang="en-US" altLang="zh-CN" sz="1800" i="1">
                <a:latin typeface="Arial Narrow" pitchFamily="34" charset="0"/>
                <a:ea typeface="宋体" charset="-122"/>
              </a:rPr>
              <a:t>[credit card data complete]</a:t>
            </a:r>
          </a:p>
        </p:txBody>
      </p:sp>
      <p:sp>
        <p:nvSpPr>
          <p:cNvPr id="33822" name="Text Box 38"/>
          <p:cNvSpPr txBox="1">
            <a:spLocks noChangeArrowheads="1"/>
          </p:cNvSpPr>
          <p:nvPr/>
        </p:nvSpPr>
        <p:spPr bwMode="auto">
          <a:xfrm>
            <a:off x="2971800" y="1219200"/>
            <a:ext cx="1219200" cy="587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90000"/>
              </a:lnSpc>
            </a:pPr>
            <a:r>
              <a:rPr kumimoji="0" lang="en-US" altLang="zh-CN" sz="1800" i="1">
                <a:latin typeface="Arial Narrow" pitchFamily="34" charset="0"/>
                <a:ea typeface="宋体" charset="-122"/>
              </a:rPr>
              <a:t>put back last item</a:t>
            </a:r>
          </a:p>
        </p:txBody>
      </p:sp>
      <p:sp>
        <p:nvSpPr>
          <p:cNvPr id="33823" name="Text Box 39"/>
          <p:cNvSpPr txBox="1">
            <a:spLocks noChangeArrowheads="1"/>
          </p:cNvSpPr>
          <p:nvPr/>
        </p:nvSpPr>
        <p:spPr bwMode="auto">
          <a:xfrm>
            <a:off x="2971800" y="1905000"/>
            <a:ext cx="1219200" cy="339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90000"/>
              </a:lnSpc>
            </a:pPr>
            <a:r>
              <a:rPr kumimoji="0" lang="en-US" altLang="zh-CN" sz="1800" i="1">
                <a:latin typeface="Arial Narrow" pitchFamily="34" charset="0"/>
                <a:ea typeface="宋体" charset="-122"/>
              </a:rPr>
              <a:t>select item</a:t>
            </a:r>
          </a:p>
        </p:txBody>
      </p:sp>
      <p:sp>
        <p:nvSpPr>
          <p:cNvPr id="33824" name="Text Box 40"/>
          <p:cNvSpPr txBox="1">
            <a:spLocks noChangeArrowheads="1"/>
          </p:cNvSpPr>
          <p:nvPr/>
        </p:nvSpPr>
        <p:spPr bwMode="auto">
          <a:xfrm>
            <a:off x="6019800" y="5105400"/>
            <a:ext cx="1219200" cy="339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r">
              <a:lnSpc>
                <a:spcPct val="90000"/>
              </a:lnSpc>
            </a:pPr>
            <a:r>
              <a:rPr kumimoji="0" lang="en-US" altLang="zh-CN" sz="1800" i="1">
                <a:latin typeface="Arial Narrow" pitchFamily="34" charset="0"/>
                <a:ea typeface="宋体" charset="-122"/>
              </a:rPr>
              <a:t>hit </a:t>
            </a:r>
            <a:r>
              <a:rPr kumimoji="0" lang="en-US" altLang="zh-CN" sz="1800">
                <a:latin typeface="Arial Narrow" pitchFamily="34" charset="0"/>
                <a:ea typeface="宋体" charset="-122"/>
              </a:rPr>
              <a:t>OK</a:t>
            </a:r>
          </a:p>
        </p:txBody>
      </p:sp>
      <p:sp>
        <p:nvSpPr>
          <p:cNvPr id="33825" name="Text Box 41"/>
          <p:cNvSpPr txBox="1">
            <a:spLocks noChangeArrowheads="1"/>
          </p:cNvSpPr>
          <p:nvPr/>
        </p:nvSpPr>
        <p:spPr bwMode="auto">
          <a:xfrm>
            <a:off x="4114800" y="5181600"/>
            <a:ext cx="1219200" cy="587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90000"/>
              </a:lnSpc>
            </a:pPr>
            <a:r>
              <a:rPr kumimoji="0" lang="en-US" altLang="zh-CN" sz="1800" i="1">
                <a:latin typeface="Arial Narrow" pitchFamily="34" charset="0"/>
                <a:ea typeface="宋体" charset="-122"/>
              </a:rPr>
              <a:t>validation received</a:t>
            </a:r>
          </a:p>
        </p:txBody>
      </p:sp>
      <p:sp>
        <p:nvSpPr>
          <p:cNvPr id="33826" name="Text Box 42"/>
          <p:cNvSpPr txBox="1">
            <a:spLocks noChangeArrowheads="1"/>
          </p:cNvSpPr>
          <p:nvPr/>
        </p:nvSpPr>
        <p:spPr bwMode="auto">
          <a:xfrm>
            <a:off x="2057400" y="4953000"/>
            <a:ext cx="1600200" cy="339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90000"/>
              </a:lnSpc>
            </a:pPr>
            <a:r>
              <a:rPr kumimoji="0" lang="en-US" altLang="zh-CN" sz="1800" i="1">
                <a:latin typeface="Arial Narrow" pitchFamily="34" charset="0"/>
                <a:ea typeface="宋体" charset="-122"/>
              </a:rPr>
              <a:t>denial received</a:t>
            </a:r>
          </a:p>
        </p:txBody>
      </p:sp>
      <p:sp>
        <p:nvSpPr>
          <p:cNvPr id="33827" name="Text Box 43"/>
          <p:cNvSpPr txBox="1">
            <a:spLocks noChangeArrowheads="1"/>
          </p:cNvSpPr>
          <p:nvPr/>
        </p:nvSpPr>
        <p:spPr bwMode="auto">
          <a:xfrm>
            <a:off x="1219200" y="4267200"/>
            <a:ext cx="838200" cy="339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90000"/>
              </a:lnSpc>
            </a:pPr>
            <a:r>
              <a:rPr kumimoji="0" lang="en-US" altLang="zh-CN" sz="1800" i="1">
                <a:latin typeface="Arial Narrow" pitchFamily="34" charset="0"/>
                <a:ea typeface="宋体" charset="-122"/>
              </a:rPr>
              <a:t>hit </a:t>
            </a:r>
            <a:r>
              <a:rPr kumimoji="0" lang="en-US" altLang="zh-CN" sz="1800">
                <a:latin typeface="Arial Narrow" pitchFamily="34" charset="0"/>
                <a:ea typeface="宋体" charset="-122"/>
              </a:rPr>
              <a:t>OK</a:t>
            </a:r>
          </a:p>
        </p:txBody>
      </p:sp>
      <p:sp>
        <p:nvSpPr>
          <p:cNvPr id="33828" name="Text Box 44"/>
          <p:cNvSpPr txBox="1">
            <a:spLocks noChangeArrowheads="1"/>
          </p:cNvSpPr>
          <p:nvPr/>
        </p:nvSpPr>
        <p:spPr bwMode="auto">
          <a:xfrm>
            <a:off x="609600" y="3505200"/>
            <a:ext cx="609600" cy="587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90000"/>
              </a:lnSpc>
            </a:pPr>
            <a:r>
              <a:rPr kumimoji="0" lang="en-US" altLang="zh-CN" sz="1800" i="1">
                <a:latin typeface="Arial Narrow" pitchFamily="34" charset="0"/>
                <a:ea typeface="宋体" charset="-122"/>
              </a:rPr>
              <a:t>hit </a:t>
            </a:r>
            <a:r>
              <a:rPr kumimoji="0" lang="en-US" altLang="zh-CN" sz="1800">
                <a:latin typeface="Arial Narrow" pitchFamily="34" charset="0"/>
                <a:ea typeface="宋体" charset="-122"/>
              </a:rPr>
              <a:t>Quit</a:t>
            </a:r>
          </a:p>
        </p:txBody>
      </p:sp>
      <p:cxnSp>
        <p:nvCxnSpPr>
          <p:cNvPr id="33829" name="AutoShape 45"/>
          <p:cNvCxnSpPr>
            <a:cxnSpLocks noChangeShapeType="1"/>
            <a:stCxn id="33800" idx="0"/>
            <a:endCxn id="33800" idx="3"/>
          </p:cNvCxnSpPr>
          <p:nvPr/>
        </p:nvCxnSpPr>
        <p:spPr bwMode="auto">
          <a:xfrm rot="5400000" flipV="1">
            <a:off x="6016625" y="1565275"/>
            <a:ext cx="242888" cy="788988"/>
          </a:xfrm>
          <a:prstGeom prst="curvedConnector4">
            <a:avLst>
              <a:gd name="adj1" fmla="val -89542"/>
              <a:gd name="adj2" fmla="val 127366"/>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3830" name="Text Box 46"/>
          <p:cNvSpPr txBox="1">
            <a:spLocks noChangeArrowheads="1"/>
          </p:cNvSpPr>
          <p:nvPr/>
        </p:nvSpPr>
        <p:spPr bwMode="auto">
          <a:xfrm>
            <a:off x="5791200" y="1066800"/>
            <a:ext cx="1219200" cy="339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90000"/>
              </a:lnSpc>
            </a:pPr>
            <a:r>
              <a:rPr kumimoji="0" lang="en-US" altLang="zh-CN" sz="1800" i="1">
                <a:latin typeface="Arial Narrow" pitchFamily="34" charset="0"/>
                <a:ea typeface="宋体" charset="-122"/>
              </a:rPr>
              <a:t>select item</a:t>
            </a:r>
          </a:p>
        </p:txBody>
      </p:sp>
    </p:spTree>
    <p:extLst>
      <p:ext uri="{BB962C8B-B14F-4D97-AF65-F5344CB8AC3E}">
        <p14:creationId xmlns:p14="http://schemas.microsoft.com/office/powerpoint/2010/main" val="197702327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活动图</a:t>
            </a:r>
          </a:p>
        </p:txBody>
      </p:sp>
      <p:sp>
        <p:nvSpPr>
          <p:cNvPr id="34819" name="Rectangle 3"/>
          <p:cNvSpPr>
            <a:spLocks noGrp="1" noChangeArrowheads="1"/>
          </p:cNvSpPr>
          <p:nvPr>
            <p:ph type="body" idx="1"/>
          </p:nvPr>
        </p:nvSpPr>
        <p:spPr>
          <a:xfrm>
            <a:off x="685800" y="1676400"/>
            <a:ext cx="7772400" cy="4267200"/>
          </a:xfrm>
        </p:spPr>
        <p:txBody>
          <a:bodyPr/>
          <a:lstStyle/>
          <a:p>
            <a:pPr eaLnBrk="1" hangingPunct="1"/>
            <a:r>
              <a:rPr lang="zh-CN" altLang="en-US" b="1" smtClean="0">
                <a:ea typeface="楷体_GB2312" pitchFamily="49" charset="-122"/>
              </a:rPr>
              <a:t>是流程图的更新和改进形式，具有</a:t>
            </a:r>
            <a:r>
              <a:rPr lang="zh-CN" altLang="en-US" b="1" smtClean="0">
                <a:solidFill>
                  <a:srgbClr val="0000CC"/>
                </a:solidFill>
                <a:ea typeface="楷体_GB2312" pitchFamily="49" charset="-122"/>
              </a:rPr>
              <a:t>并行性</a:t>
            </a:r>
            <a:r>
              <a:rPr lang="zh-CN" altLang="en-US" b="1" smtClean="0">
                <a:ea typeface="楷体_GB2312" pitchFamily="49" charset="-122"/>
              </a:rPr>
              <a:t>。</a:t>
            </a:r>
          </a:p>
        </p:txBody>
      </p:sp>
    </p:spTree>
    <p:extLst>
      <p:ext uri="{BB962C8B-B14F-4D97-AF65-F5344CB8AC3E}">
        <p14:creationId xmlns:p14="http://schemas.microsoft.com/office/powerpoint/2010/main" val="295814994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274638"/>
            <a:ext cx="4800600" cy="1143000"/>
          </a:xfrm>
        </p:spPr>
        <p:txBody>
          <a:bodyPr/>
          <a:lstStyle/>
          <a:p>
            <a:pPr eaLnBrk="1" hangingPunct="1"/>
            <a:r>
              <a:rPr lang="zh-CN" altLang="en-US" b="1" smtClean="0">
                <a:solidFill>
                  <a:schemeClr val="accent2"/>
                </a:solidFill>
                <a:ea typeface="楷体_GB2312" pitchFamily="49" charset="-122"/>
              </a:rPr>
              <a:t>活动图的符号表示</a:t>
            </a:r>
          </a:p>
        </p:txBody>
      </p:sp>
      <p:sp>
        <p:nvSpPr>
          <p:cNvPr id="35843" name="AutoShape 5"/>
          <p:cNvSpPr>
            <a:spLocks noChangeArrowheads="1"/>
          </p:cNvSpPr>
          <p:nvPr/>
        </p:nvSpPr>
        <p:spPr bwMode="auto">
          <a:xfrm>
            <a:off x="5499100" y="990600"/>
            <a:ext cx="1647825" cy="449263"/>
          </a:xfrm>
          <a:prstGeom prst="roundRect">
            <a:avLst>
              <a:gd name="adj" fmla="val 16667"/>
            </a:avLst>
          </a:prstGeom>
          <a:solidFill>
            <a:schemeClr val="bg1"/>
          </a:solidFill>
          <a:ln w="19050">
            <a:solidFill>
              <a:schemeClr val="tx1"/>
            </a:solidFill>
            <a:round/>
            <a:headEnd/>
            <a:tailEnd/>
          </a:ln>
        </p:spPr>
        <p:txBody>
          <a:bodyPr wrap="none" anchor="ctr">
            <a:spAutoFit/>
          </a:bodyPr>
          <a:lstStyle/>
          <a:p>
            <a:pPr eaLnBrk="0" hangingPunct="0">
              <a:spcBef>
                <a:spcPct val="0"/>
              </a:spcBef>
            </a:pPr>
            <a:r>
              <a:rPr kumimoji="0" lang="en-US" altLang="zh-CN" sz="2000">
                <a:latin typeface="Arial Narrow" pitchFamily="34" charset="0"/>
                <a:ea typeface="宋体" charset="-122"/>
              </a:rPr>
              <a:t>Do Something</a:t>
            </a:r>
          </a:p>
        </p:txBody>
      </p:sp>
      <p:sp>
        <p:nvSpPr>
          <p:cNvPr id="35844" name="Oval 6"/>
          <p:cNvSpPr>
            <a:spLocks noChangeArrowheads="1"/>
          </p:cNvSpPr>
          <p:nvPr/>
        </p:nvSpPr>
        <p:spPr bwMode="auto">
          <a:xfrm>
            <a:off x="6208713" y="457200"/>
            <a:ext cx="228600" cy="228600"/>
          </a:xfrm>
          <a:prstGeom prst="ellipse">
            <a:avLst/>
          </a:prstGeom>
          <a:solidFill>
            <a:schemeClr val="tx2"/>
          </a:solidFill>
          <a:ln w="9525">
            <a:solidFill>
              <a:schemeClr val="tx1"/>
            </a:solidFill>
            <a:round/>
            <a:headEnd/>
            <a:tailEnd/>
          </a:ln>
        </p:spPr>
        <p:txBody>
          <a:bodyPr wrap="none" anchor="ctr"/>
          <a:lstStyle/>
          <a:p>
            <a:endParaRPr lang="zh-CN" altLang="en-US"/>
          </a:p>
        </p:txBody>
      </p:sp>
      <p:sp>
        <p:nvSpPr>
          <p:cNvPr id="35845" name="AutoShape 7"/>
          <p:cNvSpPr>
            <a:spLocks noChangeArrowheads="1"/>
          </p:cNvSpPr>
          <p:nvPr/>
        </p:nvSpPr>
        <p:spPr bwMode="auto">
          <a:xfrm>
            <a:off x="5221288" y="1933575"/>
            <a:ext cx="2201862" cy="449263"/>
          </a:xfrm>
          <a:prstGeom prst="roundRect">
            <a:avLst>
              <a:gd name="adj" fmla="val 16667"/>
            </a:avLst>
          </a:prstGeom>
          <a:solidFill>
            <a:schemeClr val="bg1"/>
          </a:solidFill>
          <a:ln w="19050">
            <a:solidFill>
              <a:schemeClr val="tx1"/>
            </a:solidFill>
            <a:round/>
            <a:headEnd/>
            <a:tailEnd/>
          </a:ln>
        </p:spPr>
        <p:txBody>
          <a:bodyPr wrap="none" anchor="ctr">
            <a:spAutoFit/>
          </a:bodyPr>
          <a:lstStyle/>
          <a:p>
            <a:pPr eaLnBrk="0" hangingPunct="0">
              <a:spcBef>
                <a:spcPct val="0"/>
              </a:spcBef>
            </a:pPr>
            <a:r>
              <a:rPr kumimoji="0" lang="en-US" altLang="zh-CN" sz="2000">
                <a:latin typeface="Arial Narrow" pitchFamily="34" charset="0"/>
                <a:ea typeface="宋体" charset="-122"/>
              </a:rPr>
              <a:t>Do Something More</a:t>
            </a:r>
          </a:p>
        </p:txBody>
      </p:sp>
      <p:sp>
        <p:nvSpPr>
          <p:cNvPr id="35846" name="Line 8"/>
          <p:cNvSpPr>
            <a:spLocks noChangeShapeType="1"/>
          </p:cNvSpPr>
          <p:nvPr/>
        </p:nvSpPr>
        <p:spPr bwMode="auto">
          <a:xfrm>
            <a:off x="2212975" y="3886200"/>
            <a:ext cx="4648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47" name="AutoShape 9"/>
          <p:cNvSpPr>
            <a:spLocks noChangeArrowheads="1"/>
          </p:cNvSpPr>
          <p:nvPr/>
        </p:nvSpPr>
        <p:spPr bwMode="auto">
          <a:xfrm>
            <a:off x="2568575" y="4419600"/>
            <a:ext cx="1255713" cy="450850"/>
          </a:xfrm>
          <a:prstGeom prst="roundRect">
            <a:avLst>
              <a:gd name="adj" fmla="val 16667"/>
            </a:avLst>
          </a:prstGeom>
          <a:solidFill>
            <a:schemeClr val="bg1"/>
          </a:solidFill>
          <a:ln w="19050">
            <a:solidFill>
              <a:schemeClr val="tx1"/>
            </a:solidFill>
            <a:round/>
            <a:headEnd/>
            <a:tailEnd/>
          </a:ln>
        </p:spPr>
        <p:txBody>
          <a:bodyPr wrap="none" anchor="ctr">
            <a:spAutoFit/>
          </a:bodyPr>
          <a:lstStyle/>
          <a:p>
            <a:pPr eaLnBrk="0" hangingPunct="0">
              <a:spcBef>
                <a:spcPct val="0"/>
              </a:spcBef>
            </a:pPr>
            <a:r>
              <a:rPr kumimoji="0" lang="en-US" altLang="zh-CN" sz="2000">
                <a:latin typeface="Arial Narrow" pitchFamily="34" charset="0"/>
                <a:ea typeface="宋体" charset="-122"/>
              </a:rPr>
              <a:t>Do A Task</a:t>
            </a:r>
          </a:p>
        </p:txBody>
      </p:sp>
      <p:sp>
        <p:nvSpPr>
          <p:cNvPr id="35848" name="AutoShape 10"/>
          <p:cNvSpPr>
            <a:spLocks noChangeArrowheads="1"/>
          </p:cNvSpPr>
          <p:nvPr/>
        </p:nvSpPr>
        <p:spPr bwMode="auto">
          <a:xfrm>
            <a:off x="4914900" y="4419600"/>
            <a:ext cx="1901825" cy="449263"/>
          </a:xfrm>
          <a:prstGeom prst="roundRect">
            <a:avLst>
              <a:gd name="adj" fmla="val 16667"/>
            </a:avLst>
          </a:prstGeom>
          <a:solidFill>
            <a:schemeClr val="bg1"/>
          </a:solidFill>
          <a:ln w="19050">
            <a:solidFill>
              <a:schemeClr val="tx1"/>
            </a:solidFill>
            <a:round/>
            <a:headEnd/>
            <a:tailEnd/>
          </a:ln>
        </p:spPr>
        <p:txBody>
          <a:bodyPr wrap="none" anchor="ctr">
            <a:spAutoFit/>
          </a:bodyPr>
          <a:lstStyle/>
          <a:p>
            <a:pPr eaLnBrk="0" hangingPunct="0">
              <a:spcBef>
                <a:spcPct val="0"/>
              </a:spcBef>
            </a:pPr>
            <a:r>
              <a:rPr kumimoji="0" lang="en-US" altLang="zh-CN" sz="2000">
                <a:latin typeface="Arial Narrow" pitchFamily="34" charset="0"/>
                <a:ea typeface="宋体" charset="-122"/>
              </a:rPr>
              <a:t>Do Another Task</a:t>
            </a:r>
          </a:p>
        </p:txBody>
      </p:sp>
      <p:sp>
        <p:nvSpPr>
          <p:cNvPr id="35849" name="Oval 11"/>
          <p:cNvSpPr>
            <a:spLocks noChangeArrowheads="1"/>
          </p:cNvSpPr>
          <p:nvPr/>
        </p:nvSpPr>
        <p:spPr bwMode="auto">
          <a:xfrm>
            <a:off x="4227513" y="6477000"/>
            <a:ext cx="228600" cy="228600"/>
          </a:xfrm>
          <a:prstGeom prst="ellipse">
            <a:avLst/>
          </a:prstGeom>
          <a:solidFill>
            <a:schemeClr val="tx2"/>
          </a:solidFill>
          <a:ln w="9525">
            <a:solidFill>
              <a:schemeClr val="tx1"/>
            </a:solidFill>
            <a:round/>
            <a:headEnd/>
            <a:tailEnd/>
          </a:ln>
        </p:spPr>
        <p:txBody>
          <a:bodyPr wrap="none" anchor="ctr"/>
          <a:lstStyle/>
          <a:p>
            <a:endParaRPr lang="zh-CN" altLang="en-US"/>
          </a:p>
        </p:txBody>
      </p:sp>
      <p:sp>
        <p:nvSpPr>
          <p:cNvPr id="35850" name="AutoShape 12"/>
          <p:cNvSpPr>
            <a:spLocks noChangeArrowheads="1"/>
          </p:cNvSpPr>
          <p:nvPr/>
        </p:nvSpPr>
        <p:spPr bwMode="auto">
          <a:xfrm>
            <a:off x="3529013" y="5721350"/>
            <a:ext cx="1624012" cy="449263"/>
          </a:xfrm>
          <a:prstGeom prst="roundRect">
            <a:avLst>
              <a:gd name="adj" fmla="val 16667"/>
            </a:avLst>
          </a:prstGeom>
          <a:solidFill>
            <a:schemeClr val="bg1"/>
          </a:solidFill>
          <a:ln w="19050">
            <a:solidFill>
              <a:schemeClr val="tx1"/>
            </a:solidFill>
            <a:round/>
            <a:headEnd/>
            <a:tailEnd/>
          </a:ln>
        </p:spPr>
        <p:txBody>
          <a:bodyPr wrap="none" anchor="ctr">
            <a:spAutoFit/>
          </a:bodyPr>
          <a:lstStyle/>
          <a:p>
            <a:pPr eaLnBrk="0" hangingPunct="0">
              <a:spcBef>
                <a:spcPct val="0"/>
              </a:spcBef>
            </a:pPr>
            <a:r>
              <a:rPr kumimoji="0" lang="en-US" altLang="zh-CN" sz="2000">
                <a:latin typeface="Arial Narrow" pitchFamily="34" charset="0"/>
                <a:ea typeface="宋体" charset="-122"/>
              </a:rPr>
              <a:t>Do Even More</a:t>
            </a:r>
          </a:p>
        </p:txBody>
      </p:sp>
      <p:sp>
        <p:nvSpPr>
          <p:cNvPr id="35851" name="Oval 13"/>
          <p:cNvSpPr>
            <a:spLocks noChangeArrowheads="1"/>
          </p:cNvSpPr>
          <p:nvPr/>
        </p:nvSpPr>
        <p:spPr bwMode="auto">
          <a:xfrm>
            <a:off x="4151313" y="6400800"/>
            <a:ext cx="381000" cy="3810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5852" name="Line 14"/>
          <p:cNvSpPr>
            <a:spLocks noChangeShapeType="1"/>
          </p:cNvSpPr>
          <p:nvPr/>
        </p:nvSpPr>
        <p:spPr bwMode="auto">
          <a:xfrm>
            <a:off x="2212975" y="5410200"/>
            <a:ext cx="4648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3" name="Line 15"/>
          <p:cNvSpPr>
            <a:spLocks noChangeShapeType="1"/>
          </p:cNvSpPr>
          <p:nvPr/>
        </p:nvSpPr>
        <p:spPr bwMode="auto">
          <a:xfrm>
            <a:off x="2212975" y="5410200"/>
            <a:ext cx="990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4" name="Line 16"/>
          <p:cNvSpPr>
            <a:spLocks noChangeShapeType="1"/>
          </p:cNvSpPr>
          <p:nvPr/>
        </p:nvSpPr>
        <p:spPr bwMode="auto">
          <a:xfrm>
            <a:off x="2212975" y="3886200"/>
            <a:ext cx="990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5" name="Line 17"/>
          <p:cNvSpPr>
            <a:spLocks noChangeShapeType="1"/>
          </p:cNvSpPr>
          <p:nvPr/>
        </p:nvSpPr>
        <p:spPr bwMode="auto">
          <a:xfrm>
            <a:off x="5870575" y="3886200"/>
            <a:ext cx="990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6" name="Line 18"/>
          <p:cNvSpPr>
            <a:spLocks noChangeShapeType="1"/>
          </p:cNvSpPr>
          <p:nvPr/>
        </p:nvSpPr>
        <p:spPr bwMode="auto">
          <a:xfrm>
            <a:off x="5870575" y="5410200"/>
            <a:ext cx="990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7" name="Line 19"/>
          <p:cNvSpPr>
            <a:spLocks noChangeShapeType="1"/>
          </p:cNvSpPr>
          <p:nvPr/>
        </p:nvSpPr>
        <p:spPr bwMode="auto">
          <a:xfrm flipH="1">
            <a:off x="4346575" y="3124200"/>
            <a:ext cx="0" cy="762000"/>
          </a:xfrm>
          <a:prstGeom prst="line">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5858" name="AutoShape 20"/>
          <p:cNvSpPr>
            <a:spLocks noChangeArrowheads="1"/>
          </p:cNvSpPr>
          <p:nvPr/>
        </p:nvSpPr>
        <p:spPr bwMode="auto">
          <a:xfrm>
            <a:off x="6170613" y="2895600"/>
            <a:ext cx="304800" cy="381000"/>
          </a:xfrm>
          <a:prstGeom prst="diamond">
            <a:avLst/>
          </a:prstGeom>
          <a:solidFill>
            <a:schemeClr val="bg1"/>
          </a:solidFill>
          <a:ln w="19050">
            <a:solidFill>
              <a:schemeClr val="tx1"/>
            </a:solidFill>
            <a:miter lim="800000"/>
            <a:headEnd/>
            <a:tailEnd/>
          </a:ln>
        </p:spPr>
        <p:txBody>
          <a:bodyPr wrap="none" anchor="ctr"/>
          <a:lstStyle/>
          <a:p>
            <a:endParaRPr lang="zh-CN" altLang="en-US"/>
          </a:p>
        </p:txBody>
      </p:sp>
      <p:cxnSp>
        <p:nvCxnSpPr>
          <p:cNvPr id="35859" name="AutoShape 21"/>
          <p:cNvCxnSpPr>
            <a:cxnSpLocks noChangeShapeType="1"/>
            <a:stCxn id="35858" idx="3"/>
            <a:endCxn id="35845" idx="3"/>
          </p:cNvCxnSpPr>
          <p:nvPr/>
        </p:nvCxnSpPr>
        <p:spPr bwMode="auto">
          <a:xfrm flipV="1">
            <a:off x="6484938" y="2159000"/>
            <a:ext cx="947737" cy="927100"/>
          </a:xfrm>
          <a:prstGeom prst="bentConnector3">
            <a:avLst>
              <a:gd name="adj1" fmla="val 122949"/>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35860" name="AutoShape 22"/>
          <p:cNvCxnSpPr>
            <a:cxnSpLocks noChangeShapeType="1"/>
            <a:stCxn id="35843" idx="2"/>
            <a:endCxn id="35845" idx="0"/>
          </p:cNvCxnSpPr>
          <p:nvPr/>
        </p:nvCxnSpPr>
        <p:spPr bwMode="auto">
          <a:xfrm rot="5400000">
            <a:off x="6085682" y="1686719"/>
            <a:ext cx="474662" cy="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5861" name="AutoShape 23"/>
          <p:cNvCxnSpPr>
            <a:cxnSpLocks noChangeShapeType="1"/>
            <a:stCxn id="35845" idx="2"/>
            <a:endCxn id="35858" idx="0"/>
          </p:cNvCxnSpPr>
          <p:nvPr/>
        </p:nvCxnSpPr>
        <p:spPr bwMode="auto">
          <a:xfrm rot="5400000">
            <a:off x="6076157" y="2639219"/>
            <a:ext cx="493712" cy="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5862" name="AutoShape 24"/>
          <p:cNvCxnSpPr>
            <a:cxnSpLocks noChangeShapeType="1"/>
            <a:stCxn id="35854" idx="1"/>
            <a:endCxn id="35847" idx="0"/>
          </p:cNvCxnSpPr>
          <p:nvPr/>
        </p:nvCxnSpPr>
        <p:spPr bwMode="auto">
          <a:xfrm rot="5400000">
            <a:off x="2947987" y="4154488"/>
            <a:ext cx="504825" cy="6350"/>
          </a:xfrm>
          <a:prstGeom prst="bentConnector3">
            <a:avLst>
              <a:gd name="adj1" fmla="val 49056"/>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35863" name="AutoShape 25"/>
          <p:cNvCxnSpPr>
            <a:cxnSpLocks noChangeShapeType="1"/>
            <a:stCxn id="35855" idx="0"/>
            <a:endCxn id="35848" idx="0"/>
          </p:cNvCxnSpPr>
          <p:nvPr/>
        </p:nvCxnSpPr>
        <p:spPr bwMode="auto">
          <a:xfrm rot="-5400000" flipH="1" flipV="1">
            <a:off x="5596731" y="4136232"/>
            <a:ext cx="542925" cy="4762"/>
          </a:xfrm>
          <a:prstGeom prst="bentConnector3">
            <a:avLst>
              <a:gd name="adj1" fmla="val 59648"/>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35864" name="AutoShape 27"/>
          <p:cNvCxnSpPr>
            <a:cxnSpLocks noChangeShapeType="1"/>
            <a:stCxn id="35848" idx="2"/>
            <a:endCxn id="35856" idx="0"/>
          </p:cNvCxnSpPr>
          <p:nvPr/>
        </p:nvCxnSpPr>
        <p:spPr bwMode="auto">
          <a:xfrm rot="16200000" flipH="1">
            <a:off x="5611813" y="5132388"/>
            <a:ext cx="512762" cy="4762"/>
          </a:xfrm>
          <a:prstGeom prst="bentConnector3">
            <a:avLst>
              <a:gd name="adj1" fmla="val 50773"/>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35865" name="Line 28"/>
          <p:cNvSpPr>
            <a:spLocks noChangeShapeType="1"/>
          </p:cNvSpPr>
          <p:nvPr/>
        </p:nvSpPr>
        <p:spPr bwMode="auto">
          <a:xfrm>
            <a:off x="4346575" y="5410200"/>
            <a:ext cx="0" cy="304800"/>
          </a:xfrm>
          <a:prstGeom prst="line">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cxnSp>
        <p:nvCxnSpPr>
          <p:cNvPr id="35866" name="AutoShape 29"/>
          <p:cNvCxnSpPr>
            <a:cxnSpLocks noChangeShapeType="1"/>
            <a:stCxn id="35850" idx="2"/>
            <a:endCxn id="35851" idx="0"/>
          </p:cNvCxnSpPr>
          <p:nvPr/>
        </p:nvCxnSpPr>
        <p:spPr bwMode="auto">
          <a:xfrm rot="5400000">
            <a:off x="4241007" y="6280944"/>
            <a:ext cx="201612" cy="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5867" name="AutoShape 30"/>
          <p:cNvCxnSpPr>
            <a:cxnSpLocks noChangeShapeType="1"/>
            <a:stCxn id="35844" idx="4"/>
            <a:endCxn id="35843" idx="0"/>
          </p:cNvCxnSpPr>
          <p:nvPr/>
        </p:nvCxnSpPr>
        <p:spPr bwMode="auto">
          <a:xfrm rot="5400000">
            <a:off x="6175375" y="833438"/>
            <a:ext cx="295275" cy="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35868" name="Rectangle 31"/>
          <p:cNvSpPr>
            <a:spLocks noChangeArrowheads="1"/>
          </p:cNvSpPr>
          <p:nvPr/>
        </p:nvSpPr>
        <p:spPr bwMode="auto">
          <a:xfrm>
            <a:off x="7415213" y="2627313"/>
            <a:ext cx="588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a:latin typeface="Arial Narrow" pitchFamily="34" charset="0"/>
                <a:ea typeface="宋体" charset="-122"/>
              </a:rPr>
              <a:t>else</a:t>
            </a:r>
          </a:p>
        </p:txBody>
      </p:sp>
      <p:sp>
        <p:nvSpPr>
          <p:cNvPr id="35869" name="Rectangle 32"/>
          <p:cNvSpPr>
            <a:spLocks noChangeArrowheads="1"/>
          </p:cNvSpPr>
          <p:nvPr/>
        </p:nvSpPr>
        <p:spPr bwMode="auto">
          <a:xfrm>
            <a:off x="4313238" y="2627313"/>
            <a:ext cx="170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spcBef>
                <a:spcPct val="0"/>
              </a:spcBef>
            </a:pPr>
            <a:r>
              <a:rPr kumimoji="0" lang="en-US" altLang="zh-CN" sz="2000">
                <a:latin typeface="Arial Narrow" pitchFamily="34" charset="0"/>
                <a:ea typeface="宋体" charset="-122"/>
              </a:rPr>
              <a:t>[condition true]</a:t>
            </a:r>
          </a:p>
        </p:txBody>
      </p:sp>
      <p:sp>
        <p:nvSpPr>
          <p:cNvPr id="35870" name="Rectangle 33"/>
          <p:cNvSpPr>
            <a:spLocks noChangeArrowheads="1"/>
          </p:cNvSpPr>
          <p:nvPr/>
        </p:nvSpPr>
        <p:spPr bwMode="auto">
          <a:xfrm>
            <a:off x="6937375" y="3886200"/>
            <a:ext cx="915988"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spcBef>
                <a:spcPct val="0"/>
              </a:spcBef>
            </a:pPr>
            <a:r>
              <a:rPr kumimoji="0" lang="en-US" altLang="zh-CN" sz="9600" b="0">
                <a:latin typeface="Courier New" pitchFamily="49" charset="0"/>
                <a:ea typeface="宋体" charset="-122"/>
              </a:rPr>
              <a:t>}</a:t>
            </a:r>
          </a:p>
        </p:txBody>
      </p:sp>
      <p:sp>
        <p:nvSpPr>
          <p:cNvPr id="35871" name="Rectangle 34"/>
          <p:cNvSpPr>
            <a:spLocks noChangeArrowheads="1"/>
          </p:cNvSpPr>
          <p:nvPr/>
        </p:nvSpPr>
        <p:spPr bwMode="auto">
          <a:xfrm>
            <a:off x="7699375" y="4313238"/>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2000"/>
              <a:t>并行</a:t>
            </a:r>
          </a:p>
        </p:txBody>
      </p:sp>
      <p:sp>
        <p:nvSpPr>
          <p:cNvPr id="35872" name="Line 35"/>
          <p:cNvSpPr>
            <a:spLocks noChangeShapeType="1"/>
          </p:cNvSpPr>
          <p:nvPr/>
        </p:nvSpPr>
        <p:spPr bwMode="auto">
          <a:xfrm flipH="1">
            <a:off x="4346575" y="3124200"/>
            <a:ext cx="1828800"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cxnSp>
        <p:nvCxnSpPr>
          <p:cNvPr id="35873" name="AutoShape 36"/>
          <p:cNvCxnSpPr>
            <a:cxnSpLocks noChangeShapeType="1"/>
          </p:cNvCxnSpPr>
          <p:nvPr/>
        </p:nvCxnSpPr>
        <p:spPr bwMode="auto">
          <a:xfrm rot="16200000" flipH="1">
            <a:off x="2960687" y="5130801"/>
            <a:ext cx="512763" cy="4762"/>
          </a:xfrm>
          <a:prstGeom prst="bentConnector3">
            <a:avLst>
              <a:gd name="adj1" fmla="val 50773"/>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98861277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274638"/>
            <a:ext cx="8305800" cy="1143000"/>
          </a:xfrm>
        </p:spPr>
        <p:txBody>
          <a:bodyPr/>
          <a:lstStyle/>
          <a:p>
            <a:pPr eaLnBrk="1" hangingPunct="1"/>
            <a:r>
              <a:rPr lang="zh-CN" altLang="en-US" b="1" smtClean="0">
                <a:solidFill>
                  <a:schemeClr val="accent2"/>
                </a:solidFill>
                <a:ea typeface="楷体_GB2312" pitchFamily="49" charset="-122"/>
              </a:rPr>
              <a:t>规则链的类模型</a:t>
            </a:r>
          </a:p>
        </p:txBody>
      </p:sp>
      <p:sp>
        <p:nvSpPr>
          <p:cNvPr id="37891" name="Rectangle 34"/>
          <p:cNvSpPr>
            <a:spLocks noChangeArrowheads="1"/>
          </p:cNvSpPr>
          <p:nvPr/>
        </p:nvSpPr>
        <p:spPr bwMode="auto">
          <a:xfrm>
            <a:off x="5521325" y="2190750"/>
            <a:ext cx="2160588" cy="14525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eaLnBrk="0" hangingPunct="0">
              <a:spcBef>
                <a:spcPct val="0"/>
              </a:spcBef>
            </a:pPr>
            <a:r>
              <a:rPr kumimoji="0" lang="en-US" altLang="zh-CN" u="sng">
                <a:latin typeface="Arial Narrow" pitchFamily="34" charset="0"/>
                <a:ea typeface="宋体" charset="-122"/>
              </a:rPr>
              <a:t>Rule</a:t>
            </a:r>
            <a:endParaRPr kumimoji="0" lang="en-US" altLang="zh-CN">
              <a:latin typeface="Arial Narrow" pitchFamily="34" charset="0"/>
              <a:ea typeface="宋体" charset="-122"/>
            </a:endParaRPr>
          </a:p>
          <a:p>
            <a:pPr eaLnBrk="0" hangingPunct="0">
              <a:spcBef>
                <a:spcPct val="0"/>
              </a:spcBef>
            </a:pPr>
            <a:r>
              <a:rPr kumimoji="0" lang="en-US" altLang="zh-CN" sz="2000">
                <a:latin typeface="Arial Narrow" pitchFamily="34" charset="0"/>
                <a:ea typeface="宋体" charset="-122"/>
              </a:rPr>
              <a:t>addRule()</a:t>
            </a:r>
          </a:p>
          <a:p>
            <a:pPr eaLnBrk="0" hangingPunct="0">
              <a:spcBef>
                <a:spcPct val="0"/>
              </a:spcBef>
            </a:pPr>
            <a:r>
              <a:rPr kumimoji="0" lang="en-US" altLang="zh-CN" sz="2000">
                <a:latin typeface="Arial Narrow" pitchFamily="34" charset="0"/>
                <a:ea typeface="宋体" charset="-122"/>
              </a:rPr>
              <a:t>proveAntecedents()</a:t>
            </a:r>
          </a:p>
          <a:p>
            <a:pPr eaLnBrk="0" hangingPunct="0">
              <a:spcBef>
                <a:spcPct val="0"/>
              </a:spcBef>
            </a:pPr>
            <a:r>
              <a:rPr kumimoji="0" lang="en-US" altLang="zh-CN" sz="2000">
                <a:latin typeface="Arial Narrow" pitchFamily="34" charset="0"/>
                <a:ea typeface="宋体" charset="-122"/>
              </a:rPr>
              <a:t>forwardChain()</a:t>
            </a:r>
            <a:endParaRPr kumimoji="0" lang="en-US" altLang="zh-CN">
              <a:latin typeface="Arial Narrow" pitchFamily="34" charset="0"/>
              <a:ea typeface="宋体" charset="-122"/>
            </a:endParaRPr>
          </a:p>
        </p:txBody>
      </p:sp>
      <p:sp>
        <p:nvSpPr>
          <p:cNvPr id="37892" name="Rectangle 35"/>
          <p:cNvSpPr>
            <a:spLocks noChangeArrowheads="1"/>
          </p:cNvSpPr>
          <p:nvPr/>
        </p:nvSpPr>
        <p:spPr bwMode="auto">
          <a:xfrm>
            <a:off x="1471613" y="2195513"/>
            <a:ext cx="1408112" cy="14525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eaLnBrk="0" hangingPunct="0">
              <a:spcBef>
                <a:spcPct val="0"/>
              </a:spcBef>
            </a:pPr>
            <a:r>
              <a:rPr kumimoji="0" lang="en-US" altLang="zh-CN" u="sng">
                <a:latin typeface="Arial Narrow" pitchFamily="34" charset="0"/>
                <a:ea typeface="宋体" charset="-122"/>
              </a:rPr>
              <a:t>Fact</a:t>
            </a:r>
            <a:endParaRPr kumimoji="0" lang="en-US" altLang="zh-CN">
              <a:latin typeface="Arial Narrow" pitchFamily="34" charset="0"/>
              <a:ea typeface="宋体" charset="-122"/>
            </a:endParaRPr>
          </a:p>
          <a:p>
            <a:pPr eaLnBrk="0" hangingPunct="0">
              <a:spcBef>
                <a:spcPct val="0"/>
              </a:spcBef>
            </a:pPr>
            <a:r>
              <a:rPr kumimoji="0" lang="en-US" altLang="zh-CN" sz="2000" u="sng">
                <a:latin typeface="Arial Narrow" pitchFamily="34" charset="0"/>
                <a:ea typeface="宋体" charset="-122"/>
              </a:rPr>
              <a:t>content</a:t>
            </a:r>
            <a:endParaRPr kumimoji="0" lang="en-US" altLang="zh-CN" sz="2000">
              <a:latin typeface="Arial Narrow" pitchFamily="34" charset="0"/>
              <a:ea typeface="宋体" charset="-122"/>
            </a:endParaRPr>
          </a:p>
          <a:p>
            <a:pPr eaLnBrk="0" hangingPunct="0">
              <a:spcBef>
                <a:spcPct val="0"/>
              </a:spcBef>
            </a:pPr>
            <a:r>
              <a:rPr kumimoji="0" lang="en-US" altLang="zh-CN" sz="2000">
                <a:latin typeface="Arial Narrow" pitchFamily="34" charset="0"/>
                <a:ea typeface="宋体" charset="-122"/>
              </a:rPr>
              <a:t>addFact()</a:t>
            </a:r>
          </a:p>
          <a:p>
            <a:pPr eaLnBrk="0" hangingPunct="0">
              <a:spcBef>
                <a:spcPct val="0"/>
              </a:spcBef>
            </a:pPr>
            <a:r>
              <a:rPr kumimoji="0" lang="en-US" altLang="zh-CN" sz="2000">
                <a:latin typeface="Arial Narrow" pitchFamily="34" charset="0"/>
                <a:ea typeface="宋体" charset="-122"/>
              </a:rPr>
              <a:t>proveBack()</a:t>
            </a:r>
            <a:endParaRPr kumimoji="0" lang="en-US" altLang="zh-CN">
              <a:latin typeface="Arial Narrow" pitchFamily="34" charset="0"/>
              <a:ea typeface="宋体" charset="-122"/>
            </a:endParaRPr>
          </a:p>
        </p:txBody>
      </p:sp>
      <p:sp>
        <p:nvSpPr>
          <p:cNvPr id="37893" name="AutoShape 36"/>
          <p:cNvSpPr>
            <a:spLocks noChangeArrowheads="1"/>
          </p:cNvSpPr>
          <p:nvPr/>
        </p:nvSpPr>
        <p:spPr bwMode="auto">
          <a:xfrm>
            <a:off x="4953000" y="2805113"/>
            <a:ext cx="533400" cy="228600"/>
          </a:xfrm>
          <a:prstGeom prst="diamond">
            <a:avLst/>
          </a:prstGeom>
          <a:solidFill>
            <a:schemeClr val="bg1"/>
          </a:solidFill>
          <a:ln w="19050">
            <a:solidFill>
              <a:schemeClr val="tx1"/>
            </a:solidFill>
            <a:miter lim="800000"/>
            <a:headEnd/>
            <a:tailEnd/>
          </a:ln>
        </p:spPr>
        <p:txBody>
          <a:bodyPr wrap="none" anchor="ctr"/>
          <a:lstStyle/>
          <a:p>
            <a:endParaRPr lang="zh-CN" altLang="en-US"/>
          </a:p>
        </p:txBody>
      </p:sp>
      <p:cxnSp>
        <p:nvCxnSpPr>
          <p:cNvPr id="37894" name="AutoShape 37"/>
          <p:cNvCxnSpPr>
            <a:cxnSpLocks noChangeShapeType="1"/>
            <a:stCxn id="37893" idx="1"/>
            <a:endCxn id="37892" idx="3"/>
          </p:cNvCxnSpPr>
          <p:nvPr/>
        </p:nvCxnSpPr>
        <p:spPr bwMode="auto">
          <a:xfrm rot="10800000" flipV="1">
            <a:off x="2889250" y="2919413"/>
            <a:ext cx="2054225" cy="3175"/>
          </a:xfrm>
          <a:prstGeom prst="bentConnector3">
            <a:avLst>
              <a:gd name="adj1" fmla="val 50000"/>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37895" name="Rectangle 38"/>
          <p:cNvSpPr>
            <a:spLocks noChangeArrowheads="1"/>
          </p:cNvSpPr>
          <p:nvPr/>
        </p:nvSpPr>
        <p:spPr bwMode="auto">
          <a:xfrm>
            <a:off x="3729038" y="2333625"/>
            <a:ext cx="6445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1800">
                <a:latin typeface="Arial Narrow" pitchFamily="34" charset="0"/>
              </a:rPr>
              <a:t>前项</a:t>
            </a:r>
          </a:p>
        </p:txBody>
      </p:sp>
      <p:sp>
        <p:nvSpPr>
          <p:cNvPr id="37896" name="Rectangle 39"/>
          <p:cNvSpPr>
            <a:spLocks noChangeArrowheads="1"/>
          </p:cNvSpPr>
          <p:nvPr/>
        </p:nvSpPr>
        <p:spPr bwMode="auto">
          <a:xfrm>
            <a:off x="3729038" y="3019425"/>
            <a:ext cx="6445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zh-CN" altLang="en-US" sz="1800">
                <a:latin typeface="Arial Narrow" pitchFamily="34" charset="0"/>
              </a:rPr>
              <a:t>后项</a:t>
            </a:r>
          </a:p>
        </p:txBody>
      </p:sp>
      <p:cxnSp>
        <p:nvCxnSpPr>
          <p:cNvPr id="37897" name="AutoShape 40"/>
          <p:cNvCxnSpPr>
            <a:cxnSpLocks noChangeShapeType="1"/>
            <a:stCxn id="37892" idx="2"/>
            <a:endCxn id="37891" idx="2"/>
          </p:cNvCxnSpPr>
          <p:nvPr/>
        </p:nvCxnSpPr>
        <p:spPr bwMode="auto">
          <a:xfrm rot="5400000" flipH="1" flipV="1">
            <a:off x="4387057" y="1442244"/>
            <a:ext cx="4762" cy="4425950"/>
          </a:xfrm>
          <a:prstGeom prst="bentConnector3">
            <a:avLst>
              <a:gd name="adj1" fmla="val -10833333"/>
            </a:avLst>
          </a:prstGeom>
          <a:noFill/>
          <a:ln w="19050">
            <a:solidFill>
              <a:schemeClr val="tx1"/>
            </a:solidFill>
            <a:prstDash val="lgDash"/>
            <a:miter lim="800000"/>
            <a:headEnd/>
            <a:tailEnd type="arrow" w="med" len="med"/>
          </a:ln>
          <a:extLst>
            <a:ext uri="{909E8E84-426E-40DD-AFC4-6F175D3DCCD1}">
              <a14:hiddenFill xmlns:a14="http://schemas.microsoft.com/office/drawing/2010/main">
                <a:noFill/>
              </a14:hiddenFill>
            </a:ext>
          </a:extLst>
        </p:spPr>
      </p:cxnSp>
      <p:sp>
        <p:nvSpPr>
          <p:cNvPr id="37898" name="AutoShape 41"/>
          <p:cNvSpPr>
            <a:spLocks noChangeArrowheads="1"/>
          </p:cNvSpPr>
          <p:nvPr/>
        </p:nvSpPr>
        <p:spPr bwMode="auto">
          <a:xfrm>
            <a:off x="914400" y="2881313"/>
            <a:ext cx="533400" cy="228600"/>
          </a:xfrm>
          <a:prstGeom prst="diamond">
            <a:avLst/>
          </a:prstGeom>
          <a:solidFill>
            <a:schemeClr val="bg1"/>
          </a:solidFill>
          <a:ln w="19050">
            <a:solidFill>
              <a:schemeClr val="tx1"/>
            </a:solidFill>
            <a:miter lim="800000"/>
            <a:headEnd/>
            <a:tailEnd/>
          </a:ln>
        </p:spPr>
        <p:txBody>
          <a:bodyPr wrap="none" anchor="ctr"/>
          <a:lstStyle/>
          <a:p>
            <a:endParaRPr lang="zh-CN" altLang="en-US"/>
          </a:p>
        </p:txBody>
      </p:sp>
      <p:sp>
        <p:nvSpPr>
          <p:cNvPr id="37899" name="AutoShape 42"/>
          <p:cNvSpPr>
            <a:spLocks noChangeArrowheads="1"/>
          </p:cNvSpPr>
          <p:nvPr/>
        </p:nvSpPr>
        <p:spPr bwMode="auto">
          <a:xfrm>
            <a:off x="7696200" y="2805113"/>
            <a:ext cx="533400" cy="228600"/>
          </a:xfrm>
          <a:prstGeom prst="diamond">
            <a:avLst/>
          </a:prstGeom>
          <a:solidFill>
            <a:schemeClr val="bg1"/>
          </a:solidFill>
          <a:ln w="19050">
            <a:solidFill>
              <a:schemeClr val="tx1"/>
            </a:solidFill>
            <a:miter lim="800000"/>
            <a:headEnd/>
            <a:tailEnd/>
          </a:ln>
        </p:spPr>
        <p:txBody>
          <a:bodyPr wrap="none" anchor="ctr"/>
          <a:lstStyle/>
          <a:p>
            <a:endParaRPr lang="zh-CN" altLang="en-US"/>
          </a:p>
        </p:txBody>
      </p:sp>
      <p:cxnSp>
        <p:nvCxnSpPr>
          <p:cNvPr id="37900" name="AutoShape 43"/>
          <p:cNvCxnSpPr>
            <a:cxnSpLocks noChangeShapeType="1"/>
            <a:stCxn id="37899" idx="3"/>
            <a:endCxn id="37891" idx="0"/>
          </p:cNvCxnSpPr>
          <p:nvPr/>
        </p:nvCxnSpPr>
        <p:spPr bwMode="auto">
          <a:xfrm flipH="1" flipV="1">
            <a:off x="6602413" y="2181225"/>
            <a:ext cx="1636712" cy="738188"/>
          </a:xfrm>
          <a:prstGeom prst="bentConnector4">
            <a:avLst>
              <a:gd name="adj1" fmla="val -13384"/>
              <a:gd name="adj2" fmla="val 196125"/>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37901" name="AutoShape 44"/>
          <p:cNvCxnSpPr>
            <a:cxnSpLocks noChangeShapeType="1"/>
            <a:stCxn id="37898" idx="1"/>
            <a:endCxn id="37892" idx="0"/>
          </p:cNvCxnSpPr>
          <p:nvPr/>
        </p:nvCxnSpPr>
        <p:spPr bwMode="auto">
          <a:xfrm rot="10800000" flipH="1">
            <a:off x="904875" y="2185988"/>
            <a:ext cx="1271588" cy="809625"/>
          </a:xfrm>
          <a:prstGeom prst="bentConnector4">
            <a:avLst>
              <a:gd name="adj1" fmla="val -17227"/>
              <a:gd name="adj2" fmla="val 181176"/>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37902" name="Rectangle 45"/>
          <p:cNvSpPr>
            <a:spLocks noChangeArrowheads="1"/>
          </p:cNvSpPr>
          <p:nvPr/>
        </p:nvSpPr>
        <p:spPr bwMode="auto">
          <a:xfrm>
            <a:off x="682625" y="1128713"/>
            <a:ext cx="1527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a:latin typeface="Arial Narrow" pitchFamily="34" charset="0"/>
                <a:ea typeface="宋体" charset="-122"/>
              </a:rPr>
              <a:t>static factList</a:t>
            </a:r>
          </a:p>
        </p:txBody>
      </p:sp>
      <p:sp>
        <p:nvSpPr>
          <p:cNvPr id="37903" name="Rectangle 46"/>
          <p:cNvSpPr>
            <a:spLocks noChangeArrowheads="1"/>
          </p:cNvSpPr>
          <p:nvPr/>
        </p:nvSpPr>
        <p:spPr bwMode="auto">
          <a:xfrm>
            <a:off x="6640513" y="1066800"/>
            <a:ext cx="1665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a:latin typeface="Arial Narrow" pitchFamily="34" charset="0"/>
                <a:ea typeface="宋体" charset="-122"/>
              </a:rPr>
              <a:t>static ruleBase</a:t>
            </a:r>
          </a:p>
        </p:txBody>
      </p:sp>
      <p:sp>
        <p:nvSpPr>
          <p:cNvPr id="37904" name="Text Box 47"/>
          <p:cNvSpPr txBox="1">
            <a:spLocks noChangeArrowheads="1"/>
          </p:cNvSpPr>
          <p:nvPr/>
        </p:nvSpPr>
        <p:spPr bwMode="auto">
          <a:xfrm>
            <a:off x="1219200" y="4572000"/>
            <a:ext cx="6781800" cy="1333500"/>
          </a:xfrm>
          <a:prstGeom prst="rect">
            <a:avLst/>
          </a:prstGeom>
          <a:solidFill>
            <a:srgbClr val="FFFFD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lnSpc>
                <a:spcPct val="80000"/>
              </a:lnSpc>
            </a:pPr>
            <a:r>
              <a:rPr kumimoji="0" lang="zh-CN" altLang="en-US" sz="2400">
                <a:latin typeface="Arial Narrow" pitchFamily="34" charset="0"/>
              </a:rPr>
              <a:t>将已知事实设置为</a:t>
            </a:r>
            <a:r>
              <a:rPr kumimoji="0" lang="zh-CN" altLang="en-US" sz="2400">
                <a:latin typeface="Arial Narrow" pitchFamily="34" charset="0"/>
                <a:ea typeface="宋体" charset="-122"/>
              </a:rPr>
              <a:t> </a:t>
            </a:r>
            <a:r>
              <a:rPr kumimoji="0" lang="en-US" altLang="zh-CN" sz="2400">
                <a:latin typeface="Arial Narrow" pitchFamily="34" charset="0"/>
                <a:ea typeface="宋体" charset="-122"/>
              </a:rPr>
              <a:t>Fact.factList</a:t>
            </a:r>
            <a:r>
              <a:rPr kumimoji="0" lang="zh-CN" altLang="en-US" sz="2400">
                <a:latin typeface="Arial Narrow" pitchFamily="34" charset="0"/>
                <a:ea typeface="宋体" charset="-122"/>
              </a:rPr>
              <a:t>，</a:t>
            </a:r>
            <a:r>
              <a:rPr kumimoji="0" lang="zh-CN" altLang="en-US" sz="2400">
                <a:latin typeface="Arial Narrow" pitchFamily="34" charset="0"/>
              </a:rPr>
              <a:t>已知规则</a:t>
            </a:r>
          </a:p>
          <a:p>
            <a:pPr algn="l">
              <a:lnSpc>
                <a:spcPct val="80000"/>
              </a:lnSpc>
            </a:pPr>
            <a:r>
              <a:rPr kumimoji="0" lang="zh-CN" altLang="en-US" sz="2400">
                <a:latin typeface="Arial Narrow" pitchFamily="34" charset="0"/>
                <a:ea typeface="宋体" charset="-122"/>
              </a:rPr>
              <a:t> </a:t>
            </a:r>
            <a:r>
              <a:rPr kumimoji="0" lang="zh-CN" altLang="en-US" sz="2400">
                <a:latin typeface="Arial Narrow" pitchFamily="34" charset="0"/>
              </a:rPr>
              <a:t>保存为</a:t>
            </a:r>
            <a:r>
              <a:rPr kumimoji="0" lang="zh-CN" altLang="en-US" sz="2400">
                <a:latin typeface="Arial Narrow" pitchFamily="34" charset="0"/>
                <a:ea typeface="宋体" charset="-122"/>
              </a:rPr>
              <a:t> </a:t>
            </a:r>
            <a:r>
              <a:rPr kumimoji="0" lang="en-US" altLang="zh-CN" sz="2400">
                <a:latin typeface="Arial Narrow" pitchFamily="34" charset="0"/>
                <a:ea typeface="宋体" charset="-122"/>
              </a:rPr>
              <a:t>Rule.ruleBase</a:t>
            </a:r>
            <a:r>
              <a:rPr kumimoji="0" lang="zh-CN" altLang="en-US" sz="2400">
                <a:latin typeface="Arial Narrow" pitchFamily="34" charset="0"/>
                <a:ea typeface="宋体" charset="-122"/>
              </a:rPr>
              <a:t>。</a:t>
            </a:r>
            <a:r>
              <a:rPr kumimoji="0" lang="zh-CN" altLang="en-US" sz="2400">
                <a:latin typeface="Arial Narrow" pitchFamily="34" charset="0"/>
              </a:rPr>
              <a:t>创建事实对象</a:t>
            </a:r>
            <a:r>
              <a:rPr kumimoji="0" lang="zh-CN" altLang="en-US" sz="2400">
                <a:latin typeface="Arial Narrow" pitchFamily="34" charset="0"/>
                <a:ea typeface="宋体" charset="-122"/>
              </a:rPr>
              <a:t> </a:t>
            </a:r>
            <a:r>
              <a:rPr kumimoji="0" lang="en-US" altLang="zh-CN" sz="2400">
                <a:latin typeface="Arial Narrow" pitchFamily="34" charset="0"/>
                <a:ea typeface="宋体" charset="-122"/>
              </a:rPr>
              <a:t>soughtFact</a:t>
            </a:r>
            <a:r>
              <a:rPr kumimoji="0" lang="zh-CN" altLang="en-US" sz="2400">
                <a:latin typeface="Arial Narrow" pitchFamily="34" charset="0"/>
                <a:ea typeface="宋体" charset="-122"/>
              </a:rPr>
              <a:t>，</a:t>
            </a:r>
          </a:p>
          <a:p>
            <a:pPr algn="l">
              <a:lnSpc>
                <a:spcPct val="80000"/>
              </a:lnSpc>
            </a:pPr>
            <a:r>
              <a:rPr kumimoji="0" lang="zh-CN" altLang="en-US" sz="2400">
                <a:latin typeface="Arial Narrow" pitchFamily="34" charset="0"/>
              </a:rPr>
              <a:t>执行</a:t>
            </a:r>
            <a:r>
              <a:rPr kumimoji="0" lang="zh-CN" altLang="en-US" sz="2400">
                <a:latin typeface="Arial Narrow" pitchFamily="34" charset="0"/>
                <a:ea typeface="宋体" charset="-122"/>
              </a:rPr>
              <a:t> </a:t>
            </a:r>
            <a:r>
              <a:rPr kumimoji="0" lang="en-US" altLang="zh-CN" sz="2400">
                <a:latin typeface="Arial Narrow" pitchFamily="34" charset="0"/>
                <a:ea typeface="宋体" charset="-122"/>
              </a:rPr>
              <a:t>soughtFact.proveBack( ruleBase );</a:t>
            </a:r>
          </a:p>
        </p:txBody>
      </p:sp>
      <p:sp>
        <p:nvSpPr>
          <p:cNvPr id="37905" name="Rectangle 48"/>
          <p:cNvSpPr>
            <a:spLocks noChangeArrowheads="1"/>
          </p:cNvSpPr>
          <p:nvPr/>
        </p:nvSpPr>
        <p:spPr bwMode="auto">
          <a:xfrm>
            <a:off x="3189288" y="2360613"/>
            <a:ext cx="288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1800">
                <a:latin typeface="Arial Narrow" pitchFamily="34" charset="0"/>
                <a:ea typeface="宋体" charset="-122"/>
              </a:rPr>
              <a:t>1</a:t>
            </a:r>
          </a:p>
        </p:txBody>
      </p:sp>
      <p:sp>
        <p:nvSpPr>
          <p:cNvPr id="37906" name="Rectangle 49"/>
          <p:cNvSpPr>
            <a:spLocks noChangeArrowheads="1"/>
          </p:cNvSpPr>
          <p:nvPr/>
        </p:nvSpPr>
        <p:spPr bwMode="auto">
          <a:xfrm>
            <a:off x="3189288" y="3033713"/>
            <a:ext cx="508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1800">
                <a:latin typeface="Arial Narrow" pitchFamily="34" charset="0"/>
                <a:ea typeface="宋体" charset="-122"/>
              </a:rPr>
              <a:t>1..n</a:t>
            </a:r>
          </a:p>
        </p:txBody>
      </p:sp>
    </p:spTree>
    <p:extLst>
      <p:ext uri="{BB962C8B-B14F-4D97-AF65-F5344CB8AC3E}">
        <p14:creationId xmlns:p14="http://schemas.microsoft.com/office/powerpoint/2010/main" val="37385384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57200" y="152400"/>
            <a:ext cx="8305800" cy="1143000"/>
          </a:xfrm>
        </p:spPr>
        <p:txBody>
          <a:bodyPr/>
          <a:lstStyle/>
          <a:p>
            <a:pPr eaLnBrk="1" hangingPunct="1"/>
            <a:r>
              <a:rPr lang="en-US" altLang="zh-CN" sz="4000" b="1" smtClean="0">
                <a:solidFill>
                  <a:schemeClr val="accent2"/>
                </a:solidFill>
                <a:ea typeface="楷体_GB2312" pitchFamily="49" charset="-122"/>
              </a:rPr>
              <a:t>soughtFact.proveBack()</a:t>
            </a:r>
            <a:r>
              <a:rPr lang="zh-CN" altLang="en-US" sz="4000" b="1" smtClean="0">
                <a:solidFill>
                  <a:schemeClr val="accent2"/>
                </a:solidFill>
                <a:ea typeface="楷体_GB2312" pitchFamily="49" charset="-122"/>
              </a:rPr>
              <a:t>的流程图</a:t>
            </a:r>
          </a:p>
        </p:txBody>
      </p:sp>
      <p:cxnSp>
        <p:nvCxnSpPr>
          <p:cNvPr id="38915" name="AutoShape 19"/>
          <p:cNvCxnSpPr>
            <a:cxnSpLocks noChangeShapeType="1"/>
            <a:stCxn id="38925" idx="1"/>
            <a:endCxn id="38923" idx="0"/>
          </p:cNvCxnSpPr>
          <p:nvPr/>
        </p:nvCxnSpPr>
        <p:spPr bwMode="auto">
          <a:xfrm rot="10800000" flipV="1">
            <a:off x="1373188" y="1866900"/>
            <a:ext cx="347662" cy="4524375"/>
          </a:xfrm>
          <a:prstGeom prst="bentConnector2">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38916" name="AutoShape 20"/>
          <p:cNvCxnSpPr>
            <a:cxnSpLocks noChangeShapeType="1"/>
            <a:stCxn id="38925" idx="3"/>
          </p:cNvCxnSpPr>
          <p:nvPr/>
        </p:nvCxnSpPr>
        <p:spPr bwMode="auto">
          <a:xfrm>
            <a:off x="2120900" y="1866900"/>
            <a:ext cx="4008438" cy="1593850"/>
          </a:xfrm>
          <a:prstGeom prst="bentConnector2">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38917" name="AutoShape 21"/>
          <p:cNvCxnSpPr>
            <a:cxnSpLocks noChangeShapeType="1"/>
            <a:stCxn id="38922" idx="2"/>
            <a:endCxn id="38939" idx="0"/>
          </p:cNvCxnSpPr>
          <p:nvPr/>
        </p:nvCxnSpPr>
        <p:spPr bwMode="auto">
          <a:xfrm rot="16200000" flipH="1">
            <a:off x="4217988" y="5368925"/>
            <a:ext cx="666750" cy="6350"/>
          </a:xfrm>
          <a:prstGeom prst="bentConnector3">
            <a:avLst>
              <a:gd name="adj1" fmla="val 50000"/>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38918" name="AutoShape 22"/>
          <p:cNvCxnSpPr>
            <a:cxnSpLocks noChangeShapeType="1"/>
            <a:stCxn id="38939" idx="1"/>
            <a:endCxn id="38923" idx="0"/>
          </p:cNvCxnSpPr>
          <p:nvPr/>
        </p:nvCxnSpPr>
        <p:spPr bwMode="auto">
          <a:xfrm rot="10800000" flipV="1">
            <a:off x="1373188" y="5905500"/>
            <a:ext cx="2981325" cy="485775"/>
          </a:xfrm>
          <a:prstGeom prst="bentConnector2">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38919" name="AutoShape 23"/>
          <p:cNvCxnSpPr>
            <a:cxnSpLocks noChangeShapeType="1"/>
            <a:stCxn id="38939" idx="3"/>
            <a:endCxn id="38936" idx="0"/>
          </p:cNvCxnSpPr>
          <p:nvPr/>
        </p:nvCxnSpPr>
        <p:spPr bwMode="auto">
          <a:xfrm flipV="1">
            <a:off x="4754563" y="3495675"/>
            <a:ext cx="1379537" cy="2409825"/>
          </a:xfrm>
          <a:prstGeom prst="bentConnector4">
            <a:avLst>
              <a:gd name="adj1" fmla="val 288028"/>
              <a:gd name="adj2" fmla="val 167852"/>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38920" name="AutoShape 24"/>
          <p:cNvCxnSpPr>
            <a:cxnSpLocks noChangeShapeType="1"/>
            <a:stCxn id="38936" idx="3"/>
            <a:endCxn id="38924" idx="0"/>
          </p:cNvCxnSpPr>
          <p:nvPr/>
        </p:nvCxnSpPr>
        <p:spPr bwMode="auto">
          <a:xfrm>
            <a:off x="6334125" y="3695700"/>
            <a:ext cx="1066800" cy="704850"/>
          </a:xfrm>
          <a:prstGeom prst="bentConnector2">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38921" name="AutoShape 25"/>
          <p:cNvCxnSpPr>
            <a:cxnSpLocks noChangeShapeType="1"/>
            <a:stCxn id="38936" idx="1"/>
            <a:endCxn id="38922" idx="0"/>
          </p:cNvCxnSpPr>
          <p:nvPr/>
        </p:nvCxnSpPr>
        <p:spPr bwMode="auto">
          <a:xfrm rot="10800000" flipV="1">
            <a:off x="4548188" y="3695700"/>
            <a:ext cx="1385887" cy="536575"/>
          </a:xfrm>
          <a:prstGeom prst="bentConnector2">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38922" name="AutoShape 26"/>
          <p:cNvSpPr>
            <a:spLocks noChangeArrowheads="1"/>
          </p:cNvSpPr>
          <p:nvPr/>
        </p:nvSpPr>
        <p:spPr bwMode="auto">
          <a:xfrm>
            <a:off x="3289300" y="4241800"/>
            <a:ext cx="2516188" cy="787400"/>
          </a:xfrm>
          <a:prstGeom prst="roundRect">
            <a:avLst>
              <a:gd name="adj" fmla="val 16667"/>
            </a:avLst>
          </a:prstGeom>
          <a:solidFill>
            <a:schemeClr val="bg1"/>
          </a:solidFill>
          <a:ln w="19050">
            <a:solidFill>
              <a:schemeClr val="tx1"/>
            </a:solidFill>
            <a:round/>
            <a:headEnd/>
            <a:tailEnd/>
          </a:ln>
        </p:spPr>
        <p:txBody>
          <a:bodyPr wrap="none" anchor="ctr">
            <a:spAutoFit/>
          </a:bodyPr>
          <a:lstStyle/>
          <a:p>
            <a:pPr eaLnBrk="0" hangingPunct="0">
              <a:spcBef>
                <a:spcPct val="0"/>
              </a:spcBef>
            </a:pPr>
            <a:r>
              <a:rPr kumimoji="0" lang="en-US" altLang="zh-CN" sz="2000">
                <a:latin typeface="Arial Narrow" pitchFamily="34" charset="0"/>
                <a:ea typeface="宋体" charset="-122"/>
              </a:rPr>
              <a:t>Apply </a:t>
            </a:r>
          </a:p>
          <a:p>
            <a:pPr eaLnBrk="0" hangingPunct="0">
              <a:spcBef>
                <a:spcPct val="0"/>
              </a:spcBef>
            </a:pPr>
            <a:r>
              <a:rPr kumimoji="0" lang="en-US" altLang="zh-CN" sz="2000" i="1">
                <a:latin typeface="Arial Narrow" pitchFamily="34" charset="0"/>
                <a:ea typeface="宋体" charset="-122"/>
              </a:rPr>
              <a:t>R.proveAntecedents()*</a:t>
            </a:r>
          </a:p>
        </p:txBody>
      </p:sp>
      <p:sp>
        <p:nvSpPr>
          <p:cNvPr id="38923" name="AutoShape 27"/>
          <p:cNvSpPr>
            <a:spLocks noChangeArrowheads="1"/>
          </p:cNvSpPr>
          <p:nvPr/>
        </p:nvSpPr>
        <p:spPr bwMode="auto">
          <a:xfrm>
            <a:off x="606425" y="6400800"/>
            <a:ext cx="1533525" cy="449263"/>
          </a:xfrm>
          <a:prstGeom prst="roundRect">
            <a:avLst>
              <a:gd name="adj" fmla="val 16667"/>
            </a:avLst>
          </a:prstGeom>
          <a:solidFill>
            <a:schemeClr val="bg1"/>
          </a:solidFill>
          <a:ln w="19050">
            <a:solidFill>
              <a:schemeClr val="tx1"/>
            </a:solidFill>
            <a:round/>
            <a:headEnd/>
            <a:tailEnd/>
          </a:ln>
        </p:spPr>
        <p:txBody>
          <a:bodyPr wrap="none" anchor="ctr">
            <a:spAutoFit/>
          </a:bodyPr>
          <a:lstStyle/>
          <a:p>
            <a:pPr eaLnBrk="0" hangingPunct="0">
              <a:spcBef>
                <a:spcPct val="0"/>
              </a:spcBef>
            </a:pPr>
            <a:r>
              <a:rPr kumimoji="0" lang="en-US" altLang="zh-CN" sz="2000">
                <a:latin typeface="Arial Narrow" pitchFamily="34" charset="0"/>
                <a:ea typeface="宋体" charset="-122"/>
              </a:rPr>
              <a:t>Report TRUE</a:t>
            </a:r>
          </a:p>
        </p:txBody>
      </p:sp>
      <p:sp>
        <p:nvSpPr>
          <p:cNvPr id="38924" name="AutoShape 28"/>
          <p:cNvSpPr>
            <a:spLocks noChangeArrowheads="1"/>
          </p:cNvSpPr>
          <p:nvPr/>
        </p:nvSpPr>
        <p:spPr bwMode="auto">
          <a:xfrm>
            <a:off x="6575425" y="4410075"/>
            <a:ext cx="1649413" cy="449263"/>
          </a:xfrm>
          <a:prstGeom prst="roundRect">
            <a:avLst>
              <a:gd name="adj" fmla="val 16667"/>
            </a:avLst>
          </a:prstGeom>
          <a:solidFill>
            <a:schemeClr val="bg1"/>
          </a:solidFill>
          <a:ln w="19050">
            <a:solidFill>
              <a:schemeClr val="tx1"/>
            </a:solidFill>
            <a:round/>
            <a:headEnd/>
            <a:tailEnd/>
          </a:ln>
        </p:spPr>
        <p:txBody>
          <a:bodyPr wrap="none" anchor="ctr">
            <a:spAutoFit/>
          </a:bodyPr>
          <a:lstStyle/>
          <a:p>
            <a:pPr eaLnBrk="0" hangingPunct="0">
              <a:spcBef>
                <a:spcPct val="0"/>
              </a:spcBef>
            </a:pPr>
            <a:r>
              <a:rPr kumimoji="0" lang="en-US" altLang="zh-CN" sz="2000">
                <a:latin typeface="Arial Narrow" pitchFamily="34" charset="0"/>
                <a:ea typeface="宋体" charset="-122"/>
              </a:rPr>
              <a:t>Report </a:t>
            </a:r>
            <a:r>
              <a:rPr kumimoji="0" lang="en-US" altLang="zh-CN" sz="2000" i="1">
                <a:latin typeface="Arial Narrow" pitchFamily="34" charset="0"/>
                <a:ea typeface="宋体" charset="-122"/>
              </a:rPr>
              <a:t>FALSE</a:t>
            </a:r>
          </a:p>
        </p:txBody>
      </p:sp>
      <p:sp>
        <p:nvSpPr>
          <p:cNvPr id="38925" name="AutoShape 29"/>
          <p:cNvSpPr>
            <a:spLocks noChangeArrowheads="1"/>
          </p:cNvSpPr>
          <p:nvPr/>
        </p:nvSpPr>
        <p:spPr bwMode="auto">
          <a:xfrm>
            <a:off x="1730375" y="1676400"/>
            <a:ext cx="381000" cy="381000"/>
          </a:xfrm>
          <a:prstGeom prst="diamond">
            <a:avLst/>
          </a:prstGeom>
          <a:solidFill>
            <a:schemeClr val="bg1"/>
          </a:solidFill>
          <a:ln w="19050">
            <a:solidFill>
              <a:schemeClr val="tx1"/>
            </a:solidFill>
            <a:miter lim="800000"/>
            <a:headEnd/>
            <a:tailEnd/>
          </a:ln>
        </p:spPr>
        <p:txBody>
          <a:bodyPr wrap="none" anchor="ctr"/>
          <a:lstStyle/>
          <a:p>
            <a:endParaRPr lang="zh-CN" altLang="en-US"/>
          </a:p>
        </p:txBody>
      </p:sp>
      <p:sp>
        <p:nvSpPr>
          <p:cNvPr id="38926" name="Rectangle 30"/>
          <p:cNvSpPr>
            <a:spLocks noChangeArrowheads="1"/>
          </p:cNvSpPr>
          <p:nvPr/>
        </p:nvSpPr>
        <p:spPr bwMode="auto">
          <a:xfrm>
            <a:off x="2459038" y="1447800"/>
            <a:ext cx="588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a:latin typeface="Arial Narrow" pitchFamily="34" charset="0"/>
                <a:ea typeface="宋体" charset="-122"/>
              </a:rPr>
              <a:t>else</a:t>
            </a:r>
          </a:p>
        </p:txBody>
      </p:sp>
      <p:sp>
        <p:nvSpPr>
          <p:cNvPr id="38927" name="Rectangle 31"/>
          <p:cNvSpPr>
            <a:spLocks noChangeArrowheads="1"/>
          </p:cNvSpPr>
          <p:nvPr/>
        </p:nvSpPr>
        <p:spPr bwMode="auto">
          <a:xfrm>
            <a:off x="2743200" y="2952750"/>
            <a:ext cx="31242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0" hangingPunct="0">
              <a:lnSpc>
                <a:spcPct val="90000"/>
              </a:lnSpc>
            </a:pPr>
            <a:r>
              <a:rPr kumimoji="0" lang="zh-CN" altLang="en-US" sz="2000">
                <a:latin typeface="Arial Narrow" pitchFamily="34" charset="0"/>
              </a:rPr>
              <a:t>另一个规则</a:t>
            </a:r>
            <a:r>
              <a:rPr kumimoji="0" lang="zh-CN" altLang="en-US" sz="2000">
                <a:latin typeface="Arial Narrow" pitchFamily="34" charset="0"/>
                <a:ea typeface="宋体" charset="-122"/>
              </a:rPr>
              <a:t> </a:t>
            </a:r>
            <a:r>
              <a:rPr kumimoji="0" lang="en-US" altLang="zh-CN" sz="2000" i="1">
                <a:latin typeface="Arial Narrow" pitchFamily="34" charset="0"/>
                <a:ea typeface="宋体" charset="-122"/>
              </a:rPr>
              <a:t>R</a:t>
            </a:r>
            <a:r>
              <a:rPr kumimoji="0" lang="en-US" altLang="zh-CN" sz="2000">
                <a:latin typeface="Arial Narrow" pitchFamily="34" charset="0"/>
                <a:ea typeface="宋体" charset="-122"/>
              </a:rPr>
              <a:t> </a:t>
            </a:r>
            <a:r>
              <a:rPr kumimoji="0" lang="zh-CN" altLang="en-US" sz="2000">
                <a:latin typeface="Arial Narrow" pitchFamily="34" charset="0"/>
              </a:rPr>
              <a:t>作为</a:t>
            </a:r>
            <a:r>
              <a:rPr kumimoji="0" lang="en-US" altLang="zh-CN" sz="2000" i="1">
                <a:latin typeface="Arial Narrow" pitchFamily="34" charset="0"/>
                <a:ea typeface="宋体" charset="-122"/>
              </a:rPr>
              <a:t>soughtFact</a:t>
            </a:r>
            <a:r>
              <a:rPr kumimoji="0" lang="en-US" altLang="zh-CN" sz="2000">
                <a:latin typeface="Arial Narrow" pitchFamily="34" charset="0"/>
                <a:ea typeface="宋体" charset="-122"/>
              </a:rPr>
              <a:t> </a:t>
            </a:r>
            <a:r>
              <a:rPr kumimoji="0" lang="zh-CN" altLang="en-US" sz="2000">
                <a:latin typeface="Arial Narrow" pitchFamily="34" charset="0"/>
              </a:rPr>
              <a:t>的结果和它一起存在</a:t>
            </a:r>
          </a:p>
        </p:txBody>
      </p:sp>
      <p:sp>
        <p:nvSpPr>
          <p:cNvPr id="38928" name="Rectangle 32"/>
          <p:cNvSpPr>
            <a:spLocks noChangeArrowheads="1"/>
          </p:cNvSpPr>
          <p:nvPr/>
        </p:nvSpPr>
        <p:spPr bwMode="auto">
          <a:xfrm>
            <a:off x="6457950" y="3197225"/>
            <a:ext cx="5889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a:latin typeface="Arial Narrow" pitchFamily="34" charset="0"/>
                <a:ea typeface="宋体" charset="-122"/>
              </a:rPr>
              <a:t>else</a:t>
            </a:r>
          </a:p>
        </p:txBody>
      </p:sp>
      <p:sp>
        <p:nvSpPr>
          <p:cNvPr id="38929" name="Rectangle 33"/>
          <p:cNvSpPr>
            <a:spLocks noChangeArrowheads="1"/>
          </p:cNvSpPr>
          <p:nvPr/>
        </p:nvSpPr>
        <p:spPr bwMode="auto">
          <a:xfrm>
            <a:off x="4876800" y="5486400"/>
            <a:ext cx="5889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sz="2000">
                <a:latin typeface="Arial Narrow" pitchFamily="34" charset="0"/>
                <a:ea typeface="宋体" charset="-122"/>
              </a:rPr>
              <a:t>else</a:t>
            </a:r>
          </a:p>
        </p:txBody>
      </p:sp>
      <p:sp>
        <p:nvSpPr>
          <p:cNvPr id="38930" name="Oval 34"/>
          <p:cNvSpPr>
            <a:spLocks noChangeArrowheads="1"/>
          </p:cNvSpPr>
          <p:nvPr/>
        </p:nvSpPr>
        <p:spPr bwMode="auto">
          <a:xfrm>
            <a:off x="1806575" y="1066800"/>
            <a:ext cx="228600" cy="228600"/>
          </a:xfrm>
          <a:prstGeom prst="ellipse">
            <a:avLst/>
          </a:prstGeom>
          <a:solidFill>
            <a:schemeClr val="tx2"/>
          </a:solidFill>
          <a:ln w="19050">
            <a:solidFill>
              <a:schemeClr val="tx1"/>
            </a:solidFill>
            <a:round/>
            <a:headEnd/>
            <a:tailEnd/>
          </a:ln>
        </p:spPr>
        <p:txBody>
          <a:bodyPr wrap="none" anchor="ctr"/>
          <a:lstStyle/>
          <a:p>
            <a:endParaRPr lang="zh-CN" altLang="en-US"/>
          </a:p>
        </p:txBody>
      </p:sp>
      <p:cxnSp>
        <p:nvCxnSpPr>
          <p:cNvPr id="38931" name="AutoShape 35"/>
          <p:cNvCxnSpPr>
            <a:cxnSpLocks noChangeShapeType="1"/>
            <a:stCxn id="38930" idx="4"/>
            <a:endCxn id="38925" idx="0"/>
          </p:cNvCxnSpPr>
          <p:nvPr/>
        </p:nvCxnSpPr>
        <p:spPr bwMode="auto">
          <a:xfrm rot="5400000">
            <a:off x="1739900" y="1485900"/>
            <a:ext cx="361950" cy="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38932" name="Rectangle 36"/>
          <p:cNvSpPr>
            <a:spLocks noChangeArrowheads="1"/>
          </p:cNvSpPr>
          <p:nvPr/>
        </p:nvSpPr>
        <p:spPr bwMode="auto">
          <a:xfrm>
            <a:off x="685800" y="2422525"/>
            <a:ext cx="1371600" cy="5492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0" hangingPunct="0">
              <a:lnSpc>
                <a:spcPct val="50000"/>
              </a:lnSpc>
            </a:pPr>
            <a:r>
              <a:rPr kumimoji="0" lang="en-US" altLang="zh-CN" sz="2000" i="1">
                <a:latin typeface="Arial Narrow" pitchFamily="34" charset="0"/>
                <a:ea typeface="宋体" charset="-122"/>
              </a:rPr>
              <a:t>soughtFact</a:t>
            </a:r>
          </a:p>
          <a:p>
            <a:pPr algn="l" eaLnBrk="0" hangingPunct="0">
              <a:lnSpc>
                <a:spcPct val="50000"/>
              </a:lnSpc>
            </a:pPr>
            <a:r>
              <a:rPr kumimoji="0" lang="en-US" altLang="zh-CN" sz="2000">
                <a:latin typeface="Arial Narrow" pitchFamily="34" charset="0"/>
                <a:ea typeface="宋体" charset="-122"/>
              </a:rPr>
              <a:t>in </a:t>
            </a:r>
            <a:r>
              <a:rPr kumimoji="0" lang="en-US" altLang="zh-CN" sz="2000" i="1">
                <a:latin typeface="Arial Narrow" pitchFamily="34" charset="0"/>
                <a:ea typeface="宋体" charset="-122"/>
              </a:rPr>
              <a:t>factList</a:t>
            </a:r>
            <a:r>
              <a:rPr kumimoji="0" lang="en-US" altLang="zh-CN" sz="2000">
                <a:latin typeface="Arial Narrow" pitchFamily="34" charset="0"/>
                <a:ea typeface="宋体" charset="-122"/>
              </a:rPr>
              <a:t> </a:t>
            </a:r>
          </a:p>
        </p:txBody>
      </p:sp>
      <p:sp>
        <p:nvSpPr>
          <p:cNvPr id="38933" name="Line 37"/>
          <p:cNvSpPr>
            <a:spLocks noChangeShapeType="1"/>
          </p:cNvSpPr>
          <p:nvPr/>
        </p:nvSpPr>
        <p:spPr bwMode="auto">
          <a:xfrm flipH="1">
            <a:off x="2286000" y="990600"/>
            <a:ext cx="22225" cy="5943600"/>
          </a:xfrm>
          <a:prstGeom prst="line">
            <a:avLst/>
          </a:prstGeom>
          <a:noFill/>
          <a:ln w="19050">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4" name="Rectangle 38"/>
          <p:cNvSpPr>
            <a:spLocks noChangeArrowheads="1"/>
          </p:cNvSpPr>
          <p:nvPr/>
        </p:nvSpPr>
        <p:spPr bwMode="auto">
          <a:xfrm>
            <a:off x="512763" y="1081088"/>
            <a:ext cx="7826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u="sng">
                <a:latin typeface="Arial Narrow" pitchFamily="34" charset="0"/>
                <a:ea typeface="宋体" charset="-122"/>
              </a:rPr>
              <a:t>Fact</a:t>
            </a:r>
          </a:p>
        </p:txBody>
      </p:sp>
      <p:sp>
        <p:nvSpPr>
          <p:cNvPr id="38935" name="Rectangle 39"/>
          <p:cNvSpPr>
            <a:spLocks noChangeArrowheads="1"/>
          </p:cNvSpPr>
          <p:nvPr/>
        </p:nvSpPr>
        <p:spPr bwMode="auto">
          <a:xfrm>
            <a:off x="3886200" y="1081088"/>
            <a:ext cx="8159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eaLnBrk="0" hangingPunct="0">
              <a:spcBef>
                <a:spcPct val="0"/>
              </a:spcBef>
            </a:pPr>
            <a:r>
              <a:rPr kumimoji="0" lang="en-US" altLang="zh-CN" u="sng">
                <a:latin typeface="Arial Narrow" pitchFamily="34" charset="0"/>
                <a:ea typeface="宋体" charset="-122"/>
              </a:rPr>
              <a:t>Rule</a:t>
            </a:r>
          </a:p>
        </p:txBody>
      </p:sp>
      <p:sp>
        <p:nvSpPr>
          <p:cNvPr id="38936" name="AutoShape 40"/>
          <p:cNvSpPr>
            <a:spLocks noChangeArrowheads="1"/>
          </p:cNvSpPr>
          <p:nvPr/>
        </p:nvSpPr>
        <p:spPr bwMode="auto">
          <a:xfrm>
            <a:off x="5943600" y="3505200"/>
            <a:ext cx="381000" cy="381000"/>
          </a:xfrm>
          <a:prstGeom prst="diamond">
            <a:avLst/>
          </a:prstGeom>
          <a:solidFill>
            <a:schemeClr val="bg1"/>
          </a:solidFill>
          <a:ln w="19050">
            <a:solidFill>
              <a:schemeClr val="tx1"/>
            </a:solidFill>
            <a:miter lim="800000"/>
            <a:headEnd/>
            <a:tailEnd/>
          </a:ln>
        </p:spPr>
        <p:txBody>
          <a:bodyPr wrap="none" anchor="ctr"/>
          <a:lstStyle/>
          <a:p>
            <a:endParaRPr lang="zh-CN" altLang="en-US"/>
          </a:p>
        </p:txBody>
      </p:sp>
      <p:sp>
        <p:nvSpPr>
          <p:cNvPr id="38937" name="Rectangle 41"/>
          <p:cNvSpPr>
            <a:spLocks noChangeArrowheads="1"/>
          </p:cNvSpPr>
          <p:nvPr/>
        </p:nvSpPr>
        <p:spPr bwMode="auto">
          <a:xfrm>
            <a:off x="6172200" y="6096000"/>
            <a:ext cx="2514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0" hangingPunct="0">
              <a:spcBef>
                <a:spcPct val="0"/>
              </a:spcBef>
            </a:pPr>
            <a:r>
              <a:rPr kumimoji="0" lang="en-US" altLang="zh-CN" sz="2000">
                <a:latin typeface="Arial Narrow" pitchFamily="34" charset="0"/>
                <a:ea typeface="宋体" charset="-122"/>
              </a:rPr>
              <a:t>* </a:t>
            </a:r>
            <a:r>
              <a:rPr kumimoji="0" lang="zh-CN" altLang="en-US" sz="2000">
                <a:latin typeface="Arial Narrow" pitchFamily="34" charset="0"/>
              </a:rPr>
              <a:t>证明每个先行事实都为真</a:t>
            </a:r>
          </a:p>
        </p:txBody>
      </p:sp>
      <p:sp>
        <p:nvSpPr>
          <p:cNvPr id="38938" name="Rectangle 42"/>
          <p:cNvSpPr>
            <a:spLocks noChangeArrowheads="1"/>
          </p:cNvSpPr>
          <p:nvPr/>
        </p:nvSpPr>
        <p:spPr bwMode="auto">
          <a:xfrm>
            <a:off x="3124200" y="5546725"/>
            <a:ext cx="1295400"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0" hangingPunct="0">
              <a:lnSpc>
                <a:spcPct val="80000"/>
              </a:lnSpc>
              <a:spcBef>
                <a:spcPct val="0"/>
              </a:spcBef>
            </a:pPr>
            <a:r>
              <a:rPr kumimoji="0" lang="zh-CN" altLang="en-US" sz="2000">
                <a:latin typeface="Arial Narrow" pitchFamily="34" charset="0"/>
              </a:rPr>
              <a:t>证明成功</a:t>
            </a:r>
          </a:p>
        </p:txBody>
      </p:sp>
      <p:sp>
        <p:nvSpPr>
          <p:cNvPr id="38939" name="AutoShape 43"/>
          <p:cNvSpPr>
            <a:spLocks noChangeArrowheads="1"/>
          </p:cNvSpPr>
          <p:nvPr/>
        </p:nvSpPr>
        <p:spPr bwMode="auto">
          <a:xfrm>
            <a:off x="4364038" y="5715000"/>
            <a:ext cx="381000" cy="381000"/>
          </a:xfrm>
          <a:prstGeom prst="diamond">
            <a:avLst/>
          </a:prstGeom>
          <a:solidFill>
            <a:schemeClr val="bg1"/>
          </a:solidFill>
          <a:ln w="19050">
            <a:solidFill>
              <a:schemeClr val="tx1"/>
            </a:solidFill>
            <a:miter lim="800000"/>
            <a:headEnd/>
            <a:tailEnd/>
          </a:ln>
        </p:spPr>
        <p:txBody>
          <a:bodyPr wrap="none" anchor="ctr"/>
          <a:lstStyle/>
          <a:p>
            <a:endParaRPr lang="zh-CN" altLang="en-US"/>
          </a:p>
        </p:txBody>
      </p:sp>
    </p:spTree>
    <p:extLst>
      <p:ext uri="{BB962C8B-B14F-4D97-AF65-F5344CB8AC3E}">
        <p14:creationId xmlns:p14="http://schemas.microsoft.com/office/powerpoint/2010/main" val="370378372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6" name="Text Box 4"/>
          <p:cNvSpPr txBox="1">
            <a:spLocks noChangeArrowheads="1"/>
          </p:cNvSpPr>
          <p:nvPr/>
        </p:nvSpPr>
        <p:spPr bwMode="auto">
          <a:xfrm>
            <a:off x="323850" y="1196975"/>
            <a:ext cx="8424863" cy="4708981"/>
          </a:xfrm>
          <a:prstGeom prst="rect">
            <a:avLst/>
          </a:prstGeom>
          <a:noFill/>
          <a:ln>
            <a:noFill/>
          </a:ln>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ctr" eaLnBrk="1" hangingPunct="1">
              <a:defRPr/>
            </a:pPr>
            <a:r>
              <a:rPr lang="zh-CN" altLang="en-US" sz="6000" b="1" dirty="0" smtClean="0">
                <a:solidFill>
                  <a:srgbClr val="FF3300"/>
                </a:solidFill>
                <a:effectLst>
                  <a:outerShdw blurRad="38100" dist="38100" dir="2700000" algn="tl">
                    <a:srgbClr val="C0C0C0"/>
                  </a:outerShdw>
                </a:effectLst>
                <a:ea typeface="隶书" pitchFamily="49" charset="-122"/>
              </a:rPr>
              <a:t>软件设计与体系结构</a:t>
            </a:r>
            <a:endParaRPr lang="en-US" altLang="zh-CN" sz="6000" b="1" dirty="0" smtClean="0">
              <a:solidFill>
                <a:srgbClr val="FF3300"/>
              </a:solidFill>
              <a:effectLst>
                <a:outerShdw blurRad="38100" dist="38100" dir="2700000" algn="tl">
                  <a:srgbClr val="C0C0C0"/>
                </a:outerShdw>
              </a:effectLst>
              <a:ea typeface="隶书" pitchFamily="49" charset="-122"/>
            </a:endParaRPr>
          </a:p>
          <a:p>
            <a:pPr algn="ctr" eaLnBrk="1" hangingPunct="1">
              <a:defRPr/>
            </a:pPr>
            <a:endParaRPr lang="zh-CN" altLang="en-US" sz="6000" b="1" dirty="0" smtClean="0">
              <a:solidFill>
                <a:srgbClr val="FF3300"/>
              </a:solidFill>
              <a:effectLst>
                <a:outerShdw blurRad="38100" dist="38100" dir="2700000" algn="tl">
                  <a:srgbClr val="C0C0C0"/>
                </a:outerShdw>
              </a:effectLst>
              <a:ea typeface="隶书" pitchFamily="49" charset="-122"/>
            </a:endParaRPr>
          </a:p>
          <a:p>
            <a:pPr algn="ctr">
              <a:defRPr/>
            </a:pPr>
            <a:r>
              <a:rPr lang="zh-CN" altLang="en-US" sz="6000" b="1" dirty="0" smtClean="0">
                <a:solidFill>
                  <a:srgbClr val="FF3300"/>
                </a:solidFill>
                <a:effectLst>
                  <a:outerShdw blurRad="38100" dist="38100" dir="2700000" algn="tl">
                    <a:srgbClr val="C0C0C0"/>
                  </a:outerShdw>
                </a:effectLst>
                <a:ea typeface="隶书" pitchFamily="49" charset="-122"/>
              </a:rPr>
              <a:t>第四章 设计</a:t>
            </a:r>
            <a:r>
              <a:rPr lang="zh-CN" altLang="en-US" sz="6000" b="1" dirty="0">
                <a:solidFill>
                  <a:srgbClr val="FF3300"/>
                </a:solidFill>
                <a:effectLst>
                  <a:outerShdw blurRad="38100" dist="38100" dir="2700000" algn="tl">
                    <a:srgbClr val="C0C0C0"/>
                  </a:outerShdw>
                </a:effectLst>
                <a:ea typeface="隶书" pitchFamily="49" charset="-122"/>
              </a:rPr>
              <a:t>准则</a:t>
            </a:r>
            <a:r>
              <a:rPr lang="en-US" altLang="zh-CN" sz="6000" b="1" dirty="0">
                <a:solidFill>
                  <a:srgbClr val="FF3300"/>
                </a:solidFill>
                <a:effectLst>
                  <a:outerShdw blurRad="38100" dist="38100" dir="2700000" algn="tl">
                    <a:srgbClr val="C0C0C0"/>
                  </a:outerShdw>
                </a:effectLst>
                <a:ea typeface="隶书" pitchFamily="49" charset="-122"/>
              </a:rPr>
              <a:t>I</a:t>
            </a:r>
            <a:br>
              <a:rPr lang="en-US" altLang="zh-CN" sz="6000" b="1" dirty="0">
                <a:solidFill>
                  <a:srgbClr val="FF3300"/>
                </a:solidFill>
                <a:effectLst>
                  <a:outerShdw blurRad="38100" dist="38100" dir="2700000" algn="tl">
                    <a:srgbClr val="C0C0C0"/>
                  </a:outerShdw>
                </a:effectLst>
                <a:ea typeface="隶书" pitchFamily="49" charset="-122"/>
              </a:rPr>
            </a:br>
            <a:r>
              <a:rPr lang="en-US" altLang="zh-CN" sz="6000" b="1" dirty="0">
                <a:solidFill>
                  <a:srgbClr val="FF3300"/>
                </a:solidFill>
                <a:effectLst>
                  <a:outerShdw blurRad="38100" dist="38100" dir="2700000" algn="tl">
                    <a:srgbClr val="C0C0C0"/>
                  </a:outerShdw>
                </a:effectLst>
                <a:ea typeface="隶书" pitchFamily="49" charset="-122"/>
              </a:rPr>
              <a:t/>
            </a:r>
            <a:br>
              <a:rPr lang="en-US" altLang="zh-CN" sz="6000" b="1" dirty="0">
                <a:solidFill>
                  <a:srgbClr val="FF3300"/>
                </a:solidFill>
                <a:effectLst>
                  <a:outerShdw blurRad="38100" dist="38100" dir="2700000" algn="tl">
                    <a:srgbClr val="C0C0C0"/>
                  </a:outerShdw>
                </a:effectLst>
                <a:ea typeface="隶书" pitchFamily="49" charset="-122"/>
              </a:rPr>
            </a:br>
            <a:r>
              <a:rPr lang="zh-CN" altLang="en-US" sz="6000" b="1" dirty="0">
                <a:solidFill>
                  <a:srgbClr val="FF3300"/>
                </a:solidFill>
                <a:effectLst>
                  <a:outerShdw blurRad="38100" dist="38100" dir="2700000" algn="tl">
                    <a:srgbClr val="C0C0C0"/>
                  </a:outerShdw>
                </a:effectLst>
                <a:ea typeface="隶书" pitchFamily="49" charset="-122"/>
              </a:rPr>
              <a:t>正确性和健壮性</a:t>
            </a:r>
            <a:endParaRPr lang="zh-CN" altLang="en-US" sz="6000" b="1" dirty="0" smtClean="0">
              <a:solidFill>
                <a:srgbClr val="FF3300"/>
              </a:solidFill>
              <a:effectLst>
                <a:outerShdw blurRad="38100" dist="38100" dir="2700000" algn="tl">
                  <a:srgbClr val="C0C0C0"/>
                </a:outerShdw>
              </a:effectLst>
              <a:ea typeface="隶书" pitchFamily="49" charset="-122"/>
            </a:endParaRPr>
          </a:p>
        </p:txBody>
      </p:sp>
      <p:pic>
        <p:nvPicPr>
          <p:cNvPr id="3076" name="Picture 24" descr="大连海事大学徽标--处理"/>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116013"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38113"/>
            <a:ext cx="2592387"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209101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67544" y="260648"/>
            <a:ext cx="8229600" cy="1143000"/>
          </a:xfrm>
        </p:spPr>
        <p:txBody>
          <a:bodyPr/>
          <a:lstStyle/>
          <a:p>
            <a:pPr eaLnBrk="1" hangingPunct="1"/>
            <a:r>
              <a:rPr lang="zh-CN" altLang="en-US" b="1" dirty="0" smtClean="0">
                <a:ea typeface="楷体_GB2312" pitchFamily="49" charset="-122"/>
              </a:rPr>
              <a:t>正确性和充分性</a:t>
            </a:r>
          </a:p>
        </p:txBody>
      </p:sp>
      <p:sp>
        <p:nvSpPr>
          <p:cNvPr id="3075" name="Rectangle 3"/>
          <p:cNvSpPr>
            <a:spLocks noGrp="1" noChangeArrowheads="1"/>
          </p:cNvSpPr>
          <p:nvPr>
            <p:ph type="body" idx="1"/>
          </p:nvPr>
        </p:nvSpPr>
        <p:spPr>
          <a:xfrm>
            <a:off x="685800" y="1676400"/>
            <a:ext cx="7772400" cy="4267200"/>
          </a:xfrm>
        </p:spPr>
        <p:txBody>
          <a:bodyPr/>
          <a:lstStyle/>
          <a:p>
            <a:pPr eaLnBrk="1" hangingPunct="1"/>
            <a:r>
              <a:rPr lang="zh-CN" altLang="en-US" b="1" dirty="0" smtClean="0">
                <a:ea typeface="楷体_GB2312" pitchFamily="49" charset="-122"/>
              </a:rPr>
              <a:t>正确性：每个项目都要满足指定的需求，然后一起满足所有应用程序的需求</a:t>
            </a:r>
          </a:p>
          <a:p>
            <a:pPr eaLnBrk="1" hangingPunct="1"/>
            <a:r>
              <a:rPr lang="zh-CN" altLang="en-US" b="1" dirty="0" smtClean="0">
                <a:ea typeface="楷体_GB2312" pitchFamily="49" charset="-122"/>
              </a:rPr>
              <a:t>问题越明确，就能提供越精确的设计来解决问题</a:t>
            </a:r>
          </a:p>
          <a:p>
            <a:pPr eaLnBrk="1" hangingPunct="1"/>
            <a:r>
              <a:rPr lang="zh-CN" altLang="en-US" b="1" dirty="0" smtClean="0">
                <a:ea typeface="楷体_GB2312" pitchFamily="49" charset="-122"/>
              </a:rPr>
              <a:t>设计的正确性通常是指充分性</a:t>
            </a:r>
          </a:p>
          <a:p>
            <a:pPr eaLnBrk="1" hangingPunct="1"/>
            <a:r>
              <a:rPr lang="zh-CN" altLang="en-US" b="1" dirty="0" smtClean="0">
                <a:ea typeface="楷体_GB2312" pitchFamily="49" charset="-122"/>
              </a:rPr>
              <a:t>实现正确性的正规方法是依靠数学逻辑</a:t>
            </a:r>
          </a:p>
        </p:txBody>
      </p:sp>
    </p:spTree>
    <p:extLst>
      <p:ext uri="{BB962C8B-B14F-4D97-AF65-F5344CB8AC3E}">
        <p14:creationId xmlns:p14="http://schemas.microsoft.com/office/powerpoint/2010/main" val="19280246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zh-CN" altLang="en-US" b="1" dirty="0" smtClean="0">
                <a:ea typeface="楷体_GB2312" pitchFamily="49" charset="-122"/>
              </a:rPr>
              <a:t>实现正确性的途径</a:t>
            </a:r>
          </a:p>
        </p:txBody>
      </p:sp>
      <p:sp>
        <p:nvSpPr>
          <p:cNvPr id="4099" name="Rectangle 3"/>
          <p:cNvSpPr>
            <a:spLocks noGrp="1" noChangeArrowheads="1"/>
          </p:cNvSpPr>
          <p:nvPr>
            <p:ph type="body" idx="1"/>
          </p:nvPr>
        </p:nvSpPr>
        <p:spPr>
          <a:xfrm>
            <a:off x="685800" y="1676400"/>
            <a:ext cx="7772400" cy="4267200"/>
          </a:xfrm>
        </p:spPr>
        <p:txBody>
          <a:bodyPr/>
          <a:lstStyle/>
          <a:p>
            <a:pPr eaLnBrk="1" hangingPunct="1"/>
            <a:r>
              <a:rPr lang="zh-CN" altLang="en-US" b="1" dirty="0" smtClean="0">
                <a:ea typeface="楷体_GB2312" pitchFamily="49" charset="-122"/>
              </a:rPr>
              <a:t>非正式方法：判断设计是否满足所需的功能</a:t>
            </a:r>
          </a:p>
          <a:p>
            <a:pPr eaLnBrk="1" hangingPunct="1"/>
            <a:r>
              <a:rPr lang="zh-CN" altLang="en-US" b="1" dirty="0" smtClean="0">
                <a:ea typeface="楷体_GB2312" pitchFamily="49" charset="-122"/>
              </a:rPr>
              <a:t>正式方法：包含了用数学逻辑的方法来分析变量变化的方向</a:t>
            </a:r>
          </a:p>
          <a:p>
            <a:pPr eaLnBrk="1" hangingPunct="1"/>
            <a:r>
              <a:rPr lang="zh-CN" altLang="en-US" b="1" dirty="0" smtClean="0">
                <a:ea typeface="楷体_GB2312" pitchFamily="49" charset="-122"/>
              </a:rPr>
              <a:t>设计进入详细设计阶段时，经常采用正式方法来判断正确性</a:t>
            </a:r>
          </a:p>
        </p:txBody>
      </p:sp>
    </p:spTree>
    <p:extLst>
      <p:ext uri="{BB962C8B-B14F-4D97-AF65-F5344CB8AC3E}">
        <p14:creationId xmlns:p14="http://schemas.microsoft.com/office/powerpoint/2010/main" val="1395663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zh-CN" altLang="en-US" b="1" dirty="0" smtClean="0">
                <a:ea typeface="楷体_GB2312" pitchFamily="49" charset="-122"/>
              </a:rPr>
              <a:t>实现正确性的非正式方法</a:t>
            </a:r>
          </a:p>
        </p:txBody>
      </p:sp>
      <p:sp>
        <p:nvSpPr>
          <p:cNvPr id="6147" name="Rectangle 3"/>
          <p:cNvSpPr>
            <a:spLocks noGrp="1" noChangeArrowheads="1"/>
          </p:cNvSpPr>
          <p:nvPr>
            <p:ph type="body" idx="1"/>
          </p:nvPr>
        </p:nvSpPr>
        <p:spPr>
          <a:xfrm>
            <a:off x="685800" y="1676400"/>
            <a:ext cx="7772400" cy="3276600"/>
          </a:xfrm>
        </p:spPr>
        <p:txBody>
          <a:bodyPr/>
          <a:lstStyle/>
          <a:p>
            <a:pPr eaLnBrk="1" hangingPunct="1"/>
            <a:r>
              <a:rPr lang="zh-CN" altLang="en-US" b="1" dirty="0" smtClean="0">
                <a:ea typeface="楷体_GB2312" pitchFamily="49" charset="-122"/>
              </a:rPr>
              <a:t>要求在宣布设计正确之前必须完全理解它</a:t>
            </a:r>
          </a:p>
          <a:p>
            <a:pPr eaLnBrk="1" hangingPunct="1"/>
            <a:r>
              <a:rPr lang="zh-CN" altLang="en-US" b="1" dirty="0" smtClean="0">
                <a:ea typeface="楷体_GB2312" pitchFamily="49" charset="-122"/>
              </a:rPr>
              <a:t>设计和实现必须具有可读性</a:t>
            </a:r>
          </a:p>
          <a:p>
            <a:pPr eaLnBrk="1" hangingPunct="1"/>
            <a:r>
              <a:rPr lang="zh-CN" altLang="en-US" b="1" dirty="0" smtClean="0">
                <a:ea typeface="楷体_GB2312" pitchFamily="49" charset="-122"/>
              </a:rPr>
              <a:t>由于人类大脑在处理复杂问题方面有局限性，所以要进行模块化的设计，即将设计分成独立的可理解的部分。</a:t>
            </a:r>
          </a:p>
        </p:txBody>
      </p:sp>
      <p:sp>
        <p:nvSpPr>
          <p:cNvPr id="79876" name="Rectangle 4"/>
          <p:cNvSpPr>
            <a:spLocks noChangeArrowheads="1"/>
          </p:cNvSpPr>
          <p:nvPr/>
        </p:nvSpPr>
        <p:spPr bwMode="auto">
          <a:xfrm>
            <a:off x="762000" y="5105400"/>
            <a:ext cx="77724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spcBef>
                <a:spcPct val="20000"/>
              </a:spcBef>
              <a:buFontTx/>
              <a:buChar char="•"/>
            </a:pPr>
            <a:r>
              <a:rPr kumimoji="0" lang="zh-CN" altLang="en-US" sz="3200" dirty="0">
                <a:latin typeface="Arial" charset="0"/>
              </a:rPr>
              <a:t>不断进行简化和模块化，直到设计使人信服</a:t>
            </a:r>
          </a:p>
        </p:txBody>
      </p:sp>
    </p:spTree>
    <p:extLst>
      <p:ext uri="{BB962C8B-B14F-4D97-AF65-F5344CB8AC3E}">
        <p14:creationId xmlns:p14="http://schemas.microsoft.com/office/powerpoint/2010/main" val="34763544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9876"/>
                                        </p:tgtEl>
                                        <p:attrNameLst>
                                          <p:attrName>style.visibility</p:attrName>
                                        </p:attrNameLst>
                                      </p:cBhvr>
                                      <p:to>
                                        <p:strVal val="visible"/>
                                      </p:to>
                                    </p:set>
                                    <p:animEffect transition="in" filter="blinds(horizontal)">
                                      <p:cBhvr>
                                        <p:cTn id="7" dur="500"/>
                                        <p:tgtEl>
                                          <p:spTgt spid="79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zh-CN" altLang="en-US" b="1" dirty="0" smtClean="0">
                <a:ea typeface="楷体_GB2312" pitchFamily="49" charset="-122"/>
              </a:rPr>
              <a:t>充分设计的术语和理论基础</a:t>
            </a:r>
          </a:p>
        </p:txBody>
      </p:sp>
      <p:sp>
        <p:nvSpPr>
          <p:cNvPr id="7171" name="Text Box 5"/>
          <p:cNvSpPr txBox="1">
            <a:spLocks noChangeArrowheads="1"/>
          </p:cNvSpPr>
          <p:nvPr/>
        </p:nvSpPr>
        <p:spPr bwMode="auto">
          <a:xfrm>
            <a:off x="2362200" y="1463675"/>
            <a:ext cx="2438400" cy="822325"/>
          </a:xfrm>
          <a:prstGeom prst="rect">
            <a:avLst/>
          </a:prstGeom>
          <a:solidFill>
            <a:srgbClr val="99CCFF"/>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r>
              <a:rPr kumimoji="0" lang="zh-CN" altLang="en-US" sz="2400">
                <a:latin typeface="Arial Narrow" pitchFamily="34" charset="0"/>
              </a:rPr>
              <a:t>一个</a:t>
            </a:r>
            <a:r>
              <a:rPr kumimoji="0" lang="zh-CN" altLang="en-US" sz="2400">
                <a:solidFill>
                  <a:srgbClr val="FF0000"/>
                </a:solidFill>
                <a:latin typeface="Arial Narrow" pitchFamily="34" charset="0"/>
              </a:rPr>
              <a:t>足以</a:t>
            </a:r>
            <a:r>
              <a:rPr kumimoji="0" lang="zh-CN" altLang="en-US" sz="2400">
                <a:latin typeface="Arial Narrow" pitchFamily="34" charset="0"/>
              </a:rPr>
              <a:t>实现需求的设计</a:t>
            </a:r>
          </a:p>
        </p:txBody>
      </p:sp>
      <p:sp>
        <p:nvSpPr>
          <p:cNvPr id="7172" name="Text Box 6"/>
          <p:cNvSpPr txBox="1">
            <a:spLocks noChangeArrowheads="1"/>
          </p:cNvSpPr>
          <p:nvPr/>
        </p:nvSpPr>
        <p:spPr bwMode="auto">
          <a:xfrm>
            <a:off x="6718300" y="1600200"/>
            <a:ext cx="2328863" cy="547688"/>
          </a:xfrm>
          <a:prstGeom prst="rect">
            <a:avLst/>
          </a:prstGeom>
          <a:solidFill>
            <a:srgbClr val="99CCFF"/>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bIns="13716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r>
              <a:rPr kumimoji="0" lang="zh-CN" altLang="en-US" sz="2400">
                <a:latin typeface="Arial Narrow" pitchFamily="34" charset="0"/>
              </a:rPr>
              <a:t>一个</a:t>
            </a:r>
            <a:r>
              <a:rPr kumimoji="0" lang="zh-CN" altLang="en-US" sz="2400">
                <a:solidFill>
                  <a:srgbClr val="FF0000"/>
                </a:solidFill>
                <a:latin typeface="Arial Narrow" pitchFamily="34" charset="0"/>
              </a:rPr>
              <a:t>正确</a:t>
            </a:r>
            <a:r>
              <a:rPr kumimoji="0" lang="zh-CN" altLang="en-US" sz="2400">
                <a:latin typeface="Arial Narrow" pitchFamily="34" charset="0"/>
              </a:rPr>
              <a:t>的设计</a:t>
            </a:r>
          </a:p>
        </p:txBody>
      </p:sp>
      <p:cxnSp>
        <p:nvCxnSpPr>
          <p:cNvPr id="7173" name="AutoShape 7"/>
          <p:cNvCxnSpPr>
            <a:cxnSpLocks noChangeShapeType="1"/>
            <a:stCxn id="7171" idx="3"/>
            <a:endCxn id="7172" idx="1"/>
          </p:cNvCxnSpPr>
          <p:nvPr/>
        </p:nvCxnSpPr>
        <p:spPr bwMode="auto">
          <a:xfrm>
            <a:off x="4800600" y="1874838"/>
            <a:ext cx="1917700" cy="0"/>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174" name="Rectangle 8"/>
          <p:cNvSpPr>
            <a:spLocks noChangeArrowheads="1"/>
          </p:cNvSpPr>
          <p:nvPr/>
        </p:nvSpPr>
        <p:spPr bwMode="auto">
          <a:xfrm>
            <a:off x="5029200" y="2089150"/>
            <a:ext cx="1728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l" eaLnBrk="0" hangingPunct="0">
              <a:spcBef>
                <a:spcPct val="0"/>
              </a:spcBef>
            </a:pPr>
            <a:r>
              <a:rPr kumimoji="0" lang="zh-CN" altLang="en-US" sz="2400">
                <a:latin typeface="Arial Narrow" pitchFamily="34" charset="0"/>
              </a:rPr>
              <a:t>有时称为</a:t>
            </a:r>
            <a:r>
              <a:rPr kumimoji="0" lang="zh-CN" altLang="en-US" sz="2400" b="0">
                <a:latin typeface="Arial Narrow" pitchFamily="34" charset="0"/>
                <a:ea typeface="宋体" charset="-122"/>
              </a:rPr>
              <a:t> </a:t>
            </a:r>
            <a:r>
              <a:rPr kumimoji="0" lang="en-US" altLang="zh-CN" sz="2400" b="0">
                <a:latin typeface="Arial Narrow" pitchFamily="34" charset="0"/>
                <a:ea typeface="宋体" charset="-122"/>
              </a:rPr>
              <a:t>…</a:t>
            </a:r>
          </a:p>
        </p:txBody>
      </p:sp>
      <p:sp>
        <p:nvSpPr>
          <p:cNvPr id="7175" name="Text Box 9"/>
          <p:cNvSpPr txBox="1">
            <a:spLocks noChangeArrowheads="1"/>
          </p:cNvSpPr>
          <p:nvPr/>
        </p:nvSpPr>
        <p:spPr bwMode="auto">
          <a:xfrm>
            <a:off x="2057400" y="3902075"/>
            <a:ext cx="3048000" cy="457200"/>
          </a:xfrm>
          <a:prstGeom prst="rect">
            <a:avLst/>
          </a:prstGeom>
          <a:solidFill>
            <a:srgbClr val="99CCFF"/>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r>
              <a:rPr kumimoji="0" lang="zh-CN" altLang="en-US" sz="2400">
                <a:latin typeface="Arial Narrow" pitchFamily="34" charset="0"/>
              </a:rPr>
              <a:t>设计必须完全</a:t>
            </a:r>
            <a:r>
              <a:rPr kumimoji="0" lang="zh-CN" altLang="en-US" sz="2400">
                <a:solidFill>
                  <a:srgbClr val="FF0000"/>
                </a:solidFill>
                <a:latin typeface="Arial Narrow" pitchFamily="34" charset="0"/>
              </a:rPr>
              <a:t>可理解</a:t>
            </a:r>
            <a:endParaRPr kumimoji="0" lang="zh-CN" altLang="en-US" sz="2400" u="sng">
              <a:solidFill>
                <a:srgbClr val="FF0000"/>
              </a:solidFill>
              <a:latin typeface="Arial Narrow" pitchFamily="34" charset="0"/>
            </a:endParaRPr>
          </a:p>
        </p:txBody>
      </p:sp>
      <p:sp>
        <p:nvSpPr>
          <p:cNvPr id="7176" name="Rectangle 10"/>
          <p:cNvSpPr>
            <a:spLocks noChangeArrowheads="1"/>
          </p:cNvSpPr>
          <p:nvPr/>
        </p:nvSpPr>
        <p:spPr bwMode="auto">
          <a:xfrm>
            <a:off x="381000" y="3063875"/>
            <a:ext cx="142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l" eaLnBrk="0" hangingPunct="0">
              <a:spcBef>
                <a:spcPct val="0"/>
              </a:spcBef>
            </a:pPr>
            <a:r>
              <a:rPr kumimoji="0" lang="zh-CN" altLang="en-US" sz="2400">
                <a:latin typeface="Arial Narrow" pitchFamily="34" charset="0"/>
              </a:rPr>
              <a:t>接下来</a:t>
            </a:r>
            <a:r>
              <a:rPr kumimoji="0" lang="zh-CN" altLang="en-US" sz="2400" b="0">
                <a:latin typeface="Arial Narrow" pitchFamily="34" charset="0"/>
                <a:ea typeface="宋体" charset="-122"/>
              </a:rPr>
              <a:t> </a:t>
            </a:r>
            <a:r>
              <a:rPr kumimoji="0" lang="en-US" altLang="zh-CN" sz="2400" b="0">
                <a:latin typeface="Arial Narrow" pitchFamily="34" charset="0"/>
                <a:ea typeface="宋体" charset="-122"/>
              </a:rPr>
              <a:t>…</a:t>
            </a:r>
          </a:p>
        </p:txBody>
      </p:sp>
      <p:cxnSp>
        <p:nvCxnSpPr>
          <p:cNvPr id="7177" name="AutoShape 11"/>
          <p:cNvCxnSpPr>
            <a:cxnSpLocks noChangeShapeType="1"/>
            <a:stCxn id="7171" idx="2"/>
            <a:endCxn id="7175" idx="0"/>
          </p:cNvCxnSpPr>
          <p:nvPr/>
        </p:nvCxnSpPr>
        <p:spPr bwMode="auto">
          <a:xfrm rot="5400000">
            <a:off x="2773362" y="3094038"/>
            <a:ext cx="1616075" cy="0"/>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178" name="Text Box 12"/>
          <p:cNvSpPr txBox="1">
            <a:spLocks noChangeArrowheads="1"/>
          </p:cNvSpPr>
          <p:nvPr/>
        </p:nvSpPr>
        <p:spPr bwMode="auto">
          <a:xfrm>
            <a:off x="2743200" y="5883275"/>
            <a:ext cx="1676400" cy="822325"/>
          </a:xfrm>
          <a:prstGeom prst="rect">
            <a:avLst/>
          </a:prstGeom>
          <a:solidFill>
            <a:srgbClr val="99CCFF"/>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r>
              <a:rPr kumimoji="0" lang="zh-CN" altLang="en-US" sz="2400">
                <a:latin typeface="Arial Narrow" pitchFamily="34" charset="0"/>
              </a:rPr>
              <a:t>设计非常</a:t>
            </a:r>
            <a:r>
              <a:rPr kumimoji="0" lang="zh-CN" altLang="en-US" sz="2400">
                <a:solidFill>
                  <a:srgbClr val="FF0000"/>
                </a:solidFill>
                <a:latin typeface="Arial Narrow" pitchFamily="34" charset="0"/>
              </a:rPr>
              <a:t>模块化</a:t>
            </a:r>
            <a:endParaRPr kumimoji="0" lang="zh-CN" altLang="en-US" sz="2400" u="sng">
              <a:solidFill>
                <a:srgbClr val="FF0000"/>
              </a:solidFill>
              <a:latin typeface="Arial Narrow" pitchFamily="34" charset="0"/>
            </a:endParaRPr>
          </a:p>
        </p:txBody>
      </p:sp>
      <p:cxnSp>
        <p:nvCxnSpPr>
          <p:cNvPr id="7179" name="AutoShape 13"/>
          <p:cNvCxnSpPr>
            <a:cxnSpLocks noChangeShapeType="1"/>
            <a:stCxn id="7175" idx="2"/>
            <a:endCxn id="7178" idx="0"/>
          </p:cNvCxnSpPr>
          <p:nvPr/>
        </p:nvCxnSpPr>
        <p:spPr bwMode="auto">
          <a:xfrm rot="5400000">
            <a:off x="2819400" y="5121275"/>
            <a:ext cx="1524000" cy="0"/>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180" name="Rectangle 14"/>
          <p:cNvSpPr>
            <a:spLocks noChangeArrowheads="1"/>
          </p:cNvSpPr>
          <p:nvPr/>
        </p:nvSpPr>
        <p:spPr bwMode="auto">
          <a:xfrm>
            <a:off x="381000" y="4908550"/>
            <a:ext cx="3200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pPr algn="l" eaLnBrk="0" hangingPunct="0">
              <a:spcBef>
                <a:spcPct val="0"/>
              </a:spcBef>
            </a:pPr>
            <a:r>
              <a:rPr kumimoji="0" lang="zh-CN" altLang="en-US" sz="2400">
                <a:latin typeface="Arial Narrow" pitchFamily="34" charset="0"/>
              </a:rPr>
              <a:t>达到这个目标的常用方法是</a:t>
            </a:r>
            <a:r>
              <a:rPr kumimoji="0" lang="zh-CN" altLang="en-US" sz="2400" b="0">
                <a:latin typeface="Arial Narrow" pitchFamily="34" charset="0"/>
                <a:ea typeface="宋体" charset="-122"/>
              </a:rPr>
              <a:t> </a:t>
            </a:r>
            <a:r>
              <a:rPr kumimoji="0" lang="en-US" altLang="zh-CN" sz="2400" b="0">
                <a:latin typeface="Arial Narrow" pitchFamily="34" charset="0"/>
                <a:ea typeface="宋体" charset="-122"/>
              </a:rPr>
              <a:t>…</a:t>
            </a:r>
          </a:p>
        </p:txBody>
      </p:sp>
      <p:sp>
        <p:nvSpPr>
          <p:cNvPr id="7181" name="Rectangle 15"/>
          <p:cNvSpPr>
            <a:spLocks noChangeArrowheads="1"/>
          </p:cNvSpPr>
          <p:nvPr/>
        </p:nvSpPr>
        <p:spPr bwMode="auto">
          <a:xfrm>
            <a:off x="381000" y="1600200"/>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l" eaLnBrk="0" hangingPunct="0">
              <a:spcBef>
                <a:spcPct val="0"/>
              </a:spcBef>
            </a:pPr>
            <a:r>
              <a:rPr kumimoji="0" lang="zh-CN" altLang="en-US" sz="2400">
                <a:latin typeface="Arial Narrow" pitchFamily="34" charset="0"/>
              </a:rPr>
              <a:t>最小目标</a:t>
            </a:r>
          </a:p>
        </p:txBody>
      </p:sp>
    </p:spTree>
    <p:extLst>
      <p:ext uri="{BB962C8B-B14F-4D97-AF65-F5344CB8AC3E}">
        <p14:creationId xmlns:p14="http://schemas.microsoft.com/office/powerpoint/2010/main" val="44556858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zh-CN" altLang="en-US" b="1" dirty="0" smtClean="0">
                <a:ea typeface="楷体_GB2312" pitchFamily="49" charset="-122"/>
              </a:rPr>
              <a:t>实现正确性的正式方法</a:t>
            </a:r>
          </a:p>
        </p:txBody>
      </p:sp>
      <p:sp>
        <p:nvSpPr>
          <p:cNvPr id="8195" name="Rectangle 3"/>
          <p:cNvSpPr>
            <a:spLocks noGrp="1" noChangeArrowheads="1"/>
          </p:cNvSpPr>
          <p:nvPr>
            <p:ph type="body" idx="1"/>
          </p:nvPr>
        </p:nvSpPr>
        <p:spPr>
          <a:xfrm>
            <a:off x="685800" y="1676400"/>
            <a:ext cx="7772400" cy="4267200"/>
          </a:xfrm>
        </p:spPr>
        <p:txBody>
          <a:bodyPr/>
          <a:lstStyle/>
          <a:p>
            <a:pPr eaLnBrk="1" hangingPunct="1"/>
            <a:r>
              <a:rPr lang="zh-CN" altLang="en-US" b="1" smtClean="0">
                <a:ea typeface="楷体_GB2312" pitchFamily="49" charset="-122"/>
              </a:rPr>
              <a:t>常常基于在严密的控制下跟踪变量的变化，一般会指定一个不变式</a:t>
            </a:r>
          </a:p>
          <a:p>
            <a:pPr eaLnBrk="1" hangingPunct="1"/>
            <a:r>
              <a:rPr lang="zh-CN" altLang="en-US" b="1" smtClean="0">
                <a:ea typeface="楷体_GB2312" pitchFamily="49" charset="-122"/>
              </a:rPr>
              <a:t>不变式在变量值之间表示的是一种不变关系</a:t>
            </a:r>
          </a:p>
          <a:p>
            <a:pPr eaLnBrk="1" hangingPunct="1"/>
            <a:r>
              <a:rPr lang="zh-CN" altLang="en-US" b="1" smtClean="0">
                <a:ea typeface="楷体_GB2312" pitchFamily="49" charset="-122"/>
              </a:rPr>
              <a:t>用在类级别设计中的不变式称为类不变式</a:t>
            </a:r>
          </a:p>
        </p:txBody>
      </p:sp>
    </p:spTree>
    <p:extLst>
      <p:ext uri="{BB962C8B-B14F-4D97-AF65-F5344CB8AC3E}">
        <p14:creationId xmlns:p14="http://schemas.microsoft.com/office/powerpoint/2010/main" val="162390046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15"/>
          <p:cNvSpPr txBox="1">
            <a:spLocks noChangeArrowheads="1"/>
          </p:cNvSpPr>
          <p:nvPr/>
        </p:nvSpPr>
        <p:spPr bwMode="auto">
          <a:xfrm>
            <a:off x="533400" y="609600"/>
            <a:ext cx="8382000" cy="607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457200" indent="-457200"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286000" indent="-457200" eaLnBrk="0" hangingPunct="0">
              <a:defRPr kumimoji="1" sz="2800" b="1">
                <a:solidFill>
                  <a:schemeClr val="tx1"/>
                </a:solidFill>
                <a:latin typeface="楷体_GB2312" pitchFamily="49" charset="-122"/>
                <a:ea typeface="楷体_GB2312" pitchFamily="49" charset="-122"/>
              </a:defRPr>
            </a:lvl5pPr>
            <a:lvl6pPr marL="2743200" indent="-4572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3200400" indent="-4572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657600" indent="-4572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4114800" indent="-4572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lvl="4" algn="l"/>
            <a:r>
              <a:rPr kumimoji="0" lang="en-US" altLang="zh-CN">
                <a:solidFill>
                  <a:srgbClr val="000000"/>
                </a:solidFill>
                <a:latin typeface="Arial Narrow" pitchFamily="34" charset="0"/>
                <a:ea typeface="宋体" charset="-122"/>
                <a:cs typeface="Times New Roman" pitchFamily="18" charset="0"/>
              </a:rPr>
              <a:t>		-- </a:t>
            </a:r>
            <a:r>
              <a:rPr kumimoji="0" lang="zh-CN" altLang="en-US">
                <a:solidFill>
                  <a:srgbClr val="000000"/>
                </a:solidFill>
                <a:latin typeface="Arial Narrow" pitchFamily="34" charset="0"/>
                <a:ea typeface="宋体" charset="-122"/>
                <a:cs typeface="Times New Roman" pitchFamily="18" charset="0"/>
              </a:rPr>
              <a:t>包含变量 </a:t>
            </a:r>
            <a:r>
              <a:rPr kumimoji="0" lang="en-US" altLang="zh-CN" i="1">
                <a:solidFill>
                  <a:srgbClr val="000000"/>
                </a:solidFill>
                <a:latin typeface="Arial Narrow" pitchFamily="34" charset="0"/>
                <a:ea typeface="宋体" charset="-122"/>
                <a:cs typeface="Times New Roman" pitchFamily="18" charset="0"/>
              </a:rPr>
              <a:t>mileage</a:t>
            </a:r>
            <a:r>
              <a:rPr kumimoji="0" lang="en-US" altLang="zh-CN">
                <a:solidFill>
                  <a:srgbClr val="000000"/>
                </a:solidFill>
                <a:latin typeface="Arial Narrow" pitchFamily="34" charset="0"/>
                <a:ea typeface="宋体" charset="-122"/>
                <a:cs typeface="Times New Roman" pitchFamily="18" charset="0"/>
              </a:rPr>
              <a:t>, </a:t>
            </a:r>
            <a:r>
              <a:rPr kumimoji="0" lang="en-US" altLang="zh-CN" i="1">
                <a:solidFill>
                  <a:srgbClr val="000000"/>
                </a:solidFill>
                <a:latin typeface="Arial Narrow" pitchFamily="34" charset="0"/>
                <a:ea typeface="宋体" charset="-122"/>
                <a:cs typeface="Times New Roman" pitchFamily="18" charset="0"/>
              </a:rPr>
              <a:t>VehicleID</a:t>
            </a:r>
            <a:r>
              <a:rPr kumimoji="0" lang="en-US" altLang="zh-CN">
                <a:solidFill>
                  <a:srgbClr val="000000"/>
                </a:solidFill>
                <a:latin typeface="Arial Narrow" pitchFamily="34" charset="0"/>
                <a:ea typeface="宋体" charset="-122"/>
                <a:cs typeface="Times New Roman" pitchFamily="18" charset="0"/>
              </a:rPr>
              <a:t>, 	</a:t>
            </a:r>
            <a:r>
              <a:rPr kumimoji="0" lang="en-US" altLang="zh-CN" i="1">
                <a:solidFill>
                  <a:srgbClr val="000000"/>
                </a:solidFill>
                <a:latin typeface="Arial Narrow" pitchFamily="34" charset="0"/>
                <a:ea typeface="宋体" charset="-122"/>
                <a:cs typeface="Times New Roman" pitchFamily="18" charset="0"/>
              </a:rPr>
              <a:t>value</a:t>
            </a:r>
            <a:r>
              <a:rPr kumimoji="0" lang="en-US" altLang="zh-CN">
                <a:solidFill>
                  <a:srgbClr val="000000"/>
                </a:solidFill>
                <a:latin typeface="Arial Narrow" pitchFamily="34" charset="0"/>
                <a:ea typeface="宋体" charset="-122"/>
                <a:cs typeface="Times New Roman" pitchFamily="18" charset="0"/>
              </a:rPr>
              <a:t>, </a:t>
            </a:r>
            <a:r>
              <a:rPr kumimoji="0" lang="en-US" altLang="zh-CN" i="1">
                <a:solidFill>
                  <a:srgbClr val="000000"/>
                </a:solidFill>
                <a:latin typeface="Arial Narrow" pitchFamily="34" charset="0"/>
                <a:ea typeface="宋体" charset="-122"/>
                <a:cs typeface="Times New Roman" pitchFamily="18" charset="0"/>
              </a:rPr>
              <a:t>originalPrice</a:t>
            </a:r>
            <a:r>
              <a:rPr kumimoji="0" lang="en-US" altLang="zh-CN">
                <a:solidFill>
                  <a:srgbClr val="000000"/>
                </a:solidFill>
                <a:latin typeface="Arial Narrow" pitchFamily="34" charset="0"/>
                <a:ea typeface="宋体" charset="-122"/>
                <a:cs typeface="Times New Roman" pitchFamily="18" charset="0"/>
              </a:rPr>
              <a:t>, </a:t>
            </a:r>
            <a:r>
              <a:rPr kumimoji="0" lang="zh-CN" altLang="en-US">
                <a:solidFill>
                  <a:srgbClr val="000000"/>
                </a:solidFill>
                <a:latin typeface="Arial Narrow" pitchFamily="34" charset="0"/>
                <a:ea typeface="宋体" charset="-122"/>
                <a:cs typeface="Times New Roman" pitchFamily="18" charset="0"/>
              </a:rPr>
              <a:t>和 </a:t>
            </a:r>
            <a:r>
              <a:rPr kumimoji="0" lang="en-US" altLang="zh-CN" i="1">
                <a:solidFill>
                  <a:srgbClr val="000000"/>
                </a:solidFill>
                <a:latin typeface="Arial Narrow" pitchFamily="34" charset="0"/>
                <a:ea typeface="宋体" charset="-122"/>
                <a:cs typeface="Times New Roman" pitchFamily="18" charset="0"/>
              </a:rPr>
              <a:t>type</a:t>
            </a:r>
            <a:r>
              <a:rPr kumimoji="0" lang="en-US" altLang="zh-CN">
                <a:solidFill>
                  <a:srgbClr val="000000"/>
                </a:solidFill>
                <a:latin typeface="Arial Narrow" pitchFamily="34" charset="0"/>
                <a:ea typeface="宋体" charset="-122"/>
                <a:cs typeface="Times New Roman" pitchFamily="18" charset="0"/>
              </a:rPr>
              <a:t>: </a:t>
            </a:r>
          </a:p>
          <a:p>
            <a:pPr algn="l">
              <a:buFontTx/>
              <a:buAutoNum type="arabicParenR"/>
            </a:pPr>
            <a:r>
              <a:rPr kumimoji="0" lang="en-US" altLang="zh-CN" i="1">
                <a:latin typeface="Arial Narrow" pitchFamily="34" charset="0"/>
                <a:ea typeface="宋体" charset="-122"/>
                <a:cs typeface="Times New Roman" pitchFamily="18" charset="0"/>
              </a:rPr>
              <a:t>mileage </a:t>
            </a:r>
            <a:r>
              <a:rPr kumimoji="0" lang="en-US" altLang="zh-CN">
                <a:latin typeface="Arial Narrow" pitchFamily="34" charset="0"/>
                <a:ea typeface="宋体" charset="-122"/>
                <a:cs typeface="Times New Roman" pitchFamily="18" charset="0"/>
              </a:rPr>
              <a:t>&gt;  0 </a:t>
            </a:r>
          </a:p>
          <a:p>
            <a:pPr algn="l">
              <a:buFontTx/>
              <a:buAutoNum type="arabicParenR"/>
            </a:pPr>
            <a:r>
              <a:rPr kumimoji="0" lang="en-US" altLang="zh-CN" i="1">
                <a:latin typeface="Arial Narrow" pitchFamily="34" charset="0"/>
                <a:ea typeface="宋体" charset="-122"/>
                <a:cs typeface="Times New Roman" pitchFamily="18" charset="0"/>
              </a:rPr>
              <a:t>mileage </a:t>
            </a:r>
            <a:r>
              <a:rPr kumimoji="0" lang="en-US" altLang="zh-CN">
                <a:latin typeface="Arial Narrow" pitchFamily="34" charset="0"/>
                <a:ea typeface="宋体" charset="-122"/>
                <a:cs typeface="Times New Roman" pitchFamily="18" charset="0"/>
              </a:rPr>
              <a:t>&lt; 1000000</a:t>
            </a:r>
          </a:p>
          <a:p>
            <a:pPr algn="l">
              <a:buFontTx/>
              <a:buAutoNum type="arabicParenR"/>
            </a:pPr>
            <a:r>
              <a:rPr kumimoji="0" lang="en-US" altLang="zh-CN" i="1">
                <a:latin typeface="Arial Narrow" pitchFamily="34" charset="0"/>
                <a:ea typeface="宋体" charset="-122"/>
                <a:cs typeface="Times New Roman" pitchFamily="18" charset="0"/>
              </a:rPr>
              <a:t>vehicleID </a:t>
            </a:r>
            <a:r>
              <a:rPr kumimoji="0" lang="zh-CN" altLang="en-US">
                <a:latin typeface="Arial Narrow" pitchFamily="34" charset="0"/>
                <a:cs typeface="Times New Roman" pitchFamily="18" charset="0"/>
              </a:rPr>
              <a:t>至少有</a:t>
            </a:r>
            <a:r>
              <a:rPr kumimoji="0" lang="zh-CN" altLang="en-US">
                <a:latin typeface="Arial Narrow" pitchFamily="34" charset="0"/>
                <a:ea typeface="宋体" charset="-122"/>
              </a:rPr>
              <a:t> </a:t>
            </a:r>
            <a:r>
              <a:rPr kumimoji="0" lang="en-US" altLang="zh-CN">
                <a:latin typeface="Arial Narrow" pitchFamily="34" charset="0"/>
                <a:ea typeface="宋体" charset="-122"/>
              </a:rPr>
              <a:t>8 </a:t>
            </a:r>
            <a:r>
              <a:rPr kumimoji="0" lang="zh-CN" altLang="en-US">
                <a:latin typeface="Arial Narrow" pitchFamily="34" charset="0"/>
                <a:cs typeface="Times New Roman" pitchFamily="18" charset="0"/>
              </a:rPr>
              <a:t>个字符</a:t>
            </a:r>
          </a:p>
          <a:p>
            <a:pPr algn="l">
              <a:buFontTx/>
              <a:buAutoNum type="arabicParenR"/>
            </a:pPr>
            <a:r>
              <a:rPr kumimoji="0" lang="en-US" altLang="zh-CN" i="1">
                <a:latin typeface="Arial Narrow" pitchFamily="34" charset="0"/>
                <a:ea typeface="宋体" charset="-122"/>
              </a:rPr>
              <a:t>value </a:t>
            </a:r>
            <a:r>
              <a:rPr kumimoji="0" lang="en-US" altLang="zh-CN">
                <a:latin typeface="Arial Narrow" pitchFamily="34" charset="0"/>
                <a:ea typeface="宋体" charset="-122"/>
              </a:rPr>
              <a:t>&gt;= -300   </a:t>
            </a:r>
          </a:p>
          <a:p>
            <a:pPr algn="l"/>
            <a:r>
              <a:rPr kumimoji="0" lang="en-US" altLang="zh-CN">
                <a:latin typeface="Times New Roman" pitchFamily="18" charset="0"/>
                <a:ea typeface="宋体" charset="-122"/>
              </a:rPr>
              <a:t>	</a:t>
            </a:r>
            <a:r>
              <a:rPr kumimoji="0" lang="en-US" altLang="zh-CN" b="0">
                <a:latin typeface="Times New Roman" pitchFamily="18" charset="0"/>
                <a:ea typeface="宋体" charset="-122"/>
              </a:rPr>
              <a:t>($300 </a:t>
            </a:r>
            <a:r>
              <a:rPr kumimoji="0" lang="zh-CN" altLang="en-US">
                <a:latin typeface="Times New Roman" pitchFamily="18" charset="0"/>
                <a:cs typeface="Times New Roman" pitchFamily="18" charset="0"/>
              </a:rPr>
              <a:t>是一辆报废汽车的处理价格</a:t>
            </a:r>
            <a:r>
              <a:rPr kumimoji="0" lang="en-US" altLang="zh-CN" b="0">
                <a:latin typeface="Times New Roman" pitchFamily="18" charset="0"/>
                <a:ea typeface="宋体" charset="-122"/>
              </a:rPr>
              <a:t>)</a:t>
            </a:r>
          </a:p>
          <a:p>
            <a:pPr algn="l">
              <a:buFontTx/>
              <a:buAutoNum type="arabicParenR" startAt="5"/>
            </a:pPr>
            <a:r>
              <a:rPr kumimoji="0" lang="en-US" altLang="zh-CN" i="1">
                <a:latin typeface="Arial Narrow" pitchFamily="34" charset="0"/>
                <a:ea typeface="宋体" charset="-122"/>
              </a:rPr>
              <a:t>originalPrice </a:t>
            </a:r>
            <a:r>
              <a:rPr kumimoji="0" lang="en-US" altLang="zh-CN">
                <a:latin typeface="Arial Narrow" pitchFamily="34" charset="0"/>
                <a:ea typeface="宋体" charset="-122"/>
              </a:rPr>
              <a:t>&gt;= 0</a:t>
            </a:r>
          </a:p>
          <a:p>
            <a:pPr algn="l">
              <a:buFontTx/>
              <a:buAutoNum type="arabicParenR" startAt="5"/>
            </a:pPr>
            <a:r>
              <a:rPr kumimoji="0" lang="en-US" altLang="zh-CN">
                <a:latin typeface="Arial Narrow" pitchFamily="34" charset="0"/>
                <a:ea typeface="宋体" charset="-122"/>
              </a:rPr>
              <a:t>( </a:t>
            </a:r>
            <a:r>
              <a:rPr kumimoji="0" lang="en-US" altLang="zh-CN" i="1">
                <a:latin typeface="Arial Narrow" pitchFamily="34" charset="0"/>
                <a:ea typeface="宋体" charset="-122"/>
              </a:rPr>
              <a:t>type</a:t>
            </a:r>
            <a:r>
              <a:rPr kumimoji="0" lang="en-US" altLang="zh-CN">
                <a:latin typeface="Arial Narrow" pitchFamily="34" charset="0"/>
                <a:ea typeface="宋体" charset="-122"/>
              </a:rPr>
              <a:t> == “REGULAR” &amp;&amp; </a:t>
            </a:r>
            <a:r>
              <a:rPr kumimoji="0" lang="en-US" altLang="zh-CN" i="1">
                <a:latin typeface="Arial Narrow" pitchFamily="34" charset="0"/>
                <a:ea typeface="宋体" charset="-122"/>
              </a:rPr>
              <a:t>value </a:t>
            </a:r>
            <a:r>
              <a:rPr kumimoji="0" lang="en-US" altLang="zh-CN">
                <a:latin typeface="Arial Narrow" pitchFamily="34" charset="0"/>
                <a:ea typeface="宋体" charset="-122"/>
              </a:rPr>
              <a:t>&lt;= </a:t>
            </a:r>
            <a:r>
              <a:rPr kumimoji="0" lang="en-US" altLang="zh-CN" i="1">
                <a:latin typeface="Arial Narrow" pitchFamily="34" charset="0"/>
                <a:ea typeface="宋体" charset="-122"/>
              </a:rPr>
              <a:t>originalPrice </a:t>
            </a:r>
            <a:r>
              <a:rPr kumimoji="0" lang="en-US" altLang="zh-CN">
                <a:latin typeface="Arial Narrow" pitchFamily="34" charset="0"/>
                <a:ea typeface="宋体" charset="-122"/>
              </a:rPr>
              <a:t>) ||</a:t>
            </a:r>
          </a:p>
          <a:p>
            <a:pPr algn="l"/>
            <a:r>
              <a:rPr kumimoji="0" lang="en-US" altLang="zh-CN">
                <a:solidFill>
                  <a:srgbClr val="000000"/>
                </a:solidFill>
                <a:latin typeface="Arial Narrow" pitchFamily="34" charset="0"/>
                <a:ea typeface="宋体" charset="-122"/>
              </a:rPr>
              <a:t>     ( </a:t>
            </a:r>
            <a:r>
              <a:rPr kumimoji="0" lang="en-US" altLang="zh-CN" i="1">
                <a:solidFill>
                  <a:srgbClr val="000000"/>
                </a:solidFill>
                <a:latin typeface="Arial Narrow" pitchFamily="34" charset="0"/>
                <a:ea typeface="宋体" charset="-122"/>
              </a:rPr>
              <a:t>type</a:t>
            </a:r>
            <a:r>
              <a:rPr kumimoji="0" lang="en-US" altLang="zh-CN">
                <a:solidFill>
                  <a:srgbClr val="000000"/>
                </a:solidFill>
                <a:latin typeface="Arial Narrow" pitchFamily="34" charset="0"/>
                <a:ea typeface="宋体" charset="-122"/>
              </a:rPr>
              <a:t> == “VINTAGE” &amp;&amp; </a:t>
            </a:r>
            <a:r>
              <a:rPr kumimoji="0" lang="en-US" altLang="zh-CN" i="1">
                <a:solidFill>
                  <a:srgbClr val="000000"/>
                </a:solidFill>
                <a:latin typeface="Arial Narrow" pitchFamily="34" charset="0"/>
                <a:ea typeface="宋体" charset="-122"/>
              </a:rPr>
              <a:t>value </a:t>
            </a:r>
            <a:r>
              <a:rPr kumimoji="0" lang="en-US" altLang="zh-CN">
                <a:solidFill>
                  <a:srgbClr val="000000"/>
                </a:solidFill>
                <a:latin typeface="Arial Narrow" pitchFamily="34" charset="0"/>
                <a:ea typeface="宋体" charset="-122"/>
              </a:rPr>
              <a:t>&gt;= </a:t>
            </a:r>
            <a:r>
              <a:rPr kumimoji="0" lang="en-US" altLang="zh-CN" i="1">
                <a:solidFill>
                  <a:srgbClr val="000000"/>
                </a:solidFill>
                <a:latin typeface="Arial Narrow" pitchFamily="34" charset="0"/>
                <a:ea typeface="宋体" charset="-122"/>
              </a:rPr>
              <a:t>originalPrice </a:t>
            </a:r>
            <a:r>
              <a:rPr kumimoji="0" lang="en-US" altLang="zh-CN">
                <a:solidFill>
                  <a:srgbClr val="000000"/>
                </a:solidFill>
                <a:latin typeface="Arial Narrow" pitchFamily="34" charset="0"/>
                <a:ea typeface="宋体" charset="-122"/>
              </a:rPr>
              <a:t>)</a:t>
            </a:r>
            <a:endParaRPr kumimoji="0" lang="en-US" altLang="zh-CN">
              <a:latin typeface="Arial Narrow" pitchFamily="34" charset="0"/>
              <a:ea typeface="宋体" charset="-122"/>
            </a:endParaRPr>
          </a:p>
        </p:txBody>
      </p:sp>
      <p:sp>
        <p:nvSpPr>
          <p:cNvPr id="9219" name="Rectangle 17"/>
          <p:cNvSpPr>
            <a:spLocks noGrp="1" noChangeArrowheads="1"/>
          </p:cNvSpPr>
          <p:nvPr>
            <p:ph type="title"/>
          </p:nvPr>
        </p:nvSpPr>
        <p:spPr>
          <a:xfrm>
            <a:off x="304800" y="457200"/>
            <a:ext cx="2667000" cy="942975"/>
          </a:xfrm>
          <a:noFill/>
        </p:spPr>
        <p:txBody>
          <a:bodyPr lIns="90488" tIns="44450" rIns="90488" bIns="44450" anchor="b">
            <a:spAutoFit/>
          </a:bodyPr>
          <a:lstStyle/>
          <a:p>
            <a:pPr algn="l" eaLnBrk="1" hangingPunct="1"/>
            <a:r>
              <a:rPr lang="en-US" altLang="zh-CN" sz="2800" i="1" smtClean="0">
                <a:solidFill>
                  <a:srgbClr val="0000FF"/>
                </a:solidFill>
              </a:rPr>
              <a:t>Automobile </a:t>
            </a:r>
            <a:r>
              <a:rPr lang="zh-CN" altLang="en-US" sz="2800" b="1" smtClean="0">
                <a:solidFill>
                  <a:srgbClr val="0000FF"/>
                </a:solidFill>
                <a:ea typeface="楷体_GB2312" pitchFamily="49" charset="-122"/>
              </a:rPr>
              <a:t>类的不变式</a:t>
            </a:r>
          </a:p>
        </p:txBody>
      </p:sp>
    </p:spTree>
    <p:extLst>
      <p:ext uri="{BB962C8B-B14F-4D97-AF65-F5344CB8AC3E}">
        <p14:creationId xmlns:p14="http://schemas.microsoft.com/office/powerpoint/2010/main" val="288393132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zh-CN" altLang="en-US" b="1" dirty="0" smtClean="0">
                <a:ea typeface="楷体_GB2312" pitchFamily="49" charset="-122"/>
              </a:rPr>
              <a:t>实现正确性的正式方法</a:t>
            </a:r>
          </a:p>
        </p:txBody>
      </p:sp>
      <p:sp>
        <p:nvSpPr>
          <p:cNvPr id="10243" name="Rectangle 3"/>
          <p:cNvSpPr>
            <a:spLocks noGrp="1" noChangeArrowheads="1"/>
          </p:cNvSpPr>
          <p:nvPr>
            <p:ph type="body" idx="1"/>
          </p:nvPr>
        </p:nvSpPr>
        <p:spPr>
          <a:xfrm>
            <a:off x="685800" y="1676400"/>
            <a:ext cx="7772400" cy="4267200"/>
          </a:xfrm>
        </p:spPr>
        <p:txBody>
          <a:bodyPr/>
          <a:lstStyle/>
          <a:p>
            <a:pPr eaLnBrk="1" hangingPunct="1"/>
            <a:r>
              <a:rPr lang="en-US" altLang="zh-CN" b="1" dirty="0" smtClean="0">
                <a:ea typeface="楷体_GB2312" pitchFamily="49" charset="-122"/>
              </a:rPr>
              <a:t>Automobile</a:t>
            </a:r>
            <a:r>
              <a:rPr lang="zh-CN" altLang="en-US" b="1" dirty="0" smtClean="0">
                <a:ea typeface="楷体_GB2312" pitchFamily="49" charset="-122"/>
              </a:rPr>
              <a:t>类的方法要考虑这些不变式，因此将变量设为私有，并且只能通过公有的存取方法才能改变他们的值。</a:t>
            </a:r>
          </a:p>
          <a:p>
            <a:pPr eaLnBrk="1" hangingPunct="1"/>
            <a:r>
              <a:rPr lang="zh-CN" altLang="en-US" b="1" dirty="0" smtClean="0">
                <a:ea typeface="楷体_GB2312" pitchFamily="49" charset="-122"/>
              </a:rPr>
              <a:t>可以对存取方法进行编码来保持不变式。</a:t>
            </a:r>
          </a:p>
          <a:p>
            <a:pPr eaLnBrk="1" hangingPunct="1"/>
            <a:r>
              <a:rPr lang="zh-CN" altLang="en-US" b="1" dirty="0" smtClean="0">
                <a:ea typeface="楷体_GB2312" pitchFamily="49" charset="-122"/>
              </a:rPr>
              <a:t>在</a:t>
            </a:r>
            <a:r>
              <a:rPr lang="en-US" altLang="zh-CN" b="1" dirty="0" smtClean="0">
                <a:ea typeface="楷体_GB2312" pitchFamily="49" charset="-122"/>
              </a:rPr>
              <a:t>Automobile</a:t>
            </a:r>
            <a:r>
              <a:rPr lang="zh-CN" altLang="en-US" b="1" dirty="0" smtClean="0">
                <a:ea typeface="楷体_GB2312" pitchFamily="49" charset="-122"/>
              </a:rPr>
              <a:t>类中使用“</a:t>
            </a:r>
            <a:r>
              <a:rPr lang="en-US" altLang="zh-CN" b="1" dirty="0" smtClean="0">
                <a:ea typeface="楷体_GB2312" pitchFamily="49" charset="-122"/>
              </a:rPr>
              <a:t>setter”</a:t>
            </a:r>
            <a:r>
              <a:rPr lang="zh-CN" altLang="en-US" b="1" dirty="0" smtClean="0">
                <a:ea typeface="楷体_GB2312" pitchFamily="49" charset="-122"/>
              </a:rPr>
              <a:t>方法来设置类不变式。</a:t>
            </a:r>
          </a:p>
        </p:txBody>
      </p:sp>
      <p:sp>
        <p:nvSpPr>
          <p:cNvPr id="10244" name="Text Box 4"/>
          <p:cNvSpPr txBox="1">
            <a:spLocks noChangeArrowheads="1"/>
          </p:cNvSpPr>
          <p:nvPr/>
        </p:nvSpPr>
        <p:spPr bwMode="auto">
          <a:xfrm>
            <a:off x="1143000" y="5791200"/>
            <a:ext cx="64770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108000" rIns="0" bIns="108000">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en-US" altLang="zh-CN"/>
              <a:t>Automobile</a:t>
            </a:r>
            <a:r>
              <a:rPr lang="zh-CN" altLang="en-US"/>
              <a:t>的一个客户的</a:t>
            </a:r>
            <a:r>
              <a:rPr lang="en-US" altLang="zh-CN">
                <a:hlinkClick r:id="rId2" action="ppaction://hlinkfile"/>
              </a:rPr>
              <a:t>main()</a:t>
            </a:r>
            <a:r>
              <a:rPr lang="zh-CN" altLang="en-US"/>
              <a:t>方法</a:t>
            </a:r>
          </a:p>
        </p:txBody>
      </p:sp>
    </p:spTree>
    <p:extLst>
      <p:ext uri="{BB962C8B-B14F-4D97-AF65-F5344CB8AC3E}">
        <p14:creationId xmlns:p14="http://schemas.microsoft.com/office/powerpoint/2010/main" val="300407834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健壮性</a:t>
            </a:r>
          </a:p>
        </p:txBody>
      </p:sp>
      <p:sp>
        <p:nvSpPr>
          <p:cNvPr id="105475" name="Rectangle 3"/>
          <p:cNvSpPr>
            <a:spLocks noChangeArrowheads="1"/>
          </p:cNvSpPr>
          <p:nvPr/>
        </p:nvSpPr>
        <p:spPr bwMode="auto">
          <a:xfrm>
            <a:off x="109538" y="1295400"/>
            <a:ext cx="89154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marL="342900" indent="-342900" algn="l">
              <a:lnSpc>
                <a:spcPct val="145000"/>
              </a:lnSpc>
              <a:spcBef>
                <a:spcPct val="0"/>
              </a:spcBef>
              <a:buFontTx/>
              <a:buChar char="•"/>
            </a:pPr>
            <a:r>
              <a:rPr kumimoji="0" lang="zh-CN" altLang="en-US" sz="3200">
                <a:solidFill>
                  <a:srgbClr val="0000CC"/>
                </a:solidFill>
                <a:latin typeface="Arial" charset="0"/>
              </a:rPr>
              <a:t>错误的原因</a:t>
            </a:r>
          </a:p>
          <a:p>
            <a:pPr marL="742950" lvl="1" indent="-285750" algn="l">
              <a:lnSpc>
                <a:spcPct val="145000"/>
              </a:lnSpc>
              <a:spcBef>
                <a:spcPct val="0"/>
              </a:spcBef>
              <a:buFontTx/>
              <a:buChar char="–"/>
            </a:pPr>
            <a:r>
              <a:rPr kumimoji="0" lang="zh-CN" altLang="en-US">
                <a:solidFill>
                  <a:srgbClr val="0000CC"/>
                </a:solidFill>
                <a:latin typeface="Arial" charset="0"/>
              </a:rPr>
              <a:t>防止错误输入</a:t>
            </a:r>
          </a:p>
          <a:p>
            <a:pPr marL="1143000" lvl="2" indent="-228600" algn="l">
              <a:lnSpc>
                <a:spcPct val="145000"/>
              </a:lnSpc>
              <a:spcBef>
                <a:spcPct val="0"/>
              </a:spcBef>
              <a:buFontTx/>
              <a:buChar char="•"/>
            </a:pPr>
            <a:r>
              <a:rPr kumimoji="0" lang="zh-CN" altLang="en-US" sz="2400">
                <a:latin typeface="Arial" charset="0"/>
              </a:rPr>
              <a:t>用户输入</a:t>
            </a:r>
          </a:p>
          <a:p>
            <a:pPr marL="1143000" lvl="2" indent="-228600" algn="l">
              <a:lnSpc>
                <a:spcPct val="145000"/>
              </a:lnSpc>
              <a:spcBef>
                <a:spcPct val="0"/>
              </a:spcBef>
              <a:buFontTx/>
              <a:buChar char="•"/>
            </a:pPr>
            <a:r>
              <a:rPr kumimoji="0" lang="zh-CN" altLang="en-US" sz="2400">
                <a:latin typeface="Arial" charset="0"/>
              </a:rPr>
              <a:t>不是用户的输入</a:t>
            </a:r>
          </a:p>
          <a:p>
            <a:pPr marL="1600200" lvl="3" indent="-228600" algn="l">
              <a:lnSpc>
                <a:spcPct val="145000"/>
              </a:lnSpc>
              <a:spcBef>
                <a:spcPct val="0"/>
              </a:spcBef>
              <a:buFontTx/>
              <a:buChar char="–"/>
            </a:pPr>
            <a:r>
              <a:rPr kumimoji="0" lang="zh-CN" altLang="en-US" sz="2000">
                <a:latin typeface="Arial" charset="0"/>
              </a:rPr>
              <a:t>数据通信</a:t>
            </a:r>
          </a:p>
          <a:p>
            <a:pPr marL="1600200" lvl="3" indent="-228600" algn="l">
              <a:lnSpc>
                <a:spcPct val="145000"/>
              </a:lnSpc>
              <a:spcBef>
                <a:spcPct val="0"/>
              </a:spcBef>
              <a:buFontTx/>
              <a:buChar char="–"/>
            </a:pPr>
            <a:r>
              <a:rPr kumimoji="0" lang="zh-CN" altLang="en-US" sz="2000">
                <a:latin typeface="Arial" charset="0"/>
              </a:rPr>
              <a:t>其他应用程序的方法调用</a:t>
            </a:r>
          </a:p>
          <a:p>
            <a:pPr marL="742950" lvl="1" indent="-285750" algn="l">
              <a:lnSpc>
                <a:spcPct val="145000"/>
              </a:lnSpc>
              <a:spcBef>
                <a:spcPct val="0"/>
              </a:spcBef>
              <a:buFontTx/>
              <a:buChar char="–"/>
            </a:pPr>
            <a:r>
              <a:rPr kumimoji="0" lang="zh-CN" altLang="en-US">
                <a:solidFill>
                  <a:srgbClr val="0000CC"/>
                </a:solidFill>
                <a:latin typeface="Arial" charset="0"/>
              </a:rPr>
              <a:t>防止开发错误</a:t>
            </a:r>
          </a:p>
          <a:p>
            <a:pPr marL="1143000" lvl="2" indent="-228600" algn="l">
              <a:lnSpc>
                <a:spcPct val="145000"/>
              </a:lnSpc>
              <a:spcBef>
                <a:spcPct val="0"/>
              </a:spcBef>
              <a:buFontTx/>
              <a:buChar char="•"/>
            </a:pPr>
            <a:r>
              <a:rPr kumimoji="0" lang="zh-CN" altLang="en-US" sz="2400">
                <a:latin typeface="Arial" charset="0"/>
              </a:rPr>
              <a:t>错误的设计</a:t>
            </a:r>
          </a:p>
          <a:p>
            <a:pPr marL="1143000" lvl="2" indent="-228600" algn="l">
              <a:lnSpc>
                <a:spcPct val="145000"/>
              </a:lnSpc>
              <a:spcBef>
                <a:spcPct val="0"/>
              </a:spcBef>
              <a:buFontTx/>
              <a:buChar char="•"/>
            </a:pPr>
            <a:r>
              <a:rPr kumimoji="0" lang="zh-CN" altLang="en-US" sz="2400">
                <a:latin typeface="Arial" charset="0"/>
              </a:rPr>
              <a:t>错误的实现</a:t>
            </a:r>
            <a:endParaRPr kumimoji="0" lang="zh-CN" altLang="en-US">
              <a:latin typeface="Arial" charset="0"/>
            </a:endParaRPr>
          </a:p>
        </p:txBody>
      </p:sp>
    </p:spTree>
    <p:extLst>
      <p:ext uri="{BB962C8B-B14F-4D97-AF65-F5344CB8AC3E}">
        <p14:creationId xmlns:p14="http://schemas.microsoft.com/office/powerpoint/2010/main" val="16439398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5475">
                                            <p:txEl>
                                              <p:pRg st="1" end="1"/>
                                            </p:txEl>
                                          </p:spTgt>
                                        </p:tgtEl>
                                        <p:attrNameLst>
                                          <p:attrName>style.visibility</p:attrName>
                                        </p:attrNameLst>
                                      </p:cBhvr>
                                      <p:to>
                                        <p:strVal val="visible"/>
                                      </p:to>
                                    </p:set>
                                    <p:animEffect transition="in" filter="wipe(left)">
                                      <p:cBhvr>
                                        <p:cTn id="7" dur="500"/>
                                        <p:tgtEl>
                                          <p:spTgt spid="105475">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05475">
                                            <p:txEl>
                                              <p:pRg st="2" end="2"/>
                                            </p:txEl>
                                          </p:spTgt>
                                        </p:tgtEl>
                                        <p:attrNameLst>
                                          <p:attrName>style.visibility</p:attrName>
                                        </p:attrNameLst>
                                      </p:cBhvr>
                                      <p:to>
                                        <p:strVal val="visible"/>
                                      </p:to>
                                    </p:set>
                                    <p:animEffect transition="in" filter="wipe(left)">
                                      <p:cBhvr>
                                        <p:cTn id="10" dur="500"/>
                                        <p:tgtEl>
                                          <p:spTgt spid="105475">
                                            <p:txEl>
                                              <p:pRg st="2" end="2"/>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105475">
                                            <p:txEl>
                                              <p:pRg st="3" end="3"/>
                                            </p:txEl>
                                          </p:spTgt>
                                        </p:tgtEl>
                                        <p:attrNameLst>
                                          <p:attrName>style.visibility</p:attrName>
                                        </p:attrNameLst>
                                      </p:cBhvr>
                                      <p:to>
                                        <p:strVal val="visible"/>
                                      </p:to>
                                    </p:set>
                                    <p:animEffect transition="in" filter="wipe(left)">
                                      <p:cBhvr>
                                        <p:cTn id="13" dur="500"/>
                                        <p:tgtEl>
                                          <p:spTgt spid="105475">
                                            <p:txEl>
                                              <p:pRg st="3" end="3"/>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105475">
                                            <p:txEl>
                                              <p:pRg st="4" end="4"/>
                                            </p:txEl>
                                          </p:spTgt>
                                        </p:tgtEl>
                                        <p:attrNameLst>
                                          <p:attrName>style.visibility</p:attrName>
                                        </p:attrNameLst>
                                      </p:cBhvr>
                                      <p:to>
                                        <p:strVal val="visible"/>
                                      </p:to>
                                    </p:set>
                                    <p:animEffect transition="in" filter="wipe(left)">
                                      <p:cBhvr>
                                        <p:cTn id="16" dur="500"/>
                                        <p:tgtEl>
                                          <p:spTgt spid="105475">
                                            <p:txEl>
                                              <p:pRg st="4" end="4"/>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105475">
                                            <p:txEl>
                                              <p:pRg st="5" end="5"/>
                                            </p:txEl>
                                          </p:spTgt>
                                        </p:tgtEl>
                                        <p:attrNameLst>
                                          <p:attrName>style.visibility</p:attrName>
                                        </p:attrNameLst>
                                      </p:cBhvr>
                                      <p:to>
                                        <p:strVal val="visible"/>
                                      </p:to>
                                    </p:set>
                                    <p:animEffect transition="in" filter="wipe(left)">
                                      <p:cBhvr>
                                        <p:cTn id="19" dur="500"/>
                                        <p:tgtEl>
                                          <p:spTgt spid="105475">
                                            <p:txEl>
                                              <p:pRg st="5" end="5"/>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05475">
                                            <p:txEl>
                                              <p:pRg st="6" end="6"/>
                                            </p:txEl>
                                          </p:spTgt>
                                        </p:tgtEl>
                                        <p:attrNameLst>
                                          <p:attrName>style.visibility</p:attrName>
                                        </p:attrNameLst>
                                      </p:cBhvr>
                                      <p:to>
                                        <p:strVal val="visible"/>
                                      </p:to>
                                    </p:set>
                                    <p:animEffect transition="in" filter="wipe(left)">
                                      <p:cBhvr>
                                        <p:cTn id="24" dur="500"/>
                                        <p:tgtEl>
                                          <p:spTgt spid="105475">
                                            <p:txEl>
                                              <p:pRg st="6" end="6"/>
                                            </p:txEl>
                                          </p:spTgt>
                                        </p:tgtEl>
                                      </p:cBhvr>
                                    </p:animEffect>
                                  </p:childTnLst>
                                </p:cTn>
                              </p:par>
                              <p:par>
                                <p:cTn id="25" presetID="22" presetClass="entr" presetSubtype="8" fill="hold" nodeType="withEffect">
                                  <p:stCondLst>
                                    <p:cond delay="0"/>
                                  </p:stCondLst>
                                  <p:childTnLst>
                                    <p:set>
                                      <p:cBhvr>
                                        <p:cTn id="26" dur="1" fill="hold">
                                          <p:stCondLst>
                                            <p:cond delay="0"/>
                                          </p:stCondLst>
                                        </p:cTn>
                                        <p:tgtEl>
                                          <p:spTgt spid="105475">
                                            <p:txEl>
                                              <p:pRg st="7" end="7"/>
                                            </p:txEl>
                                          </p:spTgt>
                                        </p:tgtEl>
                                        <p:attrNameLst>
                                          <p:attrName>style.visibility</p:attrName>
                                        </p:attrNameLst>
                                      </p:cBhvr>
                                      <p:to>
                                        <p:strVal val="visible"/>
                                      </p:to>
                                    </p:set>
                                    <p:animEffect transition="in" filter="wipe(left)">
                                      <p:cBhvr>
                                        <p:cTn id="27" dur="500"/>
                                        <p:tgtEl>
                                          <p:spTgt spid="105475">
                                            <p:txEl>
                                              <p:pRg st="7" end="7"/>
                                            </p:txEl>
                                          </p:spTgt>
                                        </p:tgtEl>
                                      </p:cBhvr>
                                    </p:animEffect>
                                  </p:childTnLst>
                                </p:cTn>
                              </p:par>
                              <p:par>
                                <p:cTn id="28" presetID="22" presetClass="entr" presetSubtype="8" fill="hold" nodeType="withEffect">
                                  <p:stCondLst>
                                    <p:cond delay="0"/>
                                  </p:stCondLst>
                                  <p:childTnLst>
                                    <p:set>
                                      <p:cBhvr>
                                        <p:cTn id="29" dur="1" fill="hold">
                                          <p:stCondLst>
                                            <p:cond delay="0"/>
                                          </p:stCondLst>
                                        </p:cTn>
                                        <p:tgtEl>
                                          <p:spTgt spid="105475">
                                            <p:txEl>
                                              <p:pRg st="8" end="8"/>
                                            </p:txEl>
                                          </p:spTgt>
                                        </p:tgtEl>
                                        <p:attrNameLst>
                                          <p:attrName>style.visibility</p:attrName>
                                        </p:attrNameLst>
                                      </p:cBhvr>
                                      <p:to>
                                        <p:strVal val="visible"/>
                                      </p:to>
                                    </p:set>
                                    <p:animEffect transition="in" filter="wipe(left)">
                                      <p:cBhvr>
                                        <p:cTn id="30" dur="500"/>
                                        <p:tgtEl>
                                          <p:spTgt spid="10547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检查输入（保证环境健壮性）</a:t>
            </a:r>
          </a:p>
        </p:txBody>
      </p:sp>
      <p:sp>
        <p:nvSpPr>
          <p:cNvPr id="106499" name="Rectangle 3"/>
          <p:cNvSpPr>
            <a:spLocks noChangeArrowheads="1"/>
          </p:cNvSpPr>
          <p:nvPr/>
        </p:nvSpPr>
        <p:spPr bwMode="auto">
          <a:xfrm>
            <a:off x="109538" y="1295400"/>
            <a:ext cx="89154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marL="342900" indent="-342900" algn="l">
              <a:lnSpc>
                <a:spcPct val="145000"/>
              </a:lnSpc>
              <a:spcBef>
                <a:spcPct val="0"/>
              </a:spcBef>
              <a:buFontTx/>
              <a:buChar char="•"/>
            </a:pPr>
            <a:r>
              <a:rPr kumimoji="0" lang="zh-CN" altLang="en-US" sz="3200" dirty="0">
                <a:solidFill>
                  <a:srgbClr val="0000CC"/>
                </a:solidFill>
                <a:latin typeface="Arial" charset="0"/>
              </a:rPr>
              <a:t>在继续进行处理之前，可以检查应用程序的所有输入的方法。</a:t>
            </a:r>
          </a:p>
          <a:p>
            <a:pPr marL="742950" lvl="1" indent="-285750" algn="l">
              <a:lnSpc>
                <a:spcPct val="145000"/>
              </a:lnSpc>
              <a:spcBef>
                <a:spcPct val="0"/>
              </a:spcBef>
              <a:buFontTx/>
              <a:buChar char="–"/>
            </a:pPr>
            <a:r>
              <a:rPr kumimoji="0" lang="zh-CN" altLang="en-US" sz="2400" dirty="0">
                <a:solidFill>
                  <a:srgbClr val="0000CC"/>
                </a:solidFill>
                <a:latin typeface="Arial" charset="0"/>
              </a:rPr>
              <a:t>检查类型</a:t>
            </a:r>
          </a:p>
          <a:p>
            <a:pPr marL="742950" lvl="1" indent="-285750" algn="l">
              <a:lnSpc>
                <a:spcPct val="145000"/>
              </a:lnSpc>
              <a:spcBef>
                <a:spcPct val="0"/>
              </a:spcBef>
              <a:buFontTx/>
              <a:buChar char="–"/>
            </a:pPr>
            <a:r>
              <a:rPr kumimoji="0" lang="zh-CN" altLang="en-US" sz="2400" dirty="0">
                <a:solidFill>
                  <a:srgbClr val="0000CC"/>
                </a:solidFill>
                <a:latin typeface="Arial" charset="0"/>
              </a:rPr>
              <a:t>检查与前置条件和不变式不符的输入</a:t>
            </a:r>
          </a:p>
        </p:txBody>
      </p:sp>
    </p:spTree>
    <p:extLst>
      <p:ext uri="{BB962C8B-B14F-4D97-AF65-F5344CB8AC3E}">
        <p14:creationId xmlns:p14="http://schemas.microsoft.com/office/powerpoint/2010/main" val="36950269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6499">
                                            <p:txEl>
                                              <p:pRg st="1" end="1"/>
                                            </p:txEl>
                                          </p:spTgt>
                                        </p:tgtEl>
                                        <p:attrNameLst>
                                          <p:attrName>style.visibility</p:attrName>
                                        </p:attrNameLst>
                                      </p:cBhvr>
                                      <p:to>
                                        <p:strVal val="visible"/>
                                      </p:to>
                                    </p:set>
                                    <p:animEffect transition="in" filter="wipe(left)">
                                      <p:cBhvr>
                                        <p:cTn id="7" dur="500"/>
                                        <p:tgtEl>
                                          <p:spTgt spid="10649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6499">
                                            <p:txEl>
                                              <p:pRg st="2" end="2"/>
                                            </p:txEl>
                                          </p:spTgt>
                                        </p:tgtEl>
                                        <p:attrNameLst>
                                          <p:attrName>style.visibility</p:attrName>
                                        </p:attrNameLst>
                                      </p:cBhvr>
                                      <p:to>
                                        <p:strVal val="visible"/>
                                      </p:to>
                                    </p:set>
                                    <p:animEffect transition="in" filter="wipe(left)">
                                      <p:cBhvr>
                                        <p:cTn id="12" dur="500"/>
                                        <p:tgtEl>
                                          <p:spTgt spid="1064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zh-CN" altLang="en-US" b="1" dirty="0" smtClean="0">
                <a:solidFill>
                  <a:schemeClr val="accent2"/>
                </a:solidFill>
                <a:ea typeface="楷体_GB2312" pitchFamily="49" charset="-122"/>
              </a:rPr>
              <a:t>为提高健壮性而初始化</a:t>
            </a:r>
          </a:p>
        </p:txBody>
      </p:sp>
      <p:sp>
        <p:nvSpPr>
          <p:cNvPr id="32771" name="Rectangle 3"/>
          <p:cNvSpPr>
            <a:spLocks noChangeArrowheads="1"/>
          </p:cNvSpPr>
          <p:nvPr/>
        </p:nvSpPr>
        <p:spPr bwMode="auto">
          <a:xfrm>
            <a:off x="109538" y="1295400"/>
            <a:ext cx="89154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marL="342900" indent="-342900" algn="l">
              <a:lnSpc>
                <a:spcPct val="145000"/>
              </a:lnSpc>
              <a:spcBef>
                <a:spcPct val="0"/>
              </a:spcBef>
              <a:buFontTx/>
              <a:buChar char="•"/>
            </a:pPr>
            <a:r>
              <a:rPr kumimoji="0" lang="zh-CN" altLang="en-US" sz="3200" dirty="0">
                <a:solidFill>
                  <a:srgbClr val="0000CC"/>
                </a:solidFill>
                <a:latin typeface="Arial" charset="0"/>
              </a:rPr>
              <a:t>初始化变量是很好的练习：</a:t>
            </a:r>
            <a:r>
              <a:rPr kumimoji="0" lang="en-US" altLang="zh-CN" sz="3200" dirty="0" err="1">
                <a:solidFill>
                  <a:srgbClr val="0000CC"/>
                </a:solidFill>
                <a:latin typeface="Arial" charset="0"/>
              </a:rPr>
              <a:t>int</a:t>
            </a:r>
            <a:r>
              <a:rPr kumimoji="0" lang="en-US" altLang="zh-CN" sz="3200" dirty="0">
                <a:solidFill>
                  <a:srgbClr val="0000CC"/>
                </a:solidFill>
                <a:latin typeface="Arial" charset="0"/>
              </a:rPr>
              <a:t> I = 0;</a:t>
            </a:r>
          </a:p>
          <a:p>
            <a:pPr marL="342900" indent="-342900" algn="l">
              <a:lnSpc>
                <a:spcPct val="145000"/>
              </a:lnSpc>
              <a:spcBef>
                <a:spcPct val="0"/>
              </a:spcBef>
              <a:buFontTx/>
              <a:buChar char="•"/>
            </a:pPr>
            <a:r>
              <a:rPr kumimoji="0" lang="zh-CN" altLang="en-US" sz="3200" dirty="0">
                <a:solidFill>
                  <a:srgbClr val="0000CC"/>
                </a:solidFill>
                <a:latin typeface="Arial" charset="0"/>
              </a:rPr>
              <a:t>因为带着未初始化的变量执行一个程序所受的损失比先初始化变量要大得多。</a:t>
            </a:r>
          </a:p>
          <a:p>
            <a:pPr marL="342900" indent="-342900" algn="l">
              <a:lnSpc>
                <a:spcPct val="145000"/>
              </a:lnSpc>
              <a:spcBef>
                <a:spcPct val="0"/>
              </a:spcBef>
              <a:buFontTx/>
              <a:buChar char="•"/>
            </a:pPr>
            <a:r>
              <a:rPr kumimoji="0" lang="zh-CN" altLang="en-US" sz="3200" dirty="0">
                <a:solidFill>
                  <a:srgbClr val="0000CC"/>
                </a:solidFill>
                <a:latin typeface="Arial" charset="0"/>
              </a:rPr>
              <a:t>当应用程序的不良性能变得明显时</a:t>
            </a:r>
            <a:r>
              <a:rPr kumimoji="0" lang="zh-CN" altLang="en-US" sz="3200" dirty="0" smtClean="0">
                <a:solidFill>
                  <a:srgbClr val="0000CC"/>
                </a:solidFill>
                <a:latin typeface="Arial" charset="0"/>
              </a:rPr>
              <a:t>，对变量初始化</a:t>
            </a:r>
            <a:r>
              <a:rPr kumimoji="0" lang="zh-CN" altLang="en-US" sz="3200" dirty="0">
                <a:solidFill>
                  <a:srgbClr val="0000CC"/>
                </a:solidFill>
                <a:latin typeface="Arial" charset="0"/>
              </a:rPr>
              <a:t>版本的程序可能产生更多有价值的信息。</a:t>
            </a:r>
          </a:p>
        </p:txBody>
      </p:sp>
    </p:spTree>
    <p:extLst>
      <p:ext uri="{BB962C8B-B14F-4D97-AF65-F5344CB8AC3E}">
        <p14:creationId xmlns:p14="http://schemas.microsoft.com/office/powerpoint/2010/main" val="193388627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提高健壮性的参数传递技术</a:t>
            </a:r>
          </a:p>
        </p:txBody>
      </p:sp>
      <p:sp>
        <p:nvSpPr>
          <p:cNvPr id="33795" name="Rectangle 3"/>
          <p:cNvSpPr>
            <a:spLocks noChangeArrowheads="1"/>
          </p:cNvSpPr>
          <p:nvPr/>
        </p:nvSpPr>
        <p:spPr bwMode="auto">
          <a:xfrm>
            <a:off x="109538" y="1295400"/>
            <a:ext cx="89154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marL="342900" indent="-342900" algn="l">
              <a:lnSpc>
                <a:spcPct val="145000"/>
              </a:lnSpc>
              <a:spcBef>
                <a:spcPct val="0"/>
              </a:spcBef>
              <a:buFontTx/>
              <a:buChar char="•"/>
            </a:pPr>
            <a:r>
              <a:rPr kumimoji="0" lang="zh-CN" altLang="en-US" sz="2400" dirty="0">
                <a:solidFill>
                  <a:srgbClr val="0000CC"/>
                </a:solidFill>
                <a:latin typeface="Arial" charset="0"/>
              </a:rPr>
              <a:t>如 </a:t>
            </a:r>
            <a:r>
              <a:rPr kumimoji="0" lang="en-US" altLang="zh-CN" sz="2400" dirty="0" err="1">
                <a:solidFill>
                  <a:srgbClr val="0000CC"/>
                </a:solidFill>
                <a:latin typeface="Times New Roman" pitchFamily="18" charset="0"/>
              </a:rPr>
              <a:t>int</a:t>
            </a:r>
            <a:r>
              <a:rPr kumimoji="0" lang="en-US" altLang="zh-CN" sz="2400" dirty="0">
                <a:solidFill>
                  <a:srgbClr val="0000CC"/>
                </a:solidFill>
                <a:latin typeface="Times New Roman" pitchFamily="18" charset="0"/>
              </a:rPr>
              <a:t> </a:t>
            </a:r>
            <a:r>
              <a:rPr kumimoji="0" lang="en-US" altLang="zh-CN" sz="2400" dirty="0" err="1">
                <a:solidFill>
                  <a:srgbClr val="0000CC"/>
                </a:solidFill>
                <a:latin typeface="Times New Roman" pitchFamily="18" charset="0"/>
              </a:rPr>
              <a:t>computeArea</a:t>
            </a:r>
            <a:r>
              <a:rPr kumimoji="0" lang="en-US" altLang="zh-CN" sz="2400" dirty="0">
                <a:solidFill>
                  <a:srgbClr val="0000CC"/>
                </a:solidFill>
                <a:latin typeface="Times New Roman" pitchFamily="18" charset="0"/>
              </a:rPr>
              <a:t>(</a:t>
            </a:r>
            <a:r>
              <a:rPr kumimoji="0" lang="en-US" altLang="zh-CN" sz="2400" dirty="0" err="1">
                <a:solidFill>
                  <a:srgbClr val="0000CC"/>
                </a:solidFill>
                <a:latin typeface="Times New Roman" pitchFamily="18" charset="0"/>
              </a:rPr>
              <a:t>int</a:t>
            </a:r>
            <a:r>
              <a:rPr kumimoji="0" lang="en-US" altLang="zh-CN" sz="2400" dirty="0">
                <a:solidFill>
                  <a:srgbClr val="0000CC"/>
                </a:solidFill>
                <a:latin typeface="Times New Roman" pitchFamily="18" charset="0"/>
              </a:rPr>
              <a:t> </a:t>
            </a:r>
            <a:r>
              <a:rPr kumimoji="0" lang="en-US" altLang="zh-CN" sz="2400" dirty="0" err="1">
                <a:solidFill>
                  <a:srgbClr val="0000CC"/>
                </a:solidFill>
                <a:latin typeface="Times New Roman" pitchFamily="18" charset="0"/>
              </a:rPr>
              <a:t>aLength</a:t>
            </a:r>
            <a:r>
              <a:rPr kumimoji="0" lang="en-US" altLang="zh-CN" sz="2400" dirty="0">
                <a:solidFill>
                  <a:srgbClr val="0000CC"/>
                </a:solidFill>
                <a:latin typeface="Times New Roman" pitchFamily="18" charset="0"/>
              </a:rPr>
              <a:t>, </a:t>
            </a:r>
            <a:r>
              <a:rPr kumimoji="0" lang="en-US" altLang="zh-CN" sz="2400" dirty="0" err="1">
                <a:solidFill>
                  <a:srgbClr val="0000CC"/>
                </a:solidFill>
                <a:latin typeface="Times New Roman" pitchFamily="18" charset="0"/>
              </a:rPr>
              <a:t>int</a:t>
            </a:r>
            <a:r>
              <a:rPr kumimoji="0" lang="en-US" altLang="zh-CN" sz="2400" dirty="0">
                <a:solidFill>
                  <a:srgbClr val="0000CC"/>
                </a:solidFill>
                <a:latin typeface="Times New Roman" pitchFamily="18" charset="0"/>
              </a:rPr>
              <a:t> </a:t>
            </a:r>
            <a:r>
              <a:rPr kumimoji="0" lang="en-US" altLang="zh-CN" sz="2400" dirty="0" err="1">
                <a:solidFill>
                  <a:srgbClr val="0000CC"/>
                </a:solidFill>
                <a:latin typeface="Times New Roman" pitchFamily="18" charset="0"/>
              </a:rPr>
              <a:t>aBreadth</a:t>
            </a:r>
            <a:r>
              <a:rPr kumimoji="0" lang="en-US" altLang="zh-CN" sz="2400" dirty="0">
                <a:solidFill>
                  <a:srgbClr val="0000CC"/>
                </a:solidFill>
                <a:latin typeface="Times New Roman" pitchFamily="18" charset="0"/>
              </a:rPr>
              <a:t>){…}</a:t>
            </a:r>
          </a:p>
          <a:p>
            <a:pPr marL="342900" indent="-342900" algn="l">
              <a:lnSpc>
                <a:spcPct val="145000"/>
              </a:lnSpc>
              <a:spcBef>
                <a:spcPct val="0"/>
              </a:spcBef>
              <a:buFontTx/>
              <a:buChar char="•"/>
            </a:pPr>
            <a:r>
              <a:rPr kumimoji="0" lang="zh-CN" altLang="en-US" sz="2400" dirty="0">
                <a:solidFill>
                  <a:srgbClr val="0000CC"/>
                </a:solidFill>
                <a:latin typeface="Times New Roman" pitchFamily="18" charset="0"/>
              </a:rPr>
              <a:t>如果可行，捕获在类中的参数约束</a:t>
            </a:r>
          </a:p>
          <a:p>
            <a:pPr marL="342900" indent="-342900" algn="l">
              <a:lnSpc>
                <a:spcPct val="145000"/>
              </a:lnSpc>
              <a:spcBef>
                <a:spcPct val="0"/>
              </a:spcBef>
              <a:buFontTx/>
              <a:buChar char="•"/>
            </a:pPr>
            <a:r>
              <a:rPr kumimoji="0" lang="en-US" altLang="zh-CN" sz="2400" dirty="0" err="1">
                <a:solidFill>
                  <a:srgbClr val="0000CC"/>
                </a:solidFill>
                <a:latin typeface="Times New Roman" pitchFamily="18" charset="0"/>
              </a:rPr>
              <a:t>int</a:t>
            </a:r>
            <a:r>
              <a:rPr kumimoji="0" lang="en-US" altLang="zh-CN" sz="2400" dirty="0">
                <a:solidFill>
                  <a:srgbClr val="0000CC"/>
                </a:solidFill>
                <a:latin typeface="Times New Roman" pitchFamily="18" charset="0"/>
              </a:rPr>
              <a:t> </a:t>
            </a:r>
            <a:r>
              <a:rPr kumimoji="0" lang="en-US" altLang="zh-CN" sz="2400" dirty="0" err="1">
                <a:solidFill>
                  <a:srgbClr val="0000CC"/>
                </a:solidFill>
                <a:latin typeface="Times New Roman" pitchFamily="18" charset="0"/>
              </a:rPr>
              <a:t>computeArea</a:t>
            </a:r>
            <a:r>
              <a:rPr kumimoji="0" lang="en-US" altLang="zh-CN" sz="2400" dirty="0">
                <a:solidFill>
                  <a:srgbClr val="0000CC"/>
                </a:solidFill>
                <a:latin typeface="Times New Roman" pitchFamily="18" charset="0"/>
              </a:rPr>
              <a:t>(</a:t>
            </a:r>
            <a:r>
              <a:rPr kumimoji="0" lang="en-US" altLang="zh-CN" sz="2400" dirty="0" err="1">
                <a:solidFill>
                  <a:srgbClr val="0000CC"/>
                </a:solidFill>
                <a:latin typeface="Times New Roman" pitchFamily="18" charset="0"/>
              </a:rPr>
              <a:t>RectangleDimension</a:t>
            </a:r>
            <a:r>
              <a:rPr kumimoji="0" lang="en-US" altLang="zh-CN" sz="2400" dirty="0">
                <a:solidFill>
                  <a:srgbClr val="0000CC"/>
                </a:solidFill>
                <a:latin typeface="Times New Roman" pitchFamily="18" charset="0"/>
              </a:rPr>
              <a:t> a </a:t>
            </a:r>
            <a:r>
              <a:rPr kumimoji="0" lang="en-US" altLang="zh-CN" sz="2400" dirty="0" err="1">
                <a:solidFill>
                  <a:srgbClr val="0000CC"/>
                </a:solidFill>
                <a:latin typeface="Times New Roman" pitchFamily="18" charset="0"/>
              </a:rPr>
              <a:t>RectangleDimension</a:t>
            </a:r>
            <a:r>
              <a:rPr kumimoji="0" lang="en-US" altLang="zh-CN" sz="2400" dirty="0">
                <a:solidFill>
                  <a:srgbClr val="0000CC"/>
                </a:solidFill>
                <a:latin typeface="Times New Roman" pitchFamily="18" charset="0"/>
              </a:rPr>
              <a:t>) </a:t>
            </a:r>
          </a:p>
          <a:p>
            <a:pPr marL="342900" indent="-342900" algn="l">
              <a:lnSpc>
                <a:spcPct val="145000"/>
              </a:lnSpc>
              <a:spcBef>
                <a:spcPct val="0"/>
              </a:spcBef>
              <a:buFontTx/>
              <a:buChar char="•"/>
            </a:pPr>
            <a:r>
              <a:rPr kumimoji="0" lang="zh-CN" altLang="en-US" sz="2400" dirty="0">
                <a:solidFill>
                  <a:srgbClr val="0000CC"/>
                </a:solidFill>
                <a:latin typeface="Times New Roman" pitchFamily="18" charset="0"/>
              </a:rPr>
              <a:t>在方法注释中说明所有的参数约束</a:t>
            </a:r>
          </a:p>
          <a:p>
            <a:pPr marL="742950" lvl="1" indent="-285750" algn="l">
              <a:lnSpc>
                <a:spcPct val="145000"/>
              </a:lnSpc>
              <a:spcBef>
                <a:spcPct val="0"/>
              </a:spcBef>
              <a:buFontTx/>
              <a:buChar char="–"/>
            </a:pPr>
            <a:r>
              <a:rPr kumimoji="0" lang="en-US" altLang="zh-CN" sz="2400" dirty="0" err="1">
                <a:solidFill>
                  <a:srgbClr val="0000CC"/>
                </a:solidFill>
                <a:latin typeface="Times New Roman" pitchFamily="18" charset="0"/>
              </a:rPr>
              <a:t>aLength</a:t>
            </a:r>
            <a:r>
              <a:rPr kumimoji="0" lang="en-US" altLang="zh-CN" sz="2400" dirty="0">
                <a:solidFill>
                  <a:srgbClr val="0000CC"/>
                </a:solidFill>
                <a:latin typeface="Times New Roman" pitchFamily="18" charset="0"/>
              </a:rPr>
              <a:t> &gt; 0 and</a:t>
            </a:r>
          </a:p>
          <a:p>
            <a:pPr marL="742950" lvl="1" indent="-285750" algn="l">
              <a:lnSpc>
                <a:spcPct val="145000"/>
              </a:lnSpc>
              <a:spcBef>
                <a:spcPct val="0"/>
              </a:spcBef>
              <a:buFontTx/>
              <a:buChar char="–"/>
            </a:pPr>
            <a:r>
              <a:rPr kumimoji="0" lang="en-US" altLang="zh-CN" sz="2400" dirty="0" err="1">
                <a:solidFill>
                  <a:srgbClr val="0000CC"/>
                </a:solidFill>
                <a:latin typeface="Times New Roman" pitchFamily="18" charset="0"/>
              </a:rPr>
              <a:t>aBreadth</a:t>
            </a:r>
            <a:r>
              <a:rPr kumimoji="0" lang="en-US" altLang="zh-CN" sz="2400" dirty="0">
                <a:solidFill>
                  <a:srgbClr val="0000CC"/>
                </a:solidFill>
                <a:latin typeface="Times New Roman" pitchFamily="18" charset="0"/>
              </a:rPr>
              <a:t> &gt; 0 and</a:t>
            </a:r>
          </a:p>
          <a:p>
            <a:pPr marL="742950" lvl="1" indent="-285750" algn="l">
              <a:lnSpc>
                <a:spcPct val="145000"/>
              </a:lnSpc>
              <a:spcBef>
                <a:spcPct val="0"/>
              </a:spcBef>
              <a:buFontTx/>
              <a:buChar char="–"/>
            </a:pPr>
            <a:r>
              <a:rPr kumimoji="0" lang="en-US" altLang="zh-CN" sz="2400" dirty="0" err="1">
                <a:solidFill>
                  <a:srgbClr val="0000CC"/>
                </a:solidFill>
                <a:latin typeface="Times New Roman" pitchFamily="18" charset="0"/>
              </a:rPr>
              <a:t>aLength</a:t>
            </a:r>
            <a:r>
              <a:rPr kumimoji="0" lang="en-US" altLang="zh-CN" sz="2400" dirty="0">
                <a:solidFill>
                  <a:srgbClr val="0000CC"/>
                </a:solidFill>
                <a:latin typeface="Times New Roman" pitchFamily="18" charset="0"/>
              </a:rPr>
              <a:t> &gt;= </a:t>
            </a:r>
            <a:r>
              <a:rPr kumimoji="0" lang="en-US" altLang="zh-CN" sz="2400" dirty="0" err="1">
                <a:solidFill>
                  <a:srgbClr val="0000CC"/>
                </a:solidFill>
                <a:latin typeface="Times New Roman" pitchFamily="18" charset="0"/>
              </a:rPr>
              <a:t>aBreadth</a:t>
            </a:r>
            <a:endParaRPr kumimoji="0" lang="en-US" altLang="zh-CN" sz="2400" dirty="0">
              <a:solidFill>
                <a:srgbClr val="0000CC"/>
              </a:solidFill>
              <a:latin typeface="Times New Roman" pitchFamily="18" charset="0"/>
            </a:endParaRPr>
          </a:p>
          <a:p>
            <a:pPr marL="342900" indent="-342900" algn="l">
              <a:lnSpc>
                <a:spcPct val="145000"/>
              </a:lnSpc>
              <a:spcBef>
                <a:spcPct val="0"/>
              </a:spcBef>
            </a:pPr>
            <a:endParaRPr kumimoji="0" lang="en-US" altLang="zh-CN" sz="2400" dirty="0">
              <a:solidFill>
                <a:srgbClr val="0000CC"/>
              </a:solidFill>
              <a:latin typeface="Times New Roman" pitchFamily="18" charset="0"/>
            </a:endParaRPr>
          </a:p>
        </p:txBody>
      </p:sp>
    </p:spTree>
    <p:extLst>
      <p:ext uri="{BB962C8B-B14F-4D97-AF65-F5344CB8AC3E}">
        <p14:creationId xmlns:p14="http://schemas.microsoft.com/office/powerpoint/2010/main" val="139478869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提高健壮性的参数传递技术</a:t>
            </a:r>
          </a:p>
        </p:txBody>
      </p:sp>
      <p:sp>
        <p:nvSpPr>
          <p:cNvPr id="34819" name="Rectangle 3"/>
          <p:cNvSpPr>
            <a:spLocks noChangeArrowheads="1"/>
          </p:cNvSpPr>
          <p:nvPr/>
        </p:nvSpPr>
        <p:spPr bwMode="auto">
          <a:xfrm>
            <a:off x="109538" y="1295400"/>
            <a:ext cx="89154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marL="342900" indent="-342900" algn="l">
              <a:lnSpc>
                <a:spcPct val="145000"/>
              </a:lnSpc>
              <a:spcBef>
                <a:spcPct val="0"/>
              </a:spcBef>
              <a:buFontTx/>
              <a:buChar char="•"/>
            </a:pPr>
            <a:r>
              <a:rPr kumimoji="0" lang="zh-CN" altLang="en-US" sz="2400" dirty="0">
                <a:solidFill>
                  <a:srgbClr val="0000CC"/>
                </a:solidFill>
                <a:latin typeface="Arial" charset="0"/>
              </a:rPr>
              <a:t>调用者遵循参数的显示要求</a:t>
            </a:r>
          </a:p>
          <a:p>
            <a:pPr marL="742950" lvl="1" indent="-285750" algn="l">
              <a:lnSpc>
                <a:spcPct val="145000"/>
              </a:lnSpc>
              <a:spcBef>
                <a:spcPct val="0"/>
              </a:spcBef>
              <a:buFontTx/>
              <a:buChar char="–"/>
            </a:pPr>
            <a:r>
              <a:rPr kumimoji="0" lang="zh-CN" altLang="en-US" sz="2400" dirty="0">
                <a:solidFill>
                  <a:srgbClr val="0000CC"/>
                </a:solidFill>
                <a:latin typeface="Times New Roman" pitchFamily="18" charset="0"/>
              </a:rPr>
              <a:t>问题是方法的设计者没有控制调用者</a:t>
            </a:r>
          </a:p>
          <a:p>
            <a:pPr marL="342900" indent="-342900" algn="l">
              <a:lnSpc>
                <a:spcPct val="145000"/>
              </a:lnSpc>
              <a:spcBef>
                <a:spcPct val="0"/>
              </a:spcBef>
              <a:buFontTx/>
              <a:buChar char="•"/>
            </a:pPr>
            <a:r>
              <a:rPr kumimoji="0" lang="zh-CN" altLang="en-US" sz="2400" dirty="0">
                <a:solidFill>
                  <a:srgbClr val="0000CC"/>
                </a:solidFill>
                <a:latin typeface="Times New Roman" pitchFamily="18" charset="0"/>
              </a:rPr>
              <a:t>在方法代码内首先检查约束</a:t>
            </a:r>
          </a:p>
          <a:p>
            <a:pPr marL="342900" indent="-342900" algn="l">
              <a:lnSpc>
                <a:spcPct val="145000"/>
              </a:lnSpc>
              <a:spcBef>
                <a:spcPct val="0"/>
              </a:spcBef>
              <a:buFontTx/>
              <a:buChar char="•"/>
            </a:pPr>
            <a:r>
              <a:rPr kumimoji="0" lang="en-US" altLang="zh-CN" sz="2400" dirty="0">
                <a:solidFill>
                  <a:srgbClr val="0000CC"/>
                </a:solidFill>
                <a:latin typeface="Times New Roman" pitchFamily="18" charset="0"/>
              </a:rPr>
              <a:t>If  (</a:t>
            </a:r>
            <a:r>
              <a:rPr kumimoji="0" lang="en-US" altLang="zh-CN" sz="2400" dirty="0" err="1">
                <a:solidFill>
                  <a:srgbClr val="0000CC"/>
                </a:solidFill>
                <a:latin typeface="Times New Roman" pitchFamily="18" charset="0"/>
              </a:rPr>
              <a:t>aLength</a:t>
            </a:r>
            <a:r>
              <a:rPr kumimoji="0" lang="en-US" altLang="zh-CN" sz="2400" dirty="0">
                <a:solidFill>
                  <a:srgbClr val="0000CC"/>
                </a:solidFill>
                <a:latin typeface="Times New Roman" pitchFamily="18" charset="0"/>
              </a:rPr>
              <a:t> &lt;= 0)…</a:t>
            </a:r>
          </a:p>
          <a:p>
            <a:pPr marL="742950" lvl="1" indent="-285750" algn="l">
              <a:lnSpc>
                <a:spcPct val="145000"/>
              </a:lnSpc>
              <a:spcBef>
                <a:spcPct val="0"/>
              </a:spcBef>
              <a:buFontTx/>
              <a:buChar char="–"/>
            </a:pPr>
            <a:r>
              <a:rPr kumimoji="0" lang="zh-CN" altLang="en-US" sz="2400" dirty="0">
                <a:solidFill>
                  <a:srgbClr val="0000CC"/>
                </a:solidFill>
                <a:latin typeface="Times New Roman" pitchFamily="18" charset="0"/>
              </a:rPr>
              <a:t>如果预计这种情况将会出现，则抛出异常</a:t>
            </a:r>
          </a:p>
          <a:p>
            <a:pPr marL="742950" lvl="1" indent="-285750" algn="l">
              <a:lnSpc>
                <a:spcPct val="145000"/>
              </a:lnSpc>
              <a:spcBef>
                <a:spcPct val="0"/>
              </a:spcBef>
              <a:buFontTx/>
              <a:buChar char="–"/>
            </a:pPr>
            <a:r>
              <a:rPr kumimoji="0" lang="zh-CN" altLang="en-US" sz="2400" dirty="0">
                <a:solidFill>
                  <a:srgbClr val="0000CC"/>
                </a:solidFill>
                <a:latin typeface="Times New Roman" pitchFamily="18" charset="0"/>
              </a:rPr>
              <a:t>否则，如果可能就中止程序</a:t>
            </a:r>
          </a:p>
          <a:p>
            <a:pPr marL="742950" lvl="1" indent="-285750" algn="l">
              <a:lnSpc>
                <a:spcPct val="145000"/>
              </a:lnSpc>
              <a:spcBef>
                <a:spcPct val="0"/>
              </a:spcBef>
              <a:buFontTx/>
              <a:buChar char="–"/>
            </a:pPr>
            <a:r>
              <a:rPr kumimoji="0" lang="zh-CN" altLang="en-US" sz="2400" dirty="0">
                <a:solidFill>
                  <a:srgbClr val="0000CC"/>
                </a:solidFill>
                <a:latin typeface="Times New Roman" pitchFamily="18" charset="0"/>
              </a:rPr>
              <a:t>否则，如果返回的默认值在上下文间有意义，就将其返回，并且产生警告或日志</a:t>
            </a:r>
          </a:p>
        </p:txBody>
      </p:sp>
    </p:spTree>
    <p:extLst>
      <p:ext uri="{BB962C8B-B14F-4D97-AF65-F5344CB8AC3E}">
        <p14:creationId xmlns:p14="http://schemas.microsoft.com/office/powerpoint/2010/main" val="163921857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检查参数值是否违反约束的方法</a:t>
            </a:r>
          </a:p>
        </p:txBody>
      </p:sp>
      <p:sp>
        <p:nvSpPr>
          <p:cNvPr id="35843" name="Rectangle 3"/>
          <p:cNvSpPr>
            <a:spLocks noChangeArrowheads="1"/>
          </p:cNvSpPr>
          <p:nvPr/>
        </p:nvSpPr>
        <p:spPr bwMode="auto">
          <a:xfrm>
            <a:off x="109538" y="1295400"/>
            <a:ext cx="89154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marL="342900" indent="-342900" algn="l">
              <a:lnSpc>
                <a:spcPct val="145000"/>
              </a:lnSpc>
              <a:spcBef>
                <a:spcPct val="0"/>
              </a:spcBef>
              <a:buFontTx/>
              <a:buChar char="•"/>
            </a:pPr>
            <a:r>
              <a:rPr kumimoji="0" lang="zh-CN" altLang="en-US" sz="3200" dirty="0">
                <a:solidFill>
                  <a:srgbClr val="0000CC"/>
                </a:solidFill>
                <a:latin typeface="Arial" charset="0"/>
              </a:rPr>
              <a:t>如果清楚地指定了参数约束，那么不用检查一些假设的状态，并且也没有可靠的方法来弥补原本不应出现的方法</a:t>
            </a:r>
            <a:r>
              <a:rPr kumimoji="0" lang="zh-CN" altLang="en-US" sz="3200" dirty="0" smtClean="0">
                <a:solidFill>
                  <a:srgbClr val="0000CC"/>
                </a:solidFill>
                <a:latin typeface="Arial" charset="0"/>
              </a:rPr>
              <a:t>调用。</a:t>
            </a:r>
            <a:endParaRPr kumimoji="0" lang="zh-CN" altLang="en-US" dirty="0">
              <a:solidFill>
                <a:srgbClr val="0000CC"/>
              </a:solidFill>
              <a:latin typeface="Times New Roman" pitchFamily="18" charset="0"/>
            </a:endParaRPr>
          </a:p>
          <a:p>
            <a:pPr marL="342900" indent="-342900" algn="l">
              <a:lnSpc>
                <a:spcPct val="145000"/>
              </a:lnSpc>
              <a:spcBef>
                <a:spcPct val="0"/>
              </a:spcBef>
              <a:buFontTx/>
              <a:buChar char="•"/>
            </a:pPr>
            <a:r>
              <a:rPr kumimoji="0" lang="zh-CN" altLang="en-US" sz="3200" dirty="0">
                <a:solidFill>
                  <a:srgbClr val="0000CC"/>
                </a:solidFill>
                <a:latin typeface="Times New Roman" pitchFamily="18" charset="0"/>
              </a:rPr>
              <a:t>错误安全的态度（</a:t>
            </a:r>
            <a:r>
              <a:rPr kumimoji="0" lang="en-US" altLang="zh-CN" sz="3200" dirty="0">
                <a:solidFill>
                  <a:srgbClr val="0000CC"/>
                </a:solidFill>
                <a:latin typeface="Times New Roman" pitchFamily="18" charset="0"/>
              </a:rPr>
              <a:t>fail-safe attitude</a:t>
            </a:r>
            <a:r>
              <a:rPr kumimoji="0" lang="zh-CN" altLang="en-US" sz="3200" dirty="0">
                <a:solidFill>
                  <a:srgbClr val="0000CC"/>
                </a:solidFill>
                <a:latin typeface="Times New Roman" pitchFamily="18" charset="0"/>
              </a:rPr>
              <a:t>），检查所有约束都得到满足。</a:t>
            </a:r>
          </a:p>
        </p:txBody>
      </p:sp>
    </p:spTree>
    <p:extLst>
      <p:ext uri="{BB962C8B-B14F-4D97-AF65-F5344CB8AC3E}">
        <p14:creationId xmlns:p14="http://schemas.microsoft.com/office/powerpoint/2010/main" val="275397127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在类中捕获参数</a:t>
            </a:r>
          </a:p>
        </p:txBody>
      </p:sp>
      <p:sp>
        <p:nvSpPr>
          <p:cNvPr id="36867" name="Rectangle 3"/>
          <p:cNvSpPr>
            <a:spLocks noChangeArrowheads="1"/>
          </p:cNvSpPr>
          <p:nvPr/>
        </p:nvSpPr>
        <p:spPr bwMode="auto">
          <a:xfrm>
            <a:off x="0" y="990600"/>
            <a:ext cx="8915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marL="342900" indent="-342900" algn="l">
              <a:lnSpc>
                <a:spcPct val="145000"/>
              </a:lnSpc>
              <a:spcBef>
                <a:spcPct val="0"/>
              </a:spcBef>
              <a:buFontTx/>
              <a:buChar char="•"/>
            </a:pPr>
            <a:r>
              <a:rPr kumimoji="0" lang="zh-CN" altLang="en-US" sz="3200">
                <a:solidFill>
                  <a:srgbClr val="0000CC"/>
                </a:solidFill>
                <a:latin typeface="Arial" charset="0"/>
              </a:rPr>
              <a:t>在类中包装参数，而不是按原始形式使用它们</a:t>
            </a:r>
            <a:endParaRPr kumimoji="0" lang="zh-CN" altLang="en-US">
              <a:solidFill>
                <a:srgbClr val="0000CC"/>
              </a:solidFill>
              <a:latin typeface="Times New Roman" pitchFamily="18" charset="0"/>
            </a:endParaRPr>
          </a:p>
        </p:txBody>
      </p:sp>
      <p:sp>
        <p:nvSpPr>
          <p:cNvPr id="36868" name="Text Box 4"/>
          <p:cNvSpPr txBox="1">
            <a:spLocks noChangeArrowheads="1"/>
          </p:cNvSpPr>
          <p:nvPr/>
        </p:nvSpPr>
        <p:spPr bwMode="auto">
          <a:xfrm>
            <a:off x="228600" y="1752600"/>
            <a:ext cx="845820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a:r>
              <a:rPr kumimoji="0" lang="en-US" altLang="zh-CN" sz="2400" i="1" dirty="0">
                <a:solidFill>
                  <a:schemeClr val="tx2"/>
                </a:solidFill>
                <a:latin typeface="Arial Narrow" pitchFamily="34" charset="0"/>
                <a:ea typeface="宋体" charset="-122"/>
                <a:cs typeface="Times New Roman" pitchFamily="18" charset="0"/>
              </a:rPr>
              <a:t>Replace</a:t>
            </a:r>
            <a:r>
              <a:rPr kumimoji="0" lang="en-US" altLang="zh-CN" sz="2400" dirty="0">
                <a:latin typeface="Arial Narrow" pitchFamily="34" charset="0"/>
                <a:ea typeface="宋体" charset="-122"/>
                <a:cs typeface="Times New Roman" pitchFamily="18" charset="0"/>
              </a:rPr>
              <a:t>    </a:t>
            </a:r>
            <a:r>
              <a:rPr kumimoji="0" lang="en-US" altLang="zh-CN" sz="2400" dirty="0" err="1">
                <a:latin typeface="Arial Narrow" pitchFamily="34" charset="0"/>
                <a:ea typeface="宋体" charset="-122"/>
                <a:cs typeface="Times New Roman" pitchFamily="18" charset="0"/>
              </a:rPr>
              <a:t>int</a:t>
            </a:r>
            <a:r>
              <a:rPr kumimoji="0" lang="en-US" altLang="zh-CN" sz="2400" dirty="0">
                <a:latin typeface="Arial Narrow" pitchFamily="34" charset="0"/>
                <a:ea typeface="宋体" charset="-122"/>
                <a:cs typeface="Times New Roman" pitchFamily="18" charset="0"/>
              </a:rPr>
              <a:t> </a:t>
            </a:r>
            <a:r>
              <a:rPr kumimoji="0" lang="en-US" altLang="zh-CN" sz="2400" dirty="0" err="1">
                <a:latin typeface="Arial Narrow" pitchFamily="34" charset="0"/>
                <a:ea typeface="宋体" charset="-122"/>
                <a:cs typeface="Times New Roman" pitchFamily="18" charset="0"/>
              </a:rPr>
              <a:t>computeArea</a:t>
            </a:r>
            <a:r>
              <a:rPr kumimoji="0" lang="en-US" altLang="zh-CN" sz="2400" dirty="0">
                <a:latin typeface="Arial Narrow" pitchFamily="34" charset="0"/>
                <a:ea typeface="宋体" charset="-122"/>
                <a:cs typeface="Times New Roman" pitchFamily="18" charset="0"/>
              </a:rPr>
              <a:t>( </a:t>
            </a:r>
            <a:r>
              <a:rPr kumimoji="0" lang="en-US" altLang="zh-CN" sz="2400" dirty="0" err="1">
                <a:latin typeface="Arial Narrow" pitchFamily="34" charset="0"/>
                <a:ea typeface="宋体" charset="-122"/>
                <a:cs typeface="Times New Roman" pitchFamily="18" charset="0"/>
              </a:rPr>
              <a:t>int</a:t>
            </a:r>
            <a:r>
              <a:rPr kumimoji="0" lang="en-US" altLang="zh-CN" sz="2400" dirty="0">
                <a:latin typeface="Arial Narrow" pitchFamily="34" charset="0"/>
                <a:ea typeface="宋体" charset="-122"/>
                <a:cs typeface="Times New Roman" pitchFamily="18" charset="0"/>
              </a:rPr>
              <a:t> </a:t>
            </a:r>
            <a:r>
              <a:rPr kumimoji="0" lang="en-US" altLang="zh-CN" sz="2400" dirty="0" err="1">
                <a:latin typeface="Arial Narrow" pitchFamily="34" charset="0"/>
                <a:ea typeface="宋体" charset="-122"/>
                <a:cs typeface="Times New Roman" pitchFamily="18" charset="0"/>
              </a:rPr>
              <a:t>aLength</a:t>
            </a:r>
            <a:r>
              <a:rPr kumimoji="0" lang="en-US" altLang="zh-CN" sz="2400" dirty="0">
                <a:latin typeface="Arial Narrow" pitchFamily="34" charset="0"/>
                <a:ea typeface="宋体" charset="-122"/>
                <a:cs typeface="Times New Roman" pitchFamily="18" charset="0"/>
              </a:rPr>
              <a:t>, </a:t>
            </a:r>
            <a:r>
              <a:rPr kumimoji="0" lang="en-US" altLang="zh-CN" sz="2400" dirty="0" err="1">
                <a:latin typeface="Arial Narrow" pitchFamily="34" charset="0"/>
                <a:ea typeface="宋体" charset="-122"/>
                <a:cs typeface="Times New Roman" pitchFamily="18" charset="0"/>
              </a:rPr>
              <a:t>int</a:t>
            </a:r>
            <a:r>
              <a:rPr kumimoji="0" lang="en-US" altLang="zh-CN" sz="2400" dirty="0">
                <a:latin typeface="Arial Narrow" pitchFamily="34" charset="0"/>
                <a:ea typeface="宋体" charset="-122"/>
                <a:cs typeface="Times New Roman" pitchFamily="18" charset="0"/>
              </a:rPr>
              <a:t> </a:t>
            </a:r>
            <a:r>
              <a:rPr kumimoji="0" lang="en-US" altLang="zh-CN" sz="2400" dirty="0" err="1">
                <a:latin typeface="Arial Narrow" pitchFamily="34" charset="0"/>
                <a:ea typeface="宋体" charset="-122"/>
                <a:cs typeface="Times New Roman" pitchFamily="18" charset="0"/>
              </a:rPr>
              <a:t>aBreadth</a:t>
            </a:r>
            <a:r>
              <a:rPr kumimoji="0" lang="en-US" altLang="zh-CN" sz="2400" dirty="0">
                <a:latin typeface="Arial Narrow" pitchFamily="34" charset="0"/>
                <a:ea typeface="宋体" charset="-122"/>
                <a:cs typeface="Times New Roman" pitchFamily="18" charset="0"/>
              </a:rPr>
              <a:t> )</a:t>
            </a:r>
          </a:p>
          <a:p>
            <a:pPr algn="l"/>
            <a:r>
              <a:rPr kumimoji="0" lang="en-US" altLang="zh-CN" sz="2400" dirty="0">
                <a:latin typeface="Arial Narrow" pitchFamily="34" charset="0"/>
                <a:ea typeface="宋体" charset="-122"/>
                <a:cs typeface="Times New Roman" pitchFamily="18" charset="0"/>
              </a:rPr>
              <a:t>	       {..}</a:t>
            </a:r>
          </a:p>
          <a:p>
            <a:pPr algn="l"/>
            <a:r>
              <a:rPr kumimoji="0" lang="en-US" altLang="zh-CN" sz="2400" i="1" dirty="0">
                <a:solidFill>
                  <a:schemeClr val="tx2"/>
                </a:solidFill>
                <a:latin typeface="Arial Narrow" pitchFamily="34" charset="0"/>
                <a:ea typeface="宋体" charset="-122"/>
                <a:cs typeface="Times New Roman" pitchFamily="18" charset="0"/>
              </a:rPr>
              <a:t>with	       </a:t>
            </a:r>
            <a:r>
              <a:rPr kumimoji="0" lang="en-US" altLang="zh-CN" sz="2400" dirty="0" err="1">
                <a:latin typeface="Arial Narrow" pitchFamily="34" charset="0"/>
                <a:ea typeface="宋体" charset="-122"/>
                <a:cs typeface="Times New Roman" pitchFamily="18" charset="0"/>
              </a:rPr>
              <a:t>int</a:t>
            </a:r>
            <a:r>
              <a:rPr kumimoji="0" lang="en-US" altLang="zh-CN" sz="2400" dirty="0">
                <a:latin typeface="Arial Narrow" pitchFamily="34" charset="0"/>
                <a:ea typeface="宋体" charset="-122"/>
                <a:cs typeface="Times New Roman" pitchFamily="18" charset="0"/>
              </a:rPr>
              <a:t> </a:t>
            </a:r>
            <a:r>
              <a:rPr kumimoji="0" lang="en-US" altLang="zh-CN" sz="2400" dirty="0" err="1">
                <a:latin typeface="Arial Narrow" pitchFamily="34" charset="0"/>
                <a:ea typeface="宋体" charset="-122"/>
                <a:cs typeface="Times New Roman" pitchFamily="18" charset="0"/>
              </a:rPr>
              <a:t>computeArea</a:t>
            </a:r>
            <a:r>
              <a:rPr kumimoji="0" lang="en-US" altLang="zh-CN" sz="2400" dirty="0">
                <a:latin typeface="Arial Narrow" pitchFamily="34" charset="0"/>
                <a:ea typeface="宋体" charset="-122"/>
                <a:cs typeface="Times New Roman" pitchFamily="18" charset="0"/>
              </a:rPr>
              <a:t>( Rectangle </a:t>
            </a:r>
            <a:r>
              <a:rPr kumimoji="0" lang="en-US" altLang="zh-CN" sz="2400" dirty="0" err="1">
                <a:latin typeface="Arial Narrow" pitchFamily="34" charset="0"/>
                <a:ea typeface="宋体" charset="-122"/>
                <a:cs typeface="Times New Roman" pitchFamily="18" charset="0"/>
              </a:rPr>
              <a:t>aRectangle</a:t>
            </a:r>
            <a:r>
              <a:rPr kumimoji="0" lang="en-US" altLang="zh-CN" sz="2400" dirty="0">
                <a:latin typeface="Arial Narrow" pitchFamily="34" charset="0"/>
                <a:ea typeface="宋体" charset="-122"/>
                <a:cs typeface="Times New Roman" pitchFamily="18" charset="0"/>
              </a:rPr>
              <a:t> )</a:t>
            </a:r>
          </a:p>
          <a:p>
            <a:pPr algn="l"/>
            <a:r>
              <a:rPr kumimoji="0" lang="en-US" altLang="zh-CN" sz="2400" dirty="0">
                <a:latin typeface="Arial Narrow" pitchFamily="34" charset="0"/>
                <a:ea typeface="宋体" charset="-122"/>
                <a:cs typeface="Times New Roman" pitchFamily="18" charset="0"/>
              </a:rPr>
              <a:t>	       {..}</a:t>
            </a:r>
          </a:p>
          <a:p>
            <a:pPr algn="l"/>
            <a:endParaRPr kumimoji="0" lang="en-US" altLang="zh-CN" sz="2400" dirty="0">
              <a:latin typeface="Arial Narrow" pitchFamily="34" charset="0"/>
              <a:ea typeface="宋体" charset="-122"/>
              <a:cs typeface="Times New Roman" pitchFamily="18" charset="0"/>
            </a:endParaRPr>
          </a:p>
          <a:p>
            <a:pPr algn="l"/>
            <a:r>
              <a:rPr kumimoji="0" lang="en-US" altLang="zh-CN" sz="2400" i="1" dirty="0">
                <a:solidFill>
                  <a:schemeClr val="tx2"/>
                </a:solidFill>
                <a:latin typeface="Arial Narrow" pitchFamily="34" charset="0"/>
                <a:ea typeface="宋体" charset="-122"/>
                <a:cs typeface="Times New Roman" pitchFamily="18" charset="0"/>
              </a:rPr>
              <a:t>-- where    </a:t>
            </a:r>
            <a:r>
              <a:rPr kumimoji="0" lang="en-US" altLang="zh-CN" sz="2400" dirty="0">
                <a:latin typeface="Arial Narrow" pitchFamily="34" charset="0"/>
                <a:ea typeface="宋体" charset="-122"/>
                <a:cs typeface="Times New Roman" pitchFamily="18" charset="0"/>
              </a:rPr>
              <a:t>class Rectangle </a:t>
            </a:r>
          </a:p>
          <a:p>
            <a:pPr algn="l"/>
            <a:r>
              <a:rPr kumimoji="0" lang="en-US" altLang="zh-CN" sz="2400" dirty="0">
                <a:latin typeface="Arial Narrow" pitchFamily="34" charset="0"/>
                <a:ea typeface="宋体" charset="-122"/>
                <a:cs typeface="Times New Roman" pitchFamily="18" charset="0"/>
              </a:rPr>
              <a:t>	       { … </a:t>
            </a:r>
          </a:p>
          <a:p>
            <a:pPr algn="l"/>
            <a:r>
              <a:rPr kumimoji="0" lang="en-US" altLang="zh-CN" sz="2400" dirty="0">
                <a:latin typeface="Arial Narrow" pitchFamily="34" charset="0"/>
                <a:ea typeface="宋体" charset="-122"/>
                <a:cs typeface="Times New Roman" pitchFamily="18" charset="0"/>
              </a:rPr>
              <a:t>		 Rectangle( </a:t>
            </a:r>
            <a:r>
              <a:rPr kumimoji="0" lang="en-US" altLang="zh-CN" sz="2400" dirty="0" err="1">
                <a:latin typeface="Arial Narrow" pitchFamily="34" charset="0"/>
                <a:ea typeface="宋体" charset="-122"/>
                <a:cs typeface="Times New Roman" pitchFamily="18" charset="0"/>
              </a:rPr>
              <a:t>int</a:t>
            </a:r>
            <a:r>
              <a:rPr kumimoji="0" lang="en-US" altLang="zh-CN" sz="2400" dirty="0">
                <a:latin typeface="Arial Narrow" pitchFamily="34" charset="0"/>
                <a:ea typeface="宋体" charset="-122"/>
                <a:cs typeface="Times New Roman" pitchFamily="18" charset="0"/>
              </a:rPr>
              <a:t> </a:t>
            </a:r>
            <a:r>
              <a:rPr kumimoji="0" lang="en-US" altLang="zh-CN" sz="2400" dirty="0" err="1">
                <a:latin typeface="Arial Narrow" pitchFamily="34" charset="0"/>
                <a:ea typeface="宋体" charset="-122"/>
                <a:cs typeface="Times New Roman" pitchFamily="18" charset="0"/>
              </a:rPr>
              <a:t>aLength</a:t>
            </a:r>
            <a:r>
              <a:rPr kumimoji="0" lang="en-US" altLang="zh-CN" sz="2400" dirty="0">
                <a:latin typeface="Arial Narrow" pitchFamily="34" charset="0"/>
                <a:ea typeface="宋体" charset="-122"/>
                <a:cs typeface="Times New Roman" pitchFamily="18" charset="0"/>
              </a:rPr>
              <a:t>, </a:t>
            </a:r>
            <a:r>
              <a:rPr kumimoji="0" lang="en-US" altLang="zh-CN" sz="2400" dirty="0" err="1">
                <a:latin typeface="Arial Narrow" pitchFamily="34" charset="0"/>
                <a:ea typeface="宋体" charset="-122"/>
                <a:cs typeface="Times New Roman" pitchFamily="18" charset="0"/>
              </a:rPr>
              <a:t>int</a:t>
            </a:r>
            <a:r>
              <a:rPr kumimoji="0" lang="en-US" altLang="zh-CN" sz="2400" dirty="0">
                <a:latin typeface="Arial Narrow" pitchFamily="34" charset="0"/>
                <a:ea typeface="宋体" charset="-122"/>
                <a:cs typeface="Times New Roman" pitchFamily="18" charset="0"/>
              </a:rPr>
              <a:t> </a:t>
            </a:r>
            <a:r>
              <a:rPr kumimoji="0" lang="en-US" altLang="zh-CN" sz="2400" dirty="0" err="1">
                <a:latin typeface="Arial Narrow" pitchFamily="34" charset="0"/>
                <a:ea typeface="宋体" charset="-122"/>
                <a:cs typeface="Times New Roman" pitchFamily="18" charset="0"/>
              </a:rPr>
              <a:t>aBreadth</a:t>
            </a:r>
            <a:r>
              <a:rPr kumimoji="0" lang="en-US" altLang="zh-CN" sz="2400" dirty="0">
                <a:latin typeface="Arial Narrow" pitchFamily="34" charset="0"/>
                <a:ea typeface="宋体" charset="-122"/>
                <a:cs typeface="Times New Roman" pitchFamily="18" charset="0"/>
              </a:rPr>
              <a:t> )</a:t>
            </a:r>
          </a:p>
          <a:p>
            <a:pPr algn="l"/>
            <a:r>
              <a:rPr kumimoji="0" lang="en-US" altLang="zh-CN" sz="2400" dirty="0">
                <a:latin typeface="Arial Narrow" pitchFamily="34" charset="0"/>
                <a:ea typeface="宋体" charset="-122"/>
                <a:cs typeface="Times New Roman" pitchFamily="18" charset="0"/>
              </a:rPr>
              <a:t>		       { 	if( </a:t>
            </a:r>
            <a:r>
              <a:rPr kumimoji="0" lang="en-US" altLang="zh-CN" sz="2400" dirty="0" err="1">
                <a:latin typeface="Arial Narrow" pitchFamily="34" charset="0"/>
                <a:ea typeface="宋体" charset="-122"/>
                <a:cs typeface="Times New Roman" pitchFamily="18" charset="0"/>
              </a:rPr>
              <a:t>aLength</a:t>
            </a:r>
            <a:r>
              <a:rPr kumimoji="0" lang="en-US" altLang="zh-CN" sz="2400" dirty="0">
                <a:latin typeface="Arial Narrow" pitchFamily="34" charset="0"/>
                <a:ea typeface="宋体" charset="-122"/>
                <a:cs typeface="Times New Roman" pitchFamily="18" charset="0"/>
              </a:rPr>
              <a:t> &gt; 0 ) </a:t>
            </a:r>
            <a:r>
              <a:rPr kumimoji="0" lang="en-US" altLang="zh-CN" sz="2400" dirty="0" err="1">
                <a:latin typeface="Arial Narrow" pitchFamily="34" charset="0"/>
                <a:ea typeface="宋体" charset="-122"/>
                <a:cs typeface="Times New Roman" pitchFamily="18" charset="0"/>
              </a:rPr>
              <a:t>this.length</a:t>
            </a:r>
            <a:r>
              <a:rPr kumimoji="0" lang="en-US" altLang="zh-CN" sz="2400" dirty="0">
                <a:latin typeface="Arial Narrow" pitchFamily="34" charset="0"/>
                <a:ea typeface="宋体" charset="-122"/>
                <a:cs typeface="Times New Roman" pitchFamily="18" charset="0"/>
              </a:rPr>
              <a:t> = </a:t>
            </a:r>
            <a:r>
              <a:rPr kumimoji="0" lang="en-US" altLang="zh-CN" sz="2400" dirty="0" err="1">
                <a:latin typeface="Arial Narrow" pitchFamily="34" charset="0"/>
                <a:ea typeface="宋体" charset="-122"/>
                <a:cs typeface="Times New Roman" pitchFamily="18" charset="0"/>
              </a:rPr>
              <a:t>aLength</a:t>
            </a:r>
            <a:r>
              <a:rPr kumimoji="0" lang="en-US" altLang="zh-CN" sz="2400" dirty="0">
                <a:latin typeface="Arial Narrow" pitchFamily="34" charset="0"/>
                <a:ea typeface="宋体" charset="-122"/>
                <a:cs typeface="Times New Roman" pitchFamily="18" charset="0"/>
              </a:rPr>
              <a:t>; </a:t>
            </a:r>
          </a:p>
          <a:p>
            <a:pPr algn="l"/>
            <a:r>
              <a:rPr kumimoji="0" lang="en-US" altLang="zh-CN" sz="2400" dirty="0">
                <a:latin typeface="Arial Narrow" pitchFamily="34" charset="0"/>
                <a:ea typeface="宋体" charset="-122"/>
                <a:cs typeface="Times New Roman" pitchFamily="18" charset="0"/>
              </a:rPr>
              <a:t>			else …..</a:t>
            </a:r>
          </a:p>
          <a:p>
            <a:pPr algn="l"/>
            <a:r>
              <a:rPr kumimoji="0" lang="en-US" altLang="zh-CN" sz="2400" dirty="0">
                <a:latin typeface="Arial Narrow" pitchFamily="34" charset="0"/>
                <a:ea typeface="宋体" charset="-122"/>
                <a:cs typeface="Times New Roman" pitchFamily="18" charset="0"/>
              </a:rPr>
              <a:t>		        } </a:t>
            </a:r>
          </a:p>
          <a:p>
            <a:pPr algn="l"/>
            <a:r>
              <a:rPr kumimoji="0" lang="en-US" altLang="zh-CN" sz="2400" dirty="0">
                <a:latin typeface="Arial Narrow" pitchFamily="34" charset="0"/>
                <a:ea typeface="宋体" charset="-122"/>
                <a:cs typeface="Times New Roman" pitchFamily="18" charset="0"/>
              </a:rPr>
              <a:t>	     … }	</a:t>
            </a:r>
          </a:p>
        </p:txBody>
      </p:sp>
    </p:spTree>
    <p:extLst>
      <p:ext uri="{BB962C8B-B14F-4D97-AF65-F5344CB8AC3E}">
        <p14:creationId xmlns:p14="http://schemas.microsoft.com/office/powerpoint/2010/main" val="265829200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包装参数</a:t>
            </a:r>
          </a:p>
        </p:txBody>
      </p:sp>
      <p:sp>
        <p:nvSpPr>
          <p:cNvPr id="37891" name="Rectangle 3"/>
          <p:cNvSpPr>
            <a:spLocks noChangeArrowheads="1"/>
          </p:cNvSpPr>
          <p:nvPr/>
        </p:nvSpPr>
        <p:spPr bwMode="auto">
          <a:xfrm>
            <a:off x="76200" y="1143000"/>
            <a:ext cx="89154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marL="342900" indent="-342900" algn="l">
              <a:lnSpc>
                <a:spcPct val="145000"/>
              </a:lnSpc>
              <a:spcBef>
                <a:spcPct val="0"/>
              </a:spcBef>
              <a:buFontTx/>
              <a:buChar char="•"/>
            </a:pPr>
            <a:r>
              <a:rPr kumimoji="0" lang="zh-CN" altLang="en-US" sz="2400" dirty="0">
                <a:solidFill>
                  <a:srgbClr val="0000CC"/>
                </a:solidFill>
                <a:latin typeface="Arial" charset="0"/>
              </a:rPr>
              <a:t>只在一个地方</a:t>
            </a:r>
            <a:r>
              <a:rPr kumimoji="0" lang="en-US" altLang="zh-CN" sz="2400" dirty="0">
                <a:solidFill>
                  <a:srgbClr val="0000CC"/>
                </a:solidFill>
                <a:latin typeface="Arial Narrow" pitchFamily="34" charset="0"/>
              </a:rPr>
              <a:t>——</a:t>
            </a:r>
            <a:r>
              <a:rPr kumimoji="0" lang="en-US" altLang="zh-CN" sz="2400" dirty="0">
                <a:solidFill>
                  <a:srgbClr val="0000CC"/>
                </a:solidFill>
                <a:latin typeface="Arial" charset="0"/>
              </a:rPr>
              <a:t>Rectangle</a:t>
            </a:r>
            <a:r>
              <a:rPr kumimoji="0" lang="zh-CN" altLang="en-US" sz="2400" dirty="0">
                <a:solidFill>
                  <a:srgbClr val="0000CC"/>
                </a:solidFill>
                <a:latin typeface="Arial" charset="0"/>
              </a:rPr>
              <a:t>类中进行长度和宽度的错误处理</a:t>
            </a:r>
          </a:p>
          <a:p>
            <a:pPr marL="342900" indent="-342900" algn="l">
              <a:lnSpc>
                <a:spcPct val="145000"/>
              </a:lnSpc>
              <a:spcBef>
                <a:spcPct val="0"/>
              </a:spcBef>
              <a:buFontTx/>
              <a:buChar char="•"/>
            </a:pPr>
            <a:r>
              <a:rPr kumimoji="0" lang="zh-CN" altLang="en-US" sz="2400" dirty="0">
                <a:solidFill>
                  <a:srgbClr val="FF0000"/>
                </a:solidFill>
                <a:latin typeface="Arial" charset="0"/>
              </a:rPr>
              <a:t>好处：</a:t>
            </a:r>
            <a:r>
              <a:rPr kumimoji="0" lang="zh-CN" altLang="en-US" sz="2400" dirty="0">
                <a:solidFill>
                  <a:srgbClr val="0000CC"/>
                </a:solidFill>
                <a:latin typeface="Arial" charset="0"/>
              </a:rPr>
              <a:t>这种处理改进了设计与维护性</a:t>
            </a:r>
          </a:p>
          <a:p>
            <a:pPr marL="342900" indent="-342900" algn="l">
              <a:lnSpc>
                <a:spcPct val="145000"/>
              </a:lnSpc>
              <a:spcBef>
                <a:spcPct val="0"/>
              </a:spcBef>
              <a:buFontTx/>
              <a:buChar char="•"/>
            </a:pPr>
            <a:r>
              <a:rPr kumimoji="0" lang="zh-CN" altLang="en-US" sz="2400" dirty="0">
                <a:solidFill>
                  <a:srgbClr val="FF0000"/>
                </a:solidFill>
                <a:latin typeface="Arial" charset="0"/>
              </a:rPr>
              <a:t>不足：</a:t>
            </a:r>
            <a:r>
              <a:rPr kumimoji="0" lang="zh-CN" altLang="en-US" sz="2400" dirty="0">
                <a:solidFill>
                  <a:srgbClr val="0000CC"/>
                </a:solidFill>
                <a:latin typeface="Arial" charset="0"/>
              </a:rPr>
              <a:t>产生了类的激增。</a:t>
            </a:r>
          </a:p>
          <a:p>
            <a:pPr marL="342900" indent="-342900" algn="l">
              <a:lnSpc>
                <a:spcPct val="145000"/>
              </a:lnSpc>
              <a:spcBef>
                <a:spcPct val="0"/>
              </a:spcBef>
              <a:buFontTx/>
              <a:buChar char="•"/>
            </a:pPr>
            <a:r>
              <a:rPr kumimoji="0" lang="zh-CN" altLang="en-US" sz="2400" dirty="0">
                <a:solidFill>
                  <a:srgbClr val="0000CC"/>
                </a:solidFill>
                <a:latin typeface="Arial" charset="0"/>
              </a:rPr>
              <a:t>好的选择是让</a:t>
            </a:r>
            <a:r>
              <a:rPr kumimoji="0" lang="en-US" altLang="zh-CN" sz="2400" dirty="0">
                <a:solidFill>
                  <a:srgbClr val="0000CC"/>
                </a:solidFill>
                <a:latin typeface="Arial" charset="0"/>
              </a:rPr>
              <a:t>Rectangle</a:t>
            </a:r>
            <a:r>
              <a:rPr kumimoji="0" lang="zh-CN" altLang="en-US" sz="2400" dirty="0">
                <a:solidFill>
                  <a:srgbClr val="0000CC"/>
                </a:solidFill>
                <a:latin typeface="Arial" charset="0"/>
              </a:rPr>
              <a:t>构造方法成为私有的，并且使用静态</a:t>
            </a:r>
            <a:r>
              <a:rPr kumimoji="0" lang="zh-CN" altLang="en-US" sz="2400" dirty="0">
                <a:solidFill>
                  <a:srgbClr val="0000CC"/>
                </a:solidFill>
                <a:latin typeface="Arial Narrow" pitchFamily="34" charset="0"/>
              </a:rPr>
              <a:t>“</a:t>
            </a:r>
            <a:r>
              <a:rPr kumimoji="0" lang="zh-CN" altLang="en-US" sz="2400" dirty="0">
                <a:solidFill>
                  <a:srgbClr val="0000CC"/>
                </a:solidFill>
                <a:latin typeface="Arial" charset="0"/>
              </a:rPr>
              <a:t>工厂</a:t>
            </a:r>
            <a:r>
              <a:rPr kumimoji="0" lang="zh-CN" altLang="en-US" sz="2400" dirty="0">
                <a:solidFill>
                  <a:srgbClr val="0000CC"/>
                </a:solidFill>
                <a:latin typeface="Arial Narrow" pitchFamily="34" charset="0"/>
              </a:rPr>
              <a:t>”</a:t>
            </a:r>
            <a:r>
              <a:rPr kumimoji="0" lang="zh-CN" altLang="en-US" sz="2400" dirty="0">
                <a:solidFill>
                  <a:srgbClr val="0000CC"/>
                </a:solidFill>
                <a:latin typeface="Arial" charset="0"/>
              </a:rPr>
              <a:t>方法来获得</a:t>
            </a:r>
            <a:r>
              <a:rPr kumimoji="0" lang="en-US" altLang="zh-CN" sz="2400" dirty="0">
                <a:solidFill>
                  <a:srgbClr val="0000CC"/>
                </a:solidFill>
                <a:latin typeface="Arial" charset="0"/>
              </a:rPr>
              <a:t>Rectangle</a:t>
            </a:r>
            <a:r>
              <a:rPr kumimoji="0" lang="zh-CN" altLang="en-US" sz="2400" dirty="0">
                <a:solidFill>
                  <a:srgbClr val="0000CC"/>
                </a:solidFill>
                <a:latin typeface="Arial" charset="0"/>
              </a:rPr>
              <a:t>对象，如：</a:t>
            </a:r>
          </a:p>
          <a:p>
            <a:pPr marL="342900" indent="-342900" algn="l">
              <a:lnSpc>
                <a:spcPct val="145000"/>
              </a:lnSpc>
              <a:spcBef>
                <a:spcPct val="0"/>
              </a:spcBef>
            </a:pPr>
            <a:r>
              <a:rPr kumimoji="0" lang="en-US" altLang="zh-CN" sz="2400" dirty="0">
                <a:solidFill>
                  <a:srgbClr val="0000CC"/>
                </a:solidFill>
                <a:latin typeface="Times New Roman" pitchFamily="18" charset="0"/>
              </a:rPr>
              <a:t>Static Rectangle </a:t>
            </a:r>
            <a:r>
              <a:rPr kumimoji="0" lang="en-US" altLang="zh-CN" sz="2400" dirty="0" err="1">
                <a:solidFill>
                  <a:srgbClr val="0000CC"/>
                </a:solidFill>
                <a:latin typeface="Times New Roman" pitchFamily="18" charset="0"/>
              </a:rPr>
              <a:t>getRectangleObject</a:t>
            </a:r>
            <a:r>
              <a:rPr kumimoji="0" lang="en-US" altLang="zh-CN" sz="2400" dirty="0">
                <a:solidFill>
                  <a:srgbClr val="0000CC"/>
                </a:solidFill>
                <a:latin typeface="Times New Roman" pitchFamily="18" charset="0"/>
              </a:rPr>
              <a:t>(….);</a:t>
            </a:r>
          </a:p>
        </p:txBody>
      </p:sp>
    </p:spTree>
    <p:extLst>
      <p:ext uri="{BB962C8B-B14F-4D97-AF65-F5344CB8AC3E}">
        <p14:creationId xmlns:p14="http://schemas.microsoft.com/office/powerpoint/2010/main" val="150961345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强化意图</a:t>
            </a:r>
          </a:p>
        </p:txBody>
      </p:sp>
      <p:sp>
        <p:nvSpPr>
          <p:cNvPr id="38915" name="Rectangle 3"/>
          <p:cNvSpPr>
            <a:spLocks noChangeArrowheads="1"/>
          </p:cNvSpPr>
          <p:nvPr/>
        </p:nvSpPr>
        <p:spPr bwMode="auto">
          <a:xfrm>
            <a:off x="76200" y="1143000"/>
            <a:ext cx="89154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marL="342900" indent="-342900" algn="l">
              <a:lnSpc>
                <a:spcPct val="145000"/>
              </a:lnSpc>
              <a:spcBef>
                <a:spcPct val="0"/>
              </a:spcBef>
              <a:buFontTx/>
              <a:buChar char="•"/>
            </a:pPr>
            <a:r>
              <a:rPr kumimoji="0" lang="zh-CN" altLang="en-US" sz="3200">
                <a:solidFill>
                  <a:srgbClr val="0000CC"/>
                </a:solidFill>
                <a:latin typeface="Arial" charset="0"/>
              </a:rPr>
              <a:t>通过防止设计和实现中的错误来提高健壮性</a:t>
            </a:r>
          </a:p>
          <a:p>
            <a:pPr marL="342900" indent="-342900" algn="l">
              <a:lnSpc>
                <a:spcPct val="145000"/>
              </a:lnSpc>
              <a:spcBef>
                <a:spcPct val="0"/>
              </a:spcBef>
              <a:buFontTx/>
              <a:buChar char="•"/>
            </a:pPr>
            <a:r>
              <a:rPr kumimoji="0" lang="zh-CN" altLang="en-US" sz="3200">
                <a:solidFill>
                  <a:srgbClr val="0000CC"/>
                </a:solidFill>
                <a:latin typeface="Arial" charset="0"/>
              </a:rPr>
              <a:t>通过引入参数必须是实例的类来捕获参数约束</a:t>
            </a:r>
          </a:p>
        </p:txBody>
      </p:sp>
    </p:spTree>
    <p:extLst>
      <p:ext uri="{BB962C8B-B14F-4D97-AF65-F5344CB8AC3E}">
        <p14:creationId xmlns:p14="http://schemas.microsoft.com/office/powerpoint/2010/main" val="267629362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小结</a:t>
            </a:r>
          </a:p>
        </p:txBody>
      </p:sp>
      <p:sp>
        <p:nvSpPr>
          <p:cNvPr id="114692" name="Rectangle 4"/>
          <p:cNvSpPr>
            <a:spLocks noGrp="1" noChangeArrowheads="1"/>
          </p:cNvSpPr>
          <p:nvPr>
            <p:ph type="body" idx="1"/>
          </p:nvPr>
        </p:nvSpPr>
        <p:spPr>
          <a:noFill/>
        </p:spPr>
        <p:txBody>
          <a:bodyPr/>
          <a:lstStyle/>
          <a:p>
            <a:pPr marL="609600" indent="-609600" eaLnBrk="1" hangingPunct="1"/>
            <a:r>
              <a:rPr lang="zh-CN" altLang="en-US" b="1" smtClean="0">
                <a:solidFill>
                  <a:srgbClr val="0000CC"/>
                </a:solidFill>
                <a:ea typeface="楷体_GB2312" pitchFamily="49" charset="-122"/>
              </a:rPr>
              <a:t>设计或编码的正确性</a:t>
            </a:r>
          </a:p>
          <a:p>
            <a:pPr marL="990600" lvl="1" indent="-533400" eaLnBrk="1" hangingPunct="1"/>
            <a:r>
              <a:rPr lang="zh-CN" altLang="en-US" b="1" smtClean="0">
                <a:latin typeface="楷体_GB2312" pitchFamily="49" charset="-122"/>
                <a:ea typeface="楷体_GB2312" pitchFamily="49" charset="-122"/>
              </a:rPr>
              <a:t>符合需求</a:t>
            </a:r>
          </a:p>
          <a:p>
            <a:pPr marL="990600" lvl="1" indent="-533400" eaLnBrk="1" hangingPunct="1"/>
            <a:r>
              <a:rPr lang="zh-CN" altLang="en-US" b="1" smtClean="0">
                <a:latin typeface="楷体_GB2312" pitchFamily="49" charset="-122"/>
                <a:ea typeface="楷体_GB2312" pitchFamily="49" charset="-122"/>
              </a:rPr>
              <a:t>通常，存在许多正确的设计</a:t>
            </a:r>
            <a:endParaRPr lang="zh-CN" altLang="en-US" b="1" i="1" smtClean="0">
              <a:latin typeface="楷体_GB2312" pitchFamily="49" charset="-122"/>
              <a:ea typeface="楷体_GB2312" pitchFamily="49" charset="-122"/>
            </a:endParaRPr>
          </a:p>
          <a:p>
            <a:pPr marL="609600" indent="-609600" eaLnBrk="1" hangingPunct="1"/>
            <a:r>
              <a:rPr lang="zh-CN" altLang="en-US" b="1" smtClean="0">
                <a:solidFill>
                  <a:srgbClr val="0000CC"/>
                </a:solidFill>
                <a:latin typeface="楷体_GB2312" pitchFamily="49" charset="-122"/>
                <a:ea typeface="楷体_GB2312" pitchFamily="49" charset="-122"/>
              </a:rPr>
              <a:t>设计或编码的健壮性</a:t>
            </a:r>
          </a:p>
          <a:p>
            <a:pPr marL="990600" lvl="1" indent="-533400" eaLnBrk="1" hangingPunct="1"/>
            <a:r>
              <a:rPr lang="zh-CN" altLang="en-US" b="1" smtClean="0">
                <a:latin typeface="楷体_GB2312" pitchFamily="49" charset="-122"/>
                <a:ea typeface="楷体_GB2312" pitchFamily="49" charset="-122"/>
              </a:rPr>
              <a:t>容忍错误</a:t>
            </a:r>
          </a:p>
          <a:p>
            <a:pPr marL="1371600" lvl="2" indent="-457200" eaLnBrk="1" hangingPunct="1"/>
            <a:r>
              <a:rPr lang="en-US" altLang="zh-CN" b="1" smtClean="0">
                <a:latin typeface="楷体_GB2312" pitchFamily="49" charset="-122"/>
                <a:ea typeface="楷体_GB2312" pitchFamily="49" charset="-122"/>
              </a:rPr>
              <a:t>-- </a:t>
            </a:r>
            <a:r>
              <a:rPr lang="zh-CN" altLang="en-US" b="1" smtClean="0">
                <a:latin typeface="楷体_GB2312" pitchFamily="49" charset="-122"/>
                <a:ea typeface="楷体_GB2312" pitchFamily="49" charset="-122"/>
              </a:rPr>
              <a:t>用户的错误</a:t>
            </a:r>
          </a:p>
          <a:p>
            <a:pPr marL="1371600" lvl="2" indent="-457200" eaLnBrk="1" hangingPunct="1"/>
            <a:r>
              <a:rPr lang="en-US" altLang="zh-CN" b="1" smtClean="0">
                <a:latin typeface="楷体_GB2312" pitchFamily="49" charset="-122"/>
                <a:ea typeface="楷体_GB2312" pitchFamily="49" charset="-122"/>
              </a:rPr>
              <a:t>-- </a:t>
            </a:r>
            <a:r>
              <a:rPr lang="zh-CN" altLang="en-US" b="1" smtClean="0">
                <a:latin typeface="楷体_GB2312" pitchFamily="49" charset="-122"/>
                <a:ea typeface="楷体_GB2312" pitchFamily="49" charset="-122"/>
              </a:rPr>
              <a:t>开发者的错误</a:t>
            </a:r>
          </a:p>
        </p:txBody>
      </p:sp>
    </p:spTree>
    <p:extLst>
      <p:ext uri="{BB962C8B-B14F-4D97-AF65-F5344CB8AC3E}">
        <p14:creationId xmlns:p14="http://schemas.microsoft.com/office/powerpoint/2010/main" val="24052527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4692">
                                            <p:txEl>
                                              <p:pRg st="0" end="0"/>
                                            </p:txEl>
                                          </p:spTgt>
                                        </p:tgtEl>
                                        <p:attrNameLst>
                                          <p:attrName>style.visibility</p:attrName>
                                        </p:attrNameLst>
                                      </p:cBhvr>
                                      <p:to>
                                        <p:strVal val="visible"/>
                                      </p:to>
                                    </p:set>
                                    <p:animEffect transition="in" filter="wipe(left)">
                                      <p:cBhvr>
                                        <p:cTn id="7" dur="500"/>
                                        <p:tgtEl>
                                          <p:spTgt spid="114692">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4692">
                                            <p:txEl>
                                              <p:pRg st="1" end="1"/>
                                            </p:txEl>
                                          </p:spTgt>
                                        </p:tgtEl>
                                        <p:attrNameLst>
                                          <p:attrName>style.visibility</p:attrName>
                                        </p:attrNameLst>
                                      </p:cBhvr>
                                      <p:to>
                                        <p:strVal val="visible"/>
                                      </p:to>
                                    </p:set>
                                    <p:animEffect transition="in" filter="wipe(left)">
                                      <p:cBhvr>
                                        <p:cTn id="10" dur="500"/>
                                        <p:tgtEl>
                                          <p:spTgt spid="114692">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4692">
                                            <p:txEl>
                                              <p:pRg st="2" end="2"/>
                                            </p:txEl>
                                          </p:spTgt>
                                        </p:tgtEl>
                                        <p:attrNameLst>
                                          <p:attrName>style.visibility</p:attrName>
                                        </p:attrNameLst>
                                      </p:cBhvr>
                                      <p:to>
                                        <p:strVal val="visible"/>
                                      </p:to>
                                    </p:set>
                                    <p:animEffect transition="in" filter="wipe(left)">
                                      <p:cBhvr>
                                        <p:cTn id="13" dur="500"/>
                                        <p:tgtEl>
                                          <p:spTgt spid="114692">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4692">
                                            <p:txEl>
                                              <p:pRg st="3" end="3"/>
                                            </p:txEl>
                                          </p:spTgt>
                                        </p:tgtEl>
                                        <p:attrNameLst>
                                          <p:attrName>style.visibility</p:attrName>
                                        </p:attrNameLst>
                                      </p:cBhvr>
                                      <p:to>
                                        <p:strVal val="visible"/>
                                      </p:to>
                                    </p:set>
                                    <p:animEffect transition="in" filter="wipe(left)">
                                      <p:cBhvr>
                                        <p:cTn id="18" dur="500"/>
                                        <p:tgtEl>
                                          <p:spTgt spid="114692">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14692">
                                            <p:txEl>
                                              <p:pRg st="4" end="4"/>
                                            </p:txEl>
                                          </p:spTgt>
                                        </p:tgtEl>
                                        <p:attrNameLst>
                                          <p:attrName>style.visibility</p:attrName>
                                        </p:attrNameLst>
                                      </p:cBhvr>
                                      <p:to>
                                        <p:strVal val="visible"/>
                                      </p:to>
                                    </p:set>
                                    <p:animEffect transition="in" filter="wipe(left)">
                                      <p:cBhvr>
                                        <p:cTn id="21" dur="500"/>
                                        <p:tgtEl>
                                          <p:spTgt spid="114692">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14692">
                                            <p:txEl>
                                              <p:pRg st="5" end="5"/>
                                            </p:txEl>
                                          </p:spTgt>
                                        </p:tgtEl>
                                        <p:attrNameLst>
                                          <p:attrName>style.visibility</p:attrName>
                                        </p:attrNameLst>
                                      </p:cBhvr>
                                      <p:to>
                                        <p:strVal val="visible"/>
                                      </p:to>
                                    </p:set>
                                    <p:animEffect transition="in" filter="wipe(left)">
                                      <p:cBhvr>
                                        <p:cTn id="24" dur="500"/>
                                        <p:tgtEl>
                                          <p:spTgt spid="114692">
                                            <p:txEl>
                                              <p:pRg st="5" end="5"/>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14692">
                                            <p:txEl>
                                              <p:pRg st="6" end="6"/>
                                            </p:txEl>
                                          </p:spTgt>
                                        </p:tgtEl>
                                        <p:attrNameLst>
                                          <p:attrName>style.visibility</p:attrName>
                                        </p:attrNameLst>
                                      </p:cBhvr>
                                      <p:to>
                                        <p:strVal val="visible"/>
                                      </p:to>
                                    </p:set>
                                    <p:animEffect transition="in" filter="wipe(left)">
                                      <p:cBhvr>
                                        <p:cTn id="27" dur="500"/>
                                        <p:tgtEl>
                                          <p:spTgt spid="11469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2" grpId="0" build="p"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6" name="Text Box 4"/>
          <p:cNvSpPr txBox="1">
            <a:spLocks noChangeArrowheads="1"/>
          </p:cNvSpPr>
          <p:nvPr/>
        </p:nvSpPr>
        <p:spPr bwMode="auto">
          <a:xfrm>
            <a:off x="323850" y="1196975"/>
            <a:ext cx="8424863" cy="4708981"/>
          </a:xfrm>
          <a:prstGeom prst="rect">
            <a:avLst/>
          </a:prstGeom>
          <a:noFill/>
          <a:ln>
            <a:noFill/>
          </a:ln>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charset="0"/>
                <a:ea typeface="宋体" charset="-122"/>
              </a:defRPr>
            </a:lvl1pPr>
            <a:lvl2pPr>
              <a:defRPr sz="2800">
                <a:solidFill>
                  <a:schemeClr val="tx1"/>
                </a:solidFill>
                <a:latin typeface="Arial" charset="0"/>
                <a:ea typeface="宋体" charset="-122"/>
              </a:defRPr>
            </a:lvl2pPr>
            <a:lvl3pPr>
              <a:defRPr sz="2400">
                <a:solidFill>
                  <a:schemeClr val="tx1"/>
                </a:solidFill>
                <a:latin typeface="Arial" charset="0"/>
                <a:ea typeface="宋体" charset="-122"/>
              </a:defRPr>
            </a:lvl3pPr>
            <a:lvl4pPr>
              <a:defRPr sz="2000">
                <a:solidFill>
                  <a:schemeClr val="tx1"/>
                </a:solidFill>
                <a:latin typeface="Arial" charset="0"/>
                <a:ea typeface="宋体" charset="-122"/>
              </a:defRPr>
            </a:lvl4pPr>
            <a:lvl5pPr>
              <a:defRPr sz="2000">
                <a:solidFill>
                  <a:schemeClr val="tx1"/>
                </a:solidFill>
                <a:latin typeface="Arial" charset="0"/>
                <a:ea typeface="宋体" charset="-122"/>
              </a:defRPr>
            </a:lvl5pPr>
            <a:lvl6pPr eaLnBrk="0" hangingPunct="0">
              <a:defRPr sz="2000">
                <a:solidFill>
                  <a:schemeClr val="tx1"/>
                </a:solidFill>
                <a:latin typeface="Arial" charset="0"/>
                <a:ea typeface="宋体" charset="-122"/>
              </a:defRPr>
            </a:lvl6pPr>
            <a:lvl7pPr eaLnBrk="0" hangingPunct="0">
              <a:defRPr sz="2000">
                <a:solidFill>
                  <a:schemeClr val="tx1"/>
                </a:solidFill>
                <a:latin typeface="Arial" charset="0"/>
                <a:ea typeface="宋体" charset="-122"/>
              </a:defRPr>
            </a:lvl7pPr>
            <a:lvl8pPr eaLnBrk="0" hangingPunct="0">
              <a:defRPr sz="2000">
                <a:solidFill>
                  <a:schemeClr val="tx1"/>
                </a:solidFill>
                <a:latin typeface="Arial" charset="0"/>
                <a:ea typeface="宋体" charset="-122"/>
              </a:defRPr>
            </a:lvl8pPr>
            <a:lvl9pPr eaLnBrk="0" hangingPunct="0">
              <a:defRPr sz="2000">
                <a:solidFill>
                  <a:schemeClr val="tx1"/>
                </a:solidFill>
                <a:latin typeface="Arial" charset="0"/>
                <a:ea typeface="宋体" charset="-122"/>
              </a:defRPr>
            </a:lvl9pPr>
          </a:lstStyle>
          <a:p>
            <a:pPr algn="ctr" eaLnBrk="1" hangingPunct="1">
              <a:defRPr/>
            </a:pPr>
            <a:r>
              <a:rPr lang="zh-CN" altLang="en-US" sz="6000" b="1" dirty="0" smtClean="0">
                <a:solidFill>
                  <a:srgbClr val="FF3300"/>
                </a:solidFill>
                <a:effectLst>
                  <a:outerShdw blurRad="38100" dist="38100" dir="2700000" algn="tl">
                    <a:srgbClr val="C0C0C0"/>
                  </a:outerShdw>
                </a:effectLst>
                <a:ea typeface="隶书" pitchFamily="49" charset="-122"/>
              </a:rPr>
              <a:t>软件设计与体系结构</a:t>
            </a:r>
            <a:endParaRPr lang="en-US" altLang="zh-CN" sz="6000" b="1" dirty="0" smtClean="0">
              <a:solidFill>
                <a:srgbClr val="FF3300"/>
              </a:solidFill>
              <a:effectLst>
                <a:outerShdw blurRad="38100" dist="38100" dir="2700000" algn="tl">
                  <a:srgbClr val="C0C0C0"/>
                </a:outerShdw>
              </a:effectLst>
              <a:ea typeface="隶书" pitchFamily="49" charset="-122"/>
            </a:endParaRPr>
          </a:p>
          <a:p>
            <a:pPr algn="ctr" eaLnBrk="1" hangingPunct="1">
              <a:defRPr/>
            </a:pPr>
            <a:endParaRPr lang="zh-CN" altLang="en-US" sz="6000" b="1" dirty="0" smtClean="0">
              <a:solidFill>
                <a:srgbClr val="FF3300"/>
              </a:solidFill>
              <a:effectLst>
                <a:outerShdw blurRad="38100" dist="38100" dir="2700000" algn="tl">
                  <a:srgbClr val="C0C0C0"/>
                </a:outerShdw>
              </a:effectLst>
              <a:ea typeface="隶书" pitchFamily="49" charset="-122"/>
            </a:endParaRPr>
          </a:p>
          <a:p>
            <a:pPr algn="ctr">
              <a:defRPr/>
            </a:pPr>
            <a:r>
              <a:rPr lang="zh-CN" altLang="en-US" sz="6000" b="1" dirty="0" smtClean="0">
                <a:solidFill>
                  <a:srgbClr val="FF3300"/>
                </a:solidFill>
                <a:effectLst>
                  <a:outerShdw blurRad="38100" dist="38100" dir="2700000" algn="tl">
                    <a:srgbClr val="C0C0C0"/>
                  </a:outerShdw>
                </a:effectLst>
                <a:ea typeface="隶书" pitchFamily="49" charset="-122"/>
              </a:rPr>
              <a:t>第五章 设计</a:t>
            </a:r>
            <a:r>
              <a:rPr lang="zh-CN" altLang="en-US" sz="6000" b="1" dirty="0">
                <a:solidFill>
                  <a:srgbClr val="FF3300"/>
                </a:solidFill>
                <a:effectLst>
                  <a:outerShdw blurRad="38100" dist="38100" dir="2700000" algn="tl">
                    <a:srgbClr val="C0C0C0"/>
                  </a:outerShdw>
                </a:effectLst>
                <a:ea typeface="隶书" pitchFamily="49" charset="-122"/>
              </a:rPr>
              <a:t>准则</a:t>
            </a:r>
            <a:r>
              <a:rPr lang="en-US" altLang="zh-CN" sz="6000" b="1" dirty="0" smtClean="0">
                <a:solidFill>
                  <a:srgbClr val="FF3300"/>
                </a:solidFill>
                <a:effectLst>
                  <a:outerShdw blurRad="38100" dist="38100" dir="2700000" algn="tl">
                    <a:srgbClr val="C0C0C0"/>
                  </a:outerShdw>
                </a:effectLst>
                <a:ea typeface="隶书" pitchFamily="49" charset="-122"/>
              </a:rPr>
              <a:t>II</a:t>
            </a:r>
            <a:r>
              <a:rPr lang="en-US" altLang="zh-CN" sz="6000" b="1" dirty="0">
                <a:solidFill>
                  <a:srgbClr val="FF3300"/>
                </a:solidFill>
                <a:effectLst>
                  <a:outerShdw blurRad="38100" dist="38100" dir="2700000" algn="tl">
                    <a:srgbClr val="C0C0C0"/>
                  </a:outerShdw>
                </a:effectLst>
                <a:ea typeface="隶书" pitchFamily="49" charset="-122"/>
              </a:rPr>
              <a:t/>
            </a:r>
            <a:br>
              <a:rPr lang="en-US" altLang="zh-CN" sz="6000" b="1" dirty="0">
                <a:solidFill>
                  <a:srgbClr val="FF3300"/>
                </a:solidFill>
                <a:effectLst>
                  <a:outerShdw blurRad="38100" dist="38100" dir="2700000" algn="tl">
                    <a:srgbClr val="C0C0C0"/>
                  </a:outerShdw>
                </a:effectLst>
                <a:ea typeface="隶书" pitchFamily="49" charset="-122"/>
              </a:rPr>
            </a:br>
            <a:r>
              <a:rPr lang="zh-CN" altLang="en-US" sz="6000" b="1" dirty="0">
                <a:solidFill>
                  <a:srgbClr val="FF3300"/>
                </a:solidFill>
                <a:effectLst>
                  <a:outerShdw blurRad="38100" dist="38100" dir="2700000" algn="tl">
                    <a:srgbClr val="C0C0C0"/>
                  </a:outerShdw>
                </a:effectLst>
                <a:ea typeface="隶书" pitchFamily="49" charset="-122"/>
              </a:rPr>
              <a:t>灵活性、可重用性和高效性</a:t>
            </a:r>
            <a:endParaRPr lang="zh-CN" altLang="en-US" sz="6000" b="1" dirty="0" smtClean="0">
              <a:solidFill>
                <a:srgbClr val="FF3300"/>
              </a:solidFill>
              <a:effectLst>
                <a:outerShdw blurRad="38100" dist="38100" dir="2700000" algn="tl">
                  <a:srgbClr val="C0C0C0"/>
                </a:outerShdw>
              </a:effectLst>
              <a:ea typeface="隶书" pitchFamily="49" charset="-122"/>
            </a:endParaRPr>
          </a:p>
        </p:txBody>
      </p:sp>
      <p:pic>
        <p:nvPicPr>
          <p:cNvPr id="3076" name="Picture 24" descr="大连海事大学徽标--处理"/>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116013"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38113"/>
            <a:ext cx="2592387"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2091018"/>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灵活性</a:t>
            </a:r>
          </a:p>
        </p:txBody>
      </p:sp>
      <p:sp>
        <p:nvSpPr>
          <p:cNvPr id="3075" name="Rectangle 3"/>
          <p:cNvSpPr>
            <a:spLocks noChangeArrowheads="1"/>
          </p:cNvSpPr>
          <p:nvPr/>
        </p:nvSpPr>
        <p:spPr bwMode="auto">
          <a:xfrm>
            <a:off x="76200" y="1143000"/>
            <a:ext cx="8915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marL="342900" indent="-342900" algn="l">
              <a:lnSpc>
                <a:spcPct val="145000"/>
              </a:lnSpc>
              <a:spcBef>
                <a:spcPct val="0"/>
              </a:spcBef>
              <a:buFontTx/>
              <a:buChar char="•"/>
            </a:pPr>
            <a:r>
              <a:rPr kumimoji="0" lang="zh-CN" altLang="en-US" sz="3200">
                <a:solidFill>
                  <a:srgbClr val="0000CC"/>
                </a:solidFill>
                <a:latin typeface="Arial" charset="0"/>
              </a:rPr>
              <a:t>在设计时通常要考虑到将来的变化</a:t>
            </a:r>
          </a:p>
        </p:txBody>
      </p:sp>
      <p:sp>
        <p:nvSpPr>
          <p:cNvPr id="3076" name="Rectangle 4"/>
          <p:cNvSpPr>
            <a:spLocks noGrp="1" noChangeArrowheads="1"/>
          </p:cNvSpPr>
          <p:nvPr>
            <p:ph type="body" idx="1"/>
          </p:nvPr>
        </p:nvSpPr>
        <p:spPr>
          <a:xfrm>
            <a:off x="304800" y="2362200"/>
            <a:ext cx="8458200" cy="4267200"/>
          </a:xfrm>
          <a:noFill/>
        </p:spPr>
        <p:txBody>
          <a:bodyPr lIns="90488" tIns="44450" rIns="90488" bIns="44450"/>
          <a:lstStyle/>
          <a:p>
            <a:pPr eaLnBrk="1" hangingPunct="1"/>
            <a:r>
              <a:rPr lang="en-US" altLang="zh-CN" smtClean="0">
                <a:ea typeface="楷体_GB2312" pitchFamily="49" charset="-122"/>
              </a:rPr>
              <a:t>…</a:t>
            </a:r>
            <a:r>
              <a:rPr lang="en-US" altLang="zh-CN" smtClean="0">
                <a:latin typeface="楷体_GB2312" pitchFamily="49" charset="-122"/>
                <a:ea typeface="楷体_GB2312" pitchFamily="49" charset="-122"/>
              </a:rPr>
              <a:t> </a:t>
            </a:r>
            <a:r>
              <a:rPr lang="zh-CN" altLang="en-US" b="1" smtClean="0">
                <a:latin typeface="楷体_GB2312" pitchFamily="49" charset="-122"/>
                <a:ea typeface="楷体_GB2312" pitchFamily="49" charset="-122"/>
              </a:rPr>
              <a:t>增加更多相同类型功能</a:t>
            </a:r>
          </a:p>
          <a:p>
            <a:pPr lvl="1" eaLnBrk="1" hangingPunct="1"/>
            <a:r>
              <a:rPr lang="zh-CN" altLang="en-US" b="1" smtClean="0">
                <a:latin typeface="楷体_GB2312" pitchFamily="49" charset="-122"/>
                <a:ea typeface="楷体_GB2312" pitchFamily="49" charset="-122"/>
              </a:rPr>
              <a:t>例如 </a:t>
            </a:r>
            <a:r>
              <a:rPr lang="en-US" altLang="zh-CN" b="1" smtClean="0">
                <a:latin typeface="楷体_GB2312" pitchFamily="49" charset="-122"/>
                <a:ea typeface="楷体_GB2312" pitchFamily="49" charset="-122"/>
              </a:rPr>
              <a:t>(</a:t>
            </a:r>
            <a:r>
              <a:rPr lang="zh-CN" altLang="en-US" b="1" smtClean="0">
                <a:latin typeface="楷体_GB2312" pitchFamily="49" charset="-122"/>
                <a:ea typeface="楷体_GB2312" pitchFamily="49" charset="-122"/>
              </a:rPr>
              <a:t>银行应用</a:t>
            </a:r>
            <a:r>
              <a:rPr lang="en-US" altLang="zh-CN" b="1" smtClean="0">
                <a:latin typeface="楷体_GB2312" pitchFamily="49" charset="-122"/>
                <a:ea typeface="楷体_GB2312" pitchFamily="49" charset="-122"/>
              </a:rPr>
              <a:t>):</a:t>
            </a:r>
            <a:r>
              <a:rPr lang="zh-CN" altLang="en-US" b="1" smtClean="0">
                <a:latin typeface="楷体_GB2312" pitchFamily="49" charset="-122"/>
                <a:ea typeface="楷体_GB2312" pitchFamily="49" charset="-122"/>
              </a:rPr>
              <a:t>处理更多类型的帐号，不需要修改已存在的设计或代码</a:t>
            </a:r>
          </a:p>
          <a:p>
            <a:pPr eaLnBrk="1" hangingPunct="1"/>
            <a:r>
              <a:rPr lang="en-US" altLang="zh-CN" b="1" i="1" smtClean="0"/>
              <a:t>… </a:t>
            </a:r>
            <a:r>
              <a:rPr lang="zh-CN" altLang="en-US" b="1" smtClean="0">
                <a:ea typeface="楷体_GB2312" pitchFamily="49" charset="-122"/>
              </a:rPr>
              <a:t>增加不同的功能</a:t>
            </a:r>
          </a:p>
          <a:p>
            <a:pPr lvl="1" eaLnBrk="1" hangingPunct="1"/>
            <a:r>
              <a:rPr lang="zh-CN" altLang="en-US" b="1" smtClean="0">
                <a:ea typeface="楷体_GB2312" pitchFamily="49" charset="-122"/>
              </a:rPr>
              <a:t>例如</a:t>
            </a:r>
            <a:r>
              <a:rPr lang="en-US" altLang="zh-CN" b="1" smtClean="0"/>
              <a:t>: </a:t>
            </a:r>
            <a:r>
              <a:rPr lang="zh-CN" altLang="en-US" b="1" smtClean="0">
                <a:latin typeface="楷体_GB2312" pitchFamily="49" charset="-122"/>
                <a:ea typeface="楷体_GB2312" pitchFamily="49" charset="-122"/>
              </a:rPr>
              <a:t>在存款的基础增加提款功能</a:t>
            </a:r>
          </a:p>
          <a:p>
            <a:pPr eaLnBrk="1" hangingPunct="1"/>
            <a:r>
              <a:rPr lang="en-US" altLang="zh-CN" b="1" i="1" smtClean="0">
                <a:ea typeface="楷体_GB2312" pitchFamily="49" charset="-122"/>
              </a:rPr>
              <a:t>…</a:t>
            </a:r>
            <a:r>
              <a:rPr lang="en-US" altLang="zh-CN" b="1" i="1" smtClean="0">
                <a:latin typeface="楷体_GB2312" pitchFamily="49" charset="-122"/>
                <a:ea typeface="楷体_GB2312" pitchFamily="49" charset="-122"/>
              </a:rPr>
              <a:t> </a:t>
            </a:r>
            <a:r>
              <a:rPr lang="zh-CN" altLang="en-US" b="1" smtClean="0">
                <a:latin typeface="楷体_GB2312" pitchFamily="49" charset="-122"/>
                <a:ea typeface="楷体_GB2312" pitchFamily="49" charset="-122"/>
              </a:rPr>
              <a:t>修改功能</a:t>
            </a:r>
          </a:p>
          <a:p>
            <a:pPr lvl="1" eaLnBrk="1" hangingPunct="1"/>
            <a:r>
              <a:rPr lang="zh-CN" altLang="en-US" b="1" smtClean="0">
                <a:latin typeface="楷体_GB2312" pitchFamily="49" charset="-122"/>
                <a:ea typeface="楷体_GB2312" pitchFamily="49" charset="-122"/>
              </a:rPr>
              <a:t>例如</a:t>
            </a:r>
            <a:r>
              <a:rPr lang="en-US" altLang="zh-CN" b="1" smtClean="0">
                <a:latin typeface="楷体_GB2312" pitchFamily="49" charset="-122"/>
                <a:ea typeface="楷体_GB2312" pitchFamily="49" charset="-122"/>
              </a:rPr>
              <a:t>: </a:t>
            </a:r>
            <a:r>
              <a:rPr lang="zh-CN" altLang="en-US" b="1" smtClean="0">
                <a:latin typeface="楷体_GB2312" pitchFamily="49" charset="-122"/>
                <a:ea typeface="楷体_GB2312" pitchFamily="49" charset="-122"/>
              </a:rPr>
              <a:t>允许透支</a:t>
            </a:r>
            <a:endParaRPr lang="zh-CN" altLang="en-US" sz="3200" b="1" smtClean="0">
              <a:latin typeface="楷体_GB2312" pitchFamily="49" charset="-122"/>
              <a:ea typeface="楷体_GB2312" pitchFamily="49" charset="-122"/>
            </a:endParaRPr>
          </a:p>
        </p:txBody>
      </p:sp>
    </p:spTree>
    <p:extLst>
      <p:ext uri="{BB962C8B-B14F-4D97-AF65-F5344CB8AC3E}">
        <p14:creationId xmlns:p14="http://schemas.microsoft.com/office/powerpoint/2010/main" val="351861978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ChangeArrowheads="1"/>
          </p:cNvSpPr>
          <p:nvPr/>
        </p:nvSpPr>
        <p:spPr bwMode="auto">
          <a:xfrm>
            <a:off x="1692275" y="1452563"/>
            <a:ext cx="1203325" cy="84137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u="sng">
                <a:latin typeface="Arial Narrow" pitchFamily="34" charset="0"/>
                <a:ea typeface="宋体" charset="-122"/>
              </a:rPr>
              <a:t>WebSite</a:t>
            </a:r>
          </a:p>
          <a:p>
            <a:pPr eaLnBrk="0" hangingPunct="0">
              <a:spcBef>
                <a:spcPct val="0"/>
              </a:spcBef>
            </a:pPr>
            <a:r>
              <a:rPr kumimoji="0" lang="en-US" altLang="zh-CN" sz="2400" b="0">
                <a:latin typeface="Arial Narrow" pitchFamily="34" charset="0"/>
                <a:ea typeface="宋体" charset="-122"/>
              </a:rPr>
              <a:t>register()</a:t>
            </a:r>
          </a:p>
        </p:txBody>
      </p:sp>
      <p:cxnSp>
        <p:nvCxnSpPr>
          <p:cNvPr id="4099" name="AutoShape 8"/>
          <p:cNvCxnSpPr>
            <a:cxnSpLocks noChangeShapeType="1"/>
            <a:stCxn id="4100" idx="3"/>
            <a:endCxn id="4101" idx="1"/>
          </p:cNvCxnSpPr>
          <p:nvPr/>
        </p:nvCxnSpPr>
        <p:spPr bwMode="auto">
          <a:xfrm>
            <a:off x="3286125" y="1839913"/>
            <a:ext cx="2822575" cy="3175"/>
          </a:xfrm>
          <a:prstGeom prst="bentConnector3">
            <a:avLst>
              <a:gd name="adj1" fmla="val 50000"/>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4100" name="AutoShape 9"/>
          <p:cNvSpPr>
            <a:spLocks noChangeArrowheads="1"/>
          </p:cNvSpPr>
          <p:nvPr/>
        </p:nvSpPr>
        <p:spPr bwMode="auto">
          <a:xfrm>
            <a:off x="2895600" y="1725613"/>
            <a:ext cx="381000" cy="228600"/>
          </a:xfrm>
          <a:prstGeom prst="flowChartDecision">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101" name="Rectangle 10"/>
          <p:cNvSpPr>
            <a:spLocks noChangeArrowheads="1"/>
          </p:cNvSpPr>
          <p:nvPr/>
        </p:nvSpPr>
        <p:spPr bwMode="auto">
          <a:xfrm>
            <a:off x="6118225" y="1604963"/>
            <a:ext cx="1120775" cy="4762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a:latin typeface="Arial Narrow" pitchFamily="34" charset="0"/>
                <a:ea typeface="宋体" charset="-122"/>
              </a:rPr>
              <a:t>Member</a:t>
            </a:r>
          </a:p>
        </p:txBody>
      </p:sp>
      <p:sp>
        <p:nvSpPr>
          <p:cNvPr id="4102" name="Rectangle 11"/>
          <p:cNvSpPr>
            <a:spLocks noChangeArrowheads="1"/>
          </p:cNvSpPr>
          <p:nvPr/>
        </p:nvSpPr>
        <p:spPr bwMode="auto">
          <a:xfrm>
            <a:off x="5314950" y="1371600"/>
            <a:ext cx="603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l" eaLnBrk="0" hangingPunct="0">
              <a:spcBef>
                <a:spcPct val="0"/>
              </a:spcBef>
            </a:pPr>
            <a:r>
              <a:rPr kumimoji="0" lang="en-US" altLang="zh-CN" sz="2400" b="0">
                <a:latin typeface="Arial Narrow" pitchFamily="34" charset="0"/>
                <a:ea typeface="宋体" charset="-122"/>
              </a:rPr>
              <a:t>0..n</a:t>
            </a:r>
          </a:p>
        </p:txBody>
      </p:sp>
      <p:sp>
        <p:nvSpPr>
          <p:cNvPr id="4103" name="Rectangle 12"/>
          <p:cNvSpPr>
            <a:spLocks noChangeArrowheads="1"/>
          </p:cNvSpPr>
          <p:nvPr/>
        </p:nvSpPr>
        <p:spPr bwMode="auto">
          <a:xfrm>
            <a:off x="3200400" y="1371600"/>
            <a:ext cx="1227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l" eaLnBrk="0" hangingPunct="0">
              <a:spcBef>
                <a:spcPct val="0"/>
              </a:spcBef>
            </a:pPr>
            <a:r>
              <a:rPr kumimoji="0" lang="en-US" altLang="zh-CN" sz="2400" b="0">
                <a:latin typeface="Arial Narrow" pitchFamily="34" charset="0"/>
                <a:ea typeface="宋体" charset="-122"/>
              </a:rPr>
              <a:t>members</a:t>
            </a:r>
          </a:p>
        </p:txBody>
      </p:sp>
      <p:sp>
        <p:nvSpPr>
          <p:cNvPr id="4104" name="Rectangle 13"/>
          <p:cNvSpPr>
            <a:spLocks noChangeArrowheads="1"/>
          </p:cNvSpPr>
          <p:nvPr/>
        </p:nvSpPr>
        <p:spPr bwMode="auto">
          <a:xfrm>
            <a:off x="228600" y="381000"/>
            <a:ext cx="8686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p>
            <a:pPr>
              <a:spcBef>
                <a:spcPct val="0"/>
              </a:spcBef>
            </a:pPr>
            <a:r>
              <a:rPr kumimoji="0" lang="zh-CN" altLang="en-US" sz="4000">
                <a:solidFill>
                  <a:schemeClr val="tx2"/>
                </a:solidFill>
                <a:latin typeface="Arial" charset="0"/>
              </a:rPr>
              <a:t>网站成员注册</a:t>
            </a:r>
          </a:p>
        </p:txBody>
      </p:sp>
      <p:sp>
        <p:nvSpPr>
          <p:cNvPr id="4105" name="Text Box 15"/>
          <p:cNvSpPr txBox="1">
            <a:spLocks noChangeArrowheads="1"/>
          </p:cNvSpPr>
          <p:nvPr/>
        </p:nvSpPr>
        <p:spPr bwMode="auto">
          <a:xfrm>
            <a:off x="304800" y="3048000"/>
            <a:ext cx="8305800" cy="319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algn="l" eaLnBrk="1" hangingPunct="1"/>
            <a:r>
              <a:rPr kumimoji="0" lang="en-US" altLang="zh-CN" sz="2400" b="0">
                <a:latin typeface="Arial" charset="0"/>
                <a:ea typeface="宋体" charset="-122"/>
              </a:rPr>
              <a:t>Class Website</a:t>
            </a:r>
          </a:p>
          <a:p>
            <a:pPr algn="l" eaLnBrk="1" hangingPunct="1"/>
            <a:r>
              <a:rPr kumimoji="0" lang="en-US" altLang="zh-CN" sz="2400" b="0">
                <a:latin typeface="Arial" charset="0"/>
                <a:ea typeface="宋体" charset="-122"/>
              </a:rPr>
              <a:t>{</a:t>
            </a:r>
          </a:p>
          <a:p>
            <a:pPr algn="l" eaLnBrk="1" hangingPunct="1"/>
            <a:r>
              <a:rPr kumimoji="0" lang="en-US" altLang="zh-CN" sz="2400" b="0">
                <a:latin typeface="Arial" charset="0"/>
                <a:ea typeface="宋体" charset="-122"/>
              </a:rPr>
              <a:t>            Member[]  members;  //  or maybe: Vector member;</a:t>
            </a:r>
          </a:p>
          <a:p>
            <a:pPr algn="l" eaLnBrk="1" hangingPunct="1"/>
            <a:r>
              <a:rPr kumimoji="0" lang="en-US" altLang="zh-CN" sz="2400" b="0">
                <a:latin typeface="Arial" charset="0"/>
                <a:ea typeface="宋体" charset="-122"/>
              </a:rPr>
              <a:t>            void register( Member aMember ) { . . . }</a:t>
            </a:r>
          </a:p>
          <a:p>
            <a:pPr algn="l" eaLnBrk="1" hangingPunct="1"/>
            <a:r>
              <a:rPr kumimoji="0" lang="en-US" altLang="zh-CN" sz="2400" b="0">
                <a:latin typeface="Arial" charset="0"/>
                <a:ea typeface="宋体" charset="-122"/>
              </a:rPr>
              <a:t>}</a:t>
            </a:r>
          </a:p>
          <a:p>
            <a:pPr algn="l" eaLnBrk="1" hangingPunct="1"/>
            <a:endParaRPr kumimoji="0" lang="en-US" altLang="zh-CN" sz="2400" b="0">
              <a:latin typeface="Arial" charset="0"/>
              <a:ea typeface="宋体" charset="-122"/>
            </a:endParaRPr>
          </a:p>
        </p:txBody>
      </p:sp>
    </p:spTree>
    <p:extLst>
      <p:ext uri="{BB962C8B-B14F-4D97-AF65-F5344CB8AC3E}">
        <p14:creationId xmlns:p14="http://schemas.microsoft.com/office/powerpoint/2010/main" val="32365261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8"/>
          <p:cNvSpPr>
            <a:spLocks noChangeArrowheads="1"/>
          </p:cNvSpPr>
          <p:nvPr/>
        </p:nvSpPr>
        <p:spPr bwMode="auto">
          <a:xfrm>
            <a:off x="304800" y="228600"/>
            <a:ext cx="6781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p>
            <a:pPr>
              <a:spcBef>
                <a:spcPct val="0"/>
              </a:spcBef>
            </a:pPr>
            <a:r>
              <a:rPr kumimoji="0" lang="zh-CN" altLang="en-US" sz="4000">
                <a:solidFill>
                  <a:schemeClr val="tx2"/>
                </a:solidFill>
                <a:latin typeface="Arial" charset="0"/>
              </a:rPr>
              <a:t>网站成员注册</a:t>
            </a:r>
          </a:p>
        </p:txBody>
      </p:sp>
      <p:sp>
        <p:nvSpPr>
          <p:cNvPr id="5123" name="Rectangle 10"/>
          <p:cNvSpPr>
            <a:spLocks noChangeArrowheads="1"/>
          </p:cNvSpPr>
          <p:nvPr/>
        </p:nvSpPr>
        <p:spPr bwMode="auto">
          <a:xfrm>
            <a:off x="1439863" y="1933575"/>
            <a:ext cx="1150937" cy="4762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a:latin typeface="Arial Narrow" pitchFamily="34" charset="0"/>
                <a:ea typeface="宋体" charset="-122"/>
              </a:rPr>
              <a:t>WebSite</a:t>
            </a:r>
          </a:p>
        </p:txBody>
      </p:sp>
      <p:sp>
        <p:nvSpPr>
          <p:cNvPr id="5124" name="Rectangle 11"/>
          <p:cNvSpPr>
            <a:spLocks noChangeArrowheads="1"/>
          </p:cNvSpPr>
          <p:nvPr/>
        </p:nvSpPr>
        <p:spPr bwMode="auto">
          <a:xfrm>
            <a:off x="5778500" y="1933575"/>
            <a:ext cx="1120775" cy="4762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i="1">
                <a:latin typeface="Arial Narrow" pitchFamily="34" charset="0"/>
                <a:ea typeface="宋体" charset="-122"/>
              </a:rPr>
              <a:t>Member</a:t>
            </a:r>
          </a:p>
        </p:txBody>
      </p:sp>
      <p:sp>
        <p:nvSpPr>
          <p:cNvPr id="5125" name="Rectangle 12"/>
          <p:cNvSpPr>
            <a:spLocks noChangeArrowheads="1"/>
          </p:cNvSpPr>
          <p:nvPr/>
        </p:nvSpPr>
        <p:spPr bwMode="auto">
          <a:xfrm>
            <a:off x="5105400" y="1752600"/>
            <a:ext cx="603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l" eaLnBrk="0" hangingPunct="0">
              <a:spcBef>
                <a:spcPct val="0"/>
              </a:spcBef>
            </a:pPr>
            <a:r>
              <a:rPr kumimoji="0" lang="en-US" altLang="zh-CN" sz="2400" b="0">
                <a:latin typeface="Arial Narrow" pitchFamily="34" charset="0"/>
                <a:ea typeface="宋体" charset="-122"/>
              </a:rPr>
              <a:t>0..n</a:t>
            </a:r>
          </a:p>
        </p:txBody>
      </p:sp>
      <p:sp>
        <p:nvSpPr>
          <p:cNvPr id="5126" name="AutoShape 13"/>
          <p:cNvSpPr>
            <a:spLocks noChangeArrowheads="1"/>
          </p:cNvSpPr>
          <p:nvPr/>
        </p:nvSpPr>
        <p:spPr bwMode="auto">
          <a:xfrm>
            <a:off x="6248400" y="2438400"/>
            <a:ext cx="228600" cy="228600"/>
          </a:xfrm>
          <a:prstGeom prst="flowChartExtra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27" name="Rectangle 14"/>
          <p:cNvSpPr>
            <a:spLocks noChangeArrowheads="1"/>
          </p:cNvSpPr>
          <p:nvPr/>
        </p:nvSpPr>
        <p:spPr bwMode="auto">
          <a:xfrm>
            <a:off x="5280025" y="4095750"/>
            <a:ext cx="2138363" cy="4762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a:latin typeface="Arial Narrow" pitchFamily="34" charset="0"/>
                <a:ea typeface="宋体" charset="-122"/>
              </a:rPr>
              <a:t>StandardMember</a:t>
            </a:r>
          </a:p>
        </p:txBody>
      </p:sp>
      <p:cxnSp>
        <p:nvCxnSpPr>
          <p:cNvPr id="5128" name="AutoShape 15"/>
          <p:cNvCxnSpPr>
            <a:cxnSpLocks noChangeShapeType="1"/>
            <a:stCxn id="5127" idx="0"/>
          </p:cNvCxnSpPr>
          <p:nvPr/>
        </p:nvCxnSpPr>
        <p:spPr bwMode="auto">
          <a:xfrm rot="5400000" flipH="1">
            <a:off x="5634832" y="3371056"/>
            <a:ext cx="1428750" cy="1587"/>
          </a:xfrm>
          <a:prstGeom prst="bentConnector3">
            <a:avLst>
              <a:gd name="adj1" fmla="val 50000"/>
            </a:avLst>
          </a:prstGeom>
          <a:noFill/>
          <a:ln w="19050">
            <a:solidFill>
              <a:schemeClr val="tx1"/>
            </a:solidFill>
            <a:miter lim="800000"/>
            <a:headEnd/>
            <a:tailEnd/>
          </a:ln>
          <a:extLst>
            <a:ext uri="{909E8E84-426E-40DD-AFC4-6F175D3DCCD1}">
              <a14:hiddenFill xmlns:a14="http://schemas.microsoft.com/office/drawing/2010/main">
                <a:noFill/>
              </a14:hiddenFill>
            </a:ext>
          </a:extLst>
        </p:spPr>
      </p:cxnSp>
      <p:sp>
        <p:nvSpPr>
          <p:cNvPr id="5129" name="AutoShape 16"/>
          <p:cNvSpPr>
            <a:spLocks noChangeArrowheads="1"/>
          </p:cNvSpPr>
          <p:nvPr/>
        </p:nvSpPr>
        <p:spPr bwMode="auto">
          <a:xfrm>
            <a:off x="2590800" y="2057400"/>
            <a:ext cx="381000" cy="228600"/>
          </a:xfrm>
          <a:prstGeom prst="flowChartDecision">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cxnSp>
        <p:nvCxnSpPr>
          <p:cNvPr id="5130" name="AutoShape 17"/>
          <p:cNvCxnSpPr>
            <a:cxnSpLocks noChangeShapeType="1"/>
            <a:stCxn id="5129" idx="3"/>
          </p:cNvCxnSpPr>
          <p:nvPr/>
        </p:nvCxnSpPr>
        <p:spPr bwMode="auto">
          <a:xfrm>
            <a:off x="2971800" y="2171700"/>
            <a:ext cx="2819400" cy="3810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5131" name="Rectangle 18"/>
          <p:cNvSpPr>
            <a:spLocks noChangeArrowheads="1"/>
          </p:cNvSpPr>
          <p:nvPr/>
        </p:nvSpPr>
        <p:spPr bwMode="auto">
          <a:xfrm>
            <a:off x="3589338" y="4095750"/>
            <a:ext cx="1287462" cy="476250"/>
          </a:xfrm>
          <a:prstGeom prst="rect">
            <a:avLst/>
          </a:prstGeom>
          <a:solidFill>
            <a:schemeClr val="bg1"/>
          </a:solidFill>
          <a:ln w="19050">
            <a:solidFill>
              <a:schemeClr val="tx1"/>
            </a:solidFill>
            <a:miter lim="800000"/>
            <a:headEnd/>
            <a:tailEnd/>
          </a:ln>
        </p:spPr>
        <p:txBody>
          <a:bodyPr wrap="none">
            <a:spAutoFit/>
          </a:bodyPr>
          <a:lstStyle/>
          <a:p>
            <a:pPr eaLnBrk="0" hangingPunct="0">
              <a:spcBef>
                <a:spcPct val="0"/>
              </a:spcBef>
            </a:pPr>
            <a:r>
              <a:rPr kumimoji="0" lang="en-US" altLang="zh-CN" sz="2400" b="0">
                <a:latin typeface="Arial Narrow" pitchFamily="34" charset="0"/>
                <a:ea typeface="宋体" charset="-122"/>
              </a:rPr>
              <a:t>XMember</a:t>
            </a:r>
          </a:p>
        </p:txBody>
      </p:sp>
      <p:cxnSp>
        <p:nvCxnSpPr>
          <p:cNvPr id="5132" name="AutoShape 19"/>
          <p:cNvCxnSpPr>
            <a:cxnSpLocks noChangeShapeType="1"/>
          </p:cNvCxnSpPr>
          <p:nvPr/>
        </p:nvCxnSpPr>
        <p:spPr bwMode="auto">
          <a:xfrm rot="-5400000">
            <a:off x="4555332" y="2293143"/>
            <a:ext cx="1428750" cy="2157413"/>
          </a:xfrm>
          <a:prstGeom prst="bentConnector3">
            <a:avLst>
              <a:gd name="adj1" fmla="val 50000"/>
            </a:avLst>
          </a:prstGeom>
          <a:noFill/>
          <a:ln w="19050">
            <a:solidFill>
              <a:schemeClr val="tx1"/>
            </a:solidFill>
            <a:miter lim="800000"/>
            <a:headEnd/>
            <a:tailEnd/>
          </a:ln>
          <a:extLst>
            <a:ext uri="{909E8E84-426E-40DD-AFC4-6F175D3DCCD1}">
              <a14:hiddenFill xmlns:a14="http://schemas.microsoft.com/office/drawing/2010/main">
                <a:noFill/>
              </a14:hiddenFill>
            </a:ext>
          </a:extLst>
        </p:spPr>
      </p:cxnSp>
      <p:sp>
        <p:nvSpPr>
          <p:cNvPr id="5133" name="Rectangle 20"/>
          <p:cNvSpPr>
            <a:spLocks noChangeArrowheads="1"/>
          </p:cNvSpPr>
          <p:nvPr/>
        </p:nvSpPr>
        <p:spPr bwMode="auto">
          <a:xfrm>
            <a:off x="1836738" y="4095750"/>
            <a:ext cx="1287462" cy="476250"/>
          </a:xfrm>
          <a:prstGeom prst="rect">
            <a:avLst/>
          </a:prstGeom>
          <a:solidFill>
            <a:schemeClr val="bg1"/>
          </a:solidFill>
          <a:ln w="19050">
            <a:solidFill>
              <a:schemeClr val="tx1"/>
            </a:solidFill>
            <a:miter lim="800000"/>
            <a:headEnd/>
            <a:tailEnd/>
          </a:ln>
        </p:spPr>
        <p:txBody>
          <a:bodyPr wrap="none">
            <a:spAutoFit/>
          </a:bodyPr>
          <a:lstStyle/>
          <a:p>
            <a:pPr eaLnBrk="0" hangingPunct="0">
              <a:spcBef>
                <a:spcPct val="0"/>
              </a:spcBef>
            </a:pPr>
            <a:r>
              <a:rPr kumimoji="0" lang="en-US" altLang="zh-CN" sz="2400" b="0">
                <a:latin typeface="Arial Narrow" pitchFamily="34" charset="0"/>
                <a:ea typeface="宋体" charset="-122"/>
              </a:rPr>
              <a:t>YMember</a:t>
            </a:r>
          </a:p>
        </p:txBody>
      </p:sp>
      <p:sp>
        <p:nvSpPr>
          <p:cNvPr id="5134" name="Rectangle 21"/>
          <p:cNvSpPr>
            <a:spLocks noChangeArrowheads="1"/>
          </p:cNvSpPr>
          <p:nvPr/>
        </p:nvSpPr>
        <p:spPr bwMode="auto">
          <a:xfrm>
            <a:off x="3124200" y="1728788"/>
            <a:ext cx="1227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l" eaLnBrk="0" hangingPunct="0">
              <a:spcBef>
                <a:spcPct val="0"/>
              </a:spcBef>
            </a:pPr>
            <a:r>
              <a:rPr kumimoji="0" lang="en-US" altLang="zh-CN" sz="2400" b="0">
                <a:latin typeface="Arial Narrow" pitchFamily="34" charset="0"/>
                <a:ea typeface="宋体" charset="-122"/>
              </a:rPr>
              <a:t>members</a:t>
            </a:r>
          </a:p>
        </p:txBody>
      </p:sp>
      <p:cxnSp>
        <p:nvCxnSpPr>
          <p:cNvPr id="5135" name="AutoShape 22"/>
          <p:cNvCxnSpPr>
            <a:cxnSpLocks noChangeShapeType="1"/>
          </p:cNvCxnSpPr>
          <p:nvPr/>
        </p:nvCxnSpPr>
        <p:spPr bwMode="auto">
          <a:xfrm rot="-5400000">
            <a:off x="3679032" y="1416843"/>
            <a:ext cx="1428750" cy="3910013"/>
          </a:xfrm>
          <a:prstGeom prst="bentConnector3">
            <a:avLst>
              <a:gd name="adj1" fmla="val 50000"/>
            </a:avLst>
          </a:prstGeom>
          <a:noFill/>
          <a:ln w="19050">
            <a:solidFill>
              <a:schemeClr val="tx1"/>
            </a:solidFill>
            <a:miter lim="800000"/>
            <a:headEnd/>
            <a:tailEnd/>
          </a:ln>
          <a:extLst>
            <a:ext uri="{909E8E84-426E-40DD-AFC4-6F175D3DCCD1}">
              <a14:hiddenFill xmlns:a14="http://schemas.microsoft.com/office/drawing/2010/main">
                <a:noFill/>
              </a14:hiddenFill>
            </a:ext>
          </a:extLst>
        </p:spPr>
      </p:cxnSp>
      <p:sp>
        <p:nvSpPr>
          <p:cNvPr id="5136" name="AutoShape 23"/>
          <p:cNvSpPr>
            <a:spLocks noChangeArrowheads="1"/>
          </p:cNvSpPr>
          <p:nvPr/>
        </p:nvSpPr>
        <p:spPr bwMode="auto">
          <a:xfrm>
            <a:off x="6061075" y="228600"/>
            <a:ext cx="2057400" cy="1219200"/>
          </a:xfrm>
          <a:prstGeom prst="wedgeRoundRectCallout">
            <a:avLst>
              <a:gd name="adj1" fmla="val -30477"/>
              <a:gd name="adj2" fmla="val 88542"/>
              <a:gd name="adj3" fmla="val 16667"/>
            </a:avLst>
          </a:prstGeom>
          <a:solidFill>
            <a:schemeClr val="accent1"/>
          </a:solidFill>
          <a:ln w="9525">
            <a:solidFill>
              <a:schemeClr val="tx1"/>
            </a:solidFill>
            <a:miter lim="800000"/>
            <a:headEnd/>
            <a:tailEnd/>
          </a:ln>
        </p:spPr>
        <p:txBody>
          <a:bodyPr/>
          <a:lstStyle/>
          <a:p>
            <a:pPr>
              <a:spcBef>
                <a:spcPct val="0"/>
              </a:spcBef>
            </a:pPr>
            <a:r>
              <a:rPr kumimoji="0" lang="zh-CN" altLang="en-US" sz="2400">
                <a:latin typeface="Arial" charset="0"/>
              </a:rPr>
              <a:t>引入基类，并抽象化</a:t>
            </a:r>
          </a:p>
        </p:txBody>
      </p:sp>
      <p:sp>
        <p:nvSpPr>
          <p:cNvPr id="5137" name="TextBox 16"/>
          <p:cNvSpPr txBox="1">
            <a:spLocks noChangeArrowheads="1"/>
          </p:cNvSpPr>
          <p:nvPr/>
        </p:nvSpPr>
        <p:spPr bwMode="auto">
          <a:xfrm>
            <a:off x="2057400" y="5867400"/>
            <a:ext cx="63214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a:t>目的是为了容易增加新的</a:t>
            </a:r>
            <a:r>
              <a:rPr lang="en-US" altLang="zh-CN"/>
              <a:t>Member</a:t>
            </a:r>
            <a:r>
              <a:rPr lang="zh-CN" altLang="en-US"/>
              <a:t>的子类</a:t>
            </a:r>
          </a:p>
        </p:txBody>
      </p:sp>
      <p:sp>
        <p:nvSpPr>
          <p:cNvPr id="5138" name="TextBox 17"/>
          <p:cNvSpPr txBox="1">
            <a:spLocks noChangeArrowheads="1"/>
          </p:cNvSpPr>
          <p:nvPr/>
        </p:nvSpPr>
        <p:spPr bwMode="auto">
          <a:xfrm>
            <a:off x="7696200" y="4038600"/>
            <a:ext cx="1266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6pPr>
            <a:lvl7pPr marL="29718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7pPr>
            <a:lvl8pPr marL="34290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8pPr>
            <a:lvl9pPr marL="3886200" indent="-228600" algn="ctr" eaLnBrk="0" fontAlgn="base" hangingPunct="0">
              <a:spcBef>
                <a:spcPct val="5000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a:t>。。。</a:t>
            </a:r>
          </a:p>
        </p:txBody>
      </p:sp>
    </p:spTree>
    <p:extLst>
      <p:ext uri="{BB962C8B-B14F-4D97-AF65-F5344CB8AC3E}">
        <p14:creationId xmlns:p14="http://schemas.microsoft.com/office/powerpoint/2010/main" val="103799933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76200"/>
            <a:ext cx="8229600" cy="1143000"/>
          </a:xfrm>
        </p:spPr>
        <p:txBody>
          <a:bodyPr/>
          <a:lstStyle/>
          <a:p>
            <a:pPr eaLnBrk="1" hangingPunct="1"/>
            <a:r>
              <a:rPr lang="zh-CN" altLang="en-US" b="1" smtClean="0">
                <a:solidFill>
                  <a:schemeClr val="accent2"/>
                </a:solidFill>
                <a:ea typeface="楷体_GB2312" pitchFamily="49" charset="-122"/>
              </a:rPr>
              <a:t>灵活性</a:t>
            </a:r>
          </a:p>
        </p:txBody>
      </p:sp>
      <p:sp>
        <p:nvSpPr>
          <p:cNvPr id="6147" name="Rectangle 3"/>
          <p:cNvSpPr>
            <a:spLocks noChangeArrowheads="1"/>
          </p:cNvSpPr>
          <p:nvPr/>
        </p:nvSpPr>
        <p:spPr bwMode="auto">
          <a:xfrm>
            <a:off x="76200" y="914400"/>
            <a:ext cx="8915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marL="342900" indent="-342900" algn="l">
              <a:lnSpc>
                <a:spcPct val="145000"/>
              </a:lnSpc>
              <a:spcBef>
                <a:spcPct val="0"/>
              </a:spcBef>
              <a:buFontTx/>
              <a:buChar char="•"/>
            </a:pPr>
            <a:r>
              <a:rPr kumimoji="0" lang="zh-CN" altLang="en-US" sz="3200">
                <a:solidFill>
                  <a:srgbClr val="0000CC"/>
                </a:solidFill>
                <a:latin typeface="Arial" charset="0"/>
              </a:rPr>
              <a:t>增加新功能要依据其上下文和应用范围</a:t>
            </a:r>
          </a:p>
        </p:txBody>
      </p:sp>
      <p:sp>
        <p:nvSpPr>
          <p:cNvPr id="6148" name="Rectangle 4"/>
          <p:cNvSpPr>
            <a:spLocks noGrp="1" noChangeArrowheads="1"/>
          </p:cNvSpPr>
          <p:nvPr>
            <p:ph type="body" idx="1"/>
          </p:nvPr>
        </p:nvSpPr>
        <p:spPr>
          <a:xfrm>
            <a:off x="304800" y="1752600"/>
            <a:ext cx="8610600" cy="4648200"/>
          </a:xfrm>
          <a:noFill/>
        </p:spPr>
        <p:txBody>
          <a:bodyPr lIns="90488" tIns="44450" rIns="90488" bIns="44450">
            <a:normAutofit fontScale="92500"/>
          </a:bodyPr>
          <a:lstStyle/>
          <a:p>
            <a:pPr eaLnBrk="1" hangingPunct="1">
              <a:buFontTx/>
              <a:buNone/>
            </a:pPr>
            <a:r>
              <a:rPr lang="zh-CN" altLang="en-US" smtClean="0">
                <a:latin typeface="楷体_GB2312" pitchFamily="49" charset="-122"/>
                <a:ea typeface="楷体_GB2312" pitchFamily="49" charset="-122"/>
              </a:rPr>
              <a:t>在以下范围内：</a:t>
            </a:r>
          </a:p>
          <a:p>
            <a:pPr eaLnBrk="1" hangingPunct="1"/>
            <a:r>
              <a:rPr lang="zh-CN" altLang="en-US" smtClean="0">
                <a:latin typeface="楷体_GB2312" pitchFamily="49" charset="-122"/>
                <a:ea typeface="楷体_GB2312" pitchFamily="49" charset="-122"/>
              </a:rPr>
              <a:t>一系列相关的函数</a:t>
            </a:r>
          </a:p>
          <a:p>
            <a:pPr lvl="1" eaLnBrk="1" hangingPunct="1"/>
            <a:r>
              <a:rPr lang="zh-CN" altLang="en-US" smtClean="0">
                <a:latin typeface="楷体_GB2312" pitchFamily="49" charset="-122"/>
                <a:ea typeface="楷体_GB2312" pitchFamily="49" charset="-122"/>
              </a:rPr>
              <a:t>例如：在航空旅行线路（</a:t>
            </a:r>
            <a:r>
              <a:rPr lang="en-US" altLang="zh-CN" smtClean="0">
                <a:latin typeface="楷体_GB2312" pitchFamily="49" charset="-122"/>
                <a:ea typeface="楷体_GB2312" pitchFamily="49" charset="-122"/>
              </a:rPr>
              <a:t>travel itinerary</a:t>
            </a:r>
            <a:r>
              <a:rPr lang="zh-CN" altLang="en-US" smtClean="0">
                <a:latin typeface="楷体_GB2312" pitchFamily="49" charset="-122"/>
                <a:ea typeface="楷体_GB2312" pitchFamily="49" charset="-122"/>
              </a:rPr>
              <a:t>）的函数中增加打印功能</a:t>
            </a:r>
          </a:p>
          <a:p>
            <a:pPr eaLnBrk="1" hangingPunct="1"/>
            <a:r>
              <a:rPr lang="zh-CN" altLang="en-US" smtClean="0">
                <a:ea typeface="楷体_GB2312" pitchFamily="49" charset="-122"/>
              </a:rPr>
              <a:t>一个已存在的基类</a:t>
            </a:r>
          </a:p>
          <a:p>
            <a:pPr lvl="1" eaLnBrk="1" hangingPunct="1"/>
            <a:r>
              <a:rPr lang="zh-CN" altLang="en-US" smtClean="0">
                <a:ea typeface="楷体_GB2312" pitchFamily="49" charset="-122"/>
              </a:rPr>
              <a:t>例如</a:t>
            </a:r>
            <a:r>
              <a:rPr lang="en-US" altLang="zh-CN" smtClean="0"/>
              <a:t>:</a:t>
            </a:r>
            <a:r>
              <a:rPr lang="en-US" altLang="zh-CN" smtClean="0">
                <a:latin typeface="楷体_GB2312" pitchFamily="49" charset="-122"/>
                <a:ea typeface="楷体_GB2312" pitchFamily="49" charset="-122"/>
              </a:rPr>
              <a:t> </a:t>
            </a:r>
            <a:r>
              <a:rPr lang="zh-CN" altLang="en-US" smtClean="0">
                <a:latin typeface="楷体_GB2312" pitchFamily="49" charset="-122"/>
                <a:ea typeface="楷体_GB2312" pitchFamily="49" charset="-122"/>
              </a:rPr>
              <a:t>在航空路线中增加</a:t>
            </a:r>
            <a:r>
              <a:rPr lang="zh-CN" altLang="en-US" smtClean="0">
                <a:ea typeface="楷体_GB2312" pitchFamily="49" charset="-122"/>
              </a:rPr>
              <a:t>“</a:t>
            </a:r>
            <a:r>
              <a:rPr lang="zh-CN" altLang="en-US" smtClean="0">
                <a:latin typeface="楷体_GB2312" pitchFamily="49" charset="-122"/>
                <a:ea typeface="楷体_GB2312" pitchFamily="49" charset="-122"/>
              </a:rPr>
              <a:t>打印公路和轮船</a:t>
            </a:r>
            <a:r>
              <a:rPr lang="zh-CN" altLang="en-US" smtClean="0">
                <a:ea typeface="楷体_GB2312" pitchFamily="49" charset="-122"/>
              </a:rPr>
              <a:t>”</a:t>
            </a:r>
            <a:r>
              <a:rPr lang="zh-CN" altLang="en-US" smtClean="0">
                <a:latin typeface="楷体_GB2312" pitchFamily="49" charset="-122"/>
                <a:ea typeface="楷体_GB2312" pitchFamily="49" charset="-122"/>
              </a:rPr>
              <a:t>的功能</a:t>
            </a:r>
          </a:p>
          <a:p>
            <a:pPr eaLnBrk="1" hangingPunct="1"/>
            <a:r>
              <a:rPr lang="zh-CN" altLang="en-US" smtClean="0">
                <a:latin typeface="楷体_GB2312" pitchFamily="49" charset="-122"/>
                <a:ea typeface="楷体_GB2312" pitchFamily="49" charset="-122"/>
              </a:rPr>
              <a:t>两者都不是</a:t>
            </a:r>
          </a:p>
          <a:p>
            <a:pPr lvl="1" eaLnBrk="1" hangingPunct="1"/>
            <a:r>
              <a:rPr lang="zh-CN" altLang="en-US" smtClean="0">
                <a:latin typeface="楷体_GB2312" pitchFamily="49" charset="-122"/>
                <a:ea typeface="楷体_GB2312" pitchFamily="49" charset="-122"/>
              </a:rPr>
              <a:t>例如</a:t>
            </a:r>
            <a:r>
              <a:rPr lang="en-US" altLang="zh-CN" smtClean="0">
                <a:latin typeface="楷体_GB2312" pitchFamily="49" charset="-122"/>
                <a:ea typeface="楷体_GB2312" pitchFamily="49" charset="-122"/>
              </a:rPr>
              <a:t>: </a:t>
            </a:r>
            <a:r>
              <a:rPr lang="zh-CN" altLang="en-US" smtClean="0">
                <a:latin typeface="楷体_GB2312" pitchFamily="49" charset="-122"/>
                <a:ea typeface="楷体_GB2312" pitchFamily="49" charset="-122"/>
              </a:rPr>
              <a:t>增加</a:t>
            </a:r>
            <a:r>
              <a:rPr lang="zh-CN" altLang="en-US" smtClean="0">
                <a:ea typeface="楷体_GB2312" pitchFamily="49" charset="-122"/>
              </a:rPr>
              <a:t>“</a:t>
            </a:r>
            <a:r>
              <a:rPr lang="zh-CN" altLang="en-US" smtClean="0">
                <a:latin typeface="楷体_GB2312" pitchFamily="49" charset="-122"/>
                <a:ea typeface="楷体_GB2312" pitchFamily="49" charset="-122"/>
              </a:rPr>
              <a:t>打印航空、公路、轮船混合路线</a:t>
            </a:r>
            <a:r>
              <a:rPr lang="zh-CN" altLang="en-US" smtClean="0">
                <a:ea typeface="楷体_GB2312" pitchFamily="49" charset="-122"/>
              </a:rPr>
              <a:t>”</a:t>
            </a:r>
            <a:r>
              <a:rPr lang="zh-CN" altLang="en-US" smtClean="0">
                <a:latin typeface="楷体_GB2312" pitchFamily="49" charset="-122"/>
                <a:ea typeface="楷体_GB2312" pitchFamily="49" charset="-122"/>
              </a:rPr>
              <a:t>的功能</a:t>
            </a:r>
            <a:endParaRPr lang="zh-CN" altLang="en-US" sz="3200" smtClean="0">
              <a:latin typeface="楷体_GB2312" pitchFamily="49" charset="-122"/>
              <a:ea typeface="楷体_GB2312" pitchFamily="49" charset="-122"/>
            </a:endParaRPr>
          </a:p>
        </p:txBody>
      </p:sp>
    </p:spTree>
    <p:extLst>
      <p:ext uri="{BB962C8B-B14F-4D97-AF65-F5344CB8AC3E}">
        <p14:creationId xmlns:p14="http://schemas.microsoft.com/office/powerpoint/2010/main" val="54975705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情况</a:t>
            </a:r>
            <a:r>
              <a:rPr lang="en-US" altLang="zh-CN" b="1" smtClean="0">
                <a:solidFill>
                  <a:schemeClr val="accent2"/>
                </a:solidFill>
                <a:ea typeface="楷体_GB2312" pitchFamily="49" charset="-122"/>
              </a:rPr>
              <a:t>2</a:t>
            </a:r>
            <a:r>
              <a:rPr lang="zh-CN" altLang="en-US" b="1" smtClean="0">
                <a:solidFill>
                  <a:schemeClr val="accent2"/>
                </a:solidFill>
                <a:ea typeface="楷体_GB2312" pitchFamily="49" charset="-122"/>
              </a:rPr>
              <a:t>：向一个基类中增加功能</a:t>
            </a:r>
          </a:p>
        </p:txBody>
      </p:sp>
      <p:sp>
        <p:nvSpPr>
          <p:cNvPr id="7171" name="Rectangle 6"/>
          <p:cNvSpPr>
            <a:spLocks noChangeArrowheads="1"/>
          </p:cNvSpPr>
          <p:nvPr/>
        </p:nvSpPr>
        <p:spPr bwMode="auto">
          <a:xfrm>
            <a:off x="5707063" y="1912938"/>
            <a:ext cx="1760537" cy="84137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i="1" u="sng">
                <a:latin typeface="Arial Narrow" pitchFamily="34" charset="0"/>
                <a:ea typeface="宋体" charset="-122"/>
              </a:rPr>
              <a:t>Trip</a:t>
            </a:r>
          </a:p>
          <a:p>
            <a:pPr eaLnBrk="0" hangingPunct="0">
              <a:spcBef>
                <a:spcPct val="0"/>
              </a:spcBef>
            </a:pPr>
            <a:r>
              <a:rPr kumimoji="0" lang="en-US" altLang="zh-CN" sz="2400" b="0" i="1">
                <a:latin typeface="Arial Narrow" pitchFamily="34" charset="0"/>
                <a:ea typeface="宋体" charset="-122"/>
              </a:rPr>
              <a:t>printItinerary()</a:t>
            </a:r>
            <a:endParaRPr kumimoji="0" lang="en-US" altLang="zh-CN" sz="2400" b="0" i="1" u="sng">
              <a:latin typeface="Arial Narrow" pitchFamily="34" charset="0"/>
              <a:ea typeface="宋体" charset="-122"/>
            </a:endParaRPr>
          </a:p>
        </p:txBody>
      </p:sp>
      <p:sp>
        <p:nvSpPr>
          <p:cNvPr id="7172" name="Rectangle 7"/>
          <p:cNvSpPr>
            <a:spLocks noChangeArrowheads="1"/>
          </p:cNvSpPr>
          <p:nvPr/>
        </p:nvSpPr>
        <p:spPr bwMode="auto">
          <a:xfrm>
            <a:off x="5707063" y="3817938"/>
            <a:ext cx="1760537" cy="84137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u="sng">
                <a:latin typeface="Arial Narrow" pitchFamily="34" charset="0"/>
                <a:ea typeface="宋体" charset="-122"/>
              </a:rPr>
              <a:t>StandardTrip</a:t>
            </a:r>
          </a:p>
          <a:p>
            <a:pPr eaLnBrk="0" hangingPunct="0">
              <a:spcBef>
                <a:spcPct val="0"/>
              </a:spcBef>
            </a:pPr>
            <a:r>
              <a:rPr kumimoji="0" lang="en-US" altLang="zh-CN" sz="2400" b="0">
                <a:latin typeface="Arial Narrow" pitchFamily="34" charset="0"/>
                <a:ea typeface="宋体" charset="-122"/>
              </a:rPr>
              <a:t>printItinerary()</a:t>
            </a:r>
            <a:endParaRPr kumimoji="0" lang="en-US" altLang="zh-CN" sz="2400" b="0" u="sng">
              <a:latin typeface="Arial Narrow" pitchFamily="34" charset="0"/>
              <a:ea typeface="宋体" charset="-122"/>
            </a:endParaRPr>
          </a:p>
        </p:txBody>
      </p:sp>
      <p:sp>
        <p:nvSpPr>
          <p:cNvPr id="7173" name="Rectangle 8"/>
          <p:cNvSpPr>
            <a:spLocks noChangeArrowheads="1"/>
          </p:cNvSpPr>
          <p:nvPr/>
        </p:nvSpPr>
        <p:spPr bwMode="auto">
          <a:xfrm>
            <a:off x="762000" y="2095500"/>
            <a:ext cx="2711450" cy="4762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a:latin typeface="Arial Narrow" pitchFamily="34" charset="0"/>
                <a:ea typeface="宋体" charset="-122"/>
              </a:rPr>
              <a:t>SomeApplicationClass</a:t>
            </a:r>
          </a:p>
        </p:txBody>
      </p:sp>
      <p:cxnSp>
        <p:nvCxnSpPr>
          <p:cNvPr id="7174" name="AutoShape 9"/>
          <p:cNvCxnSpPr>
            <a:cxnSpLocks noChangeShapeType="1"/>
            <a:stCxn id="7173" idx="3"/>
            <a:endCxn id="7171" idx="1"/>
          </p:cNvCxnSpPr>
          <p:nvPr/>
        </p:nvCxnSpPr>
        <p:spPr bwMode="auto">
          <a:xfrm>
            <a:off x="3482975" y="2333625"/>
            <a:ext cx="2214563" cy="0"/>
          </a:xfrm>
          <a:prstGeom prst="straightConnector1">
            <a:avLst/>
          </a:prstGeom>
          <a:noFill/>
          <a:ln w="19050">
            <a:solidFill>
              <a:schemeClr val="tx1"/>
            </a:solidFill>
            <a:prstDash val="lgDash"/>
            <a:round/>
            <a:headEnd/>
            <a:tailEnd type="arrow" w="med" len="med"/>
          </a:ln>
          <a:extLst>
            <a:ext uri="{909E8E84-426E-40DD-AFC4-6F175D3DCCD1}">
              <a14:hiddenFill xmlns:a14="http://schemas.microsoft.com/office/drawing/2010/main">
                <a:noFill/>
              </a14:hiddenFill>
            </a:ext>
          </a:extLst>
        </p:spPr>
      </p:cxnSp>
      <p:sp>
        <p:nvSpPr>
          <p:cNvPr id="7175" name="AutoShape 10"/>
          <p:cNvSpPr>
            <a:spLocks noChangeArrowheads="1"/>
          </p:cNvSpPr>
          <p:nvPr/>
        </p:nvSpPr>
        <p:spPr bwMode="auto">
          <a:xfrm>
            <a:off x="6434138" y="2751138"/>
            <a:ext cx="304800" cy="304800"/>
          </a:xfrm>
          <a:prstGeom prst="triangle">
            <a:avLst>
              <a:gd name="adj" fmla="val 50000"/>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cxnSp>
        <p:nvCxnSpPr>
          <p:cNvPr id="7176" name="AutoShape 11"/>
          <p:cNvCxnSpPr>
            <a:cxnSpLocks noChangeShapeType="1"/>
            <a:stCxn id="7175" idx="3"/>
            <a:endCxn id="7172" idx="0"/>
          </p:cNvCxnSpPr>
          <p:nvPr/>
        </p:nvCxnSpPr>
        <p:spPr bwMode="auto">
          <a:xfrm rot="16200000" flipH="1">
            <a:off x="6215857" y="3436144"/>
            <a:ext cx="742950" cy="1587"/>
          </a:xfrm>
          <a:prstGeom prst="bentConnector3">
            <a:avLst>
              <a:gd name="adj1" fmla="val 50000"/>
            </a:avLst>
          </a:prstGeom>
          <a:noFill/>
          <a:ln w="19050">
            <a:solidFill>
              <a:schemeClr val="tx1"/>
            </a:solidFill>
            <a:miter lim="800000"/>
            <a:headEnd/>
            <a:tailEnd/>
          </a:ln>
          <a:extLst>
            <a:ext uri="{909E8E84-426E-40DD-AFC4-6F175D3DCCD1}">
              <a14:hiddenFill xmlns:a14="http://schemas.microsoft.com/office/drawing/2010/main">
                <a:noFill/>
              </a14:hiddenFill>
            </a:ext>
          </a:extLst>
        </p:spPr>
      </p:cxnSp>
      <p:sp>
        <p:nvSpPr>
          <p:cNvPr id="7177" name="Freeform 12"/>
          <p:cNvSpPr>
            <a:spLocks/>
          </p:cNvSpPr>
          <p:nvPr/>
        </p:nvSpPr>
        <p:spPr bwMode="auto">
          <a:xfrm>
            <a:off x="1524000" y="2598738"/>
            <a:ext cx="762000" cy="1905000"/>
          </a:xfrm>
          <a:custGeom>
            <a:avLst/>
            <a:gdLst>
              <a:gd name="T0" fmla="*/ 0 w 480"/>
              <a:gd name="T1" fmla="*/ 2147483647 h 1200"/>
              <a:gd name="T2" fmla="*/ 483870000 w 480"/>
              <a:gd name="T3" fmla="*/ 1088707500 h 1200"/>
              <a:gd name="T4" fmla="*/ 1088707500 w 480"/>
              <a:gd name="T5" fmla="*/ 1693545000 h 1200"/>
              <a:gd name="T6" fmla="*/ 1209675000 w 480"/>
              <a:gd name="T7" fmla="*/ 0 h 1200"/>
              <a:gd name="T8" fmla="*/ 0 60000 65536"/>
              <a:gd name="T9" fmla="*/ 0 60000 65536"/>
              <a:gd name="T10" fmla="*/ 0 60000 65536"/>
              <a:gd name="T11" fmla="*/ 0 60000 65536"/>
              <a:gd name="T12" fmla="*/ 0 w 480"/>
              <a:gd name="T13" fmla="*/ 0 h 1200"/>
              <a:gd name="T14" fmla="*/ 480 w 480"/>
              <a:gd name="T15" fmla="*/ 1200 h 1200"/>
            </a:gdLst>
            <a:ahLst/>
            <a:cxnLst>
              <a:cxn ang="T8">
                <a:pos x="T0" y="T1"/>
              </a:cxn>
              <a:cxn ang="T9">
                <a:pos x="T2" y="T3"/>
              </a:cxn>
              <a:cxn ang="T10">
                <a:pos x="T4" y="T5"/>
              </a:cxn>
              <a:cxn ang="T11">
                <a:pos x="T6" y="T7"/>
              </a:cxn>
            </a:cxnLst>
            <a:rect l="T12" t="T13" r="T14" b="T15"/>
            <a:pathLst>
              <a:path w="480" h="1200">
                <a:moveTo>
                  <a:pt x="0" y="1200"/>
                </a:moveTo>
                <a:cubicBezTo>
                  <a:pt x="60" y="860"/>
                  <a:pt x="120" y="520"/>
                  <a:pt x="192" y="432"/>
                </a:cubicBezTo>
                <a:cubicBezTo>
                  <a:pt x="264" y="344"/>
                  <a:pt x="384" y="744"/>
                  <a:pt x="432" y="672"/>
                </a:cubicBezTo>
                <a:cubicBezTo>
                  <a:pt x="480" y="600"/>
                  <a:pt x="480" y="300"/>
                  <a:pt x="480" y="0"/>
                </a:cubicBezTo>
              </a:path>
            </a:pathLst>
          </a:custGeom>
          <a:noFill/>
          <a:ln w="19050">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78" name="AutoShape 13"/>
          <p:cNvSpPr>
            <a:spLocks noChangeArrowheads="1"/>
          </p:cNvSpPr>
          <p:nvPr/>
        </p:nvSpPr>
        <p:spPr bwMode="auto">
          <a:xfrm>
            <a:off x="762000" y="3817938"/>
            <a:ext cx="2062163" cy="906462"/>
          </a:xfrm>
          <a:prstGeom prst="foldedCorner">
            <a:avLst>
              <a:gd name="adj" fmla="val 12500"/>
            </a:avLst>
          </a:prstGeom>
          <a:solidFill>
            <a:srgbClr val="BBD2FF"/>
          </a:solidFill>
          <a:ln>
            <a:noFill/>
          </a:ln>
          <a:extLst>
            <a:ext uri="{91240B29-F687-4F45-9708-019B960494DF}">
              <a14:hiddenLine xmlns:a14="http://schemas.microsoft.com/office/drawing/2010/main" w="19050">
                <a:solidFill>
                  <a:srgbClr val="000000"/>
                </a:solidFill>
                <a:round/>
                <a:headEnd/>
                <a:tailEnd/>
              </a14:hiddenLine>
            </a:ext>
          </a:extLst>
        </p:spPr>
        <p:txBody>
          <a:bodyPr wrap="none" anchor="ctr">
            <a:spAutoFit/>
          </a:bodyPr>
          <a:lstStyle/>
          <a:p>
            <a:pPr algn="l" eaLnBrk="0" hangingPunct="0">
              <a:spcBef>
                <a:spcPct val="0"/>
              </a:spcBef>
            </a:pPr>
            <a:r>
              <a:rPr kumimoji="0" lang="en-US" altLang="zh-CN" sz="2400" b="0">
                <a:latin typeface="Times New Roman" pitchFamily="18" charset="0"/>
                <a:ea typeface="宋体" charset="-122"/>
              </a:rPr>
              <a:t>Method(s) call</a:t>
            </a:r>
          </a:p>
          <a:p>
            <a:pPr algn="l" eaLnBrk="0" hangingPunct="0">
              <a:spcBef>
                <a:spcPct val="0"/>
              </a:spcBef>
            </a:pPr>
            <a:r>
              <a:rPr kumimoji="0" lang="en-US" altLang="zh-CN" sz="2400" b="0" i="1">
                <a:latin typeface="Times New Roman" pitchFamily="18" charset="0"/>
                <a:ea typeface="宋体" charset="-122"/>
              </a:rPr>
              <a:t>printItinerary()</a:t>
            </a:r>
          </a:p>
        </p:txBody>
      </p:sp>
    </p:spTree>
    <p:extLst>
      <p:ext uri="{BB962C8B-B14F-4D97-AF65-F5344CB8AC3E}">
        <p14:creationId xmlns:p14="http://schemas.microsoft.com/office/powerpoint/2010/main" val="220523185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通过继承基类的方法来增加功能</a:t>
            </a:r>
          </a:p>
        </p:txBody>
      </p:sp>
      <p:sp>
        <p:nvSpPr>
          <p:cNvPr id="8195" name="Rectangle 11"/>
          <p:cNvSpPr>
            <a:spLocks noChangeArrowheads="1"/>
          </p:cNvSpPr>
          <p:nvPr/>
        </p:nvSpPr>
        <p:spPr bwMode="auto">
          <a:xfrm>
            <a:off x="6469063" y="2130425"/>
            <a:ext cx="1760537" cy="84137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i="1" u="sng">
                <a:latin typeface="Arial Narrow" pitchFamily="34" charset="0"/>
                <a:ea typeface="宋体" charset="-122"/>
              </a:rPr>
              <a:t>Trip</a:t>
            </a:r>
          </a:p>
          <a:p>
            <a:pPr eaLnBrk="0" hangingPunct="0">
              <a:spcBef>
                <a:spcPct val="0"/>
              </a:spcBef>
            </a:pPr>
            <a:r>
              <a:rPr kumimoji="0" lang="en-US" altLang="zh-CN" sz="2400" b="0" i="1">
                <a:latin typeface="Arial Narrow" pitchFamily="34" charset="0"/>
                <a:ea typeface="宋体" charset="-122"/>
              </a:rPr>
              <a:t>printItinerary()</a:t>
            </a:r>
            <a:endParaRPr kumimoji="0" lang="en-US" altLang="zh-CN" sz="2400" b="0" i="1" u="sng">
              <a:latin typeface="Arial Narrow" pitchFamily="34" charset="0"/>
              <a:ea typeface="宋体" charset="-122"/>
            </a:endParaRPr>
          </a:p>
        </p:txBody>
      </p:sp>
      <p:sp>
        <p:nvSpPr>
          <p:cNvPr id="8196" name="Rectangle 12"/>
          <p:cNvSpPr>
            <a:spLocks noChangeArrowheads="1"/>
          </p:cNvSpPr>
          <p:nvPr/>
        </p:nvSpPr>
        <p:spPr bwMode="auto">
          <a:xfrm>
            <a:off x="6469063" y="4111625"/>
            <a:ext cx="1760537" cy="84137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u="sng">
                <a:latin typeface="Arial Narrow" pitchFamily="34" charset="0"/>
                <a:ea typeface="宋体" charset="-122"/>
              </a:rPr>
              <a:t>SeaTrip</a:t>
            </a:r>
          </a:p>
          <a:p>
            <a:pPr eaLnBrk="0" hangingPunct="0">
              <a:spcBef>
                <a:spcPct val="0"/>
              </a:spcBef>
            </a:pPr>
            <a:r>
              <a:rPr kumimoji="0" lang="en-US" altLang="zh-CN" sz="2400" b="0">
                <a:latin typeface="Arial Narrow" pitchFamily="34" charset="0"/>
                <a:ea typeface="宋体" charset="-122"/>
              </a:rPr>
              <a:t>printItinerary()</a:t>
            </a:r>
            <a:endParaRPr kumimoji="0" lang="en-US" altLang="zh-CN" sz="2400" b="0" u="sng">
              <a:latin typeface="Arial Narrow" pitchFamily="34" charset="0"/>
              <a:ea typeface="宋体" charset="-122"/>
            </a:endParaRPr>
          </a:p>
        </p:txBody>
      </p:sp>
      <p:sp>
        <p:nvSpPr>
          <p:cNvPr id="8197" name="Rectangle 13"/>
          <p:cNvSpPr>
            <a:spLocks noChangeArrowheads="1"/>
          </p:cNvSpPr>
          <p:nvPr/>
        </p:nvSpPr>
        <p:spPr bwMode="auto">
          <a:xfrm>
            <a:off x="609600" y="2312988"/>
            <a:ext cx="2711450" cy="4762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a:latin typeface="Arial Narrow" pitchFamily="34" charset="0"/>
                <a:ea typeface="宋体" charset="-122"/>
              </a:rPr>
              <a:t>SomeApplicationClass</a:t>
            </a:r>
          </a:p>
        </p:txBody>
      </p:sp>
      <p:sp>
        <p:nvSpPr>
          <p:cNvPr id="8198" name="Rectangle 14"/>
          <p:cNvSpPr>
            <a:spLocks noChangeArrowheads="1"/>
          </p:cNvSpPr>
          <p:nvPr/>
        </p:nvSpPr>
        <p:spPr bwMode="auto">
          <a:xfrm>
            <a:off x="3573463" y="4111625"/>
            <a:ext cx="1760537" cy="84137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u="sng">
                <a:latin typeface="Arial Narrow" pitchFamily="34" charset="0"/>
                <a:ea typeface="宋体" charset="-122"/>
              </a:rPr>
              <a:t>LandTrip</a:t>
            </a:r>
          </a:p>
          <a:p>
            <a:pPr eaLnBrk="0" hangingPunct="0">
              <a:spcBef>
                <a:spcPct val="0"/>
              </a:spcBef>
            </a:pPr>
            <a:r>
              <a:rPr kumimoji="0" lang="en-US" altLang="zh-CN" sz="2400" b="0">
                <a:latin typeface="Arial Narrow" pitchFamily="34" charset="0"/>
                <a:ea typeface="宋体" charset="-122"/>
              </a:rPr>
              <a:t>printItinerary()</a:t>
            </a:r>
            <a:endParaRPr kumimoji="0" lang="en-US" altLang="zh-CN" sz="2400" b="0" u="sng">
              <a:latin typeface="Arial Narrow" pitchFamily="34" charset="0"/>
              <a:ea typeface="宋体" charset="-122"/>
            </a:endParaRPr>
          </a:p>
        </p:txBody>
      </p:sp>
      <p:sp>
        <p:nvSpPr>
          <p:cNvPr id="8199" name="Rectangle 15"/>
          <p:cNvSpPr>
            <a:spLocks noChangeArrowheads="1"/>
          </p:cNvSpPr>
          <p:nvPr/>
        </p:nvSpPr>
        <p:spPr bwMode="auto">
          <a:xfrm>
            <a:off x="609600" y="4111625"/>
            <a:ext cx="1760538" cy="84137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u="sng">
                <a:latin typeface="Arial Narrow" pitchFamily="34" charset="0"/>
                <a:ea typeface="宋体" charset="-122"/>
              </a:rPr>
              <a:t>StandardTrip</a:t>
            </a:r>
          </a:p>
          <a:p>
            <a:pPr eaLnBrk="0" hangingPunct="0">
              <a:spcBef>
                <a:spcPct val="0"/>
              </a:spcBef>
            </a:pPr>
            <a:r>
              <a:rPr kumimoji="0" lang="en-US" altLang="zh-CN" sz="2400" b="0">
                <a:latin typeface="Arial Narrow" pitchFamily="34" charset="0"/>
                <a:ea typeface="宋体" charset="-122"/>
              </a:rPr>
              <a:t>printItinerary()</a:t>
            </a:r>
            <a:endParaRPr kumimoji="0" lang="en-US" altLang="zh-CN" sz="2400" b="0" u="sng">
              <a:latin typeface="Arial Narrow" pitchFamily="34" charset="0"/>
              <a:ea typeface="宋体" charset="-122"/>
            </a:endParaRPr>
          </a:p>
        </p:txBody>
      </p:sp>
      <p:cxnSp>
        <p:nvCxnSpPr>
          <p:cNvPr id="8200" name="AutoShape 16"/>
          <p:cNvCxnSpPr>
            <a:cxnSpLocks noChangeShapeType="1"/>
            <a:stCxn id="8197" idx="3"/>
            <a:endCxn id="8195" idx="1"/>
          </p:cNvCxnSpPr>
          <p:nvPr/>
        </p:nvCxnSpPr>
        <p:spPr bwMode="auto">
          <a:xfrm>
            <a:off x="3330575" y="2551113"/>
            <a:ext cx="3128963" cy="0"/>
          </a:xfrm>
          <a:prstGeom prst="straightConnector1">
            <a:avLst/>
          </a:prstGeom>
          <a:noFill/>
          <a:ln w="19050">
            <a:solidFill>
              <a:schemeClr val="tx1"/>
            </a:solidFill>
            <a:prstDash val="lgDash"/>
            <a:round/>
            <a:headEnd/>
            <a:tailEnd type="arrow" w="med" len="med"/>
          </a:ln>
          <a:extLst>
            <a:ext uri="{909E8E84-426E-40DD-AFC4-6F175D3DCCD1}">
              <a14:hiddenFill xmlns:a14="http://schemas.microsoft.com/office/drawing/2010/main">
                <a:noFill/>
              </a14:hiddenFill>
            </a:ext>
          </a:extLst>
        </p:spPr>
      </p:cxnSp>
      <p:sp>
        <p:nvSpPr>
          <p:cNvPr id="8201" name="AutoShape 17"/>
          <p:cNvSpPr>
            <a:spLocks noChangeArrowheads="1"/>
          </p:cNvSpPr>
          <p:nvPr/>
        </p:nvSpPr>
        <p:spPr bwMode="auto">
          <a:xfrm>
            <a:off x="7196138" y="2968625"/>
            <a:ext cx="304800" cy="304800"/>
          </a:xfrm>
          <a:prstGeom prst="triangle">
            <a:avLst>
              <a:gd name="adj" fmla="val 50000"/>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cxnSp>
        <p:nvCxnSpPr>
          <p:cNvPr id="8202" name="AutoShape 18"/>
          <p:cNvCxnSpPr>
            <a:cxnSpLocks noChangeShapeType="1"/>
            <a:stCxn id="8201" idx="3"/>
            <a:endCxn id="8199" idx="0"/>
          </p:cNvCxnSpPr>
          <p:nvPr/>
        </p:nvCxnSpPr>
        <p:spPr bwMode="auto">
          <a:xfrm rot="5400000">
            <a:off x="4010026" y="763587"/>
            <a:ext cx="819150" cy="5857875"/>
          </a:xfrm>
          <a:prstGeom prst="bentConnector3">
            <a:avLst>
              <a:gd name="adj1" fmla="val 50000"/>
            </a:avLst>
          </a:prstGeom>
          <a:noFill/>
          <a:ln w="19050">
            <a:solidFill>
              <a:schemeClr val="tx1"/>
            </a:solidFill>
            <a:miter lim="800000"/>
            <a:headEnd/>
            <a:tailEnd/>
          </a:ln>
          <a:extLst>
            <a:ext uri="{909E8E84-426E-40DD-AFC4-6F175D3DCCD1}">
              <a14:hiddenFill xmlns:a14="http://schemas.microsoft.com/office/drawing/2010/main">
                <a:noFill/>
              </a14:hiddenFill>
            </a:ext>
          </a:extLst>
        </p:spPr>
      </p:cxnSp>
      <p:cxnSp>
        <p:nvCxnSpPr>
          <p:cNvPr id="8203" name="AutoShape 19"/>
          <p:cNvCxnSpPr>
            <a:cxnSpLocks noChangeShapeType="1"/>
            <a:stCxn id="8201" idx="3"/>
            <a:endCxn id="8198" idx="0"/>
          </p:cNvCxnSpPr>
          <p:nvPr/>
        </p:nvCxnSpPr>
        <p:spPr bwMode="auto">
          <a:xfrm rot="5400000">
            <a:off x="5491957" y="2245518"/>
            <a:ext cx="819150" cy="2894013"/>
          </a:xfrm>
          <a:prstGeom prst="bentConnector3">
            <a:avLst>
              <a:gd name="adj1" fmla="val 50000"/>
            </a:avLst>
          </a:prstGeom>
          <a:noFill/>
          <a:ln w="19050">
            <a:solidFill>
              <a:schemeClr val="tx1"/>
            </a:solidFill>
            <a:miter lim="800000"/>
            <a:headEnd/>
            <a:tailEnd/>
          </a:ln>
          <a:extLst>
            <a:ext uri="{909E8E84-426E-40DD-AFC4-6F175D3DCCD1}">
              <a14:hiddenFill xmlns:a14="http://schemas.microsoft.com/office/drawing/2010/main">
                <a:noFill/>
              </a14:hiddenFill>
            </a:ext>
          </a:extLst>
        </p:spPr>
      </p:cxnSp>
      <p:cxnSp>
        <p:nvCxnSpPr>
          <p:cNvPr id="8204" name="AutoShape 20"/>
          <p:cNvCxnSpPr>
            <a:cxnSpLocks noChangeShapeType="1"/>
            <a:stCxn id="8201" idx="3"/>
            <a:endCxn id="8196" idx="0"/>
          </p:cNvCxnSpPr>
          <p:nvPr/>
        </p:nvCxnSpPr>
        <p:spPr bwMode="auto">
          <a:xfrm rot="16200000" flipH="1">
            <a:off x="6939757" y="3691731"/>
            <a:ext cx="819150" cy="1587"/>
          </a:xfrm>
          <a:prstGeom prst="bentConnector3">
            <a:avLst>
              <a:gd name="adj1" fmla="val 50000"/>
            </a:avLst>
          </a:prstGeom>
          <a:noFill/>
          <a:ln w="19050">
            <a:solidFill>
              <a:schemeClr val="tx1"/>
            </a:solidFill>
            <a:miter lim="800000"/>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17666412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可重用性</a:t>
            </a:r>
          </a:p>
        </p:txBody>
      </p:sp>
      <p:sp>
        <p:nvSpPr>
          <p:cNvPr id="9219" name="Rectangle 4"/>
          <p:cNvSpPr>
            <a:spLocks noGrp="1" noChangeArrowheads="1"/>
          </p:cNvSpPr>
          <p:nvPr>
            <p:ph type="body" idx="1"/>
          </p:nvPr>
        </p:nvSpPr>
        <p:spPr>
          <a:xfrm>
            <a:off x="228600" y="1371600"/>
            <a:ext cx="8610600" cy="4648200"/>
          </a:xfrm>
          <a:noFill/>
        </p:spPr>
        <p:txBody>
          <a:bodyPr lIns="90488" tIns="44450" rIns="90488" bIns="44450"/>
          <a:lstStyle/>
          <a:p>
            <a:pPr eaLnBrk="1" hangingPunct="1">
              <a:buFontTx/>
              <a:buNone/>
            </a:pPr>
            <a:r>
              <a:rPr lang="en-US" altLang="zh-CN" smtClean="0">
                <a:latin typeface="楷体_GB2312" pitchFamily="49" charset="-122"/>
                <a:ea typeface="楷体_GB2312" pitchFamily="49" charset="-122"/>
              </a:rPr>
              <a:t>  </a:t>
            </a:r>
            <a:r>
              <a:rPr lang="zh-CN" altLang="en-US" b="1" smtClean="0">
                <a:latin typeface="楷体_GB2312" pitchFamily="49" charset="-122"/>
                <a:ea typeface="楷体_GB2312" pitchFamily="49" charset="-122"/>
              </a:rPr>
              <a:t>一个方法相对于上下文环境越独立，其可重用性就越高。</a:t>
            </a:r>
            <a:endParaRPr lang="zh-CN" altLang="en-US" sz="3600" b="1" smtClean="0">
              <a:latin typeface="楷体_GB2312" pitchFamily="49" charset="-122"/>
              <a:ea typeface="楷体_GB2312" pitchFamily="49" charset="-122"/>
            </a:endParaRPr>
          </a:p>
        </p:txBody>
      </p:sp>
    </p:spTree>
    <p:extLst>
      <p:ext uri="{BB962C8B-B14F-4D97-AF65-F5344CB8AC3E}">
        <p14:creationId xmlns:p14="http://schemas.microsoft.com/office/powerpoint/2010/main" val="28981624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可重用性</a:t>
            </a:r>
          </a:p>
        </p:txBody>
      </p:sp>
      <p:sp>
        <p:nvSpPr>
          <p:cNvPr id="10243" name="Rectangle 3"/>
          <p:cNvSpPr>
            <a:spLocks noGrp="1" noChangeArrowheads="1"/>
          </p:cNvSpPr>
          <p:nvPr>
            <p:ph type="body" idx="1"/>
          </p:nvPr>
        </p:nvSpPr>
        <p:spPr>
          <a:xfrm>
            <a:off x="533400" y="990600"/>
            <a:ext cx="8458200" cy="5638800"/>
          </a:xfrm>
          <a:noFill/>
        </p:spPr>
        <p:txBody>
          <a:bodyPr lIns="90488" tIns="44450" rIns="90488" bIns="44450"/>
          <a:lstStyle/>
          <a:p>
            <a:pPr eaLnBrk="1" hangingPunct="1">
              <a:lnSpc>
                <a:spcPct val="90000"/>
              </a:lnSpc>
            </a:pPr>
            <a:r>
              <a:rPr lang="zh-CN" altLang="en-US" b="1" smtClean="0">
                <a:ea typeface="楷体_GB2312" pitchFamily="49" charset="-122"/>
              </a:rPr>
              <a:t>完全指定</a:t>
            </a:r>
          </a:p>
          <a:p>
            <a:pPr lvl="1" eaLnBrk="1" hangingPunct="1">
              <a:lnSpc>
                <a:spcPct val="90000"/>
              </a:lnSpc>
            </a:pPr>
            <a:r>
              <a:rPr lang="zh-CN" altLang="en-US" smtClean="0">
                <a:ea typeface="楷体_GB2312" pitchFamily="49" charset="-122"/>
              </a:rPr>
              <a:t>详细说明前置条件、后置条件等</a:t>
            </a:r>
            <a:endParaRPr lang="zh-CN" altLang="en-US" smtClean="0"/>
          </a:p>
          <a:p>
            <a:pPr eaLnBrk="1" hangingPunct="1">
              <a:lnSpc>
                <a:spcPct val="90000"/>
              </a:lnSpc>
            </a:pPr>
            <a:r>
              <a:rPr lang="zh-CN" altLang="en-US" b="1" smtClean="0">
                <a:ea typeface="楷体_GB2312" pitchFamily="49" charset="-122"/>
              </a:rPr>
              <a:t>避免不必要的封装类耦合</a:t>
            </a:r>
          </a:p>
          <a:p>
            <a:pPr lvl="1" eaLnBrk="1" hangingPunct="1">
              <a:lnSpc>
                <a:spcPct val="90000"/>
              </a:lnSpc>
            </a:pPr>
            <a:r>
              <a:rPr lang="zh-CN" altLang="en-US" smtClean="0">
                <a:ea typeface="楷体_GB2312" pitchFamily="49" charset="-122"/>
              </a:rPr>
              <a:t>如果可行，让方法成为静态的</a:t>
            </a:r>
          </a:p>
          <a:p>
            <a:pPr lvl="1" eaLnBrk="1" hangingPunct="1">
              <a:lnSpc>
                <a:spcPct val="90000"/>
              </a:lnSpc>
            </a:pPr>
            <a:r>
              <a:rPr lang="zh-CN" altLang="en-US" smtClean="0">
                <a:ea typeface="楷体_GB2312" pitchFamily="49" charset="-122"/>
              </a:rPr>
              <a:t>参数化</a:t>
            </a:r>
          </a:p>
          <a:p>
            <a:pPr lvl="2" eaLnBrk="1" hangingPunct="1">
              <a:lnSpc>
                <a:spcPct val="90000"/>
              </a:lnSpc>
            </a:pPr>
            <a:r>
              <a:rPr lang="zh-CN" altLang="en-US" smtClean="0">
                <a:ea typeface="楷体_GB2312" pitchFamily="49" charset="-122"/>
              </a:rPr>
              <a:t>例如，让方法功能化</a:t>
            </a:r>
          </a:p>
          <a:p>
            <a:pPr lvl="2" eaLnBrk="1" hangingPunct="1">
              <a:lnSpc>
                <a:spcPct val="90000"/>
              </a:lnSpc>
            </a:pPr>
            <a:r>
              <a:rPr lang="zh-CN" altLang="en-US" smtClean="0">
                <a:ea typeface="楷体_GB2312" pitchFamily="49" charset="-122"/>
              </a:rPr>
              <a:t>但限制参数的个数</a:t>
            </a:r>
          </a:p>
          <a:p>
            <a:pPr eaLnBrk="1" hangingPunct="1">
              <a:lnSpc>
                <a:spcPct val="90000"/>
              </a:lnSpc>
            </a:pPr>
            <a:r>
              <a:rPr lang="zh-CN" altLang="en-US" b="1" smtClean="0">
                <a:ea typeface="楷体_GB2312" pitchFamily="49" charset="-122"/>
              </a:rPr>
              <a:t>让名字更具有表达性</a:t>
            </a:r>
          </a:p>
          <a:p>
            <a:pPr lvl="1" eaLnBrk="1" hangingPunct="1">
              <a:lnSpc>
                <a:spcPct val="90000"/>
              </a:lnSpc>
            </a:pPr>
            <a:r>
              <a:rPr lang="zh-CN" altLang="en-US" smtClean="0">
                <a:ea typeface="楷体_GB2312" pitchFamily="49" charset="-122"/>
              </a:rPr>
              <a:t>可理解性促进了可重用性</a:t>
            </a:r>
          </a:p>
          <a:p>
            <a:pPr eaLnBrk="1" hangingPunct="1">
              <a:lnSpc>
                <a:spcPct val="90000"/>
              </a:lnSpc>
            </a:pPr>
            <a:r>
              <a:rPr lang="zh-CN" altLang="en-US" b="1" smtClean="0">
                <a:ea typeface="楷体_GB2312" pitchFamily="49" charset="-122"/>
              </a:rPr>
              <a:t>解释算法</a:t>
            </a:r>
          </a:p>
          <a:p>
            <a:pPr lvl="1" eaLnBrk="1" hangingPunct="1">
              <a:lnSpc>
                <a:spcPct val="90000"/>
              </a:lnSpc>
            </a:pPr>
            <a:r>
              <a:rPr lang="zh-CN" altLang="en-US" smtClean="0">
                <a:ea typeface="楷体_GB2312" pitchFamily="49" charset="-122"/>
              </a:rPr>
              <a:t>重用者需要知道算法是如何工作的</a:t>
            </a:r>
          </a:p>
        </p:txBody>
      </p:sp>
    </p:spTree>
    <p:extLst>
      <p:ext uri="{BB962C8B-B14F-4D97-AF65-F5344CB8AC3E}">
        <p14:creationId xmlns:p14="http://schemas.microsoft.com/office/powerpoint/2010/main" val="161695566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基于重用的类选择</a:t>
            </a:r>
          </a:p>
        </p:txBody>
      </p:sp>
      <p:sp>
        <p:nvSpPr>
          <p:cNvPr id="11267" name="Rectangle 5"/>
          <p:cNvSpPr>
            <a:spLocks noGrp="1" noChangeArrowheads="1"/>
          </p:cNvSpPr>
          <p:nvPr>
            <p:ph type="body" idx="1"/>
          </p:nvPr>
        </p:nvSpPr>
        <p:spPr>
          <a:xfrm>
            <a:off x="2209800" y="1447800"/>
            <a:ext cx="6629400" cy="4572000"/>
          </a:xfrm>
          <a:noFill/>
        </p:spPr>
        <p:txBody>
          <a:bodyPr lIns="90488" tIns="44450" rIns="90488" bIns="44450"/>
          <a:lstStyle/>
          <a:p>
            <a:pPr eaLnBrk="1" hangingPunct="1">
              <a:lnSpc>
                <a:spcPct val="90000"/>
              </a:lnSpc>
              <a:spcBef>
                <a:spcPct val="50000"/>
              </a:spcBef>
            </a:pPr>
            <a:r>
              <a:rPr lang="zh-CN" altLang="en-US" sz="3600" b="1" smtClean="0">
                <a:ea typeface="楷体_GB2312" pitchFamily="49" charset="-122"/>
              </a:rPr>
              <a:t>完整地描述类</a:t>
            </a:r>
          </a:p>
          <a:p>
            <a:pPr eaLnBrk="1" hangingPunct="1">
              <a:lnSpc>
                <a:spcPct val="90000"/>
              </a:lnSpc>
              <a:spcBef>
                <a:spcPct val="50000"/>
              </a:spcBef>
            </a:pPr>
            <a:r>
              <a:rPr lang="zh-CN" altLang="en-US" sz="3600" b="1" smtClean="0">
                <a:ea typeface="楷体_GB2312" pitchFamily="49" charset="-122"/>
              </a:rPr>
              <a:t>使类名和功能与实际情况相符</a:t>
            </a:r>
          </a:p>
          <a:p>
            <a:pPr eaLnBrk="1" hangingPunct="1">
              <a:lnSpc>
                <a:spcPct val="90000"/>
              </a:lnSpc>
              <a:spcBef>
                <a:spcPct val="50000"/>
              </a:spcBef>
            </a:pPr>
            <a:r>
              <a:rPr lang="zh-CN" altLang="en-US" sz="3600" b="1" smtClean="0">
                <a:ea typeface="楷体_GB2312" pitchFamily="49" charset="-122"/>
              </a:rPr>
              <a:t>定义一个有用的抽象类</a:t>
            </a:r>
          </a:p>
          <a:p>
            <a:pPr lvl="1" eaLnBrk="1" hangingPunct="1">
              <a:lnSpc>
                <a:spcPct val="90000"/>
              </a:lnSpc>
              <a:spcBef>
                <a:spcPct val="50000"/>
              </a:spcBef>
            </a:pPr>
            <a:r>
              <a:rPr lang="zh-CN" altLang="en-US" sz="3200" b="1" smtClean="0">
                <a:ea typeface="楷体_GB2312" pitchFamily="49" charset="-122"/>
              </a:rPr>
              <a:t>以获得更广泛的适用性</a:t>
            </a:r>
          </a:p>
          <a:p>
            <a:pPr eaLnBrk="1" hangingPunct="1">
              <a:lnSpc>
                <a:spcPct val="90000"/>
              </a:lnSpc>
              <a:spcBef>
                <a:spcPct val="50000"/>
              </a:spcBef>
            </a:pPr>
            <a:r>
              <a:rPr lang="zh-CN" altLang="en-US" sz="3600" b="1" smtClean="0">
                <a:ea typeface="楷体_GB2312" pitchFamily="49" charset="-122"/>
              </a:rPr>
              <a:t>减少对其他类的依赖性</a:t>
            </a:r>
          </a:p>
          <a:p>
            <a:pPr lvl="1" eaLnBrk="1" hangingPunct="1">
              <a:lnSpc>
                <a:spcPct val="90000"/>
              </a:lnSpc>
              <a:spcBef>
                <a:spcPct val="50000"/>
              </a:spcBef>
            </a:pPr>
            <a:r>
              <a:rPr lang="zh-CN" altLang="en-US" sz="3200" b="1" smtClean="0">
                <a:ea typeface="楷体_GB2312" pitchFamily="49" charset="-122"/>
              </a:rPr>
              <a:t>通过继承获得</a:t>
            </a:r>
          </a:p>
          <a:p>
            <a:pPr eaLnBrk="1" hangingPunct="1">
              <a:lnSpc>
                <a:spcPct val="90000"/>
              </a:lnSpc>
            </a:pPr>
            <a:endParaRPr lang="en-US" altLang="zh-CN" sz="3600" b="1" smtClean="0">
              <a:ea typeface="楷体_GB2312" pitchFamily="49" charset="-122"/>
            </a:endParaRPr>
          </a:p>
        </p:txBody>
      </p:sp>
      <p:sp>
        <p:nvSpPr>
          <p:cNvPr id="11268" name="Rectangle 7"/>
          <p:cNvSpPr>
            <a:spLocks noChangeArrowheads="1"/>
          </p:cNvSpPr>
          <p:nvPr/>
        </p:nvSpPr>
        <p:spPr bwMode="auto">
          <a:xfrm>
            <a:off x="533400" y="2819400"/>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l" eaLnBrk="0" hangingPunct="0">
              <a:spcBef>
                <a:spcPct val="0"/>
              </a:spcBef>
            </a:pPr>
            <a:r>
              <a:rPr kumimoji="0" lang="zh-CN" altLang="en-US" sz="2400">
                <a:latin typeface="Arial Narrow" pitchFamily="34" charset="0"/>
              </a:rPr>
              <a:t>可选</a:t>
            </a:r>
          </a:p>
        </p:txBody>
      </p:sp>
      <p:sp>
        <p:nvSpPr>
          <p:cNvPr id="11269" name="Freeform 8"/>
          <p:cNvSpPr>
            <a:spLocks/>
          </p:cNvSpPr>
          <p:nvPr/>
        </p:nvSpPr>
        <p:spPr bwMode="auto">
          <a:xfrm>
            <a:off x="939800" y="2438400"/>
            <a:ext cx="812800" cy="381000"/>
          </a:xfrm>
          <a:custGeom>
            <a:avLst/>
            <a:gdLst>
              <a:gd name="T0" fmla="*/ 80645000 w 512"/>
              <a:gd name="T1" fmla="*/ 336020833 h 432"/>
              <a:gd name="T2" fmla="*/ 201612500 w 512"/>
              <a:gd name="T3" fmla="*/ 149342299 h 432"/>
              <a:gd name="T4" fmla="*/ 1290320000 w 512"/>
              <a:gd name="T5" fmla="*/ 0 h 432"/>
              <a:gd name="T6" fmla="*/ 0 60000 65536"/>
              <a:gd name="T7" fmla="*/ 0 60000 65536"/>
              <a:gd name="T8" fmla="*/ 0 60000 65536"/>
              <a:gd name="T9" fmla="*/ 0 w 512"/>
              <a:gd name="T10" fmla="*/ 0 h 432"/>
              <a:gd name="T11" fmla="*/ 512 w 512"/>
              <a:gd name="T12" fmla="*/ 432 h 432"/>
            </a:gdLst>
            <a:ahLst/>
            <a:cxnLst>
              <a:cxn ang="T6">
                <a:pos x="T0" y="T1"/>
              </a:cxn>
              <a:cxn ang="T7">
                <a:pos x="T2" y="T3"/>
              </a:cxn>
              <a:cxn ang="T8">
                <a:pos x="T4" y="T5"/>
              </a:cxn>
            </a:cxnLst>
            <a:rect l="T9" t="T10" r="T11" b="T12"/>
            <a:pathLst>
              <a:path w="512" h="432">
                <a:moveTo>
                  <a:pt x="32" y="432"/>
                </a:moveTo>
                <a:cubicBezTo>
                  <a:pt x="16" y="348"/>
                  <a:pt x="0" y="264"/>
                  <a:pt x="80" y="192"/>
                </a:cubicBezTo>
                <a:cubicBezTo>
                  <a:pt x="160" y="120"/>
                  <a:pt x="336" y="60"/>
                  <a:pt x="512" y="0"/>
                </a:cubicBezTo>
              </a:path>
            </a:pathLst>
          </a:custGeom>
          <a:noFill/>
          <a:ln w="19050">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70" name="Freeform 9"/>
          <p:cNvSpPr>
            <a:spLocks/>
          </p:cNvSpPr>
          <p:nvPr/>
        </p:nvSpPr>
        <p:spPr bwMode="auto">
          <a:xfrm flipV="1">
            <a:off x="990600" y="3352800"/>
            <a:ext cx="812800" cy="152400"/>
          </a:xfrm>
          <a:custGeom>
            <a:avLst/>
            <a:gdLst>
              <a:gd name="T0" fmla="*/ 80645000 w 512"/>
              <a:gd name="T1" fmla="*/ 53763333 h 432"/>
              <a:gd name="T2" fmla="*/ 201612500 w 512"/>
              <a:gd name="T3" fmla="*/ 23894697 h 432"/>
              <a:gd name="T4" fmla="*/ 1290320000 w 512"/>
              <a:gd name="T5" fmla="*/ 0 h 432"/>
              <a:gd name="T6" fmla="*/ 0 60000 65536"/>
              <a:gd name="T7" fmla="*/ 0 60000 65536"/>
              <a:gd name="T8" fmla="*/ 0 60000 65536"/>
              <a:gd name="T9" fmla="*/ 0 w 512"/>
              <a:gd name="T10" fmla="*/ 0 h 432"/>
              <a:gd name="T11" fmla="*/ 512 w 512"/>
              <a:gd name="T12" fmla="*/ 432 h 432"/>
            </a:gdLst>
            <a:ahLst/>
            <a:cxnLst>
              <a:cxn ang="T6">
                <a:pos x="T0" y="T1"/>
              </a:cxn>
              <a:cxn ang="T7">
                <a:pos x="T2" y="T3"/>
              </a:cxn>
              <a:cxn ang="T8">
                <a:pos x="T4" y="T5"/>
              </a:cxn>
            </a:cxnLst>
            <a:rect l="T9" t="T10" r="T11" b="T12"/>
            <a:pathLst>
              <a:path w="512" h="432">
                <a:moveTo>
                  <a:pt x="32" y="432"/>
                </a:moveTo>
                <a:cubicBezTo>
                  <a:pt x="16" y="348"/>
                  <a:pt x="0" y="264"/>
                  <a:pt x="80" y="192"/>
                </a:cubicBezTo>
                <a:cubicBezTo>
                  <a:pt x="160" y="120"/>
                  <a:pt x="336" y="60"/>
                  <a:pt x="512" y="0"/>
                </a:cubicBezTo>
              </a:path>
            </a:pathLst>
          </a:custGeom>
          <a:noFill/>
          <a:ln w="19050">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extLst>
      <p:ext uri="{BB962C8B-B14F-4D97-AF65-F5344CB8AC3E}">
        <p14:creationId xmlns:p14="http://schemas.microsoft.com/office/powerpoint/2010/main" val="41828302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高效性</a:t>
            </a:r>
          </a:p>
        </p:txBody>
      </p:sp>
      <p:sp>
        <p:nvSpPr>
          <p:cNvPr id="12291" name="Rectangle 3"/>
          <p:cNvSpPr>
            <a:spLocks noGrp="1" noChangeArrowheads="1"/>
          </p:cNvSpPr>
          <p:nvPr>
            <p:ph type="body" idx="1"/>
          </p:nvPr>
        </p:nvSpPr>
        <p:spPr>
          <a:xfrm>
            <a:off x="228600" y="1752600"/>
            <a:ext cx="8610600" cy="4648200"/>
          </a:xfrm>
          <a:noFill/>
        </p:spPr>
        <p:txBody>
          <a:bodyPr lIns="90488" tIns="44450" rIns="90488" bIns="44450"/>
          <a:lstStyle/>
          <a:p>
            <a:pPr eaLnBrk="1" hangingPunct="1">
              <a:buFontTx/>
              <a:buNone/>
            </a:pPr>
            <a:r>
              <a:rPr lang="en-US" altLang="zh-CN" smtClean="0">
                <a:latin typeface="楷体_GB2312" pitchFamily="49" charset="-122"/>
                <a:ea typeface="楷体_GB2312" pitchFamily="49" charset="-122"/>
              </a:rPr>
              <a:t>  </a:t>
            </a:r>
            <a:r>
              <a:rPr lang="zh-CN" altLang="en-US" b="1" smtClean="0">
                <a:latin typeface="楷体_GB2312" pitchFamily="49" charset="-122"/>
                <a:ea typeface="楷体_GB2312" pitchFamily="49" charset="-122"/>
              </a:rPr>
              <a:t>应用程序必须在指定的时间内完成特定的功能，同样，对内存容量也有一定的要求。</a:t>
            </a:r>
            <a:endParaRPr lang="zh-CN" altLang="en-US" sz="3600" b="1" smtClean="0">
              <a:latin typeface="楷体_GB2312" pitchFamily="49" charset="-122"/>
              <a:ea typeface="楷体_GB2312" pitchFamily="49" charset="-122"/>
            </a:endParaRPr>
          </a:p>
        </p:txBody>
      </p:sp>
    </p:spTree>
    <p:extLst>
      <p:ext uri="{BB962C8B-B14F-4D97-AF65-F5344CB8AC3E}">
        <p14:creationId xmlns:p14="http://schemas.microsoft.com/office/powerpoint/2010/main" val="151420739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高效性</a:t>
            </a:r>
          </a:p>
        </p:txBody>
      </p:sp>
      <p:sp>
        <p:nvSpPr>
          <p:cNvPr id="13315" name="Rectangle 3"/>
          <p:cNvSpPr>
            <a:spLocks noGrp="1" noChangeArrowheads="1"/>
          </p:cNvSpPr>
          <p:nvPr>
            <p:ph type="body" idx="1"/>
          </p:nvPr>
        </p:nvSpPr>
        <p:spPr>
          <a:xfrm>
            <a:off x="228600" y="1295400"/>
            <a:ext cx="8610600" cy="5410200"/>
          </a:xfrm>
          <a:noFill/>
        </p:spPr>
        <p:txBody>
          <a:bodyPr lIns="90488" tIns="44450" rIns="90488" bIns="44450"/>
          <a:lstStyle/>
          <a:p>
            <a:pPr eaLnBrk="1" hangingPunct="1"/>
            <a:r>
              <a:rPr lang="zh-CN" altLang="en-US" b="1" smtClean="0">
                <a:latin typeface="楷体_GB2312" pitchFamily="49" charset="-122"/>
                <a:ea typeface="楷体_GB2312" pitchFamily="49" charset="-122"/>
              </a:rPr>
              <a:t>先按其他原则设计，再考虑效率问题</a:t>
            </a:r>
          </a:p>
          <a:p>
            <a:pPr lvl="1" eaLnBrk="1" hangingPunct="1"/>
            <a:r>
              <a:rPr lang="zh-CN" altLang="en-US" b="1" smtClean="0">
                <a:latin typeface="楷体_GB2312" pitchFamily="49" charset="-122"/>
                <a:ea typeface="楷体_GB2312" pitchFamily="49" charset="-122"/>
              </a:rPr>
              <a:t>以灵活性、可重用性等原则进行设计</a:t>
            </a:r>
          </a:p>
          <a:p>
            <a:pPr lvl="1" eaLnBrk="1" hangingPunct="1"/>
            <a:r>
              <a:rPr lang="zh-CN" altLang="en-US" b="1" smtClean="0">
                <a:latin typeface="楷体_GB2312" pitchFamily="49" charset="-122"/>
                <a:ea typeface="楷体_GB2312" pitchFamily="49" charset="-122"/>
              </a:rPr>
              <a:t>找出效率低的部分</a:t>
            </a:r>
          </a:p>
          <a:p>
            <a:pPr lvl="1" eaLnBrk="1" hangingPunct="1"/>
            <a:r>
              <a:rPr lang="zh-CN" altLang="en-US" b="1" smtClean="0">
                <a:latin typeface="楷体_GB2312" pitchFamily="49" charset="-122"/>
                <a:ea typeface="楷体_GB2312" pitchFamily="49" charset="-122"/>
              </a:rPr>
              <a:t>有针对性地修改</a:t>
            </a:r>
          </a:p>
          <a:p>
            <a:pPr eaLnBrk="1" hangingPunct="1"/>
            <a:r>
              <a:rPr lang="zh-CN" altLang="en-US" b="1" smtClean="0">
                <a:latin typeface="楷体_GB2312" pitchFamily="49" charset="-122"/>
                <a:ea typeface="楷体_GB2312" pitchFamily="49" charset="-122"/>
              </a:rPr>
              <a:t>一开始就按效率原则进行设计</a:t>
            </a:r>
          </a:p>
          <a:p>
            <a:pPr lvl="1" eaLnBrk="1" hangingPunct="1"/>
            <a:r>
              <a:rPr lang="zh-CN" altLang="en-US" b="1" smtClean="0">
                <a:latin typeface="楷体_GB2312" pitchFamily="49" charset="-122"/>
                <a:ea typeface="楷体_GB2312" pitchFamily="49" charset="-122"/>
              </a:rPr>
              <a:t>确认当前关键的效率需求</a:t>
            </a:r>
          </a:p>
          <a:p>
            <a:pPr lvl="1" eaLnBrk="1" hangingPunct="1"/>
            <a:r>
              <a:rPr lang="zh-CN" altLang="en-US" b="1" smtClean="0">
                <a:latin typeface="楷体_GB2312" pitchFamily="49" charset="-122"/>
                <a:ea typeface="楷体_GB2312" pitchFamily="49" charset="-122"/>
              </a:rPr>
              <a:t>在整个阶段都按需求进行设计</a:t>
            </a:r>
          </a:p>
          <a:p>
            <a:pPr eaLnBrk="1" hangingPunct="1"/>
            <a:r>
              <a:rPr lang="zh-CN" altLang="en-US" b="1" smtClean="0">
                <a:latin typeface="楷体_GB2312" pitchFamily="49" charset="-122"/>
                <a:ea typeface="楷体_GB2312" pitchFamily="49" charset="-122"/>
              </a:rPr>
              <a:t>以上两种方法的结合</a:t>
            </a:r>
          </a:p>
          <a:p>
            <a:pPr lvl="1" eaLnBrk="1" hangingPunct="1"/>
            <a:r>
              <a:rPr lang="zh-CN" altLang="en-US" b="1" smtClean="0">
                <a:latin typeface="楷体_GB2312" pitchFamily="49" charset="-122"/>
                <a:ea typeface="楷体_GB2312" pitchFamily="49" charset="-122"/>
              </a:rPr>
              <a:t>在设计时为效率需求作出折中</a:t>
            </a:r>
          </a:p>
          <a:p>
            <a:pPr lvl="1" eaLnBrk="1" hangingPunct="1"/>
            <a:r>
              <a:rPr lang="zh-CN" altLang="en-US" b="1" smtClean="0">
                <a:latin typeface="楷体_GB2312" pitchFamily="49" charset="-122"/>
                <a:ea typeface="楷体_GB2312" pitchFamily="49" charset="-122"/>
              </a:rPr>
              <a:t>在初始设计后，也要继续考虑效率问题</a:t>
            </a:r>
          </a:p>
        </p:txBody>
      </p:sp>
    </p:spTree>
    <p:extLst>
      <p:ext uri="{BB962C8B-B14F-4D97-AF65-F5344CB8AC3E}">
        <p14:creationId xmlns:p14="http://schemas.microsoft.com/office/powerpoint/2010/main" val="256460901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执行效率</a:t>
            </a:r>
          </a:p>
        </p:txBody>
      </p:sp>
      <p:sp>
        <p:nvSpPr>
          <p:cNvPr id="14339" name="Rectangle 3"/>
          <p:cNvSpPr>
            <a:spLocks noGrp="1" noChangeArrowheads="1"/>
          </p:cNvSpPr>
          <p:nvPr>
            <p:ph type="body" idx="1"/>
          </p:nvPr>
        </p:nvSpPr>
        <p:spPr>
          <a:xfrm>
            <a:off x="228600" y="1295400"/>
            <a:ext cx="8610600" cy="5410200"/>
          </a:xfrm>
          <a:noFill/>
        </p:spPr>
        <p:txBody>
          <a:bodyPr lIns="90488" tIns="44450" rIns="90488" bIns="44450"/>
          <a:lstStyle/>
          <a:p>
            <a:pPr eaLnBrk="1" hangingPunct="1"/>
            <a:r>
              <a:rPr lang="zh-CN" altLang="en-US" b="1" smtClean="0">
                <a:latin typeface="楷体_GB2312" pitchFamily="49" charset="-122"/>
                <a:ea typeface="楷体_GB2312" pitchFamily="49" charset="-122"/>
              </a:rPr>
              <a:t>实时系统对执行速度要求很高，要求在固定的时间内完成所需的功能，通常以微秒级进行计算（衡量）。</a:t>
            </a:r>
          </a:p>
          <a:p>
            <a:pPr eaLnBrk="1" hangingPunct="1"/>
            <a:r>
              <a:rPr lang="zh-CN" altLang="en-US" b="1" smtClean="0">
                <a:latin typeface="楷体_GB2312" pitchFamily="49" charset="-122"/>
                <a:ea typeface="楷体_GB2312" pitchFamily="49" charset="-122"/>
              </a:rPr>
              <a:t>即使是非实时系统，执行速度也很重要</a:t>
            </a:r>
          </a:p>
        </p:txBody>
      </p:sp>
    </p:spTree>
    <p:extLst>
      <p:ext uri="{BB962C8B-B14F-4D97-AF65-F5344CB8AC3E}">
        <p14:creationId xmlns:p14="http://schemas.microsoft.com/office/powerpoint/2010/main" val="77822115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执行效率</a:t>
            </a:r>
          </a:p>
        </p:txBody>
      </p:sp>
      <p:sp>
        <p:nvSpPr>
          <p:cNvPr id="15363" name="Rectangle 3"/>
          <p:cNvSpPr>
            <a:spLocks noGrp="1" noChangeArrowheads="1"/>
          </p:cNvSpPr>
          <p:nvPr>
            <p:ph type="body" idx="1"/>
          </p:nvPr>
        </p:nvSpPr>
        <p:spPr>
          <a:xfrm>
            <a:off x="228600" y="1752600"/>
            <a:ext cx="8610600" cy="3733800"/>
          </a:xfrm>
          <a:noFill/>
        </p:spPr>
        <p:txBody>
          <a:bodyPr lIns="90488" tIns="44450" rIns="90488" bIns="44450"/>
          <a:lstStyle/>
          <a:p>
            <a:pPr eaLnBrk="1" hangingPunct="1"/>
            <a:r>
              <a:rPr lang="zh-CN" altLang="en-US" b="1" smtClean="0">
                <a:latin typeface="楷体_GB2312" pitchFamily="49" charset="-122"/>
                <a:ea typeface="楷体_GB2312" pitchFamily="49" charset="-122"/>
              </a:rPr>
              <a:t>实时系统对执行速度要求很高，要求在固定的时间内完成所需的功能，通常以微秒级进行计算（衡量）。</a:t>
            </a:r>
          </a:p>
          <a:p>
            <a:pPr eaLnBrk="1" hangingPunct="1"/>
            <a:r>
              <a:rPr lang="zh-CN" altLang="en-US" b="1" smtClean="0">
                <a:latin typeface="楷体_GB2312" pitchFamily="49" charset="-122"/>
                <a:ea typeface="楷体_GB2312" pitchFamily="49" charset="-122"/>
              </a:rPr>
              <a:t>即使是非实时系统，执行速度也很重要</a:t>
            </a:r>
          </a:p>
        </p:txBody>
      </p:sp>
    </p:spTree>
    <p:extLst>
      <p:ext uri="{BB962C8B-B14F-4D97-AF65-F5344CB8AC3E}">
        <p14:creationId xmlns:p14="http://schemas.microsoft.com/office/powerpoint/2010/main" val="192647637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引起执行效率问题的一些因素</a:t>
            </a:r>
          </a:p>
        </p:txBody>
      </p:sp>
      <p:sp>
        <p:nvSpPr>
          <p:cNvPr id="16387" name="Rectangle 3"/>
          <p:cNvSpPr>
            <a:spLocks noGrp="1" noChangeArrowheads="1"/>
          </p:cNvSpPr>
          <p:nvPr>
            <p:ph type="body" idx="1"/>
          </p:nvPr>
        </p:nvSpPr>
        <p:spPr>
          <a:xfrm>
            <a:off x="228600" y="1447800"/>
            <a:ext cx="8610600" cy="4953000"/>
          </a:xfrm>
          <a:noFill/>
        </p:spPr>
        <p:txBody>
          <a:bodyPr lIns="90488" tIns="44450" rIns="90488" bIns="44450"/>
          <a:lstStyle/>
          <a:p>
            <a:pPr eaLnBrk="1" hangingPunct="1"/>
            <a:r>
              <a:rPr lang="zh-CN" altLang="en-US" b="1" smtClean="0">
                <a:latin typeface="楷体_GB2312" pitchFamily="49" charset="-122"/>
                <a:ea typeface="楷体_GB2312" pitchFamily="49" charset="-122"/>
              </a:rPr>
              <a:t>循环</a:t>
            </a:r>
          </a:p>
          <a:p>
            <a:pPr lvl="1" eaLnBrk="1" hangingPunct="1"/>
            <a:r>
              <a:rPr lang="en-US" altLang="zh-CN" b="1" smtClean="0">
                <a:latin typeface="楷体_GB2312" pitchFamily="49" charset="-122"/>
                <a:ea typeface="楷体_GB2312" pitchFamily="49" charset="-122"/>
              </a:rPr>
              <a:t>While</a:t>
            </a:r>
            <a:r>
              <a:rPr lang="zh-CN" altLang="en-US" b="1" smtClean="0">
                <a:latin typeface="楷体_GB2312" pitchFamily="49" charset="-122"/>
                <a:ea typeface="楷体_GB2312" pitchFamily="49" charset="-122"/>
              </a:rPr>
              <a:t>、</a:t>
            </a:r>
            <a:r>
              <a:rPr lang="en-US" altLang="zh-CN" b="1" smtClean="0">
                <a:latin typeface="楷体_GB2312" pitchFamily="49" charset="-122"/>
                <a:ea typeface="楷体_GB2312" pitchFamily="49" charset="-122"/>
              </a:rPr>
              <a:t>for</a:t>
            </a:r>
            <a:r>
              <a:rPr lang="zh-CN" altLang="en-US" b="1" smtClean="0">
                <a:latin typeface="楷体_GB2312" pitchFamily="49" charset="-122"/>
                <a:ea typeface="楷体_GB2312" pitchFamily="49" charset="-122"/>
              </a:rPr>
              <a:t>、</a:t>
            </a:r>
            <a:r>
              <a:rPr lang="en-US" altLang="zh-CN" b="1" smtClean="0">
                <a:latin typeface="楷体_GB2312" pitchFamily="49" charset="-122"/>
                <a:ea typeface="楷体_GB2312" pitchFamily="49" charset="-122"/>
              </a:rPr>
              <a:t>do</a:t>
            </a:r>
          </a:p>
          <a:p>
            <a:pPr eaLnBrk="1" hangingPunct="1"/>
            <a:r>
              <a:rPr lang="zh-CN" altLang="en-US" b="1" smtClean="0">
                <a:latin typeface="楷体_GB2312" pitchFamily="49" charset="-122"/>
                <a:ea typeface="楷体_GB2312" pitchFamily="49" charset="-122"/>
              </a:rPr>
              <a:t>远程调用</a:t>
            </a:r>
          </a:p>
          <a:p>
            <a:pPr lvl="1" eaLnBrk="1" hangingPunct="1"/>
            <a:r>
              <a:rPr lang="zh-CN" altLang="en-US" b="1" smtClean="0">
                <a:latin typeface="楷体_GB2312" pitchFamily="49" charset="-122"/>
                <a:ea typeface="楷体_GB2312" pitchFamily="49" charset="-122"/>
              </a:rPr>
              <a:t>需要网络</a:t>
            </a:r>
          </a:p>
          <a:p>
            <a:pPr lvl="2" eaLnBrk="1" hangingPunct="1"/>
            <a:r>
              <a:rPr lang="en-US" altLang="zh-CN" b="1" smtClean="0">
                <a:latin typeface="楷体_GB2312" pitchFamily="49" charset="-122"/>
                <a:ea typeface="楷体_GB2312" pitchFamily="49" charset="-122"/>
              </a:rPr>
              <a:t>LAN</a:t>
            </a:r>
          </a:p>
          <a:p>
            <a:pPr lvl="2" eaLnBrk="1" hangingPunct="1"/>
            <a:r>
              <a:rPr lang="en-US" altLang="zh-CN" b="1" smtClean="0">
                <a:latin typeface="楷体_GB2312" pitchFamily="49" charset="-122"/>
                <a:ea typeface="楷体_GB2312" pitchFamily="49" charset="-122"/>
              </a:rPr>
              <a:t>Internet</a:t>
            </a:r>
          </a:p>
          <a:p>
            <a:pPr eaLnBrk="1" hangingPunct="1"/>
            <a:r>
              <a:rPr lang="zh-CN" altLang="en-US" b="1" smtClean="0">
                <a:latin typeface="楷体_GB2312" pitchFamily="49" charset="-122"/>
                <a:ea typeface="楷体_GB2312" pitchFamily="49" charset="-122"/>
              </a:rPr>
              <a:t>函数调用</a:t>
            </a:r>
          </a:p>
          <a:p>
            <a:pPr lvl="1" eaLnBrk="1" hangingPunct="1"/>
            <a:r>
              <a:rPr lang="zh-CN" altLang="en-US" b="1" smtClean="0">
                <a:latin typeface="楷体_GB2312" pitchFamily="49" charset="-122"/>
                <a:ea typeface="楷体_GB2312" pitchFamily="49" charset="-122"/>
              </a:rPr>
              <a:t>如果函数调用导致以上情况发生</a:t>
            </a:r>
          </a:p>
          <a:p>
            <a:pPr eaLnBrk="1" hangingPunct="1"/>
            <a:r>
              <a:rPr lang="zh-CN" altLang="en-US" b="1" smtClean="0">
                <a:latin typeface="楷体_GB2312" pitchFamily="49" charset="-122"/>
                <a:ea typeface="楷体_GB2312" pitchFamily="49" charset="-122"/>
              </a:rPr>
              <a:t>对象创建</a:t>
            </a:r>
          </a:p>
        </p:txBody>
      </p:sp>
    </p:spTree>
    <p:extLst>
      <p:ext uri="{BB962C8B-B14F-4D97-AF65-F5344CB8AC3E}">
        <p14:creationId xmlns:p14="http://schemas.microsoft.com/office/powerpoint/2010/main" val="289162748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存储效率</a:t>
            </a:r>
          </a:p>
        </p:txBody>
      </p:sp>
      <p:sp>
        <p:nvSpPr>
          <p:cNvPr id="17411" name="Rectangle 3"/>
          <p:cNvSpPr>
            <a:spLocks noGrp="1" noChangeArrowheads="1"/>
          </p:cNvSpPr>
          <p:nvPr>
            <p:ph type="body" idx="1"/>
          </p:nvPr>
        </p:nvSpPr>
        <p:spPr>
          <a:xfrm>
            <a:off x="228600" y="1447800"/>
            <a:ext cx="8610600" cy="4953000"/>
          </a:xfrm>
          <a:noFill/>
        </p:spPr>
        <p:txBody>
          <a:bodyPr lIns="90488" tIns="44450" rIns="90488" bIns="44450"/>
          <a:lstStyle/>
          <a:p>
            <a:pPr eaLnBrk="1" hangingPunct="1"/>
            <a:r>
              <a:rPr lang="zh-CN" altLang="en-US" b="1" smtClean="0">
                <a:latin typeface="楷体_GB2312" pitchFamily="49" charset="-122"/>
                <a:ea typeface="楷体_GB2312" pitchFamily="49" charset="-122"/>
              </a:rPr>
              <a:t>只存储需要的数据</a:t>
            </a:r>
          </a:p>
          <a:p>
            <a:pPr lvl="1" eaLnBrk="1" hangingPunct="1"/>
            <a:r>
              <a:rPr lang="zh-CN" altLang="en-US" b="1" smtClean="0">
                <a:latin typeface="楷体_GB2312" pitchFamily="49" charset="-122"/>
                <a:ea typeface="楷体_GB2312" pitchFamily="49" charset="-122"/>
              </a:rPr>
              <a:t>在存储效率与数据提取及重整时间之间获得折中</a:t>
            </a:r>
          </a:p>
          <a:p>
            <a:pPr eaLnBrk="1" hangingPunct="1"/>
            <a:r>
              <a:rPr lang="zh-CN" altLang="en-US" b="1" smtClean="0">
                <a:latin typeface="楷体_GB2312" pitchFamily="49" charset="-122"/>
                <a:ea typeface="楷体_GB2312" pitchFamily="49" charset="-122"/>
              </a:rPr>
              <a:t>压缩数据</a:t>
            </a:r>
          </a:p>
          <a:p>
            <a:pPr lvl="1" eaLnBrk="1" hangingPunct="1"/>
            <a:r>
              <a:rPr lang="zh-CN" altLang="en-US" b="1" smtClean="0">
                <a:latin typeface="楷体_GB2312" pitchFamily="49" charset="-122"/>
                <a:ea typeface="楷体_GB2312" pitchFamily="49" charset="-122"/>
              </a:rPr>
              <a:t>在存储效率与数据压缩及解压缩时间之间获得折中</a:t>
            </a:r>
          </a:p>
          <a:p>
            <a:pPr eaLnBrk="1" hangingPunct="1"/>
            <a:r>
              <a:rPr lang="zh-CN" altLang="en-US" b="1" smtClean="0">
                <a:latin typeface="楷体_GB2312" pitchFamily="49" charset="-122"/>
                <a:ea typeface="楷体_GB2312" pitchFamily="49" charset="-122"/>
              </a:rPr>
              <a:t>按相关访问频率存储数据</a:t>
            </a:r>
          </a:p>
          <a:p>
            <a:pPr lvl="1" eaLnBrk="1" hangingPunct="1"/>
            <a:r>
              <a:rPr lang="zh-CN" altLang="en-US" b="1" smtClean="0">
                <a:latin typeface="楷体_GB2312" pitchFamily="49" charset="-122"/>
                <a:ea typeface="楷体_GB2312" pitchFamily="49" charset="-122"/>
              </a:rPr>
              <a:t>在存储效率与决定存储位置的时间之间获得折中</a:t>
            </a:r>
          </a:p>
        </p:txBody>
      </p:sp>
    </p:spTree>
    <p:extLst>
      <p:ext uri="{BB962C8B-B14F-4D97-AF65-F5344CB8AC3E}">
        <p14:creationId xmlns:p14="http://schemas.microsoft.com/office/powerpoint/2010/main" val="384265974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fontScale="90000"/>
          </a:bodyPr>
          <a:lstStyle/>
          <a:p>
            <a:pPr eaLnBrk="1" hangingPunct="1"/>
            <a:r>
              <a:rPr lang="zh-CN" altLang="en-US" sz="4000" b="1" smtClean="0">
                <a:solidFill>
                  <a:schemeClr val="accent2"/>
                </a:solidFill>
                <a:ea typeface="楷体_GB2312" pitchFamily="49" charset="-122"/>
              </a:rPr>
              <a:t>健壮性、灵活性、可重用性与高效性之间的折中</a:t>
            </a:r>
          </a:p>
        </p:txBody>
      </p:sp>
      <p:sp>
        <p:nvSpPr>
          <p:cNvPr id="18435" name="Rectangle 3"/>
          <p:cNvSpPr>
            <a:spLocks noGrp="1" noChangeArrowheads="1"/>
          </p:cNvSpPr>
          <p:nvPr>
            <p:ph type="body" idx="1"/>
          </p:nvPr>
        </p:nvSpPr>
        <p:spPr>
          <a:xfrm>
            <a:off x="228600" y="1447800"/>
            <a:ext cx="8610600" cy="4953000"/>
          </a:xfrm>
          <a:noFill/>
        </p:spPr>
        <p:txBody>
          <a:bodyPr lIns="90488" tIns="44450" rIns="90488" bIns="44450"/>
          <a:lstStyle/>
          <a:p>
            <a:pPr eaLnBrk="1" hangingPunct="1"/>
            <a:r>
              <a:rPr lang="zh-CN" altLang="en-US" b="1" smtClean="0">
                <a:latin typeface="楷体_GB2312" pitchFamily="49" charset="-122"/>
                <a:ea typeface="楷体_GB2312" pitchFamily="49" charset="-122"/>
              </a:rPr>
              <a:t>极限编程法</a:t>
            </a:r>
          </a:p>
          <a:p>
            <a:pPr lvl="1" eaLnBrk="1" hangingPunct="1"/>
            <a:r>
              <a:rPr lang="zh-CN" altLang="en-US" b="1" smtClean="0">
                <a:latin typeface="楷体_GB2312" pitchFamily="49" charset="-122"/>
                <a:ea typeface="楷体_GB2312" pitchFamily="49" charset="-122"/>
              </a:rPr>
              <a:t>或完全为效率而设计</a:t>
            </a:r>
          </a:p>
          <a:p>
            <a:pPr eaLnBrk="1" hangingPunct="1"/>
            <a:r>
              <a:rPr lang="zh-CN" altLang="en-US" b="1" smtClean="0">
                <a:latin typeface="楷体_GB2312" pitchFamily="49" charset="-122"/>
                <a:ea typeface="楷体_GB2312" pitchFamily="49" charset="-122"/>
              </a:rPr>
              <a:t>灵活性驱动法</a:t>
            </a:r>
          </a:p>
          <a:p>
            <a:pPr lvl="1" eaLnBrk="1" hangingPunct="1"/>
            <a:r>
              <a:rPr lang="zh-CN" altLang="en-US" b="1" smtClean="0">
                <a:latin typeface="楷体_GB2312" pitchFamily="49" charset="-122"/>
                <a:ea typeface="楷体_GB2312" pitchFamily="49" charset="-122"/>
              </a:rPr>
              <a:t>着眼于将来的需求 附带考虑可重用性</a:t>
            </a:r>
          </a:p>
          <a:p>
            <a:pPr eaLnBrk="1" hangingPunct="1"/>
            <a:r>
              <a:rPr lang="zh-CN" altLang="en-US" b="1" smtClean="0">
                <a:latin typeface="楷体_GB2312" pitchFamily="49" charset="-122"/>
                <a:ea typeface="楷体_GB2312" pitchFamily="49" charset="-122"/>
              </a:rPr>
              <a:t>确保健壮性</a:t>
            </a:r>
          </a:p>
          <a:p>
            <a:pPr eaLnBrk="1" hangingPunct="1"/>
            <a:r>
              <a:rPr lang="zh-CN" altLang="en-US" b="1" smtClean="0">
                <a:latin typeface="楷体_GB2312" pitchFamily="49" charset="-122"/>
                <a:ea typeface="楷体_GB2312" pitchFamily="49" charset="-122"/>
              </a:rPr>
              <a:t>提供足够高的效率</a:t>
            </a:r>
          </a:p>
          <a:p>
            <a:pPr lvl="1" eaLnBrk="1" hangingPunct="1"/>
            <a:r>
              <a:rPr lang="zh-CN" altLang="en-US" b="1" smtClean="0">
                <a:latin typeface="楷体_GB2312" pitchFamily="49" charset="-122"/>
                <a:ea typeface="楷体_GB2312" pitchFamily="49" charset="-122"/>
              </a:rPr>
              <a:t>如果为了获得在效率方面的需求，那么会在可重用性方面作出折中</a:t>
            </a:r>
          </a:p>
        </p:txBody>
      </p:sp>
    </p:spTree>
    <p:extLst>
      <p:ext uri="{BB962C8B-B14F-4D97-AF65-F5344CB8AC3E}">
        <p14:creationId xmlns:p14="http://schemas.microsoft.com/office/powerpoint/2010/main" val="263182606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title"/>
          </p:nvPr>
        </p:nvSpPr>
        <p:spPr>
          <a:xfrm>
            <a:off x="254000" y="63500"/>
            <a:ext cx="8334375" cy="698500"/>
          </a:xfrm>
          <a:noFill/>
        </p:spPr>
        <p:txBody>
          <a:bodyPr wrap="none" lIns="90488" tIns="44450" rIns="90488" bIns="44450" anchor="b">
            <a:spAutoFit/>
          </a:bodyPr>
          <a:lstStyle/>
          <a:p>
            <a:pPr eaLnBrk="1" hangingPunct="1"/>
            <a:r>
              <a:rPr lang="zh-CN" altLang="en-US" sz="4000" b="1" smtClean="0">
                <a:solidFill>
                  <a:schemeClr val="accent2"/>
                </a:solidFill>
                <a:ea typeface="楷体_GB2312" pitchFamily="49" charset="-122"/>
              </a:rPr>
              <a:t>一个更灵活的计算器应用程序的设计</a:t>
            </a:r>
          </a:p>
        </p:txBody>
      </p:sp>
      <p:sp>
        <p:nvSpPr>
          <p:cNvPr id="20483" name="Rectangle 8"/>
          <p:cNvSpPr>
            <a:spLocks noChangeArrowheads="1"/>
          </p:cNvSpPr>
          <p:nvPr/>
        </p:nvSpPr>
        <p:spPr bwMode="auto">
          <a:xfrm>
            <a:off x="304800" y="2803525"/>
            <a:ext cx="3041217" cy="304698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u="sng" dirty="0" err="1">
                <a:latin typeface="Arial Narrow" pitchFamily="34" charset="0"/>
                <a:ea typeface="宋体" charset="-122"/>
              </a:rPr>
              <a:t>CommandLineCalculator</a:t>
            </a:r>
            <a:r>
              <a:rPr kumimoji="0" lang="en-US" altLang="zh-CN" sz="2400" b="0" u="sng" dirty="0">
                <a:latin typeface="Arial Narrow" pitchFamily="34" charset="0"/>
                <a:ea typeface="宋体" charset="-122"/>
              </a:rPr>
              <a:t> </a:t>
            </a:r>
          </a:p>
          <a:p>
            <a:pPr eaLnBrk="0" hangingPunct="0">
              <a:spcBef>
                <a:spcPct val="0"/>
              </a:spcBef>
            </a:pPr>
            <a:r>
              <a:rPr kumimoji="0" lang="en-US" altLang="zh-CN" sz="2400" b="0" dirty="0">
                <a:latin typeface="Arial Narrow" pitchFamily="34" charset="0"/>
                <a:ea typeface="宋体" charset="-122"/>
              </a:rPr>
              <a:t>main()</a:t>
            </a:r>
          </a:p>
          <a:p>
            <a:pPr eaLnBrk="0" hangingPunct="0">
              <a:spcBef>
                <a:spcPct val="0"/>
              </a:spcBef>
            </a:pPr>
            <a:r>
              <a:rPr kumimoji="0" lang="en-US" altLang="zh-CN" sz="2400" b="0" dirty="0" err="1">
                <a:latin typeface="Arial Narrow" pitchFamily="34" charset="0"/>
                <a:ea typeface="宋体" charset="-122"/>
              </a:rPr>
              <a:t>executeAdditions</a:t>
            </a:r>
            <a:r>
              <a:rPr kumimoji="0" lang="en-US" altLang="zh-CN" sz="2400" b="0" dirty="0" smtClean="0">
                <a:latin typeface="Arial Narrow" pitchFamily="34" charset="0"/>
                <a:ea typeface="宋体" charset="-122"/>
              </a:rPr>
              <a:t>()</a:t>
            </a:r>
          </a:p>
          <a:p>
            <a:pPr eaLnBrk="0" hangingPunct="0">
              <a:spcBef>
                <a:spcPct val="0"/>
              </a:spcBef>
            </a:pPr>
            <a:r>
              <a:rPr lang="en-US" altLang="zh-CN" sz="2400" dirty="0" err="1" smtClean="0">
                <a:latin typeface="Arial Narrow" pitchFamily="34" charset="0"/>
                <a:ea typeface="宋体" charset="-122"/>
              </a:rPr>
              <a:t>executeMultiply</a:t>
            </a:r>
            <a:r>
              <a:rPr lang="en-US" altLang="zh-CN" sz="2400" dirty="0" smtClean="0">
                <a:latin typeface="Arial Narrow" pitchFamily="34" charset="0"/>
                <a:ea typeface="宋体" charset="-122"/>
              </a:rPr>
              <a:t>()</a:t>
            </a:r>
            <a:endParaRPr lang="en-US" altLang="zh-CN" sz="2400" dirty="0">
              <a:latin typeface="Arial Narrow" pitchFamily="34" charset="0"/>
              <a:ea typeface="宋体" charset="-122"/>
            </a:endParaRPr>
          </a:p>
          <a:p>
            <a:pPr eaLnBrk="0" hangingPunct="0">
              <a:spcBef>
                <a:spcPct val="0"/>
              </a:spcBef>
            </a:pPr>
            <a:r>
              <a:rPr lang="en-US" altLang="zh-CN" sz="2400" dirty="0" err="1" smtClean="0">
                <a:latin typeface="Arial Narrow" pitchFamily="34" charset="0"/>
                <a:ea typeface="宋体" charset="-122"/>
              </a:rPr>
              <a:t>executeDivde</a:t>
            </a:r>
            <a:r>
              <a:rPr lang="en-US" altLang="zh-CN" sz="2400" dirty="0" smtClean="0">
                <a:latin typeface="Arial Narrow" pitchFamily="34" charset="0"/>
                <a:ea typeface="宋体" charset="-122"/>
              </a:rPr>
              <a:t>()</a:t>
            </a:r>
            <a:endParaRPr lang="en-US" altLang="zh-CN" sz="2400" dirty="0">
              <a:latin typeface="Arial Narrow" pitchFamily="34" charset="0"/>
              <a:ea typeface="宋体" charset="-122"/>
            </a:endParaRPr>
          </a:p>
          <a:p>
            <a:pPr eaLnBrk="0" hangingPunct="0">
              <a:spcBef>
                <a:spcPct val="0"/>
              </a:spcBef>
            </a:pPr>
            <a:r>
              <a:rPr kumimoji="0" lang="en-US" altLang="zh-CN" sz="2400" b="0" dirty="0" err="1" smtClean="0">
                <a:latin typeface="Arial Narrow" pitchFamily="34" charset="0"/>
                <a:ea typeface="宋体" charset="-122"/>
              </a:rPr>
              <a:t>solicitNumberAccounts</a:t>
            </a:r>
            <a:r>
              <a:rPr kumimoji="0" lang="en-US" altLang="zh-CN" sz="2400" b="0" dirty="0">
                <a:latin typeface="Arial Narrow" pitchFamily="34" charset="0"/>
                <a:ea typeface="宋体" charset="-122"/>
              </a:rPr>
              <a:t>()</a:t>
            </a:r>
          </a:p>
          <a:p>
            <a:pPr eaLnBrk="0" hangingPunct="0">
              <a:spcBef>
                <a:spcPct val="0"/>
              </a:spcBef>
            </a:pPr>
            <a:r>
              <a:rPr kumimoji="0" lang="en-US" altLang="zh-CN" sz="2400" b="0" dirty="0" err="1">
                <a:latin typeface="Arial Narrow" pitchFamily="34" charset="0"/>
                <a:ea typeface="宋体" charset="-122"/>
              </a:rPr>
              <a:t>getAnInputFromUser</a:t>
            </a:r>
            <a:r>
              <a:rPr kumimoji="0" lang="en-US" altLang="zh-CN" sz="2400" b="0" dirty="0">
                <a:latin typeface="Arial Narrow" pitchFamily="34" charset="0"/>
                <a:ea typeface="宋体" charset="-122"/>
              </a:rPr>
              <a:t>()</a:t>
            </a:r>
          </a:p>
          <a:p>
            <a:pPr eaLnBrk="0" hangingPunct="0">
              <a:spcBef>
                <a:spcPct val="0"/>
              </a:spcBef>
            </a:pPr>
            <a:r>
              <a:rPr kumimoji="0" lang="en-US" altLang="zh-CN" sz="2400" b="0" dirty="0" err="1">
                <a:latin typeface="Arial Narrow" pitchFamily="34" charset="0"/>
                <a:ea typeface="宋体" charset="-122"/>
              </a:rPr>
              <a:t>interactWithUser</a:t>
            </a:r>
            <a:r>
              <a:rPr kumimoji="0" lang="en-US" altLang="zh-CN" sz="2400" b="0" dirty="0">
                <a:latin typeface="Arial Narrow" pitchFamily="34" charset="0"/>
                <a:ea typeface="宋体" charset="-122"/>
              </a:rPr>
              <a:t>()</a:t>
            </a:r>
          </a:p>
        </p:txBody>
      </p:sp>
      <p:sp>
        <p:nvSpPr>
          <p:cNvPr id="20484" name="Line 9"/>
          <p:cNvSpPr>
            <a:spLocks noChangeShapeType="1"/>
          </p:cNvSpPr>
          <p:nvPr/>
        </p:nvSpPr>
        <p:spPr bwMode="auto">
          <a:xfrm>
            <a:off x="3505200" y="914400"/>
            <a:ext cx="0" cy="5486400"/>
          </a:xfrm>
          <a:prstGeom prst="line">
            <a:avLst/>
          </a:prstGeom>
          <a:noFill/>
          <a:ln w="19050">
            <a:solidFill>
              <a:schemeClr val="tx2"/>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85" name="Rectangle 10"/>
          <p:cNvSpPr>
            <a:spLocks noChangeArrowheads="1"/>
          </p:cNvSpPr>
          <p:nvPr/>
        </p:nvSpPr>
        <p:spPr bwMode="auto">
          <a:xfrm>
            <a:off x="701675" y="996950"/>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eaLnBrk="0" hangingPunct="0">
              <a:spcBef>
                <a:spcPct val="0"/>
              </a:spcBef>
            </a:pPr>
            <a:r>
              <a:rPr kumimoji="0" lang="zh-CN" altLang="en-US" sz="2400" u="sng">
                <a:solidFill>
                  <a:schemeClr val="tx2"/>
                </a:solidFill>
                <a:latin typeface="Arial Narrow" pitchFamily="34" charset="0"/>
              </a:rPr>
              <a:t>已存在的设计</a:t>
            </a:r>
          </a:p>
        </p:txBody>
      </p:sp>
      <p:sp>
        <p:nvSpPr>
          <p:cNvPr id="20486" name="Rectangle 11"/>
          <p:cNvSpPr>
            <a:spLocks noChangeArrowheads="1"/>
          </p:cNvSpPr>
          <p:nvPr/>
        </p:nvSpPr>
        <p:spPr bwMode="auto">
          <a:xfrm>
            <a:off x="5580063" y="974725"/>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eaLnBrk="0" hangingPunct="0">
              <a:spcBef>
                <a:spcPct val="0"/>
              </a:spcBef>
            </a:pPr>
            <a:r>
              <a:rPr kumimoji="0" lang="zh-CN" altLang="en-US" sz="2400" u="sng">
                <a:solidFill>
                  <a:schemeClr val="tx2"/>
                </a:solidFill>
                <a:latin typeface="Arial Narrow" pitchFamily="34" charset="0"/>
              </a:rPr>
              <a:t>新的设计</a:t>
            </a:r>
          </a:p>
        </p:txBody>
      </p:sp>
      <p:sp>
        <p:nvSpPr>
          <p:cNvPr id="20487" name="Rectangle 12"/>
          <p:cNvSpPr>
            <a:spLocks noChangeArrowheads="1"/>
          </p:cNvSpPr>
          <p:nvPr/>
        </p:nvSpPr>
        <p:spPr bwMode="auto">
          <a:xfrm>
            <a:off x="3854450" y="2130425"/>
            <a:ext cx="2555875" cy="84137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u="sng">
                <a:latin typeface="Arial Narrow" pitchFamily="34" charset="0"/>
                <a:ea typeface="宋体" charset="-122"/>
              </a:rPr>
              <a:t>Calculator </a:t>
            </a:r>
          </a:p>
          <a:p>
            <a:pPr eaLnBrk="0" hangingPunct="0">
              <a:spcBef>
                <a:spcPct val="0"/>
              </a:spcBef>
            </a:pPr>
            <a:r>
              <a:rPr kumimoji="0" lang="en-US" altLang="zh-CN" sz="2400" b="0">
                <a:latin typeface="Arial Narrow" pitchFamily="34" charset="0"/>
                <a:ea typeface="宋体" charset="-122"/>
              </a:rPr>
              <a:t>solicitNumAccounts()</a:t>
            </a:r>
          </a:p>
        </p:txBody>
      </p:sp>
      <p:sp>
        <p:nvSpPr>
          <p:cNvPr id="20488" name="Rectangle 13"/>
          <p:cNvSpPr>
            <a:spLocks noChangeArrowheads="1"/>
          </p:cNvSpPr>
          <p:nvPr/>
        </p:nvSpPr>
        <p:spPr bwMode="auto">
          <a:xfrm>
            <a:off x="7388225" y="2144713"/>
            <a:ext cx="1527175" cy="84137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u="sng">
                <a:latin typeface="Arial Narrow" pitchFamily="34" charset="0"/>
                <a:ea typeface="宋体" charset="-122"/>
              </a:rPr>
              <a:t>CalcDisplay</a:t>
            </a:r>
          </a:p>
          <a:p>
            <a:pPr eaLnBrk="0" hangingPunct="0">
              <a:spcBef>
                <a:spcPct val="0"/>
              </a:spcBef>
            </a:pPr>
            <a:r>
              <a:rPr kumimoji="0" lang="en-US" altLang="zh-CN" sz="2400" b="0">
                <a:latin typeface="Arial Narrow" pitchFamily="34" charset="0"/>
                <a:ea typeface="宋体" charset="-122"/>
              </a:rPr>
              <a:t>display()</a:t>
            </a:r>
          </a:p>
        </p:txBody>
      </p:sp>
      <p:sp>
        <p:nvSpPr>
          <p:cNvPr id="20489" name="Rectangle 14"/>
          <p:cNvSpPr>
            <a:spLocks noChangeArrowheads="1"/>
          </p:cNvSpPr>
          <p:nvPr/>
        </p:nvSpPr>
        <p:spPr bwMode="auto">
          <a:xfrm>
            <a:off x="7108825" y="3481388"/>
            <a:ext cx="1806575" cy="84137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i="1" u="sng">
                <a:latin typeface="Arial Narrow" pitchFamily="34" charset="0"/>
                <a:ea typeface="宋体" charset="-122"/>
              </a:rPr>
              <a:t>CalcOperation</a:t>
            </a:r>
          </a:p>
          <a:p>
            <a:pPr eaLnBrk="0" hangingPunct="0">
              <a:spcBef>
                <a:spcPct val="0"/>
              </a:spcBef>
            </a:pPr>
            <a:r>
              <a:rPr kumimoji="0" lang="en-US" altLang="zh-CN" sz="2400" b="0" i="1">
                <a:latin typeface="Arial Narrow" pitchFamily="34" charset="0"/>
                <a:ea typeface="宋体" charset="-122"/>
              </a:rPr>
              <a:t>execute() </a:t>
            </a:r>
          </a:p>
        </p:txBody>
      </p:sp>
      <p:sp>
        <p:nvSpPr>
          <p:cNvPr id="20490" name="Rectangle 15"/>
          <p:cNvSpPr>
            <a:spLocks noChangeArrowheads="1"/>
          </p:cNvSpPr>
          <p:nvPr/>
        </p:nvSpPr>
        <p:spPr bwMode="auto">
          <a:xfrm>
            <a:off x="3854450" y="5619750"/>
            <a:ext cx="719138" cy="4762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a:latin typeface="Arial Narrow" pitchFamily="34" charset="0"/>
                <a:ea typeface="宋体" charset="-122"/>
              </a:rPr>
              <a:t>Add </a:t>
            </a:r>
          </a:p>
        </p:txBody>
      </p:sp>
      <p:sp>
        <p:nvSpPr>
          <p:cNvPr id="20491" name="Rectangle 16"/>
          <p:cNvSpPr>
            <a:spLocks noChangeArrowheads="1"/>
          </p:cNvSpPr>
          <p:nvPr/>
        </p:nvSpPr>
        <p:spPr bwMode="auto">
          <a:xfrm>
            <a:off x="5526088" y="5619750"/>
            <a:ext cx="1052512" cy="4762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a:latin typeface="Arial Narrow" pitchFamily="34" charset="0"/>
                <a:ea typeface="宋体" charset="-122"/>
              </a:rPr>
              <a:t>Multiply</a:t>
            </a:r>
          </a:p>
        </p:txBody>
      </p:sp>
      <p:sp>
        <p:nvSpPr>
          <p:cNvPr id="20492" name="Rectangle 17"/>
          <p:cNvSpPr>
            <a:spLocks noChangeArrowheads="1"/>
          </p:cNvSpPr>
          <p:nvPr/>
        </p:nvSpPr>
        <p:spPr bwMode="auto">
          <a:xfrm>
            <a:off x="7554913" y="5619750"/>
            <a:ext cx="900112" cy="4762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spcBef>
                <a:spcPct val="0"/>
              </a:spcBef>
            </a:pPr>
            <a:r>
              <a:rPr kumimoji="0" lang="en-US" altLang="zh-CN" sz="2400" b="0">
                <a:latin typeface="Arial Narrow" pitchFamily="34" charset="0"/>
                <a:ea typeface="宋体" charset="-122"/>
              </a:rPr>
              <a:t>Divide</a:t>
            </a:r>
          </a:p>
        </p:txBody>
      </p:sp>
      <p:sp>
        <p:nvSpPr>
          <p:cNvPr id="20493" name="AutoShape 18"/>
          <p:cNvSpPr>
            <a:spLocks noChangeArrowheads="1"/>
          </p:cNvSpPr>
          <p:nvPr/>
        </p:nvSpPr>
        <p:spPr bwMode="auto">
          <a:xfrm>
            <a:off x="7866063" y="4343400"/>
            <a:ext cx="304800" cy="304800"/>
          </a:xfrm>
          <a:prstGeom prst="triangle">
            <a:avLst>
              <a:gd name="adj" fmla="val 50000"/>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cxnSp>
        <p:nvCxnSpPr>
          <p:cNvPr id="20494" name="AutoShape 19"/>
          <p:cNvCxnSpPr>
            <a:cxnSpLocks noChangeShapeType="1"/>
            <a:stCxn id="20493" idx="3"/>
            <a:endCxn id="20492" idx="0"/>
          </p:cNvCxnSpPr>
          <p:nvPr/>
        </p:nvCxnSpPr>
        <p:spPr bwMode="auto">
          <a:xfrm rot="5400000">
            <a:off x="7535863" y="5127625"/>
            <a:ext cx="952500" cy="12700"/>
          </a:xfrm>
          <a:prstGeom prst="bentConnector3">
            <a:avLst>
              <a:gd name="adj1" fmla="val 50000"/>
            </a:avLst>
          </a:prstGeom>
          <a:noFill/>
          <a:ln w="19050">
            <a:solidFill>
              <a:schemeClr val="tx1"/>
            </a:solidFill>
            <a:miter lim="800000"/>
            <a:headEnd/>
            <a:tailEnd/>
          </a:ln>
          <a:extLst>
            <a:ext uri="{909E8E84-426E-40DD-AFC4-6F175D3DCCD1}">
              <a14:hiddenFill xmlns:a14="http://schemas.microsoft.com/office/drawing/2010/main">
                <a:noFill/>
              </a14:hiddenFill>
            </a:ext>
          </a:extLst>
        </p:spPr>
      </p:cxnSp>
      <p:cxnSp>
        <p:nvCxnSpPr>
          <p:cNvPr id="20495" name="AutoShape 20"/>
          <p:cNvCxnSpPr>
            <a:cxnSpLocks noChangeShapeType="1"/>
            <a:stCxn id="20493" idx="3"/>
            <a:endCxn id="20490" idx="0"/>
          </p:cNvCxnSpPr>
          <p:nvPr/>
        </p:nvCxnSpPr>
        <p:spPr bwMode="auto">
          <a:xfrm rot="5400000">
            <a:off x="5640388" y="3232150"/>
            <a:ext cx="952500" cy="3803650"/>
          </a:xfrm>
          <a:prstGeom prst="bentConnector3">
            <a:avLst>
              <a:gd name="adj1" fmla="val 50000"/>
            </a:avLst>
          </a:prstGeom>
          <a:noFill/>
          <a:ln w="19050">
            <a:solidFill>
              <a:schemeClr val="tx1"/>
            </a:solidFill>
            <a:miter lim="800000"/>
            <a:headEnd/>
            <a:tailEnd/>
          </a:ln>
          <a:extLst>
            <a:ext uri="{909E8E84-426E-40DD-AFC4-6F175D3DCCD1}">
              <a14:hiddenFill xmlns:a14="http://schemas.microsoft.com/office/drawing/2010/main">
                <a:noFill/>
              </a14:hiddenFill>
            </a:ext>
          </a:extLst>
        </p:spPr>
      </p:cxnSp>
      <p:cxnSp>
        <p:nvCxnSpPr>
          <p:cNvPr id="20496" name="AutoShape 21"/>
          <p:cNvCxnSpPr>
            <a:cxnSpLocks noChangeShapeType="1"/>
            <a:stCxn id="20493" idx="3"/>
            <a:endCxn id="20491" idx="0"/>
          </p:cNvCxnSpPr>
          <p:nvPr/>
        </p:nvCxnSpPr>
        <p:spPr bwMode="auto">
          <a:xfrm rot="5400000">
            <a:off x="6559551" y="4151312"/>
            <a:ext cx="952500" cy="1965325"/>
          </a:xfrm>
          <a:prstGeom prst="bentConnector3">
            <a:avLst>
              <a:gd name="adj1" fmla="val 50000"/>
            </a:avLst>
          </a:prstGeom>
          <a:noFill/>
          <a:ln w="19050">
            <a:solidFill>
              <a:schemeClr val="tx1"/>
            </a:solidFill>
            <a:miter lim="800000"/>
            <a:headEnd/>
            <a:tailEnd/>
          </a:ln>
          <a:extLst>
            <a:ext uri="{909E8E84-426E-40DD-AFC4-6F175D3DCCD1}">
              <a14:hiddenFill xmlns:a14="http://schemas.microsoft.com/office/drawing/2010/main">
                <a:noFill/>
              </a14:hiddenFill>
            </a:ext>
          </a:extLst>
        </p:spPr>
      </p:cxnSp>
      <p:cxnSp>
        <p:nvCxnSpPr>
          <p:cNvPr id="20497" name="AutoShape 22"/>
          <p:cNvCxnSpPr>
            <a:cxnSpLocks noChangeShapeType="1"/>
            <a:stCxn id="20500" idx="1"/>
            <a:endCxn id="20487" idx="3"/>
          </p:cNvCxnSpPr>
          <p:nvPr/>
        </p:nvCxnSpPr>
        <p:spPr bwMode="auto">
          <a:xfrm rot="10800000">
            <a:off x="6419850" y="2551113"/>
            <a:ext cx="649288" cy="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20498" name="AutoShape 23"/>
          <p:cNvSpPr>
            <a:spLocks noChangeArrowheads="1"/>
          </p:cNvSpPr>
          <p:nvPr/>
        </p:nvSpPr>
        <p:spPr bwMode="auto">
          <a:xfrm>
            <a:off x="6435725" y="2743200"/>
            <a:ext cx="304800" cy="228600"/>
          </a:xfrm>
          <a:prstGeom prst="flowChartDecision">
            <a:avLst/>
          </a:prstGeom>
          <a:solidFill>
            <a:schemeClr val="bg1"/>
          </a:solidFill>
          <a:ln w="19050">
            <a:solidFill>
              <a:schemeClr val="tx1"/>
            </a:solidFill>
            <a:miter lim="800000"/>
            <a:headEnd/>
            <a:tailEnd/>
          </a:ln>
        </p:spPr>
        <p:txBody>
          <a:bodyPr wrap="none" anchor="ctr"/>
          <a:lstStyle/>
          <a:p>
            <a:endParaRPr lang="zh-CN" altLang="en-US"/>
          </a:p>
        </p:txBody>
      </p:sp>
      <p:cxnSp>
        <p:nvCxnSpPr>
          <p:cNvPr id="20499" name="AutoShape 24"/>
          <p:cNvCxnSpPr>
            <a:cxnSpLocks noChangeShapeType="1"/>
            <a:stCxn id="20498" idx="3"/>
            <a:endCxn id="20489" idx="1"/>
          </p:cNvCxnSpPr>
          <p:nvPr/>
        </p:nvCxnSpPr>
        <p:spPr bwMode="auto">
          <a:xfrm>
            <a:off x="6750050" y="2857500"/>
            <a:ext cx="349250" cy="1044575"/>
          </a:xfrm>
          <a:prstGeom prst="bentConnector3">
            <a:avLst>
              <a:gd name="adj1" fmla="val 50000"/>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20500" name="AutoShape 25"/>
          <p:cNvSpPr>
            <a:spLocks noChangeArrowheads="1"/>
          </p:cNvSpPr>
          <p:nvPr/>
        </p:nvSpPr>
        <p:spPr bwMode="auto">
          <a:xfrm>
            <a:off x="7078663" y="2436813"/>
            <a:ext cx="304800" cy="228600"/>
          </a:xfrm>
          <a:prstGeom prst="flowChartDecision">
            <a:avLst/>
          </a:prstGeom>
          <a:solidFill>
            <a:schemeClr val="bg1"/>
          </a:solidFill>
          <a:ln w="19050">
            <a:solidFill>
              <a:schemeClr val="tx1"/>
            </a:solidFill>
            <a:miter lim="800000"/>
            <a:headEnd/>
            <a:tailEnd/>
          </a:ln>
        </p:spPr>
        <p:txBody>
          <a:bodyPr wrap="none" anchor="ctr"/>
          <a:lstStyle/>
          <a:p>
            <a:endParaRPr lang="zh-CN" altLang="en-US"/>
          </a:p>
        </p:txBody>
      </p:sp>
    </p:spTree>
    <p:extLst>
      <p:ext uri="{BB962C8B-B14F-4D97-AF65-F5344CB8AC3E}">
        <p14:creationId xmlns:p14="http://schemas.microsoft.com/office/powerpoint/2010/main" val="158656317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zh-CN" altLang="en-US" b="1" smtClean="0">
                <a:solidFill>
                  <a:schemeClr val="accent2"/>
                </a:solidFill>
                <a:ea typeface="楷体_GB2312" pitchFamily="49" charset="-122"/>
              </a:rPr>
              <a:t>小结</a:t>
            </a:r>
          </a:p>
        </p:txBody>
      </p:sp>
      <p:sp>
        <p:nvSpPr>
          <p:cNvPr id="21507" name="Rectangle 4"/>
          <p:cNvSpPr>
            <a:spLocks noGrp="1" noChangeArrowheads="1"/>
          </p:cNvSpPr>
          <p:nvPr>
            <p:ph type="body" idx="1"/>
          </p:nvPr>
        </p:nvSpPr>
        <p:spPr>
          <a:xfrm>
            <a:off x="1752600" y="1600200"/>
            <a:ext cx="5562600" cy="5029200"/>
          </a:xfrm>
          <a:noFill/>
        </p:spPr>
        <p:txBody>
          <a:bodyPr lIns="90488" tIns="44450" rIns="90488" bIns="44450"/>
          <a:lstStyle/>
          <a:p>
            <a:pPr eaLnBrk="1" hangingPunct="1"/>
            <a:r>
              <a:rPr lang="zh-CN" altLang="en-US" b="1" smtClean="0">
                <a:latin typeface="楷体_GB2312" pitchFamily="49" charset="-122"/>
                <a:ea typeface="楷体_GB2312" pitchFamily="49" charset="-122"/>
              </a:rPr>
              <a:t>灵活性</a:t>
            </a:r>
          </a:p>
          <a:p>
            <a:pPr lvl="1" eaLnBrk="1" hangingPunct="1"/>
            <a:r>
              <a:rPr lang="en-US" altLang="zh-CN" b="1" smtClean="0">
                <a:latin typeface="楷体_GB2312" pitchFamily="49" charset="-122"/>
                <a:ea typeface="楷体_GB2312" pitchFamily="49" charset="-122"/>
              </a:rPr>
              <a:t>== </a:t>
            </a:r>
            <a:r>
              <a:rPr lang="zh-CN" altLang="en-US" b="1" smtClean="0">
                <a:latin typeface="楷体_GB2312" pitchFamily="49" charset="-122"/>
                <a:ea typeface="楷体_GB2312" pitchFamily="49" charset="-122"/>
              </a:rPr>
              <a:t>易于修改 </a:t>
            </a:r>
          </a:p>
          <a:p>
            <a:pPr eaLnBrk="1" hangingPunct="1"/>
            <a:r>
              <a:rPr lang="zh-CN" altLang="en-US" b="1" smtClean="0">
                <a:latin typeface="楷体_GB2312" pitchFamily="49" charset="-122"/>
                <a:ea typeface="楷体_GB2312" pitchFamily="49" charset="-122"/>
              </a:rPr>
              <a:t>可重用性  </a:t>
            </a:r>
          </a:p>
          <a:p>
            <a:pPr lvl="1" eaLnBrk="1" hangingPunct="1"/>
            <a:r>
              <a:rPr lang="zh-CN" altLang="en-US" b="1" smtClean="0">
                <a:latin typeface="楷体_GB2312" pitchFamily="49" charset="-122"/>
                <a:ea typeface="楷体_GB2312" pitchFamily="49" charset="-122"/>
              </a:rPr>
              <a:t>在其他应用程序中应用</a:t>
            </a:r>
          </a:p>
          <a:p>
            <a:pPr eaLnBrk="1" hangingPunct="1"/>
            <a:r>
              <a:rPr lang="zh-CN" altLang="en-US" b="1" smtClean="0">
                <a:latin typeface="楷体_GB2312" pitchFamily="49" charset="-122"/>
                <a:ea typeface="楷体_GB2312" pitchFamily="49" charset="-122"/>
              </a:rPr>
              <a:t>高效性 </a:t>
            </a:r>
          </a:p>
          <a:p>
            <a:pPr lvl="1" eaLnBrk="1" hangingPunct="1"/>
            <a:r>
              <a:rPr lang="zh-CN" altLang="en-US" b="1" smtClean="0">
                <a:latin typeface="楷体_GB2312" pitchFamily="49" charset="-122"/>
                <a:ea typeface="楷体_GB2312" pitchFamily="49" charset="-122"/>
              </a:rPr>
              <a:t>时间</a:t>
            </a:r>
          </a:p>
          <a:p>
            <a:pPr lvl="1" eaLnBrk="1" hangingPunct="1"/>
            <a:r>
              <a:rPr lang="zh-CN" altLang="en-US" b="1" smtClean="0">
                <a:latin typeface="楷体_GB2312" pitchFamily="49" charset="-122"/>
                <a:ea typeface="楷体_GB2312" pitchFamily="49" charset="-122"/>
              </a:rPr>
              <a:t>空间</a:t>
            </a:r>
          </a:p>
        </p:txBody>
      </p:sp>
    </p:spTree>
    <p:extLst>
      <p:ext uri="{BB962C8B-B14F-4D97-AF65-F5344CB8AC3E}">
        <p14:creationId xmlns:p14="http://schemas.microsoft.com/office/powerpoint/2010/main" val="290543199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433</TotalTime>
  <Words>3691</Words>
  <Application>Microsoft Office PowerPoint</Application>
  <PresentationFormat>全屏显示(4:3)</PresentationFormat>
  <Paragraphs>725</Paragraphs>
  <Slides>73</Slides>
  <Notes>6</Notes>
  <HiddenSlides>0</HiddenSlides>
  <MMClips>0</MMClips>
  <ScaleCrop>false</ScaleCrop>
  <HeadingPairs>
    <vt:vector size="4" baseType="variant">
      <vt:variant>
        <vt:lpstr>主题</vt:lpstr>
      </vt:variant>
      <vt:variant>
        <vt:i4>1</vt:i4>
      </vt:variant>
      <vt:variant>
        <vt:lpstr>幻灯片标题</vt:lpstr>
      </vt:variant>
      <vt:variant>
        <vt:i4>73</vt:i4>
      </vt:variant>
    </vt:vector>
  </HeadingPairs>
  <TitlesOfParts>
    <vt:vector size="74" baseType="lpstr">
      <vt:lpstr>Office 主题</vt:lpstr>
      <vt:lpstr>PowerPoint 演示文稿</vt:lpstr>
      <vt:lpstr>UML的目标</vt:lpstr>
      <vt:lpstr>UML中的类</vt:lpstr>
      <vt:lpstr>UML中类的关系</vt:lpstr>
      <vt:lpstr>UML符号和典型实现</vt:lpstr>
      <vt:lpstr>接口的UML符号和典型的Java实现</vt:lpstr>
      <vt:lpstr>UML中类的关系</vt:lpstr>
      <vt:lpstr>聚合的UML符号和典型实现</vt:lpstr>
      <vt:lpstr>UML中类的关系</vt:lpstr>
      <vt:lpstr>依赖性的UML符号和典型实现</vt:lpstr>
      <vt:lpstr>UML中类的关系</vt:lpstr>
      <vt:lpstr>关联的UML符号和典型实现</vt:lpstr>
      <vt:lpstr>示例</vt:lpstr>
      <vt:lpstr>用例(use case)</vt:lpstr>
      <vt:lpstr>用例</vt:lpstr>
      <vt:lpstr>PowerPoint 演示文稿</vt:lpstr>
      <vt:lpstr>用例</vt:lpstr>
      <vt:lpstr>用例的总结和用法</vt:lpstr>
      <vt:lpstr>时序图</vt:lpstr>
      <vt:lpstr>PowerPoint 演示文稿</vt:lpstr>
      <vt:lpstr>PowerPoint 演示文稿</vt:lpstr>
      <vt:lpstr>PowerPoint 演示文稿</vt:lpstr>
      <vt:lpstr>PowerPoint 演示文稿</vt:lpstr>
      <vt:lpstr>PowerPoint 演示文稿</vt:lpstr>
      <vt:lpstr>PowerPoint 演示文稿</vt:lpstr>
      <vt:lpstr>状态模型</vt:lpstr>
      <vt:lpstr>OnlineShopper类的状态</vt:lpstr>
      <vt:lpstr>事件</vt:lpstr>
      <vt:lpstr>转移</vt:lpstr>
      <vt:lpstr>事件发生的条件</vt:lpstr>
      <vt:lpstr>状态转移图</vt:lpstr>
      <vt:lpstr>OnlineShopper类的状态转移图</vt:lpstr>
      <vt:lpstr>活动图</vt:lpstr>
      <vt:lpstr>活动图的符号表示</vt:lpstr>
      <vt:lpstr>规则链的类模型</vt:lpstr>
      <vt:lpstr>soughtFact.proveBack()的流程图</vt:lpstr>
      <vt:lpstr>PowerPoint 演示文稿</vt:lpstr>
      <vt:lpstr>正确性和充分性</vt:lpstr>
      <vt:lpstr>实现正确性的途径</vt:lpstr>
      <vt:lpstr>实现正确性的非正式方法</vt:lpstr>
      <vt:lpstr>充分设计的术语和理论基础</vt:lpstr>
      <vt:lpstr>实现正确性的正式方法</vt:lpstr>
      <vt:lpstr>Automobile 类的不变式</vt:lpstr>
      <vt:lpstr>实现正确性的正式方法</vt:lpstr>
      <vt:lpstr>健壮性</vt:lpstr>
      <vt:lpstr>检查输入（保证环境健壮性）</vt:lpstr>
      <vt:lpstr>为提高健壮性而初始化</vt:lpstr>
      <vt:lpstr>提高健壮性的参数传递技术</vt:lpstr>
      <vt:lpstr>提高健壮性的参数传递技术</vt:lpstr>
      <vt:lpstr>检查参数值是否违反约束的方法</vt:lpstr>
      <vt:lpstr>在类中捕获参数</vt:lpstr>
      <vt:lpstr>包装参数</vt:lpstr>
      <vt:lpstr>强化意图</vt:lpstr>
      <vt:lpstr>小结</vt:lpstr>
      <vt:lpstr>PowerPoint 演示文稿</vt:lpstr>
      <vt:lpstr>灵活性</vt:lpstr>
      <vt:lpstr>PowerPoint 演示文稿</vt:lpstr>
      <vt:lpstr>PowerPoint 演示文稿</vt:lpstr>
      <vt:lpstr>灵活性</vt:lpstr>
      <vt:lpstr>情况2：向一个基类中增加功能</vt:lpstr>
      <vt:lpstr>通过继承基类的方法来增加功能</vt:lpstr>
      <vt:lpstr>可重用性</vt:lpstr>
      <vt:lpstr>可重用性</vt:lpstr>
      <vt:lpstr>基于重用的类选择</vt:lpstr>
      <vt:lpstr>高效性</vt:lpstr>
      <vt:lpstr>高效性</vt:lpstr>
      <vt:lpstr>执行效率</vt:lpstr>
      <vt:lpstr>执行效率</vt:lpstr>
      <vt:lpstr>引起执行效率问题的一些因素</vt:lpstr>
      <vt:lpstr>存储效率</vt:lpstr>
      <vt:lpstr>健壮性、灵活性、可重用性与高效性之间的折中</vt:lpstr>
      <vt:lpstr>一个更灵活的计算器应用程序的设计</vt:lpstr>
      <vt:lpstr>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阎润之</dc:creator>
  <cp:lastModifiedBy>xiexiong</cp:lastModifiedBy>
  <cp:revision>27</cp:revision>
  <dcterms:created xsi:type="dcterms:W3CDTF">2020-03-01T09:10:39Z</dcterms:created>
  <dcterms:modified xsi:type="dcterms:W3CDTF">2023-02-20T02:52:40Z</dcterms:modified>
</cp:coreProperties>
</file>