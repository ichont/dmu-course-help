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379" r:id="rId6"/>
    <p:sldId id="380" r:id="rId7"/>
    <p:sldId id="381" r:id="rId8"/>
    <p:sldId id="382" r:id="rId9"/>
    <p:sldId id="383" r:id="rId11"/>
    <p:sldId id="352" r:id="rId12"/>
    <p:sldId id="353" r:id="rId13"/>
    <p:sldId id="354" r:id="rId14"/>
    <p:sldId id="373" r:id="rId15"/>
    <p:sldId id="374" r:id="rId16"/>
    <p:sldId id="375" r:id="rId17"/>
    <p:sldId id="376" r:id="rId18"/>
    <p:sldId id="377" r:id="rId19"/>
    <p:sldId id="378" r:id="rId20"/>
    <p:sldId id="355" r:id="rId21"/>
    <p:sldId id="356" r:id="rId22"/>
    <p:sldId id="357" r:id="rId23"/>
    <p:sldId id="358" r:id="rId24"/>
    <p:sldId id="384" r:id="rId25"/>
    <p:sldId id="386" r:id="rId26"/>
    <p:sldId id="385" r:id="rId27"/>
    <p:sldId id="359" r:id="rId28"/>
    <p:sldId id="387" r:id="rId29"/>
    <p:sldId id="360" r:id="rId30"/>
    <p:sldId id="361" r:id="rId31"/>
    <p:sldId id="362" r:id="rId32"/>
    <p:sldId id="388" r:id="rId33"/>
    <p:sldId id="363" r:id="rId34"/>
    <p:sldId id="272" r:id="rId35"/>
  </p:sldIdLst>
  <p:sldSz cx="9144000" cy="6858000" type="screen4x3"/>
  <p:notesSz cx="6858000" cy="9144000"/>
  <p:custDataLst>
    <p:tags r:id="rId3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863D"/>
    <a:srgbClr val="006699"/>
    <a:srgbClr val="008000"/>
    <a:srgbClr val="FF0000"/>
    <a:srgbClr val="000000"/>
    <a:srgbClr val="003366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4"/>
    <p:restoredTop sz="98354"/>
  </p:normalViewPr>
  <p:slideViewPr>
    <p:cSldViewPr showGuides="1">
      <p:cViewPr varScale="1">
        <p:scale>
          <a:sx n="85" d="100"/>
          <a:sy n="85" d="100"/>
        </p:scale>
        <p:origin x="-103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21B6DC-93EF-4F34-ABE6-BDE00EB2FCA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</a:rPr>
            </a:fld>
            <a:endParaRPr lang="en-US" altLang="zh-CN" sz="1200" dirty="0">
              <a:solidFill>
                <a:srgbClr val="000000"/>
              </a:solidFill>
            </a:endParaRPr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讲解要点：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现在我们开始模拟实现转帐：从张三的帐户直接转帐</a:t>
            </a:r>
            <a:r>
              <a:rPr lang="en-US" altLang="zh-CN" dirty="0"/>
              <a:t>1000</a:t>
            </a:r>
            <a:r>
              <a:rPr lang="zh-CN" altLang="en-US" dirty="0"/>
              <a:t>元到李四的帐户。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即使用</a:t>
            </a:r>
            <a:r>
              <a:rPr lang="en-US" altLang="zh-CN" dirty="0"/>
              <a:t>UPDATE</a:t>
            </a:r>
            <a:r>
              <a:rPr lang="zh-CN" altLang="en-US" dirty="0"/>
              <a:t>语句修改张三的帐户和李四帐户，张三的帐户减少</a:t>
            </a:r>
            <a:r>
              <a:rPr lang="en-US" altLang="zh-CN" dirty="0"/>
              <a:t>1000</a:t>
            </a:r>
            <a:r>
              <a:rPr lang="zh-CN" altLang="en-US" dirty="0"/>
              <a:t>元，李四的帐户增加</a:t>
            </a:r>
            <a:r>
              <a:rPr lang="en-US" altLang="zh-CN" dirty="0"/>
              <a:t>1000</a:t>
            </a:r>
            <a:r>
              <a:rPr lang="zh-CN" altLang="en-US" dirty="0"/>
              <a:t>元。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显然，转帐后的余额总和应保持不变，仍为</a:t>
            </a:r>
            <a:r>
              <a:rPr lang="en-US" altLang="zh-CN" dirty="0"/>
              <a:t>1001</a:t>
            </a:r>
            <a:r>
              <a:rPr lang="zh-CN" altLang="en-US" dirty="0"/>
              <a:t>元。 具体</a:t>
            </a:r>
            <a:r>
              <a:rPr lang="en-US" altLang="zh-CN" dirty="0"/>
              <a:t>T-SQL</a:t>
            </a:r>
            <a:r>
              <a:rPr lang="zh-CN" altLang="en-US" dirty="0"/>
              <a:t>语句如图所示。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提问：现在张三和李四的帐户分别为</a:t>
            </a:r>
            <a:r>
              <a:rPr lang="en-US" altLang="zh-CN" dirty="0"/>
              <a:t>1000</a:t>
            </a:r>
            <a:r>
              <a:rPr lang="zh-CN" altLang="en-US" dirty="0"/>
              <a:t>元和</a:t>
            </a:r>
            <a:r>
              <a:rPr lang="en-US" altLang="zh-CN" dirty="0"/>
              <a:t>1</a:t>
            </a:r>
            <a:r>
              <a:rPr lang="zh-CN" altLang="en-US" dirty="0"/>
              <a:t>元，执行语句后，张三和李四的帐户应该为多少啊？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大部分学员会认为：张三帐上还有</a:t>
            </a:r>
            <a:r>
              <a:rPr lang="en-US" altLang="zh-CN" dirty="0"/>
              <a:t>0</a:t>
            </a:r>
            <a:r>
              <a:rPr lang="zh-CN" altLang="en-US" dirty="0"/>
              <a:t>元，李四</a:t>
            </a:r>
            <a:r>
              <a:rPr lang="en-US" altLang="zh-CN" dirty="0"/>
              <a:t>1001</a:t>
            </a:r>
            <a:r>
              <a:rPr lang="zh-CN" altLang="en-US" dirty="0"/>
              <a:t>元。少数细心的学员可能感觉不对。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现场演示实际的输出结果。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输出的结果让您惊讶了吧，张三的帐户没有减少，还是</a:t>
            </a:r>
            <a:r>
              <a:rPr lang="en-US" altLang="zh-CN" dirty="0"/>
              <a:t>1000</a:t>
            </a:r>
            <a:r>
              <a:rPr lang="zh-CN" altLang="en-US" dirty="0"/>
              <a:t>元；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但李四的帐户却多了</a:t>
            </a:r>
            <a:r>
              <a:rPr lang="en-US" altLang="zh-CN" dirty="0"/>
              <a:t>1000</a:t>
            </a:r>
            <a:r>
              <a:rPr lang="zh-CN" altLang="en-US" dirty="0"/>
              <a:t>元，转帐后两个帐户的余额变为</a:t>
            </a:r>
            <a:r>
              <a:rPr lang="en-US" altLang="zh-CN" dirty="0"/>
              <a:t>1000+1001</a:t>
            </a:r>
            <a:r>
              <a:rPr lang="zh-CN" altLang="en-US" dirty="0"/>
              <a:t>＝</a:t>
            </a:r>
            <a:r>
              <a:rPr lang="en-US" altLang="zh-CN" dirty="0"/>
              <a:t>2001</a:t>
            </a:r>
            <a:r>
              <a:rPr lang="zh-CN" altLang="en-US" dirty="0"/>
              <a:t>元，银行的钱凭空多出</a:t>
            </a:r>
            <a:r>
              <a:rPr lang="en-US" altLang="zh-CN" dirty="0"/>
              <a:t>1000</a:t>
            </a:r>
            <a:r>
              <a:rPr lang="zh-CN" altLang="en-US" dirty="0"/>
              <a:t>元了！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为什么会怎样呢？让我们一起分析出现如此严重错误的原因 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</a:rPr>
            </a:fld>
            <a:endParaRPr lang="en-US" altLang="zh-CN" sz="1200" dirty="0">
              <a:solidFill>
                <a:srgbClr val="000000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marL="228600" lvl="0" indent="-228600" eaLnBrk="1" hangingPunct="1">
              <a:spcBef>
                <a:spcPct val="0"/>
              </a:spcBef>
            </a:pPr>
            <a:r>
              <a:rPr lang="zh-CN" altLang="zh-CN" dirty="0"/>
              <a:t>查看SQL Server给出的错误提示，显示UPDATE语句有错，执行时违反了CK_currentMoney约束，</a:t>
            </a:r>
            <a:endParaRPr lang="zh-CN" altLang="en-US" dirty="0"/>
          </a:p>
          <a:p>
            <a:pPr marL="228600" lvl="0" indent="-228600" eaLnBrk="1" hangingPunct="1">
              <a:spcBef>
                <a:spcPct val="0"/>
              </a:spcBef>
            </a:pPr>
            <a:r>
              <a:rPr lang="zh-CN" altLang="zh-CN" dirty="0"/>
              <a:t>即余额不能少于1元。</a:t>
            </a:r>
            <a:endParaRPr lang="zh-CN" altLang="en-US" dirty="0"/>
          </a:p>
          <a:p>
            <a:pPr marL="228600" lvl="0" indent="-228600" eaLnBrk="1" hangingPunct="1">
              <a:spcBef>
                <a:spcPct val="0"/>
              </a:spcBef>
            </a:pPr>
            <a:r>
              <a:rPr lang="zh-CN" altLang="en-US" dirty="0"/>
              <a:t>提问学员：</a:t>
            </a:r>
            <a:r>
              <a:rPr lang="zh-CN" altLang="zh-CN" dirty="0"/>
              <a:t>目前有两条UPDATE语句，哪条导致了此错误呢？</a:t>
            </a:r>
            <a:endParaRPr lang="zh-CN" altLang="en-US" dirty="0"/>
          </a:p>
          <a:p>
            <a:pPr marL="228600" lvl="0" indent="-228600" eaLnBrk="1" hangingPunct="1">
              <a:spcBef>
                <a:spcPct val="0"/>
              </a:spcBef>
            </a:pPr>
            <a:r>
              <a:rPr lang="zh-CN" altLang="en-US" dirty="0"/>
              <a:t>引导回答：</a:t>
            </a:r>
            <a:r>
              <a:rPr lang="zh-CN" altLang="zh-CN" dirty="0"/>
              <a:t>显然是修改张三帐户的UPDATE语句。</a:t>
            </a:r>
            <a:endParaRPr lang="zh-CN" altLang="en-US" dirty="0"/>
          </a:p>
          <a:p>
            <a:pPr marL="228600" lvl="0" indent="-228600" eaLnBrk="1" hangingPunct="1">
              <a:spcBef>
                <a:spcPct val="0"/>
              </a:spcBef>
            </a:pPr>
            <a:r>
              <a:rPr lang="zh-CN" altLang="en-US" dirty="0"/>
              <a:t> </a:t>
            </a:r>
            <a:r>
              <a:rPr lang="zh-CN" altLang="zh-CN" dirty="0"/>
              <a:t>因为张三的帐户原有余额1000元，减少1000元后即为0元，违反了上述约束，所以终止执行，</a:t>
            </a:r>
            <a:endParaRPr lang="zh-CN" altLang="en-US" dirty="0"/>
          </a:p>
          <a:p>
            <a:pPr marL="228600" lvl="0" indent="-228600" eaLnBrk="1" hangingPunct="1">
              <a:spcBef>
                <a:spcPct val="0"/>
              </a:spcBef>
            </a:pPr>
            <a:r>
              <a:rPr lang="zh-CN" altLang="zh-CN" dirty="0"/>
              <a:t>余额保持不变，仍为1000元。遗憾的是，后面的语句并没有中断执行，</a:t>
            </a:r>
            <a:endParaRPr lang="zh-CN" altLang="en-US" dirty="0"/>
          </a:p>
          <a:p>
            <a:pPr marL="228600" lvl="0" indent="-228600" eaLnBrk="1" hangingPunct="1">
              <a:spcBef>
                <a:spcPct val="0"/>
              </a:spcBef>
            </a:pPr>
            <a:r>
              <a:rPr lang="zh-CN" altLang="zh-CN" dirty="0"/>
              <a:t>修改李四帐户的UPDATE语句继续执行，李四的帐户增加了1000元，变为1001元。</a:t>
            </a:r>
            <a:endParaRPr lang="zh-CN" altLang="en-US" dirty="0"/>
          </a:p>
          <a:p>
            <a:pPr marL="228600" lvl="0" indent="-228600" eaLnBrk="1" hangingPunct="1">
              <a:spcBef>
                <a:spcPct val="0"/>
              </a:spcBef>
            </a:pPr>
            <a:r>
              <a:rPr lang="zh-CN" altLang="zh-CN" dirty="0"/>
              <a:t>所以两人帐户的余额最终出现了幻灯片所示的结果。 </a:t>
            </a:r>
            <a:endParaRPr lang="zh-CN" altLang="en-US" dirty="0"/>
          </a:p>
          <a:p>
            <a:pPr marL="228600" lvl="0" indent="-228600" eaLnBrk="1" hangingPunct="1">
              <a:spcBef>
                <a:spcPct val="0"/>
              </a:spcBef>
            </a:pPr>
            <a:r>
              <a:rPr lang="zh-CN" altLang="en-US" dirty="0"/>
              <a:t>如何解决呢？使用事务，引出事务的概念。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</a:rPr>
            </a:fld>
            <a:endParaRPr lang="en-US" altLang="zh-CN" sz="1200" dirty="0">
              <a:solidFill>
                <a:srgbClr val="000000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讲解管理事务的三种操作语句。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判断</a:t>
            </a:r>
            <a:r>
              <a:rPr lang="en-US" altLang="zh-CN" dirty="0"/>
              <a:t>T-SQL</a:t>
            </a:r>
            <a:r>
              <a:rPr lang="zh-CN" altLang="en-US" dirty="0"/>
              <a:t>语句是否有错，将使用到我们曾讲过的全局变量</a:t>
            </a:r>
            <a:r>
              <a:rPr lang="en-US" altLang="zh-CN" dirty="0"/>
              <a:t>@@error</a:t>
            </a:r>
            <a:r>
              <a:rPr lang="zh-CN" altLang="en-US" dirty="0"/>
              <a:t>，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它只能判断当前条</a:t>
            </a:r>
            <a:r>
              <a:rPr lang="en-US" altLang="zh-CN" dirty="0"/>
              <a:t>T-SQL</a:t>
            </a:r>
            <a:r>
              <a:rPr lang="zh-CN" altLang="en-US" dirty="0"/>
              <a:t>语句执行是否有错（有错返回非零值 ），而事务包含很多步操作，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所以我们一般需要累计错误，表明整个事务是否有错误发生。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</a:rPr>
            </a:fld>
            <a:endParaRPr lang="en-US" altLang="zh-CN" sz="1200" dirty="0">
              <a:solidFill>
                <a:srgbClr val="000000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讲解要点：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使用事务解决银行转帐问题。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演示例子：“示例</a:t>
            </a:r>
            <a:r>
              <a:rPr lang="en-US" altLang="zh-CN" dirty="0"/>
              <a:t>2</a:t>
            </a:r>
            <a:r>
              <a:rPr lang="zh-CN" altLang="en-US" dirty="0"/>
              <a:t>：如何创建事务</a:t>
            </a:r>
            <a:r>
              <a:rPr lang="en-US" altLang="zh-CN" dirty="0"/>
              <a:t>.sql”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然后再讲解关键语句。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</a:rPr>
            </a:fld>
            <a:endParaRPr lang="en-US" altLang="zh-CN" sz="1200" dirty="0">
              <a:solidFill>
                <a:srgbClr val="000000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告诉学员，查看转帐前后的数据，目的是为了体现事务的回滚特征，即撤销所有的操作。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</a:rPr>
            </a:fld>
            <a:endParaRPr lang="en-US" altLang="zh-CN" sz="1200" dirty="0">
              <a:solidFill>
                <a:srgbClr val="000000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告诉学员：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事务的分类只需了解，实际开发中最常用的就是显示事务，它明确的指定事务的开始边界。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/>
          <p:nvPr/>
        </p:nvSpPr>
        <p:spPr>
          <a:xfrm>
            <a:off x="7315200" y="1066800"/>
            <a:ext cx="0" cy="449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51" name="Group 8"/>
          <p:cNvGrpSpPr/>
          <p:nvPr/>
        </p:nvGrpSpPr>
        <p:grpSpPr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2058" name="Oval 9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59" name="Oval 10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0" name="Oval 11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1" name="Oval 12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2" name="Oval 13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3" name="Oval 14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4" name="Oval 15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5" name="Oval 16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6" name="Oval 17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7" name="Oval 18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8" name="Oval 19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9" name="Oval 20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0" name="Oval 21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1" name="Oval 22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2" name="Oval 23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3" name="Oval 24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4" name="Oval 25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5" name="Oval 26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6" name="Oval 27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7" name="Oval 28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8" name="Oval 29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9" name="Oval 30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0" name="Oval 31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1" name="Oval 32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2" name="Oval 33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3" name="Oval 34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4" name="Oval 35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5" name="Oval 36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6" name="Oval 37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7" name="Oval 38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88" name="Oval 39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052" name="Line 40"/>
          <p:cNvSpPr/>
          <p:nvPr/>
        </p:nvSpPr>
        <p:spPr>
          <a:xfrm>
            <a:off x="304800" y="281940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zh-CN" altLang="en-US" sz="3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Line 2"/>
          <p:cNvSpPr/>
          <p:nvPr/>
        </p:nvSpPr>
        <p:spPr>
          <a:xfrm>
            <a:off x="7962900" y="152400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032" name="Group 8"/>
          <p:cNvGrpSpPr/>
          <p:nvPr/>
        </p:nvGrpSpPr>
        <p:grpSpPr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4" name="Oval 10"/>
            <p:cNvSpPr/>
            <p:nvPr/>
          </p:nvSpPr>
          <p:spPr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5" name="Oval 11"/>
            <p:cNvSpPr/>
            <p:nvPr/>
          </p:nvSpPr>
          <p:spPr>
            <a:xfrm>
              <a:off x="5360" y="960"/>
              <a:ext cx="78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6" name="Oval 12"/>
            <p:cNvSpPr/>
            <p:nvPr/>
          </p:nvSpPr>
          <p:spPr>
            <a:xfrm>
              <a:off x="5136" y="1072"/>
              <a:ext cx="80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7" name="Oval 13"/>
            <p:cNvSpPr/>
            <p:nvPr/>
          </p:nvSpPr>
          <p:spPr>
            <a:xfrm>
              <a:off x="5248" y="1072"/>
              <a:ext cx="79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8" name="Oval 14"/>
            <p:cNvSpPr/>
            <p:nvPr/>
          </p:nvSpPr>
          <p:spPr>
            <a:xfrm>
              <a:off x="5360" y="1072"/>
              <a:ext cx="78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39" name="Oval 15"/>
            <p:cNvSpPr/>
            <p:nvPr/>
          </p:nvSpPr>
          <p:spPr>
            <a:xfrm>
              <a:off x="5472" y="1072"/>
              <a:ext cx="78" cy="7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0" name="Oval 16"/>
            <p:cNvSpPr/>
            <p:nvPr/>
          </p:nvSpPr>
          <p:spPr>
            <a:xfrm>
              <a:off x="5136" y="1184"/>
              <a:ext cx="80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1" name="Oval 17"/>
            <p:cNvSpPr/>
            <p:nvPr/>
          </p:nvSpPr>
          <p:spPr>
            <a:xfrm>
              <a:off x="5248" y="1184"/>
              <a:ext cx="79" cy="7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2" name="Oval 18"/>
            <p:cNvSpPr/>
            <p:nvPr/>
          </p:nvSpPr>
          <p:spPr>
            <a:xfrm>
              <a:off x="5360" y="1184"/>
              <a:ext cx="78" cy="7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3" name="Oval 19"/>
            <p:cNvSpPr/>
            <p:nvPr/>
          </p:nvSpPr>
          <p:spPr>
            <a:xfrm>
              <a:off x="5472" y="1184"/>
              <a:ext cx="78" cy="7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4" name="Oval 20"/>
            <p:cNvSpPr/>
            <p:nvPr/>
          </p:nvSpPr>
          <p:spPr>
            <a:xfrm>
              <a:off x="5584" y="1184"/>
              <a:ext cx="80" cy="7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5" name="Oval 21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6" name="Oval 22"/>
            <p:cNvSpPr/>
            <p:nvPr/>
          </p:nvSpPr>
          <p:spPr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7" name="Oval 23"/>
            <p:cNvSpPr/>
            <p:nvPr/>
          </p:nvSpPr>
          <p:spPr>
            <a:xfrm>
              <a:off x="5360" y="1296"/>
              <a:ext cx="78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8" name="Oval 24"/>
            <p:cNvSpPr/>
            <p:nvPr/>
          </p:nvSpPr>
          <p:spPr>
            <a:xfrm>
              <a:off x="5472" y="1296"/>
              <a:ext cx="78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49" name="Oval 25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0" name="Oval 26"/>
            <p:cNvSpPr/>
            <p:nvPr/>
          </p:nvSpPr>
          <p:spPr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1" name="Oval 27"/>
            <p:cNvSpPr/>
            <p:nvPr/>
          </p:nvSpPr>
          <p:spPr>
            <a:xfrm>
              <a:off x="5360" y="1408"/>
              <a:ext cx="78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2" name="Oval 28"/>
            <p:cNvSpPr/>
            <p:nvPr/>
          </p:nvSpPr>
          <p:spPr>
            <a:xfrm>
              <a:off x="5472" y="1408"/>
              <a:ext cx="78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3" name="Oval 29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4" name="Oval 30"/>
            <p:cNvSpPr/>
            <p:nvPr/>
          </p:nvSpPr>
          <p:spPr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5" name="Oval 31"/>
            <p:cNvSpPr/>
            <p:nvPr/>
          </p:nvSpPr>
          <p:spPr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6" name="Oval 32"/>
            <p:cNvSpPr/>
            <p:nvPr/>
          </p:nvSpPr>
          <p:spPr>
            <a:xfrm>
              <a:off x="5360" y="1520"/>
              <a:ext cx="78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7" name="Oval 33"/>
            <p:cNvSpPr/>
            <p:nvPr/>
          </p:nvSpPr>
          <p:spPr>
            <a:xfrm>
              <a:off x="5472" y="1520"/>
              <a:ext cx="78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8" name="Oval 34"/>
            <p:cNvSpPr/>
            <p:nvPr/>
          </p:nvSpPr>
          <p:spPr>
            <a:xfrm>
              <a:off x="5136" y="1632"/>
              <a:ext cx="80" cy="7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59" name="Oval 35"/>
            <p:cNvSpPr/>
            <p:nvPr/>
          </p:nvSpPr>
          <p:spPr>
            <a:xfrm>
              <a:off x="5248" y="1632"/>
              <a:ext cx="79" cy="7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60" name="Oval 36"/>
            <p:cNvSpPr/>
            <p:nvPr/>
          </p:nvSpPr>
          <p:spPr>
            <a:xfrm>
              <a:off x="5360" y="1632"/>
              <a:ext cx="78" cy="7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61" name="Oval 37"/>
            <p:cNvSpPr/>
            <p:nvPr/>
          </p:nvSpPr>
          <p:spPr>
            <a:xfrm>
              <a:off x="5472" y="1632"/>
              <a:ext cx="78" cy="7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62" name="Oval 38"/>
            <p:cNvSpPr/>
            <p:nvPr/>
          </p:nvSpPr>
          <p:spPr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063" name="Oval 39"/>
            <p:cNvSpPr/>
            <p:nvPr/>
          </p:nvSpPr>
          <p:spPr>
            <a:xfrm>
              <a:off x="5472" y="1744"/>
              <a:ext cx="78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zh-CN" sz="4000" dirty="0">
                <a:latin typeface="+mj-lt"/>
                <a:ea typeface="+mj-ea"/>
                <a:cs typeface="+mj-cs"/>
              </a:rPr>
              <a:t>SQL Server 2012 </a:t>
            </a:r>
            <a:r>
              <a:rPr lang="zh-CN" altLang="en-US" sz="4000" dirty="0">
                <a:latin typeface="+mj-lt"/>
                <a:ea typeface="+mj-ea"/>
                <a:cs typeface="+mj-cs"/>
              </a:rPr>
              <a:t>案例教程</a:t>
            </a:r>
            <a:endParaRPr lang="zh-CN" altLang="en-US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838200" y="3048000"/>
            <a:ext cx="6248400" cy="2362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0000"/>
            </a:pPr>
            <a:r>
              <a:rPr lang="zh-CN" altLang="en-US" dirty="0">
                <a:latin typeface="+mn-lt"/>
                <a:ea typeface="+mn-ea"/>
                <a:cs typeface="+mn-cs"/>
              </a:rPr>
              <a:t>第</a:t>
            </a:r>
            <a:r>
              <a:rPr lang="en-US" altLang="zh-CN" dirty="0">
                <a:latin typeface="+mn-lt"/>
                <a:ea typeface="+mn-ea"/>
                <a:cs typeface="+mn-cs"/>
              </a:rPr>
              <a:t>10</a:t>
            </a:r>
            <a:r>
              <a:rPr lang="zh-CN" altLang="en-US" dirty="0">
                <a:latin typeface="+mn-lt"/>
                <a:ea typeface="+mn-ea"/>
                <a:cs typeface="+mn-cs"/>
              </a:rPr>
              <a:t>章 事务和存储过程 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zh-CN" altLang="en-US" dirty="0"/>
              <a:t>本章要点 </a:t>
            </a:r>
            <a:endParaRPr lang="zh-CN" altLang="en-US" dirty="0"/>
          </a:p>
        </p:txBody>
      </p:sp>
      <p:sp>
        <p:nvSpPr>
          <p:cNvPr id="10244" name="AutoShape 4"/>
          <p:cNvSpPr/>
          <p:nvPr/>
        </p:nvSpPr>
        <p:spPr>
          <a:xfrm>
            <a:off x="2649538" y="2057400"/>
            <a:ext cx="3598862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事务的概念、属性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5" name="AutoShape 5"/>
          <p:cNvSpPr/>
          <p:nvPr/>
        </p:nvSpPr>
        <p:spPr>
          <a:xfrm>
            <a:off x="2649538" y="2819400"/>
            <a:ext cx="3598862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事务管理的常用语句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6" name="AutoShape 6"/>
          <p:cNvSpPr/>
          <p:nvPr/>
        </p:nvSpPr>
        <p:spPr>
          <a:xfrm>
            <a:off x="2649538" y="3581400"/>
            <a:ext cx="3598862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存储过程的概念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7" name="AutoShape 7"/>
          <p:cNvSpPr/>
          <p:nvPr/>
        </p:nvSpPr>
        <p:spPr>
          <a:xfrm>
            <a:off x="2644775" y="4343400"/>
            <a:ext cx="3598863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系统存储过程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52" name="AutoShape 12"/>
          <p:cNvSpPr/>
          <p:nvPr/>
        </p:nvSpPr>
        <p:spPr>
          <a:xfrm>
            <a:off x="2649538" y="5105400"/>
            <a:ext cx="3598862" cy="719138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用户自定义存储过程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/>
      <p:bldP spid="10245" grpId="0" animBg="1"/>
      <p:bldP spid="10246" grpId="0" animBg="1"/>
      <p:bldP spid="10247" grpId="0" animBg="1"/>
      <p:bldP spid="1025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10.1</a:t>
            </a:r>
            <a:r>
              <a:rPr lang="zh-CN" altLang="en-US" dirty="0"/>
              <a:t>事务 </a:t>
            </a:r>
            <a:endParaRPr lang="zh-CN" altLang="en-US" dirty="0"/>
          </a:p>
        </p:txBody>
      </p:sp>
      <p:sp>
        <p:nvSpPr>
          <p:cNvPr id="51226" name="Text Box 26"/>
          <p:cNvSpPr txBox="1"/>
          <p:nvPr/>
        </p:nvSpPr>
        <p:spPr>
          <a:xfrm>
            <a:off x="762000" y="1676400"/>
            <a:ext cx="7620000" cy="1054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事务（</a:t>
            </a:r>
            <a:r>
              <a:rPr lang="en-US" altLang="zh-CN" dirty="0">
                <a:latin typeface="Arial" panose="020B0604020202020204" pitchFamily="34" charset="0"/>
              </a:rPr>
              <a:t>Transaction</a:t>
            </a:r>
            <a:r>
              <a:rPr lang="zh-CN" altLang="en-US" dirty="0">
                <a:latin typeface="Arial" panose="020B0604020202020204" pitchFamily="34" charset="0"/>
              </a:rPr>
              <a:t>）是指作为单个逻辑工作单元执行的一系列操作，要么完全执行，要么完全不执行。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事务管理可以保证数据的完整性。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30" name="Rectangle 30"/>
          <p:cNvSpPr/>
          <p:nvPr/>
        </p:nvSpPr>
        <p:spPr>
          <a:xfrm>
            <a:off x="685800" y="2971800"/>
            <a:ext cx="2554288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10.1.1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为什么需要事务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31" name="Text Box 31"/>
          <p:cNvSpPr txBox="1"/>
          <p:nvPr/>
        </p:nvSpPr>
        <p:spPr>
          <a:xfrm>
            <a:off x="762000" y="3505200"/>
            <a:ext cx="7772400" cy="1474788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</a:rPr>
              <a:t>以银行转账业务为例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假设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通过银行账户向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转账</a:t>
            </a:r>
            <a:r>
              <a:rPr lang="en-US" altLang="zh-CN" dirty="0">
                <a:latin typeface="Arial" panose="020B0604020202020204" pitchFamily="34" charset="0"/>
              </a:rPr>
              <a:t>1000</a:t>
            </a:r>
            <a:r>
              <a:rPr lang="zh-CN" altLang="en-US" dirty="0">
                <a:latin typeface="Arial" panose="020B0604020202020204" pitchFamily="34" charset="0"/>
              </a:rPr>
              <a:t>元，则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的账户余额减少</a:t>
            </a:r>
            <a:r>
              <a:rPr lang="en-US" altLang="zh-CN" dirty="0">
                <a:latin typeface="Arial" panose="020B0604020202020204" pitchFamily="34" charset="0"/>
              </a:rPr>
              <a:t>1000</a:t>
            </a:r>
            <a:r>
              <a:rPr lang="zh-CN" altLang="en-US" dirty="0">
                <a:latin typeface="Arial" panose="020B0604020202020204" pitchFamily="34" charset="0"/>
              </a:rPr>
              <a:t>元，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的账户余额增加</a:t>
            </a:r>
            <a:r>
              <a:rPr lang="en-US" altLang="zh-CN" dirty="0">
                <a:latin typeface="Arial" panose="020B0604020202020204" pitchFamily="34" charset="0"/>
              </a:rPr>
              <a:t>1000</a:t>
            </a:r>
            <a:r>
              <a:rPr lang="zh-CN" altLang="en-US" dirty="0">
                <a:latin typeface="Arial" panose="020B0604020202020204" pitchFamily="34" charset="0"/>
              </a:rPr>
              <a:t>元，这两个操作要么同时执行，要么同时不执行。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33CC"/>
                </a:solidFill>
                <a:latin typeface="Arial" panose="020B0604020202020204" pitchFamily="34" charset="0"/>
              </a:rPr>
              <a:t>不能是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A</a:t>
            </a:r>
            <a:r>
              <a:rPr lang="zh-CN" altLang="en-US" dirty="0">
                <a:solidFill>
                  <a:srgbClr val="0033CC"/>
                </a:solidFill>
                <a:latin typeface="Arial" panose="020B0604020202020204" pitchFamily="34" charset="0"/>
              </a:rPr>
              <a:t>账户减少了而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B</a:t>
            </a:r>
            <a:r>
              <a:rPr lang="zh-CN" altLang="en-US" dirty="0">
                <a:solidFill>
                  <a:srgbClr val="0033CC"/>
                </a:solidFill>
                <a:latin typeface="Arial" panose="020B0604020202020204" pitchFamily="34" charset="0"/>
              </a:rPr>
              <a:t>账户没有增加，</a:t>
            </a:r>
            <a:endParaRPr lang="zh-CN" altLang="en-US" dirty="0">
              <a:solidFill>
                <a:srgbClr val="0033CC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33CC"/>
                </a:solidFill>
                <a:latin typeface="Arial" panose="020B0604020202020204" pitchFamily="34" charset="0"/>
              </a:rPr>
              <a:t>也不能是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A</a:t>
            </a:r>
            <a:r>
              <a:rPr lang="zh-CN" altLang="en-US" dirty="0">
                <a:solidFill>
                  <a:srgbClr val="0033CC"/>
                </a:solidFill>
                <a:latin typeface="Arial" panose="020B0604020202020204" pitchFamily="34" charset="0"/>
              </a:rPr>
              <a:t>账户没有减少而</a:t>
            </a:r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B</a:t>
            </a:r>
            <a:r>
              <a:rPr lang="zh-CN" altLang="en-US" dirty="0">
                <a:solidFill>
                  <a:srgbClr val="0033CC"/>
                </a:solidFill>
                <a:latin typeface="Arial" panose="020B0604020202020204" pitchFamily="34" charset="0"/>
              </a:rPr>
              <a:t>账户增加了。</a:t>
            </a:r>
            <a:endParaRPr lang="zh-CN" altLang="en-US" dirty="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  <p:sp>
        <p:nvSpPr>
          <p:cNvPr id="51232" name="Line 32"/>
          <p:cNvSpPr/>
          <p:nvPr/>
        </p:nvSpPr>
        <p:spPr>
          <a:xfrm>
            <a:off x="685800" y="2819400"/>
            <a:ext cx="76200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33" name="Text Box 33"/>
          <p:cNvSpPr txBox="1"/>
          <p:nvPr/>
        </p:nvSpPr>
        <p:spPr>
          <a:xfrm>
            <a:off x="762000" y="5181600"/>
            <a:ext cx="6248400" cy="120015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</a:rPr>
              <a:t>模拟转账过程（使用</a:t>
            </a:r>
            <a:r>
              <a:rPr lang="en-US" altLang="zh-CN" dirty="0">
                <a:solidFill>
                  <a:srgbClr val="CC3300"/>
                </a:solidFill>
                <a:latin typeface="Arial" panose="020B0604020202020204" pitchFamily="34" charset="0"/>
              </a:rPr>
              <a:t>T-SQL</a:t>
            </a:r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</a:rPr>
              <a:t>语句完成）</a:t>
            </a:r>
            <a:endParaRPr lang="zh-CN" altLang="en-US" dirty="0">
              <a:solidFill>
                <a:srgbClr val="CC3300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创建一张表</a:t>
            </a:r>
            <a:r>
              <a:rPr lang="en-US" altLang="zh-CN" dirty="0">
                <a:latin typeface="Arial" panose="020B0604020202020204" pitchFamily="34" charset="0"/>
              </a:rPr>
              <a:t>Bank</a:t>
            </a:r>
            <a:r>
              <a:rPr lang="zh-CN" altLang="en-US" dirty="0">
                <a:latin typeface="Arial" panose="020B0604020202020204" pitchFamily="34" charset="0"/>
              </a:rPr>
              <a:t>，表中有两个字段，帐户名和账户余额。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要求账户的余额不能少于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元。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向表中添加两条测试数据。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6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charRg st="5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26">
                                            <p:txEl>
                                              <p:charRg st="52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0" grpId="0"/>
      <p:bldP spid="51231" grpId="0" animBg="1"/>
      <p:bldP spid="512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为什么需要事务</a:t>
            </a:r>
            <a:endParaRPr lang="en-US" altLang="zh-CN" dirty="0"/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例如，银行转账问题：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    假定资金从账户</a:t>
            </a:r>
            <a:r>
              <a:rPr lang="en-US" altLang="zh-CN" dirty="0"/>
              <a:t>A</a:t>
            </a:r>
            <a:r>
              <a:rPr lang="zh-CN" altLang="en-US" dirty="0"/>
              <a:t>转到账户</a:t>
            </a:r>
            <a:r>
              <a:rPr lang="en-US" altLang="zh-CN" dirty="0"/>
              <a:t>B</a:t>
            </a:r>
            <a:r>
              <a:rPr lang="zh-CN" altLang="en-US" dirty="0"/>
              <a:t>，至少需要两步：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账户</a:t>
            </a:r>
            <a:r>
              <a:rPr lang="en-US" altLang="zh-CN" dirty="0"/>
              <a:t>A</a:t>
            </a:r>
            <a:r>
              <a:rPr lang="zh-CN" altLang="en-US" dirty="0"/>
              <a:t>的资金减少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然后账户</a:t>
            </a:r>
            <a:r>
              <a:rPr lang="en-US" altLang="zh-CN" dirty="0"/>
              <a:t>B</a:t>
            </a:r>
            <a:r>
              <a:rPr lang="zh-CN" altLang="en-US" dirty="0"/>
              <a:t>的资金相应增加</a:t>
            </a:r>
            <a:endParaRPr lang="zh-CN" altLang="en-US" dirty="0"/>
          </a:p>
        </p:txBody>
      </p:sp>
      <p:pic>
        <p:nvPicPr>
          <p:cNvPr id="6148" name="Picture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0" y="5084763"/>
            <a:ext cx="1439863" cy="781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Picture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0" y="3716338"/>
            <a:ext cx="754063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Picture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8" y="4365625"/>
            <a:ext cx="2016125" cy="10366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151" name="AutoShape 82"/>
          <p:cNvSpPr/>
          <p:nvPr/>
        </p:nvSpPr>
        <p:spPr>
          <a:xfrm>
            <a:off x="3421063" y="4365625"/>
            <a:ext cx="2519362" cy="935038"/>
          </a:xfrm>
          <a:custGeom>
            <a:avLst/>
            <a:gdLst>
              <a:gd name="txL" fmla="*/ 3375 w 21600"/>
              <a:gd name="txT" fmla="*/ 5400 h 21600"/>
              <a:gd name="txR" fmla="*/ 18900 w 21600"/>
              <a:gd name="txB" fmla="*/ 16200 h 21600"/>
            </a:gdLst>
            <a:ahLst/>
            <a:cxnLst>
              <a:cxn ang="17694720">
                <a:pos x="2147483647" y="0"/>
              </a:cxn>
              <a:cxn ang="11796480">
                <a:pos x="0" y="2147483647"/>
              </a:cxn>
              <a:cxn ang="589824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rgbClr val="808080"/>
            </a:outerShdw>
          </a:effectLst>
        </p:spPr>
        <p:txBody>
          <a:bodyPr wrap="none" anchor="ctr" anchorCtr="0"/>
          <a:p>
            <a:pPr algn="ctr"/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银行转账 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6152" name="Picture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4365625"/>
            <a:ext cx="2016125" cy="10366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153" name="Text Box 85"/>
          <p:cNvSpPr txBox="1"/>
          <p:nvPr/>
        </p:nvSpPr>
        <p:spPr>
          <a:xfrm>
            <a:off x="1547813" y="5373688"/>
            <a:ext cx="18732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账户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154" name="Text Box 86"/>
          <p:cNvSpPr txBox="1"/>
          <p:nvPr/>
        </p:nvSpPr>
        <p:spPr>
          <a:xfrm>
            <a:off x="6877050" y="5373688"/>
            <a:ext cx="18732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账户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642937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假定张三的账户直接转账</a:t>
            </a:r>
            <a:r>
              <a:rPr lang="en-US" altLang="zh-CN" dirty="0"/>
              <a:t>1000</a:t>
            </a:r>
            <a:r>
              <a:rPr lang="zh-CN" altLang="en-US" dirty="0"/>
              <a:t>元到李四的账户</a:t>
            </a:r>
            <a:endParaRPr lang="zh-CN" altLang="en-US" dirty="0"/>
          </a:p>
        </p:txBody>
      </p:sp>
      <p:sp>
        <p:nvSpPr>
          <p:cNvPr id="316419" name="AutoShape 3"/>
          <p:cNvSpPr/>
          <p:nvPr/>
        </p:nvSpPr>
        <p:spPr>
          <a:xfrm>
            <a:off x="381000" y="2362200"/>
            <a:ext cx="8582025" cy="4370388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>
                  <a:alpha val="89998"/>
                </a:srgbClr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  <p:txBody>
          <a:bodyPr>
            <a:spAutoFit/>
          </a:bodyPr>
          <a:p>
            <a:pPr marL="228600" indent="-228600"/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CREATE TABLE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bank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customerName CHAR(10),  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顾客姓名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currentMoney MONEY     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当前余额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GO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ALTER TABLE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bank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ADD CONSTRAINT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CK_currentMoney   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   CHECK(currentMoney&gt;=1)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GO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INSERT INTO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bank(customerName,currentMoney)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    VALUES('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张三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',1000)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INSERT INTO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bank(customerName,currentMoney)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    VALUES('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李四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',1)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6422" name="AutoShape 6"/>
          <p:cNvSpPr/>
          <p:nvPr/>
        </p:nvSpPr>
        <p:spPr>
          <a:xfrm>
            <a:off x="3241675" y="2438400"/>
            <a:ext cx="400685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创建账户表，存放用户的账户信息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6423" name="AutoShape 7"/>
          <p:cNvSpPr/>
          <p:nvPr/>
        </p:nvSpPr>
        <p:spPr>
          <a:xfrm>
            <a:off x="4392613" y="3614738"/>
            <a:ext cx="3860800" cy="7096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添加约束：根据银行规定，账户余额不能少于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元，否则视为销户 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6424" name="AutoShape 8"/>
          <p:cNvSpPr/>
          <p:nvPr/>
        </p:nvSpPr>
        <p:spPr>
          <a:xfrm>
            <a:off x="2286000" y="5054600"/>
            <a:ext cx="6300788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张三开户，开户金额为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 ；李四开户，开户金额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 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标题 10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animBg="1"/>
      <p:bldP spid="316422" grpId="0" animBg="1"/>
      <p:bldP spid="316423" grpId="0" animBg="1"/>
      <p:bldP spid="3164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3"/>
          <p:cNvSpPr>
            <a:spLocks noGrp="1"/>
          </p:cNvSpPr>
          <p:nvPr>
            <p:ph idx="1"/>
          </p:nvPr>
        </p:nvSpPr>
        <p:spPr>
          <a:xfrm>
            <a:off x="611188" y="4076700"/>
            <a:ext cx="8229600" cy="1368425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目前两个账户的余额总和为：</a:t>
            </a:r>
            <a:r>
              <a:rPr lang="en-US" altLang="zh-CN" dirty="0"/>
              <a:t>1000+1=</a:t>
            </a:r>
            <a:r>
              <a:rPr lang="en-US" altLang="zh-CN" dirty="0">
                <a:solidFill>
                  <a:srgbClr val="FF0000"/>
                </a:solidFill>
              </a:rPr>
              <a:t>1001</a:t>
            </a:r>
            <a:r>
              <a:rPr lang="zh-CN" altLang="en-US" dirty="0"/>
              <a:t>元</a:t>
            </a:r>
            <a:endParaRPr lang="zh-CN" altLang="en-US" dirty="0"/>
          </a:p>
        </p:txBody>
      </p:sp>
      <p:pic>
        <p:nvPicPr>
          <p:cNvPr id="8195" name="Picture 8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971550" y="1484313"/>
            <a:ext cx="6335713" cy="216693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8196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5"/>
          <p:cNvSpPr>
            <a:spLocks noGrp="1"/>
          </p:cNvSpPr>
          <p:nvPr>
            <p:ph type="body" idx="4294967295"/>
          </p:nvPr>
        </p:nvSpPr>
        <p:spPr>
          <a:xfrm>
            <a:off x="539750" y="1052513"/>
            <a:ext cx="9217025" cy="8905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dirty="0"/>
              <a:t>模拟实现转账 ：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  <a:r>
              <a:rPr lang="zh-CN" altLang="en-US" sz="2400" dirty="0"/>
              <a:t>从张三的账户转账</a:t>
            </a:r>
            <a:r>
              <a:rPr lang="en-US" altLang="zh-CN" sz="2400" dirty="0"/>
              <a:t>1000</a:t>
            </a:r>
            <a:r>
              <a:rPr lang="zh-CN" altLang="en-US" sz="2400" dirty="0"/>
              <a:t>元到李四的账户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dirty="0">
              <a:latin typeface="黑体" panose="02010609060101010101" pitchFamily="2" charset="-122"/>
            </a:endParaRPr>
          </a:p>
        </p:txBody>
      </p:sp>
      <p:sp>
        <p:nvSpPr>
          <p:cNvPr id="318470" name="AutoShape 6"/>
          <p:cNvSpPr/>
          <p:nvPr/>
        </p:nvSpPr>
        <p:spPr>
          <a:xfrm>
            <a:off x="269875" y="1939925"/>
            <a:ext cx="8669338" cy="3244850"/>
          </a:xfrm>
          <a:prstGeom prst="roundRect">
            <a:avLst>
              <a:gd name="adj" fmla="val 6157"/>
            </a:avLst>
          </a:prstGeom>
          <a:gradFill rotWithShape="1">
            <a:gsLst>
              <a:gs pos="0">
                <a:srgbClr val="CCFFFF">
                  <a:alpha val="90999"/>
                </a:srgbClr>
              </a:gs>
              <a:gs pos="100000">
                <a:srgbClr val="FFFFFF"/>
              </a:gs>
            </a:gsLst>
            <a:lin ang="5400000" scaled="1"/>
            <a:tileRect/>
          </a:gradFill>
          <a:ln w="1905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  <p:txBody>
          <a:bodyPr>
            <a:spAutoFit/>
          </a:bodyPr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/*--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转账测试：张三转账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元给李四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--*/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我们可能会这样这样编写语句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张三的账户少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元，李四的账户多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UPDATE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bank SET currentMoney=currentMoney-1000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 WHERE customerName='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张三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UPDATE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bank SET currentMoney=currentMoney+1000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 WHERE customerName='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李四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GO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再次查看转账后的结果。 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SELECT * FROM bank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GO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18477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3284538"/>
            <a:ext cx="8281987" cy="30241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18472" name="AutoShape 8"/>
          <p:cNvSpPr/>
          <p:nvPr/>
        </p:nvSpPr>
        <p:spPr>
          <a:xfrm>
            <a:off x="4787900" y="2060575"/>
            <a:ext cx="3995738" cy="101441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请问：</a:t>
            </a:r>
            <a:b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执行转账语句后，张三、李四的账户余额为多少？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8474" name="Rectangle 10"/>
          <p:cNvSpPr/>
          <p:nvPr/>
        </p:nvSpPr>
        <p:spPr>
          <a:xfrm>
            <a:off x="2411413" y="5734050"/>
            <a:ext cx="1079500" cy="57467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8475" name="AutoShape 11"/>
          <p:cNvSpPr/>
          <p:nvPr/>
        </p:nvSpPr>
        <p:spPr>
          <a:xfrm>
            <a:off x="4872038" y="4592638"/>
            <a:ext cx="4008437" cy="1319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>
            <a:spAutoFit/>
          </a:bodyPr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张三的账户没有减少 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但李四的账户却多了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 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＋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1001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＝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2001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</a:t>
            </a:r>
            <a:b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   总额多出了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元！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18476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2060575"/>
            <a:ext cx="3959225" cy="10287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0" grpId="0" animBg="1"/>
      <p:bldP spid="318470" grpId="1" animBg="1"/>
      <p:bldP spid="318472" grpId="0" animBg="1"/>
      <p:bldP spid="318474" grpId="0" animBg="1"/>
      <p:bldP spid="31847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2" name="Picture 17" descr="5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1581150"/>
            <a:ext cx="7993062" cy="20891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21539" name="AutoShape 3"/>
          <p:cNvSpPr/>
          <p:nvPr/>
        </p:nvSpPr>
        <p:spPr>
          <a:xfrm>
            <a:off x="709613" y="3738563"/>
            <a:ext cx="8107362" cy="2944812"/>
          </a:xfrm>
          <a:prstGeom prst="roundRect">
            <a:avLst>
              <a:gd name="adj" fmla="val 5815"/>
            </a:avLst>
          </a:prstGeom>
          <a:gradFill rotWithShape="1">
            <a:gsLst>
              <a:gs pos="0">
                <a:srgbClr val="CCFFFF">
                  <a:alpha val="70000"/>
                </a:srgbClr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  <p:txBody>
          <a:bodyPr>
            <a:spAutoFit/>
          </a:bodyPr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张三的账户减少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元，李四的账户增加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endParaRPr lang="en-US" altLang="zh-CN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UPDATE bank </a:t>
            </a:r>
            <a:endParaRPr lang="en-US" altLang="zh-CN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   SET currentMoney=currentMoney-1000 </a:t>
            </a:r>
            <a:endParaRPr lang="en-US" altLang="zh-CN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     WHERE customerName='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张三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'</a:t>
            </a:r>
            <a:endParaRPr lang="en-US" altLang="zh-CN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228600" indent="-228600"/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UPDATE bank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SET currentMoney=currentMoney+1000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 WHERE customerName='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李四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GO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Rectangle 4"/>
          <p:cNvSpPr>
            <a:spLocks noGrp="1"/>
          </p:cNvSpPr>
          <p:nvPr>
            <p:ph type="body" idx="4294967295"/>
          </p:nvPr>
        </p:nvSpPr>
        <p:spPr>
          <a:xfrm>
            <a:off x="684213" y="1052513"/>
            <a:ext cx="7920037" cy="431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错误原因分析：</a:t>
            </a:r>
            <a:endParaRPr lang="zh-CN" altLang="en-US" dirty="0"/>
          </a:p>
        </p:txBody>
      </p:sp>
      <p:sp>
        <p:nvSpPr>
          <p:cNvPr id="321545" name="Rectangle 9"/>
          <p:cNvSpPr/>
          <p:nvPr/>
        </p:nvSpPr>
        <p:spPr>
          <a:xfrm>
            <a:off x="827088" y="1581150"/>
            <a:ext cx="7993062" cy="1008063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1541" name="AutoShape 5"/>
          <p:cNvSpPr/>
          <p:nvPr/>
        </p:nvSpPr>
        <p:spPr>
          <a:xfrm>
            <a:off x="4829175" y="2343150"/>
            <a:ext cx="3948113" cy="70961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t" anchorCtr="1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UPDATE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语句违反约束：</a:t>
            </a:r>
            <a:b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余额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&gt;=1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1546" name="Line 10"/>
          <p:cNvSpPr/>
          <p:nvPr/>
        </p:nvSpPr>
        <p:spPr>
          <a:xfrm flipH="1">
            <a:off x="2057400" y="2805113"/>
            <a:ext cx="2801938" cy="1614487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1547" name="AutoShape 11"/>
          <p:cNvSpPr/>
          <p:nvPr/>
        </p:nvSpPr>
        <p:spPr>
          <a:xfrm>
            <a:off x="3810000" y="4165600"/>
            <a:ext cx="4638675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t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执行失败，所以张三还是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1548" name="AutoShape 12"/>
          <p:cNvSpPr/>
          <p:nvPr/>
        </p:nvSpPr>
        <p:spPr>
          <a:xfrm>
            <a:off x="2743200" y="6324600"/>
            <a:ext cx="5724525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7184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继续往下执行：执行成功，所以李四变为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1001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1551" name="AutoShape 15"/>
          <p:cNvSpPr/>
          <p:nvPr/>
        </p:nvSpPr>
        <p:spPr>
          <a:xfrm>
            <a:off x="4191000" y="5283200"/>
            <a:ext cx="4248150" cy="431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7184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如何解决呢？使用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事务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1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animBg="1"/>
      <p:bldP spid="321545" grpId="0" animBg="1"/>
      <p:bldP spid="321541" grpId="0" animBg="1"/>
      <p:bldP spid="321547" grpId="0" animBg="1"/>
      <p:bldP spid="321548" grpId="0" animBg="1"/>
      <p:bldP spid="3215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10.1.2</a:t>
            </a:r>
            <a:r>
              <a:rPr lang="zh-CN" altLang="en-US" dirty="0"/>
              <a:t>事务属性 </a:t>
            </a:r>
            <a:endParaRPr lang="zh-CN" altLang="en-US" dirty="0"/>
          </a:p>
        </p:txBody>
      </p:sp>
      <p:sp>
        <p:nvSpPr>
          <p:cNvPr id="179204" name="Rectangle 4"/>
          <p:cNvSpPr/>
          <p:nvPr/>
        </p:nvSpPr>
        <p:spPr>
          <a:xfrm>
            <a:off x="685800" y="2362200"/>
            <a:ext cx="2519363" cy="366713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 anchor="ctr" anchorCtr="0"/>
          <a:p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原子性（</a:t>
            </a:r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</a:rPr>
              <a:t>Atomicity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9205" name="Rectangle 5"/>
          <p:cNvSpPr/>
          <p:nvPr/>
        </p:nvSpPr>
        <p:spPr>
          <a:xfrm>
            <a:off x="685800" y="3290888"/>
            <a:ext cx="2519363" cy="36671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一致性（</a:t>
            </a:r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</a:rPr>
              <a:t>Consistency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9206" name="Rectangle 6"/>
          <p:cNvSpPr/>
          <p:nvPr/>
        </p:nvSpPr>
        <p:spPr>
          <a:xfrm>
            <a:off x="685800" y="4191000"/>
            <a:ext cx="2519363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ctr" anchorCtr="0"/>
          <a:p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隔离性（</a:t>
            </a:r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</a:rPr>
              <a:t>Isolation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9207" name="Rectangle 7"/>
          <p:cNvSpPr/>
          <p:nvPr/>
        </p:nvSpPr>
        <p:spPr>
          <a:xfrm>
            <a:off x="685800" y="5181600"/>
            <a:ext cx="2519363" cy="36671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anchor="ctr" anchorCtr="0"/>
          <a:p>
            <a:r>
              <a:rPr lang="zh-CN" altLang="en-US" b="1" dirty="0">
                <a:solidFill>
                  <a:schemeClr val="bg2"/>
                </a:solidFill>
                <a:latin typeface="Arial" panose="020B0604020202020204" pitchFamily="34" charset="0"/>
              </a:rPr>
              <a:t>持久性</a:t>
            </a:r>
            <a:r>
              <a:rPr lang="zh-CN" altLang="en-US" dirty="0">
                <a:solidFill>
                  <a:schemeClr val="bg2"/>
                </a:solidFill>
                <a:latin typeface="Arial" panose="020B0604020202020204" pitchFamily="34" charset="0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Arial" panose="020B0604020202020204" pitchFamily="34" charset="0"/>
              </a:rPr>
              <a:t>Durability</a:t>
            </a:r>
            <a:r>
              <a:rPr lang="zh-CN" altLang="en-US" dirty="0">
                <a:solidFill>
                  <a:schemeClr val="bg2"/>
                </a:solidFill>
                <a:latin typeface="Arial" panose="020B0604020202020204" pitchFamily="34" charset="0"/>
              </a:rPr>
              <a:t>）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9208" name="Rectangle 8"/>
          <p:cNvSpPr/>
          <p:nvPr/>
        </p:nvSpPr>
        <p:spPr>
          <a:xfrm>
            <a:off x="3276600" y="2362200"/>
            <a:ext cx="32956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Arial" panose="020B0604020202020204" pitchFamily="34" charset="0"/>
              </a:rPr>
              <a:t>要么全都执行，要么全都不执行。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9209" name="Rectangle 9"/>
          <p:cNvSpPr/>
          <p:nvPr/>
        </p:nvSpPr>
        <p:spPr>
          <a:xfrm>
            <a:off x="3276600" y="3321050"/>
            <a:ext cx="495935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事务在完成时，必须使所有的数据都保持一致状态。 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  <p:sp>
        <p:nvSpPr>
          <p:cNvPr id="179210" name="Rectangle 10"/>
          <p:cNvSpPr/>
          <p:nvPr/>
        </p:nvSpPr>
        <p:spPr>
          <a:xfrm>
            <a:off x="3276600" y="4191000"/>
            <a:ext cx="3130550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并发事务所作的修改相互隔离。 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  <p:sp>
        <p:nvSpPr>
          <p:cNvPr id="179211" name="Rectangle 11"/>
          <p:cNvSpPr/>
          <p:nvPr/>
        </p:nvSpPr>
        <p:spPr>
          <a:xfrm>
            <a:off x="3257550" y="5119688"/>
            <a:ext cx="51244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Arial" panose="020B0604020202020204" pitchFamily="34" charset="0"/>
              </a:rPr>
              <a:t>事务一旦提交，对数据库的更新不再受后续操作影响。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4" grpId="0" animBg="1"/>
      <p:bldP spid="179205" grpId="0" animBg="1"/>
      <p:bldP spid="179206" grpId="0" animBg="1"/>
      <p:bldP spid="179207" grpId="0" animBg="1"/>
      <p:bldP spid="179208" grpId="0"/>
      <p:bldP spid="179209" grpId="0"/>
      <p:bldP spid="179210" grpId="0"/>
      <p:bldP spid="1792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10.1.3</a:t>
            </a:r>
            <a:r>
              <a:rPr lang="zh-CN" altLang="en-US" dirty="0"/>
              <a:t>事务管理的常用语句 </a:t>
            </a:r>
            <a:endParaRPr lang="zh-CN" altLang="en-US" dirty="0"/>
          </a:p>
        </p:txBody>
      </p:sp>
      <p:sp>
        <p:nvSpPr>
          <p:cNvPr id="180228" name="Rectangle 4"/>
          <p:cNvSpPr/>
          <p:nvPr/>
        </p:nvSpPr>
        <p:spPr>
          <a:xfrm>
            <a:off x="1249363" y="2819400"/>
            <a:ext cx="6523037" cy="191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defTabSz="914400"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400" dirty="0">
                <a:solidFill>
                  <a:srgbClr val="CC3300"/>
                </a:solidFill>
                <a:latin typeface="宋体" panose="02010600030101010101" pitchFamily="2" charset="-122"/>
              </a:rPr>
              <a:t>BEGIN TRANSACTION</a:t>
            </a:r>
            <a:r>
              <a:rPr lang="zh-CN" altLang="en-US" sz="2400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</a:rPr>
              <a:t>开始事务。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>
              <a:buFont typeface="Wingdings" panose="05000000000000000000" pitchFamily="2" charset="2"/>
              <a:tabLst>
                <a:tab pos="266700" algn="l"/>
              </a:tabLst>
            </a:pP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400" dirty="0">
                <a:solidFill>
                  <a:srgbClr val="CC3300"/>
                </a:solidFill>
                <a:latin typeface="宋体" panose="02010600030101010101" pitchFamily="2" charset="-122"/>
              </a:rPr>
              <a:t>COMMIT TRANSACTION</a:t>
            </a:r>
            <a:r>
              <a:rPr lang="zh-CN" altLang="en-US" sz="2400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</a:rPr>
              <a:t>提交事务。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>
              <a:buFont typeface="Wingdings" panose="05000000000000000000" pitchFamily="2" charset="2"/>
              <a:tabLst>
                <a:tab pos="266700" algn="l"/>
              </a:tabLst>
            </a:pP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400" dirty="0">
                <a:solidFill>
                  <a:srgbClr val="CC3300"/>
                </a:solidFill>
                <a:latin typeface="宋体" panose="02010600030101010101" pitchFamily="2" charset="-122"/>
              </a:rPr>
              <a:t>ROLLBACK TRANSACTION</a:t>
            </a:r>
            <a:r>
              <a:rPr lang="zh-CN" altLang="en-US" sz="2400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</a:rPr>
              <a:t>回滚（撤销）事务。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10.1.4</a:t>
            </a:r>
            <a:r>
              <a:rPr lang="zh-CN" altLang="en-US" dirty="0"/>
              <a:t>事务的应用案例 </a:t>
            </a:r>
            <a:endParaRPr lang="zh-CN" altLang="en-US" dirty="0"/>
          </a:p>
        </p:txBody>
      </p:sp>
      <p:sp>
        <p:nvSpPr>
          <p:cNvPr id="181252" name="Rectangle 4"/>
          <p:cNvSpPr/>
          <p:nvPr/>
        </p:nvSpPr>
        <p:spPr>
          <a:xfrm>
            <a:off x="1371600" y="2590800"/>
            <a:ext cx="6019800" cy="3698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宋体" panose="02010600030101010101" pitchFamily="2" charset="-122"/>
              </a:rPr>
              <a:t>任务：使用事务模拟转账过程，张三转账</a:t>
            </a:r>
            <a:r>
              <a:rPr lang="en-US" altLang="zh-CN" dirty="0">
                <a:latin typeface="宋体" panose="02010600030101010101" pitchFamily="2" charset="-122"/>
              </a:rPr>
              <a:t>1000</a:t>
            </a:r>
            <a:r>
              <a:rPr lang="zh-CN" altLang="en-US" dirty="0">
                <a:latin typeface="宋体" panose="02010600030101010101" pitchFamily="2" charset="-122"/>
              </a:rPr>
              <a:t>元给李四。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1253" name="Rectangle 5"/>
          <p:cNvSpPr/>
          <p:nvPr/>
        </p:nvSpPr>
        <p:spPr>
          <a:xfrm>
            <a:off x="1371600" y="3886200"/>
            <a:ext cx="6135688" cy="3698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宋体" panose="02010600030101010101" pitchFamily="2" charset="-122"/>
              </a:rPr>
              <a:t>练习：将转账余额由</a:t>
            </a:r>
            <a:r>
              <a:rPr lang="en-US" altLang="zh-CN" dirty="0">
                <a:latin typeface="宋体" panose="02010600030101010101" pitchFamily="2" charset="-122"/>
              </a:rPr>
              <a:t>1000</a:t>
            </a:r>
            <a:r>
              <a:rPr lang="zh-CN" altLang="en-US" dirty="0">
                <a:latin typeface="宋体" panose="02010600030101010101" pitchFamily="2" charset="-122"/>
              </a:rPr>
              <a:t>元改为</a:t>
            </a:r>
            <a:r>
              <a:rPr lang="en-US" altLang="zh-CN" dirty="0">
                <a:latin typeface="宋体" panose="02010600030101010101" pitchFamily="2" charset="-122"/>
              </a:rPr>
              <a:t>800</a:t>
            </a:r>
            <a:r>
              <a:rPr lang="zh-CN" altLang="en-US" dirty="0">
                <a:latin typeface="宋体" panose="02010600030101010101" pitchFamily="2" charset="-122"/>
              </a:rPr>
              <a:t>元，看能否转账成功。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animBg="1"/>
      <p:bldP spid="18125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122238"/>
            <a:ext cx="7543800" cy="10969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如何创建事务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/>
          </p:cNvSpPr>
          <p:nvPr>
            <p:ph type="body" idx="4294967295"/>
          </p:nvPr>
        </p:nvSpPr>
        <p:spPr>
          <a:xfrm>
            <a:off x="684213" y="1350963"/>
            <a:ext cx="8280400" cy="5173662"/>
          </a:xfrm>
          <a:ln/>
        </p:spPr>
        <p:txBody>
          <a:bodyPr vert="horz" wrap="square" lIns="91440" tIns="45720" rIns="91440" bIns="45720" anchor="t" anchorCtr="0"/>
          <a:p>
            <a:pPr defTabSz="914400" eaLnBrk="1" hangingPunct="1">
              <a:tabLst>
                <a:tab pos="2786380" algn="l"/>
              </a:tabLst>
            </a:pPr>
            <a:r>
              <a:rPr lang="zh-CN" altLang="en-US" dirty="0"/>
              <a:t>一旦事务提交或回滚，则事务结束</a:t>
            </a:r>
            <a:endParaRPr lang="zh-CN" altLang="en-US" dirty="0"/>
          </a:p>
          <a:p>
            <a:pPr defTabSz="914400" eaLnBrk="1" hangingPunct="1">
              <a:lnSpc>
                <a:spcPct val="105000"/>
              </a:lnSpc>
              <a:tabLst>
                <a:tab pos="2786380" algn="l"/>
              </a:tabLst>
            </a:pPr>
            <a:r>
              <a:rPr lang="zh-CN" altLang="en-US" dirty="0"/>
              <a:t>判断某条语句执行是否出错：</a:t>
            </a:r>
            <a:endParaRPr lang="zh-CN" altLang="en-US" dirty="0"/>
          </a:p>
          <a:p>
            <a:pPr marL="812800" lvl="1" indent="-276225" defTabSz="914400" eaLnBrk="1" hangingPunct="1">
              <a:lnSpc>
                <a:spcPct val="105000"/>
              </a:lnSpc>
              <a:tabLst>
                <a:tab pos="2786380" algn="l"/>
              </a:tabLst>
            </a:pPr>
            <a:r>
              <a:rPr lang="zh-CN" altLang="en-US" dirty="0"/>
              <a:t>使用全局变量</a:t>
            </a:r>
            <a:r>
              <a:rPr lang="en-US" altLang="zh-CN" dirty="0"/>
              <a:t>@@ERROR</a:t>
            </a:r>
            <a:endParaRPr lang="en-US" altLang="zh-CN" dirty="0"/>
          </a:p>
          <a:p>
            <a:pPr marL="812800" lvl="1" indent="-276225" defTabSz="914400" eaLnBrk="1" hangingPunct="1">
              <a:lnSpc>
                <a:spcPct val="105000"/>
              </a:lnSpc>
              <a:tabLst>
                <a:tab pos="2786380" algn="l"/>
              </a:tabLst>
            </a:pPr>
            <a:r>
              <a:rPr lang="en-US" altLang="zh-CN" dirty="0"/>
              <a:t>@@ERROR</a:t>
            </a:r>
            <a:r>
              <a:rPr lang="zh-CN" altLang="en-US" dirty="0"/>
              <a:t>只能判断当前一条</a:t>
            </a:r>
            <a:r>
              <a:rPr lang="en-US" altLang="zh-CN" dirty="0"/>
              <a:t>T-SQL</a:t>
            </a:r>
            <a:r>
              <a:rPr lang="zh-CN" altLang="en-US" dirty="0"/>
              <a:t>语句执行是否有错，为了判断事务中所有</a:t>
            </a:r>
            <a:r>
              <a:rPr lang="en-US" altLang="zh-CN" dirty="0"/>
              <a:t>T-SQL</a:t>
            </a:r>
            <a:r>
              <a:rPr lang="zh-CN" altLang="en-US" dirty="0"/>
              <a:t>语句是否有错，我们需要对错误进行累计</a:t>
            </a:r>
            <a:endParaRPr lang="zh-CN" altLang="en-US" dirty="0"/>
          </a:p>
          <a:p>
            <a:pPr defTabSz="914400" eaLnBrk="1" hangingPunct="1">
              <a:lnSpc>
                <a:spcPct val="105000"/>
              </a:lnSpc>
              <a:buNone/>
              <a:tabLst>
                <a:tab pos="2786380" algn="l"/>
              </a:tabLst>
            </a:pPr>
            <a:r>
              <a:rPr lang="zh-CN" altLang="en-US" sz="2400" dirty="0"/>
              <a:t>            如： </a:t>
            </a:r>
            <a:r>
              <a:rPr lang="en-US" altLang="zh-CN" sz="2400" dirty="0"/>
              <a:t>SET @errorSum=@errorSum+@@error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8235" name="AutoShape 11"/>
          <p:cNvSpPr/>
          <p:nvPr/>
        </p:nvSpPr>
        <p:spPr>
          <a:xfrm>
            <a:off x="684213" y="1628775"/>
            <a:ext cx="8353425" cy="4679950"/>
          </a:xfrm>
          <a:prstGeom prst="roundRect">
            <a:avLst>
              <a:gd name="adj" fmla="val 5495"/>
            </a:avLst>
          </a:prstGeom>
          <a:gradFill rotWithShape="1">
            <a:gsLst>
              <a:gs pos="0">
                <a:srgbClr val="CCFFFF">
                  <a:alpha val="70000"/>
                </a:srgbClr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……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关键语句讲解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………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BEGIN TRANSACTION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/*--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定义变量，用于累计事务执行过程中的错误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--*/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DECLARE @errorSum INT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SET @errorSum=0  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初始化为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，即无错误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/*--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转账：张三的账户少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元，李四的账户多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元*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UPDATE bank SET currentMoney=currentMoney-1000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WHERE customerName='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张三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SET @errorSum=@errorSum+@@error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UPDATE bank SET currentMoney=currentMoney+1000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WHERE customerName='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李四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SET @errorSum=@errorSum+@@error  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累计是否有错误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122238"/>
            <a:ext cx="7543800" cy="8683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如何创建事务</a:t>
            </a:r>
            <a:endParaRPr lang="zh-CN" altLang="en-US" dirty="0"/>
          </a:p>
        </p:txBody>
      </p:sp>
      <p:sp>
        <p:nvSpPr>
          <p:cNvPr id="15364" name="Rectangle 4"/>
          <p:cNvSpPr>
            <a:spLocks noGrp="1"/>
          </p:cNvSpPr>
          <p:nvPr>
            <p:ph type="body" idx="4294967295"/>
          </p:nvPr>
        </p:nvSpPr>
        <p:spPr>
          <a:xfrm>
            <a:off x="611188" y="10525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使用事务解决银行转账问题</a:t>
            </a:r>
            <a:endParaRPr lang="zh-CN" altLang="en-US" dirty="0"/>
          </a:p>
        </p:txBody>
      </p:sp>
      <p:sp>
        <p:nvSpPr>
          <p:cNvPr id="308231" name="AutoShape 7"/>
          <p:cNvSpPr/>
          <p:nvPr/>
        </p:nvSpPr>
        <p:spPr>
          <a:xfrm>
            <a:off x="4902200" y="1628775"/>
            <a:ext cx="3784600" cy="70961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开始事务（指定事务从此处开始，后续的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T-SQL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语句都是一个整体）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8236" name="AutoShape 12"/>
          <p:cNvSpPr/>
          <p:nvPr/>
        </p:nvSpPr>
        <p:spPr>
          <a:xfrm>
            <a:off x="5943600" y="4267200"/>
            <a:ext cx="2551113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累计是否有错误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5" grpId="0" animBg="1"/>
      <p:bldP spid="308231" grpId="0" animBg="1"/>
      <p:bldP spid="3082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8706" name="AutoShape 2"/>
          <p:cNvSpPr/>
          <p:nvPr/>
        </p:nvSpPr>
        <p:spPr>
          <a:xfrm>
            <a:off x="428625" y="1012825"/>
            <a:ext cx="8464550" cy="4867275"/>
          </a:xfrm>
          <a:prstGeom prst="roundRect">
            <a:avLst>
              <a:gd name="adj" fmla="val 7014"/>
            </a:avLst>
          </a:prstGeom>
          <a:gradFill rotWithShape="1">
            <a:gsLst>
              <a:gs pos="0">
                <a:srgbClr val="CCFFFF">
                  <a:alpha val="70000"/>
                </a:srgbClr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  <p:txBody>
          <a:bodyPr>
            <a:spAutoFit/>
          </a:bodyPr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IF @errorSum&lt;&gt;0  --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如果有错误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BEGIN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print 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交易失败，回滚事务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    ROLLBACK TRANSACTION </a:t>
            </a:r>
            <a:endParaRPr lang="en-US" altLang="zh-CN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END 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ELSE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BEGIN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print 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交易成功，提交事务，写入硬盘，永久的保存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COMMIT TRANSACTION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  END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GO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print '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查看转账事务后的余额</a:t>
            </a: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'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SELECT * FROM bank 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GO </a:t>
            </a: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8709" name="AutoShape 5"/>
          <p:cNvSpPr/>
          <p:nvPr/>
        </p:nvSpPr>
        <p:spPr>
          <a:xfrm>
            <a:off x="4284663" y="1268413"/>
            <a:ext cx="2578100" cy="7096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根据是否有错误，确定事务是提交还是撤销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8711" name="AutoShape 7"/>
          <p:cNvSpPr/>
          <p:nvPr/>
        </p:nvSpPr>
        <p:spPr>
          <a:xfrm>
            <a:off x="3563938" y="2420938"/>
            <a:ext cx="384810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如果有错，则回滚操作，事务结束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8712" name="AutoShape 8"/>
          <p:cNvSpPr/>
          <p:nvPr/>
        </p:nvSpPr>
        <p:spPr>
          <a:xfrm>
            <a:off x="3924300" y="3860800"/>
            <a:ext cx="3846513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如果成功，则提交操作，事务结束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6" grpId="0" animBg="1"/>
      <p:bldP spid="328709" grpId="0" animBg="1"/>
      <p:bldP spid="328711" grpId="0" animBg="1"/>
      <p:bldP spid="3287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9742" name="Picture 14" descr="未标题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1773238"/>
            <a:ext cx="6119812" cy="48133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29732" name="AutoShape 4"/>
          <p:cNvSpPr/>
          <p:nvPr/>
        </p:nvSpPr>
        <p:spPr>
          <a:xfrm>
            <a:off x="4484688" y="1944688"/>
            <a:ext cx="262255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转账事务前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9736" name="AutoShape 8"/>
          <p:cNvSpPr/>
          <p:nvPr/>
        </p:nvSpPr>
        <p:spPr>
          <a:xfrm>
            <a:off x="4484688" y="3962400"/>
            <a:ext cx="262255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转账事务过程中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9737" name="AutoShape 9"/>
          <p:cNvSpPr/>
          <p:nvPr/>
        </p:nvSpPr>
        <p:spPr>
          <a:xfrm>
            <a:off x="4484688" y="5402263"/>
            <a:ext cx="262255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转账事务结束后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414" name="Rectangle 11"/>
          <p:cNvSpPr>
            <a:spLocks noGrp="1"/>
          </p:cNvSpPr>
          <p:nvPr>
            <p:ph type="body" idx="4294967295"/>
          </p:nvPr>
        </p:nvSpPr>
        <p:spPr>
          <a:xfrm>
            <a:off x="611188" y="12684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演示：转账</a:t>
            </a:r>
            <a:r>
              <a:rPr lang="en-US" altLang="zh-CN" dirty="0">
                <a:solidFill>
                  <a:srgbClr val="0000FF"/>
                </a:solidFill>
              </a:rPr>
              <a:t>1000</a:t>
            </a:r>
            <a:r>
              <a:rPr lang="zh-CN" altLang="en-US" dirty="0"/>
              <a:t>，转账失败的情况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2" grpId="0" animBg="1"/>
      <p:bldP spid="329736" grpId="0" animBg="1"/>
      <p:bldP spid="3297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0762" name="Picture 10" descr="未标题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773238"/>
            <a:ext cx="4681537" cy="45608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30756" name="AutoShape 4"/>
          <p:cNvSpPr/>
          <p:nvPr/>
        </p:nvSpPr>
        <p:spPr>
          <a:xfrm>
            <a:off x="4411663" y="2028825"/>
            <a:ext cx="262255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转账事务前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0757" name="AutoShape 5"/>
          <p:cNvSpPr/>
          <p:nvPr/>
        </p:nvSpPr>
        <p:spPr>
          <a:xfrm>
            <a:off x="4411663" y="3468688"/>
            <a:ext cx="262255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转账事务过程中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0758" name="AutoShape 6"/>
          <p:cNvSpPr/>
          <p:nvPr/>
        </p:nvSpPr>
        <p:spPr>
          <a:xfrm>
            <a:off x="4411663" y="5197475"/>
            <a:ext cx="262255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FFCC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808080">
                <a:alpha val="50000"/>
              </a:srgbClr>
            </a:outerShdw>
          </a:effectLst>
        </p:spPr>
        <p:txBody>
          <a:bodyPr anchor="ctr" anchorCtr="1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转账事务结束后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38" name="Rectangle 7"/>
          <p:cNvSpPr>
            <a:spLocks noGrp="1"/>
          </p:cNvSpPr>
          <p:nvPr>
            <p:ph type="body" idx="4294967295"/>
          </p:nvPr>
        </p:nvSpPr>
        <p:spPr>
          <a:xfrm>
            <a:off x="611188" y="1279525"/>
            <a:ext cx="8229600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演示：转账</a:t>
            </a:r>
            <a:r>
              <a:rPr lang="en-US" altLang="zh-CN" dirty="0">
                <a:solidFill>
                  <a:srgbClr val="0000FF"/>
                </a:solidFill>
              </a:rPr>
              <a:t>800</a:t>
            </a:r>
            <a:r>
              <a:rPr lang="zh-CN" altLang="en-US" dirty="0"/>
              <a:t>，转账成功的情况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6" grpId="0" animBg="1"/>
      <p:bldP spid="330757" grpId="0" animBg="1"/>
      <p:bldP spid="33075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如何创建事务</a:t>
            </a:r>
            <a:endParaRPr lang="zh-CN" altLang="en-US" sz="2800" dirty="0"/>
          </a:p>
        </p:txBody>
      </p:sp>
      <p:sp>
        <p:nvSpPr>
          <p:cNvPr id="19459" name="Rectangle 3"/>
          <p:cNvSpPr>
            <a:spLocks noGrp="1"/>
          </p:cNvSpPr>
          <p:nvPr>
            <p:ph type="body" idx="4294967295"/>
          </p:nvPr>
        </p:nvSpPr>
        <p:spPr>
          <a:xfrm>
            <a:off x="684213" y="1341438"/>
            <a:ext cx="8229600" cy="32400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dirty="0"/>
              <a:t>了解事务的分类：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显示事务：用</a:t>
            </a:r>
            <a:r>
              <a:rPr lang="en-US" altLang="zh-CN" sz="2800" dirty="0"/>
              <a:t>BEGIN TRANSACTION</a:t>
            </a:r>
            <a:r>
              <a:rPr lang="zh-CN" altLang="en-US" sz="2800" dirty="0"/>
              <a:t>明确指定事务的开始，这是最常用的事务类型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隐性事务：通过设置</a:t>
            </a:r>
            <a:r>
              <a:rPr lang="en-US" altLang="zh-CN" sz="2800" dirty="0"/>
              <a:t>SET IMPLICIT_TRANSACTIONS ON </a:t>
            </a:r>
            <a:r>
              <a:rPr lang="zh-CN" altLang="en-US" sz="2800" dirty="0"/>
              <a:t>语句，将隐性事务模式设置为打开，下一个语句自动启动一个新事务。当该事务完成时，再下一个 </a:t>
            </a:r>
            <a:r>
              <a:rPr lang="en-US" altLang="zh-CN" sz="2800" dirty="0"/>
              <a:t>T-SQL </a:t>
            </a:r>
            <a:r>
              <a:rPr lang="zh-CN" altLang="en-US" sz="2800" dirty="0"/>
              <a:t>语句又将启动一个新事务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自动提交事务：这是 </a:t>
            </a:r>
            <a:r>
              <a:rPr lang="en-US" altLang="zh-CN" sz="2800" dirty="0"/>
              <a:t>SQL Server </a:t>
            </a:r>
            <a:r>
              <a:rPr lang="zh-CN" altLang="en-US" sz="2800" dirty="0"/>
              <a:t>的默认模式，它将每条单独的 </a:t>
            </a:r>
            <a:r>
              <a:rPr lang="en-US" altLang="zh-CN" sz="2800" dirty="0"/>
              <a:t>T-SQL </a:t>
            </a:r>
            <a:r>
              <a:rPr lang="zh-CN" altLang="en-US" sz="2800" dirty="0"/>
              <a:t>语句视为一个事务，如果成功执行，则自动提交；如果错误，则自动回滚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10.2</a:t>
            </a:r>
            <a:r>
              <a:rPr lang="zh-CN" altLang="en-US" dirty="0"/>
              <a:t>存储过程 </a:t>
            </a:r>
            <a:endParaRPr lang="zh-CN" altLang="en-US" dirty="0"/>
          </a:p>
        </p:txBody>
      </p:sp>
      <p:sp>
        <p:nvSpPr>
          <p:cNvPr id="182276" name="Rectangle 4"/>
          <p:cNvSpPr/>
          <p:nvPr/>
        </p:nvSpPr>
        <p:spPr>
          <a:xfrm>
            <a:off x="349250" y="1781175"/>
            <a:ext cx="8108950" cy="15890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存储过程就是一条或者多条</a:t>
            </a:r>
            <a:r>
              <a:rPr lang="en-US" altLang="zh-CN" sz="1600" dirty="0">
                <a:latin typeface="宋体" panose="02010600030101010101" pitchFamily="2" charset="-122"/>
              </a:rPr>
              <a:t>SQL</a:t>
            </a:r>
            <a:r>
              <a:rPr lang="zh-CN" altLang="en-US" sz="1600" dirty="0">
                <a:latin typeface="宋体" panose="02010600030101010101" pitchFamily="2" charset="-122"/>
              </a:rPr>
              <a:t>语句的集合，是数据库服务器端的一段程序。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</a:rPr>
              <a:t>存储过程就是为了实现特定任务，而将一些需要多次调用的固定操作语句编写成程序段，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</a:rPr>
              <a:t>这些程序段存储在服务器上，由数据库服务器通过子程序来调用。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</a:rPr>
              <a:t>存储过程在创建时即在服务器上进行编译，所以执行起来比单个</a:t>
            </a:r>
            <a:r>
              <a:rPr lang="en-US" altLang="zh-CN" sz="1600" dirty="0">
                <a:latin typeface="宋体" panose="02010600030101010101" pitchFamily="2" charset="-122"/>
              </a:rPr>
              <a:t>SQL</a:t>
            </a:r>
            <a:r>
              <a:rPr lang="zh-CN" altLang="en-US" sz="1600" dirty="0">
                <a:latin typeface="宋体" panose="02010600030101010101" pitchFamily="2" charset="-122"/>
              </a:rPr>
              <a:t>语句快。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2279" name="Text Box 7"/>
          <p:cNvSpPr txBox="1"/>
          <p:nvPr/>
        </p:nvSpPr>
        <p:spPr>
          <a:xfrm>
            <a:off x="838200" y="3657600"/>
            <a:ext cx="6858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3366"/>
                </a:solidFill>
                <a:latin typeface="Arial" panose="020B0604020202020204" pitchFamily="34" charset="0"/>
              </a:rPr>
              <a:t>分类</a:t>
            </a:r>
            <a:endParaRPr lang="zh-CN" altLang="en-US" b="1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182280" name="AutoShape 8"/>
          <p:cNvSpPr/>
          <p:nvPr/>
        </p:nvSpPr>
        <p:spPr>
          <a:xfrm>
            <a:off x="660400" y="4191000"/>
            <a:ext cx="2159000" cy="1800225"/>
          </a:xfrm>
          <a:prstGeom prst="flowChartAlternateProcess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</a:rPr>
              <a:t>系统存储过程</a:t>
            </a:r>
            <a:endParaRPr lang="zh-CN" altLang="en-US" sz="16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/>
            <a:r>
              <a:rPr lang="zh-CN" altLang="en-US" sz="1600" dirty="0">
                <a:latin typeface="宋体" panose="02010600030101010101" pitchFamily="2" charset="-122"/>
              </a:rPr>
              <a:t>以</a:t>
            </a:r>
            <a:r>
              <a:rPr lang="en-US" altLang="zh-CN" sz="1600" dirty="0">
                <a:latin typeface="宋体" panose="02010600030101010101" pitchFamily="2" charset="-122"/>
              </a:rPr>
              <a:t>sp_</a:t>
            </a:r>
            <a:r>
              <a:rPr lang="zh-CN" altLang="en-US" sz="1600" dirty="0">
                <a:latin typeface="宋体" panose="02010600030101010101" pitchFamily="2" charset="-122"/>
              </a:rPr>
              <a:t>开头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  <p:sp>
        <p:nvSpPr>
          <p:cNvPr id="182281" name="AutoShape 9"/>
          <p:cNvSpPr/>
          <p:nvPr/>
        </p:nvSpPr>
        <p:spPr>
          <a:xfrm>
            <a:off x="3505200" y="4191000"/>
            <a:ext cx="2159000" cy="1800225"/>
          </a:xfrm>
          <a:prstGeom prst="flowChartAlternateProces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用户自定义存储过程</a:t>
            </a:r>
            <a:endParaRPr lang="zh-CN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/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82282" name="AutoShape 10"/>
          <p:cNvSpPr/>
          <p:nvPr/>
        </p:nvSpPr>
        <p:spPr>
          <a:xfrm>
            <a:off x="6248400" y="4191000"/>
            <a:ext cx="2159000" cy="1800225"/>
          </a:xfrm>
          <a:prstGeom prst="flowChartAlternateProcess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宋体" panose="02010600030101010101" pitchFamily="2" charset="-122"/>
              </a:rPr>
              <a:t>扩展存储过程</a:t>
            </a:r>
            <a:endParaRPr lang="zh-CN" altLang="en-US" sz="16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/>
            <a:r>
              <a:rPr lang="zh-CN" altLang="en-US" sz="1600" dirty="0">
                <a:latin typeface="宋体" panose="02010600030101010101" pitchFamily="2" charset="-122"/>
              </a:rPr>
              <a:t>以</a:t>
            </a:r>
            <a:r>
              <a:rPr lang="en-US" altLang="zh-CN" sz="1600" dirty="0">
                <a:latin typeface="宋体" panose="02010600030101010101" pitchFamily="2" charset="-122"/>
              </a:rPr>
              <a:t>xp_</a:t>
            </a:r>
            <a:r>
              <a:rPr lang="zh-CN" altLang="en-US" sz="1600" dirty="0">
                <a:latin typeface="宋体" panose="02010600030101010101" pitchFamily="2" charset="-122"/>
              </a:rPr>
              <a:t>开头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  <p:sp>
        <p:nvSpPr>
          <p:cNvPr id="182283" name="Line 11"/>
          <p:cNvSpPr/>
          <p:nvPr/>
        </p:nvSpPr>
        <p:spPr>
          <a:xfrm>
            <a:off x="381000" y="3505200"/>
            <a:ext cx="8229600" cy="0"/>
          </a:xfrm>
          <a:prstGeom prst="line">
            <a:avLst/>
          </a:prstGeom>
          <a:ln w="9525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6" grpId="0"/>
      <p:bldP spid="182279" grpId="0"/>
      <p:bldP spid="182280" grpId="0" animBg="1"/>
      <p:bldP spid="182281" grpId="0" animBg="1"/>
      <p:bldP spid="18228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10.3</a:t>
            </a:r>
            <a:r>
              <a:rPr lang="zh-CN" altLang="en-US" dirty="0"/>
              <a:t>系统存储过程 </a:t>
            </a:r>
            <a:endParaRPr lang="zh-CN" altLang="en-US" dirty="0"/>
          </a:p>
        </p:txBody>
      </p:sp>
      <p:sp>
        <p:nvSpPr>
          <p:cNvPr id="183300" name="Rectangle 4"/>
          <p:cNvSpPr/>
          <p:nvPr/>
        </p:nvSpPr>
        <p:spPr>
          <a:xfrm>
            <a:off x="609600" y="1614488"/>
            <a:ext cx="31559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常用的系统存储过程如下表。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83456" name="Group 160"/>
          <p:cNvGraphicFramePr>
            <a:graphicFrameLocks noGrp="1"/>
          </p:cNvGraphicFramePr>
          <p:nvPr>
            <p:ph idx="1"/>
          </p:nvPr>
        </p:nvGraphicFramePr>
        <p:xfrm>
          <a:off x="609600" y="2049463"/>
          <a:ext cx="8001000" cy="4427538"/>
        </p:xfrm>
        <a:graphic>
          <a:graphicData uri="http://schemas.openxmlformats.org/drawingml/2006/table">
            <a:tbl>
              <a:tblPr/>
              <a:tblGrid>
                <a:gridCol w="2247900"/>
                <a:gridCol w="5753100"/>
              </a:tblGrid>
              <a:tr h="34922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系统存储过程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508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sp_databases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列出服务器上的所有数据库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492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sp_helpdb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报告有关指定数据库或所有数据库的信息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492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sp_renamedb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更改数据库的名称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492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sp_tables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返回当前环境下可查询的对象的列表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508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sp_columns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返回某个表列的信息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492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sp_help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返回某个表的所有信息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492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sp_helpconstraint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查看某个表的约束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492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sp_helpindex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查看某个表的索引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5081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sp_stored_procedures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列出当前环境中的所有存储过程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3492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sp_password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添加或修改登录账户的密码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  <a:tr h="58127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sp_helptext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显示默认值，未加密的存储过程、用户定义的存储过程、触发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器或视图的实际文本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797" marB="4679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10.3</a:t>
            </a:r>
            <a:r>
              <a:rPr lang="zh-CN" altLang="en-US" dirty="0"/>
              <a:t>系统存储过程</a:t>
            </a:r>
            <a:endParaRPr lang="zh-CN" altLang="en-US" dirty="0"/>
          </a:p>
        </p:txBody>
      </p:sp>
      <p:sp>
        <p:nvSpPr>
          <p:cNvPr id="184324" name="Rectangle 4"/>
          <p:cNvSpPr/>
          <p:nvPr/>
        </p:nvSpPr>
        <p:spPr>
          <a:xfrm>
            <a:off x="938213" y="1752600"/>
            <a:ext cx="6686550" cy="2781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indent="266700"/>
            <a:r>
              <a:rPr lang="zh-CN" altLang="en-US" sz="1600" dirty="0">
                <a:latin typeface="宋体" panose="02010600030101010101" pitchFamily="2" charset="-122"/>
              </a:rPr>
              <a:t>下面列举一些常用系统存储过程的使用方法。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r>
              <a:rPr lang="en-US" altLang="zh-CN" sz="1600" dirty="0">
                <a:solidFill>
                  <a:srgbClr val="CC3300"/>
                </a:solidFill>
                <a:latin typeface="宋体" panose="02010600030101010101" pitchFamily="2" charset="-122"/>
              </a:rPr>
              <a:t>EXEC sp_databases</a:t>
            </a:r>
            <a:r>
              <a:rPr lang="en-US" altLang="zh-CN" sz="1600" dirty="0">
                <a:latin typeface="宋体" panose="02010600030101010101" pitchFamily="2" charset="-122"/>
              </a:rPr>
              <a:t>    --</a:t>
            </a:r>
            <a:r>
              <a:rPr lang="zh-CN" altLang="en-US" sz="1600" dirty="0">
                <a:latin typeface="宋体" panose="02010600030101010101" pitchFamily="2" charset="-122"/>
              </a:rPr>
              <a:t>列出当前系统中的数据库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r>
              <a:rPr lang="en-US" altLang="zh-CN" sz="1600" dirty="0">
                <a:solidFill>
                  <a:srgbClr val="CC3300"/>
                </a:solidFill>
                <a:latin typeface="宋体" panose="02010600030101010101" pitchFamily="2" charset="-122"/>
              </a:rPr>
              <a:t>EXEC sp_renamedb 'A', 'B'</a:t>
            </a:r>
            <a:r>
              <a:rPr lang="en-US" altLang="zh-CN" sz="1600" dirty="0">
                <a:latin typeface="宋体" panose="02010600030101010101" pitchFamily="2" charset="-122"/>
              </a:rPr>
              <a:t>  --</a:t>
            </a:r>
            <a:r>
              <a:rPr lang="zh-CN" altLang="en-US" sz="1600" dirty="0">
                <a:latin typeface="宋体" panose="02010600030101010101" pitchFamily="2" charset="-122"/>
              </a:rPr>
              <a:t>给数据库改名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r>
              <a:rPr lang="en-US" altLang="zh-CN" sz="1600" dirty="0">
                <a:solidFill>
                  <a:srgbClr val="CC3300"/>
                </a:solidFill>
                <a:latin typeface="宋体" panose="02010600030101010101" pitchFamily="2" charset="-122"/>
              </a:rPr>
              <a:t>EXEC sp_tables</a:t>
            </a:r>
            <a:r>
              <a:rPr lang="en-US" altLang="zh-CN" sz="1600" dirty="0">
                <a:latin typeface="宋体" panose="02010600030101010101" pitchFamily="2" charset="-122"/>
              </a:rPr>
              <a:t>  --</a:t>
            </a:r>
            <a:r>
              <a:rPr lang="zh-CN" altLang="en-US" sz="1600" dirty="0">
                <a:latin typeface="宋体" panose="02010600030101010101" pitchFamily="2" charset="-122"/>
              </a:rPr>
              <a:t>当前数据库中可查询对象的列表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r>
              <a:rPr lang="en-US" altLang="zh-CN" sz="1600" dirty="0">
                <a:solidFill>
                  <a:srgbClr val="CC3300"/>
                </a:solidFill>
                <a:latin typeface="宋体" panose="02010600030101010101" pitchFamily="2" charset="-122"/>
              </a:rPr>
              <a:t>EXEC sp_columns Student</a:t>
            </a:r>
            <a:r>
              <a:rPr lang="en-US" altLang="zh-CN" sz="1600" dirty="0">
                <a:latin typeface="宋体" panose="02010600030101010101" pitchFamily="2" charset="-122"/>
              </a:rPr>
              <a:t>   --</a:t>
            </a:r>
            <a:r>
              <a:rPr lang="zh-CN" altLang="en-US" sz="1600" dirty="0">
                <a:latin typeface="宋体" panose="02010600030101010101" pitchFamily="2" charset="-122"/>
              </a:rPr>
              <a:t>查看</a:t>
            </a:r>
            <a:r>
              <a:rPr lang="en-US" altLang="zh-CN" sz="1600" dirty="0">
                <a:latin typeface="宋体" panose="02010600030101010101" pitchFamily="2" charset="-122"/>
              </a:rPr>
              <a:t>Student</a:t>
            </a:r>
            <a:r>
              <a:rPr lang="zh-CN" altLang="en-US" sz="1600" dirty="0">
                <a:latin typeface="宋体" panose="02010600030101010101" pitchFamily="2" charset="-122"/>
              </a:rPr>
              <a:t>表中列的信息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r>
              <a:rPr lang="en-US" altLang="zh-CN" sz="1600" dirty="0">
                <a:solidFill>
                  <a:srgbClr val="CC3300"/>
                </a:solidFill>
                <a:latin typeface="宋体" panose="02010600030101010101" pitchFamily="2" charset="-122"/>
              </a:rPr>
              <a:t>EXEC sp_help Student</a:t>
            </a:r>
            <a:r>
              <a:rPr lang="en-US" altLang="zh-CN" sz="1600" dirty="0">
                <a:latin typeface="宋体" panose="02010600030101010101" pitchFamily="2" charset="-122"/>
              </a:rPr>
              <a:t>  --</a:t>
            </a:r>
            <a:r>
              <a:rPr lang="zh-CN" altLang="en-US" sz="1600" dirty="0">
                <a:latin typeface="宋体" panose="02010600030101010101" pitchFamily="2" charset="-122"/>
              </a:rPr>
              <a:t>查看</a:t>
            </a:r>
            <a:r>
              <a:rPr lang="en-US" altLang="zh-CN" sz="1600" dirty="0">
                <a:latin typeface="宋体" panose="02010600030101010101" pitchFamily="2" charset="-122"/>
              </a:rPr>
              <a:t>Student</a:t>
            </a:r>
            <a:r>
              <a:rPr lang="zh-CN" altLang="en-US" sz="1600" dirty="0">
                <a:latin typeface="宋体" panose="02010600030101010101" pitchFamily="2" charset="-122"/>
              </a:rPr>
              <a:t>表的所有信息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r>
              <a:rPr lang="en-US" altLang="zh-CN" sz="1600" dirty="0">
                <a:solidFill>
                  <a:srgbClr val="CC3300"/>
                </a:solidFill>
                <a:latin typeface="宋体" panose="02010600030101010101" pitchFamily="2" charset="-122"/>
              </a:rPr>
              <a:t>EXEC sp_helpconstraint Student</a:t>
            </a:r>
            <a:r>
              <a:rPr lang="en-US" altLang="zh-CN" sz="1600" dirty="0">
                <a:latin typeface="宋体" panose="02010600030101010101" pitchFamily="2" charset="-122"/>
              </a:rPr>
              <a:t>  --</a:t>
            </a:r>
            <a:r>
              <a:rPr lang="zh-CN" altLang="en-US" sz="1600" dirty="0">
                <a:latin typeface="宋体" panose="02010600030101010101" pitchFamily="2" charset="-122"/>
              </a:rPr>
              <a:t>查看</a:t>
            </a:r>
            <a:r>
              <a:rPr lang="en-US" altLang="zh-CN" sz="1600" dirty="0">
                <a:latin typeface="宋体" panose="02010600030101010101" pitchFamily="2" charset="-122"/>
              </a:rPr>
              <a:t>Student</a:t>
            </a:r>
            <a:r>
              <a:rPr lang="zh-CN" altLang="en-US" sz="1600" dirty="0">
                <a:latin typeface="宋体" panose="02010600030101010101" pitchFamily="2" charset="-122"/>
              </a:rPr>
              <a:t>表的约束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r>
              <a:rPr lang="en-US" altLang="zh-CN" sz="1600" dirty="0">
                <a:solidFill>
                  <a:srgbClr val="CC3300"/>
                </a:solidFill>
                <a:latin typeface="宋体" panose="02010600030101010101" pitchFamily="2" charset="-122"/>
              </a:rPr>
              <a:t>EXEC sp_helpindex Student</a:t>
            </a:r>
            <a:r>
              <a:rPr lang="en-US" altLang="zh-CN" sz="1600" dirty="0">
                <a:latin typeface="宋体" panose="02010600030101010101" pitchFamily="2" charset="-122"/>
              </a:rPr>
              <a:t>  --</a:t>
            </a:r>
            <a:r>
              <a:rPr lang="zh-CN" altLang="en-US" sz="1600" dirty="0">
                <a:latin typeface="宋体" panose="02010600030101010101" pitchFamily="2" charset="-122"/>
              </a:rPr>
              <a:t>查看</a:t>
            </a:r>
            <a:r>
              <a:rPr lang="en-US" altLang="zh-CN" sz="1600" dirty="0">
                <a:latin typeface="宋体" panose="02010600030101010101" pitchFamily="2" charset="-122"/>
              </a:rPr>
              <a:t>Student</a:t>
            </a:r>
            <a:r>
              <a:rPr lang="zh-CN" altLang="en-US" sz="1600" dirty="0">
                <a:latin typeface="宋体" panose="02010600030101010101" pitchFamily="2" charset="-122"/>
              </a:rPr>
              <a:t>表的索引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r>
              <a:rPr lang="en-US" altLang="zh-CN" sz="1600" dirty="0">
                <a:solidFill>
                  <a:srgbClr val="CC3300"/>
                </a:solidFill>
                <a:latin typeface="宋体" panose="02010600030101010101" pitchFamily="2" charset="-122"/>
              </a:rPr>
              <a:t>EXEC sp_helptext 'View_StudentCourseScore'</a:t>
            </a:r>
            <a:r>
              <a:rPr lang="en-US" altLang="zh-CN" sz="1600" dirty="0">
                <a:latin typeface="宋体" panose="02010600030101010101" pitchFamily="2" charset="-122"/>
              </a:rPr>
              <a:t>  --</a:t>
            </a:r>
            <a:r>
              <a:rPr lang="zh-CN" altLang="en-US" sz="1600" dirty="0">
                <a:latin typeface="宋体" panose="02010600030101010101" pitchFamily="2" charset="-122"/>
              </a:rPr>
              <a:t>查看视图的语句文本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 indent="266700"/>
            <a:r>
              <a:rPr lang="en-US" altLang="zh-CN" sz="1600" dirty="0">
                <a:solidFill>
                  <a:srgbClr val="CC3300"/>
                </a:solidFill>
                <a:latin typeface="宋体" panose="02010600030101010101" pitchFamily="2" charset="-122"/>
              </a:rPr>
              <a:t>EXEC sp_stored_procedures</a:t>
            </a:r>
            <a:r>
              <a:rPr lang="en-US" altLang="zh-CN" sz="1600" dirty="0">
                <a:latin typeface="宋体" panose="02010600030101010101" pitchFamily="2" charset="-122"/>
              </a:rPr>
              <a:t>  --</a:t>
            </a:r>
            <a:r>
              <a:rPr lang="zh-CN" altLang="en-US" sz="1600" dirty="0">
                <a:latin typeface="宋体" panose="02010600030101010101" pitchFamily="2" charset="-122"/>
              </a:rPr>
              <a:t>返回当前数据库中的存储过程列表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  <p:sp>
        <p:nvSpPr>
          <p:cNvPr id="184325" name="Rectangle 5"/>
          <p:cNvSpPr/>
          <p:nvPr/>
        </p:nvSpPr>
        <p:spPr>
          <a:xfrm>
            <a:off x="990600" y="4572000"/>
            <a:ext cx="2863850" cy="641350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说明：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EXEC</a:t>
            </a:r>
            <a:r>
              <a:rPr lang="zh-CN" altLang="en-US" dirty="0">
                <a:latin typeface="Arial" panose="020B0604020202020204" pitchFamily="34" charset="0"/>
              </a:rPr>
              <a:t>表示调用存储过程。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4326" name="Rectangle 6"/>
          <p:cNvSpPr/>
          <p:nvPr/>
        </p:nvSpPr>
        <p:spPr>
          <a:xfrm>
            <a:off x="990600" y="5562600"/>
            <a:ext cx="5400675" cy="376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宋体" panose="02010600030101010101" pitchFamily="2" charset="-122"/>
              </a:rPr>
              <a:t>任务：使用系统存储过程查看</a:t>
            </a:r>
            <a:r>
              <a:rPr lang="en-US" altLang="zh-CN" dirty="0">
                <a:latin typeface="宋体" panose="02010600030101010101" pitchFamily="2" charset="-122"/>
              </a:rPr>
              <a:t>Student</a:t>
            </a:r>
            <a:r>
              <a:rPr lang="zh-CN" altLang="en-US" dirty="0">
                <a:latin typeface="宋体" panose="02010600030101010101" pitchFamily="2" charset="-122"/>
              </a:rPr>
              <a:t>表中的约束。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990600" y="6096000"/>
            <a:ext cx="3544888" cy="3698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en-US" altLang="zh-CN" dirty="0">
                <a:solidFill>
                  <a:srgbClr val="0033CC"/>
                </a:solidFill>
                <a:latin typeface="Arial" panose="020B0604020202020204" pitchFamily="34" charset="0"/>
              </a:rPr>
              <a:t>EXEC</a:t>
            </a:r>
            <a:r>
              <a:rPr lang="en-US" altLang="zh-CN" dirty="0">
                <a:latin typeface="Arial" panose="020B0604020202020204" pitchFamily="34" charset="0"/>
              </a:rPr>
              <a:t> sp_helpconstraint Student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11270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38200"/>
            <a:ext cx="8839200" cy="441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4" grpId="0"/>
      <p:bldP spid="184325" grpId="0" animBg="1"/>
      <p:bldP spid="184326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10.4</a:t>
            </a:r>
            <a:r>
              <a:rPr lang="zh-CN" altLang="en-US" dirty="0"/>
              <a:t>用户自定义存储过程 </a:t>
            </a:r>
            <a:br>
              <a:rPr lang="zh-CN" altLang="en-US" dirty="0"/>
            </a:br>
            <a:r>
              <a:rPr lang="en-US" altLang="zh-CN" sz="3200" dirty="0"/>
              <a:t>10.4.1</a:t>
            </a:r>
            <a:r>
              <a:rPr lang="zh-CN" altLang="en-US" sz="3200" dirty="0"/>
              <a:t>使用</a:t>
            </a:r>
            <a:r>
              <a:rPr lang="en-US" altLang="zh-CN" sz="3200" dirty="0"/>
              <a:t>T-SQL</a:t>
            </a:r>
            <a:r>
              <a:rPr lang="zh-CN" altLang="en-US" sz="3200" dirty="0"/>
              <a:t>创建存储过程</a:t>
            </a:r>
            <a:endParaRPr lang="zh-CN" altLang="en-US" sz="3200" dirty="0"/>
          </a:p>
        </p:txBody>
      </p:sp>
      <p:sp>
        <p:nvSpPr>
          <p:cNvPr id="185348" name="Rectangle 4"/>
          <p:cNvSpPr/>
          <p:nvPr/>
        </p:nvSpPr>
        <p:spPr>
          <a:xfrm>
            <a:off x="685800" y="1676400"/>
            <a:ext cx="6705600" cy="2078038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创建存储过程的语法如下。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CREATE PROCEDURE </a:t>
            </a:r>
            <a:r>
              <a:rPr lang="zh-CN" altLang="en-US" sz="1600" dirty="0">
                <a:latin typeface="宋体" panose="02010600030101010101" pitchFamily="2" charset="-122"/>
              </a:rPr>
              <a:t>存储过程名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[{@</a:t>
            </a:r>
            <a:r>
              <a:rPr lang="zh-CN" altLang="en-US" sz="1600" dirty="0">
                <a:latin typeface="宋体" panose="02010600030101010101" pitchFamily="2" charset="-122"/>
              </a:rPr>
              <a:t>参数</a:t>
            </a:r>
            <a:r>
              <a:rPr lang="en-US" altLang="zh-CN" sz="1600" dirty="0">
                <a:latin typeface="宋体" panose="02010600030101010101" pitchFamily="2" charset="-122"/>
              </a:rPr>
              <a:t>1 </a:t>
            </a:r>
            <a:r>
              <a:rPr lang="zh-CN" altLang="en-US" sz="1600" dirty="0">
                <a:latin typeface="宋体" panose="02010600030101010101" pitchFamily="2" charset="-122"/>
              </a:rPr>
              <a:t>数据类型</a:t>
            </a:r>
            <a:r>
              <a:rPr lang="en-US" altLang="zh-CN" sz="1600" dirty="0">
                <a:latin typeface="宋体" panose="02010600030101010101" pitchFamily="2" charset="-122"/>
              </a:rPr>
              <a:t>}[=</a:t>
            </a:r>
            <a:r>
              <a:rPr lang="zh-CN" altLang="en-US" sz="1600" dirty="0">
                <a:latin typeface="宋体" panose="02010600030101010101" pitchFamily="2" charset="-122"/>
              </a:rPr>
              <a:t>默认值</a:t>
            </a:r>
            <a:r>
              <a:rPr lang="en-US" altLang="zh-CN" sz="1600" dirty="0">
                <a:latin typeface="宋体" panose="02010600030101010101" pitchFamily="2" charset="-122"/>
              </a:rPr>
              <a:t>]] [OUTPUT],</a:t>
            </a:r>
            <a:endParaRPr lang="en-US" altLang="zh-CN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…</a:t>
            </a:r>
            <a:endParaRPr lang="en-US" altLang="zh-CN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{@</a:t>
            </a:r>
            <a:r>
              <a:rPr lang="zh-CN" altLang="en-US" sz="1600" dirty="0">
                <a:latin typeface="宋体" panose="02010600030101010101" pitchFamily="2" charset="-122"/>
              </a:rPr>
              <a:t>参数</a:t>
            </a:r>
            <a:r>
              <a:rPr lang="en-US" altLang="zh-CN" sz="1600" dirty="0">
                <a:latin typeface="宋体" panose="02010600030101010101" pitchFamily="2" charset="-122"/>
              </a:rPr>
              <a:t>n </a:t>
            </a:r>
            <a:r>
              <a:rPr lang="zh-CN" altLang="en-US" sz="1600" dirty="0">
                <a:latin typeface="宋体" panose="02010600030101010101" pitchFamily="2" charset="-122"/>
              </a:rPr>
              <a:t>数据类型</a:t>
            </a:r>
            <a:r>
              <a:rPr lang="en-US" altLang="zh-CN" sz="1600" dirty="0">
                <a:latin typeface="宋体" panose="02010600030101010101" pitchFamily="2" charset="-122"/>
              </a:rPr>
              <a:t>}[=</a:t>
            </a:r>
            <a:r>
              <a:rPr lang="zh-CN" altLang="en-US" sz="1600" dirty="0">
                <a:latin typeface="宋体" panose="02010600030101010101" pitchFamily="2" charset="-122"/>
              </a:rPr>
              <a:t>默认值</a:t>
            </a:r>
            <a:r>
              <a:rPr lang="en-US" altLang="zh-CN" sz="1600" dirty="0">
                <a:latin typeface="宋体" panose="02010600030101010101" pitchFamily="2" charset="-122"/>
              </a:rPr>
              <a:t>]] [OUTPUT]</a:t>
            </a:r>
            <a:endParaRPr lang="en-US" altLang="zh-CN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]</a:t>
            </a:r>
            <a:endParaRPr lang="en-US" altLang="zh-CN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AS </a:t>
            </a:r>
            <a:endParaRPr lang="en-US" altLang="zh-CN" sz="1600" dirty="0">
              <a:latin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</a:rPr>
              <a:t>    SQL </a:t>
            </a:r>
            <a:r>
              <a:rPr lang="zh-CN" altLang="en-US" sz="1600" dirty="0">
                <a:latin typeface="宋体" panose="02010600030101010101" pitchFamily="2" charset="-122"/>
              </a:rPr>
              <a:t>语句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5349" name="Rectangle 5"/>
          <p:cNvSpPr/>
          <p:nvPr/>
        </p:nvSpPr>
        <p:spPr>
          <a:xfrm>
            <a:off x="914400" y="4267200"/>
            <a:ext cx="2714625" cy="11906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存储过程分类：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不带参数的存储过程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带输入参数的存储过程</a:t>
            </a:r>
            <a:endParaRPr lang="zh-CN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带输出参数的存储过程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5353" name="Line 9"/>
          <p:cNvSpPr/>
          <p:nvPr/>
        </p:nvSpPr>
        <p:spPr>
          <a:xfrm>
            <a:off x="381000" y="3886200"/>
            <a:ext cx="83820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8" grpId="0" animBg="1"/>
      <p:bldP spid="1853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6"/>
          <p:cNvSpPr/>
          <p:nvPr/>
        </p:nvSpPr>
        <p:spPr>
          <a:xfrm>
            <a:off x="533400" y="457200"/>
            <a:ext cx="7010400" cy="6207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创建不带参数的存储过程</a:t>
            </a:r>
            <a:endParaRPr lang="zh-CN" altLang="en-US" dirty="0">
              <a:solidFill>
                <a:srgbClr val="003366"/>
              </a:solidFill>
              <a:latin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</a:rPr>
              <a:t>任务一：使用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语句创建存储过程，查看</a:t>
            </a:r>
            <a:r>
              <a:rPr lang="en-US" altLang="zh-CN" sz="1600" dirty="0">
                <a:latin typeface="宋体" panose="02010600030101010101" pitchFamily="2" charset="-122"/>
              </a:rPr>
              <a:t>Student</a:t>
            </a:r>
            <a:r>
              <a:rPr lang="zh-CN" altLang="en-US" sz="1600" dirty="0">
                <a:latin typeface="宋体" panose="02010600030101010101" pitchFamily="2" charset="-122"/>
              </a:rPr>
              <a:t>表中所有字段信息。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533400" y="1295400"/>
            <a:ext cx="4572000" cy="17541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创建存储过程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Proc_SELECT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CREATE PROCEDURE Proc_SELECT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AS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SELECT * FROM Student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9600" y="3962400"/>
            <a:ext cx="452437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87000"/>
              </a:srgbClr>
            </a:outerShdw>
          </a:effec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1219200"/>
            <a:ext cx="316230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95000"/>
              </a:srgbClr>
            </a:outerShdw>
          </a:effectLst>
        </p:spPr>
      </p:pic>
      <p:sp>
        <p:nvSpPr>
          <p:cNvPr id="9" name="Rectangle 6"/>
          <p:cNvSpPr/>
          <p:nvPr/>
        </p:nvSpPr>
        <p:spPr>
          <a:xfrm>
            <a:off x="609600" y="3429000"/>
            <a:ext cx="4495800" cy="4000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执行该条创建存储过程语句</a:t>
            </a:r>
            <a:endParaRPr lang="zh-CN" altLang="en-US" sz="20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7"/>
          <p:cNvSpPr/>
          <p:nvPr/>
        </p:nvSpPr>
        <p:spPr>
          <a:xfrm>
            <a:off x="457200" y="533400"/>
            <a:ext cx="7775575" cy="6508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创建带输入参数的存储过程</a:t>
            </a:r>
            <a:endParaRPr lang="zh-CN" altLang="en-US" b="1" dirty="0">
              <a:solidFill>
                <a:srgbClr val="003366"/>
              </a:solidFill>
              <a:latin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</a:rPr>
              <a:t>任务二：使用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语句创建存储过程，查看</a:t>
            </a:r>
            <a:r>
              <a:rPr lang="en-US" altLang="zh-CN" sz="1600" dirty="0">
                <a:latin typeface="宋体" panose="02010600030101010101" pitchFamily="2" charset="-122"/>
              </a:rPr>
              <a:t>Student</a:t>
            </a:r>
            <a:r>
              <a:rPr lang="zh-CN" altLang="en-US" sz="1600" dirty="0">
                <a:latin typeface="宋体" panose="02010600030101010101" pitchFamily="2" charset="-122"/>
              </a:rPr>
              <a:t>表中指定学生编号的学生姓名。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457200" y="1447800"/>
            <a:ext cx="6691313" cy="14779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创建存储过程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Proc_SelectByStuno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CREATE PROCEDURE Proc_SelectByStuno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@stu_no VARCHAR(10)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AS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SELECT stu_name FROM Student WHERE stu_no=@stu_no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3400" y="3886200"/>
            <a:ext cx="695325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87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609600" y="3429000"/>
            <a:ext cx="4495800" cy="4000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执行该条创建存储过程语句</a:t>
            </a:r>
            <a:endParaRPr lang="zh-CN" altLang="en-US" sz="20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2971800"/>
            <a:ext cx="26003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86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7"/>
          <p:cNvSpPr/>
          <p:nvPr/>
        </p:nvSpPr>
        <p:spPr>
          <a:xfrm>
            <a:off x="533400" y="1295400"/>
            <a:ext cx="8304213" cy="17541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---</a:t>
            </a:r>
            <a:r>
              <a:rPr lang="zh-CN" altLang="en-US" dirty="0">
                <a:solidFill>
                  <a:srgbClr val="00B050"/>
                </a:solidFill>
                <a:latin typeface="Arial" panose="020B0604020202020204" pitchFamily="34" charset="0"/>
              </a:rPr>
              <a:t>创建存储过程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</a:rPr>
              <a:t>Proc_SelectByStusex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CREATE PROCEDURE Proc_SelectByStusex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@stu_sex CHAR(2)='</a:t>
            </a:r>
            <a:r>
              <a:rPr lang="zh-CN" altLang="en-US" dirty="0">
                <a:latin typeface="Arial" panose="020B0604020202020204" pitchFamily="34" charset="0"/>
              </a:rPr>
              <a:t>男</a:t>
            </a:r>
            <a:r>
              <a:rPr lang="en-US" altLang="zh-CN" dirty="0">
                <a:latin typeface="Arial" panose="020B0604020202020204" pitchFamily="34" charset="0"/>
              </a:rPr>
              <a:t>',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@sex_count INT OUTPUT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AS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SELECT @sex_count=COUNT(*) FROM Student WHERE stu_sex=@stu_sex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533400" y="381000"/>
            <a:ext cx="7369175" cy="6508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创建带输出参数的存储过程</a:t>
            </a:r>
            <a:endParaRPr lang="zh-CN" altLang="en-US" b="1" dirty="0">
              <a:solidFill>
                <a:srgbClr val="003366"/>
              </a:solidFill>
              <a:latin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</a:rPr>
              <a:t>任务三：使用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语句创建存储过程，查看</a:t>
            </a:r>
            <a:r>
              <a:rPr lang="en-US" altLang="zh-CN" sz="1600" dirty="0">
                <a:latin typeface="宋体" panose="02010600030101010101" pitchFamily="2" charset="-122"/>
              </a:rPr>
              <a:t>Student</a:t>
            </a:r>
            <a:r>
              <a:rPr lang="zh-CN" altLang="en-US" sz="1600" dirty="0">
                <a:latin typeface="宋体" panose="02010600030101010101" pitchFamily="2" charset="-122"/>
              </a:rPr>
              <a:t>表中男生或女生学生人数。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3886200"/>
            <a:ext cx="842962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83000"/>
              </a:srgbClr>
            </a:outerShdw>
          </a:effec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1295400"/>
            <a:ext cx="2819400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87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609600" y="3429000"/>
            <a:ext cx="4495800" cy="4000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执行该条创建存储过程语句</a:t>
            </a:r>
            <a:endParaRPr lang="zh-CN" altLang="en-US" sz="20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10.4.2</a:t>
            </a:r>
            <a:r>
              <a:rPr lang="zh-CN" altLang="en-US" dirty="0"/>
              <a:t>使用</a:t>
            </a:r>
            <a:r>
              <a:rPr lang="en-US" altLang="zh-CN" dirty="0"/>
              <a:t>T-SQL</a:t>
            </a:r>
            <a:r>
              <a:rPr lang="zh-CN" altLang="en-US" dirty="0"/>
              <a:t>调用存储过程 </a:t>
            </a:r>
            <a:endParaRPr lang="zh-CN" altLang="en-US" dirty="0"/>
          </a:p>
        </p:txBody>
      </p:sp>
      <p:sp>
        <p:nvSpPr>
          <p:cNvPr id="186372" name="Rectangle 4"/>
          <p:cNvSpPr/>
          <p:nvPr/>
        </p:nvSpPr>
        <p:spPr>
          <a:xfrm>
            <a:off x="762000" y="1674813"/>
            <a:ext cx="4057650" cy="915987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使用</a:t>
            </a:r>
            <a:r>
              <a:rPr lang="en-US" altLang="zh-CN" dirty="0">
                <a:latin typeface="Arial" panose="020B0604020202020204" pitchFamily="34" charset="0"/>
              </a:rPr>
              <a:t>T-SQL</a:t>
            </a:r>
            <a:r>
              <a:rPr lang="zh-CN" altLang="en-US" dirty="0">
                <a:latin typeface="Arial" panose="020B0604020202020204" pitchFamily="34" charset="0"/>
              </a:rPr>
              <a:t>调用存储过程的语法如下。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EXEC </a:t>
            </a:r>
            <a:r>
              <a:rPr lang="zh-CN" altLang="en-US" dirty="0">
                <a:latin typeface="Arial" panose="020B0604020202020204" pitchFamily="34" charset="0"/>
              </a:rPr>
              <a:t>存储过程名</a:t>
            </a:r>
            <a:r>
              <a:rPr lang="en-US" altLang="zh-CN" dirty="0">
                <a:latin typeface="Arial" panose="020B0604020202020204" pitchFamily="34" charset="0"/>
              </a:rPr>
              <a:t>[</a:t>
            </a:r>
            <a:r>
              <a:rPr lang="zh-CN" altLang="en-US" dirty="0">
                <a:latin typeface="Arial" panose="020B0604020202020204" pitchFamily="34" charset="0"/>
              </a:rPr>
              <a:t>参数名</a:t>
            </a:r>
            <a:r>
              <a:rPr lang="en-US" altLang="zh-CN" dirty="0">
                <a:latin typeface="Arial" panose="020B0604020202020204" pitchFamily="34" charset="0"/>
              </a:rPr>
              <a:t>] 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86373" name="Rectangle 5"/>
          <p:cNvSpPr/>
          <p:nvPr/>
        </p:nvSpPr>
        <p:spPr>
          <a:xfrm>
            <a:off x="838200" y="3124200"/>
            <a:ext cx="3609975" cy="376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任务：使用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语句调用存储过程。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6374" name="Rectangle 6"/>
          <p:cNvSpPr/>
          <p:nvPr/>
        </p:nvSpPr>
        <p:spPr>
          <a:xfrm>
            <a:off x="762000" y="4267200"/>
            <a:ext cx="6696075" cy="10795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CC3300"/>
                </a:solidFill>
                <a:latin typeface="宋体" panose="02010600030101010101" pitchFamily="2" charset="-122"/>
              </a:rPr>
              <a:t>说明：</a:t>
            </a:r>
            <a:endParaRPr lang="zh-CN" altLang="en-US" sz="1600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dirty="0">
                <a:latin typeface="宋体" panose="02010600030101010101" pitchFamily="2" charset="-122"/>
              </a:rPr>
              <a:t>使用输出参数创建存储过程时，在参数后面需要跟随“</a:t>
            </a:r>
            <a:r>
              <a:rPr lang="en-US" altLang="zh-CN" sz="1600" dirty="0">
                <a:latin typeface="宋体" panose="02010600030101010101" pitchFamily="2" charset="-122"/>
              </a:rPr>
              <a:t>OUTPUT”</a:t>
            </a:r>
            <a:r>
              <a:rPr lang="zh-CN" altLang="en-US" sz="1600" dirty="0">
                <a:latin typeface="宋体" panose="02010600030101010101" pitchFamily="2" charset="-122"/>
              </a:rPr>
              <a:t>关键字，</a:t>
            </a:r>
            <a:endParaRPr lang="zh-CN" altLang="en-US" sz="1600" dirty="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dirty="0">
                <a:latin typeface="宋体" panose="02010600030101010101" pitchFamily="2" charset="-122"/>
              </a:rPr>
              <a:t>调用时也要在变量后跟随“</a:t>
            </a:r>
            <a:r>
              <a:rPr lang="en-US" altLang="zh-CN" sz="1600" dirty="0">
                <a:latin typeface="宋体" panose="02010600030101010101" pitchFamily="2" charset="-122"/>
              </a:rPr>
              <a:t>OUTPUT”</a:t>
            </a:r>
            <a:r>
              <a:rPr lang="zh-CN" altLang="en-US" sz="1600" dirty="0">
                <a:latin typeface="宋体" panose="02010600030101010101" pitchFamily="2" charset="-122"/>
              </a:rPr>
              <a:t>关键字。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 animBg="1"/>
      <p:bldP spid="186373" grpId="0" animBg="1"/>
      <p:bldP spid="18637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5715000" cy="533400"/>
          </a:xfrm>
          <a:ln>
            <a:solidFill>
              <a:srgbClr val="002060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b" anchorCtr="0"/>
          <a:p>
            <a:r>
              <a:rPr lang="zh-CN" altLang="en-US" sz="2000" dirty="0">
                <a:latin typeface="宋体" panose="02010600030101010101" pitchFamily="2" charset="-122"/>
              </a:rPr>
              <a:t>任务：使用</a:t>
            </a:r>
            <a:r>
              <a:rPr lang="en-US" altLang="zh-CN" sz="2000" dirty="0">
                <a:latin typeface="宋体" panose="02010600030101010101" pitchFamily="2" charset="-122"/>
              </a:rPr>
              <a:t>T-SQL</a:t>
            </a:r>
            <a:r>
              <a:rPr lang="zh-CN" altLang="en-US" sz="2000" dirty="0">
                <a:latin typeface="宋体" panose="02010600030101010101" pitchFamily="2" charset="-122"/>
              </a:rPr>
              <a:t>语句调用存储过程。</a:t>
            </a:r>
            <a:r>
              <a:rPr lang="zh-CN" altLang="en-US" sz="2000" dirty="0"/>
              <a:t> 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609600" y="838200"/>
            <a:ext cx="5715000" cy="7080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调用不带参数的存储过程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EXEC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Proc_SELECT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1577975"/>
            <a:ext cx="5715000" cy="7080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调用带参数的存储过程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EXEC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Proc_SelectByStuno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‘20130102’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9600" y="2286000"/>
            <a:ext cx="7620000" cy="1631950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</a:rPr>
              <a:t>--</a:t>
            </a:r>
            <a:r>
              <a:rPr lang="zh-CN" altLang="en-US" sz="2000" dirty="0">
                <a:solidFill>
                  <a:srgbClr val="00B050"/>
                </a:solidFill>
                <a:latin typeface="Arial" panose="020B0604020202020204" pitchFamily="34" charset="0"/>
              </a:rPr>
              <a:t>下面调用带输入参数和输出参数的存储过程</a:t>
            </a:r>
            <a:endParaRPr lang="zh-CN" altLang="en-US" sz="20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33CC"/>
                </a:solidFill>
                <a:latin typeface="Arial" panose="020B0604020202020204" pitchFamily="34" charset="0"/>
              </a:rPr>
              <a:t>DECLARE</a:t>
            </a:r>
            <a:r>
              <a:rPr lang="en-US" altLang="zh-CN" sz="2000" dirty="0">
                <a:latin typeface="Arial" panose="020B0604020202020204" pitchFamily="34" charset="0"/>
              </a:rPr>
              <a:t> @sex CHAR(2)='</a:t>
            </a:r>
            <a:r>
              <a:rPr lang="zh-CN" altLang="en-US" sz="2000" dirty="0">
                <a:latin typeface="Arial" panose="020B0604020202020204" pitchFamily="34" charset="0"/>
              </a:rPr>
              <a:t>女</a:t>
            </a:r>
            <a:r>
              <a:rPr lang="en-US" altLang="zh-CN" sz="2000" dirty="0">
                <a:latin typeface="Arial" panose="020B0604020202020204" pitchFamily="34" charset="0"/>
              </a:rPr>
              <a:t>';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33CC"/>
                </a:solidFill>
                <a:latin typeface="Arial" panose="020B0604020202020204" pitchFamily="34" charset="0"/>
              </a:rPr>
              <a:t>DECLARE</a:t>
            </a:r>
            <a:r>
              <a:rPr lang="en-US" altLang="zh-CN" sz="2000" dirty="0">
                <a:latin typeface="Arial" panose="020B0604020202020204" pitchFamily="34" charset="0"/>
              </a:rPr>
              <a:t> @count INT</a:t>
            </a:r>
            <a:endParaRPr lang="en-US" altLang="zh-CN" sz="2000" dirty="0"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33CC"/>
                </a:solidFill>
                <a:latin typeface="Arial" panose="020B0604020202020204" pitchFamily="34" charset="0"/>
              </a:rPr>
              <a:t>EXEC </a:t>
            </a:r>
            <a:r>
              <a:rPr lang="en-US" altLang="zh-CN" sz="2000" dirty="0">
                <a:solidFill>
                  <a:srgbClr val="006699"/>
                </a:solidFill>
                <a:latin typeface="Arial" panose="020B0604020202020204" pitchFamily="34" charset="0"/>
              </a:rPr>
              <a:t>Proc_SelectByStus</a:t>
            </a:r>
            <a:r>
              <a:rPr lang="en-US" altLang="zh-CN" sz="2000" dirty="0">
                <a:solidFill>
                  <a:srgbClr val="0033CC"/>
                </a:solidFill>
                <a:latin typeface="Arial" panose="020B0604020202020204" pitchFamily="34" charset="0"/>
              </a:rPr>
              <a:t>ex </a:t>
            </a:r>
            <a:r>
              <a:rPr lang="en-US" altLang="zh-CN" sz="2000" dirty="0">
                <a:latin typeface="Arial" panose="020B0604020202020204" pitchFamily="34" charset="0"/>
              </a:rPr>
              <a:t>@sex, @count </a:t>
            </a:r>
            <a:r>
              <a:rPr lang="en-US" altLang="zh-CN" sz="2000" dirty="0">
                <a:solidFill>
                  <a:srgbClr val="0033CC"/>
                </a:solidFill>
                <a:latin typeface="Arial" panose="020B0604020202020204" pitchFamily="34" charset="0"/>
              </a:rPr>
              <a:t>OUTPUT</a:t>
            </a:r>
            <a:endParaRPr lang="en-US" altLang="zh-CN" sz="2000" dirty="0">
              <a:solidFill>
                <a:srgbClr val="0033CC"/>
              </a:solidFill>
              <a:latin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33CC"/>
                </a:solidFill>
                <a:latin typeface="Arial" panose="020B0604020202020204" pitchFamily="34" charset="0"/>
              </a:rPr>
              <a:t>SELECT</a:t>
            </a:r>
            <a:r>
              <a:rPr lang="en-US" altLang="zh-CN" sz="2000" dirty="0">
                <a:latin typeface="Arial" panose="020B0604020202020204" pitchFamily="34" charset="0"/>
              </a:rPr>
              <a:t> @count AS '</a:t>
            </a:r>
            <a:r>
              <a:rPr lang="zh-CN" altLang="en-US" sz="2000" dirty="0">
                <a:latin typeface="Arial" panose="020B0604020202020204" pitchFamily="34" charset="0"/>
              </a:rPr>
              <a:t>人数</a:t>
            </a:r>
            <a:r>
              <a:rPr lang="en-US" altLang="zh-CN" sz="2000" dirty="0">
                <a:latin typeface="Arial" panose="020B0604020202020204" pitchFamily="34" charset="0"/>
              </a:rPr>
              <a:t>'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pic>
        <p:nvPicPr>
          <p:cNvPr id="3584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267200"/>
            <a:ext cx="5543550" cy="1295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638800"/>
            <a:ext cx="1095375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72200"/>
            <a:ext cx="981075" cy="447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81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52400"/>
            <a:ext cx="6010275" cy="6553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10.4.3</a:t>
            </a:r>
            <a:r>
              <a:rPr lang="zh-CN" altLang="en-US" dirty="0"/>
              <a:t>使用</a:t>
            </a:r>
            <a:r>
              <a:rPr lang="en-US" altLang="zh-CN" dirty="0"/>
              <a:t>T-SQL</a:t>
            </a:r>
            <a:r>
              <a:rPr lang="zh-CN" altLang="en-US" dirty="0"/>
              <a:t>删除存储过程 </a:t>
            </a:r>
            <a:endParaRPr lang="zh-CN" altLang="en-US" dirty="0"/>
          </a:p>
        </p:txBody>
      </p:sp>
      <p:sp>
        <p:nvSpPr>
          <p:cNvPr id="187396" name="Rectangle 4"/>
          <p:cNvSpPr/>
          <p:nvPr/>
        </p:nvSpPr>
        <p:spPr>
          <a:xfrm>
            <a:off x="1139825" y="1676400"/>
            <a:ext cx="4422775" cy="923925"/>
          </a:xfrm>
          <a:prstGeom prst="rect">
            <a:avLst/>
          </a:prstGeom>
          <a:solidFill>
            <a:schemeClr val="bg2">
              <a:alpha val="50195"/>
            </a:schemeClr>
          </a:solidFill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Arial" panose="020B0604020202020204" pitchFamily="34" charset="0"/>
              </a:rPr>
              <a:t>使用</a:t>
            </a:r>
            <a:r>
              <a:rPr lang="en-US" altLang="zh-CN" dirty="0">
                <a:latin typeface="Arial" panose="020B0604020202020204" pitchFamily="34" charset="0"/>
              </a:rPr>
              <a:t>T-SQL</a:t>
            </a:r>
            <a:r>
              <a:rPr lang="zh-CN" altLang="en-US" dirty="0">
                <a:latin typeface="Arial" panose="020B0604020202020204" pitchFamily="34" charset="0"/>
              </a:rPr>
              <a:t>删除存储过程的语法如下。 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DROP PROCEDURE </a:t>
            </a:r>
            <a:r>
              <a:rPr lang="zh-CN" altLang="en-US" dirty="0">
                <a:latin typeface="Arial" panose="020B0604020202020204" pitchFamily="34" charset="0"/>
              </a:rPr>
              <a:t>存储过程名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7397" name="Rectangle 5"/>
          <p:cNvSpPr/>
          <p:nvPr/>
        </p:nvSpPr>
        <p:spPr>
          <a:xfrm>
            <a:off x="1143000" y="3124200"/>
            <a:ext cx="5073650" cy="3698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任务：使用</a:t>
            </a:r>
            <a:r>
              <a:rPr lang="en-US" altLang="zh-CN" sz="1600" dirty="0">
                <a:latin typeface="宋体" panose="02010600030101010101" pitchFamily="2" charset="-122"/>
              </a:rPr>
              <a:t>T-SQL</a:t>
            </a:r>
            <a:r>
              <a:rPr lang="zh-CN" altLang="en-US" sz="1600" dirty="0">
                <a:latin typeface="宋体" panose="02010600030101010101" pitchFamily="2" charset="-122"/>
              </a:rPr>
              <a:t>语句删除存储过程</a:t>
            </a:r>
            <a:r>
              <a:rPr lang="en-US" altLang="zh-CN" sz="1600" dirty="0">
                <a:latin typeface="宋体" panose="02010600030101010101" pitchFamily="2" charset="-122"/>
              </a:rPr>
              <a:t>Proc_SELECT</a:t>
            </a:r>
            <a:r>
              <a:rPr lang="zh-CN" altLang="en-US" sz="1600" dirty="0">
                <a:latin typeface="宋体" panose="02010600030101010101" pitchFamily="2" charset="-122"/>
              </a:rPr>
              <a:t>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0" y="3733800"/>
            <a:ext cx="4906963" cy="646113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删除存储过程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Proc_SELECT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DROP PROCEDURE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Proc_SELECT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43000" y="4495800"/>
            <a:ext cx="459105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89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6" grpId="0" animBg="1"/>
      <p:bldP spid="187397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>
                <a:latin typeface="宋体" panose="02010600030101010101" pitchFamily="2" charset="-122"/>
              </a:rPr>
              <a:t>10.4.4</a:t>
            </a:r>
            <a:r>
              <a:rPr lang="zh-CN" altLang="en-US" sz="3200" dirty="0">
                <a:latin typeface="宋体" panose="02010600030101010101" pitchFamily="2" charset="-122"/>
              </a:rPr>
              <a:t>使用</a:t>
            </a:r>
            <a:r>
              <a:rPr lang="en-US" altLang="zh-CN" sz="3200" dirty="0">
                <a:latin typeface="宋体" panose="02010600030101010101" pitchFamily="2" charset="-122"/>
              </a:rPr>
              <a:t>SSMS</a:t>
            </a:r>
            <a:r>
              <a:rPr lang="zh-CN" altLang="en-US" sz="3200" dirty="0">
                <a:latin typeface="宋体" panose="02010600030101010101" pitchFamily="2" charset="-122"/>
              </a:rPr>
              <a:t>图形界面创建存储过程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88420" name="Rectangle 4"/>
          <p:cNvSpPr/>
          <p:nvPr/>
        </p:nvSpPr>
        <p:spPr>
          <a:xfrm>
            <a:off x="762000" y="1752600"/>
            <a:ext cx="6861175" cy="376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任务：使用</a:t>
            </a:r>
            <a:r>
              <a:rPr lang="en-US" altLang="zh-CN" sz="1600" dirty="0">
                <a:latin typeface="宋体" panose="02010600030101010101" pitchFamily="2" charset="-122"/>
              </a:rPr>
              <a:t>SSMS</a:t>
            </a:r>
            <a:r>
              <a:rPr lang="zh-CN" altLang="en-US" sz="1600" dirty="0">
                <a:latin typeface="宋体" panose="02010600030101010101" pitchFamily="2" charset="-122"/>
              </a:rPr>
              <a:t>图形界面创建存储过程，查看</a:t>
            </a:r>
            <a:r>
              <a:rPr lang="en-US" altLang="zh-CN" sz="1600" dirty="0">
                <a:latin typeface="宋体" panose="02010600030101010101" pitchFamily="2" charset="-122"/>
              </a:rPr>
              <a:t>Teacher</a:t>
            </a:r>
            <a:r>
              <a:rPr lang="zh-CN" altLang="en-US" sz="1600" dirty="0">
                <a:latin typeface="宋体" panose="02010600030101010101" pitchFamily="2" charset="-122"/>
              </a:rPr>
              <a:t>表中所有字段信息。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536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3362325" cy="4219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2819400" y="3094038"/>
            <a:ext cx="5791200" cy="14779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CREATE PROCEDURE Proc_SelectTeacher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AS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BEGIN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 SELECT * FROM Teacher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END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1536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8" y="228600"/>
            <a:ext cx="8501062" cy="6324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4213" y="2940050"/>
            <a:ext cx="5438775" cy="2562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76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0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>
                <a:latin typeface="宋体" panose="02010600030101010101" pitchFamily="2" charset="-122"/>
              </a:rPr>
              <a:t>10.4.5</a:t>
            </a:r>
            <a:r>
              <a:rPr lang="zh-CN" altLang="en-US" sz="3200" dirty="0">
                <a:latin typeface="宋体" panose="02010600030101010101" pitchFamily="2" charset="-122"/>
              </a:rPr>
              <a:t>使用</a:t>
            </a:r>
            <a:r>
              <a:rPr lang="en-US" altLang="zh-CN" sz="3200" dirty="0">
                <a:latin typeface="宋体" panose="02010600030101010101" pitchFamily="2" charset="-122"/>
              </a:rPr>
              <a:t>SSMS</a:t>
            </a:r>
            <a:r>
              <a:rPr lang="zh-CN" altLang="en-US" sz="3200" dirty="0">
                <a:latin typeface="宋体" panose="02010600030101010101" pitchFamily="2" charset="-122"/>
              </a:rPr>
              <a:t>图形界面调用存储过程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90468" name="Rectangle 4"/>
          <p:cNvSpPr/>
          <p:nvPr/>
        </p:nvSpPr>
        <p:spPr>
          <a:xfrm>
            <a:off x="1143000" y="2514600"/>
            <a:ext cx="4727575" cy="376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1600" dirty="0">
                <a:latin typeface="宋体" panose="02010600030101010101" pitchFamily="2" charset="-122"/>
              </a:rPr>
              <a:t>任务一：调用存储过程“</a:t>
            </a:r>
            <a:r>
              <a:rPr lang="en-US" altLang="zh-CN" sz="1600" dirty="0">
                <a:latin typeface="宋体" panose="02010600030101010101" pitchFamily="2" charset="-122"/>
              </a:rPr>
              <a:t>Proc_SelectTeacher”</a:t>
            </a:r>
            <a:r>
              <a:rPr lang="zh-CN" altLang="en-US" sz="1600" dirty="0">
                <a:latin typeface="宋体" panose="02010600030101010101" pitchFamily="2" charset="-122"/>
              </a:rPr>
              <a:t>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0469" name="Rectangle 5"/>
          <p:cNvSpPr/>
          <p:nvPr/>
        </p:nvSpPr>
        <p:spPr>
          <a:xfrm>
            <a:off x="990600" y="2043113"/>
            <a:ext cx="2947988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调用不带参数的存储过程</a:t>
            </a:r>
            <a:endParaRPr lang="zh-CN" altLang="en-US" b="1" dirty="0">
              <a:solidFill>
                <a:srgbClr val="003366"/>
              </a:solidFill>
              <a:latin typeface="宋体" panose="02010600030101010101" pitchFamily="2" charset="-122"/>
            </a:endParaRPr>
          </a:p>
        </p:txBody>
      </p:sp>
      <p:pic>
        <p:nvPicPr>
          <p:cNvPr id="16391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381000"/>
            <a:ext cx="4543425" cy="62579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6392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33400"/>
            <a:ext cx="6705600" cy="601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3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81000"/>
            <a:ext cx="5895975" cy="617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1" dur="2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8" grpId="0" animBg="1"/>
      <p:bldP spid="19046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6"/>
          <p:cNvSpPr/>
          <p:nvPr/>
        </p:nvSpPr>
        <p:spPr>
          <a:xfrm>
            <a:off x="609600" y="609600"/>
            <a:ext cx="278130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b="1" dirty="0">
                <a:solidFill>
                  <a:srgbClr val="003366"/>
                </a:solidFill>
                <a:latin typeface="宋体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003366"/>
                </a:solidFill>
                <a:latin typeface="宋体" panose="02010600030101010101" pitchFamily="2" charset="-122"/>
              </a:rPr>
              <a:t>调用带参数的存储过程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762000" y="1066800"/>
            <a:ext cx="4829175" cy="376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r>
              <a:rPr lang="zh-CN" altLang="en-US" sz="1600" dirty="0">
                <a:latin typeface="宋体" panose="02010600030101010101" pitchFamily="2" charset="-122"/>
              </a:rPr>
              <a:t>任务二：调用存储过程“</a:t>
            </a:r>
            <a:r>
              <a:rPr lang="en-US" altLang="zh-CN" sz="1600" dirty="0">
                <a:latin typeface="宋体" panose="02010600030101010101" pitchFamily="2" charset="-122"/>
              </a:rPr>
              <a:t>Proc_SelectByStusex”</a:t>
            </a:r>
            <a:r>
              <a:rPr lang="zh-CN" altLang="en-US" sz="1600" dirty="0">
                <a:latin typeface="宋体" panose="02010600030101010101" pitchFamily="2" charset="-122"/>
              </a:rPr>
              <a:t>。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686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28600"/>
            <a:ext cx="4486275" cy="6467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1000"/>
            <a:ext cx="6705600" cy="601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81000"/>
            <a:ext cx="6705600" cy="601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70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381000"/>
            <a:ext cx="6705600" cy="601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71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80975"/>
            <a:ext cx="5905500" cy="6677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2" dur="20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2" dur="20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52" dur="20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>
                <a:latin typeface="宋体" panose="02010600030101010101" pitchFamily="2" charset="-122"/>
              </a:rPr>
              <a:t>10.4.6</a:t>
            </a:r>
            <a:r>
              <a:rPr lang="zh-CN" altLang="en-US" sz="3200" dirty="0">
                <a:latin typeface="宋体" panose="02010600030101010101" pitchFamily="2" charset="-122"/>
              </a:rPr>
              <a:t>使用</a:t>
            </a:r>
            <a:r>
              <a:rPr lang="en-US" altLang="zh-CN" sz="3200" dirty="0">
                <a:latin typeface="宋体" panose="02010600030101010101" pitchFamily="2" charset="-122"/>
              </a:rPr>
              <a:t>SSMS</a:t>
            </a:r>
            <a:r>
              <a:rPr lang="zh-CN" altLang="en-US" sz="3200" dirty="0">
                <a:latin typeface="宋体" panose="02010600030101010101" pitchFamily="2" charset="-122"/>
              </a:rPr>
              <a:t>图形界面删除存储过程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191493" name="Rectangle 5"/>
          <p:cNvSpPr/>
          <p:nvPr/>
        </p:nvSpPr>
        <p:spPr>
          <a:xfrm>
            <a:off x="990600" y="1600200"/>
            <a:ext cx="4702175" cy="376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dirty="0">
                <a:latin typeface="Arial" panose="020B0604020202020204" pitchFamily="34" charset="0"/>
              </a:rPr>
              <a:t>任务：删除存储过程“</a:t>
            </a:r>
            <a:r>
              <a:rPr lang="en-US" altLang="zh-CN" dirty="0">
                <a:latin typeface="Arial" panose="020B0604020202020204" pitchFamily="34" charset="0"/>
              </a:rPr>
              <a:t>Proc_SelectTeacher”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741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66675"/>
            <a:ext cx="4276725" cy="6638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19100"/>
            <a:ext cx="6705600" cy="6019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10.5</a:t>
            </a:r>
            <a:r>
              <a:rPr lang="zh-CN" altLang="en-US" dirty="0"/>
              <a:t>本章总结 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4419600"/>
          </a:xfrm>
          <a:solidFill>
            <a:schemeClr val="accent2">
              <a:alpha val="49019"/>
            </a:schemeClr>
          </a:solidFill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/>
              <a:t>1.  </a:t>
            </a:r>
            <a:r>
              <a:rPr lang="zh-CN" altLang="en-US" sz="1700" dirty="0"/>
              <a:t>一个逻辑工作单元要成为事务，必须满足</a:t>
            </a:r>
            <a:r>
              <a:rPr lang="en-US" altLang="zh-CN" sz="1700" dirty="0"/>
              <a:t>ACID</a:t>
            </a:r>
            <a:r>
              <a:rPr lang="zh-CN" altLang="en-US" sz="1700" dirty="0"/>
              <a:t>属性。分别是原子性、一致性、隔离性、持久性。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/>
              <a:t>2.  SQL Server</a:t>
            </a:r>
            <a:r>
              <a:rPr lang="zh-CN" altLang="en-US" sz="1700" dirty="0"/>
              <a:t>中常用的事务管理语句如下：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zh-CN" sz="1700" dirty="0"/>
              <a:t>BEGIN TRANSACTION</a:t>
            </a:r>
            <a:r>
              <a:rPr lang="zh-CN" altLang="en-US" sz="1700" dirty="0"/>
              <a:t>：开始事务。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zh-CN" sz="1700" dirty="0"/>
              <a:t>COMMIT TRANSACTION</a:t>
            </a:r>
            <a:r>
              <a:rPr lang="zh-CN" altLang="en-US" sz="1700" dirty="0"/>
              <a:t>：提交事务。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zh-CN" sz="1700" dirty="0"/>
              <a:t>ROLLBACK TRANSACTION</a:t>
            </a:r>
            <a:r>
              <a:rPr lang="zh-CN" altLang="en-US" sz="1700" dirty="0"/>
              <a:t>：回滚（撤销）事务。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/>
              <a:t>3.  </a:t>
            </a:r>
            <a:r>
              <a:rPr lang="zh-CN" altLang="en-US" sz="1700" dirty="0"/>
              <a:t>存储过程就是为了实现特定任务，而将一些需要多次调用的固定操作语句编写成程序段，这些程序段存储在服务器上，由数据库服务器通过子程序来调用。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/>
              <a:t>4.  </a:t>
            </a:r>
            <a:r>
              <a:rPr lang="zh-CN" altLang="en-US" sz="1700" dirty="0"/>
              <a:t>存储过程可以加快查询的执行速度，提高访问数据的速度，帮助实现模块化编程，保持一致性和提高安全性。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/>
              <a:t>5.  </a:t>
            </a:r>
            <a:r>
              <a:rPr lang="zh-CN" altLang="en-US" sz="1700" dirty="0"/>
              <a:t>存储过程分为三类：系统存储过程、用户自定义的存储过程和扩展存储过程。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/>
              <a:t>6.  CREATE PROCEDURE</a:t>
            </a:r>
            <a:r>
              <a:rPr lang="zh-CN" altLang="en-US" sz="1700" dirty="0"/>
              <a:t>语句用于创建用户定义存储过程。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/>
              <a:t>7.  EXEC</a:t>
            </a:r>
            <a:r>
              <a:rPr lang="zh-CN" altLang="en-US" sz="1700" dirty="0"/>
              <a:t>语句用于调用执行存储过程。</a:t>
            </a:r>
            <a:endParaRPr lang="zh-CN" altLang="en-US" sz="17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/>
              <a:t>8.  </a:t>
            </a:r>
            <a:r>
              <a:rPr lang="zh-CN" altLang="en-US" sz="1700" dirty="0"/>
              <a:t>存储过程的参数分为输入参数和输出参数，输入参数用来向存储过程中传入值，输出参数用于从存储过程中返回（输出）值，后面跟随“</a:t>
            </a:r>
            <a:r>
              <a:rPr lang="en-US" altLang="zh-CN" sz="1700" dirty="0"/>
              <a:t>OUTPUT”</a:t>
            </a:r>
            <a:r>
              <a:rPr lang="zh-CN" altLang="en-US" sz="1700" dirty="0"/>
              <a:t>关键字。</a:t>
            </a:r>
            <a:endParaRPr lang="en-US" altLang="zh-CN" sz="17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/>
              <a:t>9.  DROP PROCEDURE</a:t>
            </a:r>
            <a:r>
              <a:rPr lang="zh-CN" altLang="en-US" sz="1700" dirty="0"/>
              <a:t>语句用于删除用户定义存储过程。</a:t>
            </a:r>
            <a:endParaRPr lang="zh-CN" alt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charRg st="0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4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charRg st="49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77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charRg st="77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101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587">
                                            <p:txEl>
                                              <p:charRg st="101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126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587">
                                            <p:txEl>
                                              <p:charRg st="126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157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7587">
                                            <p:txEl>
                                              <p:charRg st="157" end="2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230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7587">
                                            <p:txEl>
                                              <p:charRg st="230" end="2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283" end="3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7587">
                                            <p:txEl>
                                              <p:charRg st="283" end="3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322" end="3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7587">
                                            <p:txEl>
                                              <p:charRg st="322" end="3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358" end="3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7587">
                                            <p:txEl>
                                              <p:charRg st="358" end="3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380" end="4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7587">
                                            <p:txEl>
                                              <p:charRg st="380" end="4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charRg st="456" end="4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7587">
                                            <p:txEl>
                                              <p:charRg st="456" end="4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nimBg="1" build="p"/>
    </p:bldLst>
  </p:timing>
</p:sld>
</file>

<file path=ppt/tags/tag1.xml><?xml version="1.0" encoding="utf-8"?>
<p:tagLst xmlns:p="http://schemas.openxmlformats.org/presentationml/2006/main">
  <p:tag name="KSO_WPP_MARK_KEY" val="e51a333e-3668-4459-831b-0af880cd08ec"/>
</p:tagLst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0</TotalTime>
  <Words>5943</Words>
  <Application>WPS 演示</Application>
  <PresentationFormat>全屏显示(4:3)</PresentationFormat>
  <Paragraphs>441</Paragraphs>
  <Slides>32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黑体</vt:lpstr>
      <vt:lpstr>Times New Roman</vt:lpstr>
      <vt:lpstr>微软雅黑</vt:lpstr>
      <vt:lpstr>Arial Unicode MS</vt:lpstr>
      <vt:lpstr>Network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微信用户</cp:lastModifiedBy>
  <cp:revision>144</cp:revision>
  <dcterms:created xsi:type="dcterms:W3CDTF">2014-01-17T03:00:17Z</dcterms:created>
  <dcterms:modified xsi:type="dcterms:W3CDTF">2023-09-11T07:25:51Z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FEBC09A801C6495D8D175590AEB14C87_13</vt:lpwstr>
  </property>
  <property fmtid="{D5CDD505-2E9C-101B-9397-08002B2CF9AE}" pid="4" name="KSOProductBuildVer">
    <vt:lpwstr>2052-11.1.0.14309</vt:lpwstr>
  </property>
</Properties>
</file>