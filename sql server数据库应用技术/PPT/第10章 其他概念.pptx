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57" r:id="rId4"/>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Lst>
  <p:sldSz cx="9144000" cy="6858000" type="screen4x3"/>
  <p:notesSz cx="6858000" cy="9144000"/>
  <p:custDataLst>
    <p:tags r:id="rId30"/>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9" autoAdjust="0"/>
    <p:restoredTop sz="86344" autoAdjust="0"/>
  </p:normalViewPr>
  <p:slideViewPr>
    <p:cSldViewPr>
      <p:cViewPr>
        <p:scale>
          <a:sx n="90" d="100"/>
          <a:sy n="90" d="100"/>
        </p:scale>
        <p:origin x="-720" y="18"/>
      </p:cViewPr>
      <p:guideLst>
        <p:guide orient="horz" pos="2160"/>
        <p:guide pos="2880"/>
      </p:guideLst>
    </p:cSldViewPr>
  </p:slideViewPr>
  <p:outlineViewPr>
    <p:cViewPr>
      <p:scale>
        <a:sx n="33" d="100"/>
        <a:sy n="33" d="100"/>
      </p:scale>
      <p:origin x="0" y="50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0" Type="http://schemas.openxmlformats.org/officeDocument/2006/relationships/tags" Target="tags/tag1.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05B99006-AAF0-46CD-81EC-990CE30E35DE}" type="datetimeFigureOut">
              <a:rPr lang="zh-CN" altLang="en-US"/>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0B8098E3-8847-4DC3-B5DF-1BFEAD837016}"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072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27652" name="灯片编号占位符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1F6C1664-D5B7-40E2-B768-0E55A7C0D536}" type="slidenum">
              <a:rPr lang="zh-CN" altLang="en-US" smtClean="0"/>
            </a:fld>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17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smtClean="0"/>
          </a:p>
        </p:txBody>
      </p:sp>
      <p:sp>
        <p:nvSpPr>
          <p:cNvPr id="4" name="灯片编号占位符 3"/>
          <p:cNvSpPr>
            <a:spLocks noGrp="1"/>
          </p:cNvSpPr>
          <p:nvPr>
            <p:ph type="sldNum" sz="quarter" idx="5"/>
          </p:nvPr>
        </p:nvSpPr>
        <p:spPr/>
        <p:txBody>
          <a:bodyPr/>
          <a:lstStyle/>
          <a:p>
            <a:pPr>
              <a:defRPr/>
            </a:pPr>
            <a:fld id="{08F2797A-2A24-40F4-94B5-3A8990DF9AFC}"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2"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3"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4"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5"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pPr>
              <a:defRPr/>
            </a:pPr>
            <a:fld id="{D313B8FD-073E-49A5-B313-27C89C606401}"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C7D8400E-CF1D-4F2B-96CE-8BBE175C11C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pPr>
              <a:defRPr/>
            </a:pPr>
            <a:fld id="{A2E3AEAD-2884-4D47-BC61-DACEBB8A5378}"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3147A812-543D-4EC1-8A6C-36EA91F3982D}" type="slidenum">
              <a:rPr lang="zh-CN" altLang="en-US" smtClean="0"/>
            </a:fld>
            <a:endParaRPr lang="zh-CN" altLang="en-US"/>
          </a:p>
        </p:txBody>
      </p:sp>
      <p:sp>
        <p:nvSpPr>
          <p:cNvPr id="7" name="Title 6"/>
          <p:cNvSpPr>
            <a:spLocks noGrp="1"/>
          </p:cNvSpPr>
          <p:nvPr>
            <p:ph type="title"/>
          </p:nvPr>
        </p:nvSpPr>
        <p:spPr/>
        <p:txBody>
          <a:bodyPr/>
          <a:lstStyle/>
          <a:p>
            <a:r>
              <a:rPr lang="zh-CN" altLang="en-US" smtClean="0"/>
              <a:t>单击此处编辑母版标题样式</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0" name="Freeform 18"/>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1" name="Freeform 22"/>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2" name="Freeform 26"/>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3" name="Freeform 10"/>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pPr>
              <a:defRPr/>
            </a:pPr>
            <a:fld id="{B82CDD34-968A-4478-B1E4-A583066C2A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0DDF558D-5827-4C99-A9D0-B2AB019C8287}"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5" name="Date Placeholder 4"/>
          <p:cNvSpPr>
            <a:spLocks noGrp="1"/>
          </p:cNvSpPr>
          <p:nvPr>
            <p:ph type="dt" sz="half" idx="10"/>
          </p:nvPr>
        </p:nvSpPr>
        <p:spPr/>
        <p:txBody>
          <a:bodyPr/>
          <a:lstStyle/>
          <a:p>
            <a:pPr>
              <a:defRPr/>
            </a:pPr>
            <a:fld id="{BC2C9B60-29CD-4999-8F0F-10729EBDE99D}" type="datetimeFigureOut">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7D10441C-B4C2-4642-9B3A-C663FAC28A47}" type="slidenum">
              <a:rPr lang="zh-CN" altLang="en-US" smtClean="0"/>
            </a:fld>
            <a:endParaRPr lang="zh-CN" altLang="en-US"/>
          </a:p>
        </p:txBody>
      </p:sp>
      <p:sp>
        <p:nvSpPr>
          <p:cNvPr id="9" name="Content Placeholder 8"/>
          <p:cNvSpPr>
            <a:spLocks noGrp="1"/>
          </p:cNvSpPr>
          <p:nvPr>
            <p:ph sz="quarter" idx="13"/>
          </p:nvPr>
        </p:nvSpPr>
        <p:spPr>
          <a:xfrm>
            <a:off x="676655" y="2679192"/>
            <a:ext cx="3822192" cy="34472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pPr>
              <a:defRPr/>
            </a:pPr>
            <a:fld id="{AE0529FE-ABBC-4941-9C10-A1E70F25D47A}" type="datetimeFigureOut">
              <a:rPr lang="zh-CN" altLang="en-US" smtClean="0"/>
            </a:fld>
            <a:endParaRPr lang="zh-CN" altLang="en-US"/>
          </a:p>
        </p:txBody>
      </p:sp>
      <p:sp>
        <p:nvSpPr>
          <p:cNvPr id="8" name="Footer Placeholder 7"/>
          <p:cNvSpPr>
            <a:spLocks noGrp="1"/>
          </p:cNvSpPr>
          <p:nvPr>
            <p:ph type="ftr" sz="quarter" idx="11"/>
          </p:nvPr>
        </p:nvSpPr>
        <p:spPr/>
        <p:txBody>
          <a:bodyPr/>
          <a:lstStyle/>
          <a:p>
            <a:pPr>
              <a:defRPr/>
            </a:pPr>
            <a:endParaRPr lang="zh-CN" altLang="en-US"/>
          </a:p>
        </p:txBody>
      </p:sp>
      <p:sp>
        <p:nvSpPr>
          <p:cNvPr id="9" name="Slide Number Placeholder 8"/>
          <p:cNvSpPr>
            <a:spLocks noGrp="1"/>
          </p:cNvSpPr>
          <p:nvPr>
            <p:ph type="sldNum" sz="quarter" idx="12"/>
          </p:nvPr>
        </p:nvSpPr>
        <p:spPr/>
        <p:txBody>
          <a:bodyPr/>
          <a:lstStyle/>
          <a:p>
            <a:pPr>
              <a:defRPr/>
            </a:pPr>
            <a:fld id="{46D7C174-53B5-4FB1-9EB5-E76CF1D92BD7}"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pPr>
              <a:defRPr/>
            </a:pPr>
            <a:fld id="{AAB63347-7CC4-4045-B3A9-C681D78947C9}" type="datetimeFigureOut">
              <a:rPr lang="en-US" smtClean="0"/>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83BCE0F6-31D8-41AD-B195-57278E67003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Date Placeholder 1"/>
          <p:cNvSpPr>
            <a:spLocks noGrp="1"/>
          </p:cNvSpPr>
          <p:nvPr>
            <p:ph type="dt" sz="half" idx="10"/>
          </p:nvPr>
        </p:nvSpPr>
        <p:spPr/>
        <p:txBody>
          <a:bodyPr/>
          <a:lstStyle/>
          <a:p>
            <a:pPr>
              <a:defRPr/>
            </a:pPr>
            <a:fld id="{C6CE8481-E611-4DAD-802B-48C3A783E517}" type="datetimeFigureOut">
              <a:rPr lang="zh-CN" altLang="en-US" smtClean="0"/>
            </a:fld>
            <a:endParaRPr lang="zh-CN" altLang="en-US"/>
          </a:p>
        </p:txBody>
      </p:sp>
      <p:sp>
        <p:nvSpPr>
          <p:cNvPr id="3" name="Footer Placeholder 2"/>
          <p:cNvSpPr>
            <a:spLocks noGrp="1"/>
          </p:cNvSpPr>
          <p:nvPr>
            <p:ph type="ftr" sz="quarter" idx="11"/>
          </p:nvPr>
        </p:nvSpPr>
        <p:spPr/>
        <p:txBody>
          <a:bodyPr/>
          <a:lstStyle/>
          <a:p>
            <a:pPr>
              <a:defRPr/>
            </a:pPr>
            <a:endParaRPr lang="zh-CN" altLang="en-US"/>
          </a:p>
        </p:txBody>
      </p:sp>
      <p:sp>
        <p:nvSpPr>
          <p:cNvPr id="4" name="Slide Number Placeholder 3"/>
          <p:cNvSpPr>
            <a:spLocks noGrp="1"/>
          </p:cNvSpPr>
          <p:nvPr>
            <p:ph type="sldNum" sz="quarter" idx="12"/>
          </p:nvPr>
        </p:nvSpPr>
        <p:spPr/>
        <p:txBody>
          <a:bodyPr/>
          <a:lstStyle/>
          <a:p>
            <a:pPr>
              <a:defRPr/>
            </a:pPr>
            <a:fld id="{FA4E8ABF-6215-4376-ABB9-FFFDA228241E}"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pPr>
              <a:defRPr/>
            </a:pPr>
            <a:fld id="{B7D0F062-7054-4375-9B1F-C029882C943F}" type="datetimeFigureOut">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AD015F9F-FCED-4104-BB18-423509288D19}" type="slidenum">
              <a:rPr lang="zh-CN" altLang="en-US" smtClean="0"/>
            </a:fld>
            <a:endParaRPr lang="zh-CN" alt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26"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27"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8"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9" name="Freeform 28"/>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1"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2"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3"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4"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pPr>
              <a:defRPr/>
            </a:pPr>
            <a:fld id="{74E11E0E-3BEA-4B5D-8FF5-D44B6794CDFE}" type="datetimeFigureOut">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C8574C52-86DD-4F7E-A747-F87CDC3663C6}" type="slidenum">
              <a:rPr lang="zh-CN" altLang="en-US" smtClean="0"/>
            </a:fld>
            <a:endParaRPr lang="zh-CN" alt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pPr>
              <a:defRPr/>
            </a:pPr>
            <a:fld id="{59B41A2A-4102-4FB2-B82C-5E8BE4F355BF}"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A7F5D4AB-2667-4E79-8948-3698A05EDFED}"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pPr>
              <a:defRPr/>
            </a:pPr>
            <a:fld id="{34D284A5-9963-4601-8393-3660606BF0D6}"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E0693C1D-21A8-48C4-84B1-FEBBD3CEAEA4}" type="slidenum">
              <a:rPr lang="zh-CN" altLang="en-US" smtClean="0"/>
            </a:fld>
            <a:endParaRPr lang="zh-CN" alt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7"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8"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9"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0" name="Freeform 19"/>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pPr>
              <a:defRPr/>
            </a:pPr>
            <a:fld id="{FBBBAB05-914D-4BCC-B5E5-85087C00357D}" type="datetimeFigureOut">
              <a:rPr lang="zh-CN" altLang="en-US" smtClean="0"/>
            </a:fld>
            <a:endParaRPr lang="zh-CN" alt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pPr>
              <a:defRPr/>
            </a:pPr>
            <a:endParaRPr lang="zh-CN" alt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pPr>
              <a:defRPr/>
            </a:pPr>
            <a:fld id="{F302AC3E-CA32-42B6-BAC6-2418686A73EE}" type="slidenum">
              <a:rPr lang="zh-CN" altLang="en-US" smtClean="0"/>
            </a:fld>
            <a:endParaRPr lang="zh-CN" alt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slide" Target="slide17.xml"/><Relationship Id="rId2" Type="http://schemas.openxmlformats.org/officeDocument/2006/relationships/slide" Target="slide15.xml"/><Relationship Id="rId1" Type="http://schemas.openxmlformats.org/officeDocument/2006/relationships/slide" Target="slide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zh-CN" altLang="zh-CN" dirty="0">
                <a:effectLst/>
              </a:rPr>
              <a:t>第</a:t>
            </a:r>
            <a:r>
              <a:rPr lang="en-US" altLang="zh-CN" dirty="0">
                <a:effectLst/>
              </a:rPr>
              <a:t>10</a:t>
            </a:r>
            <a:r>
              <a:rPr lang="zh-CN" altLang="zh-CN" dirty="0" smtClean="0">
                <a:effectLst/>
              </a:rPr>
              <a:t>章</a:t>
            </a:r>
            <a:r>
              <a:rPr lang="en-US" altLang="zh-CN" dirty="0" smtClean="0">
                <a:effectLst/>
              </a:rPr>
              <a:t>  </a:t>
            </a:r>
            <a:r>
              <a:rPr lang="zh-CN" altLang="zh-CN" dirty="0" smtClean="0">
                <a:effectLst/>
              </a:rPr>
              <a:t>其他</a:t>
            </a:r>
            <a:r>
              <a:rPr lang="zh-CN" altLang="zh-CN" dirty="0">
                <a:effectLst/>
              </a:rPr>
              <a:t>概念</a:t>
            </a:r>
            <a:endParaRPr lang="zh-CN" altLang="en-US" dirty="0"/>
          </a:p>
        </p:txBody>
      </p:sp>
      <p:sp>
        <p:nvSpPr>
          <p:cNvPr id="6147" name="TextBox 4"/>
          <p:cNvSpPr txBox="1">
            <a:spLocks noChangeArrowheads="1"/>
          </p:cNvSpPr>
          <p:nvPr/>
        </p:nvSpPr>
        <p:spPr bwMode="auto">
          <a:xfrm>
            <a:off x="755650" y="1916113"/>
            <a:ext cx="40322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a:hlinkClick r:id="rId1" action="ppaction://hlinksldjump"/>
              </a:rPr>
              <a:t>10.1  </a:t>
            </a:r>
            <a:r>
              <a:rPr lang="zh-CN" altLang="zh-CN" sz="2400" b="1">
                <a:hlinkClick r:id="rId1" action="ppaction://hlinksldjump"/>
              </a:rPr>
              <a:t>事</a:t>
            </a:r>
            <a:r>
              <a:rPr lang="en-US" altLang="zh-CN" sz="2400" b="1">
                <a:hlinkClick r:id="rId1" action="ppaction://hlinksldjump"/>
              </a:rPr>
              <a:t>    </a:t>
            </a:r>
            <a:r>
              <a:rPr lang="zh-CN" altLang="zh-CN" sz="2400" b="1">
                <a:hlinkClick r:id="rId1" action="ppaction://hlinksldjump"/>
              </a:rPr>
              <a:t>务</a:t>
            </a:r>
            <a:endParaRPr lang="zh-CN" altLang="zh-CN" sz="2400" b="1"/>
          </a:p>
        </p:txBody>
      </p:sp>
      <p:sp>
        <p:nvSpPr>
          <p:cNvPr id="6148" name="TextBox 5"/>
          <p:cNvSpPr txBox="1">
            <a:spLocks noChangeArrowheads="1"/>
          </p:cNvSpPr>
          <p:nvPr/>
        </p:nvSpPr>
        <p:spPr bwMode="auto">
          <a:xfrm>
            <a:off x="755650" y="2708275"/>
            <a:ext cx="40322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a:hlinkClick r:id="rId2" action="ppaction://hlinksldjump"/>
              </a:rPr>
              <a:t>10.2  </a:t>
            </a:r>
            <a:r>
              <a:rPr lang="zh-CN" altLang="zh-CN" sz="2400" b="1">
                <a:hlinkClick r:id="rId2" action="ppaction://hlinksldjump"/>
              </a:rPr>
              <a:t>锁</a:t>
            </a:r>
            <a:r>
              <a:rPr lang="en-US" altLang="zh-CN" sz="2400" b="1">
                <a:hlinkClick r:id="rId2" action="ppaction://hlinksldjump"/>
              </a:rPr>
              <a:t>    </a:t>
            </a:r>
            <a:r>
              <a:rPr lang="zh-CN" altLang="zh-CN" sz="2400" b="1">
                <a:hlinkClick r:id="rId2" action="ppaction://hlinksldjump"/>
              </a:rPr>
              <a:t>定</a:t>
            </a:r>
            <a:endParaRPr lang="zh-CN" altLang="zh-CN" sz="2400" b="1"/>
          </a:p>
        </p:txBody>
      </p:sp>
      <p:sp>
        <p:nvSpPr>
          <p:cNvPr id="6149" name="TextBox 6"/>
          <p:cNvSpPr txBox="1">
            <a:spLocks noChangeArrowheads="1"/>
          </p:cNvSpPr>
          <p:nvPr/>
        </p:nvSpPr>
        <p:spPr bwMode="auto">
          <a:xfrm>
            <a:off x="755650" y="3500438"/>
            <a:ext cx="40322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a:hlinkClick r:id="rId3" action="ppaction://hlinksldjump"/>
              </a:rPr>
              <a:t>10.3  </a:t>
            </a:r>
            <a:r>
              <a:rPr lang="zh-CN" altLang="zh-CN" sz="2400" b="1">
                <a:hlinkClick r:id="rId3" action="ppaction://hlinksldjump"/>
              </a:rPr>
              <a:t>自动化管理</a:t>
            </a:r>
            <a:endParaRPr lang="zh-CN" altLang="zh-CN" sz="2400" b="1"/>
          </a:p>
        </p:txBody>
      </p:sp>
    </p:spTree>
  </p:cSld>
  <p:clrMapOvr>
    <a:masterClrMapping/>
  </p:clrMapOvr>
  <p:transition spd="slow">
    <p:checke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10.1  </a:t>
            </a:r>
            <a:r>
              <a:rPr lang="zh-CN" altLang="zh-CN" dirty="0">
                <a:effectLst/>
              </a:rPr>
              <a:t>事</a:t>
            </a:r>
            <a:r>
              <a:rPr lang="en-US" altLang="zh-CN" dirty="0">
                <a:effectLst/>
              </a:rPr>
              <a:t>    </a:t>
            </a:r>
            <a:r>
              <a:rPr lang="zh-CN" altLang="zh-CN" dirty="0">
                <a:effectLst/>
              </a:rPr>
              <a:t>务</a:t>
            </a:r>
            <a:endParaRPr lang="zh-CN" altLang="zh-CN" dirty="0">
              <a:effectLst/>
            </a:endParaRPr>
          </a:p>
        </p:txBody>
      </p:sp>
      <p:sp>
        <p:nvSpPr>
          <p:cNvPr id="7171" name="TextBox 2"/>
          <p:cNvSpPr txBox="1">
            <a:spLocks noChangeArrowheads="1"/>
          </p:cNvSpPr>
          <p:nvPr/>
        </p:nvSpPr>
        <p:spPr bwMode="auto">
          <a:xfrm>
            <a:off x="468313" y="1412875"/>
            <a:ext cx="8207375"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dirty="0"/>
              <a:t>10.1.1  </a:t>
            </a:r>
            <a:r>
              <a:rPr lang="zh-CN" altLang="zh-CN" sz="2000" b="1" dirty="0"/>
              <a:t>事务与</a:t>
            </a:r>
            <a:r>
              <a:rPr lang="en-US" altLang="zh-CN" sz="2000" b="1" dirty="0"/>
              <a:t>ACID</a:t>
            </a:r>
            <a:r>
              <a:rPr lang="zh-CN" altLang="zh-CN" sz="2000" b="1" dirty="0"/>
              <a:t>属性</a:t>
            </a:r>
            <a:endParaRPr lang="zh-CN" altLang="zh-CN" sz="2000" b="1" dirty="0"/>
          </a:p>
          <a:p>
            <a:pPr eaLnBrk="1" hangingPunct="1"/>
            <a:r>
              <a:rPr lang="zh-CN" altLang="zh-CN" dirty="0"/>
              <a:t>用一个简单的例子来帮助理解事务：向公司添加一名新的雇员，如图</a:t>
            </a:r>
            <a:r>
              <a:rPr lang="en-US" altLang="zh-CN" dirty="0"/>
              <a:t>10.1</a:t>
            </a:r>
            <a:r>
              <a:rPr lang="zh-CN" altLang="zh-CN" dirty="0"/>
              <a:t>所示。这里的过程由</a:t>
            </a:r>
            <a:r>
              <a:rPr lang="en-US" altLang="zh-CN" dirty="0"/>
              <a:t>3</a:t>
            </a:r>
            <a:r>
              <a:rPr lang="zh-CN" altLang="zh-CN" dirty="0"/>
              <a:t>个基本步骤组成：在雇员数据库中为雇员创建一条记录；为雇员分配部门；建立雇员的工资记录。这</a:t>
            </a:r>
            <a:r>
              <a:rPr lang="en-US" altLang="zh-CN" dirty="0"/>
              <a:t>3</a:t>
            </a:r>
            <a:r>
              <a:rPr lang="zh-CN" altLang="zh-CN" dirty="0"/>
              <a:t>项任务构成了一个事务，任何一个任务的失败都会导致整个事务被撤销，而使系统返回到以前的状态。</a:t>
            </a:r>
            <a:endParaRPr lang="zh-CN" altLang="zh-CN" dirty="0"/>
          </a:p>
          <a:p>
            <a:pPr eaLnBrk="1" hangingPunct="1"/>
            <a:endParaRPr lang="zh-CN" altLang="en-US" dirty="0"/>
          </a:p>
        </p:txBody>
      </p:sp>
      <p:pic>
        <p:nvPicPr>
          <p:cNvPr id="7172" name="Picture 2" descr="11D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571875" y="3068638"/>
            <a:ext cx="1576388" cy="318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cove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10.1.1  </a:t>
            </a:r>
            <a:r>
              <a:rPr lang="zh-CN" altLang="zh-CN" dirty="0">
                <a:effectLst/>
              </a:rPr>
              <a:t>事务与</a:t>
            </a:r>
            <a:r>
              <a:rPr lang="en-US" altLang="zh-CN" dirty="0">
                <a:effectLst/>
              </a:rPr>
              <a:t>ACID</a:t>
            </a:r>
            <a:r>
              <a:rPr lang="zh-CN" altLang="zh-CN" dirty="0">
                <a:effectLst/>
              </a:rPr>
              <a:t>属性</a:t>
            </a:r>
            <a:endParaRPr lang="zh-CN" altLang="zh-CN" dirty="0">
              <a:effectLst/>
            </a:endParaRPr>
          </a:p>
        </p:txBody>
      </p:sp>
      <p:sp>
        <p:nvSpPr>
          <p:cNvPr id="8195" name="TextBox 2"/>
          <p:cNvSpPr txBox="1">
            <a:spLocks noChangeArrowheads="1"/>
          </p:cNvSpPr>
          <p:nvPr/>
        </p:nvSpPr>
        <p:spPr bwMode="auto">
          <a:xfrm>
            <a:off x="468313" y="1484313"/>
            <a:ext cx="8280400"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zh-CN"/>
              <a:t>（</a:t>
            </a:r>
            <a:r>
              <a:rPr lang="en-US" altLang="zh-CN"/>
              <a:t>1</a:t>
            </a:r>
            <a:r>
              <a:rPr lang="zh-CN" altLang="zh-CN"/>
              <a:t>）原子性。原子性意味着每个事务都必须被认为是一个不可分割的单元。假设一个事务由两个或者多个任务组成，其中的语句必须同时成功，才能认为事务是成功的。</a:t>
            </a:r>
            <a:endParaRPr lang="en-US" altLang="zh-CN"/>
          </a:p>
          <a:p>
            <a:pPr eaLnBrk="1" hangingPunct="1"/>
            <a:r>
              <a:rPr lang="zh-CN" altLang="zh-CN"/>
              <a:t>（</a:t>
            </a:r>
            <a:r>
              <a:rPr lang="en-US" altLang="zh-CN"/>
              <a:t>2</a:t>
            </a:r>
            <a:r>
              <a:rPr lang="zh-CN" altLang="zh-CN"/>
              <a:t>）一致性。不管事务是完全成功完成还是中途失败，当事务使系统中的所有数据处于一致的状态时存在一致性。参照前面的例子，一致性是指如果从系统中删除了一个雇员，则所有和该雇员相关的数据，包括工资数据和组的成员资格也要被删除。</a:t>
            </a:r>
            <a:endParaRPr lang="zh-CN" altLang="zh-CN"/>
          </a:p>
          <a:p>
            <a:pPr eaLnBrk="1" hangingPunct="1"/>
            <a:r>
              <a:rPr lang="zh-CN" altLang="zh-CN"/>
              <a:t>（</a:t>
            </a:r>
            <a:r>
              <a:rPr lang="en-US" altLang="zh-CN"/>
              <a:t>3</a:t>
            </a:r>
            <a:r>
              <a:rPr lang="zh-CN" altLang="zh-CN"/>
              <a:t>）隔离性。隔离性是指每个事务在它自己的空间发生，和其他发生在系统中的事务隔离，而且事务的结果只有在它完全被执行时才能看到。即使在这样的一个系统中同时发生了多个事务，隔离性原则也会保证某个特定事务在完全完成之前，其结果是看不见的。</a:t>
            </a:r>
            <a:endParaRPr lang="zh-CN" altLang="zh-CN"/>
          </a:p>
          <a:p>
            <a:pPr eaLnBrk="1" hangingPunct="1"/>
            <a:r>
              <a:rPr lang="zh-CN" altLang="zh-CN"/>
              <a:t>（</a:t>
            </a:r>
            <a:r>
              <a:rPr lang="en-US" altLang="zh-CN"/>
              <a:t>4</a:t>
            </a:r>
            <a:r>
              <a:rPr lang="zh-CN" altLang="zh-CN"/>
              <a:t>）持久性。持久性意味着一旦事务执行成功，在系统中产生的所有变化将是永久的。即使系统崩溃，一个提交的事务仍然存在。当一个事务完成，数据库的日志已经被更新时，持久性就开始发生作用了。</a:t>
            </a:r>
            <a:endParaRPr lang="zh-CN" altLang="en-US"/>
          </a:p>
        </p:txBody>
      </p:sp>
    </p:spTree>
  </p:cSld>
  <p:clrMapOvr>
    <a:masterClrMapping/>
  </p:clrMapOvr>
  <p:transition spd="slow">
    <p:checke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10.1.2  </a:t>
            </a:r>
            <a:r>
              <a:rPr lang="zh-CN" altLang="zh-CN" dirty="0">
                <a:effectLst/>
              </a:rPr>
              <a:t>多用户使用问题</a:t>
            </a:r>
            <a:endParaRPr lang="zh-CN" altLang="zh-CN" dirty="0">
              <a:effectLst/>
            </a:endParaRPr>
          </a:p>
        </p:txBody>
      </p:sp>
      <p:sp>
        <p:nvSpPr>
          <p:cNvPr id="9219" name="TextBox 2"/>
          <p:cNvSpPr txBox="1">
            <a:spLocks noChangeArrowheads="1"/>
          </p:cNvSpPr>
          <p:nvPr/>
        </p:nvSpPr>
        <p:spPr bwMode="auto">
          <a:xfrm>
            <a:off x="539750" y="1484313"/>
            <a:ext cx="8064500"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400"/>
              <a:t>●  </a:t>
            </a:r>
            <a:r>
              <a:rPr lang="zh-CN" altLang="zh-CN"/>
              <a:t>丢失更新（</a:t>
            </a:r>
            <a:r>
              <a:rPr lang="en-US" altLang="zh-CN"/>
              <a:t>lost update</a:t>
            </a:r>
            <a:r>
              <a:rPr lang="zh-CN" altLang="zh-CN"/>
              <a:t>）：指当两个或多个事务选择同一行，然后基于最初选定的值更新该行时，由于每个事务都不知道其他事务的存在，因此最后的更新将重写由其他事务所做的更新，这将导致数据丢失。</a:t>
            </a:r>
            <a:endParaRPr lang="zh-CN" altLang="zh-CN"/>
          </a:p>
          <a:p>
            <a:pPr eaLnBrk="1" hangingPunct="1"/>
            <a:r>
              <a:rPr lang="en-US" altLang="zh-CN" sz="1400"/>
              <a:t>●  </a:t>
            </a:r>
            <a:r>
              <a:rPr lang="zh-CN" altLang="zh-CN"/>
              <a:t>脏读（</a:t>
            </a:r>
            <a:r>
              <a:rPr lang="en-US" altLang="zh-CN"/>
              <a:t>dirty read</a:t>
            </a:r>
            <a:r>
              <a:rPr lang="zh-CN" altLang="zh-CN"/>
              <a:t>）：指一个事务正在访问数据，而其他事务正在更新该数据，但尚未提交，此时就会发生脏读问题，即第一个事务所读取的数据是“脏”（不正确）数据，它可能会引起错误。</a:t>
            </a:r>
            <a:endParaRPr lang="zh-CN" altLang="zh-CN"/>
          </a:p>
          <a:p>
            <a:pPr eaLnBrk="1" hangingPunct="1"/>
            <a:r>
              <a:rPr lang="en-US" altLang="zh-CN" sz="1400"/>
              <a:t>● </a:t>
            </a:r>
            <a:r>
              <a:rPr lang="en-US" altLang="zh-CN"/>
              <a:t> </a:t>
            </a:r>
            <a:r>
              <a:rPr lang="zh-CN" altLang="zh-CN"/>
              <a:t>不可重复读（</a:t>
            </a:r>
            <a:r>
              <a:rPr lang="en-US" altLang="zh-CN"/>
              <a:t>unrepeatable read</a:t>
            </a:r>
            <a:r>
              <a:rPr lang="zh-CN" altLang="zh-CN"/>
              <a:t>）：当一个事务多次访问同一行且每次读取不同的数据时，会发生此问题。不可重复读与脏读有相似之处，因为该事务也是正在读取其他事务正在更改的数据。当一个事务访问数据时，另外的事务也访问该数据并对其进行修改，因此就发生了由于第二个事务对数据的修改而导致第一个事务两次读到的数据不一样的情况，这就是不可重复读。</a:t>
            </a:r>
            <a:endParaRPr lang="zh-CN" altLang="zh-CN"/>
          </a:p>
          <a:p>
            <a:pPr eaLnBrk="1" hangingPunct="1"/>
            <a:r>
              <a:rPr lang="en-US" altLang="zh-CN" sz="1400"/>
              <a:t>●  </a:t>
            </a:r>
            <a:r>
              <a:rPr lang="zh-CN" altLang="zh-CN"/>
              <a:t>幻读（</a:t>
            </a:r>
            <a:r>
              <a:rPr lang="en-US" altLang="zh-CN"/>
              <a:t>phantom read</a:t>
            </a:r>
            <a:r>
              <a:rPr lang="zh-CN" altLang="zh-CN"/>
              <a:t>）：当一个事务对某行执行插入或删除操作，而该行属于某个事务正在读取的行的范围时，会发生幻读问题。事务第一次读的行范围显示出其中一行已不复存在于第二次读或后续读中，因为该行已被其他事务删除。</a:t>
            </a:r>
            <a:endParaRPr lang="zh-CN" altLang="en-US"/>
          </a:p>
        </p:txBody>
      </p:sp>
    </p:spTree>
  </p:cSld>
  <p:clrMapOvr>
    <a:masterClrMapping/>
  </p:clrMapOvr>
  <p:transition spd="slow">
    <p:cove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2781300"/>
            <a:ext cx="7775575" cy="16557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10.1.3  </a:t>
            </a:r>
            <a:r>
              <a:rPr lang="zh-CN" altLang="zh-CN" dirty="0">
                <a:effectLst/>
              </a:rPr>
              <a:t>事务处理：</a:t>
            </a:r>
            <a:r>
              <a:rPr lang="en-US" altLang="zh-CN" dirty="0">
                <a:effectLst/>
              </a:rPr>
              <a:t>BEGIN/COMMIT/ROLLBACK/SAVE /ROLLBACK TRANSACTION</a:t>
            </a:r>
            <a:endParaRPr lang="zh-CN" altLang="zh-CN" dirty="0">
              <a:effectLst/>
            </a:endParaRPr>
          </a:p>
        </p:txBody>
      </p:sp>
      <p:sp>
        <p:nvSpPr>
          <p:cNvPr id="10244" name="TextBox 2"/>
          <p:cNvSpPr txBox="1">
            <a:spLocks noChangeArrowheads="1"/>
          </p:cNvSpPr>
          <p:nvPr/>
        </p:nvSpPr>
        <p:spPr bwMode="auto">
          <a:xfrm>
            <a:off x="468313" y="1628775"/>
            <a:ext cx="8207375"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zh-CN"/>
              <a:t>系统提供的事务是在执行某些</a:t>
            </a:r>
            <a:r>
              <a:rPr lang="en-US" altLang="zh-CN"/>
              <a:t>T-SQL</a:t>
            </a:r>
            <a:r>
              <a:rPr lang="zh-CN" altLang="zh-CN"/>
              <a:t>语句时，一条语句就构成了一个事务，这些语句包括</a:t>
            </a:r>
            <a:r>
              <a:rPr lang="en-US" altLang="zh-CN"/>
              <a:t>ALTER TABLE</a:t>
            </a:r>
            <a:r>
              <a:rPr lang="zh-CN" altLang="zh-CN"/>
              <a:t>、</a:t>
            </a:r>
            <a:r>
              <a:rPr lang="en-US" altLang="zh-CN"/>
              <a:t>CREATE</a:t>
            </a:r>
            <a:r>
              <a:rPr lang="zh-CN" altLang="zh-CN"/>
              <a:t>、</a:t>
            </a:r>
            <a:r>
              <a:rPr lang="en-US" altLang="zh-CN"/>
              <a:t>DELETE</a:t>
            </a:r>
            <a:r>
              <a:rPr lang="zh-CN" altLang="zh-CN"/>
              <a:t>、</a:t>
            </a:r>
            <a:r>
              <a:rPr lang="en-US" altLang="zh-CN"/>
              <a:t>DROP</a:t>
            </a:r>
            <a:r>
              <a:rPr lang="zh-CN" altLang="zh-CN"/>
              <a:t>、</a:t>
            </a:r>
            <a:r>
              <a:rPr lang="en-US" altLang="zh-CN"/>
              <a:t>FETCH</a:t>
            </a:r>
            <a:r>
              <a:rPr lang="zh-CN" altLang="zh-CN"/>
              <a:t>、</a:t>
            </a:r>
            <a:r>
              <a:rPr lang="en-US" altLang="zh-CN"/>
              <a:t>GRANT</a:t>
            </a:r>
            <a:r>
              <a:rPr lang="zh-CN" altLang="zh-CN"/>
              <a:t>、</a:t>
            </a:r>
            <a:r>
              <a:rPr lang="en-US" altLang="zh-CN"/>
              <a:t>INSERT</a:t>
            </a:r>
            <a:r>
              <a:rPr lang="zh-CN" altLang="zh-CN"/>
              <a:t>、</a:t>
            </a:r>
            <a:r>
              <a:rPr lang="en-US" altLang="zh-CN"/>
              <a:t>OPEN</a:t>
            </a:r>
            <a:r>
              <a:rPr lang="zh-CN" altLang="zh-CN"/>
              <a:t>、</a:t>
            </a:r>
            <a:r>
              <a:rPr lang="en-US" altLang="zh-CN"/>
              <a:t>REVOKE</a:t>
            </a:r>
            <a:r>
              <a:rPr lang="zh-CN" altLang="zh-CN"/>
              <a:t>、</a:t>
            </a:r>
            <a:r>
              <a:rPr lang="en-US" altLang="zh-CN"/>
              <a:t>SELECT</a:t>
            </a:r>
            <a:r>
              <a:rPr lang="zh-CN" altLang="zh-CN"/>
              <a:t>、</a:t>
            </a:r>
            <a:r>
              <a:rPr lang="en-US" altLang="zh-CN"/>
              <a:t>UPDATE</a:t>
            </a:r>
            <a:r>
              <a:rPr lang="zh-CN" altLang="zh-CN"/>
              <a:t>、</a:t>
            </a:r>
            <a:r>
              <a:rPr lang="en-US" altLang="zh-CN"/>
              <a:t>TRUNCATE TABLE</a:t>
            </a:r>
            <a:r>
              <a:rPr lang="zh-CN" altLang="zh-CN"/>
              <a:t>。</a:t>
            </a:r>
            <a:endParaRPr lang="zh-CN" altLang="zh-CN"/>
          </a:p>
          <a:p>
            <a:pPr eaLnBrk="1" hangingPunct="1"/>
            <a:r>
              <a:rPr lang="zh-CN" altLang="zh-CN"/>
              <a:t>例如，执行如下创建表的语句：</a:t>
            </a:r>
            <a:endParaRPr lang="zh-CN" altLang="zh-CN"/>
          </a:p>
          <a:p>
            <a:pPr eaLnBrk="1" hangingPunct="1"/>
            <a:r>
              <a:rPr lang="en-US" altLang="zh-CN"/>
              <a:t>CREATE TABLE xxx</a:t>
            </a:r>
            <a:endParaRPr lang="zh-CN" altLang="zh-CN"/>
          </a:p>
          <a:p>
            <a:pPr eaLnBrk="1" hangingPunct="1"/>
            <a:r>
              <a:rPr lang="en-US" altLang="zh-CN"/>
              <a:t>(</a:t>
            </a:r>
            <a:endParaRPr lang="zh-CN" altLang="zh-CN"/>
          </a:p>
          <a:p>
            <a:pPr eaLnBrk="1" hangingPunct="1"/>
            <a:r>
              <a:rPr lang="en-US" altLang="zh-CN"/>
              <a:t>    f1 int 		NOT NULL,</a:t>
            </a:r>
            <a:endParaRPr lang="zh-CN" altLang="zh-CN"/>
          </a:p>
          <a:p>
            <a:pPr eaLnBrk="1" hangingPunct="1"/>
            <a:r>
              <a:rPr lang="en-US" altLang="zh-CN"/>
              <a:t>    f2 char(10</a:t>
            </a:r>
            <a:r>
              <a:rPr lang="zh-CN" altLang="zh-CN"/>
              <a:t>）</a:t>
            </a:r>
            <a:r>
              <a:rPr lang="en-US" altLang="zh-CN"/>
              <a:t>	NOT NULL,</a:t>
            </a:r>
            <a:endParaRPr lang="zh-CN" altLang="zh-CN"/>
          </a:p>
          <a:p>
            <a:pPr eaLnBrk="1" hangingPunct="1"/>
            <a:r>
              <a:rPr lang="en-US" altLang="zh-CN"/>
              <a:t>    f3 varchar(30</a:t>
            </a:r>
            <a:r>
              <a:rPr lang="zh-CN" altLang="zh-CN"/>
              <a:t>）</a:t>
            </a:r>
            <a:r>
              <a:rPr lang="en-US" altLang="zh-CN"/>
              <a:t>NULL</a:t>
            </a:r>
            <a:endParaRPr lang="zh-CN" altLang="zh-CN"/>
          </a:p>
          <a:p>
            <a:pPr eaLnBrk="1" hangingPunct="1"/>
            <a:r>
              <a:rPr lang="en-US" altLang="zh-CN"/>
              <a:t>)</a:t>
            </a:r>
            <a:endParaRPr lang="zh-CN" altLang="zh-CN"/>
          </a:p>
          <a:p>
            <a:pPr eaLnBrk="1" hangingPunct="1"/>
            <a:endParaRPr lang="zh-CN" altLang="en-US"/>
          </a:p>
        </p:txBody>
      </p:sp>
    </p:spTree>
  </p:cSld>
  <p:clrMapOvr>
    <a:masterClrMapping/>
  </p:clrMapOvr>
  <p:transition spd="slow">
    <p:checke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98525" y="5516563"/>
            <a:ext cx="7704138" cy="27463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a:xfrm>
            <a:off x="900113" y="4724400"/>
            <a:ext cx="7704137" cy="5476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492375"/>
            <a:ext cx="7704137" cy="13985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10.1.3  </a:t>
            </a:r>
            <a:r>
              <a:rPr lang="zh-CN" altLang="zh-CN" dirty="0">
                <a:effectLst/>
              </a:rPr>
              <a:t>事务处理：</a:t>
            </a:r>
            <a:r>
              <a:rPr lang="en-US" altLang="zh-CN" sz="2700" dirty="0">
                <a:effectLst/>
              </a:rPr>
              <a:t>BEGIN/COMMIT/ROLLBACK/SAVE /ROLLBACK TRANSACTION</a:t>
            </a:r>
            <a:endParaRPr lang="zh-CN" altLang="en-US" sz="2700" dirty="0"/>
          </a:p>
        </p:txBody>
      </p:sp>
      <p:sp>
        <p:nvSpPr>
          <p:cNvPr id="11270" name="TextBox 2"/>
          <p:cNvSpPr txBox="1">
            <a:spLocks noChangeArrowheads="1"/>
          </p:cNvSpPr>
          <p:nvPr/>
        </p:nvSpPr>
        <p:spPr bwMode="auto">
          <a:xfrm>
            <a:off x="468313" y="1628775"/>
            <a:ext cx="8207375"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1</a:t>
            </a:r>
            <a:r>
              <a:rPr lang="zh-CN" altLang="zh-CN" b="1">
                <a:solidFill>
                  <a:srgbClr val="C00000"/>
                </a:solidFill>
              </a:rPr>
              <a:t>．开始事务</a:t>
            </a:r>
            <a:endParaRPr lang="zh-CN" altLang="zh-CN" b="1">
              <a:solidFill>
                <a:srgbClr val="C00000"/>
              </a:solidFill>
            </a:endParaRPr>
          </a:p>
          <a:p>
            <a:pPr eaLnBrk="1" hangingPunct="1"/>
            <a:r>
              <a:rPr lang="zh-CN" altLang="zh-CN"/>
              <a:t>在</a:t>
            </a:r>
            <a:r>
              <a:rPr lang="en-US" altLang="zh-CN"/>
              <a:t>SQL Server</a:t>
            </a:r>
            <a:r>
              <a:rPr lang="zh-CN" altLang="zh-CN"/>
              <a:t>中，显式地开始一个事务可以使用</a:t>
            </a:r>
            <a:r>
              <a:rPr lang="en-US" altLang="zh-CN"/>
              <a:t>BEGIN TRANSACTION</a:t>
            </a:r>
            <a:r>
              <a:rPr lang="zh-CN" altLang="zh-CN"/>
              <a:t>语句。</a:t>
            </a:r>
            <a:endParaRPr lang="zh-CN" altLang="zh-CN"/>
          </a:p>
          <a:p>
            <a:pPr eaLnBrk="1" hangingPunct="1"/>
            <a:r>
              <a:rPr lang="zh-CN" altLang="zh-CN"/>
              <a:t>语法格式：</a:t>
            </a:r>
            <a:endParaRPr lang="zh-CN" altLang="zh-CN"/>
          </a:p>
          <a:p>
            <a:pPr eaLnBrk="1" hangingPunct="1"/>
            <a:r>
              <a:rPr lang="en-US" altLang="zh-CN"/>
              <a:t>BEGIN { TRAN | TRANSACTION }</a:t>
            </a:r>
            <a:endParaRPr lang="zh-CN" altLang="zh-CN"/>
          </a:p>
          <a:p>
            <a:pPr eaLnBrk="1" hangingPunct="1"/>
            <a:r>
              <a:rPr lang="en-US" altLang="zh-CN"/>
              <a:t>[ </a:t>
            </a:r>
            <a:endParaRPr lang="zh-CN" altLang="zh-CN"/>
          </a:p>
          <a:p>
            <a:pPr eaLnBrk="1" hangingPunct="1"/>
            <a:r>
              <a:rPr lang="en-US" altLang="zh-CN"/>
              <a:t>    { </a:t>
            </a:r>
            <a:r>
              <a:rPr lang="zh-CN" altLang="zh-CN"/>
              <a:t>事务名</a:t>
            </a:r>
            <a:r>
              <a:rPr lang="en-US" altLang="zh-CN"/>
              <a:t> | @</a:t>
            </a:r>
            <a:r>
              <a:rPr lang="zh-CN" altLang="zh-CN"/>
              <a:t>事务名变量</a:t>
            </a:r>
            <a:r>
              <a:rPr lang="en-US" altLang="zh-CN"/>
              <a:t> }</a:t>
            </a:r>
            <a:endParaRPr lang="zh-CN" altLang="zh-CN"/>
          </a:p>
          <a:p>
            <a:pPr eaLnBrk="1" hangingPunct="1"/>
            <a:r>
              <a:rPr lang="en-US" altLang="zh-CN"/>
              <a:t>    [ WITH MARK [ 'dEscription' ] ]</a:t>
            </a:r>
            <a:endParaRPr lang="zh-CN" altLang="zh-CN"/>
          </a:p>
          <a:p>
            <a:pPr eaLnBrk="1" hangingPunct="1"/>
            <a:r>
              <a:rPr lang="en-US" altLang="zh-CN"/>
              <a:t>]</a:t>
            </a:r>
            <a:endParaRPr lang="zh-CN" altLang="zh-CN"/>
          </a:p>
          <a:p>
            <a:pPr eaLnBrk="1" hangingPunct="1"/>
            <a:r>
              <a:rPr lang="en-US" altLang="zh-CN" b="1">
                <a:solidFill>
                  <a:srgbClr val="C00000"/>
                </a:solidFill>
              </a:rPr>
              <a:t>2</a:t>
            </a:r>
            <a:r>
              <a:rPr lang="zh-CN" altLang="zh-CN" b="1">
                <a:solidFill>
                  <a:srgbClr val="C00000"/>
                </a:solidFill>
              </a:rPr>
              <a:t>．结束事务</a:t>
            </a:r>
            <a:endParaRPr lang="zh-CN" altLang="zh-CN" b="1">
              <a:solidFill>
                <a:srgbClr val="C00000"/>
              </a:solidFill>
            </a:endParaRPr>
          </a:p>
          <a:p>
            <a:pPr eaLnBrk="1" hangingPunct="1"/>
            <a:r>
              <a:rPr lang="en-US" altLang="zh-CN"/>
              <a:t>COMMIT TRANSCATION</a:t>
            </a:r>
            <a:r>
              <a:rPr lang="zh-CN" altLang="zh-CN"/>
              <a:t>语句是提交语句，它将事务开始以来所执行的所有数据都修改为数据库的永久部分，也标志一个事务的结束，其语法格式为：</a:t>
            </a:r>
            <a:endParaRPr lang="zh-CN" altLang="zh-CN"/>
          </a:p>
          <a:p>
            <a:pPr eaLnBrk="1" hangingPunct="1"/>
            <a:r>
              <a:rPr lang="en-US" altLang="zh-CN"/>
              <a:t>COMMIT { TRAN | TRANSACTION }</a:t>
            </a:r>
            <a:endParaRPr lang="zh-CN" altLang="zh-CN"/>
          </a:p>
          <a:p>
            <a:pPr eaLnBrk="1" hangingPunct="1"/>
            <a:r>
              <a:rPr lang="en-US" altLang="zh-CN"/>
              <a:t>    [ </a:t>
            </a:r>
            <a:r>
              <a:rPr lang="zh-CN" altLang="zh-CN"/>
              <a:t>事务名</a:t>
            </a:r>
            <a:r>
              <a:rPr lang="en-US" altLang="zh-CN"/>
              <a:t> | @</a:t>
            </a:r>
            <a:r>
              <a:rPr lang="zh-CN" altLang="zh-CN"/>
              <a:t>事务名变量</a:t>
            </a:r>
            <a:r>
              <a:rPr lang="en-US" altLang="zh-CN"/>
              <a:t> ] ]</a:t>
            </a:r>
            <a:endParaRPr lang="zh-CN" altLang="zh-CN"/>
          </a:p>
          <a:p>
            <a:pPr eaLnBrk="1" hangingPunct="1"/>
            <a:r>
              <a:rPr lang="zh-CN" altLang="zh-CN"/>
              <a:t>标志一个事务的结束也可以使用</a:t>
            </a:r>
            <a:r>
              <a:rPr lang="en-US" altLang="zh-CN"/>
              <a:t>COMMIT WORK</a:t>
            </a:r>
            <a:r>
              <a:rPr lang="zh-CN" altLang="zh-CN"/>
              <a:t>语句。语法格式为：</a:t>
            </a:r>
            <a:endParaRPr lang="zh-CN" altLang="zh-CN"/>
          </a:p>
          <a:p>
            <a:pPr eaLnBrk="1" hangingPunct="1"/>
            <a:r>
              <a:rPr lang="en-US" altLang="zh-CN"/>
              <a:t>COMMIT [WORK]</a:t>
            </a:r>
            <a:endParaRPr lang="zh-CN" altLang="zh-CN"/>
          </a:p>
          <a:p>
            <a:pPr eaLnBrk="1" hangingPunct="1"/>
            <a:endParaRPr lang="zh-CN" altLang="en-US"/>
          </a:p>
        </p:txBody>
      </p:sp>
    </p:spTree>
  </p:cSld>
  <p:clrMapOvr>
    <a:masterClrMapping/>
  </p:clrMapOvr>
  <p:transition spd="slow">
    <p:cove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7088" y="5757863"/>
            <a:ext cx="7848600" cy="3238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3573463"/>
            <a:ext cx="7848600" cy="6477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10.1.3  </a:t>
            </a:r>
            <a:r>
              <a:rPr lang="zh-CN" altLang="zh-CN" dirty="0">
                <a:effectLst/>
              </a:rPr>
              <a:t>事务处理：</a:t>
            </a:r>
            <a:r>
              <a:rPr lang="en-US" altLang="zh-CN" sz="2700" dirty="0">
                <a:effectLst/>
              </a:rPr>
              <a:t>BEGIN/COMMIT/ROLLBACK/SAVE /ROLLBACK TRANSACTION</a:t>
            </a:r>
            <a:endParaRPr lang="zh-CN" altLang="en-US" sz="2700" dirty="0"/>
          </a:p>
        </p:txBody>
      </p:sp>
      <p:sp>
        <p:nvSpPr>
          <p:cNvPr id="12293" name="TextBox 2"/>
          <p:cNvSpPr txBox="1">
            <a:spLocks noChangeArrowheads="1"/>
          </p:cNvSpPr>
          <p:nvPr/>
        </p:nvSpPr>
        <p:spPr bwMode="auto">
          <a:xfrm>
            <a:off x="468313" y="1484313"/>
            <a:ext cx="8207375" cy="494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3</a:t>
            </a:r>
            <a:r>
              <a:rPr lang="zh-CN" altLang="zh-CN" b="1">
                <a:solidFill>
                  <a:srgbClr val="C00000"/>
                </a:solidFill>
              </a:rPr>
              <a:t>．撤销事务</a:t>
            </a:r>
            <a:endParaRPr lang="zh-CN" altLang="zh-CN" b="1">
              <a:solidFill>
                <a:srgbClr val="C00000"/>
              </a:solidFill>
            </a:endParaRPr>
          </a:p>
          <a:p>
            <a:pPr eaLnBrk="1" hangingPunct="1">
              <a:lnSpc>
                <a:spcPct val="150000"/>
              </a:lnSpc>
            </a:pPr>
            <a:r>
              <a:rPr lang="zh-CN" altLang="zh-CN"/>
              <a:t>若要结束一个事务，可以使用</a:t>
            </a:r>
            <a:r>
              <a:rPr lang="en-US" altLang="zh-CN"/>
              <a:t>ROLLBACK TRANSACTION</a:t>
            </a:r>
            <a:r>
              <a:rPr lang="zh-CN" altLang="zh-CN"/>
              <a:t>语句。它使得事务回滚到起点，撤销自最近一条</a:t>
            </a:r>
            <a:r>
              <a:rPr lang="en-US" altLang="zh-CN"/>
              <a:t>BEGIN TRANSACTION</a:t>
            </a:r>
            <a:r>
              <a:rPr lang="zh-CN" altLang="zh-CN"/>
              <a:t>语句以后对数据库的所有更改，同时也标志了一个事务的结束。</a:t>
            </a:r>
            <a:endParaRPr lang="zh-CN" altLang="zh-CN"/>
          </a:p>
          <a:p>
            <a:pPr eaLnBrk="1" hangingPunct="1">
              <a:lnSpc>
                <a:spcPct val="150000"/>
              </a:lnSpc>
            </a:pPr>
            <a:r>
              <a:rPr lang="zh-CN" altLang="zh-CN"/>
              <a:t>语法格式：</a:t>
            </a:r>
            <a:endParaRPr lang="zh-CN" altLang="zh-CN"/>
          </a:p>
          <a:p>
            <a:pPr eaLnBrk="1" hangingPunct="1"/>
            <a:r>
              <a:rPr lang="en-US" altLang="zh-CN"/>
              <a:t>ROLLBACK { TRAN | TRANSACTION }</a:t>
            </a:r>
            <a:endParaRPr lang="zh-CN" altLang="zh-CN"/>
          </a:p>
          <a:p>
            <a:pPr eaLnBrk="1" hangingPunct="1"/>
            <a:r>
              <a:rPr lang="en-US" altLang="zh-CN"/>
              <a:t>    [ </a:t>
            </a:r>
            <a:r>
              <a:rPr lang="zh-CN" altLang="zh-CN"/>
              <a:t>事务名</a:t>
            </a:r>
            <a:r>
              <a:rPr lang="en-US" altLang="zh-CN"/>
              <a:t> | @</a:t>
            </a:r>
            <a:r>
              <a:rPr lang="zh-CN" altLang="zh-CN"/>
              <a:t>事务名变量</a:t>
            </a:r>
            <a:r>
              <a:rPr lang="en-US" altLang="zh-CN"/>
              <a:t> ]</a:t>
            </a:r>
            <a:endParaRPr lang="zh-CN" altLang="zh-CN"/>
          </a:p>
          <a:p>
            <a:pPr eaLnBrk="1" hangingPunct="1">
              <a:lnSpc>
                <a:spcPct val="150000"/>
              </a:lnSpc>
            </a:pPr>
            <a:r>
              <a:rPr lang="zh-CN" altLang="zh-CN"/>
              <a:t>另外，一条</a:t>
            </a:r>
            <a:r>
              <a:rPr lang="en-US" altLang="zh-CN"/>
              <a:t>ROLLBACK WORK</a:t>
            </a:r>
            <a:r>
              <a:rPr lang="zh-CN" altLang="zh-CN"/>
              <a:t>语句也能撤销一个事务，功能与</a:t>
            </a:r>
            <a:r>
              <a:rPr lang="en-US" altLang="zh-CN"/>
              <a:t>ROLLBACK TRANSACTION</a:t>
            </a:r>
            <a:r>
              <a:rPr lang="zh-CN" altLang="zh-CN"/>
              <a:t>语句一样，但</a:t>
            </a:r>
            <a:r>
              <a:rPr lang="en-US" altLang="zh-CN"/>
              <a:t>ROLLBACK TRANSACTION</a:t>
            </a:r>
            <a:r>
              <a:rPr lang="zh-CN" altLang="zh-CN"/>
              <a:t>语句接受用户定义的事务名称。</a:t>
            </a:r>
            <a:endParaRPr lang="zh-CN" altLang="zh-CN"/>
          </a:p>
          <a:p>
            <a:pPr eaLnBrk="1" hangingPunct="1">
              <a:lnSpc>
                <a:spcPct val="150000"/>
              </a:lnSpc>
            </a:pPr>
            <a:r>
              <a:rPr lang="zh-CN" altLang="zh-CN"/>
              <a:t>语法格式：</a:t>
            </a:r>
            <a:endParaRPr lang="zh-CN" altLang="zh-CN"/>
          </a:p>
          <a:p>
            <a:pPr eaLnBrk="1" hangingPunct="1"/>
            <a:r>
              <a:rPr lang="en-US" altLang="zh-CN"/>
              <a:t>ROLLBACK [ WORK ] [ ; ]</a:t>
            </a:r>
            <a:endParaRPr lang="zh-CN" altLang="zh-CN"/>
          </a:p>
          <a:p>
            <a:pPr eaLnBrk="1" hangingPunct="1"/>
            <a:endParaRPr lang="zh-CN" altLang="en-US"/>
          </a:p>
        </p:txBody>
      </p:sp>
    </p:spTree>
  </p:cSld>
  <p:clrMapOvr>
    <a:masterClrMapping/>
  </p:clrMapOvr>
  <p:transition spd="slow">
    <p:checke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7088" y="4522788"/>
            <a:ext cx="7848600" cy="6064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3141663"/>
            <a:ext cx="7848600" cy="60483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10.1.3  </a:t>
            </a:r>
            <a:r>
              <a:rPr lang="zh-CN" altLang="zh-CN" dirty="0">
                <a:effectLst/>
              </a:rPr>
              <a:t>事务处理：</a:t>
            </a:r>
            <a:r>
              <a:rPr lang="en-US" altLang="zh-CN" sz="2700" dirty="0">
                <a:effectLst/>
              </a:rPr>
              <a:t>BEGIN/COMMIT/ROLLBACK/SAVE /ROLLBACK TRANSACTION</a:t>
            </a:r>
            <a:endParaRPr lang="zh-CN" altLang="en-US" sz="2700" dirty="0"/>
          </a:p>
        </p:txBody>
      </p:sp>
      <p:sp>
        <p:nvSpPr>
          <p:cNvPr id="13317" name="TextBox 2"/>
          <p:cNvSpPr txBox="1">
            <a:spLocks noChangeArrowheads="1"/>
          </p:cNvSpPr>
          <p:nvPr/>
        </p:nvSpPr>
        <p:spPr bwMode="auto">
          <a:xfrm>
            <a:off x="468313" y="1484313"/>
            <a:ext cx="8207375"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4</a:t>
            </a:r>
            <a:r>
              <a:rPr lang="zh-CN" altLang="zh-CN" b="1">
                <a:solidFill>
                  <a:srgbClr val="C00000"/>
                </a:solidFill>
              </a:rPr>
              <a:t>．回滚事务</a:t>
            </a:r>
            <a:endParaRPr lang="zh-CN" altLang="zh-CN" b="1">
              <a:solidFill>
                <a:srgbClr val="C00000"/>
              </a:solidFill>
            </a:endParaRPr>
          </a:p>
          <a:p>
            <a:pPr eaLnBrk="1" hangingPunct="1">
              <a:lnSpc>
                <a:spcPct val="150000"/>
              </a:lnSpc>
            </a:pPr>
            <a:r>
              <a:rPr lang="en-US" altLang="zh-CN"/>
              <a:t>ROLLBACK TRANSACTION</a:t>
            </a:r>
            <a:r>
              <a:rPr lang="zh-CN" altLang="zh-CN"/>
              <a:t>语句除了能够撤销整个事务外，还可以使事务回滚到某个点，不过在这之前需要使用</a:t>
            </a:r>
            <a:r>
              <a:rPr lang="en-US" altLang="zh-CN"/>
              <a:t>SAVE TRANSACTION</a:t>
            </a:r>
            <a:r>
              <a:rPr lang="zh-CN" altLang="zh-CN"/>
              <a:t>语句来设置一个保存点。</a:t>
            </a:r>
            <a:endParaRPr lang="zh-CN" altLang="zh-CN"/>
          </a:p>
          <a:p>
            <a:pPr eaLnBrk="1" hangingPunct="1">
              <a:lnSpc>
                <a:spcPct val="150000"/>
              </a:lnSpc>
            </a:pPr>
            <a:r>
              <a:rPr lang="en-US" altLang="zh-CN"/>
              <a:t>SAVE TRANSACTION</a:t>
            </a:r>
            <a:r>
              <a:rPr lang="zh-CN" altLang="zh-CN"/>
              <a:t>的语法格式：</a:t>
            </a:r>
            <a:endParaRPr lang="zh-CN" altLang="zh-CN"/>
          </a:p>
          <a:p>
            <a:pPr eaLnBrk="1" hangingPunct="1"/>
            <a:r>
              <a:rPr lang="en-US" altLang="zh-CN"/>
              <a:t>SAVE { TRAN | TRANSACTION }</a:t>
            </a:r>
            <a:endParaRPr lang="zh-CN" altLang="zh-CN"/>
          </a:p>
          <a:p>
            <a:pPr eaLnBrk="1" hangingPunct="1"/>
            <a:r>
              <a:rPr lang="en-US" altLang="zh-CN"/>
              <a:t>    { </a:t>
            </a:r>
            <a:r>
              <a:rPr lang="zh-CN" altLang="zh-CN"/>
              <a:t>保存点名</a:t>
            </a:r>
            <a:r>
              <a:rPr lang="en-US" altLang="zh-CN"/>
              <a:t> | @</a:t>
            </a:r>
            <a:r>
              <a:rPr lang="zh-CN" altLang="zh-CN"/>
              <a:t>保存点变量</a:t>
            </a:r>
            <a:r>
              <a:rPr lang="en-US" altLang="zh-CN"/>
              <a:t> }</a:t>
            </a:r>
            <a:endParaRPr lang="zh-CN" altLang="zh-CN"/>
          </a:p>
          <a:p>
            <a:pPr eaLnBrk="1" hangingPunct="1">
              <a:lnSpc>
                <a:spcPct val="150000"/>
              </a:lnSpc>
            </a:pPr>
            <a:r>
              <a:rPr lang="en-US" altLang="zh-CN"/>
              <a:t>SAVE TRANSACTION</a:t>
            </a:r>
            <a:r>
              <a:rPr lang="zh-CN" altLang="zh-CN"/>
              <a:t>语句会向已命名的保存点回滚一个事务。如果在保存点被设置后，当前事务对数据进行了更改，则这些更改会在回滚中被撤销。语法格式：</a:t>
            </a:r>
            <a:endParaRPr lang="zh-CN" altLang="zh-CN"/>
          </a:p>
          <a:p>
            <a:pPr eaLnBrk="1" hangingPunct="1"/>
            <a:r>
              <a:rPr lang="en-US" altLang="zh-CN"/>
              <a:t>ROLLBACK { TRAN | TRANSACTION }</a:t>
            </a:r>
            <a:endParaRPr lang="zh-CN" altLang="zh-CN"/>
          </a:p>
          <a:p>
            <a:pPr eaLnBrk="1" hangingPunct="1"/>
            <a:r>
              <a:rPr lang="en-US" altLang="zh-CN"/>
              <a:t>    [ </a:t>
            </a:r>
            <a:r>
              <a:rPr lang="zh-CN" altLang="zh-CN"/>
              <a:t>保存点名</a:t>
            </a:r>
            <a:r>
              <a:rPr lang="en-US" altLang="zh-CN"/>
              <a:t> | @</a:t>
            </a:r>
            <a:r>
              <a:rPr lang="zh-CN" altLang="zh-CN"/>
              <a:t>保存点变量</a:t>
            </a:r>
            <a:r>
              <a:rPr lang="en-US" altLang="zh-CN"/>
              <a:t> ]</a:t>
            </a:r>
            <a:endParaRPr lang="zh-CN" altLang="zh-CN"/>
          </a:p>
          <a:p>
            <a:pPr eaLnBrk="1" hangingPunct="1">
              <a:lnSpc>
                <a:spcPct val="150000"/>
              </a:lnSpc>
            </a:pPr>
            <a:r>
              <a:rPr lang="zh-CN" altLang="zh-CN"/>
              <a:t>其中，“保存点名”是</a:t>
            </a:r>
            <a:r>
              <a:rPr lang="en-US" altLang="zh-CN"/>
              <a:t>SAVE TRANSACTION</a:t>
            </a:r>
            <a:r>
              <a:rPr lang="zh-CN" altLang="zh-CN"/>
              <a:t>语句中的保存点名。</a:t>
            </a:r>
            <a:endParaRPr lang="zh-CN" altLang="zh-CN"/>
          </a:p>
          <a:p>
            <a:pPr eaLnBrk="1" hangingPunct="1">
              <a:lnSpc>
                <a:spcPct val="150000"/>
              </a:lnSpc>
            </a:pPr>
            <a:endParaRPr lang="zh-CN" altLang="en-US"/>
          </a:p>
        </p:txBody>
      </p:sp>
    </p:spTree>
  </p:cSld>
  <p:clrMapOvr>
    <a:masterClrMapping/>
  </p:clrMapOvr>
  <p:transition spd="slow">
    <p:cove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10.1.3  </a:t>
            </a:r>
            <a:r>
              <a:rPr lang="zh-CN" altLang="zh-CN" dirty="0">
                <a:effectLst/>
              </a:rPr>
              <a:t>事务处理：</a:t>
            </a:r>
            <a:r>
              <a:rPr lang="en-US" altLang="zh-CN" sz="2700" dirty="0">
                <a:effectLst/>
              </a:rPr>
              <a:t>BEGIN/COMMIT/ROLLBACK/SAVE /ROLLBACK TRANSACTION</a:t>
            </a:r>
            <a:endParaRPr lang="zh-CN" altLang="en-US" sz="2700" dirty="0"/>
          </a:p>
        </p:txBody>
      </p:sp>
      <p:sp>
        <p:nvSpPr>
          <p:cNvPr id="14339" name="TextBox 2"/>
          <p:cNvSpPr txBox="1">
            <a:spLocks noChangeArrowheads="1"/>
          </p:cNvSpPr>
          <p:nvPr/>
        </p:nvSpPr>
        <p:spPr bwMode="auto">
          <a:xfrm>
            <a:off x="468313" y="1628775"/>
            <a:ext cx="8207375" cy="420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zh-CN"/>
              <a:t>下面几个语句说明了有关事务的处理过程：</a:t>
            </a:r>
            <a:endParaRPr lang="zh-CN" altLang="zh-CN"/>
          </a:p>
          <a:p>
            <a:pPr eaLnBrk="1" hangingPunct="1">
              <a:lnSpc>
                <a:spcPct val="150000"/>
              </a:lnSpc>
            </a:pPr>
            <a:r>
              <a:rPr lang="zh-CN" altLang="zh-CN"/>
              <a:t>（</a:t>
            </a:r>
            <a:r>
              <a:rPr lang="en-US" altLang="zh-CN"/>
              <a:t>1</a:t>
            </a:r>
            <a:r>
              <a:rPr lang="zh-CN" altLang="zh-CN"/>
              <a:t>）</a:t>
            </a:r>
            <a:r>
              <a:rPr lang="en-US" altLang="zh-CN"/>
              <a:t>BEGIN TRANSACTION mytran1</a:t>
            </a:r>
            <a:endParaRPr lang="zh-CN" altLang="zh-CN"/>
          </a:p>
          <a:p>
            <a:pPr eaLnBrk="1" hangingPunct="1">
              <a:lnSpc>
                <a:spcPct val="150000"/>
              </a:lnSpc>
            </a:pPr>
            <a:r>
              <a:rPr lang="zh-CN" altLang="zh-CN"/>
              <a:t>（</a:t>
            </a:r>
            <a:r>
              <a:rPr lang="en-US" altLang="zh-CN"/>
              <a:t>2</a:t>
            </a:r>
            <a:r>
              <a:rPr lang="zh-CN" altLang="zh-CN"/>
              <a:t>）</a:t>
            </a:r>
            <a:r>
              <a:rPr lang="en-US" altLang="zh-CN"/>
              <a:t>UPDATE …</a:t>
            </a:r>
            <a:endParaRPr lang="zh-CN" altLang="zh-CN"/>
          </a:p>
          <a:p>
            <a:pPr eaLnBrk="1" hangingPunct="1">
              <a:lnSpc>
                <a:spcPct val="150000"/>
              </a:lnSpc>
            </a:pPr>
            <a:r>
              <a:rPr lang="zh-CN" altLang="zh-CN"/>
              <a:t>（</a:t>
            </a:r>
            <a:r>
              <a:rPr lang="en-US" altLang="zh-CN"/>
              <a:t>3</a:t>
            </a:r>
            <a:r>
              <a:rPr lang="zh-CN" altLang="zh-CN"/>
              <a:t>）</a:t>
            </a:r>
            <a:r>
              <a:rPr lang="en-US" altLang="zh-CN"/>
              <a:t>DELETE…</a:t>
            </a:r>
            <a:endParaRPr lang="zh-CN" altLang="zh-CN"/>
          </a:p>
          <a:p>
            <a:pPr eaLnBrk="1" hangingPunct="1">
              <a:lnSpc>
                <a:spcPct val="150000"/>
              </a:lnSpc>
            </a:pPr>
            <a:r>
              <a:rPr lang="zh-CN" altLang="zh-CN"/>
              <a:t>（</a:t>
            </a:r>
            <a:r>
              <a:rPr lang="en-US" altLang="zh-CN"/>
              <a:t>4</a:t>
            </a:r>
            <a:r>
              <a:rPr lang="zh-CN" altLang="zh-CN"/>
              <a:t>）</a:t>
            </a:r>
            <a:r>
              <a:rPr lang="en-US" altLang="zh-CN"/>
              <a:t>SAVE TRANSACTION S1</a:t>
            </a:r>
            <a:endParaRPr lang="zh-CN" altLang="zh-CN"/>
          </a:p>
          <a:p>
            <a:pPr eaLnBrk="1" hangingPunct="1">
              <a:lnSpc>
                <a:spcPct val="150000"/>
              </a:lnSpc>
            </a:pPr>
            <a:r>
              <a:rPr lang="zh-CN" altLang="zh-CN"/>
              <a:t>（</a:t>
            </a:r>
            <a:r>
              <a:rPr lang="en-US" altLang="zh-CN"/>
              <a:t>5</a:t>
            </a:r>
            <a:r>
              <a:rPr lang="zh-CN" altLang="zh-CN"/>
              <a:t>）</a:t>
            </a:r>
            <a:r>
              <a:rPr lang="en-US" altLang="zh-CN"/>
              <a:t>DELETE…</a:t>
            </a:r>
            <a:endParaRPr lang="zh-CN" altLang="zh-CN"/>
          </a:p>
          <a:p>
            <a:pPr eaLnBrk="1" hangingPunct="1">
              <a:lnSpc>
                <a:spcPct val="150000"/>
              </a:lnSpc>
            </a:pPr>
            <a:r>
              <a:rPr lang="zh-CN" altLang="zh-CN"/>
              <a:t>（</a:t>
            </a:r>
            <a:r>
              <a:rPr lang="en-US" altLang="zh-CN"/>
              <a:t>6</a:t>
            </a:r>
            <a:r>
              <a:rPr lang="zh-CN" altLang="zh-CN"/>
              <a:t>）</a:t>
            </a:r>
            <a:r>
              <a:rPr lang="en-US" altLang="zh-CN"/>
              <a:t>ROLLBACK TRANSACTION S1;</a:t>
            </a:r>
            <a:endParaRPr lang="zh-CN" altLang="zh-CN"/>
          </a:p>
          <a:p>
            <a:pPr eaLnBrk="1" hangingPunct="1">
              <a:lnSpc>
                <a:spcPct val="150000"/>
              </a:lnSpc>
            </a:pPr>
            <a:r>
              <a:rPr lang="zh-CN" altLang="zh-CN"/>
              <a:t>（</a:t>
            </a:r>
            <a:r>
              <a:rPr lang="en-US" altLang="zh-CN"/>
              <a:t>7</a:t>
            </a:r>
            <a:r>
              <a:rPr lang="zh-CN" altLang="zh-CN"/>
              <a:t>）</a:t>
            </a:r>
            <a:r>
              <a:rPr lang="en-US" altLang="zh-CN"/>
              <a:t>INSERT…</a:t>
            </a:r>
            <a:endParaRPr lang="zh-CN" altLang="zh-CN"/>
          </a:p>
          <a:p>
            <a:pPr eaLnBrk="1" hangingPunct="1">
              <a:lnSpc>
                <a:spcPct val="150000"/>
              </a:lnSpc>
            </a:pPr>
            <a:r>
              <a:rPr lang="zh-CN" altLang="zh-CN"/>
              <a:t>（</a:t>
            </a:r>
            <a:r>
              <a:rPr lang="en-US" altLang="zh-CN"/>
              <a:t>8</a:t>
            </a:r>
            <a:r>
              <a:rPr lang="zh-CN" altLang="zh-CN"/>
              <a:t>）</a:t>
            </a:r>
            <a:r>
              <a:rPr lang="en-US" altLang="zh-CN"/>
              <a:t>COMMIT TRANSACTION</a:t>
            </a:r>
            <a:endParaRPr lang="zh-CN" altLang="zh-CN"/>
          </a:p>
          <a:p>
            <a:pPr eaLnBrk="1" hangingPunct="1">
              <a:lnSpc>
                <a:spcPct val="150000"/>
              </a:lnSpc>
            </a:pPr>
            <a:endParaRPr lang="zh-CN" altLang="en-US"/>
          </a:p>
        </p:txBody>
      </p:sp>
    </p:spTree>
  </p:cSld>
  <p:clrMapOvr>
    <a:masterClrMapping/>
  </p:clrMapOvr>
  <p:transition spd="slow">
    <p:checke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89000" y="5084763"/>
            <a:ext cx="7777163" cy="86518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349500"/>
            <a:ext cx="7775575" cy="2447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10.1.3  </a:t>
            </a:r>
            <a:r>
              <a:rPr lang="zh-CN" altLang="zh-CN" dirty="0">
                <a:effectLst/>
              </a:rPr>
              <a:t>事务处理：</a:t>
            </a:r>
            <a:r>
              <a:rPr lang="en-US" altLang="zh-CN" sz="2700" dirty="0">
                <a:effectLst/>
              </a:rPr>
              <a:t>BEGIN/COMMIT/ROLLBACK/SAVE /ROLLBACK TRANSACTION</a:t>
            </a:r>
            <a:endParaRPr lang="zh-CN" altLang="en-US" sz="2700" dirty="0"/>
          </a:p>
        </p:txBody>
      </p:sp>
      <p:sp>
        <p:nvSpPr>
          <p:cNvPr id="3" name="TextBox 2"/>
          <p:cNvSpPr txBox="1"/>
          <p:nvPr/>
        </p:nvSpPr>
        <p:spPr>
          <a:xfrm>
            <a:off x="468313" y="1484313"/>
            <a:ext cx="8207375" cy="4802187"/>
          </a:xfrm>
          <a:prstGeom prst="rect">
            <a:avLst/>
          </a:prstGeom>
          <a:noFill/>
        </p:spPr>
        <p:txBody>
          <a:bodyPr>
            <a:spAutoFit/>
          </a:bodyPr>
          <a:lstStyle/>
          <a:p>
            <a:pPr indent="446405" fontAlgn="auto">
              <a:spcBef>
                <a:spcPts val="0"/>
              </a:spcBef>
              <a:spcAft>
                <a:spcPts val="0"/>
              </a:spcAft>
              <a:defRPr/>
            </a:pPr>
            <a:r>
              <a:rPr lang="zh-CN" altLang="zh-CN" dirty="0">
                <a:latin typeface="+mn-lt"/>
                <a:ea typeface="+mn-ea"/>
              </a:rPr>
              <a:t>【例</a:t>
            </a:r>
            <a:r>
              <a:rPr lang="en-US" altLang="zh-CN" dirty="0">
                <a:latin typeface="+mn-lt"/>
                <a:ea typeface="+mn-ea"/>
              </a:rPr>
              <a:t>10.1</a:t>
            </a:r>
            <a:r>
              <a:rPr lang="zh-CN" altLang="zh-CN" dirty="0">
                <a:latin typeface="+mn-lt"/>
                <a:ea typeface="+mn-ea"/>
              </a:rPr>
              <a:t>】 定义一个事务，向</a:t>
            </a:r>
            <a:r>
              <a:rPr lang="en-US" altLang="zh-CN" dirty="0" err="1">
                <a:latin typeface="+mn-lt"/>
                <a:ea typeface="+mn-ea"/>
              </a:rPr>
              <a:t>pxscj</a:t>
            </a:r>
            <a:r>
              <a:rPr lang="zh-CN" altLang="zh-CN" dirty="0">
                <a:latin typeface="+mn-lt"/>
                <a:ea typeface="+mn-ea"/>
              </a:rPr>
              <a:t>数据库的</a:t>
            </a:r>
            <a:r>
              <a:rPr lang="en-US" altLang="zh-CN" dirty="0" err="1">
                <a:latin typeface="+mn-lt"/>
                <a:ea typeface="+mn-ea"/>
              </a:rPr>
              <a:t>xsb</a:t>
            </a:r>
            <a:r>
              <a:rPr lang="zh-CN" altLang="zh-CN" dirty="0">
                <a:latin typeface="+mn-lt"/>
                <a:ea typeface="+mn-ea"/>
              </a:rPr>
              <a:t>表添加一行数据，然后删除该行数据。但执行后，新插入的数据行并没有删除，因为事务中使用了</a:t>
            </a:r>
            <a:r>
              <a:rPr lang="en-US" altLang="zh-CN" dirty="0">
                <a:latin typeface="+mn-lt"/>
                <a:ea typeface="+mn-ea"/>
              </a:rPr>
              <a:t>ROLLBACK</a:t>
            </a:r>
            <a:r>
              <a:rPr lang="zh-CN" altLang="zh-CN" dirty="0">
                <a:latin typeface="+mn-lt"/>
                <a:ea typeface="+mn-ea"/>
              </a:rPr>
              <a:t>语句将操作回滚到保存点</a:t>
            </a:r>
            <a:r>
              <a:rPr lang="en-US" altLang="zh-CN" dirty="0" err="1">
                <a:latin typeface="+mn-lt"/>
                <a:ea typeface="+mn-ea"/>
              </a:rPr>
              <a:t>My_sav</a:t>
            </a:r>
            <a:r>
              <a:rPr lang="zh-CN" altLang="zh-CN" dirty="0">
                <a:latin typeface="+mn-lt"/>
                <a:ea typeface="+mn-ea"/>
              </a:rPr>
              <a:t>，即删除前的状态。</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BEGIN TRANSACTION </a:t>
            </a:r>
            <a:r>
              <a:rPr lang="en-US" altLang="zh-CN" dirty="0" err="1">
                <a:latin typeface="+mn-lt"/>
                <a:ea typeface="+mn-ea"/>
              </a:rPr>
              <a:t>My_tran</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USE </a:t>
            </a:r>
            <a:r>
              <a:rPr lang="en-US" altLang="zh-CN" dirty="0" err="1">
                <a:latin typeface="+mn-lt"/>
                <a:ea typeface="+mn-ea"/>
              </a:rPr>
              <a:t>pxscj</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INSERT INTO </a:t>
            </a:r>
            <a:r>
              <a:rPr lang="en-US" altLang="zh-CN" dirty="0" err="1">
                <a:latin typeface="+mn-lt"/>
                <a:ea typeface="+mn-ea"/>
              </a:rPr>
              <a:t>xsb</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VALUES('191315', '</a:t>
            </a:r>
            <a:r>
              <a:rPr lang="zh-CN" altLang="zh-CN" dirty="0">
                <a:latin typeface="+mn-lt"/>
                <a:ea typeface="+mn-ea"/>
              </a:rPr>
              <a:t>胡新华</a:t>
            </a:r>
            <a:r>
              <a:rPr lang="en-US" altLang="zh-CN" dirty="0">
                <a:latin typeface="+mn-lt"/>
                <a:ea typeface="+mn-ea"/>
              </a:rPr>
              <a:t>', 1, '1996-06-27', '</a:t>
            </a:r>
            <a:r>
              <a:rPr lang="zh-CN" altLang="zh-CN" dirty="0">
                <a:latin typeface="+mn-lt"/>
                <a:ea typeface="+mn-ea"/>
              </a:rPr>
              <a:t>计算机</a:t>
            </a:r>
            <a:r>
              <a:rPr lang="en-US" altLang="zh-CN" dirty="0">
                <a:latin typeface="+mn-lt"/>
                <a:ea typeface="+mn-ea"/>
              </a:rPr>
              <a:t>', 50, NULL)</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SAVE TRANSACTION </a:t>
            </a:r>
            <a:r>
              <a:rPr lang="en-US" altLang="zh-CN" dirty="0" err="1">
                <a:latin typeface="+mn-lt"/>
                <a:ea typeface="+mn-ea"/>
              </a:rPr>
              <a:t>My_sav</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DELETE FROM </a:t>
            </a:r>
            <a:r>
              <a:rPr lang="en-US" altLang="zh-CN" dirty="0" err="1">
                <a:latin typeface="+mn-lt"/>
                <a:ea typeface="+mn-ea"/>
              </a:rPr>
              <a:t>xsb</a:t>
            </a:r>
            <a:r>
              <a:rPr lang="en-US" altLang="zh-CN" dirty="0">
                <a:latin typeface="+mn-lt"/>
                <a:ea typeface="+mn-ea"/>
              </a:rPr>
              <a:t> WHERE </a:t>
            </a:r>
            <a:r>
              <a:rPr lang="zh-CN" altLang="zh-CN" dirty="0">
                <a:latin typeface="+mn-lt"/>
                <a:ea typeface="+mn-ea"/>
              </a:rPr>
              <a:t>学号</a:t>
            </a:r>
            <a:r>
              <a:rPr lang="en-US" altLang="zh-CN" dirty="0">
                <a:latin typeface="+mn-lt"/>
                <a:ea typeface="+mn-ea"/>
              </a:rPr>
              <a:t>='191315'</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ROLLBACK TRAN </a:t>
            </a:r>
            <a:r>
              <a:rPr lang="en-US" altLang="zh-CN" dirty="0" err="1">
                <a:latin typeface="+mn-lt"/>
                <a:ea typeface="+mn-ea"/>
              </a:rPr>
              <a:t>My_sav</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COMMIT WORK</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GO</a:t>
            </a:r>
            <a:endParaRPr lang="zh-CN" altLang="zh-CN" dirty="0">
              <a:latin typeface="+mn-lt"/>
              <a:ea typeface="+mn-ea"/>
            </a:endParaRPr>
          </a:p>
          <a:p>
            <a:pPr indent="446405" fontAlgn="auto">
              <a:spcBef>
                <a:spcPts val="0"/>
              </a:spcBef>
              <a:spcAft>
                <a:spcPts val="0"/>
              </a:spcAft>
              <a:defRPr/>
            </a:pPr>
            <a:r>
              <a:rPr lang="zh-CN" altLang="zh-CN" dirty="0">
                <a:latin typeface="+mn-lt"/>
                <a:ea typeface="+mn-ea"/>
              </a:rPr>
              <a:t>执行完上述语句后使用</a:t>
            </a:r>
            <a:r>
              <a:rPr lang="en-US" altLang="zh-CN" dirty="0">
                <a:latin typeface="+mn-lt"/>
                <a:ea typeface="+mn-ea"/>
              </a:rPr>
              <a:t>SELECT</a:t>
            </a:r>
            <a:r>
              <a:rPr lang="zh-CN" altLang="zh-CN" dirty="0">
                <a:latin typeface="+mn-lt"/>
                <a:ea typeface="+mn-ea"/>
              </a:rPr>
              <a:t>语句查询</a:t>
            </a:r>
            <a:r>
              <a:rPr lang="en-US" altLang="zh-CN" dirty="0" err="1">
                <a:latin typeface="+mn-lt"/>
                <a:ea typeface="+mn-ea"/>
              </a:rPr>
              <a:t>xsb</a:t>
            </a:r>
            <a:r>
              <a:rPr lang="zh-CN" altLang="zh-CN" dirty="0">
                <a:latin typeface="+mn-lt"/>
                <a:ea typeface="+mn-ea"/>
              </a:rPr>
              <a:t>表中的记录：</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SELECT * </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FROM </a:t>
            </a:r>
            <a:r>
              <a:rPr lang="en-US" altLang="zh-CN" dirty="0" err="1">
                <a:latin typeface="+mn-lt"/>
                <a:ea typeface="+mn-ea"/>
              </a:rPr>
              <a:t>xsb</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WHERE </a:t>
            </a:r>
            <a:r>
              <a:rPr lang="zh-CN" altLang="zh-CN" dirty="0">
                <a:latin typeface="+mn-lt"/>
                <a:ea typeface="+mn-ea"/>
              </a:rPr>
              <a:t>学号</a:t>
            </a:r>
            <a:r>
              <a:rPr lang="en-US" altLang="zh-CN" dirty="0">
                <a:latin typeface="+mn-lt"/>
                <a:ea typeface="+mn-ea"/>
              </a:rPr>
              <a:t>='191315'</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cove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2708275"/>
            <a:ext cx="7848600" cy="23320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10.1.4  </a:t>
            </a:r>
            <a:r>
              <a:rPr lang="zh-CN" altLang="zh-CN" dirty="0">
                <a:effectLst/>
              </a:rPr>
              <a:t>事务隔离级：</a:t>
            </a:r>
            <a:r>
              <a:rPr lang="en-US" altLang="zh-CN" dirty="0">
                <a:effectLst/>
              </a:rPr>
              <a:t>SET TRANSACTION ISOLATION LEVEL</a:t>
            </a:r>
            <a:endParaRPr lang="zh-CN" altLang="zh-CN" dirty="0">
              <a:effectLst/>
            </a:endParaRPr>
          </a:p>
        </p:txBody>
      </p:sp>
      <p:sp>
        <p:nvSpPr>
          <p:cNvPr id="16388" name="TextBox 2"/>
          <p:cNvSpPr txBox="1">
            <a:spLocks noChangeArrowheads="1"/>
          </p:cNvSpPr>
          <p:nvPr/>
        </p:nvSpPr>
        <p:spPr bwMode="auto">
          <a:xfrm>
            <a:off x="468313" y="1484313"/>
            <a:ext cx="8207375" cy="355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zh-CN"/>
              <a:t>在</a:t>
            </a:r>
            <a:r>
              <a:rPr lang="en-US" altLang="zh-CN"/>
              <a:t>SQL Server</a:t>
            </a:r>
            <a:r>
              <a:rPr lang="zh-CN" altLang="zh-CN"/>
              <a:t>中，可以使用</a:t>
            </a:r>
            <a:r>
              <a:rPr lang="en-US" altLang="zh-CN"/>
              <a:t>SET TRANSACTION ISOLATION LEVEL</a:t>
            </a:r>
            <a:r>
              <a:rPr lang="zh-CN" altLang="zh-CN"/>
              <a:t>语句来设置事务的隔离级别。</a:t>
            </a:r>
            <a:endParaRPr lang="zh-CN" altLang="zh-CN"/>
          </a:p>
          <a:p>
            <a:pPr eaLnBrk="1" hangingPunct="1">
              <a:lnSpc>
                <a:spcPct val="150000"/>
              </a:lnSpc>
            </a:pPr>
            <a:r>
              <a:rPr lang="zh-CN" altLang="zh-CN"/>
              <a:t>语法格式：</a:t>
            </a:r>
            <a:endParaRPr lang="zh-CN" altLang="zh-CN"/>
          </a:p>
          <a:p>
            <a:pPr eaLnBrk="1" hangingPunct="1"/>
            <a:r>
              <a:rPr lang="en-US" altLang="zh-CN"/>
              <a:t>SET TRANSACTION ISOLATION LEVEL</a:t>
            </a:r>
            <a:endParaRPr lang="zh-CN" altLang="zh-CN"/>
          </a:p>
          <a:p>
            <a:pPr eaLnBrk="1" hangingPunct="1"/>
            <a:r>
              <a:rPr lang="en-US" altLang="zh-CN"/>
              <a:t>{</a:t>
            </a:r>
            <a:endParaRPr lang="zh-CN" altLang="zh-CN"/>
          </a:p>
          <a:p>
            <a:pPr eaLnBrk="1" hangingPunct="1"/>
            <a:r>
              <a:rPr lang="en-US" altLang="zh-CN"/>
              <a:t>    READ UNCOMMITTED</a:t>
            </a:r>
            <a:endParaRPr lang="zh-CN" altLang="zh-CN"/>
          </a:p>
          <a:p>
            <a:pPr eaLnBrk="1" hangingPunct="1"/>
            <a:r>
              <a:rPr lang="en-US" altLang="zh-CN"/>
              <a:t>    | READ COMMITTED</a:t>
            </a:r>
            <a:endParaRPr lang="zh-CN" altLang="zh-CN"/>
          </a:p>
          <a:p>
            <a:pPr eaLnBrk="1" hangingPunct="1"/>
            <a:r>
              <a:rPr lang="en-US" altLang="zh-CN"/>
              <a:t>    | REPEATABLE READ</a:t>
            </a:r>
            <a:endParaRPr lang="zh-CN" altLang="zh-CN"/>
          </a:p>
          <a:p>
            <a:pPr eaLnBrk="1" hangingPunct="1"/>
            <a:r>
              <a:rPr lang="en-US" altLang="zh-CN"/>
              <a:t>    | SNAPSHOT</a:t>
            </a:r>
            <a:endParaRPr lang="zh-CN" altLang="zh-CN"/>
          </a:p>
          <a:p>
            <a:pPr eaLnBrk="1" hangingPunct="1"/>
            <a:r>
              <a:rPr lang="en-US" altLang="zh-CN"/>
              <a:t>    | SERIALIZABLE</a:t>
            </a:r>
            <a:endParaRPr lang="zh-CN" altLang="zh-CN"/>
          </a:p>
          <a:p>
            <a:pPr eaLnBrk="1" hangingPunct="1"/>
            <a:r>
              <a:rPr lang="en-US" altLang="zh-CN"/>
              <a:t>}</a:t>
            </a:r>
            <a:endParaRPr lang="zh-CN" altLang="zh-CN"/>
          </a:p>
        </p:txBody>
      </p:sp>
    </p:spTree>
  </p:cSld>
  <p:clrMapOvr>
    <a:masterClrMapping/>
  </p:clrMapOvr>
  <p:transition spd="slow">
    <p:checke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10.1.4  </a:t>
            </a:r>
            <a:r>
              <a:rPr lang="zh-CN" altLang="zh-CN" dirty="0">
                <a:effectLst/>
              </a:rPr>
              <a:t>事务隔离级：</a:t>
            </a:r>
            <a:r>
              <a:rPr lang="en-US" altLang="zh-CN" dirty="0">
                <a:effectLst/>
              </a:rPr>
              <a:t>SET TRANSACTION ISOLATION LEVEL</a:t>
            </a:r>
            <a:endParaRPr lang="zh-CN" altLang="en-US" dirty="0"/>
          </a:p>
        </p:txBody>
      </p:sp>
      <p:sp>
        <p:nvSpPr>
          <p:cNvPr id="17411" name="TextBox 2"/>
          <p:cNvSpPr txBox="1">
            <a:spLocks noChangeArrowheads="1"/>
          </p:cNvSpPr>
          <p:nvPr/>
        </p:nvSpPr>
        <p:spPr bwMode="auto">
          <a:xfrm>
            <a:off x="395288" y="1557338"/>
            <a:ext cx="8280400" cy="420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zh-CN"/>
              <a:t>（</a:t>
            </a:r>
            <a:r>
              <a:rPr lang="en-US" altLang="zh-CN"/>
              <a:t>1</a:t>
            </a:r>
            <a:r>
              <a:rPr lang="zh-CN" altLang="zh-CN"/>
              <a:t>）未提交读。未提交读提供了事务之间最小限度的隔离，允许脏读，但不允许丢失更新。如果一个事务已经开始写数据，则另外一个事务不允许同时进行写操作，但允许其他事务读取此行数据。该隔离级别可以通过“排他锁”实现。</a:t>
            </a:r>
            <a:endParaRPr lang="zh-CN" altLang="zh-CN"/>
          </a:p>
          <a:p>
            <a:pPr eaLnBrk="1" hangingPunct="1">
              <a:lnSpc>
                <a:spcPct val="150000"/>
              </a:lnSpc>
            </a:pPr>
            <a:r>
              <a:rPr lang="zh-CN" altLang="zh-CN"/>
              <a:t>（</a:t>
            </a:r>
            <a:r>
              <a:rPr lang="en-US" altLang="zh-CN"/>
              <a:t>2</a:t>
            </a:r>
            <a:r>
              <a:rPr lang="zh-CN" altLang="zh-CN"/>
              <a:t>）提交读。提交读是</a:t>
            </a:r>
            <a:r>
              <a:rPr lang="en-US" altLang="zh-CN"/>
              <a:t>SQL Server </a:t>
            </a:r>
            <a:r>
              <a:rPr lang="zh-CN" altLang="zh-CN"/>
              <a:t>默认的隔离级别，处于这一级的事务可以看到其他事务添加的新记录，而且其他事务对现存记录做出的修改一旦被提交，也可以看到。</a:t>
            </a:r>
            <a:endParaRPr lang="en-US" altLang="zh-CN"/>
          </a:p>
          <a:p>
            <a:pPr eaLnBrk="1" hangingPunct="1">
              <a:lnSpc>
                <a:spcPct val="150000"/>
              </a:lnSpc>
            </a:pPr>
            <a:r>
              <a:rPr lang="zh-CN" altLang="zh-CN"/>
              <a:t>（</a:t>
            </a:r>
            <a:r>
              <a:rPr lang="en-US" altLang="zh-CN"/>
              <a:t>3</a:t>
            </a:r>
            <a:r>
              <a:rPr lang="zh-CN" altLang="zh-CN"/>
              <a:t>）可重复读。处于这一级的事务禁止不可重复读取和脏读取，但是有时可能出现幻读。读取数据的事务将会禁止写事务（但允许读事务），写事务则禁止任何其他事务。</a:t>
            </a:r>
            <a:endParaRPr lang="zh-CN" altLang="zh-CN"/>
          </a:p>
          <a:p>
            <a:pPr eaLnBrk="1" hangingPunct="1">
              <a:lnSpc>
                <a:spcPct val="150000"/>
              </a:lnSpc>
            </a:pPr>
            <a:endParaRPr lang="zh-CN" altLang="en-US"/>
          </a:p>
        </p:txBody>
      </p:sp>
    </p:spTree>
  </p:cSld>
  <p:clrMapOvr>
    <a:masterClrMapping/>
  </p:clrMapOvr>
  <p:transition spd="slow">
    <p:cove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3644900"/>
            <a:ext cx="7775575" cy="5762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10.1.4  </a:t>
            </a:r>
            <a:r>
              <a:rPr lang="zh-CN" altLang="zh-CN" dirty="0">
                <a:effectLst/>
              </a:rPr>
              <a:t>事务隔离级：</a:t>
            </a:r>
            <a:r>
              <a:rPr lang="en-US" altLang="zh-CN" dirty="0">
                <a:effectLst/>
              </a:rPr>
              <a:t>SET TRANSACTION ISOLATION LEVEL</a:t>
            </a:r>
            <a:endParaRPr lang="zh-CN" altLang="en-US" dirty="0"/>
          </a:p>
        </p:txBody>
      </p:sp>
      <p:sp>
        <p:nvSpPr>
          <p:cNvPr id="18436" name="TextBox 2"/>
          <p:cNvSpPr txBox="1">
            <a:spLocks noChangeArrowheads="1"/>
          </p:cNvSpPr>
          <p:nvPr/>
        </p:nvSpPr>
        <p:spPr bwMode="auto">
          <a:xfrm>
            <a:off x="468313" y="1557338"/>
            <a:ext cx="8207375"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zh-CN"/>
              <a:t>（</a:t>
            </a:r>
            <a:r>
              <a:rPr lang="en-US" altLang="zh-CN"/>
              <a:t>4</a:t>
            </a:r>
            <a:r>
              <a:rPr lang="zh-CN" altLang="zh-CN"/>
              <a:t>）快照。处于这一级别的事务只能识别在其开始之前提交的数据修改。在当前事务中执行的语句将看不到在当前事务开始以后由其他事务所做的数据修改。其效果就好像事务中的语句获得了已提交数据的快照，因为该数据在事务开始时就存在。必须在每个数据库中将</a:t>
            </a:r>
            <a:r>
              <a:rPr lang="en-US" altLang="zh-CN"/>
              <a:t>ALLOW_SNAPSHOT_ISOLATION</a:t>
            </a:r>
            <a:r>
              <a:rPr lang="zh-CN" altLang="zh-CN"/>
              <a:t>数据库选项设置为</a:t>
            </a:r>
            <a:r>
              <a:rPr lang="en-US" altLang="zh-CN"/>
              <a:t>ON</a:t>
            </a:r>
            <a:r>
              <a:rPr lang="zh-CN" altLang="zh-CN"/>
              <a:t>，才能开始一个使用</a:t>
            </a:r>
            <a:r>
              <a:rPr lang="en-US" altLang="zh-CN"/>
              <a:t>SNAPSHOT</a:t>
            </a:r>
            <a:r>
              <a:rPr lang="zh-CN" altLang="zh-CN"/>
              <a:t>隔离级别的事务。设置的方法如下：</a:t>
            </a:r>
            <a:endParaRPr lang="zh-CN" altLang="zh-CN"/>
          </a:p>
          <a:p>
            <a:pPr eaLnBrk="1" hangingPunct="1"/>
            <a:r>
              <a:rPr lang="en-US" altLang="zh-CN"/>
              <a:t>ALTER DATABASE </a:t>
            </a:r>
            <a:r>
              <a:rPr lang="zh-CN" altLang="zh-CN"/>
              <a:t>数据库名</a:t>
            </a:r>
            <a:endParaRPr lang="zh-CN" altLang="zh-CN"/>
          </a:p>
          <a:p>
            <a:pPr eaLnBrk="1" hangingPunct="1"/>
            <a:r>
              <a:rPr lang="en-US" altLang="zh-CN"/>
              <a:t>    SET ALLOW_SNAPSHOT_ISOLATION ON</a:t>
            </a:r>
            <a:endParaRPr lang="zh-CN" altLang="zh-CN"/>
          </a:p>
          <a:p>
            <a:pPr eaLnBrk="1" hangingPunct="1">
              <a:lnSpc>
                <a:spcPct val="150000"/>
              </a:lnSpc>
            </a:pPr>
            <a:r>
              <a:rPr lang="zh-CN" altLang="zh-CN"/>
              <a:t>（</a:t>
            </a:r>
            <a:r>
              <a:rPr lang="en-US" altLang="zh-CN"/>
              <a:t>5</a:t>
            </a:r>
            <a:r>
              <a:rPr lang="zh-CN" altLang="zh-CN"/>
              <a:t>）序列化。序列化是隔离事务的最高级别，提供严格的事务隔离。它要求事务序列化执行，事务只能一个接着一个地执行，不能并发执行。</a:t>
            </a:r>
            <a:endParaRPr lang="zh-CN" altLang="zh-CN"/>
          </a:p>
          <a:p>
            <a:pPr eaLnBrk="1" hangingPunct="1">
              <a:lnSpc>
                <a:spcPct val="150000"/>
              </a:lnSpc>
            </a:pPr>
            <a:endParaRPr lang="zh-CN" altLang="en-US"/>
          </a:p>
        </p:txBody>
      </p:sp>
    </p:spTree>
  </p:cSld>
  <p:clrMapOvr>
    <a:masterClrMapping/>
  </p:clrMapOvr>
  <p:transition spd="slow">
    <p:checke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900113" y="4822825"/>
            <a:ext cx="7775575" cy="3159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a:xfrm>
            <a:off x="900113" y="3716338"/>
            <a:ext cx="7775575" cy="3175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095500"/>
            <a:ext cx="7775575" cy="10810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10.1.4  </a:t>
            </a:r>
            <a:r>
              <a:rPr lang="zh-CN" altLang="zh-CN" dirty="0">
                <a:effectLst/>
              </a:rPr>
              <a:t>事务隔离级：</a:t>
            </a:r>
            <a:r>
              <a:rPr lang="en-US" altLang="zh-CN" dirty="0">
                <a:effectLst/>
              </a:rPr>
              <a:t>SET TRANSACTION ISOLATION LEVEL</a:t>
            </a:r>
            <a:endParaRPr lang="zh-CN" altLang="en-US" dirty="0"/>
          </a:p>
        </p:txBody>
      </p:sp>
      <p:sp>
        <p:nvSpPr>
          <p:cNvPr id="19462" name="TextBox 2"/>
          <p:cNvSpPr txBox="1">
            <a:spLocks noChangeArrowheads="1"/>
          </p:cNvSpPr>
          <p:nvPr/>
        </p:nvSpPr>
        <p:spPr bwMode="auto">
          <a:xfrm>
            <a:off x="468313" y="1484313"/>
            <a:ext cx="8207375" cy="424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zh-CN"/>
              <a:t>下面就</a:t>
            </a:r>
            <a:r>
              <a:rPr lang="en-US" altLang="zh-CN"/>
              <a:t>pxscj</a:t>
            </a:r>
            <a:r>
              <a:rPr lang="zh-CN" altLang="zh-CN"/>
              <a:t>数据库的隔离级别设置做一个简单示范，在</a:t>
            </a:r>
            <a:r>
              <a:rPr lang="en-US" altLang="zh-CN"/>
              <a:t>SSMS</a:t>
            </a:r>
            <a:r>
              <a:rPr lang="zh-CN" altLang="zh-CN"/>
              <a:t>中打开两个“查询分析器”窗口，在第一个窗口中执行如下语句，更新课程表</a:t>
            </a:r>
            <a:r>
              <a:rPr lang="en-US" altLang="zh-CN"/>
              <a:t>kcb</a:t>
            </a:r>
            <a:r>
              <a:rPr lang="zh-CN" altLang="zh-CN"/>
              <a:t>中的信息：</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BEGIN TRANSACTION</a:t>
            </a:r>
            <a:endParaRPr lang="zh-CN" altLang="zh-CN"/>
          </a:p>
          <a:p>
            <a:pPr eaLnBrk="1" hangingPunct="1"/>
            <a:r>
              <a:rPr lang="en-US" altLang="zh-CN"/>
              <a:t>UPDATE kcb SET </a:t>
            </a:r>
            <a:r>
              <a:rPr lang="zh-CN" altLang="zh-CN"/>
              <a:t>课程名</a:t>
            </a:r>
            <a:r>
              <a:rPr lang="en-US" altLang="zh-CN"/>
              <a:t>='</a:t>
            </a:r>
            <a:r>
              <a:rPr lang="zh-CN" altLang="zh-CN"/>
              <a:t>计算机导论</a:t>
            </a:r>
            <a:r>
              <a:rPr lang="en-US" altLang="zh-CN"/>
              <a:t>' WHERE </a:t>
            </a:r>
            <a:r>
              <a:rPr lang="zh-CN" altLang="zh-CN"/>
              <a:t>课程号</a:t>
            </a:r>
            <a:r>
              <a:rPr lang="en-US" altLang="zh-CN"/>
              <a:t>='101'</a:t>
            </a:r>
            <a:endParaRPr lang="zh-CN" altLang="zh-CN"/>
          </a:p>
          <a:p>
            <a:pPr eaLnBrk="1" hangingPunct="1"/>
            <a:r>
              <a:rPr lang="zh-CN" altLang="zh-CN"/>
              <a:t>由于代码中并没有执行</a:t>
            </a:r>
            <a:r>
              <a:rPr lang="en-US" altLang="zh-CN"/>
              <a:t>COMMIT</a:t>
            </a:r>
            <a:r>
              <a:rPr lang="zh-CN" altLang="zh-CN"/>
              <a:t>语句，所以数据变动操作实际上还没有最终完成。接下来，在另一个窗口中执行下列语句查询</a:t>
            </a:r>
            <a:r>
              <a:rPr lang="en-US" altLang="zh-CN"/>
              <a:t>kcb</a:t>
            </a:r>
            <a:r>
              <a:rPr lang="zh-CN" altLang="zh-CN"/>
              <a:t>表中的数据：</a:t>
            </a:r>
            <a:endParaRPr lang="zh-CN" altLang="zh-CN"/>
          </a:p>
          <a:p>
            <a:pPr eaLnBrk="1" hangingPunct="1"/>
            <a:r>
              <a:rPr lang="en-US" altLang="zh-CN"/>
              <a:t>SELECT * FROM kcb</a:t>
            </a:r>
            <a:endParaRPr lang="zh-CN" altLang="zh-CN"/>
          </a:p>
          <a:p>
            <a:pPr eaLnBrk="1" hangingPunct="1"/>
            <a:r>
              <a:rPr lang="zh-CN" altLang="zh-CN"/>
              <a:t>“结果”窗口中将不显示任何查询结果，窗口底部提示“正在执行查询…”。</a:t>
            </a:r>
            <a:endParaRPr lang="zh-CN" altLang="zh-CN"/>
          </a:p>
          <a:p>
            <a:pPr eaLnBrk="1" hangingPunct="1"/>
            <a:r>
              <a:rPr lang="zh-CN" altLang="zh-CN"/>
              <a:t>在第一个窗口中使用</a:t>
            </a:r>
            <a:r>
              <a:rPr lang="en-US" altLang="zh-CN"/>
              <a:t>ROLLBACK</a:t>
            </a:r>
            <a:r>
              <a:rPr lang="zh-CN" altLang="zh-CN"/>
              <a:t>语句回滚以上操作。这时使用</a:t>
            </a:r>
            <a:r>
              <a:rPr lang="en-US" altLang="zh-CN"/>
              <a:t>SET</a:t>
            </a:r>
            <a:r>
              <a:rPr lang="zh-CN" altLang="zh-CN"/>
              <a:t>语句设置事务的隔离级别为未提交读，执行如下语句：</a:t>
            </a:r>
            <a:endParaRPr lang="zh-CN" altLang="zh-CN"/>
          </a:p>
          <a:p>
            <a:pPr eaLnBrk="1" hangingPunct="1"/>
            <a:r>
              <a:rPr lang="en-US" altLang="zh-CN"/>
              <a:t>SET TRANSACTION ISOLATION LEVEL READ UNCOMMITTED</a:t>
            </a:r>
            <a:endParaRPr lang="en-US" altLang="zh-CN"/>
          </a:p>
          <a:p>
            <a:pPr eaLnBrk="1" hangingPunct="1"/>
            <a:r>
              <a:rPr lang="zh-CN" altLang="en-US"/>
              <a:t>这是再重新执行修改和查询的操作就能够查询到事务正在修改的数据行，因为未提交读隔离级别允许脏读。</a:t>
            </a:r>
            <a:endParaRPr lang="zh-CN" altLang="en-US"/>
          </a:p>
        </p:txBody>
      </p:sp>
    </p:spTree>
  </p:cSld>
  <p:clrMapOvr>
    <a:masterClrMapping/>
  </p:clrMapOvr>
  <p:transition spd="slow">
    <p:cove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10.2  </a:t>
            </a:r>
            <a:r>
              <a:rPr lang="zh-CN" altLang="zh-CN" dirty="0">
                <a:effectLst/>
              </a:rPr>
              <a:t>锁</a:t>
            </a:r>
            <a:r>
              <a:rPr lang="en-US" altLang="zh-CN" dirty="0">
                <a:effectLst/>
              </a:rPr>
              <a:t>    </a:t>
            </a:r>
            <a:r>
              <a:rPr lang="zh-CN" altLang="zh-CN" dirty="0" smtClean="0">
                <a:effectLst/>
              </a:rPr>
              <a:t>定</a:t>
            </a:r>
            <a:endParaRPr lang="zh-CN" altLang="en-US" dirty="0"/>
          </a:p>
        </p:txBody>
      </p:sp>
      <p:sp>
        <p:nvSpPr>
          <p:cNvPr id="20483" name="TextBox 2"/>
          <p:cNvSpPr txBox="1">
            <a:spLocks noChangeArrowheads="1"/>
          </p:cNvSpPr>
          <p:nvPr/>
        </p:nvSpPr>
        <p:spPr bwMode="auto">
          <a:xfrm>
            <a:off x="468313" y="1557338"/>
            <a:ext cx="8207375" cy="304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sz="2000" b="1" dirty="0"/>
              <a:t>10.2.1  </a:t>
            </a:r>
            <a:r>
              <a:rPr lang="zh-CN" altLang="zh-CN" sz="2000" b="1" dirty="0"/>
              <a:t>锁定粒度</a:t>
            </a:r>
            <a:endParaRPr lang="zh-CN" altLang="zh-CN" sz="2000" b="1" dirty="0"/>
          </a:p>
          <a:p>
            <a:pPr eaLnBrk="1" hangingPunct="1">
              <a:lnSpc>
                <a:spcPct val="150000"/>
              </a:lnSpc>
            </a:pPr>
            <a:r>
              <a:rPr lang="zh-CN" altLang="zh-CN" dirty="0"/>
              <a:t>在</a:t>
            </a:r>
            <a:r>
              <a:rPr lang="en-US" altLang="zh-CN" dirty="0"/>
              <a:t>SQL Server</a:t>
            </a:r>
            <a:r>
              <a:rPr lang="zh-CN" altLang="zh-CN" dirty="0"/>
              <a:t>中，可被锁定的资源从小到大分别是行、页、扩展盘区、表和数据库，被锁定的资源单位称为锁定粒度。可见，上述</a:t>
            </a:r>
            <a:r>
              <a:rPr lang="en-US" altLang="zh-CN" dirty="0"/>
              <a:t>5</a:t>
            </a:r>
            <a:r>
              <a:rPr lang="zh-CN" altLang="zh-CN" dirty="0"/>
              <a:t>种资源单位其锁定粒度是由小到大排列的。锁定粒度不同，系统的开销将不同，并且锁定粒度与数据库访问并发度是一对矛盾，锁定粒度大，系统开销小，但并发度会降低；锁定粒度小，系统开销大，但并发度可提高。</a:t>
            </a:r>
            <a:endParaRPr lang="zh-CN" altLang="zh-CN" dirty="0"/>
          </a:p>
          <a:p>
            <a:pPr eaLnBrk="1" hangingPunct="1">
              <a:lnSpc>
                <a:spcPct val="150000"/>
              </a:lnSpc>
            </a:pPr>
            <a:endParaRPr lang="zh-CN" altLang="en-US" dirty="0"/>
          </a:p>
        </p:txBody>
      </p:sp>
    </p:spTree>
  </p:cSld>
  <p:clrMapOvr>
    <a:masterClrMapping/>
  </p:clrMapOvr>
  <p:transition spd="slow">
    <p:checke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10.2.2  </a:t>
            </a:r>
            <a:r>
              <a:rPr lang="zh-CN" altLang="zh-CN" dirty="0">
                <a:effectLst/>
              </a:rPr>
              <a:t>锁定模式</a:t>
            </a:r>
            <a:endParaRPr lang="zh-CN" altLang="zh-CN" dirty="0">
              <a:effectLst/>
            </a:endParaRPr>
          </a:p>
        </p:txBody>
      </p:sp>
      <p:sp>
        <p:nvSpPr>
          <p:cNvPr id="21507" name="TextBox 2"/>
          <p:cNvSpPr txBox="1">
            <a:spLocks noChangeArrowheads="1"/>
          </p:cNvSpPr>
          <p:nvPr/>
        </p:nvSpPr>
        <p:spPr bwMode="auto">
          <a:xfrm>
            <a:off x="468313" y="1484313"/>
            <a:ext cx="8207375"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zh-CN"/>
              <a:t>（</a:t>
            </a:r>
            <a:r>
              <a:rPr lang="en-US" altLang="zh-CN"/>
              <a:t>1</a:t>
            </a:r>
            <a:r>
              <a:rPr lang="zh-CN" altLang="zh-CN"/>
              <a:t>）排他锁。排他锁可以防止并发事务对资源进行访问。其他事务不能读取或修改排他锁锁定的数据。</a:t>
            </a:r>
            <a:endParaRPr lang="zh-CN" altLang="zh-CN"/>
          </a:p>
          <a:p>
            <a:pPr eaLnBrk="1" hangingPunct="1"/>
            <a:r>
              <a:rPr lang="zh-CN" altLang="zh-CN"/>
              <a:t>（</a:t>
            </a:r>
            <a:r>
              <a:rPr lang="en-US" altLang="zh-CN"/>
              <a:t>2</a:t>
            </a:r>
            <a:r>
              <a:rPr lang="zh-CN" altLang="zh-CN"/>
              <a:t>）共享锁。共享锁允许并发事务读取一个资源。当一个资源上存在共享锁时，任何其他事务都不能修改数据。</a:t>
            </a:r>
            <a:endParaRPr lang="zh-CN" altLang="zh-CN"/>
          </a:p>
          <a:p>
            <a:pPr eaLnBrk="1" hangingPunct="1"/>
            <a:r>
              <a:rPr lang="zh-CN" altLang="zh-CN"/>
              <a:t>（</a:t>
            </a:r>
            <a:r>
              <a:rPr lang="en-US" altLang="zh-CN"/>
              <a:t>3</a:t>
            </a:r>
            <a:r>
              <a:rPr lang="zh-CN" altLang="zh-CN"/>
              <a:t>）更新锁。更新锁可以防止通常形式的死锁。一般更新模式由一个事务组成，此事务读取记录，获取资源（页或行）的共享锁，然后修改行，此操作要求锁转换为排他锁。</a:t>
            </a:r>
            <a:endParaRPr lang="zh-CN" altLang="zh-CN"/>
          </a:p>
          <a:p>
            <a:pPr eaLnBrk="1" hangingPunct="1"/>
            <a:r>
              <a:rPr lang="zh-CN" altLang="zh-CN"/>
              <a:t>（</a:t>
            </a:r>
            <a:r>
              <a:rPr lang="en-US" altLang="zh-CN"/>
              <a:t>4</a:t>
            </a:r>
            <a:r>
              <a:rPr lang="zh-CN" altLang="zh-CN"/>
              <a:t>）意向锁。意向锁表示</a:t>
            </a:r>
            <a:r>
              <a:rPr lang="en-US" altLang="zh-CN"/>
              <a:t>SQL Server</a:t>
            </a:r>
            <a:r>
              <a:rPr lang="zh-CN" altLang="zh-CN"/>
              <a:t>需要在层次结构中的某些底层资源（如表中的页或行）上获取共享锁或排他锁。</a:t>
            </a:r>
            <a:endParaRPr lang="zh-CN" altLang="zh-CN"/>
          </a:p>
          <a:p>
            <a:pPr eaLnBrk="1" hangingPunct="1"/>
            <a:r>
              <a:rPr lang="zh-CN" altLang="zh-CN"/>
              <a:t>（</a:t>
            </a:r>
            <a:r>
              <a:rPr lang="en-US" altLang="zh-CN"/>
              <a:t>5</a:t>
            </a:r>
            <a:r>
              <a:rPr lang="zh-CN" altLang="zh-CN"/>
              <a:t>）键范围锁。键范围锁用于序列化的事务隔离级别，可以保护由</a:t>
            </a:r>
            <a:r>
              <a:rPr lang="en-US" altLang="zh-CN"/>
              <a:t>T-SQL</a:t>
            </a:r>
            <a:r>
              <a:rPr lang="zh-CN" altLang="zh-CN"/>
              <a:t>语句读取的记录集合中隐含的行范围。</a:t>
            </a:r>
            <a:endParaRPr lang="zh-CN" altLang="zh-CN"/>
          </a:p>
          <a:p>
            <a:pPr eaLnBrk="1" hangingPunct="1"/>
            <a:r>
              <a:rPr lang="zh-CN" altLang="zh-CN"/>
              <a:t>（</a:t>
            </a:r>
            <a:r>
              <a:rPr lang="en-US" altLang="zh-CN"/>
              <a:t>6</a:t>
            </a:r>
            <a:r>
              <a:rPr lang="zh-CN" altLang="zh-CN"/>
              <a:t>）架构锁。执行表的数据定义语言操作（如增加列或删除表）时使用架构修改锁。</a:t>
            </a:r>
            <a:endParaRPr lang="zh-CN" altLang="zh-CN"/>
          </a:p>
          <a:p>
            <a:pPr eaLnBrk="1" hangingPunct="1"/>
            <a:r>
              <a:rPr lang="zh-CN" altLang="zh-CN"/>
              <a:t>（</a:t>
            </a:r>
            <a:r>
              <a:rPr lang="en-US" altLang="zh-CN"/>
              <a:t>7</a:t>
            </a:r>
            <a:r>
              <a:rPr lang="zh-CN" altLang="zh-CN"/>
              <a:t>）大容量更新锁。当将数据大容量复制到表，且指定了</a:t>
            </a:r>
            <a:r>
              <a:rPr lang="en-US" altLang="zh-CN"/>
              <a:t>TABLOCK</a:t>
            </a:r>
            <a:r>
              <a:rPr lang="zh-CN" altLang="zh-CN"/>
              <a:t>提示或者使用</a:t>
            </a:r>
            <a:r>
              <a:rPr lang="en-US" altLang="zh-CN"/>
              <a:t>sp_tableoption</a:t>
            </a:r>
            <a:r>
              <a:rPr lang="zh-CN" altLang="zh-CN"/>
              <a:t>设置了</a:t>
            </a:r>
            <a:r>
              <a:rPr lang="en-US" altLang="zh-CN"/>
              <a:t>table lock on bulk</a:t>
            </a:r>
            <a:r>
              <a:rPr lang="zh-CN" altLang="zh-CN"/>
              <a:t>表选项时，将使用大容量更新锁。</a:t>
            </a:r>
            <a:endParaRPr lang="zh-CN" altLang="zh-CN"/>
          </a:p>
          <a:p>
            <a:pPr eaLnBrk="1" hangingPunct="1"/>
            <a:endParaRPr lang="zh-CN" altLang="en-US"/>
          </a:p>
        </p:txBody>
      </p:sp>
    </p:spTree>
  </p:cSld>
  <p:clrMapOvr>
    <a:masterClrMapping/>
  </p:clrMapOvr>
  <p:transition spd="slow">
    <p:cove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10.3  </a:t>
            </a:r>
            <a:r>
              <a:rPr lang="zh-CN" altLang="zh-CN" dirty="0">
                <a:effectLst/>
              </a:rPr>
              <a:t>自动化管理</a:t>
            </a:r>
            <a:endParaRPr lang="zh-CN" altLang="zh-CN" dirty="0">
              <a:effectLst/>
            </a:endParaRPr>
          </a:p>
        </p:txBody>
      </p:sp>
      <p:sp>
        <p:nvSpPr>
          <p:cNvPr id="3" name="TextBox 2"/>
          <p:cNvSpPr txBox="1"/>
          <p:nvPr/>
        </p:nvSpPr>
        <p:spPr>
          <a:xfrm>
            <a:off x="468313" y="1412875"/>
            <a:ext cx="8207375" cy="3970338"/>
          </a:xfrm>
          <a:prstGeom prst="rect">
            <a:avLst/>
          </a:prstGeom>
          <a:noFill/>
        </p:spPr>
        <p:txBody>
          <a:bodyPr>
            <a:spAutoFit/>
          </a:bodyPr>
          <a:lstStyle/>
          <a:p>
            <a:pPr indent="446405" fontAlgn="auto">
              <a:spcBef>
                <a:spcPts val="0"/>
              </a:spcBef>
              <a:spcAft>
                <a:spcPts val="0"/>
              </a:spcAft>
              <a:defRPr/>
            </a:pPr>
            <a:r>
              <a:rPr lang="zh-CN" altLang="zh-CN" dirty="0">
                <a:latin typeface="+mn-lt"/>
                <a:ea typeface="+mn-ea"/>
              </a:rPr>
              <a:t>在</a:t>
            </a:r>
            <a:r>
              <a:rPr lang="en-US" altLang="zh-CN" dirty="0">
                <a:latin typeface="+mn-lt"/>
                <a:ea typeface="+mn-ea"/>
              </a:rPr>
              <a:t>SQL Server </a:t>
            </a:r>
            <a:r>
              <a:rPr lang="zh-CN" altLang="zh-CN" dirty="0">
                <a:latin typeface="+mn-lt"/>
                <a:ea typeface="+mn-ea"/>
              </a:rPr>
              <a:t>中要进行自动化管理，需要按以下步骤进行操作：</a:t>
            </a:r>
            <a:endParaRPr lang="zh-CN" altLang="zh-CN" dirty="0">
              <a:latin typeface="+mn-lt"/>
              <a:ea typeface="+mn-ea"/>
            </a:endParaRPr>
          </a:p>
          <a:p>
            <a:pPr indent="446405" fontAlgn="auto">
              <a:spcBef>
                <a:spcPts val="0"/>
              </a:spcBef>
              <a:spcAft>
                <a:spcPts val="0"/>
              </a:spcAft>
              <a:defRPr/>
            </a:pPr>
            <a:r>
              <a:rPr lang="zh-CN" altLang="zh-CN" dirty="0">
                <a:latin typeface="+mn-lt"/>
                <a:ea typeface="+mn-ea"/>
              </a:rPr>
              <a:t>（</a:t>
            </a:r>
            <a:r>
              <a:rPr lang="en-US" altLang="zh-CN" dirty="0">
                <a:latin typeface="+mn-lt"/>
                <a:ea typeface="+mn-ea"/>
              </a:rPr>
              <a:t>1</a:t>
            </a:r>
            <a:r>
              <a:rPr lang="zh-CN" altLang="zh-CN" dirty="0">
                <a:latin typeface="+mn-lt"/>
                <a:ea typeface="+mn-ea"/>
              </a:rPr>
              <a:t>）确定哪些管理任务或服务器事件定期执行，以及这些任务或事件是否可以通过编程方式进行管理；</a:t>
            </a:r>
            <a:endParaRPr lang="zh-CN" altLang="zh-CN" dirty="0">
              <a:latin typeface="+mn-lt"/>
              <a:ea typeface="+mn-ea"/>
            </a:endParaRPr>
          </a:p>
          <a:p>
            <a:pPr indent="446405" fontAlgn="auto">
              <a:spcBef>
                <a:spcPts val="0"/>
              </a:spcBef>
              <a:spcAft>
                <a:spcPts val="0"/>
              </a:spcAft>
              <a:defRPr/>
            </a:pPr>
            <a:r>
              <a:rPr lang="zh-CN" altLang="zh-CN" dirty="0">
                <a:latin typeface="+mn-lt"/>
                <a:ea typeface="+mn-ea"/>
              </a:rPr>
              <a:t>（</a:t>
            </a:r>
            <a:r>
              <a:rPr lang="en-US" altLang="zh-CN" dirty="0">
                <a:latin typeface="+mn-lt"/>
                <a:ea typeface="+mn-ea"/>
              </a:rPr>
              <a:t>2</a:t>
            </a:r>
            <a:r>
              <a:rPr lang="zh-CN" altLang="zh-CN" dirty="0">
                <a:latin typeface="+mn-lt"/>
                <a:ea typeface="+mn-ea"/>
              </a:rPr>
              <a:t>）使用自动化管理工具定义一组作业、计划、警报和操作员；</a:t>
            </a:r>
            <a:endParaRPr lang="zh-CN" altLang="zh-CN" dirty="0">
              <a:latin typeface="+mn-lt"/>
              <a:ea typeface="+mn-ea"/>
            </a:endParaRPr>
          </a:p>
          <a:p>
            <a:pPr indent="446405" fontAlgn="auto">
              <a:spcBef>
                <a:spcPts val="0"/>
              </a:spcBef>
              <a:spcAft>
                <a:spcPts val="0"/>
              </a:spcAft>
              <a:defRPr/>
            </a:pPr>
            <a:r>
              <a:rPr lang="zh-CN" altLang="zh-CN" dirty="0">
                <a:latin typeface="+mn-lt"/>
                <a:ea typeface="+mn-ea"/>
              </a:rPr>
              <a:t>（</a:t>
            </a:r>
            <a:r>
              <a:rPr lang="en-US" altLang="zh-CN" dirty="0">
                <a:latin typeface="+mn-lt"/>
                <a:ea typeface="+mn-ea"/>
              </a:rPr>
              <a:t>3</a:t>
            </a:r>
            <a:r>
              <a:rPr lang="zh-CN" altLang="zh-CN" dirty="0">
                <a:latin typeface="+mn-lt"/>
                <a:ea typeface="+mn-ea"/>
              </a:rPr>
              <a:t>）运行已定义的</a:t>
            </a:r>
            <a:r>
              <a:rPr lang="en-US" altLang="zh-CN" dirty="0">
                <a:latin typeface="+mn-lt"/>
                <a:ea typeface="+mn-ea"/>
              </a:rPr>
              <a:t>SQL Server</a:t>
            </a:r>
            <a:r>
              <a:rPr lang="zh-CN" altLang="zh-CN" dirty="0">
                <a:latin typeface="+mn-lt"/>
                <a:ea typeface="+mn-ea"/>
              </a:rPr>
              <a:t>代理作业。</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SQL Server</a:t>
            </a:r>
            <a:r>
              <a:rPr lang="zh-CN" altLang="zh-CN" dirty="0">
                <a:latin typeface="+mn-lt"/>
                <a:ea typeface="+mn-ea"/>
              </a:rPr>
              <a:t>自动化管理能够实现以下几种管理任务：</a:t>
            </a:r>
            <a:endParaRPr lang="zh-CN" altLang="zh-CN" dirty="0">
              <a:latin typeface="+mn-lt"/>
              <a:ea typeface="+mn-ea"/>
            </a:endParaRPr>
          </a:p>
          <a:p>
            <a:pPr indent="446405" fontAlgn="auto">
              <a:spcBef>
                <a:spcPts val="0"/>
              </a:spcBef>
              <a:spcAft>
                <a:spcPts val="0"/>
              </a:spcAft>
              <a:defRPr/>
            </a:pPr>
            <a:r>
              <a:rPr lang="zh-CN" altLang="zh-CN" dirty="0">
                <a:latin typeface="+mn-lt"/>
                <a:ea typeface="+mn-ea"/>
              </a:rPr>
              <a:t>（</a:t>
            </a:r>
            <a:r>
              <a:rPr lang="en-US" altLang="zh-CN" dirty="0">
                <a:latin typeface="+mn-lt"/>
                <a:ea typeface="+mn-ea"/>
              </a:rPr>
              <a:t>1</a:t>
            </a:r>
            <a:r>
              <a:rPr lang="zh-CN" altLang="zh-CN" dirty="0">
                <a:latin typeface="+mn-lt"/>
                <a:ea typeface="+mn-ea"/>
              </a:rPr>
              <a:t>）任何</a:t>
            </a:r>
            <a:r>
              <a:rPr lang="en-US" altLang="zh-CN" dirty="0">
                <a:latin typeface="+mn-lt"/>
                <a:ea typeface="+mn-ea"/>
              </a:rPr>
              <a:t>T-SQL</a:t>
            </a:r>
            <a:r>
              <a:rPr lang="zh-CN" altLang="zh-CN" dirty="0">
                <a:latin typeface="+mn-lt"/>
                <a:ea typeface="+mn-ea"/>
              </a:rPr>
              <a:t>语法中的语句；</a:t>
            </a:r>
            <a:endParaRPr lang="zh-CN" altLang="zh-CN" dirty="0">
              <a:latin typeface="+mn-lt"/>
              <a:ea typeface="+mn-ea"/>
            </a:endParaRPr>
          </a:p>
          <a:p>
            <a:pPr indent="446405" fontAlgn="auto">
              <a:spcBef>
                <a:spcPts val="0"/>
              </a:spcBef>
              <a:spcAft>
                <a:spcPts val="0"/>
              </a:spcAft>
              <a:defRPr/>
            </a:pPr>
            <a:r>
              <a:rPr lang="zh-CN" altLang="zh-CN" dirty="0">
                <a:latin typeface="+mn-lt"/>
                <a:ea typeface="+mn-ea"/>
              </a:rPr>
              <a:t>（</a:t>
            </a:r>
            <a:r>
              <a:rPr lang="en-US" altLang="zh-CN" dirty="0">
                <a:latin typeface="+mn-lt"/>
                <a:ea typeface="+mn-ea"/>
              </a:rPr>
              <a:t>2</a:t>
            </a:r>
            <a:r>
              <a:rPr lang="zh-CN" altLang="zh-CN" dirty="0">
                <a:latin typeface="+mn-lt"/>
                <a:ea typeface="+mn-ea"/>
              </a:rPr>
              <a:t>）操作系统命令；</a:t>
            </a:r>
            <a:endParaRPr lang="zh-CN" altLang="zh-CN" dirty="0">
              <a:latin typeface="+mn-lt"/>
              <a:ea typeface="+mn-ea"/>
            </a:endParaRPr>
          </a:p>
          <a:p>
            <a:pPr indent="446405" fontAlgn="auto">
              <a:spcBef>
                <a:spcPts val="0"/>
              </a:spcBef>
              <a:spcAft>
                <a:spcPts val="0"/>
              </a:spcAft>
              <a:defRPr/>
            </a:pPr>
            <a:r>
              <a:rPr lang="zh-CN" altLang="zh-CN" dirty="0">
                <a:latin typeface="+mn-lt"/>
                <a:ea typeface="+mn-ea"/>
              </a:rPr>
              <a:t>（</a:t>
            </a:r>
            <a:r>
              <a:rPr lang="en-US" altLang="zh-CN" dirty="0">
                <a:latin typeface="+mn-lt"/>
                <a:ea typeface="+mn-ea"/>
              </a:rPr>
              <a:t>3</a:t>
            </a:r>
            <a:r>
              <a:rPr lang="zh-CN" altLang="zh-CN" dirty="0">
                <a:latin typeface="+mn-lt"/>
                <a:ea typeface="+mn-ea"/>
              </a:rPr>
              <a:t>）</a:t>
            </a:r>
            <a:r>
              <a:rPr lang="en-US" altLang="zh-CN" dirty="0">
                <a:latin typeface="+mn-lt"/>
                <a:ea typeface="+mn-ea"/>
              </a:rPr>
              <a:t>VBScript</a:t>
            </a:r>
            <a:r>
              <a:rPr lang="zh-CN" altLang="zh-CN" dirty="0">
                <a:latin typeface="+mn-lt"/>
                <a:ea typeface="+mn-ea"/>
              </a:rPr>
              <a:t>或</a:t>
            </a:r>
            <a:r>
              <a:rPr lang="en-US" altLang="zh-CN" dirty="0">
                <a:latin typeface="+mn-lt"/>
                <a:ea typeface="+mn-ea"/>
              </a:rPr>
              <a:t>JavaScript</a:t>
            </a:r>
            <a:r>
              <a:rPr lang="zh-CN" altLang="zh-CN" dirty="0">
                <a:latin typeface="+mn-lt"/>
                <a:ea typeface="+mn-ea"/>
              </a:rPr>
              <a:t>之类的脚本语言；</a:t>
            </a:r>
            <a:endParaRPr lang="zh-CN" altLang="zh-CN" dirty="0">
              <a:latin typeface="+mn-lt"/>
              <a:ea typeface="+mn-ea"/>
            </a:endParaRPr>
          </a:p>
          <a:p>
            <a:pPr indent="446405" fontAlgn="auto">
              <a:spcBef>
                <a:spcPts val="0"/>
              </a:spcBef>
              <a:spcAft>
                <a:spcPts val="0"/>
              </a:spcAft>
              <a:defRPr/>
            </a:pPr>
            <a:r>
              <a:rPr lang="zh-CN" altLang="zh-CN" dirty="0">
                <a:latin typeface="+mn-lt"/>
                <a:ea typeface="+mn-ea"/>
              </a:rPr>
              <a:t>（</a:t>
            </a:r>
            <a:r>
              <a:rPr lang="en-US" altLang="zh-CN" dirty="0">
                <a:latin typeface="+mn-lt"/>
                <a:ea typeface="+mn-ea"/>
              </a:rPr>
              <a:t>4</a:t>
            </a:r>
            <a:r>
              <a:rPr lang="zh-CN" altLang="zh-CN" dirty="0">
                <a:latin typeface="+mn-lt"/>
                <a:ea typeface="+mn-ea"/>
              </a:rPr>
              <a:t>）复制任务；</a:t>
            </a:r>
            <a:endParaRPr lang="zh-CN" altLang="zh-CN" dirty="0">
              <a:latin typeface="+mn-lt"/>
              <a:ea typeface="+mn-ea"/>
            </a:endParaRPr>
          </a:p>
          <a:p>
            <a:pPr indent="446405" fontAlgn="auto">
              <a:spcBef>
                <a:spcPts val="0"/>
              </a:spcBef>
              <a:spcAft>
                <a:spcPts val="0"/>
              </a:spcAft>
              <a:defRPr/>
            </a:pPr>
            <a:r>
              <a:rPr lang="zh-CN" altLang="zh-CN" dirty="0">
                <a:latin typeface="+mn-lt"/>
                <a:ea typeface="+mn-ea"/>
              </a:rPr>
              <a:t>（</a:t>
            </a:r>
            <a:r>
              <a:rPr lang="en-US" altLang="zh-CN" dirty="0">
                <a:latin typeface="+mn-lt"/>
                <a:ea typeface="+mn-ea"/>
              </a:rPr>
              <a:t>5</a:t>
            </a:r>
            <a:r>
              <a:rPr lang="zh-CN" altLang="zh-CN" dirty="0">
                <a:latin typeface="+mn-lt"/>
                <a:ea typeface="+mn-ea"/>
              </a:rPr>
              <a:t>）数据库创建和备份；</a:t>
            </a:r>
            <a:endParaRPr lang="zh-CN" altLang="zh-CN" dirty="0">
              <a:latin typeface="+mn-lt"/>
              <a:ea typeface="+mn-ea"/>
            </a:endParaRPr>
          </a:p>
          <a:p>
            <a:pPr indent="446405" fontAlgn="auto">
              <a:spcBef>
                <a:spcPts val="0"/>
              </a:spcBef>
              <a:spcAft>
                <a:spcPts val="0"/>
              </a:spcAft>
              <a:defRPr/>
            </a:pPr>
            <a:r>
              <a:rPr lang="zh-CN" altLang="zh-CN" dirty="0">
                <a:latin typeface="+mn-lt"/>
                <a:ea typeface="+mn-ea"/>
              </a:rPr>
              <a:t>（</a:t>
            </a:r>
            <a:r>
              <a:rPr lang="en-US" altLang="zh-CN" dirty="0">
                <a:latin typeface="+mn-lt"/>
                <a:ea typeface="+mn-ea"/>
              </a:rPr>
              <a:t>6</a:t>
            </a:r>
            <a:r>
              <a:rPr lang="zh-CN" altLang="zh-CN" dirty="0">
                <a:latin typeface="+mn-lt"/>
                <a:ea typeface="+mn-ea"/>
              </a:rPr>
              <a:t>）索引重建；</a:t>
            </a:r>
            <a:endParaRPr lang="zh-CN" altLang="zh-CN" dirty="0">
              <a:latin typeface="+mn-lt"/>
              <a:ea typeface="+mn-ea"/>
            </a:endParaRPr>
          </a:p>
          <a:p>
            <a:pPr indent="446405" fontAlgn="auto">
              <a:spcBef>
                <a:spcPts val="0"/>
              </a:spcBef>
              <a:spcAft>
                <a:spcPts val="0"/>
              </a:spcAft>
              <a:defRPr/>
            </a:pPr>
            <a:r>
              <a:rPr lang="zh-CN" altLang="zh-CN" dirty="0">
                <a:latin typeface="+mn-lt"/>
                <a:ea typeface="+mn-ea"/>
              </a:rPr>
              <a:t>（</a:t>
            </a:r>
            <a:r>
              <a:rPr lang="en-US" altLang="zh-CN" dirty="0">
                <a:latin typeface="+mn-lt"/>
                <a:ea typeface="+mn-ea"/>
              </a:rPr>
              <a:t>7</a:t>
            </a:r>
            <a:r>
              <a:rPr lang="zh-CN" altLang="zh-CN" dirty="0">
                <a:latin typeface="+mn-lt"/>
                <a:ea typeface="+mn-ea"/>
              </a:rPr>
              <a:t>）报表生成。</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checke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10.3.1  SQL Server</a:t>
            </a:r>
            <a:r>
              <a:rPr lang="zh-CN" altLang="zh-CN" dirty="0">
                <a:effectLst/>
              </a:rPr>
              <a:t>代理</a:t>
            </a:r>
            <a:endParaRPr lang="zh-CN" altLang="zh-CN" dirty="0">
              <a:effectLst/>
            </a:endParaRPr>
          </a:p>
        </p:txBody>
      </p:sp>
      <p:sp>
        <p:nvSpPr>
          <p:cNvPr id="23555" name="TextBox 2"/>
          <p:cNvSpPr txBox="1">
            <a:spLocks noChangeArrowheads="1"/>
          </p:cNvSpPr>
          <p:nvPr/>
        </p:nvSpPr>
        <p:spPr bwMode="auto">
          <a:xfrm>
            <a:off x="468313" y="1484313"/>
            <a:ext cx="8135937" cy="411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a:t>SQL Server</a:t>
            </a:r>
            <a:r>
              <a:rPr lang="zh-CN" altLang="zh-CN"/>
              <a:t>代理服务启动以后需要正确配置</a:t>
            </a:r>
            <a:r>
              <a:rPr lang="en-US" altLang="zh-CN"/>
              <a:t>SQL Server</a:t>
            </a:r>
            <a:r>
              <a:rPr lang="zh-CN" altLang="zh-CN"/>
              <a:t>代理。</a:t>
            </a:r>
            <a:r>
              <a:rPr lang="en-US" altLang="zh-CN"/>
              <a:t>SQL Server</a:t>
            </a:r>
            <a:r>
              <a:rPr lang="zh-CN" altLang="zh-CN"/>
              <a:t>代理的配置信息主要保存在系统数据库</a:t>
            </a:r>
            <a:r>
              <a:rPr lang="en-US" altLang="zh-CN"/>
              <a:t>msdb</a:t>
            </a:r>
            <a:r>
              <a:rPr lang="zh-CN" altLang="zh-CN"/>
              <a:t>的表中，使用</a:t>
            </a:r>
            <a:r>
              <a:rPr lang="en-US" altLang="zh-CN"/>
              <a:t>SQL Server</a:t>
            </a:r>
            <a:r>
              <a:rPr lang="zh-CN" altLang="zh-CN"/>
              <a:t>用户对象来存储代理的身份验证信息。在</a:t>
            </a:r>
            <a:r>
              <a:rPr lang="en-US" altLang="zh-CN"/>
              <a:t>SQL Server</a:t>
            </a:r>
            <a:r>
              <a:rPr lang="zh-CN" altLang="zh-CN"/>
              <a:t>中，必须将</a:t>
            </a:r>
            <a:r>
              <a:rPr lang="en-US" altLang="zh-CN"/>
              <a:t>SQL Server</a:t>
            </a:r>
            <a:r>
              <a:rPr lang="zh-CN" altLang="zh-CN"/>
              <a:t>代理配置为使用</a:t>
            </a:r>
            <a:r>
              <a:rPr lang="en-US" altLang="zh-CN"/>
              <a:t>sysadmin</a:t>
            </a:r>
            <a:r>
              <a:rPr lang="zh-CN" altLang="zh-CN"/>
              <a:t>固定服务器角色成员的账户，才能执行其功能。该账户必须拥有以下</a:t>
            </a:r>
            <a:r>
              <a:rPr lang="en-US" altLang="zh-CN"/>
              <a:t>Windows</a:t>
            </a:r>
            <a:r>
              <a:rPr lang="zh-CN" altLang="zh-CN"/>
              <a:t>权限：</a:t>
            </a:r>
            <a:endParaRPr lang="zh-CN" altLang="zh-CN"/>
          </a:p>
          <a:p>
            <a:pPr eaLnBrk="1" hangingPunct="1"/>
            <a:r>
              <a:rPr lang="en-US" altLang="zh-CN" sz="1400"/>
              <a:t>●</a:t>
            </a:r>
            <a:r>
              <a:rPr lang="en-US" altLang="zh-CN"/>
              <a:t>	</a:t>
            </a:r>
            <a:r>
              <a:rPr lang="zh-CN" altLang="zh-CN"/>
              <a:t>调整进程的内存配额；</a:t>
            </a:r>
            <a:endParaRPr lang="zh-CN" altLang="zh-CN"/>
          </a:p>
          <a:p>
            <a:pPr eaLnBrk="1" hangingPunct="1"/>
            <a:r>
              <a:rPr lang="en-US" altLang="zh-CN" sz="1400"/>
              <a:t>●</a:t>
            </a:r>
            <a:r>
              <a:rPr lang="en-US" altLang="zh-CN"/>
              <a:t>	</a:t>
            </a:r>
            <a:r>
              <a:rPr lang="zh-CN" altLang="zh-CN"/>
              <a:t>以操作系统方式操作；</a:t>
            </a:r>
            <a:endParaRPr lang="zh-CN" altLang="zh-CN"/>
          </a:p>
          <a:p>
            <a:pPr eaLnBrk="1" hangingPunct="1"/>
            <a:r>
              <a:rPr lang="en-US" altLang="zh-CN" sz="1400"/>
              <a:t>●</a:t>
            </a:r>
            <a:r>
              <a:rPr lang="en-US" altLang="zh-CN"/>
              <a:t>	</a:t>
            </a:r>
            <a:r>
              <a:rPr lang="zh-CN" altLang="zh-CN"/>
              <a:t>跳过遍历检查；</a:t>
            </a:r>
            <a:endParaRPr lang="zh-CN" altLang="zh-CN"/>
          </a:p>
          <a:p>
            <a:pPr eaLnBrk="1" hangingPunct="1"/>
            <a:r>
              <a:rPr lang="en-US" altLang="zh-CN" sz="1400"/>
              <a:t>●</a:t>
            </a:r>
            <a:r>
              <a:rPr lang="en-US" altLang="zh-CN"/>
              <a:t>	</a:t>
            </a:r>
            <a:r>
              <a:rPr lang="zh-CN" altLang="zh-CN"/>
              <a:t>作为批处理作业登录；</a:t>
            </a:r>
            <a:endParaRPr lang="zh-CN" altLang="zh-CN"/>
          </a:p>
          <a:p>
            <a:pPr eaLnBrk="1" hangingPunct="1"/>
            <a:r>
              <a:rPr lang="en-US" altLang="zh-CN" sz="1400"/>
              <a:t>●</a:t>
            </a:r>
            <a:r>
              <a:rPr lang="en-US" altLang="zh-CN"/>
              <a:t>	</a:t>
            </a:r>
            <a:r>
              <a:rPr lang="zh-CN" altLang="zh-CN"/>
              <a:t>作为服务登录；</a:t>
            </a:r>
            <a:endParaRPr lang="zh-CN" altLang="zh-CN"/>
          </a:p>
          <a:p>
            <a:pPr eaLnBrk="1" hangingPunct="1"/>
            <a:r>
              <a:rPr lang="en-US" altLang="zh-CN" sz="1400"/>
              <a:t>●	</a:t>
            </a:r>
            <a:r>
              <a:rPr lang="zh-CN" altLang="zh-CN"/>
              <a:t>替换进程级记号。</a:t>
            </a:r>
            <a:endParaRPr lang="zh-CN" altLang="zh-CN"/>
          </a:p>
          <a:p>
            <a:pPr eaLnBrk="1" hangingPunct="1"/>
            <a:endParaRPr lang="zh-CN" altLang="en-US"/>
          </a:p>
        </p:txBody>
      </p:sp>
    </p:spTree>
  </p:cSld>
  <p:clrMapOvr>
    <a:masterClrMapping/>
  </p:clrMapOvr>
  <p:transition spd="slow">
    <p:cove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10.3.2  </a:t>
            </a:r>
            <a:r>
              <a:rPr lang="zh-CN" altLang="zh-CN" dirty="0">
                <a:effectLst/>
              </a:rPr>
              <a:t>操作员</a:t>
            </a:r>
            <a:endParaRPr lang="zh-CN" altLang="zh-CN" dirty="0">
              <a:effectLst/>
            </a:endParaRPr>
          </a:p>
        </p:txBody>
      </p:sp>
      <p:sp>
        <p:nvSpPr>
          <p:cNvPr id="24579" name="TextBox 2"/>
          <p:cNvSpPr txBox="1">
            <a:spLocks noChangeArrowheads="1"/>
          </p:cNvSpPr>
          <p:nvPr/>
        </p:nvSpPr>
        <p:spPr bwMode="auto">
          <a:xfrm>
            <a:off x="468313" y="1557338"/>
            <a:ext cx="8207375" cy="254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a:t>SQL Server</a:t>
            </a:r>
            <a:r>
              <a:rPr lang="zh-CN" altLang="zh-CN"/>
              <a:t>代理服务支持通过操作员通知管理员的功能。操作员是在完成作业或出现警报时可以接收电子通知的人员或组的别名。操作员主要有两个属性：操作员名称和联系信息。</a:t>
            </a:r>
            <a:endParaRPr lang="zh-CN" altLang="zh-CN"/>
          </a:p>
          <a:p>
            <a:pPr eaLnBrk="1" hangingPunct="1">
              <a:lnSpc>
                <a:spcPct val="150000"/>
              </a:lnSpc>
            </a:pPr>
            <a:r>
              <a:rPr lang="zh-CN" altLang="zh-CN"/>
              <a:t>每一个操作员都必须具有一个唯一的名称，操作员的联系信息决定了通知操作员的方式。</a:t>
            </a:r>
            <a:endParaRPr lang="zh-CN" altLang="zh-CN"/>
          </a:p>
          <a:p>
            <a:pPr eaLnBrk="1" hangingPunct="1">
              <a:lnSpc>
                <a:spcPct val="150000"/>
              </a:lnSpc>
            </a:pPr>
            <a:endParaRPr lang="zh-CN" altLang="en-US"/>
          </a:p>
        </p:txBody>
      </p:sp>
    </p:spTree>
  </p:cSld>
  <p:clrMapOvr>
    <a:masterClrMapping/>
  </p:clrMapOvr>
  <p:transition spd="slow">
    <p:checke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10.3.3  </a:t>
            </a:r>
            <a:r>
              <a:rPr lang="zh-CN" altLang="zh-CN" dirty="0">
                <a:effectLst/>
              </a:rPr>
              <a:t>作业</a:t>
            </a:r>
            <a:endParaRPr lang="zh-CN" altLang="zh-CN" dirty="0">
              <a:effectLst/>
            </a:endParaRPr>
          </a:p>
        </p:txBody>
      </p:sp>
      <p:sp>
        <p:nvSpPr>
          <p:cNvPr id="25603" name="TextBox 2"/>
          <p:cNvSpPr txBox="1">
            <a:spLocks noChangeArrowheads="1"/>
          </p:cNvSpPr>
          <p:nvPr/>
        </p:nvSpPr>
        <p:spPr bwMode="auto">
          <a:xfrm>
            <a:off x="468313" y="1628775"/>
            <a:ext cx="8207375" cy="253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zh-CN"/>
              <a:t>在</a:t>
            </a:r>
            <a:r>
              <a:rPr lang="en-US" altLang="zh-CN"/>
              <a:t>SQL Server</a:t>
            </a:r>
            <a:r>
              <a:rPr lang="zh-CN" altLang="zh-CN"/>
              <a:t>中，可以使用</a:t>
            </a:r>
            <a:r>
              <a:rPr lang="en-US" altLang="zh-CN"/>
              <a:t>SQL Server</a:t>
            </a:r>
            <a:r>
              <a:rPr lang="zh-CN" altLang="zh-CN"/>
              <a:t>代理作业来自动执行日常管理任务并反复运行它们，从而提高管理效率。作业是一系列由</a:t>
            </a:r>
            <a:r>
              <a:rPr lang="en-US" altLang="zh-CN"/>
              <a:t>SQL Server</a:t>
            </a:r>
            <a:r>
              <a:rPr lang="zh-CN" altLang="zh-CN"/>
              <a:t>代理按顺序执行的指定操作。作业可以执行一系列活动，包括运行</a:t>
            </a:r>
            <a:r>
              <a:rPr lang="en-US" altLang="zh-CN"/>
              <a:t>Transact-SQL</a:t>
            </a:r>
            <a:r>
              <a:rPr lang="zh-CN" altLang="zh-CN"/>
              <a:t>脚本、命令行应用程序、</a:t>
            </a:r>
            <a:r>
              <a:rPr lang="en-US" altLang="zh-CN"/>
              <a:t>Microsoft ActiveX</a:t>
            </a:r>
            <a:r>
              <a:rPr lang="zh-CN" altLang="zh-CN"/>
              <a:t>脚本、</a:t>
            </a:r>
            <a:r>
              <a:rPr lang="en-US" altLang="zh-CN"/>
              <a:t>Integration Services</a:t>
            </a:r>
            <a:r>
              <a:rPr lang="zh-CN" altLang="zh-CN"/>
              <a:t>包、</a:t>
            </a:r>
            <a:r>
              <a:rPr lang="en-US" altLang="zh-CN"/>
              <a:t>Analysis Services</a:t>
            </a:r>
            <a:r>
              <a:rPr lang="zh-CN" altLang="zh-CN"/>
              <a:t>命令、查询或复制任务。作业可以运行重复任务或那些可计划的任务，它们可以通过生成警报来自动通知用户作业状态，从而极大地简化了</a:t>
            </a:r>
            <a:r>
              <a:rPr lang="en-US" altLang="zh-CN"/>
              <a:t>SQL Server</a:t>
            </a:r>
            <a:r>
              <a:rPr lang="zh-CN" altLang="zh-CN"/>
              <a:t>管理。</a:t>
            </a:r>
            <a:endParaRPr lang="zh-CN" altLang="en-US"/>
          </a:p>
        </p:txBody>
      </p:sp>
    </p:spTree>
  </p:cSld>
  <p:clrMapOvr>
    <a:masterClrMapping/>
  </p:clrMapOvr>
  <p:transition spd="slow">
    <p:cove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10.3.4  </a:t>
            </a:r>
            <a:r>
              <a:rPr lang="zh-CN" altLang="zh-CN" dirty="0">
                <a:effectLst/>
              </a:rPr>
              <a:t>警报</a:t>
            </a:r>
            <a:endParaRPr lang="zh-CN" altLang="zh-CN" dirty="0">
              <a:effectLst/>
            </a:endParaRPr>
          </a:p>
        </p:txBody>
      </p:sp>
      <p:sp>
        <p:nvSpPr>
          <p:cNvPr id="26627" name="TextBox 2"/>
          <p:cNvSpPr txBox="1">
            <a:spLocks noChangeArrowheads="1"/>
          </p:cNvSpPr>
          <p:nvPr/>
        </p:nvSpPr>
        <p:spPr bwMode="auto">
          <a:xfrm>
            <a:off x="539750" y="1484313"/>
            <a:ext cx="8135938" cy="461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zh-CN"/>
              <a:t>对事件的自动响应称为“警报”。</a:t>
            </a:r>
            <a:r>
              <a:rPr lang="en-US" altLang="zh-CN"/>
              <a:t>SQL Server</a:t>
            </a:r>
            <a:r>
              <a:rPr lang="zh-CN" altLang="zh-CN"/>
              <a:t>允许创建警报来解决潜在的错误问题。用户可以针对一个或多个事件定义警报，指定希望</a:t>
            </a:r>
            <a:r>
              <a:rPr lang="en-US" altLang="zh-CN"/>
              <a:t>SQL Server</a:t>
            </a:r>
            <a:r>
              <a:rPr lang="zh-CN" altLang="zh-CN"/>
              <a:t>代理如何响应发生的这些事件。</a:t>
            </a:r>
            <a:endParaRPr lang="zh-CN" altLang="zh-CN"/>
          </a:p>
          <a:p>
            <a:pPr eaLnBrk="1" hangingPunct="1">
              <a:lnSpc>
                <a:spcPct val="150000"/>
              </a:lnSpc>
            </a:pPr>
            <a:r>
              <a:rPr lang="zh-CN" altLang="zh-CN"/>
              <a:t>事件由</a:t>
            </a:r>
            <a:r>
              <a:rPr lang="en-US" altLang="zh-CN"/>
              <a:t>SQL Server</a:t>
            </a:r>
            <a:r>
              <a:rPr lang="zh-CN" altLang="zh-CN"/>
              <a:t>生成并输入到</a:t>
            </a:r>
            <a:r>
              <a:rPr lang="en-US" altLang="zh-CN"/>
              <a:t>Microsoft Windows</a:t>
            </a:r>
            <a:r>
              <a:rPr lang="zh-CN" altLang="zh-CN"/>
              <a:t>应用程序日志中。</a:t>
            </a:r>
            <a:r>
              <a:rPr lang="en-US" altLang="zh-CN"/>
              <a:t>SQL Server</a:t>
            </a:r>
            <a:r>
              <a:rPr lang="zh-CN" altLang="zh-CN"/>
              <a:t>代理读取应用程序日志，并将写入的事件与定义的警报比较。当</a:t>
            </a:r>
            <a:r>
              <a:rPr lang="en-US" altLang="zh-CN"/>
              <a:t>SQL Server</a:t>
            </a:r>
            <a:r>
              <a:rPr lang="zh-CN" altLang="zh-CN"/>
              <a:t>代理找到匹配项时，它将发出自动响应事件的警报。除了监视</a:t>
            </a:r>
            <a:r>
              <a:rPr lang="en-US" altLang="zh-CN"/>
              <a:t>SQL Server</a:t>
            </a:r>
            <a:r>
              <a:rPr lang="zh-CN" altLang="zh-CN"/>
              <a:t>事件以外，</a:t>
            </a:r>
            <a:r>
              <a:rPr lang="en-US" altLang="zh-CN"/>
              <a:t>SQL Server</a:t>
            </a:r>
            <a:r>
              <a:rPr lang="zh-CN" altLang="zh-CN"/>
              <a:t>代理还监视性能条件和</a:t>
            </a:r>
            <a:r>
              <a:rPr lang="en-US" altLang="zh-CN"/>
              <a:t>Windows Management Instrumentation</a:t>
            </a:r>
            <a:r>
              <a:rPr lang="zh-CN" altLang="zh-CN"/>
              <a:t>（</a:t>
            </a:r>
            <a:r>
              <a:rPr lang="en-US" altLang="zh-CN"/>
              <a:t>WMI</a:t>
            </a:r>
            <a:r>
              <a:rPr lang="zh-CN" altLang="zh-CN"/>
              <a:t>）事件。</a:t>
            </a:r>
            <a:endParaRPr lang="zh-CN" altLang="zh-CN"/>
          </a:p>
          <a:p>
            <a:pPr eaLnBrk="1" hangingPunct="1">
              <a:lnSpc>
                <a:spcPct val="150000"/>
              </a:lnSpc>
            </a:pPr>
            <a:r>
              <a:rPr lang="zh-CN" altLang="zh-CN"/>
              <a:t>若要定义警报，需要指定警报的名称、触发警报的事件或性能条件、</a:t>
            </a:r>
            <a:r>
              <a:rPr lang="en-US" altLang="zh-CN"/>
              <a:t>SQL Server</a:t>
            </a:r>
            <a:r>
              <a:rPr lang="zh-CN" altLang="zh-CN"/>
              <a:t>代理响应事件或性能条件所执行的操作。每个警报都响应一种特定的事件，事件类型可以是</a:t>
            </a:r>
            <a:r>
              <a:rPr lang="en-US" altLang="zh-CN"/>
              <a:t>SQL Server</a:t>
            </a:r>
            <a:r>
              <a:rPr lang="zh-CN" altLang="zh-CN"/>
              <a:t>事件、</a:t>
            </a:r>
            <a:r>
              <a:rPr lang="en-US" altLang="zh-CN"/>
              <a:t>SQL Server</a:t>
            </a:r>
            <a:r>
              <a:rPr lang="zh-CN" altLang="zh-CN"/>
              <a:t>性能条件或</a:t>
            </a:r>
            <a:r>
              <a:rPr lang="en-US" altLang="zh-CN"/>
              <a:t>WMI</a:t>
            </a:r>
            <a:r>
              <a:rPr lang="zh-CN" altLang="zh-CN"/>
              <a:t>事件。</a:t>
            </a:r>
            <a:endParaRPr lang="zh-CN" altLang="en-US"/>
          </a:p>
        </p:txBody>
      </p:sp>
    </p:spTree>
  </p:cSld>
  <p:clrMapOvr>
    <a:masterClrMapping/>
  </p:clrMapOvr>
  <p:transition spd="slow">
    <p:checke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10.3.5  </a:t>
            </a:r>
            <a:r>
              <a:rPr lang="zh-CN" altLang="zh-CN" dirty="0">
                <a:effectLst/>
              </a:rPr>
              <a:t>数据库邮件</a:t>
            </a:r>
            <a:endParaRPr lang="zh-CN" altLang="zh-CN" dirty="0">
              <a:effectLst/>
            </a:endParaRPr>
          </a:p>
        </p:txBody>
      </p:sp>
      <p:sp>
        <p:nvSpPr>
          <p:cNvPr id="27651" name="TextBox 2"/>
          <p:cNvSpPr txBox="1">
            <a:spLocks noChangeArrowheads="1"/>
          </p:cNvSpPr>
          <p:nvPr/>
        </p:nvSpPr>
        <p:spPr bwMode="auto">
          <a:xfrm>
            <a:off x="395288" y="1557338"/>
            <a:ext cx="8280400" cy="378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zh-CN"/>
              <a:t>数据库邮件（</a:t>
            </a:r>
            <a:r>
              <a:rPr lang="en-US" altLang="zh-CN"/>
              <a:t>Database Mail</a:t>
            </a:r>
            <a:r>
              <a:rPr lang="zh-CN" altLang="zh-CN"/>
              <a:t>）是从</a:t>
            </a:r>
            <a:r>
              <a:rPr lang="en-US" altLang="zh-CN"/>
              <a:t>SQL Server</a:t>
            </a:r>
            <a:r>
              <a:rPr lang="zh-CN" altLang="zh-CN"/>
              <a:t>数据库引擎中发送电子邮件的企业解决方案。通过使用数据库邮件，数据库应用程序可以向用户发送电子邮件。邮件中可以包含查询结果，还可以包含来自网络中任何资源的文件。数据库邮件主要使用简单邮件传输协议（</a:t>
            </a:r>
            <a:r>
              <a:rPr lang="en-US" altLang="zh-CN"/>
              <a:t>SMTP</a:t>
            </a:r>
            <a:r>
              <a:rPr lang="zh-CN" altLang="zh-CN"/>
              <a:t>）服务器（而不是</a:t>
            </a:r>
            <a:r>
              <a:rPr lang="en-US" altLang="zh-CN"/>
              <a:t>SQL Mail</a:t>
            </a:r>
            <a:r>
              <a:rPr lang="zh-CN" altLang="zh-CN"/>
              <a:t>所要求的</a:t>
            </a:r>
            <a:r>
              <a:rPr lang="en-US" altLang="zh-CN"/>
              <a:t>MAPI</a:t>
            </a:r>
            <a:r>
              <a:rPr lang="zh-CN" altLang="zh-CN"/>
              <a:t>账号）来发送电子邮件。</a:t>
            </a:r>
            <a:endParaRPr lang="zh-CN" altLang="zh-CN"/>
          </a:p>
          <a:p>
            <a:pPr eaLnBrk="1" hangingPunct="1">
              <a:lnSpc>
                <a:spcPct val="150000"/>
              </a:lnSpc>
            </a:pPr>
            <a:r>
              <a:rPr lang="zh-CN" altLang="zh-CN"/>
              <a:t>在默认情况下，数据库邮件处于非活动状态。要使用数据库邮件，必须使用数据库邮件配置向导、</a:t>
            </a:r>
            <a:r>
              <a:rPr lang="en-US" altLang="zh-CN"/>
              <a:t>sp_configure</a:t>
            </a:r>
            <a:r>
              <a:rPr lang="zh-CN" altLang="zh-CN"/>
              <a:t>存储过程或者基于策略的外围应用配置功能显式地启用数据库邮件。</a:t>
            </a:r>
            <a:endParaRPr lang="zh-CN" altLang="zh-CN"/>
          </a:p>
          <a:p>
            <a:pPr eaLnBrk="1" hangingPunct="1">
              <a:lnSpc>
                <a:spcPct val="150000"/>
              </a:lnSpc>
            </a:pPr>
            <a:endParaRPr lang="zh-CN" altLang="en-US"/>
          </a:p>
        </p:txBody>
      </p:sp>
    </p:spTree>
  </p:cSld>
  <p:clrMapOvr>
    <a:masterClrMapping/>
  </p:clrMapOvr>
  <p:transition spd="slow">
    <p:wheel spokes="1"/>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10.3.6  </a:t>
            </a:r>
            <a:r>
              <a:rPr lang="zh-CN" altLang="zh-CN" dirty="0">
                <a:effectLst/>
              </a:rPr>
              <a:t>维护计划向导</a:t>
            </a:r>
            <a:endParaRPr lang="zh-CN" altLang="zh-CN" dirty="0">
              <a:effectLst/>
            </a:endParaRPr>
          </a:p>
        </p:txBody>
      </p:sp>
      <p:sp>
        <p:nvSpPr>
          <p:cNvPr id="28675" name="TextBox 2"/>
          <p:cNvSpPr txBox="1">
            <a:spLocks noChangeArrowheads="1"/>
          </p:cNvSpPr>
          <p:nvPr/>
        </p:nvSpPr>
        <p:spPr bwMode="auto">
          <a:xfrm>
            <a:off x="468313" y="1557338"/>
            <a:ext cx="8280400" cy="378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zh-CN"/>
              <a:t>对于企业级数据库的管理操作，如数据库的备份、优化等一些需要经常执行的操作，虽然可以使用作业来执行，但是必须为每个数据库都创建作业，这样会使工作变得很烦琐。</a:t>
            </a:r>
            <a:r>
              <a:rPr lang="en-US" altLang="zh-CN"/>
              <a:t>SQL Server</a:t>
            </a:r>
            <a:r>
              <a:rPr lang="zh-CN" altLang="zh-CN"/>
              <a:t>提供了维护计划向导来解决这类问题。</a:t>
            </a:r>
            <a:endParaRPr lang="zh-CN" altLang="zh-CN"/>
          </a:p>
          <a:p>
            <a:pPr eaLnBrk="1" hangingPunct="1">
              <a:lnSpc>
                <a:spcPct val="150000"/>
              </a:lnSpc>
            </a:pPr>
            <a:r>
              <a:rPr lang="zh-CN" altLang="zh-CN"/>
              <a:t>维护计划向导用于创建</a:t>
            </a:r>
            <a:r>
              <a:rPr lang="en-US" altLang="zh-CN"/>
              <a:t>SQL Server</a:t>
            </a:r>
            <a:r>
              <a:rPr lang="zh-CN" altLang="zh-CN"/>
              <a:t>代理可定期运行的维护计划。维护计划向导有助于用户设置核心维护任务，从而确保数据库运行正常、定期进行备份并确保数据库一致。维护计划向导可创建一个或多个</a:t>
            </a:r>
            <a:r>
              <a:rPr lang="en-US" altLang="zh-CN"/>
              <a:t>SQL Server</a:t>
            </a:r>
            <a:r>
              <a:rPr lang="zh-CN" altLang="zh-CN"/>
              <a:t>代理作业，代理作业可对多服务器环境中的本地服务器或目标服务器执行这些任务。若要创建或管理维护计划，用户必须是</a:t>
            </a:r>
            <a:r>
              <a:rPr lang="en-US" altLang="zh-CN"/>
              <a:t>sysadmin</a:t>
            </a:r>
            <a:r>
              <a:rPr lang="zh-CN" altLang="zh-CN"/>
              <a:t>固定服务器角色的成员。</a:t>
            </a:r>
            <a:endParaRPr lang="zh-CN" altLang="zh-CN"/>
          </a:p>
          <a:p>
            <a:pPr eaLnBrk="1" hangingPunct="1">
              <a:lnSpc>
                <a:spcPct val="150000"/>
              </a:lnSpc>
            </a:pPr>
            <a:endParaRPr lang="zh-CN" altLang="en-US"/>
          </a:p>
        </p:txBody>
      </p:sp>
    </p:spTree>
  </p:cSld>
  <p:clrMapOvr>
    <a:masterClrMapping/>
  </p:clrMapOvr>
  <p:transition spd="slow">
    <p:checker/>
  </p:transition>
  <p:timing>
    <p:tnLst>
      <p:par>
        <p:cTn id="1" dur="indefinite" restart="never" nodeType="tmRoot"/>
      </p:par>
    </p:tnLst>
  </p:timing>
</p:sld>
</file>

<file path=ppt/tags/tag1.xml><?xml version="1.0" encoding="utf-8"?>
<p:tagLst xmlns:p="http://schemas.openxmlformats.org/presentationml/2006/main">
  <p:tag name="KSO_WPP_MARK_KEY" val="50145d35-b6c0-4661-88dc-8a2eb1d07ee8"/>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Waveform</Template>
  <TotalTime>0</TotalTime>
  <Words>7027</Words>
  <Application>WPS 演示</Application>
  <PresentationFormat>全屏显示(4:3)</PresentationFormat>
  <Paragraphs>228</Paragraphs>
  <Slides>23</Slides>
  <Notes>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23</vt:i4>
      </vt:variant>
    </vt:vector>
  </HeadingPairs>
  <TitlesOfParts>
    <vt:vector size="34" baseType="lpstr">
      <vt:lpstr>Arial</vt:lpstr>
      <vt:lpstr>宋体</vt:lpstr>
      <vt:lpstr>Wingdings</vt:lpstr>
      <vt:lpstr>Calibri</vt:lpstr>
      <vt:lpstr>Symbol</vt:lpstr>
      <vt:lpstr>Candara</vt:lpstr>
      <vt:lpstr>华文新魏</vt:lpstr>
      <vt:lpstr>微软雅黑</vt:lpstr>
      <vt:lpstr>Arial Unicode MS</vt:lpstr>
      <vt:lpstr>华文楷体</vt:lpstr>
      <vt:lpstr>波形</vt:lpstr>
      <vt:lpstr>第10章  其他概念</vt:lpstr>
      <vt:lpstr>10.1  事    务</vt:lpstr>
      <vt:lpstr>10.1.1  事务与ACID属性</vt:lpstr>
      <vt:lpstr>10.1.2  多用户使用问题</vt:lpstr>
      <vt:lpstr>10.1.3  事务处理：BEGIN/COMMIT/ROLLBACK/SAVE /ROLLBACK TRANSACTION</vt:lpstr>
      <vt:lpstr>10.1.3  事务处理：BEGIN/COMMIT/ROLLBACK/SAVE /ROLLBACK TRANSACTION</vt:lpstr>
      <vt:lpstr>10.1.3  事务处理：BEGIN/COMMIT/ROLLBACK/SAVE /ROLLBACK TRANSACTION</vt:lpstr>
      <vt:lpstr>10.1.3  事务处理：BEGIN/COMMIT/ROLLBACK/SAVE /ROLLBACK TRANSACTION</vt:lpstr>
      <vt:lpstr>10.1.3  事务处理：BEGIN/COMMIT/ROLLBACK/SAVE /ROLLBACK TRANSACTION</vt:lpstr>
      <vt:lpstr>10.1.3  事务处理：BEGIN/COMMIT/ROLLBACK/SAVE /ROLLBACK TRANSACTION</vt:lpstr>
      <vt:lpstr>10.1.4  事务隔离级：SET TRANSACTION ISOLATION LEVEL</vt:lpstr>
      <vt:lpstr>10.1.4  事务隔离级：SET TRANSACTION ISOLATION LEVEL</vt:lpstr>
      <vt:lpstr>10.1.4  事务隔离级：SET TRANSACTION ISOLATION LEVEL</vt:lpstr>
      <vt:lpstr>10.1.4  事务隔离级：SET TRANSACTION ISOLATION LEVEL</vt:lpstr>
      <vt:lpstr>10.2  锁    定</vt:lpstr>
      <vt:lpstr>10.2.2  锁定模式</vt:lpstr>
      <vt:lpstr>10.3  自动化管理</vt:lpstr>
      <vt:lpstr>10.3.1  SQL Server代理</vt:lpstr>
      <vt:lpstr>10.3.2  操作员</vt:lpstr>
      <vt:lpstr>10.3.3  作业</vt:lpstr>
      <vt:lpstr>10.3.4  警报</vt:lpstr>
      <vt:lpstr>10.3.5  数据库邮件</vt:lpstr>
      <vt:lpstr>10.3.6  维护计划向导</vt:lpstr>
    </vt:vector>
  </TitlesOfParts>
  <Company>Microsoft 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第10章  其他概念</dc:title>
  <dc:creator>Microsoft</dc:creator>
  <cp:lastModifiedBy>微信用户</cp:lastModifiedBy>
  <cp:revision>11</cp:revision>
  <dcterms:created xsi:type="dcterms:W3CDTF">2015-06-27T00:16:00Z</dcterms:created>
  <dcterms:modified xsi:type="dcterms:W3CDTF">2023-09-11T07:26:38Z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2CE26AD529984E68967549A84D8887E9_13</vt:lpwstr>
  </property>
  <property fmtid="{D5CDD505-2E9C-101B-9397-08002B2CF9AE}" pid="3" name="KSOProductBuildVer">
    <vt:lpwstr>2052-11.1.0.14309</vt:lpwstr>
  </property>
</Properties>
</file>