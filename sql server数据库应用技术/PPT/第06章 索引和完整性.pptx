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9144000" cy="6858000" type="screen4x3"/>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9" autoAdjust="0"/>
    <p:restoredTop sz="86344" autoAdjust="0"/>
  </p:normalViewPr>
  <p:slideViewPr>
    <p:cSldViewPr>
      <p:cViewPr>
        <p:scale>
          <a:sx n="90" d="100"/>
          <a:sy n="90" d="100"/>
        </p:scale>
        <p:origin x="-720" y="16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1" Type="http://schemas.openxmlformats.org/officeDocument/2006/relationships/tags" Target="tags/tag1.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1A48379F-C145-4896-A405-E82EAF9535F1}"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EB2AAB8-0435-4CB4-904B-E7E97BBC3F1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9C3CE81F-8684-4D71-890B-D1BA18E1F7AC}"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69BAB1B-D733-4C2D-9A2E-0620E7689C9E}"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34FD4EED-3670-4EAF-9BD9-49E92091ECE7}"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7A4ADEF-0197-45A5-BCED-078AD8B5AE7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87EB8ED2-C88B-4920-9352-F65BA85D7EE3}"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55A45BAE-FE39-45F0-9FD9-EA9E09DC83D8}"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AA472260-1DC3-4072-A785-ADD872A619DB}"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341EB155-A193-4CCF-B237-2BAADCB9DB0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3B85879A-6049-4F8B-AEA6-6C1A00D25453}"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F6EB5BE8-7591-4B6B-8759-B8812C6D206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50C61DE2-54D5-443E-A319-9FCBB40CD032}"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AD71CA0A-E51C-4387-A8CD-0AB3BBB58C2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553B4E1B-D83D-4554-B5E3-7B713FBA893E}"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6B9C10D8-FA86-44A3-8DF1-CD505AE7EE60}"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B5EF3FC0-F5A6-407C-BC24-E18C08CE18F7}"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F8122CF0-D43B-4C95-8F69-9237E731FB27}"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F6ED731E-070B-4A59-B8DF-2D824998DC31}"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1B999E29-C066-4F2C-954B-B9E41AE4566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62C8110E-ECBA-41F0-AD24-61E3F877B41C}"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960317AB-6C9F-4ED4-89BC-1043D064CB2E}"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716BEA21-A006-474C-9FAF-8CA98A839BE2}"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5BA05CAA-5A32-4B72-AB45-A4390FFCFDA8}"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 Target="slide1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solidFill>
                  <a:srgbClr val="000000"/>
                </a:solidFill>
                <a:effectLst/>
              </a:rPr>
              <a:t>第</a:t>
            </a:r>
            <a:r>
              <a:rPr lang="en-US" altLang="zh-CN" dirty="0">
                <a:solidFill>
                  <a:srgbClr val="000000"/>
                </a:solidFill>
                <a:effectLst/>
              </a:rPr>
              <a:t>6</a:t>
            </a:r>
            <a:r>
              <a:rPr lang="zh-CN" altLang="zh-CN" dirty="0" smtClean="0">
                <a:solidFill>
                  <a:srgbClr val="000000"/>
                </a:solidFill>
                <a:effectLst/>
              </a:rPr>
              <a:t>章</a:t>
            </a:r>
            <a:r>
              <a:rPr lang="en-US" altLang="zh-CN" dirty="0" smtClean="0">
                <a:solidFill>
                  <a:srgbClr val="000000"/>
                </a:solidFill>
                <a:effectLst/>
              </a:rPr>
              <a:t>  </a:t>
            </a:r>
            <a:r>
              <a:rPr lang="zh-CN" altLang="zh-CN" dirty="0" smtClean="0">
                <a:solidFill>
                  <a:srgbClr val="000000"/>
                </a:solidFill>
                <a:effectLst/>
              </a:rPr>
              <a:t>索引</a:t>
            </a:r>
            <a:r>
              <a:rPr lang="zh-CN" altLang="zh-CN" dirty="0">
                <a:solidFill>
                  <a:srgbClr val="000000"/>
                </a:solidFill>
                <a:effectLst/>
              </a:rPr>
              <a:t>和</a:t>
            </a:r>
            <a:r>
              <a:rPr lang="zh-CN" altLang="zh-CN" dirty="0" smtClean="0">
                <a:solidFill>
                  <a:srgbClr val="000000"/>
                </a:solidFill>
                <a:effectLst/>
              </a:rPr>
              <a:t>完整性</a:t>
            </a:r>
            <a:endParaRPr lang="zh-CN" altLang="en-US" dirty="0">
              <a:solidFill>
                <a:srgbClr val="000000"/>
              </a:solidFill>
            </a:endParaRPr>
          </a:p>
        </p:txBody>
      </p:sp>
      <p:sp>
        <p:nvSpPr>
          <p:cNvPr id="6147" name="TextBox 5"/>
          <p:cNvSpPr txBox="1">
            <a:spLocks noChangeArrowheads="1"/>
          </p:cNvSpPr>
          <p:nvPr/>
        </p:nvSpPr>
        <p:spPr bwMode="auto">
          <a:xfrm>
            <a:off x="900113" y="170021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6.1  </a:t>
            </a:r>
            <a:r>
              <a:rPr lang="zh-CN" altLang="zh-CN" sz="2400" b="1">
                <a:hlinkClick r:id="rId1" action="ppaction://hlinksldjump"/>
              </a:rPr>
              <a:t>索</a:t>
            </a:r>
            <a:r>
              <a:rPr lang="en-US" altLang="zh-CN" sz="2400" b="1">
                <a:hlinkClick r:id="rId1" action="ppaction://hlinksldjump"/>
              </a:rPr>
              <a:t>    </a:t>
            </a:r>
            <a:r>
              <a:rPr lang="zh-CN" altLang="zh-CN" sz="2400" b="1">
                <a:hlinkClick r:id="rId1" action="ppaction://hlinksldjump"/>
              </a:rPr>
              <a:t>引</a:t>
            </a:r>
            <a:endParaRPr lang="zh-CN" altLang="zh-CN" sz="2400" b="1"/>
          </a:p>
        </p:txBody>
      </p:sp>
      <p:sp>
        <p:nvSpPr>
          <p:cNvPr id="6148" name="TextBox 6"/>
          <p:cNvSpPr txBox="1">
            <a:spLocks noChangeArrowheads="1"/>
          </p:cNvSpPr>
          <p:nvPr/>
        </p:nvSpPr>
        <p:spPr bwMode="auto">
          <a:xfrm>
            <a:off x="900113" y="23955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6.2  </a:t>
            </a:r>
            <a:r>
              <a:rPr lang="zh-CN" altLang="zh-CN" sz="2400" b="1">
                <a:hlinkClick r:id="rId2" action="ppaction://hlinksldjump"/>
              </a:rPr>
              <a:t>数据完整性</a:t>
            </a:r>
            <a:endParaRPr lang="zh-CN" altLang="zh-CN" sz="2400" b="1"/>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6.1  </a:t>
            </a:r>
            <a:r>
              <a:rPr lang="zh-CN" altLang="zh-CN" dirty="0">
                <a:effectLst/>
              </a:rPr>
              <a:t>索</a:t>
            </a:r>
            <a:r>
              <a:rPr lang="en-US" altLang="zh-CN" dirty="0">
                <a:effectLst/>
              </a:rPr>
              <a:t>    </a:t>
            </a:r>
            <a:r>
              <a:rPr lang="zh-CN" altLang="zh-CN" dirty="0">
                <a:effectLst/>
              </a:rPr>
              <a:t>引</a:t>
            </a:r>
            <a:endParaRPr lang="zh-CN" altLang="zh-CN" dirty="0">
              <a:effectLst/>
            </a:endParaRPr>
          </a:p>
        </p:txBody>
      </p:sp>
      <p:sp>
        <p:nvSpPr>
          <p:cNvPr id="7171" name="TextBox 2"/>
          <p:cNvSpPr txBox="1">
            <a:spLocks noChangeArrowheads="1"/>
          </p:cNvSpPr>
          <p:nvPr/>
        </p:nvSpPr>
        <p:spPr bwMode="auto">
          <a:xfrm>
            <a:off x="395288" y="1484313"/>
            <a:ext cx="8353425"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索引是根据表中一列或若干列按照一定顺序建立的列值与记录行之间的对应关系表。在数据库系统中建立索引主要有以下作用：</a:t>
            </a:r>
            <a:endParaRPr lang="zh-CN" altLang="zh-CN"/>
          </a:p>
          <a:p>
            <a:pPr eaLnBrk="1" fontAlgn="ctr" hangingPunct="1">
              <a:lnSpc>
                <a:spcPct val="150000"/>
              </a:lnSpc>
            </a:pPr>
            <a:r>
              <a:rPr lang="zh-CN" altLang="zh-CN"/>
              <a:t>（</a:t>
            </a:r>
            <a:r>
              <a:rPr lang="en-US" altLang="zh-CN"/>
              <a:t>1</a:t>
            </a:r>
            <a:r>
              <a:rPr lang="zh-CN" altLang="zh-CN"/>
              <a:t>）快速存取数据；</a:t>
            </a:r>
            <a:endParaRPr lang="zh-CN" altLang="zh-CN"/>
          </a:p>
          <a:p>
            <a:pPr eaLnBrk="1" fontAlgn="ctr" hangingPunct="1">
              <a:lnSpc>
                <a:spcPct val="150000"/>
              </a:lnSpc>
            </a:pPr>
            <a:r>
              <a:rPr lang="zh-CN" altLang="zh-CN"/>
              <a:t>（</a:t>
            </a:r>
            <a:r>
              <a:rPr lang="en-US" altLang="zh-CN"/>
              <a:t>2</a:t>
            </a:r>
            <a:r>
              <a:rPr lang="zh-CN" altLang="zh-CN"/>
              <a:t>）保证数据记录的唯一性；</a:t>
            </a:r>
            <a:endParaRPr lang="zh-CN" altLang="zh-CN"/>
          </a:p>
          <a:p>
            <a:pPr eaLnBrk="1" fontAlgn="ctr" hangingPunct="1">
              <a:lnSpc>
                <a:spcPct val="150000"/>
              </a:lnSpc>
            </a:pPr>
            <a:r>
              <a:rPr lang="zh-CN" altLang="zh-CN"/>
              <a:t>（</a:t>
            </a:r>
            <a:r>
              <a:rPr lang="en-US" altLang="zh-CN"/>
              <a:t>3</a:t>
            </a:r>
            <a:r>
              <a:rPr lang="zh-CN" altLang="zh-CN"/>
              <a:t>）实现表与表之间的参照完整性；</a:t>
            </a:r>
            <a:endParaRPr lang="zh-CN" altLang="zh-CN"/>
          </a:p>
          <a:p>
            <a:pPr eaLnBrk="1" fontAlgn="ctr" hangingPunct="1">
              <a:lnSpc>
                <a:spcPct val="150000"/>
              </a:lnSpc>
            </a:pPr>
            <a:r>
              <a:rPr lang="zh-CN" altLang="zh-CN"/>
              <a:t>（</a:t>
            </a:r>
            <a:r>
              <a:rPr lang="en-US" altLang="zh-CN"/>
              <a:t>4</a:t>
            </a:r>
            <a:r>
              <a:rPr lang="zh-CN" altLang="zh-CN"/>
              <a:t>）在使用</a:t>
            </a:r>
            <a:r>
              <a:rPr lang="en-US" altLang="zh-CN"/>
              <a:t>ORDER BY</a:t>
            </a:r>
            <a:r>
              <a:rPr lang="zh-CN" altLang="zh-CN"/>
              <a:t>、</a:t>
            </a:r>
            <a:r>
              <a:rPr lang="en-US" altLang="zh-CN"/>
              <a:t>GROUP BY</a:t>
            </a:r>
            <a:r>
              <a:rPr lang="zh-CN" altLang="zh-CN"/>
              <a:t>子句进行数据检索时，利用索引可以减少排序和分组的时间。</a:t>
            </a:r>
            <a:endParaRPr lang="zh-CN" altLang="zh-CN"/>
          </a:p>
          <a:p>
            <a:pPr eaLnBrk="1" hangingPunct="1">
              <a:lnSpc>
                <a:spcPct val="150000"/>
              </a:lnSpc>
            </a:pPr>
            <a:endParaRPr lang="zh-CN" altLang="en-US"/>
          </a:p>
        </p:txBody>
      </p:sp>
    </p:spTree>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6.1.1  </a:t>
            </a:r>
            <a:r>
              <a:rPr lang="zh-CN" altLang="zh-CN" dirty="0">
                <a:effectLst/>
              </a:rPr>
              <a:t>索引的分类</a:t>
            </a:r>
            <a:endParaRPr lang="zh-CN" altLang="zh-CN" dirty="0">
              <a:effectLst/>
            </a:endParaRPr>
          </a:p>
        </p:txBody>
      </p:sp>
      <p:sp>
        <p:nvSpPr>
          <p:cNvPr id="8195" name="TextBox 2"/>
          <p:cNvSpPr txBox="1">
            <a:spLocks noChangeArrowheads="1"/>
          </p:cNvSpPr>
          <p:nvPr/>
        </p:nvSpPr>
        <p:spPr bwMode="auto">
          <a:xfrm>
            <a:off x="539750" y="1484313"/>
            <a:ext cx="8208963"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．聚集索引</a:t>
            </a:r>
            <a:endParaRPr lang="zh-CN" altLang="zh-CN" b="1">
              <a:solidFill>
                <a:srgbClr val="C00000"/>
              </a:solidFill>
            </a:endParaRPr>
          </a:p>
          <a:p>
            <a:pPr eaLnBrk="1" fontAlgn="ctr" hangingPunct="1">
              <a:lnSpc>
                <a:spcPct val="150000"/>
              </a:lnSpc>
            </a:pPr>
            <a:r>
              <a:rPr lang="zh-CN" altLang="zh-CN"/>
              <a:t>聚集索引使得数据表物理顺序与索引顺序一致。不论聚集索引里有表的哪个（或哪些）字段，这些字段都会按顺序保存在表中。由于存在这种排序，所以每个表只会有一个聚集索引。</a:t>
            </a:r>
            <a:endParaRPr lang="zh-CN" altLang="zh-CN"/>
          </a:p>
          <a:p>
            <a:pPr eaLnBrk="1" hangingPunct="1">
              <a:lnSpc>
                <a:spcPct val="150000"/>
              </a:lnSpc>
            </a:pPr>
            <a:r>
              <a:rPr lang="en-US" altLang="zh-CN" b="1">
                <a:solidFill>
                  <a:srgbClr val="C00000"/>
                </a:solidFill>
              </a:rPr>
              <a:t>2</a:t>
            </a:r>
            <a:r>
              <a:rPr lang="zh-CN" altLang="zh-CN" b="1">
                <a:solidFill>
                  <a:srgbClr val="C00000"/>
                </a:solidFill>
              </a:rPr>
              <a:t>．非聚集索引</a:t>
            </a:r>
            <a:endParaRPr lang="zh-CN" altLang="zh-CN" b="1">
              <a:solidFill>
                <a:srgbClr val="C00000"/>
              </a:solidFill>
            </a:endParaRPr>
          </a:p>
          <a:p>
            <a:pPr eaLnBrk="1" fontAlgn="ctr" hangingPunct="1">
              <a:lnSpc>
                <a:spcPct val="150000"/>
              </a:lnSpc>
            </a:pPr>
            <a:r>
              <a:rPr lang="zh-CN" altLang="zh-CN"/>
              <a:t>在非聚集索引内，从索引行指向数据行的指针称为行定位器。行定位器的结构取决于数据页的存储方式是堆集还是聚集。对于堆集，行定位器是指向行的指针。对于有聚集索引的表，行定位器是聚集索引键。如果一个表只有非聚集索引，则它的数据行将按无序的堆集方式存储。</a:t>
            </a:r>
            <a:endParaRPr lang="zh-CN" altLang="zh-CN"/>
          </a:p>
          <a:p>
            <a:pPr eaLnBrk="1" fontAlgn="ctr" hangingPunct="1">
              <a:lnSpc>
                <a:spcPct val="150000"/>
              </a:lnSpc>
            </a:pPr>
            <a:r>
              <a:rPr lang="zh-CN" altLang="zh-CN"/>
              <a:t>一个表中可有一个或多个非聚集索引。</a:t>
            </a:r>
            <a:endParaRPr lang="zh-CN" altLang="zh-CN"/>
          </a:p>
          <a:p>
            <a:pPr eaLnBrk="1" hangingPunct="1">
              <a:lnSpc>
                <a:spcPct val="150000"/>
              </a:lnSpc>
            </a:pPr>
            <a:endParaRPr lang="zh-CN" altLang="en-US"/>
          </a:p>
        </p:txBody>
      </p:sp>
    </p:spTree>
  </p:cSld>
  <p:clrMapOvr>
    <a:masterClrMapping/>
  </p:clrMapOvr>
  <p:transition spd="slow">
    <p:circl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zh-CN" dirty="0">
              <a:effectLst/>
            </a:endParaRPr>
          </a:p>
        </p:txBody>
      </p:sp>
      <p:sp>
        <p:nvSpPr>
          <p:cNvPr id="9219" name="TextBox 2"/>
          <p:cNvSpPr txBox="1">
            <a:spLocks noChangeArrowheads="1"/>
          </p:cNvSpPr>
          <p:nvPr/>
        </p:nvSpPr>
        <p:spPr bwMode="auto">
          <a:xfrm>
            <a:off x="395288" y="1557338"/>
            <a:ext cx="828040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在</a:t>
            </a:r>
            <a:r>
              <a:rPr lang="en-US" altLang="zh-CN"/>
              <a:t>pxscj</a:t>
            </a:r>
            <a:r>
              <a:rPr lang="zh-CN" altLang="zh-CN"/>
              <a:t>数据库中，经常要对</a:t>
            </a:r>
            <a:r>
              <a:rPr lang="en-US" altLang="zh-CN"/>
              <a:t>xsb</a:t>
            </a:r>
            <a:r>
              <a:rPr lang="zh-CN" altLang="zh-CN"/>
              <a:t>、</a:t>
            </a:r>
            <a:r>
              <a:rPr lang="en-US" altLang="zh-CN"/>
              <a:t>kcb</a:t>
            </a:r>
            <a:r>
              <a:rPr lang="zh-CN" altLang="zh-CN"/>
              <a:t>、</a:t>
            </a:r>
            <a:r>
              <a:rPr lang="en-US" altLang="zh-CN"/>
              <a:t>cjb 3</a:t>
            </a:r>
            <a:r>
              <a:rPr lang="zh-CN" altLang="zh-CN"/>
              <a:t>个表进行查询和更新。为了提高查询和更新速度，可以考虑对</a:t>
            </a:r>
            <a:r>
              <a:rPr lang="en-US" altLang="zh-CN"/>
              <a:t>3</a:t>
            </a:r>
            <a:r>
              <a:rPr lang="zh-CN" altLang="zh-CN"/>
              <a:t>个表建立如下索引：</a:t>
            </a:r>
            <a:endParaRPr lang="zh-CN" altLang="zh-CN"/>
          </a:p>
          <a:p>
            <a:pPr eaLnBrk="1" fontAlgn="ctr" hangingPunct="1">
              <a:lnSpc>
                <a:spcPct val="150000"/>
              </a:lnSpc>
            </a:pPr>
            <a:r>
              <a:rPr lang="zh-CN" altLang="zh-CN"/>
              <a:t>（</a:t>
            </a:r>
            <a:r>
              <a:rPr lang="en-US" altLang="zh-CN"/>
              <a:t>1</a:t>
            </a:r>
            <a:r>
              <a:rPr lang="zh-CN" altLang="zh-CN"/>
              <a:t>）对于</a:t>
            </a:r>
            <a:r>
              <a:rPr lang="en-US" altLang="zh-CN"/>
              <a:t>xsb</a:t>
            </a:r>
            <a:r>
              <a:rPr lang="zh-CN" altLang="zh-CN"/>
              <a:t>表，按学号建立主键索引（</a:t>
            </a:r>
            <a:r>
              <a:rPr lang="en-US" altLang="zh-CN"/>
              <a:t>PRIMARY KEY</a:t>
            </a:r>
            <a:r>
              <a:rPr lang="zh-CN" altLang="zh-CN"/>
              <a:t>约束），组织方式为聚集索引。</a:t>
            </a:r>
            <a:endParaRPr lang="zh-CN" altLang="zh-CN"/>
          </a:p>
          <a:p>
            <a:pPr eaLnBrk="1" fontAlgn="ctr" hangingPunct="1">
              <a:lnSpc>
                <a:spcPct val="150000"/>
              </a:lnSpc>
            </a:pPr>
            <a:r>
              <a:rPr lang="zh-CN" altLang="zh-CN"/>
              <a:t>（</a:t>
            </a:r>
            <a:r>
              <a:rPr lang="en-US" altLang="zh-CN"/>
              <a:t>2</a:t>
            </a:r>
            <a:r>
              <a:rPr lang="zh-CN" altLang="zh-CN"/>
              <a:t>）对于</a:t>
            </a:r>
            <a:r>
              <a:rPr lang="en-US" altLang="zh-CN"/>
              <a:t>kcb</a:t>
            </a:r>
            <a:r>
              <a:rPr lang="zh-CN" altLang="zh-CN"/>
              <a:t>表，按课程号建立主键索引，组织方式为聚集索引。</a:t>
            </a:r>
            <a:endParaRPr lang="zh-CN" altLang="zh-CN"/>
          </a:p>
          <a:p>
            <a:pPr eaLnBrk="1" fontAlgn="ctr" hangingPunct="1">
              <a:lnSpc>
                <a:spcPct val="150000"/>
              </a:lnSpc>
            </a:pPr>
            <a:r>
              <a:rPr lang="zh-CN" altLang="zh-CN"/>
              <a:t>（</a:t>
            </a:r>
            <a:r>
              <a:rPr lang="en-US" altLang="zh-CN"/>
              <a:t>3</a:t>
            </a:r>
            <a:r>
              <a:rPr lang="zh-CN" altLang="zh-CN"/>
              <a:t>）对于</a:t>
            </a:r>
            <a:r>
              <a:rPr lang="en-US" altLang="zh-CN"/>
              <a:t>kcb</a:t>
            </a:r>
            <a:r>
              <a:rPr lang="zh-CN" altLang="zh-CN"/>
              <a:t>表，按课程名建立唯一索引（</a:t>
            </a:r>
            <a:r>
              <a:rPr lang="en-US" altLang="zh-CN"/>
              <a:t>UNIQUE</a:t>
            </a:r>
            <a:r>
              <a:rPr lang="zh-CN" altLang="zh-CN"/>
              <a:t>约束），组织方式为非聚集索引。</a:t>
            </a:r>
            <a:endParaRPr lang="zh-CN" altLang="zh-CN"/>
          </a:p>
          <a:p>
            <a:pPr eaLnBrk="1" fontAlgn="ctr" hangingPunct="1">
              <a:lnSpc>
                <a:spcPct val="150000"/>
              </a:lnSpc>
            </a:pPr>
            <a:r>
              <a:rPr lang="zh-CN" altLang="zh-CN"/>
              <a:t>（</a:t>
            </a:r>
            <a:r>
              <a:rPr lang="en-US" altLang="zh-CN"/>
              <a:t>4</a:t>
            </a:r>
            <a:r>
              <a:rPr lang="zh-CN" altLang="zh-CN"/>
              <a:t>）对于</a:t>
            </a:r>
            <a:r>
              <a:rPr lang="en-US" altLang="zh-CN"/>
              <a:t>cjb</a:t>
            </a:r>
            <a:r>
              <a:rPr lang="zh-CN" altLang="zh-CN"/>
              <a:t>表，按学号</a:t>
            </a:r>
            <a:r>
              <a:rPr lang="en-US" altLang="zh-CN"/>
              <a:t>+</a:t>
            </a:r>
            <a:r>
              <a:rPr lang="zh-CN" altLang="zh-CN"/>
              <a:t>课程号建立唯一索引，组织方式为聚集索引。</a:t>
            </a:r>
            <a:endParaRPr lang="zh-CN" altLang="zh-CN"/>
          </a:p>
          <a:p>
            <a:pPr eaLnBrk="1" hangingPunct="1">
              <a:lnSpc>
                <a:spcPct val="150000"/>
              </a:lnSpc>
            </a:pPr>
            <a:endParaRPr lang="zh-CN" altLang="en-US"/>
          </a:p>
        </p:txBody>
      </p:sp>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0243" name="TextBox 2"/>
          <p:cNvSpPr txBox="1">
            <a:spLocks noChangeArrowheads="1"/>
          </p:cNvSpPr>
          <p:nvPr/>
        </p:nvSpPr>
        <p:spPr bwMode="auto">
          <a:xfrm>
            <a:off x="395288" y="1484313"/>
            <a:ext cx="8280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．界面（对象资源管理器）方式创建索引</a:t>
            </a:r>
            <a:endParaRPr lang="zh-CN" altLang="zh-CN" b="1">
              <a:solidFill>
                <a:srgbClr val="C00000"/>
              </a:solidFill>
            </a:endParaRPr>
          </a:p>
          <a:p>
            <a:pPr eaLnBrk="1" fontAlgn="ctr" hangingPunct="1"/>
            <a:r>
              <a:rPr lang="zh-CN" altLang="zh-CN"/>
              <a:t>下面以</a:t>
            </a:r>
            <a:r>
              <a:rPr lang="en-US" altLang="zh-CN"/>
              <a:t>xsb</a:t>
            </a:r>
            <a:r>
              <a:rPr lang="zh-CN" altLang="zh-CN"/>
              <a:t>表中按学号建立聚集索引为例，介绍聚集索引的创建方法。</a:t>
            </a:r>
            <a:endParaRPr lang="zh-CN" altLang="zh-CN"/>
          </a:p>
          <a:p>
            <a:pPr eaLnBrk="1" fontAlgn="ctr" hangingPunct="1"/>
            <a:r>
              <a:rPr lang="zh-CN" altLang="zh-CN"/>
              <a:t>（</a:t>
            </a:r>
            <a:r>
              <a:rPr lang="en-US" altLang="zh-CN"/>
              <a:t>1</a:t>
            </a:r>
            <a:r>
              <a:rPr lang="zh-CN" altLang="zh-CN"/>
              <a:t>）在“对象资源管理器”中选择</a:t>
            </a:r>
            <a:r>
              <a:rPr lang="en-US" altLang="zh-CN"/>
              <a:t>pxscj</a:t>
            </a:r>
            <a:r>
              <a:rPr lang="zh-CN" altLang="zh-CN"/>
              <a:t>数据库“</a:t>
            </a:r>
            <a:r>
              <a:rPr lang="en-US" altLang="zh-CN"/>
              <a:t>dbo.xsb</a:t>
            </a:r>
            <a:r>
              <a:rPr lang="zh-CN" altLang="zh-CN"/>
              <a:t>”表展开，右键单击其中的“索引”项，在弹出的快捷菜单上选择“新建索引”菜单项，并且其后的菜单中选择索引类型，如图</a:t>
            </a:r>
            <a:r>
              <a:rPr lang="en-US" altLang="zh-CN"/>
              <a:t>6.1</a:t>
            </a:r>
            <a:r>
              <a:rPr lang="zh-CN" altLang="zh-CN"/>
              <a:t>所示。</a:t>
            </a:r>
            <a:endParaRPr lang="zh-CN" altLang="zh-CN"/>
          </a:p>
          <a:p>
            <a:pPr eaLnBrk="1" hangingPunct="1"/>
            <a:endParaRPr lang="zh-CN" altLang="en-US"/>
          </a:p>
        </p:txBody>
      </p:sp>
      <p:pic>
        <p:nvPicPr>
          <p:cNvPr id="1024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39975" y="2997200"/>
            <a:ext cx="446405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3" name="TextBox 2"/>
          <p:cNvSpPr txBox="1"/>
          <p:nvPr/>
        </p:nvSpPr>
        <p:spPr>
          <a:xfrm>
            <a:off x="395288" y="1412875"/>
            <a:ext cx="8280400" cy="1200150"/>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）新建索引。在打开的“新建索引”中，单击“添加”按钮，系统打开一个</a:t>
            </a:r>
            <a:r>
              <a:rPr lang="en-US" altLang="zh-CN" dirty="0" err="1">
                <a:latin typeface="+mn-lt"/>
                <a:ea typeface="+mn-ea"/>
              </a:rPr>
              <a:t>xsb</a:t>
            </a:r>
            <a:r>
              <a:rPr lang="zh-CN" altLang="zh-CN" dirty="0">
                <a:latin typeface="+mn-lt"/>
                <a:ea typeface="+mn-ea"/>
              </a:rPr>
              <a:t>表字段选择对话框，勾选需要索引的列（如“出生时间列”），单击“确定”按钮，在“索引键列”就会显示该列，如图</a:t>
            </a:r>
            <a:r>
              <a:rPr lang="en-US" altLang="zh-CN" dirty="0">
                <a:latin typeface="+mn-lt"/>
                <a:ea typeface="+mn-ea"/>
              </a:rPr>
              <a:t>6.2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1126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93850" y="2420938"/>
            <a:ext cx="5857875"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2291" name="TextBox 2"/>
          <p:cNvSpPr txBox="1">
            <a:spLocks noChangeArrowheads="1"/>
          </p:cNvSpPr>
          <p:nvPr/>
        </p:nvSpPr>
        <p:spPr bwMode="auto">
          <a:xfrm>
            <a:off x="468313" y="1484313"/>
            <a:ext cx="82073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．界面（表设计器）方式创建索引</a:t>
            </a:r>
            <a:endParaRPr lang="zh-CN" altLang="zh-CN" b="1">
              <a:solidFill>
                <a:srgbClr val="C00000"/>
              </a:solidFill>
            </a:endParaRPr>
          </a:p>
          <a:p>
            <a:pPr eaLnBrk="1" fontAlgn="ctr" hangingPunct="1"/>
            <a:r>
              <a:rPr lang="zh-CN" altLang="zh-CN"/>
              <a:t>（</a:t>
            </a:r>
            <a:r>
              <a:rPr lang="en-US" altLang="zh-CN"/>
              <a:t>1</a:t>
            </a:r>
            <a:r>
              <a:rPr lang="zh-CN" altLang="zh-CN"/>
              <a:t>）右键单击</a:t>
            </a:r>
            <a:r>
              <a:rPr lang="en-US" altLang="zh-CN"/>
              <a:t>pxscj</a:t>
            </a:r>
            <a:r>
              <a:rPr lang="zh-CN" altLang="zh-CN"/>
              <a:t>数据库中的“</a:t>
            </a:r>
            <a:r>
              <a:rPr lang="en-US" altLang="zh-CN"/>
              <a:t>dbo.xsb</a:t>
            </a:r>
            <a:r>
              <a:rPr lang="zh-CN" altLang="zh-CN"/>
              <a:t>”表，在弹出的快捷菜单中选择“设计”菜单项，打开“表设计器”窗口。在“表设计器”窗口中选择任何（例如“学号”）列，右键单击鼠标，在弹出的快捷菜单中选择“索引</a:t>
            </a:r>
            <a:r>
              <a:rPr lang="en-US" altLang="zh-CN"/>
              <a:t>/</a:t>
            </a:r>
            <a:r>
              <a:rPr lang="zh-CN" altLang="zh-CN"/>
              <a:t>键”菜单项，如图</a:t>
            </a:r>
            <a:r>
              <a:rPr lang="en-US" altLang="zh-CN"/>
              <a:t>6.3</a:t>
            </a:r>
            <a:r>
              <a:rPr lang="zh-CN" altLang="zh-CN"/>
              <a:t>所示。</a:t>
            </a:r>
            <a:endParaRPr lang="zh-CN" altLang="zh-CN"/>
          </a:p>
          <a:p>
            <a:pPr eaLnBrk="1" hangingPunct="1"/>
            <a:endParaRPr lang="zh-CN" altLang="en-US"/>
          </a:p>
        </p:txBody>
      </p:sp>
      <p:pic>
        <p:nvPicPr>
          <p:cNvPr id="122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1275" y="2852738"/>
            <a:ext cx="2881313"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3315" name="TextBox 2"/>
          <p:cNvSpPr txBox="1">
            <a:spLocks noChangeArrowheads="1"/>
          </p:cNvSpPr>
          <p:nvPr/>
        </p:nvSpPr>
        <p:spPr bwMode="auto">
          <a:xfrm>
            <a:off x="468313" y="1484313"/>
            <a:ext cx="82073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2</a:t>
            </a:r>
            <a:r>
              <a:rPr lang="zh-CN" altLang="zh-CN"/>
              <a:t>）在打开的“索引</a:t>
            </a:r>
            <a:r>
              <a:rPr lang="en-US" altLang="zh-CN"/>
              <a:t>/</a:t>
            </a:r>
            <a:r>
              <a:rPr lang="zh-CN" altLang="zh-CN"/>
              <a:t>键”对话框中单击“添加”按钮，系统创建一个默认的索引“</a:t>
            </a:r>
            <a:r>
              <a:rPr lang="en-US" altLang="zh-CN"/>
              <a:t>IX_xsb</a:t>
            </a:r>
            <a:r>
              <a:rPr lang="zh-CN" altLang="zh-CN"/>
              <a:t>”，索引列为“学号”，用户可在右边的“标识”属性区域的“名称”一栏中确定新索引的名称，在右边的常规属性区域中的“列”一栏后面单击</a:t>
            </a:r>
            <a:r>
              <a:rPr lang="en-US" altLang="zh-CN"/>
              <a:t>      </a:t>
            </a:r>
            <a:r>
              <a:rPr lang="zh-CN" altLang="zh-CN"/>
              <a:t>按钮，可以修改要创建索引的列。如果将“是唯一的”一栏设定为“是”则表示索引是唯一索引。在“表设计器”栏下的“创建为聚集的”选项中，可以设置是否创建为聚集索引，由于</a:t>
            </a:r>
            <a:r>
              <a:rPr lang="en-US" altLang="zh-CN"/>
              <a:t>xsb</a:t>
            </a:r>
            <a:r>
              <a:rPr lang="zh-CN" altLang="zh-CN"/>
              <a:t>表中已经存在聚集索引，所以这里的这个选项不可修改，如图</a:t>
            </a:r>
            <a:r>
              <a:rPr lang="en-US" altLang="zh-CN"/>
              <a:t>6.4</a:t>
            </a:r>
            <a:r>
              <a:rPr lang="zh-CN" altLang="zh-CN"/>
              <a:t>所示。 </a:t>
            </a:r>
            <a:endParaRPr lang="zh-CN" altLang="en-US"/>
          </a:p>
        </p:txBody>
      </p:sp>
      <p:pic>
        <p:nvPicPr>
          <p:cNvPr id="1331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2387600"/>
            <a:ext cx="252412"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452813"/>
            <a:ext cx="3640138"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3452813"/>
            <a:ext cx="362267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Rectangle 5"/>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3320" name="Rectangle 6"/>
          <p:cNvSpPr>
            <a:spLocks noChangeArrowheads="1"/>
          </p:cNvSpPr>
          <p:nvPr/>
        </p:nvSpPr>
        <p:spPr bwMode="auto">
          <a:xfrm>
            <a:off x="0" y="2484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1000">
                <a:latin typeface="Times New Roman" panose="02020603050405020304" pitchFamily="18" charset="0"/>
                <a:ea typeface="方正书宋简体"/>
                <a:cs typeface="Times New Roman" panose="02020603050405020304" pitchFamily="18" charset="0"/>
              </a:rPr>
              <a:t>  </a:t>
            </a:r>
            <a:endParaRPr lang="en-US" altLang="zh-CN">
              <a:latin typeface="Arial" panose="020B0604020202020204" pitchFamily="34" charset="0"/>
              <a:ea typeface="方正书宋简体"/>
              <a:cs typeface="Times New Roman" panose="02020603050405020304" pitchFamily="18" charset="0"/>
            </a:endParaRPr>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2276475"/>
            <a:ext cx="7920038" cy="14398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4340" name="TextBox 2"/>
          <p:cNvSpPr txBox="1">
            <a:spLocks noChangeArrowheads="1"/>
          </p:cNvSpPr>
          <p:nvPr/>
        </p:nvSpPr>
        <p:spPr bwMode="auto">
          <a:xfrm>
            <a:off x="468313" y="1412875"/>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．利用</a:t>
            </a:r>
            <a:r>
              <a:rPr lang="en-US" altLang="zh-CN" b="1">
                <a:solidFill>
                  <a:srgbClr val="C00000"/>
                </a:solidFill>
              </a:rPr>
              <a:t>SQL</a:t>
            </a:r>
            <a:r>
              <a:rPr lang="zh-CN" altLang="zh-CN" b="1">
                <a:solidFill>
                  <a:srgbClr val="C00000"/>
                </a:solidFill>
              </a:rPr>
              <a:t>命令建立索引</a:t>
            </a:r>
            <a:endParaRPr lang="zh-CN" altLang="zh-CN" b="1">
              <a:solidFill>
                <a:srgbClr val="C00000"/>
              </a:solidFill>
            </a:endParaRPr>
          </a:p>
          <a:p>
            <a:pPr eaLnBrk="1" fontAlgn="ctr" hangingPunct="1"/>
            <a:r>
              <a:rPr lang="zh-CN" altLang="zh-CN"/>
              <a:t>使用</a:t>
            </a:r>
            <a:r>
              <a:rPr lang="en-US" altLang="zh-CN"/>
              <a:t>CREATE INDEX</a:t>
            </a:r>
            <a:r>
              <a:rPr lang="zh-CN" altLang="zh-CN"/>
              <a:t>语句可以为表创建索引。</a:t>
            </a:r>
            <a:endParaRPr lang="zh-CN" altLang="zh-CN"/>
          </a:p>
          <a:p>
            <a:pPr eaLnBrk="1" fontAlgn="ctr" hangingPunct="1"/>
            <a:r>
              <a:rPr lang="zh-CN" altLang="zh-CN"/>
              <a:t>语法格式：</a:t>
            </a:r>
            <a:endParaRPr lang="zh-CN" altLang="zh-CN"/>
          </a:p>
          <a:p>
            <a:pPr eaLnBrk="1" hangingPunct="1"/>
            <a:r>
              <a:rPr lang="en-US" altLang="zh-CN"/>
              <a:t>CREATE [ UNIQUE ]	[ CLUSTERED |  NONCLUSTERED ] INDEX</a:t>
            </a:r>
            <a:r>
              <a:rPr lang="zh-CN" altLang="zh-CN"/>
              <a:t>索引名</a:t>
            </a:r>
            <a:r>
              <a:rPr lang="en-US" altLang="zh-CN"/>
              <a:t>    </a:t>
            </a:r>
            <a:endParaRPr lang="zh-CN" altLang="zh-CN"/>
          </a:p>
          <a:p>
            <a:pPr eaLnBrk="1" hangingPunct="1"/>
            <a:r>
              <a:rPr lang="en-US" altLang="zh-CN"/>
              <a:t>     ON </a:t>
            </a:r>
            <a:r>
              <a:rPr lang="zh-CN" altLang="zh-CN"/>
              <a:t>表或视图名</a:t>
            </a:r>
            <a:r>
              <a:rPr lang="en-US" altLang="zh-CN"/>
              <a:t> 	</a:t>
            </a:r>
            <a:endParaRPr lang="zh-CN" altLang="zh-CN"/>
          </a:p>
          <a:p>
            <a:pPr eaLnBrk="1" hangingPunct="1"/>
            <a:r>
              <a:rPr lang="en-US" altLang="zh-CN"/>
              <a:t>      ( </a:t>
            </a:r>
            <a:r>
              <a:rPr lang="zh-CN" altLang="zh-CN"/>
              <a:t>列</a:t>
            </a:r>
            <a:r>
              <a:rPr lang="en-US" altLang="zh-CN"/>
              <a:t>[ ASC | DESC ] )</a:t>
            </a:r>
            <a:endParaRPr lang="zh-CN" altLang="zh-CN"/>
          </a:p>
          <a:p>
            <a:pPr eaLnBrk="1" hangingPunct="1"/>
            <a:r>
              <a:rPr lang="en-US" altLang="zh-CN"/>
              <a:t>     WHERE</a:t>
            </a:r>
            <a:r>
              <a:rPr lang="zh-CN" altLang="zh-CN"/>
              <a:t>子句</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740150"/>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844675"/>
            <a:ext cx="7848600" cy="15843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5365" name="TextBox 2"/>
          <p:cNvSpPr txBox="1">
            <a:spLocks noChangeArrowheads="1"/>
          </p:cNvSpPr>
          <p:nvPr/>
        </p:nvSpPr>
        <p:spPr bwMode="auto">
          <a:xfrm>
            <a:off x="468313" y="1484313"/>
            <a:ext cx="8280400"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6.1</a:t>
            </a:r>
            <a:r>
              <a:rPr lang="zh-CN" altLang="zh-CN"/>
              <a:t>】 为</a:t>
            </a:r>
            <a:r>
              <a:rPr lang="en-US" altLang="zh-CN"/>
              <a:t>kcb</a:t>
            </a:r>
            <a:r>
              <a:rPr lang="zh-CN" altLang="zh-CN"/>
              <a:t>表的“课程名”列创建索引，课程号”列创建唯一聚集索引。</a:t>
            </a:r>
            <a:endParaRPr lang="zh-CN" altLang="zh-CN"/>
          </a:p>
          <a:p>
            <a:pPr eaLnBrk="1" hangingPunct="1"/>
            <a:r>
              <a:rPr lang="en-US" altLang="zh-CN"/>
              <a:t>USE pxscj</a:t>
            </a:r>
            <a:endParaRPr lang="zh-CN" altLang="zh-CN"/>
          </a:p>
          <a:p>
            <a:pPr eaLnBrk="1" hangingPunct="1"/>
            <a:r>
              <a:rPr lang="en-US" altLang="zh-CN"/>
              <a:t>GO	    </a:t>
            </a:r>
            <a:endParaRPr lang="zh-CN" altLang="zh-CN"/>
          </a:p>
          <a:p>
            <a:pPr eaLnBrk="1" hangingPunct="1"/>
            <a:r>
              <a:rPr lang="en-US" altLang="zh-CN"/>
              <a:t>CREATE INDEX  kc_name </a:t>
            </a:r>
            <a:endParaRPr lang="zh-CN" altLang="zh-CN"/>
          </a:p>
          <a:p>
            <a:pPr eaLnBrk="1" hangingPunct="1"/>
            <a:r>
              <a:rPr lang="en-US" altLang="zh-CN"/>
              <a:t>    ON kcb(</a:t>
            </a:r>
            <a:r>
              <a:rPr lang="zh-CN" altLang="zh-CN"/>
              <a:t>课程名</a:t>
            </a:r>
            <a:r>
              <a:rPr lang="en-US" altLang="zh-CN"/>
              <a:t>)</a:t>
            </a:r>
            <a:endParaRPr lang="zh-CN" altLang="zh-CN"/>
          </a:p>
          <a:p>
            <a:pPr eaLnBrk="1" hangingPunct="1"/>
            <a:r>
              <a:rPr lang="en-US" altLang="zh-CN"/>
              <a:t>CREATE UNIQUE CLUSTERED INDEX kc_id </a:t>
            </a:r>
            <a:endParaRPr lang="zh-CN" altLang="zh-CN"/>
          </a:p>
          <a:p>
            <a:pPr eaLnBrk="1" hangingPunct="1"/>
            <a:r>
              <a:rPr lang="en-US" altLang="zh-CN"/>
              <a:t>    ON  kcb (</a:t>
            </a:r>
            <a:r>
              <a:rPr lang="zh-CN" altLang="zh-CN"/>
              <a:t>课程号</a:t>
            </a:r>
            <a:r>
              <a:rPr lang="en-US" altLang="zh-CN"/>
              <a:t>)</a:t>
            </a:r>
            <a:endParaRPr lang="zh-CN" altLang="zh-CN"/>
          </a:p>
          <a:p>
            <a:pPr eaLnBrk="1" fontAlgn="ctr" hangingPunct="1"/>
            <a:r>
              <a:rPr lang="zh-CN" altLang="zh-CN"/>
              <a:t>【例</a:t>
            </a:r>
            <a:r>
              <a:rPr lang="en-US" altLang="zh-CN"/>
              <a:t>6.2</a:t>
            </a:r>
            <a:r>
              <a:rPr lang="zh-CN" altLang="zh-CN"/>
              <a:t>】 根据</a:t>
            </a:r>
            <a:r>
              <a:rPr lang="en-US" altLang="zh-CN"/>
              <a:t>cjb</a:t>
            </a:r>
            <a:r>
              <a:rPr lang="zh-CN" altLang="zh-CN"/>
              <a:t>表的“学号”列和“课程号”列创建复合索引。</a:t>
            </a:r>
            <a:endParaRPr lang="zh-CN" altLang="zh-CN"/>
          </a:p>
          <a:p>
            <a:pPr eaLnBrk="1" hangingPunct="1"/>
            <a:r>
              <a:rPr lang="en-US" altLang="zh-CN"/>
              <a:t>CREATE INDEX cjb_ind    </a:t>
            </a:r>
            <a:endParaRPr lang="zh-CN" altLang="zh-CN"/>
          </a:p>
          <a:p>
            <a:pPr eaLnBrk="1" hangingPunct="1"/>
            <a:r>
              <a:rPr lang="en-US" altLang="zh-CN"/>
              <a:t>    ON cjb(</a:t>
            </a:r>
            <a:r>
              <a:rPr lang="zh-CN" altLang="zh-CN"/>
              <a:t>学号</a:t>
            </a:r>
            <a:r>
              <a:rPr lang="en-US" altLang="zh-CN"/>
              <a:t>, </a:t>
            </a:r>
            <a:r>
              <a:rPr lang="zh-CN" altLang="zh-CN"/>
              <a:t>课程号</a:t>
            </a:r>
            <a:r>
              <a:rPr lang="en-US" altLang="zh-CN"/>
              <a:t>)</a:t>
            </a:r>
            <a:endParaRPr lang="zh-CN" altLang="zh-CN"/>
          </a:p>
          <a:p>
            <a:pPr eaLnBrk="1" hangingPunct="1"/>
            <a:r>
              <a:rPr lang="en-US" altLang="zh-CN"/>
              <a:t>    WITH(DROP_EXISTING= ON)</a:t>
            </a:r>
            <a:endParaRPr lang="zh-CN" altLang="zh-CN"/>
          </a:p>
          <a:p>
            <a:pPr eaLnBrk="1" fontAlgn="ctr" hangingPunct="1"/>
            <a:r>
              <a:rPr lang="zh-CN" altLang="zh-CN"/>
              <a:t>其中：</a:t>
            </a:r>
            <a:r>
              <a:rPr lang="en-US" altLang="zh-CN"/>
              <a:t>DROP_EXISTING</a:t>
            </a:r>
            <a:r>
              <a:rPr lang="zh-CN" altLang="zh-CN"/>
              <a:t>指定删除已存在的同名聚集索引或非聚集索引。</a:t>
            </a:r>
            <a:endParaRPr lang="zh-CN" altLang="zh-CN"/>
          </a:p>
          <a:p>
            <a:pPr eaLnBrk="1" hangingPunct="1"/>
            <a:endParaRPr lang="zh-CN" altLang="en-US"/>
          </a:p>
        </p:txBody>
      </p:sp>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276475"/>
            <a:ext cx="7848600"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6388" name="TextBox 2"/>
          <p:cNvSpPr txBox="1">
            <a:spLocks noChangeArrowheads="1"/>
          </p:cNvSpPr>
          <p:nvPr/>
        </p:nvSpPr>
        <p:spPr bwMode="auto">
          <a:xfrm>
            <a:off x="468313" y="1412875"/>
            <a:ext cx="8280400"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【例</a:t>
            </a:r>
            <a:r>
              <a:rPr lang="en-US" altLang="zh-CN"/>
              <a:t>6.3</a:t>
            </a:r>
            <a:r>
              <a:rPr lang="zh-CN" altLang="zh-CN"/>
              <a:t>】 根据</a:t>
            </a:r>
            <a:r>
              <a:rPr lang="en-US" altLang="zh-CN"/>
              <a:t>xsb</a:t>
            </a:r>
            <a:r>
              <a:rPr lang="zh-CN" altLang="zh-CN"/>
              <a:t>表中“学号”列创建唯一聚集索引。如果输入了重复的键，将忽略该</a:t>
            </a:r>
            <a:r>
              <a:rPr lang="en-US" altLang="zh-CN"/>
              <a:t>INSERT</a:t>
            </a:r>
            <a:r>
              <a:rPr lang="zh-CN" altLang="zh-CN"/>
              <a:t>或</a:t>
            </a:r>
            <a:r>
              <a:rPr lang="en-US" altLang="zh-CN"/>
              <a:t>UPDATE</a:t>
            </a:r>
            <a:r>
              <a:rPr lang="zh-CN" altLang="zh-CN"/>
              <a:t>语句。</a:t>
            </a:r>
            <a:endParaRPr lang="zh-CN" altLang="zh-CN"/>
          </a:p>
          <a:p>
            <a:pPr eaLnBrk="1" hangingPunct="1"/>
            <a:r>
              <a:rPr lang="en-US" altLang="zh-CN"/>
              <a:t>CREATE UNIQUE CLUSTERED INDEX xs_ind</a:t>
            </a:r>
            <a:endParaRPr lang="zh-CN" altLang="zh-CN"/>
          </a:p>
          <a:p>
            <a:pPr eaLnBrk="1" hangingPunct="1"/>
            <a:r>
              <a:rPr lang="en-US" altLang="zh-CN"/>
              <a:t>    ON xsb(</a:t>
            </a:r>
            <a:r>
              <a:rPr lang="zh-CN" altLang="zh-CN"/>
              <a:t>学号</a:t>
            </a:r>
            <a:r>
              <a:rPr lang="en-US" altLang="zh-CN"/>
              <a:t>)</a:t>
            </a:r>
            <a:endParaRPr lang="zh-CN" altLang="zh-CN"/>
          </a:p>
          <a:p>
            <a:pPr eaLnBrk="1" hangingPunct="1"/>
            <a:r>
              <a:rPr lang="en-US" altLang="zh-CN"/>
              <a:t>    WITH IGNORE_DUP_KEY</a:t>
            </a:r>
            <a:endParaRPr lang="zh-CN" altLang="zh-CN"/>
          </a:p>
          <a:p>
            <a:pPr eaLnBrk="1" hangingPunct="1">
              <a:lnSpc>
                <a:spcPct val="150000"/>
              </a:lnSpc>
            </a:pPr>
            <a:r>
              <a:rPr lang="zh-CN" altLang="zh-CN"/>
              <a:t>其中：</a:t>
            </a:r>
            <a:r>
              <a:rPr lang="en-US" altLang="zh-CN"/>
              <a:t>IGNORE_DUP_KEY</a:t>
            </a:r>
            <a:r>
              <a:rPr lang="zh-CN" altLang="zh-CN"/>
              <a:t>指定对索引列插入操作时出现重复键值的错误响应。</a:t>
            </a:r>
            <a:endParaRPr lang="zh-CN" altLang="en-US"/>
          </a:p>
        </p:txBody>
      </p:sp>
    </p:spTree>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7411" name="TextBox 2"/>
          <p:cNvSpPr txBox="1">
            <a:spLocks noChangeArrowheads="1"/>
          </p:cNvSpPr>
          <p:nvPr/>
        </p:nvSpPr>
        <p:spPr bwMode="auto">
          <a:xfrm>
            <a:off x="395288" y="1484313"/>
            <a:ext cx="8353425"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．在计算列和视图上创建索引</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）在计算列上创建索引</a:t>
            </a:r>
            <a:endParaRPr lang="zh-CN" altLang="zh-CN"/>
          </a:p>
          <a:p>
            <a:pPr eaLnBrk="1" fontAlgn="ctr" hangingPunct="1">
              <a:lnSpc>
                <a:spcPct val="150000"/>
              </a:lnSpc>
            </a:pPr>
            <a:r>
              <a:rPr lang="zh-CN" altLang="zh-CN"/>
              <a:t>对于</a:t>
            </a:r>
            <a:r>
              <a:rPr lang="en-US" altLang="zh-CN"/>
              <a:t>UNIQUE</a:t>
            </a:r>
            <a:r>
              <a:rPr lang="zh-CN" altLang="zh-CN"/>
              <a:t>或</a:t>
            </a:r>
            <a:r>
              <a:rPr lang="en-US" altLang="zh-CN"/>
              <a:t>PRIMARY KEY</a:t>
            </a:r>
            <a:r>
              <a:rPr lang="zh-CN" altLang="zh-CN"/>
              <a:t>索引，只要满足索引条件，就可以包含计算列，但计算列必须具有确定性，必须精确。若计算列中带有函数，则使用该函数时有相同的参数输入，且输出的结果也一定相同时，该计算列是确定的。而有些函数，如</a:t>
            </a:r>
            <a:r>
              <a:rPr lang="en-US" altLang="zh-CN"/>
              <a:t>getdate()</a:t>
            </a:r>
            <a:r>
              <a:rPr lang="zh-CN" altLang="zh-CN"/>
              <a:t>，每次调用时都输出不同的结果，这时就不能在计算列上定义索引。</a:t>
            </a:r>
            <a:endParaRPr lang="zh-CN" altLang="zh-CN"/>
          </a:p>
          <a:p>
            <a:pPr eaLnBrk="1" fontAlgn="ctr" hangingPunct="1">
              <a:lnSpc>
                <a:spcPct val="150000"/>
              </a:lnSpc>
            </a:pPr>
            <a:r>
              <a:rPr lang="zh-CN" altLang="zh-CN"/>
              <a:t>（</a:t>
            </a:r>
            <a:r>
              <a:rPr lang="en-US" altLang="zh-CN"/>
              <a:t>2</a:t>
            </a:r>
            <a:r>
              <a:rPr lang="zh-CN" altLang="zh-CN"/>
              <a:t>）在视图上创建索引</a:t>
            </a:r>
            <a:endParaRPr lang="zh-CN" altLang="zh-CN"/>
          </a:p>
          <a:p>
            <a:pPr eaLnBrk="1" fontAlgn="ctr" hangingPunct="1">
              <a:lnSpc>
                <a:spcPct val="150000"/>
              </a:lnSpc>
            </a:pPr>
            <a:r>
              <a:rPr lang="zh-CN" altLang="zh-CN"/>
              <a:t>可以在视图上定义索引。索引视图是一种在数据库中存储视图结果集的方法，可减少动态生成结果集的开销。索引视图还能自动反映出创建索引后对基本表数据所做的修改。</a:t>
            </a:r>
            <a:endParaRPr lang="zh-CN" altLang="zh-CN"/>
          </a:p>
          <a:p>
            <a:pPr eaLnBrk="1" hangingPunct="1">
              <a:lnSpc>
                <a:spcPct val="150000"/>
              </a:lnSpc>
            </a:pPr>
            <a:endParaRPr lang="zh-CN" altLang="en-US"/>
          </a:p>
        </p:txBody>
      </p:sp>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844675"/>
            <a:ext cx="7848600"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6.1.2  </a:t>
            </a:r>
            <a:r>
              <a:rPr lang="zh-CN" altLang="zh-CN" dirty="0">
                <a:effectLst/>
              </a:rPr>
              <a:t>索引的创建：</a:t>
            </a:r>
            <a:r>
              <a:rPr lang="en-US" altLang="zh-CN" dirty="0">
                <a:effectLst/>
              </a:rPr>
              <a:t>CREATE INDEX</a:t>
            </a:r>
            <a:endParaRPr lang="zh-CN" altLang="en-US" dirty="0"/>
          </a:p>
        </p:txBody>
      </p:sp>
      <p:sp>
        <p:nvSpPr>
          <p:cNvPr id="18436" name="TextBox 2"/>
          <p:cNvSpPr txBox="1">
            <a:spLocks noChangeArrowheads="1"/>
          </p:cNvSpPr>
          <p:nvPr/>
        </p:nvSpPr>
        <p:spPr bwMode="auto">
          <a:xfrm>
            <a:off x="395288" y="1412875"/>
            <a:ext cx="828040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【例</a:t>
            </a:r>
            <a:r>
              <a:rPr lang="en-US" altLang="zh-CN"/>
              <a:t>6.4</a:t>
            </a:r>
            <a:r>
              <a:rPr lang="zh-CN" altLang="zh-CN"/>
              <a:t>】 创建一个视图，并为该视图创建索引。</a:t>
            </a:r>
            <a:endParaRPr lang="zh-CN" altLang="zh-CN"/>
          </a:p>
          <a:p>
            <a:pPr eaLnBrk="1" hangingPunct="1"/>
            <a:r>
              <a:rPr lang="en-US" altLang="zh-CN"/>
              <a:t>CREATE VIEW view_stu WITH SCHEMABINDING </a:t>
            </a:r>
            <a:endParaRPr lang="zh-CN" altLang="zh-CN"/>
          </a:p>
          <a:p>
            <a:pPr eaLnBrk="1" hangingPunct="1"/>
            <a:r>
              <a:rPr lang="en-US" altLang="zh-CN"/>
              <a:t>    AS </a:t>
            </a:r>
            <a:endParaRPr lang="zh-CN" altLang="zh-CN"/>
          </a:p>
          <a:p>
            <a:pPr eaLnBrk="1" hangingPunct="1"/>
            <a:r>
              <a:rPr lang="en-US" altLang="zh-CN"/>
              <a:t>    SELECT</a:t>
            </a:r>
            <a:r>
              <a:rPr lang="zh-CN" altLang="zh-CN"/>
              <a:t>学号</a:t>
            </a:r>
            <a:r>
              <a:rPr lang="en-US" altLang="zh-CN"/>
              <a:t>, </a:t>
            </a:r>
            <a:r>
              <a:rPr lang="zh-CN" altLang="zh-CN"/>
              <a:t>姓名</a:t>
            </a:r>
            <a:endParaRPr lang="zh-CN" altLang="zh-CN"/>
          </a:p>
          <a:p>
            <a:pPr eaLnBrk="1" hangingPunct="1"/>
            <a:r>
              <a:rPr lang="en-US" altLang="zh-CN"/>
              <a:t>        FROM dbo.xsb</a:t>
            </a:r>
            <a:endParaRPr lang="zh-CN" altLang="zh-CN"/>
          </a:p>
          <a:p>
            <a:pPr eaLnBrk="1" hangingPunct="1"/>
            <a:r>
              <a:rPr lang="en-US" altLang="zh-CN"/>
              <a:t>GO</a:t>
            </a:r>
            <a:endParaRPr lang="zh-CN" altLang="zh-CN"/>
          </a:p>
          <a:p>
            <a:pPr eaLnBrk="1" hangingPunct="1"/>
            <a:r>
              <a:rPr lang="en-US" altLang="zh-CN"/>
              <a:t>/*</a:t>
            </a:r>
            <a:r>
              <a:rPr lang="zh-CN" altLang="zh-CN"/>
              <a:t>在视图上创建索引</a:t>
            </a:r>
            <a:r>
              <a:rPr lang="en-US" altLang="zh-CN"/>
              <a:t>*/</a:t>
            </a:r>
            <a:endParaRPr lang="zh-CN" altLang="zh-CN"/>
          </a:p>
          <a:p>
            <a:pPr eaLnBrk="1" hangingPunct="1"/>
            <a:r>
              <a:rPr lang="en-US" altLang="zh-CN"/>
              <a:t>CREATE UNIQUE CLUSTERED INDEX inx1 </a:t>
            </a:r>
            <a:endParaRPr lang="zh-CN" altLang="zh-CN"/>
          </a:p>
          <a:p>
            <a:pPr eaLnBrk="1" hangingPunct="1"/>
            <a:r>
              <a:rPr lang="en-US" altLang="zh-CN"/>
              <a:t>    ON view_stu(</a:t>
            </a:r>
            <a:r>
              <a:rPr lang="zh-CN" altLang="zh-CN"/>
              <a:t>学号</a:t>
            </a:r>
            <a:r>
              <a:rPr lang="en-US" altLang="zh-CN"/>
              <a:t>)</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circl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27088" y="5013325"/>
            <a:ext cx="792162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827088" y="3933825"/>
            <a:ext cx="7921625" cy="7905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2276475"/>
            <a:ext cx="7921625"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6.1.3  </a:t>
            </a:r>
            <a:r>
              <a:rPr lang="zh-CN" altLang="zh-CN" dirty="0">
                <a:effectLst/>
              </a:rPr>
              <a:t>重建索引：</a:t>
            </a:r>
            <a:r>
              <a:rPr lang="en-US" altLang="zh-CN" dirty="0">
                <a:effectLst/>
              </a:rPr>
              <a:t>ALTER INDEX</a:t>
            </a:r>
            <a:endParaRPr lang="zh-CN" altLang="zh-CN" dirty="0">
              <a:effectLst/>
            </a:endParaRPr>
          </a:p>
        </p:txBody>
      </p:sp>
      <p:sp>
        <p:nvSpPr>
          <p:cNvPr id="19462" name="TextBox 2"/>
          <p:cNvSpPr txBox="1">
            <a:spLocks noChangeArrowheads="1"/>
          </p:cNvSpPr>
          <p:nvPr/>
        </p:nvSpPr>
        <p:spPr bwMode="auto">
          <a:xfrm>
            <a:off x="468313" y="1412875"/>
            <a:ext cx="820737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索引使用一段时间后，可能需要重新创建，这时可以使用</a:t>
            </a:r>
            <a:r>
              <a:rPr lang="en-US" altLang="zh-CN"/>
              <a:t>ALTER INDEX</a:t>
            </a:r>
            <a:r>
              <a:rPr lang="zh-CN" altLang="zh-CN"/>
              <a:t>语句来重新生成原来的索引。</a:t>
            </a:r>
            <a:endParaRPr lang="zh-CN" altLang="zh-CN"/>
          </a:p>
          <a:p>
            <a:pPr eaLnBrk="1" fontAlgn="ctr" hangingPunct="1"/>
            <a:r>
              <a:rPr lang="zh-CN" altLang="zh-CN"/>
              <a:t>语法格式：</a:t>
            </a:r>
            <a:endParaRPr lang="zh-CN" altLang="zh-CN"/>
          </a:p>
          <a:p>
            <a:pPr eaLnBrk="1" hangingPunct="1"/>
            <a:r>
              <a:rPr lang="en-US" altLang="zh-CN"/>
              <a:t>ALTER INDEX { </a:t>
            </a:r>
            <a:r>
              <a:rPr lang="zh-CN" altLang="zh-CN"/>
              <a:t>索引名</a:t>
            </a:r>
            <a:r>
              <a:rPr lang="en-US" altLang="zh-CN"/>
              <a:t> | ALL }</a:t>
            </a:r>
            <a:endParaRPr lang="zh-CN" altLang="zh-CN"/>
          </a:p>
          <a:p>
            <a:pPr eaLnBrk="1" hangingPunct="1"/>
            <a:r>
              <a:rPr lang="en-US" altLang="zh-CN"/>
              <a:t>     ON  </a:t>
            </a:r>
            <a:r>
              <a:rPr lang="zh-CN" altLang="zh-CN"/>
              <a:t>表或视图名</a:t>
            </a:r>
            <a:endParaRPr lang="zh-CN" altLang="zh-CN"/>
          </a:p>
          <a:p>
            <a:pPr eaLnBrk="1" hangingPunct="1"/>
            <a:r>
              <a:rPr lang="en-US" altLang="zh-CN"/>
              <a:t>     {  REBUILD</a:t>
            </a:r>
            <a:endParaRPr lang="zh-CN" altLang="zh-CN"/>
          </a:p>
          <a:p>
            <a:pPr eaLnBrk="1" hangingPunct="1"/>
            <a:r>
              <a:rPr lang="en-US" altLang="zh-CN"/>
              <a:t>     ……</a:t>
            </a:r>
            <a:endParaRPr lang="zh-CN" altLang="zh-CN"/>
          </a:p>
          <a:p>
            <a:pPr eaLnBrk="1" hangingPunct="1"/>
            <a:r>
              <a:rPr lang="en-US" altLang="zh-CN"/>
              <a:t>     }</a:t>
            </a:r>
            <a:endParaRPr lang="zh-CN" altLang="zh-CN"/>
          </a:p>
          <a:p>
            <a:pPr eaLnBrk="1" fontAlgn="ctr" hangingPunct="1"/>
            <a:r>
              <a:rPr lang="zh-CN" altLang="zh-CN"/>
              <a:t>例如，重建</a:t>
            </a:r>
            <a:r>
              <a:rPr lang="en-US" altLang="zh-CN"/>
              <a:t>kcb</a:t>
            </a:r>
            <a:r>
              <a:rPr lang="zh-CN" altLang="zh-CN"/>
              <a:t>表上的所有索引：</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ALTER INDEX ALL ON kcb REBUILD</a:t>
            </a:r>
            <a:endParaRPr lang="zh-CN" altLang="zh-CN"/>
          </a:p>
          <a:p>
            <a:pPr eaLnBrk="1" fontAlgn="ctr" hangingPunct="1"/>
            <a:r>
              <a:rPr lang="zh-CN" altLang="zh-CN"/>
              <a:t>重建</a:t>
            </a:r>
            <a:r>
              <a:rPr lang="en-US" altLang="zh-CN"/>
              <a:t>kcb</a:t>
            </a:r>
            <a:r>
              <a:rPr lang="zh-CN" altLang="zh-CN"/>
              <a:t>表上的</a:t>
            </a:r>
            <a:r>
              <a:rPr lang="en-US" altLang="zh-CN"/>
              <a:t>kc_name</a:t>
            </a:r>
            <a:r>
              <a:rPr lang="zh-CN" altLang="zh-CN"/>
              <a:t>索引：</a:t>
            </a:r>
            <a:endParaRPr lang="zh-CN" altLang="zh-CN"/>
          </a:p>
          <a:p>
            <a:pPr eaLnBrk="1" hangingPunct="1"/>
            <a:r>
              <a:rPr lang="en-US" altLang="zh-CN"/>
              <a:t>ALTER INDEX kc_name  ON kcb REBUILD</a:t>
            </a:r>
            <a:endParaRPr lang="zh-CN" altLang="zh-CN"/>
          </a:p>
          <a:p>
            <a:pPr eaLnBrk="1" hangingPunct="1"/>
            <a:endParaRPr lang="zh-CN" altLang="en-US"/>
          </a:p>
        </p:txBody>
      </p:sp>
    </p:spTree>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17575" y="4508500"/>
            <a:ext cx="7848600" cy="504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3397250"/>
            <a:ext cx="7848600" cy="7524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6.1.4  </a:t>
            </a:r>
            <a:r>
              <a:rPr lang="zh-CN" altLang="zh-CN" dirty="0">
                <a:effectLst/>
              </a:rPr>
              <a:t>索引的删除：</a:t>
            </a:r>
            <a:r>
              <a:rPr lang="en-US" altLang="zh-CN" dirty="0">
                <a:effectLst/>
              </a:rPr>
              <a:t>DROP INDEX</a:t>
            </a:r>
            <a:endParaRPr lang="zh-CN" altLang="zh-CN" dirty="0">
              <a:effectLst/>
            </a:endParaRPr>
          </a:p>
        </p:txBody>
      </p:sp>
      <p:sp>
        <p:nvSpPr>
          <p:cNvPr id="20485" name="TextBox 2"/>
          <p:cNvSpPr txBox="1">
            <a:spLocks noChangeArrowheads="1"/>
          </p:cNvSpPr>
          <p:nvPr/>
        </p:nvSpPr>
        <p:spPr bwMode="auto">
          <a:xfrm>
            <a:off x="468313" y="1412875"/>
            <a:ext cx="82804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．通过图形界面方式删除索引</a:t>
            </a:r>
            <a:endParaRPr lang="zh-CN" altLang="zh-CN" b="1">
              <a:solidFill>
                <a:srgbClr val="C00000"/>
              </a:solidFill>
            </a:endParaRPr>
          </a:p>
          <a:p>
            <a:pPr eaLnBrk="1" fontAlgn="ctr" hangingPunct="1"/>
            <a:r>
              <a:rPr lang="zh-CN" altLang="zh-CN"/>
              <a:t>在“对象资源管理器”中展开数据库“</a:t>
            </a:r>
            <a:r>
              <a:rPr lang="en-US" altLang="zh-CN"/>
              <a:t>pxscj</a:t>
            </a:r>
            <a:r>
              <a:rPr lang="zh-CN" altLang="zh-CN"/>
              <a:t>”→“表”→“</a:t>
            </a:r>
            <a:r>
              <a:rPr lang="en-US" altLang="zh-CN"/>
              <a:t>dbo.xsb</a:t>
            </a:r>
            <a:r>
              <a:rPr lang="zh-CN" altLang="zh-CN"/>
              <a:t>”→“索引”，选择其中要删除的索引，单击鼠标右键，在弹出的快捷菜单上选择“删除”菜单项。在打开的“删除对象”窗口中单击“确定”按钮即可完成删除操作。</a:t>
            </a:r>
            <a:endParaRPr lang="zh-CN" altLang="zh-CN"/>
          </a:p>
          <a:p>
            <a:pPr eaLnBrk="1" hangingPunct="1"/>
            <a:r>
              <a:rPr lang="en-US" altLang="zh-CN" b="1">
                <a:solidFill>
                  <a:srgbClr val="C00000"/>
                </a:solidFill>
              </a:rPr>
              <a:t>2</a:t>
            </a:r>
            <a:r>
              <a:rPr lang="zh-CN" altLang="zh-CN" b="1">
                <a:solidFill>
                  <a:srgbClr val="C00000"/>
                </a:solidFill>
              </a:rPr>
              <a:t>．通过执行</a:t>
            </a:r>
            <a:r>
              <a:rPr lang="en-US" altLang="zh-CN" b="1">
                <a:solidFill>
                  <a:srgbClr val="C00000"/>
                </a:solidFill>
              </a:rPr>
              <a:t>SQL</a:t>
            </a:r>
            <a:r>
              <a:rPr lang="zh-CN" altLang="zh-CN" b="1">
                <a:solidFill>
                  <a:srgbClr val="C00000"/>
                </a:solidFill>
              </a:rPr>
              <a:t>命令删除索引</a:t>
            </a:r>
            <a:endParaRPr lang="zh-CN" altLang="zh-CN" b="1">
              <a:solidFill>
                <a:srgbClr val="C00000"/>
              </a:solidFill>
            </a:endParaRPr>
          </a:p>
          <a:p>
            <a:pPr eaLnBrk="1" fontAlgn="ctr" hangingPunct="1"/>
            <a:r>
              <a:rPr lang="zh-CN" altLang="zh-CN"/>
              <a:t>从当前数据库中删除一个或多个索引。</a:t>
            </a:r>
            <a:endParaRPr lang="zh-CN" altLang="zh-CN"/>
          </a:p>
          <a:p>
            <a:pPr eaLnBrk="1" fontAlgn="ctr" hangingPunct="1"/>
            <a:r>
              <a:rPr lang="zh-CN" altLang="zh-CN"/>
              <a:t>语法格式：</a:t>
            </a:r>
            <a:endParaRPr lang="zh-CN" altLang="zh-CN"/>
          </a:p>
          <a:p>
            <a:pPr eaLnBrk="1" hangingPunct="1"/>
            <a:r>
              <a:rPr lang="en-US" altLang="zh-CN"/>
              <a:t>DROP INDEX</a:t>
            </a:r>
            <a:r>
              <a:rPr lang="zh-CN" altLang="zh-CN"/>
              <a:t>索引名 </a:t>
            </a:r>
            <a:endParaRPr lang="zh-CN" altLang="zh-CN"/>
          </a:p>
          <a:p>
            <a:pPr eaLnBrk="1" hangingPunct="1"/>
            <a:r>
              <a:rPr lang="en-US" altLang="zh-CN"/>
              <a:t>     ON </a:t>
            </a:r>
            <a:r>
              <a:rPr lang="zh-CN" altLang="zh-CN"/>
              <a:t>表或视图名 </a:t>
            </a:r>
            <a:endParaRPr lang="zh-CN" altLang="zh-CN"/>
          </a:p>
          <a:p>
            <a:pPr eaLnBrk="1" hangingPunct="1"/>
            <a:r>
              <a:rPr lang="en-US" altLang="zh-CN"/>
              <a:t>     ……</a:t>
            </a:r>
            <a:endParaRPr lang="zh-CN" altLang="zh-CN"/>
          </a:p>
          <a:p>
            <a:pPr eaLnBrk="1" fontAlgn="ctr" hangingPunct="1"/>
            <a:r>
              <a:rPr lang="zh-CN" altLang="zh-CN"/>
              <a:t>【例</a:t>
            </a:r>
            <a:r>
              <a:rPr lang="en-US" altLang="zh-CN"/>
              <a:t>6.5</a:t>
            </a:r>
            <a:r>
              <a:rPr lang="zh-CN" altLang="zh-CN"/>
              <a:t>】 删除</a:t>
            </a:r>
            <a:r>
              <a:rPr lang="en-US" altLang="zh-CN"/>
              <a:t>pxscj</a:t>
            </a:r>
            <a:r>
              <a:rPr lang="zh-CN" altLang="zh-CN"/>
              <a:t>数据库中表</a:t>
            </a:r>
            <a:r>
              <a:rPr lang="en-US" altLang="zh-CN"/>
              <a:t>kcb</a:t>
            </a:r>
            <a:r>
              <a:rPr lang="zh-CN" altLang="zh-CN"/>
              <a:t>的一个索引名为</a:t>
            </a:r>
            <a:r>
              <a:rPr lang="en-US" altLang="zh-CN"/>
              <a:t>kc_name</a:t>
            </a:r>
            <a:r>
              <a:rPr lang="zh-CN" altLang="zh-CN"/>
              <a:t>的索引。</a:t>
            </a:r>
            <a:endParaRPr lang="zh-CN" altLang="zh-CN"/>
          </a:p>
          <a:p>
            <a:pPr eaLnBrk="1" hangingPunct="1"/>
            <a:r>
              <a:rPr lang="en-US" altLang="zh-CN"/>
              <a:t>IF EXISTS (SELECT name FROM sysindexes WHERE name = 'kc_name')</a:t>
            </a:r>
            <a:endParaRPr lang="zh-CN" altLang="zh-CN"/>
          </a:p>
          <a:p>
            <a:pPr eaLnBrk="1" hangingPunct="1"/>
            <a:r>
              <a:rPr lang="en-US" altLang="zh-CN"/>
              <a:t>    DROP INDEX kcb.kc_name</a:t>
            </a:r>
            <a:endParaRPr lang="zh-CN" altLang="zh-CN"/>
          </a:p>
          <a:p>
            <a:pPr eaLnBrk="1" hangingPunct="1"/>
            <a:endParaRPr lang="zh-CN" altLang="en-US"/>
          </a:p>
        </p:txBody>
      </p:sp>
    </p:spTree>
  </p:cSld>
  <p:clrMapOvr>
    <a:masterClrMapping/>
  </p:clrMapOvr>
  <p:transition spd="slow">
    <p:circl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6.2  </a:t>
            </a:r>
            <a:r>
              <a:rPr lang="zh-CN" altLang="zh-CN" dirty="0">
                <a:effectLst/>
              </a:rPr>
              <a:t>数据完整性</a:t>
            </a:r>
            <a:endParaRPr lang="zh-CN" altLang="zh-CN" dirty="0">
              <a:effectLst/>
            </a:endParaRPr>
          </a:p>
        </p:txBody>
      </p:sp>
      <p:sp>
        <p:nvSpPr>
          <p:cNvPr id="21507" name="TextBox 2"/>
          <p:cNvSpPr txBox="1">
            <a:spLocks noChangeArrowheads="1"/>
          </p:cNvSpPr>
          <p:nvPr/>
        </p:nvSpPr>
        <p:spPr bwMode="auto">
          <a:xfrm>
            <a:off x="468313" y="1412875"/>
            <a:ext cx="820737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．实体完整性</a:t>
            </a:r>
            <a:endParaRPr lang="zh-CN" altLang="zh-CN" b="1">
              <a:solidFill>
                <a:srgbClr val="C00000"/>
              </a:solidFill>
            </a:endParaRPr>
          </a:p>
          <a:p>
            <a:pPr eaLnBrk="1" fontAlgn="ctr" hangingPunct="1"/>
            <a:r>
              <a:rPr lang="zh-CN" altLang="zh-CN" b="1"/>
              <a:t>（</a:t>
            </a:r>
            <a:r>
              <a:rPr lang="en-US" altLang="zh-CN" b="1"/>
              <a:t>1</a:t>
            </a:r>
            <a:r>
              <a:rPr lang="zh-CN" altLang="zh-CN" b="1"/>
              <a:t>）</a:t>
            </a:r>
            <a:r>
              <a:rPr lang="en-US" altLang="zh-CN" b="1"/>
              <a:t>PRIMARY KEY</a:t>
            </a:r>
            <a:r>
              <a:rPr lang="zh-CN" altLang="zh-CN" b="1"/>
              <a:t>约束</a:t>
            </a:r>
            <a:endParaRPr lang="zh-CN" altLang="zh-CN" b="1"/>
          </a:p>
          <a:p>
            <a:pPr eaLnBrk="1" fontAlgn="ctr" hangingPunct="1"/>
            <a:r>
              <a:rPr lang="zh-CN" altLang="zh-CN"/>
              <a:t>表中应有一个列或列的组合，其值能唯一地标识表中的每一行，选择这样的一列或多列作为主键，可实现表的实体完整性。通过定义</a:t>
            </a:r>
            <a:r>
              <a:rPr lang="en-US" altLang="zh-CN"/>
              <a:t>PRIMARY KEY</a:t>
            </a:r>
            <a:r>
              <a:rPr lang="zh-CN" altLang="zh-CN"/>
              <a:t>约束来创建主键。</a:t>
            </a:r>
            <a:endParaRPr lang="zh-CN" altLang="zh-CN"/>
          </a:p>
          <a:p>
            <a:pPr eaLnBrk="1" fontAlgn="ctr" hangingPunct="1"/>
            <a:r>
              <a:rPr lang="zh-CN" altLang="zh-CN"/>
              <a:t>一个表只能有一个</a:t>
            </a:r>
            <a:r>
              <a:rPr lang="en-US" altLang="zh-CN"/>
              <a:t>PRIMARY KEY</a:t>
            </a:r>
            <a:r>
              <a:rPr lang="zh-CN" altLang="zh-CN"/>
              <a:t>约束，而且</a:t>
            </a:r>
            <a:r>
              <a:rPr lang="en-US" altLang="zh-CN"/>
              <a:t>PRIMARY KEY</a:t>
            </a:r>
            <a:r>
              <a:rPr lang="zh-CN" altLang="zh-CN"/>
              <a:t>约束中的列不能取空值。由于</a:t>
            </a:r>
            <a:r>
              <a:rPr lang="en-US" altLang="zh-CN"/>
              <a:t>PRIMARY KEY</a:t>
            </a:r>
            <a:r>
              <a:rPr lang="zh-CN" altLang="zh-CN"/>
              <a:t>约束能确保数据的唯一，所以经常用来定义标识列。当为表定义</a:t>
            </a:r>
            <a:r>
              <a:rPr lang="en-US" altLang="zh-CN"/>
              <a:t>PRIMARY KEY</a:t>
            </a:r>
            <a:r>
              <a:rPr lang="zh-CN" altLang="zh-CN"/>
              <a:t>约束时，</a:t>
            </a:r>
            <a:r>
              <a:rPr lang="en-US" altLang="zh-CN"/>
              <a:t>SQL Server 2012</a:t>
            </a:r>
            <a:r>
              <a:rPr lang="zh-CN" altLang="zh-CN"/>
              <a:t>为主键列创建唯一索引，实现数据的唯一性。在查询中使用主键时，该索引可用来对数据进行快速访问。</a:t>
            </a:r>
            <a:endParaRPr lang="zh-CN" altLang="zh-CN"/>
          </a:p>
          <a:p>
            <a:pPr eaLnBrk="1" fontAlgn="ctr" hangingPunct="1"/>
            <a:r>
              <a:rPr lang="zh-CN" altLang="zh-CN" b="1"/>
              <a:t>（</a:t>
            </a:r>
            <a:r>
              <a:rPr lang="en-US" altLang="zh-CN" b="1"/>
              <a:t>2</a:t>
            </a:r>
            <a:r>
              <a:rPr lang="zh-CN" altLang="zh-CN" b="1"/>
              <a:t>）</a:t>
            </a:r>
            <a:r>
              <a:rPr lang="en-US" altLang="zh-CN" b="1"/>
              <a:t>UNIQUE</a:t>
            </a:r>
            <a:r>
              <a:rPr lang="zh-CN" altLang="zh-CN" b="1"/>
              <a:t>约束</a:t>
            </a:r>
            <a:endParaRPr lang="zh-CN" altLang="zh-CN" b="1"/>
          </a:p>
          <a:p>
            <a:pPr eaLnBrk="1" fontAlgn="ctr" hangingPunct="1"/>
            <a:r>
              <a:rPr lang="zh-CN" altLang="zh-CN"/>
              <a:t>如果要确保一个表中的非主键列不输入重复值，则应在该列上定义唯一约束（</a:t>
            </a:r>
            <a:r>
              <a:rPr lang="en-US" altLang="zh-CN"/>
              <a:t>UNIQUE</a:t>
            </a:r>
            <a:r>
              <a:rPr lang="zh-CN" altLang="zh-CN"/>
              <a:t>约束）。例如，对于</a:t>
            </a:r>
            <a:r>
              <a:rPr lang="en-US" altLang="zh-CN"/>
              <a:t>pxscj</a:t>
            </a:r>
            <a:r>
              <a:rPr lang="zh-CN" altLang="zh-CN"/>
              <a:t>数据库中的</a:t>
            </a:r>
            <a:r>
              <a:rPr lang="en-US" altLang="zh-CN"/>
              <a:t>xsb</a:t>
            </a:r>
            <a:r>
              <a:rPr lang="zh-CN" altLang="zh-CN"/>
              <a:t>表，“学号”列是主键，在</a:t>
            </a:r>
            <a:r>
              <a:rPr lang="en-US" altLang="zh-CN"/>
              <a:t>xsb</a:t>
            </a:r>
            <a:r>
              <a:rPr lang="zh-CN" altLang="zh-CN"/>
              <a:t>表中增加一列“身份证号码”，可以定义一个</a:t>
            </a:r>
            <a:r>
              <a:rPr lang="en-US" altLang="zh-CN"/>
              <a:t>UNIQUE</a:t>
            </a:r>
            <a:r>
              <a:rPr lang="zh-CN" altLang="zh-CN"/>
              <a:t>约束来要求表中“身份证号码”列的取值是唯一的。</a:t>
            </a:r>
            <a:endParaRPr lang="zh-CN" altLang="zh-CN"/>
          </a:p>
          <a:p>
            <a:pPr eaLnBrk="1" hangingPunct="1"/>
            <a:endParaRPr lang="zh-CN" altLang="en-US"/>
          </a:p>
        </p:txBody>
      </p:sp>
    </p:spTree>
  </p:cSld>
  <p:clrMapOvr>
    <a:masterClrMapping/>
  </p:clrMapOvr>
  <p:transition spd="slow">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6.2  </a:t>
            </a:r>
            <a:r>
              <a:rPr lang="zh-CN" altLang="zh-CN" dirty="0">
                <a:effectLst/>
              </a:rPr>
              <a:t>数据完整性</a:t>
            </a:r>
            <a:endParaRPr lang="zh-CN" altLang="en-US" dirty="0"/>
          </a:p>
        </p:txBody>
      </p:sp>
      <p:sp>
        <p:nvSpPr>
          <p:cNvPr id="22531" name="TextBox 2"/>
          <p:cNvSpPr txBox="1">
            <a:spLocks noChangeArrowheads="1"/>
          </p:cNvSpPr>
          <p:nvPr/>
        </p:nvSpPr>
        <p:spPr bwMode="auto">
          <a:xfrm>
            <a:off x="539750" y="1412875"/>
            <a:ext cx="8064500" cy="337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en-US" altLang="zh-CN"/>
              <a:t>PRIMARY KEY</a:t>
            </a:r>
            <a:r>
              <a:rPr lang="zh-CN" altLang="zh-CN"/>
              <a:t>约束与</a:t>
            </a:r>
            <a:r>
              <a:rPr lang="en-US" altLang="zh-CN"/>
              <a:t>UNIQUE</a:t>
            </a:r>
            <a:r>
              <a:rPr lang="zh-CN" altLang="zh-CN"/>
              <a:t>约束的主要区别如下。</a:t>
            </a:r>
            <a:endParaRPr lang="zh-CN" altLang="zh-CN"/>
          </a:p>
          <a:p>
            <a:pPr eaLnBrk="1" fontAlgn="ctr" hangingPunct="1">
              <a:lnSpc>
                <a:spcPct val="150000"/>
              </a:lnSpc>
            </a:pPr>
            <a:r>
              <a:rPr lang="zh-CN" altLang="zh-CN"/>
              <a:t>（</a:t>
            </a:r>
            <a:r>
              <a:rPr lang="en-US" altLang="zh-CN"/>
              <a:t>1</a:t>
            </a:r>
            <a:r>
              <a:rPr lang="zh-CN" altLang="zh-CN"/>
              <a:t>）一个数据表只能创建一个</a:t>
            </a:r>
            <a:r>
              <a:rPr lang="en-US" altLang="zh-CN"/>
              <a:t>PRIMARY KEY</a:t>
            </a:r>
            <a:r>
              <a:rPr lang="zh-CN" altLang="zh-CN"/>
              <a:t>约束，但一个表中可根据需要对表中不同的列创建若干个</a:t>
            </a:r>
            <a:r>
              <a:rPr lang="en-US" altLang="zh-CN"/>
              <a:t>UNIQUE</a:t>
            </a:r>
            <a:r>
              <a:rPr lang="zh-CN" altLang="zh-CN"/>
              <a:t>约束。</a:t>
            </a:r>
            <a:endParaRPr lang="zh-CN" altLang="zh-CN"/>
          </a:p>
          <a:p>
            <a:pPr eaLnBrk="1" fontAlgn="ctr" hangingPunct="1">
              <a:lnSpc>
                <a:spcPct val="150000"/>
              </a:lnSpc>
            </a:pPr>
            <a:r>
              <a:rPr lang="zh-CN" altLang="zh-CN"/>
              <a:t>（</a:t>
            </a:r>
            <a:r>
              <a:rPr lang="en-US" altLang="zh-CN"/>
              <a:t>2</a:t>
            </a:r>
            <a:r>
              <a:rPr lang="zh-CN" altLang="zh-CN"/>
              <a:t>）</a:t>
            </a:r>
            <a:r>
              <a:rPr lang="en-US" altLang="zh-CN"/>
              <a:t>PRIMARY KEY</a:t>
            </a:r>
            <a:r>
              <a:rPr lang="zh-CN" altLang="zh-CN"/>
              <a:t>字段的值不允许为</a:t>
            </a:r>
            <a:r>
              <a:rPr lang="en-US" altLang="zh-CN"/>
              <a:t>NULL</a:t>
            </a:r>
            <a:r>
              <a:rPr lang="zh-CN" altLang="zh-CN"/>
              <a:t>，而</a:t>
            </a:r>
            <a:r>
              <a:rPr lang="en-US" altLang="zh-CN"/>
              <a:t>UNIQUE</a:t>
            </a:r>
            <a:r>
              <a:rPr lang="zh-CN" altLang="zh-CN"/>
              <a:t>字段的值可取</a:t>
            </a:r>
            <a:r>
              <a:rPr lang="en-US" altLang="zh-CN"/>
              <a:t>NULL</a:t>
            </a:r>
            <a:r>
              <a:rPr lang="zh-CN" altLang="zh-CN"/>
              <a:t>。</a:t>
            </a:r>
            <a:endParaRPr lang="zh-CN" altLang="zh-CN"/>
          </a:p>
          <a:p>
            <a:pPr eaLnBrk="1" fontAlgn="ctr" hangingPunct="1">
              <a:lnSpc>
                <a:spcPct val="150000"/>
              </a:lnSpc>
            </a:pPr>
            <a:r>
              <a:rPr lang="zh-CN" altLang="zh-CN"/>
              <a:t>（</a:t>
            </a:r>
            <a:r>
              <a:rPr lang="en-US" altLang="zh-CN"/>
              <a:t>3</a:t>
            </a:r>
            <a:r>
              <a:rPr lang="zh-CN" altLang="zh-CN"/>
              <a:t>）一般创建</a:t>
            </a:r>
            <a:r>
              <a:rPr lang="en-US" altLang="zh-CN"/>
              <a:t>PRIMARY KEY</a:t>
            </a:r>
            <a:r>
              <a:rPr lang="zh-CN" altLang="zh-CN"/>
              <a:t>约束时，系统会自动产生索引，索引的默认类型为簇索引。创建</a:t>
            </a:r>
            <a:r>
              <a:rPr lang="en-US" altLang="zh-CN"/>
              <a:t>UNIQUE</a:t>
            </a:r>
            <a:r>
              <a:rPr lang="zh-CN" altLang="zh-CN"/>
              <a:t>约束时，系统会自动产生一个</a:t>
            </a:r>
            <a:r>
              <a:rPr lang="en-US" altLang="zh-CN"/>
              <a:t>UNIQUE</a:t>
            </a:r>
            <a:r>
              <a:rPr lang="zh-CN" altLang="zh-CN"/>
              <a:t>索引，索引的默认类型为非簇索引。</a:t>
            </a:r>
            <a:endParaRPr lang="zh-CN" altLang="zh-CN"/>
          </a:p>
          <a:p>
            <a:pPr eaLnBrk="1" hangingPunct="1">
              <a:lnSpc>
                <a:spcPct val="150000"/>
              </a:lnSpc>
            </a:pPr>
            <a:endParaRPr lang="zh-CN" altLang="en-US"/>
          </a:p>
        </p:txBody>
      </p:sp>
    </p:spTree>
  </p:cSld>
  <p:clrMapOvr>
    <a:masterClrMapping/>
  </p:clrMapOvr>
  <p:transition spd="slow">
    <p:circl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6.2  </a:t>
            </a:r>
            <a:r>
              <a:rPr lang="zh-CN" altLang="zh-CN" dirty="0">
                <a:effectLst/>
              </a:rPr>
              <a:t>数据完整性</a:t>
            </a:r>
            <a:endParaRPr lang="zh-CN" altLang="en-US" dirty="0"/>
          </a:p>
        </p:txBody>
      </p:sp>
      <p:sp>
        <p:nvSpPr>
          <p:cNvPr id="23555" name="TextBox 2"/>
          <p:cNvSpPr txBox="1">
            <a:spLocks noChangeArrowheads="1"/>
          </p:cNvSpPr>
          <p:nvPr/>
        </p:nvSpPr>
        <p:spPr bwMode="auto">
          <a:xfrm>
            <a:off x="468313" y="1412875"/>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．域完整性</a:t>
            </a:r>
            <a:endParaRPr lang="zh-CN" altLang="zh-CN" b="1">
              <a:solidFill>
                <a:srgbClr val="C00000"/>
              </a:solidFill>
            </a:endParaRPr>
          </a:p>
          <a:p>
            <a:pPr eaLnBrk="1" fontAlgn="ctr" hangingPunct="1"/>
            <a:r>
              <a:rPr lang="zh-CN" altLang="zh-CN"/>
              <a:t>域完整性又称为列完整性，指给定列输入的有效性。实现域完整性的方法有：通过</a:t>
            </a:r>
            <a:r>
              <a:rPr lang="en-US" altLang="zh-CN"/>
              <a:t>CHECK</a:t>
            </a:r>
            <a:r>
              <a:rPr lang="zh-CN" altLang="zh-CN"/>
              <a:t>约束、数据类型、</a:t>
            </a:r>
            <a:r>
              <a:rPr lang="en-US" altLang="zh-CN"/>
              <a:t>DEFALUT</a:t>
            </a:r>
            <a:r>
              <a:rPr lang="zh-CN" altLang="zh-CN"/>
              <a:t>定义、</a:t>
            </a:r>
            <a:r>
              <a:rPr lang="en-US" altLang="zh-CN"/>
              <a:t>NOT NULL</a:t>
            </a:r>
            <a:r>
              <a:rPr lang="zh-CN" altLang="zh-CN"/>
              <a:t>定义和规则等。</a:t>
            </a:r>
            <a:endParaRPr lang="zh-CN" altLang="zh-CN"/>
          </a:p>
          <a:p>
            <a:pPr eaLnBrk="1" fontAlgn="ctr" hangingPunct="1"/>
            <a:r>
              <a:rPr lang="en-US" altLang="zh-CN"/>
              <a:t>CHECK</a:t>
            </a:r>
            <a:r>
              <a:rPr lang="zh-CN" altLang="zh-CN"/>
              <a:t>约束通过输入到列中的值来实现域完整性；</a:t>
            </a:r>
            <a:r>
              <a:rPr lang="en-US" altLang="zh-CN"/>
              <a:t>DEFAULT</a:t>
            </a:r>
            <a:r>
              <a:rPr lang="zh-CN" altLang="zh-CN"/>
              <a:t>定义后，如果列中没有输入值，则填充默认值来实现域完整性；通过定义列为</a:t>
            </a:r>
            <a:r>
              <a:rPr lang="en-US" altLang="zh-CN"/>
              <a:t>NOT NULL</a:t>
            </a:r>
            <a:r>
              <a:rPr lang="zh-CN" altLang="zh-CN"/>
              <a:t>限制输入的值不能为空，也能实现域完整性。</a:t>
            </a:r>
            <a:endParaRPr lang="zh-CN" altLang="zh-CN"/>
          </a:p>
          <a:p>
            <a:pPr eaLnBrk="1" hangingPunct="1"/>
            <a:r>
              <a:rPr lang="en-US" altLang="zh-CN" b="1">
                <a:solidFill>
                  <a:srgbClr val="C00000"/>
                </a:solidFill>
              </a:rPr>
              <a:t>3</a:t>
            </a:r>
            <a:r>
              <a:rPr lang="zh-CN" altLang="zh-CN" b="1">
                <a:solidFill>
                  <a:srgbClr val="C00000"/>
                </a:solidFill>
              </a:rPr>
              <a:t>．参照完整性</a:t>
            </a:r>
            <a:endParaRPr lang="zh-CN" altLang="zh-CN" b="1">
              <a:solidFill>
                <a:srgbClr val="C00000"/>
              </a:solidFill>
            </a:endParaRPr>
          </a:p>
          <a:p>
            <a:pPr eaLnBrk="1" fontAlgn="ctr" hangingPunct="1"/>
            <a:r>
              <a:rPr lang="zh-CN" altLang="zh-CN"/>
              <a:t>码：即前面所说的关键字，又称为“键”，是能唯一标识表中记录的字段或字段组合。如果一个表有多个码，可选其中一个作为主键（主码），其余的称为候选键。</a:t>
            </a:r>
            <a:endParaRPr lang="zh-CN" altLang="zh-CN"/>
          </a:p>
          <a:p>
            <a:pPr eaLnBrk="1" fontAlgn="ctr" hangingPunct="1"/>
            <a:r>
              <a:rPr lang="zh-CN" altLang="zh-CN"/>
              <a:t>外码：如果一个表中的一个字段或若干个字段的组合是另一个表的码，则称该字段或字段组合为该表的外码（外键）。</a:t>
            </a:r>
            <a:endParaRPr lang="zh-CN" altLang="zh-CN"/>
          </a:p>
          <a:p>
            <a:pPr eaLnBrk="1" fontAlgn="ctr" hangingPunct="1"/>
            <a:r>
              <a:rPr lang="zh-CN" altLang="zh-CN"/>
              <a:t>例如，对于</a:t>
            </a:r>
            <a:r>
              <a:rPr lang="en-US" altLang="zh-CN"/>
              <a:t>pxscj</a:t>
            </a:r>
            <a:r>
              <a:rPr lang="zh-CN" altLang="zh-CN"/>
              <a:t>数据库中</a:t>
            </a:r>
            <a:r>
              <a:rPr lang="en-US" altLang="zh-CN"/>
              <a:t>xsb</a:t>
            </a:r>
            <a:r>
              <a:rPr lang="zh-CN" altLang="zh-CN"/>
              <a:t>表的每一个学号，在</a:t>
            </a:r>
            <a:r>
              <a:rPr lang="en-US" altLang="zh-CN"/>
              <a:t>cjb</a:t>
            </a:r>
            <a:r>
              <a:rPr lang="zh-CN" altLang="zh-CN"/>
              <a:t>表中都有相关的课程成绩记录，将</a:t>
            </a:r>
            <a:r>
              <a:rPr lang="en-US" altLang="zh-CN"/>
              <a:t>xsb</a:t>
            </a:r>
            <a:r>
              <a:rPr lang="zh-CN" altLang="zh-CN"/>
              <a:t>作为主表，“学号”字段定义为主键，</a:t>
            </a:r>
            <a:r>
              <a:rPr lang="en-US" altLang="zh-CN"/>
              <a:t>cjb</a:t>
            </a:r>
            <a:r>
              <a:rPr lang="zh-CN" altLang="zh-CN"/>
              <a:t>作为从表，表中的“学号”字段定义为外键，从而建立主表和从表之间的联系，实现参照完整性。</a:t>
            </a:r>
            <a:endParaRPr lang="zh-CN" altLang="zh-CN"/>
          </a:p>
          <a:p>
            <a:pPr eaLnBrk="1" hangingPunct="1"/>
            <a:endParaRPr lang="zh-CN" altLang="en-US"/>
          </a:p>
        </p:txBody>
      </p:sp>
    </p:spTree>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zh-CN" dirty="0">
              <a:effectLst/>
            </a:endParaRPr>
          </a:p>
        </p:txBody>
      </p:sp>
      <p:sp>
        <p:nvSpPr>
          <p:cNvPr id="24579" name="TextBox 2"/>
          <p:cNvSpPr txBox="1">
            <a:spLocks noChangeArrowheads="1"/>
          </p:cNvSpPr>
          <p:nvPr/>
        </p:nvSpPr>
        <p:spPr bwMode="auto">
          <a:xfrm>
            <a:off x="468313" y="1484313"/>
            <a:ext cx="8280400" cy="378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．界面方式创建和删除主键约束</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）创建主键约束</a:t>
            </a:r>
            <a:endParaRPr lang="zh-CN" altLang="zh-CN"/>
          </a:p>
          <a:p>
            <a:pPr eaLnBrk="1" fontAlgn="ctr" hangingPunct="1">
              <a:lnSpc>
                <a:spcPct val="150000"/>
              </a:lnSpc>
            </a:pPr>
            <a:r>
              <a:rPr lang="zh-CN" altLang="zh-CN"/>
              <a:t>对表建立</a:t>
            </a:r>
            <a:r>
              <a:rPr lang="en-US" altLang="zh-CN"/>
              <a:t>PRIMARY KEY</a:t>
            </a:r>
            <a:r>
              <a:rPr lang="zh-CN" altLang="zh-CN"/>
              <a:t>约束创建主键索引，以“</a:t>
            </a:r>
            <a:r>
              <a:rPr lang="en-US" altLang="zh-CN"/>
              <a:t>PK_</a:t>
            </a:r>
            <a:r>
              <a:rPr lang="zh-CN" altLang="zh-CN"/>
              <a:t>”为前缀，后跟表名命名，系统自动按聚集索引方式组织主键索引。</a:t>
            </a:r>
            <a:endParaRPr lang="zh-CN" altLang="zh-CN"/>
          </a:p>
          <a:p>
            <a:pPr eaLnBrk="1" fontAlgn="ctr" hangingPunct="1">
              <a:lnSpc>
                <a:spcPct val="150000"/>
              </a:lnSpc>
            </a:pPr>
            <a:r>
              <a:rPr lang="zh-CN" altLang="zh-CN"/>
              <a:t>（</a:t>
            </a:r>
            <a:r>
              <a:rPr lang="en-US" altLang="zh-CN"/>
              <a:t>2</a:t>
            </a:r>
            <a:r>
              <a:rPr lang="zh-CN" altLang="zh-CN"/>
              <a:t>）删除主键约束</a:t>
            </a:r>
            <a:endParaRPr lang="zh-CN" altLang="zh-CN"/>
          </a:p>
          <a:p>
            <a:pPr eaLnBrk="1" fontAlgn="ctr" hangingPunct="1">
              <a:lnSpc>
                <a:spcPct val="150000"/>
              </a:lnSpc>
            </a:pPr>
            <a:r>
              <a:rPr lang="zh-CN" altLang="zh-CN"/>
              <a:t>在“对象资源管理器”中选择表，右键单击鼠标，在弹出的快捷菜单中选择“设计”菜单项，进入“表设计器”窗口。选中主键所对应的行，右键单击鼠标，在弹出的快捷菜单中选择“删除主键”菜单项即可。</a:t>
            </a:r>
            <a:endParaRPr lang="zh-CN" altLang="zh-CN"/>
          </a:p>
          <a:p>
            <a:pPr eaLnBrk="1" hangingPunct="1">
              <a:lnSpc>
                <a:spcPct val="150000"/>
              </a:lnSpc>
            </a:pPr>
            <a:endParaRPr lang="zh-CN" altLang="en-US"/>
          </a:p>
        </p:txBody>
      </p:sp>
    </p:spTree>
  </p:cSld>
  <p:clrMapOvr>
    <a:masterClrMapping/>
  </p:clrMapOvr>
  <p:transition spd="slow">
    <p:circl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25603" name="TextBox 2"/>
          <p:cNvSpPr txBox="1">
            <a:spLocks noChangeArrowheads="1"/>
          </p:cNvSpPr>
          <p:nvPr/>
        </p:nvSpPr>
        <p:spPr bwMode="auto">
          <a:xfrm>
            <a:off x="468313" y="1412875"/>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．界面方式创建和删除唯一性约束</a:t>
            </a:r>
            <a:endParaRPr lang="zh-CN" altLang="zh-CN" b="1">
              <a:solidFill>
                <a:srgbClr val="C00000"/>
              </a:solidFill>
            </a:endParaRPr>
          </a:p>
          <a:p>
            <a:pPr eaLnBrk="1" fontAlgn="ctr" hangingPunct="1"/>
            <a:r>
              <a:rPr lang="zh-CN" altLang="zh-CN"/>
              <a:t>（</a:t>
            </a:r>
            <a:r>
              <a:rPr lang="en-US" altLang="zh-CN"/>
              <a:t>1</a:t>
            </a:r>
            <a:r>
              <a:rPr lang="zh-CN" altLang="zh-CN"/>
              <a:t>）创建唯一性约束</a:t>
            </a:r>
            <a:endParaRPr lang="zh-CN" altLang="zh-CN"/>
          </a:p>
          <a:p>
            <a:pPr eaLnBrk="1" fontAlgn="ctr" hangingPunct="1"/>
            <a:r>
              <a:rPr lang="zh-CN" altLang="zh-CN"/>
              <a:t>在该对话框中单击“添加”按钮，并在右边的“标识”属性区域的“名称”一栏中输入唯一键的名称。在“常规”属性区域的“类型”一栏中选择唯一性列（课程名，排列升序），“是唯一的”选择“是”，如图</a:t>
            </a:r>
            <a:r>
              <a:rPr lang="en-US" altLang="zh-CN"/>
              <a:t>6.5</a:t>
            </a:r>
            <a:r>
              <a:rPr lang="zh-CN" altLang="zh-CN"/>
              <a:t>所示。</a:t>
            </a:r>
            <a:endParaRPr lang="zh-CN" altLang="zh-CN"/>
          </a:p>
          <a:p>
            <a:pPr eaLnBrk="1" fontAlgn="ctr" hangingPunct="1"/>
            <a:r>
              <a:rPr lang="zh-CN" altLang="zh-CN"/>
              <a:t>（</a:t>
            </a:r>
            <a:r>
              <a:rPr lang="en-US" altLang="zh-CN"/>
              <a:t>2</a:t>
            </a:r>
            <a:r>
              <a:rPr lang="zh-CN" altLang="zh-CN"/>
              <a:t>）删除唯一性约束</a:t>
            </a:r>
            <a:endParaRPr lang="zh-CN" altLang="zh-CN"/>
          </a:p>
          <a:p>
            <a:pPr eaLnBrk="1" fontAlgn="ctr" hangingPunct="1"/>
            <a:r>
              <a:rPr lang="zh-CN" altLang="zh-CN"/>
              <a:t>打开如图</a:t>
            </a:r>
            <a:r>
              <a:rPr lang="en-US" altLang="zh-CN"/>
              <a:t>6.5</a:t>
            </a:r>
            <a:r>
              <a:rPr lang="zh-CN" altLang="zh-CN"/>
              <a:t>所示的“索引</a:t>
            </a:r>
            <a:r>
              <a:rPr lang="en-US" altLang="zh-CN"/>
              <a:t>/</a:t>
            </a:r>
            <a:r>
              <a:rPr lang="zh-CN" altLang="zh-CN"/>
              <a:t>键”对话框，选择要删除的</a:t>
            </a:r>
            <a:r>
              <a:rPr lang="en-US" altLang="zh-CN"/>
              <a:t>UNIQUE</a:t>
            </a:r>
            <a:r>
              <a:rPr lang="zh-CN" altLang="zh-CN"/>
              <a:t>约束，单击左下方的“删除”按钮，单击“关闭”按钮，保存表的修改即可删除。</a:t>
            </a:r>
            <a:endParaRPr lang="zh-CN" altLang="zh-CN"/>
          </a:p>
          <a:p>
            <a:pPr eaLnBrk="1" hangingPunct="1"/>
            <a:endParaRPr lang="zh-CN" altLang="en-US"/>
          </a:p>
        </p:txBody>
      </p:sp>
      <p:pic>
        <p:nvPicPr>
          <p:cNvPr id="2560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413" y="3716338"/>
            <a:ext cx="4248150" cy="301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492375"/>
            <a:ext cx="7848600" cy="14414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26628" name="TextBox 2"/>
          <p:cNvSpPr txBox="1">
            <a:spLocks noChangeArrowheads="1"/>
          </p:cNvSpPr>
          <p:nvPr/>
        </p:nvSpPr>
        <p:spPr bwMode="auto">
          <a:xfrm>
            <a:off x="395288" y="1628775"/>
            <a:ext cx="82804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．命令方式创建及删除主键约束或唯一性约束</a:t>
            </a:r>
            <a:endParaRPr lang="zh-CN" altLang="zh-CN" b="1">
              <a:solidFill>
                <a:srgbClr val="C00000"/>
              </a:solidFill>
            </a:endParaRPr>
          </a:p>
          <a:p>
            <a:pPr eaLnBrk="1" fontAlgn="ctr" hangingPunct="1"/>
            <a:r>
              <a:rPr lang="zh-CN" altLang="zh-CN"/>
              <a:t>（</a:t>
            </a:r>
            <a:r>
              <a:rPr lang="en-US" altLang="zh-CN"/>
              <a:t>1</a:t>
            </a:r>
            <a:r>
              <a:rPr lang="zh-CN" altLang="zh-CN"/>
              <a:t>）在创建表的同时创建主键约束或唯一性约束</a:t>
            </a:r>
            <a:endParaRPr lang="zh-CN" altLang="zh-CN"/>
          </a:p>
          <a:p>
            <a:pPr eaLnBrk="1" fontAlgn="ctr" hangingPunct="1"/>
            <a:r>
              <a:rPr lang="zh-CN" altLang="zh-CN"/>
              <a:t>语法格式：</a:t>
            </a:r>
            <a:endParaRPr lang="zh-CN" altLang="zh-CN"/>
          </a:p>
          <a:p>
            <a:pPr eaLnBrk="1" hangingPunct="1"/>
            <a:r>
              <a:rPr lang="en-US" altLang="zh-CN"/>
              <a:t>CREATE TABLE</a:t>
            </a:r>
            <a:r>
              <a:rPr lang="zh-CN" altLang="zh-CN"/>
              <a:t>表名</a:t>
            </a:r>
            <a:endParaRPr lang="zh-CN" altLang="zh-CN"/>
          </a:p>
          <a:p>
            <a:pPr eaLnBrk="1" hangingPunct="1"/>
            <a:r>
              <a:rPr lang="en-US" altLang="zh-CN"/>
              <a:t>(</a:t>
            </a:r>
            <a:endParaRPr lang="zh-CN" altLang="zh-CN"/>
          </a:p>
          <a:p>
            <a:pPr eaLnBrk="1" hangingPunct="1"/>
            <a:r>
              <a:rPr lang="en-US" altLang="zh-CN"/>
              <a:t>    { &lt;</a:t>
            </a:r>
            <a:r>
              <a:rPr lang="zh-CN" altLang="zh-CN"/>
              <a:t>列定义</a:t>
            </a:r>
            <a:r>
              <a:rPr lang="en-US" altLang="zh-CN"/>
              <a:t>&gt; &lt;</a:t>
            </a:r>
            <a:r>
              <a:rPr lang="zh-CN" altLang="zh-CN"/>
              <a:t>列约束</a:t>
            </a:r>
            <a:r>
              <a:rPr lang="en-US" altLang="zh-CN"/>
              <a:t>&gt;}[, …]</a:t>
            </a:r>
            <a:endParaRPr lang="zh-CN" altLang="zh-CN"/>
          </a:p>
          <a:p>
            <a:pPr eaLnBrk="1" hangingPunct="1"/>
            <a:r>
              <a:rPr lang="en-US" altLang="zh-CN"/>
              <a:t>    [ &lt;</a:t>
            </a:r>
            <a:r>
              <a:rPr lang="zh-CN" altLang="zh-CN"/>
              <a:t>表约束</a:t>
            </a:r>
            <a:r>
              <a:rPr lang="en-US" altLang="zh-CN"/>
              <a:t>&gt; ] [ , ... ] </a:t>
            </a:r>
            <a:endParaRPr lang="zh-CN" altLang="zh-CN"/>
          </a:p>
          <a:p>
            <a:pPr eaLnBrk="1" hangingPunct="1"/>
            <a:r>
              <a:rPr lang="en-US" altLang="zh-CN"/>
              <a:t>)</a:t>
            </a:r>
            <a:endParaRPr lang="zh-CN" altLang="zh-CN"/>
          </a:p>
          <a:p>
            <a:pPr eaLnBrk="1" hangingPunct="1"/>
            <a:endParaRPr lang="zh-CN" altLang="en-US"/>
          </a:p>
        </p:txBody>
      </p:sp>
    </p:spTree>
  </p:cSld>
  <p:clrMapOvr>
    <a:masterClrMapping/>
  </p:clrMapOvr>
  <p:transition spd="slow">
    <p:circl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700213"/>
            <a:ext cx="7921625" cy="48244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27652" name="TextBox 2"/>
          <p:cNvSpPr txBox="1">
            <a:spLocks noChangeArrowheads="1"/>
          </p:cNvSpPr>
          <p:nvPr/>
        </p:nvSpPr>
        <p:spPr bwMode="auto">
          <a:xfrm>
            <a:off x="468313" y="1412875"/>
            <a:ext cx="82804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其中，</a:t>
            </a:r>
            <a:r>
              <a:rPr lang="en-US" altLang="zh-CN"/>
              <a:t>&lt;</a:t>
            </a:r>
            <a:r>
              <a:rPr lang="zh-CN" altLang="zh-CN"/>
              <a:t>列约束</a:t>
            </a:r>
            <a:r>
              <a:rPr lang="en-US" altLang="zh-CN"/>
              <a:t>&gt;</a:t>
            </a:r>
            <a:r>
              <a:rPr lang="zh-CN" altLang="zh-CN"/>
              <a:t>和</a:t>
            </a:r>
            <a:r>
              <a:rPr lang="en-US" altLang="zh-CN"/>
              <a:t>&lt;</a:t>
            </a:r>
            <a:r>
              <a:rPr lang="zh-CN" altLang="zh-CN"/>
              <a:t>表约束</a:t>
            </a:r>
            <a:r>
              <a:rPr lang="en-US" altLang="zh-CN"/>
              <a:t>&gt;</a:t>
            </a:r>
            <a:r>
              <a:rPr lang="zh-CN" altLang="zh-CN"/>
              <a:t>的具体格式如下：</a:t>
            </a:r>
            <a:endParaRPr lang="zh-CN" altLang="zh-CN"/>
          </a:p>
          <a:p>
            <a:pPr eaLnBrk="1" hangingPunct="1"/>
            <a:r>
              <a:rPr lang="en-US" altLang="zh-CN" sz="1400"/>
              <a:t>&lt;</a:t>
            </a:r>
            <a:r>
              <a:rPr lang="zh-CN" altLang="zh-CN" sz="1400"/>
              <a:t>列约束</a:t>
            </a:r>
            <a:r>
              <a:rPr lang="en-US" altLang="zh-CN" sz="1400"/>
              <a:t>&gt; ::=					/*</a:t>
            </a:r>
            <a:r>
              <a:rPr lang="zh-CN" altLang="zh-CN" sz="1400"/>
              <a:t>定义列的约束</a:t>
            </a:r>
            <a:r>
              <a:rPr lang="en-US" altLang="zh-CN" sz="1400"/>
              <a:t>*/</a:t>
            </a:r>
            <a:endParaRPr lang="zh-CN" altLang="zh-CN" sz="1400"/>
          </a:p>
          <a:p>
            <a:pPr eaLnBrk="1" hangingPunct="1"/>
            <a:r>
              <a:rPr lang="en-US" altLang="zh-CN" sz="1400"/>
              <a:t>[ CONSTRAINT</a:t>
            </a:r>
            <a:r>
              <a:rPr lang="zh-CN" altLang="zh-CN" sz="1400"/>
              <a:t>约束名</a:t>
            </a:r>
            <a:r>
              <a:rPr lang="en-US" altLang="zh-CN" sz="1400"/>
              <a:t>]</a:t>
            </a:r>
            <a:endParaRPr lang="zh-CN" altLang="zh-CN" sz="1400"/>
          </a:p>
          <a:p>
            <a:pPr eaLnBrk="1" hangingPunct="1"/>
            <a:r>
              <a:rPr lang="en-US" altLang="zh-CN" sz="1400"/>
              <a:t>{</a:t>
            </a:r>
            <a:endParaRPr lang="zh-CN" altLang="zh-CN" sz="1400"/>
          </a:p>
          <a:p>
            <a:pPr eaLnBrk="1" hangingPunct="1"/>
            <a:r>
              <a:rPr lang="en-US" altLang="zh-CN" sz="1400"/>
              <a:t>    { PRIMARY KEY | UNIQUE }				/*</a:t>
            </a:r>
            <a:r>
              <a:rPr lang="zh-CN" altLang="zh-CN" sz="1400"/>
              <a:t>定义主键与</a:t>
            </a:r>
            <a:r>
              <a:rPr lang="en-US" altLang="zh-CN" sz="1400"/>
              <a:t>UNIQUE</a:t>
            </a:r>
            <a:r>
              <a:rPr lang="zh-CN" altLang="zh-CN" sz="1400"/>
              <a:t>键</a:t>
            </a:r>
            <a:r>
              <a:rPr lang="en-US" altLang="zh-CN" sz="1400"/>
              <a:t>*/</a:t>
            </a:r>
            <a:endParaRPr lang="zh-CN" altLang="zh-CN" sz="1400"/>
          </a:p>
          <a:p>
            <a:pPr eaLnBrk="1" hangingPunct="1"/>
            <a:r>
              <a:rPr lang="en-US" altLang="zh-CN" sz="1400"/>
              <a:t>    [ CLUSTERED | NONCLUSTERED ] 			/*</a:t>
            </a:r>
            <a:r>
              <a:rPr lang="zh-CN" altLang="zh-CN" sz="1400"/>
              <a:t>定义约束的索引类型</a:t>
            </a:r>
            <a:r>
              <a:rPr lang="en-US" altLang="zh-CN" sz="1400"/>
              <a:t>*/</a:t>
            </a:r>
            <a:endParaRPr lang="zh-CN" altLang="zh-CN" sz="1400"/>
          </a:p>
          <a:p>
            <a:pPr eaLnBrk="1" hangingPunct="1"/>
            <a:r>
              <a:rPr lang="en-US" altLang="zh-CN" sz="1400"/>
              <a:t>    [WITH ( &lt;</a:t>
            </a:r>
            <a:r>
              <a:rPr lang="zh-CN" altLang="zh-CN" sz="1400"/>
              <a:t>索引选项</a:t>
            </a:r>
            <a:r>
              <a:rPr lang="en-US" altLang="zh-CN" sz="1400"/>
              <a:t>&gt; [ , ... ] ) ]</a:t>
            </a:r>
            <a:endParaRPr lang="zh-CN" altLang="zh-CN" sz="1400"/>
          </a:p>
          <a:p>
            <a:pPr eaLnBrk="1" hangingPunct="1"/>
            <a:r>
              <a:rPr lang="en-US" altLang="zh-CN" sz="1400"/>
              <a:t>    [ ON { </a:t>
            </a:r>
            <a:r>
              <a:rPr lang="zh-CN" altLang="zh-CN" sz="1400"/>
              <a:t>分区架构名</a:t>
            </a:r>
            <a:r>
              <a:rPr lang="en-US" altLang="zh-CN" sz="1400"/>
              <a:t> ( </a:t>
            </a:r>
            <a:r>
              <a:rPr lang="zh-CN" altLang="zh-CN" sz="1400"/>
              <a:t>分区列名</a:t>
            </a:r>
            <a:r>
              <a:rPr lang="en-US" altLang="zh-CN" sz="1400"/>
              <a:t> ) | </a:t>
            </a:r>
            <a:r>
              <a:rPr lang="zh-CN" altLang="zh-CN" sz="1400"/>
              <a:t>文件组</a:t>
            </a:r>
            <a:r>
              <a:rPr lang="en-US" altLang="zh-CN" sz="1400"/>
              <a:t> | "default" } ]</a:t>
            </a:r>
            <a:endParaRPr lang="zh-CN" altLang="zh-CN" sz="1400"/>
          </a:p>
          <a:p>
            <a:pPr eaLnBrk="1" hangingPunct="1"/>
            <a:r>
              <a:rPr lang="en-US" altLang="zh-CN" sz="1400"/>
              <a:t>    | [ FOREIGN KEY ] &lt;</a:t>
            </a:r>
            <a:r>
              <a:rPr lang="zh-CN" altLang="zh-CN" sz="1400"/>
              <a:t>参照定义</a:t>
            </a:r>
            <a:r>
              <a:rPr lang="en-US" altLang="zh-CN" sz="1400"/>
              <a:t>&gt;			/*</a:t>
            </a:r>
            <a:r>
              <a:rPr lang="zh-CN" altLang="zh-CN" sz="1400"/>
              <a:t>定义外键</a:t>
            </a:r>
            <a:r>
              <a:rPr lang="en-US" altLang="zh-CN" sz="1400"/>
              <a:t>*/</a:t>
            </a:r>
            <a:endParaRPr lang="zh-CN" altLang="zh-CN" sz="1400"/>
          </a:p>
          <a:p>
            <a:pPr eaLnBrk="1" hangingPunct="1"/>
            <a:r>
              <a:rPr lang="en-US" altLang="zh-CN" sz="1400"/>
              <a:t>    | CHECK [ NOT FOR REPLICATION ] ( </a:t>
            </a:r>
            <a:r>
              <a:rPr lang="zh-CN" altLang="zh-CN" sz="1400"/>
              <a:t>逻辑表达式</a:t>
            </a:r>
            <a:r>
              <a:rPr lang="en-US" altLang="zh-CN" sz="1400"/>
              <a:t> )		/*</a:t>
            </a:r>
            <a:r>
              <a:rPr lang="zh-CN" altLang="zh-CN" sz="1400"/>
              <a:t>定义</a:t>
            </a:r>
            <a:r>
              <a:rPr lang="en-US" altLang="zh-CN" sz="1400"/>
              <a:t>CHECK</a:t>
            </a:r>
            <a:r>
              <a:rPr lang="zh-CN" altLang="zh-CN" sz="1400"/>
              <a:t>约束</a:t>
            </a:r>
            <a:r>
              <a:rPr lang="en-US" altLang="zh-CN" sz="1400"/>
              <a:t>*/</a:t>
            </a:r>
            <a:endParaRPr lang="zh-CN" altLang="zh-CN" sz="1400"/>
          </a:p>
          <a:p>
            <a:pPr eaLnBrk="1" hangingPunct="1"/>
            <a:r>
              <a:rPr lang="en-US" altLang="zh-CN" sz="1400"/>
              <a:t>}</a:t>
            </a:r>
            <a:endParaRPr lang="zh-CN" altLang="zh-CN" sz="1400"/>
          </a:p>
          <a:p>
            <a:pPr eaLnBrk="1" hangingPunct="1"/>
            <a:r>
              <a:rPr lang="en-US" altLang="zh-CN" sz="1400"/>
              <a:t> </a:t>
            </a:r>
            <a:endParaRPr lang="zh-CN" altLang="zh-CN" sz="1400"/>
          </a:p>
          <a:p>
            <a:pPr eaLnBrk="1" hangingPunct="1"/>
            <a:r>
              <a:rPr lang="en-US" altLang="zh-CN" sz="1400"/>
              <a:t>&lt;</a:t>
            </a:r>
            <a:r>
              <a:rPr lang="zh-CN" altLang="zh-CN" sz="1400"/>
              <a:t>表约束</a:t>
            </a:r>
            <a:r>
              <a:rPr lang="en-US" altLang="zh-CN" sz="1400"/>
              <a:t>&gt; ::=					/*</a:t>
            </a:r>
            <a:r>
              <a:rPr lang="zh-CN" altLang="zh-CN" sz="1400"/>
              <a:t>定义表的约束</a:t>
            </a:r>
            <a:r>
              <a:rPr lang="en-US" altLang="zh-CN" sz="1400"/>
              <a:t>*/</a:t>
            </a:r>
            <a:endParaRPr lang="zh-CN" altLang="zh-CN" sz="1400"/>
          </a:p>
          <a:p>
            <a:pPr eaLnBrk="1" hangingPunct="1"/>
            <a:r>
              <a:rPr lang="en-US" altLang="zh-CN" sz="1400"/>
              <a:t>[ CONSTRAINT</a:t>
            </a:r>
            <a:r>
              <a:rPr lang="zh-CN" altLang="zh-CN" sz="1400"/>
              <a:t>约束名</a:t>
            </a:r>
            <a:r>
              <a:rPr lang="en-US" altLang="zh-CN" sz="1400"/>
              <a:t>]</a:t>
            </a:r>
            <a:endParaRPr lang="zh-CN" altLang="zh-CN" sz="1400"/>
          </a:p>
          <a:p>
            <a:pPr eaLnBrk="1" hangingPunct="1"/>
            <a:r>
              <a:rPr lang="en-US" altLang="zh-CN" sz="1400"/>
              <a:t>{</a:t>
            </a:r>
            <a:endParaRPr lang="zh-CN" altLang="zh-CN" sz="1400"/>
          </a:p>
          <a:p>
            <a:pPr eaLnBrk="1" hangingPunct="1"/>
            <a:r>
              <a:rPr lang="en-US" altLang="zh-CN" sz="1400"/>
              <a:t>    { PRIMARY KEY | UNIQUE }</a:t>
            </a:r>
            <a:endParaRPr lang="zh-CN" altLang="zh-CN" sz="1400"/>
          </a:p>
          <a:p>
            <a:pPr eaLnBrk="1" hangingPunct="1"/>
            <a:r>
              <a:rPr lang="en-US" altLang="zh-CN" sz="1400"/>
              <a:t>    [ CLUSTERED | NONCLUSTERED ]</a:t>
            </a:r>
            <a:endParaRPr lang="zh-CN" altLang="zh-CN" sz="1400"/>
          </a:p>
          <a:p>
            <a:pPr eaLnBrk="1" hangingPunct="1"/>
            <a:r>
              <a:rPr lang="en-US" altLang="zh-CN" sz="1400"/>
              <a:t>        (</a:t>
            </a:r>
            <a:r>
              <a:rPr lang="zh-CN" altLang="zh-CN" sz="1400"/>
              <a:t>列</a:t>
            </a:r>
            <a:r>
              <a:rPr lang="en-US" altLang="zh-CN" sz="1400"/>
              <a:t>[ ASC | DESC ] [ , ... ] )				/*</a:t>
            </a:r>
            <a:r>
              <a:rPr lang="zh-CN" altLang="zh-CN" sz="1400"/>
              <a:t>定义表的约束时需要指定列</a:t>
            </a:r>
            <a:r>
              <a:rPr lang="en-US" altLang="zh-CN" sz="1400"/>
              <a:t>*/</a:t>
            </a:r>
            <a:endParaRPr lang="zh-CN" altLang="zh-CN" sz="1400"/>
          </a:p>
          <a:p>
            <a:pPr eaLnBrk="1" hangingPunct="1"/>
            <a:r>
              <a:rPr lang="en-US" altLang="zh-CN" sz="1400"/>
              <a:t>    [WITH ( &lt;</a:t>
            </a:r>
            <a:r>
              <a:rPr lang="zh-CN" altLang="zh-CN" sz="1400"/>
              <a:t>索引选项</a:t>
            </a:r>
            <a:r>
              <a:rPr lang="en-US" altLang="zh-CN" sz="1400"/>
              <a:t>&gt; [ , ... ] ) ]</a:t>
            </a:r>
            <a:endParaRPr lang="zh-CN" altLang="zh-CN" sz="1400"/>
          </a:p>
          <a:p>
            <a:pPr eaLnBrk="1" hangingPunct="1"/>
            <a:r>
              <a:rPr lang="en-US" altLang="zh-CN" sz="1400"/>
              <a:t>    [ ON { </a:t>
            </a:r>
            <a:r>
              <a:rPr lang="zh-CN" altLang="zh-CN" sz="1400"/>
              <a:t>分区架构名</a:t>
            </a:r>
            <a:r>
              <a:rPr lang="en-US" altLang="zh-CN" sz="1400"/>
              <a:t> (</a:t>
            </a:r>
            <a:r>
              <a:rPr lang="zh-CN" altLang="zh-CN" sz="1400"/>
              <a:t>分区列名</a:t>
            </a:r>
            <a:r>
              <a:rPr lang="en-US" altLang="zh-CN" sz="1400"/>
              <a:t>) | </a:t>
            </a:r>
            <a:r>
              <a:rPr lang="zh-CN" altLang="zh-CN" sz="1400"/>
              <a:t>文件组</a:t>
            </a:r>
            <a:r>
              <a:rPr lang="en-US" altLang="zh-CN" sz="1400"/>
              <a:t> | "default" } ]</a:t>
            </a:r>
            <a:endParaRPr lang="zh-CN" altLang="zh-CN" sz="1400"/>
          </a:p>
          <a:p>
            <a:pPr eaLnBrk="1" hangingPunct="1"/>
            <a:r>
              <a:rPr lang="en-US" altLang="zh-CN" sz="1400"/>
              <a:t>    | FOREIGN KEY ( </a:t>
            </a:r>
            <a:r>
              <a:rPr lang="zh-CN" altLang="zh-CN" sz="1400"/>
              <a:t>列</a:t>
            </a:r>
            <a:r>
              <a:rPr lang="en-US" altLang="zh-CN" sz="1400"/>
              <a:t>[ , ... ] ) &lt;</a:t>
            </a:r>
            <a:r>
              <a:rPr lang="zh-CN" altLang="zh-CN" sz="1400"/>
              <a:t>参照定义</a:t>
            </a:r>
            <a:r>
              <a:rPr lang="en-US" altLang="zh-CN" sz="1400"/>
              <a:t>&gt;</a:t>
            </a:r>
            <a:endParaRPr lang="zh-CN" altLang="zh-CN" sz="1400"/>
          </a:p>
          <a:p>
            <a:pPr eaLnBrk="1" hangingPunct="1"/>
            <a:r>
              <a:rPr lang="en-US" altLang="zh-CN" sz="1400"/>
              <a:t>    | CHECK [ NOT FOR REPLICATION ] ( </a:t>
            </a:r>
            <a:r>
              <a:rPr lang="zh-CN" altLang="zh-CN" sz="1400"/>
              <a:t>逻辑表达式</a:t>
            </a:r>
            <a:r>
              <a:rPr lang="en-US" altLang="zh-CN" sz="1400"/>
              <a:t> )</a:t>
            </a:r>
            <a:endParaRPr lang="zh-CN" altLang="zh-CN" sz="1400"/>
          </a:p>
          <a:p>
            <a:pPr eaLnBrk="1" hangingPunct="1"/>
            <a:r>
              <a:rPr lang="en-US" altLang="zh-CN" sz="1400"/>
              <a:t>}</a:t>
            </a:r>
            <a:endParaRPr lang="zh-CN" altLang="zh-CN" sz="1400"/>
          </a:p>
          <a:p>
            <a:pPr eaLnBrk="1" hangingPunct="1"/>
            <a:endParaRPr lang="zh-CN" altLang="en-US" sz="1400"/>
          </a:p>
        </p:txBody>
      </p:sp>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133600"/>
            <a:ext cx="7775575" cy="2951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28676" name="TextBox 2"/>
          <p:cNvSpPr txBox="1">
            <a:spLocks noChangeArrowheads="1"/>
          </p:cNvSpPr>
          <p:nvPr/>
        </p:nvSpPr>
        <p:spPr bwMode="auto">
          <a:xfrm>
            <a:off x="468313" y="1484313"/>
            <a:ext cx="8207375"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6.6</a:t>
            </a:r>
            <a:r>
              <a:rPr lang="zh-CN" altLang="zh-CN"/>
              <a:t>】 创建</a:t>
            </a:r>
            <a:r>
              <a:rPr lang="en-US" altLang="zh-CN"/>
              <a:t>xsb3</a:t>
            </a:r>
            <a:r>
              <a:rPr lang="zh-CN" altLang="zh-CN"/>
              <a:t>表，并对“学号”字段创建主键约束，对“姓名”字段定义唯一性约束。</a:t>
            </a:r>
            <a:endParaRPr lang="zh-CN" altLang="zh-CN"/>
          </a:p>
          <a:p>
            <a:pPr eaLnBrk="1" hangingPunct="1"/>
            <a:r>
              <a:rPr lang="en-US" altLang="zh-CN" sz="1600"/>
              <a:t>USE pxscj</a:t>
            </a:r>
            <a:endParaRPr lang="zh-CN" altLang="zh-CN" sz="1600"/>
          </a:p>
          <a:p>
            <a:pPr eaLnBrk="1" hangingPunct="1"/>
            <a:r>
              <a:rPr lang="en-US" altLang="zh-CN" sz="1600"/>
              <a:t>GO</a:t>
            </a:r>
            <a:endParaRPr lang="zh-CN" altLang="zh-CN" sz="1600"/>
          </a:p>
          <a:p>
            <a:pPr eaLnBrk="1" hangingPunct="1"/>
            <a:r>
              <a:rPr lang="en-US" altLang="zh-CN" sz="1600"/>
              <a:t>CREATE TABLE xsb3</a:t>
            </a:r>
            <a:endParaRPr lang="zh-CN" altLang="zh-CN" sz="1600"/>
          </a:p>
          <a:p>
            <a:pPr eaLnBrk="1" hangingPunct="1"/>
            <a:r>
              <a:rPr lang="en-US" altLang="zh-CN" sz="1600"/>
              <a:t>(</a:t>
            </a:r>
            <a:endParaRPr lang="zh-CN" altLang="zh-CN" sz="1600"/>
          </a:p>
          <a:p>
            <a:pPr eaLnBrk="1" hangingPunct="1"/>
            <a:r>
              <a:rPr lang="en-US" altLang="zh-CN" sz="1600"/>
              <a:t>    </a:t>
            </a:r>
            <a:r>
              <a:rPr lang="zh-CN" altLang="zh-CN" sz="1600"/>
              <a:t>学号 </a:t>
            </a:r>
            <a:r>
              <a:rPr lang="en-US" altLang="zh-CN" sz="1600"/>
              <a:t>    	char(6) 	NOT NULL	CONSTRAINT 	xh_pk  	PRIMARY KEY,</a:t>
            </a:r>
            <a:endParaRPr lang="zh-CN" altLang="zh-CN" sz="1600"/>
          </a:p>
          <a:p>
            <a:pPr eaLnBrk="1" hangingPunct="1"/>
            <a:r>
              <a:rPr lang="en-US" altLang="zh-CN" sz="1600"/>
              <a:t>    </a:t>
            </a:r>
            <a:r>
              <a:rPr lang="zh-CN" altLang="zh-CN" sz="1600"/>
              <a:t>姓名</a:t>
            </a:r>
            <a:r>
              <a:rPr lang="en-US" altLang="zh-CN" sz="1600"/>
              <a:t>	char(8) 	NOT NULL	CONSTRAINT  	xm_uk  	UNIQUE,</a:t>
            </a:r>
            <a:endParaRPr lang="zh-CN" altLang="zh-CN" sz="1600"/>
          </a:p>
          <a:p>
            <a:pPr eaLnBrk="1" hangingPunct="1"/>
            <a:r>
              <a:rPr lang="en-US" altLang="zh-CN" sz="1600"/>
              <a:t>    </a:t>
            </a:r>
            <a:r>
              <a:rPr lang="zh-CN" altLang="zh-CN" sz="1600"/>
              <a:t>性别 </a:t>
            </a:r>
            <a:r>
              <a:rPr lang="en-US" altLang="zh-CN" sz="1600"/>
              <a:t>	bit 	NOT NULL	DEFAULT 1,</a:t>
            </a:r>
            <a:endParaRPr lang="zh-CN" altLang="zh-CN" sz="1600"/>
          </a:p>
          <a:p>
            <a:pPr eaLnBrk="1" hangingPunct="1"/>
            <a:r>
              <a:rPr lang="en-US" altLang="zh-CN" sz="1600"/>
              <a:t>    </a:t>
            </a:r>
            <a:r>
              <a:rPr lang="zh-CN" altLang="zh-CN" sz="1600"/>
              <a:t>出生时间 </a:t>
            </a:r>
            <a:r>
              <a:rPr lang="en-US" altLang="zh-CN" sz="1600"/>
              <a:t>	date 	NOT NULL,</a:t>
            </a:r>
            <a:endParaRPr lang="zh-CN" altLang="zh-CN" sz="1600"/>
          </a:p>
          <a:p>
            <a:pPr eaLnBrk="1" hangingPunct="1"/>
            <a:r>
              <a:rPr lang="en-US" altLang="zh-CN" sz="1600"/>
              <a:t>    </a:t>
            </a:r>
            <a:r>
              <a:rPr lang="zh-CN" altLang="zh-CN" sz="1600"/>
              <a:t>专业 </a:t>
            </a:r>
            <a:r>
              <a:rPr lang="en-US" altLang="zh-CN" sz="1600"/>
              <a:t>	char(12) 	NULL,</a:t>
            </a:r>
            <a:endParaRPr lang="zh-CN" altLang="zh-CN" sz="1600"/>
          </a:p>
          <a:p>
            <a:pPr eaLnBrk="1" hangingPunct="1"/>
            <a:r>
              <a:rPr lang="en-US" altLang="zh-CN" sz="1600"/>
              <a:t>    </a:t>
            </a:r>
            <a:r>
              <a:rPr lang="zh-CN" altLang="zh-CN" sz="1600"/>
              <a:t>总学分 </a:t>
            </a:r>
            <a:r>
              <a:rPr lang="en-US" altLang="zh-CN" sz="1600"/>
              <a:t>	int 	NULL,</a:t>
            </a:r>
            <a:endParaRPr lang="zh-CN" altLang="zh-CN" sz="1600"/>
          </a:p>
          <a:p>
            <a:pPr eaLnBrk="1" hangingPunct="1"/>
            <a:r>
              <a:rPr lang="en-US" altLang="zh-CN" sz="1600"/>
              <a:t>    </a:t>
            </a:r>
            <a:r>
              <a:rPr lang="zh-CN" altLang="zh-CN" sz="1600"/>
              <a:t>备注</a:t>
            </a:r>
            <a:r>
              <a:rPr lang="en-US" altLang="zh-CN" sz="1600"/>
              <a:t> 	varchar(500) 	NULL</a:t>
            </a:r>
            <a:endParaRPr lang="zh-CN" altLang="zh-CN" sz="1600"/>
          </a:p>
          <a:p>
            <a:pPr eaLnBrk="1" hangingPunct="1"/>
            <a:r>
              <a:rPr lang="en-US" altLang="zh-CN" sz="1600"/>
              <a:t>) </a:t>
            </a:r>
            <a:endParaRPr lang="zh-CN" altLang="zh-CN" sz="1600"/>
          </a:p>
          <a:p>
            <a:pPr eaLnBrk="1" hangingPunct="1"/>
            <a:endParaRPr lang="zh-CN" altLang="en-US" sz="1600"/>
          </a:p>
        </p:txBody>
      </p:sp>
    </p:spTree>
  </p:cSld>
  <p:clrMapOvr>
    <a:masterClrMapping/>
  </p:clrMapOvr>
  <p:transition spd="slow">
    <p:circl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716338"/>
            <a:ext cx="7848600"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29700" name="TextBox 2"/>
          <p:cNvSpPr txBox="1">
            <a:spLocks noChangeArrowheads="1"/>
          </p:cNvSpPr>
          <p:nvPr/>
        </p:nvSpPr>
        <p:spPr bwMode="auto">
          <a:xfrm>
            <a:off x="468313" y="1557338"/>
            <a:ext cx="82804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2</a:t>
            </a:r>
            <a:r>
              <a:rPr lang="zh-CN" altLang="zh-CN"/>
              <a:t>）通过修改表创建主键约束或唯一性约束</a:t>
            </a:r>
            <a:endParaRPr lang="zh-CN" altLang="zh-CN"/>
          </a:p>
          <a:p>
            <a:pPr eaLnBrk="1" fontAlgn="ctr" hangingPunct="1">
              <a:lnSpc>
                <a:spcPct val="150000"/>
              </a:lnSpc>
            </a:pPr>
            <a:r>
              <a:rPr lang="zh-CN" altLang="zh-CN"/>
              <a:t>使用</a:t>
            </a:r>
            <a:r>
              <a:rPr lang="en-US" altLang="zh-CN"/>
              <a:t>ALTER TABLE</a:t>
            </a:r>
            <a:r>
              <a:rPr lang="zh-CN" altLang="zh-CN"/>
              <a:t>语句中的</a:t>
            </a:r>
            <a:r>
              <a:rPr lang="en-US" altLang="zh-CN"/>
              <a:t>ADD</a:t>
            </a:r>
            <a:r>
              <a:rPr lang="zh-CN" altLang="zh-CN"/>
              <a:t>子句可以为表中已存在的列或新列定义约束，语法格式参见</a:t>
            </a:r>
            <a:r>
              <a:rPr lang="en-US" altLang="zh-CN"/>
              <a:t>ALTER TABLE</a:t>
            </a:r>
            <a:r>
              <a:rPr lang="zh-CN" altLang="zh-CN"/>
              <a:t>语句的</a:t>
            </a:r>
            <a:r>
              <a:rPr lang="en-US" altLang="zh-CN"/>
              <a:t>ADD</a:t>
            </a:r>
            <a:r>
              <a:rPr lang="zh-CN" altLang="zh-CN"/>
              <a:t>子句。</a:t>
            </a:r>
            <a:endParaRPr lang="zh-CN" altLang="zh-CN"/>
          </a:p>
          <a:p>
            <a:pPr eaLnBrk="1" fontAlgn="ctr" hangingPunct="1">
              <a:lnSpc>
                <a:spcPct val="150000"/>
              </a:lnSpc>
            </a:pPr>
            <a:r>
              <a:rPr lang="zh-CN" altLang="zh-CN"/>
              <a:t>【例</a:t>
            </a:r>
            <a:r>
              <a:rPr lang="en-US" altLang="zh-CN"/>
              <a:t>6.7</a:t>
            </a:r>
            <a:r>
              <a:rPr lang="zh-CN" altLang="zh-CN"/>
              <a:t>】 修改</a:t>
            </a:r>
            <a:r>
              <a:rPr lang="en-US" altLang="zh-CN"/>
              <a:t>xsb3</a:t>
            </a:r>
            <a:r>
              <a:rPr lang="zh-CN" altLang="zh-CN"/>
              <a:t>表，向其中添加一个“身份证号码”字段，对该字段定义唯一性约束。对表中“出生时间”字段定义唯一性约束。</a:t>
            </a:r>
            <a:endParaRPr lang="zh-CN" altLang="zh-CN"/>
          </a:p>
          <a:p>
            <a:pPr eaLnBrk="1" hangingPunct="1"/>
            <a:r>
              <a:rPr lang="en-US" altLang="zh-CN"/>
              <a:t>ALTER TABLE  xsb3    </a:t>
            </a:r>
            <a:endParaRPr lang="zh-CN" altLang="zh-CN"/>
          </a:p>
          <a:p>
            <a:pPr eaLnBrk="1" hangingPunct="1"/>
            <a:r>
              <a:rPr lang="en-US" altLang="zh-CN"/>
              <a:t>    ADD    </a:t>
            </a:r>
            <a:r>
              <a:rPr lang="zh-CN" altLang="zh-CN"/>
              <a:t>身份证号码</a:t>
            </a:r>
            <a:r>
              <a:rPr lang="en-US" altLang="zh-CN"/>
              <a:t>char(20) </a:t>
            </a:r>
            <a:endParaRPr lang="zh-CN" altLang="zh-CN"/>
          </a:p>
          <a:p>
            <a:pPr eaLnBrk="1" hangingPunct="1"/>
            <a:r>
              <a:rPr lang="en-US" altLang="zh-CN"/>
              <a:t>        CONSTRAINT sf_uk  UNIQUE NONCLUSTERED (</a:t>
            </a:r>
            <a:r>
              <a:rPr lang="zh-CN" altLang="zh-CN"/>
              <a:t>身份证号码</a:t>
            </a:r>
            <a:r>
              <a:rPr lang="en-US" altLang="zh-CN"/>
              <a:t>)</a:t>
            </a:r>
            <a:endParaRPr lang="zh-CN" altLang="zh-CN"/>
          </a:p>
          <a:p>
            <a:pPr eaLnBrk="1" hangingPunct="1"/>
            <a:r>
              <a:rPr lang="en-US" altLang="zh-CN"/>
              <a:t>GO</a:t>
            </a:r>
            <a:endParaRPr lang="zh-CN" altLang="zh-CN"/>
          </a:p>
          <a:p>
            <a:pPr eaLnBrk="1" hangingPunct="1"/>
            <a:r>
              <a:rPr lang="en-US" altLang="zh-CN"/>
              <a:t>ALTER TABLE  xsb3    </a:t>
            </a:r>
            <a:endParaRPr lang="zh-CN" altLang="zh-CN"/>
          </a:p>
          <a:p>
            <a:pPr eaLnBrk="1" hangingPunct="1"/>
            <a:r>
              <a:rPr lang="en-US" altLang="zh-CN"/>
              <a:t>    ADD    CONSTRAINT cssj_uk  UNIQUE NONCLUSTERED (</a:t>
            </a:r>
            <a:r>
              <a:rPr lang="zh-CN" altLang="zh-CN"/>
              <a:t>出生时间</a:t>
            </a:r>
            <a:r>
              <a:rPr lang="en-US" altLang="zh-CN"/>
              <a:t>)</a:t>
            </a:r>
            <a:endParaRPr lang="zh-CN" altLang="zh-CN"/>
          </a:p>
          <a:p>
            <a:pPr eaLnBrk="1" hangingPunct="1"/>
            <a:endParaRPr lang="zh-CN" altLang="en-US"/>
          </a:p>
        </p:txBody>
      </p:sp>
    </p:spTree>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644900"/>
            <a:ext cx="7850187"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852738"/>
            <a:ext cx="7848600" cy="504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6.2.1  </a:t>
            </a:r>
            <a:r>
              <a:rPr lang="zh-CN" altLang="zh-CN" dirty="0">
                <a:effectLst/>
              </a:rPr>
              <a:t>创建实体完整性：</a:t>
            </a:r>
            <a:r>
              <a:rPr lang="en-US" altLang="zh-CN" dirty="0">
                <a:effectLst/>
              </a:rPr>
              <a:t>PRIMARY KEY/UNIQUE</a:t>
            </a:r>
            <a:endParaRPr lang="zh-CN" altLang="en-US" dirty="0"/>
          </a:p>
        </p:txBody>
      </p:sp>
      <p:sp>
        <p:nvSpPr>
          <p:cNvPr id="30725" name="TextBox 2"/>
          <p:cNvSpPr txBox="1">
            <a:spLocks noChangeArrowheads="1"/>
          </p:cNvSpPr>
          <p:nvPr/>
        </p:nvSpPr>
        <p:spPr bwMode="auto">
          <a:xfrm>
            <a:off x="468313" y="1557338"/>
            <a:ext cx="82073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3</a:t>
            </a:r>
            <a:r>
              <a:rPr lang="zh-CN" altLang="zh-CN"/>
              <a:t>）删除主键约束或唯一性约束</a:t>
            </a:r>
            <a:endParaRPr lang="zh-CN" altLang="zh-CN"/>
          </a:p>
          <a:p>
            <a:pPr eaLnBrk="1" fontAlgn="ctr" hangingPunct="1">
              <a:lnSpc>
                <a:spcPct val="150000"/>
              </a:lnSpc>
            </a:pPr>
            <a:r>
              <a:rPr lang="zh-CN" altLang="zh-CN"/>
              <a:t>删除主键约束或唯一性约束需要使用</a:t>
            </a:r>
            <a:r>
              <a:rPr lang="en-US" altLang="zh-CN"/>
              <a:t>ALTER TABLE</a:t>
            </a:r>
            <a:r>
              <a:rPr lang="zh-CN" altLang="zh-CN"/>
              <a:t>的</a:t>
            </a:r>
            <a:r>
              <a:rPr lang="en-US" altLang="zh-CN"/>
              <a:t>DROP</a:t>
            </a:r>
            <a:r>
              <a:rPr lang="zh-CN" altLang="zh-CN"/>
              <a:t>子句。</a:t>
            </a:r>
            <a:endParaRPr lang="zh-CN" altLang="zh-CN"/>
          </a:p>
          <a:p>
            <a:pPr eaLnBrk="1" fontAlgn="ctr" hangingPunct="1">
              <a:lnSpc>
                <a:spcPct val="150000"/>
              </a:lnSpc>
            </a:pPr>
            <a:r>
              <a:rPr lang="zh-CN" altLang="zh-CN"/>
              <a:t>语法格式：</a:t>
            </a:r>
            <a:endParaRPr lang="zh-CN" altLang="zh-CN"/>
          </a:p>
          <a:p>
            <a:pPr eaLnBrk="1" hangingPunct="1"/>
            <a:r>
              <a:rPr lang="en-US" altLang="zh-CN"/>
              <a:t>ALTER TABLE</a:t>
            </a:r>
            <a:r>
              <a:rPr lang="zh-CN" altLang="zh-CN"/>
              <a:t>表名</a:t>
            </a:r>
            <a:endParaRPr lang="zh-CN" altLang="zh-CN"/>
          </a:p>
          <a:p>
            <a:pPr eaLnBrk="1" hangingPunct="1"/>
            <a:r>
              <a:rPr lang="en-US" altLang="zh-CN"/>
              <a:t>     DROP CONSTRAINT</a:t>
            </a:r>
            <a:r>
              <a:rPr lang="zh-CN" altLang="zh-CN"/>
              <a:t>约束名</a:t>
            </a:r>
            <a:r>
              <a:rPr lang="en-US" altLang="zh-CN"/>
              <a:t>[ , ... ]</a:t>
            </a:r>
            <a:endParaRPr lang="zh-CN" altLang="zh-CN"/>
          </a:p>
          <a:p>
            <a:pPr eaLnBrk="1" fontAlgn="ctr" hangingPunct="1"/>
            <a:r>
              <a:rPr lang="zh-CN" altLang="zh-CN"/>
              <a:t>【例</a:t>
            </a:r>
            <a:r>
              <a:rPr lang="en-US" altLang="zh-CN"/>
              <a:t>6.8</a:t>
            </a:r>
            <a:r>
              <a:rPr lang="zh-CN" altLang="zh-CN"/>
              <a:t>】 删除</a:t>
            </a:r>
            <a:r>
              <a:rPr lang="en-US" altLang="zh-CN"/>
              <a:t>xsb3</a:t>
            </a:r>
            <a:r>
              <a:rPr lang="zh-CN" altLang="zh-CN"/>
              <a:t>创建的主键约束和唯一性约束。</a:t>
            </a:r>
            <a:endParaRPr lang="zh-CN" altLang="zh-CN"/>
          </a:p>
          <a:p>
            <a:pPr eaLnBrk="1" hangingPunct="1"/>
            <a:r>
              <a:rPr lang="en-US" altLang="zh-CN"/>
              <a:t>ALTER TABLE  xsb3</a:t>
            </a:r>
            <a:endParaRPr lang="zh-CN" altLang="zh-CN"/>
          </a:p>
          <a:p>
            <a:pPr eaLnBrk="1" hangingPunct="1"/>
            <a:r>
              <a:rPr lang="en-US" altLang="zh-CN"/>
              <a:t>     DROP    CONSTRAINT xh_pk,  xm_uk</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circl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zh-CN" dirty="0">
              <a:effectLst/>
            </a:endParaRPr>
          </a:p>
        </p:txBody>
      </p:sp>
      <p:sp>
        <p:nvSpPr>
          <p:cNvPr id="31747" name="TextBox 2"/>
          <p:cNvSpPr txBox="1">
            <a:spLocks noChangeArrowheads="1"/>
          </p:cNvSpPr>
          <p:nvPr/>
        </p:nvSpPr>
        <p:spPr bwMode="auto">
          <a:xfrm>
            <a:off x="395288" y="1412875"/>
            <a:ext cx="8353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a:t>
            </a:r>
            <a:r>
              <a:rPr lang="en-US" altLang="zh-CN" b="1">
                <a:solidFill>
                  <a:srgbClr val="C00000"/>
                </a:solidFill>
              </a:rPr>
              <a:t>CHECK</a:t>
            </a:r>
            <a:r>
              <a:rPr lang="zh-CN" altLang="zh-CN" b="1">
                <a:solidFill>
                  <a:srgbClr val="C00000"/>
                </a:solidFill>
              </a:rPr>
              <a:t>约束的定义与删除</a:t>
            </a:r>
            <a:endParaRPr lang="zh-CN" altLang="zh-CN" b="1">
              <a:solidFill>
                <a:srgbClr val="C00000"/>
              </a:solidFill>
            </a:endParaRPr>
          </a:p>
          <a:p>
            <a:pPr eaLnBrk="1" fontAlgn="ctr" hangingPunct="1"/>
            <a:r>
              <a:rPr lang="zh-CN" altLang="zh-CN"/>
              <a:t>（</a:t>
            </a:r>
            <a:r>
              <a:rPr lang="en-US" altLang="zh-CN"/>
              <a:t>1</a:t>
            </a:r>
            <a:r>
              <a:rPr lang="zh-CN" altLang="zh-CN"/>
              <a:t>）界面方式创建与删除</a:t>
            </a:r>
            <a:r>
              <a:rPr lang="en-US" altLang="zh-CN"/>
              <a:t>CHECK</a:t>
            </a:r>
            <a:r>
              <a:rPr lang="zh-CN" altLang="zh-CN"/>
              <a:t>约束</a:t>
            </a:r>
            <a:endParaRPr lang="zh-CN" altLang="zh-CN"/>
          </a:p>
          <a:p>
            <a:pPr eaLnBrk="1" fontAlgn="ctr" hangingPunct="1"/>
            <a:r>
              <a:rPr lang="zh-CN" altLang="zh-CN"/>
              <a:t>例如，在</a:t>
            </a:r>
            <a:r>
              <a:rPr lang="en-US" altLang="zh-CN"/>
              <a:t>pxscj</a:t>
            </a:r>
            <a:r>
              <a:rPr lang="zh-CN" altLang="zh-CN"/>
              <a:t>数据库的</a:t>
            </a:r>
            <a:r>
              <a:rPr lang="en-US" altLang="zh-CN"/>
              <a:t>cjb</a:t>
            </a:r>
            <a:r>
              <a:rPr lang="zh-CN" altLang="zh-CN"/>
              <a:t>表中，学生每门功课的成绩的范围为</a:t>
            </a:r>
            <a:r>
              <a:rPr lang="en-US" altLang="zh-CN"/>
              <a:t>0</a:t>
            </a:r>
            <a:r>
              <a:rPr lang="zh-CN" altLang="zh-CN"/>
              <a:t>～</a:t>
            </a:r>
            <a:r>
              <a:rPr lang="en-US" altLang="zh-CN"/>
              <a:t>100</a:t>
            </a:r>
            <a:r>
              <a:rPr lang="zh-CN" altLang="zh-CN"/>
              <a:t>，现对用户的输入数据要施加这一限制。</a:t>
            </a:r>
            <a:endParaRPr lang="zh-CN" altLang="zh-CN"/>
          </a:p>
          <a:p>
            <a:pPr eaLnBrk="1" fontAlgn="ctr" hangingPunct="1"/>
            <a:r>
              <a:rPr lang="zh-CN" altLang="zh-CN"/>
              <a:t>①</a:t>
            </a:r>
            <a:r>
              <a:rPr lang="en-US" altLang="zh-CN"/>
              <a:t> </a:t>
            </a:r>
            <a:r>
              <a:rPr lang="zh-CN" altLang="zh-CN"/>
              <a:t>在“对象资源管理器”中展开“数据库”→“</a:t>
            </a:r>
            <a:r>
              <a:rPr lang="en-US" altLang="zh-CN"/>
              <a:t>pxscj</a:t>
            </a:r>
            <a:r>
              <a:rPr lang="zh-CN" altLang="zh-CN"/>
              <a:t>”→“表”，选择“</a:t>
            </a:r>
            <a:r>
              <a:rPr lang="en-US" altLang="zh-CN"/>
              <a:t>dbo.cjb</a:t>
            </a:r>
            <a:r>
              <a:rPr lang="zh-CN" altLang="zh-CN"/>
              <a:t>”，展开后选择“约束”，右键单击鼠标，在出现的快捷菜单中选择“新建约束”菜单项，如图</a:t>
            </a:r>
            <a:r>
              <a:rPr lang="en-US" altLang="zh-CN"/>
              <a:t>6.6</a:t>
            </a:r>
            <a:r>
              <a:rPr lang="zh-CN" altLang="zh-CN"/>
              <a:t>所示。</a:t>
            </a:r>
            <a:endParaRPr lang="zh-CN" altLang="zh-CN"/>
          </a:p>
          <a:p>
            <a:pPr eaLnBrk="1" hangingPunct="1"/>
            <a:endParaRPr lang="zh-CN" altLang="en-US"/>
          </a:p>
        </p:txBody>
      </p:sp>
      <p:pic>
        <p:nvPicPr>
          <p:cNvPr id="3174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1775" y="3573463"/>
            <a:ext cx="3024188"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2771" name="TextBox 2"/>
          <p:cNvSpPr txBox="1">
            <a:spLocks noChangeArrowheads="1"/>
          </p:cNvSpPr>
          <p:nvPr/>
        </p:nvSpPr>
        <p:spPr bwMode="auto">
          <a:xfrm>
            <a:off x="468313" y="1484313"/>
            <a:ext cx="82804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②</a:t>
            </a:r>
            <a:r>
              <a:rPr lang="en-US" altLang="zh-CN"/>
              <a:t> </a:t>
            </a:r>
            <a:r>
              <a:rPr lang="zh-CN" altLang="zh-CN"/>
              <a:t>在打开的 “</a:t>
            </a:r>
            <a:r>
              <a:rPr lang="en-US" altLang="zh-CN"/>
              <a:t>CHECK</a:t>
            </a:r>
            <a:r>
              <a:rPr lang="zh-CN" altLang="zh-CN"/>
              <a:t>约束”对话框中，单击“添加”按钮，添加一个“</a:t>
            </a:r>
            <a:r>
              <a:rPr lang="en-US" altLang="zh-CN"/>
              <a:t>CHECK</a:t>
            </a:r>
            <a:r>
              <a:rPr lang="zh-CN" altLang="zh-CN"/>
              <a:t>约束”。在“常规”属性区域中的“表达式”栏后面单击</a:t>
            </a:r>
            <a:r>
              <a:rPr lang="en-US" altLang="zh-CN"/>
              <a:t>      </a:t>
            </a:r>
            <a:r>
              <a:rPr lang="zh-CN" altLang="zh-CN"/>
              <a:t>按钮（或直接在文本框中输入内容），打开“</a:t>
            </a:r>
            <a:r>
              <a:rPr lang="en-US" altLang="zh-CN"/>
              <a:t>CHECK</a:t>
            </a:r>
            <a:r>
              <a:rPr lang="zh-CN" altLang="zh-CN"/>
              <a:t>约束表达式”窗口，并编辑相应的</a:t>
            </a:r>
            <a:r>
              <a:rPr lang="en-US" altLang="zh-CN"/>
              <a:t>CHECK</a:t>
            </a:r>
            <a:r>
              <a:rPr lang="zh-CN" altLang="zh-CN"/>
              <a:t>约束表达式为“成绩</a:t>
            </a:r>
            <a:r>
              <a:rPr lang="en-US" altLang="zh-CN"/>
              <a:t>&gt;=0 AND</a:t>
            </a:r>
            <a:r>
              <a:rPr lang="zh-CN" altLang="zh-CN"/>
              <a:t>成绩</a:t>
            </a:r>
            <a:r>
              <a:rPr lang="en-US" altLang="zh-CN"/>
              <a:t>&lt;=100</a:t>
            </a:r>
            <a:r>
              <a:rPr lang="zh-CN" altLang="zh-CN"/>
              <a:t>”。 </a:t>
            </a:r>
            <a:endParaRPr lang="zh-CN" altLang="zh-CN"/>
          </a:p>
          <a:p>
            <a:pPr eaLnBrk="1" fontAlgn="ctr" hangingPunct="1"/>
            <a:r>
              <a:rPr lang="zh-CN" altLang="zh-CN"/>
              <a:t>③</a:t>
            </a:r>
            <a:r>
              <a:rPr lang="en-US" altLang="zh-CN"/>
              <a:t> </a:t>
            </a:r>
            <a:r>
              <a:rPr lang="zh-CN" altLang="zh-CN"/>
              <a:t>在“</a:t>
            </a:r>
            <a:r>
              <a:rPr lang="en-US" altLang="zh-CN"/>
              <a:t>CHECK</a:t>
            </a:r>
            <a:r>
              <a:rPr lang="zh-CN" altLang="zh-CN"/>
              <a:t>约束”对话框中选择“关闭”按钮，并保存修改，完成“</a:t>
            </a:r>
            <a:r>
              <a:rPr lang="en-US" altLang="zh-CN"/>
              <a:t>CHECK</a:t>
            </a:r>
            <a:r>
              <a:rPr lang="zh-CN" altLang="zh-CN"/>
              <a:t>约束”的创建。此时若输入数据，如果成绩不是在</a:t>
            </a:r>
            <a:r>
              <a:rPr lang="en-US" altLang="zh-CN"/>
              <a:t>0</a:t>
            </a:r>
            <a:r>
              <a:rPr lang="zh-CN" altLang="zh-CN"/>
              <a:t>～</a:t>
            </a:r>
            <a:r>
              <a:rPr lang="en-US" altLang="zh-CN"/>
              <a:t>100</a:t>
            </a:r>
            <a:r>
              <a:rPr lang="zh-CN" altLang="zh-CN"/>
              <a:t>的范围内，系统将报告错误。</a:t>
            </a:r>
            <a:endParaRPr lang="zh-CN" altLang="zh-CN"/>
          </a:p>
          <a:p>
            <a:pPr eaLnBrk="1" fontAlgn="ctr" hangingPunct="1"/>
            <a:r>
              <a:rPr lang="zh-CN" altLang="zh-CN"/>
              <a:t>如果要删除上述约束，只需进入如图</a:t>
            </a:r>
            <a:r>
              <a:rPr lang="en-US" altLang="zh-CN"/>
              <a:t>6.7</a:t>
            </a:r>
            <a:r>
              <a:rPr lang="zh-CN" altLang="zh-CN"/>
              <a:t>所示的“</a:t>
            </a:r>
            <a:r>
              <a:rPr lang="en-US" altLang="zh-CN"/>
              <a:t>CHECK</a:t>
            </a:r>
            <a:r>
              <a:rPr lang="zh-CN" altLang="zh-CN"/>
              <a:t>约束”对话框，选中要删除的约束，单击“删除”按钮删除约束，然后单击“关闭”按钮即可。</a:t>
            </a:r>
            <a:endParaRPr lang="zh-CN" altLang="zh-CN"/>
          </a:p>
          <a:p>
            <a:pPr eaLnBrk="1" hangingPunct="1"/>
            <a:endParaRPr lang="zh-CN" altLang="en-US"/>
          </a:p>
        </p:txBody>
      </p:sp>
      <p:pic>
        <p:nvPicPr>
          <p:cNvPr id="3277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64388" y="1844675"/>
            <a:ext cx="2508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4032250"/>
            <a:ext cx="3527425" cy="251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2349500"/>
            <a:ext cx="7848600" cy="320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746500"/>
            <a:ext cx="7848600" cy="1914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3797" name="TextBox 2"/>
          <p:cNvSpPr txBox="1">
            <a:spLocks noChangeArrowheads="1"/>
          </p:cNvSpPr>
          <p:nvPr/>
        </p:nvSpPr>
        <p:spPr bwMode="auto">
          <a:xfrm>
            <a:off x="468313" y="1484313"/>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）命令方式在创建表时创建</a:t>
            </a:r>
            <a:r>
              <a:rPr lang="en-US" altLang="zh-CN"/>
              <a:t>CHECK</a:t>
            </a:r>
            <a:r>
              <a:rPr lang="zh-CN" altLang="zh-CN"/>
              <a:t>约束</a:t>
            </a:r>
            <a:endParaRPr lang="zh-CN" altLang="zh-CN"/>
          </a:p>
          <a:p>
            <a:pPr eaLnBrk="1" fontAlgn="ctr" hangingPunct="1"/>
            <a:r>
              <a:rPr lang="zh-CN" altLang="zh-CN"/>
              <a:t>在创建表时可以使用</a:t>
            </a:r>
            <a:r>
              <a:rPr lang="en-US" altLang="zh-CN"/>
              <a:t>CHECK</a:t>
            </a:r>
            <a:r>
              <a:rPr lang="zh-CN" altLang="zh-CN"/>
              <a:t>约束表达式来定义</a:t>
            </a:r>
            <a:r>
              <a:rPr lang="en-US" altLang="zh-CN"/>
              <a:t>CHECK</a:t>
            </a:r>
            <a:r>
              <a:rPr lang="zh-CN" altLang="zh-CN"/>
              <a:t>约束，</a:t>
            </a:r>
            <a:r>
              <a:rPr lang="en-US" altLang="zh-CN"/>
              <a:t>CHECK</a:t>
            </a:r>
            <a:r>
              <a:rPr lang="zh-CN" altLang="zh-CN"/>
              <a:t>约束表达式语法格式如下：</a:t>
            </a:r>
            <a:endParaRPr lang="zh-CN" altLang="zh-CN"/>
          </a:p>
          <a:p>
            <a:pPr eaLnBrk="1" hangingPunct="1"/>
            <a:r>
              <a:rPr lang="en-US" altLang="zh-CN"/>
              <a:t>CHECK [ NOT FOR REPLICATION ] ( </a:t>
            </a:r>
            <a:r>
              <a:rPr lang="zh-CN" altLang="zh-CN"/>
              <a:t>逻辑表达式</a:t>
            </a:r>
            <a:r>
              <a:rPr lang="en-US" altLang="zh-CN"/>
              <a:t> )</a:t>
            </a:r>
            <a:endParaRPr lang="zh-CN" altLang="zh-CN"/>
          </a:p>
          <a:p>
            <a:pPr eaLnBrk="1" fontAlgn="ctr" hangingPunct="1"/>
            <a:r>
              <a:rPr lang="zh-CN" altLang="zh-CN"/>
              <a:t>关键字</a:t>
            </a:r>
            <a:r>
              <a:rPr lang="en-US" altLang="zh-CN"/>
              <a:t>CHECK</a:t>
            </a:r>
            <a:r>
              <a:rPr lang="zh-CN" altLang="zh-CN"/>
              <a:t>表示定义</a:t>
            </a:r>
            <a:r>
              <a:rPr lang="en-US" altLang="zh-CN"/>
              <a:t>CHECK</a:t>
            </a:r>
            <a:r>
              <a:rPr lang="zh-CN" altLang="zh-CN"/>
              <a:t>约束，如果指定</a:t>
            </a:r>
            <a:r>
              <a:rPr lang="en-US" altLang="zh-CN"/>
              <a:t>NOT FOR REPLICATION</a:t>
            </a:r>
            <a:r>
              <a:rPr lang="zh-CN" altLang="zh-CN"/>
              <a:t>选项，则当复制代理执行插入、更新或删除操作时，将不会强制执行此约束。</a:t>
            </a:r>
            <a:endParaRPr lang="zh-CN" altLang="zh-CN"/>
          </a:p>
          <a:p>
            <a:pPr eaLnBrk="1" fontAlgn="ctr" hangingPunct="1"/>
            <a:r>
              <a:rPr lang="zh-CN" altLang="zh-CN"/>
              <a:t>【例</a:t>
            </a:r>
            <a:r>
              <a:rPr lang="en-US" altLang="zh-CN"/>
              <a:t>6.9</a:t>
            </a:r>
            <a:r>
              <a:rPr lang="zh-CN" altLang="zh-CN"/>
              <a:t>】 创建一个表</a:t>
            </a:r>
            <a:r>
              <a:rPr lang="en-US" altLang="zh-CN"/>
              <a:t>student</a:t>
            </a:r>
            <a:r>
              <a:rPr lang="zh-CN" altLang="zh-CN"/>
              <a:t>，只考虑“学号”和“性别”两列，性别只能包含“男”或“女”。</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TABLE  student</a:t>
            </a:r>
            <a:endParaRPr lang="zh-CN" altLang="zh-CN"/>
          </a:p>
          <a:p>
            <a:pPr eaLnBrk="1" hangingPunct="1"/>
            <a:r>
              <a:rPr lang="en-US" altLang="zh-CN"/>
              <a:t> (    </a:t>
            </a:r>
            <a:endParaRPr lang="zh-CN" altLang="zh-CN"/>
          </a:p>
          <a:p>
            <a:pPr eaLnBrk="1" hangingPunct="1"/>
            <a:r>
              <a:rPr lang="en-US" altLang="zh-CN"/>
              <a:t>     </a:t>
            </a:r>
            <a:r>
              <a:rPr lang="zh-CN" altLang="zh-CN"/>
              <a:t>学号</a:t>
            </a:r>
            <a:r>
              <a:rPr lang="en-US" altLang="zh-CN"/>
              <a:t>char(6) 	NOT NULL,</a:t>
            </a:r>
            <a:endParaRPr lang="zh-CN" altLang="zh-CN"/>
          </a:p>
          <a:p>
            <a:pPr eaLnBrk="1" hangingPunct="1"/>
            <a:r>
              <a:rPr lang="en-US" altLang="zh-CN"/>
              <a:t>     </a:t>
            </a:r>
            <a:r>
              <a:rPr lang="zh-CN" altLang="zh-CN"/>
              <a:t>性别</a:t>
            </a:r>
            <a:r>
              <a:rPr lang="en-US" altLang="zh-CN"/>
              <a:t>char(1) 	NOT NULL CHECK(</a:t>
            </a:r>
            <a:r>
              <a:rPr lang="zh-CN" altLang="zh-CN"/>
              <a:t>性别</a:t>
            </a:r>
            <a:r>
              <a:rPr lang="en-US" altLang="zh-CN"/>
              <a:t>IN ('</a:t>
            </a:r>
            <a:r>
              <a:rPr lang="zh-CN" altLang="zh-CN"/>
              <a:t>男</a:t>
            </a:r>
            <a:r>
              <a:rPr lang="en-US" altLang="zh-CN"/>
              <a:t>', '</a:t>
            </a:r>
            <a:r>
              <a:rPr lang="zh-CN" altLang="zh-CN"/>
              <a:t>女</a:t>
            </a:r>
            <a:r>
              <a:rPr lang="en-US" altLang="zh-CN"/>
              <a:t>'))</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989138"/>
            <a:ext cx="7775575" cy="16557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4820" name="TextBox 2"/>
          <p:cNvSpPr txBox="1">
            <a:spLocks noChangeArrowheads="1"/>
          </p:cNvSpPr>
          <p:nvPr/>
        </p:nvSpPr>
        <p:spPr bwMode="auto">
          <a:xfrm>
            <a:off x="468313" y="1412875"/>
            <a:ext cx="8207375"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6.10</a:t>
            </a:r>
            <a:r>
              <a:rPr lang="zh-CN" altLang="zh-CN"/>
              <a:t>】 创建一个表</a:t>
            </a:r>
            <a:r>
              <a:rPr lang="en-US" altLang="zh-CN"/>
              <a:t>student1</a:t>
            </a:r>
            <a:r>
              <a:rPr lang="zh-CN" altLang="zh-CN"/>
              <a:t>，只考虑“学号”和“出生日期”两列，出生日期必须大于</a:t>
            </a:r>
            <a:r>
              <a:rPr lang="en-US" altLang="zh-CN"/>
              <a:t>1980</a:t>
            </a:r>
            <a:r>
              <a:rPr lang="zh-CN" altLang="zh-CN"/>
              <a:t>年</a:t>
            </a:r>
            <a:r>
              <a:rPr lang="en-US" altLang="zh-CN"/>
              <a:t>1</a:t>
            </a:r>
            <a:r>
              <a:rPr lang="zh-CN" altLang="zh-CN"/>
              <a:t>月</a:t>
            </a:r>
            <a:r>
              <a:rPr lang="en-US" altLang="zh-CN"/>
              <a:t>1</a:t>
            </a:r>
            <a:r>
              <a:rPr lang="zh-CN" altLang="zh-CN"/>
              <a:t>日，并命名</a:t>
            </a:r>
            <a:r>
              <a:rPr lang="en-US" altLang="zh-CN"/>
              <a:t>CHECK</a:t>
            </a:r>
            <a:r>
              <a:rPr lang="zh-CN" altLang="zh-CN"/>
              <a:t>约束。</a:t>
            </a:r>
            <a:endParaRPr lang="zh-CN" altLang="zh-CN"/>
          </a:p>
          <a:p>
            <a:pPr eaLnBrk="1" hangingPunct="1"/>
            <a:r>
              <a:rPr lang="en-US" altLang="zh-CN"/>
              <a:t>CREATE TABLE student1</a:t>
            </a:r>
            <a:endParaRPr lang="zh-CN" altLang="zh-CN"/>
          </a:p>
          <a:p>
            <a:pPr eaLnBrk="1" hangingPunct="1"/>
            <a:r>
              <a:rPr lang="en-US" altLang="zh-CN"/>
              <a:t> (    </a:t>
            </a:r>
            <a:endParaRPr lang="zh-CN" altLang="zh-CN"/>
          </a:p>
          <a:p>
            <a:pPr eaLnBrk="1" hangingPunct="1"/>
            <a:r>
              <a:rPr lang="en-US" altLang="zh-CN"/>
              <a:t>     </a:t>
            </a:r>
            <a:r>
              <a:rPr lang="zh-CN" altLang="zh-CN"/>
              <a:t>学号 </a:t>
            </a:r>
            <a:r>
              <a:rPr lang="en-US" altLang="zh-CN"/>
              <a:t>	   char(6) 	NOT NULL,</a:t>
            </a:r>
            <a:endParaRPr lang="zh-CN" altLang="zh-CN"/>
          </a:p>
          <a:p>
            <a:pPr eaLnBrk="1" hangingPunct="1"/>
            <a:r>
              <a:rPr lang="en-US" altLang="zh-CN"/>
              <a:t>     </a:t>
            </a:r>
            <a:r>
              <a:rPr lang="zh-CN" altLang="zh-CN"/>
              <a:t>出生时间 </a:t>
            </a:r>
            <a:r>
              <a:rPr lang="en-US" altLang="zh-CN"/>
              <a:t>datetime  	NOT NULL,</a:t>
            </a:r>
            <a:endParaRPr lang="zh-CN" altLang="zh-CN"/>
          </a:p>
          <a:p>
            <a:pPr eaLnBrk="1" hangingPunct="1"/>
            <a:r>
              <a:rPr lang="en-US" altLang="zh-CN"/>
              <a:t>     CONSTRAINT  DF_student1_cjsj  CHECK(</a:t>
            </a:r>
            <a:r>
              <a:rPr lang="zh-CN" altLang="zh-CN"/>
              <a:t>出生时间</a:t>
            </a:r>
            <a:r>
              <a:rPr lang="en-US" altLang="zh-CN"/>
              <a:t>&gt;'1980-01-01')</a:t>
            </a:r>
            <a:endParaRPr lang="zh-CN" altLang="zh-CN"/>
          </a:p>
          <a:p>
            <a:pPr eaLnBrk="1" hangingPunct="1"/>
            <a:r>
              <a:rPr lang="en-US" altLang="zh-CN"/>
              <a:t> )</a:t>
            </a:r>
            <a:endParaRPr lang="zh-CN" altLang="zh-CN"/>
          </a:p>
          <a:p>
            <a:pPr eaLnBrk="1" fontAlgn="ctr" hangingPunct="1"/>
            <a:r>
              <a:rPr lang="zh-CN" altLang="zh-CN"/>
              <a:t>如果指定的一个</a:t>
            </a:r>
            <a:r>
              <a:rPr lang="en-US" altLang="zh-CN"/>
              <a:t>CHECK</a:t>
            </a:r>
            <a:r>
              <a:rPr lang="zh-CN" altLang="zh-CN"/>
              <a:t>约束中，要相互比较一个表的两个或多个列，那么该约束必须定义为表的约束。</a:t>
            </a:r>
            <a:endParaRPr lang="zh-CN" altLang="zh-CN"/>
          </a:p>
          <a:p>
            <a:pPr eaLnBrk="1" hangingPunct="1"/>
            <a:endParaRPr lang="zh-CN" altLang="en-US"/>
          </a:p>
        </p:txBody>
      </p:sp>
    </p:spTree>
  </p:cSld>
  <p:clrMapOvr>
    <a:masterClrMapping/>
  </p:clrMapOvr>
  <p:transition spd="slow">
    <p:circl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989138"/>
            <a:ext cx="7775575" cy="19446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5844" name="TextBox 2"/>
          <p:cNvSpPr txBox="1">
            <a:spLocks noChangeArrowheads="1"/>
          </p:cNvSpPr>
          <p:nvPr/>
        </p:nvSpPr>
        <p:spPr bwMode="auto">
          <a:xfrm>
            <a:off x="468313" y="1412875"/>
            <a:ext cx="8207375"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6.11</a:t>
            </a:r>
            <a:r>
              <a:rPr lang="zh-CN" altLang="zh-CN"/>
              <a:t>】 创建表</a:t>
            </a:r>
            <a:r>
              <a:rPr lang="en-US" altLang="zh-CN"/>
              <a:t>student2</a:t>
            </a:r>
            <a:r>
              <a:rPr lang="zh-CN" altLang="zh-CN"/>
              <a:t>，有“学号”、“最好成绩”和“平均成绩”三列，要求最好成绩必须大于平均成绩。</a:t>
            </a:r>
            <a:endParaRPr lang="zh-CN" altLang="zh-CN"/>
          </a:p>
          <a:p>
            <a:pPr eaLnBrk="1" hangingPunct="1"/>
            <a:r>
              <a:rPr lang="en-US" altLang="zh-CN"/>
              <a:t>CREATE  TABLE  student2</a:t>
            </a:r>
            <a:endParaRPr lang="zh-CN" altLang="zh-CN"/>
          </a:p>
          <a:p>
            <a:pPr eaLnBrk="1" hangingPunct="1"/>
            <a:r>
              <a:rPr lang="en-US" altLang="zh-CN"/>
              <a:t> (    </a:t>
            </a:r>
            <a:endParaRPr lang="zh-CN" altLang="zh-CN"/>
          </a:p>
          <a:p>
            <a:pPr eaLnBrk="1" hangingPunct="1"/>
            <a:r>
              <a:rPr lang="en-US" altLang="zh-CN"/>
              <a:t>    </a:t>
            </a:r>
            <a:r>
              <a:rPr lang="zh-CN" altLang="zh-CN"/>
              <a:t>学号 </a:t>
            </a:r>
            <a:r>
              <a:rPr lang="en-US" altLang="zh-CN"/>
              <a:t>	char(6)     NOT NULL,</a:t>
            </a:r>
            <a:endParaRPr lang="zh-CN" altLang="zh-CN"/>
          </a:p>
          <a:p>
            <a:pPr eaLnBrk="1" hangingPunct="1"/>
            <a:r>
              <a:rPr lang="en-US" altLang="zh-CN"/>
              <a:t>    </a:t>
            </a:r>
            <a:r>
              <a:rPr lang="zh-CN" altLang="zh-CN"/>
              <a:t>最好成绩 </a:t>
            </a:r>
            <a:r>
              <a:rPr lang="en-US" altLang="zh-CN"/>
              <a:t>	int  	NOT NULL,</a:t>
            </a:r>
            <a:endParaRPr lang="zh-CN" altLang="zh-CN"/>
          </a:p>
          <a:p>
            <a:pPr eaLnBrk="1" hangingPunct="1"/>
            <a:r>
              <a:rPr lang="en-US" altLang="zh-CN"/>
              <a:t>    </a:t>
            </a:r>
            <a:r>
              <a:rPr lang="zh-CN" altLang="zh-CN"/>
              <a:t>平均成绩</a:t>
            </a:r>
            <a:r>
              <a:rPr lang="en-US" altLang="zh-CN"/>
              <a:t> 	int  	NOT NULL,</a:t>
            </a:r>
            <a:endParaRPr lang="zh-CN" altLang="zh-CN"/>
          </a:p>
          <a:p>
            <a:pPr eaLnBrk="1" hangingPunct="1"/>
            <a:r>
              <a:rPr lang="en-US" altLang="zh-CN"/>
              <a:t>          CHECK(</a:t>
            </a:r>
            <a:r>
              <a:rPr lang="zh-CN" altLang="zh-CN"/>
              <a:t>最好成绩</a:t>
            </a:r>
            <a:r>
              <a:rPr lang="en-US" altLang="zh-CN"/>
              <a:t>&gt;</a:t>
            </a:r>
            <a:r>
              <a:rPr lang="zh-CN" altLang="zh-CN"/>
              <a:t>平均成绩</a:t>
            </a:r>
            <a:r>
              <a:rPr lang="en-US" altLang="zh-CN"/>
              <a:t>)</a:t>
            </a:r>
            <a:endParaRPr lang="zh-CN" altLang="zh-CN"/>
          </a:p>
          <a:p>
            <a:pPr eaLnBrk="1" hangingPunct="1"/>
            <a:r>
              <a:rPr lang="en-US" altLang="zh-CN"/>
              <a:t>)</a:t>
            </a:r>
            <a:endParaRPr lang="zh-CN" altLang="zh-CN"/>
          </a:p>
          <a:p>
            <a:pPr eaLnBrk="1" fontAlgn="ctr" hangingPunct="1"/>
            <a:r>
              <a:rPr lang="zh-CN" altLang="zh-CN"/>
              <a:t>也可以同时定义多个</a:t>
            </a:r>
            <a:r>
              <a:rPr lang="en-US" altLang="zh-CN"/>
              <a:t>CHECK</a:t>
            </a:r>
            <a:r>
              <a:rPr lang="zh-CN" altLang="zh-CN"/>
              <a:t>约束，中间用逗号隔开。</a:t>
            </a:r>
            <a:endParaRPr lang="zh-CN" altLang="zh-CN"/>
          </a:p>
          <a:p>
            <a:pPr eaLnBrk="1" hangingPunct="1"/>
            <a:endParaRPr lang="zh-CN" altLang="en-US"/>
          </a:p>
        </p:txBody>
      </p:sp>
    </p:spTree>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2349500"/>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754438"/>
            <a:ext cx="7848600"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6869"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3</a:t>
            </a:r>
            <a:r>
              <a:rPr lang="zh-CN" altLang="zh-CN"/>
              <a:t>）命令方式在修改表时创建</a:t>
            </a:r>
            <a:r>
              <a:rPr lang="en-US" altLang="zh-CN"/>
              <a:t>CHECK</a:t>
            </a:r>
            <a:r>
              <a:rPr lang="zh-CN" altLang="zh-CN"/>
              <a:t>约束</a:t>
            </a:r>
            <a:endParaRPr lang="zh-CN" altLang="zh-CN"/>
          </a:p>
          <a:p>
            <a:pPr eaLnBrk="1" fontAlgn="ctr" hangingPunct="1"/>
            <a:r>
              <a:rPr lang="zh-CN" altLang="zh-CN"/>
              <a:t>在使用</a:t>
            </a:r>
            <a:r>
              <a:rPr lang="en-US" altLang="zh-CN"/>
              <a:t>ALTER TABLE</a:t>
            </a:r>
            <a:r>
              <a:rPr lang="zh-CN" altLang="zh-CN"/>
              <a:t>语句修改表时也能定义</a:t>
            </a:r>
            <a:r>
              <a:rPr lang="en-US" altLang="zh-CN"/>
              <a:t>CHECK</a:t>
            </a:r>
            <a:r>
              <a:rPr lang="zh-CN" altLang="zh-CN"/>
              <a:t>约束。</a:t>
            </a:r>
            <a:endParaRPr lang="zh-CN" altLang="zh-CN"/>
          </a:p>
          <a:p>
            <a:pPr eaLnBrk="1" fontAlgn="ctr" hangingPunct="1"/>
            <a:r>
              <a:rPr lang="zh-CN" altLang="zh-CN"/>
              <a:t>定义</a:t>
            </a:r>
            <a:r>
              <a:rPr lang="en-US" altLang="zh-CN"/>
              <a:t>CHECK</a:t>
            </a:r>
            <a:r>
              <a:rPr lang="zh-CN" altLang="zh-CN"/>
              <a:t>约束的语法格式为：</a:t>
            </a:r>
            <a:endParaRPr lang="zh-CN" altLang="zh-CN"/>
          </a:p>
          <a:p>
            <a:pPr eaLnBrk="1" hangingPunct="1"/>
            <a:r>
              <a:rPr lang="en-US" altLang="zh-CN"/>
              <a:t>ALTER TABLE</a:t>
            </a:r>
            <a:r>
              <a:rPr lang="zh-CN" altLang="zh-CN"/>
              <a:t>表名</a:t>
            </a:r>
            <a:endParaRPr lang="zh-CN" altLang="zh-CN"/>
          </a:p>
          <a:p>
            <a:pPr eaLnBrk="1" hangingPunct="1"/>
            <a:r>
              <a:rPr lang="en-US" altLang="zh-CN"/>
              <a:t>      [ WITH { CHECK | NOCHECK } ] ADD</a:t>
            </a:r>
            <a:endParaRPr lang="zh-CN" altLang="zh-CN"/>
          </a:p>
          <a:p>
            <a:pPr eaLnBrk="1" hangingPunct="1"/>
            <a:r>
              <a:rPr lang="en-US" altLang="zh-CN"/>
              <a:t>      [&lt;</a:t>
            </a:r>
            <a:r>
              <a:rPr lang="zh-CN" altLang="zh-CN"/>
              <a:t>列定义</a:t>
            </a:r>
            <a:r>
              <a:rPr lang="en-US" altLang="zh-CN"/>
              <a:t>&gt;]</a:t>
            </a:r>
            <a:endParaRPr lang="zh-CN" altLang="zh-CN"/>
          </a:p>
          <a:p>
            <a:pPr eaLnBrk="1" hangingPunct="1"/>
            <a:r>
              <a:rPr lang="en-US" altLang="zh-CN"/>
              <a:t>      [CONSTRAINT</a:t>
            </a:r>
            <a:r>
              <a:rPr lang="zh-CN" altLang="zh-CN"/>
              <a:t>约束名</a:t>
            </a:r>
            <a:r>
              <a:rPr lang="en-US" altLang="zh-CN"/>
              <a:t>] CHECK (</a:t>
            </a:r>
            <a:r>
              <a:rPr lang="zh-CN" altLang="zh-CN"/>
              <a:t>逻辑表达式</a:t>
            </a:r>
            <a:r>
              <a:rPr lang="en-US" altLang="zh-CN"/>
              <a:t>)</a:t>
            </a:r>
            <a:endParaRPr lang="zh-CN" altLang="zh-CN"/>
          </a:p>
          <a:p>
            <a:pPr eaLnBrk="1" fontAlgn="ctr" hangingPunct="1"/>
            <a:r>
              <a:rPr lang="zh-CN" altLang="zh-CN"/>
              <a:t>【例</a:t>
            </a:r>
            <a:r>
              <a:rPr lang="en-US" altLang="zh-CN"/>
              <a:t>6.12</a:t>
            </a:r>
            <a:r>
              <a:rPr lang="zh-CN" altLang="zh-CN"/>
              <a:t>】 通过修改</a:t>
            </a:r>
            <a:r>
              <a:rPr lang="en-US" altLang="zh-CN"/>
              <a:t>pxscj</a:t>
            </a:r>
            <a:r>
              <a:rPr lang="zh-CN" altLang="zh-CN"/>
              <a:t>数据库的</a:t>
            </a:r>
            <a:r>
              <a:rPr lang="en-US" altLang="zh-CN"/>
              <a:t>cjb</a:t>
            </a:r>
            <a:r>
              <a:rPr lang="zh-CN" altLang="zh-CN"/>
              <a:t>表，增加“成绩”字段的</a:t>
            </a:r>
            <a:r>
              <a:rPr lang="en-US" altLang="zh-CN"/>
              <a:t>CHECK</a:t>
            </a:r>
            <a:r>
              <a:rPr lang="zh-CN" altLang="zh-CN"/>
              <a:t>约束。</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ALTER TABLE cjb     </a:t>
            </a:r>
            <a:endParaRPr lang="zh-CN" altLang="zh-CN"/>
          </a:p>
          <a:p>
            <a:pPr eaLnBrk="1" hangingPunct="1"/>
            <a:r>
              <a:rPr lang="en-US" altLang="zh-CN"/>
              <a:t>    ADD CONSTRAINT cj_constraint  CHECK (</a:t>
            </a:r>
            <a:r>
              <a:rPr lang="zh-CN" altLang="zh-CN"/>
              <a:t>成绩</a:t>
            </a:r>
            <a:r>
              <a:rPr lang="en-US" altLang="zh-CN"/>
              <a:t>&gt;=0 AND</a:t>
            </a:r>
            <a:r>
              <a:rPr lang="zh-CN" altLang="zh-CN"/>
              <a:t>成绩</a:t>
            </a:r>
            <a:r>
              <a:rPr lang="en-US" altLang="zh-CN"/>
              <a:t>&lt;=100) </a:t>
            </a:r>
            <a:endParaRPr lang="zh-CN" altLang="zh-CN"/>
          </a:p>
          <a:p>
            <a:pPr eaLnBrk="1" hangingPunct="1"/>
            <a:endParaRPr lang="zh-CN" altLang="en-US"/>
          </a:p>
        </p:txBody>
      </p:sp>
    </p:spTree>
  </p:cSld>
  <p:clrMapOvr>
    <a:masterClrMapping/>
  </p:clrMapOvr>
  <p:transition spd="slow">
    <p:circl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9638" y="3716338"/>
            <a:ext cx="7777162" cy="576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781300"/>
            <a:ext cx="7775575"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7893" name="TextBox 2"/>
          <p:cNvSpPr txBox="1">
            <a:spLocks noChangeArrowheads="1"/>
          </p:cNvSpPr>
          <p:nvPr/>
        </p:nvSpPr>
        <p:spPr bwMode="auto">
          <a:xfrm>
            <a:off x="468313" y="1484313"/>
            <a:ext cx="82073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4</a:t>
            </a:r>
            <a:r>
              <a:rPr lang="zh-CN" altLang="zh-CN"/>
              <a:t>）利用</a:t>
            </a:r>
            <a:r>
              <a:rPr lang="en-US" altLang="zh-CN"/>
              <a:t>SQL</a:t>
            </a:r>
            <a:r>
              <a:rPr lang="zh-CN" altLang="zh-CN"/>
              <a:t>语句删除</a:t>
            </a:r>
            <a:r>
              <a:rPr lang="en-US" altLang="zh-CN"/>
              <a:t>CHECK</a:t>
            </a:r>
            <a:r>
              <a:rPr lang="zh-CN" altLang="zh-CN"/>
              <a:t>约束</a:t>
            </a:r>
            <a:endParaRPr lang="zh-CN" altLang="zh-CN"/>
          </a:p>
          <a:p>
            <a:pPr eaLnBrk="1" fontAlgn="ctr" hangingPunct="1">
              <a:lnSpc>
                <a:spcPct val="150000"/>
              </a:lnSpc>
            </a:pPr>
            <a:r>
              <a:rPr lang="zh-CN" altLang="zh-CN"/>
              <a:t>使用</a:t>
            </a:r>
            <a:r>
              <a:rPr lang="en-US" altLang="zh-CN"/>
              <a:t>ALTER TABLE</a:t>
            </a:r>
            <a:r>
              <a:rPr lang="zh-CN" altLang="zh-CN"/>
              <a:t>语句的</a:t>
            </a:r>
            <a:r>
              <a:rPr lang="en-US" altLang="zh-CN"/>
              <a:t>DROP</a:t>
            </a:r>
            <a:r>
              <a:rPr lang="zh-CN" altLang="zh-CN"/>
              <a:t>子句可以删除</a:t>
            </a:r>
            <a:r>
              <a:rPr lang="en-US" altLang="zh-CN"/>
              <a:t>CHECK</a:t>
            </a:r>
            <a:r>
              <a:rPr lang="zh-CN" altLang="zh-CN"/>
              <a:t>约束。</a:t>
            </a:r>
            <a:endParaRPr lang="zh-CN" altLang="zh-CN"/>
          </a:p>
          <a:p>
            <a:pPr eaLnBrk="1" fontAlgn="ctr" hangingPunct="1">
              <a:lnSpc>
                <a:spcPct val="150000"/>
              </a:lnSpc>
            </a:pPr>
            <a:r>
              <a:rPr lang="zh-CN" altLang="zh-CN"/>
              <a:t>语法格式：</a:t>
            </a:r>
            <a:endParaRPr lang="zh-CN" altLang="zh-CN"/>
          </a:p>
          <a:p>
            <a:pPr eaLnBrk="1" hangingPunct="1"/>
            <a:r>
              <a:rPr lang="en-US" altLang="zh-CN"/>
              <a:t>ALTER TABLE</a:t>
            </a:r>
            <a:r>
              <a:rPr lang="zh-CN" altLang="zh-CN"/>
              <a:t>表名</a:t>
            </a:r>
            <a:endParaRPr lang="zh-CN" altLang="zh-CN"/>
          </a:p>
          <a:p>
            <a:pPr eaLnBrk="1" hangingPunct="1"/>
            <a:r>
              <a:rPr lang="en-US" altLang="zh-CN"/>
              <a:t>    DROP CONSTRAINT</a:t>
            </a:r>
            <a:r>
              <a:rPr lang="zh-CN" altLang="zh-CN"/>
              <a:t>约束名</a:t>
            </a:r>
            <a:endParaRPr lang="zh-CN" altLang="zh-CN"/>
          </a:p>
          <a:p>
            <a:pPr eaLnBrk="1" fontAlgn="ctr" hangingPunct="1">
              <a:lnSpc>
                <a:spcPct val="150000"/>
              </a:lnSpc>
            </a:pPr>
            <a:r>
              <a:rPr lang="zh-CN" altLang="zh-CN"/>
              <a:t>【例</a:t>
            </a:r>
            <a:r>
              <a:rPr lang="en-US" altLang="zh-CN"/>
              <a:t>6.13</a:t>
            </a:r>
            <a:r>
              <a:rPr lang="zh-CN" altLang="zh-CN"/>
              <a:t>】 删除</a:t>
            </a:r>
            <a:r>
              <a:rPr lang="en-US" altLang="zh-CN"/>
              <a:t>cjb</a:t>
            </a:r>
            <a:r>
              <a:rPr lang="zh-CN" altLang="zh-CN"/>
              <a:t>表“成绩”字段的</a:t>
            </a:r>
            <a:r>
              <a:rPr lang="en-US" altLang="zh-CN"/>
              <a:t>CHECK</a:t>
            </a:r>
            <a:r>
              <a:rPr lang="zh-CN" altLang="zh-CN"/>
              <a:t>约束。</a:t>
            </a:r>
            <a:endParaRPr lang="zh-CN" altLang="zh-CN"/>
          </a:p>
          <a:p>
            <a:pPr eaLnBrk="1" hangingPunct="1"/>
            <a:r>
              <a:rPr lang="en-US" altLang="zh-CN"/>
              <a:t>ALTER TABLE cjb     </a:t>
            </a:r>
            <a:endParaRPr lang="zh-CN" altLang="zh-CN"/>
          </a:p>
          <a:p>
            <a:pPr eaLnBrk="1" hangingPunct="1"/>
            <a:r>
              <a:rPr lang="en-US" altLang="zh-CN"/>
              <a:t>    DROP CONSTRAINT cj_constraint</a:t>
            </a:r>
            <a:endParaRPr lang="zh-CN" altLang="zh-CN"/>
          </a:p>
          <a:p>
            <a:pPr eaLnBrk="1" hangingPunct="1"/>
            <a:endParaRPr lang="zh-CN" altLang="en-US"/>
          </a:p>
        </p:txBody>
      </p:sp>
    </p:spTree>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276475"/>
            <a:ext cx="7921625" cy="504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 name="TextBox 2"/>
          <p:cNvSpPr txBox="1"/>
          <p:nvPr/>
        </p:nvSpPr>
        <p:spPr>
          <a:xfrm>
            <a:off x="468313" y="1412875"/>
            <a:ext cx="8280400" cy="4678363"/>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．规则对象的定义、使用与删除</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）规则对象的定义</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CREATE RULE [</a:t>
            </a:r>
            <a:r>
              <a:rPr lang="zh-CN" altLang="zh-CN" dirty="0">
                <a:latin typeface="+mn-lt"/>
                <a:ea typeface="+mn-ea"/>
              </a:rPr>
              <a:t>架构名</a:t>
            </a:r>
            <a:r>
              <a:rPr lang="en-US" altLang="zh-CN" dirty="0">
                <a:latin typeface="+mn-lt"/>
                <a:ea typeface="+mn-ea"/>
              </a:rPr>
              <a:t>. ]</a:t>
            </a:r>
            <a:r>
              <a:rPr lang="zh-CN" altLang="zh-CN" dirty="0">
                <a:latin typeface="+mn-lt"/>
                <a:ea typeface="+mn-ea"/>
              </a:rPr>
              <a:t>规则名</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AS</a:t>
            </a:r>
            <a:r>
              <a:rPr lang="zh-CN" altLang="zh-CN" dirty="0">
                <a:latin typeface="+mn-lt"/>
                <a:ea typeface="+mn-ea"/>
              </a:rPr>
              <a:t>条件表达式</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创建规则时，一般使用局部变量表示</a:t>
            </a:r>
            <a:r>
              <a:rPr lang="en-US" altLang="zh-CN" dirty="0">
                <a:latin typeface="+mn-lt"/>
                <a:ea typeface="+mn-ea"/>
              </a:rPr>
              <a:t>UPDATE</a:t>
            </a:r>
            <a:r>
              <a:rPr lang="zh-CN" altLang="zh-CN" dirty="0">
                <a:latin typeface="+mn-lt"/>
                <a:ea typeface="+mn-ea"/>
              </a:rPr>
              <a:t>或</a:t>
            </a:r>
            <a:r>
              <a:rPr lang="en-US" altLang="zh-CN" dirty="0">
                <a:latin typeface="+mn-lt"/>
                <a:ea typeface="+mn-ea"/>
              </a:rPr>
              <a:t>INSERT</a:t>
            </a:r>
            <a:r>
              <a:rPr lang="zh-CN" altLang="zh-CN" dirty="0">
                <a:latin typeface="+mn-lt"/>
                <a:ea typeface="+mn-ea"/>
              </a:rPr>
              <a:t>语句输入的值。另外，有如下几点需说明：</a:t>
            </a:r>
            <a:endParaRPr lang="zh-CN" altLang="zh-CN" dirty="0">
              <a:latin typeface="+mn-lt"/>
              <a:ea typeface="+mn-ea"/>
            </a:endParaRPr>
          </a:p>
          <a:p>
            <a:pPr indent="446405" fontAlgn="ctr">
              <a:spcBef>
                <a:spcPts val="0"/>
              </a:spcBef>
              <a:spcAft>
                <a:spcPts val="0"/>
              </a:spcAft>
              <a:defRPr/>
            </a:pPr>
            <a:r>
              <a:rPr lang="zh-CN" altLang="zh-CN" sz="1600" dirty="0">
                <a:latin typeface="+mn-lt"/>
                <a:ea typeface="+mn-ea"/>
              </a:rPr>
              <a:t>① 创建的规则对先前已存在于数据库中的数据无效。</a:t>
            </a:r>
            <a:endParaRPr lang="zh-CN" altLang="zh-CN" sz="1600" dirty="0">
              <a:latin typeface="+mn-lt"/>
              <a:ea typeface="+mn-ea"/>
            </a:endParaRPr>
          </a:p>
          <a:p>
            <a:pPr indent="446405" fontAlgn="ctr">
              <a:spcBef>
                <a:spcPts val="0"/>
              </a:spcBef>
              <a:spcAft>
                <a:spcPts val="0"/>
              </a:spcAft>
              <a:defRPr/>
            </a:pPr>
            <a:r>
              <a:rPr lang="zh-CN" altLang="zh-CN" sz="1600" dirty="0">
                <a:latin typeface="+mn-lt"/>
                <a:ea typeface="+mn-ea"/>
              </a:rPr>
              <a:t>② 在单个批处理中，</a:t>
            </a:r>
            <a:r>
              <a:rPr lang="en-US" altLang="zh-CN" sz="1600" dirty="0">
                <a:latin typeface="+mn-lt"/>
                <a:ea typeface="+mn-ea"/>
              </a:rPr>
              <a:t>CREATE RULE</a:t>
            </a:r>
            <a:r>
              <a:rPr lang="zh-CN" altLang="zh-CN" sz="1600" dirty="0">
                <a:latin typeface="+mn-lt"/>
                <a:ea typeface="+mn-ea"/>
              </a:rPr>
              <a:t>语句不能与其他</a:t>
            </a:r>
            <a:r>
              <a:rPr lang="en-US" altLang="zh-CN" sz="1600" dirty="0">
                <a:latin typeface="+mn-lt"/>
                <a:ea typeface="+mn-ea"/>
              </a:rPr>
              <a:t>T-SQL</a:t>
            </a:r>
            <a:r>
              <a:rPr lang="zh-CN" altLang="zh-CN" sz="1600" dirty="0">
                <a:latin typeface="+mn-lt"/>
                <a:ea typeface="+mn-ea"/>
              </a:rPr>
              <a:t>语句组合使用。</a:t>
            </a:r>
            <a:endParaRPr lang="zh-CN" altLang="zh-CN" sz="1600" dirty="0">
              <a:latin typeface="+mn-lt"/>
              <a:ea typeface="+mn-ea"/>
            </a:endParaRPr>
          </a:p>
          <a:p>
            <a:pPr indent="446405" fontAlgn="ctr">
              <a:spcBef>
                <a:spcPts val="0"/>
              </a:spcBef>
              <a:spcAft>
                <a:spcPts val="0"/>
              </a:spcAft>
              <a:defRPr/>
            </a:pPr>
            <a:r>
              <a:rPr lang="zh-CN" altLang="zh-CN" sz="1600" dirty="0">
                <a:latin typeface="+mn-lt"/>
                <a:ea typeface="+mn-ea"/>
              </a:rPr>
              <a:t>③ 规则表达式的类型必须与列的数据类型兼容，不能将规则绑定到</a:t>
            </a:r>
            <a:r>
              <a:rPr lang="en-US" altLang="zh-CN" sz="1600" dirty="0">
                <a:latin typeface="+mn-lt"/>
                <a:ea typeface="+mn-ea"/>
              </a:rPr>
              <a:t>text</a:t>
            </a:r>
            <a:r>
              <a:rPr lang="zh-CN" altLang="zh-CN" sz="1600" dirty="0">
                <a:latin typeface="+mn-lt"/>
                <a:ea typeface="+mn-ea"/>
              </a:rPr>
              <a:t>、</a:t>
            </a:r>
            <a:r>
              <a:rPr lang="en-US" altLang="zh-CN" sz="1600" dirty="0">
                <a:latin typeface="+mn-lt"/>
                <a:ea typeface="+mn-ea"/>
              </a:rPr>
              <a:t>image</a:t>
            </a:r>
            <a:r>
              <a:rPr lang="zh-CN" altLang="zh-CN" sz="1600" dirty="0">
                <a:latin typeface="+mn-lt"/>
                <a:ea typeface="+mn-ea"/>
              </a:rPr>
              <a:t>或</a:t>
            </a:r>
            <a:r>
              <a:rPr lang="en-US" altLang="zh-CN" sz="1600" dirty="0">
                <a:latin typeface="+mn-lt"/>
                <a:ea typeface="+mn-ea"/>
              </a:rPr>
              <a:t>timestamp</a:t>
            </a:r>
            <a:r>
              <a:rPr lang="zh-CN" altLang="zh-CN" sz="1600" dirty="0">
                <a:latin typeface="+mn-lt"/>
                <a:ea typeface="+mn-ea"/>
              </a:rPr>
              <a:t>列。要用单引号（</a:t>
            </a:r>
            <a:r>
              <a:rPr lang="en-US" altLang="zh-CN" sz="1600" dirty="0">
                <a:latin typeface="+mn-lt"/>
                <a:ea typeface="+mn-ea"/>
              </a:rPr>
              <a:t>'</a:t>
            </a:r>
            <a:r>
              <a:rPr lang="zh-CN" altLang="zh-CN" sz="1600" dirty="0">
                <a:latin typeface="+mn-lt"/>
                <a:ea typeface="+mn-ea"/>
              </a:rPr>
              <a:t>）将字符和日期常量引起来，在十六进制常量前加</a:t>
            </a:r>
            <a:r>
              <a:rPr lang="en-US" altLang="zh-CN" sz="1600" dirty="0">
                <a:latin typeface="+mn-lt"/>
                <a:ea typeface="+mn-ea"/>
              </a:rPr>
              <a:t>0x</a:t>
            </a:r>
            <a:r>
              <a:rPr lang="zh-CN" altLang="zh-CN" sz="1600" dirty="0">
                <a:latin typeface="+mn-lt"/>
                <a:ea typeface="+mn-ea"/>
              </a:rPr>
              <a:t>。</a:t>
            </a:r>
            <a:endParaRPr lang="zh-CN" altLang="zh-CN" sz="1600" dirty="0">
              <a:latin typeface="+mn-lt"/>
              <a:ea typeface="+mn-ea"/>
            </a:endParaRPr>
          </a:p>
          <a:p>
            <a:pPr indent="446405" fontAlgn="ctr">
              <a:spcBef>
                <a:spcPts val="0"/>
              </a:spcBef>
              <a:spcAft>
                <a:spcPts val="0"/>
              </a:spcAft>
              <a:defRPr/>
            </a:pPr>
            <a:r>
              <a:rPr lang="zh-CN" altLang="zh-CN" sz="1600" dirty="0">
                <a:latin typeface="+mn-lt"/>
                <a:ea typeface="+mn-ea"/>
              </a:rPr>
              <a:t>④ 对于用户定义数据类型，当在该类型的数据列中插入值或更新该类型的数据列时，绑定到该类型的规则才会激活。规则不检验变量，所以在向用户定义数据类型的变量赋值时，不能与列绑定的规则冲突。</a:t>
            </a:r>
            <a:endParaRPr lang="zh-CN" altLang="zh-CN" sz="1600" dirty="0">
              <a:latin typeface="+mn-lt"/>
              <a:ea typeface="+mn-ea"/>
            </a:endParaRPr>
          </a:p>
          <a:p>
            <a:pPr indent="446405" fontAlgn="ctr">
              <a:spcBef>
                <a:spcPts val="0"/>
              </a:spcBef>
              <a:spcAft>
                <a:spcPts val="0"/>
              </a:spcAft>
              <a:defRPr/>
            </a:pPr>
            <a:r>
              <a:rPr lang="zh-CN" altLang="zh-CN" sz="1600" dirty="0">
                <a:latin typeface="+mn-lt"/>
                <a:ea typeface="+mn-ea"/>
              </a:rPr>
              <a:t>⑤ 如果列同时有默认值和规则与之关联，则默认值必须满足规则的定义，与规则冲突的默认值不能插入列。</a:t>
            </a:r>
            <a:endParaRPr lang="zh-CN" altLang="zh-CN" sz="1600"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circl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47713" y="4024313"/>
            <a:ext cx="7993062" cy="18526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636838"/>
            <a:ext cx="7993063"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9941" name="TextBox 2"/>
          <p:cNvSpPr txBox="1">
            <a:spLocks noChangeArrowheads="1"/>
          </p:cNvSpPr>
          <p:nvPr/>
        </p:nvSpPr>
        <p:spPr bwMode="auto">
          <a:xfrm>
            <a:off x="395288" y="1484313"/>
            <a:ext cx="8353425"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）将规则对象绑定到用户定义数据类型或列</a:t>
            </a:r>
            <a:endParaRPr lang="zh-CN" altLang="zh-CN"/>
          </a:p>
          <a:p>
            <a:pPr eaLnBrk="1" fontAlgn="ctr" hangingPunct="1"/>
            <a:r>
              <a:rPr lang="zh-CN" altLang="zh-CN"/>
              <a:t>将规则对象绑定到列或用户定义数据类型中可以使用系统存储过程</a:t>
            </a:r>
            <a:r>
              <a:rPr lang="en-US" altLang="zh-CN"/>
              <a:t>sp_bindrule</a:t>
            </a:r>
            <a:r>
              <a:rPr lang="zh-CN" altLang="zh-CN"/>
              <a:t>。</a:t>
            </a:r>
            <a:endParaRPr lang="zh-CN" altLang="zh-CN"/>
          </a:p>
          <a:p>
            <a:pPr eaLnBrk="1" fontAlgn="ctr" hangingPunct="1"/>
            <a:r>
              <a:rPr lang="zh-CN" altLang="zh-CN"/>
              <a:t>语法格式：</a:t>
            </a:r>
            <a:endParaRPr lang="zh-CN" altLang="zh-CN"/>
          </a:p>
          <a:p>
            <a:pPr eaLnBrk="1" hangingPunct="1"/>
            <a:r>
              <a:rPr lang="en-US" altLang="zh-CN"/>
              <a:t>sp_bindrule [ @rulename = ] '</a:t>
            </a:r>
            <a:r>
              <a:rPr lang="zh-CN" altLang="zh-CN"/>
              <a:t>规则名</a:t>
            </a:r>
            <a:r>
              <a:rPr lang="en-US" altLang="zh-CN"/>
              <a:t>' ,</a:t>
            </a:r>
            <a:endParaRPr lang="zh-CN" altLang="zh-CN"/>
          </a:p>
          <a:p>
            <a:pPr eaLnBrk="1" hangingPunct="1"/>
            <a:r>
              <a:rPr lang="en-US" altLang="zh-CN"/>
              <a:t>   [ @objname = ] '</a:t>
            </a:r>
            <a:r>
              <a:rPr lang="zh-CN" altLang="zh-CN"/>
              <a:t>对象名</a:t>
            </a:r>
            <a:r>
              <a:rPr lang="en-US" altLang="zh-CN"/>
              <a:t>'</a:t>
            </a:r>
            <a:endParaRPr lang="zh-CN" altLang="zh-CN"/>
          </a:p>
          <a:p>
            <a:pPr eaLnBrk="1" hangingPunct="1"/>
            <a:r>
              <a:rPr lang="en-US" altLang="zh-CN"/>
              <a:t>   [ , [ @futureonly = ] 'futureonly</a:t>
            </a:r>
            <a:r>
              <a:rPr lang="zh-CN" altLang="zh-CN"/>
              <a:t>标志</a:t>
            </a:r>
            <a:r>
              <a:rPr lang="en-US" altLang="zh-CN"/>
              <a:t>' ]</a:t>
            </a:r>
            <a:endParaRPr lang="zh-CN" altLang="zh-CN"/>
          </a:p>
          <a:p>
            <a:pPr eaLnBrk="1" fontAlgn="ctr" hangingPunct="1"/>
            <a:r>
              <a:rPr lang="zh-CN" altLang="zh-CN"/>
              <a:t>【例</a:t>
            </a:r>
            <a:r>
              <a:rPr lang="en-US" altLang="zh-CN"/>
              <a:t>6.14</a:t>
            </a:r>
            <a:r>
              <a:rPr lang="zh-CN" altLang="zh-CN"/>
              <a:t>】 如下程序创建一个规则，并绑定到表</a:t>
            </a:r>
            <a:r>
              <a:rPr lang="en-US" altLang="zh-CN"/>
              <a:t>kcb</a:t>
            </a:r>
            <a:r>
              <a:rPr lang="zh-CN" altLang="zh-CN"/>
              <a:t>的课程号列，用于限制课程号的输入范围。</a:t>
            </a:r>
            <a:r>
              <a:rPr lang="en-US" altLang="zh-CN"/>
              <a:t> </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RULE  kc_rule</a:t>
            </a:r>
            <a:endParaRPr lang="zh-CN" altLang="zh-CN"/>
          </a:p>
          <a:p>
            <a:pPr eaLnBrk="1" hangingPunct="1"/>
            <a:r>
              <a:rPr lang="en-US" altLang="zh-CN"/>
              <a:t>    AS @range like '[1-5][0-9][0-9]'</a:t>
            </a:r>
            <a:endParaRPr lang="zh-CN" altLang="zh-CN"/>
          </a:p>
          <a:p>
            <a:pPr eaLnBrk="1" hangingPunct="1"/>
            <a:r>
              <a:rPr lang="en-US" altLang="zh-CN"/>
              <a:t>GO</a:t>
            </a:r>
            <a:endParaRPr lang="zh-CN" altLang="zh-CN"/>
          </a:p>
          <a:p>
            <a:pPr eaLnBrk="1" hangingPunct="1"/>
            <a:r>
              <a:rPr lang="en-US" altLang="zh-CN"/>
              <a:t>EXEC sp_bindrule 'kc_rule', 'kcb.</a:t>
            </a:r>
            <a:r>
              <a:rPr lang="zh-CN" altLang="zh-CN"/>
              <a:t>课程号</a:t>
            </a:r>
            <a:r>
              <a:rPr lang="en-US" altLang="zh-CN"/>
              <a:t>'	/*</a:t>
            </a:r>
            <a:r>
              <a:rPr lang="zh-CN" altLang="zh-CN"/>
              <a:t>执行存储过程使用</a:t>
            </a:r>
            <a:r>
              <a:rPr lang="en-US" altLang="zh-CN"/>
              <a:t>EXEC</a:t>
            </a:r>
            <a:r>
              <a:rPr lang="zh-CN" altLang="zh-CN"/>
              <a:t>命令</a:t>
            </a:r>
            <a:r>
              <a:rPr lang="en-US" altLang="zh-CN"/>
              <a:t>*/</a:t>
            </a:r>
            <a:endParaRPr lang="zh-CN" altLang="zh-CN"/>
          </a:p>
          <a:p>
            <a:pPr eaLnBrk="1" hangingPunct="1"/>
            <a:r>
              <a:rPr lang="en-US" altLang="zh-CN"/>
              <a:t>GO</a:t>
            </a:r>
            <a:endParaRPr lang="zh-CN" altLang="zh-CN"/>
          </a:p>
          <a:p>
            <a:pPr eaLnBrk="1" fontAlgn="ctr" hangingPunct="1"/>
            <a:r>
              <a:rPr lang="zh-CN" altLang="zh-CN"/>
              <a:t>程序如果正确执行将提示：“已将规则绑定到表的列”。</a:t>
            </a:r>
            <a:endParaRPr lang="zh-CN" altLang="zh-CN"/>
          </a:p>
          <a:p>
            <a:pPr eaLnBrk="1" hangingPunct="1"/>
            <a:endParaRPr lang="zh-CN" altLang="en-US"/>
          </a:p>
        </p:txBody>
      </p:sp>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3500438"/>
            <a:ext cx="7920038"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40964" name="TextBox 2"/>
          <p:cNvSpPr txBox="1">
            <a:spLocks noChangeArrowheads="1"/>
          </p:cNvSpPr>
          <p:nvPr/>
        </p:nvSpPr>
        <p:spPr bwMode="auto">
          <a:xfrm>
            <a:off x="395288" y="1412875"/>
            <a:ext cx="828040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在“对象资源管理器”中展开“</a:t>
            </a:r>
            <a:r>
              <a:rPr lang="en-US" altLang="zh-CN"/>
              <a:t>pxscj</a:t>
            </a:r>
            <a:r>
              <a:rPr lang="zh-CN" altLang="zh-CN"/>
              <a:t>”→“表”→“</a:t>
            </a:r>
            <a:r>
              <a:rPr lang="en-US" altLang="zh-CN"/>
              <a:t>dbo.kcb</a:t>
            </a:r>
            <a:r>
              <a:rPr lang="zh-CN" altLang="zh-CN"/>
              <a:t>”→“列”，右击“课程号”，选择“属性”菜单项，在</a:t>
            </a:r>
            <a:r>
              <a:rPr lang="en-US" altLang="zh-CN"/>
              <a:t>kcb</a:t>
            </a:r>
            <a:r>
              <a:rPr lang="zh-CN" altLang="zh-CN"/>
              <a:t>表的“列属性</a:t>
            </a:r>
            <a:r>
              <a:rPr lang="en-US" altLang="zh-CN"/>
              <a:t>-</a:t>
            </a:r>
            <a:r>
              <a:rPr lang="zh-CN" altLang="zh-CN"/>
              <a:t>课程号”窗口的“规则”栏中可以查看已经新建的规则。</a:t>
            </a:r>
            <a:endParaRPr lang="zh-CN" altLang="zh-CN"/>
          </a:p>
          <a:p>
            <a:pPr eaLnBrk="1" fontAlgn="ctr" hangingPunct="1">
              <a:lnSpc>
                <a:spcPct val="150000"/>
              </a:lnSpc>
            </a:pPr>
            <a:r>
              <a:rPr lang="zh-CN" altLang="zh-CN"/>
              <a:t>【例</a:t>
            </a:r>
            <a:r>
              <a:rPr lang="en-US" altLang="zh-CN"/>
              <a:t>6.15</a:t>
            </a:r>
            <a:r>
              <a:rPr lang="zh-CN" altLang="zh-CN"/>
              <a:t>】 创建一个规则，用以限制输入到该规则所绑定的列中的值只能是该规则中列出的值。</a:t>
            </a:r>
            <a:endParaRPr lang="zh-CN" altLang="zh-CN"/>
          </a:p>
          <a:p>
            <a:pPr eaLnBrk="1" hangingPunct="1"/>
            <a:r>
              <a:rPr lang="en-US" altLang="zh-CN"/>
              <a:t>CREATE RULE list_rule</a:t>
            </a:r>
            <a:endParaRPr lang="zh-CN" altLang="zh-CN"/>
          </a:p>
          <a:p>
            <a:pPr eaLnBrk="1" hangingPunct="1"/>
            <a:r>
              <a:rPr lang="en-US" altLang="zh-CN"/>
              <a:t>    AS @list IN ('C</a:t>
            </a:r>
            <a:r>
              <a:rPr lang="zh-CN" altLang="zh-CN"/>
              <a:t>语言</a:t>
            </a:r>
            <a:r>
              <a:rPr lang="en-US" altLang="zh-CN"/>
              <a:t>', '</a:t>
            </a:r>
            <a:r>
              <a:rPr lang="zh-CN" altLang="zh-CN"/>
              <a:t>离散数学</a:t>
            </a:r>
            <a:r>
              <a:rPr lang="en-US" altLang="zh-CN"/>
              <a:t>', '</a:t>
            </a:r>
            <a:r>
              <a:rPr lang="zh-CN" altLang="zh-CN"/>
              <a:t>微机原理</a:t>
            </a:r>
            <a:r>
              <a:rPr lang="en-US" altLang="zh-CN"/>
              <a:t>')</a:t>
            </a:r>
            <a:endParaRPr lang="zh-CN" altLang="zh-CN"/>
          </a:p>
          <a:p>
            <a:pPr eaLnBrk="1" hangingPunct="1"/>
            <a:r>
              <a:rPr lang="en-US" altLang="zh-CN"/>
              <a:t>GO</a:t>
            </a:r>
            <a:endParaRPr lang="zh-CN" altLang="zh-CN"/>
          </a:p>
          <a:p>
            <a:pPr eaLnBrk="1" hangingPunct="1"/>
            <a:r>
              <a:rPr lang="en-US" altLang="zh-CN"/>
              <a:t>EXEC sp_bindrule 'list_rule', 'kcb.</a:t>
            </a:r>
            <a:r>
              <a:rPr lang="zh-CN" altLang="zh-CN"/>
              <a:t>课程名</a:t>
            </a:r>
            <a:r>
              <a:rPr lang="en-US" altLang="zh-CN"/>
              <a:t>'</a:t>
            </a:r>
            <a:endParaRPr lang="zh-CN" altLang="zh-CN"/>
          </a:p>
          <a:p>
            <a:pPr eaLnBrk="1" hangingPunct="1"/>
            <a:r>
              <a:rPr lang="en-US" altLang="zh-CN"/>
              <a:t>GO</a:t>
            </a:r>
            <a:endParaRPr lang="zh-CN" altLang="zh-CN"/>
          </a:p>
          <a:p>
            <a:pPr eaLnBrk="1" hangingPunct="1"/>
            <a:endParaRPr lang="zh-CN" altLang="en-US"/>
          </a:p>
        </p:txBody>
      </p:sp>
    </p:spTree>
  </p:cSld>
  <p:clrMapOvr>
    <a:masterClrMapping/>
  </p:clrMapOvr>
  <p:transition spd="slow">
    <p:circl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349500"/>
            <a:ext cx="8066087" cy="31670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41988" name="TextBox 2"/>
          <p:cNvSpPr txBox="1">
            <a:spLocks noChangeArrowheads="1"/>
          </p:cNvSpPr>
          <p:nvPr/>
        </p:nvSpPr>
        <p:spPr bwMode="auto">
          <a:xfrm>
            <a:off x="468313" y="1484313"/>
            <a:ext cx="8496300" cy="440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6.16</a:t>
            </a:r>
            <a:r>
              <a:rPr lang="zh-CN" altLang="zh-CN"/>
              <a:t>】 如下程序定义一个用户数据类型</a:t>
            </a:r>
            <a:r>
              <a:rPr lang="en-US" altLang="zh-CN"/>
              <a:t>course_num</a:t>
            </a:r>
            <a:r>
              <a:rPr lang="zh-CN" altLang="zh-CN"/>
              <a:t>，然后将前面定义的规则“</a:t>
            </a:r>
            <a:r>
              <a:rPr lang="en-US" altLang="zh-CN"/>
              <a:t>kc_rule</a:t>
            </a:r>
            <a:r>
              <a:rPr lang="zh-CN" altLang="zh-CN"/>
              <a:t>”绑定到用户数据类型</a:t>
            </a:r>
            <a:r>
              <a:rPr lang="en-US" altLang="zh-CN"/>
              <a:t>course_num</a:t>
            </a:r>
            <a:r>
              <a:rPr lang="zh-CN" altLang="zh-CN"/>
              <a:t>上，最后创建表</a:t>
            </a:r>
            <a:r>
              <a:rPr lang="en-US" altLang="zh-CN"/>
              <a:t>kcb1</a:t>
            </a:r>
            <a:r>
              <a:rPr lang="zh-CN" altLang="zh-CN"/>
              <a:t>，其“课程号”的数据类型为</a:t>
            </a:r>
            <a:r>
              <a:rPr lang="en-US" altLang="zh-CN"/>
              <a:t>course_num</a:t>
            </a:r>
            <a:r>
              <a:rPr lang="zh-CN" altLang="zh-CN"/>
              <a:t>。</a:t>
            </a:r>
            <a:endParaRPr lang="zh-CN" altLang="zh-CN"/>
          </a:p>
          <a:p>
            <a:pPr eaLnBrk="1" hangingPunct="1"/>
            <a:r>
              <a:rPr lang="en-US" altLang="zh-CN" sz="1600"/>
              <a:t>CREATE TYPE  course_num	</a:t>
            </a:r>
            <a:endParaRPr lang="zh-CN" altLang="zh-CN" sz="1600"/>
          </a:p>
          <a:p>
            <a:pPr eaLnBrk="1" hangingPunct="1"/>
            <a:r>
              <a:rPr lang="en-US" altLang="zh-CN" sz="1600"/>
              <a:t>    FROM char(3) NOT NULL			/*</a:t>
            </a:r>
            <a:r>
              <a:rPr lang="zh-CN" altLang="zh-CN" sz="1600"/>
              <a:t>创建用户定义数据类型</a:t>
            </a:r>
            <a:r>
              <a:rPr lang="en-US" altLang="zh-CN" sz="1600"/>
              <a:t>*/</a:t>
            </a:r>
            <a:endParaRPr lang="zh-CN" altLang="zh-CN" sz="1600"/>
          </a:p>
          <a:p>
            <a:pPr eaLnBrk="1" hangingPunct="1"/>
            <a:r>
              <a:rPr lang="en-US" altLang="zh-CN" sz="1600"/>
              <a:t>EXEC sp_bindrule 'kc_rule', 'course_num'	/*</a:t>
            </a:r>
            <a:r>
              <a:rPr lang="zh-CN" altLang="zh-CN" sz="1600"/>
              <a:t>将规则对象绑定到用户定义数据类型</a:t>
            </a:r>
            <a:r>
              <a:rPr lang="en-US" altLang="zh-CN" sz="1600"/>
              <a:t>*/</a:t>
            </a:r>
            <a:endParaRPr lang="zh-CN" altLang="zh-CN" sz="1600"/>
          </a:p>
          <a:p>
            <a:pPr eaLnBrk="1" hangingPunct="1"/>
            <a:r>
              <a:rPr lang="en-US" altLang="zh-CN" sz="1600"/>
              <a:t>GO</a:t>
            </a:r>
            <a:endParaRPr lang="zh-CN" altLang="zh-CN" sz="1600"/>
          </a:p>
          <a:p>
            <a:pPr eaLnBrk="1" hangingPunct="1"/>
            <a:r>
              <a:rPr lang="en-US" altLang="zh-CN" sz="1600"/>
              <a:t>CREATE TABLE kcb1</a:t>
            </a:r>
            <a:endParaRPr lang="zh-CN" altLang="zh-CN" sz="1600"/>
          </a:p>
          <a:p>
            <a:pPr eaLnBrk="1" hangingPunct="1"/>
            <a:r>
              <a:rPr lang="en-US" altLang="zh-CN" sz="1600"/>
              <a:t>(		</a:t>
            </a:r>
            <a:endParaRPr lang="zh-CN" altLang="zh-CN" sz="1600"/>
          </a:p>
          <a:p>
            <a:pPr eaLnBrk="1" hangingPunct="1"/>
            <a:r>
              <a:rPr lang="en-US" altLang="zh-CN" sz="1600"/>
              <a:t>    </a:t>
            </a:r>
            <a:r>
              <a:rPr lang="zh-CN" altLang="zh-CN" sz="1600"/>
              <a:t>课程号</a:t>
            </a:r>
            <a:r>
              <a:rPr lang="en-US" altLang="zh-CN" sz="1600"/>
              <a:t> 	course_num,  		/*</a:t>
            </a:r>
            <a:r>
              <a:rPr lang="zh-CN" altLang="zh-CN" sz="1600"/>
              <a:t>将学号定义为</a:t>
            </a:r>
            <a:r>
              <a:rPr lang="en-US" altLang="zh-CN" sz="1600"/>
              <a:t>course_num</a:t>
            </a:r>
            <a:r>
              <a:rPr lang="zh-CN" altLang="zh-CN" sz="1600"/>
              <a:t>类型</a:t>
            </a:r>
            <a:r>
              <a:rPr lang="en-US" altLang="zh-CN" sz="1600"/>
              <a:t>*/</a:t>
            </a:r>
            <a:endParaRPr lang="zh-CN" altLang="zh-CN" sz="1600"/>
          </a:p>
          <a:p>
            <a:pPr eaLnBrk="1" hangingPunct="1"/>
            <a:r>
              <a:rPr lang="en-US" altLang="zh-CN" sz="1600"/>
              <a:t>    </a:t>
            </a:r>
            <a:r>
              <a:rPr lang="zh-CN" altLang="zh-CN" sz="1600"/>
              <a:t>课程名</a:t>
            </a:r>
            <a:r>
              <a:rPr lang="en-US" altLang="zh-CN" sz="1600"/>
              <a:t> 	char(16) NOT NULL,</a:t>
            </a:r>
            <a:endParaRPr lang="zh-CN" altLang="zh-CN" sz="1600"/>
          </a:p>
          <a:p>
            <a:pPr eaLnBrk="1" hangingPunct="1"/>
            <a:r>
              <a:rPr lang="en-US" altLang="zh-CN" sz="1600"/>
              <a:t>    </a:t>
            </a:r>
            <a:r>
              <a:rPr lang="zh-CN" altLang="zh-CN" sz="1600"/>
              <a:t>开课学期</a:t>
            </a:r>
            <a:r>
              <a:rPr lang="en-US" altLang="zh-CN" sz="1600"/>
              <a:t> 	tinyint ,</a:t>
            </a:r>
            <a:endParaRPr lang="zh-CN" altLang="zh-CN" sz="1600"/>
          </a:p>
          <a:p>
            <a:pPr eaLnBrk="1" hangingPunct="1"/>
            <a:r>
              <a:rPr lang="en-US" altLang="zh-CN" sz="1600"/>
              <a:t>    </a:t>
            </a:r>
            <a:r>
              <a:rPr lang="zh-CN" altLang="zh-CN" sz="1600"/>
              <a:t>学时</a:t>
            </a:r>
            <a:r>
              <a:rPr lang="en-US" altLang="zh-CN" sz="1600"/>
              <a:t> 		tinyint,</a:t>
            </a:r>
            <a:endParaRPr lang="zh-CN" altLang="zh-CN" sz="1600"/>
          </a:p>
          <a:p>
            <a:pPr eaLnBrk="1" hangingPunct="1"/>
            <a:r>
              <a:rPr lang="en-US" altLang="zh-CN" sz="1600"/>
              <a:t>    </a:t>
            </a:r>
            <a:r>
              <a:rPr lang="zh-CN" altLang="zh-CN" sz="1600"/>
              <a:t>学分</a:t>
            </a:r>
            <a:r>
              <a:rPr lang="en-US" altLang="zh-CN" sz="1600"/>
              <a:t> 		tinyint</a:t>
            </a:r>
            <a:endParaRPr lang="zh-CN" altLang="zh-CN" sz="1600"/>
          </a:p>
          <a:p>
            <a:pPr eaLnBrk="1" hangingPunct="1"/>
            <a:r>
              <a:rPr lang="en-US" altLang="zh-CN" sz="1600"/>
              <a:t>)</a:t>
            </a:r>
            <a:endParaRPr lang="zh-CN" altLang="zh-CN" sz="1600"/>
          </a:p>
          <a:p>
            <a:pPr eaLnBrk="1" hangingPunct="1"/>
            <a:r>
              <a:rPr lang="en-US" altLang="zh-CN" sz="1600"/>
              <a:t>GO</a:t>
            </a:r>
            <a:endParaRPr lang="zh-CN" altLang="zh-CN" sz="1600"/>
          </a:p>
          <a:p>
            <a:pPr eaLnBrk="1" hangingPunct="1"/>
            <a:endParaRPr lang="zh-CN" altLang="en-US"/>
          </a:p>
        </p:txBody>
      </p:sp>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3656013"/>
            <a:ext cx="7848600"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4508500"/>
            <a:ext cx="7848600" cy="1081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276475"/>
            <a:ext cx="7848600"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6.2.2  </a:t>
            </a:r>
            <a:r>
              <a:rPr lang="zh-CN" altLang="zh-CN" dirty="0">
                <a:effectLst/>
              </a:rPr>
              <a:t>创建域完整性：</a:t>
            </a:r>
            <a:r>
              <a:rPr lang="en-US" altLang="zh-CN" dirty="0">
                <a:effectLst/>
              </a:rPr>
              <a:t>CHECK/CREATE RULE</a:t>
            </a:r>
            <a:endParaRPr lang="zh-CN" altLang="en-US" dirty="0"/>
          </a:p>
        </p:txBody>
      </p:sp>
      <p:sp>
        <p:nvSpPr>
          <p:cNvPr id="3" name="TextBox 2"/>
          <p:cNvSpPr txBox="1"/>
          <p:nvPr/>
        </p:nvSpPr>
        <p:spPr>
          <a:xfrm>
            <a:off x="468313" y="1412875"/>
            <a:ext cx="8207375" cy="4524375"/>
          </a:xfrm>
          <a:prstGeom prst="rect">
            <a:avLst/>
          </a:prstGeom>
          <a:noFill/>
        </p:spPr>
        <p:txBody>
          <a:bodyPr>
            <a:spAutoFit/>
          </a:bodyPr>
          <a:lstStyle/>
          <a:p>
            <a:pPr indent="446405" fontAlgn="ctr">
              <a:spcBef>
                <a:spcPts val="0"/>
              </a:spcBef>
              <a:spcAft>
                <a:spcPts val="0"/>
              </a:spcAft>
              <a:defRPr/>
            </a:pPr>
            <a:r>
              <a:rPr lang="zh-CN" altLang="zh-CN" b="1" dirty="0">
                <a:latin typeface="+mn-lt"/>
                <a:ea typeface="+mn-ea"/>
              </a:rPr>
              <a:t>（</a:t>
            </a:r>
            <a:r>
              <a:rPr lang="en-US" altLang="zh-CN" b="1" dirty="0">
                <a:latin typeface="+mn-lt"/>
                <a:ea typeface="+mn-ea"/>
              </a:rPr>
              <a:t>3</a:t>
            </a:r>
            <a:r>
              <a:rPr lang="zh-CN" altLang="zh-CN" b="1" dirty="0">
                <a:latin typeface="+mn-lt"/>
                <a:ea typeface="+mn-ea"/>
              </a:rPr>
              <a:t>）规则对象的删除</a:t>
            </a:r>
            <a:endParaRPr lang="zh-CN" altLang="zh-CN" b="1" dirty="0">
              <a:latin typeface="+mn-lt"/>
              <a:ea typeface="+mn-ea"/>
            </a:endParaRPr>
          </a:p>
          <a:p>
            <a:pPr indent="446405" fontAlgn="ctr">
              <a:spcBef>
                <a:spcPts val="0"/>
              </a:spcBef>
              <a:spcAft>
                <a:spcPts val="0"/>
              </a:spcAft>
              <a:defRPr/>
            </a:pPr>
            <a:r>
              <a:rPr lang="zh-CN" altLang="zh-CN" dirty="0">
                <a:latin typeface="+mn-lt"/>
                <a:ea typeface="+mn-ea"/>
              </a:rPr>
              <a:t>在删除规则对象前，首先应使用系统存储过程</a:t>
            </a:r>
            <a:r>
              <a:rPr lang="en-US" altLang="zh-CN" dirty="0" err="1">
                <a:latin typeface="+mn-lt"/>
                <a:ea typeface="+mn-ea"/>
              </a:rPr>
              <a:t>sp_unbindrule</a:t>
            </a:r>
            <a:r>
              <a:rPr lang="zh-CN" altLang="zh-CN" dirty="0">
                <a:latin typeface="+mn-lt"/>
                <a:ea typeface="+mn-ea"/>
              </a:rPr>
              <a:t>解除被绑定对象与规则对象之间的绑定关系，使用格式如下：</a:t>
            </a:r>
            <a:endParaRPr lang="zh-CN" altLang="zh-CN" dirty="0">
              <a:latin typeface="+mn-lt"/>
              <a:ea typeface="+mn-ea"/>
            </a:endParaRPr>
          </a:p>
          <a:p>
            <a:pPr indent="446405" fontAlgn="auto">
              <a:spcBef>
                <a:spcPts val="0"/>
              </a:spcBef>
              <a:spcAft>
                <a:spcPts val="0"/>
              </a:spcAft>
              <a:defRPr/>
            </a:pPr>
            <a:r>
              <a:rPr lang="en-US" altLang="zh-CN" dirty="0" err="1">
                <a:latin typeface="+mn-lt"/>
                <a:ea typeface="+mn-ea"/>
              </a:rPr>
              <a:t>sp_unbindrule</a:t>
            </a:r>
            <a:r>
              <a:rPr lang="en-US" altLang="zh-CN" dirty="0">
                <a:latin typeface="+mn-lt"/>
                <a:ea typeface="+mn-ea"/>
              </a:rPr>
              <a:t> [@</a:t>
            </a:r>
            <a:r>
              <a:rPr lang="en-US" altLang="zh-CN" dirty="0" err="1">
                <a:latin typeface="+mn-lt"/>
                <a:ea typeface="+mn-ea"/>
              </a:rPr>
              <a:t>objname</a:t>
            </a:r>
            <a:r>
              <a:rPr lang="en-US" altLang="zh-CN" dirty="0">
                <a:latin typeface="+mn-lt"/>
                <a:ea typeface="+mn-ea"/>
              </a:rPr>
              <a:t> =] '</a:t>
            </a:r>
            <a:r>
              <a:rPr lang="zh-CN" altLang="zh-CN" dirty="0">
                <a:latin typeface="+mn-lt"/>
                <a:ea typeface="+mn-ea"/>
              </a:rPr>
              <a:t>对象名</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r>
              <a:rPr lang="en-US" altLang="zh-CN" dirty="0" err="1">
                <a:latin typeface="+mn-lt"/>
                <a:ea typeface="+mn-ea"/>
              </a:rPr>
              <a:t>futureonly</a:t>
            </a:r>
            <a:r>
              <a:rPr lang="en-US" altLang="zh-CN" dirty="0">
                <a:latin typeface="+mn-lt"/>
                <a:ea typeface="+mn-ea"/>
              </a:rPr>
              <a:t> =] '</a:t>
            </a:r>
            <a:r>
              <a:rPr lang="en-US" altLang="zh-CN" dirty="0" err="1">
                <a:latin typeface="+mn-lt"/>
                <a:ea typeface="+mn-ea"/>
              </a:rPr>
              <a:t>futureonly</a:t>
            </a:r>
            <a:r>
              <a:rPr lang="zh-CN" altLang="zh-CN" dirty="0">
                <a:latin typeface="+mn-lt"/>
                <a:ea typeface="+mn-ea"/>
              </a:rPr>
              <a:t>标志</a:t>
            </a:r>
            <a:r>
              <a:rPr lang="en-US" altLang="zh-CN" dirty="0">
                <a:latin typeface="+mn-lt"/>
                <a:ea typeface="+mn-ea"/>
              </a:rPr>
              <a:t>']</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在解除列或自定义类型与规则对象之间的绑定关系后，就可以删除规则对象了。</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语法格式：</a:t>
            </a:r>
            <a:endParaRPr lang="zh-CN" altLang="zh-CN" dirty="0">
              <a:latin typeface="+mn-lt"/>
              <a:ea typeface="+mn-ea"/>
            </a:endParaRPr>
          </a:p>
          <a:p>
            <a:pPr indent="446405" fontAlgn="ctr">
              <a:spcBef>
                <a:spcPts val="0"/>
              </a:spcBef>
              <a:spcAft>
                <a:spcPts val="0"/>
              </a:spcAft>
              <a:defRPr/>
            </a:pPr>
            <a:r>
              <a:rPr lang="en-US" altLang="zh-CN" dirty="0">
                <a:latin typeface="+mn-lt"/>
                <a:ea typeface="+mn-ea"/>
              </a:rPr>
              <a:t>DROP RULE { [</a:t>
            </a:r>
            <a:r>
              <a:rPr lang="zh-CN" altLang="zh-CN" dirty="0">
                <a:latin typeface="+mn-lt"/>
                <a:ea typeface="+mn-ea"/>
              </a:rPr>
              <a:t>架构名</a:t>
            </a:r>
            <a:r>
              <a:rPr lang="en-US" altLang="zh-CN" dirty="0">
                <a:latin typeface="+mn-lt"/>
                <a:ea typeface="+mn-ea"/>
              </a:rPr>
              <a:t>. ]</a:t>
            </a:r>
            <a:r>
              <a:rPr lang="zh-CN" altLang="zh-CN" dirty="0">
                <a:latin typeface="+mn-lt"/>
                <a:ea typeface="+mn-ea"/>
              </a:rPr>
              <a:t>规则名</a:t>
            </a:r>
            <a:r>
              <a:rPr lang="en-US" altLang="zh-CN" dirty="0">
                <a:latin typeface="+mn-lt"/>
                <a:ea typeface="+mn-ea"/>
              </a:rPr>
              <a:t> } [ , ... ] [ ;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6.17</a:t>
            </a:r>
            <a:r>
              <a:rPr lang="zh-CN" altLang="zh-CN" dirty="0">
                <a:latin typeface="+mn-lt"/>
                <a:ea typeface="+mn-ea"/>
              </a:rPr>
              <a:t>】 解除规则</a:t>
            </a:r>
            <a:r>
              <a:rPr lang="en-US" altLang="zh-CN" dirty="0" err="1">
                <a:latin typeface="+mn-lt"/>
                <a:ea typeface="+mn-ea"/>
              </a:rPr>
              <a:t>kc_rule</a:t>
            </a:r>
            <a:r>
              <a:rPr lang="zh-CN" altLang="zh-CN" dirty="0">
                <a:latin typeface="+mn-lt"/>
                <a:ea typeface="+mn-ea"/>
              </a:rPr>
              <a:t>与列或用户定义类型的绑定关系，并删除规则对象</a:t>
            </a:r>
            <a:r>
              <a:rPr lang="en-US" altLang="zh-CN" dirty="0" err="1">
                <a:latin typeface="+mn-lt"/>
                <a:ea typeface="+mn-ea"/>
              </a:rPr>
              <a:t>kc_rule</a:t>
            </a:r>
            <a:r>
              <a:rPr lang="zh-CN"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EXEC </a:t>
            </a:r>
            <a:r>
              <a:rPr lang="en-US" altLang="zh-CN" dirty="0" err="1">
                <a:latin typeface="+mn-lt"/>
                <a:ea typeface="+mn-ea"/>
              </a:rPr>
              <a:t>sp_unbindrule</a:t>
            </a:r>
            <a:r>
              <a:rPr lang="en-US" altLang="zh-CN" dirty="0">
                <a:latin typeface="+mn-lt"/>
                <a:ea typeface="+mn-ea"/>
              </a:rPr>
              <a:t> '</a:t>
            </a:r>
            <a:r>
              <a:rPr lang="en-US" altLang="zh-CN" dirty="0" err="1">
                <a:latin typeface="+mn-lt"/>
                <a:ea typeface="+mn-ea"/>
              </a:rPr>
              <a:t>kcb</a:t>
            </a:r>
            <a:r>
              <a:rPr lang="en-US" altLang="zh-CN" dirty="0">
                <a:latin typeface="+mn-lt"/>
                <a:ea typeface="+mn-ea"/>
              </a:rPr>
              <a:t>.</a:t>
            </a:r>
            <a:r>
              <a:rPr lang="zh-CN" altLang="zh-CN" dirty="0">
                <a:latin typeface="+mn-lt"/>
                <a:ea typeface="+mn-ea"/>
              </a:rPr>
              <a:t>课程号</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EXEC </a:t>
            </a:r>
            <a:r>
              <a:rPr lang="en-US" altLang="zh-CN" dirty="0" err="1">
                <a:latin typeface="+mn-lt"/>
                <a:ea typeface="+mn-ea"/>
              </a:rPr>
              <a:t>sp_unbindrule</a:t>
            </a:r>
            <a:r>
              <a:rPr lang="en-US" altLang="zh-CN" dirty="0">
                <a:latin typeface="+mn-lt"/>
                <a:ea typeface="+mn-ea"/>
              </a:rPr>
              <a:t> '</a:t>
            </a:r>
            <a:r>
              <a:rPr lang="en-US" altLang="zh-CN" dirty="0" err="1">
                <a:latin typeface="+mn-lt"/>
                <a:ea typeface="+mn-ea"/>
              </a:rPr>
              <a:t>course_num</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DROP RULE </a:t>
            </a:r>
            <a:r>
              <a:rPr lang="en-US" altLang="zh-CN" dirty="0" err="1">
                <a:latin typeface="+mn-lt"/>
                <a:ea typeface="+mn-ea"/>
              </a:rPr>
              <a:t>kc_rule</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circl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zh-CN" dirty="0">
              <a:effectLst/>
            </a:endParaRPr>
          </a:p>
        </p:txBody>
      </p:sp>
      <p:sp>
        <p:nvSpPr>
          <p:cNvPr id="44035" name="TextBox 2"/>
          <p:cNvSpPr txBox="1">
            <a:spLocks noChangeArrowheads="1"/>
          </p:cNvSpPr>
          <p:nvPr/>
        </p:nvSpPr>
        <p:spPr bwMode="auto">
          <a:xfrm>
            <a:off x="395288" y="1484313"/>
            <a:ext cx="828040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．界面方式定义表间的参照关系</a:t>
            </a:r>
            <a:endParaRPr lang="zh-CN" altLang="zh-CN" b="1">
              <a:solidFill>
                <a:srgbClr val="C00000"/>
              </a:solidFill>
            </a:endParaRPr>
          </a:p>
          <a:p>
            <a:pPr eaLnBrk="1" fontAlgn="ctr" hangingPunct="1">
              <a:lnSpc>
                <a:spcPct val="150000"/>
              </a:lnSpc>
            </a:pPr>
            <a:r>
              <a:rPr lang="zh-CN" altLang="zh-CN"/>
              <a:t>例如，要实现</a:t>
            </a:r>
            <a:r>
              <a:rPr lang="en-US" altLang="zh-CN"/>
              <a:t>xsb</a:t>
            </a:r>
            <a:r>
              <a:rPr lang="zh-CN" altLang="zh-CN"/>
              <a:t>表与</a:t>
            </a:r>
            <a:r>
              <a:rPr lang="en-US" altLang="zh-CN"/>
              <a:t>cjb</a:t>
            </a:r>
            <a:r>
              <a:rPr lang="zh-CN" altLang="zh-CN"/>
              <a:t>表之间的参照完整性，操作步骤如下。</a:t>
            </a:r>
            <a:endParaRPr lang="zh-CN" altLang="zh-CN"/>
          </a:p>
          <a:p>
            <a:pPr eaLnBrk="1" fontAlgn="ctr" hangingPunct="1">
              <a:lnSpc>
                <a:spcPct val="150000"/>
              </a:lnSpc>
            </a:pPr>
            <a:r>
              <a:rPr lang="zh-CN" altLang="zh-CN"/>
              <a:t>（</a:t>
            </a:r>
            <a:r>
              <a:rPr lang="en-US" altLang="zh-CN"/>
              <a:t>1</a:t>
            </a:r>
            <a:r>
              <a:rPr lang="zh-CN" altLang="zh-CN"/>
              <a:t>）由于之前在创建表的时候已经定义</a:t>
            </a:r>
            <a:r>
              <a:rPr lang="en-US" altLang="zh-CN"/>
              <a:t>xsb</a:t>
            </a:r>
            <a:r>
              <a:rPr lang="zh-CN" altLang="zh-CN"/>
              <a:t>表中的“学号”字段为主键，所以这里就不需要再定义主表的主键了。</a:t>
            </a:r>
            <a:endParaRPr lang="zh-CN" altLang="zh-CN"/>
          </a:p>
          <a:p>
            <a:pPr eaLnBrk="1" fontAlgn="ctr" hangingPunct="1">
              <a:lnSpc>
                <a:spcPct val="150000"/>
              </a:lnSpc>
            </a:pPr>
            <a:r>
              <a:rPr lang="zh-CN" altLang="zh-CN"/>
              <a:t>（</a:t>
            </a:r>
            <a:r>
              <a:rPr lang="en-US" altLang="zh-CN"/>
              <a:t>2</a:t>
            </a:r>
            <a:r>
              <a:rPr lang="zh-CN" altLang="zh-CN"/>
              <a:t>）在“对象资源管理器”中展开“数据库”→“</a:t>
            </a:r>
            <a:r>
              <a:rPr lang="en-US" altLang="zh-CN"/>
              <a:t>pxscj</a:t>
            </a:r>
            <a:r>
              <a:rPr lang="zh-CN" altLang="zh-CN"/>
              <a:t>”，选择“数据库关系图”，右键单击鼠标，在出现的快捷菜单中选择“新建数据库关系图”菜单项，打开“添加表”窗口。</a:t>
            </a:r>
            <a:endParaRPr lang="zh-CN" altLang="zh-CN"/>
          </a:p>
          <a:p>
            <a:pPr eaLnBrk="1" fontAlgn="ctr" hangingPunct="1">
              <a:lnSpc>
                <a:spcPct val="150000"/>
              </a:lnSpc>
            </a:pPr>
            <a:r>
              <a:rPr lang="zh-CN" altLang="zh-CN"/>
              <a:t>（</a:t>
            </a:r>
            <a:r>
              <a:rPr lang="en-US" altLang="zh-CN"/>
              <a:t>3</a:t>
            </a:r>
            <a:r>
              <a:rPr lang="zh-CN" altLang="zh-CN"/>
              <a:t>）在出现的“添加表”窗口中选择要添加的表，本例中选择了表</a:t>
            </a:r>
            <a:r>
              <a:rPr lang="en-US" altLang="zh-CN"/>
              <a:t>xsb</a:t>
            </a:r>
            <a:r>
              <a:rPr lang="zh-CN" altLang="zh-CN"/>
              <a:t>和表</a:t>
            </a:r>
            <a:r>
              <a:rPr lang="en-US" altLang="zh-CN"/>
              <a:t>cjb</a:t>
            </a:r>
            <a:r>
              <a:rPr lang="zh-CN" altLang="zh-CN"/>
              <a:t>。单击“添加”按钮完成表的添加，之后单击“关闭”按钮退出窗口。</a:t>
            </a:r>
            <a:endParaRPr lang="zh-CN" altLang="zh-CN"/>
          </a:p>
          <a:p>
            <a:pPr eaLnBrk="1" fontAlgn="ctr" hangingPunct="1">
              <a:lnSpc>
                <a:spcPct val="150000"/>
              </a:lnSpc>
            </a:pPr>
            <a:r>
              <a:rPr lang="zh-CN" altLang="zh-CN"/>
              <a:t>（</a:t>
            </a:r>
            <a:r>
              <a:rPr lang="en-US" altLang="zh-CN"/>
              <a:t>4</a:t>
            </a:r>
            <a:r>
              <a:rPr lang="zh-CN" altLang="zh-CN"/>
              <a:t>）在“数据库关系图设计”窗口将鼠标指向主表的主键，并拖动到从表，即将</a:t>
            </a:r>
            <a:r>
              <a:rPr lang="en-US" altLang="zh-CN"/>
              <a:t>xsb</a:t>
            </a:r>
            <a:r>
              <a:rPr lang="zh-CN" altLang="zh-CN"/>
              <a:t>表中的“学号”字段拖动到从表</a:t>
            </a:r>
            <a:r>
              <a:rPr lang="en-US" altLang="zh-CN"/>
              <a:t>cjb</a:t>
            </a:r>
            <a:r>
              <a:rPr lang="zh-CN" altLang="zh-CN"/>
              <a:t>中的“学号”字段。</a:t>
            </a:r>
            <a:endParaRPr lang="zh-CN" altLang="zh-CN"/>
          </a:p>
          <a:p>
            <a:pPr eaLnBrk="1" hangingPunct="1">
              <a:lnSpc>
                <a:spcPct val="150000"/>
              </a:lnSpc>
            </a:pPr>
            <a:endParaRPr lang="zh-CN" altLang="en-US"/>
          </a:p>
        </p:txBody>
      </p:sp>
    </p:spTree>
  </p:cSld>
  <p:clrMapOvr>
    <a:masterClrMapping/>
  </p:clrMapOvr>
  <p:transition spd="slow">
    <p:cov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45059" name="TextBox 2"/>
          <p:cNvSpPr txBox="1">
            <a:spLocks noChangeArrowheads="1"/>
          </p:cNvSpPr>
          <p:nvPr/>
        </p:nvSpPr>
        <p:spPr bwMode="auto">
          <a:xfrm>
            <a:off x="468313" y="1484313"/>
            <a:ext cx="82073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5</a:t>
            </a:r>
            <a:r>
              <a:rPr lang="zh-CN" altLang="zh-CN"/>
              <a:t>）在弹出的“表和列”对话框中输入关系名、设置主键表和列名，单击“表和列”对话框中的“确定”按钮，再单击“外键关系”对话框中的“确认”按钮，进入如图</a:t>
            </a:r>
            <a:r>
              <a:rPr lang="en-US" altLang="zh-CN"/>
              <a:t>6.8</a:t>
            </a:r>
            <a:r>
              <a:rPr lang="zh-CN" altLang="zh-CN"/>
              <a:t>所示的界面。</a:t>
            </a:r>
            <a:endParaRPr lang="zh-CN" altLang="zh-CN"/>
          </a:p>
          <a:p>
            <a:pPr eaLnBrk="1" fontAlgn="ctr" hangingPunct="1"/>
            <a:r>
              <a:rPr lang="zh-CN" altLang="zh-CN"/>
              <a:t>（</a:t>
            </a:r>
            <a:r>
              <a:rPr lang="en-US" altLang="zh-CN"/>
              <a:t>6</a:t>
            </a:r>
            <a:r>
              <a:rPr lang="zh-CN" altLang="zh-CN"/>
              <a:t>）单击“保存”按钮，在弹出的“选择名称”对话框中输入关系图的名称。单击“确定”按钮，在弹出的“保存”对话框中单击“是”按钮，保存设置。</a:t>
            </a:r>
            <a:endParaRPr lang="zh-CN" altLang="zh-CN"/>
          </a:p>
          <a:p>
            <a:pPr eaLnBrk="1" hangingPunct="1"/>
            <a:endParaRPr lang="zh-CN" altLang="en-US"/>
          </a:p>
        </p:txBody>
      </p:sp>
      <p:pic>
        <p:nvPicPr>
          <p:cNvPr id="450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2997200"/>
            <a:ext cx="4751388"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ircl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3" name="TextBox 2"/>
          <p:cNvSpPr txBox="1"/>
          <p:nvPr/>
        </p:nvSpPr>
        <p:spPr>
          <a:xfrm>
            <a:off x="468313" y="1557338"/>
            <a:ext cx="8207375" cy="922337"/>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之后可以在</a:t>
            </a:r>
            <a:r>
              <a:rPr lang="en-US" altLang="zh-CN" dirty="0" err="1">
                <a:latin typeface="+mn-lt"/>
                <a:ea typeface="+mn-ea"/>
              </a:rPr>
              <a:t>pxscj</a:t>
            </a:r>
            <a:r>
              <a:rPr lang="zh-CN" altLang="zh-CN" dirty="0">
                <a:latin typeface="+mn-lt"/>
                <a:ea typeface="+mn-ea"/>
              </a:rPr>
              <a:t>数据库的“数据库关系图”目录下看到所创建的参照关系。结果如图</a:t>
            </a:r>
            <a:r>
              <a:rPr lang="en-US" altLang="zh-CN" dirty="0">
                <a:latin typeface="+mn-lt"/>
                <a:ea typeface="+mn-ea"/>
              </a:rPr>
              <a:t>6.9</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460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85900" y="2479675"/>
            <a:ext cx="617220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47107" name="TextBox 2"/>
          <p:cNvSpPr txBox="1">
            <a:spLocks noChangeArrowheads="1"/>
          </p:cNvSpPr>
          <p:nvPr/>
        </p:nvSpPr>
        <p:spPr bwMode="auto">
          <a:xfrm>
            <a:off x="395288" y="1484313"/>
            <a:ext cx="8280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．界面方式删除表间的参照关系</a:t>
            </a:r>
            <a:endParaRPr lang="zh-CN" altLang="zh-CN" b="1">
              <a:solidFill>
                <a:srgbClr val="C00000"/>
              </a:solidFill>
            </a:endParaRPr>
          </a:p>
          <a:p>
            <a:pPr eaLnBrk="1" fontAlgn="ctr" hangingPunct="1">
              <a:lnSpc>
                <a:spcPct val="150000"/>
              </a:lnSpc>
            </a:pPr>
            <a:r>
              <a:rPr lang="zh-CN" altLang="zh-CN"/>
              <a:t>（</a:t>
            </a:r>
            <a:r>
              <a:rPr lang="en-US" altLang="zh-CN"/>
              <a:t>1</a:t>
            </a:r>
            <a:r>
              <a:rPr lang="zh-CN" altLang="zh-CN"/>
              <a:t>）如果要删除前面建立的</a:t>
            </a:r>
            <a:r>
              <a:rPr lang="en-US" altLang="zh-CN"/>
              <a:t>xsb</a:t>
            </a:r>
            <a:r>
              <a:rPr lang="zh-CN" altLang="zh-CN"/>
              <a:t>表与</a:t>
            </a:r>
            <a:r>
              <a:rPr lang="en-US" altLang="zh-CN"/>
              <a:t>cjb</a:t>
            </a:r>
            <a:r>
              <a:rPr lang="zh-CN" altLang="zh-CN"/>
              <a:t>表之间的参照关系，可在</a:t>
            </a:r>
            <a:r>
              <a:rPr lang="en-US" altLang="zh-CN"/>
              <a:t>pxscj</a:t>
            </a:r>
            <a:r>
              <a:rPr lang="zh-CN" altLang="zh-CN"/>
              <a:t>数据库的“数据库关系图”目录下选择要修改的关系图，如</a:t>
            </a:r>
            <a:r>
              <a:rPr lang="en-US" altLang="zh-CN"/>
              <a:t>Diagram_0</a:t>
            </a:r>
            <a:r>
              <a:rPr lang="zh-CN" altLang="zh-CN"/>
              <a:t>，右键单击鼠标，在弹出的快捷菜单中选择“修改”菜单项，打开“数据库关系图设计”窗口。</a:t>
            </a:r>
            <a:endParaRPr lang="zh-CN" altLang="zh-CN"/>
          </a:p>
          <a:p>
            <a:pPr eaLnBrk="1" fontAlgn="ctr" hangingPunct="1">
              <a:lnSpc>
                <a:spcPct val="150000"/>
              </a:lnSpc>
            </a:pPr>
            <a:r>
              <a:rPr lang="zh-CN" altLang="zh-CN"/>
              <a:t>（</a:t>
            </a:r>
            <a:r>
              <a:rPr lang="en-US" altLang="zh-CN"/>
              <a:t>2</a:t>
            </a:r>
            <a:r>
              <a:rPr lang="zh-CN" altLang="zh-CN"/>
              <a:t>）在“数据库关系图设计”窗口中，选择已经建立的“关系”，单击鼠标右键，选择“从数据库中删除关系”，在随后弹出的对话框中，单击“是”按钮，删除表之间的关系。</a:t>
            </a:r>
            <a:endParaRPr lang="zh-CN" altLang="zh-CN"/>
          </a:p>
          <a:p>
            <a:pPr eaLnBrk="1" hangingPunct="1">
              <a:lnSpc>
                <a:spcPct val="150000"/>
              </a:lnSpc>
            </a:pPr>
            <a:endParaRPr lang="zh-CN" altLang="en-US"/>
          </a:p>
        </p:txBody>
      </p:sp>
    </p:spTree>
  </p:cSld>
  <p:clrMapOvr>
    <a:masterClrMapping/>
  </p:clrMapOvr>
  <p:transition spd="slow">
    <p:circl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437063"/>
            <a:ext cx="7848600"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492375"/>
            <a:ext cx="7848600"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48133" name="TextBox 2"/>
          <p:cNvSpPr txBox="1">
            <a:spLocks noChangeArrowheads="1"/>
          </p:cNvSpPr>
          <p:nvPr/>
        </p:nvSpPr>
        <p:spPr bwMode="auto">
          <a:xfrm>
            <a:off x="468313" y="1341438"/>
            <a:ext cx="82073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．命令方式定义表间的参照关系</a:t>
            </a:r>
            <a:endParaRPr lang="zh-CN" altLang="zh-CN" b="1">
              <a:solidFill>
                <a:srgbClr val="C00000"/>
              </a:solidFill>
            </a:endParaRPr>
          </a:p>
          <a:p>
            <a:pPr eaLnBrk="1" fontAlgn="ctr" hangingPunct="1"/>
            <a:r>
              <a:rPr lang="zh-CN" altLang="zh-CN"/>
              <a:t>（</a:t>
            </a:r>
            <a:r>
              <a:rPr lang="en-US" altLang="zh-CN"/>
              <a:t>1</a:t>
            </a:r>
            <a:r>
              <a:rPr lang="zh-CN" altLang="zh-CN"/>
              <a:t>）创建表的同时定义外键约束</a:t>
            </a:r>
            <a:endParaRPr lang="zh-CN" altLang="zh-CN"/>
          </a:p>
          <a:p>
            <a:pPr eaLnBrk="1" fontAlgn="ctr" hangingPunct="1"/>
            <a:r>
              <a:rPr lang="zh-CN" altLang="zh-CN"/>
              <a:t>创建表语法格式中的</a:t>
            </a:r>
            <a:r>
              <a:rPr lang="en-US" altLang="zh-CN"/>
              <a:t>&lt;</a:t>
            </a:r>
            <a:r>
              <a:rPr lang="zh-CN" altLang="zh-CN"/>
              <a:t>列定义</a:t>
            </a:r>
            <a:r>
              <a:rPr lang="en-US" altLang="zh-CN"/>
              <a:t>&gt;</a:t>
            </a:r>
            <a:r>
              <a:rPr lang="zh-CN" altLang="zh-CN"/>
              <a:t>前面已经列出，这里只列出定义外键部分的语法。</a:t>
            </a:r>
            <a:endParaRPr lang="zh-CN" altLang="zh-CN"/>
          </a:p>
          <a:p>
            <a:pPr eaLnBrk="1" hangingPunct="1"/>
            <a:r>
              <a:rPr lang="en-US" altLang="zh-CN"/>
              <a:t>CREATE TABLE</a:t>
            </a:r>
            <a:r>
              <a:rPr lang="zh-CN" altLang="zh-CN"/>
              <a:t>表名</a:t>
            </a:r>
            <a:r>
              <a:rPr lang="en-US" altLang="zh-CN"/>
              <a:t>					/*</a:t>
            </a:r>
            <a:r>
              <a:rPr lang="zh-CN" altLang="zh-CN"/>
              <a:t>指定表名</a:t>
            </a:r>
            <a:r>
              <a:rPr lang="en-US" altLang="zh-CN"/>
              <a:t>*/</a:t>
            </a:r>
            <a:endParaRPr lang="zh-CN" altLang="zh-CN"/>
          </a:p>
          <a:p>
            <a:pPr eaLnBrk="1" hangingPunct="1"/>
            <a:r>
              <a:rPr lang="en-US" altLang="zh-CN"/>
              <a:t>(</a:t>
            </a:r>
            <a:endParaRPr lang="zh-CN" altLang="zh-CN"/>
          </a:p>
          <a:p>
            <a:pPr eaLnBrk="1" hangingPunct="1"/>
            <a:r>
              <a:rPr lang="en-US" altLang="zh-CN"/>
              <a:t>     &lt;</a:t>
            </a:r>
            <a:r>
              <a:rPr lang="zh-CN" altLang="zh-CN"/>
              <a:t>列定义</a:t>
            </a:r>
            <a:r>
              <a:rPr lang="en-US" altLang="zh-CN"/>
              <a:t>&gt;</a:t>
            </a:r>
            <a:endParaRPr lang="zh-CN" altLang="zh-CN"/>
          </a:p>
          <a:p>
            <a:pPr eaLnBrk="1" hangingPunct="1"/>
            <a:r>
              <a:rPr lang="en-US" altLang="zh-CN"/>
              <a:t>     [ CONSTRAINT</a:t>
            </a:r>
            <a:r>
              <a:rPr lang="zh-CN" altLang="zh-CN"/>
              <a:t>约束名</a:t>
            </a:r>
            <a:r>
              <a:rPr lang="en-US" altLang="zh-CN"/>
              <a:t>]</a:t>
            </a:r>
            <a:endParaRPr lang="zh-CN" altLang="zh-CN"/>
          </a:p>
          <a:p>
            <a:pPr eaLnBrk="1" hangingPunct="1"/>
            <a:r>
              <a:rPr lang="en-US" altLang="zh-CN"/>
              <a:t>     [ FOREIGN KEY ][ ( </a:t>
            </a:r>
            <a:r>
              <a:rPr lang="zh-CN" altLang="zh-CN"/>
              <a:t>列</a:t>
            </a:r>
            <a:r>
              <a:rPr lang="en-US" altLang="zh-CN"/>
              <a:t>[ , ... ] )] &lt;</a:t>
            </a:r>
            <a:r>
              <a:rPr lang="zh-CN" altLang="zh-CN"/>
              <a:t>参照定义</a:t>
            </a:r>
            <a:r>
              <a:rPr lang="en-US" altLang="zh-CN"/>
              <a:t>&gt;</a:t>
            </a:r>
            <a:endParaRPr lang="zh-CN" altLang="zh-CN"/>
          </a:p>
          <a:p>
            <a:pPr eaLnBrk="1" hangingPunct="1"/>
            <a:r>
              <a:rPr lang="en-US" altLang="zh-CN"/>
              <a:t>)</a:t>
            </a:r>
            <a:endParaRPr lang="zh-CN" altLang="zh-CN"/>
          </a:p>
          <a:p>
            <a:pPr eaLnBrk="1" hangingPunct="1"/>
            <a:r>
              <a:rPr lang="en-US" altLang="zh-CN"/>
              <a:t> </a:t>
            </a:r>
            <a:r>
              <a:rPr lang="zh-CN" altLang="zh-CN"/>
              <a:t>其中，</a:t>
            </a:r>
            <a:r>
              <a:rPr lang="en-US" altLang="zh-CN"/>
              <a:t>&lt;</a:t>
            </a:r>
            <a:r>
              <a:rPr lang="zh-CN" altLang="zh-CN"/>
              <a:t>参照定义</a:t>
            </a:r>
            <a:r>
              <a:rPr lang="en-US" altLang="zh-CN"/>
              <a:t>&gt;</a:t>
            </a:r>
            <a:r>
              <a:rPr lang="zh-CN" altLang="zh-CN"/>
              <a:t>的具体格式如下：</a:t>
            </a:r>
            <a:endParaRPr lang="zh-CN" altLang="zh-CN"/>
          </a:p>
          <a:p>
            <a:pPr eaLnBrk="1" hangingPunct="1"/>
            <a:r>
              <a:rPr lang="en-US" altLang="zh-CN"/>
              <a:t>&lt;</a:t>
            </a:r>
            <a:r>
              <a:rPr lang="zh-CN" altLang="zh-CN"/>
              <a:t>参照定义</a:t>
            </a:r>
            <a:r>
              <a:rPr lang="en-US" altLang="zh-CN"/>
              <a:t>&gt;::=</a:t>
            </a:r>
            <a:endParaRPr lang="zh-CN" altLang="zh-CN"/>
          </a:p>
          <a:p>
            <a:pPr eaLnBrk="1" hangingPunct="1"/>
            <a:r>
              <a:rPr lang="en-US" altLang="zh-CN"/>
              <a:t>    REFERENCES</a:t>
            </a:r>
            <a:r>
              <a:rPr lang="zh-CN" altLang="zh-CN"/>
              <a:t>参照表名</a:t>
            </a:r>
            <a:r>
              <a:rPr lang="en-US" altLang="zh-CN"/>
              <a:t>[ ( </a:t>
            </a:r>
            <a:r>
              <a:rPr lang="zh-CN" altLang="zh-CN"/>
              <a:t>参照列</a:t>
            </a:r>
            <a:r>
              <a:rPr lang="en-US" altLang="zh-CN"/>
              <a:t>[ , ... ] ) ]</a:t>
            </a:r>
            <a:endParaRPr lang="zh-CN" altLang="zh-CN"/>
          </a:p>
          <a:p>
            <a:pPr eaLnBrk="1" hangingPunct="1"/>
            <a:r>
              <a:rPr lang="en-US" altLang="zh-CN"/>
              <a:t>    [ ON DELETE { NO ACTION | CASCADE | SET NULL | SET DEFAULT } ] </a:t>
            </a:r>
            <a:endParaRPr lang="zh-CN" altLang="zh-CN"/>
          </a:p>
          <a:p>
            <a:pPr eaLnBrk="1" hangingPunct="1"/>
            <a:r>
              <a:rPr lang="en-US" altLang="zh-CN"/>
              <a:t>    [ ON UPDATE { NO ACTION | CASCADE | SET NULL | SET DEFAULT } ] </a:t>
            </a:r>
            <a:endParaRPr lang="zh-CN" altLang="zh-CN"/>
          </a:p>
          <a:p>
            <a:pPr eaLnBrk="1" hangingPunct="1"/>
            <a:r>
              <a:rPr lang="en-US" altLang="zh-CN"/>
              <a:t>    [ NOT FOR REPLICATION ] </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508500"/>
            <a:ext cx="7848600" cy="1944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989138"/>
            <a:ext cx="7848600" cy="19446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49157" name="TextBox 2"/>
          <p:cNvSpPr txBox="1">
            <a:spLocks noChangeArrowheads="1"/>
          </p:cNvSpPr>
          <p:nvPr/>
        </p:nvSpPr>
        <p:spPr bwMode="auto">
          <a:xfrm>
            <a:off x="468313" y="1412875"/>
            <a:ext cx="8207375" cy="547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6.18</a:t>
            </a:r>
            <a:r>
              <a:rPr lang="zh-CN" altLang="zh-CN"/>
              <a:t>】 创建</a:t>
            </a:r>
            <a:r>
              <a:rPr lang="en-US" altLang="zh-CN"/>
              <a:t>stu</a:t>
            </a:r>
            <a:r>
              <a:rPr lang="zh-CN" altLang="zh-CN"/>
              <a:t>表，要求</a:t>
            </a:r>
            <a:r>
              <a:rPr lang="en-US" altLang="zh-CN"/>
              <a:t>stu</a:t>
            </a:r>
            <a:r>
              <a:rPr lang="zh-CN" altLang="zh-CN"/>
              <a:t>表中所有的学生学号都必须出现在</a:t>
            </a:r>
            <a:r>
              <a:rPr lang="en-US" altLang="zh-CN"/>
              <a:t>xsb</a:t>
            </a:r>
            <a:r>
              <a:rPr lang="zh-CN" altLang="zh-CN"/>
              <a:t>表中，假设已经使用“学号”列作为主键创建了</a:t>
            </a:r>
            <a:r>
              <a:rPr lang="en-US" altLang="zh-CN"/>
              <a:t>xsb</a:t>
            </a:r>
            <a:r>
              <a:rPr lang="zh-CN" altLang="zh-CN"/>
              <a:t>表。</a:t>
            </a:r>
            <a:endParaRPr lang="zh-CN" altLang="zh-CN"/>
          </a:p>
          <a:p>
            <a:pPr eaLnBrk="1" hangingPunct="1"/>
            <a:r>
              <a:rPr lang="en-US" altLang="zh-CN" sz="1600"/>
              <a:t>USE pxscj</a:t>
            </a:r>
            <a:endParaRPr lang="zh-CN" altLang="zh-CN" sz="1600"/>
          </a:p>
          <a:p>
            <a:pPr eaLnBrk="1" hangingPunct="1"/>
            <a:r>
              <a:rPr lang="en-US" altLang="zh-CN" sz="1600"/>
              <a:t>GO</a:t>
            </a:r>
            <a:endParaRPr lang="zh-CN" altLang="zh-CN" sz="1600"/>
          </a:p>
          <a:p>
            <a:pPr eaLnBrk="1" hangingPunct="1"/>
            <a:r>
              <a:rPr lang="en-US" altLang="zh-CN" sz="1600"/>
              <a:t>CREATE TABLE stu</a:t>
            </a:r>
            <a:endParaRPr lang="zh-CN" altLang="zh-CN" sz="1600"/>
          </a:p>
          <a:p>
            <a:pPr eaLnBrk="1" hangingPunct="1"/>
            <a:r>
              <a:rPr lang="en-US" altLang="zh-CN" sz="1600"/>
              <a:t>(</a:t>
            </a:r>
            <a:endParaRPr lang="zh-CN" altLang="zh-CN" sz="1600"/>
          </a:p>
          <a:p>
            <a:pPr eaLnBrk="1" hangingPunct="1"/>
            <a:r>
              <a:rPr lang="en-US" altLang="zh-CN" sz="1600"/>
              <a:t>    </a:t>
            </a:r>
            <a:r>
              <a:rPr lang="zh-CN" altLang="zh-CN" sz="1600"/>
              <a:t>学号 </a:t>
            </a:r>
            <a:r>
              <a:rPr lang="en-US" altLang="zh-CN" sz="1600"/>
              <a:t>	char(6)  	NOT NULL 	FOREIGN KEY (</a:t>
            </a:r>
            <a:r>
              <a:rPr lang="zh-CN" altLang="zh-CN" sz="1600"/>
              <a:t>学号</a:t>
            </a:r>
            <a:r>
              <a:rPr lang="en-US" altLang="zh-CN" sz="1600"/>
              <a:t>) REFERENCES xsb (</a:t>
            </a:r>
            <a:r>
              <a:rPr lang="zh-CN" altLang="zh-CN" sz="1600"/>
              <a:t>学号</a:t>
            </a:r>
            <a:r>
              <a:rPr lang="en-US" altLang="zh-CN" sz="1600"/>
              <a:t>),</a:t>
            </a:r>
            <a:endParaRPr lang="zh-CN" altLang="zh-CN" sz="1600"/>
          </a:p>
          <a:p>
            <a:pPr eaLnBrk="1" hangingPunct="1"/>
            <a:r>
              <a:rPr lang="en-US" altLang="zh-CN" sz="1600"/>
              <a:t>    </a:t>
            </a:r>
            <a:r>
              <a:rPr lang="zh-CN" altLang="zh-CN" sz="1600"/>
              <a:t>姓名 </a:t>
            </a:r>
            <a:r>
              <a:rPr lang="en-US" altLang="zh-CN" sz="1600"/>
              <a:t>	char(8) 	NOT NULL,</a:t>
            </a:r>
            <a:endParaRPr lang="zh-CN" altLang="zh-CN" sz="1600"/>
          </a:p>
          <a:p>
            <a:pPr eaLnBrk="1" hangingPunct="1"/>
            <a:r>
              <a:rPr lang="en-US" altLang="zh-CN" sz="1600"/>
              <a:t>    </a:t>
            </a:r>
            <a:r>
              <a:rPr lang="zh-CN" altLang="zh-CN" sz="1600"/>
              <a:t>出生时间 </a:t>
            </a:r>
            <a:r>
              <a:rPr lang="en-US" altLang="zh-CN" sz="1600"/>
              <a:t>	datetime	 NULL</a:t>
            </a:r>
            <a:endParaRPr lang="zh-CN" altLang="zh-CN" sz="1600"/>
          </a:p>
          <a:p>
            <a:pPr eaLnBrk="1" hangingPunct="1"/>
            <a:r>
              <a:rPr lang="en-US" altLang="zh-CN" sz="1600"/>
              <a:t>)</a:t>
            </a:r>
            <a:endParaRPr lang="zh-CN" altLang="zh-CN" sz="1600"/>
          </a:p>
          <a:p>
            <a:pPr eaLnBrk="1" fontAlgn="ctr" hangingPunct="1"/>
            <a:r>
              <a:rPr lang="zh-CN" altLang="zh-CN"/>
              <a:t>【例</a:t>
            </a:r>
            <a:r>
              <a:rPr lang="en-US" altLang="zh-CN"/>
              <a:t>6.19</a:t>
            </a:r>
            <a:r>
              <a:rPr lang="zh-CN" altLang="zh-CN"/>
              <a:t>】 创建</a:t>
            </a:r>
            <a:r>
              <a:rPr lang="en-US" altLang="zh-CN"/>
              <a:t>point</a:t>
            </a:r>
            <a:r>
              <a:rPr lang="zh-CN" altLang="zh-CN"/>
              <a:t>表，要求表中所有的学号、课程号组合都必须出现在</a:t>
            </a:r>
            <a:r>
              <a:rPr lang="en-US" altLang="zh-CN"/>
              <a:t>cjb</a:t>
            </a:r>
            <a:r>
              <a:rPr lang="zh-CN" altLang="zh-CN"/>
              <a:t>表中。</a:t>
            </a:r>
            <a:endParaRPr lang="zh-CN" altLang="zh-CN"/>
          </a:p>
          <a:p>
            <a:pPr eaLnBrk="1" hangingPunct="1"/>
            <a:r>
              <a:rPr lang="en-US" altLang="zh-CN" sz="1600"/>
              <a:t>CREATE TABLE point</a:t>
            </a:r>
            <a:endParaRPr lang="zh-CN" altLang="zh-CN" sz="1600"/>
          </a:p>
          <a:p>
            <a:pPr eaLnBrk="1" hangingPunct="1"/>
            <a:r>
              <a:rPr lang="en-US" altLang="zh-CN" sz="1600"/>
              <a:t>(</a:t>
            </a:r>
            <a:endParaRPr lang="zh-CN" altLang="zh-CN" sz="1600"/>
          </a:p>
          <a:p>
            <a:pPr eaLnBrk="1" hangingPunct="1"/>
            <a:r>
              <a:rPr lang="en-US" altLang="zh-CN" sz="1600"/>
              <a:t>    </a:t>
            </a:r>
            <a:r>
              <a:rPr lang="zh-CN" altLang="zh-CN" sz="1600"/>
              <a:t>学号 </a:t>
            </a:r>
            <a:r>
              <a:rPr lang="en-US" altLang="zh-CN" sz="1600"/>
              <a:t>	char(6)  	NOT NULL,</a:t>
            </a:r>
            <a:endParaRPr lang="zh-CN" altLang="zh-CN" sz="1600"/>
          </a:p>
          <a:p>
            <a:pPr eaLnBrk="1" hangingPunct="1"/>
            <a:r>
              <a:rPr lang="en-US" altLang="zh-CN" sz="1600"/>
              <a:t>    </a:t>
            </a:r>
            <a:r>
              <a:rPr lang="zh-CN" altLang="zh-CN" sz="1600"/>
              <a:t>课程号 </a:t>
            </a:r>
            <a:r>
              <a:rPr lang="en-US" altLang="zh-CN" sz="1600"/>
              <a:t>	char(3) 	NOT NULL,</a:t>
            </a:r>
            <a:endParaRPr lang="zh-CN" altLang="zh-CN" sz="1600"/>
          </a:p>
          <a:p>
            <a:pPr eaLnBrk="1" hangingPunct="1"/>
            <a:r>
              <a:rPr lang="en-US" altLang="zh-CN" sz="1600"/>
              <a:t>    </a:t>
            </a:r>
            <a:r>
              <a:rPr lang="zh-CN" altLang="zh-CN" sz="1600"/>
              <a:t>成绩 </a:t>
            </a:r>
            <a:r>
              <a:rPr lang="en-US" altLang="zh-CN" sz="1600"/>
              <a:t>	int 	NULL,</a:t>
            </a:r>
            <a:endParaRPr lang="zh-CN" altLang="zh-CN" sz="1600"/>
          </a:p>
          <a:p>
            <a:pPr eaLnBrk="1" hangingPunct="1"/>
            <a:r>
              <a:rPr lang="en-US" altLang="zh-CN" sz="1600"/>
              <a:t>    CONSTRAINT FK_point FOREIGN KEY (</a:t>
            </a:r>
            <a:r>
              <a:rPr lang="zh-CN" altLang="zh-CN" sz="1600"/>
              <a:t>学号</a:t>
            </a:r>
            <a:r>
              <a:rPr lang="en-US" altLang="zh-CN" sz="1600"/>
              <a:t>,</a:t>
            </a:r>
            <a:r>
              <a:rPr lang="zh-CN" altLang="zh-CN" sz="1600"/>
              <a:t>课程号</a:t>
            </a:r>
            <a:r>
              <a:rPr lang="en-US" altLang="zh-CN" sz="1600"/>
              <a:t>) REFERENCES cjb (</a:t>
            </a:r>
            <a:r>
              <a:rPr lang="zh-CN" altLang="zh-CN" sz="1600"/>
              <a:t>学号</a:t>
            </a:r>
            <a:r>
              <a:rPr lang="en-US" altLang="zh-CN" sz="1600"/>
              <a:t>,</a:t>
            </a:r>
            <a:r>
              <a:rPr lang="zh-CN" altLang="zh-CN" sz="1600"/>
              <a:t>课程号</a:t>
            </a:r>
            <a:r>
              <a:rPr lang="en-US" altLang="zh-CN" sz="1600"/>
              <a:t>)</a:t>
            </a:r>
            <a:endParaRPr lang="zh-CN" altLang="zh-CN" sz="1600"/>
          </a:p>
          <a:p>
            <a:pPr eaLnBrk="1" hangingPunct="1"/>
            <a:r>
              <a:rPr lang="en-US" altLang="zh-CN" sz="1600"/>
              <a:t>        ON DELETE NO ACTION</a:t>
            </a:r>
            <a:endParaRPr lang="zh-CN" altLang="zh-CN" sz="1600"/>
          </a:p>
          <a:p>
            <a:pPr eaLnBrk="1" hangingPunct="1"/>
            <a:r>
              <a:rPr lang="en-US" altLang="zh-CN" sz="1600"/>
              <a:t>)</a:t>
            </a:r>
            <a:endParaRPr lang="zh-CN" altLang="zh-CN" sz="1600"/>
          </a:p>
          <a:p>
            <a:pPr eaLnBrk="1" hangingPunct="1"/>
            <a:endParaRPr lang="zh-CN" altLang="en-US" sz="1600"/>
          </a:p>
        </p:txBody>
      </p:sp>
    </p:spTree>
  </p:cSld>
  <p:clrMapOvr>
    <a:masterClrMapping/>
  </p:clrMapOvr>
  <p:transition spd="slow">
    <p:circl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716338"/>
            <a:ext cx="7848600"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50180" name="TextBox 2"/>
          <p:cNvSpPr txBox="1">
            <a:spLocks noChangeArrowheads="1"/>
          </p:cNvSpPr>
          <p:nvPr/>
        </p:nvSpPr>
        <p:spPr bwMode="auto">
          <a:xfrm>
            <a:off x="395288" y="1557338"/>
            <a:ext cx="8280400"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a:t>
            </a:r>
            <a:r>
              <a:rPr lang="en-US" altLang="zh-CN" b="1"/>
              <a:t>2</a:t>
            </a:r>
            <a:r>
              <a:rPr lang="zh-CN" altLang="zh-CN" b="1"/>
              <a:t>）通过修改表定义外键约束</a:t>
            </a:r>
            <a:endParaRPr lang="zh-CN" altLang="zh-CN" b="1"/>
          </a:p>
          <a:p>
            <a:pPr eaLnBrk="1" fontAlgn="ctr" hangingPunct="1">
              <a:lnSpc>
                <a:spcPct val="150000"/>
              </a:lnSpc>
            </a:pPr>
            <a:r>
              <a:rPr lang="zh-CN" altLang="zh-CN"/>
              <a:t>使用</a:t>
            </a:r>
            <a:r>
              <a:rPr lang="en-US" altLang="zh-CN"/>
              <a:t>ALTER TABLE</a:t>
            </a:r>
            <a:r>
              <a:rPr lang="zh-CN" altLang="zh-CN"/>
              <a:t>语句的</a:t>
            </a:r>
            <a:r>
              <a:rPr lang="en-US" altLang="zh-CN"/>
              <a:t>ADD</a:t>
            </a:r>
            <a:r>
              <a:rPr lang="zh-CN" altLang="zh-CN"/>
              <a:t>子句也可以定义外键约束，语法格式与定义其他约束类似，这里不再列出。</a:t>
            </a:r>
            <a:endParaRPr lang="zh-CN" altLang="zh-CN"/>
          </a:p>
          <a:p>
            <a:pPr eaLnBrk="1" fontAlgn="ctr" hangingPunct="1">
              <a:lnSpc>
                <a:spcPct val="150000"/>
              </a:lnSpc>
            </a:pPr>
            <a:r>
              <a:rPr lang="zh-CN" altLang="zh-CN"/>
              <a:t>【例</a:t>
            </a:r>
            <a:r>
              <a:rPr lang="en-US" altLang="zh-CN"/>
              <a:t>6.20</a:t>
            </a:r>
            <a:r>
              <a:rPr lang="zh-CN" altLang="zh-CN"/>
              <a:t>】 假设</a:t>
            </a:r>
            <a:r>
              <a:rPr lang="en-US" altLang="zh-CN"/>
              <a:t>kcb</a:t>
            </a:r>
            <a:r>
              <a:rPr lang="zh-CN" altLang="zh-CN"/>
              <a:t>表为主表，</a:t>
            </a:r>
            <a:r>
              <a:rPr lang="en-US" altLang="zh-CN"/>
              <a:t>kcb</a:t>
            </a:r>
            <a:r>
              <a:rPr lang="zh-CN" altLang="zh-CN"/>
              <a:t>的“课程号”字段已定义为主键。</a:t>
            </a:r>
            <a:r>
              <a:rPr lang="en-US" altLang="zh-CN"/>
              <a:t>cjb</a:t>
            </a:r>
            <a:r>
              <a:rPr lang="zh-CN" altLang="zh-CN"/>
              <a:t>表为从表，如下示例用于将</a:t>
            </a:r>
            <a:r>
              <a:rPr lang="en-US" altLang="zh-CN"/>
              <a:t>cjb</a:t>
            </a:r>
            <a:r>
              <a:rPr lang="zh-CN" altLang="zh-CN"/>
              <a:t>表的“课程号”字段定义为外键。</a:t>
            </a:r>
            <a:endParaRPr lang="zh-CN" altLang="zh-CN"/>
          </a:p>
          <a:p>
            <a:pPr eaLnBrk="1" hangingPunct="1"/>
            <a:r>
              <a:rPr lang="en-US" altLang="zh-CN"/>
              <a:t>ALTER TABLE cjb     </a:t>
            </a:r>
            <a:endParaRPr lang="zh-CN" altLang="zh-CN"/>
          </a:p>
          <a:p>
            <a:pPr eaLnBrk="1" hangingPunct="1"/>
            <a:r>
              <a:rPr lang="en-US" altLang="zh-CN"/>
              <a:t>    ADD   CONSTRAINT kc_foreign</a:t>
            </a:r>
            <a:endParaRPr lang="zh-CN" altLang="zh-CN"/>
          </a:p>
          <a:p>
            <a:pPr eaLnBrk="1" hangingPunct="1"/>
            <a:r>
              <a:rPr lang="en-US" altLang="zh-CN"/>
              <a:t>        FOREIGN KEY   (</a:t>
            </a:r>
            <a:r>
              <a:rPr lang="zh-CN" altLang="zh-CN"/>
              <a:t>课程号</a:t>
            </a:r>
            <a:r>
              <a:rPr lang="en-US" altLang="zh-CN"/>
              <a:t>)	</a:t>
            </a:r>
            <a:endParaRPr lang="zh-CN" altLang="zh-CN"/>
          </a:p>
          <a:p>
            <a:pPr eaLnBrk="1" hangingPunct="1"/>
            <a:r>
              <a:rPr lang="en-US" altLang="zh-CN"/>
              <a:t>            REFERENCES  kcb(</a:t>
            </a:r>
            <a:r>
              <a:rPr lang="zh-CN" altLang="zh-CN"/>
              <a:t>课程号</a:t>
            </a:r>
            <a:r>
              <a:rPr lang="en-US" altLang="zh-CN"/>
              <a:t> )</a:t>
            </a:r>
            <a:endParaRPr lang="zh-CN" altLang="zh-CN"/>
          </a:p>
          <a:p>
            <a:pPr eaLnBrk="1" hangingPunct="1"/>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3068638"/>
            <a:ext cx="7993063" cy="6477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6.2.3  </a:t>
            </a:r>
            <a:r>
              <a:rPr lang="zh-CN" altLang="zh-CN" dirty="0">
                <a:effectLst/>
              </a:rPr>
              <a:t>创建参照完整性：</a:t>
            </a:r>
            <a:r>
              <a:rPr lang="en-US" altLang="zh-CN" dirty="0">
                <a:effectLst/>
              </a:rPr>
              <a:t>FOREIGN KEY</a:t>
            </a:r>
            <a:endParaRPr lang="zh-CN" altLang="en-US" dirty="0"/>
          </a:p>
        </p:txBody>
      </p:sp>
      <p:sp>
        <p:nvSpPr>
          <p:cNvPr id="51204" name="TextBox 2"/>
          <p:cNvSpPr txBox="1">
            <a:spLocks noChangeArrowheads="1"/>
          </p:cNvSpPr>
          <p:nvPr/>
        </p:nvSpPr>
        <p:spPr bwMode="auto">
          <a:xfrm>
            <a:off x="395288" y="1412875"/>
            <a:ext cx="835342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．命令方式删除表间的参照关系</a:t>
            </a:r>
            <a:endParaRPr lang="zh-CN" altLang="zh-CN" b="1">
              <a:solidFill>
                <a:srgbClr val="C00000"/>
              </a:solidFill>
            </a:endParaRPr>
          </a:p>
          <a:p>
            <a:pPr eaLnBrk="1" fontAlgn="ctr" hangingPunct="1">
              <a:lnSpc>
                <a:spcPct val="150000"/>
              </a:lnSpc>
            </a:pPr>
            <a:r>
              <a:rPr lang="zh-CN" altLang="zh-CN"/>
              <a:t>删除表间的参照关系，实际上删除从表的外键约束即可。</a:t>
            </a:r>
            <a:endParaRPr lang="zh-CN" altLang="zh-CN"/>
          </a:p>
          <a:p>
            <a:pPr eaLnBrk="1" fontAlgn="ctr" hangingPunct="1">
              <a:lnSpc>
                <a:spcPct val="150000"/>
              </a:lnSpc>
            </a:pPr>
            <a:r>
              <a:rPr lang="zh-CN" altLang="zh-CN"/>
              <a:t>语法格式与前面其他约束删除的格式类似。</a:t>
            </a:r>
            <a:endParaRPr lang="zh-CN" altLang="zh-CN"/>
          </a:p>
          <a:p>
            <a:pPr eaLnBrk="1" fontAlgn="ctr" hangingPunct="1">
              <a:lnSpc>
                <a:spcPct val="150000"/>
              </a:lnSpc>
            </a:pPr>
            <a:r>
              <a:rPr lang="zh-CN" altLang="zh-CN"/>
              <a:t>【例</a:t>
            </a:r>
            <a:r>
              <a:rPr lang="en-US" altLang="zh-CN"/>
              <a:t>6.21</a:t>
            </a:r>
            <a:r>
              <a:rPr lang="zh-CN" altLang="zh-CN"/>
              <a:t>】 删除上例对</a:t>
            </a:r>
            <a:r>
              <a:rPr lang="en-US" altLang="zh-CN"/>
              <a:t>cjb</a:t>
            </a:r>
            <a:r>
              <a:rPr lang="zh-CN" altLang="zh-CN"/>
              <a:t>表的“课程号”字段定义的外键约束。</a:t>
            </a:r>
            <a:endParaRPr lang="zh-CN" altLang="zh-CN"/>
          </a:p>
          <a:p>
            <a:pPr eaLnBrk="1" hangingPunct="1"/>
            <a:r>
              <a:rPr lang="en-US" altLang="zh-CN"/>
              <a:t>ALTER TABLE cjb  </a:t>
            </a:r>
            <a:endParaRPr lang="zh-CN" altLang="zh-CN"/>
          </a:p>
          <a:p>
            <a:pPr eaLnBrk="1" hangingPunct="1"/>
            <a:r>
              <a:rPr lang="en-US" altLang="zh-CN"/>
              <a:t>    DROP CONSTRAINT kc_foreign</a:t>
            </a:r>
            <a:endParaRPr lang="zh-CN" altLang="zh-CN"/>
          </a:p>
          <a:p>
            <a:pPr eaLnBrk="1" hangingPunct="1"/>
            <a:endParaRPr lang="zh-CN" altLang="en-US"/>
          </a:p>
        </p:txBody>
      </p:sp>
    </p:spTree>
  </p:cSld>
  <p:clrMapOvr>
    <a:masterClrMapping/>
  </p:clrMapOvr>
  <p:transition spd="slow">
    <p:circle/>
  </p:transition>
  <p:timing>
    <p:tnLst>
      <p:par>
        <p:cTn id="1" dur="indefinite" restart="never" nodeType="tmRoot"/>
      </p:par>
    </p:tnLst>
  </p:timing>
</p:sld>
</file>

<file path=ppt/tags/tag1.xml><?xml version="1.0" encoding="utf-8"?>
<p:tagLst xmlns:p="http://schemas.openxmlformats.org/presentationml/2006/main">
  <p:tag name="KSO_WPP_MARK_KEY" val="0b6ed24f-a971-400f-96fa-8e5a08a6cfd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12483</Words>
  <Application>WPS 演示</Application>
  <PresentationFormat>全屏显示(4:3)</PresentationFormat>
  <Paragraphs>530</Paragraphs>
  <Slides>45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45</vt:i4>
      </vt:variant>
    </vt:vector>
  </HeadingPairs>
  <TitlesOfParts>
    <vt:vector size="58" baseType="lpstr">
      <vt:lpstr>Arial</vt:lpstr>
      <vt:lpstr>宋体</vt:lpstr>
      <vt:lpstr>Wingdings</vt:lpstr>
      <vt:lpstr>Calibri</vt:lpstr>
      <vt:lpstr>Symbol</vt:lpstr>
      <vt:lpstr>Times New Roman</vt:lpstr>
      <vt:lpstr>方正书宋简体</vt:lpstr>
      <vt:lpstr>Candara</vt:lpstr>
      <vt:lpstr>华文新魏</vt:lpstr>
      <vt:lpstr>微软雅黑</vt:lpstr>
      <vt:lpstr>Arial Unicode MS</vt:lpstr>
      <vt:lpstr>华文楷体</vt:lpstr>
      <vt:lpstr>波形</vt:lpstr>
      <vt:lpstr>第6章  索引和完整性</vt:lpstr>
      <vt:lpstr>6.1  索    引</vt:lpstr>
      <vt:lpstr>6.1.1  索引的分类</vt:lpstr>
      <vt:lpstr>6.1.2  索引的创建：CREATE INDEX</vt:lpstr>
      <vt:lpstr>6.1.2  索引的创建：CREATE INDEX</vt:lpstr>
      <vt:lpstr>6.1.2  索引的创建：CREATE INDEX</vt:lpstr>
      <vt:lpstr>6.1.2  索引的创建：CREATE INDEX</vt:lpstr>
      <vt:lpstr>6.1.2  索引的创建：CREATE INDEX</vt:lpstr>
      <vt:lpstr>6.1.2  索引的创建：CREATE INDEX</vt:lpstr>
      <vt:lpstr>6.1.2  索引的创建：CREATE INDEX</vt:lpstr>
      <vt:lpstr>6.1.2  索引的创建：CREATE INDEX</vt:lpstr>
      <vt:lpstr>6.1.2  索引的创建：CREATE INDEX</vt:lpstr>
      <vt:lpstr>6.1.2  索引的创建：CREATE INDEX</vt:lpstr>
      <vt:lpstr>6.1.3  重建索引：ALTER INDEX</vt:lpstr>
      <vt:lpstr>6.1.4  索引的删除：DROP INDEX</vt:lpstr>
      <vt:lpstr>6.2  数据完整性</vt:lpstr>
      <vt:lpstr>6.2  数据完整性</vt:lpstr>
      <vt:lpstr>6.2  数据完整性</vt:lpstr>
      <vt:lpstr>6.2.1  创建实体完整性：PRIMARY KEY/UNIQUE</vt:lpstr>
      <vt:lpstr>6.2.1  创建实体完整性：PRIMARY KEY/UNIQUE</vt:lpstr>
      <vt:lpstr>6.2.1  创建实体完整性：PRIMARY KEY/UNIQUE</vt:lpstr>
      <vt:lpstr>6.2.1  创建实体完整性：PRIMARY KEY/UNIQUE</vt:lpstr>
      <vt:lpstr>6.2.1  创建实体完整性：PRIMARY KEY/UNIQUE</vt:lpstr>
      <vt:lpstr>6.2.1  创建实体完整性：PRIMARY KEY/UNIQUE</vt:lpstr>
      <vt:lpstr>6.2.1  创建实体完整性：PRIMARY KEY/UNIQUE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6.2.2  创建域完整性：CHECK/CREATE RULE</vt:lpstr>
      <vt:lpstr>6.2.3  创建参照完整性：FOREIGN KEY</vt:lpstr>
      <vt:lpstr>6.2.3  创建参照完整性：FOREIGN KEY</vt:lpstr>
      <vt:lpstr>6.2.3  创建参照完整性：FOREIGN KEY</vt:lpstr>
      <vt:lpstr>6.2.3  创建参照完整性：FOREIGN KEY</vt:lpstr>
      <vt:lpstr>6.2.3  创建参照完整性：FOREIGN KEY</vt:lpstr>
      <vt:lpstr>6.2.3  创建参照完整性：FOREIGN KEY</vt:lpstr>
      <vt:lpstr>6.2.3  创建参照完整性：FOREIGN KEY</vt:lpstr>
      <vt:lpstr>6.2.3  创建参照完整性：FOREIGN KEY</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索引和完整性</dc:title>
  <dc:creator>Microsoft</dc:creator>
  <cp:lastModifiedBy>微信用户</cp:lastModifiedBy>
  <cp:revision>19</cp:revision>
  <dcterms:created xsi:type="dcterms:W3CDTF">2015-06-24T08:40:00Z</dcterms:created>
  <dcterms:modified xsi:type="dcterms:W3CDTF">2023-09-11T07:25:35Z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1068B4DC2811444C96F9946CA42B34DB_13</vt:lpwstr>
  </property>
  <property fmtid="{D5CDD505-2E9C-101B-9397-08002B2CF9AE}" pid="3" name="KSOProductBuildVer">
    <vt:lpwstr>2052-11.1.0.14309</vt:lpwstr>
  </property>
</Properties>
</file>