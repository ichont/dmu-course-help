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Lst>
  <p:sldSz cx="9144000" cy="6858000" type="screen4x3"/>
  <p:notesSz cx="6858000" cy="9144000"/>
  <p:custDataLst>
    <p:tags r:id="rId65"/>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714" autoAdjust="0"/>
  </p:normalViewPr>
  <p:slideViewPr>
    <p:cSldViewPr>
      <p:cViewPr>
        <p:scale>
          <a:sx n="80" d="100"/>
          <a:sy n="80" d="100"/>
        </p:scale>
        <p:origin x="-1188" y="-108"/>
      </p:cViewPr>
      <p:guideLst>
        <p:guide orient="horz" pos="2160"/>
        <p:guide pos="2880"/>
      </p:guideLst>
    </p:cSldViewPr>
  </p:slideViewPr>
  <p:outlineViewPr>
    <p:cViewPr>
      <p:scale>
        <a:sx n="33" d="100"/>
        <a:sy n="33" d="100"/>
      </p:scale>
      <p:origin x="0" y="570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5" Type="http://schemas.openxmlformats.org/officeDocument/2006/relationships/tags" Target="tags/tag1.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notesMaster" Target="notesMasters/notesMaster1.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C8082DDF-678F-444B-BEF5-97EB515EE1C7}" type="datetimeFigureOut">
              <a:rPr lang="zh-CN" altLang="en-US"/>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0C3AEB4F-52FC-47E6-AD64-024BEF9A531D}"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a:defRPr/>
            </a:pPr>
            <a:fld id="{C1EA3C96-CEC1-4FB8-883F-6FB38CD89A64}"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9D021E4A-8ED9-479B-A2DA-C70583802C67}"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pPr>
              <a:defRPr/>
            </a:pPr>
            <a:fld id="{D94E5FF5-E961-4605-A9E7-1282420A27DA}"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9077B77A-2A82-425F-B9BE-E6FFB2925B93}" type="slidenum">
              <a:rPr lang="zh-CN" altLang="en-US" smtClean="0"/>
            </a:fld>
            <a:endParaRPr lang="zh-CN" altLang="en-US"/>
          </a:p>
        </p:txBody>
      </p:sp>
      <p:sp>
        <p:nvSpPr>
          <p:cNvPr id="7" name="Title 6"/>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pPr>
              <a:defRPr/>
            </a:pPr>
            <a:fld id="{23F072D2-BF2F-4B63-9D63-2F0BACD2E680}"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60AE22C6-2CD3-445B-8E22-07641EB21CA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pPr>
              <a:defRPr/>
            </a:pPr>
            <a:fld id="{6E77A06D-4682-4B5D-A94B-739CE41333E6}"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D818E38B-F10C-4857-82B2-363EBDF797E3}" type="slidenum">
              <a:rPr lang="zh-CN" altLang="en-US" smtClean="0"/>
            </a:fld>
            <a:endParaRPr lang="zh-CN" alt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fld id="{630EAE2B-6EAC-4F41-B0F9-07A6E6F7C1E3}" type="datetimeFigureOut">
              <a:rPr lang="zh-CN" altLang="en-US" smtClean="0"/>
            </a:fld>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pPr>
              <a:defRPr/>
            </a:pPr>
            <a:fld id="{64035033-C1D9-4B18-BC49-92CE8CFAF21F}"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pPr>
              <a:defRPr/>
            </a:pPr>
            <a:fld id="{2286C5BD-C24B-4E70-808A-F7B30568D00E}" type="datetimeFigureOut">
              <a:rPr lang="en-US" smtClean="0"/>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7D0E769B-2701-4318-B73A-2506FA65742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pPr>
              <a:defRPr/>
            </a:pPr>
            <a:fld id="{D8EA19A5-89E1-476E-A795-CF30E1D61E12}" type="datetimeFigureOut">
              <a:rPr lang="zh-CN" altLang="en-US" smtClean="0"/>
            </a:fld>
            <a:endParaRPr lang="zh-CN" altLang="en-US"/>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p:txBody>
          <a:bodyPr/>
          <a:lstStyle/>
          <a:p>
            <a:pPr>
              <a:defRPr/>
            </a:pPr>
            <a:fld id="{560D93F4-704A-4C92-B0D6-8111BE1086C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pPr>
              <a:defRPr/>
            </a:pPr>
            <a:fld id="{456BA5FD-F320-4878-8812-5A46D0AC2F15}"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42477814-343A-42B3-BD74-4D5746AFE314}" type="slidenum">
              <a:rPr lang="zh-CN" altLang="en-US" smtClean="0"/>
            </a:fld>
            <a:endParaRPr lang="zh-CN" alt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pPr>
              <a:defRPr/>
            </a:pPr>
            <a:fld id="{78E35B2D-F165-4C3C-A5A8-0F617346625A}"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452D88D0-A6F0-4130-A1BB-9719BE85B057}" type="slidenum">
              <a:rPr lang="zh-CN" altLang="en-US" smtClean="0"/>
            </a:fld>
            <a:endParaRPr lang="zh-CN"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pPr>
              <a:defRPr/>
            </a:pPr>
            <a:fld id="{B29F2FEE-9B5D-4117-A460-1623BEE2D4FE}"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B0F775D2-2BE3-4042-8135-EB66E2D6D02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pPr>
              <a:defRPr/>
            </a:pPr>
            <a:fld id="{79245617-6692-4196-ACB1-2F14AA2FB656}"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FDE420C3-DF18-4D72-B549-A460DDADA809}" type="slidenum">
              <a:rPr lang="zh-CN" altLang="en-US" smtClean="0"/>
            </a:fld>
            <a:endParaRPr lang="zh-CN"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pPr>
              <a:defRPr/>
            </a:pPr>
            <a:fld id="{B2C44DBB-59F1-4D77-919A-AFEEB11D68E6}" type="datetimeFigureOut">
              <a:rPr lang="zh-CN" altLang="en-US" smtClean="0"/>
            </a:fld>
            <a:endParaRPr lang="zh-CN" alt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pPr>
              <a:defRPr/>
            </a:pPr>
            <a:endParaRPr lang="zh-CN" alt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pPr>
              <a:defRPr/>
            </a:pPr>
            <a:fld id="{DFA506B0-3F5D-4CAE-8018-C1A30B58F339}" type="slidenum">
              <a:rPr lang="zh-CN" altLang="en-US" smtClean="0"/>
            </a:fld>
            <a:endParaRPr lang="zh-CN" alt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slide" Target="slide53.xml"/><Relationship Id="rId4" Type="http://schemas.openxmlformats.org/officeDocument/2006/relationships/slide" Target="slide42.xml"/><Relationship Id="rId3" Type="http://schemas.openxmlformats.org/officeDocument/2006/relationships/slide" Target="slide23.xml"/><Relationship Id="rId2" Type="http://schemas.openxmlformats.org/officeDocument/2006/relationships/slide" Target="slide6.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zh-CN" altLang="zh-CN" dirty="0">
                <a:effectLst/>
              </a:rPr>
              <a:t>第</a:t>
            </a:r>
            <a:r>
              <a:rPr lang="en-US" altLang="zh-CN" dirty="0">
                <a:effectLst/>
              </a:rPr>
              <a:t>9</a:t>
            </a:r>
            <a:r>
              <a:rPr lang="zh-CN" altLang="zh-CN" dirty="0" smtClean="0">
                <a:effectLst/>
              </a:rPr>
              <a:t>章</a:t>
            </a:r>
            <a:r>
              <a:rPr lang="en-US" altLang="zh-CN" dirty="0" smtClean="0">
                <a:effectLst/>
              </a:rPr>
              <a:t>  </a:t>
            </a:r>
            <a:r>
              <a:rPr lang="zh-CN" altLang="zh-CN" dirty="0" smtClean="0">
                <a:effectLst/>
              </a:rPr>
              <a:t>系统安全管理</a:t>
            </a:r>
            <a:endParaRPr lang="zh-CN" altLang="en-US" dirty="0"/>
          </a:p>
        </p:txBody>
      </p:sp>
      <p:sp>
        <p:nvSpPr>
          <p:cNvPr id="6147" name="TextBox 4"/>
          <p:cNvSpPr txBox="1">
            <a:spLocks noChangeArrowheads="1"/>
          </p:cNvSpPr>
          <p:nvPr/>
        </p:nvSpPr>
        <p:spPr bwMode="auto">
          <a:xfrm>
            <a:off x="900113" y="1700213"/>
            <a:ext cx="4967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1" action="ppaction://hlinksldjump"/>
              </a:rPr>
              <a:t>9.1  SQL Server 2012</a:t>
            </a:r>
            <a:r>
              <a:rPr lang="zh-CN" altLang="zh-CN" sz="2400" b="1">
                <a:hlinkClick r:id="rId1" action="ppaction://hlinksldjump"/>
              </a:rPr>
              <a:t>的安全机制</a:t>
            </a:r>
            <a:endParaRPr lang="zh-CN" altLang="zh-CN" sz="2400" b="1"/>
          </a:p>
        </p:txBody>
      </p:sp>
      <p:sp>
        <p:nvSpPr>
          <p:cNvPr id="6148" name="TextBox 5"/>
          <p:cNvSpPr txBox="1">
            <a:spLocks noChangeArrowheads="1"/>
          </p:cNvSpPr>
          <p:nvPr/>
        </p:nvSpPr>
        <p:spPr bwMode="auto">
          <a:xfrm>
            <a:off x="900113" y="2395538"/>
            <a:ext cx="4967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2" action="ppaction://hlinksldjump"/>
              </a:rPr>
              <a:t>9.2  </a:t>
            </a:r>
            <a:r>
              <a:rPr lang="zh-CN" altLang="zh-CN" sz="2400" b="1">
                <a:hlinkClick r:id="rId2" action="ppaction://hlinksldjump"/>
              </a:rPr>
              <a:t>建立和管理用户账户</a:t>
            </a:r>
            <a:endParaRPr lang="zh-CN" altLang="zh-CN" sz="2400" b="1"/>
          </a:p>
        </p:txBody>
      </p:sp>
      <p:sp>
        <p:nvSpPr>
          <p:cNvPr id="6149" name="TextBox 6"/>
          <p:cNvSpPr txBox="1">
            <a:spLocks noChangeArrowheads="1"/>
          </p:cNvSpPr>
          <p:nvPr/>
        </p:nvSpPr>
        <p:spPr bwMode="auto">
          <a:xfrm>
            <a:off x="900113" y="3068638"/>
            <a:ext cx="4967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3" action="ppaction://hlinksldjump"/>
              </a:rPr>
              <a:t>9.3  </a:t>
            </a:r>
            <a:r>
              <a:rPr lang="zh-CN" altLang="zh-CN" sz="2400" b="1">
                <a:hlinkClick r:id="rId3" action="ppaction://hlinksldjump"/>
              </a:rPr>
              <a:t>角 色 管 理</a:t>
            </a:r>
            <a:endParaRPr lang="zh-CN" altLang="zh-CN" sz="2400" b="1"/>
          </a:p>
        </p:txBody>
      </p:sp>
      <p:sp>
        <p:nvSpPr>
          <p:cNvPr id="6150" name="TextBox 7"/>
          <p:cNvSpPr txBox="1">
            <a:spLocks noChangeArrowheads="1"/>
          </p:cNvSpPr>
          <p:nvPr/>
        </p:nvSpPr>
        <p:spPr bwMode="auto">
          <a:xfrm>
            <a:off x="900113" y="3763963"/>
            <a:ext cx="4967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4" action="ppaction://hlinksldjump"/>
              </a:rPr>
              <a:t>9.4  </a:t>
            </a:r>
            <a:r>
              <a:rPr lang="zh-CN" altLang="zh-CN" sz="2400" b="1">
                <a:hlinkClick r:id="rId4" action="ppaction://hlinksldjump"/>
              </a:rPr>
              <a:t>数据库权限的管理</a:t>
            </a:r>
            <a:endParaRPr lang="zh-CN" altLang="zh-CN" sz="2400" b="1"/>
          </a:p>
        </p:txBody>
      </p:sp>
      <p:sp>
        <p:nvSpPr>
          <p:cNvPr id="6151" name="TextBox 8"/>
          <p:cNvSpPr txBox="1">
            <a:spLocks noChangeArrowheads="1"/>
          </p:cNvSpPr>
          <p:nvPr/>
        </p:nvSpPr>
        <p:spPr bwMode="auto">
          <a:xfrm>
            <a:off x="900113" y="4406900"/>
            <a:ext cx="49672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5" action="ppaction://hlinksldjump"/>
              </a:rPr>
              <a:t>9.5  </a:t>
            </a:r>
            <a:r>
              <a:rPr lang="zh-CN" altLang="zh-CN" sz="2400" b="1">
                <a:hlinkClick r:id="rId5" action="ppaction://hlinksldjump"/>
              </a:rPr>
              <a:t>数据库架构的定义和使用</a:t>
            </a:r>
            <a:endParaRPr lang="zh-CN" altLang="zh-CN" sz="2400" b="1"/>
          </a:p>
        </p:txBody>
      </p:sp>
    </p:spTree>
  </p:cSld>
  <p:clrMapOvr>
    <a:masterClrMapping/>
  </p:clrMapOvr>
  <p:transition spd="slow">
    <p:blinds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9.1  SQL Server 2012</a:t>
            </a:r>
            <a:r>
              <a:rPr lang="zh-CN" altLang="zh-CN" dirty="0">
                <a:effectLst/>
              </a:rPr>
              <a:t>的安全</a:t>
            </a:r>
            <a:r>
              <a:rPr lang="zh-CN" altLang="zh-CN" dirty="0" smtClean="0">
                <a:effectLst/>
              </a:rPr>
              <a:t>机制</a:t>
            </a:r>
            <a:endParaRPr lang="zh-CN" altLang="en-US" dirty="0"/>
          </a:p>
        </p:txBody>
      </p:sp>
      <p:sp>
        <p:nvSpPr>
          <p:cNvPr id="7171" name="TextBox 2"/>
          <p:cNvSpPr txBox="1">
            <a:spLocks noChangeArrowheads="1"/>
          </p:cNvSpPr>
          <p:nvPr/>
        </p:nvSpPr>
        <p:spPr bwMode="auto">
          <a:xfrm>
            <a:off x="395288" y="1412875"/>
            <a:ext cx="8280400"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t>9.1.1  SQL Server </a:t>
            </a:r>
            <a:r>
              <a:rPr lang="zh-CN" altLang="zh-CN" sz="2000" b="1" dirty="0"/>
              <a:t>身份验证模式</a:t>
            </a:r>
            <a:endParaRPr lang="zh-CN" altLang="zh-CN" sz="2000" b="1" dirty="0"/>
          </a:p>
          <a:p>
            <a:pPr eaLnBrk="1" hangingPunct="1"/>
            <a:r>
              <a:rPr lang="zh-CN" altLang="zh-CN" dirty="0"/>
              <a:t>身份验证模式是指系统确认用户的方式。</a:t>
            </a:r>
            <a:r>
              <a:rPr lang="en-US" altLang="zh-CN" dirty="0"/>
              <a:t>SQL Server</a:t>
            </a:r>
            <a:r>
              <a:rPr lang="zh-CN" altLang="zh-CN" dirty="0"/>
              <a:t>有两种身份验证模式：</a:t>
            </a:r>
            <a:r>
              <a:rPr lang="en-US" altLang="zh-CN" dirty="0"/>
              <a:t>Windows</a:t>
            </a:r>
            <a:r>
              <a:rPr lang="zh-CN" altLang="zh-CN" dirty="0"/>
              <a:t>验证模式和</a:t>
            </a:r>
            <a:r>
              <a:rPr lang="en-US" altLang="zh-CN" dirty="0"/>
              <a:t>SQL Server</a:t>
            </a:r>
            <a:r>
              <a:rPr lang="zh-CN" altLang="zh-CN" dirty="0"/>
              <a:t>验证模式。这是在安装</a:t>
            </a:r>
            <a:r>
              <a:rPr lang="en-US" altLang="zh-CN" dirty="0"/>
              <a:t>SQL Server</a:t>
            </a:r>
            <a:r>
              <a:rPr lang="zh-CN" altLang="zh-CN" dirty="0"/>
              <a:t>过程中“数据库引擎配置”页中确定的，如图</a:t>
            </a:r>
            <a:r>
              <a:rPr lang="en-US" altLang="zh-CN" dirty="0"/>
              <a:t>9.1</a:t>
            </a:r>
            <a:r>
              <a:rPr lang="zh-CN" altLang="zh-CN" dirty="0"/>
              <a:t>所示。</a:t>
            </a:r>
            <a:endParaRPr lang="zh-CN" altLang="zh-CN" dirty="0"/>
          </a:p>
          <a:p>
            <a:pPr eaLnBrk="1" hangingPunct="1"/>
            <a:endParaRPr lang="zh-CN" altLang="en-US" dirty="0"/>
          </a:p>
        </p:txBody>
      </p:sp>
      <p:pic>
        <p:nvPicPr>
          <p:cNvPr id="7172" name="图片 4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4075" y="2708275"/>
            <a:ext cx="4824413" cy="361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9.1.1  SQL Server </a:t>
            </a:r>
            <a:r>
              <a:rPr lang="zh-CN" altLang="zh-CN" dirty="0">
                <a:effectLst/>
              </a:rPr>
              <a:t>身份验证</a:t>
            </a:r>
            <a:r>
              <a:rPr lang="zh-CN" altLang="zh-CN" dirty="0" smtClean="0">
                <a:effectLst/>
              </a:rPr>
              <a:t>模式</a:t>
            </a:r>
            <a:endParaRPr lang="zh-CN" altLang="en-US" dirty="0"/>
          </a:p>
        </p:txBody>
      </p:sp>
      <p:sp>
        <p:nvSpPr>
          <p:cNvPr id="8195" name="TextBox 2"/>
          <p:cNvSpPr txBox="1">
            <a:spLocks noChangeArrowheads="1"/>
          </p:cNvSpPr>
          <p:nvPr/>
        </p:nvSpPr>
        <p:spPr bwMode="auto">
          <a:xfrm>
            <a:off x="468313" y="1484313"/>
            <a:ext cx="8135937"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1</a:t>
            </a:r>
            <a:r>
              <a:rPr lang="zh-CN" altLang="zh-CN" b="1">
                <a:solidFill>
                  <a:srgbClr val="C00000"/>
                </a:solidFill>
              </a:rPr>
              <a:t>．</a:t>
            </a:r>
            <a:r>
              <a:rPr lang="en-US" altLang="zh-CN" b="1">
                <a:solidFill>
                  <a:srgbClr val="C00000"/>
                </a:solidFill>
              </a:rPr>
              <a:t>Windows</a:t>
            </a:r>
            <a:r>
              <a:rPr lang="zh-CN" altLang="zh-CN" b="1">
                <a:solidFill>
                  <a:srgbClr val="C00000"/>
                </a:solidFill>
              </a:rPr>
              <a:t>验证模式</a:t>
            </a:r>
            <a:endParaRPr lang="zh-CN" altLang="zh-CN" b="1">
              <a:solidFill>
                <a:srgbClr val="C00000"/>
              </a:solidFill>
            </a:endParaRPr>
          </a:p>
          <a:p>
            <a:pPr eaLnBrk="1" hangingPunct="1"/>
            <a:r>
              <a:rPr lang="zh-CN" altLang="zh-CN"/>
              <a:t>用户登录</a:t>
            </a:r>
            <a:r>
              <a:rPr lang="en-US" altLang="zh-CN"/>
              <a:t>Windows</a:t>
            </a:r>
            <a:r>
              <a:rPr lang="zh-CN" altLang="zh-CN"/>
              <a:t>时进行身份验证，登录</a:t>
            </a:r>
            <a:r>
              <a:rPr lang="en-US" altLang="zh-CN"/>
              <a:t>SQL Server</a:t>
            </a:r>
            <a:r>
              <a:rPr lang="zh-CN" altLang="zh-CN"/>
              <a:t>时就不再进行身份验证了。需注意以下几点。</a:t>
            </a:r>
            <a:endParaRPr lang="zh-CN" altLang="zh-CN"/>
          </a:p>
          <a:p>
            <a:pPr eaLnBrk="1" hangingPunct="1"/>
            <a:r>
              <a:rPr lang="zh-CN" altLang="zh-CN"/>
              <a:t>（</a:t>
            </a:r>
            <a:r>
              <a:rPr lang="en-US" altLang="zh-CN"/>
              <a:t>1</a:t>
            </a:r>
            <a:r>
              <a:rPr lang="zh-CN" altLang="zh-CN"/>
              <a:t>）必须将</a:t>
            </a:r>
            <a:r>
              <a:rPr lang="en-US" altLang="zh-CN"/>
              <a:t>Windows</a:t>
            </a:r>
            <a:r>
              <a:rPr lang="zh-CN" altLang="zh-CN"/>
              <a:t>账户加入</a:t>
            </a:r>
            <a:r>
              <a:rPr lang="en-US" altLang="zh-CN"/>
              <a:t>SQL Server</a:t>
            </a:r>
            <a:r>
              <a:rPr lang="zh-CN" altLang="zh-CN"/>
              <a:t>中，才能采用</a:t>
            </a:r>
            <a:r>
              <a:rPr lang="en-US" altLang="zh-CN"/>
              <a:t>Windows</a:t>
            </a:r>
            <a:r>
              <a:rPr lang="zh-CN" altLang="zh-CN"/>
              <a:t>账户登录</a:t>
            </a:r>
            <a:r>
              <a:rPr lang="en-US" altLang="zh-CN"/>
              <a:t>SQL Server</a:t>
            </a:r>
            <a:r>
              <a:rPr lang="zh-CN" altLang="zh-CN"/>
              <a:t>。</a:t>
            </a:r>
            <a:endParaRPr lang="zh-CN" altLang="zh-CN"/>
          </a:p>
          <a:p>
            <a:pPr eaLnBrk="1" hangingPunct="1"/>
            <a:r>
              <a:rPr lang="zh-CN" altLang="zh-CN"/>
              <a:t>（</a:t>
            </a:r>
            <a:r>
              <a:rPr lang="en-US" altLang="zh-CN"/>
              <a:t>2</a:t>
            </a:r>
            <a:r>
              <a:rPr lang="zh-CN" altLang="zh-CN"/>
              <a:t>）如果使用</a:t>
            </a:r>
            <a:r>
              <a:rPr lang="en-US" altLang="zh-CN"/>
              <a:t>Windows</a:t>
            </a:r>
            <a:r>
              <a:rPr lang="zh-CN" altLang="zh-CN"/>
              <a:t>账户登录到另一个网络的</a:t>
            </a:r>
            <a:r>
              <a:rPr lang="en-US" altLang="zh-CN"/>
              <a:t>SQL Server</a:t>
            </a:r>
            <a:r>
              <a:rPr lang="zh-CN" altLang="zh-CN"/>
              <a:t>，则必须在</a:t>
            </a:r>
            <a:r>
              <a:rPr lang="en-US" altLang="zh-CN"/>
              <a:t>Windows</a:t>
            </a:r>
            <a:r>
              <a:rPr lang="zh-CN" altLang="zh-CN"/>
              <a:t>中设置彼此的托管权限。</a:t>
            </a:r>
            <a:endParaRPr lang="zh-CN" altLang="zh-CN"/>
          </a:p>
          <a:p>
            <a:pPr eaLnBrk="1" hangingPunct="1"/>
            <a:r>
              <a:rPr lang="en-US" altLang="zh-CN" b="1">
                <a:solidFill>
                  <a:srgbClr val="C00000"/>
                </a:solidFill>
              </a:rPr>
              <a:t>2</a:t>
            </a:r>
            <a:r>
              <a:rPr lang="zh-CN" altLang="zh-CN" b="1">
                <a:solidFill>
                  <a:srgbClr val="C00000"/>
                </a:solidFill>
              </a:rPr>
              <a:t>．</a:t>
            </a:r>
            <a:r>
              <a:rPr lang="en-US" altLang="zh-CN" b="1">
                <a:solidFill>
                  <a:srgbClr val="C00000"/>
                </a:solidFill>
              </a:rPr>
              <a:t>SQL Server</a:t>
            </a:r>
            <a:r>
              <a:rPr lang="zh-CN" altLang="zh-CN" b="1">
                <a:solidFill>
                  <a:srgbClr val="C00000"/>
                </a:solidFill>
              </a:rPr>
              <a:t>验证模式</a:t>
            </a:r>
            <a:endParaRPr lang="zh-CN" altLang="zh-CN" b="1">
              <a:solidFill>
                <a:srgbClr val="C00000"/>
              </a:solidFill>
            </a:endParaRPr>
          </a:p>
          <a:p>
            <a:pPr eaLnBrk="1" hangingPunct="1"/>
            <a:r>
              <a:rPr lang="zh-CN" altLang="zh-CN"/>
              <a:t>在</a:t>
            </a:r>
            <a:r>
              <a:rPr lang="en-US" altLang="zh-CN"/>
              <a:t>SQL Server</a:t>
            </a:r>
            <a:r>
              <a:rPr lang="zh-CN" altLang="zh-CN"/>
              <a:t>验证模式下，</a:t>
            </a:r>
            <a:r>
              <a:rPr lang="en-US" altLang="zh-CN"/>
              <a:t>SQL Server</a:t>
            </a:r>
            <a:r>
              <a:rPr lang="zh-CN" altLang="zh-CN"/>
              <a:t>服务器要对登录的用户进行身份验证。系统管理员必须设定登录验证模式的类型为混合验证模式。当采用混合模式时，</a:t>
            </a:r>
            <a:r>
              <a:rPr lang="en-US" altLang="zh-CN"/>
              <a:t>SQL Server</a:t>
            </a:r>
            <a:r>
              <a:rPr lang="zh-CN" altLang="zh-CN"/>
              <a:t>系统既允许使用</a:t>
            </a:r>
            <a:r>
              <a:rPr lang="en-US" altLang="zh-CN"/>
              <a:t>Windows</a:t>
            </a:r>
            <a:r>
              <a:rPr lang="zh-CN" altLang="zh-CN"/>
              <a:t>登录名登录，也允许使用</a:t>
            </a:r>
            <a:r>
              <a:rPr lang="en-US" altLang="zh-CN"/>
              <a:t>SQL Server</a:t>
            </a:r>
            <a:r>
              <a:rPr lang="zh-CN" altLang="zh-CN"/>
              <a:t>登录名登录。</a:t>
            </a:r>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9.1.2  SQL Server</a:t>
            </a:r>
            <a:r>
              <a:rPr lang="zh-CN" altLang="zh-CN" dirty="0">
                <a:effectLst/>
              </a:rPr>
              <a:t>安全性机制</a:t>
            </a:r>
            <a:endParaRPr lang="zh-CN" altLang="zh-CN" dirty="0">
              <a:effectLst/>
            </a:endParaRPr>
          </a:p>
        </p:txBody>
      </p:sp>
      <p:sp>
        <p:nvSpPr>
          <p:cNvPr id="9219" name="TextBox 2"/>
          <p:cNvSpPr txBox="1">
            <a:spLocks noChangeArrowheads="1"/>
          </p:cNvSpPr>
          <p:nvPr/>
        </p:nvSpPr>
        <p:spPr bwMode="auto">
          <a:xfrm>
            <a:off x="395288" y="1341438"/>
            <a:ext cx="8353425" cy="535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1</a:t>
            </a:r>
            <a:r>
              <a:rPr lang="zh-CN" altLang="zh-CN" b="1">
                <a:solidFill>
                  <a:srgbClr val="C00000"/>
                </a:solidFill>
              </a:rPr>
              <a:t>．服务器级别</a:t>
            </a:r>
            <a:endParaRPr lang="zh-CN" altLang="zh-CN" b="1">
              <a:solidFill>
                <a:srgbClr val="C00000"/>
              </a:solidFill>
            </a:endParaRPr>
          </a:p>
          <a:p>
            <a:pPr eaLnBrk="1" hangingPunct="1"/>
            <a:r>
              <a:rPr lang="en-US" altLang="zh-CN"/>
              <a:t>SQL Server</a:t>
            </a:r>
            <a:r>
              <a:rPr lang="zh-CN" altLang="zh-CN"/>
              <a:t>中的登录名主要有两种：第一种是</a:t>
            </a:r>
            <a:r>
              <a:rPr lang="en-US" altLang="zh-CN"/>
              <a:t>Windows</a:t>
            </a:r>
            <a:r>
              <a:rPr lang="zh-CN" altLang="zh-CN"/>
              <a:t>登录名，第二种是</a:t>
            </a:r>
            <a:r>
              <a:rPr lang="en-US" altLang="zh-CN"/>
              <a:t>SQL Server</a:t>
            </a:r>
            <a:r>
              <a:rPr lang="zh-CN" altLang="zh-CN"/>
              <a:t>登录名。</a:t>
            </a:r>
            <a:endParaRPr lang="zh-CN" altLang="zh-CN"/>
          </a:p>
          <a:p>
            <a:pPr eaLnBrk="1" hangingPunct="1"/>
            <a:r>
              <a:rPr lang="en-US" altLang="zh-CN"/>
              <a:t>Windows</a:t>
            </a:r>
            <a:r>
              <a:rPr lang="zh-CN" altLang="zh-CN"/>
              <a:t>登录名对应</a:t>
            </a:r>
            <a:r>
              <a:rPr lang="en-US" altLang="zh-CN"/>
              <a:t>Windows</a:t>
            </a:r>
            <a:r>
              <a:rPr lang="zh-CN" altLang="zh-CN"/>
              <a:t>验证模式，该验证模式所涉及的账户类型主要有</a:t>
            </a:r>
            <a:r>
              <a:rPr lang="en-US" altLang="zh-CN"/>
              <a:t>Windows</a:t>
            </a:r>
            <a:r>
              <a:rPr lang="zh-CN" altLang="zh-CN"/>
              <a:t>本地用户账户、</a:t>
            </a:r>
            <a:r>
              <a:rPr lang="en-US" altLang="zh-CN"/>
              <a:t>Windows</a:t>
            </a:r>
            <a:r>
              <a:rPr lang="zh-CN" altLang="zh-CN"/>
              <a:t>域用户账户、</a:t>
            </a:r>
            <a:r>
              <a:rPr lang="en-US" altLang="zh-CN"/>
              <a:t>Windows</a:t>
            </a:r>
            <a:r>
              <a:rPr lang="zh-CN" altLang="zh-CN"/>
              <a:t>组。</a:t>
            </a:r>
            <a:endParaRPr lang="zh-CN" altLang="zh-CN"/>
          </a:p>
          <a:p>
            <a:pPr eaLnBrk="1" hangingPunct="1"/>
            <a:r>
              <a:rPr lang="en-US" altLang="zh-CN"/>
              <a:t>SQL Server</a:t>
            </a:r>
            <a:r>
              <a:rPr lang="zh-CN" altLang="zh-CN"/>
              <a:t>登录名对应</a:t>
            </a:r>
            <a:r>
              <a:rPr lang="en-US" altLang="zh-CN"/>
              <a:t>SQL Server</a:t>
            </a:r>
            <a:r>
              <a:rPr lang="zh-CN" altLang="zh-CN"/>
              <a:t>验证模式，在该验证模式下，能够使用的账户类型主要是</a:t>
            </a:r>
            <a:r>
              <a:rPr lang="en-US" altLang="zh-CN"/>
              <a:t>SQL Server</a:t>
            </a:r>
            <a:r>
              <a:rPr lang="zh-CN" altLang="zh-CN"/>
              <a:t>账户。</a:t>
            </a:r>
            <a:endParaRPr lang="zh-CN" altLang="zh-CN"/>
          </a:p>
          <a:p>
            <a:pPr eaLnBrk="1" hangingPunct="1"/>
            <a:r>
              <a:rPr lang="en-US" altLang="zh-CN" b="1">
                <a:solidFill>
                  <a:srgbClr val="C00000"/>
                </a:solidFill>
              </a:rPr>
              <a:t>2</a:t>
            </a:r>
            <a:r>
              <a:rPr lang="zh-CN" altLang="zh-CN" b="1">
                <a:solidFill>
                  <a:srgbClr val="C00000"/>
                </a:solidFill>
              </a:rPr>
              <a:t>．数据库级别</a:t>
            </a:r>
            <a:endParaRPr lang="zh-CN" altLang="zh-CN" b="1">
              <a:solidFill>
                <a:srgbClr val="C00000"/>
              </a:solidFill>
            </a:endParaRPr>
          </a:p>
          <a:p>
            <a:pPr eaLnBrk="1" hangingPunct="1"/>
            <a:r>
              <a:rPr lang="zh-CN" altLang="zh-CN"/>
              <a:t>数据库级别所包含的安全对象主要有用户、角色、应用程序角色、证书、对称密钥、非对称密钥、程序集、全文目录、</a:t>
            </a:r>
            <a:r>
              <a:rPr lang="en-US" altLang="zh-CN"/>
              <a:t>DDL</a:t>
            </a:r>
            <a:r>
              <a:rPr lang="zh-CN" altLang="zh-CN"/>
              <a:t>事件、架构等。</a:t>
            </a:r>
            <a:endParaRPr lang="zh-CN" altLang="zh-CN"/>
          </a:p>
          <a:p>
            <a:pPr eaLnBrk="1" hangingPunct="1"/>
            <a:r>
              <a:rPr lang="zh-CN" altLang="zh-CN"/>
              <a:t>用户安全对象是用来访问数据库的。如果某人只拥有登录名，而没有在相应的数据库中为其创建登录名所对应的用户，则该用户只能登录数据库服务器，而不能访问相应的数据库。</a:t>
            </a:r>
            <a:endParaRPr lang="zh-CN" altLang="zh-CN"/>
          </a:p>
          <a:p>
            <a:pPr eaLnBrk="1" hangingPunct="1"/>
            <a:r>
              <a:rPr lang="en-US" altLang="zh-CN" b="1">
                <a:solidFill>
                  <a:srgbClr val="C00000"/>
                </a:solidFill>
              </a:rPr>
              <a:t>3</a:t>
            </a:r>
            <a:r>
              <a:rPr lang="zh-CN" altLang="zh-CN" b="1">
                <a:solidFill>
                  <a:srgbClr val="C00000"/>
                </a:solidFill>
              </a:rPr>
              <a:t>．架构级别</a:t>
            </a:r>
            <a:endParaRPr lang="zh-CN" altLang="zh-CN" b="1">
              <a:solidFill>
                <a:srgbClr val="C00000"/>
              </a:solidFill>
            </a:endParaRPr>
          </a:p>
          <a:p>
            <a:pPr eaLnBrk="1" hangingPunct="1"/>
            <a:r>
              <a:rPr lang="zh-CN" altLang="zh-CN"/>
              <a:t>架构级别所包含的安全对象有表、视图、函数、存储过程、类型、同义词、聚合函数等。在创建这些对象时可设定架构，若不设定则系统默认架构为</a:t>
            </a:r>
            <a:r>
              <a:rPr lang="en-US" altLang="zh-CN"/>
              <a:t>dbo</a:t>
            </a:r>
            <a:r>
              <a:rPr lang="zh-CN" altLang="zh-CN"/>
              <a:t>。</a:t>
            </a:r>
            <a:endParaRPr lang="zh-CN" altLang="zh-CN"/>
          </a:p>
          <a:p>
            <a:pPr eaLnBrk="1" hangingPunct="1"/>
            <a:r>
              <a:rPr lang="zh-CN" altLang="zh-CN"/>
              <a:t>数据库用户只能对属于自己架构中的数据库对象执行相应的数据操作。至于操作的权限则由数据库角色决定。</a:t>
            </a:r>
            <a:endParaRPr lang="zh-CN" altLang="zh-CN"/>
          </a:p>
          <a:p>
            <a:pPr eaLnBrk="1" hangingPunct="1"/>
            <a:endParaRPr lang="zh-CN" altLang="en-US"/>
          </a:p>
        </p:txBody>
      </p:sp>
    </p:spTree>
  </p:cSld>
  <p:clrMapOvr>
    <a:masterClrMapping/>
  </p:clrMapOvr>
  <p:transition spd="slow">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9.1.3  SQL Server</a:t>
            </a:r>
            <a:r>
              <a:rPr lang="zh-CN" altLang="zh-CN" dirty="0">
                <a:effectLst/>
              </a:rPr>
              <a:t>数据库安全验证过程</a:t>
            </a:r>
            <a:endParaRPr lang="zh-CN" altLang="zh-CN" dirty="0">
              <a:effectLst/>
            </a:endParaRPr>
          </a:p>
        </p:txBody>
      </p:sp>
      <p:sp>
        <p:nvSpPr>
          <p:cNvPr id="10243" name="TextBox 2"/>
          <p:cNvSpPr txBox="1">
            <a:spLocks noChangeArrowheads="1"/>
          </p:cNvSpPr>
          <p:nvPr/>
        </p:nvSpPr>
        <p:spPr bwMode="auto">
          <a:xfrm>
            <a:off x="468313" y="1557338"/>
            <a:ext cx="8207375" cy="212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a:t>一个用户如果要对某一数据库进行操作，必须满足以下</a:t>
            </a:r>
            <a:r>
              <a:rPr lang="en-US" altLang="zh-CN"/>
              <a:t>3</a:t>
            </a:r>
            <a:r>
              <a:rPr lang="zh-CN" altLang="zh-CN"/>
              <a:t>个条件：</a:t>
            </a:r>
            <a:endParaRPr lang="zh-CN" altLang="zh-CN"/>
          </a:p>
          <a:p>
            <a:pPr eaLnBrk="1" hangingPunct="1">
              <a:lnSpc>
                <a:spcPct val="150000"/>
              </a:lnSpc>
            </a:pPr>
            <a:r>
              <a:rPr lang="zh-CN" altLang="zh-CN"/>
              <a:t>（</a:t>
            </a:r>
            <a:r>
              <a:rPr lang="en-US" altLang="zh-CN"/>
              <a:t>1</a:t>
            </a:r>
            <a:r>
              <a:rPr lang="zh-CN" altLang="zh-CN"/>
              <a:t>）登录</a:t>
            </a:r>
            <a:r>
              <a:rPr lang="en-US" altLang="zh-CN"/>
              <a:t>SQL Server</a:t>
            </a:r>
            <a:r>
              <a:rPr lang="zh-CN" altLang="zh-CN"/>
              <a:t>服务器时必须通过身份验证；</a:t>
            </a:r>
            <a:endParaRPr lang="zh-CN" altLang="zh-CN"/>
          </a:p>
          <a:p>
            <a:pPr eaLnBrk="1" hangingPunct="1">
              <a:lnSpc>
                <a:spcPct val="150000"/>
              </a:lnSpc>
            </a:pPr>
            <a:r>
              <a:rPr lang="zh-CN" altLang="zh-CN"/>
              <a:t>（</a:t>
            </a:r>
            <a:r>
              <a:rPr lang="en-US" altLang="zh-CN"/>
              <a:t>2</a:t>
            </a:r>
            <a:r>
              <a:rPr lang="zh-CN" altLang="zh-CN"/>
              <a:t>）必须是该数据库的用户，或者是某一数据库角色的成员；</a:t>
            </a:r>
            <a:endParaRPr lang="zh-CN" altLang="zh-CN"/>
          </a:p>
          <a:p>
            <a:pPr eaLnBrk="1" hangingPunct="1">
              <a:lnSpc>
                <a:spcPct val="150000"/>
              </a:lnSpc>
            </a:pPr>
            <a:r>
              <a:rPr lang="zh-CN" altLang="zh-CN"/>
              <a:t>（</a:t>
            </a:r>
            <a:r>
              <a:rPr lang="en-US" altLang="zh-CN"/>
              <a:t>3</a:t>
            </a:r>
            <a:r>
              <a:rPr lang="zh-CN" altLang="zh-CN"/>
              <a:t>）必须有对数据库对象执行该操作的权限。</a:t>
            </a:r>
            <a:endParaRPr lang="zh-CN" altLang="zh-CN"/>
          </a:p>
          <a:p>
            <a:pPr eaLnBrk="1" hangingPunct="1">
              <a:lnSpc>
                <a:spcPct val="150000"/>
              </a:lnSpc>
            </a:pPr>
            <a:endParaRPr lang="zh-CN" altLang="en-US"/>
          </a:p>
        </p:txBody>
      </p:sp>
    </p:spTree>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9.2  </a:t>
            </a:r>
            <a:r>
              <a:rPr lang="zh-CN" altLang="zh-CN" dirty="0">
                <a:effectLst/>
              </a:rPr>
              <a:t>建立和管理用户账户</a:t>
            </a:r>
            <a:endParaRPr lang="zh-CN" altLang="zh-CN" dirty="0">
              <a:effectLst/>
            </a:endParaRPr>
          </a:p>
        </p:txBody>
      </p:sp>
      <p:sp>
        <p:nvSpPr>
          <p:cNvPr id="3" name="TextBox 2"/>
          <p:cNvSpPr txBox="1"/>
          <p:nvPr/>
        </p:nvSpPr>
        <p:spPr>
          <a:xfrm>
            <a:off x="395288" y="1341438"/>
            <a:ext cx="8424862" cy="4938712"/>
          </a:xfrm>
          <a:prstGeom prst="rect">
            <a:avLst/>
          </a:prstGeom>
          <a:noFill/>
        </p:spPr>
        <p:txBody>
          <a:bodyPr>
            <a:spAutoFit/>
          </a:bodyPr>
          <a:lstStyle/>
          <a:p>
            <a:pPr indent="450850" fontAlgn="auto">
              <a:lnSpc>
                <a:spcPct val="150000"/>
              </a:lnSpc>
              <a:spcBef>
                <a:spcPts val="0"/>
              </a:spcBef>
              <a:spcAft>
                <a:spcPts val="0"/>
              </a:spcAft>
              <a:defRPr/>
            </a:pPr>
            <a:r>
              <a:rPr lang="en-US" altLang="zh-CN" sz="2000" b="1" dirty="0">
                <a:latin typeface="+mn-lt"/>
                <a:ea typeface="+mn-ea"/>
              </a:rPr>
              <a:t>9.2.1  </a:t>
            </a:r>
            <a:r>
              <a:rPr lang="zh-CN" altLang="zh-CN" sz="2000" b="1" dirty="0">
                <a:latin typeface="+mn-lt"/>
                <a:ea typeface="+mn-ea"/>
              </a:rPr>
              <a:t>界面方式管理用户账户</a:t>
            </a:r>
            <a:endParaRPr lang="zh-CN" altLang="zh-CN" sz="2000" b="1" dirty="0">
              <a:latin typeface="+mn-lt"/>
              <a:ea typeface="+mn-ea"/>
            </a:endParaRPr>
          </a:p>
          <a:p>
            <a:pPr indent="450850" fontAlgn="auto">
              <a:lnSpc>
                <a:spcPct val="150000"/>
              </a:lnSpc>
              <a:spcBef>
                <a:spcPts val="0"/>
              </a:spcBef>
              <a:spcAft>
                <a:spcPts val="0"/>
              </a:spcAft>
              <a:defRPr/>
            </a:pPr>
            <a:r>
              <a:rPr lang="en-US" altLang="zh-CN" b="1" dirty="0">
                <a:solidFill>
                  <a:srgbClr val="C00000"/>
                </a:solidFill>
                <a:latin typeface="+mn-lt"/>
                <a:ea typeface="+mn-ea"/>
              </a:rPr>
              <a:t>1</a:t>
            </a:r>
            <a:r>
              <a:rPr lang="zh-CN" altLang="zh-CN" b="1" dirty="0">
                <a:solidFill>
                  <a:srgbClr val="C00000"/>
                </a:solidFill>
                <a:latin typeface="+mn-lt"/>
                <a:ea typeface="+mn-ea"/>
              </a:rPr>
              <a:t>．建立</a:t>
            </a:r>
            <a:r>
              <a:rPr lang="en-US" altLang="zh-CN" b="1" dirty="0">
                <a:solidFill>
                  <a:srgbClr val="C00000"/>
                </a:solidFill>
                <a:latin typeface="+mn-lt"/>
                <a:ea typeface="+mn-ea"/>
              </a:rPr>
              <a:t>Windows</a:t>
            </a:r>
            <a:r>
              <a:rPr lang="zh-CN" altLang="zh-CN" b="1" dirty="0">
                <a:solidFill>
                  <a:srgbClr val="C00000"/>
                </a:solidFill>
                <a:latin typeface="+mn-lt"/>
                <a:ea typeface="+mn-ea"/>
              </a:rPr>
              <a:t>验证模式的登录名</a:t>
            </a:r>
            <a:endParaRPr lang="zh-CN" altLang="zh-CN" b="1" dirty="0">
              <a:solidFill>
                <a:srgbClr val="C00000"/>
              </a:solidFill>
              <a:latin typeface="+mn-lt"/>
              <a:ea typeface="+mn-ea"/>
            </a:endParaRPr>
          </a:p>
          <a:p>
            <a:pPr indent="450850" fontAlgn="auto">
              <a:lnSpc>
                <a:spcPct val="150000"/>
              </a:lnSpc>
              <a:spcBef>
                <a:spcPts val="0"/>
              </a:spcBef>
              <a:spcAft>
                <a:spcPts val="0"/>
              </a:spcAft>
              <a:defRPr/>
            </a:pPr>
            <a:r>
              <a:rPr lang="zh-CN" altLang="zh-CN" dirty="0">
                <a:latin typeface="+mn-lt"/>
                <a:ea typeface="+mn-ea"/>
              </a:rPr>
              <a:t>（</a:t>
            </a:r>
            <a:r>
              <a:rPr lang="en-US" altLang="zh-CN" dirty="0">
                <a:latin typeface="+mn-lt"/>
                <a:ea typeface="+mn-ea"/>
              </a:rPr>
              <a:t>1</a:t>
            </a:r>
            <a:r>
              <a:rPr lang="zh-CN" altLang="zh-CN" dirty="0">
                <a:latin typeface="+mn-lt"/>
                <a:ea typeface="+mn-ea"/>
              </a:rPr>
              <a:t>）创建</a:t>
            </a:r>
            <a:r>
              <a:rPr lang="en-US" altLang="zh-CN" dirty="0">
                <a:latin typeface="+mn-lt"/>
                <a:ea typeface="+mn-ea"/>
              </a:rPr>
              <a:t>Windows</a:t>
            </a:r>
            <a:r>
              <a:rPr lang="zh-CN" altLang="zh-CN" dirty="0">
                <a:latin typeface="+mn-lt"/>
                <a:ea typeface="+mn-ea"/>
              </a:rPr>
              <a:t>的用户。以管理员身份登录到</a:t>
            </a:r>
            <a:r>
              <a:rPr lang="en-US" altLang="zh-CN" dirty="0">
                <a:latin typeface="+mn-lt"/>
                <a:ea typeface="+mn-ea"/>
              </a:rPr>
              <a:t>Windows</a:t>
            </a:r>
            <a:r>
              <a:rPr lang="zh-CN" altLang="zh-CN" dirty="0">
                <a:latin typeface="+mn-lt"/>
                <a:ea typeface="+mn-ea"/>
              </a:rPr>
              <a:t>，打开控制面板，完成新用户“</a:t>
            </a:r>
            <a:r>
              <a:rPr lang="en-US" altLang="zh-CN" dirty="0" err="1">
                <a:latin typeface="+mn-lt"/>
                <a:ea typeface="+mn-ea"/>
              </a:rPr>
              <a:t>liu</a:t>
            </a:r>
            <a:r>
              <a:rPr lang="zh-CN" altLang="zh-CN" dirty="0">
                <a:latin typeface="+mn-lt"/>
                <a:ea typeface="+mn-ea"/>
              </a:rPr>
              <a:t>”的创建。</a:t>
            </a:r>
            <a:endParaRPr lang="zh-CN" altLang="zh-CN" dirty="0">
              <a:latin typeface="+mn-lt"/>
              <a:ea typeface="+mn-ea"/>
            </a:endParaRPr>
          </a:p>
          <a:p>
            <a:pPr indent="450850" fontAlgn="auto">
              <a:lnSpc>
                <a:spcPct val="150000"/>
              </a:lnSpc>
              <a:spcBef>
                <a:spcPts val="0"/>
              </a:spcBef>
              <a:spcAft>
                <a:spcPts val="0"/>
              </a:spcAft>
              <a:defRPr/>
            </a:pPr>
            <a:r>
              <a:rPr lang="zh-CN" altLang="zh-CN" dirty="0">
                <a:latin typeface="+mn-lt"/>
                <a:ea typeface="+mn-ea"/>
              </a:rPr>
              <a:t>（</a:t>
            </a:r>
            <a:r>
              <a:rPr lang="en-US" altLang="zh-CN" dirty="0">
                <a:latin typeface="+mn-lt"/>
                <a:ea typeface="+mn-ea"/>
              </a:rPr>
              <a:t>2</a:t>
            </a:r>
            <a:r>
              <a:rPr lang="zh-CN" altLang="zh-CN" dirty="0">
                <a:latin typeface="+mn-lt"/>
                <a:ea typeface="+mn-ea"/>
              </a:rPr>
              <a:t>）将</a:t>
            </a:r>
            <a:r>
              <a:rPr lang="en-US" altLang="zh-CN" dirty="0">
                <a:latin typeface="+mn-lt"/>
                <a:ea typeface="+mn-ea"/>
              </a:rPr>
              <a:t>Windows</a:t>
            </a:r>
            <a:r>
              <a:rPr lang="zh-CN" altLang="zh-CN" dirty="0">
                <a:latin typeface="+mn-lt"/>
                <a:ea typeface="+mn-ea"/>
              </a:rPr>
              <a:t>账户加入</a:t>
            </a:r>
            <a:r>
              <a:rPr lang="en-US" altLang="zh-CN" dirty="0">
                <a:latin typeface="+mn-lt"/>
                <a:ea typeface="+mn-ea"/>
              </a:rPr>
              <a:t>SQL Server</a:t>
            </a:r>
            <a:r>
              <a:rPr lang="zh-CN" altLang="zh-CN" dirty="0">
                <a:latin typeface="+mn-lt"/>
                <a:ea typeface="+mn-ea"/>
              </a:rPr>
              <a:t>。以管理员身份登录到“</a:t>
            </a:r>
            <a:r>
              <a:rPr lang="en-US" altLang="zh-CN" dirty="0">
                <a:latin typeface="+mn-lt"/>
                <a:ea typeface="+mn-ea"/>
              </a:rPr>
              <a:t>SSMS</a:t>
            </a:r>
            <a:r>
              <a:rPr lang="zh-CN" altLang="zh-CN" dirty="0">
                <a:latin typeface="+mn-lt"/>
                <a:ea typeface="+mn-ea"/>
              </a:rPr>
              <a:t>”，在“对象资源管理器”中，在“安全性”下选择“登录名”项。右键单击鼠标，在弹出的快捷菜单中选择“新建登录名”，打开“登录名</a:t>
            </a:r>
            <a:r>
              <a:rPr lang="en-US" altLang="zh-CN" dirty="0">
                <a:latin typeface="+mn-lt"/>
                <a:ea typeface="+mn-ea"/>
              </a:rPr>
              <a:t>-</a:t>
            </a:r>
            <a:r>
              <a:rPr lang="zh-CN" altLang="zh-CN" dirty="0">
                <a:latin typeface="+mn-lt"/>
                <a:ea typeface="+mn-ea"/>
              </a:rPr>
              <a:t>新建”窗口。单击“常规”选项页的“搜索”按钮，在弹出的“选择用户或组”对话框中“输入要选择的对象名称”框中输入“</a:t>
            </a:r>
            <a:r>
              <a:rPr lang="en-US" altLang="zh-CN" dirty="0" err="1">
                <a:latin typeface="+mn-lt"/>
                <a:ea typeface="+mn-ea"/>
              </a:rPr>
              <a:t>liu</a:t>
            </a:r>
            <a:r>
              <a:rPr lang="zh-CN" altLang="zh-CN" dirty="0">
                <a:latin typeface="+mn-lt"/>
                <a:ea typeface="+mn-ea"/>
              </a:rPr>
              <a:t>”，然后单击“检查名称”按钮，系统会自动生成“</a:t>
            </a:r>
            <a:r>
              <a:rPr lang="en-US" altLang="zh-CN" dirty="0">
                <a:latin typeface="+mn-lt"/>
                <a:ea typeface="+mn-ea"/>
              </a:rPr>
              <a:t>WIN7-20141023IG\</a:t>
            </a:r>
            <a:r>
              <a:rPr lang="en-US" altLang="zh-CN" dirty="0" err="1">
                <a:latin typeface="+mn-lt"/>
                <a:ea typeface="+mn-ea"/>
              </a:rPr>
              <a:t>liu</a:t>
            </a:r>
            <a:r>
              <a:rPr lang="zh-CN" altLang="zh-CN" dirty="0">
                <a:latin typeface="+mn-lt"/>
                <a:ea typeface="+mn-ea"/>
              </a:rPr>
              <a:t>”，单击“确定”按钮，在“登录名”文本框中就会显示完整名称。选择默认数据库为“</a:t>
            </a:r>
            <a:r>
              <a:rPr lang="en-US" altLang="zh-CN" dirty="0" err="1">
                <a:latin typeface="+mn-lt"/>
                <a:ea typeface="+mn-ea"/>
              </a:rPr>
              <a:t>pxscj</a:t>
            </a:r>
            <a:r>
              <a:rPr lang="zh-CN" altLang="zh-CN" dirty="0">
                <a:latin typeface="+mn-lt"/>
                <a:ea typeface="+mn-ea"/>
              </a:rPr>
              <a:t>”，如图</a:t>
            </a:r>
            <a:r>
              <a:rPr lang="en-US" altLang="zh-CN" dirty="0">
                <a:latin typeface="+mn-lt"/>
                <a:ea typeface="+mn-ea"/>
              </a:rPr>
              <a:t>9.2</a:t>
            </a:r>
            <a:r>
              <a:rPr lang="zh-CN" altLang="zh-CN" dirty="0">
                <a:latin typeface="+mn-lt"/>
                <a:ea typeface="+mn-ea"/>
              </a:rPr>
              <a:t>所示。</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9.2.1  </a:t>
            </a:r>
            <a:r>
              <a:rPr lang="zh-CN" altLang="zh-CN" dirty="0">
                <a:effectLst/>
              </a:rPr>
              <a:t>界面方式管理用户账户</a:t>
            </a:r>
            <a:endParaRPr lang="zh-CN" altLang="zh-CN" dirty="0">
              <a:effectLst/>
            </a:endParaRPr>
          </a:p>
        </p:txBody>
      </p:sp>
      <p:pic>
        <p:nvPicPr>
          <p:cNvPr id="1229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4075" y="1430338"/>
            <a:ext cx="4733925" cy="422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矩形 2"/>
          <p:cNvSpPr>
            <a:spLocks noChangeArrowheads="1"/>
          </p:cNvSpPr>
          <p:nvPr/>
        </p:nvSpPr>
        <p:spPr bwMode="auto">
          <a:xfrm>
            <a:off x="3508375" y="5805488"/>
            <a:ext cx="1966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a:t>图</a:t>
            </a:r>
            <a:r>
              <a:rPr lang="en-US" altLang="zh-CN"/>
              <a:t>9.2  </a:t>
            </a:r>
            <a:r>
              <a:rPr lang="zh-CN" altLang="zh-CN"/>
              <a:t>新建登录名</a:t>
            </a:r>
            <a:endParaRPr lang="zh-CN" altLang="zh-CN"/>
          </a:p>
        </p:txBody>
      </p:sp>
    </p:spTree>
  </p:cSld>
  <p:clrMapOvr>
    <a:masterClrMapping/>
  </p:clrMapOvr>
  <p:transition spd="slow">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9.2.1  </a:t>
            </a:r>
            <a:r>
              <a:rPr lang="zh-CN" altLang="zh-CN" dirty="0">
                <a:effectLst/>
              </a:rPr>
              <a:t>界面方式管理用户账户</a:t>
            </a:r>
            <a:endParaRPr lang="zh-CN" altLang="en-US" dirty="0"/>
          </a:p>
        </p:txBody>
      </p:sp>
      <p:sp>
        <p:nvSpPr>
          <p:cNvPr id="3" name="TextBox 2"/>
          <p:cNvSpPr txBox="1"/>
          <p:nvPr/>
        </p:nvSpPr>
        <p:spPr>
          <a:xfrm>
            <a:off x="468313" y="1484313"/>
            <a:ext cx="8280400" cy="3789362"/>
          </a:xfrm>
          <a:prstGeom prst="rect">
            <a:avLst/>
          </a:prstGeom>
          <a:noFill/>
        </p:spPr>
        <p:txBody>
          <a:bodyPr>
            <a:spAutoFit/>
          </a:bodyPr>
          <a:lstStyle/>
          <a:p>
            <a:pPr indent="450850" fontAlgn="auto">
              <a:lnSpc>
                <a:spcPct val="150000"/>
              </a:lnSpc>
              <a:spcBef>
                <a:spcPts val="0"/>
              </a:spcBef>
              <a:spcAft>
                <a:spcPts val="0"/>
              </a:spcAft>
              <a:defRPr/>
            </a:pPr>
            <a:r>
              <a:rPr lang="en-US" altLang="zh-CN" b="1" dirty="0">
                <a:solidFill>
                  <a:srgbClr val="C00000"/>
                </a:solidFill>
                <a:latin typeface="+mn-lt"/>
                <a:ea typeface="+mn-ea"/>
              </a:rPr>
              <a:t>2</a:t>
            </a:r>
            <a:r>
              <a:rPr lang="zh-CN" altLang="zh-CN" b="1" dirty="0">
                <a:solidFill>
                  <a:srgbClr val="C00000"/>
                </a:solidFill>
                <a:latin typeface="+mn-lt"/>
                <a:ea typeface="+mn-ea"/>
              </a:rPr>
              <a:t>．建立</a:t>
            </a:r>
            <a:r>
              <a:rPr lang="en-US" altLang="zh-CN" b="1" dirty="0">
                <a:solidFill>
                  <a:srgbClr val="C00000"/>
                </a:solidFill>
                <a:latin typeface="+mn-lt"/>
                <a:ea typeface="+mn-ea"/>
              </a:rPr>
              <a:t>SQL Server</a:t>
            </a:r>
            <a:r>
              <a:rPr lang="zh-CN" altLang="zh-CN" b="1" dirty="0">
                <a:solidFill>
                  <a:srgbClr val="C00000"/>
                </a:solidFill>
                <a:latin typeface="+mn-lt"/>
                <a:ea typeface="+mn-ea"/>
              </a:rPr>
              <a:t>验证模式的登录名</a:t>
            </a:r>
            <a:endParaRPr lang="zh-CN" altLang="zh-CN" b="1" dirty="0">
              <a:solidFill>
                <a:srgbClr val="C00000"/>
              </a:solidFill>
              <a:latin typeface="+mn-lt"/>
              <a:ea typeface="+mn-ea"/>
            </a:endParaRPr>
          </a:p>
          <a:p>
            <a:pPr indent="450850" fontAlgn="auto">
              <a:lnSpc>
                <a:spcPct val="150000"/>
              </a:lnSpc>
              <a:spcBef>
                <a:spcPts val="0"/>
              </a:spcBef>
              <a:spcAft>
                <a:spcPts val="0"/>
              </a:spcAft>
              <a:defRPr/>
            </a:pPr>
            <a:r>
              <a:rPr lang="zh-CN" altLang="zh-CN" dirty="0">
                <a:latin typeface="+mn-lt"/>
                <a:ea typeface="+mn-ea"/>
              </a:rPr>
              <a:t>（</a:t>
            </a:r>
            <a:r>
              <a:rPr lang="en-US" altLang="zh-CN" dirty="0">
                <a:latin typeface="+mn-lt"/>
                <a:ea typeface="+mn-ea"/>
              </a:rPr>
              <a:t>1</a:t>
            </a:r>
            <a:r>
              <a:rPr lang="zh-CN" altLang="zh-CN" dirty="0">
                <a:latin typeface="+mn-lt"/>
                <a:ea typeface="+mn-ea"/>
              </a:rPr>
              <a:t>）将验证模式设为混合模式</a:t>
            </a:r>
            <a:endParaRPr lang="zh-CN" altLang="zh-CN" dirty="0">
              <a:latin typeface="+mn-lt"/>
              <a:ea typeface="+mn-ea"/>
            </a:endParaRPr>
          </a:p>
          <a:p>
            <a:pPr indent="450850" fontAlgn="auto">
              <a:lnSpc>
                <a:spcPct val="150000"/>
              </a:lnSpc>
              <a:spcBef>
                <a:spcPts val="0"/>
              </a:spcBef>
              <a:spcAft>
                <a:spcPts val="0"/>
              </a:spcAft>
              <a:defRPr/>
            </a:pPr>
            <a:r>
              <a:rPr lang="zh-CN" altLang="zh-CN" dirty="0">
                <a:latin typeface="+mn-lt"/>
                <a:ea typeface="+mn-ea"/>
              </a:rPr>
              <a:t>如果用户在安装</a:t>
            </a:r>
            <a:r>
              <a:rPr lang="en-US" altLang="zh-CN" dirty="0">
                <a:latin typeface="+mn-lt"/>
                <a:ea typeface="+mn-ea"/>
              </a:rPr>
              <a:t>SQL Server</a:t>
            </a:r>
            <a:r>
              <a:rPr lang="zh-CN" altLang="zh-CN" dirty="0">
                <a:latin typeface="+mn-lt"/>
                <a:ea typeface="+mn-ea"/>
              </a:rPr>
              <a:t>时验证模式没有设置为混合模式，则先要将验证模式设为混合模式。步骤如下：</a:t>
            </a:r>
            <a:endParaRPr lang="zh-CN" altLang="zh-CN" dirty="0">
              <a:latin typeface="+mn-lt"/>
              <a:ea typeface="+mn-ea"/>
            </a:endParaRPr>
          </a:p>
          <a:p>
            <a:pPr indent="450850" fontAlgn="auto">
              <a:lnSpc>
                <a:spcPct val="150000"/>
              </a:lnSpc>
              <a:spcBef>
                <a:spcPts val="0"/>
              </a:spcBef>
              <a:spcAft>
                <a:spcPts val="0"/>
              </a:spcAft>
              <a:defRPr/>
            </a:pPr>
            <a:r>
              <a:rPr lang="zh-CN" altLang="zh-CN" dirty="0">
                <a:latin typeface="+mn-lt"/>
                <a:ea typeface="+mn-ea"/>
              </a:rPr>
              <a:t>以系统管理员身份登录“</a:t>
            </a:r>
            <a:r>
              <a:rPr lang="en-US" altLang="zh-CN" dirty="0">
                <a:latin typeface="+mn-lt"/>
                <a:ea typeface="+mn-ea"/>
              </a:rPr>
              <a:t>SSMS</a:t>
            </a:r>
            <a:r>
              <a:rPr lang="zh-CN" altLang="zh-CN" dirty="0">
                <a:latin typeface="+mn-lt"/>
                <a:ea typeface="+mn-ea"/>
              </a:rPr>
              <a:t>”，在“对象资源管理器”中选择要登录的</a:t>
            </a:r>
            <a:r>
              <a:rPr lang="en-US" altLang="zh-CN" dirty="0">
                <a:latin typeface="+mn-lt"/>
                <a:ea typeface="+mn-ea"/>
              </a:rPr>
              <a:t>SQL Server</a:t>
            </a:r>
            <a:r>
              <a:rPr lang="zh-CN" altLang="zh-CN" dirty="0">
                <a:latin typeface="+mn-lt"/>
                <a:ea typeface="+mn-ea"/>
              </a:rPr>
              <a:t>服务器图标，右键单击鼠标，在弹出的快捷菜单中选择“属性”菜单项，打开“服务器属性”窗口。选择“安全性”选项页。选择服务器身份验证为“</a:t>
            </a:r>
            <a:r>
              <a:rPr lang="en-US" altLang="zh-CN" dirty="0">
                <a:latin typeface="+mn-lt"/>
                <a:ea typeface="+mn-ea"/>
              </a:rPr>
              <a:t>SQL Server</a:t>
            </a:r>
            <a:r>
              <a:rPr lang="zh-CN" altLang="zh-CN" dirty="0">
                <a:latin typeface="+mn-lt"/>
                <a:ea typeface="+mn-ea"/>
              </a:rPr>
              <a:t>和</a:t>
            </a:r>
            <a:r>
              <a:rPr lang="en-US" altLang="zh-CN" dirty="0">
                <a:latin typeface="+mn-lt"/>
                <a:ea typeface="+mn-ea"/>
              </a:rPr>
              <a:t>Windows</a:t>
            </a:r>
            <a:r>
              <a:rPr lang="zh-CN" altLang="zh-CN" dirty="0">
                <a:latin typeface="+mn-lt"/>
                <a:ea typeface="+mn-ea"/>
              </a:rPr>
              <a:t>身份验证模式”，如图</a:t>
            </a:r>
            <a:r>
              <a:rPr lang="en-US" altLang="zh-CN" dirty="0">
                <a:latin typeface="+mn-lt"/>
                <a:ea typeface="+mn-ea"/>
              </a:rPr>
              <a:t>9.3</a:t>
            </a:r>
            <a:r>
              <a:rPr lang="zh-CN" altLang="zh-CN" dirty="0">
                <a:latin typeface="+mn-lt"/>
                <a:ea typeface="+mn-ea"/>
              </a:rPr>
              <a:t>所示。</a:t>
            </a:r>
            <a:endParaRPr lang="zh-CN" altLang="zh-CN" dirty="0">
              <a:latin typeface="+mn-lt"/>
              <a:ea typeface="+mn-ea"/>
            </a:endParaRPr>
          </a:p>
          <a:p>
            <a:pPr fontAlgn="auto">
              <a:lnSpc>
                <a:spcPct val="150000"/>
              </a:lnSpc>
              <a:spcBef>
                <a:spcPts val="0"/>
              </a:spcBef>
              <a:spcAft>
                <a:spcPts val="0"/>
              </a:spcAft>
              <a:defRPr/>
            </a:pPr>
            <a:endParaRPr lang="zh-CN" altLang="en-US" dirty="0">
              <a:latin typeface="+mn-lt"/>
              <a:ea typeface="+mn-ea"/>
            </a:endParaRPr>
          </a:p>
        </p:txBody>
      </p:sp>
    </p:spTree>
  </p:cSld>
  <p:clrMapOvr>
    <a:masterClrMapping/>
  </p:clrMapOvr>
  <p:transition spd="slow">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9.2.1  </a:t>
            </a:r>
            <a:r>
              <a:rPr lang="zh-CN" altLang="zh-CN" dirty="0">
                <a:effectLst/>
              </a:rPr>
              <a:t>界面方式管理用户账户</a:t>
            </a:r>
            <a:endParaRPr lang="zh-CN" altLang="en-US" dirty="0"/>
          </a:p>
        </p:txBody>
      </p:sp>
      <p:pic>
        <p:nvPicPr>
          <p:cNvPr id="1433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39975" y="1773238"/>
            <a:ext cx="4679950" cy="42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矩形 2"/>
          <p:cNvSpPr>
            <a:spLocks noChangeArrowheads="1"/>
          </p:cNvSpPr>
          <p:nvPr/>
        </p:nvSpPr>
        <p:spPr bwMode="auto">
          <a:xfrm>
            <a:off x="3587750" y="6092825"/>
            <a:ext cx="1968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a:t>图</a:t>
            </a:r>
            <a:r>
              <a:rPr lang="en-US" altLang="zh-CN"/>
              <a:t>9.3  </a:t>
            </a:r>
            <a:r>
              <a:rPr lang="zh-CN" altLang="zh-CN"/>
              <a:t>服务器属性</a:t>
            </a:r>
            <a:endParaRPr lang="zh-CN" altLang="zh-CN"/>
          </a:p>
        </p:txBody>
      </p:sp>
    </p:spTree>
  </p:cSld>
  <p:clrMapOvr>
    <a:masterClrMapping/>
  </p:clrMapOvr>
  <p:transition spd="slow">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9.2.1  </a:t>
            </a:r>
            <a:r>
              <a:rPr lang="zh-CN" altLang="zh-CN" dirty="0">
                <a:effectLst/>
              </a:rPr>
              <a:t>界面方式管理用户账户</a:t>
            </a:r>
            <a:endParaRPr lang="zh-CN" altLang="en-US" dirty="0"/>
          </a:p>
        </p:txBody>
      </p:sp>
      <p:sp>
        <p:nvSpPr>
          <p:cNvPr id="15363" name="TextBox 2"/>
          <p:cNvSpPr txBox="1">
            <a:spLocks noChangeArrowheads="1"/>
          </p:cNvSpPr>
          <p:nvPr/>
        </p:nvSpPr>
        <p:spPr bwMode="auto">
          <a:xfrm>
            <a:off x="395288" y="1341438"/>
            <a:ext cx="82804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a:t>
            </a:r>
            <a:r>
              <a:rPr lang="en-US" altLang="zh-CN"/>
              <a:t>2</a:t>
            </a:r>
            <a:r>
              <a:rPr lang="zh-CN" altLang="zh-CN"/>
              <a:t>）创建</a:t>
            </a:r>
            <a:r>
              <a:rPr lang="en-US" altLang="zh-CN"/>
              <a:t>SQL Server</a:t>
            </a:r>
            <a:r>
              <a:rPr lang="zh-CN" altLang="zh-CN"/>
              <a:t>验证模式的登录名</a:t>
            </a:r>
            <a:endParaRPr lang="zh-CN" altLang="zh-CN"/>
          </a:p>
          <a:p>
            <a:pPr eaLnBrk="1" hangingPunct="1"/>
            <a:r>
              <a:rPr lang="zh-CN" altLang="zh-CN"/>
              <a:t>在“对象资源管理器”中“安全性”下的“登录名”上单击鼠标右键，选择“新建登录名”，系统显示“登录名</a:t>
            </a:r>
            <a:r>
              <a:rPr lang="en-US" altLang="zh-CN"/>
              <a:t>-</a:t>
            </a:r>
            <a:r>
              <a:rPr lang="zh-CN" altLang="zh-CN"/>
              <a:t>新建”对话框。选择“</a:t>
            </a:r>
            <a:r>
              <a:rPr lang="en-US" altLang="zh-CN"/>
              <a:t>SQL Server </a:t>
            </a:r>
            <a:r>
              <a:rPr lang="zh-CN" altLang="zh-CN"/>
              <a:t>身份验证”，“登录名”输入“</a:t>
            </a:r>
            <a:r>
              <a:rPr lang="en-US" altLang="zh-CN"/>
              <a:t>SQL_liu</a:t>
            </a:r>
            <a:r>
              <a:rPr lang="zh-CN" altLang="zh-CN"/>
              <a:t>”，输入密码和确认密码“</a:t>
            </a:r>
            <a:r>
              <a:rPr lang="en-US" altLang="zh-CN"/>
              <a:t>123</a:t>
            </a:r>
            <a:r>
              <a:rPr lang="zh-CN" altLang="zh-CN"/>
              <a:t>”， 并将“强制密码过期”复选框中的勾去掉，默认数据库为“</a:t>
            </a:r>
            <a:r>
              <a:rPr lang="en-US" altLang="zh-CN"/>
              <a:t>pxscj</a:t>
            </a:r>
            <a:r>
              <a:rPr lang="zh-CN" altLang="zh-CN"/>
              <a:t>”，如图</a:t>
            </a:r>
            <a:r>
              <a:rPr lang="en-US" altLang="zh-CN"/>
              <a:t>9.4</a:t>
            </a:r>
            <a:r>
              <a:rPr lang="zh-CN" altLang="zh-CN"/>
              <a:t>所示。</a:t>
            </a:r>
            <a:endParaRPr lang="zh-CN" altLang="en-US"/>
          </a:p>
        </p:txBody>
      </p:sp>
      <p:pic>
        <p:nvPicPr>
          <p:cNvPr id="1536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84438" y="2817813"/>
            <a:ext cx="4103687" cy="366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9.2.1  </a:t>
            </a:r>
            <a:r>
              <a:rPr lang="zh-CN" altLang="zh-CN" dirty="0">
                <a:effectLst/>
              </a:rPr>
              <a:t>界面方式管理用户账户</a:t>
            </a:r>
            <a:endParaRPr lang="zh-CN" altLang="en-US" dirty="0"/>
          </a:p>
        </p:txBody>
      </p:sp>
      <p:sp>
        <p:nvSpPr>
          <p:cNvPr id="16387" name="TextBox 2"/>
          <p:cNvSpPr txBox="1">
            <a:spLocks noChangeArrowheads="1"/>
          </p:cNvSpPr>
          <p:nvPr/>
        </p:nvSpPr>
        <p:spPr bwMode="auto">
          <a:xfrm>
            <a:off x="468313" y="1196975"/>
            <a:ext cx="820737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3</a:t>
            </a:r>
            <a:r>
              <a:rPr lang="zh-CN" altLang="zh-CN" b="1">
                <a:solidFill>
                  <a:srgbClr val="C00000"/>
                </a:solidFill>
              </a:rPr>
              <a:t>．管理数据库用户</a:t>
            </a:r>
            <a:endParaRPr lang="zh-CN" altLang="zh-CN" b="1">
              <a:solidFill>
                <a:srgbClr val="C00000"/>
              </a:solidFill>
            </a:endParaRPr>
          </a:p>
          <a:p>
            <a:pPr eaLnBrk="1" hangingPunct="1"/>
            <a:r>
              <a:rPr lang="zh-CN" altLang="zh-CN"/>
              <a:t>（</a:t>
            </a:r>
            <a:r>
              <a:rPr lang="en-US" altLang="zh-CN"/>
              <a:t>1</a:t>
            </a:r>
            <a:r>
              <a:rPr lang="zh-CN" altLang="zh-CN"/>
              <a:t>）登录名新建数据库用户</a:t>
            </a:r>
            <a:endParaRPr lang="zh-CN" altLang="zh-CN"/>
          </a:p>
          <a:p>
            <a:pPr eaLnBrk="1" hangingPunct="1"/>
            <a:r>
              <a:rPr lang="zh-CN" altLang="zh-CN"/>
              <a:t>以系统管理员身份连接</a:t>
            </a:r>
            <a:r>
              <a:rPr lang="en-US" altLang="zh-CN"/>
              <a:t>SQL Server</a:t>
            </a:r>
            <a:r>
              <a:rPr lang="zh-CN" altLang="zh-CN"/>
              <a:t>，展开“数据库”→“</a:t>
            </a:r>
            <a:r>
              <a:rPr lang="en-US" altLang="zh-CN"/>
              <a:t>pxscj</a:t>
            </a:r>
            <a:r>
              <a:rPr lang="zh-CN" altLang="zh-CN"/>
              <a:t>”→“安全性”，选择“用户”，右键单击鼠标，选择“新建用户”菜单项，进入“数据库用户</a:t>
            </a:r>
            <a:r>
              <a:rPr lang="en-US" altLang="zh-CN"/>
              <a:t>-</a:t>
            </a:r>
            <a:r>
              <a:rPr lang="zh-CN" altLang="zh-CN"/>
              <a:t>新建”窗口。在“登录名”框中填写一个能够登录</a:t>
            </a:r>
            <a:r>
              <a:rPr lang="en-US" altLang="zh-CN"/>
              <a:t>SQL Server</a:t>
            </a:r>
            <a:r>
              <a:rPr lang="zh-CN" altLang="zh-CN"/>
              <a:t>的登录名，如“</a:t>
            </a:r>
            <a:r>
              <a:rPr lang="en-US" altLang="zh-CN"/>
              <a:t>SQL_liu</a:t>
            </a:r>
            <a:r>
              <a:rPr lang="zh-CN" altLang="zh-CN"/>
              <a:t>”，“用户名”框中填写一个数据库用户名“</a:t>
            </a:r>
            <a:r>
              <a:rPr lang="en-US" altLang="zh-CN"/>
              <a:t>User_SQL_liu</a:t>
            </a:r>
            <a:r>
              <a:rPr lang="zh-CN" altLang="zh-CN"/>
              <a:t>”。 一个登录名在本数据库中只能创建一个数据库用户。这里可选择默认架构为</a:t>
            </a:r>
            <a:r>
              <a:rPr lang="en-US" altLang="zh-CN"/>
              <a:t>dbo</a:t>
            </a:r>
            <a:r>
              <a:rPr lang="zh-CN" altLang="zh-CN"/>
              <a:t>，如图</a:t>
            </a:r>
            <a:r>
              <a:rPr lang="en-US" altLang="zh-CN"/>
              <a:t>9.5</a:t>
            </a:r>
            <a:r>
              <a:rPr lang="zh-CN" altLang="zh-CN"/>
              <a:t>所示。</a:t>
            </a:r>
            <a:endParaRPr lang="zh-CN" altLang="en-US"/>
          </a:p>
        </p:txBody>
      </p:sp>
      <p:pic>
        <p:nvPicPr>
          <p:cNvPr id="1638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71775" y="3244850"/>
            <a:ext cx="3816350"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9.2.1  </a:t>
            </a:r>
            <a:r>
              <a:rPr lang="zh-CN" altLang="zh-CN" dirty="0">
                <a:effectLst/>
              </a:rPr>
              <a:t>界面方式管理用户账户</a:t>
            </a:r>
            <a:endParaRPr lang="zh-CN" altLang="en-US" dirty="0"/>
          </a:p>
        </p:txBody>
      </p:sp>
      <p:sp>
        <p:nvSpPr>
          <p:cNvPr id="3" name="TextBox 2"/>
          <p:cNvSpPr txBox="1"/>
          <p:nvPr/>
        </p:nvSpPr>
        <p:spPr>
          <a:xfrm>
            <a:off x="468313" y="1484313"/>
            <a:ext cx="8135937" cy="923925"/>
          </a:xfrm>
          <a:prstGeom prst="rect">
            <a:avLst/>
          </a:prstGeom>
          <a:noFill/>
        </p:spPr>
        <p:txBody>
          <a:bodyPr>
            <a:spAutoFit/>
          </a:bodyPr>
          <a:lstStyle/>
          <a:p>
            <a:pPr indent="450850" fontAlgn="auto">
              <a:spcBef>
                <a:spcPts val="0"/>
              </a:spcBef>
              <a:spcAft>
                <a:spcPts val="0"/>
              </a:spcAft>
              <a:defRPr/>
            </a:pPr>
            <a:r>
              <a:rPr lang="zh-CN" altLang="zh-CN" dirty="0">
                <a:latin typeface="+mn-lt"/>
                <a:ea typeface="+mn-ea"/>
              </a:rPr>
              <a:t>也可采用上述方法在</a:t>
            </a:r>
            <a:r>
              <a:rPr lang="en-US" altLang="zh-CN" dirty="0" err="1">
                <a:latin typeface="+mn-lt"/>
                <a:ea typeface="+mn-ea"/>
              </a:rPr>
              <a:t>pxscj</a:t>
            </a:r>
            <a:r>
              <a:rPr lang="zh-CN" altLang="zh-CN" dirty="0">
                <a:latin typeface="+mn-lt"/>
                <a:ea typeface="+mn-ea"/>
              </a:rPr>
              <a:t>数据库下新建</a:t>
            </a:r>
            <a:r>
              <a:rPr lang="en-US" altLang="zh-CN" dirty="0">
                <a:latin typeface="+mn-lt"/>
                <a:ea typeface="+mn-ea"/>
              </a:rPr>
              <a:t>Windows</a:t>
            </a:r>
            <a:r>
              <a:rPr lang="zh-CN" altLang="zh-CN" dirty="0">
                <a:latin typeface="+mn-lt"/>
                <a:ea typeface="+mn-ea"/>
              </a:rPr>
              <a:t>登录名“</a:t>
            </a:r>
            <a:r>
              <a:rPr lang="en-US" altLang="zh-CN" dirty="0" err="1">
                <a:latin typeface="+mn-lt"/>
                <a:ea typeface="+mn-ea"/>
              </a:rPr>
              <a:t>liu</a:t>
            </a:r>
            <a:r>
              <a:rPr lang="zh-CN" altLang="zh-CN" dirty="0">
                <a:latin typeface="+mn-lt"/>
                <a:ea typeface="+mn-ea"/>
              </a:rPr>
              <a:t>”对应的用户“</a:t>
            </a:r>
            <a:r>
              <a:rPr lang="en-US" altLang="zh-CN" dirty="0" err="1">
                <a:latin typeface="+mn-lt"/>
                <a:ea typeface="+mn-ea"/>
              </a:rPr>
              <a:t>User_liu</a:t>
            </a:r>
            <a:r>
              <a:rPr lang="zh-CN" altLang="zh-CN" dirty="0">
                <a:latin typeface="+mn-lt"/>
                <a:ea typeface="+mn-ea"/>
              </a:rPr>
              <a:t>”，如图</a:t>
            </a:r>
            <a:r>
              <a:rPr lang="en-US" altLang="zh-CN" dirty="0">
                <a:latin typeface="+mn-lt"/>
                <a:ea typeface="+mn-ea"/>
              </a:rPr>
              <a:t>9.6</a:t>
            </a:r>
            <a:r>
              <a:rPr lang="zh-CN" altLang="zh-CN" dirty="0">
                <a:latin typeface="+mn-lt"/>
                <a:ea typeface="+mn-ea"/>
              </a:rPr>
              <a:t>所示。</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pic>
        <p:nvPicPr>
          <p:cNvPr id="1741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46300" y="2133600"/>
            <a:ext cx="4464050" cy="399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9.2.1  </a:t>
            </a:r>
            <a:r>
              <a:rPr lang="zh-CN" altLang="zh-CN" dirty="0">
                <a:effectLst/>
              </a:rPr>
              <a:t>界面方式管理用户账户</a:t>
            </a:r>
            <a:endParaRPr lang="zh-CN" altLang="en-US" dirty="0"/>
          </a:p>
        </p:txBody>
      </p:sp>
      <p:sp>
        <p:nvSpPr>
          <p:cNvPr id="18435" name="TextBox 2"/>
          <p:cNvSpPr txBox="1">
            <a:spLocks noChangeArrowheads="1"/>
          </p:cNvSpPr>
          <p:nvPr/>
        </p:nvSpPr>
        <p:spPr bwMode="auto">
          <a:xfrm>
            <a:off x="395288" y="1484313"/>
            <a:ext cx="8353425" cy="378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a:t>（</a:t>
            </a:r>
            <a:r>
              <a:rPr lang="en-US" altLang="zh-CN"/>
              <a:t>2</a:t>
            </a:r>
            <a:r>
              <a:rPr lang="zh-CN" altLang="zh-CN"/>
              <a:t>）数据库用户显示</a:t>
            </a:r>
            <a:endParaRPr lang="zh-CN" altLang="zh-CN"/>
          </a:p>
          <a:p>
            <a:pPr eaLnBrk="1" hangingPunct="1">
              <a:lnSpc>
                <a:spcPct val="150000"/>
              </a:lnSpc>
            </a:pPr>
            <a:r>
              <a:rPr lang="zh-CN" altLang="zh-CN"/>
              <a:t>数据库用户创建成功后，会在“</a:t>
            </a:r>
            <a:r>
              <a:rPr lang="en-US" altLang="zh-CN"/>
              <a:t>pxscj</a:t>
            </a:r>
            <a:r>
              <a:rPr lang="zh-CN" altLang="zh-CN"/>
              <a:t>”→“安全性”，选择“用户”栏查看到该用户。在“用户”列表中，还可以修改现有数据库用户的属性，或者删除该用户。</a:t>
            </a:r>
            <a:endParaRPr lang="zh-CN" altLang="zh-CN"/>
          </a:p>
          <a:p>
            <a:pPr eaLnBrk="1" hangingPunct="1">
              <a:lnSpc>
                <a:spcPct val="150000"/>
              </a:lnSpc>
            </a:pPr>
            <a:r>
              <a:rPr lang="zh-CN" altLang="zh-CN"/>
              <a:t>（</a:t>
            </a:r>
            <a:r>
              <a:rPr lang="en-US" altLang="zh-CN"/>
              <a:t>3</a:t>
            </a:r>
            <a:r>
              <a:rPr lang="zh-CN" altLang="zh-CN"/>
              <a:t>）登录名对应数据库用户连接</a:t>
            </a:r>
            <a:r>
              <a:rPr lang="en-US" altLang="zh-CN"/>
              <a:t>SQL Server</a:t>
            </a:r>
            <a:endParaRPr lang="zh-CN" altLang="zh-CN"/>
          </a:p>
          <a:p>
            <a:pPr eaLnBrk="1" hangingPunct="1">
              <a:lnSpc>
                <a:spcPct val="150000"/>
              </a:lnSpc>
            </a:pPr>
            <a:r>
              <a:rPr lang="zh-CN" altLang="zh-CN"/>
              <a:t>重启</a:t>
            </a:r>
            <a:r>
              <a:rPr lang="en-US" altLang="zh-CN"/>
              <a:t>SQL Server</a:t>
            </a:r>
            <a:r>
              <a:rPr lang="zh-CN" altLang="zh-CN"/>
              <a:t>，在图</a:t>
            </a:r>
            <a:r>
              <a:rPr lang="en-US" altLang="zh-CN"/>
              <a:t>2.1</a:t>
            </a:r>
            <a:r>
              <a:rPr lang="zh-CN" altLang="zh-CN"/>
              <a:t>对话框中，“身份验证”选择“</a:t>
            </a:r>
            <a:r>
              <a:rPr lang="en-US" altLang="zh-CN"/>
              <a:t>SQL Server</a:t>
            </a:r>
            <a:r>
              <a:rPr lang="zh-CN" altLang="zh-CN"/>
              <a:t>身份验证”，“登录名”填写“</a:t>
            </a:r>
            <a:r>
              <a:rPr lang="en-US" altLang="zh-CN"/>
              <a:t>SQL_liu</a:t>
            </a:r>
            <a:r>
              <a:rPr lang="zh-CN" altLang="zh-CN"/>
              <a:t>”，输入密码“</a:t>
            </a:r>
            <a:r>
              <a:rPr lang="en-US" altLang="zh-CN"/>
              <a:t>123</a:t>
            </a:r>
            <a:r>
              <a:rPr lang="zh-CN" altLang="zh-CN"/>
              <a:t>”，单击“连接”按钮，即可连接</a:t>
            </a:r>
            <a:r>
              <a:rPr lang="en-US" altLang="zh-CN"/>
              <a:t>SQL Server</a:t>
            </a:r>
            <a:r>
              <a:rPr lang="zh-CN" altLang="zh-CN"/>
              <a:t>。此时的“对象资源管理器”如图</a:t>
            </a:r>
            <a:r>
              <a:rPr lang="en-US" altLang="zh-CN"/>
              <a:t>9.7</a:t>
            </a:r>
            <a:r>
              <a:rPr lang="zh-CN" altLang="zh-CN"/>
              <a:t>所示。</a:t>
            </a:r>
            <a:endParaRPr lang="zh-CN" altLang="zh-CN"/>
          </a:p>
          <a:p>
            <a:pPr eaLnBrk="1" hangingPunct="1">
              <a:lnSpc>
                <a:spcPct val="150000"/>
              </a:lnSpc>
            </a:pPr>
            <a:endParaRPr lang="zh-CN" altLang="en-US"/>
          </a:p>
        </p:txBody>
      </p:sp>
    </p:spTree>
  </p:cSld>
  <p:clrMapOvr>
    <a:masterClrMapping/>
  </p:clrMapOvr>
  <p:transition spd="slow">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9.2.1  </a:t>
            </a:r>
            <a:r>
              <a:rPr lang="zh-CN" altLang="zh-CN" dirty="0">
                <a:effectLst/>
              </a:rPr>
              <a:t>界面方式管理用户账户</a:t>
            </a:r>
            <a:endParaRPr lang="zh-CN" altLang="en-US" dirty="0"/>
          </a:p>
        </p:txBody>
      </p:sp>
      <p:pic>
        <p:nvPicPr>
          <p:cNvPr id="1945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1050" y="1412875"/>
            <a:ext cx="4733925" cy="410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矩形 3"/>
          <p:cNvSpPr>
            <a:spLocks noChangeArrowheads="1"/>
          </p:cNvSpPr>
          <p:nvPr/>
        </p:nvSpPr>
        <p:spPr bwMode="auto">
          <a:xfrm>
            <a:off x="3506788" y="5661025"/>
            <a:ext cx="2092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a:t>图</a:t>
            </a:r>
            <a:r>
              <a:rPr lang="en-US" altLang="zh-CN"/>
              <a:t>9.7  SSMS:SQL_liu</a:t>
            </a:r>
            <a:endParaRPr lang="zh-CN" altLang="zh-CN"/>
          </a:p>
        </p:txBody>
      </p:sp>
    </p:spTree>
  </p:cSld>
  <p:clrMapOvr>
    <a:masterClrMapping/>
  </p:clrMapOvr>
  <p:transition spd="slow">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276475"/>
            <a:ext cx="7848600" cy="29527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9.2.2  </a:t>
            </a:r>
            <a:r>
              <a:rPr lang="zh-CN" altLang="zh-CN" dirty="0">
                <a:effectLst/>
              </a:rPr>
              <a:t>命令方式管理用户账户：</a:t>
            </a:r>
            <a:r>
              <a:rPr lang="en-US" altLang="zh-CN" dirty="0">
                <a:effectLst/>
              </a:rPr>
              <a:t>CREATE LOGIN/USER</a:t>
            </a:r>
            <a:endParaRPr lang="zh-CN" altLang="zh-CN" dirty="0">
              <a:effectLst/>
            </a:endParaRPr>
          </a:p>
        </p:txBody>
      </p:sp>
      <p:sp>
        <p:nvSpPr>
          <p:cNvPr id="20484" name="TextBox 2"/>
          <p:cNvSpPr txBox="1">
            <a:spLocks noChangeArrowheads="1"/>
          </p:cNvSpPr>
          <p:nvPr/>
        </p:nvSpPr>
        <p:spPr bwMode="auto">
          <a:xfrm>
            <a:off x="468313" y="1412875"/>
            <a:ext cx="8207375"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1</a:t>
            </a:r>
            <a:r>
              <a:rPr lang="zh-CN" altLang="zh-CN" b="1">
                <a:solidFill>
                  <a:srgbClr val="C00000"/>
                </a:solidFill>
              </a:rPr>
              <a:t>．登录名创建</a:t>
            </a:r>
            <a:endParaRPr lang="zh-CN" altLang="zh-CN" b="1">
              <a:solidFill>
                <a:srgbClr val="C00000"/>
              </a:solidFill>
            </a:endParaRPr>
          </a:p>
          <a:p>
            <a:pPr eaLnBrk="1" hangingPunct="1"/>
            <a:r>
              <a:rPr lang="zh-CN" altLang="zh-CN"/>
              <a:t>（</a:t>
            </a:r>
            <a:r>
              <a:rPr lang="en-US" altLang="zh-CN"/>
              <a:t>1</a:t>
            </a:r>
            <a:r>
              <a:rPr lang="zh-CN" altLang="zh-CN"/>
              <a:t>）创建登录名</a:t>
            </a:r>
            <a:endParaRPr lang="zh-CN" altLang="zh-CN"/>
          </a:p>
          <a:p>
            <a:pPr eaLnBrk="1" hangingPunct="1"/>
            <a:r>
              <a:rPr lang="zh-CN" altLang="zh-CN"/>
              <a:t>在</a:t>
            </a:r>
            <a:r>
              <a:rPr lang="en-US" altLang="zh-CN"/>
              <a:t>SQL Server 2012</a:t>
            </a:r>
            <a:r>
              <a:rPr lang="zh-CN" altLang="zh-CN"/>
              <a:t>中，创建登录名可以使用</a:t>
            </a:r>
            <a:r>
              <a:rPr lang="en-US" altLang="zh-CN"/>
              <a:t>CREATE LOGIN</a:t>
            </a:r>
            <a:r>
              <a:rPr lang="zh-CN" altLang="zh-CN"/>
              <a:t>命令。语法格式为：</a:t>
            </a:r>
            <a:endParaRPr lang="zh-CN" altLang="zh-CN"/>
          </a:p>
          <a:p>
            <a:pPr eaLnBrk="1" hangingPunct="1"/>
            <a:r>
              <a:rPr lang="en-US" altLang="zh-CN" sz="1600"/>
              <a:t>CREATE LOGIN </a:t>
            </a:r>
            <a:r>
              <a:rPr lang="zh-CN" altLang="zh-CN" sz="1600"/>
              <a:t>登录名</a:t>
            </a:r>
            <a:endParaRPr lang="zh-CN" altLang="zh-CN" sz="1600"/>
          </a:p>
          <a:p>
            <a:pPr eaLnBrk="1" hangingPunct="1"/>
            <a:r>
              <a:rPr lang="en-US" altLang="zh-CN" sz="1600"/>
              <a:t>{</a:t>
            </a:r>
            <a:endParaRPr lang="zh-CN" altLang="zh-CN" sz="1600"/>
          </a:p>
          <a:p>
            <a:pPr eaLnBrk="1" hangingPunct="1"/>
            <a:r>
              <a:rPr lang="en-US" altLang="zh-CN" sz="1600"/>
              <a:t>    WITH PASSWORD = '</a:t>
            </a:r>
            <a:r>
              <a:rPr lang="zh-CN" altLang="zh-CN" sz="1600"/>
              <a:t>密码</a:t>
            </a:r>
            <a:r>
              <a:rPr lang="en-US" altLang="zh-CN" sz="1600"/>
              <a:t>' [ HASHED ] [ MUST_CHANGE ]</a:t>
            </a:r>
            <a:endParaRPr lang="zh-CN" altLang="zh-CN" sz="1600"/>
          </a:p>
          <a:p>
            <a:pPr eaLnBrk="1" hangingPunct="1"/>
            <a:r>
              <a:rPr lang="en-US" altLang="zh-CN" sz="1600"/>
              <a:t>        [ , &lt;</a:t>
            </a:r>
            <a:r>
              <a:rPr lang="zh-CN" altLang="zh-CN" sz="1600"/>
              <a:t>选项列表</a:t>
            </a:r>
            <a:r>
              <a:rPr lang="en-US" altLang="zh-CN" sz="1600"/>
              <a:t>&gt; [ , ... ] ]		/*WITH</a:t>
            </a:r>
            <a:r>
              <a:rPr lang="zh-CN" altLang="zh-CN" sz="1600"/>
              <a:t>子句用于创建</a:t>
            </a:r>
            <a:r>
              <a:rPr lang="en-US" altLang="zh-CN" sz="1600"/>
              <a:t>SQL Server</a:t>
            </a:r>
            <a:r>
              <a:rPr lang="zh-CN" altLang="zh-CN" sz="1600"/>
              <a:t>登录名</a:t>
            </a:r>
            <a:r>
              <a:rPr lang="en-US" altLang="zh-CN" sz="1600"/>
              <a:t>*/</a:t>
            </a:r>
            <a:endParaRPr lang="zh-CN" altLang="zh-CN" sz="1600"/>
          </a:p>
          <a:p>
            <a:pPr eaLnBrk="1" hangingPunct="1"/>
            <a:r>
              <a:rPr lang="en-US" altLang="zh-CN" sz="1600"/>
              <a:t>    | FROM								/*FROM</a:t>
            </a:r>
            <a:r>
              <a:rPr lang="zh-CN" altLang="zh-CN" sz="1600"/>
              <a:t>子句用于创建其他登录名</a:t>
            </a:r>
            <a:r>
              <a:rPr lang="en-US" altLang="zh-CN" sz="1600"/>
              <a:t>*/</a:t>
            </a:r>
            <a:endParaRPr lang="zh-CN" altLang="zh-CN" sz="1600"/>
          </a:p>
          <a:p>
            <a:pPr eaLnBrk="1" hangingPunct="1"/>
            <a:r>
              <a:rPr lang="en-US" altLang="zh-CN" sz="1600"/>
              <a:t>    {</a:t>
            </a:r>
            <a:endParaRPr lang="zh-CN" altLang="zh-CN" sz="1600"/>
          </a:p>
          <a:p>
            <a:pPr eaLnBrk="1" hangingPunct="1"/>
            <a:r>
              <a:rPr lang="en-US" altLang="zh-CN" sz="1600"/>
              <a:t>        WINDOWS [ WITH &lt;Windows</a:t>
            </a:r>
            <a:r>
              <a:rPr lang="zh-CN" altLang="zh-CN" sz="1600"/>
              <a:t>选项</a:t>
            </a:r>
            <a:r>
              <a:rPr lang="en-US" altLang="zh-CN" sz="1600"/>
              <a:t>&gt; [ , ... ] ]</a:t>
            </a:r>
            <a:endParaRPr lang="zh-CN" altLang="zh-CN" sz="1600"/>
          </a:p>
          <a:p>
            <a:pPr eaLnBrk="1" hangingPunct="1"/>
            <a:r>
              <a:rPr lang="en-US" altLang="zh-CN" sz="1600"/>
              <a:t>        | CERTIFICATE</a:t>
            </a:r>
            <a:r>
              <a:rPr lang="zh-CN" altLang="zh-CN" sz="1600"/>
              <a:t>证书名</a:t>
            </a:r>
            <a:endParaRPr lang="zh-CN" altLang="zh-CN" sz="1600"/>
          </a:p>
          <a:p>
            <a:pPr eaLnBrk="1" hangingPunct="1"/>
            <a:r>
              <a:rPr lang="en-US" altLang="zh-CN" sz="1600"/>
              <a:t>        | ASYMMETRIC KEY </a:t>
            </a:r>
            <a:r>
              <a:rPr lang="zh-CN" altLang="zh-CN" sz="1600"/>
              <a:t>非对称密钥名</a:t>
            </a:r>
            <a:endParaRPr lang="zh-CN" altLang="zh-CN" sz="1600"/>
          </a:p>
          <a:p>
            <a:pPr eaLnBrk="1" hangingPunct="1"/>
            <a:r>
              <a:rPr lang="en-US" altLang="zh-CN" sz="1600"/>
              <a:t>    }</a:t>
            </a:r>
            <a:endParaRPr lang="zh-CN" altLang="zh-CN" sz="1600"/>
          </a:p>
          <a:p>
            <a:pPr eaLnBrk="1" hangingPunct="1"/>
            <a:r>
              <a:rPr lang="en-US" altLang="zh-CN" sz="1600"/>
              <a:t>}</a:t>
            </a:r>
            <a:endParaRPr lang="zh-CN" altLang="zh-CN" sz="1600"/>
          </a:p>
          <a:p>
            <a:pPr eaLnBrk="1" hangingPunct="1"/>
            <a:endParaRPr lang="zh-CN" altLang="en-US" sz="1600"/>
          </a:p>
        </p:txBody>
      </p:sp>
    </p:spTree>
  </p:cSld>
  <p:clrMapOvr>
    <a:masterClrMapping/>
  </p:clrMapOvr>
  <p:transition spd="slow">
    <p:blinds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1844675"/>
            <a:ext cx="7848600" cy="26638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9.2.2  </a:t>
            </a:r>
            <a:r>
              <a:rPr lang="zh-CN" altLang="zh-CN" dirty="0">
                <a:effectLst/>
              </a:rPr>
              <a:t>命令方式管理用户账户：</a:t>
            </a:r>
            <a:r>
              <a:rPr lang="en-US" altLang="zh-CN" dirty="0">
                <a:effectLst/>
              </a:rPr>
              <a:t>CREATE LOGIN/USER</a:t>
            </a:r>
            <a:endParaRPr lang="zh-CN" altLang="en-US" dirty="0"/>
          </a:p>
        </p:txBody>
      </p:sp>
      <p:sp>
        <p:nvSpPr>
          <p:cNvPr id="21508" name="TextBox 2"/>
          <p:cNvSpPr txBox="1">
            <a:spLocks noChangeArrowheads="1"/>
          </p:cNvSpPr>
          <p:nvPr/>
        </p:nvSpPr>
        <p:spPr bwMode="auto">
          <a:xfrm>
            <a:off x="395288" y="1484313"/>
            <a:ext cx="82804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其中：</a:t>
            </a:r>
            <a:endParaRPr lang="zh-CN" altLang="zh-CN"/>
          </a:p>
          <a:p>
            <a:pPr eaLnBrk="1" hangingPunct="1"/>
            <a:r>
              <a:rPr lang="en-US" altLang="zh-CN"/>
              <a:t>&lt;</a:t>
            </a:r>
            <a:r>
              <a:rPr lang="zh-CN" altLang="zh-CN"/>
              <a:t>选项列表</a:t>
            </a:r>
            <a:r>
              <a:rPr lang="en-US" altLang="zh-CN"/>
              <a:t>&gt; ::=</a:t>
            </a:r>
            <a:endParaRPr lang="zh-CN" altLang="zh-CN"/>
          </a:p>
          <a:p>
            <a:pPr eaLnBrk="1" hangingPunct="1"/>
            <a:r>
              <a:rPr lang="en-US" altLang="zh-CN"/>
              <a:t>    SID = </a:t>
            </a:r>
            <a:r>
              <a:rPr lang="zh-CN" altLang="zh-CN"/>
              <a:t>登录</a:t>
            </a:r>
            <a:r>
              <a:rPr lang="en-US" altLang="zh-CN"/>
              <a:t>GUID</a:t>
            </a:r>
            <a:endParaRPr lang="zh-CN" altLang="zh-CN"/>
          </a:p>
          <a:p>
            <a:pPr eaLnBrk="1" hangingPunct="1"/>
            <a:r>
              <a:rPr lang="en-US" altLang="zh-CN"/>
              <a:t>    | DEFAULT_DATABASE = </a:t>
            </a:r>
            <a:r>
              <a:rPr lang="zh-CN" altLang="zh-CN"/>
              <a:t>数据库</a:t>
            </a:r>
            <a:endParaRPr lang="zh-CN" altLang="zh-CN"/>
          </a:p>
          <a:p>
            <a:pPr eaLnBrk="1" hangingPunct="1"/>
            <a:r>
              <a:rPr lang="en-US" altLang="zh-CN"/>
              <a:t>    | DEFAULT_LANGUAGE = </a:t>
            </a:r>
            <a:r>
              <a:rPr lang="zh-CN" altLang="zh-CN"/>
              <a:t>语言</a:t>
            </a:r>
            <a:endParaRPr lang="zh-CN" altLang="zh-CN"/>
          </a:p>
          <a:p>
            <a:pPr eaLnBrk="1" hangingPunct="1"/>
            <a:r>
              <a:rPr lang="en-US" altLang="zh-CN"/>
              <a:t>    | CHECK_EXPIRATION = { ON | OFF}</a:t>
            </a:r>
            <a:endParaRPr lang="zh-CN" altLang="zh-CN"/>
          </a:p>
          <a:p>
            <a:pPr eaLnBrk="1" hangingPunct="1"/>
            <a:r>
              <a:rPr lang="en-US" altLang="zh-CN"/>
              <a:t>    | CHECK_POLICY = { ON | OFF}</a:t>
            </a:r>
            <a:endParaRPr lang="zh-CN" altLang="zh-CN"/>
          </a:p>
          <a:p>
            <a:pPr eaLnBrk="1" hangingPunct="1"/>
            <a:r>
              <a:rPr lang="en-US" altLang="zh-CN"/>
              <a:t>    [ CREDENTIAL = </a:t>
            </a:r>
            <a:r>
              <a:rPr lang="zh-CN" altLang="zh-CN"/>
              <a:t>凭据名</a:t>
            </a:r>
            <a:r>
              <a:rPr lang="en-US" altLang="zh-CN"/>
              <a:t> ]</a:t>
            </a:r>
            <a:endParaRPr lang="zh-CN" altLang="zh-CN"/>
          </a:p>
          <a:p>
            <a:pPr eaLnBrk="1" hangingPunct="1"/>
            <a:r>
              <a:rPr lang="en-US" altLang="zh-CN"/>
              <a:t>&lt;Windows</a:t>
            </a:r>
            <a:r>
              <a:rPr lang="zh-CN" altLang="zh-CN"/>
              <a:t>选项</a:t>
            </a:r>
            <a:r>
              <a:rPr lang="en-US" altLang="zh-CN"/>
              <a:t>&gt; ::=</a:t>
            </a:r>
            <a:endParaRPr lang="zh-CN" altLang="zh-CN"/>
          </a:p>
          <a:p>
            <a:pPr eaLnBrk="1" hangingPunct="1"/>
            <a:r>
              <a:rPr lang="en-US" altLang="zh-CN"/>
              <a:t>    DEFAULT_DATABASE = </a:t>
            </a:r>
            <a:r>
              <a:rPr lang="zh-CN" altLang="zh-CN"/>
              <a:t>数据库</a:t>
            </a:r>
            <a:endParaRPr lang="zh-CN" altLang="zh-CN"/>
          </a:p>
          <a:p>
            <a:pPr eaLnBrk="1" hangingPunct="1"/>
            <a:r>
              <a:rPr lang="en-US" altLang="zh-CN"/>
              <a:t>    | DEFAULT_LANGUAGE = </a:t>
            </a:r>
            <a:r>
              <a:rPr lang="zh-CN" altLang="zh-CN"/>
              <a:t>语言</a:t>
            </a:r>
            <a:endParaRPr lang="zh-CN" altLang="zh-CN"/>
          </a:p>
          <a:p>
            <a:pPr eaLnBrk="1" hangingPunct="1"/>
            <a:endParaRPr lang="zh-CN" altLang="en-US"/>
          </a:p>
        </p:txBody>
      </p:sp>
    </p:spTree>
  </p:cSld>
  <p:clrMapOvr>
    <a:masterClrMapping/>
  </p:clrMapOvr>
  <p:transition spd="slow">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4581525"/>
            <a:ext cx="7921625" cy="13684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9.2.2  </a:t>
            </a:r>
            <a:r>
              <a:rPr lang="zh-CN" altLang="zh-CN" dirty="0">
                <a:effectLst/>
              </a:rPr>
              <a:t>命令方式管理用户账户：</a:t>
            </a:r>
            <a:r>
              <a:rPr lang="en-US" altLang="zh-CN" dirty="0">
                <a:effectLst/>
              </a:rPr>
              <a:t>CREATE LOGIN/USER</a:t>
            </a:r>
            <a:endParaRPr lang="zh-CN" altLang="en-US" dirty="0"/>
          </a:p>
        </p:txBody>
      </p:sp>
      <p:sp>
        <p:nvSpPr>
          <p:cNvPr id="22532" name="TextBox 2"/>
          <p:cNvSpPr txBox="1">
            <a:spLocks noChangeArrowheads="1"/>
          </p:cNvSpPr>
          <p:nvPr/>
        </p:nvSpPr>
        <p:spPr bwMode="auto">
          <a:xfrm>
            <a:off x="468313" y="1484313"/>
            <a:ext cx="8280400" cy="480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a:t>有</a:t>
            </a:r>
            <a:r>
              <a:rPr lang="en-US" altLang="zh-CN"/>
              <a:t>4</a:t>
            </a:r>
            <a:r>
              <a:rPr lang="zh-CN" altLang="zh-CN"/>
              <a:t>种类型的登录名：</a:t>
            </a:r>
            <a:r>
              <a:rPr lang="en-US" altLang="zh-CN"/>
              <a:t>SQL Server</a:t>
            </a:r>
            <a:r>
              <a:rPr lang="zh-CN" altLang="zh-CN"/>
              <a:t>登录名、</a:t>
            </a:r>
            <a:r>
              <a:rPr lang="en-US" altLang="zh-CN"/>
              <a:t>Windows</a:t>
            </a:r>
            <a:r>
              <a:rPr lang="zh-CN" altLang="zh-CN"/>
              <a:t>登录名、证书映射登录名和非对称密钥映射登录名，这里只具体介绍前两种。</a:t>
            </a:r>
            <a:endParaRPr lang="zh-CN" altLang="zh-CN"/>
          </a:p>
          <a:p>
            <a:pPr eaLnBrk="1" hangingPunct="1">
              <a:lnSpc>
                <a:spcPct val="150000"/>
              </a:lnSpc>
            </a:pPr>
            <a:r>
              <a:rPr lang="zh-CN" altLang="zh-CN"/>
              <a:t>①</a:t>
            </a:r>
            <a:r>
              <a:rPr lang="en-US" altLang="zh-CN"/>
              <a:t> </a:t>
            </a:r>
            <a:r>
              <a:rPr lang="zh-CN" altLang="zh-CN"/>
              <a:t>创建</a:t>
            </a:r>
            <a:r>
              <a:rPr lang="en-US" altLang="zh-CN"/>
              <a:t>Windows</a:t>
            </a:r>
            <a:r>
              <a:rPr lang="zh-CN" altLang="zh-CN"/>
              <a:t>验证模式登录名。创建</a:t>
            </a:r>
            <a:r>
              <a:rPr lang="en-US" altLang="zh-CN"/>
              <a:t>Windows</a:t>
            </a:r>
            <a:r>
              <a:rPr lang="zh-CN" altLang="zh-CN"/>
              <a:t>登录名使用</a:t>
            </a:r>
            <a:r>
              <a:rPr lang="en-US" altLang="zh-CN"/>
              <a:t>FROM</a:t>
            </a:r>
            <a:r>
              <a:rPr lang="zh-CN" altLang="zh-CN"/>
              <a:t>子句，在</a:t>
            </a:r>
            <a:r>
              <a:rPr lang="en-US" altLang="zh-CN"/>
              <a:t>FROM</a:t>
            </a:r>
            <a:r>
              <a:rPr lang="zh-CN" altLang="zh-CN"/>
              <a:t>子句的语法格式中，</a:t>
            </a:r>
            <a:r>
              <a:rPr lang="en-US" altLang="zh-CN"/>
              <a:t>WINDOWS</a:t>
            </a:r>
            <a:r>
              <a:rPr lang="zh-CN" altLang="zh-CN"/>
              <a:t>关键字指定将登录名映射到</a:t>
            </a:r>
            <a:r>
              <a:rPr lang="en-US" altLang="zh-CN"/>
              <a:t>Windows</a:t>
            </a:r>
            <a:r>
              <a:rPr lang="zh-CN" altLang="zh-CN"/>
              <a:t>登录名，其中，</a:t>
            </a:r>
            <a:r>
              <a:rPr lang="en-US" altLang="zh-CN"/>
              <a:t>&lt;Windows</a:t>
            </a:r>
            <a:r>
              <a:rPr lang="zh-CN" altLang="zh-CN"/>
              <a:t>选项</a:t>
            </a:r>
            <a:r>
              <a:rPr lang="en-US" altLang="zh-CN"/>
              <a:t>&gt;</a:t>
            </a:r>
            <a:r>
              <a:rPr lang="zh-CN" altLang="zh-CN"/>
              <a:t>为创建</a:t>
            </a:r>
            <a:r>
              <a:rPr lang="en-US" altLang="zh-CN"/>
              <a:t>Windows</a:t>
            </a:r>
            <a:r>
              <a:rPr lang="zh-CN" altLang="zh-CN"/>
              <a:t>登录名的选项，</a:t>
            </a:r>
            <a:r>
              <a:rPr lang="en-US" altLang="zh-CN"/>
              <a:t>DEFAULT_DATABASE</a:t>
            </a:r>
            <a:r>
              <a:rPr lang="zh-CN" altLang="zh-CN"/>
              <a:t>指定默认数据库，</a:t>
            </a:r>
            <a:r>
              <a:rPr lang="en-US" altLang="zh-CN"/>
              <a:t>DEFAULT_LANGUAGE</a:t>
            </a:r>
            <a:r>
              <a:rPr lang="zh-CN" altLang="zh-CN"/>
              <a:t>指定默认语言。</a:t>
            </a:r>
            <a:endParaRPr lang="zh-CN" altLang="zh-CN"/>
          </a:p>
          <a:p>
            <a:pPr eaLnBrk="1" hangingPunct="1"/>
            <a:r>
              <a:rPr lang="zh-CN" altLang="zh-CN"/>
              <a:t>【例</a:t>
            </a:r>
            <a:r>
              <a:rPr lang="en-US" altLang="zh-CN"/>
              <a:t>9.1</a:t>
            </a:r>
            <a:r>
              <a:rPr lang="zh-CN" altLang="zh-CN"/>
              <a:t>】 使用命令方式创建</a:t>
            </a:r>
            <a:r>
              <a:rPr lang="en-US" altLang="zh-CN"/>
              <a:t>Windows</a:t>
            </a:r>
            <a:r>
              <a:rPr lang="zh-CN" altLang="zh-CN"/>
              <a:t>登录名</a:t>
            </a:r>
            <a:r>
              <a:rPr lang="en-US" altLang="zh-CN"/>
              <a:t>tao</a:t>
            </a:r>
            <a:r>
              <a:rPr lang="zh-CN" altLang="zh-CN"/>
              <a:t>（假设</a:t>
            </a:r>
            <a:r>
              <a:rPr lang="en-US" altLang="zh-CN"/>
              <a:t>Windows</a:t>
            </a:r>
            <a:r>
              <a:rPr lang="zh-CN" altLang="zh-CN"/>
              <a:t>用户</a:t>
            </a:r>
            <a:r>
              <a:rPr lang="en-US" altLang="zh-CN"/>
              <a:t>tao</a:t>
            </a:r>
            <a:r>
              <a:rPr lang="zh-CN" altLang="zh-CN"/>
              <a:t>已经创建，本地计算机名为</a:t>
            </a:r>
            <a:r>
              <a:rPr lang="en-US" altLang="zh-CN"/>
              <a:t>WIN7-20141023IG</a:t>
            </a:r>
            <a:r>
              <a:rPr lang="zh-CN" altLang="zh-CN"/>
              <a:t>），默认数据库设为</a:t>
            </a:r>
            <a:r>
              <a:rPr lang="en-US" altLang="zh-CN"/>
              <a:t>pxscj</a:t>
            </a:r>
            <a:r>
              <a:rPr lang="zh-CN" altLang="zh-CN"/>
              <a:t>。</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CREATE LOGIN [WIN7-20141023IG\tao]</a:t>
            </a:r>
            <a:endParaRPr lang="zh-CN" altLang="zh-CN"/>
          </a:p>
          <a:p>
            <a:pPr eaLnBrk="1" hangingPunct="1"/>
            <a:r>
              <a:rPr lang="en-US" altLang="zh-CN"/>
              <a:t>    FROM WINDOWS </a:t>
            </a:r>
            <a:endParaRPr lang="zh-CN" altLang="zh-CN"/>
          </a:p>
          <a:p>
            <a:pPr eaLnBrk="1" hangingPunct="1"/>
            <a:r>
              <a:rPr lang="en-US" altLang="zh-CN"/>
              <a:t>        WITH DEFAULT_DATABASE= pxscj</a:t>
            </a:r>
            <a:endParaRPr lang="zh-CN" altLang="zh-CN"/>
          </a:p>
          <a:p>
            <a:pPr eaLnBrk="1" hangingPunct="1"/>
            <a:endParaRPr lang="zh-CN" altLang="en-US"/>
          </a:p>
        </p:txBody>
      </p:sp>
    </p:spTree>
  </p:cSld>
  <p:clrMapOvr>
    <a:masterClrMapping/>
  </p:clrMapOvr>
  <p:transition spd="slow">
    <p:blinds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5805488"/>
            <a:ext cx="7993062"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9.2.2  </a:t>
            </a:r>
            <a:r>
              <a:rPr lang="zh-CN" altLang="zh-CN" dirty="0">
                <a:effectLst/>
              </a:rPr>
              <a:t>命令方式管理用户账户：</a:t>
            </a:r>
            <a:r>
              <a:rPr lang="en-US" altLang="zh-CN" dirty="0">
                <a:effectLst/>
              </a:rPr>
              <a:t>CREATE LOGIN/USER</a:t>
            </a:r>
            <a:endParaRPr lang="zh-CN" altLang="en-US" dirty="0"/>
          </a:p>
        </p:txBody>
      </p:sp>
      <p:sp>
        <p:nvSpPr>
          <p:cNvPr id="23556" name="TextBox 2"/>
          <p:cNvSpPr txBox="1">
            <a:spLocks noChangeArrowheads="1"/>
          </p:cNvSpPr>
          <p:nvPr/>
        </p:nvSpPr>
        <p:spPr bwMode="auto">
          <a:xfrm>
            <a:off x="395288" y="1341438"/>
            <a:ext cx="8424862" cy="587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②</a:t>
            </a:r>
            <a:r>
              <a:rPr lang="en-US" altLang="zh-CN"/>
              <a:t> </a:t>
            </a:r>
            <a:r>
              <a:rPr lang="zh-CN" altLang="zh-CN"/>
              <a:t>创建</a:t>
            </a:r>
            <a:r>
              <a:rPr lang="en-US" altLang="zh-CN"/>
              <a:t>SQL Server</a:t>
            </a:r>
            <a:r>
              <a:rPr lang="zh-CN" altLang="zh-CN"/>
              <a:t>验证模式登录名。创建</a:t>
            </a:r>
            <a:r>
              <a:rPr lang="en-US" altLang="zh-CN"/>
              <a:t>SQL Server</a:t>
            </a:r>
            <a:r>
              <a:rPr lang="zh-CN" altLang="zh-CN"/>
              <a:t>登录名使用</a:t>
            </a:r>
            <a:r>
              <a:rPr lang="en-US" altLang="zh-CN"/>
              <a:t>WITH</a:t>
            </a:r>
            <a:r>
              <a:rPr lang="zh-CN" altLang="zh-CN"/>
              <a:t>子句，其中：</a:t>
            </a:r>
            <a:endParaRPr lang="zh-CN" altLang="zh-CN"/>
          </a:p>
          <a:p>
            <a:pPr eaLnBrk="1" hangingPunct="1"/>
            <a:r>
              <a:rPr lang="en-US" altLang="zh-CN"/>
              <a:t>a</a:t>
            </a:r>
            <a:r>
              <a:rPr lang="zh-CN" altLang="zh-CN"/>
              <a:t>．</a:t>
            </a:r>
            <a:r>
              <a:rPr lang="en-US" altLang="zh-CN"/>
              <a:t>PASSWORD</a:t>
            </a:r>
            <a:r>
              <a:rPr lang="zh-CN" altLang="zh-CN"/>
              <a:t>：用于指定正在创建的登录名的密码，“</a:t>
            </a:r>
            <a:r>
              <a:rPr lang="en-US" altLang="zh-CN"/>
              <a:t>'</a:t>
            </a:r>
            <a:r>
              <a:rPr lang="zh-CN" altLang="zh-CN"/>
              <a:t>密码</a:t>
            </a:r>
            <a:r>
              <a:rPr lang="en-US" altLang="zh-CN"/>
              <a:t>'</a:t>
            </a:r>
            <a:r>
              <a:rPr lang="zh-CN" altLang="zh-CN"/>
              <a:t>”为密码字符串。</a:t>
            </a:r>
            <a:r>
              <a:rPr lang="en-US" altLang="zh-CN"/>
              <a:t>HASHED </a:t>
            </a:r>
            <a:r>
              <a:rPr lang="zh-CN" altLang="zh-CN"/>
              <a:t>选项指定在</a:t>
            </a:r>
            <a:r>
              <a:rPr lang="en-US" altLang="zh-CN"/>
              <a:t>PASSWORD</a:t>
            </a:r>
            <a:r>
              <a:rPr lang="zh-CN" altLang="zh-CN"/>
              <a:t>参数后输入的密码已经过哈希运算，如果未选择此选项，则在将作为密码输入的字符串存储到数据库之前，对其进行哈希运算。如果指定</a:t>
            </a:r>
            <a:r>
              <a:rPr lang="en-US" altLang="zh-CN"/>
              <a:t>MUST_CHANGE</a:t>
            </a:r>
            <a:r>
              <a:rPr lang="zh-CN" altLang="zh-CN"/>
              <a:t>选项，则</a:t>
            </a:r>
            <a:r>
              <a:rPr lang="en-US" altLang="zh-CN"/>
              <a:t>SQL Server</a:t>
            </a:r>
            <a:r>
              <a:rPr lang="zh-CN" altLang="zh-CN"/>
              <a:t>会在首次使用新登录名时提示用户输入新密码。</a:t>
            </a:r>
            <a:endParaRPr lang="zh-CN" altLang="zh-CN"/>
          </a:p>
          <a:p>
            <a:pPr eaLnBrk="1" hangingPunct="1"/>
            <a:r>
              <a:rPr lang="en-US" altLang="zh-CN"/>
              <a:t>b</a:t>
            </a:r>
            <a:r>
              <a:rPr lang="zh-CN" altLang="zh-CN"/>
              <a:t>．</a:t>
            </a:r>
            <a:r>
              <a:rPr lang="en-US" altLang="zh-CN"/>
              <a:t>&lt;</a:t>
            </a:r>
            <a:r>
              <a:rPr lang="zh-CN" altLang="zh-CN"/>
              <a:t>选项列表</a:t>
            </a:r>
            <a:r>
              <a:rPr lang="en-US" altLang="zh-CN"/>
              <a:t>&gt;</a:t>
            </a:r>
            <a:r>
              <a:rPr lang="zh-CN" altLang="zh-CN"/>
              <a:t>：用于指定在创建</a:t>
            </a:r>
            <a:r>
              <a:rPr lang="en-US" altLang="zh-CN"/>
              <a:t>SQL Server</a:t>
            </a:r>
            <a:r>
              <a:rPr lang="zh-CN" altLang="zh-CN"/>
              <a:t>登录名时的一些选项，选项如下：</a:t>
            </a:r>
            <a:endParaRPr lang="zh-CN" altLang="zh-CN"/>
          </a:p>
          <a:p>
            <a:pPr eaLnBrk="1" hangingPunct="1"/>
            <a:r>
              <a:rPr lang="en-US" altLang="zh-CN" sz="1400"/>
              <a:t>●</a:t>
            </a:r>
            <a:r>
              <a:rPr lang="en-US" altLang="zh-CN" sz="1600"/>
              <a:t>	SID</a:t>
            </a:r>
            <a:r>
              <a:rPr lang="zh-CN" altLang="zh-CN" sz="1600"/>
              <a:t>：指定新</a:t>
            </a:r>
            <a:r>
              <a:rPr lang="en-US" altLang="zh-CN" sz="1600"/>
              <a:t>SQL Server</a:t>
            </a:r>
            <a:r>
              <a:rPr lang="zh-CN" altLang="zh-CN" sz="1600"/>
              <a:t>登录名的全局唯一标识符，如果未选择此选项，则自动指派。</a:t>
            </a:r>
            <a:endParaRPr lang="zh-CN" altLang="zh-CN" sz="1600"/>
          </a:p>
          <a:p>
            <a:pPr eaLnBrk="1" hangingPunct="1"/>
            <a:r>
              <a:rPr lang="en-US" altLang="zh-CN" sz="1400"/>
              <a:t>●</a:t>
            </a:r>
            <a:r>
              <a:rPr lang="en-US" altLang="zh-CN" sz="1600"/>
              <a:t>	DEFAULT_DATABASE</a:t>
            </a:r>
            <a:r>
              <a:rPr lang="zh-CN" altLang="zh-CN" sz="1600"/>
              <a:t>：指定默认数据库，如果未指定此选项，则默认数据库将设置为</a:t>
            </a:r>
            <a:r>
              <a:rPr lang="en-US" altLang="zh-CN" sz="1600"/>
              <a:t>master</a:t>
            </a:r>
            <a:r>
              <a:rPr lang="zh-CN" altLang="zh-CN" sz="1600"/>
              <a:t>。</a:t>
            </a:r>
            <a:endParaRPr lang="zh-CN" altLang="zh-CN" sz="1600"/>
          </a:p>
          <a:p>
            <a:pPr eaLnBrk="1" hangingPunct="1"/>
            <a:r>
              <a:rPr lang="en-US" altLang="zh-CN" sz="1400"/>
              <a:t>●</a:t>
            </a:r>
            <a:r>
              <a:rPr lang="en-US" altLang="zh-CN" sz="1600"/>
              <a:t>	DEFAULT_LANGUAGE</a:t>
            </a:r>
            <a:r>
              <a:rPr lang="zh-CN" altLang="zh-CN" sz="1600"/>
              <a:t>：指定默认语言，如果未指定此选项，则默认语言将设置为服务器的当前默认语言。</a:t>
            </a:r>
            <a:endParaRPr lang="zh-CN" altLang="zh-CN" sz="1600"/>
          </a:p>
          <a:p>
            <a:pPr eaLnBrk="1" hangingPunct="1"/>
            <a:r>
              <a:rPr lang="en-US" altLang="zh-CN" sz="1400"/>
              <a:t>●	</a:t>
            </a:r>
            <a:r>
              <a:rPr lang="en-US" altLang="zh-CN" sz="1600"/>
              <a:t>CHECK_EXPIRATION</a:t>
            </a:r>
            <a:r>
              <a:rPr lang="zh-CN" altLang="zh-CN" sz="1600"/>
              <a:t>：指定是否对此登录名强制实施密码过期策略，默认值为</a:t>
            </a:r>
            <a:r>
              <a:rPr lang="en-US" altLang="zh-CN" sz="1600"/>
              <a:t>OFF</a:t>
            </a:r>
            <a:r>
              <a:rPr lang="zh-CN" altLang="zh-CN" sz="1600"/>
              <a:t>。</a:t>
            </a:r>
            <a:endParaRPr lang="zh-CN" altLang="zh-CN" sz="1600"/>
          </a:p>
          <a:p>
            <a:pPr eaLnBrk="1" hangingPunct="1"/>
            <a:r>
              <a:rPr lang="en-US" altLang="zh-CN" sz="1400"/>
              <a:t>●</a:t>
            </a:r>
            <a:r>
              <a:rPr lang="en-US" altLang="zh-CN" sz="1600"/>
              <a:t>	CHECK_POLICY</a:t>
            </a:r>
            <a:r>
              <a:rPr lang="zh-CN" altLang="zh-CN" sz="1600"/>
              <a:t>：指定应对此登录名强制实施运行</a:t>
            </a:r>
            <a:r>
              <a:rPr lang="en-US" altLang="zh-CN" sz="1600"/>
              <a:t>SQL Server</a:t>
            </a:r>
            <a:r>
              <a:rPr lang="zh-CN" altLang="zh-CN" sz="1600"/>
              <a:t>的计算机的</a:t>
            </a:r>
            <a:r>
              <a:rPr lang="en-US" altLang="zh-CN" sz="1600"/>
              <a:t>Windows</a:t>
            </a:r>
            <a:r>
              <a:rPr lang="zh-CN" altLang="zh-CN" sz="1600"/>
              <a:t>密码策略，默认值为</a:t>
            </a:r>
            <a:r>
              <a:rPr lang="en-US" altLang="zh-CN" sz="1600"/>
              <a:t>ON</a:t>
            </a:r>
            <a:r>
              <a:rPr lang="zh-CN" altLang="zh-CN" sz="1600"/>
              <a:t>。</a:t>
            </a:r>
            <a:endParaRPr lang="en-US" altLang="zh-CN" sz="1600"/>
          </a:p>
          <a:p>
            <a:pPr eaLnBrk="1" hangingPunct="1"/>
            <a:r>
              <a:rPr lang="zh-CN" altLang="zh-CN"/>
              <a:t>【例</a:t>
            </a:r>
            <a:r>
              <a:rPr lang="en-US" altLang="zh-CN"/>
              <a:t>9.2</a:t>
            </a:r>
            <a:r>
              <a:rPr lang="zh-CN" altLang="zh-CN"/>
              <a:t>】 创建</a:t>
            </a:r>
            <a:r>
              <a:rPr lang="en-US" altLang="zh-CN"/>
              <a:t>SQL Server</a:t>
            </a:r>
            <a:r>
              <a:rPr lang="zh-CN" altLang="zh-CN"/>
              <a:t>登录名</a:t>
            </a:r>
            <a:r>
              <a:rPr lang="en-US" altLang="zh-CN"/>
              <a:t>sql_tao</a:t>
            </a:r>
            <a:r>
              <a:rPr lang="zh-CN" altLang="zh-CN"/>
              <a:t>，密码为</a:t>
            </a:r>
            <a:r>
              <a:rPr lang="en-US" altLang="zh-CN"/>
              <a:t>123456</a:t>
            </a:r>
            <a:r>
              <a:rPr lang="zh-CN" altLang="zh-CN"/>
              <a:t>，默认数据库设为</a:t>
            </a:r>
            <a:r>
              <a:rPr lang="en-US" altLang="zh-CN"/>
              <a:t>pxscj</a:t>
            </a:r>
            <a:r>
              <a:rPr lang="zh-CN" altLang="zh-CN"/>
              <a:t>。</a:t>
            </a:r>
            <a:endParaRPr lang="zh-CN" altLang="zh-CN"/>
          </a:p>
          <a:p>
            <a:pPr eaLnBrk="1" hangingPunct="1"/>
            <a:r>
              <a:rPr lang="en-US" altLang="zh-CN" sz="1600"/>
              <a:t>CREATE LOGIN sql_tao</a:t>
            </a:r>
            <a:endParaRPr lang="zh-CN" altLang="zh-CN" sz="1600"/>
          </a:p>
          <a:p>
            <a:pPr eaLnBrk="1" hangingPunct="1"/>
            <a:r>
              <a:rPr lang="en-US" altLang="zh-CN" sz="1600"/>
              <a:t>    WITH PASSWORD='123456',</a:t>
            </a:r>
            <a:endParaRPr lang="zh-CN" altLang="zh-CN" sz="1600"/>
          </a:p>
          <a:p>
            <a:pPr eaLnBrk="1" hangingPunct="1"/>
            <a:r>
              <a:rPr lang="en-US" altLang="zh-CN" sz="1600"/>
              <a:t>        DEFAULT_DATABASE=pxscj</a:t>
            </a:r>
            <a:endParaRPr lang="zh-CN" altLang="zh-CN" sz="1600"/>
          </a:p>
          <a:p>
            <a:pPr eaLnBrk="1" hangingPunct="1"/>
            <a:endParaRPr lang="zh-CN" altLang="zh-CN" sz="1600"/>
          </a:p>
          <a:p>
            <a:pPr eaLnBrk="1" hangingPunct="1"/>
            <a:endParaRPr lang="zh-CN" altLang="en-US" sz="1600"/>
          </a:p>
        </p:txBody>
      </p:sp>
    </p:spTree>
  </p:cSld>
  <p:clrMapOvr>
    <a:masterClrMapping/>
  </p:clrMapOvr>
  <p:transition spd="slow">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55650" y="3213100"/>
            <a:ext cx="7920038" cy="6477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9.2.2  </a:t>
            </a:r>
            <a:r>
              <a:rPr lang="zh-CN" altLang="zh-CN" dirty="0">
                <a:effectLst/>
              </a:rPr>
              <a:t>命令方式管理用户账户：</a:t>
            </a:r>
            <a:r>
              <a:rPr lang="en-US" altLang="zh-CN" dirty="0">
                <a:effectLst/>
              </a:rPr>
              <a:t>CREATE LOGIN/USER</a:t>
            </a:r>
            <a:endParaRPr lang="zh-CN" altLang="en-US" dirty="0"/>
          </a:p>
        </p:txBody>
      </p:sp>
      <p:sp>
        <p:nvSpPr>
          <p:cNvPr id="24580" name="TextBox 2"/>
          <p:cNvSpPr txBox="1">
            <a:spLocks noChangeArrowheads="1"/>
          </p:cNvSpPr>
          <p:nvPr/>
        </p:nvSpPr>
        <p:spPr bwMode="auto">
          <a:xfrm>
            <a:off x="395288" y="1557338"/>
            <a:ext cx="8280400"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a:t>（</a:t>
            </a:r>
            <a:r>
              <a:rPr lang="en-US" altLang="zh-CN"/>
              <a:t>2</a:t>
            </a:r>
            <a:r>
              <a:rPr lang="zh-CN" altLang="zh-CN"/>
              <a:t>）删除登录名</a:t>
            </a:r>
            <a:endParaRPr lang="zh-CN" altLang="zh-CN"/>
          </a:p>
          <a:p>
            <a:pPr eaLnBrk="1" hangingPunct="1">
              <a:lnSpc>
                <a:spcPct val="150000"/>
              </a:lnSpc>
            </a:pPr>
            <a:r>
              <a:rPr lang="zh-CN" altLang="zh-CN"/>
              <a:t>删除登录名使用</a:t>
            </a:r>
            <a:r>
              <a:rPr lang="en-US" altLang="zh-CN"/>
              <a:t>DROP LOGIN</a:t>
            </a:r>
            <a:r>
              <a:rPr lang="zh-CN" altLang="zh-CN"/>
              <a:t>命令。语法格式：</a:t>
            </a:r>
            <a:endParaRPr lang="zh-CN" altLang="zh-CN"/>
          </a:p>
          <a:p>
            <a:pPr eaLnBrk="1" hangingPunct="1">
              <a:lnSpc>
                <a:spcPct val="150000"/>
              </a:lnSpc>
            </a:pPr>
            <a:r>
              <a:rPr lang="en-US" altLang="zh-CN"/>
              <a:t>DROP LOGIN </a:t>
            </a:r>
            <a:r>
              <a:rPr lang="zh-CN" altLang="zh-CN"/>
              <a:t>登录名</a:t>
            </a:r>
            <a:endParaRPr lang="zh-CN" altLang="zh-CN"/>
          </a:p>
          <a:p>
            <a:pPr eaLnBrk="1" hangingPunct="1">
              <a:lnSpc>
                <a:spcPct val="150000"/>
              </a:lnSpc>
            </a:pPr>
            <a:r>
              <a:rPr lang="zh-CN" altLang="zh-CN"/>
              <a:t>例如，删除</a:t>
            </a:r>
            <a:r>
              <a:rPr lang="en-US" altLang="zh-CN"/>
              <a:t>Windows</a:t>
            </a:r>
            <a:r>
              <a:rPr lang="zh-CN" altLang="zh-CN"/>
              <a:t>登录名</a:t>
            </a:r>
            <a:r>
              <a:rPr lang="en-US" altLang="zh-CN"/>
              <a:t>tao </a:t>
            </a:r>
            <a:r>
              <a:rPr lang="zh-CN" altLang="zh-CN"/>
              <a:t>和</a:t>
            </a:r>
            <a:r>
              <a:rPr lang="en-US" altLang="zh-CN"/>
              <a:t>SQL Server</a:t>
            </a:r>
            <a:r>
              <a:rPr lang="zh-CN" altLang="zh-CN"/>
              <a:t>登录名</a:t>
            </a:r>
            <a:r>
              <a:rPr lang="en-US" altLang="zh-CN"/>
              <a:t>sql_tao</a:t>
            </a:r>
            <a:r>
              <a:rPr lang="zh-CN" altLang="zh-CN"/>
              <a:t>。</a:t>
            </a:r>
            <a:endParaRPr lang="zh-CN" altLang="zh-CN"/>
          </a:p>
          <a:p>
            <a:pPr eaLnBrk="1" hangingPunct="1"/>
            <a:r>
              <a:rPr lang="en-US" altLang="zh-CN"/>
              <a:t>DROP LOGIN [WIN7-20141023IG\tao]</a:t>
            </a:r>
            <a:endParaRPr lang="zh-CN" altLang="zh-CN"/>
          </a:p>
          <a:p>
            <a:pPr eaLnBrk="1" hangingPunct="1"/>
            <a:r>
              <a:rPr lang="en-US" altLang="zh-CN"/>
              <a:t>DROP LOGIN sql_tao</a:t>
            </a:r>
            <a:endParaRPr lang="zh-CN" altLang="zh-CN"/>
          </a:p>
          <a:p>
            <a:pPr eaLnBrk="1" hangingPunct="1"/>
            <a:endParaRPr lang="zh-CN" altLang="en-US"/>
          </a:p>
        </p:txBody>
      </p:sp>
    </p:spTree>
  </p:cSld>
  <p:clrMapOvr>
    <a:masterClrMapping/>
  </p:clrMapOvr>
  <p:transition spd="slow">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2349500"/>
            <a:ext cx="7775575" cy="28082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9.2.2  </a:t>
            </a:r>
            <a:r>
              <a:rPr lang="zh-CN" altLang="zh-CN" dirty="0">
                <a:effectLst/>
              </a:rPr>
              <a:t>命令方式管理用户账户：</a:t>
            </a:r>
            <a:r>
              <a:rPr lang="en-US" altLang="zh-CN" dirty="0">
                <a:effectLst/>
              </a:rPr>
              <a:t>CREATE LOGIN/USER</a:t>
            </a:r>
            <a:endParaRPr lang="zh-CN" altLang="en-US" dirty="0"/>
          </a:p>
        </p:txBody>
      </p:sp>
      <p:sp>
        <p:nvSpPr>
          <p:cNvPr id="25604" name="TextBox 2"/>
          <p:cNvSpPr txBox="1">
            <a:spLocks noChangeArrowheads="1"/>
          </p:cNvSpPr>
          <p:nvPr/>
        </p:nvSpPr>
        <p:spPr bwMode="auto">
          <a:xfrm>
            <a:off x="468313" y="1484313"/>
            <a:ext cx="8207375"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2</a:t>
            </a:r>
            <a:r>
              <a:rPr lang="zh-CN" altLang="zh-CN" b="1">
                <a:solidFill>
                  <a:srgbClr val="C00000"/>
                </a:solidFill>
              </a:rPr>
              <a:t>．数据库用户创建</a:t>
            </a:r>
            <a:endParaRPr lang="zh-CN" altLang="zh-CN" b="1">
              <a:solidFill>
                <a:srgbClr val="C00000"/>
              </a:solidFill>
            </a:endParaRPr>
          </a:p>
          <a:p>
            <a:pPr eaLnBrk="1" hangingPunct="1"/>
            <a:r>
              <a:rPr lang="zh-CN" altLang="zh-CN"/>
              <a:t>（</a:t>
            </a:r>
            <a:r>
              <a:rPr lang="en-US" altLang="zh-CN"/>
              <a:t>1</a:t>
            </a:r>
            <a:r>
              <a:rPr lang="zh-CN" altLang="zh-CN"/>
              <a:t>）创建数据库用户</a:t>
            </a:r>
            <a:endParaRPr lang="zh-CN" altLang="zh-CN"/>
          </a:p>
          <a:p>
            <a:pPr eaLnBrk="1" hangingPunct="1"/>
            <a:r>
              <a:rPr lang="zh-CN" altLang="zh-CN"/>
              <a:t>创建数据库用户使用</a:t>
            </a:r>
            <a:r>
              <a:rPr lang="en-US" altLang="zh-CN"/>
              <a:t>CREATE USER</a:t>
            </a:r>
            <a:r>
              <a:rPr lang="zh-CN" altLang="zh-CN"/>
              <a:t>命令。语法格式：</a:t>
            </a:r>
            <a:endParaRPr lang="zh-CN" altLang="zh-CN"/>
          </a:p>
          <a:p>
            <a:pPr eaLnBrk="1" hangingPunct="1"/>
            <a:r>
              <a:rPr lang="en-US" altLang="zh-CN"/>
              <a:t>CREATE USER </a:t>
            </a:r>
            <a:r>
              <a:rPr lang="zh-CN" altLang="zh-CN"/>
              <a:t>用户名</a:t>
            </a:r>
            <a:endParaRPr lang="zh-CN" altLang="zh-CN"/>
          </a:p>
          <a:p>
            <a:pPr eaLnBrk="1" hangingPunct="1"/>
            <a:r>
              <a:rPr lang="en-US" altLang="zh-CN"/>
              <a:t>[{ FOR | FROM }</a:t>
            </a:r>
            <a:endParaRPr lang="zh-CN" altLang="zh-CN"/>
          </a:p>
          <a:p>
            <a:pPr eaLnBrk="1" hangingPunct="1"/>
            <a:r>
              <a:rPr lang="en-US" altLang="zh-CN"/>
              <a:t>{</a:t>
            </a:r>
            <a:endParaRPr lang="zh-CN" altLang="zh-CN"/>
          </a:p>
          <a:p>
            <a:pPr eaLnBrk="1" hangingPunct="1"/>
            <a:r>
              <a:rPr lang="en-US" altLang="zh-CN"/>
              <a:t>    LOGIN </a:t>
            </a:r>
            <a:r>
              <a:rPr lang="zh-CN" altLang="zh-CN"/>
              <a:t>登录名</a:t>
            </a:r>
            <a:endParaRPr lang="zh-CN" altLang="zh-CN"/>
          </a:p>
          <a:p>
            <a:pPr eaLnBrk="1" hangingPunct="1"/>
            <a:r>
              <a:rPr lang="en-US" altLang="zh-CN"/>
              <a:t>    | CERTIFICATE </a:t>
            </a:r>
            <a:r>
              <a:rPr lang="zh-CN" altLang="zh-CN"/>
              <a:t>证书名</a:t>
            </a:r>
            <a:endParaRPr lang="zh-CN" altLang="zh-CN"/>
          </a:p>
          <a:p>
            <a:pPr eaLnBrk="1" hangingPunct="1"/>
            <a:r>
              <a:rPr lang="en-US" altLang="zh-CN"/>
              <a:t>    | ASYMMETRIC KEY </a:t>
            </a:r>
            <a:r>
              <a:rPr lang="zh-CN" altLang="zh-CN"/>
              <a:t>非对称密钥名</a:t>
            </a:r>
            <a:endParaRPr lang="zh-CN" altLang="zh-CN"/>
          </a:p>
          <a:p>
            <a:pPr eaLnBrk="1" hangingPunct="1"/>
            <a:r>
              <a:rPr lang="en-US" altLang="zh-CN"/>
              <a:t>}</a:t>
            </a:r>
            <a:endParaRPr lang="zh-CN" altLang="zh-CN"/>
          </a:p>
          <a:p>
            <a:pPr eaLnBrk="1" hangingPunct="1"/>
            <a:r>
              <a:rPr lang="en-US" altLang="zh-CN"/>
              <a:t>| WITHOUT LOGIN</a:t>
            </a:r>
            <a:endParaRPr lang="zh-CN" altLang="zh-CN"/>
          </a:p>
          <a:p>
            <a:pPr eaLnBrk="1" hangingPunct="1"/>
            <a:r>
              <a:rPr lang="en-US" altLang="zh-CN"/>
              <a:t>]</a:t>
            </a:r>
            <a:endParaRPr lang="zh-CN" altLang="zh-CN"/>
          </a:p>
          <a:p>
            <a:pPr eaLnBrk="1" hangingPunct="1"/>
            <a:r>
              <a:rPr lang="en-US" altLang="zh-CN"/>
              <a:t>[ WITH DEFAULT_SCHEMA = </a:t>
            </a:r>
            <a:r>
              <a:rPr lang="zh-CN" altLang="zh-CN"/>
              <a:t>架构名</a:t>
            </a:r>
            <a:r>
              <a:rPr lang="en-US" altLang="zh-CN"/>
              <a:t> ]</a:t>
            </a:r>
            <a:endParaRPr lang="zh-CN" altLang="zh-CN"/>
          </a:p>
          <a:p>
            <a:pPr eaLnBrk="1" hangingPunct="1"/>
            <a:endParaRPr lang="zh-CN" altLang="en-US"/>
          </a:p>
        </p:txBody>
      </p:sp>
    </p:spTree>
  </p:cSld>
  <p:clrMapOvr>
    <a:masterClrMapping/>
  </p:clrMapOvr>
  <p:transition spd="slow">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420938"/>
            <a:ext cx="7848600" cy="14398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9.2.2  </a:t>
            </a:r>
            <a:r>
              <a:rPr lang="zh-CN" altLang="zh-CN" dirty="0">
                <a:effectLst/>
              </a:rPr>
              <a:t>命令方式管理用户账户：</a:t>
            </a:r>
            <a:r>
              <a:rPr lang="en-US" altLang="zh-CN" dirty="0">
                <a:effectLst/>
              </a:rPr>
              <a:t>CREATE LOGIN/USER</a:t>
            </a:r>
            <a:endParaRPr lang="zh-CN" altLang="en-US" dirty="0"/>
          </a:p>
        </p:txBody>
      </p:sp>
      <p:sp>
        <p:nvSpPr>
          <p:cNvPr id="26628" name="TextBox 2"/>
          <p:cNvSpPr txBox="1">
            <a:spLocks noChangeArrowheads="1"/>
          </p:cNvSpPr>
          <p:nvPr/>
        </p:nvSpPr>
        <p:spPr bwMode="auto">
          <a:xfrm>
            <a:off x="468313" y="1557338"/>
            <a:ext cx="8207375"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a:t>【例</a:t>
            </a:r>
            <a:r>
              <a:rPr lang="en-US" altLang="zh-CN"/>
              <a:t>9.3</a:t>
            </a:r>
            <a:r>
              <a:rPr lang="zh-CN" altLang="zh-CN"/>
              <a:t>】 使用</a:t>
            </a:r>
            <a:r>
              <a:rPr lang="en-US" altLang="zh-CN"/>
              <a:t>SQL Server</a:t>
            </a:r>
            <a:r>
              <a:rPr lang="zh-CN" altLang="zh-CN"/>
              <a:t>登录名</a:t>
            </a:r>
            <a:r>
              <a:rPr lang="en-US" altLang="zh-CN"/>
              <a:t>sql_tao</a:t>
            </a:r>
            <a:r>
              <a:rPr lang="zh-CN" altLang="zh-CN"/>
              <a:t>（假设已经创建）在</a:t>
            </a:r>
            <a:r>
              <a:rPr lang="en-US" altLang="zh-CN"/>
              <a:t>pxscj</a:t>
            </a:r>
            <a:r>
              <a:rPr lang="zh-CN" altLang="zh-CN"/>
              <a:t>数据库中创建数据库用户</a:t>
            </a:r>
            <a:r>
              <a:rPr lang="en-US" altLang="zh-CN"/>
              <a:t>User_sql_tao</a:t>
            </a:r>
            <a:r>
              <a:rPr lang="zh-CN" altLang="zh-CN"/>
              <a:t>，默认架构名使用</a:t>
            </a:r>
            <a:r>
              <a:rPr lang="en-US" altLang="zh-CN"/>
              <a:t>dbo</a:t>
            </a:r>
            <a:r>
              <a:rPr lang="zh-CN" altLang="zh-CN"/>
              <a:t>。</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CREATE USER User_sql_tao</a:t>
            </a:r>
            <a:endParaRPr lang="zh-CN" altLang="zh-CN"/>
          </a:p>
          <a:p>
            <a:pPr eaLnBrk="1" hangingPunct="1"/>
            <a:r>
              <a:rPr lang="en-US" altLang="zh-CN"/>
              <a:t>    FOR LOGIN sql_tao</a:t>
            </a:r>
            <a:endParaRPr lang="zh-CN" altLang="zh-CN"/>
          </a:p>
          <a:p>
            <a:pPr eaLnBrk="1" hangingPunct="1"/>
            <a:r>
              <a:rPr lang="en-US" altLang="zh-CN"/>
              <a:t>    WITH DEFAULT_SCHEMA=dbo</a:t>
            </a:r>
            <a:endParaRPr lang="zh-CN" altLang="zh-CN"/>
          </a:p>
          <a:p>
            <a:pPr eaLnBrk="1" hangingPunct="1"/>
            <a:endParaRPr lang="zh-CN" altLang="en-US"/>
          </a:p>
        </p:txBody>
      </p:sp>
    </p:spTree>
  </p:cSld>
  <p:clrMapOvr>
    <a:masterClrMapping/>
  </p:clrMapOvr>
  <p:transition spd="slow">
    <p:blinds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3860800"/>
            <a:ext cx="7848600"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276475"/>
            <a:ext cx="7848600" cy="3603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9.2.2  </a:t>
            </a:r>
            <a:r>
              <a:rPr lang="zh-CN" altLang="zh-CN" dirty="0">
                <a:effectLst/>
              </a:rPr>
              <a:t>命令方式管理用户账户：</a:t>
            </a:r>
            <a:r>
              <a:rPr lang="en-US" altLang="zh-CN" dirty="0">
                <a:effectLst/>
              </a:rPr>
              <a:t>CREATE LOGIN/USER</a:t>
            </a:r>
            <a:endParaRPr lang="zh-CN" altLang="en-US" dirty="0"/>
          </a:p>
        </p:txBody>
      </p:sp>
      <p:sp>
        <p:nvSpPr>
          <p:cNvPr id="27653" name="TextBox 2"/>
          <p:cNvSpPr txBox="1">
            <a:spLocks noChangeArrowheads="1"/>
          </p:cNvSpPr>
          <p:nvPr/>
        </p:nvSpPr>
        <p:spPr bwMode="auto">
          <a:xfrm>
            <a:off x="468313" y="1484313"/>
            <a:ext cx="8207375" cy="355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a:t>
            </a:r>
            <a:r>
              <a:rPr lang="en-US" altLang="zh-CN"/>
              <a:t>2</a:t>
            </a:r>
            <a:r>
              <a:rPr lang="zh-CN" altLang="zh-CN"/>
              <a:t>）删除数据库用户</a:t>
            </a:r>
            <a:endParaRPr lang="zh-CN" altLang="zh-CN"/>
          </a:p>
          <a:p>
            <a:pPr eaLnBrk="1" hangingPunct="1">
              <a:lnSpc>
                <a:spcPct val="150000"/>
              </a:lnSpc>
            </a:pPr>
            <a:r>
              <a:rPr lang="zh-CN" altLang="zh-CN"/>
              <a:t>删除数据库用户使用</a:t>
            </a:r>
            <a:r>
              <a:rPr lang="en-US" altLang="zh-CN"/>
              <a:t>DROP USER</a:t>
            </a:r>
            <a:r>
              <a:rPr lang="zh-CN" altLang="zh-CN"/>
              <a:t>语句。语法格式：</a:t>
            </a:r>
            <a:endParaRPr lang="zh-CN" altLang="zh-CN"/>
          </a:p>
          <a:p>
            <a:pPr eaLnBrk="1" hangingPunct="1">
              <a:lnSpc>
                <a:spcPct val="150000"/>
              </a:lnSpc>
            </a:pPr>
            <a:r>
              <a:rPr lang="en-US" altLang="zh-CN"/>
              <a:t>DROP USER </a:t>
            </a:r>
            <a:r>
              <a:rPr lang="zh-CN" altLang="zh-CN"/>
              <a:t>用户名</a:t>
            </a:r>
            <a:endParaRPr lang="zh-CN" altLang="zh-CN"/>
          </a:p>
          <a:p>
            <a:pPr eaLnBrk="1" hangingPunct="1">
              <a:lnSpc>
                <a:spcPct val="150000"/>
              </a:lnSpc>
            </a:pPr>
            <a:r>
              <a:rPr lang="zh-CN" altLang="zh-CN"/>
              <a:t>“用户名”为要删除的数据库用户名，在删除之前要使用</a:t>
            </a:r>
            <a:r>
              <a:rPr lang="en-US" altLang="zh-CN"/>
              <a:t>USE</a:t>
            </a:r>
            <a:r>
              <a:rPr lang="zh-CN" altLang="zh-CN"/>
              <a:t>语句指定数据库。</a:t>
            </a:r>
            <a:endParaRPr lang="zh-CN" altLang="zh-CN"/>
          </a:p>
          <a:p>
            <a:pPr eaLnBrk="1" hangingPunct="1">
              <a:lnSpc>
                <a:spcPct val="150000"/>
              </a:lnSpc>
            </a:pPr>
            <a:r>
              <a:rPr lang="zh-CN" altLang="zh-CN"/>
              <a:t>例如，删除</a:t>
            </a:r>
            <a:r>
              <a:rPr lang="en-US" altLang="zh-CN"/>
              <a:t>pxscj</a:t>
            </a:r>
            <a:r>
              <a:rPr lang="zh-CN" altLang="zh-CN"/>
              <a:t>数据库的数据库用户</a:t>
            </a:r>
            <a:r>
              <a:rPr lang="en-US" altLang="zh-CN"/>
              <a:t>User_sql_tao</a:t>
            </a:r>
            <a:r>
              <a:rPr lang="zh-CN" altLang="zh-CN"/>
              <a:t>。</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DROP USER User_sql_tao</a:t>
            </a:r>
            <a:endParaRPr lang="zh-CN" altLang="zh-CN"/>
          </a:p>
          <a:p>
            <a:pPr eaLnBrk="1" hangingPunct="1"/>
            <a:endParaRPr lang="zh-CN" altLang="en-US"/>
          </a:p>
        </p:txBody>
      </p:sp>
    </p:spTree>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9.3  </a:t>
            </a:r>
            <a:r>
              <a:rPr lang="zh-CN" altLang="zh-CN" dirty="0">
                <a:effectLst/>
              </a:rPr>
              <a:t>角 色 管 理</a:t>
            </a:r>
            <a:endParaRPr lang="zh-CN" altLang="zh-CN" dirty="0">
              <a:effectLst/>
            </a:endParaRPr>
          </a:p>
        </p:txBody>
      </p:sp>
      <p:sp>
        <p:nvSpPr>
          <p:cNvPr id="28675" name="TextBox 2"/>
          <p:cNvSpPr txBox="1">
            <a:spLocks noChangeArrowheads="1"/>
          </p:cNvSpPr>
          <p:nvPr/>
        </p:nvSpPr>
        <p:spPr bwMode="auto">
          <a:xfrm>
            <a:off x="468313" y="1484313"/>
            <a:ext cx="8207375" cy="535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t>9.3.1  </a:t>
            </a:r>
            <a:r>
              <a:rPr lang="zh-CN" altLang="zh-CN" sz="2000" b="1" dirty="0"/>
              <a:t>固定服务器角色</a:t>
            </a:r>
            <a:endParaRPr lang="zh-CN" altLang="zh-CN" sz="2000" b="1" dirty="0"/>
          </a:p>
          <a:p>
            <a:pPr eaLnBrk="1" hangingPunct="1"/>
            <a:r>
              <a:rPr lang="zh-CN" altLang="zh-CN" dirty="0"/>
              <a:t>（</a:t>
            </a:r>
            <a:r>
              <a:rPr lang="en-US" altLang="zh-CN" dirty="0"/>
              <a:t>1</a:t>
            </a:r>
            <a:r>
              <a:rPr lang="zh-CN" altLang="zh-CN" dirty="0"/>
              <a:t>）</a:t>
            </a:r>
            <a:r>
              <a:rPr lang="en-US" altLang="zh-CN" dirty="0" err="1"/>
              <a:t>sysadmin</a:t>
            </a:r>
            <a:r>
              <a:rPr lang="zh-CN" altLang="zh-CN" dirty="0"/>
              <a:t>：系统管理员，角色成员可对</a:t>
            </a:r>
            <a:r>
              <a:rPr lang="en-US" altLang="zh-CN" dirty="0"/>
              <a:t>SQL Server</a:t>
            </a:r>
            <a:r>
              <a:rPr lang="zh-CN" altLang="zh-CN" dirty="0"/>
              <a:t>服务器进行所有的管理工作，为最高管理角色。</a:t>
            </a:r>
            <a:endParaRPr lang="en-US" altLang="zh-CN" dirty="0"/>
          </a:p>
          <a:p>
            <a:pPr eaLnBrk="1" hangingPunct="1"/>
            <a:r>
              <a:rPr lang="zh-CN" altLang="zh-CN" dirty="0"/>
              <a:t>（</a:t>
            </a:r>
            <a:r>
              <a:rPr lang="en-US" altLang="zh-CN" dirty="0"/>
              <a:t>2</a:t>
            </a:r>
            <a:r>
              <a:rPr lang="zh-CN" altLang="zh-CN" dirty="0"/>
              <a:t>）</a:t>
            </a:r>
            <a:r>
              <a:rPr lang="en-US" altLang="zh-CN" dirty="0" err="1"/>
              <a:t>securityadmin</a:t>
            </a:r>
            <a:r>
              <a:rPr lang="zh-CN" altLang="zh-CN" dirty="0"/>
              <a:t>：安全管理员，角色成员可以管理登录名及其属性，可以授予、拒绝、撤销服务器级和数据库级的权限，还可以重置</a:t>
            </a:r>
            <a:r>
              <a:rPr lang="en-US" altLang="zh-CN" dirty="0"/>
              <a:t>SQL Server</a:t>
            </a:r>
            <a:r>
              <a:rPr lang="zh-CN" altLang="zh-CN" dirty="0"/>
              <a:t>登录名的密码。</a:t>
            </a:r>
            <a:endParaRPr lang="zh-CN" altLang="zh-CN" dirty="0"/>
          </a:p>
          <a:p>
            <a:pPr eaLnBrk="1" hangingPunct="1"/>
            <a:r>
              <a:rPr lang="zh-CN" altLang="zh-CN" dirty="0"/>
              <a:t>（</a:t>
            </a:r>
            <a:r>
              <a:rPr lang="en-US" altLang="zh-CN" dirty="0"/>
              <a:t>3</a:t>
            </a:r>
            <a:r>
              <a:rPr lang="zh-CN" altLang="zh-CN" dirty="0"/>
              <a:t>）</a:t>
            </a:r>
            <a:r>
              <a:rPr lang="en-US" altLang="zh-CN" dirty="0" err="1"/>
              <a:t>serveradmin</a:t>
            </a:r>
            <a:r>
              <a:rPr lang="zh-CN" altLang="zh-CN" dirty="0"/>
              <a:t>：服务器管理员，角色成员具有对服务器进行设置及关闭服务器的权限。</a:t>
            </a:r>
            <a:endParaRPr lang="zh-CN" altLang="zh-CN" dirty="0"/>
          </a:p>
          <a:p>
            <a:pPr eaLnBrk="1" hangingPunct="1"/>
            <a:r>
              <a:rPr lang="zh-CN" altLang="zh-CN" dirty="0"/>
              <a:t>（</a:t>
            </a:r>
            <a:r>
              <a:rPr lang="en-US" altLang="zh-CN" dirty="0"/>
              <a:t>4</a:t>
            </a:r>
            <a:r>
              <a:rPr lang="zh-CN" altLang="zh-CN" dirty="0"/>
              <a:t>）</a:t>
            </a:r>
            <a:r>
              <a:rPr lang="en-US" altLang="zh-CN" dirty="0" err="1"/>
              <a:t>setupadmin</a:t>
            </a:r>
            <a:r>
              <a:rPr lang="zh-CN" altLang="zh-CN" dirty="0"/>
              <a:t>：设置管理员，角色成员可以添加和删除链接服务器，并执行某些系统存储过程。</a:t>
            </a:r>
            <a:endParaRPr lang="zh-CN" altLang="zh-CN" dirty="0"/>
          </a:p>
          <a:p>
            <a:pPr eaLnBrk="1" hangingPunct="1"/>
            <a:r>
              <a:rPr lang="zh-CN" altLang="zh-CN" dirty="0"/>
              <a:t>（</a:t>
            </a:r>
            <a:r>
              <a:rPr lang="en-US" altLang="zh-CN" dirty="0"/>
              <a:t>5</a:t>
            </a:r>
            <a:r>
              <a:rPr lang="zh-CN" altLang="zh-CN" dirty="0"/>
              <a:t>）</a:t>
            </a:r>
            <a:r>
              <a:rPr lang="en-US" altLang="zh-CN" dirty="0" err="1"/>
              <a:t>processadmin</a:t>
            </a:r>
            <a:r>
              <a:rPr lang="zh-CN" altLang="zh-CN" dirty="0"/>
              <a:t>：进程管理员，角色成员可以终止</a:t>
            </a:r>
            <a:r>
              <a:rPr lang="en-US" altLang="zh-CN" dirty="0"/>
              <a:t>SQL Server</a:t>
            </a:r>
            <a:r>
              <a:rPr lang="zh-CN" altLang="zh-CN" dirty="0"/>
              <a:t>实例中运行的进程。</a:t>
            </a:r>
            <a:endParaRPr lang="zh-CN" altLang="zh-CN" dirty="0"/>
          </a:p>
          <a:p>
            <a:pPr eaLnBrk="1" hangingPunct="1"/>
            <a:r>
              <a:rPr lang="zh-CN" altLang="zh-CN" dirty="0"/>
              <a:t>（</a:t>
            </a:r>
            <a:r>
              <a:rPr lang="en-US" altLang="zh-CN" dirty="0"/>
              <a:t>6</a:t>
            </a:r>
            <a:r>
              <a:rPr lang="zh-CN" altLang="zh-CN" dirty="0"/>
              <a:t>）</a:t>
            </a:r>
            <a:r>
              <a:rPr lang="en-US" altLang="zh-CN" dirty="0" err="1"/>
              <a:t>diskadmin</a:t>
            </a:r>
            <a:r>
              <a:rPr lang="zh-CN" altLang="zh-CN" dirty="0"/>
              <a:t>：用于管理磁盘文件。</a:t>
            </a:r>
            <a:endParaRPr lang="zh-CN" altLang="zh-CN" dirty="0"/>
          </a:p>
          <a:p>
            <a:pPr eaLnBrk="1" hangingPunct="1"/>
            <a:r>
              <a:rPr lang="zh-CN" altLang="zh-CN" dirty="0"/>
              <a:t>（</a:t>
            </a:r>
            <a:r>
              <a:rPr lang="en-US" altLang="zh-CN" dirty="0"/>
              <a:t>7</a:t>
            </a:r>
            <a:r>
              <a:rPr lang="zh-CN" altLang="zh-CN" dirty="0"/>
              <a:t>）</a:t>
            </a:r>
            <a:r>
              <a:rPr lang="en-US" altLang="zh-CN" dirty="0" err="1"/>
              <a:t>dbcreator</a:t>
            </a:r>
            <a:r>
              <a:rPr lang="zh-CN" altLang="zh-CN" dirty="0"/>
              <a:t>：数据库创建者，角色成员可以创建、更改、删除或还原任何数据库。</a:t>
            </a:r>
            <a:endParaRPr lang="zh-CN" altLang="zh-CN" dirty="0"/>
          </a:p>
          <a:p>
            <a:pPr eaLnBrk="1" hangingPunct="1"/>
            <a:r>
              <a:rPr lang="zh-CN" altLang="zh-CN" dirty="0"/>
              <a:t>（</a:t>
            </a:r>
            <a:r>
              <a:rPr lang="en-US" altLang="zh-CN" dirty="0"/>
              <a:t>8</a:t>
            </a:r>
            <a:r>
              <a:rPr lang="zh-CN" altLang="zh-CN" dirty="0"/>
              <a:t>）</a:t>
            </a:r>
            <a:r>
              <a:rPr lang="en-US" altLang="zh-CN" dirty="0" err="1"/>
              <a:t>bulkadmin</a:t>
            </a:r>
            <a:r>
              <a:rPr lang="zh-CN" altLang="zh-CN" dirty="0"/>
              <a:t>：可执行</a:t>
            </a:r>
            <a:r>
              <a:rPr lang="en-US" altLang="zh-CN" dirty="0"/>
              <a:t>BULK INSERT</a:t>
            </a:r>
            <a:r>
              <a:rPr lang="zh-CN" altLang="zh-CN" dirty="0"/>
              <a:t>语句，但是这些成员对要插入数据的表必须有</a:t>
            </a:r>
            <a:r>
              <a:rPr lang="en-US" altLang="zh-CN" dirty="0"/>
              <a:t>INSERT</a:t>
            </a:r>
            <a:r>
              <a:rPr lang="zh-CN" altLang="zh-CN" dirty="0"/>
              <a:t>权限。</a:t>
            </a:r>
            <a:endParaRPr lang="zh-CN" altLang="zh-CN" dirty="0"/>
          </a:p>
          <a:p>
            <a:pPr eaLnBrk="1" hangingPunct="1"/>
            <a:r>
              <a:rPr lang="zh-CN" altLang="zh-CN" dirty="0"/>
              <a:t>（</a:t>
            </a:r>
            <a:r>
              <a:rPr lang="en-US" altLang="zh-CN" dirty="0"/>
              <a:t>9</a:t>
            </a:r>
            <a:r>
              <a:rPr lang="zh-CN" altLang="zh-CN" dirty="0"/>
              <a:t>）</a:t>
            </a:r>
            <a:r>
              <a:rPr lang="en-US" altLang="zh-CN" dirty="0"/>
              <a:t>public</a:t>
            </a:r>
            <a:r>
              <a:rPr lang="zh-CN" altLang="zh-CN" dirty="0"/>
              <a:t>：其角色成员可以查看任何数据库。</a:t>
            </a:r>
            <a:endParaRPr lang="zh-CN" altLang="zh-CN" dirty="0"/>
          </a:p>
          <a:p>
            <a:pPr eaLnBrk="1" hangingPunct="1"/>
            <a:endParaRPr lang="zh-CN" altLang="en-US" dirty="0"/>
          </a:p>
        </p:txBody>
      </p:sp>
    </p:spTree>
  </p:cSld>
  <p:clrMapOvr>
    <a:masterClrMapping/>
  </p:clrMapOvr>
  <p:transition spd="slow">
    <p:blinds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9.3.1  </a:t>
            </a:r>
            <a:r>
              <a:rPr lang="zh-CN" altLang="zh-CN" dirty="0">
                <a:effectLst/>
              </a:rPr>
              <a:t>固定服务器角色</a:t>
            </a:r>
            <a:endParaRPr lang="zh-CN" altLang="zh-CN" dirty="0">
              <a:effectLst/>
            </a:endParaRPr>
          </a:p>
        </p:txBody>
      </p:sp>
      <p:sp>
        <p:nvSpPr>
          <p:cNvPr id="29699" name="TextBox 2"/>
          <p:cNvSpPr txBox="1">
            <a:spLocks noChangeArrowheads="1"/>
          </p:cNvSpPr>
          <p:nvPr/>
        </p:nvSpPr>
        <p:spPr bwMode="auto">
          <a:xfrm>
            <a:off x="468313" y="1557338"/>
            <a:ext cx="8207375" cy="383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1</a:t>
            </a:r>
            <a:r>
              <a:rPr lang="zh-CN" altLang="zh-CN" b="1">
                <a:solidFill>
                  <a:srgbClr val="C00000"/>
                </a:solidFill>
              </a:rPr>
              <a:t>．界面方式添加服务器角色成员</a:t>
            </a:r>
            <a:endParaRPr lang="zh-CN" altLang="zh-CN" b="1">
              <a:solidFill>
                <a:srgbClr val="C00000"/>
              </a:solidFill>
            </a:endParaRPr>
          </a:p>
          <a:p>
            <a:pPr eaLnBrk="1" hangingPunct="1">
              <a:lnSpc>
                <a:spcPct val="150000"/>
              </a:lnSpc>
            </a:pPr>
            <a:r>
              <a:rPr lang="zh-CN" altLang="zh-CN"/>
              <a:t>（</a:t>
            </a:r>
            <a:r>
              <a:rPr lang="en-US" altLang="zh-CN"/>
              <a:t>1</a:t>
            </a:r>
            <a:r>
              <a:rPr lang="zh-CN" altLang="zh-CN"/>
              <a:t>）以系统管理员身份登录到</a:t>
            </a:r>
            <a:r>
              <a:rPr lang="en-US" altLang="zh-CN"/>
              <a:t>SQL Server</a:t>
            </a:r>
            <a:r>
              <a:rPr lang="zh-CN" altLang="zh-CN"/>
              <a:t>服务器，在“对象资源管理器”中展开“安全性”→“登录名”，选择登录名，如“</a:t>
            </a:r>
            <a:r>
              <a:rPr lang="en-US" altLang="zh-CN"/>
              <a:t>WIN7-20141023IG\tao</a:t>
            </a:r>
            <a:r>
              <a:rPr lang="zh-CN" altLang="zh-CN"/>
              <a:t>”，双击或右击选择“属性”菜单项，打开“登录属性”窗口。</a:t>
            </a:r>
            <a:endParaRPr lang="zh-CN" altLang="zh-CN"/>
          </a:p>
          <a:p>
            <a:pPr eaLnBrk="1" hangingPunct="1">
              <a:lnSpc>
                <a:spcPct val="150000"/>
              </a:lnSpc>
            </a:pPr>
            <a:r>
              <a:rPr lang="zh-CN" altLang="zh-CN"/>
              <a:t>（</a:t>
            </a:r>
            <a:r>
              <a:rPr lang="en-US" altLang="zh-CN"/>
              <a:t>2</a:t>
            </a:r>
            <a:r>
              <a:rPr lang="zh-CN" altLang="zh-CN"/>
              <a:t>）在打开的“登录属性”窗口中选择“服务器角色”选项页，在“登录属性”窗口右边列出了所有的固定服务器角色，用户可以根据需要，在服务器角色前的复选框中打勾，来为登录名添加相应的服务器角色，此处默认已经选择了“</a:t>
            </a:r>
            <a:r>
              <a:rPr lang="en-US" altLang="zh-CN"/>
              <a:t>public</a:t>
            </a:r>
            <a:r>
              <a:rPr lang="zh-CN" altLang="zh-CN"/>
              <a:t>”服务器角色。单击“确定”按钮完成添加。</a:t>
            </a:r>
            <a:endParaRPr lang="zh-CN" altLang="zh-CN"/>
          </a:p>
          <a:p>
            <a:pPr eaLnBrk="1" hangingPunct="1">
              <a:lnSpc>
                <a:spcPct val="150000"/>
              </a:lnSpc>
            </a:pPr>
            <a:endParaRPr lang="zh-CN" altLang="en-US"/>
          </a:p>
        </p:txBody>
      </p:sp>
    </p:spTree>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82638" y="6165850"/>
            <a:ext cx="7848600" cy="3587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755650" y="2924175"/>
            <a:ext cx="7848600" cy="3603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9.3.1  </a:t>
            </a:r>
            <a:r>
              <a:rPr lang="zh-CN" altLang="zh-CN" dirty="0">
                <a:effectLst/>
              </a:rPr>
              <a:t>固定服务器角色</a:t>
            </a:r>
            <a:endParaRPr lang="zh-CN" altLang="en-US" dirty="0"/>
          </a:p>
        </p:txBody>
      </p:sp>
      <p:sp>
        <p:nvSpPr>
          <p:cNvPr id="30725" name="TextBox 2"/>
          <p:cNvSpPr txBox="1">
            <a:spLocks noChangeArrowheads="1"/>
          </p:cNvSpPr>
          <p:nvPr/>
        </p:nvSpPr>
        <p:spPr bwMode="auto">
          <a:xfrm>
            <a:off x="468313" y="1557338"/>
            <a:ext cx="8135937" cy="535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2</a:t>
            </a:r>
            <a:r>
              <a:rPr lang="zh-CN" altLang="zh-CN" b="1">
                <a:solidFill>
                  <a:srgbClr val="C00000"/>
                </a:solidFill>
              </a:rPr>
              <a:t>．利用“系统存储过程”添加固定服务器角色成员</a:t>
            </a:r>
            <a:endParaRPr lang="zh-CN" altLang="zh-CN" b="1">
              <a:solidFill>
                <a:srgbClr val="C00000"/>
              </a:solidFill>
            </a:endParaRPr>
          </a:p>
          <a:p>
            <a:pPr eaLnBrk="1" hangingPunct="1">
              <a:lnSpc>
                <a:spcPct val="150000"/>
              </a:lnSpc>
            </a:pPr>
            <a:r>
              <a:rPr lang="zh-CN" altLang="zh-CN"/>
              <a:t>利用系统存储过程</a:t>
            </a:r>
            <a:r>
              <a:rPr lang="en-US" altLang="zh-CN"/>
              <a:t>sp_addsrvrolemember</a:t>
            </a:r>
            <a:r>
              <a:rPr lang="zh-CN" altLang="zh-CN"/>
              <a:t>可将一登录名添加到某一固定服务器角色中，使其成为固定服务器角色的成员。语法格式：</a:t>
            </a:r>
            <a:endParaRPr lang="zh-CN" altLang="zh-CN"/>
          </a:p>
          <a:p>
            <a:pPr eaLnBrk="1" hangingPunct="1">
              <a:lnSpc>
                <a:spcPct val="150000"/>
              </a:lnSpc>
            </a:pPr>
            <a:r>
              <a:rPr lang="en-US" altLang="zh-CN"/>
              <a:t>sp_addsrvrolemember [ @</a:t>
            </a:r>
            <a:r>
              <a:rPr lang="zh-CN" altLang="zh-CN"/>
              <a:t>登录名</a:t>
            </a:r>
            <a:r>
              <a:rPr lang="en-US" altLang="zh-CN"/>
              <a:t> = ] 'login',  [@</a:t>
            </a:r>
            <a:r>
              <a:rPr lang="zh-CN" altLang="zh-CN"/>
              <a:t>角色名</a:t>
            </a:r>
            <a:r>
              <a:rPr lang="en-US" altLang="zh-CN"/>
              <a:t> =] 'role'</a:t>
            </a:r>
            <a:endParaRPr lang="zh-CN" altLang="zh-CN"/>
          </a:p>
          <a:p>
            <a:pPr eaLnBrk="1" hangingPunct="1">
              <a:lnSpc>
                <a:spcPct val="150000"/>
              </a:lnSpc>
            </a:pPr>
            <a:r>
              <a:rPr lang="zh-CN" altLang="zh-CN"/>
              <a:t>参数含义：</a:t>
            </a:r>
            <a:r>
              <a:rPr lang="en-US" altLang="zh-CN"/>
              <a:t>'login'</a:t>
            </a:r>
            <a:r>
              <a:rPr lang="zh-CN" altLang="zh-CN"/>
              <a:t>指定添加到固定服务器角色</a:t>
            </a:r>
            <a:r>
              <a:rPr lang="en-US" altLang="zh-CN"/>
              <a:t>'role'</a:t>
            </a:r>
            <a:r>
              <a:rPr lang="zh-CN" altLang="zh-CN"/>
              <a:t>的登录名，</a:t>
            </a:r>
            <a:r>
              <a:rPr lang="en-US" altLang="zh-CN"/>
              <a:t>'login'</a:t>
            </a:r>
            <a:r>
              <a:rPr lang="zh-CN" altLang="zh-CN"/>
              <a:t>可以是</a:t>
            </a:r>
            <a:r>
              <a:rPr lang="en-US" altLang="zh-CN"/>
              <a:t>SQL Server</a:t>
            </a:r>
            <a:r>
              <a:rPr lang="zh-CN" altLang="zh-CN"/>
              <a:t>登录名或</a:t>
            </a:r>
            <a:r>
              <a:rPr lang="en-US" altLang="zh-CN"/>
              <a:t>Windows </a:t>
            </a:r>
            <a:r>
              <a:rPr lang="zh-CN" altLang="zh-CN"/>
              <a:t>登录名；对于</a:t>
            </a:r>
            <a:r>
              <a:rPr lang="en-US" altLang="zh-CN"/>
              <a:t>Windows</a:t>
            </a:r>
            <a:r>
              <a:rPr lang="zh-CN" altLang="zh-CN"/>
              <a:t>登录名，如果还没有授予</a:t>
            </a:r>
            <a:r>
              <a:rPr lang="en-US" altLang="zh-CN"/>
              <a:t>SQL Server</a:t>
            </a:r>
            <a:r>
              <a:rPr lang="zh-CN" altLang="zh-CN"/>
              <a:t>访问权限，将自动对其授予访问权限。固定服务器角色名</a:t>
            </a:r>
            <a:r>
              <a:rPr lang="en-US" altLang="zh-CN"/>
              <a:t>'role'</a:t>
            </a:r>
            <a:r>
              <a:rPr lang="zh-CN" altLang="zh-CN"/>
              <a:t>必须为</a:t>
            </a:r>
            <a:r>
              <a:rPr lang="en-US" altLang="zh-CN"/>
              <a:t>sysadmin</a:t>
            </a:r>
            <a:r>
              <a:rPr lang="zh-CN" altLang="zh-CN"/>
              <a:t>、</a:t>
            </a:r>
            <a:r>
              <a:rPr lang="en-US" altLang="zh-CN"/>
              <a:t>securityadmin</a:t>
            </a:r>
            <a:r>
              <a:rPr lang="zh-CN" altLang="zh-CN"/>
              <a:t>、</a:t>
            </a:r>
            <a:r>
              <a:rPr lang="en-US" altLang="zh-CN"/>
              <a:t>serveradmin</a:t>
            </a:r>
            <a:r>
              <a:rPr lang="zh-CN" altLang="zh-CN"/>
              <a:t>、</a:t>
            </a:r>
            <a:r>
              <a:rPr lang="en-US" altLang="zh-CN"/>
              <a:t>setupadmin</a:t>
            </a:r>
            <a:r>
              <a:rPr lang="zh-CN" altLang="zh-CN"/>
              <a:t>、</a:t>
            </a:r>
            <a:r>
              <a:rPr lang="en-US" altLang="zh-CN"/>
              <a:t>processadmin</a:t>
            </a:r>
            <a:r>
              <a:rPr lang="zh-CN" altLang="zh-CN"/>
              <a:t>、</a:t>
            </a:r>
            <a:r>
              <a:rPr lang="en-US" altLang="zh-CN"/>
              <a:t>diskadmin</a:t>
            </a:r>
            <a:r>
              <a:rPr lang="zh-CN" altLang="zh-CN"/>
              <a:t>、</a:t>
            </a:r>
            <a:r>
              <a:rPr lang="en-US" altLang="zh-CN"/>
              <a:t>dbcreator</a:t>
            </a:r>
            <a:r>
              <a:rPr lang="zh-CN" altLang="zh-CN"/>
              <a:t>、</a:t>
            </a:r>
            <a:r>
              <a:rPr lang="en-US" altLang="zh-CN"/>
              <a:t>bulkadmin</a:t>
            </a:r>
            <a:r>
              <a:rPr lang="zh-CN" altLang="zh-CN"/>
              <a:t>和</a:t>
            </a:r>
            <a:r>
              <a:rPr lang="en-US" altLang="zh-CN"/>
              <a:t>public</a:t>
            </a:r>
            <a:r>
              <a:rPr lang="zh-CN" altLang="zh-CN"/>
              <a:t>之一。</a:t>
            </a:r>
            <a:endParaRPr lang="zh-CN" altLang="zh-CN"/>
          </a:p>
          <a:p>
            <a:pPr eaLnBrk="1" hangingPunct="1">
              <a:lnSpc>
                <a:spcPct val="150000"/>
              </a:lnSpc>
            </a:pPr>
            <a:r>
              <a:rPr lang="zh-CN" altLang="zh-CN"/>
              <a:t>【例</a:t>
            </a:r>
            <a:r>
              <a:rPr lang="en-US" altLang="zh-CN"/>
              <a:t>9.4</a:t>
            </a:r>
            <a:r>
              <a:rPr lang="zh-CN" altLang="zh-CN"/>
              <a:t>】 将</a:t>
            </a:r>
            <a:r>
              <a:rPr lang="en-US" altLang="zh-CN"/>
              <a:t>Windows</a:t>
            </a:r>
            <a:r>
              <a:rPr lang="zh-CN" altLang="zh-CN"/>
              <a:t>登录名</a:t>
            </a:r>
            <a:r>
              <a:rPr lang="en-US" altLang="zh-CN"/>
              <a:t>WIN7-20141023IG\tao</a:t>
            </a:r>
            <a:r>
              <a:rPr lang="zh-CN" altLang="zh-CN"/>
              <a:t>添加到</a:t>
            </a:r>
            <a:r>
              <a:rPr lang="en-US" altLang="zh-CN"/>
              <a:t>sysadmin</a:t>
            </a:r>
            <a:r>
              <a:rPr lang="zh-CN" altLang="zh-CN"/>
              <a:t>固定服务器角色中。</a:t>
            </a:r>
            <a:endParaRPr lang="zh-CN" altLang="zh-CN"/>
          </a:p>
          <a:p>
            <a:pPr eaLnBrk="1" hangingPunct="1">
              <a:lnSpc>
                <a:spcPct val="150000"/>
              </a:lnSpc>
            </a:pPr>
            <a:r>
              <a:rPr lang="en-US" altLang="zh-CN"/>
              <a:t>EXEC sp_addsrvrolemember ' WIN7-20141023IG\tao', 'sysadmin'</a:t>
            </a:r>
            <a:endParaRPr lang="zh-CN" altLang="zh-CN"/>
          </a:p>
          <a:p>
            <a:pPr eaLnBrk="1" hangingPunct="1"/>
            <a:endParaRPr lang="zh-CN" altLang="en-US"/>
          </a:p>
        </p:txBody>
      </p:sp>
    </p:spTree>
  </p:cSld>
  <p:clrMapOvr>
    <a:masterClrMapping/>
  </p:clrMapOvr>
  <p:transition spd="slow">
    <p:blinds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4508500"/>
            <a:ext cx="7775575"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852738"/>
            <a:ext cx="7775575"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9.3.1  </a:t>
            </a:r>
            <a:r>
              <a:rPr lang="zh-CN" altLang="zh-CN" dirty="0">
                <a:effectLst/>
              </a:rPr>
              <a:t>固定服务器角色</a:t>
            </a:r>
            <a:endParaRPr lang="zh-CN" altLang="en-US" dirty="0"/>
          </a:p>
        </p:txBody>
      </p:sp>
      <p:sp>
        <p:nvSpPr>
          <p:cNvPr id="31749" name="TextBox 2"/>
          <p:cNvSpPr txBox="1">
            <a:spLocks noChangeArrowheads="1"/>
          </p:cNvSpPr>
          <p:nvPr/>
        </p:nvSpPr>
        <p:spPr bwMode="auto">
          <a:xfrm>
            <a:off x="468313" y="1484313"/>
            <a:ext cx="8207375" cy="383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3</a:t>
            </a:r>
            <a:r>
              <a:rPr lang="zh-CN" altLang="zh-CN" b="1">
                <a:solidFill>
                  <a:srgbClr val="C00000"/>
                </a:solidFill>
              </a:rPr>
              <a:t>．利用“系统存储过程”删除固定服务器角色成员</a:t>
            </a:r>
            <a:endParaRPr lang="zh-CN" altLang="zh-CN" b="1">
              <a:solidFill>
                <a:srgbClr val="C00000"/>
              </a:solidFill>
            </a:endParaRPr>
          </a:p>
          <a:p>
            <a:pPr eaLnBrk="1" hangingPunct="1">
              <a:lnSpc>
                <a:spcPct val="150000"/>
              </a:lnSpc>
            </a:pPr>
            <a:r>
              <a:rPr lang="zh-CN" altLang="zh-CN"/>
              <a:t>利用</a:t>
            </a:r>
            <a:r>
              <a:rPr lang="en-US" altLang="zh-CN"/>
              <a:t>sp_dropsrvrolemember</a:t>
            </a:r>
            <a:r>
              <a:rPr lang="zh-CN" altLang="zh-CN"/>
              <a:t>系统存储过程可从固定服务器角色中删除</a:t>
            </a:r>
            <a:r>
              <a:rPr lang="en-US" altLang="zh-CN"/>
              <a:t>SQL Server </a:t>
            </a:r>
            <a:r>
              <a:rPr lang="zh-CN" altLang="zh-CN"/>
              <a:t>登录名或</a:t>
            </a:r>
            <a:r>
              <a:rPr lang="en-US" altLang="zh-CN"/>
              <a:t>Windows</a:t>
            </a:r>
            <a:r>
              <a:rPr lang="zh-CN" altLang="zh-CN"/>
              <a:t>登录名。语法格式：</a:t>
            </a:r>
            <a:endParaRPr lang="zh-CN" altLang="zh-CN"/>
          </a:p>
          <a:p>
            <a:pPr eaLnBrk="1" hangingPunct="1">
              <a:lnSpc>
                <a:spcPct val="150000"/>
              </a:lnSpc>
            </a:pPr>
            <a:r>
              <a:rPr lang="en-US" altLang="zh-CN"/>
              <a:t>sp_dropsrvrolemember [ @</a:t>
            </a:r>
            <a:r>
              <a:rPr lang="zh-CN" altLang="zh-CN"/>
              <a:t>登录名</a:t>
            </a:r>
            <a:r>
              <a:rPr lang="en-US" altLang="zh-CN"/>
              <a:t> = ] 'login' , [ @</a:t>
            </a:r>
            <a:r>
              <a:rPr lang="zh-CN" altLang="zh-CN"/>
              <a:t>角色名</a:t>
            </a:r>
            <a:r>
              <a:rPr lang="en-US" altLang="zh-CN"/>
              <a:t> = ] 'role'</a:t>
            </a:r>
            <a:endParaRPr lang="zh-CN" altLang="zh-CN"/>
          </a:p>
          <a:p>
            <a:pPr eaLnBrk="1" hangingPunct="1">
              <a:lnSpc>
                <a:spcPct val="150000"/>
              </a:lnSpc>
            </a:pPr>
            <a:r>
              <a:rPr lang="zh-CN" altLang="zh-CN"/>
              <a:t>参数含义：</a:t>
            </a:r>
            <a:r>
              <a:rPr lang="en-US" altLang="zh-CN"/>
              <a:t>'login'</a:t>
            </a:r>
            <a:r>
              <a:rPr lang="zh-CN" altLang="zh-CN"/>
              <a:t>为将要从固定服务器角色删除的登录名。</a:t>
            </a:r>
            <a:r>
              <a:rPr lang="en-US" altLang="zh-CN"/>
              <a:t>'role'</a:t>
            </a:r>
            <a:r>
              <a:rPr lang="zh-CN" altLang="zh-CN"/>
              <a:t>为服务器角色名，默认值为</a:t>
            </a:r>
            <a:r>
              <a:rPr lang="en-US" altLang="zh-CN"/>
              <a:t>NULL</a:t>
            </a:r>
            <a:r>
              <a:rPr lang="zh-CN" altLang="zh-CN"/>
              <a:t>，必须是有效的固定服务器角色名。</a:t>
            </a:r>
            <a:endParaRPr lang="zh-CN" altLang="zh-CN"/>
          </a:p>
          <a:p>
            <a:pPr eaLnBrk="1" hangingPunct="1">
              <a:lnSpc>
                <a:spcPct val="150000"/>
              </a:lnSpc>
            </a:pPr>
            <a:r>
              <a:rPr lang="zh-CN" altLang="zh-CN"/>
              <a:t>【例</a:t>
            </a:r>
            <a:r>
              <a:rPr lang="en-US" altLang="zh-CN"/>
              <a:t>9.5</a:t>
            </a:r>
            <a:r>
              <a:rPr lang="zh-CN" altLang="zh-CN"/>
              <a:t>】 从</a:t>
            </a:r>
            <a:r>
              <a:rPr lang="en-US" altLang="zh-CN"/>
              <a:t>sysadmin</a:t>
            </a:r>
            <a:r>
              <a:rPr lang="zh-CN" altLang="zh-CN"/>
              <a:t>固定服务器角色中删除</a:t>
            </a:r>
            <a:r>
              <a:rPr lang="en-US" altLang="zh-CN"/>
              <a:t>SQL Server</a:t>
            </a:r>
            <a:r>
              <a:rPr lang="zh-CN" altLang="zh-CN"/>
              <a:t>登录名</a:t>
            </a:r>
            <a:r>
              <a:rPr lang="en-US" altLang="zh-CN"/>
              <a:t>sql_tao</a:t>
            </a:r>
            <a:r>
              <a:rPr lang="zh-CN" altLang="zh-CN"/>
              <a:t>。</a:t>
            </a:r>
            <a:endParaRPr lang="zh-CN" altLang="zh-CN"/>
          </a:p>
          <a:p>
            <a:pPr eaLnBrk="1" hangingPunct="1">
              <a:lnSpc>
                <a:spcPct val="150000"/>
              </a:lnSpc>
            </a:pPr>
            <a:r>
              <a:rPr lang="en-US" altLang="zh-CN"/>
              <a:t>EXEC sp_dropsrvrolemember 'sql_tao', 'sysadmin'</a:t>
            </a:r>
            <a:endParaRPr lang="zh-CN" altLang="zh-CN"/>
          </a:p>
          <a:p>
            <a:pPr eaLnBrk="1" hangingPunct="1">
              <a:lnSpc>
                <a:spcPct val="150000"/>
              </a:lnSpc>
            </a:pPr>
            <a:endParaRPr lang="zh-CN" altLang="en-US"/>
          </a:p>
        </p:txBody>
      </p:sp>
    </p:spTree>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9.3.2  </a:t>
            </a:r>
            <a:r>
              <a:rPr lang="zh-CN" altLang="zh-CN" dirty="0">
                <a:effectLst/>
              </a:rPr>
              <a:t>固定数据库角色</a:t>
            </a:r>
            <a:endParaRPr lang="zh-CN" altLang="zh-CN" dirty="0">
              <a:effectLst/>
            </a:endParaRPr>
          </a:p>
        </p:txBody>
      </p:sp>
      <p:sp>
        <p:nvSpPr>
          <p:cNvPr id="32771" name="TextBox 2"/>
          <p:cNvSpPr txBox="1">
            <a:spLocks noChangeArrowheads="1"/>
          </p:cNvSpPr>
          <p:nvPr/>
        </p:nvSpPr>
        <p:spPr bwMode="auto">
          <a:xfrm>
            <a:off x="468313" y="1341438"/>
            <a:ext cx="8280400" cy="503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a:t>（</a:t>
            </a:r>
            <a:r>
              <a:rPr lang="en-US" altLang="zh-CN"/>
              <a:t>1</a:t>
            </a:r>
            <a:r>
              <a:rPr lang="zh-CN" altLang="zh-CN"/>
              <a:t>）</a:t>
            </a:r>
            <a:r>
              <a:rPr lang="en-US" altLang="zh-CN"/>
              <a:t>db_owner</a:t>
            </a:r>
            <a:r>
              <a:rPr lang="zh-CN" altLang="zh-CN"/>
              <a:t>：数据库所有者，这个数据库角色的成员可执行数据库的所有管理操作。</a:t>
            </a:r>
            <a:endParaRPr lang="zh-CN" altLang="zh-CN"/>
          </a:p>
          <a:p>
            <a:pPr eaLnBrk="1" hangingPunct="1">
              <a:lnSpc>
                <a:spcPct val="150000"/>
              </a:lnSpc>
            </a:pPr>
            <a:r>
              <a:rPr lang="zh-CN" altLang="zh-CN"/>
              <a:t>（</a:t>
            </a:r>
            <a:r>
              <a:rPr lang="en-US" altLang="zh-CN"/>
              <a:t>2</a:t>
            </a:r>
            <a:r>
              <a:rPr lang="zh-CN" altLang="zh-CN"/>
              <a:t>）</a:t>
            </a:r>
            <a:r>
              <a:rPr lang="en-US" altLang="zh-CN"/>
              <a:t>db_accessadmin</a:t>
            </a:r>
            <a:r>
              <a:rPr lang="zh-CN" altLang="zh-CN"/>
              <a:t>：数据库访问权限管理者，角色成员具有添加、删除数据库使用者、数据库角色和组的权限。</a:t>
            </a:r>
            <a:endParaRPr lang="zh-CN" altLang="zh-CN"/>
          </a:p>
          <a:p>
            <a:pPr eaLnBrk="1" hangingPunct="1">
              <a:lnSpc>
                <a:spcPct val="150000"/>
              </a:lnSpc>
            </a:pPr>
            <a:r>
              <a:rPr lang="zh-CN" altLang="zh-CN"/>
              <a:t>（</a:t>
            </a:r>
            <a:r>
              <a:rPr lang="en-US" altLang="zh-CN"/>
              <a:t>3</a:t>
            </a:r>
            <a:r>
              <a:rPr lang="zh-CN" altLang="zh-CN"/>
              <a:t>）</a:t>
            </a:r>
            <a:r>
              <a:rPr lang="en-US" altLang="zh-CN"/>
              <a:t>db_securityadmin</a:t>
            </a:r>
            <a:r>
              <a:rPr lang="zh-CN" altLang="zh-CN"/>
              <a:t>：数据库安全管理员，角色成员可管理数据库中的权限，如设置数据库表的增加、删除、修改和查询等存取权限。</a:t>
            </a:r>
            <a:endParaRPr lang="zh-CN" altLang="zh-CN"/>
          </a:p>
          <a:p>
            <a:pPr eaLnBrk="1" hangingPunct="1">
              <a:lnSpc>
                <a:spcPct val="150000"/>
              </a:lnSpc>
            </a:pPr>
            <a:r>
              <a:rPr lang="zh-CN" altLang="zh-CN"/>
              <a:t>（</a:t>
            </a:r>
            <a:r>
              <a:rPr lang="en-US" altLang="zh-CN"/>
              <a:t>4</a:t>
            </a:r>
            <a:r>
              <a:rPr lang="zh-CN" altLang="zh-CN"/>
              <a:t>）</a:t>
            </a:r>
            <a:r>
              <a:rPr lang="en-US" altLang="zh-CN"/>
              <a:t>db_ddladmin</a:t>
            </a:r>
            <a:r>
              <a:rPr lang="zh-CN" altLang="zh-CN"/>
              <a:t>：数据库</a:t>
            </a:r>
            <a:r>
              <a:rPr lang="en-US" altLang="zh-CN"/>
              <a:t>DDL</a:t>
            </a:r>
            <a:r>
              <a:rPr lang="zh-CN" altLang="zh-CN"/>
              <a:t>管理员，角色成员可增加、修改或删除数据库中的对象。</a:t>
            </a:r>
            <a:endParaRPr lang="zh-CN" altLang="zh-CN"/>
          </a:p>
          <a:p>
            <a:pPr eaLnBrk="1" hangingPunct="1">
              <a:lnSpc>
                <a:spcPct val="150000"/>
              </a:lnSpc>
            </a:pPr>
            <a:r>
              <a:rPr lang="zh-CN" altLang="zh-CN"/>
              <a:t>（</a:t>
            </a:r>
            <a:r>
              <a:rPr lang="en-US" altLang="zh-CN"/>
              <a:t>5</a:t>
            </a:r>
            <a:r>
              <a:rPr lang="zh-CN" altLang="zh-CN"/>
              <a:t>）</a:t>
            </a:r>
            <a:r>
              <a:rPr lang="en-US" altLang="zh-CN"/>
              <a:t>db_backupoperator</a:t>
            </a:r>
            <a:r>
              <a:rPr lang="zh-CN" altLang="zh-CN"/>
              <a:t>：数据库备份操作员，角色成员具有执行数据库备份的权限。</a:t>
            </a:r>
            <a:endParaRPr lang="zh-CN" altLang="zh-CN"/>
          </a:p>
          <a:p>
            <a:pPr eaLnBrk="1" hangingPunct="1">
              <a:lnSpc>
                <a:spcPct val="150000"/>
              </a:lnSpc>
            </a:pPr>
            <a:r>
              <a:rPr lang="zh-CN" altLang="zh-CN"/>
              <a:t>（</a:t>
            </a:r>
            <a:r>
              <a:rPr lang="en-US" altLang="zh-CN"/>
              <a:t>6</a:t>
            </a:r>
            <a:r>
              <a:rPr lang="zh-CN" altLang="zh-CN"/>
              <a:t>）</a:t>
            </a:r>
            <a:r>
              <a:rPr lang="en-US" altLang="zh-CN"/>
              <a:t>db_datareader</a:t>
            </a:r>
            <a:r>
              <a:rPr lang="zh-CN" altLang="zh-CN"/>
              <a:t>：数据库数据读取者，角色成员可以从所有用户表中读取数据。</a:t>
            </a:r>
            <a:endParaRPr lang="zh-CN" altLang="zh-CN"/>
          </a:p>
        </p:txBody>
      </p:sp>
    </p:spTree>
  </p:cSld>
  <p:clrMapOvr>
    <a:masterClrMapping/>
  </p:clrMapOvr>
  <p:transition spd="slow">
    <p:blinds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9.3.2  </a:t>
            </a:r>
            <a:r>
              <a:rPr lang="zh-CN" altLang="zh-CN" dirty="0">
                <a:effectLst/>
              </a:rPr>
              <a:t>固定数据库角色</a:t>
            </a:r>
            <a:endParaRPr lang="zh-CN" altLang="en-US" dirty="0"/>
          </a:p>
        </p:txBody>
      </p:sp>
      <p:sp>
        <p:nvSpPr>
          <p:cNvPr id="3" name="TextBox 2"/>
          <p:cNvSpPr txBox="1"/>
          <p:nvPr/>
        </p:nvSpPr>
        <p:spPr>
          <a:xfrm>
            <a:off x="539750" y="1484313"/>
            <a:ext cx="8135938" cy="4248150"/>
          </a:xfrm>
          <a:prstGeom prst="rect">
            <a:avLst/>
          </a:prstGeom>
          <a:noFill/>
        </p:spPr>
        <p:txBody>
          <a:bodyPr>
            <a:spAutoFit/>
          </a:bodyPr>
          <a:lstStyle/>
          <a:p>
            <a:pPr indent="450850" fontAlgn="auto">
              <a:lnSpc>
                <a:spcPct val="150000"/>
              </a:lnSpc>
              <a:spcBef>
                <a:spcPts val="0"/>
              </a:spcBef>
              <a:spcAft>
                <a:spcPts val="0"/>
              </a:spcAft>
              <a:defRPr/>
            </a:pPr>
            <a:r>
              <a:rPr lang="zh-CN" altLang="zh-CN" dirty="0">
                <a:latin typeface="+mn-lt"/>
                <a:ea typeface="+mn-ea"/>
              </a:rPr>
              <a:t>（</a:t>
            </a:r>
            <a:r>
              <a:rPr lang="en-US" altLang="zh-CN" dirty="0">
                <a:latin typeface="+mn-lt"/>
                <a:ea typeface="+mn-ea"/>
              </a:rPr>
              <a:t>7</a:t>
            </a:r>
            <a:r>
              <a:rPr lang="zh-CN" altLang="zh-CN" dirty="0">
                <a:latin typeface="+mn-lt"/>
                <a:ea typeface="+mn-ea"/>
              </a:rPr>
              <a:t>）</a:t>
            </a:r>
            <a:r>
              <a:rPr lang="en-US" altLang="zh-CN" dirty="0" err="1">
                <a:latin typeface="+mn-lt"/>
                <a:ea typeface="+mn-ea"/>
              </a:rPr>
              <a:t>db_datawriter</a:t>
            </a:r>
            <a:r>
              <a:rPr lang="zh-CN" altLang="zh-CN" dirty="0">
                <a:latin typeface="+mn-lt"/>
                <a:ea typeface="+mn-ea"/>
              </a:rPr>
              <a:t>：数据库数据写入者，角色成员具有对所有用户表进行增加、删除、修改的权限。</a:t>
            </a:r>
            <a:endParaRPr lang="zh-CN" altLang="zh-CN" dirty="0">
              <a:latin typeface="+mn-lt"/>
              <a:ea typeface="+mn-ea"/>
            </a:endParaRPr>
          </a:p>
          <a:p>
            <a:pPr indent="450850" fontAlgn="auto">
              <a:lnSpc>
                <a:spcPct val="150000"/>
              </a:lnSpc>
              <a:spcBef>
                <a:spcPts val="0"/>
              </a:spcBef>
              <a:spcAft>
                <a:spcPts val="0"/>
              </a:spcAft>
              <a:defRPr/>
            </a:pPr>
            <a:r>
              <a:rPr lang="zh-CN" altLang="zh-CN" dirty="0">
                <a:latin typeface="+mn-lt"/>
                <a:ea typeface="+mn-ea"/>
              </a:rPr>
              <a:t>（</a:t>
            </a:r>
            <a:r>
              <a:rPr lang="en-US" altLang="zh-CN" dirty="0">
                <a:latin typeface="+mn-lt"/>
                <a:ea typeface="+mn-ea"/>
              </a:rPr>
              <a:t>8</a:t>
            </a:r>
            <a:r>
              <a:rPr lang="zh-CN" altLang="zh-CN" dirty="0">
                <a:latin typeface="+mn-lt"/>
                <a:ea typeface="+mn-ea"/>
              </a:rPr>
              <a:t>）</a:t>
            </a:r>
            <a:r>
              <a:rPr lang="en-US" altLang="zh-CN" dirty="0" err="1">
                <a:latin typeface="+mn-lt"/>
                <a:ea typeface="+mn-ea"/>
              </a:rPr>
              <a:t>db_denydatareader</a:t>
            </a:r>
            <a:r>
              <a:rPr lang="zh-CN" altLang="zh-CN" dirty="0">
                <a:latin typeface="+mn-lt"/>
                <a:ea typeface="+mn-ea"/>
              </a:rPr>
              <a:t>：数据库拒绝数据读取者，角色成员不能读取数据库中任何表的内容。</a:t>
            </a:r>
            <a:endParaRPr lang="zh-CN" altLang="zh-CN" dirty="0">
              <a:latin typeface="+mn-lt"/>
              <a:ea typeface="+mn-ea"/>
            </a:endParaRPr>
          </a:p>
          <a:p>
            <a:pPr indent="450850" fontAlgn="auto">
              <a:lnSpc>
                <a:spcPct val="150000"/>
              </a:lnSpc>
              <a:spcBef>
                <a:spcPts val="0"/>
              </a:spcBef>
              <a:spcAft>
                <a:spcPts val="0"/>
              </a:spcAft>
              <a:defRPr/>
            </a:pPr>
            <a:r>
              <a:rPr lang="zh-CN" altLang="zh-CN" dirty="0">
                <a:latin typeface="+mn-lt"/>
                <a:ea typeface="+mn-ea"/>
              </a:rPr>
              <a:t>（</a:t>
            </a:r>
            <a:r>
              <a:rPr lang="en-US" altLang="zh-CN" dirty="0">
                <a:latin typeface="+mn-lt"/>
                <a:ea typeface="+mn-ea"/>
              </a:rPr>
              <a:t>9</a:t>
            </a:r>
            <a:r>
              <a:rPr lang="zh-CN" altLang="zh-CN" dirty="0">
                <a:latin typeface="+mn-lt"/>
                <a:ea typeface="+mn-ea"/>
              </a:rPr>
              <a:t>）</a:t>
            </a:r>
            <a:r>
              <a:rPr lang="en-US" altLang="zh-CN" dirty="0" err="1">
                <a:latin typeface="+mn-lt"/>
                <a:ea typeface="+mn-ea"/>
              </a:rPr>
              <a:t>db_denydatawriter</a:t>
            </a:r>
            <a:r>
              <a:rPr lang="zh-CN" altLang="zh-CN" dirty="0">
                <a:latin typeface="+mn-lt"/>
                <a:ea typeface="+mn-ea"/>
              </a:rPr>
              <a:t>：数据库拒绝数据写入者，角色成员不能对任何表进行增加、删除、修改操作。</a:t>
            </a:r>
            <a:endParaRPr lang="zh-CN" altLang="zh-CN" dirty="0">
              <a:latin typeface="+mn-lt"/>
              <a:ea typeface="+mn-ea"/>
            </a:endParaRPr>
          </a:p>
          <a:p>
            <a:pPr indent="450850" fontAlgn="auto">
              <a:lnSpc>
                <a:spcPct val="150000"/>
              </a:lnSpc>
              <a:spcBef>
                <a:spcPts val="0"/>
              </a:spcBef>
              <a:spcAft>
                <a:spcPts val="0"/>
              </a:spcAft>
              <a:defRPr/>
            </a:pPr>
            <a:r>
              <a:rPr lang="zh-CN" altLang="zh-CN" dirty="0">
                <a:latin typeface="+mn-lt"/>
                <a:ea typeface="+mn-ea"/>
              </a:rPr>
              <a:t>（</a:t>
            </a:r>
            <a:r>
              <a:rPr lang="en-US" altLang="zh-CN" dirty="0">
                <a:latin typeface="+mn-lt"/>
                <a:ea typeface="+mn-ea"/>
              </a:rPr>
              <a:t>10</a:t>
            </a:r>
            <a:r>
              <a:rPr lang="zh-CN" altLang="zh-CN" dirty="0">
                <a:latin typeface="+mn-lt"/>
                <a:ea typeface="+mn-ea"/>
              </a:rPr>
              <a:t>）</a:t>
            </a:r>
            <a:r>
              <a:rPr lang="en-US" altLang="zh-CN" dirty="0">
                <a:latin typeface="+mn-lt"/>
                <a:ea typeface="+mn-ea"/>
              </a:rPr>
              <a:t>public</a:t>
            </a:r>
            <a:r>
              <a:rPr lang="zh-CN" altLang="zh-CN" dirty="0">
                <a:latin typeface="+mn-lt"/>
                <a:ea typeface="+mn-ea"/>
              </a:rPr>
              <a:t>：一个特殊的数据库角色，每个数据库用户都是</a:t>
            </a:r>
            <a:r>
              <a:rPr lang="en-US" altLang="zh-CN" dirty="0">
                <a:latin typeface="+mn-lt"/>
                <a:ea typeface="+mn-ea"/>
              </a:rPr>
              <a:t>public</a:t>
            </a:r>
            <a:r>
              <a:rPr lang="zh-CN" altLang="zh-CN" dirty="0">
                <a:latin typeface="+mn-lt"/>
                <a:ea typeface="+mn-ea"/>
              </a:rPr>
              <a:t>角色的成员，因此不能将用户、组或角色指派为</a:t>
            </a:r>
            <a:r>
              <a:rPr lang="en-US" altLang="zh-CN" dirty="0">
                <a:latin typeface="+mn-lt"/>
                <a:ea typeface="+mn-ea"/>
              </a:rPr>
              <a:t>public</a:t>
            </a:r>
            <a:r>
              <a:rPr lang="zh-CN" altLang="zh-CN" dirty="0">
                <a:latin typeface="+mn-lt"/>
                <a:ea typeface="+mn-ea"/>
              </a:rPr>
              <a:t>角色的成员，也不能删除</a:t>
            </a:r>
            <a:r>
              <a:rPr lang="en-US" altLang="zh-CN" dirty="0">
                <a:latin typeface="+mn-lt"/>
                <a:ea typeface="+mn-ea"/>
              </a:rPr>
              <a:t>public</a:t>
            </a:r>
            <a:r>
              <a:rPr lang="zh-CN" altLang="zh-CN" dirty="0">
                <a:latin typeface="+mn-lt"/>
                <a:ea typeface="+mn-ea"/>
              </a:rPr>
              <a:t>角色的成员。</a:t>
            </a:r>
            <a:endParaRPr lang="zh-CN" altLang="en-US" dirty="0">
              <a:latin typeface="+mn-lt"/>
              <a:ea typeface="+mn-ea"/>
            </a:endParaRPr>
          </a:p>
          <a:p>
            <a:pPr fontAlgn="auto">
              <a:lnSpc>
                <a:spcPct val="150000"/>
              </a:lnSpc>
              <a:spcBef>
                <a:spcPts val="0"/>
              </a:spcBef>
              <a:spcAft>
                <a:spcPts val="0"/>
              </a:spcAft>
              <a:defRPr/>
            </a:pPr>
            <a:endParaRPr lang="zh-CN" altLang="en-US" dirty="0">
              <a:latin typeface="+mn-lt"/>
              <a:ea typeface="+mn-ea"/>
            </a:endParaRPr>
          </a:p>
        </p:txBody>
      </p:sp>
    </p:spTree>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9.3.2  </a:t>
            </a:r>
            <a:r>
              <a:rPr lang="zh-CN" altLang="zh-CN" dirty="0">
                <a:effectLst/>
              </a:rPr>
              <a:t>固定数据库角色</a:t>
            </a:r>
            <a:endParaRPr lang="zh-CN" altLang="en-US" dirty="0"/>
          </a:p>
        </p:txBody>
      </p:sp>
      <p:sp>
        <p:nvSpPr>
          <p:cNvPr id="34819" name="TextBox 2"/>
          <p:cNvSpPr txBox="1">
            <a:spLocks noChangeArrowheads="1"/>
          </p:cNvSpPr>
          <p:nvPr/>
        </p:nvSpPr>
        <p:spPr bwMode="auto">
          <a:xfrm>
            <a:off x="468313" y="1484313"/>
            <a:ext cx="8207375" cy="545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1</a:t>
            </a:r>
            <a:r>
              <a:rPr lang="zh-CN" altLang="zh-CN" b="1">
                <a:solidFill>
                  <a:srgbClr val="C00000"/>
                </a:solidFill>
              </a:rPr>
              <a:t>．界面方式添加固定数据库角色成员</a:t>
            </a:r>
            <a:endParaRPr lang="zh-CN" altLang="zh-CN" b="1">
              <a:solidFill>
                <a:srgbClr val="C00000"/>
              </a:solidFill>
            </a:endParaRPr>
          </a:p>
          <a:p>
            <a:pPr eaLnBrk="1" hangingPunct="1">
              <a:lnSpc>
                <a:spcPct val="150000"/>
              </a:lnSpc>
            </a:pPr>
            <a:r>
              <a:rPr lang="zh-CN" altLang="zh-CN"/>
              <a:t>（</a:t>
            </a:r>
            <a:r>
              <a:rPr lang="en-US" altLang="zh-CN"/>
              <a:t>1</a:t>
            </a:r>
            <a:r>
              <a:rPr lang="zh-CN" altLang="zh-CN"/>
              <a:t>）以系统管理员身份登录到</a:t>
            </a:r>
            <a:r>
              <a:rPr lang="en-US" altLang="zh-CN"/>
              <a:t>SQL Server</a:t>
            </a:r>
            <a:r>
              <a:rPr lang="zh-CN" altLang="zh-CN"/>
              <a:t>服务器，在“对象资源管理器”中展开“数据库”→“</a:t>
            </a:r>
            <a:r>
              <a:rPr lang="en-US" altLang="zh-CN"/>
              <a:t>pxscj</a:t>
            </a:r>
            <a:r>
              <a:rPr lang="zh-CN" altLang="zh-CN"/>
              <a:t>”→“安全性”→“用户”，选择一个数据库用户，如“</a:t>
            </a:r>
            <a:r>
              <a:rPr lang="en-US" altLang="zh-CN"/>
              <a:t>User_tao</a:t>
            </a:r>
            <a:r>
              <a:rPr lang="zh-CN" altLang="zh-CN"/>
              <a:t>”，双击或单击鼠标右键选择“属性”菜单项，打开“数据库用户”窗口。</a:t>
            </a:r>
            <a:endParaRPr lang="zh-CN" altLang="zh-CN"/>
          </a:p>
          <a:p>
            <a:pPr eaLnBrk="1" hangingPunct="1">
              <a:lnSpc>
                <a:spcPct val="150000"/>
              </a:lnSpc>
            </a:pPr>
            <a:r>
              <a:rPr lang="zh-CN" altLang="zh-CN"/>
              <a:t>（</a:t>
            </a:r>
            <a:r>
              <a:rPr lang="en-US" altLang="zh-CN"/>
              <a:t>2</a:t>
            </a:r>
            <a:r>
              <a:rPr lang="zh-CN" altLang="zh-CN"/>
              <a:t>）在打开的窗口中，在“常规”选项页中的“数据库角色成员身份”栏，用户可以根据需要，在数据库角色前的复选框中打勾，为数据库用户添加相应的数据库角色，单击“确定”按钮完成添加。</a:t>
            </a:r>
            <a:endParaRPr lang="zh-CN" altLang="zh-CN"/>
          </a:p>
          <a:p>
            <a:pPr eaLnBrk="1" hangingPunct="1">
              <a:lnSpc>
                <a:spcPct val="150000"/>
              </a:lnSpc>
            </a:pPr>
            <a:r>
              <a:rPr lang="zh-CN" altLang="zh-CN"/>
              <a:t>（</a:t>
            </a:r>
            <a:r>
              <a:rPr lang="en-US" altLang="zh-CN"/>
              <a:t>3</a:t>
            </a:r>
            <a:r>
              <a:rPr lang="zh-CN" altLang="zh-CN"/>
              <a:t>）查看固定数据库角色的成员。在“对象资源管理器”中，在</a:t>
            </a:r>
            <a:r>
              <a:rPr lang="en-US" altLang="zh-CN"/>
              <a:t>pxscj</a:t>
            </a:r>
            <a:r>
              <a:rPr lang="zh-CN" altLang="zh-CN"/>
              <a:t>数据库下的“安全性”→“角色”→“数据库角色”目录下，选择“数据库角色”，如“</a:t>
            </a:r>
            <a:r>
              <a:rPr lang="en-US" altLang="zh-CN"/>
              <a:t>db_owner</a:t>
            </a:r>
            <a:r>
              <a:rPr lang="zh-CN" altLang="zh-CN"/>
              <a:t>”，右键单击，选择“属性”菜单项，在“属性”窗口中的“角色成员”栏下可以看到该数据库角色的成员列表。</a:t>
            </a:r>
            <a:endParaRPr lang="zh-CN" altLang="zh-CN"/>
          </a:p>
          <a:p>
            <a:pPr eaLnBrk="1" hangingPunct="1">
              <a:lnSpc>
                <a:spcPct val="150000"/>
              </a:lnSpc>
            </a:pPr>
            <a:endParaRPr lang="zh-CN" altLang="en-US"/>
          </a:p>
        </p:txBody>
      </p:sp>
    </p:spTree>
  </p:cSld>
  <p:clrMapOvr>
    <a:masterClrMapping/>
  </p:clrMapOvr>
  <p:transition spd="slow">
    <p:blinds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46138" y="2781300"/>
            <a:ext cx="7848600" cy="3603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4797425"/>
            <a:ext cx="7848600" cy="7921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9.3.2  </a:t>
            </a:r>
            <a:r>
              <a:rPr lang="zh-CN" altLang="zh-CN" dirty="0">
                <a:effectLst/>
              </a:rPr>
              <a:t>固定数据库角色</a:t>
            </a:r>
            <a:endParaRPr lang="zh-CN" altLang="en-US" dirty="0"/>
          </a:p>
        </p:txBody>
      </p:sp>
      <p:sp>
        <p:nvSpPr>
          <p:cNvPr id="35845" name="TextBox 2"/>
          <p:cNvSpPr txBox="1">
            <a:spLocks noChangeArrowheads="1"/>
          </p:cNvSpPr>
          <p:nvPr/>
        </p:nvSpPr>
        <p:spPr bwMode="auto">
          <a:xfrm>
            <a:off x="468313" y="1412875"/>
            <a:ext cx="820737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2</a:t>
            </a:r>
            <a:r>
              <a:rPr lang="zh-CN" altLang="zh-CN" b="1">
                <a:solidFill>
                  <a:srgbClr val="C00000"/>
                </a:solidFill>
              </a:rPr>
              <a:t>．利用“系统存储过程”添加固定数据库角色成员</a:t>
            </a:r>
            <a:endParaRPr lang="zh-CN" altLang="zh-CN" b="1">
              <a:solidFill>
                <a:srgbClr val="C00000"/>
              </a:solidFill>
            </a:endParaRPr>
          </a:p>
          <a:p>
            <a:pPr eaLnBrk="1" hangingPunct="1">
              <a:lnSpc>
                <a:spcPct val="150000"/>
              </a:lnSpc>
            </a:pPr>
            <a:r>
              <a:rPr lang="zh-CN" altLang="zh-CN"/>
              <a:t>利用系统存储过程</a:t>
            </a:r>
            <a:r>
              <a:rPr lang="en-US" altLang="zh-CN"/>
              <a:t>sp_addrolemember</a:t>
            </a:r>
            <a:r>
              <a:rPr lang="zh-CN" altLang="zh-CN"/>
              <a:t>可以将一个数据库用户添加到某一固定数据库角色中，使其成为该固定数据库角色的成员。语法格式：</a:t>
            </a:r>
            <a:endParaRPr lang="zh-CN" altLang="zh-CN"/>
          </a:p>
          <a:p>
            <a:pPr eaLnBrk="1" hangingPunct="1">
              <a:lnSpc>
                <a:spcPct val="150000"/>
              </a:lnSpc>
            </a:pPr>
            <a:r>
              <a:rPr lang="en-US" altLang="zh-CN"/>
              <a:t>sp_addrolemember [ @</a:t>
            </a:r>
            <a:r>
              <a:rPr lang="zh-CN" altLang="zh-CN"/>
              <a:t>角色名</a:t>
            </a:r>
            <a:r>
              <a:rPr lang="en-US" altLang="zh-CN"/>
              <a:t> = ] 'role', [ @</a:t>
            </a:r>
            <a:r>
              <a:rPr lang="zh-CN" altLang="zh-CN"/>
              <a:t>成员名</a:t>
            </a:r>
            <a:r>
              <a:rPr lang="en-US" altLang="zh-CN"/>
              <a:t> = ] 'security_account'</a:t>
            </a:r>
            <a:endParaRPr lang="zh-CN" altLang="zh-CN"/>
          </a:p>
          <a:p>
            <a:pPr eaLnBrk="1" hangingPunct="1">
              <a:lnSpc>
                <a:spcPct val="150000"/>
              </a:lnSpc>
            </a:pPr>
            <a:r>
              <a:rPr lang="zh-CN" altLang="zh-CN"/>
              <a:t>参数含义：</a:t>
            </a:r>
            <a:r>
              <a:rPr lang="en-US" altLang="zh-CN"/>
              <a:t>'role'</a:t>
            </a:r>
            <a:r>
              <a:rPr lang="zh-CN" altLang="zh-CN"/>
              <a:t>为当前数据库中的数据库角色的名称。</a:t>
            </a:r>
            <a:r>
              <a:rPr lang="en-US" altLang="zh-CN"/>
              <a:t>'security_account'</a:t>
            </a:r>
            <a:r>
              <a:rPr lang="zh-CN" altLang="zh-CN"/>
              <a:t>为添加到该角色的安全账户，可以是数据库用户或当前数据库角色。</a:t>
            </a:r>
            <a:endParaRPr lang="zh-CN" altLang="zh-CN"/>
          </a:p>
          <a:p>
            <a:pPr eaLnBrk="1" hangingPunct="1">
              <a:lnSpc>
                <a:spcPct val="150000"/>
              </a:lnSpc>
            </a:pPr>
            <a:r>
              <a:rPr lang="zh-CN" altLang="zh-CN"/>
              <a:t>【例</a:t>
            </a:r>
            <a:r>
              <a:rPr lang="en-US" altLang="zh-CN"/>
              <a:t>9.6</a:t>
            </a:r>
            <a:r>
              <a:rPr lang="zh-CN" altLang="zh-CN"/>
              <a:t>】 将</a:t>
            </a:r>
            <a:r>
              <a:rPr lang="en-US" altLang="zh-CN"/>
              <a:t>pxscj</a:t>
            </a:r>
            <a:r>
              <a:rPr lang="zh-CN" altLang="zh-CN"/>
              <a:t>数据库上的数据库用户</a:t>
            </a:r>
            <a:r>
              <a:rPr lang="en-US" altLang="zh-CN"/>
              <a:t>User_sql_tao</a:t>
            </a:r>
            <a:r>
              <a:rPr lang="zh-CN" altLang="zh-CN"/>
              <a:t>添加为固定数据库角色</a:t>
            </a:r>
            <a:r>
              <a:rPr lang="en-US" altLang="zh-CN"/>
              <a:t>db_owner</a:t>
            </a:r>
            <a:r>
              <a:rPr lang="zh-CN" altLang="zh-CN"/>
              <a:t>的成员。</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EXEC sp_addrolemember 'db_owner', 'User_sql_tao'</a:t>
            </a:r>
            <a:endParaRPr lang="zh-CN" altLang="zh-CN"/>
          </a:p>
          <a:p>
            <a:pPr eaLnBrk="1" hangingPunct="1"/>
            <a:endParaRPr lang="zh-CN" altLang="en-US"/>
          </a:p>
        </p:txBody>
      </p:sp>
    </p:spTree>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55650" y="4005263"/>
            <a:ext cx="8064500"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755650" y="3284538"/>
            <a:ext cx="8064500" cy="3127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9.3.2  </a:t>
            </a:r>
            <a:r>
              <a:rPr lang="zh-CN" altLang="zh-CN" dirty="0">
                <a:effectLst/>
              </a:rPr>
              <a:t>固定数据库角色</a:t>
            </a:r>
            <a:endParaRPr lang="zh-CN" altLang="en-US" dirty="0"/>
          </a:p>
        </p:txBody>
      </p:sp>
      <p:sp>
        <p:nvSpPr>
          <p:cNvPr id="36869" name="TextBox 2"/>
          <p:cNvSpPr txBox="1">
            <a:spLocks noChangeArrowheads="1"/>
          </p:cNvSpPr>
          <p:nvPr/>
        </p:nvSpPr>
        <p:spPr bwMode="auto">
          <a:xfrm>
            <a:off x="395288" y="1484313"/>
            <a:ext cx="8280400"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3</a:t>
            </a:r>
            <a:r>
              <a:rPr lang="zh-CN" altLang="zh-CN" b="1">
                <a:solidFill>
                  <a:srgbClr val="C00000"/>
                </a:solidFill>
              </a:rPr>
              <a:t>．利用“系统存储过程”删除固定数据库角色成员</a:t>
            </a:r>
            <a:endParaRPr lang="zh-CN" altLang="zh-CN" b="1">
              <a:solidFill>
                <a:srgbClr val="C00000"/>
              </a:solidFill>
            </a:endParaRPr>
          </a:p>
          <a:p>
            <a:pPr eaLnBrk="1" hangingPunct="1">
              <a:lnSpc>
                <a:spcPct val="150000"/>
              </a:lnSpc>
            </a:pPr>
            <a:r>
              <a:rPr lang="zh-CN" altLang="zh-CN"/>
              <a:t>利用系统存储过程</a:t>
            </a:r>
            <a:r>
              <a:rPr lang="en-US" altLang="zh-CN"/>
              <a:t>sp_droprolemember</a:t>
            </a:r>
            <a:r>
              <a:rPr lang="zh-CN" altLang="zh-CN"/>
              <a:t>可以将某一成员从固定数据库角色中去除。</a:t>
            </a:r>
            <a:endParaRPr lang="zh-CN" altLang="zh-CN"/>
          </a:p>
          <a:p>
            <a:pPr eaLnBrk="1" hangingPunct="1">
              <a:lnSpc>
                <a:spcPct val="150000"/>
              </a:lnSpc>
            </a:pPr>
            <a:r>
              <a:rPr lang="zh-CN" altLang="zh-CN"/>
              <a:t>语法格式：</a:t>
            </a:r>
            <a:endParaRPr lang="zh-CN" altLang="zh-CN"/>
          </a:p>
          <a:p>
            <a:pPr eaLnBrk="1" hangingPunct="1">
              <a:lnSpc>
                <a:spcPct val="150000"/>
              </a:lnSpc>
            </a:pPr>
            <a:r>
              <a:rPr lang="en-US" altLang="zh-CN"/>
              <a:t>sp_droprolemember [ @</a:t>
            </a:r>
            <a:r>
              <a:rPr lang="zh-CN" altLang="zh-CN"/>
              <a:t>角色名</a:t>
            </a:r>
            <a:r>
              <a:rPr lang="en-US" altLang="zh-CN"/>
              <a:t> = ] 'role' , [ @</a:t>
            </a:r>
            <a:r>
              <a:rPr lang="zh-CN" altLang="zh-CN"/>
              <a:t>成员名</a:t>
            </a:r>
            <a:r>
              <a:rPr lang="en-US" altLang="zh-CN"/>
              <a:t> = ] 'security_account'</a:t>
            </a:r>
            <a:endParaRPr lang="zh-CN" altLang="zh-CN"/>
          </a:p>
          <a:p>
            <a:pPr eaLnBrk="1" hangingPunct="1">
              <a:lnSpc>
                <a:spcPct val="150000"/>
              </a:lnSpc>
            </a:pPr>
            <a:r>
              <a:rPr lang="zh-CN" altLang="zh-CN"/>
              <a:t>【例</a:t>
            </a:r>
            <a:r>
              <a:rPr lang="en-US" altLang="zh-CN"/>
              <a:t>9.7</a:t>
            </a:r>
            <a:r>
              <a:rPr lang="zh-CN" altLang="zh-CN"/>
              <a:t>】 将数据库用户</a:t>
            </a:r>
            <a:r>
              <a:rPr lang="en-US" altLang="zh-CN"/>
              <a:t>User_sql_tao</a:t>
            </a:r>
            <a:r>
              <a:rPr lang="zh-CN" altLang="zh-CN"/>
              <a:t>从</a:t>
            </a:r>
            <a:r>
              <a:rPr lang="en-US" altLang="zh-CN"/>
              <a:t>db_owner</a:t>
            </a:r>
            <a:r>
              <a:rPr lang="zh-CN" altLang="zh-CN"/>
              <a:t>中去除。</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EXEC sp_droprolemember 'db_owner', 'User_sql_tao'</a:t>
            </a:r>
            <a:endParaRPr lang="zh-CN" altLang="zh-CN"/>
          </a:p>
          <a:p>
            <a:pPr eaLnBrk="1" hangingPunct="1"/>
            <a:endParaRPr lang="zh-CN" altLang="en-US"/>
          </a:p>
        </p:txBody>
      </p:sp>
    </p:spTree>
  </p:cSld>
  <p:clrMapOvr>
    <a:masterClrMapping/>
  </p:clrMapOvr>
  <p:transition spd="slow">
    <p:blinds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9.3.3  </a:t>
            </a:r>
            <a:r>
              <a:rPr lang="zh-CN" altLang="zh-CN" dirty="0">
                <a:effectLst/>
              </a:rPr>
              <a:t>自定义数据库角色：</a:t>
            </a:r>
            <a:r>
              <a:rPr lang="en-US" altLang="zh-CN" dirty="0">
                <a:effectLst/>
              </a:rPr>
              <a:t>CREATE/DROP ROLE</a:t>
            </a:r>
            <a:endParaRPr lang="zh-CN" altLang="zh-CN" dirty="0">
              <a:effectLst/>
            </a:endParaRPr>
          </a:p>
        </p:txBody>
      </p:sp>
      <p:sp>
        <p:nvSpPr>
          <p:cNvPr id="37891" name="TextBox 2"/>
          <p:cNvSpPr txBox="1">
            <a:spLocks noChangeArrowheads="1"/>
          </p:cNvSpPr>
          <p:nvPr/>
        </p:nvSpPr>
        <p:spPr bwMode="auto">
          <a:xfrm>
            <a:off x="468313" y="1484313"/>
            <a:ext cx="8207375" cy="461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1</a:t>
            </a:r>
            <a:r>
              <a:rPr lang="zh-CN" altLang="zh-CN" b="1">
                <a:solidFill>
                  <a:srgbClr val="C00000"/>
                </a:solidFill>
              </a:rPr>
              <a:t>．界面方式创建数据库角色</a:t>
            </a:r>
            <a:endParaRPr lang="zh-CN" altLang="zh-CN" b="1">
              <a:solidFill>
                <a:srgbClr val="C00000"/>
              </a:solidFill>
            </a:endParaRPr>
          </a:p>
          <a:p>
            <a:pPr eaLnBrk="1" hangingPunct="1">
              <a:lnSpc>
                <a:spcPct val="150000"/>
              </a:lnSpc>
            </a:pPr>
            <a:r>
              <a:rPr lang="zh-CN" altLang="zh-CN"/>
              <a:t>（</a:t>
            </a:r>
            <a:r>
              <a:rPr lang="en-US" altLang="zh-CN"/>
              <a:t>1</a:t>
            </a:r>
            <a:r>
              <a:rPr lang="zh-CN" altLang="zh-CN"/>
              <a:t>）创建数据库角色</a:t>
            </a:r>
            <a:endParaRPr lang="zh-CN" altLang="zh-CN"/>
          </a:p>
          <a:p>
            <a:pPr eaLnBrk="1" hangingPunct="1">
              <a:lnSpc>
                <a:spcPct val="150000"/>
              </a:lnSpc>
            </a:pPr>
            <a:r>
              <a:rPr lang="zh-CN" altLang="zh-CN"/>
              <a:t>以</a:t>
            </a:r>
            <a:r>
              <a:rPr lang="en-US" altLang="zh-CN"/>
              <a:t>Windows</a:t>
            </a:r>
            <a:r>
              <a:rPr lang="zh-CN" altLang="zh-CN"/>
              <a:t>系统管理员身份连接</a:t>
            </a:r>
            <a:r>
              <a:rPr lang="en-US" altLang="zh-CN"/>
              <a:t>SQL Server</a:t>
            </a:r>
            <a:r>
              <a:rPr lang="zh-CN" altLang="zh-CN"/>
              <a:t>，在“对象资源管理器”中展开“数据库”，选择要创建角色的数据库（如</a:t>
            </a:r>
            <a:r>
              <a:rPr lang="en-US" altLang="zh-CN"/>
              <a:t>pxscj</a:t>
            </a:r>
            <a:r>
              <a:rPr lang="zh-CN" altLang="zh-CN"/>
              <a:t>），展开其中的“安全性”→“角色”，右键单击鼠标，在弹出的快捷菜单中选择“新建”菜单项，在弹出的子菜单中选择“新建数据库角色”菜单项，进入“数据库角色</a:t>
            </a:r>
            <a:r>
              <a:rPr lang="en-US" altLang="zh-CN"/>
              <a:t>-</a:t>
            </a:r>
            <a:r>
              <a:rPr lang="zh-CN" altLang="zh-CN"/>
              <a:t>新建”窗口。</a:t>
            </a:r>
            <a:endParaRPr lang="zh-CN" altLang="zh-CN"/>
          </a:p>
          <a:p>
            <a:pPr eaLnBrk="1" hangingPunct="1">
              <a:lnSpc>
                <a:spcPct val="150000"/>
              </a:lnSpc>
            </a:pPr>
            <a:r>
              <a:rPr lang="zh-CN" altLang="zh-CN"/>
              <a:t>在“数据库角色</a:t>
            </a:r>
            <a:r>
              <a:rPr lang="en-US" altLang="zh-CN"/>
              <a:t>-</a:t>
            </a:r>
            <a:r>
              <a:rPr lang="zh-CN" altLang="zh-CN"/>
              <a:t>新建”窗口中，选择“常规”选项页，输入要定义的角色名称（如</a:t>
            </a:r>
            <a:r>
              <a:rPr lang="en-US" altLang="zh-CN"/>
              <a:t>ROLE1</a:t>
            </a:r>
            <a:r>
              <a:rPr lang="zh-CN" altLang="zh-CN"/>
              <a:t>），所有者默认为</a:t>
            </a:r>
            <a:r>
              <a:rPr lang="en-US" altLang="zh-CN"/>
              <a:t>dbo</a:t>
            </a:r>
            <a:r>
              <a:rPr lang="zh-CN" altLang="zh-CN"/>
              <a:t>。直接单击“确定”按钮，完成数据库角色的创建，如图</a:t>
            </a:r>
            <a:r>
              <a:rPr lang="en-US" altLang="zh-CN"/>
              <a:t>9.8</a:t>
            </a:r>
            <a:r>
              <a:rPr lang="zh-CN" altLang="zh-CN"/>
              <a:t>所示。</a:t>
            </a:r>
            <a:endParaRPr lang="zh-CN" altLang="zh-CN"/>
          </a:p>
          <a:p>
            <a:pPr eaLnBrk="1" hangingPunct="1">
              <a:lnSpc>
                <a:spcPct val="150000"/>
              </a:lnSpc>
            </a:pPr>
            <a:endParaRPr lang="zh-CN" altLang="en-US"/>
          </a:p>
        </p:txBody>
      </p:sp>
    </p:spTree>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9.3.3  </a:t>
            </a:r>
            <a:r>
              <a:rPr lang="zh-CN" altLang="zh-CN" dirty="0">
                <a:effectLst/>
              </a:rPr>
              <a:t>自定义数据库角色：</a:t>
            </a:r>
            <a:r>
              <a:rPr lang="en-US" altLang="zh-CN" dirty="0">
                <a:effectLst/>
              </a:rPr>
              <a:t>CREATE/DROP ROLE</a:t>
            </a:r>
            <a:endParaRPr lang="zh-CN" altLang="en-US" dirty="0"/>
          </a:p>
        </p:txBody>
      </p:sp>
      <p:pic>
        <p:nvPicPr>
          <p:cNvPr id="3891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76438" y="1412875"/>
            <a:ext cx="5184775" cy="465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矩形 2"/>
          <p:cNvSpPr>
            <a:spLocks noChangeArrowheads="1"/>
          </p:cNvSpPr>
          <p:nvPr/>
        </p:nvSpPr>
        <p:spPr bwMode="auto">
          <a:xfrm>
            <a:off x="3635375" y="6065838"/>
            <a:ext cx="2428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a:t>图</a:t>
            </a:r>
            <a:r>
              <a:rPr lang="en-US" altLang="zh-CN"/>
              <a:t>9.8  </a:t>
            </a:r>
            <a:r>
              <a:rPr lang="zh-CN" altLang="zh-CN"/>
              <a:t>新建数据库角色</a:t>
            </a:r>
            <a:endParaRPr lang="zh-CN" altLang="zh-CN"/>
          </a:p>
        </p:txBody>
      </p:sp>
    </p:spTree>
  </p:cSld>
  <p:clrMapOvr>
    <a:masterClrMapping/>
  </p:clrMapOvr>
  <p:transition spd="slow">
    <p:blinds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9.3.3  </a:t>
            </a:r>
            <a:r>
              <a:rPr lang="zh-CN" altLang="zh-CN" dirty="0">
                <a:effectLst/>
              </a:rPr>
              <a:t>自定义数据库角色：</a:t>
            </a:r>
            <a:r>
              <a:rPr lang="en-US" altLang="zh-CN" dirty="0">
                <a:effectLst/>
              </a:rPr>
              <a:t>CREATE/DROP ROLE</a:t>
            </a:r>
            <a:endParaRPr lang="zh-CN" altLang="en-US" dirty="0"/>
          </a:p>
        </p:txBody>
      </p:sp>
      <p:sp>
        <p:nvSpPr>
          <p:cNvPr id="39939" name="TextBox 2"/>
          <p:cNvSpPr txBox="1">
            <a:spLocks noChangeArrowheads="1"/>
          </p:cNvSpPr>
          <p:nvPr/>
        </p:nvSpPr>
        <p:spPr bwMode="auto">
          <a:xfrm>
            <a:off x="468313" y="1557338"/>
            <a:ext cx="8207375" cy="295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a:t>（</a:t>
            </a:r>
            <a:r>
              <a:rPr lang="en-US" altLang="zh-CN"/>
              <a:t>2</a:t>
            </a:r>
            <a:r>
              <a:rPr lang="zh-CN" altLang="zh-CN"/>
              <a:t>）将数据库用户加入数据库角色</a:t>
            </a:r>
            <a:endParaRPr lang="zh-CN" altLang="zh-CN"/>
          </a:p>
          <a:p>
            <a:pPr eaLnBrk="1" hangingPunct="1">
              <a:lnSpc>
                <a:spcPct val="150000"/>
              </a:lnSpc>
            </a:pPr>
            <a:r>
              <a:rPr lang="zh-CN" altLang="zh-CN"/>
              <a:t>将用户加入自定义数据库角色的方法与将用户加入固定数据库角色的方法类似。例如，将</a:t>
            </a:r>
            <a:r>
              <a:rPr lang="en-US" altLang="zh-CN"/>
              <a:t>pxscj</a:t>
            </a:r>
            <a:r>
              <a:rPr lang="zh-CN" altLang="zh-CN"/>
              <a:t>数据库的用户</a:t>
            </a:r>
            <a:r>
              <a:rPr lang="en-US" altLang="zh-CN"/>
              <a:t>User_tao</a:t>
            </a:r>
            <a:r>
              <a:rPr lang="zh-CN" altLang="zh-CN"/>
              <a:t>加入</a:t>
            </a:r>
            <a:r>
              <a:rPr lang="en-US" altLang="zh-CN"/>
              <a:t>ROLE1</a:t>
            </a:r>
            <a:r>
              <a:rPr lang="zh-CN" altLang="zh-CN"/>
              <a:t>角色。此时数据库角色</a:t>
            </a:r>
            <a:r>
              <a:rPr lang="en-US" altLang="zh-CN"/>
              <a:t>ROLE1</a:t>
            </a:r>
            <a:r>
              <a:rPr lang="zh-CN" altLang="zh-CN"/>
              <a:t>的成员还没有任何的权限，当授予数据库角色权限时，这个角色的成员也将获得相同的权限。当数据库用户成为某一数据库角色的成员之后，该数据库用户就获得该数据库角色所拥有的对数据库操作的权限。</a:t>
            </a:r>
            <a:endParaRPr lang="zh-CN" altLang="zh-CN"/>
          </a:p>
          <a:p>
            <a:pPr eaLnBrk="1" hangingPunct="1">
              <a:lnSpc>
                <a:spcPct val="150000"/>
              </a:lnSpc>
            </a:pPr>
            <a:endParaRPr lang="zh-CN" altLang="en-US"/>
          </a:p>
        </p:txBody>
      </p:sp>
    </p:spTree>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3429000"/>
            <a:ext cx="7848600" cy="10795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9.3.3  </a:t>
            </a:r>
            <a:r>
              <a:rPr lang="zh-CN" altLang="zh-CN" dirty="0">
                <a:effectLst/>
              </a:rPr>
              <a:t>自定义数据库角色：</a:t>
            </a:r>
            <a:r>
              <a:rPr lang="en-US" altLang="zh-CN" dirty="0">
                <a:effectLst/>
              </a:rPr>
              <a:t>CREATE/DROP ROLE</a:t>
            </a:r>
            <a:endParaRPr lang="zh-CN" altLang="en-US" dirty="0"/>
          </a:p>
        </p:txBody>
      </p:sp>
      <p:sp>
        <p:nvSpPr>
          <p:cNvPr id="40964" name="TextBox 2"/>
          <p:cNvSpPr txBox="1">
            <a:spLocks noChangeArrowheads="1"/>
          </p:cNvSpPr>
          <p:nvPr/>
        </p:nvSpPr>
        <p:spPr bwMode="auto">
          <a:xfrm>
            <a:off x="539750" y="1484313"/>
            <a:ext cx="8208963"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2</a:t>
            </a:r>
            <a:r>
              <a:rPr lang="zh-CN" altLang="zh-CN" b="1">
                <a:solidFill>
                  <a:srgbClr val="C00000"/>
                </a:solidFill>
              </a:rPr>
              <a:t>．命令创建数据库角色</a:t>
            </a:r>
            <a:endParaRPr lang="zh-CN" altLang="zh-CN" b="1">
              <a:solidFill>
                <a:srgbClr val="C00000"/>
              </a:solidFill>
            </a:endParaRPr>
          </a:p>
          <a:p>
            <a:pPr eaLnBrk="1" hangingPunct="1"/>
            <a:r>
              <a:rPr lang="zh-CN" altLang="zh-CN"/>
              <a:t>（</a:t>
            </a:r>
            <a:r>
              <a:rPr lang="en-US" altLang="zh-CN"/>
              <a:t>1</a:t>
            </a:r>
            <a:r>
              <a:rPr lang="zh-CN" altLang="zh-CN"/>
              <a:t>）定义数据库角色。创建用户自定义数据库角色可以使用</a:t>
            </a:r>
            <a:r>
              <a:rPr lang="en-US" altLang="zh-CN"/>
              <a:t>CREATE ROLE</a:t>
            </a:r>
            <a:r>
              <a:rPr lang="zh-CN" altLang="zh-CN"/>
              <a:t>语句。</a:t>
            </a:r>
            <a:endParaRPr lang="zh-CN" altLang="zh-CN"/>
          </a:p>
          <a:p>
            <a:pPr eaLnBrk="1" hangingPunct="1"/>
            <a:r>
              <a:rPr lang="zh-CN" altLang="zh-CN"/>
              <a:t>语法格式：</a:t>
            </a:r>
            <a:endParaRPr lang="zh-CN" altLang="zh-CN"/>
          </a:p>
          <a:p>
            <a:pPr eaLnBrk="1" hangingPunct="1"/>
            <a:r>
              <a:rPr lang="en-US" altLang="zh-CN"/>
              <a:t>CREATE ROLE </a:t>
            </a:r>
            <a:r>
              <a:rPr lang="zh-CN" altLang="zh-CN"/>
              <a:t>角色名</a:t>
            </a:r>
            <a:r>
              <a:rPr lang="en-US" altLang="zh-CN"/>
              <a:t> [ AUTHORIZATION </a:t>
            </a:r>
            <a:r>
              <a:rPr lang="zh-CN" altLang="zh-CN"/>
              <a:t>所有者名</a:t>
            </a:r>
            <a:r>
              <a:rPr lang="en-US" altLang="zh-CN"/>
              <a:t> ]</a:t>
            </a:r>
            <a:endParaRPr lang="zh-CN" altLang="zh-CN"/>
          </a:p>
          <a:p>
            <a:pPr eaLnBrk="1" hangingPunct="1"/>
            <a:r>
              <a:rPr lang="zh-CN" altLang="zh-CN"/>
              <a:t>【例</a:t>
            </a:r>
            <a:r>
              <a:rPr lang="en-US" altLang="zh-CN"/>
              <a:t>9.8</a:t>
            </a:r>
            <a:r>
              <a:rPr lang="zh-CN" altLang="zh-CN"/>
              <a:t>】在当前数据库中创建名为</a:t>
            </a:r>
            <a:r>
              <a:rPr lang="en-US" altLang="zh-CN"/>
              <a:t>ROLE2</a:t>
            </a:r>
            <a:r>
              <a:rPr lang="zh-CN" altLang="zh-CN"/>
              <a:t>的新角色，并指定</a:t>
            </a:r>
            <a:r>
              <a:rPr lang="en-US" altLang="zh-CN"/>
              <a:t>dbo</a:t>
            </a:r>
            <a:r>
              <a:rPr lang="zh-CN" altLang="zh-CN"/>
              <a:t>为该角色的所有者。</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CREATE ROLE ROLE2</a:t>
            </a:r>
            <a:endParaRPr lang="zh-CN" altLang="zh-CN"/>
          </a:p>
          <a:p>
            <a:pPr eaLnBrk="1" hangingPunct="1"/>
            <a:r>
              <a:rPr lang="en-US" altLang="zh-CN"/>
              <a:t>    AUTHORIZATION dbo</a:t>
            </a:r>
            <a:endParaRPr lang="zh-CN" altLang="zh-CN"/>
          </a:p>
          <a:p>
            <a:pPr eaLnBrk="1" hangingPunct="1"/>
            <a:r>
              <a:rPr lang="zh-CN" altLang="zh-CN"/>
              <a:t>（</a:t>
            </a:r>
            <a:r>
              <a:rPr lang="en-US" altLang="zh-CN"/>
              <a:t>2</a:t>
            </a:r>
            <a:r>
              <a:rPr lang="zh-CN" altLang="zh-CN"/>
              <a:t>）给数据库角色添加成员。向用户定义数据库角色添加成员也使用存储过程</a:t>
            </a:r>
            <a:r>
              <a:rPr lang="en-US" altLang="zh-CN"/>
              <a:t>sp_ addrolemember</a:t>
            </a:r>
            <a:r>
              <a:rPr lang="zh-CN" altLang="zh-CN"/>
              <a:t>，用法与之前介绍的基本相同。</a:t>
            </a:r>
            <a:endParaRPr lang="zh-CN" altLang="zh-CN"/>
          </a:p>
        </p:txBody>
      </p:sp>
    </p:spTree>
  </p:cSld>
  <p:clrMapOvr>
    <a:masterClrMapping/>
  </p:clrMapOvr>
  <p:transition spd="slow">
    <p:blinds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27088" y="5589588"/>
            <a:ext cx="7848600" cy="2873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833438" y="4508500"/>
            <a:ext cx="7848600" cy="7921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349500"/>
            <a:ext cx="7848600" cy="15843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9.3.3  </a:t>
            </a:r>
            <a:r>
              <a:rPr lang="zh-CN" altLang="zh-CN" dirty="0">
                <a:effectLst/>
              </a:rPr>
              <a:t>自定义数据库角色：</a:t>
            </a:r>
            <a:r>
              <a:rPr lang="en-US" altLang="zh-CN" dirty="0">
                <a:effectLst/>
              </a:rPr>
              <a:t>CREATE/DROP ROLE</a:t>
            </a:r>
            <a:endParaRPr lang="zh-CN" altLang="en-US" dirty="0"/>
          </a:p>
        </p:txBody>
      </p:sp>
      <p:sp>
        <p:nvSpPr>
          <p:cNvPr id="41990" name="TextBox 2"/>
          <p:cNvSpPr txBox="1">
            <a:spLocks noChangeArrowheads="1"/>
          </p:cNvSpPr>
          <p:nvPr/>
        </p:nvSpPr>
        <p:spPr bwMode="auto">
          <a:xfrm>
            <a:off x="468313" y="1412875"/>
            <a:ext cx="820737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【例</a:t>
            </a:r>
            <a:r>
              <a:rPr lang="en-US" altLang="zh-CN"/>
              <a:t>9.9</a:t>
            </a:r>
            <a:r>
              <a:rPr lang="zh-CN" altLang="zh-CN"/>
              <a:t>】 使用</a:t>
            </a:r>
            <a:r>
              <a:rPr lang="en-US" altLang="zh-CN"/>
              <a:t>Windows</a:t>
            </a:r>
            <a:r>
              <a:rPr lang="zh-CN" altLang="zh-CN"/>
              <a:t>身份验证模式的登录名（如</a:t>
            </a:r>
            <a:r>
              <a:rPr lang="en-US" altLang="zh-CN"/>
              <a:t>WIN7-20141023IG\tao</a:t>
            </a:r>
            <a:r>
              <a:rPr lang="zh-CN" altLang="zh-CN"/>
              <a:t>）创建</a:t>
            </a:r>
            <a:r>
              <a:rPr lang="en-US" altLang="zh-CN"/>
              <a:t>pxscj</a:t>
            </a:r>
            <a:r>
              <a:rPr lang="zh-CN" altLang="zh-CN"/>
              <a:t>数据库的用户（如</a:t>
            </a:r>
            <a:r>
              <a:rPr lang="en-US" altLang="zh-CN"/>
              <a:t>User_tao</a:t>
            </a:r>
            <a:r>
              <a:rPr lang="zh-CN" altLang="zh-CN"/>
              <a:t>），并将该数据库用户添加到</a:t>
            </a:r>
            <a:r>
              <a:rPr lang="en-US" altLang="zh-CN"/>
              <a:t>ROLE1</a:t>
            </a:r>
            <a:r>
              <a:rPr lang="zh-CN" altLang="zh-CN"/>
              <a:t>数据库角色中。</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CREATE USER  [User_tao]		</a:t>
            </a:r>
            <a:endParaRPr lang="zh-CN" altLang="zh-CN"/>
          </a:p>
          <a:p>
            <a:pPr eaLnBrk="1" hangingPunct="1"/>
            <a:r>
              <a:rPr lang="en-US" altLang="zh-CN"/>
              <a:t>    FROM LOGIN [WIN7-20141023IG\tao]</a:t>
            </a:r>
            <a:endParaRPr lang="zh-CN" altLang="zh-CN"/>
          </a:p>
          <a:p>
            <a:pPr eaLnBrk="1" hangingPunct="1"/>
            <a:r>
              <a:rPr lang="en-US" altLang="zh-CN"/>
              <a:t>GO</a:t>
            </a:r>
            <a:endParaRPr lang="zh-CN" altLang="zh-CN"/>
          </a:p>
          <a:p>
            <a:pPr eaLnBrk="1" hangingPunct="1"/>
            <a:r>
              <a:rPr lang="en-US" altLang="zh-CN"/>
              <a:t>EXEC sp_addrolemember 'ROLE1', 'WIN7-20141023IG\tao'</a:t>
            </a:r>
            <a:endParaRPr lang="zh-CN" altLang="zh-CN"/>
          </a:p>
          <a:p>
            <a:pPr eaLnBrk="1" hangingPunct="1"/>
            <a:r>
              <a:rPr lang="zh-CN" altLang="zh-CN"/>
              <a:t>【例</a:t>
            </a:r>
            <a:r>
              <a:rPr lang="en-US" altLang="zh-CN"/>
              <a:t>9.10</a:t>
            </a:r>
            <a:r>
              <a:rPr lang="zh-CN" altLang="zh-CN"/>
              <a:t>】 将</a:t>
            </a:r>
            <a:r>
              <a:rPr lang="en-US" altLang="zh-CN"/>
              <a:t>SQL Server</a:t>
            </a:r>
            <a:r>
              <a:rPr lang="zh-CN" altLang="zh-CN"/>
              <a:t>登录名创建的</a:t>
            </a:r>
            <a:r>
              <a:rPr lang="en-US" altLang="zh-CN"/>
              <a:t>pxscj</a:t>
            </a:r>
            <a:r>
              <a:rPr lang="zh-CN" altLang="zh-CN"/>
              <a:t>的数据库用户</a:t>
            </a:r>
            <a:r>
              <a:rPr lang="en-US" altLang="zh-CN"/>
              <a:t>User_sql_tao</a:t>
            </a:r>
            <a:r>
              <a:rPr lang="zh-CN" altLang="zh-CN"/>
              <a:t>添加到数据库角色</a:t>
            </a:r>
            <a:r>
              <a:rPr lang="en-US" altLang="zh-CN"/>
              <a:t>ROLE1</a:t>
            </a:r>
            <a:r>
              <a:rPr lang="zh-CN" altLang="zh-CN"/>
              <a:t>中。</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EXEC sp_addrolemember 'ROLE1','User_sql_tao'</a:t>
            </a:r>
            <a:endParaRPr lang="zh-CN" altLang="zh-CN"/>
          </a:p>
          <a:p>
            <a:pPr eaLnBrk="1" hangingPunct="1"/>
            <a:r>
              <a:rPr lang="zh-CN" altLang="zh-CN"/>
              <a:t>【例</a:t>
            </a:r>
            <a:r>
              <a:rPr lang="en-US" altLang="zh-CN"/>
              <a:t>9.11</a:t>
            </a:r>
            <a:r>
              <a:rPr lang="zh-CN" altLang="zh-CN"/>
              <a:t>】 将数据库角色</a:t>
            </a:r>
            <a:r>
              <a:rPr lang="en-US" altLang="zh-CN"/>
              <a:t>ROLE2</a:t>
            </a:r>
            <a:r>
              <a:rPr lang="zh-CN" altLang="zh-CN"/>
              <a:t>（假设已经创建）添加到</a:t>
            </a:r>
            <a:r>
              <a:rPr lang="en-US" altLang="zh-CN"/>
              <a:t>ROLE1</a:t>
            </a:r>
            <a:r>
              <a:rPr lang="zh-CN" altLang="zh-CN"/>
              <a:t>中。</a:t>
            </a:r>
            <a:endParaRPr lang="zh-CN" altLang="zh-CN"/>
          </a:p>
          <a:p>
            <a:pPr eaLnBrk="1" hangingPunct="1"/>
            <a:r>
              <a:rPr lang="en-US" altLang="zh-CN"/>
              <a:t>EXEC sp_addrolemember 'ROLE1','ROLE2'</a:t>
            </a:r>
            <a:endParaRPr lang="zh-CN" altLang="zh-CN"/>
          </a:p>
          <a:p>
            <a:pPr eaLnBrk="1" hangingPunct="1"/>
            <a:endParaRPr lang="zh-CN" altLang="en-US"/>
          </a:p>
        </p:txBody>
      </p:sp>
    </p:spTree>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49325" y="5373688"/>
            <a:ext cx="7705725" cy="3587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971550" y="2492375"/>
            <a:ext cx="7704138" cy="3603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9.3.3  </a:t>
            </a:r>
            <a:r>
              <a:rPr lang="zh-CN" altLang="zh-CN" dirty="0">
                <a:effectLst/>
              </a:rPr>
              <a:t>自定义数据库角色：</a:t>
            </a:r>
            <a:r>
              <a:rPr lang="en-US" altLang="zh-CN" dirty="0">
                <a:effectLst/>
              </a:rPr>
              <a:t>CREATE/DROP ROLE</a:t>
            </a:r>
            <a:endParaRPr lang="zh-CN" altLang="en-US" dirty="0"/>
          </a:p>
        </p:txBody>
      </p:sp>
      <p:sp>
        <p:nvSpPr>
          <p:cNvPr id="43013" name="TextBox 3"/>
          <p:cNvSpPr txBox="1">
            <a:spLocks noChangeArrowheads="1"/>
          </p:cNvSpPr>
          <p:nvPr/>
        </p:nvSpPr>
        <p:spPr bwMode="auto">
          <a:xfrm>
            <a:off x="539750" y="1557338"/>
            <a:ext cx="8135938" cy="461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3</a:t>
            </a:r>
            <a:r>
              <a:rPr lang="zh-CN" altLang="zh-CN" b="1">
                <a:solidFill>
                  <a:srgbClr val="C00000"/>
                </a:solidFill>
              </a:rPr>
              <a:t>．命令删除数据库角色</a:t>
            </a:r>
            <a:endParaRPr lang="zh-CN" altLang="zh-CN" b="1">
              <a:solidFill>
                <a:srgbClr val="C00000"/>
              </a:solidFill>
            </a:endParaRPr>
          </a:p>
          <a:p>
            <a:pPr eaLnBrk="1" hangingPunct="1">
              <a:lnSpc>
                <a:spcPct val="150000"/>
              </a:lnSpc>
            </a:pPr>
            <a:r>
              <a:rPr lang="zh-CN" altLang="zh-CN"/>
              <a:t>要删除数据库角色可以使用</a:t>
            </a:r>
            <a:r>
              <a:rPr lang="en-US" altLang="zh-CN"/>
              <a:t>DROP ROLE</a:t>
            </a:r>
            <a:r>
              <a:rPr lang="zh-CN" altLang="zh-CN"/>
              <a:t>语句。语法格式：</a:t>
            </a:r>
            <a:endParaRPr lang="zh-CN" altLang="zh-CN"/>
          </a:p>
          <a:p>
            <a:pPr eaLnBrk="1" hangingPunct="1">
              <a:lnSpc>
                <a:spcPct val="150000"/>
              </a:lnSpc>
            </a:pPr>
            <a:r>
              <a:rPr lang="en-US" altLang="zh-CN"/>
              <a:t>DROP ROLE </a:t>
            </a:r>
            <a:r>
              <a:rPr lang="zh-CN" altLang="zh-CN"/>
              <a:t>角色名</a:t>
            </a:r>
            <a:endParaRPr lang="zh-CN" altLang="zh-CN"/>
          </a:p>
          <a:p>
            <a:pPr eaLnBrk="1" hangingPunct="1">
              <a:lnSpc>
                <a:spcPct val="150000"/>
              </a:lnSpc>
            </a:pPr>
            <a:r>
              <a:rPr lang="zh-CN" altLang="zh-CN"/>
              <a:t>其中，“角色名”为要删除的数据库角色的名称。</a:t>
            </a:r>
            <a:endParaRPr lang="zh-CN" altLang="zh-CN"/>
          </a:p>
          <a:p>
            <a:pPr eaLnBrk="1" hangingPunct="1">
              <a:lnSpc>
                <a:spcPct val="150000"/>
              </a:lnSpc>
            </a:pPr>
            <a:r>
              <a:rPr lang="zh-CN" altLang="zh-CN"/>
              <a:t>【例</a:t>
            </a:r>
            <a:r>
              <a:rPr lang="en-US" altLang="zh-CN"/>
              <a:t>9.12</a:t>
            </a:r>
            <a:r>
              <a:rPr lang="zh-CN" altLang="zh-CN"/>
              <a:t>】 删除数据库角色</a:t>
            </a:r>
            <a:r>
              <a:rPr lang="en-US" altLang="zh-CN"/>
              <a:t>ROLE2</a:t>
            </a:r>
            <a:r>
              <a:rPr lang="zh-CN" altLang="zh-CN"/>
              <a:t>。</a:t>
            </a:r>
            <a:endParaRPr lang="zh-CN" altLang="zh-CN"/>
          </a:p>
          <a:p>
            <a:pPr eaLnBrk="1" hangingPunct="1">
              <a:lnSpc>
                <a:spcPct val="150000"/>
              </a:lnSpc>
            </a:pPr>
            <a:r>
              <a:rPr lang="zh-CN" altLang="zh-CN"/>
              <a:t>在删除</a:t>
            </a:r>
            <a:r>
              <a:rPr lang="en-US" altLang="zh-CN"/>
              <a:t>ROLE2</a:t>
            </a:r>
            <a:r>
              <a:rPr lang="zh-CN" altLang="zh-CN"/>
              <a:t>之前首先需要将</a:t>
            </a:r>
            <a:r>
              <a:rPr lang="en-US" altLang="zh-CN"/>
              <a:t>ROLE2</a:t>
            </a:r>
            <a:r>
              <a:rPr lang="zh-CN" altLang="zh-CN"/>
              <a:t>中的成员删除，可以使用界面方式，也可以使用命令方式。若使用界面方式，只需在</a:t>
            </a:r>
            <a:r>
              <a:rPr lang="en-US" altLang="zh-CN"/>
              <a:t>ROLE2</a:t>
            </a:r>
            <a:r>
              <a:rPr lang="zh-CN" altLang="zh-CN"/>
              <a:t>的属性页中操作即可。命令方式在删除固定数据库成员时已经介绍，请参见前面内容。确认</a:t>
            </a:r>
            <a:r>
              <a:rPr lang="en-US" altLang="zh-CN"/>
              <a:t>ROLE2</a:t>
            </a:r>
            <a:r>
              <a:rPr lang="zh-CN" altLang="zh-CN"/>
              <a:t>可以删除后，使用以下命令删除</a:t>
            </a:r>
            <a:r>
              <a:rPr lang="en-US" altLang="zh-CN"/>
              <a:t>ROLE2</a:t>
            </a:r>
            <a:r>
              <a:rPr lang="zh-CN" altLang="zh-CN"/>
              <a:t>：</a:t>
            </a:r>
            <a:endParaRPr lang="zh-CN" altLang="zh-CN"/>
          </a:p>
          <a:p>
            <a:pPr eaLnBrk="1" hangingPunct="1">
              <a:lnSpc>
                <a:spcPct val="150000"/>
              </a:lnSpc>
            </a:pPr>
            <a:r>
              <a:rPr lang="en-US" altLang="zh-CN"/>
              <a:t>DROP ROLE ROLE2</a:t>
            </a:r>
            <a:endParaRPr lang="zh-CN" altLang="zh-CN"/>
          </a:p>
          <a:p>
            <a:pPr eaLnBrk="1" hangingPunct="1">
              <a:lnSpc>
                <a:spcPct val="150000"/>
              </a:lnSpc>
            </a:pPr>
            <a:endParaRPr lang="zh-CN" altLang="en-US"/>
          </a:p>
        </p:txBody>
      </p:sp>
    </p:spTree>
  </p:cSld>
  <p:clrMapOvr>
    <a:masterClrMapping/>
  </p:clrMapOvr>
  <p:transition spd="slow">
    <p:blinds dir="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9.3.4  </a:t>
            </a:r>
            <a:r>
              <a:rPr lang="zh-CN" altLang="zh-CN" dirty="0">
                <a:effectLst/>
              </a:rPr>
              <a:t>应用程序角色</a:t>
            </a:r>
            <a:endParaRPr lang="zh-CN" altLang="zh-CN" dirty="0">
              <a:effectLst/>
            </a:endParaRPr>
          </a:p>
        </p:txBody>
      </p:sp>
      <p:sp>
        <p:nvSpPr>
          <p:cNvPr id="44035" name="TextBox 2"/>
          <p:cNvSpPr txBox="1">
            <a:spLocks noChangeArrowheads="1"/>
          </p:cNvSpPr>
          <p:nvPr/>
        </p:nvSpPr>
        <p:spPr bwMode="auto">
          <a:xfrm>
            <a:off x="468313" y="1412875"/>
            <a:ext cx="8207375"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创建应用程序角色步骤如下。</a:t>
            </a:r>
            <a:endParaRPr lang="zh-CN" altLang="zh-CN"/>
          </a:p>
          <a:p>
            <a:pPr eaLnBrk="1" hangingPunct="1"/>
            <a:r>
              <a:rPr lang="zh-CN" altLang="zh-CN"/>
              <a:t>（</a:t>
            </a:r>
            <a:r>
              <a:rPr lang="en-US" altLang="zh-CN"/>
              <a:t>1</a:t>
            </a:r>
            <a:r>
              <a:rPr lang="zh-CN" altLang="zh-CN"/>
              <a:t>）以系统管理员身份连接</a:t>
            </a:r>
            <a:r>
              <a:rPr lang="en-US" altLang="zh-CN"/>
              <a:t>SQL Server</a:t>
            </a:r>
            <a:r>
              <a:rPr lang="zh-CN" altLang="zh-CN"/>
              <a:t>，在“对象资源管理器”窗口中展开“数据库”→“</a:t>
            </a:r>
            <a:r>
              <a:rPr lang="en-US" altLang="zh-CN"/>
              <a:t>pxscj</a:t>
            </a:r>
            <a:r>
              <a:rPr lang="zh-CN" altLang="zh-CN"/>
              <a:t>”→“安全性”→“角色”，右键单击“新建”，选择“新建应用程序角色”，如图</a:t>
            </a:r>
            <a:r>
              <a:rPr lang="en-US" altLang="zh-CN"/>
              <a:t>9.9</a:t>
            </a:r>
            <a:r>
              <a:rPr lang="zh-CN" altLang="zh-CN"/>
              <a:t>所示。</a:t>
            </a:r>
            <a:endParaRPr lang="zh-CN" altLang="zh-CN"/>
          </a:p>
          <a:p>
            <a:pPr eaLnBrk="1" hangingPunct="1"/>
            <a:endParaRPr lang="zh-CN" altLang="en-US"/>
          </a:p>
        </p:txBody>
      </p:sp>
      <p:pic>
        <p:nvPicPr>
          <p:cNvPr id="4403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25700" y="2781300"/>
            <a:ext cx="4233863" cy="295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9.3.4  </a:t>
            </a:r>
            <a:r>
              <a:rPr lang="zh-CN" altLang="zh-CN" dirty="0">
                <a:effectLst/>
              </a:rPr>
              <a:t>应用程序角色</a:t>
            </a:r>
            <a:endParaRPr lang="zh-CN" altLang="en-US" dirty="0"/>
          </a:p>
        </p:txBody>
      </p:sp>
      <p:sp>
        <p:nvSpPr>
          <p:cNvPr id="3" name="TextBox 2"/>
          <p:cNvSpPr txBox="1"/>
          <p:nvPr/>
        </p:nvSpPr>
        <p:spPr>
          <a:xfrm>
            <a:off x="395288" y="1412875"/>
            <a:ext cx="8280400" cy="923925"/>
          </a:xfrm>
          <a:prstGeom prst="rect">
            <a:avLst/>
          </a:prstGeom>
          <a:noFill/>
        </p:spPr>
        <p:txBody>
          <a:bodyPr>
            <a:spAutoFit/>
          </a:bodyPr>
          <a:lstStyle/>
          <a:p>
            <a:pPr indent="450850" fontAlgn="auto">
              <a:spcBef>
                <a:spcPts val="0"/>
              </a:spcBef>
              <a:spcAft>
                <a:spcPts val="0"/>
              </a:spcAft>
              <a:defRPr/>
            </a:pPr>
            <a:r>
              <a:rPr lang="zh-CN" altLang="zh-CN" dirty="0">
                <a:latin typeface="+mn-lt"/>
                <a:ea typeface="+mn-ea"/>
              </a:rPr>
              <a:t>（</a:t>
            </a:r>
            <a:r>
              <a:rPr lang="en-US" altLang="zh-CN" dirty="0">
                <a:latin typeface="+mn-lt"/>
                <a:ea typeface="+mn-ea"/>
              </a:rPr>
              <a:t>2</a:t>
            </a:r>
            <a:r>
              <a:rPr lang="zh-CN" altLang="zh-CN" dirty="0">
                <a:latin typeface="+mn-lt"/>
                <a:ea typeface="+mn-ea"/>
              </a:rPr>
              <a:t>）在“应用程序角色</a:t>
            </a:r>
            <a:r>
              <a:rPr lang="en-US" altLang="zh-CN" dirty="0">
                <a:latin typeface="+mn-lt"/>
                <a:ea typeface="+mn-ea"/>
              </a:rPr>
              <a:t>-</a:t>
            </a:r>
            <a:r>
              <a:rPr lang="zh-CN" altLang="zh-CN" dirty="0">
                <a:latin typeface="+mn-lt"/>
                <a:ea typeface="+mn-ea"/>
              </a:rPr>
              <a:t>新建”窗口中输入应用程序角色名称“</a:t>
            </a:r>
            <a:r>
              <a:rPr lang="en-US" altLang="zh-CN" dirty="0">
                <a:latin typeface="+mn-lt"/>
                <a:ea typeface="+mn-ea"/>
              </a:rPr>
              <a:t>APPROLE</a:t>
            </a:r>
            <a:r>
              <a:rPr lang="zh-CN" altLang="zh-CN" dirty="0">
                <a:latin typeface="+mn-lt"/>
                <a:ea typeface="+mn-ea"/>
              </a:rPr>
              <a:t>”，默认架构“</a:t>
            </a:r>
            <a:r>
              <a:rPr lang="en-US" altLang="zh-CN" dirty="0" err="1">
                <a:latin typeface="+mn-lt"/>
                <a:ea typeface="+mn-ea"/>
              </a:rPr>
              <a:t>dbo</a:t>
            </a:r>
            <a:r>
              <a:rPr lang="zh-CN" altLang="zh-CN" dirty="0">
                <a:latin typeface="+mn-lt"/>
                <a:ea typeface="+mn-ea"/>
              </a:rPr>
              <a:t>”，设置密码为“</a:t>
            </a:r>
            <a:r>
              <a:rPr lang="en-US" altLang="zh-CN" dirty="0">
                <a:latin typeface="+mn-lt"/>
                <a:ea typeface="+mn-ea"/>
              </a:rPr>
              <a:t>123</a:t>
            </a:r>
            <a:r>
              <a:rPr lang="zh-CN" altLang="zh-CN" dirty="0">
                <a:latin typeface="+mn-lt"/>
                <a:ea typeface="+mn-ea"/>
              </a:rPr>
              <a:t>”，如图</a:t>
            </a:r>
            <a:r>
              <a:rPr lang="en-US" altLang="zh-CN" dirty="0">
                <a:latin typeface="+mn-lt"/>
                <a:ea typeface="+mn-ea"/>
              </a:rPr>
              <a:t>9.10</a:t>
            </a:r>
            <a:r>
              <a:rPr lang="zh-CN" altLang="zh-CN" dirty="0">
                <a:latin typeface="+mn-lt"/>
                <a:ea typeface="+mn-ea"/>
              </a:rPr>
              <a:t>所示。</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pic>
        <p:nvPicPr>
          <p:cNvPr id="4506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54213" y="2205038"/>
            <a:ext cx="4319587" cy="389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9.3.4  </a:t>
            </a:r>
            <a:r>
              <a:rPr lang="zh-CN" altLang="zh-CN" dirty="0">
                <a:effectLst/>
              </a:rPr>
              <a:t>应用程序角色</a:t>
            </a:r>
            <a:endParaRPr lang="zh-CN" altLang="en-US" dirty="0"/>
          </a:p>
        </p:txBody>
      </p:sp>
      <p:sp>
        <p:nvSpPr>
          <p:cNvPr id="3" name="TextBox 2"/>
          <p:cNvSpPr txBox="1"/>
          <p:nvPr/>
        </p:nvSpPr>
        <p:spPr>
          <a:xfrm>
            <a:off x="395288" y="1484313"/>
            <a:ext cx="8280400" cy="1200150"/>
          </a:xfrm>
          <a:prstGeom prst="rect">
            <a:avLst/>
          </a:prstGeom>
          <a:noFill/>
        </p:spPr>
        <p:txBody>
          <a:bodyPr>
            <a:spAutoFit/>
          </a:bodyPr>
          <a:lstStyle/>
          <a:p>
            <a:pPr indent="450850" fontAlgn="auto">
              <a:spcBef>
                <a:spcPts val="0"/>
              </a:spcBef>
              <a:spcAft>
                <a:spcPts val="0"/>
              </a:spcAft>
              <a:defRPr/>
            </a:pPr>
            <a:r>
              <a:rPr lang="zh-CN" altLang="zh-CN" dirty="0">
                <a:latin typeface="+mn-lt"/>
                <a:ea typeface="+mn-ea"/>
              </a:rPr>
              <a:t>在“安全对象”选项页中，可以单击“搜索”按钮，添加“特定对象”，选择对象为表</a:t>
            </a:r>
            <a:r>
              <a:rPr lang="en-US" altLang="zh-CN" dirty="0" err="1">
                <a:latin typeface="+mn-lt"/>
                <a:ea typeface="+mn-ea"/>
              </a:rPr>
              <a:t>xsb</a:t>
            </a:r>
            <a:r>
              <a:rPr lang="zh-CN" altLang="zh-CN" dirty="0">
                <a:latin typeface="+mn-lt"/>
                <a:ea typeface="+mn-ea"/>
              </a:rPr>
              <a:t>。单击“确定”按钮回到“安全对象”选项页中，授予表</a:t>
            </a:r>
            <a:r>
              <a:rPr lang="en-US" altLang="zh-CN" dirty="0" err="1">
                <a:latin typeface="+mn-lt"/>
                <a:ea typeface="+mn-ea"/>
              </a:rPr>
              <a:t>xsb</a:t>
            </a:r>
            <a:r>
              <a:rPr lang="zh-CN" altLang="zh-CN" dirty="0">
                <a:latin typeface="+mn-lt"/>
                <a:ea typeface="+mn-ea"/>
              </a:rPr>
              <a:t>的“选择”权限，如图</a:t>
            </a:r>
            <a:r>
              <a:rPr lang="en-US" altLang="zh-CN" dirty="0">
                <a:latin typeface="+mn-lt"/>
                <a:ea typeface="+mn-ea"/>
              </a:rPr>
              <a:t>9.11</a:t>
            </a:r>
            <a:r>
              <a:rPr lang="zh-CN" altLang="zh-CN" dirty="0">
                <a:latin typeface="+mn-lt"/>
                <a:ea typeface="+mn-ea"/>
              </a:rPr>
              <a:t>所示，完成后单击“确认”按钮。</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pic>
        <p:nvPicPr>
          <p:cNvPr id="4608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4075" y="2420938"/>
            <a:ext cx="4608513" cy="414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4438650"/>
            <a:ext cx="7848600" cy="3587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852738"/>
            <a:ext cx="7848600" cy="7921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9.3.4  </a:t>
            </a:r>
            <a:r>
              <a:rPr lang="zh-CN" altLang="zh-CN" dirty="0">
                <a:effectLst/>
              </a:rPr>
              <a:t>应用程序角色</a:t>
            </a:r>
            <a:endParaRPr lang="zh-CN" altLang="en-US" dirty="0"/>
          </a:p>
        </p:txBody>
      </p:sp>
      <p:sp>
        <p:nvSpPr>
          <p:cNvPr id="3" name="TextBox 2"/>
          <p:cNvSpPr txBox="1"/>
          <p:nvPr/>
        </p:nvSpPr>
        <p:spPr>
          <a:xfrm>
            <a:off x="468313" y="1557338"/>
            <a:ext cx="8207375" cy="3970337"/>
          </a:xfrm>
          <a:prstGeom prst="rect">
            <a:avLst/>
          </a:prstGeom>
          <a:noFill/>
        </p:spPr>
        <p:txBody>
          <a:bodyPr>
            <a:spAutoFit/>
          </a:bodyPr>
          <a:lstStyle/>
          <a:p>
            <a:pPr indent="450850" fontAlgn="auto">
              <a:lnSpc>
                <a:spcPct val="150000"/>
              </a:lnSpc>
              <a:spcBef>
                <a:spcPts val="0"/>
              </a:spcBef>
              <a:spcAft>
                <a:spcPts val="0"/>
              </a:spcAft>
              <a:defRPr/>
            </a:pPr>
            <a:r>
              <a:rPr lang="zh-CN" altLang="zh-CN" dirty="0">
                <a:latin typeface="+mn-lt"/>
                <a:ea typeface="+mn-ea"/>
              </a:rPr>
              <a:t>（</a:t>
            </a:r>
            <a:r>
              <a:rPr lang="en-US" altLang="zh-CN" dirty="0">
                <a:latin typeface="+mn-lt"/>
                <a:ea typeface="+mn-ea"/>
              </a:rPr>
              <a:t>3</a:t>
            </a:r>
            <a:r>
              <a:rPr lang="zh-CN" altLang="zh-CN" dirty="0">
                <a:latin typeface="+mn-lt"/>
                <a:ea typeface="+mn-ea"/>
              </a:rPr>
              <a:t>）添加</a:t>
            </a:r>
            <a:r>
              <a:rPr lang="en-US" altLang="zh-CN" dirty="0" err="1">
                <a:latin typeface="+mn-lt"/>
                <a:ea typeface="+mn-ea"/>
              </a:rPr>
              <a:t>User_sql_tao</a:t>
            </a:r>
            <a:r>
              <a:rPr lang="zh-CN" altLang="zh-CN" dirty="0">
                <a:latin typeface="+mn-lt"/>
                <a:ea typeface="+mn-ea"/>
              </a:rPr>
              <a:t>用户为</a:t>
            </a:r>
            <a:r>
              <a:rPr lang="en-US" altLang="zh-CN" dirty="0" err="1">
                <a:latin typeface="+mn-lt"/>
                <a:ea typeface="+mn-ea"/>
              </a:rPr>
              <a:t>db_denydatareader</a:t>
            </a:r>
            <a:r>
              <a:rPr lang="zh-CN" altLang="zh-CN" dirty="0">
                <a:latin typeface="+mn-lt"/>
                <a:ea typeface="+mn-ea"/>
              </a:rPr>
              <a:t>数据库角色的成员，使用“</a:t>
            </a:r>
            <a:r>
              <a:rPr lang="en-US" altLang="zh-CN" dirty="0" err="1">
                <a:latin typeface="+mn-lt"/>
                <a:ea typeface="+mn-ea"/>
              </a:rPr>
              <a:t>sql_tao</a:t>
            </a:r>
            <a:r>
              <a:rPr lang="zh-CN" altLang="zh-CN" dirty="0">
                <a:latin typeface="+mn-lt"/>
                <a:ea typeface="+mn-ea"/>
              </a:rPr>
              <a:t>”登录名连接</a:t>
            </a:r>
            <a:r>
              <a:rPr lang="en-US" altLang="zh-CN" dirty="0">
                <a:latin typeface="+mn-lt"/>
                <a:ea typeface="+mn-ea"/>
              </a:rPr>
              <a:t>SQL Server</a:t>
            </a:r>
            <a:r>
              <a:rPr lang="zh-CN" altLang="zh-CN" dirty="0">
                <a:latin typeface="+mn-lt"/>
                <a:ea typeface="+mn-ea"/>
              </a:rPr>
              <a:t>。</a:t>
            </a:r>
            <a:endParaRPr lang="zh-CN" altLang="zh-CN" dirty="0">
              <a:latin typeface="+mn-lt"/>
              <a:ea typeface="+mn-ea"/>
            </a:endParaRPr>
          </a:p>
          <a:p>
            <a:pPr indent="450850" fontAlgn="auto">
              <a:lnSpc>
                <a:spcPct val="150000"/>
              </a:lnSpc>
              <a:spcBef>
                <a:spcPts val="0"/>
              </a:spcBef>
              <a:spcAft>
                <a:spcPts val="0"/>
              </a:spcAft>
              <a:defRPr/>
            </a:pPr>
            <a:r>
              <a:rPr lang="zh-CN" altLang="zh-CN" dirty="0">
                <a:latin typeface="+mn-lt"/>
                <a:ea typeface="+mn-ea"/>
              </a:rPr>
              <a:t>此后，在查询窗口中输入如下语句：</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USE </a:t>
            </a:r>
            <a:r>
              <a:rPr lang="en-US" altLang="zh-CN" dirty="0" err="1">
                <a:latin typeface="+mn-lt"/>
                <a:ea typeface="+mn-ea"/>
              </a:rPr>
              <a:t>pxscj</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SELECT * FROM </a:t>
            </a:r>
            <a:r>
              <a:rPr lang="en-US" altLang="zh-CN" dirty="0" err="1">
                <a:latin typeface="+mn-lt"/>
                <a:ea typeface="+mn-ea"/>
              </a:rPr>
              <a:t>xsb</a:t>
            </a:r>
            <a:endParaRPr lang="en-US" altLang="zh-CN" dirty="0">
              <a:latin typeface="+mn-lt"/>
              <a:ea typeface="+mn-ea"/>
            </a:endParaRPr>
          </a:p>
          <a:p>
            <a:pPr indent="450850" fontAlgn="auto">
              <a:spcBef>
                <a:spcPts val="0"/>
              </a:spcBef>
              <a:spcAft>
                <a:spcPts val="0"/>
              </a:spcAft>
              <a:defRPr/>
            </a:pPr>
            <a:r>
              <a:rPr lang="zh-CN" altLang="en-US" dirty="0">
                <a:solidFill>
                  <a:srgbClr val="FF0000"/>
                </a:solidFill>
                <a:latin typeface="+mn-lt"/>
                <a:ea typeface="+mn-ea"/>
              </a:rPr>
              <a:t>运行结果显示出错信息。</a:t>
            </a:r>
            <a:endParaRPr lang="zh-CN" altLang="zh-CN" dirty="0">
              <a:solidFill>
                <a:srgbClr val="FF0000"/>
              </a:solidFill>
              <a:latin typeface="+mn-lt"/>
              <a:ea typeface="+mn-ea"/>
            </a:endParaRPr>
          </a:p>
          <a:p>
            <a:pPr indent="450850" fontAlgn="auto">
              <a:lnSpc>
                <a:spcPct val="150000"/>
              </a:lnSpc>
              <a:spcBef>
                <a:spcPts val="0"/>
              </a:spcBef>
              <a:spcAft>
                <a:spcPts val="0"/>
              </a:spcAft>
              <a:defRPr/>
            </a:pPr>
            <a:r>
              <a:rPr lang="zh-CN" altLang="zh-CN" dirty="0">
                <a:latin typeface="+mn-lt"/>
                <a:ea typeface="+mn-ea"/>
              </a:rPr>
              <a:t>（</a:t>
            </a:r>
            <a:r>
              <a:rPr lang="en-US" altLang="zh-CN" dirty="0">
                <a:latin typeface="+mn-lt"/>
                <a:ea typeface="+mn-ea"/>
              </a:rPr>
              <a:t>4</a:t>
            </a:r>
            <a:r>
              <a:rPr lang="zh-CN" altLang="zh-CN" dirty="0">
                <a:latin typeface="+mn-lt"/>
                <a:ea typeface="+mn-ea"/>
              </a:rPr>
              <a:t>）使用系统存储过程</a:t>
            </a:r>
            <a:r>
              <a:rPr lang="en-US" altLang="zh-CN" dirty="0" err="1">
                <a:latin typeface="+mn-lt"/>
                <a:ea typeface="+mn-ea"/>
              </a:rPr>
              <a:t>sp_setapprole</a:t>
            </a:r>
            <a:r>
              <a:rPr lang="zh-CN" altLang="zh-CN" dirty="0">
                <a:latin typeface="+mn-lt"/>
                <a:ea typeface="+mn-ea"/>
              </a:rPr>
              <a:t>激活应用程序角色，语句如下：</a:t>
            </a:r>
            <a:endParaRPr lang="zh-CN" altLang="zh-CN" dirty="0">
              <a:latin typeface="+mn-lt"/>
              <a:ea typeface="+mn-ea"/>
            </a:endParaRPr>
          </a:p>
          <a:p>
            <a:pPr indent="450850" fontAlgn="auto">
              <a:lnSpc>
                <a:spcPct val="150000"/>
              </a:lnSpc>
              <a:spcBef>
                <a:spcPts val="0"/>
              </a:spcBef>
              <a:spcAft>
                <a:spcPts val="0"/>
              </a:spcAft>
              <a:defRPr/>
            </a:pPr>
            <a:r>
              <a:rPr lang="en-US" altLang="zh-CN" dirty="0">
                <a:latin typeface="+mn-lt"/>
                <a:ea typeface="+mn-ea"/>
              </a:rPr>
              <a:t>EXEC </a:t>
            </a:r>
            <a:r>
              <a:rPr lang="en-US" altLang="zh-CN" dirty="0" err="1">
                <a:latin typeface="+mn-lt"/>
                <a:ea typeface="+mn-ea"/>
              </a:rPr>
              <a:t>sp_setapprole</a:t>
            </a:r>
            <a:r>
              <a:rPr lang="en-US" altLang="zh-CN" dirty="0">
                <a:latin typeface="+mn-lt"/>
                <a:ea typeface="+mn-ea"/>
              </a:rPr>
              <a:t> 'APPROLE', '123'</a:t>
            </a:r>
            <a:endParaRPr lang="zh-CN" altLang="zh-CN" dirty="0">
              <a:latin typeface="+mn-lt"/>
              <a:ea typeface="+mn-ea"/>
            </a:endParaRPr>
          </a:p>
          <a:p>
            <a:pPr indent="450850" fontAlgn="auto">
              <a:lnSpc>
                <a:spcPct val="150000"/>
              </a:lnSpc>
              <a:spcBef>
                <a:spcPts val="0"/>
              </a:spcBef>
              <a:spcAft>
                <a:spcPts val="0"/>
              </a:spcAft>
              <a:defRPr/>
            </a:pPr>
            <a:r>
              <a:rPr lang="zh-CN" altLang="zh-CN" dirty="0">
                <a:latin typeface="+mn-lt"/>
                <a:ea typeface="+mn-ea"/>
              </a:rPr>
              <a:t>（</a:t>
            </a:r>
            <a:r>
              <a:rPr lang="en-US" altLang="zh-CN" dirty="0">
                <a:latin typeface="+mn-lt"/>
                <a:ea typeface="+mn-ea"/>
              </a:rPr>
              <a:t>5</a:t>
            </a:r>
            <a:r>
              <a:rPr lang="zh-CN" altLang="zh-CN" dirty="0">
                <a:latin typeface="+mn-lt"/>
                <a:ea typeface="+mn-ea"/>
              </a:rPr>
              <a:t>）在查询窗口中重新输入第（</a:t>
            </a:r>
            <a:r>
              <a:rPr lang="en-US" altLang="zh-CN" dirty="0">
                <a:latin typeface="+mn-lt"/>
                <a:ea typeface="+mn-ea"/>
              </a:rPr>
              <a:t>3</a:t>
            </a:r>
            <a:r>
              <a:rPr lang="zh-CN" altLang="zh-CN" dirty="0">
                <a:latin typeface="+mn-lt"/>
                <a:ea typeface="+mn-ea"/>
              </a:rPr>
              <a:t>）中的查询语句，</a:t>
            </a:r>
            <a:r>
              <a:rPr lang="zh-CN" altLang="zh-CN" dirty="0">
                <a:solidFill>
                  <a:srgbClr val="FF0000"/>
                </a:solidFill>
                <a:latin typeface="+mn-lt"/>
                <a:ea typeface="+mn-ea"/>
              </a:rPr>
              <a:t>成功地执行了查询</a:t>
            </a:r>
            <a:r>
              <a:rPr lang="zh-CN" altLang="zh-CN" dirty="0">
                <a:latin typeface="+mn-lt"/>
                <a:ea typeface="+mn-ea"/>
              </a:rPr>
              <a:t>。</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blinds dir="vert"/>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8050" y="5157788"/>
            <a:ext cx="7777163" cy="1295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924175"/>
            <a:ext cx="7775575" cy="8651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9.4  </a:t>
            </a:r>
            <a:r>
              <a:rPr lang="zh-CN" altLang="zh-CN" dirty="0">
                <a:effectLst/>
              </a:rPr>
              <a:t>数据库权限的管理</a:t>
            </a:r>
            <a:endParaRPr lang="zh-CN" altLang="zh-CN" dirty="0">
              <a:effectLst/>
            </a:endParaRPr>
          </a:p>
        </p:txBody>
      </p:sp>
      <p:sp>
        <p:nvSpPr>
          <p:cNvPr id="3" name="TextBox 2"/>
          <p:cNvSpPr txBox="1"/>
          <p:nvPr/>
        </p:nvSpPr>
        <p:spPr>
          <a:xfrm>
            <a:off x="468313" y="1484313"/>
            <a:ext cx="8207375" cy="5663089"/>
          </a:xfrm>
          <a:prstGeom prst="rect">
            <a:avLst/>
          </a:prstGeom>
          <a:noFill/>
        </p:spPr>
        <p:txBody>
          <a:bodyPr>
            <a:spAutoFit/>
          </a:bodyPr>
          <a:lstStyle/>
          <a:p>
            <a:pPr indent="450850" fontAlgn="auto">
              <a:spcBef>
                <a:spcPts val="0"/>
              </a:spcBef>
              <a:spcAft>
                <a:spcPts val="0"/>
              </a:spcAft>
              <a:defRPr/>
            </a:pPr>
            <a:r>
              <a:rPr lang="en-US" altLang="zh-CN" sz="2000" b="1" dirty="0">
                <a:latin typeface="+mn-lt"/>
                <a:ea typeface="+mn-ea"/>
              </a:rPr>
              <a:t>9.4.1  </a:t>
            </a:r>
            <a:r>
              <a:rPr lang="zh-CN" altLang="zh-CN" sz="2000" b="1" dirty="0">
                <a:latin typeface="+mn-lt"/>
                <a:ea typeface="+mn-ea"/>
              </a:rPr>
              <a:t>授予权限：</a:t>
            </a:r>
            <a:r>
              <a:rPr lang="en-US" altLang="zh-CN" sz="2000" b="1" dirty="0">
                <a:latin typeface="+mn-lt"/>
                <a:ea typeface="+mn-ea"/>
              </a:rPr>
              <a:t>GRANT</a:t>
            </a:r>
            <a:endParaRPr lang="zh-CN" altLang="zh-CN" sz="2000" b="1" dirty="0">
              <a:latin typeface="+mn-lt"/>
              <a:ea typeface="+mn-ea"/>
            </a:endParaRPr>
          </a:p>
          <a:p>
            <a:pPr indent="450850" fontAlgn="auto">
              <a:spcBef>
                <a:spcPts val="0"/>
              </a:spcBef>
              <a:spcAft>
                <a:spcPts val="0"/>
              </a:spcAft>
              <a:defRPr/>
            </a:pPr>
            <a:r>
              <a:rPr lang="en-US" altLang="zh-CN" b="1" dirty="0">
                <a:solidFill>
                  <a:srgbClr val="C00000"/>
                </a:solidFill>
                <a:latin typeface="+mn-lt"/>
                <a:ea typeface="+mn-ea"/>
              </a:rPr>
              <a:t>1</a:t>
            </a:r>
            <a:r>
              <a:rPr lang="zh-CN" altLang="zh-CN" b="1" dirty="0">
                <a:solidFill>
                  <a:srgbClr val="C00000"/>
                </a:solidFill>
                <a:latin typeface="+mn-lt"/>
                <a:ea typeface="+mn-ea"/>
              </a:rPr>
              <a:t>．命令方式授予权限</a:t>
            </a:r>
            <a:endParaRPr lang="zh-CN" altLang="zh-CN" b="1" dirty="0">
              <a:solidFill>
                <a:srgbClr val="C00000"/>
              </a:solidFill>
              <a:latin typeface="+mn-lt"/>
              <a:ea typeface="+mn-ea"/>
            </a:endParaRPr>
          </a:p>
          <a:p>
            <a:pPr indent="450850" fontAlgn="auto">
              <a:spcBef>
                <a:spcPts val="0"/>
              </a:spcBef>
              <a:spcAft>
                <a:spcPts val="0"/>
              </a:spcAft>
              <a:defRPr/>
            </a:pPr>
            <a:r>
              <a:rPr lang="zh-CN" altLang="zh-CN" dirty="0">
                <a:latin typeface="+mn-lt"/>
                <a:ea typeface="+mn-ea"/>
              </a:rPr>
              <a:t>利用</a:t>
            </a:r>
            <a:r>
              <a:rPr lang="en-US" altLang="zh-CN" dirty="0">
                <a:latin typeface="+mn-lt"/>
                <a:ea typeface="+mn-ea"/>
              </a:rPr>
              <a:t>GRANT</a:t>
            </a:r>
            <a:r>
              <a:rPr lang="zh-CN" altLang="zh-CN" dirty="0">
                <a:latin typeface="+mn-lt"/>
                <a:ea typeface="+mn-ea"/>
              </a:rPr>
              <a:t>语句可以给数据库用户或数据库角色授予数据库级别或对象级别的权限。</a:t>
            </a:r>
            <a:endParaRPr lang="zh-CN" altLang="zh-CN" dirty="0">
              <a:latin typeface="+mn-lt"/>
              <a:ea typeface="+mn-ea"/>
            </a:endParaRPr>
          </a:p>
          <a:p>
            <a:pPr indent="450850" fontAlgn="auto">
              <a:spcBef>
                <a:spcPts val="0"/>
              </a:spcBef>
              <a:spcAft>
                <a:spcPts val="0"/>
              </a:spcAft>
              <a:defRPr/>
            </a:pPr>
            <a:r>
              <a:rPr lang="zh-CN" altLang="zh-CN" dirty="0">
                <a:latin typeface="+mn-lt"/>
                <a:ea typeface="+mn-ea"/>
              </a:rPr>
              <a:t>语法格式：</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GRANT { ALL [ PRIVILEGES ] } | </a:t>
            </a:r>
            <a:r>
              <a:rPr lang="zh-CN" altLang="zh-CN" dirty="0">
                <a:latin typeface="+mn-lt"/>
                <a:ea typeface="+mn-ea"/>
              </a:rPr>
              <a:t>权限</a:t>
            </a:r>
            <a:r>
              <a:rPr lang="en-US" altLang="zh-CN" dirty="0">
                <a:latin typeface="+mn-lt"/>
                <a:ea typeface="+mn-ea"/>
              </a:rPr>
              <a:t> [ ( </a:t>
            </a:r>
            <a:r>
              <a:rPr lang="zh-CN" altLang="zh-CN" dirty="0">
                <a:latin typeface="+mn-lt"/>
                <a:ea typeface="+mn-ea"/>
              </a:rPr>
              <a:t>列</a:t>
            </a:r>
            <a:r>
              <a:rPr lang="en-US" altLang="zh-CN" dirty="0">
                <a:latin typeface="+mn-lt"/>
                <a:ea typeface="+mn-ea"/>
              </a:rPr>
              <a:t> [ , ... ] </a:t>
            </a:r>
            <a:r>
              <a:rPr lang="zh-CN" altLang="zh-CN" dirty="0">
                <a:latin typeface="+mn-lt"/>
                <a:ea typeface="+mn-ea"/>
              </a:rPr>
              <a:t>）</a:t>
            </a:r>
            <a:r>
              <a:rPr lang="en-US" altLang="zh-CN" dirty="0">
                <a:latin typeface="+mn-lt"/>
                <a:ea typeface="+mn-ea"/>
              </a:rPr>
              <a:t>] [ , ... ]</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 ON </a:t>
            </a:r>
            <a:r>
              <a:rPr lang="zh-CN" altLang="zh-CN" dirty="0">
                <a:latin typeface="+mn-lt"/>
                <a:ea typeface="+mn-ea"/>
              </a:rPr>
              <a:t>安全对象</a:t>
            </a:r>
            <a:r>
              <a:rPr lang="en-US" altLang="zh-CN" dirty="0">
                <a:latin typeface="+mn-lt"/>
                <a:ea typeface="+mn-ea"/>
              </a:rPr>
              <a:t> ] TO </a:t>
            </a:r>
            <a:r>
              <a:rPr lang="zh-CN" altLang="zh-CN" dirty="0">
                <a:latin typeface="+mn-lt"/>
                <a:ea typeface="+mn-ea"/>
              </a:rPr>
              <a:t>主体</a:t>
            </a:r>
            <a:r>
              <a:rPr lang="en-US" altLang="zh-CN" dirty="0">
                <a:latin typeface="+mn-lt"/>
                <a:ea typeface="+mn-ea"/>
              </a:rPr>
              <a:t> [ , ... ]</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 WITH GRANT OPTION ] [ AS </a:t>
            </a:r>
            <a:r>
              <a:rPr lang="zh-CN" altLang="zh-CN" dirty="0">
                <a:latin typeface="+mn-lt"/>
                <a:ea typeface="+mn-ea"/>
              </a:rPr>
              <a:t>主体</a:t>
            </a:r>
            <a:r>
              <a:rPr lang="en-US" altLang="zh-CN" dirty="0">
                <a:latin typeface="+mn-lt"/>
                <a:ea typeface="+mn-ea"/>
              </a:rPr>
              <a:t> ]</a:t>
            </a:r>
            <a:endParaRPr lang="zh-CN" altLang="zh-CN" dirty="0">
              <a:latin typeface="+mn-lt"/>
              <a:ea typeface="+mn-ea"/>
            </a:endParaRPr>
          </a:p>
          <a:p>
            <a:pPr indent="450850" fontAlgn="auto">
              <a:spcBef>
                <a:spcPts val="0"/>
              </a:spcBef>
              <a:spcAft>
                <a:spcPts val="0"/>
              </a:spcAft>
              <a:defRPr/>
            </a:pPr>
            <a:r>
              <a:rPr lang="zh-CN" altLang="zh-CN" dirty="0">
                <a:latin typeface="+mn-lt"/>
                <a:ea typeface="+mn-ea"/>
              </a:rPr>
              <a:t>【例</a:t>
            </a:r>
            <a:r>
              <a:rPr lang="en-US" altLang="zh-CN" dirty="0">
                <a:latin typeface="+mn-lt"/>
                <a:ea typeface="+mn-ea"/>
              </a:rPr>
              <a:t>9.13</a:t>
            </a:r>
            <a:r>
              <a:rPr lang="zh-CN" altLang="zh-CN" dirty="0">
                <a:latin typeface="+mn-lt"/>
                <a:ea typeface="+mn-ea"/>
              </a:rPr>
              <a:t>】 给</a:t>
            </a:r>
            <a:r>
              <a:rPr lang="en-US" altLang="zh-CN" dirty="0" err="1">
                <a:latin typeface="+mn-lt"/>
                <a:ea typeface="+mn-ea"/>
              </a:rPr>
              <a:t>pxscj</a:t>
            </a:r>
            <a:r>
              <a:rPr lang="zh-CN" altLang="zh-CN" dirty="0">
                <a:latin typeface="+mn-lt"/>
                <a:ea typeface="+mn-ea"/>
              </a:rPr>
              <a:t>数据库上的用户</a:t>
            </a:r>
            <a:r>
              <a:rPr lang="en-US" altLang="zh-CN" dirty="0" err="1">
                <a:latin typeface="+mn-lt"/>
                <a:ea typeface="+mn-ea"/>
              </a:rPr>
              <a:t>User_wang</a:t>
            </a:r>
            <a:r>
              <a:rPr lang="zh-CN" altLang="zh-CN" dirty="0">
                <a:latin typeface="+mn-lt"/>
                <a:ea typeface="+mn-ea"/>
              </a:rPr>
              <a:t>和</a:t>
            </a:r>
            <a:r>
              <a:rPr lang="en-US" altLang="zh-CN" dirty="0" err="1">
                <a:latin typeface="+mn-lt"/>
                <a:ea typeface="+mn-ea"/>
              </a:rPr>
              <a:t>User_sql_wang</a:t>
            </a:r>
            <a:r>
              <a:rPr lang="zh-CN" altLang="zh-CN" dirty="0">
                <a:latin typeface="+mn-lt"/>
                <a:ea typeface="+mn-ea"/>
              </a:rPr>
              <a:t>授予创建表的权限。</a:t>
            </a:r>
            <a:endParaRPr lang="zh-CN" altLang="zh-CN" dirty="0">
              <a:latin typeface="+mn-lt"/>
              <a:ea typeface="+mn-ea"/>
            </a:endParaRPr>
          </a:p>
          <a:p>
            <a:pPr indent="450850" fontAlgn="auto">
              <a:spcBef>
                <a:spcPts val="0"/>
              </a:spcBef>
              <a:spcAft>
                <a:spcPts val="0"/>
              </a:spcAft>
              <a:defRPr/>
            </a:pPr>
            <a:r>
              <a:rPr lang="zh-CN" altLang="zh-CN" dirty="0">
                <a:latin typeface="+mn-lt"/>
                <a:ea typeface="+mn-ea"/>
              </a:rPr>
              <a:t>用上述方法创建</a:t>
            </a:r>
            <a:r>
              <a:rPr lang="en-US" altLang="zh-CN" dirty="0">
                <a:latin typeface="+mn-lt"/>
                <a:ea typeface="+mn-ea"/>
              </a:rPr>
              <a:t>Windows</a:t>
            </a:r>
            <a:r>
              <a:rPr lang="zh-CN" altLang="zh-CN" dirty="0">
                <a:latin typeface="+mn-lt"/>
                <a:ea typeface="+mn-ea"/>
              </a:rPr>
              <a:t>登录名“</a:t>
            </a:r>
            <a:r>
              <a:rPr lang="en-US" altLang="zh-CN" dirty="0" err="1">
                <a:latin typeface="+mn-lt"/>
                <a:ea typeface="+mn-ea"/>
              </a:rPr>
              <a:t>wang</a:t>
            </a:r>
            <a:r>
              <a:rPr lang="zh-CN" altLang="zh-CN" dirty="0">
                <a:latin typeface="+mn-lt"/>
                <a:ea typeface="+mn-ea"/>
              </a:rPr>
              <a:t>”，</a:t>
            </a:r>
            <a:r>
              <a:rPr lang="en-US" altLang="zh-CN" dirty="0" err="1">
                <a:latin typeface="+mn-lt"/>
                <a:ea typeface="+mn-ea"/>
              </a:rPr>
              <a:t>pxscj</a:t>
            </a:r>
            <a:r>
              <a:rPr lang="zh-CN" altLang="zh-CN" dirty="0">
                <a:latin typeface="+mn-lt"/>
                <a:ea typeface="+mn-ea"/>
              </a:rPr>
              <a:t>数据库用户“</a:t>
            </a:r>
            <a:r>
              <a:rPr lang="en-US" altLang="zh-CN" dirty="0" err="1">
                <a:latin typeface="+mn-lt"/>
                <a:ea typeface="+mn-ea"/>
              </a:rPr>
              <a:t>User_wang</a:t>
            </a:r>
            <a:r>
              <a:rPr lang="zh-CN" altLang="zh-CN" dirty="0">
                <a:latin typeface="+mn-lt"/>
                <a:ea typeface="+mn-ea"/>
              </a:rPr>
              <a:t>”。 创建</a:t>
            </a:r>
            <a:r>
              <a:rPr lang="en-US" altLang="zh-CN" dirty="0">
                <a:latin typeface="+mn-lt"/>
                <a:ea typeface="+mn-ea"/>
              </a:rPr>
              <a:t>SQL Server</a:t>
            </a:r>
            <a:r>
              <a:rPr lang="zh-CN" altLang="zh-CN" dirty="0">
                <a:latin typeface="+mn-lt"/>
                <a:ea typeface="+mn-ea"/>
              </a:rPr>
              <a:t>登录名“</a:t>
            </a:r>
            <a:r>
              <a:rPr lang="en-US" altLang="zh-CN" dirty="0" err="1">
                <a:latin typeface="+mn-lt"/>
                <a:ea typeface="+mn-ea"/>
              </a:rPr>
              <a:t>sql_wang</a:t>
            </a:r>
            <a:r>
              <a:rPr lang="zh-CN" altLang="zh-CN" dirty="0">
                <a:latin typeface="+mn-lt"/>
                <a:ea typeface="+mn-ea"/>
              </a:rPr>
              <a:t>”，</a:t>
            </a:r>
            <a:r>
              <a:rPr lang="en-US" altLang="zh-CN" dirty="0" err="1">
                <a:latin typeface="+mn-lt"/>
                <a:ea typeface="+mn-ea"/>
              </a:rPr>
              <a:t>pxscj</a:t>
            </a:r>
            <a:r>
              <a:rPr lang="zh-CN" altLang="zh-CN" dirty="0">
                <a:latin typeface="+mn-lt"/>
                <a:ea typeface="+mn-ea"/>
              </a:rPr>
              <a:t>数据库用户“</a:t>
            </a:r>
            <a:r>
              <a:rPr lang="en-US" altLang="zh-CN" dirty="0" err="1">
                <a:latin typeface="+mn-lt"/>
                <a:ea typeface="+mn-ea"/>
              </a:rPr>
              <a:t>User_sql_wang</a:t>
            </a:r>
            <a:r>
              <a:rPr lang="zh-CN" altLang="zh-CN" dirty="0">
                <a:latin typeface="+mn-lt"/>
                <a:ea typeface="+mn-ea"/>
              </a:rPr>
              <a:t>”。</a:t>
            </a:r>
            <a:endParaRPr lang="zh-CN" altLang="zh-CN" dirty="0">
              <a:latin typeface="+mn-lt"/>
              <a:ea typeface="+mn-ea"/>
            </a:endParaRPr>
          </a:p>
          <a:p>
            <a:pPr indent="450850" fontAlgn="auto">
              <a:spcBef>
                <a:spcPts val="0"/>
              </a:spcBef>
              <a:spcAft>
                <a:spcPts val="0"/>
              </a:spcAft>
              <a:defRPr/>
            </a:pPr>
            <a:r>
              <a:rPr lang="zh-CN" altLang="zh-CN" dirty="0">
                <a:latin typeface="+mn-lt"/>
                <a:ea typeface="+mn-ea"/>
              </a:rPr>
              <a:t>以系统管理员身份登录</a:t>
            </a:r>
            <a:r>
              <a:rPr lang="en-US" altLang="zh-CN" dirty="0">
                <a:latin typeface="+mn-lt"/>
                <a:ea typeface="+mn-ea"/>
              </a:rPr>
              <a:t>SQL Server</a:t>
            </a:r>
            <a:r>
              <a:rPr lang="zh-CN" altLang="zh-CN" dirty="0">
                <a:latin typeface="+mn-lt"/>
                <a:ea typeface="+mn-ea"/>
              </a:rPr>
              <a:t>，新建一个查询，输入以下语句：</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USE </a:t>
            </a:r>
            <a:r>
              <a:rPr lang="en-US" altLang="zh-CN" dirty="0" err="1">
                <a:latin typeface="+mn-lt"/>
                <a:ea typeface="+mn-ea"/>
              </a:rPr>
              <a:t>pxscj</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GRANT CREATE TABLE </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TO </a:t>
            </a:r>
            <a:r>
              <a:rPr lang="en-US" altLang="zh-CN" dirty="0" err="1">
                <a:latin typeface="+mn-lt"/>
                <a:ea typeface="+mn-ea"/>
              </a:rPr>
              <a:t>User_wang</a:t>
            </a:r>
            <a:r>
              <a:rPr lang="en-US" altLang="zh-CN" dirty="0">
                <a:latin typeface="+mn-lt"/>
                <a:ea typeface="+mn-ea"/>
              </a:rPr>
              <a:t>, </a:t>
            </a:r>
            <a:r>
              <a:rPr lang="en-US" altLang="zh-CN" dirty="0" err="1">
                <a:latin typeface="+mn-lt"/>
                <a:ea typeface="+mn-ea"/>
              </a:rPr>
              <a:t>User_sql_wang</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GO</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push dir="u"/>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636838"/>
            <a:ext cx="7848600" cy="27368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9.4.1  </a:t>
            </a:r>
            <a:r>
              <a:rPr lang="zh-CN" altLang="zh-CN" dirty="0">
                <a:effectLst/>
              </a:rPr>
              <a:t>授予权限：</a:t>
            </a:r>
            <a:r>
              <a:rPr lang="en-US" altLang="zh-CN" dirty="0">
                <a:effectLst/>
              </a:rPr>
              <a:t>GRANT</a:t>
            </a:r>
            <a:endParaRPr lang="zh-CN" altLang="zh-CN" dirty="0">
              <a:effectLst/>
            </a:endParaRPr>
          </a:p>
        </p:txBody>
      </p:sp>
      <p:sp>
        <p:nvSpPr>
          <p:cNvPr id="3" name="TextBox 2"/>
          <p:cNvSpPr txBox="1"/>
          <p:nvPr/>
        </p:nvSpPr>
        <p:spPr>
          <a:xfrm>
            <a:off x="468313" y="1484313"/>
            <a:ext cx="8207375" cy="4248150"/>
          </a:xfrm>
          <a:prstGeom prst="rect">
            <a:avLst/>
          </a:prstGeom>
          <a:noFill/>
        </p:spPr>
        <p:txBody>
          <a:bodyPr>
            <a:spAutoFit/>
          </a:bodyPr>
          <a:lstStyle/>
          <a:p>
            <a:pPr indent="450850" fontAlgn="auto">
              <a:spcBef>
                <a:spcPts val="0"/>
              </a:spcBef>
              <a:spcAft>
                <a:spcPts val="0"/>
              </a:spcAft>
              <a:defRPr/>
            </a:pPr>
            <a:r>
              <a:rPr lang="zh-CN" altLang="zh-CN" dirty="0">
                <a:latin typeface="+mn-lt"/>
                <a:ea typeface="+mn-ea"/>
              </a:rPr>
              <a:t>【例</a:t>
            </a:r>
            <a:r>
              <a:rPr lang="en-US" altLang="zh-CN" dirty="0">
                <a:latin typeface="+mn-lt"/>
                <a:ea typeface="+mn-ea"/>
              </a:rPr>
              <a:t>9.14</a:t>
            </a:r>
            <a:r>
              <a:rPr lang="zh-CN" altLang="zh-CN" dirty="0">
                <a:latin typeface="+mn-lt"/>
                <a:ea typeface="+mn-ea"/>
              </a:rPr>
              <a:t>】 首先在数据库</a:t>
            </a:r>
            <a:r>
              <a:rPr lang="en-US" altLang="zh-CN" dirty="0" err="1">
                <a:latin typeface="+mn-lt"/>
                <a:ea typeface="+mn-ea"/>
              </a:rPr>
              <a:t>pxscj</a:t>
            </a:r>
            <a:r>
              <a:rPr lang="zh-CN" altLang="zh-CN" dirty="0">
                <a:latin typeface="+mn-lt"/>
                <a:ea typeface="+mn-ea"/>
              </a:rPr>
              <a:t>中给</a:t>
            </a:r>
            <a:r>
              <a:rPr lang="en-US" altLang="zh-CN" dirty="0">
                <a:latin typeface="+mn-lt"/>
                <a:ea typeface="+mn-ea"/>
              </a:rPr>
              <a:t>public</a:t>
            </a:r>
            <a:r>
              <a:rPr lang="zh-CN" altLang="zh-CN" dirty="0">
                <a:latin typeface="+mn-lt"/>
                <a:ea typeface="+mn-ea"/>
              </a:rPr>
              <a:t>角色授予表</a:t>
            </a:r>
            <a:r>
              <a:rPr lang="en-US" altLang="zh-CN" dirty="0" err="1">
                <a:latin typeface="+mn-lt"/>
                <a:ea typeface="+mn-ea"/>
              </a:rPr>
              <a:t>xsb</a:t>
            </a:r>
            <a:r>
              <a:rPr lang="zh-CN" altLang="zh-CN" dirty="0">
                <a:latin typeface="+mn-lt"/>
                <a:ea typeface="+mn-ea"/>
              </a:rPr>
              <a:t>的</a:t>
            </a:r>
            <a:r>
              <a:rPr lang="en-US" altLang="zh-CN" dirty="0">
                <a:latin typeface="+mn-lt"/>
                <a:ea typeface="+mn-ea"/>
              </a:rPr>
              <a:t>SELECT</a:t>
            </a:r>
            <a:r>
              <a:rPr lang="zh-CN" altLang="zh-CN" dirty="0">
                <a:latin typeface="+mn-lt"/>
                <a:ea typeface="+mn-ea"/>
              </a:rPr>
              <a:t>权限。然后，将其他一些权限授予用户</a:t>
            </a:r>
            <a:r>
              <a:rPr lang="en-US" altLang="zh-CN" dirty="0" err="1">
                <a:latin typeface="+mn-lt"/>
                <a:ea typeface="+mn-ea"/>
              </a:rPr>
              <a:t>User_wang</a:t>
            </a:r>
            <a:r>
              <a:rPr lang="zh-CN" altLang="zh-CN" dirty="0">
                <a:latin typeface="+mn-lt"/>
                <a:ea typeface="+mn-ea"/>
              </a:rPr>
              <a:t>和</a:t>
            </a:r>
            <a:r>
              <a:rPr lang="en-US" altLang="zh-CN" dirty="0" err="1">
                <a:latin typeface="+mn-lt"/>
                <a:ea typeface="+mn-ea"/>
              </a:rPr>
              <a:t>User_sql_wang</a:t>
            </a:r>
            <a:r>
              <a:rPr lang="zh-CN" altLang="zh-CN" dirty="0">
                <a:latin typeface="+mn-lt"/>
                <a:ea typeface="+mn-ea"/>
              </a:rPr>
              <a:t>，使用户有对</a:t>
            </a:r>
            <a:r>
              <a:rPr lang="en-US" altLang="zh-CN" dirty="0" err="1">
                <a:latin typeface="+mn-lt"/>
                <a:ea typeface="+mn-ea"/>
              </a:rPr>
              <a:t>xsb</a:t>
            </a:r>
            <a:r>
              <a:rPr lang="zh-CN" altLang="zh-CN" dirty="0">
                <a:latin typeface="+mn-lt"/>
                <a:ea typeface="+mn-ea"/>
              </a:rPr>
              <a:t>表的所有操作权限。</a:t>
            </a:r>
            <a:endParaRPr lang="zh-CN" altLang="zh-CN" dirty="0">
              <a:latin typeface="+mn-lt"/>
              <a:ea typeface="+mn-ea"/>
            </a:endParaRPr>
          </a:p>
          <a:p>
            <a:pPr indent="450850" fontAlgn="auto">
              <a:spcBef>
                <a:spcPts val="0"/>
              </a:spcBef>
              <a:spcAft>
                <a:spcPts val="0"/>
              </a:spcAft>
              <a:defRPr/>
            </a:pPr>
            <a:r>
              <a:rPr lang="zh-CN" altLang="zh-CN" dirty="0">
                <a:latin typeface="+mn-lt"/>
                <a:ea typeface="+mn-ea"/>
              </a:rPr>
              <a:t>以系统管理员身份登录</a:t>
            </a:r>
            <a:r>
              <a:rPr lang="en-US" altLang="zh-CN" dirty="0">
                <a:latin typeface="+mn-lt"/>
                <a:ea typeface="+mn-ea"/>
              </a:rPr>
              <a:t>SQL Server</a:t>
            </a:r>
            <a:r>
              <a:rPr lang="zh-CN" altLang="zh-CN" dirty="0">
                <a:latin typeface="+mn-lt"/>
                <a:ea typeface="+mn-ea"/>
              </a:rPr>
              <a:t>，新建一个查询，输入以下语句：</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USE </a:t>
            </a:r>
            <a:r>
              <a:rPr lang="en-US" altLang="zh-CN" dirty="0" err="1">
                <a:latin typeface="+mn-lt"/>
                <a:ea typeface="+mn-ea"/>
              </a:rPr>
              <a:t>pxscj</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GRANT SELECT </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ON </a:t>
            </a:r>
            <a:r>
              <a:rPr lang="en-US" altLang="zh-CN" dirty="0" err="1">
                <a:latin typeface="+mn-lt"/>
                <a:ea typeface="+mn-ea"/>
              </a:rPr>
              <a:t>xsb</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TO public</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GO </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GRANT INSERT, UPDATE, DELETE, REFERENCES</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ON </a:t>
            </a:r>
            <a:r>
              <a:rPr lang="en-US" altLang="zh-CN" dirty="0" err="1">
                <a:latin typeface="+mn-lt"/>
                <a:ea typeface="+mn-ea"/>
              </a:rPr>
              <a:t>xsb</a:t>
            </a:r>
            <a:r>
              <a:rPr lang="en-US" altLang="zh-CN" dirty="0">
                <a:latin typeface="+mn-lt"/>
                <a:ea typeface="+mn-ea"/>
              </a:rPr>
              <a:t> </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TO </a:t>
            </a:r>
            <a:r>
              <a:rPr lang="en-US" altLang="zh-CN" dirty="0" err="1">
                <a:latin typeface="+mn-lt"/>
                <a:ea typeface="+mn-ea"/>
              </a:rPr>
              <a:t>User_wang</a:t>
            </a:r>
            <a:r>
              <a:rPr lang="en-US" altLang="zh-CN" dirty="0">
                <a:latin typeface="+mn-lt"/>
                <a:ea typeface="+mn-ea"/>
              </a:rPr>
              <a:t>, </a:t>
            </a:r>
            <a:r>
              <a:rPr lang="en-US" altLang="zh-CN" dirty="0" err="1">
                <a:latin typeface="+mn-lt"/>
                <a:ea typeface="+mn-ea"/>
              </a:rPr>
              <a:t>User_sql_wang</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GO</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blinds dir="vert"/>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4292600"/>
            <a:ext cx="7848600" cy="16573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060575"/>
            <a:ext cx="7848600" cy="5762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9.4.1  </a:t>
            </a:r>
            <a:r>
              <a:rPr lang="zh-CN" altLang="zh-CN" dirty="0">
                <a:effectLst/>
              </a:rPr>
              <a:t>授予权限：</a:t>
            </a:r>
            <a:r>
              <a:rPr lang="en-US" altLang="zh-CN" dirty="0">
                <a:effectLst/>
              </a:rPr>
              <a:t>GRANT</a:t>
            </a:r>
            <a:endParaRPr lang="zh-CN" altLang="en-US" dirty="0"/>
          </a:p>
        </p:txBody>
      </p:sp>
      <p:sp>
        <p:nvSpPr>
          <p:cNvPr id="50181" name="TextBox 2"/>
          <p:cNvSpPr txBox="1">
            <a:spLocks noChangeArrowheads="1"/>
          </p:cNvSpPr>
          <p:nvPr/>
        </p:nvSpPr>
        <p:spPr bwMode="auto">
          <a:xfrm>
            <a:off x="468313" y="1484313"/>
            <a:ext cx="8207375" cy="480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【例</a:t>
            </a:r>
            <a:r>
              <a:rPr lang="en-US" altLang="zh-CN"/>
              <a:t>9.15</a:t>
            </a:r>
            <a:r>
              <a:rPr lang="zh-CN" altLang="zh-CN"/>
              <a:t>】 将</a:t>
            </a:r>
            <a:r>
              <a:rPr lang="en-US" altLang="zh-CN"/>
              <a:t>CREATE TABLE</a:t>
            </a:r>
            <a:r>
              <a:rPr lang="zh-CN" altLang="zh-CN"/>
              <a:t>权限授予数据库角色</a:t>
            </a:r>
            <a:r>
              <a:rPr lang="en-US" altLang="zh-CN"/>
              <a:t>ROLE1</a:t>
            </a:r>
            <a:r>
              <a:rPr lang="zh-CN" altLang="zh-CN"/>
              <a:t>的所有成员。</a:t>
            </a:r>
            <a:endParaRPr lang="zh-CN" altLang="zh-CN"/>
          </a:p>
          <a:p>
            <a:pPr eaLnBrk="1" hangingPunct="1"/>
            <a:r>
              <a:rPr lang="zh-CN" altLang="zh-CN"/>
              <a:t>以系统管理员身份登录</a:t>
            </a:r>
            <a:r>
              <a:rPr lang="en-US" altLang="zh-CN"/>
              <a:t>SQL Server</a:t>
            </a:r>
            <a:r>
              <a:rPr lang="zh-CN" altLang="zh-CN"/>
              <a:t>，新建一个查询，输入以下语句：</a:t>
            </a:r>
            <a:endParaRPr lang="zh-CN" altLang="zh-CN"/>
          </a:p>
          <a:p>
            <a:pPr eaLnBrk="1" hangingPunct="1"/>
            <a:r>
              <a:rPr lang="en-US" altLang="zh-CN"/>
              <a:t>GRANT CREATE TABLE </a:t>
            </a:r>
            <a:endParaRPr lang="zh-CN" altLang="zh-CN"/>
          </a:p>
          <a:p>
            <a:pPr eaLnBrk="1" hangingPunct="1"/>
            <a:r>
              <a:rPr lang="en-US" altLang="zh-CN"/>
              <a:t>    TO ROLE1</a:t>
            </a:r>
            <a:endParaRPr lang="zh-CN" altLang="zh-CN"/>
          </a:p>
          <a:p>
            <a:pPr eaLnBrk="1" hangingPunct="1"/>
            <a:r>
              <a:rPr lang="zh-CN" altLang="zh-CN"/>
              <a:t>【例</a:t>
            </a:r>
            <a:r>
              <a:rPr lang="en-US" altLang="zh-CN"/>
              <a:t>9.16</a:t>
            </a:r>
            <a:r>
              <a:rPr lang="zh-CN" altLang="zh-CN"/>
              <a:t>】 以系统管理员身份登录</a:t>
            </a:r>
            <a:r>
              <a:rPr lang="en-US" altLang="zh-CN"/>
              <a:t>SQL Server</a:t>
            </a:r>
            <a:r>
              <a:rPr lang="zh-CN" altLang="zh-CN"/>
              <a:t>，将表</a:t>
            </a:r>
            <a:r>
              <a:rPr lang="en-US" altLang="zh-CN"/>
              <a:t>xsb</a:t>
            </a:r>
            <a:r>
              <a:rPr lang="zh-CN" altLang="zh-CN"/>
              <a:t>的</a:t>
            </a:r>
            <a:r>
              <a:rPr lang="en-US" altLang="zh-CN"/>
              <a:t>SELECT</a:t>
            </a:r>
            <a:r>
              <a:rPr lang="zh-CN" altLang="zh-CN"/>
              <a:t>权限授予</a:t>
            </a:r>
            <a:r>
              <a:rPr lang="en-US" altLang="zh-CN"/>
              <a:t>ROLE2</a:t>
            </a:r>
            <a:r>
              <a:rPr lang="zh-CN" altLang="zh-CN"/>
              <a:t>角色（指定</a:t>
            </a:r>
            <a:r>
              <a:rPr lang="en-US" altLang="zh-CN"/>
              <a:t>WITH GRANT OPTION</a:t>
            </a:r>
            <a:r>
              <a:rPr lang="zh-CN" altLang="zh-CN"/>
              <a:t>子句）。用户</a:t>
            </a:r>
            <a:r>
              <a:rPr lang="en-US" altLang="zh-CN"/>
              <a:t>User_li</a:t>
            </a:r>
            <a:r>
              <a:rPr lang="zh-CN" altLang="zh-CN"/>
              <a:t>是</a:t>
            </a:r>
            <a:r>
              <a:rPr lang="en-US" altLang="zh-CN"/>
              <a:t>ROLE2</a:t>
            </a:r>
            <a:r>
              <a:rPr lang="zh-CN" altLang="zh-CN"/>
              <a:t>的成员（创建过程略），在</a:t>
            </a:r>
            <a:r>
              <a:rPr lang="en-US" altLang="zh-CN"/>
              <a:t>User_li</a:t>
            </a:r>
            <a:r>
              <a:rPr lang="zh-CN" altLang="zh-CN"/>
              <a:t>用户上将表</a:t>
            </a:r>
            <a:r>
              <a:rPr lang="en-US" altLang="zh-CN"/>
              <a:t>xsb</a:t>
            </a:r>
            <a:r>
              <a:rPr lang="zh-CN" altLang="zh-CN"/>
              <a:t>上的</a:t>
            </a:r>
            <a:r>
              <a:rPr lang="en-US" altLang="zh-CN"/>
              <a:t>SELECT</a:t>
            </a:r>
            <a:r>
              <a:rPr lang="zh-CN" altLang="zh-CN"/>
              <a:t>权限授予用户</a:t>
            </a:r>
            <a:r>
              <a:rPr lang="en-US" altLang="zh-CN"/>
              <a:t>User_huang</a:t>
            </a:r>
            <a:r>
              <a:rPr lang="zh-CN" altLang="zh-CN"/>
              <a:t>（创建过程略），</a:t>
            </a:r>
            <a:r>
              <a:rPr lang="en-US" altLang="zh-CN"/>
              <a:t>User_huang</a:t>
            </a:r>
            <a:r>
              <a:rPr lang="zh-CN" altLang="zh-CN"/>
              <a:t>不是</a:t>
            </a:r>
            <a:r>
              <a:rPr lang="en-US" altLang="zh-CN"/>
              <a:t>ROLE2</a:t>
            </a:r>
            <a:r>
              <a:rPr lang="zh-CN" altLang="zh-CN"/>
              <a:t>的成员。</a:t>
            </a:r>
            <a:endParaRPr lang="zh-CN" altLang="zh-CN"/>
          </a:p>
          <a:p>
            <a:pPr eaLnBrk="1" hangingPunct="1"/>
            <a:r>
              <a:rPr lang="zh-CN" altLang="zh-CN"/>
              <a:t>（</a:t>
            </a:r>
            <a:r>
              <a:rPr lang="en-US" altLang="zh-CN"/>
              <a:t>1</a:t>
            </a:r>
            <a:r>
              <a:rPr lang="zh-CN" altLang="zh-CN"/>
              <a:t>）以</a:t>
            </a:r>
            <a:r>
              <a:rPr lang="en-US" altLang="zh-CN"/>
              <a:t>Windows</a:t>
            </a:r>
            <a:r>
              <a:rPr lang="zh-CN" altLang="zh-CN"/>
              <a:t>系统管理员身份连接</a:t>
            </a:r>
            <a:r>
              <a:rPr lang="en-US" altLang="zh-CN"/>
              <a:t>SQL Server</a:t>
            </a:r>
            <a:r>
              <a:rPr lang="zh-CN" altLang="zh-CN"/>
              <a:t>，授予角色</a:t>
            </a:r>
            <a:r>
              <a:rPr lang="en-US" altLang="zh-CN"/>
              <a:t>ROLE2</a:t>
            </a:r>
            <a:r>
              <a:rPr lang="zh-CN" altLang="zh-CN"/>
              <a:t>在</a:t>
            </a:r>
            <a:r>
              <a:rPr lang="en-US" altLang="zh-CN"/>
              <a:t>xsb</a:t>
            </a:r>
            <a:r>
              <a:rPr lang="zh-CN" altLang="zh-CN"/>
              <a:t>表上的</a:t>
            </a:r>
            <a:r>
              <a:rPr lang="en-US" altLang="zh-CN"/>
              <a:t>SELECT</a:t>
            </a:r>
            <a:r>
              <a:rPr lang="zh-CN" altLang="zh-CN"/>
              <a:t>权限：</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GRANT SELECT </a:t>
            </a:r>
            <a:endParaRPr lang="zh-CN" altLang="zh-CN"/>
          </a:p>
          <a:p>
            <a:pPr eaLnBrk="1" hangingPunct="1"/>
            <a:r>
              <a:rPr lang="en-US" altLang="zh-CN"/>
              <a:t>    ON xsb 		</a:t>
            </a:r>
            <a:endParaRPr lang="zh-CN" altLang="zh-CN"/>
          </a:p>
          <a:p>
            <a:pPr eaLnBrk="1" hangingPunct="1"/>
            <a:r>
              <a:rPr lang="en-US" altLang="zh-CN"/>
              <a:t>    TO ROLE2 </a:t>
            </a:r>
            <a:endParaRPr lang="zh-CN" altLang="zh-CN"/>
          </a:p>
          <a:p>
            <a:pPr eaLnBrk="1" hangingPunct="1"/>
            <a:r>
              <a:rPr lang="en-US" altLang="zh-CN"/>
              <a:t>    WITH GRANT OPTION</a:t>
            </a:r>
            <a:endParaRPr lang="zh-CN" altLang="zh-CN"/>
          </a:p>
          <a:p>
            <a:pPr eaLnBrk="1" hangingPunct="1"/>
            <a:endParaRPr lang="zh-CN" altLang="en-US"/>
          </a:p>
        </p:txBody>
      </p:sp>
    </p:spTree>
  </p:cSld>
  <p:clrMapOvr>
    <a:masterClrMapping/>
  </p:clrMapOvr>
  <p:transition spd="slow">
    <p:push dir="u"/>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6463" y="4292600"/>
            <a:ext cx="7777162" cy="16573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060575"/>
            <a:ext cx="7775575" cy="13684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9.4.1  </a:t>
            </a:r>
            <a:r>
              <a:rPr lang="zh-CN" altLang="zh-CN" dirty="0">
                <a:effectLst/>
              </a:rPr>
              <a:t>授予权限：</a:t>
            </a:r>
            <a:r>
              <a:rPr lang="en-US" altLang="zh-CN" dirty="0">
                <a:effectLst/>
              </a:rPr>
              <a:t>GRANT</a:t>
            </a:r>
            <a:endParaRPr lang="zh-CN" altLang="en-US" dirty="0"/>
          </a:p>
        </p:txBody>
      </p:sp>
      <p:sp>
        <p:nvSpPr>
          <p:cNvPr id="3" name="TextBox 2"/>
          <p:cNvSpPr txBox="1"/>
          <p:nvPr/>
        </p:nvSpPr>
        <p:spPr>
          <a:xfrm>
            <a:off x="468313" y="1484313"/>
            <a:ext cx="8207375" cy="4802187"/>
          </a:xfrm>
          <a:prstGeom prst="rect">
            <a:avLst/>
          </a:prstGeom>
          <a:noFill/>
        </p:spPr>
        <p:txBody>
          <a:bodyPr>
            <a:spAutoFit/>
          </a:bodyPr>
          <a:lstStyle/>
          <a:p>
            <a:pPr indent="450850" fontAlgn="auto">
              <a:spcBef>
                <a:spcPts val="0"/>
              </a:spcBef>
              <a:spcAft>
                <a:spcPts val="0"/>
              </a:spcAft>
              <a:defRPr/>
            </a:pPr>
            <a:r>
              <a:rPr lang="zh-CN" altLang="zh-CN" dirty="0">
                <a:latin typeface="+mn-lt"/>
                <a:ea typeface="+mn-ea"/>
              </a:rPr>
              <a:t>（</a:t>
            </a:r>
            <a:r>
              <a:rPr lang="en-US" altLang="zh-CN" dirty="0">
                <a:latin typeface="+mn-lt"/>
                <a:ea typeface="+mn-ea"/>
              </a:rPr>
              <a:t>2</a:t>
            </a:r>
            <a:r>
              <a:rPr lang="zh-CN" altLang="zh-CN" dirty="0">
                <a:latin typeface="+mn-lt"/>
                <a:ea typeface="+mn-ea"/>
              </a:rPr>
              <a:t>）在“查询分析器”窗口中使用如下语句将用户</a:t>
            </a:r>
            <a:r>
              <a:rPr lang="en-US" altLang="zh-CN" dirty="0" err="1">
                <a:latin typeface="+mn-lt"/>
                <a:ea typeface="+mn-ea"/>
              </a:rPr>
              <a:t>User_li</a:t>
            </a:r>
            <a:r>
              <a:rPr lang="zh-CN" altLang="zh-CN" dirty="0">
                <a:latin typeface="+mn-lt"/>
                <a:ea typeface="+mn-ea"/>
              </a:rPr>
              <a:t>在</a:t>
            </a:r>
            <a:r>
              <a:rPr lang="en-US" altLang="zh-CN" dirty="0" err="1">
                <a:latin typeface="+mn-lt"/>
                <a:ea typeface="+mn-ea"/>
              </a:rPr>
              <a:t>xsb</a:t>
            </a:r>
            <a:r>
              <a:rPr lang="zh-CN" altLang="zh-CN" dirty="0">
                <a:latin typeface="+mn-lt"/>
                <a:ea typeface="+mn-ea"/>
              </a:rPr>
              <a:t>表上的</a:t>
            </a:r>
            <a:r>
              <a:rPr lang="en-US" altLang="zh-CN" dirty="0">
                <a:latin typeface="+mn-lt"/>
                <a:ea typeface="+mn-ea"/>
              </a:rPr>
              <a:t>SELECT</a:t>
            </a:r>
            <a:r>
              <a:rPr lang="zh-CN" altLang="zh-CN" dirty="0">
                <a:latin typeface="+mn-lt"/>
                <a:ea typeface="+mn-ea"/>
              </a:rPr>
              <a:t>权限授予</a:t>
            </a:r>
            <a:r>
              <a:rPr lang="en-US" altLang="zh-CN" dirty="0" err="1">
                <a:latin typeface="+mn-lt"/>
                <a:ea typeface="+mn-ea"/>
              </a:rPr>
              <a:t>Useir_huang</a:t>
            </a:r>
            <a:r>
              <a:rPr lang="zh-CN" altLang="zh-CN" dirty="0">
                <a:latin typeface="+mn-lt"/>
                <a:ea typeface="+mn-ea"/>
              </a:rPr>
              <a:t>：</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USE </a:t>
            </a:r>
            <a:r>
              <a:rPr lang="en-US" altLang="zh-CN" dirty="0" err="1">
                <a:latin typeface="+mn-lt"/>
                <a:ea typeface="+mn-ea"/>
              </a:rPr>
              <a:t>pxscj</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GRANT SELECT </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ON </a:t>
            </a:r>
            <a:r>
              <a:rPr lang="en-US" altLang="zh-CN" dirty="0" err="1">
                <a:latin typeface="+mn-lt"/>
                <a:ea typeface="+mn-ea"/>
              </a:rPr>
              <a:t>xsb</a:t>
            </a:r>
            <a:r>
              <a:rPr lang="en-US" altLang="zh-CN" dirty="0">
                <a:latin typeface="+mn-lt"/>
                <a:ea typeface="+mn-ea"/>
              </a:rPr>
              <a:t> TO </a:t>
            </a:r>
            <a:r>
              <a:rPr lang="en-US" altLang="zh-CN" dirty="0" err="1">
                <a:latin typeface="+mn-lt"/>
                <a:ea typeface="+mn-ea"/>
              </a:rPr>
              <a:t>User_huang</a:t>
            </a:r>
            <a:r>
              <a:rPr lang="en-US" altLang="zh-CN" dirty="0">
                <a:latin typeface="+mn-lt"/>
                <a:ea typeface="+mn-ea"/>
              </a:rPr>
              <a:t> </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AS ROLE2</a:t>
            </a:r>
            <a:endParaRPr lang="zh-CN" altLang="zh-CN" dirty="0">
              <a:latin typeface="+mn-lt"/>
              <a:ea typeface="+mn-ea"/>
            </a:endParaRPr>
          </a:p>
          <a:p>
            <a:pPr indent="450850" fontAlgn="auto">
              <a:spcBef>
                <a:spcPts val="0"/>
              </a:spcBef>
              <a:spcAft>
                <a:spcPts val="0"/>
              </a:spcAft>
              <a:defRPr/>
            </a:pPr>
            <a:r>
              <a:rPr lang="zh-CN" altLang="zh-CN" dirty="0">
                <a:latin typeface="+mn-lt"/>
                <a:ea typeface="+mn-ea"/>
              </a:rPr>
              <a:t>【例</a:t>
            </a:r>
            <a:r>
              <a:rPr lang="en-US" altLang="zh-CN" dirty="0">
                <a:latin typeface="+mn-lt"/>
                <a:ea typeface="+mn-ea"/>
              </a:rPr>
              <a:t>9.17</a:t>
            </a:r>
            <a:r>
              <a:rPr lang="zh-CN" altLang="zh-CN" dirty="0">
                <a:latin typeface="+mn-lt"/>
                <a:ea typeface="+mn-ea"/>
              </a:rPr>
              <a:t>】 在当前数据库</a:t>
            </a:r>
            <a:r>
              <a:rPr lang="en-US" altLang="zh-CN" dirty="0" err="1">
                <a:latin typeface="+mn-lt"/>
                <a:ea typeface="+mn-ea"/>
              </a:rPr>
              <a:t>pxscj</a:t>
            </a:r>
            <a:r>
              <a:rPr lang="zh-CN" altLang="zh-CN" dirty="0">
                <a:latin typeface="+mn-lt"/>
                <a:ea typeface="+mn-ea"/>
              </a:rPr>
              <a:t>中给</a:t>
            </a:r>
            <a:r>
              <a:rPr lang="en-US" altLang="zh-CN" dirty="0">
                <a:latin typeface="+mn-lt"/>
                <a:ea typeface="+mn-ea"/>
              </a:rPr>
              <a:t>public</a:t>
            </a:r>
            <a:r>
              <a:rPr lang="zh-CN" altLang="zh-CN" dirty="0">
                <a:latin typeface="+mn-lt"/>
                <a:ea typeface="+mn-ea"/>
              </a:rPr>
              <a:t>角色赋予对表</a:t>
            </a:r>
            <a:r>
              <a:rPr lang="en-US" altLang="zh-CN" dirty="0" err="1">
                <a:latin typeface="+mn-lt"/>
                <a:ea typeface="+mn-ea"/>
              </a:rPr>
              <a:t>xsb</a:t>
            </a:r>
            <a:r>
              <a:rPr lang="zh-CN" altLang="zh-CN" dirty="0">
                <a:latin typeface="+mn-lt"/>
                <a:ea typeface="+mn-ea"/>
              </a:rPr>
              <a:t>中“学号”、“姓名”字段的</a:t>
            </a:r>
            <a:r>
              <a:rPr lang="en-US" altLang="zh-CN" dirty="0">
                <a:latin typeface="+mn-lt"/>
                <a:ea typeface="+mn-ea"/>
              </a:rPr>
              <a:t>SELECT</a:t>
            </a:r>
            <a:r>
              <a:rPr lang="zh-CN" altLang="zh-CN" dirty="0">
                <a:latin typeface="+mn-lt"/>
                <a:ea typeface="+mn-ea"/>
              </a:rPr>
              <a:t>权限。</a:t>
            </a:r>
            <a:endParaRPr lang="zh-CN" altLang="zh-CN" dirty="0">
              <a:latin typeface="+mn-lt"/>
              <a:ea typeface="+mn-ea"/>
            </a:endParaRPr>
          </a:p>
          <a:p>
            <a:pPr indent="450850" fontAlgn="auto">
              <a:spcBef>
                <a:spcPts val="0"/>
              </a:spcBef>
              <a:spcAft>
                <a:spcPts val="0"/>
              </a:spcAft>
              <a:defRPr/>
            </a:pPr>
            <a:r>
              <a:rPr lang="zh-CN" altLang="zh-CN" dirty="0">
                <a:latin typeface="+mn-lt"/>
                <a:ea typeface="+mn-ea"/>
              </a:rPr>
              <a:t>以系统管理员身份登录</a:t>
            </a:r>
            <a:r>
              <a:rPr lang="en-US" altLang="zh-CN" dirty="0">
                <a:latin typeface="+mn-lt"/>
                <a:ea typeface="+mn-ea"/>
              </a:rPr>
              <a:t>SQL Server</a:t>
            </a:r>
            <a:r>
              <a:rPr lang="zh-CN" altLang="zh-CN" dirty="0">
                <a:latin typeface="+mn-lt"/>
                <a:ea typeface="+mn-ea"/>
              </a:rPr>
              <a:t>，新建一个查询，输入以下语句：</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USE </a:t>
            </a:r>
            <a:r>
              <a:rPr lang="en-US" altLang="zh-CN" dirty="0" err="1">
                <a:latin typeface="+mn-lt"/>
                <a:ea typeface="+mn-ea"/>
              </a:rPr>
              <a:t>pxscj</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GRANT SELECT </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a:t>
            </a:r>
            <a:r>
              <a:rPr lang="zh-CN" altLang="zh-CN" dirty="0">
                <a:latin typeface="+mn-lt"/>
                <a:ea typeface="+mn-ea"/>
              </a:rPr>
              <a:t>学号</a:t>
            </a:r>
            <a:r>
              <a:rPr lang="en-US" altLang="zh-CN" dirty="0">
                <a:latin typeface="+mn-lt"/>
                <a:ea typeface="+mn-ea"/>
              </a:rPr>
              <a:t>,</a:t>
            </a:r>
            <a:r>
              <a:rPr lang="zh-CN" altLang="zh-CN" dirty="0">
                <a:latin typeface="+mn-lt"/>
                <a:ea typeface="+mn-ea"/>
              </a:rPr>
              <a:t>姓名）</a:t>
            </a:r>
            <a:r>
              <a:rPr lang="en-US" altLang="zh-CN" dirty="0">
                <a:latin typeface="+mn-lt"/>
                <a:ea typeface="+mn-ea"/>
              </a:rPr>
              <a:t>ON </a:t>
            </a:r>
            <a:r>
              <a:rPr lang="en-US" altLang="zh-CN" dirty="0" err="1">
                <a:latin typeface="+mn-lt"/>
                <a:ea typeface="+mn-ea"/>
              </a:rPr>
              <a:t>xsb</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TO public</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GO</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blinds dir="vert"/>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9.4.1  </a:t>
            </a:r>
            <a:r>
              <a:rPr lang="zh-CN" altLang="zh-CN" dirty="0">
                <a:effectLst/>
              </a:rPr>
              <a:t>授予权限：</a:t>
            </a:r>
            <a:r>
              <a:rPr lang="en-US" altLang="zh-CN" dirty="0">
                <a:effectLst/>
              </a:rPr>
              <a:t>GRANT</a:t>
            </a:r>
            <a:endParaRPr lang="zh-CN" altLang="en-US" dirty="0"/>
          </a:p>
        </p:txBody>
      </p:sp>
      <p:sp>
        <p:nvSpPr>
          <p:cNvPr id="3" name="TextBox 2"/>
          <p:cNvSpPr txBox="1"/>
          <p:nvPr/>
        </p:nvSpPr>
        <p:spPr>
          <a:xfrm>
            <a:off x="468313" y="1485900"/>
            <a:ext cx="8280400" cy="4802188"/>
          </a:xfrm>
          <a:prstGeom prst="rect">
            <a:avLst/>
          </a:prstGeom>
          <a:noFill/>
        </p:spPr>
        <p:txBody>
          <a:bodyPr>
            <a:spAutoFit/>
          </a:bodyPr>
          <a:lstStyle/>
          <a:p>
            <a:pPr indent="450850" fontAlgn="auto">
              <a:spcBef>
                <a:spcPts val="0"/>
              </a:spcBef>
              <a:spcAft>
                <a:spcPts val="0"/>
              </a:spcAft>
              <a:defRPr/>
            </a:pPr>
            <a:r>
              <a:rPr lang="en-US" altLang="zh-CN" b="1" dirty="0">
                <a:solidFill>
                  <a:srgbClr val="C00000"/>
                </a:solidFill>
                <a:latin typeface="+mn-lt"/>
                <a:ea typeface="+mn-ea"/>
              </a:rPr>
              <a:t>2</a:t>
            </a:r>
            <a:r>
              <a:rPr lang="zh-CN" altLang="zh-CN" b="1" dirty="0">
                <a:solidFill>
                  <a:srgbClr val="C00000"/>
                </a:solidFill>
                <a:latin typeface="+mn-lt"/>
                <a:ea typeface="+mn-ea"/>
              </a:rPr>
              <a:t>．界面方式授予语句权限</a:t>
            </a:r>
            <a:endParaRPr lang="zh-CN" altLang="zh-CN" b="1" dirty="0">
              <a:solidFill>
                <a:srgbClr val="C00000"/>
              </a:solidFill>
              <a:latin typeface="+mn-lt"/>
              <a:ea typeface="+mn-ea"/>
            </a:endParaRPr>
          </a:p>
          <a:p>
            <a:pPr indent="450850" fontAlgn="auto">
              <a:lnSpc>
                <a:spcPct val="150000"/>
              </a:lnSpc>
              <a:spcBef>
                <a:spcPts val="0"/>
              </a:spcBef>
              <a:spcAft>
                <a:spcPts val="0"/>
              </a:spcAft>
              <a:defRPr/>
            </a:pPr>
            <a:r>
              <a:rPr lang="zh-CN" altLang="zh-CN" dirty="0">
                <a:latin typeface="+mn-lt"/>
                <a:ea typeface="+mn-ea"/>
              </a:rPr>
              <a:t>（</a:t>
            </a:r>
            <a:r>
              <a:rPr lang="en-US" altLang="zh-CN" dirty="0">
                <a:latin typeface="+mn-lt"/>
                <a:ea typeface="+mn-ea"/>
              </a:rPr>
              <a:t>1</a:t>
            </a:r>
            <a:r>
              <a:rPr lang="zh-CN" altLang="zh-CN" dirty="0">
                <a:latin typeface="+mn-lt"/>
                <a:ea typeface="+mn-ea"/>
              </a:rPr>
              <a:t>）授予数据库的权限</a:t>
            </a:r>
            <a:endParaRPr lang="zh-CN" altLang="zh-CN" dirty="0">
              <a:latin typeface="+mn-lt"/>
              <a:ea typeface="+mn-ea"/>
            </a:endParaRPr>
          </a:p>
          <a:p>
            <a:pPr indent="450850" fontAlgn="auto">
              <a:lnSpc>
                <a:spcPct val="150000"/>
              </a:lnSpc>
              <a:spcBef>
                <a:spcPts val="0"/>
              </a:spcBef>
              <a:spcAft>
                <a:spcPts val="0"/>
              </a:spcAft>
              <a:defRPr/>
            </a:pPr>
            <a:r>
              <a:rPr lang="zh-CN" altLang="zh-CN" dirty="0">
                <a:latin typeface="+mn-lt"/>
                <a:ea typeface="+mn-ea"/>
              </a:rPr>
              <a:t>例如，数据库用户</a:t>
            </a:r>
            <a:r>
              <a:rPr lang="en-US" altLang="zh-CN" dirty="0">
                <a:latin typeface="+mn-lt"/>
                <a:ea typeface="+mn-ea"/>
              </a:rPr>
              <a:t>User_</a:t>
            </a:r>
            <a:r>
              <a:rPr lang="zh-CN" altLang="zh-CN" dirty="0">
                <a:latin typeface="+mn-lt"/>
                <a:ea typeface="+mn-ea"/>
              </a:rPr>
              <a:t>授予</a:t>
            </a:r>
            <a:r>
              <a:rPr lang="en-US" altLang="zh-CN" dirty="0" err="1">
                <a:latin typeface="+mn-lt"/>
                <a:ea typeface="+mn-ea"/>
              </a:rPr>
              <a:t>pxscj</a:t>
            </a:r>
            <a:r>
              <a:rPr lang="zh-CN" altLang="zh-CN" dirty="0">
                <a:latin typeface="+mn-lt"/>
                <a:ea typeface="+mn-ea"/>
              </a:rPr>
              <a:t>数据库的</a:t>
            </a:r>
            <a:r>
              <a:rPr lang="en-US" altLang="zh-CN" dirty="0">
                <a:latin typeface="+mn-lt"/>
                <a:ea typeface="+mn-ea"/>
              </a:rPr>
              <a:t>CREATE TABLE</a:t>
            </a:r>
            <a:r>
              <a:rPr lang="zh-CN" altLang="zh-CN" dirty="0">
                <a:latin typeface="+mn-lt"/>
                <a:ea typeface="+mn-ea"/>
              </a:rPr>
              <a:t>语句的权限（即创建表的权限）。</a:t>
            </a:r>
            <a:endParaRPr lang="zh-CN" altLang="zh-CN" dirty="0">
              <a:latin typeface="+mn-lt"/>
              <a:ea typeface="+mn-ea"/>
            </a:endParaRPr>
          </a:p>
          <a:p>
            <a:pPr indent="450850" fontAlgn="auto">
              <a:lnSpc>
                <a:spcPct val="150000"/>
              </a:lnSpc>
              <a:spcBef>
                <a:spcPts val="0"/>
              </a:spcBef>
              <a:spcAft>
                <a:spcPts val="0"/>
              </a:spcAft>
              <a:defRPr/>
            </a:pPr>
            <a:r>
              <a:rPr lang="zh-CN" altLang="zh-CN" dirty="0">
                <a:latin typeface="+mn-lt"/>
                <a:ea typeface="+mn-ea"/>
              </a:rPr>
              <a:t>①</a:t>
            </a:r>
            <a:r>
              <a:rPr lang="en-US" altLang="zh-CN" dirty="0">
                <a:latin typeface="+mn-lt"/>
                <a:ea typeface="+mn-ea"/>
              </a:rPr>
              <a:t> </a:t>
            </a:r>
            <a:r>
              <a:rPr lang="zh-CN" altLang="zh-CN" dirty="0">
                <a:latin typeface="+mn-lt"/>
                <a:ea typeface="+mn-ea"/>
              </a:rPr>
              <a:t>选择 “</a:t>
            </a:r>
            <a:r>
              <a:rPr lang="en-US" altLang="zh-CN" dirty="0" err="1">
                <a:latin typeface="+mn-lt"/>
                <a:ea typeface="+mn-ea"/>
              </a:rPr>
              <a:t>pxscj</a:t>
            </a:r>
            <a:r>
              <a:rPr lang="zh-CN" altLang="zh-CN" dirty="0">
                <a:latin typeface="+mn-lt"/>
                <a:ea typeface="+mn-ea"/>
              </a:rPr>
              <a:t>”数据库，右键单击鼠标，选择“属性”菜单项进入</a:t>
            </a:r>
            <a:r>
              <a:rPr lang="en-US" altLang="zh-CN" dirty="0" err="1">
                <a:latin typeface="+mn-lt"/>
                <a:ea typeface="+mn-ea"/>
              </a:rPr>
              <a:t>pxscj</a:t>
            </a:r>
            <a:r>
              <a:rPr lang="zh-CN" altLang="zh-CN" dirty="0">
                <a:latin typeface="+mn-lt"/>
                <a:ea typeface="+mn-ea"/>
              </a:rPr>
              <a:t>数据库的属性窗口，选择“权限”页。在用户或角色栏中选择需要授予权限的用户或角色（如</a:t>
            </a:r>
            <a:r>
              <a:rPr lang="en-US" altLang="zh-CN" dirty="0" err="1">
                <a:latin typeface="+mn-lt"/>
                <a:ea typeface="+mn-ea"/>
              </a:rPr>
              <a:t>User_wang</a:t>
            </a:r>
            <a:r>
              <a:rPr lang="zh-CN" altLang="zh-CN" dirty="0">
                <a:latin typeface="+mn-lt"/>
                <a:ea typeface="+mn-ea"/>
              </a:rPr>
              <a:t>），在窗口下方列出的权限列表中找到相应的权限（如“创建表”），在复选框中打勾，单击“确定”按钮即可完成。</a:t>
            </a:r>
            <a:endParaRPr lang="zh-CN" altLang="zh-CN" dirty="0">
              <a:latin typeface="+mn-lt"/>
              <a:ea typeface="+mn-ea"/>
            </a:endParaRPr>
          </a:p>
          <a:p>
            <a:pPr indent="450850" fontAlgn="auto">
              <a:lnSpc>
                <a:spcPct val="150000"/>
              </a:lnSpc>
              <a:spcBef>
                <a:spcPts val="0"/>
              </a:spcBef>
              <a:spcAft>
                <a:spcPts val="0"/>
              </a:spcAft>
              <a:defRPr/>
            </a:pPr>
            <a:r>
              <a:rPr lang="zh-CN" altLang="zh-CN" dirty="0">
                <a:latin typeface="+mn-lt"/>
                <a:ea typeface="+mn-ea"/>
              </a:rPr>
              <a:t>②</a:t>
            </a:r>
            <a:r>
              <a:rPr lang="en-US" altLang="zh-CN" dirty="0">
                <a:latin typeface="+mn-lt"/>
                <a:ea typeface="+mn-ea"/>
              </a:rPr>
              <a:t> </a:t>
            </a:r>
            <a:r>
              <a:rPr lang="zh-CN" altLang="zh-CN" dirty="0">
                <a:latin typeface="+mn-lt"/>
                <a:ea typeface="+mn-ea"/>
              </a:rPr>
              <a:t>如果需要授予权限的用户在列出的用户列表中不存在，可以单击“搜索”按钮将该用户添加到列表中再选择。单击“有效”选项卡可以查看该用户在当前数据库中有哪些权限。</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push dir="u"/>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9.4.1  </a:t>
            </a:r>
            <a:r>
              <a:rPr lang="zh-CN" altLang="zh-CN" dirty="0">
                <a:effectLst/>
              </a:rPr>
              <a:t>授予权限：</a:t>
            </a:r>
            <a:r>
              <a:rPr lang="en-US" altLang="zh-CN" dirty="0">
                <a:effectLst/>
              </a:rPr>
              <a:t>GRANT</a:t>
            </a:r>
            <a:endParaRPr lang="zh-CN" altLang="en-US" dirty="0"/>
          </a:p>
        </p:txBody>
      </p:sp>
      <p:sp>
        <p:nvSpPr>
          <p:cNvPr id="53251" name="TextBox 2"/>
          <p:cNvSpPr txBox="1">
            <a:spLocks noChangeArrowheads="1"/>
          </p:cNvSpPr>
          <p:nvPr/>
        </p:nvSpPr>
        <p:spPr bwMode="auto">
          <a:xfrm>
            <a:off x="395288" y="1484313"/>
            <a:ext cx="828040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a:t>（</a:t>
            </a:r>
            <a:r>
              <a:rPr lang="en-US" altLang="zh-CN"/>
              <a:t>2</a:t>
            </a:r>
            <a:r>
              <a:rPr lang="zh-CN" altLang="zh-CN"/>
              <a:t>）授予数据库对象上的权限</a:t>
            </a:r>
            <a:endParaRPr lang="zh-CN" altLang="zh-CN"/>
          </a:p>
          <a:p>
            <a:pPr eaLnBrk="1" hangingPunct="1">
              <a:lnSpc>
                <a:spcPct val="150000"/>
              </a:lnSpc>
            </a:pPr>
            <a:r>
              <a:rPr lang="zh-CN" altLang="zh-CN"/>
              <a:t>例如，给数据库用户</a:t>
            </a:r>
            <a:r>
              <a:rPr lang="en-US" altLang="zh-CN"/>
              <a:t>User_wang</a:t>
            </a:r>
            <a:r>
              <a:rPr lang="zh-CN" altLang="zh-CN"/>
              <a:t>授予</a:t>
            </a:r>
            <a:r>
              <a:rPr lang="en-US" altLang="zh-CN"/>
              <a:t>kcb</a:t>
            </a:r>
            <a:r>
              <a:rPr lang="zh-CN" altLang="zh-CN"/>
              <a:t>表上的</a:t>
            </a:r>
            <a:r>
              <a:rPr lang="en-US" altLang="zh-CN"/>
              <a:t>SELECT</a:t>
            </a:r>
            <a:r>
              <a:rPr lang="zh-CN" altLang="zh-CN"/>
              <a:t>、</a:t>
            </a:r>
            <a:r>
              <a:rPr lang="en-US" altLang="zh-CN"/>
              <a:t>INSERT</a:t>
            </a:r>
            <a:r>
              <a:rPr lang="zh-CN" altLang="zh-CN"/>
              <a:t>的权限。</a:t>
            </a:r>
            <a:endParaRPr lang="zh-CN" altLang="zh-CN"/>
          </a:p>
          <a:p>
            <a:pPr eaLnBrk="1" hangingPunct="1">
              <a:lnSpc>
                <a:spcPct val="150000"/>
              </a:lnSpc>
            </a:pPr>
            <a:r>
              <a:rPr lang="zh-CN" altLang="zh-CN"/>
              <a:t>①</a:t>
            </a:r>
            <a:r>
              <a:rPr lang="en-US" altLang="zh-CN"/>
              <a:t> </a:t>
            </a:r>
            <a:r>
              <a:rPr lang="zh-CN" altLang="zh-CN"/>
              <a:t>选择“</a:t>
            </a:r>
            <a:r>
              <a:rPr lang="en-US" altLang="zh-CN"/>
              <a:t>pxscj</a:t>
            </a:r>
            <a:r>
              <a:rPr lang="zh-CN" altLang="zh-CN"/>
              <a:t>”数据库→“表”→“</a:t>
            </a:r>
            <a:r>
              <a:rPr lang="en-US" altLang="zh-CN"/>
              <a:t>kcb</a:t>
            </a:r>
            <a:r>
              <a:rPr lang="zh-CN" altLang="zh-CN"/>
              <a:t>”，右键单击鼠标，选择“属性”菜单项进入</a:t>
            </a:r>
            <a:r>
              <a:rPr lang="en-US" altLang="zh-CN"/>
              <a:t>kcb</a:t>
            </a:r>
            <a:r>
              <a:rPr lang="zh-CN" altLang="zh-CN"/>
              <a:t>表的属性窗口，选择“权限”选项页。</a:t>
            </a:r>
            <a:endParaRPr lang="zh-CN" altLang="zh-CN"/>
          </a:p>
          <a:p>
            <a:pPr eaLnBrk="1" hangingPunct="1">
              <a:lnSpc>
                <a:spcPct val="150000"/>
              </a:lnSpc>
            </a:pPr>
            <a:r>
              <a:rPr lang="zh-CN" altLang="zh-CN"/>
              <a:t>②</a:t>
            </a:r>
            <a:r>
              <a:rPr lang="en-US" altLang="zh-CN"/>
              <a:t> </a:t>
            </a:r>
            <a:r>
              <a:rPr lang="zh-CN" altLang="zh-CN"/>
              <a:t>单击“搜索”按钮，在弹出的“选择用户或角色”窗口中单击“浏览”按钮，选择需要授权的用户或角色（如</a:t>
            </a:r>
            <a:r>
              <a:rPr lang="en-US" altLang="zh-CN"/>
              <a:t>User_wang</a:t>
            </a:r>
            <a:r>
              <a:rPr lang="zh-CN" altLang="zh-CN"/>
              <a:t>），选择后单击“确定”按钮回到</a:t>
            </a:r>
            <a:r>
              <a:rPr lang="en-US" altLang="zh-CN"/>
              <a:t>kcb</a:t>
            </a:r>
            <a:r>
              <a:rPr lang="zh-CN" altLang="zh-CN"/>
              <a:t>表的属性窗口。</a:t>
            </a:r>
            <a:endParaRPr lang="zh-CN" altLang="zh-CN"/>
          </a:p>
          <a:p>
            <a:pPr eaLnBrk="1" hangingPunct="1">
              <a:lnSpc>
                <a:spcPct val="150000"/>
              </a:lnSpc>
            </a:pPr>
            <a:r>
              <a:rPr lang="zh-CN" altLang="zh-CN"/>
              <a:t>③</a:t>
            </a:r>
            <a:r>
              <a:rPr lang="en-US" altLang="zh-CN"/>
              <a:t> </a:t>
            </a:r>
            <a:r>
              <a:rPr lang="zh-CN" altLang="zh-CN"/>
              <a:t>选择用户（如</a:t>
            </a:r>
            <a:r>
              <a:rPr lang="en-US" altLang="zh-CN"/>
              <a:t>User_huang</a:t>
            </a:r>
            <a:r>
              <a:rPr lang="zh-CN" altLang="zh-CN"/>
              <a:t>），在权限列表中选择需要授予的权限，如“插入”、“选择”，单击“确定”按钮完成授权。</a:t>
            </a:r>
            <a:endParaRPr lang="zh-CN" altLang="zh-CN"/>
          </a:p>
          <a:p>
            <a:pPr eaLnBrk="1" hangingPunct="1">
              <a:lnSpc>
                <a:spcPct val="150000"/>
              </a:lnSpc>
            </a:pPr>
            <a:r>
              <a:rPr lang="zh-CN" altLang="zh-CN"/>
              <a:t>④</a:t>
            </a:r>
            <a:r>
              <a:rPr lang="en-US" altLang="zh-CN"/>
              <a:t> </a:t>
            </a:r>
            <a:r>
              <a:rPr lang="zh-CN" altLang="zh-CN"/>
              <a:t>如果要授予用户在表的列上的</a:t>
            </a:r>
            <a:r>
              <a:rPr lang="en-US" altLang="zh-CN"/>
              <a:t>SELECT</a:t>
            </a:r>
            <a:r>
              <a:rPr lang="zh-CN" altLang="zh-CN"/>
              <a:t>权限，可以选择“选择”权限后单击“列权限”按钮，在弹出的“列权限”对话框中选择要授予权限的列即可。</a:t>
            </a:r>
            <a:endParaRPr lang="zh-CN" altLang="zh-CN"/>
          </a:p>
          <a:p>
            <a:pPr eaLnBrk="1" hangingPunct="1">
              <a:lnSpc>
                <a:spcPct val="150000"/>
              </a:lnSpc>
            </a:pPr>
            <a:endParaRPr lang="zh-CN" altLang="en-US"/>
          </a:p>
        </p:txBody>
      </p:sp>
    </p:spTree>
  </p:cSld>
  <p:clrMapOvr>
    <a:masterClrMapping/>
  </p:clrMapOvr>
  <p:transition spd="slow">
    <p:blinds dir="vert"/>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4149725"/>
            <a:ext cx="7775575" cy="7921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781300"/>
            <a:ext cx="7775575" cy="10795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9.4.2  </a:t>
            </a:r>
            <a:r>
              <a:rPr lang="zh-CN" altLang="zh-CN" dirty="0">
                <a:effectLst/>
              </a:rPr>
              <a:t>拒绝权限</a:t>
            </a:r>
            <a:endParaRPr lang="zh-CN" altLang="zh-CN" dirty="0">
              <a:effectLst/>
            </a:endParaRPr>
          </a:p>
        </p:txBody>
      </p:sp>
      <p:sp>
        <p:nvSpPr>
          <p:cNvPr id="54277" name="TextBox 2"/>
          <p:cNvSpPr txBox="1">
            <a:spLocks noChangeArrowheads="1"/>
          </p:cNvSpPr>
          <p:nvPr/>
        </p:nvSpPr>
        <p:spPr bwMode="auto">
          <a:xfrm>
            <a:off x="468313" y="1484313"/>
            <a:ext cx="8207375" cy="383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a:t>使用</a:t>
            </a:r>
            <a:r>
              <a:rPr lang="en-US" altLang="zh-CN"/>
              <a:t>DENY</a:t>
            </a:r>
            <a:r>
              <a:rPr lang="zh-CN" altLang="zh-CN"/>
              <a:t>命令可以拒绝给当前数据库内的用户授予的权限，并防止数据库用户通过其组或角色成员资格继承权限。</a:t>
            </a:r>
            <a:endParaRPr lang="zh-CN" altLang="zh-CN"/>
          </a:p>
          <a:p>
            <a:pPr eaLnBrk="1" hangingPunct="1">
              <a:lnSpc>
                <a:spcPct val="150000"/>
              </a:lnSpc>
            </a:pPr>
            <a:r>
              <a:rPr lang="zh-CN" altLang="zh-CN"/>
              <a:t>语法格式：</a:t>
            </a:r>
            <a:endParaRPr lang="zh-CN" altLang="zh-CN"/>
          </a:p>
          <a:p>
            <a:pPr eaLnBrk="1" hangingPunct="1"/>
            <a:r>
              <a:rPr lang="en-US" altLang="zh-CN"/>
              <a:t>DENY { ALL [ PRIVILEGES ] }</a:t>
            </a:r>
            <a:endParaRPr lang="zh-CN" altLang="zh-CN"/>
          </a:p>
          <a:p>
            <a:pPr eaLnBrk="1" hangingPunct="1"/>
            <a:r>
              <a:rPr lang="en-US" altLang="zh-CN"/>
              <a:t>    | </a:t>
            </a:r>
            <a:r>
              <a:rPr lang="zh-CN" altLang="zh-CN"/>
              <a:t>权限</a:t>
            </a:r>
            <a:r>
              <a:rPr lang="en-US" altLang="zh-CN"/>
              <a:t> [ ( </a:t>
            </a:r>
            <a:r>
              <a:rPr lang="zh-CN" altLang="zh-CN"/>
              <a:t>列</a:t>
            </a:r>
            <a:r>
              <a:rPr lang="en-US" altLang="zh-CN"/>
              <a:t> [ , ... ] </a:t>
            </a:r>
            <a:r>
              <a:rPr lang="zh-CN" altLang="zh-CN"/>
              <a:t>）</a:t>
            </a:r>
            <a:r>
              <a:rPr lang="en-US" altLang="zh-CN"/>
              <a:t>] [ , ... ]</a:t>
            </a:r>
            <a:endParaRPr lang="zh-CN" altLang="zh-CN"/>
          </a:p>
          <a:p>
            <a:pPr eaLnBrk="1" hangingPunct="1"/>
            <a:r>
              <a:rPr lang="en-US" altLang="zh-CN"/>
              <a:t>    [ ON </a:t>
            </a:r>
            <a:r>
              <a:rPr lang="zh-CN" altLang="zh-CN"/>
              <a:t>安全对象</a:t>
            </a:r>
            <a:r>
              <a:rPr lang="en-US" altLang="zh-CN"/>
              <a:t> ] TO </a:t>
            </a:r>
            <a:r>
              <a:rPr lang="zh-CN" altLang="zh-CN"/>
              <a:t>主体</a:t>
            </a:r>
            <a:r>
              <a:rPr lang="en-US" altLang="zh-CN"/>
              <a:t> [ , ... ]</a:t>
            </a:r>
            <a:endParaRPr lang="zh-CN" altLang="zh-CN"/>
          </a:p>
          <a:p>
            <a:pPr eaLnBrk="1" hangingPunct="1"/>
            <a:r>
              <a:rPr lang="en-US" altLang="zh-CN"/>
              <a:t>    [ CASCADE] [ AS </a:t>
            </a:r>
            <a:r>
              <a:rPr lang="zh-CN" altLang="zh-CN"/>
              <a:t>主体</a:t>
            </a:r>
            <a:r>
              <a:rPr lang="en-US" altLang="zh-CN"/>
              <a:t> ]</a:t>
            </a:r>
            <a:endParaRPr lang="zh-CN" altLang="zh-CN"/>
          </a:p>
          <a:p>
            <a:pPr eaLnBrk="1" hangingPunct="1"/>
            <a:r>
              <a:rPr lang="zh-CN" altLang="zh-CN"/>
              <a:t>【例</a:t>
            </a:r>
            <a:r>
              <a:rPr lang="en-US" altLang="zh-CN"/>
              <a:t>9.18</a:t>
            </a:r>
            <a:r>
              <a:rPr lang="zh-CN" altLang="zh-CN"/>
              <a:t>】 对多个用户不允许使用</a:t>
            </a:r>
            <a:r>
              <a:rPr lang="en-US" altLang="zh-CN"/>
              <a:t>CREATE VIEW</a:t>
            </a:r>
            <a:r>
              <a:rPr lang="zh-CN" altLang="zh-CN"/>
              <a:t>和</a:t>
            </a:r>
            <a:r>
              <a:rPr lang="en-US" altLang="zh-CN"/>
              <a:t>CREATE TABLE</a:t>
            </a:r>
            <a:r>
              <a:rPr lang="zh-CN" altLang="zh-CN"/>
              <a:t>语句。</a:t>
            </a:r>
            <a:endParaRPr lang="zh-CN" altLang="zh-CN"/>
          </a:p>
          <a:p>
            <a:pPr eaLnBrk="1" hangingPunct="1"/>
            <a:r>
              <a:rPr lang="en-US" altLang="zh-CN"/>
              <a:t>DENY CREATE VIEW, CREATE TABLE </a:t>
            </a:r>
            <a:endParaRPr lang="zh-CN" altLang="zh-CN"/>
          </a:p>
          <a:p>
            <a:pPr eaLnBrk="1" hangingPunct="1"/>
            <a:r>
              <a:rPr lang="en-US" altLang="zh-CN"/>
              <a:t>    TO li, huang</a:t>
            </a:r>
            <a:endParaRPr lang="zh-CN" altLang="zh-CN"/>
          </a:p>
          <a:p>
            <a:pPr eaLnBrk="1" hangingPunct="1"/>
            <a:r>
              <a:rPr lang="en-US" altLang="zh-CN"/>
              <a:t>GO</a:t>
            </a:r>
            <a:endParaRPr lang="zh-CN" altLang="zh-CN"/>
          </a:p>
          <a:p>
            <a:pPr eaLnBrk="1" hangingPunct="1"/>
            <a:endParaRPr lang="zh-CN" altLang="en-US"/>
          </a:p>
        </p:txBody>
      </p:sp>
    </p:spTree>
  </p:cSld>
  <p:clrMapOvr>
    <a:masterClrMapping/>
  </p:clrMapOvr>
  <p:transition spd="slow">
    <p:push dir="u"/>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44550" y="3789363"/>
            <a:ext cx="7848600"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133600"/>
            <a:ext cx="7848600" cy="13668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9.4.2  </a:t>
            </a:r>
            <a:r>
              <a:rPr lang="zh-CN" altLang="zh-CN" dirty="0">
                <a:effectLst/>
              </a:rPr>
              <a:t>拒绝权限</a:t>
            </a:r>
            <a:endParaRPr lang="zh-CN" altLang="en-US" dirty="0"/>
          </a:p>
        </p:txBody>
      </p:sp>
      <p:sp>
        <p:nvSpPr>
          <p:cNvPr id="55301" name="TextBox 2"/>
          <p:cNvSpPr txBox="1">
            <a:spLocks noChangeArrowheads="1"/>
          </p:cNvSpPr>
          <p:nvPr/>
        </p:nvSpPr>
        <p:spPr bwMode="auto">
          <a:xfrm>
            <a:off x="468313" y="1557338"/>
            <a:ext cx="820737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【例</a:t>
            </a:r>
            <a:r>
              <a:rPr lang="en-US" altLang="zh-CN"/>
              <a:t>9.19</a:t>
            </a:r>
            <a:r>
              <a:rPr lang="zh-CN" altLang="zh-CN"/>
              <a:t>】 拒绝用户</a:t>
            </a:r>
            <a:r>
              <a:rPr lang="en-US" altLang="zh-CN"/>
              <a:t>li</a:t>
            </a:r>
            <a:r>
              <a:rPr lang="zh-CN" altLang="zh-CN"/>
              <a:t>、</a:t>
            </a:r>
            <a:r>
              <a:rPr lang="en-US" altLang="zh-CN"/>
              <a:t>huang</a:t>
            </a:r>
            <a:r>
              <a:rPr lang="zh-CN" altLang="zh-CN"/>
              <a:t>、</a:t>
            </a:r>
            <a:r>
              <a:rPr lang="en-US" altLang="zh-CN"/>
              <a:t>[0BD7E57C949A420\liu]</a:t>
            </a:r>
            <a:r>
              <a:rPr lang="zh-CN" altLang="zh-CN"/>
              <a:t>对表</a:t>
            </a:r>
            <a:r>
              <a:rPr lang="en-US" altLang="zh-CN"/>
              <a:t>xsb</a:t>
            </a:r>
            <a:r>
              <a:rPr lang="zh-CN" altLang="zh-CN"/>
              <a:t>的一些权限，这样，这些用户就没有对</a:t>
            </a:r>
            <a:r>
              <a:rPr lang="en-US" altLang="zh-CN"/>
              <a:t>xsb</a:t>
            </a:r>
            <a:r>
              <a:rPr lang="zh-CN" altLang="zh-CN"/>
              <a:t>表的操作权限了。</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DENY SELECT, INSERT, UPDATE, DELETE </a:t>
            </a:r>
            <a:endParaRPr lang="zh-CN" altLang="zh-CN"/>
          </a:p>
          <a:p>
            <a:pPr eaLnBrk="1" hangingPunct="1"/>
            <a:r>
              <a:rPr lang="en-US" altLang="zh-CN"/>
              <a:t>    ON xsb TO li, huang, [0BD7E57C949A420\liu]</a:t>
            </a:r>
            <a:endParaRPr lang="zh-CN" altLang="zh-CN"/>
          </a:p>
          <a:p>
            <a:pPr eaLnBrk="1" hangingPunct="1"/>
            <a:r>
              <a:rPr lang="en-US" altLang="zh-CN"/>
              <a:t>GO</a:t>
            </a:r>
            <a:endParaRPr lang="zh-CN" altLang="zh-CN"/>
          </a:p>
          <a:p>
            <a:pPr eaLnBrk="1" hangingPunct="1"/>
            <a:r>
              <a:rPr lang="zh-CN" altLang="zh-CN"/>
              <a:t>【例</a:t>
            </a:r>
            <a:r>
              <a:rPr lang="en-US" altLang="zh-CN"/>
              <a:t>9.20</a:t>
            </a:r>
            <a:r>
              <a:rPr lang="zh-CN" altLang="zh-CN"/>
              <a:t>】 对所有</a:t>
            </a:r>
            <a:r>
              <a:rPr lang="en-US" altLang="zh-CN"/>
              <a:t>ROLE2</a:t>
            </a:r>
            <a:r>
              <a:rPr lang="zh-CN" altLang="zh-CN"/>
              <a:t>角色成员拒绝</a:t>
            </a:r>
            <a:r>
              <a:rPr lang="en-US" altLang="zh-CN"/>
              <a:t>CREATE TABLE</a:t>
            </a:r>
            <a:r>
              <a:rPr lang="zh-CN" altLang="zh-CN"/>
              <a:t>权限。</a:t>
            </a:r>
            <a:endParaRPr lang="zh-CN" altLang="zh-CN"/>
          </a:p>
          <a:p>
            <a:pPr eaLnBrk="1" hangingPunct="1"/>
            <a:r>
              <a:rPr lang="en-US" altLang="zh-CN"/>
              <a:t>DENY CREATE TABLE </a:t>
            </a:r>
            <a:endParaRPr lang="zh-CN" altLang="zh-CN"/>
          </a:p>
          <a:p>
            <a:pPr eaLnBrk="1" hangingPunct="1"/>
            <a:r>
              <a:rPr lang="en-US" altLang="zh-CN"/>
              <a:t>    TO ROLE2</a:t>
            </a:r>
            <a:endParaRPr lang="zh-CN" altLang="zh-CN"/>
          </a:p>
          <a:p>
            <a:pPr eaLnBrk="1" hangingPunct="1"/>
            <a:r>
              <a:rPr lang="en-US" altLang="zh-CN"/>
              <a:t>GO</a:t>
            </a:r>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25513" y="4449763"/>
            <a:ext cx="7777162" cy="5635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1989138"/>
            <a:ext cx="7775575" cy="22320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9.4.3  </a:t>
            </a:r>
            <a:r>
              <a:rPr lang="zh-CN" altLang="zh-CN" dirty="0">
                <a:effectLst/>
              </a:rPr>
              <a:t>撤销权限</a:t>
            </a:r>
            <a:endParaRPr lang="zh-CN" altLang="zh-CN" dirty="0">
              <a:effectLst/>
            </a:endParaRPr>
          </a:p>
        </p:txBody>
      </p:sp>
      <p:sp>
        <p:nvSpPr>
          <p:cNvPr id="3" name="TextBox 2"/>
          <p:cNvSpPr txBox="1"/>
          <p:nvPr/>
        </p:nvSpPr>
        <p:spPr>
          <a:xfrm>
            <a:off x="468313" y="1412875"/>
            <a:ext cx="8207375" cy="3970338"/>
          </a:xfrm>
          <a:prstGeom prst="rect">
            <a:avLst/>
          </a:prstGeom>
          <a:noFill/>
        </p:spPr>
        <p:txBody>
          <a:bodyPr>
            <a:spAutoFit/>
          </a:bodyPr>
          <a:lstStyle/>
          <a:p>
            <a:pPr indent="450850" fontAlgn="auto">
              <a:spcBef>
                <a:spcPts val="0"/>
              </a:spcBef>
              <a:spcAft>
                <a:spcPts val="0"/>
              </a:spcAft>
              <a:defRPr/>
            </a:pPr>
            <a:r>
              <a:rPr lang="zh-CN" altLang="zh-CN" dirty="0">
                <a:latin typeface="+mn-lt"/>
                <a:ea typeface="+mn-ea"/>
              </a:rPr>
              <a:t>利用</a:t>
            </a:r>
            <a:r>
              <a:rPr lang="en-US" altLang="zh-CN" dirty="0">
                <a:latin typeface="+mn-lt"/>
                <a:ea typeface="+mn-ea"/>
              </a:rPr>
              <a:t>REVOKE</a:t>
            </a:r>
            <a:r>
              <a:rPr lang="zh-CN" altLang="zh-CN" dirty="0">
                <a:latin typeface="+mn-lt"/>
                <a:ea typeface="+mn-ea"/>
              </a:rPr>
              <a:t>命令可撤销以前给当前数据库用户授予或拒绝的权限。</a:t>
            </a:r>
            <a:endParaRPr lang="zh-CN" altLang="zh-CN" dirty="0">
              <a:latin typeface="+mn-lt"/>
              <a:ea typeface="+mn-ea"/>
            </a:endParaRPr>
          </a:p>
          <a:p>
            <a:pPr indent="450850" fontAlgn="auto">
              <a:spcBef>
                <a:spcPts val="0"/>
              </a:spcBef>
              <a:spcAft>
                <a:spcPts val="0"/>
              </a:spcAft>
              <a:defRPr/>
            </a:pPr>
            <a:r>
              <a:rPr lang="zh-CN" altLang="zh-CN" dirty="0">
                <a:latin typeface="+mn-lt"/>
                <a:ea typeface="+mn-ea"/>
              </a:rPr>
              <a:t>语法格式：</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REVOKE [ GRANT OPTION FOR ]</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 ALL [ PRIVILEGES ] ]</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 </a:t>
            </a:r>
            <a:r>
              <a:rPr lang="zh-CN" altLang="zh-CN" dirty="0">
                <a:latin typeface="+mn-lt"/>
                <a:ea typeface="+mn-ea"/>
              </a:rPr>
              <a:t>权限</a:t>
            </a:r>
            <a:r>
              <a:rPr lang="en-US" altLang="zh-CN" dirty="0">
                <a:latin typeface="+mn-lt"/>
                <a:ea typeface="+mn-ea"/>
              </a:rPr>
              <a:t> [ ( </a:t>
            </a:r>
            <a:r>
              <a:rPr lang="zh-CN" altLang="zh-CN" dirty="0">
                <a:latin typeface="+mn-lt"/>
                <a:ea typeface="+mn-ea"/>
              </a:rPr>
              <a:t>列</a:t>
            </a:r>
            <a:r>
              <a:rPr lang="en-US" altLang="zh-CN" dirty="0">
                <a:latin typeface="+mn-lt"/>
                <a:ea typeface="+mn-ea"/>
              </a:rPr>
              <a:t> [ , ... ] </a:t>
            </a:r>
            <a:r>
              <a:rPr lang="zh-CN" altLang="zh-CN" dirty="0">
                <a:latin typeface="+mn-lt"/>
                <a:ea typeface="+mn-ea"/>
              </a:rPr>
              <a:t>）</a:t>
            </a:r>
            <a:r>
              <a:rPr lang="en-US" altLang="zh-CN" dirty="0">
                <a:latin typeface="+mn-lt"/>
                <a:ea typeface="+mn-ea"/>
              </a:rPr>
              <a:t>] [ , ... ]</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ON </a:t>
            </a:r>
            <a:r>
              <a:rPr lang="zh-CN" altLang="zh-CN" dirty="0">
                <a:latin typeface="+mn-lt"/>
                <a:ea typeface="+mn-ea"/>
              </a:rPr>
              <a:t>安全对象</a:t>
            </a:r>
            <a:r>
              <a:rPr lang="en-US" altLang="zh-CN" dirty="0">
                <a:latin typeface="+mn-lt"/>
                <a:ea typeface="+mn-ea"/>
              </a:rPr>
              <a:t> ]</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TO | FROM } </a:t>
            </a:r>
            <a:r>
              <a:rPr lang="zh-CN" altLang="zh-CN" dirty="0">
                <a:latin typeface="+mn-lt"/>
                <a:ea typeface="+mn-ea"/>
              </a:rPr>
              <a:t>主体</a:t>
            </a:r>
            <a:r>
              <a:rPr lang="en-US" altLang="zh-CN" dirty="0">
                <a:latin typeface="+mn-lt"/>
                <a:ea typeface="+mn-ea"/>
              </a:rPr>
              <a:t> [ , ... ]</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CASCADE] [ AS </a:t>
            </a:r>
            <a:r>
              <a:rPr lang="zh-CN" altLang="zh-CN" dirty="0">
                <a:latin typeface="+mn-lt"/>
                <a:ea typeface="+mn-ea"/>
              </a:rPr>
              <a:t>主体</a:t>
            </a:r>
            <a:r>
              <a:rPr lang="en-US" altLang="zh-CN" dirty="0">
                <a:latin typeface="+mn-lt"/>
                <a:ea typeface="+mn-ea"/>
              </a:rPr>
              <a:t> ]</a:t>
            </a:r>
            <a:endParaRPr lang="zh-CN" altLang="zh-CN" dirty="0">
              <a:latin typeface="+mn-lt"/>
              <a:ea typeface="+mn-ea"/>
            </a:endParaRPr>
          </a:p>
          <a:p>
            <a:pPr indent="450850" fontAlgn="auto">
              <a:spcBef>
                <a:spcPts val="0"/>
              </a:spcBef>
              <a:spcAft>
                <a:spcPts val="0"/>
              </a:spcAft>
              <a:defRPr/>
            </a:pPr>
            <a:r>
              <a:rPr lang="zh-CN" altLang="zh-CN" dirty="0">
                <a:latin typeface="+mn-lt"/>
                <a:ea typeface="+mn-ea"/>
              </a:rPr>
              <a:t>【例</a:t>
            </a:r>
            <a:r>
              <a:rPr lang="en-US" altLang="zh-CN" dirty="0">
                <a:latin typeface="+mn-lt"/>
                <a:ea typeface="+mn-ea"/>
              </a:rPr>
              <a:t>9.21</a:t>
            </a:r>
            <a:r>
              <a:rPr lang="zh-CN" altLang="zh-CN" dirty="0">
                <a:latin typeface="+mn-lt"/>
                <a:ea typeface="+mn-ea"/>
              </a:rPr>
              <a:t>】 取消已授予用户</a:t>
            </a:r>
            <a:r>
              <a:rPr lang="en-US" altLang="zh-CN" dirty="0" err="1">
                <a:latin typeface="+mn-lt"/>
                <a:ea typeface="+mn-ea"/>
              </a:rPr>
              <a:t>User_wang</a:t>
            </a:r>
            <a:r>
              <a:rPr lang="zh-CN" altLang="zh-CN" dirty="0">
                <a:latin typeface="+mn-lt"/>
                <a:ea typeface="+mn-ea"/>
              </a:rPr>
              <a:t>的</a:t>
            </a:r>
            <a:r>
              <a:rPr lang="en-US" altLang="zh-CN" dirty="0">
                <a:latin typeface="+mn-lt"/>
                <a:ea typeface="+mn-ea"/>
              </a:rPr>
              <a:t>CREATE TABLE </a:t>
            </a:r>
            <a:r>
              <a:rPr lang="zh-CN" altLang="zh-CN" dirty="0">
                <a:latin typeface="+mn-lt"/>
                <a:ea typeface="+mn-ea"/>
              </a:rPr>
              <a:t>权限。</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REVOKE CREATE TABLE </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FROM </a:t>
            </a:r>
            <a:r>
              <a:rPr lang="en-US" altLang="zh-CN" dirty="0" err="1">
                <a:latin typeface="+mn-lt"/>
                <a:ea typeface="+mn-ea"/>
              </a:rPr>
              <a:t>User_wang</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push dir="u"/>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8050" y="3141663"/>
            <a:ext cx="7848600"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1916113"/>
            <a:ext cx="7848600" cy="86518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9.4.3  </a:t>
            </a:r>
            <a:r>
              <a:rPr lang="zh-CN" altLang="zh-CN" dirty="0">
                <a:effectLst/>
              </a:rPr>
              <a:t>撤销权限</a:t>
            </a:r>
            <a:endParaRPr lang="zh-CN" altLang="en-US" dirty="0"/>
          </a:p>
        </p:txBody>
      </p:sp>
      <p:sp>
        <p:nvSpPr>
          <p:cNvPr id="57349" name="TextBox 2"/>
          <p:cNvSpPr txBox="1">
            <a:spLocks noChangeArrowheads="1"/>
          </p:cNvSpPr>
          <p:nvPr/>
        </p:nvSpPr>
        <p:spPr bwMode="auto">
          <a:xfrm>
            <a:off x="468313" y="1484313"/>
            <a:ext cx="8280400"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a:t>【例</a:t>
            </a:r>
            <a:r>
              <a:rPr lang="en-US" altLang="zh-CN"/>
              <a:t>9.22</a:t>
            </a:r>
            <a:r>
              <a:rPr lang="zh-CN" altLang="zh-CN"/>
              <a:t>】 取消授予多个用户的多个语句权限。</a:t>
            </a:r>
            <a:endParaRPr lang="zh-CN" altLang="zh-CN"/>
          </a:p>
          <a:p>
            <a:pPr eaLnBrk="1" hangingPunct="1"/>
            <a:r>
              <a:rPr lang="en-US" altLang="zh-CN"/>
              <a:t>REVOKE CREATE TABLE, CREATE DEFAULT </a:t>
            </a:r>
            <a:endParaRPr lang="zh-CN" altLang="zh-CN"/>
          </a:p>
          <a:p>
            <a:pPr eaLnBrk="1" hangingPunct="1"/>
            <a:r>
              <a:rPr lang="en-US" altLang="zh-CN"/>
              <a:t>    FROM User_wang, User_li</a:t>
            </a:r>
            <a:endParaRPr lang="zh-CN" altLang="zh-CN"/>
          </a:p>
          <a:p>
            <a:pPr eaLnBrk="1" hangingPunct="1"/>
            <a:r>
              <a:rPr lang="en-US" altLang="zh-CN"/>
              <a:t>GO</a:t>
            </a:r>
            <a:endParaRPr lang="zh-CN" altLang="zh-CN"/>
          </a:p>
          <a:p>
            <a:pPr eaLnBrk="1" hangingPunct="1">
              <a:lnSpc>
                <a:spcPct val="150000"/>
              </a:lnSpc>
            </a:pPr>
            <a:r>
              <a:rPr lang="zh-CN" altLang="zh-CN"/>
              <a:t>【例</a:t>
            </a:r>
            <a:r>
              <a:rPr lang="en-US" altLang="zh-CN"/>
              <a:t>9.23</a:t>
            </a:r>
            <a:r>
              <a:rPr lang="zh-CN" altLang="zh-CN"/>
              <a:t>】 取消以前对</a:t>
            </a:r>
            <a:r>
              <a:rPr lang="en-US" altLang="zh-CN"/>
              <a:t>User_wang</a:t>
            </a:r>
            <a:r>
              <a:rPr lang="zh-CN" altLang="zh-CN"/>
              <a:t>授予或拒绝的在</a:t>
            </a:r>
            <a:r>
              <a:rPr lang="en-US" altLang="zh-CN"/>
              <a:t>xsb</a:t>
            </a:r>
            <a:r>
              <a:rPr lang="zh-CN" altLang="zh-CN"/>
              <a:t>表上的</a:t>
            </a:r>
            <a:r>
              <a:rPr lang="en-US" altLang="zh-CN"/>
              <a:t>SELECT</a:t>
            </a:r>
            <a:r>
              <a:rPr lang="zh-CN" altLang="zh-CN"/>
              <a:t>权限。</a:t>
            </a:r>
            <a:endParaRPr lang="zh-CN" altLang="zh-CN"/>
          </a:p>
          <a:p>
            <a:pPr eaLnBrk="1" hangingPunct="1"/>
            <a:r>
              <a:rPr lang="en-US" altLang="zh-CN"/>
              <a:t>REVOKE SELECT</a:t>
            </a:r>
            <a:endParaRPr lang="zh-CN" altLang="zh-CN"/>
          </a:p>
          <a:p>
            <a:pPr eaLnBrk="1" hangingPunct="1"/>
            <a:r>
              <a:rPr lang="en-US" altLang="zh-CN"/>
              <a:t>    ON xsb</a:t>
            </a:r>
            <a:endParaRPr lang="zh-CN" altLang="zh-CN"/>
          </a:p>
          <a:p>
            <a:pPr eaLnBrk="1" hangingPunct="1"/>
            <a:r>
              <a:rPr lang="en-US" altLang="zh-CN"/>
              <a:t>    FROM User_wang</a:t>
            </a:r>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55650" y="3213100"/>
            <a:ext cx="7920038" cy="16557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9.4.3  </a:t>
            </a:r>
            <a:r>
              <a:rPr lang="zh-CN" altLang="zh-CN" dirty="0">
                <a:effectLst/>
              </a:rPr>
              <a:t>撤销权限</a:t>
            </a:r>
            <a:endParaRPr lang="zh-CN" altLang="en-US" dirty="0"/>
          </a:p>
        </p:txBody>
      </p:sp>
      <p:sp>
        <p:nvSpPr>
          <p:cNvPr id="58372" name="TextBox 2"/>
          <p:cNvSpPr txBox="1">
            <a:spLocks noChangeArrowheads="1"/>
          </p:cNvSpPr>
          <p:nvPr/>
        </p:nvSpPr>
        <p:spPr bwMode="auto">
          <a:xfrm>
            <a:off x="395288" y="1484313"/>
            <a:ext cx="8280400"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【例</a:t>
            </a:r>
            <a:r>
              <a:rPr lang="en-US" altLang="zh-CN"/>
              <a:t>9.24</a:t>
            </a:r>
            <a:r>
              <a:rPr lang="zh-CN" altLang="zh-CN"/>
              <a:t>】 角色</a:t>
            </a:r>
            <a:r>
              <a:rPr lang="en-US" altLang="zh-CN"/>
              <a:t>ROLE2</a:t>
            </a:r>
            <a:r>
              <a:rPr lang="zh-CN" altLang="zh-CN"/>
              <a:t>在</a:t>
            </a:r>
            <a:r>
              <a:rPr lang="en-US" altLang="zh-CN"/>
              <a:t>xsb</a:t>
            </a:r>
            <a:r>
              <a:rPr lang="zh-CN" altLang="zh-CN"/>
              <a:t>表上拥有</a:t>
            </a:r>
            <a:r>
              <a:rPr lang="en-US" altLang="zh-CN"/>
              <a:t>SELECT</a:t>
            </a:r>
            <a:r>
              <a:rPr lang="zh-CN" altLang="zh-CN"/>
              <a:t>权限，用户</a:t>
            </a:r>
            <a:r>
              <a:rPr lang="en-US" altLang="zh-CN"/>
              <a:t>User_li</a:t>
            </a:r>
            <a:r>
              <a:rPr lang="zh-CN" altLang="zh-CN"/>
              <a:t>是</a:t>
            </a:r>
            <a:r>
              <a:rPr lang="en-US" altLang="zh-CN"/>
              <a:t>ROLE2</a:t>
            </a:r>
            <a:r>
              <a:rPr lang="zh-CN" altLang="zh-CN"/>
              <a:t>的成员，</a:t>
            </a:r>
            <a:r>
              <a:rPr lang="en-US" altLang="zh-CN"/>
              <a:t>User_li</a:t>
            </a:r>
            <a:r>
              <a:rPr lang="zh-CN" altLang="zh-CN"/>
              <a:t>使用</a:t>
            </a:r>
            <a:r>
              <a:rPr lang="en-US" altLang="zh-CN"/>
              <a:t>WITH GRANT OPTION</a:t>
            </a:r>
            <a:r>
              <a:rPr lang="zh-CN" altLang="zh-CN"/>
              <a:t>子句将</a:t>
            </a:r>
            <a:r>
              <a:rPr lang="en-US" altLang="zh-CN"/>
              <a:t>SELECT</a:t>
            </a:r>
            <a:r>
              <a:rPr lang="zh-CN" altLang="zh-CN"/>
              <a:t>权限转移给了用户</a:t>
            </a:r>
            <a:r>
              <a:rPr lang="en-US" altLang="zh-CN"/>
              <a:t>User_huang</a:t>
            </a:r>
            <a:r>
              <a:rPr lang="zh-CN" altLang="zh-CN"/>
              <a:t>，用户</a:t>
            </a:r>
            <a:r>
              <a:rPr lang="en-US" altLang="zh-CN"/>
              <a:t>User_huang</a:t>
            </a:r>
            <a:r>
              <a:rPr lang="zh-CN" altLang="zh-CN"/>
              <a:t>不是</a:t>
            </a:r>
            <a:r>
              <a:rPr lang="en-US" altLang="zh-CN"/>
              <a:t>ROLE2</a:t>
            </a:r>
            <a:r>
              <a:rPr lang="zh-CN" altLang="zh-CN"/>
              <a:t>的成员。现要以用户</a:t>
            </a:r>
            <a:r>
              <a:rPr lang="en-US" altLang="zh-CN"/>
              <a:t>User_li</a:t>
            </a:r>
            <a:r>
              <a:rPr lang="zh-CN" altLang="zh-CN"/>
              <a:t>的身份撤销用户</a:t>
            </a:r>
            <a:r>
              <a:rPr lang="en-US" altLang="zh-CN"/>
              <a:t>User_huang</a:t>
            </a:r>
            <a:r>
              <a:rPr lang="zh-CN" altLang="zh-CN"/>
              <a:t>的</a:t>
            </a:r>
            <a:r>
              <a:rPr lang="en-US" altLang="zh-CN"/>
              <a:t>SELECT</a:t>
            </a:r>
            <a:r>
              <a:rPr lang="zh-CN" altLang="zh-CN"/>
              <a:t>权限。</a:t>
            </a:r>
            <a:endParaRPr lang="zh-CN" altLang="zh-CN"/>
          </a:p>
          <a:p>
            <a:pPr eaLnBrk="1" hangingPunct="1"/>
            <a:r>
              <a:rPr lang="zh-CN" altLang="zh-CN"/>
              <a:t>以登录名“</a:t>
            </a:r>
            <a:r>
              <a:rPr lang="en-US" altLang="zh-CN"/>
              <a:t>li</a:t>
            </a:r>
            <a:r>
              <a:rPr lang="zh-CN" altLang="zh-CN"/>
              <a:t>”的身份登录</a:t>
            </a:r>
            <a:r>
              <a:rPr lang="en-US" altLang="zh-CN"/>
              <a:t>SQL Server</a:t>
            </a:r>
            <a:r>
              <a:rPr lang="zh-CN" altLang="zh-CN"/>
              <a:t>服务器，新建一个查询，使用如下语句撤销</a:t>
            </a:r>
            <a:r>
              <a:rPr lang="en-US" altLang="zh-CN"/>
              <a:t>User_huang</a:t>
            </a:r>
            <a:r>
              <a:rPr lang="zh-CN" altLang="zh-CN"/>
              <a:t>的</a:t>
            </a:r>
            <a:r>
              <a:rPr lang="en-US" altLang="zh-CN"/>
              <a:t>SELECT</a:t>
            </a:r>
            <a:r>
              <a:rPr lang="zh-CN" altLang="zh-CN"/>
              <a:t>权限：</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REVOKE SELECT </a:t>
            </a:r>
            <a:endParaRPr lang="zh-CN" altLang="zh-CN"/>
          </a:p>
          <a:p>
            <a:pPr eaLnBrk="1" hangingPunct="1"/>
            <a:r>
              <a:rPr lang="en-US" altLang="zh-CN"/>
              <a:t>    ON xsb </a:t>
            </a:r>
            <a:endParaRPr lang="zh-CN" altLang="zh-CN"/>
          </a:p>
          <a:p>
            <a:pPr eaLnBrk="1" hangingPunct="1"/>
            <a:r>
              <a:rPr lang="en-US" altLang="zh-CN"/>
              <a:t>    TO User_huang </a:t>
            </a:r>
            <a:endParaRPr lang="zh-CN" altLang="zh-CN"/>
          </a:p>
          <a:p>
            <a:pPr eaLnBrk="1" hangingPunct="1"/>
            <a:r>
              <a:rPr lang="en-US" altLang="zh-CN"/>
              <a:t>    AS ROLE2</a:t>
            </a:r>
            <a:endParaRPr lang="zh-CN" altLang="zh-CN"/>
          </a:p>
          <a:p>
            <a:pPr eaLnBrk="1" hangingPunct="1"/>
            <a:endParaRPr lang="zh-CN" altLang="en-US"/>
          </a:p>
        </p:txBody>
      </p:sp>
    </p:spTree>
  </p:cSld>
  <p:clrMapOvr>
    <a:masterClrMapping/>
  </p:clrMapOvr>
  <p:transition spd="slow">
    <p:wheel spokes="1"/>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9.5  </a:t>
            </a:r>
            <a:r>
              <a:rPr lang="zh-CN" altLang="zh-CN" dirty="0">
                <a:effectLst/>
              </a:rPr>
              <a:t>数据库架构的定义和</a:t>
            </a:r>
            <a:r>
              <a:rPr lang="zh-CN" altLang="zh-CN" dirty="0" smtClean="0">
                <a:effectLst/>
              </a:rPr>
              <a:t>使用</a:t>
            </a:r>
            <a:endParaRPr lang="zh-CN" altLang="en-US" dirty="0"/>
          </a:p>
        </p:txBody>
      </p:sp>
      <p:sp>
        <p:nvSpPr>
          <p:cNvPr id="3" name="TextBox 2"/>
          <p:cNvSpPr txBox="1"/>
          <p:nvPr/>
        </p:nvSpPr>
        <p:spPr>
          <a:xfrm>
            <a:off x="469900" y="1268413"/>
            <a:ext cx="8208963" cy="3416300"/>
          </a:xfrm>
          <a:prstGeom prst="rect">
            <a:avLst/>
          </a:prstGeom>
          <a:noFill/>
        </p:spPr>
        <p:txBody>
          <a:bodyPr>
            <a:spAutoFit/>
          </a:bodyPr>
          <a:lstStyle/>
          <a:p>
            <a:pPr indent="355600" fontAlgn="auto">
              <a:spcBef>
                <a:spcPts val="0"/>
              </a:spcBef>
              <a:spcAft>
                <a:spcPts val="0"/>
              </a:spcAft>
              <a:defRPr/>
            </a:pPr>
            <a:r>
              <a:rPr lang="en-US" altLang="zh-CN" sz="2000" b="1" dirty="0">
                <a:latin typeface="+mn-lt"/>
                <a:ea typeface="+mn-ea"/>
              </a:rPr>
              <a:t>9.5.1  </a:t>
            </a:r>
            <a:r>
              <a:rPr lang="zh-CN" altLang="zh-CN" sz="2000" b="1" dirty="0">
                <a:latin typeface="+mn-lt"/>
                <a:ea typeface="+mn-ea"/>
              </a:rPr>
              <a:t>界面方式创建架构</a:t>
            </a:r>
            <a:endParaRPr lang="zh-CN" altLang="zh-CN" sz="2000" b="1" dirty="0">
              <a:latin typeface="+mn-lt"/>
              <a:ea typeface="+mn-ea"/>
            </a:endParaRPr>
          </a:p>
          <a:p>
            <a:pPr indent="355600" fontAlgn="auto">
              <a:spcBef>
                <a:spcPts val="0"/>
              </a:spcBef>
              <a:spcAft>
                <a:spcPts val="0"/>
              </a:spcAft>
              <a:defRPr/>
            </a:pPr>
            <a:r>
              <a:rPr lang="en-US" altLang="zh-CN" b="1" dirty="0">
                <a:solidFill>
                  <a:srgbClr val="C00000"/>
                </a:solidFill>
                <a:latin typeface="+mn-lt"/>
                <a:ea typeface="+mn-ea"/>
              </a:rPr>
              <a:t>1</a:t>
            </a:r>
            <a:r>
              <a:rPr lang="zh-CN" altLang="zh-CN" b="1" dirty="0">
                <a:solidFill>
                  <a:srgbClr val="C00000"/>
                </a:solidFill>
                <a:latin typeface="+mn-lt"/>
                <a:ea typeface="+mn-ea"/>
              </a:rPr>
              <a:t>．创建架构</a:t>
            </a:r>
            <a:endParaRPr lang="zh-CN" altLang="zh-CN" b="1" dirty="0">
              <a:solidFill>
                <a:srgbClr val="C00000"/>
              </a:solidFill>
              <a:latin typeface="+mn-lt"/>
              <a:ea typeface="+mn-ea"/>
            </a:endParaRPr>
          </a:p>
          <a:p>
            <a:pPr indent="355600" fontAlgn="auto">
              <a:spcBef>
                <a:spcPts val="0"/>
              </a:spcBef>
              <a:spcAft>
                <a:spcPts val="0"/>
              </a:spcAft>
              <a:defRPr/>
            </a:pPr>
            <a:r>
              <a:rPr lang="zh-CN" altLang="zh-CN" dirty="0">
                <a:latin typeface="+mn-lt"/>
                <a:ea typeface="+mn-ea"/>
              </a:rPr>
              <a:t>以在</a:t>
            </a:r>
            <a:r>
              <a:rPr lang="en-US" altLang="zh-CN" dirty="0" err="1">
                <a:latin typeface="+mn-lt"/>
                <a:ea typeface="+mn-ea"/>
              </a:rPr>
              <a:t>pxscj</a:t>
            </a:r>
            <a:r>
              <a:rPr lang="zh-CN" altLang="zh-CN" dirty="0">
                <a:latin typeface="+mn-lt"/>
                <a:ea typeface="+mn-ea"/>
              </a:rPr>
              <a:t>数据库中创建架构为例，具体步骤如下。</a:t>
            </a:r>
            <a:endParaRPr lang="zh-CN" altLang="zh-CN" dirty="0">
              <a:latin typeface="+mn-lt"/>
              <a:ea typeface="+mn-ea"/>
            </a:endParaRPr>
          </a:p>
          <a:p>
            <a:pPr indent="355600" fontAlgn="auto">
              <a:spcBef>
                <a:spcPts val="0"/>
              </a:spcBef>
              <a:spcAft>
                <a:spcPts val="0"/>
              </a:spcAft>
              <a:defRPr/>
            </a:pPr>
            <a:r>
              <a:rPr lang="zh-CN" altLang="zh-CN" dirty="0">
                <a:latin typeface="+mn-lt"/>
                <a:ea typeface="+mn-ea"/>
              </a:rPr>
              <a:t>（</a:t>
            </a:r>
            <a:r>
              <a:rPr lang="en-US" altLang="zh-CN" dirty="0">
                <a:latin typeface="+mn-lt"/>
                <a:ea typeface="+mn-ea"/>
              </a:rPr>
              <a:t>1</a:t>
            </a:r>
            <a:r>
              <a:rPr lang="zh-CN" altLang="zh-CN" dirty="0">
                <a:latin typeface="+mn-lt"/>
                <a:ea typeface="+mn-ea"/>
              </a:rPr>
              <a:t>）以系统管理员身份登录</a:t>
            </a:r>
            <a:r>
              <a:rPr lang="en-US" altLang="zh-CN" dirty="0">
                <a:latin typeface="+mn-lt"/>
                <a:ea typeface="+mn-ea"/>
              </a:rPr>
              <a:t>SQL Server</a:t>
            </a:r>
            <a:r>
              <a:rPr lang="zh-CN" altLang="zh-CN" dirty="0">
                <a:latin typeface="+mn-lt"/>
                <a:ea typeface="+mn-ea"/>
              </a:rPr>
              <a:t>，在“对象资源管理器”中展开“数据库”→“</a:t>
            </a:r>
            <a:r>
              <a:rPr lang="en-US" altLang="zh-CN" dirty="0" err="1">
                <a:latin typeface="+mn-lt"/>
                <a:ea typeface="+mn-ea"/>
              </a:rPr>
              <a:t>pxscj</a:t>
            </a:r>
            <a:r>
              <a:rPr lang="zh-CN" altLang="zh-CN" dirty="0">
                <a:latin typeface="+mn-lt"/>
                <a:ea typeface="+mn-ea"/>
              </a:rPr>
              <a:t>”→“安全性”，选择“架构”，右键单击鼠标，在弹出的快捷菜单中选择“新建架构”菜单项。</a:t>
            </a:r>
            <a:endParaRPr lang="zh-CN" altLang="zh-CN" dirty="0">
              <a:latin typeface="+mn-lt"/>
              <a:ea typeface="+mn-ea"/>
            </a:endParaRPr>
          </a:p>
          <a:p>
            <a:pPr indent="355600" fontAlgn="auto">
              <a:spcBef>
                <a:spcPts val="0"/>
              </a:spcBef>
              <a:spcAft>
                <a:spcPts val="0"/>
              </a:spcAft>
              <a:defRPr/>
            </a:pPr>
            <a:r>
              <a:rPr lang="zh-CN" altLang="zh-CN" dirty="0">
                <a:latin typeface="+mn-lt"/>
                <a:ea typeface="+mn-ea"/>
              </a:rPr>
              <a:t>（</a:t>
            </a:r>
            <a:r>
              <a:rPr lang="en-US" altLang="zh-CN" dirty="0">
                <a:latin typeface="+mn-lt"/>
                <a:ea typeface="+mn-ea"/>
              </a:rPr>
              <a:t>2</a:t>
            </a:r>
            <a:r>
              <a:rPr lang="zh-CN" altLang="zh-CN" dirty="0">
                <a:latin typeface="+mn-lt"/>
                <a:ea typeface="+mn-ea"/>
              </a:rPr>
              <a:t>）在打开的“架构</a:t>
            </a:r>
            <a:r>
              <a:rPr lang="en-US" altLang="zh-CN" dirty="0">
                <a:latin typeface="+mn-lt"/>
                <a:ea typeface="+mn-ea"/>
              </a:rPr>
              <a:t>-</a:t>
            </a:r>
            <a:r>
              <a:rPr lang="zh-CN" altLang="zh-CN" dirty="0">
                <a:latin typeface="+mn-lt"/>
                <a:ea typeface="+mn-ea"/>
              </a:rPr>
              <a:t>新建”窗口中选择“常规”选项页，在窗口右边“架构名称”下面的文本框中输入架构名称（如</a:t>
            </a:r>
            <a:r>
              <a:rPr lang="en-US" altLang="zh-CN" dirty="0" err="1">
                <a:latin typeface="+mn-lt"/>
                <a:ea typeface="+mn-ea"/>
              </a:rPr>
              <a:t>Sch_test</a:t>
            </a:r>
            <a:r>
              <a:rPr lang="zh-CN" altLang="zh-CN" dirty="0">
                <a:latin typeface="+mn-lt"/>
                <a:ea typeface="+mn-ea"/>
              </a:rPr>
              <a:t>）。单击“搜索”按钮，在打开的“搜索角色和用户”对话框中单击“浏览”按钮，在打开的“查找对象”对话框中，在用户“</a:t>
            </a:r>
            <a:r>
              <a:rPr lang="en-US" altLang="zh-CN" dirty="0" err="1">
                <a:latin typeface="+mn-lt"/>
                <a:ea typeface="+mn-ea"/>
              </a:rPr>
              <a:t>User_SQL_liu</a:t>
            </a:r>
            <a:r>
              <a:rPr lang="zh-CN" altLang="zh-CN" dirty="0">
                <a:latin typeface="+mn-lt"/>
                <a:ea typeface="+mn-ea"/>
              </a:rPr>
              <a:t>”前面的复选框中打勾，单击“确定”按钮，返回“搜索角色和用户”对话框，如图</a:t>
            </a:r>
            <a:r>
              <a:rPr lang="en-US" altLang="zh-CN" dirty="0">
                <a:latin typeface="+mn-lt"/>
                <a:ea typeface="+mn-ea"/>
              </a:rPr>
              <a:t>9.12</a:t>
            </a:r>
            <a:r>
              <a:rPr lang="zh-CN" altLang="zh-CN" dirty="0">
                <a:latin typeface="+mn-lt"/>
                <a:ea typeface="+mn-ea"/>
              </a:rPr>
              <a:t>所示。</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pic>
        <p:nvPicPr>
          <p:cNvPr id="5939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39975" y="4365625"/>
            <a:ext cx="4464050" cy="244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9.5.1  </a:t>
            </a:r>
            <a:r>
              <a:rPr lang="zh-CN" altLang="zh-CN" dirty="0">
                <a:effectLst/>
              </a:rPr>
              <a:t>界面方式创建</a:t>
            </a:r>
            <a:r>
              <a:rPr lang="zh-CN" altLang="zh-CN" dirty="0" smtClean="0">
                <a:effectLst/>
              </a:rPr>
              <a:t>架构</a:t>
            </a:r>
            <a:endParaRPr lang="zh-CN" altLang="en-US" dirty="0"/>
          </a:p>
        </p:txBody>
      </p:sp>
      <p:sp>
        <p:nvSpPr>
          <p:cNvPr id="60419" name="矩形 2"/>
          <p:cNvSpPr>
            <a:spLocks noChangeArrowheads="1"/>
          </p:cNvSpPr>
          <p:nvPr/>
        </p:nvSpPr>
        <p:spPr bwMode="auto">
          <a:xfrm>
            <a:off x="1116013" y="1341438"/>
            <a:ext cx="63896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a:t>单击“确定”按钮，返回“架构</a:t>
            </a:r>
            <a:r>
              <a:rPr lang="en-US" altLang="zh-CN"/>
              <a:t>-</a:t>
            </a:r>
            <a:r>
              <a:rPr lang="zh-CN" altLang="zh-CN"/>
              <a:t>新建”窗口，如图</a:t>
            </a:r>
            <a:r>
              <a:rPr lang="en-US" altLang="zh-CN"/>
              <a:t>9.13</a:t>
            </a:r>
            <a:r>
              <a:rPr lang="zh-CN" altLang="zh-CN"/>
              <a:t>所示。</a:t>
            </a:r>
            <a:endParaRPr lang="zh-CN" altLang="zh-CN"/>
          </a:p>
        </p:txBody>
      </p:sp>
      <p:pic>
        <p:nvPicPr>
          <p:cNvPr id="6042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95513" y="1709738"/>
            <a:ext cx="4608512" cy="412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395288" y="5818188"/>
            <a:ext cx="8280400" cy="923925"/>
          </a:xfrm>
          <a:prstGeom prst="rect">
            <a:avLst/>
          </a:prstGeom>
          <a:noFill/>
        </p:spPr>
        <p:txBody>
          <a:bodyPr>
            <a:spAutoFit/>
          </a:bodyPr>
          <a:lstStyle/>
          <a:p>
            <a:pPr indent="450850" fontAlgn="auto">
              <a:spcBef>
                <a:spcPts val="0"/>
              </a:spcBef>
              <a:spcAft>
                <a:spcPts val="0"/>
              </a:spcAft>
              <a:defRPr/>
            </a:pPr>
            <a:r>
              <a:rPr lang="zh-CN" altLang="zh-CN" dirty="0">
                <a:latin typeface="+mn-lt"/>
                <a:ea typeface="+mn-ea"/>
              </a:rPr>
              <a:t>（</a:t>
            </a:r>
            <a:r>
              <a:rPr lang="en-US" altLang="zh-CN" dirty="0">
                <a:latin typeface="+mn-lt"/>
                <a:ea typeface="+mn-ea"/>
              </a:rPr>
              <a:t>3</a:t>
            </a:r>
            <a:r>
              <a:rPr lang="zh-CN" altLang="zh-CN" dirty="0">
                <a:latin typeface="+mn-lt"/>
                <a:ea typeface="+mn-ea"/>
              </a:rPr>
              <a:t>）创建完后在“数据库”→“</a:t>
            </a:r>
            <a:r>
              <a:rPr lang="en-US" altLang="zh-CN" dirty="0" err="1">
                <a:latin typeface="+mn-lt"/>
                <a:ea typeface="+mn-ea"/>
              </a:rPr>
              <a:t>pxscj</a:t>
            </a:r>
            <a:r>
              <a:rPr lang="zh-CN" altLang="zh-CN" dirty="0">
                <a:latin typeface="+mn-lt"/>
                <a:ea typeface="+mn-ea"/>
              </a:rPr>
              <a:t>”→“安全性”→“架构”中，可以找到该创建后的新架构，打开该架构的属性窗口可以更改架构的所有者。</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wheel spokes="1"/>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9.5.1  </a:t>
            </a:r>
            <a:r>
              <a:rPr lang="zh-CN" altLang="zh-CN" dirty="0">
                <a:effectLst/>
              </a:rPr>
              <a:t>界面方式创建架构</a:t>
            </a:r>
            <a:endParaRPr lang="zh-CN" altLang="en-US" dirty="0"/>
          </a:p>
        </p:txBody>
      </p:sp>
      <p:sp>
        <p:nvSpPr>
          <p:cNvPr id="61443" name="TextBox 2"/>
          <p:cNvSpPr txBox="1">
            <a:spLocks noChangeArrowheads="1"/>
          </p:cNvSpPr>
          <p:nvPr/>
        </p:nvSpPr>
        <p:spPr bwMode="auto">
          <a:xfrm>
            <a:off x="395288" y="1341438"/>
            <a:ext cx="8280400" cy="544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2</a:t>
            </a:r>
            <a:r>
              <a:rPr lang="zh-CN" altLang="zh-CN" b="1">
                <a:solidFill>
                  <a:srgbClr val="C00000"/>
                </a:solidFill>
              </a:rPr>
              <a:t>．架构应用</a:t>
            </a:r>
            <a:endParaRPr lang="zh-CN" altLang="zh-CN" b="1">
              <a:solidFill>
                <a:srgbClr val="C00000"/>
              </a:solidFill>
            </a:endParaRPr>
          </a:p>
          <a:p>
            <a:pPr eaLnBrk="1" hangingPunct="1">
              <a:lnSpc>
                <a:spcPct val="150000"/>
              </a:lnSpc>
            </a:pPr>
            <a:r>
              <a:rPr lang="zh-CN" altLang="zh-CN"/>
              <a:t>（</a:t>
            </a:r>
            <a:r>
              <a:rPr lang="en-US" altLang="zh-CN"/>
              <a:t>1</a:t>
            </a:r>
            <a:r>
              <a:rPr lang="zh-CN" altLang="zh-CN"/>
              <a:t>）架构创建完后可以新建一个测试表来测试如何访问架构中的对象。在</a:t>
            </a:r>
            <a:r>
              <a:rPr lang="en-US" altLang="zh-CN"/>
              <a:t>pxscj</a:t>
            </a:r>
            <a:r>
              <a:rPr lang="zh-CN" altLang="zh-CN"/>
              <a:t>数据库中新建一个名为</a:t>
            </a:r>
            <a:r>
              <a:rPr lang="en-US" altLang="zh-CN"/>
              <a:t>table_1</a:t>
            </a:r>
            <a:r>
              <a:rPr lang="zh-CN" altLang="zh-CN"/>
              <a:t>的表。在创建表时，表的默认架构为</a:t>
            </a:r>
            <a:r>
              <a:rPr lang="en-US" altLang="zh-CN"/>
              <a:t>dbo</a:t>
            </a:r>
            <a:r>
              <a:rPr lang="zh-CN" altLang="zh-CN"/>
              <a:t>，要在表的属性窗口中将其架构修改为</a:t>
            </a:r>
            <a:r>
              <a:rPr lang="en-US" altLang="zh-CN"/>
              <a:t>Sch_test</a:t>
            </a:r>
            <a:r>
              <a:rPr lang="zh-CN" altLang="zh-CN"/>
              <a:t>。设置完成后保存该表，保存后的表可以在“对象资源管理器”中找到，此时表名就已经变成</a:t>
            </a:r>
            <a:r>
              <a:rPr lang="en-US" altLang="zh-CN"/>
              <a:t>Sch_test. table_1</a:t>
            </a:r>
            <a:r>
              <a:rPr lang="zh-CN" altLang="zh-CN"/>
              <a:t>。</a:t>
            </a:r>
            <a:endParaRPr lang="zh-CN" altLang="zh-CN"/>
          </a:p>
          <a:p>
            <a:pPr eaLnBrk="1" hangingPunct="1">
              <a:lnSpc>
                <a:spcPct val="150000"/>
              </a:lnSpc>
            </a:pPr>
            <a:r>
              <a:rPr lang="zh-CN" altLang="zh-CN"/>
              <a:t>（</a:t>
            </a:r>
            <a:r>
              <a:rPr lang="en-US" altLang="zh-CN"/>
              <a:t>2</a:t>
            </a:r>
            <a:r>
              <a:rPr lang="zh-CN" altLang="zh-CN"/>
              <a:t>）打开表</a:t>
            </a:r>
            <a:r>
              <a:rPr lang="en-US" altLang="zh-CN"/>
              <a:t>Sch_test. table_1</a:t>
            </a:r>
            <a:r>
              <a:rPr lang="zh-CN" altLang="zh-CN"/>
              <a:t>，在表中输入一行数据“测试架构的使用”。</a:t>
            </a:r>
            <a:endParaRPr lang="zh-CN" altLang="zh-CN"/>
          </a:p>
          <a:p>
            <a:pPr eaLnBrk="1" hangingPunct="1">
              <a:lnSpc>
                <a:spcPct val="150000"/>
              </a:lnSpc>
            </a:pPr>
            <a:r>
              <a:rPr lang="zh-CN" altLang="zh-CN"/>
              <a:t>（</a:t>
            </a:r>
            <a:r>
              <a:rPr lang="en-US" altLang="zh-CN"/>
              <a:t>3</a:t>
            </a:r>
            <a:r>
              <a:rPr lang="zh-CN" altLang="zh-CN"/>
              <a:t>）在“对象资源管理器”中展开数据库“</a:t>
            </a:r>
            <a:r>
              <a:rPr lang="en-US" altLang="zh-CN"/>
              <a:t>pxscj</a:t>
            </a:r>
            <a:r>
              <a:rPr lang="zh-CN" altLang="zh-CN"/>
              <a:t>”→“安全性”→“架构”，选择新创建的架构</a:t>
            </a:r>
            <a:r>
              <a:rPr lang="en-US" altLang="zh-CN"/>
              <a:t>Sch_test</a:t>
            </a:r>
            <a:r>
              <a:rPr lang="zh-CN" altLang="zh-CN"/>
              <a:t>，右键单击鼠标，在弹出的快捷菜单中选择“属性”菜单项，打开“架构属性”窗口，在该架构属性的“权限”选项页中，单击“搜索”按钮，选择用户</a:t>
            </a:r>
            <a:r>
              <a:rPr lang="en-US" altLang="zh-CN"/>
              <a:t>User_sql_owner</a:t>
            </a:r>
            <a:r>
              <a:rPr lang="zh-CN" altLang="zh-CN"/>
              <a:t>（假设已经创建），为用户</a:t>
            </a:r>
            <a:r>
              <a:rPr lang="en-US" altLang="zh-CN"/>
              <a:t>User_sql_owner</a:t>
            </a:r>
            <a:r>
              <a:rPr lang="zh-CN" altLang="zh-CN"/>
              <a:t>分配权限，如“选择”权限。单击“确定”按钮，保存上述设置。用同样的方法，还可以授予其他用户访问该架构的权限。</a:t>
            </a:r>
            <a:endParaRPr lang="zh-CN" altLang="zh-CN"/>
          </a:p>
          <a:p>
            <a:pPr eaLnBrk="1" hangingPunct="1">
              <a:lnSpc>
                <a:spcPct val="150000"/>
              </a:lnSpc>
            </a:pPr>
            <a:endParaRPr lang="zh-CN" altLang="en-US"/>
          </a:p>
        </p:txBody>
      </p:sp>
    </p:spTree>
  </p:cSld>
  <p:clrMapOvr>
    <a:masterClrMapping/>
  </p:clrMapOvr>
  <p:transition spd="slow">
    <p:blinds dir="vert"/>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36613" y="3933825"/>
            <a:ext cx="7920037" cy="2428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312988"/>
            <a:ext cx="7921625" cy="7921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9.5.1  </a:t>
            </a:r>
            <a:r>
              <a:rPr lang="zh-CN" altLang="zh-CN" dirty="0">
                <a:effectLst/>
              </a:rPr>
              <a:t>界面方式创建架构</a:t>
            </a:r>
            <a:endParaRPr lang="zh-CN" altLang="en-US" dirty="0"/>
          </a:p>
        </p:txBody>
      </p:sp>
      <p:sp>
        <p:nvSpPr>
          <p:cNvPr id="62469" name="TextBox 2"/>
          <p:cNvSpPr txBox="1">
            <a:spLocks noChangeArrowheads="1"/>
          </p:cNvSpPr>
          <p:nvPr/>
        </p:nvSpPr>
        <p:spPr bwMode="auto">
          <a:xfrm>
            <a:off x="395288" y="1412875"/>
            <a:ext cx="8353425"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a:t>
            </a:r>
            <a:r>
              <a:rPr lang="en-US" altLang="zh-CN"/>
              <a:t>4</a:t>
            </a:r>
            <a:r>
              <a:rPr lang="zh-CN" altLang="zh-CN"/>
              <a:t>）重新启动“</a:t>
            </a:r>
            <a:r>
              <a:rPr lang="en-US" altLang="zh-CN"/>
              <a:t>SSMS</a:t>
            </a:r>
            <a:r>
              <a:rPr lang="zh-CN" altLang="zh-CN"/>
              <a:t>”，使用</a:t>
            </a:r>
            <a:r>
              <a:rPr lang="en-US" altLang="zh-CN"/>
              <a:t>SQL Server</a:t>
            </a:r>
            <a:r>
              <a:rPr lang="zh-CN" altLang="zh-CN"/>
              <a:t>身份验证方式，以</a:t>
            </a:r>
            <a:r>
              <a:rPr lang="en-US" altLang="zh-CN"/>
              <a:t>sql_owner</a:t>
            </a:r>
            <a:r>
              <a:rPr lang="zh-CN" altLang="zh-CN"/>
              <a:t>的登录名连接</a:t>
            </a:r>
            <a:r>
              <a:rPr lang="en-US" altLang="zh-CN"/>
              <a:t>SQL Server</a:t>
            </a:r>
            <a:r>
              <a:rPr lang="zh-CN" altLang="zh-CN"/>
              <a:t>。在连接成功后，创建一个新的查询，在“查询分析器”窗口中输入查询表</a:t>
            </a:r>
            <a:r>
              <a:rPr lang="en-US" altLang="zh-CN"/>
              <a:t>Sch_test. table_1</a:t>
            </a:r>
            <a:r>
              <a:rPr lang="zh-CN" altLang="zh-CN"/>
              <a:t>中数据的</a:t>
            </a:r>
            <a:r>
              <a:rPr lang="en-US" altLang="zh-CN"/>
              <a:t>T-SQL</a:t>
            </a:r>
            <a:r>
              <a:rPr lang="zh-CN" altLang="zh-CN"/>
              <a:t>语句。</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SELECT * FROM Sch_test.table_1</a:t>
            </a:r>
            <a:endParaRPr lang="zh-CN" altLang="zh-CN"/>
          </a:p>
          <a:p>
            <a:pPr eaLnBrk="1" hangingPunct="1"/>
            <a:r>
              <a:rPr lang="zh-CN" altLang="zh-CN"/>
              <a:t>查询成功，结果正确。</a:t>
            </a:r>
            <a:endParaRPr lang="zh-CN" altLang="zh-CN"/>
          </a:p>
          <a:p>
            <a:pPr eaLnBrk="1" hangingPunct="1"/>
            <a:r>
              <a:rPr lang="zh-CN" altLang="zh-CN"/>
              <a:t>再新建一个</a:t>
            </a:r>
            <a:r>
              <a:rPr lang="en-US" altLang="zh-CN"/>
              <a:t>SQL</a:t>
            </a:r>
            <a:r>
              <a:rPr lang="zh-CN" altLang="zh-CN"/>
              <a:t>查询，在查询编辑器中输入删除表</a:t>
            </a:r>
            <a:r>
              <a:rPr lang="en-US" altLang="zh-CN"/>
              <a:t>Sch_test. table_1</a:t>
            </a:r>
            <a:r>
              <a:rPr lang="zh-CN" altLang="zh-CN"/>
              <a:t>的</a:t>
            </a:r>
            <a:r>
              <a:rPr lang="en-US" altLang="zh-CN"/>
              <a:t>T-SQL</a:t>
            </a:r>
            <a:r>
              <a:rPr lang="zh-CN" altLang="zh-CN"/>
              <a:t>语句：</a:t>
            </a:r>
            <a:endParaRPr lang="zh-CN" altLang="zh-CN"/>
          </a:p>
          <a:p>
            <a:pPr eaLnBrk="1" hangingPunct="1"/>
            <a:r>
              <a:rPr lang="en-US" altLang="zh-CN"/>
              <a:t>DELETE FROM Sch_test.table_1</a:t>
            </a:r>
            <a:endParaRPr lang="zh-CN" altLang="zh-CN"/>
          </a:p>
          <a:p>
            <a:pPr eaLnBrk="1" hangingPunct="1"/>
            <a:r>
              <a:rPr lang="zh-CN" altLang="zh-CN"/>
              <a:t>很明显，由于用户</a:t>
            </a:r>
            <a:r>
              <a:rPr lang="en-US" altLang="zh-CN"/>
              <a:t>User_sql_owner</a:t>
            </a:r>
            <a:r>
              <a:rPr lang="zh-CN" altLang="zh-CN"/>
              <a:t>所属的架构没有相应的</a:t>
            </a:r>
            <a:r>
              <a:rPr lang="en-US" altLang="zh-CN"/>
              <a:t>DELETE</a:t>
            </a:r>
            <a:r>
              <a:rPr lang="zh-CN" altLang="zh-CN"/>
              <a:t>权限，因此无法对表</a:t>
            </a:r>
            <a:r>
              <a:rPr lang="en-US" altLang="zh-CN"/>
              <a:t>Sch_test. table_1</a:t>
            </a:r>
            <a:r>
              <a:rPr lang="zh-CN" altLang="zh-CN"/>
              <a:t>执行删除操作。</a:t>
            </a:r>
            <a:endParaRPr lang="zh-CN" altLang="zh-CN"/>
          </a:p>
          <a:p>
            <a:pPr eaLnBrk="1" hangingPunct="1"/>
            <a:r>
              <a:rPr lang="en-US" altLang="zh-CN"/>
              <a:t> </a:t>
            </a:r>
            <a:endParaRPr lang="zh-CN" altLang="zh-CN"/>
          </a:p>
          <a:p>
            <a:pPr eaLnBrk="1" hangingPunct="1"/>
            <a:endParaRPr lang="zh-CN" altLang="en-US"/>
          </a:p>
        </p:txBody>
      </p:sp>
    </p:spTree>
  </p:cSld>
  <p:clrMapOvr>
    <a:masterClrMapping/>
  </p:clrMapOvr>
  <p:transition spd="slow">
    <p:wheel spokes="1"/>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5500" y="2636838"/>
            <a:ext cx="7921625" cy="31686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060575"/>
            <a:ext cx="7921625"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9.5.2  </a:t>
            </a:r>
            <a:r>
              <a:rPr lang="zh-CN" altLang="zh-CN" dirty="0">
                <a:effectLst/>
              </a:rPr>
              <a:t>命令方式创建架构：</a:t>
            </a:r>
            <a:r>
              <a:rPr lang="en-US" altLang="zh-CN" dirty="0">
                <a:effectLst/>
              </a:rPr>
              <a:t>CREATE SCHEMA</a:t>
            </a:r>
            <a:endParaRPr lang="zh-CN" altLang="zh-CN" dirty="0">
              <a:effectLst/>
            </a:endParaRPr>
          </a:p>
        </p:txBody>
      </p:sp>
      <p:sp>
        <p:nvSpPr>
          <p:cNvPr id="63493" name="TextBox 2"/>
          <p:cNvSpPr txBox="1">
            <a:spLocks noChangeArrowheads="1"/>
          </p:cNvSpPr>
          <p:nvPr/>
        </p:nvSpPr>
        <p:spPr bwMode="auto">
          <a:xfrm>
            <a:off x="468313" y="1484313"/>
            <a:ext cx="82804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可以使用</a:t>
            </a:r>
            <a:r>
              <a:rPr lang="en-US" altLang="zh-CN"/>
              <a:t>CREATE SCHEMA</a:t>
            </a:r>
            <a:r>
              <a:rPr lang="zh-CN" altLang="zh-CN"/>
              <a:t>语句创建数据库架构。</a:t>
            </a:r>
            <a:endParaRPr lang="zh-CN" altLang="zh-CN"/>
          </a:p>
          <a:p>
            <a:pPr eaLnBrk="1" hangingPunct="1"/>
            <a:r>
              <a:rPr lang="zh-CN" altLang="zh-CN"/>
              <a:t>语法格式：</a:t>
            </a:r>
            <a:endParaRPr lang="zh-CN" altLang="zh-CN"/>
          </a:p>
          <a:p>
            <a:pPr eaLnBrk="1" hangingPunct="1"/>
            <a:r>
              <a:rPr lang="en-US" altLang="zh-CN"/>
              <a:t>CREATE SCHEMA &lt;</a:t>
            </a:r>
            <a:r>
              <a:rPr lang="zh-CN" altLang="zh-CN"/>
              <a:t>架构名子句</a:t>
            </a:r>
            <a:r>
              <a:rPr lang="en-US" altLang="zh-CN"/>
              <a:t>&gt; [ &lt;</a:t>
            </a:r>
            <a:r>
              <a:rPr lang="zh-CN" altLang="zh-CN"/>
              <a:t>架构元素</a:t>
            </a:r>
            <a:r>
              <a:rPr lang="en-US" altLang="zh-CN"/>
              <a:t>&gt; [ , ... ] ]</a:t>
            </a:r>
            <a:endParaRPr lang="zh-CN" altLang="zh-CN"/>
          </a:p>
          <a:p>
            <a:pPr eaLnBrk="1" hangingPunct="1"/>
            <a:r>
              <a:rPr lang="zh-CN" altLang="zh-CN"/>
              <a:t>其中：</a:t>
            </a:r>
            <a:endParaRPr lang="zh-CN" altLang="zh-CN"/>
          </a:p>
          <a:p>
            <a:pPr eaLnBrk="1" hangingPunct="1"/>
            <a:r>
              <a:rPr lang="en-US" altLang="zh-CN"/>
              <a:t>&lt;</a:t>
            </a:r>
            <a:r>
              <a:rPr lang="zh-CN" altLang="zh-CN"/>
              <a:t>架构名子句</a:t>
            </a:r>
            <a:r>
              <a:rPr lang="en-US" altLang="zh-CN"/>
              <a:t>&gt; ::=</a:t>
            </a:r>
            <a:endParaRPr lang="zh-CN" altLang="zh-CN"/>
          </a:p>
          <a:p>
            <a:pPr eaLnBrk="1" hangingPunct="1"/>
            <a:r>
              <a:rPr lang="en-US" altLang="zh-CN"/>
              <a:t>{</a:t>
            </a:r>
            <a:endParaRPr lang="zh-CN" altLang="zh-CN"/>
          </a:p>
          <a:p>
            <a:pPr eaLnBrk="1" hangingPunct="1"/>
            <a:r>
              <a:rPr lang="en-US" altLang="zh-CN"/>
              <a:t>    </a:t>
            </a:r>
            <a:r>
              <a:rPr lang="zh-CN" altLang="zh-CN"/>
              <a:t>架构名</a:t>
            </a:r>
            <a:endParaRPr lang="zh-CN" altLang="zh-CN"/>
          </a:p>
          <a:p>
            <a:pPr eaLnBrk="1" hangingPunct="1"/>
            <a:r>
              <a:rPr lang="en-US" altLang="zh-CN"/>
              <a:t>    | AUTHORIZATION </a:t>
            </a:r>
            <a:r>
              <a:rPr lang="zh-CN" altLang="zh-CN"/>
              <a:t>所有者名</a:t>
            </a:r>
            <a:endParaRPr lang="zh-CN" altLang="zh-CN"/>
          </a:p>
          <a:p>
            <a:pPr eaLnBrk="1" hangingPunct="1"/>
            <a:r>
              <a:rPr lang="en-US" altLang="zh-CN"/>
              <a:t>    | </a:t>
            </a:r>
            <a:r>
              <a:rPr lang="zh-CN" altLang="zh-CN"/>
              <a:t>架构名</a:t>
            </a:r>
            <a:r>
              <a:rPr lang="en-US" altLang="zh-CN"/>
              <a:t> AUTHORIZATION </a:t>
            </a:r>
            <a:r>
              <a:rPr lang="zh-CN" altLang="zh-CN"/>
              <a:t>所有者名</a:t>
            </a:r>
            <a:endParaRPr lang="zh-CN" altLang="zh-CN"/>
          </a:p>
          <a:p>
            <a:pPr eaLnBrk="1" hangingPunct="1"/>
            <a:r>
              <a:rPr lang="en-US" altLang="zh-CN"/>
              <a:t>}</a:t>
            </a:r>
            <a:endParaRPr lang="zh-CN" altLang="zh-CN"/>
          </a:p>
          <a:p>
            <a:pPr eaLnBrk="1" hangingPunct="1"/>
            <a:r>
              <a:rPr lang="en-US" altLang="zh-CN"/>
              <a:t>&lt;</a:t>
            </a:r>
            <a:r>
              <a:rPr lang="zh-CN" altLang="zh-CN"/>
              <a:t>架构元素</a:t>
            </a:r>
            <a:r>
              <a:rPr lang="en-US" altLang="zh-CN"/>
              <a:t>&gt; ::=</a:t>
            </a:r>
            <a:endParaRPr lang="zh-CN" altLang="zh-CN"/>
          </a:p>
          <a:p>
            <a:pPr eaLnBrk="1" hangingPunct="1"/>
            <a:r>
              <a:rPr lang="en-US" altLang="zh-CN"/>
              <a:t>{</a:t>
            </a:r>
            <a:endParaRPr lang="zh-CN" altLang="zh-CN"/>
          </a:p>
          <a:p>
            <a:pPr eaLnBrk="1" hangingPunct="1"/>
            <a:r>
              <a:rPr lang="en-US" altLang="zh-CN"/>
              <a:t>    </a:t>
            </a:r>
            <a:r>
              <a:rPr lang="zh-CN" altLang="zh-CN"/>
              <a:t>表定义</a:t>
            </a:r>
            <a:r>
              <a:rPr lang="en-US" altLang="zh-CN"/>
              <a:t> | </a:t>
            </a:r>
            <a:r>
              <a:rPr lang="zh-CN" altLang="zh-CN"/>
              <a:t>视图定义</a:t>
            </a:r>
            <a:r>
              <a:rPr lang="en-US" altLang="zh-CN"/>
              <a:t> | grant</a:t>
            </a:r>
            <a:r>
              <a:rPr lang="zh-CN" altLang="zh-CN"/>
              <a:t>语句</a:t>
            </a:r>
            <a:endParaRPr lang="zh-CN" altLang="zh-CN"/>
          </a:p>
          <a:p>
            <a:pPr eaLnBrk="1" hangingPunct="1"/>
            <a:r>
              <a:rPr lang="en-US" altLang="zh-CN"/>
              <a:t>    revoke</a:t>
            </a:r>
            <a:r>
              <a:rPr lang="zh-CN" altLang="zh-CN"/>
              <a:t>语句</a:t>
            </a:r>
            <a:r>
              <a:rPr lang="en-US" altLang="zh-CN"/>
              <a:t> | deny</a:t>
            </a:r>
            <a:r>
              <a:rPr lang="zh-CN" altLang="zh-CN"/>
              <a:t>语句</a:t>
            </a:r>
            <a:endParaRPr lang="zh-CN" altLang="zh-CN"/>
          </a:p>
          <a:p>
            <a:pPr eaLnBrk="1" hangingPunct="1"/>
            <a:r>
              <a:rPr lang="en-US" altLang="zh-CN"/>
              <a:t>}</a:t>
            </a:r>
            <a:endParaRPr lang="zh-CN" altLang="zh-CN"/>
          </a:p>
          <a:p>
            <a:pPr eaLnBrk="1" hangingPunct="1"/>
            <a:endParaRPr lang="zh-CN" altLang="en-US"/>
          </a:p>
        </p:txBody>
      </p:sp>
    </p:spTree>
  </p:cSld>
  <p:clrMapOvr>
    <a:masterClrMapping/>
  </p:clrMapOvr>
  <p:transition spd="slow">
    <p:blinds dir="ver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84213" y="3860800"/>
            <a:ext cx="8064500" cy="279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684213" y="2349500"/>
            <a:ext cx="8064500" cy="11509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9.5.2  </a:t>
            </a:r>
            <a:r>
              <a:rPr lang="zh-CN" altLang="zh-CN" dirty="0">
                <a:effectLst/>
              </a:rPr>
              <a:t>命令方式创建架构：</a:t>
            </a:r>
            <a:r>
              <a:rPr lang="en-US" altLang="zh-CN" dirty="0">
                <a:effectLst/>
              </a:rPr>
              <a:t>CREATE SCHEMA</a:t>
            </a:r>
            <a:endParaRPr lang="zh-CN" altLang="en-US" dirty="0"/>
          </a:p>
        </p:txBody>
      </p:sp>
      <p:sp>
        <p:nvSpPr>
          <p:cNvPr id="64517" name="TextBox 2"/>
          <p:cNvSpPr txBox="1">
            <a:spLocks noChangeArrowheads="1"/>
          </p:cNvSpPr>
          <p:nvPr/>
        </p:nvSpPr>
        <p:spPr bwMode="auto">
          <a:xfrm>
            <a:off x="468313" y="1484313"/>
            <a:ext cx="8280400" cy="300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a:t>【例</a:t>
            </a:r>
            <a:r>
              <a:rPr lang="en-US" altLang="zh-CN"/>
              <a:t>9.25</a:t>
            </a:r>
            <a:r>
              <a:rPr lang="zh-CN" altLang="zh-CN"/>
              <a:t>】 创建架构</a:t>
            </a:r>
            <a:r>
              <a:rPr lang="en-US" altLang="zh-CN"/>
              <a:t>sch1</a:t>
            </a:r>
            <a:r>
              <a:rPr lang="zh-CN" altLang="zh-CN"/>
              <a:t>，其所有者为用户</a:t>
            </a:r>
            <a:r>
              <a:rPr lang="en-US" altLang="zh-CN"/>
              <a:t>User_david</a:t>
            </a:r>
            <a:r>
              <a:rPr lang="zh-CN" altLang="zh-CN"/>
              <a:t>。</a:t>
            </a:r>
            <a:endParaRPr lang="zh-CN" altLang="zh-CN"/>
          </a:p>
          <a:p>
            <a:pPr eaLnBrk="1" hangingPunct="1">
              <a:lnSpc>
                <a:spcPct val="150000"/>
              </a:lnSpc>
            </a:pPr>
            <a:r>
              <a:rPr lang="zh-CN" altLang="zh-CN"/>
              <a:t>以系统管理员身份登录</a:t>
            </a:r>
            <a:r>
              <a:rPr lang="en-US" altLang="zh-CN"/>
              <a:t>SQL Server</a:t>
            </a:r>
            <a:r>
              <a:rPr lang="zh-CN" altLang="zh-CN"/>
              <a:t>，新建一个查询，输入以下语句：</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CREATE SCHEMA  sch1</a:t>
            </a:r>
            <a:endParaRPr lang="zh-CN" altLang="zh-CN"/>
          </a:p>
          <a:p>
            <a:pPr eaLnBrk="1" hangingPunct="1"/>
            <a:r>
              <a:rPr lang="en-US" altLang="zh-CN"/>
              <a:t>    AUTHORIZATION User_david</a:t>
            </a:r>
            <a:endParaRPr lang="zh-CN" altLang="zh-CN"/>
          </a:p>
          <a:p>
            <a:pPr eaLnBrk="1" hangingPunct="1">
              <a:lnSpc>
                <a:spcPct val="150000"/>
              </a:lnSpc>
            </a:pPr>
            <a:r>
              <a:rPr lang="zh-CN" altLang="zh-CN"/>
              <a:t>另外，要删除可以使用</a:t>
            </a:r>
            <a:r>
              <a:rPr lang="en-US" altLang="zh-CN"/>
              <a:t>DROP SCHEMA</a:t>
            </a:r>
            <a:r>
              <a:rPr lang="zh-CN" altLang="zh-CN"/>
              <a:t>语句，例如：</a:t>
            </a:r>
            <a:endParaRPr lang="zh-CN" altLang="zh-CN"/>
          </a:p>
          <a:p>
            <a:pPr eaLnBrk="1" hangingPunct="1"/>
            <a:r>
              <a:rPr lang="en-US" altLang="zh-CN"/>
              <a:t>DROP SCHEMA  sch1</a:t>
            </a:r>
            <a:endParaRPr lang="zh-CN" altLang="zh-CN"/>
          </a:p>
          <a:p>
            <a:pPr eaLnBrk="1" hangingPunct="1"/>
            <a:endParaRPr lang="zh-CN" altLang="en-US"/>
          </a:p>
        </p:txBody>
      </p:sp>
    </p:spTree>
  </p:cSld>
  <p:clrMapOvr>
    <a:masterClrMapping/>
  </p:clrMapOvr>
  <p:transition spd="slow">
    <p:wheel spokes="1"/>
  </p:transition>
</p:sld>
</file>

<file path=ppt/tags/tag1.xml><?xml version="1.0" encoding="utf-8"?>
<p:tagLst xmlns:p="http://schemas.openxmlformats.org/presentationml/2006/main">
  <p:tag name="KSO_WPP_MARK_KEY" val="260975e1-ddc1-493b-a980-c293ba0cc52d"/>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Waveform</Template>
  <TotalTime>0</TotalTime>
  <Words>15533</Words>
  <Application>WPS 演示</Application>
  <PresentationFormat>全屏显示(4:3)</PresentationFormat>
  <Paragraphs>616</Paragraphs>
  <Slides>58</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58</vt:i4>
      </vt:variant>
    </vt:vector>
  </HeadingPairs>
  <TitlesOfParts>
    <vt:vector size="69" baseType="lpstr">
      <vt:lpstr>Arial</vt:lpstr>
      <vt:lpstr>宋体</vt:lpstr>
      <vt:lpstr>Wingdings</vt:lpstr>
      <vt:lpstr>Calibri</vt:lpstr>
      <vt:lpstr>Symbol</vt:lpstr>
      <vt:lpstr>Candara</vt:lpstr>
      <vt:lpstr>华文新魏</vt:lpstr>
      <vt:lpstr>微软雅黑</vt:lpstr>
      <vt:lpstr>Arial Unicode MS</vt:lpstr>
      <vt:lpstr>华文楷体</vt:lpstr>
      <vt:lpstr>波形</vt:lpstr>
      <vt:lpstr>第9章  系统安全管理</vt:lpstr>
      <vt:lpstr>9.1  SQL Server 2012的安全机制</vt:lpstr>
      <vt:lpstr>9.1.1  SQL Server 身份验证模式</vt:lpstr>
      <vt:lpstr>9.1.2  SQL Server安全性机制</vt:lpstr>
      <vt:lpstr>9.1.3  SQL Server数据库安全验证过程</vt:lpstr>
      <vt:lpstr>9.2  建立和管理用户账户</vt:lpstr>
      <vt:lpstr>9.2.1  界面方式管理用户账户</vt:lpstr>
      <vt:lpstr>9.2.1  界面方式管理用户账户</vt:lpstr>
      <vt:lpstr>9.2.1  界面方式管理用户账户</vt:lpstr>
      <vt:lpstr>9.2.1  界面方式管理用户账户</vt:lpstr>
      <vt:lpstr>9.2.1  界面方式管理用户账户</vt:lpstr>
      <vt:lpstr>9.2.1  界面方式管理用户账户</vt:lpstr>
      <vt:lpstr>9.2.1  界面方式管理用户账户</vt:lpstr>
      <vt:lpstr>9.2.1  界面方式管理用户账户</vt:lpstr>
      <vt:lpstr>9.2.2  命令方式管理用户账户：CREATE LOGIN/USER</vt:lpstr>
      <vt:lpstr>9.2.2  命令方式管理用户账户：CREATE LOGIN/USER</vt:lpstr>
      <vt:lpstr>9.2.2  命令方式管理用户账户：CREATE LOGIN/USER</vt:lpstr>
      <vt:lpstr>9.2.2  命令方式管理用户账户：CREATE LOGIN/USER</vt:lpstr>
      <vt:lpstr>9.2.2  命令方式管理用户账户：CREATE LOGIN/USER</vt:lpstr>
      <vt:lpstr>9.2.2  命令方式管理用户账户：CREATE LOGIN/USER</vt:lpstr>
      <vt:lpstr>9.2.2  命令方式管理用户账户：CREATE LOGIN/USER</vt:lpstr>
      <vt:lpstr>9.2.2  命令方式管理用户账户：CREATE LOGIN/USER</vt:lpstr>
      <vt:lpstr>9.3  角 色 管 理</vt:lpstr>
      <vt:lpstr>9.3.1  固定服务器角色</vt:lpstr>
      <vt:lpstr>9.3.1  固定服务器角色</vt:lpstr>
      <vt:lpstr>9.3.1  固定服务器角色</vt:lpstr>
      <vt:lpstr>9.3.2  固定数据库角色</vt:lpstr>
      <vt:lpstr>9.3.2  固定数据库角色</vt:lpstr>
      <vt:lpstr>9.3.2  固定数据库角色</vt:lpstr>
      <vt:lpstr>9.3.2  固定数据库角色</vt:lpstr>
      <vt:lpstr>9.3.2  固定数据库角色</vt:lpstr>
      <vt:lpstr>9.3.3  自定义数据库角色：CREATE/DROP ROLE</vt:lpstr>
      <vt:lpstr>9.3.3  自定义数据库角色：CREATE/DROP ROLE</vt:lpstr>
      <vt:lpstr>9.3.3  自定义数据库角色：CREATE/DROP ROLE</vt:lpstr>
      <vt:lpstr>9.3.3  自定义数据库角色：CREATE/DROP ROLE</vt:lpstr>
      <vt:lpstr>9.3.3  自定义数据库角色：CREATE/DROP ROLE</vt:lpstr>
      <vt:lpstr>9.3.3  自定义数据库角色：CREATE/DROP ROLE</vt:lpstr>
      <vt:lpstr>9.3.4  应用程序角色</vt:lpstr>
      <vt:lpstr>9.3.4  应用程序角色</vt:lpstr>
      <vt:lpstr>9.3.4  应用程序角色</vt:lpstr>
      <vt:lpstr>9.3.4  应用程序角色</vt:lpstr>
      <vt:lpstr>9.4  数据库权限的管理</vt:lpstr>
      <vt:lpstr>9.4.1  授予权限：GRANT</vt:lpstr>
      <vt:lpstr>9.4.1  授予权限：GRANT</vt:lpstr>
      <vt:lpstr>9.4.1  授予权限：GRANT</vt:lpstr>
      <vt:lpstr>9.4.1  授予权限：GRANT</vt:lpstr>
      <vt:lpstr>9.4.1  授予权限：GRANT</vt:lpstr>
      <vt:lpstr>9.4.2  拒绝权限</vt:lpstr>
      <vt:lpstr>9.4.2  拒绝权限</vt:lpstr>
      <vt:lpstr>9.4.3  撤销权限</vt:lpstr>
      <vt:lpstr>9.4.3  撤销权限</vt:lpstr>
      <vt:lpstr>9.4.3  撤销权限</vt:lpstr>
      <vt:lpstr>9.5  数据库架构的定义和使用</vt:lpstr>
      <vt:lpstr>9.5.1  界面方式创建架构</vt:lpstr>
      <vt:lpstr>9.5.1  界面方式创建架构</vt:lpstr>
      <vt:lpstr>9.5.1  界面方式创建架构</vt:lpstr>
      <vt:lpstr>9.5.2  命令方式创建架构：CREATE SCHEMA</vt:lpstr>
      <vt:lpstr>9.5.2  命令方式创建架构：CREATE SCHEMA</vt:lpstr>
    </vt:vector>
  </TitlesOfParts>
  <Company>Microsoft 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第9章  系统安全管理</dc:title>
  <dc:creator>Microsoft</dc:creator>
  <cp:lastModifiedBy>微信用户</cp:lastModifiedBy>
  <cp:revision>21</cp:revision>
  <dcterms:created xsi:type="dcterms:W3CDTF">2015-06-26T00:21:00Z</dcterms:created>
  <dcterms:modified xsi:type="dcterms:W3CDTF">2023-09-11T07:26:16Z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B862BA5A40184A4BA71D891B75B4D07F_13</vt:lpwstr>
  </property>
  <property fmtid="{D5CDD505-2E9C-101B-9397-08002B2CF9AE}" pid="3" name="KSOProductBuildVer">
    <vt:lpwstr>2052-11.1.0.14309</vt:lpwstr>
  </property>
</Properties>
</file>