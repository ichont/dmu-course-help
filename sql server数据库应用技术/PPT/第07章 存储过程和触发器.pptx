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9144000" cy="6858000" type="screen4x3"/>
  <p:notesSz cx="6858000" cy="9144000"/>
  <p:custDataLst>
    <p:tags r:id="rId5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344" autoAdjust="0"/>
  </p:normalViewPr>
  <p:slideViewPr>
    <p:cSldViewPr showGuides="1">
      <p:cViewPr varScale="1">
        <p:scale>
          <a:sx n="95" d="100"/>
          <a:sy n="95" d="100"/>
        </p:scale>
        <p:origin x="16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CEC921-33A9-4334-AB14-5671967017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75D6FB-59E8-401B-8B3B-D7CEEA0C83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59DF30-ABD1-4F18-8475-3060559776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E74B46-9CF5-45BC-AAD2-1C5DECC514B8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F42237-611E-4ED1-A5BC-AE591F47D1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9D0FC-FA1D-4509-8A68-2319D31D18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C5D63-B037-4184-8831-548A0C898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FB0B7-1121-4CD4-B85F-EF4B77EB0E62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78A592-8CD7-4EF6-B9DD-4A0C83237B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0F31F4-4E54-42CA-88A0-82B1E5A12D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1D24FD-D7B8-44DC-9E32-F0295FB75A1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A6FB0-2EDB-455C-9C9D-AF47879E37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0D3908-21C4-46DF-B202-6D39CC1810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63D1BE-A5C2-4424-8B4B-F7B0229F2D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84089A-0155-4466-87BE-BD9E6F525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F889C8-E7DE-41C4-9E2A-0536D5D98B4B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F43547-0545-436C-8E82-91FEB388B9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297CA-7606-439A-A675-88F722787EBA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D91EE1-4C9A-4FD8-A0C6-9D0B34E4DF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61A6F7-C2D0-43E0-A11E-1FE125D7BD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3EE355-BD29-47BD-A8E3-1C72C0F7CCF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FF606-08A1-48F7-AB22-1E28DC1FB3E4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B2BDA-3AE8-4132-92F1-96718FF94DFB}" type="datetimeFigureOut">
              <a:rPr lang="zh-CN" altLang="en-US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F5F9A-195C-4C4C-BF65-350FF4A23E5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3425598-F386-4E70-AFE5-8B2812DC28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A287E20-0602-44FC-93CE-7D61D3A838DB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6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zh-CN" dirty="0">
                <a:solidFill>
                  <a:srgbClr val="000000"/>
                </a:solidFill>
                <a:effectLst/>
              </a:rPr>
              <a:t>第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7</a:t>
            </a:r>
            <a:r>
              <a:rPr lang="zh-CN" altLang="zh-CN" dirty="0">
                <a:solidFill>
                  <a:srgbClr val="000000"/>
                </a:solidFill>
                <a:effectLst/>
              </a:rPr>
              <a:t>章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  </a:t>
            </a:r>
            <a:r>
              <a:rPr lang="zh-CN" altLang="zh-CN" dirty="0">
                <a:solidFill>
                  <a:srgbClr val="000000"/>
                </a:solidFill>
                <a:effectLst/>
              </a:rPr>
              <a:t>存储过程和触发器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900113" y="1700213"/>
            <a:ext cx="4967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hlinkClick r:id="rId1" action="ppaction://hlinksldjump"/>
              </a:rPr>
              <a:t>7.1  </a:t>
            </a:r>
            <a:r>
              <a:rPr lang="zh-CN" altLang="zh-CN" sz="2400" b="1">
                <a:hlinkClick r:id="rId1" action="ppaction://hlinksldjump"/>
              </a:rPr>
              <a:t>存 储 过 程</a:t>
            </a:r>
            <a:endParaRPr lang="zh-CN" altLang="zh-CN" sz="2400" b="1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900113" y="2395538"/>
            <a:ext cx="4967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hlinkClick r:id="rId2" action="ppaction://hlinksldjump"/>
              </a:rPr>
              <a:t>7.2  </a:t>
            </a:r>
            <a:r>
              <a:rPr lang="zh-CN" altLang="zh-CN" sz="2400" b="1">
                <a:hlinkClick r:id="rId2" action="ppaction://hlinksldjump"/>
              </a:rPr>
              <a:t>触</a:t>
            </a:r>
            <a:r>
              <a:rPr lang="en-US" altLang="zh-CN" sz="2400" b="1">
                <a:hlinkClick r:id="rId2" action="ppaction://hlinksldjump"/>
              </a:rPr>
              <a:t>  </a:t>
            </a:r>
            <a:r>
              <a:rPr lang="zh-CN" altLang="zh-CN" sz="2400" b="1">
                <a:hlinkClick r:id="rId2" action="ppaction://hlinksldjump"/>
              </a:rPr>
              <a:t>发</a:t>
            </a:r>
            <a:r>
              <a:rPr lang="en-US" altLang="zh-CN" sz="2400" b="1">
                <a:hlinkClick r:id="rId2" action="ppaction://hlinksldjump"/>
              </a:rPr>
              <a:t>  </a:t>
            </a:r>
            <a:r>
              <a:rPr lang="zh-CN" altLang="zh-CN" sz="2400" b="1">
                <a:hlinkClick r:id="rId2" action="ppaction://hlinksldjump"/>
              </a:rPr>
              <a:t>器</a:t>
            </a:r>
            <a:endParaRPr lang="zh-CN" altLang="zh-CN" sz="2400" b="1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  </a:t>
            </a:r>
            <a:r>
              <a:rPr lang="zh-CN" altLang="zh-CN" dirty="0">
                <a:effectLst/>
              </a:rPr>
              <a:t>存 储 过 程</a:t>
            </a:r>
            <a:endParaRPr lang="zh-CN" altLang="en-US" dirty="0"/>
          </a:p>
        </p:txBody>
      </p:sp>
      <p:sp>
        <p:nvSpPr>
          <p:cNvPr id="7171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80400" cy="378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）存储过程在服务器端运行，执行速度快。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）存储过程执行一次后，就驻留在高速缓冲存储器，在以后的操作中，只需从高速缓冲存储器中调用已编译好的二进制代码执行，提高了系统性能。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）使用存储过程可以完成所有数据库操作，并可通过编程方式控制对数据库信息访问的权限，确保数据库的安全。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）自动完成需要预先执行的任务。存储过程可以在</a:t>
            </a:r>
            <a:r>
              <a:rPr lang="en-US" altLang="zh-CN"/>
              <a:t>SQL Server</a:t>
            </a:r>
            <a:r>
              <a:rPr lang="zh-CN" altLang="zh-CN"/>
              <a:t>启动时自动执行，而不必在系统启动后再进行手工操作，大大方便了用户的使用，可以自动完成一些需要预先执行的任务。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7.1.1  </a:t>
            </a:r>
            <a:r>
              <a:rPr lang="zh-CN" altLang="zh-CN" dirty="0">
                <a:effectLst/>
              </a:rPr>
              <a:t>存储过程的类型</a:t>
            </a:r>
            <a:endParaRPr lang="zh-CN" altLang="zh-CN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1484313"/>
            <a:ext cx="8280400" cy="4248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1</a:t>
            </a:r>
            <a:r>
              <a:rPr lang="zh-CN" altLang="zh-CN" dirty="0">
                <a:latin typeface="+mn-lt"/>
                <a:ea typeface="+mn-ea"/>
              </a:rPr>
              <a:t>）系统存储过程。系统存储过程是由</a:t>
            </a:r>
            <a:r>
              <a:rPr lang="en-US" altLang="zh-CN" dirty="0">
                <a:latin typeface="+mn-lt"/>
                <a:ea typeface="+mn-ea"/>
              </a:rPr>
              <a:t>SQL Server</a:t>
            </a:r>
            <a:r>
              <a:rPr lang="zh-CN" altLang="zh-CN" dirty="0">
                <a:latin typeface="+mn-lt"/>
                <a:ea typeface="+mn-ea"/>
              </a:rPr>
              <a:t>提供的存储过程，可以作为命令执行。系统存储过程定义在系统数据库</a:t>
            </a:r>
            <a:r>
              <a:rPr lang="en-US" altLang="zh-CN" dirty="0">
                <a:latin typeface="+mn-lt"/>
                <a:ea typeface="+mn-ea"/>
              </a:rPr>
              <a:t>master</a:t>
            </a:r>
            <a:r>
              <a:rPr lang="zh-CN" altLang="zh-CN" dirty="0">
                <a:latin typeface="+mn-lt"/>
                <a:ea typeface="+mn-ea"/>
              </a:rPr>
              <a:t>中，其前缀是“</a:t>
            </a:r>
            <a:r>
              <a:rPr lang="en-US" altLang="zh-CN" dirty="0" err="1">
                <a:latin typeface="+mn-lt"/>
                <a:ea typeface="+mn-ea"/>
              </a:rPr>
              <a:t>sp</a:t>
            </a:r>
            <a:r>
              <a:rPr lang="en-US" altLang="zh-CN" dirty="0">
                <a:latin typeface="+mn-lt"/>
                <a:ea typeface="+mn-ea"/>
              </a:rPr>
              <a:t>_</a:t>
            </a:r>
            <a:r>
              <a:rPr lang="zh-CN" altLang="zh-CN" dirty="0">
                <a:latin typeface="+mn-lt"/>
                <a:ea typeface="+mn-ea"/>
              </a:rPr>
              <a:t>”，例如，常用的显示系统对象信息的</a:t>
            </a:r>
            <a:r>
              <a:rPr lang="en-US" altLang="zh-CN" dirty="0" err="1">
                <a:latin typeface="+mn-lt"/>
                <a:ea typeface="+mn-ea"/>
              </a:rPr>
              <a:t>sp_help</a:t>
            </a:r>
            <a:r>
              <a:rPr lang="zh-CN" altLang="zh-CN" dirty="0">
                <a:latin typeface="+mn-lt"/>
                <a:ea typeface="+mn-ea"/>
              </a:rPr>
              <a:t>系统存储过程，为检索系统表的信息提供了方便快捷的方法。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2</a:t>
            </a:r>
            <a:r>
              <a:rPr lang="zh-CN" altLang="zh-CN" dirty="0">
                <a:latin typeface="+mn-lt"/>
                <a:ea typeface="+mn-ea"/>
              </a:rPr>
              <a:t>）扩展存储过程。扩展存储过程是指在</a:t>
            </a:r>
            <a:r>
              <a:rPr lang="en-US" altLang="zh-CN" dirty="0">
                <a:latin typeface="+mn-lt"/>
                <a:ea typeface="+mn-ea"/>
              </a:rPr>
              <a:t>SQL Server 2012</a:t>
            </a:r>
            <a:r>
              <a:rPr lang="zh-CN" altLang="zh-CN" dirty="0">
                <a:latin typeface="+mn-lt"/>
                <a:ea typeface="+mn-ea"/>
              </a:rPr>
              <a:t>环境之外，使用编程语言（如</a:t>
            </a:r>
            <a:r>
              <a:rPr lang="en-US" altLang="zh-CN" dirty="0">
                <a:latin typeface="+mn-lt"/>
                <a:ea typeface="+mn-ea"/>
              </a:rPr>
              <a:t>C++</a:t>
            </a:r>
            <a:r>
              <a:rPr lang="zh-CN" altLang="zh-CN" dirty="0">
                <a:latin typeface="+mn-lt"/>
                <a:ea typeface="+mn-ea"/>
              </a:rPr>
              <a:t>语言）创建的外部例程形成的动态链接库（</a:t>
            </a:r>
            <a:r>
              <a:rPr lang="en-US" altLang="zh-CN" dirty="0">
                <a:latin typeface="+mn-lt"/>
                <a:ea typeface="+mn-ea"/>
              </a:rPr>
              <a:t>DLL</a:t>
            </a:r>
            <a:r>
              <a:rPr lang="zh-CN" altLang="zh-CN" dirty="0">
                <a:latin typeface="+mn-lt"/>
                <a:ea typeface="+mn-ea"/>
              </a:rPr>
              <a:t>）。使用时，先将</a:t>
            </a:r>
            <a:r>
              <a:rPr lang="en-US" altLang="zh-CN" dirty="0">
                <a:latin typeface="+mn-lt"/>
                <a:ea typeface="+mn-ea"/>
              </a:rPr>
              <a:t>DLL</a:t>
            </a:r>
            <a:r>
              <a:rPr lang="zh-CN" altLang="zh-CN" dirty="0">
                <a:latin typeface="+mn-lt"/>
                <a:ea typeface="+mn-ea"/>
              </a:rPr>
              <a:t>加载到</a:t>
            </a:r>
            <a:r>
              <a:rPr lang="en-US" altLang="zh-CN" dirty="0">
                <a:latin typeface="+mn-lt"/>
                <a:ea typeface="+mn-ea"/>
              </a:rPr>
              <a:t>SQL Server 2012</a:t>
            </a:r>
            <a:r>
              <a:rPr lang="zh-CN" altLang="zh-CN" dirty="0">
                <a:latin typeface="+mn-lt"/>
                <a:ea typeface="+mn-ea"/>
              </a:rPr>
              <a:t>系统中，并且按照使用系统存储过程的方法执行。扩展存储过程在</a:t>
            </a:r>
            <a:r>
              <a:rPr lang="en-US" altLang="zh-CN" dirty="0">
                <a:latin typeface="+mn-lt"/>
                <a:ea typeface="+mn-ea"/>
              </a:rPr>
              <a:t>SQL Server</a:t>
            </a:r>
            <a:r>
              <a:rPr lang="zh-CN" altLang="zh-CN" dirty="0">
                <a:latin typeface="+mn-lt"/>
                <a:ea typeface="+mn-ea"/>
              </a:rPr>
              <a:t>实例地址空间中运行。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3</a:t>
            </a:r>
            <a:r>
              <a:rPr lang="zh-CN" altLang="zh-CN" dirty="0">
                <a:latin typeface="+mn-lt"/>
                <a:ea typeface="+mn-ea"/>
              </a:rPr>
              <a:t>）用户存储过程。在</a:t>
            </a:r>
            <a:r>
              <a:rPr lang="en-US" altLang="zh-CN" dirty="0">
                <a:latin typeface="+mn-lt"/>
                <a:ea typeface="+mn-ea"/>
              </a:rPr>
              <a:t>SQL Server</a:t>
            </a:r>
            <a:r>
              <a:rPr lang="zh-CN" altLang="zh-CN" dirty="0">
                <a:latin typeface="+mn-lt"/>
                <a:ea typeface="+mn-ea"/>
              </a:rPr>
              <a:t>中，用户存储过程可以使用</a:t>
            </a:r>
            <a:r>
              <a:rPr lang="en-US" altLang="zh-CN" dirty="0">
                <a:latin typeface="+mn-lt"/>
                <a:ea typeface="+mn-ea"/>
              </a:rPr>
              <a:t>T-SQL</a:t>
            </a:r>
            <a:r>
              <a:rPr lang="zh-CN" altLang="zh-CN" dirty="0">
                <a:latin typeface="+mn-lt"/>
                <a:ea typeface="+mn-ea"/>
              </a:rPr>
              <a:t>语言编写，也可以使用</a:t>
            </a:r>
            <a:r>
              <a:rPr lang="en-US" altLang="zh-CN" dirty="0">
                <a:latin typeface="+mn-lt"/>
                <a:ea typeface="+mn-ea"/>
              </a:rPr>
              <a:t>CLR</a:t>
            </a:r>
            <a:r>
              <a:rPr lang="zh-CN" altLang="zh-CN" dirty="0">
                <a:latin typeface="+mn-lt"/>
                <a:ea typeface="+mn-ea"/>
              </a:rPr>
              <a:t>方式编写。在本书中，</a:t>
            </a:r>
            <a:r>
              <a:rPr lang="en-US" altLang="zh-CN" dirty="0">
                <a:latin typeface="+mn-lt"/>
                <a:ea typeface="+mn-ea"/>
              </a:rPr>
              <a:t>T-SQL</a:t>
            </a:r>
            <a:r>
              <a:rPr lang="zh-CN" altLang="zh-CN" dirty="0">
                <a:latin typeface="+mn-lt"/>
                <a:ea typeface="+mn-ea"/>
              </a:rPr>
              <a:t>存储过程就称为存储过程。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①</a:t>
            </a:r>
            <a:r>
              <a:rPr lang="en-US" altLang="zh-CN" dirty="0">
                <a:latin typeface="+mn-lt"/>
                <a:ea typeface="+mn-ea"/>
              </a:rPr>
              <a:t> </a:t>
            </a:r>
            <a:r>
              <a:rPr lang="zh-CN" altLang="zh-CN" dirty="0">
                <a:latin typeface="+mn-lt"/>
                <a:ea typeface="+mn-ea"/>
              </a:rPr>
              <a:t>存储过程：存储过程保存</a:t>
            </a:r>
            <a:r>
              <a:rPr lang="en-US" altLang="zh-CN" dirty="0">
                <a:latin typeface="+mn-lt"/>
                <a:ea typeface="+mn-ea"/>
              </a:rPr>
              <a:t>T-SQL</a:t>
            </a:r>
            <a:r>
              <a:rPr lang="zh-CN" altLang="zh-CN" dirty="0">
                <a:latin typeface="+mn-lt"/>
                <a:ea typeface="+mn-ea"/>
              </a:rPr>
              <a:t>语句集合，可以接收和返回用户提供的参数。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②</a:t>
            </a:r>
            <a:r>
              <a:rPr lang="en-US" altLang="zh-CN" dirty="0">
                <a:latin typeface="+mn-lt"/>
                <a:ea typeface="+mn-ea"/>
              </a:rPr>
              <a:t> CLR</a:t>
            </a:r>
            <a:r>
              <a:rPr lang="zh-CN" altLang="zh-CN" dirty="0">
                <a:latin typeface="+mn-lt"/>
                <a:ea typeface="+mn-ea"/>
              </a:rPr>
              <a:t>存储过程：</a:t>
            </a:r>
            <a:r>
              <a:rPr lang="en-US" altLang="zh-CN" dirty="0">
                <a:latin typeface="+mn-lt"/>
                <a:ea typeface="+mn-ea"/>
              </a:rPr>
              <a:t>CLR</a:t>
            </a:r>
            <a:r>
              <a:rPr lang="zh-CN" altLang="zh-CN" dirty="0">
                <a:latin typeface="+mn-lt"/>
                <a:ea typeface="+mn-ea"/>
              </a:rPr>
              <a:t>存储过程是对</a:t>
            </a:r>
            <a:r>
              <a:rPr lang="en-US" altLang="zh-CN" dirty="0">
                <a:latin typeface="+mn-lt"/>
                <a:ea typeface="+mn-ea"/>
              </a:rPr>
              <a:t>Microsoft .NET Framework</a:t>
            </a:r>
            <a:r>
              <a:rPr lang="zh-CN" altLang="zh-CN" dirty="0">
                <a:latin typeface="+mn-lt"/>
                <a:ea typeface="+mn-ea"/>
              </a:rPr>
              <a:t>公共语言运行时（</a:t>
            </a:r>
            <a:r>
              <a:rPr lang="en-US" altLang="zh-CN" dirty="0">
                <a:latin typeface="+mn-lt"/>
                <a:ea typeface="+mn-ea"/>
              </a:rPr>
              <a:t>CLR</a:t>
            </a:r>
            <a:r>
              <a:rPr lang="zh-CN" altLang="zh-CN" dirty="0">
                <a:latin typeface="+mn-lt"/>
                <a:ea typeface="+mn-ea"/>
              </a:rPr>
              <a:t>）方法的引用，可以接收和返回用户提供的参数。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2276475"/>
            <a:ext cx="7848600" cy="2736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zh-CN" dirty="0">
              <a:effectLst/>
            </a:endParaRPr>
          </a:p>
        </p:txBody>
      </p:sp>
      <p:sp>
        <p:nvSpPr>
          <p:cNvPr id="9220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．使用命令方式创建存储过程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创建存储过程的语句是</a:t>
            </a:r>
            <a:r>
              <a:rPr lang="en-US" altLang="zh-CN"/>
              <a:t>CREATE PROCEDURE</a:t>
            </a:r>
            <a:r>
              <a:rPr lang="zh-CN" altLang="zh-CN"/>
              <a:t>或</a:t>
            </a:r>
            <a:r>
              <a:rPr lang="en-US" altLang="zh-CN"/>
              <a:t>CREATE PROC</a:t>
            </a:r>
            <a:r>
              <a:rPr lang="zh-CN" altLang="zh-CN"/>
              <a:t>，两者同义。</a:t>
            </a:r>
            <a:endParaRPr lang="zh-CN" altLang="zh-CN"/>
          </a:p>
          <a:p>
            <a:pPr eaLnBrk="1" fontAlgn="ctr" hangingPunct="1"/>
            <a:r>
              <a:rPr lang="zh-CN" altLang="zh-CN"/>
              <a:t>语法格式：</a:t>
            </a:r>
            <a:endParaRPr lang="zh-CN" altLang="zh-CN"/>
          </a:p>
          <a:p>
            <a:pPr eaLnBrk="1" hangingPunct="1"/>
            <a:r>
              <a:rPr lang="en-US" altLang="zh-CN" sz="1600"/>
              <a:t>CREATE { PROC | PROCEDURE } [</a:t>
            </a:r>
            <a:r>
              <a:rPr lang="zh-CN" altLang="zh-CN" sz="1600"/>
              <a:t>架构名</a:t>
            </a:r>
            <a:r>
              <a:rPr lang="en-US" altLang="zh-CN" sz="1600"/>
              <a:t>.]</a:t>
            </a:r>
            <a:r>
              <a:rPr lang="zh-CN" altLang="zh-CN" sz="1600"/>
              <a:t>过程名</a:t>
            </a:r>
            <a:r>
              <a:rPr lang="en-US" altLang="zh-CN" sz="1600"/>
              <a:t>[ ; </a:t>
            </a:r>
            <a:r>
              <a:rPr lang="zh-CN" altLang="zh-CN" sz="1600"/>
              <a:t>组号</a:t>
            </a:r>
            <a:r>
              <a:rPr lang="en-US" altLang="zh-CN" sz="1600"/>
              <a:t>]	/*</a:t>
            </a:r>
            <a:r>
              <a:rPr lang="zh-CN" altLang="zh-CN" sz="1600"/>
              <a:t>定义过程名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[ { @</a:t>
            </a:r>
            <a:r>
              <a:rPr lang="zh-CN" altLang="zh-CN" sz="1600"/>
              <a:t>参数</a:t>
            </a:r>
            <a:r>
              <a:rPr lang="en-US" altLang="zh-CN" sz="1600"/>
              <a:t>[</a:t>
            </a:r>
            <a:r>
              <a:rPr lang="zh-CN" altLang="zh-CN" sz="1600"/>
              <a:t>类型架构名</a:t>
            </a:r>
            <a:r>
              <a:rPr lang="en-US" altLang="zh-CN" sz="1600"/>
              <a:t>. ]</a:t>
            </a:r>
            <a:r>
              <a:rPr lang="zh-CN" altLang="zh-CN" sz="1600"/>
              <a:t>数据类型</a:t>
            </a:r>
            <a:r>
              <a:rPr lang="en-US" altLang="zh-CN" sz="1600"/>
              <a:t> }							/*</a:t>
            </a:r>
            <a:r>
              <a:rPr lang="zh-CN" altLang="zh-CN" sz="1600"/>
              <a:t>定义参数的类型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[ VARYING ] [ = default ] [ OUT | OUTPUT ] [READONLY]	/*</a:t>
            </a:r>
            <a:r>
              <a:rPr lang="zh-CN" altLang="zh-CN" sz="1600"/>
              <a:t>定义参数的属性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]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[ FOR REPLICATION ]</a:t>
            </a:r>
            <a:endParaRPr lang="zh-CN" altLang="zh-CN" sz="1600"/>
          </a:p>
          <a:p>
            <a:pPr eaLnBrk="1" hangingPunct="1"/>
            <a:r>
              <a:rPr lang="en-US" altLang="zh-CN" sz="1600"/>
              <a:t>AS</a:t>
            </a:r>
            <a:endParaRPr lang="zh-CN" altLang="zh-CN" sz="1600"/>
          </a:p>
          <a:p>
            <a:pPr eaLnBrk="1" hangingPunct="1"/>
            <a:r>
              <a:rPr lang="en-US" altLang="zh-CN" sz="1600"/>
              <a:t>{     &lt;SQL</a:t>
            </a:r>
            <a:r>
              <a:rPr lang="zh-CN" altLang="zh-CN" sz="1600"/>
              <a:t>语句</a:t>
            </a:r>
            <a:r>
              <a:rPr lang="en-US" altLang="zh-CN" sz="1600"/>
              <a:t>&gt;											/*</a:t>
            </a:r>
            <a:r>
              <a:rPr lang="zh-CN" altLang="zh-CN" sz="1600"/>
              <a:t>执行的操作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……</a:t>
            </a:r>
            <a:endParaRPr lang="zh-CN" altLang="zh-CN" sz="1600"/>
          </a:p>
          <a:p>
            <a:pPr eaLnBrk="1" hangingPunct="1"/>
            <a:r>
              <a:rPr lang="en-US" altLang="zh-CN" sz="1600"/>
              <a:t>}</a:t>
            </a:r>
            <a:endParaRPr lang="zh-CN" altLang="zh-CN" sz="1600"/>
          </a:p>
          <a:p>
            <a:pPr eaLnBrk="1" hangingPunct="1"/>
            <a:endParaRPr lang="zh-CN" altLang="en-US" sz="1600"/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2349500"/>
            <a:ext cx="7775575" cy="13668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0244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zh-CN" b="1">
                <a:solidFill>
                  <a:srgbClr val="C00000"/>
                </a:solidFill>
              </a:rPr>
              <a:t>．存储过程的执行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通过</a:t>
            </a:r>
            <a:r>
              <a:rPr lang="en-US" altLang="zh-CN"/>
              <a:t>EXECUTE</a:t>
            </a:r>
            <a:r>
              <a:rPr lang="zh-CN" altLang="zh-CN"/>
              <a:t>或</a:t>
            </a:r>
            <a:r>
              <a:rPr lang="en-US" altLang="zh-CN"/>
              <a:t>EXEC</a:t>
            </a:r>
            <a:r>
              <a:rPr lang="zh-CN" altLang="zh-CN"/>
              <a:t>命令可以执行一个已定义的存储过程，</a:t>
            </a:r>
            <a:r>
              <a:rPr lang="en-US" altLang="zh-CN"/>
              <a:t>EXEC</a:t>
            </a:r>
            <a:r>
              <a:rPr lang="zh-CN" altLang="zh-CN"/>
              <a:t>是</a:t>
            </a:r>
            <a:r>
              <a:rPr lang="en-US" altLang="zh-CN"/>
              <a:t>EXECUTE</a:t>
            </a:r>
            <a:r>
              <a:rPr lang="zh-CN" altLang="zh-CN"/>
              <a:t>的简写。语法格式：</a:t>
            </a:r>
            <a:endParaRPr lang="zh-CN" altLang="zh-CN"/>
          </a:p>
          <a:p>
            <a:pPr eaLnBrk="1" hangingPunct="1"/>
            <a:r>
              <a:rPr lang="en-US" altLang="zh-CN"/>
              <a:t>[ { EXEC | EXECUTE } ]</a:t>
            </a:r>
            <a:endParaRPr lang="zh-CN" altLang="zh-CN"/>
          </a:p>
          <a:p>
            <a:pPr eaLnBrk="1" hangingPunct="1"/>
            <a:r>
              <a:rPr lang="en-US" altLang="zh-CN"/>
              <a:t>{    [ @</a:t>
            </a:r>
            <a:r>
              <a:rPr lang="zh-CN" altLang="zh-CN"/>
              <a:t>返回状态</a:t>
            </a:r>
            <a:r>
              <a:rPr lang="en-US" altLang="zh-CN"/>
              <a:t> = ]</a:t>
            </a:r>
            <a:endParaRPr lang="zh-CN" altLang="zh-CN"/>
          </a:p>
          <a:p>
            <a:pPr eaLnBrk="1" hangingPunct="1"/>
            <a:r>
              <a:rPr lang="en-US" altLang="zh-CN"/>
              <a:t>     { </a:t>
            </a:r>
            <a:r>
              <a:rPr lang="zh-CN" altLang="zh-CN"/>
              <a:t>模块名 </a:t>
            </a:r>
            <a:r>
              <a:rPr lang="en-US" altLang="zh-CN"/>
              <a:t>| @</a:t>
            </a:r>
            <a:r>
              <a:rPr lang="zh-CN" altLang="zh-CN"/>
              <a:t>模块名变量</a:t>
            </a:r>
            <a:r>
              <a:rPr lang="en-US" altLang="zh-CN"/>
              <a:t> }</a:t>
            </a:r>
            <a:endParaRPr lang="zh-CN" altLang="zh-CN"/>
          </a:p>
          <a:p>
            <a:pPr eaLnBrk="1" hangingPunct="1"/>
            <a:r>
              <a:rPr lang="en-US" altLang="zh-CN"/>
              <a:t>     [ [ @</a:t>
            </a:r>
            <a:r>
              <a:rPr lang="zh-CN" altLang="zh-CN"/>
              <a:t>参数名</a:t>
            </a:r>
            <a:r>
              <a:rPr lang="en-US" altLang="zh-CN"/>
              <a:t> = ] { </a:t>
            </a:r>
            <a:r>
              <a:rPr lang="zh-CN" altLang="zh-CN"/>
              <a:t>值</a:t>
            </a:r>
            <a:r>
              <a:rPr lang="en-US" altLang="zh-CN"/>
              <a:t> | @</a:t>
            </a:r>
            <a:r>
              <a:rPr lang="zh-CN" altLang="zh-CN"/>
              <a:t>变量</a:t>
            </a:r>
            <a:r>
              <a:rPr lang="en-US" altLang="zh-CN"/>
              <a:t>[ OUTPUT ] | [ DEFAULT ] } ]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  <a:p>
            <a:pPr eaLnBrk="1" fontAlgn="ctr" hangingPunct="1"/>
            <a:r>
              <a:rPr lang="zh-CN" altLang="zh-CN"/>
              <a:t>存储过程的执行要注意以下几点。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）如果存储过程名的前缀为“</a:t>
            </a:r>
            <a:r>
              <a:rPr lang="en-US" altLang="zh-CN"/>
              <a:t>sp_</a:t>
            </a:r>
            <a:r>
              <a:rPr lang="zh-CN" altLang="zh-CN"/>
              <a:t>”，</a:t>
            </a:r>
            <a:r>
              <a:rPr lang="en-US" altLang="zh-CN"/>
              <a:t>SQL Server</a:t>
            </a:r>
            <a:r>
              <a:rPr lang="zh-CN" altLang="zh-CN"/>
              <a:t>会首先在</a:t>
            </a:r>
            <a:r>
              <a:rPr lang="en-US" altLang="zh-CN"/>
              <a:t>master</a:t>
            </a:r>
            <a:r>
              <a:rPr lang="zh-CN" altLang="zh-CN"/>
              <a:t>数据库中寻找符合该名称的系统存储过程。如果没能找到合法的过程名，</a:t>
            </a:r>
            <a:r>
              <a:rPr lang="en-US" altLang="zh-CN"/>
              <a:t>SQL Server</a:t>
            </a:r>
            <a:r>
              <a:rPr lang="zh-CN" altLang="zh-CN"/>
              <a:t>才会寻找架构名称为</a:t>
            </a:r>
            <a:r>
              <a:rPr lang="en-US" altLang="zh-CN"/>
              <a:t>dbo</a:t>
            </a:r>
            <a:r>
              <a:rPr lang="zh-CN" altLang="zh-CN"/>
              <a:t>的存储过程。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）在执行存储过程时，若语句是批处理中的第一个语句，则不一定要指定</a:t>
            </a:r>
            <a:r>
              <a:rPr lang="en-US" altLang="zh-CN"/>
              <a:t>EXECUTE</a:t>
            </a:r>
            <a:r>
              <a:rPr lang="zh-CN" altLang="zh-CN"/>
              <a:t>关键字。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1850" y="4868863"/>
            <a:ext cx="7777163" cy="279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088" y="2420938"/>
            <a:ext cx="7777162" cy="21605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1269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2804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3</a:t>
            </a:r>
            <a:r>
              <a:rPr lang="zh-CN" altLang="zh-CN" b="1">
                <a:solidFill>
                  <a:srgbClr val="C00000"/>
                </a:solidFill>
              </a:rPr>
              <a:t>．举例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）设计简单的存储过程</a:t>
            </a:r>
            <a:endParaRPr lang="zh-CN" altLang="zh-CN"/>
          </a:p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7.1</a:t>
            </a:r>
            <a:r>
              <a:rPr lang="zh-CN" altLang="zh-CN"/>
              <a:t>】 返回</a:t>
            </a:r>
            <a:r>
              <a:rPr lang="en-US" altLang="zh-CN"/>
              <a:t>191301</a:t>
            </a:r>
            <a:r>
              <a:rPr lang="zh-CN" altLang="zh-CN"/>
              <a:t>号学生的成绩情况。该存储过程不使用任何参数。</a:t>
            </a:r>
            <a:endParaRPr lang="zh-CN" altLang="zh-CN"/>
          </a:p>
          <a:p>
            <a:pPr eaLnBrk="1" hangingPunct="1"/>
            <a:r>
              <a:rPr lang="en-US" altLang="zh-CN"/>
              <a:t>USE pxscj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CREATE PROCEDURE student_info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SELECT *</a:t>
            </a:r>
            <a:endParaRPr lang="zh-CN" altLang="zh-CN"/>
          </a:p>
          <a:p>
            <a:pPr eaLnBrk="1" hangingPunct="1"/>
            <a:r>
              <a:rPr lang="en-US" altLang="zh-CN"/>
              <a:t>            FROM cjb</a:t>
            </a:r>
            <a:endParaRPr lang="zh-CN" altLang="zh-CN"/>
          </a:p>
          <a:p>
            <a:pPr eaLnBrk="1" hangingPunct="1"/>
            <a:r>
              <a:rPr lang="en-US" altLang="zh-CN"/>
              <a:t>            WHERE</a:t>
            </a:r>
            <a:r>
              <a:rPr lang="zh-CN" altLang="zh-CN"/>
              <a:t>学号</a:t>
            </a:r>
            <a:r>
              <a:rPr lang="en-US" altLang="zh-CN"/>
              <a:t>= '191301'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fontAlgn="ctr" hangingPunct="1"/>
            <a:r>
              <a:rPr lang="zh-CN" altLang="zh-CN"/>
              <a:t>存储过程定义后，执行存储过程</a:t>
            </a:r>
            <a:r>
              <a:rPr lang="en-US" altLang="zh-CN"/>
              <a:t>student_info</a:t>
            </a:r>
            <a:r>
              <a:rPr lang="zh-CN" altLang="zh-CN"/>
              <a:t>：</a:t>
            </a:r>
            <a:endParaRPr lang="zh-CN" altLang="zh-CN"/>
          </a:p>
          <a:p>
            <a:pPr eaLnBrk="1" hangingPunct="1"/>
            <a:r>
              <a:rPr lang="en-US" altLang="zh-CN"/>
              <a:t>EXECUTE student_info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1844675"/>
            <a:ext cx="7848600" cy="2397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2292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如果该存储过程是批处理中的第一条语句，则可使用：</a:t>
            </a:r>
            <a:endParaRPr lang="zh-CN" altLang="zh-CN"/>
          </a:p>
          <a:p>
            <a:pPr eaLnBrk="1" hangingPunct="1"/>
            <a:r>
              <a:rPr lang="en-US" altLang="zh-CN"/>
              <a:t>student_info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执行结果如图</a:t>
            </a:r>
            <a:r>
              <a:rPr lang="en-US" altLang="zh-CN"/>
              <a:t>7.1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1229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492375"/>
            <a:ext cx="3176587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2373313"/>
            <a:ext cx="7704137" cy="2736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313" y="1484313"/>
            <a:ext cx="8207375" cy="3970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2</a:t>
            </a:r>
            <a:r>
              <a:rPr lang="zh-CN" altLang="zh-CN" dirty="0">
                <a:latin typeface="+mn-lt"/>
                <a:ea typeface="+mn-ea"/>
              </a:rPr>
              <a:t>）使用带参数的存储过程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【例</a:t>
            </a:r>
            <a:r>
              <a:rPr lang="en-US" altLang="zh-CN" dirty="0">
                <a:latin typeface="+mn-lt"/>
                <a:ea typeface="+mn-ea"/>
              </a:rPr>
              <a:t>7.2</a:t>
            </a:r>
            <a:r>
              <a:rPr lang="zh-CN" altLang="zh-CN" dirty="0">
                <a:latin typeface="+mn-lt"/>
                <a:ea typeface="+mn-ea"/>
              </a:rPr>
              <a:t>】 从</a:t>
            </a:r>
            <a:r>
              <a:rPr lang="en-US" altLang="zh-CN" dirty="0" err="1">
                <a:latin typeface="+mn-lt"/>
                <a:ea typeface="+mn-ea"/>
              </a:rPr>
              <a:t>pxscj</a:t>
            </a:r>
            <a:r>
              <a:rPr lang="zh-CN" altLang="zh-CN" dirty="0">
                <a:latin typeface="+mn-lt"/>
                <a:ea typeface="+mn-ea"/>
              </a:rPr>
              <a:t>数据库的</a:t>
            </a:r>
            <a:r>
              <a:rPr lang="en-US" altLang="zh-CN" dirty="0">
                <a:latin typeface="+mn-lt"/>
                <a:ea typeface="+mn-ea"/>
              </a:rPr>
              <a:t>3</a:t>
            </a:r>
            <a:r>
              <a:rPr lang="zh-CN" altLang="zh-CN" dirty="0">
                <a:latin typeface="+mn-lt"/>
                <a:ea typeface="+mn-ea"/>
              </a:rPr>
              <a:t>个表中查询某人指定课程的成绩和学分。该存储过程接收与传递参数精确匹配的值。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USE </a:t>
            </a:r>
            <a:r>
              <a:rPr lang="en-US" altLang="zh-CN" dirty="0" err="1">
                <a:latin typeface="+mn-lt"/>
                <a:ea typeface="+mn-ea"/>
              </a:rPr>
              <a:t>pxscj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GO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CREATE PROCEDURE student_info1 @name char (8), @</a:t>
            </a:r>
            <a:r>
              <a:rPr lang="en-US" altLang="zh-CN" dirty="0" err="1">
                <a:latin typeface="+mn-lt"/>
                <a:ea typeface="+mn-ea"/>
              </a:rPr>
              <a:t>cname</a:t>
            </a:r>
            <a:r>
              <a:rPr lang="en-US" altLang="zh-CN" dirty="0">
                <a:latin typeface="+mn-lt"/>
                <a:ea typeface="+mn-ea"/>
              </a:rPr>
              <a:t> char(16) 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AS 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SELECT a.</a:t>
            </a:r>
            <a:r>
              <a:rPr lang="zh-CN" altLang="zh-CN" dirty="0">
                <a:latin typeface="+mn-lt"/>
                <a:ea typeface="+mn-ea"/>
              </a:rPr>
              <a:t>学号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zh-CN" dirty="0">
                <a:latin typeface="+mn-lt"/>
                <a:ea typeface="+mn-ea"/>
              </a:rPr>
              <a:t>姓名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zh-CN" dirty="0">
                <a:latin typeface="+mn-lt"/>
                <a:ea typeface="+mn-ea"/>
              </a:rPr>
              <a:t>课程名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zh-CN" dirty="0">
                <a:latin typeface="+mn-lt"/>
                <a:ea typeface="+mn-ea"/>
              </a:rPr>
              <a:t>成绩</a:t>
            </a:r>
            <a:r>
              <a:rPr lang="en-US" altLang="zh-CN" dirty="0">
                <a:latin typeface="+mn-lt"/>
                <a:ea typeface="+mn-ea"/>
              </a:rPr>
              <a:t>, t.</a:t>
            </a:r>
            <a:r>
              <a:rPr lang="zh-CN" altLang="zh-CN" dirty="0">
                <a:latin typeface="+mn-lt"/>
                <a:ea typeface="+mn-ea"/>
              </a:rPr>
              <a:t>学分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    FROM </a:t>
            </a:r>
            <a:r>
              <a:rPr lang="en-US" altLang="zh-CN" dirty="0" err="1">
                <a:latin typeface="+mn-lt"/>
                <a:ea typeface="+mn-ea"/>
              </a:rPr>
              <a:t>xsb</a:t>
            </a:r>
            <a:r>
              <a:rPr lang="en-US" altLang="zh-CN" dirty="0">
                <a:latin typeface="+mn-lt"/>
                <a:ea typeface="+mn-ea"/>
              </a:rPr>
              <a:t>  a  INNER JOIN  </a:t>
            </a:r>
            <a:r>
              <a:rPr lang="en-US" altLang="zh-CN" dirty="0" err="1">
                <a:latin typeface="+mn-lt"/>
                <a:ea typeface="+mn-ea"/>
              </a:rPr>
              <a:t>cjb</a:t>
            </a:r>
            <a:r>
              <a:rPr lang="en-US" altLang="zh-CN" dirty="0">
                <a:latin typeface="+mn-lt"/>
                <a:ea typeface="+mn-ea"/>
              </a:rPr>
              <a:t>  b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        ON a.</a:t>
            </a:r>
            <a:r>
              <a:rPr lang="zh-CN" altLang="zh-CN" dirty="0">
                <a:latin typeface="+mn-lt"/>
                <a:ea typeface="+mn-ea"/>
              </a:rPr>
              <a:t>学号</a:t>
            </a:r>
            <a:r>
              <a:rPr lang="en-US" altLang="zh-CN" dirty="0">
                <a:latin typeface="+mn-lt"/>
                <a:ea typeface="+mn-ea"/>
              </a:rPr>
              <a:t> = b.</a:t>
            </a:r>
            <a:r>
              <a:rPr lang="zh-CN" altLang="zh-CN" dirty="0">
                <a:latin typeface="+mn-lt"/>
                <a:ea typeface="+mn-ea"/>
              </a:rPr>
              <a:t>学号</a:t>
            </a:r>
            <a:r>
              <a:rPr lang="en-US" altLang="zh-CN" dirty="0">
                <a:latin typeface="+mn-lt"/>
                <a:ea typeface="+mn-ea"/>
              </a:rPr>
              <a:t>INNER  JOIN  </a:t>
            </a:r>
            <a:r>
              <a:rPr lang="en-US" altLang="zh-CN" dirty="0" err="1">
                <a:latin typeface="+mn-lt"/>
                <a:ea typeface="+mn-ea"/>
              </a:rPr>
              <a:t>kcb</a:t>
            </a:r>
            <a:r>
              <a:rPr lang="en-US" altLang="zh-CN" dirty="0">
                <a:latin typeface="+mn-lt"/>
                <a:ea typeface="+mn-ea"/>
              </a:rPr>
              <a:t>  t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        ON b.</a:t>
            </a:r>
            <a:r>
              <a:rPr lang="zh-CN" altLang="zh-CN" dirty="0">
                <a:latin typeface="+mn-lt"/>
                <a:ea typeface="+mn-ea"/>
              </a:rPr>
              <a:t>课程号</a:t>
            </a:r>
            <a:r>
              <a:rPr lang="en-US" altLang="zh-CN" dirty="0">
                <a:latin typeface="+mn-lt"/>
                <a:ea typeface="+mn-ea"/>
              </a:rPr>
              <a:t>= t.</a:t>
            </a:r>
            <a:r>
              <a:rPr lang="zh-CN" altLang="zh-CN" dirty="0">
                <a:latin typeface="+mn-lt"/>
                <a:ea typeface="+mn-ea"/>
              </a:rPr>
              <a:t>课程号 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        WHERE a.</a:t>
            </a:r>
            <a:r>
              <a:rPr lang="zh-CN" altLang="zh-CN" dirty="0">
                <a:latin typeface="+mn-lt"/>
                <a:ea typeface="+mn-ea"/>
              </a:rPr>
              <a:t>姓名</a:t>
            </a:r>
            <a:r>
              <a:rPr lang="en-US" altLang="zh-CN" dirty="0">
                <a:latin typeface="+mn-lt"/>
                <a:ea typeface="+mn-ea"/>
              </a:rPr>
              <a:t>=@name and t.</a:t>
            </a:r>
            <a:r>
              <a:rPr lang="zh-CN" altLang="zh-CN" dirty="0">
                <a:latin typeface="+mn-lt"/>
                <a:ea typeface="+mn-ea"/>
              </a:rPr>
              <a:t>课程名</a:t>
            </a:r>
            <a:r>
              <a:rPr lang="en-US" altLang="zh-CN" dirty="0">
                <a:latin typeface="+mn-lt"/>
                <a:ea typeface="+mn-ea"/>
              </a:rPr>
              <a:t>=@</a:t>
            </a:r>
            <a:r>
              <a:rPr lang="en-US" altLang="zh-CN" dirty="0" err="1">
                <a:latin typeface="+mn-lt"/>
                <a:ea typeface="+mn-ea"/>
              </a:rPr>
              <a:t>cname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GO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1773238"/>
            <a:ext cx="7777162" cy="311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1359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执行存储过程</a:t>
            </a:r>
            <a:r>
              <a:rPr lang="en-US" altLang="zh-CN"/>
              <a:t>student_info1</a:t>
            </a:r>
            <a:r>
              <a:rPr lang="zh-CN" altLang="zh-CN"/>
              <a:t>：</a:t>
            </a:r>
            <a:endParaRPr lang="zh-CN" altLang="zh-CN"/>
          </a:p>
          <a:p>
            <a:pPr eaLnBrk="1" hangingPunct="1"/>
            <a:r>
              <a:rPr lang="en-US" altLang="zh-CN"/>
              <a:t>EXECUTE student_info1 '</a:t>
            </a:r>
            <a:r>
              <a:rPr lang="zh-CN" altLang="zh-CN"/>
              <a:t>王林</a:t>
            </a:r>
            <a:r>
              <a:rPr lang="en-US" altLang="zh-CN"/>
              <a:t>', '</a:t>
            </a:r>
            <a:r>
              <a:rPr lang="zh-CN" altLang="zh-CN"/>
              <a:t>计算机基础</a:t>
            </a:r>
            <a:r>
              <a:rPr lang="en-US" altLang="zh-CN"/>
              <a:t>'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执行结果如图</a:t>
            </a:r>
            <a:r>
              <a:rPr lang="en-US" altLang="zh-CN"/>
              <a:t>7.2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1434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498725"/>
            <a:ext cx="4752975" cy="239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55650" y="2828925"/>
            <a:ext cx="7920038" cy="8874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5650" y="2060575"/>
            <a:ext cx="7920038" cy="3603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5365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280400" cy="244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以下命令的执行结果与上面的相同：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EXECUTE student_info1 @name='</a:t>
            </a:r>
            <a:r>
              <a:rPr lang="zh-CN" altLang="zh-CN"/>
              <a:t>王林</a:t>
            </a:r>
            <a:r>
              <a:rPr lang="en-US" altLang="zh-CN"/>
              <a:t>', @cname='</a:t>
            </a:r>
            <a:r>
              <a:rPr lang="zh-CN" altLang="zh-CN"/>
              <a:t>计算机基础</a:t>
            </a:r>
            <a:r>
              <a:rPr lang="en-US" altLang="zh-CN"/>
              <a:t>'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或者：</a:t>
            </a:r>
            <a:endParaRPr lang="zh-CN" altLang="zh-CN"/>
          </a:p>
          <a:p>
            <a:pPr eaLnBrk="1" hangingPunct="1"/>
            <a:r>
              <a:rPr lang="en-US" altLang="zh-CN"/>
              <a:t>DECLARE @proc char(20)</a:t>
            </a:r>
            <a:endParaRPr lang="zh-CN" altLang="zh-CN"/>
          </a:p>
          <a:p>
            <a:pPr eaLnBrk="1" hangingPunct="1"/>
            <a:r>
              <a:rPr lang="en-US" altLang="zh-CN"/>
              <a:t>SET @proc= 'student_info1'</a:t>
            </a:r>
            <a:endParaRPr lang="zh-CN" altLang="zh-CN"/>
          </a:p>
          <a:p>
            <a:pPr eaLnBrk="1" hangingPunct="1"/>
            <a:r>
              <a:rPr lang="en-US" altLang="zh-CN"/>
              <a:t>EXECUTE @proc @name='</a:t>
            </a:r>
            <a:r>
              <a:rPr lang="zh-CN" altLang="zh-CN"/>
              <a:t>王林</a:t>
            </a:r>
            <a:r>
              <a:rPr lang="en-US" altLang="zh-CN"/>
              <a:t>', @cname='</a:t>
            </a:r>
            <a:r>
              <a:rPr lang="zh-CN" altLang="zh-CN"/>
              <a:t>计算机基础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3644900"/>
            <a:ext cx="7848600" cy="86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6388" name="TextBox 2"/>
          <p:cNvSpPr txBox="1">
            <a:spLocks noChangeArrowheads="1"/>
          </p:cNvSpPr>
          <p:nvPr/>
        </p:nvSpPr>
        <p:spPr bwMode="auto">
          <a:xfrm>
            <a:off x="468313" y="1557338"/>
            <a:ext cx="8207375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）使用带</a:t>
            </a:r>
            <a:r>
              <a:rPr lang="en-US" altLang="zh-CN"/>
              <a:t>OUPUT</a:t>
            </a:r>
            <a:r>
              <a:rPr lang="zh-CN" altLang="zh-CN"/>
              <a:t>参数的存储过程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7.3</a:t>
            </a:r>
            <a:r>
              <a:rPr lang="zh-CN" altLang="zh-CN"/>
              <a:t>】 创建一个存储过程</a:t>
            </a:r>
            <a:r>
              <a:rPr lang="en-US" altLang="zh-CN"/>
              <a:t>do_insert</a:t>
            </a:r>
            <a:r>
              <a:rPr lang="zh-CN" altLang="zh-CN"/>
              <a:t>，作用是向</a:t>
            </a:r>
            <a:r>
              <a:rPr lang="en-US" altLang="zh-CN"/>
              <a:t>xsb</a:t>
            </a:r>
            <a:r>
              <a:rPr lang="zh-CN" altLang="zh-CN"/>
              <a:t>表中插入一行数据。创建另外一个存储过程</a:t>
            </a:r>
            <a:r>
              <a:rPr lang="en-US" altLang="zh-CN"/>
              <a:t>do_action</a:t>
            </a:r>
            <a:r>
              <a:rPr lang="zh-CN" altLang="zh-CN"/>
              <a:t>，在其中调用第一个存储过程，并根据条件处理该行数据，处理后输出相应的信息。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第一个存储过程：</a:t>
            </a:r>
            <a:endParaRPr lang="zh-CN" altLang="zh-CN"/>
          </a:p>
          <a:p>
            <a:pPr eaLnBrk="1" hangingPunct="1"/>
            <a:r>
              <a:rPr lang="en-US" altLang="zh-CN" sz="1600"/>
              <a:t>CREATE PROCEDURE dbo.do_insert</a:t>
            </a:r>
            <a:endParaRPr lang="zh-CN" altLang="zh-CN" sz="1600"/>
          </a:p>
          <a:p>
            <a:pPr eaLnBrk="1" hangingPunct="1"/>
            <a:r>
              <a:rPr lang="en-US" altLang="zh-CN" sz="1600"/>
              <a:t>    AS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INSERT INTO xsb VALUES('091201', '</a:t>
            </a:r>
            <a:r>
              <a:rPr lang="zh-CN" altLang="zh-CN" sz="1600"/>
              <a:t>陶伟</a:t>
            </a:r>
            <a:r>
              <a:rPr lang="en-US" altLang="zh-CN" sz="1600"/>
              <a:t>', 1, '1990-03-05', '</a:t>
            </a:r>
            <a:r>
              <a:rPr lang="zh-CN" altLang="zh-CN" sz="1600"/>
              <a:t>软件工程</a:t>
            </a:r>
            <a:r>
              <a:rPr lang="en-US" altLang="zh-CN" sz="1600"/>
              <a:t>',50, NULL);</a:t>
            </a:r>
            <a:endParaRPr lang="zh-CN" altLang="zh-CN" sz="1600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650" y="1844675"/>
            <a:ext cx="7920038" cy="44640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7412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2804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第二个存储过程：</a:t>
            </a:r>
            <a:endParaRPr lang="zh-CN" altLang="zh-CN"/>
          </a:p>
          <a:p>
            <a:pPr eaLnBrk="1" hangingPunct="1"/>
            <a:r>
              <a:rPr lang="en-US" altLang="zh-CN"/>
              <a:t>CREATE PROCEDURE do_action @X bit, @STR CHAR(8) OUTPUT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BEGIN </a:t>
            </a:r>
            <a:endParaRPr lang="zh-CN" altLang="zh-CN"/>
          </a:p>
          <a:p>
            <a:pPr eaLnBrk="1" hangingPunct="1"/>
            <a:r>
              <a:rPr lang="en-US" altLang="zh-CN"/>
              <a:t>        EXEC do_insert</a:t>
            </a:r>
            <a:endParaRPr lang="zh-CN" altLang="zh-CN"/>
          </a:p>
          <a:p>
            <a:pPr eaLnBrk="1" hangingPunct="1"/>
            <a:r>
              <a:rPr lang="en-US" altLang="zh-CN"/>
              <a:t>        IF @X=0</a:t>
            </a:r>
            <a:endParaRPr lang="zh-CN" altLang="zh-CN"/>
          </a:p>
          <a:p>
            <a:pPr eaLnBrk="1" hangingPunct="1"/>
            <a:r>
              <a:rPr lang="en-US" altLang="zh-CN"/>
              <a:t>        BEGIN</a:t>
            </a:r>
            <a:endParaRPr lang="zh-CN" altLang="zh-CN"/>
          </a:p>
          <a:p>
            <a:pPr eaLnBrk="1" hangingPunct="1"/>
            <a:r>
              <a:rPr lang="en-US" altLang="zh-CN"/>
              <a:t>            UPDATE xsb SET</a:t>
            </a:r>
            <a:r>
              <a:rPr lang="zh-CN" altLang="zh-CN"/>
              <a:t>姓名</a:t>
            </a:r>
            <a:r>
              <a:rPr lang="en-US" altLang="zh-CN"/>
              <a:t>='</a:t>
            </a:r>
            <a:r>
              <a:rPr lang="zh-CN" altLang="zh-CN"/>
              <a:t>刘英</a:t>
            </a:r>
            <a:r>
              <a:rPr lang="en-US" altLang="zh-CN"/>
              <a:t>', </a:t>
            </a:r>
            <a:r>
              <a:rPr lang="zh-CN" altLang="zh-CN"/>
              <a:t>性别</a:t>
            </a:r>
            <a:r>
              <a:rPr lang="en-US" altLang="zh-CN"/>
              <a:t>=0 WHERE</a:t>
            </a:r>
            <a:r>
              <a:rPr lang="zh-CN" altLang="zh-CN"/>
              <a:t>学号</a:t>
            </a:r>
            <a:r>
              <a:rPr lang="en-US" altLang="zh-CN"/>
              <a:t>='091201'</a:t>
            </a:r>
            <a:endParaRPr lang="zh-CN" altLang="zh-CN"/>
          </a:p>
          <a:p>
            <a:pPr eaLnBrk="1" hangingPunct="1"/>
            <a:r>
              <a:rPr lang="en-US" altLang="zh-CN"/>
              <a:t>            SET @STR='</a:t>
            </a:r>
            <a:r>
              <a:rPr lang="zh-CN" altLang="zh-CN"/>
              <a:t>修改成功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r>
              <a:rPr lang="en-US" altLang="zh-CN"/>
              <a:t>        END</a:t>
            </a:r>
            <a:endParaRPr lang="zh-CN" altLang="zh-CN"/>
          </a:p>
          <a:p>
            <a:pPr eaLnBrk="1" hangingPunct="1"/>
            <a:r>
              <a:rPr lang="en-US" altLang="zh-CN"/>
              <a:t>        ELSE</a:t>
            </a:r>
            <a:endParaRPr lang="zh-CN" altLang="zh-CN"/>
          </a:p>
          <a:p>
            <a:pPr eaLnBrk="1" hangingPunct="1"/>
            <a:r>
              <a:rPr lang="en-US" altLang="zh-CN"/>
              <a:t>            IF @X=1</a:t>
            </a:r>
            <a:endParaRPr lang="zh-CN" altLang="zh-CN"/>
          </a:p>
          <a:p>
            <a:pPr eaLnBrk="1" hangingPunct="1"/>
            <a:r>
              <a:rPr lang="en-US" altLang="zh-CN"/>
              <a:t>            BEGIN</a:t>
            </a:r>
            <a:endParaRPr lang="zh-CN" altLang="zh-CN"/>
          </a:p>
          <a:p>
            <a:pPr eaLnBrk="1" hangingPunct="1"/>
            <a:r>
              <a:rPr lang="en-US" altLang="zh-CN"/>
              <a:t>                DELETE FROM xsb WHERE</a:t>
            </a:r>
            <a:r>
              <a:rPr lang="zh-CN" altLang="zh-CN"/>
              <a:t>学号</a:t>
            </a:r>
            <a:r>
              <a:rPr lang="en-US" altLang="zh-CN"/>
              <a:t>='091201'</a:t>
            </a:r>
            <a:endParaRPr lang="zh-CN" altLang="zh-CN"/>
          </a:p>
          <a:p>
            <a:pPr eaLnBrk="1" hangingPunct="1"/>
            <a:r>
              <a:rPr lang="en-US" altLang="zh-CN"/>
              <a:t>                SET @STR='</a:t>
            </a:r>
            <a:r>
              <a:rPr lang="zh-CN" altLang="zh-CN"/>
              <a:t>删除成功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r>
              <a:rPr lang="en-US" altLang="zh-CN"/>
              <a:t>            END</a:t>
            </a:r>
            <a:endParaRPr lang="zh-CN" altLang="zh-CN"/>
          </a:p>
          <a:p>
            <a:pPr eaLnBrk="1" hangingPunct="1"/>
            <a:r>
              <a:rPr lang="en-US" altLang="zh-CN"/>
              <a:t>    END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650" y="1916113"/>
            <a:ext cx="7993063" cy="792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8436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3534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接下来执行存储过程</a:t>
            </a:r>
            <a:r>
              <a:rPr lang="en-US" altLang="zh-CN"/>
              <a:t>do_action</a:t>
            </a:r>
            <a:r>
              <a:rPr lang="zh-CN" altLang="zh-CN"/>
              <a:t>来查看结果：</a:t>
            </a:r>
            <a:endParaRPr lang="zh-CN" altLang="zh-CN"/>
          </a:p>
          <a:p>
            <a:pPr eaLnBrk="1" hangingPunct="1"/>
            <a:r>
              <a:rPr lang="en-US" altLang="zh-CN"/>
              <a:t>DECLARE @str char(8)</a:t>
            </a:r>
            <a:endParaRPr lang="zh-CN" altLang="zh-CN"/>
          </a:p>
          <a:p>
            <a:pPr eaLnBrk="1" hangingPunct="1"/>
            <a:r>
              <a:rPr lang="en-US" altLang="zh-CN"/>
              <a:t>EXEC dbo.do_action 0, @str OUTPUT</a:t>
            </a:r>
            <a:endParaRPr lang="zh-CN" altLang="zh-CN"/>
          </a:p>
          <a:p>
            <a:pPr eaLnBrk="1" hangingPunct="1"/>
            <a:r>
              <a:rPr lang="en-US" altLang="zh-CN"/>
              <a:t>SELECT @str;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执行结果显示“修改成功”。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65188" y="5732463"/>
            <a:ext cx="7775575" cy="280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76300" y="5157788"/>
            <a:ext cx="7777163" cy="279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0113" y="2708275"/>
            <a:ext cx="7775575" cy="21605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19462" name="TextBox 2"/>
          <p:cNvSpPr txBox="1">
            <a:spLocks noChangeArrowheads="1"/>
          </p:cNvSpPr>
          <p:nvPr/>
        </p:nvSpPr>
        <p:spPr bwMode="auto">
          <a:xfrm>
            <a:off x="468313" y="1557338"/>
            <a:ext cx="820737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）使用带有通配符参数的存储过程</a:t>
            </a:r>
            <a:endParaRPr lang="zh-CN" altLang="zh-CN"/>
          </a:p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7.4</a:t>
            </a:r>
            <a:r>
              <a:rPr lang="zh-CN" altLang="zh-CN"/>
              <a:t>】 从</a:t>
            </a:r>
            <a:r>
              <a:rPr lang="en-US" altLang="zh-CN"/>
              <a:t>3</a:t>
            </a:r>
            <a:r>
              <a:rPr lang="zh-CN" altLang="zh-CN"/>
              <a:t>个表的连接中返回指定学生的学号、姓名、所选课程名称及该课程的成绩。该存储过程在参数中使用了模式匹配，如果没有提供参数，则使用预设的默认值。</a:t>
            </a:r>
            <a:endParaRPr lang="zh-CN" altLang="zh-CN"/>
          </a:p>
          <a:p>
            <a:pPr eaLnBrk="1" hangingPunct="1"/>
            <a:r>
              <a:rPr lang="en-US" altLang="zh-CN"/>
              <a:t>CREATE PROCEDURE st_info @name varchar(30) = '</a:t>
            </a:r>
            <a:r>
              <a:rPr lang="zh-CN" altLang="zh-CN"/>
              <a:t>李</a:t>
            </a:r>
            <a:r>
              <a:rPr lang="en-US" altLang="zh-CN"/>
              <a:t>%'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SELECT a.</a:t>
            </a:r>
            <a:r>
              <a:rPr lang="zh-CN" altLang="zh-CN"/>
              <a:t>学号</a:t>
            </a:r>
            <a:r>
              <a:rPr lang="en-US" altLang="zh-CN"/>
              <a:t>,a.</a:t>
            </a:r>
            <a:r>
              <a:rPr lang="zh-CN" altLang="zh-CN"/>
              <a:t>姓名</a:t>
            </a:r>
            <a:r>
              <a:rPr lang="en-US" altLang="zh-CN"/>
              <a:t>,c.</a:t>
            </a:r>
            <a:r>
              <a:rPr lang="zh-CN" altLang="zh-CN"/>
              <a:t>课程名</a:t>
            </a:r>
            <a:r>
              <a:rPr lang="en-US" altLang="zh-CN"/>
              <a:t>,b.</a:t>
            </a:r>
            <a:r>
              <a:rPr lang="zh-CN" altLang="zh-CN"/>
              <a:t>成绩</a:t>
            </a:r>
            <a:endParaRPr lang="zh-CN" altLang="zh-CN"/>
          </a:p>
          <a:p>
            <a:pPr eaLnBrk="1" hangingPunct="1"/>
            <a:r>
              <a:rPr lang="en-US" altLang="zh-CN"/>
              <a:t>            FROM  xsb a  INNER JOIN  cjb  b</a:t>
            </a:r>
            <a:endParaRPr lang="zh-CN" altLang="zh-CN"/>
          </a:p>
          <a:p>
            <a:pPr eaLnBrk="1" hangingPunct="1"/>
            <a:r>
              <a:rPr lang="en-US" altLang="zh-CN"/>
              <a:t>                ON a.</a:t>
            </a:r>
            <a:r>
              <a:rPr lang="zh-CN" altLang="zh-CN"/>
              <a:t>学号</a:t>
            </a:r>
            <a:r>
              <a:rPr lang="en-US" altLang="zh-CN"/>
              <a:t> =b.</a:t>
            </a:r>
            <a:r>
              <a:rPr lang="zh-CN" altLang="zh-CN"/>
              <a:t>学号</a:t>
            </a:r>
            <a:r>
              <a:rPr lang="en-US" altLang="zh-CN"/>
              <a:t>INNER JOIN kcb c</a:t>
            </a:r>
            <a:endParaRPr lang="zh-CN" altLang="zh-CN"/>
          </a:p>
          <a:p>
            <a:pPr eaLnBrk="1" hangingPunct="1"/>
            <a:r>
              <a:rPr lang="en-US" altLang="zh-CN"/>
              <a:t>                ON c.</a:t>
            </a:r>
            <a:r>
              <a:rPr lang="zh-CN" altLang="zh-CN"/>
              <a:t>课程号</a:t>
            </a:r>
            <a:r>
              <a:rPr lang="en-US" altLang="zh-CN"/>
              <a:t>= b.</a:t>
            </a:r>
            <a:r>
              <a:rPr lang="zh-CN" altLang="zh-CN"/>
              <a:t>课程号</a:t>
            </a:r>
            <a:r>
              <a:rPr lang="en-US" altLang="zh-CN"/>
              <a:t> </a:t>
            </a:r>
            <a:endParaRPr lang="zh-CN" altLang="zh-CN"/>
          </a:p>
          <a:p>
            <a:pPr eaLnBrk="1" hangingPunct="1"/>
            <a:r>
              <a:rPr lang="en-US" altLang="zh-CN"/>
              <a:t>            WHERE</a:t>
            </a:r>
            <a:r>
              <a:rPr lang="zh-CN" altLang="zh-CN"/>
              <a:t>姓名</a:t>
            </a:r>
            <a:r>
              <a:rPr lang="en-US" altLang="zh-CN"/>
              <a:t>LIKE @name</a:t>
            </a:r>
            <a:endParaRPr lang="zh-CN" altLang="zh-CN"/>
          </a:p>
          <a:p>
            <a:pPr eaLnBrk="1" hangingPunct="1"/>
            <a:r>
              <a:rPr lang="en-US" altLang="zh-CN"/>
              <a:t>GO </a:t>
            </a:r>
            <a:endParaRPr lang="zh-CN" altLang="zh-CN"/>
          </a:p>
          <a:p>
            <a:pPr eaLnBrk="1" fontAlgn="ctr" hangingPunct="1"/>
            <a:r>
              <a:rPr lang="zh-CN" altLang="zh-CN"/>
              <a:t>执行存储过程：</a:t>
            </a:r>
            <a:endParaRPr lang="zh-CN" altLang="zh-CN"/>
          </a:p>
          <a:p>
            <a:pPr eaLnBrk="1" hangingPunct="1"/>
            <a:r>
              <a:rPr lang="en-US" altLang="zh-CN"/>
              <a:t>EXECUTE st_info      			/*</a:t>
            </a:r>
            <a:r>
              <a:rPr lang="zh-CN" altLang="zh-CN"/>
              <a:t>参数使用默认值</a:t>
            </a:r>
            <a:r>
              <a:rPr lang="en-US" altLang="zh-CN"/>
              <a:t>*/</a:t>
            </a:r>
            <a:endParaRPr lang="zh-CN" altLang="zh-CN"/>
          </a:p>
          <a:p>
            <a:pPr eaLnBrk="1" fontAlgn="ctr" hangingPunct="1"/>
            <a:r>
              <a:rPr lang="zh-CN" altLang="zh-CN"/>
              <a:t>或者：</a:t>
            </a:r>
            <a:endParaRPr lang="zh-CN" altLang="zh-CN"/>
          </a:p>
          <a:p>
            <a:pPr eaLnBrk="1" hangingPunct="1"/>
            <a:r>
              <a:rPr lang="en-US" altLang="zh-CN"/>
              <a:t>EXECUTE st_info '</a:t>
            </a:r>
            <a:r>
              <a:rPr lang="zh-CN" altLang="zh-CN"/>
              <a:t>王</a:t>
            </a:r>
            <a:r>
              <a:rPr lang="en-US" altLang="zh-CN"/>
              <a:t>%'   			/*</a:t>
            </a:r>
            <a:r>
              <a:rPr lang="zh-CN" altLang="zh-CN"/>
              <a:t>传递给</a:t>
            </a:r>
            <a:r>
              <a:rPr lang="en-US" altLang="zh-CN"/>
              <a:t>@name</a:t>
            </a:r>
            <a:r>
              <a:rPr lang="zh-CN" altLang="zh-CN"/>
              <a:t>的实参为</a:t>
            </a:r>
            <a:r>
              <a:rPr lang="en-US" altLang="zh-CN"/>
              <a:t>'</a:t>
            </a:r>
            <a:r>
              <a:rPr lang="zh-CN" altLang="zh-CN"/>
              <a:t>王</a:t>
            </a:r>
            <a:r>
              <a:rPr lang="en-US" altLang="zh-CN"/>
              <a:t>%'*/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088" y="2852738"/>
            <a:ext cx="7921625" cy="17287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20484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35342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5</a:t>
            </a:r>
            <a:r>
              <a:rPr lang="zh-CN" altLang="zh-CN"/>
              <a:t>）使用</a:t>
            </a:r>
            <a:r>
              <a:rPr lang="en-US" altLang="zh-CN"/>
              <a:t>OUTPUT</a:t>
            </a:r>
            <a:r>
              <a:rPr lang="zh-CN" altLang="zh-CN"/>
              <a:t>游标参数的存储过程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en-US" altLang="zh-CN"/>
              <a:t>OUTPUT</a:t>
            </a:r>
            <a:r>
              <a:rPr lang="zh-CN" altLang="zh-CN"/>
              <a:t>游标参数用于返回存储过程的局部游标。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7.5</a:t>
            </a:r>
            <a:r>
              <a:rPr lang="zh-CN" altLang="zh-CN"/>
              <a:t>】 在</a:t>
            </a:r>
            <a:r>
              <a:rPr lang="en-US" altLang="zh-CN"/>
              <a:t>pxscj</a:t>
            </a:r>
            <a:r>
              <a:rPr lang="zh-CN" altLang="zh-CN"/>
              <a:t>数据库的</a:t>
            </a:r>
            <a:r>
              <a:rPr lang="en-US" altLang="zh-CN"/>
              <a:t>xsb</a:t>
            </a:r>
            <a:r>
              <a:rPr lang="zh-CN" altLang="zh-CN"/>
              <a:t>表上声明并打开一个游标。</a:t>
            </a:r>
            <a:endParaRPr lang="zh-CN" altLang="zh-CN"/>
          </a:p>
          <a:p>
            <a:pPr eaLnBrk="1" hangingPunct="1"/>
            <a:r>
              <a:rPr lang="en-US" altLang="zh-CN"/>
              <a:t>CREATE PROCEDURE st_cursor @st_cursor cursor VARYING OUTPUT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SET @st_cursor = CURSOR  FORWARD_ONLY STATIC FOR</a:t>
            </a:r>
            <a:endParaRPr lang="zh-CN" altLang="zh-CN"/>
          </a:p>
          <a:p>
            <a:pPr eaLnBrk="1" hangingPunct="1"/>
            <a:r>
              <a:rPr lang="en-US" altLang="zh-CN"/>
              <a:t>            SELECT *		</a:t>
            </a:r>
            <a:endParaRPr lang="zh-CN" altLang="zh-CN"/>
          </a:p>
          <a:p>
            <a:pPr eaLnBrk="1" hangingPunct="1"/>
            <a:r>
              <a:rPr lang="en-US" altLang="zh-CN"/>
              <a:t>                FROM xsb</a:t>
            </a:r>
            <a:endParaRPr lang="zh-CN" altLang="zh-CN"/>
          </a:p>
          <a:p>
            <a:pPr eaLnBrk="1" hangingPunct="1"/>
            <a:r>
              <a:rPr lang="en-US" altLang="zh-CN"/>
              <a:t>        OPEN @st_cursor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2014538"/>
            <a:ext cx="7775575" cy="251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在如下的批处理中，声明一个局部游标变量，执行上述存储过程，并将游标赋值给局部游标变量，然后通过该游标变量读取记录。</a:t>
            </a:r>
            <a:endParaRPr lang="zh-CN" altLang="zh-CN"/>
          </a:p>
          <a:p>
            <a:pPr eaLnBrk="1" hangingPunct="1"/>
            <a:r>
              <a:rPr lang="en-US" altLang="zh-CN"/>
              <a:t>DECLARE @MyCursor cursor</a:t>
            </a:r>
            <a:endParaRPr lang="zh-CN" altLang="zh-CN"/>
          </a:p>
          <a:p>
            <a:pPr eaLnBrk="1" hangingPunct="1"/>
            <a:r>
              <a:rPr lang="en-US" altLang="zh-CN"/>
              <a:t>EXEC st_cursor @st_cursor = @MyCursor OUTPUT	/*</a:t>
            </a:r>
            <a:r>
              <a:rPr lang="zh-CN" altLang="zh-CN"/>
              <a:t>执行存储过程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FETCH NEXT FROM @MyCursor</a:t>
            </a:r>
            <a:endParaRPr lang="zh-CN" altLang="zh-CN"/>
          </a:p>
          <a:p>
            <a:pPr eaLnBrk="1" hangingPunct="1"/>
            <a:r>
              <a:rPr lang="en-US" altLang="zh-CN"/>
              <a:t>WHILE (@@FETCH_STATUS = 0)</a:t>
            </a:r>
            <a:endParaRPr lang="zh-CN" altLang="zh-CN"/>
          </a:p>
          <a:p>
            <a:pPr eaLnBrk="1" hangingPunct="1"/>
            <a:r>
              <a:rPr lang="en-US" altLang="zh-CN"/>
              <a:t>BEGIN</a:t>
            </a:r>
            <a:endParaRPr lang="zh-CN" altLang="zh-CN"/>
          </a:p>
          <a:p>
            <a:pPr eaLnBrk="1" hangingPunct="1"/>
            <a:r>
              <a:rPr lang="en-US" altLang="zh-CN"/>
              <a:t>    FETCH NEXT FROM @MyCursor</a:t>
            </a:r>
            <a:endParaRPr lang="zh-CN" altLang="zh-CN"/>
          </a:p>
          <a:p>
            <a:pPr eaLnBrk="1" hangingPunct="1"/>
            <a:r>
              <a:rPr lang="en-US" altLang="zh-CN"/>
              <a:t>END</a:t>
            </a:r>
            <a:endParaRPr lang="zh-CN" altLang="zh-CN"/>
          </a:p>
          <a:p>
            <a:pPr eaLnBrk="1" hangingPunct="1"/>
            <a:r>
              <a:rPr lang="en-US" altLang="zh-CN"/>
              <a:t>CLOSE @MyCursor</a:t>
            </a:r>
            <a:endParaRPr lang="zh-CN" altLang="zh-CN"/>
          </a:p>
          <a:p>
            <a:pPr eaLnBrk="1" hangingPunct="1"/>
            <a:r>
              <a:rPr lang="en-US" altLang="zh-CN"/>
              <a:t>DEALLOCATE @MyCursor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0113" y="5229225"/>
            <a:ext cx="7775575" cy="314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0113" y="3284538"/>
            <a:ext cx="7775575" cy="1152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7.1.2  </a:t>
            </a:r>
            <a:r>
              <a:rPr lang="zh-CN" altLang="zh-CN" dirty="0">
                <a:effectLst/>
              </a:rPr>
              <a:t>存储过程的创建与执行：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PROCEDURE</a:t>
            </a:r>
            <a:endParaRPr lang="zh-CN" altLang="en-US" dirty="0"/>
          </a:p>
        </p:txBody>
      </p:sp>
      <p:sp>
        <p:nvSpPr>
          <p:cNvPr id="22533" name="TextBox 2"/>
          <p:cNvSpPr txBox="1">
            <a:spLocks noChangeArrowheads="1"/>
          </p:cNvSpPr>
          <p:nvPr/>
        </p:nvSpPr>
        <p:spPr bwMode="auto">
          <a:xfrm>
            <a:off x="468313" y="1628775"/>
            <a:ext cx="8207375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6</a:t>
            </a:r>
            <a:r>
              <a:rPr lang="zh-CN" altLang="zh-CN"/>
              <a:t>）使用</a:t>
            </a:r>
            <a:r>
              <a:rPr lang="en-US" altLang="zh-CN"/>
              <a:t>WITH ENCRYPTION</a:t>
            </a:r>
            <a:r>
              <a:rPr lang="zh-CN" altLang="zh-CN"/>
              <a:t>选项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en-US" altLang="zh-CN"/>
              <a:t>WITH ENCRYPTION</a:t>
            </a:r>
            <a:r>
              <a:rPr lang="zh-CN" altLang="zh-CN"/>
              <a:t>子句用于对用户隐藏存储过程的文本。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7.6</a:t>
            </a:r>
            <a:r>
              <a:rPr lang="zh-CN" altLang="zh-CN"/>
              <a:t>】 创建加密过程，使用</a:t>
            </a:r>
            <a:r>
              <a:rPr lang="en-US" altLang="zh-CN"/>
              <a:t>sp_helptext</a:t>
            </a:r>
            <a:r>
              <a:rPr lang="zh-CN" altLang="zh-CN"/>
              <a:t>系统存储过程获取关于加密过程的信息，然后尝试直接从</a:t>
            </a:r>
            <a:r>
              <a:rPr lang="en-US" altLang="zh-CN"/>
              <a:t>syscomments</a:t>
            </a:r>
            <a:r>
              <a:rPr lang="zh-CN" altLang="zh-CN"/>
              <a:t>表中获取关于该过程的信息。</a:t>
            </a:r>
            <a:endParaRPr lang="zh-CN" altLang="zh-CN"/>
          </a:p>
          <a:p>
            <a:pPr eaLnBrk="1" hangingPunct="1"/>
            <a:r>
              <a:rPr lang="en-US" altLang="zh-CN"/>
              <a:t>CREATE PROCEDURE encrypt_this  WITH ENCRYPTION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SELECT * </a:t>
            </a:r>
            <a:endParaRPr lang="zh-CN" altLang="zh-CN"/>
          </a:p>
          <a:p>
            <a:pPr eaLnBrk="1" hangingPunct="1"/>
            <a:r>
              <a:rPr lang="en-US" altLang="zh-CN"/>
              <a:t>            FROM xsb</a:t>
            </a:r>
            <a:endParaRPr lang="zh-CN" altLang="zh-CN"/>
          </a:p>
          <a:p>
            <a:pPr eaLnBrk="1" fontAlgn="ctr" hangingPunct="1"/>
            <a:r>
              <a:rPr lang="zh-CN" altLang="zh-CN"/>
              <a:t>通过系统存储过程</a:t>
            </a:r>
            <a:r>
              <a:rPr lang="en-US" altLang="zh-CN"/>
              <a:t>sp_helptext</a:t>
            </a:r>
            <a:r>
              <a:rPr lang="zh-CN" altLang="zh-CN"/>
              <a:t>可显示规则、默认值、未加密的存储过程、用户定义函数、触发器或视图的文本。</a:t>
            </a:r>
            <a:endParaRPr lang="zh-CN" altLang="zh-CN"/>
          </a:p>
          <a:p>
            <a:pPr eaLnBrk="1" fontAlgn="ctr" hangingPunct="1"/>
            <a:r>
              <a:rPr lang="zh-CN" altLang="zh-CN"/>
              <a:t>执行如下语句：</a:t>
            </a:r>
            <a:endParaRPr lang="zh-CN" altLang="zh-CN"/>
          </a:p>
          <a:p>
            <a:pPr eaLnBrk="1" hangingPunct="1"/>
            <a:r>
              <a:rPr lang="en-US" altLang="zh-CN"/>
              <a:t>EXEC sp_helptext encrypt_this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2060575"/>
            <a:ext cx="7775575" cy="28082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7.1.3  </a:t>
            </a:r>
            <a:r>
              <a:rPr lang="zh-CN" altLang="zh-CN" dirty="0">
                <a:effectLst/>
              </a:rPr>
              <a:t>存储过程的修改：</a:t>
            </a:r>
            <a:r>
              <a:rPr lang="en-US" altLang="zh-CN" dirty="0">
                <a:effectLst/>
              </a:rPr>
              <a:t>ALTER PROCEDURE</a:t>
            </a:r>
            <a:endParaRPr lang="zh-CN" altLang="zh-CN" dirty="0">
              <a:effectLst/>
            </a:endParaRPr>
          </a:p>
        </p:txBody>
      </p:sp>
      <p:sp>
        <p:nvSpPr>
          <p:cNvPr id="23556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使用</a:t>
            </a:r>
            <a:r>
              <a:rPr lang="en-US" altLang="zh-CN"/>
              <a:t>ALTER PROCEDURE</a:t>
            </a:r>
            <a:r>
              <a:rPr lang="zh-CN" altLang="zh-CN"/>
              <a:t>命令可修改已存在的存储过程并保留以前赋予的许可。</a:t>
            </a:r>
            <a:endParaRPr lang="zh-CN" altLang="zh-CN"/>
          </a:p>
          <a:p>
            <a:pPr eaLnBrk="1" fontAlgn="ctr" hangingPunct="1"/>
            <a:r>
              <a:rPr lang="zh-CN" altLang="zh-CN"/>
              <a:t>语法格式：</a:t>
            </a:r>
            <a:endParaRPr lang="zh-CN" altLang="zh-CN"/>
          </a:p>
          <a:p>
            <a:pPr eaLnBrk="1" hangingPunct="1"/>
            <a:r>
              <a:rPr lang="en-US" altLang="zh-CN"/>
              <a:t>ALTER { PROC | PROCEDURE } [</a:t>
            </a:r>
            <a:r>
              <a:rPr lang="zh-CN" altLang="zh-CN"/>
              <a:t>架构名</a:t>
            </a:r>
            <a:r>
              <a:rPr lang="en-US" altLang="zh-CN"/>
              <a:t>.]</a:t>
            </a:r>
            <a:r>
              <a:rPr lang="zh-CN" altLang="zh-CN"/>
              <a:t>过程名</a:t>
            </a:r>
            <a:endParaRPr lang="zh-CN" altLang="zh-CN"/>
          </a:p>
          <a:p>
            <a:pPr eaLnBrk="1" hangingPunct="1"/>
            <a:r>
              <a:rPr lang="en-US" altLang="zh-CN"/>
              <a:t>    [  { @</a:t>
            </a:r>
            <a:r>
              <a:rPr lang="zh-CN" altLang="zh-CN"/>
              <a:t>参数</a:t>
            </a:r>
            <a:r>
              <a:rPr lang="en-US" altLang="zh-CN"/>
              <a:t>[</a:t>
            </a:r>
            <a:r>
              <a:rPr lang="zh-CN" altLang="zh-CN"/>
              <a:t>类型架构名</a:t>
            </a:r>
            <a:r>
              <a:rPr lang="en-US" altLang="zh-CN"/>
              <a:t>. ]</a:t>
            </a:r>
            <a:r>
              <a:rPr lang="zh-CN" altLang="zh-CN"/>
              <a:t>数据类型</a:t>
            </a:r>
            <a:r>
              <a:rPr lang="en-US" altLang="zh-CN"/>
              <a:t> }</a:t>
            </a:r>
            <a:endParaRPr lang="zh-CN" altLang="zh-CN"/>
          </a:p>
          <a:p>
            <a:pPr eaLnBrk="1" hangingPunct="1"/>
            <a:r>
              <a:rPr lang="en-US" altLang="zh-CN"/>
              <a:t>      [ VARYING ] [ = default ] [ OUT[PUT] ]</a:t>
            </a:r>
            <a:endParaRPr lang="zh-CN" altLang="zh-CN"/>
          </a:p>
          <a:p>
            <a:pPr eaLnBrk="1" hangingPunct="1"/>
            <a:r>
              <a:rPr lang="en-US" altLang="zh-CN"/>
              <a:t>    ]</a:t>
            </a:r>
            <a:endParaRPr lang="zh-CN" altLang="zh-CN"/>
          </a:p>
          <a:p>
            <a:pPr eaLnBrk="1" hangingPunct="1"/>
            <a:r>
              <a:rPr lang="en-US" altLang="zh-CN"/>
              <a:t> [ FOR REPLICATION ]</a:t>
            </a:r>
            <a:endParaRPr lang="zh-CN" altLang="zh-CN"/>
          </a:p>
          <a:p>
            <a:pPr eaLnBrk="1" hangingPunct="1"/>
            <a:r>
              <a:rPr lang="en-US" altLang="zh-CN"/>
              <a:t>AS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    &lt;SQL</a:t>
            </a:r>
            <a:r>
              <a:rPr lang="zh-CN" altLang="zh-CN"/>
              <a:t>语句</a:t>
            </a:r>
            <a:r>
              <a:rPr lang="en-US" altLang="zh-CN"/>
              <a:t>&gt; </a:t>
            </a:r>
            <a:endParaRPr lang="zh-CN" altLang="zh-CN"/>
          </a:p>
          <a:p>
            <a:pPr eaLnBrk="1" hangingPunct="1"/>
            <a:r>
              <a:rPr lang="en-US" altLang="zh-CN"/>
              <a:t>    ……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1989138"/>
            <a:ext cx="7848600" cy="2519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7.1.3  </a:t>
            </a:r>
            <a:r>
              <a:rPr lang="zh-CN" altLang="zh-CN" dirty="0">
                <a:effectLst/>
              </a:rPr>
              <a:t>存储过程的修改：</a:t>
            </a:r>
            <a:r>
              <a:rPr lang="en-US" altLang="zh-CN" dirty="0">
                <a:effectLst/>
              </a:rPr>
              <a:t>ALTER PROCEDURE</a:t>
            </a:r>
            <a:endParaRPr lang="zh-CN" altLang="en-US" dirty="0"/>
          </a:p>
        </p:txBody>
      </p:sp>
      <p:sp>
        <p:nvSpPr>
          <p:cNvPr id="24580" name="TextBox 2"/>
          <p:cNvSpPr txBox="1">
            <a:spLocks noChangeArrowheads="1"/>
          </p:cNvSpPr>
          <p:nvPr/>
        </p:nvSpPr>
        <p:spPr bwMode="auto">
          <a:xfrm>
            <a:off x="395288" y="1412875"/>
            <a:ext cx="83534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7.7</a:t>
            </a:r>
            <a:r>
              <a:rPr lang="zh-CN" altLang="zh-CN"/>
              <a:t>】 对例</a:t>
            </a:r>
            <a:r>
              <a:rPr lang="en-US" altLang="zh-CN"/>
              <a:t>7.2</a:t>
            </a:r>
            <a:r>
              <a:rPr lang="zh-CN" altLang="zh-CN"/>
              <a:t>中创建的存储过程</a:t>
            </a:r>
            <a:r>
              <a:rPr lang="en-US" altLang="zh-CN"/>
              <a:t>student_info1</a:t>
            </a:r>
            <a:r>
              <a:rPr lang="zh-CN" altLang="zh-CN"/>
              <a:t>进行修改，将第一个参数改成学生的学号。</a:t>
            </a:r>
            <a:endParaRPr lang="zh-CN" altLang="zh-CN"/>
          </a:p>
          <a:p>
            <a:pPr eaLnBrk="1" hangingPunct="1"/>
            <a:r>
              <a:rPr lang="en-US" altLang="zh-CN"/>
              <a:t>USE pxscj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ALTER PROCEDURE student_info1</a:t>
            </a:r>
            <a:endParaRPr lang="zh-CN" altLang="zh-CN"/>
          </a:p>
          <a:p>
            <a:pPr eaLnBrk="1" hangingPunct="1"/>
            <a:r>
              <a:rPr lang="en-US" altLang="zh-CN"/>
              <a:t>    @number char(6),@cname char(16) 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SELECT</a:t>
            </a:r>
            <a:r>
              <a:rPr lang="zh-CN" altLang="zh-CN"/>
              <a:t>学号</a:t>
            </a:r>
            <a:r>
              <a:rPr lang="en-US" altLang="zh-CN"/>
              <a:t>, </a:t>
            </a:r>
            <a:r>
              <a:rPr lang="zh-CN" altLang="zh-CN"/>
              <a:t>课程名</a:t>
            </a:r>
            <a:r>
              <a:rPr lang="en-US" altLang="zh-CN"/>
              <a:t>, </a:t>
            </a:r>
            <a:r>
              <a:rPr lang="zh-CN" altLang="zh-CN"/>
              <a:t>成绩</a:t>
            </a:r>
            <a:endParaRPr lang="zh-CN" altLang="zh-CN"/>
          </a:p>
          <a:p>
            <a:pPr eaLnBrk="1" hangingPunct="1"/>
            <a:r>
              <a:rPr lang="en-US" altLang="zh-CN"/>
              <a:t>            FROM  cjb, kcb</a:t>
            </a:r>
            <a:endParaRPr lang="zh-CN" altLang="zh-CN"/>
          </a:p>
          <a:p>
            <a:pPr eaLnBrk="1" hangingPunct="1"/>
            <a:r>
              <a:rPr lang="en-US" altLang="zh-CN"/>
              <a:t>            WHERE cjb.</a:t>
            </a:r>
            <a:r>
              <a:rPr lang="zh-CN" altLang="zh-CN"/>
              <a:t>学号</a:t>
            </a:r>
            <a:r>
              <a:rPr lang="en-US" altLang="zh-CN"/>
              <a:t>=@number AND kcb.</a:t>
            </a:r>
            <a:r>
              <a:rPr lang="zh-CN" altLang="zh-CN"/>
              <a:t>课程名</a:t>
            </a:r>
            <a:r>
              <a:rPr lang="en-US" altLang="zh-CN"/>
              <a:t>=@cname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19150" y="4581525"/>
            <a:ext cx="7848600" cy="1871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088" y="2636838"/>
            <a:ext cx="7848600" cy="16557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7.1.3  </a:t>
            </a:r>
            <a:r>
              <a:rPr lang="zh-CN" altLang="zh-CN" dirty="0">
                <a:effectLst/>
              </a:rPr>
              <a:t>存储过程的修改：</a:t>
            </a:r>
            <a:r>
              <a:rPr lang="en-US" altLang="zh-CN" dirty="0">
                <a:effectLst/>
              </a:rPr>
              <a:t>ALTER PROCEDURE</a:t>
            </a:r>
            <a:endParaRPr lang="zh-CN" altLang="en-US" dirty="0"/>
          </a:p>
        </p:txBody>
      </p:sp>
      <p:sp>
        <p:nvSpPr>
          <p:cNvPr id="25605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7.8</a:t>
            </a:r>
            <a:r>
              <a:rPr lang="zh-CN" altLang="zh-CN"/>
              <a:t>】 创建名为</a:t>
            </a:r>
            <a:r>
              <a:rPr lang="en-US" altLang="zh-CN"/>
              <a:t>select_students</a:t>
            </a:r>
            <a:r>
              <a:rPr lang="zh-CN" altLang="zh-CN"/>
              <a:t>的存储过程，在默认情况下，该存储过程可查询所有学生信息，随后授予权限。当该存储过程需更改为能检索计算机专业的学生信息时，用</a:t>
            </a:r>
            <a:r>
              <a:rPr lang="en-US" altLang="zh-CN"/>
              <a:t>ALTER PROCEDURE</a:t>
            </a:r>
            <a:r>
              <a:rPr lang="zh-CN" altLang="zh-CN"/>
              <a:t>命令重新定义该存储过程。</a:t>
            </a:r>
            <a:endParaRPr lang="zh-CN" altLang="zh-CN"/>
          </a:p>
          <a:p>
            <a:pPr eaLnBrk="1" fontAlgn="ctr" hangingPunct="1"/>
            <a:r>
              <a:rPr lang="zh-CN" altLang="zh-CN"/>
              <a:t>创建</a:t>
            </a:r>
            <a:r>
              <a:rPr lang="en-US" altLang="zh-CN"/>
              <a:t>select_students</a:t>
            </a:r>
            <a:r>
              <a:rPr lang="zh-CN" altLang="zh-CN"/>
              <a:t>存储过程：</a:t>
            </a:r>
            <a:endParaRPr lang="zh-CN" altLang="zh-CN"/>
          </a:p>
          <a:p>
            <a:pPr eaLnBrk="1" hangingPunct="1"/>
            <a:r>
              <a:rPr lang="en-US" altLang="zh-CN"/>
              <a:t>CREATE PROCEDURE select_students  	  /*</a:t>
            </a:r>
            <a:r>
              <a:rPr lang="zh-CN" altLang="zh-CN"/>
              <a:t>创建存储过程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    AS </a:t>
            </a:r>
            <a:endParaRPr lang="zh-CN" altLang="zh-CN"/>
          </a:p>
          <a:p>
            <a:pPr eaLnBrk="1" hangingPunct="1"/>
            <a:r>
              <a:rPr lang="en-US" altLang="zh-CN"/>
              <a:t>        SELECT *</a:t>
            </a:r>
            <a:endParaRPr lang="zh-CN" altLang="zh-CN"/>
          </a:p>
          <a:p>
            <a:pPr eaLnBrk="1" hangingPunct="1"/>
            <a:r>
              <a:rPr lang="en-US" altLang="zh-CN"/>
              <a:t>            FROM  xsb </a:t>
            </a:r>
            <a:endParaRPr lang="zh-CN" altLang="zh-CN"/>
          </a:p>
          <a:p>
            <a:pPr eaLnBrk="1" hangingPunct="1"/>
            <a:r>
              <a:rPr lang="en-US" altLang="zh-CN"/>
              <a:t>            ORDER BY</a:t>
            </a:r>
            <a:r>
              <a:rPr lang="zh-CN" altLang="zh-CN"/>
              <a:t>学号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fontAlgn="ctr" hangingPunct="1"/>
            <a:r>
              <a:rPr lang="zh-CN" altLang="zh-CN"/>
              <a:t>修改存储过程</a:t>
            </a:r>
            <a:r>
              <a:rPr lang="en-US" altLang="zh-CN"/>
              <a:t>select_students</a:t>
            </a:r>
            <a:r>
              <a:rPr lang="zh-CN" altLang="zh-CN"/>
              <a:t>：</a:t>
            </a:r>
            <a:endParaRPr lang="zh-CN" altLang="zh-CN"/>
          </a:p>
          <a:p>
            <a:pPr eaLnBrk="1" hangingPunct="1"/>
            <a:r>
              <a:rPr lang="en-US" altLang="zh-CN"/>
              <a:t>ALTER PROCEDURE select_students WITH ENCRYPTION</a:t>
            </a:r>
            <a:endParaRPr lang="zh-CN" altLang="zh-CN"/>
          </a:p>
          <a:p>
            <a:pPr eaLnBrk="1" hangingPunct="1"/>
            <a:r>
              <a:rPr lang="en-US" altLang="zh-CN"/>
              <a:t>    AS </a:t>
            </a:r>
            <a:endParaRPr lang="zh-CN" altLang="zh-CN"/>
          </a:p>
          <a:p>
            <a:pPr eaLnBrk="1" hangingPunct="1"/>
            <a:r>
              <a:rPr lang="en-US" altLang="zh-CN"/>
              <a:t>        SELECT *</a:t>
            </a:r>
            <a:endParaRPr lang="zh-CN" altLang="zh-CN"/>
          </a:p>
          <a:p>
            <a:pPr eaLnBrk="1" hangingPunct="1"/>
            <a:r>
              <a:rPr lang="en-US" altLang="zh-CN"/>
              <a:t>            FROM  xsb</a:t>
            </a:r>
            <a:endParaRPr lang="zh-CN" altLang="zh-CN"/>
          </a:p>
          <a:p>
            <a:pPr eaLnBrk="1" hangingPunct="1"/>
            <a:r>
              <a:rPr lang="en-US" altLang="zh-CN"/>
              <a:t>            WHERE</a:t>
            </a:r>
            <a:r>
              <a:rPr lang="zh-CN" altLang="zh-CN"/>
              <a:t>专业</a:t>
            </a:r>
            <a:r>
              <a:rPr lang="en-US" altLang="zh-CN"/>
              <a:t>= '</a:t>
            </a:r>
            <a:r>
              <a:rPr lang="zh-CN" altLang="zh-CN"/>
              <a:t>计算机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r>
              <a:rPr lang="en-US" altLang="zh-CN"/>
              <a:t>            ORDER BY</a:t>
            </a:r>
            <a:r>
              <a:rPr lang="zh-CN" altLang="zh-CN"/>
              <a:t>学号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0113" y="3644900"/>
            <a:ext cx="7848600" cy="107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0113" y="2997200"/>
            <a:ext cx="7848600" cy="3365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7.1.4  </a:t>
            </a:r>
            <a:r>
              <a:rPr lang="zh-CN" altLang="zh-CN" dirty="0">
                <a:effectLst/>
              </a:rPr>
              <a:t>存储过程的删除：</a:t>
            </a:r>
            <a:r>
              <a:rPr lang="en-US" altLang="zh-CN" dirty="0">
                <a:effectLst/>
              </a:rPr>
              <a:t>DROP PROCEDURE</a:t>
            </a:r>
            <a:endParaRPr lang="zh-CN" altLang="zh-CN" dirty="0">
              <a:effectLst/>
            </a:endParaRPr>
          </a:p>
        </p:txBody>
      </p:sp>
      <p:sp>
        <p:nvSpPr>
          <p:cNvPr id="26629" name="TextBox 2"/>
          <p:cNvSpPr txBox="1">
            <a:spLocks noChangeArrowheads="1"/>
          </p:cNvSpPr>
          <p:nvPr/>
        </p:nvSpPr>
        <p:spPr bwMode="auto">
          <a:xfrm>
            <a:off x="468313" y="1557338"/>
            <a:ext cx="8280400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当不再使用一个存储过程时，就要把它从数据库中删除。使用</a:t>
            </a:r>
            <a:r>
              <a:rPr lang="en-US" altLang="zh-CN"/>
              <a:t>DROP PROCEDURE</a:t>
            </a:r>
            <a:r>
              <a:rPr lang="zh-CN" altLang="zh-CN"/>
              <a:t>语句可永久地删除存储过程。在此之前，必须确认该存储过程没有任何依赖关系。语法格式：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en-US" altLang="zh-CN"/>
              <a:t>DROP { PROC | PROCEDURE } { [</a:t>
            </a:r>
            <a:r>
              <a:rPr lang="zh-CN" altLang="zh-CN"/>
              <a:t>架构名</a:t>
            </a:r>
            <a:r>
              <a:rPr lang="en-US" altLang="zh-CN"/>
              <a:t>. ]</a:t>
            </a:r>
            <a:r>
              <a:rPr lang="zh-CN" altLang="zh-CN"/>
              <a:t>过程</a:t>
            </a:r>
            <a:r>
              <a:rPr lang="en-US" altLang="zh-CN"/>
              <a:t> } [ , ... ]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7.9</a:t>
            </a:r>
            <a:r>
              <a:rPr lang="zh-CN" altLang="zh-CN"/>
              <a:t>】 删除</a:t>
            </a:r>
            <a:r>
              <a:rPr lang="en-US" altLang="zh-CN"/>
              <a:t>pxscj</a:t>
            </a:r>
            <a:r>
              <a:rPr lang="zh-CN" altLang="zh-CN"/>
              <a:t>数据库中的</a:t>
            </a:r>
            <a:r>
              <a:rPr lang="en-US" altLang="zh-CN"/>
              <a:t>student_info</a:t>
            </a:r>
            <a:r>
              <a:rPr lang="zh-CN" altLang="zh-CN"/>
              <a:t>存储过程。</a:t>
            </a:r>
            <a:endParaRPr lang="zh-CN" altLang="zh-CN"/>
          </a:p>
          <a:p>
            <a:pPr eaLnBrk="1" hangingPunct="1"/>
            <a:r>
              <a:rPr lang="en-US" altLang="zh-CN"/>
              <a:t>USE pxscj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IF EXISTS(SELECT name FROM sysobjects WHERE name='student_info')</a:t>
            </a:r>
            <a:endParaRPr lang="zh-CN" altLang="zh-CN"/>
          </a:p>
          <a:p>
            <a:pPr eaLnBrk="1" hangingPunct="1"/>
            <a:r>
              <a:rPr lang="en-US" altLang="zh-CN"/>
              <a:t>    DROP PROCEDURE student_info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7.1.5  </a:t>
            </a:r>
            <a:r>
              <a:rPr lang="zh-CN" altLang="zh-CN" dirty="0">
                <a:effectLst/>
              </a:rPr>
              <a:t>界面方式操作存储过程</a:t>
            </a:r>
            <a:endParaRPr lang="zh-CN" altLang="zh-CN" dirty="0">
              <a:effectLst/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468313" y="1341438"/>
            <a:ext cx="8207375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．创建存储过程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在“对象资源管理器”中展开“数据库”→选择数据库（例如：“</a:t>
            </a:r>
            <a:r>
              <a:rPr lang="en-US" altLang="zh-CN"/>
              <a:t>pxscj</a:t>
            </a:r>
            <a:r>
              <a:rPr lang="zh-CN" altLang="zh-CN"/>
              <a:t>”）→“可编程性”→“存储过程”，单击鼠标右键，在弹出的快捷菜单中选择“新建存储过程”菜单项，如图</a:t>
            </a:r>
            <a:r>
              <a:rPr lang="en-US" altLang="zh-CN"/>
              <a:t>7.3</a:t>
            </a:r>
            <a:r>
              <a:rPr lang="zh-CN" altLang="zh-CN"/>
              <a:t>所示。打开“存储过程脚本编辑”窗口，在该窗口中输入要创建的存储过程的代码，输入完成后单击“执行”按钮，若执行成功则创建完成，如图</a:t>
            </a:r>
            <a:r>
              <a:rPr lang="en-US" altLang="zh-CN"/>
              <a:t>7.4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205163"/>
            <a:ext cx="27368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4235450"/>
            <a:ext cx="4608513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7.1.5  </a:t>
            </a:r>
            <a:r>
              <a:rPr lang="zh-CN" altLang="zh-CN" dirty="0">
                <a:effectLst/>
              </a:rPr>
              <a:t>界面方式操作存储过程</a:t>
            </a:r>
            <a:endParaRPr lang="zh-CN" altLang="en-US" dirty="0"/>
          </a:p>
        </p:txBody>
      </p:sp>
      <p:sp>
        <p:nvSpPr>
          <p:cNvPr id="28675" name="TextBox 2"/>
          <p:cNvSpPr txBox="1">
            <a:spLocks noChangeArrowheads="1"/>
          </p:cNvSpPr>
          <p:nvPr/>
        </p:nvSpPr>
        <p:spPr bwMode="auto">
          <a:xfrm>
            <a:off x="395288" y="1484313"/>
            <a:ext cx="82804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zh-CN" b="1">
                <a:solidFill>
                  <a:srgbClr val="C00000"/>
                </a:solidFill>
              </a:rPr>
              <a:t>．执行存储过程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在</a:t>
            </a:r>
            <a:r>
              <a:rPr lang="en-US" altLang="zh-CN"/>
              <a:t>pxscj</a:t>
            </a:r>
            <a:r>
              <a:rPr lang="zh-CN" altLang="zh-CN"/>
              <a:t>数据库的“存储过程”目录下选择要执行的存储过程，如</a:t>
            </a:r>
            <a:r>
              <a:rPr lang="en-US" altLang="zh-CN"/>
              <a:t>student_info1</a:t>
            </a:r>
            <a:r>
              <a:rPr lang="zh-CN" altLang="zh-CN"/>
              <a:t>，右键单击鼠标，选择“执行存储过程”菜单项。在弹出的“执行过程”窗口中会列出存储过程的参数形式，如果“输出参数”栏为“否”，则表示该参数为输入参数，用户需要设置输入参数的值，在</a:t>
            </a:r>
            <a:r>
              <a:rPr lang="en-US" altLang="zh-CN"/>
              <a:t>@number</a:t>
            </a:r>
            <a:r>
              <a:rPr lang="zh-CN" altLang="zh-CN"/>
              <a:t>“值”一栏中输入“</a:t>
            </a:r>
            <a:r>
              <a:rPr lang="en-US" altLang="zh-CN"/>
              <a:t>191301</a:t>
            </a:r>
            <a:r>
              <a:rPr lang="zh-CN" altLang="zh-CN"/>
              <a:t>”，在</a:t>
            </a:r>
            <a:r>
              <a:rPr lang="en-US" altLang="zh-CN"/>
              <a:t>@cname</a:t>
            </a:r>
            <a:r>
              <a:rPr lang="zh-CN" altLang="zh-CN"/>
              <a:t>栏输入“计算机基础”，如图</a:t>
            </a:r>
            <a:r>
              <a:rPr lang="en-US" altLang="zh-CN"/>
              <a:t>7.5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213100"/>
            <a:ext cx="3816350" cy="34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7.1.5  </a:t>
            </a:r>
            <a:r>
              <a:rPr lang="zh-CN" altLang="zh-CN" dirty="0">
                <a:effectLst/>
              </a:rPr>
              <a:t>界面方式操作存储过程</a:t>
            </a:r>
            <a:endParaRPr lang="zh-CN" altLang="en-US" dirty="0"/>
          </a:p>
        </p:txBody>
      </p:sp>
      <p:sp>
        <p:nvSpPr>
          <p:cNvPr id="29699" name="矩形 2"/>
          <p:cNvSpPr>
            <a:spLocks noChangeArrowheads="1"/>
          </p:cNvSpPr>
          <p:nvPr/>
        </p:nvSpPr>
        <p:spPr bwMode="auto">
          <a:xfrm>
            <a:off x="971550" y="1268413"/>
            <a:ext cx="6769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ctr"/>
            <a:r>
              <a:rPr lang="zh-CN" altLang="zh-CN"/>
              <a:t>单击“确定”按钮，系统显示存储过程运行的结果，如图</a:t>
            </a:r>
            <a:r>
              <a:rPr lang="en-US" altLang="zh-CN"/>
              <a:t>7.6</a:t>
            </a:r>
            <a:r>
              <a:rPr lang="zh-CN" altLang="zh-CN"/>
              <a:t>所示。</a:t>
            </a:r>
            <a:endParaRPr lang="zh-CN" altLang="zh-CN"/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658938"/>
            <a:ext cx="4532312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7.1.5  </a:t>
            </a:r>
            <a:r>
              <a:rPr lang="zh-CN" altLang="zh-CN" dirty="0">
                <a:effectLst/>
              </a:rPr>
              <a:t>界面方式操作存储过程</a:t>
            </a:r>
            <a:endParaRPr lang="zh-CN" altLang="en-US" dirty="0"/>
          </a:p>
        </p:txBody>
      </p:sp>
      <p:sp>
        <p:nvSpPr>
          <p:cNvPr id="30723" name="TextBox 2"/>
          <p:cNvSpPr txBox="1">
            <a:spLocks noChangeArrowheads="1"/>
          </p:cNvSpPr>
          <p:nvPr/>
        </p:nvSpPr>
        <p:spPr bwMode="auto">
          <a:xfrm>
            <a:off x="468313" y="1557338"/>
            <a:ext cx="8280400" cy="383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3</a:t>
            </a:r>
            <a:r>
              <a:rPr lang="zh-CN" altLang="zh-CN" b="1">
                <a:solidFill>
                  <a:srgbClr val="C00000"/>
                </a:solidFill>
              </a:rPr>
              <a:t>．修改存储过程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在“存储过程”目录下选择要修改的存储过程，右键单击鼠标，在弹出的快捷菜单中选择“修改”菜单项，打开“存储过程脚本编辑”窗口，在该窗口中修改相关的</a:t>
            </a:r>
            <a:r>
              <a:rPr lang="en-US" altLang="zh-CN"/>
              <a:t>T-SQL</a:t>
            </a:r>
            <a:r>
              <a:rPr lang="zh-CN" altLang="zh-CN"/>
              <a:t>语句。修改完成后，执行修改后的脚本，若执行成功，则存储过程修改完毕。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4</a:t>
            </a:r>
            <a:r>
              <a:rPr lang="zh-CN" altLang="zh-CN" b="1">
                <a:solidFill>
                  <a:srgbClr val="C00000"/>
                </a:solidFill>
              </a:rPr>
              <a:t>．删除存储过程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选择要删除的存储过程，右键单击鼠标，在弹出的快捷菜单中选择“删除”菜单项，根据提示删除该存储过程。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  </a:t>
            </a:r>
            <a:r>
              <a:rPr lang="zh-CN" altLang="zh-CN" dirty="0">
                <a:effectLst/>
              </a:rPr>
              <a:t>触</a:t>
            </a:r>
            <a:r>
              <a:rPr lang="en-US" altLang="zh-CN" dirty="0">
                <a:effectLst/>
              </a:rPr>
              <a:t>  </a:t>
            </a:r>
            <a:r>
              <a:rPr lang="zh-CN" altLang="zh-CN" dirty="0">
                <a:effectLst/>
              </a:rPr>
              <a:t>发</a:t>
            </a:r>
            <a:r>
              <a:rPr lang="en-US" altLang="zh-CN" dirty="0">
                <a:effectLst/>
              </a:rPr>
              <a:t>  </a:t>
            </a:r>
            <a:r>
              <a:rPr lang="zh-CN" altLang="zh-CN" dirty="0">
                <a:effectLst/>
              </a:rPr>
              <a:t>器</a:t>
            </a:r>
            <a:endParaRPr lang="zh-CN" altLang="zh-CN" dirty="0">
              <a:effectLst/>
            </a:endParaRPr>
          </a:p>
        </p:txBody>
      </p:sp>
      <p:sp>
        <p:nvSpPr>
          <p:cNvPr id="31747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7.2.1  </a:t>
            </a:r>
            <a:r>
              <a:rPr lang="zh-CN" altLang="zh-CN" sz="2000" b="1" dirty="0"/>
              <a:t>触发器的类型</a:t>
            </a:r>
            <a:endParaRPr lang="zh-CN" altLang="zh-CN" sz="2000" b="1" dirty="0"/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zh-CN" b="1" dirty="0">
                <a:solidFill>
                  <a:srgbClr val="C00000"/>
                </a:solidFill>
              </a:rPr>
              <a:t>．</a:t>
            </a:r>
            <a:r>
              <a:rPr lang="en-US" altLang="zh-CN" b="1" dirty="0">
                <a:solidFill>
                  <a:srgbClr val="C00000"/>
                </a:solidFill>
              </a:rPr>
              <a:t>DML</a:t>
            </a:r>
            <a:r>
              <a:rPr lang="zh-CN" altLang="zh-CN" b="1" dirty="0">
                <a:solidFill>
                  <a:srgbClr val="C00000"/>
                </a:solidFill>
              </a:rPr>
              <a:t>触发器</a:t>
            </a:r>
            <a:endParaRPr lang="zh-CN" altLang="zh-CN" b="1" dirty="0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 dirty="0"/>
              <a:t>当数据库中发生数据操纵语言（</a:t>
            </a:r>
            <a:r>
              <a:rPr lang="en-US" altLang="zh-CN" dirty="0"/>
              <a:t>DML</a:t>
            </a:r>
            <a:r>
              <a:rPr lang="zh-CN" altLang="zh-CN" dirty="0"/>
              <a:t>）事件时将调用</a:t>
            </a:r>
            <a:r>
              <a:rPr lang="en-US" altLang="zh-CN" dirty="0"/>
              <a:t>DML</a:t>
            </a:r>
            <a:r>
              <a:rPr lang="zh-CN" altLang="zh-CN" dirty="0"/>
              <a:t>触发器。一般情况下，</a:t>
            </a:r>
            <a:r>
              <a:rPr lang="en-US" altLang="zh-CN" dirty="0"/>
              <a:t>DML</a:t>
            </a:r>
            <a:r>
              <a:rPr lang="zh-CN" altLang="zh-CN" dirty="0"/>
              <a:t>事件包括对表或视图的</a:t>
            </a:r>
            <a:r>
              <a:rPr lang="en-US" altLang="zh-CN" dirty="0"/>
              <a:t>INSERT</a:t>
            </a:r>
            <a:r>
              <a:rPr lang="zh-CN" altLang="zh-CN" dirty="0"/>
              <a:t>语句、</a:t>
            </a:r>
            <a:r>
              <a:rPr lang="en-US" altLang="zh-CN" dirty="0"/>
              <a:t>UPDATE</a:t>
            </a:r>
            <a:r>
              <a:rPr lang="zh-CN" altLang="zh-CN" dirty="0"/>
              <a:t>语句和</a:t>
            </a:r>
            <a:r>
              <a:rPr lang="en-US" altLang="zh-CN" dirty="0"/>
              <a:t>DELETE</a:t>
            </a:r>
            <a:r>
              <a:rPr lang="zh-CN" altLang="zh-CN" dirty="0"/>
              <a:t>语句，因而</a:t>
            </a:r>
            <a:r>
              <a:rPr lang="en-US" altLang="zh-CN" dirty="0"/>
              <a:t>DML</a:t>
            </a:r>
            <a:r>
              <a:rPr lang="zh-CN" altLang="zh-CN" dirty="0"/>
              <a:t>触发器也可分为</a:t>
            </a:r>
            <a:r>
              <a:rPr lang="en-US" altLang="zh-CN" dirty="0"/>
              <a:t>INSERT</a:t>
            </a:r>
            <a:r>
              <a:rPr lang="zh-CN" altLang="zh-CN" dirty="0"/>
              <a:t>、</a:t>
            </a:r>
            <a:r>
              <a:rPr lang="en-US" altLang="zh-CN" dirty="0"/>
              <a:t>UPDATE</a:t>
            </a:r>
            <a:r>
              <a:rPr lang="zh-CN" altLang="zh-CN" dirty="0"/>
              <a:t>和</a:t>
            </a:r>
            <a:r>
              <a:rPr lang="en-US" altLang="zh-CN" dirty="0"/>
              <a:t>DELETE 3</a:t>
            </a:r>
            <a:r>
              <a:rPr lang="zh-CN" altLang="zh-CN" dirty="0"/>
              <a:t>种类型。</a:t>
            </a:r>
            <a:endParaRPr lang="zh-CN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zh-CN" b="1" dirty="0">
                <a:solidFill>
                  <a:srgbClr val="C00000"/>
                </a:solidFill>
              </a:rPr>
              <a:t>．</a:t>
            </a:r>
            <a:r>
              <a:rPr lang="en-US" altLang="zh-CN" b="1" dirty="0">
                <a:solidFill>
                  <a:srgbClr val="C00000"/>
                </a:solidFill>
              </a:rPr>
              <a:t>DDL</a:t>
            </a:r>
            <a:r>
              <a:rPr lang="zh-CN" altLang="zh-CN" b="1" dirty="0">
                <a:solidFill>
                  <a:srgbClr val="C00000"/>
                </a:solidFill>
              </a:rPr>
              <a:t>触发器</a:t>
            </a:r>
            <a:endParaRPr lang="zh-CN" altLang="zh-CN" b="1" dirty="0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en-US" altLang="zh-CN" dirty="0"/>
              <a:t>DDL</a:t>
            </a:r>
            <a:r>
              <a:rPr lang="zh-CN" altLang="zh-CN" dirty="0"/>
              <a:t>触发器也是由相应的事件触发的，但</a:t>
            </a:r>
            <a:r>
              <a:rPr lang="en-US" altLang="zh-CN" dirty="0"/>
              <a:t>DDL</a:t>
            </a:r>
            <a:r>
              <a:rPr lang="zh-CN" altLang="zh-CN" dirty="0"/>
              <a:t>触发器触发的事件是数据定义语句（</a:t>
            </a:r>
            <a:r>
              <a:rPr lang="en-US" altLang="zh-CN" dirty="0"/>
              <a:t>DDL</a:t>
            </a:r>
            <a:r>
              <a:rPr lang="zh-CN" altLang="zh-CN" dirty="0"/>
              <a:t>）。这些语句主要是以</a:t>
            </a:r>
            <a:r>
              <a:rPr lang="en-US" altLang="zh-CN" dirty="0"/>
              <a:t>CREATE</a:t>
            </a:r>
            <a:r>
              <a:rPr lang="zh-CN" altLang="zh-CN" dirty="0"/>
              <a:t>、</a:t>
            </a:r>
            <a:r>
              <a:rPr lang="en-US" altLang="zh-CN" dirty="0"/>
              <a:t>ALTER</a:t>
            </a:r>
            <a:r>
              <a:rPr lang="zh-CN" altLang="zh-CN" dirty="0"/>
              <a:t>、</a:t>
            </a:r>
            <a:r>
              <a:rPr lang="en-US" altLang="zh-CN" dirty="0"/>
              <a:t>DROP</a:t>
            </a:r>
            <a:r>
              <a:rPr lang="zh-CN" altLang="zh-CN" dirty="0"/>
              <a:t>等关键字开头的语句。</a:t>
            </a:r>
            <a:r>
              <a:rPr lang="en-US" altLang="zh-CN" dirty="0"/>
              <a:t>DDL</a:t>
            </a:r>
            <a:r>
              <a:rPr lang="zh-CN" altLang="zh-CN" dirty="0"/>
              <a:t>触发器的主要作用是执行管理操作，如审核系统、控制数据库的操作等。通常情况下，</a:t>
            </a:r>
            <a:r>
              <a:rPr lang="en-US" altLang="zh-CN" dirty="0"/>
              <a:t>DDL</a:t>
            </a:r>
            <a:r>
              <a:rPr lang="zh-CN" altLang="zh-CN" dirty="0"/>
              <a:t>触发器主要用于以下一些操作需求：防止对数据库架构进行某些修改；希望数据库中发生某些变化以利于相应数据库架构中的更改；记录数据库架构中的更改或事件。</a:t>
            </a:r>
            <a:endParaRPr lang="zh-CN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2097088"/>
            <a:ext cx="7848600" cy="33131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zh-CN" dirty="0">
              <a:effectLst/>
            </a:endParaRPr>
          </a:p>
        </p:txBody>
      </p:sp>
      <p:sp>
        <p:nvSpPr>
          <p:cNvPr id="32772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．创建</a:t>
            </a:r>
            <a:r>
              <a:rPr lang="en-US" altLang="zh-CN" b="1">
                <a:solidFill>
                  <a:srgbClr val="C00000"/>
                </a:solidFill>
              </a:rPr>
              <a:t>DML</a:t>
            </a:r>
            <a:r>
              <a:rPr lang="zh-CN" altLang="zh-CN" b="1">
                <a:solidFill>
                  <a:srgbClr val="C00000"/>
                </a:solidFill>
              </a:rPr>
              <a:t>触发器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语法格式：</a:t>
            </a:r>
            <a:endParaRPr lang="zh-CN" altLang="zh-CN"/>
          </a:p>
          <a:p>
            <a:pPr eaLnBrk="1" hangingPunct="1"/>
            <a:r>
              <a:rPr lang="en-US" altLang="zh-CN"/>
              <a:t>CREATE TRIGGER [</a:t>
            </a:r>
            <a:r>
              <a:rPr lang="zh-CN" altLang="zh-CN"/>
              <a:t>架构名</a:t>
            </a:r>
            <a:r>
              <a:rPr lang="en-US" altLang="zh-CN"/>
              <a:t>. ]</a:t>
            </a:r>
            <a:r>
              <a:rPr lang="zh-CN" altLang="zh-CN"/>
              <a:t>触发器名</a:t>
            </a:r>
            <a:endParaRPr lang="zh-CN" altLang="zh-CN"/>
          </a:p>
          <a:p>
            <a:pPr eaLnBrk="1" hangingPunct="1"/>
            <a:r>
              <a:rPr lang="en-US" altLang="zh-CN"/>
              <a:t>    ON { </a:t>
            </a:r>
            <a:r>
              <a:rPr lang="zh-CN" altLang="zh-CN"/>
              <a:t>表</a:t>
            </a:r>
            <a:r>
              <a:rPr lang="en-US" altLang="zh-CN"/>
              <a:t> | </a:t>
            </a:r>
            <a:r>
              <a:rPr lang="zh-CN" altLang="zh-CN"/>
              <a:t>视图</a:t>
            </a:r>
            <a:r>
              <a:rPr lang="en-US" altLang="zh-CN"/>
              <a:t> }			/*</a:t>
            </a:r>
            <a:r>
              <a:rPr lang="zh-CN" altLang="zh-CN"/>
              <a:t>指定操作对象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[ WITH  ENCRYPTION ]			/*</a:t>
            </a:r>
            <a:r>
              <a:rPr lang="zh-CN" altLang="zh-CN"/>
              <a:t>说明是否采用加密方式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{ FOR | AFTER | INSTEAD OF }</a:t>
            </a:r>
            <a:endParaRPr lang="zh-CN" altLang="zh-CN"/>
          </a:p>
          <a:p>
            <a:pPr eaLnBrk="1" hangingPunct="1"/>
            <a:r>
              <a:rPr lang="en-US" altLang="zh-CN"/>
              <a:t>{ [ INSERT ] [ , ] [ UPDATE ] [ , ] [ DELETE ] }</a:t>
            </a:r>
            <a:endParaRPr lang="zh-CN" altLang="zh-CN"/>
          </a:p>
          <a:p>
            <a:pPr eaLnBrk="1" hangingPunct="1"/>
            <a:r>
              <a:rPr lang="en-US" altLang="zh-CN"/>
              <a:t>[ WITH APPEND ]</a:t>
            </a:r>
            <a:endParaRPr lang="zh-CN" altLang="zh-CN"/>
          </a:p>
          <a:p>
            <a:pPr eaLnBrk="1" hangingPunct="1"/>
            <a:r>
              <a:rPr lang="en-US" altLang="zh-CN"/>
              <a:t>[ NOT FOR REPLICATION ]		/*</a:t>
            </a:r>
            <a:r>
              <a:rPr lang="zh-CN" altLang="zh-CN"/>
              <a:t>说明该触发器不用于复制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AS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    &lt;SQL</a:t>
            </a:r>
            <a:r>
              <a:rPr lang="zh-CN" altLang="zh-CN"/>
              <a:t>语句</a:t>
            </a:r>
            <a:r>
              <a:rPr lang="en-US" altLang="zh-CN"/>
              <a:t>&gt; </a:t>
            </a:r>
            <a:endParaRPr lang="zh-CN" altLang="zh-CN"/>
          </a:p>
          <a:p>
            <a:pPr eaLnBrk="1" hangingPunct="1"/>
            <a:r>
              <a:rPr lang="en-US" altLang="zh-CN"/>
              <a:t>    ……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3795" name="TextBox 2"/>
          <p:cNvSpPr txBox="1">
            <a:spLocks noChangeArrowheads="1"/>
          </p:cNvSpPr>
          <p:nvPr/>
        </p:nvSpPr>
        <p:spPr bwMode="auto">
          <a:xfrm>
            <a:off x="395288" y="1628775"/>
            <a:ext cx="8208962" cy="383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zh-CN" b="1">
                <a:solidFill>
                  <a:srgbClr val="C00000"/>
                </a:solidFill>
              </a:rPr>
              <a:t>．触发器说明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触发器有以下几点说明。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）触发器中使用的特殊表。执行触发器时，系统会创建两个特殊的临时表</a:t>
            </a:r>
            <a:r>
              <a:rPr lang="en-US" altLang="zh-CN"/>
              <a:t>inserted</a:t>
            </a:r>
            <a:r>
              <a:rPr lang="zh-CN" altLang="zh-CN"/>
              <a:t>表和</a:t>
            </a:r>
            <a:r>
              <a:rPr lang="en-US" altLang="zh-CN"/>
              <a:t>deleted</a:t>
            </a:r>
            <a:r>
              <a:rPr lang="zh-CN" altLang="zh-CN"/>
              <a:t>表，下面介绍一下这两个表的内容。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en-US" altLang="zh-CN" sz="1400"/>
              <a:t>●</a:t>
            </a:r>
            <a:r>
              <a:rPr lang="en-US" altLang="zh-CN"/>
              <a:t>	 inserted</a:t>
            </a:r>
            <a:r>
              <a:rPr lang="zh-CN" altLang="zh-CN"/>
              <a:t>表：当向表中插入数据时，</a:t>
            </a:r>
            <a:r>
              <a:rPr lang="en-US" altLang="zh-CN"/>
              <a:t>INSERT</a:t>
            </a:r>
            <a:r>
              <a:rPr lang="zh-CN" altLang="zh-CN"/>
              <a:t>触发器触发执行，新的记录插入到触发器表和</a:t>
            </a:r>
            <a:r>
              <a:rPr lang="en-US" altLang="zh-CN"/>
              <a:t>inserted</a:t>
            </a:r>
            <a:r>
              <a:rPr lang="zh-CN" altLang="zh-CN"/>
              <a:t>表中。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en-US" altLang="zh-CN" sz="1400"/>
              <a:t>●	</a:t>
            </a:r>
            <a:r>
              <a:rPr lang="en-US" altLang="zh-CN"/>
              <a:t> deleted</a:t>
            </a:r>
            <a:r>
              <a:rPr lang="zh-CN" altLang="zh-CN"/>
              <a:t>表：用于保存已从表中删除的记录，当触发一个</a:t>
            </a:r>
            <a:r>
              <a:rPr lang="en-US" altLang="zh-CN"/>
              <a:t>DELETE</a:t>
            </a:r>
            <a:r>
              <a:rPr lang="zh-CN" altLang="zh-CN"/>
              <a:t>触发器时，被删除的记录存放到</a:t>
            </a:r>
            <a:r>
              <a:rPr lang="en-US" altLang="zh-CN"/>
              <a:t>deleted</a:t>
            </a:r>
            <a:r>
              <a:rPr lang="zh-CN" altLang="zh-CN"/>
              <a:t>表中。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313" y="1412875"/>
            <a:ext cx="8207375" cy="4832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2</a:t>
            </a:r>
            <a:r>
              <a:rPr lang="zh-CN" altLang="zh-CN" dirty="0">
                <a:latin typeface="+mn-lt"/>
                <a:ea typeface="+mn-ea"/>
              </a:rPr>
              <a:t>）创建</a:t>
            </a:r>
            <a:r>
              <a:rPr lang="en-US" altLang="zh-CN" dirty="0">
                <a:latin typeface="+mn-lt"/>
                <a:ea typeface="+mn-ea"/>
              </a:rPr>
              <a:t>DML</a:t>
            </a:r>
            <a:r>
              <a:rPr lang="zh-CN" altLang="zh-CN" dirty="0">
                <a:latin typeface="+mn-lt"/>
                <a:ea typeface="+mn-ea"/>
              </a:rPr>
              <a:t>触发器的说明。创建</a:t>
            </a:r>
            <a:r>
              <a:rPr lang="en-US" altLang="zh-CN" dirty="0">
                <a:latin typeface="+mn-lt"/>
                <a:ea typeface="+mn-ea"/>
              </a:rPr>
              <a:t>DML</a:t>
            </a:r>
            <a:r>
              <a:rPr lang="zh-CN" altLang="zh-CN" dirty="0">
                <a:latin typeface="+mn-lt"/>
                <a:ea typeface="+mn-ea"/>
              </a:rPr>
              <a:t>触发器时主要有以下几点说明。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①</a:t>
            </a:r>
            <a:r>
              <a:rPr lang="en-US" altLang="zh-CN" sz="1600" dirty="0">
                <a:latin typeface="+mn-lt"/>
                <a:ea typeface="+mn-ea"/>
              </a:rPr>
              <a:t> CREATE TRIGGER</a:t>
            </a:r>
            <a:r>
              <a:rPr lang="zh-CN" altLang="zh-CN" sz="1600" dirty="0">
                <a:latin typeface="+mn-lt"/>
                <a:ea typeface="+mn-ea"/>
              </a:rPr>
              <a:t>语句必须是批处理中的第一条语句，并且只能应用到一个表中。</a:t>
            </a:r>
            <a:r>
              <a:rPr lang="en-US" altLang="zh-CN" sz="1600" dirty="0">
                <a:latin typeface="+mn-lt"/>
                <a:ea typeface="+mn-ea"/>
              </a:rPr>
              <a:t> 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②</a:t>
            </a:r>
            <a:r>
              <a:rPr lang="en-US" altLang="zh-CN" sz="1600" dirty="0">
                <a:latin typeface="+mn-lt"/>
                <a:ea typeface="+mn-ea"/>
              </a:rPr>
              <a:t> DML</a:t>
            </a:r>
            <a:r>
              <a:rPr lang="zh-CN" altLang="zh-CN" sz="1600" dirty="0">
                <a:latin typeface="+mn-lt"/>
                <a:ea typeface="+mn-ea"/>
              </a:rPr>
              <a:t>触发器只能在当前的数据库中创建，但可以引用当前数据库的外部对象。</a:t>
            </a:r>
            <a:r>
              <a:rPr lang="en-US" altLang="zh-CN" sz="1600" dirty="0">
                <a:latin typeface="+mn-lt"/>
                <a:ea typeface="+mn-ea"/>
              </a:rPr>
              <a:t> 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③</a:t>
            </a:r>
            <a:r>
              <a:rPr lang="en-US" altLang="zh-CN" sz="1600" dirty="0">
                <a:latin typeface="+mn-lt"/>
                <a:ea typeface="+mn-ea"/>
              </a:rPr>
              <a:t> </a:t>
            </a:r>
            <a:r>
              <a:rPr lang="zh-CN" altLang="zh-CN" sz="1600" dirty="0">
                <a:latin typeface="+mn-lt"/>
                <a:ea typeface="+mn-ea"/>
              </a:rPr>
              <a:t>创建</a:t>
            </a:r>
            <a:r>
              <a:rPr lang="en-US" altLang="zh-CN" sz="1600" dirty="0">
                <a:latin typeface="+mn-lt"/>
                <a:ea typeface="+mn-ea"/>
              </a:rPr>
              <a:t>DML</a:t>
            </a:r>
            <a:r>
              <a:rPr lang="zh-CN" altLang="zh-CN" sz="1600" dirty="0">
                <a:latin typeface="+mn-lt"/>
                <a:ea typeface="+mn-ea"/>
              </a:rPr>
              <a:t>触发器的权限默认分配给表的所有者。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④</a:t>
            </a:r>
            <a:r>
              <a:rPr lang="en-US" altLang="zh-CN" sz="1600" dirty="0">
                <a:latin typeface="+mn-lt"/>
                <a:ea typeface="+mn-ea"/>
              </a:rPr>
              <a:t> </a:t>
            </a:r>
            <a:r>
              <a:rPr lang="zh-CN" altLang="zh-CN" sz="1600" dirty="0">
                <a:latin typeface="+mn-lt"/>
                <a:ea typeface="+mn-ea"/>
              </a:rPr>
              <a:t>在同一</a:t>
            </a:r>
            <a:r>
              <a:rPr lang="en-US" altLang="zh-CN" sz="1600" dirty="0">
                <a:latin typeface="+mn-lt"/>
                <a:ea typeface="+mn-ea"/>
              </a:rPr>
              <a:t>CREATE TRIGGER</a:t>
            </a:r>
            <a:r>
              <a:rPr lang="zh-CN" altLang="zh-CN" sz="1600" dirty="0">
                <a:latin typeface="+mn-lt"/>
                <a:ea typeface="+mn-ea"/>
              </a:rPr>
              <a:t>语句中，可以为多种操作（如</a:t>
            </a:r>
            <a:r>
              <a:rPr lang="en-US" altLang="zh-CN" sz="1600" dirty="0">
                <a:latin typeface="+mn-lt"/>
                <a:ea typeface="+mn-ea"/>
              </a:rPr>
              <a:t>INSERT</a:t>
            </a:r>
            <a:r>
              <a:rPr lang="zh-CN" altLang="zh-CN" sz="1600" dirty="0">
                <a:latin typeface="+mn-lt"/>
                <a:ea typeface="+mn-ea"/>
              </a:rPr>
              <a:t>和</a:t>
            </a:r>
            <a:r>
              <a:rPr lang="en-US" altLang="zh-CN" sz="1600" dirty="0">
                <a:latin typeface="+mn-lt"/>
                <a:ea typeface="+mn-ea"/>
              </a:rPr>
              <a:t>UPDATE</a:t>
            </a:r>
            <a:r>
              <a:rPr lang="zh-CN" altLang="zh-CN" sz="1600" dirty="0">
                <a:latin typeface="+mn-lt"/>
                <a:ea typeface="+mn-ea"/>
              </a:rPr>
              <a:t>）定义相同的触发器操作。 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⑤</a:t>
            </a:r>
            <a:r>
              <a:rPr lang="en-US" altLang="zh-CN" sz="1600" dirty="0">
                <a:latin typeface="+mn-lt"/>
                <a:ea typeface="+mn-ea"/>
              </a:rPr>
              <a:t> </a:t>
            </a:r>
            <a:r>
              <a:rPr lang="zh-CN" altLang="zh-CN" sz="1600" dirty="0">
                <a:latin typeface="+mn-lt"/>
                <a:ea typeface="+mn-ea"/>
              </a:rPr>
              <a:t>不能对临时表或系统表创建</a:t>
            </a:r>
            <a:r>
              <a:rPr lang="en-US" altLang="zh-CN" sz="1600" dirty="0">
                <a:latin typeface="+mn-lt"/>
                <a:ea typeface="+mn-ea"/>
              </a:rPr>
              <a:t>DML</a:t>
            </a:r>
            <a:r>
              <a:rPr lang="zh-CN" altLang="zh-CN" sz="1600" dirty="0">
                <a:latin typeface="+mn-lt"/>
                <a:ea typeface="+mn-ea"/>
              </a:rPr>
              <a:t>触发器。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⑥</a:t>
            </a:r>
            <a:r>
              <a:rPr lang="en-US" altLang="zh-CN" sz="1600" dirty="0">
                <a:latin typeface="+mn-lt"/>
                <a:ea typeface="+mn-ea"/>
              </a:rPr>
              <a:t> </a:t>
            </a:r>
            <a:r>
              <a:rPr lang="zh-CN" altLang="zh-CN" sz="1600" dirty="0">
                <a:latin typeface="+mn-lt"/>
                <a:ea typeface="+mn-ea"/>
              </a:rPr>
              <a:t>对于含有</a:t>
            </a:r>
            <a:r>
              <a:rPr lang="en-US" altLang="zh-CN" sz="1600" dirty="0">
                <a:latin typeface="+mn-lt"/>
                <a:ea typeface="+mn-ea"/>
              </a:rPr>
              <a:t>DELETE</a:t>
            </a:r>
            <a:r>
              <a:rPr lang="zh-CN" altLang="zh-CN" sz="1600" dirty="0">
                <a:latin typeface="+mn-lt"/>
                <a:ea typeface="+mn-ea"/>
              </a:rPr>
              <a:t>或</a:t>
            </a:r>
            <a:r>
              <a:rPr lang="en-US" altLang="zh-CN" sz="1600" dirty="0">
                <a:latin typeface="+mn-lt"/>
                <a:ea typeface="+mn-ea"/>
              </a:rPr>
              <a:t>UPDATE</a:t>
            </a:r>
            <a:r>
              <a:rPr lang="zh-CN" altLang="zh-CN" sz="1600" dirty="0">
                <a:latin typeface="+mn-lt"/>
                <a:ea typeface="+mn-ea"/>
              </a:rPr>
              <a:t>操作定义的外键表，不能使用</a:t>
            </a:r>
            <a:r>
              <a:rPr lang="en-US" altLang="zh-CN" sz="1600" dirty="0">
                <a:latin typeface="+mn-lt"/>
                <a:ea typeface="+mn-ea"/>
              </a:rPr>
              <a:t>INSTEAD OF DELETE</a:t>
            </a:r>
            <a:r>
              <a:rPr lang="zh-CN" altLang="zh-CN" sz="1600" dirty="0">
                <a:latin typeface="+mn-lt"/>
                <a:ea typeface="+mn-ea"/>
              </a:rPr>
              <a:t>和</a:t>
            </a:r>
            <a:r>
              <a:rPr lang="en-US" altLang="zh-CN" sz="1600" dirty="0">
                <a:latin typeface="+mn-lt"/>
                <a:ea typeface="+mn-ea"/>
              </a:rPr>
              <a:t>INSTEAD OF UPDATE</a:t>
            </a:r>
            <a:r>
              <a:rPr lang="zh-CN" altLang="zh-CN" sz="1600" dirty="0">
                <a:latin typeface="+mn-lt"/>
                <a:ea typeface="+mn-ea"/>
              </a:rPr>
              <a:t>触发器。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⑦</a:t>
            </a:r>
            <a:r>
              <a:rPr lang="en-US" altLang="zh-CN" sz="1600" dirty="0">
                <a:latin typeface="+mn-lt"/>
                <a:ea typeface="+mn-ea"/>
              </a:rPr>
              <a:t> TRUNCATE TABLE</a:t>
            </a:r>
            <a:r>
              <a:rPr lang="zh-CN" altLang="zh-CN" sz="1600" dirty="0">
                <a:latin typeface="+mn-lt"/>
                <a:ea typeface="+mn-ea"/>
              </a:rPr>
              <a:t>语句虽然能够删除表中的记录，但它不会触发</a:t>
            </a:r>
            <a:r>
              <a:rPr lang="en-US" altLang="zh-CN" sz="1600" dirty="0">
                <a:latin typeface="+mn-lt"/>
                <a:ea typeface="+mn-ea"/>
              </a:rPr>
              <a:t>DELETE</a:t>
            </a:r>
            <a:r>
              <a:rPr lang="zh-CN" altLang="zh-CN" sz="1600" dirty="0">
                <a:latin typeface="+mn-lt"/>
                <a:ea typeface="+mn-ea"/>
              </a:rPr>
              <a:t>触发器。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⑧</a:t>
            </a:r>
            <a:r>
              <a:rPr lang="en-US" altLang="zh-CN" sz="1600" dirty="0">
                <a:latin typeface="+mn-lt"/>
                <a:ea typeface="+mn-ea"/>
              </a:rPr>
              <a:t> </a:t>
            </a:r>
            <a:r>
              <a:rPr lang="zh-CN" altLang="zh-CN" sz="1600" dirty="0">
                <a:latin typeface="+mn-lt"/>
                <a:ea typeface="+mn-ea"/>
              </a:rPr>
              <a:t>在触发器内可以指定任意的</a:t>
            </a:r>
            <a:r>
              <a:rPr lang="en-US" altLang="zh-CN" sz="1600" dirty="0">
                <a:latin typeface="+mn-lt"/>
                <a:ea typeface="+mn-ea"/>
              </a:rPr>
              <a:t>SET</a:t>
            </a:r>
            <a:r>
              <a:rPr lang="zh-CN" altLang="zh-CN" sz="1600" dirty="0">
                <a:latin typeface="+mn-lt"/>
                <a:ea typeface="+mn-ea"/>
              </a:rPr>
              <a:t>语句，所选择的</a:t>
            </a:r>
            <a:r>
              <a:rPr lang="en-US" altLang="zh-CN" sz="1600" dirty="0">
                <a:latin typeface="+mn-lt"/>
                <a:ea typeface="+mn-ea"/>
              </a:rPr>
              <a:t>SET</a:t>
            </a:r>
            <a:r>
              <a:rPr lang="zh-CN" altLang="zh-CN" sz="1600" dirty="0">
                <a:latin typeface="+mn-lt"/>
                <a:ea typeface="+mn-ea"/>
              </a:rPr>
              <a:t>选项在触发器执行期间有效，并在触发器执行完后恢复到以前的设置。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⑨</a:t>
            </a:r>
            <a:r>
              <a:rPr lang="en-US" altLang="zh-CN" sz="1600" dirty="0">
                <a:latin typeface="+mn-lt"/>
                <a:ea typeface="+mn-ea"/>
              </a:rPr>
              <a:t> DML</a:t>
            </a:r>
            <a:r>
              <a:rPr lang="zh-CN" altLang="zh-CN" sz="1600" dirty="0">
                <a:latin typeface="+mn-lt"/>
                <a:ea typeface="+mn-ea"/>
              </a:rPr>
              <a:t>触发器最大的用途是返回行级数据的完整性，而不是返回结果，所以应当尽量避免返回任何结果集。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600" dirty="0">
                <a:latin typeface="+mn-lt"/>
                <a:ea typeface="+mn-ea"/>
              </a:rPr>
              <a:t>⑩</a:t>
            </a:r>
            <a:r>
              <a:rPr lang="en-US" altLang="zh-CN" sz="1600" dirty="0">
                <a:latin typeface="+mn-lt"/>
                <a:ea typeface="+mn-ea"/>
              </a:rPr>
              <a:t> CREATE TRIGGER</a:t>
            </a:r>
            <a:r>
              <a:rPr lang="zh-CN" altLang="zh-CN" sz="1600" dirty="0">
                <a:latin typeface="+mn-lt"/>
                <a:ea typeface="+mn-ea"/>
              </a:rPr>
              <a:t>权限默认授予定义触发器的表所有者、</a:t>
            </a:r>
            <a:r>
              <a:rPr lang="en-US" altLang="zh-CN" sz="1600" dirty="0" err="1">
                <a:latin typeface="+mn-lt"/>
                <a:ea typeface="+mn-ea"/>
              </a:rPr>
              <a:t>sysadmin</a:t>
            </a:r>
            <a:r>
              <a:rPr lang="zh-CN" altLang="zh-CN" sz="1600" dirty="0">
                <a:latin typeface="+mn-lt"/>
                <a:ea typeface="+mn-ea"/>
              </a:rPr>
              <a:t>固定服务器角色成员、</a:t>
            </a:r>
            <a:r>
              <a:rPr lang="en-US" altLang="zh-CN" sz="1600" dirty="0" err="1">
                <a:latin typeface="+mn-lt"/>
                <a:ea typeface="+mn-ea"/>
              </a:rPr>
              <a:t>db_owner</a:t>
            </a:r>
            <a:r>
              <a:rPr lang="zh-CN" altLang="zh-CN" sz="1600" dirty="0">
                <a:latin typeface="+mn-lt"/>
                <a:ea typeface="+mn-ea"/>
              </a:rPr>
              <a:t>和</a:t>
            </a:r>
            <a:r>
              <a:rPr lang="en-US" altLang="zh-CN" sz="1600" dirty="0" err="1">
                <a:latin typeface="+mn-lt"/>
                <a:ea typeface="+mn-ea"/>
              </a:rPr>
              <a:t>db_ddladmin</a:t>
            </a:r>
            <a:r>
              <a:rPr lang="zh-CN" altLang="zh-CN" sz="1600" dirty="0">
                <a:latin typeface="+mn-lt"/>
                <a:ea typeface="+mn-ea"/>
              </a:rPr>
              <a:t>固定数据库角色成员，并且不可转让。</a:t>
            </a:r>
            <a:endParaRPr lang="zh-CN" altLang="zh-CN" sz="1600" dirty="0"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latin typeface="Gulim"/>
                <a:ea typeface="Gulim"/>
              </a:rPr>
              <a:t>⑪ </a:t>
            </a:r>
            <a:r>
              <a:rPr lang="en-US" altLang="zh-CN" sz="1600" dirty="0">
                <a:latin typeface="+mn-lt"/>
                <a:ea typeface="+mn-ea"/>
              </a:rPr>
              <a:t> DML</a:t>
            </a:r>
            <a:r>
              <a:rPr lang="zh-CN" altLang="zh-CN" sz="1600" dirty="0">
                <a:latin typeface="+mn-lt"/>
                <a:ea typeface="+mn-ea"/>
              </a:rPr>
              <a:t>触发器中不能包含以下语句：</a:t>
            </a:r>
            <a:r>
              <a:rPr lang="en-US" altLang="zh-CN" sz="1600" dirty="0">
                <a:latin typeface="+mn-lt"/>
                <a:ea typeface="+mn-ea"/>
              </a:rPr>
              <a:t>ALTER DATABASE</a:t>
            </a:r>
            <a:r>
              <a:rPr lang="zh-CN" altLang="zh-CN" sz="1600" dirty="0">
                <a:latin typeface="+mn-lt"/>
                <a:ea typeface="+mn-ea"/>
              </a:rPr>
              <a:t>、</a:t>
            </a:r>
            <a:r>
              <a:rPr lang="en-US" altLang="zh-CN" sz="1600" dirty="0">
                <a:latin typeface="+mn-lt"/>
                <a:ea typeface="+mn-ea"/>
              </a:rPr>
              <a:t>CREATE DATABASE</a:t>
            </a:r>
            <a:r>
              <a:rPr lang="zh-CN" altLang="zh-CN" sz="1600" dirty="0">
                <a:latin typeface="+mn-lt"/>
                <a:ea typeface="+mn-ea"/>
              </a:rPr>
              <a:t>、</a:t>
            </a:r>
            <a:r>
              <a:rPr lang="en-US" altLang="zh-CN" sz="1600" dirty="0">
                <a:latin typeface="+mn-lt"/>
                <a:ea typeface="+mn-ea"/>
              </a:rPr>
              <a:t>DROP DATABASE</a:t>
            </a:r>
            <a:r>
              <a:rPr lang="zh-CN" altLang="zh-CN" sz="1600" dirty="0">
                <a:latin typeface="+mn-lt"/>
                <a:ea typeface="+mn-ea"/>
              </a:rPr>
              <a:t>、</a:t>
            </a:r>
            <a:r>
              <a:rPr lang="en-US" altLang="zh-CN" sz="1600" dirty="0">
                <a:latin typeface="+mn-lt"/>
                <a:ea typeface="+mn-ea"/>
              </a:rPr>
              <a:t>LOAD DATABASE</a:t>
            </a:r>
            <a:r>
              <a:rPr lang="zh-CN" altLang="zh-CN" sz="1600" dirty="0">
                <a:latin typeface="+mn-lt"/>
                <a:ea typeface="+mn-ea"/>
              </a:rPr>
              <a:t>、</a:t>
            </a:r>
            <a:r>
              <a:rPr lang="en-US" altLang="zh-CN" sz="1600" dirty="0">
                <a:latin typeface="+mn-lt"/>
                <a:ea typeface="+mn-ea"/>
              </a:rPr>
              <a:t>LOAD LOG</a:t>
            </a:r>
            <a:r>
              <a:rPr lang="zh-CN" altLang="zh-CN" sz="1600" dirty="0">
                <a:latin typeface="+mn-lt"/>
                <a:ea typeface="+mn-ea"/>
              </a:rPr>
              <a:t>、</a:t>
            </a:r>
            <a:r>
              <a:rPr lang="en-US" altLang="zh-CN" sz="1600" dirty="0">
                <a:latin typeface="+mn-lt"/>
                <a:ea typeface="+mn-ea"/>
              </a:rPr>
              <a:t>RECONFIGURE</a:t>
            </a:r>
            <a:r>
              <a:rPr lang="zh-CN" altLang="zh-CN" sz="1600" dirty="0">
                <a:latin typeface="+mn-lt"/>
                <a:ea typeface="+mn-ea"/>
              </a:rPr>
              <a:t>、</a:t>
            </a:r>
            <a:r>
              <a:rPr lang="en-US" altLang="zh-CN" sz="1600" dirty="0">
                <a:latin typeface="+mn-lt"/>
                <a:ea typeface="+mn-ea"/>
              </a:rPr>
              <a:t>RESTORE DATABASE</a:t>
            </a:r>
            <a:r>
              <a:rPr lang="zh-CN" altLang="zh-CN" sz="1600" dirty="0">
                <a:latin typeface="+mn-lt"/>
                <a:ea typeface="+mn-ea"/>
              </a:rPr>
              <a:t>、</a:t>
            </a:r>
            <a:r>
              <a:rPr lang="en-US" altLang="zh-CN" sz="1600" dirty="0">
                <a:latin typeface="+mn-lt"/>
                <a:ea typeface="+mn-ea"/>
              </a:rPr>
              <a:t>RESTORE LOG</a:t>
            </a:r>
            <a:r>
              <a:rPr lang="zh-CN" altLang="zh-CN" sz="1600" dirty="0">
                <a:latin typeface="+mn-lt"/>
                <a:ea typeface="+mn-ea"/>
              </a:rPr>
              <a:t>。</a:t>
            </a:r>
            <a:endParaRPr lang="zh-CN" altLang="zh-CN" sz="1600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27088" y="5851525"/>
            <a:ext cx="7921625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7088" y="2276475"/>
            <a:ext cx="7921625" cy="32400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5845" name="TextBox 2"/>
          <p:cNvSpPr txBox="1">
            <a:spLocks noChangeArrowheads="1"/>
          </p:cNvSpPr>
          <p:nvPr/>
        </p:nvSpPr>
        <p:spPr bwMode="auto">
          <a:xfrm>
            <a:off x="395288" y="1412875"/>
            <a:ext cx="8353425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3</a:t>
            </a:r>
            <a:r>
              <a:rPr lang="zh-CN" altLang="zh-CN" b="1">
                <a:solidFill>
                  <a:srgbClr val="C00000"/>
                </a:solidFill>
              </a:rPr>
              <a:t>．创建</a:t>
            </a:r>
            <a:r>
              <a:rPr lang="en-US" altLang="zh-CN" b="1">
                <a:solidFill>
                  <a:srgbClr val="C00000"/>
                </a:solidFill>
              </a:rPr>
              <a:t>INSERT</a:t>
            </a:r>
            <a:r>
              <a:rPr lang="zh-CN" altLang="zh-CN" b="1">
                <a:solidFill>
                  <a:srgbClr val="C00000"/>
                </a:solidFill>
              </a:rPr>
              <a:t>触发器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7.10</a:t>
            </a:r>
            <a:r>
              <a:rPr lang="zh-CN" altLang="zh-CN"/>
              <a:t>】 创建一个表</a:t>
            </a:r>
            <a:r>
              <a:rPr lang="en-US" altLang="zh-CN"/>
              <a:t>table1</a:t>
            </a:r>
            <a:r>
              <a:rPr lang="zh-CN" altLang="zh-CN"/>
              <a:t>，其中只有一列</a:t>
            </a:r>
            <a:r>
              <a:rPr lang="en-US" altLang="zh-CN"/>
              <a:t>a</a:t>
            </a:r>
            <a:r>
              <a:rPr lang="zh-CN" altLang="zh-CN"/>
              <a:t>。在表上创建一个触发器，每次插入操作时，将变量</a:t>
            </a:r>
            <a:r>
              <a:rPr lang="en-US" altLang="zh-CN"/>
              <a:t>@str</a:t>
            </a:r>
            <a:r>
              <a:rPr lang="zh-CN" altLang="zh-CN"/>
              <a:t>的值设为“</a:t>
            </a:r>
            <a:r>
              <a:rPr lang="en-US" altLang="zh-CN"/>
              <a:t>TRIGGER IS WORKING</a:t>
            </a:r>
            <a:r>
              <a:rPr lang="zh-CN" altLang="zh-CN"/>
              <a:t>”并显示。</a:t>
            </a:r>
            <a:endParaRPr lang="zh-CN" altLang="zh-CN"/>
          </a:p>
          <a:p>
            <a:pPr eaLnBrk="1" hangingPunct="1"/>
            <a:r>
              <a:rPr lang="en-US" altLang="zh-CN"/>
              <a:t>USE pxscj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CREATE TABLE table1(a int)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CREATE TRIGGER table1_insert</a:t>
            </a:r>
            <a:endParaRPr lang="zh-CN" altLang="zh-CN"/>
          </a:p>
          <a:p>
            <a:pPr eaLnBrk="1" hangingPunct="1"/>
            <a:r>
              <a:rPr lang="en-US" altLang="zh-CN"/>
              <a:t>        ON table1 AFTER INSERT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BEGIN</a:t>
            </a:r>
            <a:endParaRPr lang="zh-CN" altLang="zh-CN"/>
          </a:p>
          <a:p>
            <a:pPr eaLnBrk="1" hangingPunct="1"/>
            <a:r>
              <a:rPr lang="en-US" altLang="zh-CN"/>
              <a:t>        DECLARE @str char(50)</a:t>
            </a:r>
            <a:endParaRPr lang="zh-CN" altLang="zh-CN"/>
          </a:p>
          <a:p>
            <a:pPr eaLnBrk="1" hangingPunct="1"/>
            <a:r>
              <a:rPr lang="en-US" altLang="zh-CN"/>
              <a:t>        SET @str='TRIGGER IS WORKING'</a:t>
            </a:r>
            <a:endParaRPr lang="zh-CN" altLang="zh-CN"/>
          </a:p>
          <a:p>
            <a:pPr eaLnBrk="1" hangingPunct="1"/>
            <a:r>
              <a:rPr lang="en-US" altLang="zh-CN"/>
              <a:t>        PRINT @str</a:t>
            </a:r>
            <a:endParaRPr lang="zh-CN" altLang="zh-CN"/>
          </a:p>
          <a:p>
            <a:pPr eaLnBrk="1" hangingPunct="1"/>
            <a:r>
              <a:rPr lang="en-US" altLang="zh-CN"/>
              <a:t>    END</a:t>
            </a:r>
            <a:endParaRPr lang="zh-CN" altLang="zh-CN"/>
          </a:p>
          <a:p>
            <a:pPr eaLnBrk="1" fontAlgn="ctr" hangingPunct="1"/>
            <a:r>
              <a:rPr lang="zh-CN" altLang="zh-CN"/>
              <a:t>向</a:t>
            </a:r>
            <a:r>
              <a:rPr lang="en-US" altLang="zh-CN"/>
              <a:t>table1</a:t>
            </a:r>
            <a:r>
              <a:rPr lang="zh-CN" altLang="zh-CN"/>
              <a:t>中插入一行数据：</a:t>
            </a:r>
            <a:endParaRPr lang="zh-CN" altLang="zh-CN"/>
          </a:p>
          <a:p>
            <a:pPr eaLnBrk="1" hangingPunct="1"/>
            <a:r>
              <a:rPr lang="en-US" altLang="zh-CN"/>
              <a:t>INSERT INTO table1 VALUES(10)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执行结果显示“</a:t>
            </a:r>
            <a:r>
              <a:rPr lang="en-US" altLang="zh-CN"/>
              <a:t>TRIGGER IS WORKING</a:t>
            </a:r>
            <a:r>
              <a:rPr lang="zh-CN" altLang="zh-CN"/>
              <a:t>”。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2133600"/>
            <a:ext cx="7704137" cy="30241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6868" name="TextBox 2"/>
          <p:cNvSpPr txBox="1">
            <a:spLocks noChangeArrowheads="1"/>
          </p:cNvSpPr>
          <p:nvPr/>
        </p:nvSpPr>
        <p:spPr bwMode="auto">
          <a:xfrm>
            <a:off x="468313" y="1557338"/>
            <a:ext cx="8135937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7.11</a:t>
            </a:r>
            <a:r>
              <a:rPr lang="zh-CN" altLang="zh-CN"/>
              <a:t>】 创建</a:t>
            </a:r>
            <a:r>
              <a:rPr lang="en-US" altLang="zh-CN"/>
              <a:t>cjb</a:t>
            </a:r>
            <a:r>
              <a:rPr lang="zh-CN" altLang="zh-CN"/>
              <a:t>表后激活触发器，当向</a:t>
            </a:r>
            <a:r>
              <a:rPr lang="en-US" altLang="zh-CN"/>
              <a:t>cjb</a:t>
            </a:r>
            <a:r>
              <a:rPr lang="zh-CN" altLang="zh-CN"/>
              <a:t>表中插入一个学生的成绩时，将</a:t>
            </a:r>
            <a:r>
              <a:rPr lang="en-US" altLang="zh-CN"/>
              <a:t>xsb</a:t>
            </a:r>
            <a:r>
              <a:rPr lang="zh-CN" altLang="zh-CN"/>
              <a:t>表中该学生的总学分加上添加的课程的学分。</a:t>
            </a:r>
            <a:endParaRPr lang="zh-CN" altLang="zh-CN"/>
          </a:p>
          <a:p>
            <a:pPr eaLnBrk="1" hangingPunct="1"/>
            <a:r>
              <a:rPr lang="en-US" altLang="zh-CN"/>
              <a:t>CREATE TRIGGER cjb_insert</a:t>
            </a:r>
            <a:endParaRPr lang="zh-CN" altLang="zh-CN"/>
          </a:p>
          <a:p>
            <a:pPr eaLnBrk="1" hangingPunct="1"/>
            <a:r>
              <a:rPr lang="en-US" altLang="zh-CN"/>
              <a:t>        ON cjb AFTER INSERT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BEGIN</a:t>
            </a:r>
            <a:endParaRPr lang="zh-CN" altLang="zh-CN"/>
          </a:p>
          <a:p>
            <a:pPr eaLnBrk="1" hangingPunct="1"/>
            <a:r>
              <a:rPr lang="en-US" altLang="zh-CN"/>
              <a:t>        DECLARE @num char(6), @kc_num char(3)</a:t>
            </a:r>
            <a:endParaRPr lang="zh-CN" altLang="zh-CN"/>
          </a:p>
          <a:p>
            <a:pPr eaLnBrk="1" hangingPunct="1"/>
            <a:r>
              <a:rPr lang="en-US" altLang="zh-CN"/>
              <a:t>        DECLARE @xf int</a:t>
            </a:r>
            <a:endParaRPr lang="zh-CN" altLang="zh-CN"/>
          </a:p>
          <a:p>
            <a:pPr eaLnBrk="1" hangingPunct="1"/>
            <a:r>
              <a:rPr lang="en-US" altLang="zh-CN"/>
              <a:t>        SELECT @num=</a:t>
            </a:r>
            <a:r>
              <a:rPr lang="zh-CN" altLang="zh-CN"/>
              <a:t>学号</a:t>
            </a:r>
            <a:r>
              <a:rPr lang="en-US" altLang="zh-CN"/>
              <a:t>, @kc_num=</a:t>
            </a:r>
            <a:r>
              <a:rPr lang="zh-CN" altLang="zh-CN"/>
              <a:t>课程号</a:t>
            </a:r>
            <a:r>
              <a:rPr lang="en-US" altLang="zh-CN"/>
              <a:t>from inserted</a:t>
            </a:r>
            <a:endParaRPr lang="zh-CN" altLang="zh-CN"/>
          </a:p>
          <a:p>
            <a:pPr eaLnBrk="1" hangingPunct="1"/>
            <a:r>
              <a:rPr lang="en-US" altLang="zh-CN"/>
              <a:t>        SELECT @xf=</a:t>
            </a:r>
            <a:r>
              <a:rPr lang="zh-CN" altLang="zh-CN"/>
              <a:t>学分</a:t>
            </a:r>
            <a:r>
              <a:rPr lang="en-US" altLang="zh-CN"/>
              <a:t>FROM kcb WHERE</a:t>
            </a:r>
            <a:r>
              <a:rPr lang="zh-CN" altLang="zh-CN"/>
              <a:t>课程号</a:t>
            </a:r>
            <a:r>
              <a:rPr lang="en-US" altLang="zh-CN"/>
              <a:t>=@kc_num</a:t>
            </a:r>
            <a:endParaRPr lang="zh-CN" altLang="zh-CN"/>
          </a:p>
          <a:p>
            <a:pPr eaLnBrk="1" hangingPunct="1"/>
            <a:r>
              <a:rPr lang="en-US" altLang="zh-CN"/>
              <a:t>        UPDATE xsb SET</a:t>
            </a:r>
            <a:r>
              <a:rPr lang="zh-CN" altLang="zh-CN"/>
              <a:t>总学分</a:t>
            </a:r>
            <a:r>
              <a:rPr lang="en-US" altLang="zh-CN"/>
              <a:t>=</a:t>
            </a:r>
            <a:r>
              <a:rPr lang="zh-CN" altLang="zh-CN"/>
              <a:t>总学分</a:t>
            </a:r>
            <a:r>
              <a:rPr lang="en-US" altLang="zh-CN"/>
              <a:t>+@xf  WHERE</a:t>
            </a:r>
            <a:r>
              <a:rPr lang="zh-CN" altLang="zh-CN"/>
              <a:t>学号</a:t>
            </a:r>
            <a:r>
              <a:rPr lang="en-US" altLang="zh-CN"/>
              <a:t>=@num</a:t>
            </a:r>
            <a:endParaRPr lang="zh-CN" altLang="zh-CN"/>
          </a:p>
          <a:p>
            <a:pPr eaLnBrk="1" hangingPunct="1"/>
            <a:r>
              <a:rPr lang="en-US" altLang="zh-CN"/>
              <a:t>        PRINT '</a:t>
            </a:r>
            <a:r>
              <a:rPr lang="zh-CN" altLang="zh-CN"/>
              <a:t>修改成功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r>
              <a:rPr lang="en-US" altLang="zh-CN"/>
              <a:t>    END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650" y="2492375"/>
            <a:ext cx="7920038" cy="2520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7892" name="TextBox 2"/>
          <p:cNvSpPr txBox="1">
            <a:spLocks noChangeArrowheads="1"/>
          </p:cNvSpPr>
          <p:nvPr/>
        </p:nvSpPr>
        <p:spPr bwMode="auto">
          <a:xfrm>
            <a:off x="395288" y="1341438"/>
            <a:ext cx="8353425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zh-CN" b="1" dirty="0">
                <a:solidFill>
                  <a:srgbClr val="C00000"/>
                </a:solidFill>
              </a:rPr>
              <a:t>．创建</a:t>
            </a:r>
            <a:r>
              <a:rPr lang="en-US" altLang="zh-CN" b="1" dirty="0">
                <a:solidFill>
                  <a:srgbClr val="C00000"/>
                </a:solidFill>
              </a:rPr>
              <a:t>UPDATE</a:t>
            </a:r>
            <a:r>
              <a:rPr lang="zh-CN" altLang="zh-CN" b="1" dirty="0">
                <a:solidFill>
                  <a:srgbClr val="C00000"/>
                </a:solidFill>
              </a:rPr>
              <a:t>触发器</a:t>
            </a:r>
            <a:endParaRPr lang="zh-CN" altLang="zh-CN" b="1" dirty="0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 dirty="0"/>
              <a:t>【例</a:t>
            </a:r>
            <a:r>
              <a:rPr lang="en-US" altLang="zh-CN" dirty="0"/>
              <a:t>7.12</a:t>
            </a:r>
            <a:r>
              <a:rPr lang="zh-CN" altLang="zh-CN" dirty="0"/>
              <a:t>】 创建</a:t>
            </a:r>
            <a:r>
              <a:rPr lang="en-US" altLang="zh-CN" dirty="0" err="1"/>
              <a:t>xsb</a:t>
            </a:r>
            <a:r>
              <a:rPr lang="zh-CN" altLang="zh-CN" dirty="0"/>
              <a:t>表修改触发器，当修改</a:t>
            </a:r>
            <a:r>
              <a:rPr lang="en-US" altLang="zh-CN" dirty="0" err="1"/>
              <a:t>xsb</a:t>
            </a:r>
            <a:r>
              <a:rPr lang="zh-CN" altLang="zh-CN" dirty="0"/>
              <a:t>表中的学号时，同时也要将</a:t>
            </a:r>
            <a:r>
              <a:rPr lang="en-US" altLang="zh-CN" dirty="0" err="1"/>
              <a:t>cjb</a:t>
            </a:r>
            <a:r>
              <a:rPr lang="zh-CN" altLang="zh-CN" dirty="0"/>
              <a:t>表中的学号修改成相应的学号（假设</a:t>
            </a:r>
            <a:r>
              <a:rPr lang="en-US" altLang="zh-CN" dirty="0" err="1"/>
              <a:t>xsb</a:t>
            </a:r>
            <a:r>
              <a:rPr lang="zh-CN" altLang="zh-CN" dirty="0"/>
              <a:t>表和</a:t>
            </a:r>
            <a:r>
              <a:rPr lang="en-US" altLang="zh-CN" dirty="0" err="1"/>
              <a:t>cjb</a:t>
            </a:r>
            <a:r>
              <a:rPr lang="zh-CN" altLang="zh-CN" dirty="0"/>
              <a:t>表之间没有定义外键约束）。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	</a:t>
            </a:r>
            <a:r>
              <a:rPr lang="zh-CN" altLang="zh-CN" dirty="0"/>
              <a:t>创建</a:t>
            </a:r>
            <a:r>
              <a:rPr lang="en-US" altLang="zh-CN" dirty="0" err="1"/>
              <a:t>xsb</a:t>
            </a:r>
            <a:r>
              <a:rPr lang="zh-CN" altLang="zh-CN" dirty="0"/>
              <a:t>表修改触发器</a:t>
            </a:r>
            <a:endParaRPr lang="zh-CN" altLang="zh-CN" dirty="0"/>
          </a:p>
          <a:p>
            <a:pPr eaLnBrk="1" hangingPunct="1"/>
            <a:r>
              <a:rPr lang="en-US" altLang="zh-CN" dirty="0"/>
              <a:t>CREATE TRIGGER </a:t>
            </a:r>
            <a:r>
              <a:rPr lang="en-US" altLang="zh-CN" dirty="0" err="1"/>
              <a:t>xsb_update</a:t>
            </a:r>
            <a:endParaRPr lang="zh-CN" altLang="zh-CN" dirty="0"/>
          </a:p>
          <a:p>
            <a:pPr eaLnBrk="1" hangingPunct="1"/>
            <a:r>
              <a:rPr lang="en-US" altLang="zh-CN" dirty="0"/>
              <a:t>    ON </a:t>
            </a:r>
            <a:r>
              <a:rPr lang="en-US" altLang="zh-CN" dirty="0" err="1"/>
              <a:t>xsb</a:t>
            </a:r>
            <a:r>
              <a:rPr lang="en-US" altLang="zh-CN" dirty="0"/>
              <a:t> AFTER UPDATE</a:t>
            </a:r>
            <a:endParaRPr lang="zh-CN" altLang="zh-CN" dirty="0"/>
          </a:p>
          <a:p>
            <a:pPr eaLnBrk="1" hangingPunct="1"/>
            <a:r>
              <a:rPr lang="en-US" altLang="zh-CN" dirty="0"/>
              <a:t>    AS</a:t>
            </a:r>
            <a:endParaRPr lang="zh-CN" altLang="zh-CN" dirty="0"/>
          </a:p>
          <a:p>
            <a:pPr eaLnBrk="1" hangingPunct="1"/>
            <a:r>
              <a:rPr lang="en-US" altLang="zh-CN" dirty="0"/>
              <a:t>    BEGIN</a:t>
            </a:r>
            <a:endParaRPr lang="zh-CN" altLang="zh-CN" dirty="0"/>
          </a:p>
          <a:p>
            <a:pPr eaLnBrk="1" hangingPunct="1"/>
            <a:r>
              <a:rPr lang="en-US" altLang="zh-CN" dirty="0"/>
              <a:t>        DECLARE @</a:t>
            </a:r>
            <a:r>
              <a:rPr lang="en-US" altLang="zh-CN" dirty="0" err="1"/>
              <a:t>old_num</a:t>
            </a:r>
            <a:r>
              <a:rPr lang="en-US" altLang="zh-CN" dirty="0"/>
              <a:t> char(6), @</a:t>
            </a:r>
            <a:r>
              <a:rPr lang="en-US" altLang="zh-CN" dirty="0" err="1"/>
              <a:t>new_num</a:t>
            </a:r>
            <a:r>
              <a:rPr lang="en-US" altLang="zh-CN" dirty="0"/>
              <a:t> char(6)</a:t>
            </a:r>
            <a:endParaRPr lang="zh-CN" altLang="zh-CN" dirty="0"/>
          </a:p>
          <a:p>
            <a:pPr eaLnBrk="1" hangingPunct="1"/>
            <a:r>
              <a:rPr lang="en-US" altLang="zh-CN" dirty="0"/>
              <a:t>        SELECT @</a:t>
            </a:r>
            <a:r>
              <a:rPr lang="en-US" altLang="zh-CN" dirty="0" err="1"/>
              <a:t>old_num</a:t>
            </a:r>
            <a:r>
              <a:rPr lang="en-US" altLang="zh-CN" dirty="0"/>
              <a:t>=</a:t>
            </a:r>
            <a:r>
              <a:rPr lang="zh-CN" altLang="zh-CN" dirty="0"/>
              <a:t>学号</a:t>
            </a:r>
            <a:r>
              <a:rPr lang="en-US" altLang="zh-CN" dirty="0"/>
              <a:t>FROM deleted</a:t>
            </a:r>
            <a:endParaRPr lang="zh-CN" altLang="zh-CN" dirty="0"/>
          </a:p>
          <a:p>
            <a:pPr eaLnBrk="1" hangingPunct="1"/>
            <a:r>
              <a:rPr lang="en-US" altLang="zh-CN" dirty="0"/>
              <a:t>        SELECT @</a:t>
            </a:r>
            <a:r>
              <a:rPr lang="en-US" altLang="zh-CN" dirty="0" err="1"/>
              <a:t>new_num</a:t>
            </a:r>
            <a:r>
              <a:rPr lang="en-US" altLang="zh-CN" dirty="0"/>
              <a:t>=</a:t>
            </a:r>
            <a:r>
              <a:rPr lang="zh-CN" altLang="zh-CN" dirty="0"/>
              <a:t>学号</a:t>
            </a:r>
            <a:r>
              <a:rPr lang="en-US" altLang="zh-CN" dirty="0"/>
              <a:t>FROM inserted</a:t>
            </a:r>
            <a:endParaRPr lang="zh-CN" altLang="zh-CN" dirty="0"/>
          </a:p>
          <a:p>
            <a:pPr eaLnBrk="1" hangingPunct="1"/>
            <a:r>
              <a:rPr lang="en-US" altLang="zh-CN" dirty="0"/>
              <a:t>        UPDATE </a:t>
            </a:r>
            <a:r>
              <a:rPr lang="en-US" altLang="zh-CN" dirty="0" err="1"/>
              <a:t>cjb</a:t>
            </a:r>
            <a:r>
              <a:rPr lang="en-US" altLang="zh-CN" dirty="0"/>
              <a:t> SET</a:t>
            </a:r>
            <a:r>
              <a:rPr lang="zh-CN" altLang="zh-CN" dirty="0"/>
              <a:t>学号</a:t>
            </a:r>
            <a:r>
              <a:rPr lang="en-US" altLang="zh-CN" dirty="0"/>
              <a:t>=@</a:t>
            </a:r>
            <a:r>
              <a:rPr lang="en-US" altLang="zh-CN" dirty="0" err="1"/>
              <a:t>new_num</a:t>
            </a:r>
            <a:r>
              <a:rPr lang="en-US" altLang="zh-CN" dirty="0"/>
              <a:t> WHERE</a:t>
            </a:r>
            <a:r>
              <a:rPr lang="zh-CN" altLang="zh-CN" dirty="0"/>
              <a:t>学号</a:t>
            </a:r>
            <a:r>
              <a:rPr lang="en-US" altLang="zh-CN" dirty="0"/>
              <a:t>=@</a:t>
            </a:r>
            <a:r>
              <a:rPr lang="en-US" altLang="zh-CN" dirty="0" err="1"/>
              <a:t>old_num</a:t>
            </a:r>
            <a:endParaRPr lang="zh-CN" altLang="zh-CN" dirty="0"/>
          </a:p>
          <a:p>
            <a:pPr eaLnBrk="1" hangingPunct="1"/>
            <a:r>
              <a:rPr lang="en-US" altLang="zh-CN" dirty="0"/>
              <a:t>    END</a:t>
            </a:r>
            <a:endParaRPr lang="zh-CN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1916113"/>
            <a:ext cx="7848600" cy="12255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8916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804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）接着修改</a:t>
            </a:r>
            <a:r>
              <a:rPr lang="en-US" altLang="zh-CN" dirty="0" err="1"/>
              <a:t>xsb</a:t>
            </a:r>
            <a:r>
              <a:rPr lang="zh-CN" altLang="zh-CN" dirty="0"/>
              <a:t>表中的一行数据，并查看触发器执行结果：</a:t>
            </a:r>
            <a:endParaRPr lang="zh-CN" altLang="zh-CN" dirty="0"/>
          </a:p>
          <a:p>
            <a:pPr eaLnBrk="1" hangingPunct="1"/>
            <a:r>
              <a:rPr lang="en-US" altLang="zh-CN" dirty="0"/>
              <a:t>UPDATE </a:t>
            </a:r>
            <a:r>
              <a:rPr lang="en-US" altLang="zh-CN" dirty="0" err="1"/>
              <a:t>xsb</a:t>
            </a:r>
            <a:r>
              <a:rPr lang="en-US" altLang="zh-CN" dirty="0"/>
              <a:t> SET</a:t>
            </a:r>
            <a:r>
              <a:rPr lang="zh-CN" altLang="zh-CN" dirty="0"/>
              <a:t>学号</a:t>
            </a:r>
            <a:r>
              <a:rPr lang="en-US" altLang="zh-CN" dirty="0"/>
              <a:t>='191320' WHERE</a:t>
            </a:r>
            <a:r>
              <a:rPr lang="zh-CN" altLang="zh-CN" dirty="0"/>
              <a:t>学号</a:t>
            </a:r>
            <a:r>
              <a:rPr lang="en-US" altLang="zh-CN" dirty="0"/>
              <a:t>='191301'</a:t>
            </a:r>
            <a:endParaRPr lang="zh-CN" altLang="zh-CN" dirty="0"/>
          </a:p>
          <a:p>
            <a:pPr eaLnBrk="1" hangingPunct="1"/>
            <a:r>
              <a:rPr lang="en-US" altLang="zh-CN" dirty="0"/>
              <a:t>GO</a:t>
            </a:r>
            <a:endParaRPr lang="zh-CN" altLang="zh-CN" dirty="0"/>
          </a:p>
          <a:p>
            <a:pPr eaLnBrk="1" hangingPunct="1"/>
            <a:r>
              <a:rPr lang="en-US" altLang="zh-CN" dirty="0"/>
              <a:t>SELECT *  FROM </a:t>
            </a:r>
            <a:r>
              <a:rPr lang="en-US" altLang="zh-CN" dirty="0" err="1"/>
              <a:t>cjb</a:t>
            </a:r>
            <a:r>
              <a:rPr lang="en-US" altLang="zh-CN" dirty="0"/>
              <a:t> WHERE</a:t>
            </a:r>
            <a:r>
              <a:rPr lang="zh-CN" altLang="zh-CN" dirty="0"/>
              <a:t>学号</a:t>
            </a:r>
            <a:r>
              <a:rPr lang="en-US" altLang="zh-CN" dirty="0"/>
              <a:t>='191320'</a:t>
            </a:r>
            <a:endParaRPr lang="zh-CN" altLang="zh-CN" dirty="0"/>
          </a:p>
          <a:p>
            <a:pPr eaLnBrk="1" hangingPunct="1"/>
            <a:r>
              <a:rPr lang="en-US" altLang="zh-CN" dirty="0"/>
              <a:t>GO</a:t>
            </a:r>
            <a:endParaRPr lang="zh-CN" altLang="zh-CN" dirty="0"/>
          </a:p>
          <a:p>
            <a:pPr eaLnBrk="1" fontAlgn="ctr" hangingPunct="1">
              <a:lnSpc>
                <a:spcPct val="150000"/>
              </a:lnSpc>
            </a:pPr>
            <a:r>
              <a:rPr lang="zh-CN" altLang="zh-CN" dirty="0"/>
              <a:t>由于</a:t>
            </a:r>
            <a:r>
              <a:rPr lang="en-US" altLang="zh-CN" dirty="0" err="1"/>
              <a:t>xsb</a:t>
            </a:r>
            <a:r>
              <a:rPr lang="zh-CN" altLang="zh-CN" dirty="0"/>
              <a:t>表和</a:t>
            </a:r>
            <a:r>
              <a:rPr lang="en-US" altLang="zh-CN" dirty="0" err="1"/>
              <a:t>cjb</a:t>
            </a:r>
            <a:r>
              <a:rPr lang="zh-CN" altLang="zh-CN" dirty="0"/>
              <a:t>表之间没有定义外键约束，所以上述修改</a:t>
            </a:r>
            <a:r>
              <a:rPr lang="en-US" altLang="zh-CN" dirty="0" err="1"/>
              <a:t>xsb</a:t>
            </a:r>
            <a:r>
              <a:rPr lang="zh-CN" altLang="zh-CN" dirty="0"/>
              <a:t>学号的命令能执行。</a:t>
            </a:r>
            <a:endParaRPr lang="zh-CN" altLang="zh-CN" dirty="0"/>
          </a:p>
          <a:p>
            <a:pPr eaLnBrk="1" hangingPunct="1"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2708275"/>
            <a:ext cx="7848600" cy="1873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9940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5</a:t>
            </a:r>
            <a:r>
              <a:rPr lang="zh-CN" altLang="zh-CN" b="1">
                <a:solidFill>
                  <a:srgbClr val="C00000"/>
                </a:solidFill>
              </a:rPr>
              <a:t>．创建</a:t>
            </a:r>
            <a:r>
              <a:rPr lang="en-US" altLang="zh-CN" b="1">
                <a:solidFill>
                  <a:srgbClr val="C00000"/>
                </a:solidFill>
              </a:rPr>
              <a:t>DELETE</a:t>
            </a:r>
            <a:r>
              <a:rPr lang="zh-CN" altLang="zh-CN" b="1">
                <a:solidFill>
                  <a:srgbClr val="C00000"/>
                </a:solidFill>
              </a:rPr>
              <a:t>触发器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7.13</a:t>
            </a:r>
            <a:r>
              <a:rPr lang="zh-CN" altLang="zh-CN"/>
              <a:t>】 在删除</a:t>
            </a:r>
            <a:r>
              <a:rPr lang="en-US" altLang="zh-CN"/>
              <a:t>xsb</a:t>
            </a:r>
            <a:r>
              <a:rPr lang="zh-CN" altLang="zh-CN"/>
              <a:t>表中的一条学生记录时将</a:t>
            </a:r>
            <a:r>
              <a:rPr lang="en-US" altLang="zh-CN"/>
              <a:t>cjb</a:t>
            </a:r>
            <a:r>
              <a:rPr lang="zh-CN" altLang="zh-CN"/>
              <a:t>表中该学生的相应记录也删除。</a:t>
            </a:r>
            <a:endParaRPr lang="zh-CN" altLang="zh-CN"/>
          </a:p>
          <a:p>
            <a:pPr eaLnBrk="1" hangingPunct="1"/>
            <a:r>
              <a:rPr lang="en-US" altLang="zh-CN"/>
              <a:t>CREATE TRIGGER xsb_delete</a:t>
            </a:r>
            <a:endParaRPr lang="zh-CN" altLang="zh-CN"/>
          </a:p>
          <a:p>
            <a:pPr eaLnBrk="1" hangingPunct="1"/>
            <a:r>
              <a:rPr lang="en-US" altLang="zh-CN"/>
              <a:t>    ON xsb AFTER DELETE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BEGIN</a:t>
            </a:r>
            <a:endParaRPr lang="zh-CN" altLang="zh-CN"/>
          </a:p>
          <a:p>
            <a:pPr eaLnBrk="1" hangingPunct="1"/>
            <a:r>
              <a:rPr lang="en-US" altLang="zh-CN"/>
              <a:t>        DELETE FROM cjb </a:t>
            </a:r>
            <a:endParaRPr lang="zh-CN" altLang="zh-CN"/>
          </a:p>
          <a:p>
            <a:pPr eaLnBrk="1" hangingPunct="1"/>
            <a:r>
              <a:rPr lang="en-US" altLang="zh-CN"/>
              <a:t>            WHERE</a:t>
            </a:r>
            <a:r>
              <a:rPr lang="zh-CN" altLang="zh-CN"/>
              <a:t>学号</a:t>
            </a:r>
            <a:r>
              <a:rPr lang="en-US" altLang="zh-CN"/>
              <a:t>IN(SELECT</a:t>
            </a:r>
            <a:r>
              <a:rPr lang="zh-CN" altLang="zh-CN"/>
              <a:t>学号</a:t>
            </a:r>
            <a:r>
              <a:rPr lang="en-US" altLang="zh-CN"/>
              <a:t>FROM deleted)</a:t>
            </a:r>
            <a:endParaRPr lang="zh-CN" altLang="zh-CN"/>
          </a:p>
          <a:p>
            <a:pPr eaLnBrk="1" hangingPunct="1"/>
            <a:r>
              <a:rPr lang="en-US" altLang="zh-CN"/>
              <a:t>    END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执行结果请自行验证。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1989138"/>
            <a:ext cx="7848600" cy="30241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40964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804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7.14</a:t>
            </a:r>
            <a:r>
              <a:rPr lang="zh-CN" altLang="zh-CN"/>
              <a:t>】 在</a:t>
            </a:r>
            <a:r>
              <a:rPr lang="en-US" altLang="zh-CN"/>
              <a:t>kcb</a:t>
            </a:r>
            <a:r>
              <a:rPr lang="zh-CN" altLang="zh-CN"/>
              <a:t>表中创建</a:t>
            </a:r>
            <a:r>
              <a:rPr lang="en-US" altLang="zh-CN"/>
              <a:t>UPDATE</a:t>
            </a:r>
            <a:r>
              <a:rPr lang="zh-CN" altLang="zh-CN"/>
              <a:t>和</a:t>
            </a:r>
            <a:r>
              <a:rPr lang="en-US" altLang="zh-CN"/>
              <a:t>DELETE</a:t>
            </a:r>
            <a:r>
              <a:rPr lang="zh-CN" altLang="zh-CN"/>
              <a:t>触发器，当修改或删除</a:t>
            </a:r>
            <a:r>
              <a:rPr lang="en-US" altLang="zh-CN"/>
              <a:t>kcb</a:t>
            </a:r>
            <a:r>
              <a:rPr lang="zh-CN" altLang="zh-CN"/>
              <a:t>表中的课程号字段时，同时修改或删除</a:t>
            </a:r>
            <a:r>
              <a:rPr lang="en-US" altLang="zh-CN"/>
              <a:t>cjb</a:t>
            </a:r>
            <a:r>
              <a:rPr lang="zh-CN" altLang="zh-CN"/>
              <a:t>表中的该课程号。</a:t>
            </a:r>
            <a:endParaRPr lang="zh-CN" altLang="zh-CN"/>
          </a:p>
          <a:p>
            <a:pPr eaLnBrk="1" hangingPunct="1"/>
            <a:r>
              <a:rPr lang="en-US" altLang="zh-CN"/>
              <a:t>CREATE TRIGGER kcb_trig</a:t>
            </a:r>
            <a:endParaRPr lang="zh-CN" altLang="zh-CN"/>
          </a:p>
          <a:p>
            <a:pPr eaLnBrk="1" hangingPunct="1"/>
            <a:r>
              <a:rPr lang="en-US" altLang="zh-CN"/>
              <a:t>    ON kcb AFTER UPDATE, DELETE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BEGIN</a:t>
            </a:r>
            <a:endParaRPr lang="zh-CN" altLang="zh-CN"/>
          </a:p>
          <a:p>
            <a:pPr eaLnBrk="1" hangingPunct="1"/>
            <a:r>
              <a:rPr lang="en-US" altLang="zh-CN"/>
              <a:t>        IF (UPDATE(</a:t>
            </a:r>
            <a:r>
              <a:rPr lang="zh-CN" altLang="zh-CN"/>
              <a:t>课程号</a:t>
            </a:r>
            <a:r>
              <a:rPr lang="en-US" altLang="zh-CN"/>
              <a:t>))</a:t>
            </a:r>
            <a:endParaRPr lang="zh-CN" altLang="zh-CN"/>
          </a:p>
          <a:p>
            <a:pPr eaLnBrk="1" hangingPunct="1"/>
            <a:r>
              <a:rPr lang="en-US" altLang="zh-CN"/>
              <a:t>            UPDATE cjb SET</a:t>
            </a:r>
            <a:r>
              <a:rPr lang="zh-CN" altLang="zh-CN"/>
              <a:t>课程号</a:t>
            </a:r>
            <a:r>
              <a:rPr lang="en-US" altLang="zh-CN"/>
              <a:t>=(SELECT</a:t>
            </a:r>
            <a:r>
              <a:rPr lang="zh-CN" altLang="zh-CN"/>
              <a:t>课程号</a:t>
            </a:r>
            <a:r>
              <a:rPr lang="en-US" altLang="zh-CN"/>
              <a:t>FROM inserted)</a:t>
            </a:r>
            <a:endParaRPr lang="zh-CN" altLang="zh-CN"/>
          </a:p>
          <a:p>
            <a:pPr eaLnBrk="1" hangingPunct="1"/>
            <a:r>
              <a:rPr lang="en-US" altLang="zh-CN"/>
              <a:t>                WHERE</a:t>
            </a:r>
            <a:r>
              <a:rPr lang="zh-CN" altLang="zh-CN"/>
              <a:t>课程号</a:t>
            </a:r>
            <a:r>
              <a:rPr lang="en-US" altLang="zh-CN"/>
              <a:t>=(SELECT</a:t>
            </a:r>
            <a:r>
              <a:rPr lang="zh-CN" altLang="zh-CN"/>
              <a:t>课程号</a:t>
            </a:r>
            <a:r>
              <a:rPr lang="en-US" altLang="zh-CN"/>
              <a:t>FROM deleted)</a:t>
            </a:r>
            <a:endParaRPr lang="zh-CN" altLang="zh-CN"/>
          </a:p>
          <a:p>
            <a:pPr eaLnBrk="1" hangingPunct="1"/>
            <a:r>
              <a:rPr lang="en-US" altLang="zh-CN"/>
              <a:t>        ELSE</a:t>
            </a:r>
            <a:endParaRPr lang="zh-CN" altLang="zh-CN"/>
          </a:p>
          <a:p>
            <a:pPr eaLnBrk="1" hangingPunct="1"/>
            <a:r>
              <a:rPr lang="en-US" altLang="zh-CN"/>
              <a:t>            DELETE FROM cjb </a:t>
            </a:r>
            <a:endParaRPr lang="zh-CN" altLang="zh-CN"/>
          </a:p>
          <a:p>
            <a:pPr eaLnBrk="1" hangingPunct="1"/>
            <a:r>
              <a:rPr lang="en-US" altLang="zh-CN"/>
              <a:t>                WHERE</a:t>
            </a:r>
            <a:r>
              <a:rPr lang="zh-CN" altLang="zh-CN"/>
              <a:t>课程号</a:t>
            </a:r>
            <a:r>
              <a:rPr lang="en-US" altLang="zh-CN"/>
              <a:t>IN(SELECT</a:t>
            </a:r>
            <a:r>
              <a:rPr lang="zh-CN" altLang="zh-CN"/>
              <a:t>课程号</a:t>
            </a:r>
            <a:r>
              <a:rPr lang="en-US" altLang="zh-CN"/>
              <a:t>FROM deleted)</a:t>
            </a:r>
            <a:endParaRPr lang="zh-CN" altLang="zh-CN"/>
          </a:p>
          <a:p>
            <a:pPr eaLnBrk="1" hangingPunct="1"/>
            <a:r>
              <a:rPr lang="en-US" altLang="zh-CN"/>
              <a:t>    END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0113" y="4724400"/>
            <a:ext cx="7775575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0113" y="2276475"/>
            <a:ext cx="7775575" cy="21605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41989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6</a:t>
            </a:r>
            <a:r>
              <a:rPr lang="zh-CN" altLang="zh-CN" b="1">
                <a:solidFill>
                  <a:srgbClr val="C00000"/>
                </a:solidFill>
              </a:rPr>
              <a:t>．创建</a:t>
            </a:r>
            <a:r>
              <a:rPr lang="en-US" altLang="zh-CN" b="1">
                <a:solidFill>
                  <a:srgbClr val="C00000"/>
                </a:solidFill>
              </a:rPr>
              <a:t>INSTEAD OF</a:t>
            </a:r>
            <a:r>
              <a:rPr lang="zh-CN" altLang="zh-CN" b="1">
                <a:solidFill>
                  <a:srgbClr val="C00000"/>
                </a:solidFill>
              </a:rPr>
              <a:t>触发器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7.15</a:t>
            </a:r>
            <a:r>
              <a:rPr lang="zh-CN" altLang="zh-CN"/>
              <a:t>】 创建表</a:t>
            </a:r>
            <a:r>
              <a:rPr lang="en-US" altLang="zh-CN"/>
              <a:t>table2</a:t>
            </a:r>
            <a:r>
              <a:rPr lang="zh-CN" altLang="zh-CN"/>
              <a:t>，值包含一列</a:t>
            </a:r>
            <a:r>
              <a:rPr lang="en-US" altLang="zh-CN"/>
              <a:t>a</a:t>
            </a:r>
            <a:r>
              <a:rPr lang="zh-CN" altLang="zh-CN"/>
              <a:t>，在表中创建</a:t>
            </a:r>
            <a:r>
              <a:rPr lang="en-US" altLang="zh-CN"/>
              <a:t>INSTEAD OF INSERT</a:t>
            </a:r>
            <a:r>
              <a:rPr lang="zh-CN" altLang="zh-CN"/>
              <a:t>触发器，当向表中插入记录时显示相应消息。</a:t>
            </a:r>
            <a:endParaRPr lang="zh-CN" altLang="zh-CN"/>
          </a:p>
          <a:p>
            <a:pPr eaLnBrk="1" hangingPunct="1"/>
            <a:r>
              <a:rPr lang="en-US" altLang="zh-CN"/>
              <a:t>USE pxscj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CREATE TABLE table2(a int)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CREATE TRIGGER table2_insert</a:t>
            </a:r>
            <a:endParaRPr lang="zh-CN" altLang="zh-CN"/>
          </a:p>
          <a:p>
            <a:pPr eaLnBrk="1" hangingPunct="1"/>
            <a:r>
              <a:rPr lang="en-US" altLang="zh-CN"/>
              <a:t>        ON table2 INSTEAD OF INSERT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PRINT 'INSTEAD OF TRIGGER IS WORKING'</a:t>
            </a:r>
            <a:endParaRPr lang="zh-CN" altLang="zh-CN"/>
          </a:p>
          <a:p>
            <a:pPr eaLnBrk="1" fontAlgn="ctr" hangingPunct="1"/>
            <a:r>
              <a:rPr lang="zh-CN" altLang="zh-CN"/>
              <a:t>向表中插入一行数据：</a:t>
            </a:r>
            <a:endParaRPr lang="zh-CN" altLang="zh-CN"/>
          </a:p>
          <a:p>
            <a:pPr eaLnBrk="1" hangingPunct="1"/>
            <a:r>
              <a:rPr lang="en-US" altLang="zh-CN"/>
              <a:t>INSERT INTO table2 VALUES(10)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执行结果：使用</a:t>
            </a:r>
            <a:r>
              <a:rPr lang="en-US" altLang="zh-CN"/>
              <a:t>SELECT</a:t>
            </a:r>
            <a:r>
              <a:rPr lang="zh-CN" altLang="zh-CN"/>
              <a:t>语句查询表</a:t>
            </a:r>
            <a:r>
              <a:rPr lang="en-US" altLang="zh-CN"/>
              <a:t>table2</a:t>
            </a:r>
            <a:r>
              <a:rPr lang="zh-CN" altLang="zh-CN"/>
              <a:t>可以发现，</a:t>
            </a:r>
            <a:r>
              <a:rPr lang="en-US" altLang="zh-CN"/>
              <a:t>table2</a:t>
            </a:r>
            <a:r>
              <a:rPr lang="zh-CN" altLang="zh-CN"/>
              <a:t>中并没有插入数据。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71550" y="3644900"/>
            <a:ext cx="7704138" cy="14398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43012" name="TextBox 2"/>
          <p:cNvSpPr txBox="1">
            <a:spLocks noChangeArrowheads="1"/>
          </p:cNvSpPr>
          <p:nvPr/>
        </p:nvSpPr>
        <p:spPr bwMode="auto">
          <a:xfrm>
            <a:off x="468313" y="1557338"/>
            <a:ext cx="8207375" cy="383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39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7.16</a:t>
            </a:r>
            <a:r>
              <a:rPr lang="zh-CN" altLang="zh-CN"/>
              <a:t>】 在</a:t>
            </a:r>
            <a:r>
              <a:rPr lang="en-US" altLang="zh-CN"/>
              <a:t>pxscj</a:t>
            </a:r>
            <a:r>
              <a:rPr lang="zh-CN" altLang="zh-CN"/>
              <a:t>数据库中创建视图</a:t>
            </a:r>
            <a:r>
              <a:rPr lang="en-US" altLang="zh-CN"/>
              <a:t>stu_view</a:t>
            </a:r>
            <a:r>
              <a:rPr lang="zh-CN" altLang="zh-CN"/>
              <a:t>，包含学生学号、专业、课程号、成绩。该视图依赖于表</a:t>
            </a:r>
            <a:r>
              <a:rPr lang="en-US" altLang="zh-CN"/>
              <a:t>xsb</a:t>
            </a:r>
            <a:r>
              <a:rPr lang="zh-CN" altLang="zh-CN"/>
              <a:t>和</a:t>
            </a:r>
            <a:r>
              <a:rPr lang="en-US" altLang="zh-CN"/>
              <a:t>cjb</a:t>
            </a:r>
            <a:r>
              <a:rPr lang="zh-CN" altLang="zh-CN"/>
              <a:t>，是不可更新视图。可以在视图上创建</a:t>
            </a:r>
            <a:r>
              <a:rPr lang="en-US" altLang="zh-CN"/>
              <a:t>INSTEAD OF</a:t>
            </a:r>
            <a:r>
              <a:rPr lang="zh-CN" altLang="zh-CN"/>
              <a:t>触发器，当向视图中插入数据时分别向表</a:t>
            </a:r>
            <a:r>
              <a:rPr lang="en-US" altLang="zh-CN"/>
              <a:t>xsb</a:t>
            </a:r>
            <a:r>
              <a:rPr lang="zh-CN" altLang="zh-CN"/>
              <a:t>和</a:t>
            </a:r>
            <a:r>
              <a:rPr lang="en-US" altLang="zh-CN"/>
              <a:t>cjb</a:t>
            </a:r>
            <a:r>
              <a:rPr lang="zh-CN" altLang="zh-CN"/>
              <a:t>插入数据，从而实现向视图插入数据的功能。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创建视图：</a:t>
            </a:r>
            <a:endParaRPr lang="zh-CN" altLang="zh-CN"/>
          </a:p>
          <a:p>
            <a:pPr eaLnBrk="1" hangingPunct="1"/>
            <a:r>
              <a:rPr lang="en-US" altLang="zh-CN"/>
              <a:t>CREATE VIEW stu_view</a:t>
            </a:r>
            <a:endParaRPr lang="zh-CN" altLang="zh-CN"/>
          </a:p>
          <a:p>
            <a:pPr eaLnBrk="1" hangingPunct="1"/>
            <a:r>
              <a:rPr lang="en-US" altLang="zh-CN"/>
              <a:t>AS </a:t>
            </a:r>
            <a:endParaRPr lang="zh-CN" altLang="zh-CN"/>
          </a:p>
          <a:p>
            <a:pPr eaLnBrk="1" hangingPunct="1"/>
            <a:r>
              <a:rPr lang="en-US" altLang="zh-CN"/>
              <a:t>SELECT xsb.</a:t>
            </a:r>
            <a:r>
              <a:rPr lang="zh-CN" altLang="zh-CN"/>
              <a:t>学号</a:t>
            </a:r>
            <a:r>
              <a:rPr lang="en-US" altLang="zh-CN"/>
              <a:t>, </a:t>
            </a:r>
            <a:r>
              <a:rPr lang="zh-CN" altLang="zh-CN"/>
              <a:t>专业</a:t>
            </a:r>
            <a:r>
              <a:rPr lang="en-US" altLang="zh-CN"/>
              <a:t>, </a:t>
            </a:r>
            <a:r>
              <a:rPr lang="zh-CN" altLang="zh-CN"/>
              <a:t>课程号</a:t>
            </a:r>
            <a:r>
              <a:rPr lang="en-US" altLang="zh-CN"/>
              <a:t>, </a:t>
            </a:r>
            <a:r>
              <a:rPr lang="zh-CN" altLang="zh-CN"/>
              <a:t>成绩</a:t>
            </a:r>
            <a:endParaRPr lang="zh-CN" altLang="zh-CN"/>
          </a:p>
          <a:p>
            <a:pPr eaLnBrk="1" hangingPunct="1"/>
            <a:r>
              <a:rPr lang="en-US" altLang="zh-CN"/>
              <a:t>    </a:t>
            </a:r>
            <a:r>
              <a:rPr lang="zh-CN" altLang="zh-CN"/>
              <a:t> </a:t>
            </a:r>
            <a:r>
              <a:rPr lang="en-US" altLang="zh-CN"/>
              <a:t>FROM xsb, cjb</a:t>
            </a:r>
            <a:endParaRPr lang="zh-CN" altLang="zh-CN"/>
          </a:p>
          <a:p>
            <a:pPr eaLnBrk="1" hangingPunct="1"/>
            <a:r>
              <a:rPr lang="en-US" altLang="zh-CN"/>
              <a:t>    </a:t>
            </a:r>
            <a:r>
              <a:rPr lang="zh-CN" altLang="zh-CN"/>
              <a:t> </a:t>
            </a:r>
            <a:r>
              <a:rPr lang="en-US" altLang="zh-CN"/>
              <a:t>WHERE xsb.</a:t>
            </a:r>
            <a:r>
              <a:rPr lang="zh-CN" altLang="zh-CN"/>
              <a:t>学号</a:t>
            </a:r>
            <a:r>
              <a:rPr lang="en-US" altLang="zh-CN"/>
              <a:t>=cjb.</a:t>
            </a:r>
            <a:r>
              <a:rPr lang="zh-CN" altLang="zh-CN"/>
              <a:t>学号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1844675"/>
            <a:ext cx="7848600" cy="38877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313" y="1484313"/>
            <a:ext cx="8207375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创建</a:t>
            </a:r>
            <a:r>
              <a:rPr lang="en-US" altLang="zh-CN" dirty="0">
                <a:latin typeface="+mn-lt"/>
                <a:ea typeface="+mn-ea"/>
              </a:rPr>
              <a:t>INSTEAD OF</a:t>
            </a:r>
            <a:r>
              <a:rPr lang="zh-CN" altLang="zh-CN" dirty="0">
                <a:latin typeface="+mn-lt"/>
                <a:ea typeface="+mn-ea"/>
              </a:rPr>
              <a:t>触发器：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CREATE TRIGGER </a:t>
            </a:r>
            <a:r>
              <a:rPr lang="en-US" altLang="zh-CN" dirty="0" err="1">
                <a:latin typeface="+mn-lt"/>
                <a:ea typeface="+mn-ea"/>
              </a:rPr>
              <a:t>InsteadTrig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ON </a:t>
            </a:r>
            <a:r>
              <a:rPr lang="en-US" altLang="zh-CN" dirty="0" err="1">
                <a:latin typeface="+mn-lt"/>
                <a:ea typeface="+mn-ea"/>
              </a:rPr>
              <a:t>stu_view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INSTEAD OF INSERT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AS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BEGIN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DECLARE @XH char(6), @XM char(8),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         @ZY char(12), @KCH char(3), @CJ </a:t>
            </a:r>
            <a:r>
              <a:rPr lang="en-US" altLang="zh-CN" dirty="0" err="1">
                <a:latin typeface="+mn-lt"/>
                <a:ea typeface="+mn-ea"/>
              </a:rPr>
              <a:t>int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SET @XM='</a:t>
            </a:r>
            <a:r>
              <a:rPr lang="zh-CN" altLang="zh-CN" dirty="0">
                <a:latin typeface="+mn-lt"/>
                <a:ea typeface="+mn-ea"/>
              </a:rPr>
              <a:t>佚名</a:t>
            </a:r>
            <a:r>
              <a:rPr lang="en-US" altLang="zh-CN" dirty="0">
                <a:latin typeface="+mn-lt"/>
                <a:ea typeface="+mn-ea"/>
              </a:rPr>
              <a:t>'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SELECT @XH=</a:t>
            </a:r>
            <a:r>
              <a:rPr lang="zh-CN" altLang="zh-CN" dirty="0">
                <a:latin typeface="+mn-lt"/>
                <a:ea typeface="+mn-ea"/>
              </a:rPr>
              <a:t>学号</a:t>
            </a:r>
            <a:r>
              <a:rPr lang="en-US" altLang="zh-CN" dirty="0">
                <a:latin typeface="+mn-lt"/>
                <a:ea typeface="+mn-ea"/>
              </a:rPr>
              <a:t>, @ZY=</a:t>
            </a:r>
            <a:r>
              <a:rPr lang="zh-CN" altLang="zh-CN" dirty="0">
                <a:latin typeface="+mn-lt"/>
                <a:ea typeface="+mn-ea"/>
              </a:rPr>
              <a:t>专业</a:t>
            </a:r>
            <a:r>
              <a:rPr lang="en-US" altLang="zh-CN" dirty="0">
                <a:latin typeface="+mn-lt"/>
                <a:ea typeface="+mn-ea"/>
              </a:rPr>
              <a:t>, @KCH=</a:t>
            </a:r>
            <a:r>
              <a:rPr lang="zh-CN" altLang="zh-CN" dirty="0">
                <a:latin typeface="+mn-lt"/>
                <a:ea typeface="+mn-ea"/>
              </a:rPr>
              <a:t>课程号</a:t>
            </a:r>
            <a:r>
              <a:rPr lang="en-US" altLang="zh-CN" dirty="0">
                <a:latin typeface="+mn-lt"/>
                <a:ea typeface="+mn-ea"/>
              </a:rPr>
              <a:t>, @CJ=</a:t>
            </a:r>
            <a:r>
              <a:rPr lang="zh-CN" altLang="zh-CN" dirty="0">
                <a:latin typeface="+mn-lt"/>
                <a:ea typeface="+mn-ea"/>
              </a:rPr>
              <a:t>成绩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    FROM inserted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INSERT INTO </a:t>
            </a:r>
            <a:r>
              <a:rPr lang="en-US" altLang="zh-CN" dirty="0" err="1">
                <a:latin typeface="+mn-lt"/>
                <a:ea typeface="+mn-ea"/>
              </a:rPr>
              <a:t>xsb</a:t>
            </a:r>
            <a:r>
              <a:rPr lang="en-US" altLang="zh-CN" dirty="0">
                <a:latin typeface="+mn-lt"/>
                <a:ea typeface="+mn-ea"/>
              </a:rPr>
              <a:t>(</a:t>
            </a:r>
            <a:r>
              <a:rPr lang="zh-CN" altLang="zh-CN" dirty="0">
                <a:latin typeface="+mn-lt"/>
                <a:ea typeface="+mn-ea"/>
              </a:rPr>
              <a:t>学号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zh-CN" dirty="0">
                <a:latin typeface="+mn-lt"/>
                <a:ea typeface="+mn-ea"/>
              </a:rPr>
              <a:t>姓名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zh-CN" dirty="0">
                <a:latin typeface="+mn-lt"/>
                <a:ea typeface="+mn-ea"/>
              </a:rPr>
              <a:t>专业</a:t>
            </a:r>
            <a:r>
              <a:rPr lang="en-US" altLang="zh-CN" dirty="0">
                <a:latin typeface="+mn-lt"/>
                <a:ea typeface="+mn-ea"/>
              </a:rPr>
              <a:t>) 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    VALUES(@XH, @XM, @ZY)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    INSERT INTO </a:t>
            </a:r>
            <a:r>
              <a:rPr lang="en-US" altLang="zh-CN" dirty="0" err="1">
                <a:latin typeface="+mn-lt"/>
                <a:ea typeface="+mn-ea"/>
              </a:rPr>
              <a:t>cjb</a:t>
            </a:r>
            <a:r>
              <a:rPr lang="en-US" altLang="zh-CN" dirty="0">
                <a:latin typeface="+mn-lt"/>
                <a:ea typeface="+mn-ea"/>
              </a:rPr>
              <a:t> VALUES(@XH, @KCH, @CJ)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END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088" y="2349500"/>
            <a:ext cx="7921625" cy="574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088" y="1809750"/>
            <a:ext cx="7921625" cy="2873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45061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804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向视图插入一行数据：</a:t>
            </a:r>
            <a:endParaRPr lang="zh-CN" altLang="zh-CN"/>
          </a:p>
          <a:p>
            <a:pPr eaLnBrk="1" hangingPunct="1"/>
            <a:r>
              <a:rPr lang="en-US" altLang="zh-CN"/>
              <a:t>INSERT INTO stu_view VALUES('201302', '</a:t>
            </a:r>
            <a:r>
              <a:rPr lang="zh-CN" altLang="zh-CN"/>
              <a:t>计算机</a:t>
            </a:r>
            <a:r>
              <a:rPr lang="en-US" altLang="zh-CN"/>
              <a:t>', '101', 85 )</a:t>
            </a:r>
            <a:endParaRPr lang="zh-CN" altLang="zh-CN"/>
          </a:p>
          <a:p>
            <a:pPr eaLnBrk="1" fontAlgn="ctr" hangingPunct="1"/>
            <a:r>
              <a:rPr lang="zh-CN" altLang="zh-CN"/>
              <a:t>查看</a:t>
            </a:r>
            <a:r>
              <a:rPr lang="en-US" altLang="zh-CN"/>
              <a:t>stu_view</a:t>
            </a:r>
            <a:r>
              <a:rPr lang="zh-CN" altLang="zh-CN"/>
              <a:t>视图和与视图关联的</a:t>
            </a:r>
            <a:r>
              <a:rPr lang="en-US" altLang="zh-CN"/>
              <a:t>xsb</a:t>
            </a:r>
            <a:r>
              <a:rPr lang="zh-CN" altLang="zh-CN"/>
              <a:t>基表数据是否插入：</a:t>
            </a:r>
            <a:endParaRPr lang="zh-CN" altLang="zh-CN"/>
          </a:p>
          <a:p>
            <a:pPr eaLnBrk="1" hangingPunct="1"/>
            <a:r>
              <a:rPr lang="en-US" altLang="zh-CN"/>
              <a:t>SELECT * FROM stu_view WHERE</a:t>
            </a:r>
            <a:r>
              <a:rPr lang="zh-CN" altLang="zh-CN"/>
              <a:t>学号</a:t>
            </a:r>
            <a:r>
              <a:rPr lang="en-US" altLang="zh-CN"/>
              <a:t>= '201302'</a:t>
            </a:r>
            <a:endParaRPr lang="zh-CN" altLang="zh-CN"/>
          </a:p>
          <a:p>
            <a:pPr eaLnBrk="1" hangingPunct="1"/>
            <a:r>
              <a:rPr lang="en-US" altLang="zh-CN"/>
              <a:t>SELECT * FROM xsb WHERE</a:t>
            </a:r>
            <a:r>
              <a:rPr lang="zh-CN" altLang="zh-CN"/>
              <a:t>学号</a:t>
            </a:r>
            <a:r>
              <a:rPr lang="en-US" altLang="zh-CN"/>
              <a:t>= '201302'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执行结果如图</a:t>
            </a:r>
            <a:r>
              <a:rPr lang="en-US" altLang="zh-CN"/>
              <a:t>7.7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450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487738"/>
            <a:ext cx="4538663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Bar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5188" y="2097088"/>
            <a:ext cx="7775575" cy="24495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313" y="1484313"/>
            <a:ext cx="8207375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</a:rPr>
              <a:t>7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+mn-ea"/>
              </a:rPr>
              <a:t>．创建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</a:rPr>
              <a:t>DDL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+mn-ea"/>
              </a:rPr>
              <a:t>触发器</a:t>
            </a:r>
            <a:endParaRPr lang="zh-CN" altLang="zh-CN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语法格式：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CREATE TRIGGER</a:t>
            </a:r>
            <a:r>
              <a:rPr lang="zh-CN" altLang="zh-CN" dirty="0">
                <a:latin typeface="+mn-lt"/>
                <a:ea typeface="+mn-ea"/>
              </a:rPr>
              <a:t>触发器名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ON { ALL SERVER | DATABASE }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[ WITH ENCRYPTION ]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{ FOR | AFTER } { </a:t>
            </a:r>
            <a:r>
              <a:rPr lang="zh-CN" altLang="zh-CN" dirty="0">
                <a:latin typeface="+mn-lt"/>
                <a:ea typeface="+mn-ea"/>
              </a:rPr>
              <a:t>事件类型</a:t>
            </a:r>
            <a:r>
              <a:rPr lang="en-US" altLang="zh-CN" dirty="0">
                <a:latin typeface="+mn-lt"/>
                <a:ea typeface="+mn-ea"/>
              </a:rPr>
              <a:t> | </a:t>
            </a:r>
            <a:r>
              <a:rPr lang="zh-CN" altLang="zh-CN" dirty="0">
                <a:latin typeface="+mn-lt"/>
                <a:ea typeface="+mn-ea"/>
              </a:rPr>
              <a:t>事件组</a:t>
            </a:r>
            <a:r>
              <a:rPr lang="en-US" altLang="zh-CN" dirty="0">
                <a:latin typeface="+mn-lt"/>
                <a:ea typeface="+mn-ea"/>
              </a:rPr>
              <a:t> } [ , ... ]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AS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{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SQL</a:t>
            </a:r>
            <a:r>
              <a:rPr lang="zh-CN" altLang="zh-CN" dirty="0">
                <a:latin typeface="+mn-lt"/>
                <a:ea typeface="+mn-ea"/>
              </a:rPr>
              <a:t>语句</a:t>
            </a:r>
            <a:r>
              <a:rPr lang="en-US" altLang="zh-CN" dirty="0">
                <a:latin typeface="+mn-lt"/>
                <a:ea typeface="+mn-ea"/>
              </a:rPr>
              <a:t>[ ; ] [ ... ]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| EXTERNAL NAME  </a:t>
            </a:r>
            <a:r>
              <a:rPr lang="zh-CN" altLang="zh-CN" dirty="0">
                <a:latin typeface="+mn-lt"/>
                <a:ea typeface="+mn-ea"/>
              </a:rPr>
              <a:t>程序集名</a:t>
            </a:r>
            <a:r>
              <a:rPr lang="en-US" altLang="zh-CN" dirty="0">
                <a:latin typeface="+mn-lt"/>
                <a:ea typeface="+mn-ea"/>
              </a:rPr>
              <a:t>.</a:t>
            </a:r>
            <a:r>
              <a:rPr lang="zh-CN" altLang="zh-CN" dirty="0">
                <a:latin typeface="+mn-lt"/>
                <a:ea typeface="+mn-ea"/>
              </a:rPr>
              <a:t>类名</a:t>
            </a:r>
            <a:r>
              <a:rPr lang="en-US" altLang="zh-CN" dirty="0">
                <a:latin typeface="+mn-lt"/>
                <a:ea typeface="+mn-ea"/>
              </a:rPr>
              <a:t>.</a:t>
            </a:r>
            <a:r>
              <a:rPr lang="zh-CN" altLang="zh-CN" dirty="0">
                <a:latin typeface="+mn-lt"/>
                <a:ea typeface="+mn-ea"/>
              </a:rPr>
              <a:t>方法名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}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088" y="4270375"/>
            <a:ext cx="7848600" cy="279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088" y="2060575"/>
            <a:ext cx="7848600" cy="1944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47109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7.17</a:t>
            </a:r>
            <a:r>
              <a:rPr lang="zh-CN" altLang="zh-CN"/>
              <a:t>】 创建</a:t>
            </a:r>
            <a:r>
              <a:rPr lang="en-US" altLang="zh-CN"/>
              <a:t>pxscj</a:t>
            </a:r>
            <a:r>
              <a:rPr lang="zh-CN" altLang="zh-CN"/>
              <a:t>数据库作用域的</a:t>
            </a:r>
            <a:r>
              <a:rPr lang="en-US" altLang="zh-CN"/>
              <a:t>DDL</a:t>
            </a:r>
            <a:r>
              <a:rPr lang="zh-CN" altLang="zh-CN"/>
              <a:t>触发器，当删除一个表时，提示禁止该操作，然后回滚删除表的操作。</a:t>
            </a:r>
            <a:endParaRPr lang="zh-CN" altLang="zh-CN"/>
          </a:p>
          <a:p>
            <a:pPr eaLnBrk="1" hangingPunct="1"/>
            <a:r>
              <a:rPr lang="en-US" altLang="zh-CN"/>
              <a:t>USE pxscj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CREATE TRIGGER safety  ON DATABASE</a:t>
            </a:r>
            <a:endParaRPr lang="zh-CN" altLang="zh-CN"/>
          </a:p>
          <a:p>
            <a:pPr eaLnBrk="1" hangingPunct="1"/>
            <a:r>
              <a:rPr lang="en-US" altLang="zh-CN"/>
              <a:t>    AFTER DROP_TABLE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PRINT '</a:t>
            </a:r>
            <a:r>
              <a:rPr lang="zh-CN" altLang="zh-CN"/>
              <a:t>不能删除该表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r>
              <a:rPr lang="en-US" altLang="zh-CN"/>
              <a:t>        ROLLBACK TRANSACTION</a:t>
            </a:r>
            <a:endParaRPr lang="zh-CN" altLang="zh-CN"/>
          </a:p>
          <a:p>
            <a:pPr eaLnBrk="1" fontAlgn="ctr" hangingPunct="1"/>
            <a:r>
              <a:rPr lang="zh-CN" altLang="zh-CN"/>
              <a:t>尝试删除表</a:t>
            </a:r>
            <a:r>
              <a:rPr lang="en-US" altLang="zh-CN"/>
              <a:t>table1</a:t>
            </a:r>
            <a:r>
              <a:rPr lang="zh-CN" altLang="zh-CN"/>
              <a:t>：</a:t>
            </a:r>
            <a:endParaRPr lang="zh-CN" altLang="zh-CN"/>
          </a:p>
          <a:p>
            <a:pPr eaLnBrk="1" hangingPunct="1"/>
            <a:r>
              <a:rPr lang="en-US" altLang="zh-CN"/>
              <a:t>DROP TABLE table1</a:t>
            </a:r>
            <a:endParaRPr lang="zh-CN" altLang="zh-CN"/>
          </a:p>
          <a:p>
            <a:pPr eaLnBrk="1" hangingPunct="1"/>
            <a:r>
              <a:rPr lang="zh-CN" altLang="zh-CN"/>
              <a:t>执行结果如图</a:t>
            </a:r>
            <a:r>
              <a:rPr lang="en-US" altLang="zh-CN"/>
              <a:t>7.8</a:t>
            </a:r>
            <a:r>
              <a:rPr lang="zh-CN" altLang="zh-CN"/>
              <a:t>所示。 </a:t>
            </a:r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2349500"/>
            <a:ext cx="7921625" cy="13668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7.2.2  </a:t>
            </a:r>
            <a:r>
              <a:rPr lang="zh-CN" altLang="zh-CN" dirty="0">
                <a:effectLst/>
              </a:rPr>
              <a:t>触发器的创建：</a:t>
            </a:r>
            <a:br>
              <a:rPr lang="en-US" altLang="zh-CN" dirty="0">
                <a:effectLst/>
              </a:rPr>
            </a:br>
            <a:r>
              <a:rPr lang="en-US" altLang="zh-CN" dirty="0">
                <a:effectLst/>
              </a:rPr>
              <a:t>CREATE TRIGGER</a:t>
            </a:r>
            <a:endParaRPr lang="zh-CN" altLang="en-US" dirty="0"/>
          </a:p>
        </p:txBody>
      </p:sp>
      <p:sp>
        <p:nvSpPr>
          <p:cNvPr id="48132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804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7.18</a:t>
            </a:r>
            <a:r>
              <a:rPr lang="zh-CN" altLang="zh-CN"/>
              <a:t>】 创建服务器作用域的</a:t>
            </a:r>
            <a:r>
              <a:rPr lang="en-US" altLang="zh-CN"/>
              <a:t>DDL</a:t>
            </a:r>
            <a:r>
              <a:rPr lang="zh-CN" altLang="zh-CN"/>
              <a:t>触发器，当删除一个数据库时，提示禁止该操作并回滚删除数据库的操作。</a:t>
            </a:r>
            <a:endParaRPr lang="zh-CN" altLang="zh-CN"/>
          </a:p>
          <a:p>
            <a:pPr eaLnBrk="1" hangingPunct="1"/>
            <a:r>
              <a:rPr lang="en-US" altLang="zh-CN"/>
              <a:t>CREATE TRIGGER safety_server  ON ALL SERVER</a:t>
            </a:r>
            <a:endParaRPr lang="zh-CN" altLang="zh-CN"/>
          </a:p>
          <a:p>
            <a:pPr eaLnBrk="1" hangingPunct="1"/>
            <a:r>
              <a:rPr lang="en-US" altLang="zh-CN"/>
              <a:t>    AFTER DROP_DATABASE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PRINT '</a:t>
            </a:r>
            <a:r>
              <a:rPr lang="zh-CN" altLang="zh-CN"/>
              <a:t>不能删除该数据库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r>
              <a:rPr lang="en-US" altLang="zh-CN"/>
              <a:t>        ROLLBACK TRANSACTION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split orient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1844675"/>
            <a:ext cx="7921625" cy="30241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7.2.3  </a:t>
            </a:r>
            <a:r>
              <a:rPr lang="zh-CN" altLang="zh-CN" dirty="0">
                <a:effectLst/>
              </a:rPr>
              <a:t>触发器的修改：</a:t>
            </a:r>
            <a:r>
              <a:rPr lang="en-US" altLang="zh-CN" dirty="0">
                <a:effectLst/>
              </a:rPr>
              <a:t>ALTER TRIGGER</a:t>
            </a:r>
            <a:endParaRPr lang="zh-CN" altLang="zh-CN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313" y="1484313"/>
            <a:ext cx="8280400" cy="3694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46405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1</a:t>
            </a:r>
            <a:r>
              <a:rPr lang="zh-CN" altLang="zh-CN" dirty="0">
                <a:latin typeface="+mn-lt"/>
                <a:ea typeface="+mn-ea"/>
              </a:rPr>
              <a:t>）修改</a:t>
            </a:r>
            <a:r>
              <a:rPr lang="en-US" altLang="zh-CN" dirty="0">
                <a:latin typeface="+mn-lt"/>
                <a:ea typeface="+mn-ea"/>
              </a:rPr>
              <a:t>DML</a:t>
            </a:r>
            <a:r>
              <a:rPr lang="zh-CN" altLang="zh-CN" dirty="0">
                <a:latin typeface="+mn-lt"/>
                <a:ea typeface="+mn-ea"/>
              </a:rPr>
              <a:t>触发器的语法格式：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ALTER TRIGGER</a:t>
            </a:r>
            <a:r>
              <a:rPr lang="zh-CN" altLang="zh-CN" dirty="0">
                <a:latin typeface="+mn-lt"/>
                <a:ea typeface="+mn-ea"/>
              </a:rPr>
              <a:t>架构名</a:t>
            </a:r>
            <a:r>
              <a:rPr lang="en-US" altLang="zh-CN" dirty="0">
                <a:latin typeface="+mn-lt"/>
                <a:ea typeface="+mn-ea"/>
              </a:rPr>
              <a:t>.</a:t>
            </a:r>
            <a:r>
              <a:rPr lang="zh-CN" altLang="zh-CN" dirty="0">
                <a:latin typeface="+mn-lt"/>
                <a:ea typeface="+mn-ea"/>
              </a:rPr>
              <a:t>触发器名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ON ( </a:t>
            </a:r>
            <a:r>
              <a:rPr lang="zh-CN" altLang="zh-CN" dirty="0">
                <a:latin typeface="+mn-lt"/>
                <a:ea typeface="+mn-ea"/>
              </a:rPr>
              <a:t>表</a:t>
            </a:r>
            <a:r>
              <a:rPr lang="en-US" altLang="zh-CN" dirty="0">
                <a:latin typeface="+mn-lt"/>
                <a:ea typeface="+mn-ea"/>
              </a:rPr>
              <a:t> | </a:t>
            </a:r>
            <a:r>
              <a:rPr lang="zh-CN" altLang="zh-CN" dirty="0">
                <a:latin typeface="+mn-lt"/>
                <a:ea typeface="+mn-ea"/>
              </a:rPr>
              <a:t>视图</a:t>
            </a:r>
            <a:r>
              <a:rPr lang="en-US" altLang="zh-CN" dirty="0">
                <a:latin typeface="+mn-lt"/>
                <a:ea typeface="+mn-ea"/>
              </a:rPr>
              <a:t> )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[ WITH ENCRYPTION ]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( FOR | AFTER | INSTEAD OF )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{ [ DELETE ] [ , ] [ INSERT ] [ , ] [ UPDATE ] }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[ NOT FOR REPLICATION ]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AS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{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SQL</a:t>
            </a:r>
            <a:r>
              <a:rPr lang="zh-CN" altLang="zh-CN" dirty="0">
                <a:latin typeface="+mn-lt"/>
                <a:ea typeface="+mn-ea"/>
              </a:rPr>
              <a:t>语句</a:t>
            </a:r>
            <a:r>
              <a:rPr lang="en-US" altLang="zh-CN" dirty="0">
                <a:latin typeface="+mn-lt"/>
                <a:ea typeface="+mn-ea"/>
              </a:rPr>
              <a:t>[ ; ] [ ... ]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| EXTERNAL NAME</a:t>
            </a:r>
            <a:r>
              <a:rPr lang="zh-CN" altLang="zh-CN" dirty="0">
                <a:latin typeface="+mn-lt"/>
                <a:ea typeface="+mn-ea"/>
              </a:rPr>
              <a:t>程序集名</a:t>
            </a:r>
            <a:r>
              <a:rPr lang="en-US" altLang="zh-CN" dirty="0">
                <a:latin typeface="+mn-lt"/>
                <a:ea typeface="+mn-ea"/>
              </a:rPr>
              <a:t>.</a:t>
            </a:r>
            <a:r>
              <a:rPr lang="zh-CN" altLang="zh-CN" dirty="0">
                <a:latin typeface="+mn-lt"/>
                <a:ea typeface="+mn-ea"/>
              </a:rPr>
              <a:t>类名</a:t>
            </a:r>
            <a:r>
              <a:rPr lang="en-US" altLang="zh-CN" dirty="0">
                <a:latin typeface="+mn-lt"/>
                <a:ea typeface="+mn-ea"/>
              </a:rPr>
              <a:t>.</a:t>
            </a:r>
            <a:r>
              <a:rPr lang="zh-CN" altLang="zh-CN" dirty="0">
                <a:latin typeface="+mn-lt"/>
                <a:ea typeface="+mn-ea"/>
              </a:rPr>
              <a:t>方法名</a:t>
            </a:r>
            <a:endParaRPr lang="zh-CN" altLang="zh-CN" dirty="0">
              <a:latin typeface="+mn-lt"/>
              <a:ea typeface="+mn-ea"/>
            </a:endParaRPr>
          </a:p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}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9638" y="4652963"/>
            <a:ext cx="7848600" cy="14319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0113" y="1700213"/>
            <a:ext cx="7848600" cy="23764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7.2.3  </a:t>
            </a:r>
            <a:r>
              <a:rPr lang="zh-CN" altLang="zh-CN" dirty="0">
                <a:effectLst/>
              </a:rPr>
              <a:t>触发器的修改：</a:t>
            </a:r>
            <a:r>
              <a:rPr lang="en-US" altLang="zh-CN" dirty="0">
                <a:effectLst/>
              </a:rPr>
              <a:t>ALTER TRIGGER</a:t>
            </a:r>
            <a:endParaRPr lang="zh-CN" altLang="en-US" dirty="0"/>
          </a:p>
        </p:txBody>
      </p:sp>
      <p:sp>
        <p:nvSpPr>
          <p:cNvPr id="50181" name="TextBox 2"/>
          <p:cNvSpPr txBox="1">
            <a:spLocks noChangeArrowheads="1"/>
          </p:cNvSpPr>
          <p:nvPr/>
        </p:nvSpPr>
        <p:spPr bwMode="auto">
          <a:xfrm>
            <a:off x="468313" y="1341438"/>
            <a:ext cx="82804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）修改</a:t>
            </a:r>
            <a:r>
              <a:rPr lang="en-US" altLang="zh-CN"/>
              <a:t>DDL</a:t>
            </a:r>
            <a:r>
              <a:rPr lang="zh-CN" altLang="zh-CN"/>
              <a:t>触发器的语法格式：</a:t>
            </a:r>
            <a:endParaRPr lang="zh-CN" altLang="zh-CN"/>
          </a:p>
          <a:p>
            <a:pPr eaLnBrk="1" hangingPunct="1"/>
            <a:r>
              <a:rPr lang="en-US" altLang="zh-CN"/>
              <a:t>ALTER TRIGGER</a:t>
            </a:r>
            <a:r>
              <a:rPr lang="zh-CN" altLang="zh-CN"/>
              <a:t>触发器名</a:t>
            </a:r>
            <a:endParaRPr lang="zh-CN" altLang="zh-CN"/>
          </a:p>
          <a:p>
            <a:pPr eaLnBrk="1" hangingPunct="1"/>
            <a:r>
              <a:rPr lang="en-US" altLang="zh-CN"/>
              <a:t>    ON { DATABASE | ALL SERVER }</a:t>
            </a:r>
            <a:endParaRPr lang="zh-CN" altLang="zh-CN"/>
          </a:p>
          <a:p>
            <a:pPr eaLnBrk="1" hangingPunct="1"/>
            <a:r>
              <a:rPr lang="en-US" altLang="zh-CN"/>
              <a:t>[ WITH ENCRYPTION ]</a:t>
            </a:r>
            <a:endParaRPr lang="zh-CN" altLang="zh-CN"/>
          </a:p>
          <a:p>
            <a:pPr eaLnBrk="1" hangingPunct="1"/>
            <a:r>
              <a:rPr lang="en-US" altLang="zh-CN"/>
              <a:t>{ FOR | AFTER } { </a:t>
            </a:r>
            <a:r>
              <a:rPr lang="zh-CN" altLang="zh-CN"/>
              <a:t>事件类型</a:t>
            </a:r>
            <a:r>
              <a:rPr lang="en-US" altLang="zh-CN"/>
              <a:t>[ , ... ] | </a:t>
            </a:r>
            <a:r>
              <a:rPr lang="zh-CN" altLang="zh-CN"/>
              <a:t>事件组</a:t>
            </a:r>
            <a:r>
              <a:rPr lang="en-US" altLang="zh-CN"/>
              <a:t> }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    SQL</a:t>
            </a:r>
            <a:r>
              <a:rPr lang="zh-CN" altLang="zh-CN"/>
              <a:t>语句</a:t>
            </a:r>
            <a:r>
              <a:rPr lang="en-US" altLang="zh-CN"/>
              <a:t>[ ; ]</a:t>
            </a:r>
            <a:endParaRPr lang="zh-CN" altLang="zh-CN"/>
          </a:p>
          <a:p>
            <a:pPr eaLnBrk="1" hangingPunct="1"/>
            <a:r>
              <a:rPr lang="en-US" altLang="zh-CN"/>
              <a:t>    | EXTERNAL NAME</a:t>
            </a:r>
            <a:r>
              <a:rPr lang="zh-CN" altLang="zh-CN"/>
              <a:t>程序集名</a:t>
            </a:r>
            <a:r>
              <a:rPr lang="en-US" altLang="zh-CN"/>
              <a:t>.</a:t>
            </a:r>
            <a:r>
              <a:rPr lang="zh-CN" altLang="zh-CN"/>
              <a:t>类名</a:t>
            </a:r>
            <a:r>
              <a:rPr lang="en-US" altLang="zh-CN"/>
              <a:t>.</a:t>
            </a:r>
            <a:r>
              <a:rPr lang="zh-CN" altLang="zh-CN"/>
              <a:t>方法名</a:t>
            </a:r>
            <a:r>
              <a:rPr lang="en-US" altLang="zh-CN"/>
              <a:t>[ ; ]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7.19</a:t>
            </a:r>
            <a:r>
              <a:rPr lang="zh-CN" altLang="zh-CN"/>
              <a:t>】 修改</a:t>
            </a:r>
            <a:r>
              <a:rPr lang="en-US" altLang="zh-CN"/>
              <a:t>pxscj</a:t>
            </a:r>
            <a:r>
              <a:rPr lang="zh-CN" altLang="zh-CN"/>
              <a:t>数据库中在</a:t>
            </a:r>
            <a:r>
              <a:rPr lang="en-US" altLang="zh-CN"/>
              <a:t>xsb</a:t>
            </a:r>
            <a:r>
              <a:rPr lang="zh-CN" altLang="zh-CN"/>
              <a:t>表上定义的触发器</a:t>
            </a:r>
            <a:r>
              <a:rPr lang="en-US" altLang="zh-CN"/>
              <a:t>xsb_delete</a:t>
            </a:r>
            <a:r>
              <a:rPr lang="zh-CN" altLang="zh-CN"/>
              <a:t>，将其修改为</a:t>
            </a:r>
            <a:r>
              <a:rPr lang="en-US" altLang="zh-CN"/>
              <a:t>UPDATE</a:t>
            </a:r>
            <a:r>
              <a:rPr lang="zh-CN" altLang="zh-CN"/>
              <a:t>触发器。</a:t>
            </a:r>
            <a:endParaRPr lang="zh-CN" altLang="zh-CN"/>
          </a:p>
          <a:p>
            <a:pPr eaLnBrk="1" hangingPunct="1"/>
            <a:r>
              <a:rPr lang="en-US" altLang="zh-CN"/>
              <a:t>USE pxscj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ALTER TRIGGER xsb_delete ON xsb  FOR UPDATE </a:t>
            </a:r>
            <a:endParaRPr lang="zh-CN" altLang="zh-CN"/>
          </a:p>
          <a:p>
            <a:pPr eaLnBrk="1" hangingPunct="1"/>
            <a:r>
              <a:rPr lang="en-US" altLang="zh-CN"/>
              <a:t>    AS</a:t>
            </a:r>
            <a:endParaRPr lang="zh-CN" altLang="zh-CN"/>
          </a:p>
          <a:p>
            <a:pPr eaLnBrk="1" hangingPunct="1"/>
            <a:r>
              <a:rPr lang="en-US" altLang="zh-CN"/>
              <a:t>        PRINT '</a:t>
            </a:r>
            <a:r>
              <a:rPr lang="zh-CN" altLang="zh-CN"/>
              <a:t>执行的操作是修改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68313" y="4941888"/>
            <a:ext cx="8207375" cy="2873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68313" y="4005263"/>
            <a:ext cx="8207375" cy="5762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68313" y="2781300"/>
            <a:ext cx="8207375" cy="86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7.2.4  </a:t>
            </a:r>
            <a:r>
              <a:rPr lang="zh-CN" altLang="zh-CN" dirty="0">
                <a:effectLst/>
              </a:rPr>
              <a:t>触发器的删除：</a:t>
            </a:r>
            <a:r>
              <a:rPr lang="en-US" altLang="zh-CN" dirty="0">
                <a:effectLst/>
              </a:rPr>
              <a:t>DROP TRIGGER</a:t>
            </a:r>
            <a:endParaRPr lang="zh-CN" altLang="zh-CN" dirty="0">
              <a:effectLst/>
            </a:endParaRPr>
          </a:p>
        </p:txBody>
      </p:sp>
      <p:sp>
        <p:nvSpPr>
          <p:cNvPr id="51206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触发器本身是存在于表中的，因此，当表被删除时，表中的触发器也将一起被删除。删除触发器使用</a:t>
            </a:r>
            <a:r>
              <a:rPr lang="en-US" altLang="zh-CN"/>
              <a:t>DROP TRIGGER</a:t>
            </a:r>
            <a:r>
              <a:rPr lang="zh-CN" altLang="zh-CN"/>
              <a:t>语句。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语法格式：</a:t>
            </a:r>
            <a:endParaRPr lang="zh-CN" altLang="zh-CN"/>
          </a:p>
          <a:p>
            <a:pPr eaLnBrk="1" hangingPunct="1"/>
            <a:r>
              <a:rPr lang="en-US" altLang="zh-CN"/>
              <a:t>DROP TRIGGER</a:t>
            </a:r>
            <a:r>
              <a:rPr lang="zh-CN" altLang="zh-CN"/>
              <a:t>架构名</a:t>
            </a:r>
            <a:r>
              <a:rPr lang="en-US" altLang="zh-CN"/>
              <a:t>.</a:t>
            </a:r>
            <a:r>
              <a:rPr lang="zh-CN" altLang="zh-CN"/>
              <a:t>触发器名</a:t>
            </a:r>
            <a:r>
              <a:rPr lang="en-US" altLang="zh-CN"/>
              <a:t>[ ,... ] [ ; ]		/*</a:t>
            </a:r>
            <a:r>
              <a:rPr lang="zh-CN" altLang="zh-CN"/>
              <a:t>删除</a:t>
            </a:r>
            <a:r>
              <a:rPr lang="en-US" altLang="zh-CN"/>
              <a:t>DML</a:t>
            </a:r>
            <a:r>
              <a:rPr lang="zh-CN" altLang="zh-CN"/>
              <a:t>触发器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DROP TRIGGER</a:t>
            </a:r>
            <a:r>
              <a:rPr lang="zh-CN" altLang="zh-CN"/>
              <a:t>触发器名</a:t>
            </a:r>
            <a:r>
              <a:rPr lang="en-US" altLang="zh-CN"/>
              <a:t>[ ,... ] ON { DATABASE | ALL SERVER }[ ; ]/*</a:t>
            </a:r>
            <a:r>
              <a:rPr lang="zh-CN" altLang="zh-CN"/>
              <a:t>删除</a:t>
            </a:r>
            <a:r>
              <a:rPr lang="en-US" altLang="zh-CN"/>
              <a:t>DDL</a:t>
            </a:r>
            <a:r>
              <a:rPr lang="zh-CN" altLang="zh-CN"/>
              <a:t>触发器</a:t>
            </a:r>
            <a:r>
              <a:rPr lang="en-US" altLang="zh-CN"/>
              <a:t>*/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7.20</a:t>
            </a:r>
            <a:r>
              <a:rPr lang="zh-CN" altLang="zh-CN"/>
              <a:t>】 删除</a:t>
            </a:r>
            <a:r>
              <a:rPr lang="en-US" altLang="zh-CN"/>
              <a:t>DML</a:t>
            </a:r>
            <a:r>
              <a:rPr lang="zh-CN" altLang="zh-CN"/>
              <a:t>触发器</a:t>
            </a:r>
            <a:r>
              <a:rPr lang="en-US" altLang="zh-CN"/>
              <a:t>xsb_delete</a:t>
            </a:r>
            <a:r>
              <a:rPr lang="zh-CN" altLang="zh-CN"/>
              <a:t>。</a:t>
            </a:r>
            <a:endParaRPr lang="zh-CN" altLang="zh-CN"/>
          </a:p>
          <a:p>
            <a:pPr eaLnBrk="1" hangingPunct="1"/>
            <a:r>
              <a:rPr lang="en-US" altLang="zh-CN"/>
              <a:t>IF EXISTS (SELECT name FROM sysobjects WHERE name = 'xsb_delete')</a:t>
            </a:r>
            <a:endParaRPr lang="zh-CN" altLang="zh-CN"/>
          </a:p>
          <a:p>
            <a:pPr eaLnBrk="1" hangingPunct="1"/>
            <a:r>
              <a:rPr lang="en-US" altLang="zh-CN"/>
              <a:t>    DROP TRIGGER xsb_delete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7.21</a:t>
            </a:r>
            <a:r>
              <a:rPr lang="zh-CN" altLang="zh-CN"/>
              <a:t>】 删除</a:t>
            </a:r>
            <a:r>
              <a:rPr lang="en-US" altLang="zh-CN"/>
              <a:t>DDL</a:t>
            </a:r>
            <a:r>
              <a:rPr lang="zh-CN" altLang="zh-CN"/>
              <a:t>触发器</a:t>
            </a:r>
            <a:r>
              <a:rPr lang="en-US" altLang="zh-CN"/>
              <a:t>safety</a:t>
            </a:r>
            <a:r>
              <a:rPr lang="zh-CN" altLang="zh-CN"/>
              <a:t>。</a:t>
            </a:r>
            <a:endParaRPr lang="zh-CN" altLang="zh-CN"/>
          </a:p>
          <a:p>
            <a:pPr eaLnBrk="1" hangingPunct="1"/>
            <a:r>
              <a:rPr lang="en-US" altLang="zh-CN"/>
              <a:t>DROP TRIGGER safety ON DATABASE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7.2.5  </a:t>
            </a:r>
            <a:r>
              <a:rPr lang="zh-CN" altLang="zh-CN" dirty="0">
                <a:effectLst/>
              </a:rPr>
              <a:t>界面方式操作触发器</a:t>
            </a:r>
            <a:endParaRPr lang="zh-CN" altLang="zh-CN" dirty="0">
              <a:effectLst/>
            </a:endParaRPr>
          </a:p>
        </p:txBody>
      </p:sp>
      <p:sp>
        <p:nvSpPr>
          <p:cNvPr id="52227" name="TextBox 2"/>
          <p:cNvSpPr txBox="1">
            <a:spLocks noChangeArrowheads="1"/>
          </p:cNvSpPr>
          <p:nvPr/>
        </p:nvSpPr>
        <p:spPr bwMode="auto">
          <a:xfrm>
            <a:off x="395288" y="1412875"/>
            <a:ext cx="82804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．创建触发器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）通过界面方式只能创建</a:t>
            </a:r>
            <a:r>
              <a:rPr lang="en-US" altLang="zh-CN"/>
              <a:t>DML</a:t>
            </a:r>
            <a:r>
              <a:rPr lang="zh-CN" altLang="zh-CN"/>
              <a:t>触发器。在“对象资源管理器”中展开“数据库”→“</a:t>
            </a:r>
            <a:r>
              <a:rPr lang="en-US" altLang="zh-CN"/>
              <a:t>pxscj</a:t>
            </a:r>
            <a:r>
              <a:rPr lang="zh-CN" altLang="zh-CN"/>
              <a:t>”→“表”→“</a:t>
            </a:r>
            <a:r>
              <a:rPr lang="en-US" altLang="zh-CN"/>
              <a:t>dbo.xsb</a:t>
            </a:r>
            <a:r>
              <a:rPr lang="zh-CN" altLang="zh-CN"/>
              <a:t>”，选择其中的“触发器”目录，在该目录下可以看到之前已经创建的</a:t>
            </a:r>
            <a:r>
              <a:rPr lang="en-US" altLang="zh-CN"/>
              <a:t>xsb</a:t>
            </a:r>
            <a:r>
              <a:rPr lang="zh-CN" altLang="zh-CN"/>
              <a:t>表的触发器。右键单击“触发器”，在弹出的快捷菜单中选择“新建触发器”菜单项。在打开的“触发器脚本编辑”窗口输入相应的创建触发器的命令。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）查看</a:t>
            </a:r>
            <a:r>
              <a:rPr lang="en-US" altLang="zh-CN"/>
              <a:t>DDL</a:t>
            </a:r>
            <a:r>
              <a:rPr lang="zh-CN" altLang="zh-CN"/>
              <a:t>触发器。</a:t>
            </a:r>
            <a:r>
              <a:rPr lang="en-US" altLang="zh-CN"/>
              <a:t>DDL</a:t>
            </a:r>
            <a:r>
              <a:rPr lang="zh-CN" altLang="zh-CN"/>
              <a:t>触发器不可以使用界面方式创建，</a:t>
            </a:r>
            <a:r>
              <a:rPr lang="en-US" altLang="zh-CN"/>
              <a:t>DDL</a:t>
            </a:r>
            <a:r>
              <a:rPr lang="zh-CN" altLang="zh-CN"/>
              <a:t>触发器分为数据库触发器和服务器触发器，展开“数据库”→“</a:t>
            </a:r>
            <a:r>
              <a:rPr lang="en-US" altLang="zh-CN"/>
              <a:t>pxscj</a:t>
            </a:r>
            <a:r>
              <a:rPr lang="zh-CN" altLang="zh-CN"/>
              <a:t>”→“可编程性”→“数据库触发器”，可以查看到有哪些数据库触发器。展开“数据库”→“服务器对象”→“触发器”，可以查看到有哪些服务器触发器。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7.2.5  </a:t>
            </a:r>
            <a:r>
              <a:rPr lang="zh-CN" altLang="zh-CN" dirty="0">
                <a:effectLst/>
              </a:rPr>
              <a:t>界面方式操作触发器</a:t>
            </a:r>
            <a:endParaRPr lang="zh-CN" altLang="en-US" dirty="0"/>
          </a:p>
        </p:txBody>
      </p:sp>
      <p:sp>
        <p:nvSpPr>
          <p:cNvPr id="53251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804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64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zh-CN" b="1">
                <a:solidFill>
                  <a:srgbClr val="C00000"/>
                </a:solidFill>
              </a:rPr>
              <a:t>．修改触发器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en-US" altLang="zh-CN"/>
              <a:t>DML</a:t>
            </a:r>
            <a:r>
              <a:rPr lang="zh-CN" altLang="zh-CN"/>
              <a:t>触发器能够使用界面方式修改，</a:t>
            </a:r>
            <a:r>
              <a:rPr lang="en-US" altLang="zh-CN"/>
              <a:t>DDL</a:t>
            </a:r>
            <a:r>
              <a:rPr lang="zh-CN" altLang="zh-CN"/>
              <a:t>触发器则不可以。进入“对象资源管理器”，修改触发器的步骤与创建的步骤相同，在“对象资源管理器”中选择要修改的触发器，右键单击鼠标，在弹出的快捷菜单中选择“修改”菜单项，打开“触发器脚本编辑”窗口，在该窗口中可以进行触发器的修改，修改后单击“执行”按钮重新执行即可。但是被设置成“</a:t>
            </a:r>
            <a:r>
              <a:rPr lang="en-US" altLang="zh-CN"/>
              <a:t>WITH ENCRYPTION</a:t>
            </a:r>
            <a:r>
              <a:rPr lang="zh-CN" altLang="zh-CN"/>
              <a:t>”的触发器是不能被修改的。</a:t>
            </a:r>
            <a:endParaRPr lang="zh-CN" altLang="zh-CN"/>
          </a:p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3</a:t>
            </a:r>
            <a:r>
              <a:rPr lang="zh-CN" altLang="zh-CN" b="1">
                <a:solidFill>
                  <a:srgbClr val="C00000"/>
                </a:solidFill>
              </a:rPr>
              <a:t>．删除触发器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）删除</a:t>
            </a:r>
            <a:r>
              <a:rPr lang="en-US" altLang="zh-CN"/>
              <a:t>DML</a:t>
            </a:r>
            <a:r>
              <a:rPr lang="zh-CN" altLang="zh-CN"/>
              <a:t>触发器。以</a:t>
            </a:r>
            <a:r>
              <a:rPr lang="en-US" altLang="zh-CN"/>
              <a:t>xsb</a:t>
            </a:r>
            <a:r>
              <a:rPr lang="zh-CN" altLang="zh-CN"/>
              <a:t>表的</a:t>
            </a:r>
            <a:r>
              <a:rPr lang="en-US" altLang="zh-CN"/>
              <a:t>DML</a:t>
            </a:r>
            <a:r>
              <a:rPr lang="zh-CN" altLang="zh-CN"/>
              <a:t>触发器为例，在“对象资源管理器”中展开“数据库”→“</a:t>
            </a:r>
            <a:r>
              <a:rPr lang="en-US" altLang="zh-CN"/>
              <a:t>pxscj</a:t>
            </a:r>
            <a:r>
              <a:rPr lang="zh-CN" altLang="zh-CN"/>
              <a:t>”→“表”→“</a:t>
            </a:r>
            <a:r>
              <a:rPr lang="en-US" altLang="zh-CN"/>
              <a:t>dbo.xsb</a:t>
            </a:r>
            <a:r>
              <a:rPr lang="zh-CN" altLang="zh-CN"/>
              <a:t>”→“触发器”，选择要删除的触发器名称，右键单击鼠标，在弹出的快捷菜单中选择“删除”菜单项，在弹出的“删除对象”窗口中单击“确定”按钮，即可完成触发器的删除操作。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）删除</a:t>
            </a:r>
            <a:r>
              <a:rPr lang="en-US" altLang="zh-CN"/>
              <a:t>DDL</a:t>
            </a:r>
            <a:r>
              <a:rPr lang="zh-CN" altLang="zh-CN"/>
              <a:t>触发器。删除</a:t>
            </a:r>
            <a:r>
              <a:rPr lang="en-US" altLang="zh-CN"/>
              <a:t>DDL</a:t>
            </a:r>
            <a:r>
              <a:rPr lang="zh-CN" altLang="zh-CN"/>
              <a:t>触发器与删除</a:t>
            </a:r>
            <a:r>
              <a:rPr lang="en-US" altLang="zh-CN"/>
              <a:t>DML</a:t>
            </a:r>
            <a:r>
              <a:rPr lang="zh-CN" altLang="zh-CN"/>
              <a:t>触发器的方法类似，首先找到要删除的触发器，右键单击鼠标，选择“删除”选项即可。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>
</file>

<file path=ppt/tags/tag1.xml><?xml version="1.0" encoding="utf-8"?>
<p:tagLst xmlns:p="http://schemas.openxmlformats.org/presentationml/2006/main">
  <p:tag name="KSO_WPP_MARK_KEY" val="04e78a3a-fba2-4ee0-b3a5-c385ef14bd9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13782</Words>
  <Application>WPS 演示</Application>
  <PresentationFormat>全屏显示(4:3)</PresentationFormat>
  <Paragraphs>600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0" baseType="lpstr">
      <vt:lpstr>Arial</vt:lpstr>
      <vt:lpstr>宋体</vt:lpstr>
      <vt:lpstr>Wingdings</vt:lpstr>
      <vt:lpstr>Calibri</vt:lpstr>
      <vt:lpstr>Symbol</vt:lpstr>
      <vt:lpstr>Candara</vt:lpstr>
      <vt:lpstr>华文新魏</vt:lpstr>
      <vt:lpstr>微软雅黑</vt:lpstr>
      <vt:lpstr>Arial Unicode MS</vt:lpstr>
      <vt:lpstr>华文楷体</vt:lpstr>
      <vt:lpstr>Gulim</vt:lpstr>
      <vt:lpstr>Segoe Print</vt:lpstr>
      <vt:lpstr>波形</vt:lpstr>
      <vt:lpstr>第7章  存储过程和触发器</vt:lpstr>
      <vt:lpstr>7.1  存 储 过 程</vt:lpstr>
      <vt:lpstr>7.1.1  存储过程的类型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7.1.2  存储过程的创建与执行： CREATE PROCEDURE</vt:lpstr>
      <vt:lpstr>7.1.3  存储过程的修改：ALTER PROCEDURE</vt:lpstr>
      <vt:lpstr>7.1.3  存储过程的修改：ALTER PROCEDURE</vt:lpstr>
      <vt:lpstr>7.1.3  存储过程的修改：ALTER PROCEDURE</vt:lpstr>
      <vt:lpstr>7.1.4  存储过程的删除：DROP PROCEDURE</vt:lpstr>
      <vt:lpstr>7.1.5  界面方式操作存储过程</vt:lpstr>
      <vt:lpstr>7.1.5  界面方式操作存储过程</vt:lpstr>
      <vt:lpstr>7.1.5  界面方式操作存储过程</vt:lpstr>
      <vt:lpstr>7.1.5  界面方式操作存储过程</vt:lpstr>
      <vt:lpstr>7.2  触  发  器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7.2.2  触发器的创建： CREATE TRIGGER</vt:lpstr>
      <vt:lpstr>7.2.3  触发器的修改：ALTER TRIGGER</vt:lpstr>
      <vt:lpstr>7.2.3  触发器的修改：ALTER TRIGGER</vt:lpstr>
      <vt:lpstr>7.2.4  触发器的删除：DROP TRIGGER</vt:lpstr>
      <vt:lpstr>7.2.5  界面方式操作触发器</vt:lpstr>
      <vt:lpstr>7.2.5  界面方式操作触发器</vt:lpstr>
    </vt:vector>
  </TitlesOfParts>
  <Company>Microsoft 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 存储过程和触发器</dc:title>
  <dc:creator>Microsoft</dc:creator>
  <cp:lastModifiedBy>微信用户</cp:lastModifiedBy>
  <cp:revision>14</cp:revision>
  <dcterms:created xsi:type="dcterms:W3CDTF">2015-06-25T06:05:00Z</dcterms:created>
  <dcterms:modified xsi:type="dcterms:W3CDTF">2023-09-11T07:25:43Z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E9AF665D80EF43F0AF07148BA3FD3980_13</vt:lpwstr>
  </property>
  <property fmtid="{D5CDD505-2E9C-101B-9397-08002B2CF9AE}" pid="3" name="KSOProductBuildVer">
    <vt:lpwstr>2052-11.1.0.14309</vt:lpwstr>
  </property>
</Properties>
</file>